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329" r:id="rId2"/>
    <p:sldId id="265" r:id="rId3"/>
    <p:sldId id="489" r:id="rId4"/>
    <p:sldId id="463" r:id="rId5"/>
    <p:sldId id="464" r:id="rId6"/>
    <p:sldId id="465" r:id="rId7"/>
    <p:sldId id="466" r:id="rId8"/>
    <p:sldId id="467" r:id="rId9"/>
    <p:sldId id="468" r:id="rId10"/>
    <p:sldId id="492" r:id="rId11"/>
    <p:sldId id="470" r:id="rId12"/>
    <p:sldId id="494" r:id="rId13"/>
    <p:sldId id="469" r:id="rId14"/>
    <p:sldId id="472" r:id="rId15"/>
    <p:sldId id="490" r:id="rId16"/>
    <p:sldId id="473" r:id="rId17"/>
    <p:sldId id="496" r:id="rId18"/>
    <p:sldId id="475" r:id="rId19"/>
    <p:sldId id="476" r:id="rId20"/>
    <p:sldId id="477" r:id="rId21"/>
    <p:sldId id="479" r:id="rId22"/>
    <p:sldId id="480" r:id="rId23"/>
    <p:sldId id="498" r:id="rId24"/>
    <p:sldId id="481" r:id="rId25"/>
    <p:sldId id="500" r:id="rId26"/>
    <p:sldId id="482" r:id="rId27"/>
    <p:sldId id="483" r:id="rId28"/>
    <p:sldId id="502" r:id="rId29"/>
    <p:sldId id="503" r:id="rId30"/>
    <p:sldId id="486" r:id="rId31"/>
    <p:sldId id="505" r:id="rId32"/>
    <p:sldId id="506" r:id="rId33"/>
    <p:sldId id="507" r:id="rId34"/>
    <p:sldId id="548" r:id="rId35"/>
    <p:sldId id="550" r:id="rId36"/>
    <p:sldId id="491" r:id="rId37"/>
    <p:sldId id="510" r:id="rId38"/>
    <p:sldId id="493" r:id="rId39"/>
    <p:sldId id="511" r:id="rId40"/>
    <p:sldId id="495" r:id="rId41"/>
    <p:sldId id="512" r:id="rId42"/>
    <p:sldId id="497" r:id="rId43"/>
    <p:sldId id="551" r:id="rId44"/>
    <p:sldId id="552" r:id="rId45"/>
    <p:sldId id="514" r:id="rId46"/>
    <p:sldId id="501" r:id="rId47"/>
    <p:sldId id="515" r:id="rId48"/>
    <p:sldId id="516" r:id="rId49"/>
    <p:sldId id="504" r:id="rId50"/>
    <p:sldId id="553" r:id="rId51"/>
    <p:sldId id="554" r:id="rId52"/>
    <p:sldId id="519" r:id="rId53"/>
    <p:sldId id="520" r:id="rId54"/>
    <p:sldId id="521" r:id="rId55"/>
    <p:sldId id="528" r:id="rId56"/>
    <p:sldId id="529" r:id="rId57"/>
    <p:sldId id="530" r:id="rId58"/>
    <p:sldId id="531" r:id="rId59"/>
    <p:sldId id="527" r:id="rId60"/>
    <p:sldId id="556" r:id="rId61"/>
    <p:sldId id="533" r:id="rId62"/>
    <p:sldId id="534" r:id="rId63"/>
    <p:sldId id="535" r:id="rId64"/>
    <p:sldId id="536" r:id="rId65"/>
    <p:sldId id="537" r:id="rId66"/>
    <p:sldId id="538" r:id="rId67"/>
    <p:sldId id="539" r:id="rId68"/>
    <p:sldId id="540" r:id="rId69"/>
    <p:sldId id="541" r:id="rId70"/>
    <p:sldId id="542" r:id="rId71"/>
    <p:sldId id="543" r:id="rId72"/>
    <p:sldId id="544" r:id="rId73"/>
    <p:sldId id="545" r:id="rId74"/>
    <p:sldId id="546" r:id="rId75"/>
    <p:sldId id="522" r:id="rId76"/>
    <p:sldId id="523" r:id="rId77"/>
    <p:sldId id="524" r:id="rId78"/>
    <p:sldId id="525" r:id="rId79"/>
    <p:sldId id="526" r:id="rId80"/>
    <p:sldId id="557" r:id="rId81"/>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ihy xjtu" initials="wx" lastIdx="1" clrIdx="0">
    <p:extLst>
      <p:ext uri="{19B8F6BF-5375-455C-9EA6-DF929625EA0E}">
        <p15:presenceInfo xmlns:p15="http://schemas.microsoft.com/office/powerpoint/2012/main" userId="02027572482cfb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DEDAF8"/>
    <a:srgbClr val="FF66FF"/>
    <a:srgbClr val="CFA57C"/>
    <a:srgbClr val="104AA8"/>
    <a:srgbClr val="002F7C"/>
    <a:srgbClr val="0C3EAC"/>
    <a:srgbClr val="3D557A"/>
    <a:srgbClr val="4556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4" autoAdjust="0"/>
    <p:restoredTop sz="56302" autoAdjust="0"/>
  </p:normalViewPr>
  <p:slideViewPr>
    <p:cSldViewPr snapToGrid="0" showGuides="1">
      <p:cViewPr varScale="1">
        <p:scale>
          <a:sx n="59" d="100"/>
          <a:sy n="59" d="100"/>
        </p:scale>
        <p:origin x="1388" y="56"/>
      </p:cViewPr>
      <p:guideLst>
        <p:guide orient="horz" pos="2032"/>
        <p:guide pos="37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2025/3/18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zhida.zhihu.com/search?content_id=612260631&amp;content_type=Answer&amp;match_order=1&amp;q=%E7%9C%9F%E5%80%BC%E5%87%BD%E6%95%B0&amp;zhida_source=entity"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zhida.zhihu.com/search?content_id=612260631&amp;content_type=Answer&amp;match_order=1&amp;q=%E5%91%BD%E9%A2%98%E5%8F%98%E9%A1%B9&amp;zhida_source=entity"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40000"/>
              </a:lnSpc>
              <a:spcBef>
                <a:spcPts val="600"/>
              </a:spcBef>
              <a:buFont typeface="Wingdings" panose="05000000000000000000" pitchFamily="2" charset="2"/>
              <a:buNone/>
            </a:pPr>
            <a:r>
              <a:rPr lang="en-US" altLang="zh-CN" b="1" dirty="0">
                <a:cs typeface="Times New Roman" panose="02020603050405020304" pitchFamily="18" charset="0"/>
              </a:rPr>
              <a:t>2.1 </a:t>
            </a:r>
            <a:r>
              <a:rPr lang="zh-CN" altLang="en-US" b="1" dirty="0">
                <a:cs typeface="Times New Roman" panose="02020603050405020304" pitchFamily="18" charset="0"/>
              </a:rPr>
              <a:t>命题逻辑基本概念 </a:t>
            </a:r>
          </a:p>
          <a:p>
            <a:pPr marL="0" indent="0">
              <a:lnSpc>
                <a:spcPct val="140000"/>
              </a:lnSpc>
              <a:spcBef>
                <a:spcPts val="600"/>
              </a:spcBef>
              <a:buFont typeface="Wingdings" panose="05000000000000000000" pitchFamily="2" charset="2"/>
              <a:buNone/>
            </a:pPr>
            <a:endParaRPr lang="zh-CN" altLang="en-US" sz="400" b="1" dirty="0"/>
          </a:p>
          <a:p>
            <a:pPr marL="1346200" indent="-812800" algn="just" eaLnBrk="1" hangingPunct="1">
              <a:buNone/>
            </a:pPr>
            <a:r>
              <a:rPr lang="zh-CN" altLang="en-US" b="1" dirty="0"/>
              <a:t>2.1.1 命题与联结词</a:t>
            </a:r>
          </a:p>
          <a:p>
            <a:pPr marL="1346200" lvl="1" indent="-88900" eaLnBrk="1" hangingPunct="1"/>
            <a:r>
              <a:rPr lang="zh-CN" altLang="en-US" sz="2800" b="1" dirty="0"/>
              <a:t>命题与真值(简单命题, 复合命题)</a:t>
            </a:r>
          </a:p>
          <a:p>
            <a:pPr marL="1346200" lvl="1" indent="-88900" eaLnBrk="1" hangingPunct="1"/>
            <a:r>
              <a:rPr lang="zh-CN" altLang="en-US" sz="2800" b="1" dirty="0"/>
              <a:t>联结词(</a:t>
            </a:r>
            <a:r>
              <a:rPr lang="en-US" altLang="zh-CN" sz="2800" b="1" dirty="0"/>
              <a:t>¬, </a:t>
            </a:r>
            <a:r>
              <a:rPr lang="en-US" altLang="zh-CN" sz="2800" b="1" dirty="0">
                <a:sym typeface="Symbol" panose="05050102010706020507" pitchFamily="18" charset="2"/>
              </a:rPr>
              <a:t>, , , )</a:t>
            </a:r>
            <a:r>
              <a:rPr lang="zh-CN" altLang="en-US" sz="2800" b="1" dirty="0"/>
              <a:t>    </a:t>
            </a:r>
            <a:endParaRPr lang="en-US" altLang="zh-CN" sz="2800" b="1" dirty="0"/>
          </a:p>
          <a:p>
            <a:pPr marL="1346200" lvl="1" indent="-812800" eaLnBrk="1" hangingPunct="1"/>
            <a:endParaRPr lang="zh-CN" altLang="en-US" b="1" dirty="0"/>
          </a:p>
          <a:p>
            <a:pPr marL="1346200" indent="-812800" eaLnBrk="1" hangingPunct="1">
              <a:buNone/>
            </a:pPr>
            <a:r>
              <a:rPr lang="zh-CN" altLang="en-US" b="1" dirty="0"/>
              <a:t>2.2.2</a:t>
            </a:r>
            <a:r>
              <a:rPr lang="zh-CN" altLang="en-US" b="1" dirty="0">
                <a:latin typeface="宋体" panose="02010600030101010101" pitchFamily="2" charset="-122"/>
              </a:rPr>
              <a:t> 命题公式及其分类</a:t>
            </a:r>
          </a:p>
          <a:p>
            <a:pPr marL="1346200" lvl="1" indent="-88900"/>
            <a:r>
              <a:rPr lang="zh-CN" altLang="en-US" sz="2800" b="1" dirty="0"/>
              <a:t>命题公式及其赋值</a:t>
            </a:r>
          </a:p>
          <a:p>
            <a:pPr marL="1346200" lvl="1" indent="-88900"/>
            <a:r>
              <a:rPr lang="zh-CN" altLang="en-US" sz="2800" b="1" dirty="0"/>
              <a:t>真值表</a:t>
            </a:r>
          </a:p>
          <a:p>
            <a:pPr marL="1346200" lvl="1" indent="-88900"/>
            <a:r>
              <a:rPr lang="zh-CN" altLang="en-US" sz="2800" b="1" dirty="0"/>
              <a:t>命题公式的分类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37330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宋体" panose="02010600030101010101" pitchFamily="2" charset="-122"/>
              </a:rPr>
              <a:t>命题</a:t>
            </a:r>
            <a:r>
              <a:rPr lang="zh-CN" altLang="en-US" sz="1200" b="1" dirty="0"/>
              <a:t>: 能</a:t>
            </a:r>
            <a:r>
              <a:rPr lang="zh-CN" altLang="en-US" sz="1200" b="1" dirty="0">
                <a:latin typeface="宋体" panose="02010600030101010101" pitchFamily="2" charset="-122"/>
              </a:rPr>
              <a:t>判断真假的陈述句</a:t>
            </a:r>
            <a:endParaRPr lang="zh-CN" altLang="en-US" sz="1200" b="1" dirty="0"/>
          </a:p>
          <a:p>
            <a:pPr algn="just" eaLnBrk="1" hangingPunct="1">
              <a:buFontTx/>
              <a:buNone/>
            </a:pPr>
            <a:r>
              <a:rPr lang="zh-CN" altLang="en-US" sz="1200" b="1" dirty="0">
                <a:solidFill>
                  <a:srgbClr val="FF3300"/>
                </a:solidFill>
                <a:latin typeface="宋体" panose="02010600030101010101" pitchFamily="2" charset="-122"/>
              </a:rPr>
              <a:t>命题的真值</a:t>
            </a:r>
            <a:r>
              <a:rPr lang="zh-CN" altLang="en-US" sz="1200" b="1" dirty="0"/>
              <a:t>: </a:t>
            </a:r>
            <a:r>
              <a:rPr lang="zh-CN" altLang="en-US" sz="1200" b="1" dirty="0">
                <a:latin typeface="宋体" panose="02010600030101010101" pitchFamily="2" charset="-122"/>
              </a:rPr>
              <a:t>判断的结果,真或假</a:t>
            </a:r>
            <a:endParaRPr lang="zh-CN" altLang="en-US" sz="1200" b="1" dirty="0"/>
          </a:p>
          <a:p>
            <a:pPr algn="just" eaLnBrk="1" hangingPunct="1">
              <a:buFontTx/>
              <a:buNone/>
            </a:pPr>
            <a:r>
              <a:rPr lang="zh-CN" altLang="en-US" sz="1200" b="1" dirty="0">
                <a:solidFill>
                  <a:srgbClr val="FF3300"/>
                </a:solidFill>
                <a:latin typeface="宋体" panose="02010600030101010101" pitchFamily="2" charset="-122"/>
              </a:rPr>
              <a:t>真命题</a:t>
            </a:r>
            <a:r>
              <a:rPr lang="zh-CN" altLang="en-US" sz="1200" b="1" dirty="0"/>
              <a:t>: 真值为真的命题</a:t>
            </a:r>
          </a:p>
          <a:p>
            <a:pPr algn="just" eaLnBrk="1" hangingPunct="1">
              <a:buFontTx/>
              <a:buNone/>
            </a:pPr>
            <a:r>
              <a:rPr lang="zh-CN" altLang="en-US" sz="1200" b="1" dirty="0">
                <a:solidFill>
                  <a:srgbClr val="FF3300"/>
                </a:solidFill>
                <a:latin typeface="宋体" panose="02010600030101010101" pitchFamily="2" charset="-122"/>
              </a:rPr>
              <a:t>假命题</a:t>
            </a:r>
            <a:r>
              <a:rPr lang="zh-CN" altLang="en-US" sz="1200" b="1" dirty="0"/>
              <a:t>: 真值为假的命题</a:t>
            </a:r>
          </a:p>
          <a:p>
            <a:pPr algn="just" eaLnBrk="1" hangingPunct="1">
              <a:buFontTx/>
              <a:buNone/>
            </a:pPr>
            <a:endParaRPr lang="zh-CN" altLang="en-US" sz="1200" b="1" dirty="0"/>
          </a:p>
          <a:p>
            <a:pPr algn="just" eaLnBrk="1" hangingPunct="1">
              <a:buFontTx/>
              <a:buNone/>
            </a:pPr>
            <a:r>
              <a:rPr lang="zh-CN" altLang="en-US" sz="1200" b="1" dirty="0">
                <a:latin typeface="宋体" panose="02010600030101010101" pitchFamily="2" charset="-122"/>
              </a:rPr>
              <a:t>注意</a:t>
            </a:r>
            <a:r>
              <a:rPr lang="zh-CN" altLang="en-US" sz="1200" b="1" dirty="0"/>
              <a:t>:  </a:t>
            </a:r>
            <a:r>
              <a:rPr lang="zh-CN" altLang="en-US" sz="1200" b="1" dirty="0">
                <a:latin typeface="宋体" panose="02010600030101010101" pitchFamily="2" charset="-122"/>
              </a:rPr>
              <a:t>感叹句、祈使句、疑问句都不是命题</a:t>
            </a:r>
          </a:p>
          <a:p>
            <a:pPr eaLnBrk="1" hangingPunct="1">
              <a:buFontTx/>
              <a:buNone/>
            </a:pPr>
            <a:r>
              <a:rPr lang="zh-CN" altLang="en-US" sz="1200" b="1" dirty="0">
                <a:latin typeface="宋体" panose="02010600030101010101" pitchFamily="2" charset="-122"/>
              </a:rPr>
              <a:t>陈述句中的悖论以及判断结果不惟一确定的也不是命题 </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1189553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1" dirty="0"/>
              <a:t>1) 中华人民共和国的首都是北京.</a:t>
            </a:r>
          </a:p>
          <a:p>
            <a:pPr algn="just" eaLnBrk="1" hangingPunct="1">
              <a:buFontTx/>
              <a:buNone/>
            </a:pPr>
            <a:r>
              <a:rPr lang="zh-CN" altLang="en-US" b="1" dirty="0"/>
              <a:t>(2)  2 + </a:t>
            </a:r>
            <a:r>
              <a:rPr lang="en-US" altLang="zh-CN" b="1" dirty="0"/>
              <a:t>3</a:t>
            </a:r>
            <a:r>
              <a:rPr lang="zh-CN" altLang="en-US" b="1" dirty="0"/>
              <a:t> ＝</a:t>
            </a:r>
            <a:r>
              <a:rPr lang="en-US" altLang="zh-CN" b="1" dirty="0"/>
              <a:t>6</a:t>
            </a:r>
            <a:r>
              <a:rPr lang="zh-CN" altLang="en-US" b="1" dirty="0"/>
              <a:t>.</a:t>
            </a:r>
          </a:p>
          <a:p>
            <a:pPr algn="just" eaLnBrk="1" hangingPunct="1">
              <a:buFontTx/>
              <a:buNone/>
            </a:pPr>
            <a:r>
              <a:rPr lang="zh-CN" altLang="en-US" b="1" dirty="0"/>
              <a:t>(3)  </a:t>
            </a:r>
            <a:r>
              <a:rPr lang="en-US" altLang="zh-CN" b="1" i="1" dirty="0"/>
              <a:t>x</a:t>
            </a:r>
            <a:r>
              <a:rPr lang="en-US" altLang="zh-CN" b="1" dirty="0"/>
              <a:t> + y ＞ 8.</a:t>
            </a:r>
          </a:p>
          <a:p>
            <a:pPr algn="just" eaLnBrk="1" hangingPunct="1">
              <a:buFontTx/>
              <a:buNone/>
            </a:pPr>
            <a:r>
              <a:rPr lang="en-US" altLang="zh-CN" b="1" dirty="0"/>
              <a:t>(4)  </a:t>
            </a:r>
            <a:r>
              <a:rPr lang="zh-CN" altLang="en-US" b="1" dirty="0"/>
              <a:t>你会打网球吗？</a:t>
            </a:r>
          </a:p>
          <a:p>
            <a:pPr algn="just" eaLnBrk="1" hangingPunct="1">
              <a:buFontTx/>
              <a:buNone/>
            </a:pPr>
            <a:r>
              <a:rPr lang="zh-CN" altLang="en-US" b="1" dirty="0"/>
              <a:t>(5) 地球以外的星球也有生命.</a:t>
            </a:r>
          </a:p>
          <a:p>
            <a:pPr algn="just" eaLnBrk="1" hangingPunct="1">
              <a:buFontTx/>
              <a:buNone/>
            </a:pPr>
            <a:r>
              <a:rPr lang="zh-CN" altLang="en-US" b="1" dirty="0"/>
              <a:t>(6) 今年的冬天真冷呀！</a:t>
            </a:r>
          </a:p>
          <a:p>
            <a:pPr algn="just" eaLnBrk="1" hangingPunct="1">
              <a:buFontTx/>
              <a:buNone/>
            </a:pPr>
            <a:r>
              <a:rPr lang="zh-CN" altLang="en-US" b="1" dirty="0"/>
              <a:t>(7) 请关上门！</a:t>
            </a:r>
          </a:p>
          <a:p>
            <a:pPr algn="just" eaLnBrk="1" hangingPunct="1">
              <a:buFontTx/>
              <a:buNone/>
            </a:pPr>
            <a:r>
              <a:rPr lang="zh-CN" altLang="en-US" b="1" dirty="0"/>
              <a:t>(8) 我正在说谎话.  </a:t>
            </a:r>
            <a:r>
              <a:rPr lang="zh-CN" altLang="en-US" b="0" i="0" dirty="0">
                <a:solidFill>
                  <a:srgbClr val="202122"/>
                </a:solidFill>
                <a:effectLst/>
                <a:latin typeface="Arial" panose="020B0604020202020204" pitchFamily="34" charset="0"/>
              </a:rPr>
              <a:t>如果他确实在说谎，那么他所说的就是真的，但如果他所说的就是真的，那么他就是在说谎；如果他不在说谎，则他说的话为假，但如果他在说谎，则他说的话就是真的</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2771927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endParaRPr lang="en-US" altLang="zh-CN" sz="1200" b="1" dirty="0">
              <a:solidFill>
                <a:srgbClr val="FF3300"/>
              </a:solidFill>
              <a:latin typeface="宋体" panose="02010600030101010101" pitchFamily="2" charset="-122"/>
            </a:endParaRPr>
          </a:p>
          <a:p>
            <a:pPr algn="just" eaLnBrk="1" hangingPunct="1">
              <a:lnSpc>
                <a:spcPct val="110000"/>
              </a:lnSpc>
              <a:buFontTx/>
              <a:buNone/>
            </a:pPr>
            <a:r>
              <a:rPr lang="zh-CN" altLang="en-US" sz="1200" b="1" dirty="0">
                <a:solidFill>
                  <a:srgbClr val="FF3300"/>
                </a:solidFill>
                <a:latin typeface="宋体" panose="02010600030101010101" pitchFamily="2" charset="-122"/>
              </a:rPr>
              <a:t>简单命题(原子命题)</a:t>
            </a:r>
            <a:r>
              <a:rPr lang="zh-CN" altLang="en-US" sz="1200" b="1" dirty="0">
                <a:latin typeface="宋体" panose="02010600030101010101" pitchFamily="2" charset="-122"/>
              </a:rPr>
              <a:t>:简单陈述句构成的命题</a:t>
            </a:r>
          </a:p>
          <a:p>
            <a:pPr eaLnBrk="1" hangingPunct="1">
              <a:lnSpc>
                <a:spcPct val="120000"/>
              </a:lnSpc>
              <a:buClr>
                <a:schemeClr val="bg2"/>
              </a:buClr>
              <a:buSzPct val="75000"/>
              <a:buFont typeface="Wingdings" panose="05000000000000000000" pitchFamily="2" charset="2"/>
              <a:buNone/>
            </a:pPr>
            <a:r>
              <a:rPr lang="zh-CN" altLang="en-US" sz="1200" b="1" dirty="0">
                <a:latin typeface="宋体" panose="02010600030101010101" pitchFamily="2" charset="-122"/>
              </a:rPr>
              <a:t>简单命题的符号化:用</a:t>
            </a:r>
            <a:r>
              <a:rPr lang="en-US" altLang="zh-CN" sz="1200" b="1" i="1" dirty="0"/>
              <a:t>p, q, r, </a:t>
            </a:r>
            <a:r>
              <a:rPr lang="en-US" altLang="zh-CN" sz="1200" b="1" dirty="0">
                <a:latin typeface="Arial" panose="020B0604020202020204" pitchFamily="34" charset="0"/>
              </a:rPr>
              <a:t>…</a:t>
            </a:r>
            <a:r>
              <a:rPr lang="en-US" altLang="zh-CN" sz="1200" b="1" dirty="0">
                <a:latin typeface="宋体" panose="02010600030101010101" pitchFamily="2" charset="-122"/>
              </a:rPr>
              <a:t> ,</a:t>
            </a:r>
            <a:r>
              <a:rPr lang="en-US" altLang="zh-CN" sz="1200" b="1" i="1" dirty="0" err="1"/>
              <a:t>p</a:t>
            </a:r>
            <a:r>
              <a:rPr lang="en-US" altLang="zh-CN" sz="1200" b="1" i="1" baseline="-30000" dirty="0" err="1"/>
              <a:t>i</a:t>
            </a:r>
            <a:r>
              <a:rPr lang="en-US" altLang="zh-CN" sz="1200" b="1" dirty="0" err="1">
                <a:latin typeface="宋体" panose="02010600030101010101" pitchFamily="2" charset="-122"/>
              </a:rPr>
              <a:t>,</a:t>
            </a:r>
            <a:r>
              <a:rPr lang="en-US" altLang="zh-CN" sz="1200" b="1" i="1" dirty="0" err="1"/>
              <a:t>q</a:t>
            </a:r>
            <a:r>
              <a:rPr lang="en-US" altLang="zh-CN" sz="1200" b="1" i="1" baseline="-30000" dirty="0" err="1"/>
              <a:t>i</a:t>
            </a:r>
            <a:r>
              <a:rPr lang="en-US" altLang="zh-CN" sz="1200" b="1" dirty="0" err="1">
                <a:latin typeface="宋体" panose="02010600030101010101" pitchFamily="2" charset="-122"/>
              </a:rPr>
              <a:t>,</a:t>
            </a:r>
            <a:r>
              <a:rPr lang="en-US" altLang="zh-CN" sz="1200" b="1" i="1" dirty="0" err="1"/>
              <a:t>r</a:t>
            </a:r>
            <a:r>
              <a:rPr lang="en-US" altLang="zh-CN" sz="1200" b="1" i="1" baseline="-30000" dirty="0" err="1"/>
              <a:t>i</a:t>
            </a:r>
            <a:r>
              <a:rPr lang="en-US" altLang="zh-CN" sz="1200" b="1" dirty="0"/>
              <a:t> (</a:t>
            </a:r>
            <a:r>
              <a:rPr lang="en-US" altLang="zh-CN" sz="1200" b="1" i="1" dirty="0"/>
              <a:t>i</a:t>
            </a:r>
            <a:r>
              <a:rPr lang="en-US" altLang="zh-CN" sz="1200" b="1" dirty="0">
                <a:latin typeface="宋体" panose="02010600030101010101" pitchFamily="2" charset="-122"/>
              </a:rPr>
              <a:t>≥</a:t>
            </a:r>
            <a:r>
              <a:rPr lang="en-US" altLang="zh-CN" sz="1200" b="1" dirty="0"/>
              <a:t>1)</a:t>
            </a:r>
            <a:r>
              <a:rPr lang="zh-CN" altLang="en-US" sz="1200" b="1" dirty="0">
                <a:latin typeface="宋体" panose="02010600030101010101" pitchFamily="2" charset="-122"/>
              </a:rPr>
              <a:t>表示</a:t>
            </a:r>
          </a:p>
          <a:p>
            <a:pPr eaLnBrk="1" hangingPunct="1">
              <a:lnSpc>
                <a:spcPct val="120000"/>
              </a:lnSpc>
              <a:buClr>
                <a:schemeClr val="bg2"/>
              </a:buClr>
              <a:buSzPct val="75000"/>
              <a:buFont typeface="Wingdings" panose="05000000000000000000" pitchFamily="2" charset="2"/>
              <a:buNone/>
            </a:pPr>
            <a:r>
              <a:rPr lang="zh-CN" altLang="en-US" sz="1200" b="1" dirty="0">
                <a:latin typeface="宋体" panose="02010600030101010101" pitchFamily="2" charset="-122"/>
              </a:rPr>
              <a:t>                 用</a:t>
            </a:r>
            <a:r>
              <a:rPr lang="zh-CN" altLang="en-US" sz="1200" b="1" dirty="0"/>
              <a:t>“1”</a:t>
            </a:r>
            <a:r>
              <a:rPr lang="zh-CN" altLang="en-US" sz="1200" b="1" dirty="0">
                <a:latin typeface="宋体" panose="02010600030101010101" pitchFamily="2" charset="-122"/>
              </a:rPr>
              <a:t>表示真，用</a:t>
            </a:r>
            <a:r>
              <a:rPr lang="zh-CN" altLang="en-US" sz="1200" b="1" dirty="0"/>
              <a:t>“0”</a:t>
            </a:r>
            <a:r>
              <a:rPr lang="zh-CN" altLang="en-US" sz="1200" b="1" dirty="0">
                <a:latin typeface="宋体" panose="02010600030101010101" pitchFamily="2" charset="-122"/>
              </a:rPr>
              <a:t>表示假</a:t>
            </a:r>
          </a:p>
          <a:p>
            <a:pPr eaLnBrk="1" hangingPunct="1">
              <a:lnSpc>
                <a:spcPct val="110000"/>
              </a:lnSpc>
              <a:buFontTx/>
              <a:buNone/>
            </a:pPr>
            <a:endParaRPr lang="zh-CN" altLang="en-US" sz="1200" b="1" dirty="0">
              <a:solidFill>
                <a:srgbClr val="FF3300"/>
              </a:solidFill>
              <a:latin typeface="宋体" panose="02010600030101010101" pitchFamily="2" charset="-122"/>
            </a:endParaRPr>
          </a:p>
          <a:p>
            <a:pPr eaLnBrk="1" hangingPunct="1">
              <a:lnSpc>
                <a:spcPct val="110000"/>
              </a:lnSpc>
              <a:buFontTx/>
              <a:buNone/>
            </a:pPr>
            <a:r>
              <a:rPr lang="zh-CN" altLang="en-US" sz="1200" b="1" dirty="0">
                <a:solidFill>
                  <a:srgbClr val="FF3300"/>
                </a:solidFill>
                <a:latin typeface="宋体" panose="02010600030101010101" pitchFamily="2" charset="-122"/>
              </a:rPr>
              <a:t>复合命题</a:t>
            </a:r>
            <a:r>
              <a:rPr lang="zh-CN" altLang="en-US" sz="1200" b="1" dirty="0">
                <a:latin typeface="宋体" panose="02010600030101010101" pitchFamily="2" charset="-122"/>
              </a:rPr>
              <a:t>:由简单命题通过联结词联结而成的陈述句</a:t>
            </a:r>
            <a:r>
              <a:rPr lang="zh-CN" altLang="en-US" sz="1200" b="1" dirty="0"/>
              <a:t> </a:t>
            </a:r>
          </a:p>
          <a:p>
            <a:pPr eaLnBrk="1" hangingPunct="1">
              <a:lnSpc>
                <a:spcPct val="110000"/>
              </a:lnSpc>
              <a:buFontTx/>
              <a:buNone/>
            </a:pPr>
            <a:r>
              <a:rPr lang="zh-CN" altLang="en-US" sz="1200" b="1" dirty="0">
                <a:solidFill>
                  <a:srgbClr val="00B0F0"/>
                </a:solidFill>
              </a:rPr>
              <a:t>例：</a:t>
            </a:r>
            <a:r>
              <a:rPr lang="zh-CN" altLang="en-US" sz="1200" b="1" dirty="0"/>
              <a:t>  如果明天天气好, 我们就去打球</a:t>
            </a:r>
          </a:p>
          <a:p>
            <a:pPr eaLnBrk="1" hangingPunct="1">
              <a:lnSpc>
                <a:spcPct val="110000"/>
              </a:lnSpc>
              <a:buFontTx/>
              <a:buNone/>
            </a:pPr>
            <a:r>
              <a:rPr lang="zh-CN" altLang="en-US" sz="1200" b="1" dirty="0"/>
              <a:t>设</a:t>
            </a:r>
            <a:r>
              <a:rPr lang="en-US" altLang="zh-CN" sz="1200" b="1" i="1" dirty="0"/>
              <a:t>p</a:t>
            </a:r>
            <a:r>
              <a:rPr lang="en-US" altLang="zh-CN" sz="1200" b="1" dirty="0"/>
              <a:t>:</a:t>
            </a:r>
            <a:r>
              <a:rPr lang="zh-CN" altLang="en-US" sz="1200" b="1" dirty="0"/>
              <a:t>明天天气好, </a:t>
            </a:r>
            <a:r>
              <a:rPr lang="en-US" altLang="zh-CN" sz="1200" b="1" i="1" dirty="0"/>
              <a:t>q</a:t>
            </a:r>
            <a:r>
              <a:rPr lang="en-US" altLang="zh-CN" sz="1200" b="1" dirty="0"/>
              <a:t>:</a:t>
            </a:r>
            <a:r>
              <a:rPr lang="zh-CN" altLang="en-US" sz="1200" b="1" dirty="0"/>
              <a:t>我们去打球, </a:t>
            </a:r>
            <a:r>
              <a:rPr lang="zh-CN" altLang="en-US" sz="1200" b="1" dirty="0">
                <a:highlight>
                  <a:srgbClr val="FFFF00"/>
                </a:highlight>
              </a:rPr>
              <a:t>只要</a:t>
            </a:r>
            <a:r>
              <a:rPr lang="en-US" altLang="zh-CN" sz="1200" b="1" i="1" dirty="0">
                <a:highlight>
                  <a:srgbClr val="FFFF00"/>
                </a:highlight>
              </a:rPr>
              <a:t>p</a:t>
            </a:r>
            <a:r>
              <a:rPr lang="en-US" altLang="zh-CN" sz="1200" b="1" dirty="0">
                <a:highlight>
                  <a:srgbClr val="FFFF00"/>
                </a:highlight>
              </a:rPr>
              <a:t>, </a:t>
            </a:r>
            <a:r>
              <a:rPr lang="zh-CN" altLang="en-US" sz="1200" b="1" dirty="0">
                <a:highlight>
                  <a:srgbClr val="FFFF00"/>
                </a:highlight>
              </a:rPr>
              <a:t>就有</a:t>
            </a:r>
            <a:r>
              <a:rPr lang="en-US" altLang="zh-CN" sz="1200" b="1" i="1" dirty="0">
                <a:highlight>
                  <a:srgbClr val="FFFF00"/>
                </a:highlight>
              </a:rPr>
              <a:t>q</a:t>
            </a:r>
            <a:endParaRPr lang="en-US" altLang="zh-CN" sz="1200" b="1" dirty="0">
              <a:highlight>
                <a:srgbClr val="FFFF00"/>
              </a:highlight>
            </a:endParaRPr>
          </a:p>
          <a:p>
            <a:pPr eaLnBrk="1" hangingPunct="1">
              <a:lnSpc>
                <a:spcPct val="110000"/>
              </a:lnSpc>
              <a:buFontTx/>
              <a:buNone/>
            </a:pPr>
            <a:r>
              <a:rPr lang="zh-CN" altLang="en-US" sz="1200" b="1" dirty="0">
                <a:solidFill>
                  <a:srgbClr val="00B0F0"/>
                </a:solidFill>
              </a:rPr>
              <a:t>例：</a:t>
            </a:r>
            <a:r>
              <a:rPr lang="zh-CN" altLang="en-US" b="1" dirty="0"/>
              <a:t>路飞喝着奶</a:t>
            </a:r>
            <a:r>
              <a:rPr lang="zh-CN" altLang="en-US" sz="1200" b="1" dirty="0"/>
              <a:t>茶并刷着手机</a:t>
            </a:r>
          </a:p>
          <a:p>
            <a:pPr eaLnBrk="1" hangingPunct="1">
              <a:lnSpc>
                <a:spcPct val="110000"/>
              </a:lnSpc>
              <a:buFontTx/>
              <a:buNone/>
            </a:pPr>
            <a:r>
              <a:rPr lang="zh-CN" altLang="en-US" sz="1200" b="1" dirty="0">
                <a:latin typeface="宋体" panose="02010600030101010101" pitchFamily="2" charset="-122"/>
              </a:rPr>
              <a:t>设</a:t>
            </a:r>
            <a:r>
              <a:rPr lang="en-US" altLang="zh-CN" sz="1200" b="1" i="1" dirty="0"/>
              <a:t>p</a:t>
            </a:r>
            <a:r>
              <a:rPr lang="en-US" altLang="zh-CN" sz="1200" b="1" dirty="0"/>
              <a:t>:</a:t>
            </a:r>
            <a:r>
              <a:rPr lang="zh-CN" altLang="en-US" b="1" dirty="0"/>
              <a:t>路飞喝着奶茶</a:t>
            </a:r>
            <a:r>
              <a:rPr lang="zh-CN" altLang="en-US" sz="1200" b="1" dirty="0"/>
              <a:t>, </a:t>
            </a:r>
            <a:r>
              <a:rPr lang="en-US" altLang="zh-CN" sz="1200" b="1" i="1" dirty="0"/>
              <a:t>q</a:t>
            </a:r>
            <a:r>
              <a:rPr lang="en-US" altLang="zh-CN" sz="1200" b="1" dirty="0"/>
              <a:t>:</a:t>
            </a:r>
            <a:r>
              <a:rPr lang="zh-CN" altLang="en-US" b="1" dirty="0"/>
              <a:t>路飞</a:t>
            </a:r>
            <a:r>
              <a:rPr lang="zh-CN" altLang="en-US" sz="1200" b="1" dirty="0"/>
              <a:t>刷着手机,  </a:t>
            </a:r>
            <a:r>
              <a:rPr lang="en-US" altLang="zh-CN" sz="1200" b="1" i="1" dirty="0">
                <a:highlight>
                  <a:srgbClr val="FFFF00"/>
                </a:highlight>
              </a:rPr>
              <a:t>p</a:t>
            </a:r>
            <a:r>
              <a:rPr lang="zh-CN" altLang="en-US" sz="1200" b="1" dirty="0">
                <a:highlight>
                  <a:srgbClr val="FFFF00"/>
                </a:highlight>
              </a:rPr>
              <a:t>并且</a:t>
            </a:r>
            <a:r>
              <a:rPr lang="en-US" altLang="zh-CN" sz="1200" b="1" i="1" dirty="0">
                <a:highlight>
                  <a:srgbClr val="FFFF00"/>
                </a:highlight>
              </a:rPr>
              <a:t>q</a:t>
            </a:r>
            <a:endParaRPr lang="zh-CN" altLang="en-US" sz="1200" b="1" dirty="0">
              <a:highlight>
                <a:srgbClr val="FFFF00"/>
              </a:highlight>
            </a:endParaRPr>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1207690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合数 </a:t>
            </a:r>
            <a:r>
              <a:rPr lang="en-US" altLang="zh-CN" dirty="0"/>
              <a:t>1</a:t>
            </a:r>
            <a:r>
              <a:rPr lang="zh-CN" altLang="en-US" dirty="0"/>
              <a:t>或者本身以外还有约数 素数</a:t>
            </a:r>
            <a:r>
              <a:rPr lang="en-US" altLang="zh-CN" dirty="0"/>
              <a:t>=</a:t>
            </a:r>
            <a:r>
              <a:rPr lang="zh-CN" altLang="en-US" dirty="0"/>
              <a:t>质数</a:t>
            </a:r>
            <a:endParaRPr lang="en-US" altLang="zh-CN" dirty="0"/>
          </a:p>
          <a:p>
            <a:endParaRPr lang="en-US" altLang="zh-CN" dirty="0"/>
          </a:p>
          <a:p>
            <a:pPr algn="just" eaLnBrk="1" hangingPunct="1">
              <a:lnSpc>
                <a:spcPct val="110000"/>
              </a:lnSpc>
              <a:buFontTx/>
              <a:buNone/>
            </a:pPr>
            <a:r>
              <a:rPr lang="zh-CN" altLang="en-US" sz="1200" b="1" dirty="0">
                <a:solidFill>
                  <a:srgbClr val="FF3300"/>
                </a:solidFill>
              </a:rPr>
              <a:t>定义2.1</a:t>
            </a:r>
            <a:r>
              <a:rPr lang="zh-CN" altLang="en-US" sz="1200" b="1" dirty="0"/>
              <a:t> “非</a:t>
            </a:r>
            <a:r>
              <a:rPr lang="en-US" altLang="zh-CN" sz="1200" b="1" i="1" dirty="0"/>
              <a:t>p</a:t>
            </a:r>
            <a:r>
              <a:rPr lang="en-US" altLang="zh-CN" sz="1200" b="1" dirty="0"/>
              <a:t>”(</a:t>
            </a:r>
            <a:r>
              <a:rPr lang="zh-CN" altLang="en-US" sz="1200" b="1" dirty="0"/>
              <a:t>或 “</a:t>
            </a:r>
            <a:r>
              <a:rPr lang="en-US" altLang="zh-CN" sz="1200" b="1" i="1" dirty="0"/>
              <a:t>p</a:t>
            </a:r>
            <a:r>
              <a:rPr lang="zh-CN" altLang="en-US" sz="1200" b="1" dirty="0"/>
              <a:t>的否定”)称为</a:t>
            </a:r>
            <a:r>
              <a:rPr lang="en-US" altLang="zh-CN" sz="1200" b="1" i="1" dirty="0"/>
              <a:t>p</a:t>
            </a:r>
            <a:r>
              <a:rPr lang="zh-CN" altLang="en-US" sz="1200" b="1" dirty="0"/>
              <a:t>的</a:t>
            </a:r>
            <a:r>
              <a:rPr lang="zh-CN" altLang="en-US" sz="1200" b="1" dirty="0">
                <a:solidFill>
                  <a:srgbClr val="FF3300"/>
                </a:solidFill>
              </a:rPr>
              <a:t>否定式</a:t>
            </a:r>
            <a:r>
              <a:rPr lang="zh-CN" altLang="en-US" sz="1200" b="1" dirty="0"/>
              <a:t>, 记作</a:t>
            </a:r>
            <a:r>
              <a:rPr lang="zh-CN" altLang="en-US" sz="1200" b="1" dirty="0">
                <a:sym typeface="Symbol" panose="05050102010706020507" pitchFamily="18" charset="2"/>
              </a:rPr>
              <a:t></a:t>
            </a:r>
            <a:r>
              <a:rPr lang="en-US" altLang="zh-CN" sz="1200" b="1" i="1" dirty="0"/>
              <a:t>p</a:t>
            </a:r>
            <a:r>
              <a:rPr lang="en-US" altLang="zh-CN" sz="1200" b="1" dirty="0"/>
              <a:t>, </a:t>
            </a:r>
            <a:r>
              <a:rPr lang="zh-CN" altLang="en-US" sz="1200" b="1" dirty="0">
                <a:sym typeface="Symbol" panose="05050102010706020507" pitchFamily="18" charset="2"/>
              </a:rPr>
              <a:t></a:t>
            </a:r>
            <a:r>
              <a:rPr lang="zh-CN" altLang="en-US" sz="1200" b="1" dirty="0"/>
              <a:t>称作</a:t>
            </a:r>
            <a:r>
              <a:rPr lang="zh-CN" altLang="en-US" sz="1200" b="1" dirty="0">
                <a:solidFill>
                  <a:srgbClr val="FF3300"/>
                </a:solidFill>
              </a:rPr>
              <a:t>否定联结词</a:t>
            </a:r>
            <a:r>
              <a:rPr lang="zh-CN" altLang="en-US" sz="1200" b="1" dirty="0"/>
              <a:t>,  规定</a:t>
            </a:r>
            <a:r>
              <a:rPr lang="zh-CN" altLang="en-US" sz="1200" b="1" dirty="0">
                <a:sym typeface="Symbol" panose="05050102010706020507" pitchFamily="18" charset="2"/>
              </a:rPr>
              <a:t></a:t>
            </a:r>
            <a:r>
              <a:rPr lang="en-US" altLang="zh-CN" sz="1200" b="1" i="1" dirty="0"/>
              <a:t>p</a:t>
            </a:r>
            <a:r>
              <a:rPr lang="zh-CN" altLang="en-US" sz="1200" b="1" dirty="0"/>
              <a:t>为真当且仅当 </a:t>
            </a:r>
            <a:r>
              <a:rPr lang="en-US" altLang="zh-CN" sz="1200" b="1" i="1" dirty="0"/>
              <a:t>p</a:t>
            </a:r>
            <a:r>
              <a:rPr lang="zh-CN" altLang="en-US" sz="1200" b="1" dirty="0"/>
              <a:t>为假</a:t>
            </a:r>
          </a:p>
          <a:p>
            <a:pPr algn="just" eaLnBrk="1" hangingPunct="1">
              <a:lnSpc>
                <a:spcPct val="110000"/>
              </a:lnSpc>
              <a:spcBef>
                <a:spcPts val="1800"/>
              </a:spcBef>
              <a:buFontTx/>
              <a:buNone/>
            </a:pPr>
            <a:r>
              <a:rPr lang="zh-CN" altLang="en-US" sz="1200" b="1" dirty="0">
                <a:solidFill>
                  <a:srgbClr val="00B0F0"/>
                </a:solidFill>
              </a:rPr>
              <a:t>例：</a:t>
            </a:r>
            <a:r>
              <a:rPr lang="zh-CN" altLang="en-US" sz="1200" b="1" dirty="0"/>
              <a:t> </a:t>
            </a:r>
            <a:r>
              <a:rPr lang="en-US" altLang="zh-CN" sz="1200" b="1" i="1" dirty="0"/>
              <a:t>p</a:t>
            </a:r>
            <a:r>
              <a:rPr lang="en-US" altLang="zh-CN" sz="1200" b="1" dirty="0"/>
              <a:t>:2</a:t>
            </a:r>
            <a:r>
              <a:rPr lang="zh-CN" altLang="en-US" sz="1200" b="1" dirty="0"/>
              <a:t>是合数, </a:t>
            </a:r>
            <a:r>
              <a:rPr lang="zh-CN" altLang="en-US" sz="1200" b="1" dirty="0">
                <a:sym typeface="Symbol" panose="05050102010706020507" pitchFamily="18" charset="2"/>
              </a:rPr>
              <a:t></a:t>
            </a:r>
            <a:r>
              <a:rPr lang="en-US" altLang="zh-CN" sz="1200" b="1" i="1" dirty="0"/>
              <a:t>p</a:t>
            </a:r>
            <a:r>
              <a:rPr lang="zh-CN" altLang="en-US" sz="1200" b="1" dirty="0"/>
              <a:t>: </a:t>
            </a:r>
            <a:r>
              <a:rPr lang="en-US" altLang="zh-CN" sz="1200" b="1" dirty="0"/>
              <a:t>2</a:t>
            </a:r>
            <a:r>
              <a:rPr lang="zh-CN" altLang="en-US" sz="1200" b="1" dirty="0"/>
              <a:t>不是合数,   </a:t>
            </a:r>
            <a:r>
              <a:rPr lang="en-US" altLang="zh-CN" sz="1200" b="1" i="1" dirty="0"/>
              <a:t>p</a:t>
            </a:r>
            <a:r>
              <a:rPr lang="zh-CN" altLang="en-US" sz="1200" b="1" dirty="0"/>
              <a:t>为假 , </a:t>
            </a:r>
            <a:r>
              <a:rPr lang="zh-CN" altLang="en-US" sz="1200" b="1" dirty="0">
                <a:sym typeface="Symbol" panose="05050102010706020507" pitchFamily="18" charset="2"/>
              </a:rPr>
              <a:t></a:t>
            </a:r>
            <a:r>
              <a:rPr lang="en-US" altLang="zh-CN" sz="1200" b="1" i="1" dirty="0"/>
              <a:t>p</a:t>
            </a:r>
            <a:r>
              <a:rPr lang="zh-CN" altLang="en-US" sz="1200" b="1" dirty="0"/>
              <a:t>为真</a:t>
            </a:r>
          </a:p>
          <a:p>
            <a:pPr algn="just" eaLnBrk="1" hangingPunct="1">
              <a:lnSpc>
                <a:spcPct val="110000"/>
              </a:lnSpc>
              <a:buFontTx/>
              <a:buNone/>
            </a:pPr>
            <a:endParaRPr lang="zh-CN" altLang="en-US" sz="1200" b="1" dirty="0">
              <a:solidFill>
                <a:srgbClr val="000066"/>
              </a:solidFill>
            </a:endParaRPr>
          </a:p>
          <a:p>
            <a:pPr algn="just" eaLnBrk="1" hangingPunct="1">
              <a:lnSpc>
                <a:spcPct val="110000"/>
              </a:lnSpc>
              <a:buFontTx/>
              <a:buNone/>
            </a:pPr>
            <a:r>
              <a:rPr lang="zh-CN" altLang="en-US" sz="1200" b="1" dirty="0">
                <a:solidFill>
                  <a:srgbClr val="FF3300"/>
                </a:solidFill>
              </a:rPr>
              <a:t>定义2.2</a:t>
            </a:r>
            <a:r>
              <a:rPr lang="zh-CN" altLang="en-US" sz="1200" b="1" dirty="0"/>
              <a:t> “</a:t>
            </a:r>
            <a:r>
              <a:rPr lang="en-US" altLang="zh-CN" sz="1200" b="1" i="1" dirty="0"/>
              <a:t>p</a:t>
            </a:r>
            <a:r>
              <a:rPr lang="zh-CN" altLang="en-US" sz="1200" b="1" dirty="0"/>
              <a:t>并且</a:t>
            </a:r>
            <a:r>
              <a:rPr lang="en-US" altLang="zh-CN" sz="1200" b="1" i="1" dirty="0"/>
              <a:t>q</a:t>
            </a:r>
            <a:r>
              <a:rPr lang="en-US" altLang="zh-CN" sz="1200" b="1" dirty="0"/>
              <a:t>”(</a:t>
            </a:r>
            <a:r>
              <a:rPr lang="zh-CN" altLang="en-US" sz="1200" b="1" dirty="0"/>
              <a:t>或“</a:t>
            </a:r>
            <a:r>
              <a:rPr lang="en-US" altLang="zh-CN" sz="1200" b="1" i="1" dirty="0"/>
              <a:t>p</a:t>
            </a:r>
            <a:r>
              <a:rPr lang="zh-CN" altLang="en-US" sz="1200" b="1" dirty="0"/>
              <a:t>与</a:t>
            </a:r>
            <a:r>
              <a:rPr lang="en-US" altLang="zh-CN" sz="1200" b="1" i="1" dirty="0"/>
              <a:t>q</a:t>
            </a:r>
            <a:r>
              <a:rPr lang="en-US" altLang="zh-CN" sz="1200" b="1" dirty="0"/>
              <a:t>”)</a:t>
            </a:r>
            <a:r>
              <a:rPr lang="zh-CN" altLang="en-US" sz="1200" b="1" dirty="0"/>
              <a:t>称为</a:t>
            </a:r>
            <a:r>
              <a:rPr lang="en-US" altLang="zh-CN" sz="1200" b="1" i="1" dirty="0"/>
              <a:t>p</a:t>
            </a:r>
            <a:r>
              <a:rPr lang="zh-CN" altLang="en-US" sz="1200" b="1" dirty="0"/>
              <a:t>与</a:t>
            </a:r>
            <a:r>
              <a:rPr lang="en-US" altLang="zh-CN" sz="1200" b="1" i="1" dirty="0"/>
              <a:t>q</a:t>
            </a:r>
            <a:r>
              <a:rPr lang="zh-CN" altLang="en-US" sz="1200" b="1" dirty="0"/>
              <a:t>的</a:t>
            </a:r>
            <a:r>
              <a:rPr lang="zh-CN" altLang="en-US" sz="1200" b="1" dirty="0">
                <a:solidFill>
                  <a:srgbClr val="FF3300"/>
                </a:solidFill>
              </a:rPr>
              <a:t>合取式</a:t>
            </a:r>
            <a:r>
              <a:rPr lang="zh-CN" altLang="en-US" sz="1200" b="1" dirty="0"/>
              <a:t>, 记作</a:t>
            </a:r>
            <a:r>
              <a:rPr lang="en-US" altLang="zh-CN" sz="1200" b="1" i="1" dirty="0" err="1"/>
              <a:t>p</a:t>
            </a:r>
            <a:r>
              <a:rPr lang="en-US" altLang="zh-CN" sz="1200" b="1" dirty="0" err="1"/>
              <a:t>∧</a:t>
            </a:r>
            <a:r>
              <a:rPr lang="en-US" altLang="zh-CN" sz="1200" b="1" i="1" dirty="0" err="1"/>
              <a:t>q</a:t>
            </a:r>
            <a:r>
              <a:rPr lang="en-US" altLang="zh-CN" sz="1200" b="1" dirty="0"/>
              <a:t>, ∧</a:t>
            </a:r>
            <a:r>
              <a:rPr lang="zh-CN" altLang="en-US" sz="1200" b="1" dirty="0"/>
              <a:t>称作</a:t>
            </a:r>
            <a:r>
              <a:rPr lang="zh-CN" altLang="en-US" sz="1200" b="1" dirty="0">
                <a:solidFill>
                  <a:srgbClr val="FF3300"/>
                </a:solidFill>
              </a:rPr>
              <a:t>合取联结词</a:t>
            </a:r>
            <a:r>
              <a:rPr lang="zh-CN" altLang="en-US" sz="1200" b="1" dirty="0"/>
              <a:t>, 规定</a:t>
            </a:r>
            <a:r>
              <a:rPr lang="zh-CN" altLang="en-US" sz="1200" b="1" i="1" dirty="0"/>
              <a:t> </a:t>
            </a:r>
            <a:r>
              <a:rPr lang="en-US" altLang="zh-CN" sz="1200" b="1" i="1" dirty="0" err="1"/>
              <a:t>p</a:t>
            </a:r>
            <a:r>
              <a:rPr lang="en-US" altLang="zh-CN" sz="1200" b="1" dirty="0" err="1"/>
              <a:t>∧</a:t>
            </a:r>
            <a:r>
              <a:rPr lang="en-US" altLang="zh-CN" sz="1200" b="1" i="1" dirty="0" err="1"/>
              <a:t>q</a:t>
            </a:r>
            <a:r>
              <a:rPr lang="zh-CN" altLang="en-US" sz="1200" b="1" dirty="0"/>
              <a:t>为真当且仅当 </a:t>
            </a:r>
            <a:r>
              <a:rPr lang="en-US" altLang="zh-CN" sz="1200" b="1" i="1" dirty="0"/>
              <a:t>p</a:t>
            </a:r>
            <a:r>
              <a:rPr lang="zh-CN" altLang="en-US" sz="1200" b="1" dirty="0"/>
              <a:t>与</a:t>
            </a:r>
            <a:r>
              <a:rPr lang="en-US" altLang="zh-CN" sz="1200" b="1" i="1" dirty="0"/>
              <a:t>q</a:t>
            </a:r>
            <a:r>
              <a:rPr lang="zh-CN" altLang="en-US" sz="1200" b="1" dirty="0"/>
              <a:t>同时为真</a:t>
            </a:r>
          </a:p>
          <a:p>
            <a:pPr algn="just" eaLnBrk="1" hangingPunct="1">
              <a:lnSpc>
                <a:spcPct val="110000"/>
              </a:lnSpc>
              <a:spcBef>
                <a:spcPts val="1800"/>
              </a:spcBef>
              <a:buFontTx/>
              <a:buNone/>
            </a:pPr>
            <a:r>
              <a:rPr lang="zh-CN" altLang="en-US" sz="1200" b="1" dirty="0">
                <a:solidFill>
                  <a:srgbClr val="00B0F0"/>
                </a:solidFill>
              </a:rPr>
              <a:t>例：</a:t>
            </a:r>
            <a:r>
              <a:rPr lang="zh-CN" altLang="en-US" sz="1200" b="1" dirty="0"/>
              <a:t> </a:t>
            </a:r>
            <a:r>
              <a:rPr lang="en-US" altLang="zh-CN" sz="1200" b="1" i="1" dirty="0"/>
              <a:t>p</a:t>
            </a:r>
            <a:r>
              <a:rPr lang="en-US" altLang="zh-CN" sz="1200" b="1" dirty="0"/>
              <a:t>:2</a:t>
            </a:r>
            <a:r>
              <a:rPr lang="zh-CN" altLang="en-US" sz="1200" b="1" dirty="0"/>
              <a:t>是偶数, </a:t>
            </a:r>
            <a:r>
              <a:rPr lang="en-US" altLang="zh-CN" sz="1200" b="1" i="1" dirty="0"/>
              <a:t>q</a:t>
            </a:r>
            <a:r>
              <a:rPr lang="zh-CN" altLang="en-US" sz="1200" b="1" dirty="0"/>
              <a:t>: </a:t>
            </a:r>
            <a:r>
              <a:rPr lang="en-US" altLang="zh-CN" sz="1200" b="1" dirty="0"/>
              <a:t>2</a:t>
            </a:r>
            <a:r>
              <a:rPr lang="zh-CN" altLang="en-US" sz="1200" b="1" dirty="0"/>
              <a:t>是素数,   </a:t>
            </a:r>
            <a:r>
              <a:rPr lang="en-US" altLang="zh-CN" sz="1200" b="1" i="1" dirty="0" err="1"/>
              <a:t>p</a:t>
            </a:r>
            <a:r>
              <a:rPr lang="en-US" altLang="zh-CN" sz="1200" b="1" dirty="0" err="1"/>
              <a:t>∧</a:t>
            </a:r>
            <a:r>
              <a:rPr lang="en-US" altLang="zh-CN" sz="1200" b="1" i="1" dirty="0" err="1"/>
              <a:t>q</a:t>
            </a:r>
            <a:r>
              <a:rPr lang="en-US" altLang="zh-CN" sz="1200" b="1" dirty="0"/>
              <a:t>: 2</a:t>
            </a:r>
            <a:r>
              <a:rPr lang="zh-CN" altLang="en-US" sz="1200" b="1" dirty="0"/>
              <a:t>是偶素数,</a:t>
            </a:r>
          </a:p>
          <a:p>
            <a:pPr algn="just" eaLnBrk="1" hangingPunct="1">
              <a:lnSpc>
                <a:spcPct val="110000"/>
              </a:lnSpc>
              <a:buFontTx/>
              <a:buNone/>
            </a:pPr>
            <a:r>
              <a:rPr lang="en-US" altLang="zh-CN" sz="1200" b="1" i="1" dirty="0"/>
              <a:t>         p</a:t>
            </a:r>
            <a:r>
              <a:rPr lang="zh-CN" altLang="en-US" sz="1200" b="1" dirty="0"/>
              <a:t>为真,  </a:t>
            </a:r>
            <a:r>
              <a:rPr lang="en-US" altLang="zh-CN" sz="1200" b="1" i="1" dirty="0"/>
              <a:t>q</a:t>
            </a:r>
            <a:r>
              <a:rPr lang="zh-CN" altLang="en-US" sz="1200" b="1" dirty="0"/>
              <a:t>为真,   </a:t>
            </a:r>
            <a:r>
              <a:rPr lang="en-US" altLang="zh-CN" sz="1200" b="1" i="1" dirty="0" err="1"/>
              <a:t>p</a:t>
            </a:r>
            <a:r>
              <a:rPr lang="en-US" altLang="zh-CN" sz="1200" b="1" dirty="0" err="1"/>
              <a:t>∧</a:t>
            </a:r>
            <a:r>
              <a:rPr lang="en-US" altLang="zh-CN" sz="1200" b="1" i="1" dirty="0" err="1"/>
              <a:t>q</a:t>
            </a:r>
            <a:r>
              <a:rPr lang="zh-CN" altLang="en-US" sz="1200" b="1" dirty="0"/>
              <a:t>为真</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2450868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60000"/>
              </a:lnSpc>
              <a:buFontTx/>
              <a:buNone/>
            </a:pPr>
            <a:r>
              <a:rPr lang="zh-CN" altLang="en-US" b="1" dirty="0"/>
              <a:t>(1) 王晓既聪明又用功.</a:t>
            </a:r>
          </a:p>
          <a:p>
            <a:pPr algn="just" eaLnBrk="1" hangingPunct="1">
              <a:lnSpc>
                <a:spcPct val="160000"/>
              </a:lnSpc>
              <a:buFontTx/>
              <a:buNone/>
            </a:pPr>
            <a:r>
              <a:rPr lang="zh-CN" altLang="en-US" b="1" dirty="0"/>
              <a:t>(2) 王晓不仅聪明，而且用功.</a:t>
            </a:r>
          </a:p>
          <a:p>
            <a:pPr algn="just" eaLnBrk="1" hangingPunct="1">
              <a:lnSpc>
                <a:spcPct val="160000"/>
              </a:lnSpc>
              <a:buFontTx/>
              <a:buNone/>
            </a:pPr>
            <a:r>
              <a:rPr lang="zh-CN" altLang="en-US" b="1" dirty="0"/>
              <a:t>(3) 王晓虽然聪明，但不用功.</a:t>
            </a:r>
            <a:endParaRPr lang="en-US" altLang="zh-CN" b="1" dirty="0"/>
          </a:p>
          <a:p>
            <a:pPr algn="just">
              <a:lnSpc>
                <a:spcPct val="160000"/>
              </a:lnSpc>
              <a:buNone/>
            </a:pPr>
            <a:r>
              <a:rPr lang="zh-CN" altLang="en-US" b="1" dirty="0"/>
              <a:t>(</a:t>
            </a:r>
            <a:r>
              <a:rPr lang="en-US" altLang="zh-CN" b="1" dirty="0"/>
              <a:t>4</a:t>
            </a:r>
            <a:r>
              <a:rPr lang="zh-CN" altLang="en-US" b="1" dirty="0"/>
              <a:t>) 王晓不是不聪明，而是不用功.</a:t>
            </a:r>
          </a:p>
          <a:p>
            <a:pPr algn="just" eaLnBrk="1" hangingPunct="1">
              <a:lnSpc>
                <a:spcPct val="160000"/>
              </a:lnSpc>
              <a:buFontTx/>
              <a:buNone/>
            </a:pPr>
            <a:r>
              <a:rPr lang="zh-CN" altLang="en-US" b="1" dirty="0"/>
              <a:t>(</a:t>
            </a:r>
            <a:r>
              <a:rPr lang="en-US" altLang="zh-CN" b="1" dirty="0"/>
              <a:t>5</a:t>
            </a:r>
            <a:r>
              <a:rPr lang="zh-CN" altLang="en-US" b="1" dirty="0"/>
              <a:t>) 张辉与王丽都是三好生.</a:t>
            </a:r>
          </a:p>
          <a:p>
            <a:pPr algn="just" eaLnBrk="1" hangingPunct="1">
              <a:lnSpc>
                <a:spcPct val="160000"/>
              </a:lnSpc>
              <a:buFontTx/>
              <a:buNone/>
            </a:pPr>
            <a:r>
              <a:rPr lang="zh-CN" altLang="en-US" b="1" dirty="0"/>
              <a:t>(</a:t>
            </a:r>
            <a:r>
              <a:rPr lang="en-US" altLang="zh-CN" b="1" dirty="0"/>
              <a:t>6</a:t>
            </a:r>
            <a:r>
              <a:rPr lang="zh-CN" altLang="en-US" b="1" dirty="0"/>
              <a:t>) 张辉与王丽是同学.</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171682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just" defTabSz="914400" rtl="0" eaLnBrk="1" fontAlgn="auto" latinLnBrk="0" hangingPunct="1">
              <a:lnSpc>
                <a:spcPct val="120000"/>
              </a:lnSpc>
              <a:spcBef>
                <a:spcPts val="0"/>
              </a:spcBef>
              <a:spcAft>
                <a:spcPts val="0"/>
              </a:spcAft>
              <a:buClrTx/>
              <a:buSzTx/>
              <a:buFontTx/>
              <a:buNone/>
              <a:tabLst/>
              <a:defRPr/>
            </a:pP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b="1" dirty="0">
                <a:effectLst/>
                <a:ea typeface="微软雅黑" panose="020B0503020204020204" pitchFamily="34" charset="-122"/>
                <a:cs typeface="微软雅黑" panose="020B0503020204020204" pitchFamily="34" charset="-122"/>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的英文是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相容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Conjunction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），对应于日常用语中的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“and”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dirty="0">
                <a:effectLst/>
                <a:latin typeface="等线" panose="02010600030101010101" pitchFamily="2" charset="-122"/>
                <a:cs typeface="Times New Roman" panose="02020603050405020304" pitchFamily="18" charset="0"/>
              </a:rPr>
              <a:t>“</a:t>
            </a:r>
            <a:r>
              <a:rPr lang="zh-CN" altLang="zh-CN" sz="1800" b="1" kern="100" dirty="0">
                <a:effectLst/>
                <a:latin typeface="等线" panose="02010600030101010101" pitchFamily="2" charset="-122"/>
                <a:ea typeface="微软雅黑" panose="020B0503020204020204" pitchFamily="34" charset="-122"/>
                <a:cs typeface="微软雅黑" panose="020B0503020204020204" pitchFamily="34" charset="-122"/>
              </a:rPr>
              <a:t>∨</a:t>
            </a:r>
            <a:r>
              <a:rPr lang="en-US" altLang="zh-CN" sz="1800" b="1" dirty="0">
                <a:effectLst/>
                <a:latin typeface="等线" panose="02010600030101010101" pitchFamily="2" charset="-122"/>
                <a:cs typeface="Times New Roman" panose="02020603050405020304" pitchFamily="18" charset="0"/>
              </a:rPr>
              <a:t>”</a:t>
            </a:r>
            <a:r>
              <a:rPr lang="en-US" altLang="zh-CN" sz="1800" dirty="0">
                <a:effectLst/>
                <a:latin typeface="等线" panose="02010600030101010101" pitchFamily="2" charset="-122"/>
                <a:cs typeface="Times New Roman" panose="02020603050405020304" pitchFamily="18" charset="0"/>
              </a:rPr>
              <a:t> </a:t>
            </a:r>
            <a:r>
              <a:rPr lang="zh-CN" altLang="zh-CN" sz="1800" dirty="0">
                <a:effectLst/>
                <a:ea typeface="等线" panose="02010600030101010101" pitchFamily="2" charset="-122"/>
                <a:cs typeface="Times New Roman" panose="02020603050405020304" pitchFamily="18" charset="0"/>
              </a:rPr>
              <a:t>的英文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排斥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Disjunction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，对应于日常用语中的</a:t>
            </a:r>
            <a:r>
              <a:rPr lang="en-US" altLang="zh-CN" sz="1800" dirty="0">
                <a:effectLst/>
                <a:ea typeface="等线" panose="02010600030101010101" pitchFamily="2" charset="-122"/>
                <a:cs typeface="Times New Roman" panose="02020603050405020304" pitchFamily="18" charset="0"/>
              </a:rPr>
              <a:t> “or”</a:t>
            </a:r>
            <a:r>
              <a:rPr lang="zh-CN" altLang="zh-CN" sz="1800" dirty="0">
                <a:effectLst/>
                <a:ea typeface="等线" panose="02010600030101010101" pitchFamily="2" charset="-122"/>
                <a:cs typeface="Times New Roman" panose="02020603050405020304" pitchFamily="18" charset="0"/>
              </a:rPr>
              <a:t>。</a:t>
            </a:r>
            <a:r>
              <a:rPr lang="zh-CN" altLang="en-US" sz="1800" dirty="0">
                <a:effectLst/>
                <a:ea typeface="等线" panose="02010600030101010101" pitchFamily="2" charset="-122"/>
                <a:cs typeface="Times New Roman" panose="02020603050405020304" pitchFamily="18" charset="0"/>
              </a:rPr>
              <a:t>“</a:t>
            </a:r>
            <a:r>
              <a:rPr lang="zh-CN" altLang="en-US" sz="1800" b="1" dirty="0">
                <a:solidFill>
                  <a:srgbClr val="FF0000"/>
                </a:solidFill>
              </a:rPr>
              <a:t>相容或</a:t>
            </a:r>
            <a:r>
              <a:rPr lang="zh-CN" altLang="en-US" sz="1800" dirty="0">
                <a:effectLst/>
                <a:ea typeface="等线" panose="02010600030101010101" pitchFamily="2" charset="-122"/>
                <a:cs typeface="Times New Roman" panose="02020603050405020304" pitchFamily="18" charset="0"/>
              </a:rPr>
              <a:t>”</a:t>
            </a:r>
            <a:r>
              <a:rPr lang="zh-CN" altLang="en-US" sz="1200" b="1" dirty="0">
                <a:solidFill>
                  <a:srgbClr val="FF0000"/>
                </a:solidFill>
              </a:rPr>
              <a:t> 与“排斥或”是它们的组合形式。</a:t>
            </a:r>
            <a:endParaRPr lang="en-US" altLang="zh-CN" sz="1200" b="1" dirty="0">
              <a:solidFill>
                <a:srgbClr val="FF0000"/>
              </a:solidFill>
            </a:endParaRPr>
          </a:p>
          <a:p>
            <a:pPr algn="just" eaLnBrk="1" hangingPunct="1">
              <a:buFontTx/>
              <a:buNone/>
            </a:pPr>
            <a:r>
              <a:rPr lang="zh-CN" altLang="en-US" sz="1200" b="1" dirty="0">
                <a:solidFill>
                  <a:srgbClr val="FF3300"/>
                </a:solidFill>
              </a:rPr>
              <a:t>定义2.3</a:t>
            </a:r>
            <a:r>
              <a:rPr lang="zh-CN" altLang="en-US" sz="1200" b="1" dirty="0"/>
              <a:t> “</a:t>
            </a:r>
            <a:r>
              <a:rPr lang="en-US" altLang="zh-CN" sz="1200" b="1" i="1" dirty="0"/>
              <a:t>p</a:t>
            </a:r>
            <a:r>
              <a:rPr lang="zh-CN" altLang="en-US" sz="1200" b="1" dirty="0"/>
              <a:t>或</a:t>
            </a:r>
            <a:r>
              <a:rPr lang="en-US" altLang="zh-CN" sz="1200" b="1" i="1" dirty="0"/>
              <a:t>q</a:t>
            </a:r>
            <a:r>
              <a:rPr lang="en-US" altLang="zh-CN" sz="1200" b="1" dirty="0"/>
              <a:t>”</a:t>
            </a:r>
            <a:r>
              <a:rPr lang="zh-CN" altLang="en-US" sz="1200" b="1" dirty="0"/>
              <a:t>称作</a:t>
            </a:r>
            <a:r>
              <a:rPr lang="en-US" altLang="zh-CN" sz="1200" b="1" i="1" dirty="0"/>
              <a:t>p</a:t>
            </a:r>
            <a:r>
              <a:rPr lang="zh-CN" altLang="en-US" sz="1200" b="1" dirty="0"/>
              <a:t>与</a:t>
            </a:r>
            <a:r>
              <a:rPr lang="en-US" altLang="zh-CN" sz="1200" b="1" i="1" dirty="0"/>
              <a:t>q</a:t>
            </a:r>
            <a:r>
              <a:rPr lang="zh-CN" altLang="en-US" sz="1200" b="1" dirty="0"/>
              <a:t>的</a:t>
            </a:r>
            <a:r>
              <a:rPr lang="zh-CN" altLang="en-US" sz="1200" b="1" dirty="0">
                <a:solidFill>
                  <a:srgbClr val="FF3300"/>
                </a:solidFill>
              </a:rPr>
              <a:t>析取式</a:t>
            </a:r>
            <a:r>
              <a:rPr lang="zh-CN" altLang="en-US" sz="1200" b="1" dirty="0"/>
              <a:t>,记作</a:t>
            </a:r>
            <a:r>
              <a:rPr lang="en-US" altLang="zh-CN" sz="1200" b="1" i="1" dirty="0" err="1"/>
              <a:t>p</a:t>
            </a:r>
            <a:r>
              <a:rPr lang="en-US" altLang="zh-CN" sz="1200" b="1" dirty="0" err="1"/>
              <a:t>∨</a:t>
            </a:r>
            <a:r>
              <a:rPr lang="en-US" altLang="zh-CN" sz="1200" b="1" i="1" dirty="0" err="1"/>
              <a:t>q</a:t>
            </a:r>
            <a:r>
              <a:rPr lang="en-US" altLang="zh-CN" sz="1200" b="1" dirty="0"/>
              <a:t>, ∨</a:t>
            </a:r>
            <a:r>
              <a:rPr lang="zh-CN" altLang="en-US" sz="1200" b="1" dirty="0"/>
              <a:t>称作</a:t>
            </a:r>
            <a:r>
              <a:rPr lang="zh-CN" altLang="en-US" sz="1200" b="1" dirty="0">
                <a:solidFill>
                  <a:srgbClr val="FF3300"/>
                </a:solidFill>
              </a:rPr>
              <a:t>析取联结词</a:t>
            </a:r>
            <a:r>
              <a:rPr lang="zh-CN" altLang="en-US" sz="1200" b="1" dirty="0"/>
              <a:t>, 并规定</a:t>
            </a:r>
            <a:r>
              <a:rPr lang="en-US" altLang="zh-CN" sz="1200" b="1" i="1" dirty="0" err="1"/>
              <a:t>p</a:t>
            </a:r>
            <a:r>
              <a:rPr lang="en-US" altLang="zh-CN" sz="1200" b="1" dirty="0" err="1"/>
              <a:t>∨</a:t>
            </a:r>
            <a:r>
              <a:rPr lang="en-US" altLang="zh-CN" sz="1200" b="1" i="1" dirty="0" err="1"/>
              <a:t>q</a:t>
            </a:r>
            <a:r>
              <a:rPr lang="zh-CN" altLang="en-US" sz="1200" b="1" dirty="0"/>
              <a:t>为假当且仅当</a:t>
            </a:r>
            <a:r>
              <a:rPr lang="en-US" altLang="zh-CN" sz="1200" b="1" i="1" dirty="0"/>
              <a:t>p</a:t>
            </a:r>
            <a:r>
              <a:rPr lang="zh-CN" altLang="en-US" sz="1200" b="1" dirty="0"/>
              <a:t>与</a:t>
            </a:r>
            <a:r>
              <a:rPr lang="en-US" altLang="zh-CN" sz="1200" b="1" i="1" dirty="0"/>
              <a:t>q</a:t>
            </a:r>
            <a:r>
              <a:rPr lang="zh-CN" altLang="en-US" sz="1200" b="1" dirty="0"/>
              <a:t>同时为假.</a:t>
            </a:r>
          </a:p>
          <a:p>
            <a:pPr eaLnBrk="1" hangingPunct="1">
              <a:buFontTx/>
              <a:buNone/>
            </a:pPr>
            <a:r>
              <a:rPr lang="zh-CN" altLang="en-US" sz="1200" b="1" dirty="0">
                <a:solidFill>
                  <a:srgbClr val="00B0F0"/>
                </a:solidFill>
              </a:rPr>
              <a:t>例：</a:t>
            </a:r>
            <a:r>
              <a:rPr lang="zh-CN" altLang="en-US" sz="1200" b="1" dirty="0"/>
              <a:t>王燕学过英语或法语</a:t>
            </a:r>
          </a:p>
          <a:p>
            <a:pPr eaLnBrk="1" hangingPunct="1">
              <a:buFontTx/>
              <a:buNone/>
            </a:pPr>
            <a:r>
              <a:rPr lang="zh-CN" altLang="en-US" sz="1200" b="1" dirty="0"/>
              <a:t>设 </a:t>
            </a:r>
            <a:r>
              <a:rPr lang="en-US" altLang="zh-CN" sz="1200" b="1" i="1" dirty="0"/>
              <a:t>p</a:t>
            </a:r>
            <a:r>
              <a:rPr lang="en-US" altLang="zh-CN" sz="1200" b="1" dirty="0"/>
              <a:t>:</a:t>
            </a:r>
            <a:r>
              <a:rPr lang="zh-CN" altLang="en-US" sz="1200" b="1" dirty="0"/>
              <a:t>王燕学过英语, </a:t>
            </a:r>
            <a:r>
              <a:rPr lang="en-US" altLang="zh-CN" sz="1200" b="1" i="1" dirty="0"/>
              <a:t>q</a:t>
            </a:r>
            <a:r>
              <a:rPr lang="en-US" altLang="zh-CN" sz="1200" b="1" dirty="0"/>
              <a:t>:</a:t>
            </a:r>
            <a:r>
              <a:rPr lang="zh-CN" altLang="en-US" sz="1200" b="1" dirty="0"/>
              <a:t>王燕学过法语,    符号化为</a:t>
            </a:r>
            <a:r>
              <a:rPr lang="en-US" altLang="zh-CN" sz="1200" b="1" i="1" dirty="0" err="1"/>
              <a:t>p</a:t>
            </a:r>
            <a:r>
              <a:rPr lang="en-US" altLang="zh-CN" sz="1200" b="1" dirty="0" err="1"/>
              <a:t>∨</a:t>
            </a:r>
            <a:r>
              <a:rPr lang="en-US" altLang="zh-CN" sz="1200" b="1" i="1" dirty="0" err="1"/>
              <a:t>q</a:t>
            </a:r>
            <a:endParaRPr lang="zh-CN" altLang="en-US" sz="1200" b="1" dirty="0"/>
          </a:p>
          <a:p>
            <a:pPr eaLnBrk="1" hangingPunct="1">
              <a:buFontTx/>
              <a:buNone/>
            </a:pPr>
            <a:endParaRPr lang="en-US" altLang="zh-CN" b="1" dirty="0"/>
          </a:p>
          <a:p>
            <a:pPr eaLnBrk="1" hangingPunct="1">
              <a:buFontTx/>
              <a:buNone/>
            </a:pPr>
            <a:r>
              <a:rPr lang="zh-CN" altLang="en-US" sz="1200" b="1" dirty="0">
                <a:solidFill>
                  <a:srgbClr val="FF0000"/>
                </a:solidFill>
              </a:rPr>
              <a:t>相容或与排斥或</a:t>
            </a:r>
            <a:endParaRPr lang="en-US" altLang="zh-CN" sz="1200" b="1" dirty="0">
              <a:solidFill>
                <a:srgbClr val="FF0000"/>
              </a:solidFill>
            </a:endParaRPr>
          </a:p>
          <a:p>
            <a:pPr indent="396875">
              <a:lnSpc>
                <a:spcPct val="100000"/>
              </a:lnSpc>
              <a:buNone/>
            </a:pPr>
            <a:r>
              <a:rPr lang="en-US" altLang="zh-CN" b="1" dirty="0"/>
              <a:t>“</a:t>
            </a:r>
            <a:r>
              <a:rPr lang="zh-CN" altLang="zh-CN" b="1" dirty="0"/>
              <a:t>∨</a:t>
            </a:r>
            <a:r>
              <a:rPr lang="en-US" altLang="zh-CN" b="1" dirty="0"/>
              <a:t>” </a:t>
            </a:r>
            <a:r>
              <a:rPr lang="zh-CN" altLang="zh-CN" b="1" dirty="0"/>
              <a:t>的英文是</a:t>
            </a:r>
            <a:r>
              <a:rPr lang="en-US" altLang="zh-CN" b="1" dirty="0"/>
              <a:t>“</a:t>
            </a:r>
            <a:r>
              <a:rPr lang="zh-CN" altLang="zh-CN" b="1" dirty="0"/>
              <a:t>相容</a:t>
            </a:r>
            <a:r>
              <a:rPr lang="en-US" altLang="zh-CN" b="1" dirty="0"/>
              <a:t>”</a:t>
            </a:r>
            <a:r>
              <a:rPr lang="zh-CN" altLang="zh-CN" b="1" dirty="0"/>
              <a:t>（</a:t>
            </a:r>
            <a:r>
              <a:rPr lang="en-US" altLang="zh-CN" b="1" dirty="0"/>
              <a:t>Conjunction</a:t>
            </a:r>
            <a:r>
              <a:rPr lang="zh-CN" altLang="zh-CN" b="1" dirty="0"/>
              <a:t>），对应于日常用语中的</a:t>
            </a:r>
            <a:r>
              <a:rPr lang="en-US" altLang="zh-CN" b="1" dirty="0"/>
              <a:t> “or”</a:t>
            </a:r>
            <a:r>
              <a:rPr lang="zh-CN" altLang="zh-CN" b="1" dirty="0"/>
              <a:t>。</a:t>
            </a:r>
            <a:r>
              <a:rPr lang="en-US" altLang="zh-CN" b="1" dirty="0"/>
              <a:t>“</a:t>
            </a:r>
            <a:r>
              <a:rPr lang="zh-CN" altLang="zh-CN" b="1" dirty="0"/>
              <a:t>∧</a:t>
            </a:r>
            <a:r>
              <a:rPr lang="en-US" altLang="zh-CN" b="1" dirty="0"/>
              <a:t>” </a:t>
            </a:r>
            <a:r>
              <a:rPr lang="zh-CN" altLang="zh-CN" b="1" dirty="0"/>
              <a:t>的英文</a:t>
            </a:r>
            <a:r>
              <a:rPr lang="en-US" altLang="zh-CN" b="1" dirty="0"/>
              <a:t>“</a:t>
            </a:r>
            <a:r>
              <a:rPr lang="zh-CN" altLang="zh-CN" b="1" dirty="0"/>
              <a:t>排斥</a:t>
            </a:r>
            <a:r>
              <a:rPr lang="en-US" altLang="zh-CN" b="1" dirty="0"/>
              <a:t>”</a:t>
            </a:r>
            <a:r>
              <a:rPr lang="zh-CN" altLang="zh-CN" b="1" dirty="0"/>
              <a:t>（</a:t>
            </a:r>
            <a:r>
              <a:rPr lang="en-US" altLang="zh-CN" b="1" dirty="0"/>
              <a:t>Disjunction</a:t>
            </a:r>
            <a:r>
              <a:rPr lang="zh-CN" altLang="zh-CN" b="1" dirty="0"/>
              <a:t>），对应于日常用语中的</a:t>
            </a:r>
            <a:r>
              <a:rPr lang="en-US" altLang="zh-CN" b="1" dirty="0"/>
              <a:t> “and”</a:t>
            </a:r>
            <a:r>
              <a:rPr lang="zh-CN" altLang="zh-CN" b="1" dirty="0"/>
              <a:t>。</a:t>
            </a:r>
            <a:r>
              <a:rPr lang="zh-CN" altLang="en-US" b="1" dirty="0"/>
              <a:t>“相容或” 与“排斥或”是它们的组合形式。</a:t>
            </a:r>
            <a:endParaRPr lang="en-US" altLang="zh-CN" b="1" dirty="0"/>
          </a:p>
          <a:p>
            <a:pPr eaLnBrk="1" hangingPunct="1">
              <a:buFontTx/>
              <a:buNone/>
            </a:pPr>
            <a:endParaRPr lang="zh-CN" altLang="en-US" sz="1200" b="1" dirty="0">
              <a:solidFill>
                <a:srgbClr val="FF0000"/>
              </a:solidFill>
            </a:endParaRPr>
          </a:p>
          <a:p>
            <a:pPr eaLnBrk="1" hangingPunct="1">
              <a:buFontTx/>
              <a:buNone/>
            </a:pPr>
            <a:r>
              <a:rPr lang="zh-CN" altLang="en-US" sz="1200" b="1" dirty="0">
                <a:solidFill>
                  <a:srgbClr val="00B0F0"/>
                </a:solidFill>
              </a:rPr>
              <a:t>例：</a:t>
            </a:r>
            <a:r>
              <a:rPr lang="zh-CN" altLang="en-US" sz="1200" b="1" dirty="0"/>
              <a:t>这件事由张三和李四中的一人去做</a:t>
            </a:r>
          </a:p>
          <a:p>
            <a:pPr eaLnBrk="1" hangingPunct="1">
              <a:buFontTx/>
              <a:buNone/>
            </a:pPr>
            <a:r>
              <a:rPr lang="zh-CN" altLang="en-US" sz="1200" b="1" dirty="0"/>
              <a:t>    设 </a:t>
            </a:r>
            <a:r>
              <a:rPr lang="en-US" altLang="zh-CN" sz="1200" b="1" i="1" dirty="0"/>
              <a:t>p</a:t>
            </a:r>
            <a:r>
              <a:rPr lang="en-US" altLang="zh-CN" sz="1200" b="1" dirty="0"/>
              <a:t>:</a:t>
            </a:r>
            <a:r>
              <a:rPr lang="zh-CN" altLang="en-US" sz="1200" b="1" dirty="0"/>
              <a:t>张三做这件事, </a:t>
            </a:r>
            <a:r>
              <a:rPr lang="en-US" altLang="zh-CN" sz="1200" b="1" i="1" dirty="0"/>
              <a:t>q</a:t>
            </a:r>
            <a:r>
              <a:rPr lang="en-US" altLang="zh-CN" sz="1200" b="1" dirty="0"/>
              <a:t>:</a:t>
            </a:r>
            <a:r>
              <a:rPr lang="zh-CN" altLang="en-US" sz="1200" b="1" dirty="0"/>
              <a:t>李四做这件事</a:t>
            </a:r>
          </a:p>
          <a:p>
            <a:pPr eaLnBrk="1" hangingPunct="1">
              <a:buFontTx/>
              <a:buNone/>
            </a:pPr>
            <a:r>
              <a:rPr lang="zh-CN" altLang="en-US" sz="1200" b="1" dirty="0"/>
              <a:t>    应符号化为    (</a:t>
            </a:r>
            <a:r>
              <a:rPr lang="en-US" altLang="zh-CN" sz="1200" b="1" i="1" dirty="0"/>
              <a:t>p</a:t>
            </a:r>
            <a:r>
              <a:rPr lang="en-US" altLang="zh-CN" sz="1200" b="1" dirty="0">
                <a:latin typeface="宋体" panose="02010600030101010101" pitchFamily="2" charset="-122"/>
              </a:rPr>
              <a:t>∧</a:t>
            </a:r>
            <a:r>
              <a:rPr lang="zh-CN" altLang="en-US" sz="1400" b="1" dirty="0">
                <a:sym typeface="Symbol" panose="05050102010706020507" pitchFamily="18" charset="2"/>
              </a:rPr>
              <a:t></a:t>
            </a:r>
            <a:r>
              <a:rPr lang="en-US" altLang="zh-CN" sz="1200" b="1" i="1" dirty="0"/>
              <a:t>q</a:t>
            </a:r>
            <a:r>
              <a:rPr lang="en-US" altLang="zh-CN" sz="1200" b="1" dirty="0"/>
              <a:t>) ∨ (</a:t>
            </a:r>
            <a:r>
              <a:rPr lang="zh-CN" altLang="en-US" sz="1400" b="1" dirty="0">
                <a:sym typeface="Symbol" panose="05050102010706020507" pitchFamily="18" charset="2"/>
              </a:rPr>
              <a:t></a:t>
            </a:r>
            <a:r>
              <a:rPr lang="en-US" altLang="zh-CN" sz="1200" b="1" i="1" dirty="0" err="1"/>
              <a:t>p</a:t>
            </a:r>
            <a:r>
              <a:rPr lang="en-US" altLang="zh-CN" sz="1200" b="1" dirty="0" err="1">
                <a:latin typeface="宋体" panose="02010600030101010101" pitchFamily="2" charset="-122"/>
              </a:rPr>
              <a:t>∧</a:t>
            </a:r>
            <a:r>
              <a:rPr lang="en-US" altLang="zh-CN" sz="1200" b="1" i="1" dirty="0" err="1"/>
              <a:t>q</a:t>
            </a:r>
            <a:r>
              <a:rPr lang="en-US" altLang="zh-CN" sz="1200" b="1" dirty="0"/>
              <a:t>)</a:t>
            </a:r>
            <a:endParaRPr lang="zh-CN" altLang="en-US" sz="1200" b="1" dirty="0"/>
          </a:p>
          <a:p>
            <a:pPr marL="0" marR="0" lvl="0" indent="266700" algn="just" defTabSz="914400" rtl="0" eaLnBrk="1" fontAlgn="auto" latinLnBrk="0" hangingPunct="1">
              <a:lnSpc>
                <a:spcPct val="120000"/>
              </a:lnSpc>
              <a:spcBef>
                <a:spcPts val="0"/>
              </a:spcBef>
              <a:spcAft>
                <a:spcPts val="0"/>
              </a:spcAft>
              <a:buClrTx/>
              <a:buSzTx/>
              <a:buFontTx/>
              <a:buNone/>
              <a:tabLst/>
              <a:defRPr/>
            </a:pPr>
            <a:endParaRPr lang="en-US" altLang="zh-CN" sz="1200" b="1" dirty="0">
              <a:solidFill>
                <a:srgbClr val="FF0000"/>
              </a:solidFill>
            </a:endParaRPr>
          </a:p>
          <a:p>
            <a:pPr marL="0" marR="0" lvl="0" indent="266700" algn="just" defTabSz="914400" rtl="0" eaLnBrk="1" fontAlgn="auto" latinLnBrk="0" hangingPunct="1">
              <a:lnSpc>
                <a:spcPct val="12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892386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just" defTabSz="914400" rtl="0" eaLnBrk="1" fontAlgn="auto" latinLnBrk="0" hangingPunct="1">
              <a:lnSpc>
                <a:spcPct val="120000"/>
              </a:lnSpc>
              <a:spcBef>
                <a:spcPts val="0"/>
              </a:spcBef>
              <a:spcAft>
                <a:spcPts val="0"/>
              </a:spcAft>
              <a:buClrTx/>
              <a:buSzTx/>
              <a:buFontTx/>
              <a:buNone/>
              <a:tabLst/>
              <a:defRPr/>
            </a:pP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b="1" kern="100" dirty="0">
                <a:effectLst/>
                <a:latin typeface="等线" panose="02010600030101010101" pitchFamily="2" charset="-122"/>
                <a:ea typeface="微软雅黑" panose="020B0503020204020204" pitchFamily="34" charset="-122"/>
                <a:cs typeface="微软雅黑" panose="020B0503020204020204" pitchFamily="34" charset="-122"/>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的英文是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相容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Conjunction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），对应于日常用语中的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dirty="0">
                <a:effectLst/>
                <a:latin typeface="等线" panose="02010600030101010101" pitchFamily="2" charset="-122"/>
                <a:cs typeface="Times New Roman" panose="02020603050405020304" pitchFamily="18" charset="0"/>
              </a:rPr>
              <a:t>“</a:t>
            </a:r>
            <a:r>
              <a:rPr lang="zh-CN" altLang="zh-CN" sz="1800" b="1" dirty="0">
                <a:effectLst/>
                <a:ea typeface="微软雅黑" panose="020B0503020204020204" pitchFamily="34" charset="-122"/>
                <a:cs typeface="微软雅黑" panose="020B0503020204020204" pitchFamily="34" charset="-122"/>
              </a:rPr>
              <a:t>∧</a:t>
            </a:r>
            <a:r>
              <a:rPr lang="en-US" altLang="zh-CN" sz="1800" b="1" dirty="0">
                <a:effectLst/>
                <a:latin typeface="等线" panose="02010600030101010101" pitchFamily="2" charset="-122"/>
                <a:cs typeface="Times New Roman" panose="02020603050405020304" pitchFamily="18" charset="0"/>
              </a:rPr>
              <a:t>”</a:t>
            </a:r>
            <a:r>
              <a:rPr lang="en-US" altLang="zh-CN" sz="1800" dirty="0">
                <a:effectLst/>
                <a:latin typeface="等线" panose="02010600030101010101" pitchFamily="2" charset="-122"/>
                <a:cs typeface="Times New Roman" panose="02020603050405020304" pitchFamily="18" charset="0"/>
              </a:rPr>
              <a:t> </a:t>
            </a:r>
            <a:r>
              <a:rPr lang="zh-CN" altLang="zh-CN" sz="1800" dirty="0">
                <a:effectLst/>
                <a:ea typeface="等线" panose="02010600030101010101" pitchFamily="2" charset="-122"/>
                <a:cs typeface="Times New Roman" panose="02020603050405020304" pitchFamily="18" charset="0"/>
              </a:rPr>
              <a:t>的英文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排斥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Disjunction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，对应于日常用语中的</a:t>
            </a:r>
            <a:r>
              <a:rPr lang="en-US" altLang="zh-CN" sz="1800" dirty="0">
                <a:effectLst/>
                <a:ea typeface="等线" panose="02010600030101010101" pitchFamily="2" charset="-122"/>
                <a:cs typeface="Times New Roman" panose="02020603050405020304" pitchFamily="18" charset="0"/>
              </a:rPr>
              <a:t> “and”</a:t>
            </a:r>
            <a:r>
              <a:rPr lang="zh-CN" altLang="zh-CN" sz="1800" dirty="0">
                <a:effectLst/>
                <a:ea typeface="等线" panose="02010600030101010101" pitchFamily="2" charset="-122"/>
                <a:cs typeface="Times New Roman" panose="02020603050405020304" pitchFamily="18" charset="0"/>
              </a:rPr>
              <a:t>。</a:t>
            </a:r>
            <a:r>
              <a:rPr lang="zh-CN" altLang="en-US" sz="1800" dirty="0">
                <a:effectLst/>
                <a:ea typeface="等线" panose="02010600030101010101" pitchFamily="2" charset="-122"/>
                <a:cs typeface="Times New Roman" panose="02020603050405020304" pitchFamily="18" charset="0"/>
              </a:rPr>
              <a:t>“</a:t>
            </a:r>
            <a:r>
              <a:rPr lang="zh-CN" altLang="en-US" sz="1800" b="1" dirty="0">
                <a:solidFill>
                  <a:srgbClr val="FF0000"/>
                </a:solidFill>
              </a:rPr>
              <a:t>相容或</a:t>
            </a:r>
            <a:r>
              <a:rPr lang="zh-CN" altLang="en-US" sz="1800" dirty="0">
                <a:effectLst/>
                <a:ea typeface="等线" panose="02010600030101010101" pitchFamily="2" charset="-122"/>
                <a:cs typeface="Times New Roman" panose="02020603050405020304" pitchFamily="18" charset="0"/>
              </a:rPr>
              <a:t>”</a:t>
            </a:r>
            <a:r>
              <a:rPr lang="zh-CN" altLang="en-US" sz="1200" b="1" dirty="0">
                <a:solidFill>
                  <a:srgbClr val="FF0000"/>
                </a:solidFill>
              </a:rPr>
              <a:t> 与“排斥或”是它们的组合形式。</a:t>
            </a:r>
            <a:endParaRPr lang="en-US" altLang="zh-CN" sz="1200" b="1" dirty="0">
              <a:solidFill>
                <a:srgbClr val="FF0000"/>
              </a:solidFill>
            </a:endParaRPr>
          </a:p>
          <a:p>
            <a:pPr algn="just" eaLnBrk="1" hangingPunct="1">
              <a:buFontTx/>
              <a:buNone/>
            </a:pPr>
            <a:r>
              <a:rPr lang="zh-CN" altLang="en-US" sz="1200" b="1" dirty="0">
                <a:solidFill>
                  <a:srgbClr val="FF3300"/>
                </a:solidFill>
              </a:rPr>
              <a:t>定义2.3</a:t>
            </a:r>
            <a:r>
              <a:rPr lang="zh-CN" altLang="en-US" sz="1200" b="1" dirty="0"/>
              <a:t> “</a:t>
            </a:r>
            <a:r>
              <a:rPr lang="en-US" altLang="zh-CN" sz="1200" b="1" i="1" dirty="0"/>
              <a:t>p</a:t>
            </a:r>
            <a:r>
              <a:rPr lang="zh-CN" altLang="en-US" sz="1200" b="1" dirty="0"/>
              <a:t>或</a:t>
            </a:r>
            <a:r>
              <a:rPr lang="en-US" altLang="zh-CN" sz="1200" b="1" i="1" dirty="0"/>
              <a:t>q</a:t>
            </a:r>
            <a:r>
              <a:rPr lang="en-US" altLang="zh-CN" sz="1200" b="1" dirty="0"/>
              <a:t>”</a:t>
            </a:r>
            <a:r>
              <a:rPr lang="zh-CN" altLang="en-US" sz="1200" b="1" dirty="0"/>
              <a:t>称作</a:t>
            </a:r>
            <a:r>
              <a:rPr lang="en-US" altLang="zh-CN" sz="1200" b="1" i="1" dirty="0"/>
              <a:t>p</a:t>
            </a:r>
            <a:r>
              <a:rPr lang="zh-CN" altLang="en-US" sz="1200" b="1" dirty="0"/>
              <a:t>与</a:t>
            </a:r>
            <a:r>
              <a:rPr lang="en-US" altLang="zh-CN" sz="1200" b="1" i="1" dirty="0"/>
              <a:t>q</a:t>
            </a:r>
            <a:r>
              <a:rPr lang="zh-CN" altLang="en-US" sz="1200" b="1" dirty="0"/>
              <a:t>的</a:t>
            </a:r>
            <a:r>
              <a:rPr lang="zh-CN" altLang="en-US" sz="1200" b="1" dirty="0">
                <a:solidFill>
                  <a:srgbClr val="FF3300"/>
                </a:solidFill>
              </a:rPr>
              <a:t>析取式</a:t>
            </a:r>
            <a:r>
              <a:rPr lang="zh-CN" altLang="en-US" sz="1200" b="1" dirty="0"/>
              <a:t>,记作</a:t>
            </a:r>
            <a:r>
              <a:rPr lang="en-US" altLang="zh-CN" sz="1200" b="1" i="1" dirty="0" err="1"/>
              <a:t>p</a:t>
            </a:r>
            <a:r>
              <a:rPr lang="en-US" altLang="zh-CN" sz="1200" b="1" dirty="0" err="1"/>
              <a:t>∨</a:t>
            </a:r>
            <a:r>
              <a:rPr lang="en-US" altLang="zh-CN" sz="1200" b="1" i="1" dirty="0" err="1"/>
              <a:t>q</a:t>
            </a:r>
            <a:r>
              <a:rPr lang="en-US" altLang="zh-CN" sz="1200" b="1" dirty="0"/>
              <a:t>, ∨</a:t>
            </a:r>
            <a:r>
              <a:rPr lang="zh-CN" altLang="en-US" sz="1200" b="1" dirty="0"/>
              <a:t>称作</a:t>
            </a:r>
            <a:r>
              <a:rPr lang="zh-CN" altLang="en-US" sz="1200" b="1" dirty="0">
                <a:solidFill>
                  <a:srgbClr val="FF3300"/>
                </a:solidFill>
              </a:rPr>
              <a:t>析取联结词</a:t>
            </a:r>
            <a:r>
              <a:rPr lang="zh-CN" altLang="en-US" sz="1200" b="1" dirty="0"/>
              <a:t>, 并规定</a:t>
            </a:r>
            <a:r>
              <a:rPr lang="en-US" altLang="zh-CN" sz="1200" b="1" i="1" dirty="0" err="1"/>
              <a:t>p</a:t>
            </a:r>
            <a:r>
              <a:rPr lang="en-US" altLang="zh-CN" sz="1200" b="1" dirty="0" err="1"/>
              <a:t>∨</a:t>
            </a:r>
            <a:r>
              <a:rPr lang="en-US" altLang="zh-CN" sz="1200" b="1" i="1" dirty="0" err="1"/>
              <a:t>q</a:t>
            </a:r>
            <a:r>
              <a:rPr lang="zh-CN" altLang="en-US" sz="1200" b="1" dirty="0"/>
              <a:t>为假当且仅当</a:t>
            </a:r>
            <a:r>
              <a:rPr lang="en-US" altLang="zh-CN" sz="1200" b="1" i="1" dirty="0"/>
              <a:t>p</a:t>
            </a:r>
            <a:r>
              <a:rPr lang="zh-CN" altLang="en-US" sz="1200" b="1" dirty="0"/>
              <a:t>与</a:t>
            </a:r>
            <a:r>
              <a:rPr lang="en-US" altLang="zh-CN" sz="1200" b="1" i="1" dirty="0"/>
              <a:t>q</a:t>
            </a:r>
            <a:r>
              <a:rPr lang="zh-CN" altLang="en-US" sz="1200" b="1" dirty="0"/>
              <a:t>同时为假.</a:t>
            </a:r>
          </a:p>
          <a:p>
            <a:pPr eaLnBrk="1" hangingPunct="1">
              <a:buFontTx/>
              <a:buNone/>
            </a:pPr>
            <a:r>
              <a:rPr lang="zh-CN" altLang="en-US" sz="1200" b="1" dirty="0">
                <a:solidFill>
                  <a:srgbClr val="00B0F0"/>
                </a:solidFill>
              </a:rPr>
              <a:t>例：</a:t>
            </a:r>
            <a:r>
              <a:rPr lang="zh-CN" altLang="en-US" sz="1200" b="1" dirty="0"/>
              <a:t>王燕学过英语或法语</a:t>
            </a:r>
          </a:p>
          <a:p>
            <a:pPr eaLnBrk="1" hangingPunct="1">
              <a:buFontTx/>
              <a:buNone/>
            </a:pPr>
            <a:r>
              <a:rPr lang="zh-CN" altLang="en-US" sz="1200" b="1" dirty="0"/>
              <a:t>设 </a:t>
            </a:r>
            <a:r>
              <a:rPr lang="en-US" altLang="zh-CN" sz="1200" b="1" i="1" dirty="0"/>
              <a:t>p</a:t>
            </a:r>
            <a:r>
              <a:rPr lang="en-US" altLang="zh-CN" sz="1200" b="1" dirty="0"/>
              <a:t>:</a:t>
            </a:r>
            <a:r>
              <a:rPr lang="zh-CN" altLang="en-US" sz="1200" b="1" dirty="0"/>
              <a:t>王燕学过英语, </a:t>
            </a:r>
            <a:r>
              <a:rPr lang="en-US" altLang="zh-CN" sz="1200" b="1" i="1" dirty="0"/>
              <a:t>q</a:t>
            </a:r>
            <a:r>
              <a:rPr lang="en-US" altLang="zh-CN" sz="1200" b="1" dirty="0"/>
              <a:t>:</a:t>
            </a:r>
            <a:r>
              <a:rPr lang="zh-CN" altLang="en-US" sz="1200" b="1" dirty="0"/>
              <a:t>王燕学过法语,    符号化为</a:t>
            </a:r>
            <a:r>
              <a:rPr lang="en-US" altLang="zh-CN" sz="1200" b="1" i="1" dirty="0" err="1"/>
              <a:t>p</a:t>
            </a:r>
            <a:r>
              <a:rPr lang="en-US" altLang="zh-CN" sz="1200" b="1" dirty="0" err="1"/>
              <a:t>∨</a:t>
            </a:r>
            <a:r>
              <a:rPr lang="en-US" altLang="zh-CN" sz="1200" b="1" i="1" dirty="0" err="1"/>
              <a:t>q</a:t>
            </a:r>
            <a:endParaRPr lang="zh-CN" altLang="en-US" sz="1200" b="1" dirty="0"/>
          </a:p>
          <a:p>
            <a:pPr eaLnBrk="1" hangingPunct="1">
              <a:buFontTx/>
              <a:buNone/>
            </a:pPr>
            <a:endParaRPr lang="en-US" altLang="zh-CN" b="1" dirty="0"/>
          </a:p>
          <a:p>
            <a:pPr eaLnBrk="1" hangingPunct="1">
              <a:buFontTx/>
              <a:buNone/>
            </a:pPr>
            <a:r>
              <a:rPr lang="zh-CN" altLang="en-US" sz="1200" b="1" dirty="0">
                <a:solidFill>
                  <a:srgbClr val="FF0000"/>
                </a:solidFill>
              </a:rPr>
              <a:t>相容或与排斥或</a:t>
            </a:r>
            <a:endParaRPr lang="en-US" altLang="zh-CN" sz="1200" b="1" dirty="0">
              <a:solidFill>
                <a:srgbClr val="FF0000"/>
              </a:solidFill>
            </a:endParaRPr>
          </a:p>
          <a:p>
            <a:pPr indent="396875">
              <a:lnSpc>
                <a:spcPct val="100000"/>
              </a:lnSpc>
              <a:buNone/>
            </a:pPr>
            <a:r>
              <a:rPr lang="en-US" altLang="zh-CN" b="1" dirty="0"/>
              <a:t>“</a:t>
            </a:r>
            <a:r>
              <a:rPr lang="zh-CN" altLang="zh-CN" b="1" dirty="0"/>
              <a:t>∨</a:t>
            </a:r>
            <a:r>
              <a:rPr lang="en-US" altLang="zh-CN" b="1" dirty="0"/>
              <a:t>” </a:t>
            </a:r>
            <a:r>
              <a:rPr lang="zh-CN" altLang="zh-CN" b="1" dirty="0"/>
              <a:t>的英文是</a:t>
            </a:r>
            <a:r>
              <a:rPr lang="en-US" altLang="zh-CN" b="1" dirty="0"/>
              <a:t>“</a:t>
            </a:r>
            <a:r>
              <a:rPr lang="zh-CN" altLang="zh-CN" b="1" dirty="0"/>
              <a:t>相容</a:t>
            </a:r>
            <a:r>
              <a:rPr lang="en-US" altLang="zh-CN" b="1" dirty="0"/>
              <a:t>”</a:t>
            </a:r>
            <a:r>
              <a:rPr lang="zh-CN" altLang="zh-CN" b="1" dirty="0"/>
              <a:t>（</a:t>
            </a:r>
            <a:r>
              <a:rPr lang="en-US" altLang="zh-CN" b="1" dirty="0"/>
              <a:t>Conjunction</a:t>
            </a:r>
            <a:r>
              <a:rPr lang="zh-CN" altLang="zh-CN" b="1" dirty="0"/>
              <a:t>），对应于日常用语中的</a:t>
            </a:r>
            <a:r>
              <a:rPr lang="en-US" altLang="zh-CN" b="1" dirty="0"/>
              <a:t> “or”</a:t>
            </a:r>
            <a:r>
              <a:rPr lang="zh-CN" altLang="zh-CN" b="1" dirty="0"/>
              <a:t>。</a:t>
            </a:r>
            <a:r>
              <a:rPr lang="en-US" altLang="zh-CN" b="1" dirty="0"/>
              <a:t>“</a:t>
            </a:r>
            <a:r>
              <a:rPr lang="zh-CN" altLang="zh-CN" b="1" dirty="0"/>
              <a:t>∧</a:t>
            </a:r>
            <a:r>
              <a:rPr lang="en-US" altLang="zh-CN" b="1" dirty="0"/>
              <a:t>” </a:t>
            </a:r>
            <a:r>
              <a:rPr lang="zh-CN" altLang="zh-CN" b="1" dirty="0"/>
              <a:t>的英文</a:t>
            </a:r>
            <a:r>
              <a:rPr lang="en-US" altLang="zh-CN" b="1" dirty="0"/>
              <a:t>“</a:t>
            </a:r>
            <a:r>
              <a:rPr lang="zh-CN" altLang="zh-CN" b="1" dirty="0"/>
              <a:t>排斥</a:t>
            </a:r>
            <a:r>
              <a:rPr lang="en-US" altLang="zh-CN" b="1" dirty="0"/>
              <a:t>”</a:t>
            </a:r>
            <a:r>
              <a:rPr lang="zh-CN" altLang="zh-CN" b="1" dirty="0"/>
              <a:t>（</a:t>
            </a:r>
            <a:r>
              <a:rPr lang="en-US" altLang="zh-CN" b="1" dirty="0"/>
              <a:t>Disjunction</a:t>
            </a:r>
            <a:r>
              <a:rPr lang="zh-CN" altLang="zh-CN" b="1" dirty="0"/>
              <a:t>），对应于日常用语中的</a:t>
            </a:r>
            <a:r>
              <a:rPr lang="en-US" altLang="zh-CN" b="1" dirty="0"/>
              <a:t> “and”</a:t>
            </a:r>
            <a:r>
              <a:rPr lang="zh-CN" altLang="zh-CN" b="1" dirty="0"/>
              <a:t>。</a:t>
            </a:r>
            <a:r>
              <a:rPr lang="zh-CN" altLang="en-US" b="1" dirty="0"/>
              <a:t>“相容或” 与“排斥或”是它们的组合形式。</a:t>
            </a:r>
            <a:endParaRPr lang="en-US" altLang="zh-CN" b="1" dirty="0"/>
          </a:p>
          <a:p>
            <a:pPr eaLnBrk="1" hangingPunct="1">
              <a:buFontTx/>
              <a:buNone/>
            </a:pPr>
            <a:endParaRPr lang="zh-CN" altLang="en-US" sz="1200" b="1" dirty="0">
              <a:solidFill>
                <a:srgbClr val="FF0000"/>
              </a:solidFill>
            </a:endParaRPr>
          </a:p>
          <a:p>
            <a:pPr eaLnBrk="1" hangingPunct="1">
              <a:buFontTx/>
              <a:buNone/>
            </a:pPr>
            <a:r>
              <a:rPr lang="zh-CN" altLang="en-US" sz="1200" b="1" dirty="0">
                <a:solidFill>
                  <a:srgbClr val="00B0F0"/>
                </a:solidFill>
              </a:rPr>
              <a:t>例：</a:t>
            </a:r>
            <a:r>
              <a:rPr lang="zh-CN" altLang="en-US" sz="1200" b="1" dirty="0"/>
              <a:t>这件事由张三和李四中的一人去做</a:t>
            </a:r>
          </a:p>
          <a:p>
            <a:pPr eaLnBrk="1" hangingPunct="1">
              <a:buFontTx/>
              <a:buNone/>
            </a:pPr>
            <a:r>
              <a:rPr lang="zh-CN" altLang="en-US" sz="1200" b="1" dirty="0"/>
              <a:t>    设 </a:t>
            </a:r>
            <a:r>
              <a:rPr lang="en-US" altLang="zh-CN" sz="1200" b="1" i="1" dirty="0"/>
              <a:t>p</a:t>
            </a:r>
            <a:r>
              <a:rPr lang="en-US" altLang="zh-CN" sz="1200" b="1" dirty="0"/>
              <a:t>:</a:t>
            </a:r>
            <a:r>
              <a:rPr lang="zh-CN" altLang="en-US" sz="1200" b="1" dirty="0"/>
              <a:t>张三做这件事, </a:t>
            </a:r>
            <a:r>
              <a:rPr lang="en-US" altLang="zh-CN" sz="1200" b="1" i="1" dirty="0"/>
              <a:t>q</a:t>
            </a:r>
            <a:r>
              <a:rPr lang="en-US" altLang="zh-CN" sz="1200" b="1" dirty="0"/>
              <a:t>:</a:t>
            </a:r>
            <a:r>
              <a:rPr lang="zh-CN" altLang="en-US" sz="1200" b="1" dirty="0"/>
              <a:t>李四做这件事</a:t>
            </a:r>
          </a:p>
          <a:p>
            <a:pPr eaLnBrk="1" hangingPunct="1">
              <a:buFontTx/>
              <a:buNone/>
            </a:pPr>
            <a:r>
              <a:rPr lang="zh-CN" altLang="en-US" sz="1200" b="1" dirty="0"/>
              <a:t>    应符号化为    (</a:t>
            </a:r>
            <a:r>
              <a:rPr lang="en-US" altLang="zh-CN" sz="1200" b="1" i="1" dirty="0"/>
              <a:t>p</a:t>
            </a:r>
            <a:r>
              <a:rPr lang="en-US" altLang="zh-CN" sz="1200" b="1" dirty="0">
                <a:latin typeface="宋体" panose="02010600030101010101" pitchFamily="2" charset="-122"/>
              </a:rPr>
              <a:t>∧</a:t>
            </a:r>
            <a:r>
              <a:rPr lang="zh-CN" altLang="en-US" sz="1400" b="1" dirty="0">
                <a:sym typeface="Symbol" panose="05050102010706020507" pitchFamily="18" charset="2"/>
              </a:rPr>
              <a:t></a:t>
            </a:r>
            <a:r>
              <a:rPr lang="en-US" altLang="zh-CN" sz="1200" b="1" i="1" dirty="0"/>
              <a:t>q</a:t>
            </a:r>
            <a:r>
              <a:rPr lang="en-US" altLang="zh-CN" sz="1200" b="1" dirty="0"/>
              <a:t>) ∨ (</a:t>
            </a:r>
            <a:r>
              <a:rPr lang="zh-CN" altLang="en-US" sz="1400" b="1" dirty="0">
                <a:sym typeface="Symbol" panose="05050102010706020507" pitchFamily="18" charset="2"/>
              </a:rPr>
              <a:t></a:t>
            </a:r>
            <a:r>
              <a:rPr lang="en-US" altLang="zh-CN" sz="1200" b="1" i="1" dirty="0" err="1"/>
              <a:t>p</a:t>
            </a:r>
            <a:r>
              <a:rPr lang="en-US" altLang="zh-CN" sz="1200" b="1" dirty="0" err="1">
                <a:latin typeface="宋体" panose="02010600030101010101" pitchFamily="2" charset="-122"/>
              </a:rPr>
              <a:t>∧</a:t>
            </a:r>
            <a:r>
              <a:rPr lang="en-US" altLang="zh-CN" sz="1200" b="1" i="1" dirty="0" err="1"/>
              <a:t>q</a:t>
            </a:r>
            <a:r>
              <a:rPr lang="en-US" altLang="zh-CN" sz="1200" b="1" dirty="0"/>
              <a:t>)</a:t>
            </a:r>
            <a:endParaRPr lang="zh-CN" altLang="en-US" sz="1200" b="1" dirty="0"/>
          </a:p>
          <a:p>
            <a:pPr marL="0" marR="0" lvl="0" indent="266700" algn="just" defTabSz="914400" rtl="0" eaLnBrk="1" fontAlgn="auto" latinLnBrk="0" hangingPunct="1">
              <a:lnSpc>
                <a:spcPct val="120000"/>
              </a:lnSpc>
              <a:spcBef>
                <a:spcPts val="0"/>
              </a:spcBef>
              <a:spcAft>
                <a:spcPts val="0"/>
              </a:spcAft>
              <a:buClrTx/>
              <a:buSzTx/>
              <a:buFontTx/>
              <a:buNone/>
              <a:tabLst/>
              <a:defRPr/>
            </a:pPr>
            <a:endParaRPr lang="en-US" altLang="zh-CN" sz="1200" b="1" dirty="0">
              <a:solidFill>
                <a:srgbClr val="FF0000"/>
              </a:solidFill>
            </a:endParaRPr>
          </a:p>
          <a:p>
            <a:pPr marL="0" marR="0" lvl="0" indent="266700" algn="just" defTabSz="914400" rtl="0" eaLnBrk="1" fontAlgn="auto" latinLnBrk="0" hangingPunct="1">
              <a:lnSpc>
                <a:spcPct val="12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664258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Clr>
                <a:schemeClr val="bg2"/>
              </a:buClr>
              <a:buSzPct val="75000"/>
              <a:buFont typeface="Wingdings" panose="05000000000000000000" pitchFamily="2" charset="2"/>
              <a:buNone/>
            </a:pPr>
            <a:r>
              <a:rPr lang="zh-CN" altLang="en-US" dirty="0"/>
              <a:t>只能生一次</a:t>
            </a:r>
            <a:r>
              <a:rPr lang="zh-CN" altLang="en-US" sz="1200" b="1" dirty="0">
                <a:solidFill>
                  <a:srgbClr val="00B0F0"/>
                </a:solidFill>
              </a:rPr>
              <a:t>例：</a:t>
            </a:r>
            <a:r>
              <a:rPr lang="zh-CN" altLang="en-US" sz="1200" b="1" dirty="0">
                <a:latin typeface="宋体" panose="02010600030101010101" pitchFamily="2" charset="-122"/>
              </a:rPr>
              <a:t>将下列命题符号化</a:t>
            </a:r>
            <a:endParaRPr lang="zh-CN" altLang="en-US" sz="1200" b="1" dirty="0"/>
          </a:p>
          <a:p>
            <a:pPr algn="just" eaLnBrk="1" hangingPunct="1">
              <a:lnSpc>
                <a:spcPct val="90000"/>
              </a:lnSpc>
              <a:buClr>
                <a:schemeClr val="bg2"/>
              </a:buClr>
              <a:buSzPct val="75000"/>
              <a:buFont typeface="Wingdings" panose="05000000000000000000" pitchFamily="2" charset="2"/>
              <a:buNone/>
            </a:pPr>
            <a:r>
              <a:rPr lang="zh-CN" altLang="en-US" sz="1200" b="1" dirty="0"/>
              <a:t>(1)  2</a:t>
            </a:r>
            <a:r>
              <a:rPr lang="zh-CN" altLang="en-US" sz="1200" b="1" dirty="0">
                <a:latin typeface="宋体" panose="02010600030101010101" pitchFamily="2" charset="-122"/>
              </a:rPr>
              <a:t>或</a:t>
            </a:r>
            <a:r>
              <a:rPr lang="zh-CN" altLang="en-US" sz="1200" b="1" dirty="0"/>
              <a:t>4</a:t>
            </a:r>
            <a:r>
              <a:rPr lang="zh-CN" altLang="en-US" sz="1200" b="1" dirty="0">
                <a:latin typeface="宋体" panose="02010600030101010101" pitchFamily="2" charset="-122"/>
              </a:rPr>
              <a:t>是素数</a:t>
            </a:r>
            <a:r>
              <a:rPr lang="zh-CN" altLang="en-US" sz="1200" b="1" dirty="0"/>
              <a:t>.          (2)  2</a:t>
            </a:r>
            <a:r>
              <a:rPr lang="zh-CN" altLang="en-US" sz="1200" b="1" dirty="0">
                <a:latin typeface="宋体" panose="02010600030101010101" pitchFamily="2" charset="-122"/>
              </a:rPr>
              <a:t>或</a:t>
            </a:r>
            <a:r>
              <a:rPr lang="zh-CN" altLang="en-US" sz="1200" b="1" dirty="0"/>
              <a:t>3</a:t>
            </a:r>
            <a:r>
              <a:rPr lang="zh-CN" altLang="en-US" sz="1200" b="1" dirty="0">
                <a:latin typeface="宋体" panose="02010600030101010101" pitchFamily="2" charset="-122"/>
              </a:rPr>
              <a:t>是素数</a:t>
            </a:r>
            <a:r>
              <a:rPr lang="zh-CN" altLang="en-US" sz="1200" b="1" dirty="0"/>
              <a:t>.     (3)  4</a:t>
            </a:r>
            <a:r>
              <a:rPr lang="zh-CN" altLang="en-US" sz="1200" b="1" dirty="0">
                <a:latin typeface="宋体" panose="02010600030101010101" pitchFamily="2" charset="-122"/>
              </a:rPr>
              <a:t>或</a:t>
            </a:r>
            <a:r>
              <a:rPr lang="zh-CN" altLang="en-US" sz="1200" b="1" dirty="0"/>
              <a:t>6</a:t>
            </a:r>
            <a:r>
              <a:rPr lang="zh-CN" altLang="en-US" sz="1200" b="1" dirty="0">
                <a:latin typeface="宋体" panose="02010600030101010101" pitchFamily="2" charset="-122"/>
              </a:rPr>
              <a:t>是素数</a:t>
            </a:r>
            <a:r>
              <a:rPr lang="zh-CN" altLang="en-US" sz="1200" b="1" dirty="0"/>
              <a:t>.</a:t>
            </a:r>
          </a:p>
          <a:p>
            <a:pPr algn="just" eaLnBrk="1" hangingPunct="1">
              <a:lnSpc>
                <a:spcPct val="90000"/>
              </a:lnSpc>
              <a:buClr>
                <a:schemeClr val="bg2"/>
              </a:buClr>
              <a:buSzPct val="75000"/>
              <a:buFont typeface="Wingdings" panose="05000000000000000000" pitchFamily="2" charset="2"/>
              <a:buNone/>
            </a:pPr>
            <a:r>
              <a:rPr lang="zh-CN" altLang="en-US" sz="1200" b="1" dirty="0"/>
              <a:t>(4)  </a:t>
            </a:r>
            <a:r>
              <a:rPr lang="zh-CN" altLang="en-US" sz="1200" b="1" dirty="0">
                <a:latin typeface="宋体" panose="02010600030101010101" pitchFamily="2" charset="-122"/>
              </a:rPr>
              <a:t>元元只能拿一个苹果或一个梨</a:t>
            </a:r>
            <a:r>
              <a:rPr lang="zh-CN" altLang="en-US" sz="1200" b="1" dirty="0"/>
              <a:t>.          (5)  </a:t>
            </a:r>
            <a:r>
              <a:rPr lang="zh-CN" altLang="en-US" sz="1200" b="1" dirty="0">
                <a:latin typeface="宋体" panose="02010600030101010101" pitchFamily="2" charset="-122"/>
              </a:rPr>
              <a:t>王晓红生于</a:t>
            </a:r>
            <a:r>
              <a:rPr lang="zh-CN" altLang="en-US" sz="1200" b="1" dirty="0"/>
              <a:t>1975</a:t>
            </a:r>
            <a:r>
              <a:rPr lang="zh-CN" altLang="en-US" sz="1200" b="1" dirty="0">
                <a:latin typeface="宋体" panose="02010600030101010101" pitchFamily="2" charset="-122"/>
              </a:rPr>
              <a:t>年或</a:t>
            </a:r>
            <a:r>
              <a:rPr lang="zh-CN" altLang="en-US" sz="1200" b="1" dirty="0"/>
              <a:t>1976</a:t>
            </a:r>
            <a:r>
              <a:rPr lang="zh-CN" altLang="en-US" sz="1200" b="1" dirty="0">
                <a:latin typeface="宋体" panose="02010600030101010101" pitchFamily="2" charset="-122"/>
              </a:rPr>
              <a:t>年</a:t>
            </a:r>
            <a:r>
              <a:rPr lang="zh-CN" altLang="en-US" sz="1200" b="1" dirty="0"/>
              <a:t>.</a:t>
            </a:r>
          </a:p>
          <a:p>
            <a:pPr eaLnBrk="1" hangingPunct="1">
              <a:lnSpc>
                <a:spcPct val="90000"/>
              </a:lnSpc>
              <a:buClr>
                <a:schemeClr val="bg2"/>
              </a:buClr>
              <a:buSzPct val="75000"/>
              <a:buFont typeface="Wingdings" panose="05000000000000000000" pitchFamily="2" charset="2"/>
              <a:buNone/>
            </a:pPr>
            <a:r>
              <a:rPr lang="zh-CN" altLang="en-US" sz="1200" b="1" dirty="0">
                <a:solidFill>
                  <a:srgbClr val="00B0F0"/>
                </a:solidFill>
              </a:rPr>
              <a:t>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宋体" panose="02010600030101010101" pitchFamily="2" charset="-122"/>
                <a:ea typeface="宋体" panose="02010600030101010101" pitchFamily="2" charset="-122"/>
              </a:rPr>
              <a:t>记 </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是素数, </a:t>
            </a:r>
            <a:r>
              <a:rPr lang="en-US" altLang="zh-CN" sz="1200" b="1" i="1" dirty="0">
                <a:solidFill>
                  <a:schemeClr val="tx1"/>
                </a:solidFill>
                <a:latin typeface="Times New Roman" panose="02020603050405020304" pitchFamily="18" charset="0"/>
                <a:ea typeface="宋体" panose="02010600030101010101" pitchFamily="2" charset="-122"/>
              </a:rPr>
              <a:t>q</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是素数, </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:4</a:t>
            </a:r>
            <a:r>
              <a:rPr lang="zh-CN" altLang="en-US" sz="1200" b="1" dirty="0">
                <a:solidFill>
                  <a:schemeClr val="tx1"/>
                </a:solidFill>
                <a:latin typeface="Times New Roman" panose="02020603050405020304" pitchFamily="18" charset="0"/>
                <a:ea typeface="宋体" panose="02010600030101010101" pitchFamily="2" charset="-122"/>
              </a:rPr>
              <a:t>是素数, </a:t>
            </a:r>
            <a:r>
              <a:rPr lang="en-US" altLang="zh-CN" sz="1200" b="1" i="1" dirty="0">
                <a:solidFill>
                  <a:schemeClr val="tx1"/>
                </a:solidFill>
                <a:latin typeface="Times New Roman" panose="02020603050405020304" pitchFamily="18" charset="0"/>
                <a:ea typeface="宋体" panose="02010600030101010101" pitchFamily="2" charset="-122"/>
              </a:rPr>
              <a:t>s</a:t>
            </a:r>
            <a:r>
              <a:rPr lang="en-US" altLang="zh-CN" sz="1200" b="1" dirty="0">
                <a:solidFill>
                  <a:schemeClr val="tx1"/>
                </a:solidFill>
                <a:latin typeface="Times New Roman" panose="02020603050405020304" pitchFamily="18" charset="0"/>
                <a:ea typeface="宋体" panose="02010600030101010101" pitchFamily="2" charset="-122"/>
              </a:rPr>
              <a:t>:6</a:t>
            </a:r>
            <a:r>
              <a:rPr lang="zh-CN" altLang="en-US" sz="1200" b="1" dirty="0">
                <a:solidFill>
                  <a:schemeClr val="tx1"/>
                </a:solidFill>
                <a:latin typeface="宋体" panose="02010600030101010101" pitchFamily="2" charset="-122"/>
                <a:ea typeface="宋体" panose="02010600030101010101" pitchFamily="2" charset="-122"/>
              </a:rPr>
              <a:t>是素数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3445633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Clr>
                <a:schemeClr val="bg2"/>
              </a:buClr>
              <a:buSzPct val="75000"/>
              <a:buFont typeface="Wingdings" panose="05000000000000000000" pitchFamily="2" charset="2"/>
              <a:buNone/>
            </a:pPr>
            <a:r>
              <a:rPr lang="zh-CN" altLang="en-US" dirty="0"/>
              <a:t>只能生一次</a:t>
            </a:r>
            <a:r>
              <a:rPr lang="zh-CN" altLang="en-US" sz="1200" b="1" dirty="0">
                <a:solidFill>
                  <a:srgbClr val="00B0F0"/>
                </a:solidFill>
              </a:rPr>
              <a:t>例：</a:t>
            </a:r>
            <a:r>
              <a:rPr lang="zh-CN" altLang="en-US" sz="1200" b="1" dirty="0">
                <a:latin typeface="宋体" panose="02010600030101010101" pitchFamily="2" charset="-122"/>
              </a:rPr>
              <a:t>将下列命题符号化</a:t>
            </a:r>
            <a:endParaRPr lang="zh-CN" altLang="en-US" sz="1200" b="1" dirty="0"/>
          </a:p>
          <a:p>
            <a:pPr algn="just" eaLnBrk="1" hangingPunct="1">
              <a:lnSpc>
                <a:spcPct val="90000"/>
              </a:lnSpc>
              <a:buClr>
                <a:schemeClr val="bg2"/>
              </a:buClr>
              <a:buSzPct val="75000"/>
              <a:buFont typeface="Wingdings" panose="05000000000000000000" pitchFamily="2" charset="2"/>
              <a:buNone/>
            </a:pPr>
            <a:r>
              <a:rPr lang="zh-CN" altLang="en-US" sz="1200" b="1" dirty="0"/>
              <a:t>(1)  2</a:t>
            </a:r>
            <a:r>
              <a:rPr lang="zh-CN" altLang="en-US" sz="1200" b="1" dirty="0">
                <a:latin typeface="宋体" panose="02010600030101010101" pitchFamily="2" charset="-122"/>
              </a:rPr>
              <a:t>或</a:t>
            </a:r>
            <a:r>
              <a:rPr lang="zh-CN" altLang="en-US" sz="1200" b="1" dirty="0"/>
              <a:t>4</a:t>
            </a:r>
            <a:r>
              <a:rPr lang="zh-CN" altLang="en-US" sz="1200" b="1" dirty="0">
                <a:latin typeface="宋体" panose="02010600030101010101" pitchFamily="2" charset="-122"/>
              </a:rPr>
              <a:t>是素数</a:t>
            </a:r>
            <a:r>
              <a:rPr lang="zh-CN" altLang="en-US" sz="1200" b="1" dirty="0"/>
              <a:t>.          (2)  2</a:t>
            </a:r>
            <a:r>
              <a:rPr lang="zh-CN" altLang="en-US" sz="1200" b="1" dirty="0">
                <a:latin typeface="宋体" panose="02010600030101010101" pitchFamily="2" charset="-122"/>
              </a:rPr>
              <a:t>或</a:t>
            </a:r>
            <a:r>
              <a:rPr lang="zh-CN" altLang="en-US" sz="1200" b="1" dirty="0"/>
              <a:t>3</a:t>
            </a:r>
            <a:r>
              <a:rPr lang="zh-CN" altLang="en-US" sz="1200" b="1" dirty="0">
                <a:latin typeface="宋体" panose="02010600030101010101" pitchFamily="2" charset="-122"/>
              </a:rPr>
              <a:t>是素数</a:t>
            </a:r>
            <a:r>
              <a:rPr lang="zh-CN" altLang="en-US" sz="1200" b="1" dirty="0"/>
              <a:t>.     (3)  4</a:t>
            </a:r>
            <a:r>
              <a:rPr lang="zh-CN" altLang="en-US" sz="1200" b="1" dirty="0">
                <a:latin typeface="宋体" panose="02010600030101010101" pitchFamily="2" charset="-122"/>
              </a:rPr>
              <a:t>或</a:t>
            </a:r>
            <a:r>
              <a:rPr lang="zh-CN" altLang="en-US" sz="1200" b="1" dirty="0"/>
              <a:t>6</a:t>
            </a:r>
            <a:r>
              <a:rPr lang="zh-CN" altLang="en-US" sz="1200" b="1" dirty="0">
                <a:latin typeface="宋体" panose="02010600030101010101" pitchFamily="2" charset="-122"/>
              </a:rPr>
              <a:t>是素数</a:t>
            </a:r>
            <a:r>
              <a:rPr lang="zh-CN" altLang="en-US" sz="1200" b="1" dirty="0"/>
              <a:t>.</a:t>
            </a:r>
          </a:p>
          <a:p>
            <a:pPr algn="just" eaLnBrk="1" hangingPunct="1">
              <a:lnSpc>
                <a:spcPct val="90000"/>
              </a:lnSpc>
              <a:buClr>
                <a:schemeClr val="bg2"/>
              </a:buClr>
              <a:buSzPct val="75000"/>
              <a:buFont typeface="Wingdings" panose="05000000000000000000" pitchFamily="2" charset="2"/>
              <a:buNone/>
            </a:pPr>
            <a:r>
              <a:rPr lang="zh-CN" altLang="en-US" sz="1200" b="1" dirty="0"/>
              <a:t>(4)  </a:t>
            </a:r>
            <a:r>
              <a:rPr lang="zh-CN" altLang="en-US" sz="1200" b="1" dirty="0">
                <a:latin typeface="宋体" panose="02010600030101010101" pitchFamily="2" charset="-122"/>
              </a:rPr>
              <a:t>元元只能拿一个苹果或一个梨</a:t>
            </a:r>
            <a:r>
              <a:rPr lang="zh-CN" altLang="en-US" sz="1200" b="1" dirty="0"/>
              <a:t>.          (5)  </a:t>
            </a:r>
            <a:r>
              <a:rPr lang="zh-CN" altLang="en-US" sz="1200" b="1" dirty="0">
                <a:latin typeface="宋体" panose="02010600030101010101" pitchFamily="2" charset="-122"/>
              </a:rPr>
              <a:t>王晓红生于</a:t>
            </a:r>
            <a:r>
              <a:rPr lang="zh-CN" altLang="en-US" sz="1200" b="1" dirty="0"/>
              <a:t>1975</a:t>
            </a:r>
            <a:r>
              <a:rPr lang="zh-CN" altLang="en-US" sz="1200" b="1" dirty="0">
                <a:latin typeface="宋体" panose="02010600030101010101" pitchFamily="2" charset="-122"/>
              </a:rPr>
              <a:t>年或</a:t>
            </a:r>
            <a:r>
              <a:rPr lang="zh-CN" altLang="en-US" sz="1200" b="1" dirty="0"/>
              <a:t>1976</a:t>
            </a:r>
            <a:r>
              <a:rPr lang="zh-CN" altLang="en-US" sz="1200" b="1" dirty="0">
                <a:latin typeface="宋体" panose="02010600030101010101" pitchFamily="2" charset="-122"/>
              </a:rPr>
              <a:t>年</a:t>
            </a:r>
            <a:r>
              <a:rPr lang="zh-CN" altLang="en-US" sz="1200" b="1" dirty="0"/>
              <a:t>.</a:t>
            </a:r>
          </a:p>
          <a:p>
            <a:pPr eaLnBrk="1" hangingPunct="1">
              <a:lnSpc>
                <a:spcPct val="90000"/>
              </a:lnSpc>
              <a:buClr>
                <a:schemeClr val="bg2"/>
              </a:buClr>
              <a:buSzPct val="75000"/>
              <a:buFont typeface="Wingdings" panose="05000000000000000000" pitchFamily="2" charset="2"/>
              <a:buNone/>
            </a:pPr>
            <a:r>
              <a:rPr lang="zh-CN" altLang="en-US" sz="1200" b="1" dirty="0">
                <a:solidFill>
                  <a:srgbClr val="00B0F0"/>
                </a:solidFill>
              </a:rPr>
              <a:t>解：</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宋体" panose="02010600030101010101" pitchFamily="2" charset="-122"/>
                <a:ea typeface="宋体" panose="02010600030101010101" pitchFamily="2" charset="-122"/>
              </a:rPr>
              <a:t>记 </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是素数, </a:t>
            </a:r>
            <a:r>
              <a:rPr lang="en-US" altLang="zh-CN" sz="1200" b="1" i="1" dirty="0">
                <a:solidFill>
                  <a:schemeClr val="tx1"/>
                </a:solidFill>
                <a:latin typeface="Times New Roman" panose="02020603050405020304" pitchFamily="18" charset="0"/>
                <a:ea typeface="宋体" panose="02010600030101010101" pitchFamily="2" charset="-122"/>
              </a:rPr>
              <a:t>q</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是素数, </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:4</a:t>
            </a:r>
            <a:r>
              <a:rPr lang="zh-CN" altLang="en-US" sz="1200" b="1" dirty="0">
                <a:solidFill>
                  <a:schemeClr val="tx1"/>
                </a:solidFill>
                <a:latin typeface="Times New Roman" panose="02020603050405020304" pitchFamily="18" charset="0"/>
                <a:ea typeface="宋体" panose="02010600030101010101" pitchFamily="2" charset="-122"/>
              </a:rPr>
              <a:t>是素数, </a:t>
            </a:r>
            <a:r>
              <a:rPr lang="en-US" altLang="zh-CN" sz="1200" b="1" i="1" dirty="0">
                <a:solidFill>
                  <a:schemeClr val="tx1"/>
                </a:solidFill>
                <a:latin typeface="Times New Roman" panose="02020603050405020304" pitchFamily="18" charset="0"/>
                <a:ea typeface="宋体" panose="02010600030101010101" pitchFamily="2" charset="-122"/>
              </a:rPr>
              <a:t>s</a:t>
            </a:r>
            <a:r>
              <a:rPr lang="en-US" altLang="zh-CN" sz="1200" b="1" dirty="0">
                <a:solidFill>
                  <a:schemeClr val="tx1"/>
                </a:solidFill>
                <a:latin typeface="Times New Roman" panose="02020603050405020304" pitchFamily="18" charset="0"/>
                <a:ea typeface="宋体" panose="02010600030101010101" pitchFamily="2" charset="-122"/>
              </a:rPr>
              <a:t>:6</a:t>
            </a:r>
            <a:r>
              <a:rPr lang="zh-CN" altLang="en-US" sz="1200" b="1" dirty="0">
                <a:solidFill>
                  <a:schemeClr val="tx1"/>
                </a:solidFill>
                <a:latin typeface="宋体" panose="02010600030101010101" pitchFamily="2" charset="-122"/>
                <a:ea typeface="宋体" panose="02010600030101010101" pitchFamily="2" charset="-122"/>
              </a:rPr>
              <a:t>是素数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2052306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endParaRPr lang="en-US" altLang="zh-CN" sz="1200" b="1" dirty="0">
              <a:solidFill>
                <a:srgbClr val="FF3300"/>
              </a:solidFill>
            </a:endParaRPr>
          </a:p>
          <a:p>
            <a:pPr algn="just" eaLnBrk="1" hangingPunct="1">
              <a:buFontTx/>
              <a:buNone/>
            </a:pPr>
            <a:r>
              <a:rPr lang="zh-CN" altLang="en-US" sz="1200" b="1" dirty="0">
                <a:solidFill>
                  <a:srgbClr val="FF3300"/>
                </a:solidFill>
              </a:rPr>
              <a:t>定义2.4</a:t>
            </a:r>
            <a:r>
              <a:rPr lang="zh-CN" altLang="en-US" sz="1200" b="1" dirty="0"/>
              <a:t> “如果</a:t>
            </a:r>
            <a:r>
              <a:rPr lang="en-US" altLang="zh-CN" sz="1200" b="1" i="1" dirty="0"/>
              <a:t>p,</a:t>
            </a:r>
            <a:r>
              <a:rPr lang="zh-CN" altLang="en-US" sz="1200" b="1" dirty="0"/>
              <a:t>则</a:t>
            </a:r>
            <a:r>
              <a:rPr lang="en-US" altLang="zh-CN" sz="1200" b="1" i="1" dirty="0"/>
              <a:t>q</a:t>
            </a:r>
            <a:r>
              <a:rPr lang="en-US" altLang="zh-CN" sz="1200" b="1" dirty="0"/>
              <a:t>” </a:t>
            </a:r>
            <a:r>
              <a:rPr lang="zh-CN" altLang="en-US" sz="1200" b="1" dirty="0"/>
              <a:t>称作</a:t>
            </a:r>
            <a:r>
              <a:rPr lang="en-US" altLang="zh-CN" sz="1200" b="1" i="1" dirty="0"/>
              <a:t>p</a:t>
            </a:r>
            <a:r>
              <a:rPr lang="zh-CN" altLang="en-US" sz="1200" b="1" dirty="0"/>
              <a:t>与</a:t>
            </a:r>
            <a:r>
              <a:rPr lang="en-US" altLang="zh-CN" sz="1200" b="1" i="1" dirty="0"/>
              <a:t>q</a:t>
            </a:r>
            <a:r>
              <a:rPr lang="zh-CN" altLang="en-US" sz="1200" b="1" dirty="0"/>
              <a:t>的</a:t>
            </a:r>
            <a:r>
              <a:rPr lang="zh-CN" altLang="en-US" sz="1200" b="1" dirty="0">
                <a:solidFill>
                  <a:srgbClr val="FF3300"/>
                </a:solidFill>
              </a:rPr>
              <a:t>蕴涵式</a:t>
            </a:r>
            <a:r>
              <a:rPr lang="zh-CN" altLang="en-US" sz="1200" b="1" dirty="0"/>
              <a:t>, 记作</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 </a:t>
            </a:r>
            <a:r>
              <a:rPr lang="zh-CN" altLang="en-US" sz="1200" b="1" dirty="0"/>
              <a:t>并称</a:t>
            </a:r>
            <a:r>
              <a:rPr lang="en-US" altLang="zh-CN" sz="1200" b="1" i="1" dirty="0"/>
              <a:t>p</a:t>
            </a:r>
            <a:r>
              <a:rPr lang="zh-CN" altLang="en-US" sz="1200" b="1" dirty="0"/>
              <a:t>是蕴涵式的</a:t>
            </a:r>
            <a:r>
              <a:rPr lang="zh-CN" altLang="en-US" sz="1200" b="1" dirty="0">
                <a:solidFill>
                  <a:srgbClr val="FF3300"/>
                </a:solidFill>
              </a:rPr>
              <a:t>前件</a:t>
            </a:r>
            <a:r>
              <a:rPr lang="zh-CN" altLang="en-US" sz="1200" b="1" dirty="0"/>
              <a:t>, </a:t>
            </a:r>
            <a:r>
              <a:rPr lang="en-US" altLang="zh-CN" sz="1200" b="1" i="1" dirty="0"/>
              <a:t>q</a:t>
            </a:r>
            <a:r>
              <a:rPr lang="zh-CN" altLang="en-US" sz="1200" b="1" dirty="0"/>
              <a:t>为蕴涵式的</a:t>
            </a:r>
            <a:r>
              <a:rPr lang="zh-CN" altLang="en-US" sz="1200" b="1" dirty="0">
                <a:solidFill>
                  <a:srgbClr val="FF3300"/>
                </a:solidFill>
              </a:rPr>
              <a:t>后件</a:t>
            </a:r>
            <a:r>
              <a:rPr lang="zh-CN" altLang="en-US" sz="1200" b="1" dirty="0"/>
              <a:t>. </a:t>
            </a:r>
            <a:r>
              <a:rPr lang="zh-CN" altLang="en-US" sz="1200" b="1" dirty="0">
                <a:sym typeface="Symbol" panose="05050102010706020507" pitchFamily="18" charset="2"/>
              </a:rPr>
              <a:t></a:t>
            </a:r>
            <a:r>
              <a:rPr lang="zh-CN" altLang="en-US" sz="1200" b="1" dirty="0"/>
              <a:t>称作</a:t>
            </a:r>
            <a:r>
              <a:rPr lang="zh-CN" altLang="en-US" sz="1200" b="1" dirty="0">
                <a:solidFill>
                  <a:srgbClr val="FF3300"/>
                </a:solidFill>
              </a:rPr>
              <a:t>蕴涵联结词</a:t>
            </a:r>
            <a:r>
              <a:rPr lang="zh-CN" altLang="en-US" sz="1200" b="1" dirty="0"/>
              <a:t>, 规定, </a:t>
            </a:r>
            <a:r>
              <a:rPr lang="en-US" altLang="zh-CN" sz="1200" b="1" i="1" dirty="0" err="1"/>
              <a:t>p</a:t>
            </a:r>
            <a:r>
              <a:rPr lang="en-US" altLang="zh-CN" sz="1200" b="1" i="1" dirty="0" err="1">
                <a:sym typeface="Symbol" panose="05050102010706020507" pitchFamily="18" charset="2"/>
              </a:rPr>
              <a:t></a:t>
            </a:r>
            <a:r>
              <a:rPr lang="en-US" altLang="zh-CN" sz="1200" b="1" i="1" dirty="0" err="1"/>
              <a:t>q</a:t>
            </a:r>
            <a:r>
              <a:rPr lang="zh-CN" altLang="en-US" sz="1200" b="1" i="1" dirty="0"/>
              <a:t>为假当且仅当 </a:t>
            </a:r>
            <a:r>
              <a:rPr lang="en-US" altLang="zh-CN" sz="1200" b="1" i="1" dirty="0"/>
              <a:t>p</a:t>
            </a:r>
            <a:r>
              <a:rPr lang="zh-CN" altLang="en-US" sz="1200" b="1" i="1" dirty="0"/>
              <a:t>为真且</a:t>
            </a:r>
            <a:r>
              <a:rPr lang="en-US" altLang="zh-CN" sz="1200" b="1" i="1" dirty="0"/>
              <a:t>q</a:t>
            </a:r>
            <a:r>
              <a:rPr lang="zh-CN" altLang="en-US" sz="1200" b="1" i="1" dirty="0"/>
              <a:t>为假.</a:t>
            </a:r>
          </a:p>
          <a:p>
            <a:pPr eaLnBrk="1" hangingPunct="1">
              <a:lnSpc>
                <a:spcPct val="110000"/>
              </a:lnSpc>
              <a:buFontTx/>
              <a:buNone/>
            </a:pPr>
            <a:endParaRPr lang="zh-CN" altLang="en-US" sz="1200" b="1" dirty="0">
              <a:solidFill>
                <a:srgbClr val="000066"/>
              </a:solidFill>
            </a:endParaRPr>
          </a:p>
          <a:p>
            <a:pPr eaLnBrk="1" hangingPunct="1">
              <a:lnSpc>
                <a:spcPct val="110000"/>
              </a:lnSpc>
              <a:buFontTx/>
              <a:buNone/>
            </a:pPr>
            <a:r>
              <a:rPr lang="zh-CN" altLang="en-US" sz="1200" b="1" dirty="0">
                <a:solidFill>
                  <a:srgbClr val="00B0F0"/>
                </a:solidFill>
              </a:rPr>
              <a:t>例：</a:t>
            </a:r>
            <a:r>
              <a:rPr lang="zh-CN" altLang="en-US" sz="1200" b="1" dirty="0">
                <a:solidFill>
                  <a:srgbClr val="000066"/>
                </a:solidFill>
              </a:rPr>
              <a:t> </a:t>
            </a:r>
            <a:r>
              <a:rPr lang="zh-CN" altLang="en-US" sz="1200" b="1" dirty="0"/>
              <a:t>如果明天天气好, 我们就出去郊游</a:t>
            </a:r>
          </a:p>
          <a:p>
            <a:pPr eaLnBrk="1" hangingPunct="1">
              <a:lnSpc>
                <a:spcPct val="110000"/>
              </a:lnSpc>
              <a:buFontTx/>
              <a:buNone/>
            </a:pPr>
            <a:r>
              <a:rPr lang="zh-CN" altLang="en-US" sz="1200" b="1" dirty="0"/>
              <a:t>     设</a:t>
            </a:r>
            <a:r>
              <a:rPr lang="en-US" altLang="zh-CN" sz="1200" b="1" i="1" dirty="0"/>
              <a:t>p</a:t>
            </a:r>
            <a:r>
              <a:rPr lang="en-US" altLang="zh-CN" sz="1200" b="1" dirty="0"/>
              <a:t>:</a:t>
            </a:r>
            <a:r>
              <a:rPr lang="zh-CN" altLang="en-US" sz="1200" b="1" dirty="0"/>
              <a:t>明天天气好, </a:t>
            </a:r>
            <a:r>
              <a:rPr lang="en-US" altLang="zh-CN" sz="1200" b="1" i="1" dirty="0"/>
              <a:t>q</a:t>
            </a:r>
            <a:r>
              <a:rPr lang="en-US" altLang="zh-CN" sz="1200" b="1" dirty="0"/>
              <a:t>:</a:t>
            </a:r>
            <a:r>
              <a:rPr lang="zh-CN" altLang="en-US" sz="1200" b="1" dirty="0"/>
              <a:t>我们出去郊游,     形式化为 </a:t>
            </a:r>
            <a:r>
              <a:rPr lang="en-US" altLang="zh-CN" sz="1200" b="1" i="1" dirty="0" err="1"/>
              <a:t>p</a:t>
            </a:r>
            <a:r>
              <a:rPr lang="en-US" altLang="zh-CN" sz="1200" b="1" dirty="0" err="1">
                <a:sym typeface="Symbol" panose="05050102010706020507" pitchFamily="18" charset="2"/>
              </a:rPr>
              <a:t></a:t>
            </a:r>
            <a:r>
              <a:rPr lang="en-US" altLang="zh-CN" sz="1200" b="1" i="1" dirty="0" err="1"/>
              <a:t>q</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392341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t>除非</a:t>
            </a:r>
            <a:r>
              <a:rPr lang="en-US" altLang="zh-CN" sz="1800" b="1" i="1" dirty="0"/>
              <a:t>q, </a:t>
            </a:r>
            <a:r>
              <a:rPr lang="zh-CN" altLang="en-US" sz="1800" b="1" dirty="0"/>
              <a:t>才</a:t>
            </a:r>
            <a:r>
              <a:rPr lang="en-US" altLang="zh-CN" sz="1800" b="1" i="1" dirty="0"/>
              <a:t>p </a:t>
            </a:r>
            <a:r>
              <a:rPr lang="zh-CN" altLang="en-US" sz="1200" dirty="0"/>
              <a:t>（暗示了如果 </a:t>
            </a:r>
            <a:r>
              <a:rPr lang="en-US" altLang="zh-CN" sz="1200" dirty="0"/>
              <a:t>q </a:t>
            </a:r>
            <a:r>
              <a:rPr lang="zh-CN" altLang="en-US" sz="1200" dirty="0"/>
              <a:t>不发生（</a:t>
            </a:r>
            <a:r>
              <a:rPr lang="en-US" altLang="zh-CN" sz="1200" dirty="0"/>
              <a:t>q </a:t>
            </a:r>
            <a:r>
              <a:rPr lang="zh-CN" altLang="en-US" sz="1200" dirty="0"/>
              <a:t>为假），那么 </a:t>
            </a:r>
            <a:r>
              <a:rPr lang="en-US" altLang="zh-CN" sz="1200" dirty="0"/>
              <a:t>p </a:t>
            </a:r>
            <a:r>
              <a:rPr lang="zh-CN" altLang="en-US" sz="1200" dirty="0"/>
              <a:t>必须发生（</a:t>
            </a:r>
            <a:r>
              <a:rPr lang="en-US" altLang="zh-CN" sz="1200" dirty="0"/>
              <a:t>p </a:t>
            </a:r>
            <a:r>
              <a:rPr lang="zh-CN" altLang="en-US" sz="1200" dirty="0"/>
              <a:t>为真），</a:t>
            </a:r>
            <a:r>
              <a:rPr lang="en-US" altLang="zh-CN" sz="1200" dirty="0">
                <a:effectLst/>
                <a:latin typeface="Times New Roman" panose="02020603050405020304" pitchFamily="18" charset="0"/>
                <a:ea typeface="等线" panose="02010600030101010101" pitchFamily="2" charset="-122"/>
              </a:rPr>
              <a:t> ¬</a:t>
            </a:r>
            <a:r>
              <a:rPr lang="en-US" altLang="zh-CN" sz="1200" i="1" dirty="0" err="1">
                <a:effectLst/>
                <a:latin typeface="KaTeX_Math"/>
                <a:ea typeface="等线" panose="02010600030101010101" pitchFamily="2" charset="-122"/>
                <a:cs typeface="Times New Roman" panose="02020603050405020304" pitchFamily="18" charset="0"/>
              </a:rPr>
              <a:t>q</a:t>
            </a:r>
            <a:r>
              <a:rPr lang="en-US" altLang="zh-CN" sz="1200" dirty="0" err="1">
                <a:effectLst/>
                <a:latin typeface="Times New Roman" panose="02020603050405020304" pitchFamily="18" charset="0"/>
                <a:ea typeface="等线" panose="02010600030101010101" pitchFamily="2" charset="-122"/>
              </a:rPr>
              <a:t>→</a:t>
            </a:r>
            <a:r>
              <a:rPr lang="en-US" altLang="zh-CN" sz="1200" i="1" dirty="0" err="1">
                <a:effectLst/>
                <a:latin typeface="KaTeX_Math"/>
                <a:ea typeface="等线" panose="02010600030101010101" pitchFamily="2" charset="-122"/>
                <a:cs typeface="Times New Roman" panose="02020603050405020304" pitchFamily="18" charset="0"/>
              </a:rPr>
              <a:t>p</a:t>
            </a:r>
            <a:r>
              <a:rPr lang="en-US" altLang="zh-CN" sz="1200" i="1" dirty="0">
                <a:effectLst/>
                <a:latin typeface="KaTeX_Math"/>
                <a:ea typeface="等线" panose="02010600030101010101" pitchFamily="2" charset="-122"/>
                <a:cs typeface="Times New Roman" panose="02020603050405020304" pitchFamily="18" charset="0"/>
              </a:rPr>
              <a:t> </a:t>
            </a:r>
            <a:r>
              <a:rPr lang="zh-CN" altLang="en-US" sz="1200" dirty="0"/>
              <a:t>）与  画个图来理解</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algn="just" eaLnBrk="1" hangingPunct="1">
              <a:buFontTx/>
              <a:buNone/>
            </a:pP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i="1" dirty="0"/>
              <a:t> </a:t>
            </a:r>
            <a:r>
              <a:rPr lang="zh-CN" altLang="en-US" sz="1200" b="1" dirty="0"/>
              <a:t>的逻辑关系: </a:t>
            </a:r>
            <a:r>
              <a:rPr lang="en-US" altLang="zh-CN" sz="1200" b="1" i="1" dirty="0"/>
              <a:t>q</a:t>
            </a:r>
            <a:r>
              <a:rPr lang="zh-CN" altLang="en-US" sz="1200" b="1" dirty="0"/>
              <a:t>为</a:t>
            </a:r>
            <a:r>
              <a:rPr lang="en-US" altLang="zh-CN" sz="1200" b="1" i="1" dirty="0"/>
              <a:t>p</a:t>
            </a:r>
            <a:r>
              <a:rPr lang="zh-CN" altLang="en-US" sz="1200" b="1" dirty="0"/>
              <a:t>的必要条件</a:t>
            </a:r>
            <a:r>
              <a:rPr lang="en-US" altLang="zh-CN" sz="1200" b="1" dirty="0"/>
              <a:t>, </a:t>
            </a:r>
            <a:r>
              <a:rPr lang="en-US" altLang="zh-CN" sz="1200" b="1" i="1" dirty="0"/>
              <a:t>p</a:t>
            </a:r>
            <a:r>
              <a:rPr lang="zh-CN" altLang="en-US" sz="1200" b="1" dirty="0"/>
              <a:t>为</a:t>
            </a:r>
            <a:r>
              <a:rPr lang="en-US" altLang="zh-CN" sz="1200" b="1" i="1" dirty="0"/>
              <a:t>q</a:t>
            </a:r>
            <a:r>
              <a:rPr lang="zh-CN" altLang="en-US" sz="1200" b="1" dirty="0"/>
              <a:t>的充分条件</a:t>
            </a:r>
          </a:p>
          <a:p>
            <a:pPr algn="just" eaLnBrk="1" hangingPunct="1">
              <a:spcBef>
                <a:spcPct val="80000"/>
              </a:spcBef>
              <a:buFontTx/>
              <a:buNone/>
            </a:pPr>
            <a:r>
              <a:rPr lang="zh-CN" altLang="en-US" sz="1200" b="1" dirty="0"/>
              <a:t>“如果</a:t>
            </a:r>
            <a:r>
              <a:rPr lang="en-US" altLang="zh-CN" sz="1200" b="1" i="1" dirty="0"/>
              <a:t>p</a:t>
            </a:r>
            <a:r>
              <a:rPr lang="en-US" altLang="zh-CN" sz="1200" b="1" dirty="0"/>
              <a:t>,</a:t>
            </a:r>
            <a:r>
              <a:rPr lang="zh-CN" altLang="en-US" sz="1200" b="1" dirty="0"/>
              <a:t>则</a:t>
            </a:r>
            <a:r>
              <a:rPr lang="en-US" altLang="zh-CN" sz="1200" b="1" i="1" dirty="0"/>
              <a:t>q” </a:t>
            </a:r>
            <a:r>
              <a:rPr lang="zh-CN" altLang="en-US" sz="1200" b="1" dirty="0"/>
              <a:t>的多种表述方式</a:t>
            </a:r>
            <a:r>
              <a:rPr lang="zh-CN" altLang="en-US" sz="1000" b="1" dirty="0"/>
              <a:t>（</a:t>
            </a:r>
            <a:r>
              <a:rPr lang="zh-CN" altLang="en-US" sz="1000" dirty="0"/>
              <a:t>与</a:t>
            </a:r>
            <a:r>
              <a:rPr lang="en-US" altLang="zh-CN" sz="1000" i="1" dirty="0" err="1"/>
              <a:t>p</a:t>
            </a:r>
            <a:r>
              <a:rPr lang="en-US" altLang="zh-CN" sz="1000" dirty="0" err="1">
                <a:sym typeface="Symbol" panose="05050102010706020507" pitchFamily="18" charset="2"/>
              </a:rPr>
              <a:t></a:t>
            </a:r>
            <a:r>
              <a:rPr lang="en-US" altLang="zh-CN" sz="1000" i="1" dirty="0" err="1"/>
              <a:t>q</a:t>
            </a:r>
            <a:r>
              <a:rPr lang="en-US" altLang="zh-CN" sz="1000" i="1" dirty="0"/>
              <a:t> </a:t>
            </a:r>
            <a:r>
              <a:rPr lang="zh-CN" altLang="en-US" sz="1000" dirty="0"/>
              <a:t>具有相同的真值</a:t>
            </a:r>
            <a:r>
              <a:rPr lang="zh-CN" altLang="en-US" sz="1000" b="1" dirty="0"/>
              <a:t>）</a:t>
            </a:r>
            <a:r>
              <a:rPr lang="zh-CN" altLang="en-US" sz="1200" b="1" dirty="0"/>
              <a:t>：</a:t>
            </a:r>
          </a:p>
          <a:p>
            <a:pPr algn="just" eaLnBrk="1" hangingPunct="1">
              <a:buFontTx/>
              <a:buNone/>
            </a:pPr>
            <a:r>
              <a:rPr lang="zh-CN" altLang="en-US" sz="1200" b="1" dirty="0"/>
              <a:t>     若</a:t>
            </a:r>
            <a:r>
              <a:rPr lang="en-US" altLang="zh-CN" sz="1200" b="1" i="1" dirty="0"/>
              <a:t>p</a:t>
            </a:r>
            <a:r>
              <a:rPr lang="en-US" altLang="zh-CN" sz="1200" b="1" dirty="0"/>
              <a:t>,</a:t>
            </a:r>
            <a:r>
              <a:rPr lang="zh-CN" altLang="en-US" sz="1200" b="1" dirty="0"/>
              <a:t>就</a:t>
            </a:r>
            <a:r>
              <a:rPr lang="en-US" altLang="zh-CN" sz="1200" b="1" i="1" dirty="0"/>
              <a:t>q          </a:t>
            </a:r>
            <a:r>
              <a:rPr lang="zh-CN" altLang="zh-CN" sz="1000" dirty="0"/>
              <a:t>（</a:t>
            </a:r>
            <a:r>
              <a:rPr lang="en-US" altLang="zh-CN" sz="1000" dirty="0"/>
              <a:t>If p, then q</a:t>
            </a:r>
            <a:r>
              <a:rPr lang="zh-CN" altLang="zh-CN" sz="1000" dirty="0"/>
              <a:t>）</a:t>
            </a:r>
            <a:endParaRPr lang="en-US" altLang="zh-CN" sz="1000" dirty="0"/>
          </a:p>
          <a:p>
            <a:pPr algn="just" eaLnBrk="1" hangingPunct="1">
              <a:buFontTx/>
              <a:buNone/>
            </a:pPr>
            <a:r>
              <a:rPr lang="en-US" altLang="zh-CN" sz="1200" b="1" i="1" dirty="0"/>
              <a:t>   </a:t>
            </a:r>
            <a:r>
              <a:rPr lang="en-US" altLang="zh-CN" sz="1200" b="1" dirty="0"/>
              <a:t>  </a:t>
            </a:r>
            <a:r>
              <a:rPr lang="zh-CN" altLang="en-US" sz="1200" b="1" dirty="0"/>
              <a:t>只要</a:t>
            </a:r>
            <a:r>
              <a:rPr lang="en-US" altLang="zh-CN" sz="1200" b="1" i="1" dirty="0"/>
              <a:t>p</a:t>
            </a:r>
            <a:r>
              <a:rPr lang="en-US" altLang="zh-CN" sz="1200" b="1" dirty="0"/>
              <a:t>,</a:t>
            </a:r>
            <a:r>
              <a:rPr lang="zh-CN" altLang="en-US" sz="1200" b="1" dirty="0"/>
              <a:t>就</a:t>
            </a:r>
            <a:r>
              <a:rPr lang="en-US" altLang="zh-CN" sz="1200" b="1" i="1" dirty="0"/>
              <a:t>q     </a:t>
            </a:r>
            <a:r>
              <a:rPr lang="zh-CN" altLang="en-US" sz="1000" dirty="0"/>
              <a:t>（</a:t>
            </a:r>
            <a:r>
              <a:rPr lang="zh-CN" altLang="zh-CN" sz="1000" dirty="0"/>
              <a:t>强调了</a:t>
            </a:r>
            <a:r>
              <a:rPr lang="en-US" altLang="zh-CN" sz="1000" dirty="0"/>
              <a:t> p </a:t>
            </a:r>
            <a:r>
              <a:rPr lang="zh-CN" altLang="zh-CN" sz="1000" dirty="0"/>
              <a:t>的存在是</a:t>
            </a:r>
            <a:r>
              <a:rPr lang="en-US" altLang="zh-CN" sz="1000" dirty="0"/>
              <a:t> q </a:t>
            </a:r>
            <a:r>
              <a:rPr lang="zh-CN" altLang="zh-CN" sz="1000" dirty="0"/>
              <a:t>存在的必要条件</a:t>
            </a:r>
            <a:r>
              <a:rPr lang="zh-CN" altLang="en-US" sz="1000" dirty="0"/>
              <a:t>）</a:t>
            </a:r>
            <a:endParaRPr lang="en-US" altLang="zh-CN" sz="1000" dirty="0"/>
          </a:p>
          <a:p>
            <a:pPr algn="just">
              <a:buNone/>
            </a:pPr>
            <a:r>
              <a:rPr lang="en-US" altLang="zh-CN" sz="1200" b="1" i="1" dirty="0"/>
              <a:t>      p</a:t>
            </a:r>
            <a:r>
              <a:rPr lang="zh-CN" altLang="en-US" sz="1200" b="1" dirty="0"/>
              <a:t>仅当</a:t>
            </a:r>
            <a:r>
              <a:rPr lang="en-US" altLang="zh-CN" sz="1200" b="1" i="1" dirty="0"/>
              <a:t>q          </a:t>
            </a:r>
            <a:r>
              <a:rPr lang="zh-CN" altLang="en-US" sz="1000" dirty="0"/>
              <a:t>（</a:t>
            </a:r>
            <a:r>
              <a:rPr lang="en-US" altLang="zh-CN" sz="1000" dirty="0"/>
              <a:t>p </a:t>
            </a:r>
            <a:r>
              <a:rPr lang="zh-CN" altLang="zh-CN" sz="1000" dirty="0"/>
              <a:t>为真的条件是</a:t>
            </a:r>
            <a:r>
              <a:rPr lang="en-US" altLang="zh-CN" sz="1000" dirty="0"/>
              <a:t> q </a:t>
            </a:r>
            <a:r>
              <a:rPr lang="zh-CN" altLang="zh-CN" sz="1000" dirty="0"/>
              <a:t>也为真</a:t>
            </a:r>
            <a:r>
              <a:rPr lang="zh-CN" altLang="en-US" sz="1000" dirty="0"/>
              <a:t>）</a:t>
            </a:r>
            <a:endParaRPr lang="en-US" altLang="zh-CN" sz="1000" dirty="0"/>
          </a:p>
          <a:p>
            <a:pPr algn="just">
              <a:buNone/>
            </a:pPr>
            <a:r>
              <a:rPr lang="en-US" altLang="zh-CN" sz="1000" dirty="0"/>
              <a:t>   </a:t>
            </a:r>
            <a:r>
              <a:rPr lang="en-US" altLang="zh-CN" sz="1200" b="1" dirty="0"/>
              <a:t>  </a:t>
            </a:r>
            <a:r>
              <a:rPr lang="zh-CN" altLang="en-US" sz="1200" b="1" dirty="0"/>
              <a:t>只有</a:t>
            </a:r>
            <a:r>
              <a:rPr lang="en-US" altLang="zh-CN" sz="1200" b="1" i="1" dirty="0"/>
              <a:t>q</a:t>
            </a:r>
            <a:r>
              <a:rPr lang="en-US" altLang="zh-CN" sz="1200" b="1" dirty="0"/>
              <a:t> </a:t>
            </a:r>
            <a:r>
              <a:rPr lang="zh-CN" altLang="en-US" sz="1200" b="1" dirty="0"/>
              <a:t>才</a:t>
            </a:r>
            <a:r>
              <a:rPr lang="en-US" altLang="zh-CN" sz="1200" b="1" i="1" dirty="0"/>
              <a:t>p       </a:t>
            </a:r>
            <a:r>
              <a:rPr lang="zh-CN" altLang="en-US" sz="1000" dirty="0"/>
              <a:t>（意味着 </a:t>
            </a:r>
            <a:r>
              <a:rPr lang="en-US" altLang="zh-CN" sz="1000" dirty="0"/>
              <a:t>q </a:t>
            </a:r>
            <a:r>
              <a:rPr lang="zh-CN" altLang="en-US" sz="1000" dirty="0"/>
              <a:t>的真实是 </a:t>
            </a:r>
            <a:r>
              <a:rPr lang="en-US" altLang="zh-CN" sz="1000" dirty="0"/>
              <a:t>p </a:t>
            </a:r>
            <a:r>
              <a:rPr lang="zh-CN" altLang="en-US" sz="1000" dirty="0"/>
              <a:t>真实的必要条件）</a:t>
            </a:r>
            <a:endParaRPr lang="en-US" altLang="zh-CN" sz="1000" dirty="0"/>
          </a:p>
          <a:p>
            <a:pPr algn="just" eaLnBrk="1" hangingPunct="1">
              <a:buFontTx/>
              <a:buNone/>
            </a:pPr>
            <a:r>
              <a:rPr lang="zh-CN" altLang="en-US" sz="1200" b="1" dirty="0"/>
              <a:t>除非</a:t>
            </a:r>
            <a:r>
              <a:rPr lang="en-US" altLang="zh-CN" sz="1200" b="1" i="1" dirty="0"/>
              <a:t>q, </a:t>
            </a:r>
            <a:r>
              <a:rPr lang="zh-CN" altLang="en-US" sz="1200" b="1" dirty="0"/>
              <a:t>否则非</a:t>
            </a:r>
            <a:r>
              <a:rPr lang="en-US" altLang="zh-CN" sz="1200" b="1" i="1" dirty="0"/>
              <a:t>p </a:t>
            </a:r>
            <a:r>
              <a:rPr lang="zh-CN" altLang="en-US" sz="1000" dirty="0"/>
              <a:t>（如果不是 </a:t>
            </a:r>
            <a:r>
              <a:rPr lang="en-US" altLang="zh-CN" sz="1000" dirty="0"/>
              <a:t>q </a:t>
            </a:r>
            <a:r>
              <a:rPr lang="zh-CN" altLang="en-US" sz="1000" dirty="0"/>
              <a:t>的情况（</a:t>
            </a:r>
            <a:r>
              <a:rPr lang="en-US" altLang="zh-CN" sz="1000" dirty="0"/>
              <a:t>q </a:t>
            </a:r>
            <a:r>
              <a:rPr lang="zh-CN" altLang="en-US" sz="1000" dirty="0"/>
              <a:t>为假），那么 </a:t>
            </a:r>
            <a:r>
              <a:rPr lang="en-US" altLang="zh-CN" sz="1000" dirty="0"/>
              <a:t>p </a:t>
            </a:r>
            <a:r>
              <a:rPr lang="zh-CN" altLang="en-US" sz="1000" dirty="0"/>
              <a:t>也不成立（</a:t>
            </a:r>
            <a:r>
              <a:rPr lang="en-US" altLang="zh-CN" sz="1000" dirty="0"/>
              <a:t>p </a:t>
            </a:r>
            <a:r>
              <a:rPr lang="zh-CN" altLang="en-US" sz="1000" dirty="0"/>
              <a:t>为假</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308878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80000"/>
              </a:spcBef>
              <a:buFontTx/>
              <a:buNone/>
            </a:pPr>
            <a:r>
              <a:rPr lang="en-US" altLang="zh-CN" sz="1800" b="1" i="1" dirty="0" err="1"/>
              <a:t>p</a:t>
            </a:r>
            <a:r>
              <a:rPr lang="en-US" altLang="zh-CN" sz="1800" b="1" dirty="0" err="1">
                <a:sym typeface="Symbol" panose="05050102010706020507" pitchFamily="18" charset="2"/>
              </a:rPr>
              <a:t></a:t>
            </a:r>
            <a:r>
              <a:rPr lang="en-US" altLang="zh-CN" sz="1800" b="1" i="1" dirty="0" err="1"/>
              <a:t>q</a:t>
            </a:r>
            <a:r>
              <a:rPr lang="zh-CN" altLang="en-US" b="1" dirty="0"/>
              <a:t>蕴涵式的“真”、“假”</a:t>
            </a:r>
            <a:endParaRPr lang="en-US" altLang="zh-CN" b="1" dirty="0"/>
          </a:p>
          <a:p>
            <a:pPr>
              <a:spcBef>
                <a:spcPct val="80000"/>
              </a:spcBef>
              <a:buNone/>
            </a:pPr>
            <a:r>
              <a:rPr lang="zh-CN" altLang="zh-CN" b="1" dirty="0"/>
              <a:t>当</a:t>
            </a:r>
            <a:r>
              <a:rPr lang="en-US" altLang="zh-CN" b="1" dirty="0"/>
              <a:t> </a:t>
            </a:r>
            <a:r>
              <a:rPr lang="en-US" altLang="zh-CN" b="1" i="1" dirty="0"/>
              <a:t>p</a:t>
            </a:r>
            <a:r>
              <a:rPr lang="en-US" altLang="zh-CN" b="1" dirty="0"/>
              <a:t> </a:t>
            </a:r>
            <a:r>
              <a:rPr lang="zh-CN" altLang="zh-CN" b="1" dirty="0"/>
              <a:t>为真时，</a:t>
            </a:r>
            <a:r>
              <a:rPr lang="en-US" altLang="zh-CN" b="1" i="1" dirty="0"/>
              <a:t>q</a:t>
            </a:r>
            <a:r>
              <a:rPr lang="en-US" altLang="zh-CN" b="1" dirty="0"/>
              <a:t> </a:t>
            </a:r>
            <a:r>
              <a:rPr lang="zh-CN" altLang="zh-CN" b="1" dirty="0"/>
              <a:t>也必须为真</a:t>
            </a:r>
            <a:r>
              <a:rPr lang="zh-CN" altLang="en-US" b="1" dirty="0"/>
              <a:t>，</a:t>
            </a:r>
            <a:r>
              <a:rPr lang="en-US" altLang="zh-CN" b="1" dirty="0"/>
              <a:t> </a:t>
            </a:r>
            <a:r>
              <a:rPr lang="en-US" altLang="zh-CN" b="1" i="1" dirty="0" err="1"/>
              <a:t>p</a:t>
            </a:r>
            <a:r>
              <a:rPr lang="en-US" altLang="zh-CN" b="1" dirty="0" err="1">
                <a:sym typeface="Symbol" panose="05050102010706020507" pitchFamily="18" charset="2"/>
              </a:rPr>
              <a:t></a:t>
            </a:r>
            <a:r>
              <a:rPr lang="en-US" altLang="zh-CN" b="1" i="1" dirty="0" err="1"/>
              <a:t>q</a:t>
            </a:r>
            <a:r>
              <a:rPr lang="zh-CN" altLang="zh-CN" b="1" dirty="0"/>
              <a:t>为</a:t>
            </a:r>
            <a:r>
              <a:rPr lang="zh-CN" altLang="en-US" b="1" dirty="0"/>
              <a:t>“真”</a:t>
            </a:r>
            <a:endParaRPr lang="en-US" altLang="zh-CN" b="1" dirty="0"/>
          </a:p>
          <a:p>
            <a:pPr>
              <a:spcBef>
                <a:spcPct val="80000"/>
              </a:spcBef>
              <a:buNone/>
            </a:pPr>
            <a:r>
              <a:rPr lang="zh-CN" altLang="zh-CN" b="1" dirty="0"/>
              <a:t>当</a:t>
            </a:r>
            <a:r>
              <a:rPr lang="en-US" altLang="zh-CN" b="1" dirty="0"/>
              <a:t> </a:t>
            </a:r>
            <a:r>
              <a:rPr lang="en-US" altLang="zh-CN" b="1" i="1" dirty="0"/>
              <a:t>p</a:t>
            </a:r>
            <a:r>
              <a:rPr lang="en-US" altLang="zh-CN" b="1" dirty="0"/>
              <a:t> </a:t>
            </a:r>
            <a:r>
              <a:rPr lang="zh-CN" altLang="zh-CN" b="1" dirty="0"/>
              <a:t>为真，</a:t>
            </a:r>
            <a:r>
              <a:rPr lang="en-US" altLang="zh-CN" b="1" i="1" dirty="0"/>
              <a:t>q </a:t>
            </a:r>
            <a:r>
              <a:rPr lang="zh-CN" altLang="zh-CN" b="1" dirty="0"/>
              <a:t>为</a:t>
            </a:r>
            <a:r>
              <a:rPr lang="zh-CN" altLang="en-US" b="1" dirty="0"/>
              <a:t>假</a:t>
            </a:r>
            <a:r>
              <a:rPr lang="zh-CN" altLang="zh-CN" b="1" dirty="0"/>
              <a:t>时</a:t>
            </a:r>
            <a:r>
              <a:rPr lang="zh-CN" altLang="en-US" b="1" dirty="0"/>
              <a:t>，</a:t>
            </a:r>
            <a:r>
              <a:rPr lang="en-US" altLang="zh-CN" b="1" dirty="0"/>
              <a:t> </a:t>
            </a:r>
            <a:r>
              <a:rPr lang="en-US" altLang="zh-CN" b="1" i="1" dirty="0" err="1"/>
              <a:t>p</a:t>
            </a:r>
            <a:r>
              <a:rPr lang="en-US" altLang="zh-CN" b="1" dirty="0" err="1">
                <a:sym typeface="Symbol" panose="05050102010706020507" pitchFamily="18" charset="2"/>
              </a:rPr>
              <a:t></a:t>
            </a:r>
            <a:r>
              <a:rPr lang="en-US" altLang="zh-CN" b="1" i="1" dirty="0" err="1"/>
              <a:t>q</a:t>
            </a:r>
            <a:r>
              <a:rPr lang="zh-CN" altLang="zh-CN" b="1" dirty="0"/>
              <a:t>为</a:t>
            </a:r>
            <a:r>
              <a:rPr lang="zh-CN" altLang="en-US" b="1" dirty="0"/>
              <a:t>“假”</a:t>
            </a:r>
            <a:endParaRPr lang="en-US" altLang="zh-CN" b="1" dirty="0"/>
          </a:p>
          <a:p>
            <a:pPr>
              <a:spcBef>
                <a:spcPct val="80000"/>
              </a:spcBef>
              <a:buNone/>
            </a:pPr>
            <a:r>
              <a:rPr lang="zh-CN" altLang="en-US" b="1" dirty="0"/>
              <a:t>当</a:t>
            </a:r>
            <a:r>
              <a:rPr lang="en-US" altLang="zh-CN" b="1" i="1" dirty="0"/>
              <a:t>p</a:t>
            </a:r>
            <a:r>
              <a:rPr lang="zh-CN" altLang="en-US" b="1" dirty="0"/>
              <a:t>为假时，</a:t>
            </a:r>
            <a:r>
              <a:rPr lang="zh-CN" altLang="zh-CN" b="1" dirty="0"/>
              <a:t>蕴涵式不对</a:t>
            </a:r>
            <a:r>
              <a:rPr lang="en-US" altLang="zh-CN" b="1" dirty="0"/>
              <a:t> </a:t>
            </a:r>
            <a:r>
              <a:rPr lang="en-US" altLang="zh-CN" b="1" i="1" dirty="0"/>
              <a:t>q</a:t>
            </a:r>
            <a:r>
              <a:rPr lang="en-US" altLang="zh-CN" b="1" dirty="0"/>
              <a:t> </a:t>
            </a:r>
            <a:r>
              <a:rPr lang="zh-CN" altLang="zh-CN" b="1" dirty="0"/>
              <a:t>的真假做出任何限制</a:t>
            </a:r>
            <a:r>
              <a:rPr lang="zh-CN" altLang="en-US" b="1" dirty="0"/>
              <a:t>，</a:t>
            </a:r>
            <a:r>
              <a:rPr lang="en-US" altLang="zh-CN" b="1" dirty="0"/>
              <a:t> </a:t>
            </a:r>
            <a:r>
              <a:rPr lang="en-US" altLang="zh-CN" b="1" i="1" dirty="0" err="1"/>
              <a:t>p</a:t>
            </a:r>
            <a:r>
              <a:rPr lang="en-US" altLang="zh-CN" b="1" dirty="0" err="1">
                <a:sym typeface="Symbol" panose="05050102010706020507" pitchFamily="18" charset="2"/>
              </a:rPr>
              <a:t></a:t>
            </a:r>
            <a:r>
              <a:rPr lang="en-US" altLang="zh-CN" b="1" i="1" dirty="0" err="1"/>
              <a:t>q</a:t>
            </a:r>
            <a:r>
              <a:rPr lang="zh-CN" altLang="en-US" b="1" dirty="0"/>
              <a:t>为“真”</a:t>
            </a:r>
            <a:endParaRPr lang="en-US" altLang="zh-CN" b="1" dirty="0"/>
          </a:p>
          <a:p>
            <a:pPr>
              <a:spcBef>
                <a:spcPct val="80000"/>
              </a:spcBef>
              <a:buNone/>
            </a:pPr>
            <a:r>
              <a:rPr lang="zh-CN" altLang="en-US" sz="1600" b="1" dirty="0">
                <a:solidFill>
                  <a:srgbClr val="00B0F0"/>
                </a:solidFill>
              </a:rPr>
              <a:t>例：</a:t>
            </a:r>
            <a:r>
              <a:rPr lang="zh-CN" altLang="zh-CN" sz="1800" b="1" dirty="0"/>
              <a:t>将</a:t>
            </a:r>
            <a:r>
              <a:rPr lang="en-US" altLang="zh-CN" sz="1800" b="1" dirty="0"/>
              <a:t> </a:t>
            </a:r>
            <a:r>
              <a:rPr lang="en-US" altLang="zh-CN" b="1" i="1" dirty="0"/>
              <a:t>p</a:t>
            </a:r>
            <a:r>
              <a:rPr lang="en-US" altLang="zh-CN" sz="1800" b="1" dirty="0"/>
              <a:t> </a:t>
            </a:r>
            <a:r>
              <a:rPr lang="zh-CN" altLang="zh-CN" sz="1800" b="1" dirty="0"/>
              <a:t>定义为</a:t>
            </a:r>
            <a:r>
              <a:rPr lang="en-US" altLang="zh-CN" sz="1800" b="1" dirty="0"/>
              <a:t> "</a:t>
            </a:r>
            <a:r>
              <a:rPr lang="zh-CN" altLang="zh-CN" sz="1800" b="1" dirty="0"/>
              <a:t>今天下雨</a:t>
            </a:r>
            <a:r>
              <a:rPr lang="en-US" altLang="zh-CN" sz="1800" b="1" dirty="0"/>
              <a:t>"</a:t>
            </a:r>
            <a:r>
              <a:rPr lang="zh-CN" altLang="zh-CN" sz="1800" b="1" dirty="0"/>
              <a:t>，将</a:t>
            </a:r>
            <a:r>
              <a:rPr lang="en-US" altLang="zh-CN" sz="1800" b="1" dirty="0"/>
              <a:t> </a:t>
            </a:r>
            <a:r>
              <a:rPr lang="en-US" altLang="zh-CN" b="1" i="1" dirty="0"/>
              <a:t>q</a:t>
            </a:r>
            <a:r>
              <a:rPr lang="en-US" altLang="zh-CN" sz="1800" b="1" dirty="0"/>
              <a:t> </a:t>
            </a:r>
            <a:r>
              <a:rPr lang="zh-CN" altLang="zh-CN" sz="1800" b="1" dirty="0"/>
              <a:t>定义为</a:t>
            </a:r>
            <a:r>
              <a:rPr lang="en-US" altLang="zh-CN" sz="1800" b="1" dirty="0"/>
              <a:t> "</a:t>
            </a:r>
            <a:r>
              <a:rPr lang="zh-CN" altLang="zh-CN" sz="1800" b="1" dirty="0"/>
              <a:t>地面湿润</a:t>
            </a:r>
            <a:r>
              <a:rPr lang="en-US" altLang="zh-CN" sz="1800" b="1" dirty="0"/>
              <a:t>"</a:t>
            </a:r>
            <a:r>
              <a:rPr lang="zh-CN" altLang="zh-CN" sz="1800" b="1" dirty="0"/>
              <a:t>，蕴涵式</a:t>
            </a:r>
            <a:r>
              <a:rPr lang="en-US" altLang="zh-CN" sz="1800" b="1" dirty="0"/>
              <a:t> "</a:t>
            </a:r>
            <a:r>
              <a:rPr lang="en-US" altLang="zh-CN" b="1" i="1" dirty="0"/>
              <a:t>p </a:t>
            </a:r>
            <a:r>
              <a:rPr lang="en-US" altLang="zh-CN" b="1" dirty="0">
                <a:sym typeface="Symbol" panose="05050102010706020507" pitchFamily="18" charset="2"/>
              </a:rPr>
              <a:t></a:t>
            </a:r>
            <a:r>
              <a:rPr lang="en-US" altLang="zh-CN" b="1" dirty="0"/>
              <a:t> </a:t>
            </a:r>
            <a:r>
              <a:rPr lang="en-US" altLang="zh-CN" b="1" i="1" dirty="0"/>
              <a:t>q</a:t>
            </a:r>
            <a:r>
              <a:rPr lang="en-US" altLang="zh-CN" sz="1800" b="1" dirty="0"/>
              <a:t>" </a:t>
            </a:r>
            <a:r>
              <a:rPr lang="zh-CN" altLang="zh-CN" sz="1800" b="1" dirty="0"/>
              <a:t>可以被描述为</a:t>
            </a:r>
            <a:r>
              <a:rPr lang="en-US" altLang="zh-CN" sz="1800" b="1" dirty="0"/>
              <a:t> "</a:t>
            </a:r>
            <a:r>
              <a:rPr lang="zh-CN" altLang="zh-CN" sz="1800" b="1" dirty="0"/>
              <a:t>如果今天下雨，那么地面会湿润</a:t>
            </a:r>
            <a:r>
              <a:rPr lang="en-US" altLang="zh-CN" sz="1800" b="1" dirty="0"/>
              <a:t>"</a:t>
            </a:r>
            <a:r>
              <a:rPr lang="zh-CN" altLang="zh-CN" sz="1800" b="1" dirty="0"/>
              <a:t>。</a:t>
            </a:r>
            <a:endParaRPr lang="en-US" altLang="zh-CN" sz="1800" b="1" dirty="0"/>
          </a:p>
          <a:p>
            <a:pPr>
              <a:spcBef>
                <a:spcPct val="80000"/>
              </a:spcBef>
              <a:buNone/>
            </a:pPr>
            <a:r>
              <a:rPr lang="zh-CN" altLang="zh-CN" sz="1800" b="1" dirty="0"/>
              <a:t>在这种情况下，只有在下雨（</a:t>
            </a:r>
            <a:r>
              <a:rPr lang="en-US" altLang="zh-CN" b="1" i="1" dirty="0"/>
              <a:t>p</a:t>
            </a:r>
            <a:r>
              <a:rPr lang="en-US" altLang="zh-CN" sz="1800" b="1" dirty="0"/>
              <a:t> </a:t>
            </a:r>
            <a:r>
              <a:rPr lang="zh-CN" altLang="zh-CN" sz="1800" b="1" dirty="0"/>
              <a:t>为真）且地面不湿润（</a:t>
            </a:r>
            <a:r>
              <a:rPr lang="en-US" altLang="zh-CN" b="1" i="1" dirty="0"/>
              <a:t>q</a:t>
            </a:r>
            <a:r>
              <a:rPr lang="en-US" altLang="zh-CN" sz="1800" b="1" dirty="0"/>
              <a:t> </a:t>
            </a:r>
            <a:r>
              <a:rPr lang="zh-CN" altLang="zh-CN" sz="1800" b="1" dirty="0"/>
              <a:t>为假）的情况下，这个蕴涵式才会是假的。其他情况下（如不下雨，或下雨且地面湿润），这个蕴涵式都是真的。</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25089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00B0F0"/>
                </a:solidFill>
              </a:rPr>
              <a:t>例：</a:t>
            </a:r>
            <a:r>
              <a:rPr lang="zh-CN" altLang="en-US" sz="1200" b="1" dirty="0"/>
              <a:t>设</a:t>
            </a:r>
            <a:r>
              <a:rPr lang="en-US" altLang="zh-CN" sz="1200" b="1" i="1" dirty="0"/>
              <a:t>p</a:t>
            </a:r>
            <a:r>
              <a:rPr lang="en-US" altLang="zh-CN" sz="1200" b="1" dirty="0"/>
              <a:t>:</a:t>
            </a:r>
            <a:r>
              <a:rPr lang="zh-CN" altLang="en-US" sz="1200" b="1" dirty="0"/>
              <a:t>天冷, </a:t>
            </a:r>
            <a:r>
              <a:rPr lang="en-US" altLang="zh-CN" sz="1200" b="1" i="1" dirty="0"/>
              <a:t>q</a:t>
            </a:r>
            <a:r>
              <a:rPr lang="en-US" altLang="zh-CN" sz="1200" b="1" dirty="0"/>
              <a:t>:</a:t>
            </a:r>
            <a:r>
              <a:rPr lang="zh-CN" altLang="en-US" sz="1200" b="1" dirty="0"/>
              <a:t>小王穿羽绒服，</a:t>
            </a:r>
          </a:p>
          <a:p>
            <a:pPr algn="just" eaLnBrk="1" hangingPunct="1">
              <a:buFontTx/>
              <a:buNone/>
            </a:pPr>
            <a:r>
              <a:rPr lang="zh-CN" altLang="en-US" sz="1200" b="1" dirty="0"/>
              <a:t>将下列命题符号化</a:t>
            </a:r>
            <a:r>
              <a:rPr lang="zh-CN" altLang="en-US" sz="1200" b="1" dirty="0">
                <a:latin typeface="宋体" panose="02010600030101010101" pitchFamily="2" charset="-122"/>
              </a:rPr>
              <a:t>   </a:t>
            </a:r>
          </a:p>
          <a:p>
            <a:pPr algn="just" eaLnBrk="1" hangingPunct="1">
              <a:buFontTx/>
              <a:buNone/>
            </a:pPr>
            <a:r>
              <a:rPr lang="zh-CN" altLang="en-US" sz="1200" b="1" dirty="0"/>
              <a:t>(1)  只要天冷，小王就穿羽绒服.</a:t>
            </a:r>
          </a:p>
          <a:p>
            <a:pPr algn="just" eaLnBrk="1" hangingPunct="1">
              <a:buFontTx/>
              <a:buNone/>
            </a:pPr>
            <a:r>
              <a:rPr lang="zh-CN" altLang="en-US" sz="1200" b="1" dirty="0"/>
              <a:t>(2)  因为天冷，所以小王穿羽绒服.</a:t>
            </a:r>
          </a:p>
          <a:p>
            <a:pPr algn="just" eaLnBrk="1" hangingPunct="1">
              <a:buFontTx/>
              <a:buNone/>
            </a:pPr>
            <a:r>
              <a:rPr lang="zh-CN" altLang="en-US" sz="1200" b="1" dirty="0"/>
              <a:t>(3)  若小王不穿羽绒服，则天不冷.</a:t>
            </a:r>
          </a:p>
          <a:p>
            <a:pPr algn="just" eaLnBrk="1" hangingPunct="1">
              <a:buFontTx/>
              <a:buNone/>
            </a:pPr>
            <a:r>
              <a:rPr lang="zh-CN" altLang="en-US" sz="1200" b="1" dirty="0"/>
              <a:t>(4)  只有天冷，小王才穿羽绒服.</a:t>
            </a:r>
          </a:p>
          <a:p>
            <a:pPr algn="just" eaLnBrk="1" hangingPunct="1">
              <a:buFontTx/>
              <a:buNone/>
            </a:pPr>
            <a:r>
              <a:rPr lang="zh-CN" altLang="en-US" sz="1200" b="1" dirty="0"/>
              <a:t>(5)  除非天冷，小王才穿羽绒服.</a:t>
            </a:r>
          </a:p>
          <a:p>
            <a:pPr algn="just" eaLnBrk="1" hangingPunct="1">
              <a:buFontTx/>
              <a:buNone/>
            </a:pPr>
            <a:r>
              <a:rPr lang="zh-CN" altLang="en-US" sz="1200" b="1" dirty="0"/>
              <a:t>(6)  除非小王穿羽绒服，否则天不冷.</a:t>
            </a:r>
          </a:p>
          <a:p>
            <a:pPr algn="just" eaLnBrk="1" hangingPunct="1">
              <a:buFontTx/>
              <a:buNone/>
            </a:pPr>
            <a:r>
              <a:rPr lang="zh-CN" altLang="en-US" sz="1200" b="1" dirty="0"/>
              <a:t>(7)  如果天不冷，则小王不穿羽绒服.</a:t>
            </a:r>
          </a:p>
          <a:p>
            <a:pPr eaLnBrk="1" hangingPunct="1">
              <a:buFontTx/>
              <a:buNone/>
            </a:pPr>
            <a:r>
              <a:rPr lang="zh-CN" altLang="en-US" sz="1200" b="1" dirty="0"/>
              <a:t>(8)  小王穿羽绒服仅当天冷的时候.</a:t>
            </a:r>
            <a:endParaRPr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218007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00B0F0"/>
                </a:solidFill>
              </a:rPr>
              <a:t>例：</a:t>
            </a:r>
            <a:r>
              <a:rPr lang="zh-CN" altLang="en-US" sz="1200" b="1" dirty="0"/>
              <a:t>设</a:t>
            </a:r>
            <a:r>
              <a:rPr lang="en-US" altLang="zh-CN" sz="1200" b="1" i="1" dirty="0"/>
              <a:t>p</a:t>
            </a:r>
            <a:r>
              <a:rPr lang="en-US" altLang="zh-CN" sz="1200" b="1" dirty="0"/>
              <a:t>:</a:t>
            </a:r>
            <a:r>
              <a:rPr lang="zh-CN" altLang="en-US" sz="1200" b="1" dirty="0"/>
              <a:t>天冷, </a:t>
            </a:r>
            <a:r>
              <a:rPr lang="en-US" altLang="zh-CN" sz="1200" b="1" i="1" dirty="0"/>
              <a:t>q</a:t>
            </a:r>
            <a:r>
              <a:rPr lang="en-US" altLang="zh-CN" sz="1200" b="1" dirty="0"/>
              <a:t>:</a:t>
            </a:r>
            <a:r>
              <a:rPr lang="zh-CN" altLang="en-US" sz="1200" b="1" dirty="0"/>
              <a:t>小王穿羽绒服，</a:t>
            </a:r>
          </a:p>
          <a:p>
            <a:pPr algn="just" eaLnBrk="1" hangingPunct="1">
              <a:buFontTx/>
              <a:buNone/>
            </a:pPr>
            <a:r>
              <a:rPr lang="zh-CN" altLang="en-US" sz="1200" b="1" dirty="0"/>
              <a:t>将下列命题符号化</a:t>
            </a:r>
            <a:r>
              <a:rPr lang="zh-CN" altLang="en-US" sz="1200" b="1" dirty="0">
                <a:latin typeface="宋体" panose="02010600030101010101" pitchFamily="2" charset="-122"/>
              </a:rPr>
              <a:t>   </a:t>
            </a:r>
          </a:p>
          <a:p>
            <a:pPr algn="just" eaLnBrk="1" hangingPunct="1">
              <a:buFontTx/>
              <a:buNone/>
            </a:pPr>
            <a:r>
              <a:rPr lang="zh-CN" altLang="en-US" sz="1200" b="1" dirty="0"/>
              <a:t>(1)  只要天冷，小王就穿羽绒服.</a:t>
            </a:r>
          </a:p>
          <a:p>
            <a:pPr algn="just" eaLnBrk="1" hangingPunct="1">
              <a:buFontTx/>
              <a:buNone/>
            </a:pPr>
            <a:r>
              <a:rPr lang="zh-CN" altLang="en-US" sz="1200" b="1" dirty="0"/>
              <a:t>(2)  因为天冷，所以小王穿羽绒服.</a:t>
            </a:r>
          </a:p>
          <a:p>
            <a:pPr algn="just" eaLnBrk="1" hangingPunct="1">
              <a:buFontTx/>
              <a:buNone/>
            </a:pPr>
            <a:r>
              <a:rPr lang="zh-CN" altLang="en-US" sz="1200" b="1" dirty="0"/>
              <a:t>(3)  若小王不穿羽绒服，则天不冷.</a:t>
            </a:r>
          </a:p>
          <a:p>
            <a:pPr algn="just" eaLnBrk="1" hangingPunct="1">
              <a:buFontTx/>
              <a:buNone/>
            </a:pPr>
            <a:r>
              <a:rPr lang="zh-CN" altLang="en-US" sz="1200" b="1" dirty="0"/>
              <a:t>(4)  只有天冷，小王才穿羽绒服.</a:t>
            </a:r>
          </a:p>
          <a:p>
            <a:pPr algn="just" eaLnBrk="1" hangingPunct="1">
              <a:buFontTx/>
              <a:buNone/>
            </a:pPr>
            <a:r>
              <a:rPr lang="zh-CN" altLang="en-US" sz="1200" b="1" dirty="0"/>
              <a:t>(5)  除非天冷，小王才穿羽绒服.</a:t>
            </a:r>
          </a:p>
          <a:p>
            <a:pPr algn="just" eaLnBrk="1" hangingPunct="1">
              <a:buFontTx/>
              <a:buNone/>
            </a:pPr>
            <a:r>
              <a:rPr lang="zh-CN" altLang="en-US" sz="1200" b="1" dirty="0"/>
              <a:t>(6)  除非小王穿羽绒服，否则天不冷.</a:t>
            </a:r>
          </a:p>
          <a:p>
            <a:pPr algn="just" eaLnBrk="1" hangingPunct="1">
              <a:buFontTx/>
              <a:buNone/>
            </a:pPr>
            <a:r>
              <a:rPr lang="zh-CN" altLang="en-US" sz="1200" b="1" dirty="0"/>
              <a:t>(7)  如果天不冷，则小王不穿羽绒服.</a:t>
            </a:r>
          </a:p>
          <a:p>
            <a:pPr eaLnBrk="1" hangingPunct="1">
              <a:buFontTx/>
              <a:buNone/>
            </a:pPr>
            <a:r>
              <a:rPr lang="zh-CN" altLang="en-US" sz="1200" b="1" dirty="0"/>
              <a:t>(8)  小王穿羽绒服仅当天冷的时候.</a:t>
            </a:r>
            <a:endParaRPr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416193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endParaRPr lang="en-US" altLang="zh-CN" sz="1200" b="1" dirty="0">
              <a:solidFill>
                <a:srgbClr val="FF3300"/>
              </a:solidFill>
            </a:endParaRPr>
          </a:p>
          <a:p>
            <a:pPr algn="just" eaLnBrk="1" hangingPunct="1">
              <a:lnSpc>
                <a:spcPct val="110000"/>
              </a:lnSpc>
              <a:buFontTx/>
              <a:buNone/>
            </a:pPr>
            <a:r>
              <a:rPr lang="zh-CN" altLang="en-US" sz="1200" b="1" dirty="0">
                <a:solidFill>
                  <a:srgbClr val="FF3300"/>
                </a:solidFill>
              </a:rPr>
              <a:t>定义2.5</a:t>
            </a:r>
            <a:r>
              <a:rPr lang="zh-CN" altLang="en-US" sz="1200" b="1" dirty="0"/>
              <a:t> “</a:t>
            </a:r>
            <a:r>
              <a:rPr lang="en-US" altLang="zh-CN" sz="1200" b="1" i="1" dirty="0"/>
              <a:t>p</a:t>
            </a:r>
            <a:r>
              <a:rPr lang="zh-CN" altLang="en-US" sz="1200" b="1" dirty="0"/>
              <a:t>当且仅当</a:t>
            </a:r>
            <a:r>
              <a:rPr lang="en-US" altLang="zh-CN" sz="1200" b="1" i="1" dirty="0"/>
              <a:t>q</a:t>
            </a:r>
            <a:r>
              <a:rPr lang="en-US" altLang="zh-CN" sz="1200" b="1" dirty="0"/>
              <a:t>”</a:t>
            </a:r>
            <a:r>
              <a:rPr lang="zh-CN" altLang="en-US" sz="1200" b="1" dirty="0"/>
              <a:t>称作</a:t>
            </a:r>
            <a:r>
              <a:rPr lang="en-US" altLang="zh-CN" sz="1200" b="1" i="1" dirty="0"/>
              <a:t>p</a:t>
            </a:r>
            <a:r>
              <a:rPr lang="zh-CN" altLang="en-US" sz="1200" b="1" dirty="0"/>
              <a:t>与</a:t>
            </a:r>
            <a:r>
              <a:rPr lang="en-US" altLang="zh-CN" sz="1200" b="1" i="1" dirty="0"/>
              <a:t>q</a:t>
            </a:r>
            <a:r>
              <a:rPr lang="zh-CN" altLang="en-US" sz="1200" b="1" dirty="0"/>
              <a:t>的</a:t>
            </a:r>
            <a:r>
              <a:rPr lang="zh-CN" altLang="en-US" sz="1200" b="1" dirty="0">
                <a:solidFill>
                  <a:srgbClr val="FF3300"/>
                </a:solidFill>
              </a:rPr>
              <a:t>等价式</a:t>
            </a:r>
            <a:r>
              <a:rPr lang="zh-CN" altLang="en-US" sz="1200" b="1" dirty="0"/>
              <a:t>, 记作</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 </a:t>
            </a:r>
            <a:r>
              <a:rPr lang="en-US" altLang="zh-CN" sz="1200" b="1" dirty="0">
                <a:sym typeface="Symbol" panose="05050102010706020507" pitchFamily="18" charset="2"/>
              </a:rPr>
              <a:t></a:t>
            </a:r>
            <a:r>
              <a:rPr lang="zh-CN" altLang="en-US" sz="1200" b="1" dirty="0"/>
              <a:t>称作</a:t>
            </a:r>
            <a:r>
              <a:rPr lang="zh-CN" altLang="en-US" sz="1200" b="1" dirty="0">
                <a:solidFill>
                  <a:srgbClr val="FF3300"/>
                </a:solidFill>
              </a:rPr>
              <a:t>等价联结词</a:t>
            </a:r>
            <a:r>
              <a:rPr lang="zh-CN" altLang="en-US" sz="1200" b="1" dirty="0"/>
              <a:t>. 并规定</a:t>
            </a:r>
            <a:r>
              <a:rPr lang="en-US" altLang="zh-CN" sz="1200" b="1" i="1" dirty="0" err="1"/>
              <a:t>p</a:t>
            </a:r>
            <a:r>
              <a:rPr lang="en-US" altLang="zh-CN" sz="1200" b="1" dirty="0" err="1">
                <a:sym typeface="Symbol" panose="05050102010706020507" pitchFamily="18" charset="2"/>
              </a:rPr>
              <a:t></a:t>
            </a:r>
            <a:r>
              <a:rPr lang="en-US" altLang="zh-CN" sz="1200" b="1" i="1" dirty="0" err="1"/>
              <a:t>q</a:t>
            </a:r>
            <a:r>
              <a:rPr lang="zh-CN" altLang="en-US" sz="1200" b="1" dirty="0"/>
              <a:t>为真当且仅当 </a:t>
            </a:r>
            <a:r>
              <a:rPr lang="en-US" altLang="zh-CN" sz="1200" b="1" i="1" dirty="0"/>
              <a:t>p</a:t>
            </a:r>
            <a:r>
              <a:rPr lang="zh-CN" altLang="en-US" sz="1200" b="1" dirty="0"/>
              <a:t>与</a:t>
            </a:r>
            <a:r>
              <a:rPr lang="en-US" altLang="zh-CN" sz="1200" b="1" i="1" dirty="0"/>
              <a:t>q</a:t>
            </a:r>
            <a:r>
              <a:rPr lang="zh-CN" altLang="en-US" sz="1200" b="1" dirty="0"/>
              <a:t>同时为真或同时为假.</a:t>
            </a:r>
          </a:p>
          <a:p>
            <a:pPr algn="just" eaLnBrk="1" hangingPunct="1">
              <a:lnSpc>
                <a:spcPct val="110000"/>
              </a:lnSpc>
              <a:buFontTx/>
              <a:buNone/>
            </a:pPr>
            <a:r>
              <a:rPr lang="zh-CN" altLang="en-US" sz="1200" b="1" dirty="0"/>
              <a:t> </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i="1" dirty="0"/>
              <a:t> </a:t>
            </a:r>
            <a:r>
              <a:rPr lang="zh-CN" altLang="en-US" sz="1200" b="1" dirty="0"/>
              <a:t>的逻辑关系: </a:t>
            </a:r>
            <a:r>
              <a:rPr lang="en-US" altLang="zh-CN" sz="1200" b="1" i="1" dirty="0"/>
              <a:t>p</a:t>
            </a:r>
            <a:r>
              <a:rPr lang="zh-CN" altLang="en-US" sz="1200" b="1" dirty="0"/>
              <a:t>与</a:t>
            </a:r>
            <a:r>
              <a:rPr lang="en-US" altLang="zh-CN" sz="1200" b="1" i="1" dirty="0"/>
              <a:t>q</a:t>
            </a:r>
            <a:r>
              <a:rPr lang="zh-CN" altLang="en-US" sz="1200" b="1" dirty="0"/>
              <a:t>互为充分必要条件</a:t>
            </a:r>
          </a:p>
          <a:p>
            <a:pPr algn="just" eaLnBrk="1" hangingPunct="1">
              <a:lnSpc>
                <a:spcPct val="110000"/>
              </a:lnSpc>
              <a:buFontTx/>
              <a:buNone/>
            </a:pPr>
            <a:endParaRPr lang="zh-CN" altLang="en-US" sz="1200" b="1" dirty="0"/>
          </a:p>
          <a:p>
            <a:pPr algn="just" eaLnBrk="1" hangingPunct="1">
              <a:lnSpc>
                <a:spcPct val="110000"/>
              </a:lnSpc>
              <a:buFontTx/>
              <a:buNone/>
            </a:pPr>
            <a:r>
              <a:rPr lang="zh-CN" altLang="en-US" sz="1200" b="1" dirty="0">
                <a:solidFill>
                  <a:srgbClr val="00B0F0"/>
                </a:solidFill>
              </a:rPr>
              <a:t>例：</a:t>
            </a:r>
            <a:r>
              <a:rPr lang="zh-CN" altLang="en-US" sz="1200" b="1" dirty="0">
                <a:solidFill>
                  <a:srgbClr val="000066"/>
                </a:solidFill>
              </a:rPr>
              <a:t>  </a:t>
            </a:r>
            <a:r>
              <a:rPr lang="zh-CN" altLang="en-US" sz="1200" b="1" dirty="0"/>
              <a:t>这件事张三能做好, 且只有张三能做好</a:t>
            </a:r>
          </a:p>
          <a:p>
            <a:pPr eaLnBrk="1" hangingPunct="1">
              <a:buFontTx/>
              <a:buNone/>
            </a:pPr>
            <a:r>
              <a:rPr lang="zh-CN" altLang="en-US" sz="1200" b="1" dirty="0"/>
              <a:t>    设</a:t>
            </a:r>
            <a:r>
              <a:rPr lang="en-US" altLang="zh-CN" sz="1200" b="1" i="1" dirty="0"/>
              <a:t>p</a:t>
            </a:r>
            <a:r>
              <a:rPr lang="en-US" altLang="zh-CN" sz="1200" b="1" dirty="0"/>
              <a:t>:</a:t>
            </a:r>
            <a:r>
              <a:rPr lang="zh-CN" altLang="en-US" sz="1200" b="1" dirty="0"/>
              <a:t>张三做这件事, </a:t>
            </a:r>
            <a:r>
              <a:rPr lang="en-US" altLang="zh-CN" sz="1200" b="1" i="1" dirty="0"/>
              <a:t>q</a:t>
            </a:r>
            <a:r>
              <a:rPr lang="en-US" altLang="zh-CN" sz="1200" b="1" dirty="0"/>
              <a:t>:</a:t>
            </a:r>
            <a:r>
              <a:rPr lang="zh-CN" altLang="en-US" sz="1200" b="1" dirty="0"/>
              <a:t>这件事做好了</a:t>
            </a:r>
          </a:p>
          <a:p>
            <a:pPr eaLnBrk="1" hangingPunct="1">
              <a:buFontTx/>
              <a:buNone/>
            </a:pPr>
            <a:r>
              <a:rPr lang="zh-CN" altLang="en-US" sz="1200" b="1" dirty="0"/>
              <a:t>    形式化为: </a:t>
            </a:r>
            <a:r>
              <a:rPr lang="en-US" altLang="zh-CN" sz="1200" b="1" i="1" dirty="0" err="1"/>
              <a:t>p</a:t>
            </a:r>
            <a:r>
              <a:rPr lang="en-US" altLang="zh-CN" sz="1200" b="1" dirty="0" err="1">
                <a:sym typeface="Symbol" panose="05050102010706020507" pitchFamily="18" charset="2"/>
              </a:rPr>
              <a:t></a:t>
            </a:r>
            <a:r>
              <a:rPr lang="en-US" altLang="zh-CN" sz="1200" b="1" i="1" dirty="0" err="1"/>
              <a:t>q</a:t>
            </a:r>
            <a:endParaRPr lang="zh-CN" altLang="en-US" sz="1200" b="1" i="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2674092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spcBef>
                <a:spcPct val="60000"/>
              </a:spcBef>
              <a:buFontTx/>
              <a:buNone/>
            </a:pPr>
            <a:r>
              <a:rPr lang="zh-CN" altLang="en-US" sz="1200" b="1" dirty="0">
                <a:solidFill>
                  <a:srgbClr val="00B0F0"/>
                </a:solidFill>
              </a:rPr>
              <a:t>例：</a:t>
            </a:r>
            <a:r>
              <a:rPr lang="zh-CN" altLang="en-US" sz="1200" b="1" dirty="0"/>
              <a:t> </a:t>
            </a:r>
            <a:r>
              <a:rPr lang="zh-CN" altLang="en-US" sz="1200" b="1" dirty="0">
                <a:latin typeface="宋体" panose="02010600030101010101" pitchFamily="2" charset="-122"/>
              </a:rPr>
              <a:t>求下列复合命题的真值</a:t>
            </a:r>
            <a:endParaRPr lang="zh-CN" altLang="en-US" sz="1200" b="1" dirty="0"/>
          </a:p>
          <a:p>
            <a:pPr algn="just" eaLnBrk="1" hangingPunct="1">
              <a:lnSpc>
                <a:spcPct val="110000"/>
              </a:lnSpc>
              <a:spcBef>
                <a:spcPct val="60000"/>
              </a:spcBef>
              <a:buFontTx/>
              <a:buNone/>
            </a:pPr>
            <a:r>
              <a:rPr lang="zh-CN" altLang="en-US" sz="1200" b="1" dirty="0"/>
              <a:t>(1) 2+2＝4 当且仅当 3+3＝6.</a:t>
            </a:r>
          </a:p>
          <a:p>
            <a:pPr algn="just" eaLnBrk="1" hangingPunct="1">
              <a:lnSpc>
                <a:spcPct val="110000"/>
              </a:lnSpc>
              <a:spcBef>
                <a:spcPct val="60000"/>
              </a:spcBef>
              <a:buFontTx/>
              <a:buNone/>
            </a:pPr>
            <a:r>
              <a:rPr lang="zh-CN" altLang="en-US" sz="1200" b="1" dirty="0"/>
              <a:t>(2) 2+2＝4 当且仅当 3是偶数.</a:t>
            </a:r>
          </a:p>
          <a:p>
            <a:pPr algn="just" eaLnBrk="1" hangingPunct="1">
              <a:lnSpc>
                <a:spcPct val="110000"/>
              </a:lnSpc>
              <a:spcBef>
                <a:spcPct val="60000"/>
              </a:spcBef>
              <a:buFontTx/>
              <a:buNone/>
            </a:pPr>
            <a:r>
              <a:rPr lang="zh-CN" altLang="en-US" sz="1200" b="1" dirty="0"/>
              <a:t>(3) 2+2＝4 当且仅当 太阳从东方升起.</a:t>
            </a:r>
          </a:p>
          <a:p>
            <a:pPr algn="just" eaLnBrk="1" hangingPunct="1">
              <a:lnSpc>
                <a:spcPct val="110000"/>
              </a:lnSpc>
              <a:spcBef>
                <a:spcPct val="60000"/>
              </a:spcBef>
              <a:buFontTx/>
              <a:buNone/>
            </a:pPr>
            <a:r>
              <a:rPr lang="zh-CN" altLang="en-US" sz="1200" b="1" dirty="0"/>
              <a:t>(4) 2+2＝5 当且仅当 美国位于非洲.</a:t>
            </a:r>
          </a:p>
          <a:p>
            <a:pPr algn="just" eaLnBrk="1" hangingPunct="1">
              <a:lnSpc>
                <a:spcPct val="110000"/>
              </a:lnSpc>
              <a:spcBef>
                <a:spcPct val="60000"/>
              </a:spcBef>
              <a:buFontTx/>
              <a:buNone/>
            </a:pPr>
            <a:r>
              <a:rPr lang="zh-CN" altLang="en-US" sz="1200" b="1" dirty="0"/>
              <a:t>(5) </a:t>
            </a:r>
            <a:r>
              <a:rPr lang="en-US" altLang="zh-CN" sz="1200" b="1" i="1" dirty="0"/>
              <a:t>f</a:t>
            </a:r>
            <a:r>
              <a:rPr lang="en-US" altLang="zh-CN" sz="1200" b="1" dirty="0"/>
              <a:t> (</a:t>
            </a:r>
            <a:r>
              <a:rPr lang="en-US" altLang="zh-CN" sz="1200" b="1" i="1" dirty="0"/>
              <a:t>x</a:t>
            </a:r>
            <a:r>
              <a:rPr lang="en-US" altLang="zh-CN" sz="1200" b="1" dirty="0"/>
              <a:t>)</a:t>
            </a:r>
            <a:r>
              <a:rPr lang="zh-CN" altLang="en-US" sz="1200" b="1" dirty="0">
                <a:latin typeface="宋体" panose="02010600030101010101" pitchFamily="2" charset="-122"/>
              </a:rPr>
              <a:t>在</a:t>
            </a:r>
            <a:r>
              <a:rPr lang="en-US" altLang="zh-CN" sz="1200" b="1" i="1" dirty="0"/>
              <a:t>x</a:t>
            </a:r>
            <a:r>
              <a:rPr lang="en-US" altLang="zh-CN" sz="1200" b="1" baseline="-30000" dirty="0"/>
              <a:t>0</a:t>
            </a:r>
            <a:r>
              <a:rPr lang="zh-CN" altLang="en-US" sz="1200" b="1" dirty="0"/>
              <a:t>处</a:t>
            </a:r>
            <a:r>
              <a:rPr lang="zh-CN" altLang="en-US" sz="1200" b="1" dirty="0">
                <a:latin typeface="宋体" panose="02010600030101010101" pitchFamily="2" charset="-122"/>
              </a:rPr>
              <a:t>可导的充要条件是它在</a:t>
            </a:r>
            <a:r>
              <a:rPr lang="zh-CN" altLang="en-US" sz="1200" b="1" dirty="0"/>
              <a:t> </a:t>
            </a:r>
            <a:r>
              <a:rPr lang="en-US" altLang="zh-CN" sz="1200" b="1" i="1" dirty="0"/>
              <a:t>x</a:t>
            </a:r>
            <a:r>
              <a:rPr lang="en-US" altLang="zh-CN" sz="1200" b="1" baseline="-30000" dirty="0"/>
              <a:t>0</a:t>
            </a:r>
            <a:r>
              <a:rPr lang="zh-CN" altLang="en-US" sz="1200" b="1" dirty="0">
                <a:latin typeface="宋体" panose="02010600030101010101" pitchFamily="2" charset="-122"/>
              </a:rPr>
              <a:t>处连续</a:t>
            </a:r>
            <a:endParaRPr lang="en-US" altLang="zh-CN" sz="1200" b="1" dirty="0">
              <a:latin typeface="宋体" panose="02010600030101010101" pitchFamily="2" charset="-122"/>
            </a:endParaRPr>
          </a:p>
          <a:p>
            <a:r>
              <a:rPr lang="zh-CN" altLang="en-US" dirty="0"/>
              <a:t>“函数 </a:t>
            </a:r>
            <a:r>
              <a:rPr lang="en-US" altLang="zh-CN" dirty="0"/>
              <a:t>f(x) </a:t>
            </a:r>
            <a:r>
              <a:rPr lang="zh-CN" altLang="en-US" dirty="0"/>
              <a:t>在 </a:t>
            </a:r>
            <a:r>
              <a:rPr lang="en-US" altLang="zh-CN" dirty="0"/>
              <a:t>x0 </a:t>
            </a:r>
            <a:r>
              <a:rPr lang="zh-CN" altLang="en-US" dirty="0"/>
              <a:t>处可微的充分必要条件是它在 </a:t>
            </a:r>
            <a:r>
              <a:rPr lang="en-US" altLang="zh-CN" dirty="0"/>
              <a:t>x0 </a:t>
            </a:r>
            <a:r>
              <a:rPr lang="zh-CN" altLang="en-US" dirty="0"/>
              <a:t>处连续。”这一命题是</a:t>
            </a:r>
            <a:r>
              <a:rPr lang="zh-CN" altLang="en-US" b="1" dirty="0"/>
              <a:t>假命题</a:t>
            </a:r>
            <a:r>
              <a:rPr lang="zh-CN" altLang="en-US" dirty="0"/>
              <a:t>。正确的表述应为：</a:t>
            </a:r>
          </a:p>
          <a:p>
            <a:pPr>
              <a:buFont typeface="Arial" panose="020B0604020202020204" pitchFamily="34" charset="0"/>
              <a:buChar char="•"/>
            </a:pPr>
            <a:r>
              <a:rPr lang="zh-CN" altLang="en-US" b="1" dirty="0"/>
              <a:t>必要条件</a:t>
            </a:r>
            <a:r>
              <a:rPr lang="zh-CN" altLang="en-US" dirty="0"/>
              <a:t>：如果 </a:t>
            </a:r>
            <a:r>
              <a:rPr lang="en-US" altLang="zh-CN" dirty="0"/>
              <a:t>f(x) </a:t>
            </a:r>
            <a:r>
              <a:rPr lang="zh-CN" altLang="en-US" dirty="0"/>
              <a:t>在 </a:t>
            </a:r>
            <a:r>
              <a:rPr lang="en-US" altLang="zh-CN" dirty="0"/>
              <a:t>x0 </a:t>
            </a:r>
            <a:r>
              <a:rPr lang="zh-CN" altLang="en-US" dirty="0"/>
              <a:t>处可微，那么它在 </a:t>
            </a:r>
            <a:r>
              <a:rPr lang="en-US" altLang="zh-CN" dirty="0"/>
              <a:t>x0 </a:t>
            </a:r>
            <a:r>
              <a:rPr lang="zh-CN" altLang="en-US" dirty="0"/>
              <a:t>处连续。</a:t>
            </a:r>
          </a:p>
          <a:p>
            <a:pPr>
              <a:buFont typeface="Arial" panose="020B0604020202020204" pitchFamily="34" charset="0"/>
              <a:buChar char="•"/>
            </a:pPr>
            <a:r>
              <a:rPr lang="zh-CN" altLang="en-US" b="1" dirty="0"/>
              <a:t>非充分条件</a:t>
            </a:r>
            <a:r>
              <a:rPr lang="zh-CN" altLang="en-US" dirty="0"/>
              <a:t>：</a:t>
            </a:r>
            <a:r>
              <a:rPr lang="en-US" altLang="zh-CN" dirty="0"/>
              <a:t>f(x) </a:t>
            </a:r>
            <a:r>
              <a:rPr lang="zh-CN" altLang="en-US" dirty="0"/>
              <a:t>在 </a:t>
            </a:r>
            <a:r>
              <a:rPr lang="en-US" altLang="zh-CN" dirty="0"/>
              <a:t>x0 </a:t>
            </a:r>
            <a:r>
              <a:rPr lang="zh-CN" altLang="en-US" dirty="0"/>
              <a:t>处连续并不保证它在 </a:t>
            </a:r>
            <a:r>
              <a:rPr lang="en-US" altLang="zh-CN" dirty="0"/>
              <a:t>x0 </a:t>
            </a:r>
            <a:r>
              <a:rPr lang="zh-CN" altLang="en-US" dirty="0"/>
              <a:t>处可微。</a:t>
            </a:r>
          </a:p>
          <a:p>
            <a:pPr algn="just" eaLnBrk="1" hangingPunct="1">
              <a:lnSpc>
                <a:spcPct val="110000"/>
              </a:lnSpc>
              <a:spcBef>
                <a:spcPct val="60000"/>
              </a:spcBef>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2010174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Times New Roman" panose="02020603050405020304" pitchFamily="18" charset="0"/>
                <a:ea typeface="宋体" panose="02010600030101010101" pitchFamily="2" charset="-122"/>
              </a:rPr>
              <a:t>基本复合命题的真值</a:t>
            </a:r>
          </a:p>
          <a:p>
            <a:pPr eaLnBrk="1" hangingPunct="1">
              <a:spcBef>
                <a:spcPct val="50000"/>
              </a:spcBef>
              <a:buFontTx/>
              <a:buNone/>
            </a:pPr>
            <a:r>
              <a:rPr lang="zh-CN" altLang="en-US" sz="1200" b="1" dirty="0">
                <a:latin typeface="宋体" panose="02010600030101010101" pitchFamily="2" charset="-122"/>
              </a:rPr>
              <a:t>联结词优先级:( ),</a:t>
            </a:r>
            <a:r>
              <a:rPr lang="zh-CN" altLang="en-US" sz="1200" b="1" dirty="0">
                <a:sym typeface="Symbol" panose="05050102010706020507" pitchFamily="18" charset="2"/>
              </a:rPr>
              <a:t></a:t>
            </a:r>
            <a:r>
              <a:rPr lang="zh-CN" altLang="en-US" sz="1200" b="1" dirty="0"/>
              <a:t>, </a:t>
            </a:r>
            <a:r>
              <a:rPr lang="zh-CN" altLang="en-US" sz="1200" b="1" dirty="0">
                <a:sym typeface="Symbol" panose="05050102010706020507" pitchFamily="18" charset="2"/>
              </a:rPr>
              <a:t></a:t>
            </a:r>
            <a:r>
              <a:rPr lang="zh-CN" altLang="en-US" sz="1200" b="1" dirty="0"/>
              <a:t>, </a:t>
            </a:r>
            <a:r>
              <a:rPr lang="zh-CN" altLang="en-US" sz="1200" b="1" dirty="0">
                <a:sym typeface="Symbol" panose="05050102010706020507" pitchFamily="18" charset="2"/>
              </a:rPr>
              <a:t></a:t>
            </a:r>
            <a:r>
              <a:rPr lang="zh-CN" altLang="en-US" sz="1200" b="1" dirty="0"/>
              <a:t>, </a:t>
            </a:r>
            <a:r>
              <a:rPr lang="zh-CN" altLang="en-US" sz="1200" b="1" dirty="0">
                <a:sym typeface="Symbol" panose="05050102010706020507" pitchFamily="18" charset="2"/>
              </a:rPr>
              <a:t></a:t>
            </a:r>
            <a:r>
              <a:rPr lang="zh-CN" altLang="en-US" sz="1200" b="1" dirty="0"/>
              <a:t>, </a:t>
            </a:r>
            <a:r>
              <a:rPr lang="zh-CN" altLang="en-US" sz="1200" b="1" dirty="0">
                <a:sym typeface="Symbol" panose="05050102010706020507" pitchFamily="18" charset="2"/>
              </a:rPr>
              <a:t></a:t>
            </a:r>
          </a:p>
          <a:p>
            <a:pPr eaLnBrk="1" hangingPunct="1">
              <a:spcBef>
                <a:spcPct val="50000"/>
              </a:spcBef>
              <a:buFontTx/>
              <a:buNone/>
            </a:pPr>
            <a:r>
              <a:rPr lang="zh-CN" altLang="en-US" sz="1200" b="1" dirty="0">
                <a:latin typeface="宋体" panose="02010600030101010101" pitchFamily="2" charset="-122"/>
              </a:rPr>
              <a:t>同级按从左到右的顺序进行</a:t>
            </a:r>
          </a:p>
          <a:p>
            <a:r>
              <a:rPr lang="en-US" altLang="zh-CN" b="1" i="0" dirty="0">
                <a:solidFill>
                  <a:srgbClr val="0C0D0E"/>
                </a:solidFill>
                <a:effectLst/>
                <a:latin typeface="-apple-system"/>
              </a:rPr>
              <a:t>Precedence of Logical Connectives:</a:t>
            </a:r>
            <a:br>
              <a:rPr lang="en-US" altLang="zh-CN" dirty="0"/>
            </a:br>
            <a:r>
              <a:rPr lang="en-US" altLang="zh-CN" b="0" i="0" dirty="0">
                <a:solidFill>
                  <a:srgbClr val="0C0D0E"/>
                </a:solidFill>
                <a:effectLst/>
                <a:latin typeface="-apple-system"/>
              </a:rPr>
              <a:t>Parentheses (), Negation (¬), Conjunction (∧), Disjunction (∨), Implication (→), Biconditional (↔).</a:t>
            </a:r>
            <a:br>
              <a:rPr lang="en-US" altLang="zh-CN" dirty="0"/>
            </a:br>
            <a:r>
              <a:rPr lang="en-US" altLang="zh-CN" b="1" i="0" dirty="0">
                <a:solidFill>
                  <a:srgbClr val="0C0D0E"/>
                </a:solidFill>
                <a:effectLst/>
                <a:latin typeface="-apple-system"/>
              </a:rPr>
              <a:t>Same Level:</a:t>
            </a:r>
            <a:r>
              <a:rPr lang="en-US" altLang="zh-CN" b="0" i="0" dirty="0">
                <a:solidFill>
                  <a:srgbClr val="0C0D0E"/>
                </a:solidFill>
                <a:effectLst/>
                <a:latin typeface="-apple-system"/>
              </a:rPr>
              <a:t> Evaluated from left to right.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4075975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Tx/>
              <a:buNone/>
            </a:pPr>
            <a:endParaRPr lang="en-US" altLang="zh-CN" sz="1200" b="1" dirty="0">
              <a:solidFill>
                <a:srgbClr val="FF0000"/>
              </a:solidFill>
              <a:latin typeface="宋体" panose="02010600030101010101" pitchFamily="2" charset="-122"/>
            </a:endParaRPr>
          </a:p>
          <a:p>
            <a:pPr algn="just" eaLnBrk="1" hangingPunct="1">
              <a:lnSpc>
                <a:spcPct val="90000"/>
              </a:lnSpc>
              <a:buFontTx/>
              <a:buNone/>
            </a:pPr>
            <a:r>
              <a:rPr lang="zh-CN" altLang="en-US" sz="1200" b="1" dirty="0">
                <a:solidFill>
                  <a:srgbClr val="FF0000"/>
                </a:solidFill>
                <a:latin typeface="宋体" panose="02010600030101010101" pitchFamily="2" charset="-122"/>
              </a:rPr>
              <a:t>命题常</a:t>
            </a:r>
            <a:r>
              <a:rPr lang="zh-CN" altLang="en-US" sz="1200" b="1" dirty="0">
                <a:solidFill>
                  <a:srgbClr val="FF0000"/>
                </a:solidFill>
              </a:rPr>
              <a:t>项</a:t>
            </a:r>
            <a:r>
              <a:rPr lang="zh-CN" altLang="en-US" sz="1200" b="1" dirty="0"/>
              <a:t>: 简单命题       </a:t>
            </a:r>
            <a:r>
              <a:rPr lang="zh-CN" altLang="en-US" sz="1200" b="1" dirty="0">
                <a:solidFill>
                  <a:srgbClr val="FF0000"/>
                </a:solidFill>
              </a:rPr>
              <a:t>命题变项</a:t>
            </a:r>
            <a:r>
              <a:rPr lang="zh-CN" altLang="en-US" sz="1200" b="1" dirty="0"/>
              <a:t>: 取值</a:t>
            </a:r>
            <a:r>
              <a:rPr lang="en-US" altLang="zh-CN" sz="1200" b="1" dirty="0"/>
              <a:t>0(</a:t>
            </a:r>
            <a:r>
              <a:rPr lang="zh-CN" altLang="en-US" sz="1200" b="1" dirty="0"/>
              <a:t>真</a:t>
            </a:r>
            <a:r>
              <a:rPr lang="en-US" altLang="zh-CN" sz="1200" b="1" dirty="0"/>
              <a:t>)</a:t>
            </a:r>
            <a:r>
              <a:rPr lang="zh-CN" altLang="en-US" sz="1200" b="1" dirty="0"/>
              <a:t>或</a:t>
            </a:r>
            <a:r>
              <a:rPr lang="en-US" altLang="zh-CN" sz="1200" b="1" dirty="0"/>
              <a:t>1(</a:t>
            </a:r>
            <a:r>
              <a:rPr lang="zh-CN" altLang="en-US" sz="1200" b="1" dirty="0"/>
              <a:t>假</a:t>
            </a:r>
            <a:r>
              <a:rPr lang="en-US" altLang="zh-CN" sz="1200" b="1" dirty="0"/>
              <a:t>)</a:t>
            </a:r>
            <a:r>
              <a:rPr lang="zh-CN" altLang="en-US" sz="1200" b="1" dirty="0"/>
              <a:t>的变元</a:t>
            </a:r>
          </a:p>
          <a:p>
            <a:pPr algn="just" eaLnBrk="1" hangingPunct="1">
              <a:lnSpc>
                <a:spcPct val="90000"/>
              </a:lnSpc>
              <a:spcBef>
                <a:spcPct val="60000"/>
              </a:spcBef>
              <a:buFontTx/>
              <a:buNone/>
            </a:pPr>
            <a:r>
              <a:rPr lang="zh-CN" altLang="en-US" sz="1200" b="1" dirty="0">
                <a:solidFill>
                  <a:srgbClr val="FF0000"/>
                </a:solidFill>
              </a:rPr>
              <a:t>定义2.6</a:t>
            </a:r>
            <a:r>
              <a:rPr lang="zh-CN" altLang="en-US" sz="1200" b="1" dirty="0"/>
              <a:t> </a:t>
            </a:r>
            <a:r>
              <a:rPr lang="zh-CN" altLang="en-US" sz="1200" b="1" dirty="0">
                <a:solidFill>
                  <a:srgbClr val="FF0000"/>
                </a:solidFill>
              </a:rPr>
              <a:t>合式公式 (命题公式, 公式) </a:t>
            </a:r>
            <a:r>
              <a:rPr lang="zh-CN" altLang="en-US" sz="1200" b="1" dirty="0"/>
              <a:t>递归定义如下：</a:t>
            </a:r>
          </a:p>
          <a:p>
            <a:pPr algn="just" eaLnBrk="1" hangingPunct="1">
              <a:lnSpc>
                <a:spcPct val="90000"/>
              </a:lnSpc>
              <a:buFontTx/>
              <a:buNone/>
            </a:pPr>
            <a:r>
              <a:rPr lang="zh-CN" altLang="en-US" sz="1200" b="1" dirty="0"/>
              <a:t>(1) 单个命题常项或变项</a:t>
            </a:r>
            <a:r>
              <a:rPr lang="zh-CN" altLang="en-US" sz="1200" b="1" dirty="0">
                <a:latin typeface="宋体" panose="02010600030101010101" pitchFamily="2" charset="-122"/>
              </a:rPr>
              <a:t>是</a:t>
            </a:r>
            <a:r>
              <a:rPr lang="zh-CN" altLang="en-US" sz="1200" b="1" dirty="0"/>
              <a:t>合式公式,并称作</a:t>
            </a:r>
            <a:r>
              <a:rPr lang="zh-CN" altLang="en-US" sz="1200" b="1" dirty="0">
                <a:solidFill>
                  <a:srgbClr val="FF0000"/>
                </a:solidFill>
              </a:rPr>
              <a:t>原子合式公式</a:t>
            </a:r>
          </a:p>
          <a:p>
            <a:pPr algn="just" eaLnBrk="1" hangingPunct="1">
              <a:lnSpc>
                <a:spcPct val="90000"/>
              </a:lnSpc>
              <a:buFontTx/>
              <a:buNone/>
            </a:pPr>
            <a:r>
              <a:rPr lang="zh-CN" altLang="en-US" sz="1200" b="1" dirty="0"/>
              <a:t>(2) 若</a:t>
            </a:r>
            <a:r>
              <a:rPr lang="en-US" altLang="zh-CN" sz="1200" b="1" i="1" dirty="0"/>
              <a:t>A</a:t>
            </a:r>
            <a:r>
              <a:rPr lang="zh-CN" altLang="en-US" sz="1200" b="1" dirty="0"/>
              <a:t>是合式公式, 则 (</a:t>
            </a:r>
            <a:r>
              <a:rPr lang="zh-CN" altLang="en-US" sz="1200" b="1" dirty="0">
                <a:sym typeface="Symbol" panose="05050102010706020507" pitchFamily="18" charset="2"/>
              </a:rPr>
              <a:t></a:t>
            </a:r>
            <a:r>
              <a:rPr lang="en-US" altLang="zh-CN" sz="1200" b="1" i="1" dirty="0"/>
              <a:t>A</a:t>
            </a:r>
            <a:r>
              <a:rPr lang="en-US" altLang="zh-CN" sz="1200" b="1" dirty="0"/>
              <a:t>)</a:t>
            </a:r>
            <a:r>
              <a:rPr lang="zh-CN" altLang="en-US" sz="1200" b="1" dirty="0"/>
              <a:t>也是合式公式</a:t>
            </a:r>
          </a:p>
          <a:p>
            <a:pPr algn="just" eaLnBrk="1" hangingPunct="1">
              <a:lnSpc>
                <a:spcPct val="90000"/>
              </a:lnSpc>
              <a:buFontTx/>
              <a:buNone/>
            </a:pPr>
            <a:r>
              <a:rPr lang="zh-CN" altLang="en-US" sz="1200" b="1" dirty="0"/>
              <a:t>(3) 若</a:t>
            </a:r>
            <a:r>
              <a:rPr lang="en-US" altLang="zh-CN" sz="1200" b="1" i="1" dirty="0"/>
              <a:t>A</a:t>
            </a:r>
            <a:r>
              <a:rPr lang="en-US" altLang="zh-CN" sz="1200" b="1" dirty="0"/>
              <a:t>, </a:t>
            </a:r>
            <a:r>
              <a:rPr lang="en-US" altLang="zh-CN" sz="1200" b="1" i="1" dirty="0"/>
              <a:t>B</a:t>
            </a:r>
            <a:r>
              <a:rPr lang="zh-CN" altLang="en-US" sz="1200" b="1" dirty="0"/>
              <a:t>是合式公式, 则(</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a:t>
            </a:r>
            <a:r>
              <a:rPr lang="zh-CN" altLang="en-US" sz="1200" b="1" dirty="0"/>
              <a:t>也</a:t>
            </a:r>
          </a:p>
          <a:p>
            <a:pPr algn="just" eaLnBrk="1" hangingPunct="1">
              <a:lnSpc>
                <a:spcPct val="90000"/>
              </a:lnSpc>
              <a:buFontTx/>
              <a:buNone/>
            </a:pPr>
            <a:r>
              <a:rPr lang="zh-CN" altLang="en-US" sz="1200" b="1" dirty="0"/>
              <a:t>      是合式公式</a:t>
            </a:r>
          </a:p>
          <a:p>
            <a:pPr algn="just" eaLnBrk="1" hangingPunct="1">
              <a:lnSpc>
                <a:spcPct val="90000"/>
              </a:lnSpc>
              <a:buFontTx/>
              <a:buNone/>
            </a:pPr>
            <a:r>
              <a:rPr lang="zh-CN" altLang="en-US" sz="1200" b="1" dirty="0"/>
              <a:t>(4) 只有有限次地应用(1)~(3)形成的符号串才是合式公式</a:t>
            </a:r>
          </a:p>
          <a:p>
            <a:pPr algn="just" eaLnBrk="1" hangingPunct="1">
              <a:lnSpc>
                <a:spcPct val="90000"/>
              </a:lnSpc>
              <a:spcBef>
                <a:spcPct val="60000"/>
              </a:spcBef>
              <a:buFontTx/>
              <a:buNone/>
            </a:pPr>
            <a:r>
              <a:rPr lang="zh-CN" altLang="en-US" sz="1200" b="1" dirty="0"/>
              <a:t>说明:(1) 元语言符号与对象语言符号</a:t>
            </a:r>
          </a:p>
          <a:p>
            <a:pPr algn="just" eaLnBrk="1" hangingPunct="1">
              <a:lnSpc>
                <a:spcPct val="90000"/>
              </a:lnSpc>
              <a:buFontTx/>
              <a:buNone/>
            </a:pPr>
            <a:r>
              <a:rPr lang="zh-CN" altLang="en-US" sz="1200" b="1" dirty="0"/>
              <a:t>         (2) 在不影响运算顺序时, </a:t>
            </a:r>
            <a:r>
              <a:rPr lang="zh-CN" altLang="en-US" sz="1200" b="1" dirty="0">
                <a:latin typeface="宋体" panose="02010600030101010101" pitchFamily="2" charset="-122"/>
              </a:rPr>
              <a:t>括号可以省去</a:t>
            </a:r>
            <a:r>
              <a:rPr lang="zh-CN" altLang="en-US" sz="1200" b="1" dirty="0"/>
              <a:t> </a:t>
            </a:r>
          </a:p>
          <a:p>
            <a:pPr algn="just" eaLnBrk="1" hangingPunct="1">
              <a:lnSpc>
                <a:spcPct val="90000"/>
              </a:lnSpc>
              <a:spcBef>
                <a:spcPct val="60000"/>
              </a:spcBef>
              <a:buFontTx/>
              <a:buNone/>
            </a:pPr>
            <a:r>
              <a:rPr lang="zh-CN" altLang="en-US" sz="1200" b="1" dirty="0">
                <a:solidFill>
                  <a:srgbClr val="00B0F0"/>
                </a:solidFill>
              </a:rPr>
              <a:t>例：</a:t>
            </a:r>
            <a:r>
              <a:rPr lang="zh-CN" altLang="en-US" sz="1200" b="1" dirty="0">
                <a:solidFill>
                  <a:srgbClr val="000066"/>
                </a:solidFill>
              </a:rPr>
              <a:t>  0, </a:t>
            </a:r>
            <a:r>
              <a:rPr lang="en-US" altLang="zh-CN" sz="1200" b="1" i="1" dirty="0">
                <a:solidFill>
                  <a:srgbClr val="000066"/>
                </a:solidFill>
              </a:rPr>
              <a:t>p, </a:t>
            </a:r>
            <a:r>
              <a:rPr lang="zh-CN" altLang="en-US" sz="1200" b="1" dirty="0">
                <a:solidFill>
                  <a:srgbClr val="000066"/>
                </a:solidFill>
                <a:sym typeface="Symbol" panose="05050102010706020507" pitchFamily="18" charset="2"/>
              </a:rPr>
              <a:t></a:t>
            </a:r>
            <a:r>
              <a:rPr lang="en-US" altLang="zh-CN" sz="1200" b="1" i="1" dirty="0" err="1">
                <a:solidFill>
                  <a:srgbClr val="000066"/>
                </a:solidFill>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rPr>
              <a:t>q</a:t>
            </a:r>
            <a:r>
              <a:rPr lang="en-US" altLang="zh-CN" sz="1200" b="1" i="1" dirty="0">
                <a:solidFill>
                  <a:srgbClr val="000066"/>
                </a:solidFill>
              </a:rPr>
              <a:t>, </a:t>
            </a:r>
            <a:r>
              <a:rPr lang="en-US" altLang="zh-CN" sz="1200" b="1" dirty="0">
                <a:solidFill>
                  <a:srgbClr val="000066"/>
                </a:solidFill>
              </a:rPr>
              <a:t>(</a:t>
            </a:r>
            <a:r>
              <a:rPr lang="en-US" altLang="zh-CN" sz="1200" b="1" i="1" dirty="0" err="1">
                <a:solidFill>
                  <a:srgbClr val="000066"/>
                </a:solidFill>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rPr>
              <a:t>q</a:t>
            </a:r>
            <a:r>
              <a:rPr lang="en-US" altLang="zh-CN" sz="1200" b="1" dirty="0">
                <a:solidFill>
                  <a:srgbClr val="000066"/>
                </a:solidFill>
              </a:rPr>
              <a:t>)</a:t>
            </a:r>
            <a:r>
              <a:rPr lang="en-US" altLang="zh-CN" sz="1200" b="1" dirty="0">
                <a:solidFill>
                  <a:srgbClr val="000066"/>
                </a:solidFill>
                <a:sym typeface="Symbol" panose="05050102010706020507" pitchFamily="18" charset="2"/>
              </a:rPr>
              <a:t></a:t>
            </a:r>
            <a:r>
              <a:rPr lang="en-US" altLang="zh-CN" sz="1200" b="1" dirty="0">
                <a:solidFill>
                  <a:srgbClr val="000066"/>
                </a:solidFill>
              </a:rPr>
              <a:t>(</a:t>
            </a:r>
            <a:r>
              <a:rPr lang="zh-CN" altLang="en-US" sz="1200" b="1" dirty="0">
                <a:solidFill>
                  <a:srgbClr val="000066"/>
                </a:solidFill>
                <a:sym typeface="Symbol" panose="05050102010706020507" pitchFamily="18" charset="2"/>
              </a:rPr>
              <a:t></a:t>
            </a:r>
            <a:r>
              <a:rPr lang="en-US" altLang="zh-CN" sz="1200" b="1" i="1" dirty="0" err="1">
                <a:solidFill>
                  <a:srgbClr val="000066"/>
                </a:solidFill>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rPr>
              <a:t>r</a:t>
            </a:r>
            <a:r>
              <a:rPr lang="en-US" altLang="zh-CN" sz="1200" b="1" dirty="0">
                <a:solidFill>
                  <a:srgbClr val="000066"/>
                </a:solidFill>
              </a:rPr>
              <a:t>),</a:t>
            </a:r>
            <a:r>
              <a:rPr lang="en-US" altLang="zh-CN" sz="1200" b="1" i="1" dirty="0">
                <a:solidFill>
                  <a:srgbClr val="000066"/>
                </a:solidFill>
              </a:rPr>
              <a:t> </a:t>
            </a:r>
            <a:r>
              <a:rPr lang="en-US" altLang="zh-CN" sz="1200" b="1" i="1" dirty="0" err="1">
                <a:solidFill>
                  <a:srgbClr val="000066"/>
                </a:solidFill>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rPr>
              <a:t>q</a:t>
            </a:r>
            <a:r>
              <a:rPr lang="en-US" altLang="zh-CN" sz="1200" b="1" i="1" dirty="0">
                <a:solidFill>
                  <a:srgbClr val="000066"/>
                </a:solidFill>
              </a:rPr>
              <a:t> </a:t>
            </a:r>
            <a:r>
              <a:rPr lang="en-US" altLang="zh-CN" sz="1200" b="1" dirty="0">
                <a:solidFill>
                  <a:srgbClr val="000066"/>
                </a:solidFill>
                <a:sym typeface="Symbol" panose="05050102010706020507" pitchFamily="18" charset="2"/>
              </a:rPr>
              <a:t></a:t>
            </a:r>
            <a:r>
              <a:rPr lang="en-US" altLang="zh-CN" sz="1200" b="1" i="1" dirty="0">
                <a:solidFill>
                  <a:srgbClr val="000066"/>
                </a:solidFill>
              </a:rPr>
              <a:t>r, </a:t>
            </a:r>
            <a:r>
              <a:rPr lang="en-US" altLang="zh-CN" sz="1200" b="1" dirty="0">
                <a:solidFill>
                  <a:srgbClr val="000066"/>
                </a:solidFill>
              </a:rPr>
              <a:t>(</a:t>
            </a:r>
            <a:r>
              <a:rPr lang="en-US" altLang="zh-CN" sz="1200" b="1" i="1" dirty="0" err="1">
                <a:solidFill>
                  <a:srgbClr val="000066"/>
                </a:solidFill>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rPr>
              <a:t>q</a:t>
            </a:r>
            <a:r>
              <a:rPr lang="en-US" altLang="zh-CN" sz="1200" b="1" dirty="0">
                <a:solidFill>
                  <a:srgbClr val="000066"/>
                </a:solidFill>
              </a:rPr>
              <a:t>)</a:t>
            </a:r>
            <a:r>
              <a:rPr lang="en-US" altLang="zh-CN" sz="1200" b="1" dirty="0">
                <a:solidFill>
                  <a:srgbClr val="000066"/>
                </a:solidFill>
                <a:sym typeface="Symbol" panose="05050102010706020507" pitchFamily="18" charset="2"/>
              </a:rPr>
              <a:t></a:t>
            </a:r>
            <a:r>
              <a:rPr lang="en-US" altLang="zh-CN" sz="1200" b="1" i="1" dirty="0">
                <a:solidFill>
                  <a:srgbClr val="000066"/>
                </a:solidFill>
              </a:rPr>
              <a:t>r</a:t>
            </a:r>
            <a:endParaRPr lang="zh-CN" altLang="en-US" sz="1200" b="1" i="1" dirty="0">
              <a:solidFill>
                <a:srgbClr val="000066"/>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22411787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Tx/>
              <a:buNone/>
            </a:pPr>
            <a:r>
              <a:rPr lang="zh-CN" altLang="en-US" sz="1200" b="1" dirty="0"/>
              <a:t>(1) 单个命题变项或命题常项是0层公式</a:t>
            </a:r>
          </a:p>
          <a:p>
            <a:pPr algn="just" eaLnBrk="1" hangingPunct="1">
              <a:lnSpc>
                <a:spcPct val="90000"/>
              </a:lnSpc>
              <a:buFontTx/>
              <a:buNone/>
            </a:pPr>
            <a:r>
              <a:rPr lang="zh-CN" altLang="en-US" sz="1200" b="1" dirty="0"/>
              <a:t>(2) 称</a:t>
            </a:r>
            <a:r>
              <a:rPr lang="en-US" altLang="zh-CN" sz="1200" b="1" i="1" dirty="0"/>
              <a:t>A</a:t>
            </a:r>
            <a:r>
              <a:rPr lang="zh-CN" altLang="en-US" sz="1200" b="1" dirty="0"/>
              <a:t>是</a:t>
            </a:r>
            <a:r>
              <a:rPr lang="en-US" altLang="zh-CN" sz="1200" b="1" i="1" dirty="0"/>
              <a:t>n</a:t>
            </a:r>
            <a:r>
              <a:rPr lang="en-US" altLang="zh-CN" sz="1200" b="1" dirty="0"/>
              <a:t>+1(</a:t>
            </a:r>
            <a:r>
              <a:rPr lang="en-US" altLang="zh-CN" sz="1200" b="1" i="1" dirty="0"/>
              <a:t>n</a:t>
            </a:r>
            <a:r>
              <a:rPr lang="en-US" altLang="zh-CN" sz="1200" b="1" dirty="0"/>
              <a:t>≥0)</a:t>
            </a:r>
            <a:r>
              <a:rPr lang="zh-CN" altLang="en-US" sz="1200" b="1" dirty="0"/>
              <a:t>层公式是指下面情况之一：</a:t>
            </a:r>
          </a:p>
          <a:p>
            <a:pPr algn="just" eaLnBrk="1" hangingPunct="1">
              <a:lnSpc>
                <a:spcPct val="90000"/>
              </a:lnSpc>
              <a:buFontTx/>
              <a:buNone/>
            </a:pPr>
            <a:r>
              <a:rPr lang="zh-CN" altLang="en-US" sz="1200" b="1" dirty="0"/>
              <a:t>(</a:t>
            </a:r>
            <a:r>
              <a:rPr lang="en-US" altLang="zh-CN" sz="1200" b="1" i="1" dirty="0"/>
              <a:t>a</a:t>
            </a:r>
            <a:r>
              <a:rPr lang="en-US" altLang="zh-CN" sz="1200" b="1" dirty="0"/>
              <a:t>) </a:t>
            </a:r>
            <a:r>
              <a:rPr lang="en-US" altLang="zh-CN" sz="1200" b="1" i="1" dirty="0"/>
              <a:t>A</a:t>
            </a:r>
            <a:r>
              <a:rPr lang="en-US" altLang="zh-CN" sz="1200" b="1" dirty="0"/>
              <a:t>=</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B</a:t>
            </a:r>
            <a:r>
              <a:rPr lang="zh-CN" altLang="en-US" sz="1200" b="1" dirty="0"/>
              <a:t>是</a:t>
            </a:r>
            <a:r>
              <a:rPr lang="en-US" altLang="zh-CN" sz="1200" b="1" i="1" dirty="0"/>
              <a:t>n</a:t>
            </a:r>
            <a:r>
              <a:rPr lang="zh-CN" altLang="en-US" sz="1200" b="1" dirty="0"/>
              <a:t>层公式</a:t>
            </a:r>
          </a:p>
          <a:p>
            <a:pPr algn="just" eaLnBrk="1" hangingPunct="1">
              <a:lnSpc>
                <a:spcPct val="90000"/>
              </a:lnSpc>
              <a:buFontTx/>
              <a:buNone/>
            </a:pPr>
            <a:r>
              <a:rPr lang="zh-CN" altLang="en-US" sz="1200" b="1" dirty="0"/>
              <a:t>(</a:t>
            </a:r>
            <a:r>
              <a:rPr lang="en-US" altLang="zh-CN" sz="1200" b="1" i="1" dirty="0"/>
              <a:t>b</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分别为</a:t>
            </a:r>
            <a:r>
              <a:rPr lang="en-US" altLang="zh-CN" sz="1200" b="1" i="1" dirty="0" err="1"/>
              <a:t>i</a:t>
            </a:r>
            <a:r>
              <a:rPr lang="zh-CN" altLang="en-US" sz="1200" b="1" dirty="0"/>
              <a:t>层和</a:t>
            </a:r>
            <a:r>
              <a:rPr lang="en-US" altLang="zh-CN" sz="1200" b="1" i="1" dirty="0"/>
              <a:t>j</a:t>
            </a:r>
            <a:r>
              <a:rPr lang="zh-CN" altLang="en-US" sz="1200" b="1" dirty="0"/>
              <a:t>层公式, 且</a:t>
            </a:r>
            <a:r>
              <a:rPr lang="zh-CN" altLang="en-US" sz="1200" b="1" i="1" dirty="0"/>
              <a:t> </a:t>
            </a:r>
            <a:r>
              <a:rPr lang="en-US" altLang="zh-CN" sz="1200" b="1" i="1" dirty="0"/>
              <a:t>n</a:t>
            </a:r>
            <a:r>
              <a:rPr lang="en-US" altLang="zh-CN" sz="1200" b="1" dirty="0"/>
              <a:t>=max(</a:t>
            </a:r>
            <a:r>
              <a:rPr lang="en-US" altLang="zh-CN" sz="1200" b="1" i="1" dirty="0" err="1"/>
              <a:t>i</a:t>
            </a:r>
            <a:r>
              <a:rPr lang="en-US" altLang="zh-CN" sz="1200" b="1" dirty="0"/>
              <a:t>, </a:t>
            </a:r>
            <a:r>
              <a:rPr lang="en-US" altLang="zh-CN" sz="1200" b="1" i="1" dirty="0"/>
              <a:t>j</a:t>
            </a:r>
            <a:r>
              <a:rPr lang="en-US" altLang="zh-CN" sz="1200" b="1" dirty="0"/>
              <a:t>)</a:t>
            </a:r>
          </a:p>
          <a:p>
            <a:pPr algn="just" eaLnBrk="1" hangingPunct="1">
              <a:lnSpc>
                <a:spcPct val="90000"/>
              </a:lnSpc>
              <a:buFontTx/>
              <a:buNone/>
            </a:pPr>
            <a:r>
              <a:rPr lang="en-US" altLang="zh-CN" sz="1200" b="1" dirty="0"/>
              <a:t>(</a:t>
            </a:r>
            <a:r>
              <a:rPr lang="en-US" altLang="zh-CN" sz="1200" b="1" i="1" dirty="0"/>
              <a:t>c</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的层次及</a:t>
            </a:r>
            <a:r>
              <a:rPr lang="en-US" altLang="zh-CN" sz="1200" b="1" i="1" dirty="0"/>
              <a:t>n</a:t>
            </a:r>
            <a:r>
              <a:rPr lang="zh-CN" altLang="en-US" sz="1200" b="1" dirty="0"/>
              <a:t>同(</a:t>
            </a:r>
            <a:r>
              <a:rPr lang="en-US" altLang="zh-CN" sz="1200" b="1" i="1" dirty="0"/>
              <a:t>b</a:t>
            </a:r>
            <a:r>
              <a:rPr lang="en-US" altLang="zh-CN" sz="1200" b="1" dirty="0"/>
              <a:t>)</a:t>
            </a:r>
          </a:p>
          <a:p>
            <a:pPr algn="just" eaLnBrk="1" hangingPunct="1">
              <a:lnSpc>
                <a:spcPct val="90000"/>
              </a:lnSpc>
              <a:buFontTx/>
              <a:buNone/>
            </a:pPr>
            <a:r>
              <a:rPr lang="en-US" altLang="zh-CN" sz="1200" b="1" dirty="0"/>
              <a:t>(</a:t>
            </a:r>
            <a:r>
              <a:rPr lang="en-US" altLang="zh-CN" sz="1200" b="1" i="1" dirty="0"/>
              <a:t>d</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的层次及</a:t>
            </a:r>
            <a:r>
              <a:rPr lang="en-US" altLang="zh-CN" sz="1200" b="1" i="1" dirty="0"/>
              <a:t>n</a:t>
            </a:r>
            <a:r>
              <a:rPr lang="zh-CN" altLang="en-US" sz="1200" b="1" dirty="0"/>
              <a:t>同(</a:t>
            </a:r>
            <a:r>
              <a:rPr lang="en-US" altLang="zh-CN" sz="1200" b="1" i="1" dirty="0"/>
              <a:t>b</a:t>
            </a:r>
            <a:r>
              <a:rPr lang="en-US" altLang="zh-CN" sz="1200" b="1" dirty="0"/>
              <a:t>)</a:t>
            </a:r>
          </a:p>
          <a:p>
            <a:pPr algn="just" eaLnBrk="1" hangingPunct="1">
              <a:lnSpc>
                <a:spcPct val="90000"/>
              </a:lnSpc>
              <a:buFontTx/>
              <a:buNone/>
            </a:pPr>
            <a:r>
              <a:rPr lang="en-US" altLang="zh-CN" sz="1200" b="1" dirty="0"/>
              <a:t>(</a:t>
            </a:r>
            <a:r>
              <a:rPr lang="en-US" altLang="zh-CN" sz="1200" b="1" i="1" dirty="0"/>
              <a:t>e</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的层次及</a:t>
            </a:r>
            <a:r>
              <a:rPr lang="en-US" altLang="zh-CN" sz="1200" b="1" i="1" dirty="0"/>
              <a:t>n</a:t>
            </a:r>
            <a:r>
              <a:rPr lang="zh-CN" altLang="en-US" sz="1200" b="1" dirty="0"/>
              <a:t>同(</a:t>
            </a:r>
            <a:r>
              <a:rPr lang="en-US" altLang="zh-CN" sz="1200" b="1" i="1" dirty="0"/>
              <a:t>b</a:t>
            </a:r>
            <a:r>
              <a:rPr lang="en-US" altLang="zh-CN" sz="1200" b="1" dirty="0"/>
              <a:t>)</a:t>
            </a:r>
          </a:p>
          <a:p>
            <a:pPr eaLnBrk="1" hangingPunct="1">
              <a:lnSpc>
                <a:spcPct val="90000"/>
              </a:lnSpc>
              <a:buFontTx/>
              <a:buNone/>
            </a:pPr>
            <a:endParaRPr lang="zh-CN" altLang="en-US" sz="1200" b="1" dirty="0"/>
          </a:p>
          <a:p>
            <a:pPr>
              <a:buNone/>
            </a:pPr>
            <a:r>
              <a:rPr lang="zh-CN" altLang="en-US" sz="1200" b="1" dirty="0">
                <a:solidFill>
                  <a:srgbClr val="00B0F0"/>
                </a:solidFill>
              </a:rPr>
              <a:t>例：</a:t>
            </a:r>
            <a:r>
              <a:rPr lang="zh-CN" altLang="en-US" sz="1200" b="1" dirty="0"/>
              <a:t>命题公式</a:t>
            </a:r>
            <a:r>
              <a:rPr lang="en-US" altLang="zh-CN" sz="1200" b="1" dirty="0"/>
              <a:t>p  </a:t>
            </a:r>
            <a:r>
              <a:rPr lang="zh-CN" altLang="en-US" sz="1200" b="1" dirty="0"/>
              <a:t>、</a:t>
            </a:r>
            <a:r>
              <a:rPr lang="zh-CN" altLang="en-US" b="1" dirty="0">
                <a:sym typeface="Symbol" panose="05050102010706020507" pitchFamily="18" charset="2"/>
              </a:rPr>
              <a:t></a:t>
            </a:r>
            <a:r>
              <a:rPr lang="en-US" altLang="zh-CN" b="1" dirty="0"/>
              <a:t>p </a:t>
            </a:r>
            <a:r>
              <a:rPr lang="zh-CN" altLang="en-US" b="1" dirty="0"/>
              <a:t>、 </a:t>
            </a:r>
            <a:r>
              <a:rPr lang="zh-CN" altLang="en-US" b="1" dirty="0">
                <a:sym typeface="Symbol" panose="05050102010706020507" pitchFamily="18" charset="2"/>
              </a:rPr>
              <a:t></a:t>
            </a:r>
            <a:r>
              <a:rPr lang="en-US" altLang="zh-CN" b="1" dirty="0" err="1"/>
              <a:t>p</a:t>
            </a:r>
            <a:r>
              <a:rPr lang="en-US" altLang="zh-CN" b="1" dirty="0" err="1">
                <a:sym typeface="Symbol" panose="05050102010706020507" pitchFamily="18" charset="2"/>
              </a:rPr>
              <a:t></a:t>
            </a:r>
            <a:r>
              <a:rPr lang="en-US" altLang="zh-CN" b="1" dirty="0" err="1"/>
              <a:t>q</a:t>
            </a:r>
            <a:r>
              <a:rPr lang="en-US" altLang="zh-CN" b="1" dirty="0"/>
              <a:t> </a:t>
            </a:r>
            <a:r>
              <a:rPr lang="zh-CN" altLang="en-US" b="1" dirty="0"/>
              <a:t>、</a:t>
            </a:r>
            <a:r>
              <a:rPr lang="zh-CN" altLang="en-US" b="1" dirty="0">
                <a:sym typeface="Symbol" panose="05050102010706020507" pitchFamily="18" charset="2"/>
              </a:rPr>
              <a:t></a:t>
            </a:r>
            <a:r>
              <a:rPr lang="zh-CN" altLang="en-US" b="1" dirty="0"/>
              <a:t>(</a:t>
            </a:r>
            <a:r>
              <a:rPr lang="en-US" altLang="zh-CN" b="1" dirty="0" err="1"/>
              <a:t>p</a:t>
            </a:r>
            <a:r>
              <a:rPr lang="en-US" altLang="zh-CN" b="1" dirty="0" err="1">
                <a:sym typeface="Symbol" panose="05050102010706020507" pitchFamily="18" charset="2"/>
              </a:rPr>
              <a:t></a:t>
            </a:r>
            <a:r>
              <a:rPr lang="en-US" altLang="zh-CN" b="1" dirty="0" err="1"/>
              <a:t>q</a:t>
            </a:r>
            <a:r>
              <a:rPr lang="en-US" altLang="zh-CN" b="1" dirty="0"/>
              <a:t>)</a:t>
            </a:r>
            <a:r>
              <a:rPr lang="en-US" altLang="zh-CN" b="1" dirty="0">
                <a:sym typeface="Symbol" panose="05050102010706020507" pitchFamily="18" charset="2"/>
              </a:rPr>
              <a:t></a:t>
            </a:r>
            <a:r>
              <a:rPr lang="en-US" altLang="zh-CN" b="1" dirty="0"/>
              <a:t>r</a:t>
            </a:r>
            <a:r>
              <a:rPr lang="zh-CN" altLang="en-US" b="1" dirty="0"/>
              <a:t>、((</a:t>
            </a:r>
            <a:r>
              <a:rPr lang="zh-CN" altLang="en-US" b="1" dirty="0">
                <a:sym typeface="Symbol" panose="05050102010706020507" pitchFamily="18" charset="2"/>
              </a:rPr>
              <a:t></a:t>
            </a:r>
            <a:r>
              <a:rPr lang="en-US" altLang="zh-CN" b="1" dirty="0" err="1"/>
              <a:t>p</a:t>
            </a:r>
            <a:r>
              <a:rPr lang="en-US" altLang="zh-CN" b="1" dirty="0" err="1">
                <a:sym typeface="Symbol" panose="05050102010706020507" pitchFamily="18" charset="2"/>
              </a:rPr>
              <a:t></a:t>
            </a:r>
            <a:r>
              <a:rPr lang="en-US" altLang="zh-CN" b="1" dirty="0" err="1"/>
              <a:t>q</a:t>
            </a:r>
            <a:r>
              <a:rPr lang="en-US" altLang="zh-CN" b="1" dirty="0"/>
              <a:t>) </a:t>
            </a:r>
            <a:r>
              <a:rPr lang="en-US" altLang="zh-CN" b="1" dirty="0">
                <a:sym typeface="Symbol" panose="05050102010706020507" pitchFamily="18" charset="2"/>
              </a:rPr>
              <a:t></a:t>
            </a:r>
            <a:r>
              <a:rPr lang="en-US" altLang="zh-CN" b="1" dirty="0"/>
              <a:t>r)</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dirty="0" err="1"/>
              <a:t>r</a:t>
            </a:r>
            <a:r>
              <a:rPr lang="en-US" altLang="zh-CN" b="1" dirty="0" err="1">
                <a:sym typeface="Symbol" panose="05050102010706020507" pitchFamily="18" charset="2"/>
              </a:rPr>
              <a:t></a:t>
            </a:r>
            <a:r>
              <a:rPr lang="en-US" altLang="zh-CN" b="1" dirty="0" err="1"/>
              <a:t>s</a:t>
            </a:r>
            <a:r>
              <a:rPr lang="en-US" altLang="zh-CN" b="1" dirty="0"/>
              <a:t>)  </a:t>
            </a:r>
            <a:r>
              <a:rPr lang="zh-CN" altLang="en-US" b="1" dirty="0"/>
              <a:t>分别是</a:t>
            </a:r>
            <a:r>
              <a:rPr lang="en-US" altLang="zh-CN" b="1" dirty="0"/>
              <a:t>0</a:t>
            </a:r>
            <a:r>
              <a:rPr lang="zh-CN" altLang="en-US" sz="1200" b="1" dirty="0"/>
              <a:t>层、 </a:t>
            </a:r>
            <a:r>
              <a:rPr lang="en-US" altLang="zh-CN" sz="1200" b="1" dirty="0"/>
              <a:t>1</a:t>
            </a:r>
            <a:r>
              <a:rPr lang="zh-CN" altLang="en-US" sz="1200" b="1" dirty="0"/>
              <a:t>层、</a:t>
            </a:r>
            <a:r>
              <a:rPr lang="en-US" altLang="zh-CN" sz="1200" b="1" dirty="0"/>
              <a:t>2</a:t>
            </a:r>
            <a:r>
              <a:rPr lang="zh-CN" altLang="en-US" sz="1200" b="1" dirty="0"/>
              <a:t>层、 </a:t>
            </a:r>
            <a:r>
              <a:rPr lang="en-US" altLang="zh-CN" sz="1200" b="1" dirty="0"/>
              <a:t>3</a:t>
            </a:r>
            <a:r>
              <a:rPr lang="zh-CN" altLang="en-US" sz="1200" b="1" dirty="0"/>
              <a:t>层和</a:t>
            </a:r>
            <a:r>
              <a:rPr lang="en-US" altLang="zh-CN" sz="1200" b="1" dirty="0"/>
              <a:t>4</a:t>
            </a:r>
            <a:r>
              <a:rPr lang="zh-CN" altLang="en-US" sz="1200" b="1" dirty="0"/>
              <a:t>层</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3698375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Tx/>
              <a:buNone/>
            </a:pPr>
            <a:r>
              <a:rPr lang="zh-CN" altLang="en-US" sz="1200" b="1" dirty="0"/>
              <a:t>(1) 单个命题变项或命题常项是0层公式</a:t>
            </a:r>
          </a:p>
          <a:p>
            <a:pPr algn="just" eaLnBrk="1" hangingPunct="1">
              <a:lnSpc>
                <a:spcPct val="90000"/>
              </a:lnSpc>
              <a:buFontTx/>
              <a:buNone/>
            </a:pPr>
            <a:r>
              <a:rPr lang="zh-CN" altLang="en-US" sz="1200" b="1" dirty="0"/>
              <a:t>(2) 称</a:t>
            </a:r>
            <a:r>
              <a:rPr lang="en-US" altLang="zh-CN" sz="1200" b="1" i="1" dirty="0"/>
              <a:t>A</a:t>
            </a:r>
            <a:r>
              <a:rPr lang="zh-CN" altLang="en-US" sz="1200" b="1" dirty="0"/>
              <a:t>是</a:t>
            </a:r>
            <a:r>
              <a:rPr lang="en-US" altLang="zh-CN" sz="1200" b="1" i="1" dirty="0"/>
              <a:t>n</a:t>
            </a:r>
            <a:r>
              <a:rPr lang="en-US" altLang="zh-CN" sz="1200" b="1" dirty="0"/>
              <a:t>+1(</a:t>
            </a:r>
            <a:r>
              <a:rPr lang="en-US" altLang="zh-CN" sz="1200" b="1" i="1" dirty="0"/>
              <a:t>n</a:t>
            </a:r>
            <a:r>
              <a:rPr lang="en-US" altLang="zh-CN" sz="1200" b="1" dirty="0"/>
              <a:t>≥0)</a:t>
            </a:r>
            <a:r>
              <a:rPr lang="zh-CN" altLang="en-US" sz="1200" b="1" dirty="0"/>
              <a:t>层公式是指下面情况之一：</a:t>
            </a:r>
          </a:p>
          <a:p>
            <a:pPr algn="just" eaLnBrk="1" hangingPunct="1">
              <a:lnSpc>
                <a:spcPct val="90000"/>
              </a:lnSpc>
              <a:buFontTx/>
              <a:buNone/>
            </a:pPr>
            <a:r>
              <a:rPr lang="zh-CN" altLang="en-US" sz="1200" b="1" dirty="0"/>
              <a:t>(</a:t>
            </a:r>
            <a:r>
              <a:rPr lang="en-US" altLang="zh-CN" sz="1200" b="1" i="1" dirty="0"/>
              <a:t>a</a:t>
            </a:r>
            <a:r>
              <a:rPr lang="en-US" altLang="zh-CN" sz="1200" b="1" dirty="0"/>
              <a:t>) </a:t>
            </a:r>
            <a:r>
              <a:rPr lang="en-US" altLang="zh-CN" sz="1200" b="1" i="1" dirty="0"/>
              <a:t>A</a:t>
            </a:r>
            <a:r>
              <a:rPr lang="en-US" altLang="zh-CN" sz="1200" b="1" dirty="0"/>
              <a:t>=</a:t>
            </a:r>
            <a:r>
              <a:rPr lang="en-US" altLang="zh-CN" sz="1200" b="1" dirty="0">
                <a:sym typeface="Symbol" panose="05050102010706020507" pitchFamily="18" charset="2"/>
              </a:rPr>
              <a:t></a:t>
            </a:r>
            <a:r>
              <a:rPr lang="en-US" altLang="zh-CN" sz="1200" b="1" i="1" dirty="0"/>
              <a:t>B</a:t>
            </a:r>
            <a:r>
              <a:rPr lang="en-US" altLang="zh-CN" sz="1200" b="1" dirty="0"/>
              <a:t>, </a:t>
            </a:r>
            <a:r>
              <a:rPr lang="en-US" altLang="zh-CN" sz="1200" b="1" i="1" dirty="0"/>
              <a:t>B</a:t>
            </a:r>
            <a:r>
              <a:rPr lang="zh-CN" altLang="en-US" sz="1200" b="1" dirty="0"/>
              <a:t>是</a:t>
            </a:r>
            <a:r>
              <a:rPr lang="en-US" altLang="zh-CN" sz="1200" b="1" i="1" dirty="0"/>
              <a:t>n</a:t>
            </a:r>
            <a:r>
              <a:rPr lang="zh-CN" altLang="en-US" sz="1200" b="1" dirty="0"/>
              <a:t>层公式</a:t>
            </a:r>
          </a:p>
          <a:p>
            <a:pPr algn="just" eaLnBrk="1" hangingPunct="1">
              <a:lnSpc>
                <a:spcPct val="90000"/>
              </a:lnSpc>
              <a:buFontTx/>
              <a:buNone/>
            </a:pPr>
            <a:r>
              <a:rPr lang="zh-CN" altLang="en-US" sz="1200" b="1" dirty="0"/>
              <a:t>(</a:t>
            </a:r>
            <a:r>
              <a:rPr lang="en-US" altLang="zh-CN" sz="1200" b="1" i="1" dirty="0"/>
              <a:t>b</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分别为</a:t>
            </a:r>
            <a:r>
              <a:rPr lang="en-US" altLang="zh-CN" sz="1200" b="1" i="1" dirty="0" err="1"/>
              <a:t>i</a:t>
            </a:r>
            <a:r>
              <a:rPr lang="zh-CN" altLang="en-US" sz="1200" b="1" dirty="0"/>
              <a:t>层和</a:t>
            </a:r>
            <a:r>
              <a:rPr lang="en-US" altLang="zh-CN" sz="1200" b="1" i="1" dirty="0"/>
              <a:t>j</a:t>
            </a:r>
            <a:r>
              <a:rPr lang="zh-CN" altLang="en-US" sz="1200" b="1" dirty="0"/>
              <a:t>层公式, 且</a:t>
            </a:r>
            <a:r>
              <a:rPr lang="zh-CN" altLang="en-US" sz="1200" b="1" i="1" dirty="0"/>
              <a:t> </a:t>
            </a:r>
            <a:r>
              <a:rPr lang="en-US" altLang="zh-CN" sz="1200" b="1" i="1" dirty="0"/>
              <a:t>n</a:t>
            </a:r>
            <a:r>
              <a:rPr lang="en-US" altLang="zh-CN" sz="1200" b="1" dirty="0"/>
              <a:t>=max(</a:t>
            </a:r>
            <a:r>
              <a:rPr lang="en-US" altLang="zh-CN" sz="1200" b="1" i="1" dirty="0" err="1"/>
              <a:t>i</a:t>
            </a:r>
            <a:r>
              <a:rPr lang="en-US" altLang="zh-CN" sz="1200" b="1" dirty="0"/>
              <a:t>, </a:t>
            </a:r>
            <a:r>
              <a:rPr lang="en-US" altLang="zh-CN" sz="1200" b="1" i="1" dirty="0"/>
              <a:t>j</a:t>
            </a:r>
            <a:r>
              <a:rPr lang="en-US" altLang="zh-CN" sz="1200" b="1" dirty="0"/>
              <a:t>)</a:t>
            </a:r>
          </a:p>
          <a:p>
            <a:pPr algn="just" eaLnBrk="1" hangingPunct="1">
              <a:lnSpc>
                <a:spcPct val="90000"/>
              </a:lnSpc>
              <a:buFontTx/>
              <a:buNone/>
            </a:pPr>
            <a:r>
              <a:rPr lang="en-US" altLang="zh-CN" sz="1200" b="1" dirty="0"/>
              <a:t>(</a:t>
            </a:r>
            <a:r>
              <a:rPr lang="en-US" altLang="zh-CN" sz="1200" b="1" i="1" dirty="0"/>
              <a:t>c</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的层次及</a:t>
            </a:r>
            <a:r>
              <a:rPr lang="en-US" altLang="zh-CN" sz="1200" b="1" i="1" dirty="0"/>
              <a:t>n</a:t>
            </a:r>
            <a:r>
              <a:rPr lang="zh-CN" altLang="en-US" sz="1200" b="1" dirty="0"/>
              <a:t>同(</a:t>
            </a:r>
            <a:r>
              <a:rPr lang="en-US" altLang="zh-CN" sz="1200" b="1" i="1" dirty="0"/>
              <a:t>b</a:t>
            </a:r>
            <a:r>
              <a:rPr lang="en-US" altLang="zh-CN" sz="1200" b="1" dirty="0"/>
              <a:t>)</a:t>
            </a:r>
          </a:p>
          <a:p>
            <a:pPr algn="just" eaLnBrk="1" hangingPunct="1">
              <a:lnSpc>
                <a:spcPct val="90000"/>
              </a:lnSpc>
              <a:buFontTx/>
              <a:buNone/>
            </a:pPr>
            <a:r>
              <a:rPr lang="en-US" altLang="zh-CN" sz="1200" b="1" dirty="0"/>
              <a:t>(</a:t>
            </a:r>
            <a:r>
              <a:rPr lang="en-US" altLang="zh-CN" sz="1200" b="1" i="1" dirty="0"/>
              <a:t>d</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的层次及</a:t>
            </a:r>
            <a:r>
              <a:rPr lang="en-US" altLang="zh-CN" sz="1200" b="1" i="1" dirty="0"/>
              <a:t>n</a:t>
            </a:r>
            <a:r>
              <a:rPr lang="zh-CN" altLang="en-US" sz="1200" b="1" dirty="0"/>
              <a:t>同(</a:t>
            </a:r>
            <a:r>
              <a:rPr lang="en-US" altLang="zh-CN" sz="1200" b="1" i="1" dirty="0"/>
              <a:t>b</a:t>
            </a:r>
            <a:r>
              <a:rPr lang="en-US" altLang="zh-CN" sz="1200" b="1" dirty="0"/>
              <a:t>)</a:t>
            </a:r>
          </a:p>
          <a:p>
            <a:pPr algn="just" eaLnBrk="1" hangingPunct="1">
              <a:lnSpc>
                <a:spcPct val="90000"/>
              </a:lnSpc>
              <a:buFontTx/>
              <a:buNone/>
            </a:pPr>
            <a:r>
              <a:rPr lang="en-US" altLang="zh-CN" sz="1200" b="1" dirty="0"/>
              <a:t>(</a:t>
            </a:r>
            <a:r>
              <a:rPr lang="en-US" altLang="zh-CN" sz="1200" b="1" i="1" dirty="0"/>
              <a:t>e</a:t>
            </a:r>
            <a:r>
              <a:rPr lang="en-US" altLang="zh-CN" sz="1200" b="1" dirty="0"/>
              <a:t>) </a:t>
            </a:r>
            <a:r>
              <a:rPr lang="en-US" altLang="zh-CN" sz="1200" b="1" i="1" dirty="0"/>
              <a:t>A</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C</a:t>
            </a:r>
            <a:r>
              <a:rPr lang="en-US" altLang="zh-CN" sz="1200" b="1" dirty="0"/>
              <a:t>, </a:t>
            </a:r>
            <a:r>
              <a:rPr lang="zh-CN" altLang="en-US" sz="1200" b="1" dirty="0"/>
              <a:t>其中</a:t>
            </a:r>
            <a:r>
              <a:rPr lang="en-US" altLang="zh-CN" sz="1200" b="1" i="1" dirty="0"/>
              <a:t>B</a:t>
            </a:r>
            <a:r>
              <a:rPr lang="en-US" altLang="zh-CN" sz="1200" b="1" dirty="0"/>
              <a:t>,</a:t>
            </a:r>
            <a:r>
              <a:rPr lang="en-US" altLang="zh-CN" sz="1200" b="1" i="1" dirty="0"/>
              <a:t>C</a:t>
            </a:r>
            <a:r>
              <a:rPr lang="zh-CN" altLang="en-US" sz="1200" b="1" dirty="0"/>
              <a:t>的层次及</a:t>
            </a:r>
            <a:r>
              <a:rPr lang="en-US" altLang="zh-CN" sz="1200" b="1" i="1" dirty="0"/>
              <a:t>n</a:t>
            </a:r>
            <a:r>
              <a:rPr lang="zh-CN" altLang="en-US" sz="1200" b="1" dirty="0"/>
              <a:t>同(</a:t>
            </a:r>
            <a:r>
              <a:rPr lang="en-US" altLang="zh-CN" sz="1200" b="1" i="1" dirty="0"/>
              <a:t>b</a:t>
            </a:r>
            <a:r>
              <a:rPr lang="en-US" altLang="zh-CN" sz="1200" b="1" dirty="0"/>
              <a:t>)</a:t>
            </a:r>
          </a:p>
          <a:p>
            <a:pPr eaLnBrk="1" hangingPunct="1">
              <a:lnSpc>
                <a:spcPct val="90000"/>
              </a:lnSpc>
              <a:buFontTx/>
              <a:buNone/>
            </a:pPr>
            <a:endParaRPr lang="zh-CN" altLang="en-US" sz="1200" b="1" dirty="0"/>
          </a:p>
          <a:p>
            <a:pPr>
              <a:buNone/>
            </a:pPr>
            <a:r>
              <a:rPr lang="zh-CN" altLang="en-US" sz="1200" b="1" dirty="0">
                <a:solidFill>
                  <a:srgbClr val="00B0F0"/>
                </a:solidFill>
              </a:rPr>
              <a:t>例：</a:t>
            </a:r>
            <a:r>
              <a:rPr lang="zh-CN" altLang="en-US" sz="1200" b="1" dirty="0"/>
              <a:t>命题公式</a:t>
            </a:r>
            <a:r>
              <a:rPr lang="en-US" altLang="zh-CN" sz="1200" b="1" dirty="0"/>
              <a:t>p  </a:t>
            </a:r>
            <a:r>
              <a:rPr lang="zh-CN" altLang="en-US" sz="1200" b="1" dirty="0"/>
              <a:t>、</a:t>
            </a:r>
            <a:r>
              <a:rPr lang="zh-CN" altLang="en-US" b="1" dirty="0">
                <a:sym typeface="Symbol" panose="05050102010706020507" pitchFamily="18" charset="2"/>
              </a:rPr>
              <a:t></a:t>
            </a:r>
            <a:r>
              <a:rPr lang="en-US" altLang="zh-CN" b="1" dirty="0"/>
              <a:t>p </a:t>
            </a:r>
            <a:r>
              <a:rPr lang="zh-CN" altLang="en-US" b="1" dirty="0"/>
              <a:t>、 </a:t>
            </a:r>
            <a:r>
              <a:rPr lang="zh-CN" altLang="en-US" b="1" dirty="0">
                <a:sym typeface="Symbol" panose="05050102010706020507" pitchFamily="18" charset="2"/>
              </a:rPr>
              <a:t></a:t>
            </a:r>
            <a:r>
              <a:rPr lang="en-US" altLang="zh-CN" b="1" dirty="0" err="1"/>
              <a:t>p</a:t>
            </a:r>
            <a:r>
              <a:rPr lang="en-US" altLang="zh-CN" b="1" dirty="0" err="1">
                <a:sym typeface="Symbol" panose="05050102010706020507" pitchFamily="18" charset="2"/>
              </a:rPr>
              <a:t></a:t>
            </a:r>
            <a:r>
              <a:rPr lang="en-US" altLang="zh-CN" b="1" dirty="0" err="1"/>
              <a:t>q</a:t>
            </a:r>
            <a:r>
              <a:rPr lang="en-US" altLang="zh-CN" b="1" dirty="0"/>
              <a:t> </a:t>
            </a:r>
            <a:r>
              <a:rPr lang="zh-CN" altLang="en-US" b="1" dirty="0"/>
              <a:t>、</a:t>
            </a:r>
            <a:r>
              <a:rPr lang="zh-CN" altLang="en-US" b="1" dirty="0">
                <a:sym typeface="Symbol" panose="05050102010706020507" pitchFamily="18" charset="2"/>
              </a:rPr>
              <a:t></a:t>
            </a:r>
            <a:r>
              <a:rPr lang="zh-CN" altLang="en-US" b="1" dirty="0"/>
              <a:t>(</a:t>
            </a:r>
            <a:r>
              <a:rPr lang="en-US" altLang="zh-CN" b="1" dirty="0" err="1"/>
              <a:t>p</a:t>
            </a:r>
            <a:r>
              <a:rPr lang="en-US" altLang="zh-CN" b="1" dirty="0" err="1">
                <a:sym typeface="Symbol" panose="05050102010706020507" pitchFamily="18" charset="2"/>
              </a:rPr>
              <a:t></a:t>
            </a:r>
            <a:r>
              <a:rPr lang="en-US" altLang="zh-CN" b="1" dirty="0" err="1"/>
              <a:t>q</a:t>
            </a:r>
            <a:r>
              <a:rPr lang="en-US" altLang="zh-CN" b="1" dirty="0"/>
              <a:t>)</a:t>
            </a:r>
            <a:r>
              <a:rPr lang="en-US" altLang="zh-CN" b="1" dirty="0">
                <a:sym typeface="Symbol" panose="05050102010706020507" pitchFamily="18" charset="2"/>
              </a:rPr>
              <a:t></a:t>
            </a:r>
            <a:r>
              <a:rPr lang="en-US" altLang="zh-CN" b="1" dirty="0"/>
              <a:t>r</a:t>
            </a:r>
            <a:r>
              <a:rPr lang="zh-CN" altLang="en-US" b="1" dirty="0"/>
              <a:t>、((</a:t>
            </a:r>
            <a:r>
              <a:rPr lang="zh-CN" altLang="en-US" b="1" dirty="0">
                <a:sym typeface="Symbol" panose="05050102010706020507" pitchFamily="18" charset="2"/>
              </a:rPr>
              <a:t></a:t>
            </a:r>
            <a:r>
              <a:rPr lang="en-US" altLang="zh-CN" b="1" dirty="0" err="1"/>
              <a:t>p</a:t>
            </a:r>
            <a:r>
              <a:rPr lang="en-US" altLang="zh-CN" b="1" dirty="0" err="1">
                <a:sym typeface="Symbol" panose="05050102010706020507" pitchFamily="18" charset="2"/>
              </a:rPr>
              <a:t></a:t>
            </a:r>
            <a:r>
              <a:rPr lang="en-US" altLang="zh-CN" b="1" dirty="0" err="1"/>
              <a:t>q</a:t>
            </a:r>
            <a:r>
              <a:rPr lang="en-US" altLang="zh-CN" b="1" dirty="0"/>
              <a:t>) </a:t>
            </a:r>
            <a:r>
              <a:rPr lang="en-US" altLang="zh-CN" b="1" dirty="0">
                <a:sym typeface="Symbol" panose="05050102010706020507" pitchFamily="18" charset="2"/>
              </a:rPr>
              <a:t></a:t>
            </a:r>
            <a:r>
              <a:rPr lang="en-US" altLang="zh-CN" b="1" dirty="0"/>
              <a:t>r)</a:t>
            </a:r>
            <a:r>
              <a:rPr lang="en-US" altLang="zh-CN" b="1" dirty="0">
                <a:sym typeface="Symbol" panose="05050102010706020507" pitchFamily="18" charset="2"/>
              </a:rPr>
              <a:t></a:t>
            </a:r>
            <a:r>
              <a:rPr lang="en-US" altLang="zh-CN" b="1" dirty="0"/>
              <a:t>(</a:t>
            </a:r>
            <a:r>
              <a:rPr lang="en-US" altLang="zh-CN" b="1" dirty="0">
                <a:sym typeface="Symbol" panose="05050102010706020507" pitchFamily="18" charset="2"/>
              </a:rPr>
              <a:t></a:t>
            </a:r>
            <a:r>
              <a:rPr lang="en-US" altLang="zh-CN" b="1" dirty="0" err="1"/>
              <a:t>r</a:t>
            </a:r>
            <a:r>
              <a:rPr lang="en-US" altLang="zh-CN" b="1" dirty="0" err="1">
                <a:sym typeface="Symbol" panose="05050102010706020507" pitchFamily="18" charset="2"/>
              </a:rPr>
              <a:t></a:t>
            </a:r>
            <a:r>
              <a:rPr lang="en-US" altLang="zh-CN" b="1" dirty="0" err="1"/>
              <a:t>s</a:t>
            </a:r>
            <a:r>
              <a:rPr lang="en-US" altLang="zh-CN" b="1" dirty="0"/>
              <a:t>)  </a:t>
            </a:r>
            <a:r>
              <a:rPr lang="zh-CN" altLang="en-US" b="1" dirty="0"/>
              <a:t>分别是</a:t>
            </a:r>
            <a:r>
              <a:rPr lang="en-US" altLang="zh-CN" b="1" dirty="0"/>
              <a:t>0</a:t>
            </a:r>
            <a:r>
              <a:rPr lang="zh-CN" altLang="en-US" sz="1200" b="1" dirty="0"/>
              <a:t>层、 </a:t>
            </a:r>
            <a:r>
              <a:rPr lang="en-US" altLang="zh-CN" sz="1200" b="1" dirty="0"/>
              <a:t>1</a:t>
            </a:r>
            <a:r>
              <a:rPr lang="zh-CN" altLang="en-US" sz="1200" b="1" dirty="0"/>
              <a:t>层、</a:t>
            </a:r>
            <a:r>
              <a:rPr lang="en-US" altLang="zh-CN" sz="1200" b="1" dirty="0"/>
              <a:t>2</a:t>
            </a:r>
            <a:r>
              <a:rPr lang="zh-CN" altLang="en-US" sz="1200" b="1" dirty="0"/>
              <a:t>层、 </a:t>
            </a:r>
            <a:r>
              <a:rPr lang="en-US" altLang="zh-CN" sz="1200" b="1" dirty="0"/>
              <a:t>3</a:t>
            </a:r>
            <a:r>
              <a:rPr lang="zh-CN" altLang="en-US" sz="1200" b="1" dirty="0"/>
              <a:t>层和</a:t>
            </a:r>
            <a:r>
              <a:rPr lang="en-US" altLang="zh-CN" sz="1200" b="1" dirty="0"/>
              <a:t>4</a:t>
            </a:r>
            <a:r>
              <a:rPr lang="zh-CN" altLang="en-US" sz="1200" b="1" dirty="0"/>
              <a:t>层</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1511509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0000"/>
                </a:solidFill>
              </a:rPr>
              <a:t>定义2.8 </a:t>
            </a:r>
            <a:r>
              <a:rPr lang="zh-CN" altLang="en-US" sz="1200" b="1" dirty="0"/>
              <a:t>设</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 , </a:t>
            </a:r>
            <a:r>
              <a:rPr lang="en-US" altLang="zh-CN" sz="1200" b="1" i="1" dirty="0" err="1"/>
              <a:t>p</a:t>
            </a:r>
            <a:r>
              <a:rPr lang="en-US" altLang="zh-CN" sz="1200" b="1" i="1" baseline="-30000" dirty="0" err="1"/>
              <a:t>n</a:t>
            </a:r>
            <a:r>
              <a:rPr lang="zh-CN" altLang="en-US" sz="1200" b="1" dirty="0"/>
              <a:t>是出现在公式</a:t>
            </a:r>
            <a:r>
              <a:rPr lang="en-US" altLang="zh-CN" sz="1200" b="1" i="1" dirty="0"/>
              <a:t>A</a:t>
            </a:r>
            <a:r>
              <a:rPr lang="zh-CN" altLang="en-US" sz="1200" b="1" dirty="0"/>
              <a:t>中全部的命题变项, </a:t>
            </a:r>
          </a:p>
          <a:p>
            <a:pPr algn="just" eaLnBrk="1" hangingPunct="1">
              <a:buFontTx/>
              <a:buNone/>
            </a:pPr>
            <a:r>
              <a:rPr lang="zh-CN" altLang="en-US" sz="1200" b="1" dirty="0"/>
              <a:t>给 </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 , </a:t>
            </a:r>
            <a:r>
              <a:rPr lang="en-US" altLang="zh-CN" sz="1200" b="1" i="1" dirty="0" err="1"/>
              <a:t>p</a:t>
            </a:r>
            <a:r>
              <a:rPr lang="en-US" altLang="zh-CN" sz="1200" b="1" i="1" baseline="-30000" dirty="0" err="1"/>
              <a:t>n</a:t>
            </a:r>
            <a:r>
              <a:rPr lang="zh-CN" altLang="en-US" sz="1200" b="1" dirty="0"/>
              <a:t>指定一组真值, 称为对</a:t>
            </a:r>
            <a:r>
              <a:rPr lang="en-US" altLang="zh-CN" sz="1200" b="1" i="1" dirty="0"/>
              <a:t>A</a:t>
            </a:r>
            <a:r>
              <a:rPr lang="zh-CN" altLang="en-US" sz="1200" b="1" dirty="0"/>
              <a:t>的一个</a:t>
            </a:r>
            <a:r>
              <a:rPr lang="zh-CN" altLang="en-US" sz="1200" b="1" dirty="0">
                <a:solidFill>
                  <a:srgbClr val="FF0000"/>
                </a:solidFill>
              </a:rPr>
              <a:t>赋值</a:t>
            </a:r>
            <a:r>
              <a:rPr lang="zh-CN" altLang="en-US" sz="1200" b="1" dirty="0"/>
              <a:t>或</a:t>
            </a:r>
            <a:r>
              <a:rPr lang="zh-CN" altLang="en-US" sz="1200" b="1" dirty="0">
                <a:solidFill>
                  <a:srgbClr val="FF0000"/>
                </a:solidFill>
              </a:rPr>
              <a:t>解释</a:t>
            </a:r>
            <a:r>
              <a:rPr lang="zh-CN" altLang="en-US" sz="1200" b="1" dirty="0"/>
              <a:t>.</a:t>
            </a:r>
          </a:p>
          <a:p>
            <a:pPr algn="just" eaLnBrk="1" hangingPunct="1">
              <a:buFontTx/>
              <a:buNone/>
            </a:pPr>
            <a:r>
              <a:rPr lang="zh-CN" altLang="en-US" sz="1200" b="1" dirty="0"/>
              <a:t>使公式为真的赋值称作</a:t>
            </a:r>
            <a:r>
              <a:rPr lang="zh-CN" altLang="en-US" sz="1200" b="1" dirty="0">
                <a:solidFill>
                  <a:srgbClr val="FF0000"/>
                </a:solidFill>
              </a:rPr>
              <a:t>成真赋值</a:t>
            </a:r>
            <a:r>
              <a:rPr lang="zh-CN" altLang="en-US" sz="1200" b="1" dirty="0"/>
              <a:t>, 使公式为假的赋值称作</a:t>
            </a:r>
          </a:p>
          <a:p>
            <a:pPr algn="just" eaLnBrk="1" hangingPunct="1">
              <a:buFontTx/>
              <a:buNone/>
            </a:pPr>
            <a:r>
              <a:rPr lang="zh-CN" altLang="en-US" sz="1200" b="1" dirty="0">
                <a:solidFill>
                  <a:srgbClr val="FF0000"/>
                </a:solidFill>
              </a:rPr>
              <a:t>成假赋值</a:t>
            </a:r>
          </a:p>
          <a:p>
            <a:pPr algn="just" eaLnBrk="1" hangingPunct="1">
              <a:buFontTx/>
              <a:buNone/>
            </a:pPr>
            <a:endParaRPr lang="zh-CN" altLang="en-US" sz="1200" b="1" dirty="0"/>
          </a:p>
          <a:p>
            <a:pPr algn="just" eaLnBrk="1" hangingPunct="1">
              <a:buFontTx/>
              <a:buNone/>
            </a:pPr>
            <a:r>
              <a:rPr lang="zh-CN" altLang="en-US" sz="1200" b="1" dirty="0"/>
              <a:t>说明: </a:t>
            </a:r>
            <a:endParaRPr lang="en-US" altLang="zh-CN" sz="1200" b="1" dirty="0"/>
          </a:p>
          <a:p>
            <a:pPr algn="just" eaLnBrk="1" hangingPunct="1">
              <a:buFontTx/>
              <a:buNone/>
            </a:pPr>
            <a:r>
              <a:rPr lang="zh-CN" altLang="en-US" sz="1200" b="1" dirty="0"/>
              <a:t>(1) 赋值记作</a:t>
            </a:r>
            <a:r>
              <a:rPr lang="zh-CN" altLang="en-US" sz="1200" b="1" i="1" dirty="0">
                <a:sym typeface="Symbol" panose="05050102010706020507" pitchFamily="18" charset="2"/>
              </a:rPr>
              <a:t></a:t>
            </a:r>
            <a:r>
              <a:rPr lang="zh-CN" altLang="en-US" sz="1200" b="1" dirty="0"/>
              <a:t>=</a:t>
            </a:r>
            <a:r>
              <a:rPr lang="zh-CN" altLang="en-US" sz="1200" b="1" i="1" dirty="0">
                <a:sym typeface="Symbol" panose="05050102010706020507" pitchFamily="18" charset="2"/>
              </a:rPr>
              <a:t></a:t>
            </a:r>
            <a:r>
              <a:rPr lang="zh-CN" altLang="en-US" sz="1200" b="1" baseline="-30000" dirty="0"/>
              <a:t>1</a:t>
            </a:r>
            <a:r>
              <a:rPr lang="zh-CN" altLang="en-US" sz="1200" b="1" i="1" dirty="0">
                <a:sym typeface="Symbol" panose="05050102010706020507" pitchFamily="18" charset="2"/>
              </a:rPr>
              <a:t></a:t>
            </a:r>
            <a:r>
              <a:rPr lang="zh-CN" altLang="en-US" sz="1200" b="1" baseline="-30000" dirty="0"/>
              <a:t>2</a:t>
            </a:r>
            <a:r>
              <a:rPr lang="zh-CN" altLang="en-US" sz="1200" b="1" dirty="0"/>
              <a:t>…</a:t>
            </a:r>
            <a:r>
              <a:rPr lang="zh-CN" altLang="en-US" sz="1200" b="1" i="1" dirty="0">
                <a:sym typeface="Symbol" panose="05050102010706020507" pitchFamily="18" charset="2"/>
              </a:rPr>
              <a:t></a:t>
            </a:r>
            <a:r>
              <a:rPr lang="en-US" altLang="zh-CN" sz="1200" b="1" i="1" baseline="-30000" dirty="0"/>
              <a:t>n</a:t>
            </a:r>
            <a:r>
              <a:rPr lang="zh-CN" altLang="en-US" sz="1200" b="1" dirty="0"/>
              <a:t>, </a:t>
            </a:r>
            <a:r>
              <a:rPr lang="zh-CN" altLang="en-US" sz="1200" b="1" i="1" dirty="0">
                <a:sym typeface="Symbol" panose="05050102010706020507" pitchFamily="18" charset="2"/>
              </a:rPr>
              <a:t></a:t>
            </a:r>
            <a:r>
              <a:rPr lang="en-US" altLang="zh-CN" sz="1200" b="1" i="1" baseline="-30000" dirty="0" err="1"/>
              <a:t>i</a:t>
            </a:r>
            <a:r>
              <a:rPr lang="en-US" altLang="zh-CN" sz="1200" b="1" dirty="0"/>
              <a:t>=0</a:t>
            </a:r>
            <a:r>
              <a:rPr lang="zh-CN" altLang="en-US" sz="1200" b="1" dirty="0"/>
              <a:t>或1, 诸</a:t>
            </a:r>
            <a:r>
              <a:rPr lang="zh-CN" altLang="en-US" sz="1200" b="1" i="1" dirty="0">
                <a:sym typeface="Symbol" panose="05050102010706020507" pitchFamily="18" charset="2"/>
              </a:rPr>
              <a:t></a:t>
            </a:r>
            <a:r>
              <a:rPr lang="en-US" altLang="zh-CN" sz="1200" b="1" i="1" baseline="-30000" dirty="0" err="1"/>
              <a:t>i</a:t>
            </a:r>
            <a:r>
              <a:rPr lang="zh-CN" altLang="en-US" sz="1200" b="1" dirty="0"/>
              <a:t>之间不加标点符号</a:t>
            </a:r>
          </a:p>
          <a:p>
            <a:pPr algn="just" eaLnBrk="1" hangingPunct="1">
              <a:buFontTx/>
              <a:buNone/>
            </a:pPr>
            <a:r>
              <a:rPr lang="zh-CN" altLang="en-US" sz="1200" b="1" dirty="0"/>
              <a:t>(2) 通常赋值与命题变项之间按下标或字母顺序对应, 即</a:t>
            </a:r>
          </a:p>
          <a:p>
            <a:pPr algn="just" eaLnBrk="1" hangingPunct="1">
              <a:buFontTx/>
              <a:buNone/>
            </a:pPr>
            <a:r>
              <a:rPr lang="zh-CN" altLang="en-US" sz="1200" b="1" dirty="0"/>
              <a:t>当</a:t>
            </a:r>
            <a:r>
              <a:rPr lang="en-US" altLang="zh-CN" sz="1200" b="1" i="1" dirty="0"/>
              <a:t>A</a:t>
            </a:r>
            <a:r>
              <a:rPr lang="zh-CN" altLang="en-US" sz="1200" b="1" dirty="0"/>
              <a:t>的全部命题变项为</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 , </a:t>
            </a:r>
            <a:r>
              <a:rPr lang="en-US" altLang="zh-CN" sz="1200" b="1" i="1" dirty="0" err="1"/>
              <a:t>p</a:t>
            </a:r>
            <a:r>
              <a:rPr lang="en-US" altLang="zh-CN" sz="1200" b="1" i="1" baseline="-30000" dirty="0" err="1"/>
              <a:t>n</a:t>
            </a:r>
            <a:r>
              <a:rPr lang="zh-CN" altLang="en-US" sz="1200" b="1" dirty="0"/>
              <a:t>时, 给</a:t>
            </a:r>
            <a:r>
              <a:rPr lang="en-US" altLang="zh-CN" sz="1200" b="1" i="1" dirty="0"/>
              <a:t>A</a:t>
            </a:r>
            <a:r>
              <a:rPr lang="zh-CN" altLang="en-US" sz="1200" b="1" dirty="0"/>
              <a:t>赋值</a:t>
            </a:r>
            <a:r>
              <a:rPr lang="zh-CN" altLang="en-US" sz="1200" b="1" i="1" dirty="0">
                <a:sym typeface="Symbol" panose="05050102010706020507" pitchFamily="18" charset="2"/>
              </a:rPr>
              <a:t></a:t>
            </a:r>
            <a:r>
              <a:rPr lang="zh-CN" altLang="en-US" sz="1200" b="1" baseline="-30000" dirty="0"/>
              <a:t>1</a:t>
            </a:r>
            <a:r>
              <a:rPr lang="zh-CN" altLang="en-US" sz="1200" b="1" i="1" dirty="0">
                <a:sym typeface="Symbol" panose="05050102010706020507" pitchFamily="18" charset="2"/>
              </a:rPr>
              <a:t></a:t>
            </a:r>
            <a:r>
              <a:rPr lang="zh-CN" altLang="en-US" sz="1200" b="1" baseline="-30000" dirty="0"/>
              <a:t>2</a:t>
            </a:r>
            <a:r>
              <a:rPr lang="zh-CN" altLang="en-US" sz="1200" b="1" dirty="0"/>
              <a:t>…</a:t>
            </a:r>
            <a:r>
              <a:rPr lang="zh-CN" altLang="en-US" sz="1200" b="1" i="1" dirty="0">
                <a:sym typeface="Symbol" panose="05050102010706020507" pitchFamily="18" charset="2"/>
              </a:rPr>
              <a:t></a:t>
            </a:r>
            <a:r>
              <a:rPr lang="en-US" altLang="zh-CN" sz="1200" b="1" i="1" baseline="-30000" dirty="0"/>
              <a:t>n</a:t>
            </a:r>
          </a:p>
          <a:p>
            <a:pPr algn="just" eaLnBrk="1" hangingPunct="1">
              <a:buFontTx/>
              <a:buNone/>
            </a:pPr>
            <a:r>
              <a:rPr lang="zh-CN" altLang="en-US" sz="1200" b="1" dirty="0"/>
              <a:t>是指</a:t>
            </a:r>
            <a:r>
              <a:rPr lang="en-US" altLang="zh-CN" sz="1200" b="1" i="1" dirty="0"/>
              <a:t>p</a:t>
            </a:r>
            <a:r>
              <a:rPr lang="en-US" altLang="zh-CN" sz="1200" b="1" baseline="-30000" dirty="0"/>
              <a:t>1</a:t>
            </a:r>
            <a:r>
              <a:rPr lang="en-US" altLang="zh-CN" sz="1200" b="1" dirty="0"/>
              <a:t>=</a:t>
            </a:r>
            <a:r>
              <a:rPr lang="en-US" altLang="zh-CN" sz="1200" b="1" i="1" dirty="0">
                <a:sym typeface="Symbol" panose="05050102010706020507" pitchFamily="18" charset="2"/>
              </a:rPr>
              <a:t></a:t>
            </a:r>
            <a:r>
              <a:rPr lang="en-US" altLang="zh-CN" sz="1200" b="1" baseline="-30000" dirty="0"/>
              <a:t>1</a:t>
            </a:r>
            <a:r>
              <a:rPr lang="en-US" altLang="zh-CN" sz="1200" b="1" dirty="0"/>
              <a:t>,</a:t>
            </a:r>
            <a:r>
              <a:rPr lang="en-US" altLang="zh-CN" sz="1200" b="1" i="1" dirty="0"/>
              <a:t>p</a:t>
            </a:r>
            <a:r>
              <a:rPr lang="en-US" altLang="zh-CN" sz="1200" b="1" baseline="-30000" dirty="0"/>
              <a:t>2</a:t>
            </a:r>
            <a:r>
              <a:rPr lang="en-US" altLang="zh-CN" sz="1200" b="1" dirty="0"/>
              <a:t>=</a:t>
            </a:r>
            <a:r>
              <a:rPr lang="en-US" altLang="zh-CN" sz="1200" b="1" i="1" dirty="0">
                <a:sym typeface="Symbol" panose="05050102010706020507" pitchFamily="18" charset="2"/>
              </a:rPr>
              <a:t></a:t>
            </a:r>
            <a:r>
              <a:rPr lang="en-US" altLang="zh-CN" sz="1200" b="1" baseline="-30000" dirty="0"/>
              <a:t>2</a:t>
            </a:r>
            <a:r>
              <a:rPr lang="en-US" altLang="zh-CN" sz="1200" b="1" dirty="0"/>
              <a:t>,…,</a:t>
            </a:r>
            <a:r>
              <a:rPr lang="en-US" altLang="zh-CN" sz="1200" b="1" i="1" dirty="0" err="1"/>
              <a:t>p</a:t>
            </a:r>
            <a:r>
              <a:rPr lang="en-US" altLang="zh-CN" sz="1200" b="1" i="1" baseline="-30000" dirty="0" err="1"/>
              <a:t>n</a:t>
            </a:r>
            <a:r>
              <a:rPr lang="en-US" altLang="zh-CN" sz="1200" b="1" dirty="0"/>
              <a:t>=</a:t>
            </a:r>
            <a:r>
              <a:rPr lang="en-US" altLang="zh-CN" sz="1200" b="1" i="1" dirty="0">
                <a:sym typeface="Symbol" panose="05050102010706020507" pitchFamily="18" charset="2"/>
              </a:rPr>
              <a:t></a:t>
            </a:r>
            <a:r>
              <a:rPr lang="en-US" altLang="zh-CN" sz="1200" b="1" i="1" baseline="-30000" dirty="0"/>
              <a:t>n</a:t>
            </a:r>
            <a:r>
              <a:rPr lang="zh-CN" altLang="en-US" sz="1200" b="1" dirty="0"/>
              <a:t>; 当</a:t>
            </a:r>
            <a:r>
              <a:rPr lang="en-US" altLang="zh-CN" sz="1200" b="1" i="1" dirty="0"/>
              <a:t>A</a:t>
            </a:r>
            <a:r>
              <a:rPr lang="zh-CN" altLang="en-US" sz="1200" b="1" dirty="0"/>
              <a:t>的全部命题变项为</a:t>
            </a:r>
            <a:r>
              <a:rPr lang="en-US" altLang="zh-CN" sz="1200" b="1" i="1" dirty="0" err="1"/>
              <a:t>p,q</a:t>
            </a:r>
            <a:r>
              <a:rPr lang="en-US" altLang="zh-CN" sz="1200" b="1" dirty="0" err="1"/>
              <a:t>,</a:t>
            </a:r>
            <a:r>
              <a:rPr lang="en-US" altLang="zh-CN" sz="1200" b="1" i="1" dirty="0" err="1"/>
              <a:t>r</a:t>
            </a:r>
            <a:r>
              <a:rPr lang="en-US" altLang="zh-CN" sz="1200" b="1" dirty="0"/>
              <a:t>,…</a:t>
            </a:r>
          </a:p>
          <a:p>
            <a:pPr algn="just" eaLnBrk="1" hangingPunct="1">
              <a:buFontTx/>
              <a:buNone/>
            </a:pPr>
            <a:r>
              <a:rPr lang="zh-CN" altLang="en-US" sz="1200" b="1" dirty="0"/>
              <a:t>时, 给</a:t>
            </a:r>
            <a:r>
              <a:rPr lang="en-US" altLang="zh-CN" sz="1200" b="1" i="1" dirty="0"/>
              <a:t>A</a:t>
            </a:r>
            <a:r>
              <a:rPr lang="zh-CN" altLang="en-US" sz="1200" b="1" dirty="0"/>
              <a:t>赋值</a:t>
            </a:r>
            <a:r>
              <a:rPr lang="zh-CN" altLang="en-US" sz="1200" b="1" i="1" dirty="0">
                <a:sym typeface="Symbol" panose="05050102010706020507" pitchFamily="18" charset="2"/>
              </a:rPr>
              <a:t></a:t>
            </a:r>
            <a:r>
              <a:rPr lang="zh-CN" altLang="en-US" sz="1200" b="1" baseline="-30000" dirty="0"/>
              <a:t>1</a:t>
            </a:r>
            <a:r>
              <a:rPr lang="zh-CN" altLang="en-US" sz="1200" b="1" i="1" dirty="0">
                <a:sym typeface="Symbol" panose="05050102010706020507" pitchFamily="18" charset="2"/>
              </a:rPr>
              <a:t></a:t>
            </a:r>
            <a:r>
              <a:rPr lang="zh-CN" altLang="en-US" sz="1200" b="1" baseline="-30000" dirty="0"/>
              <a:t>2</a:t>
            </a:r>
            <a:r>
              <a:rPr lang="en-US" altLang="zh-CN" sz="1200" b="1" i="1" dirty="0">
                <a:sym typeface="Symbol" panose="05050102010706020507" pitchFamily="18" charset="2"/>
              </a:rPr>
              <a:t></a:t>
            </a:r>
            <a:r>
              <a:rPr lang="en-US" altLang="zh-CN" sz="1200" b="1" baseline="-30000" dirty="0"/>
              <a:t>3</a:t>
            </a:r>
            <a:r>
              <a:rPr lang="en-US" altLang="zh-CN" sz="1200" b="1" dirty="0"/>
              <a:t>…</a:t>
            </a:r>
            <a:r>
              <a:rPr lang="zh-CN" altLang="en-US" sz="1200" b="1" dirty="0"/>
              <a:t>是指</a:t>
            </a:r>
            <a:r>
              <a:rPr lang="en-US" altLang="zh-CN" sz="1200" b="1" i="1" dirty="0"/>
              <a:t>p</a:t>
            </a:r>
            <a:r>
              <a:rPr lang="en-US" altLang="zh-CN" sz="1200" b="1" dirty="0"/>
              <a:t>=</a:t>
            </a:r>
            <a:r>
              <a:rPr lang="en-US" altLang="zh-CN" sz="1200" b="1" i="1" dirty="0">
                <a:sym typeface="Symbol" panose="05050102010706020507" pitchFamily="18" charset="2"/>
              </a:rPr>
              <a:t></a:t>
            </a:r>
            <a:r>
              <a:rPr lang="en-US" altLang="zh-CN" sz="1200" b="1" baseline="-30000" dirty="0"/>
              <a:t>1</a:t>
            </a:r>
            <a:r>
              <a:rPr lang="en-US" altLang="zh-CN" sz="1200" b="1" dirty="0"/>
              <a:t>, </a:t>
            </a:r>
            <a:r>
              <a:rPr lang="en-US" altLang="zh-CN" sz="1200" b="1" i="1" dirty="0"/>
              <a:t>q</a:t>
            </a:r>
            <a:r>
              <a:rPr lang="en-US" altLang="zh-CN" sz="1200" b="1" dirty="0"/>
              <a:t>=</a:t>
            </a:r>
            <a:r>
              <a:rPr lang="en-US" altLang="zh-CN" sz="1200" b="1" i="1" dirty="0">
                <a:sym typeface="Symbol" panose="05050102010706020507" pitchFamily="18" charset="2"/>
              </a:rPr>
              <a:t></a:t>
            </a:r>
            <a:r>
              <a:rPr lang="en-US" altLang="zh-CN" sz="1200" b="1" baseline="-30000" dirty="0"/>
              <a:t>2</a:t>
            </a:r>
            <a:r>
              <a:rPr lang="en-US" altLang="zh-CN" sz="1200" b="1" dirty="0"/>
              <a:t>, </a:t>
            </a:r>
            <a:r>
              <a:rPr lang="en-US" altLang="zh-CN" sz="1200" b="1" i="1" dirty="0"/>
              <a:t>r</a:t>
            </a:r>
            <a:r>
              <a:rPr lang="en-US" altLang="zh-CN" sz="1200" b="1" dirty="0"/>
              <a:t>=</a:t>
            </a:r>
            <a:r>
              <a:rPr lang="en-US" altLang="zh-CN" sz="1200" b="1" i="1" dirty="0">
                <a:sym typeface="Symbol" panose="05050102010706020507" pitchFamily="18" charset="2"/>
              </a:rPr>
              <a:t></a:t>
            </a:r>
            <a:r>
              <a:rPr lang="en-US" altLang="zh-CN" sz="1200" b="1" baseline="-30000" dirty="0"/>
              <a:t>3</a:t>
            </a:r>
            <a:r>
              <a:rPr lang="en-US" altLang="zh-CN" sz="1200" b="1" dirty="0"/>
              <a:t>, …</a:t>
            </a:r>
            <a:endParaRPr lang="en-US" altLang="zh-CN" sz="1200" b="1" dirty="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3461029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0000"/>
                </a:solidFill>
              </a:rPr>
              <a:t>定义2.8 </a:t>
            </a:r>
            <a:r>
              <a:rPr lang="zh-CN" altLang="en-US" sz="1200" b="1" dirty="0"/>
              <a:t>设</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 , </a:t>
            </a:r>
            <a:r>
              <a:rPr lang="en-US" altLang="zh-CN" sz="1200" b="1" i="1" dirty="0" err="1"/>
              <a:t>p</a:t>
            </a:r>
            <a:r>
              <a:rPr lang="en-US" altLang="zh-CN" sz="1200" b="1" i="1" baseline="-30000" dirty="0" err="1"/>
              <a:t>n</a:t>
            </a:r>
            <a:r>
              <a:rPr lang="zh-CN" altLang="en-US" sz="1200" b="1" dirty="0"/>
              <a:t>是出现在公式</a:t>
            </a:r>
            <a:r>
              <a:rPr lang="en-US" altLang="zh-CN" sz="1200" b="1" i="1" dirty="0"/>
              <a:t>A</a:t>
            </a:r>
            <a:r>
              <a:rPr lang="zh-CN" altLang="en-US" sz="1200" b="1" dirty="0"/>
              <a:t>中全部的命题变项, </a:t>
            </a:r>
          </a:p>
          <a:p>
            <a:pPr algn="just" eaLnBrk="1" hangingPunct="1">
              <a:buFontTx/>
              <a:buNone/>
            </a:pPr>
            <a:r>
              <a:rPr lang="zh-CN" altLang="en-US" sz="1200" b="1" dirty="0"/>
              <a:t>给 </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 , </a:t>
            </a:r>
            <a:r>
              <a:rPr lang="en-US" altLang="zh-CN" sz="1200" b="1" i="1" dirty="0" err="1"/>
              <a:t>p</a:t>
            </a:r>
            <a:r>
              <a:rPr lang="en-US" altLang="zh-CN" sz="1200" b="1" i="1" baseline="-30000" dirty="0" err="1"/>
              <a:t>n</a:t>
            </a:r>
            <a:r>
              <a:rPr lang="zh-CN" altLang="en-US" sz="1200" b="1" dirty="0"/>
              <a:t>指定一组真值, 称为对</a:t>
            </a:r>
            <a:r>
              <a:rPr lang="en-US" altLang="zh-CN" sz="1200" b="1" i="1" dirty="0"/>
              <a:t>A</a:t>
            </a:r>
            <a:r>
              <a:rPr lang="zh-CN" altLang="en-US" sz="1200" b="1" dirty="0"/>
              <a:t>的一个</a:t>
            </a:r>
            <a:r>
              <a:rPr lang="zh-CN" altLang="en-US" sz="1200" b="1" dirty="0">
                <a:solidFill>
                  <a:srgbClr val="FF0000"/>
                </a:solidFill>
              </a:rPr>
              <a:t>赋值</a:t>
            </a:r>
            <a:r>
              <a:rPr lang="zh-CN" altLang="en-US" sz="1200" b="1" dirty="0"/>
              <a:t>或</a:t>
            </a:r>
            <a:r>
              <a:rPr lang="zh-CN" altLang="en-US" sz="1200" b="1" dirty="0">
                <a:solidFill>
                  <a:srgbClr val="FF0000"/>
                </a:solidFill>
              </a:rPr>
              <a:t>解释</a:t>
            </a:r>
            <a:r>
              <a:rPr lang="zh-CN" altLang="en-US" sz="1200" b="1" dirty="0"/>
              <a:t>.</a:t>
            </a:r>
          </a:p>
          <a:p>
            <a:pPr algn="just" eaLnBrk="1" hangingPunct="1">
              <a:buFontTx/>
              <a:buNone/>
            </a:pPr>
            <a:r>
              <a:rPr lang="zh-CN" altLang="en-US" sz="1200" b="1" dirty="0"/>
              <a:t>使公式为真的赋值称作</a:t>
            </a:r>
            <a:r>
              <a:rPr lang="zh-CN" altLang="en-US" sz="1200" b="1" dirty="0">
                <a:solidFill>
                  <a:srgbClr val="FF0000"/>
                </a:solidFill>
              </a:rPr>
              <a:t>成真赋值</a:t>
            </a:r>
            <a:r>
              <a:rPr lang="zh-CN" altLang="en-US" sz="1200" b="1" dirty="0"/>
              <a:t>, 使公式为假的赋值称作</a:t>
            </a:r>
          </a:p>
          <a:p>
            <a:pPr algn="just" eaLnBrk="1" hangingPunct="1">
              <a:buFontTx/>
              <a:buNone/>
            </a:pPr>
            <a:r>
              <a:rPr lang="zh-CN" altLang="en-US" sz="1200" b="1" dirty="0">
                <a:solidFill>
                  <a:srgbClr val="FF0000"/>
                </a:solidFill>
              </a:rPr>
              <a:t>成假赋值</a:t>
            </a:r>
          </a:p>
          <a:p>
            <a:pPr algn="just" eaLnBrk="1" hangingPunct="1">
              <a:buFontTx/>
              <a:buNone/>
            </a:pPr>
            <a:endParaRPr lang="zh-CN" altLang="en-US" sz="1200" b="1" dirty="0"/>
          </a:p>
          <a:p>
            <a:pPr algn="just" eaLnBrk="1" hangingPunct="1">
              <a:buFontTx/>
              <a:buNone/>
            </a:pPr>
            <a:r>
              <a:rPr lang="zh-CN" altLang="en-US" sz="1200" b="1" dirty="0"/>
              <a:t>说明: </a:t>
            </a:r>
            <a:endParaRPr lang="en-US" altLang="zh-CN" sz="1200" b="1" dirty="0"/>
          </a:p>
          <a:p>
            <a:pPr algn="just" eaLnBrk="1" hangingPunct="1">
              <a:buFontTx/>
              <a:buNone/>
            </a:pPr>
            <a:r>
              <a:rPr lang="zh-CN" altLang="en-US" sz="1200" b="1" dirty="0"/>
              <a:t>(1) 赋值记作</a:t>
            </a:r>
            <a:r>
              <a:rPr lang="zh-CN" altLang="en-US" sz="1200" b="1" i="1" dirty="0">
                <a:sym typeface="Symbol" panose="05050102010706020507" pitchFamily="18" charset="2"/>
              </a:rPr>
              <a:t></a:t>
            </a:r>
            <a:r>
              <a:rPr lang="zh-CN" altLang="en-US" sz="1200" b="1" dirty="0"/>
              <a:t>=</a:t>
            </a:r>
            <a:r>
              <a:rPr lang="zh-CN" altLang="en-US" sz="1200" b="1" i="1" dirty="0">
                <a:sym typeface="Symbol" panose="05050102010706020507" pitchFamily="18" charset="2"/>
              </a:rPr>
              <a:t></a:t>
            </a:r>
            <a:r>
              <a:rPr lang="zh-CN" altLang="en-US" sz="1200" b="1" baseline="-30000" dirty="0"/>
              <a:t>1</a:t>
            </a:r>
            <a:r>
              <a:rPr lang="zh-CN" altLang="en-US" sz="1200" b="1" i="1" dirty="0">
                <a:sym typeface="Symbol" panose="05050102010706020507" pitchFamily="18" charset="2"/>
              </a:rPr>
              <a:t></a:t>
            </a:r>
            <a:r>
              <a:rPr lang="zh-CN" altLang="en-US" sz="1200" b="1" baseline="-30000" dirty="0"/>
              <a:t>2</a:t>
            </a:r>
            <a:r>
              <a:rPr lang="zh-CN" altLang="en-US" sz="1200" b="1" dirty="0"/>
              <a:t>…</a:t>
            </a:r>
            <a:r>
              <a:rPr lang="zh-CN" altLang="en-US" sz="1200" b="1" i="1" dirty="0">
                <a:sym typeface="Symbol" panose="05050102010706020507" pitchFamily="18" charset="2"/>
              </a:rPr>
              <a:t></a:t>
            </a:r>
            <a:r>
              <a:rPr lang="en-US" altLang="zh-CN" sz="1200" b="1" i="1" baseline="-30000" dirty="0"/>
              <a:t>n</a:t>
            </a:r>
            <a:r>
              <a:rPr lang="zh-CN" altLang="en-US" sz="1200" b="1" dirty="0"/>
              <a:t>, </a:t>
            </a:r>
            <a:r>
              <a:rPr lang="zh-CN" altLang="en-US" sz="1200" b="1" i="1" dirty="0">
                <a:sym typeface="Symbol" panose="05050102010706020507" pitchFamily="18" charset="2"/>
              </a:rPr>
              <a:t></a:t>
            </a:r>
            <a:r>
              <a:rPr lang="en-US" altLang="zh-CN" sz="1200" b="1" i="1" baseline="-30000" dirty="0" err="1"/>
              <a:t>i</a:t>
            </a:r>
            <a:r>
              <a:rPr lang="en-US" altLang="zh-CN" sz="1200" b="1" dirty="0"/>
              <a:t>=0</a:t>
            </a:r>
            <a:r>
              <a:rPr lang="zh-CN" altLang="en-US" sz="1200" b="1" dirty="0"/>
              <a:t>或1, 诸</a:t>
            </a:r>
            <a:r>
              <a:rPr lang="zh-CN" altLang="en-US" sz="1200" b="1" i="1" dirty="0">
                <a:sym typeface="Symbol" panose="05050102010706020507" pitchFamily="18" charset="2"/>
              </a:rPr>
              <a:t></a:t>
            </a:r>
            <a:r>
              <a:rPr lang="en-US" altLang="zh-CN" sz="1200" b="1" i="1" baseline="-30000" dirty="0" err="1"/>
              <a:t>i</a:t>
            </a:r>
            <a:r>
              <a:rPr lang="zh-CN" altLang="en-US" sz="1200" b="1" dirty="0"/>
              <a:t>之间不加标点符号</a:t>
            </a:r>
          </a:p>
          <a:p>
            <a:pPr algn="just" eaLnBrk="1" hangingPunct="1">
              <a:buFontTx/>
              <a:buNone/>
            </a:pPr>
            <a:r>
              <a:rPr lang="zh-CN" altLang="en-US" sz="1200" b="1" dirty="0"/>
              <a:t>(2) 通常赋值与命题变项之间按下标或字母顺序对应, 即</a:t>
            </a:r>
          </a:p>
          <a:p>
            <a:pPr algn="just" eaLnBrk="1" hangingPunct="1">
              <a:buFontTx/>
              <a:buNone/>
            </a:pPr>
            <a:r>
              <a:rPr lang="zh-CN" altLang="en-US" sz="1200" b="1" dirty="0"/>
              <a:t>当</a:t>
            </a:r>
            <a:r>
              <a:rPr lang="en-US" altLang="zh-CN" sz="1200" b="1" i="1" dirty="0"/>
              <a:t>A</a:t>
            </a:r>
            <a:r>
              <a:rPr lang="zh-CN" altLang="en-US" sz="1200" b="1" dirty="0"/>
              <a:t>的全部命题变项为</a:t>
            </a:r>
            <a:r>
              <a:rPr lang="en-US" altLang="zh-CN" sz="1200" b="1" i="1" dirty="0"/>
              <a:t>p</a:t>
            </a:r>
            <a:r>
              <a:rPr lang="en-US" altLang="zh-CN" sz="1200" b="1" baseline="-30000" dirty="0"/>
              <a:t>1</a:t>
            </a:r>
            <a:r>
              <a:rPr lang="en-US" altLang="zh-CN" sz="1200" b="1" dirty="0"/>
              <a:t>, </a:t>
            </a:r>
            <a:r>
              <a:rPr lang="en-US" altLang="zh-CN" sz="1200" b="1" i="1" dirty="0"/>
              <a:t>p</a:t>
            </a:r>
            <a:r>
              <a:rPr lang="en-US" altLang="zh-CN" sz="1200" b="1" baseline="-30000" dirty="0"/>
              <a:t>2</a:t>
            </a:r>
            <a:r>
              <a:rPr lang="en-US" altLang="zh-CN" sz="1200" b="1" dirty="0"/>
              <a:t>, … , </a:t>
            </a:r>
            <a:r>
              <a:rPr lang="en-US" altLang="zh-CN" sz="1200" b="1" i="1" dirty="0" err="1"/>
              <a:t>p</a:t>
            </a:r>
            <a:r>
              <a:rPr lang="en-US" altLang="zh-CN" sz="1200" b="1" i="1" baseline="-30000" dirty="0" err="1"/>
              <a:t>n</a:t>
            </a:r>
            <a:r>
              <a:rPr lang="zh-CN" altLang="en-US" sz="1200" b="1" dirty="0"/>
              <a:t>时, 给</a:t>
            </a:r>
            <a:r>
              <a:rPr lang="en-US" altLang="zh-CN" sz="1200" b="1" i="1" dirty="0"/>
              <a:t>A</a:t>
            </a:r>
            <a:r>
              <a:rPr lang="zh-CN" altLang="en-US" sz="1200" b="1" dirty="0"/>
              <a:t>赋值</a:t>
            </a:r>
            <a:r>
              <a:rPr lang="zh-CN" altLang="en-US" sz="1200" b="1" i="1" dirty="0">
                <a:sym typeface="Symbol" panose="05050102010706020507" pitchFamily="18" charset="2"/>
              </a:rPr>
              <a:t></a:t>
            </a:r>
            <a:r>
              <a:rPr lang="zh-CN" altLang="en-US" sz="1200" b="1" baseline="-30000" dirty="0"/>
              <a:t>1</a:t>
            </a:r>
            <a:r>
              <a:rPr lang="zh-CN" altLang="en-US" sz="1200" b="1" i="1" dirty="0">
                <a:sym typeface="Symbol" panose="05050102010706020507" pitchFamily="18" charset="2"/>
              </a:rPr>
              <a:t></a:t>
            </a:r>
            <a:r>
              <a:rPr lang="zh-CN" altLang="en-US" sz="1200" b="1" baseline="-30000" dirty="0"/>
              <a:t>2</a:t>
            </a:r>
            <a:r>
              <a:rPr lang="zh-CN" altLang="en-US" sz="1200" b="1" dirty="0"/>
              <a:t>…</a:t>
            </a:r>
            <a:r>
              <a:rPr lang="zh-CN" altLang="en-US" sz="1200" b="1" i="1" dirty="0">
                <a:sym typeface="Symbol" panose="05050102010706020507" pitchFamily="18" charset="2"/>
              </a:rPr>
              <a:t></a:t>
            </a:r>
            <a:r>
              <a:rPr lang="en-US" altLang="zh-CN" sz="1200" b="1" i="1" baseline="-30000" dirty="0"/>
              <a:t>n</a:t>
            </a:r>
          </a:p>
          <a:p>
            <a:pPr algn="just" eaLnBrk="1" hangingPunct="1">
              <a:buFontTx/>
              <a:buNone/>
            </a:pPr>
            <a:r>
              <a:rPr lang="zh-CN" altLang="en-US" sz="1200" b="1" dirty="0"/>
              <a:t>是指</a:t>
            </a:r>
            <a:r>
              <a:rPr lang="en-US" altLang="zh-CN" sz="1200" b="1" i="1" dirty="0"/>
              <a:t>p</a:t>
            </a:r>
            <a:r>
              <a:rPr lang="en-US" altLang="zh-CN" sz="1200" b="1" baseline="-30000" dirty="0"/>
              <a:t>1</a:t>
            </a:r>
            <a:r>
              <a:rPr lang="en-US" altLang="zh-CN" sz="1200" b="1" dirty="0"/>
              <a:t>=</a:t>
            </a:r>
            <a:r>
              <a:rPr lang="en-US" altLang="zh-CN" sz="1200" b="1" i="1" dirty="0">
                <a:sym typeface="Symbol" panose="05050102010706020507" pitchFamily="18" charset="2"/>
              </a:rPr>
              <a:t></a:t>
            </a:r>
            <a:r>
              <a:rPr lang="en-US" altLang="zh-CN" sz="1200" b="1" baseline="-30000" dirty="0"/>
              <a:t>1</a:t>
            </a:r>
            <a:r>
              <a:rPr lang="en-US" altLang="zh-CN" sz="1200" b="1" dirty="0"/>
              <a:t>,</a:t>
            </a:r>
            <a:r>
              <a:rPr lang="en-US" altLang="zh-CN" sz="1200" b="1" i="1" dirty="0"/>
              <a:t>p</a:t>
            </a:r>
            <a:r>
              <a:rPr lang="en-US" altLang="zh-CN" sz="1200" b="1" baseline="-30000" dirty="0"/>
              <a:t>2</a:t>
            </a:r>
            <a:r>
              <a:rPr lang="en-US" altLang="zh-CN" sz="1200" b="1" dirty="0"/>
              <a:t>=</a:t>
            </a:r>
            <a:r>
              <a:rPr lang="en-US" altLang="zh-CN" sz="1200" b="1" i="1" dirty="0">
                <a:sym typeface="Symbol" panose="05050102010706020507" pitchFamily="18" charset="2"/>
              </a:rPr>
              <a:t></a:t>
            </a:r>
            <a:r>
              <a:rPr lang="en-US" altLang="zh-CN" sz="1200" b="1" baseline="-30000" dirty="0"/>
              <a:t>2</a:t>
            </a:r>
            <a:r>
              <a:rPr lang="en-US" altLang="zh-CN" sz="1200" b="1" dirty="0"/>
              <a:t>,…,</a:t>
            </a:r>
            <a:r>
              <a:rPr lang="en-US" altLang="zh-CN" sz="1200" b="1" i="1" dirty="0" err="1"/>
              <a:t>p</a:t>
            </a:r>
            <a:r>
              <a:rPr lang="en-US" altLang="zh-CN" sz="1200" b="1" i="1" baseline="-30000" dirty="0" err="1"/>
              <a:t>n</a:t>
            </a:r>
            <a:r>
              <a:rPr lang="en-US" altLang="zh-CN" sz="1200" b="1" dirty="0"/>
              <a:t>=</a:t>
            </a:r>
            <a:r>
              <a:rPr lang="en-US" altLang="zh-CN" sz="1200" b="1" i="1" dirty="0">
                <a:sym typeface="Symbol" panose="05050102010706020507" pitchFamily="18" charset="2"/>
              </a:rPr>
              <a:t></a:t>
            </a:r>
            <a:r>
              <a:rPr lang="en-US" altLang="zh-CN" sz="1200" b="1" i="1" baseline="-30000" dirty="0"/>
              <a:t>n</a:t>
            </a:r>
            <a:r>
              <a:rPr lang="zh-CN" altLang="en-US" sz="1200" b="1" dirty="0"/>
              <a:t>; 当</a:t>
            </a:r>
            <a:r>
              <a:rPr lang="en-US" altLang="zh-CN" sz="1200" b="1" i="1" dirty="0"/>
              <a:t>A</a:t>
            </a:r>
            <a:r>
              <a:rPr lang="zh-CN" altLang="en-US" sz="1200" b="1" dirty="0"/>
              <a:t>的全部命题变项为</a:t>
            </a:r>
            <a:r>
              <a:rPr lang="en-US" altLang="zh-CN" sz="1200" b="1" i="1" dirty="0" err="1"/>
              <a:t>p,q</a:t>
            </a:r>
            <a:r>
              <a:rPr lang="en-US" altLang="zh-CN" sz="1200" b="1" dirty="0" err="1"/>
              <a:t>,</a:t>
            </a:r>
            <a:r>
              <a:rPr lang="en-US" altLang="zh-CN" sz="1200" b="1" i="1" dirty="0" err="1"/>
              <a:t>r</a:t>
            </a:r>
            <a:r>
              <a:rPr lang="en-US" altLang="zh-CN" sz="1200" b="1" dirty="0"/>
              <a:t>,…</a:t>
            </a:r>
          </a:p>
          <a:p>
            <a:pPr algn="just" eaLnBrk="1" hangingPunct="1">
              <a:buFontTx/>
              <a:buNone/>
            </a:pPr>
            <a:r>
              <a:rPr lang="zh-CN" altLang="en-US" sz="1200" b="1" dirty="0"/>
              <a:t>时, 给</a:t>
            </a:r>
            <a:r>
              <a:rPr lang="en-US" altLang="zh-CN" sz="1200" b="1" i="1" dirty="0"/>
              <a:t>A</a:t>
            </a:r>
            <a:r>
              <a:rPr lang="zh-CN" altLang="en-US" sz="1200" b="1" dirty="0"/>
              <a:t>赋值</a:t>
            </a:r>
            <a:r>
              <a:rPr lang="zh-CN" altLang="en-US" sz="1200" b="1" i="1" dirty="0">
                <a:sym typeface="Symbol" panose="05050102010706020507" pitchFamily="18" charset="2"/>
              </a:rPr>
              <a:t></a:t>
            </a:r>
            <a:r>
              <a:rPr lang="zh-CN" altLang="en-US" sz="1200" b="1" baseline="-30000" dirty="0"/>
              <a:t>1</a:t>
            </a:r>
            <a:r>
              <a:rPr lang="zh-CN" altLang="en-US" sz="1200" b="1" i="1" dirty="0">
                <a:sym typeface="Symbol" panose="05050102010706020507" pitchFamily="18" charset="2"/>
              </a:rPr>
              <a:t></a:t>
            </a:r>
            <a:r>
              <a:rPr lang="zh-CN" altLang="en-US" sz="1200" b="1" baseline="-30000" dirty="0"/>
              <a:t>2</a:t>
            </a:r>
            <a:r>
              <a:rPr lang="en-US" altLang="zh-CN" sz="1200" b="1" i="1" dirty="0">
                <a:sym typeface="Symbol" panose="05050102010706020507" pitchFamily="18" charset="2"/>
              </a:rPr>
              <a:t></a:t>
            </a:r>
            <a:r>
              <a:rPr lang="en-US" altLang="zh-CN" sz="1200" b="1" baseline="-30000" dirty="0"/>
              <a:t>3</a:t>
            </a:r>
            <a:r>
              <a:rPr lang="en-US" altLang="zh-CN" sz="1200" b="1" dirty="0"/>
              <a:t>…</a:t>
            </a:r>
            <a:r>
              <a:rPr lang="zh-CN" altLang="en-US" sz="1200" b="1" dirty="0"/>
              <a:t>是指</a:t>
            </a:r>
            <a:r>
              <a:rPr lang="en-US" altLang="zh-CN" sz="1200" b="1" i="1" dirty="0"/>
              <a:t>p</a:t>
            </a:r>
            <a:r>
              <a:rPr lang="en-US" altLang="zh-CN" sz="1200" b="1" dirty="0"/>
              <a:t>=</a:t>
            </a:r>
            <a:r>
              <a:rPr lang="en-US" altLang="zh-CN" sz="1200" b="1" i="1" dirty="0">
                <a:sym typeface="Symbol" panose="05050102010706020507" pitchFamily="18" charset="2"/>
              </a:rPr>
              <a:t></a:t>
            </a:r>
            <a:r>
              <a:rPr lang="en-US" altLang="zh-CN" sz="1200" b="1" baseline="-30000" dirty="0"/>
              <a:t>1</a:t>
            </a:r>
            <a:r>
              <a:rPr lang="en-US" altLang="zh-CN" sz="1200" b="1" dirty="0"/>
              <a:t>, </a:t>
            </a:r>
            <a:r>
              <a:rPr lang="en-US" altLang="zh-CN" sz="1200" b="1" i="1" dirty="0"/>
              <a:t>q</a:t>
            </a:r>
            <a:r>
              <a:rPr lang="en-US" altLang="zh-CN" sz="1200" b="1" dirty="0"/>
              <a:t>=</a:t>
            </a:r>
            <a:r>
              <a:rPr lang="en-US" altLang="zh-CN" sz="1200" b="1" i="1" dirty="0">
                <a:sym typeface="Symbol" panose="05050102010706020507" pitchFamily="18" charset="2"/>
              </a:rPr>
              <a:t></a:t>
            </a:r>
            <a:r>
              <a:rPr lang="en-US" altLang="zh-CN" sz="1200" b="1" baseline="-30000" dirty="0"/>
              <a:t>2</a:t>
            </a:r>
            <a:r>
              <a:rPr lang="en-US" altLang="zh-CN" sz="1200" b="1" dirty="0"/>
              <a:t>, </a:t>
            </a:r>
            <a:r>
              <a:rPr lang="en-US" altLang="zh-CN" sz="1200" b="1" i="1" dirty="0"/>
              <a:t>r</a:t>
            </a:r>
            <a:r>
              <a:rPr lang="en-US" altLang="zh-CN" sz="1200" b="1" dirty="0"/>
              <a:t>=</a:t>
            </a:r>
            <a:r>
              <a:rPr lang="en-US" altLang="zh-CN" sz="1200" b="1" i="1" dirty="0">
                <a:sym typeface="Symbol" panose="05050102010706020507" pitchFamily="18" charset="2"/>
              </a:rPr>
              <a:t></a:t>
            </a:r>
            <a:r>
              <a:rPr lang="en-US" altLang="zh-CN" sz="1200" b="1" baseline="-30000" dirty="0"/>
              <a:t>3</a:t>
            </a:r>
            <a:r>
              <a:rPr lang="en-US" altLang="zh-CN" sz="1200" b="1" dirty="0"/>
              <a:t>, …</a:t>
            </a:r>
            <a:endParaRPr lang="en-US" altLang="zh-CN" sz="1200" b="1" dirty="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11238330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40000"/>
              </a:spcBef>
              <a:buFontTx/>
              <a:buNone/>
            </a:pPr>
            <a:r>
              <a:rPr lang="zh-CN" altLang="en-US" sz="1200" b="1" dirty="0">
                <a:solidFill>
                  <a:srgbClr val="00B0F0"/>
                </a:solidFill>
              </a:rPr>
              <a:t>例：</a:t>
            </a:r>
            <a:r>
              <a:rPr lang="zh-CN" altLang="en-US" sz="1200" b="1" dirty="0">
                <a:solidFill>
                  <a:srgbClr val="000066"/>
                </a:solidFill>
              </a:rPr>
              <a:t> </a:t>
            </a:r>
            <a:r>
              <a:rPr lang="zh-CN" altLang="en-US" sz="1200" b="1" dirty="0"/>
              <a:t>公式</a:t>
            </a:r>
            <a:r>
              <a:rPr lang="en-US" altLang="zh-CN" sz="1200" b="1" i="1" dirty="0"/>
              <a:t>A</a:t>
            </a:r>
            <a:r>
              <a:rPr lang="en-US" altLang="zh-CN" sz="1200" b="1" dirty="0"/>
              <a:t>=(</a:t>
            </a:r>
            <a:r>
              <a:rPr lang="en-US" altLang="zh-CN" sz="1200" b="1" dirty="0">
                <a:sym typeface="Symbol" panose="05050102010706020507" pitchFamily="18" charset="2"/>
              </a:rPr>
              <a:t></a:t>
            </a:r>
            <a:r>
              <a:rPr lang="en-US" altLang="zh-CN" sz="1200" b="1" dirty="0"/>
              <a:t> </a:t>
            </a:r>
            <a:r>
              <a:rPr lang="en-US" altLang="zh-CN" sz="1200" b="1" i="1" dirty="0"/>
              <a:t>p</a:t>
            </a:r>
            <a:r>
              <a:rPr lang="en-US" altLang="zh-CN" sz="1200" b="1" baseline="-30000" dirty="0"/>
              <a:t>1</a:t>
            </a:r>
            <a:r>
              <a:rPr lang="en-US" altLang="zh-CN" sz="1200" b="1" dirty="0">
                <a:sym typeface="Symbol" panose="05050102010706020507" pitchFamily="18" charset="2"/>
              </a:rPr>
              <a:t></a:t>
            </a:r>
            <a:r>
              <a:rPr lang="en-US" altLang="zh-CN" sz="1200" b="1" dirty="0"/>
              <a:t> </a:t>
            </a:r>
            <a:r>
              <a:rPr lang="en-US" altLang="zh-CN" sz="1200" b="1" dirty="0">
                <a:sym typeface="Symbol" panose="05050102010706020507" pitchFamily="18" charset="2"/>
              </a:rPr>
              <a:t></a:t>
            </a:r>
            <a:r>
              <a:rPr lang="en-US" altLang="zh-CN" sz="1200" b="1" dirty="0"/>
              <a:t> </a:t>
            </a:r>
            <a:r>
              <a:rPr lang="en-US" altLang="zh-CN" sz="1200" b="1" i="1" dirty="0"/>
              <a:t>p</a:t>
            </a:r>
            <a:r>
              <a:rPr lang="en-US" altLang="zh-CN" sz="1200" b="1" baseline="-30000" dirty="0"/>
              <a:t>2</a:t>
            </a:r>
            <a:r>
              <a:rPr lang="en-US" altLang="zh-CN" sz="1200" b="1" dirty="0">
                <a:sym typeface="Symbol" panose="05050102010706020507" pitchFamily="18" charset="2"/>
              </a:rPr>
              <a:t>  </a:t>
            </a:r>
            <a:r>
              <a:rPr lang="en-US" altLang="zh-CN" sz="1200" b="1" i="1" dirty="0"/>
              <a:t>p</a:t>
            </a:r>
            <a:r>
              <a:rPr lang="en-US" altLang="zh-CN" sz="1200" b="1" baseline="-30000" dirty="0"/>
              <a:t>3</a:t>
            </a:r>
            <a:r>
              <a:rPr lang="en-US" altLang="zh-CN" sz="1200" b="1" dirty="0"/>
              <a:t> )</a:t>
            </a:r>
            <a:r>
              <a:rPr lang="en-US" altLang="zh-CN" sz="1200" b="1" dirty="0">
                <a:sym typeface="Symbol" panose="05050102010706020507" pitchFamily="18" charset="2"/>
              </a:rPr>
              <a:t></a:t>
            </a:r>
            <a:r>
              <a:rPr lang="en-US" altLang="zh-CN" sz="1200" b="1" dirty="0"/>
              <a:t>(</a:t>
            </a:r>
            <a:r>
              <a:rPr lang="en-US" altLang="zh-CN" sz="1200" b="1" i="1" dirty="0"/>
              <a:t>p</a:t>
            </a:r>
            <a:r>
              <a:rPr lang="en-US" altLang="zh-CN" sz="1200" b="1" baseline="-30000" dirty="0"/>
              <a:t>1</a:t>
            </a:r>
            <a:r>
              <a:rPr lang="en-US" altLang="zh-CN" sz="1200" b="1" dirty="0">
                <a:sym typeface="Symbol" panose="05050102010706020507" pitchFamily="18" charset="2"/>
              </a:rPr>
              <a:t></a:t>
            </a:r>
            <a:r>
              <a:rPr lang="en-US" altLang="zh-CN" sz="1200" b="1" dirty="0"/>
              <a:t> </a:t>
            </a:r>
            <a:r>
              <a:rPr lang="en-US" altLang="zh-CN" sz="1200" b="1" i="1" dirty="0"/>
              <a:t>p</a:t>
            </a:r>
            <a:r>
              <a:rPr lang="en-US" altLang="zh-CN" sz="1200" b="1" baseline="-30000" dirty="0"/>
              <a:t>2</a:t>
            </a:r>
            <a:r>
              <a:rPr lang="en-US" altLang="zh-CN" sz="1200" b="1" dirty="0"/>
              <a:t>)</a:t>
            </a:r>
          </a:p>
          <a:p>
            <a:pPr eaLnBrk="1" hangingPunct="1">
              <a:spcBef>
                <a:spcPct val="40000"/>
              </a:spcBef>
              <a:buFontTx/>
              <a:buNone/>
            </a:pPr>
            <a:r>
              <a:rPr lang="en-US" altLang="zh-CN" sz="1200" b="1" dirty="0"/>
              <a:t>     000</a:t>
            </a:r>
            <a:r>
              <a:rPr lang="zh-CN" altLang="en-US" sz="1200" b="1" dirty="0"/>
              <a:t>是成真赋值,   001是成假赋值</a:t>
            </a:r>
          </a:p>
          <a:p>
            <a:pPr eaLnBrk="1" hangingPunct="1">
              <a:spcBef>
                <a:spcPct val="40000"/>
              </a:spcBef>
              <a:buFontTx/>
              <a:buNone/>
            </a:pPr>
            <a:r>
              <a:rPr lang="zh-CN" altLang="en-US" sz="1200" b="1" dirty="0"/>
              <a:t>     </a:t>
            </a:r>
            <a:endParaRPr lang="en-US" altLang="zh-CN" sz="1200" b="1" dirty="0"/>
          </a:p>
          <a:p>
            <a:pPr eaLnBrk="1" hangingPunct="1">
              <a:spcBef>
                <a:spcPct val="40000"/>
              </a:spcBef>
              <a:buFontTx/>
              <a:buNone/>
            </a:pPr>
            <a:r>
              <a:rPr lang="en-US" altLang="zh-CN" b="1" dirty="0"/>
              <a:t>     </a:t>
            </a:r>
            <a:r>
              <a:rPr lang="zh-CN" altLang="en-US" sz="1200" b="1" dirty="0"/>
              <a:t>公式</a:t>
            </a:r>
            <a:r>
              <a:rPr lang="en-US" altLang="zh-CN" sz="1200" b="1" i="1" dirty="0"/>
              <a:t>B</a:t>
            </a:r>
            <a:r>
              <a:rPr lang="en-US" altLang="zh-CN" sz="1200" b="1" dirty="0"/>
              <a:t>= (</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a:t>
            </a:r>
            <a:r>
              <a:rPr lang="en-US" altLang="zh-CN" sz="1200" b="1" dirty="0">
                <a:sym typeface="Symbol" panose="05050102010706020507" pitchFamily="18" charset="2"/>
              </a:rPr>
              <a:t></a:t>
            </a:r>
            <a:r>
              <a:rPr lang="en-US" altLang="zh-CN" sz="1200" b="1" i="1" dirty="0"/>
              <a:t>r</a:t>
            </a:r>
            <a:endParaRPr lang="en-US" altLang="zh-CN" sz="1200" b="1" dirty="0"/>
          </a:p>
          <a:p>
            <a:pPr eaLnBrk="1" hangingPunct="1">
              <a:spcBef>
                <a:spcPct val="40000"/>
              </a:spcBef>
              <a:buFontTx/>
              <a:buNone/>
            </a:pPr>
            <a:r>
              <a:rPr lang="en-US" altLang="zh-CN" sz="1200" b="1" dirty="0"/>
              <a:t>     000</a:t>
            </a:r>
            <a:r>
              <a:rPr lang="zh-CN" altLang="en-US" sz="1200" b="1" dirty="0"/>
              <a:t>是成假赋值,   001是成真赋值</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29204648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20000"/>
              </a:spcBef>
              <a:buNone/>
            </a:pPr>
            <a:r>
              <a:rPr lang="zh-CN" altLang="en-US" sz="1200" b="1" dirty="0">
                <a:solidFill>
                  <a:srgbClr val="FF0000"/>
                </a:solidFill>
                <a:latin typeface="Times New Roman" panose="02020603050405020304" pitchFamily="18" charset="0"/>
                <a:ea typeface="宋体" panose="02010600030101010101" pitchFamily="2" charset="-122"/>
              </a:rPr>
              <a:t>真值表</a:t>
            </a:r>
            <a:r>
              <a:rPr lang="zh-CN" altLang="en-US" sz="1200" b="1" dirty="0">
                <a:solidFill>
                  <a:schemeClr val="tx1"/>
                </a:solidFill>
                <a:latin typeface="Times New Roman" panose="02020603050405020304" pitchFamily="18" charset="0"/>
                <a:ea typeface="宋体" panose="02010600030101010101" pitchFamily="2" charset="-122"/>
              </a:rPr>
              <a:t>: 命题公式在所有可能的赋值下的取值的列表</a:t>
            </a:r>
          </a:p>
          <a:p>
            <a:pPr marL="0" indent="0">
              <a:spcBef>
                <a:spcPct val="20000"/>
              </a:spcBef>
              <a:buNone/>
            </a:pPr>
            <a:r>
              <a:rPr lang="zh-CN" altLang="en-US" sz="1200" b="1" dirty="0">
                <a:solidFill>
                  <a:schemeClr val="tx1"/>
                </a:solidFill>
                <a:latin typeface="Times New Roman" panose="02020603050405020304" pitchFamily="18" charset="0"/>
                <a:ea typeface="宋体" panose="02010600030101010101" pitchFamily="2" charset="-122"/>
              </a:rPr>
              <a:t>含</a:t>
            </a:r>
            <a:r>
              <a:rPr lang="en-US" altLang="zh-CN" sz="1200" b="1" i="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个变项的公式有2</a:t>
            </a:r>
            <a:r>
              <a:rPr lang="en-US" altLang="zh-CN" sz="1200" b="1" i="1" baseline="30000"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个赋值</a:t>
            </a: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spcBef>
                <a:spcPct val="20000"/>
              </a:spcBef>
              <a:buNone/>
            </a:pPr>
            <a:endParaRPr lang="en-US" altLang="zh-CN" b="1" dirty="0">
              <a:latin typeface="Times New Roman" panose="02020603050405020304" pitchFamily="18" charset="0"/>
              <a:ea typeface="宋体" panose="02010600030101010101" pitchFamily="2" charset="-122"/>
            </a:endParaRPr>
          </a:p>
          <a:p>
            <a:pPr eaLnBrk="1" hangingPunct="1">
              <a:buFontTx/>
              <a:buNone/>
            </a:pPr>
            <a:r>
              <a:rPr lang="zh-CN" altLang="en-US" sz="1200" b="1" dirty="0">
                <a:solidFill>
                  <a:srgbClr val="00B0F0"/>
                </a:solidFill>
              </a:rPr>
              <a:t>例：</a:t>
            </a:r>
            <a:r>
              <a:rPr lang="zh-CN" altLang="en-US" sz="1200" b="1" dirty="0"/>
              <a:t> 给出下面命题公式的真值表</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25675235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20000"/>
              </a:spcBef>
              <a:buNone/>
            </a:pPr>
            <a:r>
              <a:rPr lang="zh-CN" altLang="en-US" sz="1200" b="1" dirty="0">
                <a:solidFill>
                  <a:srgbClr val="FF0000"/>
                </a:solidFill>
                <a:latin typeface="Times New Roman" panose="02020603050405020304" pitchFamily="18" charset="0"/>
                <a:ea typeface="宋体" panose="02010600030101010101" pitchFamily="2" charset="-122"/>
              </a:rPr>
              <a:t>真值表</a:t>
            </a:r>
            <a:r>
              <a:rPr lang="zh-CN" altLang="en-US" sz="1200" b="1" dirty="0">
                <a:solidFill>
                  <a:schemeClr val="tx1"/>
                </a:solidFill>
                <a:latin typeface="Times New Roman" panose="02020603050405020304" pitchFamily="18" charset="0"/>
                <a:ea typeface="宋体" panose="02010600030101010101" pitchFamily="2" charset="-122"/>
              </a:rPr>
              <a:t>: 命题公式在所有可能的赋值下的取值的列表</a:t>
            </a:r>
          </a:p>
          <a:p>
            <a:pPr marL="0" indent="0">
              <a:spcBef>
                <a:spcPct val="20000"/>
              </a:spcBef>
              <a:buNone/>
            </a:pPr>
            <a:r>
              <a:rPr lang="zh-CN" altLang="en-US" sz="1200" b="1" dirty="0">
                <a:solidFill>
                  <a:schemeClr val="tx1"/>
                </a:solidFill>
                <a:latin typeface="Times New Roman" panose="02020603050405020304" pitchFamily="18" charset="0"/>
                <a:ea typeface="宋体" panose="02010600030101010101" pitchFamily="2" charset="-122"/>
              </a:rPr>
              <a:t>含</a:t>
            </a:r>
            <a:r>
              <a:rPr lang="en-US" altLang="zh-CN" sz="1200" b="1" i="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个变项的公式有2</a:t>
            </a:r>
            <a:r>
              <a:rPr lang="en-US" altLang="zh-CN" sz="1200" b="1" i="1" baseline="30000"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个赋值</a:t>
            </a: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spcBef>
                <a:spcPct val="20000"/>
              </a:spcBef>
              <a:buNone/>
            </a:pPr>
            <a:endParaRPr lang="en-US" altLang="zh-CN" b="1" dirty="0">
              <a:latin typeface="Times New Roman" panose="02020603050405020304" pitchFamily="18" charset="0"/>
              <a:ea typeface="宋体" panose="02010600030101010101" pitchFamily="2" charset="-122"/>
            </a:endParaRPr>
          </a:p>
          <a:p>
            <a:pPr eaLnBrk="1" hangingPunct="1">
              <a:buFontTx/>
              <a:buNone/>
            </a:pPr>
            <a:r>
              <a:rPr lang="zh-CN" altLang="en-US" sz="1200" b="1" dirty="0">
                <a:solidFill>
                  <a:srgbClr val="00B0F0"/>
                </a:solidFill>
              </a:rPr>
              <a:t>例：</a:t>
            </a:r>
            <a:r>
              <a:rPr lang="zh-CN" altLang="en-US" sz="1200" b="1" dirty="0"/>
              <a:t> 给出下面命题公式的真值表</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2454825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20000"/>
              </a:spcBef>
              <a:buNone/>
            </a:pPr>
            <a:r>
              <a:rPr lang="zh-CN" altLang="en-US" sz="1200" b="1" dirty="0">
                <a:solidFill>
                  <a:srgbClr val="FF0000"/>
                </a:solidFill>
                <a:latin typeface="Times New Roman" panose="02020603050405020304" pitchFamily="18" charset="0"/>
                <a:ea typeface="宋体" panose="02010600030101010101" pitchFamily="2" charset="-122"/>
              </a:rPr>
              <a:t>真值表</a:t>
            </a:r>
            <a:r>
              <a:rPr lang="zh-CN" altLang="en-US" sz="1200" b="1" dirty="0">
                <a:solidFill>
                  <a:schemeClr val="tx1"/>
                </a:solidFill>
                <a:latin typeface="Times New Roman" panose="02020603050405020304" pitchFamily="18" charset="0"/>
                <a:ea typeface="宋体" panose="02010600030101010101" pitchFamily="2" charset="-122"/>
              </a:rPr>
              <a:t>: 命题公式在所有可能的赋值下的取值的列表</a:t>
            </a:r>
          </a:p>
          <a:p>
            <a:pPr marL="0" indent="0">
              <a:spcBef>
                <a:spcPct val="20000"/>
              </a:spcBef>
              <a:buNone/>
            </a:pPr>
            <a:r>
              <a:rPr lang="zh-CN" altLang="en-US" sz="1200" b="1" dirty="0">
                <a:solidFill>
                  <a:schemeClr val="tx1"/>
                </a:solidFill>
                <a:latin typeface="Times New Roman" panose="02020603050405020304" pitchFamily="18" charset="0"/>
                <a:ea typeface="宋体" panose="02010600030101010101" pitchFamily="2" charset="-122"/>
              </a:rPr>
              <a:t>含</a:t>
            </a:r>
            <a:r>
              <a:rPr lang="en-US" altLang="zh-CN" sz="1200" b="1" i="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个变项的公式有2</a:t>
            </a:r>
            <a:r>
              <a:rPr lang="en-US" altLang="zh-CN" sz="1200" b="1" i="1" baseline="30000"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个赋值</a:t>
            </a: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spcBef>
                <a:spcPct val="20000"/>
              </a:spcBef>
              <a:buNone/>
            </a:pPr>
            <a:endParaRPr lang="en-US" altLang="zh-CN" b="1" dirty="0">
              <a:latin typeface="Times New Roman" panose="02020603050405020304" pitchFamily="18" charset="0"/>
              <a:ea typeface="宋体" panose="02010600030101010101" pitchFamily="2" charset="-122"/>
            </a:endParaRPr>
          </a:p>
          <a:p>
            <a:pPr eaLnBrk="1" hangingPunct="1">
              <a:buFontTx/>
              <a:buNone/>
            </a:pPr>
            <a:r>
              <a:rPr lang="zh-CN" altLang="en-US" sz="1200" b="1" dirty="0">
                <a:solidFill>
                  <a:srgbClr val="00B0F0"/>
                </a:solidFill>
              </a:rPr>
              <a:t>例：</a:t>
            </a:r>
            <a:r>
              <a:rPr lang="zh-CN" altLang="en-US" sz="1200" b="1" dirty="0"/>
              <a:t> 给出下面命题公式的真值表</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19411998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0000"/>
                </a:solidFill>
                <a:latin typeface="宋体" panose="02010600030101010101" pitchFamily="2" charset="-122"/>
              </a:rPr>
              <a:t>重言式(永真式)</a:t>
            </a:r>
            <a:r>
              <a:rPr lang="zh-CN" altLang="en-US" sz="1200" b="1" dirty="0"/>
              <a:t>: </a:t>
            </a:r>
            <a:r>
              <a:rPr lang="zh-CN" altLang="en-US" sz="1200" b="1" dirty="0">
                <a:latin typeface="宋体" panose="02010600030101010101" pitchFamily="2" charset="-122"/>
              </a:rPr>
              <a:t>无成假赋值的命题公式</a:t>
            </a:r>
            <a:endParaRPr lang="zh-CN" altLang="en-US" sz="1200" b="1" dirty="0"/>
          </a:p>
          <a:p>
            <a:pPr algn="just" eaLnBrk="1" hangingPunct="1">
              <a:buFontTx/>
              <a:buNone/>
            </a:pPr>
            <a:r>
              <a:rPr lang="zh-CN" altLang="en-US" sz="1200" b="1" dirty="0">
                <a:solidFill>
                  <a:srgbClr val="FF0000"/>
                </a:solidFill>
                <a:latin typeface="宋体" panose="02010600030101010101" pitchFamily="2" charset="-122"/>
              </a:rPr>
              <a:t>矛盾式(永假式)</a:t>
            </a:r>
            <a:r>
              <a:rPr lang="zh-CN" altLang="en-US" sz="1200" b="1" dirty="0"/>
              <a:t>: </a:t>
            </a:r>
            <a:r>
              <a:rPr lang="zh-CN" altLang="en-US" sz="1200" b="1" dirty="0">
                <a:latin typeface="宋体" panose="02010600030101010101" pitchFamily="2" charset="-122"/>
              </a:rPr>
              <a:t>无成真赋值的命题公式</a:t>
            </a:r>
          </a:p>
          <a:p>
            <a:pPr algn="just" eaLnBrk="1" hangingPunct="1">
              <a:buFontTx/>
              <a:buNone/>
            </a:pPr>
            <a:r>
              <a:rPr lang="zh-CN" altLang="en-US" sz="1200" b="1" dirty="0">
                <a:solidFill>
                  <a:srgbClr val="FF0000"/>
                </a:solidFill>
                <a:latin typeface="宋体" panose="02010600030101010101" pitchFamily="2" charset="-122"/>
              </a:rPr>
              <a:t>可满足式</a:t>
            </a:r>
            <a:r>
              <a:rPr lang="zh-CN" altLang="en-US" sz="1200" b="1" dirty="0"/>
              <a:t>: </a:t>
            </a:r>
            <a:r>
              <a:rPr lang="zh-CN" altLang="en-US" sz="1200" b="1" dirty="0">
                <a:latin typeface="宋体" panose="02010600030101010101" pitchFamily="2" charset="-122"/>
              </a:rPr>
              <a:t>非矛盾式的命题公式</a:t>
            </a:r>
            <a:endParaRPr lang="zh-CN" altLang="en-US" sz="1200" b="1" dirty="0">
              <a:solidFill>
                <a:srgbClr val="FF0000"/>
              </a:solidFill>
            </a:endParaRPr>
          </a:p>
          <a:p>
            <a:pPr algn="just" eaLnBrk="1" hangingPunct="1">
              <a:buFontTx/>
              <a:buNone/>
            </a:pPr>
            <a:r>
              <a:rPr lang="zh-CN" altLang="en-US" sz="1200" b="1" dirty="0">
                <a:latin typeface="宋体" panose="02010600030101010101" pitchFamily="2" charset="-122"/>
              </a:rPr>
              <a:t>注意</a:t>
            </a:r>
            <a:r>
              <a:rPr lang="zh-CN" altLang="en-US" sz="1200" b="1" dirty="0"/>
              <a:t>: </a:t>
            </a:r>
            <a:r>
              <a:rPr lang="zh-CN" altLang="en-US" sz="1200" b="1" dirty="0">
                <a:latin typeface="宋体" panose="02010600030101010101" pitchFamily="2" charset="-122"/>
              </a:rPr>
              <a:t>重言式是可满足式，但反之不真.</a:t>
            </a:r>
            <a:endParaRPr lang="zh-CN" altLang="en-US" sz="1200" b="1" dirty="0"/>
          </a:p>
          <a:p>
            <a:pPr eaLnBrk="1" hangingPunct="1">
              <a:buFontTx/>
              <a:buNone/>
            </a:pPr>
            <a:r>
              <a:rPr lang="zh-CN" altLang="en-US" sz="1200" b="1" dirty="0">
                <a:solidFill>
                  <a:srgbClr val="00B0F0"/>
                </a:solidFill>
              </a:rPr>
              <a:t>例：</a:t>
            </a:r>
            <a:endParaRPr lang="zh-CN" altLang="en-US" sz="1200" b="1" dirty="0">
              <a:solidFill>
                <a:srgbClr val="000066"/>
              </a:solidFill>
              <a:latin typeface="宋体" panose="02010600030101010101" pitchFamily="2" charset="-122"/>
            </a:endParaRPr>
          </a:p>
          <a:p>
            <a:pPr eaLnBrk="1" hangingPunct="1">
              <a:buFontTx/>
              <a:buNone/>
            </a:pPr>
            <a:r>
              <a:rPr lang="zh-CN" altLang="en-US" sz="1200" b="1" dirty="0"/>
              <a:t>(1)</a:t>
            </a:r>
            <a:r>
              <a:rPr lang="zh-CN" altLang="en-US" sz="1200" b="1" dirty="0">
                <a:latin typeface="宋体" panose="02010600030101010101" pitchFamily="2" charset="-122"/>
              </a:rPr>
              <a:t> </a:t>
            </a:r>
            <a:r>
              <a:rPr lang="en-US" altLang="zh-CN" sz="1200" b="1" dirty="0"/>
              <a:t>(</a:t>
            </a:r>
            <a:r>
              <a:rPr lang="en-US" altLang="zh-CN" sz="1200" b="1" i="1" dirty="0" err="1"/>
              <a:t>q</a:t>
            </a:r>
            <a:r>
              <a:rPr lang="en-US" altLang="zh-CN" sz="1200" b="1" dirty="0" err="1">
                <a:sym typeface="Symbol" panose="05050102010706020507" pitchFamily="18" charset="2"/>
              </a:rPr>
              <a:t></a:t>
            </a:r>
            <a:r>
              <a:rPr lang="en-US" altLang="zh-CN" sz="1200" b="1" i="1" dirty="0" err="1"/>
              <a:t>p</a:t>
            </a:r>
            <a:r>
              <a:rPr lang="en-US" altLang="zh-CN" sz="1200" b="1" dirty="0"/>
              <a:t>)</a:t>
            </a:r>
            <a:r>
              <a:rPr lang="en-US" altLang="zh-CN" sz="1200" b="1" dirty="0">
                <a:sym typeface="Symbol" panose="05050102010706020507" pitchFamily="18" charset="2"/>
              </a:rPr>
              <a:t></a:t>
            </a:r>
            <a:r>
              <a:rPr lang="en-US" altLang="zh-CN" sz="1200" b="1" i="1" dirty="0" err="1"/>
              <a:t>q</a:t>
            </a:r>
            <a:r>
              <a:rPr lang="en-US" altLang="zh-CN" sz="1200" b="1" dirty="0" err="1">
                <a:sym typeface="Symbol" panose="05050102010706020507" pitchFamily="18" charset="2"/>
              </a:rPr>
              <a:t></a:t>
            </a:r>
            <a:r>
              <a:rPr lang="en-US" altLang="zh-CN" sz="1200" b="1" i="1" dirty="0" err="1"/>
              <a:t>p</a:t>
            </a:r>
            <a:r>
              <a:rPr lang="zh-CN" altLang="en-US" sz="1200" b="1" dirty="0"/>
              <a:t>为重言式</a:t>
            </a:r>
          </a:p>
          <a:p>
            <a:pPr eaLnBrk="1" hangingPunct="1">
              <a:buFontTx/>
              <a:buNone/>
            </a:pPr>
            <a:r>
              <a:rPr lang="zh-CN" altLang="en-US" sz="1200" b="1" dirty="0"/>
              <a:t>(2) </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a:t>
            </a:r>
            <a:r>
              <a:rPr lang="en-US" altLang="zh-CN" sz="1200" b="1" dirty="0">
                <a:sym typeface="Symbol" panose="05050102010706020507" pitchFamily="18" charset="2"/>
              </a:rPr>
              <a:t></a:t>
            </a:r>
            <a:r>
              <a:rPr lang="en-US" altLang="zh-CN" sz="1200" b="1" i="1" dirty="0"/>
              <a:t>q</a:t>
            </a:r>
            <a:r>
              <a:rPr lang="zh-CN" altLang="en-US" sz="1200" b="1" dirty="0"/>
              <a:t>为矛盾式</a:t>
            </a:r>
          </a:p>
          <a:p>
            <a:pPr eaLnBrk="1" hangingPunct="1">
              <a:buFontTx/>
              <a:buNone/>
            </a:pPr>
            <a:r>
              <a:rPr lang="zh-CN" altLang="en-US" sz="1200" b="1" dirty="0"/>
              <a:t>(3) </a:t>
            </a:r>
            <a:r>
              <a:rPr lang="en-US" altLang="zh-CN" sz="1200" b="1" dirty="0"/>
              <a:t>(</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a:t>
            </a:r>
            <a:r>
              <a:rPr lang="en-US" altLang="zh-CN" sz="1200" b="1" dirty="0">
                <a:sym typeface="Symbol" panose="05050102010706020507" pitchFamily="18" charset="2"/>
              </a:rPr>
              <a:t></a:t>
            </a:r>
            <a:r>
              <a:rPr lang="en-US" altLang="zh-CN" sz="1200" b="1" i="1" dirty="0"/>
              <a:t>r</a:t>
            </a:r>
            <a:r>
              <a:rPr lang="zh-CN" altLang="en-US" sz="1200" b="1" dirty="0">
                <a:latin typeface="宋体" panose="02010600030101010101" pitchFamily="2" charset="-122"/>
              </a:rPr>
              <a:t>为非重言式的可满足式</a:t>
            </a:r>
            <a:endParaRPr lang="zh-CN" altLang="en-US" sz="1200" b="1" i="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33497669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FF3300"/>
                </a:solidFill>
              </a:rPr>
              <a:t>蕴涵式 等价式</a:t>
            </a:r>
            <a:endParaRPr lang="en-US" altLang="zh-CN" sz="1200" b="1" dirty="0">
              <a:solidFill>
                <a:srgbClr val="FF3300"/>
              </a:solidFill>
            </a:endParaRPr>
          </a:p>
          <a:p>
            <a:pPr indent="1828800">
              <a:lnSpc>
                <a:spcPct val="130000"/>
              </a:lnSpc>
              <a:spcBef>
                <a:spcPct val="0"/>
              </a:spcBef>
              <a:buNone/>
            </a:pPr>
            <a:r>
              <a:rPr lang="en-US" altLang="zh-CN" b="1" dirty="0"/>
              <a:t>2.1 </a:t>
            </a:r>
            <a:r>
              <a:rPr lang="zh-CN" altLang="en-US" b="1" dirty="0"/>
              <a:t>命题逻辑基本概念</a:t>
            </a:r>
            <a:endParaRPr lang="en-US" altLang="zh-CN" b="1" dirty="0"/>
          </a:p>
          <a:p>
            <a:pPr indent="1828800">
              <a:lnSpc>
                <a:spcPct val="130000"/>
              </a:lnSpc>
              <a:spcBef>
                <a:spcPct val="0"/>
              </a:spcBef>
              <a:buNone/>
            </a:pPr>
            <a:r>
              <a:rPr lang="zh-CN" altLang="en-US" b="1" dirty="0"/>
              <a:t> </a:t>
            </a:r>
          </a:p>
          <a:p>
            <a:pPr indent="1828800">
              <a:lnSpc>
                <a:spcPct val="130000"/>
              </a:lnSpc>
              <a:spcBef>
                <a:spcPct val="0"/>
              </a:spcBef>
              <a:buNone/>
            </a:pPr>
            <a:r>
              <a:rPr lang="en-US" altLang="zh-CN" b="1" dirty="0">
                <a:solidFill>
                  <a:srgbClr val="FF0000"/>
                </a:solidFill>
              </a:rPr>
              <a:t>2.2 </a:t>
            </a:r>
            <a:r>
              <a:rPr lang="zh-CN" altLang="en-US" b="1" dirty="0">
                <a:solidFill>
                  <a:srgbClr val="FF0000"/>
                </a:solidFill>
              </a:rPr>
              <a:t>命题逻辑等值演算</a:t>
            </a:r>
            <a:endParaRPr lang="en-US" altLang="zh-CN" b="1" dirty="0">
              <a:solidFill>
                <a:srgbClr val="FF0000"/>
              </a:solidFill>
            </a:endParaRPr>
          </a:p>
          <a:p>
            <a:pPr indent="1828800">
              <a:lnSpc>
                <a:spcPct val="130000"/>
              </a:lnSpc>
              <a:spcBef>
                <a:spcPct val="0"/>
              </a:spcBef>
              <a:buNone/>
            </a:pPr>
            <a:r>
              <a:rPr lang="zh-CN" altLang="en-US" b="1" dirty="0"/>
              <a:t> </a:t>
            </a:r>
          </a:p>
          <a:p>
            <a:pPr indent="1828800">
              <a:lnSpc>
                <a:spcPct val="130000"/>
              </a:lnSpc>
              <a:spcBef>
                <a:spcPct val="0"/>
              </a:spcBef>
              <a:buNone/>
            </a:pPr>
            <a:r>
              <a:rPr lang="en-US" altLang="zh-CN" b="1" dirty="0"/>
              <a:t>2.3 </a:t>
            </a:r>
            <a:r>
              <a:rPr lang="zh-CN" altLang="en-US" b="1" dirty="0"/>
              <a:t>范式</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b="1" dirty="0"/>
              <a:t>2.2.1 等值式与等值演算</a:t>
            </a:r>
          </a:p>
          <a:p>
            <a:pPr marL="990600" lvl="1" indent="304800" eaLnBrk="1" hangingPunct="1">
              <a:lnSpc>
                <a:spcPct val="120000"/>
              </a:lnSpc>
            </a:pPr>
            <a:r>
              <a:rPr lang="zh-CN" altLang="en-US" sz="2800" b="1" dirty="0"/>
              <a:t>等值式与基本等值式</a:t>
            </a:r>
          </a:p>
          <a:p>
            <a:pPr marL="990600" lvl="1" indent="304800" eaLnBrk="1" hangingPunct="1">
              <a:lnSpc>
                <a:spcPct val="120000"/>
              </a:lnSpc>
            </a:pPr>
            <a:r>
              <a:rPr lang="zh-CN" altLang="en-US" sz="2800" b="1" dirty="0"/>
              <a:t>真值表法与等值演算法</a:t>
            </a:r>
          </a:p>
          <a:p>
            <a:pPr eaLnBrk="1" hangingPunct="1">
              <a:lnSpc>
                <a:spcPct val="120000"/>
              </a:lnSpc>
            </a:pPr>
            <a:r>
              <a:rPr lang="zh-CN" altLang="en-US" b="1" dirty="0"/>
              <a:t>2.2.2 联结词完备集</a:t>
            </a:r>
          </a:p>
          <a:p>
            <a:pPr marL="990600" lvl="1" indent="304800">
              <a:lnSpc>
                <a:spcPct val="120000"/>
              </a:lnSpc>
            </a:pPr>
            <a:r>
              <a:rPr lang="zh-CN" altLang="en-US" sz="2800" b="1" dirty="0"/>
              <a:t>真值函数</a:t>
            </a:r>
          </a:p>
          <a:p>
            <a:pPr marL="990600" lvl="1" indent="304800">
              <a:lnSpc>
                <a:spcPct val="120000"/>
              </a:lnSpc>
            </a:pPr>
            <a:r>
              <a:rPr lang="zh-CN" altLang="en-US" sz="2800" b="1" dirty="0"/>
              <a:t>联结词完备集</a:t>
            </a:r>
          </a:p>
          <a:p>
            <a:pPr marL="990600" lvl="1" indent="304800">
              <a:lnSpc>
                <a:spcPct val="120000"/>
              </a:lnSpc>
            </a:pPr>
            <a:r>
              <a:rPr lang="zh-CN" altLang="en-US" sz="2800" b="1" dirty="0"/>
              <a:t>与非联结词</a:t>
            </a:r>
            <a:r>
              <a:rPr lang="en-US" altLang="zh-CN" sz="2800" b="1" dirty="0"/>
              <a:t>, </a:t>
            </a:r>
            <a:r>
              <a:rPr lang="zh-CN" altLang="en-US" sz="2800" b="1" dirty="0"/>
              <a:t>或非联结词</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17386499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规定</a:t>
            </a:r>
            <a:r>
              <a:rPr lang="en-US" altLang="zh-CN" sz="1200" b="1" i="1" dirty="0" err="1"/>
              <a:t>p</a:t>
            </a:r>
            <a:r>
              <a:rPr lang="en-US" altLang="zh-CN" sz="1200" b="1" dirty="0" err="1">
                <a:sym typeface="Symbol" panose="05050102010706020507" pitchFamily="18" charset="2"/>
              </a:rPr>
              <a:t></a:t>
            </a:r>
            <a:r>
              <a:rPr lang="en-US" altLang="zh-CN" sz="1200" b="1" i="1" dirty="0" err="1"/>
              <a:t>q</a:t>
            </a:r>
            <a:r>
              <a:rPr lang="zh-CN" altLang="en-US" sz="1200" b="1" dirty="0"/>
              <a:t>为真当且仅当 </a:t>
            </a:r>
            <a:r>
              <a:rPr lang="en-US" altLang="zh-CN" sz="1200" b="1" i="1" dirty="0"/>
              <a:t>p</a:t>
            </a:r>
            <a:r>
              <a:rPr lang="zh-CN" altLang="en-US" sz="1200" b="1" dirty="0"/>
              <a:t>与</a:t>
            </a:r>
            <a:r>
              <a:rPr lang="en-US" altLang="zh-CN" sz="1200" b="1" i="1" dirty="0"/>
              <a:t>q</a:t>
            </a:r>
            <a:r>
              <a:rPr lang="zh-CN" altLang="en-US" sz="1200" b="1" dirty="0"/>
              <a:t>同时为真或同时为假.</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宋体" panose="02010600030101010101" pitchFamily="2" charset="-122"/>
              </a:rPr>
              <a:t>重言式(永真式)</a:t>
            </a:r>
            <a:r>
              <a:rPr lang="zh-CN" altLang="en-US" sz="1200" b="1" dirty="0"/>
              <a:t>: </a:t>
            </a:r>
            <a:r>
              <a:rPr lang="zh-CN" altLang="en-US" sz="1200" b="1" dirty="0">
                <a:latin typeface="宋体" panose="02010600030101010101" pitchFamily="2" charset="-122"/>
              </a:rPr>
              <a:t>无成假赋值的命题公式</a:t>
            </a:r>
            <a:endParaRPr lang="en-US" altLang="zh-CN" sz="1200" b="1" dirty="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Times New Roman" panose="02020603050405020304" pitchFamily="18" charset="0"/>
                <a:ea typeface="宋体" panose="02010600030101010101" pitchFamily="2" charset="-122"/>
              </a:rPr>
              <a:t>等价式</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是重言式</a:t>
            </a:r>
            <a:r>
              <a:rPr lang="zh-CN" altLang="en-US" b="1" dirty="0">
                <a:solidFill>
                  <a:schemeClr val="tx1"/>
                </a:solidFill>
                <a:latin typeface="+mn-ea"/>
              </a:rPr>
              <a:t>（</a:t>
            </a:r>
            <a:r>
              <a:rPr lang="en-US" altLang="zh-CN" b="1" dirty="0">
                <a:effectLst/>
                <a:latin typeface="+mn-ea"/>
                <a:cs typeface="Times New Roman" panose="02020603050405020304" pitchFamily="18" charset="0"/>
              </a:rPr>
              <a:t> </a:t>
            </a:r>
            <a:r>
              <a:rPr lang="zh-CN" altLang="zh-CN" b="1" dirty="0">
                <a:effectLst/>
                <a:latin typeface="+mn-ea"/>
                <a:cs typeface="Times New Roman" panose="02020603050405020304" pitchFamily="18" charset="0"/>
              </a:rPr>
              <a:t>永真式</a:t>
            </a:r>
            <a:r>
              <a:rPr lang="en-US" altLang="zh-CN" b="1" dirty="0">
                <a:effectLst/>
                <a:latin typeface="+mn-ea"/>
                <a:cs typeface="Times New Roman" panose="02020603050405020304" pitchFamily="18" charset="0"/>
              </a:rPr>
              <a:t> </a:t>
            </a:r>
            <a:r>
              <a:rPr lang="zh-CN" altLang="en-US" b="1" dirty="0">
                <a:solidFill>
                  <a:schemeClr val="tx1"/>
                </a:solidFill>
                <a:latin typeface="+mn-ea"/>
              </a:rPr>
              <a:t>）意味着</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i="1" dirty="0">
                <a:solidFill>
                  <a:schemeClr val="tx1"/>
                </a:solidFill>
                <a:latin typeface="Times New Roman" panose="02020603050405020304" pitchFamily="18" charset="0"/>
                <a:ea typeface="宋体" panose="02010600030101010101" pitchFamily="2" charset="-122"/>
              </a:rPr>
              <a:t>同时为真或同时为假</a:t>
            </a:r>
            <a:endParaRPr lang="en-US" altLang="zh-CN" sz="1200" b="1" i="1" dirty="0">
              <a:solidFill>
                <a:schemeClr val="tx1"/>
              </a:solidFill>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1" dirty="0">
              <a:solidFill>
                <a:schemeClr val="tx1"/>
              </a:solidFill>
              <a:latin typeface="Times New Roman" panose="02020603050405020304" pitchFamily="18" charset="0"/>
              <a:ea typeface="宋体" panose="02010600030101010101" pitchFamily="2" charset="-122"/>
            </a:endParaRPr>
          </a:p>
          <a:p>
            <a:pPr marL="0" indent="0" algn="l" eaLnBrk="1" hangingPunct="1">
              <a:lnSpc>
                <a:spcPct val="120000"/>
              </a:lnSpc>
              <a:buNone/>
            </a:pPr>
            <a:r>
              <a:rPr lang="zh-CN" altLang="en-US" sz="1200" b="1" dirty="0">
                <a:solidFill>
                  <a:srgbClr val="FF0066"/>
                </a:solidFill>
                <a:latin typeface="Times New Roman" panose="02020603050405020304" pitchFamily="18" charset="0"/>
                <a:ea typeface="宋体" panose="02010600030101010101" pitchFamily="2" charset="-122"/>
              </a:rPr>
              <a:t>定义2.11</a:t>
            </a:r>
            <a:r>
              <a:rPr lang="zh-CN" altLang="en-US" sz="1200" b="1" dirty="0">
                <a:solidFill>
                  <a:schemeClr val="tx1"/>
                </a:solidFill>
                <a:latin typeface="Times New Roman" panose="02020603050405020304" pitchFamily="18" charset="0"/>
                <a:ea typeface="宋体" panose="02010600030101010101" pitchFamily="2" charset="-122"/>
              </a:rPr>
              <a:t>  设</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是两个命题公式，若等价式</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是重言式</a:t>
            </a:r>
            <a:r>
              <a:rPr lang="zh-CN" altLang="en-US" b="1" dirty="0">
                <a:solidFill>
                  <a:schemeClr val="tx1"/>
                </a:solidFill>
                <a:latin typeface="+mn-ea"/>
              </a:rPr>
              <a:t>（</a:t>
            </a:r>
            <a:r>
              <a:rPr lang="en-US" altLang="zh-CN" b="1" dirty="0">
                <a:effectLst/>
                <a:latin typeface="+mn-ea"/>
                <a:cs typeface="Times New Roman" panose="02020603050405020304" pitchFamily="18" charset="0"/>
              </a:rPr>
              <a:t> </a:t>
            </a:r>
            <a:r>
              <a:rPr lang="zh-CN" altLang="zh-CN" b="1" dirty="0">
                <a:effectLst/>
                <a:latin typeface="+mn-ea"/>
                <a:cs typeface="Times New Roman" panose="02020603050405020304" pitchFamily="18" charset="0"/>
              </a:rPr>
              <a:t>永真式</a:t>
            </a:r>
            <a:r>
              <a:rPr lang="en-US" altLang="zh-CN" b="1" dirty="0">
                <a:effectLst/>
                <a:latin typeface="+mn-ea"/>
                <a:cs typeface="Times New Roman" panose="02020603050405020304" pitchFamily="18" charset="0"/>
              </a:rPr>
              <a:t> </a:t>
            </a:r>
            <a:r>
              <a:rPr lang="zh-CN" altLang="en-US" b="1" dirty="0">
                <a:solidFill>
                  <a:schemeClr val="tx1"/>
                </a:solidFill>
                <a:latin typeface="+mn-ea"/>
              </a:rPr>
              <a:t>）</a:t>
            </a:r>
            <a:r>
              <a:rPr lang="zh-CN" altLang="en-US" sz="1200" b="1" dirty="0">
                <a:solidFill>
                  <a:schemeClr val="tx1"/>
                </a:solidFill>
                <a:latin typeface="Times New Roman" panose="02020603050405020304" pitchFamily="18" charset="0"/>
                <a:ea typeface="宋体" panose="02010600030101010101" pitchFamily="2" charset="-122"/>
              </a:rPr>
              <a:t>, 则称</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a:t>
            </a:r>
            <a:r>
              <a:rPr lang="zh-CN" altLang="en-US" sz="1200" b="1" dirty="0">
                <a:solidFill>
                  <a:srgbClr val="FF0066"/>
                </a:solidFill>
                <a:latin typeface="Times New Roman" panose="02020603050405020304" pitchFamily="18" charset="0"/>
                <a:ea typeface="宋体" panose="02010600030101010101" pitchFamily="2" charset="-122"/>
              </a:rPr>
              <a:t>等值</a:t>
            </a:r>
            <a:r>
              <a:rPr lang="zh-CN" altLang="en-US" sz="1200" b="1" dirty="0">
                <a:latin typeface="Times New Roman" panose="02020603050405020304" pitchFamily="18" charset="0"/>
                <a:ea typeface="宋体" panose="02010600030101010101" pitchFamily="2" charset="-122"/>
              </a:rPr>
              <a:t>的</a:t>
            </a:r>
            <a:r>
              <a:rPr lang="zh-CN" altLang="en-US" sz="1200" b="1" dirty="0">
                <a:solidFill>
                  <a:schemeClr val="tx1"/>
                </a:solidFill>
                <a:latin typeface="Times New Roman" panose="02020603050405020304" pitchFamily="18" charset="0"/>
                <a:ea typeface="宋体" panose="02010600030101010101" pitchFamily="2" charset="-122"/>
              </a:rPr>
              <a:t>, 记作</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i="1" dirty="0">
                <a:solidFill>
                  <a:schemeClr val="tx1"/>
                </a:solidFill>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称为</a:t>
            </a:r>
            <a:r>
              <a:rPr lang="zh-CN" altLang="en-US" b="1" dirty="0">
                <a:solidFill>
                  <a:srgbClr val="FF0000"/>
                </a:solidFill>
                <a:latin typeface="Times New Roman" panose="02020603050405020304" pitchFamily="18" charset="0"/>
                <a:ea typeface="宋体" panose="02010600030101010101" pitchFamily="2" charset="-122"/>
              </a:rPr>
              <a:t>等值式</a:t>
            </a:r>
            <a:endParaRPr lang="en-US" altLang="zh-CN" b="1" dirty="0">
              <a:solidFill>
                <a:srgbClr val="FF0000"/>
              </a:solidFill>
              <a:latin typeface="Times New Roman" panose="02020603050405020304" pitchFamily="18" charset="0"/>
              <a:ea typeface="宋体" panose="02010600030101010101" pitchFamily="2" charset="-122"/>
            </a:endParaRPr>
          </a:p>
          <a:p>
            <a:pPr marL="0" indent="0" algn="l" eaLnBrk="1" hangingPunct="1">
              <a:lnSpc>
                <a:spcPct val="120000"/>
              </a:lnSpc>
              <a:buNone/>
            </a:pPr>
            <a:endParaRPr lang="en-US" altLang="zh-CN" sz="1200" b="1" dirty="0">
              <a:solidFill>
                <a:srgbClr val="00B0F0"/>
              </a:solidFill>
              <a:latin typeface="Times New Roman" panose="02020603050405020304" pitchFamily="18" charset="0"/>
              <a:ea typeface="宋体" panose="02010600030101010101" pitchFamily="2" charset="-122"/>
            </a:endParaRPr>
          </a:p>
          <a:p>
            <a:pPr marL="0" indent="0" algn="l" eaLnBrk="1" hangingPunct="1">
              <a:lnSpc>
                <a:spcPct val="120000"/>
              </a:lnSpc>
              <a:buNone/>
            </a:pPr>
            <a:r>
              <a:rPr lang="zh-CN" altLang="en-US" sz="1200" b="1" dirty="0">
                <a:solidFill>
                  <a:srgbClr val="00B0F0"/>
                </a:solidFill>
                <a:latin typeface="Times New Roman" panose="02020603050405020304" pitchFamily="18" charset="0"/>
                <a:ea typeface="宋体" panose="02010600030101010101" pitchFamily="2" charset="-122"/>
              </a:rPr>
              <a:t>说明: </a:t>
            </a:r>
            <a:endParaRPr lang="en-US" altLang="zh-CN" sz="1200" b="1" dirty="0">
              <a:solidFill>
                <a:srgbClr val="00B0F0"/>
              </a:solidFill>
              <a:latin typeface="Times New Roman" panose="02020603050405020304" pitchFamily="18" charset="0"/>
              <a:ea typeface="宋体" panose="02010600030101010101" pitchFamily="2" charset="-122"/>
            </a:endParaRPr>
          </a:p>
          <a:p>
            <a:pPr marL="514350" indent="-514350">
              <a:lnSpc>
                <a:spcPct val="120000"/>
              </a:lnSpc>
              <a:buAutoNum type="arabicParenBoth"/>
            </a:pP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是等值时的</a:t>
            </a:r>
            <a:r>
              <a:rPr lang="zh-CN" altLang="en-US" b="1" dirty="0">
                <a:latin typeface="Times New Roman" panose="02020603050405020304" pitchFamily="18" charset="0"/>
              </a:rPr>
              <a:t>记法符号，</a:t>
            </a:r>
            <a:r>
              <a:rPr lang="zh-CN" altLang="en-US" sz="1200" b="1" dirty="0">
                <a:solidFill>
                  <a:schemeClr val="tx1"/>
                </a:solidFill>
                <a:latin typeface="Times New Roman" panose="02020603050405020304" pitchFamily="18" charset="0"/>
                <a:ea typeface="宋体" panose="02010600030101010101" pitchFamily="2" charset="-122"/>
              </a:rPr>
              <a:t>与等价联结词</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ea typeface="宋体" panose="02010600030101010101" pitchFamily="2" charset="-122"/>
                <a:sym typeface="Symbol" panose="05050102010706020507" pitchFamily="18" charset="2"/>
              </a:rPr>
              <a:t>不同 </a:t>
            </a:r>
            <a:endParaRPr lang="en-US" altLang="zh-CN" b="1" dirty="0">
              <a:latin typeface="Times New Roman" panose="02020603050405020304" pitchFamily="18" charset="0"/>
              <a:ea typeface="宋体" panose="02010600030101010101" pitchFamily="2" charset="-122"/>
              <a:sym typeface="Symbol" panose="05050102010706020507" pitchFamily="18" charset="2"/>
            </a:endParaRP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(2)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表示命题</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在所有可能赋值下都同时</a:t>
            </a:r>
            <a:r>
              <a:rPr lang="zh-CN" altLang="en-US" b="1" dirty="0">
                <a:latin typeface="Times New Roman" panose="02020603050405020304" pitchFamily="18" charset="0"/>
              </a:rPr>
              <a:t>为“真” 或</a:t>
            </a:r>
            <a:r>
              <a:rPr lang="zh-CN" altLang="en-US" sz="1200" b="1" dirty="0">
                <a:solidFill>
                  <a:schemeClr val="tx1"/>
                </a:solidFill>
                <a:latin typeface="Times New Roman" panose="02020603050405020304" pitchFamily="18" charset="0"/>
                <a:ea typeface="宋体" panose="02010600030101010101" pitchFamily="2" charset="-122"/>
              </a:rPr>
              <a:t>同时为</a:t>
            </a:r>
            <a:r>
              <a:rPr lang="zh-CN" altLang="en-US" b="1" dirty="0">
                <a:latin typeface="Times New Roman" panose="02020603050405020304" pitchFamily="18" charset="0"/>
              </a:rPr>
              <a:t>“假” （真值表相同）</a:t>
            </a:r>
            <a:endParaRPr lang="zh-CN" altLang="en-US" sz="1200" b="1" dirty="0">
              <a:solidFill>
                <a:schemeClr val="tx1"/>
              </a:solidFill>
              <a:latin typeface="Times New Roman" panose="02020603050405020304" pitchFamily="18" charset="0"/>
              <a:ea typeface="宋体" panose="02010600030101010101" pitchFamily="2" charset="-122"/>
            </a:endParaRPr>
          </a:p>
          <a:p>
            <a:pPr marL="0" indent="0" algn="l"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(3) 每个命题公式都有无穷多个等值的命题公式（如：</a:t>
            </a:r>
            <a:r>
              <a:rPr lang="en-US" altLang="zh-CN" sz="1200" b="1" dirty="0">
                <a:solidFill>
                  <a:schemeClr val="tx1"/>
                </a:solidFill>
                <a:latin typeface="Times New Roman" panose="02020603050405020304" pitchFamily="18" charset="0"/>
                <a:ea typeface="宋体" panose="02010600030101010101" pitchFamily="2" charset="-122"/>
              </a:rPr>
              <a:t>¬¬P </a:t>
            </a:r>
            <a:r>
              <a:rPr lang="zh-CN" altLang="en-US" sz="1200" b="1" dirty="0">
                <a:solidFill>
                  <a:schemeClr val="tx1"/>
                </a:solidFill>
                <a:latin typeface="Times New Roman" panose="02020603050405020304" pitchFamily="18" charset="0"/>
                <a:ea typeface="宋体" panose="02010600030101010101" pitchFamily="2" charset="-122"/>
              </a:rPr>
              <a:t>等价于</a:t>
            </a:r>
            <a:r>
              <a:rPr lang="en-US" altLang="zh-CN" sz="1200" b="1" dirty="0">
                <a:solidFill>
                  <a:schemeClr val="tx1"/>
                </a:solidFill>
                <a:latin typeface="Times New Roman" panose="02020603050405020304" pitchFamily="18" charset="0"/>
                <a:ea typeface="宋体" panose="02010600030101010101" pitchFamily="2" charset="-122"/>
              </a:rPr>
              <a:t>P</a:t>
            </a:r>
            <a:r>
              <a:rPr lang="zh-CN" altLang="en-US" sz="1200" b="1" dirty="0">
                <a:solidFill>
                  <a:schemeClr val="tx1"/>
                </a:solidFill>
                <a:latin typeface="Times New Roman" panose="02020603050405020304" pitchFamily="18" charset="0"/>
                <a:ea typeface="宋体" panose="02010600030101010101" pitchFamily="2"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15417114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规定</a:t>
            </a:r>
            <a:r>
              <a:rPr lang="en-US" altLang="zh-CN" sz="1200" b="1" i="1" dirty="0" err="1"/>
              <a:t>p</a:t>
            </a:r>
            <a:r>
              <a:rPr lang="en-US" altLang="zh-CN" sz="1200" b="1" dirty="0" err="1">
                <a:sym typeface="Symbol" panose="05050102010706020507" pitchFamily="18" charset="2"/>
              </a:rPr>
              <a:t></a:t>
            </a:r>
            <a:r>
              <a:rPr lang="en-US" altLang="zh-CN" sz="1200" b="1" i="1" dirty="0" err="1"/>
              <a:t>q</a:t>
            </a:r>
            <a:r>
              <a:rPr lang="zh-CN" altLang="en-US" sz="1200" b="1" dirty="0"/>
              <a:t>为真当且仅当 </a:t>
            </a:r>
            <a:r>
              <a:rPr lang="en-US" altLang="zh-CN" sz="1200" b="1" i="1" dirty="0"/>
              <a:t>p</a:t>
            </a:r>
            <a:r>
              <a:rPr lang="zh-CN" altLang="en-US" sz="1200" b="1" dirty="0"/>
              <a:t>与</a:t>
            </a:r>
            <a:r>
              <a:rPr lang="en-US" altLang="zh-CN" sz="1200" b="1" i="1" dirty="0"/>
              <a:t>q</a:t>
            </a:r>
            <a:r>
              <a:rPr lang="zh-CN" altLang="en-US" sz="1200" b="1" dirty="0"/>
              <a:t>同时为真或同时为假.</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宋体" panose="02010600030101010101" pitchFamily="2" charset="-122"/>
              </a:rPr>
              <a:t>重言式(永真式)</a:t>
            </a:r>
            <a:r>
              <a:rPr lang="zh-CN" altLang="en-US" sz="1200" b="1" dirty="0"/>
              <a:t>: </a:t>
            </a:r>
            <a:r>
              <a:rPr lang="zh-CN" altLang="en-US" sz="1200" b="1" dirty="0">
                <a:latin typeface="宋体" panose="02010600030101010101" pitchFamily="2" charset="-122"/>
              </a:rPr>
              <a:t>无成假赋值的命题公式</a:t>
            </a:r>
            <a:endParaRPr lang="en-US" altLang="zh-CN" sz="1200" b="1" dirty="0">
              <a:latin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Times New Roman" panose="02020603050405020304" pitchFamily="18" charset="0"/>
                <a:ea typeface="宋体" panose="02010600030101010101" pitchFamily="2" charset="-122"/>
              </a:rPr>
              <a:t>等价式</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是重言式</a:t>
            </a:r>
            <a:r>
              <a:rPr lang="zh-CN" altLang="en-US" b="1" dirty="0">
                <a:solidFill>
                  <a:schemeClr val="tx1"/>
                </a:solidFill>
                <a:latin typeface="+mn-ea"/>
              </a:rPr>
              <a:t>（</a:t>
            </a:r>
            <a:r>
              <a:rPr lang="en-US" altLang="zh-CN" b="1" dirty="0">
                <a:effectLst/>
                <a:latin typeface="+mn-ea"/>
                <a:cs typeface="Times New Roman" panose="02020603050405020304" pitchFamily="18" charset="0"/>
              </a:rPr>
              <a:t> </a:t>
            </a:r>
            <a:r>
              <a:rPr lang="zh-CN" altLang="zh-CN" b="1" dirty="0">
                <a:effectLst/>
                <a:latin typeface="+mn-ea"/>
                <a:cs typeface="Times New Roman" panose="02020603050405020304" pitchFamily="18" charset="0"/>
              </a:rPr>
              <a:t>永真式</a:t>
            </a:r>
            <a:r>
              <a:rPr lang="en-US" altLang="zh-CN" b="1" dirty="0">
                <a:effectLst/>
                <a:latin typeface="+mn-ea"/>
                <a:cs typeface="Times New Roman" panose="02020603050405020304" pitchFamily="18" charset="0"/>
              </a:rPr>
              <a:t> </a:t>
            </a:r>
            <a:r>
              <a:rPr lang="zh-CN" altLang="en-US" b="1" dirty="0">
                <a:solidFill>
                  <a:schemeClr val="tx1"/>
                </a:solidFill>
                <a:latin typeface="+mn-ea"/>
              </a:rPr>
              <a:t>）意味着</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i="1" dirty="0">
                <a:solidFill>
                  <a:schemeClr val="tx1"/>
                </a:solidFill>
                <a:latin typeface="Times New Roman" panose="02020603050405020304" pitchFamily="18" charset="0"/>
                <a:ea typeface="宋体" panose="02010600030101010101" pitchFamily="2" charset="-122"/>
              </a:rPr>
              <a:t>同时为真或同时为假</a:t>
            </a:r>
            <a:endParaRPr lang="en-US" altLang="zh-CN" sz="1200" b="1" i="1" dirty="0">
              <a:solidFill>
                <a:schemeClr val="tx1"/>
              </a:solidFill>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1" dirty="0">
              <a:solidFill>
                <a:schemeClr val="tx1"/>
              </a:solidFill>
              <a:latin typeface="Times New Roman" panose="02020603050405020304" pitchFamily="18" charset="0"/>
              <a:ea typeface="宋体" panose="02010600030101010101" pitchFamily="2" charset="-122"/>
            </a:endParaRPr>
          </a:p>
          <a:p>
            <a:pPr marL="0" indent="0" algn="l" eaLnBrk="1" hangingPunct="1">
              <a:lnSpc>
                <a:spcPct val="120000"/>
              </a:lnSpc>
              <a:buNone/>
            </a:pPr>
            <a:r>
              <a:rPr lang="zh-CN" altLang="en-US" sz="1200" b="1" dirty="0">
                <a:solidFill>
                  <a:srgbClr val="FF0066"/>
                </a:solidFill>
                <a:latin typeface="Times New Roman" panose="02020603050405020304" pitchFamily="18" charset="0"/>
                <a:ea typeface="宋体" panose="02010600030101010101" pitchFamily="2" charset="-122"/>
              </a:rPr>
              <a:t>定义2.11</a:t>
            </a:r>
            <a:r>
              <a:rPr lang="zh-CN" altLang="en-US" sz="1200" b="1" dirty="0">
                <a:solidFill>
                  <a:schemeClr val="tx1"/>
                </a:solidFill>
                <a:latin typeface="Times New Roman" panose="02020603050405020304" pitchFamily="18" charset="0"/>
                <a:ea typeface="宋体" panose="02010600030101010101" pitchFamily="2" charset="-122"/>
              </a:rPr>
              <a:t>  设</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是两个命题公式，若等价式</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是重言式</a:t>
            </a:r>
            <a:r>
              <a:rPr lang="zh-CN" altLang="en-US" b="1" dirty="0">
                <a:solidFill>
                  <a:schemeClr val="tx1"/>
                </a:solidFill>
                <a:latin typeface="+mn-ea"/>
              </a:rPr>
              <a:t>（</a:t>
            </a:r>
            <a:r>
              <a:rPr lang="en-US" altLang="zh-CN" b="1" dirty="0">
                <a:effectLst/>
                <a:latin typeface="+mn-ea"/>
                <a:cs typeface="Times New Roman" panose="02020603050405020304" pitchFamily="18" charset="0"/>
              </a:rPr>
              <a:t> </a:t>
            </a:r>
            <a:r>
              <a:rPr lang="zh-CN" altLang="zh-CN" b="1" dirty="0">
                <a:effectLst/>
                <a:latin typeface="+mn-ea"/>
                <a:cs typeface="Times New Roman" panose="02020603050405020304" pitchFamily="18" charset="0"/>
              </a:rPr>
              <a:t>永真式</a:t>
            </a:r>
            <a:r>
              <a:rPr lang="en-US" altLang="zh-CN" b="1" dirty="0">
                <a:effectLst/>
                <a:latin typeface="+mn-ea"/>
                <a:cs typeface="Times New Roman" panose="02020603050405020304" pitchFamily="18" charset="0"/>
              </a:rPr>
              <a:t> </a:t>
            </a:r>
            <a:r>
              <a:rPr lang="zh-CN" altLang="en-US" b="1" dirty="0">
                <a:solidFill>
                  <a:schemeClr val="tx1"/>
                </a:solidFill>
                <a:latin typeface="+mn-ea"/>
              </a:rPr>
              <a:t>）</a:t>
            </a:r>
            <a:r>
              <a:rPr lang="zh-CN" altLang="en-US" sz="1200" b="1" dirty="0">
                <a:solidFill>
                  <a:schemeClr val="tx1"/>
                </a:solidFill>
                <a:latin typeface="Times New Roman" panose="02020603050405020304" pitchFamily="18" charset="0"/>
                <a:ea typeface="宋体" panose="02010600030101010101" pitchFamily="2" charset="-122"/>
              </a:rPr>
              <a:t>, 则称</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a:t>
            </a:r>
            <a:r>
              <a:rPr lang="zh-CN" altLang="en-US" sz="1200" b="1" dirty="0">
                <a:solidFill>
                  <a:srgbClr val="FF0066"/>
                </a:solidFill>
                <a:latin typeface="Times New Roman" panose="02020603050405020304" pitchFamily="18" charset="0"/>
                <a:ea typeface="宋体" panose="02010600030101010101" pitchFamily="2" charset="-122"/>
              </a:rPr>
              <a:t>等值</a:t>
            </a:r>
            <a:r>
              <a:rPr lang="zh-CN" altLang="en-US" sz="1200" b="1" dirty="0">
                <a:latin typeface="Times New Roman" panose="02020603050405020304" pitchFamily="18" charset="0"/>
                <a:ea typeface="宋体" panose="02010600030101010101" pitchFamily="2" charset="-122"/>
              </a:rPr>
              <a:t>的</a:t>
            </a:r>
            <a:r>
              <a:rPr lang="zh-CN" altLang="en-US" sz="1200" b="1" dirty="0">
                <a:solidFill>
                  <a:schemeClr val="tx1"/>
                </a:solidFill>
                <a:latin typeface="Times New Roman" panose="02020603050405020304" pitchFamily="18" charset="0"/>
                <a:ea typeface="宋体" panose="02010600030101010101" pitchFamily="2" charset="-122"/>
              </a:rPr>
              <a:t>, 记作</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i="1" dirty="0">
                <a:solidFill>
                  <a:schemeClr val="tx1"/>
                </a:solidFill>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称为</a:t>
            </a:r>
            <a:r>
              <a:rPr lang="zh-CN" altLang="en-US" b="1" dirty="0">
                <a:solidFill>
                  <a:srgbClr val="FF0000"/>
                </a:solidFill>
                <a:latin typeface="Times New Roman" panose="02020603050405020304" pitchFamily="18" charset="0"/>
                <a:ea typeface="宋体" panose="02010600030101010101" pitchFamily="2" charset="-122"/>
              </a:rPr>
              <a:t>等值式</a:t>
            </a:r>
            <a:endParaRPr lang="en-US" altLang="zh-CN" b="1" dirty="0">
              <a:solidFill>
                <a:srgbClr val="FF0000"/>
              </a:solidFill>
              <a:latin typeface="Times New Roman" panose="02020603050405020304" pitchFamily="18" charset="0"/>
              <a:ea typeface="宋体" panose="02010600030101010101" pitchFamily="2" charset="-122"/>
            </a:endParaRPr>
          </a:p>
          <a:p>
            <a:pPr marL="0" indent="0" algn="l" eaLnBrk="1" hangingPunct="1">
              <a:lnSpc>
                <a:spcPct val="120000"/>
              </a:lnSpc>
              <a:buNone/>
            </a:pPr>
            <a:endParaRPr lang="en-US" altLang="zh-CN" sz="1200" b="1" dirty="0">
              <a:solidFill>
                <a:srgbClr val="00B0F0"/>
              </a:solidFill>
              <a:latin typeface="Times New Roman" panose="02020603050405020304" pitchFamily="18" charset="0"/>
              <a:ea typeface="宋体" panose="02010600030101010101" pitchFamily="2" charset="-122"/>
            </a:endParaRPr>
          </a:p>
          <a:p>
            <a:pPr marL="0" indent="0" algn="l" eaLnBrk="1" hangingPunct="1">
              <a:lnSpc>
                <a:spcPct val="120000"/>
              </a:lnSpc>
              <a:buNone/>
            </a:pPr>
            <a:r>
              <a:rPr lang="zh-CN" altLang="en-US" sz="1200" b="1" dirty="0">
                <a:solidFill>
                  <a:srgbClr val="00B0F0"/>
                </a:solidFill>
                <a:latin typeface="Times New Roman" panose="02020603050405020304" pitchFamily="18" charset="0"/>
                <a:ea typeface="宋体" panose="02010600030101010101" pitchFamily="2" charset="-122"/>
              </a:rPr>
              <a:t>说明: </a:t>
            </a:r>
            <a:endParaRPr lang="en-US" altLang="zh-CN" sz="1200" b="1" dirty="0">
              <a:solidFill>
                <a:srgbClr val="00B0F0"/>
              </a:solidFill>
              <a:latin typeface="Times New Roman" panose="02020603050405020304" pitchFamily="18" charset="0"/>
              <a:ea typeface="宋体" panose="02010600030101010101" pitchFamily="2" charset="-122"/>
            </a:endParaRPr>
          </a:p>
          <a:p>
            <a:pPr marL="514350" indent="-514350">
              <a:lnSpc>
                <a:spcPct val="120000"/>
              </a:lnSpc>
              <a:buAutoNum type="arabicParenBoth"/>
            </a:pP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是等值时的</a:t>
            </a:r>
            <a:r>
              <a:rPr lang="zh-CN" altLang="en-US" b="1" dirty="0">
                <a:latin typeface="Times New Roman" panose="02020603050405020304" pitchFamily="18" charset="0"/>
              </a:rPr>
              <a:t>记法符号，</a:t>
            </a:r>
            <a:r>
              <a:rPr lang="zh-CN" altLang="en-US" sz="1200" b="1" dirty="0">
                <a:solidFill>
                  <a:schemeClr val="tx1"/>
                </a:solidFill>
                <a:latin typeface="Times New Roman" panose="02020603050405020304" pitchFamily="18" charset="0"/>
                <a:ea typeface="宋体" panose="02010600030101010101" pitchFamily="2" charset="-122"/>
              </a:rPr>
              <a:t>与等价联结词</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ea typeface="宋体" panose="02010600030101010101" pitchFamily="2" charset="-122"/>
                <a:sym typeface="Symbol" panose="05050102010706020507" pitchFamily="18" charset="2"/>
              </a:rPr>
              <a:t>不同 </a:t>
            </a:r>
            <a:endParaRPr lang="en-US" altLang="zh-CN" b="1" dirty="0">
              <a:latin typeface="Times New Roman" panose="02020603050405020304" pitchFamily="18" charset="0"/>
              <a:ea typeface="宋体" panose="02010600030101010101" pitchFamily="2" charset="-122"/>
              <a:sym typeface="Symbol" panose="05050102010706020507" pitchFamily="18" charset="2"/>
            </a:endParaRP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(2)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表示命题</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在所有可能赋值下都同时</a:t>
            </a:r>
            <a:r>
              <a:rPr lang="zh-CN" altLang="en-US" b="1" dirty="0">
                <a:latin typeface="Times New Roman" panose="02020603050405020304" pitchFamily="18" charset="0"/>
              </a:rPr>
              <a:t>为“真” 或</a:t>
            </a:r>
            <a:r>
              <a:rPr lang="zh-CN" altLang="en-US" sz="1200" b="1" dirty="0">
                <a:solidFill>
                  <a:schemeClr val="tx1"/>
                </a:solidFill>
                <a:latin typeface="Times New Roman" panose="02020603050405020304" pitchFamily="18" charset="0"/>
                <a:ea typeface="宋体" panose="02010600030101010101" pitchFamily="2" charset="-122"/>
              </a:rPr>
              <a:t>同时为</a:t>
            </a:r>
            <a:r>
              <a:rPr lang="zh-CN" altLang="en-US" b="1" dirty="0">
                <a:latin typeface="Times New Roman" panose="02020603050405020304" pitchFamily="18" charset="0"/>
              </a:rPr>
              <a:t>“假” （真值表相同）</a:t>
            </a:r>
            <a:endParaRPr lang="zh-CN" altLang="en-US" sz="1200" b="1" dirty="0">
              <a:solidFill>
                <a:schemeClr val="tx1"/>
              </a:solidFill>
              <a:latin typeface="Times New Roman" panose="02020603050405020304" pitchFamily="18" charset="0"/>
              <a:ea typeface="宋体" panose="02010600030101010101" pitchFamily="2" charset="-122"/>
            </a:endParaRPr>
          </a:p>
          <a:p>
            <a:pPr marL="0" indent="0" algn="l"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(3) 每个命题公式都有无穷多个等值的命题公式（如：</a:t>
            </a:r>
            <a:r>
              <a:rPr lang="en-US" altLang="zh-CN" sz="1200" b="1" dirty="0">
                <a:solidFill>
                  <a:schemeClr val="tx1"/>
                </a:solidFill>
                <a:latin typeface="Times New Roman" panose="02020603050405020304" pitchFamily="18" charset="0"/>
                <a:ea typeface="宋体" panose="02010600030101010101" pitchFamily="2" charset="-122"/>
              </a:rPr>
              <a:t>¬¬P </a:t>
            </a:r>
            <a:r>
              <a:rPr lang="zh-CN" altLang="en-US" sz="1200" b="1" dirty="0">
                <a:solidFill>
                  <a:schemeClr val="tx1"/>
                </a:solidFill>
                <a:latin typeface="Times New Roman" panose="02020603050405020304" pitchFamily="18" charset="0"/>
                <a:ea typeface="宋体" panose="02010600030101010101" pitchFamily="2" charset="-122"/>
              </a:rPr>
              <a:t>等价于</a:t>
            </a:r>
            <a:r>
              <a:rPr lang="en-US" altLang="zh-CN" sz="1200" b="1" dirty="0">
                <a:solidFill>
                  <a:schemeClr val="tx1"/>
                </a:solidFill>
                <a:latin typeface="Times New Roman" panose="02020603050405020304" pitchFamily="18" charset="0"/>
                <a:ea typeface="宋体" panose="02010600030101010101" pitchFamily="2" charset="-122"/>
              </a:rPr>
              <a:t>P</a:t>
            </a:r>
            <a:r>
              <a:rPr lang="zh-CN" altLang="en-US" sz="1200" b="1" dirty="0">
                <a:solidFill>
                  <a:schemeClr val="tx1"/>
                </a:solidFill>
                <a:latin typeface="Times New Roman" panose="02020603050405020304" pitchFamily="18" charset="0"/>
                <a:ea typeface="宋体" panose="02010600030101010101" pitchFamily="2"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19775185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23212391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15877433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宋体" panose="02010600030101010101" pitchFamily="2" charset="-122"/>
              </a:rPr>
              <a:t>双重否定律 </a:t>
            </a: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en-US" altLang="zh-CN" sz="1200" b="1" dirty="0">
              <a:cs typeface="Times New Roman" panose="02020603050405020304" pitchFamily="18" charset="0"/>
            </a:endParaRPr>
          </a:p>
          <a:p>
            <a:pPr algn="just" eaLnBrk="1" hangingPunct="1">
              <a:buFontTx/>
              <a:buNone/>
            </a:pPr>
            <a:r>
              <a:rPr lang="zh-CN" altLang="en-US" sz="1200" b="1" dirty="0">
                <a:solidFill>
                  <a:srgbClr val="FF3300"/>
                </a:solidFill>
                <a:latin typeface="宋体" panose="02010600030101010101" pitchFamily="2" charset="-122"/>
              </a:rPr>
              <a:t>幂等律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en-US" altLang="zh-CN" sz="1200" b="1" dirty="0">
              <a:cs typeface="Times New Roman" panose="02020603050405020304" pitchFamily="18" charset="0"/>
            </a:endParaRPr>
          </a:p>
          <a:p>
            <a:pPr algn="just" eaLnBrk="1" hangingPunct="1">
              <a:buFontTx/>
              <a:buNone/>
            </a:pPr>
            <a:r>
              <a:rPr lang="zh-CN" altLang="en-US" sz="1200" b="1" dirty="0">
                <a:solidFill>
                  <a:srgbClr val="FF3300"/>
                </a:solidFill>
                <a:latin typeface="宋体" panose="02010600030101010101" pitchFamily="2" charset="-122"/>
              </a:rPr>
              <a:t>交换律</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en-US" altLang="zh-CN" sz="1200" b="1" dirty="0">
              <a:cs typeface="Times New Roman" panose="02020603050405020304" pitchFamily="18" charset="0"/>
            </a:endParaRPr>
          </a:p>
          <a:p>
            <a:pPr algn="just" eaLnBrk="1" hangingPunct="1">
              <a:buFontTx/>
              <a:buNone/>
            </a:pPr>
            <a:r>
              <a:rPr lang="zh-CN" altLang="en-US" sz="1200" b="1" dirty="0">
                <a:solidFill>
                  <a:srgbClr val="FF3300"/>
                </a:solidFill>
                <a:latin typeface="宋体" panose="02010600030101010101" pitchFamily="2" charset="-122"/>
              </a:rPr>
              <a:t>结合律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   </a:t>
            </a:r>
          </a:p>
          <a:p>
            <a:pPr algn="just" eaLnBrk="1" hangingPunct="1">
              <a:buFontTx/>
              <a:buNone/>
            </a:pP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a:t>
            </a:r>
          </a:p>
          <a:p>
            <a:pPr algn="just" eaLnBrk="1" hangingPunct="1">
              <a:buFontTx/>
              <a:buNone/>
            </a:pPr>
            <a:r>
              <a:rPr lang="zh-CN" altLang="en-US" sz="1200" b="1" dirty="0">
                <a:solidFill>
                  <a:srgbClr val="FF3300"/>
                </a:solidFill>
                <a:latin typeface="宋体" panose="02010600030101010101" pitchFamily="2" charset="-122"/>
              </a:rPr>
              <a:t>分配律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 </a:t>
            </a:r>
          </a:p>
          <a:p>
            <a:pPr algn="just" eaLnBrk="1" hangingPunct="1">
              <a:buFontTx/>
              <a:buNone/>
            </a:pP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a:t>
            </a:r>
          </a:p>
          <a:p>
            <a:pPr algn="just" eaLnBrk="1" hangingPunct="1">
              <a:buFontTx/>
              <a:buNone/>
            </a:pPr>
            <a:r>
              <a:rPr lang="zh-CN" altLang="en-US" sz="1200" b="1" dirty="0">
                <a:solidFill>
                  <a:srgbClr val="FF3300"/>
                </a:solidFill>
                <a:latin typeface="宋体" panose="02010600030101010101" pitchFamily="2" charset="-122"/>
              </a:rPr>
              <a:t>德摩根律  </a:t>
            </a: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en-US" altLang="zh-CN" sz="1200" b="1" dirty="0">
              <a:cs typeface="Times New Roman" panose="02020603050405020304" pitchFamily="18" charset="0"/>
            </a:endParaRPr>
          </a:p>
          <a:p>
            <a:pPr algn="just" eaLnBrk="1" hangingPunct="1">
              <a:buFontTx/>
              <a:buNone/>
            </a:pP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p>
          <a:p>
            <a:pPr algn="just" eaLnBrk="1" hangingPunct="1">
              <a:buFontTx/>
              <a:buNone/>
            </a:pPr>
            <a:r>
              <a:rPr lang="zh-CN" altLang="en-US" sz="1200" b="1" dirty="0">
                <a:solidFill>
                  <a:srgbClr val="FF3300"/>
                </a:solidFill>
                <a:latin typeface="宋体" panose="02010600030101010101" pitchFamily="2" charset="-122"/>
              </a:rPr>
              <a:t>吸收律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23736731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p>
          <a:p>
            <a:r>
              <a:rPr lang="en-US" altLang="zh-CN" sz="1200" b="1" i="1" dirty="0">
                <a:cs typeface="Times New Roman" panose="02020603050405020304" pitchFamily="18" charset="0"/>
              </a:rPr>
              <a:t>A=1 </a:t>
            </a:r>
            <a:r>
              <a:rPr lang="zh-CN" altLang="en-US" sz="1200" b="1" i="1" dirty="0">
                <a:cs typeface="Times New Roman" panose="02020603050405020304" pitchFamily="18" charset="0"/>
              </a:rPr>
              <a:t>左边一定</a:t>
            </a:r>
            <a:r>
              <a:rPr lang="en-US" altLang="zh-CN" sz="1200" b="1" i="1" dirty="0">
                <a:cs typeface="Times New Roman" panose="02020603050405020304" pitchFamily="18" charset="0"/>
              </a:rPr>
              <a:t>0 A=0</a:t>
            </a:r>
            <a:r>
              <a:rPr lang="zh-CN" altLang="en-US" sz="1200" b="1" i="1" dirty="0">
                <a:cs typeface="Times New Roman" panose="02020603050405020304" pitchFamily="18" charset="0"/>
              </a:rPr>
              <a:t>左边一定</a:t>
            </a:r>
            <a:r>
              <a:rPr lang="en-US" altLang="zh-CN" sz="1200" b="1" i="1" dirty="0">
                <a:cs typeface="Times New Roman" panose="02020603050405020304" pitchFamily="18" charset="0"/>
              </a:rPr>
              <a:t>1</a:t>
            </a:r>
          </a:p>
          <a:p>
            <a:endParaRPr lang="en-US" altLang="zh-CN" sz="1200" b="1" i="1" dirty="0">
              <a:cs typeface="Times New Roman" panose="02020603050405020304" pitchFamily="18" charset="0"/>
            </a:endParaRPr>
          </a:p>
          <a:p>
            <a:pPr eaLnBrk="1" hangingPunct="1">
              <a:spcBef>
                <a:spcPct val="40000"/>
              </a:spcBef>
              <a:buFontTx/>
              <a:buNone/>
            </a:pPr>
            <a:r>
              <a:rPr lang="zh-CN" altLang="en-US" sz="1200" b="1" dirty="0">
                <a:solidFill>
                  <a:srgbClr val="FF3300"/>
                </a:solidFill>
                <a:latin typeface="宋体" panose="02010600030101010101" pitchFamily="2" charset="-122"/>
              </a:rPr>
              <a:t>零律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sym typeface="Symbol" panose="05050102010706020507" pitchFamily="18" charset="2"/>
              </a:rPr>
              <a:t></a:t>
            </a:r>
            <a:r>
              <a:rPr lang="en-US" altLang="zh-CN" sz="1200" b="1" dirty="0">
                <a:cs typeface="Times New Roman" panose="02020603050405020304" pitchFamily="18" charset="0"/>
              </a:rPr>
              <a:t>1</a:t>
            </a:r>
            <a:r>
              <a:rPr lang="en-US" altLang="zh-CN" sz="1200" b="1" dirty="0">
                <a:sym typeface="Symbol" panose="05050102010706020507" pitchFamily="18" charset="2"/>
              </a:rPr>
              <a:t></a:t>
            </a:r>
            <a:r>
              <a:rPr lang="en-US" altLang="zh-CN" sz="1200" b="1" dirty="0">
                <a:cs typeface="Times New Roman" panose="02020603050405020304" pitchFamily="18" charset="0"/>
              </a:rPr>
              <a:t>1,     </a:t>
            </a:r>
            <a:r>
              <a:rPr lang="en-US" altLang="zh-CN" sz="1200" b="1" i="1" dirty="0">
                <a:cs typeface="Times New Roman" panose="02020603050405020304" pitchFamily="18" charset="0"/>
              </a:rPr>
              <a:t>A</a:t>
            </a:r>
            <a:r>
              <a:rPr lang="en-US" altLang="zh-CN" sz="1200" b="1" dirty="0">
                <a:sym typeface="Symbol" panose="05050102010706020507" pitchFamily="18" charset="2"/>
              </a:rPr>
              <a:t></a:t>
            </a:r>
            <a:r>
              <a:rPr lang="en-US" altLang="zh-CN" sz="1200" b="1" dirty="0">
                <a:cs typeface="Times New Roman" panose="02020603050405020304" pitchFamily="18" charset="0"/>
              </a:rPr>
              <a:t>0</a:t>
            </a:r>
            <a:r>
              <a:rPr lang="en-US" altLang="zh-CN" sz="1200" b="1" dirty="0">
                <a:sym typeface="Symbol" panose="05050102010706020507" pitchFamily="18" charset="2"/>
              </a:rPr>
              <a:t></a:t>
            </a:r>
            <a:r>
              <a:rPr lang="en-US" altLang="zh-CN" sz="1200" b="1" dirty="0">
                <a:cs typeface="Times New Roman" panose="02020603050405020304" pitchFamily="18" charset="0"/>
              </a:rPr>
              <a:t>0 </a:t>
            </a:r>
            <a:endParaRPr lang="en-US" altLang="zh-CN" sz="1200" b="1" dirty="0">
              <a:latin typeface="宋体" panose="02010600030101010101" pitchFamily="2" charset="-122"/>
            </a:endParaRPr>
          </a:p>
          <a:p>
            <a:pPr algn="just" eaLnBrk="1" hangingPunct="1">
              <a:spcBef>
                <a:spcPct val="40000"/>
              </a:spcBef>
              <a:buFontTx/>
              <a:buNone/>
            </a:pPr>
            <a:r>
              <a:rPr lang="zh-CN" altLang="en-US" sz="1200" b="1" dirty="0">
                <a:solidFill>
                  <a:srgbClr val="FF3300"/>
                </a:solidFill>
                <a:latin typeface="宋体" panose="02010600030101010101" pitchFamily="2" charset="-122"/>
              </a:rPr>
              <a:t>同一律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0</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  </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en-US" altLang="zh-CN" sz="1200" b="1" dirty="0">
              <a:cs typeface="Times New Roman" panose="02020603050405020304" pitchFamily="18" charset="0"/>
            </a:endParaRPr>
          </a:p>
          <a:p>
            <a:pPr algn="just" eaLnBrk="1" hangingPunct="1">
              <a:spcBef>
                <a:spcPct val="40000"/>
              </a:spcBef>
              <a:buFontTx/>
              <a:buNone/>
            </a:pPr>
            <a:r>
              <a:rPr lang="zh-CN" altLang="en-US" sz="1200" b="1" dirty="0">
                <a:solidFill>
                  <a:srgbClr val="FF3300"/>
                </a:solidFill>
                <a:latin typeface="宋体" panose="02010600030101010101" pitchFamily="2" charset="-122"/>
              </a:rPr>
              <a:t>排中律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1</a:t>
            </a:r>
          </a:p>
          <a:p>
            <a:pPr algn="just" eaLnBrk="1" hangingPunct="1">
              <a:spcBef>
                <a:spcPct val="40000"/>
              </a:spcBef>
              <a:buFontTx/>
              <a:buNone/>
            </a:pPr>
            <a:r>
              <a:rPr lang="zh-CN" altLang="en-US" sz="1200" b="1" dirty="0">
                <a:solidFill>
                  <a:srgbClr val="FF3300"/>
                </a:solidFill>
                <a:latin typeface="宋体" panose="02010600030101010101" pitchFamily="2" charset="-122"/>
              </a:rPr>
              <a:t>矛盾律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0</a:t>
            </a:r>
          </a:p>
          <a:p>
            <a:pPr algn="just" eaLnBrk="1" hangingPunct="1">
              <a:spcBef>
                <a:spcPct val="40000"/>
              </a:spcBef>
              <a:buFontTx/>
              <a:buNone/>
            </a:pPr>
            <a:r>
              <a:rPr lang="zh-CN" altLang="en-US" sz="1200" b="1" dirty="0">
                <a:solidFill>
                  <a:srgbClr val="FF3300"/>
                </a:solidFill>
                <a:latin typeface="宋体" panose="02010600030101010101" pitchFamily="2" charset="-122"/>
              </a:rPr>
              <a:t>蕴涵等值式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en-US" altLang="zh-CN" sz="1200" b="1" dirty="0">
              <a:cs typeface="Times New Roman" panose="02020603050405020304" pitchFamily="18" charset="0"/>
            </a:endParaRPr>
          </a:p>
          <a:p>
            <a:pPr algn="just" eaLnBrk="1" hangingPunct="1">
              <a:spcBef>
                <a:spcPct val="40000"/>
              </a:spcBef>
              <a:buFontTx/>
              <a:buNone/>
            </a:pPr>
            <a:r>
              <a:rPr lang="zh-CN" altLang="en-US" sz="1200" b="1" dirty="0">
                <a:solidFill>
                  <a:srgbClr val="FF3300"/>
                </a:solidFill>
                <a:latin typeface="宋体" panose="02010600030101010101" pitchFamily="2" charset="-122"/>
              </a:rPr>
              <a:t>等价等值式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rPr>
              <a:t>)</a:t>
            </a:r>
          </a:p>
          <a:p>
            <a:pPr algn="just" eaLnBrk="1" hangingPunct="1">
              <a:spcBef>
                <a:spcPct val="40000"/>
              </a:spcBef>
              <a:buFontTx/>
              <a:buNone/>
            </a:pPr>
            <a:r>
              <a:rPr lang="zh-CN" altLang="en-US" sz="1200" b="1" dirty="0">
                <a:solidFill>
                  <a:srgbClr val="FF3300"/>
                </a:solidFill>
                <a:latin typeface="宋体" panose="02010600030101010101" pitchFamily="2" charset="-122"/>
              </a:rPr>
              <a:t>假言易位</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en-US" altLang="zh-CN" sz="1200" b="1" dirty="0">
              <a:cs typeface="Times New Roman" panose="02020603050405020304" pitchFamily="18" charset="0"/>
            </a:endParaRPr>
          </a:p>
          <a:p>
            <a:pPr algn="just" eaLnBrk="1" hangingPunct="1">
              <a:spcBef>
                <a:spcPct val="40000"/>
              </a:spcBef>
              <a:buFontTx/>
              <a:buNone/>
            </a:pPr>
            <a:r>
              <a:rPr lang="zh-CN" altLang="en-US" sz="1200" b="1" dirty="0">
                <a:solidFill>
                  <a:srgbClr val="FF3300"/>
                </a:solidFill>
                <a:latin typeface="宋体" panose="02010600030101010101" pitchFamily="2" charset="-122"/>
              </a:rPr>
              <a:t>等价否定等值式</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en-US" altLang="zh-CN" sz="1200" b="1" dirty="0">
              <a:cs typeface="Times New Roman" panose="02020603050405020304" pitchFamily="18" charset="0"/>
            </a:endParaRPr>
          </a:p>
          <a:p>
            <a:pPr algn="just" eaLnBrk="1" hangingPunct="1">
              <a:spcBef>
                <a:spcPct val="40000"/>
              </a:spcBef>
              <a:buFontTx/>
              <a:buNone/>
            </a:pPr>
            <a:r>
              <a:rPr lang="zh-CN" altLang="en-US" sz="1200" b="1" dirty="0">
                <a:solidFill>
                  <a:srgbClr val="FF3300"/>
                </a:solidFill>
                <a:latin typeface="宋体" panose="02010600030101010101" pitchFamily="2" charset="-122"/>
              </a:rPr>
              <a:t>归谬论</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1510245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5000"/>
              </a:spcBef>
              <a:buFontTx/>
              <a:buNone/>
            </a:pPr>
            <a:r>
              <a:rPr lang="zh-CN" altLang="en-US" sz="1200" b="1" dirty="0">
                <a:solidFill>
                  <a:srgbClr val="FF3300"/>
                </a:solidFill>
                <a:latin typeface="宋体" panose="02010600030101010101" pitchFamily="2" charset="-122"/>
              </a:rPr>
              <a:t>等值演算</a:t>
            </a:r>
            <a:r>
              <a:rPr lang="zh-CN" altLang="en-US" sz="1200" b="1" dirty="0">
                <a:cs typeface="Times New Roman" panose="02020603050405020304" pitchFamily="18" charset="0"/>
              </a:rPr>
              <a:t>: </a:t>
            </a:r>
            <a:r>
              <a:rPr lang="zh-CN" altLang="en-US" sz="1200" b="1" dirty="0">
                <a:latin typeface="宋体" panose="02010600030101010101" pitchFamily="2" charset="-122"/>
              </a:rPr>
              <a:t>由已知的等值式推演出新的等值式的过程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solidFill>
                  <a:srgbClr val="FF3300"/>
                </a:solidFill>
                <a:latin typeface="宋体" panose="02010600030101010101" pitchFamily="2" charset="-122"/>
              </a:rPr>
              <a:t>置换规则</a:t>
            </a:r>
            <a:r>
              <a:rPr lang="zh-CN" altLang="en-US" sz="1200" b="1" dirty="0"/>
              <a:t>: </a:t>
            </a:r>
            <a:r>
              <a:rPr lang="zh-CN" altLang="en-US" sz="1200" b="1" dirty="0">
                <a:latin typeface="宋体" panose="02010600030101010101" pitchFamily="2" charset="-122"/>
              </a:rPr>
              <a:t>若</a:t>
            </a:r>
            <a:r>
              <a:rPr lang="en-US" altLang="zh-CN" sz="1200" b="1" i="1" dirty="0">
                <a:cs typeface="Times New Roman" panose="02020603050405020304" pitchFamily="18" charset="0"/>
              </a:rPr>
              <a:t>A</a:t>
            </a:r>
            <a:r>
              <a:rPr lang="en-US" altLang="zh-CN" sz="1200" b="1" dirty="0">
                <a:sym typeface="Symbol" panose="05050102010706020507" pitchFamily="18" charset="2"/>
              </a:rPr>
              <a:t></a:t>
            </a:r>
            <a:r>
              <a:rPr lang="en-US" altLang="zh-CN" sz="1200" b="1" i="1" dirty="0"/>
              <a:t>B</a:t>
            </a:r>
            <a:r>
              <a:rPr lang="en-US" altLang="zh-CN" sz="1200" b="1" dirty="0"/>
              <a:t>, </a:t>
            </a:r>
            <a:r>
              <a:rPr lang="zh-CN" altLang="en-US" sz="1200" b="1" dirty="0"/>
              <a:t>则</a:t>
            </a:r>
            <a:r>
              <a:rPr lang="zh-CN" altLang="en-US" sz="1200" b="1" i="1" dirty="0">
                <a:sym typeface="Symbol" panose="05050102010706020507" pitchFamily="18" charset="2"/>
              </a:rPr>
              <a:t></a:t>
            </a:r>
            <a:r>
              <a:rPr lang="zh-CN" altLang="en-US" sz="1200" b="1" dirty="0"/>
              <a:t>(</a:t>
            </a:r>
            <a:r>
              <a:rPr lang="en-US" altLang="zh-CN" sz="1200" b="1" i="1" dirty="0"/>
              <a:t>B</a:t>
            </a:r>
            <a:r>
              <a:rPr lang="en-US" altLang="zh-CN" sz="1200" b="1" dirty="0"/>
              <a:t>)</a:t>
            </a:r>
            <a:r>
              <a:rPr lang="en-US" altLang="zh-CN" sz="1200" b="1" dirty="0">
                <a:sym typeface="Symbol" panose="05050102010706020507" pitchFamily="18" charset="2"/>
              </a:rPr>
              <a:t></a:t>
            </a:r>
            <a:r>
              <a:rPr lang="en-US" altLang="zh-CN" sz="1200" b="1" i="1" dirty="0">
                <a:sym typeface="Symbol" panose="05050102010706020507" pitchFamily="18" charset="2"/>
              </a:rPr>
              <a:t></a:t>
            </a:r>
            <a:r>
              <a:rPr lang="en-US" altLang="zh-CN" sz="1200" b="1" dirty="0"/>
              <a:t>(</a:t>
            </a:r>
            <a:r>
              <a:rPr lang="en-US" altLang="zh-CN" sz="1200" b="1" i="1" dirty="0"/>
              <a:t>A</a:t>
            </a:r>
            <a:r>
              <a:rPr lang="en-US" altLang="zh-CN" sz="1200" b="1" dirty="0"/>
              <a:t>)</a:t>
            </a:r>
            <a:r>
              <a:rPr lang="en-US" altLang="zh-CN" sz="1200" b="1" dirty="0">
                <a:cs typeface="Times New Roman" panose="02020603050405020304" pitchFamily="18" charset="0"/>
              </a:rPr>
              <a:t> </a:t>
            </a:r>
          </a:p>
          <a:p>
            <a:pPr algn="just" eaLnBrk="1" hangingPunct="1">
              <a:spcBef>
                <a:spcPct val="35000"/>
              </a:spcBef>
              <a:buFontTx/>
              <a:buNone/>
            </a:pPr>
            <a:r>
              <a:rPr lang="zh-CN" altLang="en-US" b="1" dirty="0">
                <a:solidFill>
                  <a:srgbClr val="00B0F0"/>
                </a:solidFill>
              </a:rPr>
              <a:t>例</a:t>
            </a:r>
            <a:r>
              <a:rPr lang="zh-CN" altLang="en-US" sz="1800" b="1" dirty="0">
                <a:solidFill>
                  <a:srgbClr val="00B0F0"/>
                </a:solidFill>
              </a:rPr>
              <a:t>：</a:t>
            </a:r>
            <a:r>
              <a:rPr lang="zh-CN" altLang="en-US" sz="1200" b="1" dirty="0">
                <a:latin typeface="宋体" panose="02010600030101010101" pitchFamily="2" charset="-122"/>
              </a:rPr>
              <a:t>证明 </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r</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endParaRPr lang="en-US" altLang="zh-CN" sz="1200" b="1" dirty="0">
              <a:cs typeface="Times New Roman" panose="02020603050405020304" pitchFamily="18" charset="0"/>
            </a:endParaRPr>
          </a:p>
          <a:p>
            <a:pPr algn="just" eaLnBrk="1" hangingPunct="1">
              <a:spcBef>
                <a:spcPct val="35000"/>
              </a:spcBef>
              <a:buFontTx/>
              <a:buNone/>
            </a:pPr>
            <a:r>
              <a:rPr lang="zh-CN" altLang="en-US" sz="1200" b="1" dirty="0">
                <a:solidFill>
                  <a:srgbClr val="00B0F0"/>
                </a:solidFill>
                <a:latin typeface="宋体" panose="02010600030101010101" pitchFamily="2" charset="-122"/>
              </a:rPr>
              <a:t>证：</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r</a:t>
            </a:r>
            <a:r>
              <a:rPr lang="en-US" altLang="zh-CN" sz="1200" b="1" dirty="0">
                <a:cs typeface="Times New Roman" panose="02020603050405020304" pitchFamily="18" charset="0"/>
              </a:rPr>
              <a:t>) </a:t>
            </a:r>
          </a:p>
          <a:p>
            <a:pPr algn="just" eaLnBrk="1" hangingPunct="1">
              <a:spcBef>
                <a:spcPct val="35000"/>
              </a:spcBef>
              <a:buFontTx/>
              <a:buNone/>
            </a:pPr>
            <a:r>
              <a:rPr lang="en-US" altLang="zh-CN"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r</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蕴涵等值式）</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sym typeface="Symbol" panose="05050102010706020507" pitchFamily="18" charset="2"/>
              </a:rPr>
              <a:t>      </a:t>
            </a:r>
            <a:r>
              <a:rPr lang="zh-CN" altLang="en-US" sz="1200" b="1" dirty="0">
                <a:cs typeface="Times New Roman" panose="02020603050405020304" pitchFamily="18" charset="0"/>
              </a:rPr>
              <a:t>(</a:t>
            </a:r>
            <a:r>
              <a:rPr lang="zh-CN" altLang="en-US"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结合律）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sym typeface="Symbol" panose="05050102010706020507" pitchFamily="18" charset="2"/>
              </a:rPr>
              <a:t>      </a:t>
            </a:r>
            <a:r>
              <a:rPr lang="zh-CN" altLang="en-US"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德摩根律）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sym typeface="Symbol" panose="05050102010706020507" pitchFamily="18" charset="2"/>
              </a:rPr>
              <a:t>      </a:t>
            </a:r>
            <a:r>
              <a:rPr lang="zh-CN" altLang="en-US"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蕴涵等值式</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24200764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eaLnBrk="1" hangingPunct="1">
              <a:lnSpc>
                <a:spcPct val="120000"/>
              </a:lnSpc>
              <a:spcBef>
                <a:spcPct val="20000"/>
              </a:spcBef>
              <a:buNone/>
            </a:pPr>
            <a:r>
              <a:rPr lang="zh-CN" altLang="en-US" sz="1200" b="1" dirty="0">
                <a:solidFill>
                  <a:srgbClr val="00B0F0"/>
                </a:solidFill>
                <a:latin typeface="Times New Roman" panose="02020603050405020304" pitchFamily="18" charset="0"/>
                <a:ea typeface="宋体" panose="02010600030101010101" pitchFamily="2" charset="-122"/>
              </a:rPr>
              <a:t>例： </a:t>
            </a:r>
            <a:r>
              <a:rPr lang="zh-CN" altLang="en-US" sz="1200" b="1" dirty="0">
                <a:solidFill>
                  <a:schemeClr val="tx1"/>
                </a:solidFill>
                <a:latin typeface="Times New Roman" panose="02020603050405020304" pitchFamily="18" charset="0"/>
                <a:ea typeface="宋体" panose="02010600030101010101" pitchFamily="2" charset="-122"/>
              </a:rPr>
              <a:t>证明: </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q</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p</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q</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r</a:t>
            </a:r>
          </a:p>
          <a:p>
            <a:pPr marL="0" indent="0">
              <a:lnSpc>
                <a:spcPct val="120000"/>
              </a:lnSpc>
              <a:spcBef>
                <a:spcPct val="20000"/>
              </a:spcBef>
              <a:buNone/>
            </a:pPr>
            <a:r>
              <a:rPr lang="zh-CN" altLang="en-US" b="1" dirty="0">
                <a:latin typeface="Times New Roman" panose="02020603050405020304" pitchFamily="18" charset="0"/>
              </a:rPr>
              <a:t>等值演算不能直接证明两个公式不等值. 证明两个公式不等值的基本思想是找到一个赋值使一个成真, 另一个成假.</a:t>
            </a:r>
          </a:p>
          <a:p>
            <a:pPr algn="l" eaLnBrk="1" hangingPunct="1">
              <a:lnSpc>
                <a:spcPct val="120000"/>
              </a:lnSpc>
              <a:spcBef>
                <a:spcPct val="20000"/>
              </a:spcBef>
            </a:pPr>
            <a:endParaRPr lang="en-US" altLang="zh-CN" sz="1200" b="1" i="1" dirty="0">
              <a:solidFill>
                <a:schemeClr val="tx1"/>
              </a:solidFill>
              <a:latin typeface="Times New Roman" panose="02020603050405020304" pitchFamily="18" charset="0"/>
              <a:ea typeface="宋体" panose="02010600030101010101" pitchFamily="2" charset="-122"/>
            </a:endParaRPr>
          </a:p>
          <a:p>
            <a:pPr algn="l" eaLnBrk="1" hangingPunct="1">
              <a:lnSpc>
                <a:spcPct val="120000"/>
              </a:lnSpc>
              <a:spcBef>
                <a:spcPct val="20000"/>
              </a:spcBef>
            </a:pPr>
            <a:r>
              <a:rPr lang="zh-CN" altLang="en-US" sz="1200" b="1" dirty="0">
                <a:solidFill>
                  <a:schemeClr val="tx1"/>
                </a:solidFill>
                <a:latin typeface="Times New Roman" panose="02020603050405020304" pitchFamily="18" charset="0"/>
                <a:ea typeface="宋体" panose="02010600030101010101" pitchFamily="2" charset="-122"/>
              </a:rPr>
              <a:t>方法一  真值表法</a:t>
            </a:r>
          </a:p>
          <a:p>
            <a:pPr algn="l" eaLnBrk="1" hangingPunct="1">
              <a:lnSpc>
                <a:spcPct val="120000"/>
              </a:lnSpc>
              <a:spcBef>
                <a:spcPct val="20000"/>
              </a:spcBef>
            </a:pPr>
            <a:r>
              <a:rPr lang="zh-CN" altLang="en-US" sz="1200" b="1" dirty="0">
                <a:solidFill>
                  <a:schemeClr val="tx1"/>
                </a:solidFill>
                <a:latin typeface="Times New Roman" panose="02020603050405020304" pitchFamily="18" charset="0"/>
                <a:ea typeface="宋体" panose="02010600030101010101" pitchFamily="2" charset="-122"/>
              </a:rPr>
              <a:t>方法二  观察法. 容易看出000使左边成真, 使右边成假.</a:t>
            </a:r>
          </a:p>
          <a:p>
            <a:pPr algn="l" eaLnBrk="1" hangingPunct="1">
              <a:lnSpc>
                <a:spcPct val="120000"/>
              </a:lnSpc>
              <a:spcBef>
                <a:spcPct val="20000"/>
              </a:spcBef>
            </a:pPr>
            <a:r>
              <a:rPr lang="zh-CN" altLang="en-US" sz="1200" b="1" dirty="0">
                <a:solidFill>
                  <a:schemeClr val="tx1"/>
                </a:solidFill>
                <a:latin typeface="Times New Roman" panose="02020603050405020304" pitchFamily="18" charset="0"/>
                <a:ea typeface="宋体" panose="02010600030101010101" pitchFamily="2" charset="-122"/>
              </a:rPr>
              <a:t>方法三  先用等值演算化简公式, 再观察.</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13235242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宋体" panose="02010600030101010101" pitchFamily="2" charset="-122"/>
              </a:rPr>
              <a:t>矛盾式(永假式)</a:t>
            </a:r>
            <a:r>
              <a:rPr lang="zh-CN" altLang="en-US" sz="1200" b="1" dirty="0"/>
              <a:t>: </a:t>
            </a:r>
            <a:r>
              <a:rPr lang="zh-CN" altLang="en-US" sz="1200" b="1" dirty="0">
                <a:latin typeface="宋体" panose="02010600030101010101" pitchFamily="2" charset="-122"/>
              </a:rPr>
              <a:t>无成真赋值的命题公式</a:t>
            </a:r>
          </a:p>
          <a:p>
            <a:pPr algn="just" eaLnBrk="1" hangingPunct="1">
              <a:spcBef>
                <a:spcPct val="35000"/>
              </a:spcBef>
              <a:buFontTx/>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zh-CN" altLang="en-US" sz="1200" b="1" dirty="0">
                <a:cs typeface="Times New Roman" panose="02020603050405020304" pitchFamily="18" charset="0"/>
              </a:rPr>
              <a:t> </a:t>
            </a:r>
            <a:r>
              <a:rPr lang="zh-CN" altLang="en-US" sz="1200" b="1" dirty="0">
                <a:latin typeface="宋体" panose="02010600030101010101" pitchFamily="2" charset="-122"/>
              </a:rPr>
              <a:t>用等值演算法判断下列公式的类型</a:t>
            </a:r>
            <a:endParaRPr lang="zh-CN" altLang="en-US" sz="1200" b="1" dirty="0">
              <a:cs typeface="Times New Roman" panose="02020603050405020304" pitchFamily="18" charset="0"/>
            </a:endParaRPr>
          </a:p>
          <a:p>
            <a:pPr eaLnBrk="1" hangingPunct="1">
              <a:spcBef>
                <a:spcPct val="35000"/>
              </a:spcBef>
              <a:buFontTx/>
              <a:buNone/>
            </a:pPr>
            <a:r>
              <a:rPr lang="zh-CN" altLang="en-US" sz="1200" b="1" dirty="0">
                <a:cs typeface="Times New Roman" panose="02020603050405020304" pitchFamily="18" charset="0"/>
              </a:rPr>
              <a:t>(1)  </a:t>
            </a:r>
            <a:r>
              <a:rPr lang="en-US" altLang="zh-CN" sz="1200" b="1" i="1" dirty="0">
                <a:cs typeface="Times New Roman" panose="02020603050405020304" pitchFamily="18" charset="0"/>
              </a:rPr>
              <a:t>q</a:t>
            </a:r>
            <a:r>
              <a:rPr lang="en-US" altLang="zh-CN" sz="1200" b="1" dirty="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t> </a:t>
            </a:r>
          </a:p>
          <a:p>
            <a:pPr algn="just" eaLnBrk="1" hangingPunct="1">
              <a:spcBef>
                <a:spcPct val="35000"/>
              </a:spcBef>
              <a:buFontTx/>
              <a:buNone/>
            </a:pPr>
            <a:r>
              <a:rPr lang="zh-CN" altLang="en-US" sz="1200" b="1" dirty="0">
                <a:solidFill>
                  <a:srgbClr val="00B0F0"/>
                </a:solidFill>
                <a:latin typeface="宋体" panose="02010600030101010101" pitchFamily="2" charset="-122"/>
              </a:rPr>
              <a:t>解</a:t>
            </a:r>
            <a:r>
              <a:rPr lang="zh-CN" altLang="en-US" sz="1200" b="1" dirty="0">
                <a:latin typeface="宋体" panose="02010600030101010101" pitchFamily="2" charset="-122"/>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p>
          <a:p>
            <a:pPr algn="just" eaLnBrk="1" hangingPunct="1">
              <a:spcBef>
                <a:spcPct val="35000"/>
              </a:spcBef>
              <a:buFontTx/>
              <a:buNone/>
            </a:pP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蕴涵等值式）</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德摩根律）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交换律，结合律）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0                 </a:t>
            </a:r>
            <a:r>
              <a:rPr lang="en-US" altLang="zh-CN" sz="1200" b="1" dirty="0">
                <a:latin typeface="宋体" panose="02010600030101010101" pitchFamily="2" charset="-122"/>
              </a:rPr>
              <a:t>（</a:t>
            </a:r>
            <a:r>
              <a:rPr lang="zh-CN" altLang="en-US" sz="1200" b="1" dirty="0">
                <a:latin typeface="宋体" panose="02010600030101010101" pitchFamily="2" charset="-122"/>
              </a:rPr>
              <a:t>矛盾律）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0                      </a:t>
            </a:r>
            <a:r>
              <a:rPr lang="zh-CN" altLang="en-US" sz="1200" b="1" dirty="0">
                <a:latin typeface="宋体" panose="02010600030101010101" pitchFamily="2" charset="-122"/>
              </a:rPr>
              <a:t>（零律）</a:t>
            </a:r>
            <a:endParaRPr lang="zh-CN" altLang="en-US" sz="1200" b="1" dirty="0">
              <a:cs typeface="Times New Roman" panose="02020603050405020304" pitchFamily="18" charset="0"/>
            </a:endParaRPr>
          </a:p>
          <a:p>
            <a:pPr eaLnBrk="1" hangingPunct="1">
              <a:spcBef>
                <a:spcPct val="35000"/>
              </a:spcBef>
              <a:buFontTx/>
              <a:buNone/>
            </a:pPr>
            <a:r>
              <a:rPr lang="zh-CN" altLang="en-US" sz="1200" b="1" dirty="0">
                <a:latin typeface="宋体" panose="02010600030101010101" pitchFamily="2" charset="-122"/>
              </a:rPr>
              <a:t>该式为矛盾式</a:t>
            </a:r>
            <a:r>
              <a:rPr lang="zh-CN" altLang="en-US" sz="1200" b="1" dirty="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42</a:t>
            </a:fld>
            <a:endParaRPr lang="zh-CN" altLang="en-US"/>
          </a:p>
        </p:txBody>
      </p:sp>
    </p:spTree>
    <p:extLst>
      <p:ext uri="{BB962C8B-B14F-4D97-AF65-F5344CB8AC3E}">
        <p14:creationId xmlns:p14="http://schemas.microsoft.com/office/powerpoint/2010/main" val="37499026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宋体" panose="02010600030101010101" pitchFamily="2" charset="-122"/>
              </a:rPr>
              <a:t>矛盾式(永假式)</a:t>
            </a:r>
            <a:r>
              <a:rPr lang="zh-CN" altLang="en-US" sz="1200" b="1" dirty="0"/>
              <a:t>: </a:t>
            </a:r>
            <a:r>
              <a:rPr lang="zh-CN" altLang="en-US" sz="1200" b="1" dirty="0">
                <a:latin typeface="宋体" panose="02010600030101010101" pitchFamily="2" charset="-122"/>
              </a:rPr>
              <a:t>无成真赋值的命题公式</a:t>
            </a:r>
          </a:p>
          <a:p>
            <a:pPr algn="just" eaLnBrk="1" hangingPunct="1">
              <a:spcBef>
                <a:spcPct val="35000"/>
              </a:spcBef>
              <a:buFontTx/>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zh-CN" altLang="en-US" sz="1200" b="1" dirty="0">
                <a:cs typeface="Times New Roman" panose="02020603050405020304" pitchFamily="18" charset="0"/>
              </a:rPr>
              <a:t> </a:t>
            </a:r>
            <a:r>
              <a:rPr lang="zh-CN" altLang="en-US" sz="1200" b="1" dirty="0">
                <a:latin typeface="宋体" panose="02010600030101010101" pitchFamily="2" charset="-122"/>
              </a:rPr>
              <a:t>用等值演算法判断下列公式的类型</a:t>
            </a:r>
            <a:endParaRPr lang="zh-CN" altLang="en-US" sz="1200" b="1" dirty="0">
              <a:cs typeface="Times New Roman" panose="02020603050405020304" pitchFamily="18" charset="0"/>
            </a:endParaRPr>
          </a:p>
          <a:p>
            <a:pPr eaLnBrk="1" hangingPunct="1">
              <a:spcBef>
                <a:spcPct val="35000"/>
              </a:spcBef>
              <a:buFontTx/>
              <a:buNone/>
            </a:pPr>
            <a:r>
              <a:rPr lang="zh-CN" altLang="en-US" sz="1200" b="1" dirty="0">
                <a:cs typeface="Times New Roman" panose="02020603050405020304" pitchFamily="18" charset="0"/>
              </a:rPr>
              <a:t>(1)  </a:t>
            </a:r>
            <a:r>
              <a:rPr lang="en-US" altLang="zh-CN" sz="1200" b="1" i="1" dirty="0">
                <a:cs typeface="Times New Roman" panose="02020603050405020304" pitchFamily="18" charset="0"/>
              </a:rPr>
              <a:t>q</a:t>
            </a:r>
            <a:r>
              <a:rPr lang="en-US" altLang="zh-CN" sz="1200" b="1" dirty="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t> </a:t>
            </a:r>
          </a:p>
          <a:p>
            <a:pPr algn="just" eaLnBrk="1" hangingPunct="1">
              <a:spcBef>
                <a:spcPct val="35000"/>
              </a:spcBef>
              <a:buFontTx/>
              <a:buNone/>
            </a:pPr>
            <a:r>
              <a:rPr lang="zh-CN" altLang="en-US" sz="1200" b="1" dirty="0">
                <a:solidFill>
                  <a:srgbClr val="00B0F0"/>
                </a:solidFill>
                <a:latin typeface="宋体" panose="02010600030101010101" pitchFamily="2" charset="-122"/>
              </a:rPr>
              <a:t>解</a:t>
            </a:r>
            <a:r>
              <a:rPr lang="zh-CN" altLang="en-US" sz="1200" b="1" dirty="0">
                <a:latin typeface="宋体" panose="02010600030101010101" pitchFamily="2" charset="-122"/>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p>
          <a:p>
            <a:pPr algn="just" eaLnBrk="1" hangingPunct="1">
              <a:spcBef>
                <a:spcPct val="35000"/>
              </a:spcBef>
              <a:buFontTx/>
              <a:buNone/>
            </a:pP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蕴涵等值式）</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德摩根律）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交换律，结合律）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0                 </a:t>
            </a:r>
            <a:r>
              <a:rPr lang="en-US" altLang="zh-CN" sz="1200" b="1" dirty="0">
                <a:latin typeface="宋体" panose="02010600030101010101" pitchFamily="2" charset="-122"/>
              </a:rPr>
              <a:t>（</a:t>
            </a:r>
            <a:r>
              <a:rPr lang="zh-CN" altLang="en-US" sz="1200" b="1" dirty="0">
                <a:latin typeface="宋体" panose="02010600030101010101" pitchFamily="2" charset="-122"/>
              </a:rPr>
              <a:t>矛盾律）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0                      </a:t>
            </a:r>
            <a:r>
              <a:rPr lang="zh-CN" altLang="en-US" sz="1200" b="1" dirty="0">
                <a:latin typeface="宋体" panose="02010600030101010101" pitchFamily="2" charset="-122"/>
              </a:rPr>
              <a:t>（零律）</a:t>
            </a:r>
            <a:endParaRPr lang="zh-CN" altLang="en-US" sz="1200" b="1" dirty="0">
              <a:cs typeface="Times New Roman" panose="02020603050405020304" pitchFamily="18" charset="0"/>
            </a:endParaRPr>
          </a:p>
          <a:p>
            <a:pPr eaLnBrk="1" hangingPunct="1">
              <a:spcBef>
                <a:spcPct val="35000"/>
              </a:spcBef>
              <a:buFontTx/>
              <a:buNone/>
            </a:pPr>
            <a:r>
              <a:rPr lang="zh-CN" altLang="en-US" sz="1200" b="1" dirty="0">
                <a:latin typeface="宋体" panose="02010600030101010101" pitchFamily="2" charset="-122"/>
              </a:rPr>
              <a:t>该式为矛盾式</a:t>
            </a:r>
            <a:r>
              <a:rPr lang="zh-CN" altLang="en-US" sz="1200" b="1" dirty="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34190289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宋体" panose="02010600030101010101" pitchFamily="2" charset="-122"/>
              </a:rPr>
              <a:t>矛盾式(永假式)</a:t>
            </a:r>
            <a:r>
              <a:rPr lang="zh-CN" altLang="en-US" sz="1200" b="1" dirty="0"/>
              <a:t>: </a:t>
            </a:r>
            <a:r>
              <a:rPr lang="zh-CN" altLang="en-US" sz="1200" b="1" dirty="0">
                <a:latin typeface="宋体" panose="02010600030101010101" pitchFamily="2" charset="-122"/>
              </a:rPr>
              <a:t>无成真赋值的命题公式</a:t>
            </a:r>
          </a:p>
          <a:p>
            <a:pPr algn="just" eaLnBrk="1" hangingPunct="1">
              <a:spcBef>
                <a:spcPct val="35000"/>
              </a:spcBef>
              <a:buFontTx/>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zh-CN" altLang="en-US" sz="1200" b="1" dirty="0">
                <a:cs typeface="Times New Roman" panose="02020603050405020304" pitchFamily="18" charset="0"/>
              </a:rPr>
              <a:t> </a:t>
            </a:r>
            <a:r>
              <a:rPr lang="zh-CN" altLang="en-US" sz="1200" b="1" dirty="0">
                <a:latin typeface="宋体" panose="02010600030101010101" pitchFamily="2" charset="-122"/>
              </a:rPr>
              <a:t>用等值演算法判断下列公式的类型</a:t>
            </a:r>
            <a:endParaRPr lang="zh-CN" altLang="en-US" sz="1200" b="1" dirty="0">
              <a:cs typeface="Times New Roman" panose="02020603050405020304" pitchFamily="18" charset="0"/>
            </a:endParaRPr>
          </a:p>
          <a:p>
            <a:pPr eaLnBrk="1" hangingPunct="1">
              <a:spcBef>
                <a:spcPct val="35000"/>
              </a:spcBef>
              <a:buFontTx/>
              <a:buNone/>
            </a:pPr>
            <a:r>
              <a:rPr lang="zh-CN" altLang="en-US" sz="1200" b="1" dirty="0">
                <a:cs typeface="Times New Roman" panose="02020603050405020304" pitchFamily="18" charset="0"/>
              </a:rPr>
              <a:t>(1)  </a:t>
            </a:r>
            <a:r>
              <a:rPr lang="en-US" altLang="zh-CN" sz="1200" b="1" i="1" dirty="0">
                <a:cs typeface="Times New Roman" panose="02020603050405020304" pitchFamily="18" charset="0"/>
              </a:rPr>
              <a:t>q</a:t>
            </a:r>
            <a:r>
              <a:rPr lang="en-US" altLang="zh-CN" sz="1200" b="1" dirty="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t> </a:t>
            </a:r>
          </a:p>
          <a:p>
            <a:pPr algn="just" eaLnBrk="1" hangingPunct="1">
              <a:spcBef>
                <a:spcPct val="35000"/>
              </a:spcBef>
              <a:buFontTx/>
              <a:buNone/>
            </a:pPr>
            <a:r>
              <a:rPr lang="zh-CN" altLang="en-US" sz="1200" b="1" dirty="0">
                <a:solidFill>
                  <a:srgbClr val="00B0F0"/>
                </a:solidFill>
                <a:latin typeface="宋体" panose="02010600030101010101" pitchFamily="2" charset="-122"/>
              </a:rPr>
              <a:t>解</a:t>
            </a:r>
            <a:r>
              <a:rPr lang="zh-CN" altLang="en-US" sz="1200" b="1" dirty="0">
                <a:latin typeface="宋体" panose="02010600030101010101" pitchFamily="2" charset="-122"/>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p>
          <a:p>
            <a:pPr algn="just" eaLnBrk="1" hangingPunct="1">
              <a:spcBef>
                <a:spcPct val="35000"/>
              </a:spcBef>
              <a:buFontTx/>
              <a:buNone/>
            </a:pP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蕴涵等值式）</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德摩根律）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       </a:t>
            </a:r>
            <a:r>
              <a:rPr lang="en-US" altLang="zh-CN" sz="1200" b="1" dirty="0">
                <a:latin typeface="宋体" panose="02010600030101010101" pitchFamily="2" charset="-122"/>
              </a:rPr>
              <a:t>（</a:t>
            </a:r>
            <a:r>
              <a:rPr lang="zh-CN" altLang="en-US" sz="1200" b="1" dirty="0">
                <a:latin typeface="宋体" panose="02010600030101010101" pitchFamily="2" charset="-122"/>
              </a:rPr>
              <a:t>交换律，结合律）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0                 </a:t>
            </a:r>
            <a:r>
              <a:rPr lang="en-US" altLang="zh-CN" sz="1200" b="1" dirty="0">
                <a:latin typeface="宋体" panose="02010600030101010101" pitchFamily="2" charset="-122"/>
              </a:rPr>
              <a:t>（</a:t>
            </a:r>
            <a:r>
              <a:rPr lang="zh-CN" altLang="en-US" sz="1200" b="1" dirty="0">
                <a:latin typeface="宋体" panose="02010600030101010101" pitchFamily="2" charset="-122"/>
              </a:rPr>
              <a:t>矛盾律）</a:t>
            </a:r>
            <a:endParaRPr lang="zh-CN" altLang="en-US" sz="1200" b="1" dirty="0">
              <a:cs typeface="Times New Roman" panose="02020603050405020304" pitchFamily="18" charset="0"/>
            </a:endParaRPr>
          </a:p>
          <a:p>
            <a:pPr algn="just" eaLnBrk="1" hangingPunct="1">
              <a:spcBef>
                <a:spcPct val="35000"/>
              </a:spcBef>
              <a:buFontTx/>
              <a:buNone/>
            </a:pP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0                      </a:t>
            </a:r>
            <a:r>
              <a:rPr lang="zh-CN" altLang="en-US" sz="1200" b="1" dirty="0">
                <a:latin typeface="宋体" panose="02010600030101010101" pitchFamily="2" charset="-122"/>
              </a:rPr>
              <a:t>（零律）</a:t>
            </a:r>
            <a:endParaRPr lang="zh-CN" altLang="en-US" sz="1200" b="1" dirty="0">
              <a:cs typeface="Times New Roman" panose="02020603050405020304" pitchFamily="18" charset="0"/>
            </a:endParaRPr>
          </a:p>
          <a:p>
            <a:pPr eaLnBrk="1" hangingPunct="1">
              <a:spcBef>
                <a:spcPct val="35000"/>
              </a:spcBef>
              <a:buFontTx/>
              <a:buNone/>
            </a:pPr>
            <a:r>
              <a:rPr lang="zh-CN" altLang="en-US" sz="1200" b="1" dirty="0">
                <a:latin typeface="宋体" panose="02010600030101010101" pitchFamily="2" charset="-122"/>
              </a:rPr>
              <a:t>该式为矛盾式</a:t>
            </a:r>
            <a:r>
              <a:rPr lang="zh-CN" altLang="en-US" sz="1200" b="1" dirty="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40469377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0" lang="en-US" altLang="zh-CN" sz="1800" b="1" dirty="0">
                    <a:cs typeface="Times New Roman" panose="02020603050405020304" pitchFamily="18" charset="0"/>
                  </a:rPr>
                  <a:t>{0,1}</a:t>
                </a:r>
                <a:r>
                  <a:rPr kumimoji="0" lang="en-US" altLang="zh-CN" sz="1800" b="1" i="1" baseline="30000" dirty="0">
                    <a:cs typeface="Times New Roman" panose="02020603050405020304" pitchFamily="18" charset="0"/>
                  </a:rPr>
                  <a:t>n</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表示了所有可能的由</a:t>
                </a:r>
                <a:r>
                  <a:rPr lang="zh-CN" altLang="zh-CN" sz="1800" kern="0" dirty="0">
                    <a:effectLst/>
                    <a:ea typeface="等线"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0</a:t>
                </a:r>
                <a:r>
                  <a:rPr lang="en-US" altLang="zh-CN" sz="18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和</a:t>
                </a:r>
                <a:r>
                  <a:rPr lang="zh-CN" altLang="zh-CN" sz="1800" kern="0" dirty="0">
                    <a:effectLst/>
                    <a:ea typeface="等线"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1</a:t>
                </a:r>
                <a:r>
                  <a:rPr lang="en-US" altLang="zh-CN" sz="18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组成的长度为</a:t>
                </a:r>
                <a:r>
                  <a:rPr lang="zh-CN" altLang="zh-CN" sz="1800" kern="0" dirty="0">
                    <a:effectLst/>
                    <a:ea typeface="等线" panose="02010600030101010101" pitchFamily="2" charset="-122"/>
                    <a:cs typeface="Times New Roman" panose="02020603050405020304" pitchFamily="18" charset="0"/>
                  </a:rPr>
                  <a:t> </a:t>
                </a:r>
                <a:r>
                  <a:rPr lang="en-US" altLang="zh-CN" sz="1800" i="1" kern="0" dirty="0">
                    <a:effectLst/>
                    <a:latin typeface="KaTeX_Math"/>
                    <a:ea typeface="宋体" panose="02010600030101010101" pitchFamily="2" charset="-122"/>
                    <a:cs typeface="Times New Roman" panose="02020603050405020304" pitchFamily="18" charset="0"/>
                  </a:rPr>
                  <a:t>n</a:t>
                </a:r>
                <a:r>
                  <a:rPr lang="en-US" altLang="zh-CN" sz="18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的序列</a:t>
                </a:r>
                <a:r>
                  <a:rPr lang="zh-CN" altLang="en-US" sz="1800" kern="0" dirty="0">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200" b="0" dirty="0">
                    <a:cs typeface="Times New Roman" panose="02020603050405020304" pitchFamily="18" charset="0"/>
                  </a:rPr>
                  <a:t>F</a:t>
                </a:r>
                <a:r>
                  <a:rPr kumimoji="0" lang="zh-CN" altLang="en-US" sz="1200" b="0" dirty="0">
                    <a:cs typeface="Times New Roman" panose="02020603050405020304" pitchFamily="18" charset="0"/>
                  </a:rPr>
                  <a:t>映射</a:t>
                </a:r>
                <a:r>
                  <a:rPr kumimoji="0" lang="en-US" altLang="zh-CN" sz="1200" b="0" dirty="0">
                    <a:cs typeface="Times New Roman" panose="02020603050405020304" pitchFamily="18" charset="0"/>
                    <a:sym typeface="Symbol" panose="05050102010706020507" pitchFamily="18" charset="2"/>
                  </a:rPr>
                  <a:t></a:t>
                </a:r>
                <a:r>
                  <a:rPr kumimoji="0" lang="zh-CN" altLang="en-US" sz="1200" b="0" dirty="0">
                    <a:cs typeface="Times New Roman" panose="02020603050405020304" pitchFamily="18" charset="0"/>
                  </a:rPr>
                  <a:t>出</a:t>
                </a:r>
                <a:r>
                  <a:rPr kumimoji="0" lang="en-US" altLang="zh-CN" sz="1200" b="0" dirty="0">
                    <a:cs typeface="Times New Roman" panose="02020603050405020304" pitchFamily="18" charset="0"/>
                  </a:rPr>
                  <a:t>F</a:t>
                </a:r>
                <a:r>
                  <a:rPr kumimoji="0" lang="zh-CN" altLang="en-US" sz="1200" b="0" dirty="0">
                    <a:cs typeface="Times New Roman" panose="02020603050405020304" pitchFamily="18" charset="0"/>
                  </a:rPr>
                  <a:t>的结果</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值域是</a:t>
                </a:r>
                <a:r>
                  <a:rPr lang="zh-CN" altLang="zh-CN" sz="1800" kern="0" dirty="0">
                    <a:effectLst/>
                    <a:ea typeface="等线"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{0,1}</a:t>
                </a:r>
              </a:p>
              <a:p>
                <a:endParaRPr lang="en-US" altLang="zh-CN" sz="1800" kern="0" dirty="0">
                  <a:effectLst/>
                  <a:latin typeface="Times New Roman" panose="02020603050405020304" pitchFamily="18" charset="0"/>
                  <a:ea typeface="宋体" panose="02010600030101010101" pitchFamily="2" charset="-122"/>
                </a:endParaRPr>
              </a:p>
              <a:p>
                <a:pPr algn="just" eaLnBrk="1" hangingPunct="1">
                  <a:buClr>
                    <a:schemeClr val="bg2"/>
                  </a:buClr>
                  <a:buSzPct val="75000"/>
                  <a:buFont typeface="Wingdings" panose="05000000000000000000" pitchFamily="2" charset="2"/>
                  <a:buNone/>
                </a:pPr>
                <a:r>
                  <a:rPr kumimoji="0" lang="zh-CN" altLang="en-US" sz="1200" b="1" dirty="0">
                    <a:solidFill>
                      <a:srgbClr val="FF0000"/>
                    </a:solidFill>
                  </a:rPr>
                  <a:t>定义2.12</a:t>
                </a:r>
                <a:r>
                  <a:rPr kumimoji="0" lang="zh-CN" altLang="en-US" sz="1200" b="1" dirty="0"/>
                  <a:t> 称</a:t>
                </a:r>
                <a:r>
                  <a:rPr kumimoji="0" lang="en-US" altLang="zh-CN" sz="1200" b="1" i="1" dirty="0">
                    <a:cs typeface="Times New Roman" panose="02020603050405020304" pitchFamily="18" charset="0"/>
                  </a:rPr>
                  <a:t>F</a:t>
                </a:r>
                <a:r>
                  <a:rPr kumimoji="0" lang="en-US" altLang="zh-CN" sz="1200" b="1" dirty="0">
                    <a:cs typeface="Times New Roman" panose="02020603050405020304" pitchFamily="18" charset="0"/>
                  </a:rPr>
                  <a:t>:{0,1}</a:t>
                </a:r>
                <a:r>
                  <a:rPr kumimoji="0" lang="en-US" altLang="zh-CN" sz="1200" b="1" i="1" baseline="30000" dirty="0">
                    <a:cs typeface="Times New Roman" panose="02020603050405020304" pitchFamily="18" charset="0"/>
                  </a:rPr>
                  <a:t>n</a:t>
                </a:r>
                <a:r>
                  <a:rPr kumimoji="0" lang="en-US" altLang="zh-CN" sz="1200" b="1" dirty="0">
                    <a:cs typeface="Times New Roman" panose="02020603050405020304" pitchFamily="18" charset="0"/>
                    <a:sym typeface="Symbol" panose="05050102010706020507" pitchFamily="18" charset="2"/>
                  </a:rPr>
                  <a:t></a:t>
                </a:r>
                <a:r>
                  <a:rPr kumimoji="0" lang="en-US" altLang="zh-CN" sz="1200" b="1" dirty="0">
                    <a:cs typeface="Times New Roman" panose="02020603050405020304" pitchFamily="18" charset="0"/>
                  </a:rPr>
                  <a:t>{0,1}</a:t>
                </a:r>
                <a:r>
                  <a:rPr kumimoji="0" lang="zh-CN" altLang="en-US" sz="1200" b="1" dirty="0"/>
                  <a:t>为</a:t>
                </a:r>
                <a:r>
                  <a:rPr kumimoji="0" lang="en-US" altLang="zh-CN" sz="1200" b="1" i="1" dirty="0">
                    <a:cs typeface="Times New Roman" panose="02020603050405020304" pitchFamily="18" charset="0"/>
                  </a:rPr>
                  <a:t>n</a:t>
                </a:r>
                <a:r>
                  <a:rPr kumimoji="0" lang="zh-CN" altLang="en-US" sz="1200" b="1" dirty="0">
                    <a:latin typeface="宋体" panose="02010600030101010101" pitchFamily="2" charset="-122"/>
                  </a:rPr>
                  <a:t>元</a:t>
                </a:r>
                <a:r>
                  <a:rPr kumimoji="0" lang="zh-CN" altLang="en-US" sz="1200" b="1" dirty="0">
                    <a:solidFill>
                      <a:srgbClr val="FF0000"/>
                    </a:solidFill>
                    <a:latin typeface="宋体" panose="02010600030101010101" pitchFamily="2" charset="-122"/>
                  </a:rPr>
                  <a:t>真值函数</a:t>
                </a:r>
                <a:endParaRPr kumimoji="0" lang="zh-CN" altLang="en-US" sz="1200" b="1" dirty="0">
                  <a:solidFill>
                    <a:srgbClr val="FF0000"/>
                  </a:solidFill>
                  <a:cs typeface="Times New Roman" panose="02020603050405020304" pitchFamily="18" charset="0"/>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个命题变</a:t>
                </a: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元</a:t>
                </a:r>
                <a:r>
                  <a:rPr lang="zh-CN" altLang="en-US" b="1" dirty="0">
                    <a:latin typeface="宋体" panose="02010600030101010101" pitchFamily="2" charset="-122"/>
                    <a:cs typeface="Times New Roman" panose="02020603050405020304" pitchFamily="18" charset="0"/>
                  </a:rPr>
                  <a:t>可形成  </a:t>
                </a:r>
                <a14:m>
                  <m:oMath xmlns:m="http://schemas.openxmlformats.org/officeDocument/2006/math">
                    <m:sSup>
                      <m:sSupPr>
                        <m:ctrlPr>
                          <a:rPr lang="en-US" i="1" smtClean="0">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2</m:t>
                        </m:r>
                      </m:e>
                      <m:sup>
                        <m:r>
                          <a:rPr lang="en-US" i="1" smtClean="0">
                            <a:solidFill>
                              <a:srgbClr val="000000"/>
                            </a:solidFill>
                            <a:latin typeface="Cambria Math" panose="02040503050406030204" pitchFamily="18" charset="0"/>
                          </a:rPr>
                          <m:t>𝑛</m:t>
                        </m:r>
                      </m:sup>
                    </m:sSup>
                  </m:oMath>
                </a14:m>
                <a:r>
                  <a:rPr lang="zh-CN" altLang="en-US" b="1" dirty="0">
                    <a:latin typeface="宋体" panose="02010600030101010101" pitchFamily="2" charset="-122"/>
                    <a:cs typeface="Times New Roman" panose="02020603050405020304" pitchFamily="18" charset="0"/>
                  </a:rPr>
                  <a:t>个真值</a:t>
                </a: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函数</a:t>
                </a:r>
                <a:r>
                  <a:rPr lang="en-US" altLang="zh-CN"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sz="1200" b="1" dirty="0">
                    <a:cs typeface="Times New Roman" panose="02020603050405020304" pitchFamily="18" charset="0"/>
                  </a:rPr>
                  <a:t> (</a:t>
                </a:r>
                <a:r>
                  <a:rPr kumimoji="0" lang="en-US" altLang="zh-CN" sz="1200" b="1" i="1" dirty="0">
                    <a:cs typeface="Times New Roman" panose="02020603050405020304" pitchFamily="18" charset="0"/>
                  </a:rPr>
                  <a:t>n</a:t>
                </a:r>
                <a:r>
                  <a:rPr kumimoji="0" lang="en-US" altLang="zh-CN" sz="1200" b="1" dirty="0">
                    <a:cs typeface="Times New Roman" panose="02020603050405020304" pitchFamily="18" charset="0"/>
                  </a:rPr>
                  <a:t>≥1)</a:t>
                </a:r>
                <a:endPar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spcBef>
                    <a:spcPct val="30000"/>
                  </a:spcBef>
                </a:pP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每一个命题公式对应于一个真值函数</a:t>
                </a:r>
              </a:p>
              <a:p>
                <a:pPr algn="l" eaLnBrk="1" hangingPunct="1">
                  <a:spcBef>
                    <a:spcPct val="30000"/>
                  </a:spcBef>
                </a:pP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每一个真值函数对应无穷多个命题公式</a:t>
                </a:r>
                <a:endParaRPr lang="en-US" altLang="zh-CN"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spcBef>
                    <a:spcPct val="30000"/>
                  </a:spcBef>
                </a:pPr>
                <a:endParaRPr lang="en-US" altLang="zh-CN"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r>
                  <a:rPr kumimoji="0" lang="en-US" altLang="zh-CN" sz="1200" b="1" dirty="0">
                    <a:cs typeface="Times New Roman" panose="02020603050405020304" pitchFamily="18" charset="0"/>
                  </a:rPr>
                  <a:t>{0,1}</a:t>
                </a:r>
                <a:r>
                  <a:rPr kumimoji="0" lang="en-US" altLang="zh-CN" sz="1200" b="1" i="1" baseline="30000" dirty="0">
                    <a:cs typeface="Times New Roman" panose="02020603050405020304" pitchFamily="18" charset="0"/>
                  </a:rPr>
                  <a:t>n</a:t>
                </a:r>
                <a:r>
                  <a:rPr lang="zh-CN" altLang="zh-CN" sz="1200" kern="0" dirty="0">
                    <a:effectLst/>
                    <a:latin typeface="等线" panose="02010600030101010101" pitchFamily="2" charset="-122"/>
                    <a:ea typeface="宋体" panose="02010600030101010101" pitchFamily="2" charset="-122"/>
                    <a:cs typeface="Times New Roman" panose="02020603050405020304" pitchFamily="18" charset="0"/>
                  </a:rPr>
                  <a:t>表示了所有可能的由</a:t>
                </a:r>
                <a:r>
                  <a:rPr lang="zh-CN" altLang="zh-CN" sz="1200" kern="0" dirty="0">
                    <a:effectLst/>
                    <a:ea typeface="等线" panose="02010600030101010101" pitchFamily="2" charset="-122"/>
                    <a:cs typeface="Times New Roman" panose="02020603050405020304" pitchFamily="18" charset="0"/>
                  </a:rPr>
                  <a:t> </a:t>
                </a:r>
                <a:r>
                  <a:rPr lang="en-US" altLang="zh-CN" sz="1200" kern="0" dirty="0">
                    <a:effectLst/>
                    <a:latin typeface="Times New Roman" panose="02020603050405020304" pitchFamily="18" charset="0"/>
                    <a:ea typeface="宋体" panose="02010600030101010101" pitchFamily="2" charset="-122"/>
                  </a:rPr>
                  <a:t>0</a:t>
                </a:r>
                <a:r>
                  <a:rPr lang="en-US" altLang="zh-CN" sz="12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200" kern="0" dirty="0">
                    <a:effectLst/>
                    <a:latin typeface="等线" panose="02010600030101010101" pitchFamily="2" charset="-122"/>
                    <a:ea typeface="宋体" panose="02010600030101010101" pitchFamily="2" charset="-122"/>
                    <a:cs typeface="Times New Roman" panose="02020603050405020304" pitchFamily="18" charset="0"/>
                  </a:rPr>
                  <a:t>和</a:t>
                </a:r>
                <a:r>
                  <a:rPr lang="zh-CN" altLang="zh-CN" sz="1200" kern="0" dirty="0">
                    <a:effectLst/>
                    <a:ea typeface="等线" panose="02010600030101010101" pitchFamily="2" charset="-122"/>
                    <a:cs typeface="Times New Roman" panose="02020603050405020304" pitchFamily="18" charset="0"/>
                  </a:rPr>
                  <a:t> </a:t>
                </a:r>
                <a:r>
                  <a:rPr lang="en-US" altLang="zh-CN" sz="1200" kern="0" dirty="0">
                    <a:effectLst/>
                    <a:latin typeface="Times New Roman" panose="02020603050405020304" pitchFamily="18" charset="0"/>
                    <a:ea typeface="宋体" panose="02010600030101010101" pitchFamily="2" charset="-122"/>
                  </a:rPr>
                  <a:t>1</a:t>
                </a:r>
                <a:r>
                  <a:rPr lang="en-US" altLang="zh-CN" sz="12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200" kern="0" dirty="0">
                    <a:effectLst/>
                    <a:latin typeface="等线" panose="02010600030101010101" pitchFamily="2" charset="-122"/>
                    <a:ea typeface="宋体" panose="02010600030101010101" pitchFamily="2" charset="-122"/>
                    <a:cs typeface="Times New Roman" panose="02020603050405020304" pitchFamily="18" charset="0"/>
                  </a:rPr>
                  <a:t>组成的长度为</a:t>
                </a:r>
                <a:r>
                  <a:rPr lang="zh-CN" altLang="zh-CN" sz="1200" kern="0" dirty="0">
                    <a:effectLst/>
                    <a:ea typeface="等线" panose="02010600030101010101" pitchFamily="2" charset="-122"/>
                    <a:cs typeface="Times New Roman" panose="02020603050405020304" pitchFamily="18" charset="0"/>
                  </a:rPr>
                  <a:t> </a:t>
                </a:r>
                <a:r>
                  <a:rPr lang="en-US" altLang="zh-CN" sz="1200" i="1" kern="0" dirty="0">
                    <a:effectLst/>
                    <a:latin typeface="KaTeX_Math"/>
                    <a:ea typeface="宋体" panose="02010600030101010101" pitchFamily="2" charset="-122"/>
                    <a:cs typeface="Times New Roman" panose="02020603050405020304" pitchFamily="18" charset="0"/>
                  </a:rPr>
                  <a:t>n</a:t>
                </a:r>
                <a:r>
                  <a:rPr lang="en-US" altLang="zh-CN" sz="12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200" kern="0" dirty="0">
                    <a:effectLst/>
                    <a:latin typeface="等线" panose="02010600030101010101" pitchFamily="2" charset="-122"/>
                    <a:ea typeface="宋体" panose="02010600030101010101" pitchFamily="2" charset="-122"/>
                    <a:cs typeface="Times New Roman" panose="02020603050405020304" pitchFamily="18" charset="0"/>
                  </a:rPr>
                  <a:t>的序列</a:t>
                </a:r>
                <a:r>
                  <a:rPr lang="zh-CN" altLang="en-US" sz="1200" kern="0" dirty="0">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000" b="0" dirty="0">
                    <a:cs typeface="Times New Roman" panose="02020603050405020304" pitchFamily="18" charset="0"/>
                  </a:rPr>
                  <a:t>F</a:t>
                </a:r>
                <a:r>
                  <a:rPr kumimoji="0" lang="zh-CN" altLang="en-US" sz="1000" b="0" dirty="0">
                    <a:cs typeface="Times New Roman" panose="02020603050405020304" pitchFamily="18" charset="0"/>
                  </a:rPr>
                  <a:t>映射</a:t>
                </a:r>
                <a:r>
                  <a:rPr kumimoji="0" lang="en-US" altLang="zh-CN" sz="1000" b="0" dirty="0">
                    <a:cs typeface="Times New Roman" panose="02020603050405020304" pitchFamily="18" charset="0"/>
                    <a:sym typeface="Symbol" panose="05050102010706020507" pitchFamily="18" charset="2"/>
                  </a:rPr>
                  <a:t></a:t>
                </a:r>
                <a:r>
                  <a:rPr kumimoji="0" lang="zh-CN" altLang="en-US" sz="1000" b="0" dirty="0">
                    <a:cs typeface="Times New Roman" panose="02020603050405020304" pitchFamily="18" charset="0"/>
                  </a:rPr>
                  <a:t>出</a:t>
                </a:r>
                <a:r>
                  <a:rPr kumimoji="0" lang="en-US" altLang="zh-CN" sz="1000" b="0" dirty="0">
                    <a:cs typeface="Times New Roman" panose="02020603050405020304" pitchFamily="18" charset="0"/>
                  </a:rPr>
                  <a:t>F</a:t>
                </a:r>
                <a:r>
                  <a:rPr kumimoji="0" lang="zh-CN" altLang="en-US" sz="1000" b="0" dirty="0">
                    <a:cs typeface="Times New Roman" panose="02020603050405020304" pitchFamily="18" charset="0"/>
                  </a:rPr>
                  <a:t>的结果</a:t>
                </a:r>
                <a:r>
                  <a:rPr lang="zh-CN" altLang="zh-CN" sz="1200" kern="0" dirty="0">
                    <a:effectLst/>
                    <a:latin typeface="等线" panose="02010600030101010101" pitchFamily="2" charset="-122"/>
                    <a:ea typeface="宋体" panose="02010600030101010101" pitchFamily="2" charset="-122"/>
                    <a:cs typeface="Times New Roman" panose="02020603050405020304" pitchFamily="18" charset="0"/>
                  </a:rPr>
                  <a:t>值域是</a:t>
                </a:r>
                <a:r>
                  <a:rPr lang="zh-CN" altLang="zh-CN" sz="1200" kern="0" dirty="0">
                    <a:effectLst/>
                    <a:ea typeface="等线" panose="02010600030101010101" pitchFamily="2" charset="-122"/>
                    <a:cs typeface="Times New Roman" panose="02020603050405020304" pitchFamily="18" charset="0"/>
                  </a:rPr>
                  <a:t> </a:t>
                </a:r>
                <a:r>
                  <a:rPr lang="en-US" altLang="zh-CN" sz="1200" kern="0" dirty="0">
                    <a:effectLst/>
                    <a:latin typeface="Times New Roman" panose="02020603050405020304" pitchFamily="18" charset="0"/>
                    <a:ea typeface="宋体" panose="02010600030101010101" pitchFamily="2" charset="-122"/>
                  </a:rPr>
                  <a:t>{0,1}</a:t>
                </a:r>
              </a:p>
              <a:p>
                <a:r>
                  <a:rPr lang="zh-CN" altLang="en-US" dirty="0"/>
                  <a:t>对于</a:t>
                </a:r>
                <a:r>
                  <a:rPr lang="en-US" altLang="zh-CN" dirty="0"/>
                  <a:t>1</a:t>
                </a:r>
                <a:r>
                  <a:rPr lang="zh-CN" altLang="en-US" dirty="0"/>
                  <a:t>元</a:t>
                </a:r>
                <a:r>
                  <a:rPr lang="zh-CN" altLang="en-US" dirty="0">
                    <a:hlinkClick r:id="rId3"/>
                  </a:rPr>
                  <a:t>真值函数</a:t>
                </a:r>
                <a:r>
                  <a:rPr lang="zh-CN" altLang="en-US" dirty="0"/>
                  <a:t>来说，定义域为｛</a:t>
                </a:r>
                <a:r>
                  <a:rPr lang="en-US" altLang="zh-CN" dirty="0"/>
                  <a:t>0</a:t>
                </a:r>
                <a:r>
                  <a:rPr lang="zh-CN" altLang="en-US" dirty="0"/>
                  <a:t>，</a:t>
                </a:r>
                <a:r>
                  <a:rPr lang="en-US" altLang="zh-CN" dirty="0"/>
                  <a:t>1</a:t>
                </a:r>
                <a:r>
                  <a:rPr lang="zh-CN" altLang="en-US" dirty="0"/>
                  <a:t>｝，也就是这一个</a:t>
                </a:r>
                <a:r>
                  <a:rPr lang="zh-CN" altLang="en-US" dirty="0">
                    <a:hlinkClick r:id="rId4"/>
                  </a:rPr>
                  <a:t>命题变项</a:t>
                </a:r>
                <a:r>
                  <a:rPr lang="en-US" dirty="0"/>
                  <a:t>q</a:t>
                </a:r>
                <a:r>
                  <a:rPr lang="zh-CN" altLang="en-US" dirty="0"/>
                  <a:t>可以取</a:t>
                </a:r>
                <a:r>
                  <a:rPr lang="en-US" altLang="zh-CN" dirty="0"/>
                  <a:t>0</a:t>
                </a:r>
                <a:r>
                  <a:rPr lang="zh-CN" altLang="en-US" dirty="0"/>
                  <a:t>、</a:t>
                </a:r>
                <a:r>
                  <a:rPr lang="en-US" altLang="zh-CN" dirty="0"/>
                  <a:t>1</a:t>
                </a:r>
                <a:r>
                  <a:rPr lang="zh-CN" altLang="en-US" dirty="0"/>
                  <a:t>两个值。</a:t>
                </a:r>
              </a:p>
              <a:p>
                <a:r>
                  <a:rPr lang="en-US" dirty="0"/>
                  <a:t>q＝0</a:t>
                </a:r>
                <a:r>
                  <a:rPr lang="zh-CN" altLang="en-US" dirty="0"/>
                  <a:t>时，真值函数可以是：</a:t>
                </a:r>
              </a:p>
              <a:p>
                <a:r>
                  <a:rPr lang="en-US" altLang="zh-CN" dirty="0"/>
                  <a:t>0</a:t>
                </a:r>
                <a:r>
                  <a:rPr lang="zh-CN" altLang="en-US" dirty="0"/>
                  <a:t>（</a:t>
                </a:r>
                <a:r>
                  <a:rPr lang="en-US" dirty="0"/>
                  <a:t>q），1（q</a:t>
                </a:r>
                <a:r>
                  <a:rPr lang="zh-CN" altLang="en-US" dirty="0"/>
                  <a:t>的否定）两个；</a:t>
                </a:r>
              </a:p>
              <a:p>
                <a:r>
                  <a:rPr lang="en-US" dirty="0"/>
                  <a:t>q＝1</a:t>
                </a:r>
                <a:r>
                  <a:rPr lang="zh-CN" altLang="en-US" dirty="0"/>
                  <a:t>时，真值函数可以是：</a:t>
                </a:r>
              </a:p>
              <a:p>
                <a:r>
                  <a:rPr lang="en-US" altLang="zh-CN" dirty="0"/>
                  <a:t>1</a:t>
                </a:r>
                <a:r>
                  <a:rPr lang="zh-CN" altLang="en-US" dirty="0"/>
                  <a:t>（</a:t>
                </a:r>
                <a:r>
                  <a:rPr lang="en-US" dirty="0"/>
                  <a:t>q），0（q</a:t>
                </a:r>
                <a:r>
                  <a:rPr lang="zh-CN" altLang="en-US" dirty="0"/>
                  <a:t>的否定）两个。</a:t>
                </a:r>
              </a:p>
              <a:p>
                <a:r>
                  <a:rPr lang="en-US" dirty="0"/>
                  <a:t>q</a:t>
                </a:r>
                <a:r>
                  <a:rPr lang="zh-CN" altLang="en-US" dirty="0"/>
                  <a:t>都有两个值，这每个</a:t>
                </a:r>
                <a:r>
                  <a:rPr lang="en-US" dirty="0"/>
                  <a:t>q</a:t>
                </a:r>
                <a:r>
                  <a:rPr lang="zh-CN" altLang="en-US" dirty="0"/>
                  <a:t>的值又对应两个函数，因此我们说</a:t>
                </a:r>
                <a:r>
                  <a:rPr lang="en-US" altLang="zh-CN" dirty="0"/>
                  <a:t>1</a:t>
                </a:r>
                <a:r>
                  <a:rPr lang="zh-CN" altLang="en-US" dirty="0"/>
                  <a:t>元真值函数共有</a:t>
                </a:r>
                <a:r>
                  <a:rPr lang="en-US" altLang="zh-CN" dirty="0"/>
                  <a:t>2×2=4</a:t>
                </a:r>
                <a:r>
                  <a:rPr lang="zh-CN" altLang="en-US" dirty="0"/>
                  <a:t>个。</a:t>
                </a:r>
              </a:p>
              <a:p>
                <a:r>
                  <a:rPr lang="zh-CN" altLang="en-US" dirty="0"/>
                  <a:t>以此类推，对于</a:t>
                </a:r>
                <a:r>
                  <a:rPr lang="en-US" altLang="zh-CN" dirty="0"/>
                  <a:t>2</a:t>
                </a:r>
                <a:r>
                  <a:rPr lang="zh-CN" altLang="en-US" dirty="0"/>
                  <a:t>元真值函数来说也是一样，</a:t>
                </a:r>
                <a:r>
                  <a:rPr lang="en-US" dirty="0" err="1"/>
                  <a:t>p，q</a:t>
                </a:r>
                <a:r>
                  <a:rPr lang="zh-CN" altLang="en-US" dirty="0"/>
                  <a:t>有</a:t>
                </a:r>
                <a:r>
                  <a:rPr lang="en-US" altLang="zh-CN" dirty="0"/>
                  <a:t>4</a:t>
                </a:r>
                <a:r>
                  <a:rPr lang="zh-CN" altLang="en-US" dirty="0"/>
                  <a:t>组值，每一组值对应</a:t>
                </a:r>
                <a:r>
                  <a:rPr lang="en-US" altLang="zh-CN" dirty="0"/>
                  <a:t>4</a:t>
                </a:r>
                <a:r>
                  <a:rPr lang="zh-CN" altLang="en-US" dirty="0"/>
                  <a:t>个函数</a:t>
                </a:r>
                <a:r>
                  <a:rPr lang="en-US" altLang="zh-CN" dirty="0"/>
                  <a:t>…</a:t>
                </a:r>
              </a:p>
              <a:p>
                <a:pPr algn="l" eaLnBrk="1" hangingPunct="1">
                  <a:spcBef>
                    <a:spcPct val="30000"/>
                  </a:spcBef>
                </a:pPr>
                <a:endPar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r>
                  <a:rPr kumimoji="0" lang="en-US" altLang="zh-CN" sz="1800" b="1" dirty="0">
                    <a:cs typeface="Times New Roman" panose="02020603050405020304" pitchFamily="18" charset="0"/>
                  </a:rPr>
                  <a:t>{0,1}</a:t>
                </a:r>
                <a:r>
                  <a:rPr kumimoji="0" lang="en-US" altLang="zh-CN" sz="1800" b="1" i="1" baseline="30000" dirty="0">
                    <a:cs typeface="Times New Roman" panose="02020603050405020304" pitchFamily="18" charset="0"/>
                  </a:rPr>
                  <a:t>n</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表示了所有可能的由</a:t>
                </a:r>
                <a:r>
                  <a:rPr lang="zh-CN" altLang="zh-CN" sz="1800" kern="0" dirty="0">
                    <a:effectLst/>
                    <a:ea typeface="等线"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0</a:t>
                </a:r>
                <a:r>
                  <a:rPr lang="en-US" altLang="zh-CN" sz="18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和</a:t>
                </a:r>
                <a:r>
                  <a:rPr lang="zh-CN" altLang="zh-CN" sz="1800" kern="0" dirty="0">
                    <a:effectLst/>
                    <a:ea typeface="等线"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1</a:t>
                </a:r>
                <a:r>
                  <a:rPr lang="en-US" altLang="zh-CN" sz="18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组成的长度为</a:t>
                </a:r>
                <a:r>
                  <a:rPr lang="zh-CN" altLang="zh-CN" sz="1800" kern="0" dirty="0">
                    <a:effectLst/>
                    <a:ea typeface="等线" panose="02010600030101010101" pitchFamily="2" charset="-122"/>
                    <a:cs typeface="Times New Roman" panose="02020603050405020304" pitchFamily="18" charset="0"/>
                  </a:rPr>
                  <a:t> </a:t>
                </a:r>
                <a:r>
                  <a:rPr lang="en-US" altLang="zh-CN" sz="1800" i="1" kern="0" dirty="0">
                    <a:effectLst/>
                    <a:latin typeface="KaTeX_Math"/>
                    <a:ea typeface="宋体" panose="02010600030101010101" pitchFamily="2" charset="-122"/>
                    <a:cs typeface="Times New Roman" panose="02020603050405020304" pitchFamily="18" charset="0"/>
                  </a:rPr>
                  <a:t>n</a:t>
                </a:r>
                <a:r>
                  <a:rPr lang="en-US" altLang="zh-CN" sz="1800" kern="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的序列</a:t>
                </a:r>
                <a:r>
                  <a:rPr lang="zh-CN" altLang="en-US" sz="1800" kern="0" dirty="0">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200" b="0" dirty="0">
                    <a:cs typeface="Times New Roman" panose="02020603050405020304" pitchFamily="18" charset="0"/>
                  </a:rPr>
                  <a:t>F</a:t>
                </a:r>
                <a:r>
                  <a:rPr kumimoji="0" lang="zh-CN" altLang="en-US" sz="1200" b="0" dirty="0">
                    <a:cs typeface="Times New Roman" panose="02020603050405020304" pitchFamily="18" charset="0"/>
                  </a:rPr>
                  <a:t>映射</a:t>
                </a:r>
                <a:r>
                  <a:rPr kumimoji="0" lang="en-US" altLang="zh-CN" sz="1200" b="0" dirty="0">
                    <a:cs typeface="Times New Roman" panose="02020603050405020304" pitchFamily="18" charset="0"/>
                    <a:sym typeface="Symbol" panose="05050102010706020507" pitchFamily="18" charset="2"/>
                  </a:rPr>
                  <a:t></a:t>
                </a:r>
                <a:r>
                  <a:rPr kumimoji="0" lang="zh-CN" altLang="en-US" sz="1200" b="0" dirty="0">
                    <a:cs typeface="Times New Roman" panose="02020603050405020304" pitchFamily="18" charset="0"/>
                  </a:rPr>
                  <a:t>出</a:t>
                </a:r>
                <a:r>
                  <a:rPr kumimoji="0" lang="en-US" altLang="zh-CN" sz="1200" b="0" dirty="0">
                    <a:cs typeface="Times New Roman" panose="02020603050405020304" pitchFamily="18" charset="0"/>
                  </a:rPr>
                  <a:t>F</a:t>
                </a:r>
                <a:r>
                  <a:rPr kumimoji="0" lang="zh-CN" altLang="en-US" sz="1200" b="0" dirty="0">
                    <a:cs typeface="Times New Roman" panose="02020603050405020304" pitchFamily="18" charset="0"/>
                  </a:rPr>
                  <a:t>的结果</a:t>
                </a:r>
                <a:r>
                  <a:rPr lang="zh-CN" altLang="zh-CN" sz="1800" kern="0" dirty="0">
                    <a:effectLst/>
                    <a:latin typeface="等线" panose="02010600030101010101" pitchFamily="2" charset="-122"/>
                    <a:ea typeface="宋体" panose="02010600030101010101" pitchFamily="2" charset="-122"/>
                    <a:cs typeface="Times New Roman" panose="02020603050405020304" pitchFamily="18" charset="0"/>
                  </a:rPr>
                  <a:t>值域是</a:t>
                </a:r>
                <a:r>
                  <a:rPr lang="zh-CN" altLang="zh-CN" sz="1800" kern="0" dirty="0">
                    <a:effectLst/>
                    <a:ea typeface="等线"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{0,1}</a:t>
                </a:r>
              </a:p>
              <a:p>
                <a:endParaRPr lang="en-US" altLang="zh-CN" sz="1800" kern="0" dirty="0">
                  <a:effectLst/>
                  <a:latin typeface="Times New Roman" panose="02020603050405020304" pitchFamily="18" charset="0"/>
                  <a:ea typeface="宋体" panose="02010600030101010101" pitchFamily="2" charset="-122"/>
                </a:endParaRPr>
              </a:p>
              <a:p>
                <a:pPr algn="just" eaLnBrk="1" hangingPunct="1">
                  <a:buClr>
                    <a:schemeClr val="bg2"/>
                  </a:buClr>
                  <a:buSzPct val="75000"/>
                  <a:buFont typeface="Wingdings" panose="05000000000000000000" pitchFamily="2" charset="2"/>
                  <a:buNone/>
                </a:pPr>
                <a:r>
                  <a:rPr kumimoji="0" lang="zh-CN" altLang="en-US" sz="1200" b="1" dirty="0">
                    <a:solidFill>
                      <a:srgbClr val="FF0000"/>
                    </a:solidFill>
                  </a:rPr>
                  <a:t>定义2.12</a:t>
                </a:r>
                <a:r>
                  <a:rPr kumimoji="0" lang="zh-CN" altLang="en-US" sz="1200" b="1" dirty="0"/>
                  <a:t> 称</a:t>
                </a:r>
                <a:r>
                  <a:rPr kumimoji="0" lang="en-US" altLang="zh-CN" sz="1200" b="1" i="1" dirty="0">
                    <a:cs typeface="Times New Roman" panose="02020603050405020304" pitchFamily="18" charset="0"/>
                  </a:rPr>
                  <a:t>F</a:t>
                </a:r>
                <a:r>
                  <a:rPr kumimoji="0" lang="en-US" altLang="zh-CN" sz="1200" b="1" dirty="0">
                    <a:cs typeface="Times New Roman" panose="02020603050405020304" pitchFamily="18" charset="0"/>
                  </a:rPr>
                  <a:t>:{0,1}</a:t>
                </a:r>
                <a:r>
                  <a:rPr kumimoji="0" lang="en-US" altLang="zh-CN" sz="1200" b="1" i="1" baseline="30000" dirty="0">
                    <a:cs typeface="Times New Roman" panose="02020603050405020304" pitchFamily="18" charset="0"/>
                  </a:rPr>
                  <a:t>n</a:t>
                </a:r>
                <a:r>
                  <a:rPr kumimoji="0" lang="en-US" altLang="zh-CN" sz="1200" b="1" dirty="0">
                    <a:cs typeface="Times New Roman" panose="02020603050405020304" pitchFamily="18" charset="0"/>
                    <a:sym typeface="Symbol" panose="05050102010706020507" pitchFamily="18" charset="2"/>
                  </a:rPr>
                  <a:t></a:t>
                </a:r>
                <a:r>
                  <a:rPr kumimoji="0" lang="en-US" altLang="zh-CN" sz="1200" b="1" dirty="0">
                    <a:cs typeface="Times New Roman" panose="02020603050405020304" pitchFamily="18" charset="0"/>
                  </a:rPr>
                  <a:t>{0,1}</a:t>
                </a:r>
                <a:r>
                  <a:rPr kumimoji="0" lang="zh-CN" altLang="en-US" sz="1200" b="1" dirty="0"/>
                  <a:t>为</a:t>
                </a:r>
                <a:r>
                  <a:rPr kumimoji="0" lang="en-US" altLang="zh-CN" sz="1200" b="1" i="1" dirty="0">
                    <a:cs typeface="Times New Roman" panose="02020603050405020304" pitchFamily="18" charset="0"/>
                  </a:rPr>
                  <a:t>n</a:t>
                </a:r>
                <a:r>
                  <a:rPr kumimoji="0" lang="zh-CN" altLang="en-US" sz="1200" b="1" dirty="0">
                    <a:latin typeface="宋体" panose="02010600030101010101" pitchFamily="2" charset="-122"/>
                  </a:rPr>
                  <a:t>元</a:t>
                </a:r>
                <a:r>
                  <a:rPr kumimoji="0" lang="zh-CN" altLang="en-US" sz="1200" b="1" dirty="0">
                    <a:solidFill>
                      <a:srgbClr val="FF0000"/>
                    </a:solidFill>
                    <a:latin typeface="宋体" panose="02010600030101010101" pitchFamily="2" charset="-122"/>
                  </a:rPr>
                  <a:t>真值函数</a:t>
                </a:r>
                <a:endParaRPr kumimoji="0" lang="zh-CN" altLang="en-US" sz="1200" b="1" dirty="0">
                  <a:solidFill>
                    <a:srgbClr val="FF0000"/>
                  </a:solidFill>
                  <a:cs typeface="Times New Roman" panose="02020603050405020304" pitchFamily="18" charset="0"/>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个命题变</a:t>
                </a: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元</a:t>
                </a:r>
                <a:r>
                  <a:rPr lang="zh-CN" altLang="en-US" b="1" dirty="0">
                    <a:latin typeface="宋体" panose="02010600030101010101" pitchFamily="2" charset="-122"/>
                    <a:cs typeface="Times New Roman" panose="02020603050405020304" pitchFamily="18" charset="0"/>
                  </a:rPr>
                  <a:t>可形成  </a:t>
                </a:r>
                <a:r>
                  <a:rPr lang="en-US" i="0">
                    <a:solidFill>
                      <a:srgbClr val="000000"/>
                    </a:solidFill>
                    <a:latin typeface="Cambria Math" panose="02040503050406030204" pitchFamily="18" charset="0"/>
                  </a:rPr>
                  <a:t>2^𝑛</a:t>
                </a:r>
                <a:r>
                  <a:rPr lang="zh-CN" altLang="en-US" b="1" dirty="0">
                    <a:latin typeface="宋体" panose="02010600030101010101" pitchFamily="2" charset="-122"/>
                    <a:cs typeface="Times New Roman" panose="02020603050405020304" pitchFamily="18" charset="0"/>
                  </a:rPr>
                  <a:t>个真值</a:t>
                </a: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函数</a:t>
                </a:r>
                <a:r>
                  <a:rPr lang="en-US" altLang="zh-CN"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sz="1200" b="1" dirty="0">
                    <a:cs typeface="Times New Roman" panose="02020603050405020304" pitchFamily="18" charset="0"/>
                  </a:rPr>
                  <a:t> (</a:t>
                </a:r>
                <a:r>
                  <a:rPr kumimoji="0" lang="en-US" altLang="zh-CN" sz="1200" b="1" i="1" dirty="0">
                    <a:cs typeface="Times New Roman" panose="02020603050405020304" pitchFamily="18" charset="0"/>
                  </a:rPr>
                  <a:t>n</a:t>
                </a:r>
                <a:r>
                  <a:rPr kumimoji="0" lang="en-US" altLang="zh-CN" sz="1200" b="1" dirty="0">
                    <a:cs typeface="Times New Roman" panose="02020603050405020304" pitchFamily="18" charset="0"/>
                  </a:rPr>
                  <a:t>≥1)</a:t>
                </a:r>
                <a:endPar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spcBef>
                    <a:spcPct val="30000"/>
                  </a:spcBef>
                </a:pP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每一个命题公式对应于一个真值函数</a:t>
                </a:r>
              </a:p>
              <a:p>
                <a:pPr algn="l" eaLnBrk="1" hangingPunct="1">
                  <a:spcBef>
                    <a:spcPct val="30000"/>
                  </a:spcBef>
                </a:pPr>
                <a:r>
                  <a:rPr lang="zh-CN" altLang="en-US" sz="12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每一个真值函数对应无穷多个命题公式</a:t>
                </a: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24670189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忽略函数中的运算，只考虑输入变量的各种组合以及</a:t>
            </a:r>
            <a:r>
              <a:rPr lang="en-US" altLang="zh-CN" dirty="0"/>
              <a:t>F</a:t>
            </a:r>
            <a:r>
              <a:rPr lang="zh-CN" altLang="en-US" dirty="0"/>
              <a:t>输出的各种可能值</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20139436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Tx/>
              <a:buNone/>
            </a:pPr>
            <a:r>
              <a:rPr lang="zh-CN" altLang="en-US" b="1" dirty="0">
                <a:solidFill>
                  <a:srgbClr val="FF3300"/>
                </a:solidFill>
                <a:latin typeface="宋体" panose="02010600030101010101" pitchFamily="2" charset="-122"/>
              </a:rPr>
              <a:t>定义</a:t>
            </a:r>
            <a:r>
              <a:rPr lang="zh-CN" altLang="en-US" b="1" dirty="0">
                <a:solidFill>
                  <a:srgbClr val="FF3300"/>
                </a:solidFill>
              </a:rPr>
              <a:t>2.13</a:t>
            </a:r>
            <a:r>
              <a:rPr lang="zh-CN" altLang="en-US" b="1" dirty="0">
                <a:cs typeface="Times New Roman" panose="02020603050405020304" pitchFamily="18" charset="0"/>
              </a:rPr>
              <a:t> </a:t>
            </a:r>
            <a:r>
              <a:rPr lang="zh-CN" altLang="en-US" b="1" dirty="0">
                <a:latin typeface="宋体" panose="02010600030101010101" pitchFamily="2" charset="-122"/>
              </a:rPr>
              <a:t>设</a:t>
            </a:r>
            <a:r>
              <a:rPr lang="en-US" altLang="zh-CN" b="1" i="1" dirty="0">
                <a:cs typeface="Times New Roman" panose="02020603050405020304" pitchFamily="18" charset="0"/>
              </a:rPr>
              <a:t>S</a:t>
            </a:r>
            <a:r>
              <a:rPr lang="zh-CN" altLang="en-US" b="1" dirty="0">
                <a:latin typeface="宋体" panose="02010600030101010101" pitchFamily="2" charset="-122"/>
              </a:rPr>
              <a:t>是一个联结词集合</a:t>
            </a:r>
            <a:r>
              <a:rPr lang="zh-CN" altLang="en-US" b="1" dirty="0"/>
              <a:t>, </a:t>
            </a:r>
            <a:r>
              <a:rPr lang="zh-CN" altLang="en-US" b="1" dirty="0">
                <a:latin typeface="宋体" panose="02010600030101010101" pitchFamily="2" charset="-122"/>
              </a:rPr>
              <a:t>如果任何</a:t>
            </a:r>
            <a:r>
              <a:rPr lang="en-US" altLang="zh-CN" b="1" i="1" dirty="0">
                <a:cs typeface="Times New Roman" panose="02020603050405020304" pitchFamily="18" charset="0"/>
              </a:rPr>
              <a:t>n</a:t>
            </a:r>
            <a:r>
              <a:rPr lang="en-US" altLang="zh-CN" b="1" dirty="0">
                <a:cs typeface="Times New Roman" panose="02020603050405020304" pitchFamily="18" charset="0"/>
              </a:rPr>
              <a:t>(</a:t>
            </a:r>
            <a:r>
              <a:rPr lang="en-US" altLang="zh-CN" b="1" i="1" dirty="0">
                <a:cs typeface="Times New Roman" panose="02020603050405020304" pitchFamily="18" charset="0"/>
              </a:rPr>
              <a:t>n</a:t>
            </a:r>
            <a:r>
              <a:rPr lang="en-US" altLang="zh-CN"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rPr>
              <a:t>1) </a:t>
            </a:r>
            <a:r>
              <a:rPr lang="zh-CN" altLang="en-US" b="1" dirty="0">
                <a:latin typeface="宋体" panose="02010600030101010101" pitchFamily="2" charset="-122"/>
              </a:rPr>
              <a:t>元真值</a:t>
            </a:r>
          </a:p>
          <a:p>
            <a:pPr algn="just">
              <a:buFontTx/>
              <a:buNone/>
            </a:pPr>
            <a:r>
              <a:rPr lang="zh-CN" altLang="en-US" b="1" dirty="0">
                <a:latin typeface="宋体" panose="02010600030101010101" pitchFamily="2" charset="-122"/>
              </a:rPr>
              <a:t>函数都可以由仅含</a:t>
            </a:r>
            <a:r>
              <a:rPr lang="en-US" altLang="zh-CN" b="1" i="1" dirty="0">
                <a:cs typeface="Times New Roman" panose="02020603050405020304" pitchFamily="18" charset="0"/>
              </a:rPr>
              <a:t>S</a:t>
            </a:r>
            <a:r>
              <a:rPr lang="zh-CN" altLang="en-US" b="1" dirty="0">
                <a:latin typeface="宋体" panose="02010600030101010101" pitchFamily="2" charset="-122"/>
              </a:rPr>
              <a:t>中的联结词构成的公式表示,则称</a:t>
            </a:r>
            <a:r>
              <a:rPr lang="en-US" altLang="zh-CN" b="1" i="1" dirty="0">
                <a:cs typeface="Times New Roman" panose="02020603050405020304" pitchFamily="18" charset="0"/>
              </a:rPr>
              <a:t>S</a:t>
            </a:r>
            <a:r>
              <a:rPr lang="zh-CN" altLang="en-US" b="1" dirty="0">
                <a:latin typeface="宋体" panose="02010600030101010101" pitchFamily="2" charset="-122"/>
              </a:rPr>
              <a:t>是</a:t>
            </a:r>
          </a:p>
          <a:p>
            <a:pPr algn="just">
              <a:buFontTx/>
              <a:buNone/>
            </a:pPr>
            <a:r>
              <a:rPr lang="zh-CN" altLang="en-US" b="1" dirty="0">
                <a:solidFill>
                  <a:srgbClr val="FF3300"/>
                </a:solidFill>
                <a:latin typeface="宋体" panose="02010600030101010101" pitchFamily="2" charset="-122"/>
              </a:rPr>
              <a:t>联结词完备集（全功能集）</a:t>
            </a:r>
            <a:endParaRPr lang="zh-CN" altLang="en-US" b="1" dirty="0">
              <a:cs typeface="Times New Roman" panose="02020603050405020304" pitchFamily="18" charset="0"/>
            </a:endParaRPr>
          </a:p>
          <a:p>
            <a:pPr algn="just">
              <a:buFontTx/>
              <a:buNone/>
            </a:pPr>
            <a:r>
              <a:rPr lang="zh-CN" altLang="en-US" b="1" dirty="0">
                <a:solidFill>
                  <a:srgbClr val="FF0000"/>
                </a:solidFill>
              </a:rPr>
              <a:t>定理2.1</a:t>
            </a:r>
            <a:r>
              <a:rPr lang="zh-CN" altLang="en-US" b="1" dirty="0"/>
              <a:t> 下述联结词集合都是完备集:</a:t>
            </a:r>
            <a:endParaRPr lang="en-US" altLang="zh-CN" b="1"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If you have </a:t>
            </a:r>
            <a:r>
              <a:rPr lang="en-US" b="1" dirty="0"/>
              <a:t>AND</a:t>
            </a:r>
            <a:r>
              <a:rPr lang="en-US" dirty="0"/>
              <a:t> (∧) and </a:t>
            </a:r>
            <a:r>
              <a:rPr lang="en-US" b="1" dirty="0"/>
              <a:t>OR</a:t>
            </a:r>
            <a:r>
              <a:rPr lang="en-US" dirty="0"/>
              <a:t> (∨), but no negation (¬), you can't express "not A" or "A is false." Negation is needed to create expressions like "¬A" or "A ∨ ¬A" (the law of excluded middle).</a:t>
            </a:r>
          </a:p>
          <a:p>
            <a:pPr algn="just">
              <a:buFontTx/>
              <a:buNone/>
            </a:pPr>
            <a:endParaRPr lang="zh-CN"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a:t>Truth Table for (A  B) (Using Negation and Biconditional):</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5949835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FF0000"/>
                </a:solidFill>
              </a:rPr>
              <a:t>与非式</a:t>
            </a:r>
            <a:r>
              <a:rPr lang="zh-CN" altLang="en-US" sz="1200" b="1" dirty="0"/>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zh-CN" altLang="en-US" sz="1200" b="1" dirty="0">
                <a:sym typeface="Symbol" panose="05050102010706020507" pitchFamily="18" charset="2"/>
              </a:rPr>
              <a:t>称作</a:t>
            </a:r>
            <a:r>
              <a:rPr lang="zh-CN" altLang="en-US" sz="1200" b="1" dirty="0">
                <a:solidFill>
                  <a:srgbClr val="FF0000"/>
                </a:solidFill>
                <a:sym typeface="Symbol" panose="05050102010706020507" pitchFamily="18" charset="2"/>
              </a:rPr>
              <a:t>与非联结词</a:t>
            </a:r>
            <a:endParaRPr lang="zh-CN" altLang="en-US" sz="1200" b="1" dirty="0">
              <a:solidFill>
                <a:srgbClr val="FF0000"/>
              </a:solidFill>
            </a:endParaRPr>
          </a:p>
          <a:p>
            <a:pPr eaLnBrk="1" hangingPunct="1">
              <a:buFontTx/>
              <a:buNone/>
            </a:pPr>
            <a:r>
              <a:rPr lang="zh-CN" altLang="en-US" sz="1200" b="1" dirty="0">
                <a:solidFill>
                  <a:srgbClr val="FF3300"/>
                </a:solidFill>
              </a:rPr>
              <a:t>或非式</a:t>
            </a:r>
            <a:r>
              <a:rPr lang="zh-CN" altLang="en-US" sz="1200" b="1" dirty="0">
                <a:cs typeface="Times New Roman" panose="02020603050405020304" pitchFamily="18" charset="0"/>
              </a:rPr>
              <a:t>:  </a:t>
            </a:r>
            <a:r>
              <a:rPr lang="en-US" altLang="zh-CN" sz="1200" b="1" i="1" dirty="0" err="1">
                <a:cs typeface="Times New Roman" panose="02020603050405020304" pitchFamily="18" charset="0"/>
              </a:rPr>
              <a:t>p</a:t>
            </a:r>
            <a:r>
              <a:rPr lang="en-US" altLang="zh-CN" sz="1200" b="1" dirty="0" err="1">
                <a:sym typeface="Symbol" panose="05050102010706020507" pitchFamily="18" charset="2"/>
              </a:rPr>
              <a:t></a:t>
            </a:r>
            <a:r>
              <a:rPr lang="en-US" altLang="zh-CN" sz="1200" b="1" i="1" dirty="0" err="1">
                <a:cs typeface="Times New Roman" panose="02020603050405020304" pitchFamily="18" charset="0"/>
              </a:rPr>
              <a:t>q</a:t>
            </a:r>
            <a:r>
              <a:rPr lang="en-US" altLang="zh-CN" sz="1200" b="1" dirty="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sym typeface="Symbol" panose="05050102010706020507" pitchFamily="18" charset="2"/>
              </a:rPr>
              <a:t></a:t>
            </a:r>
            <a:r>
              <a:rPr lang="en-US" altLang="zh-CN" sz="1200" b="1" i="1" dirty="0" err="1">
                <a:cs typeface="Times New Roman" panose="02020603050405020304" pitchFamily="18" charset="0"/>
              </a:rPr>
              <a:t>q</a:t>
            </a:r>
            <a:r>
              <a:rPr lang="en-US" altLang="zh-CN" sz="1200" b="1" dirty="0"/>
              <a:t>), </a:t>
            </a:r>
            <a:r>
              <a:rPr lang="en-US" altLang="zh-CN" sz="1200" b="1" dirty="0">
                <a:sym typeface="Symbol" panose="05050102010706020507" pitchFamily="18" charset="2"/>
              </a:rPr>
              <a:t></a:t>
            </a:r>
            <a:r>
              <a:rPr lang="zh-CN" altLang="en-US" sz="1200" b="1" dirty="0">
                <a:sym typeface="Symbol" panose="05050102010706020507" pitchFamily="18" charset="2"/>
              </a:rPr>
              <a:t>称作</a:t>
            </a:r>
            <a:r>
              <a:rPr lang="zh-CN" altLang="en-US" sz="1200" b="1" dirty="0">
                <a:solidFill>
                  <a:srgbClr val="FF0000"/>
                </a:solidFill>
                <a:sym typeface="Symbol" panose="05050102010706020507" pitchFamily="18" charset="2"/>
              </a:rPr>
              <a:t>或非联结词</a:t>
            </a:r>
          </a:p>
          <a:p>
            <a:pPr eaLnBrk="1" hangingPunct="1">
              <a:buFontTx/>
              <a:buNone/>
            </a:pPr>
            <a:endParaRPr lang="en-US" altLang="zh-CN" sz="1200" b="1" i="1" dirty="0">
              <a:cs typeface="Times New Roman" panose="02020603050405020304" pitchFamily="18" charset="0"/>
            </a:endParaRPr>
          </a:p>
          <a:p>
            <a:pPr eaLnBrk="1" hangingPunct="1">
              <a:buFontTx/>
              <a:buNone/>
            </a:pP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zh-CN" altLang="en-US" sz="1200" b="1" dirty="0"/>
              <a:t>为真当且仅当</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zh-CN" altLang="en-US" sz="1200" b="1" dirty="0"/>
              <a:t>不同时为真</a:t>
            </a:r>
          </a:p>
          <a:p>
            <a:pPr eaLnBrk="1" hangingPunct="1">
              <a:buFontTx/>
              <a:buNone/>
            </a:pPr>
            <a:r>
              <a:rPr lang="en-US" altLang="zh-CN" sz="1200" b="1" i="1" dirty="0" err="1">
                <a:cs typeface="Times New Roman" panose="02020603050405020304" pitchFamily="18" charset="0"/>
              </a:rPr>
              <a:t>p</a:t>
            </a:r>
            <a:r>
              <a:rPr lang="en-US" altLang="zh-CN" sz="1200" b="1" dirty="0" err="1">
                <a:sym typeface="Symbol" panose="05050102010706020507" pitchFamily="18" charset="2"/>
              </a:rPr>
              <a:t></a:t>
            </a:r>
            <a:r>
              <a:rPr lang="en-US" altLang="zh-CN" sz="1200" b="1" i="1" dirty="0" err="1">
                <a:cs typeface="Times New Roman" panose="02020603050405020304" pitchFamily="18" charset="0"/>
              </a:rPr>
              <a:t>q</a:t>
            </a:r>
            <a:r>
              <a:rPr lang="zh-CN" altLang="en-US" sz="1200" b="1" dirty="0"/>
              <a:t>为真当且仅当</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zh-CN" altLang="en-US" sz="1200" b="1" dirty="0"/>
              <a:t>不同时为假</a:t>
            </a:r>
            <a:endParaRPr lang="zh-CN" altLang="en-US" sz="1200" b="1" dirty="0">
              <a:sym typeface="Symbol" panose="05050102010706020507" pitchFamily="18" charset="2"/>
            </a:endParaRPr>
          </a:p>
          <a:p>
            <a:pPr eaLnBrk="1" hangingPunct="1">
              <a:buFontTx/>
              <a:buNone/>
            </a:pPr>
            <a:endParaRPr lang="zh-CN" altLang="en-US" sz="1200" b="1" dirty="0">
              <a:sym typeface="Symbol" panose="05050102010706020507" pitchFamily="18" charset="2"/>
            </a:endParaRPr>
          </a:p>
          <a:p>
            <a:pPr eaLnBrk="1" hangingPunct="1">
              <a:buFontTx/>
              <a:buNone/>
            </a:pPr>
            <a:r>
              <a:rPr lang="zh-CN" altLang="en-US" sz="1200" b="1" dirty="0">
                <a:solidFill>
                  <a:srgbClr val="FF0000"/>
                </a:solidFill>
                <a:sym typeface="Symbol" panose="05050102010706020507" pitchFamily="18" charset="2"/>
              </a:rPr>
              <a:t>定理2.2</a:t>
            </a:r>
            <a:r>
              <a:rPr lang="zh-CN" altLang="en-US" sz="1200" b="1" dirty="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zh-CN" altLang="en-US" sz="1200" b="1" dirty="0">
                <a:sym typeface="Symbol" panose="05050102010706020507" pitchFamily="18" charset="2"/>
              </a:rPr>
              <a:t>},{</a:t>
            </a:r>
            <a:r>
              <a:rPr lang="en-US" altLang="zh-CN" sz="1200" b="1" dirty="0">
                <a:sym typeface="Symbol" panose="05050102010706020507" pitchFamily="18" charset="2"/>
              </a:rPr>
              <a:t></a:t>
            </a:r>
            <a:r>
              <a:rPr lang="zh-CN" altLang="en-US" sz="1200" b="1" dirty="0">
                <a:sym typeface="Symbol" panose="05050102010706020507" pitchFamily="18" charset="2"/>
              </a:rPr>
              <a:t>}是联结词完备集</a:t>
            </a:r>
          </a:p>
          <a:p>
            <a:pPr eaLnBrk="1" hangingPunct="1">
              <a:buFontTx/>
              <a:buNone/>
            </a:pPr>
            <a:r>
              <a:rPr lang="zh-CN" altLang="en-US" sz="1200" b="1" dirty="0">
                <a:sym typeface="Symbol" panose="05050102010706020507" pitchFamily="18" charset="2"/>
              </a:rPr>
              <a:t>证 </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p </a:t>
            </a:r>
            <a:r>
              <a:rPr lang="en-US" altLang="zh-CN" sz="1200" b="1" dirty="0">
                <a:cs typeface="Times New Roman" panose="02020603050405020304" pitchFamily="18" charset="0"/>
                <a:sym typeface="Symbol" panose="05050102010706020507" pitchFamily="18" charset="2"/>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endParaRPr lang="en-US" altLang="zh-CN" sz="1200" b="1" i="1" dirty="0">
              <a:cs typeface="Times New Roman" panose="02020603050405020304" pitchFamily="18" charset="0"/>
            </a:endParaRPr>
          </a:p>
          <a:p>
            <a:pPr eaLnBrk="1" hangingPunct="1">
              <a:buFontTx/>
              <a:buNone/>
            </a:pPr>
            <a:r>
              <a:rPr lang="en-US" altLang="zh-CN" sz="1200" b="1" i="1" dirty="0">
                <a:cs typeface="Times New Roman" panose="02020603050405020304" pitchFamily="18" charset="0"/>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i="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 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p>
          <a:p>
            <a:pPr eaLnBrk="1" hangingPunct="1">
              <a:buFontTx/>
              <a:buNone/>
            </a:pPr>
            <a:r>
              <a:rPr lang="zh-CN" altLang="en-US" sz="1200" b="1" dirty="0"/>
              <a:t>得证</a:t>
            </a:r>
            <a:r>
              <a:rPr lang="zh-CN" altLang="en-US" sz="1200" b="1" dirty="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zh-CN" altLang="en-US" sz="1200" b="1" dirty="0">
                <a:sym typeface="Symbol" panose="05050102010706020507" pitchFamily="18" charset="2"/>
              </a:rPr>
              <a:t>}是联结词完备集. 对于{</a:t>
            </a:r>
            <a:r>
              <a:rPr lang="en-US" altLang="zh-CN" sz="1200" b="1" dirty="0">
                <a:sym typeface="Symbol" panose="05050102010706020507" pitchFamily="18" charset="2"/>
              </a:rPr>
              <a:t></a:t>
            </a:r>
            <a:r>
              <a:rPr lang="zh-CN" altLang="en-US" sz="1200" b="1" dirty="0">
                <a:sym typeface="Symbol" panose="05050102010706020507" pitchFamily="18" charset="2"/>
              </a:rPr>
              <a:t>}可类似证明</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39394312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30504517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50</a:t>
            </a:fld>
            <a:endParaRPr lang="zh-CN" altLang="en-US"/>
          </a:p>
        </p:txBody>
      </p:sp>
    </p:spTree>
    <p:extLst>
      <p:ext uri="{BB962C8B-B14F-4D97-AF65-F5344CB8AC3E}">
        <p14:creationId xmlns:p14="http://schemas.microsoft.com/office/powerpoint/2010/main" val="30615181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FF3300"/>
                </a:solidFill>
              </a:rPr>
              <a:t>蕴涵式 等价式</a:t>
            </a:r>
            <a:endParaRPr lang="en-US" altLang="zh-CN" sz="1200" b="1" dirty="0">
              <a:solidFill>
                <a:srgbClr val="FF3300"/>
              </a:solidFill>
            </a:endParaRPr>
          </a:p>
          <a:p>
            <a:pPr indent="1828800">
              <a:lnSpc>
                <a:spcPct val="130000"/>
              </a:lnSpc>
              <a:spcBef>
                <a:spcPct val="0"/>
              </a:spcBef>
              <a:buNone/>
            </a:pPr>
            <a:r>
              <a:rPr lang="en-US" altLang="zh-CN" b="1" dirty="0"/>
              <a:t>2.1 </a:t>
            </a:r>
            <a:r>
              <a:rPr lang="zh-CN" altLang="en-US" b="1" dirty="0"/>
              <a:t>命题逻辑基本概念</a:t>
            </a:r>
            <a:endParaRPr lang="en-US" altLang="zh-CN" b="1" dirty="0"/>
          </a:p>
          <a:p>
            <a:pPr indent="1828800">
              <a:lnSpc>
                <a:spcPct val="130000"/>
              </a:lnSpc>
              <a:spcBef>
                <a:spcPct val="0"/>
              </a:spcBef>
              <a:buNone/>
            </a:pPr>
            <a:r>
              <a:rPr lang="zh-CN" altLang="en-US" b="1" dirty="0"/>
              <a:t> </a:t>
            </a:r>
          </a:p>
          <a:p>
            <a:pPr indent="1828800">
              <a:lnSpc>
                <a:spcPct val="130000"/>
              </a:lnSpc>
              <a:spcBef>
                <a:spcPct val="0"/>
              </a:spcBef>
              <a:buNone/>
            </a:pPr>
            <a:r>
              <a:rPr lang="en-US" altLang="zh-CN" b="1" dirty="0">
                <a:solidFill>
                  <a:srgbClr val="FF0000"/>
                </a:solidFill>
              </a:rPr>
              <a:t>2.2 </a:t>
            </a:r>
            <a:r>
              <a:rPr lang="zh-CN" altLang="en-US" b="1" dirty="0">
                <a:solidFill>
                  <a:srgbClr val="FF0000"/>
                </a:solidFill>
              </a:rPr>
              <a:t>命题逻辑等值演算</a:t>
            </a:r>
            <a:endParaRPr lang="en-US" altLang="zh-CN" b="1" dirty="0">
              <a:solidFill>
                <a:srgbClr val="FF0000"/>
              </a:solidFill>
            </a:endParaRPr>
          </a:p>
          <a:p>
            <a:pPr indent="1828800">
              <a:lnSpc>
                <a:spcPct val="130000"/>
              </a:lnSpc>
              <a:spcBef>
                <a:spcPct val="0"/>
              </a:spcBef>
              <a:buNone/>
            </a:pPr>
            <a:r>
              <a:rPr lang="zh-CN" altLang="en-US" b="1" dirty="0"/>
              <a:t> </a:t>
            </a:r>
          </a:p>
          <a:p>
            <a:pPr indent="1828800">
              <a:lnSpc>
                <a:spcPct val="130000"/>
              </a:lnSpc>
              <a:spcBef>
                <a:spcPct val="0"/>
              </a:spcBef>
              <a:buNone/>
            </a:pPr>
            <a:r>
              <a:rPr lang="en-US" altLang="zh-CN" b="1" dirty="0"/>
              <a:t>2.3 </a:t>
            </a:r>
            <a:r>
              <a:rPr lang="zh-CN" altLang="en-US" b="1" dirty="0"/>
              <a:t>范式</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3213909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lnSpc>
                <a:spcPct val="120000"/>
              </a:lnSpc>
              <a:buNone/>
            </a:pPr>
            <a:r>
              <a:rPr lang="zh-CN" altLang="en-US" b="1" dirty="0"/>
              <a:t>2.3.1 析取范式与合取范式</a:t>
            </a:r>
          </a:p>
          <a:p>
            <a:pPr lvl="1" indent="33338" eaLnBrk="1" hangingPunct="1">
              <a:lnSpc>
                <a:spcPct val="120000"/>
              </a:lnSpc>
            </a:pPr>
            <a:r>
              <a:rPr lang="zh-CN" altLang="en-US" sz="2800" b="1" dirty="0"/>
              <a:t>简单析取式与简单合取式</a:t>
            </a:r>
          </a:p>
          <a:p>
            <a:pPr lvl="1" indent="33338" eaLnBrk="1" hangingPunct="1">
              <a:lnSpc>
                <a:spcPct val="120000"/>
              </a:lnSpc>
            </a:pPr>
            <a:r>
              <a:rPr lang="zh-CN" altLang="en-US" sz="2800" b="1" dirty="0"/>
              <a:t>析取范式与合取范式</a:t>
            </a:r>
          </a:p>
          <a:p>
            <a:pPr marL="0" indent="0" eaLnBrk="1" hangingPunct="1">
              <a:lnSpc>
                <a:spcPct val="120000"/>
              </a:lnSpc>
              <a:buNone/>
            </a:pPr>
            <a:r>
              <a:rPr lang="zh-CN" altLang="en-US" b="1" dirty="0"/>
              <a:t>2.3.2 主析取范式与主合取范式</a:t>
            </a:r>
          </a:p>
          <a:p>
            <a:pPr lvl="1" indent="33338">
              <a:lnSpc>
                <a:spcPct val="120000"/>
              </a:lnSpc>
            </a:pPr>
            <a:r>
              <a:rPr lang="zh-CN" altLang="en-US" sz="2800" b="1" dirty="0"/>
              <a:t>极小项与极大项</a:t>
            </a:r>
          </a:p>
          <a:p>
            <a:pPr lvl="1" indent="33338">
              <a:lnSpc>
                <a:spcPct val="120000"/>
              </a:lnSpc>
            </a:pPr>
            <a:r>
              <a:rPr lang="zh-CN" altLang="en-US" sz="2800" b="1" dirty="0"/>
              <a:t>主析取范式与主合取范式</a:t>
            </a:r>
          </a:p>
          <a:p>
            <a:pPr lvl="1" indent="33338">
              <a:lnSpc>
                <a:spcPct val="120000"/>
              </a:lnSpc>
            </a:pPr>
            <a:r>
              <a:rPr lang="zh-CN" altLang="en-US" sz="2800" b="1" dirty="0"/>
              <a:t>主范式的用途</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52</a:t>
            </a:fld>
            <a:endParaRPr lang="zh-CN" altLang="en-US"/>
          </a:p>
        </p:txBody>
      </p:sp>
    </p:spTree>
    <p:extLst>
      <p:ext uri="{BB962C8B-B14F-4D97-AF65-F5344CB8AC3E}">
        <p14:creationId xmlns:p14="http://schemas.microsoft.com/office/powerpoint/2010/main" val="17386499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宋体" panose="02010600030101010101" pitchFamily="2" charset="-122"/>
              </a:rPr>
              <a:t>文字（</a:t>
            </a:r>
            <a:r>
              <a:rPr lang="en-US" altLang="zh-CN" sz="1200" b="1" dirty="0">
                <a:solidFill>
                  <a:srgbClr val="FF3300"/>
                </a:solidFill>
                <a:latin typeface="宋体" panose="02010600030101010101" pitchFamily="2" charset="-122"/>
              </a:rPr>
              <a:t>Literal</a:t>
            </a:r>
            <a:r>
              <a:rPr lang="zh-CN" altLang="en-US" sz="1200" b="1" dirty="0">
                <a:solidFill>
                  <a:srgbClr val="FF3300"/>
                </a:solidFill>
                <a:latin typeface="宋体" panose="02010600030101010101" pitchFamily="2" charset="-122"/>
              </a:rPr>
              <a:t>）</a:t>
            </a:r>
            <a:r>
              <a:rPr lang="zh-CN" altLang="en-US" sz="1200" b="1" dirty="0">
                <a:latin typeface="宋体" panose="02010600030101010101" pitchFamily="2" charset="-122"/>
              </a:rPr>
              <a:t>: 命题变项及其否定的总称</a:t>
            </a:r>
            <a:endParaRPr lang="zh-CN" altLang="en-US" sz="1200" b="1" dirty="0">
              <a:cs typeface="Times New Roman" panose="02020603050405020304" pitchFamily="18" charset="0"/>
            </a:endParaRPr>
          </a:p>
          <a:p>
            <a:pPr algn="just" eaLnBrk="1" hangingPunct="1">
              <a:buFontTx/>
              <a:buNone/>
            </a:pPr>
            <a:r>
              <a:rPr lang="zh-CN" altLang="en-US" sz="1200" b="1" dirty="0">
                <a:solidFill>
                  <a:srgbClr val="FF3300"/>
                </a:solidFill>
                <a:latin typeface="宋体" panose="02010600030101010101" pitchFamily="2" charset="-122"/>
              </a:rPr>
              <a:t>简单析取式</a:t>
            </a:r>
            <a:r>
              <a:rPr lang="zh-CN" altLang="en-US" sz="1200" b="1" dirty="0">
                <a:latin typeface="宋体" panose="02010600030101010101" pitchFamily="2" charset="-122"/>
              </a:rPr>
              <a:t>:有限个文字构成的析取式</a:t>
            </a:r>
            <a:endParaRPr lang="zh-CN" altLang="en-US" sz="1200" b="1" dirty="0">
              <a:cs typeface="Times New Roman" panose="02020603050405020304" pitchFamily="18" charset="0"/>
            </a:endParaRPr>
          </a:p>
          <a:p>
            <a:pPr algn="just" eaLnBrk="1" hangingPunct="1">
              <a:buFontTx/>
              <a:buNone/>
            </a:pPr>
            <a:r>
              <a:rPr lang="zh-CN" altLang="en-US" sz="1200" b="1" dirty="0">
                <a:solidFill>
                  <a:srgbClr val="000066"/>
                </a:solidFill>
              </a:rPr>
              <a:t>如： </a:t>
            </a:r>
            <a:r>
              <a:rPr lang="en-US" altLang="zh-CN" sz="1200" b="1" i="1" dirty="0">
                <a:solidFill>
                  <a:srgbClr val="000066"/>
                </a:solidFill>
                <a:cs typeface="Times New Roman" panose="02020603050405020304" pitchFamily="18" charset="0"/>
              </a:rPr>
              <a:t>p</a:t>
            </a:r>
            <a:r>
              <a:rPr lang="en-US" altLang="zh-CN" sz="1200" b="1" dirty="0">
                <a:solidFill>
                  <a:srgbClr val="000066"/>
                </a:solidFill>
                <a:cs typeface="Times New Roman" panose="02020603050405020304" pitchFamily="18" charset="0"/>
              </a:rPr>
              <a:t>, </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q</a:t>
            </a:r>
            <a:r>
              <a:rPr lang="en-US" altLang="zh-CN" sz="1200" b="1" dirty="0">
                <a:solidFill>
                  <a:srgbClr val="000066"/>
                </a:solidFill>
                <a:cs typeface="Times New Roman" panose="02020603050405020304" pitchFamily="18" charset="0"/>
              </a:rPr>
              <a:t>, </a:t>
            </a:r>
            <a:r>
              <a:rPr lang="en-US" altLang="zh-CN" sz="1200" b="1" i="1" dirty="0">
                <a:solidFill>
                  <a:srgbClr val="000066"/>
                </a:solidFill>
                <a:cs typeface="Times New Roman" panose="02020603050405020304" pitchFamily="18" charset="0"/>
              </a:rPr>
              <a:t>p</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q</a:t>
            </a:r>
            <a:r>
              <a:rPr lang="en-US" altLang="zh-CN" sz="1200" b="1" dirty="0">
                <a:solidFill>
                  <a:srgbClr val="000066"/>
                </a:solidFill>
                <a:cs typeface="Times New Roman" panose="02020603050405020304" pitchFamily="18" charset="0"/>
              </a:rPr>
              <a:t>, </a:t>
            </a:r>
            <a:r>
              <a:rPr lang="en-US" altLang="zh-CN" sz="1200" b="1" i="1" dirty="0" err="1">
                <a:solidFill>
                  <a:srgbClr val="000066"/>
                </a:solidFill>
                <a:cs typeface="Times New Roman" panose="02020603050405020304" pitchFamily="18" charset="0"/>
              </a:rPr>
              <a:t>p</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 …</a:t>
            </a:r>
          </a:p>
          <a:p>
            <a:pPr algn="just" eaLnBrk="1" hangingPunct="1">
              <a:buFontTx/>
              <a:buNone/>
            </a:pPr>
            <a:r>
              <a:rPr lang="zh-CN" altLang="en-US" sz="1200" b="1" dirty="0">
                <a:solidFill>
                  <a:srgbClr val="FF3300"/>
                </a:solidFill>
                <a:latin typeface="宋体" panose="02010600030101010101" pitchFamily="2" charset="-122"/>
              </a:rPr>
              <a:t>简单合取式</a:t>
            </a:r>
            <a:r>
              <a:rPr lang="zh-CN" altLang="en-US" sz="1200" b="1" dirty="0">
                <a:latin typeface="宋体" panose="02010600030101010101" pitchFamily="2" charset="-122"/>
              </a:rPr>
              <a:t>:有限个文字构成的合取式</a:t>
            </a:r>
            <a:endParaRPr lang="zh-CN" altLang="en-US" sz="1200" b="1" dirty="0">
              <a:cs typeface="Times New Roman" panose="02020603050405020304" pitchFamily="18" charset="0"/>
            </a:endParaRPr>
          </a:p>
          <a:p>
            <a:pPr algn="just" eaLnBrk="1" hangingPunct="1">
              <a:buFontTx/>
              <a:buNone/>
            </a:pPr>
            <a:r>
              <a:rPr lang="zh-CN" altLang="en-US" sz="1200" b="1" dirty="0">
                <a:solidFill>
                  <a:srgbClr val="000066"/>
                </a:solidFill>
              </a:rPr>
              <a:t>如： </a:t>
            </a:r>
            <a:r>
              <a:rPr lang="en-US" altLang="zh-CN" sz="1200" b="1" i="1" dirty="0">
                <a:solidFill>
                  <a:srgbClr val="000066"/>
                </a:solidFill>
                <a:cs typeface="Times New Roman" panose="02020603050405020304" pitchFamily="18" charset="0"/>
              </a:rPr>
              <a:t>p</a:t>
            </a:r>
            <a:r>
              <a:rPr lang="en-US" altLang="zh-CN" sz="1200" b="1" dirty="0">
                <a:solidFill>
                  <a:srgbClr val="000066"/>
                </a:solidFill>
                <a:cs typeface="Times New Roman" panose="02020603050405020304" pitchFamily="18" charset="0"/>
              </a:rPr>
              <a:t>, </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q</a:t>
            </a:r>
            <a:r>
              <a:rPr lang="en-US" altLang="zh-CN" sz="1200" b="1" dirty="0">
                <a:solidFill>
                  <a:srgbClr val="000066"/>
                </a:solidFill>
                <a:cs typeface="Times New Roman" panose="02020603050405020304" pitchFamily="18" charset="0"/>
              </a:rPr>
              <a:t>, </a:t>
            </a:r>
            <a:r>
              <a:rPr lang="en-US" altLang="zh-CN" sz="1200" b="1" i="1" dirty="0">
                <a:solidFill>
                  <a:srgbClr val="000066"/>
                </a:solidFill>
                <a:cs typeface="Times New Roman" panose="02020603050405020304" pitchFamily="18" charset="0"/>
              </a:rPr>
              <a:t>p</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q</a:t>
            </a:r>
            <a:r>
              <a:rPr lang="en-US" altLang="zh-CN" sz="1200" b="1" dirty="0">
                <a:solidFill>
                  <a:srgbClr val="000066"/>
                </a:solidFill>
                <a:cs typeface="Times New Roman" panose="02020603050405020304" pitchFamily="18" charset="0"/>
              </a:rPr>
              <a:t>, </a:t>
            </a:r>
            <a:r>
              <a:rPr lang="en-US" altLang="zh-CN" sz="1200" b="1" i="1" dirty="0" err="1">
                <a:solidFill>
                  <a:srgbClr val="000066"/>
                </a:solidFill>
                <a:cs typeface="Times New Roman" panose="02020603050405020304" pitchFamily="18" charset="0"/>
              </a:rPr>
              <a:t>p</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 …</a:t>
            </a:r>
          </a:p>
          <a:p>
            <a:pPr eaLnBrk="1" hangingPunct="1">
              <a:buFontTx/>
              <a:buNone/>
            </a:pPr>
            <a:endParaRPr lang="zh-CN" altLang="en-US" sz="1200" b="1" dirty="0">
              <a:solidFill>
                <a:srgbClr val="000066"/>
              </a:solidFill>
            </a:endParaRPr>
          </a:p>
          <a:p>
            <a:pPr eaLnBrk="1" hangingPunct="1">
              <a:buFontTx/>
              <a:buNone/>
            </a:pPr>
            <a:r>
              <a:rPr lang="zh-CN" altLang="en-US" sz="1200" b="1" dirty="0">
                <a:solidFill>
                  <a:srgbClr val="FF0000"/>
                </a:solidFill>
              </a:rPr>
              <a:t>定理2.3</a:t>
            </a:r>
            <a:endParaRPr lang="en-US" altLang="zh-CN" sz="1200" b="1" dirty="0">
              <a:solidFill>
                <a:srgbClr val="FF0000"/>
              </a:solidFill>
            </a:endParaRPr>
          </a:p>
          <a:p>
            <a:pPr eaLnBrk="1" hangingPunct="1">
              <a:buFontTx/>
              <a:buNone/>
            </a:pPr>
            <a:r>
              <a:rPr lang="zh-CN" altLang="en-US" sz="1200" b="1" dirty="0"/>
              <a:t>(1) 一个简单析取式是重言式，当且仅当它同时含某个命题变项和它的否定（如：</a:t>
            </a:r>
            <a:r>
              <a:rPr lang="en-US" altLang="zh-CN" sz="1200" b="1" i="1" dirty="0">
                <a:solidFill>
                  <a:srgbClr val="000066"/>
                </a:solidFill>
                <a:cs typeface="Times New Roman" panose="02020603050405020304" pitchFamily="18" charset="0"/>
              </a:rPr>
              <a:t> p</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q </a:t>
            </a:r>
            <a:r>
              <a:rPr lang="zh-CN" altLang="en-US" sz="1200" b="1" dirty="0"/>
              <a:t>）</a:t>
            </a:r>
          </a:p>
          <a:p>
            <a:pPr>
              <a:lnSpc>
                <a:spcPct val="100000"/>
              </a:lnSpc>
              <a:buNone/>
            </a:pPr>
            <a:r>
              <a:rPr lang="zh-CN" altLang="en-US" b="1" dirty="0"/>
              <a:t>(2) 一个简单合取式是矛盾式当且仅当它同时含某个命题</a:t>
            </a:r>
          </a:p>
          <a:p>
            <a:pPr>
              <a:lnSpc>
                <a:spcPct val="100000"/>
              </a:lnSpc>
              <a:buNone/>
            </a:pPr>
            <a:r>
              <a:rPr lang="zh-CN" altLang="en-US" b="1" dirty="0"/>
              <a:t>变项和它的否定（如：</a:t>
            </a:r>
            <a:r>
              <a:rPr lang="en-US" altLang="zh-CN" sz="1200" b="1" i="1" dirty="0">
                <a:solidFill>
                  <a:srgbClr val="000066"/>
                </a:solidFill>
                <a:cs typeface="Times New Roman" panose="02020603050405020304" pitchFamily="18" charset="0"/>
              </a:rPr>
              <a:t> p</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q </a:t>
            </a:r>
            <a:r>
              <a:rPr lang="zh-CN" altLang="en-US" b="1" dirty="0"/>
              <a:t>）</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53</a:t>
            </a:fld>
            <a:endParaRPr lang="zh-CN" altLang="en-US"/>
          </a:p>
        </p:txBody>
      </p:sp>
    </p:spTree>
    <p:extLst>
      <p:ext uri="{BB962C8B-B14F-4D97-AF65-F5344CB8AC3E}">
        <p14:creationId xmlns:p14="http://schemas.microsoft.com/office/powerpoint/2010/main" val="21295760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取范式</a:t>
            </a:r>
            <a:r>
              <a:rPr lang="en-US" altLang="zh-CN" dirty="0"/>
              <a:t>:</a:t>
            </a:r>
            <a:r>
              <a:rPr lang="zh-CN" altLang="en-US" dirty="0"/>
              <a:t>由有限个简单合取式组成的析取式 </a:t>
            </a:r>
            <a:r>
              <a:rPr lang="en-US" dirty="0"/>
              <a:t>A1A2</a:t>
            </a:r>
            <a:r>
              <a:rPr lang="en-US" dirty="0" err="1"/>
              <a:t>Ar</a:t>
            </a:r>
            <a:r>
              <a:rPr lang="en-US" dirty="0"/>
              <a:t>, </a:t>
            </a:r>
            <a:r>
              <a:rPr lang="zh-CN" altLang="en-US" dirty="0"/>
              <a:t>其中</a:t>
            </a:r>
            <a:r>
              <a:rPr lang="en-US" dirty="0"/>
              <a:t>A1,A2,,Ar</a:t>
            </a:r>
            <a:r>
              <a:rPr lang="zh-CN" altLang="en-US" dirty="0"/>
              <a:t>是简单合取式 例： </a:t>
            </a:r>
            <a:r>
              <a:rPr lang="en-US" dirty="0" err="1"/>
              <a:t>pq</a:t>
            </a:r>
            <a:r>
              <a:rPr lang="en-US" dirty="0"/>
              <a:t>r p  q  r ("p" _𝟏 "" 〖¬"p" 〗_𝟐 "" "p" _𝟑 )"" (〖¬"p" 〗_𝟏 "" "p" _𝟐 "" "p" _𝟑 ) ("p" _𝟏 "" "p" _𝟐 "" 〖¬"p" 〗_𝟑 ) </a:t>
            </a:r>
            <a:r>
              <a:rPr lang="zh-CN" altLang="en-US" dirty="0"/>
              <a:t>合取范式</a:t>
            </a:r>
            <a:r>
              <a:rPr lang="en-US" altLang="zh-CN" dirty="0"/>
              <a:t>:</a:t>
            </a:r>
            <a:r>
              <a:rPr lang="zh-CN" altLang="en-US" dirty="0"/>
              <a:t>由有限个简单析取式组成的合取式 </a:t>
            </a:r>
            <a:r>
              <a:rPr lang="en-US" dirty="0"/>
              <a:t>A1A2</a:t>
            </a:r>
            <a:r>
              <a:rPr lang="en-US" dirty="0" err="1"/>
              <a:t>Ar</a:t>
            </a:r>
            <a:r>
              <a:rPr lang="en-US" dirty="0"/>
              <a:t> , </a:t>
            </a:r>
            <a:r>
              <a:rPr lang="zh-CN" altLang="en-US" dirty="0"/>
              <a:t>其中</a:t>
            </a:r>
            <a:r>
              <a:rPr lang="en-US" dirty="0"/>
              <a:t>A1,A2,,Ar</a:t>
            </a:r>
            <a:r>
              <a:rPr lang="zh-CN" altLang="en-US" dirty="0"/>
              <a:t>是简单析取式 例： </a:t>
            </a:r>
            <a:r>
              <a:rPr lang="en-US" dirty="0" err="1"/>
              <a:t>pq</a:t>
            </a:r>
            <a:r>
              <a:rPr lang="en-US" dirty="0"/>
              <a:t>r p  q  r ("p" _𝟏 "" 〖¬"p" 〗_𝟐 "" 〖¬"p" 〗_𝟑 )"" (〖¬"p" 〗_𝟏 "" "p" _𝟐 "" "p" _𝟑 ) ("p" _𝟏 "" 〖¬"p" 〗_𝟑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54</a:t>
            </a:fld>
            <a:endParaRPr lang="zh-CN" altLang="en-US"/>
          </a:p>
        </p:txBody>
      </p:sp>
    </p:spTree>
    <p:extLst>
      <p:ext uri="{BB962C8B-B14F-4D97-AF65-F5344CB8AC3E}">
        <p14:creationId xmlns:p14="http://schemas.microsoft.com/office/powerpoint/2010/main" val="11339184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宋体" panose="02010600030101010101" pitchFamily="2" charset="-122"/>
              </a:rPr>
              <a:t>范式</a:t>
            </a:r>
            <a:r>
              <a:rPr lang="zh-CN" altLang="en-US" sz="1200" b="1" dirty="0">
                <a:latin typeface="宋体" panose="02010600030101010101" pitchFamily="2" charset="-122"/>
              </a:rPr>
              <a:t>:析取范式与合取范式的统称</a:t>
            </a:r>
            <a:r>
              <a:rPr lang="zh-CN" altLang="en-US" sz="1200" b="1" dirty="0">
                <a:cs typeface="Times New Roman" panose="02020603050405020304" pitchFamily="18" charset="0"/>
              </a:rPr>
              <a:t> </a:t>
            </a:r>
          </a:p>
          <a:p>
            <a:pPr eaLnBrk="1" hangingPunct="1">
              <a:buFontTx/>
              <a:buNone/>
            </a:pPr>
            <a:endParaRPr lang="zh-CN" altLang="en-US" sz="1200" b="1" dirty="0"/>
          </a:p>
          <a:p>
            <a:pPr eaLnBrk="1" hangingPunct="1">
              <a:buFontTx/>
              <a:buNone/>
            </a:pPr>
            <a:r>
              <a:rPr lang="zh-CN" altLang="en-US" sz="1200" b="1" dirty="0">
                <a:solidFill>
                  <a:srgbClr val="FF0000"/>
                </a:solidFill>
              </a:rPr>
              <a:t>定理2.4</a:t>
            </a:r>
            <a:r>
              <a:rPr lang="zh-CN" altLang="en-US" sz="1200" b="1" dirty="0"/>
              <a:t> </a:t>
            </a:r>
            <a:endParaRPr lang="en-US" altLang="zh-CN" sz="1200" b="1" dirty="0"/>
          </a:p>
          <a:p>
            <a:pPr eaLnBrk="1" hangingPunct="1">
              <a:buFontTx/>
              <a:buNone/>
            </a:pPr>
            <a:r>
              <a:rPr lang="zh-CN" altLang="en-US" sz="1200" b="1" dirty="0"/>
              <a:t>(1) 一个析取范式是矛盾式当且仅当它的每一个简单合取式都是矛盾式</a:t>
            </a:r>
          </a:p>
          <a:p>
            <a:pPr>
              <a:lnSpc>
                <a:spcPct val="100000"/>
              </a:lnSpc>
              <a:buNone/>
            </a:pPr>
            <a:r>
              <a:rPr lang="zh-CN" altLang="en-US" b="1" dirty="0"/>
              <a:t>(2) 一个合取范式是重言式当且仅当它的每一个简单析取</a:t>
            </a:r>
          </a:p>
          <a:p>
            <a:pPr>
              <a:lnSpc>
                <a:spcPct val="100000"/>
              </a:lnSpc>
              <a:buNone/>
            </a:pPr>
            <a:r>
              <a:rPr lang="zh-CN" altLang="en-US" b="1" dirty="0"/>
              <a:t>式都是重言式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55</a:t>
            </a:fld>
            <a:endParaRPr lang="zh-CN" altLang="en-US"/>
          </a:p>
        </p:txBody>
      </p:sp>
    </p:spTree>
    <p:extLst>
      <p:ext uri="{BB962C8B-B14F-4D97-AF65-F5344CB8AC3E}">
        <p14:creationId xmlns:p14="http://schemas.microsoft.com/office/powerpoint/2010/main" val="20730557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宋体" panose="02010600030101010101" pitchFamily="2" charset="-122"/>
              </a:rPr>
              <a:t>定理</a:t>
            </a:r>
            <a:r>
              <a:rPr lang="zh-CN" altLang="en-US" sz="1200" b="1" dirty="0">
                <a:solidFill>
                  <a:srgbClr val="FF3300"/>
                </a:solidFill>
              </a:rPr>
              <a:t>2.5</a:t>
            </a:r>
            <a:r>
              <a:rPr lang="zh-CN" altLang="en-US" sz="1200" b="1" dirty="0">
                <a:cs typeface="Times New Roman" panose="02020603050405020304" pitchFamily="18" charset="0"/>
              </a:rPr>
              <a:t> </a:t>
            </a:r>
            <a:r>
              <a:rPr lang="zh-CN" altLang="en-US" sz="1200" b="1" dirty="0">
                <a:latin typeface="宋体" panose="02010600030101010101" pitchFamily="2" charset="-122"/>
              </a:rPr>
              <a:t>任何命题公式都存在着与之等值的析取范式与合取范式.</a:t>
            </a:r>
            <a:endParaRPr lang="en-US" altLang="zh-CN" sz="1200" b="1" dirty="0">
              <a:latin typeface="宋体" panose="02010600030101010101" pitchFamily="2" charset="-122"/>
            </a:endParaRPr>
          </a:p>
          <a:p>
            <a:pPr algn="just" eaLnBrk="1" hangingPunct="1">
              <a:buFontTx/>
              <a:buNone/>
            </a:pPr>
            <a:endParaRPr lang="zh-CN" altLang="en-US" sz="1200" b="1" dirty="0">
              <a:cs typeface="Times New Roman" panose="02020603050405020304" pitchFamily="18" charset="0"/>
            </a:endParaRPr>
          </a:p>
          <a:p>
            <a:pPr algn="just" eaLnBrk="1" hangingPunct="1">
              <a:buFontTx/>
              <a:buNone/>
            </a:pPr>
            <a:r>
              <a:rPr lang="zh-CN" altLang="en-US" sz="1200" b="1" dirty="0">
                <a:latin typeface="宋体" panose="02010600030101010101" pitchFamily="2" charset="-122"/>
              </a:rPr>
              <a:t>证 求公</a:t>
            </a:r>
            <a:r>
              <a:rPr lang="zh-CN" altLang="en-US" sz="1200" b="1" dirty="0"/>
              <a:t>式</a:t>
            </a:r>
            <a:r>
              <a:rPr lang="en-US" altLang="zh-CN" sz="1200" b="1" i="1" dirty="0">
                <a:cs typeface="Times New Roman" panose="02020603050405020304" pitchFamily="18" charset="0"/>
              </a:rPr>
              <a:t>A</a:t>
            </a:r>
            <a:r>
              <a:rPr lang="zh-CN" altLang="en-US" sz="1200" b="1" dirty="0"/>
              <a:t>的范式的重要三步：</a:t>
            </a:r>
            <a:endParaRPr lang="zh-CN" altLang="en-US" sz="1200" b="1" dirty="0">
              <a:cs typeface="Times New Roman" panose="02020603050405020304" pitchFamily="18" charset="0"/>
            </a:endParaRPr>
          </a:p>
          <a:p>
            <a:pPr algn="just" eaLnBrk="1" hangingPunct="1">
              <a:buFontTx/>
              <a:buNone/>
            </a:pPr>
            <a:r>
              <a:rPr lang="zh-CN" altLang="en-US" sz="1200" b="1" dirty="0"/>
              <a:t>(1) 消去</a:t>
            </a:r>
            <a:r>
              <a:rPr lang="en-US" altLang="zh-CN" sz="1200" b="1" i="1" dirty="0">
                <a:cs typeface="Times New Roman" panose="02020603050405020304" pitchFamily="18" charset="0"/>
              </a:rPr>
              <a:t>A</a:t>
            </a:r>
            <a:r>
              <a:rPr lang="zh-CN" altLang="en-US" sz="1200" b="1" dirty="0"/>
              <a:t>中的</a:t>
            </a:r>
            <a:r>
              <a:rPr lang="zh-CN" altLang="en-US"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a:t>
            </a:r>
            <a:endParaRPr lang="zh-CN" altLang="en-US" sz="1200" b="1" dirty="0">
              <a:cs typeface="Times New Roman" panose="02020603050405020304" pitchFamily="18" charset="0"/>
            </a:endParaRPr>
          </a:p>
          <a:p>
            <a:pPr algn="just" eaLnBrk="1" hangingPunct="1">
              <a:buFontTx/>
              <a:buNone/>
            </a:pPr>
            <a:r>
              <a:rPr lang="en-US" altLang="zh-CN" sz="1200" b="1" i="1" dirty="0">
                <a:cs typeface="Times New Roman" panose="02020603050405020304" pitchFamily="18" charset="0"/>
              </a:rPr>
              <a:t>      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en-US" altLang="zh-CN" sz="1200" b="1" dirty="0">
              <a:cs typeface="Times New Roman" panose="02020603050405020304" pitchFamily="18" charset="0"/>
            </a:endParaRPr>
          </a:p>
          <a:p>
            <a:pPr algn="just" eaLnBrk="1" hangingPunct="1">
              <a:buFontTx/>
              <a:buNone/>
            </a:pPr>
            <a:r>
              <a:rPr lang="zh-CN" altLang="en-US" sz="1200" b="1" dirty="0">
                <a:solidFill>
                  <a:srgbClr val="FF3300"/>
                </a:solidFill>
                <a:latin typeface="宋体" panose="02010600030101010101" pitchFamily="2" charset="-122"/>
              </a:rPr>
              <a:t>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endParaRPr lang="zh-CN" altLang="en-US" sz="1200" b="1" dirty="0"/>
          </a:p>
          <a:p>
            <a:pPr algn="just" eaLnBrk="1" hangingPunct="1">
              <a:buFontTx/>
              <a:buNone/>
            </a:pPr>
            <a:r>
              <a:rPr lang="zh-CN" altLang="en-US" sz="1200" b="1" dirty="0"/>
              <a:t>(2) 否定联结词</a:t>
            </a:r>
            <a:r>
              <a:rPr lang="zh-CN" altLang="en-US" sz="1200" b="1" dirty="0">
                <a:cs typeface="Times New Roman" panose="02020603050405020304" pitchFamily="18" charset="0"/>
                <a:sym typeface="Symbol" panose="05050102010706020507" pitchFamily="18" charset="2"/>
              </a:rPr>
              <a:t></a:t>
            </a:r>
            <a:r>
              <a:rPr lang="zh-CN" altLang="en-US" sz="1200" b="1" dirty="0"/>
              <a:t>的内移或消去</a:t>
            </a:r>
            <a:endParaRPr lang="zh-CN" altLang="en-US" sz="1200" b="1" dirty="0">
              <a:cs typeface="Times New Roman" panose="02020603050405020304" pitchFamily="18" charset="0"/>
            </a:endParaRPr>
          </a:p>
          <a:p>
            <a:pPr algn="just" eaLnBrk="1" hangingPunct="1">
              <a:buFontTx/>
              <a:buNone/>
            </a:pPr>
            <a:r>
              <a:rPr lang="zh-CN" altLang="en-US"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A</a:t>
            </a:r>
            <a:endParaRPr lang="zh-CN" altLang="en-US" sz="1200" b="1" dirty="0">
              <a:cs typeface="Times New Roman" panose="02020603050405020304" pitchFamily="18" charset="0"/>
              <a:sym typeface="Symbol" panose="05050102010706020507" pitchFamily="18" charset="2"/>
            </a:endParaRPr>
          </a:p>
          <a:p>
            <a:pPr algn="just" eaLnBrk="1" hangingPunct="1">
              <a:buFontTx/>
              <a:buNone/>
            </a:pPr>
            <a:r>
              <a:rPr lang="zh-CN" altLang="en-US"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en-US" altLang="zh-CN" sz="1200" b="1" dirty="0">
              <a:cs typeface="Times New Roman" panose="02020603050405020304" pitchFamily="18" charset="0"/>
            </a:endParaRPr>
          </a:p>
          <a:p>
            <a:pPr algn="just" eaLnBrk="1" hangingPunct="1">
              <a:buFontTx/>
              <a:buNone/>
            </a:pP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56</a:t>
            </a:fld>
            <a:endParaRPr lang="zh-CN" altLang="en-US"/>
          </a:p>
        </p:txBody>
      </p:sp>
    </p:spTree>
    <p:extLst>
      <p:ext uri="{BB962C8B-B14F-4D97-AF65-F5344CB8AC3E}">
        <p14:creationId xmlns:p14="http://schemas.microsoft.com/office/powerpoint/2010/main" val="4813477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t>(3) </a:t>
            </a:r>
            <a:r>
              <a:rPr lang="zh-CN" altLang="en-US" sz="1200" b="1" dirty="0">
                <a:latin typeface="宋体" panose="02010600030101010101" pitchFamily="2" charset="-122"/>
              </a:rPr>
              <a:t>使用分配律</a:t>
            </a:r>
          </a:p>
          <a:p>
            <a:pPr algn="just" eaLnBrk="1" hangingPunct="1">
              <a:buFontTx/>
              <a:buNone/>
            </a:pPr>
            <a:r>
              <a:rPr lang="en-US" altLang="zh-CN" sz="1200" b="1" i="1" dirty="0">
                <a:cs typeface="Times New Roman" panose="02020603050405020304" pitchFamily="18" charset="0"/>
              </a:rPr>
              <a:t>      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             </a:t>
            </a:r>
            <a:r>
              <a:rPr lang="zh-CN" altLang="en-US" sz="1200" b="1" dirty="0"/>
              <a:t>求合取范式</a:t>
            </a:r>
            <a:r>
              <a:rPr lang="zh-CN" altLang="en-US" sz="1200" b="1" dirty="0">
                <a:cs typeface="Times New Roman" panose="02020603050405020304" pitchFamily="18" charset="0"/>
              </a:rPr>
              <a:t> </a:t>
            </a:r>
          </a:p>
          <a:p>
            <a:pPr algn="just" eaLnBrk="1" hangingPunct="1">
              <a:buFontTx/>
              <a:buNone/>
            </a:pP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rPr>
              <a:t>)            </a:t>
            </a:r>
            <a:r>
              <a:rPr lang="zh-CN" altLang="en-US" sz="1200" b="1" dirty="0"/>
              <a:t>求析取范式</a:t>
            </a:r>
          </a:p>
          <a:p>
            <a:pPr algn="just" eaLnBrk="1" hangingPunct="1">
              <a:buFontTx/>
              <a:buNone/>
            </a:pPr>
            <a:endParaRPr lang="zh-CN" altLang="en-US" sz="1200" b="1" dirty="0"/>
          </a:p>
          <a:p>
            <a:pPr algn="just" eaLnBrk="1" hangingPunct="1">
              <a:buFontTx/>
              <a:buNone/>
            </a:pPr>
            <a:r>
              <a:rPr lang="zh-CN" altLang="en-US" sz="1200" b="1" dirty="0">
                <a:solidFill>
                  <a:srgbClr val="00B0F0"/>
                </a:solidFill>
                <a:latin typeface="宋体" panose="02010600030101010101" pitchFamily="2" charset="-122"/>
              </a:rPr>
              <a:t>例：</a:t>
            </a:r>
            <a:r>
              <a:rPr lang="zh-CN" altLang="en-US" sz="1200" b="1" dirty="0">
                <a:solidFill>
                  <a:srgbClr val="00B0F0"/>
                </a:solidFill>
                <a:cs typeface="Times New Roman" panose="02020603050405020304" pitchFamily="18" charset="0"/>
              </a:rPr>
              <a:t> </a:t>
            </a:r>
            <a:r>
              <a:rPr lang="zh-CN" altLang="en-US" sz="1200" b="1" dirty="0">
                <a:latin typeface="宋体" panose="02010600030101010101" pitchFamily="2" charset="-122"/>
              </a:rPr>
              <a:t>求</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 </a:t>
            </a:r>
            <a:r>
              <a:rPr lang="zh-CN" altLang="en-US" sz="1200" b="1" dirty="0">
                <a:latin typeface="宋体" panose="02010600030101010101" pitchFamily="2" charset="-122"/>
              </a:rPr>
              <a:t>的析取范式与合取范式</a:t>
            </a:r>
            <a:endParaRPr lang="en-US" altLang="zh-CN" sz="1200" b="1" dirty="0">
              <a:cs typeface="Times New Roman" panose="02020603050405020304" pitchFamily="18" charset="0"/>
            </a:endParaRPr>
          </a:p>
          <a:p>
            <a:pPr algn="just" eaLnBrk="1" hangingPunct="1">
              <a:buFontTx/>
              <a:buNone/>
            </a:pPr>
            <a:r>
              <a:rPr lang="zh-CN" altLang="en-US" sz="1200" b="1" dirty="0">
                <a:latin typeface="宋体" panose="02010600030101010101" pitchFamily="2" charset="-122"/>
              </a:rPr>
              <a:t>解  </a:t>
            </a:r>
            <a:r>
              <a:rPr lang="en-US" altLang="zh-CN"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endParaRPr lang="en-US" altLang="zh-CN" sz="1200" b="1" dirty="0">
              <a:cs typeface="Times New Roman" panose="02020603050405020304" pitchFamily="18" charset="0"/>
            </a:endParaRPr>
          </a:p>
          <a:p>
            <a:pPr algn="just" eaLnBrk="1" hangingPunct="1">
              <a:buFontTx/>
              <a:buNone/>
            </a:pPr>
            <a:r>
              <a:rPr lang="en-US" altLang="zh-CN"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 </a:t>
            </a:r>
            <a:endParaRPr lang="zh-CN" altLang="en-US" sz="1200" b="1" dirty="0">
              <a:cs typeface="Times New Roman" panose="02020603050405020304" pitchFamily="18" charset="0"/>
            </a:endParaRPr>
          </a:p>
          <a:p>
            <a:pPr algn="just" eaLnBrk="1" hangingPunct="1">
              <a:buFontTx/>
              <a:buNone/>
            </a:pPr>
            <a:r>
              <a:rPr lang="zh-CN" altLang="en-US"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                    </a:t>
            </a:r>
            <a:r>
              <a:rPr lang="zh-CN" altLang="en-US" sz="1200" b="1" dirty="0"/>
              <a:t>析取范式</a:t>
            </a:r>
          </a:p>
          <a:p>
            <a:pPr algn="just" eaLnBrk="1" hangingPunct="1">
              <a:buFontTx/>
              <a:buNone/>
            </a:pPr>
            <a:r>
              <a:rPr lang="zh-CN" altLang="en-US"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          </a:t>
            </a:r>
            <a:r>
              <a:rPr lang="zh-CN" altLang="en-US" sz="1200" b="1" dirty="0"/>
              <a:t>合取范式</a:t>
            </a:r>
          </a:p>
          <a:p>
            <a:pPr algn="just" eaLnBrk="1" hangingPunct="1">
              <a:spcBef>
                <a:spcPct val="80000"/>
              </a:spcBef>
              <a:buFontTx/>
              <a:buNone/>
            </a:pPr>
            <a:r>
              <a:rPr lang="zh-CN" altLang="en-US" sz="1200" b="1" dirty="0"/>
              <a:t>注意: 公式的析取范式与合取范式不惟一.</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57</a:t>
            </a:fld>
            <a:endParaRPr lang="zh-CN" altLang="en-US"/>
          </a:p>
        </p:txBody>
      </p:sp>
    </p:spTree>
    <p:extLst>
      <p:ext uri="{BB962C8B-B14F-4D97-AF65-F5344CB8AC3E}">
        <p14:creationId xmlns:p14="http://schemas.microsoft.com/office/powerpoint/2010/main" val="7503964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命题变项（</a:t>
            </a:r>
            <a:r>
              <a:rPr lang="en-US" altLang="zh-CN" dirty="0"/>
              <a:t>Propositional Variable</a:t>
            </a:r>
            <a:r>
              <a:rPr lang="zh-CN" altLang="en-US" dirty="0"/>
              <a:t>）和命题变量在概念上是相同的，它们都是指在命题逻辑中用作占位符的符号，代表可以被任何具体命题替换的变量。这些变量本身并不具有真值，但它们可以被具有确定真值（真或假）的具体命题所替换。</a:t>
            </a:r>
            <a:endParaRPr lang="en-US" altLang="zh-CN" dirty="0"/>
          </a:p>
          <a:p>
            <a:endParaRPr lang="en-US" altLang="zh-CN" dirty="0"/>
          </a:p>
          <a:p>
            <a:r>
              <a:rPr lang="zh-CN" altLang="en-US" dirty="0"/>
              <a:t>简单析取式和简单合取式是构建更复杂逻辑公式的基本构件。</a:t>
            </a:r>
          </a:p>
          <a:p>
            <a:r>
              <a:rPr lang="zh-CN" altLang="en-US" dirty="0"/>
              <a:t>极小项通常用于构造析取范式，而极大项用于构造合取范式。</a:t>
            </a:r>
            <a:endParaRPr lang="en-US" altLang="zh-CN" dirty="0"/>
          </a:p>
          <a:p>
            <a:endParaRPr lang="en-US" altLang="zh-CN" dirty="0"/>
          </a:p>
          <a:p>
            <a:pPr algn="just" eaLnBrk="1" hangingPunct="1">
              <a:lnSpc>
                <a:spcPct val="90000"/>
              </a:lnSpc>
              <a:buFontTx/>
              <a:buNone/>
            </a:pPr>
            <a:r>
              <a:rPr lang="zh-CN" altLang="en-US" sz="1200" b="1" dirty="0">
                <a:solidFill>
                  <a:srgbClr val="FF3300"/>
                </a:solidFill>
                <a:latin typeface="宋体" panose="02010600030101010101" pitchFamily="2" charset="-122"/>
              </a:rPr>
              <a:t>定义</a:t>
            </a:r>
            <a:r>
              <a:rPr lang="zh-CN" altLang="en-US" sz="1200" b="1" dirty="0">
                <a:solidFill>
                  <a:srgbClr val="FF3300"/>
                </a:solidFill>
              </a:rPr>
              <a:t>2.17</a:t>
            </a:r>
            <a:r>
              <a:rPr lang="zh-CN" altLang="en-US" sz="1200" b="1" dirty="0">
                <a:cs typeface="Times New Roman" panose="02020603050405020304" pitchFamily="18" charset="0"/>
              </a:rPr>
              <a:t> </a:t>
            </a:r>
            <a:r>
              <a:rPr lang="zh-CN" altLang="en-US" sz="1200" b="1" dirty="0">
                <a:latin typeface="宋体" panose="02010600030101010101" pitchFamily="2" charset="-122"/>
              </a:rPr>
              <a:t>在含有</a:t>
            </a:r>
            <a:r>
              <a:rPr lang="en-US" altLang="zh-CN" sz="1200" b="1" i="1" dirty="0">
                <a:cs typeface="Times New Roman" panose="02020603050405020304" pitchFamily="18" charset="0"/>
              </a:rPr>
              <a:t>n</a:t>
            </a:r>
            <a:r>
              <a:rPr lang="zh-CN" altLang="en-US" sz="1200" b="1" dirty="0">
                <a:latin typeface="宋体" panose="02010600030101010101" pitchFamily="2" charset="-122"/>
              </a:rPr>
              <a:t>个命题变项的简单合取式(简单析取式)</a:t>
            </a:r>
          </a:p>
          <a:p>
            <a:pPr algn="just" eaLnBrk="1" hangingPunct="1">
              <a:lnSpc>
                <a:spcPct val="90000"/>
              </a:lnSpc>
              <a:buFontTx/>
              <a:buNone/>
            </a:pPr>
            <a:r>
              <a:rPr lang="zh-CN" altLang="en-US" sz="1200" b="1" dirty="0">
                <a:latin typeface="宋体" panose="02010600030101010101" pitchFamily="2" charset="-122"/>
              </a:rPr>
              <a:t>中,若每个命题变项均以文字的形式出现且仅出现一次，</a:t>
            </a:r>
          </a:p>
          <a:p>
            <a:pPr algn="just" eaLnBrk="1" hangingPunct="1">
              <a:lnSpc>
                <a:spcPct val="90000"/>
              </a:lnSpc>
              <a:buFontTx/>
              <a:buNone/>
            </a:pPr>
            <a:r>
              <a:rPr lang="zh-CN" altLang="en-US" sz="1200" b="1" dirty="0">
                <a:latin typeface="宋体" panose="02010600030101010101" pitchFamily="2" charset="-122"/>
              </a:rPr>
              <a:t>而且第</a:t>
            </a:r>
            <a:r>
              <a:rPr lang="en-US" altLang="zh-CN" sz="1200" b="1" i="1" dirty="0">
                <a:cs typeface="Times New Roman" panose="02020603050405020304" pitchFamily="18" charset="0"/>
              </a:rPr>
              <a:t>i</a:t>
            </a:r>
            <a:r>
              <a:rPr lang="en-US" altLang="zh-CN" sz="1200" b="1" dirty="0">
                <a:latin typeface="宋体" panose="02010600030101010101" pitchFamily="2" charset="-122"/>
              </a:rPr>
              <a:t>(</a:t>
            </a:r>
            <a:r>
              <a:rPr lang="en-US" altLang="zh-CN" sz="1200" b="1"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i</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n</a:t>
            </a:r>
            <a:r>
              <a:rPr lang="en-US" altLang="zh-CN" sz="1200" b="1" dirty="0">
                <a:latin typeface="宋体" panose="02010600030101010101" pitchFamily="2" charset="-122"/>
              </a:rPr>
              <a:t>)</a:t>
            </a:r>
            <a:r>
              <a:rPr lang="zh-CN" altLang="en-US" sz="1200" b="1" dirty="0">
                <a:latin typeface="宋体" panose="02010600030101010101" pitchFamily="2" charset="-122"/>
              </a:rPr>
              <a:t>个文字(按下标或字母顺序排列)出现在左</a:t>
            </a:r>
          </a:p>
          <a:p>
            <a:pPr algn="just" eaLnBrk="1" hangingPunct="1">
              <a:lnSpc>
                <a:spcPct val="90000"/>
              </a:lnSpc>
              <a:buFontTx/>
              <a:buNone/>
            </a:pPr>
            <a:r>
              <a:rPr lang="zh-CN" altLang="en-US" sz="1200" b="1" dirty="0">
                <a:latin typeface="宋体" panose="02010600030101010101" pitchFamily="2" charset="-122"/>
              </a:rPr>
              <a:t>起第</a:t>
            </a:r>
            <a:r>
              <a:rPr lang="en-US" altLang="zh-CN" sz="1200" b="1" i="1" dirty="0">
                <a:cs typeface="Times New Roman" panose="02020603050405020304" pitchFamily="18" charset="0"/>
              </a:rPr>
              <a:t>i</a:t>
            </a:r>
            <a:r>
              <a:rPr lang="zh-CN" altLang="en-US" sz="1200" b="1" dirty="0">
                <a:latin typeface="宋体" panose="02010600030101010101" pitchFamily="2" charset="-122"/>
              </a:rPr>
              <a:t>位上,称这样的简单合取式(简单析取式)为</a:t>
            </a:r>
            <a:r>
              <a:rPr lang="zh-CN" altLang="en-US" sz="1200" b="1" dirty="0">
                <a:solidFill>
                  <a:srgbClr val="FF3300"/>
                </a:solidFill>
                <a:latin typeface="宋体" panose="02010600030101010101" pitchFamily="2" charset="-122"/>
              </a:rPr>
              <a:t>极小项</a:t>
            </a:r>
          </a:p>
          <a:p>
            <a:pPr algn="just" eaLnBrk="1" hangingPunct="1">
              <a:lnSpc>
                <a:spcPct val="90000"/>
              </a:lnSpc>
              <a:buFontTx/>
              <a:buNone/>
            </a:pPr>
            <a:r>
              <a:rPr lang="zh-CN" altLang="en-US" sz="1200" b="1" dirty="0">
                <a:solidFill>
                  <a:srgbClr val="FF3300"/>
                </a:solidFill>
                <a:latin typeface="宋体" panose="02010600030101010101" pitchFamily="2" charset="-122"/>
              </a:rPr>
              <a:t>(极大项)</a:t>
            </a:r>
            <a:endParaRPr lang="en-US" altLang="zh-CN" sz="1200" b="1" dirty="0">
              <a:solidFill>
                <a:srgbClr val="FF3300"/>
              </a:solidFill>
              <a:latin typeface="宋体" panose="02010600030101010101" pitchFamily="2" charset="-122"/>
            </a:endParaRPr>
          </a:p>
          <a:p>
            <a:pPr algn="just" eaLnBrk="1" hangingPunct="1">
              <a:lnSpc>
                <a:spcPct val="90000"/>
              </a:lnSpc>
              <a:buFontTx/>
              <a:buNone/>
            </a:pPr>
            <a:endParaRPr lang="zh-CN" altLang="en-US" sz="1200" b="1" dirty="0">
              <a:solidFill>
                <a:srgbClr val="FF3300"/>
              </a:solidFill>
              <a:latin typeface="宋体" panose="02010600030101010101" pitchFamily="2" charset="-122"/>
            </a:endParaRPr>
          </a:p>
          <a:p>
            <a:pPr algn="just" eaLnBrk="1" hangingPunct="1">
              <a:lnSpc>
                <a:spcPct val="90000"/>
              </a:lnSpc>
              <a:buFontTx/>
              <a:buNone/>
            </a:pPr>
            <a:r>
              <a:rPr lang="zh-CN" altLang="en-US" sz="1100" b="1" dirty="0">
                <a:solidFill>
                  <a:srgbClr val="00B0F0"/>
                </a:solidFill>
                <a:latin typeface="宋体" panose="02010600030101010101" pitchFamily="2" charset="-122"/>
              </a:rPr>
              <a:t>例：</a:t>
            </a:r>
            <a:r>
              <a:rPr kumimoji="1"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1100" b="1" dirty="0">
                <a:solidFill>
                  <a:schemeClr val="tx1"/>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1100" b="1" dirty="0">
                <a:solidFill>
                  <a:schemeClr val="tx1"/>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11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050" b="1" dirty="0" err="1">
                <a:solidFill>
                  <a:schemeClr val="tx1"/>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105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kumimoji="1"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zh-CN" altLang="en-US" sz="105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a:t>
            </a:r>
            <a:r>
              <a:rPr lang="zh-CN" altLang="en-US" sz="1050" b="1" dirty="0">
                <a:latin typeface="宋体" panose="02010600030101010101" pitchFamily="2" charset="-122"/>
              </a:rPr>
              <a:t>极小项</a:t>
            </a:r>
            <a:endParaRPr lang="en-US" altLang="zh-CN" sz="1050" b="1" dirty="0">
              <a:latin typeface="宋体" panose="02010600030101010101" pitchFamily="2" charset="-122"/>
            </a:endParaRPr>
          </a:p>
          <a:p>
            <a:pPr algn="just" eaLnBrk="1" hangingPunct="1">
              <a:lnSpc>
                <a:spcPct val="90000"/>
              </a:lnSpc>
              <a:buFontTx/>
              <a:buNone/>
            </a:pPr>
            <a:r>
              <a:rPr lang="en-US" altLang="zh-CN" sz="1050" b="1" dirty="0">
                <a:latin typeface="宋体" panose="02010600030101010101" pitchFamily="2" charset="-122"/>
                <a:sym typeface="Wingdings" panose="05000000000000000000" pitchFamily="2" charset="2"/>
              </a:rPr>
              <a:t>     </a:t>
            </a:r>
            <a:r>
              <a:rPr kumimoji="1" lang="en-US" altLang="zh-CN"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highlight>
                  <a:srgbClr val="FFFF00"/>
                </a:highlight>
                <a:cs typeface="Times New Roman" panose="02020603050405020304" pitchFamily="18" charset="0"/>
                <a:sym typeface="Symbol" panose="05050102010706020507" pitchFamily="18" charset="2"/>
              </a:rPr>
              <a:t></a:t>
            </a:r>
            <a:r>
              <a:rPr kumimoji="1" lang="en-US" altLang="zh-CN"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zh-CN" altLang="en-US"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highlight>
                  <a:srgbClr val="FFFF00"/>
                </a:highlight>
                <a:cs typeface="Times New Roman" panose="02020603050405020304" pitchFamily="18" charset="0"/>
                <a:sym typeface="Symbol" panose="05050102010706020507" pitchFamily="18" charset="2"/>
              </a:rPr>
              <a:t></a:t>
            </a:r>
            <a:r>
              <a:rPr kumimoji="1" lang="en-US" altLang="zh-CN"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1100" b="1" dirty="0" err="1">
                <a:highlight>
                  <a:srgbClr val="FFFF00"/>
                </a:highlight>
                <a:cs typeface="Times New Roman" panose="02020603050405020304" pitchFamily="18" charset="0"/>
                <a:sym typeface="Symbol" panose="05050102010706020507" pitchFamily="18" charset="2"/>
              </a:rPr>
              <a:t></a:t>
            </a:r>
            <a:r>
              <a:rPr kumimoji="1" lang="en-US" altLang="zh-CN"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kumimoji="1" lang="en-US" altLang="zh-CN"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zh-CN" altLang="en-US" sz="11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a:t>
            </a:r>
            <a:r>
              <a:rPr lang="zh-CN" altLang="en-US" sz="1100" b="1" dirty="0">
                <a:latin typeface="宋体" panose="02010600030101010101" pitchFamily="2" charset="-122"/>
              </a:rPr>
              <a:t>极大项</a:t>
            </a:r>
            <a:endParaRPr lang="en-US" altLang="zh-CN" b="1" dirty="0">
              <a:sym typeface="Wingdings" panose="05000000000000000000" pitchFamily="2"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58</a:t>
            </a:fld>
            <a:endParaRPr lang="zh-CN" altLang="en-US"/>
          </a:p>
        </p:txBody>
      </p:sp>
    </p:spTree>
    <p:extLst>
      <p:ext uri="{BB962C8B-B14F-4D97-AF65-F5344CB8AC3E}">
        <p14:creationId xmlns:p14="http://schemas.microsoft.com/office/powerpoint/2010/main" val="27103786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Tx/>
              <a:buNone/>
            </a:pPr>
            <a:r>
              <a:rPr lang="zh-CN" altLang="en-US" sz="1200" b="1" dirty="0">
                <a:latin typeface="宋体" panose="02010600030101010101" pitchFamily="2" charset="-122"/>
              </a:rPr>
              <a:t>说明</a:t>
            </a:r>
            <a:r>
              <a:rPr lang="zh-CN" altLang="en-US" sz="1200" b="1" dirty="0">
                <a:latin typeface="宋体" panose="02010600030101010101" pitchFamily="2" charset="-122"/>
                <a:sym typeface="Wingdings" panose="05000000000000000000" pitchFamily="2" charset="2"/>
              </a:rPr>
              <a:t>:</a:t>
            </a:r>
            <a:endParaRPr lang="en-US" altLang="zh-CN" sz="1200" b="1" dirty="0">
              <a:latin typeface="宋体" panose="02010600030101010101" pitchFamily="2" charset="-122"/>
              <a:sym typeface="Wingdings" panose="05000000000000000000" pitchFamily="2" charset="2"/>
            </a:endParaRPr>
          </a:p>
          <a:p>
            <a:pPr algn="just">
              <a:buNone/>
            </a:pPr>
            <a:r>
              <a:rPr lang="zh-CN" altLang="en-US" sz="1200" b="1" dirty="0">
                <a:sym typeface="Wingdings" panose="05000000000000000000" pitchFamily="2" charset="2"/>
              </a:rPr>
              <a:t>(1)命题变项在命题逻辑中用作占位符的符号，本身并不具有真值，但可以被具有确定真值（</a:t>
            </a:r>
            <a:r>
              <a:rPr lang="en-US" altLang="zh-CN" sz="1200" b="1" dirty="0">
                <a:sym typeface="Wingdings" panose="05000000000000000000" pitchFamily="2" charset="2"/>
              </a:rPr>
              <a:t>1</a:t>
            </a:r>
            <a:r>
              <a:rPr lang="zh-CN" altLang="en-US" sz="1200" b="1" dirty="0">
                <a:sym typeface="Wingdings" panose="05000000000000000000" pitchFamily="2" charset="2"/>
              </a:rPr>
              <a:t>或</a:t>
            </a:r>
            <a:r>
              <a:rPr lang="en-US" altLang="zh-CN" sz="1200" b="1" dirty="0">
                <a:sym typeface="Wingdings" panose="05000000000000000000" pitchFamily="2" charset="2"/>
              </a:rPr>
              <a:t>0</a:t>
            </a:r>
            <a:r>
              <a:rPr lang="zh-CN" altLang="en-US" sz="1200" b="1" dirty="0">
                <a:sym typeface="Wingdings" panose="05000000000000000000" pitchFamily="2" charset="2"/>
              </a:rPr>
              <a:t>）的具体命题所替换</a:t>
            </a:r>
            <a:endParaRPr lang="en-US" altLang="zh-CN" sz="1200" b="1" dirty="0">
              <a:sym typeface="Wingdings" panose="05000000000000000000" pitchFamily="2" charset="2"/>
            </a:endParaRPr>
          </a:p>
          <a:p>
            <a:pPr algn="just">
              <a:buNone/>
            </a:pPr>
            <a:r>
              <a:rPr lang="zh-CN" altLang="en-US" sz="1200" b="1" dirty="0">
                <a:sym typeface="Wingdings" panose="05000000000000000000" pitchFamily="2" charset="2"/>
              </a:rPr>
              <a:t>(</a:t>
            </a:r>
            <a:r>
              <a:rPr lang="en-US" altLang="zh-CN" sz="1200" b="1" dirty="0">
                <a:sym typeface="Wingdings" panose="05000000000000000000" pitchFamily="2" charset="2"/>
              </a:rPr>
              <a:t>2</a:t>
            </a:r>
            <a:r>
              <a:rPr lang="zh-CN" altLang="en-US" sz="1200" b="1" dirty="0">
                <a:sym typeface="Wingdings" panose="05000000000000000000" pitchFamily="2" charset="2"/>
              </a:rPr>
              <a:t>)命题变项可以是单纯的命题变量，也可以是与其他变项的逻辑组合等</a:t>
            </a:r>
            <a:endParaRPr lang="en-US" altLang="zh-CN" sz="1200" b="1" dirty="0">
              <a:sym typeface="Wingdings" panose="05000000000000000000" pitchFamily="2" charset="2"/>
            </a:endParaRPr>
          </a:p>
          <a:p>
            <a:pPr algn="just">
              <a:buNone/>
            </a:pPr>
            <a:r>
              <a:rPr lang="zh-CN" altLang="en-US" sz="1200" b="1" dirty="0">
                <a:sym typeface="Wingdings" panose="05000000000000000000" pitchFamily="2" charset="2"/>
              </a:rPr>
              <a:t>(</a:t>
            </a:r>
            <a:r>
              <a:rPr lang="en-US" altLang="zh-CN" sz="1200" b="1" dirty="0">
                <a:sym typeface="Wingdings" panose="05000000000000000000" pitchFamily="2" charset="2"/>
              </a:rPr>
              <a:t>3</a:t>
            </a:r>
            <a:r>
              <a:rPr lang="zh-CN" altLang="en-US" sz="1200" b="1" dirty="0">
                <a:sym typeface="Wingdings" panose="05000000000000000000" pitchFamily="2" charset="2"/>
              </a:rPr>
              <a:t>)</a:t>
            </a:r>
            <a:r>
              <a:rPr lang="zh-CN" altLang="en-US" sz="1200" b="1" dirty="0"/>
              <a:t> </a:t>
            </a:r>
            <a:r>
              <a:rPr lang="en-US" altLang="zh-CN" sz="1200" b="1" i="1" dirty="0">
                <a:cs typeface="Times New Roman" panose="02020603050405020304" pitchFamily="18" charset="0"/>
              </a:rPr>
              <a:t>n</a:t>
            </a:r>
            <a:r>
              <a:rPr lang="zh-CN" altLang="en-US" sz="1200" b="1" dirty="0">
                <a:latin typeface="宋体" panose="02010600030101010101" pitchFamily="2" charset="-122"/>
              </a:rPr>
              <a:t>个命题变项从全“</a:t>
            </a:r>
            <a:r>
              <a:rPr lang="en-US" altLang="zh-CN" sz="1200" b="1" dirty="0">
                <a:latin typeface="宋体" panose="02010600030101010101" pitchFamily="2" charset="-122"/>
              </a:rPr>
              <a:t>0</a:t>
            </a:r>
            <a:r>
              <a:rPr lang="zh-CN" altLang="en-US" sz="1200" b="1" dirty="0">
                <a:latin typeface="宋体" panose="02010600030101010101" pitchFamily="2" charset="-122"/>
              </a:rPr>
              <a:t>”到全“</a:t>
            </a:r>
            <a:r>
              <a:rPr lang="en-US" altLang="zh-CN" sz="1200" b="1" dirty="0">
                <a:latin typeface="宋体" panose="02010600030101010101" pitchFamily="2" charset="-122"/>
              </a:rPr>
              <a:t>1</a:t>
            </a:r>
            <a:r>
              <a:rPr lang="zh-CN" altLang="en-US" sz="1200" b="1" dirty="0">
                <a:latin typeface="宋体" panose="02010600030101010101" pitchFamily="2" charset="-122"/>
              </a:rPr>
              <a:t>”构成的真值表有</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项，分别对应产生</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个极小项和</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个极大项</a:t>
            </a:r>
            <a:endParaRPr lang="en-US" altLang="zh-CN" sz="1200" b="1" dirty="0">
              <a:latin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59</a:t>
            </a:fld>
            <a:endParaRPr lang="zh-CN" altLang="en-US"/>
          </a:p>
        </p:txBody>
      </p:sp>
    </p:spTree>
    <p:extLst>
      <p:ext uri="{BB962C8B-B14F-4D97-AF65-F5344CB8AC3E}">
        <p14:creationId xmlns:p14="http://schemas.microsoft.com/office/powerpoint/2010/main" val="35519744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Tx/>
              <a:buNone/>
            </a:pPr>
            <a:r>
              <a:rPr lang="zh-CN" altLang="en-US" sz="1200" b="1" dirty="0">
                <a:latin typeface="宋体" panose="02010600030101010101" pitchFamily="2" charset="-122"/>
              </a:rPr>
              <a:t>说明</a:t>
            </a:r>
            <a:r>
              <a:rPr lang="zh-CN" altLang="en-US" sz="1200" b="1" dirty="0">
                <a:latin typeface="宋体" panose="02010600030101010101" pitchFamily="2" charset="-122"/>
                <a:sym typeface="Wingdings" panose="05000000000000000000" pitchFamily="2" charset="2"/>
              </a:rPr>
              <a:t>:</a:t>
            </a:r>
            <a:endParaRPr lang="en-US" altLang="zh-CN" sz="1200" b="1" dirty="0">
              <a:latin typeface="宋体" panose="02010600030101010101" pitchFamily="2" charset="-122"/>
              <a:sym typeface="Wingdings" panose="05000000000000000000" pitchFamily="2" charset="2"/>
            </a:endParaRPr>
          </a:p>
          <a:p>
            <a:pPr algn="just">
              <a:buNone/>
            </a:pPr>
            <a:r>
              <a:rPr lang="zh-CN" altLang="en-US" sz="1200" b="1" dirty="0">
                <a:sym typeface="Wingdings" panose="05000000000000000000" pitchFamily="2" charset="2"/>
              </a:rPr>
              <a:t>(1)命题变项在命题逻辑中用作占位符的符号，本身并不具有真值，但可以被具有确定真值（</a:t>
            </a:r>
            <a:r>
              <a:rPr lang="en-US" altLang="zh-CN" sz="1200" b="1" dirty="0">
                <a:sym typeface="Wingdings" panose="05000000000000000000" pitchFamily="2" charset="2"/>
              </a:rPr>
              <a:t>1</a:t>
            </a:r>
            <a:r>
              <a:rPr lang="zh-CN" altLang="en-US" sz="1200" b="1" dirty="0">
                <a:sym typeface="Wingdings" panose="05000000000000000000" pitchFamily="2" charset="2"/>
              </a:rPr>
              <a:t>或</a:t>
            </a:r>
            <a:r>
              <a:rPr lang="en-US" altLang="zh-CN" sz="1200" b="1" dirty="0">
                <a:sym typeface="Wingdings" panose="05000000000000000000" pitchFamily="2" charset="2"/>
              </a:rPr>
              <a:t>0</a:t>
            </a:r>
            <a:r>
              <a:rPr lang="zh-CN" altLang="en-US" sz="1200" b="1" dirty="0">
                <a:sym typeface="Wingdings" panose="05000000000000000000" pitchFamily="2" charset="2"/>
              </a:rPr>
              <a:t>）的具体命题所替换</a:t>
            </a:r>
            <a:endParaRPr lang="en-US" altLang="zh-CN" sz="1200" b="1" dirty="0">
              <a:sym typeface="Wingdings" panose="05000000000000000000" pitchFamily="2" charset="2"/>
            </a:endParaRPr>
          </a:p>
          <a:p>
            <a:pPr algn="just">
              <a:buNone/>
            </a:pPr>
            <a:r>
              <a:rPr lang="zh-CN" altLang="en-US" sz="1200" b="1" dirty="0">
                <a:sym typeface="Wingdings" panose="05000000000000000000" pitchFamily="2" charset="2"/>
              </a:rPr>
              <a:t>(</a:t>
            </a:r>
            <a:r>
              <a:rPr lang="en-US" altLang="zh-CN" sz="1200" b="1" dirty="0">
                <a:sym typeface="Wingdings" panose="05000000000000000000" pitchFamily="2" charset="2"/>
              </a:rPr>
              <a:t>2</a:t>
            </a:r>
            <a:r>
              <a:rPr lang="zh-CN" altLang="en-US" sz="1200" b="1" dirty="0">
                <a:sym typeface="Wingdings" panose="05000000000000000000" pitchFamily="2" charset="2"/>
              </a:rPr>
              <a:t>)命题变项可以是单纯的命题变量，也可以是与其他变项的逻辑组合等</a:t>
            </a:r>
            <a:endParaRPr lang="en-US" altLang="zh-CN" sz="1200" b="1" dirty="0">
              <a:sym typeface="Wingdings" panose="05000000000000000000" pitchFamily="2" charset="2"/>
            </a:endParaRPr>
          </a:p>
          <a:p>
            <a:pPr algn="just">
              <a:buNone/>
            </a:pPr>
            <a:r>
              <a:rPr lang="zh-CN" altLang="en-US" sz="1200" b="1" dirty="0">
                <a:sym typeface="Wingdings" panose="05000000000000000000" pitchFamily="2" charset="2"/>
              </a:rPr>
              <a:t>(</a:t>
            </a:r>
            <a:r>
              <a:rPr lang="en-US" altLang="zh-CN" sz="1200" b="1" dirty="0">
                <a:sym typeface="Wingdings" panose="05000000000000000000" pitchFamily="2" charset="2"/>
              </a:rPr>
              <a:t>3</a:t>
            </a:r>
            <a:r>
              <a:rPr lang="zh-CN" altLang="en-US" sz="1200" b="1" dirty="0">
                <a:sym typeface="Wingdings" panose="05000000000000000000" pitchFamily="2" charset="2"/>
              </a:rPr>
              <a:t>)</a:t>
            </a:r>
            <a:r>
              <a:rPr lang="zh-CN" altLang="en-US" sz="1200" b="1" dirty="0"/>
              <a:t> </a:t>
            </a:r>
            <a:r>
              <a:rPr lang="en-US" altLang="zh-CN" sz="1200" b="1" i="1" dirty="0">
                <a:cs typeface="Times New Roman" panose="02020603050405020304" pitchFamily="18" charset="0"/>
              </a:rPr>
              <a:t>n</a:t>
            </a:r>
            <a:r>
              <a:rPr lang="zh-CN" altLang="en-US" sz="1200" b="1" dirty="0">
                <a:latin typeface="宋体" panose="02010600030101010101" pitchFamily="2" charset="-122"/>
              </a:rPr>
              <a:t>个命题变项从全“</a:t>
            </a:r>
            <a:r>
              <a:rPr lang="en-US" altLang="zh-CN" sz="1200" b="1" dirty="0">
                <a:latin typeface="宋体" panose="02010600030101010101" pitchFamily="2" charset="-122"/>
              </a:rPr>
              <a:t>0</a:t>
            </a:r>
            <a:r>
              <a:rPr lang="zh-CN" altLang="en-US" sz="1200" b="1" dirty="0">
                <a:latin typeface="宋体" panose="02010600030101010101" pitchFamily="2" charset="-122"/>
              </a:rPr>
              <a:t>”到全“</a:t>
            </a:r>
            <a:r>
              <a:rPr lang="en-US" altLang="zh-CN" sz="1200" b="1" dirty="0">
                <a:latin typeface="宋体" panose="02010600030101010101" pitchFamily="2" charset="-122"/>
              </a:rPr>
              <a:t>1</a:t>
            </a:r>
            <a:r>
              <a:rPr lang="zh-CN" altLang="en-US" sz="1200" b="1" dirty="0">
                <a:latin typeface="宋体" panose="02010600030101010101" pitchFamily="2" charset="-122"/>
              </a:rPr>
              <a:t>”构成的真值表有</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项，分别对应产生</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个极小项和</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个极大项</a:t>
            </a:r>
            <a:endParaRPr lang="en-US" altLang="zh-CN" sz="1200" b="1" dirty="0">
              <a:latin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60</a:t>
            </a:fld>
            <a:endParaRPr lang="zh-CN" altLang="en-US"/>
          </a:p>
        </p:txBody>
      </p:sp>
    </p:spTree>
    <p:extLst>
      <p:ext uri="{BB962C8B-B14F-4D97-AF65-F5344CB8AC3E}">
        <p14:creationId xmlns:p14="http://schemas.microsoft.com/office/powerpoint/2010/main" val="7945116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p,q</a:t>
            </a:r>
            <a:r>
              <a:rPr lang="zh-CN" altLang="en-US" sz="1200" b="1" dirty="0">
                <a:solidFill>
                  <a:schemeClr val="tx1"/>
                </a:solidFill>
                <a:latin typeface="Times New Roman" panose="02020603050405020304" pitchFamily="18" charset="0"/>
                <a:ea typeface="宋体" panose="02010600030101010101" pitchFamily="2" charset="-122"/>
              </a:rPr>
              <a:t>形成的极小项与极大项</a:t>
            </a:r>
            <a:endParaRPr lang="en-US" altLang="zh-CN" sz="1200" b="1" dirty="0">
              <a:solidFill>
                <a:srgbClr val="FF3300"/>
              </a:solidFill>
            </a:endParaRPr>
          </a:p>
          <a:p>
            <a:pPr>
              <a:buFontTx/>
              <a:buNone/>
            </a:pPr>
            <a:endParaRPr lang="en-US" altLang="zh-CN" sz="1200" b="1" dirty="0">
              <a:solidFill>
                <a:srgbClr val="FF3300"/>
              </a:solidFill>
            </a:endParaRPr>
          </a:p>
          <a:p>
            <a:pPr>
              <a:buFontTx/>
              <a:buNone/>
            </a:pPr>
            <a:r>
              <a:rPr lang="zh-CN" altLang="en-US" sz="1200" b="1" dirty="0">
                <a:solidFill>
                  <a:srgbClr val="FF3300"/>
                </a:solidFill>
              </a:rPr>
              <a:t>定理2.6</a:t>
            </a:r>
            <a:r>
              <a:rPr lang="zh-CN" altLang="en-US" sz="1200" b="1" dirty="0"/>
              <a:t> 设</a:t>
            </a:r>
            <a:r>
              <a:rPr lang="en-US" altLang="zh-CN" sz="1200" b="1" i="1" dirty="0">
                <a:cs typeface="Times New Roman" panose="02020603050405020304" pitchFamily="18" charset="0"/>
              </a:rPr>
              <a:t>m</a:t>
            </a:r>
            <a:r>
              <a:rPr lang="en-US" altLang="zh-CN" sz="1200" b="1" i="1" baseline="-30000" dirty="0">
                <a:cs typeface="Times New Roman" panose="02020603050405020304" pitchFamily="18" charset="0"/>
              </a:rPr>
              <a:t>i </a:t>
            </a:r>
            <a:r>
              <a:rPr lang="zh-CN" altLang="en-US" sz="1200" b="1" dirty="0"/>
              <a:t>与</a:t>
            </a:r>
            <a:r>
              <a:rPr lang="en-US" altLang="zh-CN" sz="1200" b="1" i="1" dirty="0">
                <a:cs typeface="Times New Roman" panose="02020603050405020304" pitchFamily="18" charset="0"/>
              </a:rPr>
              <a:t>M</a:t>
            </a:r>
            <a:r>
              <a:rPr lang="en-US" altLang="zh-CN" sz="1200" b="1" i="1" baseline="-30000" dirty="0">
                <a:cs typeface="Times New Roman" panose="02020603050405020304" pitchFamily="18" charset="0"/>
              </a:rPr>
              <a:t>i</a:t>
            </a:r>
            <a:r>
              <a:rPr lang="zh-CN" altLang="en-US" sz="1200" b="1" dirty="0"/>
              <a:t>是由同一组命题变项形成的极小项和极</a:t>
            </a:r>
          </a:p>
          <a:p>
            <a:pPr>
              <a:buFontTx/>
              <a:buNone/>
            </a:pPr>
            <a:r>
              <a:rPr lang="zh-CN" altLang="en-US" sz="1200" b="1" dirty="0"/>
              <a:t>大项, 则       </a:t>
            </a:r>
            <a:r>
              <a:rPr lang="zh-CN" altLang="en-US" sz="1200" b="1" dirty="0">
                <a:sym typeface="Symbol" panose="05050102010706020507" pitchFamily="18" charset="2"/>
              </a:rPr>
              <a:t></a:t>
            </a:r>
            <a:r>
              <a:rPr lang="en-US" altLang="zh-CN" sz="1200" b="1" i="1" dirty="0">
                <a:cs typeface="Times New Roman" panose="02020603050405020304" pitchFamily="18" charset="0"/>
              </a:rPr>
              <a:t>m</a:t>
            </a:r>
            <a:r>
              <a:rPr lang="en-US" altLang="zh-CN" sz="1200" b="1" i="1" baseline="-30000" dirty="0">
                <a:cs typeface="Times New Roman" panose="02020603050405020304" pitchFamily="18" charset="0"/>
              </a:rPr>
              <a:t>i </a:t>
            </a:r>
            <a:r>
              <a:rPr lang="en-US" altLang="zh-CN" sz="1200" b="1" dirty="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M</a:t>
            </a:r>
            <a:r>
              <a:rPr lang="en-US" altLang="zh-CN" sz="1200" b="1" i="1" baseline="-30000" dirty="0">
                <a:cs typeface="Times New Roman" panose="02020603050405020304" pitchFamily="18" charset="0"/>
              </a:rPr>
              <a:t>i </a:t>
            </a:r>
            <a:r>
              <a:rPr lang="en-US" altLang="zh-CN" sz="1200" b="1" dirty="0">
                <a:cs typeface="Times New Roman" panose="02020603050405020304" pitchFamily="18" charset="0"/>
              </a:rPr>
              <a:t>,    </a:t>
            </a:r>
            <a:r>
              <a:rPr lang="en-US" altLang="zh-CN" sz="1200" b="1" dirty="0">
                <a:sym typeface="Symbol" panose="05050102010706020507" pitchFamily="18" charset="2"/>
              </a:rPr>
              <a:t></a:t>
            </a:r>
            <a:r>
              <a:rPr lang="en-US" altLang="zh-CN" sz="1200" b="1" i="1" dirty="0">
                <a:cs typeface="Times New Roman" panose="02020603050405020304" pitchFamily="18" charset="0"/>
              </a:rPr>
              <a:t>M</a:t>
            </a:r>
            <a:r>
              <a:rPr lang="en-US" altLang="zh-CN" sz="1200" b="1" i="1" baseline="-30000" dirty="0">
                <a:cs typeface="Times New Roman" panose="02020603050405020304" pitchFamily="18" charset="0"/>
              </a:rPr>
              <a:t>i </a:t>
            </a:r>
            <a:r>
              <a:rPr lang="en-US" altLang="zh-CN" sz="1200" b="1" dirty="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m</a:t>
            </a:r>
            <a:r>
              <a:rPr lang="en-US" altLang="zh-CN" sz="1200" b="1" i="1" baseline="-30000" dirty="0">
                <a:cs typeface="Times New Roman" panose="02020603050405020304" pitchFamily="18" charset="0"/>
              </a:rPr>
              <a:t>i</a:t>
            </a:r>
            <a:endParaRPr lang="zh-CN" altLang="en-US" sz="1200" b="1" i="1" baseline="-30000" dirty="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61</a:t>
            </a:fld>
            <a:endParaRPr lang="zh-CN" altLang="en-US"/>
          </a:p>
        </p:txBody>
      </p:sp>
    </p:spTree>
    <p:extLst>
      <p:ext uri="{BB962C8B-B14F-4D97-AF65-F5344CB8AC3E}">
        <p14:creationId xmlns:p14="http://schemas.microsoft.com/office/powerpoint/2010/main" val="14730210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宋体" panose="02010600030101010101" pitchFamily="2" charset="-122"/>
              </a:rPr>
              <a:t>主析取范式</a:t>
            </a:r>
            <a:r>
              <a:rPr lang="zh-CN" altLang="en-US" sz="1200" b="1" dirty="0">
                <a:latin typeface="宋体" panose="02010600030101010101" pitchFamily="2" charset="-122"/>
              </a:rPr>
              <a:t>:由极小项构成的析取范式</a:t>
            </a:r>
            <a:endParaRPr lang="zh-CN" altLang="en-US" sz="1200" b="1" dirty="0">
              <a:cs typeface="Times New Roman" panose="02020603050405020304" pitchFamily="18" charset="0"/>
            </a:endParaRPr>
          </a:p>
          <a:p>
            <a:pPr algn="just" eaLnBrk="1" hangingPunct="1">
              <a:buFontTx/>
              <a:buNone/>
            </a:pPr>
            <a:r>
              <a:rPr lang="zh-CN" altLang="en-US" sz="1200" b="1" dirty="0">
                <a:solidFill>
                  <a:srgbClr val="FF3300"/>
                </a:solidFill>
                <a:latin typeface="宋体" panose="02010600030101010101" pitchFamily="2" charset="-122"/>
              </a:rPr>
              <a:t>主合取范式</a:t>
            </a:r>
            <a:r>
              <a:rPr lang="zh-CN" altLang="en-US" sz="1200" b="1" dirty="0">
                <a:latin typeface="宋体" panose="02010600030101010101" pitchFamily="2" charset="-122"/>
              </a:rPr>
              <a:t>:由极大项构成的合取范式</a:t>
            </a:r>
            <a:endParaRPr lang="zh-CN" altLang="en-US" sz="1200" b="1" dirty="0">
              <a:cs typeface="Times New Roman" panose="02020603050405020304" pitchFamily="18" charset="0"/>
            </a:endParaRPr>
          </a:p>
          <a:p>
            <a:pPr algn="just" eaLnBrk="1" hangingPunct="1">
              <a:buFontTx/>
              <a:buNone/>
            </a:pPr>
            <a:endParaRPr lang="zh-CN" altLang="en-US" sz="1200" b="1" dirty="0">
              <a:solidFill>
                <a:srgbClr val="000066"/>
              </a:solidFill>
              <a:latin typeface="宋体" panose="02010600030101010101" pitchFamily="2" charset="-122"/>
            </a:endParaRPr>
          </a:p>
          <a:p>
            <a:pPr algn="just" eaLnBrk="1" hangingPunct="1">
              <a:buFontTx/>
              <a:buNone/>
            </a:pPr>
            <a:r>
              <a:rPr lang="zh-CN" altLang="en-US" sz="1200" b="1" dirty="0">
                <a:solidFill>
                  <a:srgbClr val="00B0F0"/>
                </a:solidFill>
                <a:latin typeface="宋体" panose="02010600030101010101" pitchFamily="2" charset="-122"/>
              </a:rPr>
              <a:t>例：</a:t>
            </a:r>
            <a:r>
              <a:rPr lang="en-US" altLang="zh-CN" sz="1200" b="1" i="1" dirty="0">
                <a:solidFill>
                  <a:srgbClr val="000066"/>
                </a:solidFill>
                <a:cs typeface="Times New Roman" panose="02020603050405020304" pitchFamily="18" charset="0"/>
              </a:rPr>
              <a:t>n</a:t>
            </a:r>
            <a:r>
              <a:rPr lang="en-US" altLang="zh-CN" sz="1200" b="1" dirty="0">
                <a:solidFill>
                  <a:srgbClr val="000066"/>
                </a:solidFill>
                <a:cs typeface="Times New Roman" panose="02020603050405020304" pitchFamily="18" charset="0"/>
              </a:rPr>
              <a:t>=3, </a:t>
            </a:r>
            <a:r>
              <a:rPr lang="zh-CN" altLang="en-US" sz="1200" b="1" dirty="0">
                <a:solidFill>
                  <a:srgbClr val="000066"/>
                </a:solidFill>
                <a:latin typeface="宋体" panose="02010600030101010101" pitchFamily="2" charset="-122"/>
              </a:rPr>
              <a:t>命题变项为</a:t>
            </a:r>
            <a:r>
              <a:rPr lang="en-US" altLang="zh-CN" sz="1200" b="1" i="1" dirty="0">
                <a:solidFill>
                  <a:srgbClr val="000066"/>
                </a:solidFill>
                <a:cs typeface="Times New Roman" panose="02020603050405020304" pitchFamily="18" charset="0"/>
              </a:rPr>
              <a:t>p</a:t>
            </a:r>
            <a:r>
              <a:rPr lang="en-US" altLang="zh-CN" sz="1200" b="1" dirty="0">
                <a:solidFill>
                  <a:srgbClr val="000066"/>
                </a:solidFill>
                <a:cs typeface="Times New Roman" panose="02020603050405020304" pitchFamily="18" charset="0"/>
              </a:rPr>
              <a:t>, </a:t>
            </a:r>
            <a:r>
              <a:rPr lang="en-US" altLang="zh-CN" sz="1200" b="1" i="1" dirty="0">
                <a:solidFill>
                  <a:srgbClr val="000066"/>
                </a:solidFill>
                <a:cs typeface="Times New Roman" panose="02020603050405020304" pitchFamily="18" charset="0"/>
              </a:rPr>
              <a:t>q</a:t>
            </a:r>
            <a:r>
              <a:rPr lang="en-US" altLang="zh-CN" sz="1200" b="1" dirty="0">
                <a:solidFill>
                  <a:srgbClr val="000066"/>
                </a:solidFill>
                <a:cs typeface="Times New Roman" panose="02020603050405020304" pitchFamily="18" charset="0"/>
              </a:rPr>
              <a:t>, </a:t>
            </a:r>
            <a:r>
              <a:rPr lang="en-US" altLang="zh-CN" sz="1200" b="1" i="1" dirty="0">
                <a:solidFill>
                  <a:srgbClr val="000066"/>
                </a:solidFill>
                <a:cs typeface="Times New Roman" panose="02020603050405020304" pitchFamily="18" charset="0"/>
              </a:rPr>
              <a:t>r</a:t>
            </a:r>
            <a:r>
              <a:rPr lang="zh-CN" altLang="en-US" sz="1200" b="1" dirty="0">
                <a:solidFill>
                  <a:srgbClr val="000066"/>
                </a:solidFill>
                <a:latin typeface="宋体" panose="02010600030101010101" pitchFamily="2" charset="-122"/>
              </a:rPr>
              <a:t>时，</a:t>
            </a:r>
            <a:endParaRPr lang="zh-CN" altLang="en-US" sz="1200" b="1" dirty="0">
              <a:solidFill>
                <a:srgbClr val="000066"/>
              </a:solidFill>
              <a:cs typeface="Times New Roman" panose="02020603050405020304" pitchFamily="18" charset="0"/>
            </a:endParaRPr>
          </a:p>
          <a:p>
            <a:pPr algn="just" eaLnBrk="1" hangingPunct="1">
              <a:buFontTx/>
              <a:buNone/>
            </a:pPr>
            <a:r>
              <a:rPr lang="zh-CN" altLang="en-US" sz="1200" b="1" dirty="0">
                <a:solidFill>
                  <a:srgbClr val="000066"/>
                </a:solidFill>
                <a:cs typeface="Times New Roman" panose="02020603050405020304" pitchFamily="18" charset="0"/>
              </a:rPr>
              <a:t>    (</a:t>
            </a:r>
            <a:r>
              <a:rPr lang="zh-CN" altLang="en-US"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p</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dirty="0">
                <a:solidFill>
                  <a:srgbClr val="000066"/>
                </a:solidFill>
                <a:cs typeface="Times New Roman" panose="02020603050405020304" pitchFamily="18" charset="0"/>
              </a:rPr>
              <a:t>(</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p</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 </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dirty="0">
                <a:solidFill>
                  <a:srgbClr val="000066"/>
                </a:solidFill>
                <a:cs typeface="Times New Roman" panose="02020603050405020304" pitchFamily="18" charset="0"/>
              </a:rPr>
              <a:t> </a:t>
            </a:r>
            <a:r>
              <a:rPr lang="en-US" altLang="zh-CN" sz="1200" b="1" i="1" dirty="0">
                <a:solidFill>
                  <a:srgbClr val="000066"/>
                </a:solidFill>
                <a:cs typeface="Times New Roman" panose="02020603050405020304" pitchFamily="18" charset="0"/>
              </a:rPr>
              <a:t>m</a:t>
            </a:r>
            <a:r>
              <a:rPr lang="en-US" altLang="zh-CN" sz="1200" b="1" baseline="-30000" dirty="0">
                <a:solidFill>
                  <a:srgbClr val="000066"/>
                </a:solidFill>
                <a:cs typeface="Times New Roman" panose="02020603050405020304" pitchFamily="18" charset="0"/>
              </a:rPr>
              <a:t>1</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m</a:t>
            </a:r>
            <a:r>
              <a:rPr lang="en-US" altLang="zh-CN" sz="1200" b="1" baseline="-30000" dirty="0">
                <a:solidFill>
                  <a:srgbClr val="000066"/>
                </a:solidFill>
                <a:cs typeface="Times New Roman" panose="02020603050405020304" pitchFamily="18" charset="0"/>
              </a:rPr>
              <a:t>3</a:t>
            </a:r>
            <a:r>
              <a:rPr lang="en-US" altLang="zh-CN" sz="1200" b="1" dirty="0">
                <a:solidFill>
                  <a:srgbClr val="000066"/>
                </a:solidFill>
                <a:cs typeface="Times New Roman" panose="02020603050405020304" pitchFamily="18" charset="0"/>
              </a:rPr>
              <a:t> </a:t>
            </a:r>
            <a:r>
              <a:rPr lang="zh-CN" altLang="en-US" sz="1200" b="1" dirty="0">
                <a:solidFill>
                  <a:srgbClr val="000066"/>
                </a:solidFill>
              </a:rPr>
              <a:t>是</a:t>
            </a:r>
            <a:r>
              <a:rPr lang="zh-CN" altLang="en-US" sz="1200" b="1" dirty="0">
                <a:solidFill>
                  <a:srgbClr val="000066"/>
                </a:solidFill>
                <a:latin typeface="宋体" panose="02010600030101010101" pitchFamily="2" charset="-122"/>
              </a:rPr>
              <a:t>主析取范式</a:t>
            </a:r>
            <a:r>
              <a:rPr lang="zh-CN" altLang="en-US" sz="1200" b="1" dirty="0">
                <a:solidFill>
                  <a:srgbClr val="000066"/>
                </a:solidFill>
                <a:cs typeface="Times New Roman" panose="02020603050405020304" pitchFamily="18" charset="0"/>
              </a:rPr>
              <a:t> </a:t>
            </a:r>
          </a:p>
          <a:p>
            <a:pPr eaLnBrk="1" hangingPunct="1">
              <a:buFontTx/>
              <a:buNone/>
            </a:pPr>
            <a:r>
              <a:rPr lang="zh-CN" altLang="en-US" sz="1200" b="1" dirty="0">
                <a:solidFill>
                  <a:srgbClr val="000066"/>
                </a:solidFill>
                <a:cs typeface="Times New Roman" panose="02020603050405020304" pitchFamily="18" charset="0"/>
              </a:rPr>
              <a:t>    (</a:t>
            </a:r>
            <a:r>
              <a:rPr lang="en-US" altLang="zh-CN" sz="1200" b="1" i="1" dirty="0" err="1">
                <a:solidFill>
                  <a:srgbClr val="000066"/>
                </a:solidFill>
                <a:cs typeface="Times New Roman" panose="02020603050405020304" pitchFamily="18" charset="0"/>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a:solidFill>
                  <a:srgbClr val="000066"/>
                </a:solidFill>
                <a:sym typeface="Symbol" panose="05050102010706020507" pitchFamily="18" charset="2"/>
              </a:rPr>
              <a:t></a:t>
            </a:r>
            <a:r>
              <a:rPr lang="en-US" altLang="zh-CN" sz="1200" b="1" i="1" dirty="0">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a:t>
            </a:r>
            <a:r>
              <a:rPr lang="en-US" altLang="zh-CN" sz="1200" b="1" dirty="0">
                <a:solidFill>
                  <a:srgbClr val="000066"/>
                </a:solidFill>
                <a:sym typeface="Symbol" panose="05050102010706020507" pitchFamily="18" charset="2"/>
              </a:rPr>
              <a:t></a:t>
            </a:r>
            <a:r>
              <a:rPr lang="en-US" altLang="zh-CN" sz="1200" b="1" dirty="0">
                <a:solidFill>
                  <a:srgbClr val="000066"/>
                </a:solidFill>
                <a:cs typeface="Times New Roman" panose="02020603050405020304" pitchFamily="18" charset="0"/>
              </a:rPr>
              <a:t>(</a:t>
            </a:r>
            <a:r>
              <a:rPr lang="en-US" altLang="zh-CN" sz="1200" b="1" dirty="0">
                <a:solidFill>
                  <a:srgbClr val="000066"/>
                </a:solidFill>
                <a:sym typeface="Symbol" panose="05050102010706020507" pitchFamily="18" charset="2"/>
              </a:rPr>
              <a:t></a:t>
            </a:r>
            <a:r>
              <a:rPr lang="en-US" altLang="zh-CN" sz="1200" b="1" i="1" dirty="0" err="1">
                <a:solidFill>
                  <a:srgbClr val="000066"/>
                </a:solidFill>
                <a:cs typeface="Times New Roman" panose="02020603050405020304" pitchFamily="18" charset="0"/>
              </a:rPr>
              <a:t>p</a:t>
            </a:r>
            <a:r>
              <a:rPr lang="en-US" altLang="zh-CN" sz="1200" b="1" dirty="0" err="1">
                <a:solidFill>
                  <a:srgbClr val="000066"/>
                </a:solidFill>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a:solidFill>
                  <a:srgbClr val="000066"/>
                </a:solidFill>
                <a:sym typeface="Symbol" panose="05050102010706020507" pitchFamily="18" charset="2"/>
              </a:rPr>
              <a:t></a:t>
            </a:r>
            <a:r>
              <a:rPr lang="en-US" altLang="zh-CN" sz="1200" b="1" i="1" dirty="0">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 </a:t>
            </a:r>
            <a:r>
              <a:rPr lang="en-US" altLang="zh-CN" sz="1200" b="1" dirty="0">
                <a:solidFill>
                  <a:srgbClr val="000066"/>
                </a:solidFill>
                <a:sym typeface="Symbol" panose="05050102010706020507" pitchFamily="18" charset="2"/>
              </a:rPr>
              <a:t></a:t>
            </a:r>
            <a:r>
              <a:rPr lang="en-US" altLang="zh-CN" sz="1200" b="1" dirty="0">
                <a:solidFill>
                  <a:srgbClr val="000066"/>
                </a:solidFill>
                <a:cs typeface="Times New Roman" panose="02020603050405020304" pitchFamily="18" charset="0"/>
              </a:rPr>
              <a:t> </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1</a:t>
            </a:r>
            <a:r>
              <a:rPr lang="en-US" altLang="zh-CN" sz="1200" b="1" dirty="0">
                <a:solidFill>
                  <a:srgbClr val="000066"/>
                </a:solidFill>
                <a:sym typeface="Symbol" panose="05050102010706020507" pitchFamily="18" charset="2"/>
              </a:rPr>
              <a:t></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5</a:t>
            </a:r>
            <a:r>
              <a:rPr lang="en-US" altLang="zh-CN" sz="1200" b="1" baseline="-30000" dirty="0">
                <a:solidFill>
                  <a:srgbClr val="000066"/>
                </a:solidFill>
                <a:cs typeface="Times New Roman" panose="02020603050405020304" pitchFamily="18" charset="0"/>
              </a:rPr>
              <a:t>  </a:t>
            </a:r>
            <a:r>
              <a:rPr lang="zh-CN" altLang="en-US" sz="1200" b="1" dirty="0">
                <a:solidFill>
                  <a:srgbClr val="000066"/>
                </a:solidFill>
              </a:rPr>
              <a:t>是</a:t>
            </a:r>
            <a:r>
              <a:rPr lang="zh-CN" altLang="en-US" sz="1200" b="1" dirty="0">
                <a:solidFill>
                  <a:srgbClr val="000066"/>
                </a:solidFill>
                <a:latin typeface="宋体" panose="02010600030101010101" pitchFamily="2" charset="-122"/>
              </a:rPr>
              <a:t>主合取范式</a:t>
            </a:r>
          </a:p>
          <a:p>
            <a:pPr eaLnBrk="1" hangingPunct="1">
              <a:buFontTx/>
              <a:buNone/>
            </a:pPr>
            <a:endParaRPr lang="zh-CN" altLang="en-US" sz="1200" b="1" dirty="0">
              <a:solidFill>
                <a:srgbClr val="000066"/>
              </a:solidFill>
              <a:latin typeface="宋体" panose="02010600030101010101" pitchFamily="2" charset="-122"/>
            </a:endParaRPr>
          </a:p>
          <a:p>
            <a:pPr eaLnBrk="1" hangingPunct="1">
              <a:buFontTx/>
              <a:buNone/>
            </a:pPr>
            <a:r>
              <a:rPr lang="zh-CN" altLang="en-US" sz="1200" b="1" dirty="0">
                <a:solidFill>
                  <a:srgbClr val="FF0000"/>
                </a:solidFill>
                <a:latin typeface="宋体" panose="02010600030101010101" pitchFamily="2" charset="-122"/>
              </a:rPr>
              <a:t>定理</a:t>
            </a:r>
            <a:r>
              <a:rPr lang="zh-CN" altLang="en-US" sz="1200" b="1" dirty="0">
                <a:solidFill>
                  <a:srgbClr val="FF0000"/>
                </a:solidFill>
              </a:rPr>
              <a:t>2.7  </a:t>
            </a:r>
            <a:r>
              <a:rPr lang="zh-CN" altLang="en-US" sz="1200" b="1" dirty="0">
                <a:latin typeface="宋体" panose="02010600030101010101" pitchFamily="2" charset="-122"/>
              </a:rPr>
              <a:t>任何命题公式都存在着与之等值的主析取范式和主合取范式</a:t>
            </a:r>
            <a:r>
              <a:rPr lang="zh-CN" altLang="en-US" sz="1200" b="1" dirty="0">
                <a:cs typeface="Times New Roman" panose="02020603050405020304" pitchFamily="18" charset="0"/>
              </a:rPr>
              <a:t>, </a:t>
            </a:r>
            <a:r>
              <a:rPr lang="zh-CN" altLang="en-US" sz="1200" b="1" dirty="0">
                <a:latin typeface="宋体" panose="02010600030101010101" pitchFamily="2" charset="-122"/>
              </a:rPr>
              <a:t>并且是唯一的.</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62</a:t>
            </a:fld>
            <a:endParaRPr lang="zh-CN" altLang="en-US"/>
          </a:p>
        </p:txBody>
      </p:sp>
    </p:spTree>
    <p:extLst>
      <p:ext uri="{BB962C8B-B14F-4D97-AF65-F5344CB8AC3E}">
        <p14:creationId xmlns:p14="http://schemas.microsoft.com/office/powerpoint/2010/main" val="4467586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简单合取式中仅包含原子命题、原子命题的否定、</a:t>
            </a:r>
            <a:r>
              <a:rPr lang="zh-CN" altLang="en-US" b="0" i="0" dirty="0">
                <a:solidFill>
                  <a:srgbClr val="374151"/>
                </a:solidFill>
                <a:effectLst/>
                <a:latin typeface="Söhne"/>
              </a:rPr>
              <a:t>合取符</a:t>
            </a:r>
            <a:r>
              <a:rPr lang="zh-CN" altLang="en-US" b="0" i="0" dirty="0">
                <a:solidFill>
                  <a:srgbClr val="374151"/>
                </a:solidFill>
                <a:effectLst/>
                <a:latin typeface="KaTeX_Main"/>
              </a:rPr>
              <a: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等值演算法依赖的工具</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逻辑恒等式和代数操作</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使用分配律和结合律来重新排列和组合逻辑操作符和变量，使其符合主范式的结构。</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609600" indent="-609600" eaLnBrk="1" hangingPunct="1">
              <a:lnSpc>
                <a:spcPct val="90000"/>
              </a:lnSpc>
              <a:spcBef>
                <a:spcPct val="40000"/>
              </a:spcBef>
              <a:buFontTx/>
              <a:buNone/>
            </a:pPr>
            <a:r>
              <a:rPr lang="zh-CN" altLang="en-US" sz="1200" b="1" dirty="0"/>
              <a:t>设公式</a:t>
            </a:r>
            <a:r>
              <a:rPr lang="en-US" altLang="zh-CN" sz="1200" b="1" i="1" dirty="0"/>
              <a:t>A</a:t>
            </a:r>
            <a:r>
              <a:rPr lang="zh-CN" altLang="en-US" sz="1200" b="1" dirty="0"/>
              <a:t>含命题变项</a:t>
            </a:r>
            <a:r>
              <a:rPr lang="en-US" altLang="zh-CN" sz="1200" b="1" i="1" dirty="0"/>
              <a:t>p</a:t>
            </a:r>
            <a:r>
              <a:rPr lang="en-US" altLang="zh-CN" sz="1200" b="1" baseline="-25000" dirty="0"/>
              <a:t>1</a:t>
            </a:r>
            <a:r>
              <a:rPr lang="en-US" altLang="zh-CN" sz="1200" b="1" dirty="0"/>
              <a:t>,</a:t>
            </a:r>
            <a:r>
              <a:rPr lang="en-US" altLang="zh-CN" sz="1200" b="1" i="1" dirty="0"/>
              <a:t>p</a:t>
            </a:r>
            <a:r>
              <a:rPr lang="en-US" altLang="zh-CN" sz="1200" b="1" baseline="-25000" dirty="0"/>
              <a:t>2</a:t>
            </a:r>
            <a:r>
              <a:rPr lang="en-US" altLang="zh-CN" sz="1200" b="1" dirty="0"/>
              <a:t>,</a:t>
            </a:r>
            <a:r>
              <a:rPr lang="en-US" altLang="zh-CN" sz="1200" b="1" dirty="0">
                <a:cs typeface="Times New Roman" panose="02020603050405020304" pitchFamily="18" charset="0"/>
              </a:rPr>
              <a:t>…</a:t>
            </a:r>
            <a:r>
              <a:rPr lang="en-US" altLang="zh-CN" sz="1200" b="1" dirty="0"/>
              <a:t>,</a:t>
            </a:r>
            <a:r>
              <a:rPr lang="en-US" altLang="zh-CN" sz="1200" b="1" i="1" dirty="0" err="1"/>
              <a:t>p</a:t>
            </a:r>
            <a:r>
              <a:rPr lang="en-US" altLang="zh-CN" sz="1200" b="1" i="1" baseline="-25000" dirty="0" err="1"/>
              <a:t>n</a:t>
            </a:r>
            <a:endParaRPr lang="zh-CN" altLang="en-US" sz="1200" b="1" dirty="0"/>
          </a:p>
          <a:p>
            <a:pPr marL="609600" indent="-609600" eaLnBrk="1" hangingPunct="1">
              <a:lnSpc>
                <a:spcPct val="90000"/>
              </a:lnSpc>
              <a:spcBef>
                <a:spcPct val="40000"/>
              </a:spcBef>
              <a:buFontTx/>
              <a:buNone/>
            </a:pPr>
            <a:r>
              <a:rPr lang="zh-CN" altLang="en-US" sz="1200" b="1" dirty="0"/>
              <a:t>(1) 求</a:t>
            </a:r>
            <a:r>
              <a:rPr lang="en-US" altLang="zh-CN" sz="1200" b="1" i="1" dirty="0"/>
              <a:t>A</a:t>
            </a:r>
            <a:r>
              <a:rPr lang="zh-CN" altLang="en-US" sz="1200" b="1" dirty="0"/>
              <a:t>的析取范式</a:t>
            </a:r>
            <a:r>
              <a:rPr lang="en-US" altLang="zh-CN" sz="1200" b="1" i="1" dirty="0"/>
              <a:t>A</a:t>
            </a:r>
            <a:r>
              <a:rPr lang="en-US" altLang="zh-CN" sz="1200" b="1" dirty="0">
                <a:sym typeface="Symbol" panose="05050102010706020507" pitchFamily="18" charset="2"/>
              </a:rPr>
              <a:t></a:t>
            </a:r>
            <a:r>
              <a:rPr lang="en-US" altLang="zh-CN" sz="1200" b="1" i="1" dirty="0">
                <a:cs typeface="Times New Roman" panose="02020603050405020304" pitchFamily="18" charset="0"/>
              </a:rPr>
              <a:t>=B</a:t>
            </a:r>
            <a:r>
              <a:rPr lang="en-US" altLang="zh-CN" sz="1200" b="1" baseline="-25000"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B</a:t>
            </a:r>
            <a:r>
              <a:rPr lang="en-US" altLang="zh-CN" sz="1200" b="1" baseline="-25000" dirty="0">
                <a:cs typeface="Times New Roman" panose="02020603050405020304" pitchFamily="18" charset="0"/>
              </a:rPr>
              <a:t>2</a:t>
            </a:r>
            <a:r>
              <a:rPr lang="en-US" altLang="zh-CN"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B</a:t>
            </a:r>
            <a:r>
              <a:rPr lang="en-US" altLang="zh-CN" sz="1200" b="1" i="1" baseline="-25000" dirty="0">
                <a:cs typeface="Times New Roman" panose="02020603050405020304" pitchFamily="18" charset="0"/>
              </a:rPr>
              <a:t>s</a:t>
            </a:r>
            <a:r>
              <a:rPr lang="en-US" altLang="zh-CN" sz="1200" b="1" dirty="0">
                <a:cs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其中</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zh-CN" altLang="en-US" sz="1200" b="1" dirty="0">
                <a:sym typeface="Symbol" panose="05050102010706020507" pitchFamily="18" charset="2"/>
              </a:rPr>
              <a:t>是简单合取</a:t>
            </a:r>
          </a:p>
          <a:p>
            <a:pPr marL="609600" indent="-609600" eaLnBrk="1" hangingPunct="1">
              <a:lnSpc>
                <a:spcPct val="90000"/>
              </a:lnSpc>
              <a:spcBef>
                <a:spcPct val="40000"/>
              </a:spcBef>
              <a:buFontTx/>
              <a:buNone/>
            </a:pPr>
            <a:r>
              <a:rPr lang="zh-CN" altLang="en-US" sz="1200" b="1" dirty="0">
                <a:sym typeface="Symbol" panose="05050102010706020507" pitchFamily="18" charset="2"/>
              </a:rPr>
              <a:t>式 </a:t>
            </a:r>
            <a:r>
              <a:rPr lang="en-US" altLang="zh-CN" sz="1200" b="1" i="1" dirty="0">
                <a:sym typeface="Symbol" panose="05050102010706020507" pitchFamily="18" charset="2"/>
              </a:rPr>
              <a:t>j</a:t>
            </a:r>
            <a:r>
              <a:rPr lang="en-US" altLang="zh-CN" sz="1200" b="1" dirty="0">
                <a:sym typeface="Symbol" panose="05050102010706020507" pitchFamily="18" charset="2"/>
              </a:rPr>
              <a:t>=1,2, </a:t>
            </a:r>
            <a:r>
              <a:rPr lang="en-US" altLang="zh-CN" sz="1200" b="1" dirty="0">
                <a:cs typeface="Times New Roman" panose="02020603050405020304" pitchFamily="18" charset="0"/>
              </a:rPr>
              <a:t>… ,</a:t>
            </a:r>
            <a:r>
              <a:rPr lang="en-US" altLang="zh-CN" sz="1200" b="1" i="1" dirty="0">
                <a:cs typeface="Times New Roman" panose="02020603050405020304" pitchFamily="18" charset="0"/>
              </a:rPr>
              <a:t>s</a:t>
            </a:r>
            <a:r>
              <a:rPr lang="en-US" altLang="zh-CN" sz="1200" b="1" dirty="0">
                <a:cs typeface="Times New Roman" panose="02020603050405020304" pitchFamily="18" charset="0"/>
              </a:rPr>
              <a:t> </a:t>
            </a:r>
            <a:r>
              <a:rPr lang="en-US" altLang="zh-CN" sz="14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 </a:t>
            </a:r>
            <a:endParaRPr lang="en-US" altLang="zh-CN" sz="1200" b="1" dirty="0"/>
          </a:p>
          <a:p>
            <a:pPr marL="609600" indent="-609600" eaLnBrk="1" hangingPunct="1">
              <a:lnSpc>
                <a:spcPct val="90000"/>
              </a:lnSpc>
              <a:spcBef>
                <a:spcPct val="40000"/>
              </a:spcBef>
              <a:buFontTx/>
              <a:buNone/>
            </a:pPr>
            <a:r>
              <a:rPr lang="zh-CN" altLang="en-US" sz="1200" b="1" dirty="0"/>
              <a:t>(2) 若某个</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zh-CN" altLang="en-US" sz="1200" b="1" dirty="0"/>
              <a:t>既不含</a:t>
            </a:r>
            <a:r>
              <a:rPr lang="en-US" altLang="zh-CN" sz="1200" b="1" i="1" dirty="0"/>
              <a:t>p</a:t>
            </a:r>
            <a:r>
              <a:rPr lang="en-US" altLang="zh-CN" sz="1200" b="1" i="1" baseline="-25000" dirty="0"/>
              <a:t>i</a:t>
            </a:r>
            <a:r>
              <a:rPr lang="zh-CN" altLang="en-US" sz="1200" b="1" dirty="0"/>
              <a:t>, 又不含</a:t>
            </a:r>
            <a:r>
              <a:rPr lang="en-US" altLang="zh-CN" sz="1200" b="1" dirty="0">
                <a:sym typeface="Symbol" panose="05050102010706020507" pitchFamily="18" charset="2"/>
              </a:rPr>
              <a:t></a:t>
            </a:r>
            <a:r>
              <a:rPr lang="en-US" altLang="zh-CN" sz="1200" b="1" i="1" dirty="0"/>
              <a:t>p</a:t>
            </a:r>
            <a:r>
              <a:rPr lang="en-US" altLang="zh-CN" sz="1200" b="1" i="1" baseline="-25000" dirty="0"/>
              <a:t>i</a:t>
            </a:r>
            <a:r>
              <a:rPr lang="zh-CN" altLang="en-US" sz="1200" b="1" dirty="0"/>
              <a:t>, 则将</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zh-CN" altLang="en-US" sz="1200" b="1" dirty="0"/>
              <a:t>展开成</a:t>
            </a:r>
            <a:r>
              <a:rPr lang="en-US" altLang="zh-CN" sz="1200" b="1" dirty="0"/>
              <a:t> </a:t>
            </a:r>
          </a:p>
          <a:p>
            <a:pPr marL="609600" indent="-609600" eaLnBrk="1" hangingPunct="1">
              <a:lnSpc>
                <a:spcPct val="90000"/>
              </a:lnSpc>
              <a:spcBef>
                <a:spcPct val="40000"/>
              </a:spcBef>
              <a:buFontTx/>
              <a:buNone/>
            </a:pPr>
            <a:r>
              <a:rPr lang="en-US" altLang="zh-CN" sz="1200" b="1" i="1" dirty="0">
                <a:cs typeface="Times New Roman" panose="02020603050405020304" pitchFamily="18" charset="0"/>
              </a:rPr>
              <a:t>          </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a:sym typeface="Symbol" panose="05050102010706020507" pitchFamily="18" charset="2"/>
              </a:rPr>
              <a:t>  </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a:t>p</a:t>
            </a:r>
            <a:r>
              <a:rPr lang="en-US" altLang="zh-CN" sz="1200" b="1" i="1" baseline="-25000" dirty="0"/>
              <a:t>i</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a:t>p</a:t>
            </a:r>
            <a:r>
              <a:rPr lang="en-US" altLang="zh-CN" sz="1200" b="1" i="1" baseline="-25000" dirty="0"/>
              <a:t>i</a:t>
            </a:r>
            <a:r>
              <a:rPr lang="en-US" altLang="zh-CN" sz="1200" b="1" dirty="0">
                <a:sym typeface="Symbol" panose="05050102010706020507" pitchFamily="18" charset="2"/>
              </a:rPr>
              <a:t>)  (</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err="1">
                <a:cs typeface="Times New Roman" panose="02020603050405020304" pitchFamily="18" charset="0"/>
                <a:sym typeface="Symbol" panose="05050102010706020507" pitchFamily="18" charset="2"/>
              </a:rPr>
              <a:t></a:t>
            </a:r>
            <a:r>
              <a:rPr lang="en-US" altLang="zh-CN" sz="1200" b="1" i="1" dirty="0" err="1"/>
              <a:t>p</a:t>
            </a:r>
            <a:r>
              <a:rPr lang="en-US" altLang="zh-CN" sz="1200" b="1" i="1" baseline="-25000" dirty="0" err="1"/>
              <a:t>i</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a:t>p</a:t>
            </a:r>
            <a:r>
              <a:rPr lang="en-US" altLang="zh-CN" sz="1200" b="1" i="1" baseline="-25000" dirty="0"/>
              <a:t>i</a:t>
            </a:r>
            <a:r>
              <a:rPr lang="en-US" altLang="zh-CN" sz="1200" b="1" dirty="0">
                <a:sym typeface="Symbol" panose="05050102010706020507" pitchFamily="18" charset="2"/>
              </a:rPr>
              <a:t>)</a:t>
            </a:r>
          </a:p>
          <a:p>
            <a:pPr marL="609600" indent="-609600" eaLnBrk="1" hangingPunct="1">
              <a:lnSpc>
                <a:spcPct val="90000"/>
              </a:lnSpc>
              <a:spcBef>
                <a:spcPct val="40000"/>
              </a:spcBef>
              <a:buFontTx/>
              <a:buNone/>
            </a:pPr>
            <a:r>
              <a:rPr lang="zh-CN" altLang="en-US" sz="1200" b="1" dirty="0">
                <a:sym typeface="Symbol" panose="05050102010706020507" pitchFamily="18" charset="2"/>
              </a:rPr>
              <a:t>重复这个过程, 直到所有简单合取式都是长度为</a:t>
            </a:r>
            <a:r>
              <a:rPr lang="en-US" altLang="zh-CN" sz="1200" b="1" i="1" dirty="0">
                <a:sym typeface="Symbol" panose="05050102010706020507" pitchFamily="18" charset="2"/>
              </a:rPr>
              <a:t>n</a:t>
            </a:r>
            <a:r>
              <a:rPr lang="zh-CN" altLang="en-US" sz="1200" b="1" dirty="0">
                <a:sym typeface="Symbol" panose="05050102010706020507" pitchFamily="18" charset="2"/>
              </a:rPr>
              <a:t>的极小</a:t>
            </a:r>
          </a:p>
          <a:p>
            <a:pPr marL="609600" indent="-609600" eaLnBrk="1" hangingPunct="1">
              <a:lnSpc>
                <a:spcPct val="90000"/>
              </a:lnSpc>
              <a:spcBef>
                <a:spcPct val="40000"/>
              </a:spcBef>
              <a:buFontTx/>
              <a:buNone/>
            </a:pPr>
            <a:r>
              <a:rPr lang="zh-CN" altLang="en-US" sz="1200" b="1" dirty="0">
                <a:sym typeface="Symbol" panose="05050102010706020507" pitchFamily="18" charset="2"/>
              </a:rPr>
              <a:t>项为止</a:t>
            </a:r>
            <a:endParaRPr lang="zh-CN" altLang="en-US" sz="1200" b="1" dirty="0"/>
          </a:p>
          <a:p>
            <a:pPr marL="609600" indent="-609600" eaLnBrk="1" hangingPunct="1">
              <a:lnSpc>
                <a:spcPct val="90000"/>
              </a:lnSpc>
              <a:spcBef>
                <a:spcPct val="40000"/>
              </a:spcBef>
              <a:buFontTx/>
              <a:buNone/>
            </a:pPr>
            <a:r>
              <a:rPr lang="zh-CN" altLang="en-US" sz="1200" b="1" dirty="0"/>
              <a:t>(3) 消去重复出现的极小项, 即用</a:t>
            </a:r>
            <a:r>
              <a:rPr lang="en-US" altLang="zh-CN" sz="1200" b="1" i="1" dirty="0"/>
              <a:t>m</a:t>
            </a:r>
            <a:r>
              <a:rPr lang="en-US" altLang="zh-CN" sz="1200" b="1" i="1" baseline="-25000" dirty="0"/>
              <a:t>i</a:t>
            </a:r>
            <a:r>
              <a:rPr lang="zh-CN" altLang="en-US" sz="1200" b="1" dirty="0"/>
              <a:t>代替</a:t>
            </a:r>
            <a:r>
              <a:rPr lang="en-US" altLang="zh-CN" sz="1200" b="1" i="1" dirty="0" err="1"/>
              <a:t>m</a:t>
            </a:r>
            <a:r>
              <a:rPr lang="en-US" altLang="zh-CN" sz="1200" b="1" i="1" baseline="-25000" dirty="0" err="1"/>
              <a:t>i</a:t>
            </a:r>
            <a:r>
              <a:rPr lang="en-US" altLang="zh-CN" sz="1200" b="1" dirty="0" err="1">
                <a:cs typeface="Times New Roman" panose="02020603050405020304" pitchFamily="18" charset="0"/>
                <a:sym typeface="Symbol" panose="05050102010706020507" pitchFamily="18" charset="2"/>
              </a:rPr>
              <a:t></a:t>
            </a:r>
            <a:r>
              <a:rPr lang="en-US" altLang="zh-CN" sz="1200" b="1" i="1" dirty="0" err="1"/>
              <a:t>m</a:t>
            </a:r>
            <a:r>
              <a:rPr lang="en-US" altLang="zh-CN" sz="1200" b="1" i="1" baseline="-25000" dirty="0" err="1"/>
              <a:t>i</a:t>
            </a:r>
            <a:endParaRPr lang="zh-CN" altLang="en-US" sz="1200" b="1" dirty="0"/>
          </a:p>
          <a:p>
            <a:pPr marL="609600" indent="-609600" eaLnBrk="1" hangingPunct="1">
              <a:lnSpc>
                <a:spcPct val="90000"/>
              </a:lnSpc>
              <a:spcBef>
                <a:spcPct val="40000"/>
              </a:spcBef>
              <a:buFontTx/>
              <a:buNone/>
            </a:pPr>
            <a:r>
              <a:rPr lang="zh-CN" altLang="en-US" sz="1200" b="1" dirty="0"/>
              <a:t>(4) 将极小项按下标从小到大排列</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63</a:t>
            </a:fld>
            <a:endParaRPr lang="zh-CN" altLang="en-US"/>
          </a:p>
        </p:txBody>
      </p:sp>
    </p:spTree>
    <p:extLst>
      <p:ext uri="{BB962C8B-B14F-4D97-AF65-F5344CB8AC3E}">
        <p14:creationId xmlns:p14="http://schemas.microsoft.com/office/powerpoint/2010/main" val="30269988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简单析取式中仅包含原子命题、原子命题的否定、</a:t>
            </a:r>
            <a:r>
              <a:rPr lang="zh-CN" altLang="en-US" b="0" i="0" dirty="0">
                <a:solidFill>
                  <a:srgbClr val="374151"/>
                </a:solidFill>
                <a:effectLst/>
                <a:latin typeface="Söhne"/>
              </a:rPr>
              <a:t>析取符</a:t>
            </a:r>
            <a:r>
              <a:rPr lang="zh-CN" altLang="en-US" b="0" i="0" dirty="0">
                <a:solidFill>
                  <a:srgbClr val="374151"/>
                </a:solidFill>
                <a:effectLst/>
                <a:latin typeface="KaTeX_Main"/>
              </a:rPr>
              <a:t>∨</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等值演算法依赖的工具</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逻辑恒等式和代数操作</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使用分配律和结合律来重新排列和组合逻辑操作符和变量，使其符合主范式的结构。</a:t>
            </a:r>
            <a:endParaRPr lang="en-US" altLang="zh-CN" sz="1200" kern="1200" dirty="0">
              <a:solidFill>
                <a:schemeClr val="tx1"/>
              </a:solidFill>
              <a:latin typeface="+mn-lt"/>
              <a:ea typeface="+mn-ea"/>
              <a:cs typeface="+mn-cs"/>
            </a:endParaRPr>
          </a:p>
          <a:p>
            <a:pPr eaLnBrk="1" hangingPunct="1">
              <a:spcBef>
                <a:spcPct val="40000"/>
              </a:spcBef>
              <a:buFontTx/>
              <a:buNone/>
            </a:pPr>
            <a:r>
              <a:rPr lang="zh-CN" altLang="en-US" sz="1200" b="1" dirty="0"/>
              <a:t>设公式</a:t>
            </a:r>
            <a:r>
              <a:rPr lang="en-US" altLang="zh-CN" sz="1200" b="1" i="1" dirty="0"/>
              <a:t>A</a:t>
            </a:r>
            <a:r>
              <a:rPr lang="zh-CN" altLang="en-US" sz="1200" b="1" dirty="0"/>
              <a:t>含命题变项</a:t>
            </a:r>
            <a:r>
              <a:rPr lang="en-US" altLang="zh-CN" sz="1200" b="1" i="1" dirty="0"/>
              <a:t>p</a:t>
            </a:r>
            <a:r>
              <a:rPr lang="en-US" altLang="zh-CN" sz="1200" b="1" baseline="-25000" dirty="0"/>
              <a:t>1</a:t>
            </a:r>
            <a:r>
              <a:rPr lang="en-US" altLang="zh-CN" sz="1200" b="1" dirty="0"/>
              <a:t>,</a:t>
            </a:r>
            <a:r>
              <a:rPr lang="en-US" altLang="zh-CN" sz="1200" b="1" i="1" dirty="0"/>
              <a:t>p</a:t>
            </a:r>
            <a:r>
              <a:rPr lang="en-US" altLang="zh-CN" sz="1200" b="1" baseline="-25000" dirty="0"/>
              <a:t>2</a:t>
            </a:r>
            <a:r>
              <a:rPr lang="en-US" altLang="zh-CN" sz="1200" b="1" dirty="0"/>
              <a:t>,</a:t>
            </a:r>
            <a:r>
              <a:rPr lang="en-US" altLang="zh-CN" sz="1200" b="1" dirty="0">
                <a:cs typeface="Times New Roman" panose="02020603050405020304" pitchFamily="18" charset="0"/>
              </a:rPr>
              <a:t>…</a:t>
            </a:r>
            <a:r>
              <a:rPr lang="en-US" altLang="zh-CN" sz="1200" b="1" dirty="0"/>
              <a:t>,</a:t>
            </a:r>
            <a:r>
              <a:rPr lang="en-US" altLang="zh-CN" sz="1200" b="1" i="1" dirty="0" err="1"/>
              <a:t>p</a:t>
            </a:r>
            <a:r>
              <a:rPr lang="en-US" altLang="zh-CN" sz="1200" b="1" i="1" baseline="-25000" dirty="0" err="1"/>
              <a:t>n</a:t>
            </a:r>
            <a:endParaRPr lang="zh-CN" altLang="en-US" sz="1200" b="1" dirty="0"/>
          </a:p>
          <a:p>
            <a:pPr eaLnBrk="1" hangingPunct="1">
              <a:spcBef>
                <a:spcPct val="40000"/>
              </a:spcBef>
              <a:buFontTx/>
              <a:buNone/>
            </a:pPr>
            <a:r>
              <a:rPr lang="zh-CN" altLang="en-US" sz="1200" b="1" dirty="0"/>
              <a:t>(1) 求</a:t>
            </a:r>
            <a:r>
              <a:rPr lang="en-US" altLang="zh-CN" sz="1200" b="1" i="1" dirty="0"/>
              <a:t>A</a:t>
            </a:r>
            <a:r>
              <a:rPr lang="zh-CN" altLang="en-US" sz="1200" b="1" dirty="0"/>
              <a:t>的合取范式</a:t>
            </a:r>
            <a:r>
              <a:rPr lang="en-US" altLang="zh-CN" sz="1200" b="1" i="1" dirty="0"/>
              <a:t>A</a:t>
            </a:r>
            <a:r>
              <a:rPr lang="en-US" altLang="zh-CN" sz="1200" b="1" dirty="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rPr>
              <a:t>B</a:t>
            </a:r>
            <a:r>
              <a:rPr lang="en-US" altLang="zh-CN" sz="1200" b="1" baseline="-25000"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baseline="-25000" dirty="0">
                <a:cs typeface="Times New Roman" panose="02020603050405020304" pitchFamily="18" charset="0"/>
              </a:rPr>
              <a:t>2</a:t>
            </a:r>
            <a:r>
              <a:rPr lang="en-US" altLang="zh-CN"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i="1" baseline="-25000" dirty="0">
                <a:cs typeface="Times New Roman" panose="02020603050405020304" pitchFamily="18" charset="0"/>
              </a:rPr>
              <a:t>s</a:t>
            </a:r>
            <a:r>
              <a:rPr lang="en-US" altLang="zh-CN" sz="1200" b="1" dirty="0">
                <a:cs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其中</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zh-CN" altLang="en-US" sz="1200" b="1" dirty="0">
                <a:sym typeface="Symbol" panose="05050102010706020507" pitchFamily="18" charset="2"/>
              </a:rPr>
              <a:t>是简单析取</a:t>
            </a:r>
          </a:p>
          <a:p>
            <a:pPr eaLnBrk="1" hangingPunct="1">
              <a:spcBef>
                <a:spcPct val="40000"/>
              </a:spcBef>
              <a:buFontTx/>
              <a:buNone/>
            </a:pPr>
            <a:r>
              <a:rPr lang="zh-CN" altLang="en-US" sz="1200" b="1" dirty="0">
                <a:sym typeface="Symbol" panose="05050102010706020507" pitchFamily="18" charset="2"/>
              </a:rPr>
              <a:t>式 </a:t>
            </a:r>
            <a:r>
              <a:rPr lang="en-US" altLang="zh-CN" sz="1200" b="1" i="1" dirty="0">
                <a:sym typeface="Symbol" panose="05050102010706020507" pitchFamily="18" charset="2"/>
              </a:rPr>
              <a:t>j</a:t>
            </a:r>
            <a:r>
              <a:rPr lang="en-US" altLang="zh-CN" sz="1200" b="1" dirty="0">
                <a:sym typeface="Symbol" panose="05050102010706020507" pitchFamily="18" charset="2"/>
              </a:rPr>
              <a:t>=1,2, </a:t>
            </a:r>
            <a:r>
              <a:rPr lang="en-US" altLang="zh-CN" sz="1200" b="1" dirty="0">
                <a:cs typeface="Times New Roman" panose="02020603050405020304" pitchFamily="18" charset="0"/>
              </a:rPr>
              <a:t>… ,</a:t>
            </a:r>
            <a:r>
              <a:rPr lang="en-US" altLang="zh-CN" sz="1200" b="1" i="1" dirty="0">
                <a:cs typeface="Times New Roman" panose="02020603050405020304" pitchFamily="18" charset="0"/>
              </a:rPr>
              <a:t>s</a:t>
            </a:r>
            <a:r>
              <a:rPr lang="en-US" altLang="zh-CN" sz="1200" b="1" dirty="0">
                <a:cs typeface="Times New Roman" panose="02020603050405020304" pitchFamily="18" charset="0"/>
              </a:rPr>
              <a:t> </a:t>
            </a:r>
            <a:r>
              <a:rPr lang="en-US" altLang="zh-CN" sz="1400" b="1" dirty="0">
                <a:cs typeface="Times New Roman" panose="02020603050405020304" pitchFamily="18" charset="0"/>
              </a:rPr>
              <a:t>  </a:t>
            </a:r>
            <a:r>
              <a:rPr lang="en-US" altLang="zh-CN" sz="1200" b="1" dirty="0">
                <a:cs typeface="Times New Roman" panose="02020603050405020304" pitchFamily="18" charset="0"/>
                <a:sym typeface="Symbol" panose="05050102010706020507" pitchFamily="18" charset="2"/>
              </a:rPr>
              <a:t> </a:t>
            </a:r>
            <a:endParaRPr lang="en-US" altLang="zh-CN" sz="1200" b="1" dirty="0"/>
          </a:p>
          <a:p>
            <a:pPr eaLnBrk="1" hangingPunct="1">
              <a:spcBef>
                <a:spcPct val="40000"/>
              </a:spcBef>
              <a:buFontTx/>
              <a:buNone/>
            </a:pPr>
            <a:r>
              <a:rPr lang="zh-CN" altLang="en-US" sz="1200" b="1" dirty="0"/>
              <a:t>(2) 若某个</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zh-CN" altLang="en-US" sz="1200" b="1" dirty="0"/>
              <a:t>既不含</a:t>
            </a:r>
            <a:r>
              <a:rPr lang="en-US" altLang="zh-CN" sz="1200" b="1" i="1" dirty="0"/>
              <a:t>p</a:t>
            </a:r>
            <a:r>
              <a:rPr lang="en-US" altLang="zh-CN" sz="1200" b="1" i="1" baseline="-25000" dirty="0"/>
              <a:t>i</a:t>
            </a:r>
            <a:r>
              <a:rPr lang="zh-CN" altLang="en-US" sz="1200" b="1" dirty="0"/>
              <a:t>, 又不含</a:t>
            </a:r>
            <a:r>
              <a:rPr lang="en-US" altLang="zh-CN" sz="1200" b="1" dirty="0">
                <a:sym typeface="Symbol" panose="05050102010706020507" pitchFamily="18" charset="2"/>
              </a:rPr>
              <a:t></a:t>
            </a:r>
            <a:r>
              <a:rPr lang="en-US" altLang="zh-CN" sz="1200" b="1" i="1" dirty="0"/>
              <a:t>p</a:t>
            </a:r>
            <a:r>
              <a:rPr lang="en-US" altLang="zh-CN" sz="1200" b="1" i="1" baseline="-25000" dirty="0"/>
              <a:t>i</a:t>
            </a:r>
            <a:r>
              <a:rPr lang="zh-CN" altLang="en-US" sz="1200" b="1" dirty="0"/>
              <a:t>, 则将</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zh-CN" altLang="en-US" sz="1200" b="1" dirty="0"/>
              <a:t>展开成</a:t>
            </a:r>
            <a:r>
              <a:rPr lang="en-US" altLang="zh-CN" sz="1200" b="1" dirty="0"/>
              <a:t> </a:t>
            </a:r>
          </a:p>
          <a:p>
            <a:pPr eaLnBrk="1" hangingPunct="1">
              <a:spcBef>
                <a:spcPct val="40000"/>
              </a:spcBef>
              <a:buFontTx/>
              <a:buNone/>
            </a:pPr>
            <a:r>
              <a:rPr lang="en-US" altLang="zh-CN" sz="1200" b="1" i="1" dirty="0">
                <a:cs typeface="Times New Roman" panose="02020603050405020304" pitchFamily="18" charset="0"/>
              </a:rPr>
              <a:t>          </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a:sym typeface="Symbol" panose="05050102010706020507" pitchFamily="18" charset="2"/>
              </a:rPr>
              <a:t>  </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a:t>p</a:t>
            </a:r>
            <a:r>
              <a:rPr lang="en-US" altLang="zh-CN" sz="1200" b="1" i="1" baseline="-25000" dirty="0"/>
              <a:t>i</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a:t>p</a:t>
            </a:r>
            <a:r>
              <a:rPr lang="en-US" altLang="zh-CN" sz="1200" b="1" i="1" baseline="-25000" dirty="0"/>
              <a:t>i</a:t>
            </a:r>
            <a:r>
              <a:rPr lang="en-US" altLang="zh-CN" sz="1200" b="1" dirty="0">
                <a:sym typeface="Symbol" panose="05050102010706020507" pitchFamily="18" charset="2"/>
              </a:rPr>
              <a:t>)  (</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err="1">
                <a:cs typeface="Times New Roman" panose="02020603050405020304" pitchFamily="18" charset="0"/>
                <a:sym typeface="Symbol" panose="05050102010706020507" pitchFamily="18" charset="2"/>
              </a:rPr>
              <a:t></a:t>
            </a:r>
            <a:r>
              <a:rPr lang="en-US" altLang="zh-CN" sz="1200" b="1" i="1" dirty="0" err="1"/>
              <a:t>p</a:t>
            </a:r>
            <a:r>
              <a:rPr lang="en-US" altLang="zh-CN" sz="1200" b="1" i="1" baseline="-25000" dirty="0" err="1"/>
              <a:t>i</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err="1">
                <a:cs typeface="Times New Roman" panose="02020603050405020304" pitchFamily="18" charset="0"/>
              </a:rPr>
              <a:t>B</a:t>
            </a:r>
            <a:r>
              <a:rPr lang="en-US" altLang="zh-CN" sz="1200" b="1" i="1" baseline="-25000" dirty="0" err="1">
                <a:cs typeface="Times New Roman" panose="02020603050405020304" pitchFamily="18" charset="0"/>
              </a:rPr>
              <a:t>j</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i="1" dirty="0"/>
              <a:t>p</a:t>
            </a:r>
            <a:r>
              <a:rPr lang="en-US" altLang="zh-CN" sz="1200" b="1" i="1" baseline="-25000" dirty="0"/>
              <a:t>i</a:t>
            </a:r>
            <a:r>
              <a:rPr lang="en-US" altLang="zh-CN" sz="1200" b="1" dirty="0">
                <a:sym typeface="Symbol" panose="05050102010706020507" pitchFamily="18" charset="2"/>
              </a:rPr>
              <a:t>)</a:t>
            </a:r>
          </a:p>
          <a:p>
            <a:pPr eaLnBrk="1" hangingPunct="1">
              <a:spcBef>
                <a:spcPct val="40000"/>
              </a:spcBef>
              <a:buFontTx/>
              <a:buNone/>
            </a:pPr>
            <a:r>
              <a:rPr lang="zh-CN" altLang="en-US" sz="1200" b="1" dirty="0">
                <a:sym typeface="Symbol" panose="05050102010706020507" pitchFamily="18" charset="2"/>
              </a:rPr>
              <a:t>重复这个过程, 直到所有简单析取式都是长度为</a:t>
            </a:r>
            <a:r>
              <a:rPr lang="en-US" altLang="zh-CN" sz="1200" b="1" i="1" dirty="0">
                <a:sym typeface="Symbol" panose="05050102010706020507" pitchFamily="18" charset="2"/>
              </a:rPr>
              <a:t>n</a:t>
            </a:r>
            <a:r>
              <a:rPr lang="zh-CN" altLang="en-US" sz="1200" b="1" dirty="0">
                <a:sym typeface="Symbol" panose="05050102010706020507" pitchFamily="18" charset="2"/>
              </a:rPr>
              <a:t>的极大</a:t>
            </a:r>
          </a:p>
          <a:p>
            <a:pPr eaLnBrk="1" hangingPunct="1">
              <a:spcBef>
                <a:spcPct val="40000"/>
              </a:spcBef>
              <a:buFontTx/>
              <a:buNone/>
            </a:pPr>
            <a:r>
              <a:rPr lang="zh-CN" altLang="en-US" sz="1200" b="1" dirty="0">
                <a:sym typeface="Symbol" panose="05050102010706020507" pitchFamily="18" charset="2"/>
              </a:rPr>
              <a:t>项为止</a:t>
            </a:r>
            <a:endParaRPr lang="zh-CN" altLang="en-US" sz="1200" b="1" dirty="0"/>
          </a:p>
          <a:p>
            <a:pPr eaLnBrk="1" hangingPunct="1">
              <a:spcBef>
                <a:spcPct val="40000"/>
              </a:spcBef>
              <a:buFontTx/>
              <a:buNone/>
            </a:pPr>
            <a:r>
              <a:rPr lang="zh-CN" altLang="en-US" sz="1200" b="1" dirty="0"/>
              <a:t>(3) 消去重复出现的极大项, 即用</a:t>
            </a:r>
            <a:r>
              <a:rPr lang="en-US" altLang="zh-CN" sz="1200" b="1" i="1" dirty="0"/>
              <a:t>M</a:t>
            </a:r>
            <a:r>
              <a:rPr lang="en-US" altLang="zh-CN" sz="1200" b="1" i="1" baseline="-25000" dirty="0"/>
              <a:t>i</a:t>
            </a:r>
            <a:r>
              <a:rPr lang="zh-CN" altLang="en-US" sz="1200" b="1" dirty="0"/>
              <a:t>代替</a:t>
            </a:r>
            <a:r>
              <a:rPr lang="en-US" altLang="zh-CN" sz="1200" b="1" i="1" dirty="0" err="1"/>
              <a:t>M</a:t>
            </a:r>
            <a:r>
              <a:rPr lang="en-US" altLang="zh-CN" sz="1200" b="1" i="1" baseline="-25000" dirty="0" err="1"/>
              <a:t>i</a:t>
            </a:r>
            <a:r>
              <a:rPr lang="en-US" altLang="zh-CN" sz="1200" b="1" dirty="0" err="1">
                <a:cs typeface="Times New Roman" panose="02020603050405020304" pitchFamily="18" charset="0"/>
                <a:sym typeface="Symbol" panose="05050102010706020507" pitchFamily="18" charset="2"/>
              </a:rPr>
              <a:t></a:t>
            </a:r>
            <a:r>
              <a:rPr lang="en-US" altLang="zh-CN" sz="1200" b="1" i="1" dirty="0" err="1"/>
              <a:t>M</a:t>
            </a:r>
            <a:r>
              <a:rPr lang="en-US" altLang="zh-CN" sz="1200" b="1" i="1" baseline="-25000" dirty="0" err="1"/>
              <a:t>i</a:t>
            </a:r>
            <a:endParaRPr lang="zh-CN" altLang="en-US" sz="1200" b="1" dirty="0"/>
          </a:p>
          <a:p>
            <a:pPr eaLnBrk="1" hangingPunct="1">
              <a:spcBef>
                <a:spcPct val="40000"/>
              </a:spcBef>
              <a:buFontTx/>
              <a:buNone/>
            </a:pPr>
            <a:r>
              <a:rPr lang="zh-CN" altLang="en-US" sz="1200" b="1" dirty="0"/>
              <a:t>(4) 将极大项按下标从小到大排列</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64</a:t>
            </a:fld>
            <a:endParaRPr lang="zh-CN" altLang="en-US"/>
          </a:p>
        </p:txBody>
      </p:sp>
    </p:spTree>
    <p:extLst>
      <p:ext uri="{BB962C8B-B14F-4D97-AF65-F5344CB8AC3E}">
        <p14:creationId xmlns:p14="http://schemas.microsoft.com/office/powerpoint/2010/main" val="30330262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）将</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 </a:t>
            </a:r>
            <a:r>
              <a:rPr lang="zh-CN" altLang="en-US" b="1" dirty="0">
                <a:cs typeface="Times New Roman" panose="02020603050405020304" pitchFamily="18" charset="0"/>
              </a:rPr>
              <a:t>变换成简单合取式，用藴含等值式</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zh-CN" altLang="en-US" b="1" i="1" dirty="0">
                <a:cs typeface="Times New Roman" panose="02020603050405020304" pitchFamily="18" charset="0"/>
              </a:rPr>
              <a:t>，德摩根定理 </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zh-CN" altLang="en-US" b="1" dirty="0">
                <a:cs typeface="Times New Roman" panose="02020603050405020304" pitchFamily="18" charset="0"/>
                <a:sym typeface="Symbol" panose="05050102010706020507" pitchFamily="18" charset="2"/>
              </a:rPr>
              <a:t> </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a:t>
            </a:r>
            <a:r>
              <a:rPr lang="zh-CN" altLang="en-US" b="1" dirty="0">
                <a:cs typeface="Times New Roman" panose="02020603050405020304" pitchFamily="18" charset="0"/>
                <a:sym typeface="Symbol" panose="05050102010706020507" pitchFamily="18" charset="2"/>
              </a:rPr>
              <a:t> </a:t>
            </a:r>
            <a:endParaRPr lang="en-US" altLang="zh-CN" b="1" dirty="0">
              <a:cs typeface="Times New Roman" panose="02020603050405020304" pitchFamily="18" charset="0"/>
              <a:sym typeface="Symbol" panose="05050102010706020507" pitchFamily="18" charset="2"/>
            </a:endParaRPr>
          </a:p>
          <a:p>
            <a:endParaRPr lang="en-US" altLang="zh-CN" b="1" dirty="0">
              <a:cs typeface="Times New Roman" panose="02020603050405020304" pitchFamily="18" charset="0"/>
              <a:sym typeface="Symbol" panose="05050102010706020507" pitchFamily="18" charset="2"/>
            </a:endParaRPr>
          </a:p>
          <a:p>
            <a:pPr algn="just" eaLnBrk="1" hangingPunct="1">
              <a:buFontTx/>
              <a:buNone/>
            </a:pPr>
            <a:r>
              <a:rPr lang="zh-CN" altLang="en-US" b="1" dirty="0">
                <a:solidFill>
                  <a:srgbClr val="00B0F0"/>
                </a:solidFill>
                <a:latin typeface="宋体" panose="02010600030101010101" pitchFamily="2" charset="-122"/>
              </a:rPr>
              <a:t>例：</a:t>
            </a:r>
            <a:r>
              <a:rPr lang="zh-CN" altLang="en-US" b="1" dirty="0">
                <a:latin typeface="宋体" panose="02010600030101010101" pitchFamily="2" charset="-122"/>
              </a:rPr>
              <a:t>求</a:t>
            </a:r>
            <a:r>
              <a:rPr lang="en-US" altLang="zh-CN"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zh-CN" altLang="en-US" b="1" dirty="0">
                <a:latin typeface="宋体" panose="02010600030101010101" pitchFamily="2" charset="-122"/>
              </a:rPr>
              <a:t>的主析取范式与合取范式</a:t>
            </a:r>
            <a:endParaRPr lang="en-US" altLang="zh-CN" b="1" dirty="0">
              <a:latin typeface="宋体" panose="02010600030101010101" pitchFamily="2" charset="-122"/>
            </a:endParaRPr>
          </a:p>
          <a:p>
            <a:pPr algn="just" eaLnBrk="1" hangingPunct="1">
              <a:buFontTx/>
              <a:buNone/>
            </a:pPr>
            <a:r>
              <a:rPr lang="zh-CN" altLang="en-US" b="1" dirty="0">
                <a:solidFill>
                  <a:srgbClr val="00B0F0"/>
                </a:solidFill>
                <a:latin typeface="宋体" panose="02010600030101010101" pitchFamily="2" charset="-122"/>
              </a:rPr>
              <a:t>解</a:t>
            </a:r>
            <a:r>
              <a:rPr lang="en-US" altLang="zh-CN" b="1" dirty="0">
                <a:solidFill>
                  <a:srgbClr val="00B0F0"/>
                </a:solidFill>
                <a:latin typeface="宋体" panose="02010600030101010101" pitchFamily="2" charset="-122"/>
              </a:rPr>
              <a:t>(1)</a:t>
            </a:r>
            <a:r>
              <a:rPr lang="zh-CN" altLang="en-US" b="1" dirty="0">
                <a:solidFill>
                  <a:srgbClr val="00B0F0"/>
                </a:solidFill>
                <a:latin typeface="宋体" panose="02010600030101010101" pitchFamily="2" charset="-122"/>
                <a:sym typeface="Wingdings" panose="05000000000000000000" pitchFamily="2" charset="2"/>
              </a:rPr>
              <a:t>：</a:t>
            </a:r>
            <a:r>
              <a:rPr lang="zh-CN" altLang="en-US" b="1" dirty="0">
                <a:cs typeface="Times New Roman" panose="02020603050405020304" pitchFamily="18" charset="0"/>
                <a:sym typeface="Wingdings" panose="05000000000000000000" pitchFamily="2" charset="2"/>
              </a:rPr>
              <a:t>求主析取范式（极小项）</a:t>
            </a:r>
            <a:endParaRPr lang="en-US" altLang="zh-CN" b="1" dirty="0">
              <a:cs typeface="Times New Roman" panose="02020603050405020304" pitchFamily="18" charset="0"/>
            </a:endParaRPr>
          </a:p>
          <a:p>
            <a:pPr algn="just">
              <a:buNone/>
            </a:pPr>
            <a:r>
              <a:rPr lang="en-US" altLang="zh-CN" b="1" dirty="0">
                <a:latin typeface="宋体" panose="02010600030101010101" pitchFamily="2" charset="-122"/>
              </a:rPr>
              <a:t>  </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zh-CN" altLang="en-US" b="1" dirty="0">
                <a:cs typeface="Times New Roman" panose="02020603050405020304" pitchFamily="18" charset="0"/>
              </a:rPr>
              <a:t>藴含等值式、德摩根定理 </a:t>
            </a:r>
            <a:endParaRPr lang="zh-CN" altLang="en-US" b="1" dirty="0"/>
          </a:p>
          <a:p>
            <a:pPr algn="just" eaLnBrk="1" hangingPunct="1">
              <a:buFontTx/>
              <a:buNone/>
            </a:pPr>
            <a:r>
              <a:rPr lang="zh-CN" altLang="en-US" b="1" dirty="0">
                <a:cs typeface="Times New Roman" panose="02020603050405020304" pitchFamily="18" charset="0"/>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 </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1                                  </a:t>
            </a:r>
            <a:r>
              <a:rPr lang="zh-CN" altLang="en-US" b="1" dirty="0">
                <a:sym typeface="Symbol" panose="05050102010706020507" pitchFamily="18" charset="2"/>
              </a:rPr>
              <a:t>同一律</a:t>
            </a:r>
            <a:endParaRPr lang="zh-CN" altLang="en-US" b="1" dirty="0"/>
          </a:p>
          <a:p>
            <a:pPr algn="just" eaLnBrk="1" hangingPunct="1">
              <a:buFontTx/>
              <a:buNone/>
            </a:pPr>
            <a:r>
              <a:rPr lang="zh-CN" altLang="en-US" b="1" dirty="0">
                <a:cs typeface="Times New Roman" panose="02020603050405020304" pitchFamily="18" charset="0"/>
                <a:sym typeface="Symbol" panose="05050102010706020507" pitchFamily="18" charset="2"/>
              </a:rPr>
              <a:t>                </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en-US" altLang="zh-CN" b="1" dirty="0">
                <a:cs typeface="Times New Roman" panose="02020603050405020304" pitchFamily="18" charset="0"/>
              </a:rPr>
              <a:t>)                          </a:t>
            </a:r>
            <a:r>
              <a:rPr lang="zh-CN" altLang="en-US" b="1" dirty="0"/>
              <a:t>排中律</a:t>
            </a:r>
          </a:p>
          <a:p>
            <a:pPr algn="just" eaLnBrk="1" hangingPunct="1">
              <a:buFontTx/>
              <a:buNone/>
            </a:pPr>
            <a:r>
              <a:rPr lang="zh-CN" altLang="en-US"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 </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en-US" altLang="zh-CN" b="1" dirty="0">
                <a:cs typeface="Times New Roman" panose="02020603050405020304" pitchFamily="18" charset="0"/>
              </a:rPr>
              <a:t>)             </a:t>
            </a:r>
            <a:r>
              <a:rPr lang="zh-CN" altLang="en-US" b="1" dirty="0"/>
              <a:t>分配律</a:t>
            </a:r>
          </a:p>
          <a:p>
            <a:pPr algn="just" eaLnBrk="1" hangingPunct="1">
              <a:buFontTx/>
              <a:buNone/>
            </a:pPr>
            <a:r>
              <a:rPr lang="zh-CN" altLang="en-US"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4</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m</a:t>
            </a:r>
            <a:r>
              <a:rPr lang="en-US" altLang="zh-CN" b="1" baseline="-25000" dirty="0">
                <a:cs typeface="Times New Roman" panose="02020603050405020304" pitchFamily="18" charset="0"/>
              </a:rPr>
              <a:t>5</a:t>
            </a:r>
            <a:endParaRPr lang="zh-CN" altLang="en-US" b="1" dirty="0">
              <a:cs typeface="Times New Roman" panose="02020603050405020304" pitchFamily="18" charset="0"/>
              <a:sym typeface="Symbol" panose="05050102010706020507" pitchFamily="18" charset="2"/>
            </a:endParaRPr>
          </a:p>
          <a:p>
            <a:pPr algn="just" eaLnBrk="1" hangingPunct="1">
              <a:buFontTx/>
              <a:buNone/>
            </a:pP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r </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en-US" altLang="zh-CN" b="1" dirty="0">
                <a:cs typeface="Times New Roman" panose="02020603050405020304" pitchFamily="18" charset="0"/>
              </a:rPr>
              <a:t>  </a:t>
            </a:r>
            <a:r>
              <a:rPr lang="zh-CN" altLang="en-US" b="1" dirty="0"/>
              <a:t>同一律, 排中律</a:t>
            </a:r>
            <a:endParaRPr lang="zh-CN" altLang="en-US" b="1" dirty="0">
              <a:sym typeface="Symbol" panose="05050102010706020507" pitchFamily="18" charset="2"/>
            </a:endParaRPr>
          </a:p>
          <a:p>
            <a:pPr algn="just" eaLnBrk="1" hangingPunct="1">
              <a:buFontTx/>
              <a:buNone/>
            </a:pPr>
            <a:r>
              <a:rPr lang="zh-CN" altLang="en-US" b="1" dirty="0">
                <a:cs typeface="Times New Roman" panose="02020603050405020304" pitchFamily="18" charset="0"/>
                <a:sym typeface="Symbol" panose="05050102010706020507" pitchFamily="18" charset="2"/>
              </a:rPr>
              <a:t>          </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endParaRPr lang="zh-CN" altLang="en-US" b="1" dirty="0">
              <a:cs typeface="Times New Roman" panose="02020603050405020304" pitchFamily="18" charset="0"/>
              <a:sym typeface="Symbol" panose="05050102010706020507" pitchFamily="18" charset="2"/>
            </a:endParaRPr>
          </a:p>
          <a:p>
            <a:pPr algn="just" eaLnBrk="1" hangingPunct="1">
              <a:buFontTx/>
              <a:buNone/>
            </a:pP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m</a:t>
            </a:r>
            <a:r>
              <a:rPr lang="en-US" altLang="zh-CN" b="1" baseline="-25000" dirty="0">
                <a:cs typeface="Times New Roman" panose="02020603050405020304" pitchFamily="18" charset="0"/>
              </a:rPr>
              <a:t>0</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2</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4</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6                                       </a:t>
            </a:r>
            <a:r>
              <a:rPr lang="en-US" altLang="zh-CN" b="1" dirty="0">
                <a:cs typeface="Times New Roman" panose="02020603050405020304" pitchFamily="18" charset="0"/>
              </a:rPr>
              <a:t>    </a:t>
            </a:r>
            <a:r>
              <a:rPr lang="zh-CN" altLang="en-US" b="1" dirty="0"/>
              <a:t>分配律</a:t>
            </a:r>
          </a:p>
          <a:p>
            <a:pPr algn="just" eaLnBrk="1" hangingPunct="1">
              <a:buFontTx/>
              <a:buNone/>
            </a:pPr>
            <a:r>
              <a:rPr lang="zh-CN" altLang="en-US" b="1" dirty="0">
                <a:sym typeface="Symbol" panose="05050102010706020507" pitchFamily="18" charset="2"/>
              </a:rPr>
              <a:t>得    </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0</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2</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4 </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m</a:t>
            </a:r>
            <a:r>
              <a:rPr lang="en-US" altLang="zh-CN" b="1" baseline="-25000" dirty="0">
                <a:cs typeface="Times New Roman" panose="02020603050405020304" pitchFamily="18" charset="0"/>
              </a:rPr>
              <a:t>5 </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6</a:t>
            </a:r>
            <a:endParaRPr lang="zh-CN" altLang="en-US" b="1" dirty="0">
              <a:sym typeface="Symbol" panose="05050102010706020507" pitchFamily="18" charset="2"/>
            </a:endParaRPr>
          </a:p>
          <a:p>
            <a:pPr algn="just" eaLnBrk="1" hangingPunct="1">
              <a:buFontTx/>
              <a:buNone/>
            </a:pPr>
            <a:r>
              <a:rPr lang="zh-CN" altLang="en-US" b="1" dirty="0"/>
              <a:t>可记作                 </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rPr>
              <a:t>(0,2,4,5,6)</a:t>
            </a:r>
            <a:endParaRPr lang="zh-CN" altLang="en-US" b="1" dirty="0">
              <a:cs typeface="Times New Roman" panose="02020603050405020304" pitchFamily="18" charset="0"/>
            </a:endParaRPr>
          </a:p>
          <a:p>
            <a:endParaRPr lang="en-US" altLang="zh-CN" b="1" dirty="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65</a:t>
            </a:fld>
            <a:endParaRPr lang="zh-CN" altLang="en-US"/>
          </a:p>
        </p:txBody>
      </p:sp>
    </p:spTree>
    <p:extLst>
      <p:ext uri="{BB962C8B-B14F-4D97-AF65-F5344CB8AC3E}">
        <p14:creationId xmlns:p14="http://schemas.microsoft.com/office/powerpoint/2010/main" val="14722287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）将</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b="1" dirty="0">
                <a:cs typeface="Times New Roman" panose="02020603050405020304" pitchFamily="18" charset="0"/>
              </a:rPr>
              <a:t>变换成简单析取式，用藴含等值式</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zh-CN" altLang="en-US" b="1" i="1" dirty="0">
                <a:cs typeface="Times New Roman" panose="02020603050405020304" pitchFamily="18" charset="0"/>
              </a:rPr>
              <a:t>，德摩根定理 </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 </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zh-CN" altLang="en-US" b="1" i="1" dirty="0">
                <a:cs typeface="Times New Roman" panose="02020603050405020304" pitchFamily="18" charset="0"/>
              </a:rPr>
              <a:t>，</a:t>
            </a:r>
            <a:endParaRPr lang="en-US" altLang="zh-CN" b="1" i="1" dirty="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cs typeface="Times New Roman" panose="02020603050405020304" pitchFamily="18" charset="0"/>
              </a:rPr>
              <a:t>分配律</a:t>
            </a:r>
            <a:r>
              <a:rPr lang="zh-CN" altLang="en-US" b="1" dirty="0">
                <a:cs typeface="Times New Roman" panose="02020603050405020304" pitchFamily="18" charset="0"/>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rPr>
              <a:t>)</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zh-CN" altLang="en-US" b="1" dirty="0">
                <a:cs typeface="Times New Roman" panose="02020603050405020304" pitchFamily="18" charset="0"/>
                <a:sym typeface="Symbol" panose="05050102010706020507" pitchFamily="18" charset="2"/>
              </a:rPr>
              <a:t> </a:t>
            </a:r>
            <a:r>
              <a:rPr lang="zh-CN" altLang="en-US" b="1" dirty="0">
                <a:cs typeface="Times New Roman" panose="02020603050405020304" pitchFamily="18" charset="0"/>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p>
          <a:p>
            <a:pPr algn="just" eaLnBrk="1" hangingPunct="1">
              <a:buFontTx/>
              <a:buNone/>
            </a:pPr>
            <a:r>
              <a:rPr lang="zh-CN" altLang="en-US" b="1" dirty="0">
                <a:solidFill>
                  <a:srgbClr val="00B0F0"/>
                </a:solidFill>
                <a:latin typeface="宋体" panose="02010600030101010101" pitchFamily="2" charset="-122"/>
              </a:rPr>
              <a:t>解</a:t>
            </a:r>
            <a:r>
              <a:rPr lang="en-US" altLang="zh-CN" b="1" dirty="0">
                <a:solidFill>
                  <a:srgbClr val="00B0F0"/>
                </a:solidFill>
                <a:latin typeface="宋体" panose="02010600030101010101" pitchFamily="2" charset="-122"/>
              </a:rPr>
              <a:t>(2)</a:t>
            </a:r>
            <a:r>
              <a:rPr lang="zh-CN" altLang="en-US" b="1" dirty="0">
                <a:solidFill>
                  <a:srgbClr val="00B0F0"/>
                </a:solidFill>
                <a:latin typeface="宋体" panose="02010600030101010101" pitchFamily="2" charset="-122"/>
                <a:sym typeface="Wingdings" panose="05000000000000000000" pitchFamily="2" charset="2"/>
              </a:rPr>
              <a:t>：</a:t>
            </a:r>
            <a:r>
              <a:rPr lang="zh-CN" altLang="en-US" b="1" dirty="0">
                <a:cs typeface="Times New Roman" panose="02020603050405020304" pitchFamily="18" charset="0"/>
                <a:sym typeface="Wingdings" panose="05000000000000000000" pitchFamily="2" charset="2"/>
              </a:rPr>
              <a:t>求主</a:t>
            </a:r>
            <a:r>
              <a:rPr lang="zh-CN" altLang="en-US" b="1" dirty="0">
                <a:latin typeface="宋体" panose="02010600030101010101" pitchFamily="2" charset="-122"/>
              </a:rPr>
              <a:t>合</a:t>
            </a:r>
            <a:r>
              <a:rPr lang="zh-CN" altLang="en-US" b="1" dirty="0">
                <a:cs typeface="Times New Roman" panose="02020603050405020304" pitchFamily="18" charset="0"/>
                <a:sym typeface="Wingdings" panose="05000000000000000000" pitchFamily="2" charset="2"/>
              </a:rPr>
              <a:t>取范式（极大项）</a:t>
            </a:r>
            <a:endParaRPr lang="en-US" altLang="zh-CN" b="1" dirty="0">
              <a:cs typeface="Times New Roman" panose="02020603050405020304" pitchFamily="18" charset="0"/>
            </a:endParaRPr>
          </a:p>
          <a:p>
            <a:pPr eaLnBrk="1" hangingPunct="1">
              <a:buFont typeface="Symbol" panose="05050102010706020507" pitchFamily="18" charset="2"/>
              <a:buNone/>
            </a:pPr>
            <a:r>
              <a:rPr lang="zh-CN" altLang="en-US" b="1" dirty="0">
                <a:latin typeface="宋体" panose="02010600030101010101" pitchFamily="2" charset="-122"/>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sz="1400" b="1" dirty="0">
                <a:cs typeface="Times New Roman" panose="02020603050405020304" pitchFamily="18" charset="0"/>
              </a:rPr>
              <a:t>藴含等值式、德摩根定理、分配律 </a:t>
            </a:r>
            <a:endParaRPr lang="en-US" altLang="zh-CN" sz="1400" b="1" dirty="0">
              <a:cs typeface="Times New Roman" panose="02020603050405020304" pitchFamily="18" charset="0"/>
            </a:endParaRPr>
          </a:p>
          <a:p>
            <a:pPr eaLnBrk="1" hangingPunct="1">
              <a:buFont typeface="Symbol" panose="05050102010706020507" pitchFamily="18" charset="2"/>
              <a:buNone/>
            </a:pPr>
            <a:r>
              <a:rPr lang="zh-CN" altLang="en-US" b="1" dirty="0">
                <a:cs typeface="Times New Roman" panose="02020603050405020304" pitchFamily="18" charset="0"/>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0</a:t>
            </a:r>
            <a:r>
              <a:rPr lang="en-US" altLang="zh-CN" b="1" i="1" dirty="0">
                <a:cs typeface="Times New Roman" panose="02020603050405020304" pitchFamily="18" charset="0"/>
              </a:rPr>
              <a:t>r                                </a:t>
            </a:r>
            <a:r>
              <a:rPr lang="en-US" altLang="zh-CN" b="1" dirty="0">
                <a:cs typeface="Times New Roman" panose="02020603050405020304" pitchFamily="18" charset="0"/>
              </a:rPr>
              <a:t> </a:t>
            </a:r>
            <a:r>
              <a:rPr lang="zh-CN" altLang="en-US" b="1" dirty="0"/>
              <a:t>同一律</a:t>
            </a:r>
          </a:p>
          <a:p>
            <a:pPr eaLnBrk="1" hangingPunct="1">
              <a:buFont typeface="Symbol" panose="05050102010706020507" pitchFamily="18" charset="2"/>
              <a:buNone/>
            </a:pP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zh-CN" altLang="en-US" b="1" dirty="0"/>
              <a:t>矛盾律</a:t>
            </a:r>
          </a:p>
          <a:p>
            <a:pPr eaLnBrk="1" hangingPunct="1">
              <a:buFont typeface="Symbol" panose="05050102010706020507" pitchFamily="18" charset="2"/>
              <a:buNone/>
            </a:pPr>
            <a:r>
              <a:rPr lang="zh-CN" altLang="en-US" b="1" dirty="0">
                <a:cs typeface="Times New Roman" panose="02020603050405020304" pitchFamily="18" charset="0"/>
                <a:sym typeface="Symbol" panose="05050102010706020507" pitchFamily="18" charset="2"/>
              </a:rPr>
              <a:t>                 (</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a:t>
            </a:r>
            <a:r>
              <a:rPr lang="en-US" altLang="zh-CN" b="1" i="1" dirty="0">
                <a:cs typeface="Times New Roman" panose="02020603050405020304" pitchFamily="18" charset="0"/>
              </a:rPr>
              <a:t>         </a:t>
            </a:r>
            <a:r>
              <a:rPr lang="zh-CN" altLang="en-US" b="1" dirty="0"/>
              <a:t>分配律</a:t>
            </a:r>
          </a:p>
          <a:p>
            <a:pPr eaLnBrk="1" hangingPunct="1">
              <a:buFont typeface="Symbol" panose="05050102010706020507" pitchFamily="18" charset="2"/>
              <a:buNone/>
            </a:pP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M</a:t>
            </a:r>
            <a:r>
              <a:rPr lang="en-US" altLang="zh-CN" b="1" baseline="-25000" dirty="0">
                <a:cs typeface="Times New Roman" panose="02020603050405020304" pitchFamily="18" charset="0"/>
              </a:rPr>
              <a:t>1</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M</a:t>
            </a:r>
            <a:r>
              <a:rPr lang="en-US" altLang="zh-CN" b="1" baseline="-25000" dirty="0">
                <a:cs typeface="Times New Roman" panose="02020603050405020304" pitchFamily="18" charset="0"/>
              </a:rPr>
              <a:t>3</a:t>
            </a:r>
            <a:endParaRPr lang="zh-CN" altLang="en-US" b="1" dirty="0">
              <a:cs typeface="Times New Roman" panose="02020603050405020304" pitchFamily="18" charset="0"/>
            </a:endParaRPr>
          </a:p>
          <a:p>
            <a:pPr eaLnBrk="1" hangingPunct="1">
              <a:buFont typeface="Symbol" panose="05050102010706020507" pitchFamily="18" charset="2"/>
              <a:buNone/>
            </a:pP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en-US" altLang="zh-CN" b="1" dirty="0">
                <a:cs typeface="Times New Roman" panose="02020603050405020304" pitchFamily="18" charset="0"/>
              </a:rPr>
              <a:t> </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                  </a:t>
            </a:r>
            <a:r>
              <a:rPr lang="en-US" altLang="zh-CN" b="1" dirty="0">
                <a:cs typeface="Times New Roman" panose="02020603050405020304" pitchFamily="18" charset="0"/>
              </a:rPr>
              <a:t>  </a:t>
            </a:r>
            <a:r>
              <a:rPr lang="zh-CN" altLang="en-US" b="1" dirty="0"/>
              <a:t>同一律, 矛盾律</a:t>
            </a:r>
            <a:endParaRPr lang="zh-CN" altLang="en-US" b="1" dirty="0">
              <a:sym typeface="Symbol" panose="05050102010706020507" pitchFamily="18" charset="2"/>
            </a:endParaRPr>
          </a:p>
          <a:p>
            <a:pPr eaLnBrk="1" hangingPunct="1">
              <a:buFont typeface="Symbol" panose="05050102010706020507" pitchFamily="18" charset="2"/>
              <a:buNone/>
            </a:pP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   </a:t>
            </a:r>
            <a:r>
              <a:rPr lang="zh-CN" altLang="en-US" b="1" dirty="0">
                <a:sym typeface="Symbol" panose="05050102010706020507" pitchFamily="18" charset="2"/>
              </a:rPr>
              <a:t>分配律</a:t>
            </a:r>
          </a:p>
          <a:p>
            <a:pPr eaLnBrk="1" hangingPunct="1">
              <a:buFont typeface="Symbol" panose="05050102010706020507" pitchFamily="18" charset="2"/>
              <a:buNone/>
            </a:pP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M</a:t>
            </a:r>
            <a:r>
              <a:rPr lang="en-US" altLang="zh-CN" b="1" baseline="-25000" dirty="0">
                <a:cs typeface="Times New Roman" panose="02020603050405020304" pitchFamily="18" charset="0"/>
              </a:rPr>
              <a:t>3</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M</a:t>
            </a:r>
            <a:r>
              <a:rPr lang="en-US" altLang="zh-CN" b="1" baseline="-25000" dirty="0">
                <a:cs typeface="Times New Roman" panose="02020603050405020304" pitchFamily="18" charset="0"/>
              </a:rPr>
              <a:t>7</a:t>
            </a:r>
            <a:endParaRPr lang="zh-CN" altLang="en-US" b="1" dirty="0">
              <a:cs typeface="Times New Roman" panose="02020603050405020304" pitchFamily="18" charset="0"/>
              <a:sym typeface="Symbol" panose="05050102010706020507" pitchFamily="18" charset="2"/>
            </a:endParaRPr>
          </a:p>
          <a:p>
            <a:pPr eaLnBrk="1" hangingPunct="1">
              <a:buFont typeface="Symbol" panose="05050102010706020507" pitchFamily="18" charset="2"/>
              <a:buNone/>
            </a:pPr>
            <a:r>
              <a:rPr lang="zh-CN" altLang="en-US" b="1" dirty="0">
                <a:sym typeface="Symbol" panose="05050102010706020507" pitchFamily="18" charset="2"/>
              </a:rPr>
              <a:t>得</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M</a:t>
            </a:r>
            <a:r>
              <a:rPr lang="en-US" altLang="zh-CN" b="1" baseline="-25000" dirty="0">
                <a:cs typeface="Times New Roman" panose="02020603050405020304" pitchFamily="18" charset="0"/>
              </a:rPr>
              <a:t>1</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M</a:t>
            </a:r>
            <a:r>
              <a:rPr lang="en-US" altLang="zh-CN" b="1" baseline="-25000" dirty="0">
                <a:cs typeface="Times New Roman" panose="02020603050405020304" pitchFamily="18" charset="0"/>
              </a:rPr>
              <a:t>3</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M</a:t>
            </a:r>
            <a:r>
              <a:rPr lang="en-US" altLang="zh-CN" b="1" baseline="-25000" dirty="0">
                <a:cs typeface="Times New Roman" panose="02020603050405020304" pitchFamily="18" charset="0"/>
              </a:rPr>
              <a:t>7</a:t>
            </a:r>
            <a:endParaRPr lang="zh-CN" altLang="en-US" b="1" dirty="0">
              <a:cs typeface="Times New Roman" panose="02020603050405020304" pitchFamily="18" charset="0"/>
              <a:sym typeface="Symbol" panose="05050102010706020507" pitchFamily="18" charset="2"/>
            </a:endParaRPr>
          </a:p>
          <a:p>
            <a:pPr eaLnBrk="1" hangingPunct="1">
              <a:buFont typeface="Symbol" panose="05050102010706020507" pitchFamily="18" charset="2"/>
              <a:buNone/>
            </a:pPr>
            <a:r>
              <a:rPr lang="zh-CN" altLang="en-US" b="1" dirty="0">
                <a:sym typeface="Symbol" panose="05050102010706020507" pitchFamily="18" charset="2"/>
              </a:rPr>
              <a:t>可记作                 </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rPr>
              <a:t>(1,3,7</a:t>
            </a:r>
            <a:endParaRPr lang="en-US" altLang="zh-CN" b="1" dirty="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66</a:t>
            </a:fld>
            <a:endParaRPr lang="zh-CN" altLang="en-US"/>
          </a:p>
        </p:txBody>
      </p:sp>
    </p:spTree>
    <p:extLst>
      <p:ext uri="{BB962C8B-B14F-4D97-AF65-F5344CB8AC3E}">
        <p14:creationId xmlns:p14="http://schemas.microsoft.com/office/powerpoint/2010/main" val="366736765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一个长度为</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k</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的简单合取式，由于它只涉及</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k</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个变量，所以剩余的</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k</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个变量可以以原始或否定的形式出现。这就意味着，对于每个不在原始合取式中的变量，都有两种可能的状态（原始或否定），因此总共有</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2</a:t>
            </a:r>
            <a:r>
              <a:rPr lang="en-US" altLang="zh-CN" sz="1800" i="0" kern="100" baseline="300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baseline="300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0" kern="100" baseline="30000" dirty="0">
                <a:solidFill>
                  <a:srgbClr val="374151"/>
                </a:solidFill>
                <a:effectLst/>
                <a:latin typeface="KaTeX_Math"/>
                <a:ea typeface="等线" panose="02010600030101010101" pitchFamily="2" charset="-122"/>
                <a:cs typeface="Times New Roman" panose="02020603050405020304" pitchFamily="18" charset="0"/>
              </a:rPr>
              <a:t>k</a:t>
            </a:r>
            <a:r>
              <a:rPr lang="en-US" altLang="zh-CN" sz="1800" i="0" kern="100" baseline="300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0" kern="100" dirty="0" err="1">
                <a:solidFill>
                  <a:srgbClr val="374151"/>
                </a:solidFill>
                <a:effectLst/>
                <a:latin typeface="Segoe UI" panose="020B0502040204020203" pitchFamily="34" charset="0"/>
                <a:ea typeface="等线" panose="02010600030101010101" pitchFamily="2" charset="-122"/>
                <a:cs typeface="Segoe UI" panose="020B0502040204020203" pitchFamily="34" charset="0"/>
              </a:rPr>
              <a:t>种不同的组合方式</a:t>
            </a:r>
            <a:r>
              <a:rPr lang="en-US"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 </a:t>
            </a:r>
          </a:p>
          <a:p>
            <a:endParaRPr lang="en-US"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endParaRPr>
          </a:p>
          <a:p>
            <a:pPr eaLnBrk="1" hangingPunct="1">
              <a:buFontTx/>
              <a:buNone/>
            </a:pPr>
            <a:endParaRPr lang="en-US" altLang="zh-CN" sz="1800" b="1" dirty="0"/>
          </a:p>
          <a:p>
            <a:pPr eaLnBrk="1" hangingPunct="1">
              <a:buFontTx/>
              <a:buNone/>
            </a:pPr>
            <a:r>
              <a:rPr lang="zh-CN" altLang="en-US" sz="1800" b="1" dirty="0"/>
              <a:t>设公式含有</a:t>
            </a:r>
            <a:r>
              <a:rPr lang="en-US" altLang="zh-CN" sz="1800" b="1" i="1" dirty="0"/>
              <a:t>n</a:t>
            </a:r>
            <a:r>
              <a:rPr lang="zh-CN" altLang="en-US" sz="1800" b="1" dirty="0"/>
              <a:t>个命题变项, 则</a:t>
            </a:r>
          </a:p>
          <a:p>
            <a:pPr eaLnBrk="1" hangingPunct="1">
              <a:buFontTx/>
              <a:buNone/>
            </a:pPr>
            <a:r>
              <a:rPr lang="zh-CN" altLang="en-US" sz="1800" b="1" dirty="0"/>
              <a:t>长度为</a:t>
            </a:r>
            <a:r>
              <a:rPr lang="en-US" altLang="zh-CN" sz="1800" b="1" i="1" dirty="0"/>
              <a:t>k</a:t>
            </a:r>
            <a:r>
              <a:rPr lang="zh-CN" altLang="en-US" sz="1800" b="1" dirty="0"/>
              <a:t>的简单合取式可展开成2</a:t>
            </a:r>
            <a:r>
              <a:rPr lang="en-US" altLang="zh-CN" sz="1800" b="1" i="1" baseline="30000" dirty="0"/>
              <a:t>n-k</a:t>
            </a:r>
            <a:r>
              <a:rPr lang="zh-CN" altLang="en-US" sz="1800" b="1" dirty="0"/>
              <a:t>个极小项的析取</a:t>
            </a:r>
          </a:p>
          <a:p>
            <a:pPr eaLnBrk="1" hangingPunct="1">
              <a:buFontTx/>
              <a:buNone/>
            </a:pPr>
            <a:r>
              <a:rPr lang="zh-CN" altLang="en-US" sz="1800" b="1" dirty="0">
                <a:solidFill>
                  <a:srgbClr val="000066"/>
                </a:solidFill>
              </a:rPr>
              <a:t>例如  公式含</a:t>
            </a:r>
            <a:r>
              <a:rPr lang="en-US" altLang="zh-CN" sz="1800" b="1" i="1" dirty="0" err="1">
                <a:solidFill>
                  <a:srgbClr val="000066"/>
                </a:solidFill>
              </a:rPr>
              <a:t>p,q,r</a:t>
            </a:r>
            <a:endParaRPr lang="en-US" altLang="zh-CN" sz="1800" b="1" i="1" dirty="0">
              <a:solidFill>
                <a:srgbClr val="000066"/>
              </a:solidFill>
            </a:endParaRPr>
          </a:p>
          <a:p>
            <a:pPr eaLnBrk="1" hangingPunct="1">
              <a:buFontTx/>
              <a:buNone/>
            </a:pPr>
            <a:r>
              <a:rPr lang="en-US" altLang="zh-CN" sz="1800" b="1" dirty="0">
                <a:solidFill>
                  <a:srgbClr val="000066"/>
                </a:solidFill>
              </a:rPr>
              <a:t>     </a:t>
            </a:r>
            <a:r>
              <a:rPr lang="en-US" altLang="zh-CN" sz="1800" b="1" i="1" dirty="0">
                <a:solidFill>
                  <a:srgbClr val="000066"/>
                </a:solidFill>
              </a:rPr>
              <a:t>q </a:t>
            </a:r>
            <a:r>
              <a:rPr lang="zh-CN" altLang="en-US" sz="1800" b="1" dirty="0">
                <a:solidFill>
                  <a:srgbClr val="000066"/>
                </a:solidFill>
                <a:cs typeface="Times New Roman" panose="02020603050405020304" pitchFamily="18" charset="0"/>
                <a:sym typeface="Symbol" panose="05050102010706020507" pitchFamily="18" charset="2"/>
              </a:rPr>
              <a:t></a:t>
            </a:r>
            <a:r>
              <a:rPr lang="en-US" altLang="zh-CN" sz="1800" b="1" dirty="0">
                <a:solidFill>
                  <a:srgbClr val="000066"/>
                </a:solidFill>
              </a:rPr>
              <a:t> </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p</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q</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rPr>
              <a:t>)</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p</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q</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rPr>
              <a:t>)</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p</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q</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rPr>
              <a:t>)</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p</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q</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rPr>
              <a:t>)</a:t>
            </a:r>
          </a:p>
          <a:p>
            <a:pPr eaLnBrk="1" hangingPunct="1">
              <a:buFontTx/>
              <a:buNone/>
            </a:pPr>
            <a:r>
              <a:rPr lang="zh-CN" altLang="en-US" sz="1800" b="1" dirty="0">
                <a:solidFill>
                  <a:srgbClr val="000066"/>
                </a:solidFill>
                <a:cs typeface="Times New Roman" panose="02020603050405020304" pitchFamily="18" charset="0"/>
                <a:sym typeface="Symbol" panose="05050102010706020507" pitchFamily="18" charset="2"/>
              </a:rPr>
              <a:t>         </a:t>
            </a:r>
            <a:r>
              <a:rPr lang="en-US" altLang="zh-CN" sz="1800" b="1" i="1" dirty="0">
                <a:solidFill>
                  <a:srgbClr val="000066"/>
                </a:solidFill>
                <a:cs typeface="Times New Roman" panose="02020603050405020304" pitchFamily="18" charset="0"/>
              </a:rPr>
              <a:t>m</a:t>
            </a:r>
            <a:r>
              <a:rPr lang="en-US" altLang="zh-CN" sz="1800" b="1" baseline="-25000" dirty="0">
                <a:solidFill>
                  <a:srgbClr val="000066"/>
                </a:solidFill>
                <a:cs typeface="Times New Roman" panose="02020603050405020304" pitchFamily="18" charset="0"/>
              </a:rPr>
              <a:t>2</a:t>
            </a:r>
            <a:r>
              <a:rPr lang="en-US" altLang="zh-CN" sz="1800" b="1" dirty="0">
                <a:solidFill>
                  <a:srgbClr val="000066"/>
                </a:solidFill>
                <a:cs typeface="Times New Roman" panose="02020603050405020304" pitchFamily="18" charset="0"/>
                <a:sym typeface="Symbol" panose="05050102010706020507" pitchFamily="18" charset="2"/>
              </a:rPr>
              <a:t> </a:t>
            </a:r>
            <a:r>
              <a:rPr lang="en-US" altLang="zh-CN" sz="1800" b="1" i="1" dirty="0">
                <a:solidFill>
                  <a:srgbClr val="000066"/>
                </a:solidFill>
                <a:cs typeface="Times New Roman" panose="02020603050405020304" pitchFamily="18" charset="0"/>
              </a:rPr>
              <a:t>m</a:t>
            </a:r>
            <a:r>
              <a:rPr lang="en-US" altLang="zh-CN" sz="1800" b="1" baseline="-25000" dirty="0">
                <a:solidFill>
                  <a:srgbClr val="000066"/>
                </a:solidFill>
                <a:cs typeface="Times New Roman" panose="02020603050405020304" pitchFamily="18" charset="0"/>
              </a:rPr>
              <a:t>3</a:t>
            </a:r>
            <a:r>
              <a:rPr lang="en-US" altLang="zh-CN" sz="1800" b="1" dirty="0">
                <a:solidFill>
                  <a:srgbClr val="000066"/>
                </a:solidFill>
                <a:cs typeface="Times New Roman" panose="02020603050405020304" pitchFamily="18" charset="0"/>
                <a:sym typeface="Symbol" panose="05050102010706020507" pitchFamily="18" charset="2"/>
              </a:rPr>
              <a:t> </a:t>
            </a:r>
            <a:r>
              <a:rPr lang="en-US" altLang="zh-CN" sz="1800" b="1" i="1" dirty="0">
                <a:solidFill>
                  <a:srgbClr val="000066"/>
                </a:solidFill>
                <a:cs typeface="Times New Roman" panose="02020603050405020304" pitchFamily="18" charset="0"/>
              </a:rPr>
              <a:t>m</a:t>
            </a:r>
            <a:r>
              <a:rPr lang="en-US" altLang="zh-CN" sz="1800" b="1" baseline="-25000" dirty="0">
                <a:solidFill>
                  <a:srgbClr val="000066"/>
                </a:solidFill>
                <a:cs typeface="Times New Roman" panose="02020603050405020304" pitchFamily="18" charset="0"/>
              </a:rPr>
              <a:t>6</a:t>
            </a:r>
            <a:r>
              <a:rPr lang="en-US" altLang="zh-CN" sz="1800" b="1" dirty="0">
                <a:solidFill>
                  <a:srgbClr val="000066"/>
                </a:solidFill>
                <a:cs typeface="Times New Roman" panose="02020603050405020304" pitchFamily="18" charset="0"/>
                <a:sym typeface="Symbol" panose="05050102010706020507" pitchFamily="18" charset="2"/>
              </a:rPr>
              <a:t> </a:t>
            </a:r>
            <a:r>
              <a:rPr lang="en-US" altLang="zh-CN" sz="1800" b="1" i="1" dirty="0">
                <a:solidFill>
                  <a:srgbClr val="000066"/>
                </a:solidFill>
                <a:cs typeface="Times New Roman" panose="02020603050405020304" pitchFamily="18" charset="0"/>
              </a:rPr>
              <a:t>m</a:t>
            </a:r>
            <a:r>
              <a:rPr lang="en-US" altLang="zh-CN" sz="1800" b="1" baseline="-25000" dirty="0">
                <a:solidFill>
                  <a:srgbClr val="000066"/>
                </a:solidFill>
                <a:cs typeface="Times New Roman" panose="02020603050405020304" pitchFamily="18" charset="0"/>
              </a:rPr>
              <a:t>7</a:t>
            </a:r>
            <a:endParaRPr lang="en-US" altLang="zh-CN" sz="1800" b="1" dirty="0">
              <a:solidFill>
                <a:srgbClr val="000066"/>
              </a:solidFill>
              <a:cs typeface="Times New Roman" panose="02020603050405020304" pitchFamily="18" charset="0"/>
            </a:endParaRPr>
          </a:p>
          <a:p>
            <a:pPr eaLnBrk="1" hangingPunct="1">
              <a:buFontTx/>
              <a:buNone/>
            </a:pPr>
            <a:endParaRPr lang="en-US" altLang="zh-CN" sz="1800" b="1" dirty="0">
              <a:latin typeface="+mn-ea"/>
              <a:cs typeface="Times New Roman" panose="02020603050405020304" pitchFamily="18" charset="0"/>
            </a:endParaRPr>
          </a:p>
          <a:p>
            <a:pPr eaLnBrk="1" hangingPunct="1">
              <a:buFontTx/>
              <a:buNone/>
            </a:pPr>
            <a:r>
              <a:rPr lang="zh-CN" altLang="en-US" sz="1800" b="1" dirty="0"/>
              <a:t>长度为</a:t>
            </a:r>
            <a:r>
              <a:rPr lang="en-US" altLang="zh-CN" sz="1800" b="1" i="1" dirty="0"/>
              <a:t>k</a:t>
            </a:r>
            <a:r>
              <a:rPr lang="zh-CN" altLang="en-US" sz="1800" b="1" dirty="0"/>
              <a:t>的简单析取式可展开成2</a:t>
            </a:r>
            <a:r>
              <a:rPr lang="en-US" altLang="zh-CN" sz="1800" b="1" i="1" baseline="30000" dirty="0"/>
              <a:t>n-k</a:t>
            </a:r>
            <a:r>
              <a:rPr lang="zh-CN" altLang="en-US" sz="1800" b="1" dirty="0"/>
              <a:t>个极大项的合取</a:t>
            </a:r>
          </a:p>
          <a:p>
            <a:pPr eaLnBrk="1" hangingPunct="1">
              <a:buFontTx/>
              <a:buNone/>
            </a:pPr>
            <a:r>
              <a:rPr lang="zh-CN" altLang="en-US" sz="1800" b="1" dirty="0">
                <a:solidFill>
                  <a:srgbClr val="000066"/>
                </a:solidFill>
              </a:rPr>
              <a:t>例如   </a:t>
            </a:r>
            <a:r>
              <a:rPr lang="en-US" altLang="zh-CN" sz="1800" b="1" i="1" dirty="0">
                <a:solidFill>
                  <a:srgbClr val="000066"/>
                </a:solidFill>
                <a:cs typeface="Times New Roman" panose="02020603050405020304" pitchFamily="18" charset="0"/>
              </a:rPr>
              <a:t>p</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rPr>
              <a:t> </a:t>
            </a:r>
            <a:r>
              <a:rPr lang="zh-CN" altLang="en-US" sz="1800" b="1" dirty="0">
                <a:solidFill>
                  <a:srgbClr val="000066"/>
                </a:solidFill>
                <a:cs typeface="Times New Roman" panose="02020603050405020304" pitchFamily="18" charset="0"/>
                <a:sym typeface="Symbol" panose="05050102010706020507" pitchFamily="18" charset="2"/>
              </a:rPr>
              <a:t> (</a:t>
            </a:r>
            <a:r>
              <a:rPr lang="en-US" altLang="zh-CN" sz="1800" b="1" i="1" dirty="0" err="1">
                <a:solidFill>
                  <a:srgbClr val="000066"/>
                </a:solidFill>
                <a:cs typeface="Times New Roman" panose="02020603050405020304" pitchFamily="18" charset="0"/>
              </a:rPr>
              <a:t>p</a:t>
            </a:r>
            <a:r>
              <a:rPr lang="en-US" altLang="zh-CN" sz="1800" b="1" dirty="0" err="1">
                <a:solidFill>
                  <a:srgbClr val="000066"/>
                </a:solidFill>
                <a:cs typeface="Times New Roman" panose="02020603050405020304" pitchFamily="18" charset="0"/>
                <a:sym typeface="Symbol" panose="05050102010706020507" pitchFamily="18" charset="2"/>
              </a:rPr>
              <a:t></a:t>
            </a:r>
            <a:r>
              <a:rPr lang="en-US" altLang="zh-CN" sz="1800" b="1" i="1" dirty="0" err="1">
                <a:solidFill>
                  <a:srgbClr val="000066"/>
                </a:solidFill>
                <a:cs typeface="Times New Roman" panose="02020603050405020304" pitchFamily="18" charset="0"/>
              </a:rPr>
              <a:t>q</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sym typeface="Symbol" panose="05050102010706020507" pitchFamily="18" charset="2"/>
              </a:rPr>
              <a:t>)</a:t>
            </a:r>
            <a:r>
              <a:rPr lang="zh-CN" altLang="en-US"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p</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q</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r</a:t>
            </a:r>
            <a:r>
              <a:rPr lang="en-US" altLang="zh-CN" sz="1800" b="1" dirty="0">
                <a:solidFill>
                  <a:srgbClr val="000066"/>
                </a:solidFill>
                <a:cs typeface="Times New Roman" panose="02020603050405020304" pitchFamily="18" charset="0"/>
              </a:rPr>
              <a:t>)</a:t>
            </a:r>
            <a:r>
              <a:rPr lang="en-US" altLang="zh-CN" sz="1800" b="1" i="1" dirty="0">
                <a:solidFill>
                  <a:srgbClr val="000066"/>
                </a:solidFill>
                <a:cs typeface="Times New Roman" panose="02020603050405020304" pitchFamily="18" charset="0"/>
              </a:rPr>
              <a:t> </a:t>
            </a:r>
            <a:endParaRPr lang="zh-CN" altLang="en-US" sz="1800" b="1" dirty="0">
              <a:solidFill>
                <a:srgbClr val="000066"/>
              </a:solidFill>
            </a:endParaRPr>
          </a:p>
          <a:p>
            <a:pPr eaLnBrk="1" hangingPunct="1">
              <a:buFont typeface="Symbol" panose="05050102010706020507" pitchFamily="18" charset="2"/>
              <a:buNone/>
            </a:pPr>
            <a:r>
              <a:rPr lang="zh-CN" altLang="en-US" sz="1800" b="1" dirty="0">
                <a:solidFill>
                  <a:srgbClr val="000066"/>
                </a:solidFill>
                <a:cs typeface="Times New Roman" panose="02020603050405020304" pitchFamily="18" charset="0"/>
                <a:sym typeface="Symbol" panose="05050102010706020507" pitchFamily="18" charset="2"/>
              </a:rPr>
              <a:t>                      </a:t>
            </a:r>
            <a:r>
              <a:rPr lang="en-US" altLang="zh-CN" sz="1800" b="1" i="1" dirty="0">
                <a:solidFill>
                  <a:srgbClr val="000066"/>
                </a:solidFill>
                <a:cs typeface="Times New Roman" panose="02020603050405020304" pitchFamily="18" charset="0"/>
              </a:rPr>
              <a:t>M</a:t>
            </a:r>
            <a:r>
              <a:rPr lang="en-US" altLang="zh-CN" sz="1800" b="1" baseline="-25000" dirty="0">
                <a:solidFill>
                  <a:srgbClr val="000066"/>
                </a:solidFill>
                <a:cs typeface="Times New Roman" panose="02020603050405020304" pitchFamily="18" charset="0"/>
              </a:rPr>
              <a:t>1</a:t>
            </a:r>
            <a:r>
              <a:rPr lang="en-US" altLang="zh-CN" sz="1800" b="1" dirty="0">
                <a:solidFill>
                  <a:srgbClr val="000066"/>
                </a:solidFill>
                <a:cs typeface="Times New Roman" panose="02020603050405020304" pitchFamily="18" charset="0"/>
                <a:sym typeface="Symbol" panose="05050102010706020507" pitchFamily="18" charset="2"/>
              </a:rPr>
              <a:t></a:t>
            </a:r>
            <a:r>
              <a:rPr lang="en-US" altLang="zh-CN" sz="1800" b="1" i="1" dirty="0">
                <a:solidFill>
                  <a:srgbClr val="000066"/>
                </a:solidFill>
                <a:cs typeface="Times New Roman" panose="02020603050405020304" pitchFamily="18" charset="0"/>
              </a:rPr>
              <a:t>M</a:t>
            </a:r>
            <a:r>
              <a:rPr lang="en-US" altLang="zh-CN" sz="1800" b="1" baseline="-25000" dirty="0">
                <a:solidFill>
                  <a:srgbClr val="000066"/>
                </a:solidFill>
                <a:cs typeface="Times New Roman" panose="02020603050405020304" pitchFamily="18" charset="0"/>
              </a:rPr>
              <a:t>3</a:t>
            </a:r>
            <a:endParaRPr lang="zh-CN" altLang="en-US" sz="1800" b="1" dirty="0"/>
          </a:p>
          <a:p>
            <a:endParaRPr lang="zh-CN" altLang="en-US"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endParaRPr>
          </a:p>
        </p:txBody>
      </p:sp>
      <p:sp>
        <p:nvSpPr>
          <p:cNvPr id="4" name="灯片编号占位符 3"/>
          <p:cNvSpPr>
            <a:spLocks noGrp="1"/>
          </p:cNvSpPr>
          <p:nvPr>
            <p:ph type="sldNum" sz="quarter" idx="10"/>
          </p:nvPr>
        </p:nvSpPr>
        <p:spPr/>
        <p:txBody>
          <a:bodyPr/>
          <a:lstStyle/>
          <a:p>
            <a:fld id="{CAFE74B6-F93C-4D90-BE1A-7EFEDB35C0D4}" type="slidenum">
              <a:rPr lang="zh-CN" altLang="en-US" smtClean="0"/>
              <a:t>67</a:t>
            </a:fld>
            <a:endParaRPr lang="zh-CN" altLang="en-US"/>
          </a:p>
        </p:txBody>
      </p:sp>
    </p:spTree>
    <p:extLst>
      <p:ext uri="{BB962C8B-B14F-4D97-AF65-F5344CB8AC3E}">
        <p14:creationId xmlns:p14="http://schemas.microsoft.com/office/powerpoint/2010/main" val="22380604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spcBef>
                <a:spcPct val="40000"/>
              </a:spcBef>
              <a:buFontTx/>
              <a:buNone/>
            </a:pPr>
            <a:r>
              <a:rPr lang="zh-CN" altLang="en-US" b="1" dirty="0">
                <a:solidFill>
                  <a:srgbClr val="00B0F0"/>
                </a:solidFill>
              </a:rPr>
              <a:t>例：  </a:t>
            </a:r>
            <a:r>
              <a:rPr lang="zh-CN" altLang="en-US" b="1" dirty="0"/>
              <a:t>求 </a:t>
            </a:r>
            <a:r>
              <a:rPr lang="en-US" altLang="zh-CN" b="1" i="1" dirty="0"/>
              <a:t>A </a:t>
            </a:r>
            <a:r>
              <a:rPr lang="en-US" altLang="zh-CN" b="1" dirty="0">
                <a:cs typeface="Times New Roman" panose="02020603050405020304" pitchFamily="18" charset="0"/>
                <a:sym typeface="Symbol" panose="05050102010706020507" pitchFamily="18" charset="2"/>
              </a:rPr>
              <a:t> (</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en-US" altLang="zh-CN" b="1" dirty="0">
                <a:cs typeface="Times New Roman" panose="02020603050405020304" pitchFamily="18" charset="0"/>
              </a:rPr>
              <a:t>)</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zh-CN" altLang="en-US" b="1" dirty="0"/>
              <a:t>的主析取范式</a:t>
            </a:r>
          </a:p>
          <a:p>
            <a:pPr marL="609600" indent="-609600" eaLnBrk="1" hangingPunct="1">
              <a:spcBef>
                <a:spcPct val="40000"/>
              </a:spcBef>
              <a:buFontTx/>
              <a:buNone/>
            </a:pPr>
            <a:r>
              <a:rPr lang="zh-CN" altLang="en-US" b="1" dirty="0"/>
              <a:t>解  用快速求法</a:t>
            </a:r>
          </a:p>
          <a:p>
            <a:pPr marL="609600" indent="-609600" eaLnBrk="1" hangingPunct="1">
              <a:spcBef>
                <a:spcPct val="40000"/>
              </a:spcBef>
              <a:buFontTx/>
              <a:buNone/>
            </a:pPr>
            <a:r>
              <a:rPr lang="zh-CN" altLang="en-US" b="1" dirty="0"/>
              <a:t>(1)  </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zh-CN" altLang="en-US" b="1" dirty="0"/>
              <a:t> </a:t>
            </a:r>
            <a:r>
              <a:rPr lang="zh-CN" altLang="en-US" b="1" dirty="0">
                <a:cs typeface="Times New Roman" panose="02020603050405020304" pitchFamily="18" charset="0"/>
                <a:sym typeface="Symbol" panose="05050102010706020507" pitchFamily="18" charset="2"/>
              </a:rPr>
              <a:t></a:t>
            </a:r>
            <a:r>
              <a:rPr lang="zh-CN" altLang="en-US" b="1" dirty="0"/>
              <a:t> (</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r</a:t>
            </a:r>
            <a:r>
              <a:rPr lang="zh-CN" altLang="en-US" b="1" dirty="0"/>
              <a:t>)</a:t>
            </a:r>
            <a:r>
              <a:rPr lang="en-US" altLang="zh-CN" b="1" dirty="0">
                <a:cs typeface="Times New Roman" panose="02020603050405020304" pitchFamily="18" charset="0"/>
                <a:sym typeface="Symbol" panose="05050102010706020507" pitchFamily="18" charset="2"/>
              </a:rPr>
              <a:t></a:t>
            </a:r>
            <a:r>
              <a:rPr lang="zh-CN" altLang="en-US" b="1" dirty="0"/>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zh-CN" altLang="en-US" b="1" dirty="0"/>
              <a:t>) </a:t>
            </a:r>
            <a:r>
              <a:rPr lang="zh-CN" altLang="en-US"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2</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3</a:t>
            </a:r>
            <a:endParaRPr lang="zh-CN" altLang="en-US" b="1" dirty="0"/>
          </a:p>
          <a:p>
            <a:pPr marL="609600" indent="-609600" eaLnBrk="1" hangingPunct="1">
              <a:spcBef>
                <a:spcPct val="40000"/>
              </a:spcBef>
              <a:buFontTx/>
              <a:buNone/>
            </a:pP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m</a:t>
            </a:r>
            <a:r>
              <a:rPr lang="en-US" altLang="zh-CN" b="1" baseline="-25000" dirty="0">
                <a:cs typeface="Times New Roman" panose="02020603050405020304" pitchFamily="18" charset="0"/>
              </a:rPr>
              <a:t>1</a:t>
            </a:r>
            <a:endParaRPr lang="zh-CN" altLang="en-US" b="1" dirty="0"/>
          </a:p>
          <a:p>
            <a:pPr marL="609600" indent="-609600" eaLnBrk="1" hangingPunct="1">
              <a:spcBef>
                <a:spcPct val="40000"/>
              </a:spcBef>
              <a:buFontTx/>
              <a:buNone/>
            </a:pPr>
            <a:r>
              <a:rPr lang="en-US" altLang="zh-CN" b="1" i="1" dirty="0">
                <a:cs typeface="Times New Roman" panose="02020603050405020304" pitchFamily="18" charset="0"/>
              </a:rPr>
              <a:t>       r</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p</a:t>
            </a:r>
            <a:r>
              <a:rPr lang="en-US" altLang="zh-CN"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p</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q</a:t>
            </a:r>
            <a:r>
              <a:rPr lang="en-US" altLang="zh-CN" b="1" dirty="0" err="1">
                <a:cs typeface="Times New Roman" panose="02020603050405020304" pitchFamily="18" charset="0"/>
                <a:sym typeface="Symbol" panose="05050102010706020507" pitchFamily="18" charset="2"/>
              </a:rPr>
              <a:t></a:t>
            </a:r>
            <a:r>
              <a:rPr lang="en-US" altLang="zh-CN" b="1" i="1" dirty="0" err="1">
                <a:cs typeface="Times New Roman" panose="02020603050405020304" pitchFamily="18" charset="0"/>
              </a:rPr>
              <a:t>r</a:t>
            </a:r>
            <a:r>
              <a:rPr lang="zh-CN" altLang="en-US" b="1" dirty="0">
                <a:cs typeface="Times New Roman" panose="02020603050405020304" pitchFamily="18" charset="0"/>
                <a:sym typeface="Symbol" panose="05050102010706020507" pitchFamily="18" charset="2"/>
              </a:rPr>
              <a:t>)</a:t>
            </a:r>
          </a:p>
          <a:p>
            <a:pPr marL="609600" indent="-609600" eaLnBrk="1" hangingPunct="1">
              <a:spcBef>
                <a:spcPct val="40000"/>
              </a:spcBef>
              <a:buFont typeface="Symbol" panose="05050102010706020507" pitchFamily="18" charset="2"/>
              <a:buNone/>
            </a:pPr>
            <a:r>
              <a:rPr lang="zh-CN" altLang="en-US" b="1" dirty="0">
                <a:cs typeface="Times New Roman" panose="02020603050405020304" pitchFamily="18" charset="0"/>
                <a:sym typeface="Symbol" panose="05050102010706020507" pitchFamily="18" charset="2"/>
              </a:rPr>
              <a:t>           </a:t>
            </a:r>
            <a:r>
              <a:rPr lang="en-US" altLang="zh-CN" b="1" i="1" dirty="0">
                <a:cs typeface="Times New Roman" panose="02020603050405020304" pitchFamily="18" charset="0"/>
              </a:rPr>
              <a:t>m</a:t>
            </a:r>
            <a:r>
              <a:rPr lang="en-US" altLang="zh-CN" b="1" baseline="-25000" dirty="0">
                <a:cs typeface="Times New Roman" panose="02020603050405020304" pitchFamily="18" charset="0"/>
              </a:rPr>
              <a:t>1</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3</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5</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7</a:t>
            </a:r>
            <a:endParaRPr lang="zh-CN" altLang="en-US" b="1" dirty="0">
              <a:cs typeface="Times New Roman" panose="02020603050405020304" pitchFamily="18" charset="0"/>
              <a:sym typeface="Symbol" panose="05050102010706020507" pitchFamily="18" charset="2"/>
            </a:endParaRPr>
          </a:p>
          <a:p>
            <a:pPr marL="609600" indent="-609600" eaLnBrk="1" hangingPunct="1">
              <a:spcBef>
                <a:spcPct val="40000"/>
              </a:spcBef>
              <a:buFont typeface="Symbol" panose="05050102010706020507" pitchFamily="18" charset="2"/>
              <a:buNone/>
            </a:pPr>
            <a:r>
              <a:rPr lang="zh-CN" altLang="en-US" b="1" dirty="0">
                <a:sym typeface="Symbol" panose="05050102010706020507" pitchFamily="18" charset="2"/>
              </a:rPr>
              <a:t>得   </a:t>
            </a:r>
            <a:r>
              <a:rPr lang="en-US" altLang="zh-CN" b="1" i="1" dirty="0">
                <a:sym typeface="Symbol" panose="05050102010706020507" pitchFamily="18" charset="2"/>
              </a:rPr>
              <a:t>A</a:t>
            </a:r>
            <a:r>
              <a:rPr lang="en-US" altLang="zh-CN" b="1" dirty="0">
                <a:cs typeface="Times New Roman" panose="02020603050405020304" pitchFamily="18" charset="0"/>
                <a:sym typeface="Symbol" panose="05050102010706020507" pitchFamily="18" charset="2"/>
              </a:rPr>
              <a:t></a:t>
            </a:r>
            <a:r>
              <a:rPr lang="zh-CN" altLang="en-US"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1</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2</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3</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5</a:t>
            </a:r>
            <a:r>
              <a:rPr lang="en-US" altLang="zh-CN" b="1" dirty="0">
                <a:cs typeface="Times New Roman" panose="02020603050405020304" pitchFamily="18" charset="0"/>
                <a:sym typeface="Symbol" panose="05050102010706020507" pitchFamily="18" charset="2"/>
              </a:rPr>
              <a:t> </a:t>
            </a:r>
            <a:r>
              <a:rPr lang="en-US" altLang="zh-CN" b="1" i="1" dirty="0">
                <a:cs typeface="Times New Roman" panose="02020603050405020304" pitchFamily="18" charset="0"/>
              </a:rPr>
              <a:t>m</a:t>
            </a:r>
            <a:r>
              <a:rPr lang="en-US" altLang="zh-CN" b="1" baseline="-25000" dirty="0">
                <a:cs typeface="Times New Roman" panose="02020603050405020304" pitchFamily="18" charset="0"/>
              </a:rPr>
              <a:t>7 </a:t>
            </a:r>
            <a:r>
              <a:rPr lang="zh-CN" altLang="en-US" b="1" dirty="0">
                <a:cs typeface="Times New Roman" panose="02020603050405020304" pitchFamily="18" charset="0"/>
                <a:sym typeface="Symbol" panose="05050102010706020507" pitchFamily="18" charset="2"/>
              </a:rPr>
              <a:t> </a:t>
            </a:r>
            <a:r>
              <a:rPr lang="en-US" altLang="zh-CN" b="1" dirty="0">
                <a:cs typeface="Times New Roman" panose="02020603050405020304" pitchFamily="18" charset="0"/>
              </a:rPr>
              <a:t>(1,2,3,5,7)</a:t>
            </a:r>
            <a:endParaRPr lang="zh-CN" altLang="en-US" b="1" dirty="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68</a:t>
            </a:fld>
            <a:endParaRPr lang="zh-CN" altLang="en-US"/>
          </a:p>
        </p:txBody>
      </p:sp>
    </p:spTree>
    <p:extLst>
      <p:ext uri="{BB962C8B-B14F-4D97-AF65-F5344CB8AC3E}">
        <p14:creationId xmlns:p14="http://schemas.microsoft.com/office/powerpoint/2010/main" val="1976793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40000"/>
              </a:spcBef>
              <a:buFont typeface="Symbol" panose="05050102010706020507" pitchFamily="18" charset="2"/>
              <a:buNone/>
            </a:pPr>
            <a:r>
              <a:rPr lang="zh-CN" altLang="en-US" sz="1200" b="1" dirty="0"/>
              <a:t>(2) 求 </a:t>
            </a:r>
            <a:r>
              <a:rPr lang="en-US" altLang="zh-CN" sz="1200" b="1" i="1" dirty="0"/>
              <a:t>B</a:t>
            </a:r>
            <a:r>
              <a:rPr lang="en-US" altLang="zh-CN" sz="1200" b="1" dirty="0">
                <a:cs typeface="Times New Roman" panose="02020603050405020304" pitchFamily="18" charset="0"/>
                <a:sym typeface="Symbol" panose="05050102010706020507" pitchFamily="18" charset="2"/>
              </a:rPr>
              <a:t></a:t>
            </a:r>
            <a:r>
              <a:rPr lang="en-US" altLang="zh-CN" sz="1200" b="1" dirty="0"/>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a:t>
            </a:r>
            <a:r>
              <a:rPr lang="zh-CN" altLang="en-US" sz="1200" b="1" dirty="0"/>
              <a:t>的主合取范式</a:t>
            </a:r>
            <a:endParaRPr lang="en-US" altLang="zh-CN" sz="1200" b="1" dirty="0">
              <a:cs typeface="Times New Roman" panose="02020603050405020304" pitchFamily="18" charset="0"/>
              <a:sym typeface="Symbol" panose="05050102010706020507" pitchFamily="18" charset="2"/>
            </a:endParaRPr>
          </a:p>
          <a:p>
            <a:pPr>
              <a:spcBef>
                <a:spcPct val="40000"/>
              </a:spcBef>
              <a:buNone/>
            </a:pPr>
            <a:r>
              <a:rPr lang="zh-CN" altLang="en-US" sz="1200" b="1" dirty="0">
                <a:sym typeface="Symbol" panose="05050102010706020507" pitchFamily="18" charset="2"/>
              </a:rPr>
              <a:t>解  </a:t>
            </a:r>
            <a:r>
              <a:rPr lang="zh-CN" altLang="en-US" b="1" dirty="0"/>
              <a:t>用快速求法</a:t>
            </a:r>
            <a:endParaRPr lang="en-US" altLang="zh-CN" sz="1200" b="1" dirty="0">
              <a:cs typeface="Times New Roman" panose="02020603050405020304" pitchFamily="18" charset="0"/>
              <a:sym typeface="Symbol" panose="05050102010706020507" pitchFamily="18" charset="2"/>
            </a:endParaRPr>
          </a:p>
          <a:p>
            <a:pPr eaLnBrk="1" hangingPunct="1">
              <a:spcBef>
                <a:spcPct val="40000"/>
              </a:spcBef>
              <a:buFont typeface="Symbol" panose="05050102010706020507" pitchFamily="18" charset="2"/>
              <a:buNone/>
            </a:pPr>
            <a:r>
              <a:rPr lang="zh-CN" altLang="en-US"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zh-CN" altLang="en-US" sz="1200" b="1" dirty="0">
                <a:cs typeface="Times New Roman" panose="02020603050405020304" pitchFamily="18" charset="0"/>
                <a:sym typeface="Symbol" panose="05050102010706020507" pitchFamily="18" charset="2"/>
              </a:rPr>
              <a:t>  (</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r</a:t>
            </a:r>
            <a:r>
              <a:rPr lang="en-US" altLang="zh-CN"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r</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en-US" altLang="zh-CN" sz="1200" b="1" dirty="0">
                <a:cs typeface="Times New Roman" panose="02020603050405020304" pitchFamily="18" charset="0"/>
              </a:rPr>
              <a:t>)</a:t>
            </a:r>
            <a:endParaRPr lang="zh-CN" altLang="en-US" sz="1200" b="1" dirty="0">
              <a:cs typeface="Times New Roman" panose="02020603050405020304" pitchFamily="18" charset="0"/>
              <a:sym typeface="Symbol" panose="05050102010706020507" pitchFamily="18" charset="2"/>
            </a:endParaRPr>
          </a:p>
          <a:p>
            <a:pPr eaLnBrk="1" hangingPunct="1">
              <a:spcBef>
                <a:spcPct val="40000"/>
              </a:spcBef>
              <a:buFont typeface="Symbol" panose="05050102010706020507" pitchFamily="18" charset="2"/>
              <a:buNone/>
            </a:pPr>
            <a:r>
              <a:rPr lang="zh-CN" altLang="en-US"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4</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5</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6</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7</a:t>
            </a:r>
            <a:endParaRPr lang="en-US" altLang="zh-CN" sz="1200" b="1" baseline="-25000" dirty="0">
              <a:cs typeface="Times New Roman" panose="02020603050405020304" pitchFamily="18" charset="0"/>
              <a:sym typeface="Symbol" panose="05050102010706020507" pitchFamily="18" charset="2"/>
            </a:endParaRPr>
          </a:p>
          <a:p>
            <a:pPr eaLnBrk="1" hangingPunct="1">
              <a:spcBef>
                <a:spcPct val="40000"/>
              </a:spcBef>
              <a:buFont typeface="Symbol" panose="05050102010706020507" pitchFamily="18" charset="2"/>
              <a:buNone/>
            </a:pPr>
            <a:r>
              <a:rPr lang="en-US" altLang="zh-CN" sz="1200" b="1" i="1" dirty="0">
                <a:cs typeface="Times New Roman" panose="02020603050405020304" pitchFamily="18" charset="0"/>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r</a:t>
            </a:r>
            <a:r>
              <a:rPr lang="zh-CN" altLang="en-US"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1</a:t>
            </a:r>
            <a:endParaRPr lang="zh-CN" altLang="en-US" sz="1200" b="1" baseline="-25000" dirty="0">
              <a:cs typeface="Times New Roman" panose="02020603050405020304" pitchFamily="18" charset="0"/>
              <a:sym typeface="Symbol" panose="05050102010706020507" pitchFamily="18" charset="2"/>
            </a:endParaRPr>
          </a:p>
          <a:p>
            <a:pPr eaLnBrk="1" hangingPunct="1">
              <a:spcBef>
                <a:spcPct val="40000"/>
              </a:spcBef>
              <a:buFont typeface="Symbol" panose="05050102010706020507" pitchFamily="18" charset="2"/>
              <a:buNone/>
            </a:pPr>
            <a:r>
              <a:rPr lang="zh-CN" altLang="en-US" sz="1200" b="1" dirty="0">
                <a:sym typeface="Symbol" panose="05050102010706020507" pitchFamily="18" charset="2"/>
              </a:rPr>
              <a:t>得   </a:t>
            </a:r>
            <a:r>
              <a:rPr lang="en-US" altLang="zh-CN" sz="1200" b="1" i="1" dirty="0"/>
              <a:t>B</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4</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5</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6</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7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rPr>
              <a:t>(1,4,5,6,7</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69</a:t>
            </a:fld>
            <a:endParaRPr lang="zh-CN" altLang="en-US"/>
          </a:p>
        </p:txBody>
      </p:sp>
    </p:spTree>
    <p:extLst>
      <p:ext uri="{BB962C8B-B14F-4D97-AF65-F5344CB8AC3E}">
        <p14:creationId xmlns:p14="http://schemas.microsoft.com/office/powerpoint/2010/main" val="108831694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spcBef>
                <a:spcPct val="40000"/>
              </a:spcBef>
              <a:buFontTx/>
              <a:buNone/>
            </a:pPr>
            <a:r>
              <a:rPr lang="zh-CN" altLang="en-US" sz="1200" b="1" dirty="0">
                <a:solidFill>
                  <a:srgbClr val="FF0000"/>
                </a:solidFill>
              </a:rPr>
              <a:t>(1) 求公式的成真赋值和成假赋值</a:t>
            </a:r>
          </a:p>
          <a:p>
            <a:pPr marL="609600" indent="-609600" eaLnBrk="1" hangingPunct="1">
              <a:spcBef>
                <a:spcPct val="40000"/>
              </a:spcBef>
              <a:buFontTx/>
              <a:buNone/>
            </a:pPr>
            <a:r>
              <a:rPr lang="zh-CN" altLang="en-US" sz="1200" b="1" dirty="0"/>
              <a:t>设公式</a:t>
            </a:r>
            <a:r>
              <a:rPr lang="en-US" altLang="zh-CN" sz="1200" b="1" i="1" dirty="0"/>
              <a:t>A</a:t>
            </a:r>
            <a:r>
              <a:rPr lang="zh-CN" altLang="en-US" sz="1200" b="1" dirty="0"/>
              <a:t>含</a:t>
            </a:r>
            <a:r>
              <a:rPr lang="en-US" altLang="zh-CN" sz="1200" b="1" i="1" dirty="0"/>
              <a:t>n</a:t>
            </a:r>
            <a:r>
              <a:rPr lang="zh-CN" altLang="en-US" sz="1200" b="1" dirty="0"/>
              <a:t>个命题变项, </a:t>
            </a:r>
            <a:r>
              <a:rPr lang="en-US" altLang="zh-CN" sz="1200" b="1" i="1" dirty="0"/>
              <a:t>A</a:t>
            </a:r>
            <a:r>
              <a:rPr lang="zh-CN" altLang="en-US" sz="1200" b="1" dirty="0"/>
              <a:t>的主析取范式有</a:t>
            </a:r>
            <a:r>
              <a:rPr lang="en-US" altLang="zh-CN" sz="1200" b="1" i="1" dirty="0"/>
              <a:t>s</a:t>
            </a:r>
            <a:r>
              <a:rPr lang="zh-CN" altLang="en-US" sz="1200" b="1" dirty="0"/>
              <a:t>个极小项, 则</a:t>
            </a:r>
            <a:r>
              <a:rPr lang="en-US" altLang="zh-CN" sz="1200" b="1" i="1" dirty="0"/>
              <a:t>A</a:t>
            </a:r>
          </a:p>
          <a:p>
            <a:pPr marL="609600" indent="-609600" eaLnBrk="1" hangingPunct="1">
              <a:spcBef>
                <a:spcPct val="40000"/>
              </a:spcBef>
              <a:buFontTx/>
              <a:buNone/>
            </a:pPr>
            <a:r>
              <a:rPr lang="zh-CN" altLang="en-US" sz="1200" b="1" dirty="0"/>
              <a:t>有</a:t>
            </a:r>
            <a:r>
              <a:rPr lang="en-US" altLang="zh-CN" sz="1200" b="1" i="1" dirty="0"/>
              <a:t>s</a:t>
            </a:r>
            <a:r>
              <a:rPr lang="zh-CN" altLang="en-US" sz="1200" b="1" dirty="0"/>
              <a:t>个成真赋值, 它们是极小项下标的二进制表示, 其余2</a:t>
            </a:r>
            <a:r>
              <a:rPr lang="en-US" altLang="zh-CN" sz="1200" b="1" i="1" baseline="30000" dirty="0"/>
              <a:t>n</a:t>
            </a:r>
            <a:r>
              <a:rPr lang="en-US" altLang="zh-CN" sz="1200" b="1" dirty="0"/>
              <a:t>-</a:t>
            </a:r>
            <a:r>
              <a:rPr lang="en-US" altLang="zh-CN" sz="1200" b="1" i="1" dirty="0"/>
              <a:t>s</a:t>
            </a:r>
          </a:p>
          <a:p>
            <a:pPr marL="609600" indent="-609600" eaLnBrk="1" hangingPunct="1">
              <a:spcBef>
                <a:spcPct val="40000"/>
              </a:spcBef>
              <a:buFontTx/>
              <a:buNone/>
            </a:pPr>
            <a:r>
              <a:rPr lang="zh-CN" altLang="en-US" sz="1200" b="1" dirty="0">
                <a:latin typeface="宋体" panose="02010600030101010101" pitchFamily="2" charset="-122"/>
              </a:rPr>
              <a:t>个赋值都是成假赋值  </a:t>
            </a:r>
          </a:p>
          <a:p>
            <a:pPr marL="609600" indent="-609600" eaLnBrk="1" hangingPunct="1">
              <a:spcBef>
                <a:spcPct val="40000"/>
              </a:spcBef>
              <a:buFontTx/>
              <a:buNone/>
            </a:pPr>
            <a:endParaRPr lang="zh-CN" altLang="en-US" sz="1200" b="1" dirty="0">
              <a:latin typeface="宋体" panose="02010600030101010101" pitchFamily="2" charset="-122"/>
            </a:endParaRPr>
          </a:p>
          <a:p>
            <a:pPr marL="609600" indent="-609600" eaLnBrk="1" hangingPunct="1">
              <a:spcBef>
                <a:spcPct val="40000"/>
              </a:spcBef>
              <a:buFontTx/>
              <a:buNone/>
            </a:pPr>
            <a:r>
              <a:rPr lang="zh-CN" altLang="en-US" sz="1200" b="1" dirty="0">
                <a:solidFill>
                  <a:srgbClr val="000066"/>
                </a:solidFill>
                <a:latin typeface="宋体" panose="02010600030101010101" pitchFamily="2" charset="-122"/>
              </a:rPr>
              <a:t>例如</a:t>
            </a:r>
            <a:r>
              <a:rPr lang="zh-CN" altLang="en-US" sz="1200" b="1" dirty="0">
                <a:solidFill>
                  <a:srgbClr val="000066"/>
                </a:solidFill>
              </a:rPr>
              <a:t>  </a:t>
            </a:r>
            <a:r>
              <a:rPr lang="en-US" altLang="zh-CN" sz="1200" b="1" dirty="0">
                <a:solidFill>
                  <a:srgbClr val="000066"/>
                </a:solidFill>
                <a:cs typeface="Times New Roman" panose="02020603050405020304" pitchFamily="18" charset="0"/>
                <a:sym typeface="Symbol" panose="05050102010706020507" pitchFamily="18" charset="2"/>
              </a:rPr>
              <a:t></a:t>
            </a:r>
            <a:r>
              <a:rPr lang="zh-CN" altLang="en-US" sz="1200" b="1" dirty="0">
                <a:solidFill>
                  <a:srgbClr val="000066"/>
                </a:solidFill>
                <a:cs typeface="Times New Roman" panose="02020603050405020304" pitchFamily="18" charset="0"/>
              </a:rPr>
              <a:t>(</a:t>
            </a:r>
            <a:r>
              <a:rPr lang="en-US" altLang="zh-CN" sz="1200" b="1" i="1" dirty="0" err="1">
                <a:solidFill>
                  <a:srgbClr val="000066"/>
                </a:solidFill>
                <a:cs typeface="Times New Roman" panose="02020603050405020304" pitchFamily="18" charset="0"/>
              </a:rPr>
              <a:t>p</a:t>
            </a:r>
            <a:r>
              <a:rPr lang="en-US" altLang="zh-CN" sz="1200" b="1" dirty="0" err="1">
                <a:solidFill>
                  <a:srgbClr val="000066"/>
                </a:solidFill>
                <a:cs typeface="Times New Roman" panose="02020603050405020304" pitchFamily="18" charset="0"/>
                <a:sym typeface="Symbol" panose="05050102010706020507" pitchFamily="18" charset="2"/>
              </a:rPr>
              <a:t></a:t>
            </a:r>
            <a:r>
              <a:rPr lang="en-US" altLang="zh-CN" sz="1200" b="1" i="1" dirty="0" err="1">
                <a:solidFill>
                  <a:srgbClr val="000066"/>
                </a:solidFill>
                <a:cs typeface="Times New Roman" panose="02020603050405020304" pitchFamily="18" charset="0"/>
              </a:rPr>
              <a:t>q</a:t>
            </a:r>
            <a:r>
              <a:rPr lang="en-US" altLang="zh-CN" sz="1200" b="1" dirty="0">
                <a:solidFill>
                  <a:srgbClr val="000066"/>
                </a:solidFill>
                <a:cs typeface="Times New Roman" panose="02020603050405020304" pitchFamily="18" charset="0"/>
              </a:rPr>
              <a:t>)</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r</a:t>
            </a:r>
            <a:r>
              <a:rPr lang="en-US" altLang="zh-CN" sz="1200" b="1" dirty="0">
                <a:solidFill>
                  <a:srgbClr val="000066"/>
                </a:solidFill>
                <a:cs typeface="Times New Roman" panose="02020603050405020304" pitchFamily="18" charset="0"/>
              </a:rPr>
              <a:t> </a:t>
            </a:r>
            <a:r>
              <a:rPr lang="zh-CN" altLang="en-US" sz="1200" b="1" dirty="0">
                <a:solidFill>
                  <a:srgbClr val="000066"/>
                </a:solidFill>
                <a:cs typeface="Times New Roman" panose="02020603050405020304" pitchFamily="18" charset="0"/>
                <a:sym typeface="Symbol" panose="05050102010706020507" pitchFamily="18" charset="2"/>
              </a:rPr>
              <a:t> </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0</a:t>
            </a:r>
            <a:r>
              <a:rPr lang="en-US" altLang="zh-CN" sz="1200" b="1" dirty="0">
                <a:solidFill>
                  <a:srgbClr val="000066"/>
                </a:solidFill>
                <a:cs typeface="Times New Roman" panose="02020603050405020304" pitchFamily="18" charset="0"/>
                <a:sym typeface="Symbol" panose="05050102010706020507" pitchFamily="18" charset="2"/>
              </a:rPr>
              <a:t> </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2</a:t>
            </a:r>
            <a:r>
              <a:rPr lang="en-US" altLang="zh-CN" sz="1200" b="1" dirty="0">
                <a:solidFill>
                  <a:srgbClr val="000066"/>
                </a:solidFill>
                <a:cs typeface="Times New Roman" panose="02020603050405020304" pitchFamily="18" charset="0"/>
                <a:sym typeface="Symbol" panose="05050102010706020507" pitchFamily="18" charset="2"/>
              </a:rPr>
              <a:t> </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4 </a:t>
            </a:r>
            <a:r>
              <a:rPr lang="en-US" altLang="zh-CN" sz="1200" b="1" dirty="0">
                <a:solidFill>
                  <a:srgbClr val="000066"/>
                </a:solidFill>
                <a:cs typeface="Times New Roman" panose="02020603050405020304" pitchFamily="18" charset="0"/>
                <a:sym typeface="Symbol" panose="05050102010706020507" pitchFamily="18" charset="2"/>
              </a:rPr>
              <a:t></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5 </a:t>
            </a:r>
            <a:r>
              <a:rPr lang="en-US" altLang="zh-CN" sz="1200" b="1" dirty="0">
                <a:solidFill>
                  <a:srgbClr val="000066"/>
                </a:solidFill>
                <a:cs typeface="Times New Roman" panose="02020603050405020304" pitchFamily="18" charset="0"/>
                <a:sym typeface="Symbol" panose="05050102010706020507" pitchFamily="18" charset="2"/>
              </a:rPr>
              <a:t> </a:t>
            </a:r>
            <a:r>
              <a:rPr lang="en-US" altLang="zh-CN" sz="1200" b="1" i="1" dirty="0">
                <a:solidFill>
                  <a:srgbClr val="000066"/>
                </a:solidFill>
                <a:cs typeface="Times New Roman" panose="02020603050405020304" pitchFamily="18" charset="0"/>
              </a:rPr>
              <a:t>m</a:t>
            </a:r>
            <a:r>
              <a:rPr lang="en-US" altLang="zh-CN" sz="1200" b="1" baseline="-25000" dirty="0">
                <a:solidFill>
                  <a:srgbClr val="000066"/>
                </a:solidFill>
                <a:cs typeface="Times New Roman" panose="02020603050405020304" pitchFamily="18" charset="0"/>
              </a:rPr>
              <a:t>6</a:t>
            </a:r>
            <a:r>
              <a:rPr lang="zh-CN" altLang="en-US" sz="1200" b="1" dirty="0">
                <a:solidFill>
                  <a:srgbClr val="000066"/>
                </a:solidFill>
              </a:rPr>
              <a:t> </a:t>
            </a:r>
          </a:p>
          <a:p>
            <a:pPr marL="609600" indent="-609600" eaLnBrk="1" hangingPunct="1">
              <a:spcBef>
                <a:spcPct val="40000"/>
              </a:spcBef>
              <a:buFontTx/>
              <a:buNone/>
            </a:pPr>
            <a:r>
              <a:rPr lang="zh-CN" altLang="en-US" sz="1200" b="1" dirty="0">
                <a:solidFill>
                  <a:srgbClr val="000066"/>
                </a:solidFill>
              </a:rPr>
              <a:t>成真赋值: 000,010,100,101,110;     成假赋值: 001,011,111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70</a:t>
            </a:fld>
            <a:endParaRPr lang="zh-CN" altLang="en-US"/>
          </a:p>
        </p:txBody>
      </p:sp>
    </p:spTree>
    <p:extLst>
      <p:ext uri="{BB962C8B-B14F-4D97-AF65-F5344CB8AC3E}">
        <p14:creationId xmlns:p14="http://schemas.microsoft.com/office/powerpoint/2010/main" val="13805222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40000"/>
              </a:spcBef>
              <a:buFontTx/>
              <a:buNone/>
            </a:pPr>
            <a:r>
              <a:rPr lang="zh-CN" altLang="en-US" sz="1200" b="1" dirty="0">
                <a:solidFill>
                  <a:srgbClr val="FF0000"/>
                </a:solidFill>
              </a:rPr>
              <a:t>(</a:t>
            </a:r>
            <a:r>
              <a:rPr lang="zh-CN" altLang="en-US" sz="1200" b="1" dirty="0">
                <a:solidFill>
                  <a:srgbClr val="FF0000"/>
                </a:solidFill>
                <a:cs typeface="Times New Roman" panose="02020603050405020304" pitchFamily="18" charset="0"/>
              </a:rPr>
              <a:t>2)  </a:t>
            </a:r>
            <a:r>
              <a:rPr lang="zh-CN" altLang="en-US" sz="1200" b="1" dirty="0">
                <a:solidFill>
                  <a:srgbClr val="FF0000"/>
                </a:solidFill>
                <a:latin typeface="宋体" panose="02010600030101010101" pitchFamily="2" charset="-122"/>
              </a:rPr>
              <a:t>判断公式的类型</a:t>
            </a:r>
            <a:r>
              <a:rPr lang="zh-CN" altLang="en-US" sz="1200" b="1" dirty="0">
                <a:solidFill>
                  <a:srgbClr val="FF0000"/>
                </a:solidFill>
                <a:cs typeface="Times New Roman" panose="02020603050405020304" pitchFamily="18" charset="0"/>
              </a:rPr>
              <a:t> </a:t>
            </a:r>
            <a:r>
              <a:rPr lang="zh-CN" altLang="en-US" sz="1200" b="1" dirty="0">
                <a:cs typeface="Times New Roman" panose="02020603050405020304" pitchFamily="18" charset="0"/>
              </a:rPr>
              <a:t> </a:t>
            </a:r>
          </a:p>
          <a:p>
            <a:pPr algn="just" eaLnBrk="1" hangingPunct="1">
              <a:spcBef>
                <a:spcPct val="40000"/>
              </a:spcBef>
              <a:buFontTx/>
              <a:buNone/>
            </a:pPr>
            <a:r>
              <a:rPr lang="zh-CN" altLang="en-US" sz="1200" b="1" dirty="0">
                <a:latin typeface="宋体" panose="02010600030101010101" pitchFamily="2" charset="-122"/>
              </a:rPr>
              <a:t>设</a:t>
            </a:r>
            <a:r>
              <a:rPr lang="en-US" altLang="zh-CN" sz="1200" b="1" i="1" dirty="0">
                <a:cs typeface="Times New Roman" panose="02020603050405020304" pitchFamily="18" charset="0"/>
              </a:rPr>
              <a:t>A</a:t>
            </a:r>
            <a:r>
              <a:rPr lang="zh-CN" altLang="en-US" sz="1200" b="1" dirty="0">
                <a:latin typeface="宋体" panose="02010600030101010101" pitchFamily="2" charset="-122"/>
              </a:rPr>
              <a:t>含</a:t>
            </a:r>
            <a:r>
              <a:rPr lang="en-US" altLang="zh-CN" sz="1200" b="1" i="1" dirty="0">
                <a:cs typeface="Times New Roman" panose="02020603050405020304" pitchFamily="18" charset="0"/>
              </a:rPr>
              <a:t>n</a:t>
            </a:r>
            <a:r>
              <a:rPr lang="zh-CN" altLang="en-US" sz="1200" b="1" dirty="0">
                <a:latin typeface="宋体" panose="02010600030101010101" pitchFamily="2" charset="-122"/>
              </a:rPr>
              <a:t>个命题变项，则</a:t>
            </a:r>
            <a:r>
              <a:rPr lang="zh-CN" altLang="en-US" sz="1200" b="1" dirty="0">
                <a:cs typeface="Times New Roman" panose="02020603050405020304" pitchFamily="18" charset="0"/>
              </a:rPr>
              <a:t> </a:t>
            </a:r>
          </a:p>
          <a:p>
            <a:pPr algn="just" eaLnBrk="1" hangingPunct="1">
              <a:spcBef>
                <a:spcPct val="40000"/>
              </a:spcBef>
              <a:buFontTx/>
              <a:buNone/>
            </a:pPr>
            <a:r>
              <a:rPr lang="en-US" altLang="zh-CN" sz="1200" b="1" i="1" dirty="0">
                <a:cs typeface="Times New Roman" panose="02020603050405020304" pitchFamily="18" charset="0"/>
              </a:rPr>
              <a:t>A</a:t>
            </a:r>
            <a:r>
              <a:rPr lang="zh-CN" altLang="en-US" sz="1200" b="1" dirty="0">
                <a:latin typeface="宋体" panose="02010600030101010101" pitchFamily="2" charset="-122"/>
              </a:rPr>
              <a:t>为重言式当且仅当</a:t>
            </a:r>
            <a:r>
              <a:rPr lang="en-US" altLang="zh-CN" sz="1200" b="1" i="1" dirty="0">
                <a:cs typeface="Times New Roman" panose="02020603050405020304" pitchFamily="18" charset="0"/>
              </a:rPr>
              <a:t>A</a:t>
            </a:r>
            <a:r>
              <a:rPr lang="zh-CN" altLang="en-US" sz="1200" b="1" dirty="0">
                <a:latin typeface="宋体" panose="02010600030101010101" pitchFamily="2" charset="-122"/>
              </a:rPr>
              <a:t>的主析取范式含</a:t>
            </a:r>
            <a:r>
              <a:rPr lang="zh-CN" altLang="en-US" sz="1200" b="1" dirty="0">
                <a:cs typeface="Times New Roman" panose="02020603050405020304" pitchFamily="18" charset="0"/>
              </a:rPr>
              <a:t>2</a:t>
            </a:r>
            <a:r>
              <a:rPr lang="en-US" altLang="zh-CN" sz="1200" b="1" i="1" baseline="30000" dirty="0">
                <a:cs typeface="Times New Roman" panose="02020603050405020304" pitchFamily="18" charset="0"/>
              </a:rPr>
              <a:t>n</a:t>
            </a:r>
            <a:r>
              <a:rPr lang="zh-CN" altLang="en-US" sz="1200" b="1" dirty="0">
                <a:latin typeface="宋体" panose="02010600030101010101" pitchFamily="2" charset="-122"/>
              </a:rPr>
              <a:t>个极小项</a:t>
            </a:r>
          </a:p>
          <a:p>
            <a:pPr algn="just" eaLnBrk="1" hangingPunct="1">
              <a:spcBef>
                <a:spcPct val="40000"/>
              </a:spcBef>
              <a:buFontTx/>
              <a:buNone/>
            </a:pPr>
            <a:r>
              <a:rPr lang="en-US" altLang="zh-CN" sz="1200" b="1" i="1" dirty="0">
                <a:cs typeface="Times New Roman" panose="02020603050405020304" pitchFamily="18" charset="0"/>
              </a:rPr>
              <a:t>A</a:t>
            </a:r>
            <a:r>
              <a:rPr lang="zh-CN" altLang="en-US" sz="1200" b="1" dirty="0">
                <a:latin typeface="宋体" panose="02010600030101010101" pitchFamily="2" charset="-122"/>
              </a:rPr>
              <a:t>为矛盾式当且仅当</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zh-CN" altLang="en-US" sz="1200" b="1" dirty="0">
                <a:latin typeface="宋体" panose="02010600030101010101" pitchFamily="2" charset="-122"/>
              </a:rPr>
              <a:t>的主析取范式不含任何极小项,记作</a:t>
            </a:r>
            <a:r>
              <a:rPr lang="zh-CN" altLang="en-US" sz="1200" b="1" dirty="0">
                <a:cs typeface="Times New Roman" panose="02020603050405020304" pitchFamily="18" charset="0"/>
              </a:rPr>
              <a:t>0 </a:t>
            </a:r>
          </a:p>
          <a:p>
            <a:pPr algn="just" eaLnBrk="1" hangingPunct="1">
              <a:spcBef>
                <a:spcPct val="40000"/>
              </a:spcBef>
              <a:buFontTx/>
              <a:buNone/>
            </a:pPr>
            <a:r>
              <a:rPr lang="en-US" altLang="zh-CN" sz="1200" b="1" i="1" dirty="0">
                <a:cs typeface="Times New Roman" panose="02020603050405020304" pitchFamily="18" charset="0"/>
              </a:rPr>
              <a:t>A</a:t>
            </a:r>
            <a:r>
              <a:rPr lang="zh-CN" altLang="en-US" sz="1200" b="1" dirty="0">
                <a:latin typeface="宋体" panose="02010600030101010101" pitchFamily="2" charset="-122"/>
              </a:rPr>
              <a:t>为可满足式当且仅当</a:t>
            </a:r>
            <a:r>
              <a:rPr lang="en-US" altLang="zh-CN" sz="1200" b="1" i="1" dirty="0">
                <a:cs typeface="Times New Roman" panose="02020603050405020304" pitchFamily="18" charset="0"/>
              </a:rPr>
              <a:t>A</a:t>
            </a:r>
            <a:r>
              <a:rPr lang="zh-CN" altLang="en-US" sz="1200" b="1" dirty="0">
                <a:latin typeface="宋体" panose="02010600030101010101" pitchFamily="2" charset="-122"/>
              </a:rPr>
              <a:t>的主析取范式中至少含一个极小项</a:t>
            </a:r>
            <a:endParaRPr lang="zh-CN" altLang="en-US" b="1" dirty="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71</a:t>
            </a:fld>
            <a:endParaRPr lang="zh-CN" altLang="en-US"/>
          </a:p>
        </p:txBody>
      </p:sp>
    </p:spTree>
    <p:extLst>
      <p:ext uri="{BB962C8B-B14F-4D97-AF65-F5344CB8AC3E}">
        <p14:creationId xmlns:p14="http://schemas.microsoft.com/office/powerpoint/2010/main" val="94136716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buFontTx/>
              <a:buNone/>
            </a:pPr>
            <a:r>
              <a:rPr lang="zh-CN" altLang="en-US" sz="1200" b="1" dirty="0">
                <a:solidFill>
                  <a:srgbClr val="00B0F0"/>
                </a:solidFill>
              </a:rPr>
              <a:t>例： </a:t>
            </a:r>
            <a:r>
              <a:rPr lang="zh-CN" altLang="en-US" sz="1200" b="1" dirty="0"/>
              <a:t>用主析取范式判断公式的类型:</a:t>
            </a:r>
          </a:p>
          <a:p>
            <a:pPr marL="609600" indent="-609600" eaLnBrk="1" hangingPunct="1">
              <a:spcBef>
                <a:spcPct val="40000"/>
              </a:spcBef>
              <a:buFontTx/>
              <a:buNone/>
            </a:pPr>
            <a:r>
              <a:rPr lang="zh-CN" altLang="en-US" sz="1200" b="1" dirty="0"/>
              <a:t>(1) </a:t>
            </a:r>
            <a:r>
              <a:rPr lang="en-US" altLang="zh-CN" sz="1200" b="1" i="1" dirty="0"/>
              <a:t>A</a:t>
            </a:r>
            <a:r>
              <a:rPr lang="en-US" altLang="zh-CN" sz="1200" b="1" dirty="0">
                <a:cs typeface="Times New Roman" panose="02020603050405020304" pitchFamily="18" charset="0"/>
                <a:sym typeface="Symbol" panose="05050102010706020507" pitchFamily="18" charset="2"/>
              </a:rPr>
              <a:t></a:t>
            </a:r>
            <a:r>
              <a:rPr lang="en-US" altLang="zh-CN" sz="1200" b="1" dirty="0"/>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    </a:t>
            </a:r>
            <a:r>
              <a:rPr lang="en-US" altLang="zh-CN" sz="1200" b="1" dirty="0">
                <a:cs typeface="Times New Roman" panose="02020603050405020304" pitchFamily="18" charset="0"/>
              </a:rPr>
              <a:t>(2) </a:t>
            </a:r>
            <a:r>
              <a:rPr lang="en-US" altLang="zh-CN" sz="1200" b="1" i="1" dirty="0"/>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(3) </a:t>
            </a:r>
            <a:r>
              <a:rPr lang="en-US" altLang="zh-CN" sz="1200" b="1" i="1" dirty="0"/>
              <a:t>C</a:t>
            </a:r>
            <a:r>
              <a:rPr lang="en-US" altLang="zh-CN" sz="1200" b="1" dirty="0">
                <a:cs typeface="Times New Roman" panose="02020603050405020304" pitchFamily="18" charset="0"/>
                <a:sym typeface="Symbol" panose="05050102010706020507" pitchFamily="18" charset="2"/>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r</a:t>
            </a:r>
            <a:endParaRPr lang="zh-CN" altLang="en-US" sz="1200" b="1" i="1" dirty="0">
              <a:sym typeface="Symbol" panose="05050102010706020507" pitchFamily="18" charset="2"/>
            </a:endParaRPr>
          </a:p>
          <a:p>
            <a:pPr marL="609600" indent="-609600" eaLnBrk="1" hangingPunct="1">
              <a:spcBef>
                <a:spcPct val="60000"/>
              </a:spcBef>
              <a:buFontTx/>
              <a:buNone/>
            </a:pPr>
            <a:r>
              <a:rPr lang="zh-CN" altLang="en-US" sz="1200" b="1" dirty="0">
                <a:solidFill>
                  <a:srgbClr val="00B0F0"/>
                </a:solidFill>
              </a:rPr>
              <a:t>解：</a:t>
            </a:r>
            <a:endParaRPr lang="en-US" altLang="zh-CN" sz="1200" b="1" dirty="0">
              <a:solidFill>
                <a:srgbClr val="00B0F0"/>
              </a:solidFill>
            </a:endParaRPr>
          </a:p>
          <a:p>
            <a:pPr marL="609600" indent="-609600" eaLnBrk="1" hangingPunct="1">
              <a:spcBef>
                <a:spcPct val="60000"/>
              </a:spcBef>
              <a:buFontTx/>
              <a:buNone/>
            </a:pPr>
            <a:r>
              <a:rPr lang="zh-CN" altLang="en-US" sz="1200" b="1" dirty="0"/>
              <a:t> (1) </a:t>
            </a:r>
            <a:r>
              <a:rPr lang="en-US" altLang="zh-CN" sz="1200" b="1" i="1" dirty="0">
                <a:cs typeface="Times New Roman" panose="02020603050405020304" pitchFamily="18" charset="0"/>
              </a:rPr>
              <a:t>A</a:t>
            </a:r>
            <a:r>
              <a:rPr lang="zh-CN" altLang="en-US" sz="1200" b="1" dirty="0"/>
              <a:t>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 </a:t>
            </a:r>
            <a:r>
              <a:rPr lang="zh-CN" altLang="en-US" sz="1200" b="1" dirty="0">
                <a:cs typeface="Times New Roman" panose="02020603050405020304" pitchFamily="18" charset="0"/>
                <a:sym typeface="Symbol" panose="05050102010706020507" pitchFamily="18" charset="2"/>
              </a:rPr>
              <a:t> 0           </a:t>
            </a:r>
            <a:r>
              <a:rPr lang="zh-CN" altLang="en-US" sz="1200" b="1" dirty="0">
                <a:sym typeface="Symbol" panose="05050102010706020507" pitchFamily="18" charset="2"/>
              </a:rPr>
              <a:t>矛盾式</a:t>
            </a:r>
          </a:p>
          <a:p>
            <a:pPr marL="609600" indent="-609600" eaLnBrk="1" hangingPunct="1">
              <a:spcBef>
                <a:spcPct val="60000"/>
              </a:spcBef>
              <a:buFontTx/>
              <a:buNone/>
            </a:pPr>
            <a:r>
              <a:rPr lang="en-US" altLang="zh-CN" sz="1200" b="1" dirty="0">
                <a:cs typeface="Times New Roman" panose="02020603050405020304" pitchFamily="18" charset="0"/>
              </a:rPr>
              <a:t>(2) </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 1 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0</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2</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3</a:t>
            </a:r>
            <a:r>
              <a:rPr lang="zh-CN" altLang="en-US" sz="1200" b="1" dirty="0">
                <a:cs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重言式</a:t>
            </a:r>
          </a:p>
          <a:p>
            <a:pPr marL="609600" indent="-609600" eaLnBrk="1" hangingPunct="1">
              <a:spcBef>
                <a:spcPct val="60000"/>
              </a:spcBef>
              <a:buFontTx/>
              <a:buNone/>
            </a:pPr>
            <a:r>
              <a:rPr lang="en-US" altLang="zh-CN" sz="1200" b="1" dirty="0">
                <a:cs typeface="Times New Roman" panose="02020603050405020304" pitchFamily="18" charset="0"/>
                <a:sym typeface="Symbol" panose="05050102010706020507" pitchFamily="18" charset="2"/>
              </a:rPr>
              <a:t>(3) </a:t>
            </a:r>
            <a:r>
              <a:rPr lang="en-US" altLang="zh-CN" sz="1200" b="1" i="1" dirty="0">
                <a:cs typeface="Times New Roman" panose="02020603050405020304" pitchFamily="18" charset="0"/>
                <a:sym typeface="Symbol" panose="05050102010706020507" pitchFamily="18" charset="2"/>
              </a:rPr>
              <a:t>C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r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r </a:t>
            </a:r>
          </a:p>
          <a:p>
            <a:pPr marL="609600" indent="-609600" eaLnBrk="1" hangingPunct="1">
              <a:spcBef>
                <a:spcPct val="40000"/>
              </a:spcBef>
              <a:buFontTx/>
              <a:buNone/>
            </a:pPr>
            <a:r>
              <a:rPr lang="zh-CN" altLang="en-US" sz="1200" b="1" dirty="0">
                <a:cs typeface="Times New Roman" panose="02020603050405020304" pitchFamily="18" charset="0"/>
                <a:sym typeface="Symbol" panose="05050102010706020507" pitchFamily="18" charset="2"/>
              </a:rPr>
              <a:t>         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sym typeface="Symbol" panose="05050102010706020507" pitchFamily="18" charset="2"/>
              </a:rPr>
              <a:t>r</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r</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sym typeface="Symbol" panose="05050102010706020507" pitchFamily="18" charset="2"/>
              </a:rPr>
              <a:t>r</a:t>
            </a:r>
            <a:r>
              <a:rPr lang="en-US" altLang="zh-CN" sz="1200" b="1" dirty="0">
                <a:cs typeface="Times New Roman" panose="02020603050405020304" pitchFamily="18" charset="0"/>
                <a:sym typeface="Symbol" panose="05050102010706020507" pitchFamily="18" charset="2"/>
              </a:rPr>
              <a:t>)</a:t>
            </a:r>
          </a:p>
          <a:p>
            <a:pPr marL="609600" indent="-609600" eaLnBrk="1" hangingPunct="1">
              <a:spcBef>
                <a:spcPct val="40000"/>
              </a:spcBef>
              <a:buFontTx/>
              <a:buNone/>
            </a:pPr>
            <a:r>
              <a:rPr lang="en-US" altLang="zh-CN" sz="1200" b="1" dirty="0">
                <a:cs typeface="Times New Roman" panose="02020603050405020304" pitchFamily="18" charset="0"/>
                <a:sym typeface="Symbol" panose="05050102010706020507" pitchFamily="18" charset="2"/>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sym typeface="Symbol" panose="05050102010706020507" pitchFamily="18" charset="2"/>
              </a:rPr>
              <a:t>r</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sym typeface="Symbol" panose="05050102010706020507" pitchFamily="18" charset="2"/>
              </a:rPr>
              <a:t>r</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sym typeface="Symbol" panose="05050102010706020507" pitchFamily="18" charset="2"/>
              </a:rPr>
              <a:t>r</a:t>
            </a:r>
            <a:r>
              <a:rPr lang="en-US" altLang="zh-CN" sz="1200" b="1" dirty="0">
                <a:cs typeface="Times New Roman" panose="02020603050405020304" pitchFamily="18" charset="0"/>
                <a:sym typeface="Symbol" panose="05050102010706020507" pitchFamily="18" charset="2"/>
              </a:rPr>
              <a:t>)</a:t>
            </a:r>
            <a:endParaRPr lang="zh-CN" altLang="en-US" sz="1200" b="1" dirty="0">
              <a:sym typeface="Symbol" panose="05050102010706020507" pitchFamily="18" charset="2"/>
            </a:endParaRPr>
          </a:p>
          <a:p>
            <a:pPr marL="609600" indent="-609600" eaLnBrk="1" hangingPunct="1">
              <a:spcBef>
                <a:spcPct val="40000"/>
              </a:spcBef>
              <a:buFontTx/>
              <a:buNone/>
            </a:pPr>
            <a:r>
              <a:rPr lang="zh-CN" altLang="en-US"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 m</a:t>
            </a:r>
            <a:r>
              <a:rPr lang="en-US" altLang="zh-CN" sz="1200" b="1" baseline="-25000" dirty="0">
                <a:cs typeface="Times New Roman" panose="02020603050405020304" pitchFamily="18" charset="0"/>
              </a:rPr>
              <a:t>0</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1</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3</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5</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7</a:t>
            </a:r>
            <a:r>
              <a:rPr lang="en-US" altLang="zh-CN" sz="1200" b="1" dirty="0">
                <a:cs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     非重言式的可满足式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72</a:t>
            </a:fld>
            <a:endParaRPr lang="zh-CN" altLang="en-US"/>
          </a:p>
        </p:txBody>
      </p:sp>
    </p:spTree>
    <p:extLst>
      <p:ext uri="{BB962C8B-B14F-4D97-AF65-F5344CB8AC3E}">
        <p14:creationId xmlns:p14="http://schemas.microsoft.com/office/powerpoint/2010/main" val="24933362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50000"/>
              </a:spcBef>
              <a:buFontTx/>
              <a:buNone/>
            </a:pPr>
            <a:r>
              <a:rPr kumimoji="0" lang="zh-CN" altLang="en-US" sz="1200" b="1" dirty="0">
                <a:solidFill>
                  <a:srgbClr val="FF0000"/>
                </a:solidFill>
              </a:rPr>
              <a:t>(</a:t>
            </a:r>
            <a:r>
              <a:rPr kumimoji="0" lang="zh-CN" altLang="en-US" sz="1200" b="1" dirty="0">
                <a:solidFill>
                  <a:srgbClr val="FF0000"/>
                </a:solidFill>
                <a:cs typeface="Times New Roman" panose="02020603050405020304" pitchFamily="18" charset="0"/>
              </a:rPr>
              <a:t>3)  </a:t>
            </a:r>
            <a:r>
              <a:rPr kumimoji="0" lang="zh-CN" altLang="en-US" sz="1200" b="1" dirty="0">
                <a:solidFill>
                  <a:srgbClr val="FF0000"/>
                </a:solidFill>
                <a:latin typeface="宋体" panose="02010600030101010101" pitchFamily="2" charset="-122"/>
              </a:rPr>
              <a:t>判断两个公式是否等值</a:t>
            </a:r>
          </a:p>
          <a:p>
            <a:pPr eaLnBrk="1" hangingPunct="1">
              <a:buFontTx/>
              <a:buNone/>
            </a:pPr>
            <a:endParaRPr lang="zh-CN" altLang="en-US" sz="1200" b="1" dirty="0"/>
          </a:p>
          <a:p>
            <a:pPr eaLnBrk="1" hangingPunct="1">
              <a:spcBef>
                <a:spcPct val="30000"/>
              </a:spcBef>
              <a:buFontTx/>
              <a:buNone/>
            </a:pPr>
            <a:r>
              <a:rPr lang="zh-CN" altLang="en-US" sz="1200" b="1" dirty="0">
                <a:solidFill>
                  <a:srgbClr val="00B0F0"/>
                </a:solidFill>
              </a:rPr>
              <a:t>例： </a:t>
            </a:r>
            <a:r>
              <a:rPr lang="zh-CN" altLang="en-US" sz="1200" b="1" dirty="0"/>
              <a:t>用主析取范式判断下面2组公式是否等值:</a:t>
            </a:r>
          </a:p>
          <a:p>
            <a:pPr eaLnBrk="1" hangingPunct="1">
              <a:spcBef>
                <a:spcPct val="30000"/>
              </a:spcBef>
              <a:buFontTx/>
              <a:buNone/>
            </a:pPr>
            <a:r>
              <a:rPr lang="zh-CN" altLang="en-US" sz="1200" b="1" dirty="0"/>
              <a:t>(1) </a:t>
            </a:r>
            <a:r>
              <a:rPr lang="en-US" altLang="zh-CN" sz="1200" b="1" i="1" dirty="0"/>
              <a:t>p</a:t>
            </a:r>
            <a:r>
              <a:rPr lang="zh-CN" altLang="en-US" sz="1200" b="1" dirty="0"/>
              <a:t>与</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endParaRPr lang="zh-CN" altLang="en-US" sz="1200" b="1" dirty="0"/>
          </a:p>
          <a:p>
            <a:pPr eaLnBrk="1" hangingPunct="1">
              <a:spcBef>
                <a:spcPct val="30000"/>
              </a:spcBef>
              <a:buFontTx/>
              <a:buNone/>
            </a:pPr>
            <a:r>
              <a:rPr lang="zh-CN" altLang="en-US" sz="1200" b="1" dirty="0"/>
              <a:t>解  </a:t>
            </a:r>
            <a:r>
              <a:rPr lang="en-US" altLang="zh-CN" sz="1200" b="1" i="1" dirty="0"/>
              <a:t>p </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2</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3</a:t>
            </a:r>
            <a:endParaRPr lang="en-US" altLang="zh-CN" sz="1200" b="1" dirty="0">
              <a:cs typeface="Times New Roman" panose="02020603050405020304" pitchFamily="18" charset="0"/>
              <a:sym typeface="Symbol" panose="05050102010706020507" pitchFamily="18" charset="2"/>
            </a:endParaRPr>
          </a:p>
          <a:p>
            <a:pPr eaLnBrk="1" hangingPunct="1">
              <a:spcBef>
                <a:spcPct val="30000"/>
              </a:spcBef>
              <a:buFontTx/>
              <a:buNone/>
            </a:pPr>
            <a:r>
              <a:rPr lang="en-US" altLang="zh-CN" sz="1200" b="1" dirty="0">
                <a:cs typeface="Times New Roman" panose="02020603050405020304" pitchFamily="18" charset="0"/>
                <a:sym typeface="Symbol" panose="05050102010706020507" pitchFamily="18" charset="2"/>
              </a:rPr>
              <a:t>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 (</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p>
          <a:p>
            <a:pPr eaLnBrk="1" hangingPunct="1">
              <a:spcBef>
                <a:spcPct val="30000"/>
              </a:spcBef>
              <a:buFontTx/>
              <a:buNone/>
            </a:pP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p</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2</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m</a:t>
            </a:r>
            <a:r>
              <a:rPr lang="en-US" altLang="zh-CN" sz="1200" b="1" baseline="-25000" dirty="0">
                <a:cs typeface="Times New Roman" panose="02020603050405020304" pitchFamily="18" charset="0"/>
              </a:rPr>
              <a:t>3</a:t>
            </a:r>
            <a:endParaRPr lang="en-US" altLang="zh-CN" sz="1200" b="1" dirty="0">
              <a:cs typeface="Times New Roman" panose="02020603050405020304" pitchFamily="18" charset="0"/>
              <a:sym typeface="Symbol" panose="05050102010706020507" pitchFamily="18" charset="2"/>
            </a:endParaRPr>
          </a:p>
          <a:p>
            <a:pPr eaLnBrk="1" hangingPunct="1">
              <a:spcBef>
                <a:spcPct val="30000"/>
              </a:spcBef>
              <a:buFontTx/>
              <a:buNone/>
            </a:pPr>
            <a:r>
              <a:rPr lang="zh-CN" altLang="en-US" sz="1200" b="1" dirty="0">
                <a:sym typeface="Symbol" panose="05050102010706020507" pitchFamily="18" charset="2"/>
              </a:rPr>
              <a:t>故    </a:t>
            </a:r>
            <a:r>
              <a:rPr lang="en-US" altLang="zh-CN" sz="1200" b="1" i="1" dirty="0"/>
              <a:t>p </a:t>
            </a:r>
            <a:r>
              <a:rPr lang="zh-CN" altLang="en-US" sz="1200" b="1" dirty="0">
                <a:cs typeface="Times New Roman" panose="02020603050405020304" pitchFamily="18" charset="0"/>
                <a:sym typeface="Symbol" panose="05050102010706020507" pitchFamily="18" charset="2"/>
              </a:rPr>
              <a:t> </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p</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q</a:t>
            </a:r>
            <a:r>
              <a:rPr lang="en-US" altLang="zh-CN" sz="1200" b="1" dirty="0">
                <a:cs typeface="Times New Roman" panose="02020603050405020304" pitchFamily="18" charset="0"/>
                <a:sym typeface="Symbol" panose="05050102010706020507" pitchFamily="18" charset="2"/>
              </a:rPr>
              <a:t>)</a:t>
            </a: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73</a:t>
            </a:fld>
            <a:endParaRPr lang="zh-CN" altLang="en-US"/>
          </a:p>
        </p:txBody>
      </p:sp>
    </p:spTree>
    <p:extLst>
      <p:ext uri="{BB962C8B-B14F-4D97-AF65-F5344CB8AC3E}">
        <p14:creationId xmlns:p14="http://schemas.microsoft.com/office/powerpoint/2010/main" val="30741392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74</a:t>
            </a:fld>
            <a:endParaRPr lang="zh-CN" altLang="en-US"/>
          </a:p>
        </p:txBody>
      </p:sp>
    </p:spTree>
    <p:extLst>
      <p:ext uri="{BB962C8B-B14F-4D97-AF65-F5344CB8AC3E}">
        <p14:creationId xmlns:p14="http://schemas.microsoft.com/office/powerpoint/2010/main" val="14345562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buFontTx/>
              <a:buNone/>
            </a:pPr>
            <a:endParaRPr lang="en-US" altLang="zh-CN" sz="1200" b="1" dirty="0">
              <a:solidFill>
                <a:srgbClr val="800000"/>
              </a:solidFill>
            </a:endParaRPr>
          </a:p>
          <a:p>
            <a:pPr eaLnBrk="1" hangingPunct="1">
              <a:lnSpc>
                <a:spcPct val="80000"/>
              </a:lnSpc>
              <a:buFontTx/>
              <a:buNone/>
            </a:pPr>
            <a:r>
              <a:rPr lang="zh-CN" altLang="en-US" sz="1200" b="1" dirty="0">
                <a:solidFill>
                  <a:srgbClr val="00B0F0"/>
                </a:solidFill>
              </a:rPr>
              <a:t>例： </a:t>
            </a:r>
            <a:r>
              <a:rPr lang="zh-CN" altLang="en-US" sz="1200" b="1" dirty="0"/>
              <a:t>某单位要从</a:t>
            </a:r>
            <a:r>
              <a:rPr lang="en-US" altLang="zh-CN" sz="1200" b="1" dirty="0"/>
              <a:t>A,B,C</a:t>
            </a:r>
            <a:r>
              <a:rPr lang="zh-CN" altLang="en-US" sz="1200" b="1" dirty="0"/>
              <a:t>三人中选派若干人出国考察, 需满</a:t>
            </a:r>
          </a:p>
          <a:p>
            <a:pPr eaLnBrk="1" hangingPunct="1">
              <a:lnSpc>
                <a:spcPct val="80000"/>
              </a:lnSpc>
              <a:buFontTx/>
              <a:buNone/>
            </a:pPr>
            <a:r>
              <a:rPr lang="zh-CN" altLang="en-US" sz="1200" b="1" dirty="0"/>
              <a:t>足下述条件:</a:t>
            </a:r>
          </a:p>
          <a:p>
            <a:pPr eaLnBrk="1" hangingPunct="1">
              <a:lnSpc>
                <a:spcPct val="80000"/>
              </a:lnSpc>
              <a:buFontTx/>
              <a:buNone/>
            </a:pPr>
            <a:r>
              <a:rPr lang="zh-CN" altLang="en-US" sz="1200" b="1" dirty="0"/>
              <a:t>(1) 若</a:t>
            </a:r>
            <a:r>
              <a:rPr lang="en-US" altLang="zh-CN" sz="1200" b="1" dirty="0"/>
              <a:t>A</a:t>
            </a:r>
            <a:r>
              <a:rPr lang="zh-CN" altLang="en-US" sz="1200" b="1" dirty="0"/>
              <a:t>去, 则</a:t>
            </a:r>
            <a:r>
              <a:rPr lang="en-US" altLang="zh-CN" sz="1200" b="1" dirty="0"/>
              <a:t>C</a:t>
            </a:r>
            <a:r>
              <a:rPr lang="zh-CN" altLang="en-US" sz="1200" b="1" dirty="0"/>
              <a:t>必须去;</a:t>
            </a:r>
          </a:p>
          <a:p>
            <a:pPr eaLnBrk="1" hangingPunct="1">
              <a:lnSpc>
                <a:spcPct val="80000"/>
              </a:lnSpc>
              <a:buFontTx/>
              <a:buNone/>
            </a:pPr>
            <a:r>
              <a:rPr lang="zh-CN" altLang="en-US" sz="1200" b="1" dirty="0"/>
              <a:t>(2) 若</a:t>
            </a:r>
            <a:r>
              <a:rPr lang="en-US" altLang="zh-CN" sz="1200" b="1" dirty="0"/>
              <a:t>B</a:t>
            </a:r>
            <a:r>
              <a:rPr lang="zh-CN" altLang="en-US" sz="1200" b="1" dirty="0"/>
              <a:t>去, 则</a:t>
            </a:r>
            <a:r>
              <a:rPr lang="en-US" altLang="zh-CN" sz="1200" b="1" dirty="0"/>
              <a:t>C</a:t>
            </a:r>
            <a:r>
              <a:rPr lang="zh-CN" altLang="en-US" sz="1200" b="1" dirty="0"/>
              <a:t>不能去;</a:t>
            </a:r>
          </a:p>
          <a:p>
            <a:pPr eaLnBrk="1" hangingPunct="1">
              <a:lnSpc>
                <a:spcPct val="80000"/>
              </a:lnSpc>
              <a:buFontTx/>
              <a:buNone/>
            </a:pPr>
            <a:r>
              <a:rPr lang="zh-CN" altLang="en-US" sz="1200" b="1" dirty="0"/>
              <a:t>(3) </a:t>
            </a:r>
            <a:r>
              <a:rPr lang="en-US" altLang="zh-CN" sz="1200" b="1" dirty="0"/>
              <a:t>A</a:t>
            </a:r>
            <a:r>
              <a:rPr lang="zh-CN" altLang="en-US" sz="1200" b="1" dirty="0"/>
              <a:t>和</a:t>
            </a:r>
            <a:r>
              <a:rPr lang="en-US" altLang="zh-CN" sz="1200" b="1" dirty="0"/>
              <a:t>B</a:t>
            </a:r>
            <a:r>
              <a:rPr lang="zh-CN" altLang="en-US" sz="1200" b="1" dirty="0"/>
              <a:t>必须去一人且只能去一人.</a:t>
            </a:r>
          </a:p>
          <a:p>
            <a:pPr eaLnBrk="1" hangingPunct="1">
              <a:lnSpc>
                <a:spcPct val="80000"/>
              </a:lnSpc>
              <a:buFontTx/>
              <a:buNone/>
            </a:pPr>
            <a:r>
              <a:rPr lang="zh-CN" altLang="en-US" sz="1200" b="1" dirty="0"/>
              <a:t>问有几种可能的选派方案?</a:t>
            </a:r>
            <a:endParaRPr lang="en-US" altLang="zh-CN" sz="1200" b="1" dirty="0"/>
          </a:p>
          <a:p>
            <a:pPr eaLnBrk="1" hangingPunct="1">
              <a:lnSpc>
                <a:spcPct val="80000"/>
              </a:lnSpc>
              <a:buFontTx/>
              <a:buNone/>
            </a:pPr>
            <a:endParaRPr lang="zh-CN" altLang="en-US" sz="1200" b="1" dirty="0"/>
          </a:p>
          <a:p>
            <a:pPr eaLnBrk="1" hangingPunct="1">
              <a:lnSpc>
                <a:spcPct val="80000"/>
              </a:lnSpc>
              <a:buFontTx/>
              <a:buNone/>
            </a:pPr>
            <a:r>
              <a:rPr lang="zh-CN" altLang="en-US" sz="1200" b="1" dirty="0"/>
              <a:t>解  记</a:t>
            </a:r>
            <a:r>
              <a:rPr lang="en-US" altLang="zh-CN" sz="1200" b="1" i="1" dirty="0"/>
              <a:t>p</a:t>
            </a:r>
            <a:r>
              <a:rPr lang="en-US" altLang="zh-CN" sz="1200" b="1" dirty="0"/>
              <a:t>:</a:t>
            </a:r>
            <a:r>
              <a:rPr lang="zh-CN" altLang="en-US" sz="1200" b="1" dirty="0"/>
              <a:t>派</a:t>
            </a:r>
            <a:r>
              <a:rPr lang="en-US" altLang="zh-CN" sz="1200" b="1" dirty="0"/>
              <a:t>A</a:t>
            </a:r>
            <a:r>
              <a:rPr lang="zh-CN" altLang="en-US" sz="1200" b="1" dirty="0"/>
              <a:t>去,  </a:t>
            </a:r>
            <a:r>
              <a:rPr lang="en-US" altLang="zh-CN" sz="1200" b="1" i="1" dirty="0"/>
              <a:t>q</a:t>
            </a:r>
            <a:r>
              <a:rPr lang="en-US" altLang="zh-CN" sz="1200" b="1" dirty="0"/>
              <a:t>:</a:t>
            </a:r>
            <a:r>
              <a:rPr lang="zh-CN" altLang="en-US" sz="1200" b="1" dirty="0"/>
              <a:t>派</a:t>
            </a:r>
            <a:r>
              <a:rPr lang="en-US" altLang="zh-CN" sz="1200" b="1" dirty="0"/>
              <a:t>B</a:t>
            </a:r>
            <a:r>
              <a:rPr lang="zh-CN" altLang="en-US" sz="1200" b="1" dirty="0"/>
              <a:t>去, </a:t>
            </a:r>
            <a:r>
              <a:rPr lang="en-US" altLang="zh-CN" sz="1200" b="1" i="1" dirty="0"/>
              <a:t>r</a:t>
            </a:r>
            <a:r>
              <a:rPr lang="en-US" altLang="zh-CN" sz="1200" b="1" dirty="0"/>
              <a:t>:</a:t>
            </a:r>
            <a:r>
              <a:rPr lang="zh-CN" altLang="en-US" sz="1200" b="1" dirty="0"/>
              <a:t>派</a:t>
            </a:r>
            <a:r>
              <a:rPr lang="en-US" altLang="zh-CN" sz="1200" b="1" dirty="0"/>
              <a:t>C</a:t>
            </a:r>
            <a:r>
              <a:rPr lang="zh-CN" altLang="en-US" sz="1200" b="1" dirty="0"/>
              <a:t>去</a:t>
            </a:r>
          </a:p>
          <a:p>
            <a:pPr eaLnBrk="1" hangingPunct="1">
              <a:lnSpc>
                <a:spcPct val="80000"/>
              </a:lnSpc>
              <a:buFontTx/>
              <a:buNone/>
            </a:pPr>
            <a:r>
              <a:rPr lang="zh-CN" altLang="en-US" sz="1200" b="1" dirty="0"/>
              <a:t>(1)  </a:t>
            </a:r>
            <a:r>
              <a:rPr lang="en-US" altLang="zh-CN" sz="1200" b="1" i="1" dirty="0" err="1"/>
              <a:t>p</a:t>
            </a:r>
            <a:r>
              <a:rPr lang="en-US" altLang="zh-CN" sz="1200" b="1" dirty="0" err="1">
                <a:sym typeface="Symbol" panose="05050102010706020507" pitchFamily="18" charset="2"/>
              </a:rPr>
              <a:t></a:t>
            </a:r>
            <a:r>
              <a:rPr lang="en-US" altLang="zh-CN" sz="1200" b="1" i="1" dirty="0" err="1"/>
              <a:t>r</a:t>
            </a:r>
            <a:r>
              <a:rPr lang="en-US" altLang="zh-CN" sz="1200" b="1" i="1" dirty="0"/>
              <a:t>,   </a:t>
            </a:r>
            <a:r>
              <a:rPr lang="en-US" altLang="zh-CN" sz="1200" b="1" dirty="0"/>
              <a:t>(2) </a:t>
            </a:r>
            <a:r>
              <a:rPr lang="en-US" altLang="zh-CN" sz="1200" b="1" i="1" dirty="0"/>
              <a:t>q</a:t>
            </a:r>
            <a:r>
              <a:rPr lang="en-US" altLang="zh-CN" sz="1200" b="1" dirty="0">
                <a:sym typeface="Symbol" panose="05050102010706020507" pitchFamily="18" charset="2"/>
              </a:rPr>
              <a:t></a:t>
            </a:r>
            <a:r>
              <a:rPr lang="en-US" altLang="zh-CN" sz="1200" b="1" i="1" dirty="0"/>
              <a:t>r</a:t>
            </a:r>
            <a:r>
              <a:rPr lang="en-US" altLang="zh-CN" sz="1200" b="1" dirty="0"/>
              <a:t>,   (3) (</a:t>
            </a:r>
            <a:r>
              <a:rPr lang="en-US" altLang="zh-CN" sz="1200" b="1" i="1" dirty="0"/>
              <a:t>p</a:t>
            </a:r>
            <a:r>
              <a:rPr lang="en-US" altLang="zh-CN" sz="1200" b="1" dirty="0">
                <a:sym typeface="Symbol" panose="05050102010706020507" pitchFamily="18" charset="2"/>
              </a:rPr>
              <a:t></a:t>
            </a:r>
            <a:r>
              <a:rPr lang="en-US" altLang="zh-CN" sz="1200" b="1" i="1" dirty="0"/>
              <a:t>q</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a:t>
            </a:r>
            <a:endParaRPr lang="zh-CN" altLang="en-US" sz="1200" b="1" dirty="0"/>
          </a:p>
          <a:p>
            <a:pPr eaLnBrk="1" hangingPunct="1">
              <a:lnSpc>
                <a:spcPct val="80000"/>
              </a:lnSpc>
              <a:buFontTx/>
              <a:buNone/>
            </a:pPr>
            <a:r>
              <a:rPr lang="zh-CN" altLang="en-US" sz="1200" b="1" dirty="0"/>
              <a:t>求下式的成真赋值</a:t>
            </a:r>
          </a:p>
          <a:p>
            <a:pPr eaLnBrk="1" hangingPunct="1">
              <a:lnSpc>
                <a:spcPct val="80000"/>
              </a:lnSpc>
              <a:buFontTx/>
              <a:buNone/>
            </a:pPr>
            <a:r>
              <a:rPr lang="en-US" altLang="zh-CN" sz="1200" b="1" i="1" dirty="0"/>
              <a:t>     A</a:t>
            </a:r>
            <a:r>
              <a:rPr lang="en-US" altLang="zh-CN" sz="1200" b="1" dirty="0"/>
              <a:t>=(</a:t>
            </a:r>
            <a:r>
              <a:rPr lang="en-US" altLang="zh-CN" sz="1200" b="1" i="1" dirty="0" err="1"/>
              <a:t>p</a:t>
            </a:r>
            <a:r>
              <a:rPr lang="en-US" altLang="zh-CN" sz="1200" b="1" dirty="0" err="1">
                <a:sym typeface="Symbol" panose="05050102010706020507" pitchFamily="18" charset="2"/>
              </a:rPr>
              <a:t></a:t>
            </a:r>
            <a:r>
              <a:rPr lang="en-US" altLang="zh-CN" sz="1200" b="1" i="1" dirty="0" err="1"/>
              <a:t>r</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i="1" dirty="0"/>
              <a:t>q</a:t>
            </a:r>
            <a:r>
              <a:rPr lang="en-US" altLang="zh-CN" sz="1200" b="1" dirty="0">
                <a:sym typeface="Symbol" panose="05050102010706020507" pitchFamily="18" charset="2"/>
              </a:rPr>
              <a:t></a:t>
            </a:r>
            <a:r>
              <a:rPr lang="en-US" altLang="zh-CN" sz="1200" b="1" i="1" dirty="0"/>
              <a:t>r</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i="1" dirty="0"/>
              <a:t>p</a:t>
            </a:r>
            <a:r>
              <a:rPr lang="en-US" altLang="zh-CN" sz="1200" b="1" dirty="0">
                <a:sym typeface="Symbol" panose="05050102010706020507" pitchFamily="18" charset="2"/>
              </a:rPr>
              <a:t></a:t>
            </a:r>
            <a:r>
              <a:rPr lang="en-US" altLang="zh-CN" sz="1200" b="1" i="1" dirty="0"/>
              <a:t>q</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dirty="0">
                <a:sym typeface="Symbol" panose="05050102010706020507" pitchFamily="18" charset="2"/>
              </a:rPr>
              <a:t></a:t>
            </a:r>
            <a:r>
              <a:rPr lang="en-US" altLang="zh-CN" sz="1200" b="1" i="1" dirty="0" err="1"/>
              <a:t>p</a:t>
            </a:r>
            <a:r>
              <a:rPr lang="en-US" altLang="zh-CN" sz="1200" b="1" dirty="0" err="1">
                <a:sym typeface="Symbol" panose="05050102010706020507" pitchFamily="18" charset="2"/>
              </a:rPr>
              <a:t></a:t>
            </a:r>
            <a:r>
              <a:rPr lang="en-US" altLang="zh-CN" sz="1200" b="1" i="1" dirty="0" err="1"/>
              <a:t>q</a:t>
            </a:r>
            <a:r>
              <a:rPr lang="en-US" altLang="zh-CN" sz="1200" b="1" dirty="0"/>
              <a:t>))</a:t>
            </a: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75</a:t>
            </a:fld>
            <a:endParaRPr lang="zh-CN" altLang="en-US"/>
          </a:p>
        </p:txBody>
      </p:sp>
    </p:spTree>
    <p:extLst>
      <p:ext uri="{BB962C8B-B14F-4D97-AF65-F5344CB8AC3E}">
        <p14:creationId xmlns:p14="http://schemas.microsoft.com/office/powerpoint/2010/main" val="28454010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结论: 方案1  派</a:t>
            </a:r>
            <a:r>
              <a:rPr lang="en-US" altLang="zh-CN" sz="1200" b="1" dirty="0"/>
              <a:t>A</a:t>
            </a:r>
            <a:r>
              <a:rPr lang="zh-CN" altLang="en-US" sz="1200" b="1" dirty="0"/>
              <a:t>与</a:t>
            </a:r>
            <a:r>
              <a:rPr lang="en-US" altLang="zh-CN" sz="1200" b="1" dirty="0"/>
              <a:t>C</a:t>
            </a:r>
            <a:r>
              <a:rPr lang="zh-CN" altLang="en-US" sz="1200" b="1" dirty="0"/>
              <a:t>去,  方案2  派</a:t>
            </a:r>
            <a:r>
              <a:rPr lang="en-US" altLang="zh-CN" sz="1200" b="1" dirty="0"/>
              <a:t>B</a:t>
            </a:r>
            <a:r>
              <a:rPr lang="zh-CN" altLang="en-US" sz="1200" b="1" dirty="0"/>
              <a:t>去</a:t>
            </a: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76</a:t>
            </a:fld>
            <a:endParaRPr lang="zh-CN" altLang="en-US"/>
          </a:p>
        </p:txBody>
      </p:sp>
    </p:spTree>
    <p:extLst>
      <p:ext uri="{BB962C8B-B14F-4D97-AF65-F5344CB8AC3E}">
        <p14:creationId xmlns:p14="http://schemas.microsoft.com/office/powerpoint/2010/main" val="227318562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a:buFontTx/>
              <a:buNone/>
              <a:defRPr/>
            </a:pPr>
            <a:r>
              <a:rPr lang="zh-CN" altLang="en-US" sz="1200" b="1" dirty="0"/>
              <a:t>逻辑门</a:t>
            </a:r>
            <a:endParaRPr lang="en-US" altLang="zh-CN" sz="1200" b="1" dirty="0"/>
          </a:p>
          <a:p>
            <a:pPr marL="609600" indent="-609600">
              <a:buFontTx/>
              <a:buNone/>
              <a:defRPr/>
            </a:pPr>
            <a:endParaRPr lang="en-US" altLang="zh-CN" sz="1200" b="1" dirty="0"/>
          </a:p>
          <a:p>
            <a:pPr marL="609600" indent="-609600">
              <a:buFontTx/>
              <a:buNone/>
              <a:defRPr/>
            </a:pPr>
            <a:endParaRPr lang="en-US" altLang="zh-CN" sz="1200" b="1" dirty="0"/>
          </a:p>
          <a:p>
            <a:pPr>
              <a:buFontTx/>
              <a:buNone/>
              <a:defRPr/>
            </a:pPr>
            <a:r>
              <a:rPr lang="zh-CN" altLang="en-US" sz="1200" b="1" dirty="0">
                <a:solidFill>
                  <a:srgbClr val="00B0F0"/>
                </a:solidFill>
              </a:rPr>
              <a:t>例：</a:t>
            </a:r>
            <a:r>
              <a:rPr lang="en-US" sz="1200" b="1" dirty="0">
                <a:solidFill>
                  <a:srgbClr val="00B0F0"/>
                </a:solidFill>
              </a:rPr>
              <a:t> </a:t>
            </a:r>
            <a:r>
              <a:rPr lang="zh-CN" altLang="en-US" sz="1200" b="1" dirty="0"/>
              <a:t>一盏灯由</a:t>
            </a:r>
            <a:r>
              <a:rPr lang="en-US" sz="1200" b="1" dirty="0"/>
              <a:t>2</a:t>
            </a:r>
            <a:r>
              <a:rPr lang="zh-CN" altLang="en-US" sz="1200" b="1" dirty="0"/>
              <a:t>个开关控制</a:t>
            </a:r>
            <a:r>
              <a:rPr lang="en-US" sz="1200" b="1" dirty="0"/>
              <a:t>, </a:t>
            </a:r>
            <a:r>
              <a:rPr lang="zh-CN" altLang="en-US" sz="1200" b="1" dirty="0"/>
              <a:t>按动任何一个开关都能打开或关闭灯</a:t>
            </a:r>
            <a:r>
              <a:rPr lang="en-US" sz="1200" b="1" dirty="0"/>
              <a:t>. </a:t>
            </a:r>
            <a:r>
              <a:rPr lang="zh-CN" altLang="en-US" sz="1200" b="1" dirty="0"/>
              <a:t>试设计一个这样的线路</a:t>
            </a:r>
            <a:r>
              <a:rPr lang="en-US" sz="1200" b="1" dirty="0"/>
              <a:t>.</a:t>
            </a:r>
            <a:r>
              <a:rPr lang="zh-CN" sz="1200" b="1" dirty="0"/>
              <a:t> </a:t>
            </a:r>
            <a:endParaRPr lang="en-US" altLang="zh-CN" sz="1200" b="1" dirty="0"/>
          </a:p>
          <a:p>
            <a:pPr>
              <a:buFontTx/>
              <a:buNone/>
              <a:defRPr/>
            </a:pPr>
            <a:r>
              <a:rPr lang="zh-CN" altLang="en-US" sz="1200" b="1" dirty="0"/>
              <a:t>解 </a:t>
            </a:r>
            <a:r>
              <a:rPr lang="en-US" sz="1200" b="1" i="1" dirty="0"/>
              <a:t>x</a:t>
            </a:r>
            <a:r>
              <a:rPr lang="en-US" sz="1200" b="1" dirty="0"/>
              <a:t>,</a:t>
            </a:r>
            <a:r>
              <a:rPr lang="en-US" sz="1200" b="1" i="1" dirty="0"/>
              <a:t>y</a:t>
            </a:r>
            <a:r>
              <a:rPr lang="en-US" altLang="zh-CN" sz="1200" b="1" dirty="0"/>
              <a:t>:2</a:t>
            </a:r>
            <a:r>
              <a:rPr lang="zh-CN" altLang="en-US" sz="1200" b="1" dirty="0"/>
              <a:t>个开关的状态</a:t>
            </a:r>
            <a:r>
              <a:rPr lang="en-US" sz="1200" b="1" dirty="0"/>
              <a:t>,  </a:t>
            </a:r>
            <a:r>
              <a:rPr lang="en-US" sz="1200" b="1" i="1" dirty="0"/>
              <a:t>F</a:t>
            </a:r>
            <a:r>
              <a:rPr lang="en-US" altLang="zh-CN" sz="1200" b="1" dirty="0"/>
              <a:t>:</a:t>
            </a:r>
            <a:r>
              <a:rPr lang="zh-CN" altLang="en-US" sz="1200" b="1" dirty="0"/>
              <a:t>灯的状态</a:t>
            </a:r>
            <a:r>
              <a:rPr lang="en-US" sz="1200" b="1" dirty="0"/>
              <a:t>, </a:t>
            </a:r>
            <a:r>
              <a:rPr lang="zh-CN" altLang="en-US" sz="1200" b="1" dirty="0"/>
              <a:t>打开为</a:t>
            </a:r>
            <a:r>
              <a:rPr lang="en-US" sz="1200" b="1" dirty="0"/>
              <a:t>1, </a:t>
            </a:r>
            <a:r>
              <a:rPr lang="zh-CN" altLang="en-US" sz="1200" b="1" dirty="0"/>
              <a:t>关闭为</a:t>
            </a:r>
            <a:r>
              <a:rPr lang="en-US" sz="1200" b="1" dirty="0"/>
              <a:t>0. </a:t>
            </a:r>
          </a:p>
          <a:p>
            <a:pPr>
              <a:buFontTx/>
              <a:buNone/>
              <a:defRPr/>
            </a:pPr>
            <a:r>
              <a:rPr lang="zh-CN" altLang="en-US" sz="1200" b="1" dirty="0"/>
              <a:t>设</a:t>
            </a:r>
            <a:r>
              <a:rPr lang="en-US" altLang="zh-CN" sz="1200" b="1" i="1" dirty="0"/>
              <a:t>x</a:t>
            </a:r>
            <a:r>
              <a:rPr lang="en-US" altLang="zh-CN" sz="1200" b="1" dirty="0"/>
              <a:t>=</a:t>
            </a:r>
            <a:r>
              <a:rPr lang="en-US" altLang="zh-CN" sz="1200" b="1" i="1" dirty="0"/>
              <a:t>y</a:t>
            </a:r>
            <a:r>
              <a:rPr lang="en-US" altLang="zh-CN" sz="1200" b="1" dirty="0"/>
              <a:t>=0</a:t>
            </a:r>
            <a:r>
              <a:rPr lang="zh-CN" altLang="en-US" sz="1200" b="1" dirty="0"/>
              <a:t>时，灯是打开的</a:t>
            </a:r>
            <a:r>
              <a:rPr lang="en-US" altLang="zh-CN" sz="1200" b="1" dirty="0"/>
              <a:t>, </a:t>
            </a:r>
            <a:r>
              <a:rPr lang="en-US" altLang="zh-CN" sz="1200" b="1" i="1" dirty="0"/>
              <a:t>F</a:t>
            </a:r>
            <a:r>
              <a:rPr lang="en-US" altLang="zh-CN" sz="1200" b="1" dirty="0"/>
              <a:t>=1.</a:t>
            </a:r>
            <a:r>
              <a:rPr lang="en-US" sz="1200" b="1" dirty="0"/>
              <a:t> </a:t>
            </a:r>
          </a:p>
          <a:p>
            <a:pPr>
              <a:buFontTx/>
              <a:buNone/>
              <a:defRPr/>
            </a:pPr>
            <a:r>
              <a:rPr lang="en-US" sz="1200" b="1" i="1" dirty="0"/>
              <a:t>F</a:t>
            </a:r>
            <a:r>
              <a:rPr lang="zh-CN" altLang="en-US" sz="1200" b="1" dirty="0"/>
              <a:t>的主析取范式</a:t>
            </a:r>
          </a:p>
          <a:p>
            <a:pPr>
              <a:buFontTx/>
              <a:buNone/>
              <a:defRPr/>
            </a:pPr>
            <a:r>
              <a:rPr lang="en-US" sz="1200" b="1" i="1" dirty="0"/>
              <a:t>          F</a:t>
            </a:r>
            <a:r>
              <a:rPr lang="en-US" sz="1200" b="1" dirty="0"/>
              <a:t>=</a:t>
            </a:r>
            <a:r>
              <a:rPr lang="en-US" sz="1200" b="1" i="1" dirty="0"/>
              <a:t>m</a:t>
            </a:r>
            <a:r>
              <a:rPr lang="en-US" sz="1200" b="1" baseline="-25000" dirty="0"/>
              <a:t>0</a:t>
            </a:r>
            <a:r>
              <a:rPr lang="en-US" sz="1200" b="1" dirty="0"/>
              <a:t>∧</a:t>
            </a:r>
            <a:r>
              <a:rPr lang="en-US" sz="1200" b="1" i="1" dirty="0"/>
              <a:t>m</a:t>
            </a:r>
            <a:r>
              <a:rPr lang="en-US" sz="1200" b="1" baseline="-25000" dirty="0"/>
              <a:t>3</a:t>
            </a:r>
          </a:p>
          <a:p>
            <a:pPr>
              <a:buFontTx/>
              <a:buNone/>
              <a:defRPr/>
            </a:pPr>
            <a:r>
              <a:rPr lang="en-US" sz="1200" b="1" baseline="-25000" dirty="0"/>
              <a:t>                   </a:t>
            </a:r>
            <a:r>
              <a:rPr lang="en-US" sz="1200" b="1" dirty="0"/>
              <a:t>= (</a:t>
            </a:r>
            <a:r>
              <a:rPr lang="en-US" sz="1200" b="1" dirty="0">
                <a:sym typeface="Symbol"/>
              </a:rPr>
              <a:t></a:t>
            </a:r>
            <a:r>
              <a:rPr lang="en-US" sz="1200" b="1" i="1" dirty="0"/>
              <a:t>x</a:t>
            </a:r>
            <a:r>
              <a:rPr lang="en-US" sz="1200" b="1" dirty="0"/>
              <a:t>∧</a:t>
            </a:r>
            <a:r>
              <a:rPr lang="en-US" sz="1200" b="1" dirty="0">
                <a:sym typeface="Symbol"/>
              </a:rPr>
              <a:t></a:t>
            </a:r>
            <a:r>
              <a:rPr lang="en-US" sz="1200" b="1" i="1" dirty="0"/>
              <a:t>y</a:t>
            </a:r>
            <a:r>
              <a:rPr lang="en-US" sz="1200" b="1" dirty="0"/>
              <a:t>)∨(</a:t>
            </a:r>
            <a:r>
              <a:rPr lang="en-US" sz="1200" b="1" i="1" dirty="0" err="1"/>
              <a:t>x</a:t>
            </a:r>
            <a:r>
              <a:rPr lang="en-US" sz="1200" b="1" dirty="0" err="1"/>
              <a:t>∧</a:t>
            </a:r>
            <a:r>
              <a:rPr lang="en-US" sz="1200" b="1" i="1" dirty="0" err="1"/>
              <a:t>y</a:t>
            </a:r>
            <a:r>
              <a:rPr lang="en-US" sz="1200" b="1" dirty="0"/>
              <a:t>)</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77</a:t>
            </a:fld>
            <a:endParaRPr lang="zh-CN" altLang="en-US"/>
          </a:p>
        </p:txBody>
      </p:sp>
    </p:spTree>
    <p:extLst>
      <p:ext uri="{BB962C8B-B14F-4D97-AF65-F5344CB8AC3E}">
        <p14:creationId xmlns:p14="http://schemas.microsoft.com/office/powerpoint/2010/main" val="3903408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ym typeface="Symbol" panose="05050102010706020507" pitchFamily="18" charset="2"/>
              </a:rPr>
              <a:t>如果将初始状态设为：只要</a:t>
            </a:r>
            <a:r>
              <a:rPr lang="en-US" altLang="zh-CN" sz="1800" b="1" dirty="0">
                <a:sym typeface="Symbol" panose="05050102010706020507" pitchFamily="18" charset="2"/>
              </a:rPr>
              <a:t>x</a:t>
            </a:r>
            <a:r>
              <a:rPr lang="zh-CN" altLang="en-US" sz="1800" b="1" dirty="0">
                <a:sym typeface="Symbol" panose="05050102010706020507" pitchFamily="18" charset="2"/>
              </a:rPr>
              <a:t>、</a:t>
            </a:r>
            <a:r>
              <a:rPr lang="en-US" altLang="zh-CN" sz="1800" b="1" dirty="0">
                <a:sym typeface="Symbol" panose="05050102010706020507" pitchFamily="18" charset="2"/>
              </a:rPr>
              <a:t>y</a:t>
            </a:r>
            <a:r>
              <a:rPr lang="zh-CN" altLang="en-US" sz="1800" b="1" dirty="0">
                <a:sym typeface="Symbol" panose="05050102010706020507" pitchFamily="18" charset="2"/>
              </a:rPr>
              <a:t>只</a:t>
            </a:r>
            <a:r>
              <a:rPr lang="zh-CN" altLang="en-US" b="1" dirty="0">
                <a:sym typeface="Symbol" panose="05050102010706020507" pitchFamily="18" charset="2"/>
              </a:rPr>
              <a:t>有一个为“</a:t>
            </a:r>
            <a:r>
              <a:rPr lang="en-US" altLang="zh-CN" b="1" dirty="0">
                <a:sym typeface="Symbol" panose="05050102010706020507" pitchFamily="18" charset="2"/>
              </a:rPr>
              <a:t>1</a:t>
            </a:r>
            <a:r>
              <a:rPr lang="zh-CN" altLang="en-US" b="1" dirty="0">
                <a:sym typeface="Symbol" panose="05050102010706020507" pitchFamily="18" charset="2"/>
              </a:rPr>
              <a:t>”时灯是打开的，</a:t>
            </a:r>
            <a:r>
              <a:rPr lang="en-US" altLang="zh-CN" b="1" dirty="0">
                <a:sym typeface="Symbol" panose="05050102010706020507" pitchFamily="18" charset="2"/>
              </a:rPr>
              <a:t>F=1</a:t>
            </a:r>
            <a:r>
              <a:rPr lang="zh-CN" altLang="en-US" b="1" dirty="0">
                <a:sym typeface="Symbol" panose="05050102010706020507" pitchFamily="18" charset="2"/>
              </a:rPr>
              <a:t>，电路又会怎样？</a:t>
            </a:r>
            <a:endParaRPr lang="zh-CN" altLang="en-US" sz="18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78</a:t>
            </a:fld>
            <a:endParaRPr lang="zh-CN" altLang="en-US"/>
          </a:p>
        </p:txBody>
      </p:sp>
    </p:spTree>
    <p:extLst>
      <p:ext uri="{BB962C8B-B14F-4D97-AF65-F5344CB8AC3E}">
        <p14:creationId xmlns:p14="http://schemas.microsoft.com/office/powerpoint/2010/main" val="33485659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79</a:t>
            </a:fld>
            <a:endParaRPr lang="zh-CN" altLang="en-US"/>
          </a:p>
        </p:txBody>
      </p:sp>
    </p:spTree>
    <p:extLst>
      <p:ext uri="{BB962C8B-B14F-4D97-AF65-F5344CB8AC3E}">
        <p14:creationId xmlns:p14="http://schemas.microsoft.com/office/powerpoint/2010/main" val="8081852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80</a:t>
            </a:fld>
            <a:endParaRPr lang="zh-CN" altLang="en-US"/>
          </a:p>
        </p:txBody>
      </p:sp>
    </p:spTree>
    <p:extLst>
      <p:ext uri="{BB962C8B-B14F-4D97-AF65-F5344CB8AC3E}">
        <p14:creationId xmlns:p14="http://schemas.microsoft.com/office/powerpoint/2010/main" val="2811183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lvl1pPr>
              <a:defRPr>
                <a:latin typeface="Trebuchet MS" panose="020B0603020202020204" pitchFamily="34" charset="0"/>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2400">
                <a:latin typeface="Trebuchet MS" panose="020B0603020202020204" pitchFamily="34" charset="0"/>
              </a:defRPr>
            </a:lvl1pPr>
            <a:lvl2pPr>
              <a:defRPr sz="2400">
                <a:latin typeface="Trebuchet MS" panose="020B0603020202020204" pitchFamily="34" charset="0"/>
              </a:defRPr>
            </a:lvl2pPr>
            <a:lvl3pPr>
              <a:defRPr sz="2400">
                <a:latin typeface="Trebuchet MS" panose="020B0603020202020204" pitchFamily="34" charset="0"/>
              </a:defRPr>
            </a:lvl3pPr>
            <a:lvl4pPr>
              <a:defRPr sz="2400">
                <a:latin typeface="Trebuchet MS" panose="020B0603020202020204" pitchFamily="34" charset="0"/>
              </a:defRPr>
            </a:lvl4pPr>
            <a:lvl5pPr>
              <a:defRPr sz="2400">
                <a:latin typeface="Trebuchet MS" panose="020B0603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50" advTm="20"/>
    </mc:Choice>
    <mc:Fallback xmlns="">
      <p:transition advTm="2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2025/3/18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50" advTm="20"/>
    </mc:Choice>
    <mc:Fallback xmlns="">
      <p:transition advTm="2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mailto:kejiwei@tongji.edu.c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notesSlide" Target="../notesSlides/notesSlide30.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Microsoft_Visio_Drawing.vsdx"/><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7.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9.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45.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1.e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46.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3.wmf"/></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1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notesSlide" Target="../notesSlides/notesSlide57.xml"/><Relationship Id="rId7"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5.emf"/><Relationship Id="rId5" Type="http://schemas.openxmlformats.org/officeDocument/2006/relationships/image" Target="../media/image3.pn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14.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package" Target="../embeddings/Microsoft_Visio_Drawing2.vsdx"/><Relationship Id="rId5" Type="http://schemas.openxmlformats.org/officeDocument/2006/relationships/image" Target="../media/image3.pn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14.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package" Target="../embeddings/Microsoft_Visio_Drawing3.vsdx"/><Relationship Id="rId5" Type="http://schemas.openxmlformats.org/officeDocument/2006/relationships/image" Target="../media/image3.png"/><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9.wmf"/><Relationship Id="rId3" Type="http://schemas.openxmlformats.org/officeDocument/2006/relationships/notesSlide" Target="../notesSlides/notesSlide79.xml"/><Relationship Id="rId7" Type="http://schemas.openxmlformats.org/officeDocument/2006/relationships/image" Target="../media/image16.wmf"/><Relationship Id="rId12"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5.bin"/><Relationship Id="rId11" Type="http://schemas.openxmlformats.org/officeDocument/2006/relationships/image" Target="../media/image18.wmf"/><Relationship Id="rId5" Type="http://schemas.openxmlformats.org/officeDocument/2006/relationships/image" Target="../media/image3.png"/><Relationship Id="rId10" Type="http://schemas.openxmlformats.org/officeDocument/2006/relationships/oleObject" Target="../embeddings/oleObject7.bin"/><Relationship Id="rId4" Type="http://schemas.openxmlformats.org/officeDocument/2006/relationships/image" Target="../media/image2.png"/><Relationship Id="rId9" Type="http://schemas.openxmlformats.org/officeDocument/2006/relationships/image" Target="../media/image17.wmf"/></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zh-CN" altLang="zh-CN" dirty="0">
                <a:solidFill>
                  <a:schemeClr val="bg1"/>
                </a:solidFill>
                <a:latin typeface="Söhne"/>
              </a:rPr>
              <a:t>离散数学</a:t>
            </a:r>
            <a:r>
              <a:rPr lang="zh-CN" altLang="en-US" dirty="0">
                <a:solidFill>
                  <a:schemeClr val="bg1"/>
                </a:solidFill>
                <a:latin typeface="Söhne"/>
              </a:rPr>
              <a:t>（</a:t>
            </a:r>
            <a:r>
              <a:rPr lang="en-US" altLang="zh-CN" dirty="0">
                <a:solidFill>
                  <a:schemeClr val="bg1"/>
                </a:solidFill>
                <a:latin typeface="Trebuchet MS" panose="020B0603020202020204" pitchFamily="34" charset="0"/>
              </a:rPr>
              <a:t>011122</a:t>
            </a:r>
            <a:r>
              <a:rPr lang="zh-CN" altLang="en-US" dirty="0">
                <a:solidFill>
                  <a:schemeClr val="bg1"/>
                </a:solidFill>
                <a:latin typeface="Söhne"/>
              </a:rPr>
              <a:t>）</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732119" y="5774634"/>
            <a:ext cx="7262777" cy="1403461"/>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Trebuchet MS" panose="020B0603020202020204" pitchFamily="34" charset="0"/>
                <a:cs typeface="Times New Roman" panose="02020603050405020304" pitchFamily="18" charset="0"/>
                <a:hlinkClick r:id="rId4"/>
              </a:rPr>
              <a:t>kejiwei@tongji.edu.cn</a:t>
            </a:r>
            <a:endParaRPr lang="en-US" altLang="zh-CN" sz="2800" b="1" dirty="0">
              <a:latin typeface="Trebuchet MS" panose="020B0603020202020204" pitchFamily="34" charset="0"/>
              <a:cs typeface="Times New Roman" panose="02020603050405020304" pitchFamily="18" charset="0"/>
            </a:endParaRPr>
          </a:p>
          <a:p>
            <a:pPr algn="ctr" fontAlgn="base">
              <a:spcBef>
                <a:spcPct val="10000"/>
              </a:spcBef>
              <a:spcAft>
                <a:spcPct val="0"/>
              </a:spcAft>
              <a:buClr>
                <a:srgbClr val="39BBF0"/>
              </a:buClr>
              <a:buSzPct val="60000"/>
            </a:pPr>
            <a:r>
              <a:rPr lang="en-US" altLang="zh-CN" sz="2800" dirty="0">
                <a:latin typeface="Trebuchet MS" panose="020B0603020202020204" pitchFamily="34" charset="0"/>
                <a:ea typeface="微软雅黑" pitchFamily="34" charset="-122"/>
                <a:cs typeface="Times New Roman" panose="02020603050405020304" pitchFamily="18" charset="0"/>
              </a:rPr>
              <a:t>		https://kejiwei.github.io/</a:t>
            </a:r>
          </a:p>
          <a:p>
            <a:pPr algn="ctr" eaLnBrk="1" fontAlgn="base" hangingPunct="1">
              <a:lnSpc>
                <a:spcPct val="100000"/>
              </a:lnSpc>
              <a:spcBef>
                <a:spcPct val="10000"/>
              </a:spcBef>
              <a:spcAft>
                <a:spcPct val="0"/>
              </a:spcAft>
              <a:buClr>
                <a:srgbClr val="39BBF0"/>
              </a:buClr>
              <a:buSzPct val="60000"/>
              <a:buFont typeface="Wingdings" pitchFamily="2" charset="2"/>
              <a:buNone/>
            </a:pP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6"/>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mj-lt"/>
              </a:rPr>
              <a:t>              </a:t>
            </a:r>
            <a:r>
              <a:rPr lang="en-US" altLang="zh-CN" sz="2400" b="1" dirty="0">
                <a:latin typeface="Trebuchet MS" panose="020B0603020202020204" pitchFamily="34" charset="0"/>
              </a:rPr>
              <a:t>Chapter 2</a:t>
            </a:r>
            <a:r>
              <a:rPr lang="zh-CN" altLang="en-US" sz="2400" b="1" dirty="0">
                <a:latin typeface="Trebuchet MS" panose="020B0603020202020204" pitchFamily="34" charset="0"/>
              </a:rPr>
              <a:t>：</a:t>
            </a:r>
            <a:r>
              <a:rPr lang="en-US" altLang="zh-CN" sz="2400" b="1" i="0" dirty="0">
                <a:solidFill>
                  <a:srgbClr val="0C0D0E"/>
                </a:solidFill>
                <a:effectLst/>
                <a:latin typeface="Trebuchet MS" panose="020B0603020202020204" pitchFamily="34" charset="0"/>
              </a:rPr>
              <a:t> </a:t>
            </a:r>
            <a:r>
              <a:rPr lang="en-US" altLang="zh-CN" sz="2400" b="1" i="0" dirty="0">
                <a:solidFill>
                  <a:schemeClr val="bg1"/>
                </a:solidFill>
                <a:effectLst/>
                <a:latin typeface="Trebuchet MS" panose="020B0603020202020204" pitchFamily="34" charset="0"/>
              </a:rPr>
              <a:t>Propositional Logic</a:t>
            </a:r>
            <a:r>
              <a:rPr lang="en-US" altLang="zh-CN" sz="2400" b="1" dirty="0">
                <a:solidFill>
                  <a:schemeClr val="bg1"/>
                </a:solidFill>
                <a:latin typeface="Trebuchet MS" panose="020B0603020202020204" pitchFamily="34" charset="0"/>
              </a:rPr>
              <a:t> </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51681" y="917576"/>
            <a:ext cx="8941466" cy="38637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altLang="zh-CN" sz="2400" b="1" i="0" dirty="0">
              <a:solidFill>
                <a:srgbClr val="0C0D0E"/>
              </a:solidFill>
              <a:effectLst/>
              <a:latin typeface="+mj-lt"/>
            </a:endParaRPr>
          </a:p>
          <a:p>
            <a:pPr algn="l"/>
            <a:endParaRPr lang="en-US" altLang="zh-CN" sz="2400" b="1" dirty="0">
              <a:solidFill>
                <a:srgbClr val="0C0D0E"/>
              </a:solidFill>
              <a:latin typeface="+mj-lt"/>
            </a:endParaRPr>
          </a:p>
          <a:p>
            <a:pPr marL="571500" indent="0">
              <a:lnSpc>
                <a:spcPct val="200000"/>
              </a:lnSpc>
              <a:spcBef>
                <a:spcPct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2.1 Basic Concepts of Propositional Logic</a:t>
            </a:r>
          </a:p>
          <a:p>
            <a:pPr marL="571500" indent="0">
              <a:lnSpc>
                <a:spcPct val="200000"/>
              </a:lnSpc>
              <a:spcBef>
                <a:spcPct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2.2 Propositional logic equivalence transformations</a:t>
            </a:r>
          </a:p>
          <a:p>
            <a:pPr marL="571500" indent="0">
              <a:lnSpc>
                <a:spcPct val="200000"/>
              </a:lnSpc>
              <a:spcBef>
                <a:spcPct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2.3 Logical normal form</a:t>
            </a:r>
          </a:p>
          <a:p>
            <a:pPr lvl="1"/>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p14:dur="5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ChangeAspect="1"/>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b="1" i="0" dirty="0">
                <a:solidFill>
                  <a:schemeClr val="bg1"/>
                </a:solidFill>
                <a:effectLst/>
                <a:latin typeface="Trebuchet MS" panose="020B0603020202020204" pitchFamily="34" charset="0"/>
              </a:rPr>
              <a:t>2.1 Basic Concepts of Propositional Log</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522978"/>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3200"/>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67902"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700" lvl="1" indent="-342900">
              <a:lnSpc>
                <a:spcPct val="120000"/>
              </a:lnSpc>
              <a:buClr>
                <a:srgbClr val="0B61FF"/>
              </a:buClr>
              <a:buSzPct val="80000"/>
              <a:buFont typeface="Wingdings" panose="05000000000000000000" pitchFamily="2" charset="2"/>
              <a:buChar char="n"/>
            </a:pPr>
            <a:endParaRPr lang="en-US" altLang="zh-CN" b="1" i="0" dirty="0">
              <a:solidFill>
                <a:srgbClr val="0C0D0E"/>
              </a:solidFill>
              <a:effectLst/>
              <a:latin typeface="+mj-lt"/>
            </a:endParaRPr>
          </a:p>
          <a:p>
            <a:pPr marL="1028700" lvl="1" indent="-342900">
              <a:lnSpc>
                <a:spcPct val="120000"/>
              </a:lnSpc>
              <a:buClr>
                <a:srgbClr val="0B61FF"/>
              </a:buClr>
              <a:buSzPct val="80000"/>
              <a:buFont typeface="Wingdings" panose="05000000000000000000" pitchFamily="2" charset="2"/>
              <a:buChar char="n"/>
            </a:pPr>
            <a:r>
              <a:rPr lang="en-US" altLang="zh-CN" b="1" i="0" dirty="0">
                <a:solidFill>
                  <a:srgbClr val="0C0D0E"/>
                </a:solidFill>
                <a:effectLst/>
                <a:latin typeface="Trebuchet MS" panose="020B0603020202020204" pitchFamily="34" charset="0"/>
              </a:rPr>
              <a:t>2.1.1 Propositions and Connectives</a:t>
            </a:r>
          </a:p>
          <a:p>
            <a:pPr marL="1795463" lvl="1" indent="-274638">
              <a:lnSpc>
                <a:spcPct val="120000"/>
              </a:lnSpc>
              <a:buClr>
                <a:srgbClr val="0B61FF"/>
              </a:buClr>
              <a:buSzPct val="120000"/>
            </a:pPr>
            <a:r>
              <a:rPr lang="en-US" altLang="zh-CN" dirty="0">
                <a:solidFill>
                  <a:srgbClr val="0C0D0E"/>
                </a:solidFill>
                <a:latin typeface="Trebuchet MS" panose="020B0603020202020204" pitchFamily="34" charset="0"/>
              </a:rPr>
              <a:t>Propositions and Truth Values (Simple Propositions, Compound Propositions)</a:t>
            </a:r>
          </a:p>
          <a:p>
            <a:pPr marL="1520825" lvl="1" indent="187325">
              <a:lnSpc>
                <a:spcPct val="120000"/>
              </a:lnSpc>
              <a:buClr>
                <a:srgbClr val="0B61FF"/>
              </a:buClr>
              <a:buSzPct val="120000"/>
            </a:pPr>
            <a:r>
              <a:rPr lang="en-US" altLang="zh-CN" dirty="0">
                <a:solidFill>
                  <a:srgbClr val="0C0D0E"/>
                </a:solidFill>
                <a:latin typeface="Trebuchet MS" panose="020B0603020202020204" pitchFamily="34" charset="0"/>
              </a:rPr>
              <a:t>Connectives (¬, ∧, ∨, →, </a:t>
            </a:r>
            <a:r>
              <a:rPr lang="en-US" altLang="zh-CN" sz="2400" dirty="0">
                <a:latin typeface="Trebuchet MS" panose="020B0603020202020204" pitchFamily="34" charset="0"/>
                <a:sym typeface="Symbol" panose="05050102010706020507" pitchFamily="18" charset="2"/>
              </a:rPr>
              <a:t></a:t>
            </a:r>
            <a:r>
              <a:rPr lang="en-US" altLang="zh-CN" dirty="0">
                <a:solidFill>
                  <a:srgbClr val="0C0D0E"/>
                </a:solidFill>
                <a:latin typeface="Trebuchet MS" panose="020B0603020202020204" pitchFamily="34" charset="0"/>
              </a:rPr>
              <a:t>)</a:t>
            </a:r>
          </a:p>
          <a:p>
            <a:pPr lvl="1" indent="0">
              <a:lnSpc>
                <a:spcPct val="120000"/>
              </a:lnSpc>
            </a:pPr>
            <a:endParaRPr lang="en-US" altLang="zh-CN" b="1" i="0" dirty="0">
              <a:solidFill>
                <a:srgbClr val="0C0D0E"/>
              </a:solidFill>
              <a:effectLst/>
              <a:latin typeface="Trebuchet MS" panose="020B0603020202020204" pitchFamily="34" charset="0"/>
            </a:endParaRPr>
          </a:p>
          <a:p>
            <a:pPr marL="1028700" lvl="1" indent="-342900">
              <a:lnSpc>
                <a:spcPct val="120000"/>
              </a:lnSpc>
              <a:buClr>
                <a:srgbClr val="0B61FF"/>
              </a:buClr>
              <a:buSzPct val="80000"/>
              <a:buFont typeface="Wingdings" panose="05000000000000000000" pitchFamily="2" charset="2"/>
              <a:buChar char="n"/>
            </a:pPr>
            <a:r>
              <a:rPr lang="en-US" altLang="zh-CN" b="1" dirty="0">
                <a:solidFill>
                  <a:srgbClr val="0C0D0E"/>
                </a:solidFill>
                <a:latin typeface="Trebuchet MS" panose="020B0603020202020204" pitchFamily="34" charset="0"/>
              </a:rPr>
              <a:t>2.1.2 Propositional Formulas and Their Classification</a:t>
            </a:r>
          </a:p>
          <a:p>
            <a:pPr marL="1520825" lvl="1" indent="187325">
              <a:lnSpc>
                <a:spcPct val="120000"/>
              </a:lnSpc>
              <a:buClr>
                <a:srgbClr val="0B61FF"/>
              </a:buClr>
              <a:buSzPct val="120000"/>
            </a:pPr>
            <a:r>
              <a:rPr lang="en-US" altLang="zh-CN" dirty="0">
                <a:solidFill>
                  <a:srgbClr val="0C0D0E"/>
                </a:solidFill>
                <a:latin typeface="Trebuchet MS" panose="020B0603020202020204" pitchFamily="34" charset="0"/>
              </a:rPr>
              <a:t>Propositional Formulas and Their Assignments</a:t>
            </a:r>
          </a:p>
          <a:p>
            <a:pPr marL="1520825" lvl="1" indent="187325">
              <a:lnSpc>
                <a:spcPct val="120000"/>
              </a:lnSpc>
              <a:buClr>
                <a:srgbClr val="0B61FF"/>
              </a:buClr>
              <a:buSzPct val="120000"/>
            </a:pPr>
            <a:r>
              <a:rPr lang="en-US" altLang="zh-CN" dirty="0">
                <a:solidFill>
                  <a:srgbClr val="0C0D0E"/>
                </a:solidFill>
                <a:latin typeface="Trebuchet MS" panose="020B0603020202020204" pitchFamily="34" charset="0"/>
              </a:rPr>
              <a:t>Truth Tables</a:t>
            </a:r>
          </a:p>
          <a:p>
            <a:pPr marL="1520825" lvl="1" indent="187325">
              <a:lnSpc>
                <a:spcPct val="120000"/>
              </a:lnSpc>
              <a:buClr>
                <a:srgbClr val="0B61FF"/>
              </a:buClr>
              <a:buSzPct val="120000"/>
            </a:pPr>
            <a:r>
              <a:rPr lang="en-US" altLang="zh-CN" dirty="0">
                <a:solidFill>
                  <a:srgbClr val="0C0D0E"/>
                </a:solidFill>
                <a:latin typeface="Trebuchet MS" panose="020B0603020202020204" pitchFamily="34" charset="0"/>
              </a:rPr>
              <a:t>Classification of Propositional Formulas</a:t>
            </a:r>
          </a:p>
        </p:txBody>
      </p:sp>
    </p:spTree>
    <p:extLst>
      <p:ext uri="{BB962C8B-B14F-4D97-AF65-F5344CB8AC3E}">
        <p14:creationId xmlns:p14="http://schemas.microsoft.com/office/powerpoint/2010/main" val="3257147376"/>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ChangeAspect="1"/>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chemeClr val="bg1"/>
                </a:solidFill>
                <a:uFill>
                  <a:solidFill>
                    <a:srgbClr val="CFA57C"/>
                  </a:solidFill>
                </a:uFill>
                <a:latin typeface="Trebuchet MS" panose="020B0603020202020204" pitchFamily="34" charset="0"/>
              </a:rPr>
              <a:t>Definition</a:t>
            </a:r>
            <a:r>
              <a:rPr lang="en-US" altLang="zh-CN" sz="2400" b="1" dirty="0">
                <a:solidFill>
                  <a:schemeClr val="bg1"/>
                </a:solidFill>
                <a:latin typeface="Trebuchet MS" panose="020B0603020202020204" pitchFamily="34" charset="0"/>
              </a:rPr>
              <a:t>s</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67903" y="765176"/>
            <a:ext cx="10037950" cy="5277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latin typeface="Trebuchet MS" panose="020B0603020202020204" pitchFamily="34" charset="0"/>
            </a:endParaRP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Proposition</a:t>
            </a:r>
            <a:r>
              <a:rPr lang="en-US" altLang="zh-CN" sz="2400" dirty="0">
                <a:latin typeface="Trebuchet MS" panose="020B0603020202020204" pitchFamily="34" charset="0"/>
              </a:rPr>
              <a:t>: A statement that can be judged as true or false.</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Truth value of a proposition</a:t>
            </a:r>
            <a:r>
              <a:rPr lang="en-US" altLang="zh-CN" sz="2400" dirty="0">
                <a:latin typeface="Trebuchet MS" panose="020B0603020202020204" pitchFamily="34" charset="0"/>
              </a:rPr>
              <a:t>: The result of the judgment, either true or false.</a:t>
            </a:r>
          </a:p>
          <a:p>
            <a:pPr eaLnBrk="0">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True proposition</a:t>
            </a:r>
            <a:r>
              <a:rPr lang="en-US" altLang="zh-CN" sz="2400" dirty="0">
                <a:latin typeface="Trebuchet MS" panose="020B0603020202020204" pitchFamily="34" charset="0"/>
              </a:rPr>
              <a:t>: A proposition with a truth value of true.</a:t>
            </a:r>
          </a:p>
          <a:p>
            <a:pPr eaLnBrk="0">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False proposition</a:t>
            </a:r>
            <a:r>
              <a:rPr lang="en-US" altLang="zh-CN" sz="2400" dirty="0">
                <a:latin typeface="Trebuchet MS" panose="020B0603020202020204" pitchFamily="34" charset="0"/>
              </a:rPr>
              <a:t>: A proposition with a truth value of false.</a:t>
            </a:r>
          </a:p>
          <a:p>
            <a:pPr algn="just" eaLnBrk="1" hangingPunct="1">
              <a:lnSpc>
                <a:spcPct val="120000"/>
              </a:lnSpc>
              <a:spcBef>
                <a:spcPts val="300"/>
              </a:spcBef>
              <a:buFontTx/>
              <a:buNone/>
            </a:pPr>
            <a:endParaRPr lang="zh-CN" altLang="en-US" sz="2400" b="1" dirty="0">
              <a:latin typeface="Trebuchet MS" panose="020B0603020202020204" pitchFamily="34" charset="0"/>
            </a:endParaRPr>
          </a:p>
          <a:p>
            <a:pPr eaLnBrk="1" hangingPunct="1">
              <a:lnSpc>
                <a:spcPct val="120000"/>
              </a:lnSpc>
              <a:spcBef>
                <a:spcPts val="300"/>
              </a:spcBef>
              <a:buFontTx/>
              <a:buNone/>
            </a:pPr>
            <a:r>
              <a:rPr lang="en-US" altLang="zh-CN" sz="2400" b="1" dirty="0">
                <a:latin typeface="Trebuchet MS" panose="020B0603020202020204" pitchFamily="34" charset="0"/>
              </a:rPr>
              <a:t>     Note</a:t>
            </a:r>
            <a:r>
              <a:rPr lang="en-US" altLang="zh-CN" sz="2400" dirty="0">
                <a:latin typeface="Trebuchet MS" panose="020B0603020202020204" pitchFamily="34" charset="0"/>
              </a:rPr>
              <a:t>: Exclamatory sentences, imperative sentences, and interrogative sentences are not propositions. Also, paradoxes in declarative sentences or those with indeterminate judgment results are not propositions.</a:t>
            </a:r>
            <a:endParaRPr lang="zh-CN" altLang="en-US" sz="2400" b="1" dirty="0">
              <a:latin typeface="Trebuchet MS" panose="020B0603020202020204" pitchFamily="34" charset="0"/>
            </a:endParaRPr>
          </a:p>
        </p:txBody>
      </p:sp>
      <p:pic>
        <p:nvPicPr>
          <p:cNvPr id="4" name="图片 3">
            <a:extLst>
              <a:ext uri="{FF2B5EF4-FFF2-40B4-BE49-F238E27FC236}">
                <a16:creationId xmlns:a16="http://schemas.microsoft.com/office/drawing/2014/main" id="{34C01400-39B2-4F80-A658-26A1BECF9745}"/>
              </a:ext>
            </a:extLst>
          </p:cNvPr>
          <p:cNvPicPr>
            <a:picLocks noChangeAspect="1"/>
          </p:cNvPicPr>
          <p:nvPr/>
        </p:nvPicPr>
        <p:blipFill>
          <a:blip r:embed="rId5"/>
          <a:stretch>
            <a:fillRect/>
          </a:stretch>
        </p:blipFill>
        <p:spPr>
          <a:xfrm>
            <a:off x="1179452" y="4106899"/>
            <a:ext cx="299451" cy="379901"/>
          </a:xfrm>
          <a:prstGeom prst="rect">
            <a:avLst/>
          </a:prstGeom>
        </p:spPr>
      </p:pic>
    </p:spTree>
    <p:extLst>
      <p:ext uri="{BB962C8B-B14F-4D97-AF65-F5344CB8AC3E}">
        <p14:creationId xmlns:p14="http://schemas.microsoft.com/office/powerpoint/2010/main" val="1548342837"/>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1000"/>
                                        <p:tgtEl>
                                          <p:spTgt spid="8">
                                            <p:txEl>
                                              <p:pRg st="6" end="6"/>
                                            </p:txEl>
                                          </p:spTgt>
                                        </p:tgtEl>
                                      </p:cBhvr>
                                    </p:animEffect>
                                    <p:anim calcmode="lin" valueType="num">
                                      <p:cBhvr>
                                        <p:cTn id="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a:extLst>
              <a:ext uri="{FF2B5EF4-FFF2-40B4-BE49-F238E27FC236}">
                <a16:creationId xmlns:a16="http://schemas.microsoft.com/office/drawing/2014/main" id="{77E1FD86-E13E-4F1A-952C-FE8F35B5ABDD}"/>
              </a:ext>
            </a:extLst>
          </p:cNvPr>
          <p:cNvSpPr>
            <a:spLocks noGrp="1" noChangeArrowheads="1"/>
          </p:cNvSpPr>
          <p:nvPr>
            <p:ph idx="1"/>
          </p:nvPr>
        </p:nvSpPr>
        <p:spPr>
          <a:xfrm>
            <a:off x="891043" y="845887"/>
            <a:ext cx="10845686" cy="4791075"/>
          </a:xfrm>
        </p:spPr>
        <p:txBody>
          <a:bodyPr>
            <a:noAutofit/>
          </a:bodyPr>
          <a:lstStyle/>
          <a:p>
            <a:pPr marL="0" indent="0" algn="l">
              <a:lnSpc>
                <a:spcPct val="110000"/>
              </a:lnSpc>
              <a:spcBef>
                <a:spcPts val="500"/>
              </a:spcBef>
              <a:buNone/>
            </a:pPr>
            <a:r>
              <a:rPr lang="en-US" altLang="zh-CN" sz="2400" i="0" dirty="0">
                <a:solidFill>
                  <a:srgbClr val="0C0D0E"/>
                </a:solidFill>
                <a:effectLst/>
              </a:rPr>
              <a:t>        Example: Which of the following sentences are propositions?</a:t>
            </a:r>
          </a:p>
          <a:p>
            <a:pPr marL="514350" indent="-514350">
              <a:lnSpc>
                <a:spcPct val="130000"/>
              </a:lnSpc>
              <a:spcBef>
                <a:spcPts val="500"/>
              </a:spcBef>
              <a:buAutoNum type="arabicParenBoth"/>
            </a:pPr>
            <a:r>
              <a:rPr lang="en-US" altLang="zh-CN" sz="2400" i="0" dirty="0">
                <a:solidFill>
                  <a:srgbClr val="0C0D0E"/>
                </a:solidFill>
                <a:effectLst/>
              </a:rPr>
              <a:t>The capital of the People's Republic of China is Beijing.</a:t>
            </a:r>
          </a:p>
          <a:p>
            <a:pPr marL="0" indent="0">
              <a:lnSpc>
                <a:spcPct val="130000"/>
              </a:lnSpc>
              <a:spcBef>
                <a:spcPts val="500"/>
              </a:spcBef>
              <a:buNone/>
            </a:pPr>
            <a:r>
              <a:rPr lang="zh-CN" altLang="en-US" sz="2400" dirty="0"/>
              <a:t>(2) 2 + </a:t>
            </a:r>
            <a:r>
              <a:rPr lang="en-US" altLang="zh-CN" sz="2400" dirty="0"/>
              <a:t>3</a:t>
            </a:r>
            <a:r>
              <a:rPr lang="zh-CN" altLang="en-US" sz="2400" dirty="0"/>
              <a:t> ＝</a:t>
            </a:r>
            <a:r>
              <a:rPr lang="en-US" altLang="zh-CN" sz="2400" dirty="0"/>
              <a:t>6</a:t>
            </a:r>
            <a:r>
              <a:rPr lang="zh-CN" altLang="en-US" sz="2400" dirty="0"/>
              <a:t>.</a:t>
            </a:r>
          </a:p>
          <a:p>
            <a:pPr algn="just" eaLnBrk="1" hangingPunct="1">
              <a:lnSpc>
                <a:spcPct val="130000"/>
              </a:lnSpc>
              <a:spcBef>
                <a:spcPts val="500"/>
              </a:spcBef>
              <a:buFontTx/>
              <a:buNone/>
            </a:pPr>
            <a:r>
              <a:rPr lang="zh-CN" altLang="en-US" sz="2400" dirty="0"/>
              <a:t>(3) </a:t>
            </a:r>
            <a:r>
              <a:rPr lang="en-US" altLang="zh-CN" sz="2400" i="1" dirty="0"/>
              <a:t>x</a:t>
            </a:r>
            <a:r>
              <a:rPr lang="en-US" altLang="zh-CN" sz="2400" dirty="0"/>
              <a:t> + y ＞ 8.</a:t>
            </a:r>
          </a:p>
          <a:p>
            <a:pPr algn="just" eaLnBrk="1" hangingPunct="1">
              <a:lnSpc>
                <a:spcPct val="130000"/>
              </a:lnSpc>
              <a:spcBef>
                <a:spcPts val="500"/>
              </a:spcBef>
              <a:buFontTx/>
              <a:buNone/>
            </a:pPr>
            <a:r>
              <a:rPr lang="en-US" altLang="zh-CN" sz="2400" dirty="0"/>
              <a:t>(4) Can you play tennis?</a:t>
            </a:r>
            <a:endParaRPr lang="zh-CN" altLang="en-US" sz="2400" dirty="0"/>
          </a:p>
          <a:p>
            <a:pPr marL="0" indent="0" algn="l">
              <a:lnSpc>
                <a:spcPct val="130000"/>
              </a:lnSpc>
              <a:spcBef>
                <a:spcPts val="500"/>
              </a:spcBef>
              <a:buNone/>
            </a:pPr>
            <a:r>
              <a:rPr lang="zh-CN" altLang="en-US" sz="2400" dirty="0"/>
              <a:t>(5) </a:t>
            </a:r>
            <a:r>
              <a:rPr lang="en-US" altLang="zh-CN" sz="2400" i="0" dirty="0">
                <a:solidFill>
                  <a:srgbClr val="0C0D0E"/>
                </a:solidFill>
                <a:effectLst/>
              </a:rPr>
              <a:t>There is life on planets other than Earth.</a:t>
            </a:r>
            <a:r>
              <a:rPr lang="zh-CN" altLang="en-US" sz="2400" dirty="0"/>
              <a:t>.</a:t>
            </a:r>
          </a:p>
          <a:p>
            <a:pPr algn="just" eaLnBrk="1" hangingPunct="1">
              <a:lnSpc>
                <a:spcPct val="130000"/>
              </a:lnSpc>
              <a:spcBef>
                <a:spcPts val="500"/>
              </a:spcBef>
              <a:buFontTx/>
              <a:buNone/>
            </a:pPr>
            <a:r>
              <a:rPr lang="zh-CN" altLang="en-US" sz="2400" dirty="0"/>
              <a:t>(6) </a:t>
            </a:r>
            <a:r>
              <a:rPr lang="en-US" altLang="zh-CN" sz="2400" dirty="0"/>
              <a:t>This </a:t>
            </a:r>
            <a:r>
              <a:rPr lang="zh-CN" altLang="en-US" sz="2400" dirty="0"/>
              <a:t>！</a:t>
            </a:r>
          </a:p>
          <a:p>
            <a:pPr algn="just" eaLnBrk="1" hangingPunct="1">
              <a:lnSpc>
                <a:spcPct val="130000"/>
              </a:lnSpc>
              <a:spcBef>
                <a:spcPts val="500"/>
              </a:spcBef>
              <a:buFontTx/>
              <a:buNone/>
            </a:pPr>
            <a:r>
              <a:rPr lang="zh-CN" altLang="en-US" sz="2400" dirty="0"/>
              <a:t>(7) </a:t>
            </a:r>
            <a:r>
              <a:rPr lang="en-US" altLang="zh-CN" sz="2400" dirty="0"/>
              <a:t>Please close the door!</a:t>
            </a:r>
            <a:endParaRPr lang="zh-CN" altLang="en-US" sz="2400" dirty="0"/>
          </a:p>
          <a:p>
            <a:pPr algn="just" eaLnBrk="1" hangingPunct="1">
              <a:lnSpc>
                <a:spcPct val="130000"/>
              </a:lnSpc>
              <a:spcBef>
                <a:spcPts val="500"/>
              </a:spcBef>
              <a:buFontTx/>
              <a:buNone/>
            </a:pPr>
            <a:r>
              <a:rPr lang="zh-CN" altLang="en-US" sz="2400" dirty="0"/>
              <a:t>(8) </a:t>
            </a:r>
            <a:r>
              <a:rPr lang="en-US" altLang="zh-CN" sz="2400" dirty="0"/>
              <a:t>I am lying</a:t>
            </a:r>
            <a:r>
              <a:rPr lang="zh-CN" altLang="en-US" sz="2400" dirty="0"/>
              <a:t>.</a:t>
            </a:r>
            <a:endParaRPr lang="zh-CN" altLang="en-US" sz="2400" dirty="0">
              <a:cs typeface="Times New Roman" panose="02020603050405020304" pitchFamily="18" charset="0"/>
            </a:endParaRPr>
          </a:p>
        </p:txBody>
      </p:sp>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 </a:t>
            </a:r>
            <a:r>
              <a:rPr lang="zh-CN" altLang="en-US" sz="2400" b="1" dirty="0">
                <a:solidFill>
                  <a:schemeClr val="bg1"/>
                </a:solidFill>
                <a:uFill>
                  <a:solidFill>
                    <a:srgbClr val="CFA57C"/>
                  </a:solidFill>
                </a:uFill>
                <a:latin typeface="Trebuchet MS" panose="020B0603020202020204" pitchFamily="34" charset="0"/>
              </a:rPr>
              <a: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zh-CN" altLang="en-US" sz="2400" b="1" dirty="0">
                <a:solidFill>
                  <a:schemeClr val="bg1"/>
                </a:solidFill>
                <a:uFill>
                  <a:solidFill>
                    <a:srgbClr val="CFA57C"/>
                  </a:solidFill>
                </a:uFill>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latin typeface="宋体" panose="02010600030101010101" pitchFamily="2" charset="-122"/>
            </a:endParaRPr>
          </a:p>
        </p:txBody>
      </p:sp>
      <p:sp>
        <p:nvSpPr>
          <p:cNvPr id="11" name="Text Box 5">
            <a:extLst>
              <a:ext uri="{FF2B5EF4-FFF2-40B4-BE49-F238E27FC236}">
                <a16:creationId xmlns:a16="http://schemas.microsoft.com/office/drawing/2014/main" id="{31A659B4-15DD-4557-AC21-5D43F1FECCDB}"/>
              </a:ext>
            </a:extLst>
          </p:cNvPr>
          <p:cNvSpPr txBox="1">
            <a:spLocks noChangeArrowheads="1"/>
          </p:cNvSpPr>
          <p:nvPr/>
        </p:nvSpPr>
        <p:spPr bwMode="auto">
          <a:xfrm>
            <a:off x="9149247" y="1432344"/>
            <a:ext cx="2653844"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a:spcBef>
                <a:spcPct val="50000"/>
              </a:spcBef>
              <a:defRPr sz="2400" b="1">
                <a:solidFill>
                  <a:schemeClr val="bg2">
                    <a:lumMod val="50000"/>
                  </a:schemeClr>
                </a:solidFill>
                <a:latin typeface="Trebuchet MS" panose="020B0603020202020204" pitchFamily="34" charset="0"/>
              </a:defRPr>
            </a:lvl1pPr>
          </a:lstStyle>
          <a:p>
            <a:r>
              <a:rPr lang="en-US" altLang="zh-CN" dirty="0"/>
              <a:t>True proposition</a:t>
            </a:r>
            <a:endParaRPr lang="zh-CN" altLang="en-US" dirty="0"/>
          </a:p>
        </p:txBody>
      </p:sp>
      <p:sp>
        <p:nvSpPr>
          <p:cNvPr id="12" name="Text Box 6">
            <a:extLst>
              <a:ext uri="{FF2B5EF4-FFF2-40B4-BE49-F238E27FC236}">
                <a16:creationId xmlns:a16="http://schemas.microsoft.com/office/drawing/2014/main" id="{DCDA946C-6C95-4DFB-BD8C-8D0705483F6D}"/>
              </a:ext>
            </a:extLst>
          </p:cNvPr>
          <p:cNvSpPr txBox="1">
            <a:spLocks noChangeArrowheads="1"/>
          </p:cNvSpPr>
          <p:nvPr/>
        </p:nvSpPr>
        <p:spPr bwMode="auto">
          <a:xfrm>
            <a:off x="7201447" y="1906701"/>
            <a:ext cx="3565521"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a:spcBef>
                <a:spcPct val="50000"/>
              </a:spcBef>
              <a:defRPr sz="2400" b="1">
                <a:solidFill>
                  <a:schemeClr val="bg2">
                    <a:lumMod val="50000"/>
                  </a:schemeClr>
                </a:solidFill>
                <a:latin typeface="Trebuchet MS" panose="020B0603020202020204" pitchFamily="34" charset="0"/>
              </a:defRPr>
            </a:lvl1pPr>
          </a:lstStyle>
          <a:p>
            <a:r>
              <a:rPr lang="en-US" altLang="zh-CN" dirty="0"/>
              <a:t>False proposition</a:t>
            </a:r>
            <a:endParaRPr lang="zh-CN" altLang="en-US" dirty="0"/>
          </a:p>
        </p:txBody>
      </p:sp>
      <p:sp>
        <p:nvSpPr>
          <p:cNvPr id="14" name="Text Box 7">
            <a:extLst>
              <a:ext uri="{FF2B5EF4-FFF2-40B4-BE49-F238E27FC236}">
                <a16:creationId xmlns:a16="http://schemas.microsoft.com/office/drawing/2014/main" id="{6961B699-8E76-4239-AE4C-4C551785E9B4}"/>
              </a:ext>
            </a:extLst>
          </p:cNvPr>
          <p:cNvSpPr txBox="1">
            <a:spLocks noChangeArrowheads="1"/>
          </p:cNvSpPr>
          <p:nvPr/>
        </p:nvSpPr>
        <p:spPr bwMode="auto">
          <a:xfrm>
            <a:off x="7201447" y="2450995"/>
            <a:ext cx="4213703"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en-US" altLang="zh-CN" sz="2400" b="1" dirty="0">
                <a:solidFill>
                  <a:schemeClr val="bg2">
                    <a:lumMod val="50000"/>
                  </a:schemeClr>
                </a:solidFill>
                <a:latin typeface="Trebuchet MS" panose="020B0603020202020204" pitchFamily="34" charset="0"/>
              </a:rPr>
              <a:t>Undecided</a:t>
            </a:r>
            <a:r>
              <a:rPr lang="en-US" altLang="zh-CN" sz="2400" b="1" dirty="0">
                <a:solidFill>
                  <a:schemeClr val="bg2">
                    <a:lumMod val="50000"/>
                  </a:schemeClr>
                </a:solidFill>
              </a:rPr>
              <a:t> True Value</a:t>
            </a:r>
            <a:endParaRPr lang="zh-CN" altLang="en-US" sz="2400" b="1" dirty="0">
              <a:solidFill>
                <a:schemeClr val="bg2">
                  <a:lumMod val="50000"/>
                </a:schemeClr>
              </a:solidFill>
            </a:endParaRPr>
          </a:p>
        </p:txBody>
      </p:sp>
      <p:sp>
        <p:nvSpPr>
          <p:cNvPr id="15" name="Text Box 8">
            <a:extLst>
              <a:ext uri="{FF2B5EF4-FFF2-40B4-BE49-F238E27FC236}">
                <a16:creationId xmlns:a16="http://schemas.microsoft.com/office/drawing/2014/main" id="{129B534B-EE63-4539-8071-6540FCB58CFA}"/>
              </a:ext>
            </a:extLst>
          </p:cNvPr>
          <p:cNvSpPr txBox="1">
            <a:spLocks noChangeArrowheads="1"/>
          </p:cNvSpPr>
          <p:nvPr/>
        </p:nvSpPr>
        <p:spPr bwMode="auto">
          <a:xfrm>
            <a:off x="7201447" y="2995289"/>
            <a:ext cx="4213703"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en-US" altLang="zh-CN" sz="2400" b="1" dirty="0">
                <a:solidFill>
                  <a:schemeClr val="bg2">
                    <a:lumMod val="50000"/>
                  </a:schemeClr>
                </a:solidFill>
                <a:latin typeface="Trebuchet MS" panose="020B0603020202020204" pitchFamily="34" charset="0"/>
              </a:rPr>
              <a:t>Interrogative sentences</a:t>
            </a:r>
            <a:endParaRPr lang="zh-CN" altLang="en-US" sz="2400" b="1" dirty="0">
              <a:solidFill>
                <a:schemeClr val="bg2">
                  <a:lumMod val="50000"/>
                </a:schemeClr>
              </a:solidFill>
              <a:latin typeface="Trebuchet MS" panose="020B0603020202020204" pitchFamily="34" charset="0"/>
            </a:endParaRPr>
          </a:p>
        </p:txBody>
      </p:sp>
      <p:sp>
        <p:nvSpPr>
          <p:cNvPr id="16" name="Text Box 9">
            <a:extLst>
              <a:ext uri="{FF2B5EF4-FFF2-40B4-BE49-F238E27FC236}">
                <a16:creationId xmlns:a16="http://schemas.microsoft.com/office/drawing/2014/main" id="{84AC4B05-D234-4E31-87A6-603FE9A44408}"/>
              </a:ext>
            </a:extLst>
          </p:cNvPr>
          <p:cNvSpPr txBox="1">
            <a:spLocks noChangeArrowheads="1"/>
          </p:cNvSpPr>
          <p:nvPr/>
        </p:nvSpPr>
        <p:spPr bwMode="auto">
          <a:xfrm>
            <a:off x="7201447" y="4083877"/>
            <a:ext cx="3544883"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en-US" altLang="zh-CN" sz="2400" b="1" dirty="0">
                <a:solidFill>
                  <a:schemeClr val="bg2">
                    <a:lumMod val="50000"/>
                  </a:schemeClr>
                </a:solidFill>
                <a:latin typeface="Trebuchet MS" panose="020B0603020202020204" pitchFamily="34" charset="0"/>
              </a:rPr>
              <a:t>Exclamatory</a:t>
            </a:r>
            <a:r>
              <a:rPr lang="en-US" altLang="zh-CN" sz="2400" b="1" dirty="0">
                <a:solidFill>
                  <a:schemeClr val="bg2">
                    <a:lumMod val="50000"/>
                  </a:schemeClr>
                </a:solidFill>
              </a:rPr>
              <a:t> sentences</a:t>
            </a:r>
            <a:endParaRPr lang="zh-CN" altLang="en-US" sz="2400" b="1" dirty="0">
              <a:solidFill>
                <a:schemeClr val="bg2">
                  <a:lumMod val="50000"/>
                </a:schemeClr>
              </a:solidFill>
            </a:endParaRPr>
          </a:p>
        </p:txBody>
      </p:sp>
      <p:sp>
        <p:nvSpPr>
          <p:cNvPr id="17" name="Text Box 10">
            <a:extLst>
              <a:ext uri="{FF2B5EF4-FFF2-40B4-BE49-F238E27FC236}">
                <a16:creationId xmlns:a16="http://schemas.microsoft.com/office/drawing/2014/main" id="{F58E888B-86D8-4F04-ABB0-4A3F6A6D64B1}"/>
              </a:ext>
            </a:extLst>
          </p:cNvPr>
          <p:cNvSpPr txBox="1">
            <a:spLocks noChangeArrowheads="1"/>
          </p:cNvSpPr>
          <p:nvPr/>
        </p:nvSpPr>
        <p:spPr bwMode="auto">
          <a:xfrm>
            <a:off x="7201447" y="4628171"/>
            <a:ext cx="3276152"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en-US" altLang="zh-CN" sz="2400" b="1" dirty="0">
                <a:solidFill>
                  <a:schemeClr val="bg2">
                    <a:lumMod val="50000"/>
                  </a:schemeClr>
                </a:solidFill>
                <a:latin typeface="Trebuchet MS" panose="020B0603020202020204" pitchFamily="34" charset="0"/>
              </a:rPr>
              <a:t>Imperative</a:t>
            </a:r>
            <a:r>
              <a:rPr lang="en-US" altLang="zh-CN" sz="2400" b="1" dirty="0">
                <a:solidFill>
                  <a:schemeClr val="bg2">
                    <a:lumMod val="50000"/>
                  </a:schemeClr>
                </a:solidFill>
              </a:rPr>
              <a:t> sentences</a:t>
            </a:r>
            <a:endParaRPr lang="zh-CN" altLang="en-US" sz="2400" b="1" dirty="0">
              <a:solidFill>
                <a:schemeClr val="bg2">
                  <a:lumMod val="50000"/>
                </a:schemeClr>
              </a:solidFill>
            </a:endParaRPr>
          </a:p>
        </p:txBody>
      </p:sp>
      <p:sp>
        <p:nvSpPr>
          <p:cNvPr id="19" name="Text Box 11">
            <a:extLst>
              <a:ext uri="{FF2B5EF4-FFF2-40B4-BE49-F238E27FC236}">
                <a16:creationId xmlns:a16="http://schemas.microsoft.com/office/drawing/2014/main" id="{26A6595E-2FBE-4431-8622-4B562326A850}"/>
              </a:ext>
            </a:extLst>
          </p:cNvPr>
          <p:cNvSpPr txBox="1">
            <a:spLocks noChangeArrowheads="1"/>
          </p:cNvSpPr>
          <p:nvPr/>
        </p:nvSpPr>
        <p:spPr bwMode="auto">
          <a:xfrm>
            <a:off x="7201447" y="5172467"/>
            <a:ext cx="2735769" cy="46166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en-US" altLang="zh-CN" sz="2400" b="1" dirty="0">
                <a:solidFill>
                  <a:schemeClr val="bg2">
                    <a:lumMod val="50000"/>
                  </a:schemeClr>
                </a:solidFill>
                <a:latin typeface="Trebuchet MS" panose="020B0603020202020204" pitchFamily="34" charset="0"/>
              </a:rPr>
              <a:t>Paradoxes</a:t>
            </a:r>
            <a:endParaRPr lang="zh-CN" altLang="en-US" sz="2400" b="1" dirty="0">
              <a:solidFill>
                <a:schemeClr val="bg2">
                  <a:lumMod val="50000"/>
                </a:schemeClr>
              </a:solidFill>
              <a:latin typeface="Trebuchet MS" panose="020B0603020202020204" pitchFamily="34" charset="0"/>
            </a:endParaRPr>
          </a:p>
        </p:txBody>
      </p:sp>
      <p:sp>
        <p:nvSpPr>
          <p:cNvPr id="21" name="Text Box 12">
            <a:extLst>
              <a:ext uri="{FF2B5EF4-FFF2-40B4-BE49-F238E27FC236}">
                <a16:creationId xmlns:a16="http://schemas.microsoft.com/office/drawing/2014/main" id="{5969707C-4501-4AD3-A0C4-1A18165C39E4}"/>
              </a:ext>
            </a:extLst>
          </p:cNvPr>
          <p:cNvSpPr txBox="1">
            <a:spLocks noChangeArrowheads="1"/>
          </p:cNvSpPr>
          <p:nvPr/>
        </p:nvSpPr>
        <p:spPr bwMode="auto">
          <a:xfrm>
            <a:off x="1000125" y="5656585"/>
            <a:ext cx="108456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dirty="0">
                <a:latin typeface="Trebuchet MS" panose="020B0603020202020204" pitchFamily="34" charset="0"/>
              </a:rPr>
              <a:t>(1), (2), (5) are propositions. (3), (4), (6)~(8) are not propositions.</a:t>
            </a:r>
            <a:endParaRPr lang="en-US" altLang="zh-CN" sz="2400" dirty="0">
              <a:latin typeface="Trebuchet MS" panose="020B0603020202020204" pitchFamily="34" charset="0"/>
            </a:endParaRPr>
          </a:p>
        </p:txBody>
      </p:sp>
      <p:sp>
        <p:nvSpPr>
          <p:cNvPr id="23" name="Text Box 14">
            <a:extLst>
              <a:ext uri="{FF2B5EF4-FFF2-40B4-BE49-F238E27FC236}">
                <a16:creationId xmlns:a16="http://schemas.microsoft.com/office/drawing/2014/main" id="{C1D1050B-7CB6-4641-AB62-E3566DD4A1A0}"/>
              </a:ext>
            </a:extLst>
          </p:cNvPr>
          <p:cNvSpPr txBox="1">
            <a:spLocks noChangeArrowheads="1"/>
          </p:cNvSpPr>
          <p:nvPr/>
        </p:nvSpPr>
        <p:spPr bwMode="auto">
          <a:xfrm>
            <a:off x="7201447" y="3539583"/>
            <a:ext cx="4839570" cy="461665"/>
          </a:xfrm>
          <a:prstGeom prst="rect">
            <a:avLst/>
          </a:prstGeom>
          <a:noFill/>
          <a:ln w="6350">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en-US" altLang="zh-CN" sz="2400" b="1" dirty="0">
                <a:solidFill>
                  <a:schemeClr val="bg2">
                    <a:lumMod val="50000"/>
                  </a:schemeClr>
                </a:solidFill>
                <a:latin typeface="Trebuchet MS" panose="020B0603020202020204" pitchFamily="34" charset="0"/>
              </a:rPr>
              <a:t>Indeterminate</a:t>
            </a:r>
            <a:r>
              <a:rPr lang="en-US" altLang="zh-CN" sz="2400" b="1" dirty="0">
                <a:solidFill>
                  <a:schemeClr val="bg2">
                    <a:lumMod val="50000"/>
                  </a:schemeClr>
                </a:solidFill>
              </a:rPr>
              <a:t> judgment results</a:t>
            </a:r>
            <a:endParaRPr lang="zh-CN" altLang="en-US" sz="2400" b="1" dirty="0">
              <a:solidFill>
                <a:schemeClr val="bg2">
                  <a:lumMod val="50000"/>
                </a:schemeClr>
              </a:solidFill>
            </a:endParaRPr>
          </a:p>
        </p:txBody>
      </p:sp>
      <p:pic>
        <p:nvPicPr>
          <p:cNvPr id="24" name="图片 23">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885430" y="979317"/>
            <a:ext cx="577850" cy="241300"/>
          </a:xfrm>
          <a:prstGeom prst="rect">
            <a:avLst/>
          </a:prstGeom>
        </p:spPr>
      </p:pic>
    </p:spTree>
    <p:extLst>
      <p:ext uri="{BB962C8B-B14F-4D97-AF65-F5344CB8AC3E}">
        <p14:creationId xmlns:p14="http://schemas.microsoft.com/office/powerpoint/2010/main" val="2351418528"/>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1+#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1+#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1+#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1+#ppt_w/2"/>
                                          </p:val>
                                        </p:tav>
                                        <p:tav tm="100000">
                                          <p:val>
                                            <p:strVal val="#ppt_x"/>
                                          </p:val>
                                        </p:tav>
                                      </p:tavLst>
                                    </p:anim>
                                    <p:anim calcmode="lin" valueType="num">
                                      <p:cBhvr additive="base">
                                        <p:cTn id="5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0-#ppt_w/2"/>
                                          </p:val>
                                        </p:tav>
                                        <p:tav tm="100000">
                                          <p:val>
                                            <p:strVal val="#ppt_x"/>
                                          </p:val>
                                        </p:tav>
                                      </p:tavLst>
                                    </p:anim>
                                    <p:anim calcmode="lin" valueType="num">
                                      <p:cBhvr additive="base">
                                        <p:cTn id="56"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6" grpId="0" animBg="1"/>
      <p:bldP spid="17" grpId="0" animBg="1"/>
      <p:bldP spid="19" grpId="0" animBg="1"/>
      <p:bldP spid="21" grpId="0"/>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i="0" dirty="0">
                <a:solidFill>
                  <a:schemeClr val="bg1"/>
                </a:solidFill>
                <a:effectLst/>
                <a:latin typeface="Trebuchet MS" panose="020B0603020202020204" pitchFamily="34" charset="0"/>
              </a:rPr>
              <a:t>Basic Concepts of Propositional Log</a:t>
            </a:r>
            <a:endParaRPr lang="en-US" altLang="zh-CN" sz="2000"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err="1">
                <a:solidFill>
                  <a:schemeClr val="bg1"/>
                </a:solidFill>
                <a:uFill>
                  <a:solidFill>
                    <a:srgbClr val="CFA57C"/>
                  </a:solidFill>
                </a:uFill>
                <a:latin typeface="Trebuchet MS" panose="020B0603020202020204" pitchFamily="34" charset="0"/>
              </a:rPr>
              <a:t>Simple</a:t>
            </a:r>
            <a:r>
              <a:rPr lang="en-US" altLang="zh-CN" sz="2400" b="1" dirty="0" err="1">
                <a:solidFill>
                  <a:schemeClr val="bg1"/>
                </a:solidFill>
                <a:uFill>
                  <a:solidFill>
                    <a:srgbClr val="CFA57C"/>
                  </a:solidFill>
                </a:uFill>
                <a:latin typeface="Arial" panose="020B0604020202020204" pitchFamily="34" charset="0"/>
                <a:cs typeface="Arial" panose="020B0604020202020204" pitchFamily="34" charset="0"/>
              </a:rPr>
              <a:t>&amp;</a:t>
            </a:r>
            <a:r>
              <a:rPr lang="en-US" altLang="zh-CN" sz="2400" b="1" dirty="0" err="1">
                <a:solidFill>
                  <a:schemeClr val="bg1"/>
                </a:solidFill>
                <a:uFill>
                  <a:solidFill>
                    <a:srgbClr val="CFA57C"/>
                  </a:solidFill>
                </a:uFill>
                <a:latin typeface="Trebuchet MS" panose="020B0603020202020204" pitchFamily="34" charset="0"/>
              </a:rPr>
              <a:t>Compound</a:t>
            </a:r>
            <a:r>
              <a:rPr lang="en-US" altLang="zh-CN" sz="2400" b="1" dirty="0">
                <a:solidFill>
                  <a:schemeClr val="bg1"/>
                </a:solidFill>
                <a:uFill>
                  <a:solidFill>
                    <a:srgbClr val="CFA57C"/>
                  </a:solidFill>
                </a:uFill>
                <a:latin typeface="Trebuchet MS" panose="020B0603020202020204" pitchFamily="34" charset="0"/>
              </a:rPr>
              <a:t> Proposition</a:t>
            </a:r>
            <a:endParaRPr lang="zh-CN" altLang="en-US" sz="2400" b="1" dirty="0">
              <a:solidFill>
                <a:schemeClr val="bg1"/>
              </a:solidFill>
              <a:uFill>
                <a:solidFill>
                  <a:srgbClr val="CFA57C"/>
                </a:solidFill>
              </a:u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69283" y="964544"/>
            <a:ext cx="12022717"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1813" lvl="1" indent="-265113">
              <a:lnSpc>
                <a:spcPct val="100000"/>
              </a:lnSpc>
              <a:buClr>
                <a:srgbClr val="0B61FF"/>
              </a:buClr>
              <a:buSzPct val="80000"/>
              <a:buFont typeface="Wingdings" panose="05000000000000000000" pitchFamily="2" charset="2"/>
              <a:buChar char="n"/>
            </a:pPr>
            <a:r>
              <a:rPr lang="en-US" altLang="zh-CN" b="1" dirty="0">
                <a:solidFill>
                  <a:srgbClr val="0C0D0E"/>
                </a:solidFill>
                <a:latin typeface="Trebuchet MS" panose="020B0603020202020204" pitchFamily="34" charset="0"/>
              </a:rPr>
              <a:t>Simple Proposition (Atomic Proposition)</a:t>
            </a:r>
            <a:r>
              <a:rPr lang="en-US" altLang="zh-CN" dirty="0">
                <a:solidFill>
                  <a:srgbClr val="0C0D0E"/>
                </a:solidFill>
                <a:latin typeface="Trebuchet MS" panose="020B0603020202020204" pitchFamily="34" charset="0"/>
              </a:rPr>
              <a:t>:  A proposition formed by simple statements.</a:t>
            </a:r>
          </a:p>
          <a:p>
            <a:pPr marL="609600" lvl="1" indent="-77788">
              <a:lnSpc>
                <a:spcPct val="100000"/>
              </a:lnSpc>
              <a:buClr>
                <a:srgbClr val="0B61FF"/>
              </a:buClr>
              <a:buSzPct val="80000"/>
            </a:pPr>
            <a:r>
              <a:rPr lang="en-US" altLang="zh-CN" b="1" dirty="0">
                <a:solidFill>
                  <a:srgbClr val="0C0D0E"/>
                </a:solidFill>
                <a:latin typeface="Trebuchet MS" panose="020B0603020202020204" pitchFamily="34" charset="0"/>
              </a:rPr>
              <a:t> Symbolization of Simple Propositions: </a:t>
            </a:r>
            <a:r>
              <a:rPr lang="en-US" altLang="zh-CN" b="0" i="0" dirty="0">
                <a:solidFill>
                  <a:srgbClr val="0C0D0E"/>
                </a:solidFill>
                <a:effectLst/>
                <a:latin typeface="Trebuchet MS" panose="020B0603020202020204" pitchFamily="34" charset="0"/>
              </a:rPr>
              <a:t>Symbolization of simple propositions: Represented by </a:t>
            </a:r>
            <a:r>
              <a:rPr lang="en-US" altLang="zh-CN" b="1" i="1" dirty="0">
                <a:solidFill>
                  <a:srgbClr val="0C0D0E"/>
                </a:solidFill>
                <a:effectLst/>
                <a:latin typeface="Trebuchet MS" panose="020B0603020202020204" pitchFamily="34" charset="0"/>
              </a:rPr>
              <a:t>p</a:t>
            </a:r>
            <a:r>
              <a:rPr lang="en-US" altLang="zh-CN" b="1" i="0" dirty="0">
                <a:solidFill>
                  <a:srgbClr val="0C0D0E"/>
                </a:solidFill>
                <a:effectLst/>
                <a:latin typeface="Trebuchet MS" panose="020B0603020202020204" pitchFamily="34" charset="0"/>
              </a:rPr>
              <a:t>, </a:t>
            </a:r>
            <a:r>
              <a:rPr lang="en-US" altLang="zh-CN" b="1" i="1" dirty="0">
                <a:solidFill>
                  <a:srgbClr val="0C0D0E"/>
                </a:solidFill>
                <a:effectLst/>
                <a:latin typeface="Trebuchet MS" panose="020B0603020202020204" pitchFamily="34" charset="0"/>
              </a:rPr>
              <a:t>q</a:t>
            </a:r>
            <a:r>
              <a:rPr lang="en-US" altLang="zh-CN" b="1" i="0" dirty="0">
                <a:solidFill>
                  <a:srgbClr val="0C0D0E"/>
                </a:solidFill>
                <a:effectLst/>
                <a:latin typeface="Trebuchet MS" panose="020B0603020202020204" pitchFamily="34" charset="0"/>
              </a:rPr>
              <a:t>, </a:t>
            </a:r>
            <a:r>
              <a:rPr lang="en-US" altLang="zh-CN" b="1" i="1" dirty="0">
                <a:solidFill>
                  <a:srgbClr val="0C0D0E"/>
                </a:solidFill>
                <a:effectLst/>
                <a:latin typeface="Trebuchet MS" panose="020B0603020202020204" pitchFamily="34" charset="0"/>
              </a:rPr>
              <a:t>r</a:t>
            </a:r>
            <a:r>
              <a:rPr lang="en-US" altLang="zh-CN" b="1" i="0" dirty="0">
                <a:solidFill>
                  <a:srgbClr val="0C0D0E"/>
                </a:solidFill>
                <a:effectLst/>
                <a:latin typeface="Trebuchet MS" panose="020B0603020202020204" pitchFamily="34" charset="0"/>
              </a:rPr>
              <a:t>, ..., </a:t>
            </a:r>
            <a:r>
              <a:rPr lang="en-US" altLang="zh-CN" b="1" i="1" dirty="0">
                <a:solidFill>
                  <a:srgbClr val="0C0D0E"/>
                </a:solidFill>
                <a:effectLst/>
                <a:latin typeface="Trebuchet MS" panose="020B0603020202020204" pitchFamily="34" charset="0"/>
              </a:rPr>
              <a:t>p</a:t>
            </a:r>
            <a:r>
              <a:rPr lang="en-US" altLang="zh-CN" b="1" i="1" baseline="-25000" dirty="0">
                <a:solidFill>
                  <a:srgbClr val="0C0D0E"/>
                </a:solidFill>
                <a:effectLst/>
                <a:latin typeface="Trebuchet MS" panose="020B0603020202020204" pitchFamily="34" charset="0"/>
              </a:rPr>
              <a:t>i</a:t>
            </a:r>
            <a:r>
              <a:rPr lang="en-US" altLang="zh-CN" b="1" i="0" dirty="0">
                <a:solidFill>
                  <a:srgbClr val="0C0D0E"/>
                </a:solidFill>
                <a:effectLst/>
                <a:latin typeface="Trebuchet MS" panose="020B0603020202020204" pitchFamily="34" charset="0"/>
              </a:rPr>
              <a:t>, </a:t>
            </a:r>
            <a:r>
              <a:rPr lang="en-US" altLang="zh-CN" b="1" i="1" dirty="0">
                <a:solidFill>
                  <a:srgbClr val="0C0D0E"/>
                </a:solidFill>
                <a:effectLst/>
                <a:latin typeface="Trebuchet MS" panose="020B0603020202020204" pitchFamily="34" charset="0"/>
              </a:rPr>
              <a:t>q</a:t>
            </a:r>
            <a:r>
              <a:rPr lang="en-US" altLang="zh-CN" b="1" i="1" baseline="-25000" dirty="0">
                <a:solidFill>
                  <a:srgbClr val="0C0D0E"/>
                </a:solidFill>
                <a:effectLst/>
                <a:latin typeface="Trebuchet MS" panose="020B0603020202020204" pitchFamily="34" charset="0"/>
              </a:rPr>
              <a:t>i</a:t>
            </a:r>
            <a:r>
              <a:rPr lang="en-US" altLang="zh-CN" b="1" i="0" dirty="0">
                <a:solidFill>
                  <a:srgbClr val="0C0D0E"/>
                </a:solidFill>
                <a:effectLst/>
                <a:latin typeface="Trebuchet MS" panose="020B0603020202020204" pitchFamily="34" charset="0"/>
              </a:rPr>
              <a:t>, </a:t>
            </a:r>
            <a:r>
              <a:rPr lang="en-US" altLang="zh-CN" b="1" i="1" dirty="0" err="1">
                <a:solidFill>
                  <a:srgbClr val="0C0D0E"/>
                </a:solidFill>
                <a:effectLst/>
                <a:latin typeface="Trebuchet MS" panose="020B0603020202020204" pitchFamily="34" charset="0"/>
              </a:rPr>
              <a:t>r</a:t>
            </a:r>
            <a:r>
              <a:rPr lang="en-US" altLang="zh-CN" b="1" i="1" baseline="-25000" dirty="0" err="1">
                <a:solidFill>
                  <a:srgbClr val="0C0D0E"/>
                </a:solidFill>
                <a:effectLst/>
                <a:latin typeface="Trebuchet MS" panose="020B0603020202020204" pitchFamily="34" charset="0"/>
              </a:rPr>
              <a:t>i</a:t>
            </a:r>
            <a:r>
              <a:rPr lang="en-US" altLang="zh-CN" b="1" i="0" dirty="0">
                <a:solidFill>
                  <a:srgbClr val="0C0D0E"/>
                </a:solidFill>
                <a:effectLst/>
                <a:latin typeface="Trebuchet MS" panose="020B0603020202020204" pitchFamily="34" charset="0"/>
              </a:rPr>
              <a:t> </a:t>
            </a:r>
            <a:r>
              <a:rPr lang="en-US" altLang="zh-CN" b="0" i="0" dirty="0">
                <a:solidFill>
                  <a:srgbClr val="0C0D0E"/>
                </a:solidFill>
                <a:effectLst/>
                <a:latin typeface="Trebuchet MS" panose="020B0603020202020204" pitchFamily="34" charset="0"/>
              </a:rPr>
              <a:t>(where </a:t>
            </a:r>
            <a:r>
              <a:rPr lang="en-US" altLang="zh-CN" b="0" i="1" dirty="0" err="1">
                <a:solidFill>
                  <a:srgbClr val="0C0D0E"/>
                </a:solidFill>
                <a:effectLst/>
                <a:latin typeface="Trebuchet MS" panose="020B0603020202020204" pitchFamily="34" charset="0"/>
              </a:rPr>
              <a:t>i</a:t>
            </a:r>
            <a:r>
              <a:rPr lang="en-US" altLang="zh-CN" b="0" i="0" dirty="0">
                <a:solidFill>
                  <a:srgbClr val="0C0D0E"/>
                </a:solidFill>
                <a:effectLst/>
                <a:latin typeface="Trebuchet MS" panose="020B0603020202020204" pitchFamily="34" charset="0"/>
              </a:rPr>
              <a:t> ≥ 1).  '</a:t>
            </a:r>
            <a:r>
              <a:rPr lang="en-US" altLang="zh-CN" b="1" i="0" dirty="0">
                <a:solidFill>
                  <a:srgbClr val="0C0D0E"/>
                </a:solidFill>
                <a:effectLst/>
                <a:latin typeface="Trebuchet MS" panose="020B0603020202020204" pitchFamily="34" charset="0"/>
              </a:rPr>
              <a:t>1</a:t>
            </a:r>
            <a:r>
              <a:rPr lang="en-US" altLang="zh-CN" b="0" i="0" dirty="0">
                <a:solidFill>
                  <a:srgbClr val="0C0D0E"/>
                </a:solidFill>
                <a:effectLst/>
                <a:latin typeface="Trebuchet MS" panose="020B0603020202020204" pitchFamily="34" charset="0"/>
              </a:rPr>
              <a:t>' represents true, and '</a:t>
            </a:r>
            <a:r>
              <a:rPr lang="en-US" altLang="zh-CN" b="1" i="0" dirty="0">
                <a:solidFill>
                  <a:srgbClr val="0C0D0E"/>
                </a:solidFill>
                <a:effectLst/>
                <a:latin typeface="Trebuchet MS" panose="020B0603020202020204" pitchFamily="34" charset="0"/>
              </a:rPr>
              <a:t>0</a:t>
            </a:r>
            <a:r>
              <a:rPr lang="en-US" altLang="zh-CN" b="0" i="0" dirty="0">
                <a:solidFill>
                  <a:srgbClr val="0C0D0E"/>
                </a:solidFill>
                <a:effectLst/>
                <a:latin typeface="Trebuchet MS" panose="020B0603020202020204" pitchFamily="34" charset="0"/>
              </a:rPr>
              <a:t>' represents false.</a:t>
            </a:r>
          </a:p>
          <a:p>
            <a:pPr marL="531813" lvl="1" indent="-265113">
              <a:lnSpc>
                <a:spcPct val="100000"/>
              </a:lnSpc>
              <a:buClr>
                <a:srgbClr val="0B61FF"/>
              </a:buClr>
              <a:buSzPct val="80000"/>
              <a:buFont typeface="Wingdings" panose="05000000000000000000" pitchFamily="2" charset="2"/>
              <a:buChar char="n"/>
            </a:pPr>
            <a:r>
              <a:rPr lang="en-US" altLang="zh-CN" b="1" dirty="0">
                <a:solidFill>
                  <a:srgbClr val="0C0D0E"/>
                </a:solidFill>
                <a:latin typeface="Trebuchet MS" panose="020B0603020202020204" pitchFamily="34" charset="0"/>
              </a:rPr>
              <a:t>Compound Proposition:</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A statement formed by connecting simple propositions with logical connectives.</a:t>
            </a:r>
          </a:p>
          <a:p>
            <a:pPr marL="0" indent="0" algn="l">
              <a:spcBef>
                <a:spcPts val="300"/>
              </a:spcBef>
              <a:buNone/>
            </a:pPr>
            <a:r>
              <a:rPr lang="en-US" altLang="zh-CN" sz="2400" b="1" i="0" dirty="0">
                <a:solidFill>
                  <a:srgbClr val="0C0D0E"/>
                </a:solidFill>
                <a:effectLst/>
                <a:latin typeface="Trebuchet MS" panose="020B0603020202020204" pitchFamily="34" charset="0"/>
              </a:rPr>
              <a:t>         Examples:</a:t>
            </a:r>
            <a:endParaRPr lang="en-US" altLang="zh-CN" sz="2400" b="0" i="0" dirty="0">
              <a:solidFill>
                <a:srgbClr val="0C0D0E"/>
              </a:solidFill>
              <a:effectLst/>
              <a:latin typeface="Trebuchet MS" panose="020B0603020202020204" pitchFamily="34" charset="0"/>
            </a:endParaRPr>
          </a:p>
          <a:p>
            <a:pPr marL="625475" indent="-358775" algn="l">
              <a:buNone/>
            </a:pPr>
            <a:r>
              <a:rPr lang="en-US" altLang="zh-CN" sz="2400" dirty="0">
                <a:solidFill>
                  <a:srgbClr val="0C0D0E"/>
                </a:solidFill>
                <a:latin typeface="Trebuchet MS" panose="020B0603020202020204" pitchFamily="34" charset="0"/>
              </a:rPr>
              <a:t>(1)</a:t>
            </a:r>
            <a:r>
              <a:rPr lang="zh-CN" altLang="en-US" sz="24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If the weather is good tomorrow, we will play ball.</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The weather will be good tomorrow,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We will play ball. </a:t>
            </a:r>
            <a:r>
              <a:rPr lang="en-US" altLang="zh-CN" sz="2400" b="1" i="0" dirty="0">
                <a:solidFill>
                  <a:srgbClr val="0C0D0E"/>
                </a:solidFill>
                <a:effectLst/>
                <a:latin typeface="Trebuchet MS" panose="020B0603020202020204" pitchFamily="34" charset="0"/>
              </a:rPr>
              <a:t>If </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then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marL="625475" indent="-358775" algn="l">
              <a:buNone/>
            </a:pPr>
            <a:r>
              <a:rPr lang="en-US" altLang="zh-CN" sz="2400" dirty="0">
                <a:solidFill>
                  <a:srgbClr val="0C0D0E"/>
                </a:solidFill>
                <a:latin typeface="Trebuchet MS" panose="020B0603020202020204" pitchFamily="34" charset="0"/>
              </a:rPr>
              <a:t>(2) </a:t>
            </a:r>
            <a:r>
              <a:rPr lang="en-US" altLang="zh-CN" sz="2400" dirty="0" err="1">
                <a:solidFill>
                  <a:srgbClr val="0C0D0E"/>
                </a:solidFill>
                <a:latin typeface="Trebuchet MS" panose="020B0603020202020204" pitchFamily="34" charset="0"/>
              </a:rPr>
              <a:t>Luffy</a:t>
            </a:r>
            <a:r>
              <a:rPr lang="en-US" altLang="zh-CN" sz="2400" dirty="0">
                <a:solidFill>
                  <a:srgbClr val="0C0D0E"/>
                </a:solidFill>
                <a:latin typeface="Trebuchet MS" panose="020B0603020202020204" pitchFamily="34" charset="0"/>
              </a:rPr>
              <a:t> is drinking milk tea and scrolling through his phone.</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Let</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t>
            </a:r>
            <a:r>
              <a:rPr lang="en-US" altLang="zh-CN" sz="2400" b="0" i="0" dirty="0" err="1">
                <a:solidFill>
                  <a:srgbClr val="0C0D0E"/>
                </a:solidFill>
                <a:effectLst/>
                <a:latin typeface="Trebuchet MS" panose="020B0603020202020204" pitchFamily="34" charset="0"/>
              </a:rPr>
              <a:t>Luffy</a:t>
            </a:r>
            <a:r>
              <a:rPr lang="en-US" altLang="zh-CN" sz="2400" b="0" i="0" dirty="0">
                <a:solidFill>
                  <a:srgbClr val="0C0D0E"/>
                </a:solidFill>
                <a:effectLst/>
                <a:latin typeface="Trebuchet MS" panose="020B0603020202020204" pitchFamily="34" charset="0"/>
              </a:rPr>
              <a:t> is drinking milk tea,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t>
            </a:r>
            <a:r>
              <a:rPr lang="en-US" altLang="zh-CN" sz="2400" b="0" i="0" dirty="0" err="1">
                <a:solidFill>
                  <a:srgbClr val="0C0D0E"/>
                </a:solidFill>
                <a:effectLst/>
                <a:latin typeface="Trebuchet MS" panose="020B0603020202020204" pitchFamily="34" charset="0"/>
              </a:rPr>
              <a:t>Luffy</a:t>
            </a:r>
            <a:r>
              <a:rPr lang="en-US" altLang="zh-CN" sz="2400" b="0" i="0" dirty="0">
                <a:solidFill>
                  <a:srgbClr val="0C0D0E"/>
                </a:solidFill>
                <a:effectLst/>
                <a:latin typeface="Trebuchet MS" panose="020B0603020202020204" pitchFamily="34" charset="0"/>
              </a:rPr>
              <a:t> is scrolling through his phone. </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marL="0" indent="0">
              <a:buNone/>
            </a:pPr>
            <a:endParaRPr lang="en-US" altLang="zh-CN" dirty="0"/>
          </a:p>
        </p:txBody>
      </p:sp>
      <p:pic>
        <p:nvPicPr>
          <p:cNvPr id="9" name="图片 8">
            <a:extLst>
              <a:ext uri="{FF2B5EF4-FFF2-40B4-BE49-F238E27FC236}">
                <a16:creationId xmlns:a16="http://schemas.microsoft.com/office/drawing/2014/main" id="{0D481E70-D1B2-4D64-B199-DAED7DBCC8C6}"/>
              </a:ext>
            </a:extLst>
          </p:cNvPr>
          <p:cNvPicPr/>
          <p:nvPr/>
        </p:nvPicPr>
        <p:blipFill>
          <a:blip r:embed="rId5"/>
          <a:stretch>
            <a:fillRect/>
          </a:stretch>
        </p:blipFill>
        <p:spPr>
          <a:xfrm>
            <a:off x="1140077" y="3970332"/>
            <a:ext cx="577850" cy="241300"/>
          </a:xfrm>
          <a:prstGeom prst="rect">
            <a:avLst/>
          </a:prstGeom>
        </p:spPr>
      </p:pic>
    </p:spTree>
    <p:extLst>
      <p:ext uri="{BB962C8B-B14F-4D97-AF65-F5344CB8AC3E}">
        <p14:creationId xmlns:p14="http://schemas.microsoft.com/office/powerpoint/2010/main" val="3410343485"/>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300"/>
                                        <p:tgtEl>
                                          <p:spTgt spid="8">
                                            <p:txEl>
                                              <p:pRg st="3" end="3"/>
                                            </p:txEl>
                                          </p:spTgt>
                                        </p:tgtEl>
                                      </p:cBhvr>
                                    </p:animEffect>
                                    <p:anim calcmode="lin" valueType="num">
                                      <p:cBhvr>
                                        <p:cTn id="20" dur="13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3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1800" b="1" i="0" dirty="0">
                <a:solidFill>
                  <a:schemeClr val="bg1"/>
                </a:solidFill>
                <a:effectLst/>
                <a:latin typeface="Trebuchet MS" panose="020B0603020202020204" pitchFamily="34" charset="0"/>
              </a:rPr>
              <a:t>Basic Concepts of Propositional Log</a:t>
            </a:r>
            <a:endParaRPr lang="en-US" altLang="zh-CN" sz="18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18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and </a:t>
            </a:r>
            <a:r>
              <a:rPr lang="zh-CN"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442562" y="781028"/>
            <a:ext cx="11094040" cy="5993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0"/>
              </a:spcBef>
              <a:buClr>
                <a:srgbClr val="00B0F0"/>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Definition 2.1:</a:t>
            </a:r>
            <a:r>
              <a:rPr lang="en-US" altLang="zh-CN" sz="2400" b="0" i="0" dirty="0">
                <a:solidFill>
                  <a:srgbClr val="0C0D0E"/>
                </a:solidFill>
                <a:effectLst/>
                <a:latin typeface="Trebuchet MS" panose="020B0603020202020204" pitchFamily="34" charset="0"/>
              </a:rPr>
              <a:t>"Non-</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(or "the negation of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called the </a:t>
            </a:r>
            <a:r>
              <a:rPr lang="en-US" altLang="zh-CN" sz="2400" b="1" i="1" dirty="0">
                <a:solidFill>
                  <a:srgbClr val="0C0D0E"/>
                </a:solidFill>
                <a:effectLst/>
                <a:latin typeface="Trebuchet MS" panose="020B0603020202020204" pitchFamily="34" charset="0"/>
              </a:rPr>
              <a:t>negation</a:t>
            </a:r>
            <a:r>
              <a:rPr lang="en-US" altLang="zh-CN" sz="2400" b="0" i="0" dirty="0">
                <a:solidFill>
                  <a:srgbClr val="0C0D0E"/>
                </a:solidFill>
                <a:effectLst/>
                <a:latin typeface="Trebuchet MS" panose="020B0603020202020204" pitchFamily="34" charset="0"/>
              </a:rPr>
              <a:t> of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denoted as </a:t>
            </a:r>
            <a:r>
              <a:rPr lang="en-US" altLang="zh-CN" sz="2400" b="1"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The symbol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is the negation connective, and it is defined such that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true if and only if p is false.</a:t>
            </a:r>
          </a:p>
          <a:p>
            <a:pPr marL="0" indent="0" algn="l">
              <a:spcBef>
                <a:spcPts val="0"/>
              </a:spcBef>
              <a:buClr>
                <a:srgbClr val="00B0F0"/>
              </a:buClr>
              <a:buSzPct val="80000"/>
              <a:buNone/>
            </a:pPr>
            <a:r>
              <a:rPr lang="en-US" altLang="zh-CN" sz="2400" b="0" i="0" dirty="0">
                <a:solidFill>
                  <a:srgbClr val="0C0D0E"/>
                </a:solidFill>
                <a:effectLst/>
                <a:latin typeface="Trebuchet MS" panose="020B0603020202020204" pitchFamily="34" charset="0"/>
              </a:rPr>
              <a:t>      </a:t>
            </a:r>
            <a:r>
              <a:rPr lang="en-US" altLang="zh-CN" sz="2400" b="1" i="0" dirty="0">
                <a:solidFill>
                  <a:srgbClr val="0C0D0E"/>
                </a:solidFill>
                <a:effectLst/>
                <a:latin typeface="Trebuchet MS" panose="020B0603020202020204" pitchFamily="34" charset="0"/>
              </a:rPr>
              <a:t>Example</a:t>
            </a:r>
            <a:r>
              <a:rPr lang="en-US" altLang="zh-CN" sz="2400" b="0" i="0" dirty="0">
                <a:solidFill>
                  <a:srgbClr val="0C0D0E"/>
                </a:solidFill>
                <a:effectLst/>
                <a:latin typeface="Trebuchet MS" panose="020B0603020202020204" pitchFamily="34" charset="0"/>
              </a:rPr>
              <a:t>:</a:t>
            </a:r>
          </a:p>
          <a:p>
            <a:pPr marL="628650" indent="-88900" algn="l">
              <a:spcBef>
                <a:spcPts val="0"/>
              </a:spcBef>
              <a:buClr>
                <a:srgbClr val="0B61FF"/>
              </a:buClr>
              <a:buSzPct val="120000"/>
              <a:buFont typeface="Arial" panose="020B0604020202020204" pitchFamily="34" charset="0"/>
              <a:buChar char="•"/>
            </a:pPr>
            <a:r>
              <a:rPr lang="en-US" altLang="zh-CN" sz="2400" b="1" i="1" dirty="0">
                <a:solidFill>
                  <a:srgbClr val="0C0D0E"/>
                </a:solidFill>
                <a:latin typeface="Trebuchet MS" panose="020B0603020202020204" pitchFamily="34" charset="0"/>
              </a:rPr>
              <a:t> p</a:t>
            </a:r>
            <a:r>
              <a:rPr lang="en-US" altLang="zh-CN" sz="2400" dirty="0">
                <a:solidFill>
                  <a:srgbClr val="0C0D0E"/>
                </a:solidFill>
                <a:latin typeface="Trebuchet MS" panose="020B0603020202020204" pitchFamily="34" charset="0"/>
              </a:rPr>
              <a:t>: 2 is a composite number. </a:t>
            </a:r>
            <a:r>
              <a:rPr lang="en-US" altLang="zh-CN" sz="2400" b="1" dirty="0">
                <a:solidFill>
                  <a:srgbClr val="0C0D0E"/>
                </a:solidFill>
                <a:latin typeface="Trebuchet MS" panose="020B0603020202020204" pitchFamily="34" charset="0"/>
              </a:rPr>
              <a:t> ¬</a:t>
            </a:r>
            <a:r>
              <a:rPr lang="en-US" altLang="zh-CN" sz="2400" b="1" i="1" dirty="0">
                <a:solidFill>
                  <a:srgbClr val="0C0D0E"/>
                </a:solidFill>
                <a:latin typeface="Trebuchet MS" panose="020B0603020202020204" pitchFamily="34" charset="0"/>
              </a:rPr>
              <a:t>p</a:t>
            </a:r>
            <a:r>
              <a:rPr lang="en-US" altLang="zh-CN" sz="2400" dirty="0">
                <a:solidFill>
                  <a:srgbClr val="0C0D0E"/>
                </a:solidFill>
                <a:latin typeface="Trebuchet MS" panose="020B0603020202020204" pitchFamily="34" charset="0"/>
              </a:rPr>
              <a:t>: 2 is not a composite number.</a:t>
            </a:r>
          </a:p>
          <a:p>
            <a:pPr marL="539750" indent="0">
              <a:spcBef>
                <a:spcPts val="0"/>
              </a:spcBef>
              <a:buClr>
                <a:srgbClr val="0B61FF"/>
              </a:buClr>
              <a:buSzPct val="120000"/>
            </a:pPr>
            <a:r>
              <a:rPr lang="en-US" altLang="zh-CN" sz="2400" dirty="0">
                <a:solidFill>
                  <a:srgbClr val="0C0D0E"/>
                </a:solidFill>
                <a:latin typeface="Trebuchet MS" panose="020B0603020202020204" pitchFamily="34" charset="0"/>
              </a:rPr>
              <a:t> Since 2 is actually a prime number, </a:t>
            </a:r>
            <a:r>
              <a:rPr lang="en-US" altLang="zh-CN" sz="2400" b="1" i="1" dirty="0">
                <a:solidFill>
                  <a:srgbClr val="0C0D0E"/>
                </a:solidFill>
                <a:latin typeface="Trebuchet MS" panose="020B0603020202020204" pitchFamily="34" charset="0"/>
              </a:rPr>
              <a:t>p</a:t>
            </a:r>
            <a:r>
              <a:rPr lang="en-US" altLang="zh-CN" sz="2400" dirty="0">
                <a:solidFill>
                  <a:srgbClr val="0C0D0E"/>
                </a:solidFill>
                <a:latin typeface="Trebuchet MS" panose="020B0603020202020204" pitchFamily="34" charset="0"/>
              </a:rPr>
              <a:t> is false, and therefore </a:t>
            </a:r>
            <a:r>
              <a:rPr lang="en-US" altLang="zh-CN" sz="2400" b="1" dirty="0">
                <a:solidFill>
                  <a:srgbClr val="0C0D0E"/>
                </a:solidFill>
                <a:latin typeface="Trebuchet MS" panose="020B0603020202020204" pitchFamily="34" charset="0"/>
              </a:rPr>
              <a:t>¬</a:t>
            </a:r>
            <a:r>
              <a:rPr lang="en-US" altLang="zh-CN" sz="2400" b="1" i="1" dirty="0">
                <a:solidFill>
                  <a:srgbClr val="0C0D0E"/>
                </a:solidFill>
                <a:latin typeface="Trebuchet MS" panose="020B0603020202020204" pitchFamily="34" charset="0"/>
              </a:rPr>
              <a:t>p</a:t>
            </a:r>
            <a:r>
              <a:rPr lang="en-US" altLang="zh-CN" sz="2400" dirty="0">
                <a:solidFill>
                  <a:srgbClr val="0C0D0E"/>
                </a:solidFill>
                <a:latin typeface="Trebuchet MS" panose="020B0603020202020204" pitchFamily="34" charset="0"/>
              </a:rPr>
              <a:t> is true.</a:t>
            </a:r>
          </a:p>
          <a:p>
            <a:pPr marL="539750" indent="0">
              <a:spcBef>
                <a:spcPts val="0"/>
              </a:spcBef>
              <a:buClr>
                <a:srgbClr val="0B61FF"/>
              </a:buClr>
              <a:buSzPct val="120000"/>
              <a:buNone/>
            </a:pPr>
            <a:endParaRPr lang="en-US" altLang="zh-CN" sz="2400" b="0" i="0" dirty="0">
              <a:solidFill>
                <a:srgbClr val="0C0D0E"/>
              </a:solidFill>
              <a:effectLst/>
              <a:latin typeface="Trebuchet MS" panose="020B0603020202020204" pitchFamily="34" charset="0"/>
            </a:endParaRPr>
          </a:p>
          <a:p>
            <a:pPr>
              <a:spcBef>
                <a:spcPts val="0"/>
              </a:spcBef>
              <a:buClr>
                <a:srgbClr val="00B0F0"/>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Definition 2.2:</a:t>
            </a:r>
          </a:p>
          <a:p>
            <a:pPr marL="265113" indent="0" algn="l">
              <a:spcBef>
                <a:spcPts val="0"/>
              </a:spcBef>
              <a:buClr>
                <a:srgbClr val="0B61FF"/>
              </a:buClr>
              <a:buSzPct val="120000"/>
              <a:buNone/>
            </a:pP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(or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with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called the </a:t>
            </a:r>
            <a:r>
              <a:rPr lang="en-US" altLang="zh-CN" sz="2400" b="1" i="1" dirty="0">
                <a:solidFill>
                  <a:srgbClr val="0C0D0E"/>
                </a:solidFill>
                <a:effectLst/>
                <a:latin typeface="Trebuchet MS" panose="020B0603020202020204" pitchFamily="34" charset="0"/>
              </a:rPr>
              <a:t>conjunction</a:t>
            </a:r>
            <a:r>
              <a:rPr lang="en-US" altLang="zh-CN" sz="2400" b="0" i="0" dirty="0">
                <a:solidFill>
                  <a:srgbClr val="0C0D0E"/>
                </a:solidFill>
                <a:effectLst/>
                <a:latin typeface="Trebuchet MS" panose="020B0603020202020204" pitchFamily="34" charset="0"/>
              </a:rPr>
              <a:t> of p and q, denoted as </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The symbol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is the conjunction connective, and it is defined such that </a:t>
            </a:r>
            <a:r>
              <a:rPr lang="en-US" altLang="zh-CN" sz="2400" b="1" i="1" dirty="0" err="1">
                <a:solidFill>
                  <a:srgbClr val="0C0D0E"/>
                </a:solidFill>
                <a:effectLst/>
                <a:latin typeface="Trebuchet MS" panose="020B0603020202020204" pitchFamily="34" charset="0"/>
              </a:rPr>
              <a:t>p</a:t>
            </a:r>
            <a:r>
              <a:rPr lang="en-US" altLang="zh-CN" sz="2400" b="0"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true if and only if both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are true simultaneously.</a:t>
            </a:r>
          </a:p>
          <a:p>
            <a:pPr marL="265113" indent="0" algn="l">
              <a:spcBef>
                <a:spcPts val="0"/>
              </a:spcBef>
              <a:buClr>
                <a:srgbClr val="0B61FF"/>
              </a:buClr>
              <a:buSzPct val="120000"/>
              <a:buNone/>
            </a:pP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   </a:t>
            </a:r>
            <a:r>
              <a:rPr lang="en-US" altLang="zh-CN" sz="2400" b="1" i="0" dirty="0">
                <a:solidFill>
                  <a:srgbClr val="0C0D0E"/>
                </a:solidFill>
                <a:effectLst/>
                <a:latin typeface="Trebuchet MS" panose="020B0603020202020204" pitchFamily="34" charset="0"/>
              </a:rPr>
              <a:t>Example</a:t>
            </a:r>
            <a:r>
              <a:rPr lang="en-US" altLang="zh-CN" sz="2400" b="0" i="0" dirty="0">
                <a:solidFill>
                  <a:srgbClr val="0C0D0E"/>
                </a:solidFill>
                <a:effectLst/>
                <a:latin typeface="Trebuchet MS" panose="020B0603020202020204" pitchFamily="34" charset="0"/>
              </a:rPr>
              <a:t>:</a:t>
            </a:r>
          </a:p>
          <a:p>
            <a:pPr marL="539750" indent="265113">
              <a:spcBef>
                <a:spcPts val="0"/>
              </a:spcBef>
              <a:buClr>
                <a:srgbClr val="0B61FF"/>
              </a:buClr>
              <a:buSzPct val="120000"/>
            </a:pPr>
            <a:r>
              <a:rPr lang="en-US" altLang="zh-CN" sz="2400" b="1" i="1" dirty="0">
                <a:solidFill>
                  <a:srgbClr val="0C0D0E"/>
                </a:solidFill>
                <a:latin typeface="Trebuchet MS" panose="020B0603020202020204" pitchFamily="34" charset="0"/>
              </a:rPr>
              <a:t>p</a:t>
            </a:r>
            <a:r>
              <a:rPr lang="en-US" altLang="zh-CN" sz="2400" dirty="0">
                <a:solidFill>
                  <a:srgbClr val="0C0D0E"/>
                </a:solidFill>
                <a:latin typeface="Trebuchet MS" panose="020B0603020202020204" pitchFamily="34" charset="0"/>
              </a:rPr>
              <a:t>: 2 is an even number. </a:t>
            </a:r>
            <a:r>
              <a:rPr lang="en-US" altLang="zh-CN" sz="2400" b="1" i="1" dirty="0">
                <a:solidFill>
                  <a:srgbClr val="0C0D0E"/>
                </a:solidFill>
                <a:latin typeface="Trebuchet MS" panose="020B0603020202020204" pitchFamily="34" charset="0"/>
              </a:rPr>
              <a:t>q</a:t>
            </a:r>
            <a:r>
              <a:rPr lang="en-US" altLang="zh-CN" sz="2400" dirty="0">
                <a:solidFill>
                  <a:srgbClr val="0C0D0E"/>
                </a:solidFill>
                <a:latin typeface="Trebuchet MS" panose="020B0603020202020204" pitchFamily="34" charset="0"/>
              </a:rPr>
              <a:t>: 2 is a prime number.</a:t>
            </a:r>
          </a:p>
          <a:p>
            <a:pPr marL="539750" indent="265113">
              <a:spcBef>
                <a:spcPts val="0"/>
              </a:spcBef>
              <a:buClr>
                <a:srgbClr val="0B61FF"/>
              </a:buClr>
              <a:buSzPct val="120000"/>
            </a:pPr>
            <a:r>
              <a:rPr lang="en-US" altLang="zh-CN" sz="2400" b="1" i="1" dirty="0" err="1">
                <a:solidFill>
                  <a:srgbClr val="0C0D0E"/>
                </a:solidFill>
                <a:latin typeface="Trebuchet MS" panose="020B0603020202020204" pitchFamily="34" charset="0"/>
              </a:rPr>
              <a:t>p</a:t>
            </a:r>
            <a:r>
              <a:rPr lang="en-US" altLang="zh-CN" sz="2400" b="1" dirty="0" err="1">
                <a:solidFill>
                  <a:srgbClr val="0C0D0E"/>
                </a:solidFill>
                <a:latin typeface="Trebuchet MS" panose="020B0603020202020204" pitchFamily="34" charset="0"/>
              </a:rPr>
              <a:t>∧</a:t>
            </a:r>
            <a:r>
              <a:rPr lang="en-US" altLang="zh-CN" sz="2400" b="1" i="1" dirty="0" err="1">
                <a:solidFill>
                  <a:srgbClr val="0C0D0E"/>
                </a:solidFill>
                <a:latin typeface="Trebuchet MS" panose="020B0603020202020204" pitchFamily="34" charset="0"/>
              </a:rPr>
              <a:t>q</a:t>
            </a:r>
            <a:r>
              <a:rPr lang="en-US" altLang="zh-CN" sz="2400" dirty="0">
                <a:solidFill>
                  <a:srgbClr val="0C0D0E"/>
                </a:solidFill>
                <a:latin typeface="Trebuchet MS" panose="020B0603020202020204" pitchFamily="34" charset="0"/>
              </a:rPr>
              <a:t>: 2 is an even prime number.</a:t>
            </a:r>
          </a:p>
          <a:p>
            <a:pPr marL="539750" indent="265113">
              <a:spcBef>
                <a:spcPts val="0"/>
              </a:spcBef>
              <a:buClr>
                <a:srgbClr val="0B61FF"/>
              </a:buClr>
              <a:buSzPct val="120000"/>
            </a:pPr>
            <a:r>
              <a:rPr lang="en-US" altLang="zh-CN" sz="2400" dirty="0">
                <a:solidFill>
                  <a:srgbClr val="0C0D0E"/>
                </a:solidFill>
                <a:latin typeface="Trebuchet MS" panose="020B0603020202020204" pitchFamily="34" charset="0"/>
              </a:rPr>
              <a:t>Since 2 is indeed both even and prime, </a:t>
            </a:r>
          </a:p>
          <a:p>
            <a:pPr marL="539750" indent="0">
              <a:spcBef>
                <a:spcPts val="0"/>
              </a:spcBef>
              <a:buClr>
                <a:srgbClr val="0B61FF"/>
              </a:buClr>
              <a:buSzPct val="120000"/>
              <a:buNone/>
            </a:pPr>
            <a:r>
              <a:rPr lang="en-US" altLang="zh-CN" sz="2400" dirty="0">
                <a:solidFill>
                  <a:srgbClr val="0C0D0E"/>
                </a:solidFill>
                <a:latin typeface="Trebuchet MS" panose="020B0603020202020204" pitchFamily="34" charset="0"/>
              </a:rPr>
              <a:t>both </a:t>
            </a:r>
            <a:r>
              <a:rPr lang="en-US" altLang="zh-CN" sz="2400" b="1" i="1" dirty="0">
                <a:solidFill>
                  <a:srgbClr val="0C0D0E"/>
                </a:solidFill>
                <a:latin typeface="Trebuchet MS" panose="020B0603020202020204" pitchFamily="34" charset="0"/>
              </a:rPr>
              <a:t>p</a:t>
            </a:r>
            <a:r>
              <a:rPr lang="en-US" altLang="zh-CN" sz="2400" dirty="0">
                <a:solidFill>
                  <a:srgbClr val="0C0D0E"/>
                </a:solidFill>
                <a:latin typeface="Trebuchet MS" panose="020B0603020202020204" pitchFamily="34" charset="0"/>
              </a:rPr>
              <a:t> and </a:t>
            </a:r>
            <a:r>
              <a:rPr lang="en-US" altLang="zh-CN" sz="2400" b="1" i="1" dirty="0">
                <a:solidFill>
                  <a:srgbClr val="0C0D0E"/>
                </a:solidFill>
                <a:latin typeface="Trebuchet MS" panose="020B0603020202020204" pitchFamily="34" charset="0"/>
              </a:rPr>
              <a:t>q</a:t>
            </a:r>
            <a:r>
              <a:rPr lang="en-US" altLang="zh-CN" sz="2400" dirty="0">
                <a:solidFill>
                  <a:srgbClr val="0C0D0E"/>
                </a:solidFill>
                <a:latin typeface="Trebuchet MS" panose="020B0603020202020204" pitchFamily="34" charset="0"/>
              </a:rPr>
              <a:t> are true, so </a:t>
            </a:r>
            <a:r>
              <a:rPr lang="en-US" altLang="zh-CN" sz="2400" b="1" i="1" dirty="0" err="1">
                <a:solidFill>
                  <a:srgbClr val="0C0D0E"/>
                </a:solidFill>
                <a:latin typeface="Trebuchet MS" panose="020B0603020202020204" pitchFamily="34" charset="0"/>
              </a:rPr>
              <a:t>p</a:t>
            </a:r>
            <a:r>
              <a:rPr lang="en-US" altLang="zh-CN" sz="2400" b="1" dirty="0" err="1">
                <a:solidFill>
                  <a:srgbClr val="0C0D0E"/>
                </a:solidFill>
                <a:latin typeface="Trebuchet MS" panose="020B0603020202020204" pitchFamily="34" charset="0"/>
              </a:rPr>
              <a:t>∧</a:t>
            </a:r>
            <a:r>
              <a:rPr lang="en-US" altLang="zh-CN" sz="2400" b="1" i="1" dirty="0" err="1">
                <a:solidFill>
                  <a:srgbClr val="0C0D0E"/>
                </a:solidFill>
                <a:latin typeface="Trebuchet MS" panose="020B0603020202020204" pitchFamily="34" charset="0"/>
              </a:rPr>
              <a:t>q</a:t>
            </a:r>
            <a:r>
              <a:rPr lang="en-US" altLang="zh-CN" sz="2400" dirty="0">
                <a:solidFill>
                  <a:srgbClr val="0C0D0E"/>
                </a:solidFill>
                <a:latin typeface="Trebuchet MS" panose="020B0603020202020204" pitchFamily="34" charset="0"/>
              </a:rPr>
              <a:t> is also true</a:t>
            </a:r>
          </a:p>
          <a:p>
            <a:pPr eaLnBrk="1" hangingPunct="1">
              <a:lnSpc>
                <a:spcPct val="110000"/>
              </a:lnSpc>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2634442"/>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000"/>
                                        <p:tgtEl>
                                          <p:spTgt spid="8">
                                            <p:txEl>
                                              <p:pRg st="5" end="5"/>
                                            </p:txEl>
                                          </p:spTgt>
                                        </p:tgtEl>
                                      </p:cBhvr>
                                    </p:animEffect>
                                    <p:anim calcmode="lin" valueType="num">
                                      <p:cBhvr>
                                        <p:cTn id="2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1000"/>
                                        <p:tgtEl>
                                          <p:spTgt spid="8">
                                            <p:txEl>
                                              <p:pRg st="6" end="6"/>
                                            </p:txEl>
                                          </p:spTgt>
                                        </p:tgtEl>
                                      </p:cBhvr>
                                    </p:animEffect>
                                    <p:anim calcmode="lin" valueType="num">
                                      <p:cBhvr>
                                        <p:cTn id="3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fade">
                                      <p:cBhvr>
                                        <p:cTn id="34" dur="1000"/>
                                        <p:tgtEl>
                                          <p:spTgt spid="8">
                                            <p:txEl>
                                              <p:pRg st="7" end="7"/>
                                            </p:txEl>
                                          </p:spTgt>
                                        </p:tgtEl>
                                      </p:cBhvr>
                                    </p:animEffect>
                                    <p:anim calcmode="lin" valueType="num">
                                      <p:cBhvr>
                                        <p:cTn id="3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animEffect transition="in" filter="fade">
                                      <p:cBhvr>
                                        <p:cTn id="39" dur="1000"/>
                                        <p:tgtEl>
                                          <p:spTgt spid="8">
                                            <p:txEl>
                                              <p:pRg st="8" end="8"/>
                                            </p:txEl>
                                          </p:spTgt>
                                        </p:tgtEl>
                                      </p:cBhvr>
                                    </p:animEffect>
                                    <p:anim calcmode="lin" valueType="num">
                                      <p:cBhvr>
                                        <p:cTn id="40"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animEffect transition="in" filter="fade">
                                      <p:cBhvr>
                                        <p:cTn id="44" dur="1000"/>
                                        <p:tgtEl>
                                          <p:spTgt spid="8">
                                            <p:txEl>
                                              <p:pRg st="9" end="9"/>
                                            </p:txEl>
                                          </p:spTgt>
                                        </p:tgtEl>
                                      </p:cBhvr>
                                    </p:animEffect>
                                    <p:anim calcmode="lin" valueType="num">
                                      <p:cBhvr>
                                        <p:cTn id="45"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8">
                                            <p:txEl>
                                              <p:pRg st="9" end="9"/>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8">
                                            <p:txEl>
                                              <p:pRg st="10" end="10"/>
                                            </p:txEl>
                                          </p:spTgt>
                                        </p:tgtEl>
                                        <p:attrNameLst>
                                          <p:attrName>style.visibility</p:attrName>
                                        </p:attrNameLst>
                                      </p:cBhvr>
                                      <p:to>
                                        <p:strVal val="visible"/>
                                      </p:to>
                                    </p:set>
                                    <p:animEffect transition="in" filter="fade">
                                      <p:cBhvr>
                                        <p:cTn id="49" dur="1000"/>
                                        <p:tgtEl>
                                          <p:spTgt spid="8">
                                            <p:txEl>
                                              <p:pRg st="10" end="10"/>
                                            </p:txEl>
                                          </p:spTgt>
                                        </p:tgtEl>
                                      </p:cBhvr>
                                    </p:animEffect>
                                    <p:anim calcmode="lin" valueType="num">
                                      <p:cBhvr>
                                        <p:cTn id="50"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8">
                                            <p:txEl>
                                              <p:pRg st="11" end="11"/>
                                            </p:txEl>
                                          </p:spTgt>
                                        </p:tgtEl>
                                        <p:attrNameLst>
                                          <p:attrName>style.visibility</p:attrName>
                                        </p:attrNameLst>
                                      </p:cBhvr>
                                      <p:to>
                                        <p:strVal val="visible"/>
                                      </p:to>
                                    </p:set>
                                    <p:animEffect transition="in" filter="fade">
                                      <p:cBhvr>
                                        <p:cTn id="54" dur="1000"/>
                                        <p:tgtEl>
                                          <p:spTgt spid="8">
                                            <p:txEl>
                                              <p:pRg st="11" end="11"/>
                                            </p:txEl>
                                          </p:spTgt>
                                        </p:tgtEl>
                                      </p:cBhvr>
                                    </p:animEffect>
                                    <p:anim calcmode="lin" valueType="num">
                                      <p:cBhvr>
                                        <p:cTn id="55"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56"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59220" y="6104774"/>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669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zh-CN" altLang="en-US" sz="2800" b="1" dirty="0"/>
          </a:p>
        </p:txBody>
      </p:sp>
      <p:sp>
        <p:nvSpPr>
          <p:cNvPr id="9" name="Rectangle 3">
            <a:extLst>
              <a:ext uri="{FF2B5EF4-FFF2-40B4-BE49-F238E27FC236}">
                <a16:creationId xmlns:a16="http://schemas.microsoft.com/office/drawing/2014/main" id="{9D67FD1C-D971-40B1-95AE-DC331D1FAEB9}"/>
              </a:ext>
            </a:extLst>
          </p:cNvPr>
          <p:cNvSpPr>
            <a:spLocks noGrp="1" noChangeArrowheads="1"/>
          </p:cNvSpPr>
          <p:nvPr>
            <p:ph idx="1"/>
          </p:nvPr>
        </p:nvSpPr>
        <p:spPr>
          <a:xfrm>
            <a:off x="400094" y="1224110"/>
            <a:ext cx="5143500" cy="5352048"/>
          </a:xfrm>
        </p:spPr>
        <p:txBody>
          <a:bodyPr>
            <a:noAutofit/>
          </a:bodyPr>
          <a:lstStyle/>
          <a:p>
            <a:pPr marL="0" indent="0" algn="l">
              <a:lnSpc>
                <a:spcPct val="120000"/>
              </a:lnSpc>
              <a:spcBef>
                <a:spcPts val="0"/>
              </a:spcBef>
              <a:buNone/>
            </a:pPr>
            <a:r>
              <a:rPr lang="en-US" altLang="zh-CN" b="0" i="0" dirty="0">
                <a:solidFill>
                  <a:srgbClr val="0C0D0E"/>
                </a:solidFill>
                <a:effectLst/>
              </a:rPr>
              <a:t>(1) Wang Xiao is smart and hardworking.</a:t>
            </a:r>
          </a:p>
          <a:p>
            <a:pPr marL="0" indent="0" algn="l">
              <a:lnSpc>
                <a:spcPct val="120000"/>
              </a:lnSpc>
              <a:spcBef>
                <a:spcPts val="0"/>
              </a:spcBef>
              <a:buNone/>
            </a:pPr>
            <a:r>
              <a:rPr lang="en-US" altLang="zh-CN" b="0" i="0" dirty="0">
                <a:solidFill>
                  <a:srgbClr val="0C0D0E"/>
                </a:solidFill>
                <a:effectLst/>
              </a:rPr>
              <a:t>(2) Wang Xiao is not only smart but also hardworking.</a:t>
            </a:r>
          </a:p>
          <a:p>
            <a:pPr marL="0" indent="0" algn="l">
              <a:lnSpc>
                <a:spcPct val="120000"/>
              </a:lnSpc>
              <a:spcBef>
                <a:spcPts val="0"/>
              </a:spcBef>
              <a:buNone/>
            </a:pPr>
            <a:r>
              <a:rPr lang="en-US" altLang="zh-CN" b="0" i="0" dirty="0">
                <a:solidFill>
                  <a:srgbClr val="0C0D0E"/>
                </a:solidFill>
                <a:effectLst/>
              </a:rPr>
              <a:t>(3) Wang Xiao is smart, but not hardworking.</a:t>
            </a:r>
          </a:p>
          <a:p>
            <a:pPr marL="0" indent="0" algn="l">
              <a:lnSpc>
                <a:spcPct val="120000"/>
              </a:lnSpc>
              <a:spcBef>
                <a:spcPts val="0"/>
              </a:spcBef>
              <a:buNone/>
            </a:pPr>
            <a:r>
              <a:rPr lang="en-US" altLang="zh-CN" b="0" i="0" dirty="0">
                <a:solidFill>
                  <a:srgbClr val="0C0D0E"/>
                </a:solidFill>
                <a:effectLst/>
              </a:rPr>
              <a:t>(4) Wang Xiao is not unintelligent, but rather not hardworking.</a:t>
            </a:r>
          </a:p>
          <a:p>
            <a:pPr marL="0" indent="0" algn="l">
              <a:lnSpc>
                <a:spcPct val="120000"/>
              </a:lnSpc>
              <a:spcBef>
                <a:spcPts val="0"/>
              </a:spcBef>
              <a:buNone/>
            </a:pPr>
            <a:r>
              <a:rPr lang="en-US" altLang="zh-CN" b="0" i="0" dirty="0">
                <a:solidFill>
                  <a:srgbClr val="0C0D0E"/>
                </a:solidFill>
                <a:effectLst/>
              </a:rPr>
              <a:t>(5) Both Zhang Hui and Wang Li are outstanding students.</a:t>
            </a:r>
          </a:p>
          <a:p>
            <a:pPr marL="0" indent="0" algn="l">
              <a:lnSpc>
                <a:spcPct val="120000"/>
              </a:lnSpc>
              <a:spcBef>
                <a:spcPts val="0"/>
              </a:spcBef>
              <a:buNone/>
            </a:pPr>
            <a:r>
              <a:rPr lang="en-US" altLang="zh-CN" b="0" i="0" dirty="0">
                <a:solidFill>
                  <a:srgbClr val="0C0D0E"/>
                </a:solidFill>
                <a:effectLst/>
              </a:rPr>
              <a:t>(6) Zhang Hui and Wang Li are classmates</a:t>
            </a:r>
          </a:p>
        </p:txBody>
      </p:sp>
      <p:sp>
        <p:nvSpPr>
          <p:cNvPr id="10" name="Text Box 4">
            <a:extLst>
              <a:ext uri="{FF2B5EF4-FFF2-40B4-BE49-F238E27FC236}">
                <a16:creationId xmlns:a16="http://schemas.microsoft.com/office/drawing/2014/main" id="{FD6E1ACE-A849-4D9E-A18B-15FBC70D519F}"/>
              </a:ext>
            </a:extLst>
          </p:cNvPr>
          <p:cNvSpPr txBox="1">
            <a:spLocks noChangeArrowheads="1"/>
          </p:cNvSpPr>
          <p:nvPr/>
        </p:nvSpPr>
        <p:spPr bwMode="auto">
          <a:xfrm>
            <a:off x="6147627" y="1812577"/>
            <a:ext cx="56442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r>
              <a:rPr lang="en-US" altLang="zh-CN" sz="1600" b="1" dirty="0">
                <a:latin typeface="Trebuchet MS" panose="020B0603020202020204" pitchFamily="34" charset="0"/>
              </a:rPr>
              <a:t>(</a:t>
            </a:r>
            <a:r>
              <a:rPr lang="en-US" altLang="zh-CN" sz="1600" dirty="0">
                <a:latin typeface="Trebuchet MS" panose="020B0603020202020204" pitchFamily="34" charset="0"/>
              </a:rPr>
              <a:t>Let </a:t>
            </a:r>
            <a:r>
              <a:rPr lang="en-US" altLang="zh-CN" sz="1600" b="1" i="1" dirty="0">
                <a:latin typeface="Trebuchet MS" panose="020B0603020202020204" pitchFamily="34" charset="0"/>
              </a:rPr>
              <a:t>p</a:t>
            </a:r>
            <a:r>
              <a:rPr lang="en-US" altLang="zh-CN" sz="1600" dirty="0">
                <a:latin typeface="Trebuchet MS" panose="020B0603020202020204" pitchFamily="34" charset="0"/>
              </a:rPr>
              <a:t>: Wang Xiao is smart, </a:t>
            </a:r>
            <a:r>
              <a:rPr lang="en-US" altLang="zh-CN" sz="1600" b="1" i="1" dirty="0">
                <a:latin typeface="Trebuchet MS" panose="020B0603020202020204" pitchFamily="34" charset="0"/>
              </a:rPr>
              <a:t>q</a:t>
            </a:r>
            <a:r>
              <a:rPr lang="en-US" altLang="zh-CN" sz="1600" dirty="0">
                <a:latin typeface="Trebuchet MS" panose="020B0603020202020204" pitchFamily="34" charset="0"/>
              </a:rPr>
              <a:t>: Wang Xiao is hardworking.)</a:t>
            </a:r>
            <a:endParaRPr lang="zh-CN" altLang="en-US" sz="1600" b="1" dirty="0">
              <a:solidFill>
                <a:schemeClr val="tx1"/>
              </a:solidFill>
              <a:latin typeface="Trebuchet MS" panose="020B0603020202020204" pitchFamily="34" charset="0"/>
              <a:cs typeface="Times New Roman" panose="02020603050405020304" pitchFamily="18" charset="0"/>
            </a:endParaRPr>
          </a:p>
        </p:txBody>
      </p:sp>
      <p:sp>
        <p:nvSpPr>
          <p:cNvPr id="11" name="Text Box 5">
            <a:extLst>
              <a:ext uri="{FF2B5EF4-FFF2-40B4-BE49-F238E27FC236}">
                <a16:creationId xmlns:a16="http://schemas.microsoft.com/office/drawing/2014/main" id="{8AC50329-FD70-45C2-8DCF-9A2F832DECFF}"/>
              </a:ext>
            </a:extLst>
          </p:cNvPr>
          <p:cNvSpPr txBox="1">
            <a:spLocks noChangeArrowheads="1"/>
          </p:cNvSpPr>
          <p:nvPr/>
        </p:nvSpPr>
        <p:spPr bwMode="auto">
          <a:xfrm>
            <a:off x="5405256" y="1396484"/>
            <a:ext cx="2251844" cy="39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tIns="0" bIns="0">
            <a:noAutofit/>
          </a:bodyPr>
          <a:lstStyle/>
          <a:p>
            <a:r>
              <a:rPr lang="zh-CN" altLang="en-US" sz="2400" b="1" dirty="0">
                <a:solidFill>
                  <a:srgbClr val="00B0F0"/>
                </a:solidFill>
                <a:latin typeface="Trebuchet MS" panose="020B0603020202020204" pitchFamily="34" charset="0"/>
                <a:ea typeface="宋体" panose="02010600030101010101" pitchFamily="2" charset="-122"/>
              </a:rPr>
              <a:t>(1)  </a:t>
            </a:r>
            <a:r>
              <a:rPr lang="en-US" altLang="zh-CN" sz="2400" b="1" dirty="0" err="1">
                <a:solidFill>
                  <a:srgbClr val="00B0F0"/>
                </a:solidFill>
                <a:latin typeface="Trebuchet MS" panose="020B0603020202020204" pitchFamily="34" charset="0"/>
                <a:ea typeface="宋体" panose="02010600030101010101" pitchFamily="2" charset="-122"/>
              </a:rPr>
              <a:t>p∧q</a:t>
            </a:r>
            <a:endParaRPr lang="zh-CN" altLang="en-US" sz="2400" b="1" dirty="0">
              <a:solidFill>
                <a:srgbClr val="00B0F0"/>
              </a:solidFill>
              <a:latin typeface="Trebuchet MS" panose="020B0603020202020204" pitchFamily="34" charset="0"/>
              <a:ea typeface="宋体" panose="02010600030101010101" pitchFamily="2" charset="-122"/>
            </a:endParaRPr>
          </a:p>
        </p:txBody>
      </p:sp>
      <p:sp>
        <p:nvSpPr>
          <p:cNvPr id="12" name="Text Box 6">
            <a:extLst>
              <a:ext uri="{FF2B5EF4-FFF2-40B4-BE49-F238E27FC236}">
                <a16:creationId xmlns:a16="http://schemas.microsoft.com/office/drawing/2014/main" id="{83864254-ECC7-4DD5-AFC0-E87AEE401D9F}"/>
              </a:ext>
            </a:extLst>
          </p:cNvPr>
          <p:cNvSpPr txBox="1">
            <a:spLocks noChangeArrowheads="1"/>
          </p:cNvSpPr>
          <p:nvPr/>
        </p:nvSpPr>
        <p:spPr bwMode="auto">
          <a:xfrm>
            <a:off x="5405256" y="2197894"/>
            <a:ext cx="1905000" cy="43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tIns="0" bIns="0">
            <a:noAutofit/>
          </a:bodyPr>
          <a:lstStyle>
            <a:defPPr>
              <a:defRPr lang="zh-CN"/>
            </a:defPPr>
            <a:lvl1pPr>
              <a:defRPr sz="2400" b="1">
                <a:solidFill>
                  <a:srgbClr val="00B0F0"/>
                </a:solidFill>
                <a:latin typeface="Trebuchet MS" panose="020B0603020202020204" pitchFamily="34" charset="0"/>
                <a:ea typeface="宋体" panose="02010600030101010101" pitchFamily="2" charset="-122"/>
              </a:defRPr>
            </a:lvl1pPr>
          </a:lstStyle>
          <a:p>
            <a:r>
              <a:rPr lang="zh-CN" altLang="en-US" dirty="0"/>
              <a:t>(2)  </a:t>
            </a:r>
            <a:r>
              <a:rPr lang="en-US" altLang="zh-CN" dirty="0" err="1"/>
              <a:t>p∧q</a:t>
            </a:r>
            <a:endParaRPr lang="zh-CN" altLang="en-US" dirty="0"/>
          </a:p>
        </p:txBody>
      </p:sp>
      <p:sp>
        <p:nvSpPr>
          <p:cNvPr id="14" name="Text Box 7">
            <a:extLst>
              <a:ext uri="{FF2B5EF4-FFF2-40B4-BE49-F238E27FC236}">
                <a16:creationId xmlns:a16="http://schemas.microsoft.com/office/drawing/2014/main" id="{4F67679D-1FF1-460B-8D96-8616624AB08A}"/>
              </a:ext>
            </a:extLst>
          </p:cNvPr>
          <p:cNvSpPr txBox="1">
            <a:spLocks noChangeArrowheads="1"/>
          </p:cNvSpPr>
          <p:nvPr/>
        </p:nvSpPr>
        <p:spPr bwMode="auto">
          <a:xfrm>
            <a:off x="5405256" y="3083421"/>
            <a:ext cx="1828800" cy="4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tIns="0" bIns="0">
            <a:noAutofit/>
          </a:bodyPr>
          <a:lstStyle>
            <a:defPPr>
              <a:defRPr lang="zh-CN"/>
            </a:defPPr>
            <a:lvl1pPr>
              <a:defRPr sz="2400" b="1">
                <a:solidFill>
                  <a:srgbClr val="00B0F0"/>
                </a:solidFill>
                <a:latin typeface="Trebuchet MS" panose="020B0603020202020204" pitchFamily="34" charset="0"/>
                <a:ea typeface="宋体" panose="02010600030101010101" pitchFamily="2" charset="-122"/>
              </a:defRPr>
            </a:lvl1pPr>
          </a:lstStyle>
          <a:p>
            <a:r>
              <a:rPr lang="zh-CN" altLang="en-US" dirty="0"/>
              <a:t>(3)  </a:t>
            </a:r>
            <a:r>
              <a:rPr lang="en-US" altLang="zh-CN" dirty="0"/>
              <a:t>p∧</a:t>
            </a:r>
            <a:r>
              <a:rPr lang="en-US" altLang="zh-CN" dirty="0">
                <a:sym typeface="Symbol" panose="05050102010706020507" pitchFamily="18" charset="2"/>
              </a:rPr>
              <a:t></a:t>
            </a:r>
            <a:r>
              <a:rPr lang="en-US" altLang="zh-CN" dirty="0"/>
              <a:t>q</a:t>
            </a:r>
            <a:endParaRPr lang="zh-CN" altLang="en-US" dirty="0"/>
          </a:p>
        </p:txBody>
      </p:sp>
      <p:sp>
        <p:nvSpPr>
          <p:cNvPr id="15" name="Text Box 8">
            <a:extLst>
              <a:ext uri="{FF2B5EF4-FFF2-40B4-BE49-F238E27FC236}">
                <a16:creationId xmlns:a16="http://schemas.microsoft.com/office/drawing/2014/main" id="{E6570346-C2C1-4301-A838-C2CCFC8E41E2}"/>
              </a:ext>
            </a:extLst>
          </p:cNvPr>
          <p:cNvSpPr txBox="1">
            <a:spLocks noChangeArrowheads="1"/>
          </p:cNvSpPr>
          <p:nvPr/>
        </p:nvSpPr>
        <p:spPr bwMode="auto">
          <a:xfrm>
            <a:off x="5405256" y="4530955"/>
            <a:ext cx="1689813" cy="425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tIns="0" bIns="0">
            <a:noAutofit/>
          </a:bodyPr>
          <a:lstStyle>
            <a:defPPr>
              <a:defRPr lang="zh-CN"/>
            </a:defPPr>
            <a:lvl1pPr>
              <a:defRPr sz="2400" b="1">
                <a:solidFill>
                  <a:srgbClr val="00B0F0"/>
                </a:solidFill>
                <a:latin typeface="Trebuchet MS" panose="020B0603020202020204" pitchFamily="34" charset="0"/>
                <a:ea typeface="宋体" panose="02010600030101010101" pitchFamily="2" charset="-122"/>
              </a:defRPr>
            </a:lvl1pPr>
          </a:lstStyle>
          <a:p>
            <a:r>
              <a:rPr lang="zh-CN" altLang="en-US" dirty="0"/>
              <a:t>(</a:t>
            </a:r>
            <a:r>
              <a:rPr lang="en-US" altLang="zh-CN" dirty="0"/>
              <a:t>5</a:t>
            </a:r>
            <a:r>
              <a:rPr lang="zh-CN" altLang="en-US" dirty="0"/>
              <a:t>) </a:t>
            </a:r>
            <a:r>
              <a:rPr lang="en-US" altLang="zh-CN" dirty="0" err="1"/>
              <a:t>r∧s</a:t>
            </a:r>
            <a:endParaRPr lang="en-US" altLang="zh-CN" dirty="0"/>
          </a:p>
        </p:txBody>
      </p:sp>
      <p:sp>
        <p:nvSpPr>
          <p:cNvPr id="16" name="Text Box 9">
            <a:extLst>
              <a:ext uri="{FF2B5EF4-FFF2-40B4-BE49-F238E27FC236}">
                <a16:creationId xmlns:a16="http://schemas.microsoft.com/office/drawing/2014/main" id="{0DA0443D-E246-4E6B-9F91-55465FD21CF8}"/>
              </a:ext>
            </a:extLst>
          </p:cNvPr>
          <p:cNvSpPr txBox="1">
            <a:spLocks noChangeArrowheads="1"/>
          </p:cNvSpPr>
          <p:nvPr/>
        </p:nvSpPr>
        <p:spPr bwMode="auto">
          <a:xfrm>
            <a:off x="5405256" y="5715311"/>
            <a:ext cx="9193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spcBef>
                <a:spcPct val="20000"/>
              </a:spcBef>
            </a:pPr>
            <a:r>
              <a:rPr lang="zh-CN" altLang="en-US" sz="2400" b="1" dirty="0">
                <a:solidFill>
                  <a:srgbClr val="00B0F0"/>
                </a:solidFill>
                <a:latin typeface="Trebuchet MS" panose="020B0603020202020204" pitchFamily="34" charset="0"/>
                <a:ea typeface="宋体" panose="02010600030101010101" pitchFamily="2" charset="-122"/>
              </a:rPr>
              <a:t>(</a:t>
            </a:r>
            <a:r>
              <a:rPr lang="en-US" altLang="zh-CN" sz="2400" b="1" dirty="0">
                <a:solidFill>
                  <a:srgbClr val="00B0F0"/>
                </a:solidFill>
                <a:latin typeface="Trebuchet MS" panose="020B0603020202020204" pitchFamily="34" charset="0"/>
                <a:ea typeface="宋体" panose="02010600030101010101" pitchFamily="2" charset="-122"/>
              </a:rPr>
              <a:t>6</a:t>
            </a:r>
            <a:r>
              <a:rPr lang="zh-CN" altLang="en-US" sz="2400" b="1" dirty="0">
                <a:solidFill>
                  <a:srgbClr val="00B0F0"/>
                </a:solidFill>
                <a:latin typeface="Trebuchet MS" panose="020B0603020202020204" pitchFamily="34" charset="0"/>
                <a:ea typeface="宋体" panose="02010600030101010101" pitchFamily="2" charset="-122"/>
              </a:rPr>
              <a:t>) </a:t>
            </a:r>
            <a:r>
              <a:rPr lang="en-US" altLang="zh-CN" sz="2400" b="1" i="1" dirty="0">
                <a:solidFill>
                  <a:srgbClr val="00B0F0"/>
                </a:solidFill>
                <a:latin typeface="Trebuchet MS" panose="020B0603020202020204" pitchFamily="34" charset="0"/>
                <a:ea typeface="宋体" panose="02010600030101010101" pitchFamily="2" charset="-122"/>
              </a:rPr>
              <a:t>t</a:t>
            </a:r>
            <a:endParaRPr lang="zh-CN" altLang="en-US" sz="2400" b="1" dirty="0">
              <a:solidFill>
                <a:schemeClr val="bg2">
                  <a:lumMod val="50000"/>
                </a:schemeClr>
              </a:solidFill>
              <a:latin typeface="Trebuchet MS" panose="020B0603020202020204" pitchFamily="34" charset="0"/>
              <a:ea typeface="宋体" panose="02010600030101010101" pitchFamily="2" charset="-122"/>
            </a:endParaRPr>
          </a:p>
        </p:txBody>
      </p:sp>
      <p:sp>
        <p:nvSpPr>
          <p:cNvPr id="17" name="Text Box 7">
            <a:extLst>
              <a:ext uri="{FF2B5EF4-FFF2-40B4-BE49-F238E27FC236}">
                <a16:creationId xmlns:a16="http://schemas.microsoft.com/office/drawing/2014/main" id="{5CABEC2A-C8A0-4911-8AC4-A73A09F0D274}"/>
              </a:ext>
            </a:extLst>
          </p:cNvPr>
          <p:cNvSpPr txBox="1">
            <a:spLocks noChangeArrowheads="1"/>
          </p:cNvSpPr>
          <p:nvPr/>
        </p:nvSpPr>
        <p:spPr bwMode="auto">
          <a:xfrm>
            <a:off x="5405256" y="3951569"/>
            <a:ext cx="2788060"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tIns="0" bIns="0">
            <a:noAutofit/>
          </a:bodyPr>
          <a:lstStyle>
            <a:defPPr>
              <a:defRPr lang="zh-CN"/>
            </a:defPPr>
            <a:lvl1pPr>
              <a:defRPr sz="2400" b="1">
                <a:solidFill>
                  <a:srgbClr val="00B0F0"/>
                </a:solidFill>
                <a:latin typeface="Trebuchet MS" panose="020B0603020202020204" pitchFamily="34" charset="0"/>
                <a:ea typeface="宋体" panose="02010600030101010101" pitchFamily="2" charset="-122"/>
              </a:defRPr>
            </a:lvl1pPr>
          </a:lstStyle>
          <a:p>
            <a:r>
              <a:rPr lang="zh-CN" altLang="en-US" dirty="0"/>
              <a:t>(</a:t>
            </a:r>
            <a:r>
              <a:rPr lang="en-US" altLang="zh-CN" dirty="0"/>
              <a:t>4</a:t>
            </a:r>
            <a:r>
              <a:rPr lang="zh-CN" altLang="en-US" dirty="0"/>
              <a:t>) </a:t>
            </a:r>
            <a:r>
              <a:rPr lang="en-US" altLang="zh-CN" dirty="0">
                <a:sym typeface="Symbol" panose="05050102010706020507" pitchFamily="18" charset="2"/>
              </a:rPr>
              <a:t></a:t>
            </a:r>
            <a:r>
              <a:rPr lang="zh-CN" altLang="en-US" dirty="0"/>
              <a:t> ( </a:t>
            </a:r>
            <a:r>
              <a:rPr lang="en-US" altLang="zh-CN" dirty="0">
                <a:sym typeface="Symbol" panose="05050102010706020507" pitchFamily="18" charset="2"/>
              </a:rPr>
              <a:t></a:t>
            </a:r>
            <a:r>
              <a:rPr lang="en-US" altLang="zh-CN" dirty="0"/>
              <a:t>p</a:t>
            </a:r>
            <a:r>
              <a:rPr lang="zh-CN" altLang="en-US" dirty="0"/>
              <a:t> ) </a:t>
            </a:r>
            <a:r>
              <a:rPr lang="en-US" altLang="zh-CN" dirty="0"/>
              <a:t>∧</a:t>
            </a:r>
            <a:r>
              <a:rPr lang="en-US" altLang="zh-CN" dirty="0">
                <a:sym typeface="Symbol" panose="05050102010706020507" pitchFamily="18" charset="2"/>
              </a:rPr>
              <a:t></a:t>
            </a:r>
            <a:r>
              <a:rPr lang="en-US" altLang="zh-CN" dirty="0"/>
              <a:t>q</a:t>
            </a:r>
            <a:endParaRPr lang="zh-CN" altLang="en-US" dirty="0"/>
          </a:p>
        </p:txBody>
      </p:sp>
      <p:sp>
        <p:nvSpPr>
          <p:cNvPr id="19" name="文本框 18">
            <a:extLst>
              <a:ext uri="{FF2B5EF4-FFF2-40B4-BE49-F238E27FC236}">
                <a16:creationId xmlns:a16="http://schemas.microsoft.com/office/drawing/2014/main" id="{21056090-ADF6-4EDA-8EB2-D272AF2D3DF7}"/>
              </a:ext>
            </a:extLst>
          </p:cNvPr>
          <p:cNvSpPr txBox="1"/>
          <p:nvPr/>
        </p:nvSpPr>
        <p:spPr>
          <a:xfrm>
            <a:off x="400094" y="752472"/>
            <a:ext cx="5695906" cy="461665"/>
          </a:xfrm>
          <a:prstGeom prst="rect">
            <a:avLst/>
          </a:prstGeom>
          <a:noFill/>
        </p:spPr>
        <p:txBody>
          <a:bodyPr wrap="square">
            <a:spAutoFit/>
          </a:bodyPr>
          <a:lstStyle/>
          <a:p>
            <a:pPr eaLnBrk="1" hangingPunct="1">
              <a:lnSpc>
                <a:spcPct val="100000"/>
              </a:lnSpc>
              <a:spcBef>
                <a:spcPts val="400"/>
              </a:spcBef>
              <a:buFontTx/>
              <a:buNone/>
            </a:pPr>
            <a:r>
              <a:rPr lang="en-US" altLang="zh-CN" sz="2400" b="1" i="0" dirty="0">
                <a:solidFill>
                  <a:srgbClr val="0C0D0E"/>
                </a:solidFill>
                <a:effectLst/>
                <a:latin typeface="Trebuchet MS" panose="020B0603020202020204" pitchFamily="34" charset="0"/>
              </a:rPr>
              <a:t>Symbolize the following propositions.</a:t>
            </a:r>
            <a:endParaRPr lang="zh-CN" altLang="en-US" sz="2400" b="1" dirty="0">
              <a:latin typeface="Trebuchet MS" panose="020B0603020202020204" pitchFamily="34" charset="0"/>
            </a:endParaRPr>
          </a:p>
        </p:txBody>
      </p:sp>
      <p:sp>
        <p:nvSpPr>
          <p:cNvPr id="21" name="文本框 20">
            <a:extLst>
              <a:ext uri="{FF2B5EF4-FFF2-40B4-BE49-F238E27FC236}">
                <a16:creationId xmlns:a16="http://schemas.microsoft.com/office/drawing/2014/main" id="{7FDC6A9B-D71D-4855-8542-4EAF4AA46FBA}"/>
              </a:ext>
            </a:extLst>
          </p:cNvPr>
          <p:cNvSpPr txBox="1"/>
          <p:nvPr/>
        </p:nvSpPr>
        <p:spPr>
          <a:xfrm>
            <a:off x="6147627" y="4868944"/>
            <a:ext cx="5386048" cy="584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r>
              <a:rPr lang="en-US" altLang="zh-CN" sz="1600" dirty="0">
                <a:latin typeface="Trebuchet MS" panose="020B0603020202020204" pitchFamily="34" charset="0"/>
                <a:ea typeface="宋体" panose="02010600030101010101" pitchFamily="2" charset="-122"/>
              </a:rPr>
              <a:t>(Let </a:t>
            </a:r>
            <a:r>
              <a:rPr lang="en-US" altLang="zh-CN" sz="1600" i="1" dirty="0">
                <a:latin typeface="Trebuchet MS" panose="020B0603020202020204" pitchFamily="34" charset="0"/>
                <a:ea typeface="宋体" panose="02010600030101010101" pitchFamily="2" charset="-122"/>
              </a:rPr>
              <a:t>r</a:t>
            </a:r>
            <a:r>
              <a:rPr lang="en-US" altLang="zh-CN" sz="1600" dirty="0">
                <a:latin typeface="Trebuchet MS" panose="020B0603020202020204" pitchFamily="34" charset="0"/>
                <a:ea typeface="宋体" panose="02010600030101010101" pitchFamily="2" charset="-122"/>
              </a:rPr>
              <a:t>: Zhang Hui is an outstanding student, </a:t>
            </a:r>
            <a:r>
              <a:rPr lang="en-US" altLang="zh-CN" sz="1600" i="1" dirty="0">
                <a:latin typeface="Trebuchet MS" panose="020B0603020202020204" pitchFamily="34" charset="0"/>
                <a:ea typeface="宋体" panose="02010600030101010101" pitchFamily="2" charset="-122"/>
              </a:rPr>
              <a:t>s</a:t>
            </a:r>
            <a:r>
              <a:rPr lang="en-US" altLang="zh-CN" sz="1600" dirty="0">
                <a:latin typeface="Trebuchet MS" panose="020B0603020202020204" pitchFamily="34" charset="0"/>
                <a:ea typeface="宋体" panose="02010600030101010101" pitchFamily="2" charset="-122"/>
              </a:rPr>
              <a:t>: Wang Li is an outstanding student.)</a:t>
            </a:r>
            <a:endParaRPr lang="zh-CN" altLang="en-US" sz="1600" dirty="0">
              <a:latin typeface="Trebuchet MS" panose="020B0603020202020204" pitchFamily="34" charset="0"/>
            </a:endParaRPr>
          </a:p>
        </p:txBody>
      </p:sp>
      <p:sp>
        <p:nvSpPr>
          <p:cNvPr id="23" name="文本框 22">
            <a:extLst>
              <a:ext uri="{FF2B5EF4-FFF2-40B4-BE49-F238E27FC236}">
                <a16:creationId xmlns:a16="http://schemas.microsoft.com/office/drawing/2014/main" id="{D3FFACB4-1E0E-4A11-83CF-9AC047EE3DD8}"/>
              </a:ext>
            </a:extLst>
          </p:cNvPr>
          <p:cNvSpPr txBox="1"/>
          <p:nvPr/>
        </p:nvSpPr>
        <p:spPr>
          <a:xfrm>
            <a:off x="6147627" y="5651905"/>
            <a:ext cx="4943597" cy="584775"/>
          </a:xfrm>
          <a:prstGeom prst="rect">
            <a:avLst/>
          </a:prstGeom>
          <a:noFill/>
        </p:spPr>
        <p:txBody>
          <a:bodyPr wrap="square">
            <a:spAutoFit/>
          </a:bodyPr>
          <a:lstStyle/>
          <a:p>
            <a:r>
              <a:rPr lang="en-US" altLang="zh-CN" sz="1600" dirty="0">
                <a:latin typeface="Trebuchet MS" panose="020B0603020202020204" pitchFamily="34" charset="0"/>
                <a:ea typeface="宋体" panose="02010600030101010101" pitchFamily="2" charset="-122"/>
              </a:rPr>
              <a:t>(A simple proposition, "and" connects two nouns, the entire sentence is a simple proposition.)</a:t>
            </a:r>
            <a:endParaRPr lang="zh-CN" altLang="en-US" sz="1600" dirty="0"/>
          </a:p>
        </p:txBody>
      </p:sp>
    </p:spTree>
    <p:extLst>
      <p:ext uri="{BB962C8B-B14F-4D97-AF65-F5344CB8AC3E}">
        <p14:creationId xmlns:p14="http://schemas.microsoft.com/office/powerpoint/2010/main" val="3081529727"/>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anim calcmode="lin" valueType="num">
                                      <p:cBhvr additive="base">
                                        <p:cTn id="2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1+#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 calcmode="lin" valueType="num">
                                      <p:cBhvr additive="base">
                                        <p:cTn id="3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anim calcmode="lin" valueType="num">
                                      <p:cBhvr additive="base">
                                        <p:cTn id="4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1+#ppt_w/2"/>
                                          </p:val>
                                        </p:tav>
                                        <p:tav tm="100000">
                                          <p:val>
                                            <p:strVal val="#ppt_x"/>
                                          </p:val>
                                        </p:tav>
                                      </p:tavLst>
                                    </p:anim>
                                    <p:anim calcmode="lin" valueType="num">
                                      <p:cBhvr additive="base">
                                        <p:cTn id="5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9">
                                            <p:txEl>
                                              <p:pRg st="4" end="4"/>
                                            </p:txEl>
                                          </p:spTgt>
                                        </p:tgtEl>
                                        <p:attrNameLst>
                                          <p:attrName>style.visibility</p:attrName>
                                        </p:attrNameLst>
                                      </p:cBhvr>
                                      <p:to>
                                        <p:strVal val="visible"/>
                                      </p:to>
                                    </p:set>
                                    <p:anim calcmode="lin" valueType="num">
                                      <p:cBhvr additive="base">
                                        <p:cTn id="5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ppt_x</p:attrName>
                                        </p:attrNameLst>
                                      </p:cBhvr>
                                      <p:tavLst>
                                        <p:tav tm="0">
                                          <p:val>
                                            <p:strVal val="1+#ppt_w/2"/>
                                          </p:val>
                                        </p:tav>
                                        <p:tav tm="100000">
                                          <p:val>
                                            <p:strVal val="#ppt_x"/>
                                          </p:val>
                                        </p:tav>
                                      </p:tavLst>
                                    </p:anim>
                                    <p:anim calcmode="lin" valueType="num">
                                      <p:cBhvr additive="base">
                                        <p:cTn id="66" dur="500" fill="hold"/>
                                        <p:tgtEl>
                                          <p:spTgt spid="15"/>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p:tgtEl>
                                          <p:spTgt spid="21"/>
                                        </p:tgtEl>
                                        <p:attrNameLst>
                                          <p:attrName>ppt_x</p:attrName>
                                        </p:attrNameLst>
                                      </p:cBhvr>
                                      <p:tavLst>
                                        <p:tav tm="0">
                                          <p:val>
                                            <p:strVal val="1+#ppt_w/2"/>
                                          </p:val>
                                        </p:tav>
                                        <p:tav tm="100000">
                                          <p:val>
                                            <p:strVal val="#ppt_x"/>
                                          </p:val>
                                        </p:tav>
                                      </p:tavLst>
                                    </p:anim>
                                    <p:anim calcmode="lin" valueType="num">
                                      <p:cBhvr additive="base">
                                        <p:cTn id="7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9">
                                            <p:txEl>
                                              <p:pRg st="5" end="5"/>
                                            </p:txEl>
                                          </p:spTgt>
                                        </p:tgtEl>
                                        <p:attrNameLst>
                                          <p:attrName>style.visibility</p:attrName>
                                        </p:attrNameLst>
                                      </p:cBhvr>
                                      <p:to>
                                        <p:strVal val="visible"/>
                                      </p:to>
                                    </p:set>
                                    <p:anim calcmode="lin" valueType="num">
                                      <p:cBhvr additive="base">
                                        <p:cTn id="75"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grpId="0" nodeType="clickEffect">
                                  <p:stCondLst>
                                    <p:cond delay="0"/>
                                  </p:stCondLst>
                                  <p:childTnLst>
                                    <p:set>
                                      <p:cBhvr>
                                        <p:cTn id="80" dur="1" fill="hold">
                                          <p:stCondLst>
                                            <p:cond delay="0"/>
                                          </p:stCondLst>
                                        </p:cTn>
                                        <p:tgtEl>
                                          <p:spTgt spid="16"/>
                                        </p:tgtEl>
                                        <p:attrNameLst>
                                          <p:attrName>style.visibility</p:attrName>
                                        </p:attrNameLst>
                                      </p:cBhvr>
                                      <p:to>
                                        <p:strVal val="visible"/>
                                      </p:to>
                                    </p:set>
                                    <p:anim calcmode="lin" valueType="num">
                                      <p:cBhvr additive="base">
                                        <p:cTn id="81" dur="500" fill="hold"/>
                                        <p:tgtEl>
                                          <p:spTgt spid="16"/>
                                        </p:tgtEl>
                                        <p:attrNameLst>
                                          <p:attrName>ppt_x</p:attrName>
                                        </p:attrNameLst>
                                      </p:cBhvr>
                                      <p:tavLst>
                                        <p:tav tm="0">
                                          <p:val>
                                            <p:strVal val="1+#ppt_w/2"/>
                                          </p:val>
                                        </p:tav>
                                        <p:tav tm="100000">
                                          <p:val>
                                            <p:strVal val="#ppt_x"/>
                                          </p:val>
                                        </p:tav>
                                      </p:tavLst>
                                    </p:anim>
                                    <p:anim calcmode="lin" valueType="num">
                                      <p:cBhvr additive="base">
                                        <p:cTn id="82" dur="500" fill="hold"/>
                                        <p:tgtEl>
                                          <p:spTgt spid="16"/>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500" fill="hold"/>
                                        <p:tgtEl>
                                          <p:spTgt spid="23"/>
                                        </p:tgtEl>
                                        <p:attrNameLst>
                                          <p:attrName>ppt_x</p:attrName>
                                        </p:attrNameLst>
                                      </p:cBhvr>
                                      <p:tavLst>
                                        <p:tav tm="0">
                                          <p:val>
                                            <p:strVal val="1+#ppt_w/2"/>
                                          </p:val>
                                        </p:tav>
                                        <p:tav tm="100000">
                                          <p:val>
                                            <p:strVal val="#ppt_x"/>
                                          </p:val>
                                        </p:tav>
                                      </p:tavLst>
                                    </p:anim>
                                    <p:anim calcmode="lin" valueType="num">
                                      <p:cBhvr additive="base">
                                        <p:cTn id="86"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4" grpId="0"/>
      <p:bldP spid="15" grpId="0"/>
      <p:bldP spid="16" grpId="0"/>
      <p:bldP spid="17" grpId="0"/>
      <p:bldP spid="21"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solidFill>
                  <a:schemeClr val="bg1"/>
                </a:solidFill>
                <a:latin typeface="Trebuchet MS" panose="020B0603020202020204" pitchFamily="34" charset="0"/>
              </a:rPr>
              <a:t> </a:t>
            </a:r>
            <a:r>
              <a:rPr lang="en-US" altLang="zh-CN" sz="2800" b="1" dirty="0">
                <a:latin typeface="Trebuchet MS" panose="020B0603020202020204" pitchFamily="34" charset="0"/>
                <a:ea typeface="Cambria Math" panose="02040503050406030204" pitchFamily="18" charset="0"/>
                <a:cs typeface="Times New Roman" panose="02020603050405020304" pitchFamily="18" charset="0"/>
              </a:rPr>
              <a:t>∨</a:t>
            </a:r>
            <a:endParaRPr lang="zh-CN" altLang="en-US" sz="28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15365"/>
            <a:ext cx="9669148" cy="4902041"/>
          </a:xfrm>
          <a:prstGeom prst="rect">
            <a:avLst/>
          </a:prstGeom>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Definition 2.3: </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or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called the </a:t>
            </a:r>
            <a:r>
              <a:rPr lang="en-US" altLang="zh-CN" sz="2400" dirty="0">
                <a:solidFill>
                  <a:srgbClr val="0C0D0E"/>
                </a:solidFill>
                <a:effectLst/>
                <a:latin typeface="Trebuchet MS" panose="020B0603020202020204" pitchFamily="34" charset="0"/>
              </a:rPr>
              <a:t>disjunctive</a:t>
            </a:r>
            <a:r>
              <a:rPr lang="en-US" altLang="zh-CN" sz="2400" b="0" i="0" dirty="0">
                <a:solidFill>
                  <a:srgbClr val="0C0D0E"/>
                </a:solidFill>
                <a:effectLst/>
                <a:latin typeface="Trebuchet MS" panose="020B0603020202020204" pitchFamily="34" charset="0"/>
              </a:rPr>
              <a:t> form of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denoted as </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The symbol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is called </a:t>
            </a:r>
            <a:r>
              <a:rPr lang="en-US" altLang="zh-CN" sz="2400" b="1" i="1" dirty="0">
                <a:solidFill>
                  <a:srgbClr val="0C0D0E"/>
                </a:solidFill>
                <a:latin typeface="Trebuchet MS" panose="020B0603020202020204" pitchFamily="34" charset="0"/>
              </a:rPr>
              <a:t>the Disjunction connective</a:t>
            </a:r>
            <a:r>
              <a:rPr lang="en-US" altLang="zh-CN" sz="2400" b="0" i="0" dirty="0">
                <a:solidFill>
                  <a:srgbClr val="0C0D0E"/>
                </a:solidFill>
                <a:effectLst/>
                <a:latin typeface="Trebuchet MS" panose="020B0603020202020204" pitchFamily="34" charset="0"/>
              </a:rPr>
              <a:t>, and </a:t>
            </a:r>
            <a:r>
              <a:rPr lang="en-US" altLang="zh-CN" sz="2400" b="1" i="1" dirty="0" err="1">
                <a:solidFill>
                  <a:srgbClr val="0C0D0E"/>
                </a:solidFill>
                <a:effectLst/>
                <a:latin typeface="Trebuchet MS" panose="020B0603020202020204" pitchFamily="34" charset="0"/>
              </a:rPr>
              <a:t>p</a:t>
            </a:r>
            <a:r>
              <a:rPr lang="en-US" altLang="zh-CN" sz="2400" b="1"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false if and only if both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are false.</a:t>
            </a:r>
          </a:p>
          <a:p>
            <a:pPr marL="0" indent="0" algn="l">
              <a:lnSpc>
                <a:spcPct val="120000"/>
              </a:lnSpc>
              <a:spcBef>
                <a:spcPts val="300"/>
              </a:spcBef>
              <a:buNone/>
            </a:pPr>
            <a:endParaRPr lang="en-US" altLang="zh-CN" sz="2400" b="0" i="0" dirty="0">
              <a:solidFill>
                <a:srgbClr val="0C0D0E"/>
              </a:solidFill>
              <a:effectLst/>
              <a:latin typeface="Trebuchet MS" panose="020B0603020202020204" pitchFamily="34" charset="0"/>
            </a:endParaRPr>
          </a:p>
          <a:p>
            <a:pPr marL="0" indent="0" algn="l">
              <a:lnSpc>
                <a:spcPct val="120000"/>
              </a:lnSpc>
              <a:spcBef>
                <a:spcPts val="300"/>
              </a:spcBef>
              <a:buNone/>
            </a:pPr>
            <a:r>
              <a:rPr lang="en-US" altLang="zh-CN" sz="2400" b="0" i="0" dirty="0">
                <a:solidFill>
                  <a:srgbClr val="0C0D0E"/>
                </a:solidFill>
                <a:effectLst/>
                <a:latin typeface="Trebuchet MS" panose="020B0603020202020204" pitchFamily="34" charset="0"/>
              </a:rPr>
              <a:t>     Example: Wang Yan has studied English or French. </a:t>
            </a:r>
          </a:p>
          <a:p>
            <a:pPr marL="0" indent="0" algn="l">
              <a:lnSpc>
                <a:spcPct val="120000"/>
              </a:lnSpc>
              <a:spcBef>
                <a:spcPts val="300"/>
              </a:spcBef>
              <a:buNone/>
            </a:pPr>
            <a:r>
              <a:rPr lang="en-US" altLang="zh-CN" sz="2400" b="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Wang Yan has studied English, </a:t>
            </a:r>
          </a:p>
          <a:p>
            <a:pPr marL="0" indent="0" algn="l">
              <a:lnSpc>
                <a:spcPct val="120000"/>
              </a:lnSpc>
              <a:spcBef>
                <a:spcPts val="300"/>
              </a:spcBef>
              <a:buNone/>
            </a:pPr>
            <a:r>
              <a:rPr lang="en-US" altLang="zh-CN" sz="2400" dirty="0">
                <a:solidFill>
                  <a:srgbClr val="0C0D0E"/>
                </a:solidFill>
                <a:latin typeface="Trebuchet MS" panose="020B0603020202020204" pitchFamily="34" charset="0"/>
              </a:rPr>
              <a:t>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Wang Yan has studied French. </a:t>
            </a:r>
          </a:p>
          <a:p>
            <a:pPr marL="0" indent="0" algn="l">
              <a:lnSpc>
                <a:spcPct val="120000"/>
              </a:lnSpc>
              <a:spcBef>
                <a:spcPts val="300"/>
              </a:spcBef>
              <a:buNone/>
            </a:pPr>
            <a:r>
              <a:rPr lang="en-US" altLang="zh-CN" sz="24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Symbolized as </a:t>
            </a:r>
            <a:r>
              <a:rPr lang="en-US" altLang="zh-CN" sz="2400" b="1" i="1" dirty="0" err="1">
                <a:solidFill>
                  <a:srgbClr val="0C0D0E"/>
                </a:solidFill>
                <a:effectLst/>
                <a:latin typeface="Trebuchet MS" panose="020B0603020202020204" pitchFamily="34" charset="0"/>
              </a:rPr>
              <a:t>p</a:t>
            </a:r>
            <a:r>
              <a:rPr lang="en-US" altLang="zh-CN" sz="2400" b="1"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eaLnBrk="1" hangingPunct="1">
              <a:lnSpc>
                <a:spcPct val="100000"/>
              </a:lnSpc>
              <a:spcBef>
                <a:spcPts val="0"/>
              </a:spcBef>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7A2DEDEB-5383-4C9C-AC6A-6F4E511FAB38}"/>
              </a:ext>
            </a:extLst>
          </p:cNvPr>
          <p:cNvPicPr/>
          <p:nvPr/>
        </p:nvPicPr>
        <p:blipFill>
          <a:blip r:embed="rId5"/>
          <a:stretch>
            <a:fillRect/>
          </a:stretch>
        </p:blipFill>
        <p:spPr>
          <a:xfrm>
            <a:off x="984581" y="2748164"/>
            <a:ext cx="577850" cy="241300"/>
          </a:xfrm>
          <a:prstGeom prst="rect">
            <a:avLst/>
          </a:prstGeom>
        </p:spPr>
      </p:pic>
    </p:spTree>
    <p:extLst>
      <p:ext uri="{BB962C8B-B14F-4D97-AF65-F5344CB8AC3E}">
        <p14:creationId xmlns:p14="http://schemas.microsoft.com/office/powerpoint/2010/main" val="3623095873"/>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1000"/>
                                        <p:tgtEl>
                                          <p:spTgt spid="8">
                                            <p:txEl>
                                              <p:pRg st="4" end="4"/>
                                            </p:txEl>
                                          </p:spTgt>
                                        </p:tgtEl>
                                      </p:cBhvr>
                                    </p:animEffect>
                                    <p:anim calcmode="lin" valueType="num">
                                      <p:cBhvr>
                                        <p:cTn id="2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1000"/>
                                        <p:tgtEl>
                                          <p:spTgt spid="8">
                                            <p:txEl>
                                              <p:pRg st="5" end="5"/>
                                            </p:txEl>
                                          </p:spTgt>
                                        </p:tgtEl>
                                      </p:cBhvr>
                                    </p:animEffect>
                                    <p:anim calcmode="lin" valueType="num">
                                      <p:cBhvr>
                                        <p:cTn id="2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Inclusive or vs. Exclusive </a:t>
            </a:r>
            <a:r>
              <a:rPr lang="en-US" altLang="zh-CN" sz="2800" dirty="0">
                <a:solidFill>
                  <a:srgbClr val="0C0D0E"/>
                </a:solidFill>
                <a:latin typeface="Trebuchet MS" panose="020B0603020202020204" pitchFamily="34" charset="0"/>
              </a:rPr>
              <a:t>or</a:t>
            </a:r>
            <a:endParaRPr lang="zh-CN" altLang="en-US" sz="28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43000" y="815365"/>
            <a:ext cx="9669148" cy="5788025"/>
          </a:xfrm>
          <a:prstGeom prst="rect">
            <a:avLst/>
          </a:prstGeom>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dirty="0">
                <a:solidFill>
                  <a:srgbClr val="0C0D0E"/>
                </a:solidFill>
                <a:latin typeface="Trebuchet MS" panose="020B0603020202020204" pitchFamily="34" charset="0"/>
              </a:rPr>
              <a:t>The English term for "∨" is "inclusive" (Inclusive), corresponding to the "or" in everyday language. The English term for "∧" is "exclusive" (Exclusive), corresponding to the "and" in everyday language. "</a:t>
            </a:r>
            <a:r>
              <a:rPr lang="en-US" altLang="zh-CN" sz="2400" b="1" dirty="0">
                <a:solidFill>
                  <a:srgbClr val="0C0D0E"/>
                </a:solidFill>
                <a:latin typeface="Trebuchet MS" panose="020B0603020202020204" pitchFamily="34" charset="0"/>
              </a:rPr>
              <a:t>Inclusive or</a:t>
            </a:r>
            <a:r>
              <a:rPr lang="en-US" altLang="zh-CN" sz="2400" dirty="0">
                <a:solidFill>
                  <a:srgbClr val="0C0D0E"/>
                </a:solidFill>
                <a:latin typeface="Trebuchet MS" panose="020B0603020202020204" pitchFamily="34" charset="0"/>
              </a:rPr>
              <a:t>" and "</a:t>
            </a:r>
            <a:r>
              <a:rPr lang="en-US" altLang="zh-CN" sz="2400" b="1" dirty="0">
                <a:solidFill>
                  <a:srgbClr val="0C0D0E"/>
                </a:solidFill>
                <a:latin typeface="Trebuchet MS" panose="020B0603020202020204" pitchFamily="34" charset="0"/>
              </a:rPr>
              <a:t>exclusive o</a:t>
            </a:r>
            <a:r>
              <a:rPr lang="en-US" altLang="zh-CN" sz="2400" dirty="0">
                <a:solidFill>
                  <a:srgbClr val="0C0D0E"/>
                </a:solidFill>
                <a:latin typeface="Trebuchet MS" panose="020B0603020202020204" pitchFamily="34" charset="0"/>
              </a:rPr>
              <a:t>r" are their combined forms.</a:t>
            </a:r>
          </a:p>
          <a:p>
            <a:pPr marL="0" indent="0" algn="l">
              <a:lnSpc>
                <a:spcPct val="100000"/>
              </a:lnSpc>
              <a:spcBef>
                <a:spcPts val="300"/>
              </a:spcBef>
              <a:buNone/>
            </a:pPr>
            <a:r>
              <a:rPr lang="en-US" altLang="zh-CN" sz="24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Example: This task is to be done by either Zhang San or Li Si. Let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Zhang San does this task,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Li Si does this task. It should be symbolized as:</a:t>
            </a:r>
          </a:p>
          <a:p>
            <a:pPr marL="457200" indent="-457200" algn="l">
              <a:lnSpc>
                <a:spcPct val="100000"/>
              </a:lnSpc>
              <a:spcBef>
                <a:spcPts val="300"/>
              </a:spcBef>
              <a:buAutoNum type="arabicParenBoth"/>
            </a:pP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a:t>
            </a:r>
          </a:p>
          <a:p>
            <a:pPr marL="457200" indent="-457200" algn="l">
              <a:lnSpc>
                <a:spcPct val="100000"/>
              </a:lnSpc>
              <a:spcBef>
                <a:spcPts val="300"/>
              </a:spcBef>
              <a:buAutoNum type="arabicParenBoth"/>
            </a:pPr>
            <a:r>
              <a:rPr lang="en-US" altLang="zh-CN" sz="2400" b="1" i="1" dirty="0">
                <a:solidFill>
                  <a:srgbClr val="0C0D0E"/>
                </a:solidFill>
                <a:effectLst/>
                <a:latin typeface="Trebuchet MS" panose="020B0603020202020204" pitchFamily="34" charset="0"/>
              </a:rPr>
              <a:t>p</a:t>
            </a:r>
            <a:r>
              <a:rPr lang="zh-CN" altLang="zh-CN" sz="2400" b="1" dirty="0">
                <a:effectLst/>
                <a:latin typeface="Trebuchet MS" panose="020B0603020202020204" pitchFamily="34" charset="0"/>
                <a:ea typeface="宋体" panose="02010600030101010101" pitchFamily="2" charset="-122"/>
                <a:cs typeface="宋体" panose="02010600030101010101" pitchFamily="2" charset="-122"/>
              </a:rPr>
              <a:t> ⊕ </a:t>
            </a:r>
            <a:r>
              <a:rPr lang="en-US" altLang="zh-CN" sz="2400" b="1" i="1" dirty="0">
                <a:solidFill>
                  <a:srgbClr val="0C0D0E"/>
                </a:solidFill>
                <a:effectLst/>
                <a:latin typeface="Trebuchet MS" panose="020B0603020202020204" pitchFamily="34" charset="0"/>
              </a:rPr>
              <a:t>q</a:t>
            </a:r>
          </a:p>
          <a:p>
            <a:pPr marL="457200" indent="-457200" algn="l">
              <a:lnSpc>
                <a:spcPct val="100000"/>
              </a:lnSpc>
              <a:spcBef>
                <a:spcPts val="300"/>
              </a:spcBef>
              <a:buAutoNum type="arabicParenBoth"/>
            </a:pP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XOR </a:t>
            </a:r>
            <a:r>
              <a:rPr lang="en-US" altLang="zh-CN" sz="2400" b="1" i="1" dirty="0">
                <a:solidFill>
                  <a:srgbClr val="0C0D0E"/>
                </a:solidFill>
                <a:effectLst/>
                <a:latin typeface="Trebuchet MS" panose="020B0603020202020204" pitchFamily="34" charset="0"/>
              </a:rPr>
              <a:t>q</a:t>
            </a:r>
          </a:p>
          <a:p>
            <a:pPr marL="457200" indent="-457200" algn="l">
              <a:lnSpc>
                <a:spcPct val="100000"/>
              </a:lnSpc>
              <a:spcBef>
                <a:spcPts val="300"/>
              </a:spcBef>
              <a:buAutoNum type="arabicParenBoth"/>
            </a:pPr>
            <a:endParaRPr lang="en-US" altLang="zh-CN" sz="2400" b="0" i="0" dirty="0">
              <a:solidFill>
                <a:srgbClr val="0C0D0E"/>
              </a:solidFill>
              <a:effectLst/>
              <a:latin typeface="Trebuchet MS" panose="020B0603020202020204" pitchFamily="34" charset="0"/>
            </a:endParaRPr>
          </a:p>
          <a:p>
            <a:pPr eaLnBrk="1" hangingPunct="1">
              <a:lnSpc>
                <a:spcPct val="100000"/>
              </a:lnSpc>
              <a:spcBef>
                <a:spcPts val="0"/>
              </a:spcBef>
              <a:buFontTx/>
              <a:buNone/>
            </a:pPr>
            <a:endParaRPr lang="zh-CN" altLang="en-US" sz="2400" b="1" dirty="0">
              <a:latin typeface="Trebuchet MS" panose="020B0603020202020204" pitchFamily="34" charset="0"/>
            </a:endParaRPr>
          </a:p>
        </p:txBody>
      </p:sp>
      <p:pic>
        <p:nvPicPr>
          <p:cNvPr id="14" name="图片 13">
            <a:extLst>
              <a:ext uri="{FF2B5EF4-FFF2-40B4-BE49-F238E27FC236}">
                <a16:creationId xmlns:a16="http://schemas.microsoft.com/office/drawing/2014/main" id="{2B0A1379-F6A4-4A80-BD72-1EDDEEE7A67F}"/>
              </a:ext>
            </a:extLst>
          </p:cNvPr>
          <p:cNvPicPr/>
          <p:nvPr/>
        </p:nvPicPr>
        <p:blipFill>
          <a:blip r:embed="rId5"/>
          <a:stretch>
            <a:fillRect/>
          </a:stretch>
        </p:blipFill>
        <p:spPr>
          <a:xfrm>
            <a:off x="984581" y="3133178"/>
            <a:ext cx="577850" cy="241300"/>
          </a:xfrm>
          <a:prstGeom prst="rect">
            <a:avLst/>
          </a:prstGeom>
        </p:spPr>
      </p:pic>
    </p:spTree>
    <p:extLst>
      <p:ext uri="{BB962C8B-B14F-4D97-AF65-F5344CB8AC3E}">
        <p14:creationId xmlns:p14="http://schemas.microsoft.com/office/powerpoint/2010/main" val="977258137"/>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fade">
                                      <p:cBhvr>
                                        <p:cTn id="19" dur="1000"/>
                                        <p:tgtEl>
                                          <p:spTgt spid="8">
                                            <p:txEl>
                                              <p:pRg st="2" end="2"/>
                                            </p:txEl>
                                          </p:spTgt>
                                        </p:tgtEl>
                                      </p:cBhvr>
                                    </p:animEffect>
                                    <p:anim calcmode="lin" valueType="num">
                                      <p:cBhvr>
                                        <p:cTn id="20"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fade">
                                      <p:cBhvr>
                                        <p:cTn id="24" dur="1000"/>
                                        <p:tgtEl>
                                          <p:spTgt spid="8">
                                            <p:txEl>
                                              <p:pRg st="3" end="3"/>
                                            </p:txEl>
                                          </p:spTgt>
                                        </p:tgtEl>
                                      </p:cBhvr>
                                    </p:animEffect>
                                    <p:anim calcmode="lin" valueType="num">
                                      <p:cBhvr>
                                        <p:cTn id="2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Effect transition="in" filter="fade">
                                      <p:cBhvr>
                                        <p:cTn id="29" dur="1000"/>
                                        <p:tgtEl>
                                          <p:spTgt spid="8">
                                            <p:txEl>
                                              <p:pRg st="4" end="4"/>
                                            </p:txEl>
                                          </p:spTgt>
                                        </p:tgtEl>
                                      </p:cBhvr>
                                    </p:animEffect>
                                    <p:anim calcmode="lin" valueType="num">
                                      <p:cBhvr>
                                        <p:cTn id="3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endParaRPr lang="zh-CN" altLang="en-US" sz="24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669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endParaRPr>
          </a:p>
          <a:p>
            <a:pPr eaLnBrk="1" hangingPunct="1">
              <a:lnSpc>
                <a:spcPct val="110000"/>
              </a:lnSpc>
              <a:buFontTx/>
              <a:buNone/>
            </a:pPr>
            <a:endParaRPr lang="zh-CN" altLang="en-US" sz="2800" b="1" dirty="0"/>
          </a:p>
        </p:txBody>
      </p:sp>
      <p:sp>
        <p:nvSpPr>
          <p:cNvPr id="26" name="Rectangle 3">
            <a:extLst>
              <a:ext uri="{FF2B5EF4-FFF2-40B4-BE49-F238E27FC236}">
                <a16:creationId xmlns:a16="http://schemas.microsoft.com/office/drawing/2014/main" id="{B2F3CA0E-37C3-4D7D-A7FA-BC2EB591AABE}"/>
              </a:ext>
            </a:extLst>
          </p:cNvPr>
          <p:cNvSpPr>
            <a:spLocks noGrp="1" noChangeArrowheads="1"/>
          </p:cNvSpPr>
          <p:nvPr>
            <p:ph idx="1"/>
          </p:nvPr>
        </p:nvSpPr>
        <p:spPr>
          <a:xfrm>
            <a:off x="1245429" y="1030811"/>
            <a:ext cx="7290801" cy="1869693"/>
          </a:xfrm>
        </p:spPr>
        <p:txBody>
          <a:bodyPr tIns="0" bIns="0">
            <a:noAutofit/>
          </a:bodyPr>
          <a:lstStyle/>
          <a:p>
            <a:pPr marL="0" indent="0" algn="l">
              <a:buNone/>
            </a:pPr>
            <a:r>
              <a:rPr lang="en-US" altLang="zh-CN" b="0" i="0" dirty="0">
                <a:solidFill>
                  <a:srgbClr val="0C0D0E"/>
                </a:solidFill>
                <a:effectLst/>
              </a:rPr>
              <a:t>     Example: Symbolize the following propositions:</a:t>
            </a:r>
          </a:p>
          <a:p>
            <a:pPr marL="0" indent="0" algn="l">
              <a:lnSpc>
                <a:spcPct val="120000"/>
              </a:lnSpc>
              <a:buNone/>
            </a:pPr>
            <a:r>
              <a:rPr lang="en-US" altLang="zh-CN" b="0" i="0" dirty="0">
                <a:solidFill>
                  <a:srgbClr val="0C0D0E"/>
                </a:solidFill>
                <a:effectLst/>
              </a:rPr>
              <a:t>(1) 2 is a prime number or 4 is a prime number.</a:t>
            </a:r>
            <a:br>
              <a:rPr lang="en-US" altLang="zh-CN" b="0" i="0" dirty="0">
                <a:solidFill>
                  <a:srgbClr val="0C0D0E"/>
                </a:solidFill>
                <a:effectLst/>
              </a:rPr>
            </a:br>
            <a:r>
              <a:rPr lang="en-US" altLang="zh-CN" b="0" i="0" dirty="0">
                <a:solidFill>
                  <a:srgbClr val="0C0D0E"/>
                </a:solidFill>
                <a:effectLst/>
              </a:rPr>
              <a:t>(2) 2 is a prime number or 3 is a prime number.</a:t>
            </a:r>
            <a:br>
              <a:rPr lang="en-US" altLang="zh-CN" b="0" i="0" dirty="0">
                <a:solidFill>
                  <a:srgbClr val="0C0D0E"/>
                </a:solidFill>
                <a:effectLst/>
              </a:rPr>
            </a:br>
            <a:r>
              <a:rPr lang="en-US" altLang="zh-CN" b="0" i="0" dirty="0">
                <a:solidFill>
                  <a:srgbClr val="0C0D0E"/>
                </a:solidFill>
                <a:effectLst/>
              </a:rPr>
              <a:t>(3) 4 is a prime number or 6 is a prime number.</a:t>
            </a:r>
            <a:br>
              <a:rPr lang="en-US" altLang="zh-CN" b="0" i="0" dirty="0">
                <a:solidFill>
                  <a:srgbClr val="0C0D0E"/>
                </a:solidFill>
                <a:effectLst/>
              </a:rPr>
            </a:br>
            <a:endParaRPr lang="en-US" altLang="zh-CN" b="0" i="0" dirty="0">
              <a:solidFill>
                <a:srgbClr val="0C0D0E"/>
              </a:solidFill>
              <a:effectLst/>
            </a:endParaRPr>
          </a:p>
        </p:txBody>
      </p:sp>
      <p:sp>
        <p:nvSpPr>
          <p:cNvPr id="27" name="Text Box 4">
            <a:extLst>
              <a:ext uri="{FF2B5EF4-FFF2-40B4-BE49-F238E27FC236}">
                <a16:creationId xmlns:a16="http://schemas.microsoft.com/office/drawing/2014/main" id="{459A4473-9483-43AD-A856-03D68EDA2A69}"/>
              </a:ext>
            </a:extLst>
          </p:cNvPr>
          <p:cNvSpPr txBox="1">
            <a:spLocks noChangeArrowheads="1"/>
          </p:cNvSpPr>
          <p:nvPr/>
        </p:nvSpPr>
        <p:spPr bwMode="auto">
          <a:xfrm>
            <a:off x="1243655" y="3001083"/>
            <a:ext cx="774906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latinLnBrk="1"/>
            <a:r>
              <a:rPr lang="en-US" altLang="zh-CN" sz="2400" b="1" dirty="0">
                <a:solidFill>
                  <a:srgbClr val="00B0F0"/>
                </a:solidFill>
              </a:rPr>
              <a:t>Solve: </a:t>
            </a:r>
            <a:r>
              <a:rPr lang="en-US" altLang="zh-CN" sz="2400" dirty="0">
                <a:latin typeface="Trebuchet MS" panose="020B0603020202020204" pitchFamily="34" charset="0"/>
              </a:rPr>
              <a:t>Let: </a:t>
            </a:r>
          </a:p>
          <a:p>
            <a:pPr latinLnBrk="1"/>
            <a:r>
              <a:rPr lang="en-US" altLang="zh-CN" sz="2400" b="1" i="1" dirty="0">
                <a:latin typeface="Trebuchet MS" panose="020B0603020202020204" pitchFamily="34" charset="0"/>
              </a:rPr>
              <a:t>     p</a:t>
            </a:r>
            <a:r>
              <a:rPr lang="en-US" altLang="zh-CN" sz="2400" dirty="0">
                <a:latin typeface="Trebuchet MS" panose="020B0603020202020204" pitchFamily="34" charset="0"/>
              </a:rPr>
              <a:t>: 2 is a prime number,</a:t>
            </a:r>
          </a:p>
          <a:p>
            <a:pPr latinLnBrk="1"/>
            <a:r>
              <a:rPr lang="en-US" altLang="zh-CN" sz="2400" dirty="0">
                <a:latin typeface="Trebuchet MS" panose="020B0603020202020204" pitchFamily="34" charset="0"/>
              </a:rPr>
              <a:t>     </a:t>
            </a:r>
            <a:r>
              <a:rPr lang="en-US" altLang="zh-CN" sz="2400" b="1" i="1" dirty="0">
                <a:latin typeface="Trebuchet MS" panose="020B0603020202020204" pitchFamily="34" charset="0"/>
              </a:rPr>
              <a:t>q</a:t>
            </a:r>
            <a:r>
              <a:rPr lang="en-US" altLang="zh-CN" sz="2400" dirty="0">
                <a:latin typeface="Trebuchet MS" panose="020B0603020202020204" pitchFamily="34" charset="0"/>
              </a:rPr>
              <a:t>: 3 is a prime number,</a:t>
            </a:r>
          </a:p>
          <a:p>
            <a:pPr latinLnBrk="1"/>
            <a:r>
              <a:rPr lang="en-US" altLang="zh-CN" sz="2400" dirty="0">
                <a:latin typeface="Trebuchet MS" panose="020B0603020202020204" pitchFamily="34" charset="0"/>
              </a:rPr>
              <a:t>     </a:t>
            </a:r>
            <a:r>
              <a:rPr lang="en-US" altLang="zh-CN" sz="2400" b="1" i="1" dirty="0">
                <a:latin typeface="Trebuchet MS" panose="020B0603020202020204" pitchFamily="34" charset="0"/>
              </a:rPr>
              <a:t>r</a:t>
            </a:r>
            <a:r>
              <a:rPr lang="en-US" altLang="zh-CN" sz="2400" dirty="0">
                <a:latin typeface="Trebuchet MS" panose="020B0603020202020204" pitchFamily="34" charset="0"/>
              </a:rPr>
              <a:t>: 4 is a prime number, </a:t>
            </a:r>
          </a:p>
          <a:p>
            <a:pPr latinLnBrk="1"/>
            <a:r>
              <a:rPr lang="en-US" altLang="zh-CN" sz="2400" b="1" i="1" dirty="0">
                <a:latin typeface="Trebuchet MS" panose="020B0603020202020204" pitchFamily="34" charset="0"/>
              </a:rPr>
              <a:t>     s</a:t>
            </a:r>
            <a:r>
              <a:rPr lang="en-US" altLang="zh-CN" sz="2400" dirty="0">
                <a:latin typeface="Trebuchet MS" panose="020B0603020202020204" pitchFamily="34" charset="0"/>
              </a:rPr>
              <a:t>: 6 is a prime number.</a:t>
            </a:r>
            <a:endParaRPr lang="zh-CN" altLang="en-US" sz="2400" b="1" dirty="0">
              <a:solidFill>
                <a:schemeClr val="tx1"/>
              </a:solidFill>
              <a:latin typeface="Trebuchet MS" panose="020B0603020202020204" pitchFamily="34" charset="0"/>
              <a:ea typeface="宋体" panose="02010600030101010101" pitchFamily="2" charset="-122"/>
            </a:endParaRPr>
          </a:p>
        </p:txBody>
      </p:sp>
      <p:sp>
        <p:nvSpPr>
          <p:cNvPr id="28" name="Text Box 5">
            <a:extLst>
              <a:ext uri="{FF2B5EF4-FFF2-40B4-BE49-F238E27FC236}">
                <a16:creationId xmlns:a16="http://schemas.microsoft.com/office/drawing/2014/main" id="{BF56C8D0-0C48-49C2-AD60-A23318B61392}"/>
              </a:ext>
            </a:extLst>
          </p:cNvPr>
          <p:cNvSpPr txBox="1">
            <a:spLocks noChangeArrowheads="1"/>
          </p:cNvSpPr>
          <p:nvPr/>
        </p:nvSpPr>
        <p:spPr bwMode="auto">
          <a:xfrm>
            <a:off x="1651418" y="5035746"/>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(1)</a:t>
            </a:r>
            <a:r>
              <a:rPr lang="en-US" altLang="zh-CN" sz="2400" b="1" i="1" dirty="0">
                <a:solidFill>
                  <a:schemeClr val="tx1"/>
                </a:solidFill>
                <a:latin typeface="Times New Roman" panose="02020603050405020304" pitchFamily="18" charset="0"/>
                <a:ea typeface="宋体" panose="02010600030101010101" pitchFamily="2" charset="-122"/>
              </a:rPr>
              <a:t> </a:t>
            </a:r>
            <a:r>
              <a:rPr lang="en-US" altLang="zh-CN" sz="2400" b="1" i="1" dirty="0" err="1">
                <a:solidFill>
                  <a:schemeClr val="tx1"/>
                </a:solidFill>
                <a:latin typeface="Times New Roman" panose="02020603050405020304" pitchFamily="18" charset="0"/>
                <a:ea typeface="宋体" panose="02010600030101010101" pitchFamily="2" charset="-122"/>
              </a:rPr>
              <a:t>p</a:t>
            </a:r>
            <a:r>
              <a:rPr lang="en-US" altLang="zh-CN" sz="2400" b="1" dirty="0" err="1">
                <a:solidFill>
                  <a:schemeClr val="tx1"/>
                </a:solidFill>
                <a:latin typeface="宋体" panose="02010600030101010101" pitchFamily="2" charset="-122"/>
                <a:ea typeface="宋体" panose="02010600030101010101" pitchFamily="2" charset="-122"/>
              </a:rPr>
              <a:t>∨</a:t>
            </a:r>
            <a:r>
              <a:rPr lang="en-US" altLang="zh-CN" sz="2400" b="1" i="1" dirty="0" err="1">
                <a:solidFill>
                  <a:schemeClr val="tx1"/>
                </a:solidFill>
                <a:latin typeface="Times New Roman" panose="02020603050405020304" pitchFamily="18" charset="0"/>
                <a:ea typeface="宋体" panose="02010600030101010101" pitchFamily="2" charset="-122"/>
              </a:rPr>
              <a:t>r</a:t>
            </a:r>
            <a:r>
              <a:rPr lang="en-US" altLang="zh-CN" sz="2400" b="1" dirty="0">
                <a:solidFill>
                  <a:schemeClr val="tx1"/>
                </a:solidFill>
                <a:latin typeface="Times New Roman" panose="02020603050405020304" pitchFamily="18" charset="0"/>
                <a:ea typeface="宋体" panose="02010600030101010101" pitchFamily="2" charset="-122"/>
              </a:rPr>
              <a:t>,  </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sp>
        <p:nvSpPr>
          <p:cNvPr id="29" name="Text Box 6">
            <a:extLst>
              <a:ext uri="{FF2B5EF4-FFF2-40B4-BE49-F238E27FC236}">
                <a16:creationId xmlns:a16="http://schemas.microsoft.com/office/drawing/2014/main" id="{117CDAC3-A685-4E86-B3C9-54A1E31A7138}"/>
              </a:ext>
            </a:extLst>
          </p:cNvPr>
          <p:cNvSpPr txBox="1">
            <a:spLocks noChangeArrowheads="1"/>
          </p:cNvSpPr>
          <p:nvPr/>
        </p:nvSpPr>
        <p:spPr bwMode="auto">
          <a:xfrm>
            <a:off x="1651418" y="5519386"/>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(2) </a:t>
            </a:r>
            <a:r>
              <a:rPr lang="en-US" altLang="zh-CN" sz="2400" b="1" i="1" dirty="0" err="1">
                <a:solidFill>
                  <a:schemeClr val="tx1"/>
                </a:solidFill>
                <a:latin typeface="Times New Roman" panose="02020603050405020304" pitchFamily="18" charset="0"/>
                <a:ea typeface="宋体" panose="02010600030101010101" pitchFamily="2" charset="-122"/>
              </a:rPr>
              <a:t>p</a:t>
            </a:r>
            <a:r>
              <a:rPr lang="en-US" altLang="zh-CN" sz="2400" b="1" dirty="0" err="1">
                <a:solidFill>
                  <a:schemeClr val="tx1"/>
                </a:solidFill>
                <a:latin typeface="宋体" panose="02010600030101010101" pitchFamily="2" charset="-122"/>
                <a:ea typeface="宋体" panose="02010600030101010101" pitchFamily="2" charset="-122"/>
              </a:rPr>
              <a:t>∨</a:t>
            </a:r>
            <a:r>
              <a:rPr lang="en-US" altLang="zh-CN" sz="2400" b="1" i="1" dirty="0" err="1">
                <a:solidFill>
                  <a:schemeClr val="tx1"/>
                </a:solidFill>
                <a:latin typeface="Times New Roman" panose="02020603050405020304" pitchFamily="18" charset="0"/>
                <a:ea typeface="宋体" panose="02010600030101010101" pitchFamily="2" charset="-122"/>
              </a:rPr>
              <a:t>q</a:t>
            </a:r>
            <a:r>
              <a:rPr lang="en-US" altLang="zh-CN" sz="2400" b="1" dirty="0">
                <a:solidFill>
                  <a:schemeClr val="tx1"/>
                </a:solidFill>
                <a:latin typeface="Times New Roman" panose="02020603050405020304" pitchFamily="18" charset="0"/>
                <a:ea typeface="宋体" panose="02010600030101010101" pitchFamily="2" charset="-122"/>
              </a:rPr>
              <a:t>, </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sp>
        <p:nvSpPr>
          <p:cNvPr id="30" name="Text Box 7">
            <a:extLst>
              <a:ext uri="{FF2B5EF4-FFF2-40B4-BE49-F238E27FC236}">
                <a16:creationId xmlns:a16="http://schemas.microsoft.com/office/drawing/2014/main" id="{C2B5F193-4F1E-4D83-B09F-3A887F47DE74}"/>
              </a:ext>
            </a:extLst>
          </p:cNvPr>
          <p:cNvSpPr txBox="1">
            <a:spLocks noChangeArrowheads="1"/>
          </p:cNvSpPr>
          <p:nvPr/>
        </p:nvSpPr>
        <p:spPr bwMode="auto">
          <a:xfrm>
            <a:off x="1616180" y="5990956"/>
            <a:ext cx="12964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(3)</a:t>
            </a:r>
            <a:r>
              <a:rPr lang="en-US" altLang="zh-CN" sz="2400" b="1" i="1" dirty="0">
                <a:solidFill>
                  <a:schemeClr val="tx1"/>
                </a:solidFill>
                <a:latin typeface="Times New Roman" panose="02020603050405020304" pitchFamily="18" charset="0"/>
                <a:ea typeface="宋体" panose="02010600030101010101" pitchFamily="2" charset="-122"/>
              </a:rPr>
              <a:t> </a:t>
            </a:r>
            <a:r>
              <a:rPr lang="en-US" altLang="zh-CN" sz="2400" b="1" i="1" dirty="0" err="1">
                <a:solidFill>
                  <a:schemeClr val="tx1"/>
                </a:solidFill>
                <a:latin typeface="Times New Roman" panose="02020603050405020304" pitchFamily="18" charset="0"/>
                <a:ea typeface="宋体" panose="02010600030101010101" pitchFamily="2" charset="-122"/>
              </a:rPr>
              <a:t>r</a:t>
            </a:r>
            <a:r>
              <a:rPr lang="en-US" altLang="zh-CN" sz="2400" b="1" dirty="0" err="1">
                <a:solidFill>
                  <a:schemeClr val="tx1"/>
                </a:solidFill>
                <a:latin typeface="宋体" panose="02010600030101010101" pitchFamily="2" charset="-122"/>
                <a:ea typeface="宋体" panose="02010600030101010101" pitchFamily="2" charset="-122"/>
              </a:rPr>
              <a:t>∨</a:t>
            </a:r>
            <a:r>
              <a:rPr lang="en-US" altLang="zh-CN" sz="2400" b="1" i="1" dirty="0" err="1">
                <a:solidFill>
                  <a:schemeClr val="tx1"/>
                </a:solidFill>
                <a:latin typeface="Times New Roman" panose="02020603050405020304" pitchFamily="18" charset="0"/>
                <a:ea typeface="宋体" panose="02010600030101010101" pitchFamily="2" charset="-122"/>
              </a:rPr>
              <a:t>s</a:t>
            </a:r>
            <a:r>
              <a:rPr lang="en-US" altLang="zh-CN" sz="2400" b="1" dirty="0">
                <a:solidFill>
                  <a:schemeClr val="tx1"/>
                </a:solidFill>
                <a:latin typeface="Times New Roman" panose="02020603050405020304" pitchFamily="18" charset="0"/>
                <a:ea typeface="宋体" panose="02010600030101010101" pitchFamily="2" charset="-122"/>
              </a:rPr>
              <a:t>,</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sp>
        <p:nvSpPr>
          <p:cNvPr id="32" name="Text Box 9">
            <a:extLst>
              <a:ext uri="{FF2B5EF4-FFF2-40B4-BE49-F238E27FC236}">
                <a16:creationId xmlns:a16="http://schemas.microsoft.com/office/drawing/2014/main" id="{BB60A36F-B2AA-4219-9B91-C01D184C6123}"/>
              </a:ext>
            </a:extLst>
          </p:cNvPr>
          <p:cNvSpPr txBox="1">
            <a:spLocks noChangeArrowheads="1"/>
          </p:cNvSpPr>
          <p:nvPr/>
        </p:nvSpPr>
        <p:spPr bwMode="auto">
          <a:xfrm>
            <a:off x="3072746" y="5035746"/>
            <a:ext cx="1523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spcBef>
                <a:spcPct val="50000"/>
              </a:spcBef>
            </a:pPr>
            <a:r>
              <a:rPr lang="en-US" altLang="zh-CN" sz="2400" dirty="0">
                <a:latin typeface="Trebuchet MS" panose="020B0603020202020204" pitchFamily="34" charset="0"/>
              </a:rPr>
              <a:t>1 ∨ 0 = 1</a:t>
            </a:r>
            <a:endParaRPr lang="zh-CN" altLang="en-US" sz="2400" b="1" dirty="0">
              <a:solidFill>
                <a:schemeClr val="tx1"/>
              </a:solidFill>
              <a:latin typeface="Trebuchet MS" panose="020B0603020202020204" pitchFamily="34" charset="0"/>
              <a:cs typeface="Times New Roman" panose="02020603050405020304" pitchFamily="18" charset="0"/>
            </a:endParaRPr>
          </a:p>
        </p:txBody>
      </p:sp>
      <p:pic>
        <p:nvPicPr>
          <p:cNvPr id="21" name="图片 20">
            <a:extLst>
              <a:ext uri="{FF2B5EF4-FFF2-40B4-BE49-F238E27FC236}">
                <a16:creationId xmlns:a16="http://schemas.microsoft.com/office/drawing/2014/main" id="{51271436-B07C-4764-A120-1A41C19BCBAE}"/>
              </a:ext>
            </a:extLst>
          </p:cNvPr>
          <p:cNvPicPr/>
          <p:nvPr/>
        </p:nvPicPr>
        <p:blipFill>
          <a:blip r:embed="rId5"/>
          <a:stretch>
            <a:fillRect/>
          </a:stretch>
        </p:blipFill>
        <p:spPr>
          <a:xfrm>
            <a:off x="1243655" y="1074997"/>
            <a:ext cx="577850" cy="241300"/>
          </a:xfrm>
          <a:prstGeom prst="rect">
            <a:avLst/>
          </a:prstGeom>
        </p:spPr>
      </p:pic>
      <p:sp>
        <p:nvSpPr>
          <p:cNvPr id="23" name="Text Box 9">
            <a:extLst>
              <a:ext uri="{FF2B5EF4-FFF2-40B4-BE49-F238E27FC236}">
                <a16:creationId xmlns:a16="http://schemas.microsoft.com/office/drawing/2014/main" id="{AB6DE107-531F-467B-85FC-9CE9A19A6C73}"/>
              </a:ext>
            </a:extLst>
          </p:cNvPr>
          <p:cNvSpPr txBox="1">
            <a:spLocks noChangeArrowheads="1"/>
          </p:cNvSpPr>
          <p:nvPr/>
        </p:nvSpPr>
        <p:spPr bwMode="auto">
          <a:xfrm>
            <a:off x="3056789" y="5519386"/>
            <a:ext cx="1523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spcBef>
                <a:spcPct val="50000"/>
              </a:spcBef>
            </a:pPr>
            <a:r>
              <a:rPr lang="en-US" altLang="zh-CN" sz="2400" dirty="0">
                <a:latin typeface="Trebuchet MS" panose="020B0603020202020204" pitchFamily="34" charset="0"/>
              </a:rPr>
              <a:t>1 ∨ 1 = 1</a:t>
            </a:r>
            <a:endParaRPr lang="zh-CN" altLang="en-US" sz="2400" b="1" dirty="0">
              <a:solidFill>
                <a:schemeClr val="tx1"/>
              </a:solidFill>
              <a:latin typeface="Trebuchet MS" panose="020B0603020202020204" pitchFamily="34" charset="0"/>
              <a:cs typeface="Times New Roman" panose="02020603050405020304" pitchFamily="18" charset="0"/>
            </a:endParaRPr>
          </a:p>
        </p:txBody>
      </p:sp>
      <p:sp>
        <p:nvSpPr>
          <p:cNvPr id="24" name="Text Box 9">
            <a:extLst>
              <a:ext uri="{FF2B5EF4-FFF2-40B4-BE49-F238E27FC236}">
                <a16:creationId xmlns:a16="http://schemas.microsoft.com/office/drawing/2014/main" id="{DFB67D9E-0741-47BE-A0BF-B2741986BE69}"/>
              </a:ext>
            </a:extLst>
          </p:cNvPr>
          <p:cNvSpPr txBox="1">
            <a:spLocks noChangeArrowheads="1"/>
          </p:cNvSpPr>
          <p:nvPr/>
        </p:nvSpPr>
        <p:spPr bwMode="auto">
          <a:xfrm>
            <a:off x="3056787" y="5990956"/>
            <a:ext cx="1523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spcBef>
                <a:spcPct val="50000"/>
              </a:spcBef>
            </a:pPr>
            <a:r>
              <a:rPr lang="en-US" altLang="zh-CN" sz="2400" dirty="0">
                <a:latin typeface="Trebuchet MS" panose="020B0603020202020204" pitchFamily="34" charset="0"/>
              </a:rPr>
              <a:t>0 ∨ 0 = 0</a:t>
            </a:r>
            <a:endParaRPr lang="zh-CN" altLang="en-US" sz="2400" b="1" dirty="0">
              <a:solidFill>
                <a:schemeClr val="tx1"/>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77356363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 calcmode="lin" valueType="num">
                                      <p:cBhvr additive="base">
                                        <p:cTn id="11"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
                                            <p:txEl>
                                              <p:pRg st="1" end="1"/>
                                            </p:txEl>
                                          </p:spTgt>
                                        </p:tgtEl>
                                        <p:attrNameLst>
                                          <p:attrName>style.visibility</p:attrName>
                                        </p:attrNameLst>
                                      </p:cBhvr>
                                      <p:to>
                                        <p:strVal val="visible"/>
                                      </p:to>
                                    </p:set>
                                    <p:anim calcmode="lin" valueType="num">
                                      <p:cBhvr additive="base">
                                        <p:cTn id="15"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en-US" altLang="zh-CN" sz="2800" b="1" dirty="0">
                <a:latin typeface="Trebuchet MS" panose="020B0603020202020204" pitchFamily="34" charset="0"/>
                <a:ea typeface="Cambria Math" panose="02040503050406030204" pitchFamily="18" charset="0"/>
                <a:cs typeface="Times New Roman" panose="02020603050405020304" pitchFamily="18" charset="0"/>
              </a:rPr>
              <a:t>)</a:t>
            </a:r>
            <a:endParaRPr lang="zh-CN" altLang="en-US" sz="24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584533"/>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400"/>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669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3300"/>
              </a:solidFill>
            </a:endParaRPr>
          </a:p>
          <a:p>
            <a:pPr eaLnBrk="1" hangingPunct="1">
              <a:lnSpc>
                <a:spcPct val="110000"/>
              </a:lnSpc>
              <a:buFontTx/>
              <a:buNone/>
            </a:pPr>
            <a:endParaRPr lang="zh-CN" altLang="en-US" sz="2800" b="1" dirty="0"/>
          </a:p>
        </p:txBody>
      </p:sp>
      <p:sp>
        <p:nvSpPr>
          <p:cNvPr id="26" name="Rectangle 3">
            <a:extLst>
              <a:ext uri="{FF2B5EF4-FFF2-40B4-BE49-F238E27FC236}">
                <a16:creationId xmlns:a16="http://schemas.microsoft.com/office/drawing/2014/main" id="{B2F3CA0E-37C3-4D7D-A7FA-BC2EB591AABE}"/>
              </a:ext>
            </a:extLst>
          </p:cNvPr>
          <p:cNvSpPr>
            <a:spLocks noGrp="1" noChangeArrowheads="1"/>
          </p:cNvSpPr>
          <p:nvPr>
            <p:ph idx="1"/>
          </p:nvPr>
        </p:nvSpPr>
        <p:spPr>
          <a:xfrm>
            <a:off x="870854" y="865556"/>
            <a:ext cx="8421023" cy="982142"/>
          </a:xfrm>
        </p:spPr>
        <p:txBody>
          <a:bodyPr tIns="0" bIns="0">
            <a:noAutofit/>
          </a:bodyPr>
          <a:lstStyle/>
          <a:p>
            <a:pPr marL="0" indent="0" algn="l">
              <a:buNone/>
            </a:pPr>
            <a:r>
              <a:rPr lang="en-US" altLang="zh-CN" b="0" i="0" dirty="0">
                <a:solidFill>
                  <a:srgbClr val="0C0D0E"/>
                </a:solidFill>
                <a:effectLst/>
              </a:rPr>
              <a:t>     Example: Symbolize the following propositions:</a:t>
            </a:r>
          </a:p>
          <a:p>
            <a:pPr marL="0" indent="0" algn="l">
              <a:lnSpc>
                <a:spcPct val="120000"/>
              </a:lnSpc>
              <a:buNone/>
            </a:pPr>
            <a:r>
              <a:rPr lang="en-US" altLang="zh-CN" b="0" i="0" dirty="0">
                <a:solidFill>
                  <a:srgbClr val="0C0D0E"/>
                </a:solidFill>
                <a:effectLst/>
              </a:rPr>
              <a:t>(4) Yuan </a:t>
            </a:r>
            <a:r>
              <a:rPr lang="en-US" altLang="zh-CN" b="0" i="0" dirty="0" err="1">
                <a:solidFill>
                  <a:srgbClr val="0C0D0E"/>
                </a:solidFill>
                <a:effectLst/>
              </a:rPr>
              <a:t>Yuan</a:t>
            </a:r>
            <a:r>
              <a:rPr lang="en-US" altLang="zh-CN" b="0" i="0" dirty="0">
                <a:solidFill>
                  <a:srgbClr val="0C0D0E"/>
                </a:solidFill>
                <a:effectLst/>
              </a:rPr>
              <a:t> can take an apple or a pear.</a:t>
            </a:r>
          </a:p>
        </p:txBody>
      </p:sp>
      <p:sp>
        <p:nvSpPr>
          <p:cNvPr id="27" name="Text Box 4">
            <a:extLst>
              <a:ext uri="{FF2B5EF4-FFF2-40B4-BE49-F238E27FC236}">
                <a16:creationId xmlns:a16="http://schemas.microsoft.com/office/drawing/2014/main" id="{459A4473-9483-43AD-A856-03D68EDA2A69}"/>
              </a:ext>
            </a:extLst>
          </p:cNvPr>
          <p:cNvSpPr txBox="1">
            <a:spLocks noChangeArrowheads="1"/>
          </p:cNvSpPr>
          <p:nvPr/>
        </p:nvSpPr>
        <p:spPr bwMode="auto">
          <a:xfrm>
            <a:off x="943397" y="1850873"/>
            <a:ext cx="614320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latinLnBrk="1"/>
            <a:r>
              <a:rPr lang="en-US" altLang="zh-CN" sz="2400" b="1" dirty="0" err="1">
                <a:solidFill>
                  <a:srgbClr val="00B0F0"/>
                </a:solidFill>
                <a:latin typeface="Trebuchet MS" panose="020B0603020202020204" pitchFamily="34" charset="0"/>
              </a:rPr>
              <a:t>Solve:</a:t>
            </a:r>
            <a:r>
              <a:rPr lang="en-US" altLang="zh-CN" sz="2400" dirty="0" err="1">
                <a:latin typeface="Trebuchet MS" panose="020B0603020202020204" pitchFamily="34" charset="0"/>
              </a:rPr>
              <a:t>Let</a:t>
            </a:r>
            <a:r>
              <a:rPr lang="en-US" altLang="zh-CN" sz="2400" dirty="0">
                <a:latin typeface="Trebuchet MS" panose="020B0603020202020204" pitchFamily="34" charset="0"/>
              </a:rPr>
              <a:t>:</a:t>
            </a:r>
          </a:p>
          <a:p>
            <a:pPr latinLnBrk="1"/>
            <a:r>
              <a:rPr lang="en-US" altLang="zh-CN" sz="2400" dirty="0">
                <a:latin typeface="Trebuchet MS" panose="020B0603020202020204" pitchFamily="34" charset="0"/>
              </a:rPr>
              <a:t>         </a:t>
            </a:r>
            <a:r>
              <a:rPr lang="en-US" altLang="zh-CN" sz="2400" b="1" i="1" dirty="0">
                <a:latin typeface="Trebuchet MS" panose="020B0603020202020204" pitchFamily="34" charset="0"/>
              </a:rPr>
              <a:t>t</a:t>
            </a:r>
            <a:r>
              <a:rPr lang="en-US" altLang="zh-CN" sz="2400" dirty="0">
                <a:latin typeface="Trebuchet MS" panose="020B0603020202020204" pitchFamily="34" charset="0"/>
              </a:rPr>
              <a:t>: Yuan </a:t>
            </a:r>
            <a:r>
              <a:rPr lang="en-US" altLang="zh-CN" sz="2400" dirty="0" err="1">
                <a:latin typeface="Trebuchet MS" panose="020B0603020202020204" pitchFamily="34" charset="0"/>
              </a:rPr>
              <a:t>Yuan</a:t>
            </a:r>
            <a:r>
              <a:rPr lang="en-US" altLang="zh-CN" sz="2400" dirty="0">
                <a:latin typeface="Trebuchet MS" panose="020B0603020202020204" pitchFamily="34" charset="0"/>
              </a:rPr>
              <a:t> takes an apple, </a:t>
            </a:r>
          </a:p>
          <a:p>
            <a:pPr latinLnBrk="1"/>
            <a:r>
              <a:rPr lang="en-US" altLang="zh-CN" sz="2400" dirty="0">
                <a:latin typeface="Trebuchet MS" panose="020B0603020202020204" pitchFamily="34" charset="0"/>
              </a:rPr>
              <a:t>         </a:t>
            </a:r>
            <a:r>
              <a:rPr lang="en-US" altLang="zh-CN" sz="2400" b="1" i="1" dirty="0">
                <a:latin typeface="Trebuchet MS" panose="020B0603020202020204" pitchFamily="34" charset="0"/>
              </a:rPr>
              <a:t>u</a:t>
            </a:r>
            <a:r>
              <a:rPr lang="en-US" altLang="zh-CN" sz="2400" dirty="0">
                <a:latin typeface="Trebuchet MS" panose="020B0603020202020204" pitchFamily="34" charset="0"/>
              </a:rPr>
              <a:t>: Yuan </a:t>
            </a:r>
            <a:r>
              <a:rPr lang="en-US" altLang="zh-CN" sz="2400" dirty="0" err="1">
                <a:latin typeface="Trebuchet MS" panose="020B0603020202020204" pitchFamily="34" charset="0"/>
              </a:rPr>
              <a:t>Yuan</a:t>
            </a:r>
            <a:r>
              <a:rPr lang="en-US" altLang="zh-CN" sz="2400" dirty="0">
                <a:latin typeface="Trebuchet MS" panose="020B0603020202020204" pitchFamily="34" charset="0"/>
              </a:rPr>
              <a:t> takes a pear.</a:t>
            </a:r>
          </a:p>
          <a:p>
            <a:pPr latinLnBrk="1"/>
            <a:r>
              <a:rPr lang="zh-CN" altLang="en-US" sz="2400" b="1" dirty="0">
                <a:latin typeface="Trebuchet MS" panose="020B0603020202020204" pitchFamily="34" charset="0"/>
              </a:rPr>
              <a:t>            (</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u</a:t>
            </a:r>
            <a:r>
              <a:rPr lang="en-US" altLang="zh-CN"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t</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u</a:t>
            </a:r>
            <a:r>
              <a:rPr lang="en-US" altLang="zh-CN" sz="2400" b="1" dirty="0">
                <a:latin typeface="Trebuchet MS" panose="020B0603020202020204" pitchFamily="34" charset="0"/>
              </a:rPr>
              <a:t>)  </a:t>
            </a:r>
            <a:endParaRPr lang="zh-CN" altLang="en-US" sz="2400" b="1" dirty="0">
              <a:solidFill>
                <a:schemeClr val="tx1"/>
              </a:solidFill>
              <a:latin typeface="Trebuchet MS" panose="020B0603020202020204" pitchFamily="34" charset="0"/>
              <a:ea typeface="宋体" panose="02010600030101010101" pitchFamily="2" charset="-122"/>
            </a:endParaRPr>
          </a:p>
        </p:txBody>
      </p:sp>
      <p:pic>
        <p:nvPicPr>
          <p:cNvPr id="21" name="图片 20">
            <a:extLst>
              <a:ext uri="{FF2B5EF4-FFF2-40B4-BE49-F238E27FC236}">
                <a16:creationId xmlns:a16="http://schemas.microsoft.com/office/drawing/2014/main" id="{51271436-B07C-4764-A120-1A41C19BCBAE}"/>
              </a:ext>
            </a:extLst>
          </p:cNvPr>
          <p:cNvPicPr/>
          <p:nvPr/>
        </p:nvPicPr>
        <p:blipFill>
          <a:blip r:embed="rId5"/>
          <a:stretch>
            <a:fillRect/>
          </a:stretch>
        </p:blipFill>
        <p:spPr>
          <a:xfrm>
            <a:off x="869080" y="909742"/>
            <a:ext cx="577850" cy="241300"/>
          </a:xfrm>
          <a:prstGeom prst="rect">
            <a:avLst/>
          </a:prstGeom>
        </p:spPr>
      </p:pic>
      <p:sp>
        <p:nvSpPr>
          <p:cNvPr id="25" name="Rectangle 3">
            <a:extLst>
              <a:ext uri="{FF2B5EF4-FFF2-40B4-BE49-F238E27FC236}">
                <a16:creationId xmlns:a16="http://schemas.microsoft.com/office/drawing/2014/main" id="{659F3C05-7175-4FF7-A73B-DBC0314E5058}"/>
              </a:ext>
            </a:extLst>
          </p:cNvPr>
          <p:cNvSpPr txBox="1">
            <a:spLocks noChangeArrowheads="1"/>
          </p:cNvSpPr>
          <p:nvPr/>
        </p:nvSpPr>
        <p:spPr>
          <a:xfrm>
            <a:off x="934851" y="3509883"/>
            <a:ext cx="10235201" cy="2289033"/>
          </a:xfrm>
          <a:prstGeom prst="rect">
            <a:avLst/>
          </a:prstGeom>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solidFill>
                  <a:srgbClr val="0C0D0E"/>
                </a:solidFill>
              </a:rPr>
              <a:t>(5) Wang </a:t>
            </a:r>
            <a:r>
              <a:rPr lang="en-US" altLang="zh-CN" dirty="0" err="1">
                <a:solidFill>
                  <a:srgbClr val="0C0D0E"/>
                </a:solidFill>
              </a:rPr>
              <a:t>Xiaohong</a:t>
            </a:r>
            <a:r>
              <a:rPr lang="en-US" altLang="zh-CN" dirty="0">
                <a:solidFill>
                  <a:srgbClr val="0C0D0E"/>
                </a:solidFill>
              </a:rPr>
              <a:t> was born in 1975 or 1976</a:t>
            </a:r>
          </a:p>
          <a:p>
            <a:pPr marL="0" indent="0">
              <a:buNone/>
            </a:pPr>
            <a:r>
              <a:rPr lang="en-US" altLang="zh-CN" b="1" dirty="0">
                <a:solidFill>
                  <a:srgbClr val="00B0F0"/>
                </a:solidFill>
              </a:rPr>
              <a:t> Solve:</a:t>
            </a:r>
            <a:r>
              <a:rPr lang="en-US" altLang="zh-CN" dirty="0"/>
              <a:t> Let:</a:t>
            </a:r>
          </a:p>
          <a:p>
            <a:pPr marL="0" indent="0">
              <a:buNone/>
            </a:pPr>
            <a:r>
              <a:rPr lang="en-US" altLang="zh-CN" dirty="0"/>
              <a:t>        v: Wang </a:t>
            </a:r>
            <a:r>
              <a:rPr lang="en-US" altLang="zh-CN" dirty="0" err="1"/>
              <a:t>Xiaohong</a:t>
            </a:r>
            <a:r>
              <a:rPr lang="en-US" altLang="zh-CN" dirty="0"/>
              <a:t> was born in 1975, </a:t>
            </a:r>
          </a:p>
          <a:p>
            <a:pPr marL="0" indent="0">
              <a:buNone/>
            </a:pPr>
            <a:r>
              <a:rPr lang="en-US" altLang="zh-CN" dirty="0"/>
              <a:t>       w: Wang </a:t>
            </a:r>
            <a:r>
              <a:rPr lang="en-US" altLang="zh-CN" dirty="0" err="1"/>
              <a:t>Xiaohong</a:t>
            </a:r>
            <a:r>
              <a:rPr lang="en-US" altLang="zh-CN" dirty="0"/>
              <a:t> was born in 1976.</a:t>
            </a:r>
          </a:p>
          <a:p>
            <a:pPr marL="0" indent="0">
              <a:buNone/>
            </a:pPr>
            <a:r>
              <a:rPr lang="en-US" altLang="zh-CN" b="1" dirty="0">
                <a:solidFill>
                  <a:schemeClr val="tx1"/>
                </a:solidFill>
                <a:ea typeface="宋体" panose="02010600030101010101" pitchFamily="2" charset="-122"/>
              </a:rPr>
              <a:t>           (</a:t>
            </a:r>
            <a:r>
              <a:rPr lang="en-US" altLang="zh-CN" b="1" i="1" dirty="0">
                <a:solidFill>
                  <a:schemeClr val="tx1"/>
                </a:solidFill>
                <a:ea typeface="宋体" panose="02010600030101010101" pitchFamily="2" charset="-122"/>
              </a:rPr>
              <a:t>v</a:t>
            </a:r>
            <a:r>
              <a:rPr lang="en-US" altLang="zh-CN" b="1" dirty="0">
                <a:solidFill>
                  <a:schemeClr val="tx1"/>
                </a:solidFill>
                <a:ea typeface="宋体" panose="02010600030101010101" pitchFamily="2" charset="-122"/>
              </a:rPr>
              <a:t>∧</a:t>
            </a:r>
            <a:r>
              <a:rPr lang="zh-CN" altLang="en-US" b="1" dirty="0">
                <a:solidFill>
                  <a:schemeClr val="tx1"/>
                </a:solidFill>
                <a:ea typeface="宋体" panose="02010600030101010101" pitchFamily="2" charset="-122"/>
                <a:sym typeface="Symbol" panose="05050102010706020507" pitchFamily="18" charset="2"/>
              </a:rPr>
              <a:t></a:t>
            </a:r>
            <a:r>
              <a:rPr lang="en-US" altLang="zh-CN" b="1" i="1" dirty="0">
                <a:solidFill>
                  <a:schemeClr val="tx1"/>
                </a:solidFill>
                <a:ea typeface="宋体" panose="02010600030101010101" pitchFamily="2" charset="-122"/>
              </a:rPr>
              <a:t>w</a:t>
            </a:r>
            <a:r>
              <a:rPr lang="en-US" altLang="zh-CN" b="1" dirty="0">
                <a:solidFill>
                  <a:schemeClr val="tx1"/>
                </a:solidFill>
                <a:ea typeface="宋体" panose="02010600030101010101" pitchFamily="2" charset="-122"/>
              </a:rPr>
              <a:t>)∨(</a:t>
            </a:r>
            <a:r>
              <a:rPr lang="zh-CN" altLang="en-US" b="1" dirty="0">
                <a:solidFill>
                  <a:schemeClr val="tx1"/>
                </a:solidFill>
                <a:ea typeface="宋体" panose="02010600030101010101" pitchFamily="2" charset="-122"/>
                <a:sym typeface="Symbol" panose="05050102010706020507" pitchFamily="18" charset="2"/>
              </a:rPr>
              <a:t></a:t>
            </a:r>
            <a:r>
              <a:rPr lang="en-US" altLang="zh-CN" b="1" i="1" dirty="0" err="1">
                <a:solidFill>
                  <a:schemeClr val="tx1"/>
                </a:solidFill>
                <a:ea typeface="宋体" panose="02010600030101010101" pitchFamily="2" charset="-122"/>
              </a:rPr>
              <a:t>v</a:t>
            </a:r>
            <a:r>
              <a:rPr lang="en-US" altLang="zh-CN" b="1" dirty="0" err="1">
                <a:solidFill>
                  <a:schemeClr val="tx1"/>
                </a:solidFill>
                <a:ea typeface="宋体" panose="02010600030101010101" pitchFamily="2" charset="-122"/>
              </a:rPr>
              <a:t>∧</a:t>
            </a:r>
            <a:r>
              <a:rPr lang="en-US" altLang="zh-CN" b="1" i="1" dirty="0" err="1">
                <a:solidFill>
                  <a:schemeClr val="tx1"/>
                </a:solidFill>
                <a:ea typeface="宋体" panose="02010600030101010101" pitchFamily="2" charset="-122"/>
              </a:rPr>
              <a:t>w</a:t>
            </a:r>
            <a:r>
              <a:rPr lang="en-US" altLang="zh-CN" b="1" dirty="0">
                <a:solidFill>
                  <a:schemeClr val="tx1"/>
                </a:solidFill>
                <a:ea typeface="宋体" panose="02010600030101010101" pitchFamily="2" charset="-122"/>
              </a:rPr>
              <a:t>)</a:t>
            </a:r>
            <a:endParaRPr lang="en-US" altLang="zh-CN" dirty="0"/>
          </a:p>
          <a:p>
            <a:pPr marL="0" indent="0">
              <a:buFont typeface="Arial" panose="020B0604020202020204" pitchFamily="34" charset="0"/>
              <a:buNone/>
            </a:pPr>
            <a:endParaRPr lang="en-US" altLang="zh-CN" dirty="0">
              <a:solidFill>
                <a:srgbClr val="0C0D0E"/>
              </a:solidFill>
            </a:endParaRPr>
          </a:p>
        </p:txBody>
      </p:sp>
      <p:sp>
        <p:nvSpPr>
          <p:cNvPr id="5" name="对话气泡: 椭圆形 4">
            <a:extLst>
              <a:ext uri="{FF2B5EF4-FFF2-40B4-BE49-F238E27FC236}">
                <a16:creationId xmlns:a16="http://schemas.microsoft.com/office/drawing/2014/main" id="{5B834732-3E30-4DF7-A1B4-7FC6969D9988}"/>
              </a:ext>
            </a:extLst>
          </p:cNvPr>
          <p:cNvSpPr/>
          <p:nvPr/>
        </p:nvSpPr>
        <p:spPr>
          <a:xfrm>
            <a:off x="7591020" y="3542946"/>
            <a:ext cx="3945582" cy="2345320"/>
          </a:xfrm>
          <a:prstGeom prst="wedgeEllipseCallout">
            <a:avLst>
              <a:gd name="adj1" fmla="val -71528"/>
              <a:gd name="adj2" fmla="val 3862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50000"/>
                    <a:lumOff val="50000"/>
                  </a:schemeClr>
                </a:solidFill>
                <a:latin typeface="Trebuchet MS" panose="020B0603020202020204" pitchFamily="34" charset="0"/>
              </a:rPr>
              <a:t>Can logical expression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v</a:t>
            </a:r>
            <a:r>
              <a:rPr lang="en-US" altLang="zh-CN" sz="2400" b="1" dirty="0">
                <a:solidFill>
                  <a:schemeClr val="tx1"/>
                </a:solidFill>
                <a:latin typeface="Trebuchet MS" panose="020B0603020202020204" pitchFamily="34" charset="0"/>
              </a:rPr>
              <a:t>∧</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w</a:t>
            </a:r>
            <a:r>
              <a:rPr lang="en-US" altLang="zh-CN" sz="2400" b="1" dirty="0">
                <a:solidFill>
                  <a:schemeClr val="tx1"/>
                </a:solidFill>
                <a:latin typeface="Trebuchet MS" panose="020B0603020202020204" pitchFamily="34" charset="0"/>
              </a:rPr>
              <a:t>)∨(</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v</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w</a:t>
            </a:r>
            <a:r>
              <a:rPr lang="en-US" altLang="zh-CN" sz="2400" b="1" dirty="0">
                <a:solidFill>
                  <a:schemeClr val="tx1"/>
                </a:solidFill>
                <a:latin typeface="Trebuchet MS" panose="020B0603020202020204" pitchFamily="34" charset="0"/>
              </a:rPr>
              <a:t>)” </a:t>
            </a:r>
            <a:r>
              <a:rPr lang="en-US" altLang="zh-CN" sz="2400" dirty="0">
                <a:solidFill>
                  <a:schemeClr val="tx1">
                    <a:lumMod val="50000"/>
                    <a:lumOff val="50000"/>
                  </a:schemeClr>
                </a:solidFill>
                <a:latin typeface="Trebuchet MS" panose="020B0603020202020204" pitchFamily="34" charset="0"/>
              </a:rPr>
              <a:t>be converted to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v</a:t>
            </a:r>
            <a:r>
              <a:rPr lang="en-US" altLang="zh-CN" sz="2400" b="1" dirty="0">
                <a:solidFill>
                  <a:schemeClr val="tx1"/>
                </a:solidFill>
                <a:latin typeface="Trebuchet MS" panose="020B0603020202020204" pitchFamily="34" charset="0"/>
              </a:rPr>
              <a:t> ∨ </a:t>
            </a:r>
            <a:r>
              <a:rPr lang="en-US" altLang="zh-CN" sz="2400" b="1" i="1" dirty="0">
                <a:solidFill>
                  <a:schemeClr val="tx1"/>
                </a:solidFill>
                <a:latin typeface="Trebuchet MS" panose="020B0603020202020204" pitchFamily="34" charset="0"/>
              </a:rPr>
              <a:t>w</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a:t>
            </a:r>
            <a:endParaRPr lang="zh-CN" altLang="en-US" sz="24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4189587493"/>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7">
                                            <p:txEl>
                                              <p:pRg st="0" end="0"/>
                                            </p:txEl>
                                          </p:spTgt>
                                        </p:tgtEl>
                                        <p:attrNameLst>
                                          <p:attrName>style.visibility</p:attrName>
                                        </p:attrNameLst>
                                      </p:cBhvr>
                                      <p:to>
                                        <p:strVal val="visible"/>
                                      </p:to>
                                    </p:set>
                                    <p:anim calcmode="lin" valueType="num">
                                      <p:cBhvr additive="base">
                                        <p:cTn id="11"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
                                            <p:txEl>
                                              <p:pRg st="1" end="1"/>
                                            </p:txEl>
                                          </p:spTgt>
                                        </p:tgtEl>
                                        <p:attrNameLst>
                                          <p:attrName>style.visibility</p:attrName>
                                        </p:attrNameLst>
                                      </p:cBhvr>
                                      <p:to>
                                        <p:strVal val="visible"/>
                                      </p:to>
                                    </p:set>
                                    <p:anim calcmode="lin" valueType="num">
                                      <p:cBhvr additive="base">
                                        <p:cTn id="15"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
                                            <p:txEl>
                                              <p:pRg st="2" end="2"/>
                                            </p:txEl>
                                          </p:spTgt>
                                        </p:tgtEl>
                                        <p:attrNameLst>
                                          <p:attrName>style.visibility</p:attrName>
                                        </p:attrNameLst>
                                      </p:cBhvr>
                                      <p:to>
                                        <p:strVal val="visible"/>
                                      </p:to>
                                    </p:set>
                                    <p:anim calcmode="lin" valueType="num">
                                      <p:cBhvr additive="base">
                                        <p:cTn id="19"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7">
                                            <p:txEl>
                                              <p:pRg st="3" end="3"/>
                                            </p:txEl>
                                          </p:spTgt>
                                        </p:tgtEl>
                                        <p:attrNameLst>
                                          <p:attrName>style.visibility</p:attrName>
                                        </p:attrNameLst>
                                      </p:cBhvr>
                                      <p:to>
                                        <p:strVal val="visible"/>
                                      </p:to>
                                    </p:set>
                                    <p:animEffect transition="in" filter="fade">
                                      <p:cBhvr>
                                        <p:cTn id="25" dur="1000"/>
                                        <p:tgtEl>
                                          <p:spTgt spid="27">
                                            <p:txEl>
                                              <p:pRg st="3" end="3"/>
                                            </p:txEl>
                                          </p:spTgt>
                                        </p:tgtEl>
                                      </p:cBhvr>
                                    </p:animEffect>
                                    <p:anim calcmode="lin" valueType="num">
                                      <p:cBhvr>
                                        <p:cTn id="26" dur="1000" fill="hold"/>
                                        <p:tgtEl>
                                          <p:spTgt spid="27">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2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5">
                                            <p:txEl>
                                              <p:pRg st="1" end="1"/>
                                            </p:txEl>
                                          </p:spTgt>
                                        </p:tgtEl>
                                        <p:attrNameLst>
                                          <p:attrName>style.visibility</p:attrName>
                                        </p:attrNameLst>
                                      </p:cBhvr>
                                      <p:to>
                                        <p:strVal val="visible"/>
                                      </p:to>
                                    </p:set>
                                    <p:animEffect transition="in" filter="fade">
                                      <p:cBhvr>
                                        <p:cTn id="36" dur="1000"/>
                                        <p:tgtEl>
                                          <p:spTgt spid="25">
                                            <p:txEl>
                                              <p:pRg st="1" end="1"/>
                                            </p:txEl>
                                          </p:spTgt>
                                        </p:tgtEl>
                                      </p:cBhvr>
                                    </p:animEffect>
                                    <p:anim calcmode="lin" valueType="num">
                                      <p:cBhvr>
                                        <p:cTn id="37" dur="1000" fill="hold"/>
                                        <p:tgtEl>
                                          <p:spTgt spid="25">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25">
                                            <p:txEl>
                                              <p:pRg st="1" end="1"/>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5">
                                            <p:txEl>
                                              <p:pRg st="2" end="2"/>
                                            </p:txEl>
                                          </p:spTgt>
                                        </p:tgtEl>
                                        <p:attrNameLst>
                                          <p:attrName>style.visibility</p:attrName>
                                        </p:attrNameLst>
                                      </p:cBhvr>
                                      <p:to>
                                        <p:strVal val="visible"/>
                                      </p:to>
                                    </p:set>
                                    <p:animEffect transition="in" filter="fade">
                                      <p:cBhvr>
                                        <p:cTn id="41" dur="1000"/>
                                        <p:tgtEl>
                                          <p:spTgt spid="25">
                                            <p:txEl>
                                              <p:pRg st="2" end="2"/>
                                            </p:txEl>
                                          </p:spTgt>
                                        </p:tgtEl>
                                      </p:cBhvr>
                                    </p:animEffect>
                                    <p:anim calcmode="lin" valueType="num">
                                      <p:cBhvr>
                                        <p:cTn id="42" dur="10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25">
                                            <p:txEl>
                                              <p:pRg st="2" end="2"/>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5">
                                            <p:txEl>
                                              <p:pRg st="3" end="3"/>
                                            </p:txEl>
                                          </p:spTgt>
                                        </p:tgtEl>
                                        <p:attrNameLst>
                                          <p:attrName>style.visibility</p:attrName>
                                        </p:attrNameLst>
                                      </p:cBhvr>
                                      <p:to>
                                        <p:strVal val="visible"/>
                                      </p:to>
                                    </p:set>
                                    <p:animEffect transition="in" filter="fade">
                                      <p:cBhvr>
                                        <p:cTn id="46" dur="1000"/>
                                        <p:tgtEl>
                                          <p:spTgt spid="25">
                                            <p:txEl>
                                              <p:pRg st="3" end="3"/>
                                            </p:txEl>
                                          </p:spTgt>
                                        </p:tgtEl>
                                      </p:cBhvr>
                                    </p:animEffect>
                                    <p:anim calcmode="lin" valueType="num">
                                      <p:cBhvr>
                                        <p:cTn id="47" dur="1000" fill="hold"/>
                                        <p:tgtEl>
                                          <p:spTgt spid="25">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2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25">
                                            <p:txEl>
                                              <p:pRg st="4" end="4"/>
                                            </p:txEl>
                                          </p:spTgt>
                                        </p:tgtEl>
                                        <p:attrNameLst>
                                          <p:attrName>style.visibility</p:attrName>
                                        </p:attrNameLst>
                                      </p:cBhvr>
                                      <p:to>
                                        <p:strVal val="visible"/>
                                      </p:to>
                                    </p:set>
                                    <p:animEffect transition="in" filter="fade">
                                      <p:cBhvr>
                                        <p:cTn id="53" dur="1000"/>
                                        <p:tgtEl>
                                          <p:spTgt spid="25">
                                            <p:txEl>
                                              <p:pRg st="4" end="4"/>
                                            </p:txEl>
                                          </p:spTgt>
                                        </p:tgtEl>
                                      </p:cBhvr>
                                    </p:animEffect>
                                    <p:anim calcmode="lin" valueType="num">
                                      <p:cBhvr>
                                        <p:cTn id="54" dur="1000" fill="hold"/>
                                        <p:tgtEl>
                                          <p:spTgt spid="25">
                                            <p:txEl>
                                              <p:pRg st="4" end="4"/>
                                            </p:txEl>
                                          </p:spTgt>
                                        </p:tgtEl>
                                        <p:attrNameLst>
                                          <p:attrName>ppt_x</p:attrName>
                                        </p:attrNameLst>
                                      </p:cBhvr>
                                      <p:tavLst>
                                        <p:tav tm="0">
                                          <p:val>
                                            <p:strVal val="#ppt_x"/>
                                          </p:val>
                                        </p:tav>
                                        <p:tav tm="100000">
                                          <p:val>
                                            <p:strVal val="#ppt_x"/>
                                          </p:val>
                                        </p:tav>
                                      </p:tavLst>
                                    </p:anim>
                                    <p:anim calcmode="lin" valueType="num">
                                      <p:cBhvr>
                                        <p:cTn id="55" dur="1000" fill="hold"/>
                                        <p:tgtEl>
                                          <p:spTgt spid="2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1000"/>
                                        <p:tgtEl>
                                          <p:spTgt spid="5"/>
                                        </p:tgtEl>
                                      </p:cBhvr>
                                    </p:animEffect>
                                    <p:anim calcmode="lin" valueType="num">
                                      <p:cBhvr>
                                        <p:cTn id="61" dur="1000" fill="hold"/>
                                        <p:tgtEl>
                                          <p:spTgt spid="5"/>
                                        </p:tgtEl>
                                        <p:attrNameLst>
                                          <p:attrName>ppt_x</p:attrName>
                                        </p:attrNameLst>
                                      </p:cBhvr>
                                      <p:tavLst>
                                        <p:tav tm="0">
                                          <p:val>
                                            <p:strVal val="#ppt_x"/>
                                          </p:val>
                                        </p:tav>
                                        <p:tav tm="100000">
                                          <p:val>
                                            <p:strVal val="#ppt_x"/>
                                          </p:val>
                                        </p:tav>
                                      </p:tavLst>
                                    </p:anim>
                                    <p:anim calcmode="lin" valueType="num">
                                      <p:cBhvr>
                                        <p:cTn id="6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endParaRPr lang="zh-CN" altLang="en-US" sz="2400" b="1" dirty="0">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86363"/>
            <a:ext cx="9669148" cy="5349874"/>
          </a:xfrm>
          <a:prstGeom prst="rect">
            <a:avLst/>
          </a:prstGeom>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3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Definition 2.4</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"If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then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called the </a:t>
            </a:r>
            <a:r>
              <a:rPr lang="en-US" altLang="zh-CN" sz="2400" dirty="0">
                <a:solidFill>
                  <a:srgbClr val="0C0D0E"/>
                </a:solidFill>
                <a:effectLst/>
                <a:latin typeface="Trebuchet MS" panose="020B0603020202020204" pitchFamily="34" charset="0"/>
              </a:rPr>
              <a:t>implication</a:t>
            </a:r>
            <a:r>
              <a:rPr lang="en-US" altLang="zh-CN" sz="2400" b="0" i="0" dirty="0">
                <a:solidFill>
                  <a:srgbClr val="0C0D0E"/>
                </a:solidFill>
                <a:effectLst/>
                <a:latin typeface="Trebuchet MS" panose="020B0603020202020204" pitchFamily="34" charset="0"/>
              </a:rPr>
              <a:t> of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denoted as </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called the antecedent (or hypothesis) of the implication,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called the consequent (or conclusion). The symbol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is called the </a:t>
            </a:r>
            <a:r>
              <a:rPr lang="en-US" altLang="zh-CN" sz="2400" b="1" i="1" dirty="0">
                <a:solidFill>
                  <a:srgbClr val="0C0D0E"/>
                </a:solidFill>
                <a:effectLst/>
                <a:latin typeface="Trebuchet MS" panose="020B0603020202020204" pitchFamily="34" charset="0"/>
              </a:rPr>
              <a:t>implication connective</a:t>
            </a:r>
            <a:r>
              <a:rPr lang="en-US" altLang="zh-CN" sz="2400" b="0" i="0" dirty="0">
                <a:solidFill>
                  <a:srgbClr val="0C0D0E"/>
                </a:solidFill>
                <a:effectLst/>
                <a:latin typeface="Trebuchet MS" panose="020B0603020202020204" pitchFamily="34" charset="0"/>
              </a:rPr>
              <a:t>.</a:t>
            </a:r>
          </a:p>
          <a:p>
            <a:pPr algn="l">
              <a:lnSpc>
                <a:spcPct val="110000"/>
              </a:lnSpc>
              <a:spcBef>
                <a:spcPts val="300"/>
              </a:spcBef>
              <a:buClr>
                <a:srgbClr val="0B61FF"/>
              </a:buClr>
              <a:buSzPct val="120000"/>
            </a:pPr>
            <a:r>
              <a:rPr lang="en-US" altLang="zh-CN" sz="2400" b="0" i="0" dirty="0">
                <a:solidFill>
                  <a:srgbClr val="0C0D0E"/>
                </a:solidFill>
                <a:effectLst/>
                <a:latin typeface="Trebuchet MS" panose="020B0603020202020204" pitchFamily="34" charset="0"/>
              </a:rPr>
              <a:t> It is defined that</a:t>
            </a:r>
            <a:r>
              <a:rPr lang="en-US" altLang="zh-CN" sz="2400" b="0" i="1" dirty="0">
                <a:solidFill>
                  <a:srgbClr val="0C0D0E"/>
                </a:solidFill>
                <a:effectLst/>
                <a:latin typeface="Trebuchet MS" panose="020B0603020202020204" pitchFamily="34" charset="0"/>
              </a:rPr>
              <a:t> </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t>
            </a:r>
            <a:r>
              <a:rPr lang="en-US" altLang="zh-CN" sz="2400" b="0" dirty="0">
                <a:solidFill>
                  <a:srgbClr val="0C0D0E"/>
                </a:solidFill>
                <a:effectLst/>
                <a:latin typeface="Trebuchet MS" panose="020B0603020202020204" pitchFamily="34" charset="0"/>
              </a:rPr>
              <a:t>is</a:t>
            </a:r>
            <a:r>
              <a:rPr lang="en-US" altLang="zh-CN" sz="2400" b="0" i="0" dirty="0">
                <a:solidFill>
                  <a:srgbClr val="0C0D0E"/>
                </a:solidFill>
                <a:effectLst/>
                <a:latin typeface="Trebuchet MS" panose="020B0603020202020204" pitchFamily="34" charset="0"/>
              </a:rPr>
              <a:t> false if and only if p is true and q is false.</a:t>
            </a:r>
          </a:p>
          <a:p>
            <a:pPr marL="0" indent="0" algn="l">
              <a:lnSpc>
                <a:spcPct val="110000"/>
              </a:lnSpc>
              <a:buNone/>
            </a:pPr>
            <a:r>
              <a:rPr lang="en-US" altLang="zh-CN" sz="2400" b="1" dirty="0">
                <a:solidFill>
                  <a:srgbClr val="0C0D0E"/>
                </a:solidFill>
                <a:latin typeface="Trebuchet MS" panose="020B0603020202020204" pitchFamily="34" charset="0"/>
              </a:rPr>
              <a:t>      </a:t>
            </a:r>
            <a:r>
              <a:rPr lang="en-US" altLang="zh-CN" sz="2400" b="1" i="0" dirty="0">
                <a:solidFill>
                  <a:srgbClr val="0C0D0E"/>
                </a:solidFill>
                <a:effectLst/>
                <a:latin typeface="Trebuchet MS" panose="020B0603020202020204" pitchFamily="34" charset="0"/>
              </a:rPr>
              <a:t>Example</a:t>
            </a:r>
            <a:r>
              <a:rPr lang="en-US" altLang="zh-CN" sz="2400" b="0" i="0" dirty="0">
                <a:solidFill>
                  <a:srgbClr val="0C0D0E"/>
                </a:solidFill>
                <a:effectLst/>
                <a:latin typeface="Trebuchet MS" panose="020B0603020202020204" pitchFamily="34" charset="0"/>
              </a:rPr>
              <a:t>:</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"If the weather is good tomorrow, we will go on an outing."</a:t>
            </a:r>
            <a:br>
              <a:rPr lang="en-US" altLang="zh-CN" sz="2400" b="0" i="0"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br>
            <a:r>
              <a:rPr lang="en-US" altLang="zh-CN" sz="2400" b="0" i="0"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Let   </a:t>
            </a:r>
            <a:r>
              <a:rPr lang="en-US" altLang="zh-CN" sz="2400" b="1" i="1"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p</a:t>
            </a:r>
            <a:r>
              <a:rPr lang="en-US" altLang="zh-CN" sz="2400" b="0" i="0"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 The weather is good tomorrow, </a:t>
            </a:r>
          </a:p>
          <a:p>
            <a:pPr marL="0" indent="0" algn="l">
              <a:lnSpc>
                <a:spcPct val="110000"/>
              </a:lnSpc>
              <a:spcBef>
                <a:spcPts val="300"/>
              </a:spcBef>
              <a:buNone/>
            </a:pPr>
            <a:r>
              <a:rPr lang="en-US" altLang="zh-CN" sz="2400" dirty="0">
                <a:solidFill>
                  <a:srgbClr val="0C0D0E"/>
                </a:solidFill>
                <a:latin typeface="Trebuchet MS" panose="020B0603020202020204" pitchFamily="34" charset="0"/>
                <a:ea typeface="Tahoma" panose="020B0604030504040204" pitchFamily="34" charset="0"/>
                <a:cs typeface="Tahoma" panose="020B0604030504040204" pitchFamily="34" charset="0"/>
              </a:rPr>
              <a:t>      </a:t>
            </a:r>
            <a:r>
              <a:rPr lang="en-US" altLang="zh-CN" sz="2400" b="0" i="0"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  </a:t>
            </a:r>
            <a:r>
              <a:rPr lang="en-US" altLang="zh-CN" sz="2400" b="1" i="1"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q</a:t>
            </a:r>
            <a:r>
              <a:rPr lang="en-US" altLang="zh-CN" sz="2400" b="0" i="0" dirty="0">
                <a:solidFill>
                  <a:srgbClr val="0C0D0E"/>
                </a:solidFill>
                <a:effectLst/>
                <a:latin typeface="Trebuchet MS" panose="020B0603020202020204" pitchFamily="34" charset="0"/>
                <a:ea typeface="Tahoma" panose="020B0604030504040204" pitchFamily="34" charset="0"/>
                <a:cs typeface="Tahoma" panose="020B0604030504040204" pitchFamily="34" charset="0"/>
              </a:rPr>
              <a:t>: We will go on an outing.</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This can be formalized as </a:t>
            </a:r>
            <a:r>
              <a:rPr lang="en-US" altLang="zh-CN" sz="2400" b="1" i="1" dirty="0" err="1">
                <a:solidFill>
                  <a:srgbClr val="0C0D0E"/>
                </a:solidFill>
                <a:effectLst/>
                <a:latin typeface="Trebuchet MS" panose="020B0603020202020204" pitchFamily="34" charset="0"/>
              </a:rPr>
              <a:t>p</a:t>
            </a:r>
            <a:r>
              <a:rPr lang="en-US" altLang="zh-CN" sz="2400" b="0"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A42A88D3-6839-414F-AB02-8DC66EED9E16}"/>
              </a:ext>
            </a:extLst>
          </p:cNvPr>
          <p:cNvPicPr/>
          <p:nvPr/>
        </p:nvPicPr>
        <p:blipFill>
          <a:blip r:embed="rId5"/>
          <a:stretch>
            <a:fillRect/>
          </a:stretch>
        </p:blipFill>
        <p:spPr>
          <a:xfrm>
            <a:off x="869080" y="3509726"/>
            <a:ext cx="577850" cy="241300"/>
          </a:xfrm>
          <a:prstGeom prst="rect">
            <a:avLst/>
          </a:prstGeom>
        </p:spPr>
      </p:pic>
    </p:spTree>
    <p:extLst>
      <p:ext uri="{BB962C8B-B14F-4D97-AF65-F5344CB8AC3E}">
        <p14:creationId xmlns:p14="http://schemas.microsoft.com/office/powerpoint/2010/main" val="369381681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 calcmode="lin" valueType="num">
                                      <p:cBhvr additive="base">
                                        <p:cTn id="1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000" b="1" dirty="0">
                <a:effectLst/>
                <a:latin typeface="Times New Roman" panose="02020603050405020304" pitchFamily="18" charset="0"/>
                <a:ea typeface="宋体" panose="02010600030101010101" pitchFamily="2" charset="-122"/>
              </a:rPr>
              <a:t>(Cont'd)</a:t>
            </a:r>
            <a:endParaRPr lang="zh-CN" altLang="en-US" sz="20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10217567" cy="5277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spcBef>
                <a:spcPts val="3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Logical relationship of </a:t>
            </a:r>
            <a:r>
              <a:rPr lang="en-US" altLang="zh-CN" sz="2400" b="1" i="1" dirty="0" err="1">
                <a:solidFill>
                  <a:srgbClr val="0C0D0E"/>
                </a:solidFill>
                <a:latin typeface="Trebuchet MS" panose="020B0603020202020204" pitchFamily="34" charset="0"/>
              </a:rPr>
              <a:t>p</a:t>
            </a:r>
            <a:r>
              <a:rPr lang="en-US" altLang="zh-CN" sz="2400" b="1" dirty="0" err="1">
                <a:solidFill>
                  <a:srgbClr val="0C0D0E"/>
                </a:solidFill>
                <a:latin typeface="Trebuchet MS" panose="020B0603020202020204" pitchFamily="34" charset="0"/>
              </a:rPr>
              <a:t>→</a:t>
            </a:r>
            <a:r>
              <a:rPr lang="en-US" altLang="zh-CN" sz="2400" b="1" i="1" dirty="0" err="1">
                <a:solidFill>
                  <a:srgbClr val="0C0D0E"/>
                </a:solidFill>
                <a:latin typeface="Trebuchet MS" panose="020B0603020202020204" pitchFamily="34" charset="0"/>
              </a:rPr>
              <a:t>q</a:t>
            </a:r>
            <a:r>
              <a:rPr lang="en-US" altLang="zh-CN" sz="2400" b="1" dirty="0">
                <a:solidFill>
                  <a:srgbClr val="0C0D0E"/>
                </a:solidFill>
                <a:latin typeface="Trebuchet MS" panose="020B0603020202020204" pitchFamily="34" charset="0"/>
              </a:rPr>
              <a:t>:</a:t>
            </a:r>
            <a:br>
              <a:rPr lang="en-US" altLang="zh-CN" sz="2400" b="0" i="0" dirty="0">
                <a:solidFill>
                  <a:srgbClr val="0C0D0E"/>
                </a:solidFill>
                <a:effectLst/>
                <a:latin typeface="Trebuchet MS" panose="020B0603020202020204" pitchFamily="34" charset="0"/>
              </a:rPr>
            </a:b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a necessary condition for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a sufficient condition for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algn="l">
              <a:lnSpc>
                <a:spcPct val="100000"/>
              </a:lnSpc>
              <a:spcBef>
                <a:spcPts val="6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Various ways to express "If </a:t>
            </a:r>
            <a:r>
              <a:rPr lang="en-US" altLang="zh-CN" sz="2400" b="1" i="1" dirty="0">
                <a:solidFill>
                  <a:srgbClr val="0C0D0E"/>
                </a:solidFill>
                <a:latin typeface="Trebuchet MS" panose="020B0603020202020204" pitchFamily="34" charset="0"/>
              </a:rPr>
              <a:t>p</a:t>
            </a:r>
            <a:r>
              <a:rPr lang="en-US" altLang="zh-CN" sz="2400" b="1" dirty="0">
                <a:solidFill>
                  <a:srgbClr val="0C0D0E"/>
                </a:solidFill>
                <a:latin typeface="Trebuchet MS" panose="020B0603020202020204" pitchFamily="34" charset="0"/>
              </a:rPr>
              <a:t>, then </a:t>
            </a:r>
            <a:r>
              <a:rPr lang="en-US" altLang="zh-CN" sz="2400" b="1" i="1" dirty="0">
                <a:solidFill>
                  <a:srgbClr val="0C0D0E"/>
                </a:solidFill>
                <a:latin typeface="Trebuchet MS" panose="020B0603020202020204" pitchFamily="34" charset="0"/>
              </a:rPr>
              <a:t>q</a:t>
            </a:r>
            <a:r>
              <a:rPr lang="en-US" altLang="zh-CN" sz="2400" b="1" dirty="0">
                <a:solidFill>
                  <a:srgbClr val="0C0D0E"/>
                </a:solidFill>
                <a:latin typeface="Trebuchet MS" panose="020B0603020202020204" pitchFamily="34" charset="0"/>
              </a:rPr>
              <a:t>" (all having the same truth value as </a:t>
            </a:r>
            <a:r>
              <a:rPr lang="en-US" altLang="zh-CN" sz="2400" b="1" i="1" dirty="0" err="1">
                <a:solidFill>
                  <a:srgbClr val="0C0D0E"/>
                </a:solidFill>
                <a:latin typeface="Trebuchet MS" panose="020B0603020202020204" pitchFamily="34" charset="0"/>
              </a:rPr>
              <a:t>p</a:t>
            </a:r>
            <a:r>
              <a:rPr lang="en-US" altLang="zh-CN" sz="2400" b="1" dirty="0" err="1">
                <a:solidFill>
                  <a:srgbClr val="0C0D0E"/>
                </a:solidFill>
                <a:latin typeface="Trebuchet MS" panose="020B0603020202020204" pitchFamily="34" charset="0"/>
              </a:rPr>
              <a:t>→</a:t>
            </a:r>
            <a:r>
              <a:rPr lang="en-US" altLang="zh-CN" sz="2400" b="1" i="1" dirty="0" err="1">
                <a:solidFill>
                  <a:srgbClr val="0C0D0E"/>
                </a:solidFill>
                <a:latin typeface="Trebuchet MS" panose="020B0603020202020204" pitchFamily="34" charset="0"/>
              </a:rPr>
              <a:t>q</a:t>
            </a:r>
            <a:r>
              <a:rPr lang="en-US" altLang="zh-CN" sz="2400" b="1" dirty="0">
                <a:solidFill>
                  <a:srgbClr val="0C0D0E"/>
                </a:solidFill>
                <a:latin typeface="Trebuchet MS" panose="020B0603020202020204" pitchFamily="34" charset="0"/>
              </a:rPr>
              <a:t>):</a:t>
            </a:r>
          </a:p>
          <a:p>
            <a:pPr marL="363538" indent="0" algn="l">
              <a:lnSpc>
                <a:spcPct val="100000"/>
              </a:lnSpc>
              <a:spcBef>
                <a:spcPts val="600"/>
              </a:spcBef>
              <a:buNone/>
            </a:pPr>
            <a:r>
              <a:rPr lang="en-US" altLang="zh-CN" sz="2400" dirty="0">
                <a:solidFill>
                  <a:srgbClr val="0C0D0E"/>
                </a:solidFill>
                <a:latin typeface="Trebuchet MS" panose="020B0603020202020204" pitchFamily="34" charset="0"/>
              </a:rPr>
              <a:t>(1)</a:t>
            </a:r>
            <a:r>
              <a:rPr lang="zh-CN" altLang="en-US" sz="24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If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then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marL="363538" indent="0" algn="l">
              <a:lnSpc>
                <a:spcPct val="100000"/>
              </a:lnSpc>
              <a:spcBef>
                <a:spcPts val="600"/>
              </a:spcBef>
              <a:buNone/>
            </a:pPr>
            <a:r>
              <a:rPr lang="en-US" altLang="zh-CN" sz="2400" dirty="0">
                <a:solidFill>
                  <a:srgbClr val="0C0D0E"/>
                </a:solidFill>
                <a:latin typeface="Trebuchet MS" panose="020B0603020202020204" pitchFamily="34" charset="0"/>
              </a:rPr>
              <a:t>(2)</a:t>
            </a:r>
            <a:r>
              <a:rPr lang="zh-CN" altLang="en-US" sz="24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If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just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(Emphasizes that the existence of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a necessary condition for the existence of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marL="363538" indent="0" algn="l">
              <a:lnSpc>
                <a:spcPct val="100000"/>
              </a:lnSpc>
              <a:spcBef>
                <a:spcPts val="600"/>
              </a:spcBef>
              <a:buNone/>
            </a:pPr>
            <a:r>
              <a:rPr lang="en-US" altLang="zh-CN" sz="2400" dirty="0">
                <a:solidFill>
                  <a:srgbClr val="0C0D0E"/>
                </a:solidFill>
                <a:latin typeface="Trebuchet MS" panose="020B0603020202020204" pitchFamily="34" charset="0"/>
              </a:rPr>
              <a:t>(3)</a:t>
            </a:r>
            <a:r>
              <a:rPr lang="zh-CN" altLang="en-US" sz="2400" dirty="0">
                <a:solidFill>
                  <a:srgbClr val="0C0D0E"/>
                </a:solidFill>
                <a:latin typeface="Trebuchet MS" panose="020B0603020202020204" pitchFamily="34" charset="0"/>
              </a:rPr>
              <a: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only if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(Means that for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to be true,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must also be true.)</a:t>
            </a:r>
          </a:p>
          <a:p>
            <a:pPr marL="363538" indent="0" algn="l">
              <a:lnSpc>
                <a:spcPct val="100000"/>
              </a:lnSpc>
              <a:spcBef>
                <a:spcPts val="600"/>
              </a:spcBef>
              <a:buNone/>
            </a:pPr>
            <a:r>
              <a:rPr lang="en-US" altLang="zh-CN" sz="2400" dirty="0">
                <a:solidFill>
                  <a:srgbClr val="0C0D0E"/>
                </a:solidFill>
                <a:latin typeface="Trebuchet MS" panose="020B0603020202020204" pitchFamily="34" charset="0"/>
              </a:rPr>
              <a:t>(4)</a:t>
            </a:r>
            <a:r>
              <a:rPr lang="zh-CN" altLang="en-US" sz="24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Only if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then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(Indicates that the truth of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a necessary condition for the truth of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a:t>
            </a:r>
          </a:p>
          <a:p>
            <a:pPr marL="363538" indent="0" algn="l">
              <a:lnSpc>
                <a:spcPct val="100000"/>
              </a:lnSpc>
              <a:spcBef>
                <a:spcPts val="600"/>
              </a:spcBef>
              <a:buNone/>
            </a:pPr>
            <a:r>
              <a:rPr lang="en-US" altLang="zh-CN" sz="2400" dirty="0">
                <a:latin typeface="Trebuchet MS" panose="020B0603020202020204" pitchFamily="34" charset="0"/>
              </a:rPr>
              <a:t>(5)</a:t>
            </a:r>
            <a:r>
              <a:rPr lang="zh-CN" altLang="en-US" sz="2400" dirty="0">
                <a:latin typeface="Trebuchet MS" panose="020B0603020202020204" pitchFamily="34" charset="0"/>
              </a:rPr>
              <a:t> </a:t>
            </a:r>
            <a:r>
              <a:rPr lang="en-US" altLang="zh-CN" sz="2400" b="0" i="0" dirty="0">
                <a:solidFill>
                  <a:srgbClr val="0C0D0E"/>
                </a:solidFill>
                <a:effectLst/>
                <a:latin typeface="Trebuchet MS" panose="020B0603020202020204" pitchFamily="34" charset="0"/>
              </a:rPr>
              <a:t>Unless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not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(If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not the case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false), then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does not hold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false).</a:t>
            </a:r>
          </a:p>
          <a:p>
            <a:pPr eaLnBrk="1" hangingPunct="1">
              <a:lnSpc>
                <a:spcPct val="100000"/>
              </a:lnSpc>
              <a:spcBef>
                <a:spcPts val="300"/>
              </a:spcBef>
              <a:buFontTx/>
              <a:buNone/>
            </a:pPr>
            <a:endParaRPr lang="zh-CN" altLang="en-US" sz="2400" b="1" dirty="0"/>
          </a:p>
        </p:txBody>
      </p:sp>
    </p:spTree>
    <p:extLst>
      <p:ext uri="{BB962C8B-B14F-4D97-AF65-F5344CB8AC3E}">
        <p14:creationId xmlns:p14="http://schemas.microsoft.com/office/powerpoint/2010/main" val="4279185898"/>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1000"/>
                                        <p:tgtEl>
                                          <p:spTgt spid="8">
                                            <p:txEl>
                                              <p:pRg st="6" end="6"/>
                                            </p:txEl>
                                          </p:spTgt>
                                        </p:tgtEl>
                                      </p:cBhvr>
                                    </p:animEffect>
                                    <p:anim calcmode="lin" valueType="num">
                                      <p:cBhvr>
                                        <p:cTn id="4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3746"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b="1" dirty="0">
                <a:effectLst/>
                <a:latin typeface="Times New Roman" panose="02020603050405020304" pitchFamily="18" charset="0"/>
                <a:ea typeface="宋体" panose="02010600030101010101" pitchFamily="2" charset="-122"/>
              </a:rPr>
              <a:t>(Cont'd)</a:t>
            </a:r>
            <a:endParaRPr lang="zh-CN" altLang="en-US"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71052"/>
            <a:ext cx="10610133" cy="54816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500"/>
              </a:spcBef>
              <a:buClr>
                <a:srgbClr val="0B3B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Truth and Falsity of the Implication </a:t>
            </a:r>
            <a:r>
              <a:rPr lang="en-US" altLang="zh-CN" sz="2400" b="1" i="1" dirty="0" err="1">
                <a:solidFill>
                  <a:srgbClr val="0C0D0E"/>
                </a:solidFill>
                <a:latin typeface="Trebuchet MS" panose="020B0603020202020204" pitchFamily="34" charset="0"/>
              </a:rPr>
              <a:t>p</a:t>
            </a:r>
            <a:r>
              <a:rPr lang="en-US" altLang="zh-CN" sz="2400" b="1" dirty="0" err="1">
                <a:solidFill>
                  <a:srgbClr val="0C0D0E"/>
                </a:solidFill>
                <a:latin typeface="Trebuchet MS" panose="020B0603020202020204" pitchFamily="34" charset="0"/>
              </a:rPr>
              <a:t>→</a:t>
            </a:r>
            <a:r>
              <a:rPr lang="en-US" altLang="zh-CN" sz="2400" b="1" i="1" dirty="0" err="1">
                <a:solidFill>
                  <a:srgbClr val="0C0D0E"/>
                </a:solidFill>
                <a:latin typeface="Trebuchet MS" panose="020B0603020202020204" pitchFamily="34" charset="0"/>
              </a:rPr>
              <a:t>q</a:t>
            </a:r>
            <a:r>
              <a:rPr lang="en-US" altLang="zh-CN" sz="2400" b="1" dirty="0">
                <a:solidFill>
                  <a:srgbClr val="0C0D0E"/>
                </a:solidFill>
                <a:latin typeface="Trebuchet MS" panose="020B0603020202020204" pitchFamily="34" charset="0"/>
              </a:rPr>
              <a:t>:</a:t>
            </a:r>
          </a:p>
          <a:p>
            <a:pPr>
              <a:lnSpc>
                <a:spcPct val="110000"/>
              </a:lnSpc>
              <a:spcBef>
                <a:spcPts val="500"/>
              </a:spcBef>
              <a:buClr>
                <a:srgbClr val="0B3BFF"/>
              </a:buClr>
              <a:buSzPct val="120000"/>
            </a:pPr>
            <a:r>
              <a:rPr lang="en-US" altLang="zh-CN" sz="2400" b="0" i="0" dirty="0">
                <a:solidFill>
                  <a:srgbClr val="0C0D0E"/>
                </a:solidFill>
                <a:effectLst/>
                <a:latin typeface="Trebuchet MS" panose="020B0603020202020204" pitchFamily="34" charset="0"/>
              </a:rPr>
              <a:t>When </a:t>
            </a:r>
            <a:r>
              <a:rPr lang="en-US" altLang="zh-CN" sz="240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true, </a:t>
            </a:r>
            <a:r>
              <a:rPr lang="en-US" altLang="zh-CN" sz="240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must also be true for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to be "</a:t>
            </a:r>
            <a:r>
              <a:rPr lang="en-US" altLang="zh-CN" sz="2400" b="1" i="0" dirty="0">
                <a:solidFill>
                  <a:srgbClr val="0C0D0E"/>
                </a:solidFill>
                <a:effectLst/>
                <a:latin typeface="Trebuchet MS" panose="020B0603020202020204" pitchFamily="34" charset="0"/>
              </a:rPr>
              <a:t>true</a:t>
            </a:r>
            <a:r>
              <a:rPr lang="en-US" altLang="zh-CN" sz="2400" dirty="0">
                <a:solidFill>
                  <a:srgbClr val="0C0D0E"/>
                </a:solidFill>
                <a:latin typeface="Trebuchet MS" panose="020B0603020202020204" pitchFamily="34" charset="0"/>
              </a:rPr>
              <a:t>".</a:t>
            </a:r>
            <a:endParaRPr lang="en-US" altLang="zh-CN" sz="2400" b="0" i="0" dirty="0">
              <a:solidFill>
                <a:srgbClr val="0C0D0E"/>
              </a:solidFill>
              <a:effectLst/>
              <a:latin typeface="Trebuchet MS" panose="020B0603020202020204" pitchFamily="34" charset="0"/>
            </a:endParaRPr>
          </a:p>
          <a:p>
            <a:pPr>
              <a:lnSpc>
                <a:spcPct val="110000"/>
              </a:lnSpc>
              <a:spcBef>
                <a:spcPts val="500"/>
              </a:spcBef>
              <a:buClr>
                <a:srgbClr val="0B3BFF"/>
              </a:buClr>
              <a:buSzPct val="120000"/>
            </a:pPr>
            <a:r>
              <a:rPr lang="en-US" altLang="zh-CN" sz="2400" b="0" i="0" dirty="0">
                <a:solidFill>
                  <a:srgbClr val="0C0D0E"/>
                </a:solidFill>
                <a:effectLst/>
                <a:latin typeface="Trebuchet MS" panose="020B0603020202020204" pitchFamily="34" charset="0"/>
              </a:rPr>
              <a:t>When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true and </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false,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a:t>
            </a:r>
            <a:r>
              <a:rPr lang="en-US" altLang="zh-CN" sz="2400" b="1" i="0" dirty="0">
                <a:solidFill>
                  <a:srgbClr val="0C0D0E"/>
                </a:solidFill>
                <a:effectLst/>
                <a:latin typeface="Trebuchet MS" panose="020B0603020202020204" pitchFamily="34" charset="0"/>
              </a:rPr>
              <a:t>false</a:t>
            </a:r>
            <a:r>
              <a:rPr lang="en-US" altLang="zh-CN" sz="2400" dirty="0">
                <a:solidFill>
                  <a:srgbClr val="0C0D0E"/>
                </a:solidFill>
                <a:latin typeface="Trebuchet MS" panose="020B0603020202020204" pitchFamily="34" charset="0"/>
              </a:rPr>
              <a:t>".</a:t>
            </a:r>
            <a:endParaRPr lang="en-US" altLang="zh-CN" sz="2400" b="0" i="0" dirty="0">
              <a:solidFill>
                <a:srgbClr val="0C0D0E"/>
              </a:solidFill>
              <a:effectLst/>
              <a:latin typeface="Trebuchet MS" panose="020B0603020202020204" pitchFamily="34" charset="0"/>
            </a:endParaRPr>
          </a:p>
          <a:p>
            <a:pPr>
              <a:lnSpc>
                <a:spcPct val="110000"/>
              </a:lnSpc>
              <a:spcBef>
                <a:spcPts val="500"/>
              </a:spcBef>
              <a:buClr>
                <a:srgbClr val="0B3BFF"/>
              </a:buClr>
              <a:buSzPct val="120000"/>
            </a:pPr>
            <a:r>
              <a:rPr lang="en-US" altLang="zh-CN" sz="2400" b="0" i="0" dirty="0">
                <a:solidFill>
                  <a:srgbClr val="0C0D0E"/>
                </a:solidFill>
                <a:effectLst/>
                <a:latin typeface="Trebuchet MS" panose="020B0603020202020204" pitchFamily="34" charset="0"/>
              </a:rPr>
              <a:t>When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false, the implication does not impose any restrictions on the truth value of </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and </a:t>
            </a:r>
            <a:r>
              <a:rPr lang="en-US" altLang="zh-CN" sz="2400" b="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a:t>
            </a:r>
            <a:r>
              <a:rPr lang="en-US" altLang="zh-CN" sz="2400" b="1" dirty="0">
                <a:solidFill>
                  <a:srgbClr val="0C0D0E"/>
                </a:solidFill>
                <a:effectLst/>
                <a:latin typeface="Trebuchet MS" panose="020B0603020202020204" pitchFamily="34" charset="0"/>
              </a:rPr>
              <a:t>true</a:t>
            </a:r>
            <a:r>
              <a:rPr lang="en-US" altLang="zh-CN" sz="2400" dirty="0">
                <a:solidFill>
                  <a:srgbClr val="0C0D0E"/>
                </a:solidFill>
                <a:latin typeface="Trebuchet MS" panose="020B0603020202020204" pitchFamily="34" charset="0"/>
              </a:rPr>
              <a:t>".</a:t>
            </a:r>
            <a:endParaRPr lang="en-US" altLang="zh-CN" sz="2400" b="0" i="0" dirty="0">
              <a:solidFill>
                <a:srgbClr val="0C0D0E"/>
              </a:solidFill>
              <a:effectLst/>
              <a:latin typeface="Trebuchet MS" panose="020B0603020202020204" pitchFamily="34" charset="0"/>
            </a:endParaRPr>
          </a:p>
          <a:p>
            <a:pPr marL="0" indent="0" algn="l">
              <a:lnSpc>
                <a:spcPct val="110000"/>
              </a:lnSpc>
              <a:spcBef>
                <a:spcPts val="500"/>
              </a:spcBef>
              <a:buNone/>
            </a:pPr>
            <a:r>
              <a:rPr lang="en-US" altLang="zh-CN" sz="2400" b="1" i="0" dirty="0">
                <a:solidFill>
                  <a:srgbClr val="0C0D0E"/>
                </a:solidFill>
                <a:effectLst/>
                <a:latin typeface="Trebuchet MS" panose="020B0603020202020204" pitchFamily="34" charset="0"/>
              </a:rPr>
              <a:t>      Example:</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Let </a:t>
            </a:r>
            <a:r>
              <a:rPr lang="en-US" altLang="zh-CN" sz="2400"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be defined as "It is raining today," and </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be defined as "The ground is wet." The implication</a:t>
            </a:r>
            <a:r>
              <a:rPr lang="en-US" altLang="zh-CN" sz="2400" b="0" i="1" dirty="0">
                <a:solidFill>
                  <a:srgbClr val="0C0D0E"/>
                </a:solidFill>
                <a:effectLst/>
                <a:latin typeface="Trebuchet MS" panose="020B0603020202020204" pitchFamily="34" charset="0"/>
              </a:rPr>
              <a:t> p</a:t>
            </a:r>
            <a:r>
              <a:rPr lang="en-US" altLang="zh-CN" sz="2400" b="0" i="0" dirty="0">
                <a:solidFill>
                  <a:srgbClr val="0C0D0E"/>
                </a:solidFill>
                <a:effectLst/>
                <a:latin typeface="Trebuchet MS" panose="020B0603020202020204" pitchFamily="34" charset="0"/>
              </a:rPr>
              <a:t>→</a:t>
            </a:r>
            <a:r>
              <a:rPr lang="en-US" altLang="zh-CN" sz="2400" b="0"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can be described as "If it rains today, then the ground will be wet."</a:t>
            </a:r>
          </a:p>
          <a:p>
            <a:pPr>
              <a:lnSpc>
                <a:spcPct val="110000"/>
              </a:lnSpc>
              <a:spcBef>
                <a:spcPts val="500"/>
              </a:spcBef>
              <a:buClr>
                <a:srgbClr val="0B3BFF"/>
              </a:buClr>
              <a:buSzPct val="120000"/>
            </a:pPr>
            <a:r>
              <a:rPr lang="en-US" altLang="zh-CN" sz="2400" dirty="0">
                <a:solidFill>
                  <a:srgbClr val="0C0D0E"/>
                </a:solidFill>
                <a:latin typeface="Trebuchet MS" panose="020B0603020202020204" pitchFamily="34" charset="0"/>
              </a:rPr>
              <a:t>In this case, the implication is </a:t>
            </a:r>
            <a:r>
              <a:rPr lang="en-US" altLang="zh-CN" sz="2400" b="1" dirty="0">
                <a:solidFill>
                  <a:srgbClr val="0C0D0E"/>
                </a:solidFill>
                <a:latin typeface="Trebuchet MS" panose="020B0603020202020204" pitchFamily="34" charset="0"/>
              </a:rPr>
              <a:t>only false </a:t>
            </a:r>
            <a:r>
              <a:rPr lang="en-US" altLang="zh-CN" sz="2400" dirty="0">
                <a:solidFill>
                  <a:srgbClr val="0C0D0E"/>
                </a:solidFill>
                <a:latin typeface="Trebuchet MS" panose="020B0603020202020204" pitchFamily="34" charset="0"/>
              </a:rPr>
              <a:t>if it rains (p is true) and the ground is not wet (q is false). In all other scenarios (such as it not raining, or it raining and the ground being wet), the implication is true.</a:t>
            </a:r>
          </a:p>
          <a:p>
            <a:pPr>
              <a:spcBef>
                <a:spcPct val="80000"/>
              </a:spcBef>
              <a:buNone/>
            </a:pPr>
            <a:endParaRPr lang="en-US" altLang="zh-CN" b="1" dirty="0"/>
          </a:p>
        </p:txBody>
      </p:sp>
      <p:pic>
        <p:nvPicPr>
          <p:cNvPr id="9" name="图片 8">
            <a:extLst>
              <a:ext uri="{FF2B5EF4-FFF2-40B4-BE49-F238E27FC236}">
                <a16:creationId xmlns:a16="http://schemas.microsoft.com/office/drawing/2014/main" id="{69BCC18A-8573-4B39-ADBE-06B6D50A8A02}"/>
              </a:ext>
            </a:extLst>
          </p:cNvPr>
          <p:cNvPicPr/>
          <p:nvPr/>
        </p:nvPicPr>
        <p:blipFill>
          <a:blip r:embed="rId5"/>
          <a:stretch>
            <a:fillRect/>
          </a:stretch>
        </p:blipFill>
        <p:spPr>
          <a:xfrm>
            <a:off x="869080" y="3266657"/>
            <a:ext cx="577850" cy="241300"/>
          </a:xfrm>
          <a:prstGeom prst="rect">
            <a:avLst/>
          </a:prstGeom>
        </p:spPr>
      </p:pic>
    </p:spTree>
    <p:extLst>
      <p:ext uri="{BB962C8B-B14F-4D97-AF65-F5344CB8AC3E}">
        <p14:creationId xmlns:p14="http://schemas.microsoft.com/office/powerpoint/2010/main" val="844554876"/>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000" b="1" dirty="0">
                <a:effectLst/>
                <a:latin typeface="Times New Roman" panose="02020603050405020304" pitchFamily="18" charset="0"/>
                <a:ea typeface="宋体" panose="02010600030101010101" pitchFamily="2" charset="-122"/>
              </a:rPr>
              <a:t>(</a:t>
            </a:r>
            <a:r>
              <a:rPr lang="en-US" altLang="zh-CN" sz="2000" b="1" dirty="0">
                <a:solidFill>
                  <a:schemeClr val="accent2"/>
                </a:solidFill>
                <a:effectLst/>
                <a:latin typeface="Trebuchet MS" panose="020B0603020202020204" pitchFamily="34" charset="0"/>
                <a:ea typeface="宋体" panose="02010600030101010101" pitchFamily="2" charset="-122"/>
              </a:rPr>
              <a:t>e.g.</a:t>
            </a:r>
            <a:r>
              <a:rPr lang="en-US" altLang="zh-CN" sz="2000" b="1" dirty="0">
                <a:effectLst/>
                <a:latin typeface="Times New Roman" panose="02020603050405020304" pitchFamily="18" charset="0"/>
                <a:ea typeface="宋体" panose="02010600030101010101" pitchFamily="2" charset="-122"/>
              </a:rPr>
              <a:t>)</a:t>
            </a:r>
            <a:endParaRPr lang="zh-CN" altLang="en-US" sz="20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839001"/>
            <a:ext cx="9669148" cy="5230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zh-CN" altLang="en-US" sz="2400" b="1" dirty="0">
              <a:latin typeface="Trebuchet MS" panose="020B0603020202020204" pitchFamily="34" charset="0"/>
            </a:endParaRPr>
          </a:p>
        </p:txBody>
      </p:sp>
      <p:sp>
        <p:nvSpPr>
          <p:cNvPr id="10" name="Rectangle 5">
            <a:extLst>
              <a:ext uri="{FF2B5EF4-FFF2-40B4-BE49-F238E27FC236}">
                <a16:creationId xmlns:a16="http://schemas.microsoft.com/office/drawing/2014/main" id="{B8293C6A-6B35-4E87-BC2A-6E72F4C61F9C}"/>
              </a:ext>
            </a:extLst>
          </p:cNvPr>
          <p:cNvSpPr>
            <a:spLocks noGrp="1" noChangeArrowheads="1"/>
          </p:cNvSpPr>
          <p:nvPr>
            <p:ph idx="1"/>
          </p:nvPr>
        </p:nvSpPr>
        <p:spPr>
          <a:xfrm>
            <a:off x="864510" y="865556"/>
            <a:ext cx="7816504" cy="4875487"/>
          </a:xfrm>
        </p:spPr>
        <p:txBody>
          <a:bodyPr>
            <a:noAutofit/>
          </a:bodyPr>
          <a:lstStyle/>
          <a:p>
            <a:pPr algn="just">
              <a:buNone/>
            </a:pPr>
            <a:r>
              <a:rPr lang="en-US" altLang="zh-CN" b="0" i="0" dirty="0">
                <a:solidFill>
                  <a:srgbClr val="0C0D0E"/>
                </a:solidFill>
                <a:effectLst/>
              </a:rPr>
              <a:t>       </a:t>
            </a:r>
            <a:r>
              <a:rPr lang="en-US" altLang="zh-CN" b="1" dirty="0">
                <a:solidFill>
                  <a:srgbClr val="0C0D0E"/>
                </a:solidFill>
              </a:rPr>
              <a:t>Example:</a:t>
            </a:r>
            <a:endParaRPr lang="en-US" altLang="zh-CN" b="0" i="0" dirty="0">
              <a:solidFill>
                <a:srgbClr val="0C0D0E"/>
              </a:solidFill>
              <a:effectLst/>
            </a:endParaRPr>
          </a:p>
          <a:p>
            <a:pPr eaLnBrk="1" hangingPunct="1">
              <a:buFontTx/>
              <a:buNone/>
            </a:pPr>
            <a:r>
              <a:rPr lang="en-US" altLang="zh-CN" b="0" i="0" dirty="0">
                <a:solidFill>
                  <a:srgbClr val="0C0D0E"/>
                </a:solidFill>
                <a:effectLst/>
              </a:rPr>
              <a:t>Let </a:t>
            </a:r>
            <a:r>
              <a:rPr lang="en-US" altLang="zh-CN" b="1" i="1" dirty="0">
                <a:solidFill>
                  <a:srgbClr val="0C0D0E"/>
                </a:solidFill>
                <a:effectLst/>
              </a:rPr>
              <a:t>p</a:t>
            </a:r>
            <a:r>
              <a:rPr lang="en-US" altLang="zh-CN" b="0" i="0" dirty="0">
                <a:solidFill>
                  <a:srgbClr val="0C0D0E"/>
                </a:solidFill>
                <a:effectLst/>
              </a:rPr>
              <a:t>: It is cold</a:t>
            </a:r>
            <a:r>
              <a:rPr lang="zh-CN" altLang="en-US" b="1" dirty="0"/>
              <a:t>, </a:t>
            </a:r>
            <a:r>
              <a:rPr lang="en-US" altLang="zh-CN" b="0" i="0" dirty="0">
                <a:solidFill>
                  <a:srgbClr val="0C0D0E"/>
                </a:solidFill>
                <a:effectLst/>
              </a:rPr>
              <a:t>Let </a:t>
            </a:r>
            <a:r>
              <a:rPr lang="en-US" altLang="zh-CN" b="1" i="1" dirty="0">
                <a:solidFill>
                  <a:srgbClr val="0C0D0E"/>
                </a:solidFill>
                <a:effectLst/>
              </a:rPr>
              <a:t>q</a:t>
            </a:r>
            <a:r>
              <a:rPr lang="en-US" altLang="zh-CN" b="0" i="0" dirty="0">
                <a:solidFill>
                  <a:srgbClr val="0C0D0E"/>
                </a:solidFill>
                <a:effectLst/>
              </a:rPr>
              <a:t>: Wang wears a down jacket.</a:t>
            </a:r>
            <a:r>
              <a:rPr lang="zh-CN" altLang="en-US" b="1" dirty="0"/>
              <a:t>，</a:t>
            </a:r>
          </a:p>
          <a:p>
            <a:pPr marL="0" indent="0">
              <a:buNone/>
            </a:pPr>
            <a:r>
              <a:rPr lang="en-US" altLang="zh-CN" dirty="0"/>
              <a:t>Here’s the translation of the propositions with logical symbolism:</a:t>
            </a:r>
          </a:p>
          <a:p>
            <a:pPr marL="717550" indent="-450850" eaLnBrk="1" hangingPunct="1">
              <a:buFontTx/>
              <a:buNone/>
            </a:pPr>
            <a:r>
              <a:rPr lang="zh-CN" altLang="en-US" dirty="0"/>
              <a:t>(1) </a:t>
            </a:r>
            <a:r>
              <a:rPr lang="en-US" altLang="zh-CN" dirty="0"/>
              <a:t>As long as it is cold, Xiao Wang will wear a down jacket.</a:t>
            </a:r>
            <a:endParaRPr lang="zh-CN" altLang="en-US" dirty="0"/>
          </a:p>
          <a:p>
            <a:pPr marL="717550" indent="-450850">
              <a:buNone/>
            </a:pPr>
            <a:r>
              <a:rPr lang="zh-CN" altLang="en-US" dirty="0"/>
              <a:t>(2) </a:t>
            </a:r>
            <a:r>
              <a:rPr lang="en-US" altLang="zh-CN" dirty="0"/>
              <a:t>Because it is cold, Xiao Wang wears a down jacket.</a:t>
            </a:r>
            <a:endParaRPr lang="zh-CN" altLang="en-US" dirty="0"/>
          </a:p>
          <a:p>
            <a:pPr marL="717550" indent="-450850">
              <a:buNone/>
            </a:pPr>
            <a:r>
              <a:rPr lang="zh-CN" altLang="en-US" dirty="0"/>
              <a:t>(3) </a:t>
            </a:r>
            <a:r>
              <a:rPr lang="en-US" altLang="zh-CN" dirty="0"/>
              <a:t>If Xiao Wang does not wear a down jacket, then it is not cold.</a:t>
            </a:r>
            <a:endParaRPr lang="zh-CN" altLang="en-US" dirty="0"/>
          </a:p>
          <a:p>
            <a:pPr marL="717550" indent="-450850">
              <a:buNone/>
            </a:pPr>
            <a:r>
              <a:rPr lang="zh-CN" altLang="en-US" dirty="0"/>
              <a:t>(4) </a:t>
            </a:r>
            <a:r>
              <a:rPr lang="en-US" altLang="zh-CN" dirty="0"/>
              <a:t>Only if it is cold, Xiao Wang will wear a down jacket</a:t>
            </a:r>
            <a:r>
              <a:rPr lang="zh-CN" altLang="en-US" dirty="0"/>
              <a:t>.</a:t>
            </a:r>
            <a:endParaRPr lang="zh-CN" altLang="en-US" sz="2400" b="1" dirty="0"/>
          </a:p>
        </p:txBody>
      </p:sp>
      <p:sp>
        <p:nvSpPr>
          <p:cNvPr id="11" name="Text Box 7">
            <a:extLst>
              <a:ext uri="{FF2B5EF4-FFF2-40B4-BE49-F238E27FC236}">
                <a16:creationId xmlns:a16="http://schemas.microsoft.com/office/drawing/2014/main" id="{1E5693AB-BB10-440F-851D-7C586C63B91C}"/>
              </a:ext>
            </a:extLst>
          </p:cNvPr>
          <p:cNvSpPr txBox="1">
            <a:spLocks noChangeArrowheads="1"/>
          </p:cNvSpPr>
          <p:nvPr/>
        </p:nvSpPr>
        <p:spPr bwMode="auto">
          <a:xfrm>
            <a:off x="8761996" y="255091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i="1" dirty="0" err="1">
                <a:solidFill>
                  <a:srgbClr val="00B0F0"/>
                </a:solidFill>
                <a:latin typeface="Trebuchet MS" panose="020B0603020202020204" pitchFamily="34" charset="0"/>
                <a:ea typeface="宋体" panose="02010600030101010101" pitchFamily="2" charset="-122"/>
              </a:rPr>
              <a:t>p</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q</a:t>
            </a:r>
            <a:endParaRPr lang="en-US" altLang="zh-CN" sz="2400" b="1" i="1" dirty="0">
              <a:solidFill>
                <a:srgbClr val="00B0F0"/>
              </a:solidFill>
              <a:latin typeface="Trebuchet MS" panose="020B0603020202020204" pitchFamily="34" charset="0"/>
              <a:ea typeface="宋体" panose="02010600030101010101" pitchFamily="2" charset="-122"/>
            </a:endParaRPr>
          </a:p>
        </p:txBody>
      </p:sp>
      <p:sp>
        <p:nvSpPr>
          <p:cNvPr id="12" name="Text Box 8">
            <a:extLst>
              <a:ext uri="{FF2B5EF4-FFF2-40B4-BE49-F238E27FC236}">
                <a16:creationId xmlns:a16="http://schemas.microsoft.com/office/drawing/2014/main" id="{F42FA53F-BCF5-4940-B6E8-910C0F4DFB33}"/>
              </a:ext>
            </a:extLst>
          </p:cNvPr>
          <p:cNvSpPr txBox="1">
            <a:spLocks noChangeArrowheads="1"/>
          </p:cNvSpPr>
          <p:nvPr/>
        </p:nvSpPr>
        <p:spPr bwMode="auto">
          <a:xfrm>
            <a:off x="8761996" y="3337446"/>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i="1" dirty="0" err="1">
                <a:solidFill>
                  <a:srgbClr val="00B0F0"/>
                </a:solidFill>
                <a:latin typeface="Trebuchet MS" panose="020B0603020202020204" pitchFamily="34" charset="0"/>
                <a:ea typeface="宋体" panose="02010600030101010101" pitchFamily="2" charset="-122"/>
              </a:rPr>
              <a:t>p</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q</a:t>
            </a:r>
            <a:endParaRPr lang="en-US" altLang="zh-CN" sz="2400" b="1" i="1" dirty="0">
              <a:solidFill>
                <a:srgbClr val="00B0F0"/>
              </a:solidFill>
              <a:latin typeface="Trebuchet MS" panose="020B0603020202020204" pitchFamily="34" charset="0"/>
              <a:ea typeface="宋体" panose="02010600030101010101" pitchFamily="2" charset="-122"/>
            </a:endParaRPr>
          </a:p>
        </p:txBody>
      </p:sp>
      <p:sp>
        <p:nvSpPr>
          <p:cNvPr id="15" name="Text Box 11">
            <a:extLst>
              <a:ext uri="{FF2B5EF4-FFF2-40B4-BE49-F238E27FC236}">
                <a16:creationId xmlns:a16="http://schemas.microsoft.com/office/drawing/2014/main" id="{7207D1E5-B1C9-44BC-9ED1-75F58CDF3598}"/>
              </a:ext>
            </a:extLst>
          </p:cNvPr>
          <p:cNvSpPr txBox="1">
            <a:spLocks noChangeArrowheads="1"/>
          </p:cNvSpPr>
          <p:nvPr/>
        </p:nvSpPr>
        <p:spPr bwMode="auto">
          <a:xfrm>
            <a:off x="8761996" y="491051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i="1" dirty="0" err="1">
                <a:solidFill>
                  <a:srgbClr val="00B0F0"/>
                </a:solidFill>
                <a:latin typeface="Trebuchet MS" panose="020B0603020202020204" pitchFamily="34" charset="0"/>
                <a:ea typeface="宋体" panose="02010600030101010101" pitchFamily="2" charset="-122"/>
              </a:rPr>
              <a:t>q</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p</a:t>
            </a:r>
            <a:r>
              <a:rPr lang="en-US" altLang="zh-CN" sz="2400" b="1" i="1" dirty="0">
                <a:solidFill>
                  <a:srgbClr val="00B0F0"/>
                </a:solidFill>
                <a:latin typeface="Trebuchet MS" panose="020B0603020202020204" pitchFamily="34" charset="0"/>
                <a:ea typeface="宋体" panose="02010600030101010101" pitchFamily="2" charset="-122"/>
              </a:rPr>
              <a:t> </a:t>
            </a:r>
          </a:p>
        </p:txBody>
      </p:sp>
      <p:sp>
        <p:nvSpPr>
          <p:cNvPr id="29" name="Text Box 9">
            <a:extLst>
              <a:ext uri="{FF2B5EF4-FFF2-40B4-BE49-F238E27FC236}">
                <a16:creationId xmlns:a16="http://schemas.microsoft.com/office/drawing/2014/main" id="{7F197F18-6E1C-4D60-B240-50C645C056E2}"/>
              </a:ext>
            </a:extLst>
          </p:cNvPr>
          <p:cNvSpPr txBox="1">
            <a:spLocks noChangeArrowheads="1"/>
          </p:cNvSpPr>
          <p:nvPr/>
        </p:nvSpPr>
        <p:spPr bwMode="auto">
          <a:xfrm>
            <a:off x="8761996" y="4123982"/>
            <a:ext cx="2881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rgbClr val="00B0F0"/>
                </a:solidFill>
                <a:latin typeface="Trebuchet MS" panose="020B0603020202020204" pitchFamily="34" charset="0"/>
                <a:ea typeface="宋体" panose="02010600030101010101" pitchFamily="2" charset="-122"/>
                <a:sym typeface="Symbol" panose="05050102010706020507" pitchFamily="18" charset="2"/>
              </a:rPr>
              <a:t>q</a:t>
            </a:r>
            <a:r>
              <a:rPr lang="en-US" altLang="zh-CN"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rgbClr val="00B0F0"/>
                </a:solidFill>
                <a:latin typeface="Trebuchet MS" panose="020B0603020202020204" pitchFamily="34" charset="0"/>
                <a:ea typeface="宋体" panose="02010600030101010101" pitchFamily="2" charset="-122"/>
                <a:sym typeface="Symbol" panose="05050102010706020507" pitchFamily="18" charset="2"/>
              </a:rPr>
              <a:t>p </a:t>
            </a:r>
            <a:r>
              <a:rPr lang="en-US" altLang="zh-CN"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or</a:t>
            </a:r>
            <a:r>
              <a:rPr lang="zh-CN" altLang="en-US"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rgbClr val="00B0F0"/>
                </a:solidFill>
                <a:latin typeface="Trebuchet MS" panose="020B0603020202020204" pitchFamily="34" charset="0"/>
                <a:ea typeface="宋体" panose="02010600030101010101" pitchFamily="2" charset="-122"/>
              </a:rPr>
              <a:t>p</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q</a:t>
            </a:r>
            <a:endParaRPr lang="en-US" altLang="zh-CN" sz="2400" b="1" i="1" dirty="0">
              <a:solidFill>
                <a:srgbClr val="00B0F0"/>
              </a:solidFill>
              <a:latin typeface="Trebuchet MS" panose="020B0603020202020204" pitchFamily="34" charset="0"/>
              <a:ea typeface="宋体" panose="02010600030101010101" pitchFamily="2" charset="-122"/>
            </a:endParaRPr>
          </a:p>
        </p:txBody>
      </p:sp>
      <p:pic>
        <p:nvPicPr>
          <p:cNvPr id="21" name="图片 20">
            <a:extLst>
              <a:ext uri="{FF2B5EF4-FFF2-40B4-BE49-F238E27FC236}">
                <a16:creationId xmlns:a16="http://schemas.microsoft.com/office/drawing/2014/main" id="{24531B71-5074-4996-B0BE-977EC4E2AE6A}"/>
              </a:ext>
            </a:extLst>
          </p:cNvPr>
          <p:cNvPicPr/>
          <p:nvPr/>
        </p:nvPicPr>
        <p:blipFill>
          <a:blip r:embed="rId5"/>
          <a:stretch>
            <a:fillRect/>
          </a:stretch>
        </p:blipFill>
        <p:spPr>
          <a:xfrm>
            <a:off x="1000125" y="967545"/>
            <a:ext cx="577850" cy="241300"/>
          </a:xfrm>
          <a:prstGeom prst="rect">
            <a:avLst/>
          </a:prstGeom>
        </p:spPr>
      </p:pic>
    </p:spTree>
    <p:extLst>
      <p:ext uri="{BB962C8B-B14F-4D97-AF65-F5344CB8AC3E}">
        <p14:creationId xmlns:p14="http://schemas.microsoft.com/office/powerpoint/2010/main" val="4119397378"/>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1000"/>
                                        <p:tgtEl>
                                          <p:spTgt spid="10">
                                            <p:txEl>
                                              <p:pRg st="3" end="3"/>
                                            </p:txEl>
                                          </p:spTgt>
                                        </p:tgtEl>
                                      </p:cBhvr>
                                    </p:animEffect>
                                    <p:anim calcmode="lin" valueType="num">
                                      <p:cBhvr>
                                        <p:cTn id="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1+#ppt_w/2"/>
                                          </p:val>
                                        </p:tav>
                                        <p:tav tm="100000">
                                          <p:val>
                                            <p:strVal val="#ppt_x"/>
                                          </p:val>
                                        </p:tav>
                                      </p:tavLst>
                                    </p:anim>
                                    <p:anim calcmode="lin" valueType="num">
                                      <p:cBhvr additive="base">
                                        <p:cTn id="15"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fade">
                                      <p:cBhvr>
                                        <p:cTn id="20" dur="1000"/>
                                        <p:tgtEl>
                                          <p:spTgt spid="10">
                                            <p:txEl>
                                              <p:pRg st="4" end="4"/>
                                            </p:txEl>
                                          </p:spTgt>
                                        </p:tgtEl>
                                      </p:cBhvr>
                                    </p:animEffect>
                                    <p:anim calcmode="lin" valueType="num">
                                      <p:cBhvr>
                                        <p:cTn id="21"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Effect transition="in" filter="fade">
                                      <p:cBhvr>
                                        <p:cTn id="33" dur="1000"/>
                                        <p:tgtEl>
                                          <p:spTgt spid="10">
                                            <p:txEl>
                                              <p:pRg st="5" end="5"/>
                                            </p:txEl>
                                          </p:spTgt>
                                        </p:tgtEl>
                                      </p:cBhvr>
                                    </p:animEffect>
                                    <p:anim calcmode="lin" valueType="num">
                                      <p:cBhvr>
                                        <p:cTn id="3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additive="base">
                                        <p:cTn id="40" dur="500" fill="hold"/>
                                        <p:tgtEl>
                                          <p:spTgt spid="29"/>
                                        </p:tgtEl>
                                        <p:attrNameLst>
                                          <p:attrName>ppt_x</p:attrName>
                                        </p:attrNameLst>
                                      </p:cBhvr>
                                      <p:tavLst>
                                        <p:tav tm="0">
                                          <p:val>
                                            <p:strVal val="1+#ppt_w/2"/>
                                          </p:val>
                                        </p:tav>
                                        <p:tav tm="100000">
                                          <p:val>
                                            <p:strVal val="#ppt_x"/>
                                          </p:val>
                                        </p:tav>
                                      </p:tavLst>
                                    </p:anim>
                                    <p:anim calcmode="lin" valueType="num">
                                      <p:cBhvr additive="base">
                                        <p:cTn id="41"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0">
                                            <p:txEl>
                                              <p:pRg st="6" end="6"/>
                                            </p:txEl>
                                          </p:spTgt>
                                        </p:tgtEl>
                                        <p:attrNameLst>
                                          <p:attrName>style.visibility</p:attrName>
                                        </p:attrNameLst>
                                      </p:cBhvr>
                                      <p:to>
                                        <p:strVal val="visible"/>
                                      </p:to>
                                    </p:set>
                                    <p:animEffect transition="in" filter="fade">
                                      <p:cBhvr>
                                        <p:cTn id="46" dur="1000"/>
                                        <p:tgtEl>
                                          <p:spTgt spid="10">
                                            <p:txEl>
                                              <p:pRg st="6" end="6"/>
                                            </p:txEl>
                                          </p:spTgt>
                                        </p:tgtEl>
                                      </p:cBhvr>
                                    </p:animEffect>
                                    <p:anim calcmode="lin" valueType="num">
                                      <p:cBhvr>
                                        <p:cTn id="4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1+#ppt_w/2"/>
                                          </p:val>
                                        </p:tav>
                                        <p:tav tm="100000">
                                          <p:val>
                                            <p:strVal val="#ppt_x"/>
                                          </p:val>
                                        </p:tav>
                                      </p:tavLst>
                                    </p:anim>
                                    <p:anim calcmode="lin" valueType="num">
                                      <p:cBhvr additive="base">
                                        <p:cTn id="54"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000" b="1" dirty="0">
                <a:effectLst/>
                <a:latin typeface="Times New Roman" panose="02020603050405020304" pitchFamily="18" charset="0"/>
                <a:ea typeface="宋体" panose="02010600030101010101" pitchFamily="2" charset="-122"/>
              </a:rPr>
              <a:t>(</a:t>
            </a:r>
            <a:r>
              <a:rPr lang="en-US" altLang="zh-CN" sz="2400" b="1" dirty="0">
                <a:solidFill>
                  <a:schemeClr val="accent2"/>
                </a:solidFill>
                <a:effectLst/>
                <a:latin typeface="Trebuchet MS" panose="020B0603020202020204" pitchFamily="34" charset="0"/>
                <a:ea typeface="宋体" panose="02010600030101010101" pitchFamily="2" charset="-122"/>
              </a:rPr>
              <a:t>e.g.</a:t>
            </a:r>
            <a:r>
              <a:rPr lang="en-US" altLang="zh-CN" sz="2000" b="1" dirty="0">
                <a:effectLst/>
                <a:latin typeface="Times New Roman" panose="02020603050405020304" pitchFamily="18" charset="0"/>
                <a:ea typeface="宋体" panose="02010600030101010101" pitchFamily="2" charset="-122"/>
              </a:rPr>
              <a:t>)</a:t>
            </a:r>
            <a:endParaRPr lang="zh-CN" altLang="en-US" sz="20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839001"/>
            <a:ext cx="9669148" cy="5230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zh-CN" altLang="en-US" sz="2400" b="1" dirty="0">
              <a:latin typeface="Trebuchet MS" panose="020B0603020202020204" pitchFamily="34" charset="0"/>
            </a:endParaRPr>
          </a:p>
        </p:txBody>
      </p:sp>
      <p:sp>
        <p:nvSpPr>
          <p:cNvPr id="10" name="Rectangle 5">
            <a:extLst>
              <a:ext uri="{FF2B5EF4-FFF2-40B4-BE49-F238E27FC236}">
                <a16:creationId xmlns:a16="http://schemas.microsoft.com/office/drawing/2014/main" id="{B8293C6A-6B35-4E87-BC2A-6E72F4C61F9C}"/>
              </a:ext>
            </a:extLst>
          </p:cNvPr>
          <p:cNvSpPr>
            <a:spLocks noGrp="1" noChangeArrowheads="1"/>
          </p:cNvSpPr>
          <p:nvPr>
            <p:ph idx="1"/>
          </p:nvPr>
        </p:nvSpPr>
        <p:spPr>
          <a:xfrm>
            <a:off x="864509" y="865556"/>
            <a:ext cx="7497293" cy="4940333"/>
          </a:xfrm>
        </p:spPr>
        <p:txBody>
          <a:bodyPr>
            <a:noAutofit/>
          </a:bodyPr>
          <a:lstStyle/>
          <a:p>
            <a:pPr algn="just">
              <a:buNone/>
            </a:pPr>
            <a:r>
              <a:rPr lang="en-US" altLang="zh-CN" b="1" dirty="0">
                <a:solidFill>
                  <a:srgbClr val="00B0F0"/>
                </a:solidFill>
              </a:rPr>
              <a:t>       </a:t>
            </a:r>
            <a:r>
              <a:rPr lang="en-US" altLang="zh-CN" b="1" dirty="0">
                <a:solidFill>
                  <a:srgbClr val="0C0D0E"/>
                </a:solidFill>
              </a:rPr>
              <a:t>Example:</a:t>
            </a:r>
            <a:endParaRPr lang="en-US" altLang="zh-CN" b="0" i="0" dirty="0">
              <a:solidFill>
                <a:srgbClr val="0C0D0E"/>
              </a:solidFill>
              <a:effectLst/>
            </a:endParaRPr>
          </a:p>
          <a:p>
            <a:pPr algn="just" eaLnBrk="1" hangingPunct="1">
              <a:buFontTx/>
              <a:buNone/>
            </a:pPr>
            <a:r>
              <a:rPr lang="en-US" altLang="zh-CN" b="0" i="0" dirty="0">
                <a:solidFill>
                  <a:srgbClr val="0C0D0E"/>
                </a:solidFill>
                <a:effectLst/>
              </a:rPr>
              <a:t>Let </a:t>
            </a:r>
            <a:r>
              <a:rPr lang="en-US" altLang="zh-CN" b="1" i="1" dirty="0">
                <a:solidFill>
                  <a:srgbClr val="0C0D0E"/>
                </a:solidFill>
                <a:effectLst/>
              </a:rPr>
              <a:t>p</a:t>
            </a:r>
            <a:r>
              <a:rPr lang="en-US" altLang="zh-CN" b="0" i="0" dirty="0">
                <a:solidFill>
                  <a:srgbClr val="0C0D0E"/>
                </a:solidFill>
                <a:effectLst/>
              </a:rPr>
              <a:t>: It is cold</a:t>
            </a:r>
            <a:r>
              <a:rPr lang="zh-CN" altLang="en-US" b="1" dirty="0"/>
              <a:t>, </a:t>
            </a:r>
            <a:r>
              <a:rPr lang="en-US" altLang="zh-CN" b="0" i="0" dirty="0">
                <a:solidFill>
                  <a:srgbClr val="0C0D0E"/>
                </a:solidFill>
                <a:effectLst/>
              </a:rPr>
              <a:t>Let </a:t>
            </a:r>
            <a:r>
              <a:rPr lang="en-US" altLang="zh-CN" b="1" i="1" dirty="0">
                <a:solidFill>
                  <a:srgbClr val="0C0D0E"/>
                </a:solidFill>
                <a:effectLst/>
              </a:rPr>
              <a:t>q</a:t>
            </a:r>
            <a:r>
              <a:rPr lang="en-US" altLang="zh-CN" b="0" i="0" dirty="0">
                <a:solidFill>
                  <a:srgbClr val="0C0D0E"/>
                </a:solidFill>
                <a:effectLst/>
              </a:rPr>
              <a:t>: Wang wears a down jacket.</a:t>
            </a:r>
            <a:endParaRPr lang="zh-CN" altLang="en-US" b="1" dirty="0"/>
          </a:p>
          <a:p>
            <a:pPr marL="0" indent="0">
              <a:buNone/>
            </a:pPr>
            <a:r>
              <a:rPr lang="en-US" altLang="zh-CN" dirty="0"/>
              <a:t>Here’s the translation of the propositions with logical symbolism:</a:t>
            </a:r>
            <a:endParaRPr lang="en-US" altLang="zh-CN" b="1" dirty="0">
              <a:solidFill>
                <a:srgbClr val="00B0F0"/>
              </a:solidFill>
            </a:endParaRPr>
          </a:p>
          <a:p>
            <a:pPr marL="717550" indent="-450850" algn="just">
              <a:buNone/>
            </a:pPr>
            <a:r>
              <a:rPr lang="zh-CN" altLang="en-US" dirty="0"/>
              <a:t>(5) </a:t>
            </a:r>
            <a:r>
              <a:rPr lang="en-US" altLang="zh-CN" dirty="0"/>
              <a:t>Unless it is cold, Xiao Wang will wear a down jacket.</a:t>
            </a:r>
          </a:p>
          <a:p>
            <a:pPr marL="717550" indent="-450850" algn="just">
              <a:buNone/>
            </a:pPr>
            <a:r>
              <a:rPr lang="en-US" altLang="zh-CN" dirty="0"/>
              <a:t>(</a:t>
            </a:r>
            <a:r>
              <a:rPr lang="en-US" altLang="zh-CN"/>
              <a:t>6) Unless </a:t>
            </a:r>
            <a:r>
              <a:rPr lang="en-US" altLang="zh-CN" dirty="0"/>
              <a:t>Xiao Wang wears a down jacket, </a:t>
            </a:r>
            <a:r>
              <a:rPr lang="en-US" altLang="zh-CN"/>
              <a:t>otherwise it </a:t>
            </a:r>
            <a:r>
              <a:rPr lang="en-US" altLang="zh-CN" dirty="0"/>
              <a:t>will not be cold</a:t>
            </a:r>
            <a:r>
              <a:rPr lang="zh-CN" altLang="en-US" dirty="0"/>
              <a:t>.</a:t>
            </a:r>
          </a:p>
          <a:p>
            <a:pPr marL="717550" indent="-450850" algn="just">
              <a:buNone/>
            </a:pPr>
            <a:r>
              <a:rPr lang="zh-CN" altLang="en-US" dirty="0"/>
              <a:t>(7) </a:t>
            </a:r>
            <a:r>
              <a:rPr lang="en-US" altLang="zh-CN" dirty="0"/>
              <a:t>If it is not cold, then Xiao Wang will not wear a down jacket</a:t>
            </a:r>
            <a:r>
              <a:rPr lang="zh-CN" altLang="en-US" dirty="0"/>
              <a:t>.</a:t>
            </a:r>
          </a:p>
          <a:p>
            <a:pPr marL="717550" indent="-450850" algn="just">
              <a:buNone/>
            </a:pPr>
            <a:r>
              <a:rPr lang="zh-CN" altLang="en-US" dirty="0"/>
              <a:t>(8) </a:t>
            </a:r>
            <a:r>
              <a:rPr lang="en-US" altLang="zh-CN" dirty="0"/>
              <a:t>Xiao Wang wears a down jacket only if it is cold</a:t>
            </a:r>
            <a:r>
              <a:rPr lang="zh-CN" altLang="en-US" dirty="0"/>
              <a:t>.</a:t>
            </a:r>
          </a:p>
        </p:txBody>
      </p:sp>
      <p:sp>
        <p:nvSpPr>
          <p:cNvPr id="14" name="Text Box 10">
            <a:extLst>
              <a:ext uri="{FF2B5EF4-FFF2-40B4-BE49-F238E27FC236}">
                <a16:creationId xmlns:a16="http://schemas.microsoft.com/office/drawing/2014/main" id="{AC5396F0-1E80-4394-B69E-5543E1BEDCCD}"/>
              </a:ext>
            </a:extLst>
          </p:cNvPr>
          <p:cNvSpPr txBox="1">
            <a:spLocks noChangeArrowheads="1"/>
          </p:cNvSpPr>
          <p:nvPr/>
        </p:nvSpPr>
        <p:spPr bwMode="auto">
          <a:xfrm>
            <a:off x="8868280" y="3267655"/>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i="1" dirty="0" err="1">
                <a:solidFill>
                  <a:srgbClr val="00B0F0"/>
                </a:solidFill>
                <a:latin typeface="Trebuchet MS" panose="020B0603020202020204" pitchFamily="34" charset="0"/>
                <a:ea typeface="宋体" panose="02010600030101010101" pitchFamily="2" charset="-122"/>
              </a:rPr>
              <a:t>p</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q</a:t>
            </a:r>
            <a:endParaRPr lang="en-US" altLang="zh-CN" sz="2400" b="1" i="1" dirty="0">
              <a:solidFill>
                <a:srgbClr val="00B0F0"/>
              </a:solidFill>
              <a:latin typeface="Trebuchet MS" panose="020B0603020202020204" pitchFamily="34" charset="0"/>
              <a:ea typeface="宋体" panose="02010600030101010101" pitchFamily="2" charset="-122"/>
            </a:endParaRPr>
          </a:p>
        </p:txBody>
      </p:sp>
      <p:sp>
        <p:nvSpPr>
          <p:cNvPr id="16" name="Rectangle 12">
            <a:extLst>
              <a:ext uri="{FF2B5EF4-FFF2-40B4-BE49-F238E27FC236}">
                <a16:creationId xmlns:a16="http://schemas.microsoft.com/office/drawing/2014/main" id="{BCC7643D-B825-4ED9-88B3-ED7AE236D6A6}"/>
              </a:ext>
            </a:extLst>
          </p:cNvPr>
          <p:cNvSpPr>
            <a:spLocks noChangeArrowheads="1"/>
          </p:cNvSpPr>
          <p:nvPr/>
        </p:nvSpPr>
        <p:spPr bwMode="auto">
          <a:xfrm>
            <a:off x="8868280" y="2439816"/>
            <a:ext cx="1046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i="1" dirty="0" err="1">
                <a:solidFill>
                  <a:srgbClr val="00B0F0"/>
                </a:solidFill>
                <a:latin typeface="Trebuchet MS" panose="020B0603020202020204" pitchFamily="34" charset="0"/>
                <a:ea typeface="宋体" panose="02010600030101010101" pitchFamily="2" charset="-122"/>
              </a:rPr>
              <a:t>q</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p</a:t>
            </a:r>
            <a:endParaRPr lang="en-US" altLang="zh-CN" sz="2400" b="1" i="1" dirty="0">
              <a:solidFill>
                <a:srgbClr val="00B0F0"/>
              </a:solidFill>
              <a:latin typeface="Trebuchet MS" panose="020B0603020202020204" pitchFamily="34" charset="0"/>
              <a:ea typeface="宋体" panose="02010600030101010101" pitchFamily="2" charset="-122"/>
            </a:endParaRPr>
          </a:p>
        </p:txBody>
      </p:sp>
      <p:sp>
        <p:nvSpPr>
          <p:cNvPr id="17" name="Rectangle 14">
            <a:extLst>
              <a:ext uri="{FF2B5EF4-FFF2-40B4-BE49-F238E27FC236}">
                <a16:creationId xmlns:a16="http://schemas.microsoft.com/office/drawing/2014/main" id="{DAEB485D-E1E5-4CC7-A356-22E837E25CF3}"/>
              </a:ext>
            </a:extLst>
          </p:cNvPr>
          <p:cNvSpPr>
            <a:spLocks noChangeArrowheads="1"/>
          </p:cNvSpPr>
          <p:nvPr/>
        </p:nvSpPr>
        <p:spPr bwMode="auto">
          <a:xfrm>
            <a:off x="8868280" y="4927799"/>
            <a:ext cx="1122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i="1" dirty="0" err="1">
                <a:solidFill>
                  <a:srgbClr val="00B0F0"/>
                </a:solidFill>
                <a:latin typeface="Trebuchet MS" panose="020B0603020202020204" pitchFamily="34" charset="0"/>
                <a:ea typeface="宋体" panose="02010600030101010101" pitchFamily="2" charset="-122"/>
              </a:rPr>
              <a:t>q</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p</a:t>
            </a:r>
            <a:endParaRPr lang="en-US" altLang="zh-CN" sz="2400" b="1" i="1" dirty="0">
              <a:solidFill>
                <a:srgbClr val="00B0F0"/>
              </a:solidFill>
              <a:latin typeface="Trebuchet MS" panose="020B0603020202020204" pitchFamily="34" charset="0"/>
              <a:ea typeface="宋体" panose="02010600030101010101" pitchFamily="2" charset="-122"/>
            </a:endParaRPr>
          </a:p>
        </p:txBody>
      </p:sp>
      <p:sp>
        <p:nvSpPr>
          <p:cNvPr id="30" name="Rectangle 13">
            <a:extLst>
              <a:ext uri="{FF2B5EF4-FFF2-40B4-BE49-F238E27FC236}">
                <a16:creationId xmlns:a16="http://schemas.microsoft.com/office/drawing/2014/main" id="{360A0C94-E1E4-4FDF-BBEB-3FBF5AFDA2DA}"/>
              </a:ext>
            </a:extLst>
          </p:cNvPr>
          <p:cNvSpPr>
            <a:spLocks noChangeArrowheads="1"/>
          </p:cNvSpPr>
          <p:nvPr/>
        </p:nvSpPr>
        <p:spPr bwMode="auto">
          <a:xfrm>
            <a:off x="8868280" y="4095494"/>
            <a:ext cx="2599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rgbClr val="00B0F0"/>
                </a:solidFill>
                <a:latin typeface="Trebuchet MS" panose="020B0603020202020204" pitchFamily="34" charset="0"/>
                <a:ea typeface="宋体" panose="02010600030101010101" pitchFamily="2" charset="-122"/>
                <a:sym typeface="Symbol" panose="05050102010706020507" pitchFamily="18" charset="2"/>
              </a:rPr>
              <a:t>p</a:t>
            </a:r>
            <a:r>
              <a:rPr lang="en-US" altLang="zh-CN"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rgbClr val="00B0F0"/>
                </a:solidFill>
                <a:latin typeface="Trebuchet MS" panose="020B0603020202020204" pitchFamily="34" charset="0"/>
                <a:ea typeface="宋体" panose="02010600030101010101" pitchFamily="2" charset="-122"/>
                <a:sym typeface="Symbol" panose="05050102010706020507" pitchFamily="18" charset="2"/>
              </a:rPr>
              <a:t>q </a:t>
            </a:r>
            <a:r>
              <a:rPr lang="en-US" altLang="zh-CN"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or</a:t>
            </a:r>
            <a:r>
              <a:rPr lang="zh-CN" altLang="en-US" sz="2400" b="1" dirty="0">
                <a:solidFill>
                  <a:srgbClr val="00B0F0"/>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rgbClr val="00B0F0"/>
                </a:solidFill>
                <a:latin typeface="Trebuchet MS" panose="020B0603020202020204" pitchFamily="34" charset="0"/>
                <a:ea typeface="宋体" panose="02010600030101010101" pitchFamily="2" charset="-122"/>
              </a:rPr>
              <a:t>q</a:t>
            </a:r>
            <a:r>
              <a:rPr lang="en-US" altLang="zh-CN" sz="2400" b="1" dirty="0" err="1">
                <a:solidFill>
                  <a:srgbClr val="00B0F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rgbClr val="00B0F0"/>
                </a:solidFill>
                <a:latin typeface="Trebuchet MS" panose="020B0603020202020204" pitchFamily="34" charset="0"/>
                <a:ea typeface="宋体" panose="02010600030101010101" pitchFamily="2" charset="-122"/>
              </a:rPr>
              <a:t>p</a:t>
            </a:r>
            <a:endParaRPr lang="en-US" altLang="zh-CN" sz="2400" b="1" i="1" dirty="0">
              <a:solidFill>
                <a:srgbClr val="00B0F0"/>
              </a:solidFill>
              <a:latin typeface="Trebuchet MS" panose="020B0603020202020204" pitchFamily="34" charset="0"/>
              <a:ea typeface="宋体" panose="02010600030101010101" pitchFamily="2" charset="-122"/>
            </a:endParaRPr>
          </a:p>
        </p:txBody>
      </p:sp>
      <p:pic>
        <p:nvPicPr>
          <p:cNvPr id="21" name="图片 20">
            <a:extLst>
              <a:ext uri="{FF2B5EF4-FFF2-40B4-BE49-F238E27FC236}">
                <a16:creationId xmlns:a16="http://schemas.microsoft.com/office/drawing/2014/main" id="{C8C05AED-97E1-4D51-B1DF-B1A84B3A39DF}"/>
              </a:ext>
            </a:extLst>
          </p:cNvPr>
          <p:cNvPicPr/>
          <p:nvPr/>
        </p:nvPicPr>
        <p:blipFill>
          <a:blip r:embed="rId5"/>
          <a:stretch>
            <a:fillRect/>
          </a:stretch>
        </p:blipFill>
        <p:spPr>
          <a:xfrm>
            <a:off x="1000125" y="967545"/>
            <a:ext cx="577850" cy="241300"/>
          </a:xfrm>
          <a:prstGeom prst="rect">
            <a:avLst/>
          </a:prstGeom>
        </p:spPr>
      </p:pic>
      <p:sp>
        <p:nvSpPr>
          <p:cNvPr id="3" name="Rectangle 1">
            <a:extLst>
              <a:ext uri="{FF2B5EF4-FFF2-40B4-BE49-F238E27FC236}">
                <a16:creationId xmlns:a16="http://schemas.microsoft.com/office/drawing/2014/main" id="{1FD34A09-5A96-4F60-ADCE-E5EA0B93CEFA}"/>
              </a:ext>
            </a:extLst>
          </p:cNvPr>
          <p:cNvSpPr>
            <a:spLocks noChangeArrowheads="1"/>
          </p:cNvSpPr>
          <p:nvPr/>
        </p:nvSpPr>
        <p:spPr bwMode="auto">
          <a:xfrm>
            <a:off x="0" y="0"/>
            <a:ext cx="12192000" cy="457200"/>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 rIns="0" bIns="-952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a:ln>
                  <a:noFill/>
                </a:ln>
                <a:solidFill>
                  <a:srgbClr val="1F1F1F"/>
                </a:solidFill>
                <a:effectLst/>
                <a:latin typeface="Arial Unicode MS"/>
                <a:ea typeface="inherit"/>
              </a:rPr>
              <a:t>otherwise</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3833705"/>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1000"/>
                                        <p:tgtEl>
                                          <p:spTgt spid="10">
                                            <p:txEl>
                                              <p:pRg st="3" end="3"/>
                                            </p:txEl>
                                          </p:spTgt>
                                        </p:tgtEl>
                                      </p:cBhvr>
                                    </p:animEffect>
                                    <p:anim calcmode="lin" valueType="num">
                                      <p:cBhvr>
                                        <p:cTn id="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4" end="4"/>
                                            </p:txEl>
                                          </p:spTgt>
                                        </p:tgtEl>
                                        <p:attrNameLst>
                                          <p:attrName>style.visibility</p:attrName>
                                        </p:attrNameLst>
                                      </p:cBhvr>
                                      <p:to>
                                        <p:strVal val="visible"/>
                                      </p:to>
                                    </p:set>
                                    <p:animEffect transition="in" filter="fade">
                                      <p:cBhvr>
                                        <p:cTn id="14" dur="1000"/>
                                        <p:tgtEl>
                                          <p:spTgt spid="10">
                                            <p:txEl>
                                              <p:pRg st="4" end="4"/>
                                            </p:txEl>
                                          </p:spTgt>
                                        </p:tgtEl>
                                      </p:cBhvr>
                                    </p:animEffect>
                                    <p:anim calcmode="lin" valueType="num">
                                      <p:cBhvr>
                                        <p:cTn id="15"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1+#ppt_w/2"/>
                                          </p:val>
                                        </p:tav>
                                        <p:tav tm="100000">
                                          <p:val>
                                            <p:strVal val="#ppt_x"/>
                                          </p:val>
                                        </p:tav>
                                      </p:tavLst>
                                    </p:anim>
                                    <p:anim calcmode="lin" valueType="num">
                                      <p:cBhvr additive="base">
                                        <p:cTn id="2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1+#ppt_w/2"/>
                                          </p:val>
                                        </p:tav>
                                        <p:tav tm="100000">
                                          <p:val>
                                            <p:strVal val="#ppt_x"/>
                                          </p:val>
                                        </p:tav>
                                      </p:tavLst>
                                    </p:anim>
                                    <p:anim calcmode="lin" valueType="num">
                                      <p:cBhvr additive="base">
                                        <p:cTn id="2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Effect transition="in" filter="fade">
                                      <p:cBhvr>
                                        <p:cTn id="33" dur="1000"/>
                                        <p:tgtEl>
                                          <p:spTgt spid="10">
                                            <p:txEl>
                                              <p:pRg st="5" end="5"/>
                                            </p:txEl>
                                          </p:spTgt>
                                        </p:tgtEl>
                                      </p:cBhvr>
                                    </p:animEffect>
                                    <p:anim calcmode="lin" valueType="num">
                                      <p:cBhvr>
                                        <p:cTn id="3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fill="hold"/>
                                        <p:tgtEl>
                                          <p:spTgt spid="30"/>
                                        </p:tgtEl>
                                        <p:attrNameLst>
                                          <p:attrName>ppt_x</p:attrName>
                                        </p:attrNameLst>
                                      </p:cBhvr>
                                      <p:tavLst>
                                        <p:tav tm="0">
                                          <p:val>
                                            <p:strVal val="1+#ppt_w/2"/>
                                          </p:val>
                                        </p:tav>
                                        <p:tav tm="100000">
                                          <p:val>
                                            <p:strVal val="#ppt_x"/>
                                          </p:val>
                                        </p:tav>
                                      </p:tavLst>
                                    </p:anim>
                                    <p:anim calcmode="lin" valueType="num">
                                      <p:cBhvr additive="base">
                                        <p:cTn id="41"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0">
                                            <p:txEl>
                                              <p:pRg st="6" end="6"/>
                                            </p:txEl>
                                          </p:spTgt>
                                        </p:tgtEl>
                                        <p:attrNameLst>
                                          <p:attrName>style.visibility</p:attrName>
                                        </p:attrNameLst>
                                      </p:cBhvr>
                                      <p:to>
                                        <p:strVal val="visible"/>
                                      </p:to>
                                    </p:set>
                                    <p:animEffect transition="in" filter="fade">
                                      <p:cBhvr>
                                        <p:cTn id="46" dur="1000"/>
                                        <p:tgtEl>
                                          <p:spTgt spid="10">
                                            <p:txEl>
                                              <p:pRg st="6" end="6"/>
                                            </p:txEl>
                                          </p:spTgt>
                                        </p:tgtEl>
                                      </p:cBhvr>
                                    </p:animEffect>
                                    <p:anim calcmode="lin" valueType="num">
                                      <p:cBhvr>
                                        <p:cTn id="4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1+#ppt_w/2"/>
                                          </p:val>
                                        </p:tav>
                                        <p:tav tm="100000">
                                          <p:val>
                                            <p:strVal val="#ppt_x"/>
                                          </p:val>
                                        </p:tav>
                                      </p:tavLst>
                                    </p:anim>
                                    <p:anim calcmode="lin" valueType="num">
                                      <p:cBhvr additive="base">
                                        <p:cTn id="54"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sym typeface="Symbol" panose="05050102010706020507" pitchFamily="18" charset="2"/>
              </a:rPr>
              <a:t></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669148"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Definition 2.5</a:t>
            </a:r>
            <a:r>
              <a:rPr lang="zh-CN" altLang="en-US" sz="2400" b="1" dirty="0">
                <a:solidFill>
                  <a:srgbClr val="0C0D0E"/>
                </a:solidFill>
                <a:latin typeface="Trebuchet MS" panose="020B0603020202020204" pitchFamily="34" charset="0"/>
              </a:rPr>
              <a:t>：</a:t>
            </a:r>
            <a:endParaRPr lang="en-US" altLang="zh-CN" sz="2400" b="1" dirty="0">
              <a:solidFill>
                <a:srgbClr val="0C0D0E"/>
              </a:solidFill>
              <a:latin typeface="Trebuchet MS" panose="020B0603020202020204" pitchFamily="34" charset="0"/>
            </a:endParaRPr>
          </a:p>
          <a:p>
            <a:pPr marL="0" indent="0" algn="l">
              <a:lnSpc>
                <a:spcPct val="120000"/>
              </a:lnSpc>
              <a:spcBef>
                <a:spcPts val="300"/>
              </a:spcBef>
              <a:buClr>
                <a:srgbClr val="0B61FF"/>
              </a:buClr>
              <a:buSzPct val="80000"/>
              <a:buNone/>
            </a:pPr>
            <a:r>
              <a:rPr lang="en-US" altLang="zh-CN" sz="2400" b="0" i="0" dirty="0">
                <a:solidFill>
                  <a:srgbClr val="0C0D0E"/>
                </a:solidFill>
                <a:effectLst/>
                <a:latin typeface="Trebuchet MS" panose="020B0603020202020204" pitchFamily="34" charset="0"/>
              </a:rPr>
              <a:t>The statement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if and only if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called the equivalence of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denoted by </a:t>
            </a:r>
            <a:r>
              <a:rPr lang="en-US" altLang="zh-CN" sz="2400" b="1" i="1" dirty="0" err="1">
                <a:solidFill>
                  <a:srgbClr val="0C0D0E"/>
                </a:solidFill>
                <a:effectLst/>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where </a:t>
            </a:r>
            <a:r>
              <a:rPr lang="en-US" altLang="zh-CN" sz="2400" b="1" dirty="0">
                <a:latin typeface="Trebuchet MS" panose="020B0603020202020204" pitchFamily="34" charset="0"/>
                <a:sym typeface="Symbol" panose="05050102010706020507" pitchFamily="18" charset="2"/>
              </a:rPr>
              <a:t></a:t>
            </a:r>
            <a:r>
              <a:rPr lang="en-US" altLang="zh-CN" sz="2400" b="0" i="0" dirty="0">
                <a:solidFill>
                  <a:srgbClr val="0C0D0E"/>
                </a:solidFill>
                <a:effectLst/>
                <a:latin typeface="Trebuchet MS" panose="020B0603020202020204" pitchFamily="34" charset="0"/>
              </a:rPr>
              <a:t> is called the </a:t>
            </a:r>
            <a:r>
              <a:rPr lang="en-US" altLang="zh-CN" sz="2400" b="1" i="1" dirty="0">
                <a:solidFill>
                  <a:srgbClr val="0C0D0E"/>
                </a:solidFill>
                <a:effectLst/>
                <a:latin typeface="Trebuchet MS" panose="020B0603020202020204" pitchFamily="34" charset="0"/>
              </a:rPr>
              <a:t>biconditional operator</a:t>
            </a:r>
            <a:r>
              <a:rPr lang="en-US" altLang="zh-CN" sz="2400" b="0" i="0" dirty="0">
                <a:solidFill>
                  <a:srgbClr val="0C0D0E"/>
                </a:solidFill>
                <a:effectLst/>
                <a:latin typeface="Trebuchet MS" panose="020B0603020202020204" pitchFamily="34" charset="0"/>
              </a:rPr>
              <a:t>. It is defined that </a:t>
            </a:r>
            <a:r>
              <a:rPr lang="en-US" altLang="zh-CN" sz="2400" b="1" i="1" dirty="0" err="1">
                <a:solidFill>
                  <a:srgbClr val="0C0D0E"/>
                </a:solidFill>
                <a:effectLst/>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is true if and only if both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are true or both are false.</a:t>
            </a:r>
          </a:p>
          <a:p>
            <a:pPr>
              <a:lnSpc>
                <a:spcPct val="120000"/>
              </a:lnSpc>
              <a:spcBef>
                <a:spcPts val="300"/>
              </a:spcBef>
              <a:buClr>
                <a:srgbClr val="0B61FF"/>
              </a:buClr>
              <a:buSzPct val="80000"/>
              <a:buFont typeface="Wingdings" panose="05000000000000000000" pitchFamily="2" charset="2"/>
              <a:buChar char="n"/>
            </a:pPr>
            <a:r>
              <a:rPr lang="en-US" altLang="zh-CN" sz="2400" b="1" dirty="0">
                <a:solidFill>
                  <a:srgbClr val="0C0D0E"/>
                </a:solidFill>
                <a:latin typeface="Trebuchet MS" panose="020B0603020202020204" pitchFamily="34" charset="0"/>
              </a:rPr>
              <a:t>Logical Relationship of </a:t>
            </a:r>
            <a:r>
              <a:rPr lang="en-US" altLang="zh-CN" sz="2400" b="1" dirty="0" err="1">
                <a:solidFill>
                  <a:srgbClr val="0C0D0E"/>
                </a:solidFill>
                <a:latin typeface="Trebuchet MS" panose="020B0603020202020204" pitchFamily="34" charset="0"/>
              </a:rPr>
              <a:t>p</a:t>
            </a:r>
            <a:r>
              <a:rPr lang="en-US" altLang="zh-CN" sz="2400" b="1" dirty="0" err="1">
                <a:solidFill>
                  <a:srgbClr val="0C0D0E"/>
                </a:solidFill>
                <a:latin typeface="Trebuchet MS" panose="020B0603020202020204" pitchFamily="34" charset="0"/>
                <a:sym typeface="Symbol" panose="05050102010706020507" pitchFamily="18" charset="2"/>
              </a:rPr>
              <a:t></a:t>
            </a:r>
            <a:r>
              <a:rPr lang="en-US" altLang="zh-CN" sz="2400" b="1" dirty="0" err="1">
                <a:solidFill>
                  <a:srgbClr val="0C0D0E"/>
                </a:solidFill>
                <a:latin typeface="Trebuchet MS" panose="020B0603020202020204" pitchFamily="34" charset="0"/>
              </a:rPr>
              <a:t>q</a:t>
            </a:r>
            <a:r>
              <a:rPr lang="en-US" altLang="zh-CN" sz="2400" b="1" dirty="0">
                <a:solidFill>
                  <a:srgbClr val="0C0D0E"/>
                </a:solidFill>
                <a:latin typeface="Trebuchet MS" panose="020B0603020202020204" pitchFamily="34" charset="0"/>
              </a:rPr>
              <a:t>:</a:t>
            </a:r>
          </a:p>
          <a:p>
            <a:pPr marL="0" indent="0" algn="l">
              <a:lnSpc>
                <a:spcPct val="120000"/>
              </a:lnSpc>
              <a:spcBef>
                <a:spcPts val="300"/>
              </a:spcBef>
              <a:buNone/>
            </a:pP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are mutually sufficient and necessary conditions for each other.</a:t>
            </a:r>
          </a:p>
          <a:p>
            <a:pPr marL="0" indent="0" algn="l">
              <a:lnSpc>
                <a:spcPct val="120000"/>
              </a:lnSpc>
              <a:spcBef>
                <a:spcPts val="300"/>
              </a:spcBef>
              <a:buNone/>
            </a:pPr>
            <a:r>
              <a:rPr lang="en-US" altLang="zh-CN" sz="2400" b="1" i="0" dirty="0">
                <a:solidFill>
                  <a:srgbClr val="0C0D0E"/>
                </a:solidFill>
                <a:effectLst/>
                <a:latin typeface="Trebuchet MS" panose="020B0603020202020204" pitchFamily="34" charset="0"/>
              </a:rPr>
              <a:t>        Example:</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Zhang San can do this task well, and only Zhang San can do it well.</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Zhang San does the task, </a:t>
            </a:r>
            <a:r>
              <a:rPr lang="en-US" altLang="zh-CN" sz="2400" b="1" i="1" dirty="0">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 The task is done well.</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This can be formalized as: </a:t>
            </a:r>
            <a:r>
              <a:rPr lang="en-US" altLang="zh-CN" sz="2400" b="1" i="1" dirty="0" err="1">
                <a:solidFill>
                  <a:srgbClr val="0C0D0E"/>
                </a:solidFill>
                <a:effectLst/>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solidFill>
                  <a:srgbClr val="0C0D0E"/>
                </a:solidFill>
                <a:effectLst/>
                <a:latin typeface="Trebuchet MS" panose="020B0603020202020204" pitchFamily="34" charset="0"/>
              </a:rPr>
              <a:t>q</a:t>
            </a:r>
            <a:r>
              <a:rPr lang="en-US" altLang="zh-CN" sz="2400" b="0" i="0" dirty="0">
                <a:solidFill>
                  <a:srgbClr val="0C0D0E"/>
                </a:solidFill>
                <a:effectLst/>
                <a:latin typeface="Trebuchet MS" panose="020B0603020202020204" pitchFamily="34" charset="0"/>
              </a:rPr>
              <a:t>.</a:t>
            </a:r>
          </a:p>
          <a:p>
            <a:pPr eaLnBrk="1" hangingPunct="1">
              <a:lnSpc>
                <a:spcPct val="120000"/>
              </a:lnSpc>
              <a:spcBef>
                <a:spcPts val="300"/>
              </a:spcBef>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A4ABB0E8-17A6-491D-A8C6-B47F79003117}"/>
              </a:ext>
            </a:extLst>
          </p:cNvPr>
          <p:cNvPicPr/>
          <p:nvPr/>
        </p:nvPicPr>
        <p:blipFill>
          <a:blip r:embed="rId5"/>
          <a:stretch>
            <a:fillRect/>
          </a:stretch>
        </p:blipFill>
        <p:spPr>
          <a:xfrm>
            <a:off x="1000125" y="4592105"/>
            <a:ext cx="577850" cy="241300"/>
          </a:xfrm>
          <a:prstGeom prst="rect">
            <a:avLst/>
          </a:prstGeom>
        </p:spPr>
      </p:pic>
    </p:spTree>
    <p:extLst>
      <p:ext uri="{BB962C8B-B14F-4D97-AF65-F5344CB8AC3E}">
        <p14:creationId xmlns:p14="http://schemas.microsoft.com/office/powerpoint/2010/main" val="182858548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2.1.1 Propositions and Connectives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sym typeface="Symbol" panose="05050102010706020507" pitchFamily="18" charset="2"/>
              </a:rPr>
              <a:t></a:t>
            </a:r>
            <a:r>
              <a:rPr lang="en-US" altLang="zh-CN" sz="2000" b="1" dirty="0">
                <a:effectLst/>
                <a:latin typeface="Times New Roman" panose="02020603050405020304" pitchFamily="18" charset="0"/>
                <a:ea typeface="宋体" panose="02010600030101010101" pitchFamily="2" charset="-122"/>
              </a:rPr>
              <a:t> (</a:t>
            </a:r>
            <a:r>
              <a:rPr lang="en-US" altLang="zh-CN" sz="2400" b="1" dirty="0">
                <a:solidFill>
                  <a:schemeClr val="accent2"/>
                </a:solidFill>
                <a:effectLst/>
                <a:latin typeface="Trebuchet MS" panose="020B0603020202020204" pitchFamily="34" charset="0"/>
                <a:ea typeface="宋体" panose="02010600030101010101" pitchFamily="2" charset="-122"/>
              </a:rPr>
              <a:t>e.g.</a:t>
            </a:r>
            <a:r>
              <a:rPr lang="en-US" altLang="zh-CN" sz="2000" b="1" dirty="0">
                <a:effectLst/>
                <a:latin typeface="Times New Roman" panose="02020603050405020304" pitchFamily="18" charset="0"/>
                <a:ea typeface="宋体" panose="02010600030101010101" pitchFamily="2" charset="-122"/>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669148"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10000"/>
              </a:lnSpc>
              <a:buFontTx/>
              <a:buNone/>
            </a:pPr>
            <a:endParaRPr lang="en-US" altLang="zh-CN" sz="2800" b="1" dirty="0">
              <a:solidFill>
                <a:srgbClr val="FF3300"/>
              </a:solidFill>
            </a:endParaRPr>
          </a:p>
          <a:p>
            <a:pPr eaLnBrk="1" hangingPunct="1">
              <a:lnSpc>
                <a:spcPct val="110000"/>
              </a:lnSpc>
              <a:buFontTx/>
              <a:buNone/>
            </a:pPr>
            <a:endParaRPr lang="zh-CN" altLang="en-US" sz="2800" b="1" dirty="0"/>
          </a:p>
        </p:txBody>
      </p:sp>
      <p:sp>
        <p:nvSpPr>
          <p:cNvPr id="16" name="Rectangle 3">
            <a:extLst>
              <a:ext uri="{FF2B5EF4-FFF2-40B4-BE49-F238E27FC236}">
                <a16:creationId xmlns:a16="http://schemas.microsoft.com/office/drawing/2014/main" id="{55AC368A-36DC-4DFF-A1ED-EA17F514E903}"/>
              </a:ext>
            </a:extLst>
          </p:cNvPr>
          <p:cNvSpPr>
            <a:spLocks noGrp="1" noChangeArrowheads="1"/>
          </p:cNvSpPr>
          <p:nvPr>
            <p:ph idx="1"/>
          </p:nvPr>
        </p:nvSpPr>
        <p:spPr>
          <a:xfrm>
            <a:off x="811089" y="1295924"/>
            <a:ext cx="8058591" cy="4136082"/>
          </a:xfrm>
        </p:spPr>
        <p:txBody>
          <a:bodyPr>
            <a:noAutofit/>
          </a:bodyPr>
          <a:lstStyle/>
          <a:p>
            <a:pPr marL="0" indent="0" algn="l">
              <a:lnSpc>
                <a:spcPct val="120000"/>
              </a:lnSpc>
              <a:spcBef>
                <a:spcPts val="500"/>
              </a:spcBef>
              <a:buNone/>
            </a:pPr>
            <a:r>
              <a:rPr lang="en-US" altLang="zh-CN" dirty="0"/>
              <a:t>       </a:t>
            </a:r>
            <a:r>
              <a:rPr lang="en-US" altLang="zh-CN" b="1" dirty="0"/>
              <a:t>Example: </a:t>
            </a:r>
            <a:r>
              <a:rPr lang="en-US" altLang="zh-CN" dirty="0"/>
              <a:t>Determine the truth value of the following compound propositions:</a:t>
            </a:r>
          </a:p>
          <a:p>
            <a:pPr marL="0" indent="0" algn="l">
              <a:lnSpc>
                <a:spcPct val="120000"/>
              </a:lnSpc>
              <a:spcBef>
                <a:spcPts val="500"/>
              </a:spcBef>
              <a:buNone/>
            </a:pPr>
            <a:r>
              <a:rPr lang="zh-CN" altLang="en-US" dirty="0"/>
              <a:t>(1) </a:t>
            </a:r>
            <a:r>
              <a:rPr lang="en-US" altLang="zh-CN" dirty="0"/>
              <a:t>2 + 2 = 4 if and only if 3 + 3 = 6.</a:t>
            </a:r>
          </a:p>
          <a:p>
            <a:pPr marL="0" indent="0" algn="l">
              <a:lnSpc>
                <a:spcPct val="120000"/>
              </a:lnSpc>
              <a:spcBef>
                <a:spcPts val="500"/>
              </a:spcBef>
              <a:buNone/>
            </a:pPr>
            <a:r>
              <a:rPr lang="zh-CN" altLang="en-US" dirty="0"/>
              <a:t>(2) </a:t>
            </a:r>
            <a:r>
              <a:rPr lang="en-US" altLang="zh-CN" dirty="0"/>
              <a:t>2 + 2 = 4 if and only if 3 is even.</a:t>
            </a:r>
          </a:p>
          <a:p>
            <a:pPr marL="0" indent="0">
              <a:lnSpc>
                <a:spcPct val="120000"/>
              </a:lnSpc>
              <a:spcBef>
                <a:spcPts val="500"/>
              </a:spcBef>
              <a:buNone/>
            </a:pPr>
            <a:r>
              <a:rPr lang="zh-CN" altLang="en-US" dirty="0"/>
              <a:t>(3) </a:t>
            </a:r>
            <a:r>
              <a:rPr lang="en-US" altLang="zh-CN" dirty="0"/>
              <a:t>2 + 2 = 4 if and only if the sun rises in the east.</a:t>
            </a:r>
          </a:p>
          <a:p>
            <a:pPr marL="0" indent="0">
              <a:lnSpc>
                <a:spcPct val="120000"/>
              </a:lnSpc>
              <a:spcBef>
                <a:spcPts val="500"/>
              </a:spcBef>
              <a:buNone/>
            </a:pPr>
            <a:r>
              <a:rPr lang="zh-CN" altLang="en-US" dirty="0"/>
              <a:t>(4) </a:t>
            </a:r>
            <a:r>
              <a:rPr lang="en-US" altLang="zh-CN" dirty="0"/>
              <a:t>2 + 2 = 5 if and only if the sun rises in the west.</a:t>
            </a:r>
          </a:p>
          <a:p>
            <a:pPr marL="0" indent="0">
              <a:lnSpc>
                <a:spcPct val="120000"/>
              </a:lnSpc>
              <a:spcBef>
                <a:spcPts val="500"/>
              </a:spcBef>
              <a:buNone/>
            </a:pPr>
            <a:r>
              <a:rPr lang="zh-CN" altLang="en-US" dirty="0"/>
              <a:t>(5) </a:t>
            </a:r>
            <a:r>
              <a:rPr lang="en-US" altLang="zh-CN" dirty="0"/>
              <a:t> A necessary and sufficient condition for</a:t>
            </a:r>
            <a:r>
              <a:rPr lang="en-US" altLang="zh-CN" i="1" dirty="0"/>
              <a:t> f</a:t>
            </a:r>
            <a:r>
              <a:rPr lang="en-US" altLang="zh-CN" dirty="0"/>
              <a:t>(</a:t>
            </a:r>
            <a:r>
              <a:rPr lang="en-US" altLang="zh-CN" i="1" dirty="0"/>
              <a:t>x</a:t>
            </a:r>
            <a:r>
              <a:rPr lang="en-US" altLang="zh-CN" dirty="0"/>
              <a:t>) to be differentiable at </a:t>
            </a:r>
            <a:r>
              <a:rPr lang="en-US" altLang="zh-CN" i="1" dirty="0"/>
              <a:t>x</a:t>
            </a:r>
            <a:r>
              <a:rPr lang="en-US" altLang="zh-CN" b="1" baseline="-25000" dirty="0"/>
              <a:t>0</a:t>
            </a:r>
            <a:r>
              <a:rPr lang="en-US" altLang="zh-CN" dirty="0"/>
              <a:t> is that it is continuous at </a:t>
            </a:r>
            <a:r>
              <a:rPr lang="en-US" altLang="zh-CN" i="1" dirty="0"/>
              <a:t> x</a:t>
            </a:r>
            <a:r>
              <a:rPr lang="en-US" altLang="zh-CN" b="1" baseline="-25000" dirty="0"/>
              <a:t>0</a:t>
            </a:r>
            <a:r>
              <a:rPr lang="en-US" altLang="zh-CN" dirty="0"/>
              <a:t>.</a:t>
            </a:r>
            <a:endParaRPr lang="zh-CN" altLang="en-US" dirty="0"/>
          </a:p>
        </p:txBody>
      </p:sp>
      <p:sp>
        <p:nvSpPr>
          <p:cNvPr id="17" name="Text Box 5">
            <a:extLst>
              <a:ext uri="{FF2B5EF4-FFF2-40B4-BE49-F238E27FC236}">
                <a16:creationId xmlns:a16="http://schemas.microsoft.com/office/drawing/2014/main" id="{7229F12B-B5A0-436D-9BFC-C050A57C934A}"/>
              </a:ext>
            </a:extLst>
          </p:cNvPr>
          <p:cNvSpPr txBox="1">
            <a:spLocks noChangeArrowheads="1"/>
          </p:cNvSpPr>
          <p:nvPr/>
        </p:nvSpPr>
        <p:spPr bwMode="auto">
          <a:xfrm>
            <a:off x="9400075" y="2248083"/>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zh-CN" altLang="en-US" sz="2400" b="1" dirty="0">
                <a:solidFill>
                  <a:srgbClr val="00B0F0"/>
                </a:solidFill>
                <a:latin typeface="Times New Roman" panose="02020603050405020304" pitchFamily="18" charset="0"/>
                <a:ea typeface="宋体" panose="02010600030101010101" pitchFamily="2" charset="-122"/>
              </a:rPr>
              <a:t>1</a:t>
            </a:r>
          </a:p>
        </p:txBody>
      </p:sp>
      <p:sp>
        <p:nvSpPr>
          <p:cNvPr id="19" name="Text Box 6">
            <a:extLst>
              <a:ext uri="{FF2B5EF4-FFF2-40B4-BE49-F238E27FC236}">
                <a16:creationId xmlns:a16="http://schemas.microsoft.com/office/drawing/2014/main" id="{F0C02C7D-1D87-406E-AFBD-8E109B46249D}"/>
              </a:ext>
            </a:extLst>
          </p:cNvPr>
          <p:cNvSpPr txBox="1">
            <a:spLocks noChangeArrowheads="1"/>
          </p:cNvSpPr>
          <p:nvPr/>
        </p:nvSpPr>
        <p:spPr bwMode="auto">
          <a:xfrm>
            <a:off x="9400075" y="2756125"/>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zh-CN" altLang="en-US" sz="2400" b="1" dirty="0">
                <a:solidFill>
                  <a:srgbClr val="00B0F0"/>
                </a:solidFill>
                <a:latin typeface="Times New Roman" panose="02020603050405020304" pitchFamily="18" charset="0"/>
                <a:ea typeface="宋体" panose="02010600030101010101" pitchFamily="2" charset="-122"/>
              </a:rPr>
              <a:t>0</a:t>
            </a:r>
          </a:p>
        </p:txBody>
      </p:sp>
      <p:sp>
        <p:nvSpPr>
          <p:cNvPr id="21" name="Text Box 7">
            <a:extLst>
              <a:ext uri="{FF2B5EF4-FFF2-40B4-BE49-F238E27FC236}">
                <a16:creationId xmlns:a16="http://schemas.microsoft.com/office/drawing/2014/main" id="{CEBC82C8-B4E6-4788-BE76-1E17EB2F0249}"/>
              </a:ext>
            </a:extLst>
          </p:cNvPr>
          <p:cNvSpPr txBox="1">
            <a:spLocks noChangeArrowheads="1"/>
          </p:cNvSpPr>
          <p:nvPr/>
        </p:nvSpPr>
        <p:spPr bwMode="auto">
          <a:xfrm>
            <a:off x="9400075" y="3264167"/>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zh-CN" altLang="en-US" sz="2400" b="1" dirty="0">
                <a:solidFill>
                  <a:srgbClr val="00B0F0"/>
                </a:solidFill>
                <a:latin typeface="Times New Roman" panose="02020603050405020304" pitchFamily="18" charset="0"/>
                <a:ea typeface="宋体" panose="02010600030101010101" pitchFamily="2" charset="-122"/>
              </a:rPr>
              <a:t>1</a:t>
            </a:r>
          </a:p>
        </p:txBody>
      </p:sp>
      <p:sp>
        <p:nvSpPr>
          <p:cNvPr id="23" name="Text Box 8">
            <a:extLst>
              <a:ext uri="{FF2B5EF4-FFF2-40B4-BE49-F238E27FC236}">
                <a16:creationId xmlns:a16="http://schemas.microsoft.com/office/drawing/2014/main" id="{2F51D535-8DC8-436C-B181-D89D10A28223}"/>
              </a:ext>
            </a:extLst>
          </p:cNvPr>
          <p:cNvSpPr txBox="1">
            <a:spLocks noChangeArrowheads="1"/>
          </p:cNvSpPr>
          <p:nvPr/>
        </p:nvSpPr>
        <p:spPr bwMode="auto">
          <a:xfrm>
            <a:off x="9400075" y="3772209"/>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en-US" altLang="zh-CN" sz="2400" b="1" dirty="0">
                <a:solidFill>
                  <a:srgbClr val="00B0F0"/>
                </a:solidFill>
                <a:latin typeface="Times New Roman" panose="02020603050405020304" pitchFamily="18" charset="0"/>
                <a:ea typeface="宋体" panose="02010600030101010101" pitchFamily="2" charset="-122"/>
              </a:rPr>
              <a:t>0</a:t>
            </a:r>
            <a:endParaRPr lang="zh-CN" altLang="en-US" sz="2400" b="1" dirty="0">
              <a:solidFill>
                <a:srgbClr val="00B0F0"/>
              </a:solidFill>
              <a:latin typeface="Times New Roman" panose="02020603050405020304" pitchFamily="18" charset="0"/>
              <a:ea typeface="宋体" panose="02010600030101010101" pitchFamily="2" charset="-122"/>
            </a:endParaRPr>
          </a:p>
        </p:txBody>
      </p:sp>
      <p:sp>
        <p:nvSpPr>
          <p:cNvPr id="24" name="Text Box 9">
            <a:extLst>
              <a:ext uri="{FF2B5EF4-FFF2-40B4-BE49-F238E27FC236}">
                <a16:creationId xmlns:a16="http://schemas.microsoft.com/office/drawing/2014/main" id="{6B4F920C-D70F-4FD2-AC88-D6071D2BD184}"/>
              </a:ext>
            </a:extLst>
          </p:cNvPr>
          <p:cNvSpPr txBox="1">
            <a:spLocks noChangeArrowheads="1"/>
          </p:cNvSpPr>
          <p:nvPr/>
        </p:nvSpPr>
        <p:spPr bwMode="auto">
          <a:xfrm>
            <a:off x="9410700" y="4280252"/>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spcBef>
                <a:spcPct val="50000"/>
              </a:spcBef>
            </a:pPr>
            <a:r>
              <a:rPr lang="zh-CN" altLang="en-US" sz="2400" b="1" dirty="0">
                <a:solidFill>
                  <a:srgbClr val="00B0F0"/>
                </a:solidFill>
                <a:latin typeface="Times New Roman" panose="02020603050405020304" pitchFamily="18" charset="0"/>
                <a:ea typeface="宋体" panose="02010600030101010101" pitchFamily="2" charset="-122"/>
              </a:rPr>
              <a:t>0</a:t>
            </a:r>
          </a:p>
        </p:txBody>
      </p:sp>
      <p:pic>
        <p:nvPicPr>
          <p:cNvPr id="14" name="图片 13">
            <a:extLst>
              <a:ext uri="{FF2B5EF4-FFF2-40B4-BE49-F238E27FC236}">
                <a16:creationId xmlns:a16="http://schemas.microsoft.com/office/drawing/2014/main" id="{86E073FC-3D81-4176-878C-17409A1B78A2}"/>
              </a:ext>
            </a:extLst>
          </p:cNvPr>
          <p:cNvPicPr/>
          <p:nvPr/>
        </p:nvPicPr>
        <p:blipFill>
          <a:blip r:embed="rId5"/>
          <a:stretch>
            <a:fillRect/>
          </a:stretch>
        </p:blipFill>
        <p:spPr>
          <a:xfrm>
            <a:off x="1000125" y="1425995"/>
            <a:ext cx="577850" cy="241300"/>
          </a:xfrm>
          <a:prstGeom prst="rect">
            <a:avLst/>
          </a:prstGeom>
        </p:spPr>
      </p:pic>
    </p:spTree>
    <p:extLst>
      <p:ext uri="{BB962C8B-B14F-4D97-AF65-F5344CB8AC3E}">
        <p14:creationId xmlns:p14="http://schemas.microsoft.com/office/powerpoint/2010/main" val="3692951269"/>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1000"/>
                                        <p:tgtEl>
                                          <p:spTgt spid="16">
                                            <p:txEl>
                                              <p:pRg st="2" end="2"/>
                                            </p:txEl>
                                          </p:spTgt>
                                        </p:tgtEl>
                                      </p:cBhvr>
                                    </p:animEffect>
                                    <p:anim calcmode="lin" valueType="num">
                                      <p:cBhvr>
                                        <p:cTn id="14"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1+#ppt_w/2"/>
                                          </p:val>
                                        </p:tav>
                                        <p:tav tm="100000">
                                          <p:val>
                                            <p:strVal val="#ppt_x"/>
                                          </p:val>
                                        </p:tav>
                                      </p:tavLst>
                                    </p:anim>
                                    <p:anim calcmode="lin" valueType="num">
                                      <p:cBhvr additive="base">
                                        <p:cTn id="21"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
                                            <p:txEl>
                                              <p:pRg st="3" end="3"/>
                                            </p:txEl>
                                          </p:spTgt>
                                        </p:tgtEl>
                                        <p:attrNameLst>
                                          <p:attrName>style.visibility</p:attrName>
                                        </p:attrNameLst>
                                      </p:cBhvr>
                                      <p:to>
                                        <p:strVal val="visible"/>
                                      </p:to>
                                    </p:set>
                                    <p:animEffect transition="in" filter="fade">
                                      <p:cBhvr>
                                        <p:cTn id="26" dur="1000"/>
                                        <p:tgtEl>
                                          <p:spTgt spid="16">
                                            <p:txEl>
                                              <p:pRg st="3" end="3"/>
                                            </p:txEl>
                                          </p:spTgt>
                                        </p:tgtEl>
                                      </p:cBhvr>
                                    </p:animEffect>
                                    <p:anim calcmode="lin" valueType="num">
                                      <p:cBhvr>
                                        <p:cTn id="27"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1+#ppt_w/2"/>
                                          </p:val>
                                        </p:tav>
                                        <p:tav tm="100000">
                                          <p:val>
                                            <p:strVal val="#ppt_x"/>
                                          </p:val>
                                        </p:tav>
                                      </p:tavLst>
                                    </p:anim>
                                    <p:anim calcmode="lin" valueType="num">
                                      <p:cBhvr additive="base">
                                        <p:cTn id="3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6">
                                            <p:txEl>
                                              <p:pRg st="4" end="4"/>
                                            </p:txEl>
                                          </p:spTgt>
                                        </p:tgtEl>
                                        <p:attrNameLst>
                                          <p:attrName>style.visibility</p:attrName>
                                        </p:attrNameLst>
                                      </p:cBhvr>
                                      <p:to>
                                        <p:strVal val="visible"/>
                                      </p:to>
                                    </p:set>
                                    <p:animEffect transition="in" filter="fade">
                                      <p:cBhvr>
                                        <p:cTn id="39" dur="1000"/>
                                        <p:tgtEl>
                                          <p:spTgt spid="16">
                                            <p:txEl>
                                              <p:pRg st="4" end="4"/>
                                            </p:txEl>
                                          </p:spTgt>
                                        </p:tgtEl>
                                      </p:cBhvr>
                                    </p:animEffect>
                                    <p:anim calcmode="lin" valueType="num">
                                      <p:cBhvr>
                                        <p:cTn id="40"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1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1+#ppt_w/2"/>
                                          </p:val>
                                        </p:tav>
                                        <p:tav tm="100000">
                                          <p:val>
                                            <p:strVal val="#ppt_x"/>
                                          </p:val>
                                        </p:tav>
                                      </p:tavLst>
                                    </p:anim>
                                    <p:anim calcmode="lin" valueType="num">
                                      <p:cBhvr additive="base">
                                        <p:cTn id="47"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16">
                                            <p:txEl>
                                              <p:pRg st="5" end="5"/>
                                            </p:txEl>
                                          </p:spTgt>
                                        </p:tgtEl>
                                        <p:attrNameLst>
                                          <p:attrName>style.visibility</p:attrName>
                                        </p:attrNameLst>
                                      </p:cBhvr>
                                      <p:to>
                                        <p:strVal val="visible"/>
                                      </p:to>
                                    </p:set>
                                    <p:animEffect transition="in" filter="fade">
                                      <p:cBhvr>
                                        <p:cTn id="52" dur="1000"/>
                                        <p:tgtEl>
                                          <p:spTgt spid="16">
                                            <p:txEl>
                                              <p:pRg st="5" end="5"/>
                                            </p:txEl>
                                          </p:spTgt>
                                        </p:tgtEl>
                                      </p:cBhvr>
                                    </p:animEffect>
                                    <p:anim calcmode="lin" valueType="num">
                                      <p:cBhvr>
                                        <p:cTn id="53" dur="1000" fill="hold"/>
                                        <p:tgtEl>
                                          <p:spTgt spid="16">
                                            <p:txEl>
                                              <p:pRg st="5" end="5"/>
                                            </p:txEl>
                                          </p:spTgt>
                                        </p:tgtEl>
                                        <p:attrNameLst>
                                          <p:attrName>ppt_x</p:attrName>
                                        </p:attrNameLst>
                                      </p:cBhvr>
                                      <p:tavLst>
                                        <p:tav tm="0">
                                          <p:val>
                                            <p:strVal val="#ppt_x"/>
                                          </p:val>
                                        </p:tav>
                                        <p:tav tm="100000">
                                          <p:val>
                                            <p:strVal val="#ppt_x"/>
                                          </p:val>
                                        </p:tav>
                                      </p:tavLst>
                                    </p:anim>
                                    <p:anim calcmode="lin" valueType="num">
                                      <p:cBhvr>
                                        <p:cTn id="54" dur="1000" fill="hold"/>
                                        <p:tgtEl>
                                          <p:spTgt spid="1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1+#ppt_w/2"/>
                                          </p:val>
                                        </p:tav>
                                        <p:tav tm="100000">
                                          <p:val>
                                            <p:strVal val="#ppt_x"/>
                                          </p:val>
                                        </p:tav>
                                      </p:tavLst>
                                    </p:anim>
                                    <p:anim calcmode="lin" valueType="num">
                                      <p:cBhvr additive="base">
                                        <p:cTn id="6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i="0" dirty="0">
                <a:solidFill>
                  <a:schemeClr val="bg1"/>
                </a:solidFill>
                <a:effectLst/>
                <a:latin typeface="Trebuchet MS" panose="020B0603020202020204" pitchFamily="34" charset="0"/>
              </a:rPr>
              <a:t>2.1.2 </a:t>
            </a:r>
            <a:r>
              <a:rPr lang="en-US" altLang="zh-CN" sz="2400" dirty="0">
                <a:solidFill>
                  <a:schemeClr val="bg1"/>
                </a:solidFill>
                <a:latin typeface="Trebuchet MS" panose="020B0603020202020204" pitchFamily="34" charset="0"/>
              </a:rPr>
              <a:t>Propositional Formulas and Their Classification</a:t>
            </a:r>
            <a:endParaRPr lang="zh-CN" altLang="en-US" sz="2400"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19606"/>
            <a:ext cx="9669148" cy="52420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latinLnBrk="1">
              <a:lnSpc>
                <a:spcPct val="110000"/>
              </a:lnSpc>
              <a:spcBef>
                <a:spcPts val="5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Truth Values of Basic Compound Propositions</a:t>
            </a:r>
          </a:p>
          <a:p>
            <a:pPr marL="0" indent="0">
              <a:lnSpc>
                <a:spcPct val="110000"/>
              </a:lnSpc>
              <a:spcBef>
                <a:spcPts val="500"/>
              </a:spcBef>
              <a:buNone/>
            </a:pPr>
            <a:br>
              <a:rPr lang="en-US" altLang="zh-CN" sz="2400" b="0" i="0" dirty="0">
                <a:solidFill>
                  <a:srgbClr val="737A87"/>
                </a:solidFill>
                <a:effectLst/>
                <a:latin typeface="Trebuchet MS" panose="020B0603020202020204" pitchFamily="34" charset="0"/>
              </a:rPr>
            </a:br>
            <a:endParaRPr lang="en-US" altLang="zh-CN" sz="2400" b="1" dirty="0">
              <a:solidFill>
                <a:srgbClr val="FF3300"/>
              </a:solidFill>
              <a:latin typeface="Trebuchet MS" panose="020B0603020202020204" pitchFamily="34" charset="0"/>
            </a:endParaRPr>
          </a:p>
          <a:p>
            <a:pPr algn="just" eaLnBrk="1" hangingPunct="1">
              <a:lnSpc>
                <a:spcPct val="110000"/>
              </a:lnSpc>
              <a:spcBef>
                <a:spcPts val="500"/>
              </a:spcBef>
              <a:buFontTx/>
              <a:buNone/>
            </a:pPr>
            <a:endParaRPr lang="en-US" altLang="zh-CN" sz="2400" b="1" dirty="0">
              <a:solidFill>
                <a:srgbClr val="FF3300"/>
              </a:solidFill>
              <a:latin typeface="Trebuchet MS" panose="020B0603020202020204" pitchFamily="34" charset="0"/>
            </a:endParaRPr>
          </a:p>
          <a:p>
            <a:pPr algn="just" eaLnBrk="1" hangingPunct="1">
              <a:lnSpc>
                <a:spcPct val="110000"/>
              </a:lnSpc>
              <a:spcBef>
                <a:spcPts val="500"/>
              </a:spcBef>
              <a:buFontTx/>
              <a:buNone/>
            </a:pPr>
            <a:endParaRPr lang="en-US" altLang="zh-CN" sz="2400" b="1" dirty="0">
              <a:solidFill>
                <a:srgbClr val="FF3300"/>
              </a:solidFill>
              <a:latin typeface="Trebuchet MS" panose="020B0603020202020204" pitchFamily="34" charset="0"/>
            </a:endParaRPr>
          </a:p>
          <a:p>
            <a:pPr algn="just" eaLnBrk="1" hangingPunct="1">
              <a:lnSpc>
                <a:spcPct val="110000"/>
              </a:lnSpc>
              <a:spcBef>
                <a:spcPts val="500"/>
              </a:spcBef>
              <a:buFontTx/>
              <a:buNone/>
            </a:pPr>
            <a:endParaRPr lang="en-US" altLang="zh-CN" sz="2400" b="1" dirty="0">
              <a:solidFill>
                <a:srgbClr val="FF3300"/>
              </a:solidFill>
              <a:latin typeface="Trebuchet MS" panose="020B0603020202020204" pitchFamily="34" charset="0"/>
            </a:endParaRPr>
          </a:p>
          <a:p>
            <a:pPr>
              <a:lnSpc>
                <a:spcPct val="110000"/>
              </a:lnSpc>
              <a:spcBef>
                <a:spcPts val="500"/>
              </a:spcBef>
              <a:buClr>
                <a:srgbClr val="0B61FF"/>
              </a:buClr>
              <a:buSzPct val="80000"/>
              <a:buFont typeface="Wingdings" panose="05000000000000000000" pitchFamily="2" charset="2"/>
              <a:buChar char="n"/>
            </a:pPr>
            <a:endParaRPr lang="en-US" altLang="zh-CN" sz="2400" b="1" dirty="0">
              <a:latin typeface="Trebuchet MS" panose="020B0603020202020204" pitchFamily="34" charset="0"/>
            </a:endParaRPr>
          </a:p>
          <a:p>
            <a:pPr>
              <a:lnSpc>
                <a:spcPct val="110000"/>
              </a:lnSpc>
              <a:spcBef>
                <a:spcPts val="5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Precedence of Logical Connectives:</a:t>
            </a:r>
            <a:br>
              <a:rPr lang="en-US" altLang="zh-CN" sz="2400" dirty="0">
                <a:latin typeface="Trebuchet MS" panose="020B0603020202020204" pitchFamily="34" charset="0"/>
              </a:rPr>
            </a:br>
            <a:r>
              <a:rPr lang="en-US" altLang="zh-CN" sz="2400" b="0" i="0" dirty="0">
                <a:solidFill>
                  <a:srgbClr val="0C0D0E"/>
                </a:solidFill>
                <a:effectLst/>
                <a:latin typeface="Trebuchet MS" panose="020B0603020202020204" pitchFamily="34" charset="0"/>
              </a:rPr>
              <a:t>Parentheses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Negation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Conjunction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Disjunction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Implication (</a:t>
            </a:r>
            <a:r>
              <a:rPr lang="en-US" altLang="zh-CN" sz="2400" b="1" i="0" dirty="0">
                <a:solidFill>
                  <a:srgbClr val="0C0D0E"/>
                </a:solidFill>
                <a:effectLst/>
                <a:latin typeface="Trebuchet MS" panose="020B0603020202020204" pitchFamily="34" charset="0"/>
              </a:rPr>
              <a:t>→</a:t>
            </a:r>
            <a:r>
              <a:rPr lang="en-US" altLang="zh-CN" sz="2400" b="0" i="0" dirty="0">
                <a:solidFill>
                  <a:srgbClr val="0C0D0E"/>
                </a:solidFill>
                <a:effectLst/>
                <a:latin typeface="Trebuchet MS" panose="020B0603020202020204" pitchFamily="34" charset="0"/>
              </a:rPr>
              <a:t>), Biconditional (</a:t>
            </a:r>
            <a:r>
              <a:rPr lang="zh-CN" altLang="en-US" sz="2400" dirty="0">
                <a:solidFill>
                  <a:schemeClr val="tx1"/>
                </a:solidFill>
                <a:latin typeface="Trebuchet MS" panose="020B0603020202020204" pitchFamily="34" charset="0"/>
                <a:sym typeface="Symbol" panose="05050102010706020507" pitchFamily="18" charset="2"/>
              </a:rPr>
              <a:t></a:t>
            </a:r>
            <a:r>
              <a:rPr lang="en-US" altLang="zh-CN" sz="2400" b="0" i="0" dirty="0">
                <a:solidFill>
                  <a:srgbClr val="0C0D0E"/>
                </a:solidFill>
                <a:effectLst/>
                <a:latin typeface="Trebuchet MS" panose="020B0603020202020204" pitchFamily="34" charset="0"/>
              </a:rPr>
              <a:t>).</a:t>
            </a:r>
          </a:p>
          <a:p>
            <a:pPr indent="36513">
              <a:lnSpc>
                <a:spcPct val="110000"/>
              </a:lnSpc>
              <a:spcBef>
                <a:spcPts val="500"/>
              </a:spcBef>
              <a:buClr>
                <a:srgbClr val="0B61FF"/>
              </a:buClr>
              <a:buSzPct val="120000"/>
            </a:pPr>
            <a:r>
              <a:rPr lang="en-US" altLang="zh-CN" sz="2400" b="1" i="0" dirty="0">
                <a:solidFill>
                  <a:srgbClr val="0C0D0E"/>
                </a:solidFill>
                <a:effectLst/>
                <a:latin typeface="Trebuchet MS" panose="020B0603020202020204" pitchFamily="34" charset="0"/>
              </a:rPr>
              <a:t> Same Level:</a:t>
            </a:r>
            <a:r>
              <a:rPr lang="en-US" altLang="zh-CN" sz="2400" b="0" i="0" dirty="0">
                <a:solidFill>
                  <a:srgbClr val="0C0D0E"/>
                </a:solidFill>
                <a:effectLst/>
                <a:latin typeface="Trebuchet MS" panose="020B0603020202020204" pitchFamily="34" charset="0"/>
              </a:rPr>
              <a:t> Evaluated from left to right.</a:t>
            </a:r>
            <a:endParaRPr lang="zh-CN" altLang="en-US" sz="2400" dirty="0">
              <a:latin typeface="Trebuchet MS" panose="020B0603020202020204" pitchFamily="34" charset="0"/>
            </a:endParaRPr>
          </a:p>
        </p:txBody>
      </p:sp>
      <p:graphicFrame>
        <p:nvGraphicFramePr>
          <p:cNvPr id="3" name="表格 3">
            <a:extLst>
              <a:ext uri="{FF2B5EF4-FFF2-40B4-BE49-F238E27FC236}">
                <a16:creationId xmlns:a16="http://schemas.microsoft.com/office/drawing/2014/main" id="{DEBCF93A-19CD-4935-83B2-C2A612B89DB8}"/>
              </a:ext>
            </a:extLst>
          </p:cNvPr>
          <p:cNvGraphicFramePr>
            <a:graphicFrameLocks noGrp="1"/>
          </p:cNvGraphicFramePr>
          <p:nvPr>
            <p:extLst>
              <p:ext uri="{D42A27DB-BD31-4B8C-83A1-F6EECF244321}">
                <p14:modId xmlns:p14="http://schemas.microsoft.com/office/powerpoint/2010/main" val="1433672851"/>
              </p:ext>
            </p:extLst>
          </p:nvPr>
        </p:nvGraphicFramePr>
        <p:xfrm>
          <a:off x="1239169" y="1410199"/>
          <a:ext cx="6966858" cy="228600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421083325"/>
                    </a:ext>
                  </a:extLst>
                </a:gridCol>
                <a:gridCol w="1161143">
                  <a:extLst>
                    <a:ext uri="{9D8B030D-6E8A-4147-A177-3AD203B41FA5}">
                      <a16:colId xmlns:a16="http://schemas.microsoft.com/office/drawing/2014/main" val="2884399822"/>
                    </a:ext>
                  </a:extLst>
                </a:gridCol>
                <a:gridCol w="1161143">
                  <a:extLst>
                    <a:ext uri="{9D8B030D-6E8A-4147-A177-3AD203B41FA5}">
                      <a16:colId xmlns:a16="http://schemas.microsoft.com/office/drawing/2014/main" val="1031212381"/>
                    </a:ext>
                  </a:extLst>
                </a:gridCol>
                <a:gridCol w="1161143">
                  <a:extLst>
                    <a:ext uri="{9D8B030D-6E8A-4147-A177-3AD203B41FA5}">
                      <a16:colId xmlns:a16="http://schemas.microsoft.com/office/drawing/2014/main" val="3622598255"/>
                    </a:ext>
                  </a:extLst>
                </a:gridCol>
                <a:gridCol w="1161143">
                  <a:extLst>
                    <a:ext uri="{9D8B030D-6E8A-4147-A177-3AD203B41FA5}">
                      <a16:colId xmlns:a16="http://schemas.microsoft.com/office/drawing/2014/main" val="891943238"/>
                    </a:ext>
                  </a:extLst>
                </a:gridCol>
                <a:gridCol w="1161143">
                  <a:extLst>
                    <a:ext uri="{9D8B030D-6E8A-4147-A177-3AD203B41FA5}">
                      <a16:colId xmlns:a16="http://schemas.microsoft.com/office/drawing/2014/main" val="256219698"/>
                    </a:ext>
                  </a:extLst>
                </a:gridCol>
              </a:tblGrid>
              <a:tr h="370840">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p</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q</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p</a:t>
                      </a:r>
                      <a:r>
                        <a:rPr lang="zh-CN" altLang="en-US" sz="2400" b="1" dirty="0">
                          <a:solidFill>
                            <a:schemeClr val="tx1"/>
                          </a:solidFill>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rPr>
                        <a:t>q</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p</a:t>
                      </a:r>
                      <a:r>
                        <a:rPr lang="zh-CN" altLang="en-US" sz="2400" b="1" dirty="0">
                          <a:solidFill>
                            <a:schemeClr val="tx1"/>
                          </a:solidFill>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rPr>
                        <a:t>q</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p</a:t>
                      </a:r>
                      <a:r>
                        <a:rPr lang="zh-CN" altLang="en-US" sz="2400" b="1" dirty="0">
                          <a:solidFill>
                            <a:schemeClr val="tx1"/>
                          </a:solidFill>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rPr>
                        <a:t>q</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p</a:t>
                      </a:r>
                      <a:r>
                        <a:rPr lang="zh-CN" altLang="en-US" sz="2400" b="1" dirty="0">
                          <a:solidFill>
                            <a:schemeClr val="tx1"/>
                          </a:solidFill>
                          <a:sym typeface="Symbol" panose="05050102010706020507" pitchFamily="18" charset="2"/>
                        </a:rPr>
                        <a:t></a:t>
                      </a:r>
                      <a:r>
                        <a:rPr lang="en-US" altLang="zh-CN" sz="2400" b="1" i="1" dirty="0">
                          <a:solidFill>
                            <a:schemeClr val="tx1"/>
                          </a:solidFill>
                          <a:latin typeface="Times New Roman" panose="02020603050405020304" pitchFamily="18" charset="0"/>
                          <a:cs typeface="Times New Roman" panose="02020603050405020304" pitchFamily="18" charset="0"/>
                        </a:rPr>
                        <a:t>q</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extLst>
                  <a:ext uri="{0D108BD9-81ED-4DB2-BD59-A6C34878D82A}">
                    <a16:rowId xmlns:a16="http://schemas.microsoft.com/office/drawing/2014/main" val="4046470618"/>
                  </a:ext>
                </a:extLst>
              </a:tr>
              <a:tr h="370840">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2069930"/>
                  </a:ext>
                </a:extLst>
              </a:tr>
              <a:tr h="370840">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3818145"/>
                  </a:ext>
                </a:extLst>
              </a:tr>
              <a:tr h="370840">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0</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7950382"/>
                  </a:ext>
                </a:extLst>
              </a:tr>
              <a:tr h="370840">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400" b="1" i="1" dirty="0">
                          <a:solidFill>
                            <a:schemeClr val="tx1"/>
                          </a:solidFill>
                          <a:latin typeface="Times New Roman" panose="02020603050405020304" pitchFamily="18" charset="0"/>
                          <a:cs typeface="Times New Roman" panose="02020603050405020304" pitchFamily="18" charset="0"/>
                        </a:rPr>
                        <a:t>1</a:t>
                      </a:r>
                      <a:endParaRPr lang="zh-CN" altLang="en-US" sz="24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210642"/>
                  </a:ext>
                </a:extLst>
              </a:tr>
            </a:tbl>
          </a:graphicData>
        </a:graphic>
      </p:graphicFrame>
    </p:spTree>
    <p:extLst>
      <p:ext uri="{BB962C8B-B14F-4D97-AF65-F5344CB8AC3E}">
        <p14:creationId xmlns:p14="http://schemas.microsoft.com/office/powerpoint/2010/main" val="569153613"/>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1000"/>
                                        <p:tgtEl>
                                          <p:spTgt spid="8">
                                            <p:txEl>
                                              <p:pRg st="6" end="6"/>
                                            </p:txEl>
                                          </p:spTgt>
                                        </p:tgtEl>
                                      </p:cBhvr>
                                    </p:animEffect>
                                    <p:anim calcmode="lin" valueType="num">
                                      <p:cBhvr>
                                        <p:cTn id="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7" end="7"/>
                                            </p:txEl>
                                          </p:spTgt>
                                        </p:tgtEl>
                                        <p:attrNameLst>
                                          <p:attrName>style.visibility</p:attrName>
                                        </p:attrNameLst>
                                      </p:cBhvr>
                                      <p:to>
                                        <p:strVal val="visible"/>
                                      </p:to>
                                    </p:set>
                                    <p:animEffect transition="in" filter="fade">
                                      <p:cBhvr>
                                        <p:cTn id="14" dur="1000"/>
                                        <p:tgtEl>
                                          <p:spTgt spid="8">
                                            <p:txEl>
                                              <p:pRg st="7" end="7"/>
                                            </p:txEl>
                                          </p:spTgt>
                                        </p:tgtEl>
                                      </p:cBhvr>
                                    </p:animEffect>
                                    <p:anim calcmode="lin" valueType="num">
                                      <p:cBhvr>
                                        <p:cTn id="1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and Their </a:t>
            </a:r>
            <a:r>
              <a:rPr lang="en-US" altLang="zh-CN" sz="2000" dirty="0" err="1">
                <a:solidFill>
                  <a:schemeClr val="bg1"/>
                </a:solidFill>
                <a:latin typeface="Trebuchet MS" panose="020B0603020202020204" pitchFamily="34" charset="0"/>
              </a:rPr>
              <a:t>Classification</a:t>
            </a:r>
            <a:r>
              <a:rPr lang="en-US" altLang="zh-CN" sz="2400" b="1" dirty="0" err="1">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err="1">
                <a:solidFill>
                  <a:schemeClr val="bg1"/>
                </a:solidFill>
                <a:latin typeface="Trebuchet MS" panose="020B0603020202020204" pitchFamily="34" charset="0"/>
              </a:rPr>
              <a:t>Well-Formed</a:t>
            </a:r>
            <a:r>
              <a:rPr lang="en-US" altLang="zh-CN" sz="2000" b="1" dirty="0">
                <a:solidFill>
                  <a:schemeClr val="bg1"/>
                </a:solidFill>
                <a:latin typeface="Trebuchet MS" panose="020B0603020202020204" pitchFamily="34" charset="0"/>
              </a:rPr>
              <a:t> Formula </a:t>
            </a:r>
            <a:endParaRPr lang="zh-CN" altLang="en-US" sz="20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73220" y="765176"/>
            <a:ext cx="11188250" cy="56013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2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Propositional Constants:</a:t>
            </a:r>
            <a:r>
              <a:rPr lang="en-US" altLang="zh-CN" sz="2400" b="0" i="0" dirty="0">
                <a:solidFill>
                  <a:srgbClr val="0C0D0E"/>
                </a:solidFill>
                <a:effectLst/>
                <a:latin typeface="Trebuchet MS" panose="020B0603020202020204" pitchFamily="34" charset="0"/>
              </a:rPr>
              <a:t> Simple propositions</a:t>
            </a:r>
          </a:p>
          <a:p>
            <a:pPr algn="l">
              <a:lnSpc>
                <a:spcPct val="120000"/>
              </a:lnSpc>
              <a:spcBef>
                <a:spcPts val="2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Propositional Variables:</a:t>
            </a:r>
            <a:r>
              <a:rPr lang="en-US" altLang="zh-CN" sz="2400" b="0" i="0" dirty="0">
                <a:solidFill>
                  <a:srgbClr val="0C0D0E"/>
                </a:solidFill>
                <a:effectLst/>
                <a:latin typeface="Trebuchet MS" panose="020B0603020202020204" pitchFamily="34" charset="0"/>
              </a:rPr>
              <a:t> Variables that can take the value 0 (true) or 1 (false).</a:t>
            </a:r>
          </a:p>
          <a:p>
            <a:pPr algn="l">
              <a:lnSpc>
                <a:spcPct val="120000"/>
              </a:lnSpc>
              <a:spcBef>
                <a:spcPts val="2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Definition 2.6 Well-Formed Formula (Propositional Formula, Formula): </a:t>
            </a:r>
            <a:r>
              <a:rPr lang="en-US" altLang="zh-CN" sz="2400" b="0" i="0" dirty="0">
                <a:solidFill>
                  <a:srgbClr val="0C0D0E"/>
                </a:solidFill>
                <a:effectLst/>
                <a:latin typeface="Trebuchet MS" panose="020B0603020202020204" pitchFamily="34" charset="0"/>
              </a:rPr>
              <a:t>A well-formed formula is </a:t>
            </a:r>
            <a:r>
              <a:rPr lang="en-US" altLang="zh-CN" sz="2400" b="1" i="0" dirty="0">
                <a:solidFill>
                  <a:srgbClr val="0C0D0E"/>
                </a:solidFill>
                <a:effectLst/>
                <a:latin typeface="Trebuchet MS" panose="020B0603020202020204" pitchFamily="34" charset="0"/>
              </a:rPr>
              <a:t>recursively defined </a:t>
            </a:r>
            <a:r>
              <a:rPr lang="en-US" altLang="zh-CN" sz="2400" b="0" i="0" dirty="0">
                <a:solidFill>
                  <a:srgbClr val="0C0D0E"/>
                </a:solidFill>
                <a:effectLst/>
                <a:latin typeface="Trebuchet MS" panose="020B0603020202020204" pitchFamily="34" charset="0"/>
              </a:rPr>
              <a:t>as follows:</a:t>
            </a:r>
          </a:p>
          <a:p>
            <a:pPr marL="536575" indent="-536575" algn="l">
              <a:lnSpc>
                <a:spcPct val="120000"/>
              </a:lnSpc>
              <a:spcBef>
                <a:spcPts val="200"/>
              </a:spcBef>
              <a:buNone/>
            </a:pPr>
            <a:r>
              <a:rPr lang="en-US" altLang="zh-CN" sz="2400" dirty="0">
                <a:solidFill>
                  <a:srgbClr val="0B61FF"/>
                </a:solidFill>
                <a:latin typeface="Trebuchet MS" panose="020B0603020202020204" pitchFamily="34" charset="0"/>
              </a:rPr>
              <a:t>(1) </a:t>
            </a:r>
            <a:r>
              <a:rPr lang="en-US" altLang="zh-CN" sz="2400" b="0" i="0" dirty="0">
                <a:solidFill>
                  <a:srgbClr val="0C0D0E"/>
                </a:solidFill>
                <a:effectLst/>
                <a:latin typeface="Trebuchet MS" panose="020B0603020202020204" pitchFamily="34" charset="0"/>
              </a:rPr>
              <a:t>A single propositional constant or variable is a well-formed formula, also called an atomic formula.</a:t>
            </a:r>
          </a:p>
          <a:p>
            <a:pPr marL="0" indent="0" algn="l">
              <a:lnSpc>
                <a:spcPct val="120000"/>
              </a:lnSpc>
              <a:spcBef>
                <a:spcPts val="200"/>
              </a:spcBef>
              <a:buNone/>
            </a:pPr>
            <a:r>
              <a:rPr lang="en-US" altLang="zh-CN" sz="2400" dirty="0">
                <a:solidFill>
                  <a:srgbClr val="0B61FF"/>
                </a:solidFill>
                <a:latin typeface="Trebuchet MS" panose="020B0603020202020204" pitchFamily="34" charset="0"/>
              </a:rPr>
              <a:t>(2) </a:t>
            </a:r>
            <a:r>
              <a:rPr lang="en-US" altLang="zh-CN" sz="2400" b="0" i="0" dirty="0">
                <a:solidFill>
                  <a:srgbClr val="0C0D0E"/>
                </a:solidFill>
                <a:effectLst/>
                <a:latin typeface="Trebuchet MS" panose="020B0603020202020204" pitchFamily="34" charset="0"/>
              </a:rPr>
              <a:t>If A is a well-formed formula, then (¬A) is also a well-formed formula.</a:t>
            </a:r>
          </a:p>
          <a:p>
            <a:pPr marL="536575" indent="-536575" algn="l">
              <a:lnSpc>
                <a:spcPct val="120000"/>
              </a:lnSpc>
              <a:spcBef>
                <a:spcPts val="200"/>
              </a:spcBef>
              <a:buNone/>
            </a:pPr>
            <a:r>
              <a:rPr lang="en-US" altLang="zh-CN" sz="2400" dirty="0">
                <a:solidFill>
                  <a:srgbClr val="0B61FF"/>
                </a:solidFill>
                <a:latin typeface="Trebuchet MS" panose="020B0603020202020204" pitchFamily="34" charset="0"/>
              </a:rPr>
              <a:t>(3) </a:t>
            </a:r>
            <a:r>
              <a:rPr lang="en-US" altLang="zh-CN" sz="2400" b="0" i="0" dirty="0">
                <a:solidFill>
                  <a:srgbClr val="0C0D0E"/>
                </a:solidFill>
                <a:effectLst/>
                <a:latin typeface="Trebuchet MS" panose="020B0603020202020204" pitchFamily="34" charset="0"/>
              </a:rPr>
              <a:t>If A and B are well-formed formulas, then (A ∧ B), (A ∨ B), (A → B), and (A </a:t>
            </a:r>
            <a:r>
              <a:rPr lang="en-US" altLang="zh-CN" sz="2400" b="1" dirty="0">
                <a:latin typeface="Trebuchet MS" panose="020B0603020202020204" pitchFamily="34" charset="0"/>
                <a:sym typeface="Symbol" panose="05050102010706020507" pitchFamily="18" charset="2"/>
              </a:rPr>
              <a:t></a:t>
            </a:r>
            <a:r>
              <a:rPr lang="en-US" altLang="zh-CN" sz="2400" b="0" i="0" dirty="0">
                <a:solidFill>
                  <a:srgbClr val="0C0D0E"/>
                </a:solidFill>
                <a:effectLst/>
                <a:latin typeface="Trebuchet MS" panose="020B0603020202020204" pitchFamily="34" charset="0"/>
              </a:rPr>
              <a:t> B) are also well-formed formulas.</a:t>
            </a:r>
          </a:p>
          <a:p>
            <a:pPr marL="446088" indent="-446088" algn="l">
              <a:lnSpc>
                <a:spcPct val="120000"/>
              </a:lnSpc>
              <a:spcBef>
                <a:spcPts val="200"/>
              </a:spcBef>
              <a:buNone/>
            </a:pPr>
            <a:r>
              <a:rPr lang="en-US" altLang="zh-CN" sz="2400" dirty="0">
                <a:solidFill>
                  <a:srgbClr val="0B61FF"/>
                </a:solidFill>
                <a:latin typeface="Trebuchet MS" panose="020B0603020202020204" pitchFamily="34" charset="0"/>
              </a:rPr>
              <a:t>(4) </a:t>
            </a:r>
            <a:r>
              <a:rPr lang="en-US" altLang="zh-CN" sz="2400" b="0" i="0" dirty="0">
                <a:solidFill>
                  <a:srgbClr val="0C0D0E"/>
                </a:solidFill>
                <a:effectLst/>
                <a:latin typeface="Trebuchet MS" panose="020B0603020202020204" pitchFamily="34" charset="0"/>
              </a:rPr>
              <a:t>Only those expressions formed by a finite number of applications of (1) through (3) are considered well-formed formulas.</a:t>
            </a:r>
            <a:endParaRPr lang="zh-CN" altLang="en-US" sz="2400" b="1" dirty="0">
              <a:latin typeface="Trebuchet MS" panose="020B0603020202020204" pitchFamily="34" charset="0"/>
            </a:endParaRPr>
          </a:p>
          <a:p>
            <a:pPr algn="just" eaLnBrk="1" hangingPunct="1">
              <a:lnSpc>
                <a:spcPct val="120000"/>
              </a:lnSpc>
              <a:spcBef>
                <a:spcPts val="200"/>
              </a:spcBef>
              <a:buFontTx/>
              <a:buNone/>
            </a:pPr>
            <a:r>
              <a:rPr lang="en-US" altLang="zh-CN" sz="2400" b="1" dirty="0">
                <a:solidFill>
                  <a:srgbClr val="00B0F0"/>
                </a:solidFill>
                <a:latin typeface="Trebuchet MS" panose="020B0603020202020204" pitchFamily="34" charset="0"/>
              </a:rPr>
              <a:t>       </a:t>
            </a:r>
            <a:r>
              <a:rPr lang="en-US" altLang="zh-CN" sz="2400" b="1" dirty="0">
                <a:latin typeface="Trebuchet MS" panose="020B0603020202020204" pitchFamily="34" charset="0"/>
              </a:rPr>
              <a:t>Example:</a:t>
            </a:r>
            <a:r>
              <a:rPr lang="en-US" altLang="zh-CN" sz="2400" b="1" dirty="0">
                <a:solidFill>
                  <a:srgbClr val="00B0F0"/>
                </a:solidFill>
                <a:latin typeface="Trebuchet MS" panose="020B0603020202020204" pitchFamily="34" charset="0"/>
              </a:rPr>
              <a:t> </a:t>
            </a:r>
            <a:r>
              <a:rPr lang="zh-CN" altLang="en-US" sz="2400" b="1" dirty="0">
                <a:latin typeface="Trebuchet MS" panose="020B0603020202020204" pitchFamily="34" charset="0"/>
              </a:rPr>
              <a:t>0, </a:t>
            </a:r>
            <a:r>
              <a:rPr lang="en-US" altLang="zh-CN" sz="2400" b="1" i="1" dirty="0">
                <a:latin typeface="Trebuchet MS" panose="020B0603020202020204" pitchFamily="34" charset="0"/>
              </a:rPr>
              <a:t>p, </a:t>
            </a:r>
            <a:r>
              <a:rPr lang="zh-CN" altLang="en-US"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i="1" dirty="0">
                <a:latin typeface="Trebuchet MS" panose="020B0603020202020204" pitchFamily="34" charset="0"/>
              </a:rPr>
              <a:t>, </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 </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i="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 </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endParaRPr lang="zh-CN" altLang="en-US" sz="2400" b="1" i="1" dirty="0">
              <a:latin typeface="Trebuchet MS" panose="020B0603020202020204" pitchFamily="34" charset="0"/>
            </a:endParaRPr>
          </a:p>
        </p:txBody>
      </p:sp>
      <p:pic>
        <p:nvPicPr>
          <p:cNvPr id="9" name="图片 8">
            <a:extLst>
              <a:ext uri="{FF2B5EF4-FFF2-40B4-BE49-F238E27FC236}">
                <a16:creationId xmlns:a16="http://schemas.microsoft.com/office/drawing/2014/main" id="{4E97FCD4-D5BE-4137-A272-13F7078871D6}"/>
              </a:ext>
            </a:extLst>
          </p:cNvPr>
          <p:cNvPicPr/>
          <p:nvPr/>
        </p:nvPicPr>
        <p:blipFill>
          <a:blip r:embed="rId5"/>
          <a:stretch>
            <a:fillRect/>
          </a:stretch>
        </p:blipFill>
        <p:spPr>
          <a:xfrm>
            <a:off x="725805" y="5917985"/>
            <a:ext cx="577850" cy="241300"/>
          </a:xfrm>
          <a:prstGeom prst="rect">
            <a:avLst/>
          </a:prstGeom>
        </p:spPr>
      </p:pic>
    </p:spTree>
    <p:extLst>
      <p:ext uri="{BB962C8B-B14F-4D97-AF65-F5344CB8AC3E}">
        <p14:creationId xmlns:p14="http://schemas.microsoft.com/office/powerpoint/2010/main" val="498382747"/>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8">
                                            <p:txEl>
                                              <p:pRg st="7" end="7"/>
                                            </p:txEl>
                                          </p:spTgt>
                                        </p:tgtEl>
                                        <p:attrNameLst>
                                          <p:attrName>style.visibility</p:attrName>
                                        </p:attrNameLst>
                                      </p:cBhvr>
                                      <p:to>
                                        <p:strVal val="visible"/>
                                      </p:to>
                                    </p:set>
                                    <p:animEffect transition="in" filter="fade">
                                      <p:cBhvr>
                                        <p:cTn id="48" dur="1000"/>
                                        <p:tgtEl>
                                          <p:spTgt spid="8">
                                            <p:txEl>
                                              <p:pRg st="7" end="7"/>
                                            </p:txEl>
                                          </p:spTgt>
                                        </p:tgtEl>
                                      </p:cBhvr>
                                    </p:animEffect>
                                    <p:anim calcmode="lin" valueType="num">
                                      <p:cBhvr>
                                        <p:cTn id="49"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1000"/>
                                        <p:tgtEl>
                                          <p:spTgt spid="9"/>
                                        </p:tgtEl>
                                      </p:cBhvr>
                                    </p:animEffect>
                                    <p:anim calcmode="lin" valueType="num">
                                      <p:cBhvr>
                                        <p:cTn id="54" dur="1000" fill="hold"/>
                                        <p:tgtEl>
                                          <p:spTgt spid="9"/>
                                        </p:tgtEl>
                                        <p:attrNameLst>
                                          <p:attrName>ppt_x</p:attrName>
                                        </p:attrNameLst>
                                      </p:cBhvr>
                                      <p:tavLst>
                                        <p:tav tm="0">
                                          <p:val>
                                            <p:strVal val="#ppt_x"/>
                                          </p:val>
                                        </p:tav>
                                        <p:tav tm="100000">
                                          <p:val>
                                            <p:strVal val="#ppt_x"/>
                                          </p:val>
                                        </p:tav>
                                      </p:tavLst>
                                    </p:anim>
                                    <p:anim calcmode="lin" valueType="num">
                                      <p:cBhvr>
                                        <p:cTn id="5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and Their Classification</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0" i="0" dirty="0">
                <a:solidFill>
                  <a:srgbClr val="0C0D0E"/>
                </a:solidFill>
                <a:effectLst/>
                <a:latin typeface="-apple-system"/>
              </a:rPr>
              <a:t> </a:t>
            </a:r>
            <a:r>
              <a:rPr lang="en-US" altLang="zh-CN" sz="2400" b="1" dirty="0">
                <a:solidFill>
                  <a:schemeClr val="bg1"/>
                </a:solidFill>
                <a:latin typeface="Trebuchet MS" panose="020B0603020202020204" pitchFamily="34" charset="0"/>
              </a:rPr>
              <a:t>n-layer Formula</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30491"/>
            <a:ext cx="1023955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00000"/>
              </a:lnSpc>
              <a:spcBef>
                <a:spcPts val="300"/>
              </a:spcBef>
              <a:buClr>
                <a:srgbClr val="0B61FF"/>
              </a:buClr>
              <a:buSzPct val="80000"/>
              <a:buFont typeface="Wingdings" panose="05000000000000000000" pitchFamily="2" charset="2"/>
              <a:buChar char="n"/>
            </a:pPr>
            <a:r>
              <a:rPr lang="en-US" altLang="zh-CN" sz="2400" b="1" i="0" dirty="0">
                <a:effectLst/>
                <a:latin typeface="Trebuchet MS" panose="020B0603020202020204" pitchFamily="34" charset="0"/>
              </a:rPr>
              <a:t>Definition </a:t>
            </a:r>
            <a:r>
              <a:rPr lang="zh-CN" altLang="en-US" sz="2400" b="1" dirty="0">
                <a:latin typeface="Trebuchet MS" panose="020B0603020202020204" pitchFamily="34" charset="0"/>
              </a:rPr>
              <a:t>2.7</a:t>
            </a:r>
            <a:r>
              <a:rPr lang="zh-CN" altLang="en-US" sz="2400" b="1" dirty="0">
                <a:solidFill>
                  <a:srgbClr val="FF0000"/>
                </a:solidFill>
                <a:latin typeface="Trebuchet MS" panose="020B0603020202020204" pitchFamily="34" charset="0"/>
              </a:rPr>
              <a:t> </a:t>
            </a:r>
            <a:endParaRPr lang="en-US" altLang="zh-CN" sz="2400" b="1" dirty="0">
              <a:solidFill>
                <a:srgbClr val="FF0000"/>
              </a:solidFill>
              <a:latin typeface="Trebuchet MS" panose="020B0603020202020204" pitchFamily="34" charset="0"/>
            </a:endParaRPr>
          </a:p>
          <a:p>
            <a:pPr marL="0" indent="0" eaLnBrk="1" hangingPunct="1">
              <a:lnSpc>
                <a:spcPct val="100000"/>
              </a:lnSpc>
              <a:spcBef>
                <a:spcPts val="300"/>
              </a:spcBef>
              <a:buNone/>
            </a:pPr>
            <a:r>
              <a:rPr lang="en-US" altLang="zh-CN" sz="2400" b="0" i="0" dirty="0">
                <a:solidFill>
                  <a:srgbClr val="0B61FF"/>
                </a:solidFill>
                <a:effectLst/>
                <a:latin typeface="Trebuchet MS" panose="020B0603020202020204" pitchFamily="34" charset="0"/>
              </a:rPr>
              <a:t>(1) </a:t>
            </a:r>
            <a:r>
              <a:rPr lang="en-US" altLang="zh-CN" sz="2400" b="0" i="0" dirty="0">
                <a:solidFill>
                  <a:srgbClr val="0C0D0E"/>
                </a:solidFill>
                <a:effectLst/>
                <a:latin typeface="Trebuchet MS" panose="020B0603020202020204" pitchFamily="34" charset="0"/>
              </a:rPr>
              <a:t>A single propositional variable or propositional constant is a 0-layer formula.</a:t>
            </a:r>
          </a:p>
          <a:p>
            <a:pPr marL="0" indent="0">
              <a:lnSpc>
                <a:spcPct val="100000"/>
              </a:lnSpc>
              <a:spcBef>
                <a:spcPts val="300"/>
              </a:spcBef>
              <a:buNone/>
            </a:pPr>
            <a:r>
              <a:rPr lang="en-US" altLang="zh-CN" sz="2400" dirty="0">
                <a:solidFill>
                  <a:srgbClr val="0B61FF"/>
                </a:solidFill>
                <a:latin typeface="Trebuchet MS" panose="020B0603020202020204" pitchFamily="34" charset="0"/>
              </a:rPr>
              <a:t>(2) </a:t>
            </a:r>
            <a:r>
              <a:rPr lang="en-US" altLang="zh-CN" sz="2400" b="0" i="0" dirty="0">
                <a:solidFill>
                  <a:srgbClr val="0C0D0E"/>
                </a:solidFill>
                <a:effectLst/>
                <a:latin typeface="Trebuchet MS" panose="020B0603020202020204" pitchFamily="34" charset="0"/>
              </a:rPr>
              <a:t>A formula </a:t>
            </a:r>
            <a:r>
              <a:rPr lang="en-US" altLang="zh-CN" sz="2400" b="1" i="1" dirty="0">
                <a:solidFill>
                  <a:srgbClr val="0C0D0E"/>
                </a:solidFill>
                <a:effectLst/>
                <a:latin typeface="Trebuchet MS" panose="020B0603020202020204" pitchFamily="34" charset="0"/>
              </a:rPr>
              <a:t>A</a:t>
            </a:r>
            <a:r>
              <a:rPr lang="en-US" altLang="zh-CN" sz="2400" b="0" i="0" dirty="0">
                <a:solidFill>
                  <a:srgbClr val="0C0D0E"/>
                </a:solidFill>
                <a:effectLst/>
                <a:latin typeface="Trebuchet MS" panose="020B0603020202020204" pitchFamily="34" charset="0"/>
              </a:rPr>
              <a:t> is an (n+1)-layer formula (where </a:t>
            </a:r>
            <a:r>
              <a:rPr lang="en-US" altLang="zh-CN" sz="2400" i="0" dirty="0">
                <a:solidFill>
                  <a:srgbClr val="0C0D0E"/>
                </a:solidFill>
                <a:effectLst/>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 0) if one of the following conditions is met:</a:t>
            </a:r>
            <a:endParaRPr lang="zh-CN" altLang="en-US" sz="2400" b="1" dirty="0">
              <a:latin typeface="Trebuchet MS" panose="020B0603020202020204" pitchFamily="34" charset="0"/>
            </a:endParaRPr>
          </a:p>
          <a:p>
            <a:pPr marL="903287" indent="-457200" eaLnBrk="1" hangingPunct="1">
              <a:lnSpc>
                <a:spcPct val="100000"/>
              </a:lnSpc>
              <a:spcBef>
                <a:spcPts val="300"/>
              </a:spcBef>
              <a:buClr>
                <a:srgbClr val="0B61FF"/>
              </a:buClr>
              <a:buFont typeface="+mj-ea"/>
              <a:buAutoNum type="circleNumDbPlain"/>
            </a:pPr>
            <a:r>
              <a:rPr lang="en-US" altLang="zh-CN" sz="2400" b="1" dirty="0">
                <a:latin typeface="Trebuchet MS" panose="020B0603020202020204" pitchFamily="34" charset="0"/>
              </a:rPr>
              <a:t> </a:t>
            </a:r>
            <a:r>
              <a:rPr lang="en-US" altLang="zh-CN" sz="2400" b="1" i="1" dirty="0">
                <a:latin typeface="Trebuchet MS" panose="020B0603020202020204" pitchFamily="34" charset="0"/>
              </a:rPr>
              <a:t> A</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0" i="0" dirty="0">
                <a:solidFill>
                  <a:srgbClr val="0C0D0E"/>
                </a:solidFill>
                <a:effectLst/>
                <a:latin typeface="Trebuchet MS" panose="020B0603020202020204" pitchFamily="34" charset="0"/>
              </a:rPr>
              <a:t>where </a:t>
            </a:r>
            <a:r>
              <a:rPr lang="en-US" altLang="zh-CN" sz="2400" b="1" i="1" dirty="0">
                <a:solidFill>
                  <a:srgbClr val="0C0D0E"/>
                </a:solidFill>
                <a:effectLst/>
                <a:latin typeface="Trebuchet MS" panose="020B0603020202020204" pitchFamily="34" charset="0"/>
              </a:rPr>
              <a:t>B</a:t>
            </a:r>
            <a:r>
              <a:rPr lang="en-US" altLang="zh-CN" sz="2400" b="0" i="0" dirty="0">
                <a:solidFill>
                  <a:srgbClr val="0C0D0E"/>
                </a:solidFill>
                <a:effectLst/>
                <a:latin typeface="Trebuchet MS" panose="020B0603020202020204" pitchFamily="34" charset="0"/>
              </a:rPr>
              <a:t> is an n-layer formula.</a:t>
            </a:r>
          </a:p>
          <a:p>
            <a:pPr marL="903287" indent="-457200" eaLnBrk="1" hangingPunct="1">
              <a:lnSpc>
                <a:spcPct val="100000"/>
              </a:lnSpc>
              <a:spcBef>
                <a:spcPts val="300"/>
              </a:spcBef>
              <a:buClr>
                <a:srgbClr val="0B61FF"/>
              </a:buClr>
              <a:buFont typeface="+mj-ea"/>
              <a:buAutoNum type="circleNumDbPlain"/>
            </a:pP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0" i="0" dirty="0">
                <a:solidFill>
                  <a:srgbClr val="0C0D0E"/>
                </a:solidFill>
                <a:effectLst/>
                <a:latin typeface="Trebuchet MS" panose="020B0603020202020204" pitchFamily="34" charset="0"/>
              </a:rPr>
              <a:t> where </a:t>
            </a:r>
            <a:r>
              <a:rPr lang="en-US" altLang="zh-CN" sz="2400" b="1" i="1" dirty="0">
                <a:solidFill>
                  <a:srgbClr val="0C0D0E"/>
                </a:solidFill>
                <a:effectLst/>
                <a:latin typeface="Trebuchet MS" panose="020B0603020202020204" pitchFamily="34" charset="0"/>
              </a:rPr>
              <a:t>B</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C</a:t>
            </a:r>
            <a:r>
              <a:rPr lang="en-US" altLang="zh-CN" sz="2400" b="0" i="0" dirty="0">
                <a:solidFill>
                  <a:srgbClr val="0C0D0E"/>
                </a:solidFill>
                <a:effectLst/>
                <a:latin typeface="Trebuchet MS" panose="020B0603020202020204" pitchFamily="34" charset="0"/>
              </a:rPr>
              <a:t> are </a:t>
            </a:r>
            <a:r>
              <a:rPr lang="en-US" altLang="zh-CN" sz="2400" b="0" i="0" dirty="0" err="1">
                <a:solidFill>
                  <a:srgbClr val="0C0D0E"/>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-layer and j-layer formulas, respectively, and n = max(</a:t>
            </a:r>
            <a:r>
              <a:rPr lang="en-US" altLang="zh-CN" sz="2400" b="0" i="0" dirty="0" err="1">
                <a:solidFill>
                  <a:srgbClr val="0C0D0E"/>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 j).</a:t>
            </a:r>
          </a:p>
          <a:p>
            <a:pPr marL="903287" indent="-457200" eaLnBrk="1" hangingPunct="1">
              <a:lnSpc>
                <a:spcPct val="100000"/>
              </a:lnSpc>
              <a:spcBef>
                <a:spcPts val="300"/>
              </a:spcBef>
              <a:buClr>
                <a:srgbClr val="0B61FF"/>
              </a:buClr>
              <a:buFont typeface="+mj-ea"/>
              <a:buAutoNum type="circleNumDbPlain"/>
            </a:pPr>
            <a:r>
              <a:rPr lang="en-US" altLang="zh-CN" sz="2400" b="1" dirty="0">
                <a:latin typeface="Trebuchet MS" panose="020B0603020202020204" pitchFamily="34" charset="0"/>
              </a:rPr>
              <a:t> </a:t>
            </a:r>
            <a:r>
              <a:rPr lang="en-US" altLang="zh-CN" b="1" i="1" dirty="0">
                <a:latin typeface="Trebuchet MS" panose="020B0603020202020204" pitchFamily="34" charset="0"/>
              </a:rPr>
              <a:t>A</a:t>
            </a:r>
            <a:r>
              <a:rPr lang="en-US" altLang="zh-CN" b="1" dirty="0">
                <a:latin typeface="Trebuchet MS" panose="020B0603020202020204" pitchFamily="34" charset="0"/>
              </a:rPr>
              <a:t>=</a:t>
            </a:r>
            <a:r>
              <a:rPr lang="en-US" altLang="zh-CN" b="1" i="1" dirty="0">
                <a:latin typeface="Trebuchet MS" panose="020B0603020202020204" pitchFamily="34" charset="0"/>
              </a:rPr>
              <a:t>B</a:t>
            </a:r>
            <a:r>
              <a:rPr lang="en-US" altLang="zh-CN" b="1" dirty="0">
                <a:latin typeface="Trebuchet MS" panose="020B0603020202020204" pitchFamily="34" charset="0"/>
                <a:sym typeface="Symbol" panose="05050102010706020507" pitchFamily="18" charset="2"/>
              </a:rPr>
              <a:t></a:t>
            </a:r>
            <a:r>
              <a:rPr lang="en-US" altLang="zh-CN" b="1" i="1" dirty="0">
                <a:latin typeface="Trebuchet MS" panose="020B0603020202020204" pitchFamily="34" charset="0"/>
              </a:rPr>
              <a:t>C</a:t>
            </a:r>
            <a:r>
              <a:rPr lang="en-US" altLang="zh-CN" b="1" dirty="0">
                <a:latin typeface="Trebuchet MS" panose="020B0603020202020204" pitchFamily="34" charset="0"/>
              </a:rPr>
              <a:t>, </a:t>
            </a:r>
            <a:r>
              <a:rPr lang="en-US" altLang="zh-CN" b="0" i="0" dirty="0">
                <a:solidFill>
                  <a:srgbClr val="0C0D0E"/>
                </a:solidFill>
                <a:effectLst/>
                <a:latin typeface="Trebuchet MS" panose="020B0603020202020204" pitchFamily="34" charset="0"/>
              </a:rPr>
              <a:t>where </a:t>
            </a:r>
            <a:r>
              <a:rPr lang="en-US" altLang="zh-CN" b="1" i="1" dirty="0">
                <a:solidFill>
                  <a:srgbClr val="0C0D0E"/>
                </a:solidFill>
                <a:effectLst/>
                <a:latin typeface="Trebuchet MS" panose="020B0603020202020204" pitchFamily="34" charset="0"/>
              </a:rPr>
              <a:t>B</a:t>
            </a:r>
            <a:r>
              <a:rPr lang="en-US" altLang="zh-CN" b="0" i="0" dirty="0">
                <a:solidFill>
                  <a:srgbClr val="0C0D0E"/>
                </a:solidFill>
                <a:effectLst/>
                <a:latin typeface="Trebuchet MS" panose="020B0603020202020204" pitchFamily="34" charset="0"/>
              </a:rPr>
              <a:t> and </a:t>
            </a:r>
            <a:r>
              <a:rPr lang="en-US" altLang="zh-CN" b="1" i="1" dirty="0">
                <a:solidFill>
                  <a:srgbClr val="0C0D0E"/>
                </a:solidFill>
                <a:effectLst/>
                <a:latin typeface="Trebuchet MS" panose="020B0603020202020204" pitchFamily="34" charset="0"/>
              </a:rPr>
              <a:t>C</a:t>
            </a:r>
            <a:r>
              <a:rPr lang="en-US" altLang="zh-CN" b="0" i="0" dirty="0">
                <a:solidFill>
                  <a:srgbClr val="0C0D0E"/>
                </a:solidFill>
                <a:effectLst/>
                <a:latin typeface="Trebuchet MS" panose="020B0603020202020204" pitchFamily="34" charset="0"/>
              </a:rPr>
              <a:t> are </a:t>
            </a:r>
            <a:r>
              <a:rPr lang="en-US" altLang="zh-CN" b="0" i="0" dirty="0" err="1">
                <a:solidFill>
                  <a:srgbClr val="0C0D0E"/>
                </a:solidFill>
                <a:effectLst/>
                <a:latin typeface="Trebuchet MS" panose="020B0603020202020204" pitchFamily="34" charset="0"/>
              </a:rPr>
              <a:t>i</a:t>
            </a:r>
            <a:r>
              <a:rPr lang="en-US" altLang="zh-CN" b="0" i="0" dirty="0">
                <a:solidFill>
                  <a:srgbClr val="0C0D0E"/>
                </a:solidFill>
                <a:effectLst/>
                <a:latin typeface="Trebuchet MS" panose="020B0603020202020204" pitchFamily="34" charset="0"/>
              </a:rPr>
              <a:t>-layer and j-layer formulas, respectively, and n = max(</a:t>
            </a:r>
            <a:r>
              <a:rPr lang="en-US" altLang="zh-CN" b="0" i="0" dirty="0" err="1">
                <a:solidFill>
                  <a:srgbClr val="0C0D0E"/>
                </a:solidFill>
                <a:effectLst/>
                <a:latin typeface="Trebuchet MS" panose="020B0603020202020204" pitchFamily="34" charset="0"/>
              </a:rPr>
              <a:t>i</a:t>
            </a:r>
            <a:r>
              <a:rPr lang="en-US" altLang="zh-CN" b="0" i="0" dirty="0">
                <a:solidFill>
                  <a:srgbClr val="0C0D0E"/>
                </a:solidFill>
                <a:effectLst/>
                <a:latin typeface="Trebuchet MS" panose="020B0603020202020204" pitchFamily="34" charset="0"/>
              </a:rPr>
              <a:t>, j).</a:t>
            </a:r>
          </a:p>
          <a:p>
            <a:pPr marL="903287" indent="-457200" eaLnBrk="1" hangingPunct="1">
              <a:lnSpc>
                <a:spcPct val="100000"/>
              </a:lnSpc>
              <a:spcBef>
                <a:spcPts val="300"/>
              </a:spcBef>
              <a:buClr>
                <a:srgbClr val="0B61FF"/>
              </a:buClr>
              <a:buFont typeface="+mj-ea"/>
              <a:buAutoNum type="circleNumDbPlain"/>
            </a:pP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0" i="0" dirty="0">
                <a:solidFill>
                  <a:srgbClr val="0C0D0E"/>
                </a:solidFill>
                <a:effectLst/>
                <a:latin typeface="Trebuchet MS" panose="020B0603020202020204" pitchFamily="34" charset="0"/>
              </a:rPr>
              <a:t> where </a:t>
            </a:r>
            <a:r>
              <a:rPr lang="en-US" altLang="zh-CN" sz="2400" b="1" i="1" dirty="0">
                <a:solidFill>
                  <a:srgbClr val="0C0D0E"/>
                </a:solidFill>
                <a:effectLst/>
                <a:latin typeface="Trebuchet MS" panose="020B0603020202020204" pitchFamily="34" charset="0"/>
              </a:rPr>
              <a:t>B</a:t>
            </a:r>
            <a:r>
              <a:rPr lang="en-US" altLang="zh-CN" sz="2400" b="0" i="0" dirty="0">
                <a:solidFill>
                  <a:srgbClr val="0C0D0E"/>
                </a:solidFill>
                <a:effectLst/>
                <a:latin typeface="Trebuchet MS" panose="020B0603020202020204" pitchFamily="34" charset="0"/>
              </a:rPr>
              <a:t> and </a:t>
            </a:r>
            <a:r>
              <a:rPr lang="en-US" altLang="zh-CN" sz="2400" b="1" i="1" dirty="0">
                <a:solidFill>
                  <a:srgbClr val="0C0D0E"/>
                </a:solidFill>
                <a:effectLst/>
                <a:latin typeface="Trebuchet MS" panose="020B0603020202020204" pitchFamily="34" charset="0"/>
              </a:rPr>
              <a:t>C</a:t>
            </a:r>
            <a:r>
              <a:rPr lang="en-US" altLang="zh-CN" sz="2400" b="0" i="0" dirty="0">
                <a:solidFill>
                  <a:srgbClr val="0C0D0E"/>
                </a:solidFill>
                <a:effectLst/>
                <a:latin typeface="Trebuchet MS" panose="020B0603020202020204" pitchFamily="34" charset="0"/>
              </a:rPr>
              <a:t> are </a:t>
            </a:r>
            <a:r>
              <a:rPr lang="en-US" altLang="zh-CN" sz="2400" b="0" i="0" dirty="0" err="1">
                <a:solidFill>
                  <a:srgbClr val="0C0D0E"/>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-layer and j-layer formulas, respectively, and n = max(</a:t>
            </a:r>
            <a:r>
              <a:rPr lang="en-US" altLang="zh-CN" sz="2400" b="0" i="0" dirty="0" err="1">
                <a:solidFill>
                  <a:srgbClr val="0C0D0E"/>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 j).</a:t>
            </a:r>
          </a:p>
          <a:p>
            <a:pPr marL="903287" indent="-457200" eaLnBrk="1" hangingPunct="1">
              <a:lnSpc>
                <a:spcPct val="100000"/>
              </a:lnSpc>
              <a:spcBef>
                <a:spcPts val="300"/>
              </a:spcBef>
              <a:buClr>
                <a:srgbClr val="0B61FF"/>
              </a:buClr>
              <a:buFont typeface="+mj-ea"/>
              <a:buAutoNum type="circleNumDbPlain"/>
            </a:pP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0" i="0" dirty="0">
                <a:solidFill>
                  <a:srgbClr val="0C0D0E"/>
                </a:solidFill>
                <a:effectLst/>
                <a:latin typeface="Trebuchet MS" panose="020B0603020202020204" pitchFamily="34" charset="0"/>
              </a:rPr>
              <a:t>where </a:t>
            </a:r>
            <a:r>
              <a:rPr lang="en-US" altLang="zh-CN" sz="2400" b="1" i="1" dirty="0">
                <a:solidFill>
                  <a:srgbClr val="0C0D0E"/>
                </a:solidFill>
                <a:effectLst/>
                <a:latin typeface="Trebuchet MS" panose="020B0603020202020204" pitchFamily="34" charset="0"/>
              </a:rPr>
              <a:t>B</a:t>
            </a:r>
            <a:r>
              <a:rPr lang="en-US" altLang="zh-CN" sz="2400" b="0" i="0" dirty="0">
                <a:solidFill>
                  <a:srgbClr val="0C0D0E"/>
                </a:solidFill>
                <a:effectLst/>
                <a:latin typeface="Trebuchet MS" panose="020B0603020202020204" pitchFamily="34" charset="0"/>
              </a:rPr>
              <a:t> and </a:t>
            </a:r>
            <a:r>
              <a:rPr lang="en-US" altLang="zh-CN" sz="2400" b="1" dirty="0">
                <a:solidFill>
                  <a:srgbClr val="0C0D0E"/>
                </a:solidFill>
                <a:effectLst/>
                <a:latin typeface="Trebuchet MS" panose="020B0603020202020204" pitchFamily="34" charset="0"/>
              </a:rPr>
              <a:t>C</a:t>
            </a:r>
            <a:r>
              <a:rPr lang="en-US" altLang="zh-CN" sz="2400" b="0" i="0" dirty="0">
                <a:solidFill>
                  <a:srgbClr val="0C0D0E"/>
                </a:solidFill>
                <a:effectLst/>
                <a:latin typeface="Trebuchet MS" panose="020B0603020202020204" pitchFamily="34" charset="0"/>
              </a:rPr>
              <a:t> are </a:t>
            </a:r>
            <a:r>
              <a:rPr lang="en-US" altLang="zh-CN" sz="2400" b="0" i="0" dirty="0" err="1">
                <a:solidFill>
                  <a:srgbClr val="0C0D0E"/>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-layer and j-layer formulas, respectively, and n = max(</a:t>
            </a:r>
            <a:r>
              <a:rPr lang="en-US" altLang="zh-CN" sz="2400" b="0" i="0" dirty="0" err="1">
                <a:solidFill>
                  <a:srgbClr val="0C0D0E"/>
                </a:solidFill>
                <a:effectLst/>
                <a:latin typeface="Trebuchet MS" panose="020B0603020202020204" pitchFamily="34" charset="0"/>
              </a:rPr>
              <a:t>i</a:t>
            </a:r>
            <a:r>
              <a:rPr lang="en-US" altLang="zh-CN" sz="2400" b="0" i="0" dirty="0">
                <a:solidFill>
                  <a:srgbClr val="0C0D0E"/>
                </a:solidFill>
                <a:effectLst/>
                <a:latin typeface="Trebuchet MS" panose="020B0603020202020204" pitchFamily="34" charset="0"/>
              </a:rPr>
              <a:t>, j).</a:t>
            </a:r>
          </a:p>
          <a:p>
            <a:pPr algn="just" eaLnBrk="1" hangingPunct="1">
              <a:lnSpc>
                <a:spcPct val="100000"/>
              </a:lnSpc>
              <a:spcBef>
                <a:spcPts val="30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887179656"/>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1000"/>
                                        <p:tgtEl>
                                          <p:spTgt spid="8">
                                            <p:txEl>
                                              <p:pRg st="6" end="6"/>
                                            </p:txEl>
                                          </p:spTgt>
                                        </p:tgtEl>
                                      </p:cBhvr>
                                    </p:animEffect>
                                    <p:anim calcmode="lin" valueType="num">
                                      <p:cBhvr>
                                        <p:cTn id="4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animEffect transition="in" filter="fade">
                                      <p:cBhvr>
                                        <p:cTn id="49" dur="1000"/>
                                        <p:tgtEl>
                                          <p:spTgt spid="8">
                                            <p:txEl>
                                              <p:pRg st="7" end="7"/>
                                            </p:txEl>
                                          </p:spTgt>
                                        </p:tgtEl>
                                      </p:cBhvr>
                                    </p:animEffect>
                                    <p:anim calcmode="lin" valueType="num">
                                      <p:cBhvr>
                                        <p:cTn id="5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and Their Classification</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0" i="0" dirty="0">
                <a:solidFill>
                  <a:srgbClr val="0C0D0E"/>
                </a:solidFill>
                <a:effectLst/>
                <a:latin typeface="-apple-system"/>
              </a:rPr>
              <a:t> </a:t>
            </a:r>
            <a:r>
              <a:rPr lang="en-US" altLang="zh-CN" sz="2400" b="1" dirty="0">
                <a:solidFill>
                  <a:schemeClr val="bg1"/>
                </a:solidFill>
                <a:latin typeface="Trebuchet MS" panose="020B0603020202020204" pitchFamily="34" charset="0"/>
              </a:rPr>
              <a:t>n-layer Formula</a:t>
            </a:r>
            <a:r>
              <a:rPr lang="en-US" altLang="zh-CN" sz="1800" b="1" dirty="0">
                <a:effectLst/>
                <a:latin typeface="Times New Roman" panose="02020603050405020304" pitchFamily="18" charset="0"/>
                <a:ea typeface="宋体" panose="02010600030101010101" pitchFamily="2" charset="-122"/>
              </a:rPr>
              <a:t> (</a:t>
            </a:r>
            <a:r>
              <a:rPr lang="en-US" altLang="zh-CN" sz="2000" b="1" dirty="0">
                <a:effectLst/>
                <a:latin typeface="Trebuchet MS" panose="020B0603020202020204" pitchFamily="34" charset="0"/>
                <a:ea typeface="宋体" panose="02010600030101010101" pitchFamily="2" charset="-122"/>
              </a:rPr>
              <a:t>e.g.</a:t>
            </a:r>
            <a:r>
              <a:rPr lang="en-US" altLang="zh-CN" sz="1800" b="1" dirty="0">
                <a:effectLst/>
                <a:latin typeface="Times New Roman" panose="02020603050405020304" pitchFamily="18" charset="0"/>
                <a:ea typeface="宋体" panose="02010600030101010101" pitchFamily="2" charset="-122"/>
              </a:rPr>
              <a:t>)</a:t>
            </a:r>
            <a:endParaRPr lang="zh-CN" altLang="en-US" sz="20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30491"/>
            <a:ext cx="7896409" cy="34328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spcBef>
                <a:spcPts val="300"/>
              </a:spcBef>
              <a:buNone/>
            </a:pPr>
            <a:r>
              <a:rPr lang="en-US" altLang="zh-CN" sz="2400" b="1" i="0" dirty="0">
                <a:solidFill>
                  <a:srgbClr val="0C0D0E"/>
                </a:solidFill>
                <a:effectLst/>
                <a:latin typeface="Trebuchet MS" panose="020B0603020202020204" pitchFamily="34" charset="0"/>
              </a:rPr>
              <a:t>      Example: </a:t>
            </a:r>
            <a:r>
              <a:rPr lang="en-US" altLang="zh-CN" sz="2400" b="0" i="0" dirty="0">
                <a:solidFill>
                  <a:srgbClr val="0C0D0E"/>
                </a:solidFill>
                <a:effectLst/>
                <a:latin typeface="Trebuchet MS" panose="020B0603020202020204" pitchFamily="34" charset="0"/>
              </a:rPr>
              <a:t>The propositional formulas</a:t>
            </a:r>
          </a:p>
          <a:p>
            <a:pPr marL="0" indent="536575">
              <a:lnSpc>
                <a:spcPct val="120000"/>
              </a:lnSpc>
              <a:spcBef>
                <a:spcPts val="300"/>
              </a:spcBef>
              <a:buNone/>
            </a:pPr>
            <a:r>
              <a:rPr lang="en-US" altLang="zh-CN" sz="2400" b="1" i="1" dirty="0">
                <a:solidFill>
                  <a:srgbClr val="0C0D0E"/>
                </a:solidFill>
                <a:latin typeface="Trebuchet MS" panose="020B0603020202020204" pitchFamily="34" charset="0"/>
              </a:rPr>
              <a:t>P </a:t>
            </a:r>
            <a:r>
              <a:rPr lang="en-US" altLang="zh-CN" sz="2400" dirty="0">
                <a:solidFill>
                  <a:srgbClr val="0C0D0E"/>
                </a:solidFill>
                <a:latin typeface="Trebuchet MS" panose="020B0603020202020204" pitchFamily="34" charset="0"/>
              </a:rPr>
              <a:t>                                                 (0-layer)</a:t>
            </a:r>
            <a:endParaRPr lang="en-US" altLang="zh-CN" sz="2400" b="0" i="0" dirty="0">
              <a:solidFill>
                <a:srgbClr val="0C0D0E"/>
              </a:solidFill>
              <a:effectLst/>
              <a:latin typeface="Trebuchet MS" panose="020B0603020202020204" pitchFamily="34" charset="0"/>
            </a:endParaRPr>
          </a:p>
          <a:p>
            <a:pPr marL="0" indent="536575" algn="l">
              <a:lnSpc>
                <a:spcPct val="120000"/>
              </a:lnSpc>
              <a:spcBef>
                <a:spcPts val="300"/>
              </a:spcBef>
              <a:buNone/>
            </a:pP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a:t>
            </a:r>
            <a:r>
              <a:rPr lang="en-US" altLang="zh-CN" sz="2400" b="1" dirty="0">
                <a:solidFill>
                  <a:srgbClr val="0C0D0E"/>
                </a:solidFill>
                <a:latin typeface="Trebuchet MS" panose="020B0603020202020204" pitchFamily="34" charset="0"/>
              </a:rPr>
              <a:t>                                              </a:t>
            </a:r>
            <a:r>
              <a:rPr lang="en-US" altLang="zh-CN" sz="2400" dirty="0">
                <a:solidFill>
                  <a:srgbClr val="0C0D0E"/>
                </a:solidFill>
                <a:latin typeface="Trebuchet MS" panose="020B0603020202020204" pitchFamily="34" charset="0"/>
              </a:rPr>
              <a:t>(1-layer)</a:t>
            </a:r>
            <a:r>
              <a:rPr lang="en-US" altLang="zh-CN" sz="2400" b="0" i="0" dirty="0">
                <a:solidFill>
                  <a:srgbClr val="0C0D0E"/>
                </a:solidFill>
                <a:effectLst/>
                <a:latin typeface="Trebuchet MS" panose="020B0603020202020204" pitchFamily="34" charset="0"/>
              </a:rPr>
              <a:t>                           </a:t>
            </a:r>
          </a:p>
          <a:p>
            <a:pPr marL="0" indent="536575" algn="l">
              <a:lnSpc>
                <a:spcPct val="120000"/>
              </a:lnSpc>
              <a:spcBef>
                <a:spcPts val="300"/>
              </a:spcBef>
              <a:buNone/>
            </a:pP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 </a:t>
            </a:r>
            <a:r>
              <a:rPr lang="en-US" altLang="zh-CN" sz="2400" b="1" i="1" dirty="0">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                                        </a:t>
            </a:r>
            <a:r>
              <a:rPr lang="en-US" altLang="zh-CN" sz="2400" b="1" dirty="0">
                <a:solidFill>
                  <a:srgbClr val="0C0D0E"/>
                </a:solidFill>
                <a:latin typeface="Trebuchet MS" panose="020B0603020202020204" pitchFamily="34" charset="0"/>
              </a:rPr>
              <a:t> </a:t>
            </a:r>
            <a:r>
              <a:rPr lang="en-US" altLang="zh-CN" sz="2400" dirty="0">
                <a:solidFill>
                  <a:srgbClr val="0C0D0E"/>
                </a:solidFill>
                <a:latin typeface="Trebuchet MS" panose="020B0603020202020204" pitchFamily="34" charset="0"/>
              </a:rPr>
              <a:t>(2-layer)</a:t>
            </a:r>
            <a:r>
              <a:rPr lang="en-US" altLang="zh-CN" sz="2400" b="0" i="0" dirty="0">
                <a:solidFill>
                  <a:srgbClr val="0C0D0E"/>
                </a:solidFill>
                <a:effectLst/>
                <a:latin typeface="Trebuchet MS" panose="020B0603020202020204" pitchFamily="34" charset="0"/>
              </a:rPr>
              <a:t> </a:t>
            </a:r>
          </a:p>
          <a:p>
            <a:pPr marL="0" indent="536575" algn="l">
              <a:lnSpc>
                <a:spcPct val="120000"/>
              </a:lnSpc>
              <a:spcBef>
                <a:spcPts val="300"/>
              </a:spcBef>
              <a:buNone/>
            </a:pPr>
            <a:r>
              <a:rPr lang="zh-CN" altLang="en-US" sz="2400" b="1" i="0" dirty="0">
                <a:solidFill>
                  <a:srgbClr val="0C0D0E"/>
                </a:solidFill>
                <a:effectLst/>
                <a:latin typeface="Trebuchet MS" panose="020B0603020202020204" pitchFamily="34" charset="0"/>
              </a:rPr>
              <a:t>（</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 </a:t>
            </a:r>
            <a:r>
              <a:rPr lang="en-US" altLang="zh-CN" sz="2400" i="0" dirty="0">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r</a:t>
            </a:r>
            <a:r>
              <a:rPr lang="en-US" altLang="zh-CN" sz="2400" b="1" i="0" dirty="0">
                <a:solidFill>
                  <a:srgbClr val="0C0D0E"/>
                </a:solidFill>
                <a:effectLst/>
                <a:latin typeface="Trebuchet MS" panose="020B0603020202020204" pitchFamily="34" charset="0"/>
              </a:rPr>
              <a:t>                              </a:t>
            </a:r>
            <a:r>
              <a:rPr lang="en-US" altLang="zh-CN" sz="2400" b="1" dirty="0">
                <a:solidFill>
                  <a:srgbClr val="0C0D0E"/>
                </a:solidFill>
                <a:latin typeface="Trebuchet MS" panose="020B0603020202020204" pitchFamily="34" charset="0"/>
              </a:rPr>
              <a:t> </a:t>
            </a:r>
            <a:r>
              <a:rPr lang="en-US" altLang="zh-CN" sz="2400" dirty="0">
                <a:solidFill>
                  <a:srgbClr val="0C0D0E"/>
                </a:solidFill>
                <a:latin typeface="Trebuchet MS" panose="020B0603020202020204" pitchFamily="34" charset="0"/>
              </a:rPr>
              <a:t>(3-layer)</a:t>
            </a:r>
            <a:endParaRPr lang="en-US" altLang="zh-CN" sz="2400" b="0" i="0" dirty="0">
              <a:solidFill>
                <a:srgbClr val="0C0D0E"/>
              </a:solidFill>
              <a:effectLst/>
              <a:latin typeface="Trebuchet MS" panose="020B0603020202020204" pitchFamily="34" charset="0"/>
            </a:endParaRPr>
          </a:p>
          <a:p>
            <a:pPr marL="0" indent="536575" algn="l">
              <a:lnSpc>
                <a:spcPct val="120000"/>
              </a:lnSpc>
              <a:spcBef>
                <a:spcPts val="300"/>
              </a:spcBef>
              <a:buNone/>
            </a:pP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 ∧ </a:t>
            </a:r>
            <a:r>
              <a:rPr lang="en-US" altLang="zh-CN" sz="2400" b="1" i="1" dirty="0">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 → </a:t>
            </a:r>
            <a:r>
              <a:rPr lang="en-US" altLang="zh-CN" sz="2400" b="1" i="1" dirty="0">
                <a:solidFill>
                  <a:srgbClr val="0C0D0E"/>
                </a:solidFill>
                <a:effectLst/>
                <a:latin typeface="Trebuchet MS" panose="020B0603020202020204" pitchFamily="34" charset="0"/>
              </a:rPr>
              <a:t>r</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r</a:t>
            </a:r>
            <a:r>
              <a:rPr lang="en-US" altLang="zh-CN" sz="2400" b="1" i="0" dirty="0">
                <a:solidFill>
                  <a:srgbClr val="0C0D0E"/>
                </a:solidFill>
                <a:effectLst/>
                <a:latin typeface="Trebuchet MS" panose="020B0603020202020204" pitchFamily="34" charset="0"/>
              </a:rPr>
              <a:t> ∨ </a:t>
            </a:r>
            <a:r>
              <a:rPr lang="en-US" altLang="zh-CN" sz="2400" b="1" i="1" dirty="0">
                <a:solidFill>
                  <a:srgbClr val="0C0D0E"/>
                </a:solidFill>
                <a:effectLst/>
                <a:latin typeface="Trebuchet MS" panose="020B0603020202020204" pitchFamily="34" charset="0"/>
              </a:rPr>
              <a:t>s</a:t>
            </a:r>
            <a:r>
              <a:rPr lang="en-US" altLang="zh-CN" sz="2400" b="1" i="0" dirty="0">
                <a:solidFill>
                  <a:srgbClr val="0C0D0E"/>
                </a:solidFill>
                <a:effectLst/>
                <a:latin typeface="Trebuchet MS" panose="020B0603020202020204" pitchFamily="34" charset="0"/>
              </a:rPr>
              <a:t>)            </a:t>
            </a:r>
            <a:r>
              <a:rPr lang="en-US" altLang="zh-CN" sz="2400" dirty="0">
                <a:solidFill>
                  <a:srgbClr val="0C0D0E"/>
                </a:solidFill>
                <a:latin typeface="Trebuchet MS" panose="020B0603020202020204" pitchFamily="34" charset="0"/>
              </a:rPr>
              <a:t>(4-layer)</a:t>
            </a:r>
            <a:br>
              <a:rPr lang="en-US" altLang="zh-CN" sz="2400" b="0" i="0" dirty="0">
                <a:solidFill>
                  <a:srgbClr val="0C0D0E"/>
                </a:solidFill>
                <a:effectLst/>
                <a:latin typeface="Trebuchet MS" panose="020B0603020202020204" pitchFamily="34" charset="0"/>
              </a:rPr>
            </a:br>
            <a:endParaRPr lang="en-US" altLang="zh-CN" sz="2400" b="0" i="0" dirty="0">
              <a:solidFill>
                <a:srgbClr val="0C0D0E"/>
              </a:solidFill>
              <a:effectLst/>
              <a:latin typeface="Trebuchet MS" panose="020B0603020202020204" pitchFamily="34" charset="0"/>
            </a:endParaRPr>
          </a:p>
        </p:txBody>
      </p:sp>
      <p:pic>
        <p:nvPicPr>
          <p:cNvPr id="9" name="图片 8">
            <a:extLst>
              <a:ext uri="{FF2B5EF4-FFF2-40B4-BE49-F238E27FC236}">
                <a16:creationId xmlns:a16="http://schemas.microsoft.com/office/drawing/2014/main" id="{127DC109-18B2-4EFF-B09C-D59922445096}"/>
              </a:ext>
            </a:extLst>
          </p:cNvPr>
          <p:cNvPicPr/>
          <p:nvPr/>
        </p:nvPicPr>
        <p:blipFill>
          <a:blip r:embed="rId5"/>
          <a:stretch>
            <a:fillRect/>
          </a:stretch>
        </p:blipFill>
        <p:spPr>
          <a:xfrm>
            <a:off x="828675" y="1003085"/>
            <a:ext cx="577850" cy="241300"/>
          </a:xfrm>
          <a:prstGeom prst="rect">
            <a:avLst/>
          </a:prstGeom>
        </p:spPr>
      </p:pic>
    </p:spTree>
    <p:extLst>
      <p:ext uri="{BB962C8B-B14F-4D97-AF65-F5344CB8AC3E}">
        <p14:creationId xmlns:p14="http://schemas.microsoft.com/office/powerpoint/2010/main" val="339840755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and Their </a:t>
            </a:r>
            <a:r>
              <a:rPr lang="en-US" altLang="zh-CN" sz="2000" dirty="0" err="1">
                <a:solidFill>
                  <a:schemeClr val="bg1"/>
                </a:solidFill>
                <a:latin typeface="Trebuchet MS" panose="020B0603020202020204" pitchFamily="34" charset="0"/>
              </a:rPr>
              <a:t>Classification</a:t>
            </a:r>
            <a:r>
              <a:rPr lang="en-US" altLang="zh-CN" sz="2400" b="1" dirty="0" err="1">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err="1">
                <a:solidFill>
                  <a:schemeClr val="bg1"/>
                </a:solidFill>
                <a:latin typeface="Trebuchet MS" panose="020B0603020202020204" pitchFamily="34" charset="0"/>
              </a:rPr>
              <a:t>Formulas</a:t>
            </a:r>
            <a:r>
              <a:rPr lang="en-US" altLang="zh-CN" sz="2400" dirty="0">
                <a:solidFill>
                  <a:schemeClr val="bg1"/>
                </a:solidFill>
                <a:latin typeface="Trebuchet MS" panose="020B0603020202020204" pitchFamily="34" charset="0"/>
              </a:rPr>
              <a:t> Assignment</a:t>
            </a:r>
            <a:endParaRPr lang="zh-CN" altLang="en-US" sz="2400"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9576620" cy="42525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Definition 2.8</a:t>
            </a:r>
          </a:p>
          <a:p>
            <a:pPr marL="446088" indent="-182563" algn="l">
              <a:lnSpc>
                <a:spcPct val="120000"/>
              </a:lnSpc>
              <a:spcBef>
                <a:spcPts val="300"/>
              </a:spcBef>
              <a:buClr>
                <a:srgbClr val="0B61FF"/>
              </a:buClr>
              <a:buSzPct val="120000"/>
            </a:pPr>
            <a:r>
              <a:rPr lang="en-US" altLang="zh-CN" sz="2400" b="0" i="0" dirty="0">
                <a:solidFill>
                  <a:srgbClr val="0C0D0E"/>
                </a:solidFill>
                <a:effectLst/>
                <a:latin typeface="Trebuchet MS" panose="020B0603020202020204" pitchFamily="34" charset="0"/>
              </a:rPr>
              <a:t>Let </a:t>
            </a:r>
            <a:r>
              <a:rPr lang="en-US" altLang="zh-CN" sz="2400" b="1" i="1" dirty="0">
                <a:solidFill>
                  <a:srgbClr val="0C0D0E"/>
                </a:solidFill>
                <a:effectLst/>
                <a:latin typeface="Trebuchet MS" panose="020B0603020202020204" pitchFamily="34" charset="0"/>
              </a:rPr>
              <a:t>p</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p</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err="1">
                <a:solidFill>
                  <a:srgbClr val="0C0D0E"/>
                </a:solidFill>
                <a:latin typeface="Trebuchet MS" panose="020B0603020202020204" pitchFamily="34" charset="0"/>
              </a:rPr>
              <a:t>p</a:t>
            </a:r>
            <a:r>
              <a:rPr lang="en-US" altLang="zh-CN" sz="2400" b="1" baseline="-25000" dirty="0" err="1">
                <a:solidFill>
                  <a:srgbClr val="0C0D0E"/>
                </a:solidFill>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be all the propositional variables appearing in the formula </a:t>
            </a:r>
            <a:r>
              <a:rPr lang="en-US" altLang="zh-CN" sz="2400" b="1" i="1" dirty="0">
                <a:solidFill>
                  <a:srgbClr val="0C0D0E"/>
                </a:solidFill>
                <a:latin typeface="Trebuchet MS" panose="020B0603020202020204" pitchFamily="34" charset="0"/>
              </a:rPr>
              <a:t>A</a:t>
            </a:r>
            <a:r>
              <a:rPr lang="en-US" altLang="zh-CN" sz="2400" b="0" i="0" dirty="0">
                <a:solidFill>
                  <a:srgbClr val="0C0D0E"/>
                </a:solidFill>
                <a:effectLst/>
                <a:latin typeface="Trebuchet MS" panose="020B0603020202020204" pitchFamily="34" charset="0"/>
              </a:rPr>
              <a:t>. </a:t>
            </a:r>
          </a:p>
          <a:p>
            <a:pPr marL="446088" indent="-182563" algn="l">
              <a:lnSpc>
                <a:spcPct val="120000"/>
              </a:lnSpc>
              <a:spcBef>
                <a:spcPts val="300"/>
              </a:spcBef>
              <a:buClr>
                <a:srgbClr val="0B61FF"/>
              </a:buClr>
              <a:buSzPct val="120000"/>
            </a:pPr>
            <a:r>
              <a:rPr lang="en-US" altLang="zh-CN" sz="2400" b="0" i="0" dirty="0">
                <a:solidFill>
                  <a:srgbClr val="0C0D0E"/>
                </a:solidFill>
                <a:effectLst/>
                <a:latin typeface="Trebuchet MS" panose="020B0603020202020204" pitchFamily="34" charset="0"/>
              </a:rPr>
              <a:t>Assigning a set of truth values to </a:t>
            </a:r>
            <a:r>
              <a:rPr lang="en-US" altLang="zh-CN" sz="2400" b="1" i="1" dirty="0">
                <a:solidFill>
                  <a:srgbClr val="0C0D0E"/>
                </a:solidFill>
                <a:effectLst/>
                <a:latin typeface="Trebuchet MS" panose="020B0603020202020204" pitchFamily="34" charset="0"/>
              </a:rPr>
              <a:t>p</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p</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err="1">
                <a:solidFill>
                  <a:srgbClr val="0C0D0E"/>
                </a:solidFill>
                <a:latin typeface="Trebuchet MS" panose="020B0603020202020204" pitchFamily="34" charset="0"/>
              </a:rPr>
              <a:t>p</a:t>
            </a:r>
            <a:r>
              <a:rPr lang="en-US" altLang="zh-CN" sz="2400" b="1" baseline="-25000" dirty="0" err="1">
                <a:solidFill>
                  <a:srgbClr val="0C0D0E"/>
                </a:solidFill>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is called an </a:t>
            </a:r>
            <a:r>
              <a:rPr lang="en-US" altLang="zh-CN" sz="2400" b="1" i="0" dirty="0">
                <a:solidFill>
                  <a:srgbClr val="0C0D0E"/>
                </a:solidFill>
                <a:effectLst/>
                <a:latin typeface="Trebuchet MS" panose="020B0603020202020204" pitchFamily="34" charset="0"/>
              </a:rPr>
              <a:t>assignment</a:t>
            </a:r>
            <a:r>
              <a:rPr lang="en-US" altLang="zh-CN" sz="2400" b="0" i="0" dirty="0">
                <a:solidFill>
                  <a:srgbClr val="0C0D0E"/>
                </a:solidFill>
                <a:effectLst/>
                <a:latin typeface="Trebuchet MS" panose="020B0603020202020204" pitchFamily="34" charset="0"/>
              </a:rPr>
              <a:t> or </a:t>
            </a:r>
            <a:r>
              <a:rPr lang="en-US" altLang="zh-CN" sz="2400" b="1" i="0" dirty="0">
                <a:solidFill>
                  <a:srgbClr val="0C0D0E"/>
                </a:solidFill>
                <a:effectLst/>
                <a:latin typeface="Trebuchet MS" panose="020B0603020202020204" pitchFamily="34" charset="0"/>
              </a:rPr>
              <a:t>interpretation</a:t>
            </a:r>
            <a:r>
              <a:rPr lang="en-US" altLang="zh-CN" sz="2400" b="0" i="0" dirty="0">
                <a:solidFill>
                  <a:srgbClr val="0C0D0E"/>
                </a:solidFill>
                <a:effectLst/>
                <a:latin typeface="Trebuchet MS" panose="020B0603020202020204" pitchFamily="34" charset="0"/>
              </a:rPr>
              <a:t> for </a:t>
            </a:r>
            <a:r>
              <a:rPr lang="en-US" altLang="zh-CN" sz="2400" b="1" i="1" dirty="0">
                <a:solidFill>
                  <a:srgbClr val="0C0D0E"/>
                </a:solidFill>
                <a:latin typeface="Trebuchet MS" panose="020B0603020202020204" pitchFamily="34" charset="0"/>
              </a:rPr>
              <a:t>A</a:t>
            </a:r>
            <a:r>
              <a:rPr lang="en-US" altLang="zh-CN" sz="2400" b="0" i="0" dirty="0">
                <a:solidFill>
                  <a:srgbClr val="0C0D0E"/>
                </a:solidFill>
                <a:effectLst/>
                <a:latin typeface="Trebuchet MS" panose="020B0603020202020204" pitchFamily="34" charset="0"/>
              </a:rPr>
              <a:t>.</a:t>
            </a:r>
          </a:p>
          <a:p>
            <a:pPr marL="446088" indent="-182563" algn="l">
              <a:lnSpc>
                <a:spcPct val="120000"/>
              </a:lnSpc>
              <a:spcBef>
                <a:spcPts val="300"/>
              </a:spcBef>
              <a:buClr>
                <a:srgbClr val="0B61FF"/>
              </a:buClr>
              <a:buSzPct val="120000"/>
            </a:pPr>
            <a:r>
              <a:rPr lang="en-US" altLang="zh-CN" sz="2400" b="0" i="0" dirty="0">
                <a:solidFill>
                  <a:srgbClr val="0C0D0E"/>
                </a:solidFill>
                <a:effectLst/>
                <a:latin typeface="Trebuchet MS" panose="020B0603020202020204" pitchFamily="34" charset="0"/>
              </a:rPr>
              <a:t>An assignment that makes the formula true is called a </a:t>
            </a:r>
            <a:r>
              <a:rPr lang="en-US" altLang="zh-CN" sz="2400" b="1" i="1" dirty="0">
                <a:solidFill>
                  <a:srgbClr val="0C0D0E"/>
                </a:solidFill>
                <a:effectLst/>
                <a:latin typeface="Trebuchet MS" panose="020B0603020202020204" pitchFamily="34" charset="0"/>
              </a:rPr>
              <a:t>satisfying assignment</a:t>
            </a:r>
            <a:r>
              <a:rPr lang="en-US" altLang="zh-CN" sz="2400" b="0" i="0" dirty="0">
                <a:solidFill>
                  <a:srgbClr val="0C0D0E"/>
                </a:solidFill>
                <a:effectLst/>
                <a:latin typeface="Trebuchet MS" panose="020B0603020202020204" pitchFamily="34" charset="0"/>
              </a:rPr>
              <a:t>, and an assignment that makes the formula false is called a </a:t>
            </a:r>
            <a:r>
              <a:rPr lang="en-US" altLang="zh-CN" sz="2400" b="1" i="1" dirty="0">
                <a:solidFill>
                  <a:srgbClr val="0C0D0E"/>
                </a:solidFill>
                <a:effectLst/>
                <a:latin typeface="Trebuchet MS" panose="020B0603020202020204" pitchFamily="34" charset="0"/>
              </a:rPr>
              <a:t>falsifying assignment</a:t>
            </a:r>
            <a:r>
              <a:rPr lang="en-US" altLang="zh-CN" sz="2400" b="0" i="0" dirty="0">
                <a:solidFill>
                  <a:srgbClr val="0C0D0E"/>
                </a:solidFill>
                <a:effectLst/>
                <a:latin typeface="Trebuchet MS" panose="020B0603020202020204" pitchFamily="34" charset="0"/>
              </a:rPr>
              <a:t>.</a:t>
            </a:r>
          </a:p>
        </p:txBody>
      </p:sp>
    </p:spTree>
    <p:extLst>
      <p:ext uri="{BB962C8B-B14F-4D97-AF65-F5344CB8AC3E}">
        <p14:creationId xmlns:p14="http://schemas.microsoft.com/office/powerpoint/2010/main" val="3257023693"/>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and Their </a:t>
            </a:r>
            <a:r>
              <a:rPr lang="en-US" altLang="zh-CN" sz="2000" dirty="0" err="1">
                <a:solidFill>
                  <a:schemeClr val="bg1"/>
                </a:solidFill>
                <a:latin typeface="Trebuchet MS" panose="020B0603020202020204" pitchFamily="34" charset="0"/>
              </a:rPr>
              <a:t>Classification</a:t>
            </a:r>
            <a:r>
              <a:rPr lang="en-US" altLang="zh-CN" sz="2400" b="1" dirty="0" err="1">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err="1">
                <a:solidFill>
                  <a:schemeClr val="bg1"/>
                </a:solidFill>
                <a:latin typeface="Trebuchet MS" panose="020B0603020202020204" pitchFamily="34" charset="0"/>
              </a:rPr>
              <a:t>Formulas</a:t>
            </a:r>
            <a:r>
              <a:rPr lang="en-US" altLang="zh-CN" sz="2400" dirty="0">
                <a:solidFill>
                  <a:schemeClr val="bg1"/>
                </a:solidFill>
                <a:latin typeface="Trebuchet MS" panose="020B0603020202020204" pitchFamily="34" charset="0"/>
              </a:rPr>
              <a:t> Assignment</a:t>
            </a:r>
            <a:endParaRPr lang="zh-CN" altLang="en-US" sz="24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10614845" cy="5277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Definition 2.8  Explanation:</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(1) An assignment is denoted as </a:t>
            </a:r>
            <a:r>
              <a:rPr lang="en-US" altLang="zh-CN" sz="2400" b="1" i="1" dirty="0">
                <a:solidFill>
                  <a:srgbClr val="0C0D0E"/>
                </a:solidFill>
                <a:effectLst/>
                <a:latin typeface="Trebuchet MS" panose="020B0603020202020204" pitchFamily="34" charset="0"/>
              </a:rPr>
              <a:t>α</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i="0" baseline="-25000" dirty="0">
                <a:solidFill>
                  <a:srgbClr val="0C0D0E"/>
                </a:solidFill>
                <a:effectLst/>
                <a:latin typeface="Trebuchet MS" panose="020B0603020202020204" pitchFamily="34" charset="0"/>
              </a:rPr>
              <a:t>1</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2</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where each </a:t>
            </a:r>
            <a:r>
              <a:rPr lang="en-US" altLang="zh-CN" sz="2400" b="1" i="1" dirty="0">
                <a:solidFill>
                  <a:srgbClr val="0C0D0E"/>
                </a:solidFill>
                <a:effectLst/>
                <a:latin typeface="Trebuchet MS" panose="020B0603020202020204" pitchFamily="34" charset="0"/>
              </a:rPr>
              <a:t>α</a:t>
            </a:r>
            <a:r>
              <a:rPr lang="en-US" altLang="zh-CN" sz="2400" b="1" i="1" baseline="-25000" dirty="0" err="1">
                <a:solidFill>
                  <a:srgbClr val="0C0D0E"/>
                </a:solidFill>
                <a:latin typeface="Trebuchet MS" panose="020B0603020202020204" pitchFamily="34" charset="0"/>
              </a:rPr>
              <a:t>i</a:t>
            </a:r>
            <a:r>
              <a:rPr lang="en-US" altLang="zh-CN" sz="2400" b="0" i="0" dirty="0">
                <a:solidFill>
                  <a:srgbClr val="0C0D0E"/>
                </a:solidFill>
                <a:effectLst/>
                <a:latin typeface="Trebuchet MS" panose="020B0603020202020204" pitchFamily="34" charset="0"/>
              </a:rPr>
              <a:t> is either 0 or 1, and the </a:t>
            </a:r>
            <a:r>
              <a:rPr lang="en-US" altLang="zh-CN" sz="2400" b="1" i="1" dirty="0">
                <a:solidFill>
                  <a:srgbClr val="0C0D0E"/>
                </a:solidFill>
                <a:effectLst/>
                <a:latin typeface="Trebuchet MS" panose="020B0603020202020204" pitchFamily="34" charset="0"/>
              </a:rPr>
              <a:t>α</a:t>
            </a:r>
            <a:r>
              <a:rPr lang="en-US" altLang="zh-CN" sz="2400" b="1" i="1" baseline="-25000" dirty="0" err="1">
                <a:solidFill>
                  <a:srgbClr val="0C0D0E"/>
                </a:solidFill>
                <a:latin typeface="Trebuchet MS" panose="020B0603020202020204" pitchFamily="34" charset="0"/>
              </a:rPr>
              <a:t>i</a:t>
            </a:r>
            <a:r>
              <a:rPr lang="en-US" altLang="zh-CN" sz="2400" b="1" baseline="-25000"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are written without any punctuation marks between them.</a:t>
            </a:r>
            <a:br>
              <a:rPr lang="en-US" altLang="zh-CN" sz="2400" b="0" i="0" dirty="0">
                <a:solidFill>
                  <a:srgbClr val="0C0D0E"/>
                </a:solidFill>
                <a:effectLst/>
                <a:latin typeface="Trebuchet MS" panose="020B0603020202020204" pitchFamily="34" charset="0"/>
              </a:rPr>
            </a:br>
            <a:r>
              <a:rPr lang="en-US" altLang="zh-CN" sz="2400" b="0" i="0" dirty="0">
                <a:solidFill>
                  <a:srgbClr val="0C0D0E"/>
                </a:solidFill>
                <a:effectLst/>
                <a:latin typeface="Trebuchet MS" panose="020B0603020202020204" pitchFamily="34" charset="0"/>
              </a:rPr>
              <a:t>(2) Generally, the assignment corresponds to the propositional variables in the order of their subscripts or alphabetical order. That is:</a:t>
            </a:r>
          </a:p>
          <a:p>
            <a:pPr marL="982663" indent="-261938" algn="l">
              <a:lnSpc>
                <a:spcPct val="120000"/>
              </a:lnSpc>
              <a:spcBef>
                <a:spcPts val="300"/>
              </a:spcBef>
              <a:buClr>
                <a:srgbClr val="0B61FF"/>
              </a:buClr>
              <a:buSzPct val="120000"/>
              <a:buFont typeface="Arial" panose="020B0604020202020204" pitchFamily="34" charset="0"/>
              <a:buChar char="•"/>
            </a:pPr>
            <a:r>
              <a:rPr lang="en-US" altLang="zh-CN" sz="2400" b="0" i="0" dirty="0">
                <a:solidFill>
                  <a:srgbClr val="0C0D0E"/>
                </a:solidFill>
                <a:effectLst/>
                <a:latin typeface="Trebuchet MS" panose="020B0603020202020204" pitchFamily="34" charset="0"/>
              </a:rPr>
              <a:t>When all propositional variables in </a:t>
            </a:r>
            <a:r>
              <a:rPr lang="en-US" altLang="zh-CN" sz="2400" b="1" i="1" dirty="0">
                <a:solidFill>
                  <a:srgbClr val="0C0D0E"/>
                </a:solidFill>
                <a:effectLst/>
                <a:latin typeface="Trebuchet MS" panose="020B0603020202020204" pitchFamily="34" charset="0"/>
              </a:rPr>
              <a:t>A</a:t>
            </a:r>
            <a:r>
              <a:rPr lang="en-US" altLang="zh-CN" sz="2400" b="0" i="0" dirty="0">
                <a:solidFill>
                  <a:srgbClr val="0C0D0E"/>
                </a:solidFill>
                <a:effectLst/>
                <a:latin typeface="Trebuchet MS" panose="020B0603020202020204" pitchFamily="34" charset="0"/>
              </a:rPr>
              <a:t> are </a:t>
            </a:r>
            <a:r>
              <a:rPr lang="en-US" altLang="zh-CN" sz="2400" b="1" i="1" dirty="0">
                <a:solidFill>
                  <a:srgbClr val="0C0D0E"/>
                </a:solidFill>
                <a:effectLst/>
                <a:latin typeface="Trebuchet MS" panose="020B0603020202020204" pitchFamily="34" charset="0"/>
              </a:rPr>
              <a:t>p</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p</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err="1">
                <a:solidFill>
                  <a:srgbClr val="0C0D0E"/>
                </a:solidFill>
                <a:latin typeface="Trebuchet MS" panose="020B0603020202020204" pitchFamily="34" charset="0"/>
              </a:rPr>
              <a:t>p</a:t>
            </a:r>
            <a:r>
              <a:rPr lang="en-US" altLang="zh-CN" sz="2400" b="1" baseline="-25000" dirty="0" err="1">
                <a:solidFill>
                  <a:srgbClr val="0C0D0E"/>
                </a:solidFill>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 assigning </a:t>
            </a:r>
            <a:r>
              <a:rPr lang="en-US" altLang="zh-CN" sz="2400" b="1" i="1" dirty="0">
                <a:solidFill>
                  <a:srgbClr val="0C0D0E"/>
                </a:solidFill>
                <a:effectLst/>
                <a:latin typeface="Trebuchet MS" panose="020B0603020202020204" pitchFamily="34" charset="0"/>
              </a:rPr>
              <a:t> α</a:t>
            </a:r>
            <a:r>
              <a:rPr lang="en-US" altLang="zh-CN" sz="2400" b="1" i="0" baseline="-25000" dirty="0">
                <a:solidFill>
                  <a:srgbClr val="0C0D0E"/>
                </a:solidFill>
                <a:effectLst/>
                <a:latin typeface="Trebuchet MS" panose="020B0603020202020204" pitchFamily="34" charset="0"/>
              </a:rPr>
              <a:t>1</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2</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n </a:t>
            </a:r>
            <a:r>
              <a:rPr lang="en-US" altLang="zh-CN" sz="2400" b="0" i="0" dirty="0">
                <a:solidFill>
                  <a:srgbClr val="0C0D0E"/>
                </a:solidFill>
                <a:effectLst/>
                <a:latin typeface="Trebuchet MS" panose="020B0603020202020204" pitchFamily="34" charset="0"/>
              </a:rPr>
              <a:t>to A means </a:t>
            </a:r>
            <a:r>
              <a:rPr lang="en-US" altLang="zh-CN" sz="2400" b="1" i="1" dirty="0">
                <a:solidFill>
                  <a:srgbClr val="0C0D0E"/>
                </a:solidFill>
                <a:effectLst/>
                <a:latin typeface="Trebuchet MS" panose="020B0603020202020204" pitchFamily="34" charset="0"/>
              </a:rPr>
              <a:t> p</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 p</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 </a:t>
            </a:r>
            <a:r>
              <a:rPr lang="en-US" altLang="zh-CN" sz="2400" b="1" i="1" dirty="0" err="1">
                <a:solidFill>
                  <a:srgbClr val="0C0D0E"/>
                </a:solidFill>
                <a:latin typeface="Trebuchet MS" panose="020B0603020202020204" pitchFamily="34" charset="0"/>
              </a:rPr>
              <a:t>p</a:t>
            </a:r>
            <a:r>
              <a:rPr lang="en-US" altLang="zh-CN" sz="2400" b="1" baseline="-25000" dirty="0" err="1">
                <a:solidFill>
                  <a:srgbClr val="0C0D0E"/>
                </a:solidFill>
                <a:latin typeface="Trebuchet MS" panose="020B0603020202020204" pitchFamily="34" charset="0"/>
              </a:rPr>
              <a:t>n</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n</a:t>
            </a:r>
            <a:r>
              <a:rPr lang="en-US" altLang="zh-CN" sz="2400" b="0" i="0" dirty="0">
                <a:solidFill>
                  <a:srgbClr val="0C0D0E"/>
                </a:solidFill>
                <a:effectLst/>
                <a:latin typeface="Trebuchet MS" panose="020B0603020202020204" pitchFamily="34" charset="0"/>
              </a:rPr>
              <a:t>.</a:t>
            </a:r>
          </a:p>
          <a:p>
            <a:pPr marL="982663" indent="-261938">
              <a:lnSpc>
                <a:spcPct val="120000"/>
              </a:lnSpc>
              <a:spcBef>
                <a:spcPts val="300"/>
              </a:spcBef>
              <a:buClr>
                <a:srgbClr val="0B61FF"/>
              </a:buClr>
              <a:buSzPct val="120000"/>
            </a:pPr>
            <a:r>
              <a:rPr lang="en-US" altLang="zh-CN" sz="2400" b="0" i="0" dirty="0">
                <a:solidFill>
                  <a:srgbClr val="0C0D0E"/>
                </a:solidFill>
                <a:effectLst/>
                <a:latin typeface="Trebuchet MS" panose="020B0603020202020204" pitchFamily="34" charset="0"/>
              </a:rPr>
              <a:t>When all propositional variables in </a:t>
            </a:r>
            <a:r>
              <a:rPr lang="en-US" altLang="zh-CN" sz="2400" b="1" i="1" dirty="0">
                <a:solidFill>
                  <a:srgbClr val="0C0D0E"/>
                </a:solidFill>
                <a:effectLst/>
                <a:latin typeface="Trebuchet MS" panose="020B0603020202020204" pitchFamily="34" charset="0"/>
              </a:rPr>
              <a:t>A</a:t>
            </a:r>
            <a:r>
              <a:rPr lang="en-US" altLang="zh-CN" sz="2400" b="0" i="0" dirty="0">
                <a:solidFill>
                  <a:srgbClr val="0C0D0E"/>
                </a:solidFill>
                <a:effectLst/>
                <a:latin typeface="Trebuchet MS" panose="020B0603020202020204" pitchFamily="34" charset="0"/>
              </a:rPr>
              <a:t> are </a:t>
            </a:r>
            <a:r>
              <a:rPr lang="en-US" altLang="zh-CN" sz="2400" b="1" i="1" dirty="0" err="1">
                <a:solidFill>
                  <a:srgbClr val="0C0D0E"/>
                </a:solidFill>
                <a:effectLst/>
                <a:latin typeface="Trebuchet MS" panose="020B0603020202020204" pitchFamily="34" charset="0"/>
              </a:rPr>
              <a:t>p</a:t>
            </a:r>
            <a:r>
              <a:rPr lang="en-US" altLang="zh-CN" sz="2400" b="0"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0"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r</a:t>
            </a:r>
            <a:r>
              <a:rPr lang="en-US" altLang="zh-CN" sz="2400" b="0" i="0" dirty="0">
                <a:solidFill>
                  <a:srgbClr val="0C0D0E"/>
                </a:solidFill>
                <a:effectLst/>
                <a:latin typeface="Trebuchet MS" panose="020B0603020202020204" pitchFamily="34" charset="0"/>
              </a:rPr>
              <a:t>,…, assigning </a:t>
            </a:r>
            <a:r>
              <a:rPr lang="en-US" altLang="zh-CN" sz="2400" b="1" i="1" dirty="0">
                <a:solidFill>
                  <a:srgbClr val="0C0D0E"/>
                </a:solidFill>
                <a:effectLst/>
                <a:latin typeface="Trebuchet MS" panose="020B0603020202020204" pitchFamily="34" charset="0"/>
              </a:rPr>
              <a:t> α</a:t>
            </a:r>
            <a:r>
              <a:rPr lang="en-US" altLang="zh-CN" sz="2400" b="1" i="0" baseline="-25000" dirty="0">
                <a:solidFill>
                  <a:srgbClr val="0C0D0E"/>
                </a:solidFill>
                <a:effectLst/>
                <a:latin typeface="Trebuchet MS" panose="020B0603020202020204" pitchFamily="34" charset="0"/>
              </a:rPr>
              <a:t>1</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2</a:t>
            </a:r>
            <a:r>
              <a:rPr lang="en-US" altLang="zh-CN" sz="2400" b="1" i="0" dirty="0">
                <a:solidFill>
                  <a:srgbClr val="0C0D0E"/>
                </a:solidFill>
                <a:effectLst/>
                <a:latin typeface="Trebuchet MS" panose="020B0603020202020204" pitchFamily="34" charset="0"/>
              </a:rPr>
              <a:t> </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3 </a:t>
            </a:r>
            <a:r>
              <a:rPr lang="en-US" altLang="zh-CN" sz="2400" b="0" i="0" dirty="0">
                <a:solidFill>
                  <a:srgbClr val="0C0D0E"/>
                </a:solidFill>
                <a:effectLst/>
                <a:latin typeface="Trebuchet MS" panose="020B0603020202020204" pitchFamily="34" charset="0"/>
              </a:rPr>
              <a:t>… to A means </a:t>
            </a:r>
            <a:r>
              <a:rPr lang="en-US" altLang="zh-CN" sz="2400" b="1" i="1" dirty="0">
                <a:solidFill>
                  <a:srgbClr val="0C0D0E"/>
                </a:solidFill>
                <a:effectLst/>
                <a:latin typeface="Trebuchet MS" panose="020B0603020202020204" pitchFamily="34" charset="0"/>
              </a:rPr>
              <a:t>p</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i="0" baseline="-25000" dirty="0">
                <a:solidFill>
                  <a:srgbClr val="0C0D0E"/>
                </a:solidFill>
                <a:effectLst/>
                <a:latin typeface="Trebuchet MS" panose="020B0603020202020204" pitchFamily="34" charset="0"/>
              </a:rPr>
              <a:t>1</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 p</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2</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latin typeface="Trebuchet MS" panose="020B0603020202020204" pitchFamily="34" charset="0"/>
              </a:rPr>
              <a:t> p</a:t>
            </a:r>
            <a:r>
              <a:rPr lang="en-US" altLang="zh-CN" sz="2400" b="1" baseline="-25000" dirty="0">
                <a:solidFill>
                  <a:srgbClr val="0C0D0E"/>
                </a:solidFill>
                <a:latin typeface="Trebuchet MS" panose="020B0603020202020204" pitchFamily="34" charset="0"/>
              </a:rPr>
              <a:t>3</a:t>
            </a:r>
            <a:r>
              <a:rPr lang="en-US" altLang="zh-CN" sz="2400" b="0"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α</a:t>
            </a:r>
            <a:r>
              <a:rPr lang="en-US" altLang="zh-CN" sz="2400" b="1" baseline="-25000" dirty="0">
                <a:solidFill>
                  <a:srgbClr val="0C0D0E"/>
                </a:solidFill>
                <a:latin typeface="Trebuchet MS" panose="020B0603020202020204" pitchFamily="34" charset="0"/>
              </a:rPr>
              <a:t>3 </a:t>
            </a:r>
            <a:r>
              <a:rPr lang="en-US" altLang="zh-CN" sz="2400" b="0" i="0" dirty="0">
                <a:solidFill>
                  <a:srgbClr val="0C0D0E"/>
                </a:solidFill>
                <a:effectLst/>
                <a:latin typeface="Trebuchet MS" panose="020B0603020202020204" pitchFamily="34" charset="0"/>
              </a:rPr>
              <a:t>,… .</a:t>
            </a:r>
          </a:p>
        </p:txBody>
      </p:sp>
    </p:spTree>
    <p:extLst>
      <p:ext uri="{BB962C8B-B14F-4D97-AF65-F5344CB8AC3E}">
        <p14:creationId xmlns:p14="http://schemas.microsoft.com/office/powerpoint/2010/main" val="27122729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solidFill>
                  <a:schemeClr val="bg1"/>
                </a:solidFill>
                <a:latin typeface="Trebuchet MS" panose="020B0603020202020204" pitchFamily="34" charset="0"/>
              </a:rPr>
              <a:t>Formulas Assignment</a:t>
            </a:r>
            <a:r>
              <a:rPr lang="en-US" altLang="zh-CN" sz="2000" b="1" dirty="0">
                <a:effectLst/>
                <a:latin typeface="Times New Roman" panose="02020603050405020304" pitchFamily="18" charset="0"/>
                <a:ea typeface="宋体" panose="02010600030101010101" pitchFamily="2" charset="-122"/>
              </a:rPr>
              <a:t> (</a:t>
            </a:r>
            <a:r>
              <a:rPr lang="en-US" altLang="zh-CN" sz="2400" b="1" dirty="0">
                <a:solidFill>
                  <a:schemeClr val="accent2"/>
                </a:solidFill>
                <a:effectLst/>
                <a:latin typeface="Trebuchet MS" panose="020B0603020202020204" pitchFamily="34" charset="0"/>
                <a:ea typeface="宋体" panose="02010600030101010101" pitchFamily="2" charset="-122"/>
              </a:rPr>
              <a:t>e.g.</a:t>
            </a:r>
            <a:r>
              <a:rPr lang="en-US" altLang="zh-CN" sz="2000" b="1" dirty="0">
                <a:effectLst/>
                <a:latin typeface="Times New Roman" panose="02020603050405020304" pitchFamily="18" charset="0"/>
                <a:ea typeface="宋体" panose="02010600030101010101" pitchFamily="2" charset="-122"/>
              </a:rPr>
              <a:t>)</a:t>
            </a:r>
            <a:endParaRPr lang="zh-CN" altLang="en-US" sz="2400" b="1" dirty="0">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10367195" cy="54984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spcBef>
                <a:spcPts val="300"/>
              </a:spcBef>
              <a:buNone/>
            </a:pPr>
            <a:r>
              <a:rPr lang="en-US" altLang="zh-CN" sz="2400" b="1" i="0" dirty="0">
                <a:solidFill>
                  <a:srgbClr val="0C0D0E"/>
                </a:solidFill>
                <a:effectLst/>
                <a:latin typeface="Trebuchet MS" panose="020B0603020202020204" pitchFamily="34" charset="0"/>
              </a:rPr>
              <a:t>      Example:  </a:t>
            </a:r>
          </a:p>
          <a:p>
            <a:pPr algn="l">
              <a:lnSpc>
                <a:spcPct val="120000"/>
              </a:lnSpc>
              <a:spcBef>
                <a:spcPts val="300"/>
              </a:spcBef>
              <a:buClr>
                <a:srgbClr val="0B61FF"/>
              </a:buClr>
              <a:buSzPct val="80000"/>
              <a:buFont typeface="Wingdings" panose="05000000000000000000" pitchFamily="2" charset="2"/>
              <a:buChar char="n"/>
            </a:pPr>
            <a:r>
              <a:rPr lang="en-US" altLang="zh-CN" sz="2400" b="0" i="0" dirty="0">
                <a:solidFill>
                  <a:srgbClr val="0C0D0E"/>
                </a:solidFill>
                <a:effectLst/>
                <a:latin typeface="Trebuchet MS" panose="020B0603020202020204" pitchFamily="34" charset="0"/>
              </a:rPr>
              <a:t>Formula </a:t>
            </a:r>
            <a:r>
              <a:rPr lang="en-US" altLang="zh-CN" sz="2400" b="1" i="1" dirty="0">
                <a:solidFill>
                  <a:srgbClr val="0C0D0E"/>
                </a:solidFill>
                <a:effectLst/>
                <a:latin typeface="Trebuchet MS" panose="020B0603020202020204" pitchFamily="34" charset="0"/>
              </a:rPr>
              <a:t>A</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1∧¬</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2∧¬</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3)∨(</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1∧</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2)</a:t>
            </a:r>
          </a:p>
          <a:p>
            <a:pPr marL="536575" indent="-273050" algn="l">
              <a:lnSpc>
                <a:spcPct val="120000"/>
              </a:lnSpc>
              <a:spcBef>
                <a:spcPts val="300"/>
              </a:spcBef>
              <a:buClr>
                <a:srgbClr val="0B61FF"/>
              </a:buClr>
              <a:buSzPct val="120000"/>
              <a:buFont typeface="Arial" panose="020B0604020202020204" pitchFamily="34" charset="0"/>
              <a:buChar char="•"/>
            </a:pPr>
            <a:r>
              <a:rPr lang="en-US" altLang="zh-CN" sz="2400" b="0" i="0" dirty="0">
                <a:solidFill>
                  <a:srgbClr val="0C0D0E"/>
                </a:solidFill>
                <a:effectLst/>
                <a:latin typeface="Trebuchet MS" panose="020B0603020202020204" pitchFamily="34" charset="0"/>
              </a:rPr>
              <a:t>The assignment 000 is a </a:t>
            </a:r>
            <a:r>
              <a:rPr lang="en-US" altLang="zh-CN" sz="2400" b="1" i="0" dirty="0">
                <a:solidFill>
                  <a:srgbClr val="0C0D0E"/>
                </a:solidFill>
                <a:effectLst/>
                <a:latin typeface="Trebuchet MS" panose="020B0603020202020204" pitchFamily="34" charset="0"/>
              </a:rPr>
              <a:t>satisfying assignment</a:t>
            </a:r>
          </a:p>
          <a:p>
            <a:pPr marL="263525" indent="0" algn="l">
              <a:lnSpc>
                <a:spcPct val="120000"/>
              </a:lnSpc>
              <a:spcBef>
                <a:spcPts val="300"/>
              </a:spcBef>
              <a:buClr>
                <a:srgbClr val="0B61FF"/>
              </a:buClr>
              <a:buSzPct val="120000"/>
              <a:buNone/>
            </a:pPr>
            <a:r>
              <a:rPr lang="en-US" altLang="zh-CN" sz="2400" b="1"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 (makes the formula </a:t>
            </a:r>
            <a:r>
              <a:rPr lang="en-US" altLang="zh-CN" sz="2400" b="1" i="0" dirty="0">
                <a:solidFill>
                  <a:srgbClr val="0C0D0E"/>
                </a:solidFill>
                <a:effectLst/>
                <a:latin typeface="Trebuchet MS" panose="020B0603020202020204" pitchFamily="34" charset="0"/>
              </a:rPr>
              <a:t>true</a:t>
            </a:r>
            <a:r>
              <a:rPr lang="en-US" altLang="zh-CN" sz="2400" b="0" i="0" dirty="0">
                <a:solidFill>
                  <a:srgbClr val="0C0D0E"/>
                </a:solidFill>
                <a:effectLst/>
                <a:latin typeface="Trebuchet MS" panose="020B0603020202020204" pitchFamily="34" charset="0"/>
              </a:rPr>
              <a:t>).</a:t>
            </a:r>
          </a:p>
          <a:p>
            <a:pPr marL="536575" indent="-273050" algn="l">
              <a:lnSpc>
                <a:spcPct val="120000"/>
              </a:lnSpc>
              <a:spcBef>
                <a:spcPts val="300"/>
              </a:spcBef>
              <a:buClr>
                <a:srgbClr val="0B61FF"/>
              </a:buClr>
              <a:buSzPct val="120000"/>
              <a:buFont typeface="Arial" panose="020B0604020202020204" pitchFamily="34" charset="0"/>
              <a:buChar char="•"/>
            </a:pPr>
            <a:r>
              <a:rPr lang="en-US" altLang="zh-CN" sz="2400" b="0" i="0" dirty="0">
                <a:solidFill>
                  <a:srgbClr val="0C0D0E"/>
                </a:solidFill>
                <a:effectLst/>
                <a:latin typeface="Trebuchet MS" panose="020B0603020202020204" pitchFamily="34" charset="0"/>
              </a:rPr>
              <a:t>The assignment 001 is a </a:t>
            </a:r>
            <a:r>
              <a:rPr lang="en-US" altLang="zh-CN" sz="2400" b="1" i="0" dirty="0">
                <a:solidFill>
                  <a:srgbClr val="0C0D0E"/>
                </a:solidFill>
                <a:effectLst/>
                <a:latin typeface="Trebuchet MS" panose="020B0603020202020204" pitchFamily="34" charset="0"/>
              </a:rPr>
              <a:t>falsifying assignment</a:t>
            </a:r>
          </a:p>
          <a:p>
            <a:pPr marL="263525" indent="0" algn="l">
              <a:lnSpc>
                <a:spcPct val="120000"/>
              </a:lnSpc>
              <a:spcBef>
                <a:spcPts val="300"/>
              </a:spcBef>
              <a:buClr>
                <a:srgbClr val="0B61FF"/>
              </a:buClr>
              <a:buSzPct val="120000"/>
              <a:buNone/>
            </a:pPr>
            <a:r>
              <a:rPr lang="en-US" altLang="zh-CN" sz="2400" b="1" dirty="0">
                <a:solidFill>
                  <a:srgbClr val="0C0D0E"/>
                </a:solidFill>
                <a:latin typeface="Trebuchet MS" panose="020B0603020202020204" pitchFamily="34" charset="0"/>
              </a:rPr>
              <a:t>   </a:t>
            </a:r>
            <a:r>
              <a:rPr lang="en-US" altLang="zh-CN" sz="2400" b="0" i="0" dirty="0">
                <a:solidFill>
                  <a:srgbClr val="0C0D0E"/>
                </a:solidFill>
                <a:effectLst/>
                <a:latin typeface="Trebuchet MS" panose="020B0603020202020204" pitchFamily="34" charset="0"/>
              </a:rPr>
              <a:t> (makes the formula </a:t>
            </a:r>
            <a:r>
              <a:rPr lang="en-US" altLang="zh-CN" sz="2400" b="1" i="0" dirty="0">
                <a:solidFill>
                  <a:srgbClr val="0C0D0E"/>
                </a:solidFill>
                <a:effectLst/>
                <a:latin typeface="Trebuchet MS" panose="020B0603020202020204" pitchFamily="34" charset="0"/>
              </a:rPr>
              <a:t>false</a:t>
            </a:r>
            <a:r>
              <a:rPr lang="en-US" altLang="zh-CN" sz="2400" b="0" i="0" dirty="0">
                <a:solidFill>
                  <a:srgbClr val="0C0D0E"/>
                </a:solidFill>
                <a:effectLst/>
                <a:latin typeface="Trebuchet MS" panose="020B0603020202020204" pitchFamily="34" charset="0"/>
              </a:rPr>
              <a:t>).</a:t>
            </a:r>
          </a:p>
          <a:p>
            <a:pPr algn="l">
              <a:lnSpc>
                <a:spcPct val="120000"/>
              </a:lnSpc>
              <a:spcBef>
                <a:spcPts val="300"/>
              </a:spcBef>
              <a:buClr>
                <a:srgbClr val="0B61FF"/>
              </a:buClr>
              <a:buSzPct val="80000"/>
              <a:buFont typeface="Wingdings" panose="05000000000000000000" pitchFamily="2" charset="2"/>
              <a:buChar char="n"/>
            </a:pPr>
            <a:r>
              <a:rPr lang="en-US" altLang="zh-CN" sz="2400" b="0" i="0" dirty="0">
                <a:solidFill>
                  <a:srgbClr val="0C0D0E"/>
                </a:solidFill>
                <a:effectLst/>
                <a:latin typeface="Trebuchet MS" panose="020B0603020202020204" pitchFamily="34" charset="0"/>
              </a:rPr>
              <a:t>Formula </a:t>
            </a:r>
            <a:r>
              <a:rPr lang="en-US" altLang="zh-CN" sz="2400" b="1" i="1" dirty="0">
                <a:solidFill>
                  <a:srgbClr val="0C0D0E"/>
                </a:solidFill>
                <a:effectLst/>
                <a:latin typeface="Trebuchet MS" panose="020B0603020202020204" pitchFamily="34" charset="0"/>
              </a:rPr>
              <a:t>B</a:t>
            </a:r>
            <a:r>
              <a:rPr lang="en-US" altLang="zh-CN" sz="2400" b="1" i="0" dirty="0">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solidFill>
                  <a:srgbClr val="0C0D0E"/>
                </a:solidFill>
                <a:effectLst/>
                <a:latin typeface="Trebuchet MS" panose="020B0603020202020204" pitchFamily="34" charset="0"/>
              </a:rPr>
              <a:t>r</a:t>
            </a:r>
          </a:p>
          <a:p>
            <a:pPr marL="536575" indent="-273050">
              <a:lnSpc>
                <a:spcPct val="120000"/>
              </a:lnSpc>
              <a:spcBef>
                <a:spcPts val="300"/>
              </a:spcBef>
              <a:buClr>
                <a:srgbClr val="0B61FF"/>
              </a:buClr>
              <a:buSzPct val="120000"/>
            </a:pPr>
            <a:r>
              <a:rPr lang="en-US" altLang="zh-CN" sz="2400" dirty="0">
                <a:solidFill>
                  <a:srgbClr val="0C0D0E"/>
                </a:solidFill>
                <a:latin typeface="Trebuchet MS" panose="020B0603020202020204" pitchFamily="34" charset="0"/>
              </a:rPr>
              <a:t>The assignment 000 is a</a:t>
            </a:r>
            <a:r>
              <a:rPr lang="en-US" altLang="zh-CN" sz="2400" b="1" dirty="0">
                <a:solidFill>
                  <a:srgbClr val="0C0D0E"/>
                </a:solidFill>
                <a:latin typeface="Trebuchet MS" panose="020B0603020202020204" pitchFamily="34" charset="0"/>
              </a:rPr>
              <a:t> falsifying assignment</a:t>
            </a:r>
          </a:p>
          <a:p>
            <a:pPr marL="0" indent="0" algn="l">
              <a:lnSpc>
                <a:spcPct val="120000"/>
              </a:lnSpc>
              <a:spcBef>
                <a:spcPts val="300"/>
              </a:spcBef>
              <a:buNone/>
            </a:pPr>
            <a:r>
              <a:rPr lang="en-US" altLang="zh-CN" sz="2400" b="0" i="0" dirty="0">
                <a:solidFill>
                  <a:srgbClr val="0C0D0E"/>
                </a:solidFill>
                <a:effectLst/>
                <a:latin typeface="Trebuchet MS" panose="020B0603020202020204" pitchFamily="34" charset="0"/>
              </a:rPr>
              <a:t>       (makes the formula </a:t>
            </a:r>
            <a:r>
              <a:rPr lang="en-US" altLang="zh-CN" sz="2400" b="1" i="0" dirty="0">
                <a:solidFill>
                  <a:srgbClr val="0C0D0E"/>
                </a:solidFill>
                <a:effectLst/>
                <a:latin typeface="Trebuchet MS" panose="020B0603020202020204" pitchFamily="34" charset="0"/>
              </a:rPr>
              <a:t>false</a:t>
            </a:r>
            <a:r>
              <a:rPr lang="en-US" altLang="zh-CN" sz="2400" b="0" i="0" dirty="0">
                <a:solidFill>
                  <a:srgbClr val="0C0D0E"/>
                </a:solidFill>
                <a:effectLst/>
                <a:latin typeface="Trebuchet MS" panose="020B0603020202020204" pitchFamily="34" charset="0"/>
              </a:rPr>
              <a:t>).</a:t>
            </a:r>
          </a:p>
          <a:p>
            <a:pPr marL="536575" indent="-273050">
              <a:lnSpc>
                <a:spcPct val="120000"/>
              </a:lnSpc>
              <a:spcBef>
                <a:spcPts val="300"/>
              </a:spcBef>
              <a:buClr>
                <a:srgbClr val="0B61FF"/>
              </a:buClr>
              <a:buSzPct val="120000"/>
            </a:pPr>
            <a:r>
              <a:rPr lang="en-US" altLang="zh-CN" sz="2400" dirty="0">
                <a:solidFill>
                  <a:srgbClr val="0C0D0E"/>
                </a:solidFill>
                <a:latin typeface="Trebuchet MS" panose="020B0603020202020204" pitchFamily="34" charset="0"/>
              </a:rPr>
              <a:t>The assignment 001 is a </a:t>
            </a:r>
            <a:r>
              <a:rPr lang="en-US" altLang="zh-CN" sz="2400" b="1" dirty="0">
                <a:solidFill>
                  <a:srgbClr val="0C0D0E"/>
                </a:solidFill>
                <a:latin typeface="Trebuchet MS" panose="020B0603020202020204" pitchFamily="34" charset="0"/>
              </a:rPr>
              <a:t>satisfying assignment</a:t>
            </a:r>
            <a:r>
              <a:rPr lang="en-US" altLang="zh-CN" sz="2400" dirty="0">
                <a:solidFill>
                  <a:srgbClr val="0C0D0E"/>
                </a:solidFill>
                <a:latin typeface="Trebuchet MS" panose="020B0603020202020204" pitchFamily="34" charset="0"/>
              </a:rPr>
              <a:t> </a:t>
            </a:r>
          </a:p>
          <a:p>
            <a:pPr marL="0" indent="0" algn="l">
              <a:lnSpc>
                <a:spcPct val="120000"/>
              </a:lnSpc>
              <a:spcBef>
                <a:spcPts val="300"/>
              </a:spcBef>
              <a:buNone/>
            </a:pPr>
            <a:r>
              <a:rPr lang="en-US" altLang="zh-CN" sz="2400" b="0" i="0" dirty="0">
                <a:solidFill>
                  <a:srgbClr val="0C0D0E"/>
                </a:solidFill>
                <a:effectLst/>
                <a:latin typeface="Trebuchet MS" panose="020B0603020202020204" pitchFamily="34" charset="0"/>
              </a:rPr>
              <a:t>       (makes the formula </a:t>
            </a:r>
            <a:r>
              <a:rPr lang="en-US" altLang="zh-CN" sz="2400" b="1" i="0" dirty="0">
                <a:solidFill>
                  <a:srgbClr val="0C0D0E"/>
                </a:solidFill>
                <a:effectLst/>
                <a:latin typeface="Trebuchet MS" panose="020B0603020202020204" pitchFamily="34" charset="0"/>
              </a:rPr>
              <a:t>true</a:t>
            </a:r>
            <a:r>
              <a:rPr lang="en-US" altLang="zh-CN" sz="2400" b="0" i="0" dirty="0">
                <a:solidFill>
                  <a:srgbClr val="0C0D0E"/>
                </a:solidFill>
                <a:effectLst/>
                <a:latin typeface="Trebuchet MS" panose="020B0603020202020204" pitchFamily="34" charset="0"/>
              </a:rPr>
              <a:t>).</a:t>
            </a:r>
          </a:p>
        </p:txBody>
      </p:sp>
      <p:pic>
        <p:nvPicPr>
          <p:cNvPr id="9" name="图片 8">
            <a:extLst>
              <a:ext uri="{FF2B5EF4-FFF2-40B4-BE49-F238E27FC236}">
                <a16:creationId xmlns:a16="http://schemas.microsoft.com/office/drawing/2014/main" id="{AA6E7653-BB60-4515-8992-5E2A88B02EB5}"/>
              </a:ext>
            </a:extLst>
          </p:cNvPr>
          <p:cNvPicPr/>
          <p:nvPr/>
        </p:nvPicPr>
        <p:blipFill>
          <a:blip r:embed="rId5"/>
          <a:stretch>
            <a:fillRect/>
          </a:stretch>
        </p:blipFill>
        <p:spPr>
          <a:xfrm>
            <a:off x="874395" y="945935"/>
            <a:ext cx="577850" cy="241300"/>
          </a:xfrm>
          <a:prstGeom prst="rect">
            <a:avLst/>
          </a:prstGeom>
        </p:spPr>
      </p:pic>
    </p:spTree>
    <p:extLst>
      <p:ext uri="{BB962C8B-B14F-4D97-AF65-F5344CB8AC3E}">
        <p14:creationId xmlns:p14="http://schemas.microsoft.com/office/powerpoint/2010/main" val="1365699576"/>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1000"/>
                                        <p:tgtEl>
                                          <p:spTgt spid="8">
                                            <p:txEl>
                                              <p:pRg st="6" end="6"/>
                                            </p:txEl>
                                          </p:spTgt>
                                        </p:tgtEl>
                                      </p:cBhvr>
                                    </p:animEffect>
                                    <p:anim calcmode="lin" valueType="num">
                                      <p:cBhvr>
                                        <p:cTn id="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7" end="7"/>
                                            </p:txEl>
                                          </p:spTgt>
                                        </p:tgtEl>
                                        <p:attrNameLst>
                                          <p:attrName>style.visibility</p:attrName>
                                        </p:attrNameLst>
                                      </p:cBhvr>
                                      <p:to>
                                        <p:strVal val="visible"/>
                                      </p:to>
                                    </p:set>
                                    <p:animEffect transition="in" filter="fade">
                                      <p:cBhvr>
                                        <p:cTn id="12" dur="1000"/>
                                        <p:tgtEl>
                                          <p:spTgt spid="8">
                                            <p:txEl>
                                              <p:pRg st="7" end="7"/>
                                            </p:txEl>
                                          </p:spTgt>
                                        </p:tgtEl>
                                      </p:cBhvr>
                                    </p:animEffect>
                                    <p:anim calcmode="lin" valueType="num">
                                      <p:cBhvr>
                                        <p:cTn id="1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7" end="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8" end="8"/>
                                            </p:txEl>
                                          </p:spTgt>
                                        </p:tgtEl>
                                        <p:attrNameLst>
                                          <p:attrName>style.visibility</p:attrName>
                                        </p:attrNameLst>
                                      </p:cBhvr>
                                      <p:to>
                                        <p:strVal val="visible"/>
                                      </p:to>
                                    </p:set>
                                    <p:animEffect transition="in" filter="fade">
                                      <p:cBhvr>
                                        <p:cTn id="17" dur="1000"/>
                                        <p:tgtEl>
                                          <p:spTgt spid="8">
                                            <p:txEl>
                                              <p:pRg st="8" end="8"/>
                                            </p:txEl>
                                          </p:spTgt>
                                        </p:tgtEl>
                                      </p:cBhvr>
                                    </p:animEffect>
                                    <p:anim calcmode="lin" valueType="num">
                                      <p:cBhvr>
                                        <p:cTn id="18"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8" end="8"/>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9" end="9"/>
                                            </p:txEl>
                                          </p:spTgt>
                                        </p:tgtEl>
                                        <p:attrNameLst>
                                          <p:attrName>style.visibility</p:attrName>
                                        </p:attrNameLst>
                                      </p:cBhvr>
                                      <p:to>
                                        <p:strVal val="visible"/>
                                      </p:to>
                                    </p:set>
                                    <p:animEffect transition="in" filter="fade">
                                      <p:cBhvr>
                                        <p:cTn id="22" dur="1000"/>
                                        <p:tgtEl>
                                          <p:spTgt spid="8">
                                            <p:txEl>
                                              <p:pRg st="9" end="9"/>
                                            </p:txEl>
                                          </p:spTgt>
                                        </p:tgtEl>
                                      </p:cBhvr>
                                    </p:animEffect>
                                    <p:anim calcmode="lin" valueType="num">
                                      <p:cBhvr>
                                        <p:cTn id="23"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9" end="9"/>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animEffect transition="in" filter="fade">
                                      <p:cBhvr>
                                        <p:cTn id="27" dur="1000"/>
                                        <p:tgtEl>
                                          <p:spTgt spid="8">
                                            <p:txEl>
                                              <p:pRg st="10" end="10"/>
                                            </p:txEl>
                                          </p:spTgt>
                                        </p:tgtEl>
                                      </p:cBhvr>
                                    </p:animEffect>
                                    <p:anim calcmode="lin" valueType="num">
                                      <p:cBhvr>
                                        <p:cTn id="28"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i="0" dirty="0">
                <a:solidFill>
                  <a:schemeClr val="bg1"/>
                </a:solidFill>
                <a:effectLst/>
                <a:latin typeface="-apple-system"/>
              </a:rPr>
              <a:t>Truth Table</a:t>
            </a:r>
            <a:endParaRPr lang="zh-CN" altLang="en-US" sz="2400" b="1" dirty="0">
              <a:solidFill>
                <a:schemeClr val="bg1"/>
              </a:solidFill>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79475"/>
            <a:ext cx="1127207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Truth Table:</a:t>
            </a:r>
            <a:r>
              <a:rPr lang="en-US" altLang="zh-CN" sz="2400" b="0" i="0" dirty="0">
                <a:solidFill>
                  <a:srgbClr val="0C0D0E"/>
                </a:solidFill>
                <a:effectLst/>
                <a:latin typeface="Trebuchet MS" panose="020B0603020202020204" pitchFamily="34" charset="0"/>
              </a:rPr>
              <a:t> A list of the values taken by a propositional formula under all possible assignments.</a:t>
            </a:r>
          </a:p>
          <a:p>
            <a:pPr indent="34925" algn="l">
              <a:buClr>
                <a:srgbClr val="0B61FF"/>
              </a:buClr>
              <a:buSzPct val="120000"/>
            </a:pPr>
            <a:r>
              <a:rPr lang="en-US" altLang="zh-CN" sz="2400" b="0" i="0" dirty="0">
                <a:solidFill>
                  <a:srgbClr val="0C0D0E"/>
                </a:solidFill>
                <a:effectLst/>
                <a:latin typeface="Trebuchet MS" panose="020B0603020202020204" pitchFamily="34" charset="0"/>
              </a:rPr>
              <a:t> A formula with n variables has 2</a:t>
            </a:r>
            <a:r>
              <a:rPr lang="en-US" altLang="zh-CN" sz="2400" b="0" i="0" baseline="30000" dirty="0">
                <a:solidFill>
                  <a:srgbClr val="0C0D0E"/>
                </a:solidFill>
                <a:effectLst/>
                <a:latin typeface="Trebuchet MS" panose="020B0603020202020204" pitchFamily="34" charset="0"/>
              </a:rPr>
              <a:t>n</a:t>
            </a:r>
            <a:r>
              <a:rPr lang="en-US" altLang="zh-CN" sz="2400" b="0" i="0" dirty="0">
                <a:solidFill>
                  <a:srgbClr val="0C0D0E"/>
                </a:solidFill>
                <a:effectLst/>
                <a:latin typeface="Trebuchet MS" panose="020B0603020202020204" pitchFamily="34" charset="0"/>
              </a:rPr>
              <a:t> assignments.</a:t>
            </a:r>
          </a:p>
          <a:p>
            <a:pPr marL="0" indent="0" algn="l">
              <a:buNone/>
            </a:pPr>
            <a:r>
              <a:rPr lang="en-US" altLang="zh-CN" sz="2400" b="1" i="0" dirty="0">
                <a:solidFill>
                  <a:srgbClr val="0C0D0E"/>
                </a:solidFill>
                <a:effectLst/>
                <a:latin typeface="Trebuchet MS" panose="020B0603020202020204" pitchFamily="34" charset="0"/>
              </a:rPr>
              <a:t>      Example:</a:t>
            </a:r>
            <a:r>
              <a:rPr lang="en-US" altLang="zh-CN" sz="2400" b="0" i="0" dirty="0">
                <a:solidFill>
                  <a:srgbClr val="0C0D0E"/>
                </a:solidFill>
                <a:effectLst/>
                <a:latin typeface="Trebuchet MS" panose="020B0603020202020204" pitchFamily="34" charset="0"/>
              </a:rPr>
              <a:t> Provide the truth table for the following propositional formula.</a:t>
            </a:r>
          </a:p>
          <a:p>
            <a:pPr marL="0" indent="0" algn="l">
              <a:buNone/>
            </a:pPr>
            <a:r>
              <a:rPr lang="en-US" altLang="zh-CN" sz="2400" dirty="0">
                <a:solidFill>
                  <a:srgbClr val="0C0D0E"/>
                </a:solidFill>
                <a:latin typeface="Trebuchet MS" panose="020B0603020202020204" pitchFamily="34" charset="0"/>
              </a:rPr>
              <a:t>     </a:t>
            </a:r>
            <a:r>
              <a:rPr lang="en-US" altLang="zh-CN" sz="2400" dirty="0">
                <a:solidFill>
                  <a:srgbClr val="0B61FF"/>
                </a:solidFill>
                <a:latin typeface="Trebuchet MS" panose="020B0603020202020204" pitchFamily="34" charset="0"/>
              </a:rPr>
              <a:t>(1)</a:t>
            </a:r>
            <a:r>
              <a:rPr kumimoji="1" lang="zh-CN" altLang="en-US" sz="2800" b="1" i="0" u="none" strike="noStrike" cap="none" normalizeH="0" baseline="0" dirty="0">
                <a:ln>
                  <a:noFill/>
                </a:ln>
                <a:solidFill>
                  <a:srgbClr val="0B61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800" b="1" dirty="0"/>
          </a:p>
          <a:p>
            <a:pPr eaLnBrk="1" hangingPunct="1">
              <a:spcBef>
                <a:spcPct val="40000"/>
              </a:spcBef>
              <a:buFontTx/>
              <a:buNone/>
            </a:pPr>
            <a:endParaRPr lang="zh-CN" altLang="en-US" sz="2800" b="1" dirty="0"/>
          </a:p>
        </p:txBody>
      </p:sp>
      <p:graphicFrame>
        <p:nvGraphicFramePr>
          <p:cNvPr id="9" name="Group 25">
            <a:extLst>
              <a:ext uri="{FF2B5EF4-FFF2-40B4-BE49-F238E27FC236}">
                <a16:creationId xmlns:a16="http://schemas.microsoft.com/office/drawing/2014/main" id="{96DEC594-CE0F-4763-8AB5-372BB3D740C2}"/>
              </a:ext>
            </a:extLst>
          </p:cNvPr>
          <p:cNvGraphicFramePr>
            <a:graphicFrameLocks noGrp="1"/>
          </p:cNvGraphicFramePr>
          <p:nvPr>
            <p:extLst>
              <p:ext uri="{D42A27DB-BD31-4B8C-83A1-F6EECF244321}">
                <p14:modId xmlns:p14="http://schemas.microsoft.com/office/powerpoint/2010/main" val="1656336759"/>
              </p:ext>
            </p:extLst>
          </p:nvPr>
        </p:nvGraphicFramePr>
        <p:xfrm>
          <a:off x="1942689" y="3248343"/>
          <a:ext cx="7416800" cy="2343150"/>
        </p:xfrm>
        <a:graphic>
          <a:graphicData uri="http://schemas.openxmlformats.org/drawingml/2006/table">
            <a:tbl>
              <a:tblPr/>
              <a:tblGrid>
                <a:gridCol w="1600200">
                  <a:extLst>
                    <a:ext uri="{9D8B030D-6E8A-4147-A177-3AD203B41FA5}">
                      <a16:colId xmlns:a16="http://schemas.microsoft.com/office/drawing/2014/main" val="20000"/>
                    </a:ext>
                  </a:extLst>
                </a:gridCol>
                <a:gridCol w="1598613">
                  <a:extLst>
                    <a:ext uri="{9D8B030D-6E8A-4147-A177-3AD203B41FA5}">
                      <a16:colId xmlns:a16="http://schemas.microsoft.com/office/drawing/2014/main" val="20001"/>
                    </a:ext>
                  </a:extLst>
                </a:gridCol>
                <a:gridCol w="1890712">
                  <a:extLst>
                    <a:ext uri="{9D8B030D-6E8A-4147-A177-3AD203B41FA5}">
                      <a16:colId xmlns:a16="http://schemas.microsoft.com/office/drawing/2014/main" val="20002"/>
                    </a:ext>
                  </a:extLst>
                </a:gridCol>
                <a:gridCol w="2327275">
                  <a:extLst>
                    <a:ext uri="{9D8B030D-6E8A-4147-A177-3AD203B41FA5}">
                      <a16:colId xmlns:a16="http://schemas.microsoft.com/office/drawing/2014/main" val="20003"/>
                    </a:ext>
                  </a:extLst>
                </a:gridCol>
              </a:tblGrid>
              <a:tr h="541338">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   q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extLst>
                  <a:ext uri="{0D108BD9-81ED-4DB2-BD59-A6C34878D82A}">
                    <a16:rowId xmlns:a16="http://schemas.microsoft.com/office/drawing/2014/main" val="10000"/>
                  </a:ext>
                </a:extLst>
              </a:tr>
              <a:tr h="1801812">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pic>
        <p:nvPicPr>
          <p:cNvPr id="10" name="图片 9">
            <a:extLst>
              <a:ext uri="{FF2B5EF4-FFF2-40B4-BE49-F238E27FC236}">
                <a16:creationId xmlns:a16="http://schemas.microsoft.com/office/drawing/2014/main" id="{292D1726-3CBB-482B-B06B-FBC982807BA1}"/>
              </a:ext>
            </a:extLst>
          </p:cNvPr>
          <p:cNvPicPr/>
          <p:nvPr/>
        </p:nvPicPr>
        <p:blipFill>
          <a:blip r:embed="rId5"/>
          <a:stretch>
            <a:fillRect/>
          </a:stretch>
        </p:blipFill>
        <p:spPr>
          <a:xfrm>
            <a:off x="874395" y="2168945"/>
            <a:ext cx="577850" cy="241300"/>
          </a:xfrm>
          <a:prstGeom prst="rect">
            <a:avLst/>
          </a:prstGeom>
        </p:spPr>
      </p:pic>
    </p:spTree>
    <p:extLst>
      <p:ext uri="{BB962C8B-B14F-4D97-AF65-F5344CB8AC3E}">
        <p14:creationId xmlns:p14="http://schemas.microsoft.com/office/powerpoint/2010/main" val="3529355948"/>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i="0" dirty="0">
                <a:solidFill>
                  <a:schemeClr val="bg1"/>
                </a:solidFill>
                <a:effectLst/>
                <a:latin typeface="-apple-system"/>
              </a:rPr>
              <a:t>Truth Table</a:t>
            </a:r>
            <a:r>
              <a:rPr lang="en-US" altLang="zh-CN" sz="2000" b="1" dirty="0">
                <a:latin typeface="Times New Roman" panose="02020603050405020304" pitchFamily="18" charset="0"/>
              </a:rPr>
              <a:t> (</a:t>
            </a:r>
            <a:r>
              <a:rPr lang="en-US" altLang="zh-CN" sz="2400" b="1" dirty="0">
                <a:solidFill>
                  <a:schemeClr val="accent2"/>
                </a:solidFill>
                <a:latin typeface="Trebuchet MS" panose="020B0603020202020204" pitchFamily="34" charset="0"/>
              </a:rPr>
              <a:t>e.g.</a:t>
            </a:r>
            <a:r>
              <a:rPr lang="en-US" altLang="zh-CN" sz="2000" b="1" dirty="0">
                <a:latin typeface="Times New Roman" panose="02020603050405020304" pitchFamily="18" charset="0"/>
              </a:rPr>
              <a:t>)</a:t>
            </a:r>
            <a:endParaRPr lang="zh-CN" altLang="en-US" sz="2400" b="1" dirty="0">
              <a:solidFill>
                <a:schemeClr val="bg1"/>
              </a:solidFill>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79475"/>
            <a:ext cx="9995719" cy="48382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Clr>
                <a:srgbClr val="0B61FF"/>
              </a:buClr>
              <a:buSzPct val="80000"/>
              <a:buNone/>
            </a:pPr>
            <a:r>
              <a:rPr lang="en-US" altLang="zh-CN" sz="2400" b="1" i="0" dirty="0">
                <a:solidFill>
                  <a:srgbClr val="0C0D0E"/>
                </a:solidFill>
                <a:effectLst/>
                <a:latin typeface="Trebuchet MS" panose="020B0603020202020204" pitchFamily="34" charset="0"/>
              </a:rPr>
              <a:t>      Example:</a:t>
            </a:r>
            <a:r>
              <a:rPr lang="en-US" altLang="zh-CN" sz="2400" b="0" i="0" dirty="0">
                <a:solidFill>
                  <a:srgbClr val="0C0D0E"/>
                </a:solidFill>
                <a:effectLst/>
                <a:latin typeface="Trebuchet MS" panose="020B0603020202020204" pitchFamily="34" charset="0"/>
              </a:rPr>
              <a:t> Provide the truth table for the following propositional formula.</a:t>
            </a:r>
          </a:p>
          <a:p>
            <a:pPr marL="0" indent="0">
              <a:buNone/>
            </a:pPr>
            <a:r>
              <a:rPr lang="en-US" altLang="zh-CN" sz="2400" dirty="0">
                <a:solidFill>
                  <a:srgbClr val="0C0D0E"/>
                </a:solidFill>
                <a:latin typeface="Trebuchet MS" panose="020B0603020202020204" pitchFamily="34" charset="0"/>
              </a:rPr>
              <a:t>     </a:t>
            </a:r>
            <a:r>
              <a:rPr lang="en-US" altLang="zh-CN" sz="2400" dirty="0">
                <a:solidFill>
                  <a:srgbClr val="0B61FF"/>
                </a:solidFill>
                <a:latin typeface="Trebuchet MS" panose="020B0603020202020204" pitchFamily="34" charset="0"/>
              </a:rPr>
              <a:t>(2)</a:t>
            </a:r>
            <a:r>
              <a:rPr kumimoji="1" lang="zh-CN" altLang="en-US" sz="2800" b="1" i="0" u="none" strike="noStrike" cap="none" normalizeH="0" baseline="0" dirty="0">
                <a:ln>
                  <a:noFill/>
                </a:ln>
                <a:solidFill>
                  <a:srgbClr val="0B61FF"/>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rPr>
              <a:t> (</a:t>
            </a:r>
            <a:r>
              <a:rPr lang="zh-CN" altLang="en-US" b="1" dirty="0">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p</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q</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q</a:t>
            </a: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800" b="1" dirty="0"/>
          </a:p>
          <a:p>
            <a:pPr eaLnBrk="1" hangingPunct="1">
              <a:spcBef>
                <a:spcPct val="40000"/>
              </a:spcBef>
              <a:buFontTx/>
              <a:buNone/>
            </a:pPr>
            <a:endParaRPr lang="zh-CN" altLang="en-US" sz="2800" b="1" dirty="0"/>
          </a:p>
        </p:txBody>
      </p:sp>
      <p:pic>
        <p:nvPicPr>
          <p:cNvPr id="10" name="图片 9">
            <a:extLst>
              <a:ext uri="{FF2B5EF4-FFF2-40B4-BE49-F238E27FC236}">
                <a16:creationId xmlns:a16="http://schemas.microsoft.com/office/drawing/2014/main" id="{292D1726-3CBB-482B-B06B-FBC982807BA1}"/>
              </a:ext>
            </a:extLst>
          </p:cNvPr>
          <p:cNvPicPr/>
          <p:nvPr/>
        </p:nvPicPr>
        <p:blipFill>
          <a:blip r:embed="rId5"/>
          <a:stretch>
            <a:fillRect/>
          </a:stretch>
        </p:blipFill>
        <p:spPr>
          <a:xfrm>
            <a:off x="874395" y="957088"/>
            <a:ext cx="577850" cy="241300"/>
          </a:xfrm>
          <a:prstGeom prst="rect">
            <a:avLst/>
          </a:prstGeom>
        </p:spPr>
      </p:pic>
      <p:graphicFrame>
        <p:nvGraphicFramePr>
          <p:cNvPr id="11" name="Group 67">
            <a:extLst>
              <a:ext uri="{FF2B5EF4-FFF2-40B4-BE49-F238E27FC236}">
                <a16:creationId xmlns:a16="http://schemas.microsoft.com/office/drawing/2014/main" id="{0EBD9516-AAC0-46A4-ADE8-BF77A8FBD8FB}"/>
              </a:ext>
            </a:extLst>
          </p:cNvPr>
          <p:cNvGraphicFramePr>
            <a:graphicFrameLocks noGrp="1"/>
          </p:cNvGraphicFramePr>
          <p:nvPr>
            <p:extLst>
              <p:ext uri="{D42A27DB-BD31-4B8C-83A1-F6EECF244321}">
                <p14:modId xmlns:p14="http://schemas.microsoft.com/office/powerpoint/2010/main" val="83601081"/>
              </p:ext>
            </p:extLst>
          </p:nvPr>
        </p:nvGraphicFramePr>
        <p:xfrm>
          <a:off x="1657589" y="2530474"/>
          <a:ext cx="7634288" cy="2486025"/>
        </p:xfrm>
        <a:graphic>
          <a:graphicData uri="http://schemas.openxmlformats.org/drawingml/2006/table">
            <a:tbl>
              <a:tblPr/>
              <a:tblGrid>
                <a:gridCol w="1152525">
                  <a:extLst>
                    <a:ext uri="{9D8B030D-6E8A-4147-A177-3AD203B41FA5}">
                      <a16:colId xmlns:a16="http://schemas.microsoft.com/office/drawing/2014/main" val="2001107543"/>
                    </a:ext>
                  </a:extLst>
                </a:gridCol>
                <a:gridCol w="1008063">
                  <a:extLst>
                    <a:ext uri="{9D8B030D-6E8A-4147-A177-3AD203B41FA5}">
                      <a16:colId xmlns:a16="http://schemas.microsoft.com/office/drawing/2014/main" val="1773125181"/>
                    </a:ext>
                  </a:extLst>
                </a:gridCol>
                <a:gridCol w="1225550">
                  <a:extLst>
                    <a:ext uri="{9D8B030D-6E8A-4147-A177-3AD203B41FA5}">
                      <a16:colId xmlns:a16="http://schemas.microsoft.com/office/drawing/2014/main" val="390844127"/>
                    </a:ext>
                  </a:extLst>
                </a:gridCol>
                <a:gridCol w="1873250">
                  <a:extLst>
                    <a:ext uri="{9D8B030D-6E8A-4147-A177-3AD203B41FA5}">
                      <a16:colId xmlns:a16="http://schemas.microsoft.com/office/drawing/2014/main" val="2525835409"/>
                    </a:ext>
                  </a:extLst>
                </a:gridCol>
                <a:gridCol w="2374900">
                  <a:extLst>
                    <a:ext uri="{9D8B030D-6E8A-4147-A177-3AD203B41FA5}">
                      <a16:colId xmlns:a16="http://schemas.microsoft.com/office/drawing/2014/main" val="3265760899"/>
                    </a:ext>
                  </a:extLst>
                </a:gridCol>
              </a:tblGrid>
              <a:tr h="584200">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   q </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p</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q</a:t>
                      </a:r>
                      <a:endPar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p</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p</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q</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extLst>
                  <a:ext uri="{0D108BD9-81ED-4DB2-BD59-A6C34878D82A}">
                    <a16:rowId xmlns:a16="http://schemas.microsoft.com/office/drawing/2014/main" val="4194309669"/>
                  </a:ext>
                </a:extLst>
              </a:tr>
              <a:tr h="1901825">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538721884"/>
                  </a:ext>
                </a:extLst>
              </a:tr>
            </a:tbl>
          </a:graphicData>
        </a:graphic>
      </p:graphicFrame>
    </p:spTree>
    <p:extLst>
      <p:ext uri="{BB962C8B-B14F-4D97-AF65-F5344CB8AC3E}">
        <p14:creationId xmlns:p14="http://schemas.microsoft.com/office/powerpoint/2010/main" val="281770613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i="0" dirty="0">
                <a:solidFill>
                  <a:schemeClr val="bg1"/>
                </a:solidFill>
                <a:effectLst/>
                <a:latin typeface="-apple-system"/>
              </a:rPr>
              <a:t>Truth Table</a:t>
            </a:r>
            <a:r>
              <a:rPr lang="en-US" altLang="zh-CN" sz="2000" b="1" dirty="0">
                <a:latin typeface="Times New Roman" panose="02020603050405020304" pitchFamily="18" charset="0"/>
              </a:rPr>
              <a:t> (</a:t>
            </a:r>
            <a:r>
              <a:rPr lang="en-US" altLang="zh-CN" sz="2400" b="1" dirty="0">
                <a:solidFill>
                  <a:schemeClr val="accent2"/>
                </a:solidFill>
                <a:latin typeface="Trebuchet MS" panose="020B0603020202020204" pitchFamily="34" charset="0"/>
              </a:rPr>
              <a:t>e.g.</a:t>
            </a:r>
            <a:r>
              <a:rPr lang="en-US" altLang="zh-CN" sz="2000" b="1" dirty="0">
                <a:latin typeface="Times New Roman" panose="02020603050405020304" pitchFamily="18" charset="0"/>
              </a:rPr>
              <a:t>)</a:t>
            </a:r>
            <a:endParaRPr lang="zh-CN" altLang="en-US" sz="2400" b="1" dirty="0">
              <a:solidFill>
                <a:schemeClr val="bg1"/>
              </a:solidFill>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79475"/>
            <a:ext cx="9995719" cy="48382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Clr>
                <a:srgbClr val="0B61FF"/>
              </a:buClr>
              <a:buSzPct val="80000"/>
              <a:buNone/>
            </a:pPr>
            <a:r>
              <a:rPr lang="en-US" altLang="zh-CN" sz="2400" b="1" i="0" dirty="0">
                <a:solidFill>
                  <a:srgbClr val="0C0D0E"/>
                </a:solidFill>
                <a:effectLst/>
                <a:latin typeface="Trebuchet MS" panose="020B0603020202020204" pitchFamily="34" charset="0"/>
              </a:rPr>
              <a:t>      Example:</a:t>
            </a:r>
            <a:r>
              <a:rPr lang="en-US" altLang="zh-CN" sz="2400" b="0" i="0" dirty="0">
                <a:solidFill>
                  <a:srgbClr val="0C0D0E"/>
                </a:solidFill>
                <a:effectLst/>
                <a:latin typeface="Trebuchet MS" panose="020B0603020202020204" pitchFamily="34" charset="0"/>
              </a:rPr>
              <a:t> Provide the truth table for the following propositional formula.</a:t>
            </a:r>
          </a:p>
          <a:p>
            <a:pPr marL="0" indent="0">
              <a:buNone/>
            </a:pPr>
            <a:r>
              <a:rPr lang="en-US" altLang="zh-CN" sz="2400" dirty="0">
                <a:solidFill>
                  <a:srgbClr val="0C0D0E"/>
                </a:solidFill>
                <a:latin typeface="Trebuchet MS" panose="020B0603020202020204" pitchFamily="34" charset="0"/>
              </a:rPr>
              <a:t>     </a:t>
            </a:r>
            <a:r>
              <a:rPr lang="en-US" altLang="zh-CN" sz="2400" dirty="0">
                <a:solidFill>
                  <a:srgbClr val="0B61FF"/>
                </a:solidFill>
                <a:latin typeface="Trebuchet MS" panose="020B0603020202020204" pitchFamily="34" charset="0"/>
              </a:rPr>
              <a:t>(3)</a:t>
            </a:r>
            <a:r>
              <a:rPr kumimoji="1" lang="zh-CN" altLang="en-US" sz="2800" b="1" i="0" u="none" strike="noStrike" cap="none" normalizeH="0" baseline="0" dirty="0">
                <a:ln>
                  <a:noFill/>
                </a:ln>
                <a:solidFill>
                  <a:srgbClr val="0B61FF"/>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1" dirty="0">
                <a:latin typeface="Trebuchet MS" panose="020B0603020202020204" pitchFamily="34" charset="0"/>
                <a:cs typeface="Times New Roman" panose="02020603050405020304" pitchFamily="18" charset="0"/>
              </a:rPr>
              <a:t>(</a:t>
            </a:r>
            <a:r>
              <a:rPr kumimoji="1" lang="en-US" altLang="zh-CN" sz="2400" b="1" i="1" dirty="0" err="1">
                <a:latin typeface="Trebuchet MS" panose="020B0603020202020204" pitchFamily="34" charset="0"/>
                <a:cs typeface="Times New Roman" panose="02020603050405020304" pitchFamily="18" charset="0"/>
              </a:rPr>
              <a:t>p</a:t>
            </a:r>
            <a:r>
              <a:rPr kumimoji="1"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kumimoji="1" lang="en-US" altLang="zh-CN" sz="2400" b="1" i="1" dirty="0" err="1">
                <a:latin typeface="Trebuchet MS" panose="020B0603020202020204" pitchFamily="34" charset="0"/>
                <a:cs typeface="Times New Roman" panose="02020603050405020304" pitchFamily="18" charset="0"/>
              </a:rPr>
              <a:t>q</a:t>
            </a:r>
            <a:r>
              <a:rPr kumimoji="1" lang="en-US" altLang="zh-CN" sz="2400" b="1" dirty="0">
                <a:latin typeface="Trebuchet MS" panose="020B0603020202020204" pitchFamily="34" charset="0"/>
                <a:cs typeface="Times New Roman" panose="02020603050405020304" pitchFamily="18" charset="0"/>
              </a:rPr>
              <a:t>)</a:t>
            </a:r>
            <a:r>
              <a:rPr kumimoji="1"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kumimoji="1" lang="en-US" altLang="zh-CN" sz="2400" b="1" i="1" dirty="0">
                <a:latin typeface="Trebuchet MS" panose="020B0603020202020204" pitchFamily="34" charset="0"/>
                <a:cs typeface="Times New Roman" panose="02020603050405020304" pitchFamily="18" charset="0"/>
              </a:rPr>
              <a:t>r</a:t>
            </a:r>
            <a:r>
              <a:rPr kumimoji="1" lang="en-US" altLang="zh-CN" sz="2400" b="1" dirty="0">
                <a:latin typeface="Trebuchet MS" panose="020B0603020202020204" pitchFamily="34" charset="0"/>
                <a:cs typeface="Times New Roman" panose="02020603050405020304" pitchFamily="18" charset="0"/>
              </a:rPr>
              <a:t> </a:t>
            </a:r>
            <a:endParaRPr lang="zh-CN" altLang="en-US" sz="2400" b="1" dirty="0">
              <a:latin typeface="Trebuchet MS" panose="020B0603020202020204" pitchFamily="34" charset="0"/>
            </a:endParaRPr>
          </a:p>
          <a:p>
            <a:pPr eaLnBrk="1" hangingPunct="1">
              <a:spcBef>
                <a:spcPct val="40000"/>
              </a:spcBef>
              <a:buFontTx/>
              <a:buNone/>
            </a:pPr>
            <a:endParaRPr lang="zh-CN" altLang="en-US" sz="2800" b="1" dirty="0"/>
          </a:p>
        </p:txBody>
      </p:sp>
      <p:pic>
        <p:nvPicPr>
          <p:cNvPr id="10" name="图片 9">
            <a:extLst>
              <a:ext uri="{FF2B5EF4-FFF2-40B4-BE49-F238E27FC236}">
                <a16:creationId xmlns:a16="http://schemas.microsoft.com/office/drawing/2014/main" id="{292D1726-3CBB-482B-B06B-FBC982807BA1}"/>
              </a:ext>
            </a:extLst>
          </p:cNvPr>
          <p:cNvPicPr/>
          <p:nvPr/>
        </p:nvPicPr>
        <p:blipFill>
          <a:blip r:embed="rId5"/>
          <a:stretch>
            <a:fillRect/>
          </a:stretch>
        </p:blipFill>
        <p:spPr>
          <a:xfrm>
            <a:off x="874395" y="957088"/>
            <a:ext cx="577850" cy="241300"/>
          </a:xfrm>
          <a:prstGeom prst="rect">
            <a:avLst/>
          </a:prstGeom>
        </p:spPr>
      </p:pic>
      <p:graphicFrame>
        <p:nvGraphicFramePr>
          <p:cNvPr id="14" name="Group 24">
            <a:extLst>
              <a:ext uri="{FF2B5EF4-FFF2-40B4-BE49-F238E27FC236}">
                <a16:creationId xmlns:a16="http://schemas.microsoft.com/office/drawing/2014/main" id="{61389BE2-E460-4AC0-9568-E988F1282BFB}"/>
              </a:ext>
            </a:extLst>
          </p:cNvPr>
          <p:cNvGraphicFramePr>
            <a:graphicFrameLocks noGrp="1"/>
          </p:cNvGraphicFramePr>
          <p:nvPr>
            <p:extLst>
              <p:ext uri="{D42A27DB-BD31-4B8C-83A1-F6EECF244321}">
                <p14:modId xmlns:p14="http://schemas.microsoft.com/office/powerpoint/2010/main" val="1553966301"/>
              </p:ext>
            </p:extLst>
          </p:nvPr>
        </p:nvGraphicFramePr>
        <p:xfrm>
          <a:off x="2019539" y="2119312"/>
          <a:ext cx="7272338" cy="3995738"/>
        </p:xfrm>
        <a:graphic>
          <a:graphicData uri="http://schemas.openxmlformats.org/drawingml/2006/table">
            <a:tbl>
              <a:tblPr/>
              <a:tblGrid>
                <a:gridCol w="2016125">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665288">
                  <a:extLst>
                    <a:ext uri="{9D8B030D-6E8A-4147-A177-3AD203B41FA5}">
                      <a16:colId xmlns:a16="http://schemas.microsoft.com/office/drawing/2014/main" val="20002"/>
                    </a:ext>
                  </a:extLst>
                </a:gridCol>
                <a:gridCol w="2016125">
                  <a:extLst>
                    <a:ext uri="{9D8B030D-6E8A-4147-A177-3AD203B41FA5}">
                      <a16:colId xmlns:a16="http://schemas.microsoft.com/office/drawing/2014/main" val="20003"/>
                    </a:ext>
                  </a:extLst>
                </a:gridCol>
              </a:tblGrid>
              <a:tr h="449263">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    p   q   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400" b="1" i="1" u="none" strike="noStrike" cap="none" normalizeH="0" baseline="0" dirty="0" err="1">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p</a:t>
                      </a:r>
                      <a:r>
                        <a:rPr kumimoji="1" lang="en-US" altLang="zh-CN" sz="2400" b="1" i="0" u="none" strike="noStrike" cap="none" normalizeH="0" baseline="0" dirty="0" err="1">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r</a:t>
                      </a:r>
                      <a:r>
                        <a:rPr kumimoji="1" lang="en-US" altLang="zh-CN"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400" b="1" i="1" u="none" strike="noStrike" cap="none" normalizeH="0" baseline="0" dirty="0" err="1">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p</a:t>
                      </a:r>
                      <a:r>
                        <a:rPr kumimoji="1" lang="en-US" altLang="zh-CN" sz="2400" b="1" i="0" u="none" strike="noStrike" cap="none" normalizeH="0" baseline="0" dirty="0" err="1">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err="1">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q</a:t>
                      </a:r>
                      <a:r>
                        <a:rPr kumimoji="1" lang="en-US" altLang="zh-CN"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kumimoji="1" lang="en-US" altLang="zh-CN"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r</a:t>
                      </a:r>
                      <a:r>
                        <a:rPr kumimoji="1" lang="en-US" altLang="zh-CN"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DAF8"/>
                    </a:solidFill>
                  </a:tcPr>
                </a:tc>
                <a:extLst>
                  <a:ext uri="{0D108BD9-81ED-4DB2-BD59-A6C34878D82A}">
                    <a16:rowId xmlns:a16="http://schemas.microsoft.com/office/drawing/2014/main" val="10000"/>
                  </a:ext>
                </a:extLst>
              </a:tr>
              <a:tr h="3538538">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0   0   0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0   0   1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0   1   0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0   1   1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1   0   0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1   0   1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1   1   0</a:t>
                      </a: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1   1   1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1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78342607"/>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2.1 </a:t>
            </a:r>
            <a:r>
              <a:rPr lang="en-US" altLang="zh-CN" sz="2000" b="1" i="0" dirty="0">
                <a:solidFill>
                  <a:schemeClr val="bg1"/>
                </a:solidFill>
                <a:effectLst/>
                <a:latin typeface="Trebuchet MS" panose="020B0603020202020204" pitchFamily="34" charset="0"/>
              </a:rPr>
              <a:t>Basic Concepts of Propositional Log</a:t>
            </a:r>
            <a:endPar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i="0" dirty="0">
                <a:solidFill>
                  <a:schemeClr val="bg1"/>
                </a:solidFill>
                <a:effectLst/>
                <a:latin typeface="Trebuchet MS" panose="020B0603020202020204" pitchFamily="34" charset="0"/>
              </a:rPr>
              <a:t>2.1.2 </a:t>
            </a:r>
            <a:r>
              <a:rPr lang="en-US" altLang="zh-CN" sz="2000" dirty="0">
                <a:solidFill>
                  <a:schemeClr val="bg1"/>
                </a:solidFill>
                <a:latin typeface="Trebuchet MS" panose="020B0603020202020204" pitchFamily="34" charset="0"/>
              </a:rPr>
              <a:t>Propositional Formulas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solidFill>
                  <a:schemeClr val="bg1"/>
                </a:solidFill>
                <a:latin typeface="Trebuchet MS" panose="020B0603020202020204" pitchFamily="34" charset="0"/>
              </a:rPr>
              <a:t> </a:t>
            </a:r>
            <a:r>
              <a:rPr lang="en-US" altLang="zh-CN" sz="2400" b="1" dirty="0">
                <a:solidFill>
                  <a:schemeClr val="bg1"/>
                </a:solidFill>
                <a:latin typeface="Trebuchet MS" panose="020B0603020202020204" pitchFamily="34" charset="0"/>
              </a:rPr>
              <a:t>Classification</a:t>
            </a:r>
            <a:endParaRPr lang="zh-CN" altLang="en-US" sz="2400" b="1" dirty="0">
              <a:solidFill>
                <a:schemeClr val="bg1"/>
              </a:solidFill>
              <a:highlight>
                <a:srgbClr val="FF0000"/>
              </a:highlight>
              <a:latin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10711922" cy="54756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Tautology (Always True):</a:t>
            </a:r>
            <a:r>
              <a:rPr lang="en-US" altLang="zh-CN" sz="2400" b="0" i="0" dirty="0">
                <a:solidFill>
                  <a:srgbClr val="0C0D0E"/>
                </a:solidFill>
                <a:effectLst/>
                <a:latin typeface="Trebuchet MS" panose="020B0603020202020204" pitchFamily="34" charset="0"/>
              </a:rPr>
              <a:t> A propositional formula that is never false under any assignment.</a:t>
            </a:r>
          </a:p>
          <a:p>
            <a:pPr algn="l">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Contradiction (Always False):</a:t>
            </a:r>
            <a:r>
              <a:rPr lang="en-US" altLang="zh-CN" sz="2400" b="0" i="0" dirty="0">
                <a:solidFill>
                  <a:srgbClr val="0C0D0E"/>
                </a:solidFill>
                <a:effectLst/>
                <a:latin typeface="Trebuchet MS" panose="020B0603020202020204" pitchFamily="34" charset="0"/>
              </a:rPr>
              <a:t> A propositional formula that is never true under any assignment.</a:t>
            </a:r>
          </a:p>
          <a:p>
            <a:pPr algn="l">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Satisfiable Formula:</a:t>
            </a:r>
            <a:r>
              <a:rPr lang="en-US" altLang="zh-CN" sz="2400" b="0" i="0" dirty="0">
                <a:solidFill>
                  <a:srgbClr val="0C0D0E"/>
                </a:solidFill>
                <a:effectLst/>
                <a:latin typeface="Trebuchet MS" panose="020B0603020202020204" pitchFamily="34" charset="0"/>
              </a:rPr>
              <a:t> A propositional formula that is not a contradiction.</a:t>
            </a:r>
          </a:p>
          <a:p>
            <a:pPr marL="0" indent="0" algn="l">
              <a:lnSpc>
                <a:spcPct val="120000"/>
              </a:lnSpc>
              <a:spcBef>
                <a:spcPts val="300"/>
              </a:spcBef>
              <a:buNone/>
            </a:pPr>
            <a:r>
              <a:rPr lang="en-US" altLang="zh-CN" sz="2400" b="1" i="0" dirty="0">
                <a:solidFill>
                  <a:srgbClr val="0C0D0E"/>
                </a:solidFill>
                <a:effectLst/>
                <a:latin typeface="Trebuchet MS" panose="020B0603020202020204" pitchFamily="34" charset="0"/>
              </a:rPr>
              <a:t>    Note:</a:t>
            </a:r>
            <a:r>
              <a:rPr lang="en-US" altLang="zh-CN" sz="2400" b="0" i="0" dirty="0">
                <a:solidFill>
                  <a:srgbClr val="0C0D0E"/>
                </a:solidFill>
                <a:effectLst/>
                <a:latin typeface="Trebuchet MS" panose="020B0603020202020204" pitchFamily="34" charset="0"/>
              </a:rPr>
              <a:t> A tautology is satisfiable, but the converse is not true.</a:t>
            </a:r>
          </a:p>
          <a:p>
            <a:pPr marL="0" indent="0" algn="l">
              <a:lnSpc>
                <a:spcPct val="120000"/>
              </a:lnSpc>
              <a:spcBef>
                <a:spcPts val="300"/>
              </a:spcBef>
              <a:buNone/>
            </a:pPr>
            <a:r>
              <a:rPr lang="en-US" altLang="zh-CN" sz="2400" b="1" i="0" dirty="0">
                <a:solidFill>
                  <a:srgbClr val="0C0D0E"/>
                </a:solidFill>
                <a:effectLst/>
                <a:latin typeface="Trebuchet MS" panose="020B0603020202020204" pitchFamily="34" charset="0"/>
              </a:rPr>
              <a:t>      Examples:</a:t>
            </a:r>
            <a:endParaRPr lang="en-US" altLang="zh-CN" sz="2400" b="0" i="0" dirty="0">
              <a:solidFill>
                <a:srgbClr val="0C0D0E"/>
              </a:solidFill>
              <a:effectLst/>
              <a:latin typeface="Trebuchet MS" panose="020B0603020202020204" pitchFamily="34" charset="0"/>
            </a:endParaRPr>
          </a:p>
          <a:p>
            <a:pPr marL="0" indent="536575">
              <a:lnSpc>
                <a:spcPct val="120000"/>
              </a:lnSpc>
              <a:spcBef>
                <a:spcPts val="300"/>
              </a:spcBef>
              <a:buNone/>
            </a:pPr>
            <a:r>
              <a:rPr lang="en-US" altLang="zh-CN" sz="2400" b="0" i="0" dirty="0">
                <a:solidFill>
                  <a:srgbClr val="0B61FF"/>
                </a:solidFill>
                <a:effectLst/>
                <a:latin typeface="Trebuchet MS" panose="020B0603020202020204" pitchFamily="34" charset="0"/>
              </a:rPr>
              <a:t>(1)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q</a:t>
            </a:r>
            <a:r>
              <a:rPr kumimoji="1"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solidFill>
                  <a:srgbClr val="0C0D0E"/>
                </a:solidFill>
                <a:effectLst/>
                <a:latin typeface="Trebuchet MS" panose="020B0603020202020204" pitchFamily="34" charset="0"/>
              </a:rPr>
              <a:t>p</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q</a:t>
            </a:r>
            <a:r>
              <a:rPr kumimoji="1"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solidFill>
                  <a:srgbClr val="0C0D0E"/>
                </a:solidFill>
                <a:effectLst/>
                <a:latin typeface="Trebuchet MS" panose="020B0603020202020204" pitchFamily="34" charset="0"/>
              </a:rPr>
              <a:t>p</a:t>
            </a:r>
            <a:r>
              <a:rPr lang="en-US" altLang="zh-CN" sz="2400" b="0" i="0" dirty="0">
                <a:solidFill>
                  <a:srgbClr val="0C0D0E"/>
                </a:solidFill>
                <a:effectLst/>
                <a:latin typeface="Trebuchet MS" panose="020B0603020202020204" pitchFamily="34" charset="0"/>
              </a:rPr>
              <a:t> is a tautology.</a:t>
            </a:r>
          </a:p>
          <a:p>
            <a:pPr marL="0" indent="536575" algn="l">
              <a:lnSpc>
                <a:spcPct val="120000"/>
              </a:lnSpc>
              <a:spcBef>
                <a:spcPts val="300"/>
              </a:spcBef>
              <a:buNone/>
            </a:pPr>
            <a:r>
              <a:rPr lang="en-US" altLang="zh-CN" sz="2400" b="0" i="0" dirty="0">
                <a:solidFill>
                  <a:srgbClr val="0B61FF"/>
                </a:solidFill>
                <a:effectLst/>
                <a:latin typeface="Trebuchet MS" panose="020B0603020202020204" pitchFamily="34" charset="0"/>
              </a:rPr>
              <a:t>(2) </a:t>
            </a:r>
            <a:r>
              <a:rPr lang="en-US" altLang="zh-CN" sz="2400" b="1" i="0" dirty="0">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 </a:t>
            </a:r>
            <a:r>
              <a:rPr lang="en-US" altLang="zh-CN" sz="2400" b="0" i="0" dirty="0">
                <a:solidFill>
                  <a:srgbClr val="0C0D0E"/>
                </a:solidFill>
                <a:effectLst/>
                <a:latin typeface="Trebuchet MS" panose="020B0603020202020204" pitchFamily="34" charset="0"/>
              </a:rPr>
              <a:t>is a contradiction.</a:t>
            </a:r>
          </a:p>
          <a:p>
            <a:pPr marL="0" indent="536575">
              <a:lnSpc>
                <a:spcPct val="120000"/>
              </a:lnSpc>
              <a:spcBef>
                <a:spcPts val="300"/>
              </a:spcBef>
              <a:buNone/>
            </a:pPr>
            <a:r>
              <a:rPr lang="en-US" altLang="zh-CN" sz="2400" b="0" i="0" dirty="0">
                <a:solidFill>
                  <a:srgbClr val="0B61FF"/>
                </a:solidFill>
                <a:effectLst/>
                <a:latin typeface="Trebuchet MS" panose="020B0603020202020204" pitchFamily="34" charset="0"/>
              </a:rPr>
              <a:t>(3) </a:t>
            </a:r>
            <a:r>
              <a:rPr lang="en-US" altLang="zh-CN" sz="2400" b="1" i="0" dirty="0">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p</a:t>
            </a:r>
            <a:r>
              <a:rPr lang="en-US" altLang="zh-CN" sz="2400" b="1" i="0" dirty="0" err="1">
                <a:solidFill>
                  <a:srgbClr val="0C0D0E"/>
                </a:solidFill>
                <a:effectLst/>
                <a:latin typeface="Trebuchet MS" panose="020B0603020202020204" pitchFamily="34" charset="0"/>
              </a:rPr>
              <a:t>∨</a:t>
            </a:r>
            <a:r>
              <a:rPr lang="en-US" altLang="zh-CN" sz="2400" b="1" i="1" dirty="0" err="1">
                <a:solidFill>
                  <a:srgbClr val="0C0D0E"/>
                </a:solidFill>
                <a:effectLst/>
                <a:latin typeface="Trebuchet MS" panose="020B0603020202020204" pitchFamily="34" charset="0"/>
              </a:rPr>
              <a:t>q</a:t>
            </a:r>
            <a:r>
              <a:rPr lang="en-US" altLang="zh-CN" sz="2400" b="1" i="0" dirty="0">
                <a:solidFill>
                  <a:srgbClr val="0C0D0E"/>
                </a:solidFill>
                <a:effectLst/>
                <a:latin typeface="Trebuchet MS" panose="020B0603020202020204" pitchFamily="34" charset="0"/>
              </a:rPr>
              <a:t>)</a:t>
            </a:r>
            <a:r>
              <a:rPr kumimoji="1"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0" dirty="0">
                <a:solidFill>
                  <a:srgbClr val="0C0D0E"/>
                </a:solidFill>
                <a:effectLst/>
                <a:latin typeface="Trebuchet MS" panose="020B0603020202020204" pitchFamily="34" charset="0"/>
              </a:rPr>
              <a:t>¬</a:t>
            </a:r>
            <a:r>
              <a:rPr lang="en-US" altLang="zh-CN" sz="2400" b="1" i="1" dirty="0">
                <a:solidFill>
                  <a:srgbClr val="0C0D0E"/>
                </a:solidFill>
                <a:effectLst/>
                <a:latin typeface="Trebuchet MS" panose="020B0603020202020204" pitchFamily="34" charset="0"/>
              </a:rPr>
              <a:t>r</a:t>
            </a:r>
            <a:r>
              <a:rPr lang="en-US" altLang="zh-CN" sz="2400" b="0" i="0" dirty="0">
                <a:solidFill>
                  <a:srgbClr val="0C0D0E"/>
                </a:solidFill>
                <a:effectLst/>
                <a:latin typeface="Trebuchet MS" panose="020B0603020202020204" pitchFamily="34" charset="0"/>
              </a:rPr>
              <a:t> is a satisfiable formula that is not a tautology.</a:t>
            </a:r>
            <a:endParaRPr lang="zh-CN" altLang="en-US" sz="2400" b="1" dirty="0">
              <a:latin typeface="Trebuchet MS" panose="020B0603020202020204" pitchFamily="34" charset="0"/>
            </a:endParaRPr>
          </a:p>
        </p:txBody>
      </p:sp>
      <p:sp>
        <p:nvSpPr>
          <p:cNvPr id="4" name="Rectangle 2">
            <a:extLst>
              <a:ext uri="{FF2B5EF4-FFF2-40B4-BE49-F238E27FC236}">
                <a16:creationId xmlns:a16="http://schemas.microsoft.com/office/drawing/2014/main" id="{968BDEEE-BDB5-4085-931B-2178304771B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29C8F9FC-6616-4050-BB23-ABB3F4F64733}"/>
              </a:ext>
            </a:extLst>
          </p:cNvPr>
          <p:cNvGraphicFramePr>
            <a:graphicFrameLocks noChangeAspect="1"/>
          </p:cNvGraphicFramePr>
          <p:nvPr>
            <p:extLst>
              <p:ext uri="{D42A27DB-BD31-4B8C-83A1-F6EECF244321}">
                <p14:modId xmlns:p14="http://schemas.microsoft.com/office/powerpoint/2010/main" val="3945590900"/>
              </p:ext>
            </p:extLst>
          </p:nvPr>
        </p:nvGraphicFramePr>
        <p:xfrm>
          <a:off x="891539" y="3611879"/>
          <a:ext cx="400051" cy="400051"/>
        </p:xfrm>
        <a:graphic>
          <a:graphicData uri="http://schemas.openxmlformats.org/presentationml/2006/ole">
            <mc:AlternateContent xmlns:mc="http://schemas.openxmlformats.org/markup-compatibility/2006">
              <mc:Choice xmlns:v="urn:schemas-microsoft-com:vml" Requires="v">
                <p:oleObj spid="_x0000_s1040" name="Visio" r:id="rId6" imgW="292148" imgH="292233" progId="Visio.Drawing.15">
                  <p:embed/>
                </p:oleObj>
              </mc:Choice>
              <mc:Fallback>
                <p:oleObj name="Visio" r:id="rId6" imgW="292148" imgH="292233"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1539" y="3611879"/>
                        <a:ext cx="400051" cy="400051"/>
                      </a:xfrm>
                      <a:prstGeom prst="rect">
                        <a:avLst/>
                      </a:prstGeom>
                      <a:noFill/>
                    </p:spPr>
                  </p:pic>
                </p:oleObj>
              </mc:Fallback>
            </mc:AlternateContent>
          </a:graphicData>
        </a:graphic>
      </p:graphicFrame>
      <p:pic>
        <p:nvPicPr>
          <p:cNvPr id="11" name="图片 10">
            <a:extLst>
              <a:ext uri="{FF2B5EF4-FFF2-40B4-BE49-F238E27FC236}">
                <a16:creationId xmlns:a16="http://schemas.microsoft.com/office/drawing/2014/main" id="{F6CDE00F-3BED-4C1F-9BFB-71C1564F6A1E}"/>
              </a:ext>
            </a:extLst>
          </p:cNvPr>
          <p:cNvPicPr/>
          <p:nvPr/>
        </p:nvPicPr>
        <p:blipFill>
          <a:blip r:embed="rId8"/>
          <a:stretch>
            <a:fillRect/>
          </a:stretch>
        </p:blipFill>
        <p:spPr>
          <a:xfrm>
            <a:off x="874395" y="4157488"/>
            <a:ext cx="577850" cy="241300"/>
          </a:xfrm>
          <a:prstGeom prst="rect">
            <a:avLst/>
          </a:prstGeom>
        </p:spPr>
      </p:pic>
    </p:spTree>
    <p:extLst>
      <p:ext uri="{BB962C8B-B14F-4D97-AF65-F5344CB8AC3E}">
        <p14:creationId xmlns:p14="http://schemas.microsoft.com/office/powerpoint/2010/main" val="372618594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4" end="4"/>
                                            </p:txEl>
                                          </p:spTgt>
                                        </p:tgtEl>
                                        <p:attrNameLst>
                                          <p:attrName>style.visibility</p:attrName>
                                        </p:attrNameLst>
                                      </p:cBhvr>
                                      <p:to>
                                        <p:strVal val="visible"/>
                                      </p:to>
                                    </p:set>
                                    <p:animEffect transition="in" filter="fade">
                                      <p:cBhvr>
                                        <p:cTn id="33" dur="1000"/>
                                        <p:tgtEl>
                                          <p:spTgt spid="8">
                                            <p:txEl>
                                              <p:pRg st="4" end="4"/>
                                            </p:txEl>
                                          </p:spTgt>
                                        </p:tgtEl>
                                      </p:cBhvr>
                                    </p:animEffect>
                                    <p:anim calcmode="lin" valueType="num">
                                      <p:cBhvr>
                                        <p:cTn id="34"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xEl>
                                              <p:pRg st="5" end="5"/>
                                            </p:txEl>
                                          </p:spTgt>
                                        </p:tgtEl>
                                        <p:attrNameLst>
                                          <p:attrName>style.visibility</p:attrName>
                                        </p:attrNameLst>
                                      </p:cBhvr>
                                      <p:to>
                                        <p:strVal val="visible"/>
                                      </p:to>
                                    </p:set>
                                    <p:animEffect transition="in" filter="fade">
                                      <p:cBhvr>
                                        <p:cTn id="38" dur="1000"/>
                                        <p:tgtEl>
                                          <p:spTgt spid="8">
                                            <p:txEl>
                                              <p:pRg st="5" end="5"/>
                                            </p:txEl>
                                          </p:spTgt>
                                        </p:tgtEl>
                                      </p:cBhvr>
                                    </p:animEffect>
                                    <p:anim calcmode="lin" valueType="num">
                                      <p:cBhvr>
                                        <p:cTn id="3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ppt_x</p:attrName>
                                        </p:attrNameLst>
                                      </p:cBhvr>
                                      <p:tavLst>
                                        <p:tav tm="0">
                                          <p:val>
                                            <p:strVal val="#ppt_x"/>
                                          </p:val>
                                        </p:tav>
                                        <p:tav tm="100000">
                                          <p:val>
                                            <p:strVal val="#ppt_x"/>
                                          </p:val>
                                        </p:tav>
                                      </p:tavLst>
                                    </p:anim>
                                    <p:anim calcmode="lin" valueType="num">
                                      <p:cBhvr>
                                        <p:cTn id="4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8">
                                            <p:txEl>
                                              <p:pRg st="6" end="6"/>
                                            </p:txEl>
                                          </p:spTgt>
                                        </p:tgtEl>
                                        <p:attrNameLst>
                                          <p:attrName>style.visibility</p:attrName>
                                        </p:attrNameLst>
                                      </p:cBhvr>
                                      <p:to>
                                        <p:strVal val="visible"/>
                                      </p:to>
                                    </p:set>
                                    <p:animEffect transition="in" filter="fade">
                                      <p:cBhvr>
                                        <p:cTn id="50" dur="1000"/>
                                        <p:tgtEl>
                                          <p:spTgt spid="8">
                                            <p:txEl>
                                              <p:pRg st="6" end="6"/>
                                            </p:txEl>
                                          </p:spTgt>
                                        </p:tgtEl>
                                      </p:cBhvr>
                                    </p:animEffect>
                                    <p:anim calcmode="lin" valueType="num">
                                      <p:cBhvr>
                                        <p:cTn id="5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8">
                                            <p:txEl>
                                              <p:pRg st="7" end="7"/>
                                            </p:txEl>
                                          </p:spTgt>
                                        </p:tgtEl>
                                        <p:attrNameLst>
                                          <p:attrName>style.visibility</p:attrName>
                                        </p:attrNameLst>
                                      </p:cBhvr>
                                      <p:to>
                                        <p:strVal val="visible"/>
                                      </p:to>
                                    </p:set>
                                    <p:animEffect transition="in" filter="fade">
                                      <p:cBhvr>
                                        <p:cTn id="57" dur="1000"/>
                                        <p:tgtEl>
                                          <p:spTgt spid="8">
                                            <p:txEl>
                                              <p:pRg st="7" end="7"/>
                                            </p:txEl>
                                          </p:spTgt>
                                        </p:tgtEl>
                                      </p:cBhvr>
                                    </p:animEffect>
                                    <p:anim calcmode="lin" valueType="num">
                                      <p:cBhvr>
                                        <p:cTn id="5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zh-CN" altLang="zh-CN" dirty="0">
                <a:solidFill>
                  <a:schemeClr val="bg1"/>
                </a:solidFill>
                <a:latin typeface="Söhne"/>
              </a:rPr>
              <a:t>离散数学</a:t>
            </a:r>
            <a:r>
              <a:rPr lang="zh-CN" altLang="en-US" dirty="0">
                <a:solidFill>
                  <a:schemeClr val="bg1"/>
                </a:solidFill>
                <a:latin typeface="Trebuchet MS" panose="020B0603020202020204" pitchFamily="34" charset="0"/>
              </a:rPr>
              <a:t>（</a:t>
            </a:r>
            <a:r>
              <a:rPr lang="en-US" altLang="zh-CN" dirty="0">
                <a:solidFill>
                  <a:schemeClr val="bg1"/>
                </a:solidFill>
                <a:latin typeface="Trebuchet MS" panose="020B0603020202020204" pitchFamily="34" charset="0"/>
              </a:rPr>
              <a:t>011122</a:t>
            </a:r>
            <a:r>
              <a:rPr lang="zh-CN" altLang="en-US" dirty="0">
                <a:solidFill>
                  <a:schemeClr val="bg1"/>
                </a:solidFill>
                <a:latin typeface="Trebuchet MS" panose="020B0603020202020204" pitchFamily="34" charset="0"/>
              </a:rPr>
              <a:t>）</a:t>
            </a:r>
            <a:br>
              <a:rPr lang="en-US" altLang="zh-CN" b="1" dirty="0">
                <a:solidFill>
                  <a:schemeClr val="bg1"/>
                </a:solidFill>
                <a:effectLst>
                  <a:outerShdw blurRad="38100" dist="38100" dir="2700000" algn="tl">
                    <a:srgbClr val="000000">
                      <a:alpha val="43137"/>
                    </a:srgbClr>
                  </a:outerShdw>
                </a:effectLst>
                <a:latin typeface="Trebuchet MS" panose="020B0603020202020204" pitchFamily="34" charset="0"/>
              </a:rPr>
            </a:br>
            <a:endParaRPr lang="en-US" altLang="zh-CN" b="1" dirty="0">
              <a:solidFill>
                <a:schemeClr val="bg1"/>
              </a:solidFill>
              <a:effectLst>
                <a:outerShdw blurRad="38100" dist="38100" dir="2700000" algn="tl">
                  <a:srgbClr val="000000">
                    <a:alpha val="43137"/>
                  </a:srgbClr>
                </a:outerShdw>
              </a:effectLst>
              <a:latin typeface="Trebuchet MS" panose="020B0603020202020204" pitchFamily="34" charset="0"/>
            </a:endParaRPr>
          </a:p>
        </p:txBody>
      </p:sp>
      <p:sp>
        <p:nvSpPr>
          <p:cNvPr id="6" name="文本框 5"/>
          <p:cNvSpPr txBox="1"/>
          <p:nvPr/>
        </p:nvSpPr>
        <p:spPr>
          <a:xfrm>
            <a:off x="806259" y="6001304"/>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2</a:t>
            </a:r>
            <a:r>
              <a:rPr lang="zh-CN" altLang="en-US" sz="2400" b="1" dirty="0">
                <a:latin typeface="Trebuchet MS" panose="020B0603020202020204" pitchFamily="34" charset="0"/>
              </a:rPr>
              <a:t>：</a:t>
            </a:r>
            <a:r>
              <a:rPr lang="en-US" altLang="zh-CN" sz="2400" b="1" i="0" dirty="0">
                <a:solidFill>
                  <a:srgbClr val="0C0D0E"/>
                </a:solidFill>
                <a:effectLst/>
                <a:latin typeface="Trebuchet MS" panose="020B0603020202020204" pitchFamily="34" charset="0"/>
              </a:rPr>
              <a:t> </a:t>
            </a:r>
            <a:r>
              <a:rPr lang="en-US" altLang="zh-CN" sz="2400" b="1" i="0" dirty="0">
                <a:solidFill>
                  <a:schemeClr val="bg1"/>
                </a:solidFill>
                <a:effectLst/>
                <a:latin typeface="Trebuchet MS" panose="020B0603020202020204" pitchFamily="34" charset="0"/>
              </a:rPr>
              <a:t>Propositional Logic</a:t>
            </a:r>
            <a:r>
              <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rPr>
              <a:t>                       </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10024294" cy="4467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marL="2057400" indent="0">
              <a:lnSpc>
                <a:spcPct val="130000"/>
              </a:lnSpc>
              <a:spcBef>
                <a:spcPct val="0"/>
              </a:spcBef>
              <a:buNone/>
            </a:pPr>
            <a:r>
              <a:rPr lang="en-US" sz="2400" dirty="0">
                <a:latin typeface="Trebuchet MS" panose="020B0603020202020204" pitchFamily="34" charset="0"/>
              </a:rPr>
              <a:t>2.1 Basic Concepts of Propositional Logic</a:t>
            </a:r>
            <a:br>
              <a:rPr lang="en-US" sz="2400" dirty="0">
                <a:latin typeface="Trebuchet MS" panose="020B0603020202020204" pitchFamily="34" charset="0"/>
              </a:rPr>
            </a:br>
            <a:r>
              <a:rPr lang="en-US" sz="2400" b="1" dirty="0">
                <a:latin typeface="Trebuchet MS" panose="020B0603020202020204" pitchFamily="34" charset="0"/>
              </a:rPr>
              <a:t>2.2 Equivalence Calculus of Propositional Logic</a:t>
            </a:r>
            <a:br>
              <a:rPr lang="en-US" sz="2400" dirty="0">
                <a:latin typeface="Trebuchet MS" panose="020B0603020202020204" pitchFamily="34" charset="0"/>
              </a:rPr>
            </a:br>
            <a:r>
              <a:rPr lang="en-US" sz="2400" dirty="0">
                <a:latin typeface="Trebuchet MS" panose="020B0603020202020204" pitchFamily="34" charset="0"/>
              </a:rPr>
              <a:t>2.3 Normal Forms</a:t>
            </a:r>
            <a:endParaRPr lang="zh-CN" altLang="en-US" sz="2400" dirty="0">
              <a:latin typeface="Trebuchet MS" panose="020B0603020202020204" pitchFamily="34" charset="0"/>
            </a:endParaRPr>
          </a:p>
          <a:p>
            <a:pPr lvl="1"/>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a:t>
            </a:r>
            <a:r>
              <a:rPr lang="en-US" altLang="zh-CN" sz="2400" b="1" dirty="0">
                <a:latin typeface="Trebuchet MS" panose="020B0603020202020204" pitchFamily="34" charset="0"/>
              </a:rPr>
              <a:t>2.2 Equivalence Calculus of Propositional Logic</a:t>
            </a:r>
            <a:r>
              <a:rPr lang="en-US" altLang="zh-CN" sz="2400" b="1" dirty="0">
                <a:effectLst/>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10043344" cy="44291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endParaRPr lang="en-US" altLang="zh-CN" b="1" dirty="0"/>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2.2.1 Equivalence Expressions and Equivalence Calculus</a:t>
            </a:r>
          </a:p>
          <a:p>
            <a:pPr marL="723900" indent="88900">
              <a:lnSpc>
                <a:spcPct val="120000"/>
              </a:lnSpc>
              <a:spcBef>
                <a:spcPts val="300"/>
              </a:spcBef>
              <a:buClr>
                <a:srgbClr val="0B61FF"/>
              </a:buClr>
              <a:buSzPct val="80000"/>
            </a:pPr>
            <a:r>
              <a:rPr lang="en-US" sz="2400" dirty="0">
                <a:latin typeface="Trebuchet MS" panose="020B0603020202020204" pitchFamily="34" charset="0"/>
              </a:rPr>
              <a:t>	Equivalence Expressions and Basic Equivalence Expressions</a:t>
            </a:r>
          </a:p>
          <a:p>
            <a:pPr marL="723900" indent="88900">
              <a:lnSpc>
                <a:spcPct val="120000"/>
              </a:lnSpc>
              <a:spcBef>
                <a:spcPts val="300"/>
              </a:spcBef>
              <a:buClr>
                <a:srgbClr val="0B61FF"/>
              </a:buClr>
              <a:buSzPct val="80000"/>
            </a:pPr>
            <a:r>
              <a:rPr lang="en-US" sz="2400" dirty="0">
                <a:latin typeface="Trebuchet MS" panose="020B0603020202020204" pitchFamily="34" charset="0"/>
              </a:rPr>
              <a:t>	Truth Table Method and Equivalence Calculus Method</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2.2.2 Connective Complete Set</a:t>
            </a:r>
          </a:p>
          <a:p>
            <a:pPr marL="723900" indent="88900">
              <a:lnSpc>
                <a:spcPct val="120000"/>
              </a:lnSpc>
              <a:spcBef>
                <a:spcPts val="300"/>
              </a:spcBef>
              <a:buClr>
                <a:srgbClr val="0B61FF"/>
              </a:buClr>
              <a:buSzPct val="80000"/>
            </a:pPr>
            <a:r>
              <a:rPr lang="en-US" sz="2400" dirty="0">
                <a:latin typeface="Trebuchet MS" panose="020B0603020202020204" pitchFamily="34" charset="0"/>
              </a:rPr>
              <a:t>	Truth Functions</a:t>
            </a:r>
          </a:p>
          <a:p>
            <a:pPr marL="723900" indent="88900">
              <a:lnSpc>
                <a:spcPct val="120000"/>
              </a:lnSpc>
              <a:spcBef>
                <a:spcPts val="300"/>
              </a:spcBef>
              <a:buClr>
                <a:srgbClr val="0B61FF"/>
              </a:buClr>
              <a:buSzPct val="80000"/>
            </a:pPr>
            <a:r>
              <a:rPr lang="en-US" sz="2400" dirty="0">
                <a:latin typeface="Trebuchet MS" panose="020B0603020202020204" pitchFamily="34" charset="0"/>
              </a:rPr>
              <a:t>	Connective Complete Set</a:t>
            </a:r>
          </a:p>
          <a:p>
            <a:pPr marL="723900" indent="88900">
              <a:lnSpc>
                <a:spcPct val="120000"/>
              </a:lnSpc>
              <a:spcBef>
                <a:spcPts val="300"/>
              </a:spcBef>
              <a:buClr>
                <a:srgbClr val="0B61FF"/>
              </a:buClr>
              <a:buSzPct val="80000"/>
            </a:pPr>
            <a:r>
              <a:rPr lang="en-US" sz="2400" dirty="0">
                <a:latin typeface="Trebuchet MS" panose="020B0603020202020204" pitchFamily="34" charset="0"/>
              </a:rPr>
              <a:t>	NAND Connective, NOR Connective</a:t>
            </a:r>
          </a:p>
        </p:txBody>
      </p:sp>
    </p:spTree>
    <p:extLst>
      <p:ext uri="{BB962C8B-B14F-4D97-AF65-F5344CB8AC3E}">
        <p14:creationId xmlns:p14="http://schemas.microsoft.com/office/powerpoint/2010/main" val="3087741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Equivalence Expressions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9854206" cy="57880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eaLnBrk="1" hangingPunct="1">
              <a:lnSpc>
                <a:spcPct val="130000"/>
              </a:lnSpc>
              <a:spcBef>
                <a:spcPts val="300"/>
              </a:spcBef>
              <a:buClr>
                <a:srgbClr val="0B61FF"/>
              </a:buClr>
              <a:buSzPct val="80000"/>
              <a:buFont typeface="Wingdings" panose="05000000000000000000" pitchFamily="2" charset="2"/>
              <a:buChar char="n"/>
            </a:pPr>
            <a:r>
              <a:rPr lang="en-US" sz="2600" b="1" dirty="0">
                <a:latin typeface="Trebuchet MS" panose="020B0603020202020204" pitchFamily="34" charset="0"/>
              </a:rPr>
              <a:t>Definition 2.11</a:t>
            </a:r>
            <a:r>
              <a:rPr lang="zh-CN" altLang="en-US" sz="2600" b="1" dirty="0">
                <a:latin typeface="Trebuchet MS" panose="020B0603020202020204" pitchFamily="34" charset="0"/>
              </a:rPr>
              <a:t>：</a:t>
            </a:r>
            <a:br>
              <a:rPr lang="en-US" sz="2600" dirty="0">
                <a:latin typeface="Trebuchet MS" panose="020B0603020202020204" pitchFamily="34" charset="0"/>
              </a:rPr>
            </a:br>
            <a:r>
              <a:rPr lang="en-US" sz="2600" dirty="0">
                <a:latin typeface="Trebuchet MS" panose="020B0603020202020204" pitchFamily="34" charset="0"/>
              </a:rPr>
              <a:t>Let </a:t>
            </a:r>
            <a:r>
              <a:rPr lang="en-US" sz="2600" b="1" i="1" dirty="0">
                <a:latin typeface="Trebuchet MS" panose="020B0603020202020204" pitchFamily="34" charset="0"/>
              </a:rPr>
              <a:t>A</a:t>
            </a:r>
            <a:r>
              <a:rPr lang="en-US" sz="2600" dirty="0">
                <a:latin typeface="Trebuchet MS" panose="020B0603020202020204" pitchFamily="34" charset="0"/>
              </a:rPr>
              <a:t> and </a:t>
            </a:r>
            <a:r>
              <a:rPr lang="en-US" sz="2600" b="1" i="1" dirty="0">
                <a:latin typeface="Trebuchet MS" panose="020B0603020202020204" pitchFamily="34" charset="0"/>
              </a:rPr>
              <a:t>B</a:t>
            </a:r>
            <a:r>
              <a:rPr lang="en-US" sz="2600" dirty="0">
                <a:latin typeface="Trebuchet MS" panose="020B0603020202020204" pitchFamily="34" charset="0"/>
              </a:rPr>
              <a:t> be two propositional formulas. If the equivalence expression </a:t>
            </a:r>
            <a:r>
              <a:rPr lang="en-US" sz="2600" b="1" i="1" dirty="0">
                <a:latin typeface="Trebuchet MS" panose="020B0603020202020204" pitchFamily="34" charset="0"/>
              </a:rPr>
              <a:t>A</a:t>
            </a:r>
            <a:r>
              <a:rPr lang="en-US" sz="2600" dirty="0"/>
              <a:t>↔</a:t>
            </a:r>
            <a:r>
              <a:rPr lang="en-US" altLang="zh-CN" sz="2600" b="1" i="1" dirty="0">
                <a:latin typeface="Trebuchet MS" panose="020B0603020202020204" pitchFamily="34" charset="0"/>
              </a:rPr>
              <a:t>B</a:t>
            </a:r>
            <a:r>
              <a:rPr lang="en-US" sz="2600" dirty="0">
                <a:latin typeface="Trebuchet MS" panose="020B0603020202020204" pitchFamily="34" charset="0"/>
              </a:rPr>
              <a:t> is a tautology (</a:t>
            </a:r>
            <a:r>
              <a:rPr lang="en-US" altLang="zh-CN" sz="2600" dirty="0">
                <a:latin typeface="Trebuchet MS" panose="020B0603020202020204" pitchFamily="34" charset="0"/>
              </a:rPr>
              <a:t>Universally Valid Formula</a:t>
            </a:r>
            <a:r>
              <a:rPr lang="en-US" sz="2600" dirty="0">
                <a:latin typeface="Trebuchet MS" panose="020B0603020202020204" pitchFamily="34" charset="0"/>
              </a:rPr>
              <a:t>), then </a:t>
            </a:r>
            <a:r>
              <a:rPr lang="en-US" sz="2600" b="1" i="1" dirty="0">
                <a:latin typeface="Trebuchet MS" panose="020B0603020202020204" pitchFamily="34" charset="0"/>
              </a:rPr>
              <a:t>A</a:t>
            </a:r>
            <a:r>
              <a:rPr lang="en-US" sz="2600" dirty="0">
                <a:latin typeface="Trebuchet MS" panose="020B0603020202020204" pitchFamily="34" charset="0"/>
              </a:rPr>
              <a:t> and </a:t>
            </a:r>
            <a:r>
              <a:rPr lang="en-US" sz="2600" b="1" i="1" dirty="0">
                <a:latin typeface="Trebuchet MS" panose="020B0603020202020204" pitchFamily="34" charset="0"/>
              </a:rPr>
              <a:t>B</a:t>
            </a:r>
            <a:r>
              <a:rPr lang="en-US" sz="2600" dirty="0">
                <a:latin typeface="Trebuchet MS" panose="020B0603020202020204" pitchFamily="34" charset="0"/>
              </a:rPr>
              <a:t> are said to be equivalent, denoted as </a:t>
            </a:r>
            <a:r>
              <a:rPr lang="en-US" sz="2600" b="1" i="1" dirty="0">
                <a:latin typeface="Trebuchet MS" panose="020B0603020202020204" pitchFamily="34" charset="0"/>
              </a:rPr>
              <a:t>A</a:t>
            </a:r>
            <a:r>
              <a:rPr lang="en-US" sz="2600" dirty="0">
                <a:latin typeface="Trebuchet MS" panose="020B0603020202020204" pitchFamily="34" charset="0"/>
              </a:rPr>
              <a:t>  ⟺  </a:t>
            </a:r>
            <a:r>
              <a:rPr lang="en-US" sz="2600" b="1" i="1" dirty="0">
                <a:latin typeface="Trebuchet MS" panose="020B0603020202020204" pitchFamily="34" charset="0"/>
              </a:rPr>
              <a:t>B</a:t>
            </a:r>
            <a:r>
              <a:rPr lang="en-US" sz="2600" dirty="0">
                <a:latin typeface="Trebuchet MS" panose="020B0603020202020204" pitchFamily="34" charset="0"/>
              </a:rPr>
              <a:t>, and called an </a:t>
            </a:r>
            <a:r>
              <a:rPr lang="en-US" sz="2600" b="1" i="1" dirty="0">
                <a:latin typeface="Trebuchet MS" panose="020B0603020202020204" pitchFamily="34" charset="0"/>
              </a:rPr>
              <a:t>equivalence expression</a:t>
            </a:r>
            <a:r>
              <a:rPr lang="en-US" sz="2600" dirty="0">
                <a:latin typeface="Trebuchet MS" panose="020B0603020202020204" pitchFamily="34" charset="0"/>
              </a:rPr>
              <a:t>.</a:t>
            </a:r>
            <a:endParaRPr lang="en-US" altLang="zh-CN" sz="2600" b="1" dirty="0">
              <a:solidFill>
                <a:srgbClr val="00B0F0"/>
              </a:solidFill>
              <a:latin typeface="Trebuchet MS" panose="020B0603020202020204" pitchFamily="34" charset="0"/>
              <a:ea typeface="宋体" panose="02010600030101010101" pitchFamily="2" charset="-122"/>
            </a:endParaRPr>
          </a:p>
          <a:p>
            <a:pPr algn="l" eaLnBrk="1" hangingPunct="1">
              <a:lnSpc>
                <a:spcPct val="130000"/>
              </a:lnSpc>
              <a:spcBef>
                <a:spcPts val="300"/>
              </a:spcBef>
              <a:buClr>
                <a:srgbClr val="0B61FF"/>
              </a:buClr>
              <a:buSzPct val="80000"/>
              <a:buFont typeface="Wingdings" panose="05000000000000000000" pitchFamily="2" charset="2"/>
              <a:buChar char="n"/>
            </a:pPr>
            <a:r>
              <a:rPr lang="en-US" sz="2600" b="1" dirty="0">
                <a:latin typeface="Trebuchet MS" panose="020B0603020202020204" pitchFamily="34" charset="0"/>
              </a:rPr>
              <a:t>Explanation</a:t>
            </a:r>
            <a:r>
              <a:rPr lang="zh-CN" altLang="en-US" sz="2600" b="1" dirty="0">
                <a:latin typeface="Trebuchet MS" panose="020B0603020202020204" pitchFamily="34" charset="0"/>
                <a:ea typeface="宋体" panose="02010600030101010101" pitchFamily="2" charset="-122"/>
              </a:rPr>
              <a:t>: </a:t>
            </a:r>
            <a:endParaRPr lang="en-US" altLang="zh-CN" sz="2600" b="1" dirty="0">
              <a:latin typeface="Trebuchet MS" panose="020B0603020202020204" pitchFamily="34" charset="0"/>
              <a:ea typeface="宋体" panose="02010600030101010101" pitchFamily="2" charset="-122"/>
            </a:endParaRPr>
          </a:p>
          <a:p>
            <a:pPr marL="0" indent="0">
              <a:lnSpc>
                <a:spcPct val="130000"/>
              </a:lnSpc>
              <a:spcBef>
                <a:spcPts val="300"/>
              </a:spcBef>
              <a:buNone/>
            </a:pPr>
            <a:r>
              <a:rPr lang="en-US" altLang="zh-CN" sz="2600" b="1" dirty="0">
                <a:solidFill>
                  <a:srgbClr val="0B61FF"/>
                </a:solidFill>
                <a:latin typeface="Trebuchet MS" panose="020B0603020202020204" pitchFamily="34" charset="0"/>
                <a:ea typeface="宋体" panose="02010600030101010101" pitchFamily="2" charset="-122"/>
                <a:sym typeface="Symbol" panose="05050102010706020507" pitchFamily="18" charset="2"/>
              </a:rPr>
              <a:t>(1) </a:t>
            </a:r>
            <a:r>
              <a:rPr lang="en-US" altLang="zh-CN" sz="2600" b="1" dirty="0">
                <a:solidFill>
                  <a:schemeClr val="tx1"/>
                </a:solidFill>
                <a:latin typeface="Trebuchet MS" panose="020B0603020202020204" pitchFamily="34" charset="0"/>
                <a:ea typeface="宋体" panose="02010600030101010101" pitchFamily="2" charset="-122"/>
                <a:sym typeface="Symbol" panose="05050102010706020507" pitchFamily="18" charset="2"/>
              </a:rPr>
              <a:t> i</a:t>
            </a:r>
            <a:r>
              <a:rPr lang="en-US" sz="2600" dirty="0">
                <a:latin typeface="Trebuchet MS" panose="020B0603020202020204" pitchFamily="34" charset="0"/>
              </a:rPr>
              <a:t>s the notation for equivalence, which is different from the equivalence connective </a:t>
            </a:r>
            <a:r>
              <a:rPr lang="en-US" sz="2600" b="1" dirty="0">
                <a:latin typeface="Arial" panose="020B0604020202020204" pitchFamily="34" charset="0"/>
                <a:cs typeface="Arial" panose="020B0604020202020204" pitchFamily="34" charset="0"/>
              </a:rPr>
              <a:t>↔.</a:t>
            </a:r>
            <a:endParaRPr lang="en-US" altLang="zh-CN" sz="2600" b="1"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endParaRPr>
          </a:p>
          <a:p>
            <a:pPr marL="0" indent="0">
              <a:lnSpc>
                <a:spcPct val="130000"/>
              </a:lnSpc>
              <a:spcBef>
                <a:spcPts val="300"/>
              </a:spcBef>
              <a:buNone/>
            </a:pPr>
            <a:r>
              <a:rPr lang="zh-CN" altLang="en-US" sz="2600" b="1" dirty="0">
                <a:solidFill>
                  <a:srgbClr val="0B61FF"/>
                </a:solidFill>
                <a:latin typeface="Trebuchet MS" panose="020B0603020202020204" pitchFamily="34" charset="0"/>
                <a:ea typeface="宋体" panose="02010600030101010101" pitchFamily="2" charset="-122"/>
              </a:rPr>
              <a:t>(2) </a:t>
            </a:r>
            <a:r>
              <a:rPr lang="en-US" altLang="zh-CN" sz="2600" b="1" i="1" dirty="0">
                <a:solidFill>
                  <a:schemeClr val="tx1"/>
                </a:solidFill>
                <a:latin typeface="Trebuchet MS" panose="020B0603020202020204" pitchFamily="34" charset="0"/>
                <a:ea typeface="宋体" panose="02010600030101010101" pitchFamily="2" charset="-122"/>
              </a:rPr>
              <a:t>A</a:t>
            </a:r>
            <a:r>
              <a:rPr lang="en-US" altLang="zh-CN" sz="26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600" b="1" i="1" dirty="0">
                <a:solidFill>
                  <a:schemeClr val="tx1"/>
                </a:solidFill>
                <a:latin typeface="Trebuchet MS" panose="020B0603020202020204" pitchFamily="34" charset="0"/>
                <a:ea typeface="宋体" panose="02010600030101010101" pitchFamily="2" charset="-122"/>
              </a:rPr>
              <a:t>B </a:t>
            </a:r>
            <a:r>
              <a:rPr lang="en-US" sz="2600" dirty="0">
                <a:latin typeface="Trebuchet MS" panose="020B0603020202020204" pitchFamily="34" charset="0"/>
              </a:rPr>
              <a:t>means that propositions </a:t>
            </a:r>
            <a:r>
              <a:rPr lang="en-US" sz="2600" b="1" i="1" dirty="0">
                <a:latin typeface="Trebuchet MS" panose="020B0603020202020204" pitchFamily="34" charset="0"/>
              </a:rPr>
              <a:t>A</a:t>
            </a:r>
            <a:r>
              <a:rPr lang="en-US" sz="2600" dirty="0">
                <a:latin typeface="Trebuchet MS" panose="020B0603020202020204" pitchFamily="34" charset="0"/>
              </a:rPr>
              <a:t> and </a:t>
            </a:r>
            <a:r>
              <a:rPr lang="en-US" sz="2600" b="1" i="1" dirty="0">
                <a:latin typeface="Trebuchet MS" panose="020B0603020202020204" pitchFamily="34" charset="0"/>
              </a:rPr>
              <a:t>B</a:t>
            </a:r>
            <a:r>
              <a:rPr lang="en-US" sz="2600" dirty="0">
                <a:latin typeface="Trebuchet MS" panose="020B0603020202020204" pitchFamily="34" charset="0"/>
              </a:rPr>
              <a:t> are either both "true" or both "false" under all possible assignments (i.e., they have the same truth table). </a:t>
            </a:r>
          </a:p>
          <a:p>
            <a:pPr marL="0" indent="0">
              <a:lnSpc>
                <a:spcPct val="130000"/>
              </a:lnSpc>
              <a:spcBef>
                <a:spcPts val="300"/>
              </a:spcBef>
              <a:buNone/>
            </a:pPr>
            <a:r>
              <a:rPr lang="zh-CN" altLang="en-US" sz="2600" b="1" dirty="0">
                <a:solidFill>
                  <a:srgbClr val="0B61FF"/>
                </a:solidFill>
                <a:latin typeface="Trebuchet MS" panose="020B0603020202020204" pitchFamily="34" charset="0"/>
                <a:ea typeface="宋体" panose="02010600030101010101" pitchFamily="2" charset="-122"/>
              </a:rPr>
              <a:t>(3) </a:t>
            </a:r>
            <a:r>
              <a:rPr lang="en-US" sz="2600" dirty="0">
                <a:latin typeface="Trebuchet MS" panose="020B0603020202020204" pitchFamily="34" charset="0"/>
              </a:rPr>
              <a:t>Every propositional formula has infinitely many equivalent propositional formulas</a:t>
            </a:r>
            <a:r>
              <a:rPr lang="en-US" altLang="zh-CN" sz="2600" b="1" dirty="0">
                <a:solidFill>
                  <a:schemeClr val="tx1"/>
                </a:solidFill>
                <a:latin typeface="Trebuchet MS" panose="020B0603020202020204" pitchFamily="34" charset="0"/>
                <a:ea typeface="宋体" panose="02010600030101010101" pitchFamily="2" charset="-122"/>
              </a:rPr>
              <a:t>(</a:t>
            </a:r>
            <a:r>
              <a:rPr lang="en-US" sz="2600" dirty="0">
                <a:latin typeface="Trebuchet MS" panose="020B0603020202020204" pitchFamily="34" charset="0"/>
              </a:rPr>
              <a:t>e.g.,</a:t>
            </a:r>
            <a:r>
              <a:rPr lang="zh-CN" altLang="en-US" sz="2600" b="1" dirty="0">
                <a:solidFill>
                  <a:schemeClr val="tx1"/>
                </a:solidFill>
                <a:latin typeface="Trebuchet MS" panose="020B0603020202020204" pitchFamily="34" charset="0"/>
                <a:ea typeface="宋体" panose="02010600030101010101" pitchFamily="2" charset="-122"/>
              </a:rPr>
              <a:t>：</a:t>
            </a:r>
            <a:r>
              <a:rPr lang="en-US" altLang="zh-CN" sz="2600" b="1" dirty="0">
                <a:solidFill>
                  <a:schemeClr val="tx1"/>
                </a:solidFill>
                <a:latin typeface="Trebuchet MS" panose="020B0603020202020204" pitchFamily="34" charset="0"/>
                <a:ea typeface="宋体" panose="02010600030101010101" pitchFamily="2" charset="-122"/>
              </a:rPr>
              <a:t>¬¬</a:t>
            </a:r>
            <a:r>
              <a:rPr lang="en-US" altLang="zh-CN" sz="2600" b="1" i="1" dirty="0">
                <a:solidFill>
                  <a:schemeClr val="tx1"/>
                </a:solidFill>
                <a:latin typeface="Trebuchet MS" panose="020B0603020202020204" pitchFamily="34" charset="0"/>
                <a:ea typeface="宋体" panose="02010600030101010101" pitchFamily="2" charset="-122"/>
              </a:rPr>
              <a:t>P</a:t>
            </a:r>
            <a:r>
              <a:rPr lang="en-US" altLang="zh-CN" sz="2600" b="1" dirty="0">
                <a:solidFill>
                  <a:schemeClr val="tx1"/>
                </a:solidFill>
                <a:latin typeface="Trebuchet MS" panose="020B0603020202020204" pitchFamily="34" charset="0"/>
                <a:ea typeface="宋体" panose="02010600030101010101" pitchFamily="2" charset="-122"/>
              </a:rPr>
              <a:t> i</a:t>
            </a:r>
            <a:r>
              <a:rPr lang="en-US" sz="2600" dirty="0">
                <a:latin typeface="Trebuchet MS" panose="020B0603020202020204" pitchFamily="34" charset="0"/>
              </a:rPr>
              <a:t>s equivalent to </a:t>
            </a:r>
            <a:r>
              <a:rPr lang="en-US" sz="2600" b="1" i="1" dirty="0">
                <a:latin typeface="Trebuchet MS" panose="020B0603020202020204" pitchFamily="34" charset="0"/>
              </a:rPr>
              <a:t>P</a:t>
            </a:r>
            <a:r>
              <a:rPr lang="en-US" altLang="zh-CN" sz="2600" b="1" dirty="0">
                <a:solidFill>
                  <a:schemeClr val="tx1"/>
                </a:solidFill>
                <a:latin typeface="Trebuchet MS" panose="020B0603020202020204" pitchFamily="34" charset="0"/>
                <a:ea typeface="宋体" panose="02010600030101010101" pitchFamily="2" charset="-122"/>
              </a:rPr>
              <a:t>).</a:t>
            </a:r>
            <a:endParaRPr lang="zh-CN" altLang="en-US" sz="2600" b="1" dirty="0">
              <a:solidFill>
                <a:schemeClr val="tx1"/>
              </a:solidFill>
              <a:latin typeface="Trebuchet MS" panose="020B0603020202020204" pitchFamily="34" charset="0"/>
              <a:ea typeface="宋体" panose="02010600030101010101" pitchFamily="2" charset="-122"/>
            </a:endParaRPr>
          </a:p>
          <a:p>
            <a:pPr marL="457200" lvl="1" indent="0" eaLnBrk="1" hangingPunct="1">
              <a:buNone/>
            </a:pPr>
            <a:endParaRPr lang="zh-CN" altLang="en-US" sz="2800" b="1" dirty="0"/>
          </a:p>
        </p:txBody>
      </p:sp>
    </p:spTree>
    <p:extLst>
      <p:ext uri="{BB962C8B-B14F-4D97-AF65-F5344CB8AC3E}">
        <p14:creationId xmlns:p14="http://schemas.microsoft.com/office/powerpoint/2010/main" val="1430274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Equivalence Expressions</a:t>
            </a:r>
            <a:r>
              <a:rPr lang="en-US" altLang="zh-CN" sz="2800" b="1" dirty="0">
                <a:latin typeface="Trebuchet MS" panose="020B0603020202020204" pitchFamily="34"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r>
              <a:rPr lang="en-US" altLang="zh-CN" sz="2800" dirty="0"/>
              <a:t>.)</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985420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Explanation</a:t>
            </a:r>
            <a:r>
              <a:rPr lang="zh-CN" altLang="en-US" sz="2400" b="1" dirty="0">
                <a:latin typeface="Trebuchet MS" panose="020B0603020202020204" pitchFamily="34" charset="0"/>
                <a:ea typeface="宋体" panose="02010600030101010101" pitchFamily="2" charset="-122"/>
              </a:rPr>
              <a:t>: </a:t>
            </a:r>
            <a:endParaRPr lang="en-US" altLang="zh-CN" sz="2400" b="1" dirty="0">
              <a:latin typeface="Trebuchet MS" panose="020B0603020202020204" pitchFamily="34" charset="0"/>
              <a:ea typeface="宋体" panose="02010600030101010101" pitchFamily="2" charset="-122"/>
            </a:endParaRPr>
          </a:p>
          <a:p>
            <a:pPr marL="0" indent="0">
              <a:lnSpc>
                <a:spcPct val="120000"/>
              </a:lnSpc>
              <a:spcBef>
                <a:spcPts val="300"/>
              </a:spcBef>
              <a:buNone/>
            </a:pPr>
            <a:r>
              <a:rPr lang="zh-CN" altLang="en-US" sz="2400" b="1" dirty="0">
                <a:solidFill>
                  <a:srgbClr val="0B61FF"/>
                </a:solidFill>
                <a:latin typeface="Trebuchet MS" panose="020B0603020202020204" pitchFamily="34" charset="0"/>
                <a:ea typeface="宋体" panose="02010600030101010101" pitchFamily="2" charset="-122"/>
              </a:rPr>
              <a:t>(3) </a:t>
            </a:r>
            <a:r>
              <a:rPr lang="en-US" sz="2400" dirty="0">
                <a:latin typeface="Trebuchet MS" panose="020B0603020202020204" pitchFamily="34" charset="0"/>
              </a:rPr>
              <a:t>Every propositional formula has infinitely many equivalent propositional formulas</a:t>
            </a:r>
            <a:r>
              <a:rPr lang="en-US" altLang="zh-CN" sz="2400" b="1" dirty="0">
                <a:solidFill>
                  <a:schemeClr val="tx1"/>
                </a:solidFill>
                <a:latin typeface="Trebuchet MS" panose="020B0603020202020204" pitchFamily="34" charset="0"/>
                <a:ea typeface="宋体" panose="02010600030101010101" pitchFamily="2" charset="-122"/>
              </a:rPr>
              <a:t>(</a:t>
            </a:r>
            <a:r>
              <a:rPr lang="en-US" sz="2400" dirty="0">
                <a:latin typeface="Trebuchet MS" panose="020B0603020202020204" pitchFamily="34" charset="0"/>
              </a:rPr>
              <a:t>e.g.,</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P</a:t>
            </a:r>
            <a:r>
              <a:rPr lang="en-US" altLang="zh-CN" sz="2400" b="1" dirty="0">
                <a:solidFill>
                  <a:schemeClr val="tx1"/>
                </a:solidFill>
                <a:latin typeface="Trebuchet MS" panose="020B0603020202020204" pitchFamily="34" charset="0"/>
                <a:ea typeface="宋体" panose="02010600030101010101" pitchFamily="2" charset="-122"/>
              </a:rPr>
              <a:t> i</a:t>
            </a:r>
            <a:r>
              <a:rPr lang="en-US" sz="2400" dirty="0">
                <a:latin typeface="Trebuchet MS" panose="020B0603020202020204" pitchFamily="34" charset="0"/>
              </a:rPr>
              <a:t>s equivalent to </a:t>
            </a:r>
            <a:r>
              <a:rPr lang="en-US" sz="2400" b="1" i="1" dirty="0">
                <a:latin typeface="Trebuchet MS" panose="020B0603020202020204" pitchFamily="34" charset="0"/>
              </a:rPr>
              <a:t>P</a:t>
            </a:r>
            <a:r>
              <a:rPr lang="en-US" altLang="zh-CN" sz="2400" b="1" dirty="0">
                <a:solidFill>
                  <a:schemeClr val="tx1"/>
                </a:solidFill>
                <a:latin typeface="Trebuchet MS" panose="020B0603020202020204" pitchFamily="34" charset="0"/>
                <a:ea typeface="宋体" panose="02010600030101010101" pitchFamily="2" charset="-122"/>
              </a:rPr>
              <a:t>).</a:t>
            </a:r>
          </a:p>
          <a:p>
            <a:pPr marL="0" indent="0">
              <a:lnSpc>
                <a:spcPct val="120000"/>
              </a:lnSpc>
              <a:spcBef>
                <a:spcPts val="300"/>
              </a:spcBef>
              <a:buNone/>
            </a:pPr>
            <a:r>
              <a:rPr lang="en-US" altLang="zh-CN" sz="2400" b="1" dirty="0">
                <a:solidFill>
                  <a:srgbClr val="0B61FF"/>
                </a:solidFill>
                <a:latin typeface="Trebuchet MS" panose="020B0603020202020204" pitchFamily="34" charset="0"/>
                <a:ea typeface="宋体" panose="02010600030101010101" pitchFamily="2" charset="-122"/>
              </a:rPr>
              <a:t>(4) </a:t>
            </a:r>
            <a:r>
              <a:rPr lang="en-US" altLang="zh-CN" sz="2400" dirty="0">
                <a:latin typeface="Trebuchet MS" panose="020B0603020202020204" pitchFamily="34" charset="0"/>
              </a:rPr>
              <a:t>In propositional logic, "Equivalence" is a more commonly used and clearer term used to indicate that two propositions have the same truth value under all possible conditions. This is similar to the concept of "Equality".</a:t>
            </a:r>
          </a:p>
          <a:p>
            <a:pPr marL="0" indent="0">
              <a:lnSpc>
                <a:spcPct val="120000"/>
              </a:lnSpc>
              <a:spcBef>
                <a:spcPts val="300"/>
              </a:spcBef>
              <a:buNone/>
            </a:pPr>
            <a:r>
              <a:rPr lang="en-US" altLang="zh-CN" sz="2400" b="1" dirty="0">
                <a:solidFill>
                  <a:srgbClr val="0B61FF"/>
                </a:solidFill>
                <a:latin typeface="Trebuchet MS" panose="020B0603020202020204" pitchFamily="34" charset="0"/>
                <a:ea typeface="宋体" panose="02010600030101010101" pitchFamily="2" charset="-122"/>
              </a:rPr>
              <a:t>(5) </a:t>
            </a:r>
            <a:r>
              <a:rPr lang="en-US" altLang="zh-CN" sz="2400" dirty="0">
                <a:latin typeface="Trebuchet MS" panose="020B0603020202020204" pitchFamily="34" charset="0"/>
              </a:rPr>
              <a:t>There may be dummy variables in </a:t>
            </a:r>
            <a:r>
              <a:rPr lang="en-US" altLang="zh-CN" sz="2400" b="1" i="1" dirty="0">
                <a:latin typeface="Trebuchet MS" panose="020B0603020202020204" pitchFamily="34" charset="0"/>
              </a:rPr>
              <a:t>A </a:t>
            </a:r>
            <a:r>
              <a:rPr lang="en-US" altLang="zh-CN" sz="2400" dirty="0">
                <a:latin typeface="Trebuchet MS" panose="020B0603020202020204" pitchFamily="34" charset="0"/>
              </a:rPr>
              <a:t>or </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p>
          <a:p>
            <a:pPr marL="0" indent="0">
              <a:lnSpc>
                <a:spcPct val="120000"/>
              </a:lnSpc>
              <a:spcBef>
                <a:spcPts val="300"/>
              </a:spcBef>
              <a:buNone/>
            </a:pPr>
            <a:r>
              <a:rPr lang="en-US" altLang="zh-CN" sz="2400" dirty="0">
                <a:latin typeface="Trebuchet MS" panose="020B0603020202020204" pitchFamily="34" charset="0"/>
              </a:rPr>
              <a:t>For example, in </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cs typeface="Arial" panose="020B0604020202020204" pitchFamily="34" charset="0"/>
              </a:rPr>
              <a:t>) </a:t>
            </a:r>
            <a:r>
              <a:rPr lang="en-US" altLang="zh-CN" sz="2400" b="1" dirty="0">
                <a:sym typeface="Symbol" panose="05050102010706020507" pitchFamily="18" charset="2"/>
              </a:rPr>
              <a:t></a:t>
            </a:r>
            <a:r>
              <a:rPr lang="en-US" altLang="zh-CN" sz="2400" b="1" dirty="0">
                <a:latin typeface="Trebuchet MS" panose="020B0603020202020204" pitchFamily="34" charset="0"/>
                <a:cs typeface="Arial" panose="020B0604020202020204" pitchFamily="34" charset="0"/>
              </a:rPr>
              <a:t> ((¬</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r</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dirty="0">
                <a:latin typeface="Trebuchet MS" panose="020B0603020202020204" pitchFamily="34" charset="0"/>
              </a:rPr>
              <a:t> is a dummy variable in the left-hand formula.</a:t>
            </a:r>
            <a:br>
              <a:rPr lang="en-US" altLang="zh-CN" sz="2400" dirty="0">
                <a:latin typeface="Trebuchet MS" panose="020B0603020202020204" pitchFamily="34" charset="0"/>
              </a:rPr>
            </a:br>
            <a:r>
              <a:rPr lang="en-US" altLang="zh-CN" sz="2400" dirty="0">
                <a:latin typeface="Trebuchet MS" panose="020B0603020202020204" pitchFamily="34" charset="0"/>
              </a:rPr>
              <a:t>The value of a dummy variable does not affect the truth value of the propositional formula.</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3530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Determine Equivalence Expression Using a Truth </a:t>
            </a:r>
            <a:r>
              <a:rPr lang="en-US" altLang="zh-CN" sz="2400" b="1" dirty="0"/>
              <a:t>Table</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56616"/>
            <a:ext cx="9442742" cy="4938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en-US" altLang="zh-CN" sz="2600" b="1" dirty="0">
                <a:latin typeface="Trebuchet MS" panose="020B0603020202020204" pitchFamily="34" charset="0"/>
              </a:rPr>
              <a:t>       Example</a:t>
            </a:r>
            <a:r>
              <a:rPr lang="zh-CN" altLang="en-US" sz="2600" b="1" dirty="0">
                <a:latin typeface="Trebuchet MS" panose="020B0603020202020204" pitchFamily="34" charset="0"/>
              </a:rPr>
              <a:t>：</a:t>
            </a:r>
            <a:r>
              <a:rPr lang="en-US" altLang="zh-CN" sz="2600" b="1" dirty="0">
                <a:latin typeface="Trebuchet MS" panose="020B0603020202020204" pitchFamily="34" charset="0"/>
              </a:rPr>
              <a:t>Judge</a:t>
            </a:r>
            <a:r>
              <a:rPr lang="zh-CN" altLang="en-US" sz="2600" b="1" dirty="0">
                <a:latin typeface="Trebuchet MS" panose="020B0603020202020204" pitchFamily="34" charset="0"/>
              </a:rPr>
              <a:t>  </a:t>
            </a:r>
            <a:r>
              <a:rPr lang="zh-CN" altLang="en-US" sz="26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600" b="1" dirty="0">
                <a:latin typeface="Trebuchet MS" panose="020B0603020202020204" pitchFamily="34" charset="0"/>
                <a:cs typeface="Times New Roman" panose="02020603050405020304" pitchFamily="18" charset="0"/>
              </a:rPr>
              <a:t>(</a:t>
            </a:r>
            <a:r>
              <a:rPr lang="en-US" altLang="zh-CN" sz="2600" b="1" i="1" dirty="0" err="1">
                <a:latin typeface="Trebuchet MS" panose="020B0603020202020204" pitchFamily="34" charset="0"/>
                <a:cs typeface="Times New Roman" panose="02020603050405020304" pitchFamily="18" charset="0"/>
              </a:rPr>
              <a:t>p</a:t>
            </a:r>
            <a:r>
              <a:rPr lang="en-US" altLang="zh-CN" sz="2600" b="1" dirty="0" err="1">
                <a:latin typeface="Trebuchet MS" panose="020B0603020202020204" pitchFamily="34" charset="0"/>
                <a:sym typeface="Symbol" panose="05050102010706020507" pitchFamily="18" charset="2"/>
              </a:rPr>
              <a:t></a:t>
            </a:r>
            <a:r>
              <a:rPr lang="en-US" altLang="zh-CN" sz="2600" b="1" i="1" dirty="0" err="1">
                <a:latin typeface="Trebuchet MS" panose="020B0603020202020204" pitchFamily="34" charset="0"/>
                <a:cs typeface="Times New Roman" panose="02020603050405020304" pitchFamily="18" charset="0"/>
              </a:rPr>
              <a:t>q</a:t>
            </a:r>
            <a:r>
              <a:rPr lang="en-US" altLang="zh-CN" sz="2600" b="1" dirty="0">
                <a:latin typeface="Trebuchet MS" panose="020B0603020202020204" pitchFamily="34" charset="0"/>
                <a:cs typeface="Times New Roman" panose="02020603050405020304" pitchFamily="18" charset="0"/>
              </a:rPr>
              <a:t>) </a:t>
            </a:r>
            <a:r>
              <a:rPr lang="en-US" altLang="zh-CN" sz="2600" b="1" dirty="0">
                <a:latin typeface="Trebuchet MS" panose="020B0603020202020204" pitchFamily="34" charset="0"/>
              </a:rPr>
              <a:t>and</a:t>
            </a:r>
            <a:r>
              <a:rPr lang="en-US" altLang="zh-CN" sz="2600" b="1" dirty="0">
                <a:latin typeface="Trebuchet MS" panose="020B0603020202020204" pitchFamily="34" charset="0"/>
                <a:cs typeface="Times New Roman" panose="02020603050405020304" pitchFamily="18" charset="0"/>
              </a:rPr>
              <a:t> </a:t>
            </a:r>
            <a:r>
              <a:rPr lang="zh-CN" altLang="en-US" sz="26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600" b="1" i="1" dirty="0">
                <a:latin typeface="Trebuchet MS" panose="020B0603020202020204" pitchFamily="34" charset="0"/>
                <a:cs typeface="Times New Roman" panose="02020603050405020304" pitchFamily="18" charset="0"/>
              </a:rPr>
              <a:t>p</a:t>
            </a:r>
            <a:r>
              <a:rPr lang="en-US" altLang="zh-CN" sz="2600" b="1" dirty="0">
                <a:latin typeface="Trebuchet MS" panose="020B0603020202020204" pitchFamily="34" charset="0"/>
                <a:sym typeface="Symbol" panose="05050102010706020507" pitchFamily="18" charset="2"/>
              </a:rPr>
              <a:t></a:t>
            </a:r>
            <a:r>
              <a:rPr lang="zh-CN" altLang="en-US" sz="26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600" b="1" i="1" dirty="0">
                <a:latin typeface="Trebuchet MS" panose="020B0603020202020204" pitchFamily="34" charset="0"/>
                <a:cs typeface="Times New Roman" panose="02020603050405020304" pitchFamily="18" charset="0"/>
              </a:rPr>
              <a:t>q</a:t>
            </a:r>
            <a:r>
              <a:rPr lang="en-US" altLang="zh-CN" sz="2600" b="1" dirty="0">
                <a:latin typeface="Trebuchet MS" panose="020B0603020202020204" pitchFamily="34" charset="0"/>
                <a:cs typeface="Times New Roman" panose="02020603050405020304" pitchFamily="18" charset="0"/>
              </a:rPr>
              <a:t>  is equal or not.</a:t>
            </a:r>
          </a:p>
          <a:p>
            <a:pPr eaLnBrk="1" hangingPunct="1">
              <a:buFontTx/>
              <a:buNone/>
            </a:pPr>
            <a:r>
              <a:rPr lang="en-US" altLang="zh-CN" sz="2600" b="1" dirty="0">
                <a:latin typeface="Trebuchet MS" panose="020B0603020202020204" pitchFamily="34" charset="0"/>
              </a:rPr>
              <a:t>Solve</a:t>
            </a:r>
            <a:r>
              <a:rPr lang="zh-CN" altLang="en-US" sz="2600" b="1" dirty="0">
                <a:latin typeface="Trebuchet MS" panose="020B0603020202020204" pitchFamily="34" charset="0"/>
              </a:rPr>
              <a:t>：</a:t>
            </a:r>
            <a:endParaRPr lang="en-US" altLang="zh-CN" sz="2600" b="1" dirty="0">
              <a:latin typeface="Trebuchet MS" panose="020B0603020202020204" pitchFamily="34" charset="0"/>
            </a:endParaRPr>
          </a:p>
          <a:p>
            <a:pPr eaLnBrk="1" hangingPunct="1">
              <a:buFontTx/>
              <a:buNone/>
            </a:pPr>
            <a:endParaRPr lang="en-US" altLang="zh-CN" sz="2800" b="1" dirty="0"/>
          </a:p>
          <a:p>
            <a:pPr eaLnBrk="1" hangingPunct="1">
              <a:buFontTx/>
              <a:buNone/>
            </a:pPr>
            <a:endParaRPr lang="en-US" altLang="zh-CN" b="1" dirty="0"/>
          </a:p>
          <a:p>
            <a:pPr eaLnBrk="1" hangingPunct="1">
              <a:buFontTx/>
              <a:buNone/>
            </a:pPr>
            <a:endParaRPr lang="en-US" altLang="zh-CN" sz="2800" b="1" dirty="0"/>
          </a:p>
          <a:p>
            <a:pPr eaLnBrk="1" hangingPunct="1">
              <a:buFontTx/>
              <a:buNone/>
            </a:pPr>
            <a:endParaRPr lang="en-US" altLang="zh-CN" b="1" dirty="0"/>
          </a:p>
          <a:p>
            <a:pPr eaLnBrk="1" hangingPunct="1">
              <a:buFontTx/>
              <a:buNone/>
            </a:pPr>
            <a:endParaRPr lang="en-US" altLang="zh-CN" sz="2800" b="1" dirty="0"/>
          </a:p>
          <a:p>
            <a:pPr eaLnBrk="1" hangingPunct="1">
              <a:buFontTx/>
              <a:buNone/>
            </a:pPr>
            <a:endParaRPr lang="en-US" altLang="zh-CN" b="1" dirty="0"/>
          </a:p>
          <a:p>
            <a:pPr>
              <a:buNone/>
            </a:pPr>
            <a:r>
              <a:rPr lang="en-US" altLang="zh-CN" sz="2600" b="1" dirty="0">
                <a:latin typeface="Trebuchet MS" panose="020B0603020202020204" pitchFamily="34" charset="0"/>
                <a:sym typeface="Symbol" panose="05050102010706020507" pitchFamily="18" charset="2"/>
              </a:rPr>
              <a:t>Conclusion</a:t>
            </a:r>
            <a:r>
              <a:rPr lang="zh-CN" altLang="en-US" sz="2600" b="1" dirty="0">
                <a:latin typeface="Trebuchet MS" panose="020B0603020202020204" pitchFamily="34" charset="0"/>
                <a:sym typeface="Symbol" panose="05050102010706020507" pitchFamily="18" charset="2"/>
              </a:rPr>
              <a:t>: </a:t>
            </a:r>
            <a:r>
              <a:rPr lang="en-US" altLang="zh-CN" sz="2600" b="1" dirty="0">
                <a:latin typeface="Trebuchet MS" panose="020B0603020202020204" pitchFamily="34" charset="0"/>
              </a:rPr>
              <a:t>(</a:t>
            </a:r>
            <a:r>
              <a:rPr lang="en-US" altLang="zh-CN" sz="2600" b="1" dirty="0" err="1">
                <a:latin typeface="Trebuchet MS" panose="020B0603020202020204" pitchFamily="34" charset="0"/>
              </a:rPr>
              <a:t>p</a:t>
            </a:r>
            <a:r>
              <a:rPr lang="en-US" altLang="zh-CN" sz="2600" b="1" dirty="0" err="1">
                <a:latin typeface="Trebuchet MS" panose="020B0603020202020204" pitchFamily="34" charset="0"/>
                <a:sym typeface="Symbol" panose="05050102010706020507" pitchFamily="18" charset="2"/>
              </a:rPr>
              <a:t></a:t>
            </a:r>
            <a:r>
              <a:rPr lang="en-US" altLang="zh-CN" sz="2600" b="1" dirty="0" err="1">
                <a:latin typeface="Trebuchet MS" panose="020B0603020202020204" pitchFamily="34" charset="0"/>
              </a:rPr>
              <a:t>q</a:t>
            </a:r>
            <a:r>
              <a:rPr lang="en-US" altLang="zh-CN" sz="2600" b="1" dirty="0">
                <a:latin typeface="Trebuchet MS" panose="020B0603020202020204" pitchFamily="34" charset="0"/>
              </a:rPr>
              <a:t>) </a:t>
            </a:r>
            <a:r>
              <a:rPr lang="en-US" altLang="zh-CN" sz="2600" b="1" dirty="0">
                <a:latin typeface="Trebuchet MS" panose="020B0603020202020204" pitchFamily="34" charset="0"/>
                <a:sym typeface="Symbol" panose="05050102010706020507" pitchFamily="18" charset="2"/>
              </a:rPr>
              <a:t></a:t>
            </a:r>
            <a:r>
              <a:rPr lang="en-US" altLang="zh-CN" sz="2600" b="1" dirty="0">
                <a:latin typeface="Trebuchet MS" panose="020B0603020202020204" pitchFamily="34" charset="0"/>
              </a:rPr>
              <a:t> (</a:t>
            </a:r>
            <a:r>
              <a:rPr lang="zh-CN" altLang="en-US" sz="2600" b="1" dirty="0">
                <a:latin typeface="Trebuchet MS" panose="020B0603020202020204" pitchFamily="34" charset="0"/>
                <a:sym typeface="Symbol" panose="05050102010706020507" pitchFamily="18" charset="2"/>
              </a:rPr>
              <a:t></a:t>
            </a:r>
            <a:r>
              <a:rPr lang="en-US" altLang="zh-CN" sz="2600" b="1" dirty="0">
                <a:latin typeface="Trebuchet MS" panose="020B0603020202020204" pitchFamily="34" charset="0"/>
              </a:rPr>
              <a:t>p</a:t>
            </a:r>
            <a:r>
              <a:rPr lang="en-US" altLang="zh-CN" sz="2600" b="1" dirty="0">
                <a:latin typeface="Trebuchet MS" panose="020B0603020202020204" pitchFamily="34" charset="0"/>
                <a:sym typeface="Symbol" panose="05050102010706020507" pitchFamily="18" charset="2"/>
              </a:rPr>
              <a:t></a:t>
            </a:r>
            <a:r>
              <a:rPr lang="zh-CN" altLang="en-US" sz="2600" b="1" dirty="0">
                <a:latin typeface="Trebuchet MS" panose="020B0603020202020204" pitchFamily="34" charset="0"/>
                <a:sym typeface="Symbol" panose="05050102010706020507" pitchFamily="18" charset="2"/>
              </a:rPr>
              <a:t></a:t>
            </a:r>
            <a:r>
              <a:rPr lang="en-US" altLang="zh-CN" sz="2600" b="1" dirty="0">
                <a:latin typeface="Trebuchet MS" panose="020B0603020202020204" pitchFamily="34" charset="0"/>
              </a:rPr>
              <a:t>q)</a:t>
            </a:r>
            <a:endParaRPr lang="zh-CN" altLang="en-US" sz="2600" b="1" dirty="0">
              <a:latin typeface="Trebuchet MS" panose="020B0603020202020204" pitchFamily="34" charset="0"/>
            </a:endParaRPr>
          </a:p>
          <a:p>
            <a:pPr eaLnBrk="1" hangingPunct="1">
              <a:buFontTx/>
              <a:buNone/>
            </a:pPr>
            <a:endParaRPr lang="en-US" altLang="zh-CN" b="1" dirty="0"/>
          </a:p>
          <a:p>
            <a:pPr eaLnBrk="1" hangingPunct="1">
              <a:buFontTx/>
              <a:buNone/>
            </a:pPr>
            <a:endParaRPr lang="zh-CN" altLang="en-US" sz="2800" b="1" dirty="0"/>
          </a:p>
        </p:txBody>
      </p:sp>
      <p:pic>
        <p:nvPicPr>
          <p:cNvPr id="7" name="图片 6">
            <a:extLst>
              <a:ext uri="{FF2B5EF4-FFF2-40B4-BE49-F238E27FC236}">
                <a16:creationId xmlns:a16="http://schemas.microsoft.com/office/drawing/2014/main" id="{95B9E20C-6918-445C-9627-540662DD981A}"/>
              </a:ext>
            </a:extLst>
          </p:cNvPr>
          <p:cNvPicPr>
            <a:picLocks noChangeAspect="1"/>
          </p:cNvPicPr>
          <p:nvPr/>
        </p:nvPicPr>
        <p:blipFill>
          <a:blip r:embed="rId5"/>
          <a:stretch>
            <a:fillRect/>
          </a:stretch>
        </p:blipFill>
        <p:spPr>
          <a:xfrm>
            <a:off x="1532303" y="2026223"/>
            <a:ext cx="8027497" cy="2577825"/>
          </a:xfrm>
          <a:prstGeom prst="rect">
            <a:avLst/>
          </a:prstGeom>
        </p:spPr>
      </p:pic>
      <p:pic>
        <p:nvPicPr>
          <p:cNvPr id="9" name="图片 8">
            <a:extLst>
              <a:ext uri="{FF2B5EF4-FFF2-40B4-BE49-F238E27FC236}">
                <a16:creationId xmlns:a16="http://schemas.microsoft.com/office/drawing/2014/main" id="{781E38FA-EA86-4742-9A02-8652E9DD1A15}"/>
              </a:ext>
            </a:extLst>
          </p:cNvPr>
          <p:cNvPicPr/>
          <p:nvPr/>
        </p:nvPicPr>
        <p:blipFill>
          <a:blip r:embed="rId6"/>
          <a:stretch>
            <a:fillRect/>
          </a:stretch>
        </p:blipFill>
        <p:spPr>
          <a:xfrm>
            <a:off x="1052195" y="919480"/>
            <a:ext cx="577850" cy="241300"/>
          </a:xfrm>
          <a:prstGeom prst="rect">
            <a:avLst/>
          </a:prstGeom>
        </p:spPr>
      </p:pic>
    </p:spTree>
    <p:extLst>
      <p:ext uri="{BB962C8B-B14F-4D97-AF65-F5344CB8AC3E}">
        <p14:creationId xmlns:p14="http://schemas.microsoft.com/office/powerpoint/2010/main" val="290218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8" end="8"/>
                                            </p:txEl>
                                          </p:spTgt>
                                        </p:tgtEl>
                                        <p:attrNameLst>
                                          <p:attrName>style.visibility</p:attrName>
                                        </p:attrNameLst>
                                      </p:cBhvr>
                                      <p:to>
                                        <p:strVal val="visible"/>
                                      </p:to>
                                    </p:set>
                                    <p:animEffect transition="in" filter="fade">
                                      <p:cBhvr>
                                        <p:cTn id="14" dur="1000"/>
                                        <p:tgtEl>
                                          <p:spTgt spid="8">
                                            <p:txEl>
                                              <p:pRg st="8" end="8"/>
                                            </p:txEl>
                                          </p:spTgt>
                                        </p:tgtEl>
                                      </p:cBhvr>
                                    </p:animEffect>
                                    <p:anim calcmode="lin" valueType="num">
                                      <p:cBhvr>
                                        <p:cTn id="15"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Determine Equivalence Expression Using a Truth </a:t>
            </a:r>
            <a:r>
              <a:rPr lang="en-US" altLang="zh-CN" sz="2400" b="1" dirty="0"/>
              <a:t>Table</a:t>
            </a:r>
            <a:r>
              <a:rPr lang="en-US" altLang="zh-CN" sz="2800" b="1" dirty="0">
                <a:latin typeface="Trebuchet MS" panose="020B0603020202020204" pitchFamily="34"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r>
              <a:rPr lang="en-US" altLang="zh-CN" sz="2800" dirty="0"/>
              <a:t>.)</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9873799" cy="51631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ct val="5000"/>
              </a:spcBef>
              <a:buNone/>
            </a:pPr>
            <a:r>
              <a:rPr lang="en-US" altLang="zh-CN" sz="2400" b="1" dirty="0">
                <a:latin typeface="Trebuchet MS" panose="020B0603020202020204" pitchFamily="34" charset="0"/>
              </a:rPr>
              <a:t>         Example</a:t>
            </a:r>
            <a:r>
              <a:rPr lang="zh-CN" altLang="en-US" sz="2400" b="1" dirty="0">
                <a:latin typeface="Trebuchet MS" panose="020B0603020202020204" pitchFamily="34" charset="0"/>
              </a:rPr>
              <a:t>：</a:t>
            </a:r>
            <a:r>
              <a:rPr kumimoji="0" lang="en-US" altLang="en-US" sz="2400" b="0" i="0" u="none" strike="noStrike" cap="none" normalizeH="0" baseline="0" dirty="0">
                <a:ln>
                  <a:noFill/>
                </a:ln>
                <a:effectLst/>
                <a:latin typeface="Trebuchet MS" panose="020B0603020202020204" pitchFamily="34" charset="0"/>
              </a:rPr>
              <a:t>Determine the equivalence relationship among the following three formulas:</a:t>
            </a:r>
            <a:endParaRPr lang="zh-CN" altLang="en-US" sz="2400" b="1" dirty="0">
              <a:latin typeface="Trebuchet MS" panose="020B0603020202020204" pitchFamily="34" charset="0"/>
            </a:endParaRPr>
          </a:p>
          <a:p>
            <a:pPr eaLnBrk="1" hangingPunct="1">
              <a:lnSpc>
                <a:spcPct val="110000"/>
              </a:lnSpc>
              <a:spcBef>
                <a:spcPct val="5000"/>
              </a:spcBef>
              <a:buFontTx/>
              <a:buNone/>
            </a:pPr>
            <a:r>
              <a:rPr lang="en-US" altLang="zh-CN" sz="2400" b="1" i="1" dirty="0">
                <a:latin typeface="Trebuchet MS" panose="020B0603020202020204" pitchFamily="34" charset="0"/>
              </a:rPr>
              <a:t>           p</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rPr>
              <a:t>(</a:t>
            </a:r>
            <a:r>
              <a:rPr lang="en-US" altLang="zh-CN" sz="2400" b="1" i="1" dirty="0" err="1">
                <a:latin typeface="Trebuchet MS" panose="020B0603020202020204" pitchFamily="34" charset="0"/>
              </a:rPr>
              <a:t>q</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p>
          <a:p>
            <a:pPr>
              <a:lnSpc>
                <a:spcPct val="140000"/>
              </a:lnSpc>
              <a:spcBef>
                <a:spcPct val="5000"/>
              </a:spcBef>
              <a:buNone/>
            </a:pPr>
            <a:r>
              <a:rPr lang="en-US" altLang="zh-CN" sz="2400" b="1" dirty="0">
                <a:latin typeface="Trebuchet MS" panose="020B0603020202020204" pitchFamily="34" charset="0"/>
              </a:rPr>
              <a:t>Solve</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a:lnSpc>
                <a:spcPct val="140000"/>
              </a:lnSpc>
              <a:spcBef>
                <a:spcPct val="5000"/>
              </a:spcBef>
              <a:buNone/>
            </a:pPr>
            <a:endParaRPr lang="en-US" altLang="zh-CN" sz="2400" b="1" dirty="0">
              <a:latin typeface="Trebuchet MS" panose="020B0603020202020204" pitchFamily="34" charset="0"/>
            </a:endParaRPr>
          </a:p>
          <a:p>
            <a:pPr>
              <a:lnSpc>
                <a:spcPct val="140000"/>
              </a:lnSpc>
              <a:spcBef>
                <a:spcPct val="5000"/>
              </a:spcBef>
              <a:buNone/>
            </a:pPr>
            <a:endParaRPr lang="en-US" altLang="zh-CN" sz="2400" b="1" dirty="0">
              <a:latin typeface="Trebuchet MS" panose="020B0603020202020204" pitchFamily="34" charset="0"/>
            </a:endParaRPr>
          </a:p>
          <a:p>
            <a:pPr>
              <a:lnSpc>
                <a:spcPct val="140000"/>
              </a:lnSpc>
              <a:spcBef>
                <a:spcPct val="5000"/>
              </a:spcBef>
              <a:buNone/>
            </a:pPr>
            <a:endParaRPr lang="en-US" altLang="zh-CN" sz="2400" b="1" dirty="0">
              <a:latin typeface="Trebuchet MS" panose="020B0603020202020204" pitchFamily="34" charset="0"/>
            </a:endParaRPr>
          </a:p>
          <a:p>
            <a:pPr>
              <a:lnSpc>
                <a:spcPct val="140000"/>
              </a:lnSpc>
              <a:spcBef>
                <a:spcPct val="5000"/>
              </a:spcBef>
              <a:buNone/>
            </a:pPr>
            <a:endParaRPr lang="en-US" altLang="zh-CN" sz="2400" b="1" dirty="0">
              <a:latin typeface="Trebuchet MS" panose="020B0603020202020204" pitchFamily="34" charset="0"/>
            </a:endParaRPr>
          </a:p>
          <a:p>
            <a:pPr>
              <a:lnSpc>
                <a:spcPct val="140000"/>
              </a:lnSpc>
              <a:spcBef>
                <a:spcPct val="5000"/>
              </a:spcBef>
              <a:buNone/>
            </a:pPr>
            <a:endParaRPr lang="en-US" altLang="zh-CN" sz="2400" b="1" dirty="0">
              <a:latin typeface="Trebuchet MS" panose="020B0603020202020204" pitchFamily="34" charset="0"/>
            </a:endParaRPr>
          </a:p>
          <a:p>
            <a:pPr eaLnBrk="1" hangingPunct="1">
              <a:lnSpc>
                <a:spcPct val="140000"/>
              </a:lnSpc>
              <a:spcBef>
                <a:spcPct val="5000"/>
              </a:spcBef>
              <a:buFontTx/>
              <a:buNone/>
            </a:pPr>
            <a:endParaRPr lang="zh-CN" altLang="en-US" sz="2400"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latin typeface="Trebuchet MS" panose="020B0603020202020204" pitchFamily="34" charset="0"/>
            </a:endParaRPr>
          </a:p>
          <a:p>
            <a:pPr eaLnBrk="1" hangingPunct="1">
              <a:buFontTx/>
              <a:buNone/>
            </a:pPr>
            <a:endParaRPr lang="en-US" altLang="zh-CN" b="1" dirty="0"/>
          </a:p>
          <a:p>
            <a:pPr eaLnBrk="1" hangingPunct="1">
              <a:buFontTx/>
              <a:buNone/>
            </a:pPr>
            <a:endParaRPr lang="zh-CN" altLang="en-US" sz="2800" b="1" dirty="0"/>
          </a:p>
        </p:txBody>
      </p:sp>
      <p:pic>
        <p:nvPicPr>
          <p:cNvPr id="19" name="图片 18">
            <a:extLst>
              <a:ext uri="{FF2B5EF4-FFF2-40B4-BE49-F238E27FC236}">
                <a16:creationId xmlns:a16="http://schemas.microsoft.com/office/drawing/2014/main" id="{96C11B7C-1FC1-46FE-95FC-24EC088EB032}"/>
              </a:ext>
            </a:extLst>
          </p:cNvPr>
          <p:cNvPicPr/>
          <p:nvPr/>
        </p:nvPicPr>
        <p:blipFill>
          <a:blip r:embed="rId5"/>
          <a:stretch>
            <a:fillRect/>
          </a:stretch>
        </p:blipFill>
        <p:spPr>
          <a:xfrm>
            <a:off x="1109345" y="896620"/>
            <a:ext cx="577850" cy="241300"/>
          </a:xfrm>
          <a:prstGeom prst="rect">
            <a:avLst/>
          </a:prstGeom>
        </p:spPr>
      </p:pic>
      <p:pic>
        <p:nvPicPr>
          <p:cNvPr id="21" name="图片 20">
            <a:extLst>
              <a:ext uri="{FF2B5EF4-FFF2-40B4-BE49-F238E27FC236}">
                <a16:creationId xmlns:a16="http://schemas.microsoft.com/office/drawing/2014/main" id="{D77C0F69-B56D-417B-A42E-83A8298519BA}"/>
              </a:ext>
            </a:extLst>
          </p:cNvPr>
          <p:cNvPicPr>
            <a:picLocks noChangeAspect="1"/>
          </p:cNvPicPr>
          <p:nvPr/>
        </p:nvPicPr>
        <p:blipFill>
          <a:blip r:embed="rId6"/>
          <a:stretch>
            <a:fillRect/>
          </a:stretch>
        </p:blipFill>
        <p:spPr>
          <a:xfrm>
            <a:off x="1924577" y="2098701"/>
            <a:ext cx="5639289" cy="3706689"/>
          </a:xfrm>
          <a:prstGeom prst="rect">
            <a:avLst/>
          </a:prstGeom>
        </p:spPr>
      </p:pic>
      <p:sp>
        <p:nvSpPr>
          <p:cNvPr id="23" name="文本框 22">
            <a:extLst>
              <a:ext uri="{FF2B5EF4-FFF2-40B4-BE49-F238E27FC236}">
                <a16:creationId xmlns:a16="http://schemas.microsoft.com/office/drawing/2014/main" id="{07B91623-1D4A-4068-8446-5C5CC3FDE89D}"/>
              </a:ext>
            </a:extLst>
          </p:cNvPr>
          <p:cNvSpPr txBox="1"/>
          <p:nvPr/>
        </p:nvSpPr>
        <p:spPr>
          <a:xfrm>
            <a:off x="7816695" y="2200676"/>
            <a:ext cx="3641352" cy="108549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40000"/>
              </a:lnSpc>
              <a:spcBef>
                <a:spcPct val="5000"/>
              </a:spcBef>
              <a:buNone/>
            </a:pPr>
            <a:r>
              <a:rPr lang="en-US" altLang="zh-CN" sz="2400" b="1" dirty="0">
                <a:latin typeface="Trebuchet MS" panose="020B0603020202020204" pitchFamily="34" charset="0"/>
              </a:rPr>
              <a:t>Conclusion</a:t>
            </a:r>
            <a:r>
              <a:rPr kumimoji="1" lang="zh-CN" altLang="en-US" sz="2400" b="1" dirty="0">
                <a:latin typeface="Trebuchet MS" panose="020B0603020202020204" pitchFamily="34" charset="0"/>
                <a:sym typeface="Symbol" panose="05050102010706020507" pitchFamily="18" charset="2"/>
              </a:rPr>
              <a:t>: </a:t>
            </a:r>
            <a:endParaRPr kumimoji="1" lang="en-US" altLang="zh-CN" sz="2400" b="1" dirty="0">
              <a:latin typeface="Trebuchet MS" panose="020B0603020202020204" pitchFamily="34" charset="0"/>
              <a:sym typeface="Symbol" panose="05050102010706020507" pitchFamily="18" charset="2"/>
            </a:endParaRPr>
          </a:p>
          <a:p>
            <a:pPr>
              <a:lnSpc>
                <a:spcPct val="140000"/>
              </a:lnSpc>
              <a:spcBef>
                <a:spcPct val="5000"/>
              </a:spcBef>
              <a:buNone/>
            </a:pPr>
            <a:r>
              <a:rPr kumimoji="1" lang="en-US" altLang="zh-CN" sz="2400" b="1" i="1" dirty="0">
                <a:latin typeface="Trebuchet MS" panose="020B0603020202020204" pitchFamily="34" charset="0"/>
              </a:rPr>
              <a:t>p</a:t>
            </a:r>
            <a:r>
              <a:rPr kumimoji="1" lang="en-US" altLang="zh-CN" sz="2400" b="1" dirty="0">
                <a:latin typeface="Trebuchet MS" panose="020B0603020202020204" pitchFamily="34" charset="0"/>
                <a:sym typeface="Symbol" panose="05050102010706020507" pitchFamily="18" charset="2"/>
              </a:rPr>
              <a:t></a:t>
            </a:r>
            <a:r>
              <a:rPr kumimoji="1" lang="zh-CN" altLang="en-US" sz="2400" b="1" dirty="0">
                <a:latin typeface="Trebuchet MS" panose="020B0603020202020204" pitchFamily="34" charset="0"/>
              </a:rPr>
              <a:t>(</a:t>
            </a:r>
            <a:r>
              <a:rPr kumimoji="1" lang="en-US" altLang="zh-CN" sz="2400" b="1" i="1" dirty="0" err="1">
                <a:latin typeface="Trebuchet MS" panose="020B0603020202020204" pitchFamily="34" charset="0"/>
              </a:rPr>
              <a:t>q</a:t>
            </a:r>
            <a:r>
              <a:rPr kumimoji="1" lang="en-US" altLang="zh-CN" sz="2400" b="1" dirty="0" err="1">
                <a:latin typeface="Trebuchet MS" panose="020B0603020202020204" pitchFamily="34" charset="0"/>
                <a:sym typeface="Symbol" panose="05050102010706020507" pitchFamily="18" charset="2"/>
              </a:rPr>
              <a:t></a:t>
            </a:r>
            <a:r>
              <a:rPr kumimoji="1" lang="en-US" altLang="zh-CN" sz="2400" b="1" i="1" dirty="0" err="1">
                <a:latin typeface="Trebuchet MS" panose="020B0603020202020204" pitchFamily="34" charset="0"/>
              </a:rPr>
              <a:t>r</a:t>
            </a:r>
            <a:r>
              <a:rPr kumimoji="1"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 </a:t>
            </a:r>
            <a:r>
              <a:rPr kumimoji="1" lang="en-US" altLang="zh-CN" sz="2400" b="1" dirty="0">
                <a:latin typeface="Trebuchet MS" panose="020B0603020202020204" pitchFamily="34" charset="0"/>
              </a:rPr>
              <a:t>(</a:t>
            </a:r>
            <a:r>
              <a:rPr kumimoji="1" lang="en-US" altLang="zh-CN" sz="2400" b="1" i="1" dirty="0" err="1">
                <a:latin typeface="Trebuchet MS" panose="020B0603020202020204" pitchFamily="34" charset="0"/>
              </a:rPr>
              <a:t>p</a:t>
            </a:r>
            <a:r>
              <a:rPr kumimoji="1" lang="en-US" altLang="zh-CN" sz="2400" b="1" dirty="0" err="1">
                <a:latin typeface="Trebuchet MS" panose="020B0603020202020204" pitchFamily="34" charset="0"/>
                <a:sym typeface="Symbol" panose="05050102010706020507" pitchFamily="18" charset="2"/>
              </a:rPr>
              <a:t></a:t>
            </a:r>
            <a:r>
              <a:rPr kumimoji="1" lang="en-US" altLang="zh-CN" sz="2400" b="1" i="1" dirty="0" err="1">
                <a:latin typeface="Trebuchet MS" panose="020B0603020202020204" pitchFamily="34" charset="0"/>
              </a:rPr>
              <a:t>q</a:t>
            </a:r>
            <a:r>
              <a:rPr kumimoji="1" lang="en-US" altLang="zh-CN" sz="2400" b="1" dirty="0">
                <a:latin typeface="Trebuchet MS" panose="020B0603020202020204" pitchFamily="34" charset="0"/>
              </a:rPr>
              <a:t>)</a:t>
            </a:r>
            <a:r>
              <a:rPr kumimoji="1" lang="en-US" altLang="zh-CN" sz="2400" b="1" dirty="0">
                <a:latin typeface="Trebuchet MS" panose="020B0603020202020204" pitchFamily="34" charset="0"/>
                <a:sym typeface="Symbol" panose="05050102010706020507" pitchFamily="18" charset="2"/>
              </a:rPr>
              <a:t></a:t>
            </a:r>
            <a:r>
              <a:rPr kumimoji="1" lang="en-US" altLang="zh-CN" sz="2400" b="1" i="1" dirty="0">
                <a:latin typeface="Trebuchet MS" panose="020B0603020202020204" pitchFamily="34" charset="0"/>
              </a:rPr>
              <a:t>r</a:t>
            </a:r>
            <a:endParaRPr kumimoji="1" lang="zh-CN" altLang="en-US" sz="2400" b="1" dirty="0">
              <a:latin typeface="Trebuchet MS" panose="020B0603020202020204" pitchFamily="34" charset="0"/>
            </a:endParaRPr>
          </a:p>
        </p:txBody>
      </p:sp>
      <p:sp>
        <p:nvSpPr>
          <p:cNvPr id="14" name="动作按钮: 后退或前一项 13">
            <a:hlinkClick r:id="" action="ppaction://hlinkshowjump?jump=lastslideviewed" highlightClick="1"/>
            <a:extLst>
              <a:ext uri="{FF2B5EF4-FFF2-40B4-BE49-F238E27FC236}">
                <a16:creationId xmlns:a16="http://schemas.microsoft.com/office/drawing/2014/main" id="{CF7C68A3-97E3-4BAB-8BAB-126E5E8930CA}"/>
              </a:ext>
            </a:extLst>
          </p:cNvPr>
          <p:cNvSpPr/>
          <p:nvPr/>
        </p:nvSpPr>
        <p:spPr>
          <a:xfrm>
            <a:off x="10994263" y="951049"/>
            <a:ext cx="659765" cy="254635"/>
          </a:xfrm>
          <a:prstGeom prst="actionButtonBackPrevious">
            <a:avLst/>
          </a:prstGeom>
        </p:spPr>
        <p:style>
          <a:lnRef idx="3">
            <a:schemeClr val="lt1"/>
          </a:lnRef>
          <a:fillRef idx="1">
            <a:schemeClr val="accent2"/>
          </a:fillRef>
          <a:effectRef idx="1">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Tree>
    <p:extLst>
      <p:ext uri="{BB962C8B-B14F-4D97-AF65-F5344CB8AC3E}">
        <p14:creationId xmlns:p14="http://schemas.microsoft.com/office/powerpoint/2010/main" val="12511217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1+#ppt_w/2"/>
                                          </p:val>
                                        </p:tav>
                                        <p:tav tm="100000">
                                          <p:val>
                                            <p:strVal val="#ppt_x"/>
                                          </p:val>
                                        </p:tav>
                                      </p:tavLst>
                                    </p:anim>
                                    <p:anim calcmode="lin" valueType="num">
                                      <p:cBhvr additive="base">
                                        <p:cTn id="15"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Basic Equivalence Expressions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9442742" cy="50526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Double Negation Law</a:t>
            </a:r>
            <a:r>
              <a:rPr lang="en-US" sz="2400"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en-US" altLang="zh-CN" sz="2400" b="1" dirty="0">
              <a:latin typeface="Trebuchet MS" panose="020B0603020202020204" pitchFamily="34" charset="0"/>
              <a:cs typeface="Times New Roman" panose="02020603050405020304" pitchFamily="18" charset="0"/>
            </a:endParaRPr>
          </a:p>
          <a:p>
            <a:pPr algn="just" eaLnBrk="1" hangingPunct="1">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Idempotent Law</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en-US" altLang="zh-CN" sz="2400" b="1" dirty="0">
              <a:latin typeface="Trebuchet MS" panose="020B0603020202020204" pitchFamily="34" charset="0"/>
              <a:cs typeface="Times New Roman" panose="02020603050405020304" pitchFamily="18" charset="0"/>
            </a:endParaRPr>
          </a:p>
          <a:p>
            <a:pPr algn="just" eaLnBrk="1" hangingPunct="1">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Commutative Law</a:t>
            </a:r>
            <a:r>
              <a:rPr lang="en-US" sz="2400"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en-US" altLang="zh-CN" sz="2400" b="1" dirty="0">
              <a:latin typeface="Trebuchet MS" panose="020B0603020202020204" pitchFamily="34" charset="0"/>
              <a:cs typeface="Times New Roman" panose="02020603050405020304" pitchFamily="18" charset="0"/>
            </a:endParaRPr>
          </a:p>
          <a:p>
            <a:pPr algn="just" eaLnBrk="1" hangingPunct="1">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Associative Law</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   </a:t>
            </a:r>
          </a:p>
          <a:p>
            <a:pPr marL="0" indent="0" algn="just" eaLnBrk="1" hangingPunct="1">
              <a:lnSpc>
                <a:spcPct val="110000"/>
              </a:lnSpc>
              <a:spcBef>
                <a:spcPts val="300"/>
              </a:spcBef>
              <a:buClr>
                <a:srgbClr val="0B61FF"/>
              </a:buClr>
              <a:buSzPct val="80000"/>
              <a:buNone/>
            </a:pP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p>
          <a:p>
            <a:pPr algn="just">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Distributive Law</a:t>
            </a:r>
            <a:r>
              <a:rPr lang="en-US" sz="2400"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 </a:t>
            </a:r>
          </a:p>
          <a:p>
            <a:pPr marL="0" indent="0" algn="just" eaLnBrk="1" hangingPunct="1">
              <a:lnSpc>
                <a:spcPct val="110000"/>
              </a:lnSpc>
              <a:spcBef>
                <a:spcPts val="300"/>
              </a:spcBef>
              <a:buClr>
                <a:srgbClr val="0B61FF"/>
              </a:buClr>
              <a:buSzPct val="80000"/>
              <a:buNone/>
            </a:pP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p>
          <a:p>
            <a:pPr algn="just" eaLnBrk="1" hangingPunct="1">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 Morgan‘s Laws</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endParaRPr lang="en-US" altLang="zh-CN" sz="2400" b="1" dirty="0">
              <a:latin typeface="Trebuchet MS" panose="020B0603020202020204" pitchFamily="34" charset="0"/>
              <a:cs typeface="Times New Roman" panose="02020603050405020304" pitchFamily="18" charset="0"/>
            </a:endParaRPr>
          </a:p>
          <a:p>
            <a:pPr marL="0" indent="0" algn="just" eaLnBrk="1" hangingPunct="1">
              <a:lnSpc>
                <a:spcPct val="110000"/>
              </a:lnSpc>
              <a:spcBef>
                <a:spcPts val="300"/>
              </a:spcBef>
              <a:buClr>
                <a:srgbClr val="0B61FF"/>
              </a:buClr>
              <a:buSzPct val="80000"/>
              <a:buNone/>
            </a:pP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p>
          <a:p>
            <a:pPr algn="just">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Absorption Law</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p>
          <a:p>
            <a:pPr marL="0" indent="0" algn="just">
              <a:lnSpc>
                <a:spcPct val="110000"/>
              </a:lnSpc>
              <a:spcBef>
                <a:spcPts val="300"/>
              </a:spcBef>
              <a:buClr>
                <a:srgbClr val="0B61FF"/>
              </a:buClr>
              <a:buSzPct val="80000"/>
              <a:buNone/>
            </a:pP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083384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8">
                                            <p:txEl>
                                              <p:pRg st="7" end="7"/>
                                            </p:txEl>
                                          </p:spTgt>
                                        </p:tgtEl>
                                        <p:attrNameLst>
                                          <p:attrName>style.visibility</p:attrName>
                                        </p:attrNameLst>
                                      </p:cBhvr>
                                      <p:to>
                                        <p:strVal val="visible"/>
                                      </p:to>
                                    </p:set>
                                    <p:animEffect transition="in" filter="fade">
                                      <p:cBhvr>
                                        <p:cTn id="45" dur="1000"/>
                                        <p:tgtEl>
                                          <p:spTgt spid="8">
                                            <p:txEl>
                                              <p:pRg st="7" end="7"/>
                                            </p:txEl>
                                          </p:spTgt>
                                        </p:tgtEl>
                                      </p:cBhvr>
                                    </p:animEffect>
                                    <p:anim calcmode="lin" valueType="num">
                                      <p:cBhvr>
                                        <p:cTn id="46"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8">
                                            <p:txEl>
                                              <p:pRg st="8" end="8"/>
                                            </p:txEl>
                                          </p:spTgt>
                                        </p:tgtEl>
                                        <p:attrNameLst>
                                          <p:attrName>style.visibility</p:attrName>
                                        </p:attrNameLst>
                                      </p:cBhvr>
                                      <p:to>
                                        <p:strVal val="visible"/>
                                      </p:to>
                                    </p:set>
                                    <p:animEffect transition="in" filter="fade">
                                      <p:cBhvr>
                                        <p:cTn id="50" dur="1000"/>
                                        <p:tgtEl>
                                          <p:spTgt spid="8">
                                            <p:txEl>
                                              <p:pRg st="8" end="8"/>
                                            </p:txEl>
                                          </p:spTgt>
                                        </p:tgtEl>
                                      </p:cBhvr>
                                    </p:animEffect>
                                    <p:anim calcmode="lin" valueType="num">
                                      <p:cBhvr>
                                        <p:cTn id="51"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2"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8">
                                            <p:txEl>
                                              <p:pRg st="9" end="9"/>
                                            </p:txEl>
                                          </p:spTgt>
                                        </p:tgtEl>
                                        <p:attrNameLst>
                                          <p:attrName>style.visibility</p:attrName>
                                        </p:attrNameLst>
                                      </p:cBhvr>
                                      <p:to>
                                        <p:strVal val="visible"/>
                                      </p:to>
                                    </p:set>
                                    <p:animEffect transition="in" filter="fade">
                                      <p:cBhvr>
                                        <p:cTn id="57" dur="1000"/>
                                        <p:tgtEl>
                                          <p:spTgt spid="8">
                                            <p:txEl>
                                              <p:pRg st="9" end="9"/>
                                            </p:txEl>
                                          </p:spTgt>
                                        </p:tgtEl>
                                      </p:cBhvr>
                                    </p:animEffect>
                                    <p:anim calcmode="lin" valueType="num">
                                      <p:cBhvr>
                                        <p:cTn id="58"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9" dur="1000" fill="hold"/>
                                        <p:tgtEl>
                                          <p:spTgt spid="8">
                                            <p:txEl>
                                              <p:pRg st="9" end="9"/>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8">
                                            <p:txEl>
                                              <p:pRg st="10" end="10"/>
                                            </p:txEl>
                                          </p:spTgt>
                                        </p:tgtEl>
                                        <p:attrNameLst>
                                          <p:attrName>style.visibility</p:attrName>
                                        </p:attrNameLst>
                                      </p:cBhvr>
                                      <p:to>
                                        <p:strVal val="visible"/>
                                      </p:to>
                                    </p:set>
                                    <p:animEffect transition="in" filter="fade">
                                      <p:cBhvr>
                                        <p:cTn id="62" dur="1000"/>
                                        <p:tgtEl>
                                          <p:spTgt spid="8">
                                            <p:txEl>
                                              <p:pRg st="10" end="10"/>
                                            </p:txEl>
                                          </p:spTgt>
                                        </p:tgtEl>
                                      </p:cBhvr>
                                    </p:animEffect>
                                    <p:anim calcmode="lin" valueType="num">
                                      <p:cBhvr>
                                        <p:cTn id="63"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64"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Basic Equivalence Expressions</a:t>
            </a:r>
            <a:r>
              <a:rPr lang="en-US" altLang="zh-CN" sz="2800" b="1" dirty="0">
                <a:latin typeface="Trebuchet MS" panose="020B0603020202020204" pitchFamily="34"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r>
              <a:rPr lang="en-US" altLang="zh-CN" sz="2800" dirty="0"/>
              <a:t>.)</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361891" y="856616"/>
            <a:ext cx="7919269" cy="51860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Zero Law</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0 </a:t>
            </a:r>
            <a:endParaRPr lang="en-US" altLang="zh-CN" sz="2400" b="1" dirty="0">
              <a:latin typeface="Trebuchet MS" panose="020B0603020202020204" pitchFamily="34" charset="0"/>
            </a:endParaRPr>
          </a:p>
          <a:p>
            <a:pPr algn="just">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Identity Law</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en-US" altLang="zh-CN" sz="2400" b="1" dirty="0">
              <a:latin typeface="Trebuchet MS" panose="020B0603020202020204" pitchFamily="34" charset="0"/>
              <a:cs typeface="Times New Roman" panose="02020603050405020304" pitchFamily="18" charset="0"/>
            </a:endParaRPr>
          </a:p>
          <a:p>
            <a:pPr algn="just" eaLnBrk="1" hangingPunct="1">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Law of the Excluded Middle</a:t>
            </a:r>
            <a:r>
              <a:rPr lang="en-US" sz="2400" dirty="0">
                <a:latin typeface="Trebuchet MS" panose="020B0603020202020204" pitchFamily="34" charset="0"/>
              </a:rPr>
              <a:t>:</a:t>
            </a: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p>
          <a:p>
            <a:pPr algn="just">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Law of Contradiction</a:t>
            </a:r>
            <a:r>
              <a:rPr lang="en-US" sz="2400"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0</a:t>
            </a:r>
          </a:p>
          <a:p>
            <a:pPr algn="just">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Implication Equivalence</a:t>
            </a:r>
            <a:r>
              <a:rPr lang="en-US"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endParaRPr lang="en-US" altLang="zh-CN" sz="2400" b="1" dirty="0">
              <a:latin typeface="Trebuchet MS" panose="020B0603020202020204" pitchFamily="34" charset="0"/>
              <a:cs typeface="Times New Roman" panose="02020603050405020304" pitchFamily="18" charset="0"/>
            </a:endParaRPr>
          </a:p>
          <a:p>
            <a:pPr algn="just">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Biconditional Equivalence</a:t>
            </a:r>
            <a:r>
              <a:rPr lang="en-US"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p>
          <a:p>
            <a:pPr algn="just" eaLnBrk="1" hangingPunct="1">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Contraposition</a:t>
            </a:r>
            <a:r>
              <a:rPr lang="en-US"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en-US" altLang="zh-CN" sz="2400" b="1" dirty="0">
              <a:latin typeface="Trebuchet MS" panose="020B0603020202020204" pitchFamily="34" charset="0"/>
              <a:cs typeface="Times New Roman" panose="02020603050405020304" pitchFamily="18" charset="0"/>
            </a:endParaRPr>
          </a:p>
          <a:p>
            <a:pPr algn="just">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Negation of Equivalence</a:t>
            </a:r>
            <a:r>
              <a:rPr lang="en-US"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B</a:t>
            </a:r>
            <a:endParaRPr lang="en-US" altLang="zh-CN" sz="2400" b="1" dirty="0">
              <a:latin typeface="Trebuchet MS" panose="020B0603020202020204" pitchFamily="34" charset="0"/>
              <a:cs typeface="Times New Roman" panose="02020603050405020304" pitchFamily="18" charset="0"/>
            </a:endParaRPr>
          </a:p>
          <a:p>
            <a:pPr algn="just">
              <a:lnSpc>
                <a:spcPct val="120000"/>
              </a:lnSpc>
              <a:spcBef>
                <a:spcPts val="500"/>
              </a:spcBef>
              <a:buClr>
                <a:srgbClr val="0B61FF"/>
              </a:buClr>
              <a:buSzPct val="80000"/>
              <a:buFont typeface="Wingdings" panose="05000000000000000000" pitchFamily="2" charset="2"/>
              <a:buChar char="n"/>
            </a:pPr>
            <a:r>
              <a:rPr lang="en-US" sz="2400" b="1" dirty="0">
                <a:latin typeface="Trebuchet MS" panose="020B0603020202020204" pitchFamily="34" charset="0"/>
              </a:rPr>
              <a:t>Reductio ad Absurdum (Proof by Contradiction)</a:t>
            </a:r>
            <a:r>
              <a:rPr lang="en-US" sz="2400" dirty="0">
                <a:latin typeface="Trebuchet MS" panose="020B0603020202020204" pitchFamily="34" charset="0"/>
              </a:rPr>
              <a:t>:</a:t>
            </a:r>
          </a:p>
          <a:p>
            <a:pPr marL="0" indent="0" algn="just" eaLnBrk="1" hangingPunct="1">
              <a:lnSpc>
                <a:spcPct val="120000"/>
              </a:lnSpc>
              <a:spcBef>
                <a:spcPts val="500"/>
              </a:spcBef>
              <a:buClr>
                <a:srgbClr val="0B61FF"/>
              </a:buClr>
              <a:buSzPct val="80000"/>
              <a:buNone/>
            </a:pP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0725523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1000"/>
                                        <p:tgtEl>
                                          <p:spTgt spid="8">
                                            <p:txEl>
                                              <p:pRg st="6" end="6"/>
                                            </p:txEl>
                                          </p:spTgt>
                                        </p:tgtEl>
                                      </p:cBhvr>
                                    </p:animEffect>
                                    <p:anim calcmode="lin" valueType="num">
                                      <p:cBhvr>
                                        <p:cTn id="4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animEffect transition="in" filter="fade">
                                      <p:cBhvr>
                                        <p:cTn id="49" dur="1000"/>
                                        <p:tgtEl>
                                          <p:spTgt spid="8">
                                            <p:txEl>
                                              <p:pRg st="7" end="7"/>
                                            </p:txEl>
                                          </p:spTgt>
                                        </p:tgtEl>
                                      </p:cBhvr>
                                    </p:animEffect>
                                    <p:anim calcmode="lin" valueType="num">
                                      <p:cBhvr>
                                        <p:cTn id="5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8">
                                            <p:txEl>
                                              <p:pRg st="8" end="8"/>
                                            </p:txEl>
                                          </p:spTgt>
                                        </p:tgtEl>
                                        <p:attrNameLst>
                                          <p:attrName>style.visibility</p:attrName>
                                        </p:attrNameLst>
                                      </p:cBhvr>
                                      <p:to>
                                        <p:strVal val="visible"/>
                                      </p:to>
                                    </p:set>
                                    <p:animEffect transition="in" filter="fade">
                                      <p:cBhvr>
                                        <p:cTn id="56" dur="1000"/>
                                        <p:tgtEl>
                                          <p:spTgt spid="8">
                                            <p:txEl>
                                              <p:pRg st="8" end="8"/>
                                            </p:txEl>
                                          </p:spTgt>
                                        </p:tgtEl>
                                      </p:cBhvr>
                                    </p:animEffect>
                                    <p:anim calcmode="lin" valueType="num">
                                      <p:cBhvr>
                                        <p:cTn id="5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8">
                                            <p:txEl>
                                              <p:pRg st="9" end="9"/>
                                            </p:txEl>
                                          </p:spTgt>
                                        </p:tgtEl>
                                        <p:attrNameLst>
                                          <p:attrName>style.visibility</p:attrName>
                                        </p:attrNameLst>
                                      </p:cBhvr>
                                      <p:to>
                                        <p:strVal val="visible"/>
                                      </p:to>
                                    </p:set>
                                    <p:animEffect transition="in" filter="fade">
                                      <p:cBhvr>
                                        <p:cTn id="61" dur="1000"/>
                                        <p:tgtEl>
                                          <p:spTgt spid="8">
                                            <p:txEl>
                                              <p:pRg st="9" end="9"/>
                                            </p:txEl>
                                          </p:spTgt>
                                        </p:tgtEl>
                                      </p:cBhvr>
                                    </p:animEffect>
                                    <p:anim calcmode="lin" valueType="num">
                                      <p:cBhvr>
                                        <p:cTn id="62"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Equivalence Calculus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 </a:t>
            </a:r>
            <a:r>
              <a:rPr lang="en-US" altLang="zh-CN" sz="2400" b="1" dirty="0">
                <a:latin typeface="Trebuchet MS" panose="020B0603020202020204" pitchFamily="34" charset="0"/>
              </a:rPr>
              <a:t>Substitution Rule </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10010960" cy="51631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Equivalence Calculus</a:t>
            </a:r>
            <a:r>
              <a:rPr lang="zh-CN" altLang="en-US" sz="2400" b="1" dirty="0">
                <a:latin typeface="Trebuchet MS" panose="020B0603020202020204" pitchFamily="34" charset="0"/>
              </a:rPr>
              <a:t>： </a:t>
            </a:r>
            <a:r>
              <a:rPr lang="en-US" sz="2400" dirty="0">
                <a:latin typeface="Trebuchet MS" panose="020B0603020202020204" pitchFamily="34" charset="0"/>
              </a:rPr>
              <a:t>The process of deriving new equivalences from known equivalences.</a:t>
            </a:r>
          </a:p>
          <a:p>
            <a:pPr algn="just">
              <a:lnSpc>
                <a:spcPct val="120000"/>
              </a:lnSpc>
              <a:spcBef>
                <a:spcPct val="35000"/>
              </a:spcBef>
              <a:buClr>
                <a:srgbClr val="0B61FF"/>
              </a:buClr>
              <a:buSzPct val="80000"/>
              <a:buFont typeface="Wingdings" panose="05000000000000000000" pitchFamily="2" charset="2"/>
              <a:buChar char="n"/>
            </a:pPr>
            <a:r>
              <a:rPr lang="en-US" sz="2400" b="1" dirty="0">
                <a:latin typeface="Trebuchet MS" panose="020B0603020202020204" pitchFamily="34" charset="0"/>
              </a:rPr>
              <a:t>Substitution Rule  If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then</a:t>
            </a:r>
            <a:r>
              <a:rPr lang="zh-CN" altLang="en-US" sz="2400" b="1" dirty="0">
                <a:latin typeface="Trebuchet MS" panose="020B0603020202020204" pitchFamily="34" charset="0"/>
              </a:rPr>
              <a:t> </a:t>
            </a:r>
            <a:r>
              <a:rPr lang="zh-CN" altLang="en-US" sz="2400" b="1" i="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rPr>
              <a:t> </a:t>
            </a:r>
          </a:p>
          <a:p>
            <a:pPr algn="just" eaLnBrk="1" hangingPunct="1">
              <a:lnSpc>
                <a:spcPct val="120000"/>
              </a:lnSpc>
              <a:spcBef>
                <a:spcPct val="35000"/>
              </a:spcBef>
              <a:buFontTx/>
              <a:buNone/>
            </a:pPr>
            <a:r>
              <a:rPr lang="en-US" altLang="zh-CN" sz="2400" b="1" dirty="0">
                <a:latin typeface="Trebuchet MS" panose="020B0603020202020204" pitchFamily="34" charset="0"/>
              </a:rPr>
              <a:t>       Example</a:t>
            </a:r>
            <a:r>
              <a:rPr lang="zh-CN" altLang="en-US" sz="2400" b="1" dirty="0">
                <a:latin typeface="Trebuchet MS" panose="020B0603020202020204" pitchFamily="34" charset="0"/>
              </a:rPr>
              <a:t>：</a:t>
            </a:r>
            <a:r>
              <a:rPr lang="en-US" altLang="zh-CN" sz="1600" dirty="0"/>
              <a:t> </a:t>
            </a:r>
            <a:r>
              <a:rPr lang="en-US" altLang="zh-CN" sz="2400" dirty="0"/>
              <a:t>To prove</a:t>
            </a: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endParaRPr lang="en-US" altLang="zh-CN" sz="2400" b="1" dirty="0">
              <a:latin typeface="Trebuchet MS" panose="020B0603020202020204" pitchFamily="34" charset="0"/>
              <a:cs typeface="Times New Roman" panose="02020603050405020304" pitchFamily="18" charset="0"/>
            </a:endParaRPr>
          </a:p>
          <a:p>
            <a:pPr algn="just" eaLnBrk="1" hangingPunct="1">
              <a:lnSpc>
                <a:spcPct val="120000"/>
              </a:lnSpc>
              <a:spcBef>
                <a:spcPct val="35000"/>
              </a:spcBef>
              <a:buFontTx/>
              <a:buNone/>
            </a:pPr>
            <a:r>
              <a:rPr lang="en-US" altLang="zh-CN" sz="2400" b="1" dirty="0">
                <a:latin typeface="Trebuchet MS" panose="020B0603020202020204" pitchFamily="34" charset="0"/>
              </a:rPr>
              <a:t>Proof</a:t>
            </a:r>
            <a:r>
              <a:rPr lang="zh-CN" altLang="en-US" sz="2400" b="1"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algn="just" eaLnBrk="1" hangingPunct="1">
              <a:lnSpc>
                <a:spcPct val="120000"/>
              </a:lnSpc>
              <a:spcBef>
                <a:spcPct val="350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sz="2400" dirty="0">
                <a:latin typeface="Trebuchet MS" panose="020B0603020202020204" pitchFamily="34" charset="0"/>
              </a:rPr>
              <a:t>Implication Equivalence</a:t>
            </a:r>
            <a:r>
              <a:rPr 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algn="just" eaLnBrk="1" hangingPunct="1">
              <a:lnSpc>
                <a:spcPct val="120000"/>
              </a:lnSpc>
              <a:spcBef>
                <a:spcPct val="350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zh-CN" altLang="en-US"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a:t>
            </a:r>
            <a:r>
              <a:rPr lang="en-US" sz="2400" dirty="0">
                <a:latin typeface="Trebuchet MS" panose="020B0603020202020204" pitchFamily="34" charset="0"/>
              </a:rPr>
              <a:t>Associative Law</a:t>
            </a:r>
            <a:r>
              <a:rPr 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algn="just" eaLnBrk="1" hangingPunct="1">
              <a:lnSpc>
                <a:spcPct val="120000"/>
              </a:lnSpc>
              <a:spcBef>
                <a:spcPct val="350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a:latin typeface="Trebuchet MS" panose="020B0603020202020204" pitchFamily="34" charset="0"/>
                <a:cs typeface="Times New Roman" panose="02020603050405020304" pitchFamily="18" charset="0"/>
              </a:rPr>
              <a:t>r</a:t>
            </a:r>
            <a:r>
              <a:rPr lang="en-US" altLang="zh-CN" sz="2400" b="1">
                <a:latin typeface="Trebuchet MS" panose="020B0603020202020204" pitchFamily="34" charset="0"/>
                <a:cs typeface="Times New Roman" panose="02020603050405020304" pitchFamily="18" charset="0"/>
              </a:rPr>
              <a:t>        </a:t>
            </a:r>
            <a:r>
              <a:rPr lang="en-US" altLang="zh-CN" sz="2400" b="1">
                <a:latin typeface="Trebuchet MS" panose="020B0603020202020204" pitchFamily="34" charset="0"/>
              </a:rPr>
              <a:t>(</a:t>
            </a:r>
            <a:r>
              <a:rPr lang="en-US" sz="2400" dirty="0">
                <a:latin typeface="Trebuchet MS" panose="020B0603020202020204" pitchFamily="34" charset="0"/>
              </a:rPr>
              <a:t>De Morgan's Law</a:t>
            </a:r>
            <a:r>
              <a:rPr 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algn="just" eaLnBrk="1" hangingPunct="1">
              <a:lnSpc>
                <a:spcPct val="120000"/>
              </a:lnSpc>
              <a:spcBef>
                <a:spcPct val="350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sz="2400" dirty="0">
                <a:latin typeface="Trebuchet MS" panose="020B0603020202020204" pitchFamily="34" charset="0"/>
              </a:rPr>
              <a:t>Implication Equivalence</a:t>
            </a:r>
            <a:r>
              <a:rPr lang="en-US" sz="2400" b="1" dirty="0">
                <a:latin typeface="Trebuchet MS" panose="020B0603020202020204" pitchFamily="34" charset="0"/>
              </a:rPr>
              <a:t>)</a:t>
            </a:r>
            <a:endParaRPr lang="zh-CN" altLang="en-US" sz="2400" b="1" dirty="0">
              <a:latin typeface="Trebuchet MS" panose="020B0603020202020204" pitchFamily="34" charset="0"/>
            </a:endParaRPr>
          </a:p>
          <a:p>
            <a:pPr algn="just" eaLnBrk="1" hangingPunct="1">
              <a:spcBef>
                <a:spcPct val="40000"/>
              </a:spcBef>
              <a:buFontTx/>
              <a:buNone/>
            </a:pPr>
            <a:endParaRPr lang="zh-CN" altLang="en-US" sz="2800" b="1" dirty="0"/>
          </a:p>
        </p:txBody>
      </p:sp>
      <p:pic>
        <p:nvPicPr>
          <p:cNvPr id="9" name="图片 8">
            <a:extLst>
              <a:ext uri="{FF2B5EF4-FFF2-40B4-BE49-F238E27FC236}">
                <a16:creationId xmlns:a16="http://schemas.microsoft.com/office/drawing/2014/main" id="{5F619D3E-BD4D-467F-8279-714A2AF3A1E4}"/>
              </a:ext>
            </a:extLst>
          </p:cNvPr>
          <p:cNvPicPr/>
          <p:nvPr/>
        </p:nvPicPr>
        <p:blipFill>
          <a:blip r:embed="rId5"/>
          <a:stretch>
            <a:fillRect/>
          </a:stretch>
        </p:blipFill>
        <p:spPr>
          <a:xfrm>
            <a:off x="972185" y="2496820"/>
            <a:ext cx="577850" cy="241300"/>
          </a:xfrm>
          <a:prstGeom prst="rect">
            <a:avLst/>
          </a:prstGeom>
        </p:spPr>
      </p:pic>
    </p:spTree>
    <p:extLst>
      <p:ext uri="{BB962C8B-B14F-4D97-AF65-F5344CB8AC3E}">
        <p14:creationId xmlns:p14="http://schemas.microsoft.com/office/powerpoint/2010/main" val="247792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1000"/>
                                        <p:tgtEl>
                                          <p:spTgt spid="8">
                                            <p:txEl>
                                              <p:pRg st="6" end="6"/>
                                            </p:txEl>
                                          </p:spTgt>
                                        </p:tgtEl>
                                      </p:cBhvr>
                                    </p:animEffect>
                                    <p:anim calcmode="lin" valueType="num">
                                      <p:cBhvr>
                                        <p:cTn id="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1000"/>
                                        <p:tgtEl>
                                          <p:spTgt spid="8">
                                            <p:txEl>
                                              <p:pRg st="7" end="7"/>
                                            </p:txEl>
                                          </p:spTgt>
                                        </p:tgtEl>
                                      </p:cBhvr>
                                    </p:animEffect>
                                    <p:anim calcmode="lin" valueType="num">
                                      <p:cBhvr>
                                        <p:cTn id="2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a:t>
            </a:r>
            <a:r>
              <a:rPr lang="en-US" altLang="zh-CN" sz="2400" b="1" dirty="0">
                <a:latin typeface="Trebuchet MS" panose="020B0603020202020204" pitchFamily="34" charset="0"/>
              </a:rPr>
              <a:t>Methods to Prove the Non-Equivalence of Two Formulas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10829347"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eaLnBrk="1" hangingPunct="1">
              <a:lnSpc>
                <a:spcPct val="120000"/>
              </a:lnSpc>
              <a:spcBef>
                <a:spcPts val="300"/>
              </a:spcBef>
              <a:buNone/>
            </a:pPr>
            <a:r>
              <a:rPr lang="en-US" sz="2400" b="1" dirty="0">
                <a:latin typeface="Trebuchet MS" panose="020B0603020202020204" pitchFamily="34" charset="0"/>
              </a:rPr>
              <a:t>       Example</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Proof</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p</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q</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r</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p</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q</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r</a:t>
            </a:r>
          </a:p>
          <a:p>
            <a:pPr>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Equivalence calculus </a:t>
            </a:r>
            <a:r>
              <a:rPr lang="en-US" sz="2400" b="1" dirty="0">
                <a:latin typeface="Trebuchet MS" panose="020B0603020202020204" pitchFamily="34" charset="0"/>
              </a:rPr>
              <a:t>cannot directly prove </a:t>
            </a:r>
            <a:r>
              <a:rPr lang="en-US" sz="2400" dirty="0">
                <a:latin typeface="Trebuchet MS" panose="020B0603020202020204" pitchFamily="34" charset="0"/>
              </a:rPr>
              <a:t>that two formulas are not equivalent.</a:t>
            </a:r>
          </a:p>
          <a:p>
            <a:pPr>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 fundamental idea to prove </a:t>
            </a:r>
            <a:r>
              <a:rPr lang="en-US" sz="2400" b="1" i="1" dirty="0">
                <a:latin typeface="Trebuchet MS" panose="020B0603020202020204" pitchFamily="34" charset="0"/>
              </a:rPr>
              <a:t>non-equivalence</a:t>
            </a:r>
            <a:r>
              <a:rPr lang="en-US" sz="2400" dirty="0">
                <a:latin typeface="Trebuchet MS" panose="020B0603020202020204" pitchFamily="34" charset="0"/>
              </a:rPr>
              <a:t> is to find an assignment that makes one formula </a:t>
            </a:r>
            <a:r>
              <a:rPr lang="en-US" sz="2400" b="1" dirty="0">
                <a:latin typeface="Trebuchet MS" panose="020B0603020202020204" pitchFamily="34" charset="0"/>
              </a:rPr>
              <a:t>true</a:t>
            </a:r>
            <a:r>
              <a:rPr lang="en-US" sz="2400" dirty="0">
                <a:latin typeface="Trebuchet MS" panose="020B0603020202020204" pitchFamily="34" charset="0"/>
              </a:rPr>
              <a:t> while making the other </a:t>
            </a:r>
            <a:r>
              <a:rPr lang="en-US" sz="2400" b="1" dirty="0">
                <a:latin typeface="Trebuchet MS" panose="020B0603020202020204" pitchFamily="34" charset="0"/>
              </a:rPr>
              <a:t>false</a:t>
            </a:r>
            <a:r>
              <a:rPr lang="en-US" sz="2400" dirty="0">
                <a:latin typeface="Trebuchet MS" panose="020B0603020202020204" pitchFamily="34" charset="0"/>
              </a:rPr>
              <a:t>.</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Key Approaches:</a:t>
            </a:r>
            <a:endParaRPr lang="en-US" altLang="zh-CN" sz="2400" b="1" i="1" dirty="0">
              <a:solidFill>
                <a:schemeClr val="tx1"/>
              </a:solidFill>
              <a:latin typeface="Trebuchet MS" panose="020B0603020202020204" pitchFamily="34" charset="0"/>
              <a:ea typeface="宋体" panose="02010600030101010101" pitchFamily="2" charset="-122"/>
            </a:endParaRPr>
          </a:p>
          <a:p>
            <a:pPr indent="42863">
              <a:lnSpc>
                <a:spcPct val="120000"/>
              </a:lnSpc>
              <a:spcBef>
                <a:spcPts val="300"/>
              </a:spcBef>
              <a:buClr>
                <a:srgbClr val="0B61FF"/>
              </a:buClr>
              <a:buSzPct val="120000"/>
            </a:pPr>
            <a:r>
              <a:rPr lang="en-US" altLang="en-US" sz="2400" b="1" dirty="0">
                <a:latin typeface="Trebuchet MS" panose="020B0603020202020204" pitchFamily="34" charset="0"/>
              </a:rPr>
              <a:t>Truth Table Method</a:t>
            </a:r>
          </a:p>
          <a:p>
            <a:pPr indent="42863">
              <a:lnSpc>
                <a:spcPct val="120000"/>
              </a:lnSpc>
              <a:spcBef>
                <a:spcPts val="300"/>
              </a:spcBef>
              <a:buClr>
                <a:srgbClr val="0B61FF"/>
              </a:buClr>
              <a:buSzPct val="120000"/>
            </a:pPr>
            <a:r>
              <a:rPr lang="en-US" sz="2400" b="1" dirty="0">
                <a:latin typeface="Trebuchet MS" panose="020B0603020202020204" pitchFamily="34" charset="0"/>
              </a:rPr>
              <a:t>Observation Method</a:t>
            </a:r>
            <a:r>
              <a:rPr lang="en-US" sz="2400" dirty="0">
                <a:latin typeface="Trebuchet MS" panose="020B0603020202020204" pitchFamily="34" charset="0"/>
              </a:rPr>
              <a:t>: It is easy to see that the assignment (p, q, r) = (0,0,0) makes the left formula </a:t>
            </a:r>
            <a:r>
              <a:rPr lang="en-US" sz="2400" b="1" dirty="0">
                <a:latin typeface="Trebuchet MS" panose="020B0603020202020204" pitchFamily="34" charset="0"/>
              </a:rPr>
              <a:t>true</a:t>
            </a:r>
            <a:r>
              <a:rPr lang="en-US" sz="2400" dirty="0">
                <a:latin typeface="Trebuchet MS" panose="020B0603020202020204" pitchFamily="34" charset="0"/>
              </a:rPr>
              <a:t> and the right formula </a:t>
            </a:r>
            <a:r>
              <a:rPr lang="en-US" sz="2400" b="1" dirty="0">
                <a:latin typeface="Trebuchet MS" panose="020B0603020202020204" pitchFamily="34" charset="0"/>
              </a:rPr>
              <a:t>false</a:t>
            </a:r>
            <a:r>
              <a:rPr lang="en-US" sz="2400" dirty="0">
                <a:latin typeface="Trebuchet MS" panose="020B0603020202020204" pitchFamily="34" charset="0"/>
              </a:rPr>
              <a:t>.</a:t>
            </a:r>
          </a:p>
          <a:p>
            <a:pPr indent="42863">
              <a:lnSpc>
                <a:spcPct val="120000"/>
              </a:lnSpc>
              <a:spcBef>
                <a:spcPts val="300"/>
              </a:spcBef>
              <a:buClr>
                <a:srgbClr val="0B61FF"/>
              </a:buClr>
              <a:buSzPct val="120000"/>
            </a:pPr>
            <a:r>
              <a:rPr lang="en-US" sz="2400" b="1" dirty="0">
                <a:latin typeface="Trebuchet MS" panose="020B0603020202020204" pitchFamily="34" charset="0"/>
              </a:rPr>
              <a:t>Simplification and Observation</a:t>
            </a:r>
            <a:r>
              <a:rPr lang="en-US" sz="2400" dirty="0">
                <a:latin typeface="Trebuchet MS" panose="020B0603020202020204" pitchFamily="34" charset="0"/>
              </a:rPr>
              <a:t>:</a:t>
            </a:r>
          </a:p>
          <a:p>
            <a:pPr algn="just" eaLnBrk="1" hangingPunct="1">
              <a:lnSpc>
                <a:spcPct val="110000"/>
              </a:lnSpc>
              <a:spcBef>
                <a:spcPts val="300"/>
              </a:spcBef>
              <a:buFontTx/>
              <a:buNone/>
            </a:pPr>
            <a:endParaRPr lang="zh-CN" altLang="en-US" sz="2400" b="1" dirty="0">
              <a:latin typeface="Trebuchet MS" panose="020B0603020202020204" pitchFamily="34" charset="0"/>
            </a:endParaRPr>
          </a:p>
        </p:txBody>
      </p:sp>
      <p:pic>
        <p:nvPicPr>
          <p:cNvPr id="9" name="Picture 4">
            <a:extLst>
              <a:ext uri="{FF2B5EF4-FFF2-40B4-BE49-F238E27FC236}">
                <a16:creationId xmlns:a16="http://schemas.microsoft.com/office/drawing/2014/main" id="{24C8F3AC-4A8E-4241-A111-B5EA47CCFB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0722" y="962482"/>
            <a:ext cx="361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B5B73688-EB88-4822-B965-1931E40A6509}"/>
              </a:ext>
            </a:extLst>
          </p:cNvPr>
          <p:cNvPicPr/>
          <p:nvPr/>
        </p:nvPicPr>
        <p:blipFill>
          <a:blip r:embed="rId6"/>
          <a:stretch>
            <a:fillRect/>
          </a:stretch>
        </p:blipFill>
        <p:spPr>
          <a:xfrm>
            <a:off x="972185" y="929275"/>
            <a:ext cx="577850" cy="241300"/>
          </a:xfrm>
          <a:prstGeom prst="rect">
            <a:avLst/>
          </a:prstGeom>
        </p:spPr>
      </p:pic>
    </p:spTree>
    <p:extLst>
      <p:ext uri="{BB962C8B-B14F-4D97-AF65-F5344CB8AC3E}">
        <p14:creationId xmlns:p14="http://schemas.microsoft.com/office/powerpoint/2010/main" val="1302919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1000"/>
                                        <p:tgtEl>
                                          <p:spTgt spid="8">
                                            <p:txEl>
                                              <p:pRg st="4" end="4"/>
                                            </p:txEl>
                                          </p:spTgt>
                                        </p:tgtEl>
                                      </p:cBhvr>
                                    </p:animEffect>
                                    <p:anim calcmode="lin" valueType="num">
                                      <p:cBhvr>
                                        <p:cTn id="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fade">
                                      <p:cBhvr>
                                        <p:cTn id="12" dur="1000"/>
                                        <p:tgtEl>
                                          <p:spTgt spid="8">
                                            <p:txEl>
                                              <p:pRg st="5" end="5"/>
                                            </p:txEl>
                                          </p:spTgt>
                                        </p:tgtEl>
                                      </p:cBhvr>
                                    </p:animEffect>
                                    <p:anim calcmode="lin" valueType="num">
                                      <p:cBhvr>
                                        <p:cTn id="1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animEffect transition="in" filter="fade">
                                      <p:cBhvr>
                                        <p:cTn id="17" dur="1000"/>
                                        <p:tgtEl>
                                          <p:spTgt spid="8">
                                            <p:txEl>
                                              <p:pRg st="6" end="6"/>
                                            </p:txEl>
                                          </p:spTgt>
                                        </p:tgtEl>
                                      </p:cBhvr>
                                    </p:animEffect>
                                    <p:anim calcmode="lin" valueType="num">
                                      <p:cBhvr>
                                        <p:cTn id="1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‌To determine the type of the Formulas(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62001"/>
            <a:ext cx="10978298" cy="5010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300"/>
              </a:spcBef>
              <a:buNone/>
            </a:pPr>
            <a:r>
              <a:rPr lang="en-US" sz="2400" b="1" dirty="0">
                <a:latin typeface="Trebuchet MS" panose="020B0603020202020204" pitchFamily="34" charset="0"/>
              </a:rPr>
              <a:t>        Example</a:t>
            </a:r>
            <a:r>
              <a:rPr lang="zh-CN" altLang="en-US" sz="2400" b="1" dirty="0">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Use </a:t>
            </a:r>
            <a:r>
              <a:rPr lang="en-US" sz="2400" b="1" dirty="0">
                <a:latin typeface="Trebuchet MS" panose="020B0603020202020204" pitchFamily="34" charset="0"/>
              </a:rPr>
              <a:t>equivalence calculus</a:t>
            </a:r>
            <a:r>
              <a:rPr lang="en-US" sz="2400" dirty="0">
                <a:latin typeface="Trebuchet MS" panose="020B0603020202020204" pitchFamily="34" charset="0"/>
              </a:rPr>
              <a:t> to determine the </a:t>
            </a:r>
            <a:r>
              <a:rPr lang="en-US" sz="2400" b="1" dirty="0">
                <a:latin typeface="Trebuchet MS" panose="020B0603020202020204" pitchFamily="34" charset="0"/>
              </a:rPr>
              <a:t>type </a:t>
            </a:r>
            <a:r>
              <a:rPr lang="en-US" sz="2400" dirty="0">
                <a:latin typeface="Trebuchet MS" panose="020B0603020202020204" pitchFamily="34" charset="0"/>
              </a:rPr>
              <a:t>of the following formula:</a:t>
            </a:r>
          </a:p>
          <a:p>
            <a:pPr eaLnBrk="1" hangingPunct="1">
              <a:lnSpc>
                <a:spcPct val="120000"/>
              </a:lnSpc>
              <a:spcBef>
                <a:spcPts val="3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rPr>
              <a:t> </a:t>
            </a:r>
          </a:p>
          <a:p>
            <a:pPr indent="307975" algn="just" eaLnBrk="1" hangingPunct="1">
              <a:lnSpc>
                <a:spcPct val="120000"/>
              </a:lnSpc>
              <a:spcBef>
                <a:spcPts val="300"/>
              </a:spcBef>
              <a:buFontTx/>
              <a:buNone/>
            </a:pPr>
            <a:r>
              <a:rPr lang="en-US" altLang="zh-CN" sz="2400" b="1" dirty="0">
                <a:latin typeface="Trebuchet MS" panose="020B0603020202020204" pitchFamily="34" charset="0"/>
              </a:rPr>
              <a:t>Solution:</a:t>
            </a:r>
            <a:r>
              <a:rPr lang="zh-CN" altLang="en-US" sz="2400" b="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p>
          <a:p>
            <a:pPr indent="936625" algn="just" eaLnBrk="1" hangingPunct="1">
              <a:lnSpc>
                <a:spcPct val="120000"/>
              </a:lnSpc>
              <a:spcBef>
                <a:spcPts val="300"/>
              </a:spcBef>
              <a:buFontTx/>
              <a:buNone/>
            </a:pP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sz="2400" dirty="0">
                <a:latin typeface="Trebuchet MS" panose="020B0603020202020204" pitchFamily="34" charset="0"/>
              </a:rPr>
              <a:t>Implication Equivalence</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936625"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sz="2400" dirty="0">
                <a:latin typeface="Trebuchet MS" panose="020B0603020202020204" pitchFamily="34" charset="0"/>
              </a:rPr>
              <a:t>De Morgan’s Law</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936625"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sz="2400" dirty="0">
                <a:latin typeface="Trebuchet MS" panose="020B0603020202020204" pitchFamily="34" charset="0"/>
              </a:rPr>
              <a:t>Commutative and Associative Laws</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936625"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0                </a:t>
            </a:r>
            <a:r>
              <a:rPr lang="en-US" altLang="zh-CN" sz="2400" b="1" dirty="0">
                <a:latin typeface="Trebuchet MS" panose="020B0603020202020204" pitchFamily="34" charset="0"/>
              </a:rPr>
              <a:t>（</a:t>
            </a:r>
            <a:r>
              <a:rPr lang="en-US" sz="2400" dirty="0">
                <a:latin typeface="Trebuchet MS" panose="020B0603020202020204" pitchFamily="34" charset="0"/>
              </a:rPr>
              <a:t>Law of Contradiction</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936625"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0                    </a:t>
            </a:r>
            <a:r>
              <a:rPr lang="zh-CN" altLang="en-US" sz="2400" b="1" dirty="0">
                <a:latin typeface="Trebuchet MS" panose="020B0603020202020204" pitchFamily="34" charset="0"/>
              </a:rPr>
              <a:t>（</a:t>
            </a:r>
            <a:r>
              <a:rPr lang="en-US" sz="2400" dirty="0">
                <a:latin typeface="Trebuchet MS" panose="020B0603020202020204" pitchFamily="34" charset="0"/>
              </a:rPr>
              <a:t>Zero Law</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307975" eaLnBrk="1" hangingPunct="1">
              <a:lnSpc>
                <a:spcPct val="120000"/>
              </a:lnSpc>
              <a:spcBef>
                <a:spcPts val="300"/>
              </a:spcBef>
              <a:buFontTx/>
              <a:buNone/>
            </a:pPr>
            <a:r>
              <a:rPr lang="en-US" sz="2400" dirty="0">
                <a:latin typeface="Trebuchet MS" panose="020B0603020202020204" pitchFamily="34" charset="0"/>
              </a:rPr>
              <a:t>Thus, the formula is a </a:t>
            </a:r>
            <a:r>
              <a:rPr lang="en-US" sz="2400" b="1" i="1" dirty="0">
                <a:latin typeface="Trebuchet MS" panose="020B0603020202020204" pitchFamily="34" charset="0"/>
              </a:rPr>
              <a:t>contradiction</a:t>
            </a:r>
            <a:r>
              <a:rPr lang="en-US" sz="2400" b="1" dirty="0">
                <a:latin typeface="Trebuchet MS" panose="020B0603020202020204" pitchFamily="34" charset="0"/>
              </a:rPr>
              <a:t>.</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5CD9249A-CC68-4D8C-96B9-4683E800727A}"/>
              </a:ext>
            </a:extLst>
          </p:cNvPr>
          <p:cNvPicPr/>
          <p:nvPr/>
        </p:nvPicPr>
        <p:blipFill>
          <a:blip r:embed="rId5"/>
          <a:stretch>
            <a:fillRect/>
          </a:stretch>
        </p:blipFill>
        <p:spPr>
          <a:xfrm>
            <a:off x="972185" y="929275"/>
            <a:ext cx="577850" cy="241300"/>
          </a:xfrm>
          <a:prstGeom prst="rect">
            <a:avLst/>
          </a:prstGeom>
        </p:spPr>
      </p:pic>
    </p:spTree>
    <p:extLst>
      <p:ext uri="{BB962C8B-B14F-4D97-AF65-F5344CB8AC3E}">
        <p14:creationId xmlns:p14="http://schemas.microsoft.com/office/powerpoint/2010/main" val="34307850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‌To determine the type of the Formulas(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62001"/>
            <a:ext cx="10978298" cy="5010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300"/>
              </a:spcBef>
              <a:buNone/>
            </a:pPr>
            <a:r>
              <a:rPr lang="en-US" sz="2400" b="1" dirty="0">
                <a:latin typeface="Trebuchet MS" panose="020B0603020202020204" pitchFamily="34" charset="0"/>
              </a:rPr>
              <a:t>        Example</a:t>
            </a:r>
            <a:r>
              <a:rPr lang="zh-CN" altLang="en-US" sz="2400" b="1" dirty="0">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Use </a:t>
            </a:r>
            <a:r>
              <a:rPr lang="en-US" sz="2400" b="1" dirty="0">
                <a:latin typeface="Trebuchet MS" panose="020B0603020202020204" pitchFamily="34" charset="0"/>
              </a:rPr>
              <a:t>equivalence calculus</a:t>
            </a:r>
            <a:r>
              <a:rPr lang="en-US" sz="2400" dirty="0">
                <a:latin typeface="Trebuchet MS" panose="020B0603020202020204" pitchFamily="34" charset="0"/>
              </a:rPr>
              <a:t> to determine the </a:t>
            </a:r>
            <a:r>
              <a:rPr lang="en-US" sz="2400" b="1" dirty="0">
                <a:latin typeface="Trebuchet MS" panose="020B0603020202020204" pitchFamily="34" charset="0"/>
              </a:rPr>
              <a:t>type </a:t>
            </a:r>
            <a:r>
              <a:rPr lang="en-US" sz="2400" dirty="0">
                <a:latin typeface="Trebuchet MS" panose="020B0603020202020204" pitchFamily="34" charset="0"/>
              </a:rPr>
              <a:t>of the following formula:</a:t>
            </a:r>
          </a:p>
          <a:p>
            <a:pPr algn="just" eaLnBrk="1" hangingPunct="1">
              <a:spcBef>
                <a:spcPct val="400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a:t>
            </a:r>
            <a:r>
              <a:rPr lang="en-US" altLang="zh-CN" sz="2400" b="1" dirty="0">
                <a:solidFill>
                  <a:srgbClr val="0B61FF"/>
                </a:solidFill>
                <a:latin typeface="Trebuchet MS" panose="020B0603020202020204" pitchFamily="34" charset="0"/>
                <a:cs typeface="Times New Roman" panose="02020603050405020304" pitchFamily="18" charset="0"/>
              </a:rPr>
              <a:t>2</a:t>
            </a:r>
            <a:r>
              <a:rPr lang="zh-CN" altLang="en-US" sz="2400" b="1" dirty="0">
                <a:solidFill>
                  <a:srgbClr val="0B61FF"/>
                </a:solidFill>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p>
          <a:p>
            <a:pPr indent="217488" algn="just" eaLnBrk="1" hangingPunct="1">
              <a:spcBef>
                <a:spcPct val="40000"/>
              </a:spcBef>
              <a:buFontTx/>
              <a:buNone/>
            </a:pPr>
            <a:r>
              <a:rPr lang="en-US" altLang="zh-CN" sz="2400" b="1" dirty="0">
                <a:latin typeface="Trebuchet MS" panose="020B0603020202020204" pitchFamily="34" charset="0"/>
              </a:rPr>
              <a:t>Solution:</a:t>
            </a: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p>
          <a:p>
            <a:pPr indent="1120775" algn="just" eaLnBrk="1" hangingPunct="1">
              <a:spcBef>
                <a:spcPct val="40000"/>
              </a:spcBef>
              <a:buFontTx/>
              <a:buNone/>
            </a:pP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dirty="0">
                <a:latin typeface="Trebuchet MS" panose="020B0603020202020204" pitchFamily="34" charset="0"/>
              </a:rPr>
              <a:t>Implication Equivalence</a:t>
            </a:r>
            <a:r>
              <a:rPr lang="zh-CN" altLang="en-US" sz="2400" b="1"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p>
          <a:p>
            <a:pPr indent="1120775" algn="just" eaLnBrk="1" hangingPunct="1">
              <a:spcBef>
                <a:spcPct val="400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dirty="0">
                <a:latin typeface="Trebuchet MS" panose="020B0603020202020204" pitchFamily="34" charset="0"/>
              </a:rPr>
              <a:t>Commutative Law</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1120775" algn="just" eaLnBrk="1" hangingPunct="1">
              <a:spcBef>
                <a:spcPct val="400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1</a:t>
            </a:r>
          </a:p>
          <a:p>
            <a:pPr indent="217488" algn="just" eaLnBrk="1" hangingPunct="1">
              <a:spcBef>
                <a:spcPct val="40000"/>
              </a:spcBef>
              <a:buFontTx/>
              <a:buNone/>
            </a:pPr>
            <a:r>
              <a:rPr lang="en-US" altLang="zh-CN" sz="2400" dirty="0">
                <a:latin typeface="Trebuchet MS" panose="020B0603020202020204" pitchFamily="34" charset="0"/>
              </a:rPr>
              <a:t>this formula is a </a:t>
            </a:r>
            <a:r>
              <a:rPr lang="en-US" altLang="zh-CN" sz="2400" b="1" dirty="0">
                <a:latin typeface="Trebuchet MS" panose="020B0603020202020204" pitchFamily="34" charset="0"/>
              </a:rPr>
              <a:t>tautology</a:t>
            </a:r>
            <a:r>
              <a:rPr lang="en-US" altLang="zh-CN" sz="2400" dirty="0">
                <a:latin typeface="Trebuchet MS" panose="020B0603020202020204" pitchFamily="34" charset="0"/>
              </a:rPr>
              <a:t> (always true).</a:t>
            </a:r>
            <a:endParaRPr lang="zh-CN" altLang="en-US" sz="2400" b="1" dirty="0">
              <a:latin typeface="Trebuchet MS" panose="020B0603020202020204" pitchFamily="34" charset="0"/>
            </a:endParaRPr>
          </a:p>
          <a:p>
            <a:pPr indent="307975" eaLnBrk="1" hangingPunct="1">
              <a:lnSpc>
                <a:spcPct val="120000"/>
              </a:lnSpc>
              <a:spcBef>
                <a:spcPts val="300"/>
              </a:spcBef>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5CD9249A-CC68-4D8C-96B9-4683E800727A}"/>
              </a:ext>
            </a:extLst>
          </p:cNvPr>
          <p:cNvPicPr/>
          <p:nvPr/>
        </p:nvPicPr>
        <p:blipFill>
          <a:blip r:embed="rId5"/>
          <a:stretch>
            <a:fillRect/>
          </a:stretch>
        </p:blipFill>
        <p:spPr>
          <a:xfrm>
            <a:off x="972185" y="929275"/>
            <a:ext cx="577850" cy="241300"/>
          </a:xfrm>
          <a:prstGeom prst="rect">
            <a:avLst/>
          </a:prstGeom>
        </p:spPr>
      </p:pic>
    </p:spTree>
    <p:extLst>
      <p:ext uri="{BB962C8B-B14F-4D97-AF65-F5344CB8AC3E}">
        <p14:creationId xmlns:p14="http://schemas.microsoft.com/office/powerpoint/2010/main" val="2224911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‌To determine the type of the Formulas(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62001"/>
            <a:ext cx="10978298" cy="5010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10000"/>
              </a:lnSpc>
              <a:spcBef>
                <a:spcPts val="3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a:t>
            </a:r>
            <a:r>
              <a:rPr lang="en-US" altLang="zh-CN" sz="2400" b="1" dirty="0">
                <a:solidFill>
                  <a:srgbClr val="0B61FF"/>
                </a:solidFill>
                <a:latin typeface="Trebuchet MS" panose="020B0603020202020204" pitchFamily="34" charset="0"/>
                <a:cs typeface="Times New Roman" panose="02020603050405020304" pitchFamily="18" charset="0"/>
              </a:rPr>
              <a:t>3</a:t>
            </a:r>
            <a:r>
              <a:rPr lang="zh-CN" altLang="en-US" sz="2400" b="1" dirty="0">
                <a:solidFill>
                  <a:srgbClr val="0B61FF"/>
                </a:solidFill>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algn="just" eaLnBrk="1" hangingPunct="1">
              <a:lnSpc>
                <a:spcPct val="110000"/>
              </a:lnSpc>
              <a:spcBef>
                <a:spcPts val="300"/>
              </a:spcBef>
              <a:buFontTx/>
              <a:buNone/>
            </a:pPr>
            <a:r>
              <a:rPr lang="en-US" altLang="zh-CN" sz="2400" b="1" dirty="0">
                <a:latin typeface="Trebuchet MS" panose="020B0603020202020204" pitchFamily="34" charset="0"/>
              </a:rPr>
              <a:t>Solution:</a:t>
            </a: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endParaRPr>
          </a:p>
          <a:p>
            <a:pPr indent="754063" algn="just"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dirty="0">
                <a:latin typeface="Trebuchet MS" panose="020B0603020202020204" pitchFamily="34" charset="0"/>
              </a:rPr>
              <a:t>Distributive Law)</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754063"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dirty="0">
                <a:latin typeface="Trebuchet MS" panose="020B0603020202020204" pitchFamily="34" charset="0"/>
              </a:rPr>
              <a:t>Law of Excluded Middle</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indent="754063"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dirty="0">
                <a:latin typeface="Trebuchet MS" panose="020B0603020202020204" pitchFamily="34" charset="0"/>
              </a:rPr>
              <a:t>Identity Law</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indent="125413">
              <a:lnSpc>
                <a:spcPct val="110000"/>
              </a:lnSpc>
              <a:spcBef>
                <a:spcPts val="300"/>
              </a:spcBef>
              <a:buClr>
                <a:srgbClr val="0B61FF"/>
              </a:buClr>
              <a:buSzPct val="120000"/>
            </a:pPr>
            <a:r>
              <a:rPr lang="en-US" altLang="zh-CN" sz="2400" dirty="0">
                <a:latin typeface="Trebuchet MS" panose="020B0603020202020204" pitchFamily="34" charset="0"/>
              </a:rPr>
              <a:t>This is a </a:t>
            </a:r>
            <a:r>
              <a:rPr lang="en-US" altLang="zh-CN" sz="2400" b="1" dirty="0">
                <a:latin typeface="Trebuchet MS" panose="020B0603020202020204" pitchFamily="34" charset="0"/>
              </a:rPr>
              <a:t>satisfiable formula</a:t>
            </a:r>
            <a:r>
              <a:rPr lang="en-US" altLang="zh-CN" sz="2400" dirty="0">
                <a:latin typeface="Trebuchet MS" panose="020B0603020202020204" pitchFamily="34" charset="0"/>
              </a:rPr>
              <a:t>, but not a </a:t>
            </a:r>
            <a:r>
              <a:rPr lang="en-US" altLang="zh-CN" sz="2400" b="1" dirty="0">
                <a:latin typeface="Trebuchet MS" panose="020B0603020202020204" pitchFamily="34" charset="0"/>
              </a:rPr>
              <a:t>tautology</a:t>
            </a:r>
            <a:r>
              <a:rPr lang="en-US" altLang="zh-CN" sz="2400" dirty="0">
                <a:latin typeface="Trebuchet MS" panose="020B0603020202020204" pitchFamily="34" charset="0"/>
              </a:rPr>
              <a:t>. For example:</a:t>
            </a:r>
          </a:p>
          <a:p>
            <a:pPr indent="125413">
              <a:lnSpc>
                <a:spcPct val="11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rPr>
              <a:t>101</a:t>
            </a:r>
            <a:r>
              <a:rPr lang="en-US" altLang="zh-CN" sz="2400" dirty="0">
                <a:latin typeface="Trebuchet MS" panose="020B0603020202020204" pitchFamily="34" charset="0"/>
              </a:rPr>
              <a:t> is a </a:t>
            </a:r>
            <a:r>
              <a:rPr lang="en-US" altLang="zh-CN" sz="2400" b="1" dirty="0">
                <a:latin typeface="Trebuchet MS" panose="020B0603020202020204" pitchFamily="34" charset="0"/>
              </a:rPr>
              <a:t>truth assignment</a:t>
            </a:r>
            <a:r>
              <a:rPr lang="en-US" altLang="zh-CN" sz="2400" dirty="0">
                <a:latin typeface="Trebuchet MS" panose="020B0603020202020204" pitchFamily="34" charset="0"/>
              </a:rPr>
              <a:t> that makes it true.</a:t>
            </a:r>
          </a:p>
          <a:p>
            <a:pPr indent="125413">
              <a:lnSpc>
                <a:spcPct val="11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rPr>
              <a:t>000</a:t>
            </a:r>
            <a:r>
              <a:rPr lang="en-US" altLang="zh-CN" sz="2400" dirty="0">
                <a:latin typeface="Trebuchet MS" panose="020B0603020202020204" pitchFamily="34" charset="0"/>
              </a:rPr>
              <a:t> is a </a:t>
            </a:r>
            <a:r>
              <a:rPr lang="en-US" altLang="zh-CN" sz="2400" b="1" dirty="0">
                <a:latin typeface="Trebuchet MS" panose="020B0603020202020204" pitchFamily="34" charset="0"/>
              </a:rPr>
              <a:t>truth assignment</a:t>
            </a:r>
            <a:r>
              <a:rPr lang="en-US" altLang="zh-CN" sz="2400" dirty="0">
                <a:latin typeface="Trebuchet MS" panose="020B0603020202020204" pitchFamily="34" charset="0"/>
              </a:rPr>
              <a:t> that makes it false.</a:t>
            </a:r>
          </a:p>
          <a:p>
            <a:pPr>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Summary:</a:t>
            </a:r>
          </a:p>
          <a:p>
            <a:pPr indent="-46038">
              <a:lnSpc>
                <a:spcPct val="11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formula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latin typeface="Trebuchet MS" panose="020B0603020202020204" pitchFamily="34" charset="0"/>
              </a:rPr>
              <a:t>contradiction</a:t>
            </a:r>
            <a:r>
              <a:rPr lang="en-US" altLang="zh-CN" sz="2400" dirty="0">
                <a:latin typeface="Trebuchet MS" panose="020B0603020202020204" pitchFamily="34" charset="0"/>
              </a:rPr>
              <a:t> if and only if A≡0.</a:t>
            </a:r>
          </a:p>
          <a:p>
            <a:pPr indent="-46038">
              <a:lnSpc>
                <a:spcPct val="11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formula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dirty="0">
                <a:latin typeface="Trebuchet MS" panose="020B0603020202020204" pitchFamily="34" charset="0"/>
              </a:rPr>
              <a:t> is a </a:t>
            </a:r>
            <a:r>
              <a:rPr lang="en-US" altLang="zh-CN" sz="2400" b="1" i="1" dirty="0">
                <a:latin typeface="Trebuchet MS" panose="020B0603020202020204" pitchFamily="34" charset="0"/>
              </a:rPr>
              <a:t>tautology</a:t>
            </a:r>
            <a:r>
              <a:rPr lang="en-US" altLang="zh-CN" sz="2400" dirty="0">
                <a:latin typeface="Trebuchet MS" panose="020B0603020202020204" pitchFamily="34" charset="0"/>
              </a:rPr>
              <a:t> if and only if A≡1.</a:t>
            </a:r>
          </a:p>
          <a:p>
            <a:pPr indent="754063" algn="just" eaLnBrk="1" hangingPunct="1">
              <a:lnSpc>
                <a:spcPct val="130000"/>
              </a:lnSpc>
              <a:spcBef>
                <a:spcPts val="300"/>
              </a:spcBef>
              <a:buFontTx/>
              <a:buNone/>
            </a:pPr>
            <a:endParaRPr lang="zh-CN" altLang="en-US" sz="2400" b="1" dirty="0">
              <a:latin typeface="Trebuchet MS" panose="020B0603020202020204" pitchFamily="34" charset="0"/>
              <a:cs typeface="Times New Roman" panose="02020603050405020304" pitchFamily="18" charset="0"/>
            </a:endParaRPr>
          </a:p>
          <a:p>
            <a:pPr indent="307975" eaLnBrk="1" hangingPunct="1">
              <a:lnSpc>
                <a:spcPct val="120000"/>
              </a:lnSpc>
              <a:spcBef>
                <a:spcPts val="30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211334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animEffect transition="in" filter="fade">
                                      <p:cBhvr>
                                        <p:cTn id="7" dur="1000"/>
                                        <p:tgtEl>
                                          <p:spTgt spid="8">
                                            <p:txEl>
                                              <p:pRg st="5" end="5"/>
                                            </p:txEl>
                                          </p:spTgt>
                                        </p:tgtEl>
                                      </p:cBhvr>
                                    </p:animEffect>
                                    <p:anim calcmode="lin" valueType="num">
                                      <p:cBhvr>
                                        <p:cTn id="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1000"/>
                                        <p:tgtEl>
                                          <p:spTgt spid="8">
                                            <p:txEl>
                                              <p:pRg st="6" end="6"/>
                                            </p:txEl>
                                          </p:spTgt>
                                        </p:tgtEl>
                                      </p:cBhvr>
                                    </p:animEffect>
                                    <p:anim calcmode="lin" valueType="num">
                                      <p:cBhvr>
                                        <p:cTn id="1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animEffect transition="in" filter="fade">
                                      <p:cBhvr>
                                        <p:cTn id="17" dur="1000"/>
                                        <p:tgtEl>
                                          <p:spTgt spid="8">
                                            <p:txEl>
                                              <p:pRg st="7" end="7"/>
                                            </p:txEl>
                                          </p:spTgt>
                                        </p:tgtEl>
                                      </p:cBhvr>
                                    </p:animEffect>
                                    <p:anim calcmode="lin" valueType="num">
                                      <p:cBhvr>
                                        <p:cTn id="1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8" end="8"/>
                                            </p:txEl>
                                          </p:spTgt>
                                        </p:tgtEl>
                                        <p:attrNameLst>
                                          <p:attrName>style.visibility</p:attrName>
                                        </p:attrNameLst>
                                      </p:cBhvr>
                                      <p:to>
                                        <p:strVal val="visible"/>
                                      </p:to>
                                    </p:set>
                                    <p:animEffect transition="in" filter="fade">
                                      <p:cBhvr>
                                        <p:cTn id="24" dur="1000"/>
                                        <p:tgtEl>
                                          <p:spTgt spid="8">
                                            <p:txEl>
                                              <p:pRg st="8" end="8"/>
                                            </p:txEl>
                                          </p:spTgt>
                                        </p:tgtEl>
                                      </p:cBhvr>
                                    </p:animEffect>
                                    <p:anim calcmode="lin" valueType="num">
                                      <p:cBhvr>
                                        <p:cTn id="25"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8" end="8"/>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animEffect transition="in" filter="fade">
                                      <p:cBhvr>
                                        <p:cTn id="29" dur="1000"/>
                                        <p:tgtEl>
                                          <p:spTgt spid="8">
                                            <p:txEl>
                                              <p:pRg st="9" end="9"/>
                                            </p:txEl>
                                          </p:spTgt>
                                        </p:tgtEl>
                                      </p:cBhvr>
                                    </p:animEffect>
                                    <p:anim calcmode="lin" valueType="num">
                                      <p:cBhvr>
                                        <p:cTn id="30"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9" end="9"/>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10" end="10"/>
                                            </p:txEl>
                                          </p:spTgt>
                                        </p:tgtEl>
                                        <p:attrNameLst>
                                          <p:attrName>style.visibility</p:attrName>
                                        </p:attrNameLst>
                                      </p:cBhvr>
                                      <p:to>
                                        <p:strVal val="visible"/>
                                      </p:to>
                                    </p:set>
                                    <p:animEffect transition="in" filter="fade">
                                      <p:cBhvr>
                                        <p:cTn id="34" dur="1000"/>
                                        <p:tgtEl>
                                          <p:spTgt spid="8">
                                            <p:txEl>
                                              <p:pRg st="10" end="10"/>
                                            </p:txEl>
                                          </p:spTgt>
                                        </p:tgtEl>
                                      </p:cBhvr>
                                    </p:animEffect>
                                    <p:anim calcmode="lin" valueType="num">
                                      <p:cBhvr>
                                        <p:cTn id="35"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Truth-Value Function</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978235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kumimoji="0" lang="zh-CN" altLang="en-US" sz="2400" b="1" dirty="0">
                <a:latin typeface="Trebuchet MS" panose="020B0603020202020204" pitchFamily="34" charset="0"/>
              </a:rPr>
              <a:t>2.12</a:t>
            </a:r>
            <a:r>
              <a:rPr kumimoji="0" lang="en-US" altLang="zh-CN" sz="2400" b="1" dirty="0">
                <a:latin typeface="Trebuchet MS" panose="020B0603020202020204" pitchFamily="34" charset="0"/>
              </a:rPr>
              <a:t>: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cs typeface="Times New Roman" panose="02020603050405020304" pitchFamily="18" charset="0"/>
              </a:rPr>
              <a:t>F</a:t>
            </a:r>
            <a:r>
              <a:rPr kumimoji="0" lang="en-US" altLang="zh-CN" sz="2400" b="1" dirty="0">
                <a:latin typeface="Trebuchet MS" panose="020B0603020202020204" pitchFamily="34" charset="0"/>
                <a:cs typeface="Times New Roman" panose="02020603050405020304" pitchFamily="18" charset="0"/>
              </a:rPr>
              <a:t>:{0,1}</a:t>
            </a:r>
            <a:r>
              <a:rPr kumimoji="0" lang="en-US" altLang="zh-CN" sz="2400" b="1" i="1" baseline="30000" dirty="0">
                <a:latin typeface="Trebuchet MS" panose="020B0603020202020204" pitchFamily="34" charset="0"/>
                <a:cs typeface="Times New Roman" panose="02020603050405020304" pitchFamily="18" charset="0"/>
              </a:rPr>
              <a:t>n</a:t>
            </a:r>
            <a:r>
              <a:rPr kumimoji="0"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kumimoji="0" lang="en-US" altLang="zh-CN" sz="2400" b="1" dirty="0">
                <a:latin typeface="Trebuchet MS" panose="020B0603020202020204" pitchFamily="34" charset="0"/>
                <a:cs typeface="Times New Roman" panose="02020603050405020304" pitchFamily="18" charset="0"/>
              </a:rPr>
              <a:t>{0,1}</a:t>
            </a:r>
            <a:r>
              <a:rPr lang="en-US" sz="2400" b="1" dirty="0">
                <a:latin typeface="Trebuchet MS" panose="020B0603020202020204" pitchFamily="34" charset="0"/>
              </a:rPr>
              <a:t> n-</a:t>
            </a:r>
            <a:r>
              <a:rPr lang="en-US" sz="2400" b="1" dirty="0" err="1">
                <a:latin typeface="Trebuchet MS" panose="020B0603020202020204" pitchFamily="34" charset="0"/>
              </a:rPr>
              <a:t>ary</a:t>
            </a:r>
            <a:r>
              <a:rPr lang="en-US" sz="2400" b="1" dirty="0">
                <a:latin typeface="Trebuchet MS" panose="020B0603020202020204" pitchFamily="34" charset="0"/>
              </a:rPr>
              <a:t> truth-value function</a:t>
            </a:r>
            <a:r>
              <a:rPr lang="en-US" sz="2400" dirty="0">
                <a:latin typeface="Trebuchet MS" panose="020B0603020202020204" pitchFamily="34" charset="0"/>
              </a:rPr>
              <a:t>.</a:t>
            </a:r>
          </a:p>
          <a:p>
            <a:pPr marL="354013" indent="-171450">
              <a:lnSpc>
                <a:spcPct val="120000"/>
              </a:lnSpc>
              <a:spcBef>
                <a:spcPts val="300"/>
              </a:spcBef>
              <a:buClr>
                <a:srgbClr val="0B61FF"/>
              </a:buClr>
              <a:buSzPct val="120000"/>
            </a:pPr>
            <a:r>
              <a:rPr lang="en-US" sz="2400" dirty="0">
                <a:latin typeface="Trebuchet MS" panose="020B0603020202020204" pitchFamily="34" charset="0"/>
              </a:rPr>
              <a:t>The </a:t>
            </a:r>
            <a:r>
              <a:rPr lang="en-US" sz="2400" b="1" dirty="0">
                <a:latin typeface="Trebuchet MS" panose="020B0603020202020204" pitchFamily="34" charset="0"/>
              </a:rPr>
              <a:t>n</a:t>
            </a:r>
            <a:r>
              <a:rPr lang="en-US" sz="2400" dirty="0">
                <a:latin typeface="Trebuchet MS" panose="020B0603020202020204" pitchFamily="34" charset="0"/>
              </a:rPr>
              <a:t> propositional variables can form </a:t>
            </a:r>
            <a:r>
              <a:rPr lang="en-US" sz="2400" b="1" dirty="0">
                <a:latin typeface="Trebuchet MS" panose="020B0603020202020204" pitchFamily="34" charset="0"/>
              </a:rPr>
              <a:t>    </a:t>
            </a:r>
            <a:r>
              <a:rPr lang="en-US" sz="2400" dirty="0">
                <a:latin typeface="Trebuchet MS" panose="020B0603020202020204" pitchFamily="34" charset="0"/>
              </a:rPr>
              <a:t>truth-value functions (</a:t>
            </a:r>
            <a:r>
              <a:rPr lang="en-US" sz="2400" b="1" dirty="0">
                <a:latin typeface="Trebuchet MS" panose="020B0603020202020204" pitchFamily="34" charset="0"/>
              </a:rPr>
              <a:t>n≥1</a:t>
            </a:r>
            <a:r>
              <a:rPr lang="en-US" sz="2400" dirty="0">
                <a:latin typeface="Trebuchet MS" panose="020B0603020202020204" pitchFamily="34" charset="0"/>
              </a:rPr>
              <a:t>).</a:t>
            </a:r>
          </a:p>
          <a:p>
            <a:pPr marL="354013" indent="-171450">
              <a:lnSpc>
                <a:spcPct val="120000"/>
              </a:lnSpc>
              <a:spcBef>
                <a:spcPts val="300"/>
              </a:spcBef>
              <a:buClr>
                <a:srgbClr val="0B61FF"/>
              </a:buClr>
              <a:buSzPct val="120000"/>
            </a:pPr>
            <a:r>
              <a:rPr lang="en-US" sz="2400" dirty="0">
                <a:latin typeface="Trebuchet MS" panose="020B0603020202020204" pitchFamily="34" charset="0"/>
              </a:rPr>
              <a:t>Each </a:t>
            </a:r>
            <a:r>
              <a:rPr lang="en-US" sz="2400" b="1" dirty="0">
                <a:latin typeface="Trebuchet MS" panose="020B0603020202020204" pitchFamily="34" charset="0"/>
              </a:rPr>
              <a:t>propositional formula</a:t>
            </a:r>
            <a:r>
              <a:rPr lang="en-US" sz="2400" dirty="0">
                <a:latin typeface="Trebuchet MS" panose="020B0603020202020204" pitchFamily="34" charset="0"/>
              </a:rPr>
              <a:t> corresponds to a </a:t>
            </a:r>
            <a:r>
              <a:rPr lang="en-US" sz="2400" b="1" dirty="0">
                <a:latin typeface="Trebuchet MS" panose="020B0603020202020204" pitchFamily="34" charset="0"/>
              </a:rPr>
              <a:t>truth-value function</a:t>
            </a:r>
            <a:r>
              <a:rPr lang="en-US" sz="2400" dirty="0">
                <a:latin typeface="Trebuchet MS" panose="020B0603020202020204" pitchFamily="34" charset="0"/>
              </a:rPr>
              <a:t>.</a:t>
            </a:r>
          </a:p>
          <a:p>
            <a:pPr marL="354013" indent="-171450">
              <a:lnSpc>
                <a:spcPct val="120000"/>
              </a:lnSpc>
              <a:spcBef>
                <a:spcPts val="300"/>
              </a:spcBef>
              <a:buClr>
                <a:srgbClr val="0B61FF"/>
              </a:buClr>
              <a:buSzPct val="120000"/>
            </a:pPr>
            <a:r>
              <a:rPr lang="en-US" sz="2400" dirty="0">
                <a:latin typeface="Trebuchet MS" panose="020B0603020202020204" pitchFamily="34" charset="0"/>
              </a:rPr>
              <a:t>Each </a:t>
            </a:r>
            <a:r>
              <a:rPr lang="en-US" sz="2400" b="1" dirty="0">
                <a:latin typeface="Trebuchet MS" panose="020B0603020202020204" pitchFamily="34" charset="0"/>
              </a:rPr>
              <a:t>truth-value function</a:t>
            </a:r>
            <a:r>
              <a:rPr lang="en-US" sz="2400" dirty="0">
                <a:latin typeface="Trebuchet MS" panose="020B0603020202020204" pitchFamily="34" charset="0"/>
              </a:rPr>
              <a:t> corresponds to </a:t>
            </a:r>
            <a:r>
              <a:rPr lang="en-US" sz="2400" b="1" dirty="0">
                <a:latin typeface="Trebuchet MS" panose="020B0603020202020204" pitchFamily="34" charset="0"/>
              </a:rPr>
              <a:t>infinitely many propositional formulas</a:t>
            </a:r>
            <a:r>
              <a:rPr lang="en-US" sz="2400" dirty="0">
                <a:latin typeface="Trebuchet MS" panose="020B0603020202020204" pitchFamily="34" charset="0"/>
              </a:rPr>
              <a:t>.</a:t>
            </a:r>
          </a:p>
          <a:p>
            <a:pPr algn="just" eaLnBrk="1" hangingPunct="1">
              <a:lnSpc>
                <a:spcPct val="120000"/>
              </a:lnSpc>
              <a:spcBef>
                <a:spcPts val="300"/>
              </a:spcBef>
              <a:buFontTx/>
              <a:buNone/>
            </a:pPr>
            <a:endParaRPr lang="zh-CN" altLang="en-US" sz="2400" b="1" dirty="0">
              <a:latin typeface="Trebuchet MS" panose="020B0603020202020204" pitchFamily="34" charset="0"/>
            </a:endParaRPr>
          </a:p>
        </p:txBody>
      </p:sp>
      <p:grpSp>
        <p:nvGrpSpPr>
          <p:cNvPr id="9" name="Group 16">
            <a:extLst>
              <a:ext uri="{FF2B5EF4-FFF2-40B4-BE49-F238E27FC236}">
                <a16:creationId xmlns:a16="http://schemas.microsoft.com/office/drawing/2014/main" id="{2634A9E0-AF4A-4B90-8EAD-A6548A62BE9A}"/>
              </a:ext>
            </a:extLst>
          </p:cNvPr>
          <p:cNvGrpSpPr>
            <a:grpSpLocks/>
          </p:cNvGrpSpPr>
          <p:nvPr/>
        </p:nvGrpSpPr>
        <p:grpSpPr bwMode="auto">
          <a:xfrm>
            <a:off x="2939747" y="4162107"/>
            <a:ext cx="4876800" cy="2133600"/>
            <a:chOff x="1104" y="2064"/>
            <a:chExt cx="3072" cy="1344"/>
          </a:xfrm>
        </p:grpSpPr>
        <p:sp>
          <p:nvSpPr>
            <p:cNvPr id="10" name="Text Box 8">
              <a:extLst>
                <a:ext uri="{FF2B5EF4-FFF2-40B4-BE49-F238E27FC236}">
                  <a16:creationId xmlns:a16="http://schemas.microsoft.com/office/drawing/2014/main" id="{0705464A-54C9-4C43-95AA-1FC84FF3E63D}"/>
                </a:ext>
              </a:extLst>
            </p:cNvPr>
            <p:cNvSpPr txBox="1">
              <a:spLocks noChangeArrowheads="1"/>
            </p:cNvSpPr>
            <p:nvPr/>
          </p:nvSpPr>
          <p:spPr bwMode="auto">
            <a:xfrm>
              <a:off x="1473" y="2064"/>
              <a:ext cx="251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lang="en-US" sz="2400" dirty="0">
                  <a:solidFill>
                    <a:schemeClr val="tx1"/>
                  </a:solidFill>
                  <a:latin typeface="Trebuchet MS" panose="020B0603020202020204" pitchFamily="34" charset="0"/>
                </a:rPr>
                <a:t>1-ary Truth-Value Function</a:t>
              </a:r>
              <a:endParaRPr lang="zh-CN" altLang="en-US" sz="2400" b="1" dirty="0">
                <a:solidFill>
                  <a:schemeClr val="tx1"/>
                </a:solidFill>
                <a:latin typeface="Trebuchet MS" panose="020B0603020202020204" pitchFamily="34" charset="0"/>
                <a:ea typeface="宋体" panose="02010600030101010101" pitchFamily="2" charset="-122"/>
              </a:endParaRPr>
            </a:p>
          </p:txBody>
        </p:sp>
        <p:grpSp>
          <p:nvGrpSpPr>
            <p:cNvPr id="11" name="Group 15">
              <a:extLst>
                <a:ext uri="{FF2B5EF4-FFF2-40B4-BE49-F238E27FC236}">
                  <a16:creationId xmlns:a16="http://schemas.microsoft.com/office/drawing/2014/main" id="{B43527D3-204C-4227-8D9B-B0D600914A0B}"/>
                </a:ext>
              </a:extLst>
            </p:cNvPr>
            <p:cNvGrpSpPr>
              <a:grpSpLocks/>
            </p:cNvGrpSpPr>
            <p:nvPr/>
          </p:nvGrpSpPr>
          <p:grpSpPr bwMode="auto">
            <a:xfrm>
              <a:off x="1104" y="2400"/>
              <a:ext cx="3072" cy="1008"/>
              <a:chOff x="432" y="2544"/>
              <a:chExt cx="3072" cy="1008"/>
            </a:xfrm>
          </p:grpSpPr>
          <p:sp>
            <p:nvSpPr>
              <p:cNvPr id="12" name="Text Box 9">
                <a:extLst>
                  <a:ext uri="{FF2B5EF4-FFF2-40B4-BE49-F238E27FC236}">
                    <a16:creationId xmlns:a16="http://schemas.microsoft.com/office/drawing/2014/main" id="{0ADCC632-3E34-44B5-B16B-5277306811AF}"/>
                  </a:ext>
                </a:extLst>
              </p:cNvPr>
              <p:cNvSpPr txBox="1">
                <a:spLocks noChangeArrowheads="1"/>
              </p:cNvSpPr>
              <p:nvPr/>
            </p:nvSpPr>
            <p:spPr bwMode="auto">
              <a:xfrm>
                <a:off x="480" y="2544"/>
                <a:ext cx="2976" cy="978"/>
              </a:xfrm>
              <a:prstGeom prst="rect">
                <a:avLst/>
              </a:prstGeom>
              <a:solidFill>
                <a:schemeClr val="bg1"/>
              </a:solid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i="1" dirty="0">
                    <a:solidFill>
                      <a:schemeClr val="tx1"/>
                    </a:solidFill>
                    <a:latin typeface="Times New Roman" panose="02020603050405020304" pitchFamily="18" charset="0"/>
                    <a:ea typeface="宋体" panose="02010600030101010101" pitchFamily="2" charset="-122"/>
                  </a:rPr>
                  <a:t>p</a:t>
                </a:r>
                <a:r>
                  <a:rPr lang="en-US" altLang="zh-CN" sz="2400" b="1" dirty="0">
                    <a:solidFill>
                      <a:schemeClr val="tx1"/>
                    </a:solidFill>
                    <a:latin typeface="Times New Roman" panose="02020603050405020304" pitchFamily="18" charset="0"/>
                    <a:ea typeface="宋体" panose="02010600030101010101" pitchFamily="2" charset="-122"/>
                  </a:rPr>
                  <a:t>  </a:t>
                </a:r>
              </a:p>
              <a:p>
                <a:pPr algn="l" eaLnBrk="1" hangingPunct="1">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  0           0           0          1           1</a:t>
                </a:r>
              </a:p>
              <a:p>
                <a:pPr algn="l" eaLnBrk="1" hangingPunct="1">
                  <a:spcBef>
                    <a:spcPct val="50000"/>
                  </a:spcBef>
                </a:pPr>
                <a:r>
                  <a:rPr lang="zh-CN" altLang="en-US" sz="2400" b="1" dirty="0">
                    <a:solidFill>
                      <a:schemeClr val="tx1"/>
                    </a:solidFill>
                    <a:latin typeface="Times New Roman" panose="02020603050405020304" pitchFamily="18" charset="0"/>
                    <a:ea typeface="宋体" panose="02010600030101010101" pitchFamily="2" charset="-122"/>
                  </a:rPr>
                  <a:t>  1           0           1          0           1 </a:t>
                </a:r>
              </a:p>
            </p:txBody>
          </p:sp>
          <p:graphicFrame>
            <p:nvGraphicFramePr>
              <p:cNvPr id="14" name="Object 0">
                <a:extLst>
                  <a:ext uri="{FF2B5EF4-FFF2-40B4-BE49-F238E27FC236}">
                    <a16:creationId xmlns:a16="http://schemas.microsoft.com/office/drawing/2014/main" id="{C1372AD4-91C5-44E0-9DE1-7E6003E9F8F2}"/>
                  </a:ext>
                </a:extLst>
              </p:cNvPr>
              <p:cNvGraphicFramePr>
                <a:graphicFrameLocks noChangeAspect="1"/>
              </p:cNvGraphicFramePr>
              <p:nvPr/>
            </p:nvGraphicFramePr>
            <p:xfrm>
              <a:off x="1166" y="2592"/>
              <a:ext cx="2146" cy="319"/>
            </p:xfrm>
            <a:graphic>
              <a:graphicData uri="http://schemas.openxmlformats.org/presentationml/2006/ole">
                <mc:AlternateContent xmlns:mc="http://schemas.openxmlformats.org/markup-compatibility/2006">
                  <mc:Choice xmlns:v="urn:schemas-microsoft-com:vml" Requires="v">
                    <p:oleObj spid="_x0000_s2078" name="Equation" r:id="rId6" imgW="1600200" imgH="241200" progId="Equation.3">
                      <p:embed/>
                    </p:oleObj>
                  </mc:Choice>
                  <mc:Fallback>
                    <p:oleObj name="Equation" r:id="rId6" imgW="1600200" imgH="241200" progId="Equation.3">
                      <p:embed/>
                      <p:pic>
                        <p:nvPicPr>
                          <p:cNvPr id="14" name="Object 0">
                            <a:extLst>
                              <a:ext uri="{FF2B5EF4-FFF2-40B4-BE49-F238E27FC236}">
                                <a16:creationId xmlns:a16="http://schemas.microsoft.com/office/drawing/2014/main" id="{C1372AD4-91C5-44E0-9DE1-7E6003E9F8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6" y="2592"/>
                            <a:ext cx="2146" cy="3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Line 11">
                <a:extLst>
                  <a:ext uri="{FF2B5EF4-FFF2-40B4-BE49-F238E27FC236}">
                    <a16:creationId xmlns:a16="http://schemas.microsoft.com/office/drawing/2014/main" id="{38F3DF02-C61F-4093-83FC-CAD912715CFF}"/>
                  </a:ext>
                </a:extLst>
              </p:cNvPr>
              <p:cNvSpPr>
                <a:spLocks noChangeShapeType="1"/>
              </p:cNvSpPr>
              <p:nvPr/>
            </p:nvSpPr>
            <p:spPr bwMode="auto">
              <a:xfrm>
                <a:off x="432" y="2880"/>
                <a:ext cx="3072"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6" name="Line 12">
                <a:extLst>
                  <a:ext uri="{FF2B5EF4-FFF2-40B4-BE49-F238E27FC236}">
                    <a16:creationId xmlns:a16="http://schemas.microsoft.com/office/drawing/2014/main" id="{B7929770-9C9A-4183-ADAA-BA6780EF3507}"/>
                  </a:ext>
                </a:extLst>
              </p:cNvPr>
              <p:cNvSpPr>
                <a:spLocks noChangeShapeType="1"/>
              </p:cNvSpPr>
              <p:nvPr/>
            </p:nvSpPr>
            <p:spPr bwMode="auto">
              <a:xfrm>
                <a:off x="432" y="2544"/>
                <a:ext cx="30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 name="Line 13">
                <a:extLst>
                  <a:ext uri="{FF2B5EF4-FFF2-40B4-BE49-F238E27FC236}">
                    <a16:creationId xmlns:a16="http://schemas.microsoft.com/office/drawing/2014/main" id="{52BFB4E4-634A-4853-B7F3-D66D2CB94F36}"/>
                  </a:ext>
                </a:extLst>
              </p:cNvPr>
              <p:cNvSpPr>
                <a:spLocks noChangeShapeType="1"/>
              </p:cNvSpPr>
              <p:nvPr/>
            </p:nvSpPr>
            <p:spPr bwMode="auto">
              <a:xfrm>
                <a:off x="432" y="3552"/>
                <a:ext cx="30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 name="Line 14">
                <a:extLst>
                  <a:ext uri="{FF2B5EF4-FFF2-40B4-BE49-F238E27FC236}">
                    <a16:creationId xmlns:a16="http://schemas.microsoft.com/office/drawing/2014/main" id="{90DB829D-4EF9-4B32-AA48-307C192C8D46}"/>
                  </a:ext>
                </a:extLst>
              </p:cNvPr>
              <p:cNvSpPr>
                <a:spLocks noChangeShapeType="1"/>
              </p:cNvSpPr>
              <p:nvPr/>
            </p:nvSpPr>
            <p:spPr bwMode="auto">
              <a:xfrm>
                <a:off x="1008" y="2544"/>
                <a:ext cx="0" cy="10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aphicFrame>
        <p:nvGraphicFramePr>
          <p:cNvPr id="4" name="对象 3">
            <a:extLst>
              <a:ext uri="{FF2B5EF4-FFF2-40B4-BE49-F238E27FC236}">
                <a16:creationId xmlns:a16="http://schemas.microsoft.com/office/drawing/2014/main" id="{72DD996B-6653-A2EB-38D3-417AAD0317E0}"/>
              </a:ext>
            </a:extLst>
          </p:cNvPr>
          <p:cNvGraphicFramePr>
            <a:graphicFrameLocks noChangeAspect="1"/>
          </p:cNvGraphicFramePr>
          <p:nvPr>
            <p:extLst>
              <p:ext uri="{D42A27DB-BD31-4B8C-83A1-F6EECF244321}">
                <p14:modId xmlns:p14="http://schemas.microsoft.com/office/powerpoint/2010/main" val="3435000453"/>
              </p:ext>
            </p:extLst>
          </p:nvPr>
        </p:nvGraphicFramePr>
        <p:xfrm>
          <a:off x="6583111" y="1260534"/>
          <a:ext cx="488950" cy="488950"/>
        </p:xfrm>
        <a:graphic>
          <a:graphicData uri="http://schemas.openxmlformats.org/presentationml/2006/ole">
            <mc:AlternateContent xmlns:mc="http://schemas.openxmlformats.org/markup-compatibility/2006">
              <mc:Choice xmlns:v="urn:schemas-microsoft-com:vml" Requires="v">
                <p:oleObj spid="_x0000_s2079" name="Equation" r:id="rId8" imgW="488958" imgH="489016" progId="Equation.DSMT4">
                  <p:embed/>
                </p:oleObj>
              </mc:Choice>
              <mc:Fallback>
                <p:oleObj name="Equation" r:id="rId8" imgW="488958" imgH="489016" progId="Equation.DSMT4">
                  <p:embed/>
                  <p:pic>
                    <p:nvPicPr>
                      <p:cNvPr id="3" name="对象 2">
                        <a:extLst>
                          <a:ext uri="{FF2B5EF4-FFF2-40B4-BE49-F238E27FC236}">
                            <a16:creationId xmlns:a16="http://schemas.microsoft.com/office/drawing/2014/main" id="{C90BBE4A-3B77-46A2-ADCA-CDB6C3BC7E7D}"/>
                          </a:ext>
                        </a:extLst>
                      </p:cNvPr>
                      <p:cNvPicPr/>
                      <p:nvPr/>
                    </p:nvPicPr>
                    <p:blipFill>
                      <a:blip r:embed="rId9"/>
                      <a:stretch>
                        <a:fillRect/>
                      </a:stretch>
                    </p:blipFill>
                    <p:spPr>
                      <a:xfrm>
                        <a:off x="6583111" y="1260534"/>
                        <a:ext cx="488950" cy="488950"/>
                      </a:xfrm>
                      <a:prstGeom prst="rect">
                        <a:avLst/>
                      </a:prstGeom>
                      <a:noFill/>
                    </p:spPr>
                  </p:pic>
                </p:oleObj>
              </mc:Fallback>
            </mc:AlternateContent>
          </a:graphicData>
        </a:graphic>
      </p:graphicFrame>
    </p:spTree>
    <p:extLst>
      <p:ext uri="{BB962C8B-B14F-4D97-AF65-F5344CB8AC3E}">
        <p14:creationId xmlns:p14="http://schemas.microsoft.com/office/powerpoint/2010/main" val="4024543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2.2.1 Equivalence Expressions and Equivalence Calculus</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2-ary Truth-Value Function</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11162" y="868731"/>
            <a:ext cx="9442742"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FontTx/>
              <a:buNone/>
            </a:pPr>
            <a:endParaRPr lang="zh-CN" altLang="en-US" sz="2800" b="1" dirty="0"/>
          </a:p>
        </p:txBody>
      </p:sp>
      <p:sp>
        <p:nvSpPr>
          <p:cNvPr id="33" name="Text Box 4">
            <a:extLst>
              <a:ext uri="{FF2B5EF4-FFF2-40B4-BE49-F238E27FC236}">
                <a16:creationId xmlns:a16="http://schemas.microsoft.com/office/drawing/2014/main" id="{16F2ADCB-F518-4CC2-AADF-D72BE3951845}"/>
              </a:ext>
            </a:extLst>
          </p:cNvPr>
          <p:cNvSpPr txBox="1">
            <a:spLocks noChangeArrowheads="1"/>
          </p:cNvSpPr>
          <p:nvPr/>
        </p:nvSpPr>
        <p:spPr bwMode="auto">
          <a:xfrm>
            <a:off x="3277144" y="990600"/>
            <a:ext cx="41577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lang="en-US" sz="2400" dirty="0">
                <a:solidFill>
                  <a:schemeClr val="tx1"/>
                </a:solidFill>
                <a:latin typeface="Trebuchet MS" panose="020B0603020202020204" pitchFamily="34" charset="0"/>
              </a:rPr>
              <a:t>2-ary Truth-Value Function</a:t>
            </a:r>
            <a:endParaRPr lang="zh-CN" altLang="en-US" sz="2400" b="1" dirty="0">
              <a:solidFill>
                <a:schemeClr val="tx1"/>
              </a:solidFill>
              <a:latin typeface="Trebuchet MS" panose="020B0603020202020204" pitchFamily="34" charset="0"/>
              <a:ea typeface="宋体" panose="02010600030101010101" pitchFamily="2" charset="-122"/>
            </a:endParaRPr>
          </a:p>
        </p:txBody>
      </p:sp>
      <p:grpSp>
        <p:nvGrpSpPr>
          <p:cNvPr id="34" name="Group 15">
            <a:extLst>
              <a:ext uri="{FF2B5EF4-FFF2-40B4-BE49-F238E27FC236}">
                <a16:creationId xmlns:a16="http://schemas.microsoft.com/office/drawing/2014/main" id="{AE97F596-BD9F-4B51-9B6F-5B3AA871B471}"/>
              </a:ext>
            </a:extLst>
          </p:cNvPr>
          <p:cNvGrpSpPr>
            <a:grpSpLocks/>
          </p:cNvGrpSpPr>
          <p:nvPr/>
        </p:nvGrpSpPr>
        <p:grpSpPr bwMode="auto">
          <a:xfrm>
            <a:off x="1132115" y="1600200"/>
            <a:ext cx="7467600" cy="4648200"/>
            <a:chOff x="480" y="960"/>
            <a:chExt cx="4704" cy="2928"/>
          </a:xfrm>
          <a:solidFill>
            <a:schemeClr val="bg1"/>
          </a:solidFill>
        </p:grpSpPr>
        <p:sp>
          <p:nvSpPr>
            <p:cNvPr id="35" name="Text Box 5">
              <a:extLst>
                <a:ext uri="{FF2B5EF4-FFF2-40B4-BE49-F238E27FC236}">
                  <a16:creationId xmlns:a16="http://schemas.microsoft.com/office/drawing/2014/main" id="{D8502BAC-D77B-4F4F-8F48-44BBE1227B11}"/>
                </a:ext>
              </a:extLst>
            </p:cNvPr>
            <p:cNvSpPr txBox="1">
              <a:spLocks noChangeArrowheads="1"/>
            </p:cNvSpPr>
            <p:nvPr/>
          </p:nvSpPr>
          <p:spPr bwMode="auto">
            <a:xfrm>
              <a:off x="480" y="960"/>
              <a:ext cx="4704" cy="2841"/>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lang="en-US" altLang="zh-CN" sz="2400" b="1" dirty="0">
                  <a:solidFill>
                    <a:schemeClr val="tx1"/>
                  </a:solidFill>
                  <a:latin typeface="Times New Roman" panose="02020603050405020304" pitchFamily="18" charset="0"/>
                  <a:ea typeface="宋体" panose="02010600030101010101" pitchFamily="2" charset="-122"/>
                </a:rPr>
                <a:t> </a:t>
              </a:r>
              <a:r>
                <a:rPr lang="en-US" altLang="zh-CN" sz="2400" b="1" i="1" dirty="0">
                  <a:solidFill>
                    <a:schemeClr val="tx1"/>
                  </a:solidFill>
                  <a:latin typeface="Times New Roman" panose="02020603050405020304" pitchFamily="18" charset="0"/>
                  <a:ea typeface="宋体" panose="02010600030101010101" pitchFamily="2" charset="-122"/>
                </a:rPr>
                <a:t>p  q</a:t>
              </a:r>
            </a:p>
            <a:p>
              <a:pPr algn="l" eaLnBrk="1" hangingPunct="1">
                <a:spcBef>
                  <a:spcPct val="50000"/>
                </a:spcBef>
              </a:pPr>
              <a:r>
                <a:rPr lang="en-US" altLang="zh-CN" sz="2400" b="1" i="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0  0        0        0        0         0        0         0        0        0</a:t>
              </a:r>
            </a:p>
            <a:p>
              <a:pPr algn="l" eaLnBrk="1" hangingPunct="1">
                <a:spcBef>
                  <a:spcPct val="10000"/>
                </a:spcBef>
              </a:pPr>
              <a:r>
                <a:rPr lang="en-US" altLang="zh-CN" sz="2400" b="1" dirty="0">
                  <a:solidFill>
                    <a:schemeClr val="tx1"/>
                  </a:solidFill>
                  <a:latin typeface="Times New Roman" panose="02020603050405020304" pitchFamily="18" charset="0"/>
                  <a:ea typeface="宋体" panose="02010600030101010101" pitchFamily="2" charset="-122"/>
                </a:rPr>
                <a:t> 0  1        0        0        0         0        1         1        1        1 </a:t>
              </a:r>
            </a:p>
            <a:p>
              <a:pPr algn="l" eaLnBrk="1" hangingPunct="1">
                <a:spcBef>
                  <a:spcPct val="10000"/>
                </a:spcBef>
              </a:pPr>
              <a:r>
                <a:rPr lang="en-US" altLang="zh-CN" sz="2400" b="1" dirty="0">
                  <a:solidFill>
                    <a:schemeClr val="tx1"/>
                  </a:solidFill>
                  <a:latin typeface="Times New Roman" panose="02020603050405020304" pitchFamily="18" charset="0"/>
                  <a:ea typeface="宋体" panose="02010600030101010101" pitchFamily="2" charset="-122"/>
                </a:rPr>
                <a:t> 1  0        0        0        1         1        0         0        1        1</a:t>
              </a:r>
            </a:p>
            <a:p>
              <a:pPr algn="l" eaLnBrk="1" hangingPunct="1">
                <a:spcBef>
                  <a:spcPct val="10000"/>
                </a:spcBef>
              </a:pPr>
              <a:r>
                <a:rPr lang="en-US" altLang="zh-CN" sz="2400" b="1" dirty="0">
                  <a:solidFill>
                    <a:schemeClr val="tx1"/>
                  </a:solidFill>
                  <a:latin typeface="Times New Roman" panose="02020603050405020304" pitchFamily="18" charset="0"/>
                  <a:ea typeface="宋体" panose="02010600030101010101" pitchFamily="2" charset="-122"/>
                </a:rPr>
                <a:t> 1  1        0        1        0         1        0         1        0        1</a:t>
              </a:r>
            </a:p>
            <a:p>
              <a:pPr algn="l" eaLnBrk="1" hangingPunct="1">
                <a:spcBef>
                  <a:spcPct val="50000"/>
                </a:spcBef>
              </a:pPr>
              <a:r>
                <a:rPr lang="en-US" altLang="zh-CN" sz="2400" b="1" i="1" dirty="0">
                  <a:solidFill>
                    <a:schemeClr val="tx1"/>
                  </a:solidFill>
                  <a:latin typeface="Times New Roman" panose="02020603050405020304" pitchFamily="18" charset="0"/>
                  <a:ea typeface="宋体" panose="02010600030101010101" pitchFamily="2" charset="-122"/>
                </a:rPr>
                <a:t> p  q</a:t>
              </a:r>
            </a:p>
            <a:p>
              <a:pPr algn="l" eaLnBrk="1" hangingPunct="1">
                <a:spcBef>
                  <a:spcPct val="50000"/>
                </a:spcBef>
              </a:pPr>
              <a:r>
                <a:rPr lang="en-US" altLang="zh-CN" sz="2400" b="1" i="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0  0        1        1        1         1        1         1        1        1</a:t>
              </a:r>
            </a:p>
            <a:p>
              <a:pPr algn="l" eaLnBrk="1" hangingPunct="1">
                <a:spcBef>
                  <a:spcPct val="10000"/>
                </a:spcBef>
              </a:pPr>
              <a:r>
                <a:rPr lang="en-US" altLang="zh-CN" sz="2400" b="1" dirty="0">
                  <a:solidFill>
                    <a:schemeClr val="tx1"/>
                  </a:solidFill>
                  <a:latin typeface="Times New Roman" panose="02020603050405020304" pitchFamily="18" charset="0"/>
                  <a:ea typeface="宋体" panose="02010600030101010101" pitchFamily="2" charset="-122"/>
                </a:rPr>
                <a:t> 0  1        0        0        0         0        1         1        1        1 </a:t>
              </a:r>
            </a:p>
            <a:p>
              <a:pPr algn="l" eaLnBrk="1" hangingPunct="1">
                <a:spcBef>
                  <a:spcPct val="10000"/>
                </a:spcBef>
              </a:pPr>
              <a:r>
                <a:rPr lang="en-US" altLang="zh-CN" sz="2400" b="1" dirty="0">
                  <a:solidFill>
                    <a:schemeClr val="tx1"/>
                  </a:solidFill>
                  <a:latin typeface="Times New Roman" panose="02020603050405020304" pitchFamily="18" charset="0"/>
                  <a:ea typeface="宋体" panose="02010600030101010101" pitchFamily="2" charset="-122"/>
                </a:rPr>
                <a:t> 1  0        0        0        1         1        0         0        1        1</a:t>
              </a:r>
            </a:p>
            <a:p>
              <a:pPr algn="l" eaLnBrk="1" hangingPunct="1">
                <a:spcBef>
                  <a:spcPct val="10000"/>
                </a:spcBef>
              </a:pPr>
              <a:r>
                <a:rPr lang="en-US" altLang="zh-CN" sz="2400" b="1" dirty="0">
                  <a:solidFill>
                    <a:schemeClr val="tx1"/>
                  </a:solidFill>
                  <a:latin typeface="Times New Roman" panose="02020603050405020304" pitchFamily="18" charset="0"/>
                  <a:ea typeface="宋体" panose="02010600030101010101" pitchFamily="2" charset="-122"/>
                </a:rPr>
                <a:t> 1  1        0        1        0         1        0         1        0        1</a:t>
              </a:r>
            </a:p>
          </p:txBody>
        </p:sp>
        <p:graphicFrame>
          <p:nvGraphicFramePr>
            <p:cNvPr id="36" name="Object 6">
              <a:extLst>
                <a:ext uri="{FF2B5EF4-FFF2-40B4-BE49-F238E27FC236}">
                  <a16:creationId xmlns:a16="http://schemas.microsoft.com/office/drawing/2014/main" id="{814241FF-EAF4-4398-9BEF-067FE1B34B5E}"/>
                </a:ext>
              </a:extLst>
            </p:cNvPr>
            <p:cNvGraphicFramePr>
              <a:graphicFrameLocks noChangeAspect="1"/>
            </p:cNvGraphicFramePr>
            <p:nvPr/>
          </p:nvGraphicFramePr>
          <p:xfrm>
            <a:off x="1248" y="1028"/>
            <a:ext cx="3844" cy="268"/>
          </p:xfrm>
          <a:graphic>
            <a:graphicData uri="http://schemas.openxmlformats.org/presentationml/2006/ole">
              <mc:AlternateContent xmlns:mc="http://schemas.openxmlformats.org/markup-compatibility/2006">
                <mc:Choice xmlns:v="urn:schemas-microsoft-com:vml" Requires="v">
                  <p:oleObj spid="_x0000_s3102" name="Equation" r:id="rId6" imgW="3416040" imgH="241200" progId="Equation.3">
                    <p:embed/>
                  </p:oleObj>
                </mc:Choice>
                <mc:Fallback>
                  <p:oleObj name="Equation" r:id="rId6" imgW="3416040" imgH="241200" progId="Equation.3">
                    <p:embed/>
                    <p:pic>
                      <p:nvPicPr>
                        <p:cNvPr id="36" name="Object 6">
                          <a:extLst>
                            <a:ext uri="{FF2B5EF4-FFF2-40B4-BE49-F238E27FC236}">
                              <a16:creationId xmlns:a16="http://schemas.microsoft.com/office/drawing/2014/main" id="{814241FF-EAF4-4398-9BEF-067FE1B34B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8" y="1028"/>
                          <a:ext cx="3844"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7">
              <a:extLst>
                <a:ext uri="{FF2B5EF4-FFF2-40B4-BE49-F238E27FC236}">
                  <a16:creationId xmlns:a16="http://schemas.microsoft.com/office/drawing/2014/main" id="{CB8A3CE1-7474-4E5F-B2B8-DAF365A788FB}"/>
                </a:ext>
              </a:extLst>
            </p:cNvPr>
            <p:cNvGraphicFramePr>
              <a:graphicFrameLocks noChangeAspect="1"/>
            </p:cNvGraphicFramePr>
            <p:nvPr/>
          </p:nvGraphicFramePr>
          <p:xfrm>
            <a:off x="1248" y="2468"/>
            <a:ext cx="3854" cy="268"/>
          </p:xfrm>
          <a:graphic>
            <a:graphicData uri="http://schemas.openxmlformats.org/presentationml/2006/ole">
              <mc:AlternateContent xmlns:mc="http://schemas.openxmlformats.org/markup-compatibility/2006">
                <mc:Choice xmlns:v="urn:schemas-microsoft-com:vml" Requires="v">
                  <p:oleObj spid="_x0000_s3103" name="Equation" r:id="rId8" imgW="3416040" imgH="241200" progId="Equation.3">
                    <p:embed/>
                  </p:oleObj>
                </mc:Choice>
                <mc:Fallback>
                  <p:oleObj name="Equation" r:id="rId8" imgW="3416040" imgH="241200" progId="Equation.3">
                    <p:embed/>
                    <p:pic>
                      <p:nvPicPr>
                        <p:cNvPr id="37" name="Object 7">
                          <a:extLst>
                            <a:ext uri="{FF2B5EF4-FFF2-40B4-BE49-F238E27FC236}">
                              <a16:creationId xmlns:a16="http://schemas.microsoft.com/office/drawing/2014/main" id="{CB8A3CE1-7474-4E5F-B2B8-DAF365A788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8" y="2468"/>
                          <a:ext cx="3854"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Line 8">
              <a:extLst>
                <a:ext uri="{FF2B5EF4-FFF2-40B4-BE49-F238E27FC236}">
                  <a16:creationId xmlns:a16="http://schemas.microsoft.com/office/drawing/2014/main" id="{BB63EDAF-258A-493B-B8F0-567A0CF3B462}"/>
                </a:ext>
              </a:extLst>
            </p:cNvPr>
            <p:cNvSpPr>
              <a:spLocks noChangeShapeType="1"/>
            </p:cNvSpPr>
            <p:nvPr/>
          </p:nvSpPr>
          <p:spPr bwMode="auto">
            <a:xfrm>
              <a:off x="528" y="1296"/>
              <a:ext cx="4656" cy="0"/>
            </a:xfrm>
            <a:prstGeom prst="line">
              <a:avLst/>
            </a:prstGeom>
            <a:grpFill/>
            <a:ln w="6350">
              <a:solidFill>
                <a:schemeClr val="tx1"/>
              </a:solidFill>
              <a:round/>
              <a:headEnd/>
              <a:tailEnd/>
            </a:ln>
          </p:spPr>
          <p:txBody>
            <a:bodyPr wrap="none" anchor="ctr">
              <a:spAutoFit/>
            </a:bodyPr>
            <a:lstStyle/>
            <a:p>
              <a:endParaRPr lang="zh-CN" altLang="en-US"/>
            </a:p>
          </p:txBody>
        </p:sp>
        <p:sp>
          <p:nvSpPr>
            <p:cNvPr id="39" name="Line 9">
              <a:extLst>
                <a:ext uri="{FF2B5EF4-FFF2-40B4-BE49-F238E27FC236}">
                  <a16:creationId xmlns:a16="http://schemas.microsoft.com/office/drawing/2014/main" id="{62D230E8-E7A5-40A1-8DA4-51C423F987B5}"/>
                </a:ext>
              </a:extLst>
            </p:cNvPr>
            <p:cNvSpPr>
              <a:spLocks noChangeShapeType="1"/>
            </p:cNvSpPr>
            <p:nvPr/>
          </p:nvSpPr>
          <p:spPr bwMode="auto">
            <a:xfrm>
              <a:off x="528" y="2736"/>
              <a:ext cx="4656" cy="0"/>
            </a:xfrm>
            <a:prstGeom prst="line">
              <a:avLst/>
            </a:prstGeom>
            <a:grpFill/>
            <a:ln w="6350">
              <a:solidFill>
                <a:schemeClr val="tx1"/>
              </a:solidFill>
              <a:round/>
              <a:headEnd/>
              <a:tailEnd/>
            </a:ln>
          </p:spPr>
          <p:txBody>
            <a:bodyPr wrap="none" anchor="ctr">
              <a:spAutoFit/>
            </a:bodyPr>
            <a:lstStyle/>
            <a:p>
              <a:endParaRPr lang="zh-CN" altLang="en-US"/>
            </a:p>
          </p:txBody>
        </p:sp>
        <p:sp>
          <p:nvSpPr>
            <p:cNvPr id="40" name="Line 10">
              <a:extLst>
                <a:ext uri="{FF2B5EF4-FFF2-40B4-BE49-F238E27FC236}">
                  <a16:creationId xmlns:a16="http://schemas.microsoft.com/office/drawing/2014/main" id="{6AFA177E-86BD-4C39-BB48-C0224D8A2251}"/>
                </a:ext>
              </a:extLst>
            </p:cNvPr>
            <p:cNvSpPr>
              <a:spLocks noChangeShapeType="1"/>
            </p:cNvSpPr>
            <p:nvPr/>
          </p:nvSpPr>
          <p:spPr bwMode="auto">
            <a:xfrm>
              <a:off x="528" y="960"/>
              <a:ext cx="4656" cy="0"/>
            </a:xfrm>
            <a:prstGeom prst="line">
              <a:avLst/>
            </a:prstGeom>
            <a:grpFill/>
            <a:ln w="28575">
              <a:solidFill>
                <a:schemeClr val="tx1"/>
              </a:solidFill>
              <a:round/>
              <a:headEnd/>
              <a:tailEnd/>
            </a:ln>
          </p:spPr>
          <p:txBody>
            <a:bodyPr wrap="none" anchor="ctr">
              <a:spAutoFit/>
            </a:bodyPr>
            <a:lstStyle/>
            <a:p>
              <a:endParaRPr lang="zh-CN" altLang="en-US"/>
            </a:p>
          </p:txBody>
        </p:sp>
        <p:sp>
          <p:nvSpPr>
            <p:cNvPr id="41" name="Line 11">
              <a:extLst>
                <a:ext uri="{FF2B5EF4-FFF2-40B4-BE49-F238E27FC236}">
                  <a16:creationId xmlns:a16="http://schemas.microsoft.com/office/drawing/2014/main" id="{23EA83E4-A5C1-45A4-85F9-65EA993AF46C}"/>
                </a:ext>
              </a:extLst>
            </p:cNvPr>
            <p:cNvSpPr>
              <a:spLocks noChangeShapeType="1"/>
            </p:cNvSpPr>
            <p:nvPr/>
          </p:nvSpPr>
          <p:spPr bwMode="auto">
            <a:xfrm>
              <a:off x="528" y="2400"/>
              <a:ext cx="4656" cy="0"/>
            </a:xfrm>
            <a:prstGeom prst="line">
              <a:avLst/>
            </a:prstGeom>
            <a:grpFill/>
            <a:ln w="28575">
              <a:solidFill>
                <a:schemeClr val="tx1"/>
              </a:solidFill>
              <a:round/>
              <a:headEnd/>
              <a:tailEnd/>
            </a:ln>
          </p:spPr>
          <p:txBody>
            <a:bodyPr wrap="none" anchor="ctr">
              <a:spAutoFit/>
            </a:bodyPr>
            <a:lstStyle/>
            <a:p>
              <a:endParaRPr lang="zh-CN" altLang="en-US"/>
            </a:p>
          </p:txBody>
        </p:sp>
        <p:sp>
          <p:nvSpPr>
            <p:cNvPr id="42" name="Line 12">
              <a:extLst>
                <a:ext uri="{FF2B5EF4-FFF2-40B4-BE49-F238E27FC236}">
                  <a16:creationId xmlns:a16="http://schemas.microsoft.com/office/drawing/2014/main" id="{D341F93F-AA08-4A8C-8F22-FA97F5825D97}"/>
                </a:ext>
              </a:extLst>
            </p:cNvPr>
            <p:cNvSpPr>
              <a:spLocks noChangeShapeType="1"/>
            </p:cNvSpPr>
            <p:nvPr/>
          </p:nvSpPr>
          <p:spPr bwMode="auto">
            <a:xfrm>
              <a:off x="528" y="3840"/>
              <a:ext cx="4656" cy="0"/>
            </a:xfrm>
            <a:prstGeom prst="line">
              <a:avLst/>
            </a:prstGeom>
            <a:grpFill/>
            <a:ln w="28575">
              <a:solidFill>
                <a:schemeClr val="tx1"/>
              </a:solidFill>
              <a:round/>
              <a:headEnd/>
              <a:tailEnd/>
            </a:ln>
          </p:spPr>
          <p:txBody>
            <a:bodyPr wrap="none" anchor="ctr">
              <a:spAutoFit/>
            </a:bodyPr>
            <a:lstStyle/>
            <a:p>
              <a:endParaRPr lang="zh-CN" altLang="en-US"/>
            </a:p>
          </p:txBody>
        </p:sp>
        <p:sp>
          <p:nvSpPr>
            <p:cNvPr id="43" name="Line 13">
              <a:extLst>
                <a:ext uri="{FF2B5EF4-FFF2-40B4-BE49-F238E27FC236}">
                  <a16:creationId xmlns:a16="http://schemas.microsoft.com/office/drawing/2014/main" id="{3B6907B8-7BA6-4D8F-943D-B0C6009C09F4}"/>
                </a:ext>
              </a:extLst>
            </p:cNvPr>
            <p:cNvSpPr>
              <a:spLocks noChangeShapeType="1"/>
            </p:cNvSpPr>
            <p:nvPr/>
          </p:nvSpPr>
          <p:spPr bwMode="auto">
            <a:xfrm>
              <a:off x="1152" y="960"/>
              <a:ext cx="0" cy="2928"/>
            </a:xfrm>
            <a:prstGeom prst="line">
              <a:avLst/>
            </a:prstGeom>
            <a:grpFill/>
            <a:ln w="6350">
              <a:solidFill>
                <a:schemeClr val="tx1"/>
              </a:solidFill>
              <a:round/>
              <a:headEnd/>
              <a:tailEnd/>
            </a:ln>
          </p:spPr>
          <p:txBody>
            <a:bodyPr wrap="none" anchor="ctr">
              <a:spAutoFit/>
            </a:bodyPr>
            <a:lstStyle/>
            <a:p>
              <a:endParaRPr lang="zh-CN" altLang="en-US"/>
            </a:p>
          </p:txBody>
        </p:sp>
      </p:grpSp>
    </p:spTree>
    <p:extLst>
      <p:ext uri="{BB962C8B-B14F-4D97-AF65-F5344CB8AC3E}">
        <p14:creationId xmlns:p14="http://schemas.microsoft.com/office/powerpoint/2010/main" val="3888017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2.2.2 Connective Complete Set</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t>Definition</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442742"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FontTx/>
              <a:buNone/>
            </a:pPr>
            <a:endParaRPr lang="zh-CN" altLang="en-US" sz="2800" b="1" dirty="0"/>
          </a:p>
        </p:txBody>
      </p:sp>
      <p:sp>
        <p:nvSpPr>
          <p:cNvPr id="23" name="Rectangle 3">
            <a:extLst>
              <a:ext uri="{FF2B5EF4-FFF2-40B4-BE49-F238E27FC236}">
                <a16:creationId xmlns:a16="http://schemas.microsoft.com/office/drawing/2014/main" id="{F4D3AF53-CFC4-475B-AAB4-D2024A398F2E}"/>
              </a:ext>
            </a:extLst>
          </p:cNvPr>
          <p:cNvSpPr txBox="1">
            <a:spLocks noChangeArrowheads="1"/>
          </p:cNvSpPr>
          <p:nvPr/>
        </p:nvSpPr>
        <p:spPr>
          <a:xfrm>
            <a:off x="824681"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sz="2800" b="1" dirty="0"/>
          </a:p>
        </p:txBody>
      </p:sp>
      <p:sp>
        <p:nvSpPr>
          <p:cNvPr id="24" name="Rectangle 3">
            <a:extLst>
              <a:ext uri="{FF2B5EF4-FFF2-40B4-BE49-F238E27FC236}">
                <a16:creationId xmlns:a16="http://schemas.microsoft.com/office/drawing/2014/main" id="{962959FF-CF58-4E5B-9CDC-1AD783DFDAC3}"/>
              </a:ext>
            </a:extLst>
          </p:cNvPr>
          <p:cNvSpPr txBox="1">
            <a:spLocks noChangeArrowheads="1"/>
          </p:cNvSpPr>
          <p:nvPr/>
        </p:nvSpPr>
        <p:spPr>
          <a:xfrm>
            <a:off x="1066800" y="827322"/>
            <a:ext cx="10587228" cy="57258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2.13: </a:t>
            </a:r>
            <a:r>
              <a:rPr lang="en-US" sz="2400" dirty="0">
                <a:latin typeface="Trebuchet MS" panose="020B0603020202020204" pitchFamily="34" charset="0"/>
              </a:rPr>
              <a:t>Let </a:t>
            </a:r>
            <a:r>
              <a:rPr lang="en-US" sz="2400" b="1" i="1" dirty="0">
                <a:latin typeface="Trebuchet MS" panose="020B0603020202020204" pitchFamily="34" charset="0"/>
              </a:rPr>
              <a:t>S</a:t>
            </a:r>
            <a:r>
              <a:rPr lang="en-US" sz="2400" dirty="0">
                <a:latin typeface="Trebuchet MS" panose="020B0603020202020204" pitchFamily="34" charset="0"/>
              </a:rPr>
              <a:t> be a set of logical connectives. If any </a:t>
            </a:r>
            <a:r>
              <a:rPr lang="en-US" sz="2400" b="1" dirty="0">
                <a:latin typeface="Trebuchet MS" panose="020B0603020202020204" pitchFamily="34" charset="0"/>
              </a:rPr>
              <a:t>n-</a:t>
            </a:r>
            <a:r>
              <a:rPr lang="en-US" sz="2400" b="1" dirty="0" err="1">
                <a:latin typeface="Trebuchet MS" panose="020B0603020202020204" pitchFamily="34" charset="0"/>
              </a:rPr>
              <a:t>ary</a:t>
            </a:r>
            <a:r>
              <a:rPr lang="en-US" sz="2400" b="1" dirty="0">
                <a:latin typeface="Trebuchet MS" panose="020B0603020202020204" pitchFamily="34" charset="0"/>
              </a:rPr>
              <a:t> (where n≥1)</a:t>
            </a:r>
            <a:r>
              <a:rPr lang="en-US" sz="2400" dirty="0">
                <a:latin typeface="Trebuchet MS" panose="020B0603020202020204" pitchFamily="34" charset="0"/>
              </a:rPr>
              <a:t> truth-value function can be represented by a formula containing only the connectives in </a:t>
            </a:r>
            <a:r>
              <a:rPr lang="en-US" sz="2400" b="1" i="1" dirty="0">
                <a:latin typeface="Trebuchet MS" panose="020B0603020202020204" pitchFamily="34" charset="0"/>
              </a:rPr>
              <a:t>S</a:t>
            </a:r>
            <a:r>
              <a:rPr lang="en-US" sz="2400" dirty="0">
                <a:latin typeface="Trebuchet MS" panose="020B0603020202020204" pitchFamily="34" charset="0"/>
              </a:rPr>
              <a:t>, then </a:t>
            </a:r>
            <a:r>
              <a:rPr lang="en-US" sz="2400" b="1" i="1" dirty="0">
                <a:latin typeface="Trebuchet MS" panose="020B0603020202020204" pitchFamily="34" charset="0"/>
              </a:rPr>
              <a:t>S</a:t>
            </a:r>
            <a:r>
              <a:rPr lang="en-US" sz="2400" i="1" dirty="0">
                <a:latin typeface="Trebuchet MS" panose="020B0603020202020204" pitchFamily="34" charset="0"/>
              </a:rPr>
              <a:t> </a:t>
            </a:r>
            <a:r>
              <a:rPr lang="en-US" sz="2400" dirty="0">
                <a:latin typeface="Trebuchet MS" panose="020B0603020202020204" pitchFamily="34" charset="0"/>
              </a:rPr>
              <a:t>is called a </a:t>
            </a:r>
            <a:r>
              <a:rPr lang="en-US" sz="2400" b="1" dirty="0">
                <a:latin typeface="Trebuchet MS" panose="020B0603020202020204" pitchFamily="34" charset="0"/>
              </a:rPr>
              <a:t>functionally complete set</a:t>
            </a:r>
            <a:r>
              <a:rPr lang="en-US" sz="2400" dirty="0">
                <a:latin typeface="Trebuchet MS" panose="020B0603020202020204" pitchFamily="34" charset="0"/>
              </a:rPr>
              <a:t> (or </a:t>
            </a:r>
            <a:r>
              <a:rPr lang="en-US" sz="2400" b="1" i="1" dirty="0">
                <a:latin typeface="Trebuchet MS" panose="020B0603020202020204" pitchFamily="34" charset="0"/>
              </a:rPr>
              <a:t>complete set of connectives</a:t>
            </a:r>
            <a:r>
              <a:rPr lang="en-US" sz="2400" dirty="0">
                <a:latin typeface="Trebuchet MS" panose="020B0603020202020204" pitchFamily="34" charset="0"/>
              </a:rPr>
              <a:t>).</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Theorem 2.1: </a:t>
            </a:r>
            <a:r>
              <a:rPr lang="en-US" sz="2400" dirty="0">
                <a:latin typeface="Trebuchet MS" panose="020B0603020202020204" pitchFamily="34" charset="0"/>
              </a:rPr>
              <a:t>The following sets of logical connectives are functionally complete.</a:t>
            </a:r>
          </a:p>
          <a:p>
            <a:pPr indent="34925" algn="just">
              <a:lnSpc>
                <a:spcPct val="120000"/>
              </a:lnSpc>
              <a:spcBef>
                <a:spcPts val="3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(1) </a:t>
            </a:r>
            <a:r>
              <a:rPr lang="en-US" altLang="zh-CN" sz="2400" b="1" i="1" dirty="0">
                <a:latin typeface="Trebuchet MS" panose="020B0603020202020204" pitchFamily="34" charset="0"/>
                <a:cs typeface="Times New Roman" panose="02020603050405020304" pitchFamily="18" charset="0"/>
              </a:rPr>
              <a:t>S</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p>
          <a:p>
            <a:pPr indent="34925" algn="just">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(2) </a:t>
            </a:r>
            <a:r>
              <a:rPr lang="en-US" altLang="zh-CN" sz="2400" b="1" i="1" dirty="0">
                <a:latin typeface="Trebuchet MS" panose="020B0603020202020204" pitchFamily="34" charset="0"/>
                <a:cs typeface="Times New Roman" panose="02020603050405020304" pitchFamily="18" charset="0"/>
              </a:rPr>
              <a:t>S</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p>
          <a:p>
            <a:pPr indent="34925" algn="just">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(3) </a:t>
            </a:r>
            <a:r>
              <a:rPr lang="en-US" altLang="zh-CN" sz="2400" b="1" i="1" dirty="0">
                <a:latin typeface="Trebuchet MS" panose="020B0603020202020204" pitchFamily="34" charset="0"/>
                <a:cs typeface="Times New Roman" panose="02020603050405020304" pitchFamily="18" charset="0"/>
              </a:rPr>
              <a:t>S</a:t>
            </a:r>
            <a:r>
              <a:rPr lang="en-US" altLang="zh-CN" sz="2400" b="1" baseline="-30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p>
          <a:p>
            <a:pPr indent="34925" algn="just">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(4) </a:t>
            </a:r>
            <a:r>
              <a:rPr lang="en-US" altLang="zh-CN" sz="2400" b="1" i="1" dirty="0">
                <a:latin typeface="Trebuchet MS" panose="020B0603020202020204" pitchFamily="34" charset="0"/>
                <a:cs typeface="Times New Roman" panose="02020603050405020304" pitchFamily="18" charset="0"/>
              </a:rPr>
              <a:t>S</a:t>
            </a:r>
            <a:r>
              <a:rPr lang="en-US" altLang="zh-CN" sz="2400" b="1" baseline="-30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p>
          <a:p>
            <a:pPr indent="34925" algn="just">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(5) </a:t>
            </a:r>
            <a:r>
              <a:rPr lang="en-US" altLang="zh-CN" sz="2400" b="1" i="1" dirty="0">
                <a:latin typeface="Trebuchet MS" panose="020B0603020202020204" pitchFamily="34" charset="0"/>
                <a:cs typeface="Times New Roman" panose="02020603050405020304" pitchFamily="18" charset="0"/>
              </a:rPr>
              <a:t>S</a:t>
            </a:r>
            <a:r>
              <a:rPr lang="en-US" altLang="zh-CN" sz="2400" b="1" baseline="-30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p>
          <a:p>
            <a:pPr indent="34925" algn="just">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(6) </a:t>
            </a:r>
            <a:r>
              <a:rPr lang="en-US" altLang="zh-CN" sz="2400" b="1" dirty="0">
                <a:latin typeface="Trebuchet MS" panose="020B0603020202020204" pitchFamily="34" charset="0"/>
                <a:cs typeface="Times New Roman" panose="02020603050405020304" pitchFamily="18" charset="0"/>
              </a:rPr>
              <a:t>S</a:t>
            </a:r>
            <a:r>
              <a:rPr lang="en-US" altLang="zh-CN" sz="2400" b="1" baseline="-30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cs typeface="Times New Roman" panose="02020603050405020304" pitchFamily="18" charset="0"/>
            </a:endParaRPr>
          </a:p>
        </p:txBody>
      </p:sp>
      <p:sp>
        <p:nvSpPr>
          <p:cNvPr id="25" name="Text Box 5">
            <a:extLst>
              <a:ext uri="{FF2B5EF4-FFF2-40B4-BE49-F238E27FC236}">
                <a16:creationId xmlns:a16="http://schemas.microsoft.com/office/drawing/2014/main" id="{2C890223-F607-4910-BB01-6EBB446659C1}"/>
              </a:ext>
            </a:extLst>
          </p:cNvPr>
          <p:cNvSpPr txBox="1">
            <a:spLocks noChangeArrowheads="1"/>
          </p:cNvSpPr>
          <p:nvPr/>
        </p:nvSpPr>
        <p:spPr bwMode="auto">
          <a:xfrm>
            <a:off x="5018316" y="4082069"/>
            <a:ext cx="43194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endParaRPr kumimoji="1"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
        <p:nvSpPr>
          <p:cNvPr id="26" name="Text Box 6">
            <a:extLst>
              <a:ext uri="{FF2B5EF4-FFF2-40B4-BE49-F238E27FC236}">
                <a16:creationId xmlns:a16="http://schemas.microsoft.com/office/drawing/2014/main" id="{98F800D3-00A7-48B2-A718-769F25A34794}"/>
              </a:ext>
            </a:extLst>
          </p:cNvPr>
          <p:cNvSpPr txBox="1">
            <a:spLocks noChangeArrowheads="1"/>
          </p:cNvSpPr>
          <p:nvPr/>
        </p:nvSpPr>
        <p:spPr bwMode="auto">
          <a:xfrm>
            <a:off x="5018316" y="4556144"/>
            <a:ext cx="43194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endParaRPr kumimoji="1" lang="zh-CN" altLang="en-US"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
        <p:nvSpPr>
          <p:cNvPr id="27" name="Text Box 7">
            <a:extLst>
              <a:ext uri="{FF2B5EF4-FFF2-40B4-BE49-F238E27FC236}">
                <a16:creationId xmlns:a16="http://schemas.microsoft.com/office/drawing/2014/main" id="{6EA5B55E-0519-40DA-8AF0-070FB81941CC}"/>
              </a:ext>
            </a:extLst>
          </p:cNvPr>
          <p:cNvSpPr txBox="1">
            <a:spLocks noChangeArrowheads="1"/>
          </p:cNvSpPr>
          <p:nvPr/>
        </p:nvSpPr>
        <p:spPr bwMode="auto">
          <a:xfrm>
            <a:off x="5018316" y="5030219"/>
            <a:ext cx="5289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endParaRPr kumimoji="1"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
        <p:nvSpPr>
          <p:cNvPr id="28" name="Text Box 8">
            <a:extLst>
              <a:ext uri="{FF2B5EF4-FFF2-40B4-BE49-F238E27FC236}">
                <a16:creationId xmlns:a16="http://schemas.microsoft.com/office/drawing/2014/main" id="{CEC1279B-AB92-4C15-BA0E-6BE9D99BB4B4}"/>
              </a:ext>
            </a:extLst>
          </p:cNvPr>
          <p:cNvSpPr txBox="1">
            <a:spLocks noChangeArrowheads="1"/>
          </p:cNvSpPr>
          <p:nvPr/>
        </p:nvSpPr>
        <p:spPr bwMode="auto">
          <a:xfrm>
            <a:off x="5018316" y="5504293"/>
            <a:ext cx="43194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endParaRPr kumimoji="1"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
        <p:nvSpPr>
          <p:cNvPr id="29" name="Text Box 9">
            <a:extLst>
              <a:ext uri="{FF2B5EF4-FFF2-40B4-BE49-F238E27FC236}">
                <a16:creationId xmlns:a16="http://schemas.microsoft.com/office/drawing/2014/main" id="{309F9D83-4245-4EA8-9E6E-C9C4A836C51B}"/>
              </a:ext>
            </a:extLst>
          </p:cNvPr>
          <p:cNvSpPr txBox="1">
            <a:spLocks noChangeArrowheads="1"/>
          </p:cNvSpPr>
          <p:nvPr/>
        </p:nvSpPr>
        <p:spPr bwMode="auto">
          <a:xfrm>
            <a:off x="5018316" y="5978367"/>
            <a:ext cx="46721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50000"/>
              </a:spcBef>
            </a:pP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kumimoji="1" lang="en-US" altLang="zh-CN" sz="2400" b="1" dirty="0">
                <a:solidFill>
                  <a:srgbClr val="3333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endParaRPr kumimoji="1" lang="zh-CN" altLang="en-US"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
        <p:nvSpPr>
          <p:cNvPr id="4" name="Rectangle 2">
            <a:extLst>
              <a:ext uri="{FF2B5EF4-FFF2-40B4-BE49-F238E27FC236}">
                <a16:creationId xmlns:a16="http://schemas.microsoft.com/office/drawing/2014/main" id="{E392114E-7DF5-2B8E-3C61-AF05D3DF4185}"/>
              </a:ext>
            </a:extLst>
          </p:cNvPr>
          <p:cNvSpPr>
            <a:spLocks noChangeArrowheads="1"/>
          </p:cNvSpPr>
          <p:nvPr/>
        </p:nvSpPr>
        <p:spPr bwMode="auto">
          <a:xfrm>
            <a:off x="5490375" y="3237066"/>
            <a:ext cx="60737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why negation always include in complete 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70798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fade">
                                      <p:cBhvr>
                                        <p:cTn id="7" dur="1000"/>
                                        <p:tgtEl>
                                          <p:spTgt spid="24">
                                            <p:txEl>
                                              <p:pRg st="1" end="1"/>
                                            </p:txEl>
                                          </p:spTgt>
                                        </p:tgtEl>
                                      </p:cBhvr>
                                    </p:animEffect>
                                    <p:anim calcmode="lin" valueType="num">
                                      <p:cBhvr>
                                        <p:cTn id="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xEl>
                                              <p:pRg st="2" end="2"/>
                                            </p:txEl>
                                          </p:spTgt>
                                        </p:tgtEl>
                                        <p:attrNameLst>
                                          <p:attrName>style.visibility</p:attrName>
                                        </p:attrNameLst>
                                      </p:cBhvr>
                                      <p:to>
                                        <p:strVal val="visible"/>
                                      </p:to>
                                    </p:set>
                                    <p:animEffect transition="in" filter="fade">
                                      <p:cBhvr>
                                        <p:cTn id="14" dur="1000"/>
                                        <p:tgtEl>
                                          <p:spTgt spid="24">
                                            <p:txEl>
                                              <p:pRg st="2" end="2"/>
                                            </p:txEl>
                                          </p:spTgt>
                                        </p:tgtEl>
                                      </p:cBhvr>
                                    </p:animEffect>
                                    <p:anim calcmode="lin" valueType="num">
                                      <p:cBhvr>
                                        <p:cTn id="15" dur="1000" fill="hold"/>
                                        <p:tgtEl>
                                          <p:spTgt spid="2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xEl>
                                              <p:pRg st="3" end="3"/>
                                            </p:txEl>
                                          </p:spTgt>
                                        </p:tgtEl>
                                        <p:attrNameLst>
                                          <p:attrName>style.visibility</p:attrName>
                                        </p:attrNameLst>
                                      </p:cBhvr>
                                      <p:to>
                                        <p:strVal val="visible"/>
                                      </p:to>
                                    </p:set>
                                    <p:animEffect transition="in" filter="fade">
                                      <p:cBhvr>
                                        <p:cTn id="21" dur="1000"/>
                                        <p:tgtEl>
                                          <p:spTgt spid="24">
                                            <p:txEl>
                                              <p:pRg st="3" end="3"/>
                                            </p:txEl>
                                          </p:spTgt>
                                        </p:tgtEl>
                                      </p:cBhvr>
                                    </p:animEffect>
                                    <p:anim calcmode="lin" valueType="num">
                                      <p:cBhvr>
                                        <p:cTn id="22" dur="1000" fill="hold"/>
                                        <p:tgtEl>
                                          <p:spTgt spid="2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1+#ppt_w/2"/>
                                          </p:val>
                                        </p:tav>
                                        <p:tav tm="100000">
                                          <p:val>
                                            <p:strVal val="#ppt_x"/>
                                          </p:val>
                                        </p:tav>
                                      </p:tavLst>
                                    </p:anim>
                                    <p:anim calcmode="lin" valueType="num">
                                      <p:cBhvr additive="base">
                                        <p:cTn id="29"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4">
                                            <p:txEl>
                                              <p:pRg st="4" end="4"/>
                                            </p:txEl>
                                          </p:spTgt>
                                        </p:tgtEl>
                                        <p:attrNameLst>
                                          <p:attrName>style.visibility</p:attrName>
                                        </p:attrNameLst>
                                      </p:cBhvr>
                                      <p:to>
                                        <p:strVal val="visible"/>
                                      </p:to>
                                    </p:set>
                                    <p:animEffect transition="in" filter="fade">
                                      <p:cBhvr>
                                        <p:cTn id="34" dur="1000"/>
                                        <p:tgtEl>
                                          <p:spTgt spid="24">
                                            <p:txEl>
                                              <p:pRg st="4" end="4"/>
                                            </p:txEl>
                                          </p:spTgt>
                                        </p:tgtEl>
                                      </p:cBhvr>
                                    </p:animEffect>
                                    <p:anim calcmode="lin" valueType="num">
                                      <p:cBhvr>
                                        <p:cTn id="35" dur="1000" fill="hold"/>
                                        <p:tgtEl>
                                          <p:spTgt spid="24">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fill="hold"/>
                                        <p:tgtEl>
                                          <p:spTgt spid="26"/>
                                        </p:tgtEl>
                                        <p:attrNameLst>
                                          <p:attrName>ppt_x</p:attrName>
                                        </p:attrNameLst>
                                      </p:cBhvr>
                                      <p:tavLst>
                                        <p:tav tm="0">
                                          <p:val>
                                            <p:strVal val="1+#ppt_w/2"/>
                                          </p:val>
                                        </p:tav>
                                        <p:tav tm="100000">
                                          <p:val>
                                            <p:strVal val="#ppt_x"/>
                                          </p:val>
                                        </p:tav>
                                      </p:tavLst>
                                    </p:anim>
                                    <p:anim calcmode="lin" valueType="num">
                                      <p:cBhvr additive="base">
                                        <p:cTn id="42"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4">
                                            <p:txEl>
                                              <p:pRg st="5" end="5"/>
                                            </p:txEl>
                                          </p:spTgt>
                                        </p:tgtEl>
                                        <p:attrNameLst>
                                          <p:attrName>style.visibility</p:attrName>
                                        </p:attrNameLst>
                                      </p:cBhvr>
                                      <p:to>
                                        <p:strVal val="visible"/>
                                      </p:to>
                                    </p:set>
                                    <p:animEffect transition="in" filter="fade">
                                      <p:cBhvr>
                                        <p:cTn id="47" dur="1000"/>
                                        <p:tgtEl>
                                          <p:spTgt spid="24">
                                            <p:txEl>
                                              <p:pRg st="5" end="5"/>
                                            </p:txEl>
                                          </p:spTgt>
                                        </p:tgtEl>
                                      </p:cBhvr>
                                    </p:animEffect>
                                    <p:anim calcmode="lin" valueType="num">
                                      <p:cBhvr>
                                        <p:cTn id="48" dur="1000" fill="hold"/>
                                        <p:tgtEl>
                                          <p:spTgt spid="24">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2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fill="hold"/>
                                        <p:tgtEl>
                                          <p:spTgt spid="27"/>
                                        </p:tgtEl>
                                        <p:attrNameLst>
                                          <p:attrName>ppt_x</p:attrName>
                                        </p:attrNameLst>
                                      </p:cBhvr>
                                      <p:tavLst>
                                        <p:tav tm="0">
                                          <p:val>
                                            <p:strVal val="1+#ppt_w/2"/>
                                          </p:val>
                                        </p:tav>
                                        <p:tav tm="100000">
                                          <p:val>
                                            <p:strVal val="#ppt_x"/>
                                          </p:val>
                                        </p:tav>
                                      </p:tavLst>
                                    </p:anim>
                                    <p:anim calcmode="lin" valueType="num">
                                      <p:cBhvr additive="base">
                                        <p:cTn id="55"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4">
                                            <p:txEl>
                                              <p:pRg st="6" end="6"/>
                                            </p:txEl>
                                          </p:spTgt>
                                        </p:tgtEl>
                                        <p:attrNameLst>
                                          <p:attrName>style.visibility</p:attrName>
                                        </p:attrNameLst>
                                      </p:cBhvr>
                                      <p:to>
                                        <p:strVal val="visible"/>
                                      </p:to>
                                    </p:set>
                                    <p:animEffect transition="in" filter="fade">
                                      <p:cBhvr>
                                        <p:cTn id="60" dur="1000"/>
                                        <p:tgtEl>
                                          <p:spTgt spid="24">
                                            <p:txEl>
                                              <p:pRg st="6" end="6"/>
                                            </p:txEl>
                                          </p:spTgt>
                                        </p:tgtEl>
                                      </p:cBhvr>
                                    </p:animEffect>
                                    <p:anim calcmode="lin" valueType="num">
                                      <p:cBhvr>
                                        <p:cTn id="61" dur="1000" fill="hold"/>
                                        <p:tgtEl>
                                          <p:spTgt spid="24">
                                            <p:txEl>
                                              <p:pRg st="6" end="6"/>
                                            </p:txEl>
                                          </p:spTgt>
                                        </p:tgtEl>
                                        <p:attrNameLst>
                                          <p:attrName>ppt_x</p:attrName>
                                        </p:attrNameLst>
                                      </p:cBhvr>
                                      <p:tavLst>
                                        <p:tav tm="0">
                                          <p:val>
                                            <p:strVal val="#ppt_x"/>
                                          </p:val>
                                        </p:tav>
                                        <p:tav tm="100000">
                                          <p:val>
                                            <p:strVal val="#ppt_x"/>
                                          </p:val>
                                        </p:tav>
                                      </p:tavLst>
                                    </p:anim>
                                    <p:anim calcmode="lin" valueType="num">
                                      <p:cBhvr>
                                        <p:cTn id="62" dur="1000" fill="hold"/>
                                        <p:tgtEl>
                                          <p:spTgt spid="2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1+#ppt_w/2"/>
                                          </p:val>
                                        </p:tav>
                                        <p:tav tm="100000">
                                          <p:val>
                                            <p:strVal val="#ppt_x"/>
                                          </p:val>
                                        </p:tav>
                                      </p:tavLst>
                                    </p:anim>
                                    <p:anim calcmode="lin" valueType="num">
                                      <p:cBhvr additive="base">
                                        <p:cTn id="68"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24">
                                            <p:txEl>
                                              <p:pRg st="7" end="7"/>
                                            </p:txEl>
                                          </p:spTgt>
                                        </p:tgtEl>
                                        <p:attrNameLst>
                                          <p:attrName>style.visibility</p:attrName>
                                        </p:attrNameLst>
                                      </p:cBhvr>
                                      <p:to>
                                        <p:strVal val="visible"/>
                                      </p:to>
                                    </p:set>
                                    <p:animEffect transition="in" filter="fade">
                                      <p:cBhvr>
                                        <p:cTn id="73" dur="1000"/>
                                        <p:tgtEl>
                                          <p:spTgt spid="24">
                                            <p:txEl>
                                              <p:pRg st="7" end="7"/>
                                            </p:txEl>
                                          </p:spTgt>
                                        </p:tgtEl>
                                      </p:cBhvr>
                                    </p:animEffect>
                                    <p:anim calcmode="lin" valueType="num">
                                      <p:cBhvr>
                                        <p:cTn id="74" dur="1000" fill="hold"/>
                                        <p:tgtEl>
                                          <p:spTgt spid="24">
                                            <p:txEl>
                                              <p:pRg st="7" end="7"/>
                                            </p:txEl>
                                          </p:spTgt>
                                        </p:tgtEl>
                                        <p:attrNameLst>
                                          <p:attrName>ppt_x</p:attrName>
                                        </p:attrNameLst>
                                      </p:cBhvr>
                                      <p:tavLst>
                                        <p:tav tm="0">
                                          <p:val>
                                            <p:strVal val="#ppt_x"/>
                                          </p:val>
                                        </p:tav>
                                        <p:tav tm="100000">
                                          <p:val>
                                            <p:strVal val="#ppt_x"/>
                                          </p:val>
                                        </p:tav>
                                      </p:tavLst>
                                    </p:anim>
                                    <p:anim calcmode="lin" valueType="num">
                                      <p:cBhvr>
                                        <p:cTn id="75" dur="1000" fill="hold"/>
                                        <p:tgtEl>
                                          <p:spTgt spid="2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2" fill="hold" grpId="0" nodeType="clickEffect">
                                  <p:stCondLst>
                                    <p:cond delay="0"/>
                                  </p:stCondLst>
                                  <p:childTnLst>
                                    <p:set>
                                      <p:cBhvr>
                                        <p:cTn id="79" dur="1" fill="hold">
                                          <p:stCondLst>
                                            <p:cond delay="0"/>
                                          </p:stCondLst>
                                        </p:cTn>
                                        <p:tgtEl>
                                          <p:spTgt spid="29"/>
                                        </p:tgtEl>
                                        <p:attrNameLst>
                                          <p:attrName>style.visibility</p:attrName>
                                        </p:attrNameLst>
                                      </p:cBhvr>
                                      <p:to>
                                        <p:strVal val="visible"/>
                                      </p:to>
                                    </p:set>
                                    <p:anim calcmode="lin" valueType="num">
                                      <p:cBhvr additive="base">
                                        <p:cTn id="80" dur="500" fill="hold"/>
                                        <p:tgtEl>
                                          <p:spTgt spid="29"/>
                                        </p:tgtEl>
                                        <p:attrNameLst>
                                          <p:attrName>ppt_x</p:attrName>
                                        </p:attrNameLst>
                                      </p:cBhvr>
                                      <p:tavLst>
                                        <p:tav tm="0">
                                          <p:val>
                                            <p:strVal val="1+#ppt_w/2"/>
                                          </p:val>
                                        </p:tav>
                                        <p:tav tm="100000">
                                          <p:val>
                                            <p:strVal val="#ppt_x"/>
                                          </p:val>
                                        </p:tav>
                                      </p:tavLst>
                                    </p:anim>
                                    <p:anim calcmode="lin" valueType="num">
                                      <p:cBhvr additive="base">
                                        <p:cTn id="81"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2.2.2 Connective Complete Set</a:t>
            </a:r>
          </a:p>
          <a:p>
            <a:r>
              <a:rPr lang="en-US" altLang="zh-CN" sz="2000" b="1" dirty="0">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NAND (Not AND)</a:t>
            </a:r>
            <a:r>
              <a:rPr lang="en-US" altLang="zh-CN" sz="2400" b="1" dirty="0"/>
              <a:t>&amp;</a:t>
            </a:r>
            <a:r>
              <a:rPr lang="en-US" altLang="zh-CN" sz="2400" b="1" dirty="0">
                <a:latin typeface="Trebuchet MS" panose="020B0603020202020204" pitchFamily="34" charset="0"/>
              </a:rPr>
              <a:t>NOR (Not OR) </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442742"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FontTx/>
              <a:buNone/>
            </a:pPr>
            <a:endParaRPr lang="zh-CN" altLang="en-US" sz="2800" b="1" dirty="0"/>
          </a:p>
        </p:txBody>
      </p:sp>
      <p:sp>
        <p:nvSpPr>
          <p:cNvPr id="23" name="Rectangle 3">
            <a:extLst>
              <a:ext uri="{FF2B5EF4-FFF2-40B4-BE49-F238E27FC236}">
                <a16:creationId xmlns:a16="http://schemas.microsoft.com/office/drawing/2014/main" id="{F4D3AF53-CFC4-475B-AAB4-D2024A398F2E}"/>
              </a:ext>
            </a:extLst>
          </p:cNvPr>
          <p:cNvSpPr txBox="1">
            <a:spLocks noChangeArrowheads="1"/>
          </p:cNvSpPr>
          <p:nvPr/>
        </p:nvSpPr>
        <p:spPr>
          <a:xfrm>
            <a:off x="824681"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sz="2800" b="1" dirty="0"/>
          </a:p>
        </p:txBody>
      </p:sp>
      <p:sp>
        <p:nvSpPr>
          <p:cNvPr id="24" name="Rectangle 3">
            <a:extLst>
              <a:ext uri="{FF2B5EF4-FFF2-40B4-BE49-F238E27FC236}">
                <a16:creationId xmlns:a16="http://schemas.microsoft.com/office/drawing/2014/main" id="{962959FF-CF58-4E5B-9CDC-1AD783DFDAC3}"/>
              </a:ext>
            </a:extLst>
          </p:cNvPr>
          <p:cNvSpPr txBox="1">
            <a:spLocks noChangeArrowheads="1"/>
          </p:cNvSpPr>
          <p:nvPr/>
        </p:nvSpPr>
        <p:spPr>
          <a:xfrm>
            <a:off x="1066800" y="827323"/>
            <a:ext cx="9442742" cy="52655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NAND Form:</a:t>
            </a:r>
            <a:r>
              <a:rPr lang="zh-CN" altLang="en-US" sz="2400" b="1" dirty="0">
                <a:latin typeface="Trebuchet MS" panose="020B0603020202020204" pitchFamily="34"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is called the </a:t>
            </a:r>
            <a:r>
              <a:rPr lang="en-US" sz="2400" b="1" dirty="0">
                <a:latin typeface="Trebuchet MS" panose="020B0603020202020204" pitchFamily="34" charset="0"/>
              </a:rPr>
              <a:t>NAND connective</a:t>
            </a:r>
            <a:r>
              <a:rPr lang="en-US" sz="2400" dirty="0">
                <a:latin typeface="Trebuchet MS" panose="020B0603020202020204" pitchFamily="34" charset="0"/>
              </a:rPr>
              <a:t>.</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NOR Form</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is called the </a:t>
            </a:r>
            <a:r>
              <a:rPr lang="en-US" sz="2400" b="1" dirty="0">
                <a:latin typeface="Trebuchet MS" panose="020B0603020202020204" pitchFamily="34" charset="0"/>
              </a:rPr>
              <a:t>NOR connective</a:t>
            </a:r>
            <a:r>
              <a:rPr lang="en-US" sz="2400" dirty="0">
                <a:latin typeface="Trebuchet MS" panose="020B0603020202020204" pitchFamily="34" charset="0"/>
              </a:rPr>
              <a:t>.</a:t>
            </a:r>
          </a:p>
          <a:p>
            <a:pPr marL="446088" indent="-182563">
              <a:lnSpc>
                <a:spcPct val="120000"/>
              </a:lnSpc>
              <a:spcBef>
                <a:spcPts val="300"/>
              </a:spcBef>
              <a:buClr>
                <a:srgbClr val="0B61FF"/>
              </a:buClr>
              <a:buSzPct val="80000"/>
            </a:pP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i="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i</a:t>
            </a:r>
            <a:r>
              <a:rPr lang="en-US" sz="2400" dirty="0">
                <a:latin typeface="Trebuchet MS" panose="020B0603020202020204" pitchFamily="34" charset="0"/>
              </a:rPr>
              <a:t>s </a:t>
            </a:r>
            <a:r>
              <a:rPr lang="en-US" sz="2400" b="1" dirty="0">
                <a:latin typeface="Trebuchet MS" panose="020B0603020202020204" pitchFamily="34" charset="0"/>
              </a:rPr>
              <a:t>true</a:t>
            </a:r>
            <a:r>
              <a:rPr lang="en-US" sz="2400" dirty="0">
                <a:latin typeface="Trebuchet MS" panose="020B0603020202020204" pitchFamily="34" charset="0"/>
              </a:rPr>
              <a:t> if and only if </a:t>
            </a:r>
            <a:r>
              <a:rPr lang="en-US" sz="2400" b="1" i="1" dirty="0">
                <a:latin typeface="Trebuchet MS" panose="020B0603020202020204" pitchFamily="34" charset="0"/>
              </a:rPr>
              <a:t>p</a:t>
            </a:r>
            <a:r>
              <a:rPr lang="en-US" sz="2400" b="1" dirty="0">
                <a:latin typeface="Trebuchet MS" panose="020B0603020202020204" pitchFamily="34" charset="0"/>
              </a:rPr>
              <a:t>  and </a:t>
            </a:r>
            <a:r>
              <a:rPr lang="en-US" sz="2400" b="1" i="1" dirty="0">
                <a:latin typeface="Trebuchet MS" panose="020B0603020202020204" pitchFamily="34" charset="0"/>
              </a:rPr>
              <a:t>q </a:t>
            </a:r>
            <a:r>
              <a:rPr lang="en-US" sz="2400" b="1" dirty="0">
                <a:latin typeface="Trebuchet MS" panose="020B0603020202020204" pitchFamily="34" charset="0"/>
              </a:rPr>
              <a:t> are not both true</a:t>
            </a:r>
            <a:r>
              <a:rPr lang="en-US" sz="2400" dirty="0">
                <a:latin typeface="Trebuchet MS" panose="020B0603020202020204" pitchFamily="34" charset="0"/>
              </a:rPr>
              <a:t>.</a:t>
            </a:r>
          </a:p>
          <a:p>
            <a:pPr marL="446088" indent="-182563">
              <a:lnSpc>
                <a:spcPct val="120000"/>
              </a:lnSpc>
              <a:spcBef>
                <a:spcPts val="300"/>
              </a:spcBef>
              <a:buClr>
                <a:srgbClr val="0B61FF"/>
              </a:buClr>
              <a:buSzPct val="80000"/>
            </a:pP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i="1" dirty="0">
                <a:latin typeface="Trebuchet MS" panose="020B0603020202020204" pitchFamily="34" charset="0"/>
                <a:cs typeface="Times New Roman" panose="02020603050405020304" pitchFamily="18" charset="0"/>
              </a:rPr>
              <a:t> </a:t>
            </a:r>
            <a:r>
              <a:rPr lang="en-US" sz="2400">
                <a:latin typeface="Trebuchet MS" panose="020B0603020202020204" pitchFamily="34" charset="0"/>
              </a:rPr>
              <a:t>is </a:t>
            </a:r>
            <a:r>
              <a:rPr lang="en-US" altLang="zh-CN" sz="2400" b="1">
                <a:latin typeface="Trebuchet MS" panose="020B0603020202020204" pitchFamily="34" charset="0"/>
              </a:rPr>
              <a:t>false</a:t>
            </a:r>
            <a:r>
              <a:rPr lang="en-US" sz="2400">
                <a:latin typeface="Trebuchet MS" panose="020B0603020202020204" pitchFamily="34" charset="0"/>
              </a:rPr>
              <a:t> </a:t>
            </a:r>
            <a:r>
              <a:rPr lang="en-US" sz="2400" dirty="0">
                <a:latin typeface="Trebuchet MS" panose="020B0603020202020204" pitchFamily="34" charset="0"/>
              </a:rPr>
              <a:t>if and only if </a:t>
            </a:r>
            <a:r>
              <a:rPr lang="en-US" sz="2400" b="1" i="1" dirty="0">
                <a:latin typeface="Trebuchet MS" panose="020B0603020202020204" pitchFamily="34" charset="0"/>
              </a:rPr>
              <a:t>p</a:t>
            </a:r>
            <a:r>
              <a:rPr lang="en-US" sz="2400" b="1" dirty="0">
                <a:latin typeface="Trebuchet MS" panose="020B0603020202020204" pitchFamily="34" charset="0"/>
              </a:rPr>
              <a:t> and </a:t>
            </a:r>
            <a:r>
              <a:rPr lang="en-US" sz="2400" b="1" i="1" dirty="0">
                <a:latin typeface="Trebuchet MS" panose="020B0603020202020204" pitchFamily="34" charset="0"/>
              </a:rPr>
              <a:t>q</a:t>
            </a:r>
            <a:r>
              <a:rPr lang="en-US" sz="2400" b="1" dirty="0">
                <a:latin typeface="Trebuchet MS" panose="020B0603020202020204" pitchFamily="34" charset="0"/>
              </a:rPr>
              <a:t> are not both false</a:t>
            </a:r>
            <a:r>
              <a:rPr lang="en-US" sz="2400" dirty="0">
                <a:latin typeface="Trebuchet MS" panose="020B0603020202020204" pitchFamily="34" charset="0"/>
              </a:rPr>
              <a:t>.</a:t>
            </a:r>
          </a:p>
          <a:p>
            <a:pPr marL="263525" indent="0">
              <a:lnSpc>
                <a:spcPct val="120000"/>
              </a:lnSpc>
              <a:spcBef>
                <a:spcPts val="300"/>
              </a:spcBef>
              <a:buClr>
                <a:srgbClr val="0B61FF"/>
              </a:buClr>
              <a:buSzPct val="80000"/>
              <a:buNone/>
            </a:pPr>
            <a:endParaRPr lang="en-US" sz="2400" dirty="0">
              <a:latin typeface="Trebuchet MS" panose="020B0603020202020204" pitchFamily="34" charset="0"/>
            </a:endParaRPr>
          </a:p>
          <a:p>
            <a:pPr>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Theorem </a:t>
            </a:r>
            <a:r>
              <a:rPr lang="zh-CN" altLang="en-US" sz="2400" dirty="0">
                <a:latin typeface="Trebuchet MS" panose="020B0603020202020204" pitchFamily="34" charset="0"/>
                <a:sym typeface="Symbol" panose="05050102010706020507" pitchFamily="18" charset="2"/>
              </a:rPr>
              <a:t>2.2</a:t>
            </a:r>
            <a:r>
              <a:rPr lang="en-US" altLang="zh-CN" sz="2400" dirty="0">
                <a:latin typeface="Trebuchet MS" panose="020B0603020202020204" pitchFamily="34" charset="0"/>
                <a:sym typeface="Symbol" panose="05050102010706020507" pitchFamily="18" charset="2"/>
              </a:rPr>
              <a:t>:</a:t>
            </a:r>
            <a:r>
              <a:rPr lang="zh-CN" altLang="en-US" sz="2400"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sz="2400" dirty="0">
                <a:latin typeface="Trebuchet MS" panose="020B0603020202020204" pitchFamily="34" charset="0"/>
              </a:rPr>
              <a:t> are </a:t>
            </a:r>
            <a:r>
              <a:rPr lang="en-US" sz="2400" b="1" dirty="0">
                <a:latin typeface="Trebuchet MS" panose="020B0603020202020204" pitchFamily="34" charset="0"/>
              </a:rPr>
              <a:t>functionally complete sets of connectives</a:t>
            </a:r>
            <a:r>
              <a:rPr lang="en-US" sz="2400" dirty="0">
                <a:latin typeface="Trebuchet MS" panose="020B0603020202020204" pitchFamily="34" charset="0"/>
              </a:rPr>
              <a:t>.</a:t>
            </a:r>
            <a:r>
              <a:rPr lang="en-US" altLang="zh-CN" sz="2400" dirty="0">
                <a:latin typeface="Trebuchet MS" panose="020B0603020202020204" pitchFamily="34" charset="0"/>
              </a:rPr>
              <a:t> (or complete set of connectives).</a:t>
            </a:r>
            <a:endParaRPr lang="en-US" sz="2400" dirty="0">
              <a:latin typeface="Trebuchet MS" panose="020B0603020202020204" pitchFamily="34" charset="0"/>
            </a:endParaRPr>
          </a:p>
          <a:p>
            <a:pPr eaLnBrk="1" hangingPunct="1">
              <a:lnSpc>
                <a:spcPct val="120000"/>
              </a:lnSpc>
              <a:spcBef>
                <a:spcPts val="300"/>
              </a:spcBef>
              <a:buFontTx/>
              <a:buNone/>
            </a:pPr>
            <a:r>
              <a:rPr lang="en-US" sz="2400" b="1" dirty="0">
                <a:latin typeface="Trebuchet MS" panose="020B0603020202020204" pitchFamily="34" charset="0"/>
              </a:rPr>
              <a:t>Proof: </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p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endParaRPr lang="en-US" altLang="zh-CN" sz="2400" b="1" i="1" dirty="0">
              <a:latin typeface="Trebuchet MS" panose="020B0603020202020204" pitchFamily="34" charset="0"/>
              <a:cs typeface="Times New Roman" panose="02020603050405020304" pitchFamily="18" charset="0"/>
            </a:endParaRPr>
          </a:p>
          <a:p>
            <a:pPr eaLnBrk="1" hangingPunct="1">
              <a:lnSpc>
                <a:spcPct val="120000"/>
              </a:lnSpc>
              <a:spcBef>
                <a:spcPts val="300"/>
              </a:spcBef>
              <a:buFontTx/>
              <a:buNone/>
            </a:pP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p>
          <a:p>
            <a:pPr eaLnBrk="1" hangingPunct="1">
              <a:lnSpc>
                <a:spcPct val="120000"/>
              </a:lnSpc>
              <a:spcBef>
                <a:spcPts val="300"/>
              </a:spcBef>
              <a:buFontTx/>
              <a:buNone/>
            </a:pPr>
            <a:r>
              <a:rPr lang="en-US" sz="2400" dirty="0">
                <a:latin typeface="Trebuchet MS" panose="020B0603020202020204" pitchFamily="34" charset="0"/>
              </a:rPr>
              <a:t>Thus,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r>
              <a:rPr lang="en-US" sz="2400" b="1" dirty="0">
                <a:latin typeface="Trebuchet MS" panose="020B0603020202020204" pitchFamily="34" charset="0"/>
              </a:rPr>
              <a:t> is a functionally complete set</a:t>
            </a:r>
            <a:r>
              <a:rPr lang="en-US" sz="2400"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 </a:t>
            </a:r>
            <a:endParaRPr lang="en-US" altLang="zh-CN" sz="2400" b="1" dirty="0">
              <a:latin typeface="Trebuchet MS" panose="020B0603020202020204" pitchFamily="34" charset="0"/>
              <a:sym typeface="Symbol" panose="05050102010706020507" pitchFamily="18" charset="2"/>
            </a:endParaRPr>
          </a:p>
          <a:p>
            <a:pPr eaLnBrk="1" hangingPunct="1">
              <a:lnSpc>
                <a:spcPct val="120000"/>
              </a:lnSpc>
              <a:spcBef>
                <a:spcPts val="300"/>
              </a:spcBef>
              <a:buFontTx/>
              <a:buNone/>
            </a:pPr>
            <a:r>
              <a:rPr lang="en-US" sz="2400" dirty="0">
                <a:latin typeface="Trebuchet MS" panose="020B0603020202020204" pitchFamily="34" charset="0"/>
              </a:rPr>
              <a:t>A similar proof holds for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a:t>
            </a: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1538309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2.2 Equivalence Calculus of Propositional Logic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06887879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zh-CN" altLang="zh-CN" dirty="0">
                <a:solidFill>
                  <a:schemeClr val="bg1"/>
                </a:solidFill>
                <a:latin typeface="Söhne"/>
              </a:rPr>
              <a:t>离散数学</a:t>
            </a:r>
            <a:r>
              <a:rPr lang="zh-CN" altLang="en-US" dirty="0">
                <a:solidFill>
                  <a:schemeClr val="bg1"/>
                </a:solidFill>
                <a:latin typeface="Trebuchet MS" panose="020B0603020202020204" pitchFamily="34" charset="0"/>
              </a:rPr>
              <a:t>（</a:t>
            </a:r>
            <a:r>
              <a:rPr lang="en-US" altLang="zh-CN" dirty="0">
                <a:solidFill>
                  <a:schemeClr val="bg1"/>
                </a:solidFill>
                <a:latin typeface="Trebuchet MS" panose="020B0603020202020204" pitchFamily="34" charset="0"/>
              </a:rPr>
              <a:t>011122</a:t>
            </a:r>
            <a:r>
              <a:rPr lang="zh-CN" altLang="en-US" dirty="0">
                <a:solidFill>
                  <a:schemeClr val="bg1"/>
                </a:solidFill>
                <a:latin typeface="Trebuchet MS" panose="020B0603020202020204" pitchFamily="34" charset="0"/>
              </a:rPr>
              <a:t>）</a:t>
            </a:r>
            <a:br>
              <a:rPr lang="en-US" altLang="zh-CN" b="1" dirty="0">
                <a:solidFill>
                  <a:schemeClr val="bg1"/>
                </a:solidFill>
                <a:effectLst>
                  <a:outerShdw blurRad="38100" dist="38100" dir="2700000" algn="tl">
                    <a:srgbClr val="000000">
                      <a:alpha val="43137"/>
                    </a:srgbClr>
                  </a:outerShdw>
                </a:effectLst>
                <a:latin typeface="Trebuchet MS" panose="020B0603020202020204" pitchFamily="34" charset="0"/>
              </a:rPr>
            </a:br>
            <a:endParaRPr lang="en-US" altLang="zh-CN" b="1" dirty="0">
              <a:solidFill>
                <a:schemeClr val="bg1"/>
              </a:solidFill>
              <a:effectLst>
                <a:outerShdw blurRad="38100" dist="38100" dir="2700000" algn="tl">
                  <a:srgbClr val="000000">
                    <a:alpha val="43137"/>
                  </a:srgbClr>
                </a:outerShdw>
              </a:effectLst>
              <a:latin typeface="Trebuchet MS" panose="020B0603020202020204" pitchFamily="34" charset="0"/>
            </a:endParaRPr>
          </a:p>
        </p:txBody>
      </p:sp>
      <p:sp>
        <p:nvSpPr>
          <p:cNvPr id="6" name="文本框 5"/>
          <p:cNvSpPr txBox="1"/>
          <p:nvPr/>
        </p:nvSpPr>
        <p:spPr>
          <a:xfrm>
            <a:off x="806259" y="6001304"/>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3602921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2</a:t>
            </a:r>
            <a:r>
              <a:rPr lang="zh-CN" altLang="en-US" sz="2400" b="1" dirty="0">
                <a:latin typeface="Trebuchet MS" panose="020B0603020202020204" pitchFamily="34" charset="0"/>
              </a:rPr>
              <a:t>：</a:t>
            </a:r>
            <a:r>
              <a:rPr lang="en-US" altLang="zh-CN" sz="2400" b="1" i="0" dirty="0">
                <a:solidFill>
                  <a:srgbClr val="0C0D0E"/>
                </a:solidFill>
                <a:effectLst/>
                <a:latin typeface="Trebuchet MS" panose="020B0603020202020204" pitchFamily="34" charset="0"/>
              </a:rPr>
              <a:t> </a:t>
            </a:r>
            <a:r>
              <a:rPr lang="en-US" altLang="zh-CN" sz="2400" b="1" i="0" dirty="0">
                <a:solidFill>
                  <a:schemeClr val="bg1"/>
                </a:solidFill>
                <a:effectLst/>
                <a:latin typeface="Trebuchet MS" panose="020B0603020202020204" pitchFamily="34" charset="0"/>
              </a:rPr>
              <a:t>Propositional Logic</a:t>
            </a:r>
            <a:r>
              <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rPr>
              <a:t>                       </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6"/>
            <a:ext cx="10024294" cy="4467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marL="2057400" indent="0">
              <a:lnSpc>
                <a:spcPct val="130000"/>
              </a:lnSpc>
              <a:spcBef>
                <a:spcPct val="0"/>
              </a:spcBef>
              <a:buNone/>
            </a:pPr>
            <a:r>
              <a:rPr lang="en-US" sz="2400" dirty="0">
                <a:latin typeface="Trebuchet MS" panose="020B0603020202020204" pitchFamily="34" charset="0"/>
              </a:rPr>
              <a:t>2.1 Basic Concepts of Propositional Logic</a:t>
            </a:r>
            <a:br>
              <a:rPr lang="en-US" sz="2400" dirty="0">
                <a:latin typeface="Trebuchet MS" panose="020B0603020202020204" pitchFamily="34" charset="0"/>
              </a:rPr>
            </a:br>
            <a:r>
              <a:rPr lang="en-US" sz="2400" dirty="0">
                <a:latin typeface="Trebuchet MS" panose="020B0603020202020204" pitchFamily="34" charset="0"/>
              </a:rPr>
              <a:t>2.2 Equivalence Calculus of Propositional Logic</a:t>
            </a:r>
            <a:br>
              <a:rPr lang="en-US" sz="2400" dirty="0">
                <a:latin typeface="Trebuchet MS" panose="020B0603020202020204" pitchFamily="34" charset="0"/>
              </a:rPr>
            </a:br>
            <a:r>
              <a:rPr lang="en-US" sz="2400" b="1" dirty="0">
                <a:latin typeface="Trebuchet MS" panose="020B0603020202020204" pitchFamily="34" charset="0"/>
              </a:rPr>
              <a:t>2.3 Normal Forms</a:t>
            </a:r>
            <a:endParaRPr lang="zh-CN" altLang="en-US" sz="2400" b="1" dirty="0">
              <a:latin typeface="Trebuchet MS" panose="020B0603020202020204" pitchFamily="34" charset="0"/>
            </a:endParaRPr>
          </a:p>
          <a:p>
            <a:pPr lvl="1"/>
            <a:endParaRPr lang="zh-CN" altLang="en-US" sz="2800" b="1" dirty="0"/>
          </a:p>
        </p:txBody>
      </p:sp>
    </p:spTree>
    <p:extLst>
      <p:ext uri="{BB962C8B-B14F-4D97-AF65-F5344CB8AC3E}">
        <p14:creationId xmlns:p14="http://schemas.microsoft.com/office/powerpoint/2010/main" val="668987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2.3 </a:t>
            </a:r>
            <a:r>
              <a:rPr lang="en-US" altLang="zh-CN" sz="2400" b="1" dirty="0">
                <a:latin typeface="Trebuchet MS" panose="020B0603020202020204" pitchFamily="34" charset="0"/>
              </a:rPr>
              <a:t>Normal Forms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85938" y="841377"/>
            <a:ext cx="9959598" cy="50869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2.3.1 Disjunctive Normal Form (DNF) and Conjunctive Normal Form (CNF)</a:t>
            </a:r>
            <a:endParaRPr lang="en-US" sz="2400" dirty="0">
              <a:latin typeface="Trebuchet MS" panose="020B0603020202020204" pitchFamily="34" charset="0"/>
            </a:endParaRPr>
          </a:p>
          <a:p>
            <a:pPr marL="720725" indent="354013">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Simple Disjunctive Form and Simple Conjunctive Form</a:t>
            </a:r>
          </a:p>
          <a:p>
            <a:pPr marL="720725" indent="354013">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Disjunctive Normal Form and Conjunctive Normal Form</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2.3.2 Principal Disjunctive Normal Form (PDNF) and Principal Conjunctive Normal Form (PCNF)</a:t>
            </a:r>
          </a:p>
          <a:p>
            <a:pPr marL="720725" indent="354013">
              <a:lnSpc>
                <a:spcPct val="120000"/>
              </a:lnSpc>
              <a:spcBef>
                <a:spcPts val="300"/>
              </a:spcBef>
              <a:buClr>
                <a:srgbClr val="0B61FF"/>
              </a:buClr>
              <a:buSzPct val="120000"/>
            </a:pPr>
            <a:r>
              <a:rPr lang="en-US" sz="2400" dirty="0" err="1">
                <a:latin typeface="Trebuchet MS" panose="020B0603020202020204" pitchFamily="34" charset="0"/>
              </a:rPr>
              <a:t>Minterms</a:t>
            </a:r>
            <a:r>
              <a:rPr lang="en-US" sz="2400" dirty="0">
                <a:latin typeface="Trebuchet MS" panose="020B0603020202020204" pitchFamily="34" charset="0"/>
              </a:rPr>
              <a:t> and Maxterms</a:t>
            </a:r>
          </a:p>
          <a:p>
            <a:pPr marL="720725" indent="354013">
              <a:lnSpc>
                <a:spcPct val="120000"/>
              </a:lnSpc>
              <a:spcBef>
                <a:spcPts val="300"/>
              </a:spcBef>
              <a:buClr>
                <a:srgbClr val="0B61FF"/>
              </a:buClr>
              <a:buSzPct val="120000"/>
            </a:pPr>
            <a:r>
              <a:rPr lang="en-US" sz="2400" dirty="0">
                <a:latin typeface="Trebuchet MS" panose="020B0603020202020204" pitchFamily="34" charset="0"/>
              </a:rPr>
              <a:t>Principal Disjunctive Normal Form and Principal Conjunctive Normal Form</a:t>
            </a:r>
          </a:p>
          <a:p>
            <a:pPr marL="720725" indent="354013">
              <a:lnSpc>
                <a:spcPct val="120000"/>
              </a:lnSpc>
              <a:spcBef>
                <a:spcPts val="300"/>
              </a:spcBef>
              <a:buClr>
                <a:srgbClr val="0B61FF"/>
              </a:buClr>
              <a:buSzPct val="120000"/>
            </a:pPr>
            <a:r>
              <a:rPr lang="en-US" sz="2400" dirty="0">
                <a:latin typeface="Trebuchet MS" panose="020B0603020202020204" pitchFamily="34" charset="0"/>
              </a:rPr>
              <a:t>Applications of Principal Normal Form</a:t>
            </a:r>
          </a:p>
        </p:txBody>
      </p:sp>
    </p:spTree>
    <p:extLst>
      <p:ext uri="{BB962C8B-B14F-4D97-AF65-F5344CB8AC3E}">
        <p14:creationId xmlns:p14="http://schemas.microsoft.com/office/powerpoint/2010/main" val="2354130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2.3.1 Disjunctive Normal Form (DNF) and Conjunctive Normal Form (CNF)</a:t>
            </a:r>
          </a:p>
          <a:p>
            <a:pPr>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t>Simple Disjunctive Form and Simple Conjunctive Form</a:t>
            </a:r>
            <a:endParaRPr lang="en-US" altLang="zh-CN" sz="2400"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10068110" cy="52774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Literal</a:t>
            </a:r>
            <a:r>
              <a:rPr lang="en-US" sz="2400" dirty="0">
                <a:latin typeface="Trebuchet MS" panose="020B0603020202020204" pitchFamily="34" charset="0"/>
              </a:rPr>
              <a:t>: A general term for a propositional variable and its negation.</a:t>
            </a:r>
          </a:p>
          <a:p>
            <a:pPr>
              <a:lnSpc>
                <a:spcPct val="110000"/>
              </a:lnSpc>
              <a:spcBef>
                <a:spcPts val="300"/>
              </a:spcBef>
              <a:buClr>
                <a:srgbClr val="0B61FF"/>
              </a:buClr>
              <a:buSzPct val="80000"/>
              <a:buFont typeface="Wingdings" panose="05000000000000000000" pitchFamily="2" charset="2"/>
              <a:buChar char="n"/>
            </a:pPr>
            <a:r>
              <a:rPr lang="en-US" sz="2400" b="1" i="1" dirty="0">
                <a:latin typeface="Trebuchet MS" panose="020B0603020202020204" pitchFamily="34" charset="0"/>
              </a:rPr>
              <a:t>Simple Disjunctive Form</a:t>
            </a:r>
            <a:r>
              <a:rPr lang="en-US" sz="2400" dirty="0">
                <a:latin typeface="Trebuchet MS" panose="020B0603020202020204" pitchFamily="34" charset="0"/>
              </a:rPr>
              <a:t>: A disjunctive formula composed of a finite number of literals.</a:t>
            </a:r>
            <a:br>
              <a:rPr lang="en-US" sz="2400" dirty="0">
                <a:latin typeface="Trebuchet MS" panose="020B0603020202020204" pitchFamily="34" charset="0"/>
              </a:rPr>
            </a:br>
            <a:r>
              <a:rPr lang="en-US" altLang="zh-CN" sz="2400" b="1" dirty="0">
                <a:latin typeface="Trebuchet MS" panose="020B0603020202020204" pitchFamily="34" charset="0"/>
              </a:rPr>
              <a:t>such as </a:t>
            </a:r>
            <a:r>
              <a:rPr lang="zh-CN" altLang="en-US" sz="2400" b="1" dirty="0">
                <a:solidFill>
                  <a:srgbClr val="000066"/>
                </a:solidFill>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eaLnBrk="1" hangingPunct="1">
              <a:lnSpc>
                <a:spcPct val="110000"/>
              </a:lnSpc>
              <a:spcBef>
                <a:spcPts val="300"/>
              </a:spcBef>
              <a:buClr>
                <a:srgbClr val="0B61FF"/>
              </a:buClr>
              <a:buSzPct val="80000"/>
              <a:buFont typeface="Wingdings" panose="05000000000000000000" pitchFamily="2" charset="2"/>
              <a:buChar char="n"/>
            </a:pPr>
            <a:r>
              <a:rPr lang="en-US" sz="2400" b="1" i="1" dirty="0">
                <a:latin typeface="Trebuchet MS" panose="020B0603020202020204" pitchFamily="34" charset="0"/>
              </a:rPr>
              <a:t>Simple Conjunctive Form</a:t>
            </a:r>
            <a:r>
              <a:rPr lang="en-US" sz="2400" dirty="0">
                <a:latin typeface="Trebuchet MS" panose="020B0603020202020204" pitchFamily="34" charset="0"/>
              </a:rPr>
              <a:t>: A conjunctive formula composed of a finite number of literals.</a:t>
            </a:r>
            <a:br>
              <a:rPr lang="en-US" sz="2400" dirty="0">
                <a:latin typeface="Trebuchet MS" panose="020B0603020202020204" pitchFamily="34" charset="0"/>
              </a:rPr>
            </a:br>
            <a:r>
              <a:rPr lang="en-US" altLang="zh-CN" sz="2400" b="1" dirty="0">
                <a:latin typeface="Trebuchet MS" panose="020B0603020202020204" pitchFamily="34" charset="0"/>
              </a:rPr>
              <a:t>such as :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eaLnBrk="1" hangingPunct="1">
              <a:lnSpc>
                <a:spcPct val="11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Theorem </a:t>
            </a:r>
            <a:r>
              <a:rPr lang="zh-CN" altLang="en-US" sz="2400" b="1" dirty="0">
                <a:latin typeface="Trebuchet MS" panose="020B0603020202020204" pitchFamily="34" charset="0"/>
              </a:rPr>
              <a:t>2.3</a:t>
            </a:r>
            <a:r>
              <a:rPr lang="en-US" altLang="zh-CN" sz="2400" b="1" dirty="0">
                <a:latin typeface="Trebuchet MS" panose="020B0603020202020204" pitchFamily="34" charset="0"/>
              </a:rPr>
              <a:t>:</a:t>
            </a:r>
          </a:p>
          <a:p>
            <a:pPr eaLnBrk="1" hangingPunct="1">
              <a:lnSpc>
                <a:spcPct val="110000"/>
              </a:lnSpc>
              <a:spcBef>
                <a:spcPts val="300"/>
              </a:spcBef>
              <a:buFontTx/>
              <a:buNone/>
            </a:pP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A </a:t>
            </a:r>
            <a:r>
              <a:rPr lang="en-US" sz="2400" b="1" dirty="0">
                <a:latin typeface="Trebuchet MS" panose="020B0603020202020204" pitchFamily="34" charset="0"/>
              </a:rPr>
              <a:t>simple disjunctive form </a:t>
            </a:r>
            <a:r>
              <a:rPr lang="en-US" sz="2400" dirty="0">
                <a:latin typeface="Trebuchet MS" panose="020B0603020202020204" pitchFamily="34" charset="0"/>
              </a:rPr>
              <a:t>is a tautology if and only if it contains both a propositional variable and its negation(e.g.  </a:t>
            </a:r>
            <a:r>
              <a:rPr lang="en-US" altLang="zh-CN" sz="2400" b="1" i="1" dirty="0">
                <a:solidFill>
                  <a:srgbClr val="000066"/>
                </a:solidFill>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 </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a:lnSpc>
                <a:spcPct val="110000"/>
              </a:lnSpc>
              <a:spcBef>
                <a:spcPts val="300"/>
              </a:spcBef>
              <a:buNone/>
            </a:pPr>
            <a:r>
              <a:rPr lang="zh-CN" altLang="en-US" sz="2400" b="1" dirty="0">
                <a:solidFill>
                  <a:srgbClr val="0B61FF"/>
                </a:solidFill>
                <a:latin typeface="Trebuchet MS" panose="020B0603020202020204" pitchFamily="34" charset="0"/>
              </a:rPr>
              <a:t>(2) </a:t>
            </a:r>
            <a:r>
              <a:rPr lang="en-US" sz="2400" dirty="0">
                <a:latin typeface="Trebuchet MS" panose="020B0603020202020204" pitchFamily="34" charset="0"/>
              </a:rPr>
              <a:t>A </a:t>
            </a:r>
            <a:r>
              <a:rPr lang="en-US" sz="2400" b="1" dirty="0">
                <a:latin typeface="Trebuchet MS" panose="020B0603020202020204" pitchFamily="34" charset="0"/>
              </a:rPr>
              <a:t>simple conjunctive form </a:t>
            </a:r>
            <a:r>
              <a:rPr lang="en-US" sz="2400" dirty="0">
                <a:latin typeface="Trebuchet MS" panose="020B0603020202020204" pitchFamily="34" charset="0"/>
              </a:rPr>
              <a:t>is a contradiction if and only if it contains both a propositional variable and its negation (e.g.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 </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marL="457200" lvl="1" indent="0" eaLnBrk="1" hangingPunct="1">
              <a:lnSpc>
                <a:spcPct val="110000"/>
              </a:lnSpc>
              <a:spcBef>
                <a:spcPts val="30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4257042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2.3.1 Disjunctive Normal Form (DNF) and Conjunctive Normal Form (CNF)</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Disjunctive Form and Conjunctive Form</a:t>
            </a:r>
            <a:endParaRPr lang="zh-CN" altLang="en-US" sz="20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19605"/>
                <a:ext cx="10829347"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Disjunctive Normal Form (DNF)</a:t>
                </a:r>
                <a:r>
                  <a:rPr lang="en-US" sz="2400" dirty="0">
                    <a:latin typeface="Trebuchet MS" panose="020B0603020202020204" pitchFamily="34" charset="0"/>
                  </a:rPr>
                  <a:t>: A disjunction composed of a finite number of simple conjunctive forms.</a:t>
                </a:r>
                <a:br>
                  <a:rPr lang="en-US" sz="2400" dirty="0">
                    <a:latin typeface="Trebuchet MS" panose="020B0603020202020204" pitchFamily="34" charset="0"/>
                  </a:rPr>
                </a:br>
                <a:r>
                  <a:rPr lang="zh-CN" altLang="en-US" sz="2400" b="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where</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i="1" baseline="-30000" dirty="0">
                    <a:latin typeface="Trebuchet MS" panose="020B0603020202020204" pitchFamily="34" charset="0"/>
                    <a:cs typeface="Times New Roman" panose="02020603050405020304" pitchFamily="18" charset="0"/>
                  </a:rPr>
                  <a:t>r </a:t>
                </a:r>
                <a:r>
                  <a:rPr lang="en-US" sz="2400" dirty="0">
                    <a:latin typeface="Trebuchet MS" panose="020B0603020202020204" pitchFamily="34" charset="0"/>
                  </a:rPr>
                  <a:t>are simple conjunctive forms.</a:t>
                </a:r>
                <a:endParaRPr lang="en-US" altLang="zh-CN" sz="2400" b="1" dirty="0">
                  <a:latin typeface="Trebuchet MS" panose="020B0603020202020204" pitchFamily="34" charset="0"/>
                </a:endParaRPr>
              </a:p>
              <a:p>
                <a:pPr algn="just" eaLnBrk="1" hangingPunct="1">
                  <a:lnSpc>
                    <a:spcPct val="120000"/>
                  </a:lnSpc>
                  <a:spcBef>
                    <a:spcPts val="300"/>
                  </a:spcBef>
                  <a:buFontTx/>
                  <a:buNone/>
                </a:pPr>
                <a:r>
                  <a:rPr lang="en-US" sz="2400" dirty="0">
                    <a:latin typeface="Trebuchet MS" panose="020B0603020202020204" pitchFamily="34" charset="0"/>
                  </a:rPr>
                  <a:t>       </a:t>
                </a:r>
                <a:r>
                  <a:rPr lang="en-US" sz="2400" b="1" dirty="0">
                    <a:latin typeface="Trebuchet MS" panose="020B0603020202020204" pitchFamily="34" charset="0"/>
                  </a:rPr>
                  <a:t>Examples</a:t>
                </a:r>
                <a:r>
                  <a:rPr lang="zh-CN" altLang="en-US" sz="2400" b="1"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err="1">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rebuchet MS" panose="020B0603020202020204" pitchFamily="34" charset="0"/>
                    <a:cs typeface="Times New Roman" panose="02020603050405020304" pitchFamily="18" charset="0"/>
                  </a:rPr>
                  <a:t>q</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rPr>
                  <a:t>r</a:t>
                </a:r>
                <a:r>
                  <a:rPr lang="en-US" altLang="zh-CN" sz="2400" b="1" dirty="0">
                    <a:solidFill>
                      <a:schemeClr val="tx1"/>
                    </a:solidFill>
                    <a:latin typeface="Trebuchet MS" panose="020B0603020202020204" pitchFamily="34" charset="0"/>
                    <a:cs typeface="Times New Roman" panose="02020603050405020304" pitchFamily="18" charset="0"/>
                  </a:rPr>
                  <a:t> </a:t>
                </a:r>
              </a:p>
              <a:p>
                <a:pPr indent="490538" algn="just" eaLnBrk="1" hangingPunct="1">
                  <a:lnSpc>
                    <a:spcPct val="120000"/>
                  </a:lnSpc>
                  <a:spcBef>
                    <a:spcPts val="300"/>
                  </a:spcBef>
                  <a:buFontTx/>
                  <a:buNone/>
                </a:pP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rPr>
                  <a:t>q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r</a:t>
                </a:r>
                <a:r>
                  <a:rPr lang="en-US" altLang="zh-CN" sz="2400" b="1" dirty="0">
                    <a:solidFill>
                      <a:schemeClr val="tx1"/>
                    </a:solidFill>
                    <a:latin typeface="Trebuchet MS" panose="020B0603020202020204" pitchFamily="34" charset="0"/>
                    <a:cs typeface="Times New Roman" panose="02020603050405020304" pitchFamily="18" charset="0"/>
                  </a:rPr>
                  <a:t>  </a:t>
                </a:r>
              </a:p>
              <a:p>
                <a:pPr indent="490538" algn="just">
                  <a:lnSpc>
                    <a:spcPct val="120000"/>
                  </a:lnSpc>
                  <a:spcBef>
                    <a:spcPts val="300"/>
                  </a:spcBef>
                  <a:buNone/>
                </a:pPr>
                <a:r>
                  <a:rPr lang="en-US" altLang="zh-CN" sz="2400" b="1" dirty="0">
                    <a:solidFill>
                      <a:schemeClr val="tx1"/>
                    </a:solidFill>
                    <a:cs typeface="Times New Roman" panose="02020603050405020304" pitchFamily="18" charset="0"/>
                  </a:rPr>
                  <a:t>                      </a:t>
                </a:r>
                <a14:m>
                  <m:oMath xmlns:m="http://schemas.openxmlformats.org/officeDocument/2006/math">
                    <m:d>
                      <m:dPr>
                        <m:ctrlPr>
                          <a:rPr lang="en-US" altLang="zh-CN" sz="2400" b="1" i="1" dirty="0" smtClean="0">
                            <a:solidFill>
                              <a:schemeClr val="tx1"/>
                            </a:solidFill>
                            <a:latin typeface="Cambria Math" panose="02040503050406030204" pitchFamily="18" charset="0"/>
                            <a:cs typeface="Times New Roman" panose="02020603050405020304" pitchFamily="18" charset="0"/>
                          </a:rPr>
                        </m:ctrlPr>
                      </m:dPr>
                      <m:e>
                        <m:sSub>
                          <m:sSubPr>
                            <m:ctrlPr>
                              <a:rPr lang="en-US" altLang="zh-CN" sz="2400" b="1" i="1" dirty="0" smtClean="0">
                                <a:solidFill>
                                  <a:schemeClr val="tx1"/>
                                </a:solidFill>
                                <a:latin typeface="Cambria Math" panose="02040503050406030204" pitchFamily="18" charset="0"/>
                                <a:cs typeface="Times New Roman" panose="02020603050405020304" pitchFamily="18" charset="0"/>
                              </a:rPr>
                            </m:ctrlPr>
                          </m:sSubPr>
                          <m:e>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smtClean="0">
                                <a:solidFill>
                                  <a:schemeClr val="tx1"/>
                                </a:solidFill>
                                <a:latin typeface="Cambria Math" panose="02040503050406030204" pitchFamily="18" charset="0"/>
                                <a:cs typeface="Times New Roman" panose="02020603050405020304" pitchFamily="18" charset="0"/>
                              </a:rPr>
                              <m:t>𝟏</m:t>
                            </m:r>
                          </m:sub>
                        </m:sSub>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a:rPr lang="en-US" altLang="zh-CN" sz="2400" b="1"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smtClean="0">
                                <a:solidFill>
                                  <a:schemeClr val="tx1"/>
                                </a:solidFill>
                                <a:latin typeface="Cambria Math" panose="02040503050406030204" pitchFamily="18" charset="0"/>
                                <a:cs typeface="Times New Roman" panose="02020603050405020304" pitchFamily="18" charset="0"/>
                              </a:rPr>
                              <m:t>𝟐</m:t>
                            </m:r>
                          </m:sub>
                        </m:sSub>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smtClean="0">
                                <a:solidFill>
                                  <a:schemeClr val="tx1"/>
                                </a:solidFill>
                                <a:latin typeface="Cambria Math" panose="02040503050406030204" pitchFamily="18" charset="0"/>
                                <a:cs typeface="Times New Roman" panose="02020603050405020304" pitchFamily="18" charset="0"/>
                              </a:rPr>
                              <m:t>𝟑</m:t>
                            </m:r>
                          </m:sub>
                        </m:sSub>
                      </m:e>
                    </m:d>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d>
                      <m:dPr>
                        <m:ctrlPr>
                          <a:rPr lang="en-US" altLang="zh-CN" sz="2400" b="1" i="1" dirty="0">
                            <a:solidFill>
                              <a:schemeClr val="tx1"/>
                            </a:solidFill>
                            <a:latin typeface="Cambria Math" panose="02040503050406030204" pitchFamily="18" charset="0"/>
                            <a:cs typeface="Times New Roman" panose="02020603050405020304" pitchFamily="18" charset="0"/>
                          </a:rPr>
                        </m:ctrlPr>
                      </m:dPr>
                      <m:e>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a:rPr lang="en-US" altLang="zh-CN" sz="2400" b="1"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a:solidFill>
                                  <a:schemeClr val="tx1"/>
                                </a:solidFill>
                                <a:latin typeface="Cambria Math" panose="02040503050406030204" pitchFamily="18" charset="0"/>
                                <a:cs typeface="Times New Roman" panose="02020603050405020304" pitchFamily="18" charset="0"/>
                              </a:rPr>
                              <m:t>𝟏</m:t>
                            </m:r>
                          </m:sub>
                        </m:sSub>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a:solidFill>
                                  <a:schemeClr val="tx1"/>
                                </a:solidFill>
                                <a:latin typeface="Cambria Math" panose="02040503050406030204" pitchFamily="18" charset="0"/>
                                <a:cs typeface="Times New Roman" panose="02020603050405020304" pitchFamily="18" charset="0"/>
                              </a:rPr>
                              <m:t>𝟐</m:t>
                            </m:r>
                          </m:sub>
                        </m:sSub>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a:solidFill>
                                  <a:schemeClr val="tx1"/>
                                </a:solidFill>
                                <a:latin typeface="Cambria Math" panose="02040503050406030204" pitchFamily="18" charset="0"/>
                                <a:cs typeface="Times New Roman" panose="02020603050405020304" pitchFamily="18" charset="0"/>
                              </a:rPr>
                              <m:t>𝟑</m:t>
                            </m:r>
                          </m:sub>
                        </m:sSub>
                      </m:e>
                    </m:d>
                  </m:oMath>
                </a14:m>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14:m>
                  <m:oMath xmlns:m="http://schemas.openxmlformats.org/officeDocument/2006/math">
                    <m:d>
                      <m:dPr>
                        <m:ctrlPr>
                          <a:rPr lang="en-US" altLang="zh-CN" sz="2400" b="1" i="1" dirty="0">
                            <a:solidFill>
                              <a:schemeClr val="tx1"/>
                            </a:solidFill>
                            <a:latin typeface="Cambria Math" panose="02040503050406030204" pitchFamily="18" charset="0"/>
                            <a:cs typeface="Times New Roman" panose="02020603050405020304" pitchFamily="18" charset="0"/>
                          </a:rPr>
                        </m:ctrlPr>
                      </m:dPr>
                      <m:e>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a:solidFill>
                                  <a:schemeClr val="tx1"/>
                                </a:solidFill>
                                <a:latin typeface="Cambria Math" panose="02040503050406030204" pitchFamily="18" charset="0"/>
                                <a:cs typeface="Times New Roman" panose="02020603050405020304" pitchFamily="18" charset="0"/>
                              </a:rPr>
                              <m:t>𝟏</m:t>
                            </m:r>
                          </m:sub>
                        </m:sSub>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a:solidFill>
                                  <a:schemeClr val="tx1"/>
                                </a:solidFill>
                                <a:latin typeface="Cambria Math" panose="02040503050406030204" pitchFamily="18" charset="0"/>
                                <a:cs typeface="Times New Roman" panose="02020603050405020304" pitchFamily="18" charset="0"/>
                              </a:rPr>
                              <m:t>𝟐</m:t>
                            </m:r>
                          </m:sub>
                        </m:sSub>
                        <m:r>
                          <m:rPr>
                            <m:nor/>
                          </m:rP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solidFill>
                                  <a:schemeClr val="tx1"/>
                                </a:solidFill>
                                <a:latin typeface="Cambria Math" panose="02040503050406030204" pitchFamily="18" charset="0"/>
                                <a:cs typeface="Times New Roman" panose="02020603050405020304" pitchFamily="18" charset="0"/>
                              </a:rPr>
                            </m:ctrlPr>
                          </m:sSubPr>
                          <m:e>
                            <m:r>
                              <a:rPr lang="en-US" altLang="zh-CN" sz="2400" b="1"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solidFill>
                                  <a:schemeClr val="tx1"/>
                                </a:solidFill>
                                <a:latin typeface="Trebuchet MS" panose="020B0603020202020204" pitchFamily="34" charset="0"/>
                                <a:cs typeface="Times New Roman" panose="02020603050405020304" pitchFamily="18" charset="0"/>
                              </a:rPr>
                              <m:t>p</m:t>
                            </m:r>
                          </m:e>
                          <m:sub>
                            <m:r>
                              <a:rPr lang="en-US" altLang="zh-CN" sz="2400" b="1" i="1" dirty="0">
                                <a:solidFill>
                                  <a:schemeClr val="tx1"/>
                                </a:solidFill>
                                <a:latin typeface="Cambria Math" panose="02040503050406030204" pitchFamily="18" charset="0"/>
                                <a:cs typeface="Times New Roman" panose="02020603050405020304" pitchFamily="18" charset="0"/>
                              </a:rPr>
                              <m:t>𝟑</m:t>
                            </m:r>
                          </m:sub>
                        </m:sSub>
                      </m:e>
                    </m:d>
                  </m:oMath>
                </a14:m>
                <a:endParaRPr lang="en-US" altLang="zh-CN" sz="2400" b="1" dirty="0">
                  <a:solidFill>
                    <a:schemeClr val="tx1"/>
                  </a:solidFill>
                  <a:latin typeface="Trebuchet MS" panose="020B0603020202020204" pitchFamily="34" charset="0"/>
                  <a:cs typeface="Times New Roman" panose="02020603050405020304" pitchFamily="18" charset="0"/>
                </a:endParaRPr>
              </a:p>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Conjunctive Normal Form (CNF)</a:t>
                </a:r>
                <a:r>
                  <a:rPr lang="en-US" sz="2400" dirty="0">
                    <a:latin typeface="Trebuchet MS" panose="020B0603020202020204" pitchFamily="34" charset="0"/>
                  </a:rPr>
                  <a:t>: A conjunction composed of a finite number of simple disjunctive forms.</a:t>
                </a:r>
                <a:br>
                  <a:rPr lang="en-US" sz="2400" dirty="0">
                    <a:latin typeface="Trebuchet MS" panose="020B0603020202020204" pitchFamily="34" charset="0"/>
                  </a:rPr>
                </a:b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r</a:t>
                </a:r>
                <a:r>
                  <a:rPr lang="en-US" altLang="zh-CN" sz="2400" b="1" i="1" baseline="-300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where </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i="1" baseline="-30000" dirty="0">
                    <a:latin typeface="Trebuchet MS" panose="020B0603020202020204" pitchFamily="34" charset="0"/>
                    <a:cs typeface="Times New Roman" panose="02020603050405020304" pitchFamily="18" charset="0"/>
                  </a:rPr>
                  <a:t>r </a:t>
                </a:r>
                <a:r>
                  <a:rPr lang="en-US" sz="2400" dirty="0">
                    <a:latin typeface="Trebuchet MS" panose="020B0603020202020204" pitchFamily="34" charset="0"/>
                  </a:rPr>
                  <a:t>are simple disjunctive forms.</a:t>
                </a:r>
                <a:endParaRPr lang="en-US" altLang="zh-CN" sz="2400" b="1" dirty="0">
                  <a:latin typeface="Trebuchet MS" panose="020B0603020202020204" pitchFamily="34" charset="0"/>
                </a:endParaRPr>
              </a:p>
              <a:p>
                <a:pPr algn="just">
                  <a:lnSpc>
                    <a:spcPct val="120000"/>
                  </a:lnSpc>
                  <a:spcBef>
                    <a:spcPts val="300"/>
                  </a:spcBef>
                  <a:buNone/>
                </a:pPr>
                <a:r>
                  <a:rPr lang="en-US" sz="2400" b="1" dirty="0">
                    <a:latin typeface="Trebuchet MS" panose="020B0603020202020204" pitchFamily="34" charset="0"/>
                  </a:rPr>
                  <a:t>      Examples</a:t>
                </a:r>
                <a:r>
                  <a:rPr lang="en-US" sz="2400" dirty="0">
                    <a:latin typeface="Trebuchet MS" panose="020B0603020202020204" pitchFamily="34" charset="0"/>
                  </a:rPr>
                  <a:t>:</a:t>
                </a:r>
                <a:r>
                  <a:rPr lang="zh-CN" altLang="en-US" sz="2400" b="1" dirty="0">
                    <a:solidFill>
                      <a:srgbClr val="00B0F0"/>
                    </a:solidFill>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indent="490538" algn="just">
                  <a:lnSpc>
                    <a:spcPct val="120000"/>
                  </a:lnSpc>
                  <a:spcBef>
                    <a:spcPts val="300"/>
                  </a:spcBef>
                  <a:buNone/>
                </a:pP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indent="490538" algn="just">
                  <a:lnSpc>
                    <a:spcPct val="120000"/>
                  </a:lnSpc>
                  <a:spcBef>
                    <a:spcPts val="300"/>
                  </a:spcBef>
                  <a:buNone/>
                </a:pPr>
                <a:r>
                  <a:rPr lang="en-US" altLang="zh-CN" sz="2400" b="1" dirty="0">
                    <a:cs typeface="Times New Roman" panose="02020603050405020304" pitchFamily="18" charset="0"/>
                  </a:rPr>
                  <a:t>                    </a:t>
                </a:r>
                <a14:m>
                  <m:oMath xmlns:m="http://schemas.openxmlformats.org/officeDocument/2006/math">
                    <m:d>
                      <m:dPr>
                        <m:ctrlPr>
                          <a:rPr lang="en-US" altLang="zh-CN" sz="2400" b="1" i="1" dirty="0" smtClean="0">
                            <a:latin typeface="Cambria Math" panose="02040503050406030204" pitchFamily="18" charset="0"/>
                            <a:cs typeface="Times New Roman" panose="02020603050405020304" pitchFamily="18" charset="0"/>
                          </a:rPr>
                        </m:ctrlPr>
                      </m:dPr>
                      <m:e>
                        <m:sSub>
                          <m:sSubPr>
                            <m:ctrlPr>
                              <a:rPr lang="en-US" altLang="zh-CN" sz="2400" b="1" i="1" dirty="0" smtClean="0">
                                <a:latin typeface="Cambria Math" panose="02040503050406030204" pitchFamily="18" charset="0"/>
                                <a:cs typeface="Times New Roman" panose="02020603050405020304" pitchFamily="18" charset="0"/>
                              </a:rPr>
                            </m:ctrlPr>
                          </m:sSubPr>
                          <m:e>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smtClean="0">
                                <a:latin typeface="Cambria Math" panose="02040503050406030204" pitchFamily="18" charset="0"/>
                                <a:cs typeface="Times New Roman" panose="02020603050405020304" pitchFamily="18" charset="0"/>
                              </a:rPr>
                              <m:t>𝟏</m:t>
                            </m:r>
                          </m:sub>
                        </m:sSub>
                        <m:r>
                          <m:rPr>
                            <m:nor/>
                          </m:rPr>
                          <a:rPr lang="en-US" altLang="zh-CN" sz="2400" b="1" dirty="0">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latin typeface="Cambria Math" panose="02040503050406030204" pitchFamily="18" charset="0"/>
                                <a:cs typeface="Times New Roman" panose="02020603050405020304" pitchFamily="18" charset="0"/>
                              </a:rPr>
                            </m:ctrlPr>
                          </m:sSubPr>
                          <m:e>
                            <m:r>
                              <a:rPr lang="en-US" altLang="zh-CN" sz="2400" b="1" i="1"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smtClean="0">
                                <a:latin typeface="Cambria Math" panose="02040503050406030204" pitchFamily="18" charset="0"/>
                                <a:cs typeface="Times New Roman" panose="02020603050405020304" pitchFamily="18" charset="0"/>
                              </a:rPr>
                              <m:t>𝟐</m:t>
                            </m:r>
                          </m:sub>
                        </m:sSub>
                        <m:r>
                          <m:rPr>
                            <m:nor/>
                          </m:rPr>
                          <a:rPr lang="en-US" altLang="zh-CN" sz="2400" b="1" dirty="0">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latin typeface="Cambria Math" panose="02040503050406030204" pitchFamily="18" charset="0"/>
                                <a:cs typeface="Times New Roman" panose="02020603050405020304" pitchFamily="18" charset="0"/>
                              </a:rPr>
                            </m:ctrlPr>
                          </m:sSubPr>
                          <m:e>
                            <m: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smtClean="0">
                                <a:latin typeface="Cambria Math" panose="02040503050406030204" pitchFamily="18" charset="0"/>
                                <a:cs typeface="Times New Roman" panose="02020603050405020304" pitchFamily="18" charset="0"/>
                              </a:rPr>
                              <m:t>𝟑</m:t>
                            </m:r>
                          </m:sub>
                        </m:sSub>
                      </m:e>
                    </m:d>
                    <m:r>
                      <m:rPr>
                        <m:nor/>
                      </m:rPr>
                      <a:rPr lang="en-US" altLang="zh-CN" sz="2400" b="1" dirty="0">
                        <a:latin typeface="Trebuchet MS" panose="020B0603020202020204" pitchFamily="34" charset="0"/>
                        <a:cs typeface="Times New Roman" panose="02020603050405020304" pitchFamily="18" charset="0"/>
                        <a:sym typeface="Symbol" panose="05050102010706020507" pitchFamily="18" charset="2"/>
                      </a:rPr>
                      <m:t></m:t>
                    </m:r>
                    <m:d>
                      <m:dPr>
                        <m:ctrlPr>
                          <a:rPr lang="en-US" altLang="zh-CN" sz="2400" b="1" i="1" dirty="0">
                            <a:latin typeface="Cambria Math" panose="02040503050406030204" pitchFamily="18" charset="0"/>
                            <a:cs typeface="Times New Roman" panose="02020603050405020304" pitchFamily="18" charset="0"/>
                          </a:rPr>
                        </m:ctrlPr>
                      </m:dPr>
                      <m:e>
                        <m:sSub>
                          <m:sSubPr>
                            <m:ctrlPr>
                              <a:rPr lang="en-US" altLang="zh-CN" sz="2400" b="1" i="1" dirty="0">
                                <a:latin typeface="Cambria Math" panose="02040503050406030204" pitchFamily="18" charset="0"/>
                                <a:cs typeface="Times New Roman" panose="02020603050405020304" pitchFamily="18" charset="0"/>
                              </a:rPr>
                            </m:ctrlPr>
                          </m:sSubPr>
                          <m:e>
                            <m: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a:latin typeface="Cambria Math" panose="02040503050406030204" pitchFamily="18" charset="0"/>
                                <a:cs typeface="Times New Roman" panose="02020603050405020304" pitchFamily="18" charset="0"/>
                              </a:rPr>
                              <m:t>𝟏</m:t>
                            </m:r>
                          </m:sub>
                        </m:sSub>
                        <m:r>
                          <m:rPr>
                            <m:nor/>
                          </m:rPr>
                          <a:rPr lang="en-US" altLang="zh-CN" sz="2400" b="1" dirty="0">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latin typeface="Cambria Math" panose="02040503050406030204" pitchFamily="18" charset="0"/>
                                <a:cs typeface="Times New Roman" panose="02020603050405020304" pitchFamily="18" charset="0"/>
                              </a:rPr>
                            </m:ctrlPr>
                          </m:sSubPr>
                          <m:e>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a:latin typeface="Cambria Math" panose="02040503050406030204" pitchFamily="18" charset="0"/>
                                <a:cs typeface="Times New Roman" panose="02020603050405020304" pitchFamily="18" charset="0"/>
                              </a:rPr>
                              <m:t>𝟐</m:t>
                            </m:r>
                          </m:sub>
                        </m:sSub>
                        <m:r>
                          <m:rPr>
                            <m:nor/>
                          </m:rPr>
                          <a:rPr lang="en-US" altLang="zh-CN" sz="2400" b="1" dirty="0">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latin typeface="Cambria Math" panose="02040503050406030204" pitchFamily="18" charset="0"/>
                                <a:cs typeface="Times New Roman" panose="02020603050405020304" pitchFamily="18" charset="0"/>
                              </a:rPr>
                            </m:ctrlPr>
                          </m:sSubPr>
                          <m:e>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a:latin typeface="Cambria Math" panose="02040503050406030204" pitchFamily="18" charset="0"/>
                                <a:cs typeface="Times New Roman" panose="02020603050405020304" pitchFamily="18" charset="0"/>
                              </a:rPr>
                              <m:t>𝟑</m:t>
                            </m:r>
                          </m:sub>
                        </m:sSub>
                      </m:e>
                    </m:d>
                  </m:oMath>
                </a14:m>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14:m>
                  <m:oMath xmlns:m="http://schemas.openxmlformats.org/officeDocument/2006/math">
                    <m:d>
                      <m:dPr>
                        <m:ctrlPr>
                          <a:rPr lang="en-US" altLang="zh-CN" sz="2400" b="1" i="1" dirty="0">
                            <a:latin typeface="Cambria Math" panose="02040503050406030204" pitchFamily="18" charset="0"/>
                            <a:cs typeface="Times New Roman" panose="02020603050405020304" pitchFamily="18" charset="0"/>
                          </a:rPr>
                        </m:ctrlPr>
                      </m:dPr>
                      <m:e>
                        <m:sSub>
                          <m:sSubPr>
                            <m:ctrlPr>
                              <a:rPr lang="en-US" altLang="zh-CN" sz="2400" b="1" i="1" dirty="0">
                                <a:latin typeface="Cambria Math" panose="02040503050406030204" pitchFamily="18" charset="0"/>
                                <a:cs typeface="Times New Roman" panose="02020603050405020304" pitchFamily="18" charset="0"/>
                              </a:rPr>
                            </m:ctrlPr>
                          </m:sSubPr>
                          <m:e>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a:latin typeface="Cambria Math" panose="02040503050406030204" pitchFamily="18" charset="0"/>
                                <a:cs typeface="Times New Roman" panose="02020603050405020304" pitchFamily="18" charset="0"/>
                              </a:rPr>
                              <m:t>𝟏</m:t>
                            </m:r>
                          </m:sub>
                        </m:sSub>
                        <m:r>
                          <m:rPr>
                            <m:nor/>
                          </m:rPr>
                          <a:rPr lang="en-US" altLang="zh-CN" sz="2400" b="1" dirty="0">
                            <a:latin typeface="Trebuchet MS" panose="020B0603020202020204" pitchFamily="34" charset="0"/>
                            <a:cs typeface="Times New Roman" panose="02020603050405020304" pitchFamily="18" charset="0"/>
                            <a:sym typeface="Symbol" panose="05050102010706020507" pitchFamily="18" charset="2"/>
                          </a:rPr>
                          <m:t></m:t>
                        </m:r>
                        <m:sSub>
                          <m:sSubPr>
                            <m:ctrlPr>
                              <a:rPr lang="en-US" altLang="zh-CN" sz="2400" b="1" i="1" dirty="0">
                                <a:latin typeface="Cambria Math" panose="02040503050406030204" pitchFamily="18" charset="0"/>
                                <a:cs typeface="Times New Roman" panose="02020603050405020304" pitchFamily="18" charset="0"/>
                              </a:rPr>
                            </m:ctrlPr>
                          </m:sSubPr>
                          <m:e>
                            <m: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b="1" i="1" dirty="0">
                                <a:latin typeface="Trebuchet MS" panose="020B0603020202020204" pitchFamily="34" charset="0"/>
                                <a:cs typeface="Times New Roman" panose="02020603050405020304" pitchFamily="18" charset="0"/>
                              </a:rPr>
                              <m:t>p</m:t>
                            </m:r>
                          </m:e>
                          <m:sub>
                            <m:r>
                              <a:rPr lang="en-US" altLang="zh-CN" sz="2400" b="1" i="1" dirty="0">
                                <a:latin typeface="Cambria Math" panose="02040503050406030204" pitchFamily="18" charset="0"/>
                                <a:cs typeface="Times New Roman" panose="02020603050405020304" pitchFamily="18" charset="0"/>
                              </a:rPr>
                              <m:t>𝟑</m:t>
                            </m:r>
                          </m:sub>
                        </m:sSub>
                      </m:e>
                    </m:d>
                  </m:oMath>
                </a14:m>
                <a:endParaRPr lang="zh-CN" altLang="en-US" sz="2400" b="1" dirty="0">
                  <a:latin typeface="Trebuchet MS" panose="020B0603020202020204" pitchFamily="34" charset="0"/>
                </a:endParaRPr>
              </a:p>
            </p:txBody>
          </p:sp>
        </mc:Choice>
        <mc:Fallback xmlns="">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824680" y="819605"/>
                <a:ext cx="10829347" cy="5788025"/>
              </a:xfrm>
              <a:prstGeom prst="rect">
                <a:avLst/>
              </a:prstGeom>
              <a:blipFill>
                <a:blip r:embed="rId5"/>
                <a:stretch>
                  <a:fillRect l="-394" t="-316" r="-1688"/>
                </a:stretch>
              </a:blipFill>
            </p:spPr>
            <p:txBody>
              <a:bodyPr/>
              <a:lstStyle/>
              <a:p>
                <a:r>
                  <a:rPr lang="en-US">
                    <a:noFill/>
                  </a:rPr>
                  <a:t> </a:t>
                </a:r>
              </a:p>
            </p:txBody>
          </p:sp>
        </mc:Fallback>
      </mc:AlternateContent>
      <p:pic>
        <p:nvPicPr>
          <p:cNvPr id="9" name="图片 8">
            <a:extLst>
              <a:ext uri="{FF2B5EF4-FFF2-40B4-BE49-F238E27FC236}">
                <a16:creationId xmlns:a16="http://schemas.microsoft.com/office/drawing/2014/main" id="{268E24FD-6E67-401B-A85C-075714277AE9}"/>
              </a:ext>
            </a:extLst>
          </p:cNvPr>
          <p:cNvPicPr/>
          <p:nvPr/>
        </p:nvPicPr>
        <p:blipFill>
          <a:blip r:embed="rId6"/>
          <a:stretch>
            <a:fillRect/>
          </a:stretch>
        </p:blipFill>
        <p:spPr>
          <a:xfrm>
            <a:off x="972185" y="2323735"/>
            <a:ext cx="577850" cy="241300"/>
          </a:xfrm>
          <a:prstGeom prst="rect">
            <a:avLst/>
          </a:prstGeom>
        </p:spPr>
      </p:pic>
      <p:pic>
        <p:nvPicPr>
          <p:cNvPr id="10" name="图片 9">
            <a:extLst>
              <a:ext uri="{FF2B5EF4-FFF2-40B4-BE49-F238E27FC236}">
                <a16:creationId xmlns:a16="http://schemas.microsoft.com/office/drawing/2014/main" id="{852028C4-9064-4BA4-9DA4-1D7993BBC60F}"/>
              </a:ext>
            </a:extLst>
          </p:cNvPr>
          <p:cNvPicPr/>
          <p:nvPr/>
        </p:nvPicPr>
        <p:blipFill>
          <a:blip r:embed="rId6"/>
          <a:stretch>
            <a:fillRect/>
          </a:stretch>
        </p:blipFill>
        <p:spPr>
          <a:xfrm>
            <a:off x="895985" y="5105035"/>
            <a:ext cx="577850" cy="241300"/>
          </a:xfrm>
          <a:prstGeom prst="rect">
            <a:avLst/>
          </a:prstGeom>
        </p:spPr>
      </p:pic>
    </p:spTree>
    <p:extLst>
      <p:ext uri="{BB962C8B-B14F-4D97-AF65-F5344CB8AC3E}">
        <p14:creationId xmlns:p14="http://schemas.microsoft.com/office/powerpoint/2010/main" val="4054651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Effect transition="in" filter="fade">
                                      <p:cBhvr>
                                        <p:cTn id="29" dur="1000"/>
                                        <p:tgtEl>
                                          <p:spTgt spid="8">
                                            <p:txEl>
                                              <p:pRg st="4" end="4"/>
                                            </p:txEl>
                                          </p:spTgt>
                                        </p:tgtEl>
                                      </p:cBhvr>
                                    </p:animEffect>
                                    <p:anim calcmode="lin" valueType="num">
                                      <p:cBhvr>
                                        <p:cTn id="3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5" end="5"/>
                                            </p:txEl>
                                          </p:spTgt>
                                        </p:tgtEl>
                                        <p:attrNameLst>
                                          <p:attrName>style.visibility</p:attrName>
                                        </p:attrNameLst>
                                      </p:cBhvr>
                                      <p:to>
                                        <p:strVal val="visible"/>
                                      </p:to>
                                    </p:set>
                                    <p:animEffect transition="in" filter="fade">
                                      <p:cBhvr>
                                        <p:cTn id="36" dur="1000"/>
                                        <p:tgtEl>
                                          <p:spTgt spid="8">
                                            <p:txEl>
                                              <p:pRg st="5" end="5"/>
                                            </p:txEl>
                                          </p:spTgt>
                                        </p:tgtEl>
                                      </p:cBhvr>
                                    </p:animEffect>
                                    <p:anim calcmode="lin" valueType="num">
                                      <p:cBhvr>
                                        <p:cTn id="3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8">
                                            <p:txEl>
                                              <p:pRg st="6" end="6"/>
                                            </p:txEl>
                                          </p:spTgt>
                                        </p:tgtEl>
                                        <p:attrNameLst>
                                          <p:attrName>style.visibility</p:attrName>
                                        </p:attrNameLst>
                                      </p:cBhvr>
                                      <p:to>
                                        <p:strVal val="visible"/>
                                      </p:to>
                                    </p:set>
                                    <p:animEffect transition="in" filter="fade">
                                      <p:cBhvr>
                                        <p:cTn id="41" dur="1000"/>
                                        <p:tgtEl>
                                          <p:spTgt spid="8">
                                            <p:txEl>
                                              <p:pRg st="6" end="6"/>
                                            </p:txEl>
                                          </p:spTgt>
                                        </p:tgtEl>
                                      </p:cBhvr>
                                    </p:animEffect>
                                    <p:anim calcmode="lin" valueType="num">
                                      <p:cBhvr>
                                        <p:cTn id="42"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8">
                                            <p:txEl>
                                              <p:pRg st="7" end="7"/>
                                            </p:txEl>
                                          </p:spTgt>
                                        </p:tgtEl>
                                        <p:attrNameLst>
                                          <p:attrName>style.visibility</p:attrName>
                                        </p:attrNameLst>
                                      </p:cBhvr>
                                      <p:to>
                                        <p:strVal val="visible"/>
                                      </p:to>
                                    </p:set>
                                    <p:animEffect transition="in" filter="fade">
                                      <p:cBhvr>
                                        <p:cTn id="46" dur="1000"/>
                                        <p:tgtEl>
                                          <p:spTgt spid="8">
                                            <p:txEl>
                                              <p:pRg st="7" end="7"/>
                                            </p:txEl>
                                          </p:spTgt>
                                        </p:tgtEl>
                                      </p:cBhvr>
                                    </p:animEffect>
                                    <p:anim calcmode="lin" valueType="num">
                                      <p:cBhvr>
                                        <p:cTn id="47"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2.3.1 Disjunctive Normal Form (DNF) and Conjunctive Normal Form (CNF)</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Normal Form</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30491"/>
            <a:ext cx="9534508" cy="40571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Normal Form</a:t>
            </a:r>
            <a:r>
              <a:rPr lang="en-US" sz="2400" dirty="0">
                <a:latin typeface="Trebuchet MS" panose="020B0603020202020204" pitchFamily="34" charset="0"/>
              </a:rPr>
              <a:t>: A general term referring to both disjunctive normal form (DNF) and conjunctive normal form (CNF).</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Theorem 2.4:</a:t>
            </a:r>
            <a:br>
              <a:rPr lang="en-US" sz="2400" dirty="0">
                <a:latin typeface="Trebuchet MS" panose="020B0603020202020204" pitchFamily="34" charset="0"/>
              </a:rPr>
            </a:b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A </a:t>
            </a:r>
            <a:r>
              <a:rPr lang="en-US" sz="2400" b="1" i="1" dirty="0">
                <a:latin typeface="Trebuchet MS" panose="020B0603020202020204" pitchFamily="34" charset="0"/>
              </a:rPr>
              <a:t>disjunctive normal form </a:t>
            </a:r>
            <a:r>
              <a:rPr lang="en-US" sz="2400" dirty="0">
                <a:latin typeface="Trebuchet MS" panose="020B0603020202020204" pitchFamily="34" charset="0"/>
              </a:rPr>
              <a:t>(DNF) is a contradiction if and only if each of its simple conjunctive forms is a contradiction</a:t>
            </a:r>
          </a:p>
          <a:p>
            <a:pPr marL="0" indent="0">
              <a:lnSpc>
                <a:spcPct val="120000"/>
              </a:lnSpc>
              <a:spcBef>
                <a:spcPts val="300"/>
              </a:spcBef>
              <a:buClr>
                <a:srgbClr val="0B61FF"/>
              </a:buClr>
              <a:buSzPct val="80000"/>
              <a:buNone/>
            </a:pPr>
            <a:r>
              <a:rPr lang="en-US" sz="2400" dirty="0">
                <a:latin typeface="Trebuchet MS" panose="020B0603020202020204" pitchFamily="34" charset="0"/>
              </a:rPr>
              <a:t>.</a:t>
            </a:r>
          </a:p>
          <a:p>
            <a:pPr marL="0" indent="0">
              <a:lnSpc>
                <a:spcPct val="120000"/>
              </a:lnSpc>
              <a:spcBef>
                <a:spcPts val="300"/>
              </a:spcBef>
              <a:buClr>
                <a:srgbClr val="0B61FF"/>
              </a:buClr>
              <a:buSzPct val="80000"/>
              <a:buNone/>
            </a:pPr>
            <a:r>
              <a:rPr lang="en-US" sz="2400" b="1" dirty="0">
                <a:solidFill>
                  <a:srgbClr val="0B61FF"/>
                </a:solidFill>
                <a:latin typeface="Trebuchet MS" panose="020B0603020202020204" pitchFamily="34" charset="0"/>
              </a:rPr>
              <a:t>  (2) </a:t>
            </a:r>
            <a:r>
              <a:rPr lang="en-US" sz="2400" dirty="0">
                <a:latin typeface="Trebuchet MS" panose="020B0603020202020204" pitchFamily="34" charset="0"/>
              </a:rPr>
              <a:t>A </a:t>
            </a:r>
            <a:r>
              <a:rPr lang="en-US" sz="2400" b="1" i="1" dirty="0">
                <a:latin typeface="Trebuchet MS" panose="020B0603020202020204" pitchFamily="34" charset="0"/>
              </a:rPr>
              <a:t>conjunctive normal form </a:t>
            </a:r>
            <a:r>
              <a:rPr lang="en-US" sz="2400" dirty="0">
                <a:latin typeface="Trebuchet MS" panose="020B0603020202020204" pitchFamily="34" charset="0"/>
              </a:rPr>
              <a:t>(CNF) is a tautology if and only if each of its simple disjunctive forms is a tautology.</a:t>
            </a:r>
          </a:p>
        </p:txBody>
      </p:sp>
    </p:spTree>
    <p:extLst>
      <p:ext uri="{BB962C8B-B14F-4D97-AF65-F5344CB8AC3E}">
        <p14:creationId xmlns:p14="http://schemas.microsoft.com/office/powerpoint/2010/main" val="2810633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2.3.1 Disjunctive Normal Form (DNF) and Conjunctive Normal Form (CNF)</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Normal Form</a:t>
            </a:r>
            <a:r>
              <a:rPr lang="en-US" altLang="zh-CN" sz="2400" dirty="0"/>
              <a:t> </a:t>
            </a:r>
            <a:r>
              <a:rPr lang="en-US" altLang="zh-CN" sz="2400" b="1" dirty="0">
                <a:latin typeface="Trebuchet MS" panose="020B0603020202020204" pitchFamily="34" charset="0"/>
              </a:rPr>
              <a:t>Existence Theorem</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224606" y="813388"/>
            <a:ext cx="11586394" cy="57111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Theorem 2.5:</a:t>
            </a:r>
            <a:r>
              <a:rPr lang="en-US" altLang="zh-CN" sz="2400" dirty="0">
                <a:latin typeface="Trebuchet MS" panose="020B0603020202020204" pitchFamily="34" charset="0"/>
              </a:rPr>
              <a:t> </a:t>
            </a:r>
            <a:r>
              <a:rPr lang="en-US" altLang="zh-CN" sz="2400" b="1" i="1" dirty="0">
                <a:latin typeface="Trebuchet MS" panose="020B0603020202020204" pitchFamily="34" charset="0"/>
              </a:rPr>
              <a:t>Normal Form</a:t>
            </a:r>
            <a:r>
              <a:rPr lang="en-US" altLang="zh-CN" sz="2400" b="1" i="1" dirty="0"/>
              <a:t> </a:t>
            </a:r>
            <a:r>
              <a:rPr lang="en-US" altLang="zh-CN" sz="2400" b="1" i="1" dirty="0">
                <a:latin typeface="Trebuchet MS" panose="020B0603020202020204" pitchFamily="34" charset="0"/>
              </a:rPr>
              <a:t>Existence Theorem</a:t>
            </a:r>
            <a:r>
              <a:rPr lang="en-US" altLang="zh-CN" sz="2400" dirty="0">
                <a:latin typeface="Trebuchet MS" panose="020B0603020202020204" pitchFamily="34" charset="0"/>
              </a:rPr>
              <a:t>.</a:t>
            </a:r>
          </a:p>
          <a:p>
            <a:pPr indent="42863" eaLnBrk="1" hangingPunct="1">
              <a:lnSpc>
                <a:spcPct val="120000"/>
              </a:lnSpc>
              <a:spcBef>
                <a:spcPts val="300"/>
              </a:spcBef>
              <a:buFontTx/>
              <a:buNone/>
            </a:pPr>
            <a:r>
              <a:rPr lang="en-US" sz="2400" dirty="0">
                <a:latin typeface="Trebuchet MS" panose="020B0603020202020204" pitchFamily="34" charset="0"/>
              </a:rPr>
              <a:t>Every propositional formula has an equivalent disjunctive normal form (DNF) and conjunctive normal form (CNF).</a:t>
            </a:r>
          </a:p>
          <a:p>
            <a:pPr algn="just"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Proof:</a:t>
            </a:r>
            <a:r>
              <a:rPr lang="zh-CN" altLang="en-US" sz="2400" b="1" dirty="0">
                <a:latin typeface="Trebuchet MS" panose="020B0603020202020204" pitchFamily="34" charset="0"/>
              </a:rPr>
              <a:t> </a:t>
            </a:r>
            <a:r>
              <a:rPr lang="en-US" sz="2400" dirty="0">
                <a:latin typeface="Trebuchet MS" panose="020B0603020202020204" pitchFamily="34" charset="0"/>
              </a:rPr>
              <a:t>The three important steps for obtaining the normal form of a formula </a:t>
            </a:r>
            <a:r>
              <a:rPr lang="en-US" altLang="zh-CN" sz="2400" b="1" i="1" dirty="0">
                <a:latin typeface="Trebuchet MS" panose="020B0603020202020204" pitchFamily="34" charset="0"/>
                <a:cs typeface="Times New Roman" panose="02020603050405020304" pitchFamily="18" charset="0"/>
              </a:rPr>
              <a:t>A</a:t>
            </a:r>
          </a:p>
          <a:p>
            <a:pPr indent="490538" algn="just"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Eliminate </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dirty="0">
                <a:latin typeface="Trebuchet MS" panose="020B0603020202020204" pitchFamily="34" charset="0"/>
                <a:cs typeface="Times New Roman" panose="02020603050405020304" pitchFamily="18" charset="0"/>
              </a:rPr>
              <a:t>, </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at </a:t>
            </a:r>
            <a:r>
              <a:rPr lang="en-US" altLang="zh-CN" sz="2400" i="1" dirty="0">
                <a:latin typeface="Trebuchet MS" panose="020B0603020202020204" pitchFamily="34" charset="0"/>
                <a:cs typeface="Times New Roman" panose="02020603050405020304" pitchFamily="18" charset="0"/>
              </a:rPr>
              <a:t>A</a:t>
            </a:r>
            <a:r>
              <a:rPr lang="zh-CN" altLang="en-US" sz="2400" i="1" dirty="0">
                <a:latin typeface="Trebuchet MS" panose="020B0603020202020204" pitchFamily="34" charset="0"/>
                <a:cs typeface="Times New Roman" panose="02020603050405020304" pitchFamily="18" charset="0"/>
              </a:rPr>
              <a:t> </a:t>
            </a:r>
            <a:endParaRPr lang="zh-CN" altLang="en-US" sz="2400" dirty="0">
              <a:latin typeface="Trebuchet MS" panose="020B0603020202020204" pitchFamily="34" charset="0"/>
              <a:cs typeface="Times New Roman" panose="02020603050405020304" pitchFamily="18" charset="0"/>
            </a:endParaRPr>
          </a:p>
          <a:p>
            <a:pPr indent="490538" algn="just" eaLnBrk="1" hangingPunct="1">
              <a:lnSpc>
                <a:spcPct val="120000"/>
              </a:lnSpc>
              <a:spcBef>
                <a:spcPts val="300"/>
              </a:spcBef>
              <a:buFontTx/>
              <a:buNone/>
            </a:pPr>
            <a:r>
              <a:rPr lang="en-US" altLang="zh-CN" sz="2400" b="1" i="1" dirty="0">
                <a:latin typeface="Trebuchet MS" panose="020B0603020202020204" pitchFamily="34" charset="0"/>
                <a:cs typeface="Times New Roman" panose="02020603050405020304" pitchFamily="18" charset="0"/>
              </a:rPr>
              <a:t>      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endParaRPr lang="en-US" altLang="zh-CN" sz="2400" b="1" dirty="0">
              <a:latin typeface="Trebuchet MS" panose="020B0603020202020204" pitchFamily="34" charset="0"/>
              <a:cs typeface="Times New Roman" panose="02020603050405020304" pitchFamily="18" charset="0"/>
            </a:endParaRPr>
          </a:p>
          <a:p>
            <a:pPr indent="490538" algn="just" eaLnBrk="1" hangingPunct="1">
              <a:lnSpc>
                <a:spcPct val="120000"/>
              </a:lnSpc>
              <a:spcBef>
                <a:spcPts val="300"/>
              </a:spcBef>
              <a:buFontTx/>
              <a:buNone/>
            </a:pPr>
            <a:r>
              <a:rPr lang="zh-CN" altLang="en-US" sz="2400" b="1" dirty="0">
                <a:solidFill>
                  <a:srgbClr val="FF3300"/>
                </a:solidFill>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endParaRPr>
          </a:p>
          <a:p>
            <a:pPr indent="490538">
              <a:lnSpc>
                <a:spcPct val="120000"/>
              </a:lnSpc>
              <a:spcBef>
                <a:spcPts val="300"/>
              </a:spcBef>
              <a:buNone/>
            </a:pPr>
            <a:r>
              <a:rPr lang="en-US" sz="2400" b="1" dirty="0">
                <a:solidFill>
                  <a:srgbClr val="0B61FF"/>
                </a:solidFill>
                <a:latin typeface="Trebuchet MS" panose="020B0603020202020204" pitchFamily="34" charset="0"/>
              </a:rPr>
              <a:t>(2) </a:t>
            </a:r>
            <a:r>
              <a:rPr lang="en-US" sz="2400" dirty="0">
                <a:latin typeface="Trebuchet MS" panose="020B0603020202020204" pitchFamily="34" charset="0"/>
              </a:rPr>
              <a:t>Move negation (¬) inward or eliminate it:</a:t>
            </a:r>
          </a:p>
          <a:p>
            <a:pPr indent="490538"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A</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indent="490538"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endParaRPr lang="en-US" altLang="zh-CN" sz="2400" b="1" dirty="0">
              <a:latin typeface="Trebuchet MS" panose="020B0603020202020204" pitchFamily="34" charset="0"/>
              <a:cs typeface="Times New Roman" panose="02020603050405020304" pitchFamily="18" charset="0"/>
            </a:endParaRPr>
          </a:p>
          <a:p>
            <a:pPr indent="490538" algn="just" eaLnBrk="1" hangingPunct="1">
              <a:lnSpc>
                <a:spcPct val="120000"/>
              </a:lnSpc>
              <a:spcBef>
                <a:spcPts val="300"/>
              </a:spcBef>
              <a:buFontTx/>
              <a:buNone/>
            </a:pP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527414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anim calcmode="lin" valueType="num">
                                      <p:cBhvr>
                                        <p:cTn id="1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1000"/>
                                        <p:tgtEl>
                                          <p:spTgt spid="8">
                                            <p:txEl>
                                              <p:pRg st="5" end="5"/>
                                            </p:txEl>
                                          </p:spTgt>
                                        </p:tgtEl>
                                      </p:cBhvr>
                                    </p:animEffect>
                                    <p:anim calcmode="lin" valueType="num">
                                      <p:cBhvr>
                                        <p:cTn id="2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1000"/>
                                        <p:tgtEl>
                                          <p:spTgt spid="8">
                                            <p:txEl>
                                              <p:pRg st="6" end="6"/>
                                            </p:txEl>
                                          </p:spTgt>
                                        </p:tgtEl>
                                      </p:cBhvr>
                                    </p:animEffect>
                                    <p:anim calcmode="lin" valueType="num">
                                      <p:cBhvr>
                                        <p:cTn id="3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fade">
                                      <p:cBhvr>
                                        <p:cTn id="34" dur="1000"/>
                                        <p:tgtEl>
                                          <p:spTgt spid="8">
                                            <p:txEl>
                                              <p:pRg st="7" end="7"/>
                                            </p:txEl>
                                          </p:spTgt>
                                        </p:tgtEl>
                                      </p:cBhvr>
                                    </p:animEffect>
                                    <p:anim calcmode="lin" valueType="num">
                                      <p:cBhvr>
                                        <p:cTn id="3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animEffect transition="in" filter="fade">
                                      <p:cBhvr>
                                        <p:cTn id="39" dur="1000"/>
                                        <p:tgtEl>
                                          <p:spTgt spid="8">
                                            <p:txEl>
                                              <p:pRg st="8" end="8"/>
                                            </p:txEl>
                                          </p:spTgt>
                                        </p:tgtEl>
                                      </p:cBhvr>
                                    </p:animEffect>
                                    <p:anim calcmode="lin" valueType="num">
                                      <p:cBhvr>
                                        <p:cTn id="40"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animEffect transition="in" filter="fade">
                                      <p:cBhvr>
                                        <p:cTn id="44" dur="1000"/>
                                        <p:tgtEl>
                                          <p:spTgt spid="8">
                                            <p:txEl>
                                              <p:pRg st="9" end="9"/>
                                            </p:txEl>
                                          </p:spTgt>
                                        </p:tgtEl>
                                      </p:cBhvr>
                                    </p:animEffect>
                                    <p:anim calcmode="lin" valueType="num">
                                      <p:cBhvr>
                                        <p:cTn id="45"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2.3.1 Disjunctive Normal Form (DNF) and Conjunctive Normal Form (CNF)</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Obtaining the normal form </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830492"/>
            <a:ext cx="8907148" cy="52121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sz="2400" b="1" dirty="0">
                <a:solidFill>
                  <a:srgbClr val="0B61FF"/>
                </a:solidFill>
                <a:latin typeface="Trebuchet MS" panose="020B0603020202020204" pitchFamily="34" charset="0"/>
              </a:rPr>
              <a:t>(3</a:t>
            </a:r>
            <a:r>
              <a:rPr lang="en-US" altLang="zh-CN" sz="2400" b="1" dirty="0">
                <a:solidFill>
                  <a:srgbClr val="0B61FF"/>
                </a:solidFill>
                <a:latin typeface="Trebuchet MS" panose="020B0603020202020204" pitchFamily="34" charset="0"/>
              </a:rPr>
              <a:t>) </a:t>
            </a:r>
            <a:r>
              <a:rPr lang="en-US" sz="2400" dirty="0">
                <a:latin typeface="Trebuchet MS" panose="020B0603020202020204" pitchFamily="34" charset="0"/>
              </a:rPr>
              <a:t>Using the Distributive Law</a:t>
            </a:r>
          </a:p>
          <a:p>
            <a:pPr eaLnBrk="1" hangingPunct="1">
              <a:buFontTx/>
              <a:buNone/>
            </a:pPr>
            <a:r>
              <a:rPr lang="en-US" altLang="zh-CN" sz="2400" b="1" i="1" dirty="0">
                <a:latin typeface="Trebuchet MS" panose="020B0603020202020204" pitchFamily="34" charset="0"/>
                <a:cs typeface="Times New Roman" panose="02020603050405020304" pitchFamily="18" charset="0"/>
              </a:rPr>
              <a:t>      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For finding CNF</a:t>
            </a:r>
            <a:r>
              <a:rPr lang="zh-CN" altLang="en-US" sz="2400" b="1" dirty="0">
                <a:latin typeface="Trebuchet MS" panose="020B0603020202020204" pitchFamily="34" charset="0"/>
                <a:cs typeface="Times New Roman" panose="02020603050405020304" pitchFamily="18" charset="0"/>
              </a:rPr>
              <a:t> </a:t>
            </a:r>
          </a:p>
          <a:p>
            <a:pPr algn="just" eaLnBrk="1" hangingPunct="1">
              <a:buFontTx/>
              <a:buNone/>
            </a:pP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For finding DNF</a:t>
            </a:r>
            <a:endParaRPr lang="zh-CN" altLang="en-US" sz="2400" b="1" dirty="0">
              <a:latin typeface="Trebuchet MS" panose="020B0603020202020204" pitchFamily="34" charset="0"/>
            </a:endParaRPr>
          </a:p>
          <a:p>
            <a:pPr algn="just" eaLnBrk="1" hangingPunct="1">
              <a:buFontTx/>
              <a:buNone/>
            </a:pPr>
            <a:endParaRPr lang="zh-CN" altLang="en-US" sz="2400" b="1" dirty="0">
              <a:latin typeface="Trebuchet MS" panose="020B0603020202020204" pitchFamily="34" charset="0"/>
            </a:endParaRPr>
          </a:p>
          <a:p>
            <a:pPr algn="just" eaLnBrk="1" hangingPunct="1">
              <a:buFontTx/>
              <a:buNone/>
            </a:pPr>
            <a:r>
              <a:rPr lang="en-US" sz="2400" b="1" dirty="0">
                <a:latin typeface="Trebuchet MS" panose="020B0603020202020204" pitchFamily="34" charset="0"/>
              </a:rPr>
              <a:t>       Example</a:t>
            </a:r>
            <a:r>
              <a:rPr lang="zh-CN" altLang="en-US" sz="2400" b="1"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Find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 </a:t>
            </a:r>
            <a:r>
              <a:rPr lang="en-US" sz="2400" dirty="0">
                <a:latin typeface="Trebuchet MS" panose="020B0603020202020204" pitchFamily="34" charset="0"/>
              </a:rPr>
              <a:t>DNF and CNF</a:t>
            </a:r>
            <a:endParaRPr lang="en-US" altLang="zh-CN" sz="2400" b="1" dirty="0">
              <a:latin typeface="Trebuchet MS" panose="020B0603020202020204" pitchFamily="34" charset="0"/>
              <a:cs typeface="Times New Roman" panose="02020603050405020304" pitchFamily="18" charset="0"/>
            </a:endParaRPr>
          </a:p>
          <a:p>
            <a:pPr marL="0" indent="533400" algn="just" eaLnBrk="1" hangingPunct="1">
              <a:buFontTx/>
              <a:buNone/>
            </a:pPr>
            <a:r>
              <a:rPr lang="en-US" sz="2400" b="1" dirty="0">
                <a:latin typeface="Trebuchet MS" panose="020B0603020202020204" pitchFamily="34" charset="0"/>
              </a:rPr>
              <a:t>Solution:</a:t>
            </a:r>
            <a:r>
              <a:rPr lang="zh-CN" altLang="en-US" sz="2400" b="1"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endParaRPr lang="en-US" altLang="zh-CN" sz="2400" b="1" dirty="0">
              <a:latin typeface="Trebuchet MS" panose="020B0603020202020204" pitchFamily="34" charset="0"/>
              <a:cs typeface="Times New Roman" panose="02020603050405020304" pitchFamily="18" charset="0"/>
            </a:endParaRPr>
          </a:p>
          <a:p>
            <a:pPr marL="0" indent="1165225" algn="just" eaLnBrk="1" hangingPunct="1">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endParaRPr lang="zh-CN" altLang="en-US" sz="2400" b="1" dirty="0">
              <a:latin typeface="Trebuchet MS" panose="020B0603020202020204" pitchFamily="34" charset="0"/>
              <a:cs typeface="Times New Roman" panose="02020603050405020304" pitchFamily="18" charset="0"/>
            </a:endParaRPr>
          </a:p>
          <a:p>
            <a:pPr marL="0" indent="1165225" algn="just" eaLnBrk="1" hangingPunct="1">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DNF</a:t>
            </a:r>
            <a:endParaRPr lang="zh-CN" altLang="en-US" sz="2400" b="1" dirty="0">
              <a:latin typeface="Trebuchet MS" panose="020B0603020202020204" pitchFamily="34" charset="0"/>
            </a:endParaRPr>
          </a:p>
          <a:p>
            <a:pPr marL="0" indent="1165225" algn="just" eaLnBrk="1" hangingPunct="1">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CNF</a:t>
            </a:r>
          </a:p>
          <a:p>
            <a:pPr marL="0" indent="1165225" algn="just" eaLnBrk="1" hangingPunct="1">
              <a:buFontTx/>
              <a:buNone/>
            </a:pPr>
            <a:endParaRPr lang="zh-CN" altLang="en-US" sz="2400" b="1" dirty="0">
              <a:latin typeface="Trebuchet MS" panose="020B0603020202020204" pitchFamily="34" charset="0"/>
            </a:endParaRPr>
          </a:p>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rebuchet MS" panose="020B0603020202020204" pitchFamily="34" charset="0"/>
              </a:rPr>
              <a:t> Note</a:t>
            </a:r>
            <a:r>
              <a:rPr kumimoji="0" lang="en-US" altLang="en-US" sz="2400" b="0" i="0" u="none" strike="noStrike" cap="none" normalizeH="0" baseline="0" dirty="0">
                <a:ln>
                  <a:noFill/>
                </a:ln>
                <a:solidFill>
                  <a:schemeClr val="tx1"/>
                </a:solidFill>
                <a:effectLst/>
                <a:latin typeface="Trebuchet MS" panose="020B0603020202020204" pitchFamily="34" charset="0"/>
              </a:rPr>
              <a:t>: The DNF and CNF of a formula are not unique.</a:t>
            </a:r>
          </a:p>
          <a:p>
            <a:pPr algn="just" eaLnBrk="1" hangingPunct="1">
              <a:buFontTx/>
              <a:buNone/>
            </a:pP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81C88FA5-D939-43CC-B518-A98D7538DB2B}"/>
              </a:ext>
            </a:extLst>
          </p:cNvPr>
          <p:cNvPicPr/>
          <p:nvPr/>
        </p:nvPicPr>
        <p:blipFill>
          <a:blip r:embed="rId6"/>
          <a:stretch>
            <a:fillRect/>
          </a:stretch>
        </p:blipFill>
        <p:spPr>
          <a:xfrm>
            <a:off x="972185" y="2715623"/>
            <a:ext cx="577850" cy="241300"/>
          </a:xfrm>
          <a:prstGeom prst="rect">
            <a:avLst/>
          </a:prstGeom>
        </p:spPr>
      </p:pic>
      <p:sp>
        <p:nvSpPr>
          <p:cNvPr id="4" name="Rectangle 2">
            <a:extLst>
              <a:ext uri="{FF2B5EF4-FFF2-40B4-BE49-F238E27FC236}">
                <a16:creationId xmlns:a16="http://schemas.microsoft.com/office/drawing/2014/main" id="{497A94DA-E143-4457-AA6D-1B66EC79144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8C029338-FFF1-42A0-8177-E1EA33A620FF}"/>
              </a:ext>
            </a:extLst>
          </p:cNvPr>
          <p:cNvGraphicFramePr>
            <a:graphicFrameLocks noChangeAspect="1"/>
          </p:cNvGraphicFramePr>
          <p:nvPr>
            <p:extLst>
              <p:ext uri="{D42A27DB-BD31-4B8C-83A1-F6EECF244321}">
                <p14:modId xmlns:p14="http://schemas.microsoft.com/office/powerpoint/2010/main" val="739639397"/>
              </p:ext>
            </p:extLst>
          </p:nvPr>
        </p:nvGraphicFramePr>
        <p:xfrm>
          <a:off x="1143635" y="5212563"/>
          <a:ext cx="406400" cy="494270"/>
        </p:xfrm>
        <a:graphic>
          <a:graphicData uri="http://schemas.openxmlformats.org/presentationml/2006/ole">
            <mc:AlternateContent xmlns:mc="http://schemas.openxmlformats.org/markup-compatibility/2006">
              <mc:Choice xmlns:v="urn:schemas-microsoft-com:vml" Requires="v">
                <p:oleObj spid="_x0000_s4112" name="Visio" r:id="rId7" imgW="584296" imgH="698595" progId="Visio.Drawing.15">
                  <p:embed/>
                </p:oleObj>
              </mc:Choice>
              <mc:Fallback>
                <p:oleObj name="Visio" r:id="rId7" imgW="584296" imgH="698595" progId="Visio.Drawing.15">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635" y="5212563"/>
                        <a:ext cx="406400" cy="494270"/>
                      </a:xfrm>
                      <a:prstGeom prst="rect">
                        <a:avLst/>
                      </a:prstGeom>
                      <a:noFill/>
                    </p:spPr>
                  </p:pic>
                </p:oleObj>
              </mc:Fallback>
            </mc:AlternateContent>
          </a:graphicData>
        </a:graphic>
      </p:graphicFrame>
    </p:spTree>
    <p:extLst>
      <p:ext uri="{BB962C8B-B14F-4D97-AF65-F5344CB8AC3E}">
        <p14:creationId xmlns:p14="http://schemas.microsoft.com/office/powerpoint/2010/main" val="39429543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1000"/>
                                        <p:tgtEl>
                                          <p:spTgt spid="8">
                                            <p:txEl>
                                              <p:pRg st="6" end="6"/>
                                            </p:txEl>
                                          </p:spTgt>
                                        </p:tgtEl>
                                      </p:cBhvr>
                                    </p:animEffect>
                                    <p:anim calcmode="lin" valueType="num">
                                      <p:cBhvr>
                                        <p:cTn id="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1000"/>
                                        <p:tgtEl>
                                          <p:spTgt spid="8">
                                            <p:txEl>
                                              <p:pRg st="7" end="7"/>
                                            </p:txEl>
                                          </p:spTgt>
                                        </p:tgtEl>
                                      </p:cBhvr>
                                    </p:animEffect>
                                    <p:anim calcmode="lin" valueType="num">
                                      <p:cBhvr>
                                        <p:cTn id="2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fade">
                                      <p:cBhvr>
                                        <p:cTn id="32" dur="1000"/>
                                        <p:tgtEl>
                                          <p:spTgt spid="8">
                                            <p:txEl>
                                              <p:pRg st="8" end="8"/>
                                            </p:txEl>
                                          </p:spTgt>
                                        </p:tgtEl>
                                      </p:cBhvr>
                                    </p:animEffect>
                                    <p:anim calcmode="lin" valueType="num">
                                      <p:cBhvr>
                                        <p:cTn id="33"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8">
                                            <p:txEl>
                                              <p:pRg st="10" end="10"/>
                                            </p:txEl>
                                          </p:spTgt>
                                        </p:tgtEl>
                                        <p:attrNameLst>
                                          <p:attrName>style.visibility</p:attrName>
                                        </p:attrNameLst>
                                      </p:cBhvr>
                                      <p:to>
                                        <p:strVal val="visible"/>
                                      </p:to>
                                    </p:set>
                                    <p:animEffect transition="in" filter="fade">
                                      <p:cBhvr>
                                        <p:cTn id="39" dur="1000"/>
                                        <p:tgtEl>
                                          <p:spTgt spid="8">
                                            <p:txEl>
                                              <p:pRg st="10" end="10"/>
                                            </p:txEl>
                                          </p:spTgt>
                                        </p:tgtEl>
                                      </p:cBhvr>
                                    </p:animEffect>
                                    <p:anim calcmode="lin" valueType="num">
                                      <p:cBhvr>
                                        <p:cTn id="40"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1000"/>
                                        <p:tgtEl>
                                          <p:spTgt spid="5"/>
                                        </p:tgtEl>
                                      </p:cBhvr>
                                    </p:animEffect>
                                    <p:anim calcmode="lin" valueType="num">
                                      <p:cBhvr>
                                        <p:cTn id="45" dur="1000" fill="hold"/>
                                        <p:tgtEl>
                                          <p:spTgt spid="5"/>
                                        </p:tgtEl>
                                        <p:attrNameLst>
                                          <p:attrName>ppt_x</p:attrName>
                                        </p:attrNameLst>
                                      </p:cBhvr>
                                      <p:tavLst>
                                        <p:tav tm="0">
                                          <p:val>
                                            <p:strVal val="#ppt_x"/>
                                          </p:val>
                                        </p:tav>
                                        <p:tav tm="100000">
                                          <p:val>
                                            <p:strVal val="#ppt_x"/>
                                          </p:val>
                                        </p:tav>
                                      </p:tavLst>
                                    </p:anim>
                                    <p:anim calcmode="lin" valueType="num">
                                      <p:cBhvr>
                                        <p:cTn id="4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2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err="1">
                <a:latin typeface="Trebuchet MS" panose="020B0603020202020204" pitchFamily="34" charset="0"/>
              </a:rPr>
              <a:t>Minterms</a:t>
            </a:r>
            <a:r>
              <a:rPr lang="en-US" altLang="zh-CN" sz="2400" b="1" dirty="0">
                <a:latin typeface="Trebuchet MS" panose="020B0603020202020204" pitchFamily="34" charset="0"/>
              </a:rPr>
              <a:t> and Maxter</a:t>
            </a:r>
            <a:r>
              <a:rPr lang="en-US" altLang="zh-CN" sz="2400" dirty="0">
                <a:latin typeface="Trebuchet MS" panose="020B0603020202020204" pitchFamily="34" charset="0"/>
              </a:rPr>
              <a:t>ms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928461"/>
            <a:ext cx="10148119" cy="51332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2.17</a:t>
            </a:r>
            <a:r>
              <a:rPr lang="zh-CN" altLang="en-US" sz="2400" b="1" dirty="0">
                <a:latin typeface="Trebuchet MS" panose="020B0603020202020204" pitchFamily="34" charset="0"/>
              </a:rPr>
              <a:t>：</a:t>
            </a:r>
            <a:r>
              <a:rPr lang="en-US" altLang="zh-CN" sz="2400" b="1" dirty="0" err="1">
                <a:latin typeface="Trebuchet MS" panose="020B0603020202020204" pitchFamily="34" charset="0"/>
              </a:rPr>
              <a:t>minterm</a:t>
            </a:r>
            <a:r>
              <a:rPr lang="en-US" altLang="zh-CN" sz="2400" dirty="0">
                <a:latin typeface="Trebuchet MS" panose="020B0603020202020204" pitchFamily="34" charset="0"/>
              </a:rPr>
              <a:t> and </a:t>
            </a:r>
            <a:r>
              <a:rPr lang="en-US" altLang="zh-CN" sz="2400" b="1" dirty="0">
                <a:latin typeface="Trebuchet MS" panose="020B0603020202020204" pitchFamily="34" charset="0"/>
              </a:rPr>
              <a:t>maxterm</a:t>
            </a:r>
            <a:br>
              <a:rPr lang="en-US" sz="2400" dirty="0">
                <a:latin typeface="Trebuchet MS" panose="020B0603020202020204" pitchFamily="34" charset="0"/>
              </a:rPr>
            </a:br>
            <a:r>
              <a:rPr lang="en-US" sz="2400" dirty="0">
                <a:latin typeface="Trebuchet MS" panose="020B0603020202020204" pitchFamily="34" charset="0"/>
              </a:rPr>
              <a:t>In a simple conjunctive form (or simple disjunctive form) containing </a:t>
            </a:r>
            <a:r>
              <a:rPr lang="en-US" sz="2400" b="1" i="1" dirty="0">
                <a:latin typeface="Trebuchet MS" panose="020B0603020202020204" pitchFamily="34" charset="0"/>
              </a:rPr>
              <a:t>n</a:t>
            </a:r>
            <a:r>
              <a:rPr lang="en-US" sz="2400" dirty="0">
                <a:latin typeface="Trebuchet MS" panose="020B0603020202020204" pitchFamily="34" charset="0"/>
              </a:rPr>
              <a:t> propositional variables, if each propositional variable appears exactly once in the form of a literal and the </a:t>
            </a:r>
            <a:r>
              <a:rPr lang="en-US" sz="2400" b="1" i="1" dirty="0">
                <a:latin typeface="Trebuchet MS" panose="020B0603020202020204" pitchFamily="34" charset="0"/>
              </a:rPr>
              <a:t>i-</a:t>
            </a:r>
            <a:r>
              <a:rPr lang="en-US" sz="2400" b="1" i="1" dirty="0" err="1">
                <a:latin typeface="Trebuchet MS" panose="020B0603020202020204" pitchFamily="34" charset="0"/>
              </a:rPr>
              <a:t>th</a:t>
            </a:r>
            <a:r>
              <a:rPr lang="en-US" sz="2400" b="1" i="1" dirty="0">
                <a:latin typeface="Trebuchet MS" panose="020B0603020202020204" pitchFamily="34" charset="0"/>
              </a:rPr>
              <a:t> literal </a:t>
            </a:r>
            <a:r>
              <a:rPr lang="en-US" sz="2400" dirty="0">
                <a:latin typeface="Trebuchet MS" panose="020B0603020202020204" pitchFamily="34" charset="0"/>
              </a:rPr>
              <a:t>(arranged in subscript or alphabetical order) appears in the </a:t>
            </a:r>
            <a:r>
              <a:rPr lang="en-US" sz="2400" b="1" i="1" dirty="0">
                <a:latin typeface="Trebuchet MS" panose="020B0603020202020204" pitchFamily="34" charset="0"/>
              </a:rPr>
              <a:t>i-</a:t>
            </a:r>
            <a:r>
              <a:rPr lang="en-US" sz="2400" b="1" i="1" dirty="0" err="1">
                <a:latin typeface="Trebuchet MS" panose="020B0603020202020204" pitchFamily="34" charset="0"/>
              </a:rPr>
              <a:t>th</a:t>
            </a:r>
            <a:r>
              <a:rPr lang="en-US" sz="2400" b="1" i="1" dirty="0">
                <a:latin typeface="Trebuchet MS" panose="020B0603020202020204" pitchFamily="34" charset="0"/>
              </a:rPr>
              <a:t> position </a:t>
            </a:r>
            <a:r>
              <a:rPr lang="en-US" sz="2400" dirty="0">
                <a:latin typeface="Trebuchet MS" panose="020B0603020202020204" pitchFamily="34" charset="0"/>
              </a:rPr>
              <a:t>from the left, such a simple conjunctive form (or simple disjunctive form) is called a </a:t>
            </a:r>
            <a:r>
              <a:rPr lang="en-US" sz="2400" b="1" i="1" dirty="0" err="1">
                <a:latin typeface="Trebuchet MS" panose="020B0603020202020204" pitchFamily="34" charset="0"/>
              </a:rPr>
              <a:t>minterm</a:t>
            </a:r>
            <a:r>
              <a:rPr lang="en-US" sz="2400" dirty="0">
                <a:latin typeface="Trebuchet MS" panose="020B0603020202020204" pitchFamily="34" charset="0"/>
              </a:rPr>
              <a:t> (or </a:t>
            </a:r>
            <a:r>
              <a:rPr lang="en-US" sz="2400" b="1" i="1" dirty="0">
                <a:latin typeface="Trebuchet MS" panose="020B0603020202020204" pitchFamily="34" charset="0"/>
              </a:rPr>
              <a:t>maxterm</a:t>
            </a:r>
            <a:r>
              <a:rPr lang="en-US" sz="2400" dirty="0">
                <a:latin typeface="Trebuchet MS" panose="020B0603020202020204" pitchFamily="34" charset="0"/>
              </a:rPr>
              <a:t>).</a:t>
            </a:r>
          </a:p>
          <a:p>
            <a:pPr algn="just" eaLnBrk="1" hangingPunct="1">
              <a:lnSpc>
                <a:spcPct val="120000"/>
              </a:lnSpc>
              <a:spcBef>
                <a:spcPts val="300"/>
              </a:spcBef>
              <a:buFontTx/>
              <a:buNone/>
            </a:pPr>
            <a:endParaRPr lang="zh-CN" altLang="en-US" sz="2400" b="1" dirty="0">
              <a:solidFill>
                <a:srgbClr val="FF3300"/>
              </a:solidFill>
              <a:latin typeface="Trebuchet MS" panose="020B0603020202020204" pitchFamily="34" charset="0"/>
            </a:endParaRPr>
          </a:p>
          <a:p>
            <a:pPr algn="just">
              <a:lnSpc>
                <a:spcPct val="120000"/>
              </a:lnSpc>
              <a:spcBef>
                <a:spcPts val="300"/>
              </a:spcBef>
              <a:buNone/>
            </a:pPr>
            <a:r>
              <a:rPr lang="en-US" sz="2400" b="1" dirty="0">
                <a:latin typeface="Trebuchet MS" panose="020B0603020202020204" pitchFamily="34" charset="0"/>
              </a:rPr>
              <a:t>       Examples</a:t>
            </a:r>
            <a:r>
              <a:rPr lang="en-US" sz="2400" dirty="0">
                <a:latin typeface="Trebuchet MS" panose="020B0603020202020204" pitchFamily="34" charset="0"/>
              </a:rPr>
              <a:t>:</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latin typeface="Trebuchet MS" panose="020B0603020202020204" pitchFamily="34" charset="0"/>
                <a:ea typeface="宋体" panose="02010600030101010101" pitchFamily="2" charset="-122"/>
                <a:cs typeface="Times New Roman" panose="02020603050405020304" pitchFamily="18" charset="0"/>
              </a:rPr>
              <a:t>p</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latin typeface="Trebuchet MS" panose="020B0603020202020204" pitchFamily="34" charset="0"/>
                <a:ea typeface="宋体" panose="02010600030101010101" pitchFamily="2" charset="-122"/>
                <a:cs typeface="Times New Roman" panose="02020603050405020304" pitchFamily="18" charset="0"/>
              </a:rPr>
              <a:t>q</a:t>
            </a:r>
            <a:r>
              <a:rPr kumimoji="1" lang="zh-CN" altLang="en-US" sz="2400" b="1" i="1" dirty="0">
                <a:latin typeface="Trebuchet MS" panose="020B0603020202020204" pitchFamily="34" charset="0"/>
                <a:ea typeface="宋体" panose="02010600030101010101" pitchFamily="2" charset="-122"/>
                <a:cs typeface="Times New Roman" panose="02020603050405020304" pitchFamily="18" charset="0"/>
              </a:rPr>
              <a:t>，</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latin typeface="Trebuchet MS" panose="020B0603020202020204" pitchFamily="34" charset="0"/>
                <a:ea typeface="宋体" panose="02010600030101010101" pitchFamily="2" charset="-122"/>
                <a:cs typeface="Times New Roman" panose="02020603050405020304" pitchFamily="18" charset="0"/>
              </a:rPr>
              <a:t>p</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q</a:t>
            </a:r>
            <a:r>
              <a:rPr kumimoji="1"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r</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a:t>
            </a:r>
            <a:r>
              <a:rPr lang="en-US" sz="2400" b="1" dirty="0" err="1">
                <a:latin typeface="Trebuchet MS" panose="020B0603020202020204" pitchFamily="34" charset="0"/>
              </a:rPr>
              <a:t>minterms</a:t>
            </a:r>
            <a:r>
              <a:rPr lang="en-US" sz="2400" dirty="0">
                <a:latin typeface="Trebuchet MS" panose="020B0603020202020204" pitchFamily="34" charset="0"/>
              </a:rPr>
              <a:t>.</a:t>
            </a:r>
            <a:endParaRPr lang="en-US" altLang="zh-CN" sz="2400" b="1" dirty="0">
              <a:latin typeface="Trebuchet MS" panose="020B0603020202020204" pitchFamily="34" charset="0"/>
            </a:endParaRPr>
          </a:p>
          <a:p>
            <a:pPr algn="just" eaLnBrk="1" hangingPunct="1">
              <a:lnSpc>
                <a:spcPct val="120000"/>
              </a:lnSpc>
              <a:spcBef>
                <a:spcPts val="300"/>
              </a:spcBef>
              <a:buFontTx/>
              <a:buNone/>
            </a:pPr>
            <a:r>
              <a:rPr lang="en-US" altLang="zh-CN" sz="2400" b="1" dirty="0">
                <a:latin typeface="Trebuchet MS" panose="020B0603020202020204" pitchFamily="34" charset="0"/>
                <a:sym typeface="Wingdings" panose="05000000000000000000" pitchFamily="2" charset="2"/>
              </a:rPr>
              <a:t>                        </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latin typeface="Trebuchet MS" panose="020B0603020202020204" pitchFamily="34" charset="0"/>
                <a:ea typeface="宋体" panose="02010600030101010101" pitchFamily="2" charset="-122"/>
                <a:cs typeface="Times New Roman" panose="02020603050405020304" pitchFamily="18" charset="0"/>
              </a:rPr>
              <a:t>q</a:t>
            </a:r>
            <a:r>
              <a:rPr kumimoji="1" lang="zh-CN" altLang="en-US" sz="2400" b="1" i="1" dirty="0">
                <a:latin typeface="Trebuchet MS" panose="020B0603020202020204" pitchFamily="34" charset="0"/>
                <a:ea typeface="宋体" panose="02010600030101010101" pitchFamily="2" charset="-122"/>
                <a:cs typeface="Times New Roman" panose="02020603050405020304" pitchFamily="18" charset="0"/>
              </a:rPr>
              <a:t>，</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kumimoji="1"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r</a:t>
            </a:r>
            <a:r>
              <a:rPr kumimoji="1"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a:t>
            </a:r>
            <a:r>
              <a:rPr lang="en-US" sz="2400" b="1" dirty="0">
                <a:latin typeface="Trebuchet MS" panose="020B0603020202020204" pitchFamily="34" charset="0"/>
              </a:rPr>
              <a:t>maxterms</a:t>
            </a:r>
            <a:r>
              <a:rPr lang="en-US" sz="2400" dirty="0">
                <a:latin typeface="Trebuchet MS" panose="020B0603020202020204" pitchFamily="34" charset="0"/>
              </a:rPr>
              <a:t>.</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F37924A3-262D-4762-84ED-C741DC7BBDA1}"/>
              </a:ext>
            </a:extLst>
          </p:cNvPr>
          <p:cNvPicPr/>
          <p:nvPr/>
        </p:nvPicPr>
        <p:blipFill>
          <a:blip r:embed="rId5"/>
          <a:stretch>
            <a:fillRect/>
          </a:stretch>
        </p:blipFill>
        <p:spPr>
          <a:xfrm>
            <a:off x="972185" y="4653283"/>
            <a:ext cx="577850" cy="241300"/>
          </a:xfrm>
          <a:prstGeom prst="rect">
            <a:avLst/>
          </a:prstGeom>
        </p:spPr>
      </p:pic>
    </p:spTree>
    <p:extLst>
      <p:ext uri="{BB962C8B-B14F-4D97-AF65-F5344CB8AC3E}">
        <p14:creationId xmlns:p14="http://schemas.microsoft.com/office/powerpoint/2010/main" val="36064602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2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err="1">
                <a:latin typeface="Trebuchet MS" panose="020B0603020202020204" pitchFamily="34" charset="0"/>
              </a:rPr>
              <a:t>Minterms</a:t>
            </a:r>
            <a:r>
              <a:rPr lang="en-US" altLang="zh-CN" sz="2400" b="1" dirty="0">
                <a:latin typeface="Trebuchet MS" panose="020B0603020202020204" pitchFamily="34" charset="0"/>
              </a:rPr>
              <a:t> and Maxter</a:t>
            </a:r>
            <a:r>
              <a:rPr lang="en-US" altLang="zh-CN" sz="2400" dirty="0">
                <a:latin typeface="Trebuchet MS" panose="020B0603020202020204" pitchFamily="34" charset="0"/>
              </a:rPr>
              <a:t>ms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655398" y="1072138"/>
            <a:ext cx="11374859" cy="55152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358775">
              <a:lnSpc>
                <a:spcPct val="120000"/>
              </a:lnSpc>
              <a:spcBef>
                <a:spcPts val="300"/>
              </a:spcBef>
              <a:buNone/>
            </a:pPr>
            <a:r>
              <a:rPr lang="en-US" sz="2400" b="1" dirty="0">
                <a:latin typeface="Trebuchet MS" panose="020B0603020202020204" pitchFamily="34" charset="0"/>
              </a:rPr>
              <a:t>    Explanation:</a:t>
            </a:r>
          </a:p>
          <a:p>
            <a:pPr marL="719138" indent="-447675">
              <a:lnSpc>
                <a:spcPct val="120000"/>
              </a:lnSpc>
              <a:spcBef>
                <a:spcPts val="300"/>
              </a:spcBef>
              <a:buNone/>
            </a:pPr>
            <a:r>
              <a:rPr lang="en-US" b="1" dirty="0">
                <a:solidFill>
                  <a:srgbClr val="0B61FF"/>
                </a:solidFill>
                <a:latin typeface="Trebuchet MS" panose="020B0603020202020204" pitchFamily="34" charset="0"/>
              </a:rPr>
              <a:t>(1) </a:t>
            </a:r>
            <a:r>
              <a:rPr lang="en-US" dirty="0">
                <a:latin typeface="Trebuchet MS" panose="020B0603020202020204" pitchFamily="34" charset="0"/>
              </a:rPr>
              <a:t>Propositional variables serve as placeholders in propositional logic. They do not inherently have truth values but can be replaced by specific propositions with definite truth values (1 or 0).</a:t>
            </a:r>
          </a:p>
          <a:p>
            <a:pPr marL="719138" indent="-447675">
              <a:lnSpc>
                <a:spcPct val="120000"/>
              </a:lnSpc>
              <a:spcBef>
                <a:spcPts val="300"/>
              </a:spcBef>
              <a:buNone/>
            </a:pPr>
            <a:r>
              <a:rPr lang="en-US" b="1" dirty="0">
                <a:solidFill>
                  <a:srgbClr val="0B61FF"/>
                </a:solidFill>
                <a:latin typeface="Trebuchet MS" panose="020B0603020202020204" pitchFamily="34" charset="0"/>
              </a:rPr>
              <a:t>(2) </a:t>
            </a:r>
            <a:r>
              <a:rPr lang="en-US" dirty="0">
                <a:latin typeface="Trebuchet MS" panose="020B0603020202020204" pitchFamily="34" charset="0"/>
              </a:rPr>
              <a:t>A propositional variable can either be a simple proposition or a logical combination involving other variables.</a:t>
            </a:r>
          </a:p>
          <a:p>
            <a:pPr marL="719138" indent="-447675">
              <a:lnSpc>
                <a:spcPct val="120000"/>
              </a:lnSpc>
              <a:spcBef>
                <a:spcPts val="300"/>
              </a:spcBef>
              <a:buNone/>
            </a:pPr>
            <a:r>
              <a:rPr lang="en-US" b="1" dirty="0">
                <a:solidFill>
                  <a:srgbClr val="0B61FF"/>
                </a:solidFill>
                <a:latin typeface="Trebuchet MS" panose="020B0603020202020204" pitchFamily="34" charset="0"/>
              </a:rPr>
              <a:t>(3) </a:t>
            </a:r>
            <a:r>
              <a:rPr lang="en-US" dirty="0">
                <a:latin typeface="Trebuchet MS" panose="020B0603020202020204" pitchFamily="34" charset="0"/>
              </a:rPr>
              <a:t>A truth table with n propositional variables, ranging from all "0" to all "1," consists of 2</a:t>
            </a:r>
            <a:r>
              <a:rPr lang="en-US" baseline="30000" dirty="0">
                <a:latin typeface="Trebuchet MS" panose="020B0603020202020204" pitchFamily="34" charset="0"/>
              </a:rPr>
              <a:t>n</a:t>
            </a:r>
            <a:r>
              <a:rPr lang="en-US" dirty="0">
                <a:latin typeface="Trebuchet MS" panose="020B0603020202020204" pitchFamily="34" charset="0"/>
              </a:rPr>
              <a:t> rows, corresponding to </a:t>
            </a:r>
            <a:r>
              <a:rPr lang="en-US" altLang="zh-CN" dirty="0">
                <a:latin typeface="Trebuchet MS" panose="020B0603020202020204" pitchFamily="34" charset="0"/>
              </a:rPr>
              <a:t>2</a:t>
            </a:r>
            <a:r>
              <a:rPr lang="en-US" altLang="zh-CN" baseline="30000" dirty="0">
                <a:latin typeface="Trebuchet MS" panose="020B0603020202020204" pitchFamily="34" charset="0"/>
              </a:rPr>
              <a:t>n</a:t>
            </a:r>
            <a:r>
              <a:rPr lang="en-US" altLang="zh-CN" dirty="0">
                <a:latin typeface="Trebuchet MS" panose="020B0603020202020204" pitchFamily="34" charset="0"/>
              </a:rPr>
              <a:t>  </a:t>
            </a:r>
            <a:r>
              <a:rPr lang="en-US" dirty="0" err="1">
                <a:latin typeface="Trebuchet MS" panose="020B0603020202020204" pitchFamily="34" charset="0"/>
              </a:rPr>
              <a:t>minterms</a:t>
            </a:r>
            <a:r>
              <a:rPr lang="en-US" dirty="0">
                <a:latin typeface="Trebuchet MS" panose="020B0603020202020204" pitchFamily="34" charset="0"/>
              </a:rPr>
              <a:t> and </a:t>
            </a:r>
            <a:r>
              <a:rPr lang="en-US" altLang="zh-CN" dirty="0">
                <a:latin typeface="Trebuchet MS" panose="020B0603020202020204" pitchFamily="34" charset="0"/>
              </a:rPr>
              <a:t>2</a:t>
            </a:r>
            <a:r>
              <a:rPr lang="en-US" altLang="zh-CN" baseline="30000" dirty="0">
                <a:latin typeface="Trebuchet MS" panose="020B0603020202020204" pitchFamily="34" charset="0"/>
              </a:rPr>
              <a:t>n</a:t>
            </a:r>
            <a:r>
              <a:rPr lang="en-US" altLang="zh-CN" dirty="0">
                <a:latin typeface="Trebuchet MS" panose="020B0603020202020204" pitchFamily="34" charset="0"/>
              </a:rPr>
              <a:t> </a:t>
            </a:r>
            <a:r>
              <a:rPr lang="en-US" dirty="0">
                <a:latin typeface="Trebuchet MS" panose="020B0603020202020204" pitchFamily="34" charset="0"/>
              </a:rPr>
              <a:t>maxterms.</a:t>
            </a:r>
            <a:endParaRPr lang="zh-CN" altLang="en-US" dirty="0">
              <a:latin typeface="Trebuchet MS" panose="020B0603020202020204" pitchFamily="34" charset="0"/>
            </a:endParaRPr>
          </a:p>
        </p:txBody>
      </p:sp>
      <p:sp>
        <p:nvSpPr>
          <p:cNvPr id="4" name="Rectangle 2">
            <a:extLst>
              <a:ext uri="{FF2B5EF4-FFF2-40B4-BE49-F238E27FC236}">
                <a16:creationId xmlns:a16="http://schemas.microsoft.com/office/drawing/2014/main" id="{C045A2F9-E1C3-4F01-B454-C01FF5139DD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1F1C0A36-4A7E-44D9-9F04-32C58B63BA22}"/>
              </a:ext>
            </a:extLst>
          </p:cNvPr>
          <p:cNvGraphicFramePr>
            <a:graphicFrameLocks noChangeAspect="1"/>
          </p:cNvGraphicFramePr>
          <p:nvPr>
            <p:extLst>
              <p:ext uri="{D42A27DB-BD31-4B8C-83A1-F6EECF244321}">
                <p14:modId xmlns:p14="http://schemas.microsoft.com/office/powerpoint/2010/main" val="39228567"/>
              </p:ext>
            </p:extLst>
          </p:nvPr>
        </p:nvGraphicFramePr>
        <p:xfrm>
          <a:off x="1000125" y="1124644"/>
          <a:ext cx="401638" cy="490537"/>
        </p:xfrm>
        <a:graphic>
          <a:graphicData uri="http://schemas.openxmlformats.org/presentationml/2006/ole">
            <mc:AlternateContent xmlns:mc="http://schemas.openxmlformats.org/markup-compatibility/2006">
              <mc:Choice xmlns:v="urn:schemas-microsoft-com:vml" Requires="v">
                <p:oleObj spid="_x0000_s5136" name="Visio" r:id="rId6" imgW="584296" imgH="698595" progId="Visio.Drawing.15">
                  <p:embed/>
                </p:oleObj>
              </mc:Choice>
              <mc:Fallback>
                <p:oleObj name="Visio" r:id="rId6" imgW="584296" imgH="698595"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0125" y="1124644"/>
                        <a:ext cx="401638" cy="490537"/>
                      </a:xfrm>
                      <a:prstGeom prst="rect">
                        <a:avLst/>
                      </a:prstGeom>
                      <a:noFill/>
                    </p:spPr>
                  </p:pic>
                </p:oleObj>
              </mc:Fallback>
            </mc:AlternateContent>
          </a:graphicData>
        </a:graphic>
      </p:graphicFrame>
    </p:spTree>
    <p:extLst>
      <p:ext uri="{BB962C8B-B14F-4D97-AF65-F5344CB8AC3E}">
        <p14:creationId xmlns:p14="http://schemas.microsoft.com/office/powerpoint/2010/main" val="3822367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err="1">
                <a:latin typeface="Trebuchet MS" panose="020B0603020202020204" pitchFamily="34" charset="0"/>
              </a:rPr>
              <a:t>Minterms</a:t>
            </a:r>
            <a:r>
              <a:rPr lang="en-US" altLang="zh-CN" sz="2400" b="1" dirty="0">
                <a:latin typeface="Trebuchet MS" panose="020B0603020202020204" pitchFamily="34" charset="0"/>
              </a:rPr>
              <a:t> and Maxter</a:t>
            </a:r>
            <a:r>
              <a:rPr lang="en-US" altLang="zh-CN" sz="2400" dirty="0">
                <a:latin typeface="Trebuchet MS" panose="020B0603020202020204" pitchFamily="34" charset="0"/>
              </a:rPr>
              <a:t>ms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47057" y="765176"/>
            <a:ext cx="9644744" cy="45345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358775">
              <a:lnSpc>
                <a:spcPct val="120000"/>
              </a:lnSpc>
              <a:spcBef>
                <a:spcPts val="300"/>
              </a:spcBef>
              <a:buNone/>
            </a:pPr>
            <a:r>
              <a:rPr lang="en-US" sz="2400" b="1" dirty="0">
                <a:latin typeface="Trebuchet MS" panose="020B0603020202020204" pitchFamily="34" charset="0"/>
              </a:rPr>
              <a:t>    Explanation:</a:t>
            </a:r>
          </a:p>
          <a:p>
            <a:pPr marL="719138" indent="-447675">
              <a:lnSpc>
                <a:spcPct val="120000"/>
              </a:lnSpc>
              <a:spcBef>
                <a:spcPts val="300"/>
              </a:spcBef>
              <a:buNone/>
            </a:pPr>
            <a:r>
              <a:rPr lang="en-US" altLang="zh-CN" b="1" dirty="0">
                <a:solidFill>
                  <a:srgbClr val="0B61FF"/>
                </a:solidFill>
                <a:latin typeface="Trebuchet MS" panose="020B0603020202020204" pitchFamily="34" charset="0"/>
              </a:rPr>
              <a:t>(4) </a:t>
            </a:r>
            <a:r>
              <a:rPr lang="en-US" altLang="zh-CN" dirty="0">
                <a:latin typeface="Trebuchet MS" panose="020B0603020202020204" pitchFamily="34" charset="0"/>
              </a:rPr>
              <a:t>The </a:t>
            </a:r>
            <a:r>
              <a:rPr lang="zh-CN" altLang="en-US" dirty="0">
                <a:latin typeface="Trebuchet MS" panose="020B0603020202020204" pitchFamily="34" charset="0"/>
              </a:rPr>
              <a:t>2</a:t>
            </a:r>
            <a:r>
              <a:rPr lang="en-US" altLang="zh-CN" baseline="30000" dirty="0">
                <a:latin typeface="Trebuchet MS" panose="020B0603020202020204" pitchFamily="34" charset="0"/>
              </a:rPr>
              <a:t>n</a:t>
            </a:r>
            <a:r>
              <a:rPr lang="en-US" altLang="zh-CN" dirty="0">
                <a:latin typeface="Trebuchet MS" panose="020B0603020202020204" pitchFamily="34" charset="0"/>
              </a:rPr>
              <a:t> </a:t>
            </a:r>
            <a:r>
              <a:rPr lang="en-US" altLang="zh-CN" dirty="0" err="1">
                <a:latin typeface="Trebuchet MS" panose="020B0603020202020204" pitchFamily="34" charset="0"/>
              </a:rPr>
              <a:t>minterms</a:t>
            </a:r>
            <a:r>
              <a:rPr lang="en-US" altLang="zh-CN" dirty="0">
                <a:latin typeface="Trebuchet MS" panose="020B0603020202020204" pitchFamily="34" charset="0"/>
              </a:rPr>
              <a:t> (or maxterms) are all distinct from each other in terms of logical equivalence.</a:t>
            </a:r>
          </a:p>
          <a:p>
            <a:pPr marL="719138" indent="-447675">
              <a:lnSpc>
                <a:spcPct val="120000"/>
              </a:lnSpc>
              <a:spcBef>
                <a:spcPts val="300"/>
              </a:spcBef>
              <a:buNone/>
            </a:pPr>
            <a:r>
              <a:rPr lang="en-US" altLang="zh-CN" b="1" dirty="0">
                <a:solidFill>
                  <a:srgbClr val="0B61FF"/>
                </a:solidFill>
                <a:latin typeface="Trebuchet MS" panose="020B0603020202020204" pitchFamily="34" charset="0"/>
              </a:rPr>
              <a:t>(5) </a:t>
            </a:r>
            <a:r>
              <a:rPr lang="en-US" altLang="zh-CN" dirty="0">
                <a:latin typeface="Trebuchet MS" panose="020B0603020202020204" pitchFamily="34" charset="0"/>
              </a:rPr>
              <a:t>Let </a:t>
            </a:r>
            <a:r>
              <a:rPr lang="en-US" altLang="zh-CN" b="1" i="1" dirty="0">
                <a:latin typeface="Trebuchet MS" panose="020B0603020202020204" pitchFamily="34" charset="0"/>
              </a:rPr>
              <a:t>m</a:t>
            </a:r>
            <a:r>
              <a:rPr lang="en-US" altLang="zh-CN" b="1" i="1" baseline="-25000" dirty="0">
                <a:latin typeface="Trebuchet MS" panose="020B0603020202020204" pitchFamily="34" charset="0"/>
              </a:rPr>
              <a:t>i</a:t>
            </a:r>
            <a:r>
              <a:rPr lang="en-US" altLang="zh-CN" dirty="0">
                <a:latin typeface="Trebuchet MS" panose="020B0603020202020204" pitchFamily="34" charset="0"/>
              </a:rPr>
              <a:t> denote the </a:t>
            </a:r>
            <a:r>
              <a:rPr lang="en-US" altLang="zh-CN" b="1" i="1" dirty="0" err="1">
                <a:latin typeface="Trebuchet MS" panose="020B0603020202020204" pitchFamily="34" charset="0"/>
              </a:rPr>
              <a:t>i</a:t>
            </a:r>
            <a:r>
              <a:rPr lang="en-US" altLang="zh-CN" b="1" dirty="0" err="1">
                <a:latin typeface="Trebuchet MS" panose="020B0603020202020204" pitchFamily="34" charset="0"/>
              </a:rPr>
              <a:t>-th</a:t>
            </a:r>
            <a:r>
              <a:rPr lang="en-US" altLang="zh-CN" b="1" dirty="0">
                <a:latin typeface="Trebuchet MS" panose="020B0603020202020204" pitchFamily="34" charset="0"/>
              </a:rPr>
              <a:t> </a:t>
            </a:r>
            <a:r>
              <a:rPr lang="en-US" altLang="zh-CN" b="1" dirty="0" err="1">
                <a:latin typeface="Trebuchet MS" panose="020B0603020202020204" pitchFamily="34" charset="0"/>
              </a:rPr>
              <a:t>minterm</a:t>
            </a:r>
            <a:r>
              <a:rPr lang="en-US" altLang="zh-CN" dirty="0">
                <a:latin typeface="Trebuchet MS" panose="020B0603020202020204" pitchFamily="34" charset="0"/>
              </a:rPr>
              <a:t>, where </a:t>
            </a:r>
            <a:r>
              <a:rPr lang="en-US" altLang="zh-CN" b="1" i="1" dirty="0" err="1">
                <a:latin typeface="Trebuchet MS" panose="020B0603020202020204" pitchFamily="34" charset="0"/>
              </a:rPr>
              <a:t>i</a:t>
            </a:r>
            <a:r>
              <a:rPr lang="en-US" altLang="zh-CN" dirty="0">
                <a:latin typeface="Trebuchet MS" panose="020B0603020202020204" pitchFamily="34" charset="0"/>
              </a:rPr>
              <a:t> is the decimal representation of the truth assignment that makes the </a:t>
            </a:r>
            <a:r>
              <a:rPr lang="en-US" altLang="zh-CN" dirty="0" err="1">
                <a:latin typeface="Trebuchet MS" panose="020B0603020202020204" pitchFamily="34" charset="0"/>
              </a:rPr>
              <a:t>minterm</a:t>
            </a:r>
            <a:r>
              <a:rPr lang="en-US" altLang="zh-CN" dirty="0">
                <a:latin typeface="Trebuchet MS" panose="020B0603020202020204" pitchFamily="34" charset="0"/>
              </a:rPr>
              <a:t> true. Let </a:t>
            </a:r>
            <a:r>
              <a:rPr lang="en-US" altLang="zh-CN" b="1" i="1" dirty="0">
                <a:latin typeface="Trebuchet MS" panose="020B0603020202020204" pitchFamily="34" charset="0"/>
              </a:rPr>
              <a:t>M</a:t>
            </a:r>
            <a:r>
              <a:rPr lang="en-US" altLang="zh-CN" b="1" i="1" baseline="-25000" dirty="0">
                <a:latin typeface="Trebuchet MS" panose="020B0603020202020204" pitchFamily="34" charset="0"/>
              </a:rPr>
              <a:t>i</a:t>
            </a:r>
            <a:r>
              <a:rPr lang="en-US" altLang="zh-CN" dirty="0">
                <a:latin typeface="Trebuchet MS" panose="020B0603020202020204" pitchFamily="34" charset="0"/>
              </a:rPr>
              <a:t> denote the </a:t>
            </a:r>
            <a:r>
              <a:rPr lang="en-US" altLang="zh-CN" b="1" i="1" dirty="0" err="1">
                <a:latin typeface="Trebuchet MS" panose="020B0603020202020204" pitchFamily="34" charset="0"/>
              </a:rPr>
              <a:t>i</a:t>
            </a:r>
            <a:r>
              <a:rPr lang="en-US" altLang="zh-CN" b="1" dirty="0" err="1">
                <a:latin typeface="Trebuchet MS" panose="020B0603020202020204" pitchFamily="34" charset="0"/>
              </a:rPr>
              <a:t>-th</a:t>
            </a:r>
            <a:r>
              <a:rPr lang="en-US" altLang="zh-CN" b="1" dirty="0">
                <a:latin typeface="Trebuchet MS" panose="020B0603020202020204" pitchFamily="34" charset="0"/>
              </a:rPr>
              <a:t> maxterm</a:t>
            </a:r>
            <a:r>
              <a:rPr lang="en-US" altLang="zh-CN" dirty="0">
                <a:latin typeface="Trebuchet MS" panose="020B0603020202020204" pitchFamily="34" charset="0"/>
              </a:rPr>
              <a:t>, where </a:t>
            </a:r>
            <a:r>
              <a:rPr lang="en-US" altLang="zh-CN" b="1" i="1" dirty="0" err="1">
                <a:latin typeface="Trebuchet MS" panose="020B0603020202020204" pitchFamily="34" charset="0"/>
              </a:rPr>
              <a:t>i</a:t>
            </a:r>
            <a:r>
              <a:rPr lang="en-US" altLang="zh-CN" dirty="0">
                <a:latin typeface="Trebuchet MS" panose="020B0603020202020204" pitchFamily="34" charset="0"/>
              </a:rPr>
              <a:t> is the decimal representation of the truth assignment that makes the maxterm false. </a:t>
            </a:r>
            <a:r>
              <a:rPr lang="en-US" altLang="zh-CN" b="1" i="1" dirty="0">
                <a:latin typeface="Trebuchet MS" panose="020B0603020202020204" pitchFamily="34" charset="0"/>
              </a:rPr>
              <a:t>m</a:t>
            </a:r>
            <a:r>
              <a:rPr lang="en-US" altLang="zh-CN" b="1" i="1" baseline="-25000" dirty="0">
                <a:latin typeface="Trebuchet MS" panose="020B0603020202020204" pitchFamily="34" charset="0"/>
              </a:rPr>
              <a:t>i</a:t>
            </a:r>
            <a:r>
              <a:rPr lang="en-US" altLang="zh-CN" dirty="0">
                <a:latin typeface="Trebuchet MS" panose="020B0603020202020204" pitchFamily="34" charset="0"/>
              </a:rPr>
              <a:t>(or </a:t>
            </a:r>
            <a:r>
              <a:rPr lang="en-US" altLang="zh-CN" b="1" i="1" dirty="0">
                <a:latin typeface="Trebuchet MS" panose="020B0603020202020204" pitchFamily="34" charset="0"/>
              </a:rPr>
              <a:t>M</a:t>
            </a:r>
            <a:r>
              <a:rPr lang="en-US" altLang="zh-CN" b="1" i="1" baseline="-25000" dirty="0">
                <a:latin typeface="Trebuchet MS" panose="020B0603020202020204" pitchFamily="34" charset="0"/>
              </a:rPr>
              <a:t>i</a:t>
            </a:r>
            <a:r>
              <a:rPr lang="en-US" altLang="zh-CN" dirty="0">
                <a:latin typeface="Trebuchet MS" panose="020B0603020202020204" pitchFamily="34" charset="0"/>
              </a:rPr>
              <a:t>) is called the name of the </a:t>
            </a:r>
            <a:r>
              <a:rPr lang="en-US" altLang="zh-CN" dirty="0" err="1">
                <a:latin typeface="Trebuchet MS" panose="020B0603020202020204" pitchFamily="34" charset="0"/>
              </a:rPr>
              <a:t>minterm</a:t>
            </a:r>
            <a:r>
              <a:rPr lang="en-US" altLang="zh-CN" dirty="0">
                <a:latin typeface="Trebuchet MS" panose="020B0603020202020204" pitchFamily="34" charset="0"/>
              </a:rPr>
              <a:t> (or maxterm).</a:t>
            </a:r>
          </a:p>
          <a:p>
            <a:pPr marL="719138" indent="-447675">
              <a:lnSpc>
                <a:spcPct val="120000"/>
              </a:lnSpc>
              <a:spcBef>
                <a:spcPts val="300"/>
              </a:spcBef>
              <a:buNone/>
            </a:pPr>
            <a:endParaRPr lang="zh-CN" altLang="en-US" sz="2400" dirty="0">
              <a:latin typeface="Trebuchet MS" panose="020B0603020202020204" pitchFamily="34" charset="0"/>
            </a:endParaRPr>
          </a:p>
        </p:txBody>
      </p:sp>
      <p:sp>
        <p:nvSpPr>
          <p:cNvPr id="4" name="Rectangle 2">
            <a:extLst>
              <a:ext uri="{FF2B5EF4-FFF2-40B4-BE49-F238E27FC236}">
                <a16:creationId xmlns:a16="http://schemas.microsoft.com/office/drawing/2014/main" id="{C045A2F9-E1C3-4F01-B454-C01FF5139DD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1F1C0A36-4A7E-44D9-9F04-32C58B63BA22}"/>
              </a:ext>
            </a:extLst>
          </p:cNvPr>
          <p:cNvGraphicFramePr>
            <a:graphicFrameLocks noChangeAspect="1"/>
          </p:cNvGraphicFramePr>
          <p:nvPr/>
        </p:nvGraphicFramePr>
        <p:xfrm>
          <a:off x="1317174" y="783772"/>
          <a:ext cx="402772" cy="489858"/>
        </p:xfrm>
        <a:graphic>
          <a:graphicData uri="http://schemas.openxmlformats.org/presentationml/2006/ole">
            <mc:AlternateContent xmlns:mc="http://schemas.openxmlformats.org/markup-compatibility/2006">
              <mc:Choice xmlns:v="urn:schemas-microsoft-com:vml" Requires="v">
                <p:oleObj spid="_x0000_s6160" name="Visio" r:id="rId6" imgW="584296" imgH="698595" progId="Visio.Drawing.15">
                  <p:embed/>
                </p:oleObj>
              </mc:Choice>
              <mc:Fallback>
                <p:oleObj name="Visio" r:id="rId6" imgW="584296" imgH="698595" progId="Visio.Drawing.15">
                  <p:embed/>
                  <p:pic>
                    <p:nvPicPr>
                      <p:cNvPr id="5" name="对象 4">
                        <a:extLst>
                          <a:ext uri="{FF2B5EF4-FFF2-40B4-BE49-F238E27FC236}">
                            <a16:creationId xmlns:a16="http://schemas.microsoft.com/office/drawing/2014/main" id="{1F1C0A36-4A7E-44D9-9F04-32C58B63BA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7174" y="783772"/>
                        <a:ext cx="402772" cy="489858"/>
                      </a:xfrm>
                      <a:prstGeom prst="rect">
                        <a:avLst/>
                      </a:prstGeom>
                      <a:noFill/>
                    </p:spPr>
                  </p:pic>
                </p:oleObj>
              </mc:Fallback>
            </mc:AlternateContent>
          </a:graphicData>
        </a:graphic>
      </p:graphicFrame>
    </p:spTree>
    <p:extLst>
      <p:ext uri="{BB962C8B-B14F-4D97-AF65-F5344CB8AC3E}">
        <p14:creationId xmlns:p14="http://schemas.microsoft.com/office/powerpoint/2010/main" val="468974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err="1">
                <a:latin typeface="Trebuchet MS" panose="020B0603020202020204" pitchFamily="34" charset="0"/>
              </a:rPr>
              <a:t>Minterms</a:t>
            </a:r>
            <a:r>
              <a:rPr lang="en-US" altLang="zh-CN" sz="2400" b="1" dirty="0">
                <a:latin typeface="Trebuchet MS" panose="020B0603020202020204" pitchFamily="34" charset="0"/>
              </a:rPr>
              <a:t> </a:t>
            </a:r>
            <a:r>
              <a:rPr lang="en-US" altLang="zh-CN" sz="2400" b="1" dirty="0">
                <a:effectLst/>
                <a:latin typeface="Trebuchet MS" panose="020B0603020202020204" pitchFamily="34" charset="0"/>
                <a:ea typeface="宋体" panose="02010600030101010101" pitchFamily="2" charset="-122"/>
              </a:rPr>
              <a:t>vs.</a:t>
            </a:r>
            <a:r>
              <a:rPr lang="en-US" altLang="zh-CN" sz="2400" b="1" dirty="0">
                <a:latin typeface="Trebuchet MS" panose="020B0603020202020204" pitchFamily="34" charset="0"/>
              </a:rPr>
              <a:t> Maxter</a:t>
            </a:r>
            <a:r>
              <a:rPr lang="en-US" altLang="zh-CN" sz="2400" dirty="0">
                <a:latin typeface="Trebuchet MS" panose="020B0603020202020204" pitchFamily="34" charset="0"/>
              </a:rPr>
              <a:t>ms </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1014811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zh-CN" altLang="en-US" b="1" dirty="0"/>
          </a:p>
        </p:txBody>
      </p:sp>
      <p:sp>
        <p:nvSpPr>
          <p:cNvPr id="10" name="Rectangle 3">
            <a:extLst>
              <a:ext uri="{FF2B5EF4-FFF2-40B4-BE49-F238E27FC236}">
                <a16:creationId xmlns:a16="http://schemas.microsoft.com/office/drawing/2014/main" id="{2CC31AA5-4A50-445D-A079-C7C026B792EA}"/>
              </a:ext>
            </a:extLst>
          </p:cNvPr>
          <p:cNvSpPr txBox="1">
            <a:spLocks noChangeArrowheads="1"/>
          </p:cNvSpPr>
          <p:nvPr/>
        </p:nvSpPr>
        <p:spPr>
          <a:xfrm>
            <a:off x="1230087" y="4147453"/>
            <a:ext cx="7924800" cy="16219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latin typeface="Trebuchet MS" panose="020B0603020202020204" pitchFamily="34" charset="0"/>
              </a:rPr>
              <a:t>Theorem </a:t>
            </a:r>
            <a:r>
              <a:rPr lang="zh-CN" altLang="en-US" sz="2400" b="1" dirty="0">
                <a:latin typeface="Trebuchet MS" panose="020B0603020202020204" pitchFamily="34" charset="0"/>
              </a:rPr>
              <a:t>2.6</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m</a:t>
            </a:r>
            <a:r>
              <a:rPr lang="en-US" altLang="zh-CN" sz="2400" b="1" i="1" baseline="-30000" dirty="0">
                <a:latin typeface="Trebuchet MS" panose="020B0603020202020204" pitchFamily="34" charset="0"/>
                <a:cs typeface="Times New Roman" panose="02020603050405020304" pitchFamily="18" charset="0"/>
              </a:rPr>
              <a:t>i  </a:t>
            </a:r>
            <a:r>
              <a:rPr lang="en-US" altLang="zh-CN" sz="2400" b="1" i="1" dirty="0" err="1">
                <a:latin typeface="Trebuchet MS" panose="020B0603020202020204" pitchFamily="34" charset="0"/>
                <a:cs typeface="Times New Roman" panose="02020603050405020304" pitchFamily="18" charset="0"/>
              </a:rPr>
              <a:t>M</a:t>
            </a:r>
            <a:r>
              <a:rPr lang="en-US" altLang="zh-CN" sz="2400" b="1" i="1" baseline="-30000" dirty="0" err="1">
                <a:latin typeface="Trebuchet MS" panose="020B0603020202020204" pitchFamily="34" charset="0"/>
                <a:cs typeface="Times New Roman" panose="02020603050405020304" pitchFamily="18" charset="0"/>
              </a:rPr>
              <a:t>i</a:t>
            </a:r>
            <a:r>
              <a:rPr lang="en-US" altLang="zh-CN" sz="2400" b="1" i="1" baseline="-30000"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be the </a:t>
            </a:r>
            <a:r>
              <a:rPr lang="en-US" sz="2400" dirty="0" err="1">
                <a:latin typeface="Trebuchet MS" panose="020B0603020202020204" pitchFamily="34" charset="0"/>
              </a:rPr>
              <a:t>minterm</a:t>
            </a:r>
            <a:r>
              <a:rPr lang="en-US" sz="2400" dirty="0">
                <a:latin typeface="Trebuchet MS" panose="020B0603020202020204" pitchFamily="34" charset="0"/>
              </a:rPr>
              <a:t> and maxterm formed by the same set of propositional variables. Then:</a:t>
            </a:r>
          </a:p>
          <a:p>
            <a:pPr>
              <a:buFontTx/>
              <a:buNone/>
            </a:pPr>
            <a:r>
              <a:rPr lang="en-US" altLang="zh-CN" sz="2400" b="1" dirty="0">
                <a:sym typeface="Symbol" panose="05050102010706020507" pitchFamily="18" charset="2"/>
              </a:rPr>
              <a:t>			</a:t>
            </a:r>
            <a:r>
              <a:rPr lang="zh-CN" altLang="en-US" sz="2400" b="1" dirty="0">
                <a:sym typeface="Symbol" panose="05050102010706020507" pitchFamily="18" charset="2"/>
              </a:rPr>
              <a:t></a:t>
            </a:r>
            <a:r>
              <a:rPr lang="en-US" altLang="zh-CN" sz="2400" b="1" i="1" dirty="0">
                <a:cs typeface="Times New Roman" panose="02020603050405020304" pitchFamily="18" charset="0"/>
              </a:rPr>
              <a:t>m</a:t>
            </a:r>
            <a:r>
              <a:rPr lang="en-US" altLang="zh-CN" sz="2400" b="1" i="1" baseline="-30000" dirty="0">
                <a:cs typeface="Times New Roman" panose="02020603050405020304" pitchFamily="18" charset="0"/>
              </a:rPr>
              <a:t>i </a:t>
            </a:r>
            <a:r>
              <a:rPr lang="en-US" altLang="zh-CN" sz="2400" b="1" dirty="0">
                <a:sym typeface="Symbol" panose="05050102010706020507" pitchFamily="18" charset="2"/>
              </a:rPr>
              <a:t></a:t>
            </a:r>
            <a:r>
              <a:rPr lang="en-US" altLang="zh-CN" sz="2400" b="1" dirty="0">
                <a:cs typeface="Times New Roman" panose="02020603050405020304" pitchFamily="18" charset="0"/>
              </a:rPr>
              <a:t> </a:t>
            </a:r>
            <a:r>
              <a:rPr lang="en-US" altLang="zh-CN" sz="2400" b="1" i="1" dirty="0">
                <a:cs typeface="Times New Roman" panose="02020603050405020304" pitchFamily="18" charset="0"/>
              </a:rPr>
              <a:t>M</a:t>
            </a:r>
            <a:r>
              <a:rPr lang="en-US" altLang="zh-CN" sz="2400" b="1" i="1" baseline="-30000" dirty="0">
                <a:cs typeface="Times New Roman" panose="02020603050405020304" pitchFamily="18" charset="0"/>
              </a:rPr>
              <a:t>i </a:t>
            </a:r>
            <a:r>
              <a:rPr lang="en-US" altLang="zh-CN" sz="2400" b="1" dirty="0">
                <a:cs typeface="Times New Roman" panose="02020603050405020304" pitchFamily="18" charset="0"/>
              </a:rPr>
              <a:t>,    </a:t>
            </a:r>
            <a:r>
              <a:rPr lang="en-US" altLang="zh-CN" sz="2400" b="1" dirty="0">
                <a:sym typeface="Symbol" panose="05050102010706020507" pitchFamily="18" charset="2"/>
              </a:rPr>
              <a:t></a:t>
            </a:r>
            <a:r>
              <a:rPr lang="en-US" altLang="zh-CN" sz="2400" b="1" i="1" dirty="0">
                <a:cs typeface="Times New Roman" panose="02020603050405020304" pitchFamily="18" charset="0"/>
              </a:rPr>
              <a:t>M</a:t>
            </a:r>
            <a:r>
              <a:rPr lang="en-US" altLang="zh-CN" sz="2400" b="1" i="1" baseline="-30000" dirty="0">
                <a:cs typeface="Times New Roman" panose="02020603050405020304" pitchFamily="18" charset="0"/>
              </a:rPr>
              <a:t>i </a:t>
            </a:r>
            <a:r>
              <a:rPr lang="en-US" altLang="zh-CN" sz="2400" b="1" dirty="0">
                <a:sym typeface="Symbol" panose="05050102010706020507" pitchFamily="18" charset="2"/>
              </a:rPr>
              <a:t></a:t>
            </a:r>
            <a:r>
              <a:rPr lang="en-US" altLang="zh-CN" sz="2400" b="1" dirty="0">
                <a:cs typeface="Times New Roman" panose="02020603050405020304" pitchFamily="18" charset="0"/>
              </a:rPr>
              <a:t> </a:t>
            </a:r>
            <a:r>
              <a:rPr lang="en-US" altLang="zh-CN" sz="2400" b="1" i="1" dirty="0">
                <a:cs typeface="Times New Roman" panose="02020603050405020304" pitchFamily="18" charset="0"/>
              </a:rPr>
              <a:t>m</a:t>
            </a:r>
            <a:r>
              <a:rPr lang="en-US" altLang="zh-CN" sz="2400" b="1" i="1" baseline="-30000" dirty="0">
                <a:cs typeface="Times New Roman" panose="02020603050405020304" pitchFamily="18" charset="0"/>
              </a:rPr>
              <a:t>i</a:t>
            </a:r>
            <a:endParaRPr lang="zh-CN" altLang="en-US" sz="2400" b="1" i="1" baseline="-30000" dirty="0">
              <a:cs typeface="Times New Roman" panose="02020603050405020304" pitchFamily="18" charset="0"/>
            </a:endParaRPr>
          </a:p>
        </p:txBody>
      </p:sp>
      <p:grpSp>
        <p:nvGrpSpPr>
          <p:cNvPr id="12" name="Group 15">
            <a:extLst>
              <a:ext uri="{FF2B5EF4-FFF2-40B4-BE49-F238E27FC236}">
                <a16:creationId xmlns:a16="http://schemas.microsoft.com/office/drawing/2014/main" id="{7F838A83-04CD-46B7-AC39-A4C3F3F5D40B}"/>
              </a:ext>
            </a:extLst>
          </p:cNvPr>
          <p:cNvGrpSpPr>
            <a:grpSpLocks/>
          </p:cNvGrpSpPr>
          <p:nvPr/>
        </p:nvGrpSpPr>
        <p:grpSpPr bwMode="auto">
          <a:xfrm>
            <a:off x="1153887" y="1360717"/>
            <a:ext cx="7924800" cy="2678113"/>
            <a:chOff x="384" y="1152"/>
            <a:chExt cx="4992" cy="1687"/>
          </a:xfrm>
          <a:solidFill>
            <a:schemeClr val="bg1"/>
          </a:solidFill>
        </p:grpSpPr>
        <p:sp>
          <p:nvSpPr>
            <p:cNvPr id="15" name="Text Box 4">
              <a:extLst>
                <a:ext uri="{FF2B5EF4-FFF2-40B4-BE49-F238E27FC236}">
                  <a16:creationId xmlns:a16="http://schemas.microsoft.com/office/drawing/2014/main" id="{5214AF43-D86F-47FF-B0CB-3B406EAA64C6}"/>
                </a:ext>
              </a:extLst>
            </p:cNvPr>
            <p:cNvSpPr txBox="1">
              <a:spLocks noChangeArrowheads="1"/>
            </p:cNvSpPr>
            <p:nvPr/>
          </p:nvSpPr>
          <p:spPr bwMode="auto">
            <a:xfrm>
              <a:off x="384" y="1152"/>
              <a:ext cx="4992" cy="1687"/>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20000"/>
                </a:spcBef>
              </a:pP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dirty="0" err="1">
                  <a:solidFill>
                    <a:schemeClr val="tx1"/>
                  </a:solidFill>
                  <a:latin typeface="Times New Roman" panose="02020603050405020304" pitchFamily="18" charset="0"/>
                  <a:ea typeface="宋体" panose="02010600030101010101" pitchFamily="2" charset="-122"/>
                </a:rPr>
                <a:t>Minterm</a:t>
              </a: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Maxterm</a:t>
              </a:r>
              <a:endParaRPr lang="zh-CN" altLang="en-US" sz="2400" b="1" dirty="0">
                <a:solidFill>
                  <a:schemeClr val="tx1"/>
                </a:solidFill>
                <a:latin typeface="Times New Roman" panose="02020603050405020304" pitchFamily="18" charset="0"/>
                <a:ea typeface="宋体" panose="02010600030101010101" pitchFamily="2" charset="-122"/>
              </a:endParaRPr>
            </a:p>
            <a:p>
              <a:pPr algn="l" eaLnBrk="1" hangingPunct="1">
                <a:spcBef>
                  <a:spcPct val="20000"/>
                </a:spcBef>
              </a:pPr>
              <a:r>
                <a:rPr lang="en-US" altLang="zh-CN" sz="2400" b="1" dirty="0">
                  <a:solidFill>
                    <a:schemeClr val="tx1"/>
                  </a:solidFill>
                  <a:latin typeface="Times New Roman" panose="02020603050405020304" pitchFamily="18" charset="0"/>
                  <a:ea typeface="宋体" panose="02010600030101010101" pitchFamily="2" charset="-122"/>
                </a:rPr>
                <a:t>Formula</a:t>
              </a: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Ture</a:t>
              </a: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Name</a:t>
              </a: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Formula</a:t>
              </a:r>
              <a:r>
                <a:rPr lang="zh-CN" altLang="en-US" sz="2400" b="1" dirty="0">
                  <a:solidFill>
                    <a:schemeClr val="tx1"/>
                  </a:solidFill>
                  <a:latin typeface="Times New Roman" panose="02020603050405020304" pitchFamily="18" charset="0"/>
                  <a:ea typeface="宋体" panose="02010600030101010101" pitchFamily="2" charset="-122"/>
                </a:rPr>
                <a:t>     </a:t>
              </a:r>
              <a:r>
                <a:rPr lang="en-US" altLang="zh-CN" sz="2400" b="1" dirty="0">
                  <a:solidFill>
                    <a:schemeClr val="tx1"/>
                  </a:solidFill>
                  <a:latin typeface="Times New Roman" panose="02020603050405020304" pitchFamily="18" charset="0"/>
                  <a:ea typeface="宋体" panose="02010600030101010101" pitchFamily="2" charset="-122"/>
                </a:rPr>
                <a:t>False         Name</a:t>
              </a:r>
              <a:endParaRPr lang="zh-CN" altLang="en-US" sz="2400" b="1" dirty="0">
                <a:solidFill>
                  <a:schemeClr val="tx1"/>
                </a:solidFill>
                <a:latin typeface="Times New Roman" panose="02020603050405020304" pitchFamily="18" charset="0"/>
                <a:ea typeface="宋体" panose="02010600030101010101" pitchFamily="2" charset="-122"/>
              </a:endParaRPr>
            </a:p>
            <a:p>
              <a:pPr algn="l" eaLnBrk="1" hangingPunct="1">
                <a:spcBef>
                  <a:spcPct val="20000"/>
                </a:spcBef>
              </a:pP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0    0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0    0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l" eaLnBrk="1" hangingPunct="1">
                <a:spcBef>
                  <a:spcPct val="20000"/>
                </a:spcBef>
              </a:pP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0    1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0    1</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l" eaLnBrk="1" hangingPunct="1">
                <a:spcBef>
                  <a:spcPct val="20000"/>
                </a:spcBef>
              </a:pP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p</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1    0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1    0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l" eaLnBrk="1" hangingPunct="1">
                <a:spcBef>
                  <a:spcPct val="20000"/>
                </a:spcBef>
              </a:pP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1    1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        </a:t>
              </a:r>
              <a:r>
                <a:rPr kumimoji="1"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1    1           </a:t>
              </a:r>
              <a:r>
                <a:rPr kumimoji="1" lang="en-US"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zh-CN" altLang="en-US" sz="24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Line 5">
              <a:extLst>
                <a:ext uri="{FF2B5EF4-FFF2-40B4-BE49-F238E27FC236}">
                  <a16:creationId xmlns:a16="http://schemas.microsoft.com/office/drawing/2014/main" id="{B8D95395-D9A9-4AB3-BAF2-945D4AF06A97}"/>
                </a:ext>
              </a:extLst>
            </p:cNvPr>
            <p:cNvSpPr>
              <a:spLocks noChangeShapeType="1"/>
            </p:cNvSpPr>
            <p:nvPr/>
          </p:nvSpPr>
          <p:spPr bwMode="auto">
            <a:xfrm>
              <a:off x="384" y="1440"/>
              <a:ext cx="4992" cy="0"/>
            </a:xfrm>
            <a:prstGeom prst="line">
              <a:avLst/>
            </a:prstGeom>
            <a:grpFill/>
            <a:ln w="6350">
              <a:solidFill>
                <a:schemeClr val="tx1"/>
              </a:solidFill>
              <a:round/>
              <a:headEnd/>
              <a:tailEnd/>
            </a:ln>
          </p:spPr>
          <p:txBody>
            <a:bodyPr anchor="ctr">
              <a:spAutoFit/>
            </a:bodyPr>
            <a:lstStyle/>
            <a:p>
              <a:endParaRPr lang="zh-CN" altLang="en-US"/>
            </a:p>
          </p:txBody>
        </p:sp>
        <p:sp>
          <p:nvSpPr>
            <p:cNvPr id="17" name="Line 6">
              <a:extLst>
                <a:ext uri="{FF2B5EF4-FFF2-40B4-BE49-F238E27FC236}">
                  <a16:creationId xmlns:a16="http://schemas.microsoft.com/office/drawing/2014/main" id="{3B3FCC1E-9556-4467-A9FA-C8CE1764F9CC}"/>
                </a:ext>
              </a:extLst>
            </p:cNvPr>
            <p:cNvSpPr>
              <a:spLocks noChangeShapeType="1"/>
            </p:cNvSpPr>
            <p:nvPr/>
          </p:nvSpPr>
          <p:spPr bwMode="auto">
            <a:xfrm>
              <a:off x="384" y="1728"/>
              <a:ext cx="4992" cy="0"/>
            </a:xfrm>
            <a:prstGeom prst="line">
              <a:avLst/>
            </a:prstGeom>
            <a:grpFill/>
            <a:ln w="6350">
              <a:solidFill>
                <a:schemeClr val="tx1"/>
              </a:solidFill>
              <a:round/>
              <a:headEnd/>
              <a:tailEnd/>
            </a:ln>
          </p:spPr>
          <p:txBody>
            <a:bodyPr anchor="ctr">
              <a:spAutoFit/>
            </a:bodyPr>
            <a:lstStyle/>
            <a:p>
              <a:endParaRPr lang="zh-CN" altLang="en-US" dirty="0"/>
            </a:p>
          </p:txBody>
        </p:sp>
        <p:sp>
          <p:nvSpPr>
            <p:cNvPr id="19" name="Line 7">
              <a:extLst>
                <a:ext uri="{FF2B5EF4-FFF2-40B4-BE49-F238E27FC236}">
                  <a16:creationId xmlns:a16="http://schemas.microsoft.com/office/drawing/2014/main" id="{0AEC960B-B960-462D-B917-F425729A1844}"/>
                </a:ext>
              </a:extLst>
            </p:cNvPr>
            <p:cNvSpPr>
              <a:spLocks noChangeShapeType="1"/>
            </p:cNvSpPr>
            <p:nvPr/>
          </p:nvSpPr>
          <p:spPr bwMode="auto">
            <a:xfrm>
              <a:off x="384" y="1152"/>
              <a:ext cx="4992" cy="0"/>
            </a:xfrm>
            <a:prstGeom prst="line">
              <a:avLst/>
            </a:prstGeom>
            <a:grpFill/>
            <a:ln w="28575">
              <a:solidFill>
                <a:schemeClr val="tx1"/>
              </a:solidFill>
              <a:round/>
              <a:headEnd/>
              <a:tailEnd/>
            </a:ln>
          </p:spPr>
          <p:txBody>
            <a:bodyPr anchor="ctr">
              <a:spAutoFit/>
            </a:bodyPr>
            <a:lstStyle/>
            <a:p>
              <a:endParaRPr lang="zh-CN" altLang="en-US"/>
            </a:p>
          </p:txBody>
        </p:sp>
        <p:sp>
          <p:nvSpPr>
            <p:cNvPr id="21" name="Line 8">
              <a:extLst>
                <a:ext uri="{FF2B5EF4-FFF2-40B4-BE49-F238E27FC236}">
                  <a16:creationId xmlns:a16="http://schemas.microsoft.com/office/drawing/2014/main" id="{5F5C5335-4913-4337-91E2-0349895ECE15}"/>
                </a:ext>
              </a:extLst>
            </p:cNvPr>
            <p:cNvSpPr>
              <a:spLocks noChangeShapeType="1"/>
            </p:cNvSpPr>
            <p:nvPr/>
          </p:nvSpPr>
          <p:spPr bwMode="auto">
            <a:xfrm>
              <a:off x="384" y="2832"/>
              <a:ext cx="4992" cy="0"/>
            </a:xfrm>
            <a:prstGeom prst="line">
              <a:avLst/>
            </a:prstGeom>
            <a:grpFill/>
            <a:ln w="28575">
              <a:solidFill>
                <a:schemeClr val="tx1"/>
              </a:solidFill>
              <a:round/>
              <a:headEnd/>
              <a:tailEnd/>
            </a:ln>
          </p:spPr>
          <p:txBody>
            <a:bodyPr anchor="ctr">
              <a:spAutoFit/>
            </a:bodyPr>
            <a:lstStyle/>
            <a:p>
              <a:endParaRPr lang="zh-CN" altLang="en-US"/>
            </a:p>
          </p:txBody>
        </p:sp>
        <p:sp>
          <p:nvSpPr>
            <p:cNvPr id="23" name="Line 10">
              <a:extLst>
                <a:ext uri="{FF2B5EF4-FFF2-40B4-BE49-F238E27FC236}">
                  <a16:creationId xmlns:a16="http://schemas.microsoft.com/office/drawing/2014/main" id="{0C0CF934-4CBE-47BE-B3BE-B7A59D753D38}"/>
                </a:ext>
              </a:extLst>
            </p:cNvPr>
            <p:cNvSpPr>
              <a:spLocks noChangeShapeType="1"/>
            </p:cNvSpPr>
            <p:nvPr/>
          </p:nvSpPr>
          <p:spPr bwMode="auto">
            <a:xfrm>
              <a:off x="2880" y="1152"/>
              <a:ext cx="0" cy="1680"/>
            </a:xfrm>
            <a:prstGeom prst="line">
              <a:avLst/>
            </a:prstGeom>
            <a:grpFill/>
            <a:ln w="28575">
              <a:solidFill>
                <a:schemeClr val="tx1"/>
              </a:solidFill>
              <a:round/>
              <a:headEnd/>
              <a:tailEnd/>
            </a:ln>
          </p:spPr>
          <p:txBody>
            <a:bodyPr wrap="none" anchor="ctr">
              <a:spAutoFit/>
            </a:bodyPr>
            <a:lstStyle/>
            <a:p>
              <a:endParaRPr lang="zh-CN" altLang="en-US"/>
            </a:p>
          </p:txBody>
        </p:sp>
        <p:sp>
          <p:nvSpPr>
            <p:cNvPr id="24" name="Line 11">
              <a:extLst>
                <a:ext uri="{FF2B5EF4-FFF2-40B4-BE49-F238E27FC236}">
                  <a16:creationId xmlns:a16="http://schemas.microsoft.com/office/drawing/2014/main" id="{8C5C7A40-599A-4F9C-A641-1E6FCAE87F0A}"/>
                </a:ext>
              </a:extLst>
            </p:cNvPr>
            <p:cNvSpPr>
              <a:spLocks noChangeShapeType="1"/>
            </p:cNvSpPr>
            <p:nvPr/>
          </p:nvSpPr>
          <p:spPr bwMode="auto">
            <a:xfrm>
              <a:off x="1248" y="1440"/>
              <a:ext cx="0" cy="1392"/>
            </a:xfrm>
            <a:prstGeom prst="line">
              <a:avLst/>
            </a:prstGeom>
            <a:grpFill/>
            <a:ln w="6350">
              <a:solidFill>
                <a:schemeClr val="tx1"/>
              </a:solidFill>
              <a:round/>
              <a:headEnd/>
              <a:tailEnd/>
            </a:ln>
          </p:spPr>
          <p:txBody>
            <a:bodyPr wrap="none" anchor="ctr">
              <a:spAutoFit/>
            </a:bodyPr>
            <a:lstStyle/>
            <a:p>
              <a:endParaRPr lang="zh-CN" altLang="en-US"/>
            </a:p>
          </p:txBody>
        </p:sp>
        <p:sp>
          <p:nvSpPr>
            <p:cNvPr id="25" name="Line 12">
              <a:extLst>
                <a:ext uri="{FF2B5EF4-FFF2-40B4-BE49-F238E27FC236}">
                  <a16:creationId xmlns:a16="http://schemas.microsoft.com/office/drawing/2014/main" id="{00D45DA0-05C2-4A70-AA9B-464F819AAB05}"/>
                </a:ext>
              </a:extLst>
            </p:cNvPr>
            <p:cNvSpPr>
              <a:spLocks noChangeShapeType="1"/>
            </p:cNvSpPr>
            <p:nvPr/>
          </p:nvSpPr>
          <p:spPr bwMode="auto">
            <a:xfrm>
              <a:off x="2256" y="1440"/>
              <a:ext cx="0" cy="1392"/>
            </a:xfrm>
            <a:prstGeom prst="line">
              <a:avLst/>
            </a:prstGeom>
            <a:grpFill/>
            <a:ln w="6350">
              <a:solidFill>
                <a:schemeClr val="tx1"/>
              </a:solidFill>
              <a:round/>
              <a:headEnd/>
              <a:tailEnd/>
            </a:ln>
          </p:spPr>
          <p:txBody>
            <a:bodyPr wrap="none" anchor="ctr">
              <a:spAutoFit/>
            </a:bodyPr>
            <a:lstStyle/>
            <a:p>
              <a:endParaRPr lang="zh-CN" altLang="en-US"/>
            </a:p>
          </p:txBody>
        </p:sp>
        <p:sp>
          <p:nvSpPr>
            <p:cNvPr id="26" name="Line 13">
              <a:extLst>
                <a:ext uri="{FF2B5EF4-FFF2-40B4-BE49-F238E27FC236}">
                  <a16:creationId xmlns:a16="http://schemas.microsoft.com/office/drawing/2014/main" id="{B2251CA2-1EAB-412C-9DD4-21F708B838C5}"/>
                </a:ext>
              </a:extLst>
            </p:cNvPr>
            <p:cNvSpPr>
              <a:spLocks noChangeShapeType="1"/>
            </p:cNvSpPr>
            <p:nvPr/>
          </p:nvSpPr>
          <p:spPr bwMode="auto">
            <a:xfrm>
              <a:off x="3744" y="1440"/>
              <a:ext cx="0" cy="1392"/>
            </a:xfrm>
            <a:prstGeom prst="line">
              <a:avLst/>
            </a:prstGeom>
            <a:grpFill/>
            <a:ln w="6350">
              <a:solidFill>
                <a:schemeClr val="tx1"/>
              </a:solidFill>
              <a:round/>
              <a:headEnd/>
              <a:tailEnd/>
            </a:ln>
          </p:spPr>
          <p:txBody>
            <a:bodyPr wrap="none" anchor="ctr">
              <a:spAutoFit/>
            </a:bodyPr>
            <a:lstStyle/>
            <a:p>
              <a:endParaRPr lang="zh-CN" altLang="en-US"/>
            </a:p>
          </p:txBody>
        </p:sp>
        <p:sp>
          <p:nvSpPr>
            <p:cNvPr id="27" name="Line 14">
              <a:extLst>
                <a:ext uri="{FF2B5EF4-FFF2-40B4-BE49-F238E27FC236}">
                  <a16:creationId xmlns:a16="http://schemas.microsoft.com/office/drawing/2014/main" id="{F8079FF1-52BB-4D85-B468-54C8F152AA0C}"/>
                </a:ext>
              </a:extLst>
            </p:cNvPr>
            <p:cNvSpPr>
              <a:spLocks noChangeShapeType="1"/>
            </p:cNvSpPr>
            <p:nvPr/>
          </p:nvSpPr>
          <p:spPr bwMode="auto">
            <a:xfrm>
              <a:off x="4704" y="1440"/>
              <a:ext cx="0" cy="1392"/>
            </a:xfrm>
            <a:prstGeom prst="line">
              <a:avLst/>
            </a:prstGeom>
            <a:grpFill/>
            <a:ln w="6350">
              <a:solidFill>
                <a:schemeClr val="tx1"/>
              </a:solidFill>
              <a:round/>
              <a:headEnd/>
              <a:tailEnd/>
            </a:ln>
          </p:spPr>
          <p:txBody>
            <a:bodyPr wrap="none" anchor="ctr">
              <a:spAutoFit/>
            </a:bodyPr>
            <a:lstStyle/>
            <a:p>
              <a:endParaRPr lang="zh-CN" altLang="en-US"/>
            </a:p>
          </p:txBody>
        </p:sp>
      </p:grpSp>
      <p:sp>
        <p:nvSpPr>
          <p:cNvPr id="14" name="Text Box 16">
            <a:extLst>
              <a:ext uri="{FF2B5EF4-FFF2-40B4-BE49-F238E27FC236}">
                <a16:creationId xmlns:a16="http://schemas.microsoft.com/office/drawing/2014/main" id="{BCE2B2A6-B03E-460B-99B0-0CF4AC412199}"/>
              </a:ext>
            </a:extLst>
          </p:cNvPr>
          <p:cNvSpPr txBox="1">
            <a:spLocks noChangeArrowheads="1"/>
          </p:cNvSpPr>
          <p:nvPr/>
        </p:nvSpPr>
        <p:spPr bwMode="auto">
          <a:xfrm>
            <a:off x="2099266" y="858720"/>
            <a:ext cx="6034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2400" b="1" i="1" dirty="0">
                <a:solidFill>
                  <a:schemeClr val="tx1"/>
                </a:solidFill>
                <a:latin typeface="Times New Roman" panose="02020603050405020304" pitchFamily="18" charset="0"/>
                <a:ea typeface="宋体" panose="02010600030101010101" pitchFamily="2" charset="-122"/>
              </a:rPr>
              <a:t> </a:t>
            </a:r>
            <a:r>
              <a:rPr lang="en-US" sz="2400" b="1" dirty="0" err="1">
                <a:solidFill>
                  <a:schemeClr val="tx1"/>
                </a:solidFill>
                <a:latin typeface="Trebuchet MS" panose="020B0603020202020204" pitchFamily="34" charset="0"/>
                <a:ea typeface="宋体" panose="02010600030101010101" pitchFamily="2" charset="-122"/>
              </a:rPr>
              <a:t>Minterms</a:t>
            </a:r>
            <a:r>
              <a:rPr lang="en-US" sz="2400" b="1" dirty="0">
                <a:solidFill>
                  <a:schemeClr val="tx1"/>
                </a:solidFill>
                <a:latin typeface="Trebuchet MS" panose="020B0603020202020204" pitchFamily="34" charset="0"/>
                <a:ea typeface="宋体" panose="02010600030101010101" pitchFamily="2" charset="-122"/>
              </a:rPr>
              <a:t> and Maxterms Formed by </a:t>
            </a:r>
            <a:r>
              <a:rPr lang="en-US" altLang="zh-CN" sz="2400" b="1" i="1" dirty="0" err="1">
                <a:solidFill>
                  <a:schemeClr val="tx1"/>
                </a:solidFill>
                <a:latin typeface="Trebuchet MS" panose="020B0603020202020204" pitchFamily="34" charset="0"/>
                <a:ea typeface="宋体" panose="02010600030101010101" pitchFamily="2" charset="-122"/>
              </a:rPr>
              <a:t>p</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q</a:t>
            </a:r>
            <a:endParaRPr lang="zh-CN" altLang="en-US" sz="2400" b="1" i="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153141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0" dirty="0">
                <a:effectLst/>
                <a:latin typeface="Trebuchet MS" panose="020B0603020202020204" pitchFamily="34" charset="0"/>
              </a:rPr>
              <a:t>PDNF</a:t>
            </a:r>
            <a:r>
              <a:rPr lang="en-US" altLang="zh-CN" sz="2400" dirty="0">
                <a:latin typeface="Trebuchet MS" panose="020B0603020202020204" pitchFamily="34" charset="0"/>
              </a:rPr>
              <a:t> </a:t>
            </a:r>
            <a:r>
              <a:rPr lang="en-US" altLang="zh-CN" sz="2400" dirty="0"/>
              <a:t>&amp;</a:t>
            </a:r>
            <a:r>
              <a:rPr lang="en-US" altLang="zh-CN" sz="2400" dirty="0">
                <a:latin typeface="Trebuchet MS" panose="020B0603020202020204" pitchFamily="34" charset="0"/>
              </a:rPr>
              <a:t> </a:t>
            </a:r>
            <a:r>
              <a:rPr lang="en-US" altLang="zh-CN" sz="2400" b="1" i="0" dirty="0">
                <a:effectLst/>
                <a:latin typeface="Trebuchet MS" panose="020B0603020202020204" pitchFamily="34" charset="0"/>
              </a:rPr>
              <a:t>PCNF</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76686"/>
            <a:ext cx="9690920" cy="44246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sz="2400" b="1" i="1" dirty="0">
                <a:effectLst/>
                <a:latin typeface="Trebuchet MS" panose="020B0603020202020204" pitchFamily="34" charset="0"/>
              </a:rPr>
              <a:t>Principal Disjunctive Normal Form </a:t>
            </a:r>
            <a:r>
              <a:rPr lang="en-US" sz="2400" b="1" i="0" dirty="0">
                <a:effectLst/>
                <a:latin typeface="Trebuchet MS" panose="020B0603020202020204" pitchFamily="34" charset="0"/>
              </a:rPr>
              <a:t>(PDNF):</a:t>
            </a:r>
            <a:r>
              <a:rPr lang="en-US" sz="2400" b="0" i="0" dirty="0">
                <a:effectLst/>
                <a:latin typeface="Trebuchet MS" panose="020B0603020202020204" pitchFamily="34" charset="0"/>
              </a:rPr>
              <a:t> A disjunctive normal form composed of </a:t>
            </a:r>
            <a:r>
              <a:rPr lang="en-US" sz="2400" b="0" i="0" dirty="0" err="1">
                <a:effectLst/>
                <a:latin typeface="Trebuchet MS" panose="020B0603020202020204" pitchFamily="34" charset="0"/>
              </a:rPr>
              <a:t>minterms</a:t>
            </a:r>
            <a:r>
              <a:rPr lang="en-US" sz="2400" b="0" i="0" dirty="0">
                <a:effectLst/>
                <a:latin typeface="Trebuchet MS" panose="020B0603020202020204" pitchFamily="34" charset="0"/>
              </a:rPr>
              <a:t>.</a:t>
            </a:r>
          </a:p>
          <a:p>
            <a:pPr eaLnBrk="1" hangingPunct="1">
              <a:lnSpc>
                <a:spcPct val="120000"/>
              </a:lnSpc>
              <a:spcBef>
                <a:spcPts val="300"/>
              </a:spcBef>
              <a:buClr>
                <a:srgbClr val="0B61FF"/>
              </a:buClr>
              <a:buSzPct val="80000"/>
              <a:buFont typeface="Wingdings" panose="05000000000000000000" pitchFamily="2" charset="2"/>
              <a:buChar char="n"/>
            </a:pPr>
            <a:r>
              <a:rPr lang="en-US" sz="2400" b="1" i="1" dirty="0">
                <a:effectLst/>
                <a:latin typeface="Trebuchet MS" panose="020B0603020202020204" pitchFamily="34" charset="0"/>
              </a:rPr>
              <a:t>Principal Conjunctive Normal Form </a:t>
            </a:r>
            <a:r>
              <a:rPr lang="en-US" sz="2400" b="1" i="0" dirty="0">
                <a:effectLst/>
                <a:latin typeface="Trebuchet MS" panose="020B0603020202020204" pitchFamily="34" charset="0"/>
              </a:rPr>
              <a:t>(PCNF):</a:t>
            </a:r>
            <a:r>
              <a:rPr lang="en-US" sz="2400" b="0" i="0" dirty="0">
                <a:effectLst/>
                <a:latin typeface="Trebuchet MS" panose="020B0603020202020204" pitchFamily="34" charset="0"/>
              </a:rPr>
              <a:t> A conjunctive normal form composed of maxterms</a:t>
            </a:r>
            <a:r>
              <a:rPr lang="en-US" sz="2400" dirty="0">
                <a:latin typeface="Trebuchet MS" panose="020B0603020202020204" pitchFamily="34" charset="0"/>
              </a:rPr>
              <a:t>.</a:t>
            </a:r>
            <a:endParaRPr lang="zh-CN" altLang="en-US" sz="2400" b="1" dirty="0">
              <a:latin typeface="Trebuchet MS" panose="020B0603020202020204" pitchFamily="34" charset="0"/>
            </a:endParaRPr>
          </a:p>
          <a:p>
            <a:pPr eaLnBrk="1" hangingPunct="1">
              <a:lnSpc>
                <a:spcPct val="120000"/>
              </a:lnSpc>
              <a:spcBef>
                <a:spcPts val="300"/>
              </a:spcBef>
              <a:buFontTx/>
              <a:buNone/>
            </a:pPr>
            <a:r>
              <a:rPr lang="en-US" altLang="zh-CN" sz="2400" b="1" dirty="0">
                <a:latin typeface="Trebuchet MS" panose="020B0603020202020204" pitchFamily="34" charset="0"/>
              </a:rPr>
              <a:t>       Example</a:t>
            </a:r>
            <a:r>
              <a:rPr lang="zh-CN" altLang="en-US" sz="2400" b="1" dirty="0">
                <a:latin typeface="Trebuchet MS" panose="020B0603020202020204" pitchFamily="34" charset="0"/>
              </a:rPr>
              <a:t>：</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=3, </a:t>
            </a:r>
            <a:r>
              <a:rPr lang="en-US" sz="2400" b="0" i="0" dirty="0">
                <a:effectLst/>
                <a:latin typeface="Trebuchet MS" panose="020B0603020202020204" pitchFamily="34" charset="0"/>
              </a:rPr>
              <a:t>propositional variables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30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sz="2400" b="0" i="0" dirty="0">
                <a:effectLst/>
                <a:latin typeface="Trebuchet MS" panose="020B0603020202020204" pitchFamily="34" charset="0"/>
              </a:rPr>
              <a:t> (PDNF)</a:t>
            </a:r>
            <a:endParaRPr lang="zh-CN" altLang="en-US" sz="2400" b="1" dirty="0">
              <a:latin typeface="Trebuchet MS" panose="020B0603020202020204" pitchFamily="34" charset="0"/>
              <a:cs typeface="Times New Roman" panose="02020603050405020304" pitchFamily="18" charset="0"/>
            </a:endParaRPr>
          </a:p>
          <a:p>
            <a:pPr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r>
              <a:rPr lang="en-US" altLang="zh-CN" sz="2400" b="1" baseline="-30000" dirty="0">
                <a:latin typeface="Trebuchet MS" panose="020B0603020202020204" pitchFamily="34" charset="0"/>
                <a:cs typeface="Times New Roman" panose="02020603050405020304" pitchFamily="18" charset="0"/>
              </a:rPr>
              <a:t>  </a:t>
            </a:r>
            <a:r>
              <a:rPr lang="en-US" altLang="zh-CN" sz="2400" baseline="-30000" dirty="0">
                <a:latin typeface="Trebuchet MS" panose="020B0603020202020204" pitchFamily="34" charset="0"/>
                <a:cs typeface="Times New Roman" panose="02020603050405020304" pitchFamily="18" charset="0"/>
              </a:rPr>
              <a:t>           </a:t>
            </a:r>
            <a:r>
              <a:rPr lang="en-US" sz="2400" b="0" i="0" dirty="0">
                <a:effectLst/>
                <a:latin typeface="Trebuchet MS" panose="020B0603020202020204" pitchFamily="34" charset="0"/>
              </a:rPr>
              <a:t>(PCNF)</a:t>
            </a:r>
            <a:endParaRPr lang="zh-CN" altLang="en-US" sz="2400" b="1" dirty="0">
              <a:latin typeface="Trebuchet MS" panose="020B0603020202020204" pitchFamily="34" charset="0"/>
            </a:endParaRPr>
          </a:p>
          <a:p>
            <a:pPr>
              <a:lnSpc>
                <a:spcPct val="120000"/>
              </a:lnSpc>
              <a:spcBef>
                <a:spcPts val="300"/>
              </a:spcBef>
              <a:buClr>
                <a:srgbClr val="0B61FF"/>
              </a:buClr>
              <a:buSzPct val="80000"/>
              <a:buFont typeface="Wingdings" panose="05000000000000000000" pitchFamily="2" charset="2"/>
              <a:buChar char="n"/>
            </a:pPr>
            <a:r>
              <a:rPr lang="en-US" sz="2400" b="1" i="0" dirty="0">
                <a:effectLst/>
                <a:latin typeface="Trebuchet MS" panose="020B0603020202020204" pitchFamily="34" charset="0"/>
              </a:rPr>
              <a:t>Theorem 2.7:</a:t>
            </a:r>
            <a:r>
              <a:rPr lang="en-US" sz="2400" b="0" i="0" dirty="0">
                <a:effectLst/>
                <a:latin typeface="Trebuchet MS" panose="020B0603020202020204" pitchFamily="34" charset="0"/>
              </a:rPr>
              <a:t> Every propositional formula has an equivalent PDNF and PCNF, and these forms are </a:t>
            </a:r>
            <a:r>
              <a:rPr lang="en-US" sz="2400" b="1" i="0" dirty="0">
                <a:effectLst/>
                <a:latin typeface="Trebuchet MS" panose="020B0603020202020204" pitchFamily="34" charset="0"/>
              </a:rPr>
              <a:t>unique</a:t>
            </a:r>
            <a:r>
              <a:rPr lang="en-US" sz="2400" b="0" i="0" dirty="0">
                <a:effectLst/>
                <a:latin typeface="Trebuchet MS" panose="020B0603020202020204" pitchFamily="34" charset="0"/>
              </a:rPr>
              <a:t>.</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D9EEFBC8-5969-44FA-A0F3-4BD8EA6F737D}"/>
              </a:ext>
            </a:extLst>
          </p:cNvPr>
          <p:cNvPicPr/>
          <p:nvPr/>
        </p:nvPicPr>
        <p:blipFill>
          <a:blip r:embed="rId5"/>
          <a:stretch>
            <a:fillRect/>
          </a:stretch>
        </p:blipFill>
        <p:spPr>
          <a:xfrm>
            <a:off x="972185" y="2857141"/>
            <a:ext cx="577850" cy="241300"/>
          </a:xfrm>
          <a:prstGeom prst="rect">
            <a:avLst/>
          </a:prstGeom>
        </p:spPr>
      </p:pic>
    </p:spTree>
    <p:extLst>
      <p:ext uri="{BB962C8B-B14F-4D97-AF65-F5344CB8AC3E}">
        <p14:creationId xmlns:p14="http://schemas.microsoft.com/office/powerpoint/2010/main" val="400045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Effect transition="in" filter="fade">
                                      <p:cBhvr>
                                        <p:cTn id="31" dur="1000"/>
                                        <p:tgtEl>
                                          <p:spTgt spid="8">
                                            <p:txEl>
                                              <p:pRg st="4" end="4"/>
                                            </p:txEl>
                                          </p:spTgt>
                                        </p:tgtEl>
                                      </p:cBhvr>
                                    </p:animEffect>
                                    <p:anim calcmode="lin" valueType="num">
                                      <p:cBhvr>
                                        <p:cTn id="3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5" end="5"/>
                                            </p:txEl>
                                          </p:spTgt>
                                        </p:tgtEl>
                                        <p:attrNameLst>
                                          <p:attrName>style.visibility</p:attrName>
                                        </p:attrNameLst>
                                      </p:cBhvr>
                                      <p:to>
                                        <p:strVal val="visible"/>
                                      </p:to>
                                    </p:set>
                                    <p:animEffect transition="in" filter="fade">
                                      <p:cBhvr>
                                        <p:cTn id="38" dur="1000"/>
                                        <p:tgtEl>
                                          <p:spTgt spid="8">
                                            <p:txEl>
                                              <p:pRg st="5" end="5"/>
                                            </p:txEl>
                                          </p:spTgt>
                                        </p:tgtEl>
                                      </p:cBhvr>
                                    </p:animEffect>
                                    <p:anim calcmode="lin" valueType="num">
                                      <p:cBhvr>
                                        <p:cTn id="3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0" dirty="0">
                <a:solidFill>
                  <a:srgbClr val="0B61FF"/>
                </a:solidFill>
                <a:effectLst/>
                <a:latin typeface="Trebuchet MS" panose="020B0603020202020204" pitchFamily="34"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i="0" dirty="0">
                <a:effectLst/>
                <a:latin typeface="Trebuchet MS" panose="020B0603020202020204" pitchFamily="34" charset="0"/>
              </a:rPr>
              <a:t>PDNF</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19606"/>
            <a:ext cx="10148119" cy="52954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 Let formula </a:t>
            </a:r>
            <a:r>
              <a:rPr lang="en-US" sz="2400" b="1" i="1" dirty="0">
                <a:solidFill>
                  <a:srgbClr val="0C0D0E"/>
                </a:solidFill>
                <a:effectLst/>
                <a:latin typeface="Trebuchet MS" panose="020B0603020202020204" pitchFamily="34" charset="0"/>
              </a:rPr>
              <a:t>A </a:t>
            </a:r>
            <a:r>
              <a:rPr lang="en-US" sz="2400" b="0" i="0" dirty="0">
                <a:solidFill>
                  <a:srgbClr val="0C0D0E"/>
                </a:solidFill>
                <a:effectLst/>
                <a:latin typeface="Trebuchet MS" panose="020B0603020202020204" pitchFamily="34" charset="0"/>
              </a:rPr>
              <a:t>contain propositional variables </a:t>
            </a:r>
            <a:r>
              <a:rPr lang="en-US" altLang="zh-CN" sz="2400" b="1" i="1" dirty="0">
                <a:latin typeface="Trebuchet MS" panose="020B0603020202020204" pitchFamily="34" charset="0"/>
              </a:rPr>
              <a:t>p</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i="1" baseline="-25000" dirty="0" err="1">
                <a:latin typeface="Trebuchet MS" panose="020B0603020202020204" pitchFamily="34" charset="0"/>
              </a:rPr>
              <a:t>n</a:t>
            </a:r>
            <a:r>
              <a:rPr lang="en-US" altLang="zh-CN" sz="2400" b="1" i="1" dirty="0">
                <a:latin typeface="Trebuchet MS" panose="020B0603020202020204" pitchFamily="34" charset="0"/>
              </a:rPr>
              <a:t>,</a:t>
            </a:r>
            <a:r>
              <a:rPr lang="en-US" altLang="zh-CN" sz="1600" dirty="0"/>
              <a:t> </a:t>
            </a:r>
            <a:r>
              <a:rPr lang="en-US" altLang="zh-CN" sz="2400" dirty="0">
                <a:latin typeface="Trebuchet MS" panose="020B0603020202020204" pitchFamily="34" charset="0"/>
              </a:rPr>
              <a:t>find the principal disjunctive normal form (</a:t>
            </a:r>
            <a:r>
              <a:rPr lang="en-US" altLang="zh-CN" sz="2400" b="1" dirty="0">
                <a:latin typeface="Trebuchet MS" panose="020B0603020202020204" pitchFamily="34" charset="0"/>
              </a:rPr>
              <a:t>PDNF</a:t>
            </a:r>
            <a:r>
              <a:rPr lang="en-US" altLang="zh-CN" sz="2400" dirty="0">
                <a:latin typeface="Trebuchet MS" panose="020B0603020202020204" pitchFamily="34" charset="0"/>
              </a:rPr>
              <a:t>) of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endParaRPr lang="zh-CN" altLang="en-US" sz="2400" dirty="0">
              <a:latin typeface="Trebuchet MS" panose="020B0603020202020204" pitchFamily="34" charset="0"/>
            </a:endParaRPr>
          </a:p>
          <a:p>
            <a:pPr marL="0" indent="0" eaLnBrk="1" hangingPunct="1">
              <a:lnSpc>
                <a:spcPct val="120000"/>
              </a:lnSpc>
              <a:spcBef>
                <a:spcPts val="300"/>
              </a:spcBef>
              <a:buNone/>
            </a:pPr>
            <a:r>
              <a:rPr lang="en-US" sz="2400" b="1" i="0" dirty="0">
                <a:solidFill>
                  <a:srgbClr val="0B61FF"/>
                </a:solidFill>
                <a:effectLst/>
                <a:latin typeface="Trebuchet MS" panose="020B0603020202020204" pitchFamily="34" charset="0"/>
              </a:rPr>
              <a:t>(1) </a:t>
            </a:r>
            <a:r>
              <a:rPr lang="en-US" sz="2400" b="1" i="0" dirty="0">
                <a:solidFill>
                  <a:srgbClr val="0C0D0E"/>
                </a:solidFill>
                <a:effectLst/>
                <a:latin typeface="Trebuchet MS" panose="020B0603020202020204" pitchFamily="34" charset="0"/>
              </a:rPr>
              <a:t>Find a Disjunctive Normal Form (DNF):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B</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B</a:t>
            </a:r>
            <a:r>
              <a:rPr lang="en-US" altLang="zh-CN" sz="2400" b="1" i="1" baseline="-25000"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b="0" i="0" dirty="0">
                <a:solidFill>
                  <a:srgbClr val="0C0D0E"/>
                </a:solidFill>
                <a:effectLst/>
                <a:latin typeface="Trebuchet MS" panose="020B0603020202020204" pitchFamily="34" charset="0"/>
              </a:rPr>
              <a:t>where each</a:t>
            </a:r>
            <a:r>
              <a:rPr lang="zh-CN" altLang="en-US" sz="2400" b="1" i="0" dirty="0">
                <a:solidFill>
                  <a:srgbClr val="0C0D0E"/>
                </a:solidFill>
                <a:effectLst/>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i="1" baseline="-25000" dirty="0">
                <a:latin typeface="Trebuchet MS" panose="020B0603020202020204" pitchFamily="34" charset="0"/>
                <a:cs typeface="Times New Roman" panose="02020603050405020304" pitchFamily="18" charset="0"/>
              </a:rPr>
              <a:t> </a:t>
            </a:r>
            <a:r>
              <a:rPr lang="en-US" sz="2400" b="0" i="0" dirty="0">
                <a:solidFill>
                  <a:srgbClr val="0C0D0E"/>
                </a:solidFill>
                <a:effectLst/>
                <a:latin typeface="Trebuchet MS" panose="020B0603020202020204" pitchFamily="34" charset="0"/>
              </a:rPr>
              <a:t>is a </a:t>
            </a:r>
            <a:r>
              <a:rPr lang="en-US" sz="2400" b="1" i="0" dirty="0">
                <a:solidFill>
                  <a:srgbClr val="0C0D0E"/>
                </a:solidFill>
                <a:effectLst/>
                <a:latin typeface="Trebuchet MS" panose="020B0603020202020204" pitchFamily="34" charset="0"/>
              </a:rPr>
              <a:t>simple conjunction ,</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j</a:t>
            </a:r>
            <a:r>
              <a:rPr lang="en-US" altLang="zh-CN" sz="2400" b="1" dirty="0">
                <a:latin typeface="Trebuchet MS" panose="020B0603020202020204" pitchFamily="34" charset="0"/>
                <a:sym typeface="Symbol" panose="05050102010706020507" pitchFamily="18" charset="2"/>
              </a:rPr>
              <a:t>=1,2,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endParaRPr lang="en-US" altLang="zh-CN" sz="2400" b="1" dirty="0">
              <a:latin typeface="Trebuchet MS" panose="020B0603020202020204" pitchFamily="34" charset="0"/>
            </a:endParaRPr>
          </a:p>
          <a:p>
            <a:pPr marL="609600" indent="-609600"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(2) </a:t>
            </a:r>
            <a:r>
              <a:rPr lang="en-US" sz="2400" b="0" i="0" dirty="0">
                <a:solidFill>
                  <a:srgbClr val="0C0D0E"/>
                </a:solidFill>
                <a:effectLst/>
                <a:latin typeface="Trebuchet MS" panose="020B0603020202020204" pitchFamily="34" charset="0"/>
              </a:rPr>
              <a:t>If a term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i="1" baseline="-25000" dirty="0">
                <a:latin typeface="Trebuchet MS" panose="020B0603020202020204" pitchFamily="34" charset="0"/>
                <a:cs typeface="Times New Roman" panose="02020603050405020304" pitchFamily="18" charset="0"/>
              </a:rPr>
              <a:t>    </a:t>
            </a:r>
            <a:r>
              <a:rPr lang="en-US" sz="2400" b="0" i="0" dirty="0">
                <a:solidFill>
                  <a:srgbClr val="0C0D0E"/>
                </a:solidFill>
                <a:effectLst/>
                <a:latin typeface="Trebuchet MS" panose="020B0603020202020204" pitchFamily="34" charset="0"/>
              </a:rPr>
              <a:t>lacks either </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zh-CN" altLang="en-US" sz="2400" b="1" dirty="0">
                <a:latin typeface="Trebuchet MS" panose="020B0603020202020204" pitchFamily="34" charset="0"/>
              </a:rPr>
              <a:t>, </a:t>
            </a:r>
            <a:r>
              <a:rPr lang="en-US" sz="2400" b="0" i="0" dirty="0">
                <a:solidFill>
                  <a:srgbClr val="0C0D0E"/>
                </a:solidFill>
                <a:effectLst/>
                <a:latin typeface="Trebuchet MS" panose="020B0603020202020204" pitchFamily="34" charset="0"/>
              </a:rPr>
              <a:t>or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zh-CN" altLang="en-US" sz="2400" b="1" dirty="0">
                <a:latin typeface="Trebuchet MS" panose="020B0603020202020204" pitchFamily="34" charset="0"/>
              </a:rPr>
              <a:t>,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i="1" baseline="-25000" dirty="0">
                <a:latin typeface="Trebuchet MS" panose="020B0603020202020204" pitchFamily="34" charset="0"/>
                <a:cs typeface="Times New Roman" panose="02020603050405020304" pitchFamily="18" charset="0"/>
              </a:rPr>
              <a:t>   </a:t>
            </a:r>
            <a:r>
              <a:rPr lang="en-US" sz="2400" b="0" i="0" dirty="0">
                <a:solidFill>
                  <a:srgbClr val="0C0D0E"/>
                </a:solidFill>
                <a:effectLst/>
                <a:latin typeface="Trebuchet MS" panose="020B0603020202020204" pitchFamily="34" charset="0"/>
              </a:rPr>
              <a:t>expand it using</a:t>
            </a:r>
            <a:r>
              <a:rPr lang="en-US" altLang="zh-CN" sz="2400" b="1" dirty="0">
                <a:latin typeface="Trebuchet MS" panose="020B0603020202020204" pitchFamily="34" charset="0"/>
              </a:rPr>
              <a:t> </a:t>
            </a:r>
          </a:p>
          <a:p>
            <a:pPr marL="609600" indent="-609600" eaLnBrk="1" hangingPunct="1">
              <a:lnSpc>
                <a:spcPct val="120000"/>
              </a:lnSpc>
              <a:spcBef>
                <a:spcPts val="300"/>
              </a:spcBef>
              <a:buFontTx/>
              <a:buNone/>
            </a:pP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rPr>
              <a:t>p</a:t>
            </a:r>
            <a:r>
              <a:rPr lang="en-US" altLang="zh-CN" sz="2400" b="1" i="1" baseline="-25000" dirty="0" err="1">
                <a:latin typeface="Trebuchet MS" panose="020B0603020202020204" pitchFamily="34" charset="0"/>
              </a:rPr>
              <a:t>i</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a:t>
            </a:r>
          </a:p>
          <a:p>
            <a:pPr marL="609600" indent="-163513" eaLnBrk="1" hangingPunct="1">
              <a:lnSpc>
                <a:spcPct val="120000"/>
              </a:lnSpc>
              <a:spcBef>
                <a:spcPts val="300"/>
              </a:spcBef>
              <a:buFontTx/>
              <a:buNone/>
            </a:pPr>
            <a:r>
              <a:rPr lang="en-US" sz="2400" b="0" i="0" dirty="0">
                <a:solidFill>
                  <a:srgbClr val="0C0D0E"/>
                </a:solidFill>
                <a:effectLst/>
                <a:latin typeface="Trebuchet MS" panose="020B0603020202020204" pitchFamily="34" charset="0"/>
              </a:rPr>
              <a:t>Repeat until every conjunction becomes a </a:t>
            </a:r>
            <a:r>
              <a:rPr lang="en-US" sz="2400" b="1" i="0" dirty="0" err="1">
                <a:solidFill>
                  <a:srgbClr val="0C0D0E"/>
                </a:solidFill>
                <a:effectLst/>
                <a:latin typeface="Trebuchet MS" panose="020B0603020202020204" pitchFamily="34" charset="0"/>
              </a:rPr>
              <a:t>minterm</a:t>
            </a:r>
            <a:r>
              <a:rPr lang="en-US" sz="2400" b="0" i="0" dirty="0">
                <a:solidFill>
                  <a:srgbClr val="0C0D0E"/>
                </a:solidFill>
                <a:effectLst/>
                <a:latin typeface="Trebuchet MS" panose="020B0603020202020204" pitchFamily="34" charset="0"/>
              </a:rPr>
              <a:t> (length n).</a:t>
            </a:r>
          </a:p>
          <a:p>
            <a:pPr marL="0" indent="0">
              <a:lnSpc>
                <a:spcPct val="120000"/>
              </a:lnSpc>
              <a:spcBef>
                <a:spcPts val="300"/>
              </a:spcBef>
              <a:buNone/>
            </a:pPr>
            <a:r>
              <a:rPr lang="zh-CN" altLang="en-US" sz="2400" b="1" dirty="0">
                <a:solidFill>
                  <a:srgbClr val="0B61FF"/>
                </a:solidFill>
                <a:latin typeface="Trebuchet MS" panose="020B0603020202020204" pitchFamily="34" charset="0"/>
              </a:rPr>
              <a:t>(3) </a:t>
            </a:r>
            <a:r>
              <a:rPr lang="en-US" sz="2400" b="1" i="0" dirty="0">
                <a:solidFill>
                  <a:srgbClr val="0C0D0E"/>
                </a:solidFill>
                <a:effectLst/>
                <a:latin typeface="Trebuchet MS" panose="020B0603020202020204" pitchFamily="34" charset="0"/>
              </a:rPr>
              <a:t>Remove Duplicate </a:t>
            </a:r>
            <a:r>
              <a:rPr lang="en-US" sz="2400" b="1" i="0" dirty="0" err="1">
                <a:solidFill>
                  <a:srgbClr val="0C0D0E"/>
                </a:solidFill>
                <a:effectLst/>
                <a:latin typeface="Trebuchet MS" panose="020B0603020202020204" pitchFamily="34" charset="0"/>
              </a:rPr>
              <a:t>Minterms</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sz="2400" b="0" i="0" dirty="0">
                <a:solidFill>
                  <a:srgbClr val="0C0D0E"/>
                </a:solidFill>
                <a:effectLst/>
                <a:latin typeface="Trebuchet MS" panose="020B0603020202020204" pitchFamily="34" charset="0"/>
              </a:rPr>
              <a:t>Replace repeated </a:t>
            </a:r>
            <a:r>
              <a:rPr lang="en-US" sz="2400" b="0" i="0" dirty="0" err="1">
                <a:solidFill>
                  <a:srgbClr val="0C0D0E"/>
                </a:solidFill>
                <a:effectLst/>
                <a:latin typeface="Trebuchet MS" panose="020B0603020202020204" pitchFamily="34" charset="0"/>
              </a:rPr>
              <a:t>minterms</a:t>
            </a:r>
            <a:r>
              <a:rPr lang="en-US" sz="2400" b="0" i="0" dirty="0">
                <a:solidFill>
                  <a:srgbClr val="0C0D0E"/>
                </a:solidFill>
                <a:effectLst/>
                <a:latin typeface="Trebuchet MS" panose="020B0603020202020204" pitchFamily="34" charset="0"/>
              </a:rPr>
              <a:t>  </a:t>
            </a:r>
            <a:r>
              <a:rPr lang="en-US" altLang="zh-CN" sz="2400" b="1" i="1" dirty="0" err="1">
                <a:latin typeface="Trebuchet MS" panose="020B0603020202020204" pitchFamily="34" charset="0"/>
              </a:rPr>
              <a:t>m</a:t>
            </a:r>
            <a:r>
              <a:rPr lang="en-US" altLang="zh-CN" sz="2400" b="1" i="1" baseline="-25000" dirty="0" err="1">
                <a:latin typeface="Trebuchet MS" panose="020B0603020202020204" pitchFamily="34" charset="0"/>
              </a:rPr>
              <a:t>i</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rPr>
              <a:t>m</a:t>
            </a:r>
            <a:r>
              <a:rPr lang="en-US" altLang="zh-CN" sz="2400" b="1" i="1" baseline="-25000" dirty="0" err="1">
                <a:latin typeface="Trebuchet MS" panose="020B0603020202020204" pitchFamily="34" charset="0"/>
              </a:rPr>
              <a:t>i</a:t>
            </a:r>
            <a:r>
              <a:rPr lang="en-US" altLang="zh-CN" sz="2400" b="1" i="1" baseline="-25000" dirty="0">
                <a:latin typeface="Trebuchet MS" panose="020B0603020202020204" pitchFamily="34" charset="0"/>
              </a:rPr>
              <a:t>  </a:t>
            </a:r>
            <a:r>
              <a:rPr lang="en-US" sz="2400" b="0" i="0" dirty="0">
                <a:solidFill>
                  <a:srgbClr val="0C0D0E"/>
                </a:solidFill>
                <a:effectLst/>
                <a:latin typeface="Trebuchet MS" panose="020B0603020202020204" pitchFamily="34" charset="0"/>
              </a:rPr>
              <a:t>with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i.</a:t>
            </a:r>
            <a:endParaRPr lang="zh-CN" altLang="en-US" sz="2400" b="1" dirty="0">
              <a:latin typeface="Trebuchet MS" panose="020B0603020202020204" pitchFamily="34" charset="0"/>
            </a:endParaRPr>
          </a:p>
          <a:p>
            <a:pPr marL="609600" indent="-609600"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(4) </a:t>
            </a:r>
            <a:r>
              <a:rPr lang="en-US" sz="2400" b="1" i="0" dirty="0">
                <a:solidFill>
                  <a:srgbClr val="0C0D0E"/>
                </a:solidFill>
                <a:effectLst/>
                <a:latin typeface="Trebuchet MS" panose="020B0603020202020204" pitchFamily="34" charset="0"/>
              </a:rPr>
              <a:t>Order </a:t>
            </a:r>
            <a:r>
              <a:rPr lang="en-US" sz="2400" b="1" i="0" dirty="0" err="1">
                <a:solidFill>
                  <a:srgbClr val="0C0D0E"/>
                </a:solidFill>
                <a:effectLst/>
                <a:latin typeface="Trebuchet MS" panose="020B0603020202020204" pitchFamily="34" charset="0"/>
              </a:rPr>
              <a:t>Minterms</a:t>
            </a:r>
            <a:r>
              <a:rPr lang="en-US" sz="2400" b="1" i="0" dirty="0">
                <a:solidFill>
                  <a:srgbClr val="0C0D0E"/>
                </a:solidFill>
                <a:effectLst/>
                <a:latin typeface="Trebuchet MS" panose="020B0603020202020204" pitchFamily="34" charset="0"/>
              </a:rPr>
              <a:t>: </a:t>
            </a:r>
            <a:r>
              <a:rPr lang="en-US" sz="2400" b="0" i="0" dirty="0">
                <a:solidFill>
                  <a:srgbClr val="0C0D0E"/>
                </a:solidFill>
                <a:effectLst/>
                <a:latin typeface="Trebuchet MS" panose="020B0603020202020204" pitchFamily="34" charset="0"/>
              </a:rPr>
              <a:t>Arrange the </a:t>
            </a:r>
            <a:r>
              <a:rPr lang="en-US" sz="2400" b="0" i="0" dirty="0" err="1">
                <a:solidFill>
                  <a:srgbClr val="0C0D0E"/>
                </a:solidFill>
                <a:effectLst/>
                <a:latin typeface="Trebuchet MS" panose="020B0603020202020204" pitchFamily="34" charset="0"/>
              </a:rPr>
              <a:t>minterms</a:t>
            </a:r>
            <a:r>
              <a:rPr lang="en-US" sz="2400" b="0" i="0" dirty="0">
                <a:solidFill>
                  <a:srgbClr val="0C0D0E"/>
                </a:solidFill>
                <a:effectLst/>
                <a:latin typeface="Trebuchet MS" panose="020B0603020202020204" pitchFamily="34" charset="0"/>
              </a:rPr>
              <a:t> in ascending order of their indices.</a:t>
            </a:r>
            <a:endParaRPr lang="zh-CN" altLang="en-US" b="1" dirty="0"/>
          </a:p>
        </p:txBody>
      </p:sp>
    </p:spTree>
    <p:extLst>
      <p:ext uri="{BB962C8B-B14F-4D97-AF65-F5344CB8AC3E}">
        <p14:creationId xmlns:p14="http://schemas.microsoft.com/office/powerpoint/2010/main" val="3919828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1000"/>
                                        <p:tgtEl>
                                          <p:spTgt spid="8">
                                            <p:txEl>
                                              <p:pRg st="6" end="6"/>
                                            </p:txEl>
                                          </p:spTgt>
                                        </p:tgtEl>
                                      </p:cBhvr>
                                    </p:animEffect>
                                    <p:anim calcmode="lin" valueType="num">
                                      <p:cBhvr>
                                        <p:cTn id="3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0" dirty="0">
                <a:solidFill>
                  <a:srgbClr val="0B61FF"/>
                </a:solidFill>
                <a:effectLst/>
                <a:latin typeface="Trebuchet MS" panose="020B0603020202020204" pitchFamily="34"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i="0" dirty="0">
                <a:effectLst/>
                <a:latin typeface="Trebuchet MS" panose="020B0603020202020204" pitchFamily="34" charset="0"/>
              </a:rPr>
              <a:t>PCNF</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10148119" cy="49117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1463" indent="-271463">
              <a:lnSpc>
                <a:spcPct val="120000"/>
              </a:lnSpc>
              <a:spcBef>
                <a:spcPts val="3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Let formula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contain propositional variables  </a:t>
            </a:r>
            <a:r>
              <a:rPr lang="en-US" altLang="zh-CN" sz="2400" b="1" i="1" dirty="0">
                <a:latin typeface="Trebuchet MS" panose="020B0603020202020204" pitchFamily="34" charset="0"/>
              </a:rPr>
              <a:t>p</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i="1" baseline="-25000" dirty="0" err="1">
                <a:latin typeface="Trebuchet MS" panose="020B0603020202020204" pitchFamily="34" charset="0"/>
              </a:rPr>
              <a:t>n</a:t>
            </a:r>
            <a:r>
              <a:rPr lang="en-US" altLang="zh-CN" sz="2400" b="1" i="1" dirty="0">
                <a:latin typeface="Trebuchet MS" panose="020B0603020202020204" pitchFamily="34" charset="0"/>
              </a:rPr>
              <a:t>,</a:t>
            </a:r>
            <a:r>
              <a:rPr lang="en-US" altLang="zh-CN" sz="1600" dirty="0"/>
              <a:t> </a:t>
            </a:r>
            <a:r>
              <a:rPr lang="en-US" altLang="zh-CN" sz="2400" dirty="0">
                <a:latin typeface="Trebuchet MS" panose="020B0603020202020204" pitchFamily="34" charset="0"/>
              </a:rPr>
              <a:t>find the principal </a:t>
            </a:r>
            <a:r>
              <a:rPr lang="en-US" altLang="zh-CN" sz="2400" b="1" i="0" dirty="0">
                <a:solidFill>
                  <a:srgbClr val="0C0D0E"/>
                </a:solidFill>
                <a:effectLst/>
                <a:latin typeface="Trebuchet MS" panose="020B0603020202020204" pitchFamily="34" charset="0"/>
              </a:rPr>
              <a:t>Conjunctive</a:t>
            </a:r>
            <a:r>
              <a:rPr lang="en-US" altLang="zh-CN" sz="2400" dirty="0">
                <a:latin typeface="Trebuchet MS" panose="020B0603020202020204" pitchFamily="34" charset="0"/>
              </a:rPr>
              <a:t> normal form (</a:t>
            </a:r>
            <a:r>
              <a:rPr lang="en-US" altLang="zh-CN" sz="2400" b="1" dirty="0">
                <a:latin typeface="Trebuchet MS" panose="020B0603020202020204" pitchFamily="34" charset="0"/>
              </a:rPr>
              <a:t>PCNF</a:t>
            </a:r>
            <a:r>
              <a:rPr lang="en-US" altLang="zh-CN" sz="2400" dirty="0">
                <a:latin typeface="Trebuchet MS" panose="020B0603020202020204" pitchFamily="34" charset="0"/>
              </a:rPr>
              <a:t>) of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endParaRPr lang="zh-CN" altLang="en-US" sz="2400" b="1" dirty="0">
              <a:latin typeface="Trebuchet MS" panose="020B0603020202020204" pitchFamily="34" charset="0"/>
            </a:endParaRPr>
          </a:p>
          <a:p>
            <a:pPr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(1) </a:t>
            </a:r>
            <a:r>
              <a:rPr lang="en-US" sz="2400" b="1" i="0" dirty="0">
                <a:solidFill>
                  <a:srgbClr val="0C0D0E"/>
                </a:solidFill>
                <a:effectLst/>
                <a:latin typeface="Trebuchet MS" panose="020B0603020202020204" pitchFamily="34" charset="0"/>
              </a:rPr>
              <a:t>Find a Conjunctive Normal Form (CNF)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B</a:t>
            </a:r>
            <a:r>
              <a:rPr lang="en-US" altLang="zh-CN" sz="2400" b="1" i="1" baseline="-25000"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b="0" i="0" dirty="0">
                <a:solidFill>
                  <a:srgbClr val="0C0D0E"/>
                </a:solidFill>
                <a:effectLst/>
                <a:latin typeface="Trebuchet MS" panose="020B0603020202020204" pitchFamily="34" charset="0"/>
              </a:rPr>
              <a:t>where each </a:t>
            </a:r>
            <a:r>
              <a:rPr lang="en-US" sz="2400" b="1" i="1" dirty="0">
                <a:solidFill>
                  <a:srgbClr val="0C0D0E"/>
                </a:solidFill>
                <a:effectLst/>
                <a:latin typeface="Trebuchet MS" panose="020B0603020202020204" pitchFamily="34" charset="0"/>
              </a:rPr>
              <a:t>Bⱼ </a:t>
            </a:r>
            <a:r>
              <a:rPr lang="en-US" sz="2400" b="0" i="0" dirty="0">
                <a:solidFill>
                  <a:srgbClr val="0C0D0E"/>
                </a:solidFill>
                <a:effectLst/>
                <a:latin typeface="Trebuchet MS" panose="020B0603020202020204" pitchFamily="34" charset="0"/>
              </a:rPr>
              <a:t>is a </a:t>
            </a:r>
            <a:r>
              <a:rPr lang="en-US" sz="2400" b="1" i="0" dirty="0">
                <a:solidFill>
                  <a:srgbClr val="0C0D0E"/>
                </a:solidFill>
                <a:effectLst/>
                <a:latin typeface="Trebuchet MS" panose="020B0603020202020204" pitchFamily="34" charset="0"/>
              </a:rPr>
              <a:t>simple disjunction, </a:t>
            </a:r>
            <a:r>
              <a:rPr lang="en-US" altLang="zh-CN" sz="2400" b="1" i="1" dirty="0">
                <a:latin typeface="Trebuchet MS" panose="020B0603020202020204" pitchFamily="34" charset="0"/>
                <a:sym typeface="Symbol" panose="05050102010706020507" pitchFamily="18" charset="2"/>
              </a:rPr>
              <a:t>j</a:t>
            </a:r>
            <a:r>
              <a:rPr lang="en-US" altLang="zh-CN" sz="2400" b="1" dirty="0">
                <a:latin typeface="Trebuchet MS" panose="020B0603020202020204" pitchFamily="34" charset="0"/>
                <a:sym typeface="Symbol" panose="05050102010706020507" pitchFamily="18" charset="2"/>
              </a:rPr>
              <a:t>=1,2,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cs typeface="Times New Roman" panose="02020603050405020304" pitchFamily="18" charset="0"/>
              </a:rPr>
              <a:t> .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endParaRPr lang="en-US" altLang="zh-CN" sz="2400" b="1" dirty="0">
              <a:latin typeface="Trebuchet MS" panose="020B0603020202020204" pitchFamily="34" charset="0"/>
            </a:endParaRPr>
          </a:p>
          <a:p>
            <a:pPr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(2) </a:t>
            </a:r>
            <a:r>
              <a:rPr lang="en-US" sz="2400" b="0" i="0" dirty="0">
                <a:solidFill>
                  <a:srgbClr val="0C0D0E"/>
                </a:solidFill>
                <a:effectLst/>
                <a:latin typeface="Trebuchet MS" panose="020B0603020202020204" pitchFamily="34" charset="0"/>
              </a:rPr>
              <a:t>If a term </a:t>
            </a:r>
            <a:r>
              <a:rPr lang="en-US" sz="2400" b="1" i="1" dirty="0">
                <a:solidFill>
                  <a:srgbClr val="0C0D0E"/>
                </a:solidFill>
                <a:effectLst/>
                <a:latin typeface="Trebuchet MS" panose="020B0603020202020204" pitchFamily="34" charset="0"/>
              </a:rPr>
              <a:t>Bⱼ</a:t>
            </a:r>
            <a:r>
              <a:rPr lang="en-US" sz="2400" b="0" i="0" dirty="0">
                <a:solidFill>
                  <a:srgbClr val="0C0D0E"/>
                </a:solidFill>
                <a:effectLst/>
                <a:latin typeface="Trebuchet MS" panose="020B0603020202020204" pitchFamily="34" charset="0"/>
              </a:rPr>
              <a:t> lacks either </a:t>
            </a:r>
            <a:r>
              <a:rPr lang="en-US" sz="2400" b="1" i="1" dirty="0">
                <a:solidFill>
                  <a:srgbClr val="0C0D0E"/>
                </a:solidFill>
                <a:effectLst/>
                <a:latin typeface="Trebuchet MS" panose="020B0603020202020204" pitchFamily="34" charset="0"/>
              </a:rPr>
              <a:t>p</a:t>
            </a:r>
            <a:r>
              <a:rPr lang="en-US" sz="2400" b="1" i="1" baseline="-25000"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 or ¬</a:t>
            </a:r>
            <a:r>
              <a:rPr lang="en-US" altLang="zh-CN" sz="2400" b="1" i="1" dirty="0">
                <a:solidFill>
                  <a:srgbClr val="0C0D0E"/>
                </a:solidFill>
                <a:effectLst/>
                <a:latin typeface="Trebuchet MS" panose="020B0603020202020204" pitchFamily="34" charset="0"/>
              </a:rPr>
              <a:t> p</a:t>
            </a:r>
            <a:r>
              <a:rPr lang="en-US" altLang="zh-CN" sz="2400" b="1" i="1" baseline="-25000"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 for some variable </a:t>
            </a:r>
            <a:r>
              <a:rPr lang="en-US" altLang="zh-CN" sz="2400" b="1" i="1" dirty="0">
                <a:solidFill>
                  <a:srgbClr val="0C0D0E"/>
                </a:solidFill>
                <a:effectLst/>
                <a:latin typeface="Trebuchet MS" panose="020B0603020202020204" pitchFamily="34" charset="0"/>
              </a:rPr>
              <a:t>p</a:t>
            </a:r>
            <a:r>
              <a:rPr lang="en-US" altLang="zh-CN" sz="2400" b="1" i="1" baseline="-25000" dirty="0">
                <a:solidFill>
                  <a:srgbClr val="0C0D0E"/>
                </a:solidFill>
                <a:effectLst/>
                <a:latin typeface="Trebuchet MS" panose="020B0603020202020204" pitchFamily="34" charset="0"/>
              </a:rPr>
              <a:t>i</a:t>
            </a:r>
            <a:r>
              <a:rPr lang="en-US" sz="2400" b="0" i="0" dirty="0">
                <a:solidFill>
                  <a:srgbClr val="0C0D0E"/>
                </a:solidFill>
                <a:effectLst/>
                <a:latin typeface="Trebuchet MS" panose="020B0603020202020204" pitchFamily="34" charset="0"/>
              </a:rPr>
              <a:t>, expand it using:</a:t>
            </a: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rPr>
              <a:t>p</a:t>
            </a:r>
            <a:r>
              <a:rPr lang="en-US" altLang="zh-CN" sz="2400" b="1" i="1" baseline="-25000" dirty="0" err="1">
                <a:latin typeface="Trebuchet MS" panose="020B0603020202020204" pitchFamily="34" charset="0"/>
              </a:rPr>
              <a:t>i</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B</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a:t>
            </a:r>
          </a:p>
          <a:p>
            <a:pPr marL="0" indent="0" algn="l">
              <a:lnSpc>
                <a:spcPct val="120000"/>
              </a:lnSpc>
              <a:spcBef>
                <a:spcPts val="300"/>
              </a:spcBef>
              <a:buNone/>
            </a:pPr>
            <a:r>
              <a:rPr lang="en-US" sz="2400" b="0" i="0" dirty="0">
                <a:solidFill>
                  <a:srgbClr val="0C0D0E"/>
                </a:solidFill>
                <a:effectLst/>
                <a:latin typeface="Trebuchet MS" panose="020B0603020202020204" pitchFamily="34" charset="0"/>
              </a:rPr>
              <a:t>   Repeat until every disjunction becomes a </a:t>
            </a:r>
            <a:r>
              <a:rPr lang="en-US" sz="2400" b="1" i="0" dirty="0">
                <a:solidFill>
                  <a:srgbClr val="0C0D0E"/>
                </a:solidFill>
                <a:effectLst/>
                <a:latin typeface="Trebuchet MS" panose="020B0603020202020204" pitchFamily="34" charset="0"/>
              </a:rPr>
              <a:t>maxterm</a:t>
            </a:r>
            <a:r>
              <a:rPr lang="en-US" sz="2400" b="0" i="0" dirty="0">
                <a:solidFill>
                  <a:srgbClr val="0C0D0E"/>
                </a:solidFill>
                <a:effectLst/>
                <a:latin typeface="Trebuchet MS" panose="020B0603020202020204" pitchFamily="34" charset="0"/>
              </a:rPr>
              <a:t> (length </a:t>
            </a:r>
            <a:r>
              <a:rPr lang="en-US" sz="2400" b="1" i="1" dirty="0">
                <a:solidFill>
                  <a:srgbClr val="0C0D0E"/>
                </a:solidFill>
                <a:effectLst/>
                <a:latin typeface="Trebuchet MS" panose="020B0603020202020204" pitchFamily="34" charset="0"/>
              </a:rPr>
              <a:t>n</a:t>
            </a:r>
            <a:r>
              <a:rPr lang="en-US" sz="2400" b="0" i="0" dirty="0">
                <a:solidFill>
                  <a:srgbClr val="0C0D0E"/>
                </a:solidFill>
                <a:effectLst/>
                <a:latin typeface="Trebuchet MS" panose="020B0603020202020204" pitchFamily="34" charset="0"/>
              </a:rPr>
              <a:t>).</a:t>
            </a:r>
          </a:p>
          <a:p>
            <a:pPr marL="0" indent="0" algn="l">
              <a:lnSpc>
                <a:spcPct val="120000"/>
              </a:lnSpc>
              <a:spcBef>
                <a:spcPts val="300"/>
              </a:spcBef>
              <a:buNone/>
            </a:pPr>
            <a:r>
              <a:rPr lang="zh-CN" altLang="en-US" sz="2400" b="1" dirty="0">
                <a:solidFill>
                  <a:srgbClr val="0B61FF"/>
                </a:solidFill>
                <a:latin typeface="Trebuchet MS" panose="020B0603020202020204" pitchFamily="34" charset="0"/>
              </a:rPr>
              <a:t>(3) </a:t>
            </a:r>
            <a:r>
              <a:rPr lang="en-US" sz="2400" b="0" i="0" dirty="0">
                <a:solidFill>
                  <a:srgbClr val="0C0D0E"/>
                </a:solidFill>
                <a:effectLst/>
                <a:latin typeface="Trebuchet MS" panose="020B0603020202020204" pitchFamily="34" charset="0"/>
              </a:rPr>
              <a:t>Replace repeated maxterms (e.g., </a:t>
            </a:r>
            <a:r>
              <a:rPr lang="en-US" sz="2400" b="1" i="1" dirty="0">
                <a:solidFill>
                  <a:srgbClr val="0C0D0E"/>
                </a:solidFill>
                <a:effectLst/>
                <a:latin typeface="Trebuchet MS" panose="020B0603020202020204" pitchFamily="34" charset="0"/>
              </a:rPr>
              <a:t>Mᵢ </a:t>
            </a:r>
            <a:r>
              <a:rPr lang="en-US" sz="2400" b="1"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Mᵢ</a:t>
            </a:r>
            <a:r>
              <a:rPr lang="en-US" sz="2400" b="0" i="0" dirty="0">
                <a:solidFill>
                  <a:srgbClr val="0C0D0E"/>
                </a:solidFill>
                <a:effectLst/>
                <a:latin typeface="Trebuchet MS" panose="020B0603020202020204" pitchFamily="34" charset="0"/>
              </a:rPr>
              <a:t>) with a single </a:t>
            </a:r>
            <a:r>
              <a:rPr lang="en-US" sz="2400" b="1" i="1" dirty="0">
                <a:solidFill>
                  <a:srgbClr val="0C0D0E"/>
                </a:solidFill>
                <a:effectLst/>
                <a:latin typeface="Trebuchet MS" panose="020B0603020202020204" pitchFamily="34" charset="0"/>
              </a:rPr>
              <a:t>Mᵢ</a:t>
            </a:r>
            <a:r>
              <a:rPr lang="en-US" sz="2400" b="0" i="0" dirty="0">
                <a:solidFill>
                  <a:srgbClr val="0C0D0E"/>
                </a:solidFill>
                <a:effectLst/>
                <a:latin typeface="Trebuchet MS" panose="020B0603020202020204" pitchFamily="34" charset="0"/>
              </a:rPr>
              <a:t>.</a:t>
            </a:r>
            <a:endParaRPr lang="zh-CN" altLang="en-US" sz="2400" b="1" dirty="0">
              <a:latin typeface="Trebuchet MS" panose="020B0603020202020204" pitchFamily="34" charset="0"/>
            </a:endParaRPr>
          </a:p>
          <a:p>
            <a:pPr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(4) </a:t>
            </a:r>
            <a:r>
              <a:rPr lang="en-US" sz="2400" b="0" i="0" dirty="0">
                <a:solidFill>
                  <a:srgbClr val="0C0D0E"/>
                </a:solidFill>
                <a:effectLst/>
                <a:latin typeface="Trebuchet MS" panose="020B0603020202020204" pitchFamily="34" charset="0"/>
              </a:rPr>
              <a:t>Arrange the maxterms in ascending order of their indices (e.g., </a:t>
            </a:r>
            <a:r>
              <a:rPr lang="en-US" sz="2400" b="1" i="1" dirty="0">
                <a:solidFill>
                  <a:srgbClr val="0C0D0E"/>
                </a:solidFill>
                <a:effectLst/>
                <a:latin typeface="Trebuchet MS" panose="020B0603020202020204" pitchFamily="34" charset="0"/>
              </a:rPr>
              <a:t>M₀</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M₁</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M₂</a:t>
            </a:r>
            <a:r>
              <a:rPr lang="en-US" sz="2400" b="0" i="0" dirty="0">
                <a:solidFill>
                  <a:srgbClr val="0C0D0E"/>
                </a:solidFill>
                <a:effectLst/>
                <a:latin typeface="Trebuchet MS" panose="020B0603020202020204" pitchFamily="34" charset="0"/>
              </a:rPr>
              <a:t>, ...).</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522204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0" dirty="0">
                <a:solidFill>
                  <a:srgbClr val="0B61FF"/>
                </a:solidFill>
                <a:effectLst/>
                <a:latin typeface="Trebuchet MS" panose="020B0603020202020204" pitchFamily="34"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PDNF and PCNF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en-US" altLang="zh-CN" sz="2400" b="1" i="0" dirty="0">
                <a:effectLst/>
                <a:latin typeface="Trebuchet MS" panose="020B0603020202020204" pitchFamily="34" charset="0"/>
              </a:rPr>
              <a:t>)</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04238" y="794339"/>
            <a:ext cx="10148119" cy="55846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10000"/>
              </a:lnSpc>
              <a:spcBef>
                <a:spcPts val="300"/>
              </a:spcBef>
              <a:buFontTx/>
              <a:buNone/>
            </a:pPr>
            <a:r>
              <a:rPr lang="en-US" sz="2400" b="0" i="0" dirty="0">
                <a:solidFill>
                  <a:srgbClr val="0C0D0E"/>
                </a:solidFill>
                <a:effectLst/>
                <a:latin typeface="Trebuchet MS" panose="020B0603020202020204" pitchFamily="34" charset="0"/>
              </a:rPr>
              <a:t>      Example: Find the PDNF and PCNF of </a:t>
            </a:r>
            <a:r>
              <a:rPr lang="en-US" sz="2400" b="1" i="0" dirty="0">
                <a:solidFill>
                  <a:srgbClr val="0C0D0E"/>
                </a:solidFill>
                <a:effectLst/>
                <a:latin typeface="Trebuchet MS" panose="020B0603020202020204" pitchFamily="34" charset="0"/>
              </a:rPr>
              <a:t>¬(</a:t>
            </a:r>
            <a:r>
              <a:rPr lang="en-US" sz="2400" b="1" i="1" dirty="0" err="1">
                <a:solidFill>
                  <a:srgbClr val="0C0D0E"/>
                </a:solidFill>
                <a:effectLst/>
                <a:latin typeface="Trebuchet MS" panose="020B0603020202020204" pitchFamily="34" charset="0"/>
              </a:rPr>
              <a:t>p</a:t>
            </a:r>
            <a:r>
              <a:rPr lang="en-US" sz="2400" b="1" i="0" dirty="0" err="1">
                <a:solidFill>
                  <a:srgbClr val="0C0D0E"/>
                </a:solidFill>
                <a:effectLst/>
                <a:latin typeface="Trebuchet MS" panose="020B0603020202020204" pitchFamily="34" charset="0"/>
              </a:rPr>
              <a:t>→</a:t>
            </a:r>
            <a:r>
              <a:rPr lang="en-US" sz="2400" b="1" i="1" dirty="0" err="1">
                <a:solidFill>
                  <a:srgbClr val="0C0D0E"/>
                </a:solidFill>
                <a:effectLst/>
                <a:latin typeface="Trebuchet MS" panose="020B0603020202020204" pitchFamily="34" charset="0"/>
              </a:rPr>
              <a:t>q</a:t>
            </a:r>
            <a:r>
              <a:rPr lang="en-US" sz="2400" b="1" i="0" dirty="0">
                <a:solidFill>
                  <a:srgbClr val="0C0D0E"/>
                </a:solidFill>
                <a:effectLst/>
                <a:latin typeface="Trebuchet MS" panose="020B0603020202020204" pitchFamily="34" charset="0"/>
              </a:rPr>
              <a:t>) ∨ ¬</a:t>
            </a:r>
            <a:r>
              <a:rPr lang="en-US" sz="2400" b="1" i="1" dirty="0">
                <a:solidFill>
                  <a:srgbClr val="0C0D0E"/>
                </a:solidFill>
                <a:effectLst/>
                <a:latin typeface="Trebuchet MS" panose="020B0603020202020204" pitchFamily="34" charset="0"/>
              </a:rPr>
              <a:t>r</a:t>
            </a:r>
          </a:p>
          <a:p>
            <a:pPr algn="l">
              <a:lnSpc>
                <a:spcPct val="11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Step 1: Find PDNF (</a:t>
            </a:r>
            <a:r>
              <a:rPr lang="en-US" sz="2400" b="1" i="0" dirty="0" err="1">
                <a:solidFill>
                  <a:srgbClr val="0C0D0E"/>
                </a:solidFill>
                <a:effectLst/>
                <a:latin typeface="Trebuchet MS" panose="020B0603020202020204" pitchFamily="34" charset="0"/>
              </a:rPr>
              <a:t>Minterms</a:t>
            </a:r>
            <a:r>
              <a:rPr lang="en-US" sz="2400" b="1" i="0" dirty="0">
                <a:solidFill>
                  <a:srgbClr val="0C0D0E"/>
                </a:solidFill>
                <a:effectLst/>
                <a:latin typeface="Trebuchet MS" panose="020B0603020202020204" pitchFamily="34" charset="0"/>
              </a:rPr>
              <a:t>)</a:t>
            </a:r>
          </a:p>
          <a:p>
            <a:pPr marL="0" indent="0">
              <a:lnSpc>
                <a:spcPct val="110000"/>
              </a:lnSpc>
              <a:spcBef>
                <a:spcPts val="300"/>
              </a:spcBef>
              <a:buNone/>
            </a:pPr>
            <a:r>
              <a:rPr lang="en-US" altLang="zh-CN" sz="2400" b="1"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  </a:t>
            </a:r>
            <a:r>
              <a:rPr lang="en-US" altLang="zh-CN" sz="2400" b="1" dirty="0">
                <a:latin typeface="Trebuchet MS" panose="020B0603020202020204" pitchFamily="34" charset="0"/>
                <a:cs typeface="Times New Roman" panose="02020603050405020304" pitchFamily="18" charset="0"/>
              </a:rPr>
              <a:t>(</a:t>
            </a:r>
            <a:r>
              <a:rPr lang="en-US" altLang="zh-CN" sz="2400" dirty="0">
                <a:solidFill>
                  <a:srgbClr val="0C0D0E"/>
                </a:solidFill>
                <a:latin typeface="Trebuchet MS" panose="020B0603020202020204" pitchFamily="34" charset="0"/>
              </a:rPr>
              <a:t>Implication equivalence, De Morgan)</a:t>
            </a:r>
            <a:endParaRPr lang="zh-CN" altLang="en-US" sz="2400" b="1" dirty="0">
              <a:latin typeface="Trebuchet MS" panose="020B0603020202020204" pitchFamily="34" charset="0"/>
            </a:endParaRPr>
          </a:p>
          <a:p>
            <a:pPr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endParaRPr lang="zh-CN" altLang="en-US" sz="2400" b="1" dirty="0">
              <a:latin typeface="Trebuchet MS" panose="020B0603020202020204" pitchFamily="34" charset="0"/>
            </a:endParaRPr>
          </a:p>
          <a:p>
            <a:pPr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endParaRPr>
          </a:p>
          <a:p>
            <a:pPr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endParaRPr>
          </a:p>
          <a:p>
            <a:pPr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r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endParaRPr lang="zh-CN" altLang="en-US" sz="2400" b="1" dirty="0">
              <a:latin typeface="Trebuchet MS" panose="020B0603020202020204" pitchFamily="34" charset="0"/>
              <a:sym typeface="Symbol" panose="05050102010706020507" pitchFamily="18" charset="2"/>
            </a:endParaRPr>
          </a:p>
          <a:p>
            <a:pPr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6</a:t>
            </a:r>
            <a:endParaRPr lang="zh-CN" altLang="en-US" sz="2400" b="1" dirty="0">
              <a:latin typeface="Trebuchet MS" panose="020B0603020202020204" pitchFamily="34" charset="0"/>
            </a:endParaRPr>
          </a:p>
          <a:p>
            <a:pPr algn="just" eaLnBrk="1" hangingPunct="1">
              <a:lnSpc>
                <a:spcPct val="110000"/>
              </a:lnSpc>
              <a:spcBef>
                <a:spcPts val="300"/>
              </a:spcBef>
              <a:buFontTx/>
              <a:buNone/>
            </a:pP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4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6</a:t>
            </a:r>
            <a:endParaRPr lang="zh-CN" altLang="en-US" sz="2400" b="1" dirty="0">
              <a:latin typeface="Trebuchet MS" panose="020B0603020202020204" pitchFamily="34" charset="0"/>
              <a:sym typeface="Symbol" panose="05050102010706020507" pitchFamily="18" charset="2"/>
            </a:endParaRPr>
          </a:p>
          <a:p>
            <a:pPr algn="just"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(0,2,4,5,6)</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6680AA23-F5CA-4BE6-839C-34CDBBFFCE9D}"/>
              </a:ext>
            </a:extLst>
          </p:cNvPr>
          <p:cNvPicPr/>
          <p:nvPr/>
        </p:nvPicPr>
        <p:blipFill>
          <a:blip r:embed="rId5"/>
          <a:stretch>
            <a:fillRect/>
          </a:stretch>
        </p:blipFill>
        <p:spPr>
          <a:xfrm>
            <a:off x="972185" y="897709"/>
            <a:ext cx="577850" cy="241300"/>
          </a:xfrm>
          <a:prstGeom prst="rect">
            <a:avLst/>
          </a:prstGeom>
        </p:spPr>
      </p:pic>
    </p:spTree>
    <p:extLst>
      <p:ext uri="{BB962C8B-B14F-4D97-AF65-F5344CB8AC3E}">
        <p14:creationId xmlns:p14="http://schemas.microsoft.com/office/powerpoint/2010/main" val="800869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7" end="7"/>
                                            </p:txEl>
                                          </p:spTgt>
                                        </p:tgtEl>
                                        <p:attrNameLst>
                                          <p:attrName>style.visibility</p:attrName>
                                        </p:attrNameLst>
                                      </p:cBhvr>
                                      <p:to>
                                        <p:strVal val="visible"/>
                                      </p:to>
                                    </p:set>
                                    <p:animEffect transition="in" filter="fade">
                                      <p:cBhvr>
                                        <p:cTn id="14" dur="1000"/>
                                        <p:tgtEl>
                                          <p:spTgt spid="8">
                                            <p:txEl>
                                              <p:pRg st="7" end="7"/>
                                            </p:txEl>
                                          </p:spTgt>
                                        </p:tgtEl>
                                      </p:cBhvr>
                                    </p:animEffect>
                                    <p:anim calcmode="lin" valueType="num">
                                      <p:cBhvr>
                                        <p:cTn id="1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7" end="7"/>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fade">
                                      <p:cBhvr>
                                        <p:cTn id="19" dur="1000"/>
                                        <p:tgtEl>
                                          <p:spTgt spid="8">
                                            <p:txEl>
                                              <p:pRg st="8" end="8"/>
                                            </p:txEl>
                                          </p:spTgt>
                                        </p:tgtEl>
                                      </p:cBhvr>
                                    </p:animEffect>
                                    <p:anim calcmode="lin" valueType="num">
                                      <p:cBhvr>
                                        <p:cTn id="20"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8" end="8"/>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9" end="9"/>
                                            </p:txEl>
                                          </p:spTgt>
                                        </p:tgtEl>
                                        <p:attrNameLst>
                                          <p:attrName>style.visibility</p:attrName>
                                        </p:attrNameLst>
                                      </p:cBhvr>
                                      <p:to>
                                        <p:strVal val="visible"/>
                                      </p:to>
                                    </p:set>
                                    <p:animEffect transition="in" filter="fade">
                                      <p:cBhvr>
                                        <p:cTn id="24" dur="1000"/>
                                        <p:tgtEl>
                                          <p:spTgt spid="8">
                                            <p:txEl>
                                              <p:pRg st="9" end="9"/>
                                            </p:txEl>
                                          </p:spTgt>
                                        </p:tgtEl>
                                      </p:cBhvr>
                                    </p:animEffect>
                                    <p:anim calcmode="lin" valueType="num">
                                      <p:cBhvr>
                                        <p:cTn id="25"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10" end="10"/>
                                            </p:txEl>
                                          </p:spTgt>
                                        </p:tgtEl>
                                        <p:attrNameLst>
                                          <p:attrName>style.visibility</p:attrName>
                                        </p:attrNameLst>
                                      </p:cBhvr>
                                      <p:to>
                                        <p:strVal val="visible"/>
                                      </p:to>
                                    </p:set>
                                    <p:animEffect transition="in" filter="fade">
                                      <p:cBhvr>
                                        <p:cTn id="31" dur="1000"/>
                                        <p:tgtEl>
                                          <p:spTgt spid="8">
                                            <p:txEl>
                                              <p:pRg st="10" end="10"/>
                                            </p:txEl>
                                          </p:spTgt>
                                        </p:tgtEl>
                                      </p:cBhvr>
                                    </p:animEffect>
                                    <p:anim calcmode="lin" valueType="num">
                                      <p:cBhvr>
                                        <p:cTn id="32"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11" end="11"/>
                                            </p:txEl>
                                          </p:spTgt>
                                        </p:tgtEl>
                                        <p:attrNameLst>
                                          <p:attrName>style.visibility</p:attrName>
                                        </p:attrNameLst>
                                      </p:cBhvr>
                                      <p:to>
                                        <p:strVal val="visible"/>
                                      </p:to>
                                    </p:set>
                                    <p:animEffect transition="in" filter="fade">
                                      <p:cBhvr>
                                        <p:cTn id="36" dur="1000"/>
                                        <p:tgtEl>
                                          <p:spTgt spid="8">
                                            <p:txEl>
                                              <p:pRg st="11" end="11"/>
                                            </p:txEl>
                                          </p:spTgt>
                                        </p:tgtEl>
                                      </p:cBhvr>
                                    </p:animEffect>
                                    <p:anim calcmode="lin" valueType="num">
                                      <p:cBhvr>
                                        <p:cTn id="37"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0" dirty="0">
                <a:solidFill>
                  <a:srgbClr val="0B61FF"/>
                </a:solidFill>
                <a:effectLst/>
                <a:latin typeface="Trebuchet MS" panose="020B0603020202020204" pitchFamily="34"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PDNF and PCNF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en-US" altLang="zh-CN" sz="2400" b="1" i="0" dirty="0">
                <a:effectLst/>
                <a:latin typeface="Trebuchet MS" panose="020B0603020202020204" pitchFamily="34" charset="0"/>
              </a:rPr>
              <a:t>)</a:t>
            </a:r>
            <a:endParaRPr lang="zh-CN" altLang="en-US" sz="24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6"/>
            <a:ext cx="10148119" cy="5439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20000"/>
              </a:lnSpc>
              <a:spcBef>
                <a:spcPts val="3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Step 2: Find PCNF (Maxterms) </a:t>
            </a:r>
          </a:p>
          <a:p>
            <a:pPr indent="130175" algn="just"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0</a:t>
            </a:r>
            <a:r>
              <a:rPr lang="en-US" altLang="zh-CN" sz="2400" b="1" i="1" dirty="0">
                <a:latin typeface="Trebuchet MS" panose="020B0603020202020204" pitchFamily="34" charset="0"/>
                <a:cs typeface="Times New Roman" panose="02020603050405020304" pitchFamily="18" charset="0"/>
              </a:rPr>
              <a:t>r</a:t>
            </a:r>
            <a:endParaRPr lang="zh-CN" altLang="en-US" sz="2400" b="1" dirty="0">
              <a:latin typeface="Trebuchet MS" panose="020B0603020202020204" pitchFamily="34" charset="0"/>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endParaRPr lang="zh-CN" altLang="en-US" sz="2400" b="1" dirty="0">
              <a:latin typeface="Trebuchet MS" panose="020B0603020202020204" pitchFamily="34" charset="0"/>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endParaRPr lang="zh-CN" altLang="en-US" sz="2400" b="1" dirty="0">
              <a:latin typeface="Trebuchet MS" panose="020B0603020202020204" pitchFamily="34" charset="0"/>
              <a:cs typeface="Times New Roman" panose="02020603050405020304" pitchFamily="18" charset="0"/>
            </a:endParaRPr>
          </a:p>
          <a:p>
            <a:pPr indent="130175" eaLnBrk="1" hangingPunct="1">
              <a:lnSpc>
                <a:spcPct val="120000"/>
              </a:lnSpc>
              <a:spcBef>
                <a:spcPts val="300"/>
              </a:spcBef>
              <a:buFont typeface="Symbol" panose="05050102010706020507" pitchFamily="18" charset="2"/>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endParaRPr lang="zh-CN" altLang="en-US" sz="2400" b="1" dirty="0">
              <a:latin typeface="Trebuchet MS" panose="020B0603020202020204" pitchFamily="34" charset="0"/>
              <a:sym typeface="Symbol" panose="05050102010706020507" pitchFamily="18" charset="2"/>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endParaRPr lang="zh-CN" altLang="en-US" sz="2400" b="1" dirty="0">
              <a:latin typeface="Trebuchet MS" panose="020B0603020202020204" pitchFamily="34" charset="0"/>
              <a:sym typeface="Symbol" panose="05050102010706020507" pitchFamily="18" charset="2"/>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indent="130175"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(1,3,7)</a:t>
            </a:r>
            <a:endParaRPr lang="zh-CN" altLang="en-US" sz="2400" b="1" dirty="0">
              <a:latin typeface="Trebuchet MS" panose="020B0603020202020204" pitchFamily="34" charset="0"/>
              <a:cs typeface="Times New Roman" panose="02020603050405020304" pitchFamily="18" charset="0"/>
            </a:endParaRPr>
          </a:p>
          <a:p>
            <a:pPr algn="just" eaLnBrk="1" hangingPunct="1">
              <a:lnSpc>
                <a:spcPct val="120000"/>
              </a:lnSpc>
              <a:spcBef>
                <a:spcPts val="30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31711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anim calcmode="lin" valueType="num">
                                      <p:cBhvr>
                                        <p:cTn id="1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1000"/>
                                        <p:tgtEl>
                                          <p:spTgt spid="8">
                                            <p:txEl>
                                              <p:pRg st="5" end="5"/>
                                            </p:txEl>
                                          </p:spTgt>
                                        </p:tgtEl>
                                      </p:cBhvr>
                                    </p:animEffect>
                                    <p:anim calcmode="lin" valueType="num">
                                      <p:cBhvr>
                                        <p:cTn id="2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1000"/>
                                        <p:tgtEl>
                                          <p:spTgt spid="8">
                                            <p:txEl>
                                              <p:pRg st="6" end="6"/>
                                            </p:txEl>
                                          </p:spTgt>
                                        </p:tgtEl>
                                      </p:cBhvr>
                                    </p:animEffect>
                                    <p:anim calcmode="lin" valueType="num">
                                      <p:cBhvr>
                                        <p:cTn id="3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fade">
                                      <p:cBhvr>
                                        <p:cTn id="34" dur="1000"/>
                                        <p:tgtEl>
                                          <p:spTgt spid="8">
                                            <p:txEl>
                                              <p:pRg st="7" end="7"/>
                                            </p:txEl>
                                          </p:spTgt>
                                        </p:tgtEl>
                                      </p:cBhvr>
                                    </p:animEffect>
                                    <p:anim calcmode="lin" valueType="num">
                                      <p:cBhvr>
                                        <p:cTn id="3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animEffect transition="in" filter="fade">
                                      <p:cBhvr>
                                        <p:cTn id="39" dur="1000"/>
                                        <p:tgtEl>
                                          <p:spTgt spid="8">
                                            <p:txEl>
                                              <p:pRg st="8" end="8"/>
                                            </p:txEl>
                                          </p:spTgt>
                                        </p:tgtEl>
                                      </p:cBhvr>
                                    </p:animEffect>
                                    <p:anim calcmode="lin" valueType="num">
                                      <p:cBhvr>
                                        <p:cTn id="40"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8">
                                            <p:txEl>
                                              <p:pRg st="9" end="9"/>
                                            </p:txEl>
                                          </p:spTgt>
                                        </p:tgtEl>
                                        <p:attrNameLst>
                                          <p:attrName>style.visibility</p:attrName>
                                        </p:attrNameLst>
                                      </p:cBhvr>
                                      <p:to>
                                        <p:strVal val="visible"/>
                                      </p:to>
                                    </p:set>
                                    <p:animEffect transition="in" filter="fade">
                                      <p:cBhvr>
                                        <p:cTn id="46" dur="1000"/>
                                        <p:tgtEl>
                                          <p:spTgt spid="8">
                                            <p:txEl>
                                              <p:pRg st="9" end="9"/>
                                            </p:txEl>
                                          </p:spTgt>
                                        </p:tgtEl>
                                      </p:cBhvr>
                                    </p:animEffect>
                                    <p:anim calcmode="lin" valueType="num">
                                      <p:cBhvr>
                                        <p:cTn id="47"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9" end="9"/>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8">
                                            <p:txEl>
                                              <p:pRg st="10" end="10"/>
                                            </p:txEl>
                                          </p:spTgt>
                                        </p:tgtEl>
                                        <p:attrNameLst>
                                          <p:attrName>style.visibility</p:attrName>
                                        </p:attrNameLst>
                                      </p:cBhvr>
                                      <p:to>
                                        <p:strVal val="visible"/>
                                      </p:to>
                                    </p:set>
                                    <p:animEffect transition="in" filter="fade">
                                      <p:cBhvr>
                                        <p:cTn id="51" dur="1000"/>
                                        <p:tgtEl>
                                          <p:spTgt spid="8">
                                            <p:txEl>
                                              <p:pRg st="10" end="10"/>
                                            </p:txEl>
                                          </p:spTgt>
                                        </p:tgtEl>
                                      </p:cBhvr>
                                    </p:animEffect>
                                    <p:anim calcmode="lin" valueType="num">
                                      <p:cBhvr>
                                        <p:cTn id="52"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PDNF and PCNF</a:t>
            </a:r>
            <a:r>
              <a:rPr lang="en-US" altLang="zh-CN" sz="16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a:t>
            </a:r>
            <a:r>
              <a:rPr lang="en-US" altLang="zh-CN" sz="2400" b="1" dirty="0">
                <a:solidFill>
                  <a:schemeClr val="bg1"/>
                </a:solidFill>
                <a:latin typeface="Trebuchet MS" panose="020B0603020202020204" pitchFamily="34" charset="0"/>
              </a:rPr>
              <a:t>Quick Method</a:t>
            </a:r>
            <a:endParaRPr lang="zh-CN" altLang="en-US" sz="2400" b="1" dirty="0">
              <a:solidFill>
                <a:schemeClr val="bg1"/>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3567" y="1014965"/>
            <a:ext cx="11861257" cy="56465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A </a:t>
            </a:r>
            <a:r>
              <a:rPr lang="en-US" altLang="zh-CN" sz="2400" b="1" i="1" dirty="0">
                <a:latin typeface="Trebuchet MS" panose="020B0603020202020204" pitchFamily="34" charset="0"/>
              </a:rPr>
              <a:t>quick way </a:t>
            </a:r>
            <a:r>
              <a:rPr lang="en-US" altLang="zh-CN" sz="2400" dirty="0">
                <a:latin typeface="Trebuchet MS" panose="020B0603020202020204" pitchFamily="34" charset="0"/>
              </a:rPr>
              <a:t>to obtain the PDNF (or PCNF) of a formula A with n propositional variables is to complete the missing variables to form all possible </a:t>
            </a:r>
            <a:r>
              <a:rPr lang="en-US" altLang="zh-CN" sz="2400" dirty="0" err="1">
                <a:latin typeface="Trebuchet MS" panose="020B0603020202020204" pitchFamily="34" charset="0"/>
              </a:rPr>
              <a:t>minterms</a:t>
            </a:r>
            <a:r>
              <a:rPr lang="en-US" altLang="zh-CN" sz="2400" dirty="0">
                <a:latin typeface="Trebuchet MS" panose="020B0603020202020204" pitchFamily="34" charset="0"/>
              </a:rPr>
              <a:t> (or maxterms). </a:t>
            </a:r>
          </a:p>
          <a:p>
            <a:pPr>
              <a:lnSpc>
                <a:spcPct val="120000"/>
              </a:lnSpc>
              <a:spcBef>
                <a:spcPts val="300"/>
              </a:spcBef>
              <a:buClr>
                <a:srgbClr val="0B61FF"/>
              </a:buClr>
              <a:buSzPct val="80000"/>
              <a:buFont typeface="Wingdings" panose="05000000000000000000" pitchFamily="2" charset="2"/>
              <a:buChar char="n"/>
            </a:pPr>
            <a:r>
              <a:rPr lang="en-US" sz="2400" b="0" i="0" dirty="0">
                <a:effectLst/>
                <a:latin typeface="Trebuchet MS" panose="020B0603020202020204" pitchFamily="34" charset="0"/>
              </a:rPr>
              <a:t>A </a:t>
            </a:r>
            <a:r>
              <a:rPr lang="en-US" sz="2400" b="1" i="0" dirty="0">
                <a:effectLst/>
                <a:latin typeface="Trebuchet MS" panose="020B0603020202020204" pitchFamily="34" charset="0"/>
              </a:rPr>
              <a:t>conjunctive clause</a:t>
            </a:r>
            <a:r>
              <a:rPr lang="en-US" sz="2400" b="0" i="0" dirty="0">
                <a:effectLst/>
                <a:latin typeface="Trebuchet MS" panose="020B0603020202020204" pitchFamily="34" charset="0"/>
              </a:rPr>
              <a:t> (simple AND term) of length k can be expanded into </a:t>
            </a:r>
            <a:r>
              <a:rPr lang="zh-CN" altLang="en-US" sz="2400" b="1" dirty="0">
                <a:latin typeface="Trebuchet MS" panose="020B0603020202020204" pitchFamily="34" charset="0"/>
              </a:rPr>
              <a:t>2</a:t>
            </a:r>
            <a:r>
              <a:rPr lang="en-US" altLang="zh-CN" sz="2400" b="1" i="1" baseline="30000" dirty="0">
                <a:latin typeface="Trebuchet MS" panose="020B0603020202020204" pitchFamily="34" charset="0"/>
              </a:rPr>
              <a:t>n-k</a:t>
            </a:r>
            <a:r>
              <a:rPr lang="en-US" altLang="zh-CN" sz="2400" baseline="30000" dirty="0">
                <a:latin typeface="Trebuchet MS" panose="020B0603020202020204" pitchFamily="34" charset="0"/>
              </a:rPr>
              <a:t> </a:t>
            </a:r>
            <a:r>
              <a:rPr lang="en-US" sz="2400" b="0" i="0" dirty="0">
                <a:effectLst/>
                <a:latin typeface="Trebuchet MS" panose="020B0603020202020204" pitchFamily="34" charset="0"/>
              </a:rPr>
              <a:t> </a:t>
            </a:r>
            <a:r>
              <a:rPr lang="en-US" sz="2400" b="0" i="0" dirty="0" err="1">
                <a:effectLst/>
                <a:latin typeface="Trebuchet MS" panose="020B0603020202020204" pitchFamily="34" charset="0"/>
              </a:rPr>
              <a:t>minterms</a:t>
            </a:r>
            <a:r>
              <a:rPr lang="en-US" sz="2400" b="0" i="0" dirty="0">
                <a:effectLst/>
                <a:latin typeface="Trebuchet MS" panose="020B0603020202020204" pitchFamily="34" charset="0"/>
              </a:rPr>
              <a:t>.</a:t>
            </a:r>
          </a:p>
          <a:p>
            <a:pPr eaLnBrk="1" hangingPunct="1">
              <a:lnSpc>
                <a:spcPct val="120000"/>
              </a:lnSpc>
              <a:spcBef>
                <a:spcPts val="300"/>
              </a:spcBef>
              <a:buFontTx/>
              <a:buNone/>
            </a:pPr>
            <a:r>
              <a:rPr lang="en-US" sz="2400" b="1" dirty="0">
                <a:latin typeface="Trebuchet MS" panose="020B0603020202020204" pitchFamily="34" charset="0"/>
              </a:rPr>
              <a:t>  Such as</a:t>
            </a:r>
            <a:r>
              <a:rPr lang="en-US" sz="2400" b="1" i="0" dirty="0">
                <a:effectLst/>
                <a:latin typeface="Trebuchet MS" panose="020B0603020202020204" pitchFamily="34" charset="0"/>
              </a:rPr>
              <a:t>:</a:t>
            </a:r>
            <a:r>
              <a:rPr lang="en-US" sz="2400" b="0" i="0" dirty="0">
                <a:effectLst/>
                <a:latin typeface="Trebuchet MS" panose="020B0603020202020204" pitchFamily="34" charset="0"/>
              </a:rPr>
              <a:t> </a:t>
            </a:r>
            <a:r>
              <a:rPr lang="en-US" sz="2400" dirty="0">
                <a:latin typeface="Trebuchet MS" panose="020B0603020202020204" pitchFamily="34" charset="0"/>
              </a:rPr>
              <a:t>Formulation </a:t>
            </a:r>
            <a:r>
              <a:rPr lang="en-US" altLang="zh-CN" sz="2400" b="1" i="1" dirty="0" err="1">
                <a:latin typeface="Trebuchet MS" panose="020B0603020202020204" pitchFamily="34" charset="0"/>
              </a:rPr>
              <a:t>p,q,r</a:t>
            </a:r>
            <a:endParaRPr lang="en-US" altLang="zh-CN" sz="2400" b="1" i="1" dirty="0">
              <a:latin typeface="Trebuchet MS" panose="020B0603020202020204" pitchFamily="34" charset="0"/>
            </a:endParaRPr>
          </a:p>
          <a:p>
            <a:pPr eaLnBrk="1" hangingPunct="1">
              <a:lnSpc>
                <a:spcPct val="120000"/>
              </a:lnSpc>
              <a:spcBef>
                <a:spcPts val="300"/>
              </a:spcBef>
              <a:buFontTx/>
              <a:buNone/>
            </a:pPr>
            <a:r>
              <a:rPr lang="en-US" altLang="zh-CN" sz="2400" b="1" dirty="0">
                <a:latin typeface="Trebuchet MS" panose="020B0603020202020204" pitchFamily="34" charset="0"/>
              </a:rPr>
              <a:t>     </a:t>
            </a:r>
            <a:r>
              <a:rPr lang="en-US" altLang="zh-CN" sz="2400" b="1" i="1" dirty="0">
                <a:latin typeface="Trebuchet MS" panose="020B0603020202020204" pitchFamily="34" charset="0"/>
              </a:rPr>
              <a:t>q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p>
          <a:p>
            <a:pPr eaLnBrk="1" hangingPunct="1">
              <a:lnSpc>
                <a:spcPct val="12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a:t>
            </a:r>
            <a:endParaRPr lang="en-US" altLang="zh-CN" sz="2400" b="1" dirty="0">
              <a:latin typeface="Trebuchet MS" panose="020B0603020202020204" pitchFamily="34" charset="0"/>
              <a:cs typeface="Times New Roman" panose="02020603050405020304" pitchFamily="18" charset="0"/>
            </a:endParaRPr>
          </a:p>
          <a:p>
            <a:pPr eaLnBrk="1" hangingPunct="1">
              <a:lnSpc>
                <a:spcPct val="120000"/>
              </a:lnSpc>
              <a:spcBef>
                <a:spcPts val="300"/>
              </a:spcBef>
              <a:buClr>
                <a:srgbClr val="0B61FF"/>
              </a:buClr>
              <a:buSzPct val="80000"/>
              <a:buFont typeface="Wingdings" panose="05000000000000000000" pitchFamily="2" charset="2"/>
              <a:buChar char="n"/>
            </a:pPr>
            <a:r>
              <a:rPr lang="en-US" sz="2400" b="1" i="0" dirty="0">
                <a:effectLst/>
                <a:latin typeface="Trebuchet MS" panose="020B0603020202020204" pitchFamily="34" charset="0"/>
              </a:rPr>
              <a:t>A disjunctive clause</a:t>
            </a:r>
            <a:r>
              <a:rPr lang="en-US" sz="2400" b="0" i="0" dirty="0">
                <a:effectLst/>
                <a:latin typeface="Trebuchet MS" panose="020B0603020202020204" pitchFamily="34" charset="0"/>
              </a:rPr>
              <a:t> (simple OR term) of length </a:t>
            </a:r>
            <a:r>
              <a:rPr lang="en-US" sz="2400" b="0" i="1" dirty="0">
                <a:effectLst/>
                <a:latin typeface="Trebuchet MS" panose="020B0603020202020204" pitchFamily="34" charset="0"/>
              </a:rPr>
              <a:t>k</a:t>
            </a:r>
            <a:r>
              <a:rPr lang="en-US" sz="2400" b="0" i="0" dirty="0">
                <a:effectLst/>
                <a:latin typeface="Trebuchet MS" panose="020B0603020202020204" pitchFamily="34" charset="0"/>
              </a:rPr>
              <a:t> can be expanded into               </a:t>
            </a:r>
            <a:r>
              <a:rPr lang="zh-CN" altLang="en-US" sz="2400" b="1" dirty="0">
                <a:latin typeface="Trebuchet MS" panose="020B0603020202020204" pitchFamily="34" charset="0"/>
              </a:rPr>
              <a:t>2</a:t>
            </a:r>
            <a:r>
              <a:rPr lang="en-US" altLang="zh-CN" sz="2400" b="1" i="1" baseline="30000" dirty="0">
                <a:latin typeface="Trebuchet MS" panose="020B0603020202020204" pitchFamily="34" charset="0"/>
              </a:rPr>
              <a:t>n-k </a:t>
            </a:r>
            <a:r>
              <a:rPr lang="en-US" sz="2400" b="0" i="0" dirty="0">
                <a:effectLst/>
                <a:latin typeface="Trebuchet MS" panose="020B0603020202020204" pitchFamily="34" charset="0"/>
              </a:rPr>
              <a:t> maxterms.</a:t>
            </a: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Such as</a:t>
            </a:r>
            <a:r>
              <a:rPr lang="en-US" altLang="zh-CN" sz="2400" b="1" i="0" dirty="0">
                <a:effectLst/>
                <a:latin typeface="Trebuchet MS" panose="020B0603020202020204" pitchFamily="34" charset="0"/>
              </a:rPr>
              <a:t>:</a:t>
            </a:r>
            <a:r>
              <a:rPr lang="en-US" altLang="zh-CN" sz="2400" b="0" i="0" dirty="0">
                <a:effectLst/>
                <a:latin typeface="Trebuchet MS" panose="020B0603020202020204" pitchFamily="34" charset="0"/>
              </a:rPr>
              <a:t> </a:t>
            </a:r>
            <a:r>
              <a:rPr lang="zh-CN" altLang="en-US" sz="2400" b="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a:t>
            </a:r>
          </a:p>
          <a:p>
            <a:pPr marL="0" indent="0" eaLnBrk="1" hangingPunct="1">
              <a:lnSpc>
                <a:spcPct val="120000"/>
              </a:lnSpc>
              <a:spcBef>
                <a:spcPts val="300"/>
              </a:spcBef>
              <a:buClr>
                <a:srgbClr val="0B61FF"/>
              </a:buClr>
              <a:buSzPct val="80000"/>
              <a:buNone/>
            </a:pP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171288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fade">
                                      <p:cBhvr>
                                        <p:cTn id="43" dur="1000"/>
                                        <p:tgtEl>
                                          <p:spTgt spid="8">
                                            <p:txEl>
                                              <p:pRg st="7" end="7"/>
                                            </p:txEl>
                                          </p:spTgt>
                                        </p:tgtEl>
                                      </p:cBhvr>
                                    </p:animEffect>
                                    <p:anim calcmode="lin" valueType="num">
                                      <p:cBhvr>
                                        <p:cTn id="44"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PDNF </a:t>
            </a:r>
            <a:r>
              <a:rPr lang="zh-CN" altLang="en-US" sz="2000" b="1" dirty="0">
                <a:latin typeface="Trebuchet MS" panose="020B0603020202020204" pitchFamily="34" charset="0"/>
              </a:rPr>
              <a: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zh-CN" altLang="en-US" sz="2000" b="1" dirty="0">
                <a:latin typeface="Trebuchet MS" panose="020B0603020202020204" pitchFamily="34" charset="0"/>
              </a:rPr>
              <a:t>）</a:t>
            </a:r>
            <a:endParaRPr lang="zh-CN" altLang="en-US" sz="20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12403" y="866913"/>
            <a:ext cx="9355020" cy="44126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9138" indent="-719138" eaLnBrk="1" hangingPunct="1">
              <a:lnSpc>
                <a:spcPct val="120000"/>
              </a:lnSpc>
              <a:spcBef>
                <a:spcPts val="300"/>
              </a:spcBef>
              <a:buFontTx/>
              <a:buNone/>
            </a:pPr>
            <a:r>
              <a:rPr lang="en-US" sz="2400" b="1" dirty="0">
                <a:latin typeface="Trebuchet MS" panose="020B0603020202020204" pitchFamily="34" charset="0"/>
              </a:rPr>
              <a:t>      </a:t>
            </a:r>
            <a:r>
              <a:rPr lang="en-US" sz="2400" b="1" i="0" dirty="0">
                <a:solidFill>
                  <a:srgbClr val="0C0D0E"/>
                </a:solidFill>
                <a:effectLst/>
                <a:latin typeface="Trebuchet MS" panose="020B0603020202020204" pitchFamily="34" charset="0"/>
              </a:rPr>
              <a:t> Example: </a:t>
            </a:r>
            <a:r>
              <a:rPr lang="en-US" sz="2400" b="0" i="0" dirty="0">
                <a:solidFill>
                  <a:srgbClr val="0C0D0E"/>
                </a:solidFill>
                <a:effectLst/>
                <a:latin typeface="Trebuchet MS" panose="020B0603020202020204" pitchFamily="34" charset="0"/>
              </a:rPr>
              <a:t>Find the PDNF (Principal Disjunctive Normal Form)</a:t>
            </a:r>
          </a:p>
          <a:p>
            <a:pPr marL="719138" indent="-719138" eaLnBrk="1" hangingPunct="1">
              <a:lnSpc>
                <a:spcPct val="120000"/>
              </a:lnSpc>
              <a:spcBef>
                <a:spcPts val="300"/>
              </a:spcBef>
              <a:buFontTx/>
              <a:buNone/>
            </a:pPr>
            <a:r>
              <a:rPr lang="en-US" altLang="zh-CN" sz="2400" dirty="0">
                <a:solidFill>
                  <a:srgbClr val="0C0D0E"/>
                </a:solidFill>
                <a:latin typeface="Trebuchet MS" panose="020B0603020202020204" pitchFamily="34" charset="0"/>
              </a:rPr>
              <a:t>         </a:t>
            </a:r>
            <a:r>
              <a:rPr lang="zh-CN" altLang="en-US" sz="2400" b="1" i="0" dirty="0">
                <a:solidFill>
                  <a:srgbClr val="0C0D0E"/>
                </a:solidFill>
                <a:effectLst/>
                <a:latin typeface="Trebuchet MS" panose="020B0603020202020204" pitchFamily="34" charset="0"/>
              </a:rPr>
              <a:t> </a:t>
            </a:r>
            <a:r>
              <a:rPr lang="zh-CN" altLang="en-US" sz="2400" b="1" dirty="0">
                <a:latin typeface="Trebuchet MS" panose="020B0603020202020204" pitchFamily="34" charset="0"/>
              </a:rPr>
              <a:t>           </a:t>
            </a:r>
            <a:r>
              <a:rPr lang="en-US" altLang="zh-CN" sz="2400" b="1" i="1" dirty="0">
                <a:latin typeface="Trebuchet MS" panose="020B0603020202020204" pitchFamily="34" charset="0"/>
              </a:rPr>
              <a:t>A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p>
          <a:p>
            <a:pPr indent="-53975" eaLnBrk="1" hangingPunct="1">
              <a:lnSpc>
                <a:spcPct val="120000"/>
              </a:lnSpc>
              <a:spcBef>
                <a:spcPts val="300"/>
              </a:spcBef>
              <a:buClr>
                <a:srgbClr val="0B61FF"/>
              </a:buClr>
              <a:buSzPct val="80000"/>
              <a:buFont typeface="Wingdings" panose="05000000000000000000" pitchFamily="2" charset="2"/>
              <a:buChar char="n"/>
            </a:pPr>
            <a:r>
              <a:rPr lang="en-US" altLang="zh-CN" sz="2400" b="1" i="0" dirty="0">
                <a:solidFill>
                  <a:srgbClr val="0C0D0E"/>
                </a:solidFill>
                <a:effectLst/>
                <a:latin typeface="Trebuchet MS" panose="020B0603020202020204" pitchFamily="34" charset="0"/>
              </a:rPr>
              <a:t>Solution (Quick Method):</a:t>
            </a:r>
            <a:endParaRPr lang="en-US" altLang="zh-CN" sz="2400" b="1" i="1" dirty="0">
              <a:latin typeface="Trebuchet MS" panose="020B0603020202020204" pitchFamily="34" charset="0"/>
              <a:cs typeface="Times New Roman" panose="02020603050405020304" pitchFamily="18" charset="0"/>
            </a:endParaRPr>
          </a:p>
          <a:p>
            <a:pPr marL="719138" indent="-719138"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endParaRPr lang="zh-CN" altLang="en-US" sz="2400" b="1" dirty="0">
              <a:latin typeface="Trebuchet MS" panose="020B0603020202020204" pitchFamily="34" charset="0"/>
            </a:endParaRPr>
          </a:p>
          <a:p>
            <a:pPr marL="609600" indent="-609600" eaLnBrk="1" hangingPunct="1">
              <a:lnSpc>
                <a:spcPct val="12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endParaRPr lang="zh-CN" altLang="en-US" sz="2400" b="1" dirty="0">
              <a:latin typeface="Trebuchet MS" panose="020B0603020202020204" pitchFamily="34" charset="0"/>
            </a:endParaRPr>
          </a:p>
          <a:p>
            <a:pPr marL="609600" indent="-609600" eaLnBrk="1" hangingPunct="1">
              <a:lnSpc>
                <a:spcPct val="120000"/>
              </a:lnSpc>
              <a:spcBef>
                <a:spcPts val="300"/>
              </a:spcBef>
              <a:buFontTx/>
              <a:buNone/>
            </a:pPr>
            <a:r>
              <a:rPr lang="en-US" altLang="zh-CN" sz="2400" b="1" i="1" dirty="0">
                <a:latin typeface="Trebuchet MS" panose="020B0603020202020204" pitchFamily="34" charset="0"/>
                <a:cs typeface="Times New Roman" panose="02020603050405020304" pitchFamily="18" charset="0"/>
              </a:rPr>
              <a:t>       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p>
          <a:p>
            <a:pPr marL="609600" indent="-609600"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marL="609600" indent="-609600"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(1,2,3,5,7)</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p:txBody>
      </p:sp>
      <p:pic>
        <p:nvPicPr>
          <p:cNvPr id="9" name="图片 8">
            <a:extLst>
              <a:ext uri="{FF2B5EF4-FFF2-40B4-BE49-F238E27FC236}">
                <a16:creationId xmlns:a16="http://schemas.microsoft.com/office/drawing/2014/main" id="{1E038EE5-7954-42D6-8EEE-D46519DB2543}"/>
              </a:ext>
            </a:extLst>
          </p:cNvPr>
          <p:cNvPicPr/>
          <p:nvPr/>
        </p:nvPicPr>
        <p:blipFill>
          <a:blip r:embed="rId5"/>
          <a:stretch>
            <a:fillRect/>
          </a:stretch>
        </p:blipFill>
        <p:spPr>
          <a:xfrm>
            <a:off x="1070159" y="1039225"/>
            <a:ext cx="577850" cy="241300"/>
          </a:xfrm>
          <a:prstGeom prst="rect">
            <a:avLst/>
          </a:prstGeom>
        </p:spPr>
      </p:pic>
    </p:spTree>
    <p:extLst>
      <p:ext uri="{BB962C8B-B14F-4D97-AF65-F5344CB8AC3E}">
        <p14:creationId xmlns:p14="http://schemas.microsoft.com/office/powerpoint/2010/main" val="2839142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8">
                                            <p:txEl>
                                              <p:pRg st="7" end="7"/>
                                            </p:txEl>
                                          </p:spTgt>
                                        </p:tgtEl>
                                        <p:attrNameLst>
                                          <p:attrName>style.visibility</p:attrName>
                                        </p:attrNameLst>
                                      </p:cBhvr>
                                      <p:to>
                                        <p:strVal val="visible"/>
                                      </p:to>
                                    </p:set>
                                    <p:animEffect transition="in" filter="fade">
                                      <p:cBhvr>
                                        <p:cTn id="45" dur="1000"/>
                                        <p:tgtEl>
                                          <p:spTgt spid="8">
                                            <p:txEl>
                                              <p:pRg st="7" end="7"/>
                                            </p:txEl>
                                          </p:spTgt>
                                        </p:tgtEl>
                                      </p:cBhvr>
                                    </p:animEffect>
                                    <p:anim calcmode="lin" valueType="num">
                                      <p:cBhvr>
                                        <p:cTn id="46"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Find</a:t>
            </a:r>
            <a:r>
              <a:rPr lang="en-US" altLang="zh-CN" sz="2400" b="1" i="0" dirty="0">
                <a:solidFill>
                  <a:srgbClr val="0C0D0E"/>
                </a:solidFill>
                <a:effectLst/>
                <a:latin typeface="Trebuchet MS" panose="020B0603020202020204" pitchFamily="34" charset="0"/>
              </a:rPr>
              <a:t> </a:t>
            </a:r>
            <a:r>
              <a:rPr lang="en-US" altLang="zh-CN" sz="2400" b="1" dirty="0">
                <a:latin typeface="Trebuchet MS" panose="020B0603020202020204" pitchFamily="34" charset="0"/>
              </a:rPr>
              <a:t>PCNF</a:t>
            </a:r>
            <a:r>
              <a:rPr lang="zh-CN" altLang="en-US" sz="2000" b="1" dirty="0">
                <a:latin typeface="Trebuchet MS" panose="020B0603020202020204" pitchFamily="34" charset="0"/>
              </a:rPr>
              <a: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zh-CN" altLang="en-US" sz="2000" b="1" dirty="0">
                <a:latin typeface="Trebuchet MS" panose="020B0603020202020204" pitchFamily="34" charset="0"/>
              </a:rPr>
              <a:t>）</a:t>
            </a:r>
            <a:endParaRPr lang="zh-CN" altLang="en-US" sz="20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982890"/>
            <a:ext cx="9614719" cy="37197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rPr>
              <a:t>        </a:t>
            </a:r>
            <a:r>
              <a:rPr lang="en-US" altLang="zh-CN" sz="2400" b="1" i="0" dirty="0">
                <a:solidFill>
                  <a:srgbClr val="0C0D0E"/>
                </a:solidFill>
                <a:effectLst/>
                <a:latin typeface="Trebuchet MS" panose="020B0603020202020204" pitchFamily="34" charset="0"/>
              </a:rPr>
              <a:t>Example:</a:t>
            </a:r>
            <a:r>
              <a:rPr lang="zh-CN" altLang="en-US" sz="2400" b="1" dirty="0">
                <a:latin typeface="Trebuchet MS" panose="020B0603020202020204" pitchFamily="34" charset="0"/>
              </a:rPr>
              <a:t>  </a:t>
            </a:r>
            <a:r>
              <a:rPr lang="en-US" sz="2400" b="0" i="0" dirty="0">
                <a:solidFill>
                  <a:srgbClr val="0C0D0E"/>
                </a:solidFill>
                <a:effectLst/>
                <a:latin typeface="Trebuchet MS" panose="020B0603020202020204" pitchFamily="34" charset="0"/>
              </a:rPr>
              <a:t>Find the PCNF (Principal Conjunctive Normal Form) </a:t>
            </a:r>
          </a:p>
          <a:p>
            <a:pPr indent="304800" eaLnBrk="1" hangingPunct="1">
              <a:lnSpc>
                <a:spcPct val="120000"/>
              </a:lnSpc>
              <a:spcBef>
                <a:spcPts val="300"/>
              </a:spcBef>
              <a:buFont typeface="Symbol" panose="05050102010706020507" pitchFamily="18" charset="2"/>
              <a:buNone/>
            </a:pPr>
            <a:r>
              <a:rPr lang="en-US" altLang="zh-CN" sz="2400" b="1" i="1" dirty="0">
                <a:latin typeface="Trebuchet MS" panose="020B0603020202020204" pitchFamily="34" charset="0"/>
              </a:rPr>
              <a:t>                  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rPr>
              <a:t> </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indent="-53975" algn="l">
              <a:lnSpc>
                <a:spcPct val="120000"/>
              </a:lnSpc>
              <a:spcBef>
                <a:spcPts val="300"/>
              </a:spcBef>
              <a:buClr>
                <a:srgbClr val="0B61FF"/>
              </a:buClr>
              <a:buSzPct val="80000"/>
              <a:buFont typeface="Wingdings" panose="05000000000000000000" pitchFamily="2" charset="2"/>
              <a:buChar char="n"/>
            </a:pPr>
            <a:r>
              <a:rPr lang="en-US" sz="2400" b="1" dirty="0">
                <a:solidFill>
                  <a:srgbClr val="0C0D0E"/>
                </a:solidFill>
                <a:latin typeface="Trebuchet MS" panose="020B0603020202020204" pitchFamily="34" charset="0"/>
              </a:rPr>
              <a:t>Solution (Quick Method):</a:t>
            </a:r>
            <a:br>
              <a:rPr lang="en-US" sz="2400" b="0" i="0" dirty="0">
                <a:solidFill>
                  <a:srgbClr val="0C0D0E"/>
                </a:solidFill>
                <a:effectLst/>
                <a:latin typeface="Trebuchet MS" panose="020B0603020202020204" pitchFamily="34" charset="0"/>
              </a:rPr>
            </a:br>
            <a:r>
              <a:rPr lang="en-US" sz="2400" b="0" i="0" dirty="0">
                <a:solidFill>
                  <a:srgbClr val="0C0D0E"/>
                </a:solidFill>
                <a:effectLst/>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lnSpc>
                <a:spcPct val="120000"/>
              </a:lnSpc>
              <a:spcBef>
                <a:spcPts val="300"/>
              </a:spcBef>
              <a:buFont typeface="Symbol" panose="05050102010706020507" pitchFamily="18" charset="2"/>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a:t>
            </a:r>
            <a:endPar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lnSpc>
                <a:spcPct val="120000"/>
              </a:lnSpc>
              <a:spcBef>
                <a:spcPts val="300"/>
              </a:spcBef>
              <a:buFont typeface="Symbol" panose="05050102010706020507" pitchFamily="18" charset="2"/>
              <a:buNone/>
            </a:pP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endParaRPr lang="zh-CN" altLang="en-US" sz="2400" b="1" baseline="-25000"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lnSpc>
                <a:spcPct val="120000"/>
              </a:lnSpc>
              <a:spcBef>
                <a:spcPts val="300"/>
              </a:spcBef>
              <a:buFont typeface="Symbol" panose="05050102010706020507" pitchFamily="18" charset="2"/>
              <a:buNone/>
            </a:pPr>
            <a:r>
              <a:rPr lang="en-US" altLang="zh-CN" sz="2400" b="1" dirty="0">
                <a:latin typeface="Trebuchet MS" panose="020B0603020202020204" pitchFamily="34" charset="0"/>
                <a:sym typeface="Symbol" panose="05050102010706020507" pitchFamily="18" charset="2"/>
              </a:rPr>
              <a:t>   Get</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(1,4,5,6,7)</a:t>
            </a:r>
            <a:endParaRPr lang="zh-CN" altLang="en-US" sz="2400" b="1" dirty="0">
              <a:latin typeface="Trebuchet MS" panose="020B0603020202020204" pitchFamily="34" charset="0"/>
              <a:cs typeface="Times New Roman" panose="02020603050405020304" pitchFamily="18" charset="0"/>
            </a:endParaRPr>
          </a:p>
          <a:p>
            <a:pPr marL="609600" indent="-609600" eaLnBrk="1" hangingPunct="1">
              <a:lnSpc>
                <a:spcPct val="120000"/>
              </a:lnSpc>
              <a:spcBef>
                <a:spcPts val="300"/>
              </a:spcBef>
              <a:buFont typeface="Symbol" panose="05050102010706020507" pitchFamily="18" charset="2"/>
              <a:buNone/>
            </a:pP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p:txBody>
      </p:sp>
      <p:pic>
        <p:nvPicPr>
          <p:cNvPr id="9" name="图片 8">
            <a:extLst>
              <a:ext uri="{FF2B5EF4-FFF2-40B4-BE49-F238E27FC236}">
                <a16:creationId xmlns:a16="http://schemas.microsoft.com/office/drawing/2014/main" id="{D6ED788B-EEEF-46E9-AEB8-3A3979E5665A}"/>
              </a:ext>
            </a:extLst>
          </p:cNvPr>
          <p:cNvPicPr/>
          <p:nvPr/>
        </p:nvPicPr>
        <p:blipFill>
          <a:blip r:embed="rId5"/>
          <a:stretch>
            <a:fillRect/>
          </a:stretch>
        </p:blipFill>
        <p:spPr>
          <a:xfrm>
            <a:off x="1070159" y="1148083"/>
            <a:ext cx="577850" cy="241300"/>
          </a:xfrm>
          <a:prstGeom prst="rect">
            <a:avLst/>
          </a:prstGeom>
        </p:spPr>
      </p:pic>
    </p:spTree>
    <p:extLst>
      <p:ext uri="{BB962C8B-B14F-4D97-AF65-F5344CB8AC3E}">
        <p14:creationId xmlns:p14="http://schemas.microsoft.com/office/powerpoint/2010/main" val="340212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determine the true and false assignments of a formula</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681081" y="122144"/>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973670"/>
            <a:ext cx="10367195" cy="48953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Use PDNF to </a:t>
            </a:r>
            <a:r>
              <a:rPr lang="en-US" sz="2400" b="0" i="0" dirty="0">
                <a:solidFill>
                  <a:srgbClr val="0C0D0E"/>
                </a:solidFill>
                <a:effectLst/>
                <a:latin typeface="Trebuchet MS" panose="020B0603020202020204" pitchFamily="34" charset="0"/>
              </a:rPr>
              <a:t>Determine the </a:t>
            </a:r>
            <a:r>
              <a:rPr lang="en-US" sz="2400" b="1" i="1" dirty="0">
                <a:solidFill>
                  <a:srgbClr val="0C0D0E"/>
                </a:solidFill>
                <a:effectLst/>
                <a:latin typeface="Trebuchet MS" panose="020B0603020202020204" pitchFamily="34" charset="0"/>
              </a:rPr>
              <a:t>True Assignments </a:t>
            </a:r>
            <a:r>
              <a:rPr lang="en-US" sz="2400" b="0" i="0" dirty="0">
                <a:solidFill>
                  <a:srgbClr val="0C0D0E"/>
                </a:solidFill>
                <a:effectLst/>
                <a:latin typeface="Trebuchet MS" panose="020B0603020202020204" pitchFamily="34" charset="0"/>
              </a:rPr>
              <a:t>and </a:t>
            </a:r>
            <a:r>
              <a:rPr lang="en-US" sz="2400" b="1" i="1" dirty="0">
                <a:solidFill>
                  <a:srgbClr val="0C0D0E"/>
                </a:solidFill>
                <a:effectLst/>
                <a:latin typeface="Trebuchet MS" panose="020B0603020202020204" pitchFamily="34" charset="0"/>
              </a:rPr>
              <a:t>False Assignments </a:t>
            </a:r>
            <a:r>
              <a:rPr lang="en-US" sz="2400" b="0" i="0" dirty="0">
                <a:solidFill>
                  <a:srgbClr val="0C0D0E"/>
                </a:solidFill>
                <a:effectLst/>
                <a:latin typeface="Trebuchet MS" panose="020B0603020202020204" pitchFamily="34" charset="0"/>
              </a:rPr>
              <a:t>of a Formula.</a:t>
            </a:r>
          </a:p>
          <a:p>
            <a:pPr algn="l">
              <a:lnSpc>
                <a:spcPct val="120000"/>
              </a:lnSpc>
              <a:spcBef>
                <a:spcPts val="3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Let formula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contain </a:t>
            </a:r>
            <a:r>
              <a:rPr lang="en-US" sz="2400" b="1" i="1" dirty="0">
                <a:solidFill>
                  <a:srgbClr val="0C0D0E"/>
                </a:solidFill>
                <a:effectLst/>
                <a:latin typeface="Trebuchet MS" panose="020B0603020202020204" pitchFamily="34" charset="0"/>
              </a:rPr>
              <a:t>n</a:t>
            </a:r>
            <a:r>
              <a:rPr lang="en-US" sz="2400" b="0" i="0" dirty="0">
                <a:solidFill>
                  <a:srgbClr val="0C0D0E"/>
                </a:solidFill>
                <a:effectLst/>
                <a:latin typeface="Trebuchet MS" panose="020B0603020202020204" pitchFamily="34" charset="0"/>
              </a:rPr>
              <a:t> propositional variables. If the PDNF (Principal Disjunctive Normal Form) of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has </a:t>
            </a:r>
            <a:r>
              <a:rPr lang="en-US" sz="2400" b="1" i="1" dirty="0">
                <a:solidFill>
                  <a:srgbClr val="0C0D0E"/>
                </a:solidFill>
                <a:effectLst/>
                <a:latin typeface="Trebuchet MS" panose="020B0603020202020204" pitchFamily="34" charset="0"/>
              </a:rPr>
              <a:t>s</a:t>
            </a:r>
            <a:r>
              <a:rPr lang="en-US" sz="2400" b="0" i="0" dirty="0">
                <a:solidFill>
                  <a:srgbClr val="0C0D0E"/>
                </a:solidFill>
                <a:effectLst/>
                <a:latin typeface="Trebuchet MS" panose="020B0603020202020204" pitchFamily="34" charset="0"/>
              </a:rPr>
              <a:t> </a:t>
            </a:r>
            <a:r>
              <a:rPr lang="en-US" sz="2400" b="0" i="0" dirty="0" err="1">
                <a:solidFill>
                  <a:srgbClr val="0C0D0E"/>
                </a:solidFill>
                <a:effectLst/>
                <a:latin typeface="Trebuchet MS" panose="020B0603020202020204" pitchFamily="34" charset="0"/>
              </a:rPr>
              <a:t>minterms</a:t>
            </a:r>
            <a:r>
              <a:rPr lang="en-US" sz="2400" b="0" i="0" dirty="0">
                <a:solidFill>
                  <a:srgbClr val="0C0D0E"/>
                </a:solidFill>
                <a:effectLst/>
                <a:latin typeface="Trebuchet MS" panose="020B0603020202020204" pitchFamily="34" charset="0"/>
              </a:rPr>
              <a:t>, then:</a:t>
            </a:r>
          </a:p>
          <a:p>
            <a:pPr indent="-53975" algn="l">
              <a:lnSpc>
                <a:spcPct val="120000"/>
              </a:lnSpc>
              <a:spcBef>
                <a:spcPts val="30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True Assignments</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en-US" sz="2400" b="1" i="1" dirty="0">
                <a:solidFill>
                  <a:srgbClr val="0C0D0E"/>
                </a:solidFill>
                <a:effectLst/>
                <a:latin typeface="Trebuchet MS" panose="020B0603020202020204" pitchFamily="34" charset="0"/>
              </a:rPr>
              <a:t>s</a:t>
            </a:r>
            <a:r>
              <a:rPr lang="en-US" sz="2400" b="0" i="0" dirty="0">
                <a:solidFill>
                  <a:srgbClr val="0C0D0E"/>
                </a:solidFill>
                <a:effectLst/>
                <a:latin typeface="Trebuchet MS" panose="020B0603020202020204" pitchFamily="34" charset="0"/>
              </a:rPr>
              <a:t> assignments corresponding to the binary representations of the </a:t>
            </a:r>
            <a:r>
              <a:rPr lang="en-US" sz="2400" b="0" i="0" dirty="0" err="1">
                <a:solidFill>
                  <a:srgbClr val="0C0D0E"/>
                </a:solidFill>
                <a:effectLst/>
                <a:latin typeface="Trebuchet MS" panose="020B0603020202020204" pitchFamily="34" charset="0"/>
              </a:rPr>
              <a:t>minterm</a:t>
            </a:r>
            <a:r>
              <a:rPr lang="en-US" sz="2400" b="0" i="0" dirty="0">
                <a:solidFill>
                  <a:srgbClr val="0C0D0E"/>
                </a:solidFill>
                <a:effectLst/>
                <a:latin typeface="Trebuchet MS" panose="020B0603020202020204" pitchFamily="34" charset="0"/>
              </a:rPr>
              <a:t> indices.</a:t>
            </a:r>
          </a:p>
          <a:p>
            <a:pPr indent="-53975" algn="l">
              <a:lnSpc>
                <a:spcPct val="120000"/>
              </a:lnSpc>
              <a:spcBef>
                <a:spcPts val="30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False Assignments</a:t>
            </a:r>
            <a:r>
              <a:rPr lang="en-US" sz="2400" b="1" i="0"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a:t>
            </a:r>
            <a:r>
              <a:rPr lang="zh-CN" altLang="en-US" sz="2400" b="1" dirty="0">
                <a:latin typeface="Trebuchet MS" panose="020B0603020202020204" pitchFamily="34" charset="0"/>
              </a:rPr>
              <a:t>2</a:t>
            </a:r>
            <a:r>
              <a:rPr lang="en-US" altLang="zh-CN" sz="2400" b="1" i="1" baseline="30000" dirty="0">
                <a:latin typeface="Trebuchet MS" panose="020B0603020202020204" pitchFamily="34" charset="0"/>
              </a:rPr>
              <a:t>n-s</a:t>
            </a:r>
            <a:r>
              <a:rPr lang="en-US" sz="2400" b="0" i="0" dirty="0">
                <a:solidFill>
                  <a:srgbClr val="0C0D0E"/>
                </a:solidFill>
                <a:effectLst/>
                <a:latin typeface="Trebuchet MS" panose="020B0603020202020204" pitchFamily="34" charset="0"/>
              </a:rPr>
              <a:t> assignments not covered by the </a:t>
            </a:r>
            <a:r>
              <a:rPr lang="en-US" sz="2400" b="0" i="0" dirty="0" err="1">
                <a:solidFill>
                  <a:srgbClr val="0C0D0E"/>
                </a:solidFill>
                <a:effectLst/>
                <a:latin typeface="Trebuchet MS" panose="020B0603020202020204" pitchFamily="34" charset="0"/>
              </a:rPr>
              <a:t>minterms</a:t>
            </a:r>
            <a:r>
              <a:rPr lang="en-US" sz="2400" b="0" i="0" dirty="0">
                <a:solidFill>
                  <a:srgbClr val="0C0D0E"/>
                </a:solidFill>
                <a:effectLst/>
                <a:latin typeface="Trebuchet MS" panose="020B0603020202020204" pitchFamily="34" charset="0"/>
              </a:rPr>
              <a:t>.</a:t>
            </a:r>
          </a:p>
          <a:p>
            <a:pPr marL="609600" indent="-609600" eaLnBrk="1" hangingPunct="1">
              <a:lnSpc>
                <a:spcPct val="120000"/>
              </a:lnSpc>
              <a:spcBef>
                <a:spcPts val="300"/>
              </a:spcBef>
              <a:buFontTx/>
              <a:buNone/>
            </a:pPr>
            <a:r>
              <a:rPr lang="en-US" sz="2400" b="1" i="0" dirty="0">
                <a:solidFill>
                  <a:srgbClr val="0C0D0E"/>
                </a:solidFill>
                <a:effectLst/>
                <a:latin typeface="Trebuchet MS" panose="020B0603020202020204" pitchFamily="34" charset="0"/>
              </a:rPr>
              <a:t>    Example:</a:t>
            </a:r>
            <a:r>
              <a:rPr lang="zh-CN" altLang="en-US" sz="2400" b="1" dirty="0">
                <a:solidFill>
                  <a:srgbClr val="000066"/>
                </a:solidFill>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4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6</a:t>
            </a:r>
            <a:r>
              <a:rPr lang="zh-CN" altLang="en-US" sz="2400" b="1" dirty="0">
                <a:latin typeface="Trebuchet MS" panose="020B0603020202020204" pitchFamily="34" charset="0"/>
              </a:rPr>
              <a:t> </a:t>
            </a:r>
          </a:p>
          <a:p>
            <a:pPr marL="609600" indent="-609600" eaLnBrk="1" hangingPunct="1">
              <a:lnSpc>
                <a:spcPct val="120000"/>
              </a:lnSpc>
              <a:spcBef>
                <a:spcPts val="300"/>
              </a:spcBef>
              <a:buFontTx/>
              <a:buNone/>
            </a:pPr>
            <a:r>
              <a:rPr lang="en-US" sz="2400" b="1" i="0" dirty="0">
                <a:solidFill>
                  <a:srgbClr val="0C0D0E"/>
                </a:solidFill>
                <a:effectLst/>
                <a:latin typeface="Trebuchet MS" panose="020B0603020202020204" pitchFamily="34" charset="0"/>
              </a:rPr>
              <a:t>   True Assignments</a:t>
            </a:r>
            <a:r>
              <a:rPr lang="zh-CN" altLang="en-US" sz="2400" b="1" dirty="0">
                <a:solidFill>
                  <a:srgbClr val="000066"/>
                </a:solidFill>
                <a:latin typeface="Trebuchet MS" panose="020B0603020202020204" pitchFamily="34" charset="0"/>
              </a:rPr>
              <a:t>: </a:t>
            </a:r>
            <a:r>
              <a:rPr lang="zh-CN" altLang="en-US" sz="2400" b="1" dirty="0">
                <a:latin typeface="Trebuchet MS" panose="020B0603020202020204" pitchFamily="34" charset="0"/>
              </a:rPr>
              <a:t>000,010,100,101,110; </a:t>
            </a:r>
            <a:endParaRPr lang="en-US" altLang="zh-CN" sz="2400" b="1" dirty="0">
              <a:latin typeface="Trebuchet MS" panose="020B0603020202020204" pitchFamily="34" charset="0"/>
            </a:endParaRPr>
          </a:p>
          <a:p>
            <a:pPr marL="609600" indent="-609600" eaLnBrk="1" hangingPunct="1">
              <a:lnSpc>
                <a:spcPct val="120000"/>
              </a:lnSpc>
              <a:spcBef>
                <a:spcPts val="300"/>
              </a:spcBef>
              <a:buFontTx/>
              <a:buNone/>
            </a:pPr>
            <a:r>
              <a:rPr lang="en-US" sz="2400" b="1" i="0" dirty="0">
                <a:solidFill>
                  <a:srgbClr val="000066"/>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False Assignments</a:t>
            </a:r>
            <a:r>
              <a:rPr lang="zh-CN" altLang="en-US" sz="2400" b="1" dirty="0">
                <a:solidFill>
                  <a:srgbClr val="000066"/>
                </a:solidFill>
                <a:latin typeface="Trebuchet MS" panose="020B0603020202020204" pitchFamily="34" charset="0"/>
              </a:rPr>
              <a:t>: </a:t>
            </a:r>
            <a:r>
              <a:rPr lang="zh-CN" altLang="en-US" sz="2400" b="1" dirty="0">
                <a:latin typeface="Trebuchet MS" panose="020B0603020202020204" pitchFamily="34" charset="0"/>
              </a:rPr>
              <a:t>001,011,111</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p:txBody>
      </p:sp>
      <p:pic>
        <p:nvPicPr>
          <p:cNvPr id="9" name="图片 8">
            <a:extLst>
              <a:ext uri="{FF2B5EF4-FFF2-40B4-BE49-F238E27FC236}">
                <a16:creationId xmlns:a16="http://schemas.microsoft.com/office/drawing/2014/main" id="{CBA76F93-EB21-4294-9C8F-98B8767A6F6C}"/>
              </a:ext>
            </a:extLst>
          </p:cNvPr>
          <p:cNvPicPr/>
          <p:nvPr/>
        </p:nvPicPr>
        <p:blipFill>
          <a:blip r:embed="rId5"/>
          <a:stretch>
            <a:fillRect/>
          </a:stretch>
        </p:blipFill>
        <p:spPr>
          <a:xfrm>
            <a:off x="623478" y="4389303"/>
            <a:ext cx="577850" cy="241300"/>
          </a:xfrm>
          <a:prstGeom prst="rect">
            <a:avLst/>
          </a:prstGeom>
        </p:spPr>
      </p:pic>
    </p:spTree>
    <p:extLst>
      <p:ext uri="{BB962C8B-B14F-4D97-AF65-F5344CB8AC3E}">
        <p14:creationId xmlns:p14="http://schemas.microsoft.com/office/powerpoint/2010/main" val="935561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determine the type a Formula</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79" y="972003"/>
            <a:ext cx="10491021" cy="41442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Use PDNF to </a:t>
            </a:r>
            <a:r>
              <a:rPr lang="en-US" altLang="zh-CN" sz="2400" b="0" i="0" dirty="0">
                <a:solidFill>
                  <a:srgbClr val="0C0D0E"/>
                </a:solidFill>
                <a:effectLst/>
                <a:latin typeface="Trebuchet MS" panose="020B0603020202020204" pitchFamily="34" charset="0"/>
              </a:rPr>
              <a:t>Determine </a:t>
            </a:r>
            <a:r>
              <a:rPr lang="en-US" sz="2400" b="0" i="0" dirty="0">
                <a:solidFill>
                  <a:srgbClr val="0C0D0E"/>
                </a:solidFill>
                <a:effectLst/>
                <a:latin typeface="Trebuchet MS" panose="020B0603020202020204" pitchFamily="34" charset="0"/>
              </a:rPr>
              <a:t>the </a:t>
            </a:r>
            <a:r>
              <a:rPr lang="en-US" altLang="zh-CN" sz="2400" b="0" i="0" dirty="0">
                <a:solidFill>
                  <a:srgbClr val="0C0D0E"/>
                </a:solidFill>
                <a:effectLst/>
                <a:latin typeface="Trebuchet MS" panose="020B0603020202020204" pitchFamily="34" charset="0"/>
              </a:rPr>
              <a:t>t</a:t>
            </a:r>
            <a:r>
              <a:rPr lang="en-US" sz="2400" b="0" i="0" dirty="0">
                <a:solidFill>
                  <a:srgbClr val="0C0D0E"/>
                </a:solidFill>
                <a:effectLst/>
                <a:latin typeface="Trebuchet MS" panose="020B0603020202020204" pitchFamily="34" charset="0"/>
              </a:rPr>
              <a:t>ype of a Formula.</a:t>
            </a:r>
            <a:r>
              <a:rPr lang="zh-CN" altLang="en-US" sz="2400" b="1" dirty="0">
                <a:solidFill>
                  <a:srgbClr val="FF0000"/>
                </a:solidFill>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endParaRPr lang="en-US" altLang="zh-CN" sz="2400" b="1" dirty="0">
              <a:latin typeface="Trebuchet MS" panose="020B0603020202020204" pitchFamily="34" charset="0"/>
              <a:cs typeface="Times New Roman" panose="02020603050405020304" pitchFamily="18" charset="0"/>
            </a:endParaRPr>
          </a:p>
          <a:p>
            <a:pPr algn="just" eaLnBrk="1" hangingPunct="1">
              <a:lnSpc>
                <a:spcPct val="120000"/>
              </a:lnSpc>
              <a:spcBef>
                <a:spcPts val="300"/>
              </a:spcBef>
              <a:buClr>
                <a:srgbClr val="0B61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Let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be a formula with </a:t>
            </a:r>
            <a:r>
              <a:rPr lang="en-US" sz="2400" b="1" i="1" dirty="0">
                <a:solidFill>
                  <a:srgbClr val="0C0D0E"/>
                </a:solidFill>
                <a:effectLst/>
                <a:latin typeface="Trebuchet MS" panose="020B0603020202020204" pitchFamily="34" charset="0"/>
              </a:rPr>
              <a:t>n </a:t>
            </a:r>
            <a:r>
              <a:rPr lang="en-US" sz="2400" b="0" i="0" dirty="0">
                <a:solidFill>
                  <a:srgbClr val="0C0D0E"/>
                </a:solidFill>
                <a:effectLst/>
                <a:latin typeface="Trebuchet MS" panose="020B0603020202020204" pitchFamily="34" charset="0"/>
              </a:rPr>
              <a:t>propositional variables.</a:t>
            </a:r>
          </a:p>
          <a:p>
            <a:pPr marL="533400" indent="-174625" algn="l">
              <a:lnSpc>
                <a:spcPct val="120000"/>
              </a:lnSpc>
              <a:spcBef>
                <a:spcPts val="30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a </a:t>
            </a:r>
            <a:r>
              <a:rPr lang="en-US" sz="2400" b="1" i="1" dirty="0">
                <a:solidFill>
                  <a:srgbClr val="0C0D0E"/>
                </a:solidFill>
                <a:effectLst/>
                <a:latin typeface="Trebuchet MS" panose="020B0603020202020204" pitchFamily="34" charset="0"/>
              </a:rPr>
              <a:t>tautolog</a:t>
            </a:r>
            <a:r>
              <a:rPr lang="en-US" sz="2400" b="0" i="0" dirty="0">
                <a:solidFill>
                  <a:srgbClr val="0C0D0E"/>
                </a:solidFill>
                <a:effectLst/>
                <a:latin typeface="Trebuchet MS" panose="020B0603020202020204" pitchFamily="34" charset="0"/>
              </a:rPr>
              <a:t>y </a:t>
            </a:r>
            <a:r>
              <a:rPr lang="en-US" sz="2400" b="1" i="0" dirty="0">
                <a:solidFill>
                  <a:srgbClr val="0C0D0E"/>
                </a:solidFill>
                <a:effectLst/>
                <a:latin typeface="Trebuchet MS" panose="020B0603020202020204" pitchFamily="34" charset="0"/>
              </a:rPr>
              <a:t>if and only if</a:t>
            </a:r>
            <a:r>
              <a:rPr lang="en-US" sz="2400" b="0" i="0" dirty="0">
                <a:solidFill>
                  <a:srgbClr val="0C0D0E"/>
                </a:solidFill>
                <a:effectLst/>
                <a:latin typeface="Trebuchet MS" panose="020B0603020202020204" pitchFamily="34" charset="0"/>
              </a:rPr>
              <a:t> its PDNF (Principal Disjunctive Normal Form) contains </a:t>
            </a:r>
            <a:r>
              <a:rPr lang="en-US" sz="2400" b="1" i="0" dirty="0">
                <a:solidFill>
                  <a:srgbClr val="0C0D0E"/>
                </a:solidFill>
                <a:effectLst/>
                <a:latin typeface="Trebuchet MS" panose="020B0603020202020204" pitchFamily="34" charset="0"/>
              </a:rPr>
              <a:t>all 2</a:t>
            </a:r>
            <a:r>
              <a:rPr lang="en-US" sz="2400" b="1" i="0" baseline="30000" dirty="0">
                <a:solidFill>
                  <a:srgbClr val="0C0D0E"/>
                </a:solidFill>
                <a:effectLst/>
                <a:latin typeface="Trebuchet MS" panose="020B0603020202020204" pitchFamily="34" charset="0"/>
              </a:rPr>
              <a:t>n</a:t>
            </a:r>
            <a:r>
              <a:rPr lang="en-US" sz="2400" b="1" i="0" dirty="0">
                <a:solidFill>
                  <a:srgbClr val="0C0D0E"/>
                </a:solidFill>
                <a:effectLst/>
                <a:latin typeface="Trebuchet MS" panose="020B0603020202020204" pitchFamily="34" charset="0"/>
              </a:rPr>
              <a:t> </a:t>
            </a:r>
            <a:r>
              <a:rPr lang="en-US" sz="2400" b="1" i="0" dirty="0" err="1">
                <a:solidFill>
                  <a:srgbClr val="0C0D0E"/>
                </a:solidFill>
                <a:effectLst/>
                <a:latin typeface="Trebuchet MS" panose="020B0603020202020204" pitchFamily="34" charset="0"/>
              </a:rPr>
              <a:t>minterms</a:t>
            </a:r>
            <a:r>
              <a:rPr lang="en-US" sz="2400" b="0" i="0" dirty="0">
                <a:solidFill>
                  <a:srgbClr val="0C0D0E"/>
                </a:solidFill>
                <a:effectLst/>
                <a:latin typeface="Trebuchet MS" panose="020B0603020202020204" pitchFamily="34" charset="0"/>
              </a:rPr>
              <a:t>.</a:t>
            </a:r>
          </a:p>
          <a:p>
            <a:pPr marL="533400" indent="-174625" algn="l">
              <a:lnSpc>
                <a:spcPct val="120000"/>
              </a:lnSpc>
              <a:spcBef>
                <a:spcPts val="300"/>
              </a:spcBef>
              <a:buClr>
                <a:srgbClr val="0B61FF"/>
              </a:buClr>
              <a:buSzPct val="120000"/>
              <a:buFont typeface="Arial" panose="020B0604020202020204" pitchFamily="34" charset="0"/>
              <a:buChar char="•"/>
            </a:pP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a </a:t>
            </a:r>
            <a:r>
              <a:rPr lang="en-US" sz="2400" b="1" i="1" dirty="0">
                <a:solidFill>
                  <a:srgbClr val="0C0D0E"/>
                </a:solidFill>
                <a:effectLst/>
                <a:latin typeface="Trebuchet MS" panose="020B0603020202020204" pitchFamily="34" charset="0"/>
              </a:rPr>
              <a:t>contradiction</a:t>
            </a:r>
            <a:r>
              <a:rPr lang="en-US" sz="2400" b="0"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if and only if</a:t>
            </a:r>
            <a:r>
              <a:rPr lang="en-US" sz="2400" b="0" i="0" dirty="0">
                <a:solidFill>
                  <a:srgbClr val="0C0D0E"/>
                </a:solidFill>
                <a:effectLst/>
                <a:latin typeface="Trebuchet MS" panose="020B0603020202020204" pitchFamily="34" charset="0"/>
              </a:rPr>
              <a:t> its PDNF contains </a:t>
            </a:r>
            <a:r>
              <a:rPr lang="en-US" sz="2400" b="1" i="0" dirty="0">
                <a:solidFill>
                  <a:srgbClr val="0C0D0E"/>
                </a:solidFill>
                <a:effectLst/>
                <a:latin typeface="Trebuchet MS" panose="020B0603020202020204" pitchFamily="34" charset="0"/>
              </a:rPr>
              <a:t>no </a:t>
            </a:r>
            <a:r>
              <a:rPr lang="en-US" sz="2400" b="1" i="0" dirty="0" err="1">
                <a:solidFill>
                  <a:srgbClr val="0C0D0E"/>
                </a:solidFill>
                <a:effectLst/>
                <a:latin typeface="Trebuchet MS" panose="020B0603020202020204" pitchFamily="34" charset="0"/>
              </a:rPr>
              <a:t>minterms</a:t>
            </a:r>
            <a:r>
              <a:rPr lang="en-US" sz="2400" b="0" i="0" dirty="0">
                <a:solidFill>
                  <a:srgbClr val="0C0D0E"/>
                </a:solidFill>
                <a:effectLst/>
                <a:latin typeface="Trebuchet MS" panose="020B0603020202020204" pitchFamily="34" charset="0"/>
              </a:rPr>
              <a:t> (denoted as 0).</a:t>
            </a:r>
          </a:p>
          <a:p>
            <a:pPr marL="533400" indent="-174625" algn="l">
              <a:lnSpc>
                <a:spcPct val="120000"/>
              </a:lnSpc>
              <a:spcBef>
                <a:spcPts val="300"/>
              </a:spcBef>
              <a:buClr>
                <a:srgbClr val="0B61FF"/>
              </a:buClr>
              <a:buSzPct val="120000"/>
              <a:buFont typeface="Arial" panose="020B0604020202020204" pitchFamily="34" charset="0"/>
              <a:buChar char="•"/>
            </a:pPr>
            <a:r>
              <a:rPr lang="en-US" altLang="zh-CN" sz="2400" b="1" i="1" dirty="0">
                <a:latin typeface="Trebuchet MS" panose="020B0603020202020204" pitchFamily="34" charset="0"/>
                <a:cs typeface="Times New Roman" panose="02020603050405020304" pitchFamily="18" charset="0"/>
              </a:rPr>
              <a:t>A</a:t>
            </a:r>
            <a:r>
              <a:rPr lang="en-US" sz="2400" b="0" i="0" dirty="0">
                <a:solidFill>
                  <a:srgbClr val="0C0D0E"/>
                </a:solidFill>
                <a:effectLst/>
                <a:latin typeface="Trebuchet MS" panose="020B0603020202020204" pitchFamily="34" charset="0"/>
              </a:rPr>
              <a:t> is </a:t>
            </a:r>
            <a:r>
              <a:rPr lang="en-US" sz="2400" b="1" i="1" dirty="0">
                <a:solidFill>
                  <a:srgbClr val="0C0D0E"/>
                </a:solidFill>
                <a:effectLst/>
                <a:latin typeface="Trebuchet MS" panose="020B0603020202020204" pitchFamily="34" charset="0"/>
              </a:rPr>
              <a:t>satisfiable</a:t>
            </a:r>
            <a:r>
              <a:rPr lang="en-US" sz="2400" b="0" i="0" dirty="0">
                <a:solidFill>
                  <a:srgbClr val="0C0D0E"/>
                </a:solidFill>
                <a:effectLst/>
                <a:latin typeface="Trebuchet MS" panose="020B0603020202020204" pitchFamily="34" charset="0"/>
              </a:rPr>
              <a:t> </a:t>
            </a:r>
            <a:r>
              <a:rPr lang="en-US" sz="2400" b="1" i="0" dirty="0">
                <a:solidFill>
                  <a:srgbClr val="0C0D0E"/>
                </a:solidFill>
                <a:effectLst/>
                <a:latin typeface="Trebuchet MS" panose="020B0603020202020204" pitchFamily="34" charset="0"/>
              </a:rPr>
              <a:t>if and only if</a:t>
            </a:r>
            <a:r>
              <a:rPr lang="en-US" sz="2400" b="0" i="0" dirty="0">
                <a:solidFill>
                  <a:srgbClr val="0C0D0E"/>
                </a:solidFill>
                <a:effectLst/>
                <a:latin typeface="Trebuchet MS" panose="020B0603020202020204" pitchFamily="34" charset="0"/>
              </a:rPr>
              <a:t> its PDNF contains </a:t>
            </a:r>
            <a:r>
              <a:rPr lang="en-US" sz="2400" b="1" i="0" dirty="0">
                <a:solidFill>
                  <a:srgbClr val="0C0D0E"/>
                </a:solidFill>
                <a:effectLst/>
                <a:latin typeface="Trebuchet MS" panose="020B0603020202020204" pitchFamily="34" charset="0"/>
              </a:rPr>
              <a:t>at least one </a:t>
            </a:r>
            <a:r>
              <a:rPr lang="en-US" sz="2400" b="1" i="0" dirty="0" err="1">
                <a:solidFill>
                  <a:srgbClr val="0C0D0E"/>
                </a:solidFill>
                <a:effectLst/>
                <a:latin typeface="Trebuchet MS" panose="020B0603020202020204" pitchFamily="34" charset="0"/>
              </a:rPr>
              <a:t>minterm</a:t>
            </a:r>
            <a:r>
              <a:rPr lang="en-US" sz="2400" b="0" i="0" dirty="0">
                <a:solidFill>
                  <a:srgbClr val="0C0D0E"/>
                </a:solidFill>
                <a:effectLst/>
                <a:latin typeface="Trebuchet MS" panose="020B0603020202020204" pitchFamily="34" charset="0"/>
              </a:rPr>
              <a:t>.</a:t>
            </a:r>
          </a:p>
          <a:p>
            <a:pPr>
              <a:lnSpc>
                <a:spcPct val="120000"/>
              </a:lnSpc>
              <a:spcBef>
                <a:spcPts val="300"/>
              </a:spcBef>
            </a:pP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802160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determine the type a Formula</a:t>
            </a:r>
            <a:r>
              <a:rPr lang="zh-CN" altLang="en-US" sz="2400" b="1" dirty="0">
                <a:latin typeface="Trebuchet MS" panose="020B0603020202020204" pitchFamily="34" charset="0"/>
              </a:rPr>
              <a: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e.g.</a:t>
            </a:r>
            <a:r>
              <a:rPr lang="zh-CN" altLang="en-US"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868731"/>
            <a:ext cx="9930406" cy="54287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10000"/>
              </a:lnSpc>
              <a:spcBef>
                <a:spcPts val="300"/>
              </a:spcBef>
              <a:buNone/>
            </a:pPr>
            <a:r>
              <a:rPr lang="en-US" sz="2400" b="1" i="0" dirty="0">
                <a:solidFill>
                  <a:srgbClr val="0C0D0E"/>
                </a:solidFill>
                <a:effectLst/>
                <a:latin typeface="Trebuchet MS" panose="020B0603020202020204" pitchFamily="34" charset="0"/>
              </a:rPr>
              <a:t>    Example: </a:t>
            </a:r>
            <a:r>
              <a:rPr lang="en-US" sz="2400" i="0" dirty="0">
                <a:solidFill>
                  <a:srgbClr val="0C0D0E"/>
                </a:solidFill>
                <a:effectLst/>
                <a:latin typeface="Trebuchet MS" panose="020B0603020202020204" pitchFamily="34" charset="0"/>
              </a:rPr>
              <a:t>Determining formula </a:t>
            </a:r>
            <a:r>
              <a:rPr lang="en-US" sz="2400" dirty="0">
                <a:solidFill>
                  <a:srgbClr val="0C0D0E"/>
                </a:solidFill>
                <a:latin typeface="Trebuchet MS" panose="020B0603020202020204" pitchFamily="34" charset="0"/>
              </a:rPr>
              <a:t>t</a:t>
            </a:r>
            <a:r>
              <a:rPr lang="en-US" sz="2400" i="0" dirty="0">
                <a:solidFill>
                  <a:srgbClr val="0C0D0E"/>
                </a:solidFill>
                <a:effectLst/>
                <a:latin typeface="Trebuchet MS" panose="020B0603020202020204" pitchFamily="34" charset="0"/>
              </a:rPr>
              <a:t>ypes </a:t>
            </a:r>
            <a:r>
              <a:rPr lang="en-US" sz="2400" dirty="0">
                <a:solidFill>
                  <a:srgbClr val="0C0D0E"/>
                </a:solidFill>
                <a:latin typeface="Trebuchet MS" panose="020B0603020202020204" pitchFamily="34" charset="0"/>
              </a:rPr>
              <a:t>u</a:t>
            </a:r>
            <a:r>
              <a:rPr lang="en-US" sz="2400" i="0" dirty="0">
                <a:solidFill>
                  <a:srgbClr val="0C0D0E"/>
                </a:solidFill>
                <a:effectLst/>
                <a:latin typeface="Trebuchet MS" panose="020B0603020202020204" pitchFamily="34" charset="0"/>
              </a:rPr>
              <a:t>sing </a:t>
            </a:r>
            <a:r>
              <a:rPr lang="en-US" sz="2400" dirty="0">
                <a:solidFill>
                  <a:srgbClr val="0C0D0E"/>
                </a:solidFill>
                <a:latin typeface="Trebuchet MS" panose="020B0603020202020204" pitchFamily="34" charset="0"/>
              </a:rPr>
              <a:t>p</a:t>
            </a:r>
            <a:r>
              <a:rPr lang="en-US" sz="2400" i="0" dirty="0">
                <a:solidFill>
                  <a:srgbClr val="0C0D0E"/>
                </a:solidFill>
                <a:effectLst/>
                <a:latin typeface="Trebuchet MS" panose="020B0603020202020204" pitchFamily="34" charset="0"/>
              </a:rPr>
              <a:t>rincipal </a:t>
            </a:r>
            <a:r>
              <a:rPr lang="en-US" sz="2400" dirty="0">
                <a:solidFill>
                  <a:srgbClr val="0C0D0E"/>
                </a:solidFill>
                <a:latin typeface="Trebuchet MS" panose="020B0603020202020204" pitchFamily="34" charset="0"/>
              </a:rPr>
              <a:t>d</a:t>
            </a:r>
            <a:r>
              <a:rPr lang="en-US" sz="2400" i="0" dirty="0">
                <a:solidFill>
                  <a:srgbClr val="0C0D0E"/>
                </a:solidFill>
                <a:effectLst/>
                <a:latin typeface="Trebuchet MS" panose="020B0603020202020204" pitchFamily="34" charset="0"/>
              </a:rPr>
              <a:t>isjunctive </a:t>
            </a:r>
            <a:r>
              <a:rPr lang="en-US" sz="2400" dirty="0">
                <a:solidFill>
                  <a:srgbClr val="0C0D0E"/>
                </a:solidFill>
                <a:latin typeface="Trebuchet MS" panose="020B0603020202020204" pitchFamily="34" charset="0"/>
              </a:rPr>
              <a:t>n</a:t>
            </a:r>
            <a:r>
              <a:rPr lang="en-US" sz="2400" i="0" dirty="0">
                <a:solidFill>
                  <a:srgbClr val="0C0D0E"/>
                </a:solidFill>
                <a:effectLst/>
                <a:latin typeface="Trebuchet MS" panose="020B0603020202020204" pitchFamily="34" charset="0"/>
              </a:rPr>
              <a:t>ormal </a:t>
            </a:r>
            <a:r>
              <a:rPr lang="en-US" sz="2400" dirty="0">
                <a:solidFill>
                  <a:srgbClr val="0C0D0E"/>
                </a:solidFill>
                <a:latin typeface="Trebuchet MS" panose="020B0603020202020204" pitchFamily="34" charset="0"/>
              </a:rPr>
              <a:t>f</a:t>
            </a:r>
            <a:r>
              <a:rPr lang="en-US" sz="2400" i="0" dirty="0">
                <a:solidFill>
                  <a:srgbClr val="0C0D0E"/>
                </a:solidFill>
                <a:effectLst/>
                <a:latin typeface="Trebuchet MS" panose="020B0603020202020204" pitchFamily="34" charset="0"/>
              </a:rPr>
              <a:t>orm (PDNF)</a:t>
            </a:r>
            <a:r>
              <a:rPr lang="en-US" sz="2400" dirty="0">
                <a:solidFill>
                  <a:srgbClr val="0C0D0E"/>
                </a:solidFill>
                <a:latin typeface="Trebuchet MS" panose="020B0603020202020204" pitchFamily="34" charset="0"/>
              </a:rPr>
              <a:t>.</a:t>
            </a:r>
            <a:endParaRPr lang="en-US" sz="2400" i="0" dirty="0">
              <a:solidFill>
                <a:srgbClr val="0C0D0E"/>
              </a:solidFill>
              <a:effectLst/>
              <a:latin typeface="Trebuchet MS" panose="020B0603020202020204" pitchFamily="34" charset="0"/>
            </a:endParaRPr>
          </a:p>
          <a:p>
            <a:pPr algn="l">
              <a:lnSpc>
                <a:spcPct val="11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Problem:</a:t>
            </a:r>
            <a:r>
              <a:rPr lang="en-US" sz="2400" b="0" i="0" dirty="0">
                <a:solidFill>
                  <a:srgbClr val="0C0D0E"/>
                </a:solidFill>
                <a:effectLst/>
                <a:latin typeface="Trebuchet MS" panose="020B0603020202020204" pitchFamily="34" charset="0"/>
              </a:rPr>
              <a:t> Classify the following formulas:</a:t>
            </a:r>
          </a:p>
          <a:p>
            <a:pPr marL="609600" indent="-609600" eaLnBrk="1" hangingPunct="1">
              <a:lnSpc>
                <a:spcPct val="110000"/>
              </a:lnSpc>
              <a:spcBef>
                <a:spcPts val="300"/>
              </a:spcBef>
              <a:buFontTx/>
              <a:buNone/>
            </a:pPr>
            <a:r>
              <a:rPr lang="zh-CN" altLang="en-US" sz="2400" b="1" dirty="0">
                <a:latin typeface="Trebuchet MS" panose="020B0603020202020204" pitchFamily="34" charset="0"/>
              </a:rPr>
              <a:t>  </a:t>
            </a:r>
            <a:r>
              <a:rPr lang="zh-CN" altLang="en-US" sz="2400" b="1" dirty="0">
                <a:solidFill>
                  <a:srgbClr val="0B61FF"/>
                </a:solidFill>
                <a:latin typeface="Trebuchet MS" panose="020B0603020202020204" pitchFamily="34" charset="0"/>
              </a:rPr>
              <a:t>(1) </a:t>
            </a:r>
            <a:r>
              <a:rPr lang="en-US" altLang="zh-CN" sz="2400" b="1" i="1" dirty="0">
                <a:latin typeface="Trebuchet MS" panose="020B0603020202020204" pitchFamily="34" charset="0"/>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    </a:t>
            </a:r>
            <a:r>
              <a:rPr lang="en-US" altLang="zh-CN" sz="2400" b="1" dirty="0">
                <a:solidFill>
                  <a:srgbClr val="0B61FF"/>
                </a:solidFill>
                <a:latin typeface="Trebuchet MS" panose="020B0603020202020204" pitchFamily="34" charset="0"/>
              </a:rPr>
              <a:t>(2)</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solidFill>
                  <a:srgbClr val="0B61FF"/>
                </a:solidFill>
                <a:latin typeface="Trebuchet MS" panose="020B0603020202020204" pitchFamily="34" charset="0"/>
                <a:sym typeface="Symbol" panose="05050102010706020507" pitchFamily="18" charset="2"/>
              </a:rPr>
              <a:t>(3)</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C</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r</a:t>
            </a:r>
            <a:endParaRPr lang="zh-CN" altLang="en-US" sz="2400" b="1" i="1" dirty="0">
              <a:latin typeface="Trebuchet MS" panose="020B0603020202020204" pitchFamily="34" charset="0"/>
              <a:sym typeface="Symbol" panose="05050102010706020507" pitchFamily="18" charset="2"/>
            </a:endParaRPr>
          </a:p>
          <a:p>
            <a:pPr algn="l">
              <a:lnSpc>
                <a:spcPct val="11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Solution:</a:t>
            </a:r>
            <a:endParaRPr lang="en-US" sz="2400" b="0" i="0" dirty="0">
              <a:solidFill>
                <a:srgbClr val="0C0D0E"/>
              </a:solidFill>
              <a:effectLst/>
              <a:latin typeface="Trebuchet MS" panose="020B0603020202020204" pitchFamily="34" charset="0"/>
            </a:endParaRPr>
          </a:p>
          <a:p>
            <a:pPr marL="0" indent="0">
              <a:lnSpc>
                <a:spcPct val="110000"/>
              </a:lnSpc>
              <a:spcBef>
                <a:spcPts val="300"/>
              </a:spcBef>
              <a:buNone/>
            </a:pPr>
            <a:r>
              <a:rPr lang="zh-CN" altLang="en-US" sz="2400" b="1" dirty="0">
                <a:latin typeface="Trebuchet MS" panose="020B0603020202020204" pitchFamily="34" charset="0"/>
              </a:rPr>
              <a:t>  </a:t>
            </a:r>
            <a:r>
              <a:rPr lang="zh-CN" altLang="en-US" sz="2400" b="1" dirty="0">
                <a:solidFill>
                  <a:srgbClr val="0B61FF"/>
                </a:solidFill>
                <a:latin typeface="Trebuchet MS" panose="020B0603020202020204" pitchFamily="34" charset="0"/>
              </a:rPr>
              <a:t>(1) </a:t>
            </a:r>
            <a:r>
              <a:rPr lang="en-US" altLang="zh-CN" sz="2400" b="1" i="1" dirty="0">
                <a:latin typeface="Trebuchet MS" panose="020B0603020202020204" pitchFamily="34" charset="0"/>
                <a:cs typeface="Times New Roman" panose="02020603050405020304" pitchFamily="18" charset="0"/>
              </a:rPr>
              <a:t>A</a:t>
            </a:r>
            <a:r>
              <a:rPr lang="zh-CN" altLang="en-US"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0           </a:t>
            </a:r>
            <a:r>
              <a:rPr lang="en-US" sz="2400" b="1" i="1" dirty="0">
                <a:solidFill>
                  <a:srgbClr val="0C0D0E"/>
                </a:solidFill>
                <a:effectLst/>
                <a:latin typeface="Trebuchet MS" panose="020B0603020202020204" pitchFamily="34" charset="0"/>
              </a:rPr>
              <a:t>contradiction</a:t>
            </a:r>
            <a:r>
              <a:rPr lang="en-US" sz="2400" b="0" i="0" dirty="0">
                <a:solidFill>
                  <a:srgbClr val="0C0D0E"/>
                </a:solidFill>
                <a:effectLst/>
                <a:latin typeface="Trebuchet MS" panose="020B0603020202020204" pitchFamily="34" charset="0"/>
              </a:rPr>
              <a:t> </a:t>
            </a:r>
            <a:endParaRPr lang="zh-CN" altLang="en-US" sz="2400" b="1" dirty="0">
              <a:latin typeface="Trebuchet MS" panose="020B0603020202020204" pitchFamily="34" charset="0"/>
              <a:sym typeface="Symbol" panose="05050102010706020507" pitchFamily="18" charset="2"/>
            </a:endParaRP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(2)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1 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b="1" i="1" dirty="0">
                <a:solidFill>
                  <a:srgbClr val="0C0D0E"/>
                </a:solidFill>
                <a:effectLst/>
                <a:latin typeface="Trebuchet MS" panose="020B0603020202020204" pitchFamily="34" charset="0"/>
              </a:rPr>
              <a:t>tautology</a:t>
            </a:r>
            <a:r>
              <a:rPr lang="en-US" sz="2400" i="1" dirty="0">
                <a:solidFill>
                  <a:srgbClr val="0C0D0E"/>
                </a:solidFill>
                <a:effectLst/>
                <a:latin typeface="Trebuchet MS" panose="020B0603020202020204" pitchFamily="34" charset="0"/>
              </a:rPr>
              <a:t> </a:t>
            </a:r>
            <a:endParaRPr lang="zh-CN" altLang="en-US" sz="2400" i="1" dirty="0">
              <a:latin typeface="Trebuchet MS" panose="020B0603020202020204" pitchFamily="34" charset="0"/>
              <a:sym typeface="Symbol" panose="05050102010706020507" pitchFamily="18" charset="2"/>
            </a:endParaRP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(3)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C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r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r </a:t>
            </a:r>
          </a:p>
          <a:p>
            <a:pPr marL="609600" indent="-609600"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endParaRPr lang="zh-CN" altLang="en-US" sz="2400" b="1" dirty="0">
              <a:latin typeface="Trebuchet MS" panose="020B0603020202020204" pitchFamily="34" charset="0"/>
              <a:sym typeface="Symbol" panose="05050102010706020507" pitchFamily="18" charset="2"/>
            </a:endParaRPr>
          </a:p>
          <a:p>
            <a:pPr marL="609600" indent="-609600" eaLnBrk="1" hangingPunct="1">
              <a:lnSpc>
                <a:spcPct val="110000"/>
              </a:lnSpc>
              <a:spcBef>
                <a:spcPts val="300"/>
              </a:spcBef>
              <a:buFontTx/>
              <a:buNone/>
            </a:pP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 m</a:t>
            </a:r>
            <a:r>
              <a:rPr lang="en-US" altLang="zh-CN" sz="2400" b="1" baseline="-25000" dirty="0">
                <a:latin typeface="Trebuchet MS" panose="020B0603020202020204" pitchFamily="34" charset="0"/>
                <a:cs typeface="Times New Roman" panose="02020603050405020304" pitchFamily="18" charset="0"/>
              </a:rPr>
              <a:t>0</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7</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b="1" i="1" dirty="0">
                <a:solidFill>
                  <a:srgbClr val="0C0D0E"/>
                </a:solidFill>
                <a:effectLst/>
                <a:latin typeface="Trebuchet MS" panose="020B0603020202020204" pitchFamily="34" charset="0"/>
              </a:rPr>
              <a:t>Non-tautological satisfiable formula</a:t>
            </a:r>
            <a:endParaRPr lang="zh-CN" altLang="en-US" sz="2400" b="1" i="1" dirty="0">
              <a:latin typeface="Trebuchet MS" panose="020B0603020202020204" pitchFamily="34" charset="0"/>
              <a:sym typeface="Symbol" panose="05050102010706020507" pitchFamily="18" charset="2"/>
            </a:endParaRPr>
          </a:p>
        </p:txBody>
      </p:sp>
      <p:pic>
        <p:nvPicPr>
          <p:cNvPr id="9" name="图片 8">
            <a:extLst>
              <a:ext uri="{FF2B5EF4-FFF2-40B4-BE49-F238E27FC236}">
                <a16:creationId xmlns:a16="http://schemas.microsoft.com/office/drawing/2014/main" id="{878E6D53-5546-40E8-B985-752C091BBE2B}"/>
              </a:ext>
            </a:extLst>
          </p:cNvPr>
          <p:cNvPicPr/>
          <p:nvPr/>
        </p:nvPicPr>
        <p:blipFill>
          <a:blip r:embed="rId5"/>
          <a:stretch>
            <a:fillRect/>
          </a:stretch>
        </p:blipFill>
        <p:spPr>
          <a:xfrm>
            <a:off x="711200" y="973913"/>
            <a:ext cx="577850" cy="241300"/>
          </a:xfrm>
          <a:prstGeom prst="rect">
            <a:avLst/>
          </a:prstGeom>
        </p:spPr>
      </p:pic>
    </p:spTree>
    <p:extLst>
      <p:ext uri="{BB962C8B-B14F-4D97-AF65-F5344CB8AC3E}">
        <p14:creationId xmlns:p14="http://schemas.microsoft.com/office/powerpoint/2010/main" val="1627234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6" end="6"/>
                                            </p:txEl>
                                          </p:spTgt>
                                        </p:tgtEl>
                                        <p:attrNameLst>
                                          <p:attrName>style.visibility</p:attrName>
                                        </p:attrNameLst>
                                      </p:cBhvr>
                                      <p:to>
                                        <p:strVal val="visible"/>
                                      </p:to>
                                    </p:set>
                                    <p:animEffect transition="in" filter="fade">
                                      <p:cBhvr>
                                        <p:cTn id="26" dur="1000"/>
                                        <p:tgtEl>
                                          <p:spTgt spid="8">
                                            <p:txEl>
                                              <p:pRg st="6" end="6"/>
                                            </p:txEl>
                                          </p:spTgt>
                                        </p:tgtEl>
                                      </p:cBhvr>
                                    </p:animEffect>
                                    <p:anim calcmode="lin" valueType="num">
                                      <p:cBhvr>
                                        <p:cTn id="2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Effect transition="in" filter="fade">
                                      <p:cBhvr>
                                        <p:cTn id="31" dur="1000"/>
                                        <p:tgtEl>
                                          <p:spTgt spid="8">
                                            <p:txEl>
                                              <p:pRg st="7" end="7"/>
                                            </p:txEl>
                                          </p:spTgt>
                                        </p:tgtEl>
                                      </p:cBhvr>
                                    </p:animEffect>
                                    <p:anim calcmode="lin" valueType="num">
                                      <p:cBhvr>
                                        <p:cTn id="3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8" end="8"/>
                                            </p:txEl>
                                          </p:spTgt>
                                        </p:tgtEl>
                                        <p:attrNameLst>
                                          <p:attrName>style.visibility</p:attrName>
                                        </p:attrNameLst>
                                      </p:cBhvr>
                                      <p:to>
                                        <p:strVal val="visible"/>
                                      </p:to>
                                    </p:set>
                                    <p:animEffect transition="in" filter="fade">
                                      <p:cBhvr>
                                        <p:cTn id="36" dur="1000"/>
                                        <p:tgtEl>
                                          <p:spTgt spid="8">
                                            <p:txEl>
                                              <p:pRg st="8" end="8"/>
                                            </p:txEl>
                                          </p:spTgt>
                                        </p:tgtEl>
                                      </p:cBhvr>
                                    </p:animEffect>
                                    <p:anim calcmode="lin" valueType="num">
                                      <p:cBhvr>
                                        <p:cTn id="3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8" end="8"/>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8">
                                            <p:txEl>
                                              <p:pRg st="9" end="9"/>
                                            </p:txEl>
                                          </p:spTgt>
                                        </p:tgtEl>
                                        <p:attrNameLst>
                                          <p:attrName>style.visibility</p:attrName>
                                        </p:attrNameLst>
                                      </p:cBhvr>
                                      <p:to>
                                        <p:strVal val="visible"/>
                                      </p:to>
                                    </p:set>
                                    <p:animEffect transition="in" filter="fade">
                                      <p:cBhvr>
                                        <p:cTn id="41" dur="1000"/>
                                        <p:tgtEl>
                                          <p:spTgt spid="8">
                                            <p:txEl>
                                              <p:pRg st="9" end="9"/>
                                            </p:txEl>
                                          </p:spTgt>
                                        </p:tgtEl>
                                      </p:cBhvr>
                                    </p:animEffect>
                                    <p:anim calcmode="lin" valueType="num">
                                      <p:cBhvr>
                                        <p:cTn id="42"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en-US" altLang="zh-CN" sz="2000" b="1" dirty="0">
                <a:latin typeface="Trebuchet MS" panose="020B0603020202020204" pitchFamily="34" charset="0"/>
              </a:rPr>
              <a:t>             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determine formulas are logically equivalent</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84919"/>
            <a:ext cx="9930406" cy="45252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Clr>
                <a:srgbClr val="0B61FF"/>
              </a:buClr>
              <a:buSzPct val="80000"/>
              <a:buFont typeface="Wingdings" panose="05000000000000000000" pitchFamily="2" charset="2"/>
              <a:buChar char="n"/>
            </a:pPr>
            <a:r>
              <a:rPr lang="en-US" altLang="zh-CN" sz="2400" dirty="0">
                <a:latin typeface="Trebuchet MS" panose="020B0603020202020204" pitchFamily="34" charset="0"/>
              </a:rPr>
              <a:t>Use PDNF to </a:t>
            </a:r>
            <a:r>
              <a:rPr lang="en-US" sz="2400" i="0" dirty="0">
                <a:solidFill>
                  <a:srgbClr val="0C0D0E"/>
                </a:solidFill>
                <a:effectLst/>
                <a:latin typeface="Trebuchet MS" panose="020B0603020202020204" pitchFamily="34" charset="0"/>
              </a:rPr>
              <a:t>determine whether two formulas are logically equivalent.</a:t>
            </a:r>
          </a:p>
          <a:p>
            <a:pPr marL="0" indent="0" algn="l">
              <a:buNone/>
            </a:pPr>
            <a:r>
              <a:rPr lang="en-US" sz="2400" b="1" i="0" dirty="0">
                <a:solidFill>
                  <a:srgbClr val="0C0D0E"/>
                </a:solidFill>
                <a:effectLst/>
                <a:latin typeface="Trebuchet MS" panose="020B0603020202020204" pitchFamily="34" charset="0"/>
              </a:rPr>
              <a:t>    Example: </a:t>
            </a:r>
            <a:r>
              <a:rPr lang="en-US" sz="2400" dirty="0">
                <a:latin typeface="Trebuchet MS" panose="020B0603020202020204" pitchFamily="34" charset="0"/>
              </a:rPr>
              <a:t>Use principal disjunctive normal form (PDNF) to determine if the following pair of formulas are equivalent: </a:t>
            </a:r>
          </a:p>
          <a:p>
            <a:pPr>
              <a:spcBef>
                <a:spcPct val="30000"/>
              </a:spcBef>
              <a:buNone/>
            </a:pPr>
            <a:r>
              <a:rPr lang="zh-CN" altLang="en-US" sz="2400" b="1" dirty="0">
                <a:solidFill>
                  <a:srgbClr val="0B61FF"/>
                </a:solidFill>
                <a:latin typeface="Trebuchet MS" panose="020B0603020202020204" pitchFamily="34" charset="0"/>
              </a:rPr>
              <a:t>(1) </a:t>
            </a:r>
            <a:r>
              <a:rPr lang="en-US" altLang="zh-CN" sz="2400" b="1" i="1" dirty="0">
                <a:latin typeface="Trebuchet MS" panose="020B0603020202020204" pitchFamily="34" charset="0"/>
              </a:rPr>
              <a:t>p</a:t>
            </a:r>
            <a:r>
              <a:rPr lang="zh-CN" altLang="en-US" sz="2400" b="1" dirty="0">
                <a:latin typeface="Trebuchet MS" panose="020B0603020202020204" pitchFamily="34" charset="0"/>
              </a:rPr>
              <a:t> </a:t>
            </a:r>
            <a:r>
              <a:rPr lang="en-US" altLang="zh-CN" sz="2400" b="1" dirty="0">
                <a:latin typeface="Trebuchet MS" panose="020B0603020202020204" pitchFamily="34" charset="0"/>
              </a:rPr>
              <a:t>and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endParaRPr lang="zh-CN" altLang="en-US" sz="2400" b="1" dirty="0">
              <a:latin typeface="Trebuchet MS" panose="020B0603020202020204" pitchFamily="34" charset="0"/>
            </a:endParaRPr>
          </a:p>
          <a:p>
            <a:pPr eaLnBrk="1" hangingPunct="1">
              <a:spcBef>
                <a:spcPct val="30000"/>
              </a:spcBef>
              <a:buFontTx/>
              <a:buNone/>
            </a:pPr>
            <a:r>
              <a:rPr lang="en-US" altLang="zh-CN" sz="2400" b="1" dirty="0">
                <a:latin typeface="Trebuchet MS" panose="020B0603020202020204" pitchFamily="34" charset="0"/>
              </a:rPr>
              <a:t>Solve:</a:t>
            </a:r>
            <a:r>
              <a:rPr lang="zh-CN" altLang="en-US" sz="2400" b="1" dirty="0">
                <a:latin typeface="Trebuchet MS" panose="020B0603020202020204" pitchFamily="34" charset="0"/>
              </a:rPr>
              <a:t>  </a:t>
            </a:r>
            <a:r>
              <a:rPr lang="en-US" altLang="zh-CN" sz="2400" b="1" i="1" dirty="0">
                <a:latin typeface="Trebuchet MS" panose="020B0603020202020204" pitchFamily="34" charset="0"/>
              </a:rPr>
              <a:t>p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spcBef>
                <a:spcPct val="300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eaLnBrk="1" hangingPunct="1">
              <a:spcBef>
                <a:spcPct val="300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m</a:t>
            </a:r>
            <a:r>
              <a:rPr lang="en-US" altLang="zh-CN" sz="2400" b="1" baseline="-25000" dirty="0">
                <a:latin typeface="Trebuchet MS" panose="020B0603020202020204" pitchFamily="34" charset="0"/>
                <a:cs typeface="Times New Roman" panose="02020603050405020304" pitchFamily="18" charset="0"/>
              </a:rPr>
              <a:t>3</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spcBef>
                <a:spcPct val="30000"/>
              </a:spcBef>
              <a:buFontTx/>
              <a:buNone/>
            </a:pPr>
            <a:r>
              <a:rPr lang="en-US" altLang="zh-CN" sz="2400" b="1" dirty="0">
                <a:latin typeface="Trebuchet MS" panose="020B0603020202020204" pitchFamily="34" charset="0"/>
                <a:sym typeface="Symbol" panose="05050102010706020507" pitchFamily="18" charset="2"/>
              </a:rPr>
              <a:t>Then:</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p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q</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endParaRPr lang="zh-CN" altLang="en-US" sz="2400" b="1" dirty="0">
              <a:latin typeface="Trebuchet MS" panose="020B0603020202020204" pitchFamily="34" charset="0"/>
              <a:sym typeface="Symbol" panose="05050102010706020507" pitchFamily="18" charset="2"/>
            </a:endParaRPr>
          </a:p>
        </p:txBody>
      </p:sp>
      <p:pic>
        <p:nvPicPr>
          <p:cNvPr id="9" name="图片 8">
            <a:extLst>
              <a:ext uri="{FF2B5EF4-FFF2-40B4-BE49-F238E27FC236}">
                <a16:creationId xmlns:a16="http://schemas.microsoft.com/office/drawing/2014/main" id="{97B8C679-5907-4D00-A5BB-B821D46BEA5F}"/>
              </a:ext>
            </a:extLst>
          </p:cNvPr>
          <p:cNvPicPr/>
          <p:nvPr/>
        </p:nvPicPr>
        <p:blipFill>
          <a:blip r:embed="rId5"/>
          <a:stretch>
            <a:fillRect/>
          </a:stretch>
        </p:blipFill>
        <p:spPr>
          <a:xfrm>
            <a:off x="711200" y="1779459"/>
            <a:ext cx="577850" cy="241300"/>
          </a:xfrm>
          <a:prstGeom prst="rect">
            <a:avLst/>
          </a:prstGeom>
        </p:spPr>
      </p:pic>
    </p:spTree>
    <p:extLst>
      <p:ext uri="{BB962C8B-B14F-4D97-AF65-F5344CB8AC3E}">
        <p14:creationId xmlns:p14="http://schemas.microsoft.com/office/powerpoint/2010/main" val="41958374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6" end="6"/>
                                            </p:txEl>
                                          </p:spTgt>
                                        </p:tgtEl>
                                        <p:attrNameLst>
                                          <p:attrName>style.visibility</p:attrName>
                                        </p:attrNameLst>
                                      </p:cBhvr>
                                      <p:to>
                                        <p:strVal val="visible"/>
                                      </p:to>
                                    </p:set>
                                    <p:animEffect transition="in" filter="fade">
                                      <p:cBhvr>
                                        <p:cTn id="24" dur="1000"/>
                                        <p:tgtEl>
                                          <p:spTgt spid="8">
                                            <p:txEl>
                                              <p:pRg st="6" end="6"/>
                                            </p:txEl>
                                          </p:spTgt>
                                        </p:tgtEl>
                                      </p:cBhvr>
                                    </p:animEffect>
                                    <p:anim calcmode="lin" valueType="num">
                                      <p:cBhvr>
                                        <p:cTn id="2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en-US" altLang="zh-CN" sz="2000" b="1" dirty="0">
                <a:latin typeface="Trebuchet MS" panose="020B0603020202020204" pitchFamily="34" charset="0"/>
              </a:rPr>
              <a:t>            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determine  formulas are logically equivalent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852263"/>
            <a:ext cx="9930406" cy="54287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buFontTx/>
              <a:buNone/>
            </a:pPr>
            <a:r>
              <a:rPr lang="en-US" altLang="zh-CN" sz="2400" b="1" i="0" dirty="0">
                <a:solidFill>
                  <a:srgbClr val="0C0D0E"/>
                </a:solidFill>
                <a:effectLst/>
                <a:latin typeface="Trebuchet MS" panose="020B0603020202020204" pitchFamily="34" charset="0"/>
              </a:rPr>
              <a:t>    Example: </a:t>
            </a:r>
            <a:r>
              <a:rPr lang="en-US" altLang="zh-CN" sz="2400" b="0" i="0" dirty="0">
                <a:solidFill>
                  <a:srgbClr val="0C0D0E"/>
                </a:solidFill>
                <a:effectLst/>
                <a:latin typeface="Trebuchet MS" panose="020B0603020202020204" pitchFamily="34" charset="0"/>
              </a:rPr>
              <a:t>Use principal disjunctive normal form (PDNF) to determine if the following pair of formulas are equivalent: </a:t>
            </a:r>
            <a:endParaRPr lang="en-US" altLang="zh-CN" sz="2400" b="1" dirty="0">
              <a:solidFill>
                <a:srgbClr val="800000"/>
              </a:solidFill>
              <a:latin typeface="Trebuchet MS" panose="020B0603020202020204" pitchFamily="34" charset="0"/>
            </a:endParaRPr>
          </a:p>
          <a:p>
            <a:pPr marL="0" indent="0" algn="l" eaLnBrk="1" hangingPunct="1">
              <a:spcBef>
                <a:spcPct val="40000"/>
              </a:spcBef>
              <a:buNone/>
            </a:pPr>
            <a:r>
              <a:rPr kumimoji="1" lang="zh-CN" altLang="en-US" sz="2400" b="1" dirty="0">
                <a:solidFill>
                  <a:srgbClr val="0B61FF"/>
                </a:solidFill>
                <a:latin typeface="Trebuchet MS" panose="020B0603020202020204" pitchFamily="34" charset="0"/>
                <a:ea typeface="宋体" panose="02010600030101010101" pitchFamily="2" charset="-122"/>
              </a:rPr>
              <a:t>(2) </a:t>
            </a:r>
            <a:r>
              <a:rPr kumimoji="1" lang="zh-CN" altLang="en-US" sz="2400" b="1" dirty="0">
                <a:solidFill>
                  <a:schemeClr val="tx1"/>
                </a:solidFill>
                <a:latin typeface="Trebuchet MS" panose="020B0603020202020204" pitchFamily="34" charset="0"/>
                <a:ea typeface="宋体" panose="02010600030101010101" pitchFamily="2" charset="-122"/>
              </a:rPr>
              <a:t>(</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q</a:t>
            </a:r>
            <a:r>
              <a:rPr kumimoji="1"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r </a:t>
            </a:r>
            <a:r>
              <a:rPr kumimoji="1" lang="en-US" altLang="zh-CN" sz="2400" b="1" dirty="0">
                <a:solidFill>
                  <a:schemeClr val="tx1"/>
                </a:solidFill>
                <a:latin typeface="Trebuchet MS" panose="020B0603020202020204" pitchFamily="34" charset="0"/>
                <a:ea typeface="宋体" panose="02010600030101010101" pitchFamily="2" charset="-122"/>
              </a:rPr>
              <a:t>and </a:t>
            </a:r>
            <a:r>
              <a:rPr kumimoji="1" lang="zh-CN" altLang="en-US" sz="2400" b="1" dirty="0">
                <a:solidFill>
                  <a:schemeClr val="tx1"/>
                </a:solidFill>
                <a:latin typeface="Trebuchet MS" panose="020B0603020202020204" pitchFamily="34" charset="0"/>
                <a:ea typeface="宋体" panose="02010600030101010101" pitchFamily="2" charset="-122"/>
              </a:rPr>
              <a:t> </a:t>
            </a:r>
            <a:r>
              <a:rPr kumimoji="1" lang="en-US" altLang="zh-CN" sz="2400" b="1" i="1" dirty="0">
                <a:solidFill>
                  <a:schemeClr val="tx1"/>
                </a:solidFill>
                <a:latin typeface="Trebuchet MS" panose="020B0603020202020204" pitchFamily="34" charset="0"/>
                <a:ea typeface="宋体" panose="02010600030101010101" pitchFamily="2" charset="-122"/>
              </a:rPr>
              <a:t>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endParaRPr kumimoji="1" lang="zh-CN" altLang="en-US" sz="2400" b="1" dirty="0">
              <a:solidFill>
                <a:schemeClr val="tx1"/>
              </a:solidFill>
              <a:latin typeface="Trebuchet MS" panose="020B0603020202020204" pitchFamily="34" charset="0"/>
              <a:ea typeface="宋体" panose="02010600030101010101" pitchFamily="2" charset="-122"/>
            </a:endParaRPr>
          </a:p>
          <a:p>
            <a:pPr marL="0" indent="446088" algn="l" eaLnBrk="1" hangingPunct="1">
              <a:spcBef>
                <a:spcPct val="40000"/>
              </a:spcBef>
              <a:buNone/>
            </a:pPr>
            <a:r>
              <a:rPr lang="en-US" altLang="zh-CN" sz="2400" b="1" dirty="0">
                <a:latin typeface="Trebuchet MS" panose="020B0603020202020204" pitchFamily="34" charset="0"/>
              </a:rPr>
              <a:t>Solve:</a:t>
            </a:r>
            <a:r>
              <a:rPr kumimoji="1" lang="zh-CN" altLang="en-US" sz="2400" b="1" dirty="0">
                <a:solidFill>
                  <a:schemeClr val="tx1"/>
                </a:solidFill>
                <a:latin typeface="Trebuchet MS" panose="020B0603020202020204" pitchFamily="34" charset="0"/>
                <a:ea typeface="宋体" panose="02010600030101010101" pitchFamily="2" charset="-122"/>
              </a:rPr>
              <a:t> (</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q</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zh-CN" altLang="en-US" sz="2400" b="1" dirty="0">
                <a:solidFill>
                  <a:schemeClr val="tx1"/>
                </a:solidFill>
                <a:latin typeface="Trebuchet MS" panose="020B0603020202020204" pitchFamily="34" charset="0"/>
                <a:ea typeface="宋体" panose="02010600030101010101" pitchFamily="2" charset="-122"/>
              </a:rPr>
              <a:t> </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0" indent="0">
              <a:spcBef>
                <a:spcPct val="40000"/>
              </a:spcBef>
              <a:buNone/>
            </a:pP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rPr>
              <a:t>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endParaRPr kumimoji="1" lang="zh-CN" altLang="en-US" sz="2400" b="1" dirty="0">
              <a:solidFill>
                <a:schemeClr val="tx1"/>
              </a:solidFill>
              <a:latin typeface="Trebuchet MS" panose="020B0603020202020204" pitchFamily="34" charset="0"/>
              <a:ea typeface="宋体" panose="02010600030101010101" pitchFamily="2" charset="-122"/>
            </a:endParaRPr>
          </a:p>
          <a:p>
            <a:pPr marL="0" indent="0" algn="l" eaLnBrk="1" hangingPunct="1">
              <a:spcBef>
                <a:spcPct val="40000"/>
              </a:spcBef>
              <a:buNone/>
            </a:pPr>
            <a:r>
              <a:rPr kumimoji="1"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rPr>
              <a:t> m</a:t>
            </a:r>
            <a:r>
              <a:rPr kumimoji="1" lang="en-US" altLang="zh-CN" sz="2400" b="1" baseline="-25000" dirty="0">
                <a:solidFill>
                  <a:schemeClr val="tx1"/>
                </a:solidFill>
                <a:latin typeface="Trebuchet MS" panose="020B0603020202020204" pitchFamily="34" charset="0"/>
                <a:ea typeface="宋体" panose="02010600030101010101" pitchFamily="2" charset="-122"/>
              </a:rPr>
              <a:t>1</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m</a:t>
            </a:r>
            <a:r>
              <a:rPr kumimoji="1" lang="en-US" altLang="zh-CN" sz="2400" b="1" baseline="-25000" dirty="0">
                <a:solidFill>
                  <a:schemeClr val="tx1"/>
                </a:solidFill>
                <a:latin typeface="Trebuchet MS" panose="020B0603020202020204" pitchFamily="34" charset="0"/>
                <a:ea typeface="宋体" panose="02010600030101010101" pitchFamily="2" charset="-122"/>
              </a:rPr>
              <a:t>3</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m</a:t>
            </a:r>
            <a:r>
              <a:rPr kumimoji="1" lang="en-US" altLang="zh-CN" sz="2400" b="1" baseline="-25000" dirty="0">
                <a:solidFill>
                  <a:schemeClr val="tx1"/>
                </a:solidFill>
                <a:latin typeface="Trebuchet MS" panose="020B0603020202020204" pitchFamily="34" charset="0"/>
                <a:ea typeface="宋体" panose="02010600030101010101" pitchFamily="2" charset="-122"/>
              </a:rPr>
              <a:t>5</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rPr>
              <a:t>m</a:t>
            </a:r>
            <a:r>
              <a:rPr kumimoji="1" lang="en-US" altLang="zh-CN" sz="2400" b="1" baseline="-25000" dirty="0">
                <a:solidFill>
                  <a:schemeClr val="tx1"/>
                </a:solidFill>
                <a:latin typeface="Trebuchet MS" panose="020B0603020202020204" pitchFamily="34" charset="0"/>
                <a:ea typeface="宋体" panose="02010600030101010101" pitchFamily="2" charset="-122"/>
              </a:rPr>
              <a:t>6</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m</a:t>
            </a:r>
            <a:r>
              <a:rPr kumimoji="1" lang="en-US" altLang="zh-CN" sz="2400" b="1" baseline="-25000" dirty="0">
                <a:solidFill>
                  <a:schemeClr val="tx1"/>
                </a:solidFill>
                <a:latin typeface="Trebuchet MS" panose="020B0603020202020204" pitchFamily="34" charset="0"/>
                <a:ea typeface="宋体" panose="02010600030101010101" pitchFamily="2" charset="-122"/>
              </a:rPr>
              <a:t>7</a:t>
            </a:r>
            <a:endParaRPr kumimoji="1" lang="zh-CN" altLang="en-US" sz="2400" b="1" dirty="0">
              <a:solidFill>
                <a:schemeClr val="tx1"/>
              </a:solidFill>
              <a:latin typeface="Trebuchet MS" panose="020B0603020202020204" pitchFamily="34" charset="0"/>
              <a:ea typeface="宋体" panose="02010600030101010101" pitchFamily="2" charset="-122"/>
            </a:endParaRPr>
          </a:p>
          <a:p>
            <a:pPr marL="0" indent="0" algn="l" eaLnBrk="1" hangingPunct="1">
              <a:spcBef>
                <a:spcPct val="40000"/>
              </a:spcBef>
              <a:buNone/>
            </a:pPr>
            <a:r>
              <a:rPr kumimoji="1" lang="en-US" altLang="zh-CN" sz="2400" b="1" i="1" dirty="0">
                <a:solidFill>
                  <a:schemeClr val="tx1"/>
                </a:solidFill>
                <a:latin typeface="Trebuchet MS" panose="020B0603020202020204" pitchFamily="34" charset="0"/>
                <a:ea typeface="宋体" panose="02010600030101010101" pitchFamily="2" charset="-122"/>
              </a:rPr>
              <a:t>                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 (</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q</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0" indent="0" algn="l" eaLnBrk="1" hangingPunct="1">
              <a:spcBef>
                <a:spcPct val="40000"/>
              </a:spcBef>
              <a:buNone/>
            </a:pP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endParaRPr kumimoji="1" lang="zh-CN" altLang="en-US" sz="2400" b="1" dirty="0">
              <a:solidFill>
                <a:schemeClr val="tx1"/>
              </a:solidFill>
              <a:latin typeface="Trebuchet MS" panose="020B0603020202020204" pitchFamily="34" charset="0"/>
              <a:ea typeface="宋体" panose="02010600030101010101" pitchFamily="2" charset="-122"/>
            </a:endParaRPr>
          </a:p>
          <a:p>
            <a:pPr marL="0" indent="0" algn="l" eaLnBrk="1" hangingPunct="1">
              <a:spcBef>
                <a:spcPct val="40000"/>
              </a:spcBef>
              <a:buNone/>
            </a:pPr>
            <a:r>
              <a:rPr kumimoji="1"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rPr>
              <a:t> m</a:t>
            </a:r>
            <a:r>
              <a:rPr kumimoji="1" lang="en-US" altLang="zh-CN" sz="2400" b="1" baseline="-25000" dirty="0">
                <a:solidFill>
                  <a:schemeClr val="tx1"/>
                </a:solidFill>
                <a:latin typeface="Trebuchet MS" panose="020B0603020202020204" pitchFamily="34" charset="0"/>
                <a:ea typeface="宋体" panose="02010600030101010101" pitchFamily="2" charset="-122"/>
              </a:rPr>
              <a:t>5</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i="1" dirty="0">
                <a:solidFill>
                  <a:schemeClr val="tx1"/>
                </a:solidFill>
                <a:latin typeface="Trebuchet MS" panose="020B0603020202020204" pitchFamily="34" charset="0"/>
                <a:ea typeface="宋体" panose="02010600030101010101" pitchFamily="2" charset="-122"/>
              </a:rPr>
              <a:t>m</a:t>
            </a:r>
            <a:r>
              <a:rPr kumimoji="1" lang="en-US" altLang="zh-CN" sz="2400" b="1" baseline="-25000" dirty="0">
                <a:solidFill>
                  <a:schemeClr val="tx1"/>
                </a:solidFill>
                <a:latin typeface="Trebuchet MS" panose="020B0603020202020204" pitchFamily="34" charset="0"/>
                <a:ea typeface="宋体" panose="02010600030101010101" pitchFamily="2" charset="-122"/>
              </a:rPr>
              <a:t>6</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rPr>
              <a:t>m</a:t>
            </a:r>
            <a:r>
              <a:rPr kumimoji="1" lang="en-US" altLang="zh-CN" sz="2400" b="1" baseline="-25000" dirty="0">
                <a:solidFill>
                  <a:schemeClr val="tx1"/>
                </a:solidFill>
                <a:latin typeface="Trebuchet MS" panose="020B0603020202020204" pitchFamily="34" charset="0"/>
                <a:ea typeface="宋体" panose="02010600030101010101" pitchFamily="2" charset="-122"/>
              </a:rPr>
              <a:t>7</a:t>
            </a:r>
            <a:endParaRPr kumimoji="1" lang="zh-CN" altLang="en-US" sz="2400" b="1" dirty="0">
              <a:solidFill>
                <a:schemeClr val="tx1"/>
              </a:solidFill>
              <a:latin typeface="Trebuchet MS" panose="020B0603020202020204" pitchFamily="34" charset="0"/>
              <a:ea typeface="宋体" panose="02010600030101010101" pitchFamily="2" charset="-122"/>
            </a:endParaRPr>
          </a:p>
          <a:p>
            <a:pPr marL="0" indent="0" algn="l" eaLnBrk="1" hangingPunct="1">
              <a:spcBef>
                <a:spcPct val="40000"/>
              </a:spcBef>
              <a:buNone/>
            </a:pPr>
            <a:r>
              <a:rPr kumimoji="1" lang="en-US" altLang="zh-CN" sz="2400" b="1" dirty="0">
                <a:solidFill>
                  <a:schemeClr val="tx1"/>
                </a:solidFill>
                <a:latin typeface="Trebuchet MS" panose="020B0603020202020204" pitchFamily="34" charset="0"/>
                <a:ea typeface="宋体" panose="02010600030101010101" pitchFamily="2" charset="-122"/>
              </a:rPr>
              <a:t>     Then</a:t>
            </a:r>
            <a:r>
              <a:rPr kumimoji="1" lang="zh-CN" altLang="en-US" sz="2400" b="1" dirty="0">
                <a:solidFill>
                  <a:schemeClr val="tx1"/>
                </a:solidFill>
                <a:latin typeface="Trebuchet MS" panose="020B0603020202020204" pitchFamily="34" charset="0"/>
                <a:ea typeface="宋体" panose="02010600030101010101" pitchFamily="2" charset="-122"/>
              </a:rPr>
              <a:t>：     (</a:t>
            </a:r>
            <a:r>
              <a:rPr kumimoji="1" lang="en-US" altLang="zh-CN" sz="2400" b="1" i="1" dirty="0" err="1">
                <a:solidFill>
                  <a:schemeClr val="tx1"/>
                </a:solidFill>
                <a:latin typeface="Trebuchet MS" panose="020B0603020202020204" pitchFamily="34" charset="0"/>
                <a:ea typeface="宋体" panose="02010600030101010101" pitchFamily="2" charset="-122"/>
              </a:rPr>
              <a:t>p</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q</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r </a:t>
            </a:r>
            <a:r>
              <a:rPr kumimoji="1" lang="en-US" altLang="zh-CN" sz="2400" b="1" dirty="0">
                <a:latin typeface="Trebuchet MS" panose="020B0603020202020204" pitchFamily="34" charset="0"/>
                <a:ea typeface="宋体" panose="02010600030101010101" pitchFamily="2" charset="-122"/>
                <a:sym typeface="Symbol" panose="05050102010706020507" pitchFamily="18" charset="2"/>
              </a:rPr>
              <a:t>is</a:t>
            </a:r>
            <a:r>
              <a:rPr kumimoji="1" lang="zh-CN" altLang="en-US" sz="2400" b="1" dirty="0">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dirty="0">
                <a:latin typeface="Trebuchet MS" panose="020B0603020202020204" pitchFamily="34" charset="0"/>
                <a:ea typeface="宋体" panose="02010600030101010101" pitchFamily="2" charset="-122"/>
                <a:sym typeface="Symbol" panose="05050102010706020507" pitchFamily="18" charset="2"/>
              </a:rPr>
              <a:t>not</a:t>
            </a:r>
            <a:r>
              <a:rPr kumimoji="1" lang="zh-CN" altLang="en-US" sz="2400" b="1" dirty="0">
                <a:latin typeface="Trebuchet MS" panose="020B0603020202020204" pitchFamily="34" charset="0"/>
                <a:ea typeface="宋体" panose="02010600030101010101" pitchFamily="2" charset="-122"/>
                <a:sym typeface="Symbol" panose="05050102010706020507" pitchFamily="18" charset="2"/>
              </a:rPr>
              <a:t> </a:t>
            </a:r>
            <a:r>
              <a:rPr kumimoji="1" lang="en-US" altLang="zh-CN" sz="2400" b="1" dirty="0">
                <a:latin typeface="Trebuchet MS" panose="020B0603020202020204" pitchFamily="34" charset="0"/>
                <a:ea typeface="宋体" panose="02010600030101010101" pitchFamily="2" charset="-122"/>
                <a:sym typeface="Symbol" panose="05050102010706020507" pitchFamily="18" charset="2"/>
              </a:rPr>
              <a:t>equal to</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kumimoji="1" lang="zh-CN" altLang="en-US" sz="2400" b="1" dirty="0">
                <a:solidFill>
                  <a:schemeClr val="tx1"/>
                </a:solidFill>
                <a:latin typeface="Trebuchet MS" panose="020B0603020202020204" pitchFamily="34" charset="0"/>
                <a:ea typeface="宋体" panose="02010600030101010101" pitchFamily="2" charset="-122"/>
              </a:rPr>
              <a:t> </a:t>
            </a:r>
            <a:r>
              <a:rPr kumimoji="1" lang="en-US" altLang="zh-CN" sz="2400" b="1" i="1" dirty="0">
                <a:solidFill>
                  <a:schemeClr val="tx1"/>
                </a:solidFill>
                <a:latin typeface="Trebuchet MS" panose="020B0603020202020204" pitchFamily="34" charset="0"/>
                <a:ea typeface="宋体" panose="02010600030101010101" pitchFamily="2" charset="-122"/>
              </a:rPr>
              <a:t>p</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q</a:t>
            </a:r>
            <a:r>
              <a:rPr kumimoji="1"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kumimoji="1"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kumimoji="1"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endParaRPr lang="zh-CN" altLang="en-US" sz="2400" b="1" dirty="0">
              <a:latin typeface="Trebuchet MS" panose="020B0603020202020204" pitchFamily="34" charset="0"/>
              <a:sym typeface="Symbol" panose="05050102010706020507" pitchFamily="18" charset="2"/>
            </a:endParaRPr>
          </a:p>
        </p:txBody>
      </p:sp>
      <p:pic>
        <p:nvPicPr>
          <p:cNvPr id="9" name="图片 8">
            <a:extLst>
              <a:ext uri="{FF2B5EF4-FFF2-40B4-BE49-F238E27FC236}">
                <a16:creationId xmlns:a16="http://schemas.microsoft.com/office/drawing/2014/main" id="{C7760CE2-7A85-49E8-9527-8692F54330BB}"/>
              </a:ext>
            </a:extLst>
          </p:cNvPr>
          <p:cNvPicPr/>
          <p:nvPr/>
        </p:nvPicPr>
        <p:blipFill>
          <a:blip r:embed="rId5"/>
          <a:stretch>
            <a:fillRect/>
          </a:stretch>
        </p:blipFill>
        <p:spPr>
          <a:xfrm>
            <a:off x="711200" y="930371"/>
            <a:ext cx="577850" cy="241300"/>
          </a:xfrm>
          <a:prstGeom prst="rect">
            <a:avLst/>
          </a:prstGeom>
        </p:spPr>
      </p:pic>
    </p:spTree>
    <p:extLst>
      <p:ext uri="{BB962C8B-B14F-4D97-AF65-F5344CB8AC3E}">
        <p14:creationId xmlns:p14="http://schemas.microsoft.com/office/powerpoint/2010/main" val="1116684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anim calcmode="lin" valueType="num">
                                      <p:cBhvr>
                                        <p:cTn id="1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000"/>
                                        <p:tgtEl>
                                          <p:spTgt spid="8">
                                            <p:txEl>
                                              <p:pRg st="5" end="5"/>
                                            </p:txEl>
                                          </p:spTgt>
                                        </p:tgtEl>
                                      </p:cBhvr>
                                    </p:animEffect>
                                    <p:anim calcmode="lin" valueType="num">
                                      <p:cBhvr>
                                        <p:cTn id="2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1000"/>
                                        <p:tgtEl>
                                          <p:spTgt spid="8">
                                            <p:txEl>
                                              <p:pRg st="6" end="6"/>
                                            </p:txEl>
                                          </p:spTgt>
                                        </p:tgtEl>
                                      </p:cBhvr>
                                    </p:animEffect>
                                    <p:anim calcmode="lin" valueType="num">
                                      <p:cBhvr>
                                        <p:cTn id="3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fade">
                                      <p:cBhvr>
                                        <p:cTn id="34" dur="1000"/>
                                        <p:tgtEl>
                                          <p:spTgt spid="8">
                                            <p:txEl>
                                              <p:pRg st="7" end="7"/>
                                            </p:txEl>
                                          </p:spTgt>
                                        </p:tgtEl>
                                      </p:cBhvr>
                                    </p:animEffect>
                                    <p:anim calcmode="lin" valueType="num">
                                      <p:cBhvr>
                                        <p:cTn id="3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8">
                                            <p:txEl>
                                              <p:pRg st="8" end="8"/>
                                            </p:txEl>
                                          </p:spTgt>
                                        </p:tgtEl>
                                        <p:attrNameLst>
                                          <p:attrName>style.visibility</p:attrName>
                                        </p:attrNameLst>
                                      </p:cBhvr>
                                      <p:to>
                                        <p:strVal val="visible"/>
                                      </p:to>
                                    </p:set>
                                    <p:animEffect transition="in" filter="fade">
                                      <p:cBhvr>
                                        <p:cTn id="41" dur="1000"/>
                                        <p:tgtEl>
                                          <p:spTgt spid="8">
                                            <p:txEl>
                                              <p:pRg st="8" end="8"/>
                                            </p:txEl>
                                          </p:spTgt>
                                        </p:tgtEl>
                                      </p:cBhvr>
                                    </p:animEffect>
                                    <p:anim calcmode="lin" valueType="num">
                                      <p:cBhvr>
                                        <p:cTn id="42"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designate the personnel selection plan</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912403" y="981231"/>
            <a:ext cx="10910120" cy="5080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spcBef>
                <a:spcPts val="300"/>
              </a:spcBef>
              <a:buNone/>
            </a:pPr>
            <a:r>
              <a:rPr lang="en-US" sz="2400" b="1" i="0" dirty="0">
                <a:solidFill>
                  <a:srgbClr val="0C0D0E"/>
                </a:solidFill>
                <a:effectLst/>
                <a:latin typeface="Trebuchet MS" panose="020B0603020202020204" pitchFamily="34" charset="0"/>
              </a:rPr>
              <a:t>      Example: </a:t>
            </a:r>
            <a:r>
              <a:rPr lang="en-US" sz="2400" b="0" i="0" dirty="0">
                <a:solidFill>
                  <a:srgbClr val="0C0D0E"/>
                </a:solidFill>
                <a:effectLst/>
                <a:latin typeface="Trebuchet MS" panose="020B0603020202020204" pitchFamily="34" charset="0"/>
              </a:rPr>
              <a:t>A company needs to select personnel from A, B, and C for an overseas assignment, subject to the following conditions: </a:t>
            </a:r>
            <a:r>
              <a:rPr lang="en-US" sz="2400" b="1" dirty="0">
                <a:solidFill>
                  <a:srgbClr val="0B61FF"/>
                </a:solidFill>
                <a:latin typeface="Trebuchet MS" panose="020B0603020202020204" pitchFamily="34" charset="0"/>
              </a:rPr>
              <a:t>(</a:t>
            </a:r>
            <a:r>
              <a:rPr lang="en-US" sz="2400" b="1" i="0" dirty="0">
                <a:solidFill>
                  <a:srgbClr val="0B61FF"/>
                </a:solidFill>
                <a:effectLst/>
                <a:latin typeface="Trebuchet MS" panose="020B0603020202020204" pitchFamily="34" charset="0"/>
              </a:rPr>
              <a:t>1)</a:t>
            </a:r>
            <a:r>
              <a:rPr lang="en-US" sz="2400" b="0" i="0" dirty="0">
                <a:solidFill>
                  <a:srgbClr val="0C0D0E"/>
                </a:solidFill>
                <a:effectLst/>
                <a:latin typeface="Trebuchet MS" panose="020B0603020202020204" pitchFamily="34" charset="0"/>
              </a:rPr>
              <a:t> If A goes, then C must go; </a:t>
            </a:r>
            <a:r>
              <a:rPr lang="en-US" sz="2400" b="1" dirty="0">
                <a:solidFill>
                  <a:srgbClr val="0B61FF"/>
                </a:solidFill>
                <a:latin typeface="Trebuchet MS" panose="020B0603020202020204" pitchFamily="34" charset="0"/>
              </a:rPr>
              <a:t>(2)</a:t>
            </a:r>
            <a:r>
              <a:rPr lang="en-US" sz="2400" b="0" i="0" dirty="0">
                <a:solidFill>
                  <a:srgbClr val="0C0D0E"/>
                </a:solidFill>
                <a:effectLst/>
                <a:latin typeface="Trebuchet MS" panose="020B0603020202020204" pitchFamily="34" charset="0"/>
              </a:rPr>
              <a:t> If B goes, then C cannot go; </a:t>
            </a:r>
            <a:r>
              <a:rPr lang="en-US" sz="2400" b="1" dirty="0">
                <a:solidFill>
                  <a:srgbClr val="0B61FF"/>
                </a:solidFill>
                <a:latin typeface="Trebuchet MS" panose="020B0603020202020204" pitchFamily="34" charset="0"/>
              </a:rPr>
              <a:t>(3) </a:t>
            </a:r>
            <a:r>
              <a:rPr lang="en-US" sz="2400" b="0" i="0" dirty="0">
                <a:solidFill>
                  <a:srgbClr val="0C0D0E"/>
                </a:solidFill>
                <a:effectLst/>
                <a:latin typeface="Trebuchet MS" panose="020B0603020202020204" pitchFamily="34" charset="0"/>
              </a:rPr>
              <a:t>Exactly one of A or B must go.</a:t>
            </a:r>
          </a:p>
          <a:p>
            <a:pPr marL="0" indent="0" algn="l">
              <a:lnSpc>
                <a:spcPct val="120000"/>
              </a:lnSpc>
              <a:spcBef>
                <a:spcPts val="300"/>
              </a:spcBef>
              <a:buNone/>
            </a:pPr>
            <a:endParaRPr lang="en-US" sz="2400" b="0" i="0" dirty="0">
              <a:solidFill>
                <a:srgbClr val="0C0D0E"/>
              </a:solidFill>
              <a:effectLst/>
              <a:latin typeface="Trebuchet MS" panose="020B0603020202020204" pitchFamily="34" charset="0"/>
            </a:endParaRPr>
          </a:p>
          <a:p>
            <a:pPr algn="l">
              <a:lnSpc>
                <a:spcPct val="120000"/>
              </a:lnSpc>
              <a:spcBef>
                <a:spcPts val="300"/>
              </a:spcBef>
              <a:buClr>
                <a:srgbClr val="0B61FF"/>
              </a:buClr>
              <a:buSzPct val="90000"/>
              <a:buFont typeface="Wingdings" panose="05000000000000000000" pitchFamily="2" charset="2"/>
              <a:buChar char="n"/>
            </a:pPr>
            <a:r>
              <a:rPr lang="en-US" sz="2400" b="1" i="0" dirty="0">
                <a:solidFill>
                  <a:srgbClr val="0C0D0E"/>
                </a:solidFill>
                <a:effectLst/>
                <a:latin typeface="Trebuchet MS" panose="020B0603020202020204" pitchFamily="34" charset="0"/>
              </a:rPr>
              <a:t>Question:</a:t>
            </a:r>
            <a:r>
              <a:rPr lang="en-US" sz="2400" b="0" i="0" dirty="0">
                <a:solidFill>
                  <a:srgbClr val="0C0D0E"/>
                </a:solidFill>
                <a:effectLst/>
                <a:latin typeface="Trebuchet MS" panose="020B0603020202020204" pitchFamily="34" charset="0"/>
              </a:rPr>
              <a:t> How many possible selection plans are there?</a:t>
            </a:r>
          </a:p>
          <a:p>
            <a:pPr algn="l">
              <a:lnSpc>
                <a:spcPct val="120000"/>
              </a:lnSpc>
              <a:spcBef>
                <a:spcPts val="300"/>
              </a:spcBef>
              <a:buClr>
                <a:srgbClr val="0B61FF"/>
              </a:buClr>
              <a:buSzPct val="90000"/>
              <a:buFont typeface="Wingdings" panose="05000000000000000000" pitchFamily="2" charset="2"/>
              <a:buChar char="n"/>
            </a:pPr>
            <a:r>
              <a:rPr lang="en-US" sz="2400" b="1" i="0" dirty="0">
                <a:solidFill>
                  <a:srgbClr val="0C0D0E"/>
                </a:solidFill>
                <a:effectLst/>
                <a:latin typeface="Trebuchet MS" panose="020B0603020202020204" pitchFamily="34" charset="0"/>
              </a:rPr>
              <a:t>Solution:</a:t>
            </a:r>
          </a:p>
          <a:p>
            <a:pPr marL="358775" indent="-184150" algn="l">
              <a:lnSpc>
                <a:spcPct val="120000"/>
              </a:lnSpc>
              <a:spcBef>
                <a:spcPts val="300"/>
              </a:spcBef>
              <a:buClr>
                <a:srgbClr val="0B61FF"/>
              </a:buClr>
              <a:buSzPct val="90000"/>
            </a:pPr>
            <a:r>
              <a:rPr lang="en-US" sz="2400" b="0" i="0" dirty="0">
                <a:solidFill>
                  <a:srgbClr val="0C0D0E"/>
                </a:solidFill>
                <a:effectLst/>
                <a:latin typeface="Trebuchet MS" panose="020B0603020202020204" pitchFamily="34" charset="0"/>
              </a:rPr>
              <a:t>Define propositions: </a:t>
            </a:r>
            <a:r>
              <a:rPr lang="en-US" sz="2400" b="1" i="1" dirty="0">
                <a:solidFill>
                  <a:srgbClr val="0C0D0E"/>
                </a:solidFill>
                <a:effectLst/>
                <a:latin typeface="Trebuchet MS" panose="020B0603020202020204" pitchFamily="34" charset="0"/>
              </a:rPr>
              <a:t>p</a:t>
            </a:r>
            <a:r>
              <a:rPr lang="en-US" sz="2400" b="0" i="0" dirty="0">
                <a:solidFill>
                  <a:srgbClr val="0C0D0E"/>
                </a:solidFill>
                <a:effectLst/>
                <a:latin typeface="Trebuchet MS" panose="020B0603020202020204" pitchFamily="34" charset="0"/>
              </a:rPr>
              <a:t>: Send A ; </a:t>
            </a:r>
            <a:r>
              <a:rPr lang="en-US" sz="2400" b="1" i="1" dirty="0">
                <a:solidFill>
                  <a:srgbClr val="0C0D0E"/>
                </a:solidFill>
                <a:effectLst/>
                <a:latin typeface="Trebuchet MS" panose="020B0603020202020204" pitchFamily="34" charset="0"/>
              </a:rPr>
              <a:t>q</a:t>
            </a:r>
            <a:r>
              <a:rPr lang="en-US" sz="2400" b="0" i="0" dirty="0">
                <a:solidFill>
                  <a:srgbClr val="0C0D0E"/>
                </a:solidFill>
                <a:effectLst/>
                <a:latin typeface="Trebuchet MS" panose="020B0603020202020204" pitchFamily="34" charset="0"/>
              </a:rPr>
              <a:t>: Send B;  </a:t>
            </a:r>
            <a:r>
              <a:rPr lang="en-US" sz="2400" b="1" i="1" dirty="0">
                <a:solidFill>
                  <a:srgbClr val="0C0D0E"/>
                </a:solidFill>
                <a:effectLst/>
                <a:latin typeface="Trebuchet MS" panose="020B0603020202020204" pitchFamily="34" charset="0"/>
              </a:rPr>
              <a:t>r</a:t>
            </a:r>
            <a:r>
              <a:rPr lang="en-US" sz="2400" b="0" i="0" dirty="0">
                <a:solidFill>
                  <a:srgbClr val="0C0D0E"/>
                </a:solidFill>
                <a:effectLst/>
                <a:latin typeface="Trebuchet MS" panose="020B0603020202020204" pitchFamily="34" charset="0"/>
              </a:rPr>
              <a:t>: Send C</a:t>
            </a:r>
          </a:p>
          <a:p>
            <a:pPr marL="358775" indent="87313" eaLnBrk="1" hangingPunct="1">
              <a:lnSpc>
                <a:spcPct val="120000"/>
              </a:lnSpc>
              <a:spcBef>
                <a:spcPts val="300"/>
              </a:spcBef>
              <a:buFontTx/>
              <a:buNone/>
            </a:pPr>
            <a:r>
              <a:rPr lang="zh-CN" altLang="en-US" sz="2400" b="1" dirty="0">
                <a:solidFill>
                  <a:srgbClr val="0B61FF"/>
                </a:solidFill>
                <a:latin typeface="Trebuchet MS" panose="020B0603020202020204" pitchFamily="34" charset="0"/>
              </a:rPr>
              <a:t>(1)</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i="1" dirty="0">
                <a:latin typeface="Trebuchet MS" panose="020B0603020202020204" pitchFamily="34" charset="0"/>
              </a:rPr>
              <a:t>,   </a:t>
            </a:r>
            <a:r>
              <a:rPr lang="en-US" altLang="zh-CN" sz="2400" b="1" dirty="0">
                <a:solidFill>
                  <a:srgbClr val="0B61FF"/>
                </a:solidFill>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en-US" altLang="zh-CN" sz="2400" b="1" dirty="0">
                <a:solidFill>
                  <a:srgbClr val="0B61FF"/>
                </a:solidFill>
                <a:latin typeface="Trebuchet MS" panose="020B0603020202020204" pitchFamily="34" charset="0"/>
              </a:rPr>
              <a:t>(3)</a:t>
            </a:r>
            <a:r>
              <a:rPr lang="en-US" altLang="zh-CN" sz="2400" b="1" dirty="0">
                <a:latin typeface="Trebuchet MS" panose="020B0603020202020204" pitchFamily="34" charset="0"/>
              </a:rPr>
              <a:t> (</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marL="358775" indent="-184150" algn="l">
              <a:lnSpc>
                <a:spcPct val="120000"/>
              </a:lnSpc>
              <a:spcBef>
                <a:spcPts val="300"/>
              </a:spcBef>
              <a:buClr>
                <a:srgbClr val="0B61FF"/>
              </a:buClr>
              <a:buSzPct val="120000"/>
            </a:pPr>
            <a:r>
              <a:rPr lang="en-US" sz="2400" b="0" i="0" dirty="0">
                <a:solidFill>
                  <a:srgbClr val="0C0D0E"/>
                </a:solidFill>
                <a:effectLst/>
                <a:latin typeface="Trebuchet MS" panose="020B0603020202020204" pitchFamily="34" charset="0"/>
              </a:rPr>
              <a:t>Combine into a logical formula:</a:t>
            </a:r>
          </a:p>
          <a:p>
            <a:pPr marL="358775" indent="87313">
              <a:lnSpc>
                <a:spcPct val="120000"/>
              </a:lnSpc>
              <a:spcBef>
                <a:spcPts val="300"/>
              </a:spcBef>
              <a:buNone/>
            </a:pPr>
            <a:r>
              <a:rPr lang="en-US" altLang="zh-CN" sz="2400" b="1" i="1" dirty="0">
                <a:latin typeface="Trebuchet MS" panose="020B0603020202020204" pitchFamily="34" charset="0"/>
              </a:rPr>
              <a:t> C</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endParaRPr lang="zh-CN" altLang="en-US" sz="2400" b="1" dirty="0">
              <a:latin typeface="Trebuchet MS" panose="020B0603020202020204" pitchFamily="34" charset="0"/>
              <a:sym typeface="Symbol" panose="05050102010706020507" pitchFamily="18" charset="2"/>
            </a:endParaRPr>
          </a:p>
        </p:txBody>
      </p:sp>
      <p:pic>
        <p:nvPicPr>
          <p:cNvPr id="9" name="图片 8">
            <a:extLst>
              <a:ext uri="{FF2B5EF4-FFF2-40B4-BE49-F238E27FC236}">
                <a16:creationId xmlns:a16="http://schemas.microsoft.com/office/drawing/2014/main" id="{FE5DCE6D-6351-45F3-A81A-AAAD69D0B6DB}"/>
              </a:ext>
            </a:extLst>
          </p:cNvPr>
          <p:cNvPicPr/>
          <p:nvPr/>
        </p:nvPicPr>
        <p:blipFill>
          <a:blip r:embed="rId5"/>
          <a:stretch>
            <a:fillRect/>
          </a:stretch>
        </p:blipFill>
        <p:spPr>
          <a:xfrm>
            <a:off x="912403" y="1139921"/>
            <a:ext cx="577850" cy="241300"/>
          </a:xfrm>
          <a:prstGeom prst="rect">
            <a:avLst/>
          </a:prstGeom>
        </p:spPr>
      </p:pic>
    </p:spTree>
    <p:extLst>
      <p:ext uri="{BB962C8B-B14F-4D97-AF65-F5344CB8AC3E}">
        <p14:creationId xmlns:p14="http://schemas.microsoft.com/office/powerpoint/2010/main" val="2420729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6" end="6"/>
                                            </p:txEl>
                                          </p:spTgt>
                                        </p:tgtEl>
                                        <p:attrNameLst>
                                          <p:attrName>style.visibility</p:attrName>
                                        </p:attrNameLst>
                                      </p:cBhvr>
                                      <p:to>
                                        <p:strVal val="visible"/>
                                      </p:to>
                                    </p:set>
                                    <p:animEffect transition="in" filter="fade">
                                      <p:cBhvr>
                                        <p:cTn id="26" dur="1000"/>
                                        <p:tgtEl>
                                          <p:spTgt spid="8">
                                            <p:txEl>
                                              <p:pRg st="6" end="6"/>
                                            </p:txEl>
                                          </p:spTgt>
                                        </p:tgtEl>
                                      </p:cBhvr>
                                    </p:animEffect>
                                    <p:anim calcmode="lin" valueType="num">
                                      <p:cBhvr>
                                        <p:cTn id="2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Effect transition="in" filter="fade">
                                      <p:cBhvr>
                                        <p:cTn id="31" dur="1000"/>
                                        <p:tgtEl>
                                          <p:spTgt spid="8">
                                            <p:txEl>
                                              <p:pRg st="7" end="7"/>
                                            </p:txEl>
                                          </p:spTgt>
                                        </p:tgtEl>
                                      </p:cBhvr>
                                    </p:animEffect>
                                    <p:anim calcmode="lin" valueType="num">
                                      <p:cBhvr>
                                        <p:cTn id="3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designate the personnel selection plan</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endParaRPr lang="zh-CN" altLang="en-US" sz="2000" b="1" dirty="0">
              <a:solidFill>
                <a:srgbClr val="CFA57C"/>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238338" y="860175"/>
            <a:ext cx="9442743" cy="54287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7525" indent="-342900">
              <a:lnSpc>
                <a:spcPct val="120000"/>
              </a:lnSpc>
              <a:spcBef>
                <a:spcPts val="300"/>
              </a:spcBef>
              <a:buClr>
                <a:srgbClr val="0B61FF"/>
              </a:buClr>
              <a:buSzPct val="80000"/>
              <a:buFont typeface="Wingdings" panose="05000000000000000000" pitchFamily="2" charset="2"/>
              <a:buChar char="n"/>
            </a:pPr>
            <a:r>
              <a:rPr lang="en-US" altLang="zh-CN" sz="2400" dirty="0">
                <a:solidFill>
                  <a:srgbClr val="0C0D0E"/>
                </a:solidFill>
                <a:latin typeface="Trebuchet MS" panose="020B0603020202020204" pitchFamily="34" charset="0"/>
              </a:rPr>
              <a:t>Find </a:t>
            </a:r>
            <a:r>
              <a:rPr lang="en-US" sz="2400" dirty="0">
                <a:solidFill>
                  <a:srgbClr val="0C0D0E"/>
                </a:solidFill>
                <a:latin typeface="Trebuchet MS" panose="020B0603020202020204" pitchFamily="34" charset="0"/>
              </a:rPr>
              <a:t>principal disjunctive normal form of </a:t>
            </a:r>
            <a:r>
              <a:rPr lang="en-US" sz="2400" b="1" i="1" dirty="0">
                <a:solidFill>
                  <a:srgbClr val="0C0D0E"/>
                </a:solidFill>
                <a:latin typeface="Trebuchet MS" panose="020B0603020202020204" pitchFamily="34" charset="0"/>
              </a:rPr>
              <a:t>C</a:t>
            </a:r>
            <a:r>
              <a:rPr lang="en-US" sz="2400" dirty="0">
                <a:solidFill>
                  <a:srgbClr val="0C0D0E"/>
                </a:solidFill>
                <a:latin typeface="Trebuchet MS" panose="020B0603020202020204" pitchFamily="34" charset="0"/>
              </a:rPr>
              <a:t> </a:t>
            </a:r>
            <a:endParaRPr lang="zh-CN" altLang="en-US" sz="2400" dirty="0">
              <a:solidFill>
                <a:srgbClr val="0C0D0E"/>
              </a:solidFill>
              <a:latin typeface="Trebuchet MS" panose="020B0603020202020204" pitchFamily="34" charset="0"/>
            </a:endParaRPr>
          </a:p>
          <a:p>
            <a:pPr marL="609600" indent="-609600" algn="just" eaLnBrk="1" hangingPunct="1">
              <a:lnSpc>
                <a:spcPct val="110000"/>
              </a:lnSpc>
              <a:spcBef>
                <a:spcPts val="300"/>
              </a:spcBef>
              <a:buFontTx/>
              <a:buNone/>
            </a:pPr>
            <a:r>
              <a:rPr lang="en-US" altLang="zh-CN" sz="2400" b="1" i="1" dirty="0">
                <a:latin typeface="Trebuchet MS" panose="020B0603020202020204" pitchFamily="34" charset="0"/>
              </a:rPr>
              <a:t>      C</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q</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rPr>
              <a:t>))</a:t>
            </a:r>
          </a:p>
          <a:p>
            <a:pPr marL="609600" indent="-609600" eaLnBrk="1" hangingPunct="1">
              <a:lnSpc>
                <a:spcPct val="110000"/>
              </a:lnSpc>
              <a:spcBef>
                <a:spcPts val="300"/>
              </a:spcBef>
              <a:buFontTx/>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p</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q</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p>
          <a:p>
            <a:pPr eaLnBrk="1" hangingPunct="1">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True Assignment </a:t>
            </a:r>
            <a:r>
              <a:rPr lang="zh-CN" altLang="en-US" sz="2400" b="1" dirty="0">
                <a:latin typeface="Trebuchet MS" panose="020B0603020202020204" pitchFamily="34" charset="0"/>
              </a:rPr>
              <a:t>:101,010</a:t>
            </a:r>
          </a:p>
          <a:p>
            <a:pPr marL="609600" indent="-338138" eaLnBrk="1" hangingPunct="1">
              <a:lnSpc>
                <a:spcPct val="110000"/>
              </a:lnSpc>
              <a:spcBef>
                <a:spcPts val="300"/>
              </a:spcBef>
              <a:buFontTx/>
              <a:buNone/>
            </a:pPr>
            <a:r>
              <a:rPr lang="en-US" sz="2400" b="1" i="0" dirty="0">
                <a:solidFill>
                  <a:srgbClr val="0C0D0E"/>
                </a:solidFill>
                <a:effectLst/>
                <a:latin typeface="Trebuchet MS" panose="020B0603020202020204" pitchFamily="34" charset="0"/>
              </a:rPr>
              <a:t>Plan 1: </a:t>
            </a:r>
            <a:r>
              <a:rPr lang="en-US" sz="2400" b="0" i="0" dirty="0">
                <a:solidFill>
                  <a:srgbClr val="0C0D0E"/>
                </a:solidFill>
                <a:effectLst/>
                <a:latin typeface="Trebuchet MS" panose="020B0603020202020204" pitchFamily="34" charset="0"/>
              </a:rPr>
              <a:t>Send A and C </a:t>
            </a:r>
          </a:p>
          <a:p>
            <a:pPr marL="609600" indent="-338138" eaLnBrk="1" hangingPunct="1">
              <a:lnSpc>
                <a:spcPct val="110000"/>
              </a:lnSpc>
              <a:spcBef>
                <a:spcPts val="300"/>
              </a:spcBef>
              <a:buFontTx/>
              <a:buNone/>
            </a:pPr>
            <a:r>
              <a:rPr lang="en-US" sz="2400" b="1" i="0" dirty="0">
                <a:solidFill>
                  <a:srgbClr val="0C0D0E"/>
                </a:solidFill>
                <a:effectLst/>
                <a:latin typeface="Trebuchet MS" panose="020B0603020202020204" pitchFamily="34" charset="0"/>
              </a:rPr>
              <a:t>Plan 2: </a:t>
            </a:r>
            <a:r>
              <a:rPr lang="en-US" sz="2400" b="0" i="0" dirty="0">
                <a:solidFill>
                  <a:srgbClr val="0C0D0E"/>
                </a:solidFill>
                <a:effectLst/>
                <a:latin typeface="Trebuchet MS" panose="020B0603020202020204" pitchFamily="34" charset="0"/>
              </a:rPr>
              <a:t>Send B</a:t>
            </a:r>
            <a:endParaRPr lang="zh-CN" altLang="en-US" sz="2400" b="1" dirty="0">
              <a:latin typeface="Trebuchet MS" panose="020B0603020202020204" pitchFamily="34" charset="0"/>
              <a:sym typeface="Symbol" panose="05050102010706020507" pitchFamily="18" charset="2"/>
            </a:endParaRPr>
          </a:p>
        </p:txBody>
      </p:sp>
    </p:spTree>
    <p:extLst>
      <p:ext uri="{BB962C8B-B14F-4D97-AF65-F5344CB8AC3E}">
        <p14:creationId xmlns:p14="http://schemas.microsoft.com/office/powerpoint/2010/main" val="3584177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6" end="6"/>
                                            </p:txEl>
                                          </p:spTgt>
                                        </p:tgtEl>
                                        <p:attrNameLst>
                                          <p:attrName>style.visibility</p:attrName>
                                        </p:attrNameLst>
                                      </p:cBhvr>
                                      <p:to>
                                        <p:strVal val="visible"/>
                                      </p:to>
                                    </p:set>
                                    <p:animEffect transition="in" filter="fade">
                                      <p:cBhvr>
                                        <p:cTn id="24" dur="1000"/>
                                        <p:tgtEl>
                                          <p:spTgt spid="8">
                                            <p:txEl>
                                              <p:pRg st="6" end="6"/>
                                            </p:txEl>
                                          </p:spTgt>
                                        </p:tgtEl>
                                      </p:cBhvr>
                                    </p:animEffect>
                                    <p:anim calcmode="lin" valueType="num">
                                      <p:cBhvr>
                                        <p:cTn id="2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animEffect transition="in" filter="fade">
                                      <p:cBhvr>
                                        <p:cTn id="29" dur="1000"/>
                                        <p:tgtEl>
                                          <p:spTgt spid="8">
                                            <p:txEl>
                                              <p:pRg st="7" end="7"/>
                                            </p:txEl>
                                          </p:spTgt>
                                        </p:tgtEl>
                                      </p:cBhvr>
                                    </p:animEffect>
                                    <p:anim calcmode="lin" valueType="num">
                                      <p:cBhvr>
                                        <p:cTn id="3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8" end="8"/>
                                            </p:txEl>
                                          </p:spTgt>
                                        </p:tgtEl>
                                        <p:attrNameLst>
                                          <p:attrName>style.visibility</p:attrName>
                                        </p:attrNameLst>
                                      </p:cBhvr>
                                      <p:to>
                                        <p:strVal val="visible"/>
                                      </p:to>
                                    </p:set>
                                    <p:animEffect transition="in" filter="fade">
                                      <p:cBhvr>
                                        <p:cTn id="36" dur="1000"/>
                                        <p:tgtEl>
                                          <p:spTgt spid="8">
                                            <p:txEl>
                                              <p:pRg st="8" end="8"/>
                                            </p:txEl>
                                          </p:spTgt>
                                        </p:tgtEl>
                                      </p:cBhvr>
                                    </p:animEffect>
                                    <p:anim calcmode="lin" valueType="num">
                                      <p:cBhvr>
                                        <p:cTn id="3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animEffect transition="in" filter="fade">
                                      <p:cBhvr>
                                        <p:cTn id="43" dur="1000"/>
                                        <p:tgtEl>
                                          <p:spTgt spid="8">
                                            <p:txEl>
                                              <p:pRg st="9" end="9"/>
                                            </p:txEl>
                                          </p:spTgt>
                                        </p:tgtEl>
                                      </p:cBhvr>
                                    </p:animEffect>
                                    <p:anim calcmode="lin" valueType="num">
                                      <p:cBhvr>
                                        <p:cTn id="44"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9" end="9"/>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8">
                                            <p:txEl>
                                              <p:pRg st="10" end="10"/>
                                            </p:txEl>
                                          </p:spTgt>
                                        </p:tgtEl>
                                        <p:attrNameLst>
                                          <p:attrName>style.visibility</p:attrName>
                                        </p:attrNameLst>
                                      </p:cBhvr>
                                      <p:to>
                                        <p:strVal val="visible"/>
                                      </p:to>
                                    </p:set>
                                    <p:animEffect transition="in" filter="fade">
                                      <p:cBhvr>
                                        <p:cTn id="48" dur="1000"/>
                                        <p:tgtEl>
                                          <p:spTgt spid="8">
                                            <p:txEl>
                                              <p:pRg st="10" end="10"/>
                                            </p:txEl>
                                          </p:spTgt>
                                        </p:tgtEl>
                                      </p:cBhvr>
                                    </p:animEffect>
                                    <p:anim calcmode="lin" valueType="num">
                                      <p:cBhvr>
                                        <p:cTn id="49"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8">
                                            <p:txEl>
                                              <p:pRg st="11" end="11"/>
                                            </p:txEl>
                                          </p:spTgt>
                                        </p:tgtEl>
                                        <p:attrNameLst>
                                          <p:attrName>style.visibility</p:attrName>
                                        </p:attrNameLst>
                                      </p:cBhvr>
                                      <p:to>
                                        <p:strVal val="visible"/>
                                      </p:to>
                                    </p:set>
                                    <p:animEffect transition="in" filter="fade">
                                      <p:cBhvr>
                                        <p:cTn id="53" dur="1000"/>
                                        <p:tgtEl>
                                          <p:spTgt spid="8">
                                            <p:txEl>
                                              <p:pRg st="11" end="11"/>
                                            </p:txEl>
                                          </p:spTgt>
                                        </p:tgtEl>
                                      </p:cBhvr>
                                    </p:animEffect>
                                    <p:anim calcmode="lin" valueType="num">
                                      <p:cBhvr>
                                        <p:cTn id="54"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55"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design a control circuit</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0" y="765175"/>
            <a:ext cx="9930406" cy="54287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buFontTx/>
              <a:buNone/>
            </a:pPr>
            <a:endParaRPr lang="zh-CN" altLang="en-US" sz="2800" b="1" dirty="0">
              <a:sym typeface="Symbol" panose="05050102010706020507" pitchFamily="18" charset="2"/>
            </a:endParaRPr>
          </a:p>
        </p:txBody>
      </p:sp>
      <p:sp>
        <p:nvSpPr>
          <p:cNvPr id="9" name="Rectangle 3">
            <a:extLst>
              <a:ext uri="{FF2B5EF4-FFF2-40B4-BE49-F238E27FC236}">
                <a16:creationId xmlns:a16="http://schemas.microsoft.com/office/drawing/2014/main" id="{7F6CCAE1-C9CB-4B43-B9E0-1A4E3BFCADB5}"/>
              </a:ext>
            </a:extLst>
          </p:cNvPr>
          <p:cNvSpPr txBox="1">
            <a:spLocks noChangeArrowheads="1"/>
          </p:cNvSpPr>
          <p:nvPr/>
        </p:nvSpPr>
        <p:spPr>
          <a:xfrm>
            <a:off x="847498" y="904193"/>
            <a:ext cx="10395189" cy="5210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300"/>
              </a:spcBef>
              <a:buFontTx/>
              <a:buNone/>
              <a:defRPr/>
            </a:pPr>
            <a:r>
              <a:rPr lang="en-US" sz="2400" b="1" i="0" dirty="0">
                <a:solidFill>
                  <a:srgbClr val="0C0D0E"/>
                </a:solidFill>
                <a:effectLst/>
                <a:latin typeface="Trebuchet MS" panose="020B0603020202020204" pitchFamily="34" charset="0"/>
              </a:rPr>
              <a:t>        Example: </a:t>
            </a:r>
            <a:r>
              <a:rPr lang="en-US" sz="2400" b="0" i="0" dirty="0">
                <a:solidFill>
                  <a:srgbClr val="0C0D0E"/>
                </a:solidFill>
                <a:effectLst/>
                <a:latin typeface="Trebuchet MS" panose="020B0603020202020204" pitchFamily="34" charset="0"/>
              </a:rPr>
              <a:t>A lamp is controlled by two switches. Pressing either switch can turn the lamp on or off. </a:t>
            </a:r>
            <a:r>
              <a:rPr lang="en-US" altLang="zh-CN" sz="2400" dirty="0">
                <a:latin typeface="Trebuchet MS" panose="020B0603020202020204" pitchFamily="34" charset="0"/>
              </a:rPr>
              <a:t>Use the gate circuits in the diagram to design the control circuit</a:t>
            </a:r>
            <a:r>
              <a:rPr lang="en-US" sz="2400" b="0" i="0" dirty="0">
                <a:solidFill>
                  <a:srgbClr val="0C0D0E"/>
                </a:solidFill>
                <a:effectLst/>
                <a:latin typeface="Trebuchet MS" panose="020B0603020202020204" pitchFamily="34" charset="0"/>
              </a:rPr>
              <a:t>.</a:t>
            </a:r>
          </a:p>
          <a:p>
            <a:pPr>
              <a:lnSpc>
                <a:spcPct val="100000"/>
              </a:lnSpc>
              <a:spcBef>
                <a:spcPts val="300"/>
              </a:spcBef>
              <a:buFontTx/>
              <a:buNone/>
              <a:defRPr/>
            </a:pPr>
            <a:endParaRPr lang="en-US" sz="2400" dirty="0">
              <a:solidFill>
                <a:srgbClr val="0C0D0E"/>
              </a:solidFill>
              <a:latin typeface="Trebuchet MS" panose="020B0603020202020204" pitchFamily="34" charset="0"/>
            </a:endParaRPr>
          </a:p>
          <a:p>
            <a:pPr>
              <a:lnSpc>
                <a:spcPct val="100000"/>
              </a:lnSpc>
              <a:spcBef>
                <a:spcPts val="300"/>
              </a:spcBef>
              <a:buFontTx/>
              <a:buNone/>
              <a:defRPr/>
            </a:pPr>
            <a:endParaRPr lang="en-US" sz="2400" b="0" i="0" dirty="0">
              <a:solidFill>
                <a:srgbClr val="0C0D0E"/>
              </a:solidFill>
              <a:effectLst/>
              <a:latin typeface="Trebuchet MS" panose="020B0603020202020204" pitchFamily="34" charset="0"/>
            </a:endParaRPr>
          </a:p>
          <a:p>
            <a:pPr indent="42863" algn="l">
              <a:lnSpc>
                <a:spcPct val="100000"/>
              </a:lnSpc>
              <a:spcBef>
                <a:spcPts val="300"/>
              </a:spcBef>
              <a:buClr>
                <a:srgbClr val="0B61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Solution:</a:t>
            </a:r>
            <a:endParaRPr lang="en-US" sz="2400" b="0" i="0" dirty="0">
              <a:solidFill>
                <a:srgbClr val="0C0D0E"/>
              </a:solidFill>
              <a:effectLst/>
              <a:latin typeface="Trebuchet MS" panose="020B0603020202020204" pitchFamily="34" charset="0"/>
            </a:endParaRPr>
          </a:p>
          <a:p>
            <a:pPr marL="446088" indent="185738" algn="l">
              <a:lnSpc>
                <a:spcPct val="100000"/>
              </a:lnSpc>
              <a:spcBef>
                <a:spcPts val="300"/>
              </a:spcBef>
              <a:buClr>
                <a:srgbClr val="0B61FF"/>
              </a:buClr>
              <a:buSzPct val="120000"/>
              <a:buFont typeface="Arial" panose="020B0604020202020204" pitchFamily="34" charset="0"/>
              <a:buChar char="•"/>
            </a:pPr>
            <a:r>
              <a:rPr lang="en-US" sz="2400" b="0" i="0" dirty="0">
                <a:solidFill>
                  <a:srgbClr val="0C0D0E"/>
                </a:solidFill>
                <a:effectLst/>
                <a:latin typeface="Trebuchet MS" panose="020B0603020202020204" pitchFamily="34" charset="0"/>
              </a:rPr>
              <a:t>Let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and </a:t>
            </a:r>
            <a:r>
              <a:rPr lang="en-US" sz="2400" b="1" i="1" dirty="0">
                <a:solidFill>
                  <a:srgbClr val="0C0D0E"/>
                </a:solidFill>
                <a:latin typeface="Trebuchet MS" panose="020B0603020202020204" pitchFamily="34" charset="0"/>
              </a:rPr>
              <a:t>y</a:t>
            </a:r>
            <a:r>
              <a:rPr lang="en-US" sz="2400" b="0" i="0" dirty="0">
                <a:solidFill>
                  <a:srgbClr val="0C0D0E"/>
                </a:solidFill>
                <a:effectLst/>
                <a:latin typeface="Trebuchet MS" panose="020B0603020202020204" pitchFamily="34" charset="0"/>
              </a:rPr>
              <a:t> represent the states of the two switches (0 = off, 1 = on).</a:t>
            </a:r>
          </a:p>
          <a:p>
            <a:pPr marL="446088" indent="185738" algn="l">
              <a:lnSpc>
                <a:spcPct val="100000"/>
              </a:lnSpc>
              <a:spcBef>
                <a:spcPts val="300"/>
              </a:spcBef>
              <a:buClr>
                <a:srgbClr val="0B61FF"/>
              </a:buClr>
              <a:buSzPct val="120000"/>
              <a:buFont typeface="Arial" panose="020B0604020202020204" pitchFamily="34" charset="0"/>
              <a:buChar char="•"/>
            </a:pPr>
            <a:r>
              <a:rPr lang="en-US" sz="2400" b="0" i="0" dirty="0">
                <a:solidFill>
                  <a:srgbClr val="0C0D0E"/>
                </a:solidFill>
                <a:effectLst/>
                <a:latin typeface="Trebuchet MS" panose="020B0603020202020204" pitchFamily="34" charset="0"/>
              </a:rPr>
              <a:t>Let </a:t>
            </a:r>
            <a:r>
              <a:rPr lang="en-US" sz="2400" b="1" i="1" dirty="0">
                <a:solidFill>
                  <a:srgbClr val="0C0D0E"/>
                </a:solidFill>
                <a:latin typeface="Trebuchet MS" panose="020B0603020202020204" pitchFamily="34" charset="0"/>
              </a:rPr>
              <a:t>F</a:t>
            </a:r>
            <a:r>
              <a:rPr lang="en-US" sz="2400" b="0" i="0" dirty="0">
                <a:solidFill>
                  <a:srgbClr val="0C0D0E"/>
                </a:solidFill>
                <a:effectLst/>
                <a:latin typeface="Trebuchet MS" panose="020B0603020202020204" pitchFamily="34" charset="0"/>
              </a:rPr>
              <a:t> represent the lamp’s state (1 = on, 0 = off).</a:t>
            </a:r>
          </a:p>
          <a:p>
            <a:pPr marL="446088" indent="185738" algn="l">
              <a:lnSpc>
                <a:spcPct val="100000"/>
              </a:lnSpc>
              <a:spcBef>
                <a:spcPts val="300"/>
              </a:spcBef>
              <a:buClr>
                <a:srgbClr val="0B61FF"/>
              </a:buClr>
              <a:buSzPct val="120000"/>
              <a:buFont typeface="Arial" panose="020B0604020202020204" pitchFamily="34" charset="0"/>
              <a:buChar char="•"/>
            </a:pPr>
            <a:r>
              <a:rPr lang="en-US" sz="2400" b="0" i="0" dirty="0">
                <a:solidFill>
                  <a:srgbClr val="0C0D0E"/>
                </a:solidFill>
                <a:effectLst/>
                <a:latin typeface="Trebuchet MS" panose="020B0603020202020204" pitchFamily="34" charset="0"/>
              </a:rPr>
              <a:t>Assume the lamp is initially on (F=1) when x=y=0.</a:t>
            </a:r>
          </a:p>
          <a:p>
            <a:pPr marL="446088" indent="185738" algn="l">
              <a:lnSpc>
                <a:spcPct val="100000"/>
              </a:lnSpc>
              <a:spcBef>
                <a:spcPts val="300"/>
              </a:spcBef>
              <a:buClr>
                <a:srgbClr val="0B61FF"/>
              </a:buClr>
              <a:buSzPct val="120000"/>
              <a:buFont typeface="Arial" panose="020B0604020202020204" pitchFamily="34" charset="0"/>
              <a:buChar char="•"/>
            </a:pPr>
            <a:r>
              <a:rPr lang="en-US" sz="2400" b="1" i="0" dirty="0">
                <a:solidFill>
                  <a:srgbClr val="0C0D0E"/>
                </a:solidFill>
                <a:effectLst/>
                <a:latin typeface="Trebuchet MS" panose="020B0603020202020204" pitchFamily="34" charset="0"/>
              </a:rPr>
              <a:t>Canonical DNF </a:t>
            </a:r>
            <a:r>
              <a:rPr lang="en-US" sz="2400" i="0" dirty="0">
                <a:solidFill>
                  <a:srgbClr val="0C0D0E"/>
                </a:solidFill>
                <a:effectLst/>
                <a:latin typeface="Trebuchet MS" panose="020B0603020202020204" pitchFamily="34" charset="0"/>
              </a:rPr>
              <a:t>(Principal Disjunctive Normal Form)</a:t>
            </a:r>
            <a:r>
              <a:rPr lang="en-US" sz="2400" b="1" i="0" dirty="0">
                <a:solidFill>
                  <a:srgbClr val="0C0D0E"/>
                </a:solidFill>
                <a:effectLst/>
                <a:latin typeface="Trebuchet MS" panose="020B0603020202020204" pitchFamily="34" charset="0"/>
              </a:rPr>
              <a:t> of </a:t>
            </a:r>
            <a:r>
              <a:rPr lang="en-US" sz="2400" b="1" i="1" dirty="0">
                <a:latin typeface="Trebuchet MS" panose="020B0603020202020204" pitchFamily="34" charset="0"/>
              </a:rPr>
              <a:t>F</a:t>
            </a:r>
            <a:endParaRPr lang="zh-CN" altLang="en-US" sz="2400" b="1" dirty="0">
              <a:latin typeface="Trebuchet MS" panose="020B0603020202020204" pitchFamily="34" charset="0"/>
            </a:endParaRPr>
          </a:p>
          <a:p>
            <a:pPr marL="446088" indent="185738">
              <a:lnSpc>
                <a:spcPct val="100000"/>
              </a:lnSpc>
              <a:spcBef>
                <a:spcPts val="300"/>
              </a:spcBef>
              <a:buFontTx/>
              <a:buNone/>
              <a:defRPr/>
            </a:pPr>
            <a:r>
              <a:rPr lang="en-US" sz="2400" b="1" i="1" dirty="0">
                <a:latin typeface="Trebuchet MS" panose="020B0603020202020204" pitchFamily="34" charset="0"/>
              </a:rPr>
              <a:t>          F</a:t>
            </a:r>
            <a:r>
              <a:rPr lang="en-US" sz="2400" b="1" dirty="0">
                <a:latin typeface="Trebuchet MS" panose="020B0603020202020204" pitchFamily="34" charset="0"/>
              </a:rPr>
              <a:t>=</a:t>
            </a:r>
            <a:r>
              <a:rPr lang="en-US" sz="2400" b="1" i="1" dirty="0">
                <a:latin typeface="Trebuchet MS" panose="020B0603020202020204" pitchFamily="34" charset="0"/>
              </a:rPr>
              <a:t>m</a:t>
            </a:r>
            <a:r>
              <a:rPr lang="en-US" sz="2400" b="1" baseline="-25000" dirty="0">
                <a:latin typeface="Trebuchet MS" panose="020B0603020202020204" pitchFamily="34" charset="0"/>
              </a:rPr>
              <a:t>0</a:t>
            </a:r>
            <a:r>
              <a:rPr lang="en-US" sz="2400" b="1" dirty="0">
                <a:latin typeface="Trebuchet MS" panose="020B0603020202020204" pitchFamily="34" charset="0"/>
              </a:rPr>
              <a:t>∧</a:t>
            </a:r>
            <a:r>
              <a:rPr lang="en-US" sz="2400" b="1" i="1" dirty="0">
                <a:latin typeface="Trebuchet MS" panose="020B0603020202020204" pitchFamily="34" charset="0"/>
              </a:rPr>
              <a:t>m</a:t>
            </a:r>
            <a:r>
              <a:rPr lang="en-US" sz="2400" b="1" baseline="-25000" dirty="0">
                <a:latin typeface="Trebuchet MS" panose="020B0603020202020204" pitchFamily="34" charset="0"/>
              </a:rPr>
              <a:t>3</a:t>
            </a:r>
          </a:p>
          <a:p>
            <a:pPr marL="446088" indent="185738">
              <a:lnSpc>
                <a:spcPct val="100000"/>
              </a:lnSpc>
              <a:spcBef>
                <a:spcPts val="300"/>
              </a:spcBef>
              <a:buFontTx/>
              <a:buNone/>
              <a:defRPr/>
            </a:pPr>
            <a:r>
              <a:rPr lang="en-US" sz="2400" b="1" dirty="0">
                <a:latin typeface="Trebuchet MS" panose="020B0603020202020204" pitchFamily="34" charset="0"/>
              </a:rPr>
              <a:t>            = (</a:t>
            </a:r>
            <a:r>
              <a:rPr lang="en-US" sz="2400" b="1" dirty="0">
                <a:latin typeface="Trebuchet MS" panose="020B0603020202020204" pitchFamily="34" charset="0"/>
                <a:sym typeface="Symbol"/>
              </a:rPr>
              <a:t></a:t>
            </a:r>
            <a:r>
              <a:rPr lang="en-US" sz="2400" b="1" i="1" dirty="0">
                <a:latin typeface="Trebuchet MS" panose="020B0603020202020204" pitchFamily="34" charset="0"/>
              </a:rPr>
              <a:t>x</a:t>
            </a:r>
            <a:r>
              <a:rPr lang="en-US" sz="2400" b="1" dirty="0">
                <a:latin typeface="Trebuchet MS" panose="020B0603020202020204" pitchFamily="34" charset="0"/>
              </a:rPr>
              <a:t>∧</a:t>
            </a:r>
            <a:r>
              <a:rPr lang="en-US" sz="2400" b="1" dirty="0">
                <a:latin typeface="Trebuchet MS" panose="020B0603020202020204" pitchFamily="34" charset="0"/>
                <a:sym typeface="Symbol"/>
              </a:rPr>
              <a:t></a:t>
            </a:r>
            <a:r>
              <a:rPr lang="en-US" sz="2400" b="1" i="1" dirty="0">
                <a:latin typeface="Trebuchet MS" panose="020B0603020202020204" pitchFamily="34" charset="0"/>
              </a:rPr>
              <a:t>y</a:t>
            </a:r>
            <a:r>
              <a:rPr lang="en-US" sz="2400" b="1" dirty="0">
                <a:latin typeface="Trebuchet MS" panose="020B0603020202020204" pitchFamily="34" charset="0"/>
              </a:rPr>
              <a:t>)∨(</a:t>
            </a:r>
            <a:r>
              <a:rPr lang="en-US" sz="2400" b="1" i="1" dirty="0" err="1">
                <a:latin typeface="Trebuchet MS" panose="020B0603020202020204" pitchFamily="34" charset="0"/>
              </a:rPr>
              <a:t>x</a:t>
            </a:r>
            <a:r>
              <a:rPr lang="en-US" sz="2400" b="1" dirty="0" err="1">
                <a:latin typeface="Trebuchet MS" panose="020B0603020202020204" pitchFamily="34" charset="0"/>
              </a:rPr>
              <a:t>∧</a:t>
            </a:r>
            <a:r>
              <a:rPr lang="en-US" sz="2400" b="1" i="1" dirty="0" err="1">
                <a:latin typeface="Trebuchet MS" panose="020B0603020202020204" pitchFamily="34" charset="0"/>
              </a:rPr>
              <a:t>y</a:t>
            </a:r>
            <a:r>
              <a:rPr lang="en-US" sz="2400" b="1" dirty="0">
                <a:latin typeface="Trebuchet MS" panose="020B0603020202020204" pitchFamily="34" charset="0"/>
              </a:rPr>
              <a:t>)</a:t>
            </a:r>
            <a:endParaRPr lang="zh-CN" altLang="en-US" sz="2400" b="1" dirty="0">
              <a:latin typeface="Trebuchet MS" panose="020B0603020202020204" pitchFamily="34" charset="0"/>
            </a:endParaRPr>
          </a:p>
          <a:p>
            <a:pPr marL="609600" indent="-609600">
              <a:lnSpc>
                <a:spcPct val="100000"/>
              </a:lnSpc>
              <a:spcBef>
                <a:spcPts val="300"/>
              </a:spcBef>
              <a:buFontTx/>
              <a:buNone/>
              <a:defRPr/>
            </a:pPr>
            <a:endParaRPr lang="zh-CN" altLang="en-US" sz="2400" b="1" dirty="0">
              <a:latin typeface="Trebuchet MS" panose="020B0603020202020204" pitchFamily="34" charset="0"/>
            </a:endParaRPr>
          </a:p>
        </p:txBody>
      </p:sp>
      <p:grpSp>
        <p:nvGrpSpPr>
          <p:cNvPr id="37" name="组合 44">
            <a:extLst>
              <a:ext uri="{FF2B5EF4-FFF2-40B4-BE49-F238E27FC236}">
                <a16:creationId xmlns:a16="http://schemas.microsoft.com/office/drawing/2014/main" id="{4FF9CDC9-D8E2-408E-8311-60E4CD2B5BE7}"/>
              </a:ext>
            </a:extLst>
          </p:cNvPr>
          <p:cNvGrpSpPr>
            <a:grpSpLocks/>
          </p:cNvGrpSpPr>
          <p:nvPr/>
        </p:nvGrpSpPr>
        <p:grpSpPr bwMode="auto">
          <a:xfrm>
            <a:off x="9420214" y="4021082"/>
            <a:ext cx="1428750" cy="1582738"/>
            <a:chOff x="7072330" y="4490100"/>
            <a:chExt cx="1428760" cy="1582106"/>
          </a:xfrm>
        </p:grpSpPr>
        <p:sp>
          <p:nvSpPr>
            <p:cNvPr id="38" name="Text Box 37">
              <a:extLst>
                <a:ext uri="{FF2B5EF4-FFF2-40B4-BE49-F238E27FC236}">
                  <a16:creationId xmlns:a16="http://schemas.microsoft.com/office/drawing/2014/main" id="{A8254EB7-E0EF-4C9A-A582-822D910C549D}"/>
                </a:ext>
              </a:extLst>
            </p:cNvPr>
            <p:cNvSpPr txBox="1">
              <a:spLocks noChangeArrowheads="1"/>
            </p:cNvSpPr>
            <p:nvPr/>
          </p:nvSpPr>
          <p:spPr bwMode="auto">
            <a:xfrm>
              <a:off x="7078684" y="4500260"/>
              <a:ext cx="1422405" cy="1571946"/>
            </a:xfrm>
            <a:prstGeom prst="rect">
              <a:avLst/>
            </a:prstGeom>
            <a:solidFill>
              <a:srgbClr val="FFFFFF"/>
            </a:solidFill>
            <a:ln w="9525">
              <a:solidFill>
                <a:srgbClr val="000000"/>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r>
                <a:rPr lang="en-US" altLang="zh-CN" sz="2000" b="1" i="1" dirty="0">
                  <a:solidFill>
                    <a:srgbClr val="000000"/>
                  </a:solidFill>
                  <a:latin typeface="Times New Roman" panose="02020603050405020304" pitchFamily="18" charset="0"/>
                </a:rPr>
                <a:t> x   y      F</a:t>
              </a:r>
              <a:endParaRPr lang="en-US" altLang="zh-CN" sz="2000" b="1" dirty="0">
                <a:solidFill>
                  <a:srgbClr val="000000"/>
                </a:solidFill>
                <a:latin typeface="Times New Roman" panose="02020603050405020304" pitchFamily="18" charset="0"/>
              </a:endParaRPr>
            </a:p>
            <a:p>
              <a:pPr algn="just" eaLnBrk="1" hangingPunct="1"/>
              <a:r>
                <a:rPr lang="en-US" altLang="zh-CN" sz="2000" b="1" dirty="0">
                  <a:solidFill>
                    <a:srgbClr val="000000"/>
                  </a:solidFill>
                  <a:latin typeface="Times New Roman" panose="02020603050405020304" pitchFamily="18" charset="0"/>
                </a:rPr>
                <a:t> 0   0      1</a:t>
              </a:r>
            </a:p>
            <a:p>
              <a:pPr algn="just" eaLnBrk="1" hangingPunct="1"/>
              <a:r>
                <a:rPr lang="en-US" altLang="zh-CN" sz="2000" b="1" dirty="0">
                  <a:solidFill>
                    <a:srgbClr val="000000"/>
                  </a:solidFill>
                  <a:latin typeface="Times New Roman" panose="02020603050405020304" pitchFamily="18" charset="0"/>
                </a:rPr>
                <a:t> 0   1      0</a:t>
              </a:r>
            </a:p>
            <a:p>
              <a:pPr algn="just" eaLnBrk="1" hangingPunct="1"/>
              <a:r>
                <a:rPr lang="en-US" altLang="zh-CN" sz="2000" b="1" dirty="0">
                  <a:solidFill>
                    <a:srgbClr val="000000"/>
                  </a:solidFill>
                  <a:latin typeface="Times New Roman" panose="02020603050405020304" pitchFamily="18" charset="0"/>
                </a:rPr>
                <a:t> 1   0      0</a:t>
              </a:r>
            </a:p>
            <a:p>
              <a:pPr algn="just" eaLnBrk="1" hangingPunct="1"/>
              <a:r>
                <a:rPr lang="en-US" altLang="zh-CN" sz="2000" b="1" dirty="0">
                  <a:solidFill>
                    <a:srgbClr val="000000"/>
                  </a:solidFill>
                  <a:latin typeface="Times New Roman" panose="02020603050405020304" pitchFamily="18" charset="0"/>
                </a:rPr>
                <a:t> 1   1      1</a:t>
              </a:r>
              <a:endParaRPr lang="zh-CN" altLang="zh-CN" sz="2000" b="1" dirty="0">
                <a:solidFill>
                  <a:srgbClr val="000000"/>
                </a:solidFill>
              </a:endParaRPr>
            </a:p>
          </p:txBody>
        </p:sp>
        <p:cxnSp>
          <p:nvCxnSpPr>
            <p:cNvPr id="39" name="AutoShape 38">
              <a:extLst>
                <a:ext uri="{FF2B5EF4-FFF2-40B4-BE49-F238E27FC236}">
                  <a16:creationId xmlns:a16="http://schemas.microsoft.com/office/drawing/2014/main" id="{F87B88B7-4618-4D91-A44C-1EFAFDAE93F7}"/>
                </a:ext>
              </a:extLst>
            </p:cNvPr>
            <p:cNvCxnSpPr>
              <a:cxnSpLocks noChangeShapeType="1"/>
            </p:cNvCxnSpPr>
            <p:nvPr/>
          </p:nvCxnSpPr>
          <p:spPr bwMode="auto">
            <a:xfrm>
              <a:off x="7072330" y="4857760"/>
              <a:ext cx="1428760" cy="158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40" name="AutoShape 39">
              <a:extLst>
                <a:ext uri="{FF2B5EF4-FFF2-40B4-BE49-F238E27FC236}">
                  <a16:creationId xmlns:a16="http://schemas.microsoft.com/office/drawing/2014/main" id="{F1108E65-C502-4966-9883-F3854F5C13CD}"/>
                </a:ext>
              </a:extLst>
            </p:cNvPr>
            <p:cNvCxnSpPr>
              <a:cxnSpLocks noChangeShapeType="1"/>
            </p:cNvCxnSpPr>
            <p:nvPr/>
          </p:nvCxnSpPr>
          <p:spPr bwMode="auto">
            <a:xfrm rot="5400000">
              <a:off x="6985576" y="5271073"/>
              <a:ext cx="1582106" cy="2016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pic>
        <p:nvPicPr>
          <p:cNvPr id="47" name="图片 46">
            <a:extLst>
              <a:ext uri="{FF2B5EF4-FFF2-40B4-BE49-F238E27FC236}">
                <a16:creationId xmlns:a16="http://schemas.microsoft.com/office/drawing/2014/main" id="{33C7A45C-7333-42E5-B573-F8F81388B25D}"/>
              </a:ext>
            </a:extLst>
          </p:cNvPr>
          <p:cNvPicPr/>
          <p:nvPr/>
        </p:nvPicPr>
        <p:blipFill>
          <a:blip r:embed="rId5"/>
          <a:stretch>
            <a:fillRect/>
          </a:stretch>
        </p:blipFill>
        <p:spPr>
          <a:xfrm>
            <a:off x="1157518" y="1017459"/>
            <a:ext cx="577850" cy="241300"/>
          </a:xfrm>
          <a:prstGeom prst="rect">
            <a:avLst/>
          </a:prstGeom>
        </p:spPr>
      </p:pic>
      <p:grpSp>
        <p:nvGrpSpPr>
          <p:cNvPr id="48" name="组合 47">
            <a:extLst>
              <a:ext uri="{FF2B5EF4-FFF2-40B4-BE49-F238E27FC236}">
                <a16:creationId xmlns:a16="http://schemas.microsoft.com/office/drawing/2014/main" id="{E8AEE541-505D-4C90-988C-BC72CFB2A371}"/>
              </a:ext>
            </a:extLst>
          </p:cNvPr>
          <p:cNvGrpSpPr/>
          <p:nvPr/>
        </p:nvGrpSpPr>
        <p:grpSpPr>
          <a:xfrm>
            <a:off x="2243138" y="1998892"/>
            <a:ext cx="6572251" cy="955202"/>
            <a:chOff x="2243138" y="975635"/>
            <a:chExt cx="6572251" cy="955202"/>
          </a:xfrm>
        </p:grpSpPr>
        <p:grpSp>
          <p:nvGrpSpPr>
            <p:cNvPr id="49" name="组合 48">
              <a:extLst>
                <a:ext uri="{FF2B5EF4-FFF2-40B4-BE49-F238E27FC236}">
                  <a16:creationId xmlns:a16="http://schemas.microsoft.com/office/drawing/2014/main" id="{00727513-8EE6-4576-8BE6-4F79B78C35A9}"/>
                </a:ext>
              </a:extLst>
            </p:cNvPr>
            <p:cNvGrpSpPr/>
            <p:nvPr/>
          </p:nvGrpSpPr>
          <p:grpSpPr>
            <a:xfrm>
              <a:off x="2243138" y="977197"/>
              <a:ext cx="2000250" cy="953640"/>
              <a:chOff x="2243138" y="977197"/>
              <a:chExt cx="2000250" cy="953640"/>
            </a:xfrm>
          </p:grpSpPr>
          <p:grpSp>
            <p:nvGrpSpPr>
              <p:cNvPr id="67" name="组合 44">
                <a:extLst>
                  <a:ext uri="{FF2B5EF4-FFF2-40B4-BE49-F238E27FC236}">
                    <a16:creationId xmlns:a16="http://schemas.microsoft.com/office/drawing/2014/main" id="{BD3B0517-C6A9-40ED-A099-695A4C1E671D}"/>
                  </a:ext>
                </a:extLst>
              </p:cNvPr>
              <p:cNvGrpSpPr>
                <a:grpSpLocks/>
              </p:cNvGrpSpPr>
              <p:nvPr/>
            </p:nvGrpSpPr>
            <p:grpSpPr bwMode="auto">
              <a:xfrm>
                <a:off x="2243138" y="977197"/>
                <a:ext cx="2000250" cy="595328"/>
                <a:chOff x="1071538" y="1916660"/>
                <a:chExt cx="2000264" cy="595029"/>
              </a:xfrm>
            </p:grpSpPr>
            <p:sp>
              <p:nvSpPr>
                <p:cNvPr id="69" name="AutoShape 4">
                  <a:extLst>
                    <a:ext uri="{FF2B5EF4-FFF2-40B4-BE49-F238E27FC236}">
                      <a16:creationId xmlns:a16="http://schemas.microsoft.com/office/drawing/2014/main" id="{6D32C78C-05DA-439E-A7FE-8FB7A087D5F5}"/>
                    </a:ext>
                  </a:extLst>
                </p:cNvPr>
                <p:cNvSpPr>
                  <a:spLocks noChangeArrowheads="1"/>
                </p:cNvSpPr>
                <p:nvPr/>
              </p:nvSpPr>
              <p:spPr bwMode="auto">
                <a:xfrm>
                  <a:off x="1950491" y="2136787"/>
                  <a:ext cx="417825" cy="363520"/>
                </a:xfrm>
                <a:prstGeom prst="flowChartDelay">
                  <a:avLst/>
                </a:prstGeom>
                <a:solidFill>
                  <a:srgbClr val="FFFFFF"/>
                </a:solidFill>
                <a:ln w="19050">
                  <a:solidFill>
                    <a:srgbClr val="000000"/>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sp>
              <p:nvSpPr>
                <p:cNvPr id="70" name="TextBox 34">
                  <a:extLst>
                    <a:ext uri="{FF2B5EF4-FFF2-40B4-BE49-F238E27FC236}">
                      <a16:creationId xmlns:a16="http://schemas.microsoft.com/office/drawing/2014/main" id="{A9D9468D-E0B1-4174-848C-4621C1C2FE54}"/>
                    </a:ext>
                  </a:extLst>
                </p:cNvPr>
                <p:cNvSpPr txBox="1"/>
                <p:nvPr/>
              </p:nvSpPr>
              <p:spPr>
                <a:xfrm>
                  <a:off x="1071538" y="1988086"/>
                  <a:ext cx="500065" cy="368117"/>
                </a:xfrm>
                <a:prstGeom prst="rect">
                  <a:avLst/>
                </a:prstGeom>
                <a:noFill/>
              </p:spPr>
              <p:txBody>
                <a:bodyPr>
                  <a:spAutoFit/>
                </a:bodyPr>
                <a:lstStyle/>
                <a:p>
                  <a:pPr>
                    <a:defRPr/>
                  </a:pPr>
                  <a:r>
                    <a:rPr lang="en-US" altLang="zh-CN" b="1" i="1" dirty="0">
                      <a:solidFill>
                        <a:schemeClr val="tx1"/>
                      </a:solidFill>
                      <a:latin typeface="+mn-lt"/>
                    </a:rPr>
                    <a:t>x</a:t>
                  </a:r>
                  <a:endParaRPr lang="zh-CN" altLang="en-US" b="1" i="1" dirty="0">
                    <a:solidFill>
                      <a:schemeClr val="tx1"/>
                    </a:solidFill>
                    <a:latin typeface="+mn-lt"/>
                  </a:endParaRPr>
                </a:p>
              </p:txBody>
            </p:sp>
            <p:sp>
              <p:nvSpPr>
                <p:cNvPr id="71" name="TextBox 37">
                  <a:extLst>
                    <a:ext uri="{FF2B5EF4-FFF2-40B4-BE49-F238E27FC236}">
                      <a16:creationId xmlns:a16="http://schemas.microsoft.com/office/drawing/2014/main" id="{DFCF4788-D24C-49C5-B9CB-6C6BF63D376D}"/>
                    </a:ext>
                  </a:extLst>
                </p:cNvPr>
                <p:cNvSpPr txBox="1"/>
                <p:nvPr/>
              </p:nvSpPr>
              <p:spPr>
                <a:xfrm>
                  <a:off x="1071538" y="2143584"/>
                  <a:ext cx="500065" cy="368117"/>
                </a:xfrm>
                <a:prstGeom prst="rect">
                  <a:avLst/>
                </a:prstGeom>
                <a:noFill/>
              </p:spPr>
              <p:txBody>
                <a:bodyPr>
                  <a:spAutoFit/>
                </a:bodyPr>
                <a:lstStyle/>
                <a:p>
                  <a:pPr>
                    <a:defRPr/>
                  </a:pPr>
                  <a:r>
                    <a:rPr lang="en-US" altLang="zh-CN" b="1" i="1" dirty="0">
                      <a:solidFill>
                        <a:schemeClr val="tx1"/>
                      </a:solidFill>
                      <a:latin typeface="+mn-lt"/>
                    </a:rPr>
                    <a:t>y</a:t>
                  </a:r>
                  <a:endParaRPr lang="zh-CN" altLang="en-US" b="1" i="1" dirty="0">
                    <a:solidFill>
                      <a:schemeClr val="tx1"/>
                    </a:solidFill>
                    <a:latin typeface="+mn-lt"/>
                  </a:endParaRPr>
                </a:p>
              </p:txBody>
            </p:sp>
            <p:sp>
              <p:nvSpPr>
                <p:cNvPr id="72" name="TextBox 39">
                  <a:extLst>
                    <a:ext uri="{FF2B5EF4-FFF2-40B4-BE49-F238E27FC236}">
                      <a16:creationId xmlns:a16="http://schemas.microsoft.com/office/drawing/2014/main" id="{CA80A24F-2C7A-4D6B-9EB0-D62F9323B74C}"/>
                    </a:ext>
                  </a:extLst>
                </p:cNvPr>
                <p:cNvSpPr txBox="1"/>
                <p:nvPr/>
              </p:nvSpPr>
              <p:spPr>
                <a:xfrm>
                  <a:off x="2357422" y="1916685"/>
                  <a:ext cx="714380" cy="368117"/>
                </a:xfrm>
                <a:prstGeom prst="rect">
                  <a:avLst/>
                </a:prstGeom>
                <a:noFill/>
              </p:spPr>
              <p:txBody>
                <a:bodyPr>
                  <a:spAutoFit/>
                </a:bodyPr>
                <a:lstStyle/>
                <a:p>
                  <a:pPr>
                    <a:defRPr/>
                  </a:pPr>
                  <a:r>
                    <a:rPr lang="en-US" altLang="zh-CN" b="1" i="1" dirty="0" err="1">
                      <a:solidFill>
                        <a:schemeClr val="tx1"/>
                      </a:solidFill>
                      <a:latin typeface="+mn-lt"/>
                    </a:rPr>
                    <a:t>x</a:t>
                  </a:r>
                  <a:r>
                    <a:rPr lang="en-US" altLang="zh-CN" b="1" dirty="0" err="1">
                      <a:solidFill>
                        <a:schemeClr val="tx1"/>
                      </a:solidFill>
                      <a:latin typeface="+mn-lt"/>
                      <a:sym typeface="Symbol"/>
                    </a:rPr>
                    <a:t></a:t>
                  </a:r>
                  <a:r>
                    <a:rPr lang="en-US" altLang="zh-CN" b="1" i="1" dirty="0" err="1">
                      <a:solidFill>
                        <a:schemeClr val="tx1"/>
                      </a:solidFill>
                      <a:latin typeface="+mn-lt"/>
                    </a:rPr>
                    <a:t>y</a:t>
                  </a:r>
                  <a:endParaRPr lang="zh-CN" altLang="en-US" b="1" i="1" dirty="0">
                    <a:solidFill>
                      <a:schemeClr val="tx1"/>
                    </a:solidFill>
                    <a:latin typeface="+mn-lt"/>
                  </a:endParaRPr>
                </a:p>
              </p:txBody>
            </p:sp>
          </p:grpSp>
          <p:sp>
            <p:nvSpPr>
              <p:cNvPr id="68" name="TextBox 45">
                <a:extLst>
                  <a:ext uri="{FF2B5EF4-FFF2-40B4-BE49-F238E27FC236}">
                    <a16:creationId xmlns:a16="http://schemas.microsoft.com/office/drawing/2014/main" id="{E944CBE4-DDD3-4665-AC8F-8BB8B9C30900}"/>
                  </a:ext>
                </a:extLst>
              </p:cNvPr>
              <p:cNvSpPr txBox="1"/>
              <p:nvPr/>
            </p:nvSpPr>
            <p:spPr bwMode="auto">
              <a:xfrm>
                <a:off x="2970747" y="1530727"/>
                <a:ext cx="714375" cy="400110"/>
              </a:xfrm>
              <a:prstGeom prst="rect">
                <a:avLst/>
              </a:prstGeom>
              <a:noFill/>
            </p:spPr>
            <p:txBody>
              <a:bodyPr>
                <a:spAutoFit/>
              </a:bodyPr>
              <a:lstStyle/>
              <a:p>
                <a:pPr algn="ctr">
                  <a:defRPr/>
                </a:pPr>
                <a:r>
                  <a:rPr lang="en-US" altLang="zh-CN" sz="2000" b="1" dirty="0">
                    <a:solidFill>
                      <a:schemeClr val="tx1"/>
                    </a:solidFill>
                    <a:latin typeface="Trebuchet MS" panose="020B0603020202020204" pitchFamily="34" charset="0"/>
                  </a:rPr>
                  <a:t>And</a:t>
                </a:r>
                <a:endParaRPr lang="zh-CN" altLang="en-US" sz="2000" b="1" dirty="0">
                  <a:solidFill>
                    <a:schemeClr val="tx1"/>
                  </a:solidFill>
                  <a:latin typeface="Trebuchet MS" panose="020B0603020202020204" pitchFamily="34" charset="0"/>
                </a:endParaRPr>
              </a:p>
            </p:txBody>
          </p:sp>
        </p:grpSp>
        <p:grpSp>
          <p:nvGrpSpPr>
            <p:cNvPr id="50" name="组合 49">
              <a:extLst>
                <a:ext uri="{FF2B5EF4-FFF2-40B4-BE49-F238E27FC236}">
                  <a16:creationId xmlns:a16="http://schemas.microsoft.com/office/drawing/2014/main" id="{BC31517F-2411-4DDC-AF52-1FE9100FE290}"/>
                </a:ext>
              </a:extLst>
            </p:cNvPr>
            <p:cNvGrpSpPr/>
            <p:nvPr/>
          </p:nvGrpSpPr>
          <p:grpSpPr>
            <a:xfrm>
              <a:off x="4529137" y="975635"/>
              <a:ext cx="4286252" cy="935625"/>
              <a:chOff x="4529137" y="975635"/>
              <a:chExt cx="4286252" cy="935625"/>
            </a:xfrm>
          </p:grpSpPr>
          <p:grpSp>
            <p:nvGrpSpPr>
              <p:cNvPr id="51" name="组合 43">
                <a:extLst>
                  <a:ext uri="{FF2B5EF4-FFF2-40B4-BE49-F238E27FC236}">
                    <a16:creationId xmlns:a16="http://schemas.microsoft.com/office/drawing/2014/main" id="{5C5E4BB4-E42B-4788-885D-DB1FDCC3C9BC}"/>
                  </a:ext>
                </a:extLst>
              </p:cNvPr>
              <p:cNvGrpSpPr>
                <a:grpSpLocks/>
              </p:cNvGrpSpPr>
              <p:nvPr/>
            </p:nvGrpSpPr>
            <p:grpSpPr bwMode="auto">
              <a:xfrm>
                <a:off x="4529137" y="975635"/>
                <a:ext cx="2000248" cy="668339"/>
                <a:chOff x="3786182" y="1996061"/>
                <a:chExt cx="2000262" cy="668004"/>
              </a:xfrm>
            </p:grpSpPr>
            <p:sp>
              <p:nvSpPr>
                <p:cNvPr id="63" name="AutoShape 12">
                  <a:extLst>
                    <a:ext uri="{FF2B5EF4-FFF2-40B4-BE49-F238E27FC236}">
                      <a16:creationId xmlns:a16="http://schemas.microsoft.com/office/drawing/2014/main" id="{FB0893AF-E8F7-4C30-83AA-727544B2E2A3}"/>
                    </a:ext>
                  </a:extLst>
                </p:cNvPr>
                <p:cNvSpPr>
                  <a:spLocks noChangeArrowheads="1"/>
                </p:cNvSpPr>
                <p:nvPr/>
              </p:nvSpPr>
              <p:spPr bwMode="auto">
                <a:xfrm flipH="1">
                  <a:off x="4623631" y="2211980"/>
                  <a:ext cx="565292" cy="360807"/>
                </a:xfrm>
                <a:prstGeom prst="flowChartOnlineStorage">
                  <a:avLst/>
                </a:prstGeom>
                <a:solidFill>
                  <a:srgbClr val="FFFFFF"/>
                </a:solidFill>
                <a:ln w="19050">
                  <a:solidFill>
                    <a:srgbClr val="000000"/>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sp>
              <p:nvSpPr>
                <p:cNvPr id="64" name="TextBox 35">
                  <a:extLst>
                    <a:ext uri="{FF2B5EF4-FFF2-40B4-BE49-F238E27FC236}">
                      <a16:creationId xmlns:a16="http://schemas.microsoft.com/office/drawing/2014/main" id="{242EF42D-85ED-45FB-B94C-6810F7F87F8E}"/>
                    </a:ext>
                  </a:extLst>
                </p:cNvPr>
                <p:cNvSpPr txBox="1"/>
                <p:nvPr/>
              </p:nvSpPr>
              <p:spPr>
                <a:xfrm>
                  <a:off x="3786182" y="2140451"/>
                  <a:ext cx="500065" cy="368116"/>
                </a:xfrm>
                <a:prstGeom prst="rect">
                  <a:avLst/>
                </a:prstGeom>
                <a:noFill/>
              </p:spPr>
              <p:txBody>
                <a:bodyPr>
                  <a:spAutoFit/>
                </a:bodyPr>
                <a:lstStyle/>
                <a:p>
                  <a:pPr>
                    <a:defRPr/>
                  </a:pPr>
                  <a:r>
                    <a:rPr lang="en-US" altLang="zh-CN" b="1" i="1" dirty="0">
                      <a:solidFill>
                        <a:schemeClr val="tx1"/>
                      </a:solidFill>
                      <a:latin typeface="+mn-lt"/>
                    </a:rPr>
                    <a:t>x</a:t>
                  </a:r>
                  <a:endParaRPr lang="zh-CN" altLang="en-US" b="1" i="1" dirty="0">
                    <a:solidFill>
                      <a:schemeClr val="tx1"/>
                    </a:solidFill>
                    <a:latin typeface="+mn-lt"/>
                  </a:endParaRPr>
                </a:p>
              </p:txBody>
            </p:sp>
            <p:sp>
              <p:nvSpPr>
                <p:cNvPr id="65" name="TextBox 38">
                  <a:extLst>
                    <a:ext uri="{FF2B5EF4-FFF2-40B4-BE49-F238E27FC236}">
                      <a16:creationId xmlns:a16="http://schemas.microsoft.com/office/drawing/2014/main" id="{23C4301C-E8C1-45DD-9A5A-26A89834BB1A}"/>
                    </a:ext>
                  </a:extLst>
                </p:cNvPr>
                <p:cNvSpPr txBox="1"/>
                <p:nvPr/>
              </p:nvSpPr>
              <p:spPr>
                <a:xfrm>
                  <a:off x="3786182" y="2295949"/>
                  <a:ext cx="500065" cy="368116"/>
                </a:xfrm>
                <a:prstGeom prst="rect">
                  <a:avLst/>
                </a:prstGeom>
                <a:noFill/>
              </p:spPr>
              <p:txBody>
                <a:bodyPr>
                  <a:spAutoFit/>
                </a:bodyPr>
                <a:lstStyle/>
                <a:p>
                  <a:pPr>
                    <a:defRPr/>
                  </a:pPr>
                  <a:r>
                    <a:rPr lang="en-US" altLang="zh-CN" b="1" i="1" dirty="0">
                      <a:solidFill>
                        <a:schemeClr val="tx1"/>
                      </a:solidFill>
                      <a:latin typeface="+mn-lt"/>
                    </a:rPr>
                    <a:t>y</a:t>
                  </a:r>
                  <a:endParaRPr lang="zh-CN" altLang="en-US" b="1" i="1" dirty="0">
                    <a:solidFill>
                      <a:schemeClr val="tx1"/>
                    </a:solidFill>
                    <a:latin typeface="+mn-lt"/>
                  </a:endParaRPr>
                </a:p>
              </p:txBody>
            </p:sp>
            <p:sp>
              <p:nvSpPr>
                <p:cNvPr id="66" name="TextBox 40">
                  <a:extLst>
                    <a:ext uri="{FF2B5EF4-FFF2-40B4-BE49-F238E27FC236}">
                      <a16:creationId xmlns:a16="http://schemas.microsoft.com/office/drawing/2014/main" id="{15C6B7FF-D295-4E3E-A4D4-693799071232}"/>
                    </a:ext>
                  </a:extLst>
                </p:cNvPr>
                <p:cNvSpPr txBox="1"/>
                <p:nvPr/>
              </p:nvSpPr>
              <p:spPr>
                <a:xfrm>
                  <a:off x="5143502" y="1996061"/>
                  <a:ext cx="642942" cy="369147"/>
                </a:xfrm>
                <a:prstGeom prst="rect">
                  <a:avLst/>
                </a:prstGeom>
                <a:noFill/>
              </p:spPr>
              <p:txBody>
                <a:bodyPr wrap="square">
                  <a:spAutoFit/>
                </a:bodyPr>
                <a:lstStyle/>
                <a:p>
                  <a:pPr algn="ctr">
                    <a:defRPr/>
                  </a:pPr>
                  <a:r>
                    <a:rPr lang="en-US" altLang="zh-CN" b="1" i="1" dirty="0" err="1">
                      <a:solidFill>
                        <a:schemeClr val="tx1"/>
                      </a:solidFill>
                      <a:latin typeface="+mn-lt"/>
                    </a:rPr>
                    <a:t>x</a:t>
                  </a:r>
                  <a:r>
                    <a:rPr lang="en-US" altLang="zh-CN" b="1" dirty="0" err="1">
                      <a:solidFill>
                        <a:schemeClr val="tx1"/>
                      </a:solidFill>
                      <a:latin typeface="+mn-lt"/>
                      <a:sym typeface="Symbol"/>
                    </a:rPr>
                    <a:t></a:t>
                  </a:r>
                  <a:r>
                    <a:rPr lang="en-US" altLang="zh-CN" b="1" i="1" dirty="0" err="1">
                      <a:solidFill>
                        <a:schemeClr val="tx1"/>
                      </a:solidFill>
                      <a:latin typeface="+mn-lt"/>
                    </a:rPr>
                    <a:t>y</a:t>
                  </a:r>
                  <a:endParaRPr lang="zh-CN" altLang="en-US" b="1" i="1" dirty="0">
                    <a:solidFill>
                      <a:schemeClr val="tx1"/>
                    </a:solidFill>
                    <a:latin typeface="+mn-lt"/>
                  </a:endParaRPr>
                </a:p>
              </p:txBody>
            </p:sp>
          </p:grpSp>
          <p:grpSp>
            <p:nvGrpSpPr>
              <p:cNvPr id="52" name="组合 42">
                <a:extLst>
                  <a:ext uri="{FF2B5EF4-FFF2-40B4-BE49-F238E27FC236}">
                    <a16:creationId xmlns:a16="http://schemas.microsoft.com/office/drawing/2014/main" id="{77BF3808-AC94-4C9E-A045-C15AC4C3EB52}"/>
                  </a:ext>
                </a:extLst>
              </p:cNvPr>
              <p:cNvGrpSpPr>
                <a:grpSpLocks/>
              </p:cNvGrpSpPr>
              <p:nvPr/>
            </p:nvGrpSpPr>
            <p:grpSpPr bwMode="auto">
              <a:xfrm>
                <a:off x="6886575" y="1048660"/>
                <a:ext cx="1928814" cy="571802"/>
                <a:chOff x="6357949" y="1714477"/>
                <a:chExt cx="1928827" cy="571515"/>
              </a:xfrm>
            </p:grpSpPr>
            <p:grpSp>
              <p:nvGrpSpPr>
                <p:cNvPr id="55" name="组合 33">
                  <a:extLst>
                    <a:ext uri="{FF2B5EF4-FFF2-40B4-BE49-F238E27FC236}">
                      <a16:creationId xmlns:a16="http://schemas.microsoft.com/office/drawing/2014/main" id="{172EF9FB-F438-4380-B5AF-6F2C08E147B9}"/>
                    </a:ext>
                  </a:extLst>
                </p:cNvPr>
                <p:cNvGrpSpPr>
                  <a:grpSpLocks/>
                </p:cNvGrpSpPr>
                <p:nvPr/>
              </p:nvGrpSpPr>
              <p:grpSpPr bwMode="auto">
                <a:xfrm>
                  <a:off x="6660816" y="1861885"/>
                  <a:ext cx="1512179" cy="424107"/>
                  <a:chOff x="6660816" y="1861885"/>
                  <a:chExt cx="1512179" cy="424107"/>
                </a:xfrm>
              </p:grpSpPr>
              <p:grpSp>
                <p:nvGrpSpPr>
                  <p:cNvPr id="58" name="Group 20">
                    <a:extLst>
                      <a:ext uri="{FF2B5EF4-FFF2-40B4-BE49-F238E27FC236}">
                        <a16:creationId xmlns:a16="http://schemas.microsoft.com/office/drawing/2014/main" id="{54273D73-F6FB-4FF9-A865-948BA0E06271}"/>
                      </a:ext>
                    </a:extLst>
                  </p:cNvPr>
                  <p:cNvGrpSpPr>
                    <a:grpSpLocks/>
                  </p:cNvGrpSpPr>
                  <p:nvPr/>
                </p:nvGrpSpPr>
                <p:grpSpPr bwMode="auto">
                  <a:xfrm>
                    <a:off x="7215206" y="1861885"/>
                    <a:ext cx="439702" cy="424107"/>
                    <a:chOff x="8047" y="2015"/>
                    <a:chExt cx="302" cy="242"/>
                  </a:xfrm>
                </p:grpSpPr>
                <p:sp>
                  <p:nvSpPr>
                    <p:cNvPr id="61" name="AutoShape 21">
                      <a:extLst>
                        <a:ext uri="{FF2B5EF4-FFF2-40B4-BE49-F238E27FC236}">
                          <a16:creationId xmlns:a16="http://schemas.microsoft.com/office/drawing/2014/main" id="{80C82922-726D-4935-835C-A7335E6E1181}"/>
                        </a:ext>
                      </a:extLst>
                    </p:cNvPr>
                    <p:cNvSpPr>
                      <a:spLocks noChangeArrowheads="1"/>
                    </p:cNvSpPr>
                    <p:nvPr/>
                  </p:nvSpPr>
                  <p:spPr bwMode="auto">
                    <a:xfrm rot="5400000">
                      <a:off x="8041" y="2021"/>
                      <a:ext cx="242" cy="230"/>
                    </a:xfrm>
                    <a:prstGeom prst="triangle">
                      <a:avLst>
                        <a:gd name="adj" fmla="val 50000"/>
                      </a:avLst>
                    </a:prstGeom>
                    <a:solidFill>
                      <a:srgbClr val="FFFFFF"/>
                    </a:solidFill>
                    <a:ln w="12700">
                      <a:solidFill>
                        <a:srgbClr val="000000"/>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sp>
                  <p:nvSpPr>
                    <p:cNvPr id="62" name="Oval 22">
                      <a:extLst>
                        <a:ext uri="{FF2B5EF4-FFF2-40B4-BE49-F238E27FC236}">
                          <a16:creationId xmlns:a16="http://schemas.microsoft.com/office/drawing/2014/main" id="{7D24BD7E-5BE0-41E8-8726-A9CF2805AA57}"/>
                        </a:ext>
                      </a:extLst>
                    </p:cNvPr>
                    <p:cNvSpPr>
                      <a:spLocks noChangeArrowheads="1"/>
                    </p:cNvSpPr>
                    <p:nvPr/>
                  </p:nvSpPr>
                  <p:spPr bwMode="auto">
                    <a:xfrm>
                      <a:off x="8268" y="2102"/>
                      <a:ext cx="81" cy="71"/>
                    </a:xfrm>
                    <a:prstGeom prst="ellipse">
                      <a:avLst/>
                    </a:prstGeom>
                    <a:solidFill>
                      <a:srgbClr val="FFFFFF"/>
                    </a:solidFill>
                    <a:ln w="12700">
                      <a:solidFill>
                        <a:srgbClr val="000000"/>
                      </a:solidFill>
                      <a:round/>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grpSp>
              <p:cxnSp>
                <p:nvCxnSpPr>
                  <p:cNvPr id="59" name="AutoShape 23">
                    <a:extLst>
                      <a:ext uri="{FF2B5EF4-FFF2-40B4-BE49-F238E27FC236}">
                        <a16:creationId xmlns:a16="http://schemas.microsoft.com/office/drawing/2014/main" id="{BCB20AC0-140D-4ED6-9151-FD911B55B763}"/>
                      </a:ext>
                    </a:extLst>
                  </p:cNvPr>
                  <p:cNvCxnSpPr>
                    <a:cxnSpLocks noChangeShapeType="1"/>
                  </p:cNvCxnSpPr>
                  <p:nvPr/>
                </p:nvCxnSpPr>
                <p:spPr bwMode="auto">
                  <a:xfrm flipV="1">
                    <a:off x="6660816" y="2071678"/>
                    <a:ext cx="580994" cy="1652"/>
                  </a:xfrm>
                  <a:prstGeom prst="straightConnector1">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0" name="AutoShape 24">
                    <a:extLst>
                      <a:ext uri="{FF2B5EF4-FFF2-40B4-BE49-F238E27FC236}">
                        <a16:creationId xmlns:a16="http://schemas.microsoft.com/office/drawing/2014/main" id="{B3DEC2F8-E2D6-4695-AEC9-1F09EFE98FA3}"/>
                      </a:ext>
                    </a:extLst>
                  </p:cNvPr>
                  <p:cNvCxnSpPr>
                    <a:cxnSpLocks noChangeShapeType="1"/>
                  </p:cNvCxnSpPr>
                  <p:nvPr/>
                </p:nvCxnSpPr>
                <p:spPr bwMode="auto">
                  <a:xfrm>
                    <a:off x="7645546" y="2071678"/>
                    <a:ext cx="527449" cy="1652"/>
                  </a:xfrm>
                  <a:prstGeom prst="straightConnector1">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56" name="TextBox 36">
                  <a:extLst>
                    <a:ext uri="{FF2B5EF4-FFF2-40B4-BE49-F238E27FC236}">
                      <a16:creationId xmlns:a16="http://schemas.microsoft.com/office/drawing/2014/main" id="{82568C7A-4A2D-474F-BA8B-D1CFE930720C}"/>
                    </a:ext>
                  </a:extLst>
                </p:cNvPr>
                <p:cNvSpPr txBox="1"/>
                <p:nvPr/>
              </p:nvSpPr>
              <p:spPr>
                <a:xfrm>
                  <a:off x="6357949" y="1857281"/>
                  <a:ext cx="500066" cy="369704"/>
                </a:xfrm>
                <a:prstGeom prst="rect">
                  <a:avLst/>
                </a:prstGeom>
                <a:noFill/>
              </p:spPr>
              <p:txBody>
                <a:bodyPr>
                  <a:spAutoFit/>
                </a:bodyPr>
                <a:lstStyle/>
                <a:p>
                  <a:pPr>
                    <a:defRPr/>
                  </a:pPr>
                  <a:r>
                    <a:rPr lang="en-US" altLang="zh-CN" b="1" i="1" dirty="0">
                      <a:solidFill>
                        <a:schemeClr val="tx1"/>
                      </a:solidFill>
                      <a:latin typeface="+mn-lt"/>
                    </a:rPr>
                    <a:t>x</a:t>
                  </a:r>
                  <a:endParaRPr lang="zh-CN" altLang="en-US" b="1" i="1" dirty="0">
                    <a:solidFill>
                      <a:schemeClr val="tx1"/>
                    </a:solidFill>
                    <a:latin typeface="+mn-lt"/>
                  </a:endParaRPr>
                </a:p>
              </p:txBody>
            </p:sp>
            <p:sp>
              <p:nvSpPr>
                <p:cNvPr id="57" name="TextBox 41">
                  <a:extLst>
                    <a:ext uri="{FF2B5EF4-FFF2-40B4-BE49-F238E27FC236}">
                      <a16:creationId xmlns:a16="http://schemas.microsoft.com/office/drawing/2014/main" id="{AFE19028-EC09-40B7-9AA9-20A4BF49C03D}"/>
                    </a:ext>
                  </a:extLst>
                </p:cNvPr>
                <p:cNvSpPr txBox="1"/>
                <p:nvPr/>
              </p:nvSpPr>
              <p:spPr>
                <a:xfrm>
                  <a:off x="7764484" y="1714477"/>
                  <a:ext cx="522292" cy="369147"/>
                </a:xfrm>
                <a:prstGeom prst="rect">
                  <a:avLst/>
                </a:prstGeom>
                <a:noFill/>
              </p:spPr>
              <p:txBody>
                <a:bodyPr wrap="square">
                  <a:spAutoFit/>
                </a:bodyPr>
                <a:lstStyle/>
                <a:p>
                  <a:pPr>
                    <a:defRPr/>
                  </a:pPr>
                  <a:r>
                    <a:rPr lang="en-US" altLang="zh-CN" b="1" i="1" dirty="0">
                      <a:solidFill>
                        <a:schemeClr val="tx1"/>
                      </a:solidFill>
                      <a:latin typeface="+mn-lt"/>
                      <a:sym typeface="Symbol"/>
                    </a:rPr>
                    <a:t></a:t>
                  </a:r>
                  <a:r>
                    <a:rPr lang="en-US" altLang="zh-CN" b="1" i="1" dirty="0">
                      <a:solidFill>
                        <a:schemeClr val="tx1"/>
                      </a:solidFill>
                      <a:latin typeface="+mn-lt"/>
                    </a:rPr>
                    <a:t>x</a:t>
                  </a:r>
                  <a:endParaRPr lang="zh-CN" altLang="en-US" b="1" i="1" dirty="0">
                    <a:solidFill>
                      <a:schemeClr val="tx1"/>
                    </a:solidFill>
                    <a:latin typeface="+mn-lt"/>
                  </a:endParaRPr>
                </a:p>
              </p:txBody>
            </p:sp>
          </p:grpSp>
          <p:sp>
            <p:nvSpPr>
              <p:cNvPr id="53" name="TextBox 46">
                <a:extLst>
                  <a:ext uri="{FF2B5EF4-FFF2-40B4-BE49-F238E27FC236}">
                    <a16:creationId xmlns:a16="http://schemas.microsoft.com/office/drawing/2014/main" id="{4E9B5036-7B0C-47A7-8680-522D9BF43E91}"/>
                  </a:ext>
                </a:extLst>
              </p:cNvPr>
              <p:cNvSpPr txBox="1"/>
              <p:nvPr/>
            </p:nvSpPr>
            <p:spPr bwMode="auto">
              <a:xfrm>
                <a:off x="5243513" y="1488395"/>
                <a:ext cx="714375" cy="400110"/>
              </a:xfrm>
              <a:prstGeom prst="rect">
                <a:avLst/>
              </a:prstGeom>
              <a:noFill/>
            </p:spPr>
            <p:txBody>
              <a:bodyPr>
                <a:spAutoFit/>
              </a:bodyPr>
              <a:lstStyle/>
              <a:p>
                <a:pPr algn="ctr">
                  <a:defRPr/>
                </a:pPr>
                <a:r>
                  <a:rPr lang="en-US" altLang="zh-CN" sz="2000" b="1" dirty="0">
                    <a:solidFill>
                      <a:schemeClr val="tx1"/>
                    </a:solidFill>
                    <a:latin typeface="Trebuchet MS" panose="020B0603020202020204" pitchFamily="34" charset="0"/>
                  </a:rPr>
                  <a:t>OR</a:t>
                </a:r>
                <a:endParaRPr lang="zh-CN" altLang="en-US" sz="2000" b="1" dirty="0">
                  <a:solidFill>
                    <a:schemeClr val="tx1"/>
                  </a:solidFill>
                  <a:latin typeface="Trebuchet MS" panose="020B0603020202020204" pitchFamily="34" charset="0"/>
                </a:endParaRPr>
              </a:p>
            </p:txBody>
          </p:sp>
          <p:sp>
            <p:nvSpPr>
              <p:cNvPr id="54" name="TextBox 47">
                <a:extLst>
                  <a:ext uri="{FF2B5EF4-FFF2-40B4-BE49-F238E27FC236}">
                    <a16:creationId xmlns:a16="http://schemas.microsoft.com/office/drawing/2014/main" id="{17E87717-0E8E-4F54-A556-F260A7879678}"/>
                  </a:ext>
                </a:extLst>
              </p:cNvPr>
              <p:cNvSpPr txBox="1"/>
              <p:nvPr/>
            </p:nvSpPr>
            <p:spPr bwMode="auto">
              <a:xfrm>
                <a:off x="7691438" y="1511150"/>
                <a:ext cx="714375" cy="400110"/>
              </a:xfrm>
              <a:prstGeom prst="rect">
                <a:avLst/>
              </a:prstGeom>
              <a:noFill/>
            </p:spPr>
            <p:txBody>
              <a:bodyPr>
                <a:spAutoFit/>
              </a:bodyPr>
              <a:lstStyle/>
              <a:p>
                <a:pPr algn="ctr">
                  <a:defRPr/>
                </a:pPr>
                <a:r>
                  <a:rPr lang="en-US" altLang="zh-CN" sz="2000" b="1" dirty="0">
                    <a:solidFill>
                      <a:schemeClr val="tx1"/>
                    </a:solidFill>
                    <a:latin typeface="Trebuchet MS" panose="020B0603020202020204" pitchFamily="34" charset="0"/>
                  </a:rPr>
                  <a:t>NOT</a:t>
                </a:r>
                <a:endParaRPr lang="zh-CN" altLang="en-US" sz="2000" b="1" dirty="0">
                  <a:solidFill>
                    <a:schemeClr val="tx1"/>
                  </a:solidFill>
                  <a:latin typeface="Trebuchet MS" panose="020B0603020202020204" pitchFamily="34" charset="0"/>
                </a:endParaRPr>
              </a:p>
            </p:txBody>
          </p:sp>
        </p:grpSp>
      </p:grpSp>
      <p:cxnSp>
        <p:nvCxnSpPr>
          <p:cNvPr id="73" name="直接箭头连接符 58">
            <a:extLst>
              <a:ext uri="{FF2B5EF4-FFF2-40B4-BE49-F238E27FC236}">
                <a16:creationId xmlns:a16="http://schemas.microsoft.com/office/drawing/2014/main" id="{FCE1986D-1031-4901-A744-E9EB2F58DA37}"/>
              </a:ext>
            </a:extLst>
          </p:cNvPr>
          <p:cNvCxnSpPr>
            <a:cxnSpLocks noChangeShapeType="1"/>
          </p:cNvCxnSpPr>
          <p:nvPr/>
        </p:nvCxnSpPr>
        <p:spPr bwMode="auto">
          <a:xfrm>
            <a:off x="5915818" y="2398937"/>
            <a:ext cx="523876" cy="0"/>
          </a:xfrm>
          <a:prstGeom prst="straightConnector1">
            <a:avLst/>
          </a:prstGeom>
          <a:noFill/>
          <a:ln w="158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4" name="直接箭头连接符 60">
            <a:extLst>
              <a:ext uri="{FF2B5EF4-FFF2-40B4-BE49-F238E27FC236}">
                <a16:creationId xmlns:a16="http://schemas.microsoft.com/office/drawing/2014/main" id="{38A1B7FD-F6DF-4588-8DC8-19A90CD427BB}"/>
              </a:ext>
            </a:extLst>
          </p:cNvPr>
          <p:cNvCxnSpPr>
            <a:cxnSpLocks noChangeShapeType="1"/>
          </p:cNvCxnSpPr>
          <p:nvPr/>
        </p:nvCxnSpPr>
        <p:spPr bwMode="auto">
          <a:xfrm>
            <a:off x="4921250" y="2314800"/>
            <a:ext cx="512763" cy="7937"/>
          </a:xfrm>
          <a:prstGeom prst="straightConnector1">
            <a:avLst/>
          </a:prstGeom>
          <a:noFill/>
          <a:ln w="158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 name="直接箭头连接符 62">
            <a:extLst>
              <a:ext uri="{FF2B5EF4-FFF2-40B4-BE49-F238E27FC236}">
                <a16:creationId xmlns:a16="http://schemas.microsoft.com/office/drawing/2014/main" id="{DBEBFD87-A863-467C-8952-778412D82DC5}"/>
              </a:ext>
            </a:extLst>
          </p:cNvPr>
          <p:cNvCxnSpPr>
            <a:cxnSpLocks noChangeShapeType="1"/>
          </p:cNvCxnSpPr>
          <p:nvPr/>
        </p:nvCxnSpPr>
        <p:spPr bwMode="auto">
          <a:xfrm>
            <a:off x="2617788" y="2494187"/>
            <a:ext cx="503237" cy="0"/>
          </a:xfrm>
          <a:prstGeom prst="straightConnector1">
            <a:avLst/>
          </a:prstGeom>
          <a:noFill/>
          <a:ln w="158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6" name="直接箭头连接符 69">
            <a:extLst>
              <a:ext uri="{FF2B5EF4-FFF2-40B4-BE49-F238E27FC236}">
                <a16:creationId xmlns:a16="http://schemas.microsoft.com/office/drawing/2014/main" id="{58AAC8FE-8665-401F-BB44-3036AB2A5257}"/>
              </a:ext>
            </a:extLst>
          </p:cNvPr>
          <p:cNvCxnSpPr>
            <a:cxnSpLocks noChangeShapeType="1"/>
          </p:cNvCxnSpPr>
          <p:nvPr/>
        </p:nvCxnSpPr>
        <p:spPr bwMode="auto">
          <a:xfrm>
            <a:off x="3544888" y="2386237"/>
            <a:ext cx="503237" cy="0"/>
          </a:xfrm>
          <a:prstGeom prst="straightConnector1">
            <a:avLst/>
          </a:prstGeom>
          <a:noFill/>
          <a:ln w="158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7" name="直接箭头连接符 71">
            <a:extLst>
              <a:ext uri="{FF2B5EF4-FFF2-40B4-BE49-F238E27FC236}">
                <a16:creationId xmlns:a16="http://schemas.microsoft.com/office/drawing/2014/main" id="{14050E04-A3AA-4775-B798-788C034EDE47}"/>
              </a:ext>
            </a:extLst>
          </p:cNvPr>
          <p:cNvCxnSpPr>
            <a:cxnSpLocks noChangeShapeType="1"/>
          </p:cNvCxnSpPr>
          <p:nvPr/>
        </p:nvCxnSpPr>
        <p:spPr bwMode="auto">
          <a:xfrm>
            <a:off x="2617788" y="2314800"/>
            <a:ext cx="503237" cy="0"/>
          </a:xfrm>
          <a:prstGeom prst="straightConnector1">
            <a:avLst/>
          </a:prstGeom>
          <a:noFill/>
          <a:ln w="158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 name="直接箭头连接符 60">
            <a:extLst>
              <a:ext uri="{FF2B5EF4-FFF2-40B4-BE49-F238E27FC236}">
                <a16:creationId xmlns:a16="http://schemas.microsoft.com/office/drawing/2014/main" id="{61C6761D-3842-482B-AD96-CA1B6CB9F02F}"/>
              </a:ext>
            </a:extLst>
          </p:cNvPr>
          <p:cNvCxnSpPr>
            <a:cxnSpLocks noChangeShapeType="1"/>
          </p:cNvCxnSpPr>
          <p:nvPr/>
        </p:nvCxnSpPr>
        <p:spPr bwMode="auto">
          <a:xfrm>
            <a:off x="4921250" y="2467200"/>
            <a:ext cx="512763" cy="7937"/>
          </a:xfrm>
          <a:prstGeom prst="straightConnector1">
            <a:avLst/>
          </a:prstGeom>
          <a:noFill/>
          <a:ln w="15875" algn="ctr">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166938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000"/>
                                        <p:tgtEl>
                                          <p:spTgt spid="9">
                                            <p:txEl>
                                              <p:pRg st="3" end="3"/>
                                            </p:txEl>
                                          </p:spTgt>
                                        </p:tgtEl>
                                      </p:cBhvr>
                                    </p:animEffect>
                                    <p:anim calcmode="lin" valueType="num">
                                      <p:cBhvr>
                                        <p:cTn id="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fade">
                                      <p:cBhvr>
                                        <p:cTn id="12" dur="1000"/>
                                        <p:tgtEl>
                                          <p:spTgt spid="9">
                                            <p:txEl>
                                              <p:pRg st="4" end="4"/>
                                            </p:txEl>
                                          </p:spTgt>
                                        </p:tgtEl>
                                      </p:cBhvr>
                                    </p:animEffect>
                                    <p:anim calcmode="lin" valueType="num">
                                      <p:cBhvr>
                                        <p:cTn id="1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animEffect transition="in" filter="fade">
                                      <p:cBhvr>
                                        <p:cTn id="17" dur="1000"/>
                                        <p:tgtEl>
                                          <p:spTgt spid="9">
                                            <p:txEl>
                                              <p:pRg st="5" end="5"/>
                                            </p:txEl>
                                          </p:spTgt>
                                        </p:tgtEl>
                                      </p:cBhvr>
                                    </p:animEffect>
                                    <p:anim calcmode="lin" valueType="num">
                                      <p:cBhvr>
                                        <p:cTn id="1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1000"/>
                                        <p:tgtEl>
                                          <p:spTgt spid="9">
                                            <p:txEl>
                                              <p:pRg st="6" end="6"/>
                                            </p:txEl>
                                          </p:spTgt>
                                        </p:tgtEl>
                                      </p:cBhvr>
                                    </p:animEffect>
                                    <p:anim calcmode="lin" valueType="num">
                                      <p:cBhvr>
                                        <p:cTn id="2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9">
                                            <p:txEl>
                                              <p:pRg st="7" end="7"/>
                                            </p:txEl>
                                          </p:spTgt>
                                        </p:tgtEl>
                                        <p:attrNameLst>
                                          <p:attrName>style.visibility</p:attrName>
                                        </p:attrNameLst>
                                      </p:cBhvr>
                                      <p:to>
                                        <p:strVal val="visible"/>
                                      </p:to>
                                    </p:set>
                                    <p:animEffect transition="in" filter="fade">
                                      <p:cBhvr>
                                        <p:cTn id="29" dur="1000"/>
                                        <p:tgtEl>
                                          <p:spTgt spid="9">
                                            <p:txEl>
                                              <p:pRg st="7" end="7"/>
                                            </p:txEl>
                                          </p:spTgt>
                                        </p:tgtEl>
                                      </p:cBhvr>
                                    </p:animEffect>
                                    <p:anim calcmode="lin" valueType="num">
                                      <p:cBhvr>
                                        <p:cTn id="30"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1000"/>
                                        <p:tgtEl>
                                          <p:spTgt spid="37"/>
                                        </p:tgtEl>
                                      </p:cBhvr>
                                    </p:animEffect>
                                    <p:anim calcmode="lin" valueType="num">
                                      <p:cBhvr>
                                        <p:cTn id="37" dur="1000" fill="hold"/>
                                        <p:tgtEl>
                                          <p:spTgt spid="37"/>
                                        </p:tgtEl>
                                        <p:attrNameLst>
                                          <p:attrName>ppt_x</p:attrName>
                                        </p:attrNameLst>
                                      </p:cBhvr>
                                      <p:tavLst>
                                        <p:tav tm="0">
                                          <p:val>
                                            <p:strVal val="#ppt_x"/>
                                          </p:val>
                                        </p:tav>
                                        <p:tav tm="100000">
                                          <p:val>
                                            <p:strVal val="#ppt_x"/>
                                          </p:val>
                                        </p:tav>
                                      </p:tavLst>
                                    </p:anim>
                                    <p:anim calcmode="lin" valueType="num">
                                      <p:cBhvr>
                                        <p:cTn id="3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
                                            <p:txEl>
                                              <p:pRg st="8" end="8"/>
                                            </p:txEl>
                                          </p:spTgt>
                                        </p:tgtEl>
                                        <p:attrNameLst>
                                          <p:attrName>style.visibility</p:attrName>
                                        </p:attrNameLst>
                                      </p:cBhvr>
                                      <p:to>
                                        <p:strVal val="visible"/>
                                      </p:to>
                                    </p:set>
                                    <p:animEffect transition="in" filter="fade">
                                      <p:cBhvr>
                                        <p:cTn id="43" dur="1000"/>
                                        <p:tgtEl>
                                          <p:spTgt spid="9">
                                            <p:txEl>
                                              <p:pRg st="8" end="8"/>
                                            </p:txEl>
                                          </p:spTgt>
                                        </p:tgtEl>
                                      </p:cBhvr>
                                    </p:animEffect>
                                    <p:anim calcmode="lin" valueType="num">
                                      <p:cBhvr>
                                        <p:cTn id="44"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45" dur="1000" fill="hold"/>
                                        <p:tgtEl>
                                          <p:spTgt spid="9">
                                            <p:txEl>
                                              <p:pRg st="8" end="8"/>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9">
                                            <p:txEl>
                                              <p:pRg st="9" end="9"/>
                                            </p:txEl>
                                          </p:spTgt>
                                        </p:tgtEl>
                                        <p:attrNameLst>
                                          <p:attrName>style.visibility</p:attrName>
                                        </p:attrNameLst>
                                      </p:cBhvr>
                                      <p:to>
                                        <p:strVal val="visible"/>
                                      </p:to>
                                    </p:set>
                                    <p:animEffect transition="in" filter="fade">
                                      <p:cBhvr>
                                        <p:cTn id="48" dur="1000"/>
                                        <p:tgtEl>
                                          <p:spTgt spid="9">
                                            <p:txEl>
                                              <p:pRg st="9" end="9"/>
                                            </p:txEl>
                                          </p:spTgt>
                                        </p:tgtEl>
                                      </p:cBhvr>
                                    </p:animEffect>
                                    <p:anim calcmode="lin" valueType="num">
                                      <p:cBhvr>
                                        <p:cTn id="49"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50"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Use PDNF to design a control circuit</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(cont.)</a:t>
            </a:r>
            <a:endParaRPr lang="zh-CN" altLang="en-US" sz="20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1047570"/>
            <a:ext cx="9930406" cy="42914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buFontTx/>
              <a:buNone/>
            </a:pPr>
            <a:endParaRPr lang="en-US" altLang="zh-CN" sz="2800" b="1" dirty="0">
              <a:sym typeface="Symbol" panose="05050102010706020507" pitchFamily="18" charset="2"/>
            </a:endParaRPr>
          </a:p>
          <a:p>
            <a:pPr marL="609600" indent="-609600" eaLnBrk="1" hangingPunct="1">
              <a:buFontTx/>
              <a:buNone/>
            </a:pPr>
            <a:endParaRPr lang="en-US" altLang="zh-CN" b="1" dirty="0">
              <a:sym typeface="Symbol" panose="05050102010706020507" pitchFamily="18" charset="2"/>
            </a:endParaRPr>
          </a:p>
          <a:p>
            <a:pPr marL="609600" indent="-609600" eaLnBrk="1" hangingPunct="1">
              <a:buFontTx/>
              <a:buNone/>
            </a:pPr>
            <a:endParaRPr lang="en-US" altLang="zh-CN" sz="2800" b="1" dirty="0">
              <a:sym typeface="Symbol" panose="05050102010706020507" pitchFamily="18" charset="2"/>
            </a:endParaRPr>
          </a:p>
          <a:p>
            <a:pPr marL="609600" indent="-609600" eaLnBrk="1" hangingPunct="1">
              <a:buFontTx/>
              <a:buNone/>
            </a:pPr>
            <a:endParaRPr lang="en-US" altLang="zh-CN" b="1" dirty="0">
              <a:sym typeface="Symbol" panose="05050102010706020507" pitchFamily="18" charset="2"/>
            </a:endParaRPr>
          </a:p>
          <a:p>
            <a:pPr marL="609600" indent="-609600" eaLnBrk="1" hangingPunct="1">
              <a:buFontTx/>
              <a:buNone/>
            </a:pPr>
            <a:endParaRPr lang="en-US" altLang="zh-CN" sz="2800" b="1" dirty="0">
              <a:sym typeface="Symbol" panose="05050102010706020507" pitchFamily="18" charset="2"/>
            </a:endParaRPr>
          </a:p>
          <a:p>
            <a:pPr marL="609600" indent="-609600" eaLnBrk="1" hangingPunct="1">
              <a:buFontTx/>
              <a:buNone/>
            </a:pPr>
            <a:endParaRPr lang="en-US" altLang="zh-CN" b="1" dirty="0">
              <a:sym typeface="Symbol" panose="05050102010706020507" pitchFamily="18" charset="2"/>
            </a:endParaRPr>
          </a:p>
          <a:p>
            <a:pPr marL="609600" indent="22225" eaLnBrk="1" hangingPunct="1">
              <a:buFontTx/>
              <a:buNone/>
            </a:pPr>
            <a:r>
              <a:rPr lang="en-US" sz="2400" b="0" i="0" dirty="0">
                <a:solidFill>
                  <a:srgbClr val="0C0D0E"/>
                </a:solidFill>
                <a:effectLst/>
                <a:latin typeface="Trebuchet MS" panose="020B0603020202020204" pitchFamily="34" charset="0"/>
              </a:rPr>
              <a:t>If the initial condition is set such that the light turns on (</a:t>
            </a:r>
            <a:r>
              <a:rPr lang="en-US" sz="2400" b="1" i="1" dirty="0">
                <a:solidFill>
                  <a:srgbClr val="0C0D0E"/>
                </a:solidFill>
                <a:effectLst/>
                <a:latin typeface="Trebuchet MS" panose="020B0603020202020204" pitchFamily="34" charset="0"/>
              </a:rPr>
              <a:t>F</a:t>
            </a:r>
            <a:r>
              <a:rPr lang="en-US" sz="2400" b="0" i="0" dirty="0">
                <a:solidFill>
                  <a:srgbClr val="0C0D0E"/>
                </a:solidFill>
                <a:effectLst/>
                <a:latin typeface="Trebuchet MS" panose="020B0603020202020204" pitchFamily="34" charset="0"/>
              </a:rPr>
              <a:t>=1) only when exactly one of </a:t>
            </a:r>
            <a:r>
              <a:rPr lang="en-US" sz="2400" b="1" i="1" dirty="0">
                <a:solidFill>
                  <a:srgbClr val="0C0D0E"/>
                </a:solidFill>
                <a:effectLst/>
                <a:latin typeface="Trebuchet MS" panose="020B0603020202020204" pitchFamily="34" charset="0"/>
              </a:rPr>
              <a:t>x</a:t>
            </a:r>
            <a:r>
              <a:rPr lang="en-US" sz="2400" b="0" i="0" dirty="0">
                <a:solidFill>
                  <a:srgbClr val="0C0D0E"/>
                </a:solidFill>
                <a:effectLst/>
                <a:latin typeface="Trebuchet MS" panose="020B0603020202020204" pitchFamily="34" charset="0"/>
              </a:rPr>
              <a:t> or </a:t>
            </a:r>
            <a:r>
              <a:rPr lang="en-US" sz="2400" b="1" i="1" dirty="0">
                <a:solidFill>
                  <a:srgbClr val="0C0D0E"/>
                </a:solidFill>
                <a:effectLst/>
                <a:latin typeface="Trebuchet MS" panose="020B0603020202020204" pitchFamily="34" charset="0"/>
              </a:rPr>
              <a:t>y</a:t>
            </a:r>
            <a:r>
              <a:rPr lang="en-US" sz="2400" b="0" i="0" dirty="0">
                <a:solidFill>
                  <a:srgbClr val="0C0D0E"/>
                </a:solidFill>
                <a:effectLst/>
                <a:latin typeface="Trebuchet MS" panose="020B0603020202020204" pitchFamily="34" charset="0"/>
              </a:rPr>
              <a:t> is '1', how would the circuit behave?</a:t>
            </a:r>
            <a:endParaRPr lang="zh-CN" altLang="en-US" sz="2400" b="1" dirty="0">
              <a:latin typeface="Trebuchet MS" panose="020B0603020202020204" pitchFamily="34" charset="0"/>
              <a:sym typeface="Symbol" panose="05050102010706020507" pitchFamily="18" charset="2"/>
            </a:endParaRPr>
          </a:p>
        </p:txBody>
      </p:sp>
      <p:grpSp>
        <p:nvGrpSpPr>
          <p:cNvPr id="47" name="组合 34">
            <a:extLst>
              <a:ext uri="{FF2B5EF4-FFF2-40B4-BE49-F238E27FC236}">
                <a16:creationId xmlns:a16="http://schemas.microsoft.com/office/drawing/2014/main" id="{42851FCF-1002-4228-BFF2-E07EA78B0B3C}"/>
              </a:ext>
            </a:extLst>
          </p:cNvPr>
          <p:cNvGrpSpPr>
            <a:grpSpLocks/>
          </p:cNvGrpSpPr>
          <p:nvPr/>
        </p:nvGrpSpPr>
        <p:grpSpPr bwMode="auto">
          <a:xfrm>
            <a:off x="2170194" y="981446"/>
            <a:ext cx="6659110" cy="2784022"/>
            <a:chOff x="2500298" y="2279163"/>
            <a:chExt cx="5399072" cy="2085360"/>
          </a:xfrm>
        </p:grpSpPr>
        <p:sp>
          <p:nvSpPr>
            <p:cNvPr id="48" name="Text Box 10">
              <a:extLst>
                <a:ext uri="{FF2B5EF4-FFF2-40B4-BE49-F238E27FC236}">
                  <a16:creationId xmlns:a16="http://schemas.microsoft.com/office/drawing/2014/main" id="{A49E30E3-FC20-4CD0-B49C-B870756271F2}"/>
                </a:ext>
              </a:extLst>
            </p:cNvPr>
            <p:cNvSpPr txBox="1">
              <a:spLocks noChangeArrowheads="1"/>
            </p:cNvSpPr>
            <p:nvPr/>
          </p:nvSpPr>
          <p:spPr bwMode="auto">
            <a:xfrm>
              <a:off x="2500298" y="2350601"/>
              <a:ext cx="357190" cy="364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r>
                <a:rPr lang="en-US" altLang="zh-CN" sz="2000" b="1" i="1">
                  <a:solidFill>
                    <a:schemeClr val="tx1"/>
                  </a:solidFill>
                  <a:latin typeface="Times New Roman" panose="02020603050405020304" pitchFamily="18" charset="0"/>
                </a:rPr>
                <a:t>x</a:t>
              </a:r>
              <a:endParaRPr lang="zh-CN" altLang="zh-CN" sz="2000" b="1">
                <a:solidFill>
                  <a:schemeClr val="tx1"/>
                </a:solidFill>
              </a:endParaRPr>
            </a:p>
          </p:txBody>
        </p:sp>
        <p:sp>
          <p:nvSpPr>
            <p:cNvPr id="49" name="Text Box 11">
              <a:extLst>
                <a:ext uri="{FF2B5EF4-FFF2-40B4-BE49-F238E27FC236}">
                  <a16:creationId xmlns:a16="http://schemas.microsoft.com/office/drawing/2014/main" id="{7D952B38-EFA4-41D5-96A9-7E135BB0DDA5}"/>
                </a:ext>
              </a:extLst>
            </p:cNvPr>
            <p:cNvSpPr txBox="1">
              <a:spLocks noChangeArrowheads="1"/>
            </p:cNvSpPr>
            <p:nvPr/>
          </p:nvSpPr>
          <p:spPr bwMode="auto">
            <a:xfrm>
              <a:off x="2500298" y="2614546"/>
              <a:ext cx="357190" cy="457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r>
                <a:rPr lang="en-US" altLang="zh-CN" sz="2000" b="1" i="1">
                  <a:solidFill>
                    <a:schemeClr val="tx1"/>
                  </a:solidFill>
                  <a:latin typeface="Times New Roman" panose="02020603050405020304" pitchFamily="18" charset="0"/>
                </a:rPr>
                <a:t>y</a:t>
              </a:r>
              <a:endParaRPr lang="zh-CN" altLang="zh-CN" sz="2000" b="1">
                <a:solidFill>
                  <a:schemeClr val="tx1"/>
                </a:solidFill>
              </a:endParaRPr>
            </a:p>
          </p:txBody>
        </p:sp>
        <p:sp>
          <p:nvSpPr>
            <p:cNvPr id="50" name="Text Box 16">
              <a:extLst>
                <a:ext uri="{FF2B5EF4-FFF2-40B4-BE49-F238E27FC236}">
                  <a16:creationId xmlns:a16="http://schemas.microsoft.com/office/drawing/2014/main" id="{E5F01BC2-8230-4553-A906-1D8CF01421AD}"/>
                </a:ext>
              </a:extLst>
            </p:cNvPr>
            <p:cNvSpPr txBox="1">
              <a:spLocks noChangeArrowheads="1"/>
            </p:cNvSpPr>
            <p:nvPr/>
          </p:nvSpPr>
          <p:spPr bwMode="auto">
            <a:xfrm>
              <a:off x="4572000" y="2279163"/>
              <a:ext cx="722392" cy="435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r>
                <a:rPr lang="en-US" altLang="zh-CN" sz="2000" b="1" i="1">
                  <a:solidFill>
                    <a:schemeClr val="tx1"/>
                  </a:solidFill>
                  <a:latin typeface="Times New Roman" panose="02020603050405020304" pitchFamily="18" charset="0"/>
                </a:rPr>
                <a:t>x</a:t>
              </a:r>
              <a:r>
                <a:rPr lang="en-US" altLang="zh-CN" sz="2000" b="1">
                  <a:solidFill>
                    <a:schemeClr val="tx1"/>
                  </a:solidFill>
                  <a:latin typeface="Times New Roman" panose="02020603050405020304" pitchFamily="18" charset="0"/>
                </a:rPr>
                <a:t>∧</a:t>
              </a:r>
              <a:r>
                <a:rPr lang="en-US" altLang="zh-CN" sz="2000" b="1" i="1">
                  <a:solidFill>
                    <a:schemeClr val="tx1"/>
                  </a:solidFill>
                  <a:latin typeface="Times New Roman" panose="02020603050405020304" pitchFamily="18" charset="0"/>
                </a:rPr>
                <a:t>y</a:t>
              </a:r>
              <a:endParaRPr lang="zh-CN" altLang="zh-CN" sz="2000" b="1">
                <a:solidFill>
                  <a:schemeClr val="tx1"/>
                </a:solidFill>
              </a:endParaRPr>
            </a:p>
          </p:txBody>
        </p:sp>
        <p:sp>
          <p:nvSpPr>
            <p:cNvPr id="51" name="Text Box 28">
              <a:extLst>
                <a:ext uri="{FF2B5EF4-FFF2-40B4-BE49-F238E27FC236}">
                  <a16:creationId xmlns:a16="http://schemas.microsoft.com/office/drawing/2014/main" id="{FA61B24C-ED49-4242-8A8E-0B5F6F06B093}"/>
                </a:ext>
              </a:extLst>
            </p:cNvPr>
            <p:cNvSpPr txBox="1">
              <a:spLocks noChangeArrowheads="1"/>
            </p:cNvSpPr>
            <p:nvPr/>
          </p:nvSpPr>
          <p:spPr bwMode="auto">
            <a:xfrm>
              <a:off x="4572000" y="3857628"/>
              <a:ext cx="1143008" cy="50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r>
                <a:rPr lang="en-US" altLang="zh-CN" sz="2000" b="1">
                  <a:solidFill>
                    <a:schemeClr val="tx1"/>
                  </a:solidFill>
                  <a:latin typeface="Times New Roman" panose="02020603050405020304" pitchFamily="18" charset="0"/>
                  <a:sym typeface="Symbol" panose="05050102010706020507" pitchFamily="18" charset="2"/>
                </a:rPr>
                <a:t></a:t>
              </a:r>
              <a:r>
                <a:rPr lang="en-US" altLang="zh-CN" sz="2000" b="1" i="1">
                  <a:solidFill>
                    <a:schemeClr val="tx1"/>
                  </a:solidFill>
                  <a:latin typeface="Times New Roman" panose="02020603050405020304" pitchFamily="18" charset="0"/>
                </a:rPr>
                <a:t>x</a:t>
              </a:r>
              <a:r>
                <a:rPr lang="en-US" altLang="zh-CN" sz="2000" b="1">
                  <a:solidFill>
                    <a:schemeClr val="tx1"/>
                  </a:solidFill>
                  <a:latin typeface="Times New Roman" panose="02020603050405020304" pitchFamily="18" charset="0"/>
                </a:rPr>
                <a:t>∧</a:t>
              </a:r>
              <a:r>
                <a:rPr lang="en-US" altLang="zh-CN" sz="2000" b="1">
                  <a:solidFill>
                    <a:schemeClr val="tx1"/>
                  </a:solidFill>
                  <a:latin typeface="Times New Roman" panose="02020603050405020304" pitchFamily="18" charset="0"/>
                  <a:sym typeface="Symbol" panose="05050102010706020507" pitchFamily="18" charset="2"/>
                </a:rPr>
                <a:t></a:t>
              </a:r>
              <a:r>
                <a:rPr lang="en-US" altLang="zh-CN" sz="2000" b="1" i="1">
                  <a:solidFill>
                    <a:schemeClr val="tx1"/>
                  </a:solidFill>
                  <a:latin typeface="Times New Roman" panose="02020603050405020304" pitchFamily="18" charset="0"/>
                </a:rPr>
                <a:t>y</a:t>
              </a:r>
              <a:endParaRPr lang="zh-CN" altLang="zh-CN" sz="2000" b="1">
                <a:solidFill>
                  <a:schemeClr val="tx1"/>
                </a:solidFill>
              </a:endParaRPr>
            </a:p>
          </p:txBody>
        </p:sp>
        <p:sp>
          <p:nvSpPr>
            <p:cNvPr id="52" name="Text Box 29">
              <a:extLst>
                <a:ext uri="{FF2B5EF4-FFF2-40B4-BE49-F238E27FC236}">
                  <a16:creationId xmlns:a16="http://schemas.microsoft.com/office/drawing/2014/main" id="{079310C1-8A17-4FCA-8AF0-492B4CC23890}"/>
                </a:ext>
              </a:extLst>
            </p:cNvPr>
            <p:cNvSpPr txBox="1">
              <a:spLocks noChangeArrowheads="1"/>
            </p:cNvSpPr>
            <p:nvPr/>
          </p:nvSpPr>
          <p:spPr bwMode="auto">
            <a:xfrm>
              <a:off x="5643570" y="2857496"/>
              <a:ext cx="2255800" cy="50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r>
                <a:rPr lang="en-US" altLang="zh-CN" sz="2000" b="1">
                  <a:solidFill>
                    <a:schemeClr val="tx1"/>
                  </a:solidFill>
                  <a:latin typeface="Times New Roman" panose="02020603050405020304" pitchFamily="18" charset="0"/>
                </a:rPr>
                <a:t>(</a:t>
              </a:r>
              <a:r>
                <a:rPr lang="en-US" altLang="zh-CN" sz="2000" b="1" i="1">
                  <a:solidFill>
                    <a:schemeClr val="tx1"/>
                  </a:solidFill>
                  <a:latin typeface="Times New Roman" panose="02020603050405020304" pitchFamily="18" charset="0"/>
                </a:rPr>
                <a:t>x</a:t>
              </a:r>
              <a:r>
                <a:rPr lang="en-US" altLang="zh-CN" sz="2000" b="1">
                  <a:solidFill>
                    <a:schemeClr val="tx1"/>
                  </a:solidFill>
                  <a:latin typeface="Times New Roman" panose="02020603050405020304" pitchFamily="18" charset="0"/>
                </a:rPr>
                <a:t>∧</a:t>
              </a:r>
              <a:r>
                <a:rPr lang="en-US" altLang="zh-CN" sz="2000" b="1" i="1">
                  <a:solidFill>
                    <a:schemeClr val="tx1"/>
                  </a:solidFill>
                  <a:latin typeface="Times New Roman" panose="02020603050405020304" pitchFamily="18" charset="0"/>
                </a:rPr>
                <a:t>y</a:t>
              </a:r>
              <a:r>
                <a:rPr lang="en-US" altLang="zh-CN" sz="2000" b="1">
                  <a:solidFill>
                    <a:schemeClr val="tx1"/>
                  </a:solidFill>
                  <a:latin typeface="Times New Roman" panose="02020603050405020304" pitchFamily="18" charset="0"/>
                </a:rPr>
                <a:t>)∨(</a:t>
              </a:r>
              <a:r>
                <a:rPr lang="en-US" altLang="zh-CN" sz="2000" b="1">
                  <a:solidFill>
                    <a:schemeClr val="tx1"/>
                  </a:solidFill>
                  <a:latin typeface="Times New Roman" panose="02020603050405020304" pitchFamily="18" charset="0"/>
                  <a:sym typeface="Symbol" panose="05050102010706020507" pitchFamily="18" charset="2"/>
                </a:rPr>
                <a:t></a:t>
              </a:r>
              <a:r>
                <a:rPr lang="en-US" altLang="zh-CN" sz="2000" b="1" i="1">
                  <a:solidFill>
                    <a:schemeClr val="tx1"/>
                  </a:solidFill>
                  <a:latin typeface="Times New Roman" panose="02020603050405020304" pitchFamily="18" charset="0"/>
                </a:rPr>
                <a:t>x</a:t>
              </a:r>
              <a:r>
                <a:rPr lang="en-US" altLang="zh-CN" sz="2000" b="1">
                  <a:solidFill>
                    <a:schemeClr val="tx1"/>
                  </a:solidFill>
                  <a:latin typeface="Times New Roman" panose="02020603050405020304" pitchFamily="18" charset="0"/>
                </a:rPr>
                <a:t>∧</a:t>
              </a:r>
              <a:r>
                <a:rPr lang="en-US" altLang="zh-CN" sz="2000" b="1">
                  <a:solidFill>
                    <a:schemeClr val="tx1"/>
                  </a:solidFill>
                  <a:latin typeface="Times New Roman" panose="02020603050405020304" pitchFamily="18" charset="0"/>
                  <a:sym typeface="Symbol" panose="05050102010706020507" pitchFamily="18" charset="2"/>
                </a:rPr>
                <a:t></a:t>
              </a:r>
              <a:r>
                <a:rPr lang="en-US" altLang="zh-CN" sz="2000" b="1" i="1">
                  <a:solidFill>
                    <a:schemeClr val="tx1"/>
                  </a:solidFill>
                  <a:latin typeface="Times New Roman" panose="02020603050405020304" pitchFamily="18" charset="0"/>
                </a:rPr>
                <a:t>y</a:t>
              </a:r>
              <a:r>
                <a:rPr lang="en-US" altLang="zh-CN" sz="2000" b="1">
                  <a:solidFill>
                    <a:schemeClr val="tx1"/>
                  </a:solidFill>
                  <a:latin typeface="Times New Roman" panose="02020603050405020304" pitchFamily="18" charset="0"/>
                </a:rPr>
                <a:t>)</a:t>
              </a:r>
              <a:endParaRPr lang="zh-CN" altLang="zh-CN" sz="2000" b="1">
                <a:solidFill>
                  <a:schemeClr val="tx1"/>
                </a:solidFill>
              </a:endParaRPr>
            </a:p>
          </p:txBody>
        </p:sp>
        <p:sp>
          <p:nvSpPr>
            <p:cNvPr id="53" name="AutoShape 7">
              <a:extLst>
                <a:ext uri="{FF2B5EF4-FFF2-40B4-BE49-F238E27FC236}">
                  <a16:creationId xmlns:a16="http://schemas.microsoft.com/office/drawing/2014/main" id="{9EE11E59-C21F-4053-A2D1-85B447AF2EC0}"/>
                </a:ext>
              </a:extLst>
            </p:cNvPr>
            <p:cNvSpPr>
              <a:spLocks noChangeArrowheads="1"/>
            </p:cNvSpPr>
            <p:nvPr/>
          </p:nvSpPr>
          <p:spPr bwMode="auto">
            <a:xfrm flipH="1">
              <a:off x="4963160" y="3035334"/>
              <a:ext cx="611719" cy="472446"/>
            </a:xfrm>
            <a:prstGeom prst="flowChartOnlineStorage">
              <a:avLst/>
            </a:prstGeom>
            <a:solidFill>
              <a:srgbClr val="FFFFFF"/>
            </a:solidFill>
            <a:ln w="19050">
              <a:solidFill>
                <a:schemeClr val="tx1"/>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cxnSp>
          <p:nvCxnSpPr>
            <p:cNvPr id="54" name="AutoShape 8">
              <a:extLst>
                <a:ext uri="{FF2B5EF4-FFF2-40B4-BE49-F238E27FC236}">
                  <a16:creationId xmlns:a16="http://schemas.microsoft.com/office/drawing/2014/main" id="{95CEC9EE-9478-424E-94F2-9B6A1BCDE5E0}"/>
                </a:ext>
              </a:extLst>
            </p:cNvPr>
            <p:cNvCxnSpPr>
              <a:cxnSpLocks noChangeShapeType="1"/>
            </p:cNvCxnSpPr>
            <p:nvPr/>
          </p:nvCxnSpPr>
          <p:spPr bwMode="auto">
            <a:xfrm>
              <a:off x="2801247" y="2566148"/>
              <a:ext cx="1184176" cy="1792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AutoShape 9">
              <a:extLst>
                <a:ext uri="{FF2B5EF4-FFF2-40B4-BE49-F238E27FC236}">
                  <a16:creationId xmlns:a16="http://schemas.microsoft.com/office/drawing/2014/main" id="{32F4B3C0-EE96-461E-861D-05C22BD1C6A1}"/>
                </a:ext>
              </a:extLst>
            </p:cNvPr>
            <p:cNvCxnSpPr>
              <a:cxnSpLocks noChangeShapeType="1"/>
            </p:cNvCxnSpPr>
            <p:nvPr/>
          </p:nvCxnSpPr>
          <p:spPr bwMode="auto">
            <a:xfrm>
              <a:off x="2786050" y="2818662"/>
              <a:ext cx="1184176" cy="163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AutoShape 12">
              <a:extLst>
                <a:ext uri="{FF2B5EF4-FFF2-40B4-BE49-F238E27FC236}">
                  <a16:creationId xmlns:a16="http://schemas.microsoft.com/office/drawing/2014/main" id="{2552AA7A-BB89-4C2C-ABA5-D7D8DD0E05AD}"/>
                </a:ext>
              </a:extLst>
            </p:cNvPr>
            <p:cNvCxnSpPr>
              <a:cxnSpLocks noChangeShapeType="1"/>
            </p:cNvCxnSpPr>
            <p:nvPr/>
          </p:nvCxnSpPr>
          <p:spPr bwMode="auto">
            <a:xfrm>
              <a:off x="3564947" y="3776586"/>
              <a:ext cx="435674"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AutoShape 13">
              <a:extLst>
                <a:ext uri="{FF2B5EF4-FFF2-40B4-BE49-F238E27FC236}">
                  <a16:creationId xmlns:a16="http://schemas.microsoft.com/office/drawing/2014/main" id="{78952FDD-6A26-4546-82B2-D6B0E498A5FB}"/>
                </a:ext>
              </a:extLst>
            </p:cNvPr>
            <p:cNvCxnSpPr>
              <a:cxnSpLocks noChangeShapeType="1"/>
            </p:cNvCxnSpPr>
            <p:nvPr/>
          </p:nvCxnSpPr>
          <p:spPr bwMode="auto">
            <a:xfrm>
              <a:off x="3564947" y="4051907"/>
              <a:ext cx="435674" cy="1792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 name="AutoShape 14">
              <a:extLst>
                <a:ext uri="{FF2B5EF4-FFF2-40B4-BE49-F238E27FC236}">
                  <a16:creationId xmlns:a16="http://schemas.microsoft.com/office/drawing/2014/main" id="{B18B93DA-547E-453B-9944-DA0C445E5A1D}"/>
                </a:ext>
              </a:extLst>
            </p:cNvPr>
            <p:cNvSpPr>
              <a:spLocks noChangeArrowheads="1"/>
            </p:cNvSpPr>
            <p:nvPr/>
          </p:nvSpPr>
          <p:spPr bwMode="auto">
            <a:xfrm>
              <a:off x="3985423" y="2409752"/>
              <a:ext cx="529397" cy="553902"/>
            </a:xfrm>
            <a:prstGeom prst="flowChartDelay">
              <a:avLst/>
            </a:prstGeom>
            <a:solidFill>
              <a:srgbClr val="FFFFFF"/>
            </a:solidFill>
            <a:ln w="19050">
              <a:solidFill>
                <a:schemeClr val="tx1"/>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cxnSp>
          <p:nvCxnSpPr>
            <p:cNvPr id="59" name="AutoShape 15">
              <a:extLst>
                <a:ext uri="{FF2B5EF4-FFF2-40B4-BE49-F238E27FC236}">
                  <a16:creationId xmlns:a16="http://schemas.microsoft.com/office/drawing/2014/main" id="{4E926E5E-CDF5-4C59-B768-F3AF60803873}"/>
                </a:ext>
              </a:extLst>
            </p:cNvPr>
            <p:cNvCxnSpPr>
              <a:cxnSpLocks noChangeShapeType="1"/>
            </p:cNvCxnSpPr>
            <p:nvPr/>
          </p:nvCxnSpPr>
          <p:spPr bwMode="auto">
            <a:xfrm>
              <a:off x="5560947" y="3273186"/>
              <a:ext cx="915679" cy="1792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AutoShape 17">
              <a:extLst>
                <a:ext uri="{FF2B5EF4-FFF2-40B4-BE49-F238E27FC236}">
                  <a16:creationId xmlns:a16="http://schemas.microsoft.com/office/drawing/2014/main" id="{3C4E93F3-C163-4A9E-977E-6C5682727E93}"/>
                </a:ext>
              </a:extLst>
            </p:cNvPr>
            <p:cNvCxnSpPr>
              <a:cxnSpLocks noChangeShapeType="1"/>
            </p:cNvCxnSpPr>
            <p:nvPr/>
          </p:nvCxnSpPr>
          <p:spPr bwMode="auto">
            <a:xfrm>
              <a:off x="4541416" y="2681815"/>
              <a:ext cx="505333" cy="493626"/>
            </a:xfrm>
            <a:prstGeom prst="bentConnector3">
              <a:avLst>
                <a:gd name="adj1" fmla="val 4987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 name="AutoShape 18">
              <a:extLst>
                <a:ext uri="{FF2B5EF4-FFF2-40B4-BE49-F238E27FC236}">
                  <a16:creationId xmlns:a16="http://schemas.microsoft.com/office/drawing/2014/main" id="{36E1F76B-E7BE-4FA7-8298-9AAA6C0F9CC2}"/>
                </a:ext>
              </a:extLst>
            </p:cNvPr>
            <p:cNvCxnSpPr>
              <a:cxnSpLocks noChangeShapeType="1"/>
            </p:cNvCxnSpPr>
            <p:nvPr/>
          </p:nvCxnSpPr>
          <p:spPr bwMode="auto">
            <a:xfrm flipV="1">
              <a:off x="4541416" y="3385596"/>
              <a:ext cx="490134" cy="549014"/>
            </a:xfrm>
            <a:prstGeom prst="bentConnector3">
              <a:avLst>
                <a:gd name="adj1" fmla="val 49870"/>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2" name="AutoShape 19">
              <a:extLst>
                <a:ext uri="{FF2B5EF4-FFF2-40B4-BE49-F238E27FC236}">
                  <a16:creationId xmlns:a16="http://schemas.microsoft.com/office/drawing/2014/main" id="{4258B946-D25C-4576-9333-E5BA9E097991}"/>
                </a:ext>
              </a:extLst>
            </p:cNvPr>
            <p:cNvCxnSpPr>
              <a:cxnSpLocks noChangeShapeType="1"/>
            </p:cNvCxnSpPr>
            <p:nvPr/>
          </p:nvCxnSpPr>
          <p:spPr bwMode="auto">
            <a:xfrm>
              <a:off x="3058346" y="3776586"/>
              <a:ext cx="245701" cy="1792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63" name="Group 20">
              <a:extLst>
                <a:ext uri="{FF2B5EF4-FFF2-40B4-BE49-F238E27FC236}">
                  <a16:creationId xmlns:a16="http://schemas.microsoft.com/office/drawing/2014/main" id="{2887DCFC-2B86-410E-8B8F-01ACD4E6CD00}"/>
                </a:ext>
              </a:extLst>
            </p:cNvPr>
            <p:cNvGrpSpPr>
              <a:grpSpLocks/>
            </p:cNvGrpSpPr>
            <p:nvPr/>
          </p:nvGrpSpPr>
          <p:grpSpPr bwMode="auto">
            <a:xfrm>
              <a:off x="3304047" y="3660916"/>
              <a:ext cx="260898" cy="257401"/>
              <a:chOff x="8198" y="7406"/>
              <a:chExt cx="206" cy="158"/>
            </a:xfrm>
          </p:grpSpPr>
          <p:sp>
            <p:nvSpPr>
              <p:cNvPr id="73" name="AutoShape 21">
                <a:extLst>
                  <a:ext uri="{FF2B5EF4-FFF2-40B4-BE49-F238E27FC236}">
                    <a16:creationId xmlns:a16="http://schemas.microsoft.com/office/drawing/2014/main" id="{68E0FDFA-53DC-4284-9552-54529491F60B}"/>
                  </a:ext>
                </a:extLst>
              </p:cNvPr>
              <p:cNvSpPr>
                <a:spLocks noChangeArrowheads="1"/>
              </p:cNvSpPr>
              <p:nvPr/>
            </p:nvSpPr>
            <p:spPr bwMode="auto">
              <a:xfrm rot="5400000">
                <a:off x="8190" y="7414"/>
                <a:ext cx="158" cy="142"/>
              </a:xfrm>
              <a:prstGeom prst="triangle">
                <a:avLst>
                  <a:gd name="adj" fmla="val 50000"/>
                </a:avLst>
              </a:prstGeom>
              <a:solidFill>
                <a:srgbClr val="FFFFFF"/>
              </a:solidFill>
              <a:ln w="19050">
                <a:solidFill>
                  <a:schemeClr val="tx1"/>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sp>
            <p:nvSpPr>
              <p:cNvPr id="74" name="Oval 22">
                <a:extLst>
                  <a:ext uri="{FF2B5EF4-FFF2-40B4-BE49-F238E27FC236}">
                    <a16:creationId xmlns:a16="http://schemas.microsoft.com/office/drawing/2014/main" id="{F3B31CB7-4ED0-4726-9764-D6ACCDB70574}"/>
                  </a:ext>
                </a:extLst>
              </p:cNvPr>
              <p:cNvSpPr>
                <a:spLocks noChangeArrowheads="1"/>
              </p:cNvSpPr>
              <p:nvPr/>
            </p:nvSpPr>
            <p:spPr bwMode="auto">
              <a:xfrm>
                <a:off x="8323" y="7445"/>
                <a:ext cx="81" cy="71"/>
              </a:xfrm>
              <a:prstGeom prst="ellipse">
                <a:avLst/>
              </a:prstGeom>
              <a:solidFill>
                <a:srgbClr val="FFFFFF"/>
              </a:solidFill>
              <a:ln w="19050">
                <a:solidFill>
                  <a:schemeClr val="tx1"/>
                </a:solidFill>
                <a:round/>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grpSp>
        <p:grpSp>
          <p:nvGrpSpPr>
            <p:cNvPr id="64" name="Group 23">
              <a:extLst>
                <a:ext uri="{FF2B5EF4-FFF2-40B4-BE49-F238E27FC236}">
                  <a16:creationId xmlns:a16="http://schemas.microsoft.com/office/drawing/2014/main" id="{065F20FE-EF71-42AC-BCF2-B595DA2CF805}"/>
                </a:ext>
              </a:extLst>
            </p:cNvPr>
            <p:cNvGrpSpPr>
              <a:grpSpLocks/>
            </p:cNvGrpSpPr>
            <p:nvPr/>
          </p:nvGrpSpPr>
          <p:grpSpPr bwMode="auto">
            <a:xfrm>
              <a:off x="3304047" y="3934610"/>
              <a:ext cx="260898" cy="257401"/>
              <a:chOff x="8198" y="7406"/>
              <a:chExt cx="206" cy="158"/>
            </a:xfrm>
          </p:grpSpPr>
          <p:sp>
            <p:nvSpPr>
              <p:cNvPr id="71" name="AutoShape 24">
                <a:extLst>
                  <a:ext uri="{FF2B5EF4-FFF2-40B4-BE49-F238E27FC236}">
                    <a16:creationId xmlns:a16="http://schemas.microsoft.com/office/drawing/2014/main" id="{E491EA7A-2931-439A-B7CC-C06625E2433A}"/>
                  </a:ext>
                </a:extLst>
              </p:cNvPr>
              <p:cNvSpPr>
                <a:spLocks noChangeArrowheads="1"/>
              </p:cNvSpPr>
              <p:nvPr/>
            </p:nvSpPr>
            <p:spPr bwMode="auto">
              <a:xfrm rot="5400000">
                <a:off x="8190" y="7414"/>
                <a:ext cx="158" cy="142"/>
              </a:xfrm>
              <a:prstGeom prst="triangle">
                <a:avLst>
                  <a:gd name="adj" fmla="val 50000"/>
                </a:avLst>
              </a:prstGeom>
              <a:solidFill>
                <a:srgbClr val="FFFFFF"/>
              </a:solidFill>
              <a:ln w="19050">
                <a:solidFill>
                  <a:schemeClr val="tx1"/>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sp>
            <p:nvSpPr>
              <p:cNvPr id="72" name="Oval 25">
                <a:extLst>
                  <a:ext uri="{FF2B5EF4-FFF2-40B4-BE49-F238E27FC236}">
                    <a16:creationId xmlns:a16="http://schemas.microsoft.com/office/drawing/2014/main" id="{E7BD5B79-6965-40F7-A427-7ABFF0355519}"/>
                  </a:ext>
                </a:extLst>
              </p:cNvPr>
              <p:cNvSpPr>
                <a:spLocks noChangeArrowheads="1"/>
              </p:cNvSpPr>
              <p:nvPr/>
            </p:nvSpPr>
            <p:spPr bwMode="auto">
              <a:xfrm>
                <a:off x="8323" y="7445"/>
                <a:ext cx="81" cy="71"/>
              </a:xfrm>
              <a:prstGeom prst="ellipse">
                <a:avLst/>
              </a:prstGeom>
              <a:solidFill>
                <a:srgbClr val="FFFFFF"/>
              </a:solidFill>
              <a:ln w="19050">
                <a:solidFill>
                  <a:schemeClr val="tx1"/>
                </a:solidFill>
                <a:round/>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grpSp>
        <p:cxnSp>
          <p:nvCxnSpPr>
            <p:cNvPr id="65" name="AutoShape 26">
              <a:extLst>
                <a:ext uri="{FF2B5EF4-FFF2-40B4-BE49-F238E27FC236}">
                  <a16:creationId xmlns:a16="http://schemas.microsoft.com/office/drawing/2014/main" id="{17F14715-3135-42B5-B5B9-F0E6D2F77FCF}"/>
                </a:ext>
              </a:extLst>
            </p:cNvPr>
            <p:cNvCxnSpPr>
              <a:cxnSpLocks noChangeShapeType="1"/>
            </p:cNvCxnSpPr>
            <p:nvPr/>
          </p:nvCxnSpPr>
          <p:spPr bwMode="auto">
            <a:xfrm>
              <a:off x="2892435" y="4035615"/>
              <a:ext cx="411612" cy="32582"/>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6" name="AutoShape 27">
              <a:extLst>
                <a:ext uri="{FF2B5EF4-FFF2-40B4-BE49-F238E27FC236}">
                  <a16:creationId xmlns:a16="http://schemas.microsoft.com/office/drawing/2014/main" id="{4E814737-8B8F-474D-814E-D25CB573F2B2}"/>
                </a:ext>
              </a:extLst>
            </p:cNvPr>
            <p:cNvSpPr>
              <a:spLocks noChangeArrowheads="1"/>
            </p:cNvSpPr>
            <p:nvPr/>
          </p:nvSpPr>
          <p:spPr bwMode="auto">
            <a:xfrm>
              <a:off x="4015820" y="3660916"/>
              <a:ext cx="529397" cy="553902"/>
            </a:xfrm>
            <a:prstGeom prst="flowChartDelay">
              <a:avLst/>
            </a:prstGeom>
            <a:solidFill>
              <a:srgbClr val="FFFFFF"/>
            </a:solidFill>
            <a:ln w="19050">
              <a:solidFill>
                <a:schemeClr val="tx1"/>
              </a:solidFill>
              <a:miter lim="800000"/>
              <a:headEnd/>
              <a:tailEnd/>
            </a:ln>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cxnSp>
          <p:nvCxnSpPr>
            <p:cNvPr id="67" name="AutoShape 30">
              <a:extLst>
                <a:ext uri="{FF2B5EF4-FFF2-40B4-BE49-F238E27FC236}">
                  <a16:creationId xmlns:a16="http://schemas.microsoft.com/office/drawing/2014/main" id="{9C3249AA-FB12-4BA5-B44E-7B7BEE832E01}"/>
                </a:ext>
              </a:extLst>
            </p:cNvPr>
            <p:cNvCxnSpPr>
              <a:cxnSpLocks noChangeShapeType="1"/>
            </p:cNvCxnSpPr>
            <p:nvPr/>
          </p:nvCxnSpPr>
          <p:spPr bwMode="auto">
            <a:xfrm flipH="1">
              <a:off x="3035550" y="2966911"/>
              <a:ext cx="22796" cy="82759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68" name="AutoShape 31">
              <a:extLst>
                <a:ext uri="{FF2B5EF4-FFF2-40B4-BE49-F238E27FC236}">
                  <a16:creationId xmlns:a16="http://schemas.microsoft.com/office/drawing/2014/main" id="{CB80E65B-5FF3-4CAF-A1A1-BB0FCDF621D8}"/>
                </a:ext>
              </a:extLst>
            </p:cNvPr>
            <p:cNvCxnSpPr>
              <a:cxnSpLocks noChangeShapeType="1"/>
            </p:cNvCxnSpPr>
            <p:nvPr/>
          </p:nvCxnSpPr>
          <p:spPr bwMode="auto">
            <a:xfrm flipH="1">
              <a:off x="2892435" y="2818662"/>
              <a:ext cx="21530" cy="1249537"/>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69" name="Arc 32">
              <a:extLst>
                <a:ext uri="{FF2B5EF4-FFF2-40B4-BE49-F238E27FC236}">
                  <a16:creationId xmlns:a16="http://schemas.microsoft.com/office/drawing/2014/main" id="{E02CAA4B-F2B0-49B0-B25F-7B167DAF1D15}"/>
                </a:ext>
              </a:extLst>
            </p:cNvPr>
            <p:cNvSpPr>
              <a:spLocks/>
            </p:cNvSpPr>
            <p:nvPr/>
          </p:nvSpPr>
          <p:spPr bwMode="auto">
            <a:xfrm>
              <a:off x="3058346" y="2681815"/>
              <a:ext cx="117785" cy="285096"/>
            </a:xfrm>
            <a:custGeom>
              <a:avLst/>
              <a:gdLst>
                <a:gd name="T0" fmla="*/ 69006 w 22053"/>
                <a:gd name="T1" fmla="*/ 0 h 43200"/>
                <a:gd name="T2" fmla="*/ 0 w 22053"/>
                <a:gd name="T3" fmla="*/ 12415256 h 43200"/>
                <a:gd name="T4" fmla="*/ 69006 w 22053"/>
                <a:gd name="T5" fmla="*/ 6208348 h 43200"/>
                <a:gd name="T6" fmla="*/ 0 60000 65536"/>
                <a:gd name="T7" fmla="*/ 0 60000 65536"/>
                <a:gd name="T8" fmla="*/ 0 60000 65536"/>
                <a:gd name="T9" fmla="*/ 0 w 22053"/>
                <a:gd name="T10" fmla="*/ 0 h 43200"/>
                <a:gd name="T11" fmla="*/ 22053 w 22053"/>
                <a:gd name="T12" fmla="*/ 43200 h 43200"/>
              </a:gdLst>
              <a:ahLst/>
              <a:cxnLst>
                <a:cxn ang="T6">
                  <a:pos x="T0" y="T1"/>
                </a:cxn>
                <a:cxn ang="T7">
                  <a:pos x="T2" y="T3"/>
                </a:cxn>
                <a:cxn ang="T8">
                  <a:pos x="T4" y="T5"/>
                </a:cxn>
              </a:cxnLst>
              <a:rect l="T9" t="T10" r="T11" b="T12"/>
              <a:pathLst>
                <a:path w="22053" h="43200" fill="none" extrusionOk="0">
                  <a:moveTo>
                    <a:pt x="452" y="0"/>
                  </a:moveTo>
                  <a:cubicBezTo>
                    <a:pt x="12382" y="0"/>
                    <a:pt x="22053" y="9670"/>
                    <a:pt x="22053" y="21600"/>
                  </a:cubicBezTo>
                  <a:cubicBezTo>
                    <a:pt x="22053" y="33529"/>
                    <a:pt x="12382" y="43200"/>
                    <a:pt x="453" y="43200"/>
                  </a:cubicBezTo>
                  <a:cubicBezTo>
                    <a:pt x="301" y="43200"/>
                    <a:pt x="150" y="43198"/>
                    <a:pt x="-1" y="43195"/>
                  </a:cubicBezTo>
                </a:path>
                <a:path w="22053" h="43200" stroke="0" extrusionOk="0">
                  <a:moveTo>
                    <a:pt x="452" y="0"/>
                  </a:moveTo>
                  <a:cubicBezTo>
                    <a:pt x="12382" y="0"/>
                    <a:pt x="22053" y="9670"/>
                    <a:pt x="22053" y="21600"/>
                  </a:cubicBezTo>
                  <a:cubicBezTo>
                    <a:pt x="22053" y="33529"/>
                    <a:pt x="12382" y="43200"/>
                    <a:pt x="453" y="43200"/>
                  </a:cubicBezTo>
                  <a:cubicBezTo>
                    <a:pt x="301" y="43200"/>
                    <a:pt x="150" y="43198"/>
                    <a:pt x="-1" y="43195"/>
                  </a:cubicBezTo>
                  <a:lnTo>
                    <a:pt x="453"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endParaRPr lang="zh-CN" altLang="en-US"/>
            </a:p>
          </p:txBody>
        </p:sp>
        <p:cxnSp>
          <p:nvCxnSpPr>
            <p:cNvPr id="70" name="AutoShape 33">
              <a:extLst>
                <a:ext uri="{FF2B5EF4-FFF2-40B4-BE49-F238E27FC236}">
                  <a16:creationId xmlns:a16="http://schemas.microsoft.com/office/drawing/2014/main" id="{B89DF50F-62B1-4A89-B891-650BC85B9741}"/>
                </a:ext>
              </a:extLst>
            </p:cNvPr>
            <p:cNvCxnSpPr>
              <a:cxnSpLocks noChangeShapeType="1"/>
            </p:cNvCxnSpPr>
            <p:nvPr/>
          </p:nvCxnSpPr>
          <p:spPr bwMode="auto">
            <a:xfrm flipV="1">
              <a:off x="3058346" y="2584068"/>
              <a:ext cx="0" cy="9774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pic>
        <p:nvPicPr>
          <p:cNvPr id="35" name="图片 34">
            <a:extLst>
              <a:ext uri="{FF2B5EF4-FFF2-40B4-BE49-F238E27FC236}">
                <a16:creationId xmlns:a16="http://schemas.microsoft.com/office/drawing/2014/main" id="{D298EB9B-11FA-4BFD-A014-0CF062F317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4021" y="4059382"/>
            <a:ext cx="649979" cy="649979"/>
          </a:xfrm>
          <a:prstGeom prst="rect">
            <a:avLst/>
          </a:prstGeom>
        </p:spPr>
      </p:pic>
    </p:spTree>
    <p:extLst>
      <p:ext uri="{BB962C8B-B14F-4D97-AF65-F5344CB8AC3E}">
        <p14:creationId xmlns:p14="http://schemas.microsoft.com/office/powerpoint/2010/main" val="1150308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1000"/>
                                        <p:tgtEl>
                                          <p:spTgt spid="8">
                                            <p:txEl>
                                              <p:pRg st="6" end="6"/>
                                            </p:txEl>
                                          </p:spTgt>
                                        </p:tgtEl>
                                      </p:cBhvr>
                                    </p:animEffect>
                                    <p:anim calcmode="lin" valueType="num">
                                      <p:cBhvr>
                                        <p:cTn id="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spcBef>
                <a:spcPts val="3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2.3.2 Principal Disjunctive Normal Form and Principal Conjunctive Normal Form</a:t>
            </a:r>
          </a:p>
          <a:p>
            <a:pPr>
              <a:lnSpc>
                <a:spcPct val="110000"/>
              </a:lnSpc>
              <a:spcBef>
                <a:spcPts val="300"/>
              </a:spcBef>
              <a:buClr>
                <a:srgbClr val="0B61FF"/>
              </a:buClr>
              <a:buSzPct val="80000"/>
            </a:pPr>
            <a:r>
              <a:rPr lang="en-US" altLang="zh-CN" sz="20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Convert PDNF to PCNF</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1047570"/>
            <a:ext cx="9930406" cy="54287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buFontTx/>
              <a:buNone/>
            </a:pPr>
            <a:endParaRPr lang="zh-CN" altLang="en-US" sz="2800" b="1" dirty="0">
              <a:sym typeface="Symbol" panose="05050102010706020507" pitchFamily="18" charset="2"/>
            </a:endParaRPr>
          </a:p>
        </p:txBody>
      </p:sp>
      <p:sp>
        <p:nvSpPr>
          <p:cNvPr id="39" name="Rectangle 3">
            <a:extLst>
              <a:ext uri="{FF2B5EF4-FFF2-40B4-BE49-F238E27FC236}">
                <a16:creationId xmlns:a16="http://schemas.microsoft.com/office/drawing/2014/main" id="{31380247-274C-4DC6-A116-C510F49DC03B}"/>
              </a:ext>
            </a:extLst>
          </p:cNvPr>
          <p:cNvSpPr txBox="1">
            <a:spLocks noChangeArrowheads="1"/>
          </p:cNvSpPr>
          <p:nvPr/>
        </p:nvSpPr>
        <p:spPr>
          <a:xfrm>
            <a:off x="824681" y="765175"/>
            <a:ext cx="9442742" cy="47212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endParaRPr lang="zh-CN" altLang="en-US" sz="2800" b="1" dirty="0">
              <a:solidFill>
                <a:schemeClr val="tx1"/>
              </a:solidFill>
              <a:latin typeface="Times New Roman" panose="02020603050405020304" pitchFamily="18" charset="0"/>
              <a:ea typeface="宋体" panose="02010600030101010101" pitchFamily="2" charset="-122"/>
            </a:endParaRPr>
          </a:p>
          <a:p>
            <a:pPr eaLnBrk="1" hangingPunct="1">
              <a:buFontTx/>
              <a:buNone/>
            </a:pPr>
            <a:r>
              <a:rPr lang="en-US" altLang="zh-CN" sz="2400" b="1" dirty="0">
                <a:latin typeface="Trebuchet MS" panose="020B0603020202020204" pitchFamily="34" charset="0"/>
              </a:rPr>
              <a:t>     Let</a:t>
            </a:r>
            <a:r>
              <a:rPr lang="zh-CN" altLang="en-US" sz="2400" b="1" dirty="0">
                <a:latin typeface="Trebuchet MS" panose="020B0603020202020204" pitchFamily="34" charset="0"/>
              </a:rPr>
              <a:t>：</a:t>
            </a:r>
          </a:p>
        </p:txBody>
      </p:sp>
      <p:sp>
        <p:nvSpPr>
          <p:cNvPr id="42" name="Text Box 5">
            <a:extLst>
              <a:ext uri="{FF2B5EF4-FFF2-40B4-BE49-F238E27FC236}">
                <a16:creationId xmlns:a16="http://schemas.microsoft.com/office/drawing/2014/main" id="{9A96B61C-5530-4E78-99CF-172704705387}"/>
              </a:ext>
            </a:extLst>
          </p:cNvPr>
          <p:cNvSpPr txBox="1">
            <a:spLocks noChangeArrowheads="1"/>
          </p:cNvSpPr>
          <p:nvPr/>
        </p:nvSpPr>
        <p:spPr bwMode="auto">
          <a:xfrm>
            <a:off x="1592858" y="1811635"/>
            <a:ext cx="36000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20000"/>
              </a:spcBef>
            </a:pPr>
            <a:r>
              <a:rPr lang="en-US" altLang="zh-CN" sz="2400" b="1" dirty="0">
                <a:solidFill>
                  <a:schemeClr val="tx1"/>
                </a:solidFill>
                <a:latin typeface="Trebuchet MS" panose="020B0603020202020204" pitchFamily="34" charset="0"/>
                <a:ea typeface="宋体" panose="02010600030101010101" pitchFamily="2" charset="-122"/>
              </a:rPr>
              <a:t>Non exited </a:t>
            </a:r>
            <a:r>
              <a:rPr lang="en-US" altLang="zh-CN" sz="2400" b="1" dirty="0" err="1">
                <a:solidFill>
                  <a:schemeClr val="tx1"/>
                </a:solidFill>
                <a:latin typeface="Trebuchet MS" panose="020B0603020202020204" pitchFamily="34" charset="0"/>
                <a:ea typeface="宋体" panose="02010600030101010101" pitchFamily="2" charset="-122"/>
              </a:rPr>
              <a:t>Minterm</a:t>
            </a:r>
            <a:r>
              <a:rPr lang="en-US" altLang="zh-CN" sz="2400" b="1" dirty="0">
                <a:solidFill>
                  <a:schemeClr val="tx1"/>
                </a:solidFill>
                <a:latin typeface="Trebuchet MS" panose="020B0603020202020204" pitchFamily="34" charset="0"/>
                <a:ea typeface="宋体" panose="02010600030101010101" pitchFamily="2" charset="-122"/>
              </a:rPr>
              <a:t>  is </a:t>
            </a:r>
            <a:endParaRPr lang="zh-CN" altLang="en-US" sz="2400" b="1" dirty="0">
              <a:solidFill>
                <a:schemeClr val="tx1"/>
              </a:solidFill>
              <a:latin typeface="Trebuchet MS" panose="020B0603020202020204" pitchFamily="34" charset="0"/>
              <a:ea typeface="宋体" panose="02010600030101010101" pitchFamily="2" charset="-122"/>
            </a:endParaRPr>
          </a:p>
        </p:txBody>
      </p:sp>
      <p:graphicFrame>
        <p:nvGraphicFramePr>
          <p:cNvPr id="43" name="Object 0">
            <a:extLst>
              <a:ext uri="{FF2B5EF4-FFF2-40B4-BE49-F238E27FC236}">
                <a16:creationId xmlns:a16="http://schemas.microsoft.com/office/drawing/2014/main" id="{41E0F2F1-006F-424A-B7E9-C918B4517599}"/>
              </a:ext>
            </a:extLst>
          </p:cNvPr>
          <p:cNvGraphicFramePr>
            <a:graphicFrameLocks noChangeAspect="1"/>
          </p:cNvGraphicFramePr>
          <p:nvPr>
            <p:extLst>
              <p:ext uri="{D42A27DB-BD31-4B8C-83A1-F6EECF244321}">
                <p14:modId xmlns:p14="http://schemas.microsoft.com/office/powerpoint/2010/main" val="601145242"/>
              </p:ext>
            </p:extLst>
          </p:nvPr>
        </p:nvGraphicFramePr>
        <p:xfrm>
          <a:off x="2080308" y="1271814"/>
          <a:ext cx="3449637" cy="546100"/>
        </p:xfrm>
        <a:graphic>
          <a:graphicData uri="http://schemas.openxmlformats.org/presentationml/2006/ole">
            <mc:AlternateContent xmlns:mc="http://schemas.openxmlformats.org/markup-compatibility/2006">
              <mc:Choice xmlns:v="urn:schemas-microsoft-com:vml" Requires="v">
                <p:oleObj spid="_x0000_s7226" name="Equation" r:id="rId6" imgW="1523880" imgH="241200" progId="Equation.DSMT4">
                  <p:embed/>
                </p:oleObj>
              </mc:Choice>
              <mc:Fallback>
                <p:oleObj name="Equation" r:id="rId6" imgW="1523880" imgH="241200" progId="Equation.DSMT4">
                  <p:embed/>
                  <p:pic>
                    <p:nvPicPr>
                      <p:cNvPr id="43" name="Object 0">
                        <a:extLst>
                          <a:ext uri="{FF2B5EF4-FFF2-40B4-BE49-F238E27FC236}">
                            <a16:creationId xmlns:a16="http://schemas.microsoft.com/office/drawing/2014/main" id="{41E0F2F1-006F-424A-B7E9-C918B45175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0308" y="1271814"/>
                        <a:ext cx="3449637"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
            <a:extLst>
              <a:ext uri="{FF2B5EF4-FFF2-40B4-BE49-F238E27FC236}">
                <a16:creationId xmlns:a16="http://schemas.microsoft.com/office/drawing/2014/main" id="{4728BE6D-0145-4CCE-B71F-926D7E369CDF}"/>
              </a:ext>
            </a:extLst>
          </p:cNvPr>
          <p:cNvGraphicFramePr>
            <a:graphicFrameLocks noChangeAspect="1"/>
          </p:cNvGraphicFramePr>
          <p:nvPr>
            <p:extLst>
              <p:ext uri="{D42A27DB-BD31-4B8C-83A1-F6EECF244321}">
                <p14:modId xmlns:p14="http://schemas.microsoft.com/office/powerpoint/2010/main" val="1317683631"/>
              </p:ext>
            </p:extLst>
          </p:nvPr>
        </p:nvGraphicFramePr>
        <p:xfrm>
          <a:off x="4942116" y="1816100"/>
          <a:ext cx="2327275" cy="546100"/>
        </p:xfrm>
        <a:graphic>
          <a:graphicData uri="http://schemas.openxmlformats.org/presentationml/2006/ole">
            <mc:AlternateContent xmlns:mc="http://schemas.openxmlformats.org/markup-compatibility/2006">
              <mc:Choice xmlns:v="urn:schemas-microsoft-com:vml" Requires="v">
                <p:oleObj spid="_x0000_s7227" name="Equation" r:id="rId8" imgW="1028520" imgH="241200" progId="Equation.3">
                  <p:embed/>
                </p:oleObj>
              </mc:Choice>
              <mc:Fallback>
                <p:oleObj name="Equation" r:id="rId8" imgW="1028520" imgH="241200" progId="Equation.3">
                  <p:embed/>
                  <p:pic>
                    <p:nvPicPr>
                      <p:cNvPr id="44" name="Object 1">
                        <a:extLst>
                          <a:ext uri="{FF2B5EF4-FFF2-40B4-BE49-F238E27FC236}">
                            <a16:creationId xmlns:a16="http://schemas.microsoft.com/office/drawing/2014/main" id="{4728BE6D-0145-4CCE-B71F-926D7E369C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42116" y="1816100"/>
                        <a:ext cx="2327275"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 name="Text Box 8">
            <a:extLst>
              <a:ext uri="{FF2B5EF4-FFF2-40B4-BE49-F238E27FC236}">
                <a16:creationId xmlns:a16="http://schemas.microsoft.com/office/drawing/2014/main" id="{CCE25C11-04DC-4B16-9897-08E1B51AF8DB}"/>
              </a:ext>
            </a:extLst>
          </p:cNvPr>
          <p:cNvSpPr txBox="1">
            <a:spLocks noChangeArrowheads="1"/>
          </p:cNvSpPr>
          <p:nvPr/>
        </p:nvSpPr>
        <p:spPr bwMode="auto">
          <a:xfrm>
            <a:off x="7304316" y="18288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20000"/>
              </a:spcBef>
            </a:pPr>
            <a:r>
              <a:rPr lang="en-US" altLang="zh-CN" sz="2400" b="1" i="1" dirty="0">
                <a:solidFill>
                  <a:schemeClr val="tx1"/>
                </a:solidFill>
                <a:latin typeface="Trebuchet MS" panose="020B0603020202020204" pitchFamily="34" charset="0"/>
                <a:ea typeface="宋体" panose="02010600030101010101" pitchFamily="2" charset="-122"/>
              </a:rPr>
              <a:t>So</a:t>
            </a:r>
            <a:r>
              <a:rPr lang="zh-CN" altLang="en-US" sz="2400" b="1" i="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dirty="0">
                <a:solidFill>
                  <a:schemeClr val="tx1"/>
                </a:solidFill>
                <a:latin typeface="Trebuchet MS" panose="020B0603020202020204" pitchFamily="34" charset="0"/>
                <a:ea typeface="宋体" panose="02010600030101010101" pitchFamily="2" charset="-122"/>
              </a:rPr>
              <a:t>=2</a:t>
            </a:r>
            <a:r>
              <a:rPr lang="en-US" altLang="zh-CN" sz="2400" b="1" i="1" baseline="30000" dirty="0">
                <a:solidFill>
                  <a:schemeClr val="tx1"/>
                </a:solidFill>
                <a:latin typeface="Trebuchet MS" panose="020B0603020202020204" pitchFamily="34" charset="0"/>
                <a:ea typeface="宋体" panose="02010600030101010101" pitchFamily="2" charset="-122"/>
              </a:rPr>
              <a:t>n-s</a:t>
            </a:r>
            <a:r>
              <a:rPr lang="en-US" altLang="zh-CN" sz="2400" b="1" i="1" dirty="0">
                <a:solidFill>
                  <a:schemeClr val="tx1"/>
                </a:solidFill>
                <a:latin typeface="Trebuchet MS" panose="020B0603020202020204" pitchFamily="34" charset="0"/>
                <a:ea typeface="宋体" panose="02010600030101010101" pitchFamily="2" charset="-122"/>
              </a:rPr>
              <a:t>, </a:t>
            </a:r>
            <a:endParaRPr lang="zh-CN" altLang="en-US" sz="2400" b="1" dirty="0">
              <a:solidFill>
                <a:schemeClr val="tx1"/>
              </a:solidFill>
              <a:latin typeface="Trebuchet MS" panose="020B0603020202020204" pitchFamily="34" charset="0"/>
              <a:ea typeface="宋体" panose="02010600030101010101" pitchFamily="2" charset="-122"/>
            </a:endParaRPr>
          </a:p>
        </p:txBody>
      </p:sp>
      <p:graphicFrame>
        <p:nvGraphicFramePr>
          <p:cNvPr id="46" name="Object 2">
            <a:extLst>
              <a:ext uri="{FF2B5EF4-FFF2-40B4-BE49-F238E27FC236}">
                <a16:creationId xmlns:a16="http://schemas.microsoft.com/office/drawing/2014/main" id="{4D3B220C-4599-4BB4-A995-7B9CAEEE1761}"/>
              </a:ext>
            </a:extLst>
          </p:cNvPr>
          <p:cNvGraphicFramePr>
            <a:graphicFrameLocks noChangeAspect="1"/>
          </p:cNvGraphicFramePr>
          <p:nvPr>
            <p:extLst>
              <p:ext uri="{D42A27DB-BD31-4B8C-83A1-F6EECF244321}">
                <p14:modId xmlns:p14="http://schemas.microsoft.com/office/powerpoint/2010/main" val="3665847375"/>
              </p:ext>
            </p:extLst>
          </p:nvPr>
        </p:nvGraphicFramePr>
        <p:xfrm>
          <a:off x="1698173" y="2882900"/>
          <a:ext cx="3763963" cy="546100"/>
        </p:xfrm>
        <a:graphic>
          <a:graphicData uri="http://schemas.openxmlformats.org/presentationml/2006/ole">
            <mc:AlternateContent xmlns:mc="http://schemas.openxmlformats.org/markup-compatibility/2006">
              <mc:Choice xmlns:v="urn:schemas-microsoft-com:vml" Requires="v">
                <p:oleObj spid="_x0000_s7228" name="Equation" r:id="rId10" imgW="1663560" imgH="241200" progId="Equation.3">
                  <p:embed/>
                </p:oleObj>
              </mc:Choice>
              <mc:Fallback>
                <p:oleObj name="Equation" r:id="rId10" imgW="1663560" imgH="241200" progId="Equation.3">
                  <p:embed/>
                  <p:pic>
                    <p:nvPicPr>
                      <p:cNvPr id="46" name="Object 2">
                        <a:extLst>
                          <a:ext uri="{FF2B5EF4-FFF2-40B4-BE49-F238E27FC236}">
                            <a16:creationId xmlns:a16="http://schemas.microsoft.com/office/drawing/2014/main" id="{4D3B220C-4599-4BB4-A995-7B9CAEEE176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8173" y="2882900"/>
                        <a:ext cx="3763963"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3">
            <a:extLst>
              <a:ext uri="{FF2B5EF4-FFF2-40B4-BE49-F238E27FC236}">
                <a16:creationId xmlns:a16="http://schemas.microsoft.com/office/drawing/2014/main" id="{7DBF1CCD-7BC5-4840-A759-B21406DE2806}"/>
              </a:ext>
            </a:extLst>
          </p:cNvPr>
          <p:cNvGraphicFramePr>
            <a:graphicFrameLocks noChangeAspect="1"/>
          </p:cNvGraphicFramePr>
          <p:nvPr>
            <p:extLst>
              <p:ext uri="{D42A27DB-BD31-4B8C-83A1-F6EECF244321}">
                <p14:modId xmlns:p14="http://schemas.microsoft.com/office/powerpoint/2010/main" val="3296952808"/>
              </p:ext>
            </p:extLst>
          </p:nvPr>
        </p:nvGraphicFramePr>
        <p:xfrm>
          <a:off x="1926773" y="3533775"/>
          <a:ext cx="4310063" cy="1724025"/>
        </p:xfrm>
        <a:graphic>
          <a:graphicData uri="http://schemas.openxmlformats.org/presentationml/2006/ole">
            <mc:AlternateContent xmlns:mc="http://schemas.openxmlformats.org/markup-compatibility/2006">
              <mc:Choice xmlns:v="urn:schemas-microsoft-com:vml" Requires="v">
                <p:oleObj spid="_x0000_s7229" name="Equation" r:id="rId12" imgW="1904760" imgH="761760" progId="Equation.3">
                  <p:embed/>
                </p:oleObj>
              </mc:Choice>
              <mc:Fallback>
                <p:oleObj name="Equation" r:id="rId12" imgW="1904760" imgH="761760" progId="Equation.3">
                  <p:embed/>
                  <p:pic>
                    <p:nvPicPr>
                      <p:cNvPr id="75" name="Object 3">
                        <a:extLst>
                          <a:ext uri="{FF2B5EF4-FFF2-40B4-BE49-F238E27FC236}">
                            <a16:creationId xmlns:a16="http://schemas.microsoft.com/office/drawing/2014/main" id="{7DBF1CCD-7BC5-4840-A759-B21406DE280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6773" y="3533775"/>
                        <a:ext cx="4310063" cy="172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 name="Text Box 12">
            <a:extLst>
              <a:ext uri="{FF2B5EF4-FFF2-40B4-BE49-F238E27FC236}">
                <a16:creationId xmlns:a16="http://schemas.microsoft.com/office/drawing/2014/main" id="{36550372-D664-4EF5-80BD-8D92651E49D3}"/>
              </a:ext>
            </a:extLst>
          </p:cNvPr>
          <p:cNvSpPr txBox="1">
            <a:spLocks noChangeArrowheads="1"/>
          </p:cNvSpPr>
          <p:nvPr/>
        </p:nvSpPr>
        <p:spPr bwMode="auto">
          <a:xfrm>
            <a:off x="1262738" y="2438400"/>
            <a:ext cx="1830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l" eaLnBrk="1" hangingPunct="1">
              <a:spcBef>
                <a:spcPct val="20000"/>
              </a:spcBef>
            </a:pPr>
            <a:r>
              <a:rPr lang="en-US" altLang="zh-CN" sz="2400" b="1" dirty="0">
                <a:solidFill>
                  <a:schemeClr val="tx1"/>
                </a:solidFill>
                <a:latin typeface="Trebuchet MS" panose="020B0603020202020204" pitchFamily="34" charset="0"/>
                <a:ea typeface="宋体" panose="02010600030101010101" pitchFamily="2" charset="-122"/>
              </a:rPr>
              <a:t>Thus</a:t>
            </a:r>
            <a:r>
              <a:rPr lang="zh-CN" altLang="en-US" sz="2400" b="1" dirty="0">
                <a:solidFill>
                  <a:schemeClr val="tx1"/>
                </a:solidFill>
                <a:latin typeface="Trebuchet MS" panose="020B0603020202020204" pitchFamily="34" charset="0"/>
                <a:ea typeface="宋体" panose="02010600030101010101" pitchFamily="2" charset="-122"/>
              </a:rPr>
              <a:t>：</a:t>
            </a:r>
          </a:p>
        </p:txBody>
      </p:sp>
    </p:spTree>
    <p:extLst>
      <p:ext uri="{BB962C8B-B14F-4D97-AF65-F5344CB8AC3E}">
        <p14:creationId xmlns:p14="http://schemas.microsoft.com/office/powerpoint/2010/main" val="26619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1000"/>
                                        <p:tgtEl>
                                          <p:spTgt spid="76"/>
                                        </p:tgtEl>
                                      </p:cBhvr>
                                    </p:animEffect>
                                    <p:anim calcmode="lin" valueType="num">
                                      <p:cBhvr>
                                        <p:cTn id="8" dur="1000" fill="hold"/>
                                        <p:tgtEl>
                                          <p:spTgt spid="76"/>
                                        </p:tgtEl>
                                        <p:attrNameLst>
                                          <p:attrName>ppt_x</p:attrName>
                                        </p:attrNameLst>
                                      </p:cBhvr>
                                      <p:tavLst>
                                        <p:tav tm="0">
                                          <p:val>
                                            <p:strVal val="#ppt_x"/>
                                          </p:val>
                                        </p:tav>
                                        <p:tav tm="100000">
                                          <p:val>
                                            <p:strVal val="#ppt_x"/>
                                          </p:val>
                                        </p:tav>
                                      </p:tavLst>
                                    </p:anim>
                                    <p:anim calcmode="lin" valueType="num">
                                      <p:cBhvr>
                                        <p:cTn id="9"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fade">
                                      <p:cBhvr>
                                        <p:cTn id="14" dur="1000"/>
                                        <p:tgtEl>
                                          <p:spTgt spid="46"/>
                                        </p:tgtEl>
                                      </p:cBhvr>
                                    </p:animEffect>
                                    <p:anim calcmode="lin" valueType="num">
                                      <p:cBhvr>
                                        <p:cTn id="15" dur="1000" fill="hold"/>
                                        <p:tgtEl>
                                          <p:spTgt spid="46"/>
                                        </p:tgtEl>
                                        <p:attrNameLst>
                                          <p:attrName>ppt_x</p:attrName>
                                        </p:attrNameLst>
                                      </p:cBhvr>
                                      <p:tavLst>
                                        <p:tav tm="0">
                                          <p:val>
                                            <p:strVal val="#ppt_x"/>
                                          </p:val>
                                        </p:tav>
                                        <p:tav tm="100000">
                                          <p:val>
                                            <p:strVal val="#ppt_x"/>
                                          </p:val>
                                        </p:tav>
                                      </p:tavLst>
                                    </p:anim>
                                    <p:anim calcmode="lin" valueType="num">
                                      <p:cBhvr>
                                        <p:cTn id="16"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5"/>
                                        </p:tgtEl>
                                        <p:attrNameLst>
                                          <p:attrName>style.visibility</p:attrName>
                                        </p:attrNameLst>
                                      </p:cBhvr>
                                      <p:to>
                                        <p:strVal val="visible"/>
                                      </p:to>
                                    </p:set>
                                    <p:animEffect transition="in" filter="fade">
                                      <p:cBhvr>
                                        <p:cTn id="21" dur="1000"/>
                                        <p:tgtEl>
                                          <p:spTgt spid="75"/>
                                        </p:tgtEl>
                                      </p:cBhvr>
                                    </p:animEffect>
                                    <p:anim calcmode="lin" valueType="num">
                                      <p:cBhvr>
                                        <p:cTn id="22" dur="1000" fill="hold"/>
                                        <p:tgtEl>
                                          <p:spTgt spid="75"/>
                                        </p:tgtEl>
                                        <p:attrNameLst>
                                          <p:attrName>ppt_x</p:attrName>
                                        </p:attrNameLst>
                                      </p:cBhvr>
                                      <p:tavLst>
                                        <p:tav tm="0">
                                          <p:val>
                                            <p:strVal val="#ppt_x"/>
                                          </p:val>
                                        </p:tav>
                                        <p:tav tm="100000">
                                          <p:val>
                                            <p:strVal val="#ppt_x"/>
                                          </p:val>
                                        </p:tav>
                                      </p:tavLst>
                                    </p:anim>
                                    <p:anim calcmode="lin" valueType="num">
                                      <p:cBhvr>
                                        <p:cTn id="23"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2.3 Normal Forms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latin typeface="Trebuchet MS" panose="020B0603020202020204" pitchFamily="34" charset="0"/>
              </a:rPr>
              <a:t>Objective :</a:t>
            </a:r>
          </a:p>
          <a:p>
            <a:pPr>
              <a:lnSpc>
                <a:spcPct val="150000"/>
              </a:lnSpc>
              <a:buFont typeface="Wingdings" panose="05000000000000000000" pitchFamily="2" charset="2"/>
              <a:buNone/>
            </a:pPr>
            <a:endParaRPr lang="en-US" altLang="zh-CN" sz="2400" b="1" dirty="0">
              <a:latin typeface="Trebuchet MS" panose="020B0603020202020204" pitchFamily="34" charset="0"/>
            </a:endParaRPr>
          </a:p>
          <a:p>
            <a:pPr>
              <a:lnSpc>
                <a:spcPct val="150000"/>
              </a:lnSpc>
              <a:buFont typeface="Wingdings" panose="05000000000000000000" pitchFamily="2" charset="2"/>
              <a:buNone/>
            </a:pPr>
            <a:endParaRPr lang="en-US" altLang="zh-CN" sz="2400" b="1" dirty="0">
              <a:latin typeface="Trebuchet MS" panose="020B0603020202020204" pitchFamily="34" charset="0"/>
            </a:endParaRPr>
          </a:p>
          <a:p>
            <a:pPr>
              <a:lnSpc>
                <a:spcPct val="150000"/>
              </a:lnSpc>
              <a:buNone/>
            </a:pPr>
            <a:r>
              <a:rPr lang="en-US" altLang="zh-CN" sz="2400" b="1" dirty="0">
                <a:latin typeface="Trebuchet MS" panose="020B0603020202020204" pitchFamily="34" charset="0"/>
              </a:rPr>
              <a:t>Key Concepts </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77269102"/>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9655</TotalTime>
  <Words>18625</Words>
  <Application>Microsoft Office PowerPoint</Application>
  <PresentationFormat>宽屏</PresentationFormat>
  <Paragraphs>1529</Paragraphs>
  <Slides>80</Slides>
  <Notes>80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100" baseType="lpstr">
      <vt:lpstr>-apple-system</vt:lpstr>
      <vt:lpstr>Arial Unicode MS</vt:lpstr>
      <vt:lpstr>等线</vt:lpstr>
      <vt:lpstr>KaTeX_Main</vt:lpstr>
      <vt:lpstr>KaTeX_Math</vt:lpstr>
      <vt:lpstr>微软雅黑</vt:lpstr>
      <vt:lpstr>宋体</vt:lpstr>
      <vt:lpstr>Söhne</vt:lpstr>
      <vt:lpstr>Arial</vt:lpstr>
      <vt:lpstr>Calibri</vt:lpstr>
      <vt:lpstr>Calibri Light</vt:lpstr>
      <vt:lpstr>Cambria Math</vt:lpstr>
      <vt:lpstr>Segoe UI</vt:lpstr>
      <vt:lpstr>Symbol</vt:lpstr>
      <vt:lpstr>Times New Roman</vt:lpstr>
      <vt:lpstr>Trebuchet MS</vt:lpstr>
      <vt:lpstr>Wingdings</vt:lpstr>
      <vt:lpstr>Office 主题</vt:lpstr>
      <vt:lpstr>Visio</vt:lpstr>
      <vt:lpstr>Equation</vt:lpstr>
      <vt:lpstr> 离散数学（011122）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离散数学（011122）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离散数学（011122）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dc:creator>
  <cp:lastModifiedBy>keji</cp:lastModifiedBy>
  <cp:revision>861</cp:revision>
  <dcterms:created xsi:type="dcterms:W3CDTF">2017-07-24T02:14:00Z</dcterms:created>
  <dcterms:modified xsi:type="dcterms:W3CDTF">2025-03-18T05:33:36Z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