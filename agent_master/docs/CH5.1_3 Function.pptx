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0"/>
  </p:notesMasterIdLst>
  <p:sldIdLst>
    <p:sldId id="615" r:id="rId2"/>
    <p:sldId id="265" r:id="rId3"/>
    <p:sldId id="578" r:id="rId4"/>
    <p:sldId id="651" r:id="rId5"/>
    <p:sldId id="652" r:id="rId6"/>
    <p:sldId id="653" r:id="rId7"/>
    <p:sldId id="699" r:id="rId8"/>
    <p:sldId id="654" r:id="rId9"/>
    <p:sldId id="655" r:id="rId10"/>
    <p:sldId id="656" r:id="rId11"/>
    <p:sldId id="657" r:id="rId12"/>
    <p:sldId id="658" r:id="rId13"/>
    <p:sldId id="659" r:id="rId14"/>
    <p:sldId id="660" r:id="rId15"/>
    <p:sldId id="700" r:id="rId16"/>
    <p:sldId id="661" r:id="rId17"/>
    <p:sldId id="662" r:id="rId18"/>
    <p:sldId id="707" r:id="rId19"/>
    <p:sldId id="706" r:id="rId20"/>
    <p:sldId id="709" r:id="rId21"/>
    <p:sldId id="710" r:id="rId22"/>
    <p:sldId id="711" r:id="rId23"/>
    <p:sldId id="712" r:id="rId24"/>
    <p:sldId id="713" r:id="rId25"/>
    <p:sldId id="665" r:id="rId26"/>
    <p:sldId id="714" r:id="rId27"/>
    <p:sldId id="715" r:id="rId28"/>
    <p:sldId id="504" r:id="rId29"/>
    <p:sldId id="704" r:id="rId30"/>
    <p:sldId id="717" r:id="rId31"/>
    <p:sldId id="607" r:id="rId32"/>
    <p:sldId id="628" r:id="rId33"/>
    <p:sldId id="670" r:id="rId34"/>
    <p:sldId id="719" r:id="rId35"/>
    <p:sldId id="720" r:id="rId36"/>
    <p:sldId id="672" r:id="rId37"/>
    <p:sldId id="722" r:id="rId38"/>
    <p:sldId id="673" r:id="rId39"/>
    <p:sldId id="674" r:id="rId40"/>
    <p:sldId id="675" r:id="rId41"/>
    <p:sldId id="723" r:id="rId42"/>
    <p:sldId id="705" r:id="rId43"/>
    <p:sldId id="724" r:id="rId44"/>
    <p:sldId id="725" r:id="rId45"/>
    <p:sldId id="730" r:id="rId46"/>
    <p:sldId id="679" r:id="rId47"/>
    <p:sldId id="736" r:id="rId48"/>
    <p:sldId id="738" r:id="rId49"/>
    <p:sldId id="731" r:id="rId50"/>
    <p:sldId id="739" r:id="rId51"/>
    <p:sldId id="695" r:id="rId52"/>
    <p:sldId id="735" r:id="rId53"/>
    <p:sldId id="732" r:id="rId54"/>
    <p:sldId id="696" r:id="rId55"/>
    <p:sldId id="734" r:id="rId56"/>
    <p:sldId id="693" r:id="rId57"/>
    <p:sldId id="742" r:id="rId58"/>
    <p:sldId id="751" r:id="rId59"/>
    <p:sldId id="681" r:id="rId60"/>
    <p:sldId id="748" r:id="rId61"/>
    <p:sldId id="697" r:id="rId62"/>
    <p:sldId id="746" r:id="rId63"/>
    <p:sldId id="743" r:id="rId64"/>
    <p:sldId id="682" r:id="rId65"/>
    <p:sldId id="698" r:id="rId66"/>
    <p:sldId id="683" r:id="rId67"/>
    <p:sldId id="747" r:id="rId68"/>
    <p:sldId id="750" r:id="rId69"/>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2">
          <p15:clr>
            <a:srgbClr val="A4A3A4"/>
          </p15:clr>
        </p15:guide>
        <p15:guide id="2" pos="379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eihy xjtu" initials="wx" lastIdx="1" clrIdx="0">
    <p:extLst>
      <p:ext uri="{19B8F6BF-5375-455C-9EA6-DF929625EA0E}">
        <p15:presenceInfo xmlns:p15="http://schemas.microsoft.com/office/powerpoint/2012/main" userId="02027572482cfb7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61FF"/>
    <a:srgbClr val="DEDAF8"/>
    <a:srgbClr val="CFA57C"/>
    <a:srgbClr val="002F7C"/>
    <a:srgbClr val="104AA8"/>
    <a:srgbClr val="0C3EAC"/>
    <a:srgbClr val="3D557A"/>
    <a:srgbClr val="45566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23" autoAdjust="0"/>
    <p:restoredTop sz="59951" autoAdjust="0"/>
  </p:normalViewPr>
  <p:slideViewPr>
    <p:cSldViewPr snapToGrid="0" showGuides="1">
      <p:cViewPr varScale="1">
        <p:scale>
          <a:sx n="66" d="100"/>
          <a:sy n="66" d="100"/>
        </p:scale>
        <p:origin x="1872" y="66"/>
      </p:cViewPr>
      <p:guideLst>
        <p:guide orient="horz" pos="2032"/>
        <p:guide pos="379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873E485D-0A46-47F7-A37C-0200B173D2B8}" type="datetimeFigureOut">
              <a:rPr lang="zh-CN" altLang="en-US" smtClean="0"/>
              <a:t>2025/4/16</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CAFE74B6-F93C-4D90-BE1A-7EFEDB35C0D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zh.wikipedia.org/wiki/%E9%99%AA%E5%9F%9F"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zh.wikipedia.org/wiki/%E5%8F%8C%E5%B0%84" TargetMode="External"/><Relationship Id="rId4" Type="http://schemas.openxmlformats.org/officeDocument/2006/relationships/hyperlink" Target="https://zh.wikipedia.org/wiki/%E5%80%BC%E5%9F%9F"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zh.wikipedia.org/wiki/%E9%99%AA%E5%9F%9F" TargetMode="External"/><Relationship Id="rId2" Type="http://schemas.openxmlformats.org/officeDocument/2006/relationships/slide" Target="../slides/slide19.xml"/><Relationship Id="rId1" Type="http://schemas.openxmlformats.org/officeDocument/2006/relationships/notesMaster" Target="../notesMasters/notesMaster1.xml"/><Relationship Id="rId5" Type="http://schemas.openxmlformats.org/officeDocument/2006/relationships/hyperlink" Target="https://zh.wikipedia.org/wiki/%E5%8F%8C%E5%B0%84" TargetMode="External"/><Relationship Id="rId4" Type="http://schemas.openxmlformats.org/officeDocument/2006/relationships/hyperlink" Target="https://zh.wikipedia.org/wiki/%E5%80%BC%E5%9F%9F"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zh.wikipedia.org/wiki/%E9%99%AA%E5%9F%9F" TargetMode="External"/><Relationship Id="rId2" Type="http://schemas.openxmlformats.org/officeDocument/2006/relationships/slide" Target="../slides/slide20.xml"/><Relationship Id="rId1" Type="http://schemas.openxmlformats.org/officeDocument/2006/relationships/notesMaster" Target="../notesMasters/notesMaster1.xml"/><Relationship Id="rId5" Type="http://schemas.openxmlformats.org/officeDocument/2006/relationships/hyperlink" Target="https://zh.wikipedia.org/wiki/%E5%8F%8C%E5%B0%84" TargetMode="External"/><Relationship Id="rId4" Type="http://schemas.openxmlformats.org/officeDocument/2006/relationships/hyperlink" Target="https://zh.wikipedia.org/wiki/%E5%80%BC%E5%9F%9F"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zh.wikipedia.org/wiki/%E9%99%AA%E5%9F%9F" TargetMode="External"/><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https://zh.wikipedia.org/wiki/%E5%8F%8C%E5%B0%84" TargetMode="External"/><Relationship Id="rId4" Type="http://schemas.openxmlformats.org/officeDocument/2006/relationships/hyperlink" Target="https://zh.wikipedia.org/wiki/%E5%80%BC%E5%9F%9F"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zh.wikipedia.org/wiki/%E9%99%AA%E5%9F%9F" TargetMode="External"/><Relationship Id="rId2" Type="http://schemas.openxmlformats.org/officeDocument/2006/relationships/slide" Target="../slides/slide22.xml"/><Relationship Id="rId1" Type="http://schemas.openxmlformats.org/officeDocument/2006/relationships/notesMaster" Target="../notesMasters/notesMaster1.xml"/><Relationship Id="rId5" Type="http://schemas.openxmlformats.org/officeDocument/2006/relationships/hyperlink" Target="https://zh.wikipedia.org/wiki/%E5%8F%8C%E5%B0%84" TargetMode="External"/><Relationship Id="rId4" Type="http://schemas.openxmlformats.org/officeDocument/2006/relationships/hyperlink" Target="https://zh.wikipedia.org/wiki/%E5%80%BC%E5%9F%9F"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zh.wikipedia.org/wiki/%E9%99%AA%E5%9F%9F" TargetMode="External"/><Relationship Id="rId2" Type="http://schemas.openxmlformats.org/officeDocument/2006/relationships/slide" Target="../slides/slide23.xml"/><Relationship Id="rId1" Type="http://schemas.openxmlformats.org/officeDocument/2006/relationships/notesMaster" Target="../notesMasters/notesMaster1.xml"/><Relationship Id="rId5" Type="http://schemas.openxmlformats.org/officeDocument/2006/relationships/hyperlink" Target="https://zh.wikipedia.org/wiki/%E5%8F%8C%E5%B0%84" TargetMode="External"/><Relationship Id="rId4" Type="http://schemas.openxmlformats.org/officeDocument/2006/relationships/hyperlink" Target="https://zh.wikipedia.org/wiki/%E5%80%BC%E5%9F%9F"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zh.wikipedia.org/wiki/%E9%99%AA%E5%9F%9F" TargetMode="External"/><Relationship Id="rId2" Type="http://schemas.openxmlformats.org/officeDocument/2006/relationships/slide" Target="../slides/slide24.xml"/><Relationship Id="rId1" Type="http://schemas.openxmlformats.org/officeDocument/2006/relationships/notesMaster" Target="../notesMasters/notesMaster1.xml"/><Relationship Id="rId5" Type="http://schemas.openxmlformats.org/officeDocument/2006/relationships/hyperlink" Target="https://zh.wikipedia.org/wiki/%E5%8F%8C%E5%B0%84" TargetMode="External"/><Relationship Id="rId4" Type="http://schemas.openxmlformats.org/officeDocument/2006/relationships/hyperlink" Target="https://zh.wikipedia.org/wiki/%E5%80%BC%E5%9F%9F"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892175" eaLnBrk="1" hangingPunct="1">
              <a:spcBef>
                <a:spcPct val="60000"/>
              </a:spcBef>
              <a:buNone/>
            </a:pPr>
            <a:r>
              <a:rPr lang="en-US" altLang="zh-CN" b="1" dirty="0">
                <a:solidFill>
                  <a:srgbClr val="FF0000"/>
                </a:solidFill>
              </a:rPr>
              <a:t>5.1 </a:t>
            </a:r>
            <a:r>
              <a:rPr lang="zh-CN" altLang="en-US" b="1" dirty="0">
                <a:solidFill>
                  <a:srgbClr val="FF0000"/>
                </a:solidFill>
              </a:rPr>
              <a:t>函数定义及其性质</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5.2 </a:t>
            </a:r>
            <a:r>
              <a:rPr lang="zh-CN" altLang="en-US" b="1" dirty="0"/>
              <a:t>函数的复合与反函数</a:t>
            </a:r>
            <a:endParaRPr lang="en-US" altLang="zh-CN" b="1" dirty="0"/>
          </a:p>
          <a:p>
            <a:pPr marL="0" indent="892175" eaLnBrk="1" hangingPunct="1">
              <a:spcBef>
                <a:spcPct val="60000"/>
              </a:spcBef>
              <a:buNone/>
            </a:pPr>
            <a:endParaRPr lang="en-US" altLang="zh-CN" b="1" dirty="0"/>
          </a:p>
          <a:p>
            <a:pPr marL="0" indent="892175" eaLnBrk="1" hangingPunct="1">
              <a:spcBef>
                <a:spcPct val="60000"/>
              </a:spcBef>
              <a:buNone/>
            </a:pPr>
            <a:r>
              <a:rPr lang="en-US" altLang="zh-CN" b="1" dirty="0"/>
              <a:t>5.3 </a:t>
            </a:r>
            <a:r>
              <a:rPr lang="zh-CN" altLang="en-US" b="1" dirty="0"/>
              <a:t>关系代数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990600" eaLnBrk="1" hangingPunct="1">
              <a:buNone/>
            </a:pPr>
            <a:r>
              <a:rPr lang="en-US" altLang="zh-CN" b="1" dirty="0"/>
              <a:t>5.1.1 </a:t>
            </a:r>
            <a:r>
              <a:rPr lang="zh-CN" altLang="en-US" b="1" dirty="0"/>
              <a:t>函数的定义</a:t>
            </a:r>
            <a:endParaRPr lang="en-US" altLang="zh-CN" b="1" dirty="0"/>
          </a:p>
          <a:p>
            <a:pPr marL="0" indent="990600" eaLnBrk="1" hangingPunct="1">
              <a:buNone/>
            </a:pPr>
            <a:endParaRPr lang="zh-CN" altLang="en-US" b="1" dirty="0"/>
          </a:p>
          <a:p>
            <a:pPr marL="0" indent="0" eaLnBrk="1" hangingPunct="1">
              <a:buNone/>
            </a:pPr>
            <a:r>
              <a:rPr lang="en-US" altLang="zh-CN" b="1" dirty="0"/>
              <a:t>             5.1.2 </a:t>
            </a:r>
            <a:r>
              <a:rPr lang="zh-CN" altLang="en-US" b="1" dirty="0"/>
              <a:t>函数的像与完全原像</a:t>
            </a:r>
            <a:endParaRPr lang="en-US" altLang="zh-CN" b="1" dirty="0"/>
          </a:p>
          <a:p>
            <a:pPr marL="0" indent="0" eaLnBrk="1" hangingPunct="1">
              <a:buNone/>
            </a:pPr>
            <a:endParaRPr lang="zh-CN" altLang="en-US" b="1" dirty="0"/>
          </a:p>
          <a:p>
            <a:pPr marL="0" indent="0" eaLnBrk="1" hangingPunct="1">
              <a:buNone/>
            </a:pPr>
            <a:r>
              <a:rPr lang="en-US" altLang="zh-CN" b="1" dirty="0"/>
              <a:t>             5.1.3 </a:t>
            </a:r>
            <a:r>
              <a:rPr lang="zh-CN" altLang="en-US" b="1" dirty="0"/>
              <a:t>函数的性质</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a:t>
            </a:fld>
            <a:endParaRPr lang="zh-CN" altLang="en-US"/>
          </a:p>
        </p:txBody>
      </p:sp>
    </p:spTree>
    <p:extLst>
      <p:ext uri="{BB962C8B-B14F-4D97-AF65-F5344CB8AC3E}">
        <p14:creationId xmlns:p14="http://schemas.microsoft.com/office/powerpoint/2010/main" val="2251603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a:t>
            </a:r>
            <a:r>
              <a:rPr lang="en-US" altLang="zh-CN" dirty="0"/>
              <a:t>x</a:t>
            </a:r>
            <a:r>
              <a:rPr lang="zh-CN" altLang="en-US" dirty="0"/>
              <a:t>只有一个</a:t>
            </a:r>
            <a:r>
              <a:rPr lang="en-US" altLang="zh-CN" dirty="0"/>
              <a:t>y</a:t>
            </a:r>
          </a:p>
          <a:p>
            <a:endParaRPr lang="en-US" altLang="zh-CN" dirty="0"/>
          </a:p>
          <a:p>
            <a:pPr eaLnBrk="1" hangingPunct="1">
              <a:lnSpc>
                <a:spcPct val="12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5.1 </a:t>
            </a:r>
            <a:r>
              <a:rPr kumimoji="0" lang="en-US" altLang="zh-CN" sz="1200" b="1" dirty="0"/>
              <a:t> </a:t>
            </a:r>
            <a:r>
              <a:rPr kumimoji="0" lang="zh-CN" altLang="en-US" sz="1200" b="1" dirty="0"/>
              <a:t>设 </a:t>
            </a:r>
            <a:r>
              <a:rPr kumimoji="0" lang="en-US" altLang="zh-CN" sz="1200" b="1" i="1" dirty="0"/>
              <a:t>f </a:t>
            </a:r>
            <a:r>
              <a:rPr kumimoji="0" lang="zh-CN" altLang="en-US" sz="1200" b="1" dirty="0"/>
              <a:t>为二元关系</a:t>
            </a:r>
            <a:r>
              <a:rPr kumimoji="0" lang="en-US" altLang="zh-CN" sz="1200" b="1" dirty="0"/>
              <a:t>, </a:t>
            </a:r>
            <a:r>
              <a:rPr kumimoji="0" lang="zh-CN" altLang="en-US" sz="1200" b="1" dirty="0"/>
              <a:t>若 </a:t>
            </a:r>
            <a:r>
              <a:rPr kumimoji="0" lang="zh-CN" altLang="en-US" sz="1200" b="1" dirty="0">
                <a:sym typeface="Symbol" panose="05050102010706020507" pitchFamily="18" charset="2"/>
              </a:rPr>
              <a:t></a:t>
            </a:r>
            <a:r>
              <a:rPr kumimoji="0" lang="en-US" altLang="zh-CN" sz="1200" b="1" i="1" dirty="0"/>
              <a:t>x</a:t>
            </a:r>
            <a:r>
              <a:rPr kumimoji="0" lang="en-US" altLang="zh-CN" sz="1200" b="1" dirty="0"/>
              <a:t>∈dom</a:t>
            </a:r>
            <a:r>
              <a:rPr kumimoji="0" lang="en-US" altLang="zh-CN" sz="1200" b="1" i="1" dirty="0"/>
              <a:t>f </a:t>
            </a:r>
            <a:r>
              <a:rPr kumimoji="0" lang="zh-CN" altLang="en-US" sz="1200" b="1" dirty="0"/>
              <a:t>都存在唯一的</a:t>
            </a:r>
            <a:r>
              <a:rPr kumimoji="0" lang="en-US" altLang="zh-CN" sz="1200" b="1" i="1" dirty="0"/>
              <a:t>y</a:t>
            </a:r>
            <a:r>
              <a:rPr kumimoji="0" lang="en-US" altLang="zh-CN" sz="1200" b="1" dirty="0"/>
              <a:t>∈ran</a:t>
            </a:r>
            <a:r>
              <a:rPr kumimoji="0" lang="en-US" altLang="zh-CN" sz="1200" b="1" i="1" dirty="0"/>
              <a:t>f </a:t>
            </a:r>
            <a:r>
              <a:rPr kumimoji="0" lang="zh-CN" altLang="en-US" sz="1200" b="1" dirty="0"/>
              <a:t>使 </a:t>
            </a:r>
            <a:r>
              <a:rPr kumimoji="0" lang="en-US" altLang="zh-CN" sz="1200" b="1" i="1" dirty="0"/>
              <a:t>x f y </a:t>
            </a:r>
            <a:r>
              <a:rPr kumimoji="0" lang="zh-CN" altLang="en-US" sz="1200" b="1" dirty="0"/>
              <a:t>成立</a:t>
            </a:r>
            <a:r>
              <a:rPr kumimoji="0" lang="en-US" altLang="zh-CN" sz="1200" b="1" dirty="0"/>
              <a:t>, </a:t>
            </a:r>
            <a:r>
              <a:rPr kumimoji="0" lang="zh-CN" altLang="en-US" sz="1200" b="1" dirty="0"/>
              <a:t>则称 </a:t>
            </a:r>
            <a:r>
              <a:rPr kumimoji="0" lang="en-US" altLang="zh-CN" sz="1200" b="1" i="1" dirty="0"/>
              <a:t>f</a:t>
            </a:r>
            <a:r>
              <a:rPr kumimoji="0" lang="zh-CN" altLang="en-US" sz="1200" b="1" dirty="0"/>
              <a:t>为</a:t>
            </a:r>
            <a:r>
              <a:rPr kumimoji="0" lang="zh-CN" altLang="en-US" sz="1200" b="1" dirty="0">
                <a:solidFill>
                  <a:srgbClr val="FF0000"/>
                </a:solidFill>
              </a:rPr>
              <a:t>函数</a:t>
            </a:r>
            <a:r>
              <a:rPr kumimoji="0" lang="en-US" altLang="zh-CN" sz="1200" b="1" dirty="0"/>
              <a:t>.  </a:t>
            </a:r>
            <a:r>
              <a:rPr kumimoji="0" lang="zh-CN" altLang="en-US" sz="1200" b="1" dirty="0"/>
              <a:t>对于函数</a:t>
            </a:r>
            <a:r>
              <a:rPr kumimoji="0" lang="en-US" altLang="zh-CN" sz="1200" b="1" i="1" dirty="0"/>
              <a:t>f</a:t>
            </a:r>
            <a:r>
              <a:rPr kumimoji="0" lang="en-US" altLang="zh-CN" sz="1200" b="1" dirty="0"/>
              <a:t>, </a:t>
            </a:r>
            <a:r>
              <a:rPr kumimoji="0" lang="zh-CN" altLang="en-US" sz="1200" b="1" dirty="0"/>
              <a:t>如果有 </a:t>
            </a:r>
            <a:r>
              <a:rPr kumimoji="0" lang="en-US" altLang="zh-CN" sz="1200" b="1" i="1" dirty="0"/>
              <a:t>x f y</a:t>
            </a:r>
            <a:r>
              <a:rPr kumimoji="0" lang="en-US" altLang="zh-CN" sz="1200" b="1" dirty="0"/>
              <a:t>, </a:t>
            </a:r>
            <a:r>
              <a:rPr kumimoji="0" lang="zh-CN" altLang="en-US" sz="1200" b="1" dirty="0"/>
              <a:t>则记作 </a:t>
            </a:r>
            <a:r>
              <a:rPr kumimoji="0" lang="en-US" altLang="zh-CN" sz="1200" b="1" i="1" dirty="0"/>
              <a:t>y</a:t>
            </a:r>
            <a:r>
              <a:rPr kumimoji="0" lang="en-US" altLang="zh-CN" sz="1200" b="1" dirty="0"/>
              <a:t>=</a:t>
            </a:r>
            <a:r>
              <a:rPr kumimoji="0" lang="en-US" altLang="zh-CN" sz="1200" b="1" i="1" dirty="0"/>
              <a:t>f</a:t>
            </a:r>
            <a:r>
              <a:rPr kumimoji="0" lang="en-US" altLang="zh-CN" sz="1200" b="1" dirty="0"/>
              <a:t>(</a:t>
            </a:r>
            <a:r>
              <a:rPr kumimoji="0" lang="en-US" altLang="zh-CN" sz="1200" b="1" i="1" dirty="0"/>
              <a:t>x</a:t>
            </a:r>
            <a:r>
              <a:rPr kumimoji="0" lang="en-US" altLang="zh-CN" sz="1200" b="1" dirty="0"/>
              <a:t>), </a:t>
            </a:r>
            <a:r>
              <a:rPr kumimoji="0" lang="zh-CN" altLang="en-US" sz="1200" b="1" dirty="0"/>
              <a:t>并称 </a:t>
            </a:r>
            <a:r>
              <a:rPr kumimoji="0" lang="en-US" altLang="zh-CN" sz="1200" b="1" i="1" dirty="0"/>
              <a:t>y </a:t>
            </a:r>
            <a:r>
              <a:rPr kumimoji="0" lang="zh-CN" altLang="en-US" sz="1200" b="1" dirty="0"/>
              <a:t>为 </a:t>
            </a:r>
            <a:r>
              <a:rPr kumimoji="0" lang="en-US" altLang="zh-CN" sz="1200" b="1" i="1" dirty="0">
                <a:solidFill>
                  <a:srgbClr val="FF0000"/>
                </a:solidFill>
              </a:rPr>
              <a:t>f </a:t>
            </a:r>
            <a:r>
              <a:rPr kumimoji="0" lang="zh-CN" altLang="en-US" sz="1200" b="1" dirty="0">
                <a:solidFill>
                  <a:srgbClr val="FF0000"/>
                </a:solidFill>
              </a:rPr>
              <a:t>在 </a:t>
            </a:r>
            <a:r>
              <a:rPr kumimoji="0" lang="en-US" altLang="zh-CN" sz="1200" b="1" i="1" dirty="0">
                <a:solidFill>
                  <a:srgbClr val="FF0000"/>
                </a:solidFill>
              </a:rPr>
              <a:t>x </a:t>
            </a:r>
            <a:r>
              <a:rPr kumimoji="0" lang="zh-CN" altLang="en-US" sz="1200" b="1" dirty="0">
                <a:solidFill>
                  <a:srgbClr val="FF0000"/>
                </a:solidFill>
              </a:rPr>
              <a:t>的值</a:t>
            </a:r>
            <a:r>
              <a:rPr kumimoji="0" lang="en-US" altLang="zh-CN" sz="1200" b="1" dirty="0"/>
              <a:t>. </a:t>
            </a:r>
          </a:p>
          <a:p>
            <a:pPr eaLnBrk="1" hangingPunct="1">
              <a:lnSpc>
                <a:spcPct val="120000"/>
              </a:lnSpc>
              <a:spcBef>
                <a:spcPct val="0"/>
              </a:spcBef>
              <a:buFontTx/>
              <a:buNone/>
            </a:pPr>
            <a:endParaRPr kumimoji="0" lang="en-US" altLang="zh-CN" sz="1200" b="1" dirty="0"/>
          </a:p>
          <a:p>
            <a:pPr eaLnBrk="1" hangingPunct="1">
              <a:lnSpc>
                <a:spcPct val="120000"/>
              </a:lnSpc>
              <a:spcBef>
                <a:spcPct val="0"/>
              </a:spcBef>
              <a:buFontTx/>
              <a:buNone/>
            </a:pPr>
            <a:r>
              <a:rPr kumimoji="0" lang="zh-CN" altLang="en-US" sz="1200" b="1" dirty="0">
                <a:solidFill>
                  <a:srgbClr val="00B0F0"/>
                </a:solidFill>
              </a:rPr>
              <a:t>例如</a:t>
            </a:r>
            <a:r>
              <a:rPr kumimoji="0" lang="en-US" altLang="zh-CN" sz="1200" b="1" dirty="0"/>
              <a:t>     </a:t>
            </a:r>
            <a:r>
              <a:rPr kumimoji="0" lang="en-US" altLang="zh-CN" sz="1200" b="1" i="1" dirty="0"/>
              <a:t>f</a:t>
            </a:r>
            <a:r>
              <a:rPr kumimoji="0" lang="en-US" altLang="zh-CN" sz="1200" b="1" baseline="-25000" dirty="0"/>
              <a:t>1</a:t>
            </a:r>
            <a:r>
              <a:rPr kumimoji="0" lang="en-US" altLang="zh-CN" sz="1200" b="1" dirty="0"/>
              <a:t>={&lt;</a:t>
            </a:r>
            <a:r>
              <a:rPr kumimoji="0" lang="en-US" altLang="zh-CN" sz="1200" b="1" i="1" dirty="0"/>
              <a:t>x</a:t>
            </a:r>
            <a:r>
              <a:rPr kumimoji="0" lang="en-US" altLang="zh-CN" sz="1200" b="1" baseline="-25000" dirty="0"/>
              <a:t>1</a:t>
            </a:r>
            <a:r>
              <a:rPr kumimoji="0" lang="en-US" altLang="zh-CN" sz="1200" b="1" dirty="0"/>
              <a:t>,</a:t>
            </a:r>
            <a:r>
              <a:rPr kumimoji="0" lang="en-US" altLang="zh-CN" sz="1200" b="1" i="1" dirty="0"/>
              <a:t>y</a:t>
            </a:r>
            <a:r>
              <a:rPr kumimoji="0" lang="en-US" altLang="zh-CN" sz="1200" b="1" baseline="-25000" dirty="0"/>
              <a:t>1</a:t>
            </a:r>
            <a:r>
              <a:rPr kumimoji="0" lang="en-US" altLang="zh-CN" sz="1200" b="1" dirty="0"/>
              <a:t>&gt;,&lt;</a:t>
            </a:r>
            <a:r>
              <a:rPr kumimoji="0" lang="en-US" altLang="zh-CN" sz="1200" b="1" i="1" dirty="0"/>
              <a:t>x</a:t>
            </a:r>
            <a:r>
              <a:rPr kumimoji="0" lang="en-US" altLang="zh-CN" sz="1200" b="1" baseline="-25000" dirty="0"/>
              <a:t>2</a:t>
            </a:r>
            <a:r>
              <a:rPr kumimoji="0" lang="en-US" altLang="zh-CN" sz="1200" b="1" dirty="0"/>
              <a:t>,</a:t>
            </a:r>
            <a:r>
              <a:rPr kumimoji="0" lang="en-US" altLang="zh-CN" sz="1200" b="1" i="1" dirty="0"/>
              <a:t>y</a:t>
            </a:r>
            <a:r>
              <a:rPr kumimoji="0" lang="en-US" altLang="zh-CN" sz="1200" b="1" baseline="-25000" dirty="0"/>
              <a:t>2</a:t>
            </a:r>
            <a:r>
              <a:rPr kumimoji="0" lang="en-US" altLang="zh-CN" sz="1200" b="1" dirty="0"/>
              <a:t>&gt;,&lt;</a:t>
            </a:r>
            <a:r>
              <a:rPr kumimoji="0" lang="en-US" altLang="zh-CN" sz="1200" b="1" i="1" dirty="0"/>
              <a:t>x</a:t>
            </a:r>
            <a:r>
              <a:rPr kumimoji="0" lang="en-US" altLang="zh-CN" sz="1200" b="1" baseline="-25000" dirty="0"/>
              <a:t>3</a:t>
            </a:r>
            <a:r>
              <a:rPr kumimoji="0" lang="en-US" altLang="zh-CN" sz="1200" b="1" dirty="0"/>
              <a:t>,</a:t>
            </a:r>
            <a:r>
              <a:rPr kumimoji="0" lang="en-US" altLang="zh-CN" sz="1200" b="1" i="1" dirty="0"/>
              <a:t>y</a:t>
            </a:r>
            <a:r>
              <a:rPr kumimoji="0" lang="en-US" altLang="zh-CN" sz="1200" b="1" baseline="-25000" dirty="0"/>
              <a:t>2</a:t>
            </a:r>
            <a:r>
              <a:rPr kumimoji="0" lang="en-US" altLang="zh-CN" sz="1200" b="1" dirty="0"/>
              <a:t>&gt;} </a:t>
            </a:r>
            <a:br>
              <a:rPr kumimoji="0" lang="en-US" altLang="zh-CN" sz="1200" b="1" dirty="0"/>
            </a:br>
            <a:r>
              <a:rPr kumimoji="0" lang="en-US" altLang="zh-CN" sz="1200" b="1" dirty="0"/>
              <a:t>           </a:t>
            </a:r>
            <a:r>
              <a:rPr kumimoji="0" lang="en-US" altLang="zh-CN" sz="1200" b="1" i="1" dirty="0"/>
              <a:t>f</a:t>
            </a:r>
            <a:r>
              <a:rPr kumimoji="0" lang="en-US" altLang="zh-CN" sz="1200" b="1" baseline="-25000" dirty="0"/>
              <a:t>2</a:t>
            </a:r>
            <a:r>
              <a:rPr kumimoji="0" lang="en-US" altLang="zh-CN" sz="1200" b="1" dirty="0"/>
              <a:t>={&lt;</a:t>
            </a:r>
            <a:r>
              <a:rPr kumimoji="0" lang="en-US" altLang="zh-CN" sz="1200" b="1" i="1" dirty="0"/>
              <a:t>x</a:t>
            </a:r>
            <a:r>
              <a:rPr kumimoji="0" lang="en-US" altLang="zh-CN" sz="1200" b="1" baseline="-25000" dirty="0"/>
              <a:t>1</a:t>
            </a:r>
            <a:r>
              <a:rPr kumimoji="0" lang="en-US" altLang="zh-CN" sz="1200" b="1" dirty="0"/>
              <a:t>,</a:t>
            </a:r>
            <a:r>
              <a:rPr kumimoji="0" lang="en-US" altLang="zh-CN" sz="1200" b="1" i="1" dirty="0"/>
              <a:t>y</a:t>
            </a:r>
            <a:r>
              <a:rPr kumimoji="0" lang="en-US" altLang="zh-CN" sz="1200" b="1" baseline="-25000" dirty="0"/>
              <a:t>1</a:t>
            </a:r>
            <a:r>
              <a:rPr kumimoji="0" lang="en-US" altLang="zh-CN" sz="1200" b="1" dirty="0"/>
              <a:t>&gt;,&lt;</a:t>
            </a:r>
            <a:r>
              <a:rPr kumimoji="0" lang="en-US" altLang="zh-CN" sz="1200" b="1" i="1" dirty="0"/>
              <a:t>x</a:t>
            </a:r>
            <a:r>
              <a:rPr kumimoji="0" lang="en-US" altLang="zh-CN" sz="1200" b="1" baseline="-25000" dirty="0"/>
              <a:t>1</a:t>
            </a:r>
            <a:r>
              <a:rPr kumimoji="0" lang="en-US" altLang="zh-CN" sz="1200" b="1" dirty="0"/>
              <a:t>,</a:t>
            </a:r>
            <a:r>
              <a:rPr kumimoji="0" lang="en-US" altLang="zh-CN" sz="1200" b="1" i="1" dirty="0"/>
              <a:t>y</a:t>
            </a:r>
            <a:r>
              <a:rPr kumimoji="0" lang="en-US" altLang="zh-CN" sz="1200" b="1" baseline="-25000" dirty="0"/>
              <a:t>2</a:t>
            </a:r>
            <a:r>
              <a:rPr kumimoji="0" lang="en-US" altLang="zh-CN" sz="1200" b="1" dirty="0"/>
              <a:t>&gt;} </a:t>
            </a:r>
          </a:p>
          <a:p>
            <a:pPr eaLnBrk="1" hangingPunct="1">
              <a:lnSpc>
                <a:spcPct val="120000"/>
              </a:lnSpc>
              <a:spcBef>
                <a:spcPct val="0"/>
              </a:spcBef>
              <a:buFontTx/>
              <a:buNone/>
            </a:pPr>
            <a:r>
              <a:rPr kumimoji="0" lang="en-US" altLang="zh-CN" sz="1200" b="1" dirty="0"/>
              <a:t> </a:t>
            </a:r>
            <a:r>
              <a:rPr kumimoji="0" lang="en-US" altLang="zh-CN" sz="1200" b="1" i="1" dirty="0"/>
              <a:t>f</a:t>
            </a:r>
            <a:r>
              <a:rPr kumimoji="0" lang="en-US" altLang="zh-CN" sz="1200" b="1" baseline="-25000" dirty="0"/>
              <a:t>1</a:t>
            </a:r>
            <a:r>
              <a:rPr kumimoji="0" lang="zh-CN" altLang="en-US" sz="1200" b="1" dirty="0"/>
              <a:t>是函数</a:t>
            </a:r>
            <a:r>
              <a:rPr kumimoji="0" lang="en-US" altLang="zh-CN" sz="1200" b="1" dirty="0"/>
              <a:t>, </a:t>
            </a:r>
            <a:r>
              <a:rPr kumimoji="0" lang="en-US" altLang="zh-CN" sz="1200" b="1" i="1" dirty="0"/>
              <a:t>f</a:t>
            </a:r>
            <a:r>
              <a:rPr kumimoji="0" lang="en-US" altLang="zh-CN" sz="1200" b="1" baseline="-25000" dirty="0"/>
              <a:t>2</a:t>
            </a:r>
            <a:r>
              <a:rPr kumimoji="0" lang="zh-CN" altLang="en-US" sz="1200" b="1" dirty="0"/>
              <a:t>不是函数</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a:t>
            </a:fld>
            <a:endParaRPr lang="zh-CN" altLang="en-US"/>
          </a:p>
        </p:txBody>
      </p:sp>
    </p:spTree>
    <p:extLst>
      <p:ext uri="{BB962C8B-B14F-4D97-AF65-F5344CB8AC3E}">
        <p14:creationId xmlns:p14="http://schemas.microsoft.com/office/powerpoint/2010/main" val="3437030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kumimoji="0" lang="zh-CN" altLang="en-US" sz="1200" b="1" dirty="0">
                <a:solidFill>
                  <a:srgbClr val="FF0000"/>
                </a:solidFill>
              </a:rPr>
              <a:t>定义</a:t>
            </a:r>
            <a:r>
              <a:rPr kumimoji="0" lang="en-US" altLang="zh-CN" sz="1200" b="1" dirty="0">
                <a:solidFill>
                  <a:srgbClr val="FF0000"/>
                </a:solidFill>
              </a:rPr>
              <a:t>5.2</a:t>
            </a:r>
            <a:r>
              <a:rPr kumimoji="0" lang="en-US" altLang="zh-CN" sz="1200" b="1" dirty="0"/>
              <a:t>  </a:t>
            </a:r>
            <a:r>
              <a:rPr kumimoji="0" lang="zh-CN" altLang="en-US" sz="1200" b="1" dirty="0"/>
              <a:t>设</a:t>
            </a:r>
            <a:r>
              <a:rPr kumimoji="0" lang="en-US" altLang="zh-CN" sz="1200" b="1" i="1" dirty="0"/>
              <a:t>f</a:t>
            </a:r>
            <a:r>
              <a:rPr kumimoji="0" lang="en-US" altLang="zh-CN" sz="1200" b="1" dirty="0"/>
              <a:t>, </a:t>
            </a:r>
            <a:r>
              <a:rPr kumimoji="0" lang="en-US" altLang="zh-CN" sz="1200" b="1" i="1" dirty="0"/>
              <a:t>g</a:t>
            </a:r>
            <a:r>
              <a:rPr kumimoji="0" lang="zh-CN" altLang="en-US" sz="1200" b="1" dirty="0"/>
              <a:t>为函数</a:t>
            </a:r>
            <a:r>
              <a:rPr kumimoji="0" lang="en-US" altLang="zh-CN" sz="1200" b="1" dirty="0"/>
              <a:t>, </a:t>
            </a:r>
            <a:r>
              <a:rPr kumimoji="0" lang="zh-CN" altLang="en-US" sz="1200" b="1" dirty="0"/>
              <a:t>则 </a:t>
            </a:r>
            <a:r>
              <a:rPr kumimoji="0" lang="en-US" altLang="zh-CN" sz="1200" b="1" i="1" dirty="0"/>
              <a:t>f</a:t>
            </a:r>
            <a:r>
              <a:rPr kumimoji="0" lang="en-US" altLang="zh-CN" sz="1200" b="1" dirty="0"/>
              <a:t>, </a:t>
            </a:r>
            <a:r>
              <a:rPr kumimoji="0" lang="en-US" altLang="zh-CN" sz="1200" b="1" i="1" dirty="0"/>
              <a:t>g</a:t>
            </a:r>
            <a:r>
              <a:rPr kumimoji="0" lang="zh-CN" altLang="en-US" sz="1200" b="1" dirty="0"/>
              <a:t>相等就是它们的集合表达式相等</a:t>
            </a:r>
            <a:br>
              <a:rPr kumimoji="0" lang="zh-CN" altLang="en-US" sz="1200" b="1" dirty="0"/>
            </a:br>
            <a:r>
              <a:rPr kumimoji="0" lang="zh-CN" altLang="en-US" sz="1200" b="1" dirty="0"/>
              <a:t>                </a:t>
            </a:r>
            <a:r>
              <a:rPr kumimoji="0" lang="en-US" altLang="zh-CN" sz="1200" b="1" i="1" dirty="0"/>
              <a:t>f</a:t>
            </a:r>
            <a:r>
              <a:rPr kumimoji="0" lang="en-US" altLang="zh-CN" sz="1200" b="1" dirty="0"/>
              <a:t>=</a:t>
            </a:r>
            <a:r>
              <a:rPr kumimoji="0" lang="en-US" altLang="zh-CN" sz="1200" b="1" i="1" dirty="0"/>
              <a:t>g </a:t>
            </a:r>
            <a:r>
              <a:rPr kumimoji="0" lang="en-US" altLang="zh-CN" sz="1200" b="1" dirty="0">
                <a:sym typeface="Symbol" panose="05050102010706020507" pitchFamily="18" charset="2"/>
              </a:rPr>
              <a:t> </a:t>
            </a:r>
            <a:r>
              <a:rPr kumimoji="0" lang="en-US" altLang="zh-CN" sz="1200" b="1" i="1" dirty="0"/>
              <a:t>f</a:t>
            </a:r>
            <a:r>
              <a:rPr kumimoji="0" lang="en-US" altLang="zh-CN" sz="1200" b="1" dirty="0">
                <a:sym typeface="Symbol" panose="05050102010706020507" pitchFamily="18" charset="2"/>
              </a:rPr>
              <a:t></a:t>
            </a:r>
            <a:r>
              <a:rPr kumimoji="0" lang="en-US" altLang="zh-CN" sz="1200" b="1" i="1" dirty="0"/>
              <a:t>g</a:t>
            </a:r>
            <a:r>
              <a:rPr kumimoji="0" lang="en-US" altLang="zh-CN" sz="1200" b="1" dirty="0"/>
              <a:t>∧</a:t>
            </a:r>
            <a:r>
              <a:rPr kumimoji="0" lang="en-US" altLang="zh-CN" sz="1200" b="1" i="1" dirty="0"/>
              <a:t>g</a:t>
            </a:r>
            <a:r>
              <a:rPr kumimoji="0" lang="en-US" altLang="zh-CN" sz="1200" b="1" dirty="0">
                <a:sym typeface="Symbol" panose="05050102010706020507" pitchFamily="18" charset="2"/>
              </a:rPr>
              <a:t></a:t>
            </a:r>
            <a:r>
              <a:rPr kumimoji="0" lang="en-US" altLang="zh-CN" sz="1200" b="1" i="1" dirty="0"/>
              <a:t>f</a:t>
            </a:r>
            <a:r>
              <a:rPr kumimoji="0" lang="en-US" altLang="zh-CN" sz="1200" b="1" dirty="0"/>
              <a:t> </a:t>
            </a:r>
          </a:p>
          <a:p>
            <a:pPr eaLnBrk="1" hangingPunct="1">
              <a:lnSpc>
                <a:spcPct val="120000"/>
              </a:lnSpc>
              <a:spcBef>
                <a:spcPct val="0"/>
              </a:spcBef>
              <a:buFontTx/>
              <a:buNone/>
            </a:pPr>
            <a:endParaRPr kumimoji="0" lang="en-US" altLang="zh-CN" sz="1200" b="1" dirty="0"/>
          </a:p>
          <a:p>
            <a:pPr eaLnBrk="1" hangingPunct="1">
              <a:lnSpc>
                <a:spcPct val="120000"/>
              </a:lnSpc>
              <a:spcBef>
                <a:spcPct val="0"/>
              </a:spcBef>
              <a:buFontTx/>
              <a:buNone/>
            </a:pPr>
            <a:r>
              <a:rPr kumimoji="0" lang="zh-CN" altLang="en-US" sz="1200" b="1" dirty="0"/>
              <a:t>如果两个函数 </a:t>
            </a:r>
            <a:r>
              <a:rPr kumimoji="0" lang="en-US" altLang="zh-CN" sz="1200" b="1" i="1" dirty="0"/>
              <a:t>f </a:t>
            </a:r>
            <a:r>
              <a:rPr kumimoji="0" lang="zh-CN" altLang="en-US" sz="1200" b="1" dirty="0"/>
              <a:t>和 </a:t>
            </a:r>
            <a:r>
              <a:rPr kumimoji="0" lang="en-US" altLang="zh-CN" sz="1200" b="1" i="1" dirty="0"/>
              <a:t>g </a:t>
            </a:r>
            <a:r>
              <a:rPr kumimoji="0" lang="zh-CN" altLang="en-US" sz="1200" b="1" dirty="0"/>
              <a:t>相等</a:t>
            </a:r>
            <a:r>
              <a:rPr kumimoji="0" lang="en-US" altLang="zh-CN" sz="1200" b="1" dirty="0"/>
              <a:t>, </a:t>
            </a:r>
            <a:r>
              <a:rPr kumimoji="0" lang="zh-CN" altLang="en-US" sz="1200" b="1" dirty="0"/>
              <a:t>一定满足下面两个条件：</a:t>
            </a:r>
            <a:br>
              <a:rPr kumimoji="0" lang="zh-CN" altLang="en-US" sz="1200" b="1" dirty="0"/>
            </a:br>
            <a:r>
              <a:rPr kumimoji="0" lang="zh-CN" altLang="en-US" sz="1200" b="1" dirty="0"/>
              <a:t>   </a:t>
            </a:r>
            <a:r>
              <a:rPr kumimoji="0" lang="en-US" altLang="zh-CN" sz="1200" b="1" dirty="0"/>
              <a:t>(1) dom</a:t>
            </a:r>
            <a:r>
              <a:rPr kumimoji="0" lang="en-US" altLang="zh-CN" sz="1200" b="1" i="1" dirty="0"/>
              <a:t>f </a:t>
            </a:r>
            <a:r>
              <a:rPr kumimoji="0" lang="en-US" altLang="zh-CN" sz="1200" b="1" dirty="0"/>
              <a:t>= dom</a:t>
            </a:r>
            <a:r>
              <a:rPr kumimoji="0" lang="en-US" altLang="zh-CN" sz="1200" b="1" i="1" dirty="0"/>
              <a:t>g</a:t>
            </a:r>
            <a:r>
              <a:rPr kumimoji="0" lang="en-US" altLang="zh-CN" sz="1200" b="1" dirty="0"/>
              <a:t> </a:t>
            </a:r>
            <a:br>
              <a:rPr kumimoji="0" lang="en-US" altLang="zh-CN" sz="1200" b="1" dirty="0"/>
            </a:br>
            <a:r>
              <a:rPr kumimoji="0" lang="en-US" altLang="zh-CN" sz="1200" b="1" dirty="0"/>
              <a:t>   (2) </a:t>
            </a:r>
            <a:r>
              <a:rPr kumimoji="0" lang="en-US" altLang="zh-CN" sz="1200" b="1" dirty="0">
                <a:sym typeface="Symbol" panose="05050102010706020507" pitchFamily="18" charset="2"/>
              </a:rPr>
              <a:t></a:t>
            </a:r>
            <a:r>
              <a:rPr kumimoji="0" lang="en-US" altLang="zh-CN" sz="1200" b="1" i="1" dirty="0"/>
              <a:t>x</a:t>
            </a:r>
            <a:r>
              <a:rPr kumimoji="0" lang="en-US" altLang="zh-CN" sz="1200" b="1" dirty="0"/>
              <a:t>∈dom</a:t>
            </a:r>
            <a:r>
              <a:rPr kumimoji="0" lang="en-US" altLang="zh-CN" sz="1200" b="1" i="1" dirty="0"/>
              <a:t>f </a:t>
            </a:r>
            <a:r>
              <a:rPr kumimoji="0" lang="en-US" altLang="zh-CN" sz="1200" b="1" dirty="0"/>
              <a:t>= dom</a:t>
            </a:r>
            <a:r>
              <a:rPr kumimoji="0" lang="en-US" altLang="zh-CN" sz="1200" b="1" i="1" dirty="0"/>
              <a:t>g </a:t>
            </a:r>
            <a:r>
              <a:rPr kumimoji="0" lang="zh-CN" altLang="en-US" sz="1200" b="1" dirty="0"/>
              <a:t>都有 </a:t>
            </a:r>
            <a:r>
              <a:rPr kumimoji="0" lang="en-US" altLang="zh-CN" sz="1200" b="1" i="1" dirty="0"/>
              <a:t>f</a:t>
            </a:r>
            <a:r>
              <a:rPr kumimoji="0" lang="en-US" altLang="zh-CN" sz="1200" b="1" dirty="0"/>
              <a:t>(</a:t>
            </a:r>
            <a:r>
              <a:rPr kumimoji="0" lang="en-US" altLang="zh-CN" sz="1200" b="1" i="1" dirty="0"/>
              <a:t>x</a:t>
            </a:r>
            <a:r>
              <a:rPr kumimoji="0" lang="en-US" altLang="zh-CN" sz="1200" b="1" dirty="0"/>
              <a:t>) = </a:t>
            </a:r>
            <a:r>
              <a:rPr kumimoji="0" lang="en-US" altLang="zh-CN" sz="1200" b="1" i="1" dirty="0"/>
              <a:t>g</a:t>
            </a:r>
            <a:r>
              <a:rPr kumimoji="0" lang="en-US" altLang="zh-CN" sz="1200" b="1" dirty="0"/>
              <a:t>(</a:t>
            </a:r>
            <a:r>
              <a:rPr kumimoji="0" lang="en-US" altLang="zh-CN" sz="1200" b="1" i="1" dirty="0"/>
              <a:t>x</a:t>
            </a:r>
            <a:r>
              <a:rPr kumimoji="0" lang="en-US" altLang="zh-CN" sz="1200" b="1" dirty="0"/>
              <a:t>) </a:t>
            </a:r>
            <a:br>
              <a:rPr kumimoji="0" lang="en-US" altLang="zh-CN" sz="1200" b="1" dirty="0"/>
            </a:br>
            <a:endParaRPr kumimoji="0" lang="en-US" altLang="zh-CN" sz="1200" b="1" dirty="0"/>
          </a:p>
          <a:p>
            <a:pPr eaLnBrk="1" hangingPunct="1">
              <a:lnSpc>
                <a:spcPct val="120000"/>
              </a:lnSpc>
              <a:spcBef>
                <a:spcPct val="0"/>
              </a:spcBef>
              <a:buFontTx/>
              <a:buNone/>
            </a:pPr>
            <a:r>
              <a:rPr kumimoji="0" lang="zh-CN" altLang="en-US" sz="1200" b="1" dirty="0">
                <a:solidFill>
                  <a:srgbClr val="00B0F0"/>
                </a:solidFill>
              </a:rPr>
              <a:t>实例</a:t>
            </a:r>
            <a:r>
              <a:rPr kumimoji="0" lang="zh-CN" altLang="en-US" sz="1200" b="1" dirty="0"/>
              <a:t>   函数</a:t>
            </a:r>
          </a:p>
          <a:p>
            <a:pPr eaLnBrk="1" hangingPunct="1">
              <a:lnSpc>
                <a:spcPct val="120000"/>
              </a:lnSpc>
              <a:spcBef>
                <a:spcPct val="0"/>
              </a:spcBef>
              <a:buFontTx/>
              <a:buNone/>
            </a:pPr>
            <a:r>
              <a:rPr kumimoji="0" lang="zh-CN" altLang="en-US" sz="1200" b="1" dirty="0"/>
              <a:t>          </a:t>
            </a:r>
            <a:r>
              <a:rPr kumimoji="0" lang="en-US" altLang="zh-CN" sz="1200" b="1" i="1" dirty="0"/>
              <a:t>f</a:t>
            </a:r>
            <a:r>
              <a:rPr kumimoji="0" lang="en-US" altLang="zh-CN" sz="1200" b="1" dirty="0"/>
              <a:t>(</a:t>
            </a:r>
            <a:r>
              <a:rPr kumimoji="0" lang="en-US" altLang="zh-CN" sz="1200" b="1" i="1" dirty="0"/>
              <a:t>x</a:t>
            </a:r>
            <a:r>
              <a:rPr kumimoji="0" lang="en-US" altLang="zh-CN" sz="1200" b="1" dirty="0"/>
              <a:t>)=(</a:t>
            </a:r>
            <a:r>
              <a:rPr kumimoji="0" lang="en-US" altLang="zh-CN" sz="1200" b="1" i="1" dirty="0"/>
              <a:t>x</a:t>
            </a:r>
            <a:r>
              <a:rPr kumimoji="0" lang="en-US" altLang="zh-CN" sz="1200" b="1" baseline="30000" dirty="0"/>
              <a:t>2</a:t>
            </a:r>
            <a:r>
              <a:rPr kumimoji="0" lang="en-US" altLang="zh-CN" sz="1200" b="1" dirty="0">
                <a:sym typeface="Symbol" panose="05050102010706020507" pitchFamily="18" charset="2"/>
              </a:rPr>
              <a:t></a:t>
            </a:r>
            <a:r>
              <a:rPr kumimoji="0" lang="en-US" altLang="zh-CN" sz="1200" b="1" dirty="0"/>
              <a:t>1)/(</a:t>
            </a:r>
            <a:r>
              <a:rPr kumimoji="0" lang="en-US" altLang="zh-CN" sz="1200" b="1" i="1" dirty="0"/>
              <a:t>x</a:t>
            </a:r>
            <a:r>
              <a:rPr kumimoji="0" lang="en-US" altLang="zh-CN" sz="1200" b="1" dirty="0"/>
              <a:t>+1), </a:t>
            </a:r>
            <a:r>
              <a:rPr kumimoji="0" lang="en-US" altLang="zh-CN" sz="1200" b="1" i="1" dirty="0"/>
              <a:t>g</a:t>
            </a:r>
            <a:r>
              <a:rPr kumimoji="0" lang="en-US" altLang="zh-CN" sz="1200" b="1" dirty="0"/>
              <a:t>(</a:t>
            </a:r>
            <a:r>
              <a:rPr kumimoji="0" lang="en-US" altLang="zh-CN" sz="1200" b="1" i="1" dirty="0"/>
              <a:t>x</a:t>
            </a:r>
            <a:r>
              <a:rPr kumimoji="0" lang="en-US" altLang="zh-CN" sz="1200" b="1" dirty="0"/>
              <a:t>)=</a:t>
            </a:r>
            <a:r>
              <a:rPr kumimoji="0" lang="en-US" altLang="zh-CN" sz="1200" b="1" i="1" dirty="0"/>
              <a:t>x</a:t>
            </a:r>
            <a:r>
              <a:rPr kumimoji="0" lang="en-US" altLang="zh-CN" sz="1200" b="1" dirty="0">
                <a:sym typeface="Symbol" panose="05050102010706020507" pitchFamily="18" charset="2"/>
              </a:rPr>
              <a:t></a:t>
            </a:r>
            <a:r>
              <a:rPr kumimoji="0" lang="en-US" altLang="zh-CN" sz="1200" b="1" dirty="0"/>
              <a:t>1</a:t>
            </a:r>
          </a:p>
          <a:p>
            <a:pPr eaLnBrk="1" hangingPunct="1">
              <a:lnSpc>
                <a:spcPct val="120000"/>
              </a:lnSpc>
              <a:spcBef>
                <a:spcPct val="0"/>
              </a:spcBef>
              <a:buFontTx/>
              <a:buNone/>
            </a:pPr>
            <a:r>
              <a:rPr kumimoji="0" lang="zh-CN" altLang="en-US" sz="1200" b="1" dirty="0"/>
              <a:t>不相等</a:t>
            </a:r>
            <a:r>
              <a:rPr kumimoji="0" lang="en-US" altLang="zh-CN" sz="1200" b="1" dirty="0"/>
              <a:t>, </a:t>
            </a:r>
            <a:r>
              <a:rPr kumimoji="0" lang="zh-CN" altLang="en-US" sz="1200" b="1" dirty="0"/>
              <a:t>因为 </a:t>
            </a:r>
            <a:r>
              <a:rPr kumimoji="0" lang="en-US" altLang="zh-CN" sz="1200" b="1" dirty="0"/>
              <a:t>dom</a:t>
            </a:r>
            <a:r>
              <a:rPr kumimoji="0" lang="en-US" altLang="zh-CN" sz="1200" b="1" i="1" dirty="0"/>
              <a:t>f</a:t>
            </a:r>
            <a:r>
              <a:rPr kumimoji="0" lang="en-US" altLang="zh-CN" sz="1200" b="1" dirty="0">
                <a:sym typeface="Symbol" panose="05050102010706020507" pitchFamily="18" charset="2"/>
              </a:rPr>
              <a:t></a:t>
            </a:r>
            <a:r>
              <a:rPr kumimoji="0" lang="en-US" altLang="zh-CN" sz="1200" b="1" dirty="0"/>
              <a:t>dom</a:t>
            </a:r>
            <a:r>
              <a:rPr kumimoji="0" lang="en-US" altLang="zh-CN" sz="1200" b="1" i="1" dirty="0"/>
              <a:t>g</a:t>
            </a:r>
            <a:r>
              <a:rPr kumimoji="0" lang="en-US" altLang="zh-CN" sz="1200" b="1" dirty="0"/>
              <a:t>.</a:t>
            </a:r>
            <a:r>
              <a:rPr kumimoji="0" lang="en-US" altLang="zh-CN" sz="1050" b="1" dirty="0">
                <a:latin typeface="Arial" panose="020B0604020202020204" pitchFamily="34" charset="0"/>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a:t>
            </a:fld>
            <a:endParaRPr lang="zh-CN" altLang="en-US"/>
          </a:p>
        </p:txBody>
      </p:sp>
    </p:spTree>
    <p:extLst>
      <p:ext uri="{BB962C8B-B14F-4D97-AF65-F5344CB8AC3E}">
        <p14:creationId xmlns:p14="http://schemas.microsoft.com/office/powerpoint/2010/main" val="306058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5.3</a:t>
            </a:r>
            <a:r>
              <a:rPr kumimoji="0" lang="en-US" altLang="zh-CN" sz="1200" b="1" dirty="0"/>
              <a:t>   </a:t>
            </a:r>
            <a:r>
              <a:rPr kumimoji="0" lang="zh-CN" altLang="en-US" sz="1200" b="1" dirty="0"/>
              <a:t>设</a:t>
            </a:r>
            <a:r>
              <a:rPr kumimoji="0" lang="en-US" altLang="zh-CN" sz="1200" b="1" i="1" dirty="0"/>
              <a:t>A</a:t>
            </a:r>
            <a:r>
              <a:rPr kumimoji="0" lang="en-US" altLang="zh-CN" sz="1200" b="1" dirty="0"/>
              <a:t>, </a:t>
            </a:r>
            <a:r>
              <a:rPr kumimoji="0" lang="en-US" altLang="zh-CN" sz="1200" b="1" i="1" dirty="0"/>
              <a:t>B</a:t>
            </a:r>
            <a:r>
              <a:rPr kumimoji="0" lang="zh-CN" altLang="en-US" sz="1200" b="1" dirty="0"/>
              <a:t>为集合</a:t>
            </a:r>
            <a:r>
              <a:rPr kumimoji="0" lang="en-US" altLang="zh-CN" sz="1200" b="1" dirty="0"/>
              <a:t>, </a:t>
            </a:r>
            <a:r>
              <a:rPr kumimoji="0" lang="zh-CN" altLang="en-US" sz="1200" b="1" dirty="0"/>
              <a:t>如果</a:t>
            </a:r>
          </a:p>
          <a:p>
            <a:pPr eaLnBrk="1" hangingPunct="1">
              <a:lnSpc>
                <a:spcPct val="120000"/>
              </a:lnSpc>
              <a:spcBef>
                <a:spcPct val="0"/>
              </a:spcBef>
              <a:buFontTx/>
              <a:buNone/>
            </a:pPr>
            <a:r>
              <a:rPr kumimoji="0" lang="zh-CN" altLang="en-US" sz="1200" b="1" dirty="0"/>
              <a:t>   </a:t>
            </a:r>
            <a:r>
              <a:rPr kumimoji="0" lang="en-US" altLang="zh-CN" sz="1200" b="1" dirty="0"/>
              <a:t>(1)  </a:t>
            </a:r>
            <a:r>
              <a:rPr kumimoji="0" lang="en-US" altLang="zh-CN" sz="1200" b="1" i="1" dirty="0"/>
              <a:t>f </a:t>
            </a:r>
            <a:r>
              <a:rPr kumimoji="0" lang="zh-CN" altLang="en-US" sz="1200" b="1" dirty="0"/>
              <a:t>为函数  </a:t>
            </a:r>
          </a:p>
          <a:p>
            <a:pPr eaLnBrk="1" hangingPunct="1">
              <a:lnSpc>
                <a:spcPct val="120000"/>
              </a:lnSpc>
              <a:spcBef>
                <a:spcPct val="0"/>
              </a:spcBef>
              <a:buFontTx/>
              <a:buNone/>
            </a:pPr>
            <a:r>
              <a:rPr kumimoji="0" lang="zh-CN" altLang="en-US" sz="1200" b="1" dirty="0"/>
              <a:t>   </a:t>
            </a:r>
            <a:r>
              <a:rPr kumimoji="0" lang="en-US" altLang="zh-CN" sz="1200" b="1" dirty="0"/>
              <a:t>(2)  dom</a:t>
            </a:r>
            <a:r>
              <a:rPr kumimoji="0" lang="en-US" altLang="zh-CN" sz="1200" b="1" i="1" dirty="0"/>
              <a:t>f </a:t>
            </a:r>
            <a:r>
              <a:rPr kumimoji="0" lang="en-US" altLang="zh-CN" sz="1200" b="1" dirty="0"/>
              <a:t>= </a:t>
            </a:r>
            <a:r>
              <a:rPr kumimoji="0" lang="en-US" altLang="zh-CN" sz="1200" b="1" i="1" dirty="0"/>
              <a:t>A</a:t>
            </a:r>
          </a:p>
          <a:p>
            <a:pPr eaLnBrk="1" hangingPunct="1">
              <a:lnSpc>
                <a:spcPct val="120000"/>
              </a:lnSpc>
              <a:spcBef>
                <a:spcPct val="0"/>
              </a:spcBef>
              <a:buFontTx/>
              <a:buNone/>
            </a:pPr>
            <a:r>
              <a:rPr kumimoji="0" lang="en-US" altLang="zh-CN" sz="1200" b="1" i="1" dirty="0"/>
              <a:t>   </a:t>
            </a:r>
            <a:r>
              <a:rPr kumimoji="0" lang="en-US" altLang="zh-CN" sz="1200" b="1" dirty="0"/>
              <a:t>(3)</a:t>
            </a:r>
            <a:r>
              <a:rPr kumimoji="0" lang="en-US" altLang="zh-CN" sz="1200" b="1" i="1" dirty="0"/>
              <a:t> </a:t>
            </a:r>
            <a:r>
              <a:rPr kumimoji="0" lang="en-US" altLang="zh-CN" sz="1200" b="1" dirty="0"/>
              <a:t> ran</a:t>
            </a:r>
            <a:r>
              <a:rPr kumimoji="0" lang="en-US" altLang="zh-CN" sz="1200" b="1" i="1" dirty="0"/>
              <a:t>f </a:t>
            </a:r>
            <a:r>
              <a:rPr kumimoji="0" lang="en-US" altLang="zh-CN" sz="1200" b="1" dirty="0">
                <a:sym typeface="Symbol" panose="05050102010706020507" pitchFamily="18" charset="2"/>
              </a:rPr>
              <a:t> </a:t>
            </a:r>
            <a:r>
              <a:rPr kumimoji="0" lang="en-US" altLang="zh-CN" sz="1200" b="1" i="1" dirty="0"/>
              <a:t>B</a:t>
            </a:r>
            <a:r>
              <a:rPr kumimoji="0" lang="en-US" altLang="zh-CN" sz="1200" b="1" dirty="0"/>
              <a:t>, </a:t>
            </a:r>
          </a:p>
          <a:p>
            <a:pPr eaLnBrk="1" hangingPunct="1">
              <a:lnSpc>
                <a:spcPct val="120000"/>
              </a:lnSpc>
              <a:spcBef>
                <a:spcPct val="0"/>
              </a:spcBef>
              <a:buFontTx/>
              <a:buNone/>
            </a:pPr>
            <a:r>
              <a:rPr kumimoji="0" lang="zh-CN" altLang="en-US" sz="1200" b="1" dirty="0"/>
              <a:t>则称 </a:t>
            </a:r>
            <a:r>
              <a:rPr kumimoji="0" lang="en-US" altLang="zh-CN" sz="1200" b="1" i="1" dirty="0"/>
              <a:t>f </a:t>
            </a:r>
            <a:r>
              <a:rPr kumimoji="0" lang="zh-CN" altLang="en-US" sz="1200" b="1" dirty="0"/>
              <a:t>为</a:t>
            </a:r>
            <a:r>
              <a:rPr kumimoji="0" lang="zh-CN" altLang="en-US" sz="1200" b="1" dirty="0">
                <a:solidFill>
                  <a:srgbClr val="FF0000"/>
                </a:solidFill>
              </a:rPr>
              <a:t>从</a:t>
            </a:r>
            <a:r>
              <a:rPr kumimoji="0" lang="en-US" altLang="zh-CN" sz="1200" b="1" i="1" dirty="0">
                <a:solidFill>
                  <a:srgbClr val="FF0000"/>
                </a:solidFill>
              </a:rPr>
              <a:t>A</a:t>
            </a:r>
            <a:r>
              <a:rPr kumimoji="0" lang="zh-CN" altLang="en-US" sz="1200" b="1" dirty="0">
                <a:solidFill>
                  <a:srgbClr val="FF0000"/>
                </a:solidFill>
              </a:rPr>
              <a:t>到</a:t>
            </a:r>
            <a:r>
              <a:rPr kumimoji="0" lang="en-US" altLang="zh-CN" sz="1200" b="1" i="1" dirty="0">
                <a:solidFill>
                  <a:srgbClr val="FF0000"/>
                </a:solidFill>
              </a:rPr>
              <a:t>B</a:t>
            </a:r>
            <a:r>
              <a:rPr kumimoji="0" lang="zh-CN" altLang="en-US" sz="1200" b="1" dirty="0">
                <a:solidFill>
                  <a:srgbClr val="FF0000"/>
                </a:solidFill>
              </a:rPr>
              <a:t>的函数</a:t>
            </a:r>
            <a:r>
              <a:rPr kumimoji="0" lang="en-US" altLang="zh-CN" sz="1200" b="1" dirty="0"/>
              <a:t>, </a:t>
            </a:r>
            <a:r>
              <a:rPr kumimoji="0" lang="zh-CN" altLang="en-US" sz="1200" b="1" dirty="0"/>
              <a:t>记作 </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en-US" altLang="zh-CN" sz="1200" b="1" dirty="0"/>
              <a:t>. </a:t>
            </a:r>
          </a:p>
          <a:p>
            <a:pPr eaLnBrk="1" hangingPunct="1">
              <a:lnSpc>
                <a:spcPct val="120000"/>
              </a:lnSpc>
              <a:spcBef>
                <a:spcPct val="0"/>
              </a:spcBef>
              <a:buFontTx/>
              <a:buNone/>
            </a:pPr>
            <a:endParaRPr kumimoji="0" lang="en-US" altLang="zh-CN" sz="1200" b="1" dirty="0"/>
          </a:p>
          <a:p>
            <a:pPr eaLnBrk="1" hangingPunct="1">
              <a:lnSpc>
                <a:spcPct val="120000"/>
              </a:lnSpc>
              <a:spcBef>
                <a:spcPct val="0"/>
              </a:spcBef>
              <a:buFontTx/>
              <a:buNone/>
            </a:pPr>
            <a:r>
              <a:rPr kumimoji="0" lang="zh-CN" altLang="en-US" sz="1200" b="1" dirty="0">
                <a:solidFill>
                  <a:srgbClr val="00B0F0"/>
                </a:solidFill>
              </a:rPr>
              <a:t>实例 </a:t>
            </a:r>
          </a:p>
          <a:p>
            <a:pPr eaLnBrk="1" hangingPunct="1">
              <a:lnSpc>
                <a:spcPct val="120000"/>
              </a:lnSpc>
              <a:spcBef>
                <a:spcPct val="0"/>
              </a:spcBef>
              <a:buFontTx/>
              <a:buNone/>
            </a:pPr>
            <a:r>
              <a:rPr kumimoji="0" lang="zh-CN" altLang="en-US" sz="1200" b="1" dirty="0"/>
              <a:t>       </a:t>
            </a:r>
            <a:r>
              <a:rPr kumimoji="0" lang="en-US" altLang="zh-CN" sz="1200" b="1" i="1" dirty="0"/>
              <a:t>f </a:t>
            </a:r>
            <a:r>
              <a:rPr kumimoji="0" lang="en-US" altLang="zh-CN" sz="1200" b="1" dirty="0"/>
              <a:t>: N→N,  </a:t>
            </a:r>
            <a:r>
              <a:rPr kumimoji="0" lang="en-US" altLang="zh-CN" sz="1200" b="1" i="1" dirty="0"/>
              <a:t>f</a:t>
            </a:r>
            <a:r>
              <a:rPr kumimoji="0" lang="en-US" altLang="zh-CN" sz="1200" b="1" dirty="0"/>
              <a:t>(</a:t>
            </a:r>
            <a:r>
              <a:rPr kumimoji="0" lang="en-US" altLang="zh-CN" sz="1200" b="1" i="1" dirty="0"/>
              <a:t>x</a:t>
            </a:r>
            <a:r>
              <a:rPr kumimoji="0" lang="en-US" altLang="zh-CN" sz="1200" b="1" dirty="0"/>
              <a:t>)=2</a:t>
            </a:r>
            <a:r>
              <a:rPr kumimoji="0" lang="en-US" altLang="zh-CN" sz="1200" b="1" i="1" dirty="0"/>
              <a:t>x </a:t>
            </a:r>
            <a:r>
              <a:rPr kumimoji="0" lang="zh-CN" altLang="en-US" sz="1200" b="1" dirty="0"/>
              <a:t>是从 </a:t>
            </a:r>
            <a:r>
              <a:rPr kumimoji="0" lang="en-US" altLang="zh-CN" sz="1200" b="1" dirty="0"/>
              <a:t>N</a:t>
            </a:r>
            <a:r>
              <a:rPr kumimoji="0" lang="en-US" altLang="zh-CN" sz="1200" b="1" i="1" dirty="0"/>
              <a:t> </a:t>
            </a:r>
            <a:r>
              <a:rPr kumimoji="0" lang="zh-CN" altLang="en-US" sz="1200" b="1" dirty="0"/>
              <a:t>到 </a:t>
            </a:r>
            <a:r>
              <a:rPr kumimoji="0" lang="en-US" altLang="zh-CN" sz="1200" b="1" dirty="0"/>
              <a:t>N</a:t>
            </a:r>
            <a:r>
              <a:rPr kumimoji="0" lang="en-US" altLang="zh-CN" sz="1200" b="1" i="1" dirty="0"/>
              <a:t> </a:t>
            </a:r>
            <a:r>
              <a:rPr kumimoji="0" lang="zh-CN" altLang="en-US" sz="1200" b="1" dirty="0"/>
              <a:t>的函数 </a:t>
            </a:r>
            <a:endParaRPr kumimoji="0" lang="zh-CN" altLang="en-US" sz="1200" b="1" i="1" dirty="0"/>
          </a:p>
          <a:p>
            <a:pPr eaLnBrk="1" hangingPunct="1">
              <a:lnSpc>
                <a:spcPct val="120000"/>
              </a:lnSpc>
              <a:spcBef>
                <a:spcPct val="0"/>
              </a:spcBef>
              <a:buFontTx/>
              <a:buNone/>
            </a:pPr>
            <a:r>
              <a:rPr kumimoji="0" lang="zh-CN" altLang="en-US" sz="1200" b="1" i="1" dirty="0"/>
              <a:t>       </a:t>
            </a:r>
            <a:r>
              <a:rPr kumimoji="0" lang="en-US" altLang="zh-CN" sz="1200" b="1" i="1" dirty="0"/>
              <a:t>g </a:t>
            </a:r>
            <a:r>
              <a:rPr kumimoji="0" lang="en-US" altLang="zh-CN" sz="1200" b="1" dirty="0"/>
              <a:t>: N→N, </a:t>
            </a:r>
            <a:r>
              <a:rPr kumimoji="0" lang="en-US" altLang="zh-CN" sz="1200" b="1" i="1" dirty="0"/>
              <a:t>g</a:t>
            </a:r>
            <a:r>
              <a:rPr kumimoji="0" lang="en-US" altLang="zh-CN" sz="1200" b="1" dirty="0"/>
              <a:t>(</a:t>
            </a:r>
            <a:r>
              <a:rPr kumimoji="0" lang="en-US" altLang="zh-CN" sz="1200" b="1" i="1" dirty="0"/>
              <a:t>x</a:t>
            </a:r>
            <a:r>
              <a:rPr kumimoji="0" lang="en-US" altLang="zh-CN" sz="1200" b="1" dirty="0"/>
              <a:t>)=2</a:t>
            </a:r>
            <a:r>
              <a:rPr kumimoji="0" lang="zh-CN" altLang="en-US" sz="1200" b="1" dirty="0"/>
              <a:t>也是从 </a:t>
            </a:r>
            <a:r>
              <a:rPr kumimoji="0" lang="en-US" altLang="zh-CN" sz="1200" b="1" dirty="0"/>
              <a:t>N </a:t>
            </a:r>
            <a:r>
              <a:rPr kumimoji="0" lang="zh-CN" altLang="en-US" sz="1200" b="1" dirty="0"/>
              <a:t>到 </a:t>
            </a:r>
            <a:r>
              <a:rPr kumimoji="0" lang="en-US" altLang="zh-CN" sz="1200" b="1" dirty="0"/>
              <a:t>N</a:t>
            </a:r>
            <a:r>
              <a:rPr kumimoji="0" lang="en-US" altLang="zh-CN" sz="1200" b="1" i="1" dirty="0"/>
              <a:t> </a:t>
            </a:r>
            <a:r>
              <a:rPr kumimoji="0" lang="zh-CN" altLang="en-US" sz="1200" b="1" dirty="0"/>
              <a:t>的函数</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a:t>
            </a:fld>
            <a:endParaRPr lang="zh-CN" altLang="en-US"/>
          </a:p>
        </p:txBody>
      </p:sp>
    </p:spTree>
    <p:extLst>
      <p:ext uri="{BB962C8B-B14F-4D97-AF65-F5344CB8AC3E}">
        <p14:creationId xmlns:p14="http://schemas.microsoft.com/office/powerpoint/2010/main" val="2891638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kumimoji="0" lang="zh-CN" altLang="en-US" sz="1200" b="1" dirty="0"/>
              <a:t>则称 </a:t>
            </a:r>
            <a:r>
              <a:rPr kumimoji="0" lang="en-US" altLang="zh-CN" sz="1200" b="1" i="1" dirty="0"/>
              <a:t>f </a:t>
            </a:r>
            <a:r>
              <a:rPr kumimoji="0" lang="zh-CN" altLang="en-US" sz="1200" b="1" dirty="0"/>
              <a:t>为</a:t>
            </a:r>
            <a:r>
              <a:rPr kumimoji="0" lang="zh-CN" altLang="en-US" sz="1200" b="1" dirty="0">
                <a:solidFill>
                  <a:srgbClr val="FF0000"/>
                </a:solidFill>
              </a:rPr>
              <a:t>从</a:t>
            </a:r>
            <a:r>
              <a:rPr kumimoji="0" lang="en-US" altLang="zh-CN" sz="1200" b="1" i="1" dirty="0">
                <a:solidFill>
                  <a:srgbClr val="FF0000"/>
                </a:solidFill>
              </a:rPr>
              <a:t>A</a:t>
            </a:r>
            <a:r>
              <a:rPr kumimoji="0" lang="zh-CN" altLang="en-US" sz="1200" b="1" dirty="0">
                <a:solidFill>
                  <a:srgbClr val="FF0000"/>
                </a:solidFill>
              </a:rPr>
              <a:t>到</a:t>
            </a:r>
            <a:r>
              <a:rPr kumimoji="0" lang="en-US" altLang="zh-CN" sz="1200" b="1" i="1" dirty="0">
                <a:solidFill>
                  <a:srgbClr val="FF0000"/>
                </a:solidFill>
              </a:rPr>
              <a:t>B</a:t>
            </a:r>
            <a:r>
              <a:rPr kumimoji="0" lang="zh-CN" altLang="en-US" sz="1200" b="1" dirty="0">
                <a:solidFill>
                  <a:srgbClr val="FF0000"/>
                </a:solidFill>
              </a:rPr>
              <a:t>的函数</a:t>
            </a:r>
            <a:r>
              <a:rPr kumimoji="0" lang="en-US" altLang="zh-CN" sz="1200" b="1" dirty="0"/>
              <a:t>, </a:t>
            </a:r>
            <a:r>
              <a:rPr kumimoji="0" lang="zh-CN" altLang="en-US" sz="1200" b="1" dirty="0"/>
              <a:t>记作 </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en-US" altLang="zh-CN" sz="1200" b="1" dirty="0"/>
              <a:t>. </a:t>
            </a:r>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endParaRPr kumimoji="0" lang="en-US" altLang="zh-CN" sz="1200"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r>
              <a:rPr lang="zh-CN" altLang="en-US" sz="1050" b="1" dirty="0"/>
              <a:t>每个映射都是满射当它的</a:t>
            </a:r>
            <a:r>
              <a:rPr lang="zh-CN" altLang="en-US" sz="1050" b="1" dirty="0">
                <a:hlinkClick r:id="rId3" tooltip="陪域">
                  <a:extLst>
                    <a:ext uri="{A12FA001-AC4F-418D-AE19-62706E023703}">
                      <ahyp:hlinkClr xmlns:ahyp="http://schemas.microsoft.com/office/drawing/2018/hyperlinkcolor" val="tx"/>
                    </a:ext>
                  </a:extLst>
                </a:hlinkClick>
              </a:rPr>
              <a:t>陪域</a:t>
            </a:r>
            <a:r>
              <a:rPr lang="zh-CN" altLang="en-US" sz="1050" b="1" dirty="0"/>
              <a:t>限制为它的</a:t>
            </a:r>
            <a:r>
              <a:rPr lang="zh-CN" altLang="en-US" sz="1050" b="1" dirty="0">
                <a:hlinkClick r:id="rId4" tooltip="值域">
                  <a:extLst>
                    <a:ext uri="{A12FA001-AC4F-418D-AE19-62706E023703}">
                      <ahyp:hlinkClr xmlns:ahyp="http://schemas.microsoft.com/office/drawing/2018/hyperlinkcolor" val="tx"/>
                    </a:ext>
                  </a:extLst>
                </a:hlinkClick>
              </a:rPr>
              <a:t>值域</a:t>
            </a:r>
            <a:r>
              <a:rPr lang="zh-CN" altLang="en-US" sz="1050" b="1" dirty="0"/>
              <a:t>时，每个单射导出一个到它的值域的</a:t>
            </a:r>
            <a:r>
              <a:rPr lang="zh-CN" altLang="en-US" sz="1050" b="1" dirty="0">
                <a:hlinkClick r:id="rId5" tooltip="双射">
                  <a:extLst>
                    <a:ext uri="{A12FA001-AC4F-418D-AE19-62706E023703}">
                      <ahyp:hlinkClr xmlns:ahyp="http://schemas.microsoft.com/office/drawing/2018/hyperlinkcolor" val="tx"/>
                    </a:ext>
                  </a:extLst>
                </a:hlinkClick>
              </a:rPr>
              <a:t>双射</a:t>
            </a:r>
            <a:r>
              <a:rPr lang="zh-CN" altLang="en-US" sz="1050" b="1" dirty="0"/>
              <a:t>。</a:t>
            </a:r>
            <a:endParaRPr lang="en-US" altLang="zh-CN" sz="105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a:t>
            </a:fld>
            <a:endParaRPr lang="zh-CN" altLang="en-US"/>
          </a:p>
        </p:txBody>
      </p:sp>
    </p:spTree>
    <p:extLst>
      <p:ext uri="{BB962C8B-B14F-4D97-AF65-F5344CB8AC3E}">
        <p14:creationId xmlns:p14="http://schemas.microsoft.com/office/powerpoint/2010/main" val="2138433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5.4</a:t>
            </a:r>
            <a:r>
              <a:rPr kumimoji="0" lang="en-US" altLang="zh-CN" sz="1200" b="1" dirty="0"/>
              <a:t>   </a:t>
            </a:r>
            <a:r>
              <a:rPr kumimoji="0" lang="zh-CN" altLang="en-US" sz="1200" b="1" dirty="0"/>
              <a:t>所有从</a:t>
            </a:r>
            <a:r>
              <a:rPr kumimoji="0" lang="en-US" altLang="zh-CN" sz="1200" b="1" i="1" dirty="0"/>
              <a:t>A</a:t>
            </a:r>
            <a:r>
              <a:rPr kumimoji="0" lang="zh-CN" altLang="en-US" sz="1200" b="1" dirty="0"/>
              <a:t>到</a:t>
            </a:r>
            <a:r>
              <a:rPr kumimoji="0" lang="en-US" altLang="zh-CN" sz="1200" b="1" i="1" dirty="0"/>
              <a:t>B</a:t>
            </a:r>
            <a:r>
              <a:rPr kumimoji="0" lang="zh-CN" altLang="en-US" sz="1200" b="1" dirty="0"/>
              <a:t>的函数的集合记作</a:t>
            </a:r>
            <a:r>
              <a:rPr kumimoji="0" lang="en-US" altLang="zh-CN" sz="1200" b="1" i="1" dirty="0">
                <a:solidFill>
                  <a:srgbClr val="FF0000"/>
                </a:solidFill>
              </a:rPr>
              <a:t>B</a:t>
            </a:r>
            <a:r>
              <a:rPr kumimoji="0" lang="en-US" altLang="zh-CN" sz="1200" b="1" i="1" baseline="30000" dirty="0">
                <a:solidFill>
                  <a:srgbClr val="FF0000"/>
                </a:solidFill>
              </a:rPr>
              <a:t>A</a:t>
            </a:r>
            <a:r>
              <a:rPr kumimoji="0" lang="en-US" altLang="zh-CN" sz="1200" b="1" dirty="0"/>
              <a:t>, </a:t>
            </a:r>
            <a:r>
              <a:rPr kumimoji="0" lang="zh-CN" altLang="en-US" sz="1200" b="1" dirty="0"/>
              <a:t>读作</a:t>
            </a:r>
            <a:r>
              <a:rPr kumimoji="0" lang="zh-CN" altLang="en-US" sz="1200" b="1" dirty="0">
                <a:solidFill>
                  <a:srgbClr val="FF0000"/>
                </a:solidFill>
              </a:rPr>
              <a:t>“</a:t>
            </a:r>
            <a:r>
              <a:rPr kumimoji="0" lang="en-US" altLang="zh-CN" sz="1200" b="1" i="1" dirty="0">
                <a:solidFill>
                  <a:srgbClr val="FF0000"/>
                </a:solidFill>
              </a:rPr>
              <a:t>B</a:t>
            </a:r>
            <a:r>
              <a:rPr kumimoji="0" lang="zh-CN" altLang="en-US" sz="1200" b="1" dirty="0">
                <a:solidFill>
                  <a:srgbClr val="FF0000"/>
                </a:solidFill>
              </a:rPr>
              <a:t>上</a:t>
            </a:r>
            <a:r>
              <a:rPr kumimoji="0" lang="en-US" altLang="zh-CN" sz="1200" b="1" i="1" dirty="0">
                <a:solidFill>
                  <a:srgbClr val="FF0000"/>
                </a:solidFill>
              </a:rPr>
              <a:t>A</a:t>
            </a:r>
            <a:r>
              <a:rPr kumimoji="0" lang="en-US" altLang="zh-CN" sz="1200" b="1" dirty="0">
                <a:solidFill>
                  <a:srgbClr val="FF0000"/>
                </a:solidFill>
              </a:rPr>
              <a:t>”</a:t>
            </a:r>
          </a:p>
          <a:p>
            <a:pPr eaLnBrk="1" hangingPunct="1">
              <a:lnSpc>
                <a:spcPct val="130000"/>
              </a:lnSpc>
              <a:spcBef>
                <a:spcPct val="0"/>
              </a:spcBef>
              <a:buFontTx/>
              <a:buNone/>
            </a:pPr>
            <a:r>
              <a:rPr kumimoji="0" lang="zh-CN" altLang="en-US" sz="1200" b="1" dirty="0"/>
              <a:t>符号化表示为 </a:t>
            </a:r>
            <a:br>
              <a:rPr kumimoji="0" lang="zh-CN" altLang="en-US" sz="1200" b="1" dirty="0"/>
            </a:br>
            <a:r>
              <a:rPr kumimoji="0" lang="zh-CN" altLang="en-US" sz="1200" b="1" dirty="0"/>
              <a:t>               </a:t>
            </a:r>
            <a:r>
              <a:rPr kumimoji="0" lang="en-US" altLang="zh-CN" sz="1200" b="1" i="1" dirty="0"/>
              <a:t>B</a:t>
            </a:r>
            <a:r>
              <a:rPr kumimoji="0" lang="en-US" altLang="zh-CN" sz="1200" b="1" i="1" baseline="30000" dirty="0"/>
              <a:t>A </a:t>
            </a:r>
            <a:r>
              <a:rPr kumimoji="0" lang="en-US" altLang="zh-CN" sz="1200" b="1" dirty="0"/>
              <a:t>={ </a:t>
            </a:r>
            <a:r>
              <a:rPr kumimoji="0" lang="en-US" altLang="zh-CN" sz="1200" b="1" i="1" dirty="0"/>
              <a:t>f </a:t>
            </a:r>
            <a:r>
              <a:rPr kumimoji="0" lang="en-US" altLang="zh-CN" sz="1200" b="1" dirty="0"/>
              <a:t> |  </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 </a:t>
            </a:r>
            <a:r>
              <a:rPr kumimoji="0" lang="en-US" altLang="zh-CN" sz="1200" b="1" dirty="0"/>
              <a:t>} </a:t>
            </a:r>
          </a:p>
          <a:p>
            <a:pPr eaLnBrk="1" hangingPunct="1">
              <a:lnSpc>
                <a:spcPct val="130000"/>
              </a:lnSpc>
              <a:spcBef>
                <a:spcPct val="0"/>
              </a:spcBef>
              <a:buFontTx/>
              <a:buNone/>
            </a:pPr>
            <a:r>
              <a:rPr kumimoji="0" lang="zh-CN" altLang="en-US" sz="1200" b="1" dirty="0"/>
              <a:t>计数：</a:t>
            </a:r>
          </a:p>
          <a:p>
            <a:pPr eaLnBrk="1" hangingPunct="1">
              <a:lnSpc>
                <a:spcPct val="130000"/>
              </a:lnSpc>
              <a:spcBef>
                <a:spcPct val="0"/>
              </a:spcBef>
              <a:buFontTx/>
              <a:buNone/>
            </a:pPr>
            <a:r>
              <a:rPr kumimoji="0" lang="zh-CN" altLang="en-US" sz="1200" b="1" dirty="0"/>
              <a:t>        </a:t>
            </a:r>
            <a:r>
              <a:rPr kumimoji="0" lang="en-US" altLang="zh-CN" sz="1200" b="1" dirty="0"/>
              <a:t>|</a:t>
            </a:r>
            <a:r>
              <a:rPr kumimoji="0" lang="en-US" altLang="zh-CN" sz="1200" b="1" i="1" dirty="0"/>
              <a:t>A</a:t>
            </a:r>
            <a:r>
              <a:rPr kumimoji="0" lang="en-US" altLang="zh-CN" sz="1200" b="1" dirty="0"/>
              <a:t>|=</a:t>
            </a:r>
            <a:r>
              <a:rPr kumimoji="0" lang="en-US" altLang="zh-CN" sz="1200" b="1" i="1" dirty="0"/>
              <a:t>m</a:t>
            </a:r>
            <a:r>
              <a:rPr kumimoji="0" lang="en-US" altLang="zh-CN" sz="1200" b="1" dirty="0"/>
              <a:t>, |</a:t>
            </a:r>
            <a:r>
              <a:rPr kumimoji="0" lang="en-US" altLang="zh-CN" sz="1200" b="1" i="1" dirty="0"/>
              <a:t>B</a:t>
            </a:r>
            <a:r>
              <a:rPr kumimoji="0" lang="en-US" altLang="zh-CN" sz="1200" b="1" dirty="0"/>
              <a:t>|=</a:t>
            </a:r>
            <a:r>
              <a:rPr kumimoji="0" lang="en-US" altLang="zh-CN" sz="1200" b="1" i="1" dirty="0"/>
              <a:t>n</a:t>
            </a:r>
            <a:r>
              <a:rPr kumimoji="0" lang="en-US" altLang="zh-CN" sz="1200" b="1" dirty="0"/>
              <a:t>, </a:t>
            </a:r>
            <a:r>
              <a:rPr kumimoji="0" lang="zh-CN" altLang="en-US" sz="1200" b="1" dirty="0"/>
              <a:t>且</a:t>
            </a:r>
            <a:r>
              <a:rPr kumimoji="0" lang="en-US" altLang="zh-CN" sz="1200" b="1" i="1" dirty="0"/>
              <a:t>m</a:t>
            </a:r>
            <a:r>
              <a:rPr kumimoji="0" lang="en-US" altLang="zh-CN" sz="1200" b="1" dirty="0"/>
              <a:t>, </a:t>
            </a:r>
            <a:r>
              <a:rPr kumimoji="0" lang="en-US" altLang="zh-CN" sz="1200" b="1" i="1" dirty="0"/>
              <a:t>n</a:t>
            </a:r>
            <a:r>
              <a:rPr kumimoji="0" lang="en-US" altLang="zh-CN" sz="1200" b="1" dirty="0"/>
              <a:t>&gt;0,  |</a:t>
            </a:r>
            <a:r>
              <a:rPr kumimoji="0" lang="en-US" altLang="zh-CN" sz="1200" b="1" i="1" dirty="0"/>
              <a:t>B</a:t>
            </a:r>
            <a:r>
              <a:rPr kumimoji="0" lang="en-US" altLang="zh-CN" sz="1200" b="1" i="1" baseline="30000" dirty="0"/>
              <a:t>A</a:t>
            </a:r>
            <a:r>
              <a:rPr kumimoji="0" lang="en-US" altLang="zh-CN" sz="1200" b="1" dirty="0"/>
              <a:t>|=</a:t>
            </a:r>
            <a:r>
              <a:rPr kumimoji="0" lang="en-US" altLang="zh-CN" sz="1200" b="1" i="1" dirty="0"/>
              <a:t>n</a:t>
            </a:r>
            <a:r>
              <a:rPr kumimoji="0" lang="en-US" altLang="zh-CN" sz="1200" b="1" i="1" baseline="30000" dirty="0"/>
              <a:t>m</a:t>
            </a:r>
            <a:r>
              <a:rPr kumimoji="0" lang="en-US" altLang="zh-CN" sz="1200" b="1" dirty="0"/>
              <a:t>.</a:t>
            </a:r>
            <a:endParaRPr kumimoji="0" lang="en-US" altLang="zh-CN" sz="1200" b="1" i="1" dirty="0"/>
          </a:p>
          <a:p>
            <a:pPr eaLnBrk="1" hangingPunct="1">
              <a:lnSpc>
                <a:spcPct val="130000"/>
              </a:lnSpc>
              <a:spcBef>
                <a:spcPct val="0"/>
              </a:spcBef>
              <a:buFontTx/>
              <a:buNone/>
            </a:pPr>
            <a:r>
              <a:rPr kumimoji="0" lang="en-US" altLang="zh-CN" sz="1200" b="1" i="1" dirty="0"/>
              <a:t>         A</a:t>
            </a:r>
            <a:r>
              <a:rPr kumimoji="0" lang="en-US" altLang="zh-CN" sz="1200" b="1" dirty="0"/>
              <a:t>=</a:t>
            </a:r>
            <a:r>
              <a:rPr kumimoji="0" lang="en-US" altLang="zh-CN" sz="1200" b="1" dirty="0">
                <a:sym typeface="Symbol" panose="05050102010706020507" pitchFamily="18" charset="2"/>
              </a:rPr>
              <a:t></a:t>
            </a:r>
            <a:r>
              <a:rPr kumimoji="0" lang="en-US" altLang="zh-CN" sz="1200" b="1" dirty="0"/>
              <a:t>, </a:t>
            </a:r>
            <a:r>
              <a:rPr kumimoji="0" lang="zh-CN" altLang="en-US" sz="1200" b="1" dirty="0"/>
              <a:t>则   </a:t>
            </a:r>
            <a:r>
              <a:rPr kumimoji="0" lang="en-US" altLang="zh-CN" sz="1200" b="1" i="1" dirty="0"/>
              <a:t>B</a:t>
            </a:r>
            <a:r>
              <a:rPr kumimoji="0" lang="en-US" altLang="zh-CN" sz="1200" b="1" i="1" baseline="30000" dirty="0"/>
              <a:t>A</a:t>
            </a:r>
            <a:r>
              <a:rPr kumimoji="0" lang="en-US" altLang="zh-CN" sz="1200" b="1" dirty="0"/>
              <a:t>=</a:t>
            </a:r>
            <a:r>
              <a:rPr kumimoji="0" lang="en-US" altLang="zh-CN" sz="1200" b="1" i="1" dirty="0"/>
              <a:t>B</a:t>
            </a:r>
            <a:r>
              <a:rPr kumimoji="0" lang="en-US" altLang="zh-CN" sz="1200" b="1" baseline="30000" dirty="0">
                <a:sym typeface="Symbol" panose="05050102010706020507" pitchFamily="18" charset="2"/>
              </a:rPr>
              <a:t></a:t>
            </a:r>
            <a:r>
              <a:rPr kumimoji="0" lang="en-US" altLang="zh-CN" sz="1200" b="1" dirty="0"/>
              <a:t>={</a:t>
            </a:r>
            <a:r>
              <a:rPr kumimoji="0" lang="en-US" altLang="zh-CN" sz="1200" b="1" dirty="0">
                <a:sym typeface="Symbol" panose="05050102010706020507" pitchFamily="18" charset="2"/>
              </a:rPr>
              <a:t></a:t>
            </a:r>
            <a:r>
              <a:rPr kumimoji="0" lang="en-US" altLang="zh-CN" sz="1200" b="1" dirty="0"/>
              <a:t>}.</a:t>
            </a:r>
            <a:br>
              <a:rPr kumimoji="0" lang="en-US" altLang="zh-CN" sz="1200" b="1" dirty="0"/>
            </a:br>
            <a:r>
              <a:rPr kumimoji="0" lang="en-US" altLang="zh-CN" sz="1200" b="1" dirty="0"/>
              <a:t>         </a:t>
            </a:r>
            <a:r>
              <a:rPr kumimoji="0" lang="en-US" altLang="zh-CN" sz="1200" b="1" i="1" dirty="0"/>
              <a:t>A</a:t>
            </a:r>
            <a:r>
              <a:rPr kumimoji="0" lang="en-US" altLang="zh-CN" sz="1200" b="1" dirty="0"/>
              <a:t>≠</a:t>
            </a:r>
            <a:r>
              <a:rPr kumimoji="0" lang="en-US" altLang="zh-CN" sz="1200" b="1" dirty="0">
                <a:sym typeface="Symbol" panose="05050102010706020507" pitchFamily="18" charset="2"/>
              </a:rPr>
              <a:t></a:t>
            </a:r>
            <a:r>
              <a:rPr kumimoji="0" lang="zh-CN" altLang="en-US" sz="1200" b="1" dirty="0"/>
              <a:t>且</a:t>
            </a:r>
            <a:r>
              <a:rPr kumimoji="0" lang="en-US" altLang="zh-CN" sz="1200" b="1" i="1" dirty="0"/>
              <a:t>B</a:t>
            </a:r>
            <a:r>
              <a:rPr kumimoji="0" lang="en-US" altLang="zh-CN" sz="1200" b="1" dirty="0"/>
              <a:t>=</a:t>
            </a:r>
            <a:r>
              <a:rPr kumimoji="0" lang="en-US" altLang="zh-CN" sz="1200" b="1" dirty="0">
                <a:sym typeface="Symbol" panose="05050102010706020507" pitchFamily="18" charset="2"/>
              </a:rPr>
              <a:t></a:t>
            </a:r>
            <a:r>
              <a:rPr kumimoji="0" lang="en-US" altLang="zh-CN" sz="1200" b="1" dirty="0"/>
              <a:t>, </a:t>
            </a:r>
            <a:r>
              <a:rPr kumimoji="0" lang="zh-CN" altLang="en-US" sz="1200" b="1" dirty="0"/>
              <a:t>则  </a:t>
            </a:r>
            <a:r>
              <a:rPr kumimoji="0" lang="en-US" altLang="zh-CN" sz="1200" b="1" i="1" dirty="0"/>
              <a:t>B</a:t>
            </a:r>
            <a:r>
              <a:rPr kumimoji="0" lang="en-US" altLang="zh-CN" sz="1200" b="1" i="1" baseline="30000" dirty="0"/>
              <a:t>A</a:t>
            </a:r>
            <a:r>
              <a:rPr kumimoji="0" lang="en-US" altLang="zh-CN" sz="1200" b="1" dirty="0"/>
              <a:t>=</a:t>
            </a:r>
            <a:r>
              <a:rPr kumimoji="0" lang="en-US" altLang="zh-CN" sz="1200" b="1" dirty="0">
                <a:sym typeface="Symbol" panose="05050102010706020507" pitchFamily="18" charset="2"/>
              </a:rPr>
              <a:t></a:t>
            </a:r>
            <a:r>
              <a:rPr kumimoji="0" lang="en-US" altLang="zh-CN" sz="1200" b="1" i="1" baseline="30000" dirty="0"/>
              <a:t>A</a:t>
            </a:r>
            <a:r>
              <a:rPr kumimoji="0" lang="en-US" altLang="zh-CN" sz="1200" b="1" dirty="0"/>
              <a:t>= </a:t>
            </a:r>
            <a:r>
              <a:rPr kumimoji="0" lang="en-US" altLang="zh-CN" sz="1200" b="1" dirty="0">
                <a:sym typeface="Symbol" panose="05050102010706020507" pitchFamily="18" charset="2"/>
              </a:rPr>
              <a:t></a:t>
            </a:r>
            <a:r>
              <a:rPr kumimoji="0" lang="en-US" altLang="zh-CN" sz="1200" b="1" dirty="0"/>
              <a:t>.</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a:t>
            </a:fld>
            <a:endParaRPr lang="zh-CN" altLang="en-US"/>
          </a:p>
        </p:txBody>
      </p:sp>
    </p:spTree>
    <p:extLst>
      <p:ext uri="{BB962C8B-B14F-4D97-AF65-F5344CB8AC3E}">
        <p14:creationId xmlns:p14="http://schemas.microsoft.com/office/powerpoint/2010/main" val="4109005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solidFill>
                  <a:srgbClr val="00B0F0"/>
                </a:solidFill>
              </a:rPr>
              <a:t>例</a:t>
            </a:r>
            <a:r>
              <a:rPr kumimoji="0" lang="en-US" altLang="zh-CN" sz="1200" b="1" dirty="0">
                <a:solidFill>
                  <a:srgbClr val="00B0F0"/>
                </a:solidFill>
              </a:rPr>
              <a:t>1</a:t>
            </a:r>
            <a:r>
              <a:rPr kumimoji="0" lang="en-US" altLang="zh-CN" sz="1200" b="1" dirty="0"/>
              <a:t>  </a:t>
            </a:r>
            <a:r>
              <a:rPr kumimoji="0" lang="zh-CN" altLang="en-US" sz="1200" b="1" dirty="0"/>
              <a:t>设</a:t>
            </a:r>
            <a:r>
              <a:rPr kumimoji="0" lang="en-US" altLang="zh-CN" sz="1200" b="1" i="1" dirty="0"/>
              <a:t>A </a:t>
            </a:r>
            <a:r>
              <a:rPr kumimoji="0" lang="en-US" altLang="zh-CN" sz="1200" b="1" dirty="0"/>
              <a:t>= {1, 2, 3}, </a:t>
            </a:r>
            <a:r>
              <a:rPr kumimoji="0" lang="en-US" altLang="zh-CN" sz="1200" b="1" i="1" dirty="0"/>
              <a:t>B </a:t>
            </a:r>
            <a:r>
              <a:rPr kumimoji="0" lang="en-US" altLang="zh-CN" sz="1200" b="1" dirty="0"/>
              <a:t>= {</a:t>
            </a:r>
            <a:r>
              <a:rPr kumimoji="0" lang="en-US" altLang="zh-CN" sz="1200" b="1" i="1" dirty="0"/>
              <a:t>a</a:t>
            </a:r>
            <a:r>
              <a:rPr kumimoji="0" lang="en-US" altLang="zh-CN" sz="1200" b="1" dirty="0"/>
              <a:t>, </a:t>
            </a:r>
            <a:r>
              <a:rPr kumimoji="0" lang="en-US" altLang="zh-CN" sz="1200" b="1" i="1" dirty="0"/>
              <a:t>b</a:t>
            </a:r>
            <a:r>
              <a:rPr kumimoji="0" lang="en-US" altLang="zh-CN" sz="1200" b="1" dirty="0"/>
              <a:t>}, </a:t>
            </a:r>
            <a:r>
              <a:rPr kumimoji="0" lang="zh-CN" altLang="en-US" sz="1200" b="1" dirty="0"/>
              <a:t>求</a:t>
            </a:r>
            <a:r>
              <a:rPr kumimoji="0" lang="en-US" altLang="zh-CN" sz="1200" b="1" i="1" dirty="0"/>
              <a:t>B</a:t>
            </a:r>
            <a:r>
              <a:rPr kumimoji="0" lang="en-US" altLang="zh-CN" sz="1200" b="1" i="1" baseline="30000" dirty="0"/>
              <a:t>A</a:t>
            </a:r>
            <a:r>
              <a:rPr kumimoji="0" lang="en-US" altLang="zh-CN" sz="1200" b="1" dirty="0"/>
              <a:t>.</a:t>
            </a:r>
            <a:endParaRPr kumimoji="0"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a:t>
            </a:fld>
            <a:endParaRPr lang="zh-CN" altLang="en-US"/>
          </a:p>
        </p:txBody>
      </p:sp>
    </p:spTree>
    <p:extLst>
      <p:ext uri="{BB962C8B-B14F-4D97-AF65-F5344CB8AC3E}">
        <p14:creationId xmlns:p14="http://schemas.microsoft.com/office/powerpoint/2010/main" val="1715450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5.5</a:t>
            </a:r>
          </a:p>
          <a:p>
            <a:pPr eaLnBrk="1" hangingPunct="1">
              <a:lnSpc>
                <a:spcPct val="130000"/>
              </a:lnSpc>
              <a:spcBef>
                <a:spcPct val="0"/>
              </a:spcBef>
              <a:buFontTx/>
              <a:buNone/>
            </a:pPr>
            <a:r>
              <a:rPr kumimoji="0" lang="en-US" altLang="zh-CN" sz="1200" b="1" dirty="0"/>
              <a:t>(1) </a:t>
            </a:r>
            <a:r>
              <a:rPr kumimoji="0" lang="zh-CN" altLang="en-US" sz="1200" b="1" dirty="0"/>
              <a:t>设</a:t>
            </a:r>
            <a:r>
              <a:rPr kumimoji="0" lang="en-US" altLang="zh-CN" sz="1200" b="1" i="1" dirty="0"/>
              <a:t>f</a:t>
            </a:r>
            <a:r>
              <a:rPr kumimoji="0" lang="zh-CN" altLang="en-US" sz="1200" b="1" dirty="0"/>
              <a:t>：</a:t>
            </a:r>
            <a:r>
              <a:rPr kumimoji="0" lang="en-US" altLang="zh-CN" sz="1200" b="1" i="1" dirty="0"/>
              <a:t>A</a:t>
            </a:r>
            <a:r>
              <a:rPr kumimoji="0" lang="en-US" altLang="zh-CN" sz="1200" b="1" dirty="0"/>
              <a:t>→</a:t>
            </a:r>
            <a:r>
              <a:rPr kumimoji="0" lang="en-US" altLang="zh-CN" sz="1200" b="1" i="1" dirty="0"/>
              <a:t>B</a:t>
            </a:r>
            <a:r>
              <a:rPr kumimoji="0" lang="en-US" altLang="zh-CN" sz="1200" b="1" dirty="0"/>
              <a:t>, </a:t>
            </a:r>
            <a:r>
              <a:rPr kumimoji="0" lang="zh-CN" altLang="en-US" sz="1200" b="1" dirty="0"/>
              <a:t>如果存在 </a:t>
            </a:r>
            <a:r>
              <a:rPr kumimoji="0" lang="en-US" altLang="zh-CN" sz="1200" b="1" i="1" dirty="0"/>
              <a:t>c</a:t>
            </a:r>
            <a:r>
              <a:rPr kumimoji="0" lang="en-US" altLang="zh-CN" sz="1200" b="1" dirty="0"/>
              <a:t>∈</a:t>
            </a:r>
            <a:r>
              <a:rPr kumimoji="0" lang="en-US" altLang="zh-CN" sz="1200" b="1" i="1" dirty="0"/>
              <a:t>B </a:t>
            </a:r>
            <a:r>
              <a:rPr kumimoji="0" lang="zh-CN" altLang="en-US" sz="1200" b="1" dirty="0"/>
              <a:t>使得对所有的 </a:t>
            </a:r>
            <a:r>
              <a:rPr kumimoji="0" lang="en-US" altLang="zh-CN" sz="1200" b="1" i="1" dirty="0"/>
              <a:t>x</a:t>
            </a:r>
            <a:r>
              <a:rPr kumimoji="0" lang="en-US" altLang="zh-CN" sz="1200" b="1" dirty="0"/>
              <a:t>∈</a:t>
            </a:r>
            <a:r>
              <a:rPr kumimoji="0" lang="en-US" altLang="zh-CN" sz="1200" b="1" i="1" dirty="0"/>
              <a:t>A </a:t>
            </a:r>
            <a:r>
              <a:rPr kumimoji="0" lang="zh-CN" altLang="en-US" sz="1200" b="1" dirty="0"/>
              <a:t>都有    </a:t>
            </a:r>
          </a:p>
          <a:p>
            <a:pPr eaLnBrk="1" hangingPunct="1">
              <a:lnSpc>
                <a:spcPct val="130000"/>
              </a:lnSpc>
              <a:spcBef>
                <a:spcPct val="0"/>
              </a:spcBef>
              <a:buFontTx/>
              <a:buNone/>
            </a:pPr>
            <a:r>
              <a:rPr kumimoji="0" lang="zh-CN" altLang="en-US" sz="1200" b="1" dirty="0"/>
              <a:t> </a:t>
            </a:r>
            <a:r>
              <a:rPr kumimoji="0" lang="en-US" altLang="zh-CN" sz="1200" b="1" i="1" dirty="0"/>
              <a:t>f</a:t>
            </a:r>
            <a:r>
              <a:rPr kumimoji="0" lang="en-US" altLang="zh-CN" sz="1200" b="1" dirty="0"/>
              <a:t>(</a:t>
            </a:r>
            <a:r>
              <a:rPr kumimoji="0" lang="en-US" altLang="zh-CN" sz="1200" b="1" i="1" dirty="0"/>
              <a:t>x</a:t>
            </a:r>
            <a:r>
              <a:rPr kumimoji="0" lang="en-US" altLang="zh-CN" sz="1200" b="1" dirty="0"/>
              <a:t>)=</a:t>
            </a:r>
            <a:r>
              <a:rPr kumimoji="0" lang="en-US" altLang="zh-CN" sz="1200" b="1" i="1" dirty="0"/>
              <a:t>c</a:t>
            </a:r>
            <a:r>
              <a:rPr kumimoji="0" lang="en-US" altLang="zh-CN" sz="1200" b="1" dirty="0"/>
              <a:t>, </a:t>
            </a:r>
            <a:r>
              <a:rPr kumimoji="0" lang="zh-CN" altLang="en-US" sz="1200" b="1" dirty="0"/>
              <a:t>则称 </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zh-CN" altLang="en-US" sz="1200" b="1" dirty="0"/>
              <a:t>是</a:t>
            </a:r>
            <a:r>
              <a:rPr kumimoji="0" lang="zh-CN" altLang="en-US" sz="1200" b="1" dirty="0">
                <a:solidFill>
                  <a:srgbClr val="FF0000"/>
                </a:solidFill>
              </a:rPr>
              <a:t>常函数</a:t>
            </a:r>
            <a:r>
              <a:rPr kumimoji="0" lang="en-US" altLang="zh-CN" sz="1200" b="1" dirty="0"/>
              <a:t>.</a:t>
            </a:r>
          </a:p>
          <a:p>
            <a:pPr eaLnBrk="1" hangingPunct="1">
              <a:lnSpc>
                <a:spcPct val="130000"/>
              </a:lnSpc>
              <a:spcBef>
                <a:spcPct val="0"/>
              </a:spcBef>
              <a:buFontTx/>
              <a:buNone/>
            </a:pPr>
            <a:r>
              <a:rPr kumimoji="0" lang="en-US" altLang="zh-CN" sz="1200" b="1" dirty="0"/>
              <a:t>(2) </a:t>
            </a:r>
            <a:r>
              <a:rPr kumimoji="0" lang="zh-CN" altLang="en-US" sz="1200" b="1" dirty="0"/>
              <a:t>称 </a:t>
            </a:r>
            <a:r>
              <a:rPr kumimoji="0" lang="en-US" altLang="zh-CN" sz="1200" b="1" i="1" dirty="0"/>
              <a:t>A </a:t>
            </a:r>
            <a:r>
              <a:rPr kumimoji="0" lang="zh-CN" altLang="en-US" sz="1200" b="1" dirty="0"/>
              <a:t>上的恒等关系 </a:t>
            </a:r>
            <a:r>
              <a:rPr kumimoji="0" lang="en-US" altLang="zh-CN" sz="1200" b="1" i="1" dirty="0"/>
              <a:t>I</a:t>
            </a:r>
            <a:r>
              <a:rPr kumimoji="0" lang="en-US" altLang="zh-CN" sz="1200" b="1" i="1" baseline="-25000" dirty="0"/>
              <a:t>A</a:t>
            </a:r>
            <a:r>
              <a:rPr kumimoji="0" lang="zh-CN" altLang="en-US" sz="1200" b="1" dirty="0"/>
              <a:t>为 </a:t>
            </a:r>
            <a:r>
              <a:rPr kumimoji="0" lang="en-US" altLang="zh-CN" sz="1200" b="1" i="1" dirty="0"/>
              <a:t>A </a:t>
            </a:r>
            <a:r>
              <a:rPr kumimoji="0" lang="zh-CN" altLang="en-US" sz="1200" b="1" dirty="0"/>
              <a:t>上的</a:t>
            </a:r>
            <a:r>
              <a:rPr kumimoji="0" lang="zh-CN" altLang="en-US" sz="1200" b="1" dirty="0">
                <a:solidFill>
                  <a:srgbClr val="FF0000"/>
                </a:solidFill>
              </a:rPr>
              <a:t>恒等函数</a:t>
            </a:r>
            <a:r>
              <a:rPr kumimoji="0" lang="en-US" altLang="zh-CN" sz="1200" b="1" dirty="0"/>
              <a:t>, </a:t>
            </a:r>
            <a:r>
              <a:rPr kumimoji="0" lang="zh-CN" altLang="en-US" sz="1200" b="1" dirty="0"/>
              <a:t>对所有的 </a:t>
            </a:r>
          </a:p>
          <a:p>
            <a:pPr eaLnBrk="1" hangingPunct="1">
              <a:lnSpc>
                <a:spcPct val="130000"/>
              </a:lnSpc>
              <a:spcBef>
                <a:spcPct val="0"/>
              </a:spcBef>
              <a:buFontTx/>
              <a:buNone/>
            </a:pPr>
            <a:r>
              <a:rPr kumimoji="0" lang="zh-CN" altLang="en-US" sz="1200" b="1" dirty="0"/>
              <a:t> </a:t>
            </a:r>
            <a:r>
              <a:rPr kumimoji="0" lang="en-US" altLang="zh-CN" sz="1200" b="1" i="1" dirty="0"/>
              <a:t>x</a:t>
            </a:r>
            <a:r>
              <a:rPr kumimoji="0" lang="en-US" altLang="zh-CN" sz="1200" b="1" dirty="0"/>
              <a:t>∈</a:t>
            </a:r>
            <a:r>
              <a:rPr kumimoji="0" lang="en-US" altLang="zh-CN" sz="1200" b="1" i="1" dirty="0"/>
              <a:t>A </a:t>
            </a:r>
            <a:r>
              <a:rPr kumimoji="0" lang="zh-CN" altLang="en-US" sz="1200" b="1" dirty="0"/>
              <a:t>都有 </a:t>
            </a:r>
            <a:r>
              <a:rPr kumimoji="0" lang="en-US" altLang="zh-CN" sz="1200" b="1" i="1" dirty="0"/>
              <a:t>I</a:t>
            </a:r>
            <a:r>
              <a:rPr kumimoji="0" lang="en-US" altLang="zh-CN" sz="1200" b="1" i="1" baseline="-25000" dirty="0"/>
              <a:t>A</a:t>
            </a:r>
            <a:r>
              <a:rPr kumimoji="0" lang="en-US" altLang="zh-CN" sz="1200" b="1" dirty="0"/>
              <a:t>(</a:t>
            </a:r>
            <a:r>
              <a:rPr kumimoji="0" lang="en-US" altLang="zh-CN" sz="1200" b="1" i="1" dirty="0"/>
              <a:t>x</a:t>
            </a:r>
            <a:r>
              <a:rPr kumimoji="0" lang="en-US" altLang="zh-CN" sz="1200" b="1" dirty="0"/>
              <a:t>)=</a:t>
            </a:r>
            <a:r>
              <a:rPr kumimoji="0" lang="en-US" altLang="zh-CN" sz="1200" b="1" i="1" dirty="0"/>
              <a:t>x</a:t>
            </a:r>
            <a:r>
              <a:rPr kumimoji="0" lang="en-US" altLang="zh-CN" sz="1200" b="1" dirty="0"/>
              <a:t>.</a:t>
            </a:r>
          </a:p>
          <a:p>
            <a:pPr eaLnBrk="1" hangingPunct="1">
              <a:lnSpc>
                <a:spcPct val="130000"/>
              </a:lnSpc>
              <a:spcBef>
                <a:spcPct val="0"/>
              </a:spcBef>
              <a:buFontTx/>
              <a:buNone/>
            </a:pPr>
            <a:r>
              <a:rPr kumimoji="0" lang="en-US" altLang="zh-CN" sz="1200" b="1" dirty="0"/>
              <a:t>(3) </a:t>
            </a:r>
            <a:r>
              <a:rPr kumimoji="0" lang="zh-CN" altLang="en-US" sz="1200" b="1" dirty="0"/>
              <a:t>设</a:t>
            </a:r>
            <a:r>
              <a:rPr kumimoji="0" lang="en-US" altLang="zh-CN" sz="1200" b="1" dirty="0"/>
              <a:t>&lt;</a:t>
            </a:r>
            <a:r>
              <a:rPr kumimoji="0" lang="en-US" altLang="zh-CN" sz="1200" b="1" i="1" dirty="0"/>
              <a:t>A</a:t>
            </a:r>
            <a:r>
              <a:rPr kumimoji="0" lang="en-US" altLang="zh-CN" sz="1200" b="1" dirty="0"/>
              <a:t>, ≼&gt;, &lt;</a:t>
            </a:r>
            <a:r>
              <a:rPr kumimoji="0" lang="en-US" altLang="zh-CN" sz="1200" b="1" i="1" dirty="0"/>
              <a:t>B</a:t>
            </a:r>
            <a:r>
              <a:rPr kumimoji="0" lang="en-US" altLang="zh-CN" sz="1200" b="1" dirty="0"/>
              <a:t>, ≼&gt;</a:t>
            </a:r>
            <a:r>
              <a:rPr kumimoji="0" lang="zh-CN" altLang="en-US" sz="1200" b="1" dirty="0"/>
              <a:t>为偏序集，</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zh-CN" altLang="en-US" sz="1200" b="1" dirty="0"/>
              <a:t>，如果对任意的</a:t>
            </a:r>
            <a:r>
              <a:rPr kumimoji="0" lang="en-US" altLang="zh-CN" sz="1200" b="1" i="1" dirty="0"/>
              <a:t>x</a:t>
            </a:r>
            <a:r>
              <a:rPr kumimoji="0" lang="en-US" altLang="zh-CN" sz="1200" b="1" baseline="-25000" dirty="0"/>
              <a:t>1</a:t>
            </a:r>
            <a:r>
              <a:rPr kumimoji="0" lang="en-US" altLang="zh-CN" sz="1200" b="1" dirty="0"/>
              <a:t>, </a:t>
            </a:r>
            <a:r>
              <a:rPr kumimoji="0" lang="en-US" altLang="zh-CN" sz="1200" b="1" i="1" dirty="0"/>
              <a:t>x</a:t>
            </a:r>
            <a:r>
              <a:rPr kumimoji="0" lang="en-US" altLang="zh-CN" sz="1200" b="1" baseline="-25000" dirty="0"/>
              <a:t>2</a:t>
            </a:r>
            <a:r>
              <a:rPr kumimoji="0" lang="en-US" altLang="zh-CN" sz="1200" b="1" dirty="0"/>
              <a:t>∈</a:t>
            </a:r>
            <a:r>
              <a:rPr kumimoji="0" lang="en-US" altLang="zh-CN" sz="1200" b="1" i="1" dirty="0"/>
              <a:t>A</a:t>
            </a:r>
            <a:r>
              <a:rPr kumimoji="0" lang="en-US" altLang="zh-CN" sz="1200" b="1" dirty="0"/>
              <a:t>, </a:t>
            </a:r>
            <a:r>
              <a:rPr kumimoji="0" lang="en-US" altLang="zh-CN" sz="1200" b="1" i="1" dirty="0"/>
              <a:t>x</a:t>
            </a:r>
            <a:r>
              <a:rPr kumimoji="0" lang="en-US" altLang="zh-CN" sz="1200" b="1" baseline="-25000" dirty="0"/>
              <a:t>1</a:t>
            </a:r>
            <a:r>
              <a:rPr kumimoji="0" lang="en-US" altLang="zh-CN" sz="1200" b="1" dirty="0"/>
              <a:t>≺</a:t>
            </a:r>
            <a:r>
              <a:rPr kumimoji="0" lang="en-US" altLang="zh-CN" sz="1200" b="1" i="1" dirty="0"/>
              <a:t>x</a:t>
            </a:r>
            <a:r>
              <a:rPr kumimoji="0" lang="en-US" altLang="zh-CN" sz="1200" b="1" baseline="-25000" dirty="0"/>
              <a:t>2</a:t>
            </a:r>
            <a:r>
              <a:rPr kumimoji="0" lang="en-US" altLang="zh-CN" sz="1200" b="1" dirty="0"/>
              <a:t>, </a:t>
            </a:r>
            <a:r>
              <a:rPr kumimoji="0" lang="zh-CN" altLang="en-US" sz="1200" b="1" dirty="0"/>
              <a:t>就有 </a:t>
            </a:r>
            <a:r>
              <a:rPr kumimoji="0" lang="en-US" altLang="zh-CN" sz="1200" b="1" i="1" dirty="0"/>
              <a:t>f</a:t>
            </a:r>
            <a:r>
              <a:rPr kumimoji="0" lang="en-US" altLang="zh-CN" sz="1200" b="1" dirty="0"/>
              <a:t>(</a:t>
            </a:r>
            <a:r>
              <a:rPr kumimoji="0" lang="en-US" altLang="zh-CN" sz="1200" b="1" i="1" dirty="0"/>
              <a:t>x</a:t>
            </a:r>
            <a:r>
              <a:rPr kumimoji="0" lang="en-US" altLang="zh-CN" sz="1200" b="1" baseline="-25000" dirty="0"/>
              <a:t>1</a:t>
            </a:r>
            <a:r>
              <a:rPr kumimoji="0" lang="en-US" altLang="zh-CN" sz="1200" b="1" dirty="0"/>
              <a:t>) ≼ </a:t>
            </a:r>
            <a:r>
              <a:rPr kumimoji="0" lang="en-US" altLang="zh-CN" sz="1200" b="1" i="1" dirty="0"/>
              <a:t>f</a:t>
            </a:r>
            <a:r>
              <a:rPr kumimoji="0" lang="en-US" altLang="zh-CN" sz="1200" b="1" dirty="0"/>
              <a:t>(</a:t>
            </a:r>
            <a:r>
              <a:rPr kumimoji="0" lang="en-US" altLang="zh-CN" sz="1200" b="1" i="1" dirty="0"/>
              <a:t>x</a:t>
            </a:r>
            <a:r>
              <a:rPr kumimoji="0" lang="en-US" altLang="zh-CN" sz="1200" b="1" baseline="-25000" dirty="0"/>
              <a:t>2</a:t>
            </a:r>
            <a:r>
              <a:rPr kumimoji="0" lang="en-US" altLang="zh-CN" sz="1200" b="1" dirty="0"/>
              <a:t>), </a:t>
            </a:r>
            <a:r>
              <a:rPr kumimoji="0" lang="zh-CN" altLang="en-US" sz="1200" b="1" dirty="0"/>
              <a:t>则称 </a:t>
            </a:r>
            <a:r>
              <a:rPr kumimoji="0" lang="en-US" altLang="zh-CN" sz="1200" b="1" i="1" dirty="0"/>
              <a:t>f </a:t>
            </a:r>
            <a:r>
              <a:rPr kumimoji="0" lang="zh-CN" altLang="en-US" sz="1200" b="1" dirty="0"/>
              <a:t>为</a:t>
            </a:r>
            <a:r>
              <a:rPr kumimoji="0" lang="zh-CN" altLang="en-US" sz="1200" b="1" dirty="0">
                <a:solidFill>
                  <a:srgbClr val="FF0000"/>
                </a:solidFill>
              </a:rPr>
              <a:t>单调递增</a:t>
            </a:r>
            <a:r>
              <a:rPr kumimoji="0" lang="zh-CN" altLang="en-US" sz="1200" b="1" dirty="0"/>
              <a:t>的；</a:t>
            </a:r>
            <a:r>
              <a:rPr kumimoji="0" lang="zh-CN" altLang="en-US" sz="1200" b="1" dirty="0">
                <a:solidFill>
                  <a:srgbClr val="FF0000"/>
                </a:solidFill>
              </a:rPr>
              <a:t> </a:t>
            </a:r>
          </a:p>
          <a:p>
            <a:pPr eaLnBrk="1" hangingPunct="1">
              <a:lnSpc>
                <a:spcPct val="130000"/>
              </a:lnSpc>
              <a:spcBef>
                <a:spcPct val="0"/>
              </a:spcBef>
              <a:buFontTx/>
              <a:buNone/>
            </a:pPr>
            <a:r>
              <a:rPr kumimoji="0" lang="zh-CN" altLang="en-US" sz="1200" b="1" dirty="0"/>
              <a:t> 如果对任意的 </a:t>
            </a:r>
            <a:r>
              <a:rPr kumimoji="0" lang="en-US" altLang="zh-CN" sz="1200" b="1" i="1" dirty="0"/>
              <a:t>x</a:t>
            </a:r>
            <a:r>
              <a:rPr kumimoji="0" lang="en-US" altLang="zh-CN" sz="1200" b="1" baseline="-25000" dirty="0"/>
              <a:t>1</a:t>
            </a:r>
            <a:r>
              <a:rPr kumimoji="0" lang="en-US" altLang="zh-CN" sz="1200" b="1" dirty="0"/>
              <a:t>, </a:t>
            </a:r>
            <a:r>
              <a:rPr kumimoji="0" lang="en-US" altLang="zh-CN" sz="1200" b="1" i="1" dirty="0"/>
              <a:t>x</a:t>
            </a:r>
            <a:r>
              <a:rPr kumimoji="0" lang="en-US" altLang="zh-CN" sz="1200" b="1" baseline="-25000" dirty="0"/>
              <a:t>2</a:t>
            </a:r>
            <a:r>
              <a:rPr kumimoji="0" lang="en-US" altLang="zh-CN" sz="1200" b="1" dirty="0"/>
              <a:t>∈</a:t>
            </a:r>
            <a:r>
              <a:rPr kumimoji="0" lang="en-US" altLang="zh-CN" sz="1200" b="1" i="1" dirty="0"/>
              <a:t>A</a:t>
            </a:r>
            <a:r>
              <a:rPr kumimoji="0" lang="en-US" altLang="zh-CN" sz="1200" b="1" dirty="0"/>
              <a:t>, </a:t>
            </a:r>
            <a:r>
              <a:rPr kumimoji="0" lang="en-US" altLang="zh-CN" sz="1200" b="1" i="1" dirty="0"/>
              <a:t>x</a:t>
            </a:r>
            <a:r>
              <a:rPr kumimoji="0" lang="en-US" altLang="zh-CN" sz="1200" b="1" baseline="-25000" dirty="0"/>
              <a:t>1</a:t>
            </a:r>
            <a:r>
              <a:rPr kumimoji="0" lang="en-US" altLang="zh-CN" sz="1200" b="1" dirty="0"/>
              <a:t>≺</a:t>
            </a:r>
            <a:r>
              <a:rPr kumimoji="0" lang="en-US" altLang="zh-CN" sz="1200" b="1" i="1" dirty="0"/>
              <a:t>x</a:t>
            </a:r>
            <a:r>
              <a:rPr kumimoji="0" lang="en-US" altLang="zh-CN" sz="1200" b="1" baseline="-25000" dirty="0"/>
              <a:t>2</a:t>
            </a:r>
            <a:r>
              <a:rPr kumimoji="0" lang="en-US" altLang="zh-CN" sz="1200" b="1" dirty="0"/>
              <a:t>, </a:t>
            </a:r>
            <a:r>
              <a:rPr kumimoji="0" lang="zh-CN" altLang="en-US" sz="1200" b="1" dirty="0"/>
              <a:t>就有 </a:t>
            </a:r>
            <a:r>
              <a:rPr kumimoji="0" lang="en-US" altLang="zh-CN" sz="1200" b="1" i="1" dirty="0"/>
              <a:t>f</a:t>
            </a:r>
            <a:r>
              <a:rPr kumimoji="0" lang="en-US" altLang="zh-CN" sz="1200" b="1" dirty="0"/>
              <a:t>(</a:t>
            </a:r>
            <a:r>
              <a:rPr kumimoji="0" lang="en-US" altLang="zh-CN" sz="1200" b="1" i="1" dirty="0"/>
              <a:t>x</a:t>
            </a:r>
            <a:r>
              <a:rPr kumimoji="0" lang="en-US" altLang="zh-CN" sz="1200" b="1" baseline="-25000" dirty="0"/>
              <a:t>1</a:t>
            </a:r>
            <a:r>
              <a:rPr kumimoji="0" lang="en-US" altLang="zh-CN" sz="1200" b="1" dirty="0"/>
              <a:t>) ≺ </a:t>
            </a:r>
            <a:r>
              <a:rPr kumimoji="0" lang="en-US" altLang="zh-CN" sz="1200" b="1" i="1" dirty="0"/>
              <a:t>f</a:t>
            </a:r>
            <a:r>
              <a:rPr kumimoji="0" lang="en-US" altLang="zh-CN" sz="1200" b="1" dirty="0"/>
              <a:t>(</a:t>
            </a:r>
            <a:r>
              <a:rPr kumimoji="0" lang="en-US" altLang="zh-CN" sz="1200" b="1" i="1" dirty="0"/>
              <a:t>x</a:t>
            </a:r>
            <a:r>
              <a:rPr kumimoji="0" lang="en-US" altLang="zh-CN" sz="1200" b="1" baseline="-25000" dirty="0"/>
              <a:t>2</a:t>
            </a:r>
            <a:r>
              <a:rPr kumimoji="0" lang="en-US" altLang="zh-CN" sz="1200" b="1" dirty="0"/>
              <a:t>),  </a:t>
            </a:r>
            <a:r>
              <a:rPr kumimoji="0" lang="zh-CN" altLang="en-US" sz="1200" b="1" dirty="0"/>
              <a:t>则称 </a:t>
            </a:r>
            <a:r>
              <a:rPr kumimoji="0" lang="en-US" altLang="zh-CN" sz="1200" b="1" i="1" dirty="0"/>
              <a:t>f </a:t>
            </a:r>
            <a:r>
              <a:rPr kumimoji="0" lang="zh-CN" altLang="en-US" sz="1200" b="1" dirty="0"/>
              <a:t>为</a:t>
            </a:r>
            <a:r>
              <a:rPr kumimoji="0" lang="zh-CN" altLang="en-US" sz="1200" b="1" dirty="0">
                <a:solidFill>
                  <a:srgbClr val="FF0000"/>
                </a:solidFill>
              </a:rPr>
              <a:t>严格单调递增</a:t>
            </a:r>
            <a:r>
              <a:rPr kumimoji="0" lang="zh-CN" altLang="en-US" sz="1200" b="1" dirty="0"/>
              <a:t>的</a:t>
            </a:r>
            <a:r>
              <a:rPr kumimoji="0" lang="en-US" altLang="zh-CN" sz="1200" b="1" dirty="0"/>
              <a:t>. </a:t>
            </a:r>
          </a:p>
          <a:p>
            <a:pPr eaLnBrk="1" hangingPunct="1">
              <a:lnSpc>
                <a:spcPct val="130000"/>
              </a:lnSpc>
              <a:spcBef>
                <a:spcPct val="0"/>
              </a:spcBef>
              <a:buFontTx/>
              <a:buNone/>
            </a:pPr>
            <a:r>
              <a:rPr kumimoji="0" lang="en-US" altLang="zh-CN" sz="1200" b="1" dirty="0"/>
              <a:t> </a:t>
            </a:r>
            <a:r>
              <a:rPr kumimoji="0" lang="zh-CN" altLang="en-US" sz="1200" b="1" dirty="0"/>
              <a:t>类似的也可以定义</a:t>
            </a:r>
            <a:r>
              <a:rPr kumimoji="0" lang="zh-CN" altLang="en-US" sz="1200" b="1" dirty="0">
                <a:solidFill>
                  <a:srgbClr val="FF0000"/>
                </a:solidFill>
              </a:rPr>
              <a:t>单调递减</a:t>
            </a:r>
            <a:r>
              <a:rPr kumimoji="0" lang="zh-CN" altLang="en-US" sz="1200" b="1" dirty="0"/>
              <a:t>和</a:t>
            </a:r>
            <a:r>
              <a:rPr kumimoji="0" lang="zh-CN" altLang="en-US" sz="1200" b="1" dirty="0">
                <a:solidFill>
                  <a:srgbClr val="FF0000"/>
                </a:solidFill>
              </a:rPr>
              <a:t>严格单调递减</a:t>
            </a:r>
            <a:r>
              <a:rPr kumimoji="0" lang="zh-CN" altLang="en-US" sz="1200" b="1" dirty="0"/>
              <a:t>的函数</a:t>
            </a:r>
            <a:r>
              <a:rPr kumimoji="0" lang="en-US" altLang="zh-CN" sz="1200" b="1" dirty="0"/>
              <a:t>.</a:t>
            </a:r>
            <a:endParaRPr lang="en-US" altLang="zh-CN"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a:t>
            </a:fld>
            <a:endParaRPr lang="zh-CN" altLang="en-US"/>
          </a:p>
        </p:txBody>
      </p:sp>
    </p:spTree>
    <p:extLst>
      <p:ext uri="{BB962C8B-B14F-4D97-AF65-F5344CB8AC3E}">
        <p14:creationId xmlns:p14="http://schemas.microsoft.com/office/powerpoint/2010/main" val="3983152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spcBef>
                <a:spcPct val="0"/>
              </a:spcBef>
              <a:buFontTx/>
              <a:buNone/>
            </a:pPr>
            <a:r>
              <a:rPr kumimoji="0" lang="en-US" altLang="zh-CN" sz="1200" b="1" dirty="0"/>
              <a:t>(4) </a:t>
            </a:r>
            <a:r>
              <a:rPr kumimoji="0" lang="zh-CN" altLang="en-US" sz="1200" b="1" dirty="0"/>
              <a:t>设 </a:t>
            </a:r>
            <a:r>
              <a:rPr kumimoji="0" lang="en-US" altLang="zh-CN" sz="1200" b="1" i="1" dirty="0"/>
              <a:t>A </a:t>
            </a:r>
            <a:r>
              <a:rPr kumimoji="0" lang="zh-CN" altLang="en-US" sz="1200" b="1" dirty="0"/>
              <a:t>为集合</a:t>
            </a:r>
            <a:r>
              <a:rPr kumimoji="0" lang="en-US" altLang="zh-CN" sz="1200" b="1" dirty="0"/>
              <a:t>, </a:t>
            </a:r>
            <a:r>
              <a:rPr kumimoji="0" lang="zh-CN" altLang="en-US" sz="1200" b="1" dirty="0"/>
              <a:t>对于任意的 </a:t>
            </a:r>
            <a:r>
              <a:rPr kumimoji="0" lang="en-US" altLang="zh-CN" sz="1200" b="1" i="1" dirty="0"/>
              <a:t>A’ </a:t>
            </a:r>
            <a:r>
              <a:rPr kumimoji="0" lang="en-US" altLang="zh-CN" sz="1200" b="1" dirty="0">
                <a:sym typeface="Symbol" panose="05050102010706020507" pitchFamily="18" charset="2"/>
              </a:rPr>
              <a:t></a:t>
            </a:r>
            <a:r>
              <a:rPr kumimoji="0" lang="en-US" altLang="zh-CN" sz="1200" b="1" i="1" dirty="0"/>
              <a:t>A</a:t>
            </a:r>
            <a:r>
              <a:rPr kumimoji="0" lang="en-US" altLang="zh-CN" sz="1200" b="1" dirty="0"/>
              <a:t>,  </a:t>
            </a:r>
            <a:r>
              <a:rPr kumimoji="0" lang="en-US" altLang="zh-CN" sz="1200" b="1" i="1" dirty="0">
                <a:solidFill>
                  <a:srgbClr val="FF0000"/>
                </a:solidFill>
              </a:rPr>
              <a:t>A</a:t>
            </a:r>
            <a:r>
              <a:rPr kumimoji="0" lang="en-US" altLang="zh-CN" sz="1200" b="1" dirty="0">
                <a:solidFill>
                  <a:srgbClr val="FF0000"/>
                </a:solidFill>
              </a:rPr>
              <a:t>’ </a:t>
            </a:r>
            <a:r>
              <a:rPr kumimoji="0" lang="zh-CN" altLang="en-US" sz="1200" b="1" dirty="0">
                <a:solidFill>
                  <a:srgbClr val="FF0000"/>
                </a:solidFill>
              </a:rPr>
              <a:t>的特征函数</a:t>
            </a:r>
            <a:r>
              <a:rPr kumimoji="0" lang="zh-CN" altLang="en-US" sz="1200" b="1" dirty="0"/>
              <a:t> </a:t>
            </a:r>
          </a:p>
          <a:p>
            <a:pPr eaLnBrk="1" hangingPunct="1">
              <a:lnSpc>
                <a:spcPct val="130000"/>
              </a:lnSpc>
              <a:spcBef>
                <a:spcPct val="0"/>
              </a:spcBef>
              <a:buFontTx/>
              <a:buNone/>
            </a:pPr>
            <a:r>
              <a:rPr kumimoji="0" lang="zh-CN" altLang="en-US" sz="1200" b="1" dirty="0">
                <a:sym typeface="Symbol" panose="05050102010706020507" pitchFamily="18" charset="2"/>
              </a:rPr>
              <a:t> </a:t>
            </a:r>
            <a:r>
              <a:rPr kumimoji="0" lang="en-US" altLang="zh-CN" sz="1200" b="1" i="1" baseline="-25000" dirty="0"/>
              <a:t>A</a:t>
            </a:r>
            <a:r>
              <a:rPr kumimoji="0" lang="en-US" altLang="zh-CN" sz="1200" b="1" baseline="-25000" dirty="0"/>
              <a:t>’ </a:t>
            </a:r>
            <a:r>
              <a:rPr kumimoji="0" lang="en-US" altLang="zh-CN" sz="1200" b="1" dirty="0"/>
              <a:t>: </a:t>
            </a:r>
            <a:r>
              <a:rPr kumimoji="0" lang="en-US" altLang="zh-CN" sz="1200" b="1" i="1" dirty="0"/>
              <a:t>A</a:t>
            </a:r>
            <a:r>
              <a:rPr kumimoji="0" lang="en-US" altLang="zh-CN" sz="1200" b="1" dirty="0"/>
              <a:t>→{0,1} </a:t>
            </a:r>
            <a:r>
              <a:rPr kumimoji="0" lang="zh-CN" altLang="en-US" sz="1200" b="1" dirty="0"/>
              <a:t>定义为</a:t>
            </a:r>
          </a:p>
          <a:p>
            <a:endParaRPr lang="en-US" altLang="zh-CN" dirty="0"/>
          </a:p>
          <a:p>
            <a:pPr eaLnBrk="1" hangingPunct="1">
              <a:lnSpc>
                <a:spcPct val="120000"/>
              </a:lnSpc>
              <a:spcBef>
                <a:spcPct val="0"/>
              </a:spcBef>
              <a:buFontTx/>
              <a:buNone/>
            </a:pPr>
            <a:r>
              <a:rPr lang="zh-CN" altLang="en-US" sz="1200" b="1" dirty="0">
                <a:solidFill>
                  <a:srgbClr val="00B0F0"/>
                </a:solidFill>
              </a:rPr>
              <a:t>实例：</a:t>
            </a:r>
            <a:r>
              <a:rPr lang="zh-CN" altLang="en-US" sz="1200" b="1" dirty="0"/>
              <a:t>设</a:t>
            </a:r>
            <a:r>
              <a:rPr lang="en-US" altLang="zh-CN" sz="1200" b="1" i="1" dirty="0"/>
              <a:t>A</a:t>
            </a:r>
            <a:r>
              <a:rPr lang="en-US" altLang="zh-CN" sz="1200" b="1" dirty="0"/>
              <a:t>={</a:t>
            </a:r>
            <a:r>
              <a:rPr lang="en-US" altLang="zh-CN" sz="1200" b="1" i="1" dirty="0"/>
              <a:t>a</a:t>
            </a:r>
            <a:r>
              <a:rPr lang="en-US" altLang="zh-CN" sz="1200" b="1" dirty="0"/>
              <a:t>,</a:t>
            </a:r>
            <a:r>
              <a:rPr lang="en-US" altLang="zh-CN" sz="1200" b="1" i="1" dirty="0"/>
              <a:t>b</a:t>
            </a:r>
            <a:r>
              <a:rPr lang="en-US" altLang="zh-CN" sz="1200" b="1" dirty="0"/>
              <a:t>,</a:t>
            </a:r>
            <a:r>
              <a:rPr lang="en-US" altLang="zh-CN" sz="1200" b="1" i="1" dirty="0"/>
              <a:t>c</a:t>
            </a:r>
            <a:r>
              <a:rPr lang="en-US" altLang="zh-CN" sz="1200" b="1" dirty="0"/>
              <a:t>}, </a:t>
            </a:r>
            <a:r>
              <a:rPr lang="en-US" altLang="zh-CN" sz="1200" b="1" i="1" dirty="0"/>
              <a:t>A</a:t>
            </a:r>
            <a:r>
              <a:rPr lang="zh-CN" altLang="en-US" sz="1200" b="1" dirty="0"/>
              <a:t>的每一个子集 </a:t>
            </a:r>
            <a:r>
              <a:rPr lang="en-US" altLang="zh-CN" sz="1200" b="1" i="1" dirty="0"/>
              <a:t>A</a:t>
            </a:r>
            <a:r>
              <a:rPr lang="en-US" altLang="zh-CN" sz="1200" b="1" dirty="0"/>
              <a:t>'</a:t>
            </a:r>
            <a:r>
              <a:rPr lang="zh-CN" altLang="en-US" sz="1200" b="1" dirty="0"/>
              <a:t>都对应于一个特征函数</a:t>
            </a:r>
            <a:r>
              <a:rPr lang="en-US" altLang="zh-CN" sz="1200" b="1" dirty="0"/>
              <a:t>, </a:t>
            </a:r>
            <a:r>
              <a:rPr lang="zh-CN" altLang="en-US" sz="1200" b="1" dirty="0"/>
              <a:t>不同的子集对应于不同的特征函数</a:t>
            </a:r>
            <a:r>
              <a:rPr lang="en-US" altLang="zh-CN" sz="1200" b="1" dirty="0"/>
              <a:t>. </a:t>
            </a:r>
            <a:r>
              <a:rPr lang="zh-CN" altLang="en-US" sz="1200" b="1" dirty="0"/>
              <a:t>如</a:t>
            </a:r>
          </a:p>
          <a:p>
            <a:pPr eaLnBrk="1" hangingPunct="1">
              <a:lnSpc>
                <a:spcPct val="120000"/>
              </a:lnSpc>
              <a:spcBef>
                <a:spcPct val="0"/>
              </a:spcBef>
              <a:buFontTx/>
              <a:buNone/>
            </a:pPr>
            <a:r>
              <a:rPr lang="zh-CN" altLang="en-US" sz="1200" b="1" dirty="0">
                <a:sym typeface="Symbol" panose="05050102010706020507" pitchFamily="18" charset="2"/>
              </a:rPr>
              <a:t>         </a:t>
            </a:r>
            <a:r>
              <a:rPr lang="zh-CN" altLang="en-US" sz="1200" b="1" baseline="-25000" dirty="0">
                <a:sym typeface="Symbol" panose="05050102010706020507" pitchFamily="18" charset="2"/>
              </a:rPr>
              <a:t></a:t>
            </a:r>
            <a:r>
              <a:rPr lang="zh-CN" altLang="en-US" sz="1200" b="1" dirty="0">
                <a:sym typeface="Symbol" panose="05050102010706020507" pitchFamily="18" charset="2"/>
              </a:rPr>
              <a:t> </a:t>
            </a:r>
            <a:r>
              <a:rPr lang="en-US" altLang="zh-CN" sz="1200" b="1" dirty="0"/>
              <a:t>= {&lt;</a:t>
            </a:r>
            <a:r>
              <a:rPr lang="en-US" altLang="zh-CN" sz="1200" b="1" i="1" dirty="0">
                <a:sym typeface="Symbol" panose="05050102010706020507" pitchFamily="18" charset="2"/>
              </a:rPr>
              <a:t>a</a:t>
            </a:r>
            <a:r>
              <a:rPr lang="en-US" altLang="zh-CN" sz="1200" b="1" dirty="0">
                <a:sym typeface="Symbol" panose="05050102010706020507" pitchFamily="18" charset="2"/>
              </a:rPr>
              <a:t>,0&gt;,&lt;</a:t>
            </a:r>
            <a:r>
              <a:rPr lang="en-US" altLang="zh-CN" sz="1200" b="1" i="1" dirty="0">
                <a:sym typeface="Symbol" panose="05050102010706020507" pitchFamily="18" charset="2"/>
              </a:rPr>
              <a:t>b</a:t>
            </a:r>
            <a:r>
              <a:rPr lang="en-US" altLang="zh-CN" sz="1200" b="1" dirty="0">
                <a:sym typeface="Symbol" panose="05050102010706020507" pitchFamily="18" charset="2"/>
              </a:rPr>
              <a:t>,0&gt;,&lt;</a:t>
            </a:r>
            <a:r>
              <a:rPr lang="en-US" altLang="zh-CN" sz="1200" b="1" i="1" dirty="0">
                <a:sym typeface="Symbol" panose="05050102010706020507" pitchFamily="18" charset="2"/>
              </a:rPr>
              <a:t>c</a:t>
            </a:r>
            <a:r>
              <a:rPr lang="en-US" altLang="zh-CN" sz="1200" b="1" dirty="0">
                <a:sym typeface="Symbol" panose="05050102010706020507" pitchFamily="18" charset="2"/>
              </a:rPr>
              <a:t>,0&gt;}</a:t>
            </a:r>
            <a:r>
              <a:rPr lang="zh-CN" altLang="en-US" sz="1200" b="1" dirty="0">
                <a:sym typeface="Symbol" panose="05050102010706020507" pitchFamily="18" charset="2"/>
              </a:rPr>
              <a:t>，</a:t>
            </a:r>
          </a:p>
          <a:p>
            <a:pPr eaLnBrk="1" hangingPunct="1">
              <a:lnSpc>
                <a:spcPct val="120000"/>
              </a:lnSpc>
              <a:spcBef>
                <a:spcPct val="0"/>
              </a:spcBef>
              <a:buFontTx/>
              <a:buNone/>
            </a:pPr>
            <a:r>
              <a:rPr lang="zh-CN" altLang="en-US" sz="1200" b="1" dirty="0">
                <a:sym typeface="Symbol" panose="05050102010706020507" pitchFamily="18" charset="2"/>
              </a:rPr>
              <a:t>         </a:t>
            </a:r>
            <a:r>
              <a:rPr lang="en-US" altLang="zh-CN" sz="1200" b="1" baseline="-25000" dirty="0"/>
              <a:t>{</a:t>
            </a:r>
            <a:r>
              <a:rPr lang="en-US" altLang="zh-CN" sz="1200" b="1" i="1" baseline="-25000" dirty="0">
                <a:sym typeface="Symbol" panose="05050102010706020507" pitchFamily="18" charset="2"/>
              </a:rPr>
              <a:t>a</a:t>
            </a:r>
            <a:r>
              <a:rPr lang="en-US" altLang="zh-CN" sz="1200" b="1" baseline="-25000" dirty="0">
                <a:sym typeface="Symbol" panose="05050102010706020507" pitchFamily="18" charset="2"/>
              </a:rPr>
              <a:t>,</a:t>
            </a:r>
            <a:r>
              <a:rPr lang="en-US" altLang="zh-CN" sz="1200" b="1" i="1" baseline="-25000" dirty="0">
                <a:sym typeface="Symbol" panose="05050102010706020507" pitchFamily="18" charset="2"/>
              </a:rPr>
              <a:t>b</a:t>
            </a:r>
            <a:r>
              <a:rPr lang="en-US" altLang="zh-CN" sz="1200" b="1" baseline="-25000" dirty="0">
                <a:sym typeface="Symbol" panose="05050102010706020507" pitchFamily="18" charset="2"/>
              </a:rPr>
              <a:t>}</a:t>
            </a:r>
            <a:r>
              <a:rPr lang="en-US" altLang="zh-CN" sz="1200" b="1" dirty="0">
                <a:sym typeface="Symbol" panose="05050102010706020507" pitchFamily="18" charset="2"/>
              </a:rPr>
              <a:t> = {&lt;</a:t>
            </a:r>
            <a:r>
              <a:rPr lang="en-US" altLang="zh-CN" sz="1200" b="1" i="1" dirty="0">
                <a:sym typeface="Symbol" panose="05050102010706020507" pitchFamily="18" charset="2"/>
              </a:rPr>
              <a:t>a</a:t>
            </a:r>
            <a:r>
              <a:rPr lang="en-US" altLang="zh-CN" sz="1200" b="1" dirty="0">
                <a:sym typeface="Symbol" panose="05050102010706020507" pitchFamily="18" charset="2"/>
              </a:rPr>
              <a:t>,1&gt;,&lt;</a:t>
            </a:r>
            <a:r>
              <a:rPr lang="en-US" altLang="zh-CN" sz="1200" b="1" i="1" dirty="0">
                <a:sym typeface="Symbol" panose="05050102010706020507" pitchFamily="18" charset="2"/>
              </a:rPr>
              <a:t>b</a:t>
            </a:r>
            <a:r>
              <a:rPr lang="en-US" altLang="zh-CN" sz="1200" b="1" dirty="0">
                <a:sym typeface="Symbol" panose="05050102010706020507" pitchFamily="18" charset="2"/>
              </a:rPr>
              <a:t>,1&gt;,&lt;</a:t>
            </a:r>
            <a:r>
              <a:rPr lang="en-US" altLang="zh-CN" sz="1200" b="1" i="1" dirty="0">
                <a:sym typeface="Symbol" panose="05050102010706020507" pitchFamily="18" charset="2"/>
              </a:rPr>
              <a:t>c</a:t>
            </a:r>
            <a:r>
              <a:rPr lang="en-US" altLang="zh-CN" sz="1200" b="1" dirty="0">
                <a:sym typeface="Symbol" panose="05050102010706020507" pitchFamily="18" charset="2"/>
              </a:rPr>
              <a:t>,0&gt;}. </a:t>
            </a:r>
            <a:endParaRPr kumimoji="0" lang="zh-CN" altLang="en-US" sz="1200"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a:t>
            </a:fld>
            <a:endParaRPr lang="zh-CN" altLang="en-US"/>
          </a:p>
        </p:txBody>
      </p:sp>
    </p:spTree>
    <p:extLst>
      <p:ext uri="{BB962C8B-B14F-4D97-AF65-F5344CB8AC3E}">
        <p14:creationId xmlns:p14="http://schemas.microsoft.com/office/powerpoint/2010/main" val="30173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等线" panose="02010600030101010101" pitchFamily="2" charset="-122"/>
                <a:cs typeface="Times New Roman" panose="02020603050405020304" pitchFamily="18" charset="0"/>
              </a:rPr>
              <a:t>自然映射是一个函数，它将集合</a:t>
            </a:r>
            <a:r>
              <a:rPr lang="en-US" altLang="zh-CN" sz="1800" dirty="0">
                <a:effectLst/>
                <a:ea typeface="等线" panose="02010600030101010101" pitchFamily="2" charset="-122"/>
                <a:cs typeface="Times New Roman" panose="02020603050405020304" pitchFamily="18" charset="0"/>
              </a:rPr>
              <a:t>A</a:t>
            </a:r>
            <a:r>
              <a:rPr lang="zh-CN" altLang="zh-CN" sz="1800" dirty="0">
                <a:effectLst/>
                <a:ea typeface="等线" panose="02010600030101010101" pitchFamily="2" charset="-122"/>
                <a:cs typeface="Times New Roman" panose="02020603050405020304" pitchFamily="18" charset="0"/>
              </a:rPr>
              <a:t>中的元素映射到商集</a:t>
            </a:r>
            <a:r>
              <a:rPr lang="en-US" altLang="zh-CN" sz="1800" dirty="0">
                <a:effectLst/>
                <a:ea typeface="等线" panose="02010600030101010101" pitchFamily="2" charset="-122"/>
                <a:cs typeface="Times New Roman" panose="02020603050405020304" pitchFamily="18" charset="0"/>
              </a:rPr>
              <a:t>A/R</a:t>
            </a:r>
            <a:r>
              <a:rPr lang="zh-CN" altLang="zh-CN" sz="1800" dirty="0">
                <a:effectLst/>
                <a:ea typeface="等线" panose="02010600030101010101" pitchFamily="2" charset="-122"/>
                <a:cs typeface="Times New Roman" panose="02020603050405020304" pitchFamily="18" charset="0"/>
              </a:rPr>
              <a:t>中的子集，而等价类是商集</a:t>
            </a:r>
            <a:r>
              <a:rPr lang="en-US" altLang="zh-CN" sz="1800" dirty="0">
                <a:effectLst/>
                <a:ea typeface="等线" panose="02010600030101010101" pitchFamily="2" charset="-122"/>
                <a:cs typeface="Times New Roman" panose="02020603050405020304" pitchFamily="18" charset="0"/>
              </a:rPr>
              <a:t>A/R</a:t>
            </a:r>
            <a:r>
              <a:rPr lang="zh-CN" altLang="zh-CN" sz="1800" dirty="0">
                <a:effectLst/>
                <a:ea typeface="等线" panose="02010600030101010101" pitchFamily="2" charset="-122"/>
                <a:cs typeface="Times New Roman" panose="02020603050405020304" pitchFamily="18" charset="0"/>
              </a:rPr>
              <a:t>中的子集，它们是由等价关系</a:t>
            </a:r>
            <a:r>
              <a:rPr lang="en-US" altLang="zh-CN" sz="1800" dirty="0">
                <a:effectLst/>
                <a:ea typeface="等线" panose="02010600030101010101" pitchFamily="2" charset="-122"/>
                <a:cs typeface="Times New Roman" panose="02020603050405020304" pitchFamily="18" charset="0"/>
              </a:rPr>
              <a:t>R</a:t>
            </a:r>
            <a:r>
              <a:rPr lang="zh-CN" altLang="zh-CN" sz="1800" dirty="0">
                <a:effectLst/>
                <a:ea typeface="等线" panose="02010600030101010101" pitchFamily="2" charset="-122"/>
                <a:cs typeface="Times New Roman" panose="02020603050405020304" pitchFamily="18" charset="0"/>
              </a:rPr>
              <a:t>定义的。自然映射提供了一种从原始集合到商集的映射方式，而等价类是商集的一部分，它们用于划分商集中的元素</a:t>
            </a:r>
            <a:r>
              <a:rPr lang="zh-CN" altLang="en-US" sz="1800" dirty="0">
                <a:effectLst/>
                <a:ea typeface="等线" panose="02010600030101010101" pitchFamily="2" charset="-122"/>
                <a:cs typeface="Times New Roman" panose="02020603050405020304" pitchFamily="18" charset="0"/>
              </a:rPr>
              <a:t>。</a:t>
            </a:r>
            <a:r>
              <a:rPr lang="zh-CN" altLang="zh-CN" sz="1800" kern="100" dirty="0">
                <a:solidFill>
                  <a:srgbClr val="374151"/>
                </a:solidFill>
                <a:effectLst/>
                <a:highlight>
                  <a:srgbClr val="FFFF00"/>
                </a:highlight>
                <a:latin typeface="Segoe UI" panose="020B0502040204020203" pitchFamily="34" charset="0"/>
                <a:ea typeface="等线" panose="02010600030101010101" pitchFamily="2" charset="-122"/>
                <a:cs typeface="Segoe UI" panose="020B0502040204020203" pitchFamily="34" charset="0"/>
              </a:rPr>
              <a:t>自然映射函数的数量</a:t>
            </a:r>
            <a:r>
              <a:rPr lang="zh-CN" altLang="zh-CN" sz="180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通常等于商集合中等价类的数量。</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r>
              <a:rPr kumimoji="0" lang="en-US" altLang="zh-CN" sz="1200" b="1" dirty="0"/>
              <a:t>(5) </a:t>
            </a:r>
            <a:r>
              <a:rPr kumimoji="0" lang="zh-CN" altLang="en-US" sz="1200" b="1" dirty="0"/>
              <a:t>设 </a:t>
            </a:r>
            <a:r>
              <a:rPr kumimoji="0" lang="en-US" altLang="zh-CN" sz="1200" b="1" i="1" dirty="0"/>
              <a:t>R </a:t>
            </a:r>
            <a:r>
              <a:rPr kumimoji="0" lang="zh-CN" altLang="en-US" sz="1200" b="1" dirty="0"/>
              <a:t>是 </a:t>
            </a:r>
            <a:r>
              <a:rPr kumimoji="0" lang="en-US" altLang="zh-CN" sz="1200" b="1" i="1" dirty="0"/>
              <a:t>A </a:t>
            </a:r>
            <a:r>
              <a:rPr kumimoji="0" lang="zh-CN" altLang="en-US" sz="1200" b="1" dirty="0"/>
              <a:t>上的等价关系</a:t>
            </a:r>
            <a:r>
              <a:rPr kumimoji="0" lang="en-US" altLang="zh-CN" sz="1200" b="1" dirty="0"/>
              <a:t>, </a:t>
            </a:r>
            <a:r>
              <a:rPr kumimoji="0" lang="zh-CN" altLang="en-US" sz="1200" b="1" dirty="0"/>
              <a:t>令</a:t>
            </a:r>
            <a:br>
              <a:rPr kumimoji="0" lang="zh-CN" altLang="en-US" sz="1200" b="1" dirty="0"/>
            </a:br>
            <a:r>
              <a:rPr kumimoji="0" lang="zh-CN" altLang="en-US" sz="1200" b="1" dirty="0"/>
              <a:t>            </a:t>
            </a:r>
            <a:r>
              <a:rPr kumimoji="0" lang="en-US" altLang="zh-CN" sz="1200" b="1" i="1" dirty="0"/>
              <a:t>g </a:t>
            </a:r>
            <a:r>
              <a:rPr kumimoji="0" lang="en-US" altLang="zh-CN" sz="1200" b="1" dirty="0"/>
              <a:t>: </a:t>
            </a:r>
            <a:r>
              <a:rPr kumimoji="0" lang="en-US" altLang="zh-CN" sz="1200" b="1" i="1" dirty="0"/>
              <a:t>A</a:t>
            </a:r>
            <a:r>
              <a:rPr kumimoji="0" lang="en-US" altLang="zh-CN" sz="1200" b="1" dirty="0"/>
              <a:t>→</a:t>
            </a:r>
            <a:r>
              <a:rPr kumimoji="0" lang="en-US" altLang="zh-CN" sz="1200" b="1" i="1" dirty="0"/>
              <a:t>A</a:t>
            </a:r>
            <a:r>
              <a:rPr kumimoji="0" lang="en-US" altLang="zh-CN" sz="1200" b="1" dirty="0"/>
              <a:t>/</a:t>
            </a:r>
            <a:r>
              <a:rPr kumimoji="0" lang="en-US" altLang="zh-CN" sz="1200" b="1" i="1" dirty="0"/>
              <a:t>R</a:t>
            </a:r>
            <a:br>
              <a:rPr kumimoji="0" lang="en-US" altLang="zh-CN" sz="1200" b="1" dirty="0"/>
            </a:br>
            <a:r>
              <a:rPr kumimoji="0" lang="en-US" altLang="zh-CN" sz="1200" b="1" dirty="0"/>
              <a:t>            </a:t>
            </a:r>
            <a:r>
              <a:rPr kumimoji="0" lang="en-US" altLang="zh-CN" sz="1200" b="1" i="1" dirty="0"/>
              <a:t>g</a:t>
            </a:r>
            <a:r>
              <a:rPr kumimoji="0" lang="en-US" altLang="zh-CN" sz="1200" b="1" dirty="0"/>
              <a:t>(</a:t>
            </a:r>
            <a:r>
              <a:rPr kumimoji="0" lang="en-US" altLang="zh-CN" sz="1200" b="1" i="1" dirty="0"/>
              <a:t>a</a:t>
            </a:r>
            <a:r>
              <a:rPr kumimoji="0" lang="en-US" altLang="zh-CN" sz="1200" b="1" dirty="0"/>
              <a:t>) = [</a:t>
            </a:r>
            <a:r>
              <a:rPr kumimoji="0" lang="en-US" altLang="zh-CN" sz="1200" b="1" i="1" dirty="0"/>
              <a:t>a</a:t>
            </a:r>
            <a:r>
              <a:rPr kumimoji="0" lang="en-US" altLang="zh-CN" sz="1200" b="1" dirty="0"/>
              <a:t>], </a:t>
            </a:r>
            <a:r>
              <a:rPr kumimoji="0" lang="en-US" altLang="zh-CN" sz="1200" b="1" dirty="0">
                <a:sym typeface="Symbol" panose="05050102010706020507" pitchFamily="18" charset="2"/>
              </a:rPr>
              <a:t></a:t>
            </a:r>
            <a:r>
              <a:rPr kumimoji="0" lang="en-US" altLang="zh-CN" sz="1200" b="1" i="1" dirty="0"/>
              <a:t>a</a:t>
            </a:r>
            <a:r>
              <a:rPr kumimoji="0" lang="en-US" altLang="zh-CN" sz="1200" b="1" dirty="0"/>
              <a:t>∈</a:t>
            </a:r>
            <a:r>
              <a:rPr kumimoji="0" lang="en-US" altLang="zh-CN" sz="1200" b="1" i="1" dirty="0"/>
              <a:t>A</a:t>
            </a:r>
            <a:br>
              <a:rPr kumimoji="0" lang="en-US" altLang="zh-CN" sz="1200" b="1" dirty="0"/>
            </a:br>
            <a:r>
              <a:rPr kumimoji="0" lang="zh-CN" altLang="en-US" sz="1200" b="1" dirty="0"/>
              <a:t>称 </a:t>
            </a:r>
            <a:r>
              <a:rPr kumimoji="0" lang="en-US" altLang="zh-CN" sz="1200" b="1" i="1" dirty="0"/>
              <a:t>g </a:t>
            </a:r>
            <a:r>
              <a:rPr kumimoji="0" lang="zh-CN" altLang="en-US" sz="1200" b="1" dirty="0"/>
              <a:t>是从 </a:t>
            </a:r>
            <a:r>
              <a:rPr kumimoji="0" lang="en-US" altLang="zh-CN" sz="1200" b="1" i="1" dirty="0"/>
              <a:t>A </a:t>
            </a:r>
            <a:r>
              <a:rPr kumimoji="0" lang="zh-CN" altLang="en-US" sz="1200" b="1" dirty="0"/>
              <a:t>到商集 </a:t>
            </a:r>
            <a:r>
              <a:rPr kumimoji="0" lang="en-US" altLang="zh-CN" sz="1200" b="1" i="1" dirty="0"/>
              <a:t>A</a:t>
            </a:r>
            <a:r>
              <a:rPr kumimoji="0" lang="en-US" altLang="zh-CN" sz="1200" b="1" dirty="0"/>
              <a:t>/</a:t>
            </a:r>
            <a:r>
              <a:rPr kumimoji="0" lang="en-US" altLang="zh-CN" sz="1200" b="1" i="1" dirty="0"/>
              <a:t>R </a:t>
            </a:r>
            <a:r>
              <a:rPr kumimoji="0" lang="zh-CN" altLang="en-US" sz="1200" b="1" dirty="0"/>
              <a:t>的</a:t>
            </a:r>
            <a:r>
              <a:rPr kumimoji="0" lang="zh-CN" altLang="en-US" sz="1200" b="1" dirty="0">
                <a:solidFill>
                  <a:srgbClr val="FF0000"/>
                </a:solidFill>
              </a:rPr>
              <a:t>自然映射（函数</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a:t>
            </a:fld>
            <a:endParaRPr lang="zh-CN" altLang="en-US"/>
          </a:p>
        </p:txBody>
      </p:sp>
    </p:spTree>
    <p:extLst>
      <p:ext uri="{BB962C8B-B14F-4D97-AF65-F5344CB8AC3E}">
        <p14:creationId xmlns:p14="http://schemas.microsoft.com/office/powerpoint/2010/main" val="3680303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kumimoji="0" lang="zh-CN" altLang="en-US" sz="1200" b="1" dirty="0"/>
              <a:t>给定集合 </a:t>
            </a:r>
            <a:r>
              <a:rPr kumimoji="0" lang="en-US" altLang="zh-CN" sz="1200" b="1" i="1" dirty="0"/>
              <a:t>A </a:t>
            </a:r>
            <a:r>
              <a:rPr kumimoji="0" lang="zh-CN" altLang="en-US" sz="1200" b="1" dirty="0"/>
              <a:t>和 </a:t>
            </a:r>
            <a:r>
              <a:rPr kumimoji="0" lang="en-US" altLang="zh-CN" sz="1200" b="1" i="1" dirty="0"/>
              <a:t>A </a:t>
            </a:r>
            <a:r>
              <a:rPr kumimoji="0" lang="zh-CN" altLang="en-US" sz="1200" b="1" dirty="0"/>
              <a:t>上的等价关系 </a:t>
            </a:r>
            <a:r>
              <a:rPr kumimoji="0" lang="en-US" altLang="zh-CN" sz="1200" b="1" i="1" dirty="0"/>
              <a:t>R</a:t>
            </a:r>
            <a:r>
              <a:rPr kumimoji="0" lang="en-US" altLang="zh-CN" sz="1200" b="1" dirty="0"/>
              <a:t>, </a:t>
            </a:r>
            <a:r>
              <a:rPr kumimoji="0" lang="zh-CN" altLang="en-US" sz="1200" b="1" dirty="0"/>
              <a:t>就可以确定一个</a:t>
            </a:r>
            <a:r>
              <a:rPr kumimoji="0" lang="zh-CN" altLang="en-US" sz="1200" b="1" dirty="0">
                <a:solidFill>
                  <a:srgbClr val="FF0000"/>
                </a:solidFill>
              </a:rPr>
              <a:t>自然映射 </a:t>
            </a:r>
            <a:r>
              <a:rPr kumimoji="0" lang="en-US" altLang="zh-CN" sz="1200" b="1" i="1" dirty="0">
                <a:solidFill>
                  <a:srgbClr val="FF0000"/>
                </a:solidFill>
              </a:rPr>
              <a:t>g </a:t>
            </a:r>
            <a:r>
              <a:rPr kumimoji="0" lang="en-US" altLang="zh-CN" sz="1200" b="1" dirty="0"/>
              <a:t>: </a:t>
            </a:r>
            <a:r>
              <a:rPr kumimoji="0" lang="en-US" altLang="zh-CN" sz="1200" b="1" i="1" dirty="0"/>
              <a:t>A</a:t>
            </a:r>
            <a:r>
              <a:rPr kumimoji="0" lang="en-US" altLang="zh-CN" sz="1200" b="1" dirty="0"/>
              <a:t>→</a:t>
            </a:r>
            <a:r>
              <a:rPr kumimoji="0" lang="en-US" altLang="zh-CN" sz="1200" b="1" i="1" dirty="0"/>
              <a:t>A</a:t>
            </a:r>
            <a:r>
              <a:rPr kumimoji="0" lang="en-US" altLang="zh-CN" sz="1200" b="1" dirty="0"/>
              <a:t>/</a:t>
            </a:r>
            <a:r>
              <a:rPr kumimoji="0" lang="en-US" altLang="zh-CN" sz="1200" b="1" i="1" dirty="0"/>
              <a:t>R</a:t>
            </a:r>
            <a:r>
              <a:rPr kumimoji="0" lang="en-US" altLang="zh-CN" sz="1200" b="1" dirty="0"/>
              <a:t>. </a:t>
            </a:r>
            <a:r>
              <a:rPr kumimoji="0" lang="zh-CN" altLang="en-US" sz="1200" b="1" dirty="0"/>
              <a:t>不同的等价关系确定不同的自然映射</a:t>
            </a:r>
            <a:r>
              <a:rPr kumimoji="0" lang="en-US" altLang="zh-CN" sz="1200" b="1" dirty="0"/>
              <a:t>, </a:t>
            </a:r>
            <a:r>
              <a:rPr kumimoji="0" lang="zh-CN" altLang="en-US" sz="1200" b="1" dirty="0"/>
              <a:t>其中恒等关系所确定的自然映射是</a:t>
            </a:r>
            <a:r>
              <a:rPr kumimoji="0" lang="zh-CN" altLang="en-US" sz="1200" b="1" dirty="0">
                <a:solidFill>
                  <a:srgbClr val="FF0000"/>
                </a:solidFill>
              </a:rPr>
              <a:t>双射</a:t>
            </a:r>
            <a:r>
              <a:rPr kumimoji="0" lang="en-US" altLang="zh-CN" sz="1200" b="1" dirty="0"/>
              <a:t>, </a:t>
            </a:r>
            <a:r>
              <a:rPr kumimoji="0" lang="zh-CN" altLang="en-US" sz="1200" b="1" dirty="0"/>
              <a:t>而其他的自然映射一般来说只是</a:t>
            </a:r>
            <a:r>
              <a:rPr kumimoji="0" lang="zh-CN" altLang="en-US" sz="1200" b="1" dirty="0">
                <a:solidFill>
                  <a:srgbClr val="FF0000"/>
                </a:solidFill>
              </a:rPr>
              <a:t>满射</a:t>
            </a:r>
            <a:r>
              <a:rPr kumimoji="0" lang="en-US" altLang="zh-CN" sz="1200" b="1" dirty="0"/>
              <a:t>. </a:t>
            </a:r>
          </a:p>
          <a:p>
            <a:pPr eaLnBrk="1" hangingPunct="1">
              <a:lnSpc>
                <a:spcPct val="120000"/>
              </a:lnSpc>
              <a:spcBef>
                <a:spcPct val="50000"/>
              </a:spcBef>
              <a:buFontTx/>
              <a:buNone/>
            </a:pPr>
            <a:r>
              <a:rPr kumimoji="0" lang="zh-CN" altLang="en-US" sz="1200" b="1" dirty="0">
                <a:solidFill>
                  <a:srgbClr val="00B0F0"/>
                </a:solidFill>
              </a:rPr>
              <a:t>例如： </a:t>
            </a:r>
            <a:r>
              <a:rPr kumimoji="0" lang="en-US" altLang="zh-CN" sz="1200" b="1" i="1" dirty="0"/>
              <a:t>A</a:t>
            </a:r>
            <a:r>
              <a:rPr kumimoji="0" lang="en-US" altLang="zh-CN" sz="1200" b="1" dirty="0"/>
              <a:t>={1, 2, 3}, </a:t>
            </a:r>
            <a:endParaRPr kumimoji="0" lang="zh-CN" altLang="en-US" sz="1200" b="1" i="1" dirty="0"/>
          </a:p>
          <a:p>
            <a:pPr eaLnBrk="1" hangingPunct="1">
              <a:lnSpc>
                <a:spcPct val="120000"/>
              </a:lnSpc>
              <a:spcBef>
                <a:spcPct val="0"/>
              </a:spcBef>
              <a:buFontTx/>
              <a:buNone/>
            </a:pPr>
            <a:r>
              <a:rPr kumimoji="0" lang="zh-CN" altLang="en-US" sz="1200" b="1" dirty="0"/>
              <a:t>等价关系</a:t>
            </a:r>
            <a:r>
              <a:rPr kumimoji="0" lang="en-US" altLang="zh-CN" sz="1200" b="1" dirty="0"/>
              <a:t>: </a:t>
            </a:r>
            <a:r>
              <a:rPr kumimoji="0" lang="en-US" altLang="zh-CN" sz="1200" b="1" i="1" dirty="0"/>
              <a:t> R</a:t>
            </a:r>
            <a:r>
              <a:rPr kumimoji="0" lang="en-US" altLang="zh-CN" sz="1200" b="1" baseline="-25000" dirty="0"/>
              <a:t>1</a:t>
            </a:r>
            <a:r>
              <a:rPr kumimoji="0" lang="en-US" altLang="zh-CN" sz="1200" b="1" dirty="0"/>
              <a:t>={&lt;1,2&gt;,&lt;2,1&gt;}∪</a:t>
            </a:r>
            <a:r>
              <a:rPr kumimoji="0" lang="en-US" altLang="zh-CN" sz="1200" b="1" i="1" dirty="0"/>
              <a:t>I</a:t>
            </a:r>
            <a:r>
              <a:rPr kumimoji="0" lang="en-US" altLang="zh-CN" sz="1200" b="1" i="1" baseline="-25000" dirty="0"/>
              <a:t>A</a:t>
            </a:r>
          </a:p>
          <a:p>
            <a:pPr eaLnBrk="1" hangingPunct="1">
              <a:lnSpc>
                <a:spcPct val="120000"/>
              </a:lnSpc>
              <a:spcBef>
                <a:spcPct val="0"/>
              </a:spcBef>
              <a:buFontTx/>
              <a:buNone/>
            </a:pPr>
            <a:r>
              <a:rPr kumimoji="0" lang="zh-CN" altLang="en-US" sz="1200" b="1" dirty="0"/>
              <a:t>自然映射：</a:t>
            </a:r>
            <a:r>
              <a:rPr kumimoji="0" lang="en-US" altLang="zh-CN" sz="1200" b="1" i="1" dirty="0"/>
              <a:t>g</a:t>
            </a:r>
            <a:r>
              <a:rPr kumimoji="0" lang="en-US" altLang="zh-CN" sz="1200" b="1" baseline="-25000" dirty="0"/>
              <a:t>1</a:t>
            </a:r>
            <a:r>
              <a:rPr kumimoji="0" lang="en-US" altLang="zh-CN" sz="1200" b="1" dirty="0"/>
              <a:t>(1) =</a:t>
            </a:r>
            <a:r>
              <a:rPr kumimoji="0" lang="en-US" altLang="zh-CN" sz="1200" b="1" i="1" dirty="0"/>
              <a:t> g</a:t>
            </a:r>
            <a:r>
              <a:rPr kumimoji="0" lang="en-US" altLang="zh-CN" sz="1200" b="1" baseline="-25000" dirty="0"/>
              <a:t>1</a:t>
            </a:r>
            <a:r>
              <a:rPr kumimoji="0" lang="en-US" altLang="zh-CN" sz="1200" b="1" dirty="0"/>
              <a:t>(2) = {1,2},  </a:t>
            </a:r>
            <a:r>
              <a:rPr kumimoji="0" lang="en-US" altLang="zh-CN" sz="1200" b="1" i="1" dirty="0"/>
              <a:t>g</a:t>
            </a:r>
            <a:r>
              <a:rPr kumimoji="0" lang="en-US" altLang="zh-CN" sz="1200" b="1" baseline="-25000" dirty="0"/>
              <a:t>1</a:t>
            </a:r>
            <a:r>
              <a:rPr kumimoji="0" lang="en-US" altLang="zh-CN" sz="1200" b="1" dirty="0"/>
              <a:t>(3) = {3}</a:t>
            </a:r>
          </a:p>
          <a:p>
            <a:pPr eaLnBrk="1" hangingPunct="1">
              <a:lnSpc>
                <a:spcPct val="120000"/>
              </a:lnSpc>
              <a:spcBef>
                <a:spcPct val="0"/>
              </a:spcBef>
              <a:buFontTx/>
              <a:buNone/>
            </a:pPr>
            <a:r>
              <a:rPr kumimoji="0" lang="zh-CN" altLang="en-US" sz="1200" b="1" dirty="0"/>
              <a:t>等价关系：</a:t>
            </a:r>
            <a:r>
              <a:rPr kumimoji="0" lang="en-US" altLang="zh-CN" sz="1200" b="1" i="1" dirty="0"/>
              <a:t>I</a:t>
            </a:r>
            <a:r>
              <a:rPr kumimoji="0" lang="en-US" altLang="zh-CN" sz="1200" b="1" i="1" baseline="-25000" dirty="0"/>
              <a:t>A</a:t>
            </a:r>
          </a:p>
          <a:p>
            <a:pPr eaLnBrk="1" hangingPunct="1">
              <a:lnSpc>
                <a:spcPct val="120000"/>
              </a:lnSpc>
              <a:spcBef>
                <a:spcPct val="0"/>
              </a:spcBef>
              <a:buFontTx/>
              <a:buNone/>
            </a:pPr>
            <a:r>
              <a:rPr kumimoji="0" lang="zh-CN" altLang="en-US" sz="1200" b="1" dirty="0"/>
              <a:t>自然映射：</a:t>
            </a:r>
            <a:r>
              <a:rPr kumimoji="0" lang="en-US" altLang="zh-CN" sz="1200" b="1" i="1" dirty="0"/>
              <a:t>g</a:t>
            </a:r>
            <a:r>
              <a:rPr kumimoji="0" lang="en-US" altLang="zh-CN" sz="1200" b="1" baseline="-25000" dirty="0"/>
              <a:t>2</a:t>
            </a:r>
            <a:r>
              <a:rPr kumimoji="0" lang="en-US" altLang="zh-CN" sz="1200" b="1" dirty="0"/>
              <a:t>(1)={1},</a:t>
            </a:r>
            <a:r>
              <a:rPr kumimoji="0" lang="en-US" altLang="zh-CN" sz="1200" b="1" i="1" dirty="0"/>
              <a:t> g</a:t>
            </a:r>
            <a:r>
              <a:rPr kumimoji="0" lang="en-US" altLang="zh-CN" sz="1200" b="1" baseline="-25000" dirty="0"/>
              <a:t>2</a:t>
            </a:r>
            <a:r>
              <a:rPr kumimoji="0" lang="en-US" altLang="zh-CN" sz="1200" b="1" dirty="0"/>
              <a:t>(2)={2}, </a:t>
            </a:r>
            <a:r>
              <a:rPr kumimoji="0" lang="en-US" altLang="zh-CN" sz="1200" b="1" i="1" dirty="0"/>
              <a:t>g</a:t>
            </a:r>
            <a:r>
              <a:rPr kumimoji="0" lang="en-US" altLang="zh-CN" sz="1200" b="1" baseline="-25000" dirty="0"/>
              <a:t>2</a:t>
            </a:r>
            <a:r>
              <a:rPr kumimoji="0" lang="en-US" altLang="zh-CN" sz="1200" b="1" dirty="0"/>
              <a:t>(3)={3}</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a:t>
            </a:fld>
            <a:endParaRPr lang="zh-CN" altLang="en-US"/>
          </a:p>
        </p:txBody>
      </p:sp>
    </p:spTree>
    <p:extLst>
      <p:ext uri="{BB962C8B-B14F-4D97-AF65-F5344CB8AC3E}">
        <p14:creationId xmlns:p14="http://schemas.microsoft.com/office/powerpoint/2010/main" val="4256742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dirty="0"/>
              <a:t>注意和数据结构的联系</a:t>
            </a:r>
            <a:r>
              <a:rPr kumimoji="0" lang="en-US" altLang="zh-CN" sz="1200" b="1" i="1" dirty="0"/>
              <a:t>W </a:t>
            </a:r>
            <a:r>
              <a:rPr kumimoji="0" lang="en-US" altLang="zh-CN" sz="1200" b="1" dirty="0"/>
              <a:t>: Z</a:t>
            </a:r>
            <a:r>
              <a:rPr kumimoji="0" lang="en-US" altLang="zh-CN" sz="1200" b="1" baseline="30000" dirty="0"/>
              <a:t>+</a:t>
            </a:r>
            <a:r>
              <a:rPr kumimoji="0" lang="en-US" altLang="zh-CN" sz="1200" b="1" dirty="0">
                <a:sym typeface="Symbol" panose="05050102010706020507" pitchFamily="18" charset="2"/>
              </a:rPr>
              <a:t></a:t>
            </a:r>
            <a:r>
              <a:rPr kumimoji="0" lang="en-US" altLang="zh-CN" sz="1200" b="1" dirty="0"/>
              <a:t>Z</a:t>
            </a:r>
            <a:r>
              <a:rPr kumimoji="0" lang="en-US" altLang="zh-CN" sz="1200" b="1" baseline="30000" dirty="0"/>
              <a:t>+</a:t>
            </a:r>
            <a:r>
              <a:rPr kumimoji="0" lang="zh-CN" altLang="en-US" sz="1200" b="1" dirty="0"/>
              <a:t>作为</a:t>
            </a:r>
            <a:r>
              <a:rPr kumimoji="0" lang="zh-CN" altLang="en-US" sz="1200" b="1" dirty="0">
                <a:solidFill>
                  <a:srgbClr val="FF0000"/>
                </a:solidFill>
              </a:rPr>
              <a:t>算法的时间复杂度</a:t>
            </a:r>
            <a:r>
              <a:rPr kumimoji="0" lang="zh-CN" altLang="en-US" sz="1200" b="1" dirty="0"/>
              <a:t>函数</a:t>
            </a:r>
          </a:p>
          <a:p>
            <a:pPr eaLnBrk="1" hangingPunct="1">
              <a:buFontTx/>
              <a:buNone/>
            </a:pPr>
            <a:r>
              <a:rPr kumimoji="0" lang="en-US" altLang="zh-CN" sz="1200" b="1" i="1" dirty="0"/>
              <a:t>W</a:t>
            </a:r>
            <a:r>
              <a:rPr kumimoji="0" lang="en-US" altLang="zh-CN" sz="1200" b="1" dirty="0"/>
              <a:t>(</a:t>
            </a:r>
            <a:r>
              <a:rPr kumimoji="0" lang="en-US" altLang="zh-CN" sz="1200" b="1" i="1" dirty="0"/>
              <a:t>n</a:t>
            </a:r>
            <a:r>
              <a:rPr kumimoji="0" lang="en-US" altLang="zh-CN" sz="1200" b="1" dirty="0"/>
              <a:t>)</a:t>
            </a:r>
            <a:r>
              <a:rPr kumimoji="0" lang="zh-CN" altLang="en-US" sz="1200" b="1" dirty="0"/>
              <a:t>的含义：对于规模为 </a:t>
            </a:r>
            <a:r>
              <a:rPr kumimoji="0" lang="en-US" altLang="zh-CN" sz="1200" b="1" i="1" dirty="0"/>
              <a:t>n </a:t>
            </a:r>
            <a:r>
              <a:rPr kumimoji="0" lang="zh-CN" altLang="en-US" sz="1200" b="1" dirty="0"/>
              <a:t>的输入，该算法在最坏情况</a:t>
            </a:r>
          </a:p>
          <a:p>
            <a:pPr eaLnBrk="1" hangingPunct="1">
              <a:buFontTx/>
              <a:buNone/>
            </a:pPr>
            <a:r>
              <a:rPr kumimoji="0" lang="zh-CN" altLang="en-US" sz="1200" b="1" dirty="0"/>
              <a:t>下所执行的基本运算次数是</a:t>
            </a:r>
            <a:r>
              <a:rPr kumimoji="0" lang="en-US" altLang="zh-CN" sz="1200" b="1" i="1" dirty="0"/>
              <a:t>W</a:t>
            </a:r>
            <a:r>
              <a:rPr kumimoji="0" lang="en-US" altLang="zh-CN" sz="1200" b="1" dirty="0"/>
              <a:t>(</a:t>
            </a:r>
            <a:r>
              <a:rPr kumimoji="0" lang="en-US" altLang="zh-CN" sz="1200" b="1" i="1" dirty="0"/>
              <a:t>n</a:t>
            </a:r>
            <a:r>
              <a:rPr kumimoji="0" lang="en-US" altLang="zh-CN" sz="1200" b="1" dirty="0"/>
              <a:t>).  </a:t>
            </a:r>
          </a:p>
          <a:p>
            <a:pPr eaLnBrk="1" hangingPunct="1">
              <a:buFontTx/>
              <a:buNone/>
            </a:pPr>
            <a:r>
              <a:rPr kumimoji="0" lang="zh-CN" altLang="en-US" sz="1200" b="1" dirty="0"/>
              <a:t>复杂度函数 </a:t>
            </a:r>
            <a:r>
              <a:rPr kumimoji="0" lang="en-US" altLang="zh-CN" sz="1200" b="1" i="1" dirty="0"/>
              <a:t>f</a:t>
            </a:r>
            <a:r>
              <a:rPr kumimoji="0" lang="en-US" altLang="zh-CN" sz="1200" b="1" dirty="0"/>
              <a:t>(</a:t>
            </a:r>
            <a:r>
              <a:rPr kumimoji="0" lang="en-US" altLang="zh-CN" sz="1200" b="1" i="1" dirty="0"/>
              <a:t>n</a:t>
            </a:r>
            <a:r>
              <a:rPr kumimoji="0" lang="en-US" altLang="zh-CN" sz="1200" b="1" dirty="0"/>
              <a:t>) </a:t>
            </a:r>
            <a:r>
              <a:rPr kumimoji="0" lang="zh-CN" altLang="en-US" sz="1200" b="1" dirty="0"/>
              <a:t>的阶的表示：</a:t>
            </a:r>
          </a:p>
          <a:p>
            <a:pPr eaLnBrk="1" hangingPunct="1">
              <a:buFontTx/>
              <a:buNone/>
            </a:pPr>
            <a:r>
              <a:rPr kumimoji="0" lang="zh-CN" altLang="en-US" sz="1200" b="1" dirty="0"/>
              <a:t>       </a:t>
            </a:r>
            <a:r>
              <a:rPr kumimoji="0" lang="en-US" altLang="zh-CN" sz="1200" b="1" i="1" dirty="0"/>
              <a:t>f</a:t>
            </a:r>
            <a:r>
              <a:rPr kumimoji="0" lang="en-US" altLang="zh-CN" sz="1200" b="1" dirty="0"/>
              <a:t>(</a:t>
            </a:r>
            <a:r>
              <a:rPr kumimoji="0" lang="en-US" altLang="zh-CN" sz="1200" b="1" i="1" dirty="0"/>
              <a:t>n</a:t>
            </a:r>
            <a:r>
              <a:rPr kumimoji="0" lang="en-US" altLang="zh-CN" sz="1200" b="1" dirty="0"/>
              <a:t>)=</a:t>
            </a:r>
            <a:r>
              <a:rPr kumimoji="0" lang="en-US" altLang="zh-CN" sz="1200" b="1" i="1" dirty="0"/>
              <a:t>O</a:t>
            </a:r>
            <a:r>
              <a:rPr kumimoji="0" lang="en-US" altLang="zh-CN" sz="1200" b="1" dirty="0"/>
              <a:t>(</a:t>
            </a:r>
            <a:r>
              <a:rPr kumimoji="0" lang="en-US" altLang="zh-CN" sz="1200" b="1" i="1" dirty="0"/>
              <a:t>g</a:t>
            </a:r>
            <a:r>
              <a:rPr kumimoji="0" lang="en-US" altLang="zh-CN" sz="1200" b="1" dirty="0"/>
              <a:t>(</a:t>
            </a:r>
            <a:r>
              <a:rPr kumimoji="0" lang="en-US" altLang="zh-CN" sz="1200" b="1" i="1" dirty="0"/>
              <a:t>n</a:t>
            </a:r>
            <a:r>
              <a:rPr kumimoji="0" lang="en-US" altLang="zh-CN" sz="1200" b="1" dirty="0"/>
              <a:t>)) </a:t>
            </a:r>
            <a:r>
              <a:rPr kumimoji="0" lang="en-US" altLang="zh-CN" sz="1200" b="1" dirty="0">
                <a:sym typeface="Symbol" panose="05050102010706020507" pitchFamily="18" charset="2"/>
              </a:rPr>
              <a:t> </a:t>
            </a:r>
            <a:r>
              <a:rPr kumimoji="0" lang="en-US" altLang="zh-CN" sz="1200" b="1" i="1" dirty="0">
                <a:sym typeface="Symbol" panose="05050102010706020507" pitchFamily="18" charset="2"/>
              </a:rPr>
              <a:t>f</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a:t>
            </a:r>
            <a:r>
              <a:rPr kumimoji="0" lang="zh-CN" altLang="en-US" sz="1200" b="1" dirty="0">
                <a:sym typeface="Symbol" panose="05050102010706020507" pitchFamily="18" charset="2"/>
              </a:rPr>
              <a:t>的阶不超过</a:t>
            </a:r>
            <a:r>
              <a:rPr kumimoji="0" lang="en-US" altLang="zh-CN" sz="1200" b="1" i="1" dirty="0">
                <a:sym typeface="Symbol" panose="05050102010706020507" pitchFamily="18" charset="2"/>
              </a:rPr>
              <a:t>g</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a:t>
            </a:r>
            <a:r>
              <a:rPr kumimoji="0" lang="zh-CN" altLang="en-US" sz="1200" b="1" dirty="0">
                <a:sym typeface="Symbol" panose="05050102010706020507" pitchFamily="18" charset="2"/>
              </a:rPr>
              <a:t>的阶</a:t>
            </a:r>
            <a:r>
              <a:rPr kumimoji="0" lang="zh-CN" altLang="en-US" sz="1200" b="1" dirty="0"/>
              <a:t>    </a:t>
            </a:r>
          </a:p>
          <a:p>
            <a:pPr eaLnBrk="1" hangingPunct="1">
              <a:buFontTx/>
              <a:buNone/>
            </a:pPr>
            <a:r>
              <a:rPr kumimoji="0" lang="en-US" altLang="zh-CN" sz="1200" b="1" dirty="0"/>
              <a:t>      </a:t>
            </a:r>
            <a:r>
              <a:rPr kumimoji="0" lang="en-US" altLang="zh-CN" sz="1200" b="1" i="1" dirty="0"/>
              <a:t> f</a:t>
            </a:r>
            <a:r>
              <a:rPr kumimoji="0" lang="en-US" altLang="zh-CN" sz="1200" b="1" dirty="0"/>
              <a:t>(</a:t>
            </a:r>
            <a:r>
              <a:rPr kumimoji="0" lang="en-US" altLang="zh-CN" sz="1200" b="1" i="1" dirty="0"/>
              <a:t>n</a:t>
            </a:r>
            <a:r>
              <a:rPr kumimoji="0" lang="en-US" altLang="zh-CN" sz="1200" b="1" dirty="0"/>
              <a:t>)=</a:t>
            </a:r>
            <a:r>
              <a:rPr kumimoji="0" lang="en-US" altLang="zh-CN" sz="1200" b="1" i="1" dirty="0">
                <a:sym typeface="Symbol" panose="05050102010706020507" pitchFamily="18" charset="2"/>
              </a:rPr>
              <a:t></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g</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  </a:t>
            </a:r>
            <a:r>
              <a:rPr kumimoji="0" lang="en-US" altLang="zh-CN" sz="1200" b="1" i="1" dirty="0">
                <a:sym typeface="Symbol" panose="05050102010706020507" pitchFamily="18" charset="2"/>
              </a:rPr>
              <a:t>f</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O</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g</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a:t>
            </a:r>
            <a:r>
              <a:rPr kumimoji="0" lang="zh-CN" altLang="en-US" sz="1200" b="1" dirty="0">
                <a:sym typeface="Symbol" panose="05050102010706020507" pitchFamily="18" charset="2"/>
              </a:rPr>
              <a:t>且</a:t>
            </a:r>
            <a:r>
              <a:rPr kumimoji="0" lang="en-US" altLang="zh-CN" sz="1200" b="1" i="1" dirty="0">
                <a:sym typeface="Symbol" panose="05050102010706020507" pitchFamily="18" charset="2"/>
              </a:rPr>
              <a:t>g</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O</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f</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 </a:t>
            </a:r>
          </a:p>
          <a:p>
            <a:pPr eaLnBrk="1" hangingPunct="1">
              <a:spcBef>
                <a:spcPct val="50000"/>
              </a:spcBef>
              <a:buFontTx/>
              <a:buNone/>
            </a:pPr>
            <a:r>
              <a:rPr kumimoji="0" lang="zh-CN" altLang="en-US" sz="1200" b="1" dirty="0">
                <a:solidFill>
                  <a:srgbClr val="00B0F0"/>
                </a:solidFill>
                <a:sym typeface="Symbol" panose="05050102010706020507" pitchFamily="18" charset="2"/>
              </a:rPr>
              <a:t>例如</a:t>
            </a:r>
            <a:r>
              <a:rPr kumimoji="0" lang="en-US" altLang="zh-CN" sz="1200" b="1" dirty="0">
                <a:solidFill>
                  <a:srgbClr val="00B0F0"/>
                </a:solidFill>
                <a:sym typeface="Symbol" panose="05050102010706020507" pitchFamily="18" charset="2"/>
              </a:rPr>
              <a:t>:   </a:t>
            </a:r>
            <a:r>
              <a:rPr kumimoji="0" lang="en-US" altLang="zh-CN" sz="1200" b="1" i="1" dirty="0">
                <a:sym typeface="Symbol" panose="05050102010706020507" pitchFamily="18" charset="2"/>
              </a:rPr>
              <a:t>f</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baseline="30000" dirty="0">
                <a:sym typeface="Symbol" panose="05050102010706020507" pitchFamily="18" charset="2"/>
              </a:rPr>
              <a:t>2</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baseline="30000" dirty="0">
                <a:sym typeface="Symbol" panose="05050102010706020507" pitchFamily="18" charset="2"/>
              </a:rPr>
              <a:t>2</a:t>
            </a:r>
            <a:r>
              <a:rPr kumimoji="0" lang="en-US" altLang="zh-CN" sz="1200" b="1" dirty="0">
                <a:sym typeface="Symbol" panose="05050102010706020507" pitchFamily="18" charset="2"/>
              </a:rPr>
              <a:t>),  </a:t>
            </a:r>
            <a:r>
              <a:rPr kumimoji="0" lang="en-US" altLang="zh-CN" sz="1200" b="1" i="1" dirty="0">
                <a:sym typeface="Symbol" panose="05050102010706020507" pitchFamily="18" charset="2"/>
              </a:rPr>
              <a:t>g</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log</a:t>
            </a:r>
            <a:r>
              <a:rPr kumimoji="0" lang="en-US" altLang="zh-CN" sz="1200" b="1" i="1" dirty="0">
                <a:sym typeface="Symbol" panose="05050102010706020507" pitchFamily="18" charset="2"/>
              </a:rPr>
              <a:t>n</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O</a:t>
            </a:r>
            <a:r>
              <a:rPr kumimoji="0" lang="en-US" altLang="zh-CN" sz="1200" b="1" dirty="0">
                <a:sym typeface="Symbol" panose="05050102010706020507" pitchFamily="18" charset="2"/>
              </a:rPr>
              <a:t>(</a:t>
            </a:r>
            <a:r>
              <a:rPr kumimoji="0" lang="en-US" altLang="zh-CN" sz="1200" b="1" i="1" dirty="0">
                <a:sym typeface="Symbol" panose="05050102010706020507" pitchFamily="18" charset="2"/>
              </a:rPr>
              <a:t>n</a:t>
            </a:r>
            <a:r>
              <a:rPr kumimoji="0" lang="en-US" altLang="zh-CN" sz="1200" b="1" baseline="30000" dirty="0">
                <a:sym typeface="Symbol" panose="05050102010706020507" pitchFamily="18" charset="2"/>
              </a:rPr>
              <a:t>2</a:t>
            </a:r>
            <a:r>
              <a:rPr kumimoji="0" lang="en-US" altLang="zh-CN" sz="1200" b="1" dirty="0">
                <a:sym typeface="Symbol" panose="05050102010706020507" pitchFamily="18" charset="2"/>
              </a:rPr>
              <a:t>)</a:t>
            </a:r>
            <a:r>
              <a:rPr kumimoji="0" lang="zh-CN" altLang="en-US" sz="1200" b="1" dirty="0">
                <a:sym typeface="Symbol" panose="05050102010706020507" pitchFamily="18" charset="2"/>
              </a:rPr>
              <a:t>  </a:t>
            </a:r>
          </a:p>
          <a:p>
            <a:pPr eaLnBrk="1" hangingPunct="1">
              <a:buFontTx/>
              <a:buNone/>
            </a:pPr>
            <a:r>
              <a:rPr kumimoji="0" lang="zh-CN" altLang="en-US" sz="1200" b="1" dirty="0">
                <a:sym typeface="Symbol" panose="05050102010706020507" pitchFamily="18" charset="2"/>
              </a:rPr>
              <a:t>           其中 </a:t>
            </a:r>
            <a:r>
              <a:rPr kumimoji="0" lang="en-US" altLang="zh-CN" sz="1200" b="1" dirty="0">
                <a:sym typeface="Symbol" panose="05050102010706020507" pitchFamily="18" charset="2"/>
              </a:rPr>
              <a:t>log</a:t>
            </a:r>
            <a:r>
              <a:rPr kumimoji="0" lang="en-US" altLang="zh-CN" sz="1200" b="1" i="1" dirty="0">
                <a:sym typeface="Symbol" panose="05050102010706020507" pitchFamily="18" charset="2"/>
              </a:rPr>
              <a:t>n </a:t>
            </a:r>
            <a:r>
              <a:rPr kumimoji="0" lang="zh-CN" altLang="en-US" sz="1200" b="1" dirty="0">
                <a:sym typeface="Symbol" panose="05050102010706020507" pitchFamily="18" charset="2"/>
              </a:rPr>
              <a:t>是 </a:t>
            </a:r>
            <a:r>
              <a:rPr kumimoji="0" lang="en-US" altLang="zh-CN" sz="1200" b="1" dirty="0">
                <a:sym typeface="Symbol" panose="05050102010706020507" pitchFamily="18" charset="2"/>
              </a:rPr>
              <a:t>log</a:t>
            </a:r>
            <a:r>
              <a:rPr kumimoji="0" lang="en-US" altLang="zh-CN" sz="1200" b="1" baseline="-25000" dirty="0">
                <a:sym typeface="Symbol" panose="05050102010706020507" pitchFamily="18" charset="2"/>
              </a:rPr>
              <a:t>2</a:t>
            </a:r>
            <a:r>
              <a:rPr kumimoji="0" lang="en-US" altLang="zh-CN" sz="1200" b="1" i="1" dirty="0">
                <a:sym typeface="Symbol" panose="05050102010706020507" pitchFamily="18" charset="2"/>
              </a:rPr>
              <a:t>n </a:t>
            </a:r>
            <a:r>
              <a:rPr kumimoji="0" lang="zh-CN" altLang="en-US" sz="1200" b="1" dirty="0">
                <a:sym typeface="Symbol" panose="05050102010706020507" pitchFamily="18" charset="2"/>
              </a:rPr>
              <a:t>的简写</a:t>
            </a:r>
            <a:endParaRPr kumimoji="0" lang="zh-CN" altLang="en-US" sz="1200" b="1" dirty="0"/>
          </a:p>
          <a:p>
            <a:pPr eaLnBrk="1" hangingPunct="1">
              <a:buFontTx/>
              <a:buNone/>
            </a:pPr>
            <a:r>
              <a:rPr kumimoji="0" lang="zh-CN" altLang="en-US" sz="1200" b="1" dirty="0"/>
              <a:t>算法：二分搜索  </a:t>
            </a:r>
            <a:r>
              <a:rPr kumimoji="0" lang="en-US" altLang="zh-CN" sz="1200" b="1" i="1" dirty="0"/>
              <a:t>W</a:t>
            </a:r>
            <a:r>
              <a:rPr kumimoji="0" lang="en-US" altLang="zh-CN" sz="1200" b="1" dirty="0"/>
              <a:t>(</a:t>
            </a:r>
            <a:r>
              <a:rPr kumimoji="0" lang="en-US" altLang="zh-CN" sz="1200" b="1" i="1" dirty="0"/>
              <a:t>n</a:t>
            </a:r>
            <a:r>
              <a:rPr kumimoji="0" lang="en-US" altLang="zh-CN" sz="1200" b="1" dirty="0"/>
              <a:t>)=</a:t>
            </a:r>
            <a:r>
              <a:rPr kumimoji="0" lang="en-US" altLang="zh-CN" sz="1200" b="1" i="1" dirty="0"/>
              <a:t>O</a:t>
            </a:r>
            <a:r>
              <a:rPr kumimoji="0" lang="en-US" altLang="zh-CN" sz="1200" b="1" dirty="0"/>
              <a:t>(log</a:t>
            </a:r>
            <a:r>
              <a:rPr kumimoji="0" lang="en-US" altLang="zh-CN" sz="1200" b="1" i="1" dirty="0"/>
              <a:t>n</a:t>
            </a:r>
            <a:r>
              <a:rPr kumimoji="0" lang="en-US" altLang="zh-CN" sz="1200" b="1" dirty="0"/>
              <a:t>)</a:t>
            </a:r>
          </a:p>
          <a:p>
            <a:pPr eaLnBrk="1" hangingPunct="1">
              <a:buFontTx/>
              <a:buNone/>
            </a:pPr>
            <a:r>
              <a:rPr kumimoji="0" lang="zh-CN" altLang="en-US" sz="1200" b="1" dirty="0"/>
              <a:t>             归并排序  </a:t>
            </a:r>
            <a:r>
              <a:rPr kumimoji="0" lang="en-US" altLang="zh-CN" sz="1200" b="1" dirty="0"/>
              <a:t> </a:t>
            </a:r>
            <a:r>
              <a:rPr kumimoji="0" lang="en-US" altLang="zh-CN" sz="1200" b="1" i="1" dirty="0"/>
              <a:t>W</a:t>
            </a:r>
            <a:r>
              <a:rPr kumimoji="0" lang="en-US" altLang="zh-CN" sz="1200" b="1" dirty="0"/>
              <a:t>(</a:t>
            </a:r>
            <a:r>
              <a:rPr kumimoji="0" lang="en-US" altLang="zh-CN" sz="1200" b="1" i="1" dirty="0"/>
              <a:t>n</a:t>
            </a:r>
            <a:r>
              <a:rPr kumimoji="0" lang="en-US" altLang="zh-CN" sz="1200" b="1" dirty="0"/>
              <a:t>)=</a:t>
            </a:r>
            <a:r>
              <a:rPr kumimoji="0" lang="en-US" altLang="zh-CN" sz="1200" b="1" i="1" dirty="0"/>
              <a:t>O</a:t>
            </a:r>
            <a:r>
              <a:rPr kumimoji="0" lang="en-US" altLang="zh-CN" sz="1200" b="1" dirty="0"/>
              <a:t>(</a:t>
            </a:r>
            <a:r>
              <a:rPr kumimoji="0" lang="en-US" altLang="zh-CN" sz="1200" b="1" i="1" dirty="0"/>
              <a:t>n</a:t>
            </a:r>
            <a:r>
              <a:rPr kumimoji="0" lang="en-US" altLang="zh-CN" sz="1200" b="1" dirty="0"/>
              <a:t>log</a:t>
            </a:r>
            <a:r>
              <a:rPr kumimoji="0" lang="en-US" altLang="zh-CN" sz="1200" b="1" i="1" dirty="0"/>
              <a:t>n</a:t>
            </a:r>
            <a:r>
              <a:rPr kumimoji="0" lang="en-US" altLang="zh-CN" sz="1200" b="1" dirty="0"/>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a:t>
            </a:fld>
            <a:endParaRPr lang="zh-CN" altLang="en-US"/>
          </a:p>
        </p:txBody>
      </p:sp>
    </p:spTree>
    <p:extLst>
      <p:ext uri="{BB962C8B-B14F-4D97-AF65-F5344CB8AC3E}">
        <p14:creationId xmlns:p14="http://schemas.microsoft.com/office/powerpoint/2010/main" val="3760220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990600" eaLnBrk="1" hangingPunct="1">
              <a:buNone/>
            </a:pPr>
            <a:r>
              <a:rPr lang="en-US" altLang="zh-CN" b="1" dirty="0"/>
              <a:t>5.1.1 </a:t>
            </a:r>
            <a:r>
              <a:rPr lang="zh-CN" altLang="en-US" b="1" dirty="0"/>
              <a:t>函数的定义</a:t>
            </a:r>
            <a:endParaRPr lang="en-US" altLang="zh-CN" b="1" dirty="0"/>
          </a:p>
          <a:p>
            <a:pPr marL="0" indent="990600" eaLnBrk="1" hangingPunct="1">
              <a:buNone/>
            </a:pPr>
            <a:endParaRPr lang="zh-CN" altLang="en-US" b="1" dirty="0"/>
          </a:p>
          <a:p>
            <a:pPr marL="0" indent="0" eaLnBrk="1" hangingPunct="1">
              <a:buNone/>
            </a:pPr>
            <a:r>
              <a:rPr lang="en-US" altLang="zh-CN" b="1" dirty="0"/>
              <a:t>             5.1.2 </a:t>
            </a:r>
            <a:r>
              <a:rPr lang="zh-CN" altLang="en-US" b="1" dirty="0"/>
              <a:t>函数的像与完全原像</a:t>
            </a:r>
            <a:endParaRPr lang="en-US" altLang="zh-CN" b="1" dirty="0"/>
          </a:p>
          <a:p>
            <a:pPr marL="0" indent="0" eaLnBrk="1" hangingPunct="1">
              <a:buNone/>
            </a:pPr>
            <a:endParaRPr lang="zh-CN" altLang="en-US" b="1" dirty="0"/>
          </a:p>
          <a:p>
            <a:pPr marL="0" indent="0" eaLnBrk="1" hangingPunct="1">
              <a:buNone/>
            </a:pPr>
            <a:r>
              <a:rPr lang="en-US" altLang="zh-CN" b="1" dirty="0"/>
              <a:t>             5.1.3 </a:t>
            </a:r>
            <a:r>
              <a:rPr lang="zh-CN" altLang="en-US" b="1" dirty="0"/>
              <a:t>函数的性质</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a:t>
            </a:fld>
            <a:endParaRPr lang="zh-CN" altLang="en-US"/>
          </a:p>
        </p:txBody>
      </p:sp>
    </p:spTree>
    <p:extLst>
      <p:ext uri="{BB962C8B-B14F-4D97-AF65-F5344CB8AC3E}">
        <p14:creationId xmlns:p14="http://schemas.microsoft.com/office/powerpoint/2010/main" val="41085834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"A1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下的像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函数的像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都是关于集合</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B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中的元素，它们描述了通过函数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映射到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中的元素的性质。</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"B1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下的完全原像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是关于集合</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中的元素，它描述了所有映射到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B1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中的元素的原像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，其中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f(a)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属于集合</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B1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eaLnBrk="1" hangingPunct="1">
              <a:lnSpc>
                <a:spcPct val="120000"/>
              </a:lnSpc>
              <a:spcBef>
                <a:spcPct val="0"/>
              </a:spcBef>
              <a:buFontTx/>
              <a:buNone/>
            </a:pPr>
            <a:r>
              <a:rPr kumimoji="0" lang="zh-CN" altLang="en-US" sz="1200" b="1" dirty="0">
                <a:solidFill>
                  <a:srgbClr val="FF0000"/>
                </a:solidFill>
              </a:rPr>
              <a:t>定义</a:t>
            </a:r>
            <a:r>
              <a:rPr kumimoji="0" lang="en-US" altLang="zh-CN" sz="1200" b="1" dirty="0">
                <a:solidFill>
                  <a:srgbClr val="FF0000"/>
                </a:solidFill>
              </a:rPr>
              <a:t>5.6  </a:t>
            </a:r>
            <a:r>
              <a:rPr kumimoji="0" lang="en-US" altLang="zh-CN" sz="1200" b="1" dirty="0"/>
              <a:t> </a:t>
            </a:r>
            <a:r>
              <a:rPr kumimoji="0" lang="zh-CN" altLang="en-US" sz="1200" b="1" dirty="0"/>
              <a:t>设函数 </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en-US" altLang="zh-CN" sz="1200" b="1" dirty="0"/>
              <a:t>, </a:t>
            </a:r>
            <a:r>
              <a:rPr kumimoji="0" lang="en-US" altLang="zh-CN" sz="1200" b="1" i="1" dirty="0"/>
              <a:t>A</a:t>
            </a:r>
            <a:r>
              <a:rPr kumimoji="0" lang="en-US" altLang="zh-CN" sz="1200" b="1" baseline="-25000" dirty="0"/>
              <a:t>1</a:t>
            </a:r>
            <a:r>
              <a:rPr kumimoji="0" lang="en-US" altLang="zh-CN" sz="1200" b="1" dirty="0">
                <a:sym typeface="Symbol" panose="05050102010706020507" pitchFamily="18" charset="2"/>
              </a:rPr>
              <a:t></a:t>
            </a:r>
            <a:r>
              <a:rPr kumimoji="0" lang="en-US" altLang="zh-CN" sz="1200" b="1" i="1" dirty="0"/>
              <a:t>A,</a:t>
            </a:r>
            <a:r>
              <a:rPr kumimoji="0" lang="en-US" altLang="zh-CN" sz="1200" b="1" dirty="0"/>
              <a:t> </a:t>
            </a:r>
            <a:r>
              <a:rPr kumimoji="0" lang="en-US" altLang="zh-CN" sz="1200" b="1" i="1" dirty="0"/>
              <a:t>B</a:t>
            </a:r>
            <a:r>
              <a:rPr kumimoji="0" lang="en-US" altLang="zh-CN" sz="1200" b="1" baseline="-25000" dirty="0"/>
              <a:t>1</a:t>
            </a:r>
            <a:r>
              <a:rPr kumimoji="0" lang="en-US" altLang="zh-CN" sz="1200" b="1" dirty="0">
                <a:sym typeface="Symbol" panose="05050102010706020507" pitchFamily="18" charset="2"/>
              </a:rPr>
              <a:t></a:t>
            </a:r>
            <a:r>
              <a:rPr kumimoji="0" lang="en-US" altLang="zh-CN" sz="1200" b="1" i="1" dirty="0"/>
              <a:t>B,</a:t>
            </a:r>
            <a:r>
              <a:rPr kumimoji="0" lang="zh-CN" altLang="en-US" sz="1200" b="1" dirty="0"/>
              <a:t>称</a:t>
            </a:r>
            <a:br>
              <a:rPr kumimoji="0" lang="zh-CN" altLang="en-US" sz="1200" b="1" dirty="0"/>
            </a:br>
            <a:r>
              <a:rPr kumimoji="0" lang="zh-CN" altLang="en-US" sz="1200" b="1" dirty="0"/>
              <a:t>            </a:t>
            </a:r>
            <a:r>
              <a:rPr kumimoji="0" lang="en-US" altLang="zh-CN" sz="1200" b="1" i="1" dirty="0"/>
              <a:t>f</a:t>
            </a:r>
            <a:r>
              <a:rPr kumimoji="0" lang="en-US" altLang="zh-CN" sz="1200" b="1" dirty="0"/>
              <a:t>(</a:t>
            </a:r>
            <a:r>
              <a:rPr kumimoji="0" lang="en-US" altLang="zh-CN" sz="1200" b="1" i="1" dirty="0"/>
              <a:t>A</a:t>
            </a:r>
            <a:r>
              <a:rPr kumimoji="0" lang="en-US" altLang="zh-CN" sz="1200" b="1" baseline="-25000" dirty="0"/>
              <a:t>1</a:t>
            </a:r>
            <a:r>
              <a:rPr kumimoji="0" lang="en-US" altLang="zh-CN" sz="1200" b="1" dirty="0"/>
              <a:t>) = { </a:t>
            </a:r>
            <a:r>
              <a:rPr kumimoji="0" lang="en-US" altLang="zh-CN" sz="1200" b="1" i="1" dirty="0"/>
              <a:t>f</a:t>
            </a:r>
            <a:r>
              <a:rPr kumimoji="0" lang="en-US" altLang="zh-CN" sz="1200" b="1" dirty="0"/>
              <a:t>(</a:t>
            </a:r>
            <a:r>
              <a:rPr kumimoji="0" lang="en-US" altLang="zh-CN" sz="1200" b="1" i="1" dirty="0"/>
              <a:t>x</a:t>
            </a:r>
            <a:r>
              <a:rPr kumimoji="0" lang="en-US" altLang="zh-CN" sz="1200" b="1" dirty="0"/>
              <a:t>) | </a:t>
            </a:r>
            <a:r>
              <a:rPr kumimoji="0" lang="en-US" altLang="zh-CN" sz="1200" b="1" i="1" dirty="0"/>
              <a:t>x</a:t>
            </a:r>
            <a:r>
              <a:rPr kumimoji="0" lang="en-US" altLang="zh-CN" sz="1200" b="1" dirty="0"/>
              <a:t>∈</a:t>
            </a:r>
            <a:r>
              <a:rPr kumimoji="0" lang="en-US" altLang="zh-CN" sz="1200" b="1" i="1" dirty="0"/>
              <a:t>A</a:t>
            </a:r>
            <a:r>
              <a:rPr kumimoji="0" lang="en-US" altLang="zh-CN" sz="1200" b="1" baseline="-25000" dirty="0"/>
              <a:t>1</a:t>
            </a:r>
            <a:r>
              <a:rPr kumimoji="0" lang="en-US" altLang="zh-CN" sz="1200" b="1" dirty="0"/>
              <a:t> }</a:t>
            </a:r>
          </a:p>
          <a:p>
            <a:pPr eaLnBrk="1" hangingPunct="1">
              <a:lnSpc>
                <a:spcPct val="120000"/>
              </a:lnSpc>
              <a:spcBef>
                <a:spcPct val="0"/>
              </a:spcBef>
              <a:buFontTx/>
              <a:buNone/>
            </a:pPr>
            <a:r>
              <a:rPr kumimoji="0" lang="en-US" altLang="zh-CN" sz="1200" b="1" dirty="0"/>
              <a:t> </a:t>
            </a:r>
            <a:r>
              <a:rPr kumimoji="0" lang="zh-CN" altLang="en-US" sz="1200" b="1" dirty="0"/>
              <a:t>为</a:t>
            </a:r>
            <a:r>
              <a:rPr kumimoji="0" lang="en-US" altLang="zh-CN" sz="1200" b="1" i="1" dirty="0">
                <a:solidFill>
                  <a:srgbClr val="FF0000"/>
                </a:solidFill>
              </a:rPr>
              <a:t>A</a:t>
            </a:r>
            <a:r>
              <a:rPr kumimoji="0" lang="en-US" altLang="zh-CN" sz="1200" b="1" baseline="-25000" dirty="0">
                <a:solidFill>
                  <a:srgbClr val="FF0000"/>
                </a:solidFill>
              </a:rPr>
              <a:t>1 </a:t>
            </a:r>
            <a:r>
              <a:rPr kumimoji="0" lang="zh-CN" altLang="en-US" sz="1200" b="1" dirty="0">
                <a:solidFill>
                  <a:srgbClr val="FF0000"/>
                </a:solidFill>
              </a:rPr>
              <a:t>在 </a:t>
            </a:r>
            <a:r>
              <a:rPr kumimoji="0" lang="en-US" altLang="zh-CN" sz="1200" b="1" i="1" dirty="0">
                <a:solidFill>
                  <a:srgbClr val="FF0000"/>
                </a:solidFill>
              </a:rPr>
              <a:t>f </a:t>
            </a:r>
            <a:r>
              <a:rPr kumimoji="0" lang="zh-CN" altLang="en-US" sz="1200" b="1" dirty="0">
                <a:solidFill>
                  <a:srgbClr val="FF0000"/>
                </a:solidFill>
              </a:rPr>
              <a:t>下的像</a:t>
            </a:r>
            <a:r>
              <a:rPr kumimoji="0" lang="zh-CN" altLang="en-US" sz="1200" b="1" dirty="0">
                <a:solidFill>
                  <a:srgbClr val="000066"/>
                </a:solidFill>
              </a:rPr>
              <a:t>，</a:t>
            </a:r>
            <a:r>
              <a:rPr kumimoji="0" lang="en-US" altLang="zh-CN" sz="1200" b="1" i="1" dirty="0"/>
              <a:t>f</a:t>
            </a:r>
            <a:r>
              <a:rPr kumimoji="0" lang="en-US" altLang="zh-CN" sz="1200" b="1" dirty="0"/>
              <a:t>(</a:t>
            </a:r>
            <a:r>
              <a:rPr kumimoji="0" lang="en-US" altLang="zh-CN" sz="1200" b="1" i="1" dirty="0"/>
              <a:t>A</a:t>
            </a:r>
            <a:r>
              <a:rPr kumimoji="0" lang="en-US" altLang="zh-CN" sz="1200" b="1" dirty="0"/>
              <a:t>) </a:t>
            </a:r>
            <a:r>
              <a:rPr kumimoji="0" lang="zh-CN" altLang="en-US" sz="1200" b="1" dirty="0"/>
              <a:t>称为</a:t>
            </a:r>
            <a:r>
              <a:rPr kumimoji="0" lang="zh-CN" altLang="en-US" sz="1200" b="1" dirty="0">
                <a:solidFill>
                  <a:srgbClr val="FF0000"/>
                </a:solidFill>
              </a:rPr>
              <a:t>函数的像</a:t>
            </a:r>
            <a:r>
              <a:rPr kumimoji="0" lang="en-US" altLang="zh-CN" sz="1200" b="1" dirty="0"/>
              <a:t>.</a:t>
            </a:r>
            <a:r>
              <a:rPr kumimoji="0" lang="zh-CN" altLang="en-US" sz="1200" b="1" dirty="0"/>
              <a:t> </a:t>
            </a:r>
          </a:p>
          <a:p>
            <a:pPr eaLnBrk="1" hangingPunct="1">
              <a:spcBef>
                <a:spcPct val="0"/>
              </a:spcBef>
              <a:buFontTx/>
              <a:buNone/>
            </a:pPr>
            <a:r>
              <a:rPr lang="en-US" altLang="zh-CN" sz="1200" b="1" i="1" dirty="0"/>
              <a:t>           f</a:t>
            </a:r>
            <a:r>
              <a:rPr lang="en-US" altLang="zh-CN" sz="1200" b="1" baseline="30000" dirty="0">
                <a:sym typeface="Symbol" panose="05050102010706020507" pitchFamily="18" charset="2"/>
              </a:rPr>
              <a:t></a:t>
            </a:r>
            <a:r>
              <a:rPr lang="en-US" altLang="zh-CN" sz="1200" b="1" baseline="30000" dirty="0"/>
              <a:t>1</a:t>
            </a:r>
            <a:r>
              <a:rPr lang="en-US" altLang="zh-CN" sz="1200" b="1" dirty="0"/>
              <a:t>(</a:t>
            </a:r>
            <a:r>
              <a:rPr lang="en-US" altLang="zh-CN" sz="1200" b="1" i="1" dirty="0"/>
              <a:t>B</a:t>
            </a:r>
            <a:r>
              <a:rPr lang="en-US" altLang="zh-CN" sz="1200" b="1" baseline="-25000" dirty="0"/>
              <a:t>1</a:t>
            </a:r>
            <a:r>
              <a:rPr lang="en-US" altLang="zh-CN" sz="1200" b="1" dirty="0"/>
              <a:t>)={ </a:t>
            </a:r>
            <a:r>
              <a:rPr lang="en-US" altLang="zh-CN" sz="1200" b="1" i="1" dirty="0"/>
              <a:t>x </a:t>
            </a:r>
            <a:r>
              <a:rPr lang="en-US" altLang="zh-CN" sz="1200" b="1" dirty="0"/>
              <a:t>| </a:t>
            </a:r>
            <a:r>
              <a:rPr lang="en-US" altLang="zh-CN" sz="1200" b="1" i="1" dirty="0" err="1"/>
              <a:t>x</a:t>
            </a:r>
            <a:r>
              <a:rPr lang="en-US" altLang="zh-CN" sz="1200" b="1" dirty="0" err="1"/>
              <a:t>∈</a:t>
            </a:r>
            <a:r>
              <a:rPr lang="en-US" altLang="zh-CN" sz="1200" b="1" i="1" dirty="0" err="1"/>
              <a:t>A</a:t>
            </a:r>
            <a:r>
              <a:rPr lang="en-US" altLang="zh-CN" sz="1200" b="1" dirty="0"/>
              <a:t>∧ </a:t>
            </a:r>
            <a:r>
              <a:rPr lang="en-US" altLang="zh-CN" sz="1200" b="1" i="1" dirty="0"/>
              <a:t>f</a:t>
            </a:r>
            <a:r>
              <a:rPr lang="en-US" altLang="zh-CN" sz="1200" b="1" dirty="0"/>
              <a:t>(</a:t>
            </a:r>
            <a:r>
              <a:rPr lang="en-US" altLang="zh-CN" sz="1200" b="1" i="1" dirty="0"/>
              <a:t>x</a:t>
            </a:r>
            <a:r>
              <a:rPr lang="en-US" altLang="zh-CN" sz="1200" b="1" dirty="0"/>
              <a:t>)∈</a:t>
            </a:r>
            <a:r>
              <a:rPr lang="en-US" altLang="zh-CN" sz="1200" b="1" i="1" dirty="0"/>
              <a:t>B</a:t>
            </a:r>
            <a:r>
              <a:rPr lang="en-US" altLang="zh-CN" sz="1200" b="1" baseline="-25000" dirty="0"/>
              <a:t>1</a:t>
            </a:r>
            <a:r>
              <a:rPr lang="en-US" altLang="zh-CN" sz="1200" b="1" dirty="0"/>
              <a:t>} </a:t>
            </a:r>
          </a:p>
          <a:p>
            <a:pPr eaLnBrk="1" hangingPunct="1">
              <a:spcBef>
                <a:spcPct val="0"/>
              </a:spcBef>
              <a:buFontTx/>
              <a:buNone/>
            </a:pPr>
            <a:r>
              <a:rPr lang="zh-CN" altLang="en-US" sz="1200" b="1" dirty="0"/>
              <a:t>为</a:t>
            </a:r>
            <a:r>
              <a:rPr lang="en-US" altLang="zh-CN" sz="1200" b="1" i="1" dirty="0"/>
              <a:t>B</a:t>
            </a:r>
            <a:r>
              <a:rPr lang="en-US" altLang="zh-CN" sz="1200" b="1" baseline="-25000" dirty="0"/>
              <a:t>1 </a:t>
            </a:r>
            <a:r>
              <a:rPr lang="zh-CN" altLang="en-US" sz="1200" b="1" dirty="0"/>
              <a:t>在 </a:t>
            </a:r>
            <a:r>
              <a:rPr lang="en-US" altLang="zh-CN" sz="1200" b="1" i="1" dirty="0"/>
              <a:t>f </a:t>
            </a:r>
            <a:r>
              <a:rPr lang="zh-CN" altLang="en-US" sz="1200" b="1" dirty="0"/>
              <a:t>下的</a:t>
            </a:r>
            <a:r>
              <a:rPr lang="zh-CN" altLang="en-US" sz="1200" b="1" dirty="0">
                <a:solidFill>
                  <a:srgbClr val="FF0000"/>
                </a:solidFill>
              </a:rPr>
              <a:t>完全原像</a:t>
            </a:r>
          </a:p>
          <a:p>
            <a:pPr eaLnBrk="1" hangingPunct="1">
              <a:lnSpc>
                <a:spcPct val="120000"/>
              </a:lnSpc>
              <a:spcBef>
                <a:spcPct val="50000"/>
              </a:spcBef>
              <a:buFontTx/>
              <a:buNone/>
            </a:pPr>
            <a:r>
              <a:rPr kumimoji="0" lang="zh-CN" altLang="en-US" sz="1200" b="1" dirty="0"/>
              <a:t>注意</a:t>
            </a:r>
            <a:r>
              <a:rPr kumimoji="0" lang="en-US" altLang="zh-CN" sz="1200" b="1" dirty="0"/>
              <a:t>:</a:t>
            </a:r>
          </a:p>
          <a:p>
            <a:pPr eaLnBrk="1" hangingPunct="1">
              <a:lnSpc>
                <a:spcPct val="120000"/>
              </a:lnSpc>
              <a:spcBef>
                <a:spcPct val="0"/>
              </a:spcBef>
              <a:buFontTx/>
              <a:buNone/>
            </a:pPr>
            <a:r>
              <a:rPr kumimoji="0" lang="zh-CN" altLang="en-US" sz="1200" b="1" dirty="0"/>
              <a:t>    函数的像与值的区别：函数值 </a:t>
            </a:r>
            <a:r>
              <a:rPr kumimoji="0" lang="en-US" altLang="zh-CN" sz="1200" b="1" i="1" dirty="0"/>
              <a:t>f</a:t>
            </a:r>
            <a:r>
              <a:rPr kumimoji="0" lang="en-US" altLang="zh-CN" sz="1200" b="1" dirty="0"/>
              <a:t>(</a:t>
            </a:r>
            <a:r>
              <a:rPr kumimoji="0" lang="en-US" altLang="zh-CN" sz="1200" b="1" i="1" dirty="0"/>
              <a:t>x</a:t>
            </a:r>
            <a:r>
              <a:rPr kumimoji="0" lang="en-US" altLang="zh-CN" sz="1200" b="1" dirty="0"/>
              <a:t>)∈</a:t>
            </a:r>
            <a:r>
              <a:rPr kumimoji="0" lang="en-US" altLang="zh-CN" sz="1200" b="1" i="1" dirty="0"/>
              <a:t>B</a:t>
            </a:r>
            <a:r>
              <a:rPr kumimoji="0" lang="en-US" altLang="zh-CN" sz="1200" b="1" dirty="0"/>
              <a:t>, </a:t>
            </a:r>
            <a:r>
              <a:rPr kumimoji="0" lang="zh-CN" altLang="en-US" sz="1200" b="1" dirty="0"/>
              <a:t>像 </a:t>
            </a:r>
            <a:r>
              <a:rPr kumimoji="0" lang="en-US" altLang="zh-CN" sz="1200" b="1" i="1" dirty="0"/>
              <a:t>f</a:t>
            </a:r>
            <a:r>
              <a:rPr kumimoji="0" lang="en-US" altLang="zh-CN" sz="1200" b="1" dirty="0"/>
              <a:t>(</a:t>
            </a:r>
            <a:r>
              <a:rPr kumimoji="0" lang="en-US" altLang="zh-CN" sz="1200" b="1" i="1" dirty="0"/>
              <a:t>A</a:t>
            </a:r>
            <a:r>
              <a:rPr kumimoji="0" lang="en-US" altLang="zh-CN" sz="1200" b="1" baseline="-25000" dirty="0"/>
              <a:t>1</a:t>
            </a:r>
            <a:r>
              <a:rPr kumimoji="0" lang="en-US" altLang="zh-CN" sz="1200" b="1" dirty="0"/>
              <a:t>)</a:t>
            </a:r>
            <a:r>
              <a:rPr kumimoji="0" lang="en-US" altLang="zh-CN" sz="1200" b="1" dirty="0">
                <a:sym typeface="Symbol" panose="05050102010706020507" pitchFamily="18" charset="2"/>
              </a:rPr>
              <a:t></a:t>
            </a:r>
            <a:r>
              <a:rPr kumimoji="0" lang="en-US" altLang="zh-CN" sz="1200" b="1" i="1" dirty="0"/>
              <a:t>B</a:t>
            </a:r>
            <a:r>
              <a:rPr kumimoji="0" lang="en-US" altLang="zh-CN" sz="1200" b="1" dirty="0"/>
              <a:t>. </a:t>
            </a:r>
          </a:p>
          <a:p>
            <a:pPr eaLnBrk="1" hangingPunct="1">
              <a:spcBef>
                <a:spcPct val="0"/>
              </a:spcBef>
              <a:buFontTx/>
              <a:buNone/>
            </a:pPr>
            <a:r>
              <a:rPr lang="en-US" altLang="zh-CN" sz="1200" b="1" i="1" dirty="0"/>
              <a:t>    A</a:t>
            </a:r>
            <a:r>
              <a:rPr lang="en-US" altLang="zh-CN" sz="1200" b="1" baseline="-25000" dirty="0"/>
              <a:t>1</a:t>
            </a:r>
            <a:r>
              <a:rPr lang="en-US" altLang="zh-CN" sz="1200" b="1" dirty="0">
                <a:sym typeface="Symbol" panose="05050102010706020507" pitchFamily="18" charset="2"/>
              </a:rPr>
              <a:t></a:t>
            </a:r>
            <a:r>
              <a:rPr lang="en-US" altLang="zh-CN" sz="1200" b="1" i="1" dirty="0"/>
              <a:t>f</a:t>
            </a:r>
            <a:r>
              <a:rPr lang="en-US" altLang="zh-CN" sz="1200" b="1" baseline="30000" dirty="0">
                <a:sym typeface="Symbol" panose="05050102010706020507" pitchFamily="18" charset="2"/>
              </a:rPr>
              <a:t></a:t>
            </a:r>
            <a:r>
              <a:rPr lang="en-US" altLang="zh-CN" sz="1200" b="1" baseline="30000" dirty="0"/>
              <a:t>1</a:t>
            </a:r>
            <a:r>
              <a:rPr lang="en-US" altLang="zh-CN" sz="1200" b="1" dirty="0"/>
              <a:t>(</a:t>
            </a:r>
            <a:r>
              <a:rPr lang="en-US" altLang="zh-CN" sz="1200" b="1" i="1" dirty="0"/>
              <a:t>f</a:t>
            </a:r>
            <a:r>
              <a:rPr lang="en-US" altLang="zh-CN" sz="1200" b="1" dirty="0"/>
              <a:t>(</a:t>
            </a:r>
            <a:r>
              <a:rPr lang="en-US" altLang="zh-CN" sz="1200" b="1" i="1" dirty="0"/>
              <a:t>A</a:t>
            </a:r>
            <a:r>
              <a:rPr lang="en-US" altLang="zh-CN" sz="1200" b="1" baseline="-25000" dirty="0"/>
              <a:t>1</a:t>
            </a:r>
            <a:r>
              <a:rPr lang="en-US" altLang="zh-CN" sz="1200" b="1" dirty="0"/>
              <a:t>))</a:t>
            </a:r>
            <a:r>
              <a:rPr lang="zh-CN" altLang="en-US" sz="1200" b="1" dirty="0"/>
              <a:t>， </a:t>
            </a:r>
            <a:r>
              <a:rPr lang="en-US" altLang="zh-CN" sz="1200" b="1" i="1" dirty="0"/>
              <a:t>f</a:t>
            </a:r>
            <a:r>
              <a:rPr lang="en-US" altLang="zh-CN" sz="1200" b="1" dirty="0"/>
              <a:t>(</a:t>
            </a:r>
            <a:r>
              <a:rPr lang="en-US" altLang="zh-CN" sz="1200" b="1" i="1" dirty="0"/>
              <a:t>f</a:t>
            </a:r>
            <a:r>
              <a:rPr lang="en-US" altLang="zh-CN" sz="1200" b="1" baseline="30000" dirty="0">
                <a:sym typeface="Symbol" panose="05050102010706020507" pitchFamily="18" charset="2"/>
              </a:rPr>
              <a:t></a:t>
            </a:r>
            <a:r>
              <a:rPr lang="en-US" altLang="zh-CN" sz="1200" b="1" baseline="30000" dirty="0"/>
              <a:t>1</a:t>
            </a:r>
            <a:r>
              <a:rPr lang="en-US" altLang="zh-CN" sz="1200" b="1" dirty="0"/>
              <a:t>(</a:t>
            </a:r>
            <a:r>
              <a:rPr lang="en-US" altLang="zh-CN" sz="1200" b="1" i="1" dirty="0"/>
              <a:t>B</a:t>
            </a:r>
            <a:r>
              <a:rPr lang="en-US" altLang="zh-CN" sz="1200" b="1" baseline="-25000" dirty="0"/>
              <a:t>1</a:t>
            </a:r>
            <a:r>
              <a:rPr lang="en-US" altLang="zh-CN" sz="1200" b="1" dirty="0"/>
              <a:t>))</a:t>
            </a:r>
            <a:r>
              <a:rPr lang="en-US" altLang="zh-CN" sz="1200" b="1" dirty="0">
                <a:sym typeface="Symbol" panose="05050102010706020507" pitchFamily="18" charset="2"/>
              </a:rPr>
              <a:t></a:t>
            </a:r>
            <a:r>
              <a:rPr lang="en-US" altLang="zh-CN" sz="1200" b="1" i="1" dirty="0"/>
              <a:t>B</a:t>
            </a:r>
            <a:r>
              <a:rPr lang="en-US" altLang="zh-CN" sz="1200" b="1" baseline="-25000" dirty="0"/>
              <a:t>1</a:t>
            </a:r>
            <a:r>
              <a:rPr lang="en-US" altLang="zh-CN" sz="1200" b="1" dirty="0"/>
              <a:t>.</a:t>
            </a:r>
            <a:r>
              <a:rPr lang="en-US" altLang="zh-CN" sz="1200" dirty="0"/>
              <a:t> </a:t>
            </a:r>
            <a:r>
              <a:rPr lang="en-US" altLang="zh-CN" sz="1200" b="1" dirty="0"/>
              <a:t>  </a:t>
            </a:r>
          </a:p>
          <a:p>
            <a:pPr eaLnBrk="1" hangingPunct="1">
              <a:spcBef>
                <a:spcPct val="0"/>
              </a:spcBef>
              <a:buFontTx/>
              <a:buNone/>
            </a:pPr>
            <a:endParaRPr lang="en-US" altLang="zh-CN" sz="1200" b="1" dirty="0"/>
          </a:p>
          <a:p>
            <a:pPr eaLnBrk="1" hangingPunct="1">
              <a:spcBef>
                <a:spcPct val="0"/>
              </a:spcBef>
              <a:buFontTx/>
              <a:buNone/>
            </a:pPr>
            <a:r>
              <a:rPr lang="zh-CN" altLang="en-US" sz="1200" b="1" dirty="0">
                <a:solidFill>
                  <a:srgbClr val="00B0F0"/>
                </a:solidFill>
              </a:rPr>
              <a:t>实例</a:t>
            </a:r>
            <a:r>
              <a:rPr lang="zh-CN" altLang="en-US" sz="1200" b="1" dirty="0"/>
              <a:t>   </a:t>
            </a:r>
            <a:r>
              <a:rPr lang="en-US" altLang="zh-CN" sz="1200" b="1" dirty="0"/>
              <a:t>{1}</a:t>
            </a:r>
            <a:r>
              <a:rPr lang="en-US" altLang="zh-CN" sz="1200" b="1" dirty="0">
                <a:sym typeface="Symbol" panose="05050102010706020507" pitchFamily="18" charset="2"/>
              </a:rPr>
              <a:t></a:t>
            </a:r>
            <a:r>
              <a:rPr lang="en-US" altLang="zh-CN" sz="1200" b="1" dirty="0"/>
              <a:t>{1,2}=</a:t>
            </a:r>
            <a:r>
              <a:rPr lang="en-US" altLang="zh-CN" sz="1200" b="1" i="1" dirty="0"/>
              <a:t>f</a:t>
            </a:r>
            <a:r>
              <a:rPr lang="en-US" altLang="zh-CN" sz="1200" b="1" baseline="30000" dirty="0">
                <a:sym typeface="Symbol" panose="05050102010706020507" pitchFamily="18" charset="2"/>
              </a:rPr>
              <a:t></a:t>
            </a:r>
            <a:r>
              <a:rPr lang="en-US" altLang="zh-CN" sz="1200" b="1" baseline="30000" dirty="0"/>
              <a:t>1</a:t>
            </a:r>
            <a:r>
              <a:rPr lang="en-US" altLang="zh-CN" sz="1200" b="1" dirty="0"/>
              <a:t>({</a:t>
            </a:r>
            <a:r>
              <a:rPr lang="en-US" altLang="zh-CN" sz="1200" b="1" i="1" dirty="0"/>
              <a:t>a</a:t>
            </a:r>
            <a:r>
              <a:rPr lang="en-US" altLang="zh-CN" sz="1200" b="1" dirty="0"/>
              <a:t>})= </a:t>
            </a:r>
            <a:r>
              <a:rPr lang="en-US" altLang="zh-CN" sz="1200" b="1" i="1" dirty="0"/>
              <a:t>f</a:t>
            </a:r>
            <a:r>
              <a:rPr lang="en-US" altLang="zh-CN" sz="1200" b="1" baseline="30000" dirty="0">
                <a:sym typeface="Symbol" panose="05050102010706020507" pitchFamily="18" charset="2"/>
              </a:rPr>
              <a:t></a:t>
            </a:r>
            <a:r>
              <a:rPr lang="en-US" altLang="zh-CN" sz="1200" b="1" baseline="30000" dirty="0"/>
              <a:t>1</a:t>
            </a:r>
            <a:r>
              <a:rPr lang="en-US" altLang="zh-CN" sz="1200" b="1" dirty="0"/>
              <a:t>(</a:t>
            </a:r>
            <a:r>
              <a:rPr lang="en-US" altLang="zh-CN" sz="1200" b="1" i="1" dirty="0"/>
              <a:t>f</a:t>
            </a:r>
            <a:r>
              <a:rPr lang="en-US" altLang="zh-CN" sz="1200" b="1" dirty="0"/>
              <a:t>({1})) </a:t>
            </a:r>
          </a:p>
          <a:p>
            <a:pPr eaLnBrk="1" hangingPunct="1">
              <a:spcBef>
                <a:spcPct val="0"/>
              </a:spcBef>
              <a:buFontTx/>
              <a:buNone/>
            </a:pPr>
            <a:r>
              <a:rPr lang="en-US" altLang="zh-CN" sz="1200" b="1" i="1" dirty="0"/>
              <a:t>                f</a:t>
            </a:r>
            <a:r>
              <a:rPr lang="en-US" altLang="zh-CN" sz="1200" b="1" dirty="0"/>
              <a:t>(</a:t>
            </a:r>
            <a:r>
              <a:rPr lang="en-US" altLang="zh-CN" sz="1200" b="1" i="1" dirty="0"/>
              <a:t>f</a:t>
            </a:r>
            <a:r>
              <a:rPr lang="en-US" altLang="zh-CN" sz="1200" b="1" baseline="30000" dirty="0">
                <a:sym typeface="Symbol" panose="05050102010706020507" pitchFamily="18" charset="2"/>
              </a:rPr>
              <a:t></a:t>
            </a:r>
            <a:r>
              <a:rPr lang="en-US" altLang="zh-CN" sz="1200" b="1" baseline="30000" dirty="0"/>
              <a:t>1</a:t>
            </a:r>
            <a:r>
              <a:rPr lang="en-US" altLang="zh-CN" sz="1200" b="1" dirty="0"/>
              <a:t>({</a:t>
            </a:r>
            <a:r>
              <a:rPr lang="en-US" altLang="zh-CN" sz="1200" b="1" i="1" dirty="0" err="1"/>
              <a:t>b,c</a:t>
            </a:r>
            <a:r>
              <a:rPr lang="en-US" altLang="zh-CN" sz="1200" b="1" dirty="0"/>
              <a:t>}))=</a:t>
            </a:r>
            <a:r>
              <a:rPr lang="en-US" altLang="zh-CN" sz="1200" b="1" i="1" dirty="0"/>
              <a:t>f</a:t>
            </a:r>
            <a:r>
              <a:rPr lang="en-US" altLang="zh-CN" sz="1200" b="1" dirty="0"/>
              <a:t>({3})={</a:t>
            </a:r>
            <a:r>
              <a:rPr lang="en-US" altLang="zh-CN" sz="1200" b="1" i="1" dirty="0"/>
              <a:t>b</a:t>
            </a:r>
            <a:r>
              <a:rPr lang="en-US" altLang="zh-CN" sz="1200" b="1" dirty="0"/>
              <a:t>}</a:t>
            </a:r>
            <a:r>
              <a:rPr lang="en-US" altLang="zh-CN" sz="1200" b="1" dirty="0">
                <a:sym typeface="Symbol" panose="05050102010706020507" pitchFamily="18" charset="2"/>
              </a:rPr>
              <a:t>{</a:t>
            </a:r>
            <a:r>
              <a:rPr lang="en-US" altLang="zh-CN" sz="1200" b="1" i="1" dirty="0">
                <a:sym typeface="Symbol" panose="05050102010706020507" pitchFamily="18" charset="2"/>
              </a:rPr>
              <a:t>b, c</a:t>
            </a:r>
            <a:r>
              <a:rPr lang="en-US" altLang="zh-CN" sz="1200" b="1" dirty="0">
                <a:sym typeface="Symbol" panose="05050102010706020507" pitchFamily="18" charset="2"/>
              </a:rPr>
              <a:t>}</a:t>
            </a:r>
            <a:endParaRPr kumimoji="0"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16</a:t>
            </a:fld>
            <a:endParaRPr lang="zh-CN" altLang="en-US"/>
          </a:p>
        </p:txBody>
      </p:sp>
    </p:spTree>
    <p:extLst>
      <p:ext uri="{BB962C8B-B14F-4D97-AF65-F5344CB8AC3E}">
        <p14:creationId xmlns:p14="http://schemas.microsoft.com/office/powerpoint/2010/main" val="9496090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buFontTx/>
              <a:buNone/>
            </a:pPr>
            <a:r>
              <a:rPr kumimoji="0" lang="en-US" altLang="zh-CN" sz="1200" b="1" dirty="0"/>
              <a:t>1. </a:t>
            </a:r>
            <a:r>
              <a:rPr kumimoji="0" lang="zh-CN" altLang="en-US" sz="1200" b="1" dirty="0"/>
              <a:t>设 </a:t>
            </a:r>
            <a:r>
              <a:rPr kumimoji="0" lang="en-US" altLang="zh-CN" sz="1200" b="1" i="1" dirty="0"/>
              <a:t>f </a:t>
            </a:r>
            <a:r>
              <a:rPr kumimoji="0" lang="en-US" altLang="zh-CN" sz="1200" b="1" dirty="0"/>
              <a:t>: N→N, </a:t>
            </a:r>
            <a:r>
              <a:rPr kumimoji="0" lang="zh-CN" altLang="en-US" sz="1200" b="1" dirty="0"/>
              <a:t>且</a:t>
            </a:r>
          </a:p>
          <a:p>
            <a:pPr eaLnBrk="1" hangingPunct="1">
              <a:lnSpc>
                <a:spcPct val="110000"/>
              </a:lnSpc>
              <a:buFontTx/>
              <a:buNone/>
            </a:pPr>
            <a:endParaRPr kumimoji="0" lang="zh-CN" altLang="en-US" sz="1200" b="1" dirty="0"/>
          </a:p>
          <a:p>
            <a:pPr eaLnBrk="1" hangingPunct="1">
              <a:lnSpc>
                <a:spcPct val="110000"/>
              </a:lnSpc>
              <a:buFontTx/>
              <a:buNone/>
            </a:pPr>
            <a:endParaRPr kumimoji="0" lang="zh-CN" altLang="en-US" sz="1200" b="1" dirty="0"/>
          </a:p>
          <a:p>
            <a:pPr eaLnBrk="1" hangingPunct="1">
              <a:lnSpc>
                <a:spcPct val="110000"/>
              </a:lnSpc>
              <a:buFontTx/>
              <a:buNone/>
            </a:pPr>
            <a:r>
              <a:rPr kumimoji="0" lang="zh-CN" altLang="en-US" sz="1200" b="1" dirty="0"/>
              <a:t>令</a:t>
            </a:r>
            <a:r>
              <a:rPr kumimoji="0" lang="en-US" altLang="zh-CN" sz="1200" b="1" i="1" dirty="0"/>
              <a:t>A</a:t>
            </a:r>
            <a:r>
              <a:rPr kumimoji="0" lang="en-US" altLang="zh-CN" sz="1200" b="1" dirty="0"/>
              <a:t>={0,1}, </a:t>
            </a:r>
            <a:r>
              <a:rPr kumimoji="0" lang="en-US" altLang="zh-CN" sz="1200" b="1" i="1" dirty="0"/>
              <a:t>B</a:t>
            </a:r>
            <a:r>
              <a:rPr kumimoji="0" lang="en-US" altLang="zh-CN" sz="1200" b="1" dirty="0"/>
              <a:t>={2}, </a:t>
            </a:r>
            <a:r>
              <a:rPr kumimoji="0" lang="zh-CN" altLang="en-US" sz="1200" b="1" dirty="0"/>
              <a:t>那么有</a:t>
            </a:r>
            <a:br>
              <a:rPr kumimoji="0" lang="zh-CN" altLang="en-US" sz="1200" b="1" dirty="0"/>
            </a:br>
            <a:r>
              <a:rPr kumimoji="0" lang="zh-CN" altLang="en-US" sz="1200" b="1" dirty="0"/>
              <a:t>          </a:t>
            </a:r>
            <a:r>
              <a:rPr kumimoji="0" lang="en-US" altLang="zh-CN" sz="1200" b="1" i="1" dirty="0"/>
              <a:t>f</a:t>
            </a:r>
            <a:r>
              <a:rPr kumimoji="0" lang="en-US" altLang="zh-CN" sz="1200" b="1" dirty="0"/>
              <a:t>(</a:t>
            </a:r>
            <a:r>
              <a:rPr kumimoji="0" lang="en-US" altLang="zh-CN" sz="1200" b="1" i="1" dirty="0"/>
              <a:t>A</a:t>
            </a:r>
            <a:r>
              <a:rPr kumimoji="0" lang="en-US" altLang="zh-CN" sz="1200" b="1" dirty="0"/>
              <a:t>) = </a:t>
            </a:r>
            <a:r>
              <a:rPr kumimoji="0" lang="en-US" altLang="zh-CN" sz="1200" b="1" i="1" dirty="0"/>
              <a:t>f</a:t>
            </a:r>
            <a:r>
              <a:rPr kumimoji="0" lang="en-US" altLang="zh-CN" sz="1200" b="1" dirty="0"/>
              <a:t>({0,1}) = { </a:t>
            </a:r>
            <a:r>
              <a:rPr kumimoji="0" lang="en-US" altLang="zh-CN" sz="1200" b="1" i="1" dirty="0"/>
              <a:t>f</a:t>
            </a:r>
            <a:r>
              <a:rPr kumimoji="0" lang="en-US" altLang="zh-CN" sz="1200" b="1" dirty="0"/>
              <a:t>(0), </a:t>
            </a:r>
            <a:r>
              <a:rPr kumimoji="0" lang="en-US" altLang="zh-CN" sz="1200" b="1" i="1" dirty="0"/>
              <a:t>f</a:t>
            </a:r>
            <a:r>
              <a:rPr kumimoji="0" lang="en-US" altLang="zh-CN" sz="1200" b="1" dirty="0"/>
              <a:t>(1) }={ 0, 2 }</a:t>
            </a:r>
          </a:p>
          <a:p>
            <a:pPr eaLnBrk="1" hangingPunct="1">
              <a:lnSpc>
                <a:spcPct val="110000"/>
              </a:lnSpc>
              <a:buFontTx/>
              <a:buNone/>
            </a:pPr>
            <a:r>
              <a:rPr kumimoji="0" lang="en-US" altLang="zh-CN" sz="1200" b="1" dirty="0"/>
              <a:t>              </a:t>
            </a:r>
            <a:r>
              <a:rPr kumimoji="0" lang="en-US" altLang="zh-CN" sz="1200" b="1" i="1" dirty="0"/>
              <a:t> f</a:t>
            </a:r>
            <a:r>
              <a:rPr kumimoji="0" lang="en-US" altLang="zh-CN" sz="1200" b="1" dirty="0"/>
              <a:t>(</a:t>
            </a:r>
            <a:r>
              <a:rPr kumimoji="0" lang="en-US" altLang="zh-CN" sz="1200" b="1" i="1" dirty="0"/>
              <a:t>B</a:t>
            </a:r>
            <a:r>
              <a:rPr kumimoji="0" lang="en-US" altLang="zh-CN" sz="1200" b="1" dirty="0"/>
              <a:t>) = { </a:t>
            </a:r>
            <a:r>
              <a:rPr kumimoji="0" lang="en-US" altLang="zh-CN" sz="1200" b="1" i="1" dirty="0"/>
              <a:t>f</a:t>
            </a:r>
            <a:r>
              <a:rPr kumimoji="0" lang="en-US" altLang="zh-CN" sz="1200" b="1" dirty="0"/>
              <a:t>(2) } = { 1 }</a:t>
            </a:r>
          </a:p>
          <a:p>
            <a:pPr eaLnBrk="1" hangingPunct="1">
              <a:lnSpc>
                <a:spcPct val="110000"/>
              </a:lnSpc>
              <a:spcBef>
                <a:spcPct val="80000"/>
              </a:spcBef>
              <a:buFontTx/>
              <a:buNone/>
            </a:pPr>
            <a:r>
              <a:rPr lang="en-US" altLang="zh-CN" sz="1200" b="1" dirty="0"/>
              <a:t>2. </a:t>
            </a:r>
            <a:r>
              <a:rPr lang="en-US" altLang="zh-CN" sz="1200" b="1" i="1" dirty="0"/>
              <a:t>A</a:t>
            </a:r>
            <a:r>
              <a:rPr lang="en-US" altLang="zh-CN" sz="1200" b="1" dirty="0"/>
              <a:t>={1, 2, 3}, </a:t>
            </a:r>
            <a:r>
              <a:rPr lang="en-US" altLang="zh-CN" sz="1200" b="1" i="1" dirty="0"/>
              <a:t>B</a:t>
            </a:r>
            <a:r>
              <a:rPr lang="en-US" altLang="zh-CN" sz="1200" b="1" dirty="0"/>
              <a:t>={</a:t>
            </a:r>
            <a:r>
              <a:rPr lang="en-US" altLang="zh-CN" sz="1200" b="1" i="1" dirty="0"/>
              <a:t>a</a:t>
            </a:r>
            <a:r>
              <a:rPr lang="en-US" altLang="zh-CN" sz="1200" b="1" dirty="0"/>
              <a:t>, </a:t>
            </a:r>
            <a:r>
              <a:rPr lang="en-US" altLang="zh-CN" sz="1200" b="1" i="1" dirty="0"/>
              <a:t>b</a:t>
            </a:r>
            <a:r>
              <a:rPr lang="en-US" altLang="zh-CN" sz="1200" b="1" dirty="0"/>
              <a:t>, </a:t>
            </a:r>
            <a:r>
              <a:rPr lang="en-US" altLang="zh-CN" sz="1200" b="1" i="1" dirty="0"/>
              <a:t>c</a:t>
            </a:r>
            <a:r>
              <a:rPr lang="en-US" altLang="zh-CN" sz="1200" b="1" dirty="0"/>
              <a:t>},  </a:t>
            </a:r>
            <a:r>
              <a:rPr lang="en-US" altLang="zh-CN" sz="1200" b="1" i="1" dirty="0"/>
              <a:t>f</a:t>
            </a:r>
            <a:r>
              <a:rPr lang="en-US" altLang="zh-CN" sz="1200" b="1" dirty="0"/>
              <a:t>={&lt;1,</a:t>
            </a:r>
            <a:r>
              <a:rPr lang="en-US" altLang="zh-CN" sz="1200" b="1" i="1" dirty="0"/>
              <a:t>a</a:t>
            </a:r>
            <a:r>
              <a:rPr lang="en-US" altLang="zh-CN" sz="1200" b="1" dirty="0"/>
              <a:t>&gt;,&lt;2,</a:t>
            </a:r>
            <a:r>
              <a:rPr lang="en-US" altLang="zh-CN" sz="1200" b="1" i="1" dirty="0"/>
              <a:t>a</a:t>
            </a:r>
            <a:r>
              <a:rPr lang="en-US" altLang="zh-CN" sz="1200" b="1" dirty="0"/>
              <a:t>&gt;,&lt;3,</a:t>
            </a:r>
            <a:r>
              <a:rPr lang="en-US" altLang="zh-CN" sz="1200" b="1" i="1" dirty="0"/>
              <a:t>b</a:t>
            </a:r>
            <a:r>
              <a:rPr lang="en-US" altLang="zh-CN" sz="1200" b="1" dirty="0"/>
              <a:t>&gt;}</a:t>
            </a:r>
            <a:r>
              <a:rPr lang="zh-CN" altLang="en-US" sz="1200" b="1" dirty="0"/>
              <a:t>，则</a:t>
            </a:r>
          </a:p>
          <a:p>
            <a:pPr eaLnBrk="1" hangingPunct="1">
              <a:lnSpc>
                <a:spcPct val="110000"/>
              </a:lnSpc>
              <a:buFontTx/>
              <a:buNone/>
            </a:pPr>
            <a:r>
              <a:rPr lang="en-US" altLang="zh-CN" sz="1200" b="1" dirty="0"/>
              <a:t>             </a:t>
            </a:r>
            <a:r>
              <a:rPr lang="en-US" altLang="zh-CN" sz="1200" b="1" i="1" dirty="0"/>
              <a:t>f</a:t>
            </a:r>
            <a:r>
              <a:rPr lang="en-US" altLang="zh-CN" sz="1200" b="1" baseline="30000" dirty="0">
                <a:sym typeface="Symbol" panose="05050102010706020507" pitchFamily="18" charset="2"/>
              </a:rPr>
              <a:t></a:t>
            </a:r>
            <a:r>
              <a:rPr lang="en-US" altLang="zh-CN" sz="1200" b="1" baseline="30000" dirty="0"/>
              <a:t>1</a:t>
            </a:r>
            <a:r>
              <a:rPr lang="en-US" altLang="zh-CN" sz="1200" b="1" dirty="0"/>
              <a:t>({</a:t>
            </a:r>
            <a:r>
              <a:rPr lang="en-US" altLang="zh-CN" sz="1200" b="1" i="1" dirty="0"/>
              <a:t>a,b</a:t>
            </a:r>
            <a:r>
              <a:rPr lang="en-US" altLang="zh-CN" sz="1200" b="1" dirty="0"/>
              <a:t>}) ={1,2,3},  </a:t>
            </a:r>
            <a:r>
              <a:rPr lang="en-US" altLang="zh-CN" sz="1200" b="1" i="1" dirty="0"/>
              <a:t>f</a:t>
            </a:r>
            <a:r>
              <a:rPr lang="en-US" altLang="zh-CN" sz="1200" b="1" baseline="30000" dirty="0">
                <a:sym typeface="Symbol" panose="05050102010706020507" pitchFamily="18" charset="2"/>
              </a:rPr>
              <a:t></a:t>
            </a:r>
            <a:r>
              <a:rPr lang="en-US" altLang="zh-CN" sz="1200" b="1" baseline="30000" dirty="0"/>
              <a:t>1</a:t>
            </a:r>
            <a:r>
              <a:rPr lang="en-US" altLang="zh-CN" sz="1200" b="1" dirty="0"/>
              <a:t>({</a:t>
            </a:r>
            <a:r>
              <a:rPr lang="en-US" altLang="zh-CN" sz="1200" b="1" i="1" dirty="0"/>
              <a:t>b,c</a:t>
            </a:r>
            <a:r>
              <a:rPr lang="en-US" altLang="zh-CN" sz="1200" b="1" dirty="0"/>
              <a:t>}) ={3},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17</a:t>
            </a:fld>
            <a:endParaRPr lang="zh-CN" altLang="en-US"/>
          </a:p>
        </p:txBody>
      </p:sp>
    </p:spTree>
    <p:extLst>
      <p:ext uri="{BB962C8B-B14F-4D97-AF65-F5344CB8AC3E}">
        <p14:creationId xmlns:p14="http://schemas.microsoft.com/office/powerpoint/2010/main" val="13759472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990600" eaLnBrk="1" hangingPunct="1">
              <a:buNone/>
            </a:pPr>
            <a:r>
              <a:rPr lang="en-US" altLang="zh-CN" b="1" dirty="0"/>
              <a:t>5.1.1 </a:t>
            </a:r>
            <a:r>
              <a:rPr lang="zh-CN" altLang="en-US" b="1" dirty="0"/>
              <a:t>函数的定义</a:t>
            </a:r>
            <a:endParaRPr lang="en-US" altLang="zh-CN" b="1" dirty="0"/>
          </a:p>
          <a:p>
            <a:pPr marL="0" indent="990600" eaLnBrk="1" hangingPunct="1">
              <a:buNone/>
            </a:pPr>
            <a:endParaRPr lang="zh-CN" altLang="en-US" b="1" dirty="0"/>
          </a:p>
          <a:p>
            <a:pPr marL="0" indent="0" eaLnBrk="1" hangingPunct="1">
              <a:buNone/>
            </a:pPr>
            <a:r>
              <a:rPr lang="en-US" altLang="zh-CN" b="1" dirty="0"/>
              <a:t>             5.1.2 </a:t>
            </a:r>
            <a:r>
              <a:rPr lang="zh-CN" altLang="en-US" b="1" dirty="0"/>
              <a:t>函数的像与完全原像</a:t>
            </a:r>
            <a:endParaRPr lang="en-US" altLang="zh-CN" b="1" dirty="0"/>
          </a:p>
          <a:p>
            <a:pPr marL="0" indent="0" eaLnBrk="1" hangingPunct="1">
              <a:buNone/>
            </a:pPr>
            <a:endParaRPr lang="zh-CN" altLang="en-US" b="1" dirty="0"/>
          </a:p>
          <a:p>
            <a:pPr marL="0" indent="0" eaLnBrk="1" hangingPunct="1">
              <a:buNone/>
            </a:pPr>
            <a:r>
              <a:rPr lang="en-US" altLang="zh-CN" b="1" dirty="0"/>
              <a:t>             5.1.3 </a:t>
            </a:r>
            <a:r>
              <a:rPr lang="zh-CN" altLang="en-US" b="1" dirty="0"/>
              <a:t>函数的性质</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18</a:t>
            </a:fld>
            <a:endParaRPr lang="zh-CN" altLang="en-US"/>
          </a:p>
        </p:txBody>
      </p:sp>
    </p:spTree>
    <p:extLst>
      <p:ext uri="{BB962C8B-B14F-4D97-AF65-F5344CB8AC3E}">
        <p14:creationId xmlns:p14="http://schemas.microsoft.com/office/powerpoint/2010/main" val="2124990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kumimoji="0" lang="zh-CN" altLang="en-US" sz="1200" b="1" dirty="0"/>
              <a:t>则称 </a:t>
            </a:r>
            <a:r>
              <a:rPr kumimoji="0" lang="en-US" altLang="zh-CN" sz="1200" b="1" i="1" dirty="0"/>
              <a:t>f </a:t>
            </a:r>
            <a:r>
              <a:rPr kumimoji="0" lang="zh-CN" altLang="en-US" sz="1200" b="1" dirty="0"/>
              <a:t>为</a:t>
            </a:r>
            <a:r>
              <a:rPr kumimoji="0" lang="zh-CN" altLang="en-US" sz="1200" b="1" dirty="0">
                <a:solidFill>
                  <a:srgbClr val="FF0000"/>
                </a:solidFill>
              </a:rPr>
              <a:t>从</a:t>
            </a:r>
            <a:r>
              <a:rPr kumimoji="0" lang="en-US" altLang="zh-CN" sz="1200" b="1" i="1" dirty="0">
                <a:solidFill>
                  <a:srgbClr val="FF0000"/>
                </a:solidFill>
              </a:rPr>
              <a:t>A</a:t>
            </a:r>
            <a:r>
              <a:rPr kumimoji="0" lang="zh-CN" altLang="en-US" sz="1200" b="1" dirty="0">
                <a:solidFill>
                  <a:srgbClr val="FF0000"/>
                </a:solidFill>
              </a:rPr>
              <a:t>到</a:t>
            </a:r>
            <a:r>
              <a:rPr kumimoji="0" lang="en-US" altLang="zh-CN" sz="1200" b="1" i="1" dirty="0">
                <a:solidFill>
                  <a:srgbClr val="FF0000"/>
                </a:solidFill>
              </a:rPr>
              <a:t>B</a:t>
            </a:r>
            <a:r>
              <a:rPr kumimoji="0" lang="zh-CN" altLang="en-US" sz="1200" b="1" dirty="0">
                <a:solidFill>
                  <a:srgbClr val="FF0000"/>
                </a:solidFill>
              </a:rPr>
              <a:t>的函数</a:t>
            </a:r>
            <a:r>
              <a:rPr kumimoji="0" lang="en-US" altLang="zh-CN" sz="1200" b="1" dirty="0"/>
              <a:t>, </a:t>
            </a:r>
            <a:r>
              <a:rPr kumimoji="0" lang="zh-CN" altLang="en-US" sz="1200" b="1" dirty="0"/>
              <a:t>记作 </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en-US" altLang="zh-CN" sz="1200" b="1" dirty="0"/>
              <a:t>. </a:t>
            </a:r>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endParaRPr kumimoji="0" lang="en-US" altLang="zh-CN" sz="1200"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r>
              <a:rPr lang="zh-CN" altLang="en-US" sz="1050" b="1" dirty="0"/>
              <a:t>每个映射都是满射当它的</a:t>
            </a:r>
            <a:r>
              <a:rPr lang="zh-CN" altLang="en-US" sz="1050" b="1" dirty="0">
                <a:hlinkClick r:id="rId3" tooltip="陪域">
                  <a:extLst>
                    <a:ext uri="{A12FA001-AC4F-418D-AE19-62706E023703}">
                      <ahyp:hlinkClr xmlns:ahyp="http://schemas.microsoft.com/office/drawing/2018/hyperlinkcolor" val="tx"/>
                    </a:ext>
                  </a:extLst>
                </a:hlinkClick>
              </a:rPr>
              <a:t>陪域</a:t>
            </a:r>
            <a:r>
              <a:rPr lang="zh-CN" altLang="en-US" sz="1050" b="1" dirty="0"/>
              <a:t>限制为它的</a:t>
            </a:r>
            <a:r>
              <a:rPr lang="zh-CN" altLang="en-US" sz="1050" b="1" dirty="0">
                <a:hlinkClick r:id="rId4" tooltip="值域">
                  <a:extLst>
                    <a:ext uri="{A12FA001-AC4F-418D-AE19-62706E023703}">
                      <ahyp:hlinkClr xmlns:ahyp="http://schemas.microsoft.com/office/drawing/2018/hyperlinkcolor" val="tx"/>
                    </a:ext>
                  </a:extLst>
                </a:hlinkClick>
              </a:rPr>
              <a:t>值域</a:t>
            </a:r>
            <a:r>
              <a:rPr lang="zh-CN" altLang="en-US" sz="1050" b="1" dirty="0"/>
              <a:t>时，每个单射导出一个到它的值域的</a:t>
            </a:r>
            <a:r>
              <a:rPr lang="zh-CN" altLang="en-US" sz="1050" b="1" dirty="0">
                <a:hlinkClick r:id="rId5" tooltip="双射">
                  <a:extLst>
                    <a:ext uri="{A12FA001-AC4F-418D-AE19-62706E023703}">
                      <ahyp:hlinkClr xmlns:ahyp="http://schemas.microsoft.com/office/drawing/2018/hyperlinkcolor" val="tx"/>
                    </a:ext>
                  </a:extLst>
                </a:hlinkClick>
              </a:rPr>
              <a:t>双射</a:t>
            </a:r>
            <a:r>
              <a:rPr lang="zh-CN" altLang="en-US" sz="1050" b="1" dirty="0"/>
              <a:t>。</a:t>
            </a:r>
            <a:endParaRPr lang="en-US" altLang="zh-CN" sz="105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19</a:t>
            </a:fld>
            <a:endParaRPr lang="zh-CN" altLang="en-US"/>
          </a:p>
        </p:txBody>
      </p:sp>
    </p:spTree>
    <p:extLst>
      <p:ext uri="{BB962C8B-B14F-4D97-AF65-F5344CB8AC3E}">
        <p14:creationId xmlns:p14="http://schemas.microsoft.com/office/powerpoint/2010/main" val="22931117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kumimoji="0" lang="zh-CN" altLang="en-US" sz="1200" b="1" dirty="0"/>
              <a:t>则称 </a:t>
            </a:r>
            <a:r>
              <a:rPr kumimoji="0" lang="en-US" altLang="zh-CN" sz="1200" b="1" i="1" dirty="0"/>
              <a:t>f </a:t>
            </a:r>
            <a:r>
              <a:rPr kumimoji="0" lang="zh-CN" altLang="en-US" sz="1200" b="1" dirty="0"/>
              <a:t>为</a:t>
            </a:r>
            <a:r>
              <a:rPr kumimoji="0" lang="zh-CN" altLang="en-US" sz="1200" b="1" dirty="0">
                <a:solidFill>
                  <a:srgbClr val="FF0000"/>
                </a:solidFill>
              </a:rPr>
              <a:t>从</a:t>
            </a:r>
            <a:r>
              <a:rPr kumimoji="0" lang="en-US" altLang="zh-CN" sz="1200" b="1" i="1" dirty="0">
                <a:solidFill>
                  <a:srgbClr val="FF0000"/>
                </a:solidFill>
              </a:rPr>
              <a:t>A</a:t>
            </a:r>
            <a:r>
              <a:rPr kumimoji="0" lang="zh-CN" altLang="en-US" sz="1200" b="1" dirty="0">
                <a:solidFill>
                  <a:srgbClr val="FF0000"/>
                </a:solidFill>
              </a:rPr>
              <a:t>到</a:t>
            </a:r>
            <a:r>
              <a:rPr kumimoji="0" lang="en-US" altLang="zh-CN" sz="1200" b="1" i="1" dirty="0">
                <a:solidFill>
                  <a:srgbClr val="FF0000"/>
                </a:solidFill>
              </a:rPr>
              <a:t>B</a:t>
            </a:r>
            <a:r>
              <a:rPr kumimoji="0" lang="zh-CN" altLang="en-US" sz="1200" b="1" dirty="0">
                <a:solidFill>
                  <a:srgbClr val="FF0000"/>
                </a:solidFill>
              </a:rPr>
              <a:t>的函数</a:t>
            </a:r>
            <a:r>
              <a:rPr kumimoji="0" lang="en-US" altLang="zh-CN" sz="1200" b="1" dirty="0"/>
              <a:t>, </a:t>
            </a:r>
            <a:r>
              <a:rPr kumimoji="0" lang="zh-CN" altLang="en-US" sz="1200" b="1" dirty="0"/>
              <a:t>记作 </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en-US" altLang="zh-CN" sz="1200" b="1" dirty="0"/>
              <a:t>. </a:t>
            </a:r>
          </a:p>
          <a:p>
            <a:pPr eaLnBrk="1" hangingPunct="1">
              <a:lnSpc>
                <a:spcPct val="120000"/>
              </a:lnSpc>
              <a:spcBef>
                <a:spcPct val="0"/>
              </a:spcBef>
              <a:buFontTx/>
              <a:buNone/>
            </a:pPr>
            <a:endParaRPr lang="en-US" altLang="zh-CN" b="1" dirty="0"/>
          </a:p>
          <a:p>
            <a:pPr eaLnBrk="1" hangingPunct="1">
              <a:lnSpc>
                <a:spcPct val="110000"/>
              </a:lnSpc>
              <a:spcBef>
                <a:spcPct val="0"/>
              </a:spcBef>
              <a:buClrTx/>
              <a:buSzTx/>
              <a:buFontTx/>
              <a:buNone/>
            </a:pPr>
            <a:r>
              <a:rPr lang="zh-CN" altLang="en-US" sz="1200" b="1" dirty="0">
                <a:solidFill>
                  <a:srgbClr val="00B0F0"/>
                </a:solidFill>
                <a:latin typeface="Times New Roman" panose="02020603050405020304" pitchFamily="18" charset="0"/>
              </a:rPr>
              <a:t>解：</a:t>
            </a:r>
            <a:r>
              <a:rPr lang="en-US" altLang="zh-CN" sz="1200" b="1" i="1" dirty="0">
                <a:latin typeface="Times New Roman" panose="02020603050405020304" pitchFamily="18" charset="0"/>
              </a:rPr>
              <a:t>x</a:t>
            </a:r>
            <a:r>
              <a:rPr lang="zh-CN" altLang="en-US" sz="1200" b="1" dirty="0">
                <a:latin typeface="Times New Roman" panose="02020603050405020304" pitchFamily="18" charset="0"/>
              </a:rPr>
              <a:t>分别取</a:t>
            </a:r>
            <a:r>
              <a:rPr lang="en-US" altLang="zh-CN" sz="1200" b="1" dirty="0">
                <a:latin typeface="Times New Roman" panose="02020603050405020304" pitchFamily="18" charset="0"/>
              </a:rPr>
              <a:t>0</a:t>
            </a:r>
            <a:r>
              <a:rPr lang="en-US" altLang="zh-CN" b="1" dirty="0">
                <a:latin typeface="Times New Roman" panose="02020603050405020304" pitchFamily="18" charset="0"/>
              </a:rPr>
              <a:t>,2</a:t>
            </a:r>
            <a:r>
              <a:rPr lang="zh-CN" altLang="en-US" b="1" dirty="0">
                <a:latin typeface="Times New Roman" panose="02020603050405020304" pitchFamily="18" charset="0"/>
              </a:rPr>
              <a:t>时，</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)=-1</a:t>
            </a:r>
            <a:r>
              <a:rPr lang="zh-CN" altLang="en-US" sz="1200" b="1" dirty="0">
                <a:latin typeface="Times New Roman" panose="02020603050405020304" pitchFamily="18" charset="0"/>
              </a:rPr>
              <a:t>，不单射；</a:t>
            </a:r>
            <a:endParaRPr lang="en-US" altLang="zh-CN" sz="1200" b="1" dirty="0">
              <a:latin typeface="Times New Roman" panose="02020603050405020304" pitchFamily="18" charset="0"/>
            </a:endParaRPr>
          </a:p>
          <a:p>
            <a:pPr marL="0" indent="0">
              <a:lnSpc>
                <a:spcPct val="130000"/>
              </a:lnSpc>
              <a:spcBef>
                <a:spcPct val="0"/>
              </a:spcBef>
              <a:buClrTx/>
              <a:buSzTx/>
              <a:buNone/>
            </a:pPr>
            <a:r>
              <a:rPr lang="zh-CN" altLang="en-US" sz="1200" b="1" dirty="0">
                <a:latin typeface="Times New Roman" panose="02020603050405020304" pitchFamily="18" charset="0"/>
              </a:rPr>
              <a:t>        函数是一个开口向下的抛物线，</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=1</a:t>
            </a:r>
            <a:r>
              <a:rPr lang="zh-CN" altLang="en-US" sz="1200" b="1" dirty="0">
                <a:latin typeface="Times New Roman" panose="02020603050405020304" pitchFamily="18" charset="0"/>
              </a:rPr>
              <a:t>取得极大值</a:t>
            </a:r>
            <a:r>
              <a:rPr lang="en-US" altLang="zh-CN" sz="1200" b="1" dirty="0">
                <a:latin typeface="Times New Roman" panose="02020603050405020304" pitchFamily="18" charset="0"/>
              </a:rPr>
              <a:t>0</a:t>
            </a:r>
            <a:r>
              <a:rPr lang="zh-CN" altLang="en-US" sz="1200" b="1" dirty="0">
                <a:latin typeface="Times New Roman" panose="02020603050405020304" pitchFamily="18" charset="0"/>
              </a:rPr>
              <a:t>，</a:t>
            </a:r>
            <a:r>
              <a:rPr lang="en-US" altLang="zh-CN" sz="1200" b="1" dirty="0">
                <a:latin typeface="Times New Roman" panose="02020603050405020304" pitchFamily="18" charset="0"/>
              </a:rPr>
              <a:t>  </a:t>
            </a:r>
            <a:r>
              <a:rPr lang="zh-CN" altLang="zh-CN" b="1" dirty="0">
                <a:latin typeface="Times New Roman" panose="02020603050405020304" pitchFamily="18" charset="0"/>
              </a:rPr>
              <a:t>不能映射到大于</a:t>
            </a:r>
            <a:r>
              <a:rPr lang="en-US" altLang="zh-CN" b="1" dirty="0">
                <a:latin typeface="Times New Roman" panose="02020603050405020304" pitchFamily="18" charset="0"/>
              </a:rPr>
              <a:t>0</a:t>
            </a:r>
            <a:r>
              <a:rPr lang="zh-CN" altLang="zh-CN" b="1" dirty="0">
                <a:latin typeface="Times New Roman" panose="02020603050405020304" pitchFamily="18" charset="0"/>
              </a:rPr>
              <a:t>的任何实数</a:t>
            </a:r>
            <a:r>
              <a:rPr lang="en-US" altLang="zh-CN" b="1" dirty="0">
                <a:latin typeface="Times New Roman" panose="02020603050405020304" pitchFamily="18" charset="0"/>
              </a:rPr>
              <a:t> </a:t>
            </a:r>
            <a:r>
              <a:rPr lang="zh-CN" altLang="en-US" b="1" dirty="0">
                <a:latin typeface="Times New Roman" panose="02020603050405020304" pitchFamily="18" charset="0"/>
              </a:rPr>
              <a:t>，</a:t>
            </a:r>
            <a:r>
              <a:rPr lang="zh-CN" altLang="en-US" sz="1200" b="1" dirty="0">
                <a:latin typeface="Times New Roman" panose="02020603050405020304" pitchFamily="18" charset="0"/>
              </a:rPr>
              <a:t>不满射、不</a:t>
            </a:r>
            <a:r>
              <a:rPr kumimoji="0" lang="zh-CN" altLang="en-US" sz="1200" b="1" dirty="0"/>
              <a:t>双</a:t>
            </a:r>
            <a:r>
              <a:rPr lang="zh-CN" altLang="en-US" sz="1200" b="1" dirty="0">
                <a:latin typeface="Times New Roman" panose="02020603050405020304" pitchFamily="18" charset="0"/>
              </a:rPr>
              <a:t>射。</a:t>
            </a:r>
            <a:endParaRPr kumimoji="0" lang="en-US" altLang="zh-CN" sz="1200"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r>
              <a:rPr lang="zh-CN" altLang="en-US" sz="1050" b="1" dirty="0"/>
              <a:t>每个映射都是满射当它的</a:t>
            </a:r>
            <a:r>
              <a:rPr lang="zh-CN" altLang="en-US" sz="1050" b="1" dirty="0">
                <a:hlinkClick r:id="rId3" tooltip="陪域">
                  <a:extLst>
                    <a:ext uri="{A12FA001-AC4F-418D-AE19-62706E023703}">
                      <ahyp:hlinkClr xmlns:ahyp="http://schemas.microsoft.com/office/drawing/2018/hyperlinkcolor" val="tx"/>
                    </a:ext>
                  </a:extLst>
                </a:hlinkClick>
              </a:rPr>
              <a:t>陪域</a:t>
            </a:r>
            <a:r>
              <a:rPr lang="zh-CN" altLang="en-US" sz="1050" b="1" dirty="0"/>
              <a:t>限制为它的</a:t>
            </a:r>
            <a:r>
              <a:rPr lang="zh-CN" altLang="en-US" sz="1050" b="1" dirty="0">
                <a:hlinkClick r:id="rId4" tooltip="值域">
                  <a:extLst>
                    <a:ext uri="{A12FA001-AC4F-418D-AE19-62706E023703}">
                      <ahyp:hlinkClr xmlns:ahyp="http://schemas.microsoft.com/office/drawing/2018/hyperlinkcolor" val="tx"/>
                    </a:ext>
                  </a:extLst>
                </a:hlinkClick>
              </a:rPr>
              <a:t>值域</a:t>
            </a:r>
            <a:r>
              <a:rPr lang="zh-CN" altLang="en-US" sz="1050" b="1" dirty="0"/>
              <a:t>时，每个单射导出一个到它的值域的</a:t>
            </a:r>
            <a:r>
              <a:rPr lang="zh-CN" altLang="en-US" sz="1050" b="1" dirty="0">
                <a:hlinkClick r:id="rId5" tooltip="双射">
                  <a:extLst>
                    <a:ext uri="{A12FA001-AC4F-418D-AE19-62706E023703}">
                      <ahyp:hlinkClr xmlns:ahyp="http://schemas.microsoft.com/office/drawing/2018/hyperlinkcolor" val="tx"/>
                    </a:ext>
                  </a:extLst>
                </a:hlinkClick>
              </a:rPr>
              <a:t>双射</a:t>
            </a:r>
            <a:r>
              <a:rPr lang="zh-CN" altLang="en-US" sz="1050" b="1" dirty="0"/>
              <a:t>。</a:t>
            </a:r>
            <a:endParaRPr lang="en-US" altLang="zh-CN" sz="105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20</a:t>
            </a:fld>
            <a:endParaRPr lang="zh-CN" altLang="en-US"/>
          </a:p>
        </p:txBody>
      </p:sp>
    </p:spTree>
    <p:extLst>
      <p:ext uri="{BB962C8B-B14F-4D97-AF65-F5344CB8AC3E}">
        <p14:creationId xmlns:p14="http://schemas.microsoft.com/office/powerpoint/2010/main" val="17585740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kumimoji="0" lang="zh-CN" altLang="en-US" sz="1200" b="1" dirty="0"/>
              <a:t>则称 </a:t>
            </a:r>
            <a:r>
              <a:rPr kumimoji="0" lang="en-US" altLang="zh-CN" sz="1200" b="1" i="1" dirty="0"/>
              <a:t>f </a:t>
            </a:r>
            <a:r>
              <a:rPr kumimoji="0" lang="zh-CN" altLang="en-US" sz="1200" b="1" dirty="0"/>
              <a:t>为</a:t>
            </a:r>
            <a:r>
              <a:rPr kumimoji="0" lang="zh-CN" altLang="en-US" sz="1200" b="1" dirty="0">
                <a:solidFill>
                  <a:srgbClr val="FF0000"/>
                </a:solidFill>
              </a:rPr>
              <a:t>从</a:t>
            </a:r>
            <a:r>
              <a:rPr kumimoji="0" lang="en-US" altLang="zh-CN" sz="1200" b="1" i="1" dirty="0">
                <a:solidFill>
                  <a:srgbClr val="FF0000"/>
                </a:solidFill>
              </a:rPr>
              <a:t>A</a:t>
            </a:r>
            <a:r>
              <a:rPr kumimoji="0" lang="zh-CN" altLang="en-US" sz="1200" b="1" dirty="0">
                <a:solidFill>
                  <a:srgbClr val="FF0000"/>
                </a:solidFill>
              </a:rPr>
              <a:t>到</a:t>
            </a:r>
            <a:r>
              <a:rPr kumimoji="0" lang="en-US" altLang="zh-CN" sz="1200" b="1" i="1" dirty="0">
                <a:solidFill>
                  <a:srgbClr val="FF0000"/>
                </a:solidFill>
              </a:rPr>
              <a:t>B</a:t>
            </a:r>
            <a:r>
              <a:rPr kumimoji="0" lang="zh-CN" altLang="en-US" sz="1200" b="1" dirty="0">
                <a:solidFill>
                  <a:srgbClr val="FF0000"/>
                </a:solidFill>
              </a:rPr>
              <a:t>的函数</a:t>
            </a:r>
            <a:r>
              <a:rPr kumimoji="0" lang="en-US" altLang="zh-CN" sz="1200" b="1" dirty="0"/>
              <a:t>, </a:t>
            </a:r>
            <a:r>
              <a:rPr kumimoji="0" lang="zh-CN" altLang="en-US" sz="1200" b="1" dirty="0"/>
              <a:t>记作 </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en-US" altLang="zh-CN" sz="1200" b="1" dirty="0"/>
              <a:t>. </a:t>
            </a:r>
          </a:p>
          <a:p>
            <a:pPr eaLnBrk="1" hangingPunct="1">
              <a:lnSpc>
                <a:spcPct val="120000"/>
              </a:lnSpc>
              <a:spcBef>
                <a:spcPct val="0"/>
              </a:spcBef>
              <a:buFontTx/>
              <a:buNone/>
            </a:pPr>
            <a:endParaRPr lang="en-US" altLang="zh-CN" b="1" dirty="0"/>
          </a:p>
          <a:p>
            <a:pPr marL="0" indent="0" eaLnBrk="1" hangingPunct="1">
              <a:lnSpc>
                <a:spcPct val="130000"/>
              </a:lnSpc>
              <a:spcBef>
                <a:spcPct val="0"/>
              </a:spcBef>
              <a:buFontTx/>
              <a:buNone/>
            </a:pPr>
            <a:r>
              <a:rPr lang="zh-CN" altLang="en-US" b="1" dirty="0">
                <a:latin typeface="Times New Roman" panose="02020603050405020304" pitchFamily="18" charset="0"/>
              </a:rPr>
              <a:t>（</a:t>
            </a:r>
            <a:r>
              <a:rPr lang="en-US" altLang="zh-CN" b="1" dirty="0">
                <a:latin typeface="Times New Roman" panose="02020603050405020304" pitchFamily="18" charset="0"/>
              </a:rPr>
              <a:t>2</a:t>
            </a:r>
            <a:r>
              <a:rPr lang="zh-CN" altLang="en-US" b="1" dirty="0">
                <a:latin typeface="Times New Roman" panose="02020603050405020304" pitchFamily="18" charset="0"/>
              </a:rPr>
              <a:t>）</a:t>
            </a:r>
            <a:r>
              <a:rPr lang="en-US" altLang="zh-CN" b="1" dirty="0">
                <a:latin typeface="Times New Roman" panose="02020603050405020304" pitchFamily="18" charset="0"/>
              </a:rPr>
              <a:t>f : Z</a:t>
            </a:r>
            <a:r>
              <a:rPr lang="en-US" altLang="zh-CN" b="1" baseline="30000" dirty="0"/>
              <a:t>+</a:t>
            </a:r>
            <a:r>
              <a:rPr lang="en-US" altLang="zh-CN" b="1" dirty="0">
                <a:latin typeface="Times New Roman" panose="02020603050405020304" pitchFamily="18" charset="0"/>
              </a:rPr>
              <a:t>→R, f(x)=</a:t>
            </a:r>
            <a:r>
              <a:rPr lang="en-US" altLang="zh-CN" b="1" dirty="0" err="1">
                <a:latin typeface="Times New Roman" panose="02020603050405020304" pitchFamily="18" charset="0"/>
              </a:rPr>
              <a:t>lnx</a:t>
            </a:r>
            <a:r>
              <a:rPr lang="en-US" altLang="zh-CN" b="1" dirty="0">
                <a:latin typeface="Times New Roman" panose="02020603050405020304" pitchFamily="18" charset="0"/>
              </a:rPr>
              <a:t>, Z</a:t>
            </a:r>
            <a:r>
              <a:rPr lang="en-US" altLang="zh-CN" b="1" baseline="30000" dirty="0"/>
              <a:t>+</a:t>
            </a:r>
            <a:r>
              <a:rPr lang="zh-CN" altLang="en-US" b="1" dirty="0">
                <a:latin typeface="Times New Roman" panose="02020603050405020304" pitchFamily="18" charset="0"/>
              </a:rPr>
              <a:t>为正整数集</a:t>
            </a:r>
            <a:endParaRPr lang="en-US" altLang="zh-CN" b="1" dirty="0">
              <a:latin typeface="Times New Roman" panose="02020603050405020304" pitchFamily="18" charset="0"/>
            </a:endParaRPr>
          </a:p>
          <a:p>
            <a:pPr>
              <a:lnSpc>
                <a:spcPct val="110000"/>
              </a:lnSpc>
              <a:spcBef>
                <a:spcPct val="0"/>
              </a:spcBef>
              <a:buNone/>
            </a:pPr>
            <a:r>
              <a:rPr lang="zh-CN" altLang="en-US" sz="1800" b="1" dirty="0">
                <a:solidFill>
                  <a:srgbClr val="00B0F0"/>
                </a:solidFill>
                <a:latin typeface="Times New Roman" panose="02020603050405020304" pitchFamily="18" charset="0"/>
              </a:rPr>
              <a:t>解： </a:t>
            </a:r>
            <a:r>
              <a:rPr lang="en-US" altLang="zh-CN" b="1" dirty="0">
                <a:latin typeface="Times New Roman" panose="02020603050405020304" pitchFamily="18" charset="0"/>
              </a:rPr>
              <a:t>f(x)</a:t>
            </a:r>
            <a:r>
              <a:rPr lang="zh-CN" altLang="en-US" b="1" dirty="0">
                <a:latin typeface="Times New Roman" panose="02020603050405020304" pitchFamily="18" charset="0"/>
              </a:rPr>
              <a:t>是单调上升</a:t>
            </a:r>
            <a:r>
              <a:rPr lang="en-US" altLang="zh-CN" b="1" dirty="0">
                <a:latin typeface="Times New Roman" panose="02020603050405020304" pitchFamily="18" charset="0"/>
              </a:rPr>
              <a:t>, </a:t>
            </a:r>
            <a:r>
              <a:rPr lang="zh-CN" altLang="en-US" b="1" dirty="0">
                <a:latin typeface="Times New Roman" panose="02020603050405020304" pitchFamily="18" charset="0"/>
              </a:rPr>
              <a:t>是单射</a:t>
            </a:r>
            <a:r>
              <a:rPr lang="en-US" altLang="zh-CN" b="1" dirty="0">
                <a:latin typeface="Times New Roman" panose="02020603050405020304" pitchFamily="18" charset="0"/>
              </a:rPr>
              <a:t>. </a:t>
            </a:r>
            <a:r>
              <a:rPr lang="zh-CN" altLang="en-US" b="1" dirty="0">
                <a:latin typeface="Times New Roman" panose="02020603050405020304" pitchFamily="18" charset="0"/>
              </a:rPr>
              <a:t>但不满射</a:t>
            </a:r>
            <a:r>
              <a:rPr lang="en-US" altLang="zh-CN" b="1" dirty="0">
                <a:latin typeface="Times New Roman" panose="02020603050405020304" pitchFamily="18" charset="0"/>
              </a:rPr>
              <a:t>,</a:t>
            </a:r>
            <a:r>
              <a:rPr lang="en-US" altLang="zh-CN" b="1" dirty="0">
                <a:solidFill>
                  <a:schemeClr val="bg2"/>
                </a:solidFill>
                <a:latin typeface="Times New Roman" panose="02020603050405020304" pitchFamily="18" charset="0"/>
              </a:rPr>
              <a:t> </a:t>
            </a:r>
            <a:r>
              <a:rPr lang="en-US" altLang="zh-CN" b="1" dirty="0" err="1">
                <a:latin typeface="Times New Roman" panose="02020603050405020304" pitchFamily="18" charset="0"/>
              </a:rPr>
              <a:t>ranf</a:t>
            </a:r>
            <a:r>
              <a:rPr lang="en-US" altLang="zh-CN" b="1" dirty="0">
                <a:latin typeface="Times New Roman" panose="02020603050405020304" pitchFamily="18" charset="0"/>
              </a:rPr>
              <a:t>={ln1, ln2, …}</a:t>
            </a:r>
            <a:r>
              <a:rPr lang="zh-CN" altLang="en-US" b="1" dirty="0">
                <a:latin typeface="Times New Roman" panose="02020603050405020304" pitchFamily="18" charset="0"/>
              </a:rPr>
              <a:t>，无法覆盖实数集</a:t>
            </a:r>
            <a:r>
              <a:rPr lang="en-US" altLang="zh-CN" b="1" dirty="0">
                <a:latin typeface="Times New Roman" panose="02020603050405020304" pitchFamily="18" charset="0"/>
              </a:rPr>
              <a:t>R</a:t>
            </a:r>
            <a:r>
              <a:rPr lang="zh-CN" altLang="en-US" b="1" dirty="0">
                <a:latin typeface="Times New Roman" panose="02020603050405020304" pitchFamily="18" charset="0"/>
              </a:rPr>
              <a:t>上的所有值。</a:t>
            </a:r>
            <a:endParaRPr kumimoji="0" lang="en-US" altLang="zh-CN" sz="1200"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r>
              <a:rPr lang="zh-CN" altLang="en-US" sz="1050" b="1" dirty="0"/>
              <a:t>每个映射都是满射当它的</a:t>
            </a:r>
            <a:r>
              <a:rPr lang="zh-CN" altLang="en-US" sz="1050" b="1" dirty="0">
                <a:hlinkClick r:id="rId3" tooltip="陪域">
                  <a:extLst>
                    <a:ext uri="{A12FA001-AC4F-418D-AE19-62706E023703}">
                      <ahyp:hlinkClr xmlns:ahyp="http://schemas.microsoft.com/office/drawing/2018/hyperlinkcolor" val="tx"/>
                    </a:ext>
                  </a:extLst>
                </a:hlinkClick>
              </a:rPr>
              <a:t>陪域</a:t>
            </a:r>
            <a:r>
              <a:rPr lang="zh-CN" altLang="en-US" sz="1050" b="1" dirty="0"/>
              <a:t>限制为它的</a:t>
            </a:r>
            <a:r>
              <a:rPr lang="zh-CN" altLang="en-US" sz="1050" b="1" dirty="0">
                <a:hlinkClick r:id="rId4" tooltip="值域">
                  <a:extLst>
                    <a:ext uri="{A12FA001-AC4F-418D-AE19-62706E023703}">
                      <ahyp:hlinkClr xmlns:ahyp="http://schemas.microsoft.com/office/drawing/2018/hyperlinkcolor" val="tx"/>
                    </a:ext>
                  </a:extLst>
                </a:hlinkClick>
              </a:rPr>
              <a:t>值域</a:t>
            </a:r>
            <a:r>
              <a:rPr lang="zh-CN" altLang="en-US" sz="1050" b="1" dirty="0"/>
              <a:t>时，每个单射导出一个到它的值域的</a:t>
            </a:r>
            <a:r>
              <a:rPr lang="zh-CN" altLang="en-US" sz="1050" b="1" dirty="0">
                <a:hlinkClick r:id="rId5" tooltip="双射">
                  <a:extLst>
                    <a:ext uri="{A12FA001-AC4F-418D-AE19-62706E023703}">
                      <ahyp:hlinkClr xmlns:ahyp="http://schemas.microsoft.com/office/drawing/2018/hyperlinkcolor" val="tx"/>
                    </a:ext>
                  </a:extLst>
                </a:hlinkClick>
              </a:rPr>
              <a:t>双射</a:t>
            </a:r>
            <a:r>
              <a:rPr lang="zh-CN" altLang="en-US" sz="1050" b="1" dirty="0"/>
              <a:t>。</a:t>
            </a:r>
            <a:endParaRPr lang="en-US" altLang="zh-CN" sz="105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21</a:t>
            </a:fld>
            <a:endParaRPr lang="zh-CN" altLang="en-US"/>
          </a:p>
        </p:txBody>
      </p:sp>
    </p:spTree>
    <p:extLst>
      <p:ext uri="{BB962C8B-B14F-4D97-AF65-F5344CB8AC3E}">
        <p14:creationId xmlns:p14="http://schemas.microsoft.com/office/powerpoint/2010/main" val="17704677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kumimoji="0" lang="zh-CN" altLang="en-US" sz="1200" b="1" dirty="0"/>
              <a:t>则称 </a:t>
            </a:r>
            <a:r>
              <a:rPr kumimoji="0" lang="en-US" altLang="zh-CN" sz="1200" b="1" i="1" dirty="0"/>
              <a:t>f </a:t>
            </a:r>
            <a:r>
              <a:rPr kumimoji="0" lang="zh-CN" altLang="en-US" sz="1200" b="1" dirty="0"/>
              <a:t>为</a:t>
            </a:r>
            <a:r>
              <a:rPr kumimoji="0" lang="zh-CN" altLang="en-US" sz="1200" b="1" dirty="0">
                <a:solidFill>
                  <a:srgbClr val="FF0000"/>
                </a:solidFill>
              </a:rPr>
              <a:t>从</a:t>
            </a:r>
            <a:r>
              <a:rPr kumimoji="0" lang="en-US" altLang="zh-CN" sz="1200" b="1" i="1" dirty="0">
                <a:solidFill>
                  <a:srgbClr val="FF0000"/>
                </a:solidFill>
              </a:rPr>
              <a:t>A</a:t>
            </a:r>
            <a:r>
              <a:rPr kumimoji="0" lang="zh-CN" altLang="en-US" sz="1200" b="1" dirty="0">
                <a:solidFill>
                  <a:srgbClr val="FF0000"/>
                </a:solidFill>
              </a:rPr>
              <a:t>到</a:t>
            </a:r>
            <a:r>
              <a:rPr kumimoji="0" lang="en-US" altLang="zh-CN" sz="1200" b="1" i="1" dirty="0">
                <a:solidFill>
                  <a:srgbClr val="FF0000"/>
                </a:solidFill>
              </a:rPr>
              <a:t>B</a:t>
            </a:r>
            <a:r>
              <a:rPr kumimoji="0" lang="zh-CN" altLang="en-US" sz="1200" b="1" dirty="0">
                <a:solidFill>
                  <a:srgbClr val="FF0000"/>
                </a:solidFill>
              </a:rPr>
              <a:t>的函数</a:t>
            </a:r>
            <a:r>
              <a:rPr kumimoji="0" lang="en-US" altLang="zh-CN" sz="1200" b="1" dirty="0"/>
              <a:t>, </a:t>
            </a:r>
            <a:r>
              <a:rPr kumimoji="0" lang="zh-CN" altLang="en-US" sz="1200" b="1" dirty="0"/>
              <a:t>记作 </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en-US" altLang="zh-CN" sz="1200" b="1" dirty="0"/>
              <a:t>. </a:t>
            </a:r>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endParaRPr kumimoji="0" lang="en-US" altLang="zh-CN" sz="1200"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r>
              <a:rPr lang="zh-CN" altLang="en-US" sz="1050" b="1" dirty="0"/>
              <a:t>每个映射都是满射当它的</a:t>
            </a:r>
            <a:r>
              <a:rPr lang="zh-CN" altLang="en-US" sz="1050" b="1" dirty="0">
                <a:hlinkClick r:id="rId3" tooltip="陪域">
                  <a:extLst>
                    <a:ext uri="{A12FA001-AC4F-418D-AE19-62706E023703}">
                      <ahyp:hlinkClr xmlns:ahyp="http://schemas.microsoft.com/office/drawing/2018/hyperlinkcolor" val="tx"/>
                    </a:ext>
                  </a:extLst>
                </a:hlinkClick>
              </a:rPr>
              <a:t>陪域</a:t>
            </a:r>
            <a:r>
              <a:rPr lang="zh-CN" altLang="en-US" sz="1050" b="1" dirty="0"/>
              <a:t>限制为它的</a:t>
            </a:r>
            <a:r>
              <a:rPr lang="zh-CN" altLang="en-US" sz="1050" b="1" dirty="0">
                <a:hlinkClick r:id="rId4" tooltip="值域">
                  <a:extLst>
                    <a:ext uri="{A12FA001-AC4F-418D-AE19-62706E023703}">
                      <ahyp:hlinkClr xmlns:ahyp="http://schemas.microsoft.com/office/drawing/2018/hyperlinkcolor" val="tx"/>
                    </a:ext>
                  </a:extLst>
                </a:hlinkClick>
              </a:rPr>
              <a:t>值域</a:t>
            </a:r>
            <a:r>
              <a:rPr lang="zh-CN" altLang="en-US" sz="1050" b="1" dirty="0"/>
              <a:t>时，每个单射导出一个到它的值域的</a:t>
            </a:r>
            <a:r>
              <a:rPr lang="zh-CN" altLang="en-US" sz="1050" b="1" dirty="0">
                <a:hlinkClick r:id="rId5" tooltip="双射">
                  <a:extLst>
                    <a:ext uri="{A12FA001-AC4F-418D-AE19-62706E023703}">
                      <ahyp:hlinkClr xmlns:ahyp="http://schemas.microsoft.com/office/drawing/2018/hyperlinkcolor" val="tx"/>
                    </a:ext>
                  </a:extLst>
                </a:hlinkClick>
              </a:rPr>
              <a:t>双射</a:t>
            </a:r>
            <a:r>
              <a:rPr lang="zh-CN" altLang="en-US" sz="1050" b="1" dirty="0"/>
              <a:t>。</a:t>
            </a:r>
            <a:endParaRPr lang="en-US" altLang="zh-CN" sz="1050" b="1" dirty="0"/>
          </a:p>
          <a:p>
            <a:r>
              <a:rPr lang="zh-CN" altLang="en-US" b="1" dirty="0">
                <a:latin typeface="Times New Roman" panose="02020603050405020304" pitchFamily="18" charset="0"/>
              </a:rPr>
              <a:t>满射</a:t>
            </a:r>
            <a:r>
              <a:rPr lang="en-US" altLang="zh-CN" b="1" dirty="0">
                <a:latin typeface="Times New Roman" panose="02020603050405020304" pitchFamily="18" charset="0"/>
              </a:rPr>
              <a:t>, </a:t>
            </a:r>
            <a:r>
              <a:rPr lang="zh-CN" altLang="en-US" b="1" dirty="0">
                <a:latin typeface="Times New Roman" panose="02020603050405020304" pitchFamily="18" charset="0"/>
              </a:rPr>
              <a:t>但不单射</a:t>
            </a:r>
            <a:r>
              <a:rPr lang="en-US" altLang="zh-CN" b="1" dirty="0">
                <a:latin typeface="Times New Roman" panose="02020603050405020304" pitchFamily="18" charset="0"/>
              </a:rPr>
              <a:t>, </a:t>
            </a:r>
            <a:r>
              <a:rPr lang="zh-CN" altLang="en-US" b="1" dirty="0">
                <a:latin typeface="Times New Roman" panose="02020603050405020304" pitchFamily="18" charset="0"/>
              </a:rPr>
              <a:t>例如 </a:t>
            </a:r>
            <a:r>
              <a:rPr lang="en-US" altLang="zh-CN" b="1" dirty="0">
                <a:latin typeface="Times New Roman" panose="02020603050405020304" pitchFamily="18" charset="0"/>
              </a:rPr>
              <a:t>f(1.5)=f(1.2)=1.</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22</a:t>
            </a:fld>
            <a:endParaRPr lang="zh-CN" altLang="en-US"/>
          </a:p>
        </p:txBody>
      </p:sp>
    </p:spTree>
    <p:extLst>
      <p:ext uri="{BB962C8B-B14F-4D97-AF65-F5344CB8AC3E}">
        <p14:creationId xmlns:p14="http://schemas.microsoft.com/office/powerpoint/2010/main" val="28045626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kumimoji="0" lang="zh-CN" altLang="en-US" sz="1200" b="1" dirty="0"/>
              <a:t>则称 </a:t>
            </a:r>
            <a:r>
              <a:rPr kumimoji="0" lang="en-US" altLang="zh-CN" sz="1200" b="1" i="1" dirty="0"/>
              <a:t>f </a:t>
            </a:r>
            <a:r>
              <a:rPr kumimoji="0" lang="zh-CN" altLang="en-US" sz="1200" b="1" dirty="0"/>
              <a:t>为</a:t>
            </a:r>
            <a:r>
              <a:rPr kumimoji="0" lang="zh-CN" altLang="en-US" sz="1200" b="1" dirty="0">
                <a:solidFill>
                  <a:srgbClr val="FF0000"/>
                </a:solidFill>
              </a:rPr>
              <a:t>从</a:t>
            </a:r>
            <a:r>
              <a:rPr kumimoji="0" lang="en-US" altLang="zh-CN" sz="1200" b="1" i="1" dirty="0">
                <a:solidFill>
                  <a:srgbClr val="FF0000"/>
                </a:solidFill>
              </a:rPr>
              <a:t>A</a:t>
            </a:r>
            <a:r>
              <a:rPr kumimoji="0" lang="zh-CN" altLang="en-US" sz="1200" b="1" dirty="0">
                <a:solidFill>
                  <a:srgbClr val="FF0000"/>
                </a:solidFill>
              </a:rPr>
              <a:t>到</a:t>
            </a:r>
            <a:r>
              <a:rPr kumimoji="0" lang="en-US" altLang="zh-CN" sz="1200" b="1" i="1" dirty="0">
                <a:solidFill>
                  <a:srgbClr val="FF0000"/>
                </a:solidFill>
              </a:rPr>
              <a:t>B</a:t>
            </a:r>
            <a:r>
              <a:rPr kumimoji="0" lang="zh-CN" altLang="en-US" sz="1200" b="1" dirty="0">
                <a:solidFill>
                  <a:srgbClr val="FF0000"/>
                </a:solidFill>
              </a:rPr>
              <a:t>的函数</a:t>
            </a:r>
            <a:r>
              <a:rPr kumimoji="0" lang="en-US" altLang="zh-CN" sz="1200" b="1" dirty="0"/>
              <a:t>, </a:t>
            </a:r>
            <a:r>
              <a:rPr kumimoji="0" lang="zh-CN" altLang="en-US" sz="1200" b="1" dirty="0"/>
              <a:t>记作 </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en-US" altLang="zh-CN" sz="1200" b="1" dirty="0"/>
              <a:t>. </a:t>
            </a:r>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endParaRPr kumimoji="0" lang="en-US" altLang="zh-CN" sz="1200"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r>
              <a:rPr lang="zh-CN" altLang="en-US" sz="1050" b="1" dirty="0"/>
              <a:t>每个映射都是满射当它的</a:t>
            </a:r>
            <a:r>
              <a:rPr lang="zh-CN" altLang="en-US" sz="1050" b="1" dirty="0">
                <a:hlinkClick r:id="rId3" tooltip="陪域">
                  <a:extLst>
                    <a:ext uri="{A12FA001-AC4F-418D-AE19-62706E023703}">
                      <ahyp:hlinkClr xmlns:ahyp="http://schemas.microsoft.com/office/drawing/2018/hyperlinkcolor" val="tx"/>
                    </a:ext>
                  </a:extLst>
                </a:hlinkClick>
              </a:rPr>
              <a:t>陪域</a:t>
            </a:r>
            <a:r>
              <a:rPr lang="zh-CN" altLang="en-US" sz="1050" b="1" dirty="0"/>
              <a:t>限制为它的</a:t>
            </a:r>
            <a:r>
              <a:rPr lang="zh-CN" altLang="en-US" sz="1050" b="1" dirty="0">
                <a:hlinkClick r:id="rId4" tooltip="值域">
                  <a:extLst>
                    <a:ext uri="{A12FA001-AC4F-418D-AE19-62706E023703}">
                      <ahyp:hlinkClr xmlns:ahyp="http://schemas.microsoft.com/office/drawing/2018/hyperlinkcolor" val="tx"/>
                    </a:ext>
                  </a:extLst>
                </a:hlinkClick>
              </a:rPr>
              <a:t>值域</a:t>
            </a:r>
            <a:r>
              <a:rPr lang="zh-CN" altLang="en-US" sz="1050" b="1" dirty="0"/>
              <a:t>时，每个单射导出一个到它的值域的</a:t>
            </a:r>
            <a:r>
              <a:rPr lang="zh-CN" altLang="en-US" sz="1050" b="1" dirty="0">
                <a:hlinkClick r:id="rId5" tooltip="双射">
                  <a:extLst>
                    <a:ext uri="{A12FA001-AC4F-418D-AE19-62706E023703}">
                      <ahyp:hlinkClr xmlns:ahyp="http://schemas.microsoft.com/office/drawing/2018/hyperlinkcolor" val="tx"/>
                    </a:ext>
                  </a:extLst>
                </a:hlinkClick>
              </a:rPr>
              <a:t>双射</a:t>
            </a:r>
            <a:r>
              <a:rPr lang="zh-CN" altLang="en-US" sz="1050" b="1" dirty="0"/>
              <a:t>。</a:t>
            </a:r>
            <a:endParaRPr lang="en-US" altLang="zh-CN" sz="105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23</a:t>
            </a:fld>
            <a:endParaRPr lang="zh-CN" altLang="en-US"/>
          </a:p>
        </p:txBody>
      </p:sp>
    </p:spTree>
    <p:extLst>
      <p:ext uri="{BB962C8B-B14F-4D97-AF65-F5344CB8AC3E}">
        <p14:creationId xmlns:p14="http://schemas.microsoft.com/office/powerpoint/2010/main" val="38318439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kumimoji="0" lang="zh-CN" altLang="en-US" sz="1200" b="1" dirty="0"/>
              <a:t>则称 </a:t>
            </a:r>
            <a:r>
              <a:rPr kumimoji="0" lang="en-US" altLang="zh-CN" sz="1200" b="1" i="1" dirty="0"/>
              <a:t>f </a:t>
            </a:r>
            <a:r>
              <a:rPr kumimoji="0" lang="zh-CN" altLang="en-US" sz="1200" b="1" dirty="0"/>
              <a:t>为</a:t>
            </a:r>
            <a:r>
              <a:rPr kumimoji="0" lang="zh-CN" altLang="en-US" sz="1200" b="1" dirty="0">
                <a:solidFill>
                  <a:srgbClr val="FF0000"/>
                </a:solidFill>
              </a:rPr>
              <a:t>从</a:t>
            </a:r>
            <a:r>
              <a:rPr kumimoji="0" lang="en-US" altLang="zh-CN" sz="1200" b="1" i="1" dirty="0">
                <a:solidFill>
                  <a:srgbClr val="FF0000"/>
                </a:solidFill>
              </a:rPr>
              <a:t>A</a:t>
            </a:r>
            <a:r>
              <a:rPr kumimoji="0" lang="zh-CN" altLang="en-US" sz="1200" b="1" dirty="0">
                <a:solidFill>
                  <a:srgbClr val="FF0000"/>
                </a:solidFill>
              </a:rPr>
              <a:t>到</a:t>
            </a:r>
            <a:r>
              <a:rPr kumimoji="0" lang="en-US" altLang="zh-CN" sz="1200" b="1" i="1" dirty="0">
                <a:solidFill>
                  <a:srgbClr val="FF0000"/>
                </a:solidFill>
              </a:rPr>
              <a:t>B</a:t>
            </a:r>
            <a:r>
              <a:rPr kumimoji="0" lang="zh-CN" altLang="en-US" sz="1200" b="1" dirty="0">
                <a:solidFill>
                  <a:srgbClr val="FF0000"/>
                </a:solidFill>
              </a:rPr>
              <a:t>的函数</a:t>
            </a:r>
            <a:r>
              <a:rPr kumimoji="0" lang="en-US" altLang="zh-CN" sz="1200" b="1" dirty="0"/>
              <a:t>, </a:t>
            </a:r>
            <a:r>
              <a:rPr kumimoji="0" lang="zh-CN" altLang="en-US" sz="1200" b="1" dirty="0"/>
              <a:t>记作 </a:t>
            </a:r>
            <a:r>
              <a:rPr kumimoji="0" lang="en-US" altLang="zh-CN" sz="1200" b="1" i="1" dirty="0"/>
              <a:t>f </a:t>
            </a:r>
            <a:r>
              <a:rPr kumimoji="0" lang="en-US" altLang="zh-CN" sz="1200" b="1" dirty="0"/>
              <a:t>: </a:t>
            </a:r>
            <a:r>
              <a:rPr kumimoji="0" lang="en-US" altLang="zh-CN" sz="1200" b="1" i="1" dirty="0"/>
              <a:t>A</a:t>
            </a:r>
            <a:r>
              <a:rPr kumimoji="0" lang="en-US" altLang="zh-CN" sz="1200" b="1" dirty="0"/>
              <a:t>→</a:t>
            </a:r>
            <a:r>
              <a:rPr kumimoji="0" lang="en-US" altLang="zh-CN" sz="1200" b="1" i="1" dirty="0"/>
              <a:t>B</a:t>
            </a:r>
            <a:r>
              <a:rPr kumimoji="0" lang="en-US" altLang="zh-CN" sz="1200" b="1" dirty="0"/>
              <a:t>. </a:t>
            </a:r>
          </a:p>
          <a:p>
            <a:pPr eaLnBrk="1" hangingPunct="1">
              <a:lnSpc>
                <a:spcPct val="120000"/>
              </a:lnSpc>
              <a:spcBef>
                <a:spcPct val="0"/>
              </a:spcBef>
              <a:buFontTx/>
              <a:buNone/>
            </a:pPr>
            <a:endParaRPr lang="en-US" altLang="zh-CN" b="1" dirty="0"/>
          </a:p>
          <a:p>
            <a:pPr eaLnBrk="1" hangingPunct="1">
              <a:lnSpc>
                <a:spcPct val="130000"/>
              </a:lnSpc>
              <a:spcBef>
                <a:spcPct val="0"/>
              </a:spcBef>
              <a:buFontTx/>
              <a:buNone/>
            </a:pPr>
            <a:r>
              <a:rPr kumimoji="0" lang="zh-CN" altLang="en-US" sz="1200" b="1" dirty="0"/>
              <a:t>（</a:t>
            </a:r>
            <a:r>
              <a:rPr kumimoji="0" lang="en-US" altLang="zh-CN" sz="1200" b="1" dirty="0"/>
              <a:t>5</a:t>
            </a:r>
            <a:r>
              <a:rPr kumimoji="0" lang="zh-CN" altLang="en-US" sz="1200" b="1" dirty="0"/>
              <a:t>）</a:t>
            </a:r>
            <a:r>
              <a:rPr kumimoji="0" lang="en-US" altLang="zh-CN" sz="1200" b="1" i="1" dirty="0"/>
              <a:t>f </a:t>
            </a:r>
            <a:r>
              <a:rPr kumimoji="0" lang="en-US" altLang="zh-CN" sz="1200" b="1" dirty="0"/>
              <a:t>: R</a:t>
            </a:r>
            <a:r>
              <a:rPr kumimoji="0" lang="en-US" altLang="zh-CN" sz="1200" b="1" baseline="30000" dirty="0"/>
              <a:t>+</a:t>
            </a:r>
            <a:r>
              <a:rPr kumimoji="0" lang="en-US" altLang="zh-CN" sz="1200" b="1" dirty="0"/>
              <a:t>→R</a:t>
            </a:r>
            <a:r>
              <a:rPr kumimoji="0" lang="en-US" altLang="zh-CN" sz="1200" b="1" baseline="30000" dirty="0"/>
              <a:t>+</a:t>
            </a:r>
            <a:r>
              <a:rPr kumimoji="0" lang="en-US" altLang="zh-CN" sz="1200" b="1" dirty="0"/>
              <a:t>, </a:t>
            </a:r>
            <a:r>
              <a:rPr kumimoji="0" lang="en-US" altLang="zh-CN" sz="1200" b="1" i="1" dirty="0"/>
              <a:t>f</a:t>
            </a:r>
            <a:r>
              <a:rPr kumimoji="0" lang="en-US" altLang="zh-CN" sz="1200" b="1" dirty="0"/>
              <a:t>(</a:t>
            </a:r>
            <a:r>
              <a:rPr kumimoji="0" lang="en-US" altLang="zh-CN" sz="1200" b="1" i="1" dirty="0"/>
              <a:t>x</a:t>
            </a:r>
            <a:r>
              <a:rPr kumimoji="0" lang="en-US" altLang="zh-CN" sz="1200" b="1" dirty="0"/>
              <a:t>)=(</a:t>
            </a:r>
            <a:r>
              <a:rPr kumimoji="0" lang="en-US" altLang="zh-CN" sz="1200" b="1" i="1" dirty="0"/>
              <a:t>x</a:t>
            </a:r>
            <a:r>
              <a:rPr kumimoji="0" lang="en-US" altLang="zh-CN" sz="1200" b="1" baseline="30000" dirty="0"/>
              <a:t>2</a:t>
            </a:r>
            <a:r>
              <a:rPr kumimoji="0" lang="en-US" altLang="zh-CN" sz="1200" b="1" dirty="0"/>
              <a:t>+1)/</a:t>
            </a:r>
            <a:r>
              <a:rPr kumimoji="0" lang="en-US" altLang="zh-CN" sz="1200" b="1" i="1" dirty="0"/>
              <a:t>x</a:t>
            </a:r>
            <a:r>
              <a:rPr kumimoji="0" lang="en-US" altLang="zh-CN" sz="1200" b="1" dirty="0"/>
              <a:t>, </a:t>
            </a:r>
            <a:r>
              <a:rPr kumimoji="0" lang="zh-CN" altLang="en-US" sz="1200" b="1" dirty="0"/>
              <a:t>其中</a:t>
            </a:r>
            <a:r>
              <a:rPr kumimoji="0" lang="en-US" altLang="zh-CN" sz="1200" b="1" dirty="0"/>
              <a:t>R</a:t>
            </a:r>
            <a:r>
              <a:rPr kumimoji="0" lang="en-US" altLang="zh-CN" sz="1200" b="1" baseline="30000" dirty="0"/>
              <a:t>+</a:t>
            </a:r>
            <a:r>
              <a:rPr kumimoji="0" lang="zh-CN" altLang="en-US" sz="1200" b="1" dirty="0"/>
              <a:t>为正实数集</a:t>
            </a:r>
            <a:r>
              <a:rPr kumimoji="0" lang="en-US" altLang="zh-CN" sz="1200" b="1" dirty="0"/>
              <a:t>.</a:t>
            </a:r>
          </a:p>
          <a:p>
            <a:pPr eaLnBrk="1" hangingPunct="1">
              <a:lnSpc>
                <a:spcPct val="130000"/>
              </a:lnSpc>
              <a:spcBef>
                <a:spcPct val="0"/>
              </a:spcBef>
              <a:buFontTx/>
              <a:buNone/>
            </a:pPr>
            <a:r>
              <a:rPr lang="zh-CN" altLang="en-US" sz="1200" b="1" dirty="0">
                <a:solidFill>
                  <a:schemeClr val="bg2"/>
                </a:solidFill>
                <a:latin typeface="Times New Roman" panose="02020603050405020304" pitchFamily="18" charset="0"/>
              </a:rPr>
              <a:t>有</a:t>
            </a:r>
            <a:r>
              <a:rPr lang="zh-CN" altLang="en-US" b="1" dirty="0"/>
              <a:t>极小值</a:t>
            </a:r>
            <a:r>
              <a:rPr lang="en-US" altLang="zh-CN" b="1" dirty="0"/>
              <a:t>f(1)=2. </a:t>
            </a:r>
            <a:r>
              <a:rPr lang="zh-CN" altLang="en-US" b="1" dirty="0"/>
              <a:t>该函数既不单射也不满射</a:t>
            </a:r>
            <a:endParaRPr kumimoji="0" lang="en-US" altLang="zh-CN" sz="1200"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endParaRPr lang="en-US" altLang="zh-CN" b="1" dirty="0"/>
          </a:p>
          <a:p>
            <a:pPr eaLnBrk="1" hangingPunct="1">
              <a:lnSpc>
                <a:spcPct val="120000"/>
              </a:lnSpc>
              <a:spcBef>
                <a:spcPct val="0"/>
              </a:spcBef>
              <a:buFontTx/>
              <a:buNone/>
            </a:pPr>
            <a:r>
              <a:rPr lang="zh-CN" altLang="en-US" sz="1050" b="1" dirty="0"/>
              <a:t>每个映射都是满射当它的</a:t>
            </a:r>
            <a:r>
              <a:rPr lang="zh-CN" altLang="en-US" sz="1050" b="1" dirty="0">
                <a:hlinkClick r:id="rId3" tooltip="陪域">
                  <a:extLst>
                    <a:ext uri="{A12FA001-AC4F-418D-AE19-62706E023703}">
                      <ahyp:hlinkClr xmlns:ahyp="http://schemas.microsoft.com/office/drawing/2018/hyperlinkcolor" val="tx"/>
                    </a:ext>
                  </a:extLst>
                </a:hlinkClick>
              </a:rPr>
              <a:t>陪域</a:t>
            </a:r>
            <a:r>
              <a:rPr lang="zh-CN" altLang="en-US" sz="1050" b="1" dirty="0"/>
              <a:t>限制为它的</a:t>
            </a:r>
            <a:r>
              <a:rPr lang="zh-CN" altLang="en-US" sz="1050" b="1" dirty="0">
                <a:hlinkClick r:id="rId4" tooltip="值域">
                  <a:extLst>
                    <a:ext uri="{A12FA001-AC4F-418D-AE19-62706E023703}">
                      <ahyp:hlinkClr xmlns:ahyp="http://schemas.microsoft.com/office/drawing/2018/hyperlinkcolor" val="tx"/>
                    </a:ext>
                  </a:extLst>
                </a:hlinkClick>
              </a:rPr>
              <a:t>值域</a:t>
            </a:r>
            <a:r>
              <a:rPr lang="zh-CN" altLang="en-US" sz="1050" b="1" dirty="0"/>
              <a:t>时，每个单射导出一个到它的值域的</a:t>
            </a:r>
            <a:r>
              <a:rPr lang="zh-CN" altLang="en-US" sz="1050" b="1" dirty="0">
                <a:hlinkClick r:id="rId5" tooltip="双射">
                  <a:extLst>
                    <a:ext uri="{A12FA001-AC4F-418D-AE19-62706E023703}">
                      <ahyp:hlinkClr xmlns:ahyp="http://schemas.microsoft.com/office/drawing/2018/hyperlinkcolor" val="tx"/>
                    </a:ext>
                  </a:extLst>
                </a:hlinkClick>
              </a:rPr>
              <a:t>双射</a:t>
            </a:r>
            <a:r>
              <a:rPr lang="zh-CN" altLang="en-US" sz="1050" b="1" dirty="0"/>
              <a:t>。</a:t>
            </a:r>
            <a:endParaRPr lang="en-US" altLang="zh-CN" sz="105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24</a:t>
            </a:fld>
            <a:endParaRPr lang="zh-CN" altLang="en-US"/>
          </a:p>
        </p:txBody>
      </p:sp>
    </p:spTree>
    <p:extLst>
      <p:ext uri="{BB962C8B-B14F-4D97-AF65-F5344CB8AC3E}">
        <p14:creationId xmlns:p14="http://schemas.microsoft.com/office/powerpoint/2010/main" val="19736208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集合 </a:t>
            </a:r>
            <a:r>
              <a:rPr lang="en-US" altLang="zh-CN" b="1" dirty="0"/>
              <a:t>B</a:t>
            </a:r>
            <a:r>
              <a:rPr lang="zh-CN" altLang="en-US" dirty="0"/>
              <a:t>：由 </a:t>
            </a:r>
            <a:r>
              <a:rPr lang="en-US" altLang="zh-CN" dirty="0"/>
              <a:t>8 </a:t>
            </a:r>
            <a:r>
              <a:rPr lang="zh-CN" altLang="en-US" dirty="0"/>
              <a:t>个特征函数组成，每个函数 </a:t>
            </a:r>
            <a:r>
              <a:rPr lang="en-US" altLang="zh-CN" dirty="0"/>
              <a:t>fi∈B </a:t>
            </a:r>
            <a:r>
              <a:rPr lang="zh-CN" altLang="en-US" dirty="0"/>
              <a:t>是 </a:t>
            </a:r>
            <a:r>
              <a:rPr lang="en-US" altLang="zh-CN" dirty="0"/>
              <a:t>{1,2,3}→{0,1} </a:t>
            </a:r>
            <a:r>
              <a:rPr lang="zh-CN" altLang="en-US" dirty="0"/>
              <a:t>的映射，也可以理解为一个三位的二进制数，表示某个子集的“特征”。</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25</a:t>
            </a:fld>
            <a:endParaRPr lang="zh-CN" altLang="en-US"/>
          </a:p>
        </p:txBody>
      </p:sp>
    </p:spTree>
    <p:extLst>
      <p:ext uri="{BB962C8B-B14F-4D97-AF65-F5344CB8AC3E}">
        <p14:creationId xmlns:p14="http://schemas.microsoft.com/office/powerpoint/2010/main" val="2431226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集合 </a:t>
            </a:r>
            <a:r>
              <a:rPr lang="en-US" altLang="zh-CN" b="1" dirty="0"/>
              <a:t>B</a:t>
            </a:r>
            <a:r>
              <a:rPr lang="zh-CN" altLang="en-US" dirty="0"/>
              <a:t>：由 </a:t>
            </a:r>
            <a:r>
              <a:rPr lang="en-US" altLang="zh-CN" dirty="0"/>
              <a:t>8 </a:t>
            </a:r>
            <a:r>
              <a:rPr lang="zh-CN" altLang="en-US" dirty="0"/>
              <a:t>个特征函数组成，每个函数 </a:t>
            </a:r>
            <a:r>
              <a:rPr lang="en-US" altLang="zh-CN" dirty="0"/>
              <a:t>fi∈B </a:t>
            </a:r>
            <a:r>
              <a:rPr lang="zh-CN" altLang="en-US" dirty="0"/>
              <a:t>是 </a:t>
            </a:r>
            <a:r>
              <a:rPr lang="en-US" altLang="zh-CN" dirty="0"/>
              <a:t>{1,2,3}→{0,1} </a:t>
            </a:r>
            <a:r>
              <a:rPr lang="zh-CN" altLang="en-US" dirty="0"/>
              <a:t>的映射，也可以理解为一个三位的二进制数，表示某个子集的“特征”。</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26</a:t>
            </a:fld>
            <a:endParaRPr lang="zh-CN" altLang="en-US"/>
          </a:p>
        </p:txBody>
      </p:sp>
    </p:spTree>
    <p:extLst>
      <p:ext uri="{BB962C8B-B14F-4D97-AF65-F5344CB8AC3E}">
        <p14:creationId xmlns:p14="http://schemas.microsoft.com/office/powerpoint/2010/main" val="25706039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集合 </a:t>
            </a:r>
            <a:r>
              <a:rPr lang="en-US" altLang="zh-CN" b="1" dirty="0"/>
              <a:t>B</a:t>
            </a:r>
            <a:r>
              <a:rPr lang="zh-CN" altLang="en-US" dirty="0"/>
              <a:t>：由 </a:t>
            </a:r>
            <a:r>
              <a:rPr lang="en-US" altLang="zh-CN" dirty="0"/>
              <a:t>8 </a:t>
            </a:r>
            <a:r>
              <a:rPr lang="zh-CN" altLang="en-US" dirty="0"/>
              <a:t>个特征函数组成，每个函数 </a:t>
            </a:r>
            <a:r>
              <a:rPr lang="en-US" altLang="zh-CN" dirty="0"/>
              <a:t>fi∈B </a:t>
            </a:r>
            <a:r>
              <a:rPr lang="zh-CN" altLang="en-US" dirty="0"/>
              <a:t>是 </a:t>
            </a:r>
            <a:r>
              <a:rPr lang="en-US" altLang="zh-CN" dirty="0"/>
              <a:t>{1,2,3}→{0,1} </a:t>
            </a:r>
            <a:r>
              <a:rPr lang="zh-CN" altLang="en-US" dirty="0"/>
              <a:t>的映射，也可以理解为一个三位的二进制数，表示某个子集的“特征”。</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27</a:t>
            </a:fld>
            <a:endParaRPr lang="zh-CN" altLang="en-US"/>
          </a:p>
        </p:txBody>
      </p:sp>
    </p:spTree>
    <p:extLst>
      <p:ext uri="{BB962C8B-B14F-4D97-AF65-F5344CB8AC3E}">
        <p14:creationId xmlns:p14="http://schemas.microsoft.com/office/powerpoint/2010/main" val="12110162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28</a:t>
            </a:fld>
            <a:endParaRPr lang="zh-CN" altLang="en-US"/>
          </a:p>
        </p:txBody>
      </p:sp>
    </p:spTree>
    <p:extLst>
      <p:ext uri="{BB962C8B-B14F-4D97-AF65-F5344CB8AC3E}">
        <p14:creationId xmlns:p14="http://schemas.microsoft.com/office/powerpoint/2010/main" val="30504517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892175" eaLnBrk="1" hangingPunct="1">
              <a:spcBef>
                <a:spcPct val="60000"/>
              </a:spcBef>
              <a:buNone/>
            </a:pPr>
            <a:r>
              <a:rPr lang="en-US" altLang="zh-CN" b="1" dirty="0">
                <a:solidFill>
                  <a:srgbClr val="FF0000"/>
                </a:solidFill>
              </a:rPr>
              <a:t>5.1 </a:t>
            </a:r>
            <a:r>
              <a:rPr lang="zh-CN" altLang="en-US" b="1" dirty="0">
                <a:solidFill>
                  <a:srgbClr val="FF0000"/>
                </a:solidFill>
              </a:rPr>
              <a:t>函数定义及其性质</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5.2 </a:t>
            </a:r>
            <a:r>
              <a:rPr lang="zh-CN" altLang="en-US" b="1" dirty="0"/>
              <a:t>函数的复合与反函数</a:t>
            </a:r>
            <a:endParaRPr lang="en-US" altLang="zh-CN" b="1" dirty="0"/>
          </a:p>
          <a:p>
            <a:pPr marL="0" indent="892175" eaLnBrk="1" hangingPunct="1">
              <a:spcBef>
                <a:spcPct val="60000"/>
              </a:spcBef>
              <a:buNone/>
            </a:pPr>
            <a:endParaRPr lang="en-US" altLang="zh-CN" b="1" dirty="0"/>
          </a:p>
          <a:p>
            <a:pPr marL="0" indent="892175" eaLnBrk="1" hangingPunct="1">
              <a:spcBef>
                <a:spcPct val="60000"/>
              </a:spcBef>
              <a:buNone/>
            </a:pPr>
            <a:r>
              <a:rPr lang="en-US" altLang="zh-CN" b="1" dirty="0"/>
              <a:t>5.3 </a:t>
            </a:r>
            <a:r>
              <a:rPr lang="zh-CN" altLang="en-US" b="1" dirty="0"/>
              <a:t>关系代数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30</a:t>
            </a:fld>
            <a:endParaRPr lang="zh-CN" altLang="en-US"/>
          </a:p>
        </p:txBody>
      </p:sp>
    </p:spTree>
    <p:extLst>
      <p:ext uri="{BB962C8B-B14F-4D97-AF65-F5344CB8AC3E}">
        <p14:creationId xmlns:p14="http://schemas.microsoft.com/office/powerpoint/2010/main" val="39901495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None/>
            </a:pPr>
            <a:r>
              <a:rPr lang="en-US" altLang="zh-CN" b="1" dirty="0"/>
              <a:t>5.2.1 </a:t>
            </a:r>
            <a:r>
              <a:rPr lang="zh-CN" altLang="en-US" b="1" dirty="0"/>
              <a:t>函数的复合</a:t>
            </a:r>
          </a:p>
          <a:p>
            <a:pPr lvl="1" eaLnBrk="1" hangingPunct="1"/>
            <a:r>
              <a:rPr lang="zh-CN" altLang="en-US" b="1" dirty="0"/>
              <a:t>函数复合的基本定理及其推论</a:t>
            </a:r>
          </a:p>
          <a:p>
            <a:pPr lvl="1" eaLnBrk="1" hangingPunct="1"/>
            <a:r>
              <a:rPr lang="zh-CN" altLang="en-US" b="1" dirty="0"/>
              <a:t>函数复合的性质</a:t>
            </a:r>
            <a:endParaRPr lang="en-US" altLang="zh-CN" b="1" dirty="0"/>
          </a:p>
          <a:p>
            <a:pPr lvl="1" eaLnBrk="1" hangingPunct="1"/>
            <a:endParaRPr lang="zh-CN" altLang="en-US" b="1" dirty="0"/>
          </a:p>
          <a:p>
            <a:pPr eaLnBrk="1" hangingPunct="1">
              <a:spcBef>
                <a:spcPct val="50000"/>
              </a:spcBef>
              <a:buNone/>
            </a:pPr>
            <a:r>
              <a:rPr lang="en-US" altLang="zh-CN" b="1" dirty="0"/>
              <a:t>5.2.2 </a:t>
            </a:r>
            <a:r>
              <a:rPr lang="zh-CN" altLang="en-US" b="1" dirty="0"/>
              <a:t>反函数</a:t>
            </a:r>
          </a:p>
          <a:p>
            <a:pPr lvl="1" eaLnBrk="1" hangingPunct="1"/>
            <a:r>
              <a:rPr lang="zh-CN" altLang="en-US" b="1" dirty="0"/>
              <a:t>反函数存在的条件</a:t>
            </a:r>
          </a:p>
          <a:p>
            <a:pPr lvl="1" eaLnBrk="1" hangingPunct="1"/>
            <a:r>
              <a:rPr lang="zh-CN" altLang="en-US" b="1" dirty="0"/>
              <a:t>反函数的性质</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31</a:t>
            </a:fld>
            <a:endParaRPr lang="zh-CN" altLang="en-US"/>
          </a:p>
        </p:txBody>
      </p:sp>
    </p:spTree>
    <p:extLst>
      <p:ext uri="{BB962C8B-B14F-4D97-AF65-F5344CB8AC3E}">
        <p14:creationId xmlns:p14="http://schemas.microsoft.com/office/powerpoint/2010/main" val="40014476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0000"/>
              </a:lnSpc>
              <a:spcBef>
                <a:spcPct val="0"/>
              </a:spcBef>
              <a:buNone/>
            </a:pPr>
            <a:r>
              <a:rPr kumimoji="0" lang="zh-CN" altLang="en-US" sz="1800" b="1" dirty="0">
                <a:solidFill>
                  <a:srgbClr val="FF0000"/>
                </a:solidFill>
              </a:rPr>
              <a:t>定理</a:t>
            </a:r>
            <a:r>
              <a:rPr kumimoji="0" lang="en-US" altLang="zh-CN" sz="1800" b="1" dirty="0">
                <a:solidFill>
                  <a:srgbClr val="FF0000"/>
                </a:solidFill>
              </a:rPr>
              <a:t>5.1</a:t>
            </a:r>
            <a:r>
              <a:rPr kumimoji="0" lang="en-US" altLang="zh-CN" sz="1800" b="1" dirty="0"/>
              <a:t>    </a:t>
            </a:r>
            <a:r>
              <a:rPr kumimoji="0" lang="zh-CN" altLang="en-US" sz="1800" b="1" dirty="0"/>
              <a:t>设</a:t>
            </a:r>
            <a:r>
              <a:rPr lang="en-US" altLang="zh-CN" sz="1800" b="1" i="1" dirty="0">
                <a:latin typeface="Times New Roman" panose="02020603050405020304" pitchFamily="18" charset="0"/>
              </a:rPr>
              <a:t>F</a:t>
            </a:r>
            <a:r>
              <a:rPr lang="en-US" altLang="zh-CN" sz="1800" b="1" dirty="0">
                <a:latin typeface="Lucida Sans Unicode" panose="020B0602030504020204" pitchFamily="34" charset="0"/>
                <a:sym typeface="Symbol" panose="05050102010706020507" pitchFamily="18" charset="2"/>
              </a:rPr>
              <a:t>,</a:t>
            </a:r>
            <a:r>
              <a:rPr lang="en-US" altLang="zh-CN" sz="1800" b="1" i="1" dirty="0">
                <a:latin typeface="Times New Roman" panose="02020603050405020304" pitchFamily="18" charset="0"/>
              </a:rPr>
              <a:t>G</a:t>
            </a:r>
            <a:r>
              <a:rPr kumimoji="0" lang="zh-CN" altLang="en-US" sz="1800" b="1" dirty="0"/>
              <a:t>是函数</a:t>
            </a:r>
            <a:r>
              <a:rPr kumimoji="0" lang="en-US" altLang="zh-CN" sz="1800" b="1" dirty="0"/>
              <a:t>, </a:t>
            </a:r>
            <a:r>
              <a:rPr kumimoji="0" lang="zh-CN" altLang="en-US" sz="1800" b="1" dirty="0"/>
              <a:t>则</a:t>
            </a:r>
            <a:r>
              <a:rPr lang="en-US" altLang="zh-CN" sz="1800" b="1" i="1" dirty="0">
                <a:latin typeface="Times New Roman" panose="02020603050405020304" pitchFamily="18" charset="0"/>
              </a:rPr>
              <a:t>F</a:t>
            </a:r>
            <a:r>
              <a:rPr lang="en-US" altLang="zh-CN" sz="1800" b="1" dirty="0">
                <a:latin typeface="Lucida Sans Unicode" panose="020B0602030504020204" pitchFamily="34" charset="0"/>
                <a:sym typeface="Symbol" panose="05050102010706020507" pitchFamily="18" charset="2"/>
              </a:rPr>
              <a:t>∘</a:t>
            </a:r>
            <a:r>
              <a:rPr lang="en-US" altLang="zh-CN" sz="1800" b="1" i="1" dirty="0">
                <a:latin typeface="Times New Roman" panose="02020603050405020304" pitchFamily="18" charset="0"/>
              </a:rPr>
              <a:t>G</a:t>
            </a:r>
            <a:r>
              <a:rPr kumimoji="0" lang="zh-CN" altLang="en-US" sz="1800" b="1" dirty="0"/>
              <a:t>也是函数</a:t>
            </a:r>
            <a:r>
              <a:rPr kumimoji="0" lang="en-US" altLang="zh-CN" sz="1800" b="1" dirty="0"/>
              <a:t>, </a:t>
            </a:r>
            <a:r>
              <a:rPr kumimoji="0" lang="zh-CN" altLang="en-US" sz="1800" b="1" dirty="0"/>
              <a:t>且满足以下条件：</a:t>
            </a:r>
            <a:br>
              <a:rPr kumimoji="0" lang="zh-CN" altLang="en-US" sz="1800" b="1" dirty="0"/>
            </a:br>
            <a:r>
              <a:rPr kumimoji="0" lang="zh-CN" altLang="en-US" sz="1800" b="1" dirty="0"/>
              <a:t>  </a:t>
            </a:r>
            <a:r>
              <a:rPr lang="en-US" altLang="zh-CN" sz="2000" b="1" dirty="0">
                <a:latin typeface="Times New Roman" panose="02020603050405020304" pitchFamily="18" charset="0"/>
              </a:rPr>
              <a:t>(1) dom(</a:t>
            </a:r>
            <a:r>
              <a:rPr lang="en-US" altLang="zh-CN" sz="2000" b="1" i="1" dirty="0">
                <a:latin typeface="Times New Roman" panose="02020603050405020304" pitchFamily="18" charset="0"/>
              </a:rPr>
              <a:t>F</a:t>
            </a:r>
            <a:r>
              <a:rPr lang="en-US" altLang="zh-CN" sz="2000" b="1" dirty="0">
                <a:latin typeface="Lucida Sans Unicode" panose="020B0602030504020204" pitchFamily="34" charset="0"/>
                <a:sym typeface="Symbol" panose="05050102010706020507" pitchFamily="18" charset="2"/>
              </a:rPr>
              <a:t>∘</a:t>
            </a:r>
            <a:r>
              <a:rPr lang="en-US" altLang="zh-CN" sz="2000" b="1" i="1" dirty="0">
                <a:latin typeface="Times New Roman" panose="02020603050405020304" pitchFamily="18" charset="0"/>
              </a:rPr>
              <a:t>G</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x </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x</a:t>
            </a:r>
            <a:r>
              <a:rPr lang="en-US" altLang="zh-CN" sz="2000" b="1" dirty="0">
                <a:latin typeface="Times New Roman" panose="02020603050405020304" pitchFamily="18" charset="0"/>
              </a:rPr>
              <a:t>∈dom</a:t>
            </a:r>
            <a:r>
              <a:rPr lang="en-US" altLang="zh-CN" sz="2000" b="1" i="1" dirty="0">
                <a:latin typeface="Times New Roman" panose="02020603050405020304" pitchFamily="18" charset="0"/>
              </a:rPr>
              <a:t>G </a:t>
            </a:r>
            <a:r>
              <a:rPr lang="en-US" altLang="zh-CN" sz="2000" b="1" dirty="0">
                <a:sym typeface="Symbol" panose="05050102010706020507" pitchFamily="18" charset="2"/>
              </a:rPr>
              <a:t></a:t>
            </a:r>
            <a:r>
              <a:rPr lang="en-US" altLang="zh-CN" sz="2000" b="1" dirty="0"/>
              <a:t> </a:t>
            </a:r>
            <a:r>
              <a:rPr lang="en-US" altLang="zh-CN" sz="2000" b="1" i="1" dirty="0">
                <a:latin typeface="Times New Roman" panose="02020603050405020304" pitchFamily="18" charset="0"/>
              </a:rPr>
              <a:t>G</a:t>
            </a:r>
            <a:r>
              <a:rPr lang="en-US" altLang="zh-CN" sz="2000" b="1" dirty="0">
                <a:latin typeface="Times New Roman" panose="02020603050405020304" pitchFamily="18" charset="0"/>
              </a:rPr>
              <a:t>(</a:t>
            </a:r>
            <a:r>
              <a:rPr lang="en-US" altLang="zh-CN" sz="2000" b="1" i="1" dirty="0">
                <a:latin typeface="Times New Roman" panose="02020603050405020304" pitchFamily="18" charset="0"/>
              </a:rPr>
              <a:t>x</a:t>
            </a:r>
            <a:r>
              <a:rPr lang="en-US" altLang="zh-CN" sz="2000" b="1" dirty="0">
                <a:latin typeface="Times New Roman" panose="02020603050405020304" pitchFamily="18" charset="0"/>
              </a:rPr>
              <a:t>)∈dom</a:t>
            </a:r>
            <a:r>
              <a:rPr lang="en-US" altLang="zh-CN" sz="2000" b="1" i="1" dirty="0">
                <a:latin typeface="Times New Roman" panose="02020603050405020304" pitchFamily="18" charset="0"/>
              </a:rPr>
              <a:t>F</a:t>
            </a:r>
            <a:r>
              <a:rPr lang="en-US" altLang="zh-CN" sz="2000" b="1" dirty="0">
                <a:latin typeface="Times New Roman" panose="02020603050405020304" pitchFamily="18" charset="0"/>
              </a:rPr>
              <a:t>}</a:t>
            </a:r>
            <a:r>
              <a:rPr kumimoji="0" lang="zh-CN" altLang="en-US" sz="2800" b="1" dirty="0"/>
              <a:t> </a:t>
            </a:r>
            <a:endParaRPr kumimoji="0" lang="en-US" altLang="zh-CN" sz="2800" b="1" dirty="0"/>
          </a:p>
          <a:p>
            <a:pPr>
              <a:lnSpc>
                <a:spcPct val="110000"/>
              </a:lnSpc>
              <a:spcBef>
                <a:spcPct val="0"/>
              </a:spcBef>
              <a:buNone/>
            </a:pPr>
            <a:r>
              <a:rPr kumimoji="0" lang="zh-CN" altLang="en-US" sz="1800" b="1" dirty="0"/>
              <a:t>（</a:t>
            </a:r>
            <a:r>
              <a:rPr kumimoji="0" lang="zh-CN" altLang="zh-CN" sz="1800" b="1" dirty="0"/>
              <a:t>定义域和值域的对应关系</a:t>
            </a:r>
            <a:r>
              <a:rPr kumimoji="0" lang="zh-CN" altLang="en-US" sz="1800" b="1" dirty="0"/>
              <a:t>）</a:t>
            </a:r>
            <a:br>
              <a:rPr lang="en-US" altLang="zh-CN" sz="1800" b="1" dirty="0">
                <a:latin typeface="Times New Roman" panose="02020603050405020304" pitchFamily="18" charset="0"/>
              </a:rPr>
            </a:br>
            <a:r>
              <a:rPr lang="en-US" altLang="zh-CN" sz="2000" b="1" dirty="0">
                <a:latin typeface="Times New Roman" panose="02020603050405020304" pitchFamily="18" charset="0"/>
              </a:rPr>
              <a:t>  (2) </a:t>
            </a:r>
            <a:r>
              <a:rPr lang="en-US" altLang="zh-CN" sz="2000" b="1" dirty="0">
                <a:latin typeface="Times New Roman" panose="02020603050405020304" pitchFamily="18" charset="0"/>
                <a:sym typeface="Symbol" panose="05050102010706020507" pitchFamily="18" charset="2"/>
              </a:rPr>
              <a:t></a:t>
            </a:r>
            <a:r>
              <a:rPr lang="en-US" altLang="zh-CN" sz="2000" b="1" i="1" dirty="0">
                <a:latin typeface="Times New Roman" panose="02020603050405020304" pitchFamily="18" charset="0"/>
              </a:rPr>
              <a:t>x</a:t>
            </a:r>
            <a:r>
              <a:rPr lang="en-US" altLang="zh-CN" sz="2000" b="1" dirty="0">
                <a:latin typeface="Times New Roman" panose="02020603050405020304" pitchFamily="18" charset="0"/>
              </a:rPr>
              <a:t>∈dom(</a:t>
            </a:r>
            <a:r>
              <a:rPr lang="en-US" altLang="zh-CN" sz="2000" b="1" i="1" dirty="0">
                <a:latin typeface="Times New Roman" panose="02020603050405020304" pitchFamily="18" charset="0"/>
              </a:rPr>
              <a:t>F</a:t>
            </a:r>
            <a:r>
              <a:rPr lang="en-US" altLang="zh-CN" sz="2000" b="1" dirty="0">
                <a:sym typeface="Symbol" panose="05050102010706020507" pitchFamily="18" charset="2"/>
              </a:rPr>
              <a:t>∘</a:t>
            </a:r>
            <a:r>
              <a:rPr lang="en-US" altLang="zh-CN" sz="2000" b="1" i="1" dirty="0">
                <a:latin typeface="Times New Roman" panose="02020603050405020304" pitchFamily="18" charset="0"/>
              </a:rPr>
              <a:t>G</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有 </a:t>
            </a:r>
            <a:r>
              <a:rPr lang="en-US" altLang="zh-CN" sz="2000" b="1" i="1" dirty="0">
                <a:latin typeface="Times New Roman" panose="02020603050405020304" pitchFamily="18" charset="0"/>
              </a:rPr>
              <a:t>F</a:t>
            </a:r>
            <a:r>
              <a:rPr lang="en-US" altLang="zh-CN" sz="2000" b="1" dirty="0">
                <a:sym typeface="Symbol" panose="05050102010706020507" pitchFamily="18" charset="2"/>
              </a:rPr>
              <a:t>∘</a:t>
            </a:r>
            <a:r>
              <a:rPr lang="en-US" altLang="zh-CN" sz="2000" b="1" i="1" dirty="0">
                <a:latin typeface="Times New Roman" panose="02020603050405020304" pitchFamily="18" charset="0"/>
              </a:rPr>
              <a:t>G</a:t>
            </a:r>
            <a:r>
              <a:rPr lang="en-US" altLang="zh-CN" sz="2000" b="1" dirty="0">
                <a:latin typeface="Times New Roman" panose="02020603050405020304" pitchFamily="18" charset="0"/>
              </a:rPr>
              <a:t>(</a:t>
            </a:r>
            <a:r>
              <a:rPr lang="en-US" altLang="zh-CN" sz="2000" b="1" i="1" dirty="0">
                <a:latin typeface="Times New Roman" panose="02020603050405020304" pitchFamily="18" charset="0"/>
              </a:rPr>
              <a:t>x</a:t>
            </a:r>
            <a:r>
              <a:rPr lang="en-US" altLang="zh-CN" sz="2000" b="1" dirty="0">
                <a:latin typeface="Times New Roman" panose="02020603050405020304" pitchFamily="18" charset="0"/>
              </a:rPr>
              <a:t>) = </a:t>
            </a:r>
            <a:r>
              <a:rPr lang="en-US" altLang="zh-CN" sz="2000" b="1" i="1" dirty="0">
                <a:latin typeface="Times New Roman" panose="02020603050405020304" pitchFamily="18" charset="0"/>
              </a:rPr>
              <a:t>F</a:t>
            </a:r>
            <a:r>
              <a:rPr lang="en-US" altLang="zh-CN" sz="2000" b="1" dirty="0">
                <a:latin typeface="Times New Roman" panose="02020603050405020304" pitchFamily="18" charset="0"/>
              </a:rPr>
              <a:t>(</a:t>
            </a:r>
            <a:r>
              <a:rPr lang="en-US" altLang="zh-CN" sz="2000" b="1" i="1" dirty="0">
                <a:latin typeface="Times New Roman" panose="02020603050405020304" pitchFamily="18" charset="0"/>
              </a:rPr>
              <a:t>G</a:t>
            </a:r>
            <a:r>
              <a:rPr lang="en-US" altLang="zh-CN" sz="2000" b="1" dirty="0">
                <a:latin typeface="Times New Roman" panose="02020603050405020304" pitchFamily="18" charset="0"/>
              </a:rPr>
              <a:t>(</a:t>
            </a:r>
            <a:r>
              <a:rPr lang="en-US" altLang="zh-CN" sz="2000" b="1" i="1" dirty="0">
                <a:latin typeface="Times New Roman" panose="02020603050405020304" pitchFamily="18" charset="0"/>
              </a:rPr>
              <a:t>x</a:t>
            </a:r>
            <a:r>
              <a:rPr lang="en-US" altLang="zh-CN" sz="2000" b="1" dirty="0">
                <a:latin typeface="Times New Roman" panose="02020603050405020304" pitchFamily="18" charset="0"/>
              </a:rPr>
              <a:t>))</a:t>
            </a:r>
            <a:r>
              <a:rPr kumimoji="0" lang="zh-CN" altLang="en-US" sz="2800" b="1" dirty="0"/>
              <a:t> </a:t>
            </a:r>
            <a:endParaRPr kumimoji="0" lang="en-US" altLang="zh-CN" sz="2800" b="1" dirty="0"/>
          </a:p>
          <a:p>
            <a:pPr>
              <a:lnSpc>
                <a:spcPct val="110000"/>
              </a:lnSpc>
              <a:spcBef>
                <a:spcPct val="0"/>
              </a:spcBef>
              <a:buNone/>
            </a:pPr>
            <a:r>
              <a:rPr kumimoji="0" lang="en-US" altLang="zh-CN" sz="1800" b="1" dirty="0"/>
              <a:t> </a:t>
            </a:r>
            <a:r>
              <a:rPr kumimoji="0" lang="zh-CN" altLang="en-US" sz="1800" b="1" dirty="0"/>
              <a:t>（确定复合函数</a:t>
            </a:r>
            <a:r>
              <a:rPr kumimoji="0" lang="zh-CN" altLang="zh-CN" sz="1800" b="1" dirty="0"/>
              <a:t>计算</a:t>
            </a:r>
            <a:r>
              <a:rPr kumimoji="0" lang="zh-CN" altLang="en-US" sz="1800" b="1" dirty="0"/>
              <a:t>次序）</a:t>
            </a:r>
            <a:endParaRPr kumimoji="0" lang="en-US" altLang="zh-CN" sz="1800" b="1" dirty="0"/>
          </a:p>
          <a:p>
            <a:pPr marL="0" marR="0" lvl="0" indent="0" algn="l" defTabSz="914400" rtl="0" eaLnBrk="1" fontAlgn="auto" latinLnBrk="0" hangingPunct="1">
              <a:lnSpc>
                <a:spcPct val="110000"/>
              </a:lnSpc>
              <a:spcBef>
                <a:spcPct val="0"/>
              </a:spcBef>
              <a:spcAft>
                <a:spcPts val="0"/>
              </a:spcAft>
              <a:buClrTx/>
              <a:buSzTx/>
              <a:buFontTx/>
              <a:buNone/>
              <a:tabLst/>
              <a:defRPr/>
            </a:pPr>
            <a:r>
              <a:rPr lang="zh-CN" altLang="en-US" sz="1800" b="1" dirty="0">
                <a:solidFill>
                  <a:srgbClr val="00B0F0"/>
                </a:solidFill>
                <a:latin typeface="+mn-ea"/>
              </a:rPr>
              <a:t>注：</a:t>
            </a:r>
            <a:r>
              <a:rPr lang="zh-CN" altLang="en-US" sz="1800" b="1" dirty="0">
                <a:latin typeface="+mn-ea"/>
              </a:rPr>
              <a:t>函数的复合是</a:t>
            </a:r>
            <a:r>
              <a:rPr lang="en-US" altLang="zh-CN" sz="1800" b="1" dirty="0">
                <a:latin typeface="+mn-ea"/>
              </a:rPr>
              <a:t>(</a:t>
            </a:r>
            <a:r>
              <a:rPr lang="zh-CN" altLang="en-US" sz="1800" b="1" dirty="0">
                <a:latin typeface="+mn-ea"/>
              </a:rPr>
              <a:t>向</a:t>
            </a:r>
            <a:r>
              <a:rPr lang="en-US" altLang="zh-CN" sz="1800" b="1" dirty="0">
                <a:latin typeface="+mn-ea"/>
              </a:rPr>
              <a:t>)</a:t>
            </a:r>
            <a:r>
              <a:rPr lang="zh-CN" altLang="en-US" sz="1800" b="1" dirty="0">
                <a:latin typeface="+mn-ea"/>
              </a:rPr>
              <a:t>左复合，右</a:t>
            </a:r>
            <a:r>
              <a:rPr lang="en-US" altLang="zh-CN" sz="1800" b="1" dirty="0">
                <a:latin typeface="+mn-ea"/>
              </a:rPr>
              <a:t>(</a:t>
            </a:r>
            <a:r>
              <a:rPr lang="zh-CN" altLang="en-US" sz="1800" b="1" dirty="0">
                <a:latin typeface="+mn-ea"/>
              </a:rPr>
              <a:t>边</a:t>
            </a:r>
            <a:r>
              <a:rPr lang="en-US" altLang="zh-CN" sz="1800" b="1" dirty="0">
                <a:latin typeface="+mn-ea"/>
              </a:rPr>
              <a:t>)</a:t>
            </a:r>
            <a:r>
              <a:rPr lang="zh-CN" altLang="en-US" sz="1800" b="1" dirty="0">
                <a:latin typeface="+mn-ea"/>
              </a:rPr>
              <a:t>优先；而关系的合成是</a:t>
            </a:r>
            <a:r>
              <a:rPr lang="en-US" altLang="zh-CN" sz="1800" b="1" dirty="0">
                <a:latin typeface="+mn-ea"/>
              </a:rPr>
              <a:t>(</a:t>
            </a:r>
            <a:r>
              <a:rPr lang="zh-CN" altLang="en-US" sz="1800" b="1" dirty="0">
                <a:latin typeface="+mn-ea"/>
              </a:rPr>
              <a:t>向</a:t>
            </a:r>
            <a:r>
              <a:rPr lang="en-US" altLang="zh-CN" sz="1800" b="1" dirty="0">
                <a:latin typeface="+mn-ea"/>
              </a:rPr>
              <a:t>)</a:t>
            </a:r>
            <a:r>
              <a:rPr lang="zh-CN" altLang="en-US" sz="1800" b="1" dirty="0">
                <a:latin typeface="+mn-ea"/>
              </a:rPr>
              <a:t>右复合，左</a:t>
            </a:r>
            <a:r>
              <a:rPr lang="en-US" altLang="zh-CN" sz="1800" b="1" dirty="0">
                <a:latin typeface="+mn-ea"/>
              </a:rPr>
              <a:t>(</a:t>
            </a:r>
            <a:r>
              <a:rPr lang="zh-CN" altLang="en-US" sz="1800" b="1" dirty="0">
                <a:latin typeface="+mn-ea"/>
              </a:rPr>
              <a:t>边</a:t>
            </a:r>
            <a:r>
              <a:rPr lang="en-US" altLang="zh-CN" sz="1800" b="1" dirty="0">
                <a:latin typeface="+mn-ea"/>
              </a:rPr>
              <a:t>)</a:t>
            </a:r>
            <a:r>
              <a:rPr lang="zh-CN" altLang="en-US" sz="1800" b="1" dirty="0">
                <a:latin typeface="+mn-ea"/>
              </a:rPr>
              <a:t>优先；</a:t>
            </a:r>
          </a:p>
          <a:p>
            <a:pPr>
              <a:lnSpc>
                <a:spcPct val="110000"/>
              </a:lnSpc>
              <a:spcBef>
                <a:spcPct val="0"/>
              </a:spcBef>
              <a:buNone/>
            </a:pPr>
            <a:endParaRPr kumimoji="0" lang="en-US" altLang="zh-CN" sz="18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复合关系处理的是元素之间的关系，而复合函数处理的是函数输出之间的关系。</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eaLnBrk="1" hangingPunct="1">
              <a:lnSpc>
                <a:spcPct val="120000"/>
              </a:lnSpc>
              <a:buFont typeface="Wingdings" panose="05000000000000000000" pitchFamily="2" charset="2"/>
              <a:buNone/>
            </a:pPr>
            <a:r>
              <a:rPr lang="zh-CN" altLang="en-US" sz="1800" dirty="0">
                <a:ea typeface="楷体_GB2312" pitchFamily="49" charset="-122"/>
              </a:rPr>
              <a:t>注： </a:t>
            </a:r>
            <a:r>
              <a:rPr lang="zh-CN" altLang="en-US" sz="1800" dirty="0">
                <a:ea typeface="Arial Unicode MS" panose="020B0604020202020204" pitchFamily="34" charset="-122"/>
                <a:cs typeface="Arial Unicode MS" panose="020B0604020202020204" pitchFamily="34" charset="-122"/>
              </a:rPr>
              <a:t>●</a:t>
            </a:r>
            <a:r>
              <a:rPr lang="zh-CN" altLang="en-US" sz="1800" dirty="0">
                <a:ea typeface="楷体_GB2312" pitchFamily="49" charset="-122"/>
              </a:rPr>
              <a:t>函数的复合其实就是关系的合成；只不过记法上有所不同；</a:t>
            </a:r>
          </a:p>
          <a:p>
            <a:pPr marL="0" indent="0" eaLnBrk="1" hangingPunct="1">
              <a:lnSpc>
                <a:spcPct val="120000"/>
              </a:lnSpc>
              <a:buFont typeface="Wingdings" panose="05000000000000000000" pitchFamily="2" charset="2"/>
              <a:buNone/>
            </a:pPr>
            <a:r>
              <a:rPr lang="zh-CN" altLang="en-US" sz="1800" dirty="0">
                <a:ea typeface="楷体_GB2312" pitchFamily="49" charset="-122"/>
              </a:rPr>
              <a:t>　　 </a:t>
            </a:r>
            <a:r>
              <a:rPr lang="zh-CN" altLang="en-US" sz="1800" dirty="0">
                <a:ea typeface="Arial Unicode MS" panose="020B0604020202020204" pitchFamily="34" charset="-122"/>
                <a:cs typeface="Arial Unicode MS" panose="020B0604020202020204" pitchFamily="34" charset="-122"/>
              </a:rPr>
              <a:t>●</a:t>
            </a:r>
            <a:r>
              <a:rPr lang="zh-CN" altLang="en-US" sz="1800" dirty="0">
                <a:ea typeface="楷体_GB2312" pitchFamily="49" charset="-122"/>
              </a:rPr>
              <a:t>函数的复合是</a:t>
            </a:r>
            <a:r>
              <a:rPr lang="en-US" altLang="zh-CN" sz="1800" dirty="0">
                <a:ea typeface="楷体_GB2312" pitchFamily="49" charset="-122"/>
              </a:rPr>
              <a:t>(</a:t>
            </a:r>
            <a:r>
              <a:rPr lang="zh-CN" altLang="en-US" sz="1800" dirty="0">
                <a:ea typeface="楷体_GB2312" pitchFamily="49" charset="-122"/>
              </a:rPr>
              <a:t>向</a:t>
            </a:r>
            <a:r>
              <a:rPr lang="en-US" altLang="zh-CN" sz="1800" dirty="0">
                <a:ea typeface="楷体_GB2312" pitchFamily="49" charset="-122"/>
              </a:rPr>
              <a:t>)</a:t>
            </a:r>
            <a:r>
              <a:rPr lang="zh-CN" altLang="en-US" sz="1800" dirty="0">
                <a:ea typeface="楷体_GB2312" pitchFamily="49" charset="-122"/>
              </a:rPr>
              <a:t>左复合，右</a:t>
            </a:r>
            <a:r>
              <a:rPr lang="en-US" altLang="zh-CN" sz="1800" dirty="0">
                <a:ea typeface="楷体_GB2312" pitchFamily="49" charset="-122"/>
              </a:rPr>
              <a:t>(</a:t>
            </a:r>
            <a:r>
              <a:rPr lang="zh-CN" altLang="en-US" sz="1800" dirty="0">
                <a:ea typeface="楷体_GB2312" pitchFamily="49" charset="-122"/>
              </a:rPr>
              <a:t>边</a:t>
            </a:r>
            <a:r>
              <a:rPr lang="en-US" altLang="zh-CN" sz="1800" dirty="0">
                <a:ea typeface="楷体_GB2312" pitchFamily="49" charset="-122"/>
              </a:rPr>
              <a:t>)</a:t>
            </a:r>
            <a:r>
              <a:rPr lang="zh-CN" altLang="en-US" sz="1800" dirty="0">
                <a:ea typeface="楷体_GB2312" pitchFamily="49" charset="-122"/>
              </a:rPr>
              <a:t>优先；而关系的合成是</a:t>
            </a:r>
            <a:r>
              <a:rPr lang="en-US" altLang="zh-CN" sz="1800" dirty="0">
                <a:ea typeface="楷体_GB2312" pitchFamily="49" charset="-122"/>
              </a:rPr>
              <a:t>(</a:t>
            </a:r>
            <a:r>
              <a:rPr lang="zh-CN" altLang="en-US" sz="1800" dirty="0">
                <a:ea typeface="楷体_GB2312" pitchFamily="49" charset="-122"/>
              </a:rPr>
              <a:t>向</a:t>
            </a:r>
            <a:r>
              <a:rPr lang="en-US" altLang="zh-CN" sz="1800" dirty="0">
                <a:ea typeface="楷体_GB2312" pitchFamily="49" charset="-122"/>
              </a:rPr>
              <a:t>)</a:t>
            </a:r>
            <a:r>
              <a:rPr lang="zh-CN" altLang="en-US" sz="1800" dirty="0">
                <a:ea typeface="楷体_GB2312" pitchFamily="49" charset="-122"/>
              </a:rPr>
              <a:t>右复合，左</a:t>
            </a:r>
            <a:r>
              <a:rPr lang="en-US" altLang="zh-CN" sz="1800" dirty="0">
                <a:ea typeface="楷体_GB2312" pitchFamily="49" charset="-122"/>
              </a:rPr>
              <a:t>(</a:t>
            </a:r>
            <a:r>
              <a:rPr lang="zh-CN" altLang="en-US" sz="1800" dirty="0">
                <a:ea typeface="楷体_GB2312" pitchFamily="49" charset="-122"/>
              </a:rPr>
              <a:t>边</a:t>
            </a:r>
            <a:r>
              <a:rPr lang="en-US" altLang="zh-CN" sz="1800" dirty="0">
                <a:ea typeface="楷体_GB2312" pitchFamily="49" charset="-122"/>
              </a:rPr>
              <a:t>)</a:t>
            </a:r>
            <a:r>
              <a:rPr lang="zh-CN" altLang="en-US" sz="1800" dirty="0">
                <a:ea typeface="楷体_GB2312" pitchFamily="49" charset="-122"/>
              </a:rPr>
              <a:t>优先；</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32</a:t>
            </a:fld>
            <a:endParaRPr lang="zh-CN" altLang="en-US"/>
          </a:p>
        </p:txBody>
      </p:sp>
    </p:spTree>
    <p:extLst>
      <p:ext uri="{BB962C8B-B14F-4D97-AF65-F5344CB8AC3E}">
        <p14:creationId xmlns:p14="http://schemas.microsoft.com/office/powerpoint/2010/main" val="42761212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b="1" dirty="0">
                <a:solidFill>
                  <a:srgbClr val="FF0000"/>
                </a:solidFill>
              </a:rPr>
              <a:t>定理</a:t>
            </a:r>
            <a:r>
              <a:rPr lang="en-US" altLang="zh-CN" b="1" dirty="0">
                <a:solidFill>
                  <a:srgbClr val="FF0000"/>
                </a:solidFill>
              </a:rPr>
              <a:t>5.2</a:t>
            </a:r>
            <a:r>
              <a:rPr lang="en-US" altLang="zh-CN" b="1" dirty="0"/>
              <a:t> </a:t>
            </a:r>
            <a:r>
              <a:rPr lang="zh-CN" altLang="en-US" b="1" dirty="0"/>
              <a:t>设 </a:t>
            </a:r>
            <a:r>
              <a:rPr lang="en-US" altLang="zh-CN" b="1" i="1" dirty="0"/>
              <a:t>f </a:t>
            </a:r>
            <a:r>
              <a:rPr lang="en-US" altLang="zh-CN" b="1" dirty="0"/>
              <a:t>: </a:t>
            </a:r>
            <a:r>
              <a:rPr lang="en-US" altLang="zh-CN" b="1" i="1" dirty="0"/>
              <a:t>B</a:t>
            </a:r>
            <a:r>
              <a:rPr lang="en-US" altLang="zh-CN" b="1" dirty="0"/>
              <a:t>→</a:t>
            </a:r>
            <a:r>
              <a:rPr lang="en-US" altLang="zh-CN" b="1" i="1" dirty="0"/>
              <a:t>C A</a:t>
            </a:r>
            <a:r>
              <a:rPr lang="en-US" altLang="zh-CN" b="1" dirty="0"/>
              <a:t>→</a:t>
            </a:r>
            <a:r>
              <a:rPr lang="en-US" altLang="zh-CN" b="1" i="1" dirty="0"/>
              <a:t>B</a:t>
            </a:r>
            <a:r>
              <a:rPr lang="en-US" altLang="zh-CN" b="1" dirty="0"/>
              <a:t>, </a:t>
            </a:r>
            <a:r>
              <a:rPr lang="en-US" altLang="zh-CN" b="1" i="1" dirty="0"/>
              <a:t>g </a:t>
            </a:r>
            <a:r>
              <a:rPr lang="en-US" altLang="zh-CN" b="1" dirty="0"/>
              <a:t>: </a:t>
            </a:r>
            <a:r>
              <a:rPr lang="en-US" altLang="zh-CN" b="1" i="1" dirty="0"/>
              <a:t>A</a:t>
            </a:r>
            <a:r>
              <a:rPr lang="en-US" altLang="zh-CN" b="1" dirty="0"/>
              <a:t>→</a:t>
            </a:r>
            <a:r>
              <a:rPr lang="en-US" altLang="zh-CN" b="1" i="1" dirty="0"/>
              <a:t>B</a:t>
            </a:r>
            <a:r>
              <a:rPr lang="en-US" altLang="zh-CN" b="1" dirty="0"/>
              <a:t>. </a:t>
            </a:r>
          </a:p>
          <a:p>
            <a:pPr eaLnBrk="1" hangingPunct="1">
              <a:buFontTx/>
              <a:buNone/>
            </a:pPr>
            <a:r>
              <a:rPr lang="en-US" altLang="zh-CN" b="1" dirty="0"/>
              <a:t>(1) </a:t>
            </a:r>
            <a:r>
              <a:rPr lang="zh-CN" altLang="en-US" b="1" dirty="0"/>
              <a:t>如果 </a:t>
            </a:r>
            <a:r>
              <a:rPr lang="en-US" altLang="zh-CN" b="1" i="1" dirty="0"/>
              <a:t>f </a:t>
            </a:r>
            <a:r>
              <a:rPr lang="zh-CN" altLang="en-US" b="1" dirty="0"/>
              <a:t>、</a:t>
            </a:r>
            <a:r>
              <a:rPr lang="en-US" altLang="zh-CN" b="1" dirty="0"/>
              <a:t> </a:t>
            </a:r>
            <a:r>
              <a:rPr lang="en-US" altLang="zh-CN" b="1" i="1" dirty="0"/>
              <a:t>g </a:t>
            </a:r>
            <a:r>
              <a:rPr lang="zh-CN" altLang="en-US" b="1" dirty="0"/>
              <a:t>是满射的</a:t>
            </a:r>
            <a:r>
              <a:rPr lang="en-US" altLang="zh-CN" b="1" dirty="0"/>
              <a:t>, </a:t>
            </a:r>
            <a:r>
              <a:rPr lang="zh-CN" altLang="en-US" b="1" dirty="0"/>
              <a:t>则 </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也是</a:t>
            </a:r>
            <a:r>
              <a:rPr lang="zh-CN" altLang="en-US" b="1" dirty="0">
                <a:solidFill>
                  <a:srgbClr val="FF0000"/>
                </a:solidFill>
              </a:rPr>
              <a:t>满射</a:t>
            </a:r>
            <a:r>
              <a:rPr lang="zh-CN" altLang="en-US" b="1" dirty="0"/>
              <a:t>的</a:t>
            </a:r>
            <a:r>
              <a:rPr lang="en-US" altLang="zh-CN" b="1" dirty="0"/>
              <a:t>. </a:t>
            </a:r>
          </a:p>
          <a:p>
            <a:pPr eaLnBrk="1" hangingPunct="1">
              <a:buFontTx/>
              <a:buNone/>
            </a:pPr>
            <a:r>
              <a:rPr lang="en-US" altLang="zh-CN" b="1" dirty="0"/>
              <a:t>(2) </a:t>
            </a:r>
            <a:r>
              <a:rPr lang="zh-CN" altLang="en-US" b="1" dirty="0"/>
              <a:t>如果 </a:t>
            </a:r>
            <a:r>
              <a:rPr lang="en-US" altLang="zh-CN" b="1" i="1" dirty="0"/>
              <a:t>f </a:t>
            </a:r>
            <a:r>
              <a:rPr lang="zh-CN" altLang="en-US" b="1" dirty="0"/>
              <a:t>、</a:t>
            </a:r>
            <a:r>
              <a:rPr lang="en-US" altLang="zh-CN" b="1" dirty="0"/>
              <a:t> </a:t>
            </a:r>
            <a:r>
              <a:rPr lang="en-US" altLang="zh-CN" b="1" i="1" dirty="0"/>
              <a:t>g </a:t>
            </a:r>
            <a:r>
              <a:rPr lang="zh-CN" altLang="en-US" b="1" dirty="0"/>
              <a:t>是单射的</a:t>
            </a:r>
            <a:r>
              <a:rPr lang="en-US" altLang="zh-CN" b="1" dirty="0"/>
              <a:t>, </a:t>
            </a:r>
            <a:r>
              <a:rPr lang="zh-CN" altLang="en-US" b="1" dirty="0"/>
              <a:t>则 </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也是</a:t>
            </a:r>
            <a:r>
              <a:rPr lang="zh-CN" altLang="en-US" b="1" dirty="0">
                <a:solidFill>
                  <a:srgbClr val="FF0000"/>
                </a:solidFill>
              </a:rPr>
              <a:t>单射</a:t>
            </a:r>
            <a:r>
              <a:rPr lang="zh-CN" altLang="en-US" b="1" dirty="0"/>
              <a:t>的</a:t>
            </a:r>
            <a:r>
              <a:rPr lang="en-US" altLang="zh-CN" b="1" dirty="0"/>
              <a:t>. </a:t>
            </a:r>
          </a:p>
          <a:p>
            <a:pPr eaLnBrk="1" hangingPunct="1">
              <a:buFontTx/>
              <a:buNone/>
            </a:pPr>
            <a:r>
              <a:rPr lang="en-US" altLang="zh-CN" b="1" dirty="0"/>
              <a:t>(3) </a:t>
            </a:r>
            <a:r>
              <a:rPr lang="zh-CN" altLang="en-US" b="1" dirty="0"/>
              <a:t>如果 </a:t>
            </a:r>
            <a:r>
              <a:rPr lang="en-US" altLang="zh-CN" b="1" i="1" dirty="0"/>
              <a:t>f </a:t>
            </a:r>
            <a:r>
              <a:rPr lang="zh-CN" altLang="en-US" b="1" dirty="0"/>
              <a:t>、</a:t>
            </a:r>
            <a:r>
              <a:rPr lang="en-US" altLang="zh-CN" b="1" dirty="0"/>
              <a:t> </a:t>
            </a:r>
            <a:r>
              <a:rPr lang="en-US" altLang="zh-CN" b="1" i="1" dirty="0"/>
              <a:t>g </a:t>
            </a:r>
            <a:r>
              <a:rPr lang="zh-CN" altLang="en-US" b="1" dirty="0"/>
              <a:t>是双射的</a:t>
            </a:r>
            <a:r>
              <a:rPr lang="en-US" altLang="zh-CN" b="1" dirty="0"/>
              <a:t>, </a:t>
            </a:r>
            <a:r>
              <a:rPr lang="zh-CN" altLang="en-US" b="1" dirty="0"/>
              <a:t>则 </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也是</a:t>
            </a:r>
            <a:r>
              <a:rPr lang="zh-CN" altLang="en-US" b="1" dirty="0">
                <a:solidFill>
                  <a:srgbClr val="FF0000"/>
                </a:solidFill>
              </a:rPr>
              <a:t>双射</a:t>
            </a:r>
            <a:r>
              <a:rPr lang="zh-CN" altLang="en-US" b="1" dirty="0"/>
              <a:t>的</a:t>
            </a:r>
            <a:r>
              <a:rPr lang="en-US" altLang="zh-CN" b="1" dirty="0"/>
              <a:t>. </a:t>
            </a:r>
          </a:p>
          <a:p>
            <a:pPr marL="457200" indent="-457200">
              <a:lnSpc>
                <a:spcPct val="110000"/>
              </a:lnSpc>
              <a:buNone/>
            </a:pPr>
            <a:r>
              <a:rPr lang="zh-CN" altLang="en-US" b="1" dirty="0">
                <a:solidFill>
                  <a:srgbClr val="00B0F0"/>
                </a:solidFill>
              </a:rPr>
              <a:t>证</a:t>
            </a:r>
            <a:r>
              <a:rPr lang="en-US" altLang="zh-CN" b="1" dirty="0">
                <a:solidFill>
                  <a:srgbClr val="00B0F0"/>
                </a:solidFill>
              </a:rPr>
              <a:t>(1)</a:t>
            </a:r>
            <a:r>
              <a:rPr lang="zh-CN" altLang="en-US" b="1" dirty="0">
                <a:solidFill>
                  <a:srgbClr val="00B0F0"/>
                </a:solidFill>
              </a:rPr>
              <a:t>：</a:t>
            </a:r>
            <a:r>
              <a:rPr lang="zh-CN" altLang="en-US" b="1" dirty="0"/>
              <a:t>只</a:t>
            </a:r>
            <a:r>
              <a:rPr lang="zh-CN" altLang="zh-CN" b="1" dirty="0"/>
              <a:t>要证明，对于</a:t>
            </a:r>
            <a:r>
              <a:rPr lang="en-US" altLang="zh-CN" b="1" i="1" dirty="0"/>
              <a:t>C</a:t>
            </a:r>
            <a:r>
              <a:rPr lang="zh-CN" altLang="zh-CN" b="1" dirty="0"/>
              <a:t>中的每个元素 </a:t>
            </a:r>
            <a:r>
              <a:rPr lang="en-US" altLang="zh-CN" b="1" i="1" dirty="0">
                <a:solidFill>
                  <a:srgbClr val="374151"/>
                </a:solidFill>
                <a:effectLst/>
                <a:ea typeface="等线" panose="02010600030101010101" pitchFamily="2" charset="-122"/>
                <a:cs typeface="Times New Roman" panose="02020603050405020304" pitchFamily="18" charset="0"/>
              </a:rPr>
              <a:t>c</a:t>
            </a:r>
            <a:r>
              <a:rPr lang="zh-CN" altLang="zh-CN" dirty="0">
                <a:effectLst/>
              </a:rPr>
              <a:t>，</a:t>
            </a:r>
            <a:r>
              <a:rPr lang="zh-CN" altLang="zh-CN" b="1" dirty="0"/>
              <a:t>存在至少一个 </a:t>
            </a:r>
            <a:r>
              <a:rPr lang="en-US" altLang="zh-CN" b="1" i="1" dirty="0"/>
              <a:t>A</a:t>
            </a:r>
            <a:r>
              <a:rPr lang="zh-CN" altLang="zh-CN" dirty="0">
                <a:effectLst/>
              </a:rPr>
              <a:t> </a:t>
            </a:r>
            <a:r>
              <a:rPr lang="zh-CN" altLang="zh-CN" b="1" dirty="0"/>
              <a:t>中的元素 </a:t>
            </a:r>
            <a:r>
              <a:rPr lang="en-US" altLang="zh-CN" b="1" i="1" dirty="0">
                <a:solidFill>
                  <a:srgbClr val="374151"/>
                </a:solidFill>
                <a:effectLst/>
                <a:ea typeface="等线" panose="02010600030101010101" pitchFamily="2" charset="-122"/>
                <a:cs typeface="Times New Roman" panose="02020603050405020304" pitchFamily="18" charset="0"/>
              </a:rPr>
              <a:t>a</a:t>
            </a:r>
            <a:r>
              <a:rPr lang="zh-CN" altLang="zh-CN" dirty="0">
                <a:effectLst/>
              </a:rPr>
              <a:t> </a:t>
            </a:r>
            <a:r>
              <a:rPr lang="zh-CN" altLang="zh-CN" b="1" dirty="0"/>
              <a:t>使得</a:t>
            </a:r>
            <a:r>
              <a:rPr lang="zh-CN" altLang="zh-CN" dirty="0">
                <a:effectLst/>
                <a:ea typeface="等线" panose="02010600030101010101" pitchFamily="2" charset="-122"/>
                <a:cs typeface="Times New Roman" panose="02020603050405020304" pitchFamily="18" charset="0"/>
              </a:rPr>
              <a:t> </a:t>
            </a:r>
            <a:r>
              <a:rPr lang="en-US" altLang="zh-CN" dirty="0">
                <a:solidFill>
                  <a:srgbClr val="374151"/>
                </a:solidFill>
                <a:effectLst/>
                <a:ea typeface="等线" panose="02010600030101010101" pitchFamily="2" charset="-122"/>
              </a:rPr>
              <a:t>(</a:t>
            </a:r>
            <a:r>
              <a:rPr lang="en-US" altLang="zh-CN" b="1" i="1" dirty="0"/>
              <a:t>f</a:t>
            </a:r>
            <a:r>
              <a:rPr kumimoji="0" lang="en-US" altLang="zh-CN" b="1" dirty="0">
                <a:sym typeface="Symbol" panose="05050102010706020507" pitchFamily="18" charset="2"/>
              </a:rPr>
              <a:t>∘</a:t>
            </a:r>
            <a:r>
              <a:rPr lang="en-US" altLang="zh-CN" b="1" i="1" dirty="0"/>
              <a:t>g</a:t>
            </a:r>
            <a:r>
              <a:rPr lang="en-US" altLang="zh-CN" i="1" dirty="0">
                <a:solidFill>
                  <a:srgbClr val="374151"/>
                </a:solidFill>
                <a:effectLst/>
                <a:ea typeface="等线" panose="02010600030101010101" pitchFamily="2" charset="-122"/>
              </a:rPr>
              <a:t>)(</a:t>
            </a:r>
            <a:r>
              <a:rPr lang="en-US" altLang="zh-CN" b="1" i="1" dirty="0">
                <a:solidFill>
                  <a:srgbClr val="374151"/>
                </a:solidFill>
                <a:effectLst/>
                <a:ea typeface="等线" panose="02010600030101010101" pitchFamily="2" charset="-122"/>
                <a:cs typeface="Times New Roman" panose="02020603050405020304" pitchFamily="18" charset="0"/>
              </a:rPr>
              <a:t>a</a:t>
            </a:r>
            <a:r>
              <a:rPr lang="en-US" altLang="zh-CN" i="1" dirty="0">
                <a:solidFill>
                  <a:srgbClr val="374151"/>
                </a:solidFill>
                <a:effectLst/>
                <a:ea typeface="等线" panose="02010600030101010101" pitchFamily="2" charset="-122"/>
              </a:rPr>
              <a:t>)=</a:t>
            </a:r>
            <a:r>
              <a:rPr lang="en-US" altLang="zh-CN" b="1" i="1" dirty="0">
                <a:solidFill>
                  <a:srgbClr val="374151"/>
                </a:solidFill>
                <a:effectLst/>
                <a:ea typeface="等线" panose="02010600030101010101" pitchFamily="2" charset="-122"/>
              </a:rPr>
              <a:t>c</a:t>
            </a:r>
            <a:r>
              <a:rPr lang="en-US" altLang="zh-CN" i="1" dirty="0">
                <a:solidFill>
                  <a:srgbClr val="374151"/>
                </a:solidFill>
                <a:effectLst/>
                <a:ea typeface="等线" panose="02010600030101010101" pitchFamily="2" charset="-122"/>
              </a:rPr>
              <a:t>。</a:t>
            </a:r>
          </a:p>
          <a:p>
            <a:pPr marL="0" indent="630238">
              <a:lnSpc>
                <a:spcPct val="110000"/>
              </a:lnSpc>
              <a:buNone/>
            </a:pPr>
            <a:r>
              <a:rPr lang="zh-CN" altLang="zh-CN" b="1" dirty="0"/>
              <a:t>对于</a:t>
            </a:r>
            <a:r>
              <a:rPr lang="zh-CN" altLang="zh-CN" dirty="0">
                <a:effectLst/>
                <a:ea typeface="等线" panose="02010600030101010101" pitchFamily="2" charset="-122"/>
                <a:cs typeface="Times New Roman" panose="02020603050405020304" pitchFamily="18" charset="0"/>
              </a:rPr>
              <a:t> </a:t>
            </a:r>
            <a:r>
              <a:rPr lang="en-US" altLang="zh-CN" b="1" i="1" dirty="0"/>
              <a:t>C</a:t>
            </a:r>
            <a:r>
              <a:rPr lang="zh-CN" altLang="zh-CN" b="1" dirty="0"/>
              <a:t>中的</a:t>
            </a:r>
            <a:r>
              <a:rPr lang="zh-CN" altLang="en-US" b="1" dirty="0"/>
              <a:t>任意</a:t>
            </a:r>
            <a:r>
              <a:rPr lang="zh-CN" altLang="zh-CN" b="1" dirty="0"/>
              <a:t>元素 </a:t>
            </a:r>
            <a:r>
              <a:rPr lang="en-US" altLang="zh-CN" b="1" i="1" dirty="0">
                <a:solidFill>
                  <a:srgbClr val="374151"/>
                </a:solidFill>
                <a:effectLst/>
                <a:ea typeface="等线" panose="02010600030101010101" pitchFamily="2" charset="-122"/>
                <a:cs typeface="Times New Roman" panose="02020603050405020304" pitchFamily="18" charset="0"/>
              </a:rPr>
              <a:t>c</a:t>
            </a:r>
            <a:r>
              <a:rPr lang="zh-CN" altLang="en-US" b="1" i="1" dirty="0">
                <a:solidFill>
                  <a:srgbClr val="374151"/>
                </a:solidFill>
                <a:effectLst/>
                <a:ea typeface="等线" panose="02010600030101010101" pitchFamily="2" charset="-122"/>
                <a:cs typeface="Times New Roman" panose="02020603050405020304" pitchFamily="18" charset="0"/>
              </a:rPr>
              <a:t>，</a:t>
            </a:r>
            <a:r>
              <a:rPr lang="en-US" altLang="zh-CN" b="1" i="1" dirty="0"/>
              <a:t> f </a:t>
            </a:r>
            <a:r>
              <a:rPr lang="zh-CN" altLang="en-US" b="1" dirty="0"/>
              <a:t>的满射性使得必有</a:t>
            </a:r>
            <a:r>
              <a:rPr lang="en-US" altLang="zh-CN" b="1" i="1" dirty="0"/>
              <a:t>B</a:t>
            </a:r>
            <a:r>
              <a:rPr lang="zh-CN" altLang="en-US" b="1" dirty="0"/>
              <a:t>中的元素</a:t>
            </a:r>
            <a:r>
              <a:rPr lang="en-US" altLang="zh-CN" b="1" i="1" dirty="0"/>
              <a:t>b</a:t>
            </a:r>
            <a:r>
              <a:rPr lang="zh-CN" altLang="en-US" b="1" dirty="0"/>
              <a:t>使得 </a:t>
            </a:r>
            <a:r>
              <a:rPr lang="en-US" altLang="zh-CN" b="1" i="1" dirty="0"/>
              <a:t>f </a:t>
            </a:r>
            <a:r>
              <a:rPr lang="en-US" altLang="zh-CN" b="1" dirty="0"/>
              <a:t>(</a:t>
            </a:r>
            <a:r>
              <a:rPr lang="en-US" altLang="zh-CN" b="1" i="1" dirty="0"/>
              <a:t>b</a:t>
            </a:r>
            <a:r>
              <a:rPr lang="en-US" altLang="zh-CN" b="1" dirty="0"/>
              <a:t>)=</a:t>
            </a:r>
            <a:r>
              <a:rPr lang="en-US" altLang="zh-CN" b="1" i="1" dirty="0"/>
              <a:t>c</a:t>
            </a:r>
            <a:r>
              <a:rPr lang="zh-CN" altLang="en-US" b="1" i="1" dirty="0"/>
              <a:t>。</a:t>
            </a:r>
            <a:r>
              <a:rPr lang="en-US" altLang="zh-CN" b="1" i="1" dirty="0"/>
              <a:t>g</a:t>
            </a:r>
            <a:r>
              <a:rPr lang="zh-CN" altLang="en-US" b="1" dirty="0"/>
              <a:t>的满射性使得必有</a:t>
            </a:r>
            <a:r>
              <a:rPr lang="en-US" altLang="zh-CN" b="1" i="1" dirty="0"/>
              <a:t>A</a:t>
            </a:r>
            <a:r>
              <a:rPr lang="zh-CN" altLang="en-US" b="1" dirty="0"/>
              <a:t>中的元素</a:t>
            </a:r>
            <a:r>
              <a:rPr lang="en-US" altLang="zh-CN" b="1" i="1" dirty="0">
                <a:solidFill>
                  <a:srgbClr val="374151"/>
                </a:solidFill>
                <a:effectLst/>
                <a:ea typeface="等线" panose="02010600030101010101" pitchFamily="2" charset="-122"/>
                <a:cs typeface="Times New Roman" panose="02020603050405020304" pitchFamily="18" charset="0"/>
              </a:rPr>
              <a:t>a</a:t>
            </a:r>
            <a:r>
              <a:rPr lang="zh-CN" altLang="en-US" b="1" dirty="0"/>
              <a:t>使得 </a:t>
            </a:r>
            <a:r>
              <a:rPr lang="en-US" altLang="zh-CN" b="1" i="1" dirty="0"/>
              <a:t>g </a:t>
            </a:r>
            <a:r>
              <a:rPr lang="en-US" altLang="zh-CN" b="1" dirty="0"/>
              <a:t>(</a:t>
            </a:r>
            <a:r>
              <a:rPr lang="en-US" altLang="zh-CN" b="1" i="1" dirty="0">
                <a:solidFill>
                  <a:srgbClr val="374151"/>
                </a:solidFill>
                <a:effectLst/>
                <a:ea typeface="等线" panose="02010600030101010101" pitchFamily="2" charset="-122"/>
                <a:cs typeface="Times New Roman" panose="02020603050405020304" pitchFamily="18" charset="0"/>
              </a:rPr>
              <a:t>a</a:t>
            </a:r>
            <a:r>
              <a:rPr lang="en-US" altLang="zh-CN" b="1" dirty="0"/>
              <a:t>)=</a:t>
            </a:r>
            <a:r>
              <a:rPr lang="en-US" altLang="zh-CN" b="1" i="1" dirty="0"/>
              <a:t> b</a:t>
            </a:r>
            <a:r>
              <a:rPr lang="zh-CN" altLang="en-US" b="1" dirty="0"/>
              <a:t>。有了</a:t>
            </a:r>
            <a:r>
              <a:rPr lang="en-US" altLang="zh-CN" b="1" i="1" dirty="0"/>
              <a:t>g </a:t>
            </a:r>
            <a:r>
              <a:rPr lang="en-US" altLang="zh-CN" b="1" dirty="0"/>
              <a:t>(</a:t>
            </a:r>
            <a:r>
              <a:rPr lang="en-US" altLang="zh-CN" b="1" i="1" dirty="0">
                <a:solidFill>
                  <a:srgbClr val="374151"/>
                </a:solidFill>
                <a:effectLst/>
                <a:ea typeface="等线" panose="02010600030101010101" pitchFamily="2" charset="-122"/>
                <a:cs typeface="Times New Roman" panose="02020603050405020304" pitchFamily="18" charset="0"/>
              </a:rPr>
              <a:t>a</a:t>
            </a:r>
            <a:r>
              <a:rPr lang="en-US" altLang="zh-CN" b="1" dirty="0"/>
              <a:t>)=</a:t>
            </a:r>
            <a:r>
              <a:rPr lang="en-US" altLang="zh-CN" b="1" i="1" dirty="0"/>
              <a:t> b</a:t>
            </a:r>
            <a:r>
              <a:rPr lang="zh-CN" altLang="zh-CN" b="1" dirty="0"/>
              <a:t>和 </a:t>
            </a:r>
            <a:r>
              <a:rPr lang="en-US" altLang="zh-CN" b="1" i="1" dirty="0"/>
              <a:t>f </a:t>
            </a:r>
            <a:r>
              <a:rPr lang="en-US" altLang="zh-CN" b="1" dirty="0"/>
              <a:t>(</a:t>
            </a:r>
            <a:r>
              <a:rPr lang="en-US" altLang="zh-CN" b="1" i="1" dirty="0"/>
              <a:t>b</a:t>
            </a:r>
            <a:r>
              <a:rPr lang="en-US" altLang="zh-CN" b="1" dirty="0"/>
              <a:t>)=</a:t>
            </a:r>
            <a:r>
              <a:rPr lang="en-US" altLang="zh-CN" b="1" i="1" dirty="0"/>
              <a:t>c </a:t>
            </a:r>
            <a:r>
              <a:rPr lang="zh-CN" altLang="en-US" b="1" dirty="0"/>
              <a:t>，</a:t>
            </a:r>
            <a:r>
              <a:rPr lang="zh-CN" altLang="zh-CN" b="1" dirty="0"/>
              <a:t>根据复合函数的定义</a:t>
            </a:r>
            <a:r>
              <a:rPr lang="zh-CN" altLang="en-US" b="1" dirty="0"/>
              <a:t>有</a:t>
            </a:r>
            <a:r>
              <a:rPr lang="zh-CN" altLang="zh-CN" b="1" dirty="0"/>
              <a:t> </a:t>
            </a:r>
            <a:r>
              <a:rPr lang="en-US" altLang="zh-CN" b="1" dirty="0"/>
              <a:t>(</a:t>
            </a:r>
            <a:r>
              <a:rPr lang="en-US" altLang="zh-CN" b="1" i="1" dirty="0"/>
              <a:t>f</a:t>
            </a:r>
            <a:r>
              <a:rPr kumimoji="0" lang="en-US" altLang="zh-CN" b="1" dirty="0">
                <a:sym typeface="Symbol" panose="05050102010706020507" pitchFamily="18" charset="2"/>
              </a:rPr>
              <a:t>∘</a:t>
            </a:r>
            <a:r>
              <a:rPr lang="en-US" altLang="zh-CN" b="1" i="1" dirty="0"/>
              <a:t>g</a:t>
            </a:r>
            <a:r>
              <a:rPr lang="en-US" altLang="zh-CN" b="1" dirty="0"/>
              <a:t>)(</a:t>
            </a:r>
            <a:r>
              <a:rPr lang="en-US" altLang="zh-CN" b="1" i="1" dirty="0"/>
              <a:t>a</a:t>
            </a:r>
            <a:r>
              <a:rPr lang="en-US" altLang="zh-CN" b="1" dirty="0"/>
              <a:t>)=</a:t>
            </a:r>
            <a:r>
              <a:rPr lang="zh-CN" altLang="zh-CN" b="1" i="1" dirty="0"/>
              <a:t>f</a:t>
            </a:r>
            <a:r>
              <a:rPr lang="en-US" altLang="zh-CN" b="1" dirty="0"/>
              <a:t>(</a:t>
            </a:r>
            <a:r>
              <a:rPr lang="en-US" altLang="zh-CN" b="1" i="1" dirty="0"/>
              <a:t>g</a:t>
            </a:r>
            <a:r>
              <a:rPr lang="en-US" altLang="zh-CN" b="1" dirty="0"/>
              <a:t>(</a:t>
            </a:r>
            <a:r>
              <a:rPr lang="en-US" altLang="zh-CN" b="1" i="1" dirty="0"/>
              <a:t>a</a:t>
            </a:r>
            <a:r>
              <a:rPr lang="en-US" altLang="zh-CN" b="1" dirty="0"/>
              <a:t>))=</a:t>
            </a:r>
            <a:r>
              <a:rPr lang="zh-CN" altLang="zh-CN" b="1" i="1" dirty="0"/>
              <a:t>f</a:t>
            </a:r>
            <a:r>
              <a:rPr lang="en-US" altLang="zh-CN" b="1" dirty="0"/>
              <a:t>(</a:t>
            </a:r>
            <a:r>
              <a:rPr lang="en-US" altLang="zh-CN" b="1" i="1" dirty="0"/>
              <a:t>b</a:t>
            </a:r>
            <a:r>
              <a:rPr lang="en-US" altLang="zh-CN" b="1" dirty="0"/>
              <a:t>)=</a:t>
            </a:r>
            <a:r>
              <a:rPr lang="zh-CN" altLang="zh-CN" b="1" i="1" dirty="0"/>
              <a:t>c</a:t>
            </a:r>
            <a:r>
              <a:rPr lang="zh-CN" altLang="zh-CN" b="1" dirty="0"/>
              <a:t>。</a:t>
            </a:r>
            <a:endParaRPr lang="en-US" altLang="zh-CN" b="1" dirty="0"/>
          </a:p>
          <a:p>
            <a:pPr marL="84138" indent="-84138">
              <a:lnSpc>
                <a:spcPct val="110000"/>
              </a:lnSpc>
              <a:buNone/>
            </a:pPr>
            <a:r>
              <a:rPr lang="zh-CN" altLang="en-US" b="1" dirty="0"/>
              <a:t>从而证明了</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是满射的</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33</a:t>
            </a:fld>
            <a:endParaRPr lang="zh-CN" altLang="en-US"/>
          </a:p>
        </p:txBody>
      </p:sp>
    </p:spTree>
    <p:extLst>
      <p:ext uri="{BB962C8B-B14F-4D97-AF65-F5344CB8AC3E}">
        <p14:creationId xmlns:p14="http://schemas.microsoft.com/office/powerpoint/2010/main" val="18592755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b="1" dirty="0">
                <a:solidFill>
                  <a:srgbClr val="FF0000"/>
                </a:solidFill>
              </a:rPr>
              <a:t>定理</a:t>
            </a:r>
            <a:r>
              <a:rPr lang="en-US" altLang="zh-CN" b="1" dirty="0">
                <a:solidFill>
                  <a:srgbClr val="FF0000"/>
                </a:solidFill>
              </a:rPr>
              <a:t>5.2</a:t>
            </a:r>
            <a:r>
              <a:rPr lang="en-US" altLang="zh-CN" b="1" dirty="0"/>
              <a:t> </a:t>
            </a:r>
            <a:r>
              <a:rPr lang="zh-CN" altLang="en-US" b="1" dirty="0"/>
              <a:t>设 </a:t>
            </a:r>
            <a:r>
              <a:rPr lang="en-US" altLang="zh-CN" b="1" i="1" dirty="0"/>
              <a:t>f </a:t>
            </a:r>
            <a:r>
              <a:rPr lang="en-US" altLang="zh-CN" b="1" dirty="0"/>
              <a:t>: </a:t>
            </a:r>
            <a:r>
              <a:rPr lang="en-US" altLang="zh-CN" b="1" i="1" dirty="0"/>
              <a:t>B</a:t>
            </a:r>
            <a:r>
              <a:rPr lang="en-US" altLang="zh-CN" b="1" dirty="0"/>
              <a:t>→</a:t>
            </a:r>
            <a:r>
              <a:rPr lang="en-US" altLang="zh-CN" b="1" i="1" dirty="0"/>
              <a:t>C A</a:t>
            </a:r>
            <a:r>
              <a:rPr lang="en-US" altLang="zh-CN" b="1" dirty="0"/>
              <a:t>→</a:t>
            </a:r>
            <a:r>
              <a:rPr lang="en-US" altLang="zh-CN" b="1" i="1" dirty="0"/>
              <a:t>B</a:t>
            </a:r>
            <a:r>
              <a:rPr lang="en-US" altLang="zh-CN" b="1" dirty="0"/>
              <a:t>, </a:t>
            </a:r>
            <a:r>
              <a:rPr lang="en-US" altLang="zh-CN" b="1" i="1" dirty="0"/>
              <a:t>g </a:t>
            </a:r>
            <a:r>
              <a:rPr lang="en-US" altLang="zh-CN" b="1" dirty="0"/>
              <a:t>: </a:t>
            </a:r>
            <a:r>
              <a:rPr lang="en-US" altLang="zh-CN" b="1" i="1" dirty="0"/>
              <a:t>A</a:t>
            </a:r>
            <a:r>
              <a:rPr lang="en-US" altLang="zh-CN" b="1" dirty="0"/>
              <a:t>→</a:t>
            </a:r>
            <a:r>
              <a:rPr lang="en-US" altLang="zh-CN" b="1" i="1" dirty="0"/>
              <a:t>B</a:t>
            </a:r>
            <a:r>
              <a:rPr lang="en-US" altLang="zh-CN" b="1" dirty="0"/>
              <a:t>. </a:t>
            </a:r>
          </a:p>
          <a:p>
            <a:pPr eaLnBrk="1" hangingPunct="1">
              <a:buFontTx/>
              <a:buNone/>
            </a:pPr>
            <a:r>
              <a:rPr lang="en-US" altLang="zh-CN" b="1" dirty="0"/>
              <a:t>(1) </a:t>
            </a:r>
            <a:r>
              <a:rPr lang="zh-CN" altLang="en-US" b="1" dirty="0"/>
              <a:t>如果 </a:t>
            </a:r>
            <a:r>
              <a:rPr lang="en-US" altLang="zh-CN" b="1" i="1" dirty="0"/>
              <a:t>f </a:t>
            </a:r>
            <a:r>
              <a:rPr lang="zh-CN" altLang="en-US" b="1" dirty="0"/>
              <a:t>、</a:t>
            </a:r>
            <a:r>
              <a:rPr lang="en-US" altLang="zh-CN" b="1" dirty="0"/>
              <a:t> </a:t>
            </a:r>
            <a:r>
              <a:rPr lang="en-US" altLang="zh-CN" b="1" i="1" dirty="0"/>
              <a:t>g </a:t>
            </a:r>
            <a:r>
              <a:rPr lang="zh-CN" altLang="en-US" b="1" dirty="0"/>
              <a:t>是满射的</a:t>
            </a:r>
            <a:r>
              <a:rPr lang="en-US" altLang="zh-CN" b="1" dirty="0"/>
              <a:t>, </a:t>
            </a:r>
            <a:r>
              <a:rPr lang="zh-CN" altLang="en-US" b="1" dirty="0"/>
              <a:t>则 </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也是</a:t>
            </a:r>
            <a:r>
              <a:rPr lang="zh-CN" altLang="en-US" b="1" dirty="0">
                <a:solidFill>
                  <a:srgbClr val="FF0000"/>
                </a:solidFill>
              </a:rPr>
              <a:t>满射</a:t>
            </a:r>
            <a:r>
              <a:rPr lang="zh-CN" altLang="en-US" b="1" dirty="0"/>
              <a:t>的</a:t>
            </a:r>
            <a:r>
              <a:rPr lang="en-US" altLang="zh-CN" b="1" dirty="0"/>
              <a:t>. </a:t>
            </a:r>
          </a:p>
          <a:p>
            <a:pPr eaLnBrk="1" hangingPunct="1">
              <a:buFontTx/>
              <a:buNone/>
            </a:pPr>
            <a:r>
              <a:rPr lang="en-US" altLang="zh-CN" b="1" dirty="0"/>
              <a:t>(2) </a:t>
            </a:r>
            <a:r>
              <a:rPr lang="zh-CN" altLang="en-US" b="1" dirty="0"/>
              <a:t>如果 </a:t>
            </a:r>
            <a:r>
              <a:rPr lang="en-US" altLang="zh-CN" b="1" i="1" dirty="0"/>
              <a:t>f </a:t>
            </a:r>
            <a:r>
              <a:rPr lang="zh-CN" altLang="en-US" b="1" dirty="0"/>
              <a:t>、</a:t>
            </a:r>
            <a:r>
              <a:rPr lang="en-US" altLang="zh-CN" b="1" dirty="0"/>
              <a:t> </a:t>
            </a:r>
            <a:r>
              <a:rPr lang="en-US" altLang="zh-CN" b="1" i="1" dirty="0"/>
              <a:t>g </a:t>
            </a:r>
            <a:r>
              <a:rPr lang="zh-CN" altLang="en-US" b="1" dirty="0"/>
              <a:t>是单射的</a:t>
            </a:r>
            <a:r>
              <a:rPr lang="en-US" altLang="zh-CN" b="1" dirty="0"/>
              <a:t>, </a:t>
            </a:r>
            <a:r>
              <a:rPr lang="zh-CN" altLang="en-US" b="1" dirty="0"/>
              <a:t>则 </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也是</a:t>
            </a:r>
            <a:r>
              <a:rPr lang="zh-CN" altLang="en-US" b="1" dirty="0">
                <a:solidFill>
                  <a:srgbClr val="FF0000"/>
                </a:solidFill>
              </a:rPr>
              <a:t>单射</a:t>
            </a:r>
            <a:r>
              <a:rPr lang="zh-CN" altLang="en-US" b="1" dirty="0"/>
              <a:t>的</a:t>
            </a:r>
            <a:r>
              <a:rPr lang="en-US" altLang="zh-CN" b="1" dirty="0"/>
              <a:t>. </a:t>
            </a:r>
          </a:p>
          <a:p>
            <a:pPr eaLnBrk="1" hangingPunct="1">
              <a:buFontTx/>
              <a:buNone/>
            </a:pPr>
            <a:r>
              <a:rPr lang="en-US" altLang="zh-CN" b="1" dirty="0"/>
              <a:t>(3) </a:t>
            </a:r>
            <a:r>
              <a:rPr lang="zh-CN" altLang="en-US" b="1" dirty="0"/>
              <a:t>如果 </a:t>
            </a:r>
            <a:r>
              <a:rPr lang="en-US" altLang="zh-CN" b="1" i="1" dirty="0"/>
              <a:t>f </a:t>
            </a:r>
            <a:r>
              <a:rPr lang="zh-CN" altLang="en-US" b="1" dirty="0"/>
              <a:t>、</a:t>
            </a:r>
            <a:r>
              <a:rPr lang="en-US" altLang="zh-CN" b="1" dirty="0"/>
              <a:t> </a:t>
            </a:r>
            <a:r>
              <a:rPr lang="en-US" altLang="zh-CN" b="1" i="1" dirty="0"/>
              <a:t>g </a:t>
            </a:r>
            <a:r>
              <a:rPr lang="zh-CN" altLang="en-US" b="1" dirty="0"/>
              <a:t>是双射的</a:t>
            </a:r>
            <a:r>
              <a:rPr lang="en-US" altLang="zh-CN" b="1" dirty="0"/>
              <a:t>, </a:t>
            </a:r>
            <a:r>
              <a:rPr lang="zh-CN" altLang="en-US" b="1" dirty="0"/>
              <a:t>则 </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也是</a:t>
            </a:r>
            <a:r>
              <a:rPr lang="zh-CN" altLang="en-US" b="1" dirty="0">
                <a:solidFill>
                  <a:srgbClr val="FF0000"/>
                </a:solidFill>
              </a:rPr>
              <a:t>双射</a:t>
            </a:r>
            <a:r>
              <a:rPr lang="zh-CN" altLang="en-US" b="1" dirty="0"/>
              <a:t>的</a:t>
            </a:r>
            <a:r>
              <a:rPr lang="en-US" altLang="zh-CN" b="1" dirty="0"/>
              <a:t>. </a:t>
            </a:r>
          </a:p>
          <a:p>
            <a:pPr marL="457200" indent="-457200">
              <a:lnSpc>
                <a:spcPct val="110000"/>
              </a:lnSpc>
              <a:buNone/>
            </a:pPr>
            <a:r>
              <a:rPr lang="zh-CN" altLang="en-US" b="1" dirty="0">
                <a:solidFill>
                  <a:srgbClr val="00B0F0"/>
                </a:solidFill>
              </a:rPr>
              <a:t>证</a:t>
            </a:r>
            <a:r>
              <a:rPr lang="en-US" altLang="zh-CN" b="1" dirty="0">
                <a:solidFill>
                  <a:srgbClr val="00B0F0"/>
                </a:solidFill>
              </a:rPr>
              <a:t>(1)</a:t>
            </a:r>
            <a:r>
              <a:rPr lang="zh-CN" altLang="en-US" b="1" dirty="0">
                <a:solidFill>
                  <a:srgbClr val="00B0F0"/>
                </a:solidFill>
              </a:rPr>
              <a:t>：</a:t>
            </a:r>
            <a:r>
              <a:rPr lang="zh-CN" altLang="en-US" b="1" dirty="0"/>
              <a:t>只</a:t>
            </a:r>
            <a:r>
              <a:rPr lang="zh-CN" altLang="zh-CN" b="1" dirty="0"/>
              <a:t>要证明，对于</a:t>
            </a:r>
            <a:r>
              <a:rPr lang="en-US" altLang="zh-CN" b="1" i="1" dirty="0"/>
              <a:t>C</a:t>
            </a:r>
            <a:r>
              <a:rPr lang="zh-CN" altLang="zh-CN" b="1" dirty="0"/>
              <a:t>中的每个元素 </a:t>
            </a:r>
            <a:r>
              <a:rPr lang="en-US" altLang="zh-CN" b="1" i="1" dirty="0">
                <a:solidFill>
                  <a:srgbClr val="374151"/>
                </a:solidFill>
                <a:effectLst/>
                <a:ea typeface="等线" panose="02010600030101010101" pitchFamily="2" charset="-122"/>
                <a:cs typeface="Times New Roman" panose="02020603050405020304" pitchFamily="18" charset="0"/>
              </a:rPr>
              <a:t>c</a:t>
            </a:r>
            <a:r>
              <a:rPr lang="zh-CN" altLang="zh-CN" dirty="0">
                <a:effectLst/>
              </a:rPr>
              <a:t>，</a:t>
            </a:r>
            <a:r>
              <a:rPr lang="zh-CN" altLang="zh-CN" b="1" dirty="0"/>
              <a:t>存在至少一个 </a:t>
            </a:r>
            <a:r>
              <a:rPr lang="en-US" altLang="zh-CN" b="1" i="1" dirty="0"/>
              <a:t>A</a:t>
            </a:r>
            <a:r>
              <a:rPr lang="zh-CN" altLang="zh-CN" dirty="0">
                <a:effectLst/>
              </a:rPr>
              <a:t> </a:t>
            </a:r>
            <a:r>
              <a:rPr lang="zh-CN" altLang="zh-CN" b="1" dirty="0"/>
              <a:t>中的元素 </a:t>
            </a:r>
            <a:r>
              <a:rPr lang="en-US" altLang="zh-CN" b="1" i="1" dirty="0">
                <a:solidFill>
                  <a:srgbClr val="374151"/>
                </a:solidFill>
                <a:effectLst/>
                <a:ea typeface="等线" panose="02010600030101010101" pitchFamily="2" charset="-122"/>
                <a:cs typeface="Times New Roman" panose="02020603050405020304" pitchFamily="18" charset="0"/>
              </a:rPr>
              <a:t>a</a:t>
            </a:r>
            <a:r>
              <a:rPr lang="zh-CN" altLang="zh-CN" dirty="0">
                <a:effectLst/>
              </a:rPr>
              <a:t> </a:t>
            </a:r>
            <a:r>
              <a:rPr lang="zh-CN" altLang="zh-CN" b="1" dirty="0"/>
              <a:t>使得</a:t>
            </a:r>
            <a:r>
              <a:rPr lang="zh-CN" altLang="zh-CN" dirty="0">
                <a:effectLst/>
                <a:ea typeface="等线" panose="02010600030101010101" pitchFamily="2" charset="-122"/>
                <a:cs typeface="Times New Roman" panose="02020603050405020304" pitchFamily="18" charset="0"/>
              </a:rPr>
              <a:t> </a:t>
            </a:r>
            <a:r>
              <a:rPr lang="en-US" altLang="zh-CN" dirty="0">
                <a:solidFill>
                  <a:srgbClr val="374151"/>
                </a:solidFill>
                <a:effectLst/>
                <a:ea typeface="等线" panose="02010600030101010101" pitchFamily="2" charset="-122"/>
              </a:rPr>
              <a:t>(</a:t>
            </a:r>
            <a:r>
              <a:rPr lang="en-US" altLang="zh-CN" b="1" i="1" dirty="0"/>
              <a:t>f</a:t>
            </a:r>
            <a:r>
              <a:rPr kumimoji="0" lang="en-US" altLang="zh-CN" b="1" dirty="0">
                <a:sym typeface="Symbol" panose="05050102010706020507" pitchFamily="18" charset="2"/>
              </a:rPr>
              <a:t>∘</a:t>
            </a:r>
            <a:r>
              <a:rPr lang="en-US" altLang="zh-CN" b="1" i="1" dirty="0"/>
              <a:t>g</a:t>
            </a:r>
            <a:r>
              <a:rPr lang="en-US" altLang="zh-CN" i="1" dirty="0">
                <a:solidFill>
                  <a:srgbClr val="374151"/>
                </a:solidFill>
                <a:effectLst/>
                <a:ea typeface="等线" panose="02010600030101010101" pitchFamily="2" charset="-122"/>
              </a:rPr>
              <a:t>)(</a:t>
            </a:r>
            <a:r>
              <a:rPr lang="en-US" altLang="zh-CN" b="1" i="1" dirty="0">
                <a:solidFill>
                  <a:srgbClr val="374151"/>
                </a:solidFill>
                <a:effectLst/>
                <a:ea typeface="等线" panose="02010600030101010101" pitchFamily="2" charset="-122"/>
                <a:cs typeface="Times New Roman" panose="02020603050405020304" pitchFamily="18" charset="0"/>
              </a:rPr>
              <a:t>a</a:t>
            </a:r>
            <a:r>
              <a:rPr lang="en-US" altLang="zh-CN" i="1" dirty="0">
                <a:solidFill>
                  <a:srgbClr val="374151"/>
                </a:solidFill>
                <a:effectLst/>
                <a:ea typeface="等线" panose="02010600030101010101" pitchFamily="2" charset="-122"/>
              </a:rPr>
              <a:t>)=</a:t>
            </a:r>
            <a:r>
              <a:rPr lang="en-US" altLang="zh-CN" b="1" i="1" dirty="0">
                <a:solidFill>
                  <a:srgbClr val="374151"/>
                </a:solidFill>
                <a:effectLst/>
                <a:ea typeface="等线" panose="02010600030101010101" pitchFamily="2" charset="-122"/>
              </a:rPr>
              <a:t>c</a:t>
            </a:r>
            <a:r>
              <a:rPr lang="en-US" altLang="zh-CN" i="1" dirty="0">
                <a:solidFill>
                  <a:srgbClr val="374151"/>
                </a:solidFill>
                <a:effectLst/>
                <a:ea typeface="等线" panose="02010600030101010101" pitchFamily="2" charset="-122"/>
              </a:rPr>
              <a:t>。</a:t>
            </a:r>
          </a:p>
          <a:p>
            <a:pPr marL="0" indent="630238">
              <a:lnSpc>
                <a:spcPct val="110000"/>
              </a:lnSpc>
              <a:buNone/>
            </a:pPr>
            <a:r>
              <a:rPr lang="zh-CN" altLang="zh-CN" b="1" dirty="0"/>
              <a:t>对于</a:t>
            </a:r>
            <a:r>
              <a:rPr lang="zh-CN" altLang="zh-CN" dirty="0">
                <a:effectLst/>
                <a:ea typeface="等线" panose="02010600030101010101" pitchFamily="2" charset="-122"/>
                <a:cs typeface="Times New Roman" panose="02020603050405020304" pitchFamily="18" charset="0"/>
              </a:rPr>
              <a:t> </a:t>
            </a:r>
            <a:r>
              <a:rPr lang="en-US" altLang="zh-CN" b="1" i="1" dirty="0"/>
              <a:t>C</a:t>
            </a:r>
            <a:r>
              <a:rPr lang="zh-CN" altLang="zh-CN" b="1" dirty="0"/>
              <a:t>中的</a:t>
            </a:r>
            <a:r>
              <a:rPr lang="zh-CN" altLang="en-US" b="1" dirty="0"/>
              <a:t>任意</a:t>
            </a:r>
            <a:r>
              <a:rPr lang="zh-CN" altLang="zh-CN" b="1" dirty="0"/>
              <a:t>元素 </a:t>
            </a:r>
            <a:r>
              <a:rPr lang="en-US" altLang="zh-CN" b="1" i="1" dirty="0">
                <a:solidFill>
                  <a:srgbClr val="374151"/>
                </a:solidFill>
                <a:effectLst/>
                <a:ea typeface="等线" panose="02010600030101010101" pitchFamily="2" charset="-122"/>
                <a:cs typeface="Times New Roman" panose="02020603050405020304" pitchFamily="18" charset="0"/>
              </a:rPr>
              <a:t>c</a:t>
            </a:r>
            <a:r>
              <a:rPr lang="zh-CN" altLang="en-US" b="1" i="1" dirty="0">
                <a:solidFill>
                  <a:srgbClr val="374151"/>
                </a:solidFill>
                <a:effectLst/>
                <a:ea typeface="等线" panose="02010600030101010101" pitchFamily="2" charset="-122"/>
                <a:cs typeface="Times New Roman" panose="02020603050405020304" pitchFamily="18" charset="0"/>
              </a:rPr>
              <a:t>，</a:t>
            </a:r>
            <a:r>
              <a:rPr lang="en-US" altLang="zh-CN" b="1" i="1" dirty="0"/>
              <a:t> f </a:t>
            </a:r>
            <a:r>
              <a:rPr lang="zh-CN" altLang="en-US" b="1" dirty="0"/>
              <a:t>的满射性使得必有</a:t>
            </a:r>
            <a:r>
              <a:rPr lang="en-US" altLang="zh-CN" b="1" i="1" dirty="0"/>
              <a:t>B</a:t>
            </a:r>
            <a:r>
              <a:rPr lang="zh-CN" altLang="en-US" b="1" dirty="0"/>
              <a:t>中的元素</a:t>
            </a:r>
            <a:r>
              <a:rPr lang="en-US" altLang="zh-CN" b="1" i="1" dirty="0"/>
              <a:t>b</a:t>
            </a:r>
            <a:r>
              <a:rPr lang="zh-CN" altLang="en-US" b="1" dirty="0"/>
              <a:t>使得 </a:t>
            </a:r>
            <a:r>
              <a:rPr lang="en-US" altLang="zh-CN" b="1" i="1" dirty="0"/>
              <a:t>f </a:t>
            </a:r>
            <a:r>
              <a:rPr lang="en-US" altLang="zh-CN" b="1" dirty="0"/>
              <a:t>(</a:t>
            </a:r>
            <a:r>
              <a:rPr lang="en-US" altLang="zh-CN" b="1" i="1" dirty="0"/>
              <a:t>b</a:t>
            </a:r>
            <a:r>
              <a:rPr lang="en-US" altLang="zh-CN" b="1" dirty="0"/>
              <a:t>)=</a:t>
            </a:r>
            <a:r>
              <a:rPr lang="en-US" altLang="zh-CN" b="1" i="1" dirty="0"/>
              <a:t>c</a:t>
            </a:r>
            <a:r>
              <a:rPr lang="zh-CN" altLang="en-US" b="1" i="1" dirty="0"/>
              <a:t>。</a:t>
            </a:r>
            <a:r>
              <a:rPr lang="en-US" altLang="zh-CN" b="1" i="1" dirty="0"/>
              <a:t>g</a:t>
            </a:r>
            <a:r>
              <a:rPr lang="zh-CN" altLang="en-US" b="1" dirty="0"/>
              <a:t>的满射性使得必有</a:t>
            </a:r>
            <a:r>
              <a:rPr lang="en-US" altLang="zh-CN" b="1" i="1" dirty="0"/>
              <a:t>A</a:t>
            </a:r>
            <a:r>
              <a:rPr lang="zh-CN" altLang="en-US" b="1" dirty="0"/>
              <a:t>中的元素</a:t>
            </a:r>
            <a:r>
              <a:rPr lang="en-US" altLang="zh-CN" b="1" i="1" dirty="0">
                <a:solidFill>
                  <a:srgbClr val="374151"/>
                </a:solidFill>
                <a:effectLst/>
                <a:ea typeface="等线" panose="02010600030101010101" pitchFamily="2" charset="-122"/>
                <a:cs typeface="Times New Roman" panose="02020603050405020304" pitchFamily="18" charset="0"/>
              </a:rPr>
              <a:t>a</a:t>
            </a:r>
            <a:r>
              <a:rPr lang="zh-CN" altLang="en-US" b="1" dirty="0"/>
              <a:t>使得 </a:t>
            </a:r>
            <a:r>
              <a:rPr lang="en-US" altLang="zh-CN" b="1" i="1" dirty="0"/>
              <a:t>g </a:t>
            </a:r>
            <a:r>
              <a:rPr lang="en-US" altLang="zh-CN" b="1" dirty="0"/>
              <a:t>(</a:t>
            </a:r>
            <a:r>
              <a:rPr lang="en-US" altLang="zh-CN" b="1" i="1" dirty="0">
                <a:solidFill>
                  <a:srgbClr val="374151"/>
                </a:solidFill>
                <a:effectLst/>
                <a:ea typeface="等线" panose="02010600030101010101" pitchFamily="2" charset="-122"/>
                <a:cs typeface="Times New Roman" panose="02020603050405020304" pitchFamily="18" charset="0"/>
              </a:rPr>
              <a:t>a</a:t>
            </a:r>
            <a:r>
              <a:rPr lang="en-US" altLang="zh-CN" b="1" dirty="0"/>
              <a:t>)=</a:t>
            </a:r>
            <a:r>
              <a:rPr lang="en-US" altLang="zh-CN" b="1" i="1" dirty="0"/>
              <a:t> b</a:t>
            </a:r>
            <a:r>
              <a:rPr lang="zh-CN" altLang="en-US" b="1" dirty="0"/>
              <a:t>。有了</a:t>
            </a:r>
            <a:r>
              <a:rPr lang="en-US" altLang="zh-CN" b="1" i="1" dirty="0"/>
              <a:t>g </a:t>
            </a:r>
            <a:r>
              <a:rPr lang="en-US" altLang="zh-CN" b="1" dirty="0"/>
              <a:t>(</a:t>
            </a:r>
            <a:r>
              <a:rPr lang="en-US" altLang="zh-CN" b="1" i="1" dirty="0">
                <a:solidFill>
                  <a:srgbClr val="374151"/>
                </a:solidFill>
                <a:effectLst/>
                <a:ea typeface="等线" panose="02010600030101010101" pitchFamily="2" charset="-122"/>
                <a:cs typeface="Times New Roman" panose="02020603050405020304" pitchFamily="18" charset="0"/>
              </a:rPr>
              <a:t>a</a:t>
            </a:r>
            <a:r>
              <a:rPr lang="en-US" altLang="zh-CN" b="1" dirty="0"/>
              <a:t>)=</a:t>
            </a:r>
            <a:r>
              <a:rPr lang="en-US" altLang="zh-CN" b="1" i="1" dirty="0"/>
              <a:t> b</a:t>
            </a:r>
            <a:r>
              <a:rPr lang="zh-CN" altLang="zh-CN" b="1" dirty="0"/>
              <a:t>和 </a:t>
            </a:r>
            <a:r>
              <a:rPr lang="en-US" altLang="zh-CN" b="1" i="1" dirty="0"/>
              <a:t>f </a:t>
            </a:r>
            <a:r>
              <a:rPr lang="en-US" altLang="zh-CN" b="1" dirty="0"/>
              <a:t>(</a:t>
            </a:r>
            <a:r>
              <a:rPr lang="en-US" altLang="zh-CN" b="1" i="1" dirty="0"/>
              <a:t>b</a:t>
            </a:r>
            <a:r>
              <a:rPr lang="en-US" altLang="zh-CN" b="1" dirty="0"/>
              <a:t>)=</a:t>
            </a:r>
            <a:r>
              <a:rPr lang="en-US" altLang="zh-CN" b="1" i="1" dirty="0"/>
              <a:t>c </a:t>
            </a:r>
            <a:r>
              <a:rPr lang="zh-CN" altLang="en-US" b="1" dirty="0"/>
              <a:t>，</a:t>
            </a:r>
            <a:r>
              <a:rPr lang="zh-CN" altLang="zh-CN" b="1" dirty="0"/>
              <a:t>根据复合函数的定义</a:t>
            </a:r>
            <a:r>
              <a:rPr lang="zh-CN" altLang="en-US" b="1" dirty="0"/>
              <a:t>有</a:t>
            </a:r>
            <a:r>
              <a:rPr lang="zh-CN" altLang="zh-CN" b="1" dirty="0"/>
              <a:t> </a:t>
            </a:r>
            <a:r>
              <a:rPr lang="en-US" altLang="zh-CN" b="1" dirty="0"/>
              <a:t>(</a:t>
            </a:r>
            <a:r>
              <a:rPr lang="en-US" altLang="zh-CN" b="1" i="1" dirty="0"/>
              <a:t>f</a:t>
            </a:r>
            <a:r>
              <a:rPr kumimoji="0" lang="en-US" altLang="zh-CN" b="1" dirty="0">
                <a:sym typeface="Symbol" panose="05050102010706020507" pitchFamily="18" charset="2"/>
              </a:rPr>
              <a:t>∘</a:t>
            </a:r>
            <a:r>
              <a:rPr lang="en-US" altLang="zh-CN" b="1" i="1" dirty="0"/>
              <a:t>g</a:t>
            </a:r>
            <a:r>
              <a:rPr lang="en-US" altLang="zh-CN" b="1" dirty="0"/>
              <a:t>)(</a:t>
            </a:r>
            <a:r>
              <a:rPr lang="en-US" altLang="zh-CN" b="1" i="1" dirty="0"/>
              <a:t>a</a:t>
            </a:r>
            <a:r>
              <a:rPr lang="en-US" altLang="zh-CN" b="1" dirty="0"/>
              <a:t>)=</a:t>
            </a:r>
            <a:r>
              <a:rPr lang="zh-CN" altLang="zh-CN" b="1" i="1" dirty="0"/>
              <a:t>f</a:t>
            </a:r>
            <a:r>
              <a:rPr lang="en-US" altLang="zh-CN" b="1" dirty="0"/>
              <a:t>(</a:t>
            </a:r>
            <a:r>
              <a:rPr lang="en-US" altLang="zh-CN" b="1" i="1" dirty="0"/>
              <a:t>g</a:t>
            </a:r>
            <a:r>
              <a:rPr lang="en-US" altLang="zh-CN" b="1" dirty="0"/>
              <a:t>(</a:t>
            </a:r>
            <a:r>
              <a:rPr lang="en-US" altLang="zh-CN" b="1" i="1" dirty="0"/>
              <a:t>a</a:t>
            </a:r>
            <a:r>
              <a:rPr lang="en-US" altLang="zh-CN" b="1" dirty="0"/>
              <a:t>))=</a:t>
            </a:r>
            <a:r>
              <a:rPr lang="zh-CN" altLang="zh-CN" b="1" i="1" dirty="0"/>
              <a:t>f</a:t>
            </a:r>
            <a:r>
              <a:rPr lang="en-US" altLang="zh-CN" b="1" dirty="0"/>
              <a:t>(</a:t>
            </a:r>
            <a:r>
              <a:rPr lang="en-US" altLang="zh-CN" b="1" i="1" dirty="0"/>
              <a:t>b</a:t>
            </a:r>
            <a:r>
              <a:rPr lang="en-US" altLang="zh-CN" b="1" dirty="0"/>
              <a:t>)=</a:t>
            </a:r>
            <a:r>
              <a:rPr lang="zh-CN" altLang="zh-CN" b="1" i="1" dirty="0"/>
              <a:t>c</a:t>
            </a:r>
            <a:r>
              <a:rPr lang="zh-CN" altLang="zh-CN" b="1" dirty="0"/>
              <a:t>。</a:t>
            </a:r>
            <a:endParaRPr lang="en-US" altLang="zh-CN" b="1" dirty="0"/>
          </a:p>
          <a:p>
            <a:pPr marL="84138" indent="-84138">
              <a:lnSpc>
                <a:spcPct val="110000"/>
              </a:lnSpc>
              <a:buNone/>
            </a:pPr>
            <a:r>
              <a:rPr lang="zh-CN" altLang="en-US" b="1" dirty="0"/>
              <a:t>从而证明了</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是满射的</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34</a:t>
            </a:fld>
            <a:endParaRPr lang="zh-CN" altLang="en-US"/>
          </a:p>
        </p:txBody>
      </p:sp>
    </p:spTree>
    <p:extLst>
      <p:ext uri="{BB962C8B-B14F-4D97-AF65-F5344CB8AC3E}">
        <p14:creationId xmlns:p14="http://schemas.microsoft.com/office/powerpoint/2010/main" val="6355564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b="1" dirty="0">
                <a:solidFill>
                  <a:srgbClr val="FF0000"/>
                </a:solidFill>
              </a:rPr>
              <a:t>定理</a:t>
            </a:r>
            <a:r>
              <a:rPr lang="en-US" altLang="zh-CN" b="1" dirty="0">
                <a:solidFill>
                  <a:srgbClr val="FF0000"/>
                </a:solidFill>
              </a:rPr>
              <a:t>5.2</a:t>
            </a:r>
            <a:r>
              <a:rPr lang="en-US" altLang="zh-CN" b="1" dirty="0"/>
              <a:t> </a:t>
            </a:r>
            <a:r>
              <a:rPr lang="zh-CN" altLang="en-US" b="1" dirty="0"/>
              <a:t>设 </a:t>
            </a:r>
            <a:r>
              <a:rPr lang="en-US" altLang="zh-CN" b="1" i="1" dirty="0"/>
              <a:t>f </a:t>
            </a:r>
            <a:r>
              <a:rPr lang="en-US" altLang="zh-CN" b="1" dirty="0"/>
              <a:t>: </a:t>
            </a:r>
            <a:r>
              <a:rPr lang="en-US" altLang="zh-CN" b="1" i="1" dirty="0"/>
              <a:t>B</a:t>
            </a:r>
            <a:r>
              <a:rPr lang="en-US" altLang="zh-CN" b="1" dirty="0"/>
              <a:t>→</a:t>
            </a:r>
            <a:r>
              <a:rPr lang="en-US" altLang="zh-CN" b="1" i="1" dirty="0"/>
              <a:t>C A</a:t>
            </a:r>
            <a:r>
              <a:rPr lang="en-US" altLang="zh-CN" b="1" dirty="0"/>
              <a:t>→</a:t>
            </a:r>
            <a:r>
              <a:rPr lang="en-US" altLang="zh-CN" b="1" i="1" dirty="0"/>
              <a:t>B</a:t>
            </a:r>
            <a:r>
              <a:rPr lang="en-US" altLang="zh-CN" b="1" dirty="0"/>
              <a:t>, </a:t>
            </a:r>
            <a:r>
              <a:rPr lang="en-US" altLang="zh-CN" b="1" i="1" dirty="0"/>
              <a:t>g </a:t>
            </a:r>
            <a:r>
              <a:rPr lang="en-US" altLang="zh-CN" b="1" dirty="0"/>
              <a:t>: </a:t>
            </a:r>
            <a:r>
              <a:rPr lang="en-US" altLang="zh-CN" b="1" i="1" dirty="0"/>
              <a:t>A</a:t>
            </a:r>
            <a:r>
              <a:rPr lang="en-US" altLang="zh-CN" b="1" dirty="0"/>
              <a:t>→</a:t>
            </a:r>
            <a:r>
              <a:rPr lang="en-US" altLang="zh-CN" b="1" i="1" dirty="0"/>
              <a:t>B</a:t>
            </a:r>
            <a:r>
              <a:rPr lang="en-US" altLang="zh-CN" b="1" dirty="0"/>
              <a:t>. </a:t>
            </a:r>
          </a:p>
          <a:p>
            <a:pPr eaLnBrk="1" hangingPunct="1">
              <a:buFontTx/>
              <a:buNone/>
            </a:pPr>
            <a:r>
              <a:rPr lang="en-US" altLang="zh-CN" b="1" dirty="0"/>
              <a:t>(1) </a:t>
            </a:r>
            <a:r>
              <a:rPr lang="zh-CN" altLang="en-US" b="1" dirty="0"/>
              <a:t>如果 </a:t>
            </a:r>
            <a:r>
              <a:rPr lang="en-US" altLang="zh-CN" b="1" i="1" dirty="0"/>
              <a:t>f </a:t>
            </a:r>
            <a:r>
              <a:rPr lang="zh-CN" altLang="en-US" b="1" dirty="0"/>
              <a:t>、</a:t>
            </a:r>
            <a:r>
              <a:rPr lang="en-US" altLang="zh-CN" b="1" dirty="0"/>
              <a:t> </a:t>
            </a:r>
            <a:r>
              <a:rPr lang="en-US" altLang="zh-CN" b="1" i="1" dirty="0"/>
              <a:t>g </a:t>
            </a:r>
            <a:r>
              <a:rPr lang="zh-CN" altLang="en-US" b="1" dirty="0"/>
              <a:t>是满射的</a:t>
            </a:r>
            <a:r>
              <a:rPr lang="en-US" altLang="zh-CN" b="1" dirty="0"/>
              <a:t>, </a:t>
            </a:r>
            <a:r>
              <a:rPr lang="zh-CN" altLang="en-US" b="1" dirty="0"/>
              <a:t>则 </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也是</a:t>
            </a:r>
            <a:r>
              <a:rPr lang="zh-CN" altLang="en-US" b="1" dirty="0">
                <a:solidFill>
                  <a:srgbClr val="FF0000"/>
                </a:solidFill>
              </a:rPr>
              <a:t>满射</a:t>
            </a:r>
            <a:r>
              <a:rPr lang="zh-CN" altLang="en-US" b="1" dirty="0"/>
              <a:t>的</a:t>
            </a:r>
            <a:r>
              <a:rPr lang="en-US" altLang="zh-CN" b="1" dirty="0"/>
              <a:t>. </a:t>
            </a:r>
          </a:p>
          <a:p>
            <a:pPr eaLnBrk="1" hangingPunct="1">
              <a:buFontTx/>
              <a:buNone/>
            </a:pPr>
            <a:r>
              <a:rPr lang="en-US" altLang="zh-CN" b="1" dirty="0"/>
              <a:t>(2) </a:t>
            </a:r>
            <a:r>
              <a:rPr lang="zh-CN" altLang="en-US" b="1" dirty="0"/>
              <a:t>如果 </a:t>
            </a:r>
            <a:r>
              <a:rPr lang="en-US" altLang="zh-CN" b="1" i="1" dirty="0"/>
              <a:t>f </a:t>
            </a:r>
            <a:r>
              <a:rPr lang="zh-CN" altLang="en-US" b="1" dirty="0"/>
              <a:t>、</a:t>
            </a:r>
            <a:r>
              <a:rPr lang="en-US" altLang="zh-CN" b="1" dirty="0"/>
              <a:t> </a:t>
            </a:r>
            <a:r>
              <a:rPr lang="en-US" altLang="zh-CN" b="1" i="1" dirty="0"/>
              <a:t>g </a:t>
            </a:r>
            <a:r>
              <a:rPr lang="zh-CN" altLang="en-US" b="1" dirty="0"/>
              <a:t>是单射的</a:t>
            </a:r>
            <a:r>
              <a:rPr lang="en-US" altLang="zh-CN" b="1" dirty="0"/>
              <a:t>, </a:t>
            </a:r>
            <a:r>
              <a:rPr lang="zh-CN" altLang="en-US" b="1" dirty="0"/>
              <a:t>则 </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也是</a:t>
            </a:r>
            <a:r>
              <a:rPr lang="zh-CN" altLang="en-US" b="1" dirty="0">
                <a:solidFill>
                  <a:srgbClr val="FF0000"/>
                </a:solidFill>
              </a:rPr>
              <a:t>单射</a:t>
            </a:r>
            <a:r>
              <a:rPr lang="zh-CN" altLang="en-US" b="1" dirty="0"/>
              <a:t>的</a:t>
            </a:r>
            <a:r>
              <a:rPr lang="en-US" altLang="zh-CN" b="1" dirty="0"/>
              <a:t>. </a:t>
            </a:r>
          </a:p>
          <a:p>
            <a:pPr eaLnBrk="1" hangingPunct="1">
              <a:buFontTx/>
              <a:buNone/>
            </a:pPr>
            <a:r>
              <a:rPr lang="en-US" altLang="zh-CN" b="1" dirty="0"/>
              <a:t>(3) </a:t>
            </a:r>
            <a:r>
              <a:rPr lang="zh-CN" altLang="en-US" b="1" dirty="0"/>
              <a:t>如果 </a:t>
            </a:r>
            <a:r>
              <a:rPr lang="en-US" altLang="zh-CN" b="1" i="1" dirty="0"/>
              <a:t>f </a:t>
            </a:r>
            <a:r>
              <a:rPr lang="zh-CN" altLang="en-US" b="1" dirty="0"/>
              <a:t>、</a:t>
            </a:r>
            <a:r>
              <a:rPr lang="en-US" altLang="zh-CN" b="1" dirty="0"/>
              <a:t> </a:t>
            </a:r>
            <a:r>
              <a:rPr lang="en-US" altLang="zh-CN" b="1" i="1" dirty="0"/>
              <a:t>g </a:t>
            </a:r>
            <a:r>
              <a:rPr lang="zh-CN" altLang="en-US" b="1" dirty="0"/>
              <a:t>是双射的</a:t>
            </a:r>
            <a:r>
              <a:rPr lang="en-US" altLang="zh-CN" b="1" dirty="0"/>
              <a:t>, </a:t>
            </a:r>
            <a:r>
              <a:rPr lang="zh-CN" altLang="en-US" b="1" dirty="0"/>
              <a:t>则 </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也是</a:t>
            </a:r>
            <a:r>
              <a:rPr lang="zh-CN" altLang="en-US" b="1" dirty="0">
                <a:solidFill>
                  <a:srgbClr val="FF0000"/>
                </a:solidFill>
              </a:rPr>
              <a:t>双射</a:t>
            </a:r>
            <a:r>
              <a:rPr lang="zh-CN" altLang="en-US" b="1" dirty="0"/>
              <a:t>的</a:t>
            </a:r>
            <a:r>
              <a:rPr lang="en-US" altLang="zh-CN" b="1" dirty="0"/>
              <a:t>. </a:t>
            </a:r>
          </a:p>
          <a:p>
            <a:pPr marL="457200" indent="-457200">
              <a:lnSpc>
                <a:spcPct val="110000"/>
              </a:lnSpc>
              <a:buNone/>
            </a:pPr>
            <a:r>
              <a:rPr lang="zh-CN" altLang="en-US" b="1" dirty="0">
                <a:solidFill>
                  <a:srgbClr val="00B0F0"/>
                </a:solidFill>
              </a:rPr>
              <a:t>证</a:t>
            </a:r>
            <a:r>
              <a:rPr lang="en-US" altLang="zh-CN" b="1" dirty="0">
                <a:solidFill>
                  <a:srgbClr val="00B0F0"/>
                </a:solidFill>
              </a:rPr>
              <a:t>(1)</a:t>
            </a:r>
            <a:r>
              <a:rPr lang="zh-CN" altLang="en-US" b="1" dirty="0">
                <a:solidFill>
                  <a:srgbClr val="00B0F0"/>
                </a:solidFill>
              </a:rPr>
              <a:t>：</a:t>
            </a:r>
            <a:r>
              <a:rPr lang="zh-CN" altLang="en-US" b="1" dirty="0"/>
              <a:t>只</a:t>
            </a:r>
            <a:r>
              <a:rPr lang="zh-CN" altLang="zh-CN" b="1" dirty="0"/>
              <a:t>要证明，对于</a:t>
            </a:r>
            <a:r>
              <a:rPr lang="en-US" altLang="zh-CN" b="1" i="1" dirty="0"/>
              <a:t>C</a:t>
            </a:r>
            <a:r>
              <a:rPr lang="zh-CN" altLang="zh-CN" b="1" dirty="0"/>
              <a:t>中的每个元素 </a:t>
            </a:r>
            <a:r>
              <a:rPr lang="en-US" altLang="zh-CN" b="1" i="1" dirty="0">
                <a:solidFill>
                  <a:srgbClr val="374151"/>
                </a:solidFill>
                <a:effectLst/>
                <a:ea typeface="等线" panose="02010600030101010101" pitchFamily="2" charset="-122"/>
                <a:cs typeface="Times New Roman" panose="02020603050405020304" pitchFamily="18" charset="0"/>
              </a:rPr>
              <a:t>c</a:t>
            </a:r>
            <a:r>
              <a:rPr lang="zh-CN" altLang="zh-CN" dirty="0">
                <a:effectLst/>
              </a:rPr>
              <a:t>，</a:t>
            </a:r>
            <a:r>
              <a:rPr lang="zh-CN" altLang="zh-CN" b="1" dirty="0"/>
              <a:t>存在至少一个 </a:t>
            </a:r>
            <a:r>
              <a:rPr lang="en-US" altLang="zh-CN" b="1" i="1" dirty="0"/>
              <a:t>A</a:t>
            </a:r>
            <a:r>
              <a:rPr lang="zh-CN" altLang="zh-CN" dirty="0">
                <a:effectLst/>
              </a:rPr>
              <a:t> </a:t>
            </a:r>
            <a:r>
              <a:rPr lang="zh-CN" altLang="zh-CN" b="1" dirty="0"/>
              <a:t>中的元素 </a:t>
            </a:r>
            <a:r>
              <a:rPr lang="en-US" altLang="zh-CN" b="1" i="1" dirty="0">
                <a:solidFill>
                  <a:srgbClr val="374151"/>
                </a:solidFill>
                <a:effectLst/>
                <a:ea typeface="等线" panose="02010600030101010101" pitchFamily="2" charset="-122"/>
                <a:cs typeface="Times New Roman" panose="02020603050405020304" pitchFamily="18" charset="0"/>
              </a:rPr>
              <a:t>a</a:t>
            </a:r>
            <a:r>
              <a:rPr lang="zh-CN" altLang="zh-CN" dirty="0">
                <a:effectLst/>
              </a:rPr>
              <a:t> </a:t>
            </a:r>
            <a:r>
              <a:rPr lang="zh-CN" altLang="zh-CN" b="1" dirty="0"/>
              <a:t>使得</a:t>
            </a:r>
            <a:r>
              <a:rPr lang="zh-CN" altLang="zh-CN" dirty="0">
                <a:effectLst/>
                <a:ea typeface="等线" panose="02010600030101010101" pitchFamily="2" charset="-122"/>
                <a:cs typeface="Times New Roman" panose="02020603050405020304" pitchFamily="18" charset="0"/>
              </a:rPr>
              <a:t> </a:t>
            </a:r>
            <a:r>
              <a:rPr lang="en-US" altLang="zh-CN" dirty="0">
                <a:solidFill>
                  <a:srgbClr val="374151"/>
                </a:solidFill>
                <a:effectLst/>
                <a:ea typeface="等线" panose="02010600030101010101" pitchFamily="2" charset="-122"/>
              </a:rPr>
              <a:t>(</a:t>
            </a:r>
            <a:r>
              <a:rPr lang="en-US" altLang="zh-CN" b="1" i="1" dirty="0"/>
              <a:t>f</a:t>
            </a:r>
            <a:r>
              <a:rPr kumimoji="0" lang="en-US" altLang="zh-CN" b="1" dirty="0">
                <a:sym typeface="Symbol" panose="05050102010706020507" pitchFamily="18" charset="2"/>
              </a:rPr>
              <a:t>∘</a:t>
            </a:r>
            <a:r>
              <a:rPr lang="en-US" altLang="zh-CN" b="1" i="1" dirty="0"/>
              <a:t>g</a:t>
            </a:r>
            <a:r>
              <a:rPr lang="en-US" altLang="zh-CN" i="1" dirty="0">
                <a:solidFill>
                  <a:srgbClr val="374151"/>
                </a:solidFill>
                <a:effectLst/>
                <a:ea typeface="等线" panose="02010600030101010101" pitchFamily="2" charset="-122"/>
              </a:rPr>
              <a:t>)(</a:t>
            </a:r>
            <a:r>
              <a:rPr lang="en-US" altLang="zh-CN" b="1" i="1" dirty="0">
                <a:solidFill>
                  <a:srgbClr val="374151"/>
                </a:solidFill>
                <a:effectLst/>
                <a:ea typeface="等线" panose="02010600030101010101" pitchFamily="2" charset="-122"/>
                <a:cs typeface="Times New Roman" panose="02020603050405020304" pitchFamily="18" charset="0"/>
              </a:rPr>
              <a:t>a</a:t>
            </a:r>
            <a:r>
              <a:rPr lang="en-US" altLang="zh-CN" i="1" dirty="0">
                <a:solidFill>
                  <a:srgbClr val="374151"/>
                </a:solidFill>
                <a:effectLst/>
                <a:ea typeface="等线" panose="02010600030101010101" pitchFamily="2" charset="-122"/>
              </a:rPr>
              <a:t>)=</a:t>
            </a:r>
            <a:r>
              <a:rPr lang="en-US" altLang="zh-CN" b="1" i="1" dirty="0">
                <a:solidFill>
                  <a:srgbClr val="374151"/>
                </a:solidFill>
                <a:effectLst/>
                <a:ea typeface="等线" panose="02010600030101010101" pitchFamily="2" charset="-122"/>
              </a:rPr>
              <a:t>c</a:t>
            </a:r>
            <a:r>
              <a:rPr lang="en-US" altLang="zh-CN" i="1" dirty="0">
                <a:solidFill>
                  <a:srgbClr val="374151"/>
                </a:solidFill>
                <a:effectLst/>
                <a:ea typeface="等线" panose="02010600030101010101" pitchFamily="2" charset="-122"/>
              </a:rPr>
              <a:t>。</a:t>
            </a:r>
          </a:p>
          <a:p>
            <a:pPr marL="0" indent="630238">
              <a:lnSpc>
                <a:spcPct val="110000"/>
              </a:lnSpc>
              <a:buNone/>
            </a:pPr>
            <a:r>
              <a:rPr lang="zh-CN" altLang="zh-CN" b="1" dirty="0"/>
              <a:t>对于</a:t>
            </a:r>
            <a:r>
              <a:rPr lang="zh-CN" altLang="zh-CN" dirty="0">
                <a:effectLst/>
                <a:ea typeface="等线" panose="02010600030101010101" pitchFamily="2" charset="-122"/>
                <a:cs typeface="Times New Roman" panose="02020603050405020304" pitchFamily="18" charset="0"/>
              </a:rPr>
              <a:t> </a:t>
            </a:r>
            <a:r>
              <a:rPr lang="en-US" altLang="zh-CN" b="1" i="1" dirty="0"/>
              <a:t>C</a:t>
            </a:r>
            <a:r>
              <a:rPr lang="zh-CN" altLang="zh-CN" b="1" dirty="0"/>
              <a:t>中的</a:t>
            </a:r>
            <a:r>
              <a:rPr lang="zh-CN" altLang="en-US" b="1" dirty="0"/>
              <a:t>任意</a:t>
            </a:r>
            <a:r>
              <a:rPr lang="zh-CN" altLang="zh-CN" b="1" dirty="0"/>
              <a:t>元素 </a:t>
            </a:r>
            <a:r>
              <a:rPr lang="en-US" altLang="zh-CN" b="1" i="1" dirty="0">
                <a:solidFill>
                  <a:srgbClr val="374151"/>
                </a:solidFill>
                <a:effectLst/>
                <a:ea typeface="等线" panose="02010600030101010101" pitchFamily="2" charset="-122"/>
                <a:cs typeface="Times New Roman" panose="02020603050405020304" pitchFamily="18" charset="0"/>
              </a:rPr>
              <a:t>c</a:t>
            </a:r>
            <a:r>
              <a:rPr lang="zh-CN" altLang="en-US" b="1" i="1" dirty="0">
                <a:solidFill>
                  <a:srgbClr val="374151"/>
                </a:solidFill>
                <a:effectLst/>
                <a:ea typeface="等线" panose="02010600030101010101" pitchFamily="2" charset="-122"/>
                <a:cs typeface="Times New Roman" panose="02020603050405020304" pitchFamily="18" charset="0"/>
              </a:rPr>
              <a:t>，</a:t>
            </a:r>
            <a:r>
              <a:rPr lang="en-US" altLang="zh-CN" b="1" i="1" dirty="0"/>
              <a:t> f </a:t>
            </a:r>
            <a:r>
              <a:rPr lang="zh-CN" altLang="en-US" b="1" dirty="0"/>
              <a:t>的满射性使得必有</a:t>
            </a:r>
            <a:r>
              <a:rPr lang="en-US" altLang="zh-CN" b="1" i="1" dirty="0"/>
              <a:t>B</a:t>
            </a:r>
            <a:r>
              <a:rPr lang="zh-CN" altLang="en-US" b="1" dirty="0"/>
              <a:t>中的元素</a:t>
            </a:r>
            <a:r>
              <a:rPr lang="en-US" altLang="zh-CN" b="1" i="1" dirty="0"/>
              <a:t>b</a:t>
            </a:r>
            <a:r>
              <a:rPr lang="zh-CN" altLang="en-US" b="1" dirty="0"/>
              <a:t>使得 </a:t>
            </a:r>
            <a:r>
              <a:rPr lang="en-US" altLang="zh-CN" b="1" i="1" dirty="0"/>
              <a:t>f </a:t>
            </a:r>
            <a:r>
              <a:rPr lang="en-US" altLang="zh-CN" b="1" dirty="0"/>
              <a:t>(</a:t>
            </a:r>
            <a:r>
              <a:rPr lang="en-US" altLang="zh-CN" b="1" i="1" dirty="0"/>
              <a:t>b</a:t>
            </a:r>
            <a:r>
              <a:rPr lang="en-US" altLang="zh-CN" b="1" dirty="0"/>
              <a:t>)=</a:t>
            </a:r>
            <a:r>
              <a:rPr lang="en-US" altLang="zh-CN" b="1" i="1" dirty="0"/>
              <a:t>c</a:t>
            </a:r>
            <a:r>
              <a:rPr lang="zh-CN" altLang="en-US" b="1" i="1" dirty="0"/>
              <a:t>。</a:t>
            </a:r>
            <a:r>
              <a:rPr lang="en-US" altLang="zh-CN" b="1" i="1" dirty="0"/>
              <a:t>g</a:t>
            </a:r>
            <a:r>
              <a:rPr lang="zh-CN" altLang="en-US" b="1" dirty="0"/>
              <a:t>的满射性使得必有</a:t>
            </a:r>
            <a:r>
              <a:rPr lang="en-US" altLang="zh-CN" b="1" i="1" dirty="0"/>
              <a:t>A</a:t>
            </a:r>
            <a:r>
              <a:rPr lang="zh-CN" altLang="en-US" b="1" dirty="0"/>
              <a:t>中的元素</a:t>
            </a:r>
            <a:r>
              <a:rPr lang="en-US" altLang="zh-CN" b="1" i="1" dirty="0">
                <a:solidFill>
                  <a:srgbClr val="374151"/>
                </a:solidFill>
                <a:effectLst/>
                <a:ea typeface="等线" panose="02010600030101010101" pitchFamily="2" charset="-122"/>
                <a:cs typeface="Times New Roman" panose="02020603050405020304" pitchFamily="18" charset="0"/>
              </a:rPr>
              <a:t>a</a:t>
            </a:r>
            <a:r>
              <a:rPr lang="zh-CN" altLang="en-US" b="1" dirty="0"/>
              <a:t>使得 </a:t>
            </a:r>
            <a:r>
              <a:rPr lang="en-US" altLang="zh-CN" b="1" i="1" dirty="0"/>
              <a:t>g </a:t>
            </a:r>
            <a:r>
              <a:rPr lang="en-US" altLang="zh-CN" b="1" dirty="0"/>
              <a:t>(</a:t>
            </a:r>
            <a:r>
              <a:rPr lang="en-US" altLang="zh-CN" b="1" i="1" dirty="0">
                <a:solidFill>
                  <a:srgbClr val="374151"/>
                </a:solidFill>
                <a:effectLst/>
                <a:ea typeface="等线" panose="02010600030101010101" pitchFamily="2" charset="-122"/>
                <a:cs typeface="Times New Roman" panose="02020603050405020304" pitchFamily="18" charset="0"/>
              </a:rPr>
              <a:t>a</a:t>
            </a:r>
            <a:r>
              <a:rPr lang="en-US" altLang="zh-CN" b="1" dirty="0"/>
              <a:t>)=</a:t>
            </a:r>
            <a:r>
              <a:rPr lang="en-US" altLang="zh-CN" b="1" i="1" dirty="0"/>
              <a:t> b</a:t>
            </a:r>
            <a:r>
              <a:rPr lang="zh-CN" altLang="en-US" b="1" dirty="0"/>
              <a:t>。有了</a:t>
            </a:r>
            <a:r>
              <a:rPr lang="en-US" altLang="zh-CN" b="1" i="1" dirty="0"/>
              <a:t>g </a:t>
            </a:r>
            <a:r>
              <a:rPr lang="en-US" altLang="zh-CN" b="1" dirty="0"/>
              <a:t>(</a:t>
            </a:r>
            <a:r>
              <a:rPr lang="en-US" altLang="zh-CN" b="1" i="1" dirty="0">
                <a:solidFill>
                  <a:srgbClr val="374151"/>
                </a:solidFill>
                <a:effectLst/>
                <a:ea typeface="等线" panose="02010600030101010101" pitchFamily="2" charset="-122"/>
                <a:cs typeface="Times New Roman" panose="02020603050405020304" pitchFamily="18" charset="0"/>
              </a:rPr>
              <a:t>a</a:t>
            </a:r>
            <a:r>
              <a:rPr lang="en-US" altLang="zh-CN" b="1" dirty="0"/>
              <a:t>)=</a:t>
            </a:r>
            <a:r>
              <a:rPr lang="en-US" altLang="zh-CN" b="1" i="1" dirty="0"/>
              <a:t> b</a:t>
            </a:r>
            <a:r>
              <a:rPr lang="zh-CN" altLang="zh-CN" b="1" dirty="0"/>
              <a:t>和 </a:t>
            </a:r>
            <a:r>
              <a:rPr lang="en-US" altLang="zh-CN" b="1" i="1" dirty="0"/>
              <a:t>f </a:t>
            </a:r>
            <a:r>
              <a:rPr lang="en-US" altLang="zh-CN" b="1" dirty="0"/>
              <a:t>(</a:t>
            </a:r>
            <a:r>
              <a:rPr lang="en-US" altLang="zh-CN" b="1" i="1" dirty="0"/>
              <a:t>b</a:t>
            </a:r>
            <a:r>
              <a:rPr lang="en-US" altLang="zh-CN" b="1" dirty="0"/>
              <a:t>)=</a:t>
            </a:r>
            <a:r>
              <a:rPr lang="en-US" altLang="zh-CN" b="1" i="1" dirty="0"/>
              <a:t>c </a:t>
            </a:r>
            <a:r>
              <a:rPr lang="zh-CN" altLang="en-US" b="1" dirty="0"/>
              <a:t>，</a:t>
            </a:r>
            <a:r>
              <a:rPr lang="zh-CN" altLang="zh-CN" b="1" dirty="0"/>
              <a:t>根据复合函数的定义</a:t>
            </a:r>
            <a:r>
              <a:rPr lang="zh-CN" altLang="en-US" b="1" dirty="0"/>
              <a:t>有</a:t>
            </a:r>
            <a:r>
              <a:rPr lang="zh-CN" altLang="zh-CN" b="1" dirty="0"/>
              <a:t> </a:t>
            </a:r>
            <a:r>
              <a:rPr lang="en-US" altLang="zh-CN" b="1" dirty="0"/>
              <a:t>(</a:t>
            </a:r>
            <a:r>
              <a:rPr lang="en-US" altLang="zh-CN" b="1" i="1" dirty="0"/>
              <a:t>f</a:t>
            </a:r>
            <a:r>
              <a:rPr kumimoji="0" lang="en-US" altLang="zh-CN" b="1" dirty="0">
                <a:sym typeface="Symbol" panose="05050102010706020507" pitchFamily="18" charset="2"/>
              </a:rPr>
              <a:t>∘</a:t>
            </a:r>
            <a:r>
              <a:rPr lang="en-US" altLang="zh-CN" b="1" i="1" dirty="0"/>
              <a:t>g</a:t>
            </a:r>
            <a:r>
              <a:rPr lang="en-US" altLang="zh-CN" b="1" dirty="0"/>
              <a:t>)(</a:t>
            </a:r>
            <a:r>
              <a:rPr lang="en-US" altLang="zh-CN" b="1" i="1" dirty="0"/>
              <a:t>a</a:t>
            </a:r>
            <a:r>
              <a:rPr lang="en-US" altLang="zh-CN" b="1" dirty="0"/>
              <a:t>)=</a:t>
            </a:r>
            <a:r>
              <a:rPr lang="zh-CN" altLang="zh-CN" b="1" i="1" dirty="0"/>
              <a:t>f</a:t>
            </a:r>
            <a:r>
              <a:rPr lang="en-US" altLang="zh-CN" b="1" dirty="0"/>
              <a:t>(</a:t>
            </a:r>
            <a:r>
              <a:rPr lang="en-US" altLang="zh-CN" b="1" i="1" dirty="0"/>
              <a:t>g</a:t>
            </a:r>
            <a:r>
              <a:rPr lang="en-US" altLang="zh-CN" b="1" dirty="0"/>
              <a:t>(</a:t>
            </a:r>
            <a:r>
              <a:rPr lang="en-US" altLang="zh-CN" b="1" i="1" dirty="0"/>
              <a:t>a</a:t>
            </a:r>
            <a:r>
              <a:rPr lang="en-US" altLang="zh-CN" b="1" dirty="0"/>
              <a:t>))=</a:t>
            </a:r>
            <a:r>
              <a:rPr lang="zh-CN" altLang="zh-CN" b="1" i="1" dirty="0"/>
              <a:t>f</a:t>
            </a:r>
            <a:r>
              <a:rPr lang="en-US" altLang="zh-CN" b="1" dirty="0"/>
              <a:t>(</a:t>
            </a:r>
            <a:r>
              <a:rPr lang="en-US" altLang="zh-CN" b="1" i="1" dirty="0"/>
              <a:t>b</a:t>
            </a:r>
            <a:r>
              <a:rPr lang="en-US" altLang="zh-CN" b="1" dirty="0"/>
              <a:t>)=</a:t>
            </a:r>
            <a:r>
              <a:rPr lang="zh-CN" altLang="zh-CN" b="1" i="1" dirty="0"/>
              <a:t>c</a:t>
            </a:r>
            <a:r>
              <a:rPr lang="zh-CN" altLang="zh-CN" b="1" dirty="0"/>
              <a:t>。</a:t>
            </a:r>
            <a:endParaRPr lang="en-US" altLang="zh-CN" b="1" dirty="0"/>
          </a:p>
          <a:p>
            <a:pPr marL="84138" indent="-84138">
              <a:lnSpc>
                <a:spcPct val="110000"/>
              </a:lnSpc>
              <a:buNone/>
            </a:pPr>
            <a:r>
              <a:rPr lang="zh-CN" altLang="en-US" b="1" dirty="0"/>
              <a:t>从而证明了</a:t>
            </a:r>
            <a:r>
              <a:rPr lang="en-US" altLang="zh-CN" b="1" i="1" dirty="0"/>
              <a:t>f</a:t>
            </a:r>
            <a:r>
              <a:rPr kumimoji="0" lang="en-US" altLang="zh-CN" b="1" dirty="0">
                <a:sym typeface="Symbol" panose="05050102010706020507" pitchFamily="18" charset="2"/>
              </a:rPr>
              <a:t>∘</a:t>
            </a:r>
            <a:r>
              <a:rPr lang="en-US" altLang="zh-CN" b="1" i="1" dirty="0"/>
              <a:t>g </a:t>
            </a:r>
            <a:r>
              <a:rPr lang="en-US" altLang="zh-CN" b="1" dirty="0"/>
              <a:t>: </a:t>
            </a:r>
            <a:r>
              <a:rPr lang="en-US" altLang="zh-CN" b="1" i="1" dirty="0"/>
              <a:t>A</a:t>
            </a:r>
            <a:r>
              <a:rPr lang="en-US" altLang="zh-CN" b="1" dirty="0"/>
              <a:t>→</a:t>
            </a:r>
            <a:r>
              <a:rPr lang="en-US" altLang="zh-CN" b="1" i="1" dirty="0"/>
              <a:t>C</a:t>
            </a:r>
            <a:r>
              <a:rPr lang="zh-CN" altLang="en-US" b="1" dirty="0"/>
              <a:t>是满射的</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35</a:t>
            </a:fld>
            <a:endParaRPr lang="zh-CN" altLang="en-US"/>
          </a:p>
        </p:txBody>
      </p:sp>
    </p:spTree>
    <p:extLst>
      <p:ext uri="{BB962C8B-B14F-4D97-AF65-F5344CB8AC3E}">
        <p14:creationId xmlns:p14="http://schemas.microsoft.com/office/powerpoint/2010/main" val="2301744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恒等映射在函数复合中相当于乘法中的</a:t>
            </a:r>
            <a:r>
              <a:rPr lang="en-US"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，即它在复合中不改变其他函数的本质。</a:t>
            </a:r>
            <a:r>
              <a:rPr lang="zh-CN" altLang="en-US"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证明见备注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eaLnBrk="1" hangingPunct="1">
              <a:buFontTx/>
              <a:buNone/>
            </a:pPr>
            <a:r>
              <a:rPr lang="zh-CN" altLang="en-US" b="1" dirty="0">
                <a:solidFill>
                  <a:srgbClr val="FF0000"/>
                </a:solidFill>
              </a:rPr>
              <a:t>定理</a:t>
            </a:r>
            <a:r>
              <a:rPr lang="en-US" altLang="zh-CN" b="1" dirty="0">
                <a:solidFill>
                  <a:srgbClr val="FF0000"/>
                </a:solidFill>
              </a:rPr>
              <a:t>5.3</a:t>
            </a:r>
            <a:r>
              <a:rPr lang="en-US" altLang="zh-CN" b="1" dirty="0"/>
              <a:t>  </a:t>
            </a:r>
            <a:r>
              <a:rPr lang="zh-CN" altLang="en-US" b="1" dirty="0"/>
              <a:t>设 </a:t>
            </a:r>
            <a:r>
              <a:rPr lang="en-US" altLang="zh-CN" b="1" i="1" dirty="0"/>
              <a:t>f </a:t>
            </a:r>
            <a:r>
              <a:rPr lang="en-US" altLang="zh-CN" b="1" dirty="0"/>
              <a:t>: </a:t>
            </a:r>
            <a:r>
              <a:rPr lang="en-US" altLang="zh-CN" b="1" i="1" dirty="0"/>
              <a:t>A</a:t>
            </a:r>
            <a:r>
              <a:rPr lang="en-US" altLang="zh-CN" b="1" dirty="0">
                <a:sym typeface="Symbol" panose="05050102010706020507" pitchFamily="18" charset="2"/>
              </a:rPr>
              <a:t></a:t>
            </a:r>
            <a:r>
              <a:rPr lang="en-US" altLang="zh-CN" b="1" i="1" dirty="0"/>
              <a:t>B</a:t>
            </a:r>
            <a:r>
              <a:rPr lang="zh-CN" altLang="en-US" b="1" dirty="0"/>
              <a:t>，则</a:t>
            </a:r>
          </a:p>
          <a:p>
            <a:pPr eaLnBrk="1" hangingPunct="1">
              <a:buFontTx/>
              <a:buNone/>
            </a:pPr>
            <a:r>
              <a:rPr lang="en-US" altLang="zh-CN" b="1" i="1" dirty="0"/>
              <a:t>               f </a:t>
            </a:r>
            <a:r>
              <a:rPr lang="en-US" altLang="zh-CN" b="1" dirty="0"/>
              <a:t>= </a:t>
            </a:r>
            <a:r>
              <a:rPr lang="en-US" altLang="zh-CN" b="1" i="1" dirty="0"/>
              <a:t>f</a:t>
            </a:r>
            <a:r>
              <a:rPr lang="en-US" altLang="zh-CN" b="1" dirty="0">
                <a:sym typeface="Symbol" panose="05050102010706020507" pitchFamily="18" charset="2"/>
              </a:rPr>
              <a:t> </a:t>
            </a:r>
            <a:r>
              <a:rPr kumimoji="0" lang="en-US" altLang="zh-CN" b="1" dirty="0">
                <a:sym typeface="Symbol" panose="05050102010706020507" pitchFamily="18" charset="2"/>
              </a:rPr>
              <a:t>∘</a:t>
            </a:r>
            <a:r>
              <a:rPr lang="en-US" altLang="zh-CN" b="1" i="1" dirty="0"/>
              <a:t>I</a:t>
            </a:r>
            <a:r>
              <a:rPr lang="en-US" altLang="zh-CN" b="1" i="1" baseline="-25000" dirty="0"/>
              <a:t>B</a:t>
            </a:r>
            <a:r>
              <a:rPr lang="en-US" altLang="zh-CN" b="1" dirty="0"/>
              <a:t>=</a:t>
            </a:r>
            <a:r>
              <a:rPr lang="en-US" altLang="zh-CN" b="1" i="1" dirty="0"/>
              <a:t>I</a:t>
            </a:r>
            <a:r>
              <a:rPr lang="en-US" altLang="zh-CN" b="1" i="1" baseline="-25000" dirty="0"/>
              <a:t>A</a:t>
            </a:r>
            <a:r>
              <a:rPr kumimoji="0" lang="en-US" altLang="zh-CN" b="1" dirty="0">
                <a:sym typeface="Symbol" panose="05050102010706020507" pitchFamily="18" charset="2"/>
              </a:rPr>
              <a:t>∘</a:t>
            </a:r>
            <a:r>
              <a:rPr lang="en-US" altLang="zh-CN" b="1" i="1" dirty="0"/>
              <a:t>f  </a:t>
            </a:r>
          </a:p>
          <a:p>
            <a:pPr eaLnBrk="1" hangingPunct="1">
              <a:buFontTx/>
              <a:buNone/>
            </a:pPr>
            <a:endParaRPr lang="en-US" altLang="zh-CN" b="1" dirty="0"/>
          </a:p>
          <a:p>
            <a:pPr eaLnBrk="1" hangingPunct="1">
              <a:buFontTx/>
              <a:buNone/>
            </a:pPr>
            <a:r>
              <a:rPr lang="zh-CN" altLang="en-US" b="1" dirty="0">
                <a:solidFill>
                  <a:srgbClr val="00B0F0"/>
                </a:solidFill>
              </a:rPr>
              <a:t>思考：</a:t>
            </a:r>
            <a:endParaRPr lang="en-US" altLang="zh-CN" b="1" dirty="0">
              <a:solidFill>
                <a:srgbClr val="00B0F0"/>
              </a:solidFill>
            </a:endParaRPr>
          </a:p>
          <a:p>
            <a:pPr indent="576263">
              <a:buFont typeface="Wingdings" panose="05000000000000000000" pitchFamily="2" charset="2"/>
              <a:buChar char="l"/>
            </a:pPr>
            <a:r>
              <a:rPr lang="en-US" altLang="zh-CN" b="1" i="1" dirty="0"/>
              <a:t>f</a:t>
            </a:r>
            <a:r>
              <a:rPr lang="en-US" altLang="zh-CN" b="1" dirty="0">
                <a:sym typeface="Symbol" panose="05050102010706020507" pitchFamily="18" charset="2"/>
              </a:rPr>
              <a:t> </a:t>
            </a:r>
            <a:r>
              <a:rPr kumimoji="0" lang="en-US" altLang="zh-CN" b="1" dirty="0">
                <a:sym typeface="Symbol" panose="05050102010706020507" pitchFamily="18" charset="2"/>
              </a:rPr>
              <a:t>∘</a:t>
            </a:r>
            <a:r>
              <a:rPr lang="en-US" altLang="zh-CN" b="1" i="1" dirty="0"/>
              <a:t>I</a:t>
            </a:r>
            <a:r>
              <a:rPr lang="en-US" altLang="zh-CN" b="1" i="1" baseline="-25000" dirty="0"/>
              <a:t>B </a:t>
            </a:r>
            <a:r>
              <a:rPr lang="en-US" altLang="zh-CN" b="1" dirty="0"/>
              <a:t>=</a:t>
            </a:r>
            <a:r>
              <a:rPr lang="en-US" altLang="zh-CN" b="1" i="1" dirty="0"/>
              <a:t> I</a:t>
            </a:r>
            <a:r>
              <a:rPr lang="en-US" altLang="zh-CN" b="1" i="1" baseline="-25000" dirty="0"/>
              <a:t>B</a:t>
            </a:r>
            <a:r>
              <a:rPr kumimoji="0" lang="en-US" altLang="zh-CN" b="1" dirty="0">
                <a:sym typeface="Symbol" panose="05050102010706020507" pitchFamily="18" charset="2"/>
              </a:rPr>
              <a:t> ∘</a:t>
            </a:r>
            <a:r>
              <a:rPr lang="en-US" altLang="zh-CN" b="1" i="1" dirty="0"/>
              <a:t> f </a:t>
            </a:r>
            <a:r>
              <a:rPr lang="zh-CN" altLang="en-US" b="1" dirty="0"/>
              <a:t>吗？</a:t>
            </a:r>
            <a:endParaRPr lang="en-US" altLang="zh-CN" b="1" dirty="0"/>
          </a:p>
          <a:p>
            <a:pPr indent="576263">
              <a:buFont typeface="Wingdings" panose="05000000000000000000" pitchFamily="2" charset="2"/>
              <a:buChar char="l"/>
            </a:pPr>
            <a:r>
              <a:rPr lang="en-US" altLang="zh-CN" b="1" i="1" dirty="0"/>
              <a:t>I</a:t>
            </a:r>
            <a:r>
              <a:rPr lang="en-US" altLang="zh-CN" b="1" i="1" baseline="-25000" dirty="0"/>
              <a:t>A</a:t>
            </a:r>
            <a:r>
              <a:rPr kumimoji="0" lang="en-US" altLang="zh-CN" b="1" dirty="0">
                <a:sym typeface="Symbol" panose="05050102010706020507" pitchFamily="18" charset="2"/>
              </a:rPr>
              <a:t>∘</a:t>
            </a:r>
            <a:r>
              <a:rPr lang="en-US" altLang="zh-CN" b="1" i="1" dirty="0"/>
              <a:t>f</a:t>
            </a:r>
            <a:r>
              <a:rPr lang="en-US" altLang="zh-CN" b="1" dirty="0"/>
              <a:t> =</a:t>
            </a:r>
            <a:r>
              <a:rPr lang="en-US" altLang="zh-CN" b="1" i="1" dirty="0"/>
              <a:t> f</a:t>
            </a:r>
            <a:r>
              <a:rPr lang="en-US" altLang="zh-CN" b="1" dirty="0">
                <a:sym typeface="Symbol" panose="05050102010706020507" pitchFamily="18" charset="2"/>
              </a:rPr>
              <a:t> </a:t>
            </a:r>
            <a:r>
              <a:rPr kumimoji="0" lang="en-US" altLang="zh-CN" b="1" dirty="0">
                <a:sym typeface="Symbol" panose="05050102010706020507" pitchFamily="18" charset="2"/>
              </a:rPr>
              <a:t>∘</a:t>
            </a:r>
            <a:r>
              <a:rPr lang="en-US" altLang="zh-CN" b="1" i="1" dirty="0"/>
              <a:t> I</a:t>
            </a:r>
            <a:r>
              <a:rPr lang="en-US" altLang="zh-CN" b="1" i="1" baseline="-25000" dirty="0"/>
              <a:t>A</a:t>
            </a:r>
            <a:r>
              <a:rPr lang="zh-CN" altLang="en-US" b="1" dirty="0"/>
              <a:t>吗？</a:t>
            </a:r>
            <a:endParaRPr lang="en-US" altLang="zh-CN" b="1" dirty="0"/>
          </a:p>
          <a:p>
            <a:pPr indent="576263">
              <a:buFont typeface="Wingdings" panose="05000000000000000000" pitchFamily="2" charset="2"/>
              <a:buChar char="l"/>
            </a:pPr>
            <a:endParaRPr lang="en-US" altLang="zh-CN" b="1" dirty="0"/>
          </a:p>
          <a:p>
            <a:pPr indent="0">
              <a:buNone/>
            </a:pPr>
            <a:r>
              <a:rPr lang="zh-CN" altLang="en-US" sz="1800" b="1" dirty="0"/>
              <a:t>请从恒等函数的定义域和另一个函数的值域匹配情况进行分析</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36</a:t>
            </a:fld>
            <a:endParaRPr lang="zh-CN" altLang="en-US"/>
          </a:p>
        </p:txBody>
      </p:sp>
    </p:spTree>
    <p:extLst>
      <p:ext uri="{BB962C8B-B14F-4D97-AF65-F5344CB8AC3E}">
        <p14:creationId xmlns:p14="http://schemas.microsoft.com/office/powerpoint/2010/main" val="40272890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None/>
            </a:pPr>
            <a:r>
              <a:rPr lang="en-US" altLang="zh-CN" b="1" dirty="0"/>
              <a:t>5.2.1 </a:t>
            </a:r>
            <a:r>
              <a:rPr lang="zh-CN" altLang="en-US" b="1" dirty="0"/>
              <a:t>函数的复合</a:t>
            </a:r>
          </a:p>
          <a:p>
            <a:pPr lvl="1" eaLnBrk="1" hangingPunct="1"/>
            <a:r>
              <a:rPr lang="zh-CN" altLang="en-US" b="1" dirty="0"/>
              <a:t>函数复合的基本定理及其推论</a:t>
            </a:r>
          </a:p>
          <a:p>
            <a:pPr lvl="1" eaLnBrk="1" hangingPunct="1"/>
            <a:r>
              <a:rPr lang="zh-CN" altLang="en-US" b="1" dirty="0"/>
              <a:t>函数复合的性质</a:t>
            </a:r>
            <a:endParaRPr lang="en-US" altLang="zh-CN" b="1" dirty="0"/>
          </a:p>
          <a:p>
            <a:pPr lvl="1" eaLnBrk="1" hangingPunct="1"/>
            <a:endParaRPr lang="zh-CN" altLang="en-US" b="1" dirty="0"/>
          </a:p>
          <a:p>
            <a:pPr eaLnBrk="1" hangingPunct="1">
              <a:spcBef>
                <a:spcPct val="50000"/>
              </a:spcBef>
              <a:buNone/>
            </a:pPr>
            <a:r>
              <a:rPr lang="en-US" altLang="zh-CN" b="1" dirty="0"/>
              <a:t>5.2.2 </a:t>
            </a:r>
            <a:r>
              <a:rPr lang="zh-CN" altLang="en-US" b="1" dirty="0"/>
              <a:t>反函数</a:t>
            </a:r>
          </a:p>
          <a:p>
            <a:pPr lvl="1" eaLnBrk="1" hangingPunct="1"/>
            <a:r>
              <a:rPr lang="zh-CN" altLang="en-US" b="1" dirty="0"/>
              <a:t>反函数存在的条件</a:t>
            </a:r>
          </a:p>
          <a:p>
            <a:pPr lvl="1" eaLnBrk="1" hangingPunct="1"/>
            <a:r>
              <a:rPr lang="zh-CN" altLang="en-US" b="1" dirty="0"/>
              <a:t>反函数的性质</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37</a:t>
            </a:fld>
            <a:endParaRPr lang="zh-CN" altLang="en-US"/>
          </a:p>
        </p:txBody>
      </p:sp>
    </p:spTree>
    <p:extLst>
      <p:ext uri="{BB962C8B-B14F-4D97-AF65-F5344CB8AC3E}">
        <p14:creationId xmlns:p14="http://schemas.microsoft.com/office/powerpoint/2010/main" val="11735583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ClrTx/>
              <a:buSzTx/>
              <a:buFontTx/>
              <a:buNone/>
            </a:pPr>
            <a:r>
              <a:rPr lang="zh-CN" altLang="en-US" sz="1200" b="1" dirty="0">
                <a:solidFill>
                  <a:schemeClr val="tx2"/>
                </a:solidFill>
                <a:latin typeface="Times New Roman" panose="02020603050405020304" pitchFamily="18" charset="0"/>
              </a:rPr>
              <a:t>任给函数 </a:t>
            </a:r>
            <a:r>
              <a:rPr lang="en-US" altLang="zh-CN" sz="1200" b="1" i="1" dirty="0">
                <a:solidFill>
                  <a:schemeClr val="tx2"/>
                </a:solidFill>
                <a:latin typeface="Times New Roman" panose="02020603050405020304" pitchFamily="18" charset="0"/>
              </a:rPr>
              <a:t>F</a:t>
            </a:r>
            <a:r>
              <a:rPr lang="en-US" altLang="zh-CN" sz="1200" b="1" dirty="0">
                <a:solidFill>
                  <a:schemeClr val="tx2"/>
                </a:solidFill>
                <a:latin typeface="Times New Roman" panose="02020603050405020304" pitchFamily="18" charset="0"/>
              </a:rPr>
              <a:t>, </a:t>
            </a:r>
            <a:r>
              <a:rPr lang="zh-CN" altLang="en-US" sz="1200" b="1" dirty="0">
                <a:solidFill>
                  <a:schemeClr val="tx2"/>
                </a:solidFill>
                <a:latin typeface="Times New Roman" panose="02020603050405020304" pitchFamily="18" charset="0"/>
              </a:rPr>
              <a:t>它的逆</a:t>
            </a:r>
            <a:r>
              <a:rPr lang="en-US" altLang="zh-CN" sz="1200" b="1" i="1" dirty="0">
                <a:solidFill>
                  <a:schemeClr val="tx2"/>
                </a:solidFill>
                <a:latin typeface="Times New Roman" panose="02020603050405020304" pitchFamily="18" charset="0"/>
              </a:rPr>
              <a:t>F </a:t>
            </a:r>
            <a:r>
              <a:rPr lang="en-US" altLang="zh-CN" sz="1200" b="1" baseline="30000" dirty="0">
                <a:solidFill>
                  <a:schemeClr val="tx2"/>
                </a:solidFill>
                <a:latin typeface="Times New Roman" panose="02020603050405020304" pitchFamily="18" charset="0"/>
                <a:sym typeface="Symbol" panose="05050102010706020507" pitchFamily="18" charset="2"/>
              </a:rPr>
              <a:t></a:t>
            </a:r>
            <a:r>
              <a:rPr lang="en-US" altLang="zh-CN" sz="1200" b="1" baseline="30000" dirty="0">
                <a:solidFill>
                  <a:schemeClr val="tx2"/>
                </a:solidFill>
                <a:latin typeface="Times New Roman" panose="02020603050405020304" pitchFamily="18" charset="0"/>
              </a:rPr>
              <a:t>1</a:t>
            </a:r>
            <a:r>
              <a:rPr lang="zh-CN" altLang="en-US" sz="1200" b="1" dirty="0">
                <a:solidFill>
                  <a:schemeClr val="tx2"/>
                </a:solidFill>
                <a:latin typeface="Times New Roman" panose="02020603050405020304" pitchFamily="18" charset="0"/>
              </a:rPr>
              <a:t>不一定是函数</a:t>
            </a:r>
            <a:r>
              <a:rPr lang="en-US" altLang="zh-CN" sz="1200" b="1" dirty="0">
                <a:solidFill>
                  <a:schemeClr val="tx2"/>
                </a:solidFill>
                <a:latin typeface="Times New Roman" panose="02020603050405020304" pitchFamily="18" charset="0"/>
              </a:rPr>
              <a:t>, </a:t>
            </a:r>
            <a:r>
              <a:rPr lang="zh-CN" altLang="en-US" sz="1200" b="1" dirty="0">
                <a:solidFill>
                  <a:schemeClr val="tx2"/>
                </a:solidFill>
                <a:latin typeface="Times New Roman" panose="02020603050405020304" pitchFamily="18" charset="0"/>
              </a:rPr>
              <a:t>是二元关系</a:t>
            </a:r>
            <a:r>
              <a:rPr lang="en-US" altLang="zh-CN" sz="1200" b="1" dirty="0">
                <a:solidFill>
                  <a:schemeClr val="tx2"/>
                </a:solidFill>
                <a:latin typeface="Times New Roman" panose="02020603050405020304" pitchFamily="18" charset="0"/>
              </a:rPr>
              <a:t>.</a:t>
            </a:r>
          </a:p>
          <a:p>
            <a:pPr eaLnBrk="1" hangingPunct="1">
              <a:spcBef>
                <a:spcPct val="0"/>
              </a:spcBef>
              <a:buClrTx/>
              <a:buSzTx/>
              <a:buFontTx/>
              <a:buNone/>
            </a:pPr>
            <a:r>
              <a:rPr lang="zh-CN" altLang="en-US" sz="1200" b="1" dirty="0">
                <a:solidFill>
                  <a:schemeClr val="bg2"/>
                </a:solidFill>
                <a:latin typeface="Times New Roman" panose="02020603050405020304" pitchFamily="18" charset="0"/>
              </a:rPr>
              <a:t>实例：</a:t>
            </a:r>
            <a:r>
              <a:rPr lang="en-US" altLang="zh-CN" sz="1200" b="1" i="1" dirty="0">
                <a:solidFill>
                  <a:schemeClr val="bg2"/>
                </a:solidFill>
                <a:latin typeface="Times New Roman" panose="02020603050405020304" pitchFamily="18" charset="0"/>
              </a:rPr>
              <a:t>F</a:t>
            </a:r>
            <a:r>
              <a:rPr lang="en-US" altLang="zh-CN" sz="1200" b="1" dirty="0">
                <a:solidFill>
                  <a:schemeClr val="bg2"/>
                </a:solidFill>
                <a:latin typeface="Times New Roman" panose="02020603050405020304" pitchFamily="18" charset="0"/>
              </a:rPr>
              <a:t>={&lt;</a:t>
            </a:r>
            <a:r>
              <a:rPr lang="en-US" altLang="zh-CN" sz="1200" b="1" i="1" dirty="0">
                <a:solidFill>
                  <a:schemeClr val="bg2"/>
                </a:solidFill>
                <a:latin typeface="Times New Roman" panose="02020603050405020304" pitchFamily="18" charset="0"/>
              </a:rPr>
              <a:t>a</a:t>
            </a:r>
            <a:r>
              <a:rPr lang="en-US" altLang="zh-CN" sz="1200" b="1" dirty="0">
                <a:solidFill>
                  <a:schemeClr val="bg2"/>
                </a:solidFill>
                <a:latin typeface="Times New Roman" panose="02020603050405020304" pitchFamily="18" charset="0"/>
              </a:rPr>
              <a:t>,</a:t>
            </a:r>
            <a:r>
              <a:rPr lang="en-US" altLang="zh-CN" sz="1200" b="1" i="1" dirty="0">
                <a:solidFill>
                  <a:schemeClr val="bg2"/>
                </a:solidFill>
                <a:latin typeface="Times New Roman" panose="02020603050405020304" pitchFamily="18" charset="0"/>
              </a:rPr>
              <a:t>b</a:t>
            </a:r>
            <a:r>
              <a:rPr lang="en-US" altLang="zh-CN" sz="1200" b="1" dirty="0">
                <a:solidFill>
                  <a:schemeClr val="bg2"/>
                </a:solidFill>
                <a:latin typeface="Times New Roman" panose="02020603050405020304" pitchFamily="18" charset="0"/>
              </a:rPr>
              <a:t>&gt;,&lt;</a:t>
            </a:r>
            <a:r>
              <a:rPr lang="en-US" altLang="zh-CN" sz="1200" b="1" i="1" dirty="0">
                <a:solidFill>
                  <a:schemeClr val="bg2"/>
                </a:solidFill>
                <a:latin typeface="Times New Roman" panose="02020603050405020304" pitchFamily="18" charset="0"/>
              </a:rPr>
              <a:t>c</a:t>
            </a:r>
            <a:r>
              <a:rPr lang="en-US" altLang="zh-CN" sz="1200" b="1" dirty="0">
                <a:solidFill>
                  <a:schemeClr val="bg2"/>
                </a:solidFill>
                <a:latin typeface="Times New Roman" panose="02020603050405020304" pitchFamily="18" charset="0"/>
              </a:rPr>
              <a:t>,</a:t>
            </a:r>
            <a:r>
              <a:rPr lang="en-US" altLang="zh-CN" sz="1200" b="1" i="1" dirty="0">
                <a:solidFill>
                  <a:schemeClr val="bg2"/>
                </a:solidFill>
                <a:latin typeface="Times New Roman" panose="02020603050405020304" pitchFamily="18" charset="0"/>
              </a:rPr>
              <a:t>b</a:t>
            </a:r>
            <a:r>
              <a:rPr lang="en-US" altLang="zh-CN" sz="1200" b="1" dirty="0">
                <a:solidFill>
                  <a:schemeClr val="bg2"/>
                </a:solidFill>
                <a:latin typeface="Times New Roman" panose="02020603050405020304" pitchFamily="18" charset="0"/>
              </a:rPr>
              <a:t>&gt;}</a:t>
            </a:r>
            <a:r>
              <a:rPr lang="zh-CN" altLang="en-US" sz="1200" b="1" dirty="0">
                <a:solidFill>
                  <a:schemeClr val="bg2"/>
                </a:solidFill>
                <a:latin typeface="Times New Roman" panose="02020603050405020304" pitchFamily="18" charset="0"/>
              </a:rPr>
              <a:t>， </a:t>
            </a:r>
            <a:r>
              <a:rPr lang="en-US" altLang="zh-CN" sz="1200" b="1" i="1" dirty="0">
                <a:solidFill>
                  <a:schemeClr val="bg2"/>
                </a:solidFill>
                <a:latin typeface="Times New Roman" panose="02020603050405020304" pitchFamily="18" charset="0"/>
              </a:rPr>
              <a:t>F </a:t>
            </a:r>
            <a:r>
              <a:rPr lang="en-US" altLang="zh-CN" sz="1200" b="1" baseline="30000" dirty="0">
                <a:solidFill>
                  <a:schemeClr val="bg2"/>
                </a:solidFill>
                <a:latin typeface="Times New Roman" panose="02020603050405020304" pitchFamily="18" charset="0"/>
                <a:sym typeface="Symbol" panose="05050102010706020507" pitchFamily="18" charset="2"/>
              </a:rPr>
              <a:t></a:t>
            </a:r>
            <a:r>
              <a:rPr lang="en-US" altLang="zh-CN" sz="1200" b="1" baseline="30000" dirty="0">
                <a:solidFill>
                  <a:schemeClr val="bg2"/>
                </a:solidFill>
                <a:latin typeface="Times New Roman" panose="02020603050405020304" pitchFamily="18" charset="0"/>
              </a:rPr>
              <a:t>1</a:t>
            </a:r>
            <a:r>
              <a:rPr lang="en-US" altLang="zh-CN" sz="1200" b="1" dirty="0">
                <a:solidFill>
                  <a:schemeClr val="bg2"/>
                </a:solidFill>
                <a:latin typeface="Times New Roman" panose="02020603050405020304" pitchFamily="18" charset="0"/>
              </a:rPr>
              <a:t>={&lt;</a:t>
            </a:r>
            <a:r>
              <a:rPr lang="en-US" altLang="zh-CN" sz="1200" b="1" i="1" dirty="0">
                <a:solidFill>
                  <a:schemeClr val="bg2"/>
                </a:solidFill>
                <a:latin typeface="Times New Roman" panose="02020603050405020304" pitchFamily="18" charset="0"/>
              </a:rPr>
              <a:t>b</a:t>
            </a:r>
            <a:r>
              <a:rPr lang="en-US" altLang="zh-CN" sz="1200" b="1" dirty="0">
                <a:solidFill>
                  <a:schemeClr val="bg2"/>
                </a:solidFill>
                <a:latin typeface="Times New Roman" panose="02020603050405020304" pitchFamily="18" charset="0"/>
              </a:rPr>
              <a:t>,</a:t>
            </a:r>
            <a:r>
              <a:rPr lang="en-US" altLang="zh-CN" sz="1200" b="1" i="1" dirty="0">
                <a:solidFill>
                  <a:schemeClr val="bg2"/>
                </a:solidFill>
                <a:latin typeface="Times New Roman" panose="02020603050405020304" pitchFamily="18" charset="0"/>
              </a:rPr>
              <a:t>a</a:t>
            </a:r>
            <a:r>
              <a:rPr lang="en-US" altLang="zh-CN" sz="1200" b="1" dirty="0">
                <a:solidFill>
                  <a:schemeClr val="bg2"/>
                </a:solidFill>
                <a:latin typeface="Times New Roman" panose="02020603050405020304" pitchFamily="18" charset="0"/>
              </a:rPr>
              <a:t>&gt;,&lt;</a:t>
            </a:r>
            <a:r>
              <a:rPr lang="en-US" altLang="zh-CN" sz="1200" b="1" i="1" dirty="0">
                <a:solidFill>
                  <a:schemeClr val="bg2"/>
                </a:solidFill>
                <a:latin typeface="Times New Roman" panose="02020603050405020304" pitchFamily="18" charset="0"/>
              </a:rPr>
              <a:t>b</a:t>
            </a:r>
            <a:r>
              <a:rPr lang="en-US" altLang="zh-CN" sz="1200" b="1" dirty="0">
                <a:solidFill>
                  <a:schemeClr val="bg2"/>
                </a:solidFill>
                <a:latin typeface="Times New Roman" panose="02020603050405020304" pitchFamily="18" charset="0"/>
              </a:rPr>
              <a:t>,</a:t>
            </a:r>
            <a:r>
              <a:rPr lang="en-US" altLang="zh-CN" sz="1200" b="1" i="1" dirty="0">
                <a:solidFill>
                  <a:schemeClr val="bg2"/>
                </a:solidFill>
                <a:latin typeface="Times New Roman" panose="02020603050405020304" pitchFamily="18" charset="0"/>
              </a:rPr>
              <a:t>c</a:t>
            </a:r>
            <a:r>
              <a:rPr lang="en-US" altLang="zh-CN" sz="1200" b="1" dirty="0">
                <a:solidFill>
                  <a:schemeClr val="bg2"/>
                </a:solidFill>
                <a:latin typeface="Times New Roman" panose="02020603050405020304" pitchFamily="18" charset="0"/>
              </a:rPr>
              <a:t>&gt;} </a:t>
            </a:r>
          </a:p>
          <a:p>
            <a:pPr eaLnBrk="1" hangingPunct="1">
              <a:spcBef>
                <a:spcPct val="0"/>
              </a:spcBef>
              <a:buClrTx/>
              <a:buSzTx/>
              <a:buFontTx/>
              <a:buNone/>
            </a:pPr>
            <a:r>
              <a:rPr lang="zh-CN" altLang="en-US" sz="1200" b="1" dirty="0">
                <a:solidFill>
                  <a:schemeClr val="tx2"/>
                </a:solidFill>
                <a:latin typeface="Times New Roman" panose="02020603050405020304" pitchFamily="18" charset="0"/>
              </a:rPr>
              <a:t>任给单射函数 </a:t>
            </a:r>
            <a:r>
              <a:rPr lang="en-US" altLang="zh-CN" sz="1200" b="1" i="1" dirty="0">
                <a:solidFill>
                  <a:schemeClr val="tx2"/>
                </a:solidFill>
                <a:latin typeface="Times New Roman" panose="02020603050405020304" pitchFamily="18" charset="0"/>
              </a:rPr>
              <a:t>f</a:t>
            </a:r>
            <a:r>
              <a:rPr lang="zh-CN" altLang="en-US" sz="1200" b="1" dirty="0">
                <a:solidFill>
                  <a:schemeClr val="tx2"/>
                </a:solidFill>
                <a:latin typeface="Times New Roman" panose="02020603050405020304" pitchFamily="18" charset="0"/>
              </a:rPr>
              <a:t>：</a:t>
            </a:r>
            <a:r>
              <a:rPr lang="en-US" altLang="zh-CN" sz="1200" b="1" i="1" dirty="0">
                <a:solidFill>
                  <a:schemeClr val="tx2"/>
                </a:solidFill>
                <a:latin typeface="Times New Roman" panose="02020603050405020304" pitchFamily="18" charset="0"/>
              </a:rPr>
              <a:t>A</a:t>
            </a:r>
            <a:r>
              <a:rPr lang="en-US" altLang="zh-CN" sz="1200" b="1" dirty="0">
                <a:solidFill>
                  <a:schemeClr val="tx2"/>
                </a:solidFill>
                <a:latin typeface="Times New Roman" panose="02020603050405020304" pitchFamily="18" charset="0"/>
              </a:rPr>
              <a:t>→</a:t>
            </a:r>
            <a:r>
              <a:rPr lang="en-US" altLang="zh-CN" sz="1200" b="1" i="1" dirty="0">
                <a:solidFill>
                  <a:schemeClr val="tx2"/>
                </a:solidFill>
                <a:latin typeface="Times New Roman" panose="02020603050405020304" pitchFamily="18" charset="0"/>
              </a:rPr>
              <a:t>B</a:t>
            </a:r>
            <a:r>
              <a:rPr lang="en-US" altLang="zh-CN" sz="1200" b="1" dirty="0">
                <a:solidFill>
                  <a:schemeClr val="tx2"/>
                </a:solidFill>
                <a:latin typeface="Times New Roman" panose="02020603050405020304" pitchFamily="18" charset="0"/>
              </a:rPr>
              <a:t>, </a:t>
            </a:r>
            <a:r>
              <a:rPr lang="zh-CN" altLang="en-US" sz="1200" b="1" dirty="0">
                <a:solidFill>
                  <a:schemeClr val="tx2"/>
                </a:solidFill>
                <a:latin typeface="Times New Roman" panose="02020603050405020304" pitchFamily="18" charset="0"/>
              </a:rPr>
              <a:t>则 </a:t>
            </a:r>
            <a:r>
              <a:rPr lang="en-US" altLang="zh-CN" sz="1200" b="1" i="1" dirty="0">
                <a:solidFill>
                  <a:schemeClr val="tx2"/>
                </a:solidFill>
                <a:latin typeface="Times New Roman" panose="02020603050405020304" pitchFamily="18" charset="0"/>
              </a:rPr>
              <a:t>f </a:t>
            </a:r>
            <a:r>
              <a:rPr lang="en-US" altLang="zh-CN" sz="1200" b="1" baseline="30000" dirty="0">
                <a:solidFill>
                  <a:schemeClr val="tx2"/>
                </a:solidFill>
                <a:latin typeface="Times New Roman" panose="02020603050405020304" pitchFamily="18" charset="0"/>
                <a:sym typeface="Symbol" panose="05050102010706020507" pitchFamily="18" charset="2"/>
              </a:rPr>
              <a:t></a:t>
            </a:r>
            <a:r>
              <a:rPr lang="en-US" altLang="zh-CN" sz="1200" b="1" baseline="30000" dirty="0">
                <a:solidFill>
                  <a:schemeClr val="tx2"/>
                </a:solidFill>
                <a:latin typeface="Times New Roman" panose="02020603050405020304" pitchFamily="18" charset="0"/>
              </a:rPr>
              <a:t>1</a:t>
            </a:r>
            <a:r>
              <a:rPr lang="zh-CN" altLang="en-US" sz="1200" b="1" dirty="0">
                <a:solidFill>
                  <a:schemeClr val="tx2"/>
                </a:solidFill>
                <a:latin typeface="Times New Roman" panose="02020603050405020304" pitchFamily="18" charset="0"/>
              </a:rPr>
              <a:t>是函数</a:t>
            </a:r>
            <a:r>
              <a:rPr lang="en-US" altLang="zh-CN" sz="1200" b="1" dirty="0">
                <a:solidFill>
                  <a:schemeClr val="tx2"/>
                </a:solidFill>
                <a:latin typeface="Times New Roman" panose="02020603050405020304" pitchFamily="18" charset="0"/>
              </a:rPr>
              <a:t>, </a:t>
            </a:r>
            <a:r>
              <a:rPr lang="zh-CN" altLang="en-US" sz="1200" b="1" dirty="0">
                <a:solidFill>
                  <a:schemeClr val="tx2"/>
                </a:solidFill>
                <a:latin typeface="Times New Roman" panose="02020603050405020304" pitchFamily="18" charset="0"/>
              </a:rPr>
              <a:t>且是从 </a:t>
            </a:r>
            <a:r>
              <a:rPr lang="en-US" altLang="zh-CN" sz="1200" b="1" dirty="0">
                <a:solidFill>
                  <a:schemeClr val="tx2"/>
                </a:solidFill>
                <a:latin typeface="Times New Roman" panose="02020603050405020304" pitchFamily="18" charset="0"/>
              </a:rPr>
              <a:t>ran</a:t>
            </a:r>
            <a:r>
              <a:rPr lang="en-US" altLang="zh-CN" sz="1200" b="1" i="1" dirty="0">
                <a:solidFill>
                  <a:schemeClr val="tx2"/>
                </a:solidFill>
                <a:latin typeface="Times New Roman" panose="02020603050405020304" pitchFamily="18" charset="0"/>
              </a:rPr>
              <a:t>f </a:t>
            </a:r>
            <a:r>
              <a:rPr lang="zh-CN" altLang="en-US" sz="1200" b="1" dirty="0">
                <a:solidFill>
                  <a:schemeClr val="tx2"/>
                </a:solidFill>
                <a:latin typeface="Times New Roman" panose="02020603050405020304" pitchFamily="18" charset="0"/>
              </a:rPr>
              <a:t>到 </a:t>
            </a:r>
            <a:r>
              <a:rPr lang="en-US" altLang="zh-CN" sz="1200" b="1" i="1" dirty="0">
                <a:solidFill>
                  <a:schemeClr val="tx2"/>
                </a:solidFill>
                <a:latin typeface="Times New Roman" panose="02020603050405020304" pitchFamily="18" charset="0"/>
              </a:rPr>
              <a:t>A</a:t>
            </a:r>
            <a:r>
              <a:rPr lang="zh-CN" altLang="en-US" sz="1200" b="1" dirty="0">
                <a:solidFill>
                  <a:schemeClr val="tx2"/>
                </a:solidFill>
                <a:latin typeface="Times New Roman" panose="02020603050405020304" pitchFamily="18" charset="0"/>
              </a:rPr>
              <a:t>的双射函数</a:t>
            </a:r>
            <a:r>
              <a:rPr lang="en-US" altLang="zh-CN" sz="1200" b="1" dirty="0">
                <a:solidFill>
                  <a:schemeClr val="tx2"/>
                </a:solidFill>
                <a:latin typeface="Times New Roman" panose="02020603050405020304" pitchFamily="18" charset="0"/>
              </a:rPr>
              <a:t>,  </a:t>
            </a:r>
            <a:r>
              <a:rPr lang="zh-CN" altLang="en-US" sz="1200" b="1" dirty="0">
                <a:solidFill>
                  <a:schemeClr val="tx2"/>
                </a:solidFill>
                <a:latin typeface="Times New Roman" panose="02020603050405020304" pitchFamily="18" charset="0"/>
              </a:rPr>
              <a:t>但不一定是从 </a:t>
            </a:r>
            <a:r>
              <a:rPr lang="en-US" altLang="zh-CN" sz="1200" b="1" i="1" dirty="0">
                <a:solidFill>
                  <a:schemeClr val="tx2"/>
                </a:solidFill>
                <a:latin typeface="Times New Roman" panose="02020603050405020304" pitchFamily="18" charset="0"/>
              </a:rPr>
              <a:t>B </a:t>
            </a:r>
            <a:r>
              <a:rPr lang="zh-CN" altLang="en-US" sz="1200" b="1" dirty="0">
                <a:solidFill>
                  <a:schemeClr val="tx2"/>
                </a:solidFill>
                <a:latin typeface="Times New Roman" panose="02020603050405020304" pitchFamily="18" charset="0"/>
              </a:rPr>
              <a:t>到 </a:t>
            </a:r>
            <a:r>
              <a:rPr lang="en-US" altLang="zh-CN" sz="1200" b="1" i="1" dirty="0">
                <a:solidFill>
                  <a:schemeClr val="tx2"/>
                </a:solidFill>
                <a:latin typeface="Times New Roman" panose="02020603050405020304" pitchFamily="18" charset="0"/>
              </a:rPr>
              <a:t>A </a:t>
            </a:r>
            <a:r>
              <a:rPr lang="zh-CN" altLang="en-US" sz="1200" b="1" dirty="0">
                <a:solidFill>
                  <a:schemeClr val="tx2"/>
                </a:solidFill>
                <a:latin typeface="Times New Roman" panose="02020603050405020304" pitchFamily="18" charset="0"/>
              </a:rPr>
              <a:t>的双射函数</a:t>
            </a:r>
            <a:r>
              <a:rPr lang="en-US" altLang="zh-CN" sz="1200" b="1" dirty="0">
                <a:solidFill>
                  <a:schemeClr val="tx2"/>
                </a:solidFill>
                <a:latin typeface="Times New Roman" panose="02020603050405020304" pitchFamily="18" charset="0"/>
              </a:rPr>
              <a:t>.</a:t>
            </a:r>
          </a:p>
          <a:p>
            <a:pPr eaLnBrk="1" hangingPunct="1">
              <a:spcBef>
                <a:spcPct val="0"/>
              </a:spcBef>
              <a:buClrTx/>
              <a:buSzTx/>
              <a:buFontTx/>
              <a:buNone/>
            </a:pPr>
            <a:r>
              <a:rPr lang="zh-CN" altLang="en-US" sz="1200" b="1" dirty="0">
                <a:solidFill>
                  <a:schemeClr val="bg2"/>
                </a:solidFill>
                <a:latin typeface="Times New Roman" panose="02020603050405020304" pitchFamily="18" charset="0"/>
              </a:rPr>
              <a:t>实例：</a:t>
            </a:r>
            <a:r>
              <a:rPr lang="en-US" altLang="zh-CN" sz="1200" b="1" i="1" dirty="0">
                <a:solidFill>
                  <a:schemeClr val="bg2"/>
                </a:solidFill>
                <a:latin typeface="Times New Roman" panose="02020603050405020304" pitchFamily="18" charset="0"/>
              </a:rPr>
              <a:t>f </a:t>
            </a:r>
            <a:r>
              <a:rPr lang="en-US" altLang="zh-CN" sz="1200" b="1" dirty="0">
                <a:solidFill>
                  <a:schemeClr val="bg2"/>
                </a:solidFill>
                <a:latin typeface="Times New Roman" panose="02020603050405020304" pitchFamily="18" charset="0"/>
              </a:rPr>
              <a:t>: N →N,  </a:t>
            </a:r>
            <a:r>
              <a:rPr lang="en-US" altLang="zh-CN" sz="1200" b="1" i="1" dirty="0">
                <a:solidFill>
                  <a:schemeClr val="bg2"/>
                </a:solidFill>
                <a:latin typeface="Times New Roman" panose="02020603050405020304" pitchFamily="18" charset="0"/>
              </a:rPr>
              <a:t>f</a:t>
            </a:r>
            <a:r>
              <a:rPr lang="en-US" altLang="zh-CN" sz="1200" b="1" dirty="0">
                <a:solidFill>
                  <a:schemeClr val="bg2"/>
                </a:solidFill>
                <a:latin typeface="Times New Roman" panose="02020603050405020304" pitchFamily="18" charset="0"/>
              </a:rPr>
              <a:t>(</a:t>
            </a:r>
            <a:r>
              <a:rPr lang="en-US" altLang="zh-CN" sz="1200" b="1" i="1" dirty="0">
                <a:solidFill>
                  <a:schemeClr val="bg2"/>
                </a:solidFill>
                <a:latin typeface="Times New Roman" panose="02020603050405020304" pitchFamily="18" charset="0"/>
              </a:rPr>
              <a:t>x</a:t>
            </a:r>
            <a:r>
              <a:rPr lang="en-US" altLang="zh-CN" sz="1200" b="1" dirty="0">
                <a:solidFill>
                  <a:schemeClr val="bg2"/>
                </a:solidFill>
                <a:latin typeface="Times New Roman" panose="02020603050405020304" pitchFamily="18" charset="0"/>
              </a:rPr>
              <a:t>) = 2</a:t>
            </a:r>
            <a:r>
              <a:rPr lang="en-US" altLang="zh-CN" sz="1200" b="1" i="1" dirty="0">
                <a:solidFill>
                  <a:schemeClr val="bg2"/>
                </a:solidFill>
                <a:latin typeface="Times New Roman" panose="02020603050405020304" pitchFamily="18" charset="0"/>
              </a:rPr>
              <a:t>x</a:t>
            </a:r>
            <a:r>
              <a:rPr lang="en-US" altLang="zh-CN" sz="1200" b="1" dirty="0">
                <a:solidFill>
                  <a:schemeClr val="bg2"/>
                </a:solidFill>
                <a:latin typeface="Times New Roman" panose="02020603050405020304" pitchFamily="18" charset="0"/>
              </a:rPr>
              <a:t>, </a:t>
            </a:r>
          </a:p>
          <a:p>
            <a:pPr eaLnBrk="1" hangingPunct="1">
              <a:spcBef>
                <a:spcPct val="0"/>
              </a:spcBef>
              <a:buClrTx/>
              <a:buSzTx/>
              <a:buFontTx/>
              <a:buNone/>
            </a:pPr>
            <a:r>
              <a:rPr lang="en-US" altLang="zh-CN" sz="1200" b="1" dirty="0">
                <a:solidFill>
                  <a:schemeClr val="bg2"/>
                </a:solidFill>
                <a:latin typeface="Times New Roman" panose="02020603050405020304" pitchFamily="18" charset="0"/>
              </a:rPr>
              <a:t>            </a:t>
            </a:r>
            <a:r>
              <a:rPr lang="en-US" altLang="zh-CN" sz="1200" b="1" i="1" dirty="0">
                <a:solidFill>
                  <a:schemeClr val="bg2"/>
                </a:solidFill>
                <a:latin typeface="Times New Roman" panose="02020603050405020304" pitchFamily="18" charset="0"/>
              </a:rPr>
              <a:t>f </a:t>
            </a:r>
            <a:r>
              <a:rPr lang="en-US" altLang="zh-CN" sz="1200" b="1" baseline="30000" dirty="0">
                <a:solidFill>
                  <a:schemeClr val="bg2"/>
                </a:solidFill>
                <a:latin typeface="Times New Roman" panose="02020603050405020304" pitchFamily="18" charset="0"/>
                <a:sym typeface="Symbol" panose="05050102010706020507" pitchFamily="18" charset="2"/>
              </a:rPr>
              <a:t></a:t>
            </a:r>
            <a:r>
              <a:rPr lang="en-US" altLang="zh-CN" sz="1200" b="1" baseline="30000" dirty="0">
                <a:solidFill>
                  <a:schemeClr val="bg2"/>
                </a:solidFill>
                <a:latin typeface="Times New Roman" panose="02020603050405020304" pitchFamily="18" charset="0"/>
              </a:rPr>
              <a:t>1</a:t>
            </a:r>
            <a:r>
              <a:rPr lang="en-US" altLang="zh-CN" sz="1200" b="1" dirty="0">
                <a:solidFill>
                  <a:schemeClr val="bg2"/>
                </a:solidFill>
                <a:latin typeface="Times New Roman" panose="02020603050405020304" pitchFamily="18" charset="0"/>
              </a:rPr>
              <a:t> : ran</a:t>
            </a:r>
            <a:r>
              <a:rPr lang="en-US" altLang="zh-CN" sz="1200" b="1" i="1" dirty="0">
                <a:solidFill>
                  <a:schemeClr val="bg2"/>
                </a:solidFill>
                <a:latin typeface="Times New Roman" panose="02020603050405020304" pitchFamily="18" charset="0"/>
              </a:rPr>
              <a:t>f</a:t>
            </a:r>
            <a:r>
              <a:rPr lang="en-US" altLang="zh-CN" sz="1200" b="1" dirty="0">
                <a:solidFill>
                  <a:schemeClr val="bg2"/>
                </a:solidFill>
                <a:latin typeface="Times New Roman" panose="02020603050405020304" pitchFamily="18" charset="0"/>
              </a:rPr>
              <a:t> →N,  </a:t>
            </a:r>
            <a:r>
              <a:rPr lang="en-US" altLang="zh-CN" sz="1200" b="1" i="1" dirty="0">
                <a:solidFill>
                  <a:schemeClr val="bg2"/>
                </a:solidFill>
                <a:latin typeface="Times New Roman" panose="02020603050405020304" pitchFamily="18" charset="0"/>
              </a:rPr>
              <a:t>f </a:t>
            </a:r>
            <a:r>
              <a:rPr lang="en-US" altLang="zh-CN" sz="1200" b="1" baseline="30000" dirty="0">
                <a:solidFill>
                  <a:schemeClr val="bg2"/>
                </a:solidFill>
                <a:latin typeface="Times New Roman" panose="02020603050405020304" pitchFamily="18" charset="0"/>
                <a:sym typeface="Symbol" panose="05050102010706020507" pitchFamily="18" charset="2"/>
              </a:rPr>
              <a:t></a:t>
            </a:r>
            <a:r>
              <a:rPr lang="en-US" altLang="zh-CN" sz="1200" b="1" baseline="30000" dirty="0">
                <a:solidFill>
                  <a:schemeClr val="bg2"/>
                </a:solidFill>
                <a:latin typeface="Times New Roman" panose="02020603050405020304" pitchFamily="18" charset="0"/>
              </a:rPr>
              <a:t>1</a:t>
            </a:r>
            <a:r>
              <a:rPr lang="en-US" altLang="zh-CN" sz="1200" dirty="0">
                <a:solidFill>
                  <a:schemeClr val="bg2"/>
                </a:solidFill>
                <a:latin typeface="Times New Roman" panose="02020603050405020304" pitchFamily="18" charset="0"/>
              </a:rPr>
              <a:t> </a:t>
            </a:r>
            <a:r>
              <a:rPr lang="en-US" altLang="zh-CN" sz="1200" b="1" dirty="0">
                <a:solidFill>
                  <a:schemeClr val="bg2"/>
                </a:solidFill>
                <a:latin typeface="Times New Roman" panose="02020603050405020304" pitchFamily="18" charset="0"/>
              </a:rPr>
              <a:t>(</a:t>
            </a:r>
            <a:r>
              <a:rPr lang="en-US" altLang="zh-CN" sz="1200" b="1" i="1" dirty="0">
                <a:solidFill>
                  <a:schemeClr val="bg2"/>
                </a:solidFill>
                <a:latin typeface="Times New Roman" panose="02020603050405020304" pitchFamily="18" charset="0"/>
              </a:rPr>
              <a:t>x</a:t>
            </a:r>
            <a:r>
              <a:rPr lang="en-US" altLang="zh-CN" sz="1200" b="1" dirty="0">
                <a:solidFill>
                  <a:schemeClr val="bg2"/>
                </a:solidFill>
                <a:latin typeface="Times New Roman" panose="02020603050405020304" pitchFamily="18" charset="0"/>
              </a:rPr>
              <a:t>) = </a:t>
            </a:r>
            <a:r>
              <a:rPr lang="en-US" altLang="zh-CN" sz="1200" b="1" i="1" dirty="0">
                <a:solidFill>
                  <a:schemeClr val="bg2"/>
                </a:solidFill>
                <a:latin typeface="Times New Roman" panose="02020603050405020304" pitchFamily="18" charset="0"/>
              </a:rPr>
              <a:t>x</a:t>
            </a:r>
            <a:r>
              <a:rPr lang="en-US" altLang="zh-CN" sz="1200" b="1" dirty="0">
                <a:solidFill>
                  <a:schemeClr val="bg2"/>
                </a:solidFill>
                <a:latin typeface="Times New Roman" panose="02020603050405020304" pitchFamily="18" charset="0"/>
              </a:rPr>
              <a:t>/2 </a:t>
            </a:r>
          </a:p>
          <a:p>
            <a:pPr eaLnBrk="1" hangingPunct="1">
              <a:spcBef>
                <a:spcPct val="0"/>
              </a:spcBef>
              <a:buClrTx/>
              <a:buSzTx/>
              <a:buFontTx/>
              <a:buNone/>
            </a:pPr>
            <a:endParaRPr lang="en-US" altLang="zh-CN" sz="1200" b="1" dirty="0">
              <a:solidFill>
                <a:schemeClr val="bg2"/>
              </a:solidFill>
              <a:latin typeface="Times New Roman" panose="02020603050405020304" pitchFamily="18" charset="0"/>
            </a:endParaRPr>
          </a:p>
          <a:p>
            <a:pPr eaLnBrk="1" hangingPunct="1">
              <a:spcBef>
                <a:spcPct val="0"/>
              </a:spcBef>
              <a:buFontTx/>
              <a:buNone/>
            </a:pPr>
            <a:r>
              <a:rPr lang="zh-CN" altLang="en-US" sz="1200" b="1" dirty="0">
                <a:solidFill>
                  <a:srgbClr val="FF0000"/>
                </a:solidFill>
              </a:rPr>
              <a:t>定理</a:t>
            </a:r>
            <a:r>
              <a:rPr lang="en-US" altLang="zh-CN" sz="1200" b="1" dirty="0">
                <a:solidFill>
                  <a:srgbClr val="FF0000"/>
                </a:solidFill>
              </a:rPr>
              <a:t>5.4</a:t>
            </a:r>
            <a:r>
              <a:rPr lang="en-US" altLang="zh-CN" sz="1200" b="1" dirty="0"/>
              <a:t> </a:t>
            </a:r>
            <a:r>
              <a:rPr lang="zh-CN" altLang="en-US" sz="1200" b="1" dirty="0"/>
              <a:t>设 </a:t>
            </a:r>
            <a:r>
              <a:rPr lang="en-US" altLang="zh-CN" sz="1200" b="1" i="1" dirty="0"/>
              <a:t>f </a:t>
            </a:r>
            <a:r>
              <a:rPr lang="en-US" altLang="zh-CN" sz="1200" b="1" dirty="0"/>
              <a:t>: </a:t>
            </a:r>
            <a:r>
              <a:rPr lang="en-US" altLang="zh-CN" sz="1200" b="1" i="1" dirty="0"/>
              <a:t>A</a:t>
            </a:r>
            <a:r>
              <a:rPr lang="en-US" altLang="zh-CN" sz="1200" b="1" dirty="0"/>
              <a:t>→</a:t>
            </a:r>
            <a:r>
              <a:rPr lang="en-US" altLang="zh-CN" sz="1200" b="1" i="1" dirty="0"/>
              <a:t>B</a:t>
            </a:r>
            <a:r>
              <a:rPr lang="zh-CN" altLang="en-US" sz="1200" b="1" dirty="0"/>
              <a:t>是双射的</a:t>
            </a:r>
            <a:r>
              <a:rPr lang="en-US" altLang="zh-CN" sz="1200" b="1" dirty="0"/>
              <a:t>, </a:t>
            </a:r>
            <a:r>
              <a:rPr lang="zh-CN" altLang="en-US" sz="1200" b="1" dirty="0"/>
              <a:t>则</a:t>
            </a:r>
            <a:r>
              <a:rPr lang="en-US" altLang="zh-CN" sz="1200" b="1" i="1" dirty="0"/>
              <a:t>f</a:t>
            </a:r>
            <a:r>
              <a:rPr lang="en-US" altLang="zh-CN" sz="1200" b="1" i="1" baseline="30000" dirty="0">
                <a:sym typeface="Symbol" panose="05050102010706020507" pitchFamily="18" charset="2"/>
              </a:rPr>
              <a:t></a:t>
            </a:r>
            <a:r>
              <a:rPr lang="en-US" altLang="zh-CN" sz="1200" b="1" baseline="30000" dirty="0"/>
              <a:t>1</a:t>
            </a:r>
            <a:r>
              <a:rPr lang="en-US" altLang="zh-CN" sz="1200" b="1" dirty="0"/>
              <a:t>: </a:t>
            </a:r>
            <a:r>
              <a:rPr lang="en-US" altLang="zh-CN" sz="1200" b="1" i="1" dirty="0"/>
              <a:t>B</a:t>
            </a:r>
            <a:r>
              <a:rPr lang="en-US" altLang="zh-CN" sz="1200" b="1" dirty="0"/>
              <a:t>→</a:t>
            </a:r>
            <a:r>
              <a:rPr lang="en-US" altLang="zh-CN" sz="1200" b="1" i="1" dirty="0"/>
              <a:t>A</a:t>
            </a:r>
            <a:r>
              <a:rPr lang="zh-CN" altLang="en-US" sz="1200" b="1" dirty="0"/>
              <a:t>也是双射的</a:t>
            </a:r>
            <a:r>
              <a:rPr lang="en-US" altLang="zh-CN" sz="1200" b="1" dirty="0"/>
              <a:t>.</a:t>
            </a:r>
          </a:p>
          <a:p>
            <a:pPr eaLnBrk="1" hangingPunct="1">
              <a:spcBef>
                <a:spcPct val="30000"/>
              </a:spcBef>
              <a:buFontTx/>
              <a:buNone/>
            </a:pPr>
            <a:r>
              <a:rPr lang="zh-CN" altLang="en-US" sz="1200" b="1" dirty="0">
                <a:solidFill>
                  <a:srgbClr val="00B0F0"/>
                </a:solidFill>
              </a:rPr>
              <a:t>证</a:t>
            </a:r>
            <a:r>
              <a:rPr lang="zh-CN" altLang="en-US" sz="1200" b="1" dirty="0"/>
              <a:t>  因为 </a:t>
            </a:r>
            <a:r>
              <a:rPr lang="en-US" altLang="zh-CN" sz="1200" b="1" i="1" dirty="0"/>
              <a:t>f </a:t>
            </a:r>
            <a:r>
              <a:rPr lang="zh-CN" altLang="en-US" sz="1200" b="1" dirty="0"/>
              <a:t>是函数</a:t>
            </a:r>
            <a:r>
              <a:rPr lang="en-US" altLang="zh-CN" sz="1200" b="1" dirty="0"/>
              <a:t>, </a:t>
            </a:r>
            <a:r>
              <a:rPr lang="zh-CN" altLang="en-US" sz="1200" b="1" dirty="0"/>
              <a:t>所以 </a:t>
            </a:r>
            <a:r>
              <a:rPr lang="en-US" altLang="zh-CN" sz="1200" b="1" i="1" dirty="0"/>
              <a:t>f </a:t>
            </a:r>
            <a:r>
              <a:rPr lang="en-US" altLang="zh-CN" sz="1200" b="1" baseline="30000" dirty="0">
                <a:sym typeface="Symbol" panose="05050102010706020507" pitchFamily="18" charset="2"/>
              </a:rPr>
              <a:t></a:t>
            </a:r>
            <a:r>
              <a:rPr lang="en-US" altLang="zh-CN" sz="1200" b="1" baseline="30000" dirty="0"/>
              <a:t>1</a:t>
            </a:r>
            <a:r>
              <a:rPr lang="zh-CN" altLang="en-US" sz="1200" b="1" dirty="0"/>
              <a:t>是关系</a:t>
            </a:r>
            <a:r>
              <a:rPr lang="en-US" altLang="zh-CN" sz="1200" b="1" dirty="0"/>
              <a:t>, </a:t>
            </a:r>
            <a:r>
              <a:rPr lang="zh-CN" altLang="en-US" sz="1200" b="1" dirty="0"/>
              <a:t>且 </a:t>
            </a:r>
          </a:p>
          <a:p>
            <a:pPr eaLnBrk="1" hangingPunct="1">
              <a:spcBef>
                <a:spcPct val="0"/>
              </a:spcBef>
              <a:buFontTx/>
              <a:buNone/>
            </a:pPr>
            <a:r>
              <a:rPr lang="zh-CN" altLang="en-US" sz="1200" b="1" dirty="0"/>
              <a:t>              </a:t>
            </a:r>
            <a:r>
              <a:rPr lang="en-US" altLang="zh-CN" sz="1200" b="1" dirty="0"/>
              <a:t>dom</a:t>
            </a:r>
            <a:r>
              <a:rPr lang="en-US" altLang="zh-CN" sz="1200" b="1" i="1" dirty="0"/>
              <a:t> f </a:t>
            </a:r>
            <a:r>
              <a:rPr lang="en-US" altLang="zh-CN" sz="1200" b="1" baseline="30000" dirty="0">
                <a:sym typeface="Symbol" panose="05050102010706020507" pitchFamily="18" charset="2"/>
              </a:rPr>
              <a:t></a:t>
            </a:r>
            <a:r>
              <a:rPr lang="en-US" altLang="zh-CN" sz="1200" b="1" baseline="30000" dirty="0"/>
              <a:t>1</a:t>
            </a:r>
            <a:r>
              <a:rPr lang="en-US" altLang="zh-CN" sz="1200" b="1" dirty="0"/>
              <a:t>= ran</a:t>
            </a:r>
            <a:r>
              <a:rPr lang="en-US" altLang="zh-CN" sz="1200" b="1" i="1" dirty="0"/>
              <a:t>f </a:t>
            </a:r>
            <a:r>
              <a:rPr lang="en-US" altLang="zh-CN" sz="1200" b="1" dirty="0"/>
              <a:t>=</a:t>
            </a:r>
            <a:r>
              <a:rPr lang="en-US" altLang="zh-CN" sz="1200" b="1" i="1" dirty="0"/>
              <a:t>B</a:t>
            </a:r>
            <a:r>
              <a:rPr lang="en-US" altLang="zh-CN" sz="1200" b="1" dirty="0"/>
              <a:t> ,    ran</a:t>
            </a:r>
            <a:r>
              <a:rPr lang="en-US" altLang="zh-CN" sz="1200" b="1" i="1" dirty="0"/>
              <a:t> f </a:t>
            </a:r>
            <a:r>
              <a:rPr lang="en-US" altLang="zh-CN" sz="1200" b="1" baseline="30000" dirty="0">
                <a:sym typeface="Symbol" panose="05050102010706020507" pitchFamily="18" charset="2"/>
              </a:rPr>
              <a:t></a:t>
            </a:r>
            <a:r>
              <a:rPr lang="en-US" altLang="zh-CN" sz="1200" b="1" baseline="30000" dirty="0"/>
              <a:t>1</a:t>
            </a:r>
            <a:r>
              <a:rPr lang="en-US" altLang="zh-CN" sz="1200" b="1" dirty="0"/>
              <a:t>= dom</a:t>
            </a:r>
            <a:r>
              <a:rPr lang="en-US" altLang="zh-CN" sz="1200" b="1" i="1" dirty="0"/>
              <a:t>f </a:t>
            </a:r>
            <a:r>
              <a:rPr lang="en-US" altLang="zh-CN" sz="1200" b="1" dirty="0"/>
              <a:t>=</a:t>
            </a:r>
            <a:r>
              <a:rPr lang="en-US" altLang="zh-CN" sz="1200" b="1" i="1" dirty="0"/>
              <a:t>A</a:t>
            </a:r>
            <a:r>
              <a:rPr lang="en-US" altLang="zh-CN" sz="1200" b="1" dirty="0"/>
              <a:t>, </a:t>
            </a:r>
          </a:p>
          <a:p>
            <a:pPr eaLnBrk="1" hangingPunct="1">
              <a:spcBef>
                <a:spcPct val="0"/>
              </a:spcBef>
              <a:buFontTx/>
              <a:buNone/>
            </a:pPr>
            <a:r>
              <a:rPr lang="zh-CN" altLang="en-US" sz="1200" b="1" dirty="0"/>
              <a:t>对于任意的 </a:t>
            </a:r>
            <a:r>
              <a:rPr lang="en-US" altLang="zh-CN" sz="1200" b="1" i="1" dirty="0"/>
              <a:t>x</a:t>
            </a:r>
            <a:r>
              <a:rPr lang="en-US" altLang="zh-CN" sz="1200" b="1" dirty="0"/>
              <a:t>∈</a:t>
            </a:r>
            <a:r>
              <a:rPr lang="en-US" altLang="zh-CN" sz="1200" b="1" i="1" dirty="0"/>
              <a:t>B</a:t>
            </a:r>
            <a:r>
              <a:rPr lang="en-US" altLang="zh-CN" sz="1200" b="1" dirty="0"/>
              <a:t>, </a:t>
            </a:r>
            <a:r>
              <a:rPr lang="zh-CN" altLang="en-US" sz="1200" b="1" dirty="0"/>
              <a:t>假设有 </a:t>
            </a:r>
            <a:r>
              <a:rPr lang="en-US" altLang="zh-CN" sz="1200" b="1" i="1" dirty="0"/>
              <a:t>y</a:t>
            </a:r>
            <a:r>
              <a:rPr lang="en-US" altLang="zh-CN" sz="1200" b="1" baseline="-25000" dirty="0"/>
              <a:t>1</a:t>
            </a:r>
            <a:r>
              <a:rPr lang="en-US" altLang="zh-CN" sz="1200" b="1" dirty="0"/>
              <a:t>, </a:t>
            </a:r>
            <a:r>
              <a:rPr lang="en-US" altLang="zh-CN" sz="1200" b="1" i="1" dirty="0"/>
              <a:t>y</a:t>
            </a:r>
            <a:r>
              <a:rPr lang="en-US" altLang="zh-CN" sz="1200" b="1" baseline="-25000" dirty="0"/>
              <a:t>2</a:t>
            </a:r>
            <a:r>
              <a:rPr lang="en-US" altLang="zh-CN" sz="1200" b="1" dirty="0"/>
              <a:t>∈</a:t>
            </a:r>
            <a:r>
              <a:rPr lang="en-US" altLang="zh-CN" sz="1200" b="1" i="1" dirty="0"/>
              <a:t>A </a:t>
            </a:r>
            <a:r>
              <a:rPr lang="zh-CN" altLang="en-US" sz="1200" b="1" dirty="0"/>
              <a:t>使得 </a:t>
            </a:r>
          </a:p>
          <a:p>
            <a:pPr eaLnBrk="1" hangingPunct="1">
              <a:spcBef>
                <a:spcPct val="0"/>
              </a:spcBef>
              <a:buFontTx/>
              <a:buNone/>
            </a:pPr>
            <a:r>
              <a:rPr lang="en-US" altLang="zh-CN" sz="1200" b="1" dirty="0"/>
              <a:t>&lt;</a:t>
            </a:r>
            <a:r>
              <a:rPr lang="en-US" altLang="zh-CN" sz="1200" b="1" i="1" dirty="0"/>
              <a:t>y</a:t>
            </a:r>
            <a:r>
              <a:rPr lang="en-US" altLang="zh-CN" sz="1200" b="1" baseline="-25000" dirty="0"/>
              <a:t>1</a:t>
            </a:r>
            <a:r>
              <a:rPr lang="en-US" altLang="zh-CN" sz="1200" b="1" dirty="0"/>
              <a:t> , </a:t>
            </a:r>
            <a:r>
              <a:rPr lang="en-US" altLang="zh-CN" sz="1200" b="1" i="1" dirty="0"/>
              <a:t>x </a:t>
            </a:r>
            <a:r>
              <a:rPr lang="en-US" altLang="zh-CN" sz="1200" b="1" dirty="0"/>
              <a:t>&gt;∈</a:t>
            </a:r>
            <a:r>
              <a:rPr lang="en-US" altLang="zh-CN" sz="1200" b="1" i="1" dirty="0"/>
              <a:t>f </a:t>
            </a:r>
            <a:r>
              <a:rPr lang="en-US" altLang="zh-CN" sz="1200" b="1" baseline="30000" dirty="0">
                <a:sym typeface="Symbol" panose="05050102010706020507" pitchFamily="18" charset="2"/>
              </a:rPr>
              <a:t></a:t>
            </a:r>
            <a:r>
              <a:rPr lang="en-US" altLang="zh-CN" sz="1200" b="1" baseline="30000" dirty="0"/>
              <a:t>1</a:t>
            </a:r>
            <a:r>
              <a:rPr lang="en-US" altLang="zh-CN" sz="1200" b="1" dirty="0"/>
              <a:t>∧&lt;</a:t>
            </a:r>
            <a:r>
              <a:rPr lang="en-US" altLang="zh-CN" sz="1200" b="1" i="1" dirty="0"/>
              <a:t>y</a:t>
            </a:r>
            <a:r>
              <a:rPr lang="en-US" altLang="zh-CN" sz="1200" b="1" baseline="-25000" dirty="0"/>
              <a:t>2</a:t>
            </a:r>
            <a:r>
              <a:rPr lang="en-US" altLang="zh-CN" sz="1200" b="1" dirty="0"/>
              <a:t>,</a:t>
            </a:r>
            <a:r>
              <a:rPr lang="en-US" altLang="zh-CN" sz="1200" b="1" i="1" dirty="0"/>
              <a:t> x</a:t>
            </a:r>
            <a:r>
              <a:rPr lang="en-US" altLang="zh-CN" sz="1200" b="1" dirty="0"/>
              <a:t> &gt;∈</a:t>
            </a:r>
            <a:r>
              <a:rPr lang="en-US" altLang="zh-CN" sz="1200" b="1" i="1" dirty="0"/>
              <a:t>f </a:t>
            </a:r>
            <a:r>
              <a:rPr lang="en-US" altLang="zh-CN" sz="1200" b="1" baseline="30000" dirty="0">
                <a:sym typeface="Symbol" panose="05050102010706020507" pitchFamily="18" charset="2"/>
              </a:rPr>
              <a:t></a:t>
            </a:r>
            <a:r>
              <a:rPr lang="en-US" altLang="zh-CN" sz="1200" b="1" baseline="30000" dirty="0"/>
              <a:t>1</a:t>
            </a:r>
            <a:r>
              <a:rPr lang="en-US" altLang="zh-CN" sz="1200" b="1" dirty="0"/>
              <a:t> </a:t>
            </a:r>
            <a:r>
              <a:rPr lang="zh-CN" altLang="en-US" sz="1200" b="1" dirty="0"/>
              <a:t>成立</a:t>
            </a:r>
            <a:r>
              <a:rPr lang="en-US" altLang="zh-CN" sz="1200" b="1" dirty="0"/>
              <a:t>, </a:t>
            </a:r>
            <a:r>
              <a:rPr lang="zh-CN" altLang="en-US" sz="1200" b="1" dirty="0"/>
              <a:t>则由逆的定义有</a:t>
            </a:r>
            <a:r>
              <a:rPr lang="en-US" altLang="zh-CN" sz="1200" b="1" dirty="0"/>
              <a:t>       </a:t>
            </a:r>
          </a:p>
          <a:p>
            <a:pPr eaLnBrk="1" hangingPunct="1">
              <a:spcBef>
                <a:spcPct val="0"/>
              </a:spcBef>
              <a:buFontTx/>
              <a:buNone/>
            </a:pPr>
            <a:r>
              <a:rPr lang="en-US" altLang="zh-CN" sz="1200" b="1" dirty="0"/>
              <a:t>&lt;</a:t>
            </a:r>
            <a:r>
              <a:rPr lang="en-US" altLang="zh-CN" sz="1200" b="1" i="1" dirty="0"/>
              <a:t>x </a:t>
            </a:r>
            <a:r>
              <a:rPr lang="en-US" altLang="zh-CN" sz="1200" b="1" dirty="0"/>
              <a:t>, </a:t>
            </a:r>
            <a:r>
              <a:rPr lang="en-US" altLang="zh-CN" sz="1200" b="1" i="1" dirty="0"/>
              <a:t>y</a:t>
            </a:r>
            <a:r>
              <a:rPr lang="en-US" altLang="zh-CN" sz="1200" b="1" baseline="-25000" dirty="0"/>
              <a:t>1</a:t>
            </a:r>
            <a:r>
              <a:rPr lang="en-US" altLang="zh-CN" sz="1200" b="1" dirty="0"/>
              <a:t>&gt;∈</a:t>
            </a:r>
            <a:r>
              <a:rPr lang="en-US" altLang="zh-CN" sz="1200" b="1" i="1" dirty="0"/>
              <a:t>f </a:t>
            </a:r>
            <a:r>
              <a:rPr lang="en-US" altLang="zh-CN" sz="1200" b="1" dirty="0"/>
              <a:t>∧&lt;</a:t>
            </a:r>
            <a:r>
              <a:rPr lang="en-US" altLang="zh-CN" sz="1200" b="1" i="1" dirty="0"/>
              <a:t>x </a:t>
            </a:r>
            <a:r>
              <a:rPr lang="en-US" altLang="zh-CN" sz="1200" b="1" dirty="0"/>
              <a:t>, </a:t>
            </a:r>
            <a:r>
              <a:rPr lang="en-US" altLang="zh-CN" sz="1200" b="1" i="1" dirty="0"/>
              <a:t>y</a:t>
            </a:r>
            <a:r>
              <a:rPr lang="en-US" altLang="zh-CN" sz="1200" b="1" baseline="-25000" dirty="0"/>
              <a:t>2</a:t>
            </a:r>
            <a:r>
              <a:rPr lang="en-US" altLang="zh-CN" sz="1200" b="1" dirty="0"/>
              <a:t>&gt;∈</a:t>
            </a:r>
            <a:r>
              <a:rPr lang="en-US" altLang="zh-CN" sz="1200" b="1" i="1" dirty="0"/>
              <a:t>f</a:t>
            </a:r>
            <a:r>
              <a:rPr lang="en-US" altLang="zh-CN" sz="1200" b="1" dirty="0"/>
              <a:t>.  </a:t>
            </a:r>
            <a:r>
              <a:rPr lang="zh-CN" altLang="en-US" sz="1200" b="1" dirty="0"/>
              <a:t>根据 </a:t>
            </a:r>
            <a:r>
              <a:rPr lang="en-US" altLang="zh-CN" sz="1200" b="1" i="1" dirty="0"/>
              <a:t>f </a:t>
            </a:r>
            <a:r>
              <a:rPr lang="zh-CN" altLang="en-US" sz="1200" b="1" dirty="0"/>
              <a:t>的单射性可得 </a:t>
            </a:r>
            <a:r>
              <a:rPr lang="en-US" altLang="zh-CN" sz="1200" b="1" i="1" dirty="0"/>
              <a:t>y</a:t>
            </a:r>
            <a:r>
              <a:rPr lang="en-US" altLang="zh-CN" sz="1200" b="1" baseline="-25000" dirty="0"/>
              <a:t>1</a:t>
            </a:r>
            <a:r>
              <a:rPr lang="en-US" altLang="zh-CN" sz="1200" b="1" dirty="0"/>
              <a:t>=</a:t>
            </a:r>
            <a:r>
              <a:rPr lang="en-US" altLang="zh-CN" sz="1200" b="1" i="1" dirty="0"/>
              <a:t>y</a:t>
            </a:r>
            <a:r>
              <a:rPr lang="en-US" altLang="zh-CN" sz="1200" b="1" baseline="-25000" dirty="0"/>
              <a:t>2</a:t>
            </a:r>
            <a:r>
              <a:rPr lang="en-US" altLang="zh-CN" sz="1200" b="1" dirty="0"/>
              <a:t>, </a:t>
            </a:r>
            <a:r>
              <a:rPr lang="zh-CN" altLang="en-US" sz="1200" b="1" dirty="0"/>
              <a:t>从而证</a:t>
            </a:r>
          </a:p>
          <a:p>
            <a:pPr eaLnBrk="1" hangingPunct="1">
              <a:spcBef>
                <a:spcPct val="0"/>
              </a:spcBef>
              <a:buFontTx/>
              <a:buNone/>
            </a:pPr>
            <a:r>
              <a:rPr lang="zh-CN" altLang="en-US" sz="1200" b="1" dirty="0"/>
              <a:t>明了</a:t>
            </a:r>
            <a:r>
              <a:rPr lang="en-US" altLang="zh-CN" sz="1200" b="1" i="1" dirty="0"/>
              <a:t>f </a:t>
            </a:r>
            <a:r>
              <a:rPr lang="en-US" altLang="zh-CN" sz="1200" b="1" baseline="30000" dirty="0">
                <a:sym typeface="Symbol" panose="05050102010706020507" pitchFamily="18" charset="2"/>
              </a:rPr>
              <a:t></a:t>
            </a:r>
            <a:r>
              <a:rPr lang="en-US" altLang="zh-CN" sz="1200" b="1" baseline="30000" dirty="0"/>
              <a:t>1</a:t>
            </a:r>
            <a:r>
              <a:rPr lang="zh-CN" altLang="en-US" sz="1200" b="1" dirty="0"/>
              <a:t>是函数，且是满射的</a:t>
            </a:r>
            <a:r>
              <a:rPr lang="en-US" altLang="zh-CN" sz="1200" b="1" dirty="0"/>
              <a:t>. </a:t>
            </a:r>
          </a:p>
          <a:p>
            <a:pPr eaLnBrk="1" hangingPunct="1">
              <a:spcBef>
                <a:spcPct val="30000"/>
              </a:spcBef>
              <a:buFontTx/>
              <a:buNone/>
            </a:pPr>
            <a:r>
              <a:rPr lang="zh-CN" altLang="en-US" sz="1200" b="1" dirty="0"/>
              <a:t>若存在 </a:t>
            </a:r>
            <a:r>
              <a:rPr lang="en-US" altLang="zh-CN" sz="1200" b="1" i="1" dirty="0"/>
              <a:t>x</a:t>
            </a:r>
            <a:r>
              <a:rPr lang="en-US" altLang="zh-CN" sz="1200" b="1" baseline="-25000" dirty="0"/>
              <a:t>1</a:t>
            </a:r>
            <a:r>
              <a:rPr lang="en-US" altLang="zh-CN" sz="1200" b="1" dirty="0"/>
              <a:t>, </a:t>
            </a:r>
            <a:r>
              <a:rPr lang="en-US" altLang="zh-CN" sz="1200" b="1" i="1" dirty="0"/>
              <a:t>x</a:t>
            </a:r>
            <a:r>
              <a:rPr lang="en-US" altLang="zh-CN" sz="1200" b="1" baseline="-25000" dirty="0"/>
              <a:t>2</a:t>
            </a:r>
            <a:r>
              <a:rPr lang="en-US" altLang="zh-CN" sz="1200" b="1" dirty="0"/>
              <a:t>∈</a:t>
            </a:r>
            <a:r>
              <a:rPr lang="en-US" altLang="zh-CN" sz="1200" b="1" i="1" dirty="0"/>
              <a:t>B</a:t>
            </a:r>
            <a:r>
              <a:rPr lang="zh-CN" altLang="en-US" sz="1200" b="1" dirty="0"/>
              <a:t>使得 </a:t>
            </a:r>
            <a:r>
              <a:rPr lang="en-US" altLang="zh-CN" sz="1200" b="1" i="1" dirty="0"/>
              <a:t>f </a:t>
            </a:r>
            <a:r>
              <a:rPr lang="en-US" altLang="zh-CN" sz="1200" b="1" baseline="30000" dirty="0">
                <a:sym typeface="Symbol" panose="05050102010706020507" pitchFamily="18" charset="2"/>
              </a:rPr>
              <a:t></a:t>
            </a:r>
            <a:r>
              <a:rPr lang="en-US" altLang="zh-CN" sz="1200" b="1" baseline="30000" dirty="0"/>
              <a:t>1</a:t>
            </a:r>
            <a:r>
              <a:rPr lang="en-US" altLang="zh-CN" sz="1200" b="1" dirty="0"/>
              <a:t>(</a:t>
            </a:r>
            <a:r>
              <a:rPr lang="en-US" altLang="zh-CN" sz="1200" b="1" i="1" dirty="0"/>
              <a:t>x</a:t>
            </a:r>
            <a:r>
              <a:rPr lang="en-US" altLang="zh-CN" sz="1200" b="1" baseline="-25000" dirty="0"/>
              <a:t>1</a:t>
            </a:r>
            <a:r>
              <a:rPr lang="en-US" altLang="zh-CN" sz="1200" b="1" dirty="0"/>
              <a:t>) =</a:t>
            </a:r>
            <a:r>
              <a:rPr lang="en-US" altLang="zh-CN" sz="1200" b="1" i="1" dirty="0"/>
              <a:t> f</a:t>
            </a:r>
            <a:r>
              <a:rPr lang="en-US" altLang="zh-CN" sz="1200" b="1" dirty="0"/>
              <a:t> </a:t>
            </a:r>
            <a:r>
              <a:rPr lang="en-US" altLang="zh-CN" sz="1200" b="1" baseline="30000" dirty="0">
                <a:sym typeface="Symbol" panose="05050102010706020507" pitchFamily="18" charset="2"/>
              </a:rPr>
              <a:t></a:t>
            </a:r>
            <a:r>
              <a:rPr lang="en-US" altLang="zh-CN" sz="1200" b="1" baseline="30000" dirty="0"/>
              <a:t>1</a:t>
            </a:r>
            <a:r>
              <a:rPr lang="en-US" altLang="zh-CN" sz="1200" b="1" dirty="0"/>
              <a:t>(</a:t>
            </a:r>
            <a:r>
              <a:rPr lang="en-US" altLang="zh-CN" sz="1200" b="1" i="1" dirty="0"/>
              <a:t>x</a:t>
            </a:r>
            <a:r>
              <a:rPr lang="en-US" altLang="zh-CN" sz="1200" b="1" baseline="-25000" dirty="0"/>
              <a:t>2</a:t>
            </a:r>
            <a:r>
              <a:rPr lang="en-US" altLang="zh-CN" sz="1200" b="1" dirty="0"/>
              <a:t>)=</a:t>
            </a:r>
            <a:r>
              <a:rPr lang="en-US" altLang="zh-CN" sz="1200" b="1" i="1" dirty="0"/>
              <a:t>y</a:t>
            </a:r>
            <a:r>
              <a:rPr lang="en-US" altLang="zh-CN" sz="1200" b="1" dirty="0"/>
              <a:t>, </a:t>
            </a:r>
            <a:r>
              <a:rPr lang="zh-CN" altLang="en-US" sz="1200" b="1" dirty="0"/>
              <a:t>从而有</a:t>
            </a:r>
          </a:p>
          <a:p>
            <a:pPr eaLnBrk="1" hangingPunct="1">
              <a:spcBef>
                <a:spcPct val="0"/>
              </a:spcBef>
              <a:buFontTx/>
              <a:buNone/>
            </a:pPr>
            <a:r>
              <a:rPr lang="zh-CN" altLang="en-US" sz="1200" b="1" dirty="0"/>
              <a:t>            </a:t>
            </a:r>
            <a:r>
              <a:rPr lang="en-US" altLang="zh-CN" sz="1200" b="1" dirty="0"/>
              <a:t>&lt;</a:t>
            </a:r>
            <a:r>
              <a:rPr lang="en-US" altLang="zh-CN" sz="1200" b="1" i="1" dirty="0"/>
              <a:t>y </a:t>
            </a:r>
            <a:r>
              <a:rPr lang="en-US" altLang="zh-CN" sz="1200" b="1" dirty="0"/>
              <a:t>, </a:t>
            </a:r>
            <a:r>
              <a:rPr lang="en-US" altLang="zh-CN" sz="1200" b="1" i="1" dirty="0"/>
              <a:t>x</a:t>
            </a:r>
            <a:r>
              <a:rPr lang="en-US" altLang="zh-CN" sz="1200" b="1" baseline="-25000" dirty="0"/>
              <a:t>1</a:t>
            </a:r>
            <a:r>
              <a:rPr lang="en-US" altLang="zh-CN" sz="1200" b="1" dirty="0"/>
              <a:t>&gt;∈</a:t>
            </a:r>
            <a:r>
              <a:rPr lang="en-US" altLang="zh-CN" sz="1200" b="1" i="1" dirty="0"/>
              <a:t>f </a:t>
            </a:r>
            <a:r>
              <a:rPr lang="en-US" altLang="zh-CN" sz="1200" b="1" baseline="30000" dirty="0">
                <a:sym typeface="Symbol" panose="05050102010706020507" pitchFamily="18" charset="2"/>
              </a:rPr>
              <a:t></a:t>
            </a:r>
            <a:r>
              <a:rPr lang="en-US" altLang="zh-CN" sz="1200" b="1" baseline="30000" dirty="0"/>
              <a:t>1</a:t>
            </a:r>
            <a:r>
              <a:rPr lang="en-US" altLang="zh-CN" sz="1200" b="1" dirty="0"/>
              <a:t>∧&lt;</a:t>
            </a:r>
            <a:r>
              <a:rPr lang="en-US" altLang="zh-CN" sz="1200" b="1" i="1" dirty="0"/>
              <a:t>y </a:t>
            </a:r>
            <a:r>
              <a:rPr lang="en-US" altLang="zh-CN" sz="1200" b="1" dirty="0"/>
              <a:t>, </a:t>
            </a:r>
            <a:r>
              <a:rPr lang="en-US" altLang="zh-CN" sz="1200" b="1" i="1" dirty="0"/>
              <a:t>x</a:t>
            </a:r>
            <a:r>
              <a:rPr lang="en-US" altLang="zh-CN" sz="1200" b="1" baseline="-25000" dirty="0"/>
              <a:t>2</a:t>
            </a:r>
            <a:r>
              <a:rPr lang="en-US" altLang="zh-CN" sz="1200" b="1" dirty="0"/>
              <a:t> &gt;∈</a:t>
            </a:r>
            <a:r>
              <a:rPr lang="en-US" altLang="zh-CN" sz="1200" b="1" i="1" dirty="0"/>
              <a:t>f </a:t>
            </a:r>
            <a:r>
              <a:rPr lang="en-US" altLang="zh-CN" sz="1200" b="1" baseline="30000" dirty="0">
                <a:sym typeface="Symbol" panose="05050102010706020507" pitchFamily="18" charset="2"/>
              </a:rPr>
              <a:t></a:t>
            </a:r>
            <a:r>
              <a:rPr lang="en-US" altLang="zh-CN" sz="1200" b="1" baseline="30000" dirty="0"/>
              <a:t>1</a:t>
            </a:r>
            <a:br>
              <a:rPr lang="en-US" altLang="zh-CN" sz="1200" b="1" baseline="30000" dirty="0"/>
            </a:br>
            <a:r>
              <a:rPr lang="en-US" altLang="zh-CN" sz="1200" b="1" dirty="0"/>
              <a:t>  </a:t>
            </a:r>
            <a:r>
              <a:rPr lang="en-US" altLang="zh-CN" sz="1200" b="1" dirty="0">
                <a:sym typeface="Symbol" panose="05050102010706020507" pitchFamily="18" charset="2"/>
              </a:rPr>
              <a:t> </a:t>
            </a:r>
            <a:r>
              <a:rPr lang="en-US" altLang="zh-CN" sz="1200" b="1" dirty="0"/>
              <a:t>&lt;</a:t>
            </a:r>
            <a:r>
              <a:rPr lang="en-US" altLang="zh-CN" sz="1200" b="1" i="1" dirty="0"/>
              <a:t>x</a:t>
            </a:r>
            <a:r>
              <a:rPr lang="en-US" altLang="zh-CN" sz="1200" b="1" baseline="-25000" dirty="0"/>
              <a:t>1,</a:t>
            </a:r>
            <a:r>
              <a:rPr lang="en-US" altLang="zh-CN" sz="1200" b="1" i="1" dirty="0"/>
              <a:t> y</a:t>
            </a:r>
            <a:r>
              <a:rPr lang="en-US" altLang="zh-CN" sz="1200" b="1" dirty="0"/>
              <a:t> &gt;∈</a:t>
            </a:r>
            <a:r>
              <a:rPr lang="en-US" altLang="zh-CN" sz="1200" b="1" i="1" dirty="0"/>
              <a:t>f </a:t>
            </a:r>
            <a:r>
              <a:rPr lang="en-US" altLang="zh-CN" sz="1200" b="1" dirty="0"/>
              <a:t>∧&lt;</a:t>
            </a:r>
            <a:r>
              <a:rPr lang="en-US" altLang="zh-CN" sz="1200" b="1" i="1" dirty="0"/>
              <a:t>x</a:t>
            </a:r>
            <a:r>
              <a:rPr lang="en-US" altLang="zh-CN" sz="1200" b="1" baseline="-25000" dirty="0"/>
              <a:t>2</a:t>
            </a:r>
            <a:r>
              <a:rPr lang="en-US" altLang="zh-CN" sz="1200" b="1" dirty="0"/>
              <a:t> ,</a:t>
            </a:r>
            <a:r>
              <a:rPr lang="en-US" altLang="zh-CN" sz="1200" b="1" i="1" dirty="0"/>
              <a:t> y</a:t>
            </a:r>
            <a:r>
              <a:rPr lang="en-US" altLang="zh-CN" sz="1200" b="1" dirty="0"/>
              <a:t>&gt;∈</a:t>
            </a:r>
            <a:r>
              <a:rPr lang="en-US" altLang="zh-CN" sz="1200" b="1" i="1" dirty="0"/>
              <a:t>f</a:t>
            </a:r>
            <a:r>
              <a:rPr lang="en-US" altLang="zh-CN" sz="1200" b="1" dirty="0"/>
              <a:t> </a:t>
            </a:r>
            <a:r>
              <a:rPr lang="en-US" altLang="zh-CN" sz="1200" b="1" dirty="0">
                <a:sym typeface="Symbol" panose="05050102010706020507" pitchFamily="18" charset="2"/>
              </a:rPr>
              <a:t> </a:t>
            </a:r>
            <a:r>
              <a:rPr lang="en-US" altLang="zh-CN" sz="1200" b="1" i="1" dirty="0"/>
              <a:t>x</a:t>
            </a:r>
            <a:r>
              <a:rPr lang="en-US" altLang="zh-CN" sz="1200" b="1" baseline="-25000" dirty="0"/>
              <a:t>1</a:t>
            </a:r>
            <a:r>
              <a:rPr lang="en-US" altLang="zh-CN" sz="1200" b="1" dirty="0"/>
              <a:t>=</a:t>
            </a:r>
            <a:r>
              <a:rPr lang="en-US" altLang="zh-CN" sz="1200" b="1" i="1" dirty="0"/>
              <a:t>x</a:t>
            </a:r>
            <a:r>
              <a:rPr lang="en-US" altLang="zh-CN" sz="1200" b="1" baseline="-25000" dirty="0"/>
              <a:t>2</a:t>
            </a:r>
            <a:r>
              <a:rPr lang="en-US" altLang="zh-CN" sz="1200" b="1" dirty="0"/>
              <a:t> </a:t>
            </a:r>
            <a:r>
              <a:rPr lang="zh-CN" altLang="en-US" sz="1200" b="1" dirty="0"/>
              <a:t>因为 </a:t>
            </a:r>
            <a:r>
              <a:rPr lang="en-US" altLang="zh-CN" sz="1200" b="1" i="1" dirty="0"/>
              <a:t>f </a:t>
            </a:r>
            <a:r>
              <a:rPr lang="zh-CN" altLang="en-US" sz="1200" b="1" dirty="0"/>
              <a:t>是函数）</a:t>
            </a:r>
          </a:p>
          <a:p>
            <a:pPr eaLnBrk="1" hangingPunct="1">
              <a:spcBef>
                <a:spcPct val="0"/>
              </a:spcBef>
              <a:buFontTx/>
              <a:buNone/>
            </a:pPr>
            <a:r>
              <a:rPr lang="zh-CN" altLang="en-US" sz="1200" b="1" dirty="0"/>
              <a:t>从而证明了</a:t>
            </a:r>
            <a:r>
              <a:rPr lang="en-US" altLang="zh-CN" sz="1200" b="1" i="1" dirty="0"/>
              <a:t>f </a:t>
            </a:r>
            <a:r>
              <a:rPr lang="en-US" altLang="zh-CN" sz="1200" b="1" baseline="30000" dirty="0">
                <a:sym typeface="Symbol" panose="05050102010706020507" pitchFamily="18" charset="2"/>
              </a:rPr>
              <a:t></a:t>
            </a:r>
            <a:r>
              <a:rPr lang="en-US" altLang="zh-CN" sz="1200" b="1" baseline="30000" dirty="0"/>
              <a:t>1</a:t>
            </a:r>
            <a:r>
              <a:rPr lang="zh-CN" altLang="en-US" sz="1200" b="1" dirty="0"/>
              <a:t>的单射性</a:t>
            </a:r>
            <a:r>
              <a:rPr lang="en-US" altLang="zh-CN" sz="1200" b="1" dirty="0"/>
              <a:t>. </a:t>
            </a:r>
          </a:p>
          <a:p>
            <a:pPr eaLnBrk="1" hangingPunct="1">
              <a:spcBef>
                <a:spcPct val="30000"/>
              </a:spcBef>
              <a:buFontTx/>
              <a:buNone/>
            </a:pPr>
            <a:r>
              <a:rPr lang="zh-CN" altLang="en-US" sz="1200" b="1" dirty="0"/>
              <a:t>对于双射函数</a:t>
            </a:r>
            <a:r>
              <a:rPr lang="en-US" altLang="zh-CN" sz="1200" b="1" i="1" dirty="0"/>
              <a:t>f </a:t>
            </a:r>
            <a:r>
              <a:rPr lang="en-US" altLang="zh-CN" sz="1200" b="1" dirty="0"/>
              <a:t>: </a:t>
            </a:r>
            <a:r>
              <a:rPr lang="en-US" altLang="zh-CN" sz="1200" b="1" i="1" dirty="0"/>
              <a:t>A</a:t>
            </a:r>
            <a:r>
              <a:rPr lang="en-US" altLang="zh-CN" sz="1200" b="1" dirty="0"/>
              <a:t>→</a:t>
            </a:r>
            <a:r>
              <a:rPr lang="en-US" altLang="zh-CN" sz="1200" b="1" i="1" dirty="0"/>
              <a:t>B</a:t>
            </a:r>
            <a:r>
              <a:rPr lang="en-US" altLang="zh-CN" sz="1200" b="1" dirty="0"/>
              <a:t>, </a:t>
            </a:r>
            <a:r>
              <a:rPr lang="zh-CN" altLang="en-US" sz="1200" b="1" dirty="0"/>
              <a:t>称</a:t>
            </a:r>
            <a:r>
              <a:rPr lang="en-US" altLang="zh-CN" sz="1200" b="1" i="1" dirty="0"/>
              <a:t>f </a:t>
            </a:r>
            <a:r>
              <a:rPr lang="en-US" altLang="zh-CN" sz="1200" b="1" baseline="30000" dirty="0">
                <a:sym typeface="Symbol" panose="05050102010706020507" pitchFamily="18" charset="2"/>
              </a:rPr>
              <a:t></a:t>
            </a:r>
            <a:r>
              <a:rPr lang="en-US" altLang="zh-CN" sz="1200" b="1" baseline="30000" dirty="0"/>
              <a:t>1</a:t>
            </a:r>
            <a:r>
              <a:rPr lang="en-US" altLang="zh-CN" sz="1200" b="1" dirty="0"/>
              <a:t>: </a:t>
            </a:r>
            <a:r>
              <a:rPr lang="en-US" altLang="zh-CN" sz="1200" b="1" i="1" dirty="0"/>
              <a:t>B</a:t>
            </a:r>
            <a:r>
              <a:rPr lang="en-US" altLang="zh-CN" sz="1200" b="1" dirty="0"/>
              <a:t>→</a:t>
            </a:r>
            <a:r>
              <a:rPr lang="en-US" altLang="zh-CN" sz="1200" b="1" i="1" dirty="0"/>
              <a:t>A</a:t>
            </a:r>
            <a:r>
              <a:rPr lang="zh-CN" altLang="en-US" sz="1200" b="1" dirty="0"/>
              <a:t>是它的</a:t>
            </a:r>
            <a:r>
              <a:rPr lang="zh-CN" altLang="en-US" sz="1200" b="1" dirty="0">
                <a:solidFill>
                  <a:srgbClr val="FF0000"/>
                </a:solidFill>
              </a:rPr>
              <a:t>反函数</a:t>
            </a:r>
            <a:endParaRPr lang="en-US" altLang="zh-CN" sz="1200" b="1" dirty="0">
              <a:solidFill>
                <a:schemeClr val="bg2"/>
              </a:solidFill>
              <a:latin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38</a:t>
            </a:fld>
            <a:endParaRPr lang="zh-CN" altLang="en-US"/>
          </a:p>
        </p:txBody>
      </p:sp>
    </p:spTree>
    <p:extLst>
      <p:ext uri="{BB962C8B-B14F-4D97-AF65-F5344CB8AC3E}">
        <p14:creationId xmlns:p14="http://schemas.microsoft.com/office/powerpoint/2010/main" val="11065410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dirty="0"/>
              <a:t>f </a:t>
            </a:r>
            <a:r>
              <a:rPr lang="en-US" altLang="zh-CN" sz="1200" b="1" dirty="0"/>
              <a:t>: R→R</a:t>
            </a:r>
            <a:r>
              <a:rPr lang="zh-CN" altLang="en-US" sz="1200" b="1" dirty="0"/>
              <a:t>不存在反函数；</a:t>
            </a:r>
            <a:r>
              <a:rPr lang="en-US" altLang="zh-CN" sz="1200" b="1" i="1" dirty="0"/>
              <a:t>g </a:t>
            </a:r>
            <a:r>
              <a:rPr lang="en-US" altLang="zh-CN" sz="1200" b="1" dirty="0"/>
              <a:t>: R→R</a:t>
            </a:r>
            <a:r>
              <a:rPr lang="zh-CN" altLang="en-US" sz="1200" b="1" dirty="0"/>
              <a:t>的反函数是</a:t>
            </a:r>
            <a:br>
              <a:rPr lang="zh-CN" altLang="en-US" sz="1200" b="1" dirty="0"/>
            </a:br>
            <a:r>
              <a:rPr lang="en-US" altLang="zh-CN" sz="1200" b="1" i="1" dirty="0"/>
              <a:t>g</a:t>
            </a:r>
            <a:r>
              <a:rPr lang="en-US" altLang="zh-CN" sz="1200" b="1" baseline="30000" dirty="0">
                <a:sym typeface="Symbol" panose="05050102010706020507" pitchFamily="18" charset="2"/>
              </a:rPr>
              <a:t></a:t>
            </a:r>
            <a:r>
              <a:rPr lang="en-US" altLang="zh-CN" sz="1200" b="1" baseline="30000" dirty="0"/>
              <a:t>1</a:t>
            </a:r>
            <a:r>
              <a:rPr lang="en-US" altLang="zh-CN" sz="1200" b="1" dirty="0">
                <a:sym typeface="Symbol" panose="05050102010706020507" pitchFamily="18" charset="2"/>
              </a:rPr>
              <a:t>: R→R, </a:t>
            </a:r>
            <a:r>
              <a:rPr lang="en-US" altLang="zh-CN" sz="1200" b="1" i="1" dirty="0">
                <a:sym typeface="Symbol" panose="05050102010706020507" pitchFamily="18" charset="2"/>
              </a:rPr>
              <a:t>g</a:t>
            </a:r>
            <a:r>
              <a:rPr lang="en-US" altLang="zh-CN" sz="1200" b="1" i="1" baseline="30000" dirty="0">
                <a:sym typeface="Symbol" panose="05050102010706020507" pitchFamily="18" charset="2"/>
              </a:rPr>
              <a:t></a:t>
            </a:r>
            <a:r>
              <a:rPr lang="en-US" altLang="zh-CN" sz="1200" b="1" baseline="30000" dirty="0"/>
              <a:t>1</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en-US" altLang="zh-CN" sz="1200" b="1" dirty="0"/>
              <a:t>2</a:t>
            </a:r>
            <a:r>
              <a:rPr lang="en-US" altLang="zh-CN" sz="1200" b="1" dirty="0">
                <a:sym typeface="Symbol" panose="05050102010706020507" pitchFamily="18" charset="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39</a:t>
            </a:fld>
            <a:endParaRPr lang="zh-CN" altLang="en-US"/>
          </a:p>
        </p:txBody>
      </p:sp>
    </p:spTree>
    <p:extLst>
      <p:ext uri="{BB962C8B-B14F-4D97-AF65-F5344CB8AC3E}">
        <p14:creationId xmlns:p14="http://schemas.microsoft.com/office/powerpoint/2010/main" val="33034491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b="1" i="1" kern="100" dirty="0">
                <a:effectLst/>
                <a:latin typeface="等线" panose="02010600030101010101" pitchFamily="2" charset="-122"/>
                <a:ea typeface="KaTeX_Math"/>
                <a:cs typeface="Times New Roman" panose="02020603050405020304" pitchFamily="18" charset="0"/>
              </a:rPr>
              <a:t> </a:t>
            </a:r>
            <a:r>
              <a:rPr lang="en-US" altLang="zh-CN" sz="1800" b="1" i="1" kern="100" dirty="0">
                <a:effectLst/>
                <a:latin typeface="等线" panose="02010600030101010101" pitchFamily="2" charset="-122"/>
                <a:ea typeface="KaTeX_Math"/>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 </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的逆函数，这意味着对于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中的每个元素 </a:t>
            </a:r>
            <a:r>
              <a:rPr lang="en-US" altLang="zh-CN" sz="1800" i="1" kern="100" dirty="0">
                <a:effectLst/>
                <a:latin typeface="KaTeX_Math"/>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将产生一个唯一的 </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中的元素 </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，这样 </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同样，对于 </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中的每个元素 </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i="1" kern="100" dirty="0">
                <a:effectLst/>
                <a:latin typeface="等线" panose="02010600030101010101" pitchFamily="2" charset="-122"/>
                <a:ea typeface="KaTeX_Math"/>
                <a:cs typeface="Times New Roman" panose="02020603050405020304" pitchFamily="18" charset="0"/>
              </a:rPr>
              <a:t> </a:t>
            </a:r>
            <a:r>
              <a:rPr lang="en-US" altLang="zh-CN" sz="1800" i="1" kern="100" dirty="0">
                <a:effectLst/>
                <a:latin typeface="等线" panose="02010600030101010101" pitchFamily="2" charset="-122"/>
                <a:ea typeface="KaTeX_Math"/>
                <a:cs typeface="Times New Roman" panose="02020603050405020304" pitchFamily="18" charset="0"/>
              </a:rPr>
              <a:t>f</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将产生一个唯一的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中的元素 </a:t>
            </a:r>
            <a:r>
              <a:rPr lang="en-US" altLang="zh-CN" sz="1800" i="1" kern="100" dirty="0">
                <a:effectLst/>
                <a:latin typeface="KaTeX_Math"/>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，这样 </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a:t>
            </a:r>
          </a:p>
          <a:p>
            <a:pPr algn="just"/>
            <a:r>
              <a:rPr lang="en-US" altLang="zh-CN" sz="1800" i="1" kern="100" dirty="0">
                <a:effectLst/>
                <a:latin typeface="KaTeX_Math"/>
                <a:ea typeface="等线" panose="02010600030101010101" pitchFamily="2" charset="-122"/>
                <a:cs typeface="Times New Roman" panose="02020603050405020304" pitchFamily="18" charset="0"/>
              </a:rPr>
              <a:t>f</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表示先应用 </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，然后应用 </a:t>
            </a:r>
            <a:r>
              <a:rPr lang="en-US" altLang="zh-CN" sz="1800" i="1" kern="100" dirty="0">
                <a:effectLst/>
                <a:latin typeface="KaTeX_Math"/>
                <a:ea typeface="等线" panose="02010600030101010101" pitchFamily="2" charset="-122"/>
                <a:cs typeface="Times New Roman" panose="02020603050405020304" pitchFamily="18" charset="0"/>
              </a:rPr>
              <a:t>f</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。对于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中的每个元素 </a:t>
            </a:r>
            <a:r>
              <a:rPr lang="en-US" altLang="zh-CN" sz="1800" i="1" kern="100" dirty="0">
                <a:effectLst/>
                <a:latin typeface="KaTeX_Math"/>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，这个复合函数给出 </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，这正是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上的恒等函数 </a:t>
            </a:r>
            <a:r>
              <a:rPr lang="en-US" altLang="zh-CN" sz="1800" i="1" kern="100" dirty="0">
                <a:effectLst/>
                <a:latin typeface="KaTeX_Math"/>
                <a:ea typeface="等线" panose="02010600030101010101" pitchFamily="2" charset="-122"/>
                <a:cs typeface="Times New Roman" panose="02020603050405020304" pitchFamily="18" charset="0"/>
              </a:rPr>
              <a:t>IB</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表示先应用 </a:t>
            </a:r>
            <a:r>
              <a:rPr lang="en-US" altLang="zh-CN" sz="1800" i="1" kern="100" dirty="0">
                <a:effectLst/>
                <a:latin typeface="KaTeX_Math"/>
                <a:ea typeface="等线" panose="02010600030101010101" pitchFamily="2" charset="-122"/>
                <a:cs typeface="Times New Roman" panose="02020603050405020304" pitchFamily="18" charset="0"/>
              </a:rPr>
              <a:t>f</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，然后应用 </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。对于 </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中的每个元素 </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，这个复合函数给出 </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，这正是 </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上的恒等函数</a:t>
            </a:r>
            <a:r>
              <a:rPr lang="en-US" altLang="zh-CN" sz="1800" i="1" kern="100" dirty="0">
                <a:effectLst/>
                <a:latin typeface="KaTeX_Math"/>
                <a:ea typeface="等线" panose="02010600030101010101" pitchFamily="2" charset="-122"/>
                <a:cs typeface="Times New Roman" panose="02020603050405020304" pitchFamily="18" charset="0"/>
              </a:rPr>
              <a:t>IA</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这样我们可以得出结论，对于双射函数 </a:t>
            </a:r>
            <a:r>
              <a:rPr lang="en-US" altLang="zh-CN" sz="1800" i="1" kern="100" dirty="0">
                <a:effectLst/>
                <a:latin typeface="KaTeX_Math"/>
                <a:ea typeface="等线" panose="02010600030101010101" pitchFamily="2" charset="-122"/>
                <a:cs typeface="Times New Roman" panose="02020603050405020304" pitchFamily="18" charset="0"/>
              </a:rPr>
              <a:t>f</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，复合函数 </a:t>
            </a:r>
            <a:r>
              <a:rPr lang="en-US" altLang="zh-CN" sz="1800" i="1" kern="100" dirty="0">
                <a:effectLst/>
                <a:latin typeface="KaTeX_Math"/>
                <a:ea typeface="等线" panose="02010600030101010101" pitchFamily="2" charset="-122"/>
                <a:cs typeface="Times New Roman" panose="02020603050405020304" pitchFamily="18" charset="0"/>
              </a:rPr>
              <a:t>f</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IB</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并且 </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IA</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eaLnBrk="1" hangingPunct="1">
              <a:lnSpc>
                <a:spcPct val="110000"/>
              </a:lnSpc>
              <a:buFontTx/>
              <a:buNone/>
            </a:pPr>
            <a:r>
              <a:rPr lang="zh-CN" altLang="en-US" sz="2800" b="1" dirty="0">
                <a:solidFill>
                  <a:srgbClr val="FF0000"/>
                </a:solidFill>
              </a:rPr>
              <a:t>双射函数与其反函数的复合函数都是恒等函数</a:t>
            </a:r>
            <a:endParaRPr lang="en-US" altLang="zh-CN" sz="2800" b="1" dirty="0">
              <a:solidFill>
                <a:srgbClr val="FF0000"/>
              </a:solidFill>
            </a:endParaRPr>
          </a:p>
          <a:p>
            <a:pPr eaLnBrk="1" hangingPunct="1">
              <a:lnSpc>
                <a:spcPct val="110000"/>
              </a:lnSpc>
              <a:buFontTx/>
              <a:buNone/>
            </a:pPr>
            <a:r>
              <a:rPr lang="zh-CN" altLang="en-US" sz="1800" b="1" dirty="0">
                <a:solidFill>
                  <a:srgbClr val="FF0000"/>
                </a:solidFill>
              </a:rPr>
              <a:t>定理</a:t>
            </a:r>
            <a:r>
              <a:rPr lang="en-US" altLang="zh-CN" sz="1800" b="1" dirty="0">
                <a:solidFill>
                  <a:srgbClr val="FF0000"/>
                </a:solidFill>
              </a:rPr>
              <a:t>5.5</a:t>
            </a:r>
            <a:r>
              <a:rPr lang="en-US" altLang="zh-CN" sz="1800" b="1" dirty="0"/>
              <a:t> </a:t>
            </a:r>
            <a:r>
              <a:rPr lang="zh-CN" altLang="en-US" sz="1800" b="1" dirty="0"/>
              <a:t>设 </a:t>
            </a:r>
            <a:r>
              <a:rPr lang="en-US" altLang="zh-CN" sz="1800" b="1" i="1" dirty="0"/>
              <a:t>f </a:t>
            </a:r>
            <a:r>
              <a:rPr lang="en-US" altLang="zh-CN" sz="1800" b="1" dirty="0"/>
              <a:t>: </a:t>
            </a:r>
            <a:r>
              <a:rPr lang="en-US" altLang="zh-CN" sz="1800" b="1" i="1" dirty="0"/>
              <a:t>A</a:t>
            </a:r>
            <a:r>
              <a:rPr lang="en-US" altLang="zh-CN" sz="1800" b="1" dirty="0"/>
              <a:t>→</a:t>
            </a:r>
            <a:r>
              <a:rPr lang="en-US" altLang="zh-CN" sz="1800" b="1" i="1" dirty="0"/>
              <a:t>B</a:t>
            </a:r>
            <a:r>
              <a:rPr lang="zh-CN" altLang="en-US" sz="1800" b="1" dirty="0"/>
              <a:t>是双射的</a:t>
            </a:r>
            <a:r>
              <a:rPr lang="en-US" altLang="zh-CN" sz="1800" b="1" dirty="0"/>
              <a:t>, </a:t>
            </a:r>
            <a:r>
              <a:rPr lang="zh-CN" altLang="en-US" sz="1800" b="1" dirty="0"/>
              <a:t>则</a:t>
            </a:r>
            <a:br>
              <a:rPr lang="zh-CN" altLang="en-US" sz="1800" b="1" dirty="0"/>
            </a:br>
            <a:r>
              <a:rPr lang="zh-CN" altLang="en-US" sz="1800" b="1" dirty="0"/>
              <a:t>              </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dirty="0"/>
              <a:t>= </a:t>
            </a:r>
            <a:r>
              <a:rPr lang="en-US" altLang="zh-CN" sz="1800" b="1" i="1" dirty="0"/>
              <a:t>I</a:t>
            </a:r>
            <a:r>
              <a:rPr lang="en-US" altLang="zh-CN" sz="2800" b="1" i="1" baseline="-25000" dirty="0"/>
              <a:t>A</a:t>
            </a:r>
            <a:r>
              <a:rPr lang="en-US" altLang="zh-CN" sz="1800" b="1" dirty="0"/>
              <a:t>,   </a:t>
            </a:r>
            <a:r>
              <a:rPr lang="en-US" altLang="zh-CN" sz="1800" b="1" i="1" dirty="0"/>
              <a:t>f</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t> = </a:t>
            </a:r>
            <a:r>
              <a:rPr lang="en-US" altLang="zh-CN" sz="1800" b="1" i="1" dirty="0"/>
              <a:t>I</a:t>
            </a:r>
            <a:r>
              <a:rPr lang="en-US" altLang="zh-CN" sz="2800" b="1" i="1" baseline="-25000" dirty="0"/>
              <a:t>B</a:t>
            </a:r>
            <a:endParaRPr lang="en-US" altLang="zh-CN" sz="1800" b="1" i="1" baseline="-25000" dirty="0"/>
          </a:p>
          <a:p>
            <a:pPr eaLnBrk="1" hangingPunct="1">
              <a:lnSpc>
                <a:spcPct val="110000"/>
              </a:lnSpc>
              <a:buFontTx/>
              <a:buNone/>
            </a:pPr>
            <a:r>
              <a:rPr lang="en-US" altLang="zh-CN" sz="1800" b="1" i="1" dirty="0"/>
              <a:t>    </a:t>
            </a:r>
            <a:r>
              <a:rPr lang="en-US" altLang="zh-CN" sz="1800" b="1" dirty="0"/>
              <a:t>  </a:t>
            </a:r>
          </a:p>
          <a:p>
            <a:pPr eaLnBrk="1" hangingPunct="1">
              <a:lnSpc>
                <a:spcPct val="110000"/>
              </a:lnSpc>
              <a:buFontTx/>
              <a:buNone/>
            </a:pPr>
            <a:r>
              <a:rPr lang="zh-CN" altLang="en-US" sz="1800" b="1" dirty="0">
                <a:solidFill>
                  <a:srgbClr val="00B0F0"/>
                </a:solidFill>
              </a:rPr>
              <a:t>证</a:t>
            </a:r>
            <a:r>
              <a:rPr lang="zh-CN" altLang="en-US" sz="1800" b="1" dirty="0"/>
              <a:t>   根据定理</a:t>
            </a:r>
            <a:r>
              <a:rPr lang="en-US" altLang="zh-CN" sz="1800" b="1" dirty="0"/>
              <a:t>5.4</a:t>
            </a:r>
            <a:r>
              <a:rPr lang="zh-CN" altLang="en-US" sz="1800" b="1" dirty="0"/>
              <a:t>可知 </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t>: </a:t>
            </a:r>
            <a:r>
              <a:rPr lang="en-US" altLang="zh-CN" sz="1800" b="1" i="1" dirty="0"/>
              <a:t>B</a:t>
            </a:r>
            <a:r>
              <a:rPr lang="en-US" altLang="zh-CN" sz="1800" b="1" dirty="0"/>
              <a:t>→</a:t>
            </a:r>
            <a:r>
              <a:rPr lang="en-US" altLang="zh-CN" sz="1800" b="1" i="1" dirty="0"/>
              <a:t>A</a:t>
            </a:r>
            <a:r>
              <a:rPr lang="zh-CN" altLang="en-US" sz="1800" b="1" dirty="0"/>
              <a:t>也是双射的</a:t>
            </a:r>
            <a:r>
              <a:rPr lang="en-US" altLang="zh-CN" sz="1800" b="1" dirty="0"/>
              <a:t>. </a:t>
            </a:r>
          </a:p>
          <a:p>
            <a:pPr eaLnBrk="1" hangingPunct="1">
              <a:lnSpc>
                <a:spcPct val="110000"/>
              </a:lnSpc>
              <a:buFontTx/>
              <a:buNone/>
            </a:pPr>
            <a:r>
              <a:rPr lang="zh-CN" altLang="en-US" sz="1800" b="1" dirty="0"/>
              <a:t>由</a:t>
            </a:r>
            <a:r>
              <a:rPr lang="zh-CN" altLang="en-US" sz="2800" b="1" dirty="0"/>
              <a:t>函数复合的定理</a:t>
            </a:r>
            <a:r>
              <a:rPr lang="zh-CN" altLang="en-US" sz="1800" b="1" dirty="0"/>
              <a:t>可知  </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dirty="0"/>
              <a:t>: </a:t>
            </a:r>
            <a:r>
              <a:rPr lang="en-US" altLang="zh-CN" sz="1800" b="1" i="1" dirty="0"/>
              <a:t>B</a:t>
            </a:r>
            <a:r>
              <a:rPr lang="en-US" altLang="zh-CN" sz="1800" b="1" dirty="0"/>
              <a:t>→</a:t>
            </a:r>
            <a:r>
              <a:rPr lang="en-US" altLang="zh-CN" sz="1800" b="1" i="1" dirty="0"/>
              <a:t>B</a:t>
            </a:r>
            <a:r>
              <a:rPr lang="en-US" altLang="zh-CN" sz="1800" b="1" dirty="0"/>
              <a:t>,  </a:t>
            </a:r>
            <a:r>
              <a:rPr lang="en-US" altLang="zh-CN" sz="1800" b="1" i="1" dirty="0"/>
              <a:t>f</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t>: </a:t>
            </a:r>
            <a:r>
              <a:rPr lang="en-US" altLang="zh-CN" sz="1800" b="1" i="1" dirty="0"/>
              <a:t>A</a:t>
            </a:r>
            <a:r>
              <a:rPr lang="en-US" altLang="zh-CN" sz="1800" b="1" dirty="0"/>
              <a:t>→</a:t>
            </a:r>
            <a:r>
              <a:rPr lang="en-US" altLang="zh-CN" sz="1800" b="1" i="1" dirty="0"/>
              <a:t>A</a:t>
            </a:r>
            <a:r>
              <a:rPr lang="zh-CN" altLang="en-US" sz="1800" b="1" dirty="0"/>
              <a:t>，且它们都</a:t>
            </a:r>
          </a:p>
          <a:p>
            <a:pPr eaLnBrk="1" hangingPunct="1">
              <a:lnSpc>
                <a:spcPct val="110000"/>
              </a:lnSpc>
              <a:buFontTx/>
              <a:buNone/>
            </a:pPr>
            <a:r>
              <a:rPr lang="zh-CN" altLang="en-US" sz="1800" b="1" dirty="0"/>
              <a:t>是恒等函数</a:t>
            </a:r>
            <a:r>
              <a:rPr lang="en-US" altLang="zh-CN" sz="1800" b="1" dirty="0"/>
              <a:t>.</a:t>
            </a:r>
          </a:p>
          <a:p>
            <a:pPr eaLnBrk="1" hangingPunct="1">
              <a:lnSpc>
                <a:spcPct val="110000"/>
              </a:lnSpc>
              <a:buFontTx/>
              <a:buNone/>
            </a:pPr>
            <a:endParaRPr lang="zh-CN" altLang="en-US" sz="1800" b="1" dirty="0"/>
          </a:p>
          <a:p>
            <a:pPr eaLnBrk="1" hangingPunct="1">
              <a:lnSpc>
                <a:spcPct val="110000"/>
              </a:lnSpc>
              <a:buFontTx/>
              <a:buNone/>
            </a:pPr>
            <a:r>
              <a:rPr lang="zh-CN" altLang="en-US" sz="1800" b="1" dirty="0"/>
              <a:t>对于双射函数 </a:t>
            </a:r>
            <a:r>
              <a:rPr lang="en-US" altLang="zh-CN" sz="1800" b="1" i="1" dirty="0"/>
              <a:t>f </a:t>
            </a:r>
            <a:r>
              <a:rPr lang="en-US" altLang="zh-CN" sz="1800" b="1" dirty="0"/>
              <a:t>: </a:t>
            </a:r>
            <a:r>
              <a:rPr lang="en-US" altLang="zh-CN" sz="1800" b="1" i="1" dirty="0"/>
              <a:t>A</a:t>
            </a:r>
            <a:r>
              <a:rPr lang="en-US" altLang="zh-CN" sz="1800" b="1" dirty="0"/>
              <a:t>→</a:t>
            </a:r>
            <a:r>
              <a:rPr lang="en-US" altLang="zh-CN" sz="1800" b="1" i="1" dirty="0"/>
              <a:t>A</a:t>
            </a:r>
            <a:r>
              <a:rPr lang="en-US" altLang="zh-CN" sz="1800" b="1" dirty="0"/>
              <a:t>, </a:t>
            </a:r>
            <a:r>
              <a:rPr lang="zh-CN" altLang="en-US" sz="1800" b="1" dirty="0"/>
              <a:t>根据上述定理有 </a:t>
            </a:r>
          </a:p>
          <a:p>
            <a:pPr eaLnBrk="1" hangingPunct="1">
              <a:lnSpc>
                <a:spcPct val="110000"/>
              </a:lnSpc>
              <a:buFontTx/>
              <a:buNone/>
            </a:pPr>
            <a:r>
              <a:rPr lang="en-US" altLang="zh-CN" sz="1800" b="1" i="1" dirty="0"/>
              <a:t>                   f </a:t>
            </a:r>
            <a:r>
              <a:rPr lang="en-US" altLang="zh-CN" sz="1800" b="1" baseline="30000" dirty="0">
                <a:sym typeface="Symbol" panose="05050102010706020507" pitchFamily="18" charset="2"/>
              </a:rPr>
              <a:t></a:t>
            </a:r>
            <a:r>
              <a:rPr lang="en-US" altLang="zh-CN" sz="1800" b="1" baseline="30000" dirty="0"/>
              <a:t>1</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dirty="0"/>
              <a:t>= </a:t>
            </a:r>
            <a:r>
              <a:rPr lang="en-US" altLang="zh-CN" sz="1800" b="1" i="1" dirty="0"/>
              <a:t>f</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t> = </a:t>
            </a:r>
            <a:r>
              <a:rPr lang="en-US" altLang="zh-CN" sz="1800" b="1" i="1" dirty="0"/>
              <a:t>I</a:t>
            </a:r>
            <a:r>
              <a:rPr lang="en-US" altLang="zh-CN" sz="1800" b="1" i="1" baseline="-25000" dirty="0"/>
              <a:t>A</a:t>
            </a:r>
            <a:r>
              <a:rPr lang="en-US" altLang="zh-CN" sz="1800" b="1" dirty="0"/>
              <a:t>.  </a:t>
            </a:r>
            <a:endParaRPr lang="zh-CN" altLang="en-US" sz="1800" b="1" dirty="0"/>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40</a:t>
            </a:fld>
            <a:endParaRPr lang="zh-CN" altLang="en-US"/>
          </a:p>
        </p:txBody>
      </p:sp>
    </p:spTree>
    <p:extLst>
      <p:ext uri="{BB962C8B-B14F-4D97-AF65-F5344CB8AC3E}">
        <p14:creationId xmlns:p14="http://schemas.microsoft.com/office/powerpoint/2010/main" val="5775111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b="1" i="1" kern="100" dirty="0">
                <a:effectLst/>
                <a:latin typeface="等线" panose="02010600030101010101" pitchFamily="2" charset="-122"/>
                <a:ea typeface="KaTeX_Math"/>
                <a:cs typeface="Times New Roman" panose="02020603050405020304" pitchFamily="18" charset="0"/>
              </a:rPr>
              <a:t> </a:t>
            </a:r>
            <a:r>
              <a:rPr lang="en-US" altLang="zh-CN" sz="1800" b="1" i="1" kern="100" dirty="0">
                <a:effectLst/>
                <a:latin typeface="等线" panose="02010600030101010101" pitchFamily="2" charset="-122"/>
                <a:ea typeface="KaTeX_Math"/>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 </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的逆函数，这意味着对于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中的每个元素 </a:t>
            </a:r>
            <a:r>
              <a:rPr lang="en-US" altLang="zh-CN" sz="1800" i="1" kern="100" dirty="0">
                <a:effectLst/>
                <a:latin typeface="KaTeX_Math"/>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将产生一个唯一的 </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中的元素 </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，这样 </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同样，对于 </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中的每个元素 </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i="1" kern="100" dirty="0">
                <a:effectLst/>
                <a:latin typeface="等线" panose="02010600030101010101" pitchFamily="2" charset="-122"/>
                <a:ea typeface="KaTeX_Math"/>
                <a:cs typeface="Times New Roman" panose="02020603050405020304" pitchFamily="18" charset="0"/>
              </a:rPr>
              <a:t> </a:t>
            </a:r>
            <a:r>
              <a:rPr lang="en-US" altLang="zh-CN" sz="1800" i="1" kern="100" dirty="0">
                <a:effectLst/>
                <a:latin typeface="等线" panose="02010600030101010101" pitchFamily="2" charset="-122"/>
                <a:ea typeface="KaTeX_Math"/>
                <a:cs typeface="Times New Roman" panose="02020603050405020304" pitchFamily="18" charset="0"/>
              </a:rPr>
              <a:t>f</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将产生一个唯一的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中的元素 </a:t>
            </a:r>
            <a:r>
              <a:rPr lang="en-US" altLang="zh-CN" sz="1800" i="1" kern="100" dirty="0">
                <a:effectLst/>
                <a:latin typeface="KaTeX_Math"/>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，这样 </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a:t>
            </a:r>
          </a:p>
          <a:p>
            <a:pPr algn="just"/>
            <a:r>
              <a:rPr lang="en-US" altLang="zh-CN" sz="1800" i="1" kern="100" dirty="0">
                <a:effectLst/>
                <a:latin typeface="KaTeX_Math"/>
                <a:ea typeface="等线" panose="02010600030101010101" pitchFamily="2" charset="-122"/>
                <a:cs typeface="Times New Roman" panose="02020603050405020304" pitchFamily="18" charset="0"/>
              </a:rPr>
              <a:t>f</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表示先应用 </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，然后应用 </a:t>
            </a:r>
            <a:r>
              <a:rPr lang="en-US" altLang="zh-CN" sz="1800" i="1" kern="100" dirty="0">
                <a:effectLst/>
                <a:latin typeface="KaTeX_Math"/>
                <a:ea typeface="等线" panose="02010600030101010101" pitchFamily="2" charset="-122"/>
                <a:cs typeface="Times New Roman" panose="02020603050405020304" pitchFamily="18" charset="0"/>
              </a:rPr>
              <a:t>f</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。对于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中的每个元素 </a:t>
            </a:r>
            <a:r>
              <a:rPr lang="en-US" altLang="zh-CN" sz="1800" i="1" kern="100" dirty="0">
                <a:effectLst/>
                <a:latin typeface="KaTeX_Math"/>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，这个复合函数给出 </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，这正是 </a:t>
            </a:r>
            <a:r>
              <a:rPr lang="en-US" altLang="zh-CN" sz="1800" i="1" kern="100" dirty="0">
                <a:effectLst/>
                <a:latin typeface="KaTeX_Math"/>
                <a:ea typeface="等线" panose="02010600030101010101" pitchFamily="2" charset="-122"/>
                <a:cs typeface="Times New Roman" panose="02020603050405020304" pitchFamily="18" charset="0"/>
              </a:rPr>
              <a:t>B</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上的恒等函数 </a:t>
            </a:r>
            <a:r>
              <a:rPr lang="en-US" altLang="zh-CN" sz="1800" i="1" kern="100" dirty="0">
                <a:effectLst/>
                <a:latin typeface="KaTeX_Math"/>
                <a:ea typeface="等线" panose="02010600030101010101" pitchFamily="2" charset="-122"/>
                <a:cs typeface="Times New Roman" panose="02020603050405020304" pitchFamily="18" charset="0"/>
              </a:rPr>
              <a:t>IB</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表示先应用 </a:t>
            </a:r>
            <a:r>
              <a:rPr lang="en-US" altLang="zh-CN" sz="1800" i="1" kern="100" dirty="0">
                <a:effectLst/>
                <a:latin typeface="KaTeX_Math"/>
                <a:ea typeface="等线" panose="02010600030101010101" pitchFamily="2" charset="-122"/>
                <a:cs typeface="Times New Roman" panose="02020603050405020304" pitchFamily="18" charset="0"/>
              </a:rPr>
              <a:t>f</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，然后应用 </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。对于 </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中的每个元素 </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，这个复合函数给出 </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，这正是 </a:t>
            </a:r>
            <a:r>
              <a:rPr lang="en-US" altLang="zh-CN" sz="1800" i="1" kern="100" dirty="0">
                <a:effectLst/>
                <a:latin typeface="KaTeX_Math"/>
                <a:ea typeface="等线" panose="02010600030101010101" pitchFamily="2" charset="-122"/>
                <a:cs typeface="Times New Roman" panose="02020603050405020304" pitchFamily="18" charset="0"/>
              </a:rPr>
              <a:t>A</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上的恒等函数</a:t>
            </a:r>
            <a:r>
              <a:rPr lang="en-US" altLang="zh-CN" sz="1800" i="1" kern="100" dirty="0">
                <a:effectLst/>
                <a:latin typeface="KaTeX_Math"/>
                <a:ea typeface="等线" panose="02010600030101010101" pitchFamily="2" charset="-122"/>
                <a:cs typeface="Times New Roman" panose="02020603050405020304" pitchFamily="18" charset="0"/>
              </a:rPr>
              <a:t>IA</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这样我们可以得出结论，对于双射函数 </a:t>
            </a:r>
            <a:r>
              <a:rPr lang="en-US" altLang="zh-CN" sz="1800" i="1" kern="100" dirty="0">
                <a:effectLst/>
                <a:latin typeface="KaTeX_Math"/>
                <a:ea typeface="等线" panose="02010600030101010101" pitchFamily="2" charset="-122"/>
                <a:cs typeface="Times New Roman" panose="02020603050405020304" pitchFamily="18" charset="0"/>
              </a:rPr>
              <a:t>f</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，复合函数 </a:t>
            </a:r>
            <a:r>
              <a:rPr lang="en-US" altLang="zh-CN" sz="1800" i="1" kern="100" dirty="0">
                <a:effectLst/>
                <a:latin typeface="KaTeX_Math"/>
                <a:ea typeface="等线" panose="02010600030101010101" pitchFamily="2" charset="-122"/>
                <a:cs typeface="Times New Roman" panose="02020603050405020304" pitchFamily="18" charset="0"/>
              </a:rPr>
              <a:t>f</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IB</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并且 </a:t>
            </a:r>
            <a:r>
              <a:rPr lang="en-US" altLang="zh-CN" sz="1800" b="1" i="1" kern="100" dirty="0">
                <a:effectLst/>
                <a:latin typeface="KaTeX_Math"/>
                <a:ea typeface="等线" panose="02010600030101010101" pitchFamily="2" charset="-122"/>
                <a:cs typeface="Times New Roman" panose="02020603050405020304" pitchFamily="18" charset="0"/>
              </a:rPr>
              <a:t>f</a:t>
            </a:r>
            <a:r>
              <a:rPr lang="en-US" altLang="zh-CN" sz="1800" b="1" kern="100" baseline="30000" dirty="0">
                <a:effectLst/>
                <a:latin typeface="Times New Roman" panose="02020603050405020304" pitchFamily="18" charset="0"/>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MS Gothic" panose="020B0609070205080204" pitchFamily="49" charset="-128"/>
                <a:cs typeface="MS Gothic" panose="020B0609070205080204" pitchFamily="49" charset="-128"/>
              </a:rPr>
              <a:t>∘</a:t>
            </a:r>
            <a:r>
              <a:rPr lang="en-US" altLang="zh-CN" sz="1800" i="1" kern="100" dirty="0">
                <a:effectLst/>
                <a:latin typeface="KaTeX_Math"/>
                <a:ea typeface="等线" panose="02010600030101010101" pitchFamily="2" charset="-122"/>
                <a:cs typeface="Times New Roman" panose="02020603050405020304" pitchFamily="18" charset="0"/>
              </a:rPr>
              <a:t>f</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effectLst/>
                <a:latin typeface="KaTeX_Math"/>
                <a:ea typeface="等线" panose="02010600030101010101" pitchFamily="2" charset="-122"/>
                <a:cs typeface="Times New Roman" panose="02020603050405020304" pitchFamily="18" charset="0"/>
              </a:rPr>
              <a:t>IA</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eaLnBrk="1" hangingPunct="1">
              <a:lnSpc>
                <a:spcPct val="110000"/>
              </a:lnSpc>
              <a:buFontTx/>
              <a:buNone/>
            </a:pPr>
            <a:r>
              <a:rPr lang="zh-CN" altLang="en-US" sz="2800" b="1" dirty="0">
                <a:solidFill>
                  <a:srgbClr val="FF0000"/>
                </a:solidFill>
              </a:rPr>
              <a:t>双射函数与其反函数的复合函数都是恒等函数</a:t>
            </a:r>
            <a:endParaRPr lang="en-US" altLang="zh-CN" sz="2800" b="1" dirty="0">
              <a:solidFill>
                <a:srgbClr val="FF0000"/>
              </a:solidFill>
            </a:endParaRPr>
          </a:p>
          <a:p>
            <a:pPr eaLnBrk="1" hangingPunct="1">
              <a:lnSpc>
                <a:spcPct val="110000"/>
              </a:lnSpc>
              <a:buFontTx/>
              <a:buNone/>
            </a:pPr>
            <a:r>
              <a:rPr lang="zh-CN" altLang="en-US" sz="1800" b="1" dirty="0">
                <a:solidFill>
                  <a:srgbClr val="FF0000"/>
                </a:solidFill>
              </a:rPr>
              <a:t>定理</a:t>
            </a:r>
            <a:r>
              <a:rPr lang="en-US" altLang="zh-CN" sz="1800" b="1" dirty="0">
                <a:solidFill>
                  <a:srgbClr val="FF0000"/>
                </a:solidFill>
              </a:rPr>
              <a:t>5.5</a:t>
            </a:r>
            <a:r>
              <a:rPr lang="en-US" altLang="zh-CN" sz="1800" b="1" dirty="0"/>
              <a:t> </a:t>
            </a:r>
            <a:r>
              <a:rPr lang="zh-CN" altLang="en-US" sz="1800" b="1" dirty="0"/>
              <a:t>设 </a:t>
            </a:r>
            <a:r>
              <a:rPr lang="en-US" altLang="zh-CN" sz="1800" b="1" i="1" dirty="0"/>
              <a:t>f </a:t>
            </a:r>
            <a:r>
              <a:rPr lang="en-US" altLang="zh-CN" sz="1800" b="1" dirty="0"/>
              <a:t>: </a:t>
            </a:r>
            <a:r>
              <a:rPr lang="en-US" altLang="zh-CN" sz="1800" b="1" i="1" dirty="0"/>
              <a:t>A</a:t>
            </a:r>
            <a:r>
              <a:rPr lang="en-US" altLang="zh-CN" sz="1800" b="1" dirty="0"/>
              <a:t>→</a:t>
            </a:r>
            <a:r>
              <a:rPr lang="en-US" altLang="zh-CN" sz="1800" b="1" i="1" dirty="0"/>
              <a:t>B</a:t>
            </a:r>
            <a:r>
              <a:rPr lang="zh-CN" altLang="en-US" sz="1800" b="1" dirty="0"/>
              <a:t>是双射的</a:t>
            </a:r>
            <a:r>
              <a:rPr lang="en-US" altLang="zh-CN" sz="1800" b="1" dirty="0"/>
              <a:t>, </a:t>
            </a:r>
            <a:r>
              <a:rPr lang="zh-CN" altLang="en-US" sz="1800" b="1" dirty="0"/>
              <a:t>则</a:t>
            </a:r>
            <a:br>
              <a:rPr lang="zh-CN" altLang="en-US" sz="1800" b="1" dirty="0"/>
            </a:br>
            <a:r>
              <a:rPr lang="zh-CN" altLang="en-US" sz="1800" b="1" dirty="0"/>
              <a:t>              </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dirty="0"/>
              <a:t>= </a:t>
            </a:r>
            <a:r>
              <a:rPr lang="en-US" altLang="zh-CN" sz="1800" b="1" i="1" dirty="0"/>
              <a:t>I</a:t>
            </a:r>
            <a:r>
              <a:rPr lang="en-US" altLang="zh-CN" sz="2800" b="1" i="1" baseline="-25000" dirty="0"/>
              <a:t>A</a:t>
            </a:r>
            <a:r>
              <a:rPr lang="en-US" altLang="zh-CN" sz="1800" b="1" dirty="0"/>
              <a:t>,   </a:t>
            </a:r>
            <a:r>
              <a:rPr lang="en-US" altLang="zh-CN" sz="1800" b="1" i="1" dirty="0"/>
              <a:t>f</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t> = </a:t>
            </a:r>
            <a:r>
              <a:rPr lang="en-US" altLang="zh-CN" sz="1800" b="1" i="1" dirty="0"/>
              <a:t>I</a:t>
            </a:r>
            <a:r>
              <a:rPr lang="en-US" altLang="zh-CN" sz="2800" b="1" i="1" baseline="-25000" dirty="0"/>
              <a:t>B</a:t>
            </a:r>
            <a:endParaRPr lang="en-US" altLang="zh-CN" sz="1800" b="1" i="1" baseline="-25000" dirty="0"/>
          </a:p>
          <a:p>
            <a:pPr eaLnBrk="1" hangingPunct="1">
              <a:lnSpc>
                <a:spcPct val="110000"/>
              </a:lnSpc>
              <a:buFontTx/>
              <a:buNone/>
            </a:pPr>
            <a:r>
              <a:rPr lang="en-US" altLang="zh-CN" sz="1800" b="1" i="1" dirty="0"/>
              <a:t>    </a:t>
            </a:r>
            <a:r>
              <a:rPr lang="en-US" altLang="zh-CN" sz="1800" b="1" dirty="0"/>
              <a:t>  </a:t>
            </a:r>
          </a:p>
          <a:p>
            <a:pPr eaLnBrk="1" hangingPunct="1">
              <a:lnSpc>
                <a:spcPct val="110000"/>
              </a:lnSpc>
              <a:buFontTx/>
              <a:buNone/>
            </a:pPr>
            <a:r>
              <a:rPr lang="zh-CN" altLang="en-US" sz="1800" b="1" dirty="0">
                <a:solidFill>
                  <a:srgbClr val="00B0F0"/>
                </a:solidFill>
              </a:rPr>
              <a:t>证</a:t>
            </a:r>
            <a:r>
              <a:rPr lang="zh-CN" altLang="en-US" sz="1800" b="1" dirty="0"/>
              <a:t>   根据定理</a:t>
            </a:r>
            <a:r>
              <a:rPr lang="en-US" altLang="zh-CN" sz="1800" b="1" dirty="0"/>
              <a:t>5.4</a:t>
            </a:r>
            <a:r>
              <a:rPr lang="zh-CN" altLang="en-US" sz="1800" b="1" dirty="0"/>
              <a:t>可知 </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t>: </a:t>
            </a:r>
            <a:r>
              <a:rPr lang="en-US" altLang="zh-CN" sz="1800" b="1" i="1" dirty="0"/>
              <a:t>B</a:t>
            </a:r>
            <a:r>
              <a:rPr lang="en-US" altLang="zh-CN" sz="1800" b="1" dirty="0"/>
              <a:t>→</a:t>
            </a:r>
            <a:r>
              <a:rPr lang="en-US" altLang="zh-CN" sz="1800" b="1" i="1" dirty="0"/>
              <a:t>A</a:t>
            </a:r>
            <a:r>
              <a:rPr lang="zh-CN" altLang="en-US" sz="1800" b="1" dirty="0"/>
              <a:t>也是双射的</a:t>
            </a:r>
            <a:r>
              <a:rPr lang="en-US" altLang="zh-CN" sz="1800" b="1" dirty="0"/>
              <a:t>. </a:t>
            </a:r>
          </a:p>
          <a:p>
            <a:pPr eaLnBrk="1" hangingPunct="1">
              <a:lnSpc>
                <a:spcPct val="110000"/>
              </a:lnSpc>
              <a:buFontTx/>
              <a:buNone/>
            </a:pPr>
            <a:r>
              <a:rPr lang="zh-CN" altLang="en-US" sz="1800" b="1" dirty="0"/>
              <a:t>由</a:t>
            </a:r>
            <a:r>
              <a:rPr lang="zh-CN" altLang="en-US" sz="2800" b="1" dirty="0"/>
              <a:t>函数复合的定理</a:t>
            </a:r>
            <a:r>
              <a:rPr lang="zh-CN" altLang="en-US" sz="1800" b="1" dirty="0"/>
              <a:t>可知  </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dirty="0"/>
              <a:t>: </a:t>
            </a:r>
            <a:r>
              <a:rPr lang="en-US" altLang="zh-CN" sz="1800" b="1" i="1" dirty="0"/>
              <a:t>B</a:t>
            </a:r>
            <a:r>
              <a:rPr lang="en-US" altLang="zh-CN" sz="1800" b="1" dirty="0"/>
              <a:t>→</a:t>
            </a:r>
            <a:r>
              <a:rPr lang="en-US" altLang="zh-CN" sz="1800" b="1" i="1" dirty="0"/>
              <a:t>B</a:t>
            </a:r>
            <a:r>
              <a:rPr lang="en-US" altLang="zh-CN" sz="1800" b="1" dirty="0"/>
              <a:t>,  </a:t>
            </a:r>
            <a:r>
              <a:rPr lang="en-US" altLang="zh-CN" sz="1800" b="1" i="1" dirty="0"/>
              <a:t>f</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t>: </a:t>
            </a:r>
            <a:r>
              <a:rPr lang="en-US" altLang="zh-CN" sz="1800" b="1" i="1" dirty="0"/>
              <a:t>A</a:t>
            </a:r>
            <a:r>
              <a:rPr lang="en-US" altLang="zh-CN" sz="1800" b="1" dirty="0"/>
              <a:t>→</a:t>
            </a:r>
            <a:r>
              <a:rPr lang="en-US" altLang="zh-CN" sz="1800" b="1" i="1" dirty="0"/>
              <a:t>A</a:t>
            </a:r>
            <a:r>
              <a:rPr lang="zh-CN" altLang="en-US" sz="1800" b="1" dirty="0"/>
              <a:t>，且它们都</a:t>
            </a:r>
          </a:p>
          <a:p>
            <a:pPr eaLnBrk="1" hangingPunct="1">
              <a:lnSpc>
                <a:spcPct val="110000"/>
              </a:lnSpc>
              <a:buFontTx/>
              <a:buNone/>
            </a:pPr>
            <a:r>
              <a:rPr lang="zh-CN" altLang="en-US" sz="1800" b="1" dirty="0"/>
              <a:t>是恒等函数</a:t>
            </a:r>
            <a:r>
              <a:rPr lang="en-US" altLang="zh-CN" sz="1800" b="1" dirty="0"/>
              <a:t>.</a:t>
            </a:r>
          </a:p>
          <a:p>
            <a:pPr eaLnBrk="1" hangingPunct="1">
              <a:lnSpc>
                <a:spcPct val="110000"/>
              </a:lnSpc>
              <a:buFontTx/>
              <a:buNone/>
            </a:pPr>
            <a:endParaRPr lang="zh-CN" altLang="en-US" sz="1800" b="1" dirty="0"/>
          </a:p>
          <a:p>
            <a:pPr eaLnBrk="1" hangingPunct="1">
              <a:lnSpc>
                <a:spcPct val="110000"/>
              </a:lnSpc>
              <a:buFontTx/>
              <a:buNone/>
            </a:pPr>
            <a:r>
              <a:rPr lang="zh-CN" altLang="en-US" sz="1800" b="1" dirty="0"/>
              <a:t>对于双射函数 </a:t>
            </a:r>
            <a:r>
              <a:rPr lang="en-US" altLang="zh-CN" sz="1800" b="1" i="1" dirty="0"/>
              <a:t>f </a:t>
            </a:r>
            <a:r>
              <a:rPr lang="en-US" altLang="zh-CN" sz="1800" b="1" dirty="0"/>
              <a:t>: </a:t>
            </a:r>
            <a:r>
              <a:rPr lang="en-US" altLang="zh-CN" sz="1800" b="1" i="1" dirty="0"/>
              <a:t>A</a:t>
            </a:r>
            <a:r>
              <a:rPr lang="en-US" altLang="zh-CN" sz="1800" b="1" dirty="0"/>
              <a:t>→</a:t>
            </a:r>
            <a:r>
              <a:rPr lang="en-US" altLang="zh-CN" sz="1800" b="1" i="1" dirty="0"/>
              <a:t>A</a:t>
            </a:r>
            <a:r>
              <a:rPr lang="en-US" altLang="zh-CN" sz="1800" b="1" dirty="0"/>
              <a:t>, </a:t>
            </a:r>
            <a:r>
              <a:rPr lang="zh-CN" altLang="en-US" sz="1800" b="1" dirty="0"/>
              <a:t>根据上述定理有 </a:t>
            </a:r>
          </a:p>
          <a:p>
            <a:pPr eaLnBrk="1" hangingPunct="1">
              <a:lnSpc>
                <a:spcPct val="110000"/>
              </a:lnSpc>
              <a:buFontTx/>
              <a:buNone/>
            </a:pPr>
            <a:r>
              <a:rPr lang="en-US" altLang="zh-CN" sz="1800" b="1" i="1" dirty="0"/>
              <a:t>                   f </a:t>
            </a:r>
            <a:r>
              <a:rPr lang="en-US" altLang="zh-CN" sz="1800" b="1" baseline="30000" dirty="0">
                <a:sym typeface="Symbol" panose="05050102010706020507" pitchFamily="18" charset="2"/>
              </a:rPr>
              <a:t></a:t>
            </a:r>
            <a:r>
              <a:rPr lang="en-US" altLang="zh-CN" sz="1800" b="1" baseline="30000" dirty="0"/>
              <a:t>1</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dirty="0"/>
              <a:t>= </a:t>
            </a:r>
            <a:r>
              <a:rPr lang="en-US" altLang="zh-CN" sz="1800" b="1" i="1" dirty="0"/>
              <a:t>f</a:t>
            </a:r>
            <a:r>
              <a:rPr lang="en-US" altLang="zh-CN" sz="1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1800" b="1" i="1" dirty="0"/>
              <a:t>f </a:t>
            </a:r>
            <a:r>
              <a:rPr lang="en-US" altLang="zh-CN" sz="1800" b="1" baseline="30000" dirty="0">
                <a:sym typeface="Symbol" panose="05050102010706020507" pitchFamily="18" charset="2"/>
              </a:rPr>
              <a:t></a:t>
            </a:r>
            <a:r>
              <a:rPr lang="en-US" altLang="zh-CN" sz="1800" b="1" baseline="30000" dirty="0"/>
              <a:t>1</a:t>
            </a:r>
            <a:r>
              <a:rPr lang="en-US" altLang="zh-CN" sz="1800" b="1" dirty="0"/>
              <a:t> = </a:t>
            </a:r>
            <a:r>
              <a:rPr lang="en-US" altLang="zh-CN" sz="1800" b="1" i="1" dirty="0"/>
              <a:t>I</a:t>
            </a:r>
            <a:r>
              <a:rPr lang="en-US" altLang="zh-CN" sz="1800" b="1" i="1" baseline="-25000" dirty="0"/>
              <a:t>A</a:t>
            </a:r>
            <a:r>
              <a:rPr lang="en-US" altLang="zh-CN" sz="1800" b="1" dirty="0"/>
              <a:t>.  </a:t>
            </a:r>
            <a:endParaRPr lang="zh-CN" altLang="en-US" sz="1800" b="1" dirty="0"/>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41</a:t>
            </a:fld>
            <a:endParaRPr lang="zh-CN" altLang="en-US"/>
          </a:p>
        </p:txBody>
      </p:sp>
    </p:spTree>
    <p:extLst>
      <p:ext uri="{BB962C8B-B14F-4D97-AF65-F5344CB8AC3E}">
        <p14:creationId xmlns:p14="http://schemas.microsoft.com/office/powerpoint/2010/main" val="30666510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892175" eaLnBrk="1" hangingPunct="1">
              <a:spcBef>
                <a:spcPct val="60000"/>
              </a:spcBef>
              <a:buNone/>
            </a:pPr>
            <a:r>
              <a:rPr lang="en-US" altLang="zh-CN" b="1" dirty="0">
                <a:solidFill>
                  <a:srgbClr val="FF0000"/>
                </a:solidFill>
              </a:rPr>
              <a:t>5.1 </a:t>
            </a:r>
            <a:r>
              <a:rPr lang="zh-CN" altLang="en-US" b="1" dirty="0">
                <a:solidFill>
                  <a:srgbClr val="FF0000"/>
                </a:solidFill>
              </a:rPr>
              <a:t>函数定义及其性质</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5.2 </a:t>
            </a:r>
            <a:r>
              <a:rPr lang="zh-CN" altLang="en-US" b="1" dirty="0"/>
              <a:t>函数的复合与反函数</a:t>
            </a:r>
            <a:endParaRPr lang="en-US" altLang="zh-CN" b="1" dirty="0"/>
          </a:p>
          <a:p>
            <a:pPr marL="0" indent="892175" eaLnBrk="1" hangingPunct="1">
              <a:spcBef>
                <a:spcPct val="60000"/>
              </a:spcBef>
              <a:buNone/>
            </a:pPr>
            <a:endParaRPr lang="en-US" altLang="zh-CN" b="1" dirty="0"/>
          </a:p>
          <a:p>
            <a:pPr marL="0" indent="892175" eaLnBrk="1" hangingPunct="1">
              <a:spcBef>
                <a:spcPct val="60000"/>
              </a:spcBef>
              <a:buNone/>
            </a:pPr>
            <a:r>
              <a:rPr lang="en-US" altLang="zh-CN" b="1" dirty="0"/>
              <a:t>5.3 </a:t>
            </a:r>
            <a:r>
              <a:rPr lang="zh-CN" altLang="en-US" b="1" dirty="0"/>
              <a:t>关系代数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43</a:t>
            </a:fld>
            <a:endParaRPr lang="zh-CN" altLang="en-US"/>
          </a:p>
        </p:txBody>
      </p:sp>
    </p:spTree>
    <p:extLst>
      <p:ext uri="{BB962C8B-B14F-4D97-AF65-F5344CB8AC3E}">
        <p14:creationId xmlns:p14="http://schemas.microsoft.com/office/powerpoint/2010/main" val="12676913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892175" eaLnBrk="1" hangingPunct="1">
              <a:spcBef>
                <a:spcPct val="60000"/>
              </a:spcBef>
              <a:buNone/>
            </a:pPr>
            <a:r>
              <a:rPr lang="en-US" altLang="zh-CN" b="1" dirty="0">
                <a:solidFill>
                  <a:srgbClr val="FF0000"/>
                </a:solidFill>
              </a:rPr>
              <a:t>5.1 </a:t>
            </a:r>
            <a:r>
              <a:rPr lang="zh-CN" altLang="en-US" b="1" dirty="0">
                <a:solidFill>
                  <a:srgbClr val="FF0000"/>
                </a:solidFill>
              </a:rPr>
              <a:t>函数定义及其性质</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5.2 </a:t>
            </a:r>
            <a:r>
              <a:rPr lang="zh-CN" altLang="en-US" b="1" dirty="0"/>
              <a:t>函数的复合与反函数</a:t>
            </a:r>
            <a:endParaRPr lang="en-US" altLang="zh-CN" b="1" dirty="0"/>
          </a:p>
          <a:p>
            <a:pPr marL="0" indent="892175" eaLnBrk="1" hangingPunct="1">
              <a:spcBef>
                <a:spcPct val="60000"/>
              </a:spcBef>
              <a:buNone/>
            </a:pPr>
            <a:endParaRPr lang="en-US" altLang="zh-CN" b="1" dirty="0"/>
          </a:p>
          <a:p>
            <a:pPr marL="0" indent="892175" eaLnBrk="1" hangingPunct="1">
              <a:spcBef>
                <a:spcPct val="60000"/>
              </a:spcBef>
              <a:buNone/>
            </a:pPr>
            <a:r>
              <a:rPr lang="en-US" altLang="zh-CN" b="1" dirty="0"/>
              <a:t>5.3 </a:t>
            </a:r>
            <a:r>
              <a:rPr lang="zh-CN" altLang="en-US" b="1" dirty="0"/>
              <a:t>关系代数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44</a:t>
            </a:fld>
            <a:endParaRPr lang="zh-CN" altLang="en-US"/>
          </a:p>
        </p:txBody>
      </p:sp>
    </p:spTree>
    <p:extLst>
      <p:ext uri="{BB962C8B-B14F-4D97-AF65-F5344CB8AC3E}">
        <p14:creationId xmlns:p14="http://schemas.microsoft.com/office/powerpoint/2010/main" val="40914470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FF0000"/>
                </a:solidFill>
              </a:rPr>
              <a:t>关系代数</a:t>
            </a:r>
            <a:r>
              <a:rPr lang="zh-CN" altLang="en-US" b="1" dirty="0"/>
              <a:t>：是数据库理论中的概念，是一种特殊的代数系统，其元素是关系（表），运算则用于查询和处理存储在表中的数据，这些运算遵守特定的代数法则和性质。</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FF0000"/>
                </a:solidFill>
              </a:rPr>
              <a:t>代数系统</a:t>
            </a:r>
            <a:r>
              <a:rPr lang="zh-CN" altLang="en-US" b="1" dirty="0"/>
              <a:t>（又称为代数结构）：</a:t>
            </a:r>
            <a:r>
              <a:rPr lang="zh-CN" altLang="zh-CN" b="1" dirty="0"/>
              <a:t>是代数中更</a:t>
            </a:r>
            <a:r>
              <a:rPr lang="zh-CN" altLang="en-US" b="1" dirty="0"/>
              <a:t>为</a:t>
            </a:r>
            <a:r>
              <a:rPr lang="zh-CN" altLang="zh-CN" b="1" dirty="0"/>
              <a:t>具体的部分</a:t>
            </a:r>
            <a:r>
              <a:rPr lang="zh-CN" altLang="en-US" b="1" dirty="0"/>
              <a:t>，定义了一组元素以及运算。简单的有集合和二元运算，复杂的有环、域、向量空间等。代数系统关注于这些结构的性质和它们之间的关系。</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FF0000"/>
                </a:solidFill>
              </a:rPr>
              <a:t>代数：</a:t>
            </a:r>
            <a:r>
              <a:rPr lang="zh-CN" altLang="en-US" b="1" dirty="0"/>
              <a:t>数学的一个分支，研究数、符号和运算规则，如方程式、和多项式和更抽象的结构（群、环、域等）。</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45</a:t>
            </a:fld>
            <a:endParaRPr lang="zh-CN" altLang="en-US"/>
          </a:p>
        </p:txBody>
      </p:sp>
    </p:spTree>
    <p:extLst>
      <p:ext uri="{BB962C8B-B14F-4D97-AF65-F5344CB8AC3E}">
        <p14:creationId xmlns:p14="http://schemas.microsoft.com/office/powerpoint/2010/main" val="9445745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FF0000"/>
                </a:solidFill>
              </a:rPr>
              <a:t>关系代数</a:t>
            </a:r>
            <a:r>
              <a:rPr lang="zh-CN" altLang="en-US" b="1" dirty="0"/>
              <a:t>：是数据库理论中的概念，是一种特殊的代数系统，其元素是关系（表），运算则用于查询和处理存储在表中的数据，这些运算遵守特定的代数法则和性质。</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FF0000"/>
                </a:solidFill>
              </a:rPr>
              <a:t>代数系统</a:t>
            </a:r>
            <a:r>
              <a:rPr lang="zh-CN" altLang="en-US" b="1" dirty="0"/>
              <a:t>（又称为代数结构）：</a:t>
            </a:r>
            <a:r>
              <a:rPr lang="zh-CN" altLang="zh-CN" b="1" dirty="0"/>
              <a:t>是代数中更</a:t>
            </a:r>
            <a:r>
              <a:rPr lang="zh-CN" altLang="en-US" b="1" dirty="0"/>
              <a:t>为</a:t>
            </a:r>
            <a:r>
              <a:rPr lang="zh-CN" altLang="zh-CN" b="1" dirty="0"/>
              <a:t>具体的部分</a:t>
            </a:r>
            <a:r>
              <a:rPr lang="zh-CN" altLang="en-US" b="1" dirty="0"/>
              <a:t>，定义了一组元素以及运算。简单的有集合和二元运算，复杂的有环、域、向量空间等。代数系统关注于这些结构的性质和它们之间的关系。</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FF0000"/>
                </a:solidFill>
              </a:rPr>
              <a:t>代数：</a:t>
            </a:r>
            <a:r>
              <a:rPr lang="zh-CN" altLang="en-US" b="1" dirty="0"/>
              <a:t>数学的一个分支，研究数、符号和运算规则，如方程式、和多项式和更抽象的结构（群、环、域等）。</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46</a:t>
            </a:fld>
            <a:endParaRPr lang="zh-CN" altLang="en-US"/>
          </a:p>
        </p:txBody>
      </p:sp>
    </p:spTree>
    <p:extLst>
      <p:ext uri="{BB962C8B-B14F-4D97-AF65-F5344CB8AC3E}">
        <p14:creationId xmlns:p14="http://schemas.microsoft.com/office/powerpoint/2010/main" val="26646150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关系代数是对关系型数据库中关系（表）进行操作的一种抽象查询语言。</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关系代数为 </a:t>
            </a:r>
            <a:r>
              <a:rPr lang="en-US" altLang="zh-CN" dirty="0"/>
              <a:t>SQL </a:t>
            </a:r>
            <a:r>
              <a:rPr lang="zh-CN" altLang="en-US" dirty="0"/>
              <a:t>等查询语言提供了理论基础。</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关系代数可以对查询进行优化和等价变换。</a:t>
            </a:r>
            <a:endParaRPr lang="zh-CN" alt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47</a:t>
            </a:fld>
            <a:endParaRPr lang="zh-CN" altLang="en-US"/>
          </a:p>
        </p:txBody>
      </p:sp>
    </p:spTree>
    <p:extLst>
      <p:ext uri="{BB962C8B-B14F-4D97-AF65-F5344CB8AC3E}">
        <p14:creationId xmlns:p14="http://schemas.microsoft.com/office/powerpoint/2010/main" val="14125598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10000"/>
              </a:lnSpc>
              <a:buFontTx/>
              <a:buNone/>
              <a:defRPr/>
            </a:pPr>
            <a:r>
              <a:rPr lang="zh-CN" altLang="en-US" dirty="0"/>
              <a:t>关系模型是由 </a:t>
            </a:r>
            <a:r>
              <a:rPr lang="en-US" altLang="zh-CN" dirty="0"/>
              <a:t>E.F. Codd </a:t>
            </a:r>
            <a:r>
              <a:rPr lang="zh-CN" altLang="en-US" dirty="0"/>
              <a:t>提出的一种数据模型，它用“关系”（即表格）来表示现实世界中的实体及其关系。每个关系由若干行（元组）和列（属性）组成。</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48</a:t>
            </a:fld>
            <a:endParaRPr lang="zh-CN" altLang="en-US"/>
          </a:p>
        </p:txBody>
      </p:sp>
    </p:spTree>
    <p:extLst>
      <p:ext uri="{BB962C8B-B14F-4D97-AF65-F5344CB8AC3E}">
        <p14:creationId xmlns:p14="http://schemas.microsoft.com/office/powerpoint/2010/main" val="20204765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10000"/>
              </a:lnSpc>
              <a:buFontTx/>
              <a:buNone/>
              <a:defRPr/>
            </a:pPr>
            <a:r>
              <a:rPr lang="zh-CN" altLang="en-US" sz="1200" b="1" dirty="0">
                <a:solidFill>
                  <a:srgbClr val="FF0000"/>
                </a:solidFill>
              </a:rPr>
              <a:t>表格与关系</a:t>
            </a:r>
            <a:r>
              <a:rPr lang="zh-CN" altLang="en-US" sz="1200" b="1" dirty="0"/>
              <a:t>：数据库中的每个表格代表一个关系，表中的每一行（或称为元组）代表一个有序对，这些有序对即是关系的成员。</a:t>
            </a:r>
          </a:p>
          <a:p>
            <a:pPr marL="0" marR="0" lvl="0" indent="0" algn="l" defTabSz="914400" rtl="0" eaLnBrk="1" fontAlgn="auto" latinLnBrk="0" hangingPunct="1">
              <a:lnSpc>
                <a:spcPct val="110000"/>
              </a:lnSpc>
              <a:spcBef>
                <a:spcPts val="0"/>
              </a:spcBef>
              <a:spcAft>
                <a:spcPts val="0"/>
              </a:spcAft>
              <a:buClrTx/>
              <a:buSzTx/>
              <a:buFontTx/>
              <a:buNone/>
              <a:tabLst/>
              <a:defRPr/>
            </a:pPr>
            <a:r>
              <a:rPr lang="zh-CN" altLang="en-US" sz="1200" b="1" dirty="0">
                <a:solidFill>
                  <a:srgbClr val="FF0000"/>
                </a:solidFill>
              </a:rPr>
              <a:t>元素间的关系</a:t>
            </a:r>
            <a:r>
              <a:rPr lang="zh-CN" altLang="en-US" sz="1200" b="1" dirty="0"/>
              <a:t>：表中的每一行代表了列（或称为属性）间的一种特定关联或“关系”，形成了一组有意义的数据。</a:t>
            </a:r>
            <a:endParaRPr lang="en-US" altLang="zh-CN" sz="1200" b="1" dirty="0"/>
          </a:p>
          <a:p>
            <a:pPr marL="0" marR="0" lvl="0" indent="0" algn="l" defTabSz="914400" rtl="0" eaLnBrk="1" fontAlgn="auto" latinLnBrk="0" hangingPunct="1">
              <a:lnSpc>
                <a:spcPct val="110000"/>
              </a:lnSpc>
              <a:spcBef>
                <a:spcPts val="0"/>
              </a:spcBef>
              <a:spcAft>
                <a:spcPts val="0"/>
              </a:spcAft>
              <a:buClrTx/>
              <a:buSzTx/>
              <a:buFontTx/>
              <a:buNone/>
              <a:tabLst/>
              <a:defRPr/>
            </a:pPr>
            <a:r>
              <a:rPr lang="en-US" altLang="zh-CN" sz="1200" b="1" dirty="0"/>
              <a:t>1970</a:t>
            </a:r>
            <a:r>
              <a:rPr lang="zh-CN" altLang="en-US" sz="1200" b="1" dirty="0"/>
              <a:t>年埃德加</a:t>
            </a:r>
            <a:r>
              <a:rPr lang="en-US" altLang="zh-CN" sz="1200" b="1" dirty="0"/>
              <a:t>·F·</a:t>
            </a:r>
            <a:r>
              <a:rPr lang="zh-CN" altLang="en-US" sz="1200" b="1" dirty="0"/>
              <a:t>科德（</a:t>
            </a:r>
            <a:r>
              <a:rPr lang="en-US" altLang="zh-CN" sz="1200" b="1" dirty="0"/>
              <a:t>Edgar F. Codd</a:t>
            </a:r>
            <a:r>
              <a:rPr lang="zh-CN" altLang="en-US" sz="1200" b="1" dirty="0"/>
              <a:t>）（数学和计算机科学家）提出构建关系数据库的</a:t>
            </a:r>
            <a:r>
              <a:rPr lang="zh-CN" altLang="en-US" sz="1200" b="1" dirty="0">
                <a:solidFill>
                  <a:srgbClr val="FF0000"/>
                </a:solidFill>
              </a:rPr>
              <a:t>关系模型</a:t>
            </a:r>
            <a:r>
              <a:rPr lang="zh-CN" altLang="en-US" sz="1200" b="1" dirty="0"/>
              <a:t>，他使用了数学中的关系概念来组织数据。</a:t>
            </a:r>
            <a:r>
              <a:rPr lang="zh-CN" altLang="en-US" sz="1200" b="1" dirty="0">
                <a:solidFill>
                  <a:srgbClr val="FF0000"/>
                </a:solidFill>
              </a:rPr>
              <a:t>关系数据库</a:t>
            </a:r>
            <a:r>
              <a:rPr lang="zh-CN" altLang="en-US" sz="1200" b="1" dirty="0"/>
              <a:t>沿用了集合论中“关系”（一组有序对的集合），并在在关系数据库理论中得到了特别的应用和解释。</a:t>
            </a:r>
          </a:p>
          <a:p>
            <a:pPr marL="0" marR="0" lvl="0" indent="0" algn="l" defTabSz="914400" rtl="0" eaLnBrk="1" fontAlgn="auto" latinLnBrk="0" hangingPunct="1">
              <a:lnSpc>
                <a:spcPct val="110000"/>
              </a:lnSpc>
              <a:spcBef>
                <a:spcPts val="0"/>
              </a:spcBef>
              <a:spcAft>
                <a:spcPts val="0"/>
              </a:spcAft>
              <a:buClrTx/>
              <a:buSzTx/>
              <a:buFontTx/>
              <a:buNone/>
              <a:tabLst/>
              <a:defRPr/>
            </a:pPr>
            <a:r>
              <a:rPr lang="zh-CN" altLang="en-US" sz="1200" b="1" dirty="0">
                <a:solidFill>
                  <a:srgbClr val="FF0000"/>
                </a:solidFill>
              </a:rPr>
              <a:t>集合论中的关系</a:t>
            </a:r>
            <a:r>
              <a:rPr lang="zh-CN" altLang="en-US" sz="1200" b="1" dirty="0"/>
              <a:t>是定义在集合上的一种数学对象，由集合笛卡尔积中的有序元组（如</a:t>
            </a:r>
            <a:r>
              <a:rPr lang="en-US" altLang="zh-CN" sz="1200" b="1" dirty="0"/>
              <a:t>&lt;a,b&gt;</a:t>
            </a:r>
            <a:r>
              <a:rPr lang="zh-CN" altLang="en-US" sz="1200" b="1" dirty="0"/>
              <a:t>）构成。函数或映射是特殊类型的关系，自反关系、对称关系、传递关系是具有特定性质的关系。</a:t>
            </a:r>
          </a:p>
          <a:p>
            <a:pPr marL="0" marR="0" lvl="0" indent="0" algn="l" defTabSz="914400" rtl="0" eaLnBrk="1" fontAlgn="auto" latinLnBrk="0" hangingPunct="1">
              <a:lnSpc>
                <a:spcPct val="110000"/>
              </a:lnSpc>
              <a:spcBef>
                <a:spcPts val="0"/>
              </a:spcBef>
              <a:spcAft>
                <a:spcPts val="0"/>
              </a:spcAft>
              <a:buClrTx/>
              <a:buSzTx/>
              <a:buFontTx/>
              <a:buNone/>
              <a:tabLst/>
              <a:defRPr/>
            </a:pPr>
            <a:endParaRPr lang="zh-CN" altLang="en-US" sz="1200" b="1" dirty="0"/>
          </a:p>
          <a:p>
            <a:pPr marL="0" indent="0">
              <a:lnSpc>
                <a:spcPct val="110000"/>
              </a:lnSpc>
              <a:buFontTx/>
              <a:buNone/>
              <a:defRPr/>
            </a:pP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49</a:t>
            </a:fld>
            <a:endParaRPr lang="zh-CN" altLang="en-US"/>
          </a:p>
        </p:txBody>
      </p:sp>
    </p:spTree>
    <p:extLst>
      <p:ext uri="{BB962C8B-B14F-4D97-AF65-F5344CB8AC3E}">
        <p14:creationId xmlns:p14="http://schemas.microsoft.com/office/powerpoint/2010/main" val="637937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892175" eaLnBrk="1" hangingPunct="1">
              <a:spcBef>
                <a:spcPct val="60000"/>
              </a:spcBef>
              <a:buNone/>
            </a:pPr>
            <a:r>
              <a:rPr lang="en-US" altLang="zh-CN" b="1" dirty="0">
                <a:solidFill>
                  <a:srgbClr val="FF0000"/>
                </a:solidFill>
              </a:rPr>
              <a:t>5.1 </a:t>
            </a:r>
            <a:r>
              <a:rPr lang="zh-CN" altLang="en-US" b="1" dirty="0">
                <a:solidFill>
                  <a:srgbClr val="FF0000"/>
                </a:solidFill>
              </a:rPr>
              <a:t>函数定义及其性质</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5.2 </a:t>
            </a:r>
            <a:r>
              <a:rPr lang="zh-CN" altLang="en-US" b="1" dirty="0"/>
              <a:t>函数的复合与反函数</a:t>
            </a:r>
            <a:endParaRPr lang="en-US" altLang="zh-CN" b="1" dirty="0"/>
          </a:p>
          <a:p>
            <a:pPr marL="0" indent="892175" eaLnBrk="1" hangingPunct="1">
              <a:spcBef>
                <a:spcPct val="60000"/>
              </a:spcBef>
              <a:buNone/>
            </a:pPr>
            <a:endParaRPr lang="en-US" altLang="zh-CN" b="1" dirty="0"/>
          </a:p>
          <a:p>
            <a:pPr marL="0" indent="892175" eaLnBrk="1" hangingPunct="1">
              <a:spcBef>
                <a:spcPct val="60000"/>
              </a:spcBef>
              <a:buNone/>
            </a:pPr>
            <a:r>
              <a:rPr lang="en-US" altLang="zh-CN" b="1" dirty="0"/>
              <a:t>5.3 </a:t>
            </a:r>
            <a:r>
              <a:rPr lang="zh-CN" altLang="en-US" b="1" dirty="0"/>
              <a:t>关系代数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50</a:t>
            </a:fld>
            <a:endParaRPr lang="zh-CN" altLang="en-US"/>
          </a:p>
        </p:txBody>
      </p:sp>
    </p:spTree>
    <p:extLst>
      <p:ext uri="{BB962C8B-B14F-4D97-AF65-F5344CB8AC3E}">
        <p14:creationId xmlns:p14="http://schemas.microsoft.com/office/powerpoint/2010/main" val="27613570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buFontTx/>
              <a:buNone/>
              <a:defRPr/>
            </a:pPr>
            <a:r>
              <a:rPr lang="en-US" altLang="zh-CN" sz="1800" b="1" dirty="0">
                <a:effectLst/>
                <a:ea typeface="宋体" panose="02010600030101010101" pitchFamily="2" charset="-122"/>
                <a:cs typeface="Times New Roman" panose="02020603050405020304" pitchFamily="18" charset="0"/>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关系代数运算</a:t>
            </a:r>
            <a:r>
              <a:rPr lang="en-US" altLang="zh-CN" sz="1800" b="1" dirty="0">
                <a:effectLst/>
                <a:ea typeface="宋体" panose="02010600030101010101" pitchFamily="2" charset="-122"/>
                <a:cs typeface="Times New Roman" panose="02020603050405020304" pitchFamily="18" charset="0"/>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是关系运算的一部分</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，它是一种</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形式化、代数化的关系操作系统</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，用于构造和优化查询。</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buFontTx/>
              <a:buNone/>
              <a:defRPr/>
            </a:pP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关系代数运算是一组封闭的运算，操作结果仍然是关系（表）。是 </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SQL </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等查询语言的理论基础。</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CAFE74B6-F93C-4D90-BE1A-7EFEDB35C0D4}" type="slidenum">
              <a:rPr lang="zh-CN" altLang="en-US" smtClean="0"/>
              <a:t>51</a:t>
            </a:fld>
            <a:endParaRPr lang="zh-CN" altLang="en-US"/>
          </a:p>
        </p:txBody>
      </p:sp>
    </p:spTree>
    <p:extLst>
      <p:ext uri="{BB962C8B-B14F-4D97-AF65-F5344CB8AC3E}">
        <p14:creationId xmlns:p14="http://schemas.microsoft.com/office/powerpoint/2010/main" val="30941386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buFontTx/>
              <a:buNone/>
              <a:defRPr/>
            </a:pPr>
            <a:r>
              <a:rPr lang="zh-CN" altLang="en-US" b="1" dirty="0">
                <a:solidFill>
                  <a:srgbClr val="FF0000"/>
                </a:solidFill>
                <a:latin typeface="Times New Roman" panose="02020603050405020304" pitchFamily="18" charset="0"/>
                <a:cs typeface="Times New Roman" panose="02020603050405020304" pitchFamily="18" charset="0"/>
              </a:rPr>
              <a:t>选择</a:t>
            </a:r>
            <a:r>
              <a:rPr lang="en-US" altLang="zh-CN" b="1" dirty="0">
                <a:latin typeface="Times New Roman" panose="02020603050405020304" pitchFamily="18" charset="0"/>
                <a:cs typeface="Times New Roman" panose="02020603050405020304" pitchFamily="18" charset="0"/>
              </a:rPr>
              <a:t>(Selection): </a:t>
            </a:r>
            <a:r>
              <a:rPr lang="zh-CN" altLang="en-US" b="1" dirty="0">
                <a:latin typeface="Times New Roman" panose="02020603050405020304" pitchFamily="18" charset="0"/>
                <a:cs typeface="Times New Roman" panose="02020603050405020304" pitchFamily="18" charset="0"/>
              </a:rPr>
              <a:t>从关系中选出满足给定条件的所有元组。</a:t>
            </a:r>
          </a:p>
          <a:p>
            <a:pPr marL="0" indent="0" eaLnBrk="1" hangingPunct="1">
              <a:buFontTx/>
              <a:buNone/>
              <a:defRPr/>
            </a:pPr>
            <a:r>
              <a:rPr lang="zh-CN" altLang="en-US" b="1" dirty="0">
                <a:solidFill>
                  <a:srgbClr val="FF0000"/>
                </a:solidFill>
                <a:latin typeface="Times New Roman" panose="02020603050405020304" pitchFamily="18" charset="0"/>
                <a:cs typeface="Times New Roman" panose="02020603050405020304" pitchFamily="18" charset="0"/>
              </a:rPr>
              <a:t>投影</a:t>
            </a:r>
            <a:r>
              <a:rPr lang="en-US" altLang="zh-CN" b="1" dirty="0">
                <a:latin typeface="Times New Roman" panose="02020603050405020304" pitchFamily="18" charset="0"/>
                <a:cs typeface="Times New Roman" panose="02020603050405020304" pitchFamily="18" charset="0"/>
              </a:rPr>
              <a:t>( Projection ):</a:t>
            </a:r>
            <a:r>
              <a:rPr lang="zh-CN" altLang="en-US" b="1" dirty="0">
                <a:latin typeface="Times New Roman" panose="02020603050405020304" pitchFamily="18" charset="0"/>
                <a:cs typeface="Times New Roman" panose="02020603050405020304" pitchFamily="18" charset="0"/>
              </a:rPr>
              <a:t>从关系中选择出一些列创建一个新的关系。</a:t>
            </a:r>
          </a:p>
          <a:p>
            <a:pPr marL="0" indent="0" eaLnBrk="1" hangingPunct="1">
              <a:buFontTx/>
              <a:buNone/>
              <a:defRPr/>
            </a:pPr>
            <a:r>
              <a:rPr lang="zh-CN" altLang="en-US" b="1" dirty="0">
                <a:solidFill>
                  <a:srgbClr val="FF0000"/>
                </a:solidFill>
                <a:latin typeface="Times New Roman" panose="02020603050405020304" pitchFamily="18" charset="0"/>
                <a:cs typeface="Times New Roman" panose="02020603050405020304" pitchFamily="18" charset="0"/>
              </a:rPr>
              <a:t>并集</a:t>
            </a:r>
            <a:r>
              <a:rPr lang="en-US" altLang="zh-CN" b="1" dirty="0">
                <a:latin typeface="Times New Roman" panose="02020603050405020304" pitchFamily="18" charset="0"/>
                <a:cs typeface="Times New Roman" panose="02020603050405020304" pitchFamily="18" charset="0"/>
              </a:rPr>
              <a:t>( Union ):</a:t>
            </a:r>
            <a:r>
              <a:rPr lang="zh-CN" altLang="en-US" b="1" dirty="0">
                <a:latin typeface="Times New Roman" panose="02020603050405020304" pitchFamily="18" charset="0"/>
                <a:cs typeface="Times New Roman" panose="02020603050405020304" pitchFamily="18" charset="0"/>
              </a:rPr>
              <a:t>将两个具有相同属性的关系合并为一个关系，表示为 </a:t>
            </a:r>
            <a:r>
              <a:rPr lang="en-US" altLang="zh-CN" b="1" dirty="0">
                <a:latin typeface="Times New Roman" panose="02020603050405020304" pitchFamily="18" charset="0"/>
                <a:cs typeface="Times New Roman" panose="02020603050405020304" pitchFamily="18" charset="0"/>
              </a:rPr>
              <a:t>R ∪ S</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eaLnBrk="1" hangingPunct="1">
              <a:buFontTx/>
              <a:buNone/>
              <a:defRPr/>
            </a:pPr>
            <a:r>
              <a:rPr lang="zh-CN" altLang="en-US" b="1" dirty="0">
                <a:solidFill>
                  <a:srgbClr val="FF0000"/>
                </a:solidFill>
                <a:latin typeface="Times New Roman" panose="02020603050405020304" pitchFamily="18" charset="0"/>
                <a:cs typeface="Times New Roman" panose="02020603050405020304" pitchFamily="18" charset="0"/>
              </a:rPr>
              <a:t>差集</a:t>
            </a:r>
            <a:r>
              <a:rPr lang="en-US" altLang="zh-CN" b="1" dirty="0">
                <a:latin typeface="Times New Roman" panose="02020603050405020304" pitchFamily="18" charset="0"/>
                <a:cs typeface="Times New Roman" panose="02020603050405020304" pitchFamily="18" charset="0"/>
              </a:rPr>
              <a:t>( Set Difference ):</a:t>
            </a:r>
            <a:r>
              <a:rPr lang="zh-CN" altLang="en-US" b="1" dirty="0">
                <a:latin typeface="Times New Roman" panose="02020603050405020304" pitchFamily="18" charset="0"/>
                <a:cs typeface="Times New Roman" panose="02020603050405020304" pitchFamily="18" charset="0"/>
              </a:rPr>
              <a:t>从一个关系中去除另一个关系中的元素，表示为 </a:t>
            </a:r>
            <a:r>
              <a:rPr lang="en-US" altLang="zh-CN" b="1" dirty="0">
                <a:latin typeface="Times New Roman" panose="02020603050405020304" pitchFamily="18" charset="0"/>
                <a:cs typeface="Times New Roman" panose="02020603050405020304" pitchFamily="18" charset="0"/>
              </a:rPr>
              <a:t>R – S</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eaLnBrk="1" hangingPunct="1">
              <a:buFontTx/>
              <a:buNone/>
              <a:defRPr/>
            </a:pPr>
            <a:r>
              <a:rPr lang="zh-CN" altLang="en-US" b="1" dirty="0">
                <a:solidFill>
                  <a:srgbClr val="FF0000"/>
                </a:solidFill>
                <a:latin typeface="Times New Roman" panose="02020603050405020304" pitchFamily="18" charset="0"/>
                <a:cs typeface="Times New Roman" panose="02020603050405020304" pitchFamily="18" charset="0"/>
              </a:rPr>
              <a:t>笛卡尔积</a:t>
            </a:r>
            <a:r>
              <a:rPr lang="en-US" altLang="zh-CN" sz="1200" b="1" dirty="0"/>
              <a:t>( Cartesian Product ):</a:t>
            </a:r>
            <a:r>
              <a:rPr lang="zh-CN" altLang="en-US" b="1" dirty="0">
                <a:latin typeface="Times New Roman" panose="02020603050405020304" pitchFamily="18" charset="0"/>
                <a:cs typeface="Times New Roman" panose="02020603050405020304" pitchFamily="18" charset="0"/>
              </a:rPr>
              <a:t>作用于两个关系的所有可能组合，表示为 </a:t>
            </a:r>
            <a:r>
              <a:rPr lang="en-US" altLang="zh-CN" b="1" dirty="0">
                <a:latin typeface="Times New Roman" panose="02020603050405020304" pitchFamily="18" charset="0"/>
                <a:cs typeface="Times New Roman" panose="02020603050405020304" pitchFamily="18" charset="0"/>
              </a:rPr>
              <a:t>R × S</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52</a:t>
            </a:fld>
            <a:endParaRPr lang="zh-CN" altLang="en-US"/>
          </a:p>
        </p:txBody>
      </p:sp>
    </p:spTree>
    <p:extLst>
      <p:ext uri="{BB962C8B-B14F-4D97-AF65-F5344CB8AC3E}">
        <p14:creationId xmlns:p14="http://schemas.microsoft.com/office/powerpoint/2010/main" val="21409038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buFontTx/>
              <a:buNone/>
              <a:defRPr/>
            </a:pPr>
            <a:r>
              <a:rPr lang="zh-CN" altLang="en-US" b="1" dirty="0">
                <a:solidFill>
                  <a:srgbClr val="FF0000"/>
                </a:solidFill>
                <a:latin typeface="Times New Roman" panose="02020603050405020304" pitchFamily="18" charset="0"/>
                <a:cs typeface="Times New Roman" panose="02020603050405020304" pitchFamily="18" charset="0"/>
              </a:rPr>
              <a:t>选择</a:t>
            </a:r>
            <a:r>
              <a:rPr lang="en-US" altLang="zh-CN" b="1" dirty="0">
                <a:latin typeface="Times New Roman" panose="02020603050405020304" pitchFamily="18" charset="0"/>
                <a:cs typeface="Times New Roman" panose="02020603050405020304" pitchFamily="18" charset="0"/>
              </a:rPr>
              <a:t>(Selection): </a:t>
            </a:r>
            <a:r>
              <a:rPr lang="zh-CN" altLang="en-US" b="1" dirty="0">
                <a:latin typeface="Times New Roman" panose="02020603050405020304" pitchFamily="18" charset="0"/>
                <a:cs typeface="Times New Roman" panose="02020603050405020304" pitchFamily="18" charset="0"/>
              </a:rPr>
              <a:t>从关系中选出满足给定条件的所有元组。</a:t>
            </a:r>
          </a:p>
          <a:p>
            <a:pPr marL="0" indent="0" eaLnBrk="1" hangingPunct="1">
              <a:buFontTx/>
              <a:buNone/>
              <a:defRPr/>
            </a:pPr>
            <a:r>
              <a:rPr lang="zh-CN" altLang="en-US" b="1" dirty="0">
                <a:solidFill>
                  <a:srgbClr val="FF0000"/>
                </a:solidFill>
                <a:latin typeface="Times New Roman" panose="02020603050405020304" pitchFamily="18" charset="0"/>
                <a:cs typeface="Times New Roman" panose="02020603050405020304" pitchFamily="18" charset="0"/>
              </a:rPr>
              <a:t>投影</a:t>
            </a:r>
            <a:r>
              <a:rPr lang="en-US" altLang="zh-CN" b="1" dirty="0">
                <a:latin typeface="Times New Roman" panose="02020603050405020304" pitchFamily="18" charset="0"/>
                <a:cs typeface="Times New Roman" panose="02020603050405020304" pitchFamily="18" charset="0"/>
              </a:rPr>
              <a:t>( Projection ):</a:t>
            </a:r>
            <a:r>
              <a:rPr lang="zh-CN" altLang="en-US" b="1" dirty="0">
                <a:latin typeface="Times New Roman" panose="02020603050405020304" pitchFamily="18" charset="0"/>
                <a:cs typeface="Times New Roman" panose="02020603050405020304" pitchFamily="18" charset="0"/>
              </a:rPr>
              <a:t>从关系中选择出一些列创建一个新的关系。</a:t>
            </a:r>
          </a:p>
          <a:p>
            <a:pPr marL="0" indent="0" eaLnBrk="1" hangingPunct="1">
              <a:buFontTx/>
              <a:buNone/>
              <a:defRPr/>
            </a:pPr>
            <a:r>
              <a:rPr lang="zh-CN" altLang="en-US" b="1" dirty="0">
                <a:solidFill>
                  <a:srgbClr val="FF0000"/>
                </a:solidFill>
                <a:latin typeface="Times New Roman" panose="02020603050405020304" pitchFamily="18" charset="0"/>
                <a:cs typeface="Times New Roman" panose="02020603050405020304" pitchFamily="18" charset="0"/>
              </a:rPr>
              <a:t>并集</a:t>
            </a:r>
            <a:r>
              <a:rPr lang="en-US" altLang="zh-CN" b="1" dirty="0">
                <a:latin typeface="Times New Roman" panose="02020603050405020304" pitchFamily="18" charset="0"/>
                <a:cs typeface="Times New Roman" panose="02020603050405020304" pitchFamily="18" charset="0"/>
              </a:rPr>
              <a:t>( Union ):</a:t>
            </a:r>
            <a:r>
              <a:rPr lang="zh-CN" altLang="en-US" b="1" dirty="0">
                <a:latin typeface="Times New Roman" panose="02020603050405020304" pitchFamily="18" charset="0"/>
                <a:cs typeface="Times New Roman" panose="02020603050405020304" pitchFamily="18" charset="0"/>
              </a:rPr>
              <a:t>将两个具有相同属性的关系合并为一个关系，表示为 </a:t>
            </a:r>
            <a:r>
              <a:rPr lang="en-US" altLang="zh-CN" b="1" dirty="0">
                <a:latin typeface="Times New Roman" panose="02020603050405020304" pitchFamily="18" charset="0"/>
                <a:cs typeface="Times New Roman" panose="02020603050405020304" pitchFamily="18" charset="0"/>
              </a:rPr>
              <a:t>R ∪ S</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eaLnBrk="1" hangingPunct="1">
              <a:buFontTx/>
              <a:buNone/>
              <a:defRPr/>
            </a:pPr>
            <a:r>
              <a:rPr lang="zh-CN" altLang="en-US" b="1" dirty="0">
                <a:solidFill>
                  <a:srgbClr val="FF0000"/>
                </a:solidFill>
                <a:latin typeface="Times New Roman" panose="02020603050405020304" pitchFamily="18" charset="0"/>
                <a:cs typeface="Times New Roman" panose="02020603050405020304" pitchFamily="18" charset="0"/>
              </a:rPr>
              <a:t>差集</a:t>
            </a:r>
            <a:r>
              <a:rPr lang="en-US" altLang="zh-CN" b="1" dirty="0">
                <a:latin typeface="Times New Roman" panose="02020603050405020304" pitchFamily="18" charset="0"/>
                <a:cs typeface="Times New Roman" panose="02020603050405020304" pitchFamily="18" charset="0"/>
              </a:rPr>
              <a:t>( Set Difference ):</a:t>
            </a:r>
            <a:r>
              <a:rPr lang="zh-CN" altLang="en-US" b="1" dirty="0">
                <a:latin typeface="Times New Roman" panose="02020603050405020304" pitchFamily="18" charset="0"/>
                <a:cs typeface="Times New Roman" panose="02020603050405020304" pitchFamily="18" charset="0"/>
              </a:rPr>
              <a:t>从一个关系中去除另一个关系中的元素，表示为 </a:t>
            </a:r>
            <a:r>
              <a:rPr lang="en-US" altLang="zh-CN" b="1" dirty="0">
                <a:latin typeface="Times New Roman" panose="02020603050405020304" pitchFamily="18" charset="0"/>
                <a:cs typeface="Times New Roman" panose="02020603050405020304" pitchFamily="18" charset="0"/>
              </a:rPr>
              <a:t>R – S</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eaLnBrk="1" hangingPunct="1">
              <a:buFontTx/>
              <a:buNone/>
              <a:defRPr/>
            </a:pPr>
            <a:r>
              <a:rPr lang="zh-CN" altLang="en-US" b="1" dirty="0">
                <a:solidFill>
                  <a:srgbClr val="FF0000"/>
                </a:solidFill>
                <a:latin typeface="Times New Roman" panose="02020603050405020304" pitchFamily="18" charset="0"/>
                <a:cs typeface="Times New Roman" panose="02020603050405020304" pitchFamily="18" charset="0"/>
              </a:rPr>
              <a:t>笛卡尔积</a:t>
            </a:r>
            <a:r>
              <a:rPr lang="en-US" altLang="zh-CN" sz="1200" b="1" dirty="0"/>
              <a:t>( Cartesian Product ):</a:t>
            </a:r>
            <a:r>
              <a:rPr lang="zh-CN" altLang="en-US" b="1" dirty="0">
                <a:latin typeface="Times New Roman" panose="02020603050405020304" pitchFamily="18" charset="0"/>
                <a:cs typeface="Times New Roman" panose="02020603050405020304" pitchFamily="18" charset="0"/>
              </a:rPr>
              <a:t>作用于两个关系的所有可能组合，表示为 </a:t>
            </a:r>
            <a:r>
              <a:rPr lang="en-US" altLang="zh-CN" b="1" dirty="0">
                <a:latin typeface="Times New Roman" panose="02020603050405020304" pitchFamily="18" charset="0"/>
                <a:cs typeface="Times New Roman" panose="02020603050405020304" pitchFamily="18" charset="0"/>
              </a:rPr>
              <a:t>R × S</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53</a:t>
            </a:fld>
            <a:endParaRPr lang="zh-CN" altLang="en-US"/>
          </a:p>
        </p:txBody>
      </p:sp>
    </p:spTree>
    <p:extLst>
      <p:ext uri="{BB962C8B-B14F-4D97-AF65-F5344CB8AC3E}">
        <p14:creationId xmlns:p14="http://schemas.microsoft.com/office/powerpoint/2010/main" val="5079302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800" dirty="0"/>
              <a:t>SQL </a:t>
            </a:r>
            <a:r>
              <a:rPr lang="zh-CN" altLang="en-US" sz="2800" dirty="0"/>
              <a:t>是关系代数和关系演算的实际应用语言，可针对关系数据库执行交集、查询、插入、更新和删除等操作。</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从</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R</a:t>
            </a:r>
            <a:r>
              <a:rPr lang="zh-CN" altLang="zh-CN" sz="1800" kern="100" dirty="0">
                <a:solidFill>
                  <a:srgbClr val="374151"/>
                </a:solidFill>
                <a:effectLst/>
                <a:latin typeface="等线" panose="02010600030101010101" pitchFamily="2" charset="-122"/>
                <a:ea typeface="宋体" panose="02010600030101010101" pitchFamily="2" charset="-122"/>
                <a:cs typeface="宋体" panose="02010600030101010101" pitchFamily="2" charset="-122"/>
              </a:rPr>
              <a:t>∪</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 中减去 </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R</a:t>
            </a:r>
            <a:r>
              <a:rPr lang="en-US" altLang="zh-CN" sz="1800" i="1"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S</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 和 </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S</a:t>
            </a:r>
            <a:r>
              <a:rPr lang="en-US" altLang="zh-CN" sz="1800" i="1"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R</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，你实际上是在移除那些只存在于</a:t>
            </a:r>
            <a:r>
              <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rPr>
              <a:t> R </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或只存在于</a:t>
            </a:r>
            <a:r>
              <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rPr>
              <a:t> S </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的元素，最终留下的就是</a:t>
            </a:r>
            <a:r>
              <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rPr>
              <a:t> R </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rPr>
              <a:t> S </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的共有元素，即它们的交集 </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R</a:t>
            </a:r>
            <a:r>
              <a:rPr lang="en-US" altLang="zh-CN" sz="1800" i="1"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S</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 </a:t>
            </a:r>
            <a:endPar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eaLnBrk="1" hangingPunct="1">
              <a:buFontTx/>
              <a:buNone/>
              <a:defRPr/>
            </a:pPr>
            <a:r>
              <a:rPr lang="zh-CN" altLang="en-US" b="1" dirty="0">
                <a:solidFill>
                  <a:srgbClr val="FF0000"/>
                </a:solidFill>
              </a:rPr>
              <a:t>重命名</a:t>
            </a:r>
            <a:r>
              <a:rPr lang="en-US" altLang="zh-CN" b="1" dirty="0">
                <a:latin typeface="Times New Roman" panose="02020603050405020304" pitchFamily="18" charset="0"/>
                <a:cs typeface="Times New Roman" panose="02020603050405020304" pitchFamily="18" charset="0"/>
              </a:rPr>
              <a:t>(Rename):</a:t>
            </a:r>
            <a:r>
              <a:rPr lang="zh-CN" altLang="en-US" b="1" dirty="0"/>
              <a:t>改变关系中属性的名字</a:t>
            </a:r>
          </a:p>
          <a:p>
            <a:pPr marL="0" indent="0" eaLnBrk="1" hangingPunct="1">
              <a:buFontTx/>
              <a:buNone/>
              <a:defRPr/>
            </a:pPr>
            <a:r>
              <a:rPr lang="zh-CN" altLang="en-US" b="1" dirty="0">
                <a:solidFill>
                  <a:srgbClr val="FF0000"/>
                </a:solidFill>
              </a:rPr>
              <a:t>自然连接</a:t>
            </a:r>
            <a:r>
              <a:rPr lang="en-US" altLang="zh-CN" b="1" dirty="0">
                <a:latin typeface="Times New Roman" panose="02020603050405020304" pitchFamily="18" charset="0"/>
                <a:cs typeface="Times New Roman" panose="02020603050405020304" pitchFamily="18" charset="0"/>
              </a:rPr>
              <a:t>(Natural Join):</a:t>
            </a:r>
            <a:r>
              <a:rPr lang="zh-CN" altLang="en-US" b="1" dirty="0"/>
              <a:t>根据两个关系中相同的属性来合并它们，表示为 </a:t>
            </a:r>
            <a:r>
              <a:rPr lang="en-US" altLang="zh-CN" b="1" dirty="0"/>
              <a:t>R ⨝ S</a:t>
            </a:r>
            <a:r>
              <a:rPr lang="zh-CN" altLang="en-US" b="1" dirty="0"/>
              <a:t>。</a:t>
            </a:r>
            <a:endParaRPr lang="en-US" altLang="zh-CN" b="1" dirty="0"/>
          </a:p>
          <a:p>
            <a:pPr marL="0" indent="0">
              <a:buNone/>
              <a:defRPr/>
            </a:pPr>
            <a:r>
              <a:rPr lang="zh-CN" altLang="zh-CN" b="1" dirty="0">
                <a:solidFill>
                  <a:srgbClr val="FF0000"/>
                </a:solidFill>
                <a:latin typeface="Times New Roman" panose="02020603050405020304" pitchFamily="18" charset="0"/>
                <a:cs typeface="Times New Roman" panose="02020603050405020304" pitchFamily="18" charset="0"/>
              </a:rPr>
              <a:t>交集</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Intersection</a:t>
            </a:r>
            <a:r>
              <a:rPr lang="zh-CN"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R ∩ S</a:t>
            </a:r>
            <a:r>
              <a:rPr lang="zh-CN" altLang="zh-CN" b="1" dirty="0">
                <a:latin typeface="Times New Roman" panose="02020603050405020304" pitchFamily="18" charset="0"/>
                <a:cs typeface="Times New Roman" panose="02020603050405020304" pitchFamily="18" charset="0"/>
              </a:rPr>
              <a:t>不是基本操作之一，它可以通过并集和差集操作组合而成</a:t>
            </a:r>
            <a:r>
              <a:rPr lang="zh-CN" altLang="en-US" b="1" dirty="0">
                <a:latin typeface="Times New Roman" panose="02020603050405020304" pitchFamily="18" charset="0"/>
                <a:cs typeface="Times New Roman" panose="02020603050405020304" pitchFamily="18" charset="0"/>
              </a:rPr>
              <a:t>。即：</a:t>
            </a:r>
            <a:endParaRPr lang="en-US" altLang="zh-CN" b="1" dirty="0">
              <a:latin typeface="Times New Roman" panose="02020603050405020304" pitchFamily="18" charset="0"/>
              <a:cs typeface="Times New Roman" panose="02020603050405020304" pitchFamily="18" charset="0"/>
            </a:endParaRPr>
          </a:p>
          <a:p>
            <a:pPr marL="0" indent="0">
              <a:buNone/>
              <a:defRPr/>
            </a:pPr>
            <a:r>
              <a:rPr lang="zh-CN" altLang="zh-CN" sz="1000" dirty="0">
                <a:solidFill>
                  <a:srgbClr val="374151"/>
                </a:solidFill>
                <a:effectLst/>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R ∩ S =</a:t>
            </a:r>
            <a:r>
              <a:rPr lang="zh-CN" altLang="zh-CN" b="1" dirty="0">
                <a:latin typeface="Times New Roman" panose="02020603050405020304" pitchFamily="18" charset="0"/>
                <a:cs typeface="Times New Roman" panose="02020603050405020304" pitchFamily="18" charset="0"/>
              </a:rPr>
              <a:t>（</a:t>
            </a:r>
            <a:r>
              <a:rPr lang="zh-CN" altLang="zh-CN" sz="1000"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R </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S</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R - S</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S - R</a:t>
            </a:r>
            <a:r>
              <a:rPr lang="zh-CN"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eaLnBrk="1" hangingPunct="1">
              <a:buFontTx/>
              <a:buNone/>
              <a:defRPr/>
            </a:pPr>
            <a:r>
              <a:rPr lang="zh-CN" altLang="zh-CN" b="1" dirty="0">
                <a:latin typeface="Times New Roman" panose="02020603050405020304" pitchFamily="18" charset="0"/>
                <a:cs typeface="Times New Roman" panose="02020603050405020304" pitchFamily="18" charset="0"/>
              </a:rPr>
              <a:t>在实际的关系数据库系统中，</a:t>
            </a:r>
            <a:r>
              <a:rPr lang="zh-CN" altLang="en-US" b="1" dirty="0">
                <a:latin typeface="Times New Roman" panose="02020603050405020304" pitchFamily="18" charset="0"/>
                <a:cs typeface="Times New Roman" panose="02020603050405020304" pitchFamily="18" charset="0"/>
              </a:rPr>
              <a:t>结构化查询语言</a:t>
            </a:r>
            <a:r>
              <a:rPr lang="en-US" altLang="zh-CN" b="1" dirty="0">
                <a:latin typeface="Times New Roman" panose="02020603050405020304" pitchFamily="18" charset="0"/>
                <a:cs typeface="Times New Roman" panose="02020603050405020304" pitchFamily="18" charset="0"/>
              </a:rPr>
              <a:t>SQL</a:t>
            </a:r>
            <a:r>
              <a:rPr lang="zh-CN" altLang="zh-CN" b="1" dirty="0">
                <a:latin typeface="Times New Roman" panose="02020603050405020304" pitchFamily="18" charset="0"/>
                <a:cs typeface="Times New Roman" panose="02020603050405020304" pitchFamily="18" charset="0"/>
              </a:rPr>
              <a:t>通常提供了直接计算交集的操作</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SQL</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Structured Query Language</a:t>
            </a:r>
            <a:r>
              <a:rPr lang="zh-CN" altLang="en-US" b="1" dirty="0">
                <a:latin typeface="Times New Roman" panose="02020603050405020304" pitchFamily="18" charset="0"/>
                <a:cs typeface="Times New Roman" panose="02020603050405020304" pitchFamily="18" charset="0"/>
              </a:rPr>
              <a:t>）是一种实际用于关系型数据库管理系统（</a:t>
            </a:r>
            <a:r>
              <a:rPr lang="en-US" altLang="zh-CN" b="1" dirty="0">
                <a:latin typeface="Times New Roman" panose="02020603050405020304" pitchFamily="18" charset="0"/>
                <a:cs typeface="Times New Roman" panose="02020603050405020304" pitchFamily="18" charset="0"/>
              </a:rPr>
              <a:t>RDBMS</a:t>
            </a:r>
            <a:r>
              <a:rPr lang="zh-CN" altLang="en-US" b="1" dirty="0">
                <a:latin typeface="Times New Roman" panose="02020603050405020304" pitchFamily="18" charset="0"/>
                <a:cs typeface="Times New Roman" panose="02020603050405020304" pitchFamily="18" charset="0"/>
              </a:rPr>
              <a:t>）的查询和编程语言。它是关系代数概念的实际实现，允许用户执行数据检索、更新、插入和删除等操作</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54</a:t>
            </a:fld>
            <a:endParaRPr lang="zh-CN" altLang="en-US"/>
          </a:p>
        </p:txBody>
      </p:sp>
    </p:spTree>
    <p:extLst>
      <p:ext uri="{BB962C8B-B14F-4D97-AF65-F5344CB8AC3E}">
        <p14:creationId xmlns:p14="http://schemas.microsoft.com/office/powerpoint/2010/main" val="6546490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从</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R</a:t>
            </a:r>
            <a:r>
              <a:rPr lang="zh-CN" altLang="zh-CN" sz="1800" kern="100" dirty="0">
                <a:solidFill>
                  <a:srgbClr val="374151"/>
                </a:solidFill>
                <a:effectLst/>
                <a:latin typeface="等线" panose="02010600030101010101" pitchFamily="2" charset="-122"/>
                <a:ea typeface="宋体" panose="02010600030101010101" pitchFamily="2" charset="-122"/>
                <a:cs typeface="宋体" panose="02010600030101010101" pitchFamily="2" charset="-122"/>
              </a:rPr>
              <a:t>∪</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 中减去 </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R</a:t>
            </a:r>
            <a:r>
              <a:rPr lang="en-US" altLang="zh-CN" sz="1800" i="1"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S</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 和 </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S</a:t>
            </a:r>
            <a:r>
              <a:rPr lang="en-US" altLang="zh-CN" sz="1800" i="1"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R</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，你实际上是在移除那些只存在于</a:t>
            </a:r>
            <a:r>
              <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rPr>
              <a:t> R </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或只存在于</a:t>
            </a:r>
            <a:r>
              <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rPr>
              <a:t> S </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的元素，最终留下的就是</a:t>
            </a:r>
            <a:r>
              <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rPr>
              <a:t> R </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rPr>
              <a:t> S </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的共有元素，即它们的交集 </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R</a:t>
            </a:r>
            <a:r>
              <a:rPr lang="en-US" altLang="zh-CN" sz="1800" i="1"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S</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 </a:t>
            </a:r>
            <a:endPar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eaLnBrk="1" hangingPunct="1">
              <a:buFontTx/>
              <a:buNone/>
              <a:defRPr/>
            </a:pPr>
            <a:r>
              <a:rPr lang="zh-CN" altLang="en-US" b="1" dirty="0">
                <a:solidFill>
                  <a:srgbClr val="FF0000"/>
                </a:solidFill>
              </a:rPr>
              <a:t>重命名</a:t>
            </a:r>
            <a:r>
              <a:rPr lang="en-US" altLang="zh-CN" b="1" dirty="0">
                <a:latin typeface="Times New Roman" panose="02020603050405020304" pitchFamily="18" charset="0"/>
                <a:cs typeface="Times New Roman" panose="02020603050405020304" pitchFamily="18" charset="0"/>
              </a:rPr>
              <a:t>(Rename):</a:t>
            </a:r>
            <a:r>
              <a:rPr lang="zh-CN" altLang="en-US" b="1" dirty="0"/>
              <a:t>改变关系中属性的名字</a:t>
            </a:r>
          </a:p>
          <a:p>
            <a:pPr marL="0" indent="0" eaLnBrk="1" hangingPunct="1">
              <a:buFontTx/>
              <a:buNone/>
              <a:defRPr/>
            </a:pPr>
            <a:r>
              <a:rPr lang="zh-CN" altLang="en-US" b="1" dirty="0">
                <a:solidFill>
                  <a:srgbClr val="FF0000"/>
                </a:solidFill>
              </a:rPr>
              <a:t>自然连接</a:t>
            </a:r>
            <a:r>
              <a:rPr lang="en-US" altLang="zh-CN" b="1" dirty="0">
                <a:latin typeface="Times New Roman" panose="02020603050405020304" pitchFamily="18" charset="0"/>
                <a:cs typeface="Times New Roman" panose="02020603050405020304" pitchFamily="18" charset="0"/>
              </a:rPr>
              <a:t>(Natural Join):</a:t>
            </a:r>
            <a:r>
              <a:rPr lang="zh-CN" altLang="en-US" b="1" dirty="0"/>
              <a:t>根据两个关系中相同的属性来合并它们，表示为 </a:t>
            </a:r>
            <a:r>
              <a:rPr lang="en-US" altLang="zh-CN" b="1" dirty="0"/>
              <a:t>R ⨝ S</a:t>
            </a:r>
            <a:r>
              <a:rPr lang="zh-CN" altLang="en-US" b="1" dirty="0"/>
              <a:t>。</a:t>
            </a:r>
            <a:endParaRPr lang="en-US" altLang="zh-CN" b="1" dirty="0"/>
          </a:p>
          <a:p>
            <a:pPr marL="0" indent="0">
              <a:buNone/>
              <a:defRPr/>
            </a:pPr>
            <a:r>
              <a:rPr lang="zh-CN" altLang="zh-CN" b="1" dirty="0">
                <a:solidFill>
                  <a:srgbClr val="FF0000"/>
                </a:solidFill>
                <a:latin typeface="Times New Roman" panose="02020603050405020304" pitchFamily="18" charset="0"/>
                <a:cs typeface="Times New Roman" panose="02020603050405020304" pitchFamily="18" charset="0"/>
              </a:rPr>
              <a:t>交集</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Intersection</a:t>
            </a:r>
            <a:r>
              <a:rPr lang="zh-CN"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R ∩ S</a:t>
            </a:r>
            <a:r>
              <a:rPr lang="zh-CN" altLang="zh-CN" b="1" dirty="0">
                <a:latin typeface="Times New Roman" panose="02020603050405020304" pitchFamily="18" charset="0"/>
                <a:cs typeface="Times New Roman" panose="02020603050405020304" pitchFamily="18" charset="0"/>
              </a:rPr>
              <a:t>不是基本操作之一，它可以通过并集和差集操作组合而成</a:t>
            </a:r>
            <a:r>
              <a:rPr lang="zh-CN" altLang="en-US" b="1" dirty="0">
                <a:latin typeface="Times New Roman" panose="02020603050405020304" pitchFamily="18" charset="0"/>
                <a:cs typeface="Times New Roman" panose="02020603050405020304" pitchFamily="18" charset="0"/>
              </a:rPr>
              <a:t>。即：</a:t>
            </a:r>
            <a:endParaRPr lang="en-US" altLang="zh-CN" b="1" dirty="0">
              <a:latin typeface="Times New Roman" panose="02020603050405020304" pitchFamily="18" charset="0"/>
              <a:cs typeface="Times New Roman" panose="02020603050405020304" pitchFamily="18" charset="0"/>
            </a:endParaRPr>
          </a:p>
          <a:p>
            <a:pPr marL="0" indent="0">
              <a:buNone/>
              <a:defRPr/>
            </a:pPr>
            <a:r>
              <a:rPr lang="zh-CN" altLang="zh-CN" sz="1000" dirty="0">
                <a:solidFill>
                  <a:srgbClr val="374151"/>
                </a:solidFill>
                <a:effectLst/>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R ∩ S =</a:t>
            </a:r>
            <a:r>
              <a:rPr lang="zh-CN" altLang="zh-CN" b="1" dirty="0">
                <a:latin typeface="Times New Roman" panose="02020603050405020304" pitchFamily="18" charset="0"/>
                <a:cs typeface="Times New Roman" panose="02020603050405020304" pitchFamily="18" charset="0"/>
              </a:rPr>
              <a:t>（</a:t>
            </a:r>
            <a:r>
              <a:rPr lang="zh-CN" altLang="zh-CN" sz="1000"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R </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S</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R - S</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S - R</a:t>
            </a:r>
            <a:r>
              <a:rPr lang="zh-CN"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eaLnBrk="1" hangingPunct="1">
              <a:buFontTx/>
              <a:buNone/>
              <a:defRPr/>
            </a:pPr>
            <a:r>
              <a:rPr lang="zh-CN" altLang="zh-CN" b="1" dirty="0">
                <a:latin typeface="Times New Roman" panose="02020603050405020304" pitchFamily="18" charset="0"/>
                <a:cs typeface="Times New Roman" panose="02020603050405020304" pitchFamily="18" charset="0"/>
              </a:rPr>
              <a:t>在实际的关系数据库系统中，</a:t>
            </a:r>
            <a:r>
              <a:rPr lang="zh-CN" altLang="en-US" b="1" dirty="0">
                <a:latin typeface="Times New Roman" panose="02020603050405020304" pitchFamily="18" charset="0"/>
                <a:cs typeface="Times New Roman" panose="02020603050405020304" pitchFamily="18" charset="0"/>
              </a:rPr>
              <a:t>结构化查询语言</a:t>
            </a:r>
            <a:r>
              <a:rPr lang="en-US" altLang="zh-CN" b="1" dirty="0">
                <a:latin typeface="Times New Roman" panose="02020603050405020304" pitchFamily="18" charset="0"/>
                <a:cs typeface="Times New Roman" panose="02020603050405020304" pitchFamily="18" charset="0"/>
              </a:rPr>
              <a:t>SQL</a:t>
            </a:r>
            <a:r>
              <a:rPr lang="zh-CN" altLang="zh-CN" b="1" dirty="0">
                <a:latin typeface="Times New Roman" panose="02020603050405020304" pitchFamily="18" charset="0"/>
                <a:cs typeface="Times New Roman" panose="02020603050405020304" pitchFamily="18" charset="0"/>
              </a:rPr>
              <a:t>通常提供了直接计算交集的操作</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SQL</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Structured Query Language</a:t>
            </a:r>
            <a:r>
              <a:rPr lang="zh-CN" altLang="en-US" b="1" dirty="0">
                <a:latin typeface="Times New Roman" panose="02020603050405020304" pitchFamily="18" charset="0"/>
                <a:cs typeface="Times New Roman" panose="02020603050405020304" pitchFamily="18" charset="0"/>
              </a:rPr>
              <a:t>）是一种实际用于关系型数据库管理系统（</a:t>
            </a:r>
            <a:r>
              <a:rPr lang="en-US" altLang="zh-CN" b="1" dirty="0">
                <a:latin typeface="Times New Roman" panose="02020603050405020304" pitchFamily="18" charset="0"/>
                <a:cs typeface="Times New Roman" panose="02020603050405020304" pitchFamily="18" charset="0"/>
              </a:rPr>
              <a:t>RDBMS</a:t>
            </a:r>
            <a:r>
              <a:rPr lang="zh-CN" altLang="en-US" b="1" dirty="0">
                <a:latin typeface="Times New Roman" panose="02020603050405020304" pitchFamily="18" charset="0"/>
                <a:cs typeface="Times New Roman" panose="02020603050405020304" pitchFamily="18" charset="0"/>
              </a:rPr>
              <a:t>）的查询和编程语言。它是关系代数概念的实际实现，允许用户执行数据检索、更新、插入和删除等操作</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55</a:t>
            </a:fld>
            <a:endParaRPr lang="zh-CN" altLang="en-US"/>
          </a:p>
        </p:txBody>
      </p:sp>
    </p:spTree>
    <p:extLst>
      <p:ext uri="{BB962C8B-B14F-4D97-AF65-F5344CB8AC3E}">
        <p14:creationId xmlns:p14="http://schemas.microsoft.com/office/powerpoint/2010/main" val="27438252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lnSpc>
                <a:spcPct val="110000"/>
              </a:lnSpc>
              <a:buFontTx/>
              <a:buNone/>
              <a:defRPr/>
            </a:pPr>
            <a:r>
              <a:rPr lang="zh-CN" altLang="en-US" b="1" dirty="0"/>
              <a:t>数据库存的数据表看作关系，</a:t>
            </a:r>
            <a:r>
              <a:rPr lang="zh-CN" altLang="zh-CN" b="1" dirty="0"/>
              <a:t>关系是若干元组的集合，元组</a:t>
            </a:r>
            <a:r>
              <a:rPr lang="en-US" altLang="zh-CN" b="1" dirty="0"/>
              <a:t>&lt;</a:t>
            </a:r>
            <a:r>
              <a:rPr lang="en-US" altLang="zh-CN" b="1" i="1" dirty="0"/>
              <a:t>A</a:t>
            </a:r>
            <a:r>
              <a:rPr lang="en-US" altLang="zh-CN" b="1" baseline="-25000" dirty="0"/>
              <a:t>1</a:t>
            </a:r>
            <a:r>
              <a:rPr lang="en-US" altLang="zh-CN" b="1" dirty="0"/>
              <a:t>,</a:t>
            </a:r>
            <a:r>
              <a:rPr lang="en-US" altLang="zh-CN" b="1" i="1" dirty="0"/>
              <a:t>A</a:t>
            </a:r>
            <a:r>
              <a:rPr lang="en-US" altLang="zh-CN" b="1" baseline="-25000" dirty="0"/>
              <a:t>2</a:t>
            </a:r>
            <a:r>
              <a:rPr lang="en-US" altLang="zh-CN" b="1" dirty="0"/>
              <a:t>,…,</a:t>
            </a:r>
            <a:r>
              <a:rPr lang="en-US" altLang="zh-CN" b="1" i="1" dirty="0"/>
              <a:t>A</a:t>
            </a:r>
            <a:r>
              <a:rPr lang="en-US" altLang="zh-CN" b="1" i="1" baseline="-25000" dirty="0"/>
              <a:t>n</a:t>
            </a:r>
            <a:r>
              <a:rPr lang="en-US" altLang="zh-CN" b="1" dirty="0"/>
              <a:t>&gt;</a:t>
            </a:r>
            <a:r>
              <a:rPr lang="zh-CN" altLang="zh-CN" b="1" dirty="0"/>
              <a:t>代表该关系有</a:t>
            </a:r>
            <a:r>
              <a:rPr lang="en-US" altLang="zh-CN" b="1" i="1" dirty="0"/>
              <a:t>n</a:t>
            </a:r>
            <a:r>
              <a:rPr lang="zh-CN" altLang="zh-CN" b="1" dirty="0"/>
              <a:t>个属性</a:t>
            </a:r>
            <a:r>
              <a:rPr lang="en-US" altLang="zh-CN" b="1" dirty="0"/>
              <a:t>.  </a:t>
            </a:r>
          </a:p>
          <a:p>
            <a:pPr marL="0" indent="0" eaLnBrk="1" hangingPunct="1">
              <a:lnSpc>
                <a:spcPct val="110000"/>
              </a:lnSpc>
              <a:buFontTx/>
              <a:buNone/>
              <a:defRPr/>
            </a:pPr>
            <a:r>
              <a:rPr lang="zh-CN" altLang="en-US" b="1" dirty="0">
                <a:solidFill>
                  <a:srgbClr val="00B0F0"/>
                </a:solidFill>
              </a:rPr>
              <a:t>实例：</a:t>
            </a:r>
            <a:endParaRPr lang="en-US" altLang="zh-CN" b="1" dirty="0">
              <a:solidFill>
                <a:srgbClr val="00B0F0"/>
              </a:solidFill>
            </a:endParaRPr>
          </a:p>
          <a:p>
            <a:pPr marL="0" indent="0" eaLnBrk="1" hangingPunct="1">
              <a:lnSpc>
                <a:spcPct val="110000"/>
              </a:lnSpc>
              <a:buFontTx/>
              <a:buNone/>
              <a:defRPr/>
            </a:pPr>
            <a:r>
              <a:rPr lang="en-US" altLang="zh-CN" b="1" dirty="0"/>
              <a:t>            &lt;</a:t>
            </a:r>
            <a:r>
              <a:rPr lang="zh-CN" altLang="en-US" b="1" dirty="0"/>
              <a:t>编号</a:t>
            </a:r>
            <a:r>
              <a:rPr lang="en-US" altLang="zh-CN" b="1" dirty="0"/>
              <a:t>,</a:t>
            </a:r>
            <a:r>
              <a:rPr lang="zh-CN" altLang="en-US" b="1" dirty="0"/>
              <a:t>姓名</a:t>
            </a:r>
            <a:r>
              <a:rPr lang="en-US" altLang="zh-CN" b="1" dirty="0"/>
              <a:t>,</a:t>
            </a:r>
            <a:r>
              <a:rPr lang="zh-CN" altLang="en-US" b="1" dirty="0"/>
              <a:t>年龄</a:t>
            </a:r>
            <a:r>
              <a:rPr lang="en-US" altLang="zh-CN" b="1" dirty="0"/>
              <a:t>,</a:t>
            </a:r>
            <a:r>
              <a:rPr lang="zh-CN" altLang="en-US" b="1" dirty="0"/>
              <a:t>地址</a:t>
            </a:r>
            <a:r>
              <a:rPr lang="en-US" altLang="zh-CN" b="1" dirty="0"/>
              <a:t>,</a:t>
            </a:r>
            <a:r>
              <a:rPr lang="zh-CN" altLang="en-US" b="1" dirty="0"/>
              <a:t>手机</a:t>
            </a:r>
            <a:r>
              <a:rPr lang="en-US" altLang="zh-CN" b="1" dirty="0"/>
              <a:t>,Email&gt;</a:t>
            </a:r>
          </a:p>
          <a:p>
            <a:pPr eaLnBrk="1" hangingPunct="1">
              <a:lnSpc>
                <a:spcPct val="110000"/>
              </a:lnSpc>
              <a:spcBef>
                <a:spcPts val="1800"/>
              </a:spcBef>
              <a:buFontTx/>
              <a:buNone/>
              <a:defRPr/>
            </a:pPr>
            <a:r>
              <a:rPr lang="zh-CN" altLang="zh-CN" b="1" dirty="0"/>
              <a:t>设</a:t>
            </a:r>
            <a:r>
              <a:rPr lang="en-US" altLang="zh-CN" b="1" i="1" dirty="0"/>
              <a:t>R</a:t>
            </a:r>
            <a:r>
              <a:rPr lang="zh-CN" altLang="zh-CN" b="1" dirty="0"/>
              <a:t>与</a:t>
            </a:r>
            <a:r>
              <a:rPr lang="en-US" altLang="zh-CN" b="1" i="1" dirty="0"/>
              <a:t>S</a:t>
            </a:r>
            <a:r>
              <a:rPr lang="zh-CN" altLang="zh-CN" b="1" dirty="0"/>
              <a:t>是具有相同属性的</a:t>
            </a:r>
            <a:r>
              <a:rPr lang="en-US" altLang="zh-CN" b="1" i="1" dirty="0"/>
              <a:t>m</a:t>
            </a:r>
            <a:r>
              <a:rPr lang="zh-CN" altLang="zh-CN" b="1" dirty="0"/>
              <a:t>元关系，其中的</a:t>
            </a:r>
            <a:r>
              <a:rPr lang="en-US" altLang="zh-CN" b="1" i="1" dirty="0"/>
              <a:t>m</a:t>
            </a:r>
            <a:r>
              <a:rPr lang="zh-CN" altLang="zh-CN" b="1" dirty="0"/>
              <a:t>个属性记作</a:t>
            </a:r>
            <a:endParaRPr lang="en-US" altLang="zh-CN" b="1" dirty="0"/>
          </a:p>
          <a:p>
            <a:pPr eaLnBrk="1" hangingPunct="1">
              <a:lnSpc>
                <a:spcPct val="110000"/>
              </a:lnSpc>
              <a:buFontTx/>
              <a:buNone/>
              <a:defRPr/>
            </a:pPr>
            <a:r>
              <a:rPr lang="en-US" altLang="zh-CN" b="1" i="1" dirty="0"/>
              <a:t>A</a:t>
            </a:r>
            <a:r>
              <a:rPr lang="en-US" altLang="zh-CN" b="1" baseline="-25000" dirty="0"/>
              <a:t>1</a:t>
            </a:r>
            <a:r>
              <a:rPr lang="en-US" altLang="zh-CN" b="1" dirty="0"/>
              <a:t>,</a:t>
            </a:r>
            <a:r>
              <a:rPr lang="en-US" altLang="zh-CN" b="1" i="1" dirty="0"/>
              <a:t>A</a:t>
            </a:r>
            <a:r>
              <a:rPr lang="en-US" altLang="zh-CN" b="1" baseline="-25000" dirty="0"/>
              <a:t>2</a:t>
            </a:r>
            <a:r>
              <a:rPr lang="en-US" altLang="zh-CN" b="1" dirty="0"/>
              <a:t>,…,</a:t>
            </a:r>
            <a:r>
              <a:rPr lang="en-US" altLang="zh-CN" b="1" i="1" dirty="0"/>
              <a:t>A</a:t>
            </a:r>
            <a:r>
              <a:rPr lang="en-US" altLang="zh-CN" b="1" i="1" baseline="-25000" dirty="0"/>
              <a:t>m</a:t>
            </a:r>
            <a:r>
              <a:rPr lang="zh-CN" altLang="zh-CN" b="1" dirty="0"/>
              <a:t>，基本操作如下：</a:t>
            </a:r>
          </a:p>
          <a:p>
            <a:pPr eaLnBrk="1" hangingPunct="1">
              <a:lnSpc>
                <a:spcPct val="110000"/>
              </a:lnSpc>
              <a:buFontTx/>
              <a:buNone/>
              <a:defRPr/>
            </a:pPr>
            <a:r>
              <a:rPr lang="en-US" altLang="zh-CN" b="1" i="1" dirty="0"/>
              <a:t>    R</a:t>
            </a:r>
            <a:r>
              <a:rPr lang="en-US" altLang="zh-CN" b="1" dirty="0">
                <a:sym typeface="Symbol"/>
              </a:rPr>
              <a:t></a:t>
            </a:r>
            <a:r>
              <a:rPr lang="en-US" altLang="zh-CN" b="1" i="1" dirty="0"/>
              <a:t>S</a:t>
            </a:r>
            <a:r>
              <a:rPr lang="zh-CN" altLang="zh-CN" b="1" dirty="0"/>
              <a:t>的元组既含有</a:t>
            </a:r>
            <a:r>
              <a:rPr lang="en-US" altLang="zh-CN" b="1" i="1" dirty="0"/>
              <a:t>R</a:t>
            </a:r>
            <a:r>
              <a:rPr lang="zh-CN" altLang="zh-CN" b="1" dirty="0"/>
              <a:t>的元组，也含有</a:t>
            </a:r>
            <a:r>
              <a:rPr lang="en-US" altLang="zh-CN" b="1" i="1" dirty="0"/>
              <a:t>S</a:t>
            </a:r>
            <a:r>
              <a:rPr lang="zh-CN" altLang="zh-CN" b="1" dirty="0"/>
              <a:t>的元组；</a:t>
            </a:r>
          </a:p>
          <a:p>
            <a:pPr eaLnBrk="1" hangingPunct="1">
              <a:lnSpc>
                <a:spcPct val="110000"/>
              </a:lnSpc>
              <a:buFontTx/>
              <a:buNone/>
              <a:defRPr/>
            </a:pPr>
            <a:r>
              <a:rPr lang="en-US" altLang="zh-CN" b="1" i="1" dirty="0"/>
              <a:t>    R</a:t>
            </a:r>
            <a:r>
              <a:rPr lang="en-US" altLang="zh-CN" b="1" dirty="0">
                <a:sym typeface="Symbol"/>
              </a:rPr>
              <a:t></a:t>
            </a:r>
            <a:r>
              <a:rPr lang="en-US" altLang="zh-CN" b="1" i="1" dirty="0"/>
              <a:t>S</a:t>
            </a:r>
            <a:r>
              <a:rPr lang="zh-CN" altLang="zh-CN" b="1" dirty="0"/>
              <a:t>的元组是同时存在于</a:t>
            </a:r>
            <a:r>
              <a:rPr lang="en-US" altLang="zh-CN" b="1" i="1" dirty="0"/>
              <a:t>R</a:t>
            </a:r>
            <a:r>
              <a:rPr lang="zh-CN" altLang="zh-CN" b="1" dirty="0"/>
              <a:t>和</a:t>
            </a:r>
            <a:r>
              <a:rPr lang="en-US" altLang="zh-CN" b="1" i="1" dirty="0"/>
              <a:t>S</a:t>
            </a:r>
            <a:r>
              <a:rPr lang="zh-CN" altLang="zh-CN" b="1" dirty="0"/>
              <a:t>中的元组；</a:t>
            </a:r>
          </a:p>
          <a:p>
            <a:pPr eaLnBrk="1" hangingPunct="1">
              <a:lnSpc>
                <a:spcPct val="110000"/>
              </a:lnSpc>
              <a:buFontTx/>
              <a:buNone/>
              <a:defRPr/>
            </a:pPr>
            <a:r>
              <a:rPr lang="en-US" altLang="zh-CN" b="1" i="1" dirty="0"/>
              <a:t>    R</a:t>
            </a:r>
            <a:r>
              <a:rPr lang="en-US" altLang="zh-CN" b="1" dirty="0">
                <a:sym typeface="Symbol"/>
              </a:rPr>
              <a:t></a:t>
            </a:r>
            <a:r>
              <a:rPr lang="en-US" altLang="zh-CN" b="1" i="1" dirty="0"/>
              <a:t>S</a:t>
            </a:r>
            <a:r>
              <a:rPr lang="zh-CN" altLang="zh-CN" b="1" dirty="0"/>
              <a:t>的元组只在</a:t>
            </a:r>
            <a:r>
              <a:rPr lang="en-US" altLang="zh-CN" b="1" i="1" dirty="0"/>
              <a:t>R</a:t>
            </a:r>
            <a:r>
              <a:rPr lang="zh-CN" altLang="zh-CN" b="1" dirty="0"/>
              <a:t>中但不在</a:t>
            </a:r>
            <a:r>
              <a:rPr lang="en-US" altLang="zh-CN" b="1" i="1" dirty="0"/>
              <a:t>S</a:t>
            </a:r>
            <a:r>
              <a:rPr lang="zh-CN" altLang="zh-CN" b="1" dirty="0"/>
              <a:t>中</a:t>
            </a:r>
            <a:r>
              <a:rPr lang="en-US" altLang="zh-CN" b="1" dirty="0"/>
              <a:t>. </a:t>
            </a:r>
            <a:endParaRPr lang="zh-CN" altLang="zh-CN" b="1" dirty="0"/>
          </a:p>
          <a:p>
            <a:pPr eaLnBrk="1" hangingPunct="1">
              <a:lnSpc>
                <a:spcPct val="110000"/>
              </a:lnSpc>
              <a:buFontTx/>
              <a:buNone/>
              <a:defRPr/>
            </a:pPr>
            <a:r>
              <a:rPr lang="en-US" altLang="zh-CN" b="1" dirty="0"/>
              <a:t>    </a:t>
            </a:r>
            <a:r>
              <a:rPr lang="zh-CN" altLang="zh-CN" b="1" dirty="0"/>
              <a:t>投影</a:t>
            </a:r>
            <a:r>
              <a:rPr lang="en-US" altLang="zh-CN" b="1" dirty="0"/>
              <a:t>                              </a:t>
            </a:r>
            <a:r>
              <a:rPr lang="zh-CN" altLang="zh-CN" b="1" dirty="0"/>
              <a:t>只选取</a:t>
            </a:r>
            <a:r>
              <a:rPr lang="en-US" altLang="zh-CN" b="1" i="1" dirty="0"/>
              <a:t>R</a:t>
            </a:r>
            <a:r>
              <a:rPr lang="zh-CN" altLang="zh-CN" b="1" dirty="0"/>
              <a:t>中属性为</a:t>
            </a:r>
            <a:r>
              <a:rPr lang="en-US" altLang="zh-CN" b="1" dirty="0"/>
              <a:t>                          </a:t>
            </a:r>
            <a:r>
              <a:rPr lang="zh-CN" altLang="zh-CN" sz="1100" b="1" dirty="0"/>
              <a:t>的列</a:t>
            </a:r>
            <a:r>
              <a:rPr lang="zh-CN" altLang="en-US" sz="1100" b="1" dirty="0"/>
              <a:t>形成一个新的关系</a:t>
            </a:r>
            <a:endParaRPr lang="en-US" altLang="zh-CN" sz="11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56</a:t>
            </a:fld>
            <a:endParaRPr lang="zh-CN" altLang="en-US"/>
          </a:p>
        </p:txBody>
      </p:sp>
    </p:spTree>
    <p:extLst>
      <p:ext uri="{BB962C8B-B14F-4D97-AF65-F5344CB8AC3E}">
        <p14:creationId xmlns:p14="http://schemas.microsoft.com/office/powerpoint/2010/main" val="35994594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lnSpc>
                <a:spcPct val="110000"/>
              </a:lnSpc>
              <a:buFontTx/>
              <a:buNone/>
              <a:defRPr/>
            </a:pPr>
            <a:r>
              <a:rPr lang="zh-CN" altLang="en-US" b="1" dirty="0"/>
              <a:t>数据库存的数据表看作关系，</a:t>
            </a:r>
            <a:r>
              <a:rPr lang="zh-CN" altLang="zh-CN" b="1" dirty="0"/>
              <a:t>关系是若干元组的集合，元组</a:t>
            </a:r>
            <a:r>
              <a:rPr lang="en-US" altLang="zh-CN" b="1" dirty="0"/>
              <a:t>&lt;</a:t>
            </a:r>
            <a:r>
              <a:rPr lang="en-US" altLang="zh-CN" b="1" i="1" dirty="0"/>
              <a:t>A</a:t>
            </a:r>
            <a:r>
              <a:rPr lang="en-US" altLang="zh-CN" b="1" baseline="-25000" dirty="0"/>
              <a:t>1</a:t>
            </a:r>
            <a:r>
              <a:rPr lang="en-US" altLang="zh-CN" b="1" dirty="0"/>
              <a:t>,</a:t>
            </a:r>
            <a:r>
              <a:rPr lang="en-US" altLang="zh-CN" b="1" i="1" dirty="0"/>
              <a:t>A</a:t>
            </a:r>
            <a:r>
              <a:rPr lang="en-US" altLang="zh-CN" b="1" baseline="-25000" dirty="0"/>
              <a:t>2</a:t>
            </a:r>
            <a:r>
              <a:rPr lang="en-US" altLang="zh-CN" b="1" dirty="0"/>
              <a:t>,…,</a:t>
            </a:r>
            <a:r>
              <a:rPr lang="en-US" altLang="zh-CN" b="1" i="1" dirty="0"/>
              <a:t>A</a:t>
            </a:r>
            <a:r>
              <a:rPr lang="en-US" altLang="zh-CN" b="1" i="1" baseline="-25000" dirty="0"/>
              <a:t>n</a:t>
            </a:r>
            <a:r>
              <a:rPr lang="en-US" altLang="zh-CN" b="1" dirty="0"/>
              <a:t>&gt;</a:t>
            </a:r>
            <a:r>
              <a:rPr lang="zh-CN" altLang="zh-CN" b="1" dirty="0"/>
              <a:t>代表该关系有</a:t>
            </a:r>
            <a:r>
              <a:rPr lang="en-US" altLang="zh-CN" b="1" i="1" dirty="0"/>
              <a:t>n</a:t>
            </a:r>
            <a:r>
              <a:rPr lang="zh-CN" altLang="zh-CN" b="1" dirty="0"/>
              <a:t>个属性</a:t>
            </a:r>
            <a:r>
              <a:rPr lang="en-US" altLang="zh-CN" b="1" dirty="0"/>
              <a:t>.  </a:t>
            </a:r>
          </a:p>
          <a:p>
            <a:pPr marL="0" indent="0" eaLnBrk="1" hangingPunct="1">
              <a:lnSpc>
                <a:spcPct val="110000"/>
              </a:lnSpc>
              <a:buFontTx/>
              <a:buNone/>
              <a:defRPr/>
            </a:pPr>
            <a:r>
              <a:rPr lang="zh-CN" altLang="en-US" b="1" dirty="0">
                <a:solidFill>
                  <a:srgbClr val="00B0F0"/>
                </a:solidFill>
              </a:rPr>
              <a:t>实例：</a:t>
            </a:r>
            <a:endParaRPr lang="en-US" altLang="zh-CN" b="1" dirty="0">
              <a:solidFill>
                <a:srgbClr val="00B0F0"/>
              </a:solidFill>
            </a:endParaRPr>
          </a:p>
          <a:p>
            <a:pPr marL="0" indent="0" eaLnBrk="1" hangingPunct="1">
              <a:lnSpc>
                <a:spcPct val="110000"/>
              </a:lnSpc>
              <a:buFontTx/>
              <a:buNone/>
              <a:defRPr/>
            </a:pPr>
            <a:r>
              <a:rPr lang="en-US" altLang="zh-CN" b="1" dirty="0"/>
              <a:t>            &lt;</a:t>
            </a:r>
            <a:r>
              <a:rPr lang="zh-CN" altLang="en-US" b="1" dirty="0"/>
              <a:t>编号</a:t>
            </a:r>
            <a:r>
              <a:rPr lang="en-US" altLang="zh-CN" b="1" dirty="0"/>
              <a:t>,</a:t>
            </a:r>
            <a:r>
              <a:rPr lang="zh-CN" altLang="en-US" b="1" dirty="0"/>
              <a:t>姓名</a:t>
            </a:r>
            <a:r>
              <a:rPr lang="en-US" altLang="zh-CN" b="1" dirty="0"/>
              <a:t>,</a:t>
            </a:r>
            <a:r>
              <a:rPr lang="zh-CN" altLang="en-US" b="1" dirty="0"/>
              <a:t>年龄</a:t>
            </a:r>
            <a:r>
              <a:rPr lang="en-US" altLang="zh-CN" b="1" dirty="0"/>
              <a:t>,</a:t>
            </a:r>
            <a:r>
              <a:rPr lang="zh-CN" altLang="en-US" b="1" dirty="0"/>
              <a:t>地址</a:t>
            </a:r>
            <a:r>
              <a:rPr lang="en-US" altLang="zh-CN" b="1" dirty="0"/>
              <a:t>,</a:t>
            </a:r>
            <a:r>
              <a:rPr lang="zh-CN" altLang="en-US" b="1" dirty="0"/>
              <a:t>手机</a:t>
            </a:r>
            <a:r>
              <a:rPr lang="en-US" altLang="zh-CN" b="1" dirty="0"/>
              <a:t>,Email&gt;</a:t>
            </a:r>
          </a:p>
          <a:p>
            <a:pPr eaLnBrk="1" hangingPunct="1">
              <a:lnSpc>
                <a:spcPct val="110000"/>
              </a:lnSpc>
              <a:spcBef>
                <a:spcPts val="1800"/>
              </a:spcBef>
              <a:buFontTx/>
              <a:buNone/>
              <a:defRPr/>
            </a:pPr>
            <a:r>
              <a:rPr lang="zh-CN" altLang="zh-CN" b="1" dirty="0"/>
              <a:t>设</a:t>
            </a:r>
            <a:r>
              <a:rPr lang="en-US" altLang="zh-CN" b="1" i="1" dirty="0"/>
              <a:t>R</a:t>
            </a:r>
            <a:r>
              <a:rPr lang="zh-CN" altLang="zh-CN" b="1" dirty="0"/>
              <a:t>与</a:t>
            </a:r>
            <a:r>
              <a:rPr lang="en-US" altLang="zh-CN" b="1" i="1" dirty="0"/>
              <a:t>S</a:t>
            </a:r>
            <a:r>
              <a:rPr lang="zh-CN" altLang="zh-CN" b="1" dirty="0"/>
              <a:t>是具有相同属性的</a:t>
            </a:r>
            <a:r>
              <a:rPr lang="en-US" altLang="zh-CN" b="1" i="1" dirty="0"/>
              <a:t>m</a:t>
            </a:r>
            <a:r>
              <a:rPr lang="zh-CN" altLang="zh-CN" b="1" dirty="0"/>
              <a:t>元关系，其中的</a:t>
            </a:r>
            <a:r>
              <a:rPr lang="en-US" altLang="zh-CN" b="1" i="1" dirty="0"/>
              <a:t>m</a:t>
            </a:r>
            <a:r>
              <a:rPr lang="zh-CN" altLang="zh-CN" b="1" dirty="0"/>
              <a:t>个属性记作</a:t>
            </a:r>
            <a:endParaRPr lang="en-US" altLang="zh-CN" b="1" dirty="0"/>
          </a:p>
          <a:p>
            <a:pPr eaLnBrk="1" hangingPunct="1">
              <a:lnSpc>
                <a:spcPct val="110000"/>
              </a:lnSpc>
              <a:buFontTx/>
              <a:buNone/>
              <a:defRPr/>
            </a:pPr>
            <a:r>
              <a:rPr lang="en-US" altLang="zh-CN" b="1" i="1" dirty="0"/>
              <a:t>A</a:t>
            </a:r>
            <a:r>
              <a:rPr lang="en-US" altLang="zh-CN" b="1" baseline="-25000" dirty="0"/>
              <a:t>1</a:t>
            </a:r>
            <a:r>
              <a:rPr lang="en-US" altLang="zh-CN" b="1" dirty="0"/>
              <a:t>,</a:t>
            </a:r>
            <a:r>
              <a:rPr lang="en-US" altLang="zh-CN" b="1" i="1" dirty="0"/>
              <a:t>A</a:t>
            </a:r>
            <a:r>
              <a:rPr lang="en-US" altLang="zh-CN" b="1" baseline="-25000" dirty="0"/>
              <a:t>2</a:t>
            </a:r>
            <a:r>
              <a:rPr lang="en-US" altLang="zh-CN" b="1" dirty="0"/>
              <a:t>,…,</a:t>
            </a:r>
            <a:r>
              <a:rPr lang="en-US" altLang="zh-CN" b="1" i="1" dirty="0"/>
              <a:t>A</a:t>
            </a:r>
            <a:r>
              <a:rPr lang="en-US" altLang="zh-CN" b="1" i="1" baseline="-25000" dirty="0"/>
              <a:t>m</a:t>
            </a:r>
            <a:r>
              <a:rPr lang="zh-CN" altLang="zh-CN" b="1" dirty="0"/>
              <a:t>，基本操作如下：</a:t>
            </a:r>
          </a:p>
          <a:p>
            <a:pPr eaLnBrk="1" hangingPunct="1">
              <a:lnSpc>
                <a:spcPct val="110000"/>
              </a:lnSpc>
              <a:buFontTx/>
              <a:buNone/>
              <a:defRPr/>
            </a:pPr>
            <a:r>
              <a:rPr lang="en-US" altLang="zh-CN" b="1" i="1" dirty="0"/>
              <a:t>    R</a:t>
            </a:r>
            <a:r>
              <a:rPr lang="en-US" altLang="zh-CN" b="1" dirty="0">
                <a:sym typeface="Symbol"/>
              </a:rPr>
              <a:t></a:t>
            </a:r>
            <a:r>
              <a:rPr lang="en-US" altLang="zh-CN" b="1" i="1" dirty="0"/>
              <a:t>S</a:t>
            </a:r>
            <a:r>
              <a:rPr lang="zh-CN" altLang="zh-CN" b="1" dirty="0"/>
              <a:t>的元组既含有</a:t>
            </a:r>
            <a:r>
              <a:rPr lang="en-US" altLang="zh-CN" b="1" i="1" dirty="0"/>
              <a:t>R</a:t>
            </a:r>
            <a:r>
              <a:rPr lang="zh-CN" altLang="zh-CN" b="1" dirty="0"/>
              <a:t>的元组，也含有</a:t>
            </a:r>
            <a:r>
              <a:rPr lang="en-US" altLang="zh-CN" b="1" i="1" dirty="0"/>
              <a:t>S</a:t>
            </a:r>
            <a:r>
              <a:rPr lang="zh-CN" altLang="zh-CN" b="1" dirty="0"/>
              <a:t>的元组；</a:t>
            </a:r>
          </a:p>
          <a:p>
            <a:pPr eaLnBrk="1" hangingPunct="1">
              <a:lnSpc>
                <a:spcPct val="110000"/>
              </a:lnSpc>
              <a:buFontTx/>
              <a:buNone/>
              <a:defRPr/>
            </a:pPr>
            <a:r>
              <a:rPr lang="en-US" altLang="zh-CN" b="1" i="1" dirty="0"/>
              <a:t>    R</a:t>
            </a:r>
            <a:r>
              <a:rPr lang="en-US" altLang="zh-CN" b="1" dirty="0">
                <a:sym typeface="Symbol"/>
              </a:rPr>
              <a:t></a:t>
            </a:r>
            <a:r>
              <a:rPr lang="en-US" altLang="zh-CN" b="1" i="1" dirty="0"/>
              <a:t>S</a:t>
            </a:r>
            <a:r>
              <a:rPr lang="zh-CN" altLang="zh-CN" b="1" dirty="0"/>
              <a:t>的元组是同时存在于</a:t>
            </a:r>
            <a:r>
              <a:rPr lang="en-US" altLang="zh-CN" b="1" i="1" dirty="0"/>
              <a:t>R</a:t>
            </a:r>
            <a:r>
              <a:rPr lang="zh-CN" altLang="zh-CN" b="1" dirty="0"/>
              <a:t>和</a:t>
            </a:r>
            <a:r>
              <a:rPr lang="en-US" altLang="zh-CN" b="1" i="1" dirty="0"/>
              <a:t>S</a:t>
            </a:r>
            <a:r>
              <a:rPr lang="zh-CN" altLang="zh-CN" b="1" dirty="0"/>
              <a:t>中的元组；</a:t>
            </a:r>
          </a:p>
          <a:p>
            <a:pPr eaLnBrk="1" hangingPunct="1">
              <a:lnSpc>
                <a:spcPct val="110000"/>
              </a:lnSpc>
              <a:buFontTx/>
              <a:buNone/>
              <a:defRPr/>
            </a:pPr>
            <a:r>
              <a:rPr lang="en-US" altLang="zh-CN" b="1" i="1" dirty="0"/>
              <a:t>    R</a:t>
            </a:r>
            <a:r>
              <a:rPr lang="en-US" altLang="zh-CN" b="1" dirty="0">
                <a:sym typeface="Symbol"/>
              </a:rPr>
              <a:t></a:t>
            </a:r>
            <a:r>
              <a:rPr lang="en-US" altLang="zh-CN" b="1" i="1" dirty="0"/>
              <a:t>S</a:t>
            </a:r>
            <a:r>
              <a:rPr lang="zh-CN" altLang="zh-CN" b="1" dirty="0"/>
              <a:t>的元组只在</a:t>
            </a:r>
            <a:r>
              <a:rPr lang="en-US" altLang="zh-CN" b="1" i="1" dirty="0"/>
              <a:t>R</a:t>
            </a:r>
            <a:r>
              <a:rPr lang="zh-CN" altLang="zh-CN" b="1" dirty="0"/>
              <a:t>中但不在</a:t>
            </a:r>
            <a:r>
              <a:rPr lang="en-US" altLang="zh-CN" b="1" i="1" dirty="0"/>
              <a:t>S</a:t>
            </a:r>
            <a:r>
              <a:rPr lang="zh-CN" altLang="zh-CN" b="1" dirty="0"/>
              <a:t>中</a:t>
            </a:r>
            <a:r>
              <a:rPr lang="en-US" altLang="zh-CN" b="1" dirty="0"/>
              <a:t>. </a:t>
            </a:r>
            <a:endParaRPr lang="zh-CN" altLang="zh-CN" b="1" dirty="0"/>
          </a:p>
          <a:p>
            <a:pPr eaLnBrk="1" hangingPunct="1">
              <a:lnSpc>
                <a:spcPct val="110000"/>
              </a:lnSpc>
              <a:buFontTx/>
              <a:buNone/>
              <a:defRPr/>
            </a:pPr>
            <a:r>
              <a:rPr lang="en-US" altLang="zh-CN" b="1" dirty="0"/>
              <a:t>    </a:t>
            </a:r>
            <a:r>
              <a:rPr lang="zh-CN" altLang="zh-CN" b="1" dirty="0"/>
              <a:t>投影</a:t>
            </a:r>
            <a:r>
              <a:rPr lang="en-US" altLang="zh-CN" b="1" dirty="0"/>
              <a:t>                              </a:t>
            </a:r>
            <a:r>
              <a:rPr lang="zh-CN" altLang="zh-CN" b="1" dirty="0"/>
              <a:t>只选取</a:t>
            </a:r>
            <a:r>
              <a:rPr lang="en-US" altLang="zh-CN" b="1" i="1" dirty="0"/>
              <a:t>R</a:t>
            </a:r>
            <a:r>
              <a:rPr lang="zh-CN" altLang="zh-CN" b="1" dirty="0"/>
              <a:t>中属性为</a:t>
            </a:r>
            <a:r>
              <a:rPr lang="en-US" altLang="zh-CN" b="1" dirty="0"/>
              <a:t>                          </a:t>
            </a:r>
            <a:r>
              <a:rPr lang="zh-CN" altLang="zh-CN" sz="1100" b="1" dirty="0"/>
              <a:t>的列</a:t>
            </a:r>
            <a:r>
              <a:rPr lang="zh-CN" altLang="en-US" sz="1100" b="1" dirty="0"/>
              <a:t>形成一个新的关系</a:t>
            </a:r>
            <a:endParaRPr lang="en-US" altLang="zh-CN" sz="11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57</a:t>
            </a:fld>
            <a:endParaRPr lang="zh-CN" altLang="en-US"/>
          </a:p>
        </p:txBody>
      </p:sp>
    </p:spTree>
    <p:extLst>
      <p:ext uri="{BB962C8B-B14F-4D97-AF65-F5344CB8AC3E}">
        <p14:creationId xmlns:p14="http://schemas.microsoft.com/office/powerpoint/2010/main" val="27454911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lnSpc>
                <a:spcPct val="110000"/>
              </a:lnSpc>
              <a:buFontTx/>
              <a:buNone/>
              <a:defRPr/>
            </a:pPr>
            <a:r>
              <a:rPr lang="zh-CN" altLang="en-US" b="1" dirty="0"/>
              <a:t>数据库存的数据表看作关系，</a:t>
            </a:r>
            <a:r>
              <a:rPr lang="zh-CN" altLang="zh-CN" b="1" dirty="0"/>
              <a:t>关系是若干元组的集合，元组</a:t>
            </a:r>
            <a:r>
              <a:rPr lang="en-US" altLang="zh-CN" b="1" dirty="0"/>
              <a:t>&lt;</a:t>
            </a:r>
            <a:r>
              <a:rPr lang="en-US" altLang="zh-CN" b="1" i="1" dirty="0"/>
              <a:t>A</a:t>
            </a:r>
            <a:r>
              <a:rPr lang="en-US" altLang="zh-CN" b="1" baseline="-25000" dirty="0"/>
              <a:t>1</a:t>
            </a:r>
            <a:r>
              <a:rPr lang="en-US" altLang="zh-CN" b="1" dirty="0"/>
              <a:t>,</a:t>
            </a:r>
            <a:r>
              <a:rPr lang="en-US" altLang="zh-CN" b="1" i="1" dirty="0"/>
              <a:t>A</a:t>
            </a:r>
            <a:r>
              <a:rPr lang="en-US" altLang="zh-CN" b="1" baseline="-25000" dirty="0"/>
              <a:t>2</a:t>
            </a:r>
            <a:r>
              <a:rPr lang="en-US" altLang="zh-CN" b="1" dirty="0"/>
              <a:t>,…,</a:t>
            </a:r>
            <a:r>
              <a:rPr lang="en-US" altLang="zh-CN" b="1" i="1" dirty="0"/>
              <a:t>A</a:t>
            </a:r>
            <a:r>
              <a:rPr lang="en-US" altLang="zh-CN" b="1" i="1" baseline="-25000" dirty="0"/>
              <a:t>n</a:t>
            </a:r>
            <a:r>
              <a:rPr lang="en-US" altLang="zh-CN" b="1" dirty="0"/>
              <a:t>&gt;</a:t>
            </a:r>
            <a:r>
              <a:rPr lang="zh-CN" altLang="zh-CN" b="1" dirty="0"/>
              <a:t>代表该关系有</a:t>
            </a:r>
            <a:r>
              <a:rPr lang="en-US" altLang="zh-CN" b="1" i="1" dirty="0"/>
              <a:t>n</a:t>
            </a:r>
            <a:r>
              <a:rPr lang="zh-CN" altLang="zh-CN" b="1" dirty="0"/>
              <a:t>个属性</a:t>
            </a:r>
            <a:r>
              <a:rPr lang="en-US" altLang="zh-CN" b="1" dirty="0"/>
              <a:t>.  </a:t>
            </a:r>
          </a:p>
          <a:p>
            <a:pPr marL="0" indent="0" eaLnBrk="1" hangingPunct="1">
              <a:lnSpc>
                <a:spcPct val="110000"/>
              </a:lnSpc>
              <a:buFontTx/>
              <a:buNone/>
              <a:defRPr/>
            </a:pPr>
            <a:r>
              <a:rPr lang="zh-CN" altLang="en-US" b="1" dirty="0">
                <a:solidFill>
                  <a:srgbClr val="00B0F0"/>
                </a:solidFill>
              </a:rPr>
              <a:t>实例：</a:t>
            </a:r>
            <a:endParaRPr lang="en-US" altLang="zh-CN" b="1" dirty="0">
              <a:solidFill>
                <a:srgbClr val="00B0F0"/>
              </a:solidFill>
            </a:endParaRPr>
          </a:p>
          <a:p>
            <a:pPr marL="0" indent="0" eaLnBrk="1" hangingPunct="1">
              <a:lnSpc>
                <a:spcPct val="110000"/>
              </a:lnSpc>
              <a:buFontTx/>
              <a:buNone/>
              <a:defRPr/>
            </a:pPr>
            <a:r>
              <a:rPr lang="en-US" altLang="zh-CN" b="1" dirty="0"/>
              <a:t>            &lt;</a:t>
            </a:r>
            <a:r>
              <a:rPr lang="zh-CN" altLang="en-US" b="1" dirty="0"/>
              <a:t>编号</a:t>
            </a:r>
            <a:r>
              <a:rPr lang="en-US" altLang="zh-CN" b="1" dirty="0"/>
              <a:t>,</a:t>
            </a:r>
            <a:r>
              <a:rPr lang="zh-CN" altLang="en-US" b="1" dirty="0"/>
              <a:t>姓名</a:t>
            </a:r>
            <a:r>
              <a:rPr lang="en-US" altLang="zh-CN" b="1" dirty="0"/>
              <a:t>,</a:t>
            </a:r>
            <a:r>
              <a:rPr lang="zh-CN" altLang="en-US" b="1" dirty="0"/>
              <a:t>年龄</a:t>
            </a:r>
            <a:r>
              <a:rPr lang="en-US" altLang="zh-CN" b="1" dirty="0"/>
              <a:t>,</a:t>
            </a:r>
            <a:r>
              <a:rPr lang="zh-CN" altLang="en-US" b="1" dirty="0"/>
              <a:t>地址</a:t>
            </a:r>
            <a:r>
              <a:rPr lang="en-US" altLang="zh-CN" b="1" dirty="0"/>
              <a:t>,</a:t>
            </a:r>
            <a:r>
              <a:rPr lang="zh-CN" altLang="en-US" b="1" dirty="0"/>
              <a:t>手机</a:t>
            </a:r>
            <a:r>
              <a:rPr lang="en-US" altLang="zh-CN" b="1" dirty="0"/>
              <a:t>,Email&gt;</a:t>
            </a:r>
          </a:p>
          <a:p>
            <a:pPr eaLnBrk="1" hangingPunct="1">
              <a:lnSpc>
                <a:spcPct val="110000"/>
              </a:lnSpc>
              <a:spcBef>
                <a:spcPts val="1800"/>
              </a:spcBef>
              <a:buFontTx/>
              <a:buNone/>
              <a:defRPr/>
            </a:pPr>
            <a:r>
              <a:rPr lang="zh-CN" altLang="zh-CN" b="1" dirty="0"/>
              <a:t>设</a:t>
            </a:r>
            <a:r>
              <a:rPr lang="en-US" altLang="zh-CN" b="1" i="1" dirty="0"/>
              <a:t>R</a:t>
            </a:r>
            <a:r>
              <a:rPr lang="zh-CN" altLang="zh-CN" b="1" dirty="0"/>
              <a:t>与</a:t>
            </a:r>
            <a:r>
              <a:rPr lang="en-US" altLang="zh-CN" b="1" i="1" dirty="0"/>
              <a:t>S</a:t>
            </a:r>
            <a:r>
              <a:rPr lang="zh-CN" altLang="zh-CN" b="1" dirty="0"/>
              <a:t>是具有相同属性的</a:t>
            </a:r>
            <a:r>
              <a:rPr lang="en-US" altLang="zh-CN" b="1" i="1" dirty="0"/>
              <a:t>m</a:t>
            </a:r>
            <a:r>
              <a:rPr lang="zh-CN" altLang="zh-CN" b="1" dirty="0"/>
              <a:t>元关系，其中的</a:t>
            </a:r>
            <a:r>
              <a:rPr lang="en-US" altLang="zh-CN" b="1" i="1" dirty="0"/>
              <a:t>m</a:t>
            </a:r>
            <a:r>
              <a:rPr lang="zh-CN" altLang="zh-CN" b="1" dirty="0"/>
              <a:t>个属性记作</a:t>
            </a:r>
            <a:endParaRPr lang="en-US" altLang="zh-CN" b="1" dirty="0"/>
          </a:p>
          <a:p>
            <a:pPr eaLnBrk="1" hangingPunct="1">
              <a:lnSpc>
                <a:spcPct val="110000"/>
              </a:lnSpc>
              <a:buFontTx/>
              <a:buNone/>
              <a:defRPr/>
            </a:pPr>
            <a:r>
              <a:rPr lang="en-US" altLang="zh-CN" b="1" i="1" dirty="0"/>
              <a:t>A</a:t>
            </a:r>
            <a:r>
              <a:rPr lang="en-US" altLang="zh-CN" b="1" baseline="-25000" dirty="0"/>
              <a:t>1</a:t>
            </a:r>
            <a:r>
              <a:rPr lang="en-US" altLang="zh-CN" b="1" dirty="0"/>
              <a:t>,</a:t>
            </a:r>
            <a:r>
              <a:rPr lang="en-US" altLang="zh-CN" b="1" i="1" dirty="0"/>
              <a:t>A</a:t>
            </a:r>
            <a:r>
              <a:rPr lang="en-US" altLang="zh-CN" b="1" baseline="-25000" dirty="0"/>
              <a:t>2</a:t>
            </a:r>
            <a:r>
              <a:rPr lang="en-US" altLang="zh-CN" b="1" dirty="0"/>
              <a:t>,…,</a:t>
            </a:r>
            <a:r>
              <a:rPr lang="en-US" altLang="zh-CN" b="1" i="1" dirty="0"/>
              <a:t>A</a:t>
            </a:r>
            <a:r>
              <a:rPr lang="en-US" altLang="zh-CN" b="1" i="1" baseline="-25000" dirty="0"/>
              <a:t>m</a:t>
            </a:r>
            <a:r>
              <a:rPr lang="zh-CN" altLang="zh-CN" b="1" dirty="0"/>
              <a:t>，基本操作如下：</a:t>
            </a:r>
          </a:p>
          <a:p>
            <a:pPr eaLnBrk="1" hangingPunct="1">
              <a:lnSpc>
                <a:spcPct val="110000"/>
              </a:lnSpc>
              <a:buFontTx/>
              <a:buNone/>
              <a:defRPr/>
            </a:pPr>
            <a:r>
              <a:rPr lang="en-US" altLang="zh-CN" b="1" i="1" dirty="0"/>
              <a:t>    R</a:t>
            </a:r>
            <a:r>
              <a:rPr lang="en-US" altLang="zh-CN" b="1" dirty="0">
                <a:sym typeface="Symbol"/>
              </a:rPr>
              <a:t></a:t>
            </a:r>
            <a:r>
              <a:rPr lang="en-US" altLang="zh-CN" b="1" i="1" dirty="0"/>
              <a:t>S</a:t>
            </a:r>
            <a:r>
              <a:rPr lang="zh-CN" altLang="zh-CN" b="1" dirty="0"/>
              <a:t>的元组既含有</a:t>
            </a:r>
            <a:r>
              <a:rPr lang="en-US" altLang="zh-CN" b="1" i="1" dirty="0"/>
              <a:t>R</a:t>
            </a:r>
            <a:r>
              <a:rPr lang="zh-CN" altLang="zh-CN" b="1" dirty="0"/>
              <a:t>的元组，也含有</a:t>
            </a:r>
            <a:r>
              <a:rPr lang="en-US" altLang="zh-CN" b="1" i="1" dirty="0"/>
              <a:t>S</a:t>
            </a:r>
            <a:r>
              <a:rPr lang="zh-CN" altLang="zh-CN" b="1" dirty="0"/>
              <a:t>的元组；</a:t>
            </a:r>
          </a:p>
          <a:p>
            <a:pPr eaLnBrk="1" hangingPunct="1">
              <a:lnSpc>
                <a:spcPct val="110000"/>
              </a:lnSpc>
              <a:buFontTx/>
              <a:buNone/>
              <a:defRPr/>
            </a:pPr>
            <a:r>
              <a:rPr lang="en-US" altLang="zh-CN" b="1" i="1" dirty="0"/>
              <a:t>    R</a:t>
            </a:r>
            <a:r>
              <a:rPr lang="en-US" altLang="zh-CN" b="1" dirty="0">
                <a:sym typeface="Symbol"/>
              </a:rPr>
              <a:t></a:t>
            </a:r>
            <a:r>
              <a:rPr lang="en-US" altLang="zh-CN" b="1" i="1" dirty="0"/>
              <a:t>S</a:t>
            </a:r>
            <a:r>
              <a:rPr lang="zh-CN" altLang="zh-CN" b="1" dirty="0"/>
              <a:t>的元组是同时存在于</a:t>
            </a:r>
            <a:r>
              <a:rPr lang="en-US" altLang="zh-CN" b="1" i="1" dirty="0"/>
              <a:t>R</a:t>
            </a:r>
            <a:r>
              <a:rPr lang="zh-CN" altLang="zh-CN" b="1" dirty="0"/>
              <a:t>和</a:t>
            </a:r>
            <a:r>
              <a:rPr lang="en-US" altLang="zh-CN" b="1" i="1" dirty="0"/>
              <a:t>S</a:t>
            </a:r>
            <a:r>
              <a:rPr lang="zh-CN" altLang="zh-CN" b="1" dirty="0"/>
              <a:t>中的元组；</a:t>
            </a:r>
          </a:p>
          <a:p>
            <a:pPr eaLnBrk="1" hangingPunct="1">
              <a:lnSpc>
                <a:spcPct val="110000"/>
              </a:lnSpc>
              <a:buFontTx/>
              <a:buNone/>
              <a:defRPr/>
            </a:pPr>
            <a:r>
              <a:rPr lang="en-US" altLang="zh-CN" b="1" i="1" dirty="0"/>
              <a:t>    R</a:t>
            </a:r>
            <a:r>
              <a:rPr lang="en-US" altLang="zh-CN" b="1" dirty="0">
                <a:sym typeface="Symbol"/>
              </a:rPr>
              <a:t></a:t>
            </a:r>
            <a:r>
              <a:rPr lang="en-US" altLang="zh-CN" b="1" i="1" dirty="0"/>
              <a:t>S</a:t>
            </a:r>
            <a:r>
              <a:rPr lang="zh-CN" altLang="zh-CN" b="1" dirty="0"/>
              <a:t>的元组只在</a:t>
            </a:r>
            <a:r>
              <a:rPr lang="en-US" altLang="zh-CN" b="1" i="1" dirty="0"/>
              <a:t>R</a:t>
            </a:r>
            <a:r>
              <a:rPr lang="zh-CN" altLang="zh-CN" b="1" dirty="0"/>
              <a:t>中但不在</a:t>
            </a:r>
            <a:r>
              <a:rPr lang="en-US" altLang="zh-CN" b="1" i="1" dirty="0"/>
              <a:t>S</a:t>
            </a:r>
            <a:r>
              <a:rPr lang="zh-CN" altLang="zh-CN" b="1" dirty="0"/>
              <a:t>中</a:t>
            </a:r>
            <a:r>
              <a:rPr lang="en-US" altLang="zh-CN" b="1" dirty="0"/>
              <a:t>. </a:t>
            </a:r>
            <a:endParaRPr lang="zh-CN" altLang="zh-CN" b="1" dirty="0"/>
          </a:p>
          <a:p>
            <a:pPr eaLnBrk="1" hangingPunct="1">
              <a:lnSpc>
                <a:spcPct val="110000"/>
              </a:lnSpc>
              <a:buFontTx/>
              <a:buNone/>
              <a:defRPr/>
            </a:pPr>
            <a:r>
              <a:rPr lang="en-US" altLang="zh-CN" b="1" dirty="0"/>
              <a:t>    </a:t>
            </a:r>
            <a:r>
              <a:rPr lang="zh-CN" altLang="zh-CN" b="1" dirty="0"/>
              <a:t>投影</a:t>
            </a:r>
            <a:r>
              <a:rPr lang="en-US" altLang="zh-CN" b="1" dirty="0"/>
              <a:t>                              </a:t>
            </a:r>
            <a:r>
              <a:rPr lang="zh-CN" altLang="zh-CN" b="1" dirty="0"/>
              <a:t>只选取</a:t>
            </a:r>
            <a:r>
              <a:rPr lang="en-US" altLang="zh-CN" b="1" i="1" dirty="0"/>
              <a:t>R</a:t>
            </a:r>
            <a:r>
              <a:rPr lang="zh-CN" altLang="zh-CN" b="1" dirty="0"/>
              <a:t>中属性为</a:t>
            </a:r>
            <a:r>
              <a:rPr lang="en-US" altLang="zh-CN" b="1" dirty="0"/>
              <a:t>                          </a:t>
            </a:r>
            <a:r>
              <a:rPr lang="zh-CN" altLang="zh-CN" sz="1100" b="1" dirty="0"/>
              <a:t>的列</a:t>
            </a:r>
            <a:r>
              <a:rPr lang="zh-CN" altLang="en-US" sz="1100" b="1" dirty="0"/>
              <a:t>形成一个新的关系</a:t>
            </a:r>
            <a:endParaRPr lang="en-US" altLang="zh-CN" sz="11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58</a:t>
            </a:fld>
            <a:endParaRPr lang="zh-CN" altLang="en-US"/>
          </a:p>
        </p:txBody>
      </p:sp>
    </p:spTree>
    <p:extLst>
      <p:ext uri="{BB962C8B-B14F-4D97-AF65-F5344CB8AC3E}">
        <p14:creationId xmlns:p14="http://schemas.microsoft.com/office/powerpoint/2010/main" val="4979182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1" dirty="0"/>
              <a:t>笛卡儿积</a:t>
            </a:r>
            <a:r>
              <a:rPr lang="en-US" altLang="zh-CN" sz="1200" b="1" i="1" dirty="0"/>
              <a:t>R</a:t>
            </a:r>
            <a:r>
              <a:rPr lang="en-US" altLang="zh-CN" sz="1200" b="1" dirty="0"/>
              <a:t>×</a:t>
            </a:r>
            <a:r>
              <a:rPr lang="en-US" altLang="zh-CN" sz="1200" b="1" i="1" dirty="0"/>
              <a:t>S</a:t>
            </a:r>
            <a:r>
              <a:rPr lang="zh-CN" altLang="zh-CN" sz="1200" b="1" dirty="0"/>
              <a:t>是由</a:t>
            </a:r>
            <a:r>
              <a:rPr lang="en-US" altLang="zh-CN" sz="1200" b="1" i="1" dirty="0"/>
              <a:t>m</a:t>
            </a:r>
            <a:r>
              <a:rPr lang="en-US" altLang="zh-CN" sz="1200" b="1" dirty="0"/>
              <a:t>×</a:t>
            </a:r>
            <a:r>
              <a:rPr lang="en-US" altLang="zh-CN" sz="1200" b="1" i="1" dirty="0"/>
              <a:t>n</a:t>
            </a:r>
            <a:r>
              <a:rPr lang="zh-CN" altLang="zh-CN" sz="1200" b="1" dirty="0"/>
              <a:t>个形如</a:t>
            </a:r>
            <a:r>
              <a:rPr lang="en-US" altLang="zh-CN" sz="1200" b="1" dirty="0"/>
              <a:t>&lt;</a:t>
            </a:r>
            <a:r>
              <a:rPr lang="en-US" altLang="zh-CN" sz="1200" b="1" i="1" dirty="0"/>
              <a:t>A</a:t>
            </a:r>
            <a:r>
              <a:rPr lang="en-US" altLang="zh-CN" sz="1200" b="1" baseline="-25000" dirty="0"/>
              <a:t>1</a:t>
            </a:r>
            <a:r>
              <a:rPr lang="en-US" altLang="zh-CN" sz="1200" b="1" dirty="0"/>
              <a:t>,…,</a:t>
            </a:r>
            <a:r>
              <a:rPr lang="en-US" altLang="zh-CN" sz="1200" b="1" i="1" dirty="0"/>
              <a:t>A</a:t>
            </a:r>
            <a:r>
              <a:rPr lang="en-US" altLang="zh-CN" sz="1200" b="1" i="1" baseline="-25000" dirty="0"/>
              <a:t>m</a:t>
            </a:r>
            <a:r>
              <a:rPr lang="en-US" altLang="zh-CN" sz="1200" b="1" dirty="0"/>
              <a:t>,</a:t>
            </a:r>
            <a:r>
              <a:rPr lang="en-US" altLang="zh-CN" sz="1200" b="1" i="1" dirty="0"/>
              <a:t>B</a:t>
            </a:r>
            <a:r>
              <a:rPr lang="en-US" altLang="zh-CN" sz="1200" b="1" baseline="-25000" dirty="0"/>
              <a:t>1</a:t>
            </a:r>
            <a:r>
              <a:rPr lang="en-US" altLang="zh-CN" sz="1200" b="1" dirty="0"/>
              <a:t>,…,</a:t>
            </a:r>
            <a:r>
              <a:rPr lang="en-US" altLang="zh-CN" sz="1200" b="1" i="1" dirty="0"/>
              <a:t>B</a:t>
            </a:r>
            <a:r>
              <a:rPr lang="en-US" altLang="zh-CN" sz="1200" b="1" i="1" baseline="-25000" dirty="0"/>
              <a:t>n</a:t>
            </a:r>
            <a:r>
              <a:rPr lang="en-US" altLang="zh-CN" sz="1200" b="1" dirty="0"/>
              <a:t>&gt;</a:t>
            </a:r>
            <a:r>
              <a:rPr lang="zh-CN" altLang="zh-CN" sz="1200" b="1" dirty="0"/>
              <a:t>的</a:t>
            </a:r>
            <a:r>
              <a:rPr lang="en-US" altLang="zh-CN" sz="1200" b="1" i="1" dirty="0"/>
              <a:t>m</a:t>
            </a:r>
            <a:r>
              <a:rPr lang="en-US" altLang="zh-CN" sz="1200" b="1" dirty="0"/>
              <a:t>+</a:t>
            </a:r>
            <a:r>
              <a:rPr lang="en-US" altLang="zh-CN" sz="1200" b="1" i="1" dirty="0"/>
              <a:t>n</a:t>
            </a:r>
            <a:r>
              <a:rPr lang="zh-CN" altLang="zh-CN" sz="1200" b="1" dirty="0"/>
              <a:t>元组构成的集合</a:t>
            </a:r>
            <a:r>
              <a:rPr lang="en-US" altLang="zh-CN" sz="1200" b="1" dirty="0"/>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59</a:t>
            </a:fld>
            <a:endParaRPr lang="zh-CN" altLang="en-US"/>
          </a:p>
        </p:txBody>
      </p:sp>
    </p:spTree>
    <p:extLst>
      <p:ext uri="{BB962C8B-B14F-4D97-AF65-F5344CB8AC3E}">
        <p14:creationId xmlns:p14="http://schemas.microsoft.com/office/powerpoint/2010/main" val="404657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892175" eaLnBrk="1" hangingPunct="1">
              <a:spcBef>
                <a:spcPct val="60000"/>
              </a:spcBef>
              <a:buNone/>
            </a:pPr>
            <a:r>
              <a:rPr lang="en-US" altLang="zh-CN" b="1" dirty="0">
                <a:solidFill>
                  <a:srgbClr val="FF0000"/>
                </a:solidFill>
              </a:rPr>
              <a:t>5.1 </a:t>
            </a:r>
            <a:r>
              <a:rPr lang="zh-CN" altLang="en-US" b="1" dirty="0">
                <a:solidFill>
                  <a:srgbClr val="FF0000"/>
                </a:solidFill>
              </a:rPr>
              <a:t>函数定义及其性质</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5.2 </a:t>
            </a:r>
            <a:r>
              <a:rPr lang="zh-CN" altLang="en-US" b="1" dirty="0"/>
              <a:t>函数的复合与反函数</a:t>
            </a:r>
            <a:endParaRPr lang="en-US" altLang="zh-CN" b="1" dirty="0"/>
          </a:p>
          <a:p>
            <a:pPr marL="0" indent="892175" eaLnBrk="1" hangingPunct="1">
              <a:spcBef>
                <a:spcPct val="60000"/>
              </a:spcBef>
              <a:buNone/>
            </a:pPr>
            <a:endParaRPr lang="en-US" altLang="zh-CN" b="1" dirty="0"/>
          </a:p>
          <a:p>
            <a:pPr marL="0" indent="892175" eaLnBrk="1" hangingPunct="1">
              <a:spcBef>
                <a:spcPct val="60000"/>
              </a:spcBef>
              <a:buNone/>
            </a:pPr>
            <a:r>
              <a:rPr lang="en-US" altLang="zh-CN" b="1" dirty="0"/>
              <a:t>5.3 </a:t>
            </a:r>
            <a:r>
              <a:rPr lang="zh-CN" altLang="en-US" b="1" dirty="0"/>
              <a:t>关系代数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60</a:t>
            </a:fld>
            <a:endParaRPr lang="zh-CN" altLang="en-US"/>
          </a:p>
        </p:txBody>
      </p:sp>
    </p:spTree>
    <p:extLst>
      <p:ext uri="{BB962C8B-B14F-4D97-AF65-F5344CB8AC3E}">
        <p14:creationId xmlns:p14="http://schemas.microsoft.com/office/powerpoint/2010/main" val="41597421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Times New Roman" panose="02020603050405020304" pitchFamily="18" charset="0"/>
                <a:cs typeface="Times New Roman" panose="02020603050405020304" pitchFamily="18" charset="0"/>
              </a:rPr>
              <a:t>业务流程建模</a:t>
            </a:r>
            <a:r>
              <a:rPr lang="zh-CN" altLang="en-US"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Business Process Modeling, BPM</a:t>
            </a:r>
            <a:r>
              <a:rPr lang="zh-CN" altLang="en-US" sz="1200" b="1" dirty="0">
                <a:latin typeface="Times New Roman" panose="02020603050405020304" pitchFamily="18" charset="0"/>
                <a:cs typeface="Times New Roman" panose="02020603050405020304" pitchFamily="18" charset="0"/>
              </a:rPr>
              <a:t>）是一种用图形方式表示组织内部流程的方法，它可以使用各种不同的模型来描述流程（如流程图、</a:t>
            </a:r>
            <a:r>
              <a:rPr lang="en-US" altLang="zh-CN" sz="1200" b="1" dirty="0">
                <a:latin typeface="Times New Roman" panose="02020603050405020304" pitchFamily="18" charset="0"/>
                <a:cs typeface="Times New Roman" panose="02020603050405020304" pitchFamily="18" charset="0"/>
              </a:rPr>
              <a:t>UML</a:t>
            </a:r>
            <a:r>
              <a:rPr lang="zh-CN" altLang="en-US" sz="1200" b="1" dirty="0">
                <a:latin typeface="Times New Roman" panose="02020603050405020304" pitchFamily="18" charset="0"/>
                <a:cs typeface="Times New Roman" panose="02020603050405020304" pitchFamily="18" charset="0"/>
              </a:rPr>
              <a:t>图、</a:t>
            </a:r>
            <a:r>
              <a:rPr lang="en-US" altLang="zh-CN" sz="1200" b="1" dirty="0">
                <a:latin typeface="Times New Roman" panose="02020603050405020304" pitchFamily="18" charset="0"/>
                <a:cs typeface="Times New Roman" panose="02020603050405020304" pitchFamily="18" charset="0"/>
              </a:rPr>
              <a:t>WF-net</a:t>
            </a:r>
            <a:r>
              <a:rPr lang="zh-CN" altLang="en-US" sz="1200" b="1" dirty="0">
                <a:latin typeface="Times New Roman" panose="02020603050405020304" pitchFamily="18" charset="0"/>
                <a:cs typeface="Times New Roman" panose="02020603050405020304" pitchFamily="18" charset="0"/>
              </a:rPr>
              <a:t>等）。</a:t>
            </a:r>
            <a:endParaRPr lang="zh-CN"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FF0000"/>
                </a:solidFill>
                <a:latin typeface="Times New Roman" panose="02020603050405020304" pitchFamily="18" charset="0"/>
                <a:cs typeface="Times New Roman" panose="02020603050405020304" pitchFamily="18" charset="0"/>
              </a:rPr>
              <a:t>WF-net</a:t>
            </a:r>
            <a:r>
              <a:rPr lang="zh-CN" altLang="zh-CN" sz="1200" b="1"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200" b="1" dirty="0">
                <a:effectLst/>
                <a:latin typeface="Times New Roman" panose="02020603050405020304" pitchFamily="18" charset="0"/>
                <a:ea typeface="等线" panose="02010600030101010101" pitchFamily="2" charset="-122"/>
                <a:cs typeface="Times New Roman" panose="02020603050405020304" pitchFamily="18" charset="0"/>
              </a:rPr>
              <a:t>Workflow Net</a:t>
            </a:r>
            <a:r>
              <a:rPr lang="zh-CN" altLang="zh-CN" sz="1200" b="1"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是采用集合、关系、函数的概念进行业务流程建模的方法。是一种特殊类型的</a:t>
            </a:r>
            <a:r>
              <a:rPr lang="en-US" altLang="zh-CN" sz="1200" b="1" dirty="0">
                <a:latin typeface="Times New Roman" panose="02020603050405020304" pitchFamily="18" charset="0"/>
                <a:cs typeface="Times New Roman" panose="02020603050405020304" pitchFamily="18" charset="0"/>
              </a:rPr>
              <a:t>Petri</a:t>
            </a:r>
            <a:r>
              <a:rPr lang="zh-CN" altLang="en-US" sz="1200" b="1" dirty="0">
                <a:latin typeface="Times New Roman" panose="02020603050405020304" pitchFamily="18" charset="0"/>
                <a:cs typeface="Times New Roman" panose="02020603050405020304" pitchFamily="18" charset="0"/>
              </a:rPr>
              <a:t>网，专门用于建模工作流程（</a:t>
            </a:r>
            <a:r>
              <a:rPr lang="en-US" altLang="zh-CN" sz="1200" b="1" dirty="0">
                <a:latin typeface="Times New Roman" panose="02020603050405020304" pitchFamily="18" charset="0"/>
                <a:cs typeface="Times New Roman" panose="02020603050405020304" pitchFamily="18" charset="0"/>
              </a:rPr>
              <a:t>workflow</a:t>
            </a:r>
            <a:r>
              <a:rPr lang="zh-CN" altLang="en-US" sz="1200" b="1" dirty="0">
                <a:latin typeface="Times New Roman" panose="02020603050405020304" pitchFamily="18" charset="0"/>
                <a:cs typeface="Times New Roman" panose="02020603050405020304" pitchFamily="18" charset="0"/>
              </a:rPr>
              <a:t>），描述和分析工作流程，在</a:t>
            </a:r>
            <a:r>
              <a:rPr lang="en-US" altLang="zh-CN" sz="1200" b="1" dirty="0">
                <a:latin typeface="Times New Roman" panose="02020603050405020304" pitchFamily="18" charset="0"/>
                <a:cs typeface="Times New Roman" panose="02020603050405020304" pitchFamily="18" charset="0"/>
              </a:rPr>
              <a:t>Petri</a:t>
            </a:r>
            <a:r>
              <a:rPr lang="zh-CN" altLang="en-US" sz="1200" b="1" dirty="0">
                <a:latin typeface="Times New Roman" panose="02020603050405020304" pitchFamily="18" charset="0"/>
                <a:cs typeface="Times New Roman" panose="02020603050405020304" pitchFamily="18" charset="0"/>
              </a:rPr>
              <a:t>网的基础上增加了对工作流特有的支持。</a:t>
            </a:r>
            <a:endParaRPr lang="zh-CN"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FF0000"/>
                </a:solidFill>
                <a:latin typeface="Times New Roman" panose="02020603050405020304" pitchFamily="18" charset="0"/>
                <a:cs typeface="Times New Roman" panose="02020603050405020304" pitchFamily="18" charset="0"/>
              </a:rPr>
              <a:t>Petri</a:t>
            </a:r>
            <a:r>
              <a:rPr lang="zh-CN" altLang="en-US" sz="1200" b="1" dirty="0">
                <a:solidFill>
                  <a:srgbClr val="FF0000"/>
                </a:solidFill>
                <a:latin typeface="Times New Roman" panose="02020603050405020304" pitchFamily="18" charset="0"/>
                <a:cs typeface="Times New Roman" panose="02020603050405020304" pitchFamily="18" charset="0"/>
              </a:rPr>
              <a:t>网</a:t>
            </a:r>
            <a:r>
              <a:rPr lang="zh-CN" altLang="en-US" sz="1200" b="1" dirty="0">
                <a:latin typeface="Times New Roman" panose="02020603050405020304" pitchFamily="18" charset="0"/>
                <a:cs typeface="Times New Roman" panose="02020603050405020304" pitchFamily="18" charset="0"/>
              </a:rPr>
              <a:t>是一种数学建模语言，它由位置（</a:t>
            </a:r>
            <a:r>
              <a:rPr lang="en-US" altLang="zh-CN" sz="1200" b="1" dirty="0">
                <a:latin typeface="Times New Roman" panose="02020603050405020304" pitchFamily="18" charset="0"/>
                <a:cs typeface="Times New Roman" panose="02020603050405020304" pitchFamily="18" charset="0"/>
              </a:rPr>
              <a:t>Place</a:t>
            </a:r>
            <a:r>
              <a:rPr lang="zh-CN" altLang="en-US" sz="1200" b="1" dirty="0">
                <a:latin typeface="Times New Roman" panose="02020603050405020304" pitchFamily="18" charset="0"/>
                <a:cs typeface="Times New Roman" panose="02020603050405020304" pitchFamily="18" charset="0"/>
              </a:rPr>
              <a:t>）、转换（</a:t>
            </a:r>
            <a:r>
              <a:rPr lang="en-US" altLang="zh-CN" sz="1200" b="1" dirty="0">
                <a:latin typeface="Times New Roman" panose="02020603050405020304" pitchFamily="18" charset="0"/>
                <a:cs typeface="Times New Roman" panose="02020603050405020304" pitchFamily="18" charset="0"/>
              </a:rPr>
              <a:t>Transition</a:t>
            </a:r>
            <a:r>
              <a:rPr lang="zh-CN" altLang="en-US" sz="1200" b="1" dirty="0">
                <a:latin typeface="Times New Roman" panose="02020603050405020304" pitchFamily="18" charset="0"/>
                <a:cs typeface="Times New Roman" panose="02020603050405020304" pitchFamily="18" charset="0"/>
              </a:rPr>
              <a:t>）和令牌（</a:t>
            </a:r>
            <a:r>
              <a:rPr lang="en-US" altLang="zh-CN" sz="1200" b="1" dirty="0">
                <a:latin typeface="Times New Roman" panose="02020603050405020304" pitchFamily="18" charset="0"/>
                <a:cs typeface="Times New Roman" panose="02020603050405020304" pitchFamily="18" charset="0"/>
              </a:rPr>
              <a:t>Token</a:t>
            </a:r>
            <a:r>
              <a:rPr lang="zh-CN" altLang="en-US" sz="1200" b="1" dirty="0">
                <a:latin typeface="Times New Roman" panose="02020603050405020304" pitchFamily="18" charset="0"/>
                <a:cs typeface="Times New Roman" panose="02020603050405020304" pitchFamily="18" charset="0"/>
              </a:rPr>
              <a:t>）组成，能够精确地描述和分析复杂的系统动态。</a:t>
            </a:r>
            <a:endParaRPr lang="zh-CN" altLang="zh-CN" sz="1200" b="1"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61</a:t>
            </a:fld>
            <a:endParaRPr lang="zh-CN" altLang="en-US"/>
          </a:p>
        </p:txBody>
      </p:sp>
    </p:spTree>
    <p:extLst>
      <p:ext uri="{BB962C8B-B14F-4D97-AF65-F5344CB8AC3E}">
        <p14:creationId xmlns:p14="http://schemas.microsoft.com/office/powerpoint/2010/main" val="22033474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Times New Roman" panose="02020603050405020304" pitchFamily="18" charset="0"/>
                <a:cs typeface="Times New Roman" panose="02020603050405020304" pitchFamily="18" charset="0"/>
              </a:rPr>
              <a:t>业务流程建模</a:t>
            </a:r>
            <a:r>
              <a:rPr lang="zh-CN" altLang="en-US"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Business Process Modeling, BPM</a:t>
            </a:r>
            <a:r>
              <a:rPr lang="zh-CN" altLang="en-US" sz="1200" b="1" dirty="0">
                <a:latin typeface="Times New Roman" panose="02020603050405020304" pitchFamily="18" charset="0"/>
                <a:cs typeface="Times New Roman" panose="02020603050405020304" pitchFamily="18" charset="0"/>
              </a:rPr>
              <a:t>）是一种用图形方式表示组织内部流程的方法，它可以使用各种不同的模型来描述流程（如流程图、</a:t>
            </a:r>
            <a:r>
              <a:rPr lang="en-US" altLang="zh-CN" sz="1200" b="1" dirty="0">
                <a:latin typeface="Times New Roman" panose="02020603050405020304" pitchFamily="18" charset="0"/>
                <a:cs typeface="Times New Roman" panose="02020603050405020304" pitchFamily="18" charset="0"/>
              </a:rPr>
              <a:t>UML</a:t>
            </a:r>
            <a:r>
              <a:rPr lang="zh-CN" altLang="en-US" sz="1200" b="1" dirty="0">
                <a:latin typeface="Times New Roman" panose="02020603050405020304" pitchFamily="18" charset="0"/>
                <a:cs typeface="Times New Roman" panose="02020603050405020304" pitchFamily="18" charset="0"/>
              </a:rPr>
              <a:t>图、</a:t>
            </a:r>
            <a:r>
              <a:rPr lang="en-US" altLang="zh-CN" sz="1200" b="1" dirty="0">
                <a:latin typeface="Times New Roman" panose="02020603050405020304" pitchFamily="18" charset="0"/>
                <a:cs typeface="Times New Roman" panose="02020603050405020304" pitchFamily="18" charset="0"/>
              </a:rPr>
              <a:t>WF-net</a:t>
            </a:r>
            <a:r>
              <a:rPr lang="zh-CN" altLang="en-US" sz="1200" b="1" dirty="0">
                <a:latin typeface="Times New Roman" panose="02020603050405020304" pitchFamily="18" charset="0"/>
                <a:cs typeface="Times New Roman" panose="02020603050405020304" pitchFamily="18" charset="0"/>
              </a:rPr>
              <a:t>等）。</a:t>
            </a:r>
            <a:endParaRPr lang="zh-CN"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FF0000"/>
                </a:solidFill>
                <a:latin typeface="Times New Roman" panose="02020603050405020304" pitchFamily="18" charset="0"/>
                <a:cs typeface="Times New Roman" panose="02020603050405020304" pitchFamily="18" charset="0"/>
              </a:rPr>
              <a:t>WF-net</a:t>
            </a:r>
            <a:r>
              <a:rPr lang="zh-CN" altLang="zh-CN" sz="1200" b="1"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200" b="1" dirty="0">
                <a:effectLst/>
                <a:latin typeface="Times New Roman" panose="02020603050405020304" pitchFamily="18" charset="0"/>
                <a:ea typeface="等线" panose="02010600030101010101" pitchFamily="2" charset="-122"/>
                <a:cs typeface="Times New Roman" panose="02020603050405020304" pitchFamily="18" charset="0"/>
              </a:rPr>
              <a:t>Workflow Net</a:t>
            </a:r>
            <a:r>
              <a:rPr lang="zh-CN" altLang="zh-CN" sz="1200" b="1"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是采用集合、关系、函数的概念进行业务流程建模的方法。是一种特殊类型的</a:t>
            </a:r>
            <a:r>
              <a:rPr lang="en-US" altLang="zh-CN" sz="1200" b="1" dirty="0">
                <a:latin typeface="Times New Roman" panose="02020603050405020304" pitchFamily="18" charset="0"/>
                <a:cs typeface="Times New Roman" panose="02020603050405020304" pitchFamily="18" charset="0"/>
              </a:rPr>
              <a:t>Petri</a:t>
            </a:r>
            <a:r>
              <a:rPr lang="zh-CN" altLang="en-US" sz="1200" b="1" dirty="0">
                <a:latin typeface="Times New Roman" panose="02020603050405020304" pitchFamily="18" charset="0"/>
                <a:cs typeface="Times New Roman" panose="02020603050405020304" pitchFamily="18" charset="0"/>
              </a:rPr>
              <a:t>网，专门用于建模工作流程（</a:t>
            </a:r>
            <a:r>
              <a:rPr lang="en-US" altLang="zh-CN" sz="1200" b="1" dirty="0">
                <a:latin typeface="Times New Roman" panose="02020603050405020304" pitchFamily="18" charset="0"/>
                <a:cs typeface="Times New Roman" panose="02020603050405020304" pitchFamily="18" charset="0"/>
              </a:rPr>
              <a:t>workflow</a:t>
            </a:r>
            <a:r>
              <a:rPr lang="zh-CN" altLang="en-US" sz="1200" b="1" dirty="0">
                <a:latin typeface="Times New Roman" panose="02020603050405020304" pitchFamily="18" charset="0"/>
                <a:cs typeface="Times New Roman" panose="02020603050405020304" pitchFamily="18" charset="0"/>
              </a:rPr>
              <a:t>），描述和分析工作流程，在</a:t>
            </a:r>
            <a:r>
              <a:rPr lang="en-US" altLang="zh-CN" sz="1200" b="1" dirty="0">
                <a:latin typeface="Times New Roman" panose="02020603050405020304" pitchFamily="18" charset="0"/>
                <a:cs typeface="Times New Roman" panose="02020603050405020304" pitchFamily="18" charset="0"/>
              </a:rPr>
              <a:t>Petri</a:t>
            </a:r>
            <a:r>
              <a:rPr lang="zh-CN" altLang="en-US" sz="1200" b="1" dirty="0">
                <a:latin typeface="Times New Roman" panose="02020603050405020304" pitchFamily="18" charset="0"/>
                <a:cs typeface="Times New Roman" panose="02020603050405020304" pitchFamily="18" charset="0"/>
              </a:rPr>
              <a:t>网的基础上增加了对工作流特有的支持。</a:t>
            </a:r>
            <a:endParaRPr lang="zh-CN"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FF0000"/>
                </a:solidFill>
                <a:latin typeface="Times New Roman" panose="02020603050405020304" pitchFamily="18" charset="0"/>
                <a:cs typeface="Times New Roman" panose="02020603050405020304" pitchFamily="18" charset="0"/>
              </a:rPr>
              <a:t>Petri</a:t>
            </a:r>
            <a:r>
              <a:rPr lang="zh-CN" altLang="en-US" sz="1200" b="1" dirty="0">
                <a:solidFill>
                  <a:srgbClr val="FF0000"/>
                </a:solidFill>
                <a:latin typeface="Times New Roman" panose="02020603050405020304" pitchFamily="18" charset="0"/>
                <a:cs typeface="Times New Roman" panose="02020603050405020304" pitchFamily="18" charset="0"/>
              </a:rPr>
              <a:t>网</a:t>
            </a:r>
            <a:r>
              <a:rPr lang="zh-CN" altLang="en-US" sz="1200" b="1" dirty="0">
                <a:latin typeface="Times New Roman" panose="02020603050405020304" pitchFamily="18" charset="0"/>
                <a:cs typeface="Times New Roman" panose="02020603050405020304" pitchFamily="18" charset="0"/>
              </a:rPr>
              <a:t>是一种数学建模语言，它由位置（</a:t>
            </a:r>
            <a:r>
              <a:rPr lang="en-US" altLang="zh-CN" sz="1200" b="1" dirty="0">
                <a:latin typeface="Times New Roman" panose="02020603050405020304" pitchFamily="18" charset="0"/>
                <a:cs typeface="Times New Roman" panose="02020603050405020304" pitchFamily="18" charset="0"/>
              </a:rPr>
              <a:t>Place</a:t>
            </a:r>
            <a:r>
              <a:rPr lang="zh-CN" altLang="en-US" sz="1200" b="1" dirty="0">
                <a:latin typeface="Times New Roman" panose="02020603050405020304" pitchFamily="18" charset="0"/>
                <a:cs typeface="Times New Roman" panose="02020603050405020304" pitchFamily="18" charset="0"/>
              </a:rPr>
              <a:t>）、转换（</a:t>
            </a:r>
            <a:r>
              <a:rPr lang="en-US" altLang="zh-CN" sz="1200" b="1" dirty="0">
                <a:latin typeface="Times New Roman" panose="02020603050405020304" pitchFamily="18" charset="0"/>
                <a:cs typeface="Times New Roman" panose="02020603050405020304" pitchFamily="18" charset="0"/>
              </a:rPr>
              <a:t>Transition</a:t>
            </a:r>
            <a:r>
              <a:rPr lang="zh-CN" altLang="en-US" sz="1200" b="1" dirty="0">
                <a:latin typeface="Times New Roman" panose="02020603050405020304" pitchFamily="18" charset="0"/>
                <a:cs typeface="Times New Roman" panose="02020603050405020304" pitchFamily="18" charset="0"/>
              </a:rPr>
              <a:t>）和令牌（</a:t>
            </a:r>
            <a:r>
              <a:rPr lang="en-US" altLang="zh-CN" sz="1200" b="1" dirty="0">
                <a:latin typeface="Times New Roman" panose="02020603050405020304" pitchFamily="18" charset="0"/>
                <a:cs typeface="Times New Roman" panose="02020603050405020304" pitchFamily="18" charset="0"/>
              </a:rPr>
              <a:t>Token</a:t>
            </a:r>
            <a:r>
              <a:rPr lang="zh-CN" altLang="en-US" sz="1200" b="1" dirty="0">
                <a:latin typeface="Times New Roman" panose="02020603050405020304" pitchFamily="18" charset="0"/>
                <a:cs typeface="Times New Roman" panose="02020603050405020304" pitchFamily="18" charset="0"/>
              </a:rPr>
              <a:t>）组成，能够精确地描述和分析复杂的系统动态。</a:t>
            </a:r>
            <a:endParaRPr lang="zh-CN" altLang="zh-CN" sz="1200" b="1"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62</a:t>
            </a:fld>
            <a:endParaRPr lang="zh-CN" altLang="en-US"/>
          </a:p>
        </p:txBody>
      </p:sp>
    </p:spTree>
    <p:extLst>
      <p:ext uri="{BB962C8B-B14F-4D97-AF65-F5344CB8AC3E}">
        <p14:creationId xmlns:p14="http://schemas.microsoft.com/office/powerpoint/2010/main" val="132861734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Times New Roman" panose="02020603050405020304" pitchFamily="18" charset="0"/>
                <a:cs typeface="Times New Roman" panose="02020603050405020304" pitchFamily="18" charset="0"/>
              </a:rPr>
              <a:t>业务流程建模</a:t>
            </a:r>
            <a:r>
              <a:rPr lang="zh-CN" altLang="en-US"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Business Process Modeling, BPM</a:t>
            </a:r>
            <a:r>
              <a:rPr lang="zh-CN" altLang="en-US" sz="1200" b="1" dirty="0">
                <a:latin typeface="Times New Roman" panose="02020603050405020304" pitchFamily="18" charset="0"/>
                <a:cs typeface="Times New Roman" panose="02020603050405020304" pitchFamily="18" charset="0"/>
              </a:rPr>
              <a:t>）是一种用图形方式表示组织内部流程的方法，它可以使用各种不同的模型来描述流程（如流程图、</a:t>
            </a:r>
            <a:r>
              <a:rPr lang="en-US" altLang="zh-CN" sz="1200" b="1" dirty="0">
                <a:latin typeface="Times New Roman" panose="02020603050405020304" pitchFamily="18" charset="0"/>
                <a:cs typeface="Times New Roman" panose="02020603050405020304" pitchFamily="18" charset="0"/>
              </a:rPr>
              <a:t>UML</a:t>
            </a:r>
            <a:r>
              <a:rPr lang="zh-CN" altLang="en-US" sz="1200" b="1" dirty="0">
                <a:latin typeface="Times New Roman" panose="02020603050405020304" pitchFamily="18" charset="0"/>
                <a:cs typeface="Times New Roman" panose="02020603050405020304" pitchFamily="18" charset="0"/>
              </a:rPr>
              <a:t>图、</a:t>
            </a:r>
            <a:r>
              <a:rPr lang="en-US" altLang="zh-CN" sz="1200" b="1" dirty="0">
                <a:latin typeface="Times New Roman" panose="02020603050405020304" pitchFamily="18" charset="0"/>
                <a:cs typeface="Times New Roman" panose="02020603050405020304" pitchFamily="18" charset="0"/>
              </a:rPr>
              <a:t>WF-net</a:t>
            </a:r>
            <a:r>
              <a:rPr lang="zh-CN" altLang="en-US" sz="1200" b="1" dirty="0">
                <a:latin typeface="Times New Roman" panose="02020603050405020304" pitchFamily="18" charset="0"/>
                <a:cs typeface="Times New Roman" panose="02020603050405020304" pitchFamily="18" charset="0"/>
              </a:rPr>
              <a:t>等）。</a:t>
            </a:r>
            <a:endParaRPr lang="zh-CN"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FF0000"/>
                </a:solidFill>
                <a:latin typeface="Times New Roman" panose="02020603050405020304" pitchFamily="18" charset="0"/>
                <a:cs typeface="Times New Roman" panose="02020603050405020304" pitchFamily="18" charset="0"/>
              </a:rPr>
              <a:t>WF-net</a:t>
            </a:r>
            <a:r>
              <a:rPr lang="zh-CN" altLang="zh-CN" sz="1200" b="1" dirty="0">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200" b="1" dirty="0">
                <a:effectLst/>
                <a:latin typeface="Times New Roman" panose="02020603050405020304" pitchFamily="18" charset="0"/>
                <a:ea typeface="等线" panose="02010600030101010101" pitchFamily="2" charset="-122"/>
                <a:cs typeface="Times New Roman" panose="02020603050405020304" pitchFamily="18" charset="0"/>
              </a:rPr>
              <a:t>Workflow Net</a:t>
            </a:r>
            <a:r>
              <a:rPr lang="zh-CN" altLang="zh-CN" sz="1200" b="1"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是采用集合、关系、函数的概念进行业务流程建模的方法。是一种特殊类型的</a:t>
            </a:r>
            <a:r>
              <a:rPr lang="en-US" altLang="zh-CN" sz="1200" b="1" dirty="0">
                <a:latin typeface="Times New Roman" panose="02020603050405020304" pitchFamily="18" charset="0"/>
                <a:cs typeface="Times New Roman" panose="02020603050405020304" pitchFamily="18" charset="0"/>
              </a:rPr>
              <a:t>Petri</a:t>
            </a:r>
            <a:r>
              <a:rPr lang="zh-CN" altLang="en-US" sz="1200" b="1" dirty="0">
                <a:latin typeface="Times New Roman" panose="02020603050405020304" pitchFamily="18" charset="0"/>
                <a:cs typeface="Times New Roman" panose="02020603050405020304" pitchFamily="18" charset="0"/>
              </a:rPr>
              <a:t>网，专门用于建模工作流程（</a:t>
            </a:r>
            <a:r>
              <a:rPr lang="en-US" altLang="zh-CN" sz="1200" b="1" dirty="0">
                <a:latin typeface="Times New Roman" panose="02020603050405020304" pitchFamily="18" charset="0"/>
                <a:cs typeface="Times New Roman" panose="02020603050405020304" pitchFamily="18" charset="0"/>
              </a:rPr>
              <a:t>workflow</a:t>
            </a:r>
            <a:r>
              <a:rPr lang="zh-CN" altLang="en-US" sz="1200" b="1" dirty="0">
                <a:latin typeface="Times New Roman" panose="02020603050405020304" pitchFamily="18" charset="0"/>
                <a:cs typeface="Times New Roman" panose="02020603050405020304" pitchFamily="18" charset="0"/>
              </a:rPr>
              <a:t>），描述和分析工作流程，在</a:t>
            </a:r>
            <a:r>
              <a:rPr lang="en-US" altLang="zh-CN" sz="1200" b="1" dirty="0">
                <a:latin typeface="Times New Roman" panose="02020603050405020304" pitchFamily="18" charset="0"/>
                <a:cs typeface="Times New Roman" panose="02020603050405020304" pitchFamily="18" charset="0"/>
              </a:rPr>
              <a:t>Petri</a:t>
            </a:r>
            <a:r>
              <a:rPr lang="zh-CN" altLang="en-US" sz="1200" b="1" dirty="0">
                <a:latin typeface="Times New Roman" panose="02020603050405020304" pitchFamily="18" charset="0"/>
                <a:cs typeface="Times New Roman" panose="02020603050405020304" pitchFamily="18" charset="0"/>
              </a:rPr>
              <a:t>网的基础上增加了对工作流特有的支持。</a:t>
            </a:r>
            <a:endParaRPr lang="zh-CN"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FF0000"/>
                </a:solidFill>
                <a:latin typeface="Times New Roman" panose="02020603050405020304" pitchFamily="18" charset="0"/>
                <a:cs typeface="Times New Roman" panose="02020603050405020304" pitchFamily="18" charset="0"/>
              </a:rPr>
              <a:t>Petri</a:t>
            </a:r>
            <a:r>
              <a:rPr lang="zh-CN" altLang="en-US" sz="1200" b="1" dirty="0">
                <a:solidFill>
                  <a:srgbClr val="FF0000"/>
                </a:solidFill>
                <a:latin typeface="Times New Roman" panose="02020603050405020304" pitchFamily="18" charset="0"/>
                <a:cs typeface="Times New Roman" panose="02020603050405020304" pitchFamily="18" charset="0"/>
              </a:rPr>
              <a:t>网</a:t>
            </a:r>
            <a:r>
              <a:rPr lang="zh-CN" altLang="en-US" sz="1200" b="1" dirty="0">
                <a:latin typeface="Times New Roman" panose="02020603050405020304" pitchFamily="18" charset="0"/>
                <a:cs typeface="Times New Roman" panose="02020603050405020304" pitchFamily="18" charset="0"/>
              </a:rPr>
              <a:t>是一种数学建模语言，它由位置（</a:t>
            </a:r>
            <a:r>
              <a:rPr lang="en-US" altLang="zh-CN" sz="1200" b="1" dirty="0">
                <a:latin typeface="Times New Roman" panose="02020603050405020304" pitchFamily="18" charset="0"/>
                <a:cs typeface="Times New Roman" panose="02020603050405020304" pitchFamily="18" charset="0"/>
              </a:rPr>
              <a:t>Place</a:t>
            </a:r>
            <a:r>
              <a:rPr lang="zh-CN" altLang="en-US" sz="1200" b="1" dirty="0">
                <a:latin typeface="Times New Roman" panose="02020603050405020304" pitchFamily="18" charset="0"/>
                <a:cs typeface="Times New Roman" panose="02020603050405020304" pitchFamily="18" charset="0"/>
              </a:rPr>
              <a:t>）、转换（</a:t>
            </a:r>
            <a:r>
              <a:rPr lang="en-US" altLang="zh-CN" sz="1200" b="1" dirty="0">
                <a:latin typeface="Times New Roman" panose="02020603050405020304" pitchFamily="18" charset="0"/>
                <a:cs typeface="Times New Roman" panose="02020603050405020304" pitchFamily="18" charset="0"/>
              </a:rPr>
              <a:t>Transition</a:t>
            </a:r>
            <a:r>
              <a:rPr lang="zh-CN" altLang="en-US" sz="1200" b="1" dirty="0">
                <a:latin typeface="Times New Roman" panose="02020603050405020304" pitchFamily="18" charset="0"/>
                <a:cs typeface="Times New Roman" panose="02020603050405020304" pitchFamily="18" charset="0"/>
              </a:rPr>
              <a:t>）和令牌（</a:t>
            </a:r>
            <a:r>
              <a:rPr lang="en-US" altLang="zh-CN" sz="1200" b="1" dirty="0">
                <a:latin typeface="Times New Roman" panose="02020603050405020304" pitchFamily="18" charset="0"/>
                <a:cs typeface="Times New Roman" panose="02020603050405020304" pitchFamily="18" charset="0"/>
              </a:rPr>
              <a:t>Token</a:t>
            </a:r>
            <a:r>
              <a:rPr lang="zh-CN" altLang="en-US" sz="1200" b="1" dirty="0">
                <a:latin typeface="Times New Roman" panose="02020603050405020304" pitchFamily="18" charset="0"/>
                <a:cs typeface="Times New Roman" panose="02020603050405020304" pitchFamily="18" charset="0"/>
              </a:rPr>
              <a:t>）组成，能够精确地描述和分析复杂的系统动态。</a:t>
            </a:r>
            <a:endParaRPr lang="zh-CN" altLang="zh-CN" sz="1200" b="1"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63</a:t>
            </a:fld>
            <a:endParaRPr lang="zh-CN" altLang="en-US"/>
          </a:p>
        </p:txBody>
      </p:sp>
    </p:spTree>
    <p:extLst>
      <p:ext uri="{BB962C8B-B14F-4D97-AF65-F5344CB8AC3E}">
        <p14:creationId xmlns:p14="http://schemas.microsoft.com/office/powerpoint/2010/main" val="36716559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defRPr/>
            </a:pPr>
            <a:r>
              <a:rPr lang="en-US" altLang="zh-CN" sz="1200" b="1" i="1" dirty="0">
                <a:solidFill>
                  <a:schemeClr val="tx1"/>
                </a:solidFill>
                <a:latin typeface="+mn-lt"/>
                <a:ea typeface="+mn-ea"/>
              </a:rPr>
              <a:t>T</a:t>
            </a:r>
            <a:r>
              <a:rPr lang="en-US" altLang="zh-CN" sz="1200" b="1" baseline="-25000" dirty="0">
                <a:solidFill>
                  <a:schemeClr val="tx1"/>
                </a:solidFill>
                <a:latin typeface="+mn-lt"/>
                <a:ea typeface="+mn-ea"/>
              </a:rPr>
              <a:t>1</a:t>
            </a:r>
            <a:r>
              <a:rPr lang="zh-CN" altLang="zh-CN" sz="1200" b="1" dirty="0">
                <a:solidFill>
                  <a:schemeClr val="tx1"/>
                </a:solidFill>
                <a:latin typeface="+mn-lt"/>
                <a:ea typeface="+mn-ea"/>
              </a:rPr>
              <a:t>：收到论文，邀请三个评审人；</a:t>
            </a:r>
          </a:p>
          <a:p>
            <a:pPr eaLnBrk="1" hangingPunct="1">
              <a:defRPr/>
            </a:pPr>
            <a:r>
              <a:rPr lang="en-US" altLang="zh-CN" sz="1200" b="1" i="1" dirty="0">
                <a:solidFill>
                  <a:schemeClr val="tx1"/>
                </a:solidFill>
                <a:latin typeface="+mn-lt"/>
                <a:ea typeface="+mn-ea"/>
              </a:rPr>
              <a:t>T</a:t>
            </a:r>
            <a:r>
              <a:rPr lang="en-US" altLang="zh-CN" sz="1200" b="1" baseline="-25000" dirty="0">
                <a:solidFill>
                  <a:schemeClr val="tx1"/>
                </a:solidFill>
                <a:latin typeface="+mn-lt"/>
                <a:ea typeface="+mn-ea"/>
              </a:rPr>
              <a:t>2</a:t>
            </a:r>
            <a:r>
              <a:rPr lang="en-US" altLang="zh-CN" sz="1200" b="1" dirty="0">
                <a:solidFill>
                  <a:schemeClr val="tx1"/>
                </a:solidFill>
                <a:latin typeface="+mn-lt"/>
                <a:ea typeface="+mn-ea"/>
              </a:rPr>
              <a:t>,</a:t>
            </a:r>
            <a:r>
              <a:rPr lang="en-US" altLang="zh-CN" sz="1200" b="1" i="1" dirty="0">
                <a:solidFill>
                  <a:schemeClr val="tx1"/>
                </a:solidFill>
                <a:latin typeface="+mn-lt"/>
                <a:ea typeface="+mn-ea"/>
              </a:rPr>
              <a:t>T</a:t>
            </a:r>
            <a:r>
              <a:rPr lang="en-US" altLang="zh-CN" sz="1200" b="1" baseline="-25000" dirty="0">
                <a:solidFill>
                  <a:schemeClr val="tx1"/>
                </a:solidFill>
                <a:latin typeface="+mn-lt"/>
                <a:ea typeface="+mn-ea"/>
              </a:rPr>
              <a:t>4</a:t>
            </a:r>
            <a:r>
              <a:rPr lang="en-US" altLang="zh-CN" sz="1200" b="1" dirty="0">
                <a:solidFill>
                  <a:schemeClr val="tx1"/>
                </a:solidFill>
                <a:latin typeface="+mn-lt"/>
                <a:ea typeface="+mn-ea"/>
              </a:rPr>
              <a:t>,</a:t>
            </a:r>
            <a:r>
              <a:rPr lang="en-US" altLang="zh-CN" sz="1200" b="1" i="1" dirty="0">
                <a:solidFill>
                  <a:schemeClr val="tx1"/>
                </a:solidFill>
                <a:latin typeface="+mn-lt"/>
                <a:ea typeface="+mn-ea"/>
              </a:rPr>
              <a:t>T</a:t>
            </a:r>
            <a:r>
              <a:rPr lang="en-US" altLang="zh-CN" sz="1200" b="1" baseline="-25000" dirty="0">
                <a:solidFill>
                  <a:schemeClr val="tx1"/>
                </a:solidFill>
                <a:latin typeface="+mn-lt"/>
                <a:ea typeface="+mn-ea"/>
              </a:rPr>
              <a:t>6 </a:t>
            </a:r>
            <a:r>
              <a:rPr lang="en-US" altLang="zh-CN" sz="1200" b="1" i="1" dirty="0">
                <a:solidFill>
                  <a:schemeClr val="tx1"/>
                </a:solidFill>
                <a:latin typeface="+mn-lt"/>
                <a:ea typeface="+mn-ea"/>
              </a:rPr>
              <a:t>,T</a:t>
            </a:r>
            <a:r>
              <a:rPr lang="en-US" altLang="zh-CN" sz="1200" b="1" baseline="-25000" dirty="0">
                <a:solidFill>
                  <a:schemeClr val="tx1"/>
                </a:solidFill>
                <a:latin typeface="+mn-lt"/>
                <a:ea typeface="+mn-ea"/>
              </a:rPr>
              <a:t>13</a:t>
            </a:r>
            <a:r>
              <a:rPr lang="zh-CN" altLang="en-US" sz="1200" b="1" dirty="0">
                <a:solidFill>
                  <a:schemeClr val="tx1"/>
                </a:solidFill>
                <a:latin typeface="+mn-lt"/>
                <a:ea typeface="+mn-ea"/>
              </a:rPr>
              <a:t>：及时</a:t>
            </a:r>
            <a:r>
              <a:rPr lang="zh-CN" altLang="zh-CN" sz="1200" b="1" dirty="0">
                <a:solidFill>
                  <a:schemeClr val="tx1"/>
                </a:solidFill>
                <a:latin typeface="+mn-lt"/>
                <a:ea typeface="+mn-ea"/>
              </a:rPr>
              <a:t>得到评审意见</a:t>
            </a:r>
            <a:r>
              <a:rPr lang="zh-CN" altLang="zh-CN" sz="1200" b="1" dirty="0">
                <a:solidFill>
                  <a:schemeClr val="tx1"/>
                </a:solidFill>
                <a:latin typeface="+mn-ea"/>
                <a:ea typeface="+mn-ea"/>
              </a:rPr>
              <a:t>；</a:t>
            </a:r>
          </a:p>
          <a:p>
            <a:pPr eaLnBrk="1" hangingPunct="1">
              <a:defRPr/>
            </a:pPr>
            <a:r>
              <a:rPr lang="en-US" altLang="zh-CN" sz="1200" b="1" i="1" dirty="0">
                <a:solidFill>
                  <a:schemeClr val="tx1"/>
                </a:solidFill>
                <a:latin typeface="+mn-lt"/>
                <a:ea typeface="+mn-ea"/>
              </a:rPr>
              <a:t>T</a:t>
            </a:r>
            <a:r>
              <a:rPr lang="en-US" altLang="zh-CN" sz="1200" b="1" baseline="-25000" dirty="0">
                <a:solidFill>
                  <a:schemeClr val="tx1"/>
                </a:solidFill>
                <a:latin typeface="+mn-lt"/>
                <a:ea typeface="+mn-ea"/>
              </a:rPr>
              <a:t>3</a:t>
            </a:r>
            <a:r>
              <a:rPr lang="en-US" altLang="zh-CN" sz="1200" b="1" dirty="0">
                <a:solidFill>
                  <a:schemeClr val="tx1"/>
                </a:solidFill>
                <a:latin typeface="+mn-lt"/>
                <a:ea typeface="+mn-ea"/>
              </a:rPr>
              <a:t>,</a:t>
            </a:r>
            <a:r>
              <a:rPr lang="en-US" altLang="zh-CN" sz="1200" b="1" i="1" dirty="0">
                <a:solidFill>
                  <a:schemeClr val="tx1"/>
                </a:solidFill>
                <a:latin typeface="+mn-lt"/>
                <a:ea typeface="+mn-ea"/>
              </a:rPr>
              <a:t>T</a:t>
            </a:r>
            <a:r>
              <a:rPr lang="en-US" altLang="zh-CN" sz="1200" b="1" baseline="-25000" dirty="0">
                <a:solidFill>
                  <a:schemeClr val="tx1"/>
                </a:solidFill>
                <a:latin typeface="+mn-lt"/>
                <a:ea typeface="+mn-ea"/>
              </a:rPr>
              <a:t>5</a:t>
            </a:r>
            <a:r>
              <a:rPr lang="en-US" altLang="zh-CN" sz="1200" b="1" dirty="0">
                <a:solidFill>
                  <a:schemeClr val="tx1"/>
                </a:solidFill>
                <a:latin typeface="+mn-lt"/>
                <a:ea typeface="+mn-ea"/>
              </a:rPr>
              <a:t>,</a:t>
            </a:r>
            <a:r>
              <a:rPr lang="en-US" altLang="zh-CN" sz="1200" b="1" i="1" dirty="0">
                <a:solidFill>
                  <a:schemeClr val="tx1"/>
                </a:solidFill>
                <a:latin typeface="+mn-lt"/>
                <a:ea typeface="+mn-ea"/>
              </a:rPr>
              <a:t>T</a:t>
            </a:r>
            <a:r>
              <a:rPr lang="en-US" altLang="zh-CN" sz="1200" b="1" baseline="-25000" dirty="0">
                <a:solidFill>
                  <a:schemeClr val="tx1"/>
                </a:solidFill>
                <a:latin typeface="+mn-lt"/>
                <a:ea typeface="+mn-ea"/>
              </a:rPr>
              <a:t>7</a:t>
            </a:r>
            <a:r>
              <a:rPr lang="en-US" altLang="zh-CN" sz="1200" b="1" dirty="0">
                <a:solidFill>
                  <a:schemeClr val="tx1"/>
                </a:solidFill>
                <a:latin typeface="Arial" charset="0"/>
              </a:rPr>
              <a:t>,</a:t>
            </a:r>
            <a:r>
              <a:rPr lang="en-US" altLang="zh-CN" sz="1200" b="1" i="1" dirty="0">
                <a:solidFill>
                  <a:schemeClr val="tx1"/>
                </a:solidFill>
                <a:latin typeface="+mn-lt"/>
              </a:rPr>
              <a:t>T</a:t>
            </a:r>
            <a:r>
              <a:rPr lang="en-US" altLang="zh-CN" sz="1200" b="1" baseline="-25000" dirty="0">
                <a:solidFill>
                  <a:schemeClr val="tx1"/>
                </a:solidFill>
                <a:latin typeface="+mn-lt"/>
              </a:rPr>
              <a:t>14</a:t>
            </a:r>
            <a:r>
              <a:rPr lang="zh-CN" altLang="en-US" sz="1200" b="1" dirty="0">
                <a:solidFill>
                  <a:schemeClr val="tx1"/>
                </a:solidFill>
                <a:latin typeface="+mn-lt"/>
                <a:ea typeface="+mn-ea"/>
              </a:rPr>
              <a:t>：没按时收</a:t>
            </a:r>
            <a:r>
              <a:rPr lang="zh-CN" altLang="zh-CN" sz="1200" b="1" dirty="0">
                <a:solidFill>
                  <a:schemeClr val="tx1"/>
                </a:solidFill>
                <a:latin typeface="+mn-lt"/>
                <a:ea typeface="+mn-ea"/>
              </a:rPr>
              <a:t>到评审意见；</a:t>
            </a:r>
          </a:p>
          <a:p>
            <a:pPr eaLnBrk="1" hangingPunct="1">
              <a:defRPr/>
            </a:pPr>
            <a:r>
              <a:rPr lang="en-US" altLang="zh-CN" sz="1200" b="1" i="1" dirty="0">
                <a:solidFill>
                  <a:schemeClr val="tx1"/>
                </a:solidFill>
                <a:latin typeface="+mn-lt"/>
                <a:ea typeface="+mn-ea"/>
              </a:rPr>
              <a:t>T</a:t>
            </a:r>
            <a:r>
              <a:rPr lang="en-US" altLang="zh-CN" sz="1200" b="1" baseline="-25000" dirty="0">
                <a:solidFill>
                  <a:schemeClr val="tx1"/>
                </a:solidFill>
                <a:latin typeface="+mn-lt"/>
                <a:ea typeface="+mn-ea"/>
              </a:rPr>
              <a:t>8</a:t>
            </a:r>
            <a:r>
              <a:rPr lang="zh-CN" altLang="zh-CN" sz="1200" b="1" dirty="0">
                <a:solidFill>
                  <a:schemeClr val="tx1"/>
                </a:solidFill>
                <a:latin typeface="+mn-lt"/>
                <a:ea typeface="+mn-ea"/>
              </a:rPr>
              <a:t>：汇总评审意见；</a:t>
            </a:r>
          </a:p>
          <a:p>
            <a:endParaRPr lang="en-US" altLang="zh-CN" dirty="0"/>
          </a:p>
          <a:p>
            <a:pPr eaLnBrk="1" hangingPunct="1">
              <a:defRPr/>
            </a:pPr>
            <a:r>
              <a:rPr lang="en-US" altLang="zh-CN" sz="1200" b="1" i="1" dirty="0">
                <a:solidFill>
                  <a:srgbClr val="000000"/>
                </a:solidFill>
                <a:latin typeface="+mn-lt"/>
                <a:ea typeface="+mj-ea"/>
              </a:rPr>
              <a:t>T</a:t>
            </a:r>
            <a:r>
              <a:rPr lang="en-US" altLang="zh-CN" sz="1200" b="1" baseline="-25000" dirty="0">
                <a:solidFill>
                  <a:srgbClr val="000000"/>
                </a:solidFill>
                <a:latin typeface="+mn-lt"/>
                <a:ea typeface="+mj-ea"/>
              </a:rPr>
              <a:t>9</a:t>
            </a:r>
            <a:r>
              <a:rPr lang="zh-CN" altLang="zh-CN" sz="1200" b="1" dirty="0">
                <a:solidFill>
                  <a:srgbClr val="000000"/>
                </a:solidFill>
                <a:latin typeface="+mn-lt"/>
                <a:ea typeface="+mj-ea"/>
              </a:rPr>
              <a:t>：决定是否接受论文；</a:t>
            </a:r>
            <a:endParaRPr lang="en-US" altLang="zh-CN" sz="1200" b="1" dirty="0">
              <a:solidFill>
                <a:srgbClr val="000000"/>
              </a:solidFill>
              <a:latin typeface="+mn-lt"/>
              <a:ea typeface="+mj-ea"/>
            </a:endParaRPr>
          </a:p>
          <a:p>
            <a:pPr eaLnBrk="1" hangingPunct="1">
              <a:defRPr/>
            </a:pPr>
            <a:r>
              <a:rPr lang="en-US" altLang="zh-CN" sz="1200" b="1" i="1" dirty="0">
                <a:solidFill>
                  <a:schemeClr val="tx1"/>
                </a:solidFill>
                <a:latin typeface="+mn-lt"/>
                <a:ea typeface="+mj-ea"/>
              </a:rPr>
              <a:t>T</a:t>
            </a:r>
            <a:r>
              <a:rPr lang="en-US" altLang="zh-CN" sz="1200" b="1" baseline="-25000" dirty="0">
                <a:solidFill>
                  <a:schemeClr val="tx1"/>
                </a:solidFill>
                <a:latin typeface="+mn-lt"/>
                <a:ea typeface="+mj-ea"/>
              </a:rPr>
              <a:t>10</a:t>
            </a:r>
            <a:r>
              <a:rPr lang="zh-CN" altLang="zh-CN" sz="1200" b="1" dirty="0">
                <a:solidFill>
                  <a:schemeClr val="tx1"/>
                </a:solidFill>
                <a:latin typeface="+mn-lt"/>
                <a:ea typeface="+mj-ea"/>
              </a:rPr>
              <a:t>：接受论文；</a:t>
            </a:r>
            <a:endParaRPr lang="en-US" altLang="zh-CN" sz="1200" b="1" dirty="0">
              <a:solidFill>
                <a:srgbClr val="000000"/>
              </a:solidFill>
              <a:latin typeface="+mn-lt"/>
              <a:ea typeface="+mj-ea"/>
            </a:endParaRPr>
          </a:p>
          <a:p>
            <a:pPr eaLnBrk="1" hangingPunct="1">
              <a:defRPr/>
            </a:pPr>
            <a:r>
              <a:rPr lang="en-US" altLang="zh-CN" sz="1200" b="1" i="1" dirty="0">
                <a:solidFill>
                  <a:schemeClr val="tx1"/>
                </a:solidFill>
                <a:latin typeface="+mn-lt"/>
                <a:ea typeface="+mj-ea"/>
              </a:rPr>
              <a:t>T</a:t>
            </a:r>
            <a:r>
              <a:rPr lang="en-US" altLang="zh-CN" sz="1200" b="1" baseline="-25000" dirty="0">
                <a:solidFill>
                  <a:schemeClr val="tx1"/>
                </a:solidFill>
                <a:latin typeface="+mn-lt"/>
                <a:ea typeface="+mj-ea"/>
              </a:rPr>
              <a:t>11</a:t>
            </a:r>
            <a:r>
              <a:rPr lang="zh-CN" altLang="zh-CN" sz="1200" b="1" dirty="0">
                <a:solidFill>
                  <a:schemeClr val="tx1"/>
                </a:solidFill>
                <a:latin typeface="+mn-lt"/>
                <a:ea typeface="+mj-ea"/>
              </a:rPr>
              <a:t>：不接受论文；</a:t>
            </a:r>
          </a:p>
          <a:p>
            <a:pPr eaLnBrk="1" hangingPunct="1">
              <a:defRPr/>
            </a:pPr>
            <a:r>
              <a:rPr lang="en-US" altLang="zh-CN" sz="1200" b="1" i="1" dirty="0">
                <a:solidFill>
                  <a:schemeClr val="tx1"/>
                </a:solidFill>
                <a:latin typeface="+mn-lt"/>
                <a:ea typeface="+mj-ea"/>
              </a:rPr>
              <a:t>T</a:t>
            </a:r>
            <a:r>
              <a:rPr lang="en-US" altLang="zh-CN" sz="1200" b="1" baseline="-25000" dirty="0">
                <a:solidFill>
                  <a:schemeClr val="tx1"/>
                </a:solidFill>
                <a:latin typeface="+mn-lt"/>
                <a:ea typeface="+mj-ea"/>
              </a:rPr>
              <a:t>12</a:t>
            </a:r>
            <a:r>
              <a:rPr lang="zh-CN" altLang="zh-CN" sz="1200" b="1" dirty="0">
                <a:solidFill>
                  <a:schemeClr val="tx1"/>
                </a:solidFill>
                <a:latin typeface="+mn-lt"/>
                <a:ea typeface="+mj-ea"/>
              </a:rPr>
              <a:t>：再邀请其他评审人</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64</a:t>
            </a:fld>
            <a:endParaRPr lang="zh-CN" altLang="en-US"/>
          </a:p>
        </p:txBody>
      </p:sp>
    </p:spTree>
    <p:extLst>
      <p:ext uri="{BB962C8B-B14F-4D97-AF65-F5344CB8AC3E}">
        <p14:creationId xmlns:p14="http://schemas.microsoft.com/office/powerpoint/2010/main" val="143351955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与分支（</a:t>
            </a:r>
            <a:r>
              <a:rPr lang="en-US"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AND-split</a:t>
            </a:r>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个输入满足条件（有令牌），变迁发生并输出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个同时进行的分支（都有令牌）继续流程。</a:t>
            </a:r>
          </a:p>
          <a:p>
            <a:pPr algn="just"/>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或分支（</a:t>
            </a:r>
            <a:r>
              <a:rPr lang="en-US"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OR-split</a:t>
            </a:r>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个输入满足条件（有令牌），变迁根据流程的逻辑和条件，在输出的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个分支中，激活</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个或多个分支路径（有令牌）继续流程。并不是所有的输出都必须同时满足条件（有令牌）。</a:t>
            </a:r>
          </a:p>
          <a:p>
            <a:pPr algn="just"/>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与连接（</a:t>
            </a:r>
            <a:r>
              <a:rPr lang="en-US"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AND-join</a:t>
            </a:r>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当所有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个输入都满足条件（有令牌），变迁发生并输出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个令牌继续流程。</a:t>
            </a:r>
          </a:p>
          <a:p>
            <a:pPr algn="just"/>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或连接（</a:t>
            </a:r>
            <a:r>
              <a:rPr lang="en-US"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OR-join</a:t>
            </a:r>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个输入中至少有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个满足条件（有令牌），变迁发生并输出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个令牌继续流程。</a:t>
            </a:r>
          </a:p>
          <a:p>
            <a:pPr eaLnBrk="1" hangingPunct="1">
              <a:spcBef>
                <a:spcPts val="600"/>
              </a:spcBef>
              <a:buClrTx/>
              <a:buSzTx/>
              <a:buFontTx/>
              <a:buNone/>
            </a:pPr>
            <a:r>
              <a:rPr lang="zh-CN" altLang="zh-CN" sz="1200" b="1" dirty="0">
                <a:solidFill>
                  <a:srgbClr val="FF0000"/>
                </a:solidFill>
              </a:rPr>
              <a:t>变迁集</a:t>
            </a:r>
            <a:r>
              <a:rPr lang="en-US" altLang="zh-CN" sz="1200" b="1" i="1" dirty="0">
                <a:solidFill>
                  <a:srgbClr val="FF0000"/>
                </a:solidFill>
              </a:rPr>
              <a:t>T</a:t>
            </a:r>
            <a:r>
              <a:rPr lang="zh-CN" altLang="en-US" sz="1200" b="1" dirty="0"/>
              <a:t>含义：</a:t>
            </a:r>
            <a:endParaRPr lang="en-US" altLang="zh-CN" sz="1200" b="1" i="1" dirty="0">
              <a:latin typeface="Times New Roman" panose="02020603050405020304" pitchFamily="18" charset="0"/>
              <a:cs typeface="Times New Roman" panose="02020603050405020304" pitchFamily="18" charset="0"/>
            </a:endParaRPr>
          </a:p>
          <a:p>
            <a:pPr eaLnBrk="1" hangingPunct="1">
              <a:spcBef>
                <a:spcPts val="600"/>
              </a:spcBef>
              <a:buClrTx/>
              <a:buSzTx/>
              <a:buFontTx/>
              <a:buNone/>
            </a:pP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1</a:t>
            </a:r>
            <a:r>
              <a:rPr lang="zh-CN" altLang="zh-CN" sz="1200" b="1" dirty="0">
                <a:latin typeface="Times New Roman" panose="02020603050405020304" pitchFamily="18" charset="0"/>
                <a:cs typeface="Times New Roman" panose="02020603050405020304" pitchFamily="18" charset="0"/>
              </a:rPr>
              <a:t>：登记；</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寄出调查表；</a:t>
            </a:r>
            <a:r>
              <a:rPr lang="en-US" altLang="zh-CN" sz="1200" b="1" dirty="0">
                <a:latin typeface="Times New Roman" panose="02020603050405020304" pitchFamily="18" charset="0"/>
                <a:cs typeface="Times New Roman" panose="02020603050405020304" pitchFamily="18" charset="0"/>
              </a:rPr>
              <a:t>  </a:t>
            </a:r>
          </a:p>
          <a:p>
            <a:pPr eaLnBrk="1" hangingPunct="1">
              <a:spcBef>
                <a:spcPts val="600"/>
              </a:spcBef>
              <a:buClrTx/>
              <a:buSzTx/>
              <a:buFontTx/>
              <a:buNone/>
            </a:pP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3</a:t>
            </a:r>
            <a:r>
              <a:rPr lang="zh-CN" altLang="zh-CN" sz="1200" b="1" dirty="0">
                <a:latin typeface="Times New Roman" panose="02020603050405020304" pitchFamily="18" charset="0"/>
                <a:cs typeface="Times New Roman" panose="02020603050405020304" pitchFamily="18" charset="0"/>
              </a:rPr>
              <a:t>：调查表处理；</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4</a:t>
            </a:r>
            <a:r>
              <a:rPr lang="zh-CN" altLang="zh-CN" sz="1200" b="1" dirty="0">
                <a:latin typeface="Times New Roman" panose="02020603050405020304" pitchFamily="18" charset="0"/>
                <a:cs typeface="Times New Roman" panose="02020603050405020304" pitchFamily="18" charset="0"/>
              </a:rPr>
              <a:t>：过期处理；</a:t>
            </a:r>
            <a:endParaRPr lang="en-US" altLang="zh-CN" sz="1200" b="1" dirty="0">
              <a:latin typeface="Times New Roman" panose="02020603050405020304" pitchFamily="18" charset="0"/>
              <a:cs typeface="Times New Roman" panose="02020603050405020304" pitchFamily="18" charset="0"/>
            </a:endParaRPr>
          </a:p>
          <a:p>
            <a:pPr eaLnBrk="1" hangingPunct="1">
              <a:spcBef>
                <a:spcPts val="600"/>
              </a:spcBef>
              <a:buClrTx/>
              <a:buSzTx/>
              <a:buFontTx/>
              <a:buNone/>
            </a:pP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5</a:t>
            </a:r>
            <a:r>
              <a:rPr lang="zh-CN" altLang="zh-CN" sz="1200" b="1" dirty="0">
                <a:latin typeface="Times New Roman" panose="02020603050405020304" pitchFamily="18" charset="0"/>
                <a:cs typeface="Times New Roman" panose="02020603050405020304" pitchFamily="18" charset="0"/>
              </a:rPr>
              <a:t>：投诉评估；</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6</a:t>
            </a:r>
            <a:r>
              <a:rPr lang="zh-CN" altLang="zh-CN" sz="1200" b="1" dirty="0">
                <a:latin typeface="Times New Roman" panose="02020603050405020304" pitchFamily="18" charset="0"/>
                <a:cs typeface="Times New Roman" panose="02020603050405020304" pitchFamily="18" charset="0"/>
              </a:rPr>
              <a:t>处理投诉；</a:t>
            </a:r>
            <a:r>
              <a:rPr lang="en-US" altLang="zh-CN" sz="1200" b="1" dirty="0">
                <a:latin typeface="Times New Roman" panose="02020603050405020304" pitchFamily="18" charset="0"/>
                <a:cs typeface="Times New Roman" panose="02020603050405020304" pitchFamily="18" charset="0"/>
              </a:rPr>
              <a:t>    </a:t>
            </a:r>
          </a:p>
          <a:p>
            <a:pPr eaLnBrk="1" hangingPunct="1">
              <a:spcBef>
                <a:spcPts val="600"/>
              </a:spcBef>
              <a:buClrTx/>
              <a:buSzTx/>
              <a:buFontTx/>
              <a:buNone/>
            </a:pP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7</a:t>
            </a:r>
            <a:r>
              <a:rPr lang="zh-CN" altLang="zh-CN" sz="1200" b="1" dirty="0">
                <a:latin typeface="Times New Roman" panose="02020603050405020304" pitchFamily="18" charset="0"/>
                <a:cs typeface="Times New Roman" panose="02020603050405020304" pitchFamily="18" charset="0"/>
              </a:rPr>
              <a:t>检查处理结果；</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8</a:t>
            </a:r>
            <a:r>
              <a:rPr lang="zh-CN" altLang="zh-CN" sz="1200" b="1" dirty="0">
                <a:latin typeface="Times New Roman" panose="02020603050405020304" pitchFamily="18" charset="0"/>
                <a:cs typeface="Times New Roman" panose="02020603050405020304" pitchFamily="18" charset="0"/>
              </a:rPr>
              <a:t>：归档保存</a:t>
            </a:r>
            <a:r>
              <a:rPr lang="en-US" altLang="zh-CN" sz="1200" b="1" dirty="0">
                <a:latin typeface="Times New Roman" panose="02020603050405020304" pitchFamily="18" charset="0"/>
                <a:cs typeface="Times New Roman" panose="02020603050405020304" pitchFamily="18" charset="0"/>
              </a:rPr>
              <a:t>.</a:t>
            </a:r>
          </a:p>
          <a:p>
            <a:pPr eaLnBrk="1" hangingPunct="1">
              <a:spcBef>
                <a:spcPts val="600"/>
              </a:spcBef>
              <a:buClrTx/>
              <a:buSzTx/>
              <a:buFontTx/>
              <a:buNone/>
            </a:pPr>
            <a:endParaRPr lang="en-US" altLang="zh-CN" sz="1200" b="1" dirty="0">
              <a:latin typeface="Times New Roman" panose="02020603050405020304" pitchFamily="18" charset="0"/>
              <a:cs typeface="Times New Roman" panose="02020603050405020304" pitchFamily="18" charset="0"/>
            </a:endParaRPr>
          </a:p>
          <a:p>
            <a:pPr eaLnBrk="1" hangingPunct="1">
              <a:defRPr/>
            </a:pPr>
            <a:r>
              <a:rPr lang="zh-CN" altLang="zh-CN" sz="1200" b="1" dirty="0">
                <a:solidFill>
                  <a:srgbClr val="FF0000"/>
                </a:solidFill>
                <a:latin typeface="Times New Roman" panose="02020603050405020304" pitchFamily="18" charset="0"/>
                <a:cs typeface="Times New Roman" panose="02020603050405020304" pitchFamily="18" charset="0"/>
              </a:rPr>
              <a:t>库所集</a:t>
            </a:r>
            <a:r>
              <a:rPr lang="en-US" altLang="zh-CN" sz="1200" b="1" i="1" dirty="0">
                <a:solidFill>
                  <a:srgbClr val="FF0000"/>
                </a:solidFill>
                <a:latin typeface="Times New Roman" panose="02020603050405020304" pitchFamily="18" charset="0"/>
                <a:cs typeface="Times New Roman" panose="02020603050405020304" pitchFamily="18" charset="0"/>
              </a:rPr>
              <a:t>P</a:t>
            </a:r>
            <a:r>
              <a:rPr lang="zh-CN" altLang="en-US" sz="1200" b="1" dirty="0">
                <a:latin typeface="Times New Roman" panose="02020603050405020304" pitchFamily="18" charset="0"/>
                <a:cs typeface="Times New Roman" panose="02020603050405020304" pitchFamily="18" charset="0"/>
              </a:rPr>
              <a:t>：</a:t>
            </a:r>
            <a:endParaRPr lang="en-US" altLang="zh-CN" sz="1200" b="1" dirty="0">
              <a:solidFill>
                <a:schemeClr val="tx1"/>
              </a:solidFill>
              <a:latin typeface="+mn-lt"/>
              <a:ea typeface="+mn-ea"/>
            </a:endParaRPr>
          </a:p>
          <a:p>
            <a:pPr eaLnBrk="1" hangingPunct="1">
              <a:defRPr/>
            </a:pPr>
            <a:r>
              <a:rPr lang="en-US" altLang="zh-CN" sz="1200" b="1" i="1" dirty="0">
                <a:solidFill>
                  <a:schemeClr val="tx1"/>
                </a:solidFill>
                <a:latin typeface="Times New Roman" panose="02020603050405020304" pitchFamily="18" charset="0"/>
                <a:cs typeface="Times New Roman" panose="02020603050405020304" pitchFamily="18" charset="0"/>
              </a:rPr>
              <a:t>i</a:t>
            </a:r>
            <a:r>
              <a:rPr lang="zh-CN" altLang="zh-CN" sz="1200" b="1" dirty="0">
                <a:solidFill>
                  <a:schemeClr val="tx1"/>
                </a:solidFill>
                <a:latin typeface="+mn-lt"/>
                <a:ea typeface="+mn-ea"/>
              </a:rPr>
              <a:t>：</a:t>
            </a:r>
            <a:r>
              <a:rPr lang="zh-CN" altLang="en-US" sz="1200" b="1" dirty="0"/>
              <a:t>起始</a:t>
            </a:r>
            <a:r>
              <a:rPr lang="zh-CN" altLang="zh-CN" sz="1200" b="1" dirty="0">
                <a:solidFill>
                  <a:schemeClr val="tx1"/>
                </a:solidFill>
                <a:latin typeface="+mn-lt"/>
                <a:ea typeface="+mn-ea"/>
              </a:rPr>
              <a:t>；</a:t>
            </a:r>
            <a:endParaRPr lang="en-US" altLang="zh-CN" sz="1200" b="1" dirty="0">
              <a:solidFill>
                <a:schemeClr val="tx1"/>
              </a:solidFill>
              <a:latin typeface="+mn-lt"/>
              <a:ea typeface="+mn-ea"/>
            </a:endParaRPr>
          </a:p>
          <a:p>
            <a:pPr eaLnBrk="1" hangingPunct="1">
              <a:defRPr/>
            </a:pPr>
            <a:r>
              <a:rPr lang="en-US" altLang="zh-CN" sz="1200" b="1" i="1" dirty="0">
                <a:solidFill>
                  <a:schemeClr val="tx1"/>
                </a:solidFill>
                <a:latin typeface="Times New Roman" panose="02020603050405020304" pitchFamily="18" charset="0"/>
                <a:cs typeface="Times New Roman" panose="02020603050405020304" pitchFamily="18" charset="0"/>
              </a:rPr>
              <a:t>o</a:t>
            </a:r>
            <a:r>
              <a:rPr lang="zh-CN" altLang="zh-CN" sz="1200" b="1" dirty="0">
                <a:solidFill>
                  <a:schemeClr val="tx1"/>
                </a:solidFill>
                <a:latin typeface="+mn-lt"/>
                <a:ea typeface="+mn-ea"/>
              </a:rPr>
              <a:t>：</a:t>
            </a:r>
            <a:r>
              <a:rPr lang="zh-CN" altLang="en-US" sz="1200" b="1" dirty="0">
                <a:solidFill>
                  <a:schemeClr val="tx1"/>
                </a:solidFill>
                <a:latin typeface="+mn-lt"/>
                <a:ea typeface="+mn-ea"/>
              </a:rPr>
              <a:t>终止</a:t>
            </a:r>
            <a:endParaRPr lang="zh-CN" altLang="zh-CN" sz="1200" b="1" dirty="0">
              <a:solidFill>
                <a:schemeClr val="tx1"/>
              </a:solidFill>
              <a:latin typeface="+mn-lt"/>
              <a:ea typeface="+mn-ea"/>
            </a:endParaRPr>
          </a:p>
          <a:p>
            <a:pPr eaLnBrk="1" hangingPunct="1">
              <a:defRPr/>
            </a:pPr>
            <a:r>
              <a:rPr lang="en-US" altLang="zh-CN" sz="1200" b="1" i="1" dirty="0">
                <a:solidFill>
                  <a:schemeClr val="tx1"/>
                </a:solidFill>
                <a:latin typeface="Times New Roman" panose="02020603050405020304" pitchFamily="18" charset="0"/>
                <a:cs typeface="Times New Roman" panose="02020603050405020304" pitchFamily="18" charset="0"/>
              </a:rPr>
              <a:t>p</a:t>
            </a:r>
            <a:r>
              <a:rPr lang="en-US" altLang="zh-CN" sz="1200" b="1" baseline="-25000" dirty="0">
                <a:solidFill>
                  <a:schemeClr val="tx1"/>
                </a:solidFill>
                <a:latin typeface="Times New Roman" panose="02020603050405020304" pitchFamily="18" charset="0"/>
                <a:cs typeface="Times New Roman" panose="02020603050405020304" pitchFamily="18" charset="0"/>
              </a:rPr>
              <a:t>1</a:t>
            </a:r>
            <a:r>
              <a:rPr lang="en-US" altLang="zh-CN"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p</a:t>
            </a:r>
            <a:r>
              <a:rPr lang="en-US" altLang="zh-CN" sz="1200" b="1" baseline="-25000" dirty="0">
                <a:solidFill>
                  <a:schemeClr val="tx1"/>
                </a:solidFill>
                <a:latin typeface="Times New Roman" panose="02020603050405020304" pitchFamily="18" charset="0"/>
                <a:cs typeface="Times New Roman" panose="02020603050405020304" pitchFamily="18" charset="0"/>
              </a:rPr>
              <a:t>2</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cs typeface="Times New Roman" panose="02020603050405020304" pitchFamily="18" charset="0"/>
              </a:rPr>
              <a:t>p</a:t>
            </a:r>
            <a:r>
              <a:rPr lang="en-US" altLang="zh-CN" sz="1200" b="1" baseline="-25000" dirty="0">
                <a:solidFill>
                  <a:schemeClr val="tx1"/>
                </a:solidFill>
                <a:latin typeface="Times New Roman" panose="02020603050405020304" pitchFamily="18" charset="0"/>
                <a:cs typeface="Times New Roman" panose="02020603050405020304" pitchFamily="18" charset="0"/>
              </a:rPr>
              <a:t>3</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p</a:t>
            </a:r>
            <a:r>
              <a:rPr lang="en-US" altLang="zh-CN" sz="1200" b="1" baseline="-25000" dirty="0">
                <a:solidFill>
                  <a:schemeClr val="tx1"/>
                </a:solidFill>
                <a:latin typeface="Times New Roman" panose="02020603050405020304" pitchFamily="18" charset="0"/>
                <a:cs typeface="Times New Roman" panose="02020603050405020304" pitchFamily="18" charset="0"/>
              </a:rPr>
              <a:t>7 </a:t>
            </a:r>
            <a:r>
              <a:rPr lang="en-US" altLang="zh-CN" sz="1200" b="1" dirty="0">
                <a:solidFill>
                  <a:schemeClr val="tx1"/>
                </a:solidFill>
                <a:latin typeface="+mn-lt"/>
                <a:ea typeface="+mn-ea"/>
              </a:rPr>
              <a:t>:</a:t>
            </a:r>
            <a:r>
              <a:rPr lang="zh-CN" altLang="en-US" sz="1200" b="1" dirty="0"/>
              <a:t>中间库所</a:t>
            </a:r>
            <a:endParaRPr lang="zh-CN" altLang="zh-CN" sz="1200" b="1" dirty="0">
              <a:solidFill>
                <a:schemeClr val="tx1"/>
              </a:solidFill>
              <a:latin typeface="+mn-lt"/>
              <a:ea typeface="+mn-ea"/>
            </a:endParaRPr>
          </a:p>
          <a:p>
            <a:pPr eaLnBrk="1" hangingPunct="1">
              <a:spcBef>
                <a:spcPts val="600"/>
              </a:spcBef>
              <a:buClrTx/>
              <a:buSzTx/>
              <a:buFontTx/>
              <a:buNone/>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65</a:t>
            </a:fld>
            <a:endParaRPr lang="zh-CN" altLang="en-US"/>
          </a:p>
        </p:txBody>
      </p:sp>
    </p:spTree>
    <p:extLst>
      <p:ext uri="{BB962C8B-B14F-4D97-AF65-F5344CB8AC3E}">
        <p14:creationId xmlns:p14="http://schemas.microsoft.com/office/powerpoint/2010/main" val="42092549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en-US" altLang="zh-CN" sz="1200" b="1" dirty="0">
                <a:latin typeface="Times New Roman" panose="02020603050405020304" pitchFamily="18" charset="0"/>
                <a:cs typeface="Times New Roman" panose="02020603050405020304" pitchFamily="18" charset="0"/>
              </a:rPr>
              <a:t>WF_net</a:t>
            </a:r>
            <a:r>
              <a:rPr lang="zh-CN" altLang="zh-CN" sz="1200" b="1" dirty="0">
                <a:latin typeface="Times New Roman" panose="02020603050405020304" pitchFamily="18" charset="0"/>
                <a:cs typeface="Times New Roman" panose="02020603050405020304" pitchFamily="18" charset="0"/>
              </a:rPr>
              <a:t>是三元组</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P</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T</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&gt;</a:t>
            </a:r>
            <a:r>
              <a:rPr lang="zh-CN"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P</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库所集</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T</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变迁集</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流关系</a:t>
            </a:r>
            <a:r>
              <a:rPr lang="en-US" altLang="zh-CN" sz="1200" b="1" dirty="0">
                <a:latin typeface="Times New Roman" panose="02020603050405020304" pitchFamily="18" charset="0"/>
                <a:cs typeface="Times New Roman" panose="02020603050405020304" pitchFamily="18" charset="0"/>
              </a:rPr>
              <a:t>. </a:t>
            </a:r>
            <a:endParaRPr lang="zh-CN" altLang="zh-CN" sz="1200" b="1" dirty="0">
              <a:latin typeface="Times New Roman" panose="02020603050405020304" pitchFamily="18" charset="0"/>
              <a:cs typeface="Times New Roman" panose="02020603050405020304" pitchFamily="18" charset="0"/>
            </a:endParaRPr>
          </a:p>
          <a:p>
            <a:pPr eaLnBrk="1" hangingPunct="1">
              <a:buFontTx/>
              <a:buNone/>
            </a:pPr>
            <a:r>
              <a:rPr lang="en-US" altLang="zh-CN" sz="1200" b="1" dirty="0">
                <a:latin typeface="Times New Roman" panose="02020603050405020304" pitchFamily="18" charset="0"/>
                <a:cs typeface="Times New Roman" panose="02020603050405020304" pitchFamily="18" charset="0"/>
              </a:rPr>
              <a:t> (1) </a:t>
            </a:r>
            <a:r>
              <a:rPr lang="en-US" altLang="zh-CN" sz="1200" b="1" i="1" dirty="0">
                <a:latin typeface="Times New Roman" panose="02020603050405020304" pitchFamily="18" charset="0"/>
                <a:cs typeface="Times New Roman" panose="02020603050405020304" pitchFamily="18" charset="0"/>
              </a:rPr>
              <a:t>P</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T</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zh-CN" sz="1200" b="1" dirty="0">
                <a:latin typeface="Times New Roman" panose="02020603050405020304" pitchFamily="18" charset="0"/>
                <a:cs typeface="Times New Roman" panose="02020603050405020304" pitchFamily="18" charset="0"/>
              </a:rPr>
              <a:t>；</a:t>
            </a:r>
          </a:p>
          <a:p>
            <a:pPr eaLnBrk="1" hangingPunct="1">
              <a:buFontTx/>
              <a:buNone/>
            </a:pPr>
            <a:r>
              <a:rPr lang="en-US" altLang="zh-CN" sz="1200" b="1" dirty="0">
                <a:latin typeface="Times New Roman" panose="02020603050405020304" pitchFamily="18" charset="0"/>
                <a:cs typeface="Times New Roman" panose="02020603050405020304" pitchFamily="18" charset="0"/>
              </a:rPr>
              <a:t> (2) </a:t>
            </a:r>
            <a:r>
              <a:rPr lang="en-US" altLang="zh-CN" sz="1200" b="1" i="1" dirty="0">
                <a:latin typeface="Times New Roman" panose="02020603050405020304" pitchFamily="18" charset="0"/>
                <a:cs typeface="Times New Roman" panose="02020603050405020304" pitchFamily="18" charset="0"/>
              </a:rPr>
              <a:t>P</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T</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zh-CN" sz="1200" b="1" dirty="0">
                <a:latin typeface="Times New Roman" panose="02020603050405020304" pitchFamily="18" charset="0"/>
                <a:cs typeface="Times New Roman" panose="02020603050405020304" pitchFamily="18" charset="0"/>
              </a:rPr>
              <a:t>；</a:t>
            </a:r>
          </a:p>
          <a:p>
            <a:pPr eaLnBrk="1" hangingPunct="1">
              <a:buFontTx/>
              <a:buNone/>
            </a:pPr>
            <a:r>
              <a:rPr lang="en-US" altLang="zh-CN" sz="1200" b="1" dirty="0">
                <a:latin typeface="Times New Roman" panose="02020603050405020304" pitchFamily="18" charset="0"/>
                <a:cs typeface="Times New Roman" panose="02020603050405020304" pitchFamily="18" charset="0"/>
              </a:rPr>
              <a:t> (3)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P</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T</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T</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P</a:t>
            </a:r>
            <a:r>
              <a:rPr lang="zh-CN" altLang="zh-CN" sz="1200" b="1" dirty="0">
                <a:latin typeface="Times New Roman" panose="02020603050405020304" pitchFamily="18" charset="0"/>
                <a:cs typeface="Times New Roman" panose="02020603050405020304" pitchFamily="18" charset="0"/>
              </a:rPr>
              <a:t>；</a:t>
            </a:r>
          </a:p>
          <a:p>
            <a:pPr eaLnBrk="1" hangingPunct="1">
              <a:buFontTx/>
              <a:buNone/>
            </a:pPr>
            <a:r>
              <a:rPr lang="en-US" altLang="zh-CN" sz="1200" b="1" dirty="0">
                <a:latin typeface="Times New Roman" panose="02020603050405020304" pitchFamily="18" charset="0"/>
                <a:cs typeface="Times New Roman" panose="02020603050405020304" pitchFamily="18" charset="0"/>
              </a:rPr>
              <a:t> (4) dom</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∪ran</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P</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T</a:t>
            </a:r>
            <a:r>
              <a:rPr lang="zh-CN" altLang="zh-CN" sz="1200" b="1" dirty="0">
                <a:latin typeface="Times New Roman" panose="02020603050405020304" pitchFamily="18" charset="0"/>
                <a:cs typeface="Times New Roman" panose="02020603050405020304" pitchFamily="18" charset="0"/>
              </a:rPr>
              <a:t>，其中</a:t>
            </a:r>
            <a:r>
              <a:rPr lang="en-US" altLang="zh-CN" sz="1200" b="1" dirty="0">
                <a:latin typeface="Times New Roman" panose="02020603050405020304" pitchFamily="18" charset="0"/>
                <a:cs typeface="Times New Roman" panose="02020603050405020304" pitchFamily="18" charset="0"/>
              </a:rPr>
              <a:t> </a:t>
            </a:r>
            <a:endParaRPr lang="zh-CN" altLang="zh-CN" sz="1200" b="1" dirty="0">
              <a:latin typeface="Times New Roman" panose="02020603050405020304" pitchFamily="18" charset="0"/>
              <a:cs typeface="Times New Roman" panose="02020603050405020304" pitchFamily="18" charset="0"/>
            </a:endParaRPr>
          </a:p>
          <a:p>
            <a:pPr eaLnBrk="1" hangingPunct="1">
              <a:buFontTx/>
              <a:buNone/>
            </a:pPr>
            <a:r>
              <a:rPr lang="en-US" altLang="zh-CN" sz="1200" b="1" dirty="0">
                <a:latin typeface="Times New Roman" panose="02020603050405020304" pitchFamily="18" charset="0"/>
                <a:cs typeface="Times New Roman" panose="02020603050405020304" pitchFamily="18" charset="0"/>
              </a:rPr>
              <a:t>       dom</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 </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&gt;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ran</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y </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&gt;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a:t>
            </a:r>
          </a:p>
          <a:p>
            <a:pPr eaLnBrk="1" hangingPunct="1">
              <a:buFontTx/>
              <a:buNone/>
            </a:pPr>
            <a:r>
              <a:rPr lang="en-US" altLang="zh-CN" sz="1200" b="1" dirty="0">
                <a:latin typeface="Times New Roman" panose="02020603050405020304" pitchFamily="18" charset="0"/>
                <a:cs typeface="Times New Roman" panose="02020603050405020304" pitchFamily="18" charset="0"/>
              </a:rPr>
              <a:t>(5) </a:t>
            </a:r>
            <a:r>
              <a:rPr lang="zh-CN" altLang="zh-CN" sz="1200" b="1" dirty="0">
                <a:latin typeface="Times New Roman" panose="02020603050405020304" pitchFamily="18" charset="0"/>
                <a:cs typeface="Times New Roman" panose="02020603050405020304" pitchFamily="18" charset="0"/>
              </a:rPr>
              <a:t>存在起始库所</a:t>
            </a:r>
            <a:r>
              <a:rPr lang="en-US" altLang="zh-CN" sz="1200" b="1" i="1" dirty="0">
                <a:latin typeface="Times New Roman" panose="02020603050405020304" pitchFamily="18" charset="0"/>
                <a:cs typeface="Times New Roman" panose="02020603050405020304" pitchFamily="18" charset="0"/>
              </a:rPr>
              <a:t>i</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P</a:t>
            </a:r>
            <a:r>
              <a:rPr lang="zh-CN" altLang="zh-CN" sz="1200" b="1" dirty="0">
                <a:latin typeface="Times New Roman" panose="02020603050405020304" pitchFamily="18" charset="0"/>
                <a:cs typeface="Times New Roman" panose="02020603050405020304" pitchFamily="18" charset="0"/>
              </a:rPr>
              <a:t>，使得</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i</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zh-CN" sz="1200" b="1" dirty="0">
                <a:latin typeface="Times New Roman" panose="02020603050405020304" pitchFamily="18" charset="0"/>
                <a:cs typeface="Times New Roman" panose="02020603050405020304" pitchFamily="18" charset="0"/>
              </a:rPr>
              <a:t>，</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i</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j |&lt;j</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i</a:t>
            </a:r>
            <a:r>
              <a:rPr lang="en-US" altLang="zh-CN" sz="1200" b="1" dirty="0">
                <a:latin typeface="Times New Roman" panose="02020603050405020304" pitchFamily="18" charset="0"/>
                <a:cs typeface="Times New Roman" panose="02020603050405020304" pitchFamily="18" charset="0"/>
              </a:rPr>
              <a:t>&gt;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为</a:t>
            </a:r>
            <a:r>
              <a:rPr lang="en-US" altLang="zh-CN" sz="1200" b="1" i="1" dirty="0">
                <a:latin typeface="Times New Roman" panose="02020603050405020304" pitchFamily="18" charset="0"/>
                <a:cs typeface="Times New Roman" panose="02020603050405020304" pitchFamily="18" charset="0"/>
              </a:rPr>
              <a:t>i </a:t>
            </a:r>
            <a:r>
              <a:rPr lang="zh-CN" altLang="zh-CN" sz="1200" b="1" dirty="0">
                <a:latin typeface="Times New Roman" panose="02020603050405020304" pitchFamily="18" charset="0"/>
                <a:cs typeface="Times New Roman" panose="02020603050405020304" pitchFamily="18" charset="0"/>
              </a:rPr>
              <a:t>的前集；</a:t>
            </a:r>
          </a:p>
          <a:p>
            <a:pPr eaLnBrk="1" hangingPunct="1">
              <a:buFontTx/>
              <a:buNone/>
            </a:pPr>
            <a:r>
              <a:rPr lang="en-US" altLang="zh-CN" sz="1200" b="1" dirty="0">
                <a:latin typeface="Times New Roman" panose="02020603050405020304" pitchFamily="18" charset="0"/>
                <a:cs typeface="Times New Roman" panose="02020603050405020304" pitchFamily="18" charset="0"/>
              </a:rPr>
              <a:t>(6) </a:t>
            </a:r>
            <a:r>
              <a:rPr lang="zh-CN" altLang="zh-CN" sz="1200" b="1" dirty="0">
                <a:latin typeface="Times New Roman" panose="02020603050405020304" pitchFamily="18" charset="0"/>
                <a:cs typeface="Times New Roman" panose="02020603050405020304" pitchFamily="18" charset="0"/>
              </a:rPr>
              <a:t>存在终止库所</a:t>
            </a:r>
            <a:r>
              <a:rPr lang="en-US" altLang="zh-CN" sz="1200" b="1" i="1" dirty="0">
                <a:latin typeface="Times New Roman" panose="02020603050405020304" pitchFamily="18" charset="0"/>
                <a:cs typeface="Times New Roman" panose="02020603050405020304" pitchFamily="18" charset="0"/>
              </a:rPr>
              <a:t>o</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P</a:t>
            </a:r>
            <a:r>
              <a:rPr lang="zh-CN" altLang="zh-CN" sz="1200" b="1" dirty="0">
                <a:latin typeface="Times New Roman" panose="02020603050405020304" pitchFamily="18" charset="0"/>
                <a:cs typeface="Times New Roman" panose="02020603050405020304" pitchFamily="18" charset="0"/>
              </a:rPr>
              <a:t>，使得</a:t>
            </a:r>
            <a:r>
              <a:rPr lang="en-US" altLang="zh-CN" sz="1200" b="1" i="1" dirty="0">
                <a:latin typeface="Times New Roman" panose="02020603050405020304" pitchFamily="18" charset="0"/>
                <a:cs typeface="Times New Roman" panose="02020603050405020304" pitchFamily="18" charset="0"/>
              </a:rPr>
              <a:t>o</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o</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j |&lt;o</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j</a:t>
            </a:r>
            <a:r>
              <a:rPr lang="en-US" altLang="zh-CN" sz="1200" b="1" dirty="0">
                <a:latin typeface="Times New Roman" panose="02020603050405020304" pitchFamily="18" charset="0"/>
                <a:cs typeface="Times New Roman" panose="02020603050405020304" pitchFamily="18" charset="0"/>
              </a:rPr>
              <a:t>&gt;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为</a:t>
            </a:r>
            <a:r>
              <a:rPr lang="en-US" altLang="zh-CN" sz="1200" b="1" i="1" dirty="0">
                <a:latin typeface="Times New Roman" panose="02020603050405020304" pitchFamily="18" charset="0"/>
                <a:cs typeface="Times New Roman" panose="02020603050405020304" pitchFamily="18" charset="0"/>
              </a:rPr>
              <a:t>o</a:t>
            </a:r>
            <a:r>
              <a:rPr lang="zh-CN" altLang="zh-CN" sz="1200" b="1" dirty="0">
                <a:latin typeface="Times New Roman" panose="02020603050405020304" pitchFamily="18" charset="0"/>
                <a:cs typeface="Times New Roman" panose="02020603050405020304" pitchFamily="18" charset="0"/>
              </a:rPr>
              <a:t>的后集；</a:t>
            </a:r>
          </a:p>
          <a:p>
            <a:pPr eaLnBrk="1" hangingPunct="1">
              <a:buFontTx/>
              <a:buNone/>
            </a:pPr>
            <a:r>
              <a:rPr lang="en-US" altLang="zh-CN" sz="1200" b="1" dirty="0">
                <a:latin typeface="Times New Roman" panose="02020603050405020304" pitchFamily="18" charset="0"/>
                <a:cs typeface="Times New Roman" panose="02020603050405020304" pitchFamily="18" charset="0"/>
              </a:rPr>
              <a:t>(7) </a:t>
            </a:r>
            <a:r>
              <a:rPr lang="zh-CN" altLang="zh-CN" sz="1200" b="1" dirty="0">
                <a:latin typeface="Times New Roman" panose="02020603050405020304" pitchFamily="18" charset="0"/>
                <a:cs typeface="Times New Roman" panose="02020603050405020304" pitchFamily="18" charset="0"/>
              </a:rPr>
              <a:t>每个结点</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P</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T</a:t>
            </a:r>
            <a:r>
              <a:rPr lang="zh-CN" altLang="zh-CN" sz="1200" b="1" dirty="0">
                <a:latin typeface="Times New Roman" panose="02020603050405020304" pitchFamily="18" charset="0"/>
                <a:cs typeface="Times New Roman" panose="02020603050405020304" pitchFamily="18" charset="0"/>
              </a:rPr>
              <a:t>，都处在从</a:t>
            </a:r>
            <a:r>
              <a:rPr lang="en-US" altLang="zh-CN" sz="1200" b="1" i="1" dirty="0">
                <a:latin typeface="Times New Roman" panose="02020603050405020304" pitchFamily="18" charset="0"/>
                <a:cs typeface="Times New Roman" panose="02020603050405020304" pitchFamily="18" charset="0"/>
              </a:rPr>
              <a:t>i</a:t>
            </a:r>
            <a:r>
              <a:rPr lang="zh-CN" altLang="zh-CN" sz="1200" b="1" dirty="0">
                <a:latin typeface="Times New Roman" panose="02020603050405020304" pitchFamily="18" charset="0"/>
                <a:cs typeface="Times New Roman" panose="02020603050405020304" pitchFamily="18" charset="0"/>
              </a:rPr>
              <a:t>到</a:t>
            </a:r>
            <a:r>
              <a:rPr lang="en-US" altLang="zh-CN" sz="1200" b="1" i="1" dirty="0">
                <a:latin typeface="Times New Roman" panose="02020603050405020304" pitchFamily="18" charset="0"/>
                <a:cs typeface="Times New Roman" panose="02020603050405020304" pitchFamily="18" charset="0"/>
              </a:rPr>
              <a:t>o</a:t>
            </a:r>
            <a:r>
              <a:rPr lang="zh-CN" altLang="zh-CN" sz="1200" b="1" dirty="0">
                <a:latin typeface="Times New Roman" panose="02020603050405020304" pitchFamily="18" charset="0"/>
                <a:cs typeface="Times New Roman" panose="02020603050405020304" pitchFamily="18" charset="0"/>
              </a:rPr>
              <a:t>的一条路径上</a:t>
            </a:r>
            <a:r>
              <a:rPr lang="en-US" altLang="zh-CN" sz="1200" b="1" dirty="0">
                <a:latin typeface="Times New Roman" panose="02020603050405020304" pitchFamily="18" charset="0"/>
                <a:cs typeface="Times New Roman" panose="02020603050405020304" pitchFamily="18" charset="0"/>
              </a:rPr>
              <a:t>.</a:t>
            </a:r>
            <a:endParaRPr lang="zh-CN" altLang="en-US" sz="1200" b="1"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66</a:t>
            </a:fld>
            <a:endParaRPr lang="zh-CN" altLang="en-US"/>
          </a:p>
        </p:txBody>
      </p:sp>
    </p:spTree>
    <p:extLst>
      <p:ext uri="{BB962C8B-B14F-4D97-AF65-F5344CB8AC3E}">
        <p14:creationId xmlns:p14="http://schemas.microsoft.com/office/powerpoint/2010/main" val="141975648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与分支（</a:t>
            </a:r>
            <a:r>
              <a:rPr lang="en-US"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AND-split</a:t>
            </a:r>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个输入满足条件（有令牌），变迁发生并输出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个同时进行的分支（都有令牌）继续流程。</a:t>
            </a:r>
          </a:p>
          <a:p>
            <a:pPr algn="just"/>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或分支（</a:t>
            </a:r>
            <a:r>
              <a:rPr lang="en-US"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OR-split</a:t>
            </a:r>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个输入满足条件（有令牌），变迁根据流程的逻辑和条件，在输出的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个分支中，激活</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个或多个分支路径（有令牌）继续流程。并不是所有的输出都必须同时满足条件（有令牌）。</a:t>
            </a:r>
          </a:p>
          <a:p>
            <a:pPr algn="just"/>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与连接（</a:t>
            </a:r>
            <a:r>
              <a:rPr lang="en-US"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AND-join</a:t>
            </a:r>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当所有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个输入都满足条件（有令牌），变迁发生并输出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个令牌继续流程。</a:t>
            </a:r>
          </a:p>
          <a:p>
            <a:pPr algn="just"/>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或连接（</a:t>
            </a:r>
            <a:r>
              <a:rPr lang="en-US"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OR-join</a:t>
            </a:r>
            <a:r>
              <a:rPr lang="zh-CN" altLang="zh-CN" sz="1800" b="1"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个输入中至少有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个满足条件（有令牌），变迁发生并输出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个令牌继续流程。</a:t>
            </a:r>
          </a:p>
          <a:p>
            <a:pPr eaLnBrk="1" hangingPunct="1">
              <a:spcBef>
                <a:spcPts val="600"/>
              </a:spcBef>
              <a:buClrTx/>
              <a:buSzTx/>
              <a:buFontTx/>
              <a:buNone/>
            </a:pPr>
            <a:r>
              <a:rPr lang="zh-CN" altLang="zh-CN" sz="1200" b="1" dirty="0">
                <a:solidFill>
                  <a:srgbClr val="FF0000"/>
                </a:solidFill>
              </a:rPr>
              <a:t>变迁集</a:t>
            </a:r>
            <a:r>
              <a:rPr lang="en-US" altLang="zh-CN" sz="1200" b="1" i="1" dirty="0">
                <a:solidFill>
                  <a:srgbClr val="FF0000"/>
                </a:solidFill>
              </a:rPr>
              <a:t>T</a:t>
            </a:r>
            <a:r>
              <a:rPr lang="zh-CN" altLang="en-US" sz="1200" b="1" dirty="0"/>
              <a:t>含义：</a:t>
            </a:r>
            <a:endParaRPr lang="en-US" altLang="zh-CN" sz="1200" b="1" i="1" dirty="0">
              <a:latin typeface="Times New Roman" panose="02020603050405020304" pitchFamily="18" charset="0"/>
              <a:cs typeface="Times New Roman" panose="02020603050405020304" pitchFamily="18" charset="0"/>
            </a:endParaRPr>
          </a:p>
          <a:p>
            <a:pPr eaLnBrk="1" hangingPunct="1">
              <a:spcBef>
                <a:spcPts val="600"/>
              </a:spcBef>
              <a:buClrTx/>
              <a:buSzTx/>
              <a:buFontTx/>
              <a:buNone/>
            </a:pP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1</a:t>
            </a:r>
            <a:r>
              <a:rPr lang="zh-CN" altLang="zh-CN" sz="1200" b="1" dirty="0">
                <a:latin typeface="Times New Roman" panose="02020603050405020304" pitchFamily="18" charset="0"/>
                <a:cs typeface="Times New Roman" panose="02020603050405020304" pitchFamily="18" charset="0"/>
              </a:rPr>
              <a:t>：登记；</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寄出调查表；</a:t>
            </a:r>
            <a:r>
              <a:rPr lang="en-US" altLang="zh-CN" sz="1200" b="1" dirty="0">
                <a:latin typeface="Times New Roman" panose="02020603050405020304" pitchFamily="18" charset="0"/>
                <a:cs typeface="Times New Roman" panose="02020603050405020304" pitchFamily="18" charset="0"/>
              </a:rPr>
              <a:t>  </a:t>
            </a:r>
          </a:p>
          <a:p>
            <a:pPr eaLnBrk="1" hangingPunct="1">
              <a:spcBef>
                <a:spcPts val="600"/>
              </a:spcBef>
              <a:buClrTx/>
              <a:buSzTx/>
              <a:buFontTx/>
              <a:buNone/>
            </a:pP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3</a:t>
            </a:r>
            <a:r>
              <a:rPr lang="zh-CN" altLang="zh-CN" sz="1200" b="1" dirty="0">
                <a:latin typeface="Times New Roman" panose="02020603050405020304" pitchFamily="18" charset="0"/>
                <a:cs typeface="Times New Roman" panose="02020603050405020304" pitchFamily="18" charset="0"/>
              </a:rPr>
              <a:t>：调查表处理；</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4</a:t>
            </a:r>
            <a:r>
              <a:rPr lang="zh-CN" altLang="zh-CN" sz="1200" b="1" dirty="0">
                <a:latin typeface="Times New Roman" panose="02020603050405020304" pitchFamily="18" charset="0"/>
                <a:cs typeface="Times New Roman" panose="02020603050405020304" pitchFamily="18" charset="0"/>
              </a:rPr>
              <a:t>：过期处理；</a:t>
            </a:r>
            <a:endParaRPr lang="en-US" altLang="zh-CN" sz="1200" b="1" dirty="0">
              <a:latin typeface="Times New Roman" panose="02020603050405020304" pitchFamily="18" charset="0"/>
              <a:cs typeface="Times New Roman" panose="02020603050405020304" pitchFamily="18" charset="0"/>
            </a:endParaRPr>
          </a:p>
          <a:p>
            <a:pPr eaLnBrk="1" hangingPunct="1">
              <a:spcBef>
                <a:spcPts val="600"/>
              </a:spcBef>
              <a:buClrTx/>
              <a:buSzTx/>
              <a:buFontTx/>
              <a:buNone/>
            </a:pP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5</a:t>
            </a:r>
            <a:r>
              <a:rPr lang="zh-CN" altLang="zh-CN" sz="1200" b="1" dirty="0">
                <a:latin typeface="Times New Roman" panose="02020603050405020304" pitchFamily="18" charset="0"/>
                <a:cs typeface="Times New Roman" panose="02020603050405020304" pitchFamily="18" charset="0"/>
              </a:rPr>
              <a:t>：投诉评估；</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6</a:t>
            </a:r>
            <a:r>
              <a:rPr lang="zh-CN" altLang="zh-CN" sz="1200" b="1" dirty="0">
                <a:latin typeface="Times New Roman" panose="02020603050405020304" pitchFamily="18" charset="0"/>
                <a:cs typeface="Times New Roman" panose="02020603050405020304" pitchFamily="18" charset="0"/>
              </a:rPr>
              <a:t>处理投诉；</a:t>
            </a:r>
            <a:r>
              <a:rPr lang="en-US" altLang="zh-CN" sz="1200" b="1" dirty="0">
                <a:latin typeface="Times New Roman" panose="02020603050405020304" pitchFamily="18" charset="0"/>
                <a:cs typeface="Times New Roman" panose="02020603050405020304" pitchFamily="18" charset="0"/>
              </a:rPr>
              <a:t>    </a:t>
            </a:r>
          </a:p>
          <a:p>
            <a:pPr eaLnBrk="1" hangingPunct="1">
              <a:spcBef>
                <a:spcPts val="600"/>
              </a:spcBef>
              <a:buClrTx/>
              <a:buSzTx/>
              <a:buFontTx/>
              <a:buNone/>
            </a:pP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7</a:t>
            </a:r>
            <a:r>
              <a:rPr lang="zh-CN" altLang="zh-CN" sz="1200" b="1" dirty="0">
                <a:latin typeface="Times New Roman" panose="02020603050405020304" pitchFamily="18" charset="0"/>
                <a:cs typeface="Times New Roman" panose="02020603050405020304" pitchFamily="18" charset="0"/>
              </a:rPr>
              <a:t>检查处理结果；</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T</a:t>
            </a:r>
            <a:r>
              <a:rPr lang="en-US" altLang="zh-CN" sz="1200" b="1" baseline="-25000" dirty="0">
                <a:latin typeface="Times New Roman" panose="02020603050405020304" pitchFamily="18" charset="0"/>
                <a:cs typeface="Times New Roman" panose="02020603050405020304" pitchFamily="18" charset="0"/>
              </a:rPr>
              <a:t>8</a:t>
            </a:r>
            <a:r>
              <a:rPr lang="zh-CN" altLang="zh-CN" sz="1200" b="1" dirty="0">
                <a:latin typeface="Times New Roman" panose="02020603050405020304" pitchFamily="18" charset="0"/>
                <a:cs typeface="Times New Roman" panose="02020603050405020304" pitchFamily="18" charset="0"/>
              </a:rPr>
              <a:t>：归档保存</a:t>
            </a:r>
            <a:r>
              <a:rPr lang="en-US" altLang="zh-CN" sz="1200" b="1" dirty="0">
                <a:latin typeface="Times New Roman" panose="02020603050405020304" pitchFamily="18" charset="0"/>
                <a:cs typeface="Times New Roman" panose="02020603050405020304" pitchFamily="18" charset="0"/>
              </a:rPr>
              <a:t>.</a:t>
            </a:r>
          </a:p>
          <a:p>
            <a:pPr eaLnBrk="1" hangingPunct="1">
              <a:spcBef>
                <a:spcPts val="600"/>
              </a:spcBef>
              <a:buClrTx/>
              <a:buSzTx/>
              <a:buFontTx/>
              <a:buNone/>
            </a:pPr>
            <a:endParaRPr lang="en-US" altLang="zh-CN" sz="1200" b="1" dirty="0">
              <a:latin typeface="Times New Roman" panose="02020603050405020304" pitchFamily="18" charset="0"/>
              <a:cs typeface="Times New Roman" panose="02020603050405020304" pitchFamily="18" charset="0"/>
            </a:endParaRPr>
          </a:p>
          <a:p>
            <a:pPr eaLnBrk="1" hangingPunct="1">
              <a:defRPr/>
            </a:pPr>
            <a:r>
              <a:rPr lang="zh-CN" altLang="zh-CN" sz="1200" b="1" dirty="0">
                <a:solidFill>
                  <a:srgbClr val="FF0000"/>
                </a:solidFill>
                <a:latin typeface="Times New Roman" panose="02020603050405020304" pitchFamily="18" charset="0"/>
                <a:cs typeface="Times New Roman" panose="02020603050405020304" pitchFamily="18" charset="0"/>
              </a:rPr>
              <a:t>库所集</a:t>
            </a:r>
            <a:r>
              <a:rPr lang="en-US" altLang="zh-CN" sz="1200" b="1" i="1" dirty="0">
                <a:solidFill>
                  <a:srgbClr val="FF0000"/>
                </a:solidFill>
                <a:latin typeface="Times New Roman" panose="02020603050405020304" pitchFamily="18" charset="0"/>
                <a:cs typeface="Times New Roman" panose="02020603050405020304" pitchFamily="18" charset="0"/>
              </a:rPr>
              <a:t>P</a:t>
            </a:r>
            <a:r>
              <a:rPr lang="zh-CN" altLang="en-US" sz="1200" b="1" dirty="0">
                <a:latin typeface="Times New Roman" panose="02020603050405020304" pitchFamily="18" charset="0"/>
                <a:cs typeface="Times New Roman" panose="02020603050405020304" pitchFamily="18" charset="0"/>
              </a:rPr>
              <a:t>：</a:t>
            </a:r>
            <a:endParaRPr lang="en-US" altLang="zh-CN" sz="1200" b="1" dirty="0">
              <a:solidFill>
                <a:schemeClr val="tx1"/>
              </a:solidFill>
              <a:latin typeface="+mn-lt"/>
              <a:ea typeface="+mn-ea"/>
            </a:endParaRPr>
          </a:p>
          <a:p>
            <a:pPr eaLnBrk="1" hangingPunct="1">
              <a:defRPr/>
            </a:pPr>
            <a:r>
              <a:rPr lang="en-US" altLang="zh-CN" sz="1200" b="1" i="1" dirty="0">
                <a:solidFill>
                  <a:schemeClr val="tx1"/>
                </a:solidFill>
                <a:latin typeface="Times New Roman" panose="02020603050405020304" pitchFamily="18" charset="0"/>
                <a:cs typeface="Times New Roman" panose="02020603050405020304" pitchFamily="18" charset="0"/>
              </a:rPr>
              <a:t>i</a:t>
            </a:r>
            <a:r>
              <a:rPr lang="zh-CN" altLang="zh-CN" sz="1200" b="1" dirty="0">
                <a:solidFill>
                  <a:schemeClr val="tx1"/>
                </a:solidFill>
                <a:latin typeface="+mn-lt"/>
                <a:ea typeface="+mn-ea"/>
              </a:rPr>
              <a:t>：</a:t>
            </a:r>
            <a:r>
              <a:rPr lang="zh-CN" altLang="en-US" sz="1200" b="1" dirty="0"/>
              <a:t>起始</a:t>
            </a:r>
            <a:r>
              <a:rPr lang="zh-CN" altLang="zh-CN" sz="1200" b="1" dirty="0">
                <a:solidFill>
                  <a:schemeClr val="tx1"/>
                </a:solidFill>
                <a:latin typeface="+mn-lt"/>
                <a:ea typeface="+mn-ea"/>
              </a:rPr>
              <a:t>；</a:t>
            </a:r>
            <a:endParaRPr lang="en-US" altLang="zh-CN" sz="1200" b="1" dirty="0">
              <a:solidFill>
                <a:schemeClr val="tx1"/>
              </a:solidFill>
              <a:latin typeface="+mn-lt"/>
              <a:ea typeface="+mn-ea"/>
            </a:endParaRPr>
          </a:p>
          <a:p>
            <a:pPr eaLnBrk="1" hangingPunct="1">
              <a:defRPr/>
            </a:pPr>
            <a:r>
              <a:rPr lang="en-US" altLang="zh-CN" sz="1200" b="1" i="1" dirty="0">
                <a:solidFill>
                  <a:schemeClr val="tx1"/>
                </a:solidFill>
                <a:latin typeface="Times New Roman" panose="02020603050405020304" pitchFamily="18" charset="0"/>
                <a:cs typeface="Times New Roman" panose="02020603050405020304" pitchFamily="18" charset="0"/>
              </a:rPr>
              <a:t>o</a:t>
            </a:r>
            <a:r>
              <a:rPr lang="zh-CN" altLang="zh-CN" sz="1200" b="1" dirty="0">
                <a:solidFill>
                  <a:schemeClr val="tx1"/>
                </a:solidFill>
                <a:latin typeface="+mn-lt"/>
                <a:ea typeface="+mn-ea"/>
              </a:rPr>
              <a:t>：</a:t>
            </a:r>
            <a:r>
              <a:rPr lang="zh-CN" altLang="en-US" sz="1200" b="1" dirty="0">
                <a:solidFill>
                  <a:schemeClr val="tx1"/>
                </a:solidFill>
                <a:latin typeface="+mn-lt"/>
                <a:ea typeface="+mn-ea"/>
              </a:rPr>
              <a:t>终止</a:t>
            </a:r>
            <a:endParaRPr lang="zh-CN" altLang="zh-CN" sz="1200" b="1" dirty="0">
              <a:solidFill>
                <a:schemeClr val="tx1"/>
              </a:solidFill>
              <a:latin typeface="+mn-lt"/>
              <a:ea typeface="+mn-ea"/>
            </a:endParaRPr>
          </a:p>
          <a:p>
            <a:pPr eaLnBrk="1" hangingPunct="1">
              <a:defRPr/>
            </a:pPr>
            <a:r>
              <a:rPr lang="en-US" altLang="zh-CN" sz="1200" b="1" i="1" dirty="0">
                <a:solidFill>
                  <a:schemeClr val="tx1"/>
                </a:solidFill>
                <a:latin typeface="Times New Roman" panose="02020603050405020304" pitchFamily="18" charset="0"/>
                <a:cs typeface="Times New Roman" panose="02020603050405020304" pitchFamily="18" charset="0"/>
              </a:rPr>
              <a:t>p</a:t>
            </a:r>
            <a:r>
              <a:rPr lang="en-US" altLang="zh-CN" sz="1200" b="1" baseline="-25000" dirty="0">
                <a:solidFill>
                  <a:schemeClr val="tx1"/>
                </a:solidFill>
                <a:latin typeface="Times New Roman" panose="02020603050405020304" pitchFamily="18" charset="0"/>
                <a:cs typeface="Times New Roman" panose="02020603050405020304" pitchFamily="18" charset="0"/>
              </a:rPr>
              <a:t>1</a:t>
            </a:r>
            <a:r>
              <a:rPr lang="en-US" altLang="zh-CN"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p</a:t>
            </a:r>
            <a:r>
              <a:rPr lang="en-US" altLang="zh-CN" sz="1200" b="1" baseline="-25000" dirty="0">
                <a:solidFill>
                  <a:schemeClr val="tx1"/>
                </a:solidFill>
                <a:latin typeface="Times New Roman" panose="02020603050405020304" pitchFamily="18" charset="0"/>
                <a:cs typeface="Times New Roman" panose="02020603050405020304" pitchFamily="18" charset="0"/>
              </a:rPr>
              <a:t>2</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cs typeface="Times New Roman" panose="02020603050405020304" pitchFamily="18" charset="0"/>
              </a:rPr>
              <a:t>p</a:t>
            </a:r>
            <a:r>
              <a:rPr lang="en-US" altLang="zh-CN" sz="1200" b="1" baseline="-25000" dirty="0">
                <a:solidFill>
                  <a:schemeClr val="tx1"/>
                </a:solidFill>
                <a:latin typeface="Times New Roman" panose="02020603050405020304" pitchFamily="18" charset="0"/>
                <a:cs typeface="Times New Roman" panose="02020603050405020304" pitchFamily="18" charset="0"/>
              </a:rPr>
              <a:t>3</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p</a:t>
            </a:r>
            <a:r>
              <a:rPr lang="en-US" altLang="zh-CN" sz="1200" b="1" baseline="-25000" dirty="0">
                <a:solidFill>
                  <a:schemeClr val="tx1"/>
                </a:solidFill>
                <a:latin typeface="Times New Roman" panose="02020603050405020304" pitchFamily="18" charset="0"/>
                <a:cs typeface="Times New Roman" panose="02020603050405020304" pitchFamily="18" charset="0"/>
              </a:rPr>
              <a:t>7 </a:t>
            </a:r>
            <a:r>
              <a:rPr lang="en-US" altLang="zh-CN" sz="1200" b="1" dirty="0">
                <a:solidFill>
                  <a:schemeClr val="tx1"/>
                </a:solidFill>
                <a:latin typeface="+mn-lt"/>
                <a:ea typeface="+mn-ea"/>
              </a:rPr>
              <a:t>:</a:t>
            </a:r>
            <a:r>
              <a:rPr lang="zh-CN" altLang="en-US" sz="1200" b="1" dirty="0"/>
              <a:t>中间库所</a:t>
            </a:r>
            <a:endParaRPr lang="zh-CN" altLang="zh-CN" sz="1200" b="1" dirty="0">
              <a:solidFill>
                <a:schemeClr val="tx1"/>
              </a:solidFill>
              <a:latin typeface="+mn-lt"/>
              <a:ea typeface="+mn-ea"/>
            </a:endParaRPr>
          </a:p>
          <a:p>
            <a:pPr eaLnBrk="1" hangingPunct="1">
              <a:spcBef>
                <a:spcPts val="600"/>
              </a:spcBef>
              <a:buClrTx/>
              <a:buSzTx/>
              <a:buFontTx/>
              <a:buNone/>
            </a:pPr>
            <a:r>
              <a:rPr lang="zh-CN" altLang="en-US" dirty="0"/>
              <a:t>投诉处理工作的流程</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67</a:t>
            </a:fld>
            <a:endParaRPr lang="zh-CN" altLang="en-US"/>
          </a:p>
        </p:txBody>
      </p:sp>
    </p:spTree>
    <p:extLst>
      <p:ext uri="{BB962C8B-B14F-4D97-AF65-F5344CB8AC3E}">
        <p14:creationId xmlns:p14="http://schemas.microsoft.com/office/powerpoint/2010/main" val="39695189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68</a:t>
            </a:fld>
            <a:endParaRPr lang="zh-CN" altLang="en-US"/>
          </a:p>
        </p:txBody>
      </p:sp>
    </p:spTree>
    <p:extLst>
      <p:ext uri="{BB962C8B-B14F-4D97-AF65-F5344CB8AC3E}">
        <p14:creationId xmlns:p14="http://schemas.microsoft.com/office/powerpoint/2010/main" val="2022412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2025/4/16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2025/4/16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2025/4/16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2025/4/16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图片占位符 2"/>
          <p:cNvSpPr>
            <a:spLocks noGrp="1"/>
          </p:cNvSpPr>
          <p:nvPr>
            <p:ph type="pic" sz="quarter" idx="10"/>
          </p:nvPr>
        </p:nvSpPr>
        <p:spPr>
          <a:xfrm>
            <a:off x="0" y="0"/>
            <a:ext cx="12192000" cy="4403725"/>
          </a:xfrm>
          <a:prstGeom prst="rect">
            <a:avLst/>
          </a:prstGeom>
        </p:spPr>
        <p:txBody>
          <a:bodyPr/>
          <a:lstStyle/>
          <a:p>
            <a:endParaRPr lang="zh-CN" altLang="en-US"/>
          </a:p>
        </p:txBody>
      </p:sp>
      <p:sp>
        <p:nvSpPr>
          <p:cNvPr id="5" name="文本占位符 4"/>
          <p:cNvSpPr>
            <a:spLocks noGrp="1"/>
          </p:cNvSpPr>
          <p:nvPr>
            <p:ph type="body" sz="quarter" idx="11"/>
          </p:nvPr>
        </p:nvSpPr>
        <p:spPr>
          <a:xfrm>
            <a:off x="0" y="3075709"/>
            <a:ext cx="12192000" cy="1328016"/>
          </a:xfrm>
          <a:prstGeom prst="rect">
            <a:avLst/>
          </a:prstGeom>
          <a:solidFill>
            <a:schemeClr val="accent1">
              <a:lumMod val="75000"/>
              <a:alpha val="74000"/>
            </a:schemeClr>
          </a:solidFill>
          <a:ln>
            <a:noFill/>
          </a:ln>
        </p:spPr>
        <p:txBody>
          <a:bodyPr/>
          <a:lstStyle>
            <a:lvl1pPr>
              <a:defRPr>
                <a:solidFill>
                  <a:schemeClr val="tx1">
                    <a:alpha val="0"/>
                  </a:schemeClr>
                </a:solidFill>
              </a:defRPr>
            </a:lvl1pPr>
          </a:lstStyle>
          <a:p>
            <a:pPr lvl="0"/>
            <a:endParaRPr lang="zh-CN" altLang="en-US" dirty="0"/>
          </a:p>
        </p:txBody>
      </p:sp>
      <p:sp>
        <p:nvSpPr>
          <p:cNvPr id="6" name="副标题 2"/>
          <p:cNvSpPr>
            <a:spLocks noGrp="1"/>
          </p:cNvSpPr>
          <p:nvPr>
            <p:ph type="subTitle" idx="1"/>
          </p:nvPr>
        </p:nvSpPr>
        <p:spPr>
          <a:xfrm>
            <a:off x="1851024" y="2809284"/>
            <a:ext cx="7855511" cy="558799"/>
          </a:xfrm>
          <a:prstGeom prst="rect">
            <a:avLst/>
          </a:prstGeo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标题 1"/>
          <p:cNvSpPr>
            <a:spLocks noGrp="1"/>
          </p:cNvSpPr>
          <p:nvPr>
            <p:ph type="ctrTitle"/>
          </p:nvPr>
        </p:nvSpPr>
        <p:spPr>
          <a:xfrm>
            <a:off x="1851024" y="2110693"/>
            <a:ext cx="7855511" cy="698591"/>
          </a:xfrm>
          <a:prstGeom prst="rect">
            <a:avLst/>
          </a:prstGeo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8" name="文本占位符 13"/>
          <p:cNvSpPr>
            <a:spLocks noGrp="1"/>
          </p:cNvSpPr>
          <p:nvPr>
            <p:ph type="body" sz="quarter" idx="12" hasCustomPrompt="1"/>
          </p:nvPr>
        </p:nvSpPr>
        <p:spPr>
          <a:xfrm>
            <a:off x="1851024" y="4572592"/>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9" name="文本占位符 13"/>
          <p:cNvSpPr>
            <a:spLocks noGrp="1"/>
          </p:cNvSpPr>
          <p:nvPr>
            <p:ph type="body" sz="quarter" idx="13" hasCustomPrompt="1"/>
          </p:nvPr>
        </p:nvSpPr>
        <p:spPr>
          <a:xfrm>
            <a:off x="1851024" y="4868863"/>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2025/4/16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2.png"/><Relationship Id="rId7" Type="http://schemas.openxmlformats.org/officeDocument/2006/relationships/hyperlink" Target="https://zh.wikipedia.org/wiki/%E5%8F%8C%E5%B0%84"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zh.wikipedia.org/wiki/%E5%80%BC%E5%9F%9F" TargetMode="External"/><Relationship Id="rId11" Type="http://schemas.openxmlformats.org/officeDocument/2006/relationships/image" Target="../media/image7.emf"/><Relationship Id="rId5" Type="http://schemas.openxmlformats.org/officeDocument/2006/relationships/hyperlink" Target="https://zh.wikipedia.org/wiki/%E9%99%AA%E5%9F%9F" TargetMode="External"/><Relationship Id="rId10" Type="http://schemas.openxmlformats.org/officeDocument/2006/relationships/image" Target="../media/image6.emf"/><Relationship Id="rId4" Type="http://schemas.openxmlformats.org/officeDocument/2006/relationships/image" Target="../media/image3.png"/><Relationship Id="rId9"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2.png"/><Relationship Id="rId7" Type="http://schemas.openxmlformats.org/officeDocument/2006/relationships/image" Target="../media/image22.emf"/><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rPr>
              <a:t>          Chapter 5</a:t>
            </a:r>
            <a:r>
              <a:rPr lang="zh-CN" altLang="en-US" sz="2400" b="1" dirty="0">
                <a:latin typeface="Trebuchet MS" panose="020B0603020202020204" pitchFamily="34" charset="0"/>
              </a:rPr>
              <a:t>：</a:t>
            </a:r>
            <a:r>
              <a:rPr lang="en-US" altLang="zh-CN" sz="2400" b="1" dirty="0">
                <a:latin typeface="Trebuchet MS" panose="020B0603020202020204" pitchFamily="34" charset="0"/>
              </a:rPr>
              <a:t>Function</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ct val="0"/>
              </a:spcBef>
              <a:buNone/>
            </a:pPr>
            <a:endParaRPr lang="en-US" altLang="zh-CN" b="1" dirty="0"/>
          </a:p>
          <a:p>
            <a:pPr marL="342900" indent="-342900">
              <a:lnSpc>
                <a:spcPct val="150000"/>
              </a:lnSpc>
              <a:buClr>
                <a:srgbClr val="0B61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5.1 Function Definition and Properties</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5.2 Composition of Functions and Inverse Functions</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5.3 Relational Algebra</a:t>
            </a:r>
          </a:p>
          <a:p>
            <a:pPr lvl="1"/>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solidFill>
                  <a:schemeClr val="bg1"/>
                </a:solidFill>
                <a:latin typeface="Trebuchet MS" panose="020B0603020202020204" pitchFamily="34" charset="0"/>
              </a:rPr>
              <a:t>           5.1 Function Definition and Properties</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1"/>
            <a:ext cx="8798289" cy="5353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Clr>
                <a:srgbClr val="0B61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5.1.1 Definition of a Function</a:t>
            </a:r>
          </a:p>
          <a:p>
            <a:pPr marL="892175" indent="273050">
              <a:lnSpc>
                <a:spcPct val="120000"/>
              </a:lnSpc>
              <a:spcBef>
                <a:spcPts val="0"/>
              </a:spcBef>
              <a:buClr>
                <a:srgbClr val="0B61FF"/>
              </a:buClr>
              <a:buSzPct val="120000"/>
            </a:pPr>
            <a:r>
              <a:rPr lang="en-US" sz="2400" dirty="0">
                <a:latin typeface="Trebuchet MS" panose="020B0603020202020204" pitchFamily="34" charset="0"/>
              </a:rPr>
              <a:t>Equality of functions</a:t>
            </a:r>
          </a:p>
          <a:p>
            <a:pPr marL="892175" indent="273050">
              <a:lnSpc>
                <a:spcPct val="120000"/>
              </a:lnSpc>
              <a:spcBef>
                <a:spcPts val="0"/>
              </a:spcBef>
              <a:buClr>
                <a:srgbClr val="0B61FF"/>
              </a:buClr>
              <a:buSzPct val="120000"/>
            </a:pPr>
            <a:r>
              <a:rPr lang="en-US" sz="2400" dirty="0">
                <a:latin typeface="Trebuchet MS" panose="020B0603020202020204" pitchFamily="34" charset="0"/>
              </a:rPr>
              <a:t>Function's domain, range, and direction</a:t>
            </a:r>
          </a:p>
          <a:p>
            <a:pPr marL="892175" indent="273050">
              <a:lnSpc>
                <a:spcPct val="120000"/>
              </a:lnSpc>
              <a:spcBef>
                <a:spcPts val="0"/>
              </a:spcBef>
              <a:buClr>
                <a:srgbClr val="0B61FF"/>
              </a:buClr>
              <a:buSzPct val="120000"/>
            </a:pPr>
            <a:r>
              <a:rPr lang="en-US" sz="2400" dirty="0">
                <a:latin typeface="Trebuchet MS" panose="020B0603020202020204" pitchFamily="34" charset="0"/>
              </a:rPr>
              <a:t>Surjective, Injective, and Bijective Functions</a:t>
            </a:r>
          </a:p>
          <a:p>
            <a:pPr marL="892175" indent="273050">
              <a:lnSpc>
                <a:spcPct val="120000"/>
              </a:lnSpc>
              <a:spcBef>
                <a:spcPts val="0"/>
              </a:spcBef>
              <a:buClr>
                <a:srgbClr val="0B61FF"/>
              </a:buClr>
              <a:buSzPct val="120000"/>
            </a:pPr>
            <a:r>
              <a:rPr lang="en-US" sz="2400" dirty="0">
                <a:latin typeface="Trebuchet MS" panose="020B0603020202020204" pitchFamily="34" charset="0"/>
              </a:rPr>
              <a:t>Function Sets and Counting</a:t>
            </a:r>
          </a:p>
          <a:p>
            <a:pPr marL="892175" indent="273050">
              <a:lnSpc>
                <a:spcPct val="120000"/>
              </a:lnSpc>
              <a:spcBef>
                <a:spcPts val="0"/>
              </a:spcBef>
              <a:buClr>
                <a:srgbClr val="0B61FF"/>
              </a:buClr>
              <a:buSzPct val="120000"/>
            </a:pPr>
            <a:r>
              <a:rPr lang="en-US" sz="2400" dirty="0">
                <a:latin typeface="Trebuchet MS" panose="020B0603020202020204" pitchFamily="34" charset="0"/>
              </a:rPr>
              <a:t>Constant, Identity, and Monotonic Functions</a:t>
            </a:r>
          </a:p>
          <a:p>
            <a:pPr marL="892175" indent="273050">
              <a:lnSpc>
                <a:spcPct val="120000"/>
              </a:lnSpc>
              <a:spcBef>
                <a:spcPts val="0"/>
              </a:spcBef>
              <a:buClr>
                <a:srgbClr val="0B61FF"/>
              </a:buClr>
              <a:buSzPct val="120000"/>
            </a:pPr>
            <a:r>
              <a:rPr lang="en-US" sz="2400" dirty="0">
                <a:latin typeface="Trebuchet MS" panose="020B0603020202020204" pitchFamily="34" charset="0"/>
              </a:rPr>
              <a:t>Natural mapping</a:t>
            </a:r>
          </a:p>
          <a:p>
            <a:pPr marL="892175" indent="273050">
              <a:lnSpc>
                <a:spcPct val="120000"/>
              </a:lnSpc>
              <a:spcBef>
                <a:spcPts val="0"/>
              </a:spcBef>
              <a:buClr>
                <a:srgbClr val="0B61FF"/>
              </a:buClr>
              <a:buSzPct val="120000"/>
            </a:pPr>
            <a:r>
              <a:rPr lang="en-US" sz="2400" dirty="0">
                <a:latin typeface="Trebuchet MS" panose="020B0603020202020204" pitchFamily="34" charset="0"/>
              </a:rPr>
              <a:t>Equivalence relation’s impact on natural mapping</a:t>
            </a:r>
          </a:p>
          <a:p>
            <a:pPr marL="892175" indent="273050">
              <a:lnSpc>
                <a:spcPct val="120000"/>
              </a:lnSpc>
              <a:spcBef>
                <a:spcPts val="0"/>
              </a:spcBef>
              <a:buClr>
                <a:srgbClr val="0B61FF"/>
              </a:buClr>
              <a:buSzPct val="120000"/>
            </a:pPr>
            <a:r>
              <a:rPr lang="en-US" sz="2400" dirty="0">
                <a:latin typeface="Trebuchet MS" panose="020B0603020202020204" pitchFamily="34" charset="0"/>
              </a:rPr>
              <a:t>The order of a complexity function</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5.1.2 Image and Preimage of a Function</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5.1.3 Properties of a Function</a:t>
            </a:r>
          </a:p>
          <a:p>
            <a:pPr marL="0" indent="1165225" eaLnBrk="1" hangingPunct="1">
              <a:spcBef>
                <a:spcPct val="40000"/>
              </a:spcBef>
              <a:buNone/>
            </a:pPr>
            <a:endParaRPr lang="zh-CN" altLang="en-US" b="1" dirty="0"/>
          </a:p>
        </p:txBody>
      </p:sp>
    </p:spTree>
    <p:extLst>
      <p:ext uri="{BB962C8B-B14F-4D97-AF65-F5344CB8AC3E}">
        <p14:creationId xmlns:p14="http://schemas.microsoft.com/office/powerpoint/2010/main" val="4288781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5.1 Function Definition and Properties</a:t>
            </a:r>
          </a:p>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t>5.1.1 Definition of a Function</a:t>
            </a:r>
            <a:endParaRPr lang="zh-CN" altLang="en-US" sz="2400" b="1" dirty="0">
              <a:solidFill>
                <a:schemeClr val="bg1"/>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5.1: </a:t>
            </a:r>
            <a:r>
              <a:rPr lang="en-US" altLang="zh-CN" sz="2400" i="1" dirty="0">
                <a:latin typeface="Trebuchet MS" panose="020B0603020202020204" pitchFamily="34" charset="0"/>
              </a:rPr>
              <a:t>function</a:t>
            </a:r>
            <a:br>
              <a:rPr lang="en-US" sz="2400" dirty="0">
                <a:latin typeface="Trebuchet MS" panose="020B0603020202020204" pitchFamily="34" charset="0"/>
              </a:rPr>
            </a:br>
            <a:r>
              <a:rPr lang="en-US" sz="2400" dirty="0">
                <a:latin typeface="Trebuchet MS" panose="020B0603020202020204" pitchFamily="34" charset="0"/>
              </a:rPr>
              <a:t>Let</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 </a:t>
            </a:r>
            <a:r>
              <a:rPr lang="en-US" sz="2400" dirty="0">
                <a:latin typeface="Trebuchet MS" panose="020B0603020202020204" pitchFamily="34" charset="0"/>
              </a:rPr>
              <a:t>be a binary relation. If for every </a:t>
            </a:r>
            <a:r>
              <a:rPr kumimoji="0" lang="zh-CN" altLang="en-US"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∈dom</a:t>
            </a:r>
            <a:r>
              <a:rPr kumimoji="0" lang="en-US" altLang="zh-CN" sz="2400" b="1" i="1" dirty="0">
                <a:latin typeface="Trebuchet MS" panose="020B0603020202020204" pitchFamily="34" charset="0"/>
              </a:rPr>
              <a:t>f </a:t>
            </a:r>
            <a:r>
              <a:rPr lang="en-US" sz="2400" dirty="0">
                <a:latin typeface="Trebuchet MS" panose="020B0603020202020204" pitchFamily="34" charset="0"/>
              </a:rPr>
              <a:t>there exists a unique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∈ran</a:t>
            </a:r>
            <a:r>
              <a:rPr kumimoji="0" lang="en-US" altLang="zh-CN" sz="2400" b="1" i="1" dirty="0">
                <a:latin typeface="Trebuchet MS" panose="020B0603020202020204" pitchFamily="34" charset="0"/>
              </a:rPr>
              <a:t>f </a:t>
            </a:r>
            <a:r>
              <a:rPr lang="en-US" sz="2400" dirty="0">
                <a:latin typeface="Trebuchet MS" panose="020B0603020202020204" pitchFamily="34" charset="0"/>
              </a:rPr>
              <a:t>such that</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x f y </a:t>
            </a:r>
            <a:r>
              <a:rPr lang="en-US" sz="2400" dirty="0">
                <a:latin typeface="Trebuchet MS" panose="020B0603020202020204" pitchFamily="34" charset="0"/>
              </a:rPr>
              <a:t>holds</a:t>
            </a:r>
            <a:r>
              <a:rPr kumimoji="0" lang="en-US" altLang="zh-CN" sz="2400" b="1" dirty="0">
                <a:latin typeface="Trebuchet MS" panose="020B0603020202020204" pitchFamily="34" charset="0"/>
              </a:rPr>
              <a:t>, </a:t>
            </a:r>
            <a:r>
              <a:rPr lang="en-US" sz="2400" dirty="0">
                <a:latin typeface="Trebuchet MS" panose="020B0603020202020204" pitchFamily="34" charset="0"/>
              </a:rPr>
              <a:t>then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a:t>
            </a:r>
            <a:r>
              <a:rPr lang="en-US" sz="2400" dirty="0">
                <a:latin typeface="Trebuchet MS" panose="020B0603020202020204" pitchFamily="34" charset="0"/>
              </a:rPr>
              <a:t>  is called a </a:t>
            </a:r>
            <a:r>
              <a:rPr lang="en-US" sz="2400" b="1" i="1" dirty="0">
                <a:latin typeface="Trebuchet MS" panose="020B0603020202020204" pitchFamily="34" charset="0"/>
              </a:rPr>
              <a:t>function</a:t>
            </a:r>
            <a:r>
              <a:rPr lang="en-US" sz="2400" dirty="0">
                <a:latin typeface="Trebuchet MS" panose="020B0603020202020204" pitchFamily="34" charset="0"/>
              </a:rPr>
              <a:t>.</a:t>
            </a:r>
            <a:r>
              <a:rPr kumimoji="0" lang="en-US" altLang="zh-CN" sz="2400" b="1" dirty="0">
                <a:latin typeface="Trebuchet MS" panose="020B0603020202020204" pitchFamily="34" charset="0"/>
              </a:rPr>
              <a:t> </a:t>
            </a:r>
            <a:r>
              <a:rPr lang="en-US" sz="2400" dirty="0">
                <a:latin typeface="Trebuchet MS" panose="020B0603020202020204" pitchFamily="34" charset="0"/>
              </a:rPr>
              <a:t>For a function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 </a:t>
            </a:r>
            <a:r>
              <a:rPr lang="en-US" sz="2400" dirty="0">
                <a:latin typeface="Trebuchet MS" panose="020B0603020202020204" pitchFamily="34" charset="0"/>
              </a:rPr>
              <a:t>if</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x f y</a:t>
            </a:r>
            <a:r>
              <a:rPr kumimoji="0" lang="en-US" altLang="zh-CN" sz="2400" b="1" dirty="0">
                <a:latin typeface="Trebuchet MS" panose="020B0603020202020204" pitchFamily="34" charset="0"/>
              </a:rPr>
              <a:t>, </a:t>
            </a:r>
            <a:r>
              <a:rPr lang="en-US" sz="2400" dirty="0">
                <a:latin typeface="Trebuchet MS" panose="020B0603020202020204" pitchFamily="34" charset="0"/>
              </a:rPr>
              <a:t>we denote this as </a:t>
            </a:r>
            <a:r>
              <a:rPr kumimoji="0" lang="en-US" altLang="zh-CN" sz="2400" b="1" i="1" dirty="0">
                <a:latin typeface="Trebuchet MS" panose="020B0603020202020204" pitchFamily="34" charset="0"/>
              </a:rPr>
              <a:t>y</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r>
              <a:rPr lang="en-US" sz="2400" dirty="0">
                <a:latin typeface="Trebuchet MS" panose="020B0603020202020204" pitchFamily="34" charset="0"/>
              </a:rPr>
              <a:t>and</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y </a:t>
            </a:r>
            <a:r>
              <a:rPr lang="en-US" sz="2400" dirty="0">
                <a:latin typeface="Trebuchet MS" panose="020B0603020202020204" pitchFamily="34" charset="0"/>
              </a:rPr>
              <a:t>s called the value </a:t>
            </a:r>
            <a:r>
              <a:rPr lang="en-US" altLang="zh-CN" sz="2400" dirty="0">
                <a:latin typeface="Trebuchet MS" panose="020B0603020202020204" pitchFamily="34" charset="0"/>
              </a:rPr>
              <a:t>of</a:t>
            </a:r>
            <a:r>
              <a:rPr kumimoji="0" lang="zh-CN" altLang="en-US" sz="2400" b="1" dirty="0">
                <a:latin typeface="Trebuchet MS" panose="020B0603020202020204" pitchFamily="34" charset="0"/>
              </a:rPr>
              <a:t> </a:t>
            </a:r>
            <a:r>
              <a:rPr kumimoji="0" lang="en-US" altLang="zh-CN" sz="2400" b="1" i="1" dirty="0">
                <a:solidFill>
                  <a:srgbClr val="FF0000"/>
                </a:solidFill>
                <a:latin typeface="Trebuchet MS" panose="020B0603020202020204" pitchFamily="34" charset="0"/>
              </a:rPr>
              <a:t>f </a:t>
            </a:r>
            <a:r>
              <a:rPr lang="en-US" altLang="zh-CN" sz="2400" b="1" i="1" dirty="0">
                <a:solidFill>
                  <a:srgbClr val="FF0000"/>
                </a:solidFill>
                <a:latin typeface="Trebuchet MS" panose="020B0603020202020204" pitchFamily="34" charset="0"/>
              </a:rPr>
              <a:t>at</a:t>
            </a:r>
            <a:r>
              <a:rPr kumimoji="0" lang="zh-CN" altLang="en-US" sz="2400" b="1" dirty="0">
                <a:solidFill>
                  <a:srgbClr val="FF0000"/>
                </a:solidFill>
                <a:latin typeface="Trebuchet MS" panose="020B0603020202020204" pitchFamily="34" charset="0"/>
              </a:rPr>
              <a:t> </a:t>
            </a:r>
            <a:r>
              <a:rPr kumimoji="0" lang="en-US" altLang="zh-CN" sz="2400" b="1" i="1" dirty="0">
                <a:solidFill>
                  <a:srgbClr val="FF0000"/>
                </a:solidFill>
                <a:latin typeface="Trebuchet MS" panose="020B0603020202020204" pitchFamily="34" charset="0"/>
              </a:rPr>
              <a:t>x</a:t>
            </a:r>
            <a:r>
              <a:rPr kumimoji="0" lang="en-US" altLang="zh-CN" sz="2400" b="1" dirty="0">
                <a:latin typeface="Trebuchet MS" panose="020B0603020202020204" pitchFamily="34" charset="0"/>
              </a:rPr>
              <a:t>. </a:t>
            </a:r>
          </a:p>
          <a:p>
            <a:pPr eaLnBrk="1" hangingPunct="1">
              <a:lnSpc>
                <a:spcPct val="120000"/>
              </a:lnSpc>
              <a:spcBef>
                <a:spcPts val="600"/>
              </a:spcBef>
              <a:buClr>
                <a:srgbClr val="0B61FF"/>
              </a:buClr>
              <a:buSzPct val="80000"/>
              <a:buFont typeface="Wingdings" panose="05000000000000000000" pitchFamily="2" charset="2"/>
              <a:buChar char="n"/>
            </a:pPr>
            <a:endParaRPr kumimoji="0" lang="en-US" altLang="zh-CN" sz="2400" b="1" dirty="0">
              <a:latin typeface="Trebuchet MS" panose="020B0603020202020204" pitchFamily="34" charset="0"/>
            </a:endParaRPr>
          </a:p>
          <a:p>
            <a:pPr eaLnBrk="1" hangingPunct="1">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For example:</a:t>
            </a:r>
            <a:br>
              <a:rPr lang="en-US" sz="2400"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&gt;,&lt;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&gt;,&lt;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3</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&gt;} </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&gt;,&lt;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y</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&gt;} </a:t>
            </a:r>
          </a:p>
          <a:p>
            <a:pPr eaLnBrk="1" hangingPunct="1">
              <a:lnSpc>
                <a:spcPct val="120000"/>
              </a:lnSpc>
              <a:spcBef>
                <a:spcPts val="60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1</a:t>
            </a:r>
            <a:r>
              <a:rPr lang="en-US" sz="2400" dirty="0">
                <a:latin typeface="Trebuchet MS" panose="020B0603020202020204" pitchFamily="34" charset="0"/>
              </a:rPr>
              <a:t> is a function, but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2</a:t>
            </a:r>
            <a:r>
              <a:rPr lang="en-US" sz="2400" dirty="0">
                <a:latin typeface="Trebuchet MS" panose="020B0603020202020204" pitchFamily="34" charset="0"/>
              </a:rPr>
              <a:t> is not a function.</a:t>
            </a:r>
            <a:br>
              <a:rPr kumimoji="0" lang="zh-CN" altLang="en-US" sz="2400" b="1" dirty="0">
                <a:solidFill>
                  <a:srgbClr val="000066"/>
                </a:solidFill>
                <a:latin typeface="Trebuchet MS" panose="020B0603020202020204" pitchFamily="34" charset="0"/>
              </a:rPr>
            </a:b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7331894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t>5.1.1 Definition of a Function</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Equality of functions</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61607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ct val="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5.2: </a:t>
            </a:r>
            <a:r>
              <a:rPr lang="en-US" altLang="zh-CN" sz="1600" dirty="0"/>
              <a:t> </a:t>
            </a:r>
            <a:r>
              <a:rPr lang="en-US" altLang="zh-CN" sz="2400" dirty="0">
                <a:latin typeface="Trebuchet MS" panose="020B0603020202020204" pitchFamily="34" charset="0"/>
              </a:rPr>
              <a:t>Equality of functions</a:t>
            </a:r>
            <a:br>
              <a:rPr lang="en-US" sz="2400" dirty="0">
                <a:latin typeface="Trebuchet MS" panose="020B0603020202020204" pitchFamily="34" charset="0"/>
              </a:rPr>
            </a:br>
            <a:r>
              <a:rPr lang="en-US" sz="2400" dirty="0">
                <a:latin typeface="Trebuchet MS" panose="020B0603020202020204" pitchFamily="34" charset="0"/>
              </a:rPr>
              <a:t>Let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g </a:t>
            </a:r>
            <a:r>
              <a:rPr lang="en-US" sz="2400" dirty="0">
                <a:latin typeface="Trebuchet MS" panose="020B0603020202020204" pitchFamily="34" charset="0"/>
              </a:rPr>
              <a:t>be functions. Then,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g </a:t>
            </a:r>
            <a:r>
              <a:rPr lang="en-US" sz="2400" dirty="0">
                <a:latin typeface="Trebuchet MS" panose="020B0603020202020204" pitchFamily="34" charset="0"/>
              </a:rPr>
              <a:t>are equal if and only if their set representations are equal:</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g </a:t>
            </a:r>
            <a:r>
              <a:rPr kumimoji="0" lang="en-US" altLang="zh-CN"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 </a:t>
            </a:r>
          </a:p>
          <a:p>
            <a:pPr marL="0" indent="0" eaLnBrk="1" hangingPunct="1">
              <a:lnSpc>
                <a:spcPct val="120000"/>
              </a:lnSpc>
              <a:spcBef>
                <a:spcPct val="0"/>
              </a:spcBef>
              <a:buClr>
                <a:srgbClr val="0B61FF"/>
              </a:buClr>
              <a:buSzPct val="80000"/>
              <a:buNone/>
            </a:pPr>
            <a:endParaRPr kumimoji="0" lang="en-US" altLang="zh-CN" sz="2400" b="1" dirty="0">
              <a:latin typeface="Trebuchet MS" panose="020B0603020202020204" pitchFamily="34" charset="0"/>
            </a:endParaRPr>
          </a:p>
          <a:p>
            <a:pPr eaLnBrk="1" hangingPunct="1">
              <a:lnSpc>
                <a:spcPct val="120000"/>
              </a:lnSpc>
              <a:spcBef>
                <a:spcPct val="0"/>
              </a:spcBef>
              <a:buClr>
                <a:srgbClr val="0B61FF"/>
              </a:buClr>
              <a:buSzPct val="80000"/>
              <a:buFont typeface="Wingdings" panose="05000000000000000000" pitchFamily="2" charset="2"/>
              <a:buChar char="n"/>
            </a:pPr>
            <a:r>
              <a:rPr lang="en-US" sz="2400" dirty="0">
                <a:latin typeface="Trebuchet MS" panose="020B0603020202020204" pitchFamily="34" charset="0"/>
              </a:rPr>
              <a:t>If two functions </a:t>
            </a:r>
            <a:r>
              <a:rPr kumimoji="0" lang="en-US" altLang="zh-CN" sz="2400" b="1" i="1" dirty="0">
                <a:latin typeface="Trebuchet MS" panose="020B0603020202020204" pitchFamily="34" charset="0"/>
              </a:rPr>
              <a:t>f </a:t>
            </a:r>
            <a:r>
              <a:rPr lang="en-US" altLang="zh-CN" sz="2400" b="1" i="1" dirty="0">
                <a:latin typeface="Trebuchet MS" panose="020B0603020202020204" pitchFamily="34" charset="0"/>
              </a:rPr>
              <a:t>and</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g </a:t>
            </a:r>
            <a:r>
              <a:rPr lang="en-US" sz="2400" dirty="0">
                <a:latin typeface="Trebuchet MS" panose="020B0603020202020204" pitchFamily="34" charset="0"/>
              </a:rPr>
              <a:t>are equal, the following two conditions must be satisfied:</a:t>
            </a:r>
          </a:p>
          <a:p>
            <a:pPr eaLnBrk="1" hangingPunct="1">
              <a:lnSpc>
                <a:spcPct val="120000"/>
              </a:lnSpc>
              <a:spcBef>
                <a:spcPct val="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	(1) dom</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dom</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 </a:t>
            </a:r>
          </a:p>
          <a:p>
            <a:pPr eaLnBrk="1" hangingPunct="1">
              <a:lnSpc>
                <a:spcPct val="120000"/>
              </a:lnSpc>
              <a:spcBef>
                <a:spcPct val="0"/>
              </a:spcBef>
              <a:buFontTx/>
              <a:buNone/>
            </a:pPr>
            <a:r>
              <a:rPr kumimoji="0" lang="en-US" altLang="zh-CN" sz="2400" b="1" dirty="0">
                <a:latin typeface="Trebuchet MS" panose="020B0603020202020204" pitchFamily="34" charset="0"/>
              </a:rPr>
              <a:t>   	(2) </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∈dom</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dom</a:t>
            </a:r>
            <a:r>
              <a:rPr kumimoji="0" lang="en-US" altLang="zh-CN" sz="2400" b="1" i="1" dirty="0">
                <a:latin typeface="Trebuchet MS" panose="020B0603020202020204" pitchFamily="34" charset="0"/>
              </a:rPr>
              <a:t>g </a:t>
            </a:r>
          </a:p>
          <a:p>
            <a:pPr eaLnBrk="1" hangingPunct="1">
              <a:lnSpc>
                <a:spcPct val="120000"/>
              </a:lnSpc>
              <a:spcBef>
                <a:spcPct val="0"/>
              </a:spcBef>
              <a:buFontTx/>
              <a:buNone/>
            </a:pPr>
            <a:r>
              <a:rPr lang="en-US" sz="2400" b="1" i="1" dirty="0">
                <a:latin typeface="Trebuchet MS" panose="020B0603020202020204" pitchFamily="34" charset="0"/>
              </a:rPr>
              <a:t>   </a:t>
            </a:r>
            <a:r>
              <a:rPr lang="en-US" sz="2400" dirty="0">
                <a:latin typeface="Trebuchet MS" panose="020B0603020202020204" pitchFamily="34" charset="0"/>
              </a:rPr>
              <a:t>we have</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 </a:t>
            </a:r>
          </a:p>
          <a:p>
            <a:pPr eaLnBrk="1" hangingPunct="1">
              <a:lnSpc>
                <a:spcPct val="120000"/>
              </a:lnSpc>
              <a:spcBef>
                <a:spcPct val="0"/>
              </a:spcBef>
              <a:buFontTx/>
              <a:buNone/>
            </a:pPr>
            <a:endParaRPr kumimoji="0" lang="en-US" altLang="zh-CN" sz="2400" b="1" dirty="0">
              <a:latin typeface="Trebuchet MS" panose="020B0603020202020204" pitchFamily="34" charset="0"/>
            </a:endParaRPr>
          </a:p>
          <a:p>
            <a:pPr>
              <a:lnSpc>
                <a:spcPct val="120000"/>
              </a:lnSpc>
              <a:spcBef>
                <a:spcPct val="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baseline="30000" dirty="0">
                <a:latin typeface="Trebuchet MS" panose="020B0603020202020204" pitchFamily="34" charset="0"/>
              </a:rPr>
              <a:t>2</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1)/(</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+1), </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1</a:t>
            </a:r>
          </a:p>
          <a:p>
            <a:pPr indent="39688" eaLnBrk="1" hangingPunct="1">
              <a:lnSpc>
                <a:spcPct val="120000"/>
              </a:lnSpc>
              <a:spcBef>
                <a:spcPct val="0"/>
              </a:spcBef>
              <a:buFontTx/>
              <a:buNone/>
            </a:pPr>
            <a:r>
              <a:rPr lang="en-US" sz="2400" dirty="0">
                <a:latin typeface="Trebuchet MS" panose="020B0603020202020204" pitchFamily="34" charset="0"/>
              </a:rPr>
              <a:t>These functions are not equal because </a:t>
            </a:r>
            <a:r>
              <a:rPr kumimoji="0" lang="en-US" altLang="zh-CN" sz="2400" b="1" dirty="0">
                <a:latin typeface="Trebuchet MS" panose="020B0603020202020204" pitchFamily="34" charset="0"/>
              </a:rPr>
              <a:t>dom</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dom</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 </a:t>
            </a:r>
          </a:p>
        </p:txBody>
      </p:sp>
    </p:spTree>
    <p:extLst>
      <p:ext uri="{BB962C8B-B14F-4D97-AF65-F5344CB8AC3E}">
        <p14:creationId xmlns:p14="http://schemas.microsoft.com/office/powerpoint/2010/main" val="10672750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1000"/>
                                        <p:tgtEl>
                                          <p:spTgt spid="8">
                                            <p:txEl>
                                              <p:pRg st="5" end="5"/>
                                            </p:txEl>
                                          </p:spTgt>
                                        </p:tgtEl>
                                      </p:cBhvr>
                                    </p:animEffect>
                                    <p:anim calcmode="lin" valueType="num">
                                      <p:cBhvr>
                                        <p:cTn id="25"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animEffect transition="in" filter="fade">
                                      <p:cBhvr>
                                        <p:cTn id="31" dur="1000"/>
                                        <p:tgtEl>
                                          <p:spTgt spid="8">
                                            <p:txEl>
                                              <p:pRg st="7" end="7"/>
                                            </p:txEl>
                                          </p:spTgt>
                                        </p:tgtEl>
                                      </p:cBhvr>
                                    </p:animEffect>
                                    <p:anim calcmode="lin" valueType="num">
                                      <p:cBhvr>
                                        <p:cTn id="32"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7" end="7"/>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8" end="8"/>
                                            </p:txEl>
                                          </p:spTgt>
                                        </p:tgtEl>
                                        <p:attrNameLst>
                                          <p:attrName>style.visibility</p:attrName>
                                        </p:attrNameLst>
                                      </p:cBhvr>
                                      <p:to>
                                        <p:strVal val="visible"/>
                                      </p:to>
                                    </p:set>
                                    <p:animEffect transition="in" filter="fade">
                                      <p:cBhvr>
                                        <p:cTn id="36" dur="1000"/>
                                        <p:tgtEl>
                                          <p:spTgt spid="8">
                                            <p:txEl>
                                              <p:pRg st="8" end="8"/>
                                            </p:txEl>
                                          </p:spTgt>
                                        </p:tgtEl>
                                      </p:cBhvr>
                                    </p:animEffect>
                                    <p:anim calcmode="lin" valueType="num">
                                      <p:cBhvr>
                                        <p:cTn id="37"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5.1.1 Definition of a Function</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Function's domain, range, and direction</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68731"/>
            <a:ext cx="9259045" cy="49299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5.3: </a:t>
            </a:r>
            <a:r>
              <a:rPr lang="en-US" altLang="zh-CN" sz="1600" dirty="0"/>
              <a:t> </a:t>
            </a:r>
            <a:r>
              <a:rPr lang="en-US" altLang="zh-CN" sz="2400" dirty="0">
                <a:latin typeface="Trebuchet MS" panose="020B0603020202020204" pitchFamily="34" charset="0"/>
              </a:rPr>
              <a:t>function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br>
              <a:rPr lang="en-US" sz="2400" dirty="0">
                <a:latin typeface="Trebuchet MS" panose="020B0603020202020204" pitchFamily="34" charset="0"/>
              </a:rPr>
            </a:br>
            <a:r>
              <a:rPr lang="en-US" sz="2400" dirty="0">
                <a:latin typeface="Trebuchet MS" panose="020B0603020202020204" pitchFamily="34" charset="0"/>
              </a:rPr>
              <a:t>Let </a:t>
            </a:r>
            <a:r>
              <a:rPr kumimoji="0" lang="en-US" altLang="zh-CN" sz="2400" b="1" i="1" dirty="0">
                <a:latin typeface="Trebuchet MS" panose="020B0603020202020204" pitchFamily="34" charset="0"/>
              </a:rPr>
              <a:t>A </a:t>
            </a:r>
            <a:r>
              <a:rPr lang="en-US" sz="2400" dirty="0">
                <a:latin typeface="Trebuchet MS" panose="020B0603020202020204" pitchFamily="34" charset="0"/>
              </a:rPr>
              <a:t>and </a:t>
            </a:r>
            <a:r>
              <a:rPr kumimoji="0" lang="en-US" altLang="zh-CN" sz="2400" b="1" i="1" dirty="0">
                <a:latin typeface="Trebuchet MS" panose="020B0603020202020204" pitchFamily="34" charset="0"/>
              </a:rPr>
              <a:t>B</a:t>
            </a:r>
            <a:r>
              <a:rPr lang="en-US" sz="2400" dirty="0">
                <a:latin typeface="Trebuchet MS" panose="020B0603020202020204" pitchFamily="34" charset="0"/>
              </a:rPr>
              <a:t> be sets. If</a:t>
            </a:r>
          </a:p>
          <a:p>
            <a:pPr eaLnBrk="1" hangingPunct="1">
              <a:lnSpc>
                <a:spcPct val="120000"/>
              </a:lnSpc>
              <a:spcBef>
                <a:spcPts val="30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(1)  </a:t>
            </a:r>
            <a:r>
              <a:rPr kumimoji="0" lang="en-US" altLang="zh-CN" sz="2400" b="1" i="1" dirty="0">
                <a:latin typeface="Trebuchet MS" panose="020B0603020202020204" pitchFamily="34" charset="0"/>
              </a:rPr>
              <a:t>f </a:t>
            </a:r>
            <a:r>
              <a:rPr lang="en-US" sz="2400" dirty="0">
                <a:latin typeface="Trebuchet MS" panose="020B0603020202020204" pitchFamily="34" charset="0"/>
              </a:rPr>
              <a:t>is a function,</a:t>
            </a:r>
            <a:endParaRPr kumimoji="0" lang="zh-CN" altLang="en-US" sz="2400" b="1" dirty="0">
              <a:latin typeface="Trebuchet MS" panose="020B0603020202020204" pitchFamily="34" charset="0"/>
            </a:endParaRPr>
          </a:p>
          <a:p>
            <a:pPr eaLnBrk="1" hangingPunct="1">
              <a:lnSpc>
                <a:spcPct val="120000"/>
              </a:lnSpc>
              <a:spcBef>
                <a:spcPts val="30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(2)  dom</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 and</a:t>
            </a:r>
          </a:p>
          <a:p>
            <a:pPr eaLnBrk="1" hangingPunct="1">
              <a:lnSpc>
                <a:spcPct val="120000"/>
              </a:lnSpc>
              <a:spcBef>
                <a:spcPts val="300"/>
              </a:spcBef>
              <a:buFontTx/>
              <a:buNone/>
            </a:pP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rPr>
              <a:t>(3)</a:t>
            </a:r>
            <a:r>
              <a:rPr kumimoji="0" lang="en-US" altLang="zh-CN" sz="2400" b="1" i="1" dirty="0">
                <a:latin typeface="Trebuchet MS" panose="020B0603020202020204" pitchFamily="34" charset="0"/>
              </a:rPr>
              <a:t> </a:t>
            </a:r>
            <a:r>
              <a:rPr kumimoji="0" lang="en-US" altLang="zh-CN" sz="2400" b="1" dirty="0">
                <a:latin typeface="Trebuchet MS" panose="020B0603020202020204" pitchFamily="34" charset="0"/>
              </a:rPr>
              <a:t> ran</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a:t>
            </a:r>
          </a:p>
          <a:p>
            <a:pPr indent="-50800" eaLnBrk="1" hangingPunct="1">
              <a:lnSpc>
                <a:spcPct val="120000"/>
              </a:lnSpc>
              <a:spcBef>
                <a:spcPts val="300"/>
              </a:spcBef>
              <a:buFontTx/>
              <a:buNone/>
            </a:pPr>
            <a:r>
              <a:rPr lang="en-US" sz="2400" dirty="0">
                <a:latin typeface="Trebuchet MS" panose="020B0603020202020204" pitchFamily="34" charset="0"/>
              </a:rPr>
              <a:t>then </a:t>
            </a:r>
            <a:r>
              <a:rPr kumimoji="0" lang="en-US" altLang="zh-CN" sz="2400" b="1" i="1" dirty="0">
                <a:latin typeface="Trebuchet MS" panose="020B0603020202020204" pitchFamily="34" charset="0"/>
              </a:rPr>
              <a:t>f </a:t>
            </a:r>
            <a:r>
              <a:rPr lang="en-US" sz="2400" dirty="0">
                <a:latin typeface="Trebuchet MS" panose="020B0603020202020204" pitchFamily="34" charset="0"/>
              </a:rPr>
              <a:t>is called a </a:t>
            </a:r>
            <a:r>
              <a:rPr lang="en-US" sz="2400" b="1" dirty="0">
                <a:latin typeface="Trebuchet MS" panose="020B0603020202020204" pitchFamily="34" charset="0"/>
              </a:rPr>
              <a:t>function from </a:t>
            </a:r>
            <a:r>
              <a:rPr lang="zh-CN" altLang="en-US" sz="2400" b="1" dirty="0">
                <a:latin typeface="Trebuchet MS" panose="020B0603020202020204" pitchFamily="34" charset="0"/>
              </a:rPr>
              <a:t> </a:t>
            </a:r>
            <a:r>
              <a:rPr kumimoji="0" lang="en-US" altLang="zh-CN" sz="2400" b="1" i="1" dirty="0">
                <a:solidFill>
                  <a:srgbClr val="FF0000"/>
                </a:solidFill>
                <a:latin typeface="Trebuchet MS" panose="020B0603020202020204" pitchFamily="34" charset="0"/>
              </a:rPr>
              <a:t>A </a:t>
            </a:r>
            <a:r>
              <a:rPr lang="en-US" altLang="zh-CN" sz="2400" b="1" i="1" dirty="0">
                <a:solidFill>
                  <a:srgbClr val="FF0000"/>
                </a:solidFill>
                <a:latin typeface="Trebuchet MS" panose="020B0603020202020204" pitchFamily="34" charset="0"/>
              </a:rPr>
              <a:t>to</a:t>
            </a:r>
            <a:r>
              <a:rPr lang="zh-CN" altLang="en-US" sz="2400" b="1" i="1" dirty="0">
                <a:solidFill>
                  <a:srgbClr val="FF0000"/>
                </a:solidFill>
                <a:latin typeface="Trebuchet MS" panose="020B0603020202020204" pitchFamily="34" charset="0"/>
              </a:rPr>
              <a:t> </a:t>
            </a:r>
            <a:r>
              <a:rPr kumimoji="0" lang="en-US" altLang="zh-CN" sz="2400" b="1" i="1" dirty="0">
                <a:solidFill>
                  <a:srgbClr val="FF0000"/>
                </a:solidFill>
                <a:latin typeface="Trebuchet MS" panose="020B0603020202020204" pitchFamily="34" charset="0"/>
              </a:rPr>
              <a:t>B</a:t>
            </a:r>
            <a:r>
              <a:rPr kumimoji="0" lang="en-US" altLang="zh-CN" sz="2400" b="1" dirty="0">
                <a:latin typeface="Trebuchet MS" panose="020B0603020202020204" pitchFamily="34" charset="0"/>
              </a:rPr>
              <a:t>, </a:t>
            </a:r>
            <a:r>
              <a:rPr lang="en-US" altLang="zh-CN" sz="2400" dirty="0">
                <a:latin typeface="Trebuchet MS" panose="020B0603020202020204" pitchFamily="34" charset="0"/>
              </a:rPr>
              <a:t>denoted by</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p>
          <a:p>
            <a:pPr indent="-50800" eaLnBrk="1" hangingPunct="1">
              <a:lnSpc>
                <a:spcPct val="120000"/>
              </a:lnSpc>
              <a:spcBef>
                <a:spcPts val="300"/>
              </a:spcBef>
              <a:buFontTx/>
              <a:buNone/>
            </a:pPr>
            <a:r>
              <a:rPr kumimoji="0" lang="en-US" altLang="zh-CN" sz="2400" b="1" dirty="0">
                <a:latin typeface="Trebuchet MS" panose="020B0603020202020204" pitchFamily="34" charset="0"/>
              </a:rPr>
              <a:t> </a:t>
            </a:r>
          </a:p>
          <a:p>
            <a:pPr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Examples:</a:t>
            </a:r>
          </a:p>
          <a:p>
            <a:pPr eaLnBrk="1" hangingPunct="1">
              <a:lnSpc>
                <a:spcPct val="120000"/>
              </a:lnSpc>
              <a:spcBef>
                <a:spcPts val="300"/>
              </a:spcBef>
              <a:buFontTx/>
              <a:buNone/>
            </a:pP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N→N,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)=2</a:t>
            </a:r>
            <a:r>
              <a:rPr kumimoji="0" lang="en-US" altLang="zh-CN" sz="2400" b="1" i="1" dirty="0">
                <a:latin typeface="Trebuchet MS" panose="020B0603020202020204" pitchFamily="34" charset="0"/>
              </a:rPr>
              <a:t>x </a:t>
            </a:r>
            <a:r>
              <a:rPr lang="en-US" sz="2400" dirty="0">
                <a:latin typeface="Trebuchet MS" panose="020B0603020202020204" pitchFamily="34" charset="0"/>
              </a:rPr>
              <a:t>is a function from </a:t>
            </a:r>
            <a:r>
              <a:rPr kumimoji="0" lang="en-US" altLang="zh-CN" sz="2400" b="1" dirty="0">
                <a:latin typeface="Trebuchet MS" panose="020B0603020202020204" pitchFamily="34" charset="0"/>
              </a:rPr>
              <a:t>N</a:t>
            </a:r>
            <a:r>
              <a:rPr kumimoji="0" lang="en-US" altLang="zh-CN" sz="2400" b="1" i="1" dirty="0">
                <a:latin typeface="Trebuchet MS" panose="020B0603020202020204" pitchFamily="34" charset="0"/>
              </a:rPr>
              <a:t> </a:t>
            </a:r>
            <a:r>
              <a:rPr lang="en-US" altLang="zh-CN" sz="2400" b="1" i="1" dirty="0">
                <a:latin typeface="Trebuchet MS" panose="020B0603020202020204" pitchFamily="34" charset="0"/>
              </a:rPr>
              <a:t>to</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N</a:t>
            </a:r>
            <a:endParaRPr kumimoji="0" lang="zh-CN" altLang="en-US" sz="2400" b="1" i="1" dirty="0">
              <a:latin typeface="Trebuchet MS" panose="020B0603020202020204" pitchFamily="34" charset="0"/>
            </a:endParaRPr>
          </a:p>
          <a:p>
            <a:pPr eaLnBrk="1" hangingPunct="1">
              <a:lnSpc>
                <a:spcPct val="120000"/>
              </a:lnSpc>
              <a:spcBef>
                <a:spcPts val="300"/>
              </a:spcBef>
              <a:buFontTx/>
              <a:buNone/>
            </a:pPr>
            <a:r>
              <a:rPr kumimoji="0" lang="zh-CN" altLang="en-US" sz="2400" b="1" i="1" dirty="0">
                <a:latin typeface="Trebuchet MS" panose="020B0603020202020204" pitchFamily="34" charset="0"/>
              </a:rPr>
              <a:t>       </a:t>
            </a:r>
            <a:r>
              <a:rPr kumimoji="0" lang="en-US" altLang="zh-CN" sz="2400" b="1" i="1" dirty="0">
                <a:latin typeface="Trebuchet MS" panose="020B0603020202020204" pitchFamily="34" charset="0"/>
              </a:rPr>
              <a:t>g </a:t>
            </a:r>
            <a:r>
              <a:rPr kumimoji="0" lang="en-US" altLang="zh-CN" sz="2400" b="1" dirty="0">
                <a:latin typeface="Trebuchet MS" panose="020B0603020202020204" pitchFamily="34" charset="0"/>
              </a:rPr>
              <a:t>: N→N, </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)=2</a:t>
            </a:r>
            <a:r>
              <a:rPr lang="zh-CN" altLang="en-US" sz="2400" b="1" dirty="0">
                <a:latin typeface="Trebuchet MS" panose="020B0603020202020204" pitchFamily="34" charset="0"/>
              </a:rPr>
              <a:t> </a:t>
            </a:r>
            <a:r>
              <a:rPr lang="en-US" sz="2400" dirty="0">
                <a:latin typeface="Trebuchet MS" panose="020B0603020202020204" pitchFamily="34" charset="0"/>
              </a:rPr>
              <a:t>is also a function from</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N </a:t>
            </a:r>
            <a:r>
              <a:rPr lang="en-US" altLang="zh-CN" sz="2400" b="1" dirty="0">
                <a:latin typeface="Trebuchet MS" panose="020B0603020202020204" pitchFamily="34" charset="0"/>
              </a:rPr>
              <a:t>to</a:t>
            </a: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N</a:t>
            </a:r>
          </a:p>
        </p:txBody>
      </p:sp>
    </p:spTree>
    <p:extLst>
      <p:ext uri="{BB962C8B-B14F-4D97-AF65-F5344CB8AC3E}">
        <p14:creationId xmlns:p14="http://schemas.microsoft.com/office/powerpoint/2010/main" val="14374208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5.1.1 Definition of a Function</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t> </a:t>
            </a:r>
            <a:r>
              <a:rPr lang="en-US" altLang="zh-CN" sz="2400" b="1" dirty="0">
                <a:latin typeface="Trebuchet MS" panose="020B0603020202020204" pitchFamily="34" charset="0"/>
              </a:rPr>
              <a:t>Surjective, Injective, and Bijective Functions</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32477"/>
            <a:ext cx="10078857" cy="5873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Definition 5.4:  </a:t>
            </a:r>
            <a:r>
              <a:rPr lang="en-US" altLang="zh-CN" sz="2400" dirty="0">
                <a:latin typeface="Trebuchet MS" panose="020B0603020202020204" pitchFamily="34" charset="0"/>
              </a:rPr>
              <a:t>Let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     </a:t>
            </a:r>
          </a:p>
          <a:p>
            <a:pPr marL="534988" indent="-266700">
              <a:lnSpc>
                <a:spcPct val="120000"/>
              </a:lnSpc>
              <a:spcBef>
                <a:spcPct val="0"/>
              </a:spcBef>
              <a:buClr>
                <a:srgbClr val="0B61FF"/>
              </a:buClr>
              <a:buSzPct val="120000"/>
            </a:pPr>
            <a:r>
              <a:rPr lang="en-US" altLang="zh-CN" sz="2400" dirty="0">
                <a:latin typeface="Trebuchet MS" panose="020B0603020202020204" pitchFamily="34" charset="0"/>
              </a:rPr>
              <a:t>A function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 is </a:t>
            </a:r>
            <a:r>
              <a:rPr lang="en-US" altLang="zh-CN" sz="2400" b="1" i="1" dirty="0">
                <a:latin typeface="Trebuchet MS" panose="020B0603020202020204" pitchFamily="34" charset="0"/>
              </a:rPr>
              <a:t>subjective (onto) </a:t>
            </a:r>
            <a:r>
              <a:rPr lang="en-US" altLang="zh-CN" sz="2400" dirty="0">
                <a:latin typeface="Trebuchet MS" panose="020B0603020202020204" pitchFamily="34" charset="0"/>
              </a:rPr>
              <a:t>if and only if for every </a:t>
            </a:r>
            <a:r>
              <a:rPr lang="en-US" altLang="zh-CN" sz="2400" b="1" i="1" dirty="0">
                <a:latin typeface="Trebuchet MS" panose="020B0603020202020204" pitchFamily="34" charset="0"/>
              </a:rPr>
              <a:t>b</a:t>
            </a:r>
            <a:r>
              <a:rPr lang="en-US" altLang="zh-CN" sz="2400" dirty="0">
                <a:latin typeface="Trebuchet MS" panose="020B0603020202020204" pitchFamily="34" charset="0"/>
              </a:rPr>
              <a:t>∈</a:t>
            </a:r>
            <a:r>
              <a:rPr lang="en-US" altLang="zh-CN" sz="2400" i="1" dirty="0">
                <a:latin typeface="Trebuchet MS" panose="020B0603020202020204" pitchFamily="34" charset="0"/>
              </a:rPr>
              <a:t>B</a:t>
            </a:r>
            <a:r>
              <a:rPr lang="en-US" altLang="zh-CN" sz="2400" dirty="0">
                <a:latin typeface="Trebuchet MS" panose="020B0603020202020204" pitchFamily="34" charset="0"/>
              </a:rPr>
              <a:t>, there exists an </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  such that</a:t>
            </a:r>
            <a:r>
              <a:rPr lang="en-US" altLang="zh-CN" sz="2400" b="1" i="1" dirty="0">
                <a:latin typeface="Trebuchet MS" panose="020B0603020202020204" pitchFamily="34" charset="0"/>
              </a:rPr>
              <a:t> f</a:t>
            </a:r>
            <a:r>
              <a:rPr lang="en-US" altLang="zh-CN" sz="2400"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 .</a:t>
            </a:r>
          </a:p>
          <a:p>
            <a:pPr marL="534988" indent="-266700">
              <a:lnSpc>
                <a:spcPct val="120000"/>
              </a:lnSpc>
              <a:spcBef>
                <a:spcPct val="0"/>
              </a:spcBef>
              <a:buClr>
                <a:srgbClr val="0B61FF"/>
              </a:buClr>
              <a:buSzPct val="120000"/>
            </a:pPr>
            <a:r>
              <a:rPr lang="en-US" altLang="zh-CN" sz="2400" dirty="0">
                <a:latin typeface="Trebuchet MS" panose="020B0603020202020204" pitchFamily="34" charset="0"/>
              </a:rPr>
              <a:t>function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 </a:t>
            </a:r>
            <a:r>
              <a:rPr lang="en-US" altLang="zh-CN" sz="2400" dirty="0">
                <a:latin typeface="Trebuchet MS" panose="020B0603020202020204" pitchFamily="34" charset="0"/>
              </a:rPr>
              <a:t>is </a:t>
            </a:r>
            <a:r>
              <a:rPr lang="en-US" altLang="zh-CN" sz="2400" b="1" i="1" dirty="0">
                <a:latin typeface="Trebuchet MS" panose="020B0603020202020204" pitchFamily="34" charset="0"/>
              </a:rPr>
              <a:t>injective</a:t>
            </a:r>
            <a:r>
              <a:rPr lang="en-US" altLang="zh-CN" sz="2400" dirty="0">
                <a:latin typeface="Trebuchet MS" panose="020B0603020202020204" pitchFamily="34" charset="0"/>
              </a:rPr>
              <a:t> if and only if for all </a:t>
            </a:r>
            <a:r>
              <a:rPr lang="en-US" altLang="zh-CN" sz="2400" b="1" i="1" dirty="0">
                <a:latin typeface="Trebuchet MS" panose="020B0603020202020204" pitchFamily="34" charset="0"/>
              </a:rPr>
              <a:t>a,b</a:t>
            </a:r>
            <a:r>
              <a:rPr lang="en-US" altLang="zh-CN" sz="2400"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 we have </a:t>
            </a:r>
            <a:r>
              <a:rPr lang="en-US" altLang="zh-CN" sz="2400" b="1" i="1" dirty="0">
                <a:latin typeface="Trebuchet MS" panose="020B0603020202020204" pitchFamily="34" charset="0"/>
              </a:rPr>
              <a:t>f</a:t>
            </a:r>
            <a:r>
              <a:rPr lang="en-US" altLang="zh-CN" sz="2400"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r>
              <a:rPr lang="en-US" altLang="zh-CN" sz="2400" b="1" i="1" dirty="0">
                <a:latin typeface="Trebuchet MS" panose="020B0603020202020204" pitchFamily="34" charset="0"/>
              </a:rPr>
              <a:t> f</a:t>
            </a:r>
            <a:r>
              <a:rPr lang="en-US" altLang="zh-CN" sz="2400" dirty="0">
                <a:latin typeface="Trebuchet MS" panose="020B0603020202020204" pitchFamily="34" charset="0"/>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p>
          <a:p>
            <a:pPr marL="534988" indent="-266700">
              <a:lnSpc>
                <a:spcPct val="120000"/>
              </a:lnSpc>
              <a:spcBef>
                <a:spcPct val="0"/>
              </a:spcBef>
              <a:buClr>
                <a:srgbClr val="0B61FF"/>
              </a:buClr>
              <a:buSzPct val="120000"/>
            </a:pPr>
            <a:r>
              <a:rPr lang="en-US" altLang="zh-CN" sz="2400" dirty="0">
                <a:latin typeface="Trebuchet MS" panose="020B0603020202020204" pitchFamily="34" charset="0"/>
              </a:rPr>
              <a:t>If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 </a:t>
            </a:r>
            <a:r>
              <a:rPr lang="en-US" altLang="zh-CN" sz="2400" dirty="0">
                <a:latin typeface="Trebuchet MS" panose="020B0603020202020204" pitchFamily="34" charset="0"/>
              </a:rPr>
              <a:t>is both </a:t>
            </a:r>
            <a:r>
              <a:rPr lang="en-US" altLang="zh-CN" sz="2400" b="1" dirty="0">
                <a:latin typeface="Trebuchet MS" panose="020B0603020202020204" pitchFamily="34" charset="0"/>
              </a:rPr>
              <a:t>surjective</a:t>
            </a:r>
            <a:r>
              <a:rPr lang="en-US" altLang="zh-CN" sz="2400" dirty="0">
                <a:latin typeface="Trebuchet MS" panose="020B0603020202020204" pitchFamily="34" charset="0"/>
              </a:rPr>
              <a:t> and </a:t>
            </a:r>
            <a:r>
              <a:rPr lang="en-US" altLang="zh-CN" sz="2400" b="1" dirty="0">
                <a:latin typeface="Trebuchet MS" panose="020B0603020202020204" pitchFamily="34" charset="0"/>
              </a:rPr>
              <a:t>injective</a:t>
            </a:r>
            <a:r>
              <a:rPr lang="en-US" altLang="zh-CN" sz="2400" dirty="0">
                <a:latin typeface="Trebuchet MS" panose="020B0603020202020204" pitchFamily="34" charset="0"/>
              </a:rPr>
              <a:t>, then it is called a </a:t>
            </a:r>
            <a:r>
              <a:rPr lang="en-US" altLang="zh-CN" sz="2400" b="1" i="1" dirty="0">
                <a:latin typeface="Trebuchet MS" panose="020B0603020202020204" pitchFamily="34" charset="0"/>
              </a:rPr>
              <a:t>bijective</a:t>
            </a:r>
            <a:r>
              <a:rPr lang="en-US" altLang="zh-CN" sz="2400" dirty="0">
                <a:latin typeface="Trebuchet MS" panose="020B0603020202020204" pitchFamily="34" charset="0"/>
              </a:rPr>
              <a:t> function (or </a:t>
            </a:r>
            <a:r>
              <a:rPr lang="en-US" altLang="zh-CN" sz="2400" b="1" dirty="0">
                <a:latin typeface="Trebuchet MS" panose="020B0603020202020204" pitchFamily="34" charset="0"/>
              </a:rPr>
              <a:t>bijection</a:t>
            </a:r>
            <a:r>
              <a:rPr lang="en-US" altLang="zh-CN" sz="2400" dirty="0">
                <a:latin typeface="Trebuchet MS" panose="020B0603020202020204" pitchFamily="34" charset="0"/>
              </a:rPr>
              <a:t>).</a:t>
            </a:r>
            <a:endParaRPr kumimoji="0" lang="en-US" altLang="zh-CN" sz="2400" b="1" dirty="0">
              <a:latin typeface="Trebuchet MS" panose="020B0603020202020204" pitchFamily="34" charset="0"/>
            </a:endParaRPr>
          </a:p>
          <a:p>
            <a:pPr>
              <a:lnSpc>
                <a:spcPct val="120000"/>
              </a:lnSpc>
              <a:spcBef>
                <a:spcPct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a:t>
            </a:r>
          </a:p>
          <a:p>
            <a:pPr eaLnBrk="1" hangingPunct="1">
              <a:lnSpc>
                <a:spcPct val="120000"/>
              </a:lnSpc>
              <a:spcBef>
                <a:spcPct val="0"/>
              </a:spcBef>
              <a:buFontTx/>
              <a:buNone/>
            </a:pPr>
            <a:endParaRPr lang="en-US" altLang="zh-CN" sz="2400" b="1" dirty="0">
              <a:latin typeface="Trebuchet MS" panose="020B0603020202020204" pitchFamily="34" charset="0"/>
            </a:endParaRPr>
          </a:p>
          <a:p>
            <a:pPr eaLnBrk="1" hangingPunct="1">
              <a:lnSpc>
                <a:spcPct val="120000"/>
              </a:lnSpc>
              <a:spcBef>
                <a:spcPct val="0"/>
              </a:spcBef>
              <a:buFontTx/>
              <a:buNone/>
            </a:pPr>
            <a:endParaRPr kumimoji="0" lang="en-US" altLang="zh-CN" sz="2400" b="1" dirty="0">
              <a:latin typeface="Trebuchet MS" panose="020B0603020202020204" pitchFamily="34" charset="0"/>
            </a:endParaRPr>
          </a:p>
          <a:p>
            <a:pPr eaLnBrk="1" hangingPunct="1">
              <a:lnSpc>
                <a:spcPct val="120000"/>
              </a:lnSpc>
              <a:spcBef>
                <a:spcPct val="0"/>
              </a:spcBef>
              <a:buFontTx/>
              <a:buNone/>
            </a:pPr>
            <a:endParaRPr kumimoji="0" lang="en-US" altLang="zh-CN" sz="2400" b="1" dirty="0">
              <a:latin typeface="Trebuchet MS" panose="020B0603020202020204" pitchFamily="34" charset="0"/>
            </a:endParaRPr>
          </a:p>
          <a:p>
            <a:pPr eaLnBrk="1" hangingPunct="1">
              <a:lnSpc>
                <a:spcPct val="120000"/>
              </a:lnSpc>
              <a:spcBef>
                <a:spcPct val="0"/>
              </a:spcBef>
              <a:buFontTx/>
              <a:buNone/>
            </a:pPr>
            <a:endParaRPr lang="en-US" altLang="zh-CN" sz="2400" b="1" dirty="0">
              <a:latin typeface="Trebuchet MS" panose="020B0603020202020204" pitchFamily="34" charset="0"/>
            </a:endParaRPr>
          </a:p>
          <a:p>
            <a:pPr eaLnBrk="1" hangingPunct="1">
              <a:lnSpc>
                <a:spcPct val="120000"/>
              </a:lnSpc>
              <a:spcBef>
                <a:spcPct val="0"/>
              </a:spcBef>
              <a:buFontTx/>
              <a:buNone/>
            </a:pPr>
            <a:endParaRPr kumimoji="0" lang="en-US" altLang="zh-CN" sz="2400" b="1" dirty="0">
              <a:latin typeface="Trebuchet MS" panose="020B0603020202020204" pitchFamily="34" charset="0"/>
            </a:endParaRPr>
          </a:p>
          <a:p>
            <a:pPr eaLnBrk="1" hangingPunct="1">
              <a:lnSpc>
                <a:spcPct val="120000"/>
              </a:lnSpc>
              <a:spcBef>
                <a:spcPct val="0"/>
              </a:spcBef>
              <a:buFontTx/>
              <a:buNone/>
            </a:pPr>
            <a:endParaRPr lang="en-US" altLang="zh-CN" sz="2400" b="1" dirty="0">
              <a:latin typeface="Trebuchet MS" panose="020B0603020202020204" pitchFamily="34" charset="0"/>
            </a:endParaRPr>
          </a:p>
          <a:p>
            <a:pPr eaLnBrk="1" hangingPunct="1">
              <a:lnSpc>
                <a:spcPct val="120000"/>
              </a:lnSpc>
              <a:spcBef>
                <a:spcPct val="0"/>
              </a:spcBef>
              <a:buFontTx/>
              <a:buNone/>
            </a:pPr>
            <a:endParaRPr lang="en-US" altLang="zh-CN" sz="2400" b="1" dirty="0">
              <a:latin typeface="Trebuchet MS" panose="020B0603020202020204" pitchFamily="34" charset="0"/>
            </a:endParaRPr>
          </a:p>
          <a:p>
            <a:pPr eaLnBrk="1" hangingPunct="1">
              <a:lnSpc>
                <a:spcPct val="120000"/>
              </a:lnSpc>
              <a:spcBef>
                <a:spcPct val="0"/>
              </a:spcBef>
              <a:buFontTx/>
              <a:buNone/>
            </a:pPr>
            <a:r>
              <a:rPr lang="zh-CN" altLang="en-US" sz="2400" b="1" dirty="0">
                <a:latin typeface="Trebuchet MS" panose="020B0603020202020204" pitchFamily="34" charset="0"/>
              </a:rPr>
              <a:t>每个映射都是满射当它的</a:t>
            </a:r>
            <a:r>
              <a:rPr lang="zh-CN" altLang="en-US" sz="2400" b="1" dirty="0">
                <a:latin typeface="Trebuchet MS" panose="020B0603020202020204" pitchFamily="34" charset="0"/>
                <a:hlinkClick r:id="rId5" tooltip="陪域">
                  <a:extLst>
                    <a:ext uri="{A12FA001-AC4F-418D-AE19-62706E023703}">
                      <ahyp:hlinkClr xmlns:ahyp="http://schemas.microsoft.com/office/drawing/2018/hyperlinkcolor" val="tx"/>
                    </a:ext>
                  </a:extLst>
                </a:hlinkClick>
              </a:rPr>
              <a:t>陪域</a:t>
            </a:r>
            <a:r>
              <a:rPr lang="zh-CN" altLang="en-US" sz="2400" b="1" dirty="0">
                <a:latin typeface="Trebuchet MS" panose="020B0603020202020204" pitchFamily="34" charset="0"/>
              </a:rPr>
              <a:t>限制为它的</a:t>
            </a:r>
            <a:r>
              <a:rPr lang="zh-CN" altLang="en-US" sz="2400" b="1" dirty="0">
                <a:latin typeface="Trebuchet MS" panose="020B0603020202020204" pitchFamily="34" charset="0"/>
                <a:hlinkClick r:id="rId6" tooltip="值域">
                  <a:extLst>
                    <a:ext uri="{A12FA001-AC4F-418D-AE19-62706E023703}">
                      <ahyp:hlinkClr xmlns:ahyp="http://schemas.microsoft.com/office/drawing/2018/hyperlinkcolor" val="tx"/>
                    </a:ext>
                  </a:extLst>
                </a:hlinkClick>
              </a:rPr>
              <a:t>值域</a:t>
            </a:r>
            <a:r>
              <a:rPr lang="zh-CN" altLang="en-US" sz="2400" b="1" dirty="0">
                <a:latin typeface="Trebuchet MS" panose="020B0603020202020204" pitchFamily="34" charset="0"/>
              </a:rPr>
              <a:t>时，每个单射导出一个到它的值域的</a:t>
            </a:r>
            <a:r>
              <a:rPr lang="zh-CN" altLang="en-US" sz="2400" b="1" dirty="0">
                <a:latin typeface="Trebuchet MS" panose="020B0603020202020204" pitchFamily="34" charset="0"/>
                <a:hlinkClick r:id="rId7" tooltip="双射">
                  <a:extLst>
                    <a:ext uri="{A12FA001-AC4F-418D-AE19-62706E023703}">
                      <ahyp:hlinkClr xmlns:ahyp="http://schemas.microsoft.com/office/drawing/2018/hyperlinkcolor" val="tx"/>
                    </a:ext>
                  </a:extLst>
                </a:hlinkClick>
              </a:rPr>
              <a:t>双射</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p:txBody>
      </p:sp>
      <p:sp>
        <p:nvSpPr>
          <p:cNvPr id="3" name="Rectangle 1">
            <a:extLst>
              <a:ext uri="{FF2B5EF4-FFF2-40B4-BE49-F238E27FC236}">
                <a16:creationId xmlns:a16="http://schemas.microsoft.com/office/drawing/2014/main" id="{9EC25CD5-2F24-41CC-A86B-CA4B7178922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rgbClr val="202122"/>
                </a:solidFill>
                <a:effectLst/>
                <a:latin typeface="Arial" panose="020B0604020202020204" pitchFamily="34" charset="0"/>
              </a:rPr>
              <a:t>映射</a:t>
            </a:r>
            <a:r>
              <a:rPr kumimoji="0" lang="zh-CN" altLang="zh-CN" sz="1100" b="0" i="0" u="none" strike="noStrike" cap="none" normalizeH="0" baseline="0">
                <a:ln>
                  <a:noFill/>
                </a:ln>
                <a:solidFill>
                  <a:srgbClr val="202122"/>
                </a:solidFill>
                <a:effectLst/>
                <a:latin typeface="Arial" panose="020B0604020202020204" pitchFamily="34" charset="0"/>
                <a:cs typeface="Arial" panose="020B0604020202020204" pitchFamily="34" charset="0"/>
              </a:rPr>
              <a:t>  </a:t>
            </a:r>
            <a:r>
              <a:rPr kumimoji="0" lang="zh-CN" altLang="zh-CN" sz="1900" b="0" i="0" u="none" strike="noStrike" cap="none" normalizeH="0" baseline="0">
                <a:ln>
                  <a:noFill/>
                </a:ln>
                <a:solidFill>
                  <a:srgbClr val="202122"/>
                </a:solidFill>
                <a:effectLst/>
                <a:latin typeface="Arial" panose="020B0604020202020204" pitchFamily="34" charset="0"/>
                <a:cs typeface="Arial" panose="020B0604020202020204" pitchFamily="3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 name="AutoShape 2" descr="{\displaystyle f:A\to B}">
            <a:extLst>
              <a:ext uri="{FF2B5EF4-FFF2-40B4-BE49-F238E27FC236}">
                <a16:creationId xmlns:a16="http://schemas.microsoft.com/office/drawing/2014/main" id="{B81609D8-36BA-40EE-A0C8-0CC26D49C175}"/>
              </a:ext>
            </a:extLst>
          </p:cNvPr>
          <p:cNvSpPr>
            <a:spLocks noChangeAspect="1" noChangeArrowheads="1"/>
          </p:cNvSpPr>
          <p:nvPr/>
        </p:nvSpPr>
        <p:spPr bwMode="auto">
          <a:xfrm>
            <a:off x="3556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Rectangle 3">
            <a:extLst>
              <a:ext uri="{FF2B5EF4-FFF2-40B4-BE49-F238E27FC236}">
                <a16:creationId xmlns:a16="http://schemas.microsoft.com/office/drawing/2014/main" id="{BD91A3B7-CA2D-44F8-90EF-3AD03A4BC8DB}"/>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rgbClr val="202122"/>
                </a:solidFill>
                <a:effectLst/>
                <a:latin typeface="Arial" panose="020B0604020202020204" pitchFamily="34" charset="0"/>
                <a:cs typeface="Arial" panose="020B0604020202020204" pitchFamily="34" charset="0"/>
              </a:rPr>
              <a:t>映射  </a:t>
            </a:r>
            <a:r>
              <a:rPr kumimoji="0" lang="zh-CN" altLang="zh-CN" sz="1900" b="0" i="0" u="none" strike="noStrike" cap="none" normalizeH="0" baseline="0">
                <a:ln>
                  <a:noFill/>
                </a:ln>
                <a:solidFill>
                  <a:srgbClr val="202122"/>
                </a:solidFill>
                <a:effectLst/>
                <a:latin typeface="Arial" panose="020B0604020202020204" pitchFamily="34" charset="0"/>
                <a:cs typeface="Arial" panose="020B0604020202020204" pitchFamily="3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 name="AutoShape 4" descr="{\displaystyle f:A\to B}">
            <a:extLst>
              <a:ext uri="{FF2B5EF4-FFF2-40B4-BE49-F238E27FC236}">
                <a16:creationId xmlns:a16="http://schemas.microsoft.com/office/drawing/2014/main" id="{5F9F4803-451F-43CB-A64B-70F008074C27}"/>
              </a:ext>
            </a:extLst>
          </p:cNvPr>
          <p:cNvSpPr>
            <a:spLocks noChangeAspect="1" noChangeArrowheads="1"/>
          </p:cNvSpPr>
          <p:nvPr/>
        </p:nvSpPr>
        <p:spPr bwMode="auto">
          <a:xfrm>
            <a:off x="5080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Rectangle 5">
            <a:extLst>
              <a:ext uri="{FF2B5EF4-FFF2-40B4-BE49-F238E27FC236}">
                <a16:creationId xmlns:a16="http://schemas.microsoft.com/office/drawing/2014/main" id="{C1C759AA-F064-4761-805F-59325F6D9390}"/>
              </a:ext>
            </a:extLst>
          </p:cNvPr>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rgbClr val="202122"/>
                </a:solidFill>
                <a:effectLst/>
                <a:latin typeface="Arial" panose="020B0604020202020204" pitchFamily="34" charset="0"/>
                <a:cs typeface="Arial" panose="020B0604020202020204" pitchFamily="34" charset="0"/>
              </a:rPr>
              <a:t>映射  </a:t>
            </a:r>
            <a:r>
              <a:rPr kumimoji="0" lang="zh-CN" altLang="zh-CN" sz="1900" b="0" i="0" u="none" strike="noStrike" cap="none" normalizeH="0" baseline="0">
                <a:ln>
                  <a:noFill/>
                </a:ln>
                <a:solidFill>
                  <a:srgbClr val="202122"/>
                </a:solidFill>
                <a:effectLst/>
                <a:latin typeface="Arial" panose="020B0604020202020204" pitchFamily="34" charset="0"/>
                <a:cs typeface="Arial" panose="020B0604020202020204" pitchFamily="3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9" name="AutoShape 6" descr="{\displaystyle f:A\to B}">
            <a:extLst>
              <a:ext uri="{FF2B5EF4-FFF2-40B4-BE49-F238E27FC236}">
                <a16:creationId xmlns:a16="http://schemas.microsoft.com/office/drawing/2014/main" id="{3943D1EE-25F8-47A0-94F4-758D8EF1A07D}"/>
              </a:ext>
            </a:extLst>
          </p:cNvPr>
          <p:cNvSpPr>
            <a:spLocks noChangeAspect="1" noChangeArrowheads="1"/>
          </p:cNvSpPr>
          <p:nvPr/>
        </p:nvSpPr>
        <p:spPr bwMode="auto">
          <a:xfrm>
            <a:off x="660400"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9" name="图片 18">
            <a:extLst>
              <a:ext uri="{FF2B5EF4-FFF2-40B4-BE49-F238E27FC236}">
                <a16:creationId xmlns:a16="http://schemas.microsoft.com/office/drawing/2014/main" id="{35AE746E-D943-4A12-ABCA-E9025BF1771A}"/>
              </a:ext>
            </a:extLst>
          </p:cNvPr>
          <p:cNvPicPr>
            <a:picLocks noChangeAspect="1"/>
          </p:cNvPicPr>
          <p:nvPr/>
        </p:nvPicPr>
        <p:blipFill>
          <a:blip r:embed="rId8"/>
          <a:stretch>
            <a:fillRect/>
          </a:stretch>
        </p:blipFill>
        <p:spPr>
          <a:xfrm>
            <a:off x="7380558" y="4318235"/>
            <a:ext cx="2159000" cy="2012950"/>
          </a:xfrm>
          <a:prstGeom prst="rect">
            <a:avLst/>
          </a:prstGeom>
        </p:spPr>
      </p:pic>
      <p:pic>
        <p:nvPicPr>
          <p:cNvPr id="23" name="图片 22">
            <a:extLst>
              <a:ext uri="{FF2B5EF4-FFF2-40B4-BE49-F238E27FC236}">
                <a16:creationId xmlns:a16="http://schemas.microsoft.com/office/drawing/2014/main" id="{F012C822-7357-4306-9006-932B92FE18DE}"/>
              </a:ext>
            </a:extLst>
          </p:cNvPr>
          <p:cNvPicPr>
            <a:picLocks noChangeAspect="1"/>
          </p:cNvPicPr>
          <p:nvPr/>
        </p:nvPicPr>
        <p:blipFill>
          <a:blip r:embed="rId9"/>
          <a:stretch>
            <a:fillRect/>
          </a:stretch>
        </p:blipFill>
        <p:spPr>
          <a:xfrm>
            <a:off x="5414823" y="4318235"/>
            <a:ext cx="2070100" cy="2012950"/>
          </a:xfrm>
          <a:prstGeom prst="rect">
            <a:avLst/>
          </a:prstGeom>
        </p:spPr>
      </p:pic>
      <p:pic>
        <p:nvPicPr>
          <p:cNvPr id="25" name="图片 24">
            <a:extLst>
              <a:ext uri="{FF2B5EF4-FFF2-40B4-BE49-F238E27FC236}">
                <a16:creationId xmlns:a16="http://schemas.microsoft.com/office/drawing/2014/main" id="{0086DC12-D21F-49CB-9013-5DCA3C4AB486}"/>
              </a:ext>
            </a:extLst>
          </p:cNvPr>
          <p:cNvPicPr>
            <a:picLocks noChangeAspect="1"/>
          </p:cNvPicPr>
          <p:nvPr/>
        </p:nvPicPr>
        <p:blipFill>
          <a:blip r:embed="rId10"/>
          <a:stretch>
            <a:fillRect/>
          </a:stretch>
        </p:blipFill>
        <p:spPr>
          <a:xfrm>
            <a:off x="3588788" y="4318235"/>
            <a:ext cx="1930400" cy="2012950"/>
          </a:xfrm>
          <a:prstGeom prst="rect">
            <a:avLst/>
          </a:prstGeom>
        </p:spPr>
      </p:pic>
      <p:pic>
        <p:nvPicPr>
          <p:cNvPr id="27" name="图片 26">
            <a:extLst>
              <a:ext uri="{FF2B5EF4-FFF2-40B4-BE49-F238E27FC236}">
                <a16:creationId xmlns:a16="http://schemas.microsoft.com/office/drawing/2014/main" id="{B394BB0D-705A-4909-851A-82C6C80C5C9B}"/>
              </a:ext>
            </a:extLst>
          </p:cNvPr>
          <p:cNvPicPr>
            <a:picLocks noChangeAspect="1"/>
          </p:cNvPicPr>
          <p:nvPr/>
        </p:nvPicPr>
        <p:blipFill>
          <a:blip r:embed="rId11"/>
          <a:stretch>
            <a:fillRect/>
          </a:stretch>
        </p:blipFill>
        <p:spPr>
          <a:xfrm>
            <a:off x="1540503" y="4318235"/>
            <a:ext cx="2152650" cy="2012950"/>
          </a:xfrm>
          <a:prstGeom prst="rect">
            <a:avLst/>
          </a:prstGeom>
        </p:spPr>
      </p:pic>
      <p:sp>
        <p:nvSpPr>
          <p:cNvPr id="21" name="动作按钮: 后退或前一项 20">
            <a:hlinkClick r:id="" action="ppaction://hlinkshowjump?jump=lastslideviewed" highlightClick="1"/>
            <a:extLst>
              <a:ext uri="{FF2B5EF4-FFF2-40B4-BE49-F238E27FC236}">
                <a16:creationId xmlns:a16="http://schemas.microsoft.com/office/drawing/2014/main" id="{CF7C68A3-97E3-4BAB-8BAB-126E5E8930CA}"/>
              </a:ext>
            </a:extLst>
          </p:cNvPr>
          <p:cNvSpPr/>
          <p:nvPr/>
        </p:nvSpPr>
        <p:spPr>
          <a:xfrm>
            <a:off x="10648027" y="845615"/>
            <a:ext cx="659765" cy="254635"/>
          </a:xfrm>
          <a:prstGeom prst="actionButtonBackPrevious">
            <a:avLst/>
          </a:prstGeom>
        </p:spPr>
        <p:style>
          <a:lnRef idx="3">
            <a:schemeClr val="lt1"/>
          </a:lnRef>
          <a:fillRef idx="1">
            <a:schemeClr val="accent2"/>
          </a:fillRef>
          <a:effectRef idx="1">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Tree>
    <p:extLst>
      <p:ext uri="{BB962C8B-B14F-4D97-AF65-F5344CB8AC3E}">
        <p14:creationId xmlns:p14="http://schemas.microsoft.com/office/powerpoint/2010/main" val="31462542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1000"/>
                                        <p:tgtEl>
                                          <p:spTgt spid="27"/>
                                        </p:tgtEl>
                                      </p:cBhvr>
                                    </p:animEffect>
                                    <p:anim calcmode="lin" valueType="num">
                                      <p:cBhvr>
                                        <p:cTn id="29" dur="1000" fill="hold"/>
                                        <p:tgtEl>
                                          <p:spTgt spid="27"/>
                                        </p:tgtEl>
                                        <p:attrNameLst>
                                          <p:attrName>ppt_x</p:attrName>
                                        </p:attrNameLst>
                                      </p:cBhvr>
                                      <p:tavLst>
                                        <p:tav tm="0">
                                          <p:val>
                                            <p:strVal val="#ppt_x"/>
                                          </p:val>
                                        </p:tav>
                                        <p:tav tm="100000">
                                          <p:val>
                                            <p:strVal val="#ppt_x"/>
                                          </p:val>
                                        </p:tav>
                                      </p:tavLst>
                                    </p:anim>
                                    <p:anim calcmode="lin" valueType="num">
                                      <p:cBhvr>
                                        <p:cTn id="3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1000"/>
                                        <p:tgtEl>
                                          <p:spTgt spid="25"/>
                                        </p:tgtEl>
                                      </p:cBhvr>
                                    </p:animEffect>
                                    <p:anim calcmode="lin" valueType="num">
                                      <p:cBhvr>
                                        <p:cTn id="36" dur="1000" fill="hold"/>
                                        <p:tgtEl>
                                          <p:spTgt spid="25"/>
                                        </p:tgtEl>
                                        <p:attrNameLst>
                                          <p:attrName>ppt_x</p:attrName>
                                        </p:attrNameLst>
                                      </p:cBhvr>
                                      <p:tavLst>
                                        <p:tav tm="0">
                                          <p:val>
                                            <p:strVal val="#ppt_x"/>
                                          </p:val>
                                        </p:tav>
                                        <p:tav tm="100000">
                                          <p:val>
                                            <p:strVal val="#ppt_x"/>
                                          </p:val>
                                        </p:tav>
                                      </p:tavLst>
                                    </p:anim>
                                    <p:anim calcmode="lin" valueType="num">
                                      <p:cBhvr>
                                        <p:cTn id="3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1000"/>
                                        <p:tgtEl>
                                          <p:spTgt spid="19"/>
                                        </p:tgtEl>
                                      </p:cBhvr>
                                    </p:animEffect>
                                    <p:anim calcmode="lin" valueType="num">
                                      <p:cBhvr>
                                        <p:cTn id="50" dur="1000" fill="hold"/>
                                        <p:tgtEl>
                                          <p:spTgt spid="19"/>
                                        </p:tgtEl>
                                        <p:attrNameLst>
                                          <p:attrName>ppt_x</p:attrName>
                                        </p:attrNameLst>
                                      </p:cBhvr>
                                      <p:tavLst>
                                        <p:tav tm="0">
                                          <p:val>
                                            <p:strVal val="#ppt_x"/>
                                          </p:val>
                                        </p:tav>
                                        <p:tav tm="100000">
                                          <p:val>
                                            <p:strVal val="#ppt_x"/>
                                          </p:val>
                                        </p:tav>
                                      </p:tavLst>
                                    </p:anim>
                                    <p:anim calcmode="lin" valueType="num">
                                      <p:cBhvr>
                                        <p:cTn id="5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5.1.1 Definition of a Function</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Function Sets and Counting</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51922" y="81775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5.5: </a:t>
            </a:r>
            <a:r>
              <a:rPr lang="en-US" sz="2400" dirty="0">
                <a:latin typeface="Trebuchet MS" panose="020B0603020202020204" pitchFamily="34" charset="0"/>
              </a:rPr>
              <a:t>The set of all functions from </a:t>
            </a:r>
            <a:r>
              <a:rPr kumimoji="0" lang="en-US" altLang="zh-CN" sz="2400" b="1" i="1" dirty="0">
                <a:latin typeface="Trebuchet MS" panose="020B0603020202020204" pitchFamily="34" charset="0"/>
              </a:rPr>
              <a:t>A </a:t>
            </a:r>
            <a:r>
              <a:rPr lang="en-US" altLang="zh-CN" sz="2400" b="1" i="1" dirty="0">
                <a:latin typeface="Trebuchet MS" panose="020B0603020202020204" pitchFamily="34" charset="0"/>
              </a:rPr>
              <a:t>to </a:t>
            </a:r>
            <a:r>
              <a:rPr kumimoji="0" lang="en-US" altLang="zh-CN" sz="2400" b="1" i="1" dirty="0">
                <a:latin typeface="Trebuchet MS" panose="020B0603020202020204" pitchFamily="34" charset="0"/>
              </a:rPr>
              <a:t>B </a:t>
            </a:r>
            <a:r>
              <a:rPr lang="en-US" sz="2400" dirty="0">
                <a:latin typeface="Trebuchet MS" panose="020B0603020202020204" pitchFamily="34" charset="0"/>
              </a:rPr>
              <a:t>is denoted by </a:t>
            </a:r>
            <a:r>
              <a:rPr kumimoji="0" lang="en-US" altLang="zh-CN" sz="2400" b="1" i="1" dirty="0">
                <a:solidFill>
                  <a:srgbClr val="FF0000"/>
                </a:solidFill>
                <a:latin typeface="Trebuchet MS" panose="020B0603020202020204" pitchFamily="34" charset="0"/>
              </a:rPr>
              <a:t>B</a:t>
            </a:r>
            <a:r>
              <a:rPr kumimoji="0" lang="en-US" altLang="zh-CN" sz="2400" b="1" i="1" baseline="30000" dirty="0">
                <a:solidFill>
                  <a:srgbClr val="FF0000"/>
                </a:solidFill>
                <a:latin typeface="Trebuchet MS" panose="020B0603020202020204" pitchFamily="34" charset="0"/>
              </a:rPr>
              <a:t>A</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read</a:t>
            </a:r>
            <a:r>
              <a:rPr lang="zh-CN" altLang="en-US" sz="2400" b="1" dirty="0">
                <a:latin typeface="Trebuchet MS" panose="020B0603020202020204" pitchFamily="34" charset="0"/>
              </a:rPr>
              <a:t> </a:t>
            </a:r>
            <a:r>
              <a:rPr lang="en-US" altLang="zh-CN" sz="2400" b="1" dirty="0">
                <a:latin typeface="Trebuchet MS" panose="020B0603020202020204" pitchFamily="34" charset="0"/>
              </a:rPr>
              <a:t>as</a:t>
            </a:r>
            <a:r>
              <a:rPr kumimoji="0" lang="zh-CN" altLang="en-US" sz="2400" b="1" dirty="0">
                <a:solidFill>
                  <a:srgbClr val="FF0000"/>
                </a:solidFill>
                <a:latin typeface="Trebuchet MS" panose="020B0603020202020204" pitchFamily="34" charset="0"/>
              </a:rPr>
              <a:t>“</a:t>
            </a:r>
            <a:r>
              <a:rPr kumimoji="0" lang="en-US" altLang="zh-CN" sz="2400" b="1" i="1" dirty="0">
                <a:solidFill>
                  <a:srgbClr val="FF0000"/>
                </a:solidFill>
                <a:latin typeface="Trebuchet MS" panose="020B0603020202020204" pitchFamily="34" charset="0"/>
              </a:rPr>
              <a:t>B </a:t>
            </a:r>
            <a:r>
              <a:rPr lang="en-US" sz="2400" dirty="0">
                <a:latin typeface="Trebuchet MS" panose="020B0603020202020204" pitchFamily="34" charset="0"/>
              </a:rPr>
              <a:t>to the power of </a:t>
            </a:r>
            <a:r>
              <a:rPr kumimoji="0" lang="en-US" altLang="zh-CN" sz="2400" b="1" i="1" dirty="0">
                <a:solidFill>
                  <a:srgbClr val="FF0000"/>
                </a:solidFill>
                <a:latin typeface="Trebuchet MS" panose="020B0603020202020204" pitchFamily="34" charset="0"/>
              </a:rPr>
              <a:t>A</a:t>
            </a:r>
            <a:r>
              <a:rPr kumimoji="0" lang="en-US" altLang="zh-CN" sz="2400" b="1" dirty="0">
                <a:solidFill>
                  <a:srgbClr val="FF0000"/>
                </a:solidFill>
                <a:latin typeface="Trebuchet MS" panose="020B0603020202020204" pitchFamily="34" charset="0"/>
              </a:rPr>
              <a:t>”</a:t>
            </a:r>
          </a:p>
          <a:p>
            <a:pPr indent="39688">
              <a:lnSpc>
                <a:spcPct val="120000"/>
              </a:lnSpc>
              <a:spcBef>
                <a:spcPts val="300"/>
              </a:spcBef>
              <a:buNone/>
            </a:pPr>
            <a:r>
              <a:rPr lang="en-US" sz="2400" dirty="0">
                <a:latin typeface="Trebuchet MS" panose="020B0603020202020204" pitchFamily="34" charset="0"/>
              </a:rPr>
              <a:t>In symbolic form:</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i="1" baseline="30000" dirty="0">
                <a:latin typeface="Trebuchet MS" panose="020B0603020202020204" pitchFamily="34" charset="0"/>
              </a:rPr>
              <a:t>A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 </a:t>
            </a:r>
            <a:r>
              <a:rPr kumimoji="0" lang="en-US" altLang="zh-CN" sz="2400" b="1" dirty="0">
                <a:latin typeface="Trebuchet MS" panose="020B0603020202020204" pitchFamily="34" charset="0"/>
              </a:rPr>
              <a:t>} </a:t>
            </a:r>
          </a:p>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Counting</a:t>
            </a:r>
            <a:r>
              <a:rPr kumimoji="0" lang="en-US" altLang="zh-CN" sz="2400" b="1" i="1" dirty="0">
                <a:solidFill>
                  <a:srgbClr val="FF0000"/>
                </a:solidFill>
                <a:latin typeface="Trebuchet MS" panose="020B0603020202020204" pitchFamily="34" charset="0"/>
              </a:rPr>
              <a:t> B</a:t>
            </a:r>
            <a:r>
              <a:rPr kumimoji="0" lang="en-US" altLang="zh-CN" sz="2400" b="1" i="1" baseline="30000" dirty="0">
                <a:solidFill>
                  <a:srgbClr val="FF0000"/>
                </a:solidFill>
                <a:latin typeface="Trebuchet MS" panose="020B0603020202020204" pitchFamily="34" charset="0"/>
              </a:rPr>
              <a:t>A </a:t>
            </a:r>
            <a:r>
              <a:rPr lang="en-US" sz="2400" b="1" dirty="0">
                <a:latin typeface="Trebuchet MS" panose="020B0603020202020204" pitchFamily="34" charset="0"/>
              </a:rPr>
              <a:t>:</a:t>
            </a:r>
            <a:endParaRPr lang="en-US" sz="2400" dirty="0">
              <a:latin typeface="Trebuchet MS" panose="020B0603020202020204" pitchFamily="34" charset="0"/>
            </a:endParaRPr>
          </a:p>
          <a:p>
            <a:pPr indent="39688" eaLnBrk="1" hangingPunct="1">
              <a:lnSpc>
                <a:spcPct val="120000"/>
              </a:lnSpc>
              <a:spcBef>
                <a:spcPts val="300"/>
              </a:spcBef>
              <a:buClr>
                <a:srgbClr val="0B61FF"/>
              </a:buClr>
              <a:buSzPct val="120000"/>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m</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 and </a:t>
            </a:r>
            <a:r>
              <a:rPr kumimoji="0" lang="en-US" altLang="zh-CN" sz="2400" b="1" i="1" dirty="0">
                <a:latin typeface="Trebuchet MS" panose="020B0603020202020204" pitchFamily="34" charset="0"/>
              </a:rPr>
              <a:t>m</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&gt;0,  |</a:t>
            </a:r>
            <a:r>
              <a:rPr kumimoji="0" lang="en-US" altLang="zh-CN" sz="2400" b="1" i="1" dirty="0">
                <a:latin typeface="Trebuchet MS" panose="020B0603020202020204" pitchFamily="34" charset="0"/>
              </a:rPr>
              <a:t>B</a:t>
            </a:r>
            <a:r>
              <a:rPr kumimoji="0" lang="en-US" altLang="zh-CN" sz="2400" b="1" i="1" baseline="30000"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i="1" baseline="30000" dirty="0">
                <a:latin typeface="Trebuchet MS" panose="020B0603020202020204" pitchFamily="34" charset="0"/>
              </a:rPr>
              <a:t>m</a:t>
            </a:r>
            <a:r>
              <a:rPr kumimoji="0" lang="en-US" altLang="zh-CN" sz="2400" b="1" dirty="0">
                <a:latin typeface="Trebuchet MS" panose="020B0603020202020204" pitchFamily="34" charset="0"/>
              </a:rPr>
              <a:t>.</a:t>
            </a:r>
          </a:p>
          <a:p>
            <a:pPr indent="39688" eaLnBrk="1" hangingPunct="1">
              <a:lnSpc>
                <a:spcPct val="120000"/>
              </a:lnSpc>
              <a:spcBef>
                <a:spcPts val="300"/>
              </a:spcBef>
              <a:buClr>
                <a:srgbClr val="0B61FF"/>
              </a:buClr>
              <a:buSzPct val="120000"/>
            </a:pPr>
            <a:r>
              <a:rPr kumimoji="0" lang="en-US" altLang="zh-CN" sz="2400" b="1" i="1" dirty="0">
                <a:latin typeface="Trebuchet MS" panose="020B0603020202020204" pitchFamily="34" charset="0"/>
              </a:rPr>
              <a:t>  A</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then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i="1" baseline="30000"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kumimoji="0" lang="en-US" altLang="zh-CN" sz="2400" b="1" baseline="30000"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p>
          <a:p>
            <a:pPr marL="446088" indent="0" eaLnBrk="1" hangingPunct="1">
              <a:lnSpc>
                <a:spcPct val="120000"/>
              </a:lnSpc>
              <a:spcBef>
                <a:spcPts val="300"/>
              </a:spcBef>
              <a:buFontTx/>
              <a:buNone/>
            </a:pPr>
            <a:r>
              <a:rPr kumimoji="0" lang="en-US" altLang="zh-CN" sz="2400" b="1" dirty="0">
                <a:solidFill>
                  <a:schemeClr val="tx1">
                    <a:lumMod val="65000"/>
                    <a:lumOff val="35000"/>
                  </a:schemeClr>
                </a:solidFill>
                <a:latin typeface="Trebuchet MS" panose="020B0603020202020204" pitchFamily="34" charset="0"/>
              </a:rPr>
              <a:t>The function set  contains only one element: the empty function.</a:t>
            </a:r>
            <a:r>
              <a:rPr lang="en-US" altLang="zh-CN" sz="1600" dirty="0">
                <a:solidFill>
                  <a:schemeClr val="tx1">
                    <a:lumMod val="65000"/>
                    <a:lumOff val="35000"/>
                  </a:schemeClr>
                </a:solidFill>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kumimoji="0" lang="en-US" altLang="zh-CN" sz="2400" b="1" baseline="30000"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∣=1</a:t>
            </a:r>
          </a:p>
          <a:p>
            <a:pPr marL="446088" indent="-268288" eaLnBrk="1" hangingPunct="1">
              <a:lnSpc>
                <a:spcPct val="120000"/>
              </a:lnSpc>
              <a:spcBef>
                <a:spcPts val="300"/>
              </a:spcBef>
              <a:buClr>
                <a:srgbClr val="0B61FF"/>
              </a:buClr>
              <a:buSzPct val="120000"/>
            </a:pP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sym typeface="Symbol" panose="05050102010706020507" pitchFamily="18" charset="2"/>
              </a:rPr>
              <a:t>and</a:t>
            </a:r>
            <a:r>
              <a:rPr lang="zh-CN" altLang="en-US"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then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i="1" baseline="30000"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baseline="30000"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a:t>
            </a:r>
          </a:p>
          <a:p>
            <a:pPr marL="177800" indent="268288" eaLnBrk="1" hangingPunct="1">
              <a:lnSpc>
                <a:spcPct val="120000"/>
              </a:lnSpc>
              <a:spcBef>
                <a:spcPts val="300"/>
              </a:spcBef>
              <a:buClr>
                <a:srgbClr val="0B61FF"/>
              </a:buClr>
              <a:buSzPct val="120000"/>
              <a:buNone/>
            </a:pPr>
            <a:r>
              <a:rPr lang="en-US" altLang="zh-CN" sz="2400" b="1" dirty="0">
                <a:solidFill>
                  <a:schemeClr val="tx1">
                    <a:lumMod val="65000"/>
                    <a:lumOff val="35000"/>
                  </a:schemeClr>
                </a:solidFill>
                <a:latin typeface="Trebuchet MS" panose="020B0603020202020204" pitchFamily="34" charset="0"/>
              </a:rPr>
              <a:t>here is no function from a non-empty set to the empty set.</a:t>
            </a:r>
            <a:r>
              <a:rPr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baseline="30000" dirty="0">
                <a:latin typeface="Trebuchet MS" panose="020B0603020202020204" pitchFamily="34" charset="0"/>
              </a:rPr>
              <a:t>A</a:t>
            </a:r>
            <a:r>
              <a:rPr lang="en-US" altLang="zh-CN" sz="2400" b="1" dirty="0">
                <a:latin typeface="Trebuchet MS" panose="020B0603020202020204" pitchFamily="34" charset="0"/>
              </a:rPr>
              <a:t>∣=0</a:t>
            </a:r>
            <a:br>
              <a:rPr lang="en-US" altLang="zh-CN" sz="2400" b="1" dirty="0">
                <a:solidFill>
                  <a:schemeClr val="tx1">
                    <a:lumMod val="65000"/>
                    <a:lumOff val="35000"/>
                  </a:schemeClr>
                </a:solidFill>
                <a:latin typeface="Trebuchet MS" panose="020B0603020202020204" pitchFamily="34" charset="0"/>
              </a:rPr>
            </a:br>
            <a:endParaRPr lang="en-US" altLang="zh-CN" sz="2400" b="1" dirty="0">
              <a:solidFill>
                <a:schemeClr val="tx1">
                  <a:lumMod val="65000"/>
                  <a:lumOff val="35000"/>
                </a:schemeClr>
              </a:solidFill>
              <a:latin typeface="Trebuchet MS" panose="020B0603020202020204" pitchFamily="34" charset="0"/>
            </a:endParaRPr>
          </a:p>
        </p:txBody>
      </p:sp>
    </p:spTree>
    <p:extLst>
      <p:ext uri="{BB962C8B-B14F-4D97-AF65-F5344CB8AC3E}">
        <p14:creationId xmlns:p14="http://schemas.microsoft.com/office/powerpoint/2010/main" val="1717393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1000"/>
                                        <p:tgtEl>
                                          <p:spTgt spid="8">
                                            <p:txEl>
                                              <p:pRg st="5" end="5"/>
                                            </p:txEl>
                                          </p:spTgt>
                                        </p:tgtEl>
                                      </p:cBhvr>
                                    </p:animEffect>
                                    <p:anim calcmode="lin" valueType="num">
                                      <p:cBhvr>
                                        <p:cTn id="25"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Effect transition="in" filter="fade">
                                      <p:cBhvr>
                                        <p:cTn id="31" dur="1000"/>
                                        <p:tgtEl>
                                          <p:spTgt spid="8">
                                            <p:txEl>
                                              <p:pRg st="6" end="6"/>
                                            </p:txEl>
                                          </p:spTgt>
                                        </p:tgtEl>
                                      </p:cBhvr>
                                    </p:animEffect>
                                    <p:anim calcmode="lin" valueType="num">
                                      <p:cBhvr>
                                        <p:cTn id="32"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7" end="7"/>
                                            </p:txEl>
                                          </p:spTgt>
                                        </p:tgtEl>
                                        <p:attrNameLst>
                                          <p:attrName>style.visibility</p:attrName>
                                        </p:attrNameLst>
                                      </p:cBhvr>
                                      <p:to>
                                        <p:strVal val="visible"/>
                                      </p:to>
                                    </p:set>
                                    <p:animEffect transition="in" filter="fade">
                                      <p:cBhvr>
                                        <p:cTn id="36" dur="1000"/>
                                        <p:tgtEl>
                                          <p:spTgt spid="8">
                                            <p:txEl>
                                              <p:pRg st="7" end="7"/>
                                            </p:txEl>
                                          </p:spTgt>
                                        </p:tgtEl>
                                      </p:cBhvr>
                                    </p:animEffect>
                                    <p:anim calcmode="lin" valueType="num">
                                      <p:cBhvr>
                                        <p:cTn id="37"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5.1.1 Definition of a Function</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Determining Function Sets</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51922" y="762000"/>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None/>
            </a:pPr>
            <a:endParaRPr lang="en-US" altLang="zh-CN" b="1" dirty="0"/>
          </a:p>
        </p:txBody>
      </p:sp>
      <p:sp>
        <p:nvSpPr>
          <p:cNvPr id="9" name="Text Box 3">
            <a:extLst>
              <a:ext uri="{FF2B5EF4-FFF2-40B4-BE49-F238E27FC236}">
                <a16:creationId xmlns:a16="http://schemas.microsoft.com/office/drawing/2014/main" id="{EB9ABD7A-247A-4726-B5EA-E5DE5577D700}"/>
              </a:ext>
            </a:extLst>
          </p:cNvPr>
          <p:cNvSpPr txBox="1">
            <a:spLocks noChangeArrowheads="1"/>
          </p:cNvSpPr>
          <p:nvPr/>
        </p:nvSpPr>
        <p:spPr bwMode="auto">
          <a:xfrm>
            <a:off x="1051922" y="915770"/>
            <a:ext cx="9039932" cy="507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20000"/>
              </a:lnSpc>
              <a:spcBef>
                <a:spcPct val="0"/>
              </a:spcBef>
              <a:buClr>
                <a:srgbClr val="0B61FF"/>
              </a:buClr>
              <a:buSzPct val="80000"/>
              <a:buFont typeface="Wingdings" panose="05000000000000000000" pitchFamily="2" charset="2"/>
              <a:buChar char="n"/>
            </a:pPr>
            <a:r>
              <a:rPr kumimoji="0" lang="en-US" altLang="zh-CN" sz="2400" b="1" dirty="0">
                <a:latin typeface="Trebuchet MS" panose="020B0603020202020204" pitchFamily="34" charset="0"/>
              </a:rPr>
              <a:t>Example: Let </a:t>
            </a:r>
            <a:r>
              <a:rPr kumimoji="0" lang="en-US" altLang="zh-CN" sz="2400" b="1" i="1" dirty="0">
                <a:latin typeface="Trebuchet MS" panose="020B0603020202020204" pitchFamily="34" charset="0"/>
              </a:rPr>
              <a:t>A </a:t>
            </a:r>
            <a:r>
              <a:rPr kumimoji="0" lang="en-US" altLang="zh-CN" sz="2400" b="1" dirty="0">
                <a:latin typeface="Trebuchet MS" panose="020B0603020202020204" pitchFamily="34" charset="0"/>
              </a:rPr>
              <a:t>= {1, 2, 3}, </a:t>
            </a:r>
            <a:r>
              <a:rPr kumimoji="0" lang="en-US" altLang="zh-CN" sz="2400" b="1" i="1" dirty="0">
                <a:latin typeface="Trebuchet MS" panose="020B0603020202020204" pitchFamily="34" charset="0"/>
              </a:rPr>
              <a:t>B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solve</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i="1" baseline="30000" dirty="0">
                <a:latin typeface="Trebuchet MS" panose="020B0603020202020204" pitchFamily="34" charset="0"/>
              </a:rPr>
              <a:t>A</a:t>
            </a:r>
            <a:r>
              <a:rPr kumimoji="0" lang="en-US" altLang="zh-CN" sz="2400" b="1" dirty="0">
                <a:latin typeface="Trebuchet MS" panose="020B0603020202020204" pitchFamily="34" charset="0"/>
              </a:rPr>
              <a:t>.</a:t>
            </a:r>
            <a:endParaRPr kumimoji="0" lang="zh-CN" altLang="en-US" sz="2400" b="1" dirty="0">
              <a:latin typeface="Trebuchet MS" panose="020B0603020202020204" pitchFamily="34" charset="0"/>
            </a:endParaRPr>
          </a:p>
          <a:p>
            <a:pPr indent="357188">
              <a:lnSpc>
                <a:spcPct val="120000"/>
              </a:lnSpc>
              <a:spcBef>
                <a:spcPct val="0"/>
              </a:spcBef>
              <a:buNone/>
            </a:pPr>
            <a:r>
              <a:rPr kumimoji="0" lang="en-US" altLang="zh-CN" sz="2400" b="1" dirty="0">
                <a:latin typeface="Trebuchet MS" panose="020B0603020202020204" pitchFamily="34" charset="0"/>
              </a:rPr>
              <a:t>Solve:</a:t>
            </a:r>
            <a:r>
              <a:rPr kumimoji="0" lang="zh-CN" altLang="en-US" sz="2400" b="1" dirty="0">
                <a:latin typeface="Trebuchet MS" panose="020B0603020202020204" pitchFamily="34" charset="0"/>
              </a:rPr>
              <a:t>  </a:t>
            </a:r>
            <a:r>
              <a:rPr lang="en-US" altLang="zh-CN" sz="2400" dirty="0">
                <a:latin typeface="Trebuchet MS" panose="020B0603020202020204" pitchFamily="34" charset="0"/>
              </a:rPr>
              <a:t>Find all possible functions from </a:t>
            </a:r>
            <a:r>
              <a:rPr lang="en-US" altLang="zh-CN" sz="2400" b="1" i="1" dirty="0">
                <a:latin typeface="Trebuchet MS" panose="020B0603020202020204" pitchFamily="34" charset="0"/>
              </a:rPr>
              <a:t>A</a:t>
            </a:r>
            <a:r>
              <a:rPr lang="en-US" altLang="zh-CN" sz="2400" dirty="0">
                <a:latin typeface="Trebuchet MS" panose="020B0603020202020204" pitchFamily="34" charset="0"/>
              </a:rPr>
              <a:t> to </a:t>
            </a:r>
            <a:r>
              <a:rPr lang="en-US" altLang="zh-CN" sz="2400" b="1" i="1" dirty="0">
                <a:latin typeface="Trebuchet MS" panose="020B0603020202020204" pitchFamily="34" charset="0"/>
              </a:rPr>
              <a:t>B</a:t>
            </a:r>
            <a:r>
              <a:rPr lang="en-US" altLang="zh-CN" sz="2400" dirty="0">
                <a:latin typeface="Trebuchet MS" panose="020B0603020202020204" pitchFamily="34" charset="0"/>
              </a:rPr>
              <a:t>.</a:t>
            </a:r>
            <a:endParaRPr kumimoji="0" lang="en-US" altLang="zh-CN" sz="2400" b="1" dirty="0">
              <a:latin typeface="Trebuchet MS" panose="020B0603020202020204" pitchFamily="34" charset="0"/>
            </a:endParaRPr>
          </a:p>
          <a:p>
            <a:pPr eaLnBrk="1" hangingPunct="1">
              <a:lnSpc>
                <a:spcPct val="120000"/>
              </a:lnSpc>
              <a:spcBef>
                <a:spcPct val="0"/>
              </a:spcBef>
              <a:buFontTx/>
              <a:buNone/>
            </a:pP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i="1" baseline="30000" dirty="0">
                <a:latin typeface="Trebuchet MS" panose="020B0603020202020204" pitchFamily="34" charset="0"/>
              </a:rPr>
              <a:t>A </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0</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 ,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7 </a:t>
            </a:r>
            <a:r>
              <a:rPr kumimoji="0" lang="en-US" altLang="zh-CN" sz="2400" b="1" dirty="0">
                <a:latin typeface="Trebuchet MS" panose="020B0603020202020204" pitchFamily="34" charset="0"/>
              </a:rPr>
              <a:t>},  then</a:t>
            </a:r>
            <a:r>
              <a:rPr kumimoji="0" lang="zh-CN" altLang="en-US" sz="2400" b="1" dirty="0">
                <a:latin typeface="Trebuchet MS" panose="020B0603020202020204" pitchFamily="34" charset="0"/>
              </a:rPr>
              <a:t> </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0</a:t>
            </a:r>
            <a:r>
              <a:rPr kumimoji="0" lang="en-US" altLang="zh-CN" sz="2400" b="1" dirty="0">
                <a:latin typeface="Trebuchet MS" panose="020B0603020202020204" pitchFamily="34" charset="0"/>
              </a:rPr>
              <a:t>={&lt;1,</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&gt;,&lt;2,</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&gt;,&lt;3,</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 </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={&lt;1,</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&gt;,&lt;2,</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&gt;,&lt;3,</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 </a:t>
            </a:r>
          </a:p>
          <a:p>
            <a:pPr eaLnBrk="1" hangingPunct="1">
              <a:lnSpc>
                <a:spcPct val="120000"/>
              </a:lnSpc>
              <a:spcBef>
                <a:spcPct val="0"/>
              </a:spcBef>
              <a:buFontTx/>
              <a:buNone/>
            </a:pPr>
            <a:r>
              <a:rPr kumimoji="0" lang="en-US" altLang="zh-CN" sz="2400" b="1" i="1" dirty="0">
                <a:latin typeface="Trebuchet MS" panose="020B0603020202020204" pitchFamily="34" charset="0"/>
              </a:rPr>
              <a:t>            f</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={&lt;1,</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&gt;,&lt;2,</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&gt;,&lt;3,</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 </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3</a:t>
            </a:r>
            <a:r>
              <a:rPr kumimoji="0" lang="en-US" altLang="zh-CN" sz="2400" b="1" dirty="0">
                <a:latin typeface="Trebuchet MS" panose="020B0603020202020204" pitchFamily="34" charset="0"/>
              </a:rPr>
              <a:t>={&lt;1,</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&gt;,&lt;2,</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&gt;,&lt;3,</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 </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4</a:t>
            </a:r>
            <a:r>
              <a:rPr kumimoji="0" lang="en-US" altLang="zh-CN" sz="2400" b="1" dirty="0">
                <a:latin typeface="Trebuchet MS" panose="020B0603020202020204" pitchFamily="34" charset="0"/>
              </a:rPr>
              <a:t>={&lt;1,</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&gt;,&lt;2,</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&gt;,&lt;3,</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 </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5</a:t>
            </a:r>
            <a:r>
              <a:rPr kumimoji="0" lang="en-US" altLang="zh-CN" sz="2400" b="1" dirty="0">
                <a:latin typeface="Trebuchet MS" panose="020B0603020202020204" pitchFamily="34" charset="0"/>
              </a:rPr>
              <a:t>={&lt;1,</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&gt;,&lt;2,</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&gt;,&lt;3,</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 </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6</a:t>
            </a:r>
            <a:r>
              <a:rPr kumimoji="0" lang="en-US" altLang="zh-CN" sz="2400" b="1" dirty="0">
                <a:latin typeface="Trebuchet MS" panose="020B0603020202020204" pitchFamily="34" charset="0"/>
              </a:rPr>
              <a:t>={&lt;1,</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&gt;,&lt;2,</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&gt;,&lt;3,</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&gt;} </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7</a:t>
            </a:r>
            <a:r>
              <a:rPr kumimoji="0" lang="en-US" altLang="zh-CN" sz="2400" b="1" dirty="0">
                <a:latin typeface="Trebuchet MS" panose="020B0603020202020204" pitchFamily="34" charset="0"/>
              </a:rPr>
              <a:t>={&lt;1,</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&gt;,&lt;2,</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&gt;,&lt;3,</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&gt;} </a:t>
            </a:r>
          </a:p>
        </p:txBody>
      </p:sp>
    </p:spTree>
    <p:extLst>
      <p:ext uri="{BB962C8B-B14F-4D97-AF65-F5344CB8AC3E}">
        <p14:creationId xmlns:p14="http://schemas.microsoft.com/office/powerpoint/2010/main" val="35188191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1000"/>
                                        <p:tgtEl>
                                          <p:spTgt spid="9">
                                            <p:txEl>
                                              <p:pRg st="2" end="2"/>
                                            </p:txEl>
                                          </p:spTgt>
                                        </p:tgtEl>
                                      </p:cBhvr>
                                    </p:animEffect>
                                    <p:anim calcmode="lin" valueType="num">
                                      <p:cBhvr>
                                        <p:cTn id="14"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fade">
                                      <p:cBhvr>
                                        <p:cTn id="18" dur="1000"/>
                                        <p:tgtEl>
                                          <p:spTgt spid="9">
                                            <p:txEl>
                                              <p:pRg st="3" end="3"/>
                                            </p:txEl>
                                          </p:spTgt>
                                        </p:tgtEl>
                                      </p:cBhvr>
                                    </p:animEffect>
                                    <p:anim calcmode="lin" valueType="num">
                                      <p:cBhvr>
                                        <p:cTn id="19"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0"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5.1.1 Definition of a Function</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Constant, Identity, and Monotonic Functions</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1" name="Rectangle 3">
            <a:extLst>
              <a:ext uri="{FF2B5EF4-FFF2-40B4-BE49-F238E27FC236}">
                <a16:creationId xmlns:a16="http://schemas.microsoft.com/office/drawing/2014/main" id="{5C550CDE-979B-4A2C-A41A-31732B491E0B}"/>
              </a:ext>
            </a:extLst>
          </p:cNvPr>
          <p:cNvSpPr txBox="1">
            <a:spLocks noChangeArrowheads="1"/>
          </p:cNvSpPr>
          <p:nvPr/>
        </p:nvSpPr>
        <p:spPr>
          <a:xfrm>
            <a:off x="906959" y="771296"/>
            <a:ext cx="10314578" cy="55514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ct val="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a:t>
            </a:r>
            <a:r>
              <a:rPr kumimoji="0" lang="en-US" altLang="zh-CN" sz="2400" b="1" dirty="0">
                <a:latin typeface="Trebuchet MS" panose="020B0603020202020204" pitchFamily="34" charset="0"/>
              </a:rPr>
              <a:t>5.6:</a:t>
            </a:r>
          </a:p>
          <a:p>
            <a:pPr marL="623888" indent="-446088" eaLnBrk="1" hangingPunct="1">
              <a:lnSpc>
                <a:spcPct val="120000"/>
              </a:lnSpc>
              <a:spcBef>
                <a:spcPct val="0"/>
              </a:spcBef>
              <a:buFontTx/>
              <a:buNone/>
            </a:pPr>
            <a:r>
              <a:rPr kumimoji="0" lang="en-US" altLang="zh-CN" sz="2400" b="1" dirty="0">
                <a:solidFill>
                  <a:srgbClr val="0B61FF"/>
                </a:solidFill>
                <a:latin typeface="Trebuchet MS" panose="020B0603020202020204" pitchFamily="34" charset="0"/>
              </a:rPr>
              <a:t>(1) </a:t>
            </a:r>
            <a:r>
              <a:rPr lang="en-US" sz="2400" dirty="0">
                <a:latin typeface="Trebuchet MS" panose="020B0603020202020204" pitchFamily="34" charset="0"/>
              </a:rPr>
              <a:t>Let </a:t>
            </a:r>
            <a:r>
              <a:rPr kumimoji="0" lang="en-US" altLang="zh-CN" sz="2400" b="1" i="1" dirty="0">
                <a:latin typeface="Trebuchet MS" panose="020B0603020202020204" pitchFamily="34" charset="0"/>
              </a:rPr>
              <a:t>f</a:t>
            </a:r>
            <a:r>
              <a:rPr kumimoji="0" lang="zh-CN" altLang="en-US"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a:t>
            </a:r>
            <a:r>
              <a:rPr lang="en-US" sz="2400" dirty="0">
                <a:latin typeface="Trebuchet MS" panose="020B0603020202020204" pitchFamily="34" charset="0"/>
              </a:rPr>
              <a:t>If there exists a constant </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 </a:t>
            </a:r>
            <a:r>
              <a:rPr lang="en-US" sz="2400" dirty="0">
                <a:latin typeface="Trebuchet MS" panose="020B0603020202020204" pitchFamily="34" charset="0"/>
              </a:rPr>
              <a:t>such that for all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lang="en-US" altLang="zh-CN" sz="2400" b="1" i="1" dirty="0">
                <a:latin typeface="Trebuchet MS" panose="020B0603020202020204" pitchFamily="34" charset="0"/>
              </a:rPr>
              <a:t>,</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c</a:t>
            </a:r>
            <a:r>
              <a:rPr kumimoji="0" lang="en-US" altLang="zh-CN" sz="2400" b="1" dirty="0">
                <a:latin typeface="Trebuchet MS" panose="020B0603020202020204" pitchFamily="34" charset="0"/>
              </a:rPr>
              <a:t>, </a:t>
            </a:r>
            <a:r>
              <a:rPr lang="en-US" altLang="zh-CN" sz="2400" b="1" dirty="0">
                <a:latin typeface="Trebuchet MS" panose="020B0603020202020204" pitchFamily="34" charset="0"/>
              </a:rPr>
              <a:t>then</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 </a:t>
            </a:r>
            <a:r>
              <a:rPr lang="en-US" sz="2400" dirty="0">
                <a:latin typeface="Trebuchet MS" panose="020B0603020202020204" pitchFamily="34" charset="0"/>
              </a:rPr>
              <a:t>is called a </a:t>
            </a:r>
            <a:r>
              <a:rPr lang="en-US" sz="2400" b="1" i="1" dirty="0">
                <a:latin typeface="Trebuchet MS" panose="020B0603020202020204" pitchFamily="34" charset="0"/>
              </a:rPr>
              <a:t>constant function</a:t>
            </a:r>
            <a:r>
              <a:rPr kumimoji="0" lang="en-US" altLang="zh-CN" sz="2400" b="1" dirty="0">
                <a:latin typeface="Trebuchet MS" panose="020B0603020202020204" pitchFamily="34" charset="0"/>
              </a:rPr>
              <a:t>.</a:t>
            </a:r>
          </a:p>
          <a:p>
            <a:pPr marL="623888" indent="-446088" eaLnBrk="1" hangingPunct="1">
              <a:lnSpc>
                <a:spcPct val="120000"/>
              </a:lnSpc>
              <a:spcBef>
                <a:spcPct val="0"/>
              </a:spcBef>
              <a:buFontTx/>
              <a:buNone/>
            </a:pPr>
            <a:r>
              <a:rPr kumimoji="0" lang="en-US" altLang="zh-CN" sz="2400" b="1" dirty="0">
                <a:solidFill>
                  <a:srgbClr val="0B61FF"/>
                </a:solidFill>
                <a:latin typeface="Trebuchet MS" panose="020B0603020202020204" pitchFamily="34" charset="0"/>
              </a:rPr>
              <a:t>(2) </a:t>
            </a:r>
            <a:r>
              <a:rPr lang="en-US" sz="2400" dirty="0">
                <a:latin typeface="Trebuchet MS" panose="020B0603020202020204" pitchFamily="34" charset="0"/>
              </a:rPr>
              <a:t>The </a:t>
            </a:r>
            <a:r>
              <a:rPr lang="en-US" sz="2400" b="1" dirty="0">
                <a:latin typeface="Trebuchet MS" panose="020B0603020202020204" pitchFamily="34" charset="0"/>
              </a:rPr>
              <a:t>identity relation</a:t>
            </a:r>
            <a:r>
              <a:rPr lang="en-US" sz="2400" dirty="0">
                <a:latin typeface="Trebuchet MS" panose="020B0603020202020204" pitchFamily="34" charset="0"/>
              </a:rPr>
              <a:t>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 </a:t>
            </a:r>
            <a:r>
              <a:rPr lang="en-US" sz="2400" dirty="0">
                <a:latin typeface="Trebuchet MS" panose="020B0603020202020204" pitchFamily="34" charset="0"/>
              </a:rPr>
              <a:t>on </a:t>
            </a:r>
            <a:r>
              <a:rPr kumimoji="0" lang="en-US" altLang="zh-CN" sz="2400" b="1" i="1" dirty="0">
                <a:latin typeface="Trebuchet MS" panose="020B0603020202020204" pitchFamily="34" charset="0"/>
              </a:rPr>
              <a:t>A</a:t>
            </a:r>
            <a:r>
              <a:rPr lang="en-US" sz="2400" dirty="0">
                <a:latin typeface="Trebuchet MS" panose="020B0603020202020204" pitchFamily="34" charset="0"/>
              </a:rPr>
              <a:t> is called the </a:t>
            </a:r>
            <a:r>
              <a:rPr lang="en-US" sz="2400" b="1" i="1" dirty="0">
                <a:latin typeface="Trebuchet MS" panose="020B0603020202020204" pitchFamily="34" charset="0"/>
              </a:rPr>
              <a:t>identity function </a:t>
            </a:r>
            <a:r>
              <a:rPr lang="en-US" sz="2400" dirty="0">
                <a:latin typeface="Trebuchet MS" panose="020B0603020202020204" pitchFamily="34" charset="0"/>
              </a:rPr>
              <a:t>on </a:t>
            </a:r>
            <a:r>
              <a:rPr kumimoji="0" lang="en-US" altLang="zh-CN" sz="2400" b="1" i="1" dirty="0">
                <a:latin typeface="Trebuchet MS" panose="020B0603020202020204" pitchFamily="34" charset="0"/>
              </a:rPr>
              <a:t>A</a:t>
            </a:r>
            <a:r>
              <a:rPr lang="en-US" sz="2400" dirty="0">
                <a:latin typeface="Trebuchet MS" panose="020B0603020202020204" pitchFamily="34" charset="0"/>
              </a:rPr>
              <a:t>, where for all </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p>
          <a:p>
            <a:pPr marL="623888" indent="-446088">
              <a:lnSpc>
                <a:spcPct val="120000"/>
              </a:lnSpc>
              <a:buNone/>
            </a:pPr>
            <a:r>
              <a:rPr kumimoji="0" lang="en-US" altLang="zh-CN" sz="2400" b="1" dirty="0">
                <a:solidFill>
                  <a:srgbClr val="0B61FF"/>
                </a:solidFill>
                <a:latin typeface="Trebuchet MS" panose="020B0603020202020204" pitchFamily="34" charset="0"/>
              </a:rPr>
              <a:t>(3) </a:t>
            </a:r>
            <a:r>
              <a:rPr lang="en-US" sz="2400" dirty="0">
                <a:latin typeface="Trebuchet MS" panose="020B0603020202020204" pitchFamily="34" charset="0"/>
              </a:rPr>
              <a:t>Let </a:t>
            </a:r>
            <a:r>
              <a:rPr kumimoji="0" lang="en-US" altLang="zh-CN" sz="2400" b="1" dirty="0">
                <a:latin typeface="Trebuchet MS" panose="020B0603020202020204" pitchFamily="34" charset="0"/>
              </a:rPr>
              <a:t>&lt;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≼&gt;, &lt;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≼&gt;</a:t>
            </a:r>
            <a:r>
              <a:rPr lang="en-US" sz="2400" dirty="0">
                <a:latin typeface="Trebuchet MS" panose="020B0603020202020204" pitchFamily="34" charset="0"/>
              </a:rPr>
              <a:t> be partially ordered sets</a:t>
            </a:r>
            <a:r>
              <a:rPr kumimoji="0" lang="zh-CN" altLang="en-US" sz="2400" b="1" dirty="0">
                <a:latin typeface="Trebuchet MS" panose="020B0603020202020204" pitchFamily="34" charset="0"/>
              </a:rPr>
              <a:t>，</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lang="zh-CN" altLang="en-US" sz="2400" b="1" i="1" dirty="0">
                <a:latin typeface="Trebuchet MS" panose="020B0603020202020204" pitchFamily="34" charset="0"/>
              </a:rPr>
              <a:t> </a:t>
            </a:r>
            <a:r>
              <a:rPr lang="en-US" sz="2400" dirty="0">
                <a:latin typeface="Trebuchet MS" panose="020B0603020202020204" pitchFamily="34" charset="0"/>
              </a:rPr>
              <a:t>called </a:t>
            </a:r>
            <a:r>
              <a:rPr lang="en-US" sz="2400" b="1" i="1" dirty="0">
                <a:latin typeface="Trebuchet MS" panose="020B0603020202020204" pitchFamily="34" charset="0"/>
              </a:rPr>
              <a:t>monotonically increasing</a:t>
            </a:r>
            <a:r>
              <a:rPr lang="en-US" sz="2400" i="1" dirty="0">
                <a:latin typeface="Trebuchet MS" panose="020B0603020202020204" pitchFamily="34" charset="0"/>
              </a:rPr>
              <a:t> </a:t>
            </a:r>
            <a:r>
              <a:rPr lang="en-US" sz="2400" dirty="0">
                <a:latin typeface="Trebuchet MS" panose="020B0603020202020204" pitchFamily="34" charset="0"/>
              </a:rPr>
              <a:t>(or simply </a:t>
            </a:r>
            <a:r>
              <a:rPr lang="en-US" sz="2400" b="1" dirty="0">
                <a:latin typeface="Trebuchet MS" panose="020B0603020202020204" pitchFamily="34" charset="0"/>
              </a:rPr>
              <a:t>monotonic</a:t>
            </a:r>
            <a:r>
              <a:rPr lang="en-US" sz="2400" dirty="0">
                <a:latin typeface="Trebuchet MS" panose="020B0603020202020204" pitchFamily="34" charset="0"/>
              </a:rPr>
              <a:t>) if for any</a:t>
            </a:r>
            <a:r>
              <a:rPr kumimoji="0" lang="en-US" altLang="zh-CN" sz="2400" b="1" i="1" dirty="0">
                <a:latin typeface="Trebuchet MS" panose="020B0603020202020204" pitchFamily="34" charset="0"/>
              </a:rPr>
              <a:t> x</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a:t>
            </a:r>
            <a:r>
              <a:rPr lang="en-US" sz="2400"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a:t>
            </a:r>
          </a:p>
          <a:p>
            <a:pPr marL="877888" indent="-342900" eaLnBrk="1" hangingPunct="1">
              <a:lnSpc>
                <a:spcPct val="120000"/>
              </a:lnSpc>
              <a:spcBef>
                <a:spcPct val="0"/>
              </a:spcBef>
              <a:buClr>
                <a:srgbClr val="0B61FF"/>
              </a:buClr>
              <a:buSzPct val="120000"/>
            </a:pPr>
            <a:r>
              <a:rPr lang="en-US" sz="2400" b="1" i="1" dirty="0">
                <a:latin typeface="Trebuchet MS" panose="020B0603020202020204" pitchFamily="34" charset="0"/>
              </a:rPr>
              <a:t>strictly monotonically increasing</a:t>
            </a:r>
            <a:r>
              <a:rPr lang="en-US" sz="2400" i="1" dirty="0">
                <a:latin typeface="Trebuchet MS" panose="020B0603020202020204" pitchFamily="34" charset="0"/>
              </a:rPr>
              <a:t> </a:t>
            </a:r>
            <a:r>
              <a:rPr lang="en-US" sz="2400" dirty="0">
                <a:latin typeface="Trebuchet MS" panose="020B0603020202020204" pitchFamily="34" charset="0"/>
              </a:rPr>
              <a:t>if for any </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 , </a:t>
            </a:r>
            <a:r>
              <a:rPr lang="en-US" sz="2400" dirty="0">
                <a:latin typeface="Trebuchet MS" panose="020B0603020202020204" pitchFamily="34" charset="0"/>
              </a:rPr>
              <a:t>⇒</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a:t>
            </a:r>
          </a:p>
          <a:p>
            <a:pPr marL="877888" indent="-342900" eaLnBrk="1" hangingPunct="1">
              <a:lnSpc>
                <a:spcPct val="120000"/>
              </a:lnSpc>
              <a:spcBef>
                <a:spcPct val="0"/>
              </a:spcBef>
              <a:buClr>
                <a:srgbClr val="0B61FF"/>
              </a:buClr>
              <a:buSzPct val="120000"/>
            </a:pPr>
            <a:r>
              <a:rPr lang="en-US" sz="2400" dirty="0">
                <a:latin typeface="Trebuchet MS" panose="020B0603020202020204" pitchFamily="34" charset="0"/>
              </a:rPr>
              <a:t>Similarly, </a:t>
            </a:r>
            <a:r>
              <a:rPr lang="en-US" sz="2400" b="1" dirty="0">
                <a:latin typeface="Trebuchet MS" panose="020B0603020202020204" pitchFamily="34" charset="0"/>
              </a:rPr>
              <a:t>monotonically decreasing</a:t>
            </a:r>
            <a:r>
              <a:rPr lang="en-US" sz="2400" dirty="0">
                <a:latin typeface="Trebuchet MS" panose="020B0603020202020204" pitchFamily="34" charset="0"/>
              </a:rPr>
              <a:t> and </a:t>
            </a:r>
            <a:r>
              <a:rPr lang="en-US" sz="2400" b="1" dirty="0">
                <a:latin typeface="Trebuchet MS" panose="020B0603020202020204" pitchFamily="34" charset="0"/>
              </a:rPr>
              <a:t>strictly monotonically decreasing</a:t>
            </a:r>
            <a:r>
              <a:rPr lang="en-US" sz="2400" dirty="0">
                <a:latin typeface="Trebuchet MS" panose="020B0603020202020204" pitchFamily="34" charset="0"/>
              </a:rPr>
              <a:t> functions can be defined in the same manner.</a:t>
            </a:r>
          </a:p>
          <a:p>
            <a:pPr eaLnBrk="1" hangingPunct="1">
              <a:lnSpc>
                <a:spcPct val="120000"/>
              </a:lnSpc>
              <a:spcBef>
                <a:spcPct val="0"/>
              </a:spcBef>
              <a:buFontTx/>
              <a:buNone/>
            </a:pPr>
            <a:endParaRPr lang="en-US" altLang="zh-CN" sz="2400" b="1" dirty="0">
              <a:latin typeface="Trebuchet MS" panose="020B0603020202020204" pitchFamily="34" charset="0"/>
            </a:endParaRPr>
          </a:p>
          <a:p>
            <a:pPr eaLnBrk="1" hangingPunct="1">
              <a:lnSpc>
                <a:spcPct val="120000"/>
              </a:lnSpc>
              <a:spcBef>
                <a:spcPct val="0"/>
              </a:spcBef>
              <a:buFontTx/>
              <a:buNone/>
            </a:pPr>
            <a:endParaRPr lang="en-US" altLang="zh-CN" sz="2400" b="1" dirty="0">
              <a:latin typeface="Trebuchet MS" panose="020B0603020202020204" pitchFamily="34" charset="0"/>
            </a:endParaRPr>
          </a:p>
        </p:txBody>
      </p:sp>
    </p:spTree>
    <p:extLst>
      <p:ext uri="{BB962C8B-B14F-4D97-AF65-F5344CB8AC3E}">
        <p14:creationId xmlns:p14="http://schemas.microsoft.com/office/powerpoint/2010/main" val="15262625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3" end="3"/>
                                            </p:txEl>
                                          </p:spTgt>
                                        </p:tgtEl>
                                        <p:attrNameLst>
                                          <p:attrName>style.visibility</p:attrName>
                                        </p:attrNameLst>
                                      </p:cBhvr>
                                      <p:to>
                                        <p:strVal val="visible"/>
                                      </p:to>
                                    </p:set>
                                    <p:animEffect transition="in" filter="fade">
                                      <p:cBhvr>
                                        <p:cTn id="14" dur="1000"/>
                                        <p:tgtEl>
                                          <p:spTgt spid="11">
                                            <p:txEl>
                                              <p:pRg st="3" end="3"/>
                                            </p:txEl>
                                          </p:spTgt>
                                        </p:tgtEl>
                                      </p:cBhvr>
                                    </p:animEffect>
                                    <p:anim calcmode="lin" valueType="num">
                                      <p:cBhvr>
                                        <p:cTn id="15"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fade">
                                      <p:cBhvr>
                                        <p:cTn id="21" dur="1000"/>
                                        <p:tgtEl>
                                          <p:spTgt spid="11">
                                            <p:txEl>
                                              <p:pRg st="4" end="4"/>
                                            </p:txEl>
                                          </p:spTgt>
                                        </p:tgtEl>
                                      </p:cBhvr>
                                    </p:animEffect>
                                    <p:anim calcmode="lin" valueType="num">
                                      <p:cBhvr>
                                        <p:cTn id="22"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1">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1">
                                            <p:txEl>
                                              <p:pRg st="5" end="5"/>
                                            </p:txEl>
                                          </p:spTgt>
                                        </p:tgtEl>
                                        <p:attrNameLst>
                                          <p:attrName>style.visibility</p:attrName>
                                        </p:attrNameLst>
                                      </p:cBhvr>
                                      <p:to>
                                        <p:strVal val="visible"/>
                                      </p:to>
                                    </p:set>
                                    <p:animEffect transition="in" filter="fade">
                                      <p:cBhvr>
                                        <p:cTn id="26" dur="1000"/>
                                        <p:tgtEl>
                                          <p:spTgt spid="11">
                                            <p:txEl>
                                              <p:pRg st="5" end="5"/>
                                            </p:txEl>
                                          </p:spTgt>
                                        </p:tgtEl>
                                      </p:cBhvr>
                                    </p:animEffect>
                                    <p:anim calcmode="lin" valueType="num">
                                      <p:cBhvr>
                                        <p:cTn id="27"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5.1.1 Definition of a Function</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Characteristic function of a set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1" name="Rectangle 3">
            <a:extLst>
              <a:ext uri="{FF2B5EF4-FFF2-40B4-BE49-F238E27FC236}">
                <a16:creationId xmlns:a16="http://schemas.microsoft.com/office/drawing/2014/main" id="{5C550CDE-979B-4A2C-A41A-31732B491E0B}"/>
              </a:ext>
            </a:extLst>
          </p:cNvPr>
          <p:cNvSpPr txBox="1">
            <a:spLocks noChangeArrowheads="1"/>
          </p:cNvSpPr>
          <p:nvPr/>
        </p:nvSpPr>
        <p:spPr>
          <a:xfrm>
            <a:off x="1051922" y="838202"/>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ct val="0"/>
              </a:spcBef>
              <a:buFontTx/>
              <a:buNone/>
            </a:pPr>
            <a:endParaRPr kumimoji="0" lang="en-US" altLang="zh-CN" sz="2800" b="1" dirty="0">
              <a:solidFill>
                <a:srgbClr val="FF0000"/>
              </a:solidFill>
            </a:endParaRPr>
          </a:p>
        </p:txBody>
      </p:sp>
      <mc:AlternateContent xmlns:mc="http://schemas.openxmlformats.org/markup-compatibility/2006" xmlns:a14="http://schemas.microsoft.com/office/drawing/2010/main">
        <mc:Choice Requires="a14">
          <p:sp>
            <p:nvSpPr>
              <p:cNvPr id="7" name="Text Box 3">
                <a:extLst>
                  <a:ext uri="{FF2B5EF4-FFF2-40B4-BE49-F238E27FC236}">
                    <a16:creationId xmlns:a16="http://schemas.microsoft.com/office/drawing/2014/main" id="{25CE4DB9-E79F-47EF-AD1D-07DB8DF666AD}"/>
                  </a:ext>
                </a:extLst>
              </p:cNvPr>
              <p:cNvSpPr txBox="1">
                <a:spLocks noChangeArrowheads="1"/>
              </p:cNvSpPr>
              <p:nvPr/>
            </p:nvSpPr>
            <p:spPr bwMode="auto">
              <a:xfrm>
                <a:off x="1055688" y="974952"/>
                <a:ext cx="9772146" cy="538124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o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kumimoji="0" lang="en-US" altLang="zh-CN" sz="2400" b="1" dirty="0">
                    <a:solidFill>
                      <a:srgbClr val="0B61FF"/>
                    </a:solidFill>
                    <a:latin typeface="Trebuchet MS" panose="020B0603020202020204" pitchFamily="34" charset="0"/>
                  </a:rPr>
                  <a:t>(4) </a:t>
                </a:r>
                <a:r>
                  <a:rPr lang="en-US" sz="2400" dirty="0">
                    <a:latin typeface="Trebuchet MS" panose="020B0603020202020204" pitchFamily="34" charset="0"/>
                  </a:rPr>
                  <a:t>Let</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A </a:t>
                </a:r>
                <a:r>
                  <a:rPr lang="en-US" sz="2400" dirty="0">
                    <a:latin typeface="Trebuchet MS" panose="020B0603020202020204" pitchFamily="34" charset="0"/>
                  </a:rPr>
                  <a:t>be a set. For any subset</a:t>
                </a:r>
                <a14:m>
                  <m:oMath xmlns:m="http://schemas.openxmlformats.org/officeDocument/2006/math">
                    <m:r>
                      <a:rPr lang="zh-CN" altLang="en-US" sz="2000" b="1" i="1" smtClean="0">
                        <a:solidFill>
                          <a:srgbClr val="000000"/>
                        </a:solidFill>
                        <a:latin typeface="Cambria Math" panose="02040503050406030204" pitchFamily="18" charset="0"/>
                      </a:rPr>
                      <m:t>𝑨</m:t>
                    </m:r>
                    <m:r>
                      <a:rPr lang="zh-CN" altLang="en-US" sz="2000" b="1" i="1" smtClean="0">
                        <a:solidFill>
                          <a:srgbClr val="000000"/>
                        </a:solidFill>
                        <a:latin typeface="Cambria Math" panose="02040503050406030204" pitchFamily="18" charset="0"/>
                      </a:rPr>
                      <m:t>′</m:t>
                    </m:r>
                  </m:oMath>
                </a14:m>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lang="en-US" sz="2400" dirty="0">
                    <a:latin typeface="Trebuchet MS" panose="020B0603020202020204" pitchFamily="34" charset="0"/>
                  </a:rPr>
                  <a:t>the </a:t>
                </a:r>
                <a:r>
                  <a:rPr lang="en-US" sz="2400" b="1" i="1" dirty="0">
                    <a:latin typeface="Trebuchet MS" panose="020B0603020202020204" pitchFamily="34" charset="0"/>
                  </a:rPr>
                  <a:t>characteristic function </a:t>
                </a:r>
                <a:endParaRPr kumimoji="0" lang="zh-CN" altLang="en-US" sz="2400" b="1" i="1" dirty="0">
                  <a:latin typeface="Trebuchet MS" panose="020B0603020202020204" pitchFamily="34" charset="0"/>
                </a:endParaRPr>
              </a:p>
              <a:p>
                <a:pPr>
                  <a:lnSpc>
                    <a:spcPct val="120000"/>
                  </a:lnSpc>
                  <a:spcBef>
                    <a:spcPct val="0"/>
                  </a:spcBef>
                  <a:buNone/>
                </a:pPr>
                <a:r>
                  <a:rPr kumimoji="0" lang="zh-CN" altLang="en-US" sz="2400" b="1" dirty="0">
                    <a:latin typeface="Trebuchet MS" panose="020B0603020202020204" pitchFamily="34" charset="0"/>
                    <a:sym typeface="Symbol" panose="05050102010706020507" pitchFamily="18" charset="2"/>
                  </a:rPr>
                  <a:t> </a:t>
                </a:r>
                <a:r>
                  <a:rPr kumimoji="0" lang="en-US" altLang="zh-CN" sz="2400" b="1" i="1" baseline="-25000" dirty="0">
                    <a:latin typeface="Trebuchet MS" panose="020B0603020202020204" pitchFamily="34" charset="0"/>
                  </a:rPr>
                  <a:t>A</a:t>
                </a:r>
                <a:r>
                  <a:rPr kumimoji="0" lang="en-US" altLang="zh-CN" sz="2400" b="1" baseline="-25000" dirty="0">
                    <a:latin typeface="Trebuchet MS" panose="020B0603020202020204" pitchFamily="34" charset="0"/>
                  </a:rPr>
                  <a:t>’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→{0,1} </a:t>
                </a:r>
                <a:r>
                  <a:rPr lang="en-US" sz="2400" dirty="0">
                    <a:latin typeface="Trebuchet MS" panose="020B0603020202020204" pitchFamily="34" charset="0"/>
                  </a:rPr>
                  <a:t>is defined as follows:</a:t>
                </a:r>
              </a:p>
              <a:p>
                <a:pPr eaLnBrk="1" hangingPunct="1">
                  <a:lnSpc>
                    <a:spcPct val="120000"/>
                  </a:lnSpc>
                  <a:spcBef>
                    <a:spcPct val="0"/>
                  </a:spcBef>
                  <a:buFontTx/>
                  <a:buNone/>
                </a:pPr>
                <a:endParaRPr kumimoji="0" lang="zh-CN" altLang="en-US" sz="2400" b="1" dirty="0"/>
              </a:p>
              <a:p>
                <a:pPr eaLnBrk="1" hangingPunct="1">
                  <a:lnSpc>
                    <a:spcPct val="120000"/>
                  </a:lnSpc>
                  <a:spcBef>
                    <a:spcPct val="0"/>
                  </a:spcBef>
                  <a:buFontTx/>
                  <a:buNone/>
                </a:pPr>
                <a:endParaRPr kumimoji="0" lang="zh-CN" altLang="en-US" sz="2400" b="1" dirty="0"/>
              </a:p>
              <a:p>
                <a:pPr>
                  <a:lnSpc>
                    <a:spcPct val="120000"/>
                  </a:lnSpc>
                  <a:spcBef>
                    <a:spcPct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zh-CN" altLang="en-US" sz="2400" b="1" dirty="0">
                    <a:latin typeface="Trebuchet MS" panose="020B0603020202020204" pitchFamily="34" charset="0"/>
                  </a:rPr>
                  <a:t>：</a:t>
                </a:r>
                <a:r>
                  <a:rPr lang="en-US" altLang="zh-CN" sz="2400" b="1" dirty="0">
                    <a:latin typeface="Trebuchet MS" panose="020B0603020202020204" pitchFamily="34" charset="0"/>
                  </a:rPr>
                  <a:t>let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 </a:t>
                </a:r>
                <a:r>
                  <a:rPr lang="en-US" altLang="zh-CN" sz="2400" dirty="0">
                    <a:latin typeface="Trebuchet MS" panose="020B0603020202020204" pitchFamily="34" charset="0"/>
                  </a:rPr>
                  <a:t>Each subset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 </a:t>
                </a:r>
                <a:r>
                  <a:rPr lang="en-US" altLang="zh-CN" sz="2400" dirty="0">
                    <a:latin typeface="Trebuchet MS" panose="020B0603020202020204" pitchFamily="34" charset="0"/>
                  </a:rPr>
                  <a:t>of </a:t>
                </a:r>
                <a:r>
                  <a:rPr lang="en-US" altLang="zh-CN" sz="2400" b="1" i="1" dirty="0">
                    <a:latin typeface="Trebuchet MS" panose="020B0603020202020204" pitchFamily="34" charset="0"/>
                  </a:rPr>
                  <a:t>A</a:t>
                </a:r>
                <a:r>
                  <a:rPr lang="en-US" altLang="zh-CN" sz="2400" dirty="0">
                    <a:latin typeface="Trebuchet MS" panose="020B0603020202020204" pitchFamily="34" charset="0"/>
                  </a:rPr>
                  <a:t> corresponds to a </a:t>
                </a:r>
                <a:r>
                  <a:rPr lang="en-US" altLang="zh-CN" sz="2400" b="1" dirty="0">
                    <a:latin typeface="Trebuchet MS" panose="020B0603020202020204" pitchFamily="34" charset="0"/>
                  </a:rPr>
                  <a:t>characteristic function</a:t>
                </a:r>
                <a:r>
                  <a:rPr lang="en-US" altLang="zh-CN" sz="2400" dirty="0">
                    <a:latin typeface="Trebuchet MS" panose="020B0603020202020204" pitchFamily="34" charset="0"/>
                  </a:rPr>
                  <a:t>, and different subsets correspond to different characteristic functions.</a:t>
                </a:r>
                <a:r>
                  <a:rPr lang="en-US" altLang="zh-CN" sz="2400" b="1" dirty="0">
                    <a:latin typeface="Trebuchet MS" panose="020B0603020202020204" pitchFamily="34" charset="0"/>
                  </a:rPr>
                  <a:t> Such as </a:t>
                </a:r>
                <a:r>
                  <a:rPr lang="en-US" altLang="zh-CN" sz="2400" dirty="0">
                    <a:latin typeface="Trebuchet MS" panose="020B0603020202020204" pitchFamily="34" charset="0"/>
                  </a:rPr>
                  <a:t>:</a:t>
                </a:r>
                <a:endParaRPr lang="en-US" altLang="zh-CN" sz="2400" b="1" i="1" dirty="0">
                  <a:latin typeface="Trebuchet MS" panose="020B0603020202020204" pitchFamily="34" charset="0"/>
                </a:endParaRPr>
              </a:p>
              <a:p>
                <a:pPr marL="0" indent="268288" eaLnBrk="1" hangingPunct="1">
                  <a:lnSpc>
                    <a:spcPct val="120000"/>
                  </a:lnSpc>
                  <a:spcBef>
                    <a:spcPct val="0"/>
                  </a:spcBef>
                  <a:buClr>
                    <a:srgbClr val="0B61FF"/>
                  </a:buClr>
                  <a:buSzPct val="80000"/>
                  <a:buNone/>
                </a:pPr>
                <a:r>
                  <a:rPr lang="zh-CN" altLang="en-US" sz="2400" b="1" dirty="0">
                    <a:latin typeface="Trebuchet MS" panose="020B0603020202020204" pitchFamily="34" charset="0"/>
                    <a:sym typeface="Symbol" panose="05050102010706020507" pitchFamily="18" charset="2"/>
                  </a:rPr>
                  <a:t>          </a:t>
                </a:r>
                <a:r>
                  <a:rPr lang="zh-CN" altLang="en-US" sz="2400" b="1" baseline="-25000"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 {&lt;</a:t>
                </a:r>
                <a:r>
                  <a:rPr lang="en-US" altLang="zh-CN" sz="2400" b="1" i="1" dirty="0">
                    <a:latin typeface="Trebuchet MS" panose="020B0603020202020204" pitchFamily="34" charset="0"/>
                    <a:sym typeface="Symbol" panose="05050102010706020507" pitchFamily="18" charset="2"/>
                  </a:rPr>
                  <a:t>a</a:t>
                </a:r>
                <a:r>
                  <a:rPr lang="en-US" altLang="zh-CN" sz="2400" b="1" dirty="0">
                    <a:latin typeface="Trebuchet MS" panose="020B0603020202020204" pitchFamily="34" charset="0"/>
                    <a:sym typeface="Symbol" panose="05050102010706020507" pitchFamily="18" charset="2"/>
                  </a:rPr>
                  <a:t>,0&gt;,&lt;</a:t>
                </a:r>
                <a:r>
                  <a:rPr lang="en-US" altLang="zh-CN" sz="2400" b="1" i="1" dirty="0">
                    <a:latin typeface="Trebuchet MS" panose="020B0603020202020204" pitchFamily="34" charset="0"/>
                    <a:sym typeface="Symbol" panose="05050102010706020507" pitchFamily="18" charset="2"/>
                  </a:rPr>
                  <a:t>b</a:t>
                </a:r>
                <a:r>
                  <a:rPr lang="en-US" altLang="zh-CN" sz="2400" b="1" dirty="0">
                    <a:latin typeface="Trebuchet MS" panose="020B0603020202020204" pitchFamily="34" charset="0"/>
                    <a:sym typeface="Symbol" panose="05050102010706020507" pitchFamily="18" charset="2"/>
                  </a:rPr>
                  <a:t>,0&gt;,&lt;</a:t>
                </a:r>
                <a:r>
                  <a:rPr lang="en-US" altLang="zh-CN" sz="2400" b="1" i="1" dirty="0">
                    <a:latin typeface="Trebuchet MS" panose="020B0603020202020204" pitchFamily="34" charset="0"/>
                    <a:sym typeface="Symbol" panose="05050102010706020507" pitchFamily="18" charset="2"/>
                  </a:rPr>
                  <a:t>c</a:t>
                </a:r>
                <a:r>
                  <a:rPr lang="en-US" altLang="zh-CN" sz="2400" b="1" dirty="0">
                    <a:latin typeface="Trebuchet MS" panose="020B0603020202020204" pitchFamily="34" charset="0"/>
                    <a:sym typeface="Symbol" panose="05050102010706020507" pitchFamily="18" charset="2"/>
                  </a:rPr>
                  <a:t>,0&gt;}</a:t>
                </a:r>
                <a:endParaRPr lang="zh-CN" altLang="en-US" sz="2400" b="1" dirty="0">
                  <a:latin typeface="Trebuchet MS" panose="020B0603020202020204" pitchFamily="34" charset="0"/>
                  <a:sym typeface="Symbol" panose="05050102010706020507" pitchFamily="18" charset="2"/>
                </a:endParaRPr>
              </a:p>
              <a:p>
                <a:pPr eaLnBrk="1" hangingPunct="1">
                  <a:lnSpc>
                    <a:spcPct val="120000"/>
                  </a:lnSpc>
                  <a:spcBef>
                    <a:spcPct val="0"/>
                  </a:spcBef>
                  <a:buFontTx/>
                  <a:buNone/>
                </a:pPr>
                <a:r>
                  <a:rPr lang="zh-CN" altLang="en-US" sz="2400" b="1" dirty="0">
                    <a:latin typeface="Trebuchet MS" panose="020B0603020202020204" pitchFamily="34" charset="0"/>
                    <a:sym typeface="Symbol" panose="05050102010706020507" pitchFamily="18" charset="2"/>
                  </a:rPr>
                  <a:t>         </a:t>
                </a:r>
                <a:r>
                  <a:rPr lang="en-US" altLang="zh-CN" sz="2400" b="1" baseline="-25000" dirty="0">
                    <a:latin typeface="Trebuchet MS" panose="020B0603020202020204" pitchFamily="34" charset="0"/>
                  </a:rPr>
                  <a:t>{</a:t>
                </a:r>
                <a:r>
                  <a:rPr lang="en-US" altLang="zh-CN" sz="2400" b="1" i="1" baseline="-25000" dirty="0">
                    <a:latin typeface="Trebuchet MS" panose="020B0603020202020204" pitchFamily="34" charset="0"/>
                    <a:sym typeface="Symbol" panose="05050102010706020507" pitchFamily="18" charset="2"/>
                  </a:rPr>
                  <a:t>a</a:t>
                </a:r>
                <a:r>
                  <a:rPr lang="en-US" altLang="zh-CN" sz="2400" b="1" baseline="-25000" dirty="0">
                    <a:latin typeface="Trebuchet MS" panose="020B0603020202020204" pitchFamily="34" charset="0"/>
                    <a:sym typeface="Symbol" panose="05050102010706020507" pitchFamily="18" charset="2"/>
                  </a:rPr>
                  <a:t>,</a:t>
                </a:r>
                <a:r>
                  <a:rPr lang="en-US" altLang="zh-CN" sz="2400" b="1" i="1" baseline="-25000" dirty="0">
                    <a:latin typeface="Trebuchet MS" panose="020B0603020202020204" pitchFamily="34" charset="0"/>
                    <a:sym typeface="Symbol" panose="05050102010706020507" pitchFamily="18" charset="2"/>
                  </a:rPr>
                  <a:t>b</a:t>
                </a:r>
                <a:r>
                  <a:rPr lang="en-US" altLang="zh-CN" sz="2400" b="1" baseline="-25000"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 = {&lt;</a:t>
                </a:r>
                <a:r>
                  <a:rPr lang="en-US" altLang="zh-CN" sz="2400" b="1" i="1" dirty="0">
                    <a:latin typeface="Trebuchet MS" panose="020B0603020202020204" pitchFamily="34" charset="0"/>
                    <a:sym typeface="Symbol" panose="05050102010706020507" pitchFamily="18" charset="2"/>
                  </a:rPr>
                  <a:t>a</a:t>
                </a:r>
                <a:r>
                  <a:rPr lang="en-US" altLang="zh-CN" sz="2400" b="1" dirty="0">
                    <a:latin typeface="Trebuchet MS" panose="020B0603020202020204" pitchFamily="34" charset="0"/>
                    <a:sym typeface="Symbol" panose="05050102010706020507" pitchFamily="18" charset="2"/>
                  </a:rPr>
                  <a:t>,1&gt;,&lt;</a:t>
                </a:r>
                <a:r>
                  <a:rPr lang="en-US" altLang="zh-CN" sz="2400" b="1" i="1" dirty="0">
                    <a:latin typeface="Trebuchet MS" panose="020B0603020202020204" pitchFamily="34" charset="0"/>
                    <a:sym typeface="Symbol" panose="05050102010706020507" pitchFamily="18" charset="2"/>
                  </a:rPr>
                  <a:t>b</a:t>
                </a:r>
                <a:r>
                  <a:rPr lang="en-US" altLang="zh-CN" sz="2400" b="1" dirty="0">
                    <a:latin typeface="Trebuchet MS" panose="020B0603020202020204" pitchFamily="34" charset="0"/>
                    <a:sym typeface="Symbol" panose="05050102010706020507" pitchFamily="18" charset="2"/>
                  </a:rPr>
                  <a:t>,1&gt;,&lt;</a:t>
                </a:r>
                <a:r>
                  <a:rPr lang="en-US" altLang="zh-CN" sz="2400" b="1" i="1" dirty="0">
                    <a:latin typeface="Trebuchet MS" panose="020B0603020202020204" pitchFamily="34" charset="0"/>
                    <a:sym typeface="Symbol" panose="05050102010706020507" pitchFamily="18" charset="2"/>
                  </a:rPr>
                  <a:t>c</a:t>
                </a:r>
                <a:r>
                  <a:rPr lang="en-US" altLang="zh-CN" sz="2400" b="1" dirty="0">
                    <a:latin typeface="Trebuchet MS" panose="020B0603020202020204" pitchFamily="34" charset="0"/>
                    <a:sym typeface="Symbol" panose="05050102010706020507" pitchFamily="18" charset="2"/>
                  </a:rPr>
                  <a:t>,0&gt;}</a:t>
                </a:r>
              </a:p>
              <a:p>
                <a:pPr eaLnBrk="1" hangingPunct="1">
                  <a:lnSpc>
                    <a:spcPct val="120000"/>
                  </a:lnSpc>
                  <a:spcBef>
                    <a:spcPct val="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The characteristic function of a set is a </a:t>
                </a:r>
                <a:r>
                  <a:rPr lang="en-US" altLang="zh-CN" sz="2400" b="1" dirty="0">
                    <a:latin typeface="Trebuchet MS" panose="020B0603020202020204" pitchFamily="34" charset="0"/>
                  </a:rPr>
                  <a:t>detector</a:t>
                </a:r>
                <a:r>
                  <a:rPr lang="en-US" altLang="zh-CN" sz="2400" dirty="0">
                    <a:latin typeface="Trebuchet MS" panose="020B0603020202020204" pitchFamily="34" charset="0"/>
                  </a:rPr>
                  <a:t> that determines whether an element belongs to the set; it is also known as an </a:t>
                </a:r>
                <a:r>
                  <a:rPr lang="en-US" altLang="zh-CN" sz="2400" b="1" dirty="0">
                    <a:latin typeface="Trebuchet MS" panose="020B0603020202020204" pitchFamily="34" charset="0"/>
                  </a:rPr>
                  <a:t>indicator function </a:t>
                </a:r>
                <a:r>
                  <a:rPr lang="en-US" altLang="zh-CN" sz="2400" dirty="0">
                    <a:latin typeface="Trebuchet MS" panose="020B0603020202020204" pitchFamily="34" charset="0"/>
                  </a:rPr>
                  <a:t>that represents whether an event occurs.</a:t>
                </a:r>
                <a:endParaRPr kumimoji="0" lang="en-US" altLang="zh-CN" sz="2400" b="1" dirty="0">
                  <a:latin typeface="Trebuchet MS" panose="020B0603020202020204" pitchFamily="34" charset="0"/>
                </a:endParaRPr>
              </a:p>
              <a:p>
                <a:pPr eaLnBrk="1" hangingPunct="1">
                  <a:lnSpc>
                    <a:spcPct val="130000"/>
                  </a:lnSpc>
                  <a:spcBef>
                    <a:spcPct val="0"/>
                  </a:spcBef>
                  <a:buFontTx/>
                  <a:buNone/>
                </a:pPr>
                <a:endParaRPr kumimoji="0" lang="zh-CN" altLang="en-US" sz="2400" b="1" dirty="0"/>
              </a:p>
              <a:p>
                <a:pPr eaLnBrk="1" hangingPunct="1">
                  <a:lnSpc>
                    <a:spcPct val="130000"/>
                  </a:lnSpc>
                  <a:spcBef>
                    <a:spcPct val="0"/>
                  </a:spcBef>
                  <a:buFontTx/>
                  <a:buNone/>
                </a:pPr>
                <a:endParaRPr kumimoji="0" lang="zh-CN" altLang="en-US" sz="2400" b="1" dirty="0"/>
              </a:p>
            </p:txBody>
          </p:sp>
        </mc:Choice>
        <mc:Fallback xmlns="">
          <p:sp>
            <p:nvSpPr>
              <p:cNvPr id="7" name="Text Box 3">
                <a:extLst>
                  <a:ext uri="{FF2B5EF4-FFF2-40B4-BE49-F238E27FC236}">
                    <a16:creationId xmlns:a16="http://schemas.microsoft.com/office/drawing/2014/main" id="{25CE4DB9-E79F-47EF-AD1D-07DB8DF666AD}"/>
                  </a:ext>
                </a:extLst>
              </p:cNvPr>
              <p:cNvSpPr txBox="1">
                <a:spLocks noRot="1" noChangeAspect="1" noMove="1" noResize="1" noEditPoints="1" noAdjustHandles="1" noChangeArrowheads="1" noChangeShapeType="1" noTextEdit="1"/>
              </p:cNvSpPr>
              <p:nvPr/>
            </p:nvSpPr>
            <p:spPr bwMode="auto">
              <a:xfrm>
                <a:off x="1055688" y="974952"/>
                <a:ext cx="9772146" cy="5381244"/>
              </a:xfrm>
              <a:prstGeom prst="rect">
                <a:avLst/>
              </a:prstGeom>
              <a:blipFill>
                <a:blip r:embed="rId5"/>
                <a:stretch>
                  <a:fillRect l="-936" t="-340" b="-135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4">
                <a:extLst>
                  <a:ext uri="{FF2B5EF4-FFF2-40B4-BE49-F238E27FC236}">
                    <a16:creationId xmlns:a16="http://schemas.microsoft.com/office/drawing/2014/main" id="{CD703B15-6CF7-41BC-BFF8-CDDB619BAF9C}"/>
                  </a:ext>
                </a:extLst>
              </p:cNvPr>
              <p:cNvSpPr txBox="1">
                <a:spLocks noGrp="1"/>
              </p:cNvSpPr>
              <p:nvPr>
                <p:ph idx="1"/>
              </p:nvPr>
            </p:nvSpPr>
            <p:spPr bwMode="auto">
              <a:xfrm>
                <a:off x="3125710" y="1869280"/>
                <a:ext cx="3960812" cy="1046163"/>
              </a:xfrm>
              <a:prstGeom prst="rect">
                <a:avLst/>
              </a:prstGeom>
              <a:noFill/>
              <a:ln>
                <a:noFill/>
              </a:ln>
              <a:effectLst/>
            </p:spPr>
            <p:txBody>
              <a:bodyPr>
                <a:normAutofit fontScale="92500"/>
              </a:bodyPr>
              <a:lstStyle/>
              <a:p>
                <a:pPr>
                  <a:buNone/>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𝜒</m:t>
                          </m:r>
                        </m:e>
                        <m:sub>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1, </m:t>
                                </m:r>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′  </m:t>
                                </m:r>
                              </m:e>
                            </m:mr>
                            <m:mr>
                              <m:e>
                                <m:r>
                                  <a:rPr lang="zh-CN" altLang="en-US" i="1">
                                    <a:solidFill>
                                      <a:srgbClr val="000000"/>
                                    </a:solidFill>
                                    <a:latin typeface="Cambria Math" panose="02040503050406030204" pitchFamily="18" charset="0"/>
                                  </a:rPr>
                                  <m:t>0, </m:t>
                                </m:r>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e>
                            </m:mr>
                          </m:m>
                        </m:e>
                      </m:d>
                    </m:oMath>
                  </m:oMathPara>
                </a14:m>
                <a:endParaRPr lang="zh-CN" altLang="en-US" dirty="0"/>
              </a:p>
            </p:txBody>
          </p:sp>
        </mc:Choice>
        <mc:Fallback>
          <p:sp>
            <p:nvSpPr>
              <p:cNvPr id="8" name="Object 4">
                <a:extLst>
                  <a:ext uri="{FF2B5EF4-FFF2-40B4-BE49-F238E27FC236}">
                    <a16:creationId xmlns:a16="http://schemas.microsoft.com/office/drawing/2014/main" id="{CD703B15-6CF7-41BC-BFF8-CDDB619BAF9C}"/>
                  </a:ext>
                </a:extLst>
              </p:cNvPr>
              <p:cNvSpPr txBox="1">
                <a:spLocks noGrp="1" noRot="1" noChangeAspect="1" noMove="1" noResize="1" noEditPoints="1" noAdjustHandles="1" noChangeArrowheads="1" noChangeShapeType="1" noTextEdit="1"/>
              </p:cNvSpPr>
              <p:nvPr>
                <p:ph idx="1"/>
              </p:nvPr>
            </p:nvSpPr>
            <p:spPr bwMode="auto">
              <a:xfrm>
                <a:off x="3125710" y="1869280"/>
                <a:ext cx="3960812" cy="1046163"/>
              </a:xfrm>
              <a:prstGeom prst="rect">
                <a:avLst/>
              </a:prstGeom>
              <a:blipFill>
                <a:blip r:embed="rId6"/>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4567225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fade">
                                      <p:cBhvr>
                                        <p:cTn id="7" dur="1000"/>
                                        <p:tgtEl>
                                          <p:spTgt spid="7">
                                            <p:txEl>
                                              <p:pRg st="4" end="4"/>
                                            </p:txEl>
                                          </p:spTgt>
                                        </p:tgtEl>
                                      </p:cBhvr>
                                    </p:animEffect>
                                    <p:anim calcmode="lin" valueType="num">
                                      <p:cBhvr>
                                        <p:cTn id="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5" end="5"/>
                                            </p:txEl>
                                          </p:spTgt>
                                        </p:tgtEl>
                                        <p:attrNameLst>
                                          <p:attrName>style.visibility</p:attrName>
                                        </p:attrNameLst>
                                      </p:cBhvr>
                                      <p:to>
                                        <p:strVal val="visible"/>
                                      </p:to>
                                    </p:set>
                                    <p:animEffect transition="in" filter="fade">
                                      <p:cBhvr>
                                        <p:cTn id="12" dur="1000"/>
                                        <p:tgtEl>
                                          <p:spTgt spid="7">
                                            <p:txEl>
                                              <p:pRg st="5" end="5"/>
                                            </p:txEl>
                                          </p:spTgt>
                                        </p:tgtEl>
                                      </p:cBhvr>
                                    </p:animEffect>
                                    <p:anim calcmode="lin" valueType="num">
                                      <p:cBhvr>
                                        <p:cTn id="1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animEffect transition="in" filter="fade">
                                      <p:cBhvr>
                                        <p:cTn id="17" dur="1000"/>
                                        <p:tgtEl>
                                          <p:spTgt spid="7">
                                            <p:txEl>
                                              <p:pRg st="6" end="6"/>
                                            </p:txEl>
                                          </p:spTgt>
                                        </p:tgtEl>
                                      </p:cBhvr>
                                    </p:animEffect>
                                    <p:anim calcmode="lin" valueType="num">
                                      <p:cBhvr>
                                        <p:cTn id="1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7" end="7"/>
                                            </p:txEl>
                                          </p:spTgt>
                                        </p:tgtEl>
                                        <p:attrNameLst>
                                          <p:attrName>style.visibility</p:attrName>
                                        </p:attrNameLst>
                                      </p:cBhvr>
                                      <p:to>
                                        <p:strVal val="visible"/>
                                      </p:to>
                                    </p:set>
                                    <p:animEffect transition="in" filter="fade">
                                      <p:cBhvr>
                                        <p:cTn id="24" dur="1000"/>
                                        <p:tgtEl>
                                          <p:spTgt spid="7">
                                            <p:txEl>
                                              <p:pRg st="7" end="7"/>
                                            </p:txEl>
                                          </p:spTgt>
                                        </p:tgtEl>
                                      </p:cBhvr>
                                    </p:animEffect>
                                    <p:anim calcmode="lin" valueType="num">
                                      <p:cBhvr>
                                        <p:cTn id="25"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5.1.1 Definition of a Function</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Natural mapping</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1" name="Rectangle 3">
            <a:extLst>
              <a:ext uri="{FF2B5EF4-FFF2-40B4-BE49-F238E27FC236}">
                <a16:creationId xmlns:a16="http://schemas.microsoft.com/office/drawing/2014/main" id="{5C550CDE-979B-4A2C-A41A-31732B491E0B}"/>
              </a:ext>
            </a:extLst>
          </p:cNvPr>
          <p:cNvSpPr txBox="1">
            <a:spLocks noChangeArrowheads="1"/>
          </p:cNvSpPr>
          <p:nvPr/>
        </p:nvSpPr>
        <p:spPr>
          <a:xfrm>
            <a:off x="1051922" y="838202"/>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ct val="0"/>
              </a:spcBef>
              <a:buFontTx/>
              <a:buNone/>
            </a:pPr>
            <a:r>
              <a:rPr kumimoji="0" lang="en-US" altLang="zh-CN" sz="2800" b="1" dirty="0">
                <a:solidFill>
                  <a:srgbClr val="FF0000"/>
                </a:solidFill>
              </a:rPr>
              <a:t> </a:t>
            </a:r>
          </a:p>
        </p:txBody>
      </p:sp>
      <p:sp>
        <p:nvSpPr>
          <p:cNvPr id="12" name="Text Box 2">
            <a:extLst>
              <a:ext uri="{FF2B5EF4-FFF2-40B4-BE49-F238E27FC236}">
                <a16:creationId xmlns:a16="http://schemas.microsoft.com/office/drawing/2014/main" id="{61311F05-8FC2-4683-8D87-2A807D6FEC98}"/>
              </a:ext>
            </a:extLst>
          </p:cNvPr>
          <p:cNvSpPr txBox="1">
            <a:spLocks noChangeArrowheads="1"/>
          </p:cNvSpPr>
          <p:nvPr/>
        </p:nvSpPr>
        <p:spPr bwMode="auto">
          <a:xfrm>
            <a:off x="1149416" y="850510"/>
            <a:ext cx="9232372" cy="252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FontTx/>
              <a:buNone/>
            </a:pPr>
            <a:r>
              <a:rPr kumimoji="0" lang="en-US" altLang="zh-CN" sz="2400" b="1" dirty="0">
                <a:solidFill>
                  <a:srgbClr val="0B61FF"/>
                </a:solidFill>
                <a:latin typeface="Trebuchet MS" panose="020B0603020202020204" pitchFamily="34" charset="0"/>
              </a:rPr>
              <a:t>(5) </a:t>
            </a:r>
            <a:r>
              <a:rPr lang="en-US" sz="2400" dirty="0">
                <a:latin typeface="Trebuchet MS" panose="020B0603020202020204" pitchFamily="34" charset="0"/>
              </a:rPr>
              <a:t>Let </a:t>
            </a:r>
            <a:r>
              <a:rPr kumimoji="0" lang="en-US" altLang="zh-CN" sz="2400" b="1" i="1" dirty="0">
                <a:latin typeface="Trebuchet MS" panose="020B0603020202020204" pitchFamily="34" charset="0"/>
              </a:rPr>
              <a:t>R</a:t>
            </a:r>
            <a:r>
              <a:rPr lang="en-US" sz="2400" dirty="0">
                <a:latin typeface="Trebuchet MS" panose="020B0603020202020204" pitchFamily="34" charset="0"/>
              </a:rPr>
              <a:t> be an equivalence relation on </a:t>
            </a:r>
            <a:r>
              <a:rPr kumimoji="0" lang="en-US" altLang="zh-CN" sz="2400" b="1" i="1" dirty="0">
                <a:latin typeface="Trebuchet MS" panose="020B0603020202020204" pitchFamily="34" charset="0"/>
              </a:rPr>
              <a:t>A </a:t>
            </a:r>
            <a:r>
              <a:rPr lang="en-US" sz="2400" dirty="0">
                <a:latin typeface="Trebuchet MS" panose="020B0603020202020204" pitchFamily="34" charset="0"/>
              </a:rPr>
              <a:t>. Define</a:t>
            </a:r>
          </a:p>
          <a:p>
            <a:pPr eaLnBrk="1" hangingPunct="1">
              <a:lnSpc>
                <a:spcPct val="130000"/>
              </a:lnSpc>
              <a:spcBef>
                <a:spcPct val="0"/>
              </a:spcBef>
              <a:buFontTx/>
              <a:buNone/>
            </a:pP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g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p>
          <a:p>
            <a:pPr eaLnBrk="1" hangingPunct="1">
              <a:lnSpc>
                <a:spcPct val="130000"/>
              </a:lnSpc>
              <a:spcBef>
                <a:spcPct val="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p>
          <a:p>
            <a:pPr marL="357188" eaLnBrk="1" hangingPunct="1">
              <a:lnSpc>
                <a:spcPct val="130000"/>
              </a:lnSpc>
              <a:spcBef>
                <a:spcPct val="0"/>
              </a:spcBef>
              <a:buFontTx/>
              <a:buNone/>
            </a:pPr>
            <a:r>
              <a:rPr lang="en-US" sz="2400" dirty="0">
                <a:latin typeface="Trebuchet MS" panose="020B0603020202020204" pitchFamily="34" charset="0"/>
              </a:rPr>
              <a:t>Then </a:t>
            </a:r>
            <a:r>
              <a:rPr kumimoji="0" lang="en-US" altLang="zh-CN" sz="2400" b="1" i="1" dirty="0">
                <a:latin typeface="Trebuchet MS" panose="020B0603020202020204" pitchFamily="34" charset="0"/>
              </a:rPr>
              <a:t>g</a:t>
            </a:r>
            <a:r>
              <a:rPr lang="en-US" sz="2400" dirty="0">
                <a:latin typeface="Trebuchet MS" panose="020B0603020202020204" pitchFamily="34" charset="0"/>
              </a:rPr>
              <a:t> is called the </a:t>
            </a:r>
            <a:r>
              <a:rPr lang="en-US" sz="2400" b="1" i="1" dirty="0">
                <a:latin typeface="Trebuchet MS" panose="020B0603020202020204" pitchFamily="34" charset="0"/>
              </a:rPr>
              <a:t>natural mapping </a:t>
            </a:r>
            <a:r>
              <a:rPr lang="en-US" sz="2400" b="1" dirty="0">
                <a:latin typeface="Trebuchet MS" panose="020B0603020202020204" pitchFamily="34" charset="0"/>
              </a:rPr>
              <a:t>(function)</a:t>
            </a:r>
            <a:r>
              <a:rPr lang="en-US" sz="2400" dirty="0">
                <a:latin typeface="Trebuchet MS" panose="020B0603020202020204" pitchFamily="34" charset="0"/>
              </a:rPr>
              <a:t> from </a:t>
            </a:r>
            <a:r>
              <a:rPr kumimoji="0" lang="en-US" altLang="zh-CN" sz="2400" b="1" i="1" dirty="0">
                <a:latin typeface="Trebuchet MS" panose="020B0603020202020204" pitchFamily="34" charset="0"/>
              </a:rPr>
              <a:t>A</a:t>
            </a:r>
            <a:r>
              <a:rPr lang="en-US" sz="2400" dirty="0">
                <a:latin typeface="Trebuchet MS" panose="020B0603020202020204" pitchFamily="34" charset="0"/>
              </a:rPr>
              <a:t> to the quotient set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endParaRPr kumimoji="0" lang="en-US" altLang="zh-CN" sz="2400" b="1" dirty="0">
              <a:latin typeface="Trebuchet MS" panose="020B0603020202020204" pitchFamily="34" charset="0"/>
            </a:endParaRPr>
          </a:p>
        </p:txBody>
      </p:sp>
      <p:pic>
        <p:nvPicPr>
          <p:cNvPr id="41" name="Picture 6">
            <a:extLst>
              <a:ext uri="{FF2B5EF4-FFF2-40B4-BE49-F238E27FC236}">
                <a16:creationId xmlns:a16="http://schemas.microsoft.com/office/drawing/2014/main" id="{F620BDCE-EC73-4E94-A0DF-DDB3B492A4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7318" y="3249613"/>
            <a:ext cx="4752975"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7691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5.1.1 Definition of a Function</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Equivalence relation’s impact on natural mapping</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1" name="Rectangle 3">
            <a:extLst>
              <a:ext uri="{FF2B5EF4-FFF2-40B4-BE49-F238E27FC236}">
                <a16:creationId xmlns:a16="http://schemas.microsoft.com/office/drawing/2014/main" id="{5C550CDE-979B-4A2C-A41A-31732B491E0B}"/>
              </a:ext>
            </a:extLst>
          </p:cNvPr>
          <p:cNvSpPr txBox="1">
            <a:spLocks noChangeArrowheads="1"/>
          </p:cNvSpPr>
          <p:nvPr/>
        </p:nvSpPr>
        <p:spPr>
          <a:xfrm>
            <a:off x="1051921" y="838202"/>
            <a:ext cx="10734917"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600"/>
              </a:spcBef>
              <a:buClr>
                <a:srgbClr val="0B61FF"/>
              </a:buClr>
              <a:buSzPct val="80000"/>
              <a:buFont typeface="Wingdings" panose="05000000000000000000" pitchFamily="2" charset="2"/>
              <a:buChar char="n"/>
            </a:pPr>
            <a:r>
              <a:rPr lang="en-US" sz="2400" dirty="0">
                <a:latin typeface="Trebuchet MS" panose="020B0603020202020204" pitchFamily="34" charset="0"/>
              </a:rPr>
              <a:t>Given a set </a:t>
            </a:r>
            <a:r>
              <a:rPr kumimoji="0" lang="en-US" altLang="zh-CN" sz="2400" b="1" i="1" dirty="0">
                <a:latin typeface="Trebuchet MS" panose="020B0603020202020204" pitchFamily="34" charset="0"/>
              </a:rPr>
              <a:t>A </a:t>
            </a:r>
            <a:r>
              <a:rPr lang="en-US" sz="2400" dirty="0">
                <a:latin typeface="Trebuchet MS" panose="020B0603020202020204" pitchFamily="34" charset="0"/>
              </a:rPr>
              <a:t>and an equivalence relation </a:t>
            </a:r>
            <a:r>
              <a:rPr kumimoji="0" lang="en-US" altLang="zh-CN" sz="2400" b="1" i="1" dirty="0">
                <a:latin typeface="Trebuchet MS" panose="020B0603020202020204" pitchFamily="34" charset="0"/>
              </a:rPr>
              <a:t>R on A, </a:t>
            </a:r>
            <a:r>
              <a:rPr lang="en-US" sz="2400" dirty="0">
                <a:latin typeface="Trebuchet MS" panose="020B0603020202020204" pitchFamily="34" charset="0"/>
              </a:rPr>
              <a:t>a </a:t>
            </a:r>
            <a:r>
              <a:rPr lang="en-US" sz="2400" b="1" i="1" dirty="0">
                <a:latin typeface="Trebuchet MS" panose="020B0603020202020204" pitchFamily="34" charset="0"/>
              </a:rPr>
              <a:t>natural mapping</a:t>
            </a:r>
            <a:r>
              <a:rPr kumimoji="0" lang="en-US" altLang="zh-CN" sz="2400" b="1" i="1" dirty="0">
                <a:latin typeface="Trebuchet MS" panose="020B0603020202020204" pitchFamily="34" charset="0"/>
              </a:rPr>
              <a:t> </a:t>
            </a:r>
            <a:r>
              <a:rPr kumimoji="0" lang="en-US" altLang="zh-CN" sz="2400" b="1" i="1" dirty="0">
                <a:solidFill>
                  <a:srgbClr val="FF0000"/>
                </a:solidFill>
                <a:latin typeface="Trebuchet MS" panose="020B0603020202020204" pitchFamily="34" charset="0"/>
              </a:rPr>
              <a:t>g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R</a:t>
            </a:r>
            <a:r>
              <a:rPr lang="en-US" altLang="zh-CN" sz="2400" b="1" i="1" dirty="0">
                <a:latin typeface="Trebuchet MS" panose="020B0603020202020204" pitchFamily="34" charset="0"/>
              </a:rPr>
              <a:t> </a:t>
            </a:r>
            <a:r>
              <a:rPr lang="en-US" sz="2400" dirty="0">
                <a:latin typeface="Trebuchet MS" panose="020B0603020202020204" pitchFamily="34" charset="0"/>
              </a:rPr>
              <a:t>can be determined. </a:t>
            </a:r>
          </a:p>
          <a:p>
            <a:pPr eaLnBrk="1" hangingPunct="1">
              <a:lnSpc>
                <a:spcPct val="120000"/>
              </a:lnSpc>
              <a:spcBef>
                <a:spcPts val="6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Natural mappings vary with the equivalence relation: </a:t>
            </a:r>
          </a:p>
          <a:p>
            <a:pPr indent="39688" eaLnBrk="1" hangingPunct="1">
              <a:lnSpc>
                <a:spcPct val="120000"/>
              </a:lnSpc>
              <a:spcBef>
                <a:spcPts val="600"/>
              </a:spcBef>
              <a:buClr>
                <a:srgbClr val="0B61FF"/>
              </a:buClr>
              <a:buSzPct val="120000"/>
            </a:pPr>
            <a:r>
              <a:rPr lang="en-US" altLang="zh-CN" sz="2400" dirty="0">
                <a:latin typeface="Trebuchet MS" panose="020B0603020202020204" pitchFamily="34" charset="0"/>
              </a:rPr>
              <a:t>The </a:t>
            </a:r>
            <a:r>
              <a:rPr lang="en-US" altLang="zh-CN" sz="2400" b="1" dirty="0">
                <a:latin typeface="Trebuchet MS" panose="020B0603020202020204" pitchFamily="34" charset="0"/>
              </a:rPr>
              <a:t>identity relation </a:t>
            </a:r>
            <a:r>
              <a:rPr lang="en-US" altLang="zh-CN" sz="2400" dirty="0">
                <a:latin typeface="Trebuchet MS" panose="020B0603020202020204" pitchFamily="34" charset="0"/>
              </a:rPr>
              <a:t>yields a </a:t>
            </a:r>
            <a:r>
              <a:rPr lang="en-US" altLang="zh-CN" sz="2400" b="1" dirty="0">
                <a:latin typeface="Trebuchet MS" panose="020B0603020202020204" pitchFamily="34" charset="0"/>
              </a:rPr>
              <a:t>bijection.</a:t>
            </a:r>
          </a:p>
          <a:p>
            <a:pPr indent="39688" eaLnBrk="1" hangingPunct="1">
              <a:lnSpc>
                <a:spcPct val="120000"/>
              </a:lnSpc>
              <a:spcBef>
                <a:spcPts val="600"/>
              </a:spcBef>
              <a:buClr>
                <a:srgbClr val="0B61FF"/>
              </a:buClr>
              <a:buSzPct val="120000"/>
            </a:pPr>
            <a:r>
              <a:rPr lang="en-US" altLang="zh-CN" sz="2400" dirty="0">
                <a:latin typeface="Trebuchet MS" panose="020B0603020202020204" pitchFamily="34" charset="0"/>
              </a:rPr>
              <a:t>Others equivalence relations are generally </a:t>
            </a:r>
            <a:r>
              <a:rPr lang="en-US" altLang="zh-CN" sz="2400" b="1" dirty="0">
                <a:latin typeface="Trebuchet MS" panose="020B0603020202020204" pitchFamily="34" charset="0"/>
              </a:rPr>
              <a:t>surjections</a:t>
            </a:r>
            <a:r>
              <a:rPr lang="en-US" altLang="zh-CN" sz="2400" dirty="0">
                <a:latin typeface="Trebuchet MS" panose="020B0603020202020204" pitchFamily="34" charset="0"/>
              </a:rPr>
              <a:t> only.</a:t>
            </a:r>
          </a:p>
          <a:p>
            <a:pPr eaLnBrk="1" hangingPunct="1">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r>
              <a:rPr kumimoji="0" lang="zh-CN" altLang="en-US" sz="2400" b="1" dirty="0">
                <a:latin typeface="Trebuchet MS" panose="020B0603020202020204" pitchFamily="34" charset="0"/>
              </a:rPr>
              <a:t>：</a:t>
            </a:r>
            <a:r>
              <a:rPr kumimoji="0" lang="en-US" altLang="zh-CN" sz="2400" dirty="0">
                <a:latin typeface="Trebuchet MS" panose="020B0603020202020204" pitchFamily="34" charset="0"/>
              </a:rPr>
              <a:t>Let</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={1, 2, 3},</a:t>
            </a:r>
          </a:p>
          <a:p>
            <a:pPr indent="39688" eaLnBrk="1" hangingPunct="1">
              <a:lnSpc>
                <a:spcPct val="120000"/>
              </a:lnSpc>
              <a:spcBef>
                <a:spcPts val="600"/>
              </a:spcBef>
              <a:buClr>
                <a:srgbClr val="0B61FF"/>
              </a:buClr>
              <a:buSzPct val="120000"/>
            </a:pPr>
            <a:r>
              <a:rPr lang="en-US" sz="2400" b="1" dirty="0">
                <a:latin typeface="Trebuchet MS" panose="020B0603020202020204" pitchFamily="34" charset="0"/>
              </a:rPr>
              <a:t>Equivalence relation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 R</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={&lt;1,2&gt;,&lt;2,1&gt;}∪</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a:t>
            </a:r>
          </a:p>
          <a:p>
            <a:pPr indent="0" eaLnBrk="1" hangingPunct="1">
              <a:lnSpc>
                <a:spcPct val="120000"/>
              </a:lnSpc>
              <a:spcBef>
                <a:spcPts val="600"/>
              </a:spcBef>
              <a:buClr>
                <a:srgbClr val="0B61FF"/>
              </a:buClr>
              <a:buSzPct val="120000"/>
              <a:buNone/>
            </a:pPr>
            <a:r>
              <a:rPr lang="en-US" sz="2400" b="1" dirty="0">
                <a:latin typeface="Trebuchet MS" panose="020B0603020202020204" pitchFamily="34" charset="0"/>
              </a:rPr>
              <a:t> Natural mapping </a:t>
            </a:r>
            <a:r>
              <a:rPr kumimoji="0" lang="zh-CN" altLang="en-US" sz="2400" b="1" dirty="0">
                <a:latin typeface="Trebuchet MS" panose="020B0603020202020204" pitchFamily="34" charset="0"/>
              </a:rPr>
              <a:t>：</a:t>
            </a:r>
            <a:r>
              <a:rPr kumimoji="0" lang="en-US" altLang="zh-CN" sz="2400" b="1" i="1" dirty="0">
                <a:latin typeface="Trebuchet MS" panose="020B0603020202020204" pitchFamily="34" charset="0"/>
              </a:rPr>
              <a:t>g</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(1) =</a:t>
            </a:r>
            <a:r>
              <a:rPr kumimoji="0" lang="en-US" altLang="zh-CN" sz="2400" b="1" i="1" dirty="0">
                <a:latin typeface="Trebuchet MS" panose="020B0603020202020204" pitchFamily="34" charset="0"/>
              </a:rPr>
              <a:t> g</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(2) = {1,2},  </a:t>
            </a:r>
            <a:r>
              <a:rPr kumimoji="0" lang="en-US" altLang="zh-CN" sz="2400" b="1" i="1" dirty="0">
                <a:latin typeface="Trebuchet MS" panose="020B0603020202020204" pitchFamily="34" charset="0"/>
              </a:rPr>
              <a:t>g</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(3) = {3}</a:t>
            </a:r>
          </a:p>
          <a:p>
            <a:pPr indent="39688" eaLnBrk="1" hangingPunct="1">
              <a:lnSpc>
                <a:spcPct val="120000"/>
              </a:lnSpc>
              <a:spcBef>
                <a:spcPts val="600"/>
              </a:spcBef>
              <a:buClr>
                <a:srgbClr val="0B61FF"/>
              </a:buClr>
              <a:buSzPct val="120000"/>
            </a:pPr>
            <a:r>
              <a:rPr lang="en-US" sz="2400" b="1" dirty="0">
                <a:latin typeface="Trebuchet MS" panose="020B0603020202020204" pitchFamily="34" charset="0"/>
              </a:rPr>
              <a:t>Equivalence relation</a:t>
            </a:r>
            <a:r>
              <a:rPr kumimoji="0" lang="zh-CN" altLang="en-US" sz="2400" b="1" dirty="0">
                <a:latin typeface="Trebuchet MS" panose="020B0603020202020204" pitchFamily="34" charset="0"/>
              </a:rPr>
              <a:t>：</a:t>
            </a:r>
            <a:r>
              <a:rPr kumimoji="0" lang="en-US" altLang="zh-CN" sz="2400" b="1" i="1" dirty="0">
                <a:latin typeface="Trebuchet MS" panose="020B0603020202020204" pitchFamily="34" charset="0"/>
              </a:rPr>
              <a:t>I</a:t>
            </a:r>
            <a:r>
              <a:rPr kumimoji="0" lang="en-US" altLang="zh-CN" sz="2400" b="1" i="1" baseline="-25000" dirty="0">
                <a:latin typeface="Trebuchet MS" panose="020B0603020202020204" pitchFamily="34" charset="0"/>
              </a:rPr>
              <a:t>A</a:t>
            </a:r>
          </a:p>
          <a:p>
            <a:pPr eaLnBrk="1" hangingPunct="1">
              <a:lnSpc>
                <a:spcPct val="120000"/>
              </a:lnSpc>
              <a:spcBef>
                <a:spcPts val="600"/>
              </a:spcBef>
              <a:buFontTx/>
              <a:buNone/>
            </a:pPr>
            <a:r>
              <a:rPr lang="en-US" sz="2400" b="1" dirty="0">
                <a:latin typeface="Trebuchet MS" panose="020B0603020202020204" pitchFamily="34" charset="0"/>
              </a:rPr>
              <a:t>    Natural mapping</a:t>
            </a:r>
            <a:r>
              <a:rPr kumimoji="0" lang="zh-CN" altLang="en-US" sz="2400" b="1" dirty="0">
                <a:latin typeface="Trebuchet MS" panose="020B0603020202020204" pitchFamily="34" charset="0"/>
              </a:rPr>
              <a:t>：</a:t>
            </a:r>
            <a:r>
              <a:rPr kumimoji="0" lang="en-US" altLang="zh-CN" sz="2400" b="1" i="1" dirty="0">
                <a:latin typeface="Trebuchet MS" panose="020B0603020202020204" pitchFamily="34" charset="0"/>
              </a:rPr>
              <a:t>g</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(1)={1},</a:t>
            </a:r>
            <a:r>
              <a:rPr kumimoji="0" lang="en-US" altLang="zh-CN" sz="2400" b="1" i="1" dirty="0">
                <a:latin typeface="Trebuchet MS" panose="020B0603020202020204" pitchFamily="34" charset="0"/>
              </a:rPr>
              <a:t> g</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(2)={2}, </a:t>
            </a:r>
            <a:r>
              <a:rPr kumimoji="0" lang="en-US" altLang="zh-CN" sz="2400" b="1" i="1" dirty="0">
                <a:latin typeface="Trebuchet MS" panose="020B0603020202020204" pitchFamily="34" charset="0"/>
              </a:rPr>
              <a:t>g</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(3)={3}</a:t>
            </a:r>
          </a:p>
        </p:txBody>
      </p:sp>
    </p:spTree>
    <p:extLst>
      <p:ext uri="{BB962C8B-B14F-4D97-AF65-F5344CB8AC3E}">
        <p14:creationId xmlns:p14="http://schemas.microsoft.com/office/powerpoint/2010/main" val="33748577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1000"/>
                                        <p:tgtEl>
                                          <p:spTgt spid="11">
                                            <p:txEl>
                                              <p:pRg st="2" end="2"/>
                                            </p:txEl>
                                          </p:spTgt>
                                        </p:tgtEl>
                                      </p:cBhvr>
                                    </p:animEffect>
                                    <p:anim calcmode="lin" valueType="num">
                                      <p:cBhvr>
                                        <p:cTn id="13"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fade">
                                      <p:cBhvr>
                                        <p:cTn id="17" dur="1000"/>
                                        <p:tgtEl>
                                          <p:spTgt spid="11">
                                            <p:txEl>
                                              <p:pRg st="3" end="3"/>
                                            </p:txEl>
                                          </p:spTgt>
                                        </p:tgtEl>
                                      </p:cBhvr>
                                    </p:animEffect>
                                    <p:anim calcmode="lin" valueType="num">
                                      <p:cBhvr>
                                        <p:cTn id="18"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fade">
                                      <p:cBhvr>
                                        <p:cTn id="24" dur="1000"/>
                                        <p:tgtEl>
                                          <p:spTgt spid="11">
                                            <p:txEl>
                                              <p:pRg st="4" end="4"/>
                                            </p:txEl>
                                          </p:spTgt>
                                        </p:tgtEl>
                                      </p:cBhvr>
                                    </p:animEffect>
                                    <p:anim calcmode="lin" valueType="num">
                                      <p:cBhvr>
                                        <p:cTn id="25"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1">
                                            <p:txEl>
                                              <p:pRg st="5" end="5"/>
                                            </p:txEl>
                                          </p:spTgt>
                                        </p:tgtEl>
                                        <p:attrNameLst>
                                          <p:attrName>style.visibility</p:attrName>
                                        </p:attrNameLst>
                                      </p:cBhvr>
                                      <p:to>
                                        <p:strVal val="visible"/>
                                      </p:to>
                                    </p:set>
                                    <p:animEffect transition="in" filter="fade">
                                      <p:cBhvr>
                                        <p:cTn id="29" dur="1000"/>
                                        <p:tgtEl>
                                          <p:spTgt spid="11">
                                            <p:txEl>
                                              <p:pRg st="5" end="5"/>
                                            </p:txEl>
                                          </p:spTgt>
                                        </p:tgtEl>
                                      </p:cBhvr>
                                    </p:animEffect>
                                    <p:anim calcmode="lin" valueType="num">
                                      <p:cBhvr>
                                        <p:cTn id="30"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1">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1">
                                            <p:txEl>
                                              <p:pRg st="6" end="6"/>
                                            </p:txEl>
                                          </p:spTgt>
                                        </p:tgtEl>
                                        <p:attrNameLst>
                                          <p:attrName>style.visibility</p:attrName>
                                        </p:attrNameLst>
                                      </p:cBhvr>
                                      <p:to>
                                        <p:strVal val="visible"/>
                                      </p:to>
                                    </p:set>
                                    <p:animEffect transition="in" filter="fade">
                                      <p:cBhvr>
                                        <p:cTn id="34" dur="1000"/>
                                        <p:tgtEl>
                                          <p:spTgt spid="11">
                                            <p:txEl>
                                              <p:pRg st="6" end="6"/>
                                            </p:txEl>
                                          </p:spTgt>
                                        </p:tgtEl>
                                      </p:cBhvr>
                                    </p:animEffect>
                                    <p:anim calcmode="lin" valueType="num">
                                      <p:cBhvr>
                                        <p:cTn id="35"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1">
                                            <p:txEl>
                                              <p:pRg st="7" end="7"/>
                                            </p:txEl>
                                          </p:spTgt>
                                        </p:tgtEl>
                                        <p:attrNameLst>
                                          <p:attrName>style.visibility</p:attrName>
                                        </p:attrNameLst>
                                      </p:cBhvr>
                                      <p:to>
                                        <p:strVal val="visible"/>
                                      </p:to>
                                    </p:set>
                                    <p:animEffect transition="in" filter="fade">
                                      <p:cBhvr>
                                        <p:cTn id="41" dur="1000"/>
                                        <p:tgtEl>
                                          <p:spTgt spid="11">
                                            <p:txEl>
                                              <p:pRg st="7" end="7"/>
                                            </p:txEl>
                                          </p:spTgt>
                                        </p:tgtEl>
                                      </p:cBhvr>
                                    </p:animEffect>
                                    <p:anim calcmode="lin" valueType="num">
                                      <p:cBhvr>
                                        <p:cTn id="42"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11">
                                            <p:txEl>
                                              <p:pRg st="7" end="7"/>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1">
                                            <p:txEl>
                                              <p:pRg st="8" end="8"/>
                                            </p:txEl>
                                          </p:spTgt>
                                        </p:tgtEl>
                                        <p:attrNameLst>
                                          <p:attrName>style.visibility</p:attrName>
                                        </p:attrNameLst>
                                      </p:cBhvr>
                                      <p:to>
                                        <p:strVal val="visible"/>
                                      </p:to>
                                    </p:set>
                                    <p:animEffect transition="in" filter="fade">
                                      <p:cBhvr>
                                        <p:cTn id="46" dur="1000"/>
                                        <p:tgtEl>
                                          <p:spTgt spid="11">
                                            <p:txEl>
                                              <p:pRg st="8" end="8"/>
                                            </p:txEl>
                                          </p:spTgt>
                                        </p:tgtEl>
                                      </p:cBhvr>
                                    </p:animEffect>
                                    <p:anim calcmode="lin" valueType="num">
                                      <p:cBhvr>
                                        <p:cTn id="47" dur="1000" fill="hold"/>
                                        <p:tgtEl>
                                          <p:spTgt spid="11">
                                            <p:txEl>
                                              <p:pRg st="8" end="8"/>
                                            </p:txEl>
                                          </p:spTgt>
                                        </p:tgtEl>
                                        <p:attrNameLst>
                                          <p:attrName>ppt_x</p:attrName>
                                        </p:attrNameLst>
                                      </p:cBhvr>
                                      <p:tavLst>
                                        <p:tav tm="0">
                                          <p:val>
                                            <p:strVal val="#ppt_x"/>
                                          </p:val>
                                        </p:tav>
                                        <p:tav tm="100000">
                                          <p:val>
                                            <p:strVal val="#ppt_x"/>
                                          </p:val>
                                        </p:tav>
                                      </p:tavLst>
                                    </p:anim>
                                    <p:anim calcmode="lin" valueType="num">
                                      <p:cBhvr>
                                        <p:cTn id="48" dur="1000" fill="hold"/>
                                        <p:tgtEl>
                                          <p:spTgt spid="11">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62865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800" b="1" dirty="0">
                <a:latin typeface="Trebuchet MS" panose="020B0603020202020204" pitchFamily="34" charset="0"/>
              </a:rPr>
              <a:t>              </a:t>
            </a:r>
            <a:r>
              <a:rPr lang="en-US" altLang="zh-CN" sz="2000" b="1" dirty="0">
                <a:latin typeface="Trebuchet MS" panose="020B0603020202020204" pitchFamily="34" charset="0"/>
              </a:rPr>
              <a:t>5.1.1 Definition of a Function</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The order of a complexity function </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1" name="Rectangle 3">
            <a:extLst>
              <a:ext uri="{FF2B5EF4-FFF2-40B4-BE49-F238E27FC236}">
                <a16:creationId xmlns:a16="http://schemas.microsoft.com/office/drawing/2014/main" id="{5C550CDE-979B-4A2C-A41A-31732B491E0B}"/>
              </a:ext>
            </a:extLst>
          </p:cNvPr>
          <p:cNvSpPr txBox="1">
            <a:spLocks noChangeArrowheads="1"/>
          </p:cNvSpPr>
          <p:nvPr/>
        </p:nvSpPr>
        <p:spPr>
          <a:xfrm>
            <a:off x="1051922" y="637480"/>
            <a:ext cx="10244263"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kumimoji="0" lang="en-US" altLang="zh-CN" sz="2400" b="1" i="1" dirty="0">
                <a:latin typeface="Trebuchet MS" panose="020B0603020202020204" pitchFamily="34" charset="0"/>
              </a:rPr>
              <a:t>W </a:t>
            </a:r>
            <a:r>
              <a:rPr kumimoji="0" lang="en-US" altLang="zh-CN" sz="2400" b="1" dirty="0">
                <a:latin typeface="Trebuchet MS" panose="020B0603020202020204" pitchFamily="34" charset="0"/>
              </a:rPr>
              <a:t>: Z</a:t>
            </a:r>
            <a:r>
              <a:rPr kumimoji="0" lang="en-US" altLang="zh-CN" sz="2400" b="1" baseline="30000"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Z</a:t>
            </a:r>
            <a:r>
              <a:rPr kumimoji="0" lang="en-US" altLang="zh-CN" sz="2400" b="1" baseline="30000" dirty="0">
                <a:latin typeface="Trebuchet MS" panose="020B0603020202020204" pitchFamily="34" charset="0"/>
              </a:rPr>
              <a:t>+ </a:t>
            </a:r>
            <a:r>
              <a:rPr lang="en-US" sz="2400" dirty="0">
                <a:latin typeface="Trebuchet MS" panose="020B0603020202020204" pitchFamily="34" charset="0"/>
              </a:rPr>
              <a:t>be the </a:t>
            </a:r>
            <a:r>
              <a:rPr lang="en-US" sz="2400" b="1" i="1" dirty="0">
                <a:latin typeface="Trebuchet MS" panose="020B0603020202020204" pitchFamily="34" charset="0"/>
              </a:rPr>
              <a:t>time complexity function</a:t>
            </a:r>
            <a:r>
              <a:rPr lang="en-US" sz="2400" i="1" dirty="0">
                <a:latin typeface="Trebuchet MS" panose="020B0603020202020204" pitchFamily="34" charset="0"/>
              </a:rPr>
              <a:t> </a:t>
            </a:r>
            <a:r>
              <a:rPr lang="en-US" sz="2400" dirty="0">
                <a:latin typeface="Trebuchet MS" panose="020B0603020202020204" pitchFamily="34" charset="0"/>
              </a:rPr>
              <a:t>of an algorithm. </a:t>
            </a:r>
            <a:r>
              <a:rPr lang="en-US" altLang="zh-CN" sz="2400" dirty="0">
                <a:latin typeface="Trebuchet MS" panose="020B0603020202020204" pitchFamily="34" charset="0"/>
              </a:rPr>
              <a:t>It is a discrete, monotonically increasing function defined on positive integers.</a:t>
            </a:r>
          </a:p>
          <a:p>
            <a:pPr>
              <a:lnSpc>
                <a:spcPct val="120000"/>
              </a:lnSpc>
              <a:spcBef>
                <a:spcPts val="300"/>
              </a:spcBef>
              <a:buClr>
                <a:srgbClr val="0B61FF"/>
              </a:buClr>
              <a:buSzPct val="80000"/>
              <a:buFont typeface="Wingdings" panose="05000000000000000000" pitchFamily="2" charset="2"/>
              <a:buChar char="n"/>
            </a:pPr>
            <a:r>
              <a:rPr lang="en-US" sz="2400" dirty="0">
                <a:latin typeface="Trebuchet MS" panose="020B0603020202020204" pitchFamily="34" charset="0"/>
              </a:rPr>
              <a:t>The meaning of  </a:t>
            </a:r>
            <a:r>
              <a:rPr kumimoji="0" lang="en-US" altLang="zh-CN" sz="2400" b="1" i="1" dirty="0">
                <a:latin typeface="Trebuchet MS" panose="020B0603020202020204" pitchFamily="34" charset="0"/>
              </a:rPr>
              <a:t>W</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a:t>
            </a:r>
            <a:r>
              <a:rPr lang="en-US" altLang="zh-CN" sz="2400" b="1" dirty="0">
                <a:latin typeface="Trebuchet MS" panose="020B0603020202020204" pitchFamily="34" charset="0"/>
              </a:rPr>
              <a:t>:</a:t>
            </a:r>
            <a:r>
              <a:rPr lang="zh-CN" altLang="en-US" sz="2400" b="1" dirty="0">
                <a:latin typeface="Trebuchet MS" panose="020B0603020202020204" pitchFamily="34" charset="0"/>
              </a:rPr>
              <a:t> </a:t>
            </a:r>
            <a:r>
              <a:rPr lang="en-US" sz="2400" dirty="0">
                <a:latin typeface="Trebuchet MS" panose="020B0603020202020204" pitchFamily="34" charset="0"/>
              </a:rPr>
              <a:t>For an input of size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n</a:t>
            </a:r>
            <a:r>
              <a:rPr lang="en-US" sz="2400" dirty="0">
                <a:latin typeface="Trebuchet MS" panose="020B0603020202020204" pitchFamily="34" charset="0"/>
              </a:rPr>
              <a:t>, the number of basic operations executed by the algorithm in the </a:t>
            </a:r>
            <a:r>
              <a:rPr lang="en-US" sz="2400" b="1" dirty="0">
                <a:latin typeface="Trebuchet MS" panose="020B0603020202020204" pitchFamily="34" charset="0"/>
              </a:rPr>
              <a:t>worst case</a:t>
            </a:r>
            <a:r>
              <a:rPr lang="en-US" sz="2400" dirty="0">
                <a:latin typeface="Trebuchet MS" panose="020B0603020202020204" pitchFamily="34" charset="0"/>
              </a:rPr>
              <a:t> is </a:t>
            </a:r>
            <a:r>
              <a:rPr kumimoji="0" lang="en-US" altLang="zh-CN" sz="2400" b="1" i="1" dirty="0">
                <a:latin typeface="Trebuchet MS" panose="020B0603020202020204" pitchFamily="34" charset="0"/>
              </a:rPr>
              <a:t>W</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  </a:t>
            </a:r>
          </a:p>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Asymptotic notation</a:t>
            </a:r>
            <a:r>
              <a:rPr lang="en-US" sz="2400" dirty="0">
                <a:latin typeface="Trebuchet MS" panose="020B0603020202020204" pitchFamily="34" charset="0"/>
              </a:rPr>
              <a:t> for the order of a complexity function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 </a:t>
            </a:r>
            <a:r>
              <a:rPr kumimoji="0" lang="zh-CN" altLang="en-US" sz="2400" b="1" dirty="0">
                <a:latin typeface="Trebuchet MS" panose="020B0603020202020204" pitchFamily="34" charset="0"/>
              </a:rPr>
              <a:t>：</a:t>
            </a:r>
          </a:p>
          <a:p>
            <a:pPr eaLnBrk="1" hangingPunct="1">
              <a:lnSpc>
                <a:spcPct val="120000"/>
              </a:lnSpc>
              <a:spcBef>
                <a:spcPts val="300"/>
              </a:spcBef>
              <a:buFontTx/>
              <a:buNone/>
            </a:pP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O</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g</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 </a:t>
            </a:r>
            <a:r>
              <a:rPr kumimoji="0" lang="en-US" altLang="zh-CN"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sym typeface="Symbol" panose="05050102010706020507" pitchFamily="18" charset="2"/>
              </a:rPr>
              <a:t>f</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a:t>
            </a:r>
            <a:r>
              <a:rPr lang="en-US" sz="2400" dirty="0">
                <a:latin typeface="Trebuchet MS" panose="020B0603020202020204" pitchFamily="34" charset="0"/>
              </a:rPr>
              <a:t> is </a:t>
            </a:r>
            <a:r>
              <a:rPr lang="en-US" sz="2400" b="1" dirty="0">
                <a:latin typeface="Trebuchet MS" panose="020B0603020202020204" pitchFamily="34" charset="0"/>
              </a:rPr>
              <a:t>no more than</a:t>
            </a:r>
            <a:r>
              <a:rPr lang="en-US" sz="2400" dirty="0">
                <a:latin typeface="Trebuchet MS" panose="020B0603020202020204" pitchFamily="34" charset="0"/>
              </a:rPr>
              <a:t> that of </a:t>
            </a:r>
            <a:r>
              <a:rPr kumimoji="0" lang="en-US" altLang="zh-CN" sz="2400" b="1" i="1" dirty="0">
                <a:latin typeface="Trebuchet MS" panose="020B0603020202020204" pitchFamily="34" charset="0"/>
                <a:sym typeface="Symbol" panose="05050102010706020507" pitchFamily="18" charset="2"/>
              </a:rPr>
              <a:t>g</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a:t>
            </a:r>
            <a:r>
              <a:rPr kumimoji="0" lang="zh-CN" altLang="en-US" sz="2400" b="1" dirty="0">
                <a:latin typeface="Trebuchet MS" panose="020B0603020202020204" pitchFamily="34" charset="0"/>
              </a:rPr>
              <a:t>    </a:t>
            </a:r>
          </a:p>
          <a:p>
            <a:pPr eaLnBrk="1" hangingPunct="1">
              <a:lnSpc>
                <a:spcPct val="120000"/>
              </a:lnSpc>
              <a:spcBef>
                <a:spcPts val="300"/>
              </a:spcBef>
              <a:buFontTx/>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 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g</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  </a:t>
            </a:r>
            <a:r>
              <a:rPr kumimoji="0" lang="en-US" altLang="zh-CN" sz="2400" b="1" i="1" dirty="0">
                <a:latin typeface="Trebuchet MS" panose="020B0603020202020204" pitchFamily="34" charset="0"/>
                <a:sym typeface="Symbol" panose="05050102010706020507" pitchFamily="18" charset="2"/>
              </a:rPr>
              <a:t>f</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O</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g</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sym typeface="Symbol" panose="05050102010706020507" pitchFamily="18" charset="2"/>
              </a:rPr>
              <a:t>and</a:t>
            </a:r>
            <a:r>
              <a:rPr lang="zh-CN" altLang="en-US"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sym typeface="Symbol" panose="05050102010706020507" pitchFamily="18" charset="2"/>
              </a:rPr>
              <a:t>g</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O</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f</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 </a:t>
            </a:r>
          </a:p>
          <a:p>
            <a:pPr marL="268288" indent="-268288"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Examples</a:t>
            </a:r>
            <a:r>
              <a:rPr kumimoji="0" lang="en-US" altLang="zh-CN"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sym typeface="Symbol" panose="05050102010706020507" pitchFamily="18" charset="2"/>
              </a:rPr>
              <a:t>f</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baseline="30000" dirty="0">
                <a:latin typeface="Trebuchet MS" panose="020B0603020202020204" pitchFamily="34" charset="0"/>
                <a:sym typeface="Symbol" panose="05050102010706020507" pitchFamily="18" charset="2"/>
              </a:rPr>
              <a:t>2</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baseline="30000" dirty="0">
                <a:latin typeface="Trebuchet MS" panose="020B0603020202020204" pitchFamily="34" charset="0"/>
                <a:sym typeface="Symbol" panose="05050102010706020507" pitchFamily="18" charset="2"/>
              </a:rPr>
              <a:t>2</a:t>
            </a:r>
            <a:r>
              <a:rPr kumimoji="0" lang="en-US" altLang="zh-CN" sz="2400" b="1" dirty="0">
                <a:latin typeface="Trebuchet MS" panose="020B0603020202020204" pitchFamily="34" charset="0"/>
                <a:sym typeface="Symbol" panose="05050102010706020507" pitchFamily="18" charset="2"/>
              </a:rPr>
              <a:t>),  </a:t>
            </a:r>
            <a:r>
              <a:rPr kumimoji="0" lang="en-US" altLang="zh-CN" sz="2400" b="1" i="1" dirty="0">
                <a:latin typeface="Trebuchet MS" panose="020B0603020202020204" pitchFamily="34" charset="0"/>
                <a:sym typeface="Symbol" panose="05050102010706020507" pitchFamily="18" charset="2"/>
              </a:rPr>
              <a:t>g</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log</a:t>
            </a:r>
            <a:r>
              <a:rPr kumimoji="0" lang="en-US" altLang="zh-CN" sz="2400" b="1" i="1" dirty="0">
                <a:latin typeface="Trebuchet MS" panose="020B0603020202020204" pitchFamily="34" charset="0"/>
                <a:sym typeface="Symbol" panose="05050102010706020507" pitchFamily="18" charset="2"/>
              </a:rPr>
              <a:t>n</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O</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sym typeface="Symbol" panose="05050102010706020507" pitchFamily="18" charset="2"/>
              </a:rPr>
              <a:t>n</a:t>
            </a:r>
            <a:r>
              <a:rPr kumimoji="0" lang="en-US" altLang="zh-CN" sz="2400" b="1" baseline="30000" dirty="0">
                <a:latin typeface="Trebuchet MS" panose="020B0603020202020204" pitchFamily="34" charset="0"/>
                <a:sym typeface="Symbol" panose="05050102010706020507" pitchFamily="18" charset="2"/>
              </a:rPr>
              <a:t>2</a:t>
            </a:r>
            <a:r>
              <a:rPr kumimoji="0" lang="en-US" altLang="zh-CN" sz="2400" b="1" dirty="0">
                <a:latin typeface="Trebuchet MS" panose="020B0603020202020204" pitchFamily="34" charset="0"/>
                <a:sym typeface="Symbol" panose="05050102010706020507" pitchFamily="18" charset="2"/>
              </a:rPr>
              <a:t>)</a:t>
            </a:r>
            <a:r>
              <a:rPr kumimoji="0" lang="zh-CN" altLang="en-US" sz="2400" b="1"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(Here, </a:t>
            </a:r>
            <a:r>
              <a:rPr kumimoji="0" lang="zh-CN" altLang="en-US"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sym typeface="Symbol" panose="05050102010706020507" pitchFamily="18" charset="2"/>
              </a:rPr>
              <a:t>log</a:t>
            </a:r>
            <a:r>
              <a:rPr kumimoji="0" lang="en-US" altLang="zh-CN" sz="2400" b="1" i="1" dirty="0">
                <a:latin typeface="Trebuchet MS" panose="020B0603020202020204" pitchFamily="34" charset="0"/>
                <a:sym typeface="Symbol" panose="05050102010706020507" pitchFamily="18" charset="2"/>
              </a:rPr>
              <a:t>n </a:t>
            </a:r>
            <a:r>
              <a:rPr lang="en-US" sz="2400" dirty="0">
                <a:latin typeface="Trebuchet MS" panose="020B0603020202020204" pitchFamily="34" charset="0"/>
              </a:rPr>
              <a:t>is shorthand for</a:t>
            </a:r>
            <a:r>
              <a:rPr kumimoji="0" lang="zh-CN" altLang="en-US"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sym typeface="Symbol" panose="05050102010706020507" pitchFamily="18" charset="2"/>
              </a:rPr>
              <a:t>log</a:t>
            </a:r>
            <a:r>
              <a:rPr kumimoji="0" lang="en-US" altLang="zh-CN" sz="2400" b="1" baseline="-25000" dirty="0">
                <a:latin typeface="Trebuchet MS" panose="020B0603020202020204" pitchFamily="34" charset="0"/>
                <a:sym typeface="Symbol" panose="05050102010706020507" pitchFamily="18" charset="2"/>
              </a:rPr>
              <a:t>2</a:t>
            </a:r>
            <a:r>
              <a:rPr kumimoji="0" lang="en-US" altLang="zh-CN" sz="2400" b="1" i="1" dirty="0">
                <a:latin typeface="Trebuchet MS" panose="020B0603020202020204" pitchFamily="34" charset="0"/>
                <a:sym typeface="Symbol" panose="05050102010706020507" pitchFamily="18" charset="2"/>
              </a:rPr>
              <a:t>n)</a:t>
            </a:r>
            <a:endParaRPr kumimoji="0" lang="zh-CN" altLang="en-US" sz="2400" b="1" dirty="0">
              <a:latin typeface="Trebuchet MS" panose="020B0603020202020204" pitchFamily="34" charset="0"/>
            </a:endParaRPr>
          </a:p>
          <a:p>
            <a:pPr indent="39688" eaLnBrk="1" hangingPunct="1">
              <a:lnSpc>
                <a:spcPct val="120000"/>
              </a:lnSpc>
              <a:spcBef>
                <a:spcPts val="300"/>
              </a:spcBef>
              <a:buFontTx/>
              <a:buNone/>
            </a:pPr>
            <a:r>
              <a:rPr lang="en-US" sz="2400" dirty="0">
                <a:latin typeface="Trebuchet MS" panose="020B0603020202020204" pitchFamily="34" charset="0"/>
              </a:rPr>
              <a:t>Algorithms</a:t>
            </a:r>
            <a:r>
              <a:rPr kumimoji="0" lang="zh-CN" altLang="en-US" sz="2400" b="1" dirty="0">
                <a:latin typeface="Trebuchet MS" panose="020B0603020202020204" pitchFamily="34" charset="0"/>
              </a:rPr>
              <a:t>：</a:t>
            </a:r>
            <a:r>
              <a:rPr lang="en-US" sz="2400" dirty="0">
                <a:latin typeface="Trebuchet MS" panose="020B0603020202020204" pitchFamily="34" charset="0"/>
              </a:rPr>
              <a:t>Binary search: </a:t>
            </a:r>
            <a:r>
              <a:rPr kumimoji="0" lang="en-US" altLang="zh-CN" sz="2400" b="1" i="1" dirty="0">
                <a:latin typeface="Trebuchet MS" panose="020B0603020202020204" pitchFamily="34" charset="0"/>
              </a:rPr>
              <a:t>W</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O</a:t>
            </a:r>
            <a:r>
              <a:rPr kumimoji="0" lang="en-US" altLang="zh-CN" sz="2400" b="1" dirty="0">
                <a:latin typeface="Trebuchet MS" panose="020B0603020202020204" pitchFamily="34" charset="0"/>
              </a:rPr>
              <a:t>(log</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a:t>
            </a:r>
          </a:p>
          <a:p>
            <a:pPr eaLnBrk="1" hangingPunct="1">
              <a:lnSpc>
                <a:spcPct val="120000"/>
              </a:lnSpc>
              <a:spcBef>
                <a:spcPts val="300"/>
              </a:spcBef>
              <a:buFontTx/>
              <a:buNone/>
            </a:pPr>
            <a:r>
              <a:rPr kumimoji="0" lang="zh-CN" altLang="en-US" sz="2400" b="1" dirty="0">
                <a:latin typeface="Trebuchet MS" panose="020B0603020202020204" pitchFamily="34" charset="0"/>
              </a:rPr>
              <a:t>           </a:t>
            </a:r>
            <a:r>
              <a:rPr kumimoji="0" lang="en-US" altLang="zh-CN" sz="2400" b="1" dirty="0">
                <a:latin typeface="Trebuchet MS" panose="020B0603020202020204" pitchFamily="34" charset="0"/>
              </a:rPr>
              <a:t>	     </a:t>
            </a:r>
            <a:r>
              <a:rPr kumimoji="0" lang="zh-CN" altLang="en-US" sz="2400" b="1" dirty="0">
                <a:latin typeface="Trebuchet MS" panose="020B0603020202020204" pitchFamily="34" charset="0"/>
              </a:rPr>
              <a:t> </a:t>
            </a:r>
            <a:r>
              <a:rPr lang="en-US" sz="2400" dirty="0">
                <a:latin typeface="Trebuchet MS" panose="020B0603020202020204" pitchFamily="34" charset="0"/>
              </a:rPr>
              <a:t>Merge sort:</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W</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O</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log</a:t>
            </a:r>
            <a:r>
              <a:rPr kumimoji="0" lang="en-US" altLang="zh-CN" sz="2400" b="1" i="1" dirty="0">
                <a:latin typeface="Trebuchet MS" panose="020B0603020202020204" pitchFamily="34" charset="0"/>
              </a:rPr>
              <a:t>n</a:t>
            </a:r>
            <a:r>
              <a:rPr kumimoji="0" lang="en-US" altLang="zh-CN" sz="2400" b="1" dirty="0">
                <a:latin typeface="Trebuchet MS" panose="020B0603020202020204" pitchFamily="34" charset="0"/>
              </a:rPr>
              <a:t>)</a:t>
            </a:r>
          </a:p>
        </p:txBody>
      </p:sp>
    </p:spTree>
    <p:extLst>
      <p:ext uri="{BB962C8B-B14F-4D97-AF65-F5344CB8AC3E}">
        <p14:creationId xmlns:p14="http://schemas.microsoft.com/office/powerpoint/2010/main" val="1163236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2" end="2"/>
                                            </p:txEl>
                                          </p:spTgt>
                                        </p:tgtEl>
                                        <p:attrNameLst>
                                          <p:attrName>style.visibility</p:attrName>
                                        </p:attrNameLst>
                                      </p:cBhvr>
                                      <p:to>
                                        <p:strVal val="visible"/>
                                      </p:to>
                                    </p:set>
                                    <p:animEffect transition="in" filter="fade">
                                      <p:cBhvr>
                                        <p:cTn id="14" dur="1000"/>
                                        <p:tgtEl>
                                          <p:spTgt spid="11">
                                            <p:txEl>
                                              <p:pRg st="2" end="2"/>
                                            </p:txEl>
                                          </p:spTgt>
                                        </p:tgtEl>
                                      </p:cBhvr>
                                    </p:animEffect>
                                    <p:anim calcmode="lin" valueType="num">
                                      <p:cBhvr>
                                        <p:cTn id="15"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Effect transition="in" filter="fade">
                                      <p:cBhvr>
                                        <p:cTn id="19" dur="1000"/>
                                        <p:tgtEl>
                                          <p:spTgt spid="11">
                                            <p:txEl>
                                              <p:pRg st="3" end="3"/>
                                            </p:txEl>
                                          </p:spTgt>
                                        </p:tgtEl>
                                      </p:cBhvr>
                                    </p:animEffect>
                                    <p:anim calcmode="lin" valueType="num">
                                      <p:cBhvr>
                                        <p:cTn id="20"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fade">
                                      <p:cBhvr>
                                        <p:cTn id="24" dur="1000"/>
                                        <p:tgtEl>
                                          <p:spTgt spid="11">
                                            <p:txEl>
                                              <p:pRg st="4" end="4"/>
                                            </p:txEl>
                                          </p:spTgt>
                                        </p:tgtEl>
                                      </p:cBhvr>
                                    </p:animEffect>
                                    <p:anim calcmode="lin" valueType="num">
                                      <p:cBhvr>
                                        <p:cTn id="25"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1">
                                            <p:txEl>
                                              <p:pRg st="5" end="5"/>
                                            </p:txEl>
                                          </p:spTgt>
                                        </p:tgtEl>
                                        <p:attrNameLst>
                                          <p:attrName>style.visibility</p:attrName>
                                        </p:attrNameLst>
                                      </p:cBhvr>
                                      <p:to>
                                        <p:strVal val="visible"/>
                                      </p:to>
                                    </p:set>
                                    <p:animEffect transition="in" filter="fade">
                                      <p:cBhvr>
                                        <p:cTn id="31" dur="1000"/>
                                        <p:tgtEl>
                                          <p:spTgt spid="11">
                                            <p:txEl>
                                              <p:pRg st="5" end="5"/>
                                            </p:txEl>
                                          </p:spTgt>
                                        </p:tgtEl>
                                      </p:cBhvr>
                                    </p:animEffect>
                                    <p:anim calcmode="lin" valueType="num">
                                      <p:cBhvr>
                                        <p:cTn id="32"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11">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1">
                                            <p:txEl>
                                              <p:pRg st="6" end="6"/>
                                            </p:txEl>
                                          </p:spTgt>
                                        </p:tgtEl>
                                        <p:attrNameLst>
                                          <p:attrName>style.visibility</p:attrName>
                                        </p:attrNameLst>
                                      </p:cBhvr>
                                      <p:to>
                                        <p:strVal val="visible"/>
                                      </p:to>
                                    </p:set>
                                    <p:animEffect transition="in" filter="fade">
                                      <p:cBhvr>
                                        <p:cTn id="36" dur="1000"/>
                                        <p:tgtEl>
                                          <p:spTgt spid="11">
                                            <p:txEl>
                                              <p:pRg st="6" end="6"/>
                                            </p:txEl>
                                          </p:spTgt>
                                        </p:tgtEl>
                                      </p:cBhvr>
                                    </p:animEffect>
                                    <p:anim calcmode="lin" valueType="num">
                                      <p:cBhvr>
                                        <p:cTn id="37"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11">
                                            <p:txEl>
                                              <p:pRg st="6" end="6"/>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1">
                                            <p:txEl>
                                              <p:pRg st="7" end="7"/>
                                            </p:txEl>
                                          </p:spTgt>
                                        </p:tgtEl>
                                        <p:attrNameLst>
                                          <p:attrName>style.visibility</p:attrName>
                                        </p:attrNameLst>
                                      </p:cBhvr>
                                      <p:to>
                                        <p:strVal val="visible"/>
                                      </p:to>
                                    </p:set>
                                    <p:animEffect transition="in" filter="fade">
                                      <p:cBhvr>
                                        <p:cTn id="41" dur="1000"/>
                                        <p:tgtEl>
                                          <p:spTgt spid="11">
                                            <p:txEl>
                                              <p:pRg st="7" end="7"/>
                                            </p:txEl>
                                          </p:spTgt>
                                        </p:tgtEl>
                                      </p:cBhvr>
                                    </p:animEffect>
                                    <p:anim calcmode="lin" valueType="num">
                                      <p:cBhvr>
                                        <p:cTn id="42"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solidFill>
                  <a:schemeClr val="bg1"/>
                </a:solidFill>
                <a:latin typeface="Trebuchet MS" panose="020B0603020202020204" pitchFamily="34" charset="0"/>
              </a:rPr>
              <a:t>           5.1 Function Definition and Properties</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1"/>
            <a:ext cx="8798289" cy="5181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a:p>
            <a:pPr marL="342900" indent="-342900">
              <a:lnSpc>
                <a:spcPct val="15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5.1.1 Definition of a Function</a:t>
            </a:r>
          </a:p>
          <a:p>
            <a:pPr marL="342900" indent="-342900">
              <a:lnSpc>
                <a:spcPct val="150000"/>
              </a:lnSpc>
              <a:buClr>
                <a:srgbClr val="0B61FF"/>
              </a:buClr>
              <a:buSzPct val="80000"/>
              <a:buFont typeface="Wingdings" panose="05000000000000000000" pitchFamily="2" charset="2"/>
              <a:buChar char="n"/>
            </a:pPr>
            <a:r>
              <a:rPr lang="en-US" sz="2400" b="1" dirty="0">
                <a:solidFill>
                  <a:srgbClr val="0B5BFF"/>
                </a:solidFill>
                <a:latin typeface="Trebuchet MS" panose="020B0603020202020204" pitchFamily="34" charset="0"/>
              </a:rPr>
              <a:t>5.1.2 Image and Preimage of a Function</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5.1.3 Properties of a Function</a:t>
            </a:r>
          </a:p>
          <a:p>
            <a:pPr marL="0" indent="1165225" eaLnBrk="1" hangingPunct="1">
              <a:spcBef>
                <a:spcPct val="40000"/>
              </a:spcBef>
              <a:buNone/>
            </a:pPr>
            <a:endParaRPr lang="zh-CN" altLang="en-US" b="1" dirty="0"/>
          </a:p>
        </p:txBody>
      </p:sp>
    </p:spTree>
    <p:extLst>
      <p:ext uri="{BB962C8B-B14F-4D97-AF65-F5344CB8AC3E}">
        <p14:creationId xmlns:p14="http://schemas.microsoft.com/office/powerpoint/2010/main" val="2788265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5.1.2 Image and Preimage of a Function</a:t>
            </a:r>
          </a:p>
          <a:p>
            <a:r>
              <a:rPr lang="en-US" altLang="zh-CN" sz="16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Image and complete preimage of the function </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1" name="Rectangle 3">
            <a:extLst>
              <a:ext uri="{FF2B5EF4-FFF2-40B4-BE49-F238E27FC236}">
                <a16:creationId xmlns:a16="http://schemas.microsoft.com/office/drawing/2014/main" id="{5C550CDE-979B-4A2C-A41A-31732B491E0B}"/>
              </a:ext>
            </a:extLst>
          </p:cNvPr>
          <p:cNvSpPr txBox="1">
            <a:spLocks noChangeArrowheads="1"/>
          </p:cNvSpPr>
          <p:nvPr/>
        </p:nvSpPr>
        <p:spPr>
          <a:xfrm>
            <a:off x="1051921" y="775142"/>
            <a:ext cx="10372824"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Definition 5.7</a:t>
            </a:r>
            <a:r>
              <a:rPr lang="zh-CN" altLang="en-US" sz="2400" b="1" dirty="0">
                <a:latin typeface="Trebuchet MS" panose="020B0603020202020204" pitchFamily="34" charset="0"/>
              </a:rPr>
              <a:t>：</a:t>
            </a:r>
            <a:r>
              <a:rPr lang="en-US" altLang="zh-CN" sz="2400" dirty="0">
                <a:latin typeface="Trebuchet MS" panose="020B0603020202020204" pitchFamily="34" charset="0"/>
              </a:rPr>
              <a:t>Let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 be a function, and let </a:t>
            </a: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 Then:</a:t>
            </a:r>
          </a:p>
          <a:p>
            <a:pPr indent="44450">
              <a:lnSpc>
                <a:spcPct val="110000"/>
              </a:lnSpc>
              <a:spcBef>
                <a:spcPts val="0"/>
              </a:spcBef>
              <a:buClr>
                <a:srgbClr val="0B61FF"/>
              </a:buClr>
              <a:buSzPct val="120000"/>
              <a:buFont typeface="Arial" panose="020B0604020202020204" pitchFamily="34" charset="0"/>
              <a:buChar char="•"/>
            </a:pP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 A</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en-US" altLang="zh-CN" sz="2400" dirty="0">
                <a:latin typeface="Trebuchet MS" panose="020B0603020202020204" pitchFamily="34" charset="0"/>
              </a:rPr>
              <a:t>is called the </a:t>
            </a:r>
            <a:r>
              <a:rPr lang="en-US" altLang="zh-CN" sz="2400" b="1" dirty="0">
                <a:latin typeface="Trebuchet MS" panose="020B0603020202020204" pitchFamily="34" charset="0"/>
              </a:rPr>
              <a:t>image of </a:t>
            </a: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1 </a:t>
            </a:r>
            <a:r>
              <a:rPr lang="en-US" altLang="zh-CN" sz="2400" b="1" dirty="0">
                <a:latin typeface="Trebuchet MS" panose="020B0603020202020204" pitchFamily="34" charset="0"/>
              </a:rPr>
              <a:t>​under </a:t>
            </a:r>
            <a:r>
              <a:rPr lang="en-US" altLang="zh-CN" sz="2400" b="1" i="1" dirty="0">
                <a:latin typeface="Trebuchet MS" panose="020B0603020202020204" pitchFamily="34" charset="0"/>
              </a:rPr>
              <a:t>f</a:t>
            </a:r>
            <a:r>
              <a:rPr lang="en-US" altLang="zh-CN" sz="2400" dirty="0">
                <a:latin typeface="Trebuchet MS" panose="020B0603020202020204" pitchFamily="34" charset="0"/>
              </a:rPr>
              <a:t>.</a:t>
            </a:r>
            <a:br>
              <a:rPr lang="en-US" altLang="zh-CN" sz="2400" dirty="0">
                <a:latin typeface="Trebuchet MS" panose="020B0603020202020204" pitchFamily="34" charset="0"/>
              </a:rPr>
            </a:br>
            <a:r>
              <a:rPr lang="en-US" altLang="zh-CN" sz="2400" dirty="0">
                <a:latin typeface="Trebuchet MS" panose="020B0603020202020204" pitchFamily="34" charset="0"/>
              </a:rPr>
              <a:t>In particular, </a:t>
            </a:r>
            <a:r>
              <a:rPr lang="en-US" altLang="zh-CN" sz="2400" b="1" i="1" dirty="0">
                <a:latin typeface="Trebuchet MS" panose="020B0603020202020204" pitchFamily="34" charset="0"/>
              </a:rPr>
              <a:t>f</a:t>
            </a:r>
            <a:r>
              <a:rPr lang="en-US" altLang="zh-CN" sz="2400"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 is called the </a:t>
            </a:r>
            <a:r>
              <a:rPr lang="en-US" altLang="zh-CN" sz="2400" b="1" dirty="0">
                <a:latin typeface="Trebuchet MS" panose="020B0603020202020204" pitchFamily="34" charset="0"/>
              </a:rPr>
              <a:t>image of the function</a:t>
            </a:r>
            <a:r>
              <a:rPr lang="en-US" altLang="zh-CN" sz="2400" dirty="0">
                <a:latin typeface="Trebuchet MS" panose="020B0603020202020204" pitchFamily="34" charset="0"/>
              </a:rPr>
              <a:t>.</a:t>
            </a:r>
          </a:p>
          <a:p>
            <a:pPr indent="44450">
              <a:lnSpc>
                <a:spcPct val="110000"/>
              </a:lnSpc>
              <a:spcBef>
                <a:spcPts val="0"/>
              </a:spcBef>
              <a:buClr>
                <a:srgbClr val="0B61FF"/>
              </a:buClr>
              <a:buSzPct val="120000"/>
              <a:buFont typeface="Arial" panose="020B0604020202020204" pitchFamily="34" charset="0"/>
              <a:buChar char="•"/>
            </a:pP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 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b="1" i="1" dirty="0">
                <a:latin typeface="Trebuchet MS" panose="020B0603020202020204" pitchFamily="34" charset="0"/>
              </a:rPr>
              <a:t> B</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dirty="0">
                <a:latin typeface="Trebuchet MS" panose="020B0603020202020204" pitchFamily="34" charset="0"/>
              </a:rPr>
              <a:t> is called the </a:t>
            </a:r>
            <a:r>
              <a:rPr lang="en-US" altLang="zh-CN" sz="2400" b="1" dirty="0">
                <a:latin typeface="Trebuchet MS" panose="020B0603020202020204" pitchFamily="34" charset="0"/>
              </a:rPr>
              <a:t>complete preimage of </a:t>
            </a:r>
            <a:r>
              <a:rPr lang="en-US" altLang="zh-CN" sz="2400" b="1" i="1" dirty="0">
                <a:latin typeface="Trebuchet MS" panose="020B0603020202020204" pitchFamily="34" charset="0"/>
              </a:rPr>
              <a:t>B</a:t>
            </a:r>
            <a:r>
              <a:rPr lang="en-US" altLang="zh-CN" sz="2400" b="1" baseline="-25000" dirty="0">
                <a:latin typeface="Trebuchet MS" panose="020B0603020202020204" pitchFamily="34" charset="0"/>
              </a:rPr>
              <a:t>1 </a:t>
            </a:r>
            <a:r>
              <a:rPr lang="en-US" altLang="zh-CN" sz="2400" b="1" dirty="0">
                <a:latin typeface="Trebuchet MS" panose="020B0603020202020204" pitchFamily="34" charset="0"/>
              </a:rPr>
              <a:t>​ under </a:t>
            </a:r>
            <a:r>
              <a:rPr lang="en-US" altLang="zh-CN" sz="2400" b="1" i="1" dirty="0">
                <a:latin typeface="Trebuchet MS" panose="020B0603020202020204" pitchFamily="34" charset="0"/>
              </a:rPr>
              <a:t>f</a:t>
            </a:r>
            <a:r>
              <a:rPr lang="en-US" altLang="zh-CN" sz="2400" dirty="0">
                <a:latin typeface="Trebuchet MS" panose="020B0603020202020204" pitchFamily="34" charset="0"/>
              </a:rPr>
              <a:t>.</a:t>
            </a:r>
          </a:p>
          <a:p>
            <a:pPr marL="273050" indent="-273050">
              <a:lnSpc>
                <a:spcPct val="110000"/>
              </a:lnSpc>
              <a:spcBef>
                <a:spcPts val="0"/>
              </a:spcBef>
              <a:buClr>
                <a:srgbClr val="0B61FF"/>
              </a:buClr>
              <a:buSzPct val="80000"/>
              <a:buFont typeface="Wingdings" panose="05000000000000000000" pitchFamily="2" charset="2"/>
              <a:buChar char="n"/>
            </a:pPr>
            <a:r>
              <a:rPr lang="en-US" altLang="zh-CN" sz="2400" b="1" dirty="0">
                <a:effectLst/>
                <a:latin typeface="Trebuchet MS" panose="020B0603020202020204" pitchFamily="34" charset="0"/>
                <a:ea typeface="宋体" panose="02010600030101010101" pitchFamily="2" charset="-122"/>
              </a:rPr>
              <a:t>Note :</a:t>
            </a:r>
          </a:p>
          <a:p>
            <a:pPr indent="44450">
              <a:lnSpc>
                <a:spcPct val="100000"/>
              </a:lnSpc>
              <a:spcBef>
                <a:spcPts val="0"/>
              </a:spcBef>
              <a:buClr>
                <a:srgbClr val="0B61FF"/>
              </a:buClr>
              <a:buSzPct val="120000"/>
            </a:pPr>
            <a:r>
              <a:rPr lang="en-US" altLang="zh-CN" sz="2400" dirty="0">
                <a:latin typeface="Trebuchet MS" panose="020B0603020202020204" pitchFamily="34" charset="0"/>
              </a:rPr>
              <a:t>A function value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lang="en-US" altLang="zh-CN" sz="2400" dirty="0">
                <a:latin typeface="Trebuchet MS" panose="020B0603020202020204" pitchFamily="34" charset="0"/>
              </a:rPr>
              <a:t> is a point-to-point result, while an image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i="1" dirty="0">
                <a:latin typeface="Trebuchet MS" panose="020B0603020202020204" pitchFamily="34" charset="0"/>
              </a:rPr>
              <a:t>B  </a:t>
            </a:r>
            <a:r>
              <a:rPr lang="en-US" altLang="zh-CN" sz="2400" dirty="0">
                <a:latin typeface="Trebuchet MS" panose="020B0603020202020204" pitchFamily="34" charset="0"/>
              </a:rPr>
              <a:t>is a set-to-set transformation.</a:t>
            </a:r>
          </a:p>
          <a:p>
            <a:pPr indent="44450">
              <a:lnSpc>
                <a:spcPct val="100000"/>
              </a:lnSpc>
              <a:spcBef>
                <a:spcPts val="0"/>
              </a:spcBef>
              <a:buClr>
                <a:srgbClr val="0B61FF"/>
              </a:buClr>
              <a:buSzPct val="120000"/>
              <a:buFont typeface="Arial" panose="020B0604020202020204" pitchFamily="34" charset="0"/>
              <a:buChar char="•"/>
            </a:pP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1 </a:t>
            </a:r>
            <a:r>
              <a:rPr lang="en-US" altLang="zh-CN" sz="2400" b="1" dirty="0">
                <a:latin typeface="Trebuchet MS" panose="020B0603020202020204" pitchFamily="34" charset="0"/>
              </a:rPr>
              <a:t>⊆</a:t>
            </a:r>
            <a:r>
              <a:rPr lang="en-US" altLang="zh-CN" sz="2400" b="1" i="1" dirty="0">
                <a:latin typeface="Trebuchet MS" panose="020B0603020202020204" pitchFamily="34" charset="0"/>
              </a:rPr>
              <a:t> f</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en-US" altLang="zh-CN" sz="2400" dirty="0">
                <a:latin typeface="Trebuchet MS" panose="020B0603020202020204" pitchFamily="34" charset="0"/>
              </a:rPr>
              <a:t>The preimage of the image of </a:t>
            </a: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1 </a:t>
            </a:r>
            <a:r>
              <a:rPr lang="en-US" altLang="zh-CN" sz="2400" dirty="0">
                <a:latin typeface="Trebuchet MS" panose="020B0603020202020204" pitchFamily="34" charset="0"/>
              </a:rPr>
              <a:t>​ may contain more elements than </a:t>
            </a: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1 </a:t>
            </a:r>
            <a:r>
              <a:rPr lang="en-US" altLang="zh-CN" sz="2400" dirty="0">
                <a:latin typeface="Trebuchet MS" panose="020B0603020202020204" pitchFamily="34" charset="0"/>
              </a:rPr>
              <a:t>​ itself.</a:t>
            </a:r>
          </a:p>
          <a:p>
            <a:pPr indent="44450">
              <a:lnSpc>
                <a:spcPct val="100000"/>
              </a:lnSpc>
              <a:spcBef>
                <a:spcPts val="0"/>
              </a:spcBef>
              <a:buClr>
                <a:srgbClr val="0B61FF"/>
              </a:buClr>
              <a:buSzPct val="120000"/>
              <a:buFont typeface="Arial" panose="020B0604020202020204" pitchFamily="34" charset="0"/>
              <a:buChar char="•"/>
            </a:pP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 B</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en-US" altLang="zh-CN" sz="2400" dirty="0">
                <a:latin typeface="Trebuchet MS" panose="020B0603020202020204" pitchFamily="34" charset="0"/>
              </a:rPr>
              <a:t>Taking the image of the preimage of </a:t>
            </a:r>
            <a:r>
              <a:rPr lang="en-US" altLang="zh-CN" sz="2400" b="1" i="1" dirty="0">
                <a:latin typeface="Trebuchet MS" panose="020B0603020202020204" pitchFamily="34" charset="0"/>
              </a:rPr>
              <a:t>B</a:t>
            </a:r>
            <a:r>
              <a:rPr lang="en-US" altLang="zh-CN" sz="2400" b="1" baseline="-25000" dirty="0">
                <a:latin typeface="Trebuchet MS" panose="020B0603020202020204" pitchFamily="34" charset="0"/>
              </a:rPr>
              <a:t>1</a:t>
            </a:r>
            <a:r>
              <a:rPr lang="en-US" altLang="zh-CN" sz="2400" dirty="0">
                <a:latin typeface="Trebuchet MS" panose="020B0603020202020204" pitchFamily="34" charset="0"/>
              </a:rPr>
              <a:t> may not recover the original set </a:t>
            </a:r>
            <a:r>
              <a:rPr lang="en-US" altLang="zh-CN" sz="2400" b="1" i="1" dirty="0">
                <a:latin typeface="Trebuchet MS" panose="020B0603020202020204" pitchFamily="34" charset="0"/>
              </a:rPr>
              <a:t>B</a:t>
            </a:r>
            <a:r>
              <a:rPr lang="en-US" altLang="zh-CN" sz="2400" b="1" baseline="-25000" dirty="0">
                <a:latin typeface="Trebuchet MS" panose="020B0603020202020204" pitchFamily="34" charset="0"/>
              </a:rPr>
              <a:t>1.</a:t>
            </a:r>
          </a:p>
          <a:p>
            <a:pPr indent="44450">
              <a:lnSpc>
                <a:spcPct val="100000"/>
              </a:lnSpc>
              <a:spcBef>
                <a:spcPts val="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A </a:t>
            </a:r>
            <a:r>
              <a:rPr lang="en-US" altLang="zh-CN" sz="2400" b="1" dirty="0">
                <a:latin typeface="Trebuchet MS" panose="020B0603020202020204" pitchFamily="34" charset="0"/>
              </a:rPr>
              <a:t>complete preimage </a:t>
            </a:r>
            <a:r>
              <a:rPr lang="en-US" altLang="zh-CN" sz="2400" dirty="0">
                <a:latin typeface="Trebuchet MS" panose="020B0603020202020204" pitchFamily="34" charset="0"/>
              </a:rPr>
              <a:t>is the source of a set of outputs; a </a:t>
            </a:r>
            <a:r>
              <a:rPr lang="en-US" altLang="zh-CN" sz="2400" b="1" dirty="0">
                <a:latin typeface="Trebuchet MS" panose="020B0603020202020204" pitchFamily="34" charset="0"/>
              </a:rPr>
              <a:t>preimage</a:t>
            </a:r>
            <a:r>
              <a:rPr lang="en-US" altLang="zh-CN" sz="2400" dirty="0">
                <a:latin typeface="Trebuchet MS" panose="020B0603020202020204" pitchFamily="34" charset="0"/>
              </a:rPr>
              <a:t> refers to the source of a single output. Both follow the same set operation rules.</a:t>
            </a:r>
          </a:p>
        </p:txBody>
      </p:sp>
    </p:spTree>
    <p:extLst>
      <p:ext uri="{BB962C8B-B14F-4D97-AF65-F5344CB8AC3E}">
        <p14:creationId xmlns:p14="http://schemas.microsoft.com/office/powerpoint/2010/main" val="2687518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3" end="3"/>
                                            </p:txEl>
                                          </p:spTgt>
                                        </p:tgtEl>
                                        <p:attrNameLst>
                                          <p:attrName>style.visibility</p:attrName>
                                        </p:attrNameLst>
                                      </p:cBhvr>
                                      <p:to>
                                        <p:strVal val="visible"/>
                                      </p:to>
                                    </p:set>
                                    <p:animEffect transition="in" filter="fade">
                                      <p:cBhvr>
                                        <p:cTn id="14" dur="1000"/>
                                        <p:tgtEl>
                                          <p:spTgt spid="11">
                                            <p:txEl>
                                              <p:pRg st="3" end="3"/>
                                            </p:txEl>
                                          </p:spTgt>
                                        </p:tgtEl>
                                      </p:cBhvr>
                                    </p:animEffect>
                                    <p:anim calcmode="lin" valueType="num">
                                      <p:cBhvr>
                                        <p:cTn id="15"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fade">
                                      <p:cBhvr>
                                        <p:cTn id="19" dur="1000"/>
                                        <p:tgtEl>
                                          <p:spTgt spid="11">
                                            <p:txEl>
                                              <p:pRg st="4" end="4"/>
                                            </p:txEl>
                                          </p:spTgt>
                                        </p:tgtEl>
                                      </p:cBhvr>
                                    </p:animEffect>
                                    <p:anim calcmode="lin" valueType="num">
                                      <p:cBhvr>
                                        <p:cTn id="20"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1">
                                            <p:txEl>
                                              <p:pRg st="5" end="5"/>
                                            </p:txEl>
                                          </p:spTgt>
                                        </p:tgtEl>
                                        <p:attrNameLst>
                                          <p:attrName>style.visibility</p:attrName>
                                        </p:attrNameLst>
                                      </p:cBhvr>
                                      <p:to>
                                        <p:strVal val="visible"/>
                                      </p:to>
                                    </p:set>
                                    <p:animEffect transition="in" filter="fade">
                                      <p:cBhvr>
                                        <p:cTn id="26" dur="1000"/>
                                        <p:tgtEl>
                                          <p:spTgt spid="11">
                                            <p:txEl>
                                              <p:pRg st="5" end="5"/>
                                            </p:txEl>
                                          </p:spTgt>
                                        </p:tgtEl>
                                      </p:cBhvr>
                                    </p:animEffect>
                                    <p:anim calcmode="lin" valueType="num">
                                      <p:cBhvr>
                                        <p:cTn id="27"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1">
                                            <p:txEl>
                                              <p:pRg st="6" end="6"/>
                                            </p:txEl>
                                          </p:spTgt>
                                        </p:tgtEl>
                                        <p:attrNameLst>
                                          <p:attrName>style.visibility</p:attrName>
                                        </p:attrNameLst>
                                      </p:cBhvr>
                                      <p:to>
                                        <p:strVal val="visible"/>
                                      </p:to>
                                    </p:set>
                                    <p:animEffect transition="in" filter="fade">
                                      <p:cBhvr>
                                        <p:cTn id="33" dur="1000"/>
                                        <p:tgtEl>
                                          <p:spTgt spid="11">
                                            <p:txEl>
                                              <p:pRg st="6" end="6"/>
                                            </p:txEl>
                                          </p:spTgt>
                                        </p:tgtEl>
                                      </p:cBhvr>
                                    </p:animEffect>
                                    <p:anim calcmode="lin" valueType="num">
                                      <p:cBhvr>
                                        <p:cTn id="34"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1">
                                            <p:txEl>
                                              <p:pRg st="7" end="7"/>
                                            </p:txEl>
                                          </p:spTgt>
                                        </p:tgtEl>
                                        <p:attrNameLst>
                                          <p:attrName>style.visibility</p:attrName>
                                        </p:attrNameLst>
                                      </p:cBhvr>
                                      <p:to>
                                        <p:strVal val="visible"/>
                                      </p:to>
                                    </p:set>
                                    <p:animEffect transition="in" filter="fade">
                                      <p:cBhvr>
                                        <p:cTn id="40" dur="1000"/>
                                        <p:tgtEl>
                                          <p:spTgt spid="11">
                                            <p:txEl>
                                              <p:pRg st="7" end="7"/>
                                            </p:txEl>
                                          </p:spTgt>
                                        </p:tgtEl>
                                      </p:cBhvr>
                                    </p:animEffect>
                                    <p:anim calcmode="lin" valueType="num">
                                      <p:cBhvr>
                                        <p:cTn id="41"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5.1.2 Image and Preimage of a Function</a:t>
            </a:r>
          </a:p>
          <a:p>
            <a:r>
              <a:rPr lang="en-US" altLang="zh-CN" sz="16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Image and complete preimage of the function (</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 </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1" name="Rectangle 3">
            <a:extLst>
              <a:ext uri="{FF2B5EF4-FFF2-40B4-BE49-F238E27FC236}">
                <a16:creationId xmlns:a16="http://schemas.microsoft.com/office/drawing/2014/main" id="{5C550CDE-979B-4A2C-A41A-31732B491E0B}"/>
              </a:ext>
            </a:extLst>
          </p:cNvPr>
          <p:cNvSpPr txBox="1">
            <a:spLocks noChangeArrowheads="1"/>
          </p:cNvSpPr>
          <p:nvPr/>
        </p:nvSpPr>
        <p:spPr>
          <a:xfrm>
            <a:off x="1051922" y="838203"/>
            <a:ext cx="8798289" cy="53944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a:t>
            </a:r>
            <a:r>
              <a:rPr kumimoji="0" lang="en-US" altLang="zh-CN" sz="2400" b="1" dirty="0">
                <a:latin typeface="Trebuchet MS" panose="020B0603020202020204" pitchFamily="34" charset="0"/>
                <a:sym typeface="Symbol" panose="05050102010706020507" pitchFamily="18" charset="2"/>
              </a:rPr>
              <a:t>:</a:t>
            </a:r>
            <a:endParaRPr kumimoji="0" lang="en-US" altLang="zh-CN" sz="2400" b="1" dirty="0">
              <a:latin typeface="Trebuchet MS" panose="020B0603020202020204" pitchFamily="34" charset="0"/>
            </a:endParaRPr>
          </a:p>
          <a:p>
            <a:pPr eaLnBrk="1" hangingPunct="1">
              <a:lnSpc>
                <a:spcPct val="120000"/>
              </a:lnSpc>
              <a:spcBef>
                <a:spcPts val="300"/>
              </a:spcBef>
              <a:buFontTx/>
              <a:buNone/>
            </a:pPr>
            <a:r>
              <a:rPr kumimoji="0" lang="en-US" altLang="zh-CN" sz="2400" b="1" dirty="0">
                <a:solidFill>
                  <a:srgbClr val="0B61FF"/>
                </a:solidFill>
                <a:latin typeface="Trebuchet MS" panose="020B0603020202020204" pitchFamily="34" charset="0"/>
              </a:rPr>
              <a:t>(1) </a:t>
            </a:r>
            <a:r>
              <a:rPr lang="en-US" sz="2400" dirty="0">
                <a:latin typeface="Trebuchet MS" panose="020B0603020202020204" pitchFamily="34" charset="0"/>
              </a:rPr>
              <a:t>Let </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N→N, </a:t>
            </a:r>
            <a:r>
              <a:rPr lang="en-US" sz="2400" dirty="0">
                <a:latin typeface="Trebuchet MS" panose="020B0603020202020204" pitchFamily="34" charset="0"/>
              </a:rPr>
              <a:t>and let</a:t>
            </a:r>
            <a:endParaRPr kumimoji="0" lang="zh-CN" altLang="en-US" sz="2400" b="1" dirty="0">
              <a:latin typeface="Trebuchet MS" panose="020B0603020202020204" pitchFamily="34" charset="0"/>
            </a:endParaRPr>
          </a:p>
          <a:p>
            <a:pPr indent="223838" eaLnBrk="1" hangingPunct="1">
              <a:lnSpc>
                <a:spcPct val="120000"/>
              </a:lnSpc>
              <a:spcBef>
                <a:spcPts val="300"/>
              </a:spcBef>
              <a:buFontTx/>
              <a:buNone/>
            </a:pP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={0,1},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={2},  then</a:t>
            </a:r>
            <a:br>
              <a:rPr kumimoji="0" lang="zh-CN" altLang="en-US" sz="2400" b="1" dirty="0">
                <a:latin typeface="Trebuchet MS" panose="020B0603020202020204" pitchFamily="34" charset="0"/>
              </a:rPr>
            </a:b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 =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({0,1}) = {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(0),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(1) }={ 0, 2 }</a:t>
            </a:r>
          </a:p>
          <a:p>
            <a:pPr eaLnBrk="1" hangingPunct="1">
              <a:lnSpc>
                <a:spcPct val="120000"/>
              </a:lnSpc>
              <a:spcBef>
                <a:spcPts val="300"/>
              </a:spcBef>
              <a:buFontTx/>
              <a:buNone/>
            </a:pPr>
            <a:r>
              <a:rPr kumimoji="0" lang="en-US" altLang="zh-CN" sz="2400" b="1" i="1" dirty="0">
                <a:latin typeface="Trebuchet MS" panose="020B0603020202020204" pitchFamily="34" charset="0"/>
              </a:rPr>
              <a:t>     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 = { </a:t>
            </a:r>
            <a:r>
              <a:rPr kumimoji="0" lang="en-US" altLang="zh-CN" sz="2400" b="1" i="1" dirty="0">
                <a:latin typeface="Trebuchet MS" panose="020B0603020202020204" pitchFamily="34" charset="0"/>
              </a:rPr>
              <a:t>f</a:t>
            </a:r>
            <a:r>
              <a:rPr kumimoji="0" lang="en-US" altLang="zh-CN" sz="2400" b="1" dirty="0">
                <a:latin typeface="Trebuchet MS" panose="020B0603020202020204" pitchFamily="34" charset="0"/>
              </a:rPr>
              <a:t>(2) } = { 1 }</a:t>
            </a:r>
          </a:p>
          <a:p>
            <a:pPr eaLnBrk="1" hangingPunct="1">
              <a:lnSpc>
                <a:spcPct val="120000"/>
              </a:lnSpc>
              <a:spcBef>
                <a:spcPts val="300"/>
              </a:spcBef>
              <a:buFontTx/>
              <a:buNone/>
            </a:pPr>
            <a:r>
              <a:rPr lang="en-US" altLang="zh-CN" sz="2400" b="1" dirty="0">
                <a:solidFill>
                  <a:srgbClr val="0B61FF"/>
                </a:solidFill>
                <a:latin typeface="Trebuchet MS" panose="020B0603020202020204" pitchFamily="34" charset="0"/>
              </a:rPr>
              <a:t>(2) </a:t>
            </a:r>
            <a:r>
              <a:rPr lang="en-US" altLang="zh-CN" sz="2400" b="1" i="1" dirty="0">
                <a:latin typeface="Trebuchet MS" panose="020B0603020202020204" pitchFamily="34" charset="0"/>
              </a:rPr>
              <a:t>A</a:t>
            </a:r>
            <a:r>
              <a:rPr lang="en-US" altLang="zh-CN" sz="2400" b="1" dirty="0">
                <a:latin typeface="Trebuchet MS" panose="020B0603020202020204" pitchFamily="34" charset="0"/>
              </a:rPr>
              <a:t>={1, 2, 3}, </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en-US" altLang="zh-CN" sz="2400" b="1" i="1" dirty="0">
                <a:latin typeface="Trebuchet MS" panose="020B0603020202020204" pitchFamily="34" charset="0"/>
              </a:rPr>
              <a:t>c</a:t>
            </a:r>
            <a:r>
              <a:rPr lang="en-US" altLang="zh-CN" sz="2400" b="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rPr>
              <a:t>={&lt;1,</a:t>
            </a:r>
            <a:r>
              <a:rPr lang="en-US" altLang="zh-CN" sz="2400" b="1" i="1" dirty="0">
                <a:latin typeface="Trebuchet MS" panose="020B0603020202020204" pitchFamily="34" charset="0"/>
              </a:rPr>
              <a:t>a</a:t>
            </a:r>
            <a:r>
              <a:rPr lang="en-US" altLang="zh-CN" sz="2400" b="1" dirty="0">
                <a:latin typeface="Trebuchet MS" panose="020B0603020202020204" pitchFamily="34" charset="0"/>
              </a:rPr>
              <a:t>&gt;,&lt;2,</a:t>
            </a:r>
            <a:r>
              <a:rPr lang="en-US" altLang="zh-CN" sz="2400" b="1" i="1" dirty="0">
                <a:latin typeface="Trebuchet MS" panose="020B0603020202020204" pitchFamily="34" charset="0"/>
              </a:rPr>
              <a:t>a</a:t>
            </a:r>
            <a:r>
              <a:rPr lang="en-US" altLang="zh-CN" sz="2400" b="1" dirty="0">
                <a:latin typeface="Trebuchet MS" panose="020B0603020202020204" pitchFamily="34" charset="0"/>
              </a:rPr>
              <a:t>&gt;,&lt;3,</a:t>
            </a:r>
            <a:r>
              <a:rPr lang="en-US" altLang="zh-CN" sz="2400" b="1" i="1" dirty="0">
                <a:latin typeface="Trebuchet MS" panose="020B0603020202020204" pitchFamily="34" charset="0"/>
              </a:rPr>
              <a:t>b</a:t>
            </a:r>
            <a:r>
              <a:rPr lang="en-US" altLang="zh-CN" sz="2400" b="1" dirty="0">
                <a:latin typeface="Trebuchet MS" panose="020B0603020202020204" pitchFamily="34" charset="0"/>
              </a:rPr>
              <a:t>&gt;}</a:t>
            </a:r>
            <a:r>
              <a:rPr lang="zh-CN" altLang="en-US" sz="2400" b="1" dirty="0">
                <a:latin typeface="Trebuchet MS" panose="020B0603020202020204" pitchFamily="34" charset="0"/>
              </a:rPr>
              <a:t>，</a:t>
            </a:r>
            <a:r>
              <a:rPr lang="en-US" altLang="zh-CN" sz="2400" b="1" dirty="0">
                <a:latin typeface="Trebuchet MS" panose="020B0603020202020204" pitchFamily="34" charset="0"/>
              </a:rPr>
              <a:t>then</a:t>
            </a:r>
            <a:endParaRPr lang="zh-CN" altLang="en-US" sz="2400" b="1" dirty="0">
              <a:latin typeface="Trebuchet MS" panose="020B0603020202020204" pitchFamily="34" charset="0"/>
            </a:endParaRPr>
          </a:p>
          <a:p>
            <a:pPr indent="128588" eaLnBrk="1" hangingPunct="1">
              <a:lnSpc>
                <a:spcPct val="120000"/>
              </a:lnSpc>
              <a:spcBef>
                <a:spcPts val="300"/>
              </a:spcBef>
              <a:buClr>
                <a:srgbClr val="0B61FF"/>
              </a:buClr>
              <a:buSzPct val="120000"/>
            </a:pP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a,b</a:t>
            </a:r>
            <a:r>
              <a:rPr lang="en-US" altLang="zh-CN" sz="2400" b="1" dirty="0">
                <a:latin typeface="Trebuchet MS" panose="020B0603020202020204" pitchFamily="34" charset="0"/>
              </a:rPr>
              <a:t>}) ={1,2,3},  </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b,c</a:t>
            </a:r>
            <a:r>
              <a:rPr lang="en-US" altLang="zh-CN" sz="2400" b="1" dirty="0">
                <a:latin typeface="Trebuchet MS" panose="020B0603020202020204" pitchFamily="34" charset="0"/>
              </a:rPr>
              <a:t>}) ={3}</a:t>
            </a:r>
          </a:p>
          <a:p>
            <a:pPr indent="44450">
              <a:lnSpc>
                <a:spcPct val="120000"/>
              </a:lnSpc>
              <a:spcBef>
                <a:spcPts val="300"/>
              </a:spcBef>
              <a:buClr>
                <a:srgbClr val="0B61FF"/>
              </a:buClr>
              <a:buSzPct val="120000"/>
            </a:pPr>
            <a:r>
              <a:rPr lang="en-US" altLang="zh-CN" sz="2400" b="1" dirty="0">
                <a:latin typeface="Trebuchet MS" panose="020B0603020202020204" pitchFamily="34" charset="0"/>
              </a:rPr>
              <a:t>{1}</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{1,2}=</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({1})) </a:t>
            </a:r>
            <a:r>
              <a:rPr lang="zh-CN" altLang="en-US" sz="2400" b="1" dirty="0">
                <a:solidFill>
                  <a:schemeClr val="bg2">
                    <a:lumMod val="50000"/>
                  </a:schemeClr>
                </a:solidFill>
                <a:latin typeface="Trebuchet MS" panose="020B0603020202020204" pitchFamily="34" charset="0"/>
              </a:rPr>
              <a:t>（</a:t>
            </a:r>
            <a:r>
              <a:rPr lang="en-US" altLang="zh-CN" sz="2400" dirty="0">
                <a:solidFill>
                  <a:schemeClr val="bg2">
                    <a:lumMod val="50000"/>
                  </a:schemeClr>
                </a:solidFill>
                <a:latin typeface="Trebuchet MS" panose="020B0603020202020204" pitchFamily="34" charset="0"/>
              </a:rPr>
              <a:t>Non-injective functions expand preimages</a:t>
            </a:r>
            <a:r>
              <a:rPr lang="zh-CN" altLang="en-US" sz="2400" b="1" dirty="0">
                <a:solidFill>
                  <a:schemeClr val="bg2">
                    <a:lumMod val="50000"/>
                  </a:schemeClr>
                </a:solidFill>
                <a:latin typeface="Trebuchet MS" panose="020B0603020202020204" pitchFamily="34" charset="0"/>
              </a:rPr>
              <a:t>）</a:t>
            </a:r>
            <a:endParaRPr lang="en-US" altLang="zh-CN" sz="2400" b="1" dirty="0">
              <a:solidFill>
                <a:schemeClr val="bg2">
                  <a:lumMod val="50000"/>
                </a:schemeClr>
              </a:solidFill>
              <a:latin typeface="Trebuchet MS" panose="020B0603020202020204" pitchFamily="34" charset="0"/>
            </a:endParaRPr>
          </a:p>
          <a:p>
            <a:pPr indent="44450">
              <a:lnSpc>
                <a:spcPct val="120000"/>
              </a:lnSpc>
              <a:spcBef>
                <a:spcPts val="300"/>
              </a:spcBef>
              <a:buClr>
                <a:srgbClr val="0B61FF"/>
              </a:buClr>
              <a:buSzPct val="120000"/>
            </a:pPr>
            <a:r>
              <a:rPr lang="en-US" altLang="zh-CN" sz="2400" b="1" i="1" dirty="0">
                <a:latin typeface="Trebuchet MS" panose="020B0603020202020204" pitchFamily="34" charset="0"/>
              </a:rPr>
              <a:t> f</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b,c</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({3})={</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b, c</a:t>
            </a:r>
            <a:r>
              <a:rPr lang="en-US" altLang="zh-CN" sz="2400" b="1" dirty="0">
                <a:latin typeface="Trebuchet MS" panose="020B0603020202020204" pitchFamily="34" charset="0"/>
                <a:sym typeface="Symbol" panose="05050102010706020507" pitchFamily="18" charset="2"/>
              </a:rPr>
              <a:t>} </a:t>
            </a:r>
            <a:r>
              <a:rPr lang="zh-CN" altLang="en-US" sz="2400" b="1" dirty="0">
                <a:solidFill>
                  <a:schemeClr val="bg2">
                    <a:lumMod val="50000"/>
                  </a:schemeClr>
                </a:solidFill>
                <a:latin typeface="Trebuchet MS" panose="020B0603020202020204" pitchFamily="34" charset="0"/>
              </a:rPr>
              <a:t>（</a:t>
            </a:r>
            <a:r>
              <a:rPr lang="en-US" altLang="zh-CN" sz="2400" dirty="0">
                <a:solidFill>
                  <a:schemeClr val="bg2">
                    <a:lumMod val="50000"/>
                  </a:schemeClr>
                </a:solidFill>
                <a:latin typeface="Trebuchet MS" panose="020B0603020202020204" pitchFamily="34" charset="0"/>
              </a:rPr>
              <a:t>Non-surjective ones shrink images </a:t>
            </a:r>
            <a:r>
              <a:rPr lang="zh-CN" altLang="en-US" sz="2400" b="1" dirty="0">
                <a:solidFill>
                  <a:schemeClr val="bg2">
                    <a:lumMod val="50000"/>
                  </a:schemeClr>
                </a:solidFill>
                <a:latin typeface="Trebuchet MS" panose="020B0603020202020204" pitchFamily="34" charset="0"/>
              </a:rPr>
              <a:t>）</a:t>
            </a:r>
            <a:endParaRPr lang="en-US" altLang="zh-CN" sz="2400" b="1" dirty="0">
              <a:solidFill>
                <a:schemeClr val="bg2">
                  <a:lumMod val="50000"/>
                </a:schemeClr>
              </a:solidFill>
              <a:latin typeface="Trebuchet MS" panose="020B0603020202020204" pitchFamily="34" charset="0"/>
            </a:endParaRPr>
          </a:p>
          <a:p>
            <a:pPr eaLnBrk="1" hangingPunct="1">
              <a:lnSpc>
                <a:spcPct val="110000"/>
              </a:lnSpc>
              <a:buFontTx/>
              <a:buNone/>
            </a:pPr>
            <a:endParaRPr lang="en-US" altLang="zh-CN" sz="2400" b="1" dirty="0">
              <a:latin typeface="Trebuchet MS" panose="020B0603020202020204" pitchFamily="34" charset="0"/>
            </a:endParaRPr>
          </a:p>
          <a:p>
            <a:pPr eaLnBrk="1" hangingPunct="1">
              <a:lnSpc>
                <a:spcPct val="120000"/>
              </a:lnSpc>
              <a:spcBef>
                <a:spcPct val="0"/>
              </a:spcBef>
              <a:buFontTx/>
              <a:buNone/>
            </a:pPr>
            <a:r>
              <a:rPr kumimoji="0" lang="en-US" altLang="zh-CN" sz="2400" b="1" dirty="0">
                <a:latin typeface="Trebuchet MS" panose="020B0603020202020204" pitchFamily="34" charset="0"/>
              </a:rPr>
              <a:t> </a:t>
            </a:r>
            <a:endParaRPr kumimoji="0" lang="zh-CN" altLang="en-US" sz="2400" b="1" dirty="0">
              <a:latin typeface="Trebuchet MS" panose="020B0603020202020204" pitchFamily="34" charset="0"/>
            </a:endParaRPr>
          </a:p>
        </p:txBody>
      </p:sp>
      <mc:AlternateContent xmlns:mc="http://schemas.openxmlformats.org/markup-compatibility/2006">
        <mc:Choice xmlns:a14="http://schemas.microsoft.com/office/drawing/2010/main" Requires="a14">
          <p:sp>
            <p:nvSpPr>
              <p:cNvPr id="3" name="对象 2">
                <a:extLst>
                  <a:ext uri="{FF2B5EF4-FFF2-40B4-BE49-F238E27FC236}">
                    <a16:creationId xmlns:a16="http://schemas.microsoft.com/office/drawing/2014/main" id="{3B4359B2-6DBF-4AEE-97B5-45EEA1C62920}"/>
                  </a:ext>
                </a:extLst>
              </p:cNvPr>
              <p:cNvSpPr txBox="1"/>
              <p:nvPr/>
            </p:nvSpPr>
            <p:spPr>
              <a:xfrm>
                <a:off x="4864491" y="1011270"/>
                <a:ext cx="3554296" cy="1038247"/>
              </a:xfrm>
              <a:prstGeom prst="rect">
                <a:avLst/>
              </a:prstGeom>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sz="2400" b="1" i="1" smtClean="0">
                          <a:solidFill>
                            <a:srgbClr val="000000"/>
                          </a:solidFill>
                          <a:latin typeface="Cambria Math" panose="02040503050406030204" pitchFamily="18" charset="0"/>
                        </a:rPr>
                        <m:t>𝒇</m:t>
                      </m:r>
                      <m:r>
                        <a:rPr lang="zh-CN" altLang="en-US" sz="2400" b="1" i="1" smtClean="0">
                          <a:solidFill>
                            <a:srgbClr val="000000"/>
                          </a:solidFill>
                          <a:latin typeface="Cambria Math" panose="02040503050406030204" pitchFamily="18" charset="0"/>
                        </a:rPr>
                        <m:t>(</m:t>
                      </m:r>
                      <m:r>
                        <a:rPr lang="zh-CN" altLang="en-US" sz="2400" b="1" i="1" smtClean="0">
                          <a:solidFill>
                            <a:srgbClr val="000000"/>
                          </a:solidFill>
                          <a:latin typeface="Cambria Math" panose="02040503050406030204" pitchFamily="18" charset="0"/>
                        </a:rPr>
                        <m:t>𝒙</m:t>
                      </m:r>
                      <m:r>
                        <a:rPr lang="zh-CN" altLang="en-US" sz="2400" b="1" i="1" smtClean="0">
                          <a:solidFill>
                            <a:srgbClr val="000000"/>
                          </a:solidFill>
                          <a:latin typeface="Cambria Math" panose="02040503050406030204" pitchFamily="18" charset="0"/>
                        </a:rPr>
                        <m:t>)=</m:t>
                      </m:r>
                      <m:d>
                        <m:dPr>
                          <m:begChr m:val="{"/>
                          <m:endChr m:val=""/>
                          <m:ctrlPr>
                            <a:rPr lang="zh-CN" altLang="en-US" sz="2400" b="1" i="1">
                              <a:solidFill>
                                <a:srgbClr val="000000"/>
                              </a:solidFill>
                              <a:latin typeface="Cambria Math" panose="02040503050406030204" pitchFamily="18" charset="0"/>
                            </a:rPr>
                          </m:ctrlPr>
                        </m:dPr>
                        <m:e>
                          <m:m>
                            <m:mPr>
                              <m:plcHide m:val="on"/>
                              <m:mcs>
                                <m:mc>
                                  <m:mcPr>
                                    <m:count m:val="1"/>
                                    <m:mcJc m:val="center"/>
                                  </m:mcPr>
                                </m:mc>
                              </m:mcs>
                              <m:ctrlPr>
                                <a:rPr lang="zh-CN" altLang="en-US" sz="2400" b="1" i="1">
                                  <a:solidFill>
                                    <a:srgbClr val="000000"/>
                                  </a:solidFill>
                                  <a:latin typeface="Cambria Math" panose="02040503050406030204" pitchFamily="18" charset="0"/>
                                </a:rPr>
                              </m:ctrlPr>
                            </m:mPr>
                            <m:mr>
                              <m:e>
                                <m:f>
                                  <m:fPr>
                                    <m:ctrlPr>
                                      <a:rPr lang="zh-CN" altLang="en-US" sz="2400" b="1" i="1">
                                        <a:solidFill>
                                          <a:srgbClr val="000000"/>
                                        </a:solidFill>
                                        <a:latin typeface="Cambria Math" panose="02040503050406030204" pitchFamily="18" charset="0"/>
                                      </a:rPr>
                                    </m:ctrlPr>
                                  </m:fPr>
                                  <m:num>
                                    <m:r>
                                      <a:rPr lang="zh-CN" altLang="en-US" sz="2400" b="1" i="1">
                                        <a:solidFill>
                                          <a:srgbClr val="000000"/>
                                        </a:solidFill>
                                        <a:latin typeface="Cambria Math" panose="02040503050406030204" pitchFamily="18" charset="0"/>
                                      </a:rPr>
                                      <m:t>𝒙</m:t>
                                    </m:r>
                                  </m:num>
                                  <m:den>
                                    <m:r>
                                      <a:rPr lang="zh-CN" altLang="en-US" sz="2400" b="1" i="1">
                                        <a:solidFill>
                                          <a:srgbClr val="000000"/>
                                        </a:solidFill>
                                        <a:latin typeface="Cambria Math" panose="02040503050406030204" pitchFamily="18" charset="0"/>
                                      </a:rPr>
                                      <m:t>𝟐</m:t>
                                    </m:r>
                                  </m:den>
                                </m:f>
                                <m:r>
                                  <a:rPr lang="zh-CN" altLang="en-US" sz="2400" b="1" i="1">
                                    <a:solidFill>
                                      <a:srgbClr val="000000"/>
                                    </a:solidFill>
                                    <a:latin typeface="Cambria Math" panose="02040503050406030204" pitchFamily="18" charset="0"/>
                                  </a:rPr>
                                  <m:t>  </m:t>
                                </m:r>
                                <m:r>
                                  <a:rPr lang="en-US" altLang="zh-CN" sz="2400" b="1" i="1" smtClean="0">
                                    <a:solidFill>
                                      <a:srgbClr val="000000"/>
                                    </a:solidFill>
                                    <a:latin typeface="Cambria Math" panose="02040503050406030204" pitchFamily="18" charset="0"/>
                                  </a:rPr>
                                  <m:t>𝒊𝒇</m:t>
                                </m:r>
                                <m:r>
                                  <a:rPr lang="en-US" altLang="zh-CN" sz="2400" b="1" i="1" smtClean="0">
                                    <a:solidFill>
                                      <a:srgbClr val="000000"/>
                                    </a:solidFill>
                                    <a:latin typeface="Cambria Math" panose="02040503050406030204" pitchFamily="18" charset="0"/>
                                  </a:rPr>
                                  <m:t> </m:t>
                                </m:r>
                                <m:r>
                                  <a:rPr lang="zh-CN" altLang="en-US" sz="2400" b="1" i="1">
                                    <a:solidFill>
                                      <a:srgbClr val="000000"/>
                                    </a:solidFill>
                                    <a:latin typeface="Cambria Math" panose="02040503050406030204" pitchFamily="18" charset="0"/>
                                  </a:rPr>
                                  <m:t>𝒙</m:t>
                                </m:r>
                                <m:r>
                                  <a:rPr lang="en-US" altLang="zh-CN" sz="2400" b="1" i="1" smtClean="0">
                                    <a:solidFill>
                                      <a:srgbClr val="000000"/>
                                    </a:solidFill>
                                    <a:latin typeface="Cambria Math" panose="02040503050406030204" pitchFamily="18" charset="0"/>
                                  </a:rPr>
                                  <m:t> </m:t>
                                </m:r>
                                <m:r>
                                  <a:rPr lang="en-US" altLang="zh-CN" sz="2400" b="1" i="1" smtClean="0">
                                    <a:solidFill>
                                      <a:srgbClr val="000000"/>
                                    </a:solidFill>
                                    <a:latin typeface="Cambria Math" panose="02040503050406030204" pitchFamily="18" charset="0"/>
                                  </a:rPr>
                                  <m:t>𝒆𝒗𝒆𝒏</m:t>
                                </m:r>
                              </m:e>
                            </m:mr>
                            <m:mr>
                              <m:e>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𝟏</m:t>
                                </m:r>
                                <m:r>
                                  <a:rPr lang="zh-CN" altLang="en-US" sz="2400" b="1" i="1">
                                    <a:solidFill>
                                      <a:srgbClr val="000000"/>
                                    </a:solidFill>
                                    <a:latin typeface="Cambria Math" panose="02040503050406030204" pitchFamily="18" charset="0"/>
                                  </a:rPr>
                                  <m:t> </m:t>
                                </m:r>
                                <m:r>
                                  <a:rPr lang="en-US" altLang="zh-CN" sz="2400" b="1" i="1" smtClean="0">
                                    <a:solidFill>
                                      <a:srgbClr val="000000"/>
                                    </a:solidFill>
                                    <a:latin typeface="Cambria Math" panose="02040503050406030204" pitchFamily="18" charset="0"/>
                                  </a:rPr>
                                  <m:t>𝒊𝒇</m:t>
                                </m:r>
                                <m:r>
                                  <a:rPr lang="en-US" altLang="zh-CN" sz="2400" b="1" i="1" smtClean="0">
                                    <a:solidFill>
                                      <a:srgbClr val="000000"/>
                                    </a:solidFill>
                                    <a:latin typeface="Cambria Math" panose="02040503050406030204" pitchFamily="18" charset="0"/>
                                  </a:rPr>
                                  <m:t> </m:t>
                                </m:r>
                                <m:r>
                                  <a:rPr lang="zh-CN" altLang="en-US" sz="2400" b="1" i="1">
                                    <a:solidFill>
                                      <a:srgbClr val="000000"/>
                                    </a:solidFill>
                                    <a:latin typeface="Cambria Math" panose="02040503050406030204" pitchFamily="18" charset="0"/>
                                  </a:rPr>
                                  <m:t>𝒙</m:t>
                                </m:r>
                                <m:r>
                                  <a:rPr lang="en-US" altLang="zh-CN" sz="2400" b="1" i="1" smtClean="0">
                                    <a:solidFill>
                                      <a:srgbClr val="000000"/>
                                    </a:solidFill>
                                    <a:latin typeface="Cambria Math" panose="02040503050406030204" pitchFamily="18" charset="0"/>
                                  </a:rPr>
                                  <m:t> </m:t>
                                </m:r>
                                <m:r>
                                  <a:rPr lang="en-US" altLang="zh-CN" sz="2400" b="1" i="1" smtClean="0">
                                    <a:solidFill>
                                      <a:srgbClr val="000000"/>
                                    </a:solidFill>
                                    <a:latin typeface="Cambria Math" panose="02040503050406030204" pitchFamily="18" charset="0"/>
                                  </a:rPr>
                                  <m:t>𝒐𝒅𝒅</m:t>
                                </m:r>
                              </m:e>
                            </m:mr>
                          </m:m>
                        </m:e>
                      </m:d>
                    </m:oMath>
                  </m:oMathPara>
                </a14:m>
                <a:endParaRPr lang="zh-CN" altLang="en-US" sz="2400" b="1" dirty="0"/>
              </a:p>
            </p:txBody>
          </p:sp>
        </mc:Choice>
        <mc:Fallback>
          <p:sp>
            <p:nvSpPr>
              <p:cNvPr id="3" name="对象 2">
                <a:extLst>
                  <a:ext uri="{FF2B5EF4-FFF2-40B4-BE49-F238E27FC236}">
                    <a16:creationId xmlns:a16="http://schemas.microsoft.com/office/drawing/2014/main" id="{3B4359B2-6DBF-4AEE-97B5-45EEA1C62920}"/>
                  </a:ext>
                </a:extLst>
              </p:cNvPr>
              <p:cNvSpPr txBox="1">
                <a:spLocks noRot="1" noChangeAspect="1" noMove="1" noResize="1" noEditPoints="1" noAdjustHandles="1" noChangeArrowheads="1" noChangeShapeType="1" noTextEdit="1"/>
              </p:cNvSpPr>
              <p:nvPr/>
            </p:nvSpPr>
            <p:spPr>
              <a:xfrm>
                <a:off x="4864491" y="1011270"/>
                <a:ext cx="3554296" cy="1038247"/>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612105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3" end="3"/>
                                            </p:txEl>
                                          </p:spTgt>
                                        </p:tgtEl>
                                        <p:attrNameLst>
                                          <p:attrName>style.visibility</p:attrName>
                                        </p:attrNameLst>
                                      </p:cBhvr>
                                      <p:to>
                                        <p:strVal val="visible"/>
                                      </p:to>
                                    </p:set>
                                    <p:animEffect transition="in" filter="fade">
                                      <p:cBhvr>
                                        <p:cTn id="12" dur="1000"/>
                                        <p:tgtEl>
                                          <p:spTgt spid="11">
                                            <p:txEl>
                                              <p:pRg st="3" end="3"/>
                                            </p:txEl>
                                          </p:spTgt>
                                        </p:tgtEl>
                                      </p:cBhvr>
                                    </p:animEffect>
                                    <p:anim calcmode="lin" valueType="num">
                                      <p:cBhvr>
                                        <p:cTn id="13"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fade">
                                      <p:cBhvr>
                                        <p:cTn id="19" dur="1000"/>
                                        <p:tgtEl>
                                          <p:spTgt spid="11">
                                            <p:txEl>
                                              <p:pRg st="4" end="4"/>
                                            </p:txEl>
                                          </p:spTgt>
                                        </p:tgtEl>
                                      </p:cBhvr>
                                    </p:animEffect>
                                    <p:anim calcmode="lin" valueType="num">
                                      <p:cBhvr>
                                        <p:cTn id="20"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xEl>
                                              <p:pRg st="5" end="5"/>
                                            </p:txEl>
                                          </p:spTgt>
                                        </p:tgtEl>
                                        <p:attrNameLst>
                                          <p:attrName>style.visibility</p:attrName>
                                        </p:attrNameLst>
                                      </p:cBhvr>
                                      <p:to>
                                        <p:strVal val="visible"/>
                                      </p:to>
                                    </p:set>
                                    <p:animEffect transition="in" filter="fade">
                                      <p:cBhvr>
                                        <p:cTn id="24" dur="1000"/>
                                        <p:tgtEl>
                                          <p:spTgt spid="11">
                                            <p:txEl>
                                              <p:pRg st="5" end="5"/>
                                            </p:txEl>
                                          </p:spTgt>
                                        </p:tgtEl>
                                      </p:cBhvr>
                                    </p:animEffect>
                                    <p:anim calcmode="lin" valueType="num">
                                      <p:cBhvr>
                                        <p:cTn id="25"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animEffect transition="in" filter="fade">
                                      <p:cBhvr>
                                        <p:cTn id="31" dur="1000"/>
                                        <p:tgtEl>
                                          <p:spTgt spid="11">
                                            <p:txEl>
                                              <p:pRg st="6" end="6"/>
                                            </p:txEl>
                                          </p:spTgt>
                                        </p:tgtEl>
                                      </p:cBhvr>
                                    </p:animEffect>
                                    <p:anim calcmode="lin" valueType="num">
                                      <p:cBhvr>
                                        <p:cTn id="32"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1">
                                            <p:txEl>
                                              <p:pRg st="7" end="7"/>
                                            </p:txEl>
                                          </p:spTgt>
                                        </p:tgtEl>
                                        <p:attrNameLst>
                                          <p:attrName>style.visibility</p:attrName>
                                        </p:attrNameLst>
                                      </p:cBhvr>
                                      <p:to>
                                        <p:strVal val="visible"/>
                                      </p:to>
                                    </p:set>
                                    <p:animEffect transition="in" filter="fade">
                                      <p:cBhvr>
                                        <p:cTn id="38" dur="1000"/>
                                        <p:tgtEl>
                                          <p:spTgt spid="11">
                                            <p:txEl>
                                              <p:pRg st="7" end="7"/>
                                            </p:txEl>
                                          </p:spTgt>
                                        </p:tgtEl>
                                      </p:cBhvr>
                                    </p:animEffect>
                                    <p:anim calcmode="lin" valueType="num">
                                      <p:cBhvr>
                                        <p:cTn id="39"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40"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solidFill>
                  <a:schemeClr val="bg1"/>
                </a:solidFill>
                <a:latin typeface="Trebuchet MS" panose="020B0603020202020204" pitchFamily="34" charset="0"/>
              </a:rPr>
              <a:t>           5.1 Function Definition and Properties</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1"/>
            <a:ext cx="8798289" cy="5181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a:p>
            <a:pPr marL="342900" indent="-342900">
              <a:lnSpc>
                <a:spcPct val="15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5.1.1 Definition of a Function</a:t>
            </a:r>
          </a:p>
          <a:p>
            <a:pPr marL="342900" indent="-342900">
              <a:lnSpc>
                <a:spcPct val="15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5.1.2 Image and Preimage of a Function</a:t>
            </a:r>
          </a:p>
          <a:p>
            <a:pPr marL="342900" indent="-342900">
              <a:lnSpc>
                <a:spcPct val="15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5.1.3 Properties of a Function</a:t>
            </a:r>
          </a:p>
          <a:p>
            <a:pPr marL="892175" indent="273050">
              <a:lnSpc>
                <a:spcPct val="120000"/>
              </a:lnSpc>
              <a:spcBef>
                <a:spcPts val="600"/>
              </a:spcBef>
              <a:buClr>
                <a:srgbClr val="0B61FF"/>
              </a:buClr>
              <a:buSzPct val="120000"/>
            </a:pPr>
            <a:r>
              <a:rPr lang="en-US" sz="2400" dirty="0">
                <a:latin typeface="Trebuchet MS" panose="020B0603020202020204" pitchFamily="34" charset="0"/>
              </a:rPr>
              <a:t>Surjective, Injective, and Bijective Functions</a:t>
            </a:r>
          </a:p>
          <a:p>
            <a:pPr marL="892175" indent="273050">
              <a:lnSpc>
                <a:spcPct val="120000"/>
              </a:lnSpc>
              <a:spcBef>
                <a:spcPts val="600"/>
              </a:spcBef>
              <a:buClr>
                <a:srgbClr val="0B61FF"/>
              </a:buClr>
              <a:buSzPct val="120000"/>
            </a:pPr>
            <a:r>
              <a:rPr lang="en-US" sz="2400" dirty="0">
                <a:latin typeface="Trebuchet MS" panose="020B0603020202020204" pitchFamily="34" charset="0"/>
              </a:rPr>
              <a:t>Constructing a bijective function</a:t>
            </a:r>
          </a:p>
          <a:p>
            <a:pPr marL="0" indent="1165225" eaLnBrk="1" hangingPunct="1">
              <a:spcBef>
                <a:spcPct val="40000"/>
              </a:spcBef>
              <a:buNone/>
            </a:pPr>
            <a:endParaRPr lang="zh-CN" altLang="en-US" b="1" dirty="0"/>
          </a:p>
        </p:txBody>
      </p:sp>
    </p:spTree>
    <p:extLst>
      <p:ext uri="{BB962C8B-B14F-4D97-AF65-F5344CB8AC3E}">
        <p14:creationId xmlns:p14="http://schemas.microsoft.com/office/powerpoint/2010/main" val="2321168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5.1.3 Properties of a Function</a:t>
            </a: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t> </a:t>
            </a:r>
            <a:r>
              <a:rPr lang="en-US" altLang="zh-CN" sz="2400" b="1" dirty="0">
                <a:latin typeface="Trebuchet MS" panose="020B0603020202020204" pitchFamily="34" charset="0"/>
              </a:rPr>
              <a:t>Surjective, Injective, and Bijective Functions(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90436"/>
            <a:ext cx="10078857" cy="53246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Definitions of Surjective, Injective, and Bijective Functions</a:t>
            </a:r>
          </a:p>
          <a:p>
            <a:pPr>
              <a:lnSpc>
                <a:spcPct val="120000"/>
              </a:lnSpc>
              <a:spcBef>
                <a:spcPts val="300"/>
              </a:spcBef>
              <a:buClr>
                <a:srgbClr val="0B61FF"/>
              </a:buClr>
              <a:buSzPct val="80000"/>
              <a:buFont typeface="Wingdings" panose="05000000000000000000" pitchFamily="2" charset="2"/>
              <a:buChar char="n"/>
            </a:pPr>
            <a:r>
              <a:rPr lang="en-US" altLang="zh-CN" sz="2400" b="1" dirty="0"/>
              <a:t>Note</a:t>
            </a:r>
            <a:r>
              <a:rPr lang="zh-CN" altLang="en-US" sz="2400" b="1" dirty="0"/>
              <a:t>：</a:t>
            </a:r>
            <a:endParaRPr lang="en-US" altLang="zh-CN" sz="2400" b="1" dirty="0">
              <a:latin typeface="Trebuchet MS" panose="020B0603020202020204" pitchFamily="34" charset="0"/>
            </a:endParaRPr>
          </a:p>
          <a:p>
            <a:pPr indent="-49213">
              <a:lnSpc>
                <a:spcPct val="120000"/>
              </a:lnSpc>
              <a:spcBef>
                <a:spcPts val="300"/>
              </a:spcBef>
              <a:buClr>
                <a:srgbClr val="0B61FF"/>
              </a:buClr>
              <a:buSzPct val="120000"/>
            </a:pPr>
            <a:r>
              <a:rPr lang="en-US" altLang="zh-CN" sz="2400" b="1" dirty="0">
                <a:latin typeface="Trebuchet MS" panose="020B0603020202020204" pitchFamily="34" charset="0"/>
              </a:rPr>
              <a:t> Surjectivity</a:t>
            </a:r>
            <a:r>
              <a:rPr lang="en-US" altLang="zh-CN" sz="2400" dirty="0">
                <a:latin typeface="Trebuchet MS" panose="020B0603020202020204" pitchFamily="34" charset="0"/>
              </a:rPr>
              <a:t> means: for </a:t>
            </a:r>
            <a:r>
              <a:rPr lang="zh-CN" altLang="en-US"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en-US" altLang="zh-CN" sz="2400" dirty="0">
                <a:latin typeface="Trebuchet MS" panose="020B0603020202020204" pitchFamily="34" charset="0"/>
              </a:rPr>
              <a:t>here exists an </a:t>
            </a:r>
            <a:r>
              <a:rPr lang="en-US" altLang="zh-CN" sz="2400" b="1" i="1" dirty="0">
                <a:latin typeface="Trebuchet MS" panose="020B0603020202020204" pitchFamily="34" charset="0"/>
              </a:rPr>
              <a:t>x</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dirty="0">
                <a:latin typeface="Trebuchet MS" panose="020B0603020202020204" pitchFamily="34" charset="0"/>
              </a:rPr>
              <a:t>such that</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p>
          <a:p>
            <a:pPr indent="-49213">
              <a:lnSpc>
                <a:spcPct val="120000"/>
              </a:lnSpc>
              <a:spcBef>
                <a:spcPts val="300"/>
              </a:spcBef>
              <a:buClr>
                <a:srgbClr val="0B61FF"/>
              </a:buClr>
              <a:buSzPct val="120000"/>
            </a:pPr>
            <a:r>
              <a:rPr lang="en-US" altLang="zh-CN" sz="2400" b="1" dirty="0">
                <a:latin typeface="Trebuchet MS" panose="020B0603020202020204" pitchFamily="34" charset="0"/>
              </a:rPr>
              <a:t> Injectivity</a:t>
            </a:r>
            <a:r>
              <a:rPr lang="en-US" altLang="zh-CN" sz="2400" dirty="0">
                <a:latin typeface="Trebuchet MS" panose="020B0603020202020204" pitchFamily="34" charset="0"/>
              </a:rPr>
              <a:t> means: if </a:t>
            </a:r>
            <a:r>
              <a:rPr lang="zh-CN" altLang="en-US"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x</a:t>
            </a:r>
            <a:r>
              <a:rPr lang="en-US" altLang="zh-CN" sz="2400" b="1" baseline="-25000" dirty="0">
                <a:latin typeface="Trebuchet MS" panose="020B0603020202020204" pitchFamily="34" charset="0"/>
                <a:sym typeface="Symbol" panose="05050102010706020507" pitchFamily="18" charset="2"/>
              </a:rPr>
              <a:t>1</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x</a:t>
            </a:r>
            <a:r>
              <a:rPr lang="en-US" altLang="zh-CN" sz="2400" b="1" baseline="-25000" dirty="0">
                <a:latin typeface="Trebuchet MS" panose="020B0603020202020204" pitchFamily="34" charset="0"/>
                <a:sym typeface="Symbol" panose="05050102010706020507" pitchFamily="18" charset="2"/>
              </a:rPr>
              <a:t>2 .</a:t>
            </a:r>
          </a:p>
          <a:p>
            <a:pPr marL="357188" indent="-177800">
              <a:lnSpc>
                <a:spcPct val="120000"/>
              </a:lnSpc>
              <a:spcBef>
                <a:spcPts val="300"/>
              </a:spcBef>
              <a:buClr>
                <a:srgbClr val="0B61FF"/>
              </a:buClr>
              <a:buSzPct val="120000"/>
            </a:pPr>
            <a:r>
              <a:rPr lang="en-US" altLang="zh-CN" sz="2400" dirty="0">
                <a:latin typeface="Trebuchet MS" panose="020B0603020202020204" pitchFamily="34" charset="0"/>
              </a:rPr>
              <a:t>A surjection ensures full coverage of the codomain, an injection ensures no duplication in mapping, and a bijection guarantees reversibility.</a:t>
            </a:r>
            <a:r>
              <a:rPr lang="en-US" altLang="zh-CN" sz="2400" b="1" baseline="-25000" dirty="0">
                <a:latin typeface="Trebuchet MS" panose="020B0603020202020204" pitchFamily="34" charset="0"/>
                <a:sym typeface="Symbol" panose="05050102010706020507" pitchFamily="18" charset="2"/>
              </a:rPr>
              <a:t>                                      </a:t>
            </a:r>
            <a:endParaRPr lang="en-US" altLang="en-US" sz="2400" b="1" baseline="-25000" dirty="0">
              <a:latin typeface="Trebuchet MS" panose="020B0603020202020204" pitchFamily="34" charset="0"/>
              <a:sym typeface="Symbol" panose="05050102010706020507" pitchFamily="18" charset="2"/>
            </a:endParaRP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 </a:t>
            </a:r>
            <a:r>
              <a:rPr lang="en-US" altLang="zh-CN" sz="2400" dirty="0">
                <a:latin typeface="Trebuchet MS" panose="020B0603020202020204" pitchFamily="34" charset="0"/>
              </a:rPr>
              <a:t>Determine whether the following functions are injective, surjective, or bijective, and explain why.</a:t>
            </a:r>
            <a:br>
              <a:rPr lang="en-US" altLang="zh-CN" sz="2400" b="1" dirty="0">
                <a:latin typeface="Trebuchet MS" panose="020B0603020202020204" pitchFamily="34" charset="0"/>
              </a:rPr>
            </a:b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1</a:t>
            </a: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 </a:t>
            </a:r>
            <a:r>
              <a:rPr lang="en-US" altLang="zh-CN" sz="2400" b="1" i="1" dirty="0">
                <a:latin typeface="Times New Roman" panose="02020603050405020304" pitchFamily="18" charset="0"/>
              </a:rPr>
              <a:t>f</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R→R, </a:t>
            </a:r>
            <a:r>
              <a:rPr lang="en-US" altLang="zh-CN" sz="2400" b="1" i="1" dirty="0">
                <a:latin typeface="Times New Roman" panose="02020603050405020304" pitchFamily="18" charset="0"/>
              </a:rPr>
              <a:t>f</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x</a:t>
            </a:r>
            <a:r>
              <a:rPr lang="en-US" altLang="zh-CN" sz="2400" b="1" baseline="30000" dirty="0">
                <a:latin typeface="Times New Roman" panose="02020603050405020304" pitchFamily="18" charset="0"/>
              </a:rPr>
              <a:t>2</a:t>
            </a:r>
            <a:r>
              <a:rPr lang="en-US" altLang="zh-CN" sz="2400" b="1" dirty="0">
                <a:latin typeface="Times New Roman" panose="02020603050405020304" pitchFamily="18" charset="0"/>
              </a:rPr>
              <a:t>+2</a:t>
            </a:r>
            <a:r>
              <a:rPr lang="en-US" altLang="zh-CN" sz="2400" b="1" i="1" dirty="0">
                <a:latin typeface="Times New Roman" panose="02020603050405020304" pitchFamily="18" charset="0"/>
              </a:rPr>
              <a:t>x</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1</a:t>
            </a:r>
          </a:p>
          <a:p>
            <a:pPr indent="665163">
              <a:lnSpc>
                <a:spcPct val="120000"/>
              </a:lnSpc>
              <a:spcBef>
                <a:spcPts val="300"/>
              </a:spcBef>
              <a:buNone/>
            </a:pPr>
            <a:r>
              <a:rPr lang="en-US" altLang="zh-CN" sz="2400" b="1" dirty="0">
                <a:latin typeface="Trebuchet MS" panose="020B0603020202020204" pitchFamily="34" charset="0"/>
              </a:rPr>
              <a:t>Solution: </a:t>
            </a:r>
            <a:r>
              <a:rPr lang="en-US" altLang="zh-CN" sz="2400" dirty="0">
                <a:latin typeface="Trebuchet MS" panose="020B0603020202020204" pitchFamily="34" charset="0"/>
              </a:rPr>
              <a:t>When </a:t>
            </a:r>
            <a:r>
              <a:rPr lang="en-US" altLang="zh-CN" sz="2400" i="1" dirty="0">
                <a:latin typeface="Trebuchet MS" panose="020B0603020202020204" pitchFamily="34" charset="0"/>
              </a:rPr>
              <a:t>x=</a:t>
            </a:r>
            <a:r>
              <a:rPr lang="en-US" altLang="zh-CN" sz="2400" dirty="0">
                <a:latin typeface="Trebuchet MS" panose="020B0603020202020204" pitchFamily="34" charset="0"/>
              </a:rPr>
              <a:t>0,2</a:t>
            </a:r>
            <a:r>
              <a:rPr lang="zh-CN" altLang="en-US" sz="2400" dirty="0">
                <a:latin typeface="Trebuchet MS" panose="020B0603020202020204" pitchFamily="34" charset="0"/>
              </a:rPr>
              <a:t> ，</a:t>
            </a:r>
            <a:r>
              <a:rPr lang="en-US" altLang="zh-CN" sz="2400" i="1" dirty="0">
                <a:latin typeface="Trebuchet MS" panose="020B0603020202020204" pitchFamily="34" charset="0"/>
              </a:rPr>
              <a:t>f</a:t>
            </a:r>
            <a:r>
              <a:rPr lang="en-US" altLang="zh-CN" sz="2400" dirty="0">
                <a:latin typeface="Trebuchet MS" panose="020B0603020202020204" pitchFamily="34" charset="0"/>
              </a:rPr>
              <a:t>(</a:t>
            </a:r>
            <a:r>
              <a:rPr lang="en-US" altLang="zh-CN" sz="2400" i="1" dirty="0">
                <a:latin typeface="Trebuchet MS" panose="020B0603020202020204" pitchFamily="34" charset="0"/>
              </a:rPr>
              <a:t>x</a:t>
            </a:r>
            <a:r>
              <a:rPr lang="en-US" altLang="zh-CN" sz="2400" dirty="0">
                <a:latin typeface="Trebuchet MS" panose="020B0603020202020204" pitchFamily="34" charset="0"/>
              </a:rPr>
              <a:t>)=-1</a:t>
            </a:r>
            <a:r>
              <a:rPr lang="zh-CN" altLang="en-US" sz="2400" b="1" dirty="0">
                <a:latin typeface="Trebuchet MS" panose="020B0603020202020204" pitchFamily="34" charset="0"/>
              </a:rPr>
              <a:t>，</a:t>
            </a:r>
            <a:r>
              <a:rPr lang="en-US" altLang="zh-CN" sz="2400" dirty="0">
                <a:latin typeface="Trebuchet MS" panose="020B0603020202020204" pitchFamily="34" charset="0"/>
              </a:rPr>
              <a:t> so it is not injective </a:t>
            </a:r>
            <a:r>
              <a:rPr lang="en-US" altLang="zh-CN" sz="2400" b="1" dirty="0">
                <a:latin typeface="Trebuchet MS" panose="020B0603020202020204" pitchFamily="34" charset="0"/>
              </a:rPr>
              <a:t>.</a:t>
            </a:r>
          </a:p>
          <a:p>
            <a:pPr marL="0" indent="0">
              <a:lnSpc>
                <a:spcPct val="110000"/>
              </a:lnSpc>
              <a:spcBef>
                <a:spcPct val="0"/>
              </a:spcBef>
              <a:buClrTx/>
              <a:buSzTx/>
              <a:buNone/>
            </a:pP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eaLnBrk="1" hangingPunct="1">
              <a:lnSpc>
                <a:spcPct val="110000"/>
              </a:lnSpc>
              <a:spcBef>
                <a:spcPct val="0"/>
              </a:spcBef>
              <a:buFontTx/>
              <a:buNone/>
            </a:pPr>
            <a:endParaRPr lang="en-US" altLang="zh-CN" sz="2400" b="1" dirty="0">
              <a:latin typeface="Trebuchet MS" panose="020B0603020202020204" pitchFamily="34" charset="0"/>
            </a:endParaRPr>
          </a:p>
        </p:txBody>
      </p:sp>
    </p:spTree>
    <p:extLst>
      <p:ext uri="{BB962C8B-B14F-4D97-AF65-F5344CB8AC3E}">
        <p14:creationId xmlns:p14="http://schemas.microsoft.com/office/powerpoint/2010/main" val="39946475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xEl>
                                              <p:pRg st="6" end="6"/>
                                            </p:txEl>
                                          </p:spTgt>
                                        </p:tgtEl>
                                        <p:attrNameLst>
                                          <p:attrName>style.visibility</p:attrName>
                                        </p:attrNameLst>
                                      </p:cBhvr>
                                      <p:to>
                                        <p:strVal val="visible"/>
                                      </p:to>
                                    </p:set>
                                    <p:animEffect transition="in" filter="fade">
                                      <p:cBhvr>
                                        <p:cTn id="38" dur="1000"/>
                                        <p:tgtEl>
                                          <p:spTgt spid="8">
                                            <p:txEl>
                                              <p:pRg st="6" end="6"/>
                                            </p:txEl>
                                          </p:spTgt>
                                        </p:tgtEl>
                                      </p:cBhvr>
                                    </p:animEffect>
                                    <p:anim calcmode="lin" valueType="num">
                                      <p:cBhvr>
                                        <p:cTn id="39"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5.1.3 Properties of a Function</a:t>
            </a: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t> </a:t>
            </a:r>
            <a:r>
              <a:rPr lang="en-US" altLang="zh-CN" sz="2400" b="1" dirty="0">
                <a:latin typeface="Trebuchet MS" panose="020B0603020202020204" pitchFamily="34" charset="0"/>
              </a:rPr>
              <a:t>Surjective, Injective, and Bijective Functions(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90436"/>
            <a:ext cx="10078857" cy="53246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 </a:t>
            </a:r>
            <a:r>
              <a:rPr lang="en-US" altLang="zh-CN" sz="2400" dirty="0">
                <a:latin typeface="Trebuchet MS" panose="020B0603020202020204" pitchFamily="34" charset="0"/>
              </a:rPr>
              <a:t>Determine whether the following functions are injective, surjective, or bijective, and explain why.</a:t>
            </a:r>
            <a:br>
              <a:rPr lang="en-US" altLang="zh-CN" sz="2400" b="1" dirty="0">
                <a:latin typeface="Trebuchet MS" panose="020B0603020202020204" pitchFamily="34" charset="0"/>
              </a:rPr>
            </a:b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1</a:t>
            </a: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 </a:t>
            </a:r>
            <a:r>
              <a:rPr lang="en-US" altLang="zh-CN" sz="2400" b="1" i="1" dirty="0">
                <a:latin typeface="Times New Roman" panose="02020603050405020304" pitchFamily="18" charset="0"/>
              </a:rPr>
              <a:t>f</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R→R, </a:t>
            </a:r>
            <a:r>
              <a:rPr lang="en-US" altLang="zh-CN" sz="2400" b="1" i="1" dirty="0">
                <a:latin typeface="Times New Roman" panose="02020603050405020304" pitchFamily="18" charset="0"/>
              </a:rPr>
              <a:t>f</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x</a:t>
            </a:r>
            <a:r>
              <a:rPr lang="en-US" altLang="zh-CN" sz="2400" b="1" baseline="30000" dirty="0">
                <a:latin typeface="Times New Roman" panose="02020603050405020304" pitchFamily="18" charset="0"/>
              </a:rPr>
              <a:t>2</a:t>
            </a:r>
            <a:r>
              <a:rPr lang="en-US" altLang="zh-CN" sz="2400" b="1" dirty="0">
                <a:latin typeface="Times New Roman" panose="02020603050405020304" pitchFamily="18" charset="0"/>
              </a:rPr>
              <a:t>+2</a:t>
            </a:r>
            <a:r>
              <a:rPr lang="en-US" altLang="zh-CN" sz="2400" b="1" i="1" dirty="0">
                <a:latin typeface="Times New Roman" panose="02020603050405020304" pitchFamily="18" charset="0"/>
              </a:rPr>
              <a:t>x</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1</a:t>
            </a:r>
          </a:p>
          <a:p>
            <a:pPr indent="665163">
              <a:lnSpc>
                <a:spcPct val="120000"/>
              </a:lnSpc>
              <a:spcBef>
                <a:spcPts val="300"/>
              </a:spcBef>
              <a:buNone/>
            </a:pPr>
            <a:r>
              <a:rPr lang="en-US" altLang="zh-CN" sz="2400" b="1" dirty="0">
                <a:solidFill>
                  <a:srgbClr val="0B61FF"/>
                </a:solidFill>
                <a:latin typeface="Trebuchet MS" panose="020B0603020202020204" pitchFamily="34" charset="0"/>
              </a:rPr>
              <a:t>Solution:</a:t>
            </a:r>
            <a:r>
              <a:rPr lang="en-US" altLang="zh-CN" sz="2400" b="1" dirty="0">
                <a:latin typeface="Trebuchet MS" panose="020B0603020202020204" pitchFamily="34" charset="0"/>
              </a:rPr>
              <a:t> </a:t>
            </a:r>
            <a:r>
              <a:rPr lang="en-US" altLang="zh-CN" sz="2400" dirty="0">
                <a:latin typeface="Trebuchet MS" panose="020B0603020202020204" pitchFamily="34" charset="0"/>
              </a:rPr>
              <a:t>When </a:t>
            </a:r>
            <a:r>
              <a:rPr lang="en-US" altLang="zh-CN" sz="2400" i="1" dirty="0">
                <a:latin typeface="Trebuchet MS" panose="020B0603020202020204" pitchFamily="34" charset="0"/>
              </a:rPr>
              <a:t>x=</a:t>
            </a:r>
            <a:r>
              <a:rPr lang="en-US" altLang="zh-CN" sz="2400" dirty="0">
                <a:latin typeface="Trebuchet MS" panose="020B0603020202020204" pitchFamily="34" charset="0"/>
              </a:rPr>
              <a:t>0,2</a:t>
            </a:r>
            <a:r>
              <a:rPr lang="zh-CN" altLang="en-US" sz="2400" dirty="0">
                <a:latin typeface="Trebuchet MS" panose="020B0603020202020204" pitchFamily="34" charset="0"/>
              </a:rPr>
              <a:t> ，</a:t>
            </a:r>
            <a:r>
              <a:rPr lang="en-US" altLang="zh-CN" sz="2400" i="1" dirty="0">
                <a:latin typeface="Trebuchet MS" panose="020B0603020202020204" pitchFamily="34" charset="0"/>
              </a:rPr>
              <a:t>f</a:t>
            </a:r>
            <a:r>
              <a:rPr lang="en-US" altLang="zh-CN" sz="2400" dirty="0">
                <a:latin typeface="Trebuchet MS" panose="020B0603020202020204" pitchFamily="34" charset="0"/>
              </a:rPr>
              <a:t>(</a:t>
            </a:r>
            <a:r>
              <a:rPr lang="en-US" altLang="zh-CN" sz="2400" i="1" dirty="0">
                <a:latin typeface="Trebuchet MS" panose="020B0603020202020204" pitchFamily="34" charset="0"/>
              </a:rPr>
              <a:t>x</a:t>
            </a:r>
            <a:r>
              <a:rPr lang="en-US" altLang="zh-CN" sz="2400" dirty="0">
                <a:latin typeface="Trebuchet MS" panose="020B0603020202020204" pitchFamily="34" charset="0"/>
              </a:rPr>
              <a:t>)=-1</a:t>
            </a:r>
            <a:r>
              <a:rPr lang="zh-CN" altLang="en-US" sz="2400" b="1" dirty="0">
                <a:latin typeface="Trebuchet MS" panose="020B0603020202020204" pitchFamily="34" charset="0"/>
              </a:rPr>
              <a:t>，</a:t>
            </a:r>
            <a:r>
              <a:rPr lang="en-US" altLang="zh-CN" sz="2400" dirty="0">
                <a:latin typeface="Trebuchet MS" panose="020B0603020202020204" pitchFamily="34" charset="0"/>
              </a:rPr>
              <a:t> so it is </a:t>
            </a:r>
            <a:r>
              <a:rPr lang="en-US" altLang="zh-CN" sz="2400" b="1" i="1" dirty="0">
                <a:latin typeface="Trebuchet MS" panose="020B0603020202020204" pitchFamily="34" charset="0"/>
              </a:rPr>
              <a:t>not injective </a:t>
            </a:r>
            <a:r>
              <a:rPr lang="en-US" altLang="zh-CN" sz="2400" b="1" dirty="0">
                <a:latin typeface="Trebuchet MS" panose="020B0603020202020204" pitchFamily="34" charset="0"/>
              </a:rPr>
              <a:t>.</a:t>
            </a:r>
          </a:p>
          <a:p>
            <a:pPr marL="0" indent="0">
              <a:lnSpc>
                <a:spcPct val="110000"/>
              </a:lnSpc>
              <a:spcBef>
                <a:spcPct val="0"/>
              </a:spcBef>
              <a:buClrTx/>
              <a:buSzTx/>
              <a:buNone/>
            </a:pP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eaLnBrk="1" hangingPunct="1">
              <a:lnSpc>
                <a:spcPct val="110000"/>
              </a:lnSpc>
              <a:spcBef>
                <a:spcPct val="0"/>
              </a:spcBef>
              <a:buFontTx/>
              <a:buNone/>
            </a:pPr>
            <a:endParaRPr lang="en-US" altLang="zh-CN" sz="2400" b="1" dirty="0">
              <a:latin typeface="Trebuchet MS" panose="020B0603020202020204" pitchFamily="34" charset="0"/>
            </a:endParaRPr>
          </a:p>
        </p:txBody>
      </p:sp>
      <p:pic>
        <p:nvPicPr>
          <p:cNvPr id="9" name="图片 8">
            <a:extLst>
              <a:ext uri="{FF2B5EF4-FFF2-40B4-BE49-F238E27FC236}">
                <a16:creationId xmlns:a16="http://schemas.microsoft.com/office/drawing/2014/main" id="{95CA6993-3EE4-4659-8D23-39EE56D8AB6F}"/>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924578" y="2710392"/>
            <a:ext cx="2656714" cy="2797028"/>
          </a:xfrm>
          <a:prstGeom prst="rect">
            <a:avLst/>
          </a:prstGeom>
        </p:spPr>
      </p:pic>
      <p:sp>
        <p:nvSpPr>
          <p:cNvPr id="10" name="文本框 9">
            <a:extLst>
              <a:ext uri="{FF2B5EF4-FFF2-40B4-BE49-F238E27FC236}">
                <a16:creationId xmlns:a16="http://schemas.microsoft.com/office/drawing/2014/main" id="{CAEE74E1-6D3B-473D-B4EE-FDCDFE1B8BD5}"/>
              </a:ext>
            </a:extLst>
          </p:cNvPr>
          <p:cNvSpPr txBox="1"/>
          <p:nvPr/>
        </p:nvSpPr>
        <p:spPr>
          <a:xfrm>
            <a:off x="4740165" y="3042952"/>
            <a:ext cx="5527257" cy="1569660"/>
          </a:xfrm>
          <a:prstGeom prst="rect">
            <a:avLst/>
          </a:prstGeom>
          <a:noFill/>
        </p:spPr>
        <p:txBody>
          <a:bodyPr wrap="square">
            <a:spAutoFit/>
          </a:bodyPr>
          <a:lstStyle/>
          <a:p>
            <a:r>
              <a:rPr lang="en-US" altLang="zh-CN" sz="2400" dirty="0">
                <a:latin typeface="Trebuchet MS" panose="020B0603020202020204" pitchFamily="34" charset="0"/>
              </a:rPr>
              <a:t>As shown in the figure, the function </a:t>
            </a:r>
            <a:r>
              <a:rPr lang="en-US" altLang="zh-CN" sz="2400" b="1" i="1" dirty="0">
                <a:latin typeface="Trebuchet MS" panose="020B0603020202020204" pitchFamily="34" charset="0"/>
              </a:rPr>
              <a:t>f</a:t>
            </a:r>
            <a:r>
              <a:rPr lang="en-US" altLang="zh-CN" sz="2400" dirty="0">
                <a:latin typeface="Trebuchet MS" panose="020B0603020202020204" pitchFamily="34" charset="0"/>
              </a:rPr>
              <a:t> cannot map to any positive real number, and thus it is </a:t>
            </a:r>
            <a:r>
              <a:rPr lang="en-US" altLang="zh-CN" sz="2400" b="1" i="1" dirty="0">
                <a:latin typeface="Trebuchet MS" panose="020B0603020202020204" pitchFamily="34" charset="0"/>
              </a:rPr>
              <a:t>neither surjective nor bijective</a:t>
            </a:r>
            <a:r>
              <a:rPr lang="en-US" altLang="zh-CN" sz="2400" dirty="0">
                <a:latin typeface="Trebuchet MS" panose="020B0603020202020204" pitchFamily="34" charset="0"/>
              </a:rPr>
              <a:t>.</a:t>
            </a:r>
            <a:endParaRPr lang="zh-CN" altLang="en-US" dirty="0">
              <a:latin typeface="Trebuchet MS" panose="020B0603020202020204" pitchFamily="34" charset="0"/>
            </a:endParaRPr>
          </a:p>
        </p:txBody>
      </p:sp>
    </p:spTree>
    <p:extLst>
      <p:ext uri="{BB962C8B-B14F-4D97-AF65-F5344CB8AC3E}">
        <p14:creationId xmlns:p14="http://schemas.microsoft.com/office/powerpoint/2010/main" val="33440204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1+#ppt_w/2"/>
                                          </p:val>
                                        </p:tav>
                                        <p:tav tm="100000">
                                          <p:val>
                                            <p:strVal val="#ppt_x"/>
                                          </p:val>
                                        </p:tav>
                                      </p:tavLst>
                                    </p:anim>
                                    <p:anim calcmode="lin" valueType="num">
                                      <p:cBhvr additive="base">
                                        <p:cTn id="15"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1" end="1"/>
                                            </p:txEl>
                                          </p:spTgt>
                                        </p:tgtEl>
                                        <p:attrNameLst>
                                          <p:attrName>style.visibility</p:attrName>
                                        </p:attrNameLst>
                                      </p:cBhvr>
                                      <p:to>
                                        <p:strVal val="visible"/>
                                      </p:to>
                                    </p:set>
                                    <p:animEffect transition="in" filter="fade">
                                      <p:cBhvr>
                                        <p:cTn id="20"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5.1.3 Properties of a Function</a:t>
            </a: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t> </a:t>
            </a:r>
            <a:r>
              <a:rPr lang="en-US" altLang="zh-CN" sz="2400" b="1" dirty="0">
                <a:latin typeface="Trebuchet MS" panose="020B0603020202020204" pitchFamily="34" charset="0"/>
              </a:rPr>
              <a:t>Surjective, Injective, and Bijective Functions(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90436"/>
            <a:ext cx="10078857" cy="53246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 </a:t>
            </a:r>
            <a:r>
              <a:rPr lang="en-US" altLang="zh-CN" sz="2400" dirty="0">
                <a:latin typeface="Trebuchet MS" panose="020B0603020202020204" pitchFamily="34" charset="0"/>
              </a:rPr>
              <a:t>Determine whether the following functions are injective, surjective, or bijective, and explain why.</a:t>
            </a:r>
            <a:br>
              <a:rPr lang="en-US" altLang="zh-CN" sz="2400" b="1" dirty="0">
                <a:latin typeface="Trebuchet MS" panose="020B0603020202020204" pitchFamily="34" charset="0"/>
              </a:rPr>
            </a:b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2</a:t>
            </a: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 </a:t>
            </a:r>
            <a:r>
              <a:rPr lang="en-US" altLang="zh-CN" sz="2400" b="1" i="1" dirty="0">
                <a:latin typeface="Times New Roman" panose="02020603050405020304" pitchFamily="18" charset="0"/>
              </a:rPr>
              <a:t>f</a:t>
            </a:r>
            <a:r>
              <a:rPr lang="zh-CN" altLang="en-US" sz="2400" b="1" dirty="0">
                <a:latin typeface="Times New Roman" panose="02020603050405020304" pitchFamily="18" charset="0"/>
              </a:rPr>
              <a:t>：</a:t>
            </a:r>
            <a:r>
              <a:rPr lang="en-US" altLang="zh-CN" sz="1600" b="1" dirty="0">
                <a:latin typeface="Times New Roman" panose="02020603050405020304" pitchFamily="18" charset="0"/>
              </a:rPr>
              <a:t> </a:t>
            </a:r>
            <a:r>
              <a:rPr lang="en-US" altLang="zh-CN" sz="2400" b="1" dirty="0">
                <a:latin typeface="Trebuchet MS" panose="020B0603020202020204" pitchFamily="34" charset="0"/>
              </a:rPr>
              <a:t>Z</a:t>
            </a:r>
            <a:r>
              <a:rPr lang="en-US" altLang="zh-CN" sz="2400" b="1" baseline="30000" dirty="0">
                <a:latin typeface="Trebuchet MS" panose="020B0603020202020204" pitchFamily="34" charset="0"/>
              </a:rPr>
              <a:t>+</a:t>
            </a:r>
            <a:r>
              <a:rPr lang="en-US" altLang="zh-CN" sz="2400" b="1" dirty="0">
                <a:latin typeface="Trebuchet MS" panose="020B0603020202020204" pitchFamily="34" charset="0"/>
              </a:rPr>
              <a:t>→R, f(x)=lnx, Z</a:t>
            </a:r>
            <a:r>
              <a:rPr lang="en-US" altLang="zh-CN" sz="2400" b="1" baseline="30000" dirty="0">
                <a:latin typeface="Trebuchet MS" panose="020B0603020202020204" pitchFamily="34" charset="0"/>
              </a:rPr>
              <a:t>+</a:t>
            </a:r>
            <a:r>
              <a:rPr lang="en-US" altLang="zh-CN" sz="2400" dirty="0">
                <a:latin typeface="Trebuchet MS" panose="020B0603020202020204" pitchFamily="34" charset="0"/>
              </a:rPr>
              <a:t> is the set of positive integers. </a:t>
            </a:r>
          </a:p>
          <a:p>
            <a:pPr marL="0" indent="0">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        Solution:</a:t>
            </a:r>
          </a:p>
          <a:p>
            <a:pPr marL="0" indent="0">
              <a:lnSpc>
                <a:spcPct val="110000"/>
              </a:lnSpc>
              <a:spcBef>
                <a:spcPct val="0"/>
              </a:spcBef>
              <a:buClrTx/>
              <a:buSzTx/>
              <a:buNone/>
            </a:pP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eaLnBrk="1" hangingPunct="1">
              <a:lnSpc>
                <a:spcPct val="110000"/>
              </a:lnSpc>
              <a:spcBef>
                <a:spcPct val="0"/>
              </a:spcBef>
              <a:buFontTx/>
              <a:buNone/>
            </a:pPr>
            <a:endParaRPr lang="en-US" altLang="zh-CN" sz="2400" b="1" dirty="0">
              <a:latin typeface="Trebuchet MS" panose="020B0603020202020204" pitchFamily="34" charset="0"/>
            </a:endParaRPr>
          </a:p>
        </p:txBody>
      </p:sp>
      <p:pic>
        <p:nvPicPr>
          <p:cNvPr id="11" name="图片 10">
            <a:extLst>
              <a:ext uri="{FF2B5EF4-FFF2-40B4-BE49-F238E27FC236}">
                <a16:creationId xmlns:a16="http://schemas.microsoft.com/office/drawing/2014/main" id="{86AD5A3C-DDDD-4E98-907E-36B35ABE9FE4}"/>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639774" y="2797919"/>
            <a:ext cx="3337954" cy="2530826"/>
          </a:xfrm>
          <a:prstGeom prst="rect">
            <a:avLst/>
          </a:prstGeom>
        </p:spPr>
      </p:pic>
      <p:sp>
        <p:nvSpPr>
          <p:cNvPr id="12" name="文本框 11">
            <a:extLst>
              <a:ext uri="{FF2B5EF4-FFF2-40B4-BE49-F238E27FC236}">
                <a16:creationId xmlns:a16="http://schemas.microsoft.com/office/drawing/2014/main" id="{85BC5688-BF6E-4D10-BED5-2987D345CE48}"/>
              </a:ext>
            </a:extLst>
          </p:cNvPr>
          <p:cNvSpPr txBox="1"/>
          <p:nvPr/>
        </p:nvSpPr>
        <p:spPr>
          <a:xfrm>
            <a:off x="5402318" y="2797919"/>
            <a:ext cx="5432206" cy="2306657"/>
          </a:xfrm>
          <a:prstGeom prst="rect">
            <a:avLst/>
          </a:prstGeom>
          <a:noFill/>
        </p:spPr>
        <p:txBody>
          <a:bodyPr wrap="square">
            <a:spAutoFit/>
          </a:bodyPr>
          <a:lstStyle/>
          <a:p>
            <a:pPr>
              <a:lnSpc>
                <a:spcPct val="120000"/>
              </a:lnSpc>
              <a:spcBef>
                <a:spcPts val="300"/>
              </a:spcBef>
              <a:buNone/>
            </a:pPr>
            <a:r>
              <a:rPr lang="en-US" altLang="zh-CN" sz="2400" b="1" dirty="0">
                <a:latin typeface="Trebuchet MS" panose="020B0603020202020204" pitchFamily="34" charset="0"/>
              </a:rPr>
              <a:t>Solution: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dirty="0">
                <a:latin typeface="Trebuchet MS" panose="020B0603020202020204" pitchFamily="34" charset="0"/>
              </a:rPr>
              <a:t> is monotonically increasing, so it is </a:t>
            </a:r>
            <a:r>
              <a:rPr lang="en-US" altLang="zh-CN" sz="2400" b="1" i="1" dirty="0">
                <a:latin typeface="Trebuchet MS" panose="020B0603020202020204" pitchFamily="34" charset="0"/>
              </a:rPr>
              <a:t>injective</a:t>
            </a:r>
            <a:r>
              <a:rPr lang="en-US" altLang="zh-CN" sz="2400" dirty="0">
                <a:latin typeface="Trebuchet MS" panose="020B0603020202020204" pitchFamily="34" charset="0"/>
              </a:rPr>
              <a:t>.</a:t>
            </a:r>
          </a:p>
          <a:p>
            <a:pPr>
              <a:lnSpc>
                <a:spcPct val="120000"/>
              </a:lnSpc>
              <a:spcBef>
                <a:spcPts val="300"/>
              </a:spcBef>
              <a:buNone/>
            </a:pPr>
            <a:r>
              <a:rPr lang="en-US" altLang="zh-CN" sz="2400" dirty="0">
                <a:latin typeface="Trebuchet MS" panose="020B0603020202020204" pitchFamily="34" charset="0"/>
              </a:rPr>
              <a:t>Since </a:t>
            </a:r>
            <a:r>
              <a:rPr lang="en-US" altLang="zh-CN" sz="2400" b="1" dirty="0">
                <a:latin typeface="Trebuchet MS" panose="020B0603020202020204" pitchFamily="34" charset="0"/>
              </a:rPr>
              <a:t>ran</a:t>
            </a:r>
            <a:r>
              <a:rPr lang="en-US" altLang="zh-CN" sz="2400" b="1" i="1" dirty="0">
                <a:latin typeface="Trebuchet MS" panose="020B0603020202020204" pitchFamily="34" charset="0"/>
              </a:rPr>
              <a:t>f</a:t>
            </a:r>
            <a:r>
              <a:rPr lang="en-US" altLang="zh-CN" sz="2400" b="1" dirty="0">
                <a:latin typeface="Trebuchet MS" panose="020B0603020202020204" pitchFamily="34" charset="0"/>
              </a:rPr>
              <a:t>={ln⁡1,ln⁡2,…} </a:t>
            </a:r>
            <a:r>
              <a:rPr lang="en-US" altLang="zh-CN" sz="2400" dirty="0">
                <a:latin typeface="Trebuchet MS" panose="020B0603020202020204" pitchFamily="34" charset="0"/>
              </a:rPr>
              <a:t>cannot cover all values in the real number set </a:t>
            </a:r>
            <a:r>
              <a:rPr lang="en-US" altLang="zh-CN" sz="2400" b="1" dirty="0">
                <a:latin typeface="Trebuchet MS" panose="020B0603020202020204" pitchFamily="34" charset="0"/>
              </a:rPr>
              <a:t>R</a:t>
            </a:r>
            <a:r>
              <a:rPr lang="en-US" altLang="zh-CN" sz="2400" dirty="0">
                <a:latin typeface="Trebuchet MS" panose="020B0603020202020204" pitchFamily="34" charset="0"/>
              </a:rPr>
              <a:t>, </a:t>
            </a:r>
            <a:r>
              <a:rPr lang="en-US" altLang="zh-CN" sz="2400" b="1" i="1" dirty="0">
                <a:latin typeface="Trebuchet MS" panose="020B0603020202020204" pitchFamily="34" charset="0"/>
              </a:rPr>
              <a:t>f</a:t>
            </a:r>
            <a:r>
              <a:rPr lang="en-US" altLang="zh-CN" sz="2400" dirty="0">
                <a:latin typeface="Trebuchet MS" panose="020B0603020202020204" pitchFamily="34" charset="0"/>
              </a:rPr>
              <a:t> is not surjective.</a:t>
            </a:r>
            <a:endParaRPr lang="en-US" altLang="zh-CN" sz="2400" b="1" dirty="0">
              <a:latin typeface="Trebuchet MS" panose="020B0603020202020204" pitchFamily="34" charset="0"/>
            </a:endParaRPr>
          </a:p>
        </p:txBody>
      </p:sp>
    </p:spTree>
    <p:extLst>
      <p:ext uri="{BB962C8B-B14F-4D97-AF65-F5344CB8AC3E}">
        <p14:creationId xmlns:p14="http://schemas.microsoft.com/office/powerpoint/2010/main" val="212095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1+#ppt_w/2"/>
                                          </p:val>
                                        </p:tav>
                                        <p:tav tm="100000">
                                          <p:val>
                                            <p:strVal val="#ppt_x"/>
                                          </p:val>
                                        </p:tav>
                                      </p:tavLst>
                                    </p:anim>
                                    <p:anim calcmode="lin" valueType="num">
                                      <p:cBhvr additive="base">
                                        <p:cTn id="15"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5.1.3 Properties of a Function</a:t>
            </a: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t> </a:t>
            </a:r>
            <a:r>
              <a:rPr lang="en-US" altLang="zh-CN" sz="2400" b="1" dirty="0">
                <a:latin typeface="Trebuchet MS" panose="020B0603020202020204" pitchFamily="34" charset="0"/>
              </a:rPr>
              <a:t>Surjective, Injective, and Bijective Functions(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90436"/>
            <a:ext cx="10078857" cy="53246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 </a:t>
            </a:r>
            <a:r>
              <a:rPr lang="en-US" altLang="zh-CN" sz="2400" dirty="0">
                <a:latin typeface="Trebuchet MS" panose="020B0603020202020204" pitchFamily="34" charset="0"/>
              </a:rPr>
              <a:t>Determine whether the following functions are injective, surjective, or bijective, and explain why.</a:t>
            </a:r>
            <a:br>
              <a:rPr lang="en-US" altLang="zh-CN" sz="2400" b="1" dirty="0">
                <a:latin typeface="Trebuchet MS" panose="020B0603020202020204" pitchFamily="34" charset="0"/>
              </a:rPr>
            </a:b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3</a:t>
            </a: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 </a:t>
            </a:r>
            <a:r>
              <a:rPr kumimoji="0" lang="en-US" altLang="zh-CN" sz="2400" b="1" i="1" dirty="0"/>
              <a:t>f </a:t>
            </a:r>
            <a:r>
              <a:rPr kumimoji="0" lang="en-US" altLang="zh-CN" sz="2400" b="1" dirty="0"/>
              <a:t>: R→Z, </a:t>
            </a:r>
            <a:r>
              <a:rPr kumimoji="0" lang="en-US" altLang="zh-CN" sz="2400" b="1" i="1" dirty="0"/>
              <a:t>f</a:t>
            </a:r>
            <a:r>
              <a:rPr kumimoji="0" lang="en-US" altLang="zh-CN" sz="2400" b="1" dirty="0"/>
              <a:t>(</a:t>
            </a:r>
            <a:r>
              <a:rPr kumimoji="0" lang="en-US" altLang="zh-CN" sz="2400" b="1" i="1" dirty="0"/>
              <a:t>x</a:t>
            </a:r>
            <a:r>
              <a:rPr kumimoji="0" lang="en-US" altLang="zh-CN" sz="2400" b="1" dirty="0"/>
              <a:t>)=</a:t>
            </a:r>
            <a:r>
              <a:rPr kumimoji="0" lang="en-US" altLang="zh-CN" sz="2400" b="1" dirty="0">
                <a:sym typeface="Symbol" panose="05050102010706020507" pitchFamily="18" charset="2"/>
              </a:rPr>
              <a:t></a:t>
            </a:r>
            <a:r>
              <a:rPr kumimoji="0" lang="en-US" altLang="zh-CN" sz="2400" b="1" i="1" dirty="0"/>
              <a:t>x</a:t>
            </a:r>
            <a:r>
              <a:rPr kumimoji="0" lang="en-US" altLang="zh-CN" sz="2400" b="1" dirty="0">
                <a:sym typeface="Symbol" panose="05050102010706020507" pitchFamily="18" charset="2"/>
              </a:rPr>
              <a:t></a:t>
            </a:r>
            <a:endParaRPr lang="en-US" altLang="zh-CN" sz="1600" b="1" dirty="0">
              <a:sym typeface="Symbol" panose="05050102010706020507" pitchFamily="18" charset="2"/>
            </a:endParaRPr>
          </a:p>
          <a:p>
            <a:pPr marL="0" indent="0">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        Solution:</a:t>
            </a:r>
          </a:p>
          <a:p>
            <a:pPr marL="0" indent="0">
              <a:lnSpc>
                <a:spcPct val="110000"/>
              </a:lnSpc>
              <a:spcBef>
                <a:spcPct val="0"/>
              </a:spcBef>
              <a:buClrTx/>
              <a:buSzTx/>
              <a:buNone/>
            </a:pP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eaLnBrk="1" hangingPunct="1">
              <a:lnSpc>
                <a:spcPct val="110000"/>
              </a:lnSpc>
              <a:spcBef>
                <a:spcPct val="0"/>
              </a:spcBef>
              <a:buFontTx/>
              <a:buNone/>
            </a:pPr>
            <a:endParaRPr lang="en-US" altLang="zh-CN" sz="2400" b="1" dirty="0">
              <a:latin typeface="Trebuchet MS" panose="020B0603020202020204" pitchFamily="34" charset="0"/>
            </a:endParaRPr>
          </a:p>
        </p:txBody>
      </p:sp>
      <p:sp>
        <p:nvSpPr>
          <p:cNvPr id="12" name="文本框 11">
            <a:extLst>
              <a:ext uri="{FF2B5EF4-FFF2-40B4-BE49-F238E27FC236}">
                <a16:creationId xmlns:a16="http://schemas.microsoft.com/office/drawing/2014/main" id="{85BC5688-BF6E-4D10-BED5-2987D345CE48}"/>
              </a:ext>
            </a:extLst>
          </p:cNvPr>
          <p:cNvSpPr txBox="1"/>
          <p:nvPr/>
        </p:nvSpPr>
        <p:spPr>
          <a:xfrm>
            <a:off x="6443694" y="2226452"/>
            <a:ext cx="4297090" cy="3162917"/>
          </a:xfrm>
          <a:prstGeom prst="rect">
            <a:avLst/>
          </a:prstGeom>
          <a:noFill/>
        </p:spPr>
        <p:txBody>
          <a:bodyPr wrap="square">
            <a:spAutoFit/>
          </a:bodyPr>
          <a:lstStyle/>
          <a:p>
            <a:pPr>
              <a:lnSpc>
                <a:spcPct val="120000"/>
              </a:lnSpc>
              <a:buNone/>
            </a:pPr>
            <a:r>
              <a:rPr lang="en-US" altLang="zh-CN" sz="2400" dirty="0">
                <a:latin typeface="Trebuchet MS" panose="020B0603020202020204" pitchFamily="34" charset="0"/>
              </a:rPr>
              <a:t>Every integer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dirty="0">
                <a:latin typeface="Trebuchet MS" panose="020B0603020202020204" pitchFamily="34" charset="0"/>
              </a:rPr>
              <a:t> has a corresponding real number </a:t>
            </a:r>
            <a:r>
              <a:rPr lang="en-US" altLang="zh-CN" sz="2400" b="1" i="1" dirty="0">
                <a:latin typeface="Trebuchet MS" panose="020B0603020202020204" pitchFamily="34" charset="0"/>
              </a:rPr>
              <a:t>x</a:t>
            </a:r>
            <a:r>
              <a:rPr lang="en-US" altLang="zh-CN" sz="2400" dirty="0">
                <a:latin typeface="Trebuchet MS" panose="020B0603020202020204" pitchFamily="34" charset="0"/>
              </a:rPr>
              <a:t>, so the function is </a:t>
            </a:r>
            <a:r>
              <a:rPr lang="en-US" altLang="zh-CN" sz="2400" b="1" i="1" dirty="0">
                <a:latin typeface="Trebuchet MS" panose="020B0603020202020204" pitchFamily="34" charset="0"/>
              </a:rPr>
              <a:t>surjective</a:t>
            </a:r>
            <a:r>
              <a:rPr lang="en-US" altLang="zh-CN" sz="2400" dirty="0">
                <a:latin typeface="Trebuchet MS" panose="020B0603020202020204" pitchFamily="34" charset="0"/>
              </a:rPr>
              <a:t>. However, different real numbers may have the same floor value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dirty="0">
                <a:latin typeface="Trebuchet MS" panose="020B0603020202020204" pitchFamily="34" charset="0"/>
              </a:rPr>
              <a:t>, so the function is </a:t>
            </a:r>
            <a:r>
              <a:rPr lang="en-US" altLang="zh-CN" sz="2400" b="1" i="1" dirty="0">
                <a:latin typeface="Trebuchet MS" panose="020B0603020202020204" pitchFamily="34" charset="0"/>
              </a:rPr>
              <a:t>not injective</a:t>
            </a:r>
            <a:r>
              <a:rPr lang="en-US" altLang="zh-CN" sz="2400" dirty="0">
                <a:latin typeface="Trebuchet MS" panose="020B0603020202020204" pitchFamily="34" charset="0"/>
              </a:rPr>
              <a:t>.</a:t>
            </a:r>
            <a:endParaRPr lang="en-US" altLang="zh-CN" sz="2400" b="1" dirty="0">
              <a:latin typeface="Trebuchet MS" panose="020B0603020202020204" pitchFamily="34" charset="0"/>
            </a:endParaRPr>
          </a:p>
        </p:txBody>
      </p:sp>
      <p:pic>
        <p:nvPicPr>
          <p:cNvPr id="4" name="图片 3">
            <a:extLst>
              <a:ext uri="{FF2B5EF4-FFF2-40B4-BE49-F238E27FC236}">
                <a16:creationId xmlns:a16="http://schemas.microsoft.com/office/drawing/2014/main" id="{952E66CF-F294-4F52-B158-B0B32432EDE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32064" y="2654343"/>
            <a:ext cx="4895164" cy="2485216"/>
          </a:xfrm>
          <a:prstGeom prst="rect">
            <a:avLst/>
          </a:prstGeom>
        </p:spPr>
      </p:pic>
    </p:spTree>
    <p:extLst>
      <p:ext uri="{BB962C8B-B14F-4D97-AF65-F5344CB8AC3E}">
        <p14:creationId xmlns:p14="http://schemas.microsoft.com/office/powerpoint/2010/main" val="4380659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1+#ppt_w/2"/>
                                          </p:val>
                                        </p:tav>
                                        <p:tav tm="100000">
                                          <p:val>
                                            <p:strVal val="#ppt_x"/>
                                          </p:val>
                                        </p:tav>
                                      </p:tavLst>
                                    </p:anim>
                                    <p:anim calcmode="lin" valueType="num">
                                      <p:cBhvr additive="base">
                                        <p:cTn id="15"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5.1.3 Properties of a Function</a:t>
            </a: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t> </a:t>
            </a:r>
            <a:r>
              <a:rPr lang="en-US" altLang="zh-CN" sz="2400" b="1" dirty="0">
                <a:latin typeface="Trebuchet MS" panose="020B0603020202020204" pitchFamily="34" charset="0"/>
              </a:rPr>
              <a:t>Surjective, Injective, and Bijective Functions(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90436"/>
            <a:ext cx="10078857" cy="53246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 </a:t>
            </a:r>
            <a:r>
              <a:rPr lang="en-US" altLang="zh-CN" sz="2400" dirty="0">
                <a:latin typeface="Trebuchet MS" panose="020B0603020202020204" pitchFamily="34" charset="0"/>
              </a:rPr>
              <a:t>Determine whether the following functions are injective, surjective, or bijective, and explain why.</a:t>
            </a:r>
            <a:br>
              <a:rPr lang="en-US" altLang="zh-CN" sz="2400" b="1" dirty="0">
                <a:latin typeface="Trebuchet MS" panose="020B0603020202020204" pitchFamily="34" charset="0"/>
              </a:rPr>
            </a:b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4</a:t>
            </a: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 </a:t>
            </a:r>
            <a:r>
              <a:rPr kumimoji="0" lang="en-US" altLang="zh-CN" sz="2400" b="1" i="1" dirty="0"/>
              <a:t>f </a:t>
            </a:r>
            <a:r>
              <a:rPr kumimoji="0" lang="en-US" altLang="zh-CN" sz="2400" b="1" dirty="0"/>
              <a:t>: </a:t>
            </a:r>
            <a:r>
              <a:rPr lang="en-US" altLang="zh-CN" sz="2400" b="1" dirty="0"/>
              <a:t>R→R, </a:t>
            </a:r>
            <a:r>
              <a:rPr lang="en-US" altLang="zh-CN" sz="2400" b="1" i="1" dirty="0"/>
              <a:t>f</a:t>
            </a:r>
            <a:r>
              <a:rPr lang="en-US" altLang="zh-CN" sz="2400" b="1" dirty="0"/>
              <a:t>(</a:t>
            </a:r>
            <a:r>
              <a:rPr lang="en-US" altLang="zh-CN" sz="2400" b="1" i="1" dirty="0"/>
              <a:t>x</a:t>
            </a:r>
            <a:r>
              <a:rPr lang="en-US" altLang="zh-CN" sz="2400" b="1" dirty="0"/>
              <a:t>)=2</a:t>
            </a:r>
            <a:r>
              <a:rPr lang="en-US" altLang="zh-CN" sz="2400" b="1" i="1" dirty="0"/>
              <a:t>x</a:t>
            </a:r>
            <a:r>
              <a:rPr lang="en-US" altLang="zh-CN" sz="2400" b="1" dirty="0"/>
              <a:t>+1</a:t>
            </a:r>
            <a:br>
              <a:rPr lang="en-US" altLang="zh-CN" sz="2400" b="1" dirty="0"/>
            </a:br>
            <a:r>
              <a:rPr lang="en-US" altLang="zh-CN" sz="2400" b="1" dirty="0">
                <a:solidFill>
                  <a:srgbClr val="0B61FF"/>
                </a:solidFill>
                <a:latin typeface="Trebuchet MS" panose="020B0603020202020204" pitchFamily="34" charset="0"/>
              </a:rPr>
              <a:t>        Solution:</a:t>
            </a:r>
          </a:p>
          <a:p>
            <a:pPr marL="0" indent="0">
              <a:lnSpc>
                <a:spcPct val="110000"/>
              </a:lnSpc>
              <a:spcBef>
                <a:spcPct val="0"/>
              </a:spcBef>
              <a:buClrTx/>
              <a:buSzTx/>
              <a:buNone/>
            </a:pP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eaLnBrk="1" hangingPunct="1">
              <a:lnSpc>
                <a:spcPct val="110000"/>
              </a:lnSpc>
              <a:spcBef>
                <a:spcPct val="0"/>
              </a:spcBef>
              <a:buFontTx/>
              <a:buNone/>
            </a:pPr>
            <a:endParaRPr lang="en-US" altLang="zh-CN" sz="2400" b="1" dirty="0">
              <a:latin typeface="Trebuchet MS" panose="020B0603020202020204" pitchFamily="34" charset="0"/>
            </a:endParaRPr>
          </a:p>
        </p:txBody>
      </p:sp>
      <p:sp>
        <p:nvSpPr>
          <p:cNvPr id="12" name="文本框 11">
            <a:extLst>
              <a:ext uri="{FF2B5EF4-FFF2-40B4-BE49-F238E27FC236}">
                <a16:creationId xmlns:a16="http://schemas.microsoft.com/office/drawing/2014/main" id="{85BC5688-BF6E-4D10-BED5-2987D345CE48}"/>
              </a:ext>
            </a:extLst>
          </p:cNvPr>
          <p:cNvSpPr txBox="1"/>
          <p:nvPr/>
        </p:nvSpPr>
        <p:spPr>
          <a:xfrm>
            <a:off x="5920752" y="2772990"/>
            <a:ext cx="4297090" cy="1824987"/>
          </a:xfrm>
          <a:prstGeom prst="rect">
            <a:avLst/>
          </a:prstGeom>
          <a:noFill/>
        </p:spPr>
        <p:txBody>
          <a:bodyPr wrap="square">
            <a:spAutoFit/>
          </a:bodyPr>
          <a:lstStyle/>
          <a:p>
            <a:pPr>
              <a:lnSpc>
                <a:spcPct val="120000"/>
              </a:lnSpc>
              <a:buNone/>
            </a:pPr>
            <a:r>
              <a:rPr lang="en-US" altLang="zh-CN" sz="2400" b="1" i="1" dirty="0">
                <a:latin typeface="Trebuchet MS" panose="020B0603020202020204" pitchFamily="34" charset="0"/>
              </a:rPr>
              <a:t>Surjective, injective, bijective</a:t>
            </a:r>
            <a:r>
              <a:rPr lang="en-US" altLang="zh-CN" sz="2400" dirty="0">
                <a:latin typeface="Trebuchet MS" panose="020B0603020202020204" pitchFamily="34" charset="0"/>
              </a:rPr>
              <a:t>, because it is monotonic and the range of </a:t>
            </a:r>
            <a:r>
              <a:rPr lang="en-US" altLang="zh-CN" sz="2400" b="1" dirty="0">
                <a:latin typeface="Trebuchet MS" panose="020B0603020202020204" pitchFamily="34" charset="0"/>
              </a:rPr>
              <a:t>ran</a:t>
            </a:r>
            <a:r>
              <a:rPr lang="en-US" altLang="zh-CN" sz="2400" b="1" i="1" dirty="0">
                <a:latin typeface="Trebuchet MS" panose="020B0603020202020204" pitchFamily="34" charset="0"/>
              </a:rPr>
              <a:t>f</a:t>
            </a:r>
            <a:r>
              <a:rPr lang="en-US" altLang="zh-CN" sz="2400" b="1" dirty="0">
                <a:latin typeface="Trebuchet MS" panose="020B0603020202020204" pitchFamily="34" charset="0"/>
              </a:rPr>
              <a:t>=R</a:t>
            </a:r>
          </a:p>
        </p:txBody>
      </p:sp>
      <p:pic>
        <p:nvPicPr>
          <p:cNvPr id="5" name="图片 4">
            <a:extLst>
              <a:ext uri="{FF2B5EF4-FFF2-40B4-BE49-F238E27FC236}">
                <a16:creationId xmlns:a16="http://schemas.microsoft.com/office/drawing/2014/main" id="{54AF0C6E-0A51-48C7-8334-BE892441D9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57173" y="2654909"/>
            <a:ext cx="3806531" cy="2516181"/>
          </a:xfrm>
          <a:prstGeom prst="rect">
            <a:avLst/>
          </a:prstGeom>
        </p:spPr>
      </p:pic>
    </p:spTree>
    <p:extLst>
      <p:ext uri="{BB962C8B-B14F-4D97-AF65-F5344CB8AC3E}">
        <p14:creationId xmlns:p14="http://schemas.microsoft.com/office/powerpoint/2010/main" val="84943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1+#ppt_w/2"/>
                                          </p:val>
                                        </p:tav>
                                        <p:tav tm="100000">
                                          <p:val>
                                            <p:strVal val="#ppt_x"/>
                                          </p:val>
                                        </p:tav>
                                      </p:tavLst>
                                    </p:anim>
                                    <p:anim calcmode="lin" valueType="num">
                                      <p:cBhvr additive="base">
                                        <p:cTn id="15"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5.1.3 Properties of a Function</a:t>
            </a: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dirty="0"/>
              <a:t> </a:t>
            </a:r>
            <a:r>
              <a:rPr lang="en-US" altLang="zh-CN" sz="2400" b="1" dirty="0">
                <a:latin typeface="Trebuchet MS" panose="020B0603020202020204" pitchFamily="34" charset="0"/>
              </a:rPr>
              <a:t>Surjective, Injective, and Bijective Functions(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790436"/>
            <a:ext cx="10078857" cy="53246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 </a:t>
            </a:r>
            <a:r>
              <a:rPr lang="en-US" altLang="zh-CN" sz="2400" dirty="0">
                <a:latin typeface="Trebuchet MS" panose="020B0603020202020204" pitchFamily="34" charset="0"/>
              </a:rPr>
              <a:t>Determine whether the following functions are injective, surjective, or bijective, and explain why.</a:t>
            </a:r>
            <a:br>
              <a:rPr lang="en-US" altLang="zh-CN" sz="2400" b="1" dirty="0">
                <a:latin typeface="Trebuchet MS" panose="020B0603020202020204" pitchFamily="34" charset="0"/>
              </a:rPr>
            </a:b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5</a:t>
            </a:r>
            <a:r>
              <a:rPr lang="zh-CN" altLang="en-US" sz="2400" b="1" dirty="0">
                <a:solidFill>
                  <a:srgbClr val="0B61FF"/>
                </a:solidFill>
                <a:latin typeface="Times New Roman" panose="02020603050405020304" pitchFamily="18" charset="0"/>
              </a:rPr>
              <a:t>）</a:t>
            </a:r>
            <a:r>
              <a:rPr lang="en-US" altLang="zh-CN" sz="2400" b="1" dirty="0">
                <a:solidFill>
                  <a:srgbClr val="0B61FF"/>
                </a:solidFill>
                <a:latin typeface="Times New Roman" panose="02020603050405020304" pitchFamily="18" charset="0"/>
              </a:rPr>
              <a:t> </a:t>
            </a:r>
            <a:r>
              <a:rPr kumimoji="0" lang="en-US" altLang="zh-CN" sz="2400" b="1" i="1" dirty="0"/>
              <a:t>f </a:t>
            </a:r>
            <a:r>
              <a:rPr kumimoji="0" lang="en-US" altLang="zh-CN" sz="2400" b="1" dirty="0"/>
              <a:t>: </a:t>
            </a:r>
            <a:r>
              <a:rPr lang="en-US" altLang="zh-CN" sz="2400" b="1" dirty="0"/>
              <a:t>R</a:t>
            </a:r>
            <a:r>
              <a:rPr lang="en-US" altLang="zh-CN" sz="2400" b="1" baseline="30000" dirty="0"/>
              <a:t>+</a:t>
            </a:r>
            <a:r>
              <a:rPr lang="en-US" altLang="zh-CN" sz="2400" b="1" dirty="0"/>
              <a:t>→R</a:t>
            </a:r>
            <a:r>
              <a:rPr lang="en-US" altLang="zh-CN" sz="2400" b="1" baseline="30000" dirty="0"/>
              <a:t>+</a:t>
            </a:r>
            <a:r>
              <a:rPr lang="en-US" altLang="zh-CN" sz="2400" b="1" dirty="0"/>
              <a:t>, </a:t>
            </a:r>
            <a:r>
              <a:rPr lang="en-US" altLang="zh-CN" sz="2400" b="1" i="1" dirty="0"/>
              <a:t>f</a:t>
            </a:r>
            <a:r>
              <a:rPr lang="en-US" altLang="zh-CN" sz="2400" b="1" dirty="0"/>
              <a:t>(</a:t>
            </a:r>
            <a:r>
              <a:rPr lang="en-US" altLang="zh-CN" sz="2400" b="1" i="1" dirty="0"/>
              <a:t>x</a:t>
            </a:r>
            <a:r>
              <a:rPr lang="en-US" altLang="zh-CN" sz="2400" b="1" dirty="0"/>
              <a:t>)=(</a:t>
            </a:r>
            <a:r>
              <a:rPr lang="en-US" altLang="zh-CN" sz="2400" b="1" i="1" dirty="0"/>
              <a:t>x</a:t>
            </a:r>
            <a:r>
              <a:rPr lang="en-US" altLang="zh-CN" sz="2400" b="1" baseline="30000" dirty="0"/>
              <a:t>2</a:t>
            </a:r>
            <a:r>
              <a:rPr lang="en-US" altLang="zh-CN" sz="2400" b="1" dirty="0"/>
              <a:t>+1)/</a:t>
            </a:r>
            <a:r>
              <a:rPr lang="en-US" altLang="zh-CN" sz="2400" b="1" i="1" dirty="0"/>
              <a:t>x , </a:t>
            </a:r>
            <a:r>
              <a:rPr lang="en-US" altLang="zh-CN" sz="2400" b="1" dirty="0">
                <a:latin typeface="Trebuchet MS" panose="020B0603020202020204" pitchFamily="34" charset="0"/>
              </a:rPr>
              <a:t>where R</a:t>
            </a:r>
            <a:r>
              <a:rPr lang="en-US" altLang="zh-CN" sz="2400" b="1" baseline="30000" dirty="0">
                <a:latin typeface="Trebuchet MS" panose="020B0603020202020204" pitchFamily="34" charset="0"/>
              </a:rPr>
              <a:t>+</a:t>
            </a:r>
            <a:r>
              <a:rPr lang="en-US" altLang="zh-CN" sz="3600" b="1" baseline="30000" dirty="0">
                <a:latin typeface="Trebuchet MS" panose="020B0603020202020204" pitchFamily="34" charset="0"/>
              </a:rPr>
              <a:t>  </a:t>
            </a:r>
            <a:r>
              <a:rPr lang="en-US" altLang="zh-CN" sz="2400" dirty="0">
                <a:latin typeface="Trebuchet MS" panose="020B0603020202020204" pitchFamily="34" charset="0"/>
              </a:rPr>
              <a:t>is the set of positive real numbers.</a:t>
            </a:r>
            <a:endParaRPr lang="en-US" altLang="zh-CN" sz="2400" b="1" i="1" dirty="0">
              <a:latin typeface="Trebuchet MS" panose="020B0603020202020204" pitchFamily="34" charset="0"/>
            </a:endParaRPr>
          </a:p>
          <a:p>
            <a:pPr marL="0" indent="0">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        Solution:</a:t>
            </a:r>
          </a:p>
          <a:p>
            <a:pPr marL="0" indent="0">
              <a:lnSpc>
                <a:spcPct val="110000"/>
              </a:lnSpc>
              <a:spcBef>
                <a:spcPct val="0"/>
              </a:spcBef>
              <a:buClrTx/>
              <a:buSzTx/>
              <a:buNone/>
            </a:pP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eaLnBrk="1" hangingPunct="1">
              <a:lnSpc>
                <a:spcPct val="110000"/>
              </a:lnSpc>
              <a:spcBef>
                <a:spcPct val="0"/>
              </a:spcBef>
              <a:buFontTx/>
              <a:buNone/>
            </a:pPr>
            <a:endParaRPr lang="en-US" altLang="zh-CN" sz="2400" b="1" dirty="0">
              <a:latin typeface="Trebuchet MS" panose="020B0603020202020204" pitchFamily="34" charset="0"/>
            </a:endParaRPr>
          </a:p>
        </p:txBody>
      </p:sp>
      <p:sp>
        <p:nvSpPr>
          <p:cNvPr id="12" name="文本框 11">
            <a:extLst>
              <a:ext uri="{FF2B5EF4-FFF2-40B4-BE49-F238E27FC236}">
                <a16:creationId xmlns:a16="http://schemas.microsoft.com/office/drawing/2014/main" id="{85BC5688-BF6E-4D10-BED5-2987D345CE48}"/>
              </a:ext>
            </a:extLst>
          </p:cNvPr>
          <p:cNvSpPr txBox="1"/>
          <p:nvPr/>
        </p:nvSpPr>
        <p:spPr>
          <a:xfrm>
            <a:off x="5562508" y="3172383"/>
            <a:ext cx="4831331" cy="1381789"/>
          </a:xfrm>
          <a:prstGeom prst="rect">
            <a:avLst/>
          </a:prstGeom>
          <a:noFill/>
        </p:spPr>
        <p:txBody>
          <a:bodyPr wrap="square">
            <a:spAutoFit/>
          </a:bodyPr>
          <a:lstStyle/>
          <a:p>
            <a:pPr>
              <a:lnSpc>
                <a:spcPct val="120000"/>
              </a:lnSpc>
              <a:buNone/>
            </a:pPr>
            <a:r>
              <a:rPr lang="en-US" altLang="zh-CN" sz="2400" dirty="0">
                <a:latin typeface="Trebuchet MS" panose="020B0603020202020204" pitchFamily="34" charset="0"/>
              </a:rPr>
              <a:t>The function has a minimum value </a:t>
            </a:r>
            <a:r>
              <a:rPr lang="en-US" altLang="zh-CN" sz="2400" b="1" i="1" dirty="0">
                <a:latin typeface="Trebuchet MS" panose="020B0603020202020204" pitchFamily="34" charset="0"/>
              </a:rPr>
              <a:t>f</a:t>
            </a:r>
            <a:r>
              <a:rPr lang="en-US" altLang="zh-CN" sz="2400" b="1" dirty="0">
                <a:latin typeface="Trebuchet MS" panose="020B0603020202020204" pitchFamily="34" charset="0"/>
              </a:rPr>
              <a:t>(1)=2. </a:t>
            </a:r>
            <a:r>
              <a:rPr lang="en-US" altLang="zh-CN" sz="2400" dirty="0">
                <a:latin typeface="Trebuchet MS" panose="020B0603020202020204" pitchFamily="34" charset="0"/>
              </a:rPr>
              <a:t>This function is </a:t>
            </a:r>
            <a:r>
              <a:rPr lang="en-US" altLang="zh-CN" sz="2400" b="1" i="1" dirty="0">
                <a:latin typeface="Trebuchet MS" panose="020B0603020202020204" pitchFamily="34" charset="0"/>
              </a:rPr>
              <a:t>neither injective nor surjective</a:t>
            </a:r>
            <a:r>
              <a:rPr lang="en-US" altLang="zh-CN" sz="2400" dirty="0">
                <a:latin typeface="Trebuchet MS" panose="020B0603020202020204" pitchFamily="34" charset="0"/>
              </a:rPr>
              <a:t>.</a:t>
            </a:r>
            <a:endParaRPr lang="en-US" altLang="zh-CN" sz="2400" b="1" dirty="0">
              <a:latin typeface="Trebuchet MS" panose="020B0603020202020204" pitchFamily="34" charset="0"/>
            </a:endParaRPr>
          </a:p>
        </p:txBody>
      </p:sp>
      <p:pic>
        <p:nvPicPr>
          <p:cNvPr id="9" name="图片 8">
            <a:extLst>
              <a:ext uri="{FF2B5EF4-FFF2-40B4-BE49-F238E27FC236}">
                <a16:creationId xmlns:a16="http://schemas.microsoft.com/office/drawing/2014/main" id="{FC2E0231-1968-4C36-8288-271E971209D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55718" y="3172383"/>
            <a:ext cx="3221647" cy="2465952"/>
          </a:xfrm>
          <a:prstGeom prst="rect">
            <a:avLst/>
          </a:prstGeom>
        </p:spPr>
      </p:pic>
    </p:spTree>
    <p:extLst>
      <p:ext uri="{BB962C8B-B14F-4D97-AF65-F5344CB8AC3E}">
        <p14:creationId xmlns:p14="http://schemas.microsoft.com/office/powerpoint/2010/main" val="22181322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1+#ppt_w/2"/>
                                          </p:val>
                                        </p:tav>
                                        <p:tav tm="100000">
                                          <p:val>
                                            <p:strVal val="#ppt_x"/>
                                          </p:val>
                                        </p:tav>
                                      </p:tavLst>
                                    </p:anim>
                                    <p:anim calcmode="lin" valueType="num">
                                      <p:cBhvr additive="base">
                                        <p:cTn id="15"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rebuchet MS" panose="020B0603020202020204" pitchFamily="34" charset="0"/>
              </a:rPr>
              <a:t>5.1.3 Properties of a Function</a:t>
            </a:r>
          </a:p>
          <a:p>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dirty="0"/>
              <a:t> </a:t>
            </a:r>
            <a:r>
              <a:rPr lang="en-US" altLang="zh-CN" sz="2400" b="1" dirty="0">
                <a:latin typeface="Trebuchet MS" panose="020B0603020202020204" pitchFamily="34" charset="0"/>
              </a:rPr>
              <a:t>Constructing a bijective function (between finite sets</a:t>
            </a:r>
            <a:r>
              <a:rPr lang="en-US" altLang="zh-CN" sz="2000" dirty="0"/>
              <a:t>)</a:t>
            </a:r>
            <a:r>
              <a:rPr lang="en-US" altLang="zh-CN" sz="2000" b="1" dirty="0">
                <a:latin typeface="Trebuchet MS" panose="020B0603020202020204" pitchFamily="34" charset="0"/>
              </a:rPr>
              <a:t>(</a:t>
            </a:r>
            <a:r>
              <a:rPr lang="en-US" altLang="zh-CN" sz="2000" b="1" dirty="0">
                <a:solidFill>
                  <a:schemeClr val="accent2"/>
                </a:solidFill>
                <a:latin typeface="Trebuchet MS" panose="020B0603020202020204" pitchFamily="34" charset="0"/>
              </a:rPr>
              <a:t>e.g.</a:t>
            </a:r>
            <a:r>
              <a:rPr lang="en-US" altLang="zh-CN" sz="2000" b="1" dirty="0">
                <a:latin typeface="Trebuchet MS" panose="020B0603020202020204" pitchFamily="34" charset="0"/>
              </a:rPr>
              <a:t>)</a:t>
            </a:r>
            <a:endParaRPr lang="zh-CN" altLang="en-US" sz="20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1" name="Rectangle 3">
            <a:extLst>
              <a:ext uri="{FF2B5EF4-FFF2-40B4-BE49-F238E27FC236}">
                <a16:creationId xmlns:a16="http://schemas.microsoft.com/office/drawing/2014/main" id="{5C550CDE-979B-4A2C-A41A-31732B491E0B}"/>
              </a:ext>
            </a:extLst>
          </p:cNvPr>
          <p:cNvSpPr txBox="1">
            <a:spLocks noChangeArrowheads="1"/>
          </p:cNvSpPr>
          <p:nvPr/>
        </p:nvSpPr>
        <p:spPr>
          <a:xfrm>
            <a:off x="1051922" y="838202"/>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ct val="0"/>
              </a:spcBef>
              <a:buFontTx/>
              <a:buNone/>
            </a:pPr>
            <a:endParaRPr kumimoji="0" lang="en-US" altLang="zh-CN" sz="2800" b="1" dirty="0"/>
          </a:p>
        </p:txBody>
      </p:sp>
      <p:sp>
        <p:nvSpPr>
          <p:cNvPr id="8" name="Text Box 3">
            <a:extLst>
              <a:ext uri="{FF2B5EF4-FFF2-40B4-BE49-F238E27FC236}">
                <a16:creationId xmlns:a16="http://schemas.microsoft.com/office/drawing/2014/main" id="{01553C56-E95B-49A3-9504-035E4FC15AE1}"/>
              </a:ext>
            </a:extLst>
          </p:cNvPr>
          <p:cNvSpPr txBox="1">
            <a:spLocks noChangeArrowheads="1"/>
          </p:cNvSpPr>
          <p:nvPr/>
        </p:nvSpPr>
        <p:spPr bwMode="auto">
          <a:xfrm>
            <a:off x="1093108" y="969734"/>
            <a:ext cx="8586152" cy="5732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10000"/>
              </a:lnSpc>
              <a:spcBef>
                <a:spcPts val="300"/>
              </a:spcBef>
              <a:buClr>
                <a:srgbClr val="0B61FF"/>
              </a:buClr>
              <a:buSzPct val="80000"/>
              <a:buFont typeface="Wingdings" panose="05000000000000000000" pitchFamily="2" charset="2"/>
              <a:buChar char="n"/>
            </a:pPr>
            <a:r>
              <a:rPr kumimoji="0" lang="en-US" altLang="zh-CN" sz="2400" b="1" dirty="0">
                <a:latin typeface="Trebuchet MS" panose="020B0603020202020204" pitchFamily="34" charset="0"/>
              </a:rPr>
              <a:t>Example:</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P</a:t>
            </a:r>
            <a:r>
              <a:rPr kumimoji="0" lang="en-US" altLang="zh-CN" sz="2400" b="1" dirty="0">
                <a:latin typeface="Trebuchet MS" panose="020B0603020202020204" pitchFamily="34" charset="0"/>
              </a:rPr>
              <a:t>({1,2,3}),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={0,1}</a:t>
            </a:r>
            <a:r>
              <a:rPr kumimoji="0" lang="en-US" altLang="zh-CN" sz="2400" b="1" baseline="30000" dirty="0">
                <a:latin typeface="Trebuchet MS" panose="020B0603020202020204" pitchFamily="34" charset="0"/>
              </a:rPr>
              <a:t>{1,2,3}</a:t>
            </a:r>
          </a:p>
          <a:p>
            <a:pPr indent="357188" eaLnBrk="1" hangingPunct="1">
              <a:lnSpc>
                <a:spcPct val="110000"/>
              </a:lnSpc>
              <a:spcBef>
                <a:spcPts val="300"/>
              </a:spcBef>
              <a:buFontTx/>
              <a:buNone/>
            </a:pPr>
            <a:r>
              <a:rPr kumimoji="0" lang="en-US" altLang="zh-CN" sz="2400" b="1" dirty="0">
                <a:solidFill>
                  <a:srgbClr val="0B61FF"/>
                </a:solidFill>
                <a:latin typeface="Trebuchet MS" panose="020B0603020202020204" pitchFamily="34" charset="0"/>
              </a:rPr>
              <a:t>Solve:</a:t>
            </a:r>
            <a:r>
              <a:rPr kumimoji="0" lang="zh-CN" altLang="en-US" sz="2400" b="1" i="1" dirty="0">
                <a:solidFill>
                  <a:srgbClr val="0B61FF"/>
                </a:solidFill>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dirty="0">
                <a:latin typeface="Trebuchet MS" panose="020B0603020202020204" pitchFamily="34" charset="0"/>
                <a:sym typeface="Symbol" panose="05050102010706020507" pitchFamily="18" charset="2"/>
              </a:rPr>
              <a:t></a:t>
            </a:r>
            <a:r>
              <a:rPr kumimoji="0" lang="en-US" altLang="zh-CN" sz="2400" b="1" dirty="0">
                <a:latin typeface="Trebuchet MS" panose="020B0603020202020204" pitchFamily="34" charset="0"/>
              </a:rPr>
              <a:t>,{1},{2},{3},{1,2},{1,3},{2,3},{1,2,3}}. </a:t>
            </a:r>
          </a:p>
          <a:p>
            <a:pPr>
              <a:lnSpc>
                <a:spcPct val="110000"/>
              </a:lnSpc>
              <a:spcBef>
                <a:spcPts val="300"/>
              </a:spcBef>
              <a:buNone/>
            </a:pP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0</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 … ,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7</a:t>
            </a:r>
            <a:r>
              <a:rPr kumimoji="0" lang="en-US" altLang="zh-CN" sz="2400" b="1" dirty="0">
                <a:latin typeface="Trebuchet MS" panose="020B0603020202020204" pitchFamily="34" charset="0"/>
              </a:rPr>
              <a:t>}.</a:t>
            </a:r>
          </a:p>
          <a:p>
            <a:pPr eaLnBrk="1" hangingPunct="1">
              <a:lnSpc>
                <a:spcPct val="110000"/>
              </a:lnSpc>
              <a:spcBef>
                <a:spcPts val="300"/>
              </a:spcBef>
              <a:buFontTx/>
              <a:buNone/>
            </a:pP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0</a:t>
            </a:r>
            <a:r>
              <a:rPr kumimoji="0" lang="en-US" altLang="zh-CN" sz="2400" b="1" dirty="0">
                <a:latin typeface="Trebuchet MS" panose="020B0603020202020204" pitchFamily="34" charset="0"/>
              </a:rPr>
              <a:t>={&lt;1,0&gt;,&lt;2,0&gt;,&lt;3,0&gt;},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1</a:t>
            </a:r>
            <a:r>
              <a:rPr kumimoji="0" lang="en-US" altLang="zh-CN" sz="2400" b="1" dirty="0">
                <a:latin typeface="Trebuchet MS" panose="020B0603020202020204" pitchFamily="34" charset="0"/>
              </a:rPr>
              <a:t>={&lt;1,0&gt;,&lt;2,0&gt;,&lt;3,1&gt;},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2</a:t>
            </a:r>
            <a:r>
              <a:rPr kumimoji="0" lang="en-US" altLang="zh-CN" sz="2400" b="1" dirty="0">
                <a:latin typeface="Trebuchet MS" panose="020B0603020202020204" pitchFamily="34" charset="0"/>
              </a:rPr>
              <a:t>={&lt;1,0&gt;,&lt;2,1&gt;,&lt;3,0&gt;},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3</a:t>
            </a:r>
            <a:r>
              <a:rPr kumimoji="0" lang="en-US" altLang="zh-CN" sz="2400" b="1" dirty="0">
                <a:latin typeface="Trebuchet MS" panose="020B0603020202020204" pitchFamily="34" charset="0"/>
              </a:rPr>
              <a:t>={&lt;1,0&gt;,&lt;2,1&gt;,&lt;3,1&gt;},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4</a:t>
            </a:r>
            <a:r>
              <a:rPr kumimoji="0" lang="en-US" altLang="zh-CN" sz="2400" b="1" dirty="0">
                <a:latin typeface="Trebuchet MS" panose="020B0603020202020204" pitchFamily="34" charset="0"/>
              </a:rPr>
              <a:t>={&lt;1,1&gt;,&lt;2,0&gt;,&lt;3,0&gt;},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5</a:t>
            </a:r>
            <a:r>
              <a:rPr kumimoji="0" lang="en-US" altLang="zh-CN" sz="2400" b="1" dirty="0">
                <a:latin typeface="Trebuchet MS" panose="020B0603020202020204" pitchFamily="34" charset="0"/>
              </a:rPr>
              <a:t>={&lt;1,1&gt;,&lt;2,0&gt;,&lt;3,1&gt;},</a:t>
            </a:r>
            <a:br>
              <a:rPr kumimoji="0" lang="en-US" altLang="zh-CN" sz="2400" b="1" dirty="0">
                <a:latin typeface="Trebuchet MS" panose="020B0603020202020204" pitchFamily="34" charset="0"/>
              </a:rPr>
            </a:b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6</a:t>
            </a:r>
            <a:r>
              <a:rPr kumimoji="0" lang="en-US" altLang="zh-CN" sz="2400" b="1" dirty="0">
                <a:latin typeface="Trebuchet MS" panose="020B0603020202020204" pitchFamily="34" charset="0"/>
              </a:rPr>
              <a:t>={&lt;1,1&gt;,&lt;2,1&gt;,&lt;3,0&gt;},   </a:t>
            </a:r>
            <a:r>
              <a:rPr kumimoji="0" lang="en-US" altLang="zh-CN" sz="2400" b="1" i="1" dirty="0">
                <a:latin typeface="Trebuchet MS" panose="020B0603020202020204" pitchFamily="34" charset="0"/>
              </a:rPr>
              <a:t>f</a:t>
            </a:r>
            <a:r>
              <a:rPr kumimoji="0" lang="en-US" altLang="zh-CN" sz="2400" b="1" baseline="-25000" dirty="0">
                <a:latin typeface="Trebuchet MS" panose="020B0603020202020204" pitchFamily="34" charset="0"/>
              </a:rPr>
              <a:t>7</a:t>
            </a:r>
            <a:r>
              <a:rPr kumimoji="0" lang="en-US" altLang="zh-CN" sz="2400" b="1" dirty="0">
                <a:latin typeface="Trebuchet MS" panose="020B0603020202020204" pitchFamily="34" charset="0"/>
              </a:rPr>
              <a:t>={&lt;1,1&gt;,&lt;2,1&gt;,&lt;3,1&gt;}. </a:t>
            </a:r>
          </a:p>
          <a:p>
            <a:pPr eaLnBrk="1" hangingPunct="1">
              <a:lnSpc>
                <a:spcPct val="110000"/>
              </a:lnSpc>
              <a:spcBef>
                <a:spcPts val="300"/>
              </a:spcBef>
              <a:buFontTx/>
              <a:buNone/>
            </a:pPr>
            <a:r>
              <a:rPr kumimoji="0" lang="en-US" altLang="zh-CN" sz="2400" b="1" dirty="0"/>
              <a:t>         Let</a:t>
            </a:r>
            <a:r>
              <a:rPr kumimoji="0" lang="zh-CN" altLang="en-US" sz="2400" b="1" dirty="0"/>
              <a:t>  </a:t>
            </a:r>
            <a:r>
              <a:rPr kumimoji="0" lang="en-US" altLang="zh-CN" sz="2400" b="1" i="1" dirty="0"/>
              <a:t>f </a:t>
            </a:r>
            <a:r>
              <a:rPr kumimoji="0" lang="en-US" altLang="zh-CN" sz="2400" b="1" dirty="0"/>
              <a:t>: </a:t>
            </a:r>
            <a:r>
              <a:rPr kumimoji="0" lang="en-US" altLang="zh-CN" sz="2400" b="1" i="1" dirty="0"/>
              <a:t>A</a:t>
            </a:r>
            <a:r>
              <a:rPr kumimoji="0" lang="en-US" altLang="zh-CN" sz="2400" b="1" dirty="0"/>
              <a:t>→</a:t>
            </a:r>
            <a:r>
              <a:rPr kumimoji="0" lang="en-US" altLang="zh-CN" sz="2400" b="1" i="1" dirty="0"/>
              <a:t>B</a:t>
            </a:r>
            <a:r>
              <a:rPr kumimoji="0" lang="en-US" altLang="zh-CN" sz="2400" b="1" dirty="0"/>
              <a:t>, </a:t>
            </a:r>
            <a:endParaRPr kumimoji="0" lang="en-US" altLang="zh-CN" sz="2400" b="1" i="1" dirty="0"/>
          </a:p>
          <a:p>
            <a:pPr eaLnBrk="1" hangingPunct="1">
              <a:lnSpc>
                <a:spcPct val="110000"/>
              </a:lnSpc>
              <a:spcBef>
                <a:spcPts val="300"/>
              </a:spcBef>
              <a:buFontTx/>
              <a:buNone/>
            </a:pPr>
            <a:r>
              <a:rPr kumimoji="0" lang="en-US" altLang="zh-CN" sz="2400" b="1" i="1" dirty="0"/>
              <a:t>         f</a:t>
            </a:r>
            <a:r>
              <a:rPr kumimoji="0" lang="en-US" altLang="zh-CN" sz="2400" b="1" dirty="0"/>
              <a:t>(</a:t>
            </a:r>
            <a:r>
              <a:rPr kumimoji="0" lang="en-US" altLang="zh-CN" sz="2400" b="1" dirty="0">
                <a:sym typeface="Symbol" panose="05050102010706020507" pitchFamily="18" charset="2"/>
              </a:rPr>
              <a:t></a:t>
            </a:r>
            <a:r>
              <a:rPr kumimoji="0" lang="en-US" altLang="zh-CN" sz="2400" b="1" dirty="0"/>
              <a:t>)=</a:t>
            </a:r>
            <a:r>
              <a:rPr kumimoji="0" lang="en-US" altLang="zh-CN" sz="2400" b="1" i="1" dirty="0"/>
              <a:t>f</a:t>
            </a:r>
            <a:r>
              <a:rPr kumimoji="0" lang="en-US" altLang="zh-CN" sz="2400" b="1" baseline="-25000" dirty="0"/>
              <a:t>0</a:t>
            </a:r>
            <a:r>
              <a:rPr kumimoji="0" lang="en-US" altLang="zh-CN" sz="2400" b="1" dirty="0"/>
              <a:t>,  </a:t>
            </a:r>
            <a:r>
              <a:rPr kumimoji="0" lang="en-US" altLang="zh-CN" sz="2400" b="1" i="1" dirty="0"/>
              <a:t>f</a:t>
            </a:r>
            <a:r>
              <a:rPr kumimoji="0" lang="en-US" altLang="zh-CN" sz="2400" b="1" dirty="0"/>
              <a:t>({1})=</a:t>
            </a:r>
            <a:r>
              <a:rPr kumimoji="0" lang="en-US" altLang="zh-CN" sz="2400" b="1" i="1" dirty="0"/>
              <a:t>f</a:t>
            </a:r>
            <a:r>
              <a:rPr kumimoji="0" lang="en-US" altLang="zh-CN" sz="2400" b="1" baseline="-25000" dirty="0"/>
              <a:t>1</a:t>
            </a:r>
            <a:r>
              <a:rPr kumimoji="0" lang="en-US" altLang="zh-CN" sz="2400" b="1" dirty="0"/>
              <a:t>,  </a:t>
            </a:r>
            <a:r>
              <a:rPr kumimoji="0" lang="en-US" altLang="zh-CN" sz="2400" b="1" i="1" dirty="0"/>
              <a:t>f</a:t>
            </a:r>
            <a:r>
              <a:rPr kumimoji="0" lang="en-US" altLang="zh-CN" sz="2400" b="1" dirty="0"/>
              <a:t>({2})=</a:t>
            </a:r>
            <a:r>
              <a:rPr kumimoji="0" lang="en-US" altLang="zh-CN" sz="2400" b="1" i="1" dirty="0"/>
              <a:t>f</a:t>
            </a:r>
            <a:r>
              <a:rPr kumimoji="0" lang="en-US" altLang="zh-CN" sz="2400" b="1" baseline="-25000" dirty="0"/>
              <a:t>2</a:t>
            </a:r>
            <a:r>
              <a:rPr kumimoji="0" lang="en-US" altLang="zh-CN" sz="2400" b="1" dirty="0"/>
              <a:t>,  </a:t>
            </a:r>
            <a:r>
              <a:rPr kumimoji="0" lang="en-US" altLang="zh-CN" sz="2400" b="1" i="1" dirty="0"/>
              <a:t>f</a:t>
            </a:r>
            <a:r>
              <a:rPr kumimoji="0" lang="en-US" altLang="zh-CN" sz="2400" b="1" dirty="0"/>
              <a:t>({3})=</a:t>
            </a:r>
            <a:r>
              <a:rPr kumimoji="0" lang="en-US" altLang="zh-CN" sz="2400" b="1" i="1" dirty="0"/>
              <a:t>f</a:t>
            </a:r>
            <a:r>
              <a:rPr kumimoji="0" lang="en-US" altLang="zh-CN" sz="2400" b="1" baseline="-25000" dirty="0"/>
              <a:t>3</a:t>
            </a:r>
            <a:r>
              <a:rPr kumimoji="0" lang="en-US" altLang="zh-CN" sz="2400" b="1" dirty="0"/>
              <a:t>, </a:t>
            </a:r>
          </a:p>
          <a:p>
            <a:pPr eaLnBrk="1" hangingPunct="1">
              <a:lnSpc>
                <a:spcPct val="110000"/>
              </a:lnSpc>
              <a:spcBef>
                <a:spcPts val="300"/>
              </a:spcBef>
              <a:buFontTx/>
              <a:buNone/>
            </a:pPr>
            <a:r>
              <a:rPr kumimoji="0" lang="en-US" altLang="zh-CN" sz="2400" b="1" i="1" dirty="0"/>
              <a:t>         f</a:t>
            </a:r>
            <a:r>
              <a:rPr kumimoji="0" lang="en-US" altLang="zh-CN" sz="2400" b="1" dirty="0"/>
              <a:t>({1,2})=</a:t>
            </a:r>
            <a:r>
              <a:rPr kumimoji="0" lang="en-US" altLang="zh-CN" sz="2400" b="1" i="1" dirty="0"/>
              <a:t>f</a:t>
            </a:r>
            <a:r>
              <a:rPr kumimoji="0" lang="en-US" altLang="zh-CN" sz="2400" b="1" baseline="-25000" dirty="0"/>
              <a:t>4</a:t>
            </a:r>
            <a:r>
              <a:rPr kumimoji="0" lang="en-US" altLang="zh-CN" sz="2400" b="1" dirty="0"/>
              <a:t>,  </a:t>
            </a:r>
            <a:r>
              <a:rPr kumimoji="0" lang="en-US" altLang="zh-CN" sz="2400" b="1" i="1" dirty="0"/>
              <a:t>f</a:t>
            </a:r>
            <a:r>
              <a:rPr kumimoji="0" lang="en-US" altLang="zh-CN" sz="2400" b="1" dirty="0"/>
              <a:t>({1,3})=</a:t>
            </a:r>
            <a:r>
              <a:rPr kumimoji="0" lang="en-US" altLang="zh-CN" sz="2400" b="1" i="1" dirty="0"/>
              <a:t>f</a:t>
            </a:r>
            <a:r>
              <a:rPr kumimoji="0" lang="en-US" altLang="zh-CN" sz="2400" b="1" baseline="-25000" dirty="0"/>
              <a:t>5</a:t>
            </a:r>
            <a:r>
              <a:rPr kumimoji="0" lang="en-US" altLang="zh-CN" sz="2400" b="1" dirty="0"/>
              <a:t>,  </a:t>
            </a:r>
            <a:r>
              <a:rPr kumimoji="0" lang="en-US" altLang="zh-CN" sz="2400" b="1" i="1" dirty="0"/>
              <a:t>f</a:t>
            </a:r>
            <a:r>
              <a:rPr kumimoji="0" lang="en-US" altLang="zh-CN" sz="2400" b="1" dirty="0"/>
              <a:t>({2,3})=</a:t>
            </a:r>
            <a:r>
              <a:rPr kumimoji="0" lang="en-US" altLang="zh-CN" sz="2400" b="1" i="1" dirty="0"/>
              <a:t>f</a:t>
            </a:r>
            <a:r>
              <a:rPr kumimoji="0" lang="en-US" altLang="zh-CN" sz="2400" b="1" baseline="-25000" dirty="0"/>
              <a:t>6</a:t>
            </a:r>
            <a:r>
              <a:rPr kumimoji="0" lang="en-US" altLang="zh-CN" sz="2400" b="1" dirty="0"/>
              <a:t>,  </a:t>
            </a:r>
            <a:r>
              <a:rPr kumimoji="0" lang="en-US" altLang="zh-CN" sz="2400" b="1" i="1" dirty="0"/>
              <a:t>f</a:t>
            </a:r>
            <a:r>
              <a:rPr kumimoji="0" lang="en-US" altLang="zh-CN" sz="2400" b="1" dirty="0"/>
              <a:t>({1,2,3})=</a:t>
            </a:r>
            <a:r>
              <a:rPr kumimoji="0" lang="en-US" altLang="zh-CN" sz="2400" b="1" i="1" dirty="0"/>
              <a:t>f</a:t>
            </a:r>
            <a:r>
              <a:rPr kumimoji="0" lang="en-US" altLang="zh-CN" sz="2400" b="1" baseline="-25000" dirty="0"/>
              <a:t>7</a:t>
            </a:r>
          </a:p>
          <a:p>
            <a:pPr marL="342900" indent="-342900">
              <a:lnSpc>
                <a:spcPct val="110000"/>
              </a:lnSpc>
              <a:spcBef>
                <a:spcPct val="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Each subset in </a:t>
            </a:r>
            <a:r>
              <a:rPr lang="en-US" altLang="zh-CN" sz="2400" b="1" i="1" dirty="0">
                <a:latin typeface="Trebuchet MS" panose="020B0603020202020204" pitchFamily="34" charset="0"/>
              </a:rPr>
              <a:t>A</a:t>
            </a:r>
            <a:r>
              <a:rPr lang="en-US" altLang="zh-CN" sz="2400" dirty="0">
                <a:latin typeface="Trebuchet MS" panose="020B0603020202020204" pitchFamily="34" charset="0"/>
              </a:rPr>
              <a:t> is mapped to its characteristic function. For example, </a:t>
            </a:r>
            <a:r>
              <a:rPr kumimoji="0" lang="en-US" altLang="zh-CN" sz="2400" b="1" i="1" dirty="0"/>
              <a:t>f</a:t>
            </a:r>
            <a:r>
              <a:rPr kumimoji="0" lang="en-US" altLang="zh-CN" sz="2400" b="1" dirty="0"/>
              <a:t>({2})=</a:t>
            </a:r>
            <a:r>
              <a:rPr kumimoji="0" lang="en-US" altLang="zh-CN" sz="2400" b="1" i="1" dirty="0"/>
              <a:t>f</a:t>
            </a:r>
            <a:r>
              <a:rPr kumimoji="0" lang="en-US" altLang="zh-CN" sz="2400" b="1" baseline="-25000" dirty="0"/>
              <a:t>2 </a:t>
            </a:r>
            <a:r>
              <a:rPr lang="en-US" altLang="zh-CN" sz="2400" dirty="0">
                <a:latin typeface="Trebuchet MS" panose="020B0603020202020204" pitchFamily="34" charset="0"/>
              </a:rPr>
              <a:t>​, since only element 2 is in the subset, its characteristic value is (0,1,0).</a:t>
            </a:r>
          </a:p>
          <a:p>
            <a:pPr eaLnBrk="1" hangingPunct="1">
              <a:lnSpc>
                <a:spcPct val="120000"/>
              </a:lnSpc>
              <a:spcBef>
                <a:spcPct val="0"/>
              </a:spcBef>
              <a:buFontTx/>
              <a:buNone/>
            </a:pPr>
            <a:endParaRPr kumimoji="0" lang="en-US" altLang="zh-CN" sz="2400" b="1" baseline="-25000" dirty="0"/>
          </a:p>
        </p:txBody>
      </p:sp>
    </p:spTree>
    <p:extLst>
      <p:ext uri="{BB962C8B-B14F-4D97-AF65-F5344CB8AC3E}">
        <p14:creationId xmlns:p14="http://schemas.microsoft.com/office/powerpoint/2010/main" val="1700499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fade">
                                      <p:cBhvr>
                                        <p:cTn id="36" dur="1000"/>
                                        <p:tgtEl>
                                          <p:spTgt spid="8">
                                            <p:txEl>
                                              <p:pRg st="6" end="6"/>
                                            </p:txEl>
                                          </p:spTgt>
                                        </p:tgtEl>
                                      </p:cBhvr>
                                    </p:animEffect>
                                    <p:anim calcmode="lin" valueType="num">
                                      <p:cBhvr>
                                        <p:cTn id="3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Effect transition="in" filter="fade">
                                      <p:cBhvr>
                                        <p:cTn id="43" dur="1000"/>
                                        <p:tgtEl>
                                          <p:spTgt spid="8">
                                            <p:txEl>
                                              <p:pRg st="7" end="7"/>
                                            </p:txEl>
                                          </p:spTgt>
                                        </p:tgtEl>
                                      </p:cBhvr>
                                    </p:animEffect>
                                    <p:anim calcmode="lin" valueType="num">
                                      <p:cBhvr>
                                        <p:cTn id="44"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rebuchet MS" panose="020B0603020202020204" pitchFamily="34" charset="0"/>
              </a:rPr>
              <a:t>5.1.3 Properties of a Function</a:t>
            </a:r>
          </a:p>
          <a:p>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000" dirty="0"/>
              <a:t> </a:t>
            </a:r>
            <a:r>
              <a:rPr lang="en-US" altLang="zh-CN" sz="2400" b="1" dirty="0">
                <a:latin typeface="Trebuchet MS" panose="020B0603020202020204" pitchFamily="34" charset="0"/>
              </a:rPr>
              <a:t>Constructing a bijective function (between real intervals</a:t>
            </a:r>
            <a:r>
              <a:rPr lang="en-US" altLang="zh-CN" sz="2000" b="1" dirty="0">
                <a:latin typeface="Trebuchet MS" panose="020B0603020202020204" pitchFamily="34" charset="0"/>
              </a:rPr>
              <a:t>)(</a:t>
            </a:r>
            <a:r>
              <a:rPr lang="en-US" altLang="zh-CN" sz="2000" b="1" dirty="0">
                <a:solidFill>
                  <a:schemeClr val="accent2"/>
                </a:solidFill>
                <a:latin typeface="Trebuchet MS" panose="020B0603020202020204" pitchFamily="34" charset="0"/>
              </a:rPr>
              <a:t>e.g.</a:t>
            </a:r>
            <a:r>
              <a:rPr lang="en-US" altLang="zh-CN" sz="2000" b="1" dirty="0">
                <a:latin typeface="Trebuchet MS" panose="020B0603020202020204" pitchFamily="34" charset="0"/>
              </a:rPr>
              <a:t>)</a:t>
            </a:r>
            <a:endParaRPr lang="zh-CN" altLang="en-US" sz="20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1" name="Rectangle 3">
            <a:extLst>
              <a:ext uri="{FF2B5EF4-FFF2-40B4-BE49-F238E27FC236}">
                <a16:creationId xmlns:a16="http://schemas.microsoft.com/office/drawing/2014/main" id="{5C550CDE-979B-4A2C-A41A-31732B491E0B}"/>
              </a:ext>
            </a:extLst>
          </p:cNvPr>
          <p:cNvSpPr txBox="1">
            <a:spLocks noChangeArrowheads="1"/>
          </p:cNvSpPr>
          <p:nvPr/>
        </p:nvSpPr>
        <p:spPr>
          <a:xfrm>
            <a:off x="1051922" y="838202"/>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ct val="0"/>
              </a:spcBef>
              <a:buFontTx/>
              <a:buNone/>
            </a:pPr>
            <a:endParaRPr kumimoji="0" lang="en-US" altLang="zh-CN" sz="2800" b="1" dirty="0"/>
          </a:p>
        </p:txBody>
      </p:sp>
      <p:sp>
        <p:nvSpPr>
          <p:cNvPr id="8" name="Text Box 3">
            <a:extLst>
              <a:ext uri="{FF2B5EF4-FFF2-40B4-BE49-F238E27FC236}">
                <a16:creationId xmlns:a16="http://schemas.microsoft.com/office/drawing/2014/main" id="{01553C56-E95B-49A3-9504-035E4FC15AE1}"/>
              </a:ext>
            </a:extLst>
          </p:cNvPr>
          <p:cNvSpPr txBox="1">
            <a:spLocks noChangeArrowheads="1"/>
          </p:cNvSpPr>
          <p:nvPr/>
        </p:nvSpPr>
        <p:spPr bwMode="auto">
          <a:xfrm>
            <a:off x="1093107" y="969734"/>
            <a:ext cx="9174315" cy="5732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1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Construction Method: Linear Equation</a:t>
            </a:r>
          </a:p>
          <a:p>
            <a:pPr marL="342900" indent="-342900" eaLnBrk="1" hangingPunct="1">
              <a:lnSpc>
                <a:spcPct val="11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kumimoji="0" lang="en-US" altLang="zh-CN" sz="2400" b="1" dirty="0">
                <a:solidFill>
                  <a:srgbClr val="00B0F0"/>
                </a:solidFill>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=[0,1] ,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=[1/4,1/2]</a:t>
            </a:r>
            <a:br>
              <a:rPr kumimoji="0" lang="en-US" altLang="zh-CN" sz="2400" b="1" dirty="0">
                <a:latin typeface="Trebuchet MS" panose="020B0603020202020204" pitchFamily="34" charset="0"/>
              </a:rPr>
            </a:br>
            <a:r>
              <a:rPr lang="en-US" altLang="zh-CN" sz="2400" dirty="0">
                <a:latin typeface="Trebuchet MS" panose="020B0603020202020204" pitchFamily="34" charset="0"/>
              </a:rPr>
              <a:t>Construct a bijection </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p>
          <a:p>
            <a:pPr marL="271463">
              <a:lnSpc>
                <a:spcPct val="110000"/>
              </a:lnSpc>
              <a:spcBef>
                <a:spcPts val="300"/>
              </a:spcBef>
              <a:buClr>
                <a:srgbClr val="0B61FF"/>
              </a:buClr>
              <a:buSzPct val="80000"/>
              <a:buNone/>
            </a:pPr>
            <a:r>
              <a:rPr kumimoji="0" lang="en-US" altLang="zh-CN" sz="2400" b="1" dirty="0">
                <a:solidFill>
                  <a:srgbClr val="00B0F0"/>
                </a:solidFill>
                <a:latin typeface="Trebuchet MS" panose="020B0603020202020204" pitchFamily="34" charset="0"/>
              </a:rPr>
              <a:t>Solve: </a:t>
            </a:r>
            <a:r>
              <a:rPr lang="en-US" altLang="zh-CN" sz="2400" dirty="0">
                <a:latin typeface="Trebuchet MS" panose="020B0603020202020204" pitchFamily="34" charset="0"/>
              </a:rPr>
              <a:t>To map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=[0,1] </a:t>
            </a:r>
            <a:r>
              <a:rPr lang="en-US" altLang="zh-CN" sz="2400" dirty="0">
                <a:latin typeface="Trebuchet MS" panose="020B0603020202020204" pitchFamily="34" charset="0"/>
              </a:rPr>
              <a:t> onto </a:t>
            </a:r>
            <a:r>
              <a:rPr kumimoji="0" lang="en-US" altLang="zh-CN" sz="2400" b="1" i="1" dirty="0">
                <a:latin typeface="Trebuchet MS" panose="020B0603020202020204" pitchFamily="34" charset="0"/>
              </a:rPr>
              <a:t>B</a:t>
            </a:r>
            <a:r>
              <a:rPr kumimoji="0" lang="en-US" altLang="zh-CN" sz="2400" b="1" dirty="0">
                <a:latin typeface="Trebuchet MS" panose="020B0603020202020204" pitchFamily="34" charset="0"/>
              </a:rPr>
              <a:t>=[1/4,1/2]</a:t>
            </a:r>
            <a:r>
              <a:rPr lang="en-US" altLang="zh-CN" sz="2400" dirty="0">
                <a:latin typeface="Trebuchet MS" panose="020B0603020202020204" pitchFamily="34" charset="0"/>
              </a:rPr>
              <a:t>, match the endpoints and use a straight-line function to create a bijection.</a:t>
            </a:r>
            <a:endParaRPr kumimoji="0" lang="en-US" altLang="zh-CN" sz="2400" b="1" dirty="0">
              <a:solidFill>
                <a:srgbClr val="00B0F0"/>
              </a:solidFill>
              <a:latin typeface="Trebuchet MS" panose="020B0603020202020204" pitchFamily="34" charset="0"/>
            </a:endParaRPr>
          </a:p>
          <a:p>
            <a:pPr indent="271463">
              <a:lnSpc>
                <a:spcPct val="110000"/>
              </a:lnSpc>
              <a:spcBef>
                <a:spcPts val="300"/>
              </a:spcBef>
              <a:buClr>
                <a:srgbClr val="0B61FF"/>
              </a:buClr>
              <a:buSzPct val="80000"/>
              <a:buNone/>
            </a:pPr>
            <a:r>
              <a:rPr kumimoji="0" lang="en-US" altLang="zh-CN" sz="2400" b="1" dirty="0">
                <a:latin typeface="Trebuchet MS" panose="020B0603020202020204" pitchFamily="34" charset="0"/>
              </a:rPr>
              <a:t>Let</a:t>
            </a:r>
            <a:r>
              <a:rPr kumimoji="0" lang="zh-CN" altLang="en-US" sz="2400" b="1" dirty="0">
                <a:latin typeface="Trebuchet MS" panose="020B0603020202020204" pitchFamily="34" charset="0"/>
              </a:rPr>
              <a:t>  </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[0,1]→[1/4,1/2]  </a:t>
            </a:r>
          </a:p>
          <a:p>
            <a:pPr>
              <a:spcBef>
                <a:spcPct val="0"/>
              </a:spcBef>
              <a:buNone/>
            </a:pPr>
            <a:r>
              <a:rPr kumimoji="0" lang="en-US" altLang="zh-CN" sz="2400" b="1" i="1" dirty="0">
                <a:latin typeface="Trebuchet MS" panose="020B0603020202020204" pitchFamily="34" charset="0"/>
              </a:rPr>
              <a:t>                  f</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x</a:t>
            </a:r>
            <a:r>
              <a:rPr kumimoji="0" lang="en-US" altLang="zh-CN" sz="2400" b="1" dirty="0">
                <a:latin typeface="Trebuchet MS" panose="020B0603020202020204" pitchFamily="34" charset="0"/>
              </a:rPr>
              <a:t>+1)/4</a:t>
            </a:r>
            <a:endParaRPr kumimoji="0" lang="en-US" altLang="zh-CN" sz="2400" b="1" baseline="-25000" dirty="0">
              <a:latin typeface="Trebuchet MS" panose="020B0603020202020204" pitchFamily="34" charset="0"/>
            </a:endParaRPr>
          </a:p>
        </p:txBody>
      </p:sp>
      <p:pic>
        <p:nvPicPr>
          <p:cNvPr id="4" name="图片 3">
            <a:extLst>
              <a:ext uri="{FF2B5EF4-FFF2-40B4-BE49-F238E27FC236}">
                <a16:creationId xmlns:a16="http://schemas.microsoft.com/office/drawing/2014/main" id="{396919AA-9DE9-44D9-906E-14E3E7B9291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98974" y="3156448"/>
            <a:ext cx="4382483" cy="2901814"/>
          </a:xfrm>
          <a:prstGeom prst="rect">
            <a:avLst/>
          </a:prstGeom>
        </p:spPr>
      </p:pic>
    </p:spTree>
    <p:extLst>
      <p:ext uri="{BB962C8B-B14F-4D97-AF65-F5344CB8AC3E}">
        <p14:creationId xmlns:p14="http://schemas.microsoft.com/office/powerpoint/2010/main" val="985139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1+#ppt_w/2"/>
                                          </p:val>
                                        </p:tav>
                                        <p:tav tm="100000">
                                          <p:val>
                                            <p:strVal val="#ppt_x"/>
                                          </p:val>
                                        </p:tav>
                                      </p:tavLst>
                                    </p:anim>
                                    <p:anim calcmode="lin" valueType="num">
                                      <p:cBhvr additive="base">
                                        <p:cTn id="22" dur="500" fill="hold"/>
                                        <p:tgtEl>
                                          <p:spTgt spid="4"/>
                                        </p:tgtEl>
                                        <p:attrNameLst>
                                          <p:attrName>ppt_y</p:attrName>
                                        </p:attrNameLst>
                                      </p:cBhvr>
                                      <p:tavLst>
                                        <p:tav tm="0">
                                          <p:val>
                                            <p:strVal val="#ppt_y"/>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Effect transition="in" filter="fade">
                                      <p:cBhvr>
                                        <p:cTn id="25" dur="1000"/>
                                        <p:tgtEl>
                                          <p:spTgt spid="8">
                                            <p:txEl>
                                              <p:pRg st="4" end="4"/>
                                            </p:txEl>
                                          </p:spTgt>
                                        </p:tgtEl>
                                      </p:cBhvr>
                                    </p:animEffect>
                                    <p:anim calcmode="lin" valueType="num">
                                      <p:cBhvr>
                                        <p:cTn id="26"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7"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5.1.3 Properties of a Function</a:t>
            </a:r>
            <a:r>
              <a:rPr lang="en-US" altLang="zh-CN" sz="2000" b="1"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000" b="1" dirty="0">
                <a:latin typeface="Trebuchet MS" panose="020B0603020202020204" pitchFamily="34" charset="0"/>
              </a:rPr>
              <a:t>Constructing a bijective function</a:t>
            </a: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 (between s</a:t>
            </a:r>
            <a:r>
              <a:rPr lang="en-US" altLang="zh-CN" sz="2400" b="1" dirty="0"/>
              <a:t>et A and the set of natural numbers</a:t>
            </a:r>
            <a:r>
              <a:rPr lang="en-US" altLang="zh-CN" sz="2000" b="1" dirty="0">
                <a:latin typeface="Trebuchet MS" panose="020B0603020202020204" pitchFamily="34" charset="0"/>
              </a:rPr>
              <a:t>)(</a:t>
            </a:r>
            <a:r>
              <a:rPr lang="en-US" altLang="zh-CN" sz="2000" b="1" dirty="0">
                <a:solidFill>
                  <a:schemeClr val="accent2"/>
                </a:solidFill>
                <a:latin typeface="Trebuchet MS" panose="020B0603020202020204" pitchFamily="34" charset="0"/>
              </a:rPr>
              <a:t>e.g.</a:t>
            </a:r>
            <a:r>
              <a:rPr lang="en-US" altLang="zh-CN" sz="2000" b="1" dirty="0">
                <a:latin typeface="Trebuchet MS" panose="020B0603020202020204" pitchFamily="34" charset="0"/>
              </a:rPr>
              <a:t>)</a:t>
            </a:r>
            <a:endParaRPr lang="zh-CN" altLang="en-US" sz="20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1" name="Rectangle 3">
            <a:extLst>
              <a:ext uri="{FF2B5EF4-FFF2-40B4-BE49-F238E27FC236}">
                <a16:creationId xmlns:a16="http://schemas.microsoft.com/office/drawing/2014/main" id="{5C550CDE-979B-4A2C-A41A-31732B491E0B}"/>
              </a:ext>
            </a:extLst>
          </p:cNvPr>
          <p:cNvSpPr txBox="1">
            <a:spLocks noChangeArrowheads="1"/>
          </p:cNvSpPr>
          <p:nvPr/>
        </p:nvSpPr>
        <p:spPr>
          <a:xfrm>
            <a:off x="1051922" y="838202"/>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spcBef>
                <a:spcPct val="0"/>
              </a:spcBef>
              <a:buFontTx/>
              <a:buNone/>
            </a:pPr>
            <a:endParaRPr kumimoji="0" lang="en-US" altLang="zh-CN" sz="2800" b="1" dirty="0"/>
          </a:p>
        </p:txBody>
      </p:sp>
      <p:sp>
        <p:nvSpPr>
          <p:cNvPr id="8" name="Text Box 3">
            <a:extLst>
              <a:ext uri="{FF2B5EF4-FFF2-40B4-BE49-F238E27FC236}">
                <a16:creationId xmlns:a16="http://schemas.microsoft.com/office/drawing/2014/main" id="{01553C56-E95B-49A3-9504-035E4FC15AE1}"/>
              </a:ext>
            </a:extLst>
          </p:cNvPr>
          <p:cNvSpPr txBox="1">
            <a:spLocks noChangeArrowheads="1"/>
          </p:cNvSpPr>
          <p:nvPr/>
        </p:nvSpPr>
        <p:spPr bwMode="auto">
          <a:xfrm>
            <a:off x="1093107" y="969734"/>
            <a:ext cx="10046971" cy="5732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1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Construction Method: </a:t>
            </a:r>
            <a:r>
              <a:rPr lang="en-US" altLang="zh-CN" sz="2400" dirty="0">
                <a:latin typeface="Trebuchet MS" panose="020B0603020202020204" pitchFamily="34" charset="0"/>
              </a:rPr>
              <a:t>Arrange the elements of set </a:t>
            </a:r>
            <a:r>
              <a:rPr lang="en-US" altLang="zh-CN" sz="2400" i="1" dirty="0">
                <a:latin typeface="Trebuchet MS" panose="020B0603020202020204" pitchFamily="34" charset="0"/>
              </a:rPr>
              <a:t>A</a:t>
            </a:r>
            <a:r>
              <a:rPr lang="en-US" altLang="zh-CN" sz="2400" dirty="0">
                <a:latin typeface="Trebuchet MS" panose="020B0603020202020204" pitchFamily="34" charset="0"/>
              </a:rPr>
              <a:t> in a specific order based on a certain criterion. Then, starting from the first element, map them sequentially to the natural numbers.</a:t>
            </a:r>
          </a:p>
          <a:p>
            <a:pPr marL="342900" indent="-342900">
              <a:lnSpc>
                <a:spcPct val="11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kumimoji="0" lang="en-US" altLang="zh-CN" sz="2400" b="1" dirty="0">
                <a:solidFill>
                  <a:srgbClr val="00B0F0"/>
                </a:solidFill>
                <a:latin typeface="Trebuchet MS" panose="020B0603020202020204" pitchFamily="34" charset="0"/>
              </a:rPr>
              <a:t> </a:t>
            </a:r>
            <a:r>
              <a:rPr kumimoji="0" lang="en-US" altLang="zh-CN" sz="2400" b="1" i="1" dirty="0"/>
              <a:t>A</a:t>
            </a:r>
            <a:r>
              <a:rPr kumimoji="0" lang="en-US" altLang="zh-CN" sz="2400" b="1" dirty="0"/>
              <a:t>=Z, </a:t>
            </a:r>
            <a:r>
              <a:rPr kumimoji="0" lang="en-US" altLang="zh-CN" sz="2400" b="1" i="1" dirty="0"/>
              <a:t>B</a:t>
            </a:r>
            <a:r>
              <a:rPr kumimoji="0" lang="en-US" altLang="zh-CN" sz="2400" b="1" dirty="0"/>
              <a:t>=N</a:t>
            </a:r>
            <a:r>
              <a:rPr kumimoji="0" lang="zh-CN" altLang="en-US" sz="2400" b="1" dirty="0"/>
              <a:t>，</a:t>
            </a:r>
            <a:r>
              <a:rPr lang="en-US" altLang="zh-CN" sz="2400" dirty="0">
                <a:latin typeface="Trebuchet MS" panose="020B0603020202020204" pitchFamily="34" charset="0"/>
              </a:rPr>
              <a:t>Construct a bijection </a:t>
            </a:r>
            <a:r>
              <a:rPr kumimoji="0" lang="en-US" altLang="zh-CN" sz="2400" b="1" i="1" dirty="0">
                <a:latin typeface="Trebuchet MS" panose="020B0603020202020204" pitchFamily="34" charset="0"/>
              </a:rPr>
              <a:t>f </a:t>
            </a:r>
            <a:r>
              <a:rPr kumimoji="0" lang="en-US" altLang="zh-CN" sz="2400" b="1" dirty="0">
                <a:latin typeface="Trebuchet MS" panose="020B0603020202020204" pitchFamily="34" charset="0"/>
              </a:rPr>
              <a:t>: </a:t>
            </a:r>
            <a:r>
              <a:rPr kumimoji="0" lang="en-US" altLang="zh-CN" sz="2400" b="1" i="1" dirty="0">
                <a:latin typeface="Trebuchet MS" panose="020B0603020202020204" pitchFamily="34" charset="0"/>
              </a:rPr>
              <a:t>A</a:t>
            </a:r>
            <a:r>
              <a:rPr kumimoji="0" lang="en-US" altLang="zh-CN" sz="2400" b="1" dirty="0">
                <a:latin typeface="Trebuchet MS" panose="020B0603020202020204" pitchFamily="34" charset="0"/>
              </a:rPr>
              <a:t>→</a:t>
            </a:r>
            <a:r>
              <a:rPr kumimoji="0" lang="en-US" altLang="zh-CN" sz="2400" b="1" i="1" dirty="0">
                <a:latin typeface="Trebuchet MS" panose="020B0603020202020204" pitchFamily="34" charset="0"/>
              </a:rPr>
              <a:t>B</a:t>
            </a:r>
          </a:p>
          <a:p>
            <a:pPr marL="271463">
              <a:lnSpc>
                <a:spcPct val="110000"/>
              </a:lnSpc>
              <a:spcBef>
                <a:spcPts val="300"/>
              </a:spcBef>
              <a:buClr>
                <a:srgbClr val="0B61FF"/>
              </a:buClr>
              <a:buSzPct val="80000"/>
              <a:buNone/>
            </a:pPr>
            <a:r>
              <a:rPr kumimoji="0" lang="en-US" altLang="zh-CN" sz="2400" b="1" dirty="0">
                <a:solidFill>
                  <a:srgbClr val="0B61FF"/>
                </a:solidFill>
                <a:latin typeface="Trebuchet MS" panose="020B0603020202020204" pitchFamily="34" charset="0"/>
              </a:rPr>
              <a:t>Solve</a:t>
            </a:r>
            <a:r>
              <a:rPr lang="en-US" altLang="zh-CN" sz="2400" dirty="0">
                <a:solidFill>
                  <a:srgbClr val="0B61FF"/>
                </a:solidFill>
              </a:rPr>
              <a:t> </a:t>
            </a:r>
            <a:r>
              <a:rPr kumimoji="0" lang="en-US" altLang="zh-CN" sz="2400" b="1" dirty="0">
                <a:solidFill>
                  <a:srgbClr val="0B61FF"/>
                </a:solidFill>
                <a:latin typeface="Trebuchet MS" panose="020B0603020202020204" pitchFamily="34" charset="0"/>
              </a:rPr>
              <a:t>:</a:t>
            </a:r>
            <a:r>
              <a:rPr kumimoji="0" lang="en-US" altLang="zh-CN" sz="2400" b="1" dirty="0">
                <a:solidFill>
                  <a:srgbClr val="00B0F0"/>
                </a:solidFill>
                <a:latin typeface="Trebuchet MS" panose="020B0603020202020204" pitchFamily="34" charset="0"/>
              </a:rPr>
              <a:t> </a:t>
            </a:r>
            <a:r>
              <a:rPr lang="en-US" altLang="zh-CN" sz="2400" dirty="0">
                <a:latin typeface="Trebuchet MS" panose="020B0603020202020204" pitchFamily="34" charset="0"/>
              </a:rPr>
              <a:t>Arrange the elements of  </a:t>
            </a:r>
            <a:r>
              <a:rPr kumimoji="0" lang="en-US" altLang="zh-CN" sz="2400" b="1" dirty="0">
                <a:latin typeface="Trebuchet MS" panose="020B0603020202020204" pitchFamily="34" charset="0"/>
              </a:rPr>
              <a:t>Z </a:t>
            </a:r>
            <a:r>
              <a:rPr lang="en-US" altLang="zh-CN" sz="2400" dirty="0">
                <a:latin typeface="Trebuchet MS" panose="020B0603020202020204" pitchFamily="34" charset="0"/>
              </a:rPr>
              <a:t>in the following order and correspond them with the elements of N:</a:t>
            </a:r>
          </a:p>
          <a:p>
            <a:pPr marL="271463">
              <a:lnSpc>
                <a:spcPct val="110000"/>
              </a:lnSpc>
              <a:spcBef>
                <a:spcPts val="300"/>
              </a:spcBef>
              <a:buClr>
                <a:srgbClr val="0B61FF"/>
              </a:buClr>
              <a:buSzPct val="80000"/>
              <a:buNone/>
            </a:pPr>
            <a:r>
              <a:rPr kumimoji="0" lang="en-US" altLang="zh-CN" sz="2400" b="1" dirty="0"/>
              <a:t>                Z</a:t>
            </a:r>
            <a:r>
              <a:rPr kumimoji="0" lang="zh-CN" altLang="en-US" sz="2400" b="1" dirty="0"/>
              <a:t>：</a:t>
            </a:r>
            <a:r>
              <a:rPr kumimoji="0" lang="en-US" altLang="zh-CN" sz="2400" b="1" dirty="0"/>
              <a:t>0    </a:t>
            </a:r>
            <a:r>
              <a:rPr kumimoji="0" lang="en-US" altLang="zh-CN" sz="2400" b="1" dirty="0">
                <a:sym typeface="Symbol" panose="05050102010706020507" pitchFamily="18" charset="2"/>
              </a:rPr>
              <a:t></a:t>
            </a:r>
            <a:r>
              <a:rPr kumimoji="0" lang="en-US" altLang="zh-CN" sz="2400" b="1" dirty="0"/>
              <a:t>1    1    </a:t>
            </a:r>
            <a:r>
              <a:rPr kumimoji="0" lang="en-US" altLang="zh-CN" sz="2400" b="1" dirty="0">
                <a:sym typeface="Symbol" panose="05050102010706020507" pitchFamily="18" charset="2"/>
              </a:rPr>
              <a:t></a:t>
            </a:r>
            <a:r>
              <a:rPr kumimoji="0" lang="en-US" altLang="zh-CN" sz="2400" b="1" dirty="0"/>
              <a:t>2    2    </a:t>
            </a:r>
            <a:r>
              <a:rPr kumimoji="0" lang="en-US" altLang="zh-CN" sz="2400" b="1" dirty="0">
                <a:sym typeface="Symbol" panose="05050102010706020507" pitchFamily="18" charset="2"/>
              </a:rPr>
              <a:t></a:t>
            </a:r>
            <a:r>
              <a:rPr kumimoji="0" lang="en-US" altLang="zh-CN" sz="2400" b="1" dirty="0"/>
              <a:t>3    3 …</a:t>
            </a:r>
            <a:br>
              <a:rPr kumimoji="0" lang="en-US" altLang="zh-CN" sz="2400" b="1" dirty="0"/>
            </a:br>
            <a:r>
              <a:rPr kumimoji="0" lang="en-US" altLang="zh-CN" sz="2400" b="1" dirty="0"/>
              <a:t>                       ↓     ↓     ↓     ↓     ↓     ↓     ↓</a:t>
            </a:r>
            <a:br>
              <a:rPr kumimoji="0" lang="en-US" altLang="zh-CN" sz="2400" b="1" dirty="0"/>
            </a:br>
            <a:r>
              <a:rPr kumimoji="0" lang="en-US" altLang="zh-CN" sz="2400" b="1" dirty="0"/>
              <a:t>                N</a:t>
            </a:r>
            <a:r>
              <a:rPr kumimoji="0" lang="zh-CN" altLang="en-US" sz="2400" b="1" dirty="0"/>
              <a:t>：</a:t>
            </a:r>
            <a:r>
              <a:rPr kumimoji="0" lang="en-US" altLang="zh-CN" sz="2400" b="1" dirty="0"/>
              <a:t>0     1     2     3     4     5     6 …</a:t>
            </a:r>
          </a:p>
          <a:p>
            <a:pPr marL="271463">
              <a:lnSpc>
                <a:spcPct val="110000"/>
              </a:lnSpc>
              <a:spcBef>
                <a:spcPts val="300"/>
              </a:spcBef>
              <a:buClr>
                <a:srgbClr val="0B61FF"/>
              </a:buClr>
              <a:buSzPct val="80000"/>
              <a:buNone/>
            </a:pPr>
            <a:r>
              <a:rPr lang="en-US" altLang="zh-CN" sz="2400" dirty="0">
                <a:latin typeface="Trebuchet MS" panose="020B0603020202020204" pitchFamily="34" charset="0"/>
              </a:rPr>
              <a:t>The function represented by this correspondence is:</a:t>
            </a:r>
          </a:p>
          <a:p>
            <a:pPr marL="271463">
              <a:lnSpc>
                <a:spcPct val="110000"/>
              </a:lnSpc>
              <a:spcBef>
                <a:spcPts val="300"/>
              </a:spcBef>
              <a:buClr>
                <a:srgbClr val="0B61FF"/>
              </a:buClr>
              <a:buSzPct val="80000"/>
              <a:buNone/>
            </a:pPr>
            <a:br>
              <a:rPr kumimoji="0" lang="en-US" altLang="zh-CN" sz="2400" b="1" dirty="0"/>
            </a:br>
            <a:r>
              <a:rPr kumimoji="0" lang="en-US" altLang="zh-CN" sz="2400" b="1" dirty="0"/>
              <a:t>  </a:t>
            </a:r>
            <a:endParaRPr kumimoji="0" lang="en-US" altLang="zh-CN" sz="2400" b="1" dirty="0">
              <a:solidFill>
                <a:srgbClr val="00B0F0"/>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9" name="Object 4">
                <a:extLst>
                  <a:ext uri="{FF2B5EF4-FFF2-40B4-BE49-F238E27FC236}">
                    <a16:creationId xmlns:a16="http://schemas.microsoft.com/office/drawing/2014/main" id="{2735654E-4D03-484A-B09E-B5D6AF649533}"/>
                  </a:ext>
                </a:extLst>
              </p:cNvPr>
              <p:cNvSpPr txBox="1"/>
              <p:nvPr/>
            </p:nvSpPr>
            <p:spPr bwMode="auto">
              <a:xfrm>
                <a:off x="2402339" y="5179106"/>
                <a:ext cx="4851400" cy="100647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400" b="1" i="1">
                          <a:solidFill>
                            <a:srgbClr val="000000"/>
                          </a:solidFill>
                          <a:latin typeface="Cambria Math" panose="02040503050406030204" pitchFamily="18" charset="0"/>
                        </a:rPr>
                        <m:t>𝒇</m:t>
                      </m:r>
                      <m:r>
                        <a:rPr lang="zh-CN" altLang="en-US" sz="2400" b="1" i="1">
                          <a:solidFill>
                            <a:srgbClr val="000000"/>
                          </a:solidFill>
                          <a:latin typeface="Cambria Math" panose="02040503050406030204" pitchFamily="18" charset="0"/>
                        </a:rPr>
                        <m:t>:</m:t>
                      </m:r>
                      <m:r>
                        <a:rPr lang="zh-CN" altLang="en-US" sz="2400" b="1" i="0">
                          <a:solidFill>
                            <a:srgbClr val="000000"/>
                          </a:solidFill>
                          <a:latin typeface="Cambria Math" panose="02040503050406030204" pitchFamily="18" charset="0"/>
                        </a:rPr>
                        <m:t>𝐙</m:t>
                      </m:r>
                      <m:r>
                        <a:rPr lang="zh-CN" altLang="en-US" sz="2400" b="1" i="1">
                          <a:solidFill>
                            <a:srgbClr val="000000"/>
                          </a:solidFill>
                          <a:latin typeface="Cambria Math" panose="02040503050406030204" pitchFamily="18" charset="0"/>
                        </a:rPr>
                        <m:t>→</m:t>
                      </m:r>
                      <m:r>
                        <a:rPr lang="zh-CN" altLang="en-US" sz="2400" b="1" i="0">
                          <a:solidFill>
                            <a:srgbClr val="000000"/>
                          </a:solidFill>
                          <a:latin typeface="Cambria Math" panose="02040503050406030204" pitchFamily="18" charset="0"/>
                        </a:rPr>
                        <m:t>𝐍</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𝒇</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d>
                        <m:dPr>
                          <m:begChr m:val="{"/>
                          <m:endChr m:val=""/>
                          <m:ctrlPr>
                            <a:rPr lang="zh-CN" altLang="en-US" sz="2400" b="1" i="1">
                              <a:solidFill>
                                <a:srgbClr val="000000"/>
                              </a:solidFill>
                              <a:latin typeface="Cambria Math" panose="02040503050406030204" pitchFamily="18" charset="0"/>
                            </a:rPr>
                          </m:ctrlPr>
                        </m:dPr>
                        <m:e>
                          <m:m>
                            <m:mPr>
                              <m:plcHide m:val="on"/>
                              <m:mcs>
                                <m:mc>
                                  <m:mcPr>
                                    <m:count m:val="1"/>
                                    <m:mcJc m:val="center"/>
                                  </m:mcPr>
                                </m:mc>
                              </m:mcs>
                              <m:ctrlPr>
                                <a:rPr lang="zh-CN" altLang="en-US" sz="2400" b="1" i="1">
                                  <a:solidFill>
                                    <a:srgbClr val="000000"/>
                                  </a:solidFill>
                                  <a:latin typeface="Cambria Math" panose="02040503050406030204" pitchFamily="18" charset="0"/>
                                </a:rPr>
                              </m:ctrlPr>
                            </m:mPr>
                            <m:mr>
                              <m:e>
                                <m:r>
                                  <a:rPr lang="zh-CN" altLang="en-US" sz="2400" b="1" i="1">
                                    <a:solidFill>
                                      <a:srgbClr val="000000"/>
                                    </a:solidFill>
                                    <a:latin typeface="Cambria Math" panose="02040503050406030204" pitchFamily="18" charset="0"/>
                                  </a:rPr>
                                  <m:t>𝟐</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   </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𝟎</m:t>
                                </m:r>
                              </m:e>
                            </m:mr>
                            <m:mr>
                              <m:e>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𝟐</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𝟏</m:t>
                                </m:r>
                                <m:r>
                                  <a:rPr lang="zh-CN" altLang="en-US" sz="2400" b="1" i="1">
                                    <a:solidFill>
                                      <a:srgbClr val="000000"/>
                                    </a:solidFill>
                                    <a:latin typeface="Cambria Math" panose="02040503050406030204" pitchFamily="18" charset="0"/>
                                  </a:rPr>
                                  <m:t> </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&lt;</m:t>
                                </m:r>
                                <m:r>
                                  <a:rPr lang="zh-CN" altLang="en-US" sz="2400" b="1" i="1">
                                    <a:solidFill>
                                      <a:srgbClr val="000000"/>
                                    </a:solidFill>
                                    <a:latin typeface="Cambria Math" panose="02040503050406030204" pitchFamily="18" charset="0"/>
                                  </a:rPr>
                                  <m:t>𝟎</m:t>
                                </m:r>
                              </m:e>
                            </m:mr>
                          </m:m>
                        </m:e>
                      </m:d>
                    </m:oMath>
                  </m:oMathPara>
                </a14:m>
                <a:endParaRPr lang="zh-CN" altLang="en-US" sz="2400" b="1" dirty="0"/>
              </a:p>
            </p:txBody>
          </p:sp>
        </mc:Choice>
        <mc:Fallback xmlns="">
          <p:sp>
            <p:nvSpPr>
              <p:cNvPr id="9" name="Object 4">
                <a:extLst>
                  <a:ext uri="{FF2B5EF4-FFF2-40B4-BE49-F238E27FC236}">
                    <a16:creationId xmlns:a16="http://schemas.microsoft.com/office/drawing/2014/main" id="{2735654E-4D03-484A-B09E-B5D6AF649533}"/>
                  </a:ext>
                </a:extLst>
              </p:cNvPr>
              <p:cNvSpPr txBox="1">
                <a:spLocks noRot="1" noChangeAspect="1" noMove="1" noResize="1" noEditPoints="1" noAdjustHandles="1" noChangeArrowheads="1" noChangeShapeType="1" noTextEdit="1"/>
              </p:cNvSpPr>
              <p:nvPr/>
            </p:nvSpPr>
            <p:spPr bwMode="auto">
              <a:xfrm>
                <a:off x="2402339" y="5179106"/>
                <a:ext cx="4851400" cy="1006475"/>
              </a:xfrm>
              <a:prstGeom prst="rect">
                <a:avLst/>
              </a:prstGeom>
              <a:blipFill>
                <a:blip r:embed="rId5"/>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9821218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bg1"/>
                </a:solidFill>
                <a:latin typeface="Trebuchet MS" panose="020B0603020202020204" pitchFamily="34" charset="0"/>
              </a:rPr>
              <a:t>5.1 Function Definition and Properties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3068878790"/>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rPr>
              <a:t>          Chapter 5</a:t>
            </a:r>
            <a:r>
              <a:rPr lang="zh-CN" altLang="en-US" sz="2400" b="1" dirty="0">
                <a:latin typeface="Trebuchet MS" panose="020B0603020202020204" pitchFamily="34" charset="0"/>
              </a:rPr>
              <a:t>：</a:t>
            </a:r>
            <a:r>
              <a:rPr lang="en-US" altLang="zh-CN" sz="2400" b="1" dirty="0"/>
              <a:t>Function</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ct val="0"/>
              </a:spcBef>
              <a:buNone/>
            </a:pPr>
            <a:endParaRPr lang="en-US" altLang="zh-CN" b="1" dirty="0"/>
          </a:p>
          <a:p>
            <a:pPr marL="342900" indent="-342900">
              <a:lnSpc>
                <a:spcPct val="15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5.1 Function Definition and Properties</a:t>
            </a:r>
          </a:p>
          <a:p>
            <a:pPr marL="342900" indent="-342900">
              <a:lnSpc>
                <a:spcPct val="15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5.2 Composition of Functions and Inverse Functions</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5.3 Relational Algebra</a:t>
            </a:r>
          </a:p>
          <a:p>
            <a:pPr lvl="1"/>
            <a:endParaRPr lang="zh-CN" altLang="en-US" sz="2800" b="1" dirty="0"/>
          </a:p>
        </p:txBody>
      </p:sp>
    </p:spTree>
    <p:extLst>
      <p:ext uri="{BB962C8B-B14F-4D97-AF65-F5344CB8AC3E}">
        <p14:creationId xmlns:p14="http://schemas.microsoft.com/office/powerpoint/2010/main" val="15026231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t>              </a:t>
            </a:r>
            <a:r>
              <a:rPr lang="en-US" altLang="zh-CN" sz="2000" b="1" dirty="0">
                <a:latin typeface="Trebuchet MS" panose="020B0603020202020204" pitchFamily="34" charset="0"/>
              </a:rPr>
              <a:t>5.2 Composition of Functions and Inverse Functions</a:t>
            </a:r>
            <a:r>
              <a:rPr lang="en-US" altLang="zh-CN" sz="2000" b="1" dirty="0">
                <a:latin typeface="Trebuchet MS" panose="020B0603020202020204" pitchFamily="34" charset="0"/>
                <a:ea typeface="Cambria Math" panose="02040503050406030204" pitchFamily="18" charset="0"/>
                <a:cs typeface="Times New Roman" panose="02020603050405020304" pitchFamily="18" charset="0"/>
              </a:rPr>
              <a:t>                 </a:t>
            </a:r>
            <a:endParaRPr lang="zh-CN" altLang="en-US" sz="20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1049564" y="991280"/>
            <a:ext cx="9553122" cy="377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3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5.2.1 Composition of Functions</a:t>
            </a:r>
          </a:p>
          <a:p>
            <a:pPr marL="719138" indent="-360363">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The fundamental theorem of function composition and its corollaries</a:t>
            </a:r>
          </a:p>
          <a:p>
            <a:pPr marL="719138" indent="-360363">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Properties of function composition</a:t>
            </a:r>
          </a:p>
          <a:p>
            <a:pPr marL="342900" indent="-342900">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5.2.2 Inverse Functions</a:t>
            </a:r>
          </a:p>
          <a:p>
            <a:pPr marL="719138" indent="-360363">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Conditions for the existence of an inverse function</a:t>
            </a:r>
          </a:p>
          <a:p>
            <a:pPr marL="719138" indent="-360363">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Properties of inverse function</a:t>
            </a:r>
          </a:p>
        </p:txBody>
      </p:sp>
    </p:spTree>
    <p:extLst>
      <p:ext uri="{BB962C8B-B14F-4D97-AF65-F5344CB8AC3E}">
        <p14:creationId xmlns:p14="http://schemas.microsoft.com/office/powerpoint/2010/main" val="834689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rebuchet MS" panose="020B0603020202020204" pitchFamily="34" charset="0"/>
              </a:rPr>
              <a:t>5.2 Composition of Functions and Inverse Functions</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5.2.1 Composition of Functions </a:t>
            </a:r>
            <a:r>
              <a:rPr lang="en-US" altLang="zh-CN" sz="2400" b="1" dirty="0">
                <a:effectLst/>
                <a:latin typeface="Trebuchet MS" panose="020B0603020202020204" pitchFamily="34" charset="0"/>
                <a:ea typeface="Cambria Math" panose="02040503050406030204" pitchFamily="18" charset="0"/>
                <a:cs typeface="Times New Roman" panose="02020603050405020304" pitchFamily="18" charset="0"/>
              </a:rPr>
              <a:t> </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824683" y="773562"/>
            <a:ext cx="10367192" cy="2905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10000"/>
              </a:lnSpc>
              <a:spcBef>
                <a:spcPct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 </a:t>
            </a:r>
            <a:r>
              <a:rPr kumimoji="0" lang="en-US" altLang="zh-CN" sz="2400" b="1" dirty="0">
                <a:latin typeface="Trebuchet MS" panose="020B0603020202020204" pitchFamily="34" charset="0"/>
              </a:rPr>
              <a:t>5.1</a:t>
            </a:r>
            <a:r>
              <a:rPr kumimoji="0" lang="zh-CN" altLang="en-US" sz="2400" b="1" dirty="0">
                <a:latin typeface="Trebuchet MS" panose="020B0603020202020204" pitchFamily="34" charset="0"/>
              </a:rPr>
              <a:t>：</a:t>
            </a:r>
            <a:r>
              <a:rPr lang="en-US" altLang="zh-CN" sz="2400" dirty="0">
                <a:latin typeface="Trebuchet MS" panose="020B0603020202020204" pitchFamily="34" charset="0"/>
              </a:rPr>
              <a:t>Let </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dirty="0">
                <a:latin typeface="Trebuchet MS" panose="020B0603020202020204" pitchFamily="34" charset="0"/>
              </a:rPr>
              <a:t> be functions</a:t>
            </a:r>
            <a:r>
              <a:rPr kumimoji="0" lang="en-US" altLang="zh-CN" sz="2400" b="1" dirty="0">
                <a:latin typeface="Trebuchet MS" panose="020B0603020202020204" pitchFamily="34" charset="0"/>
              </a:rPr>
              <a:t>, then the composition </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dirty="0">
                <a:latin typeface="Trebuchet MS" panose="020B0603020202020204" pitchFamily="34" charset="0"/>
              </a:rPr>
              <a:t> is also a function and satisfies the following conditions: </a:t>
            </a:r>
            <a:br>
              <a:rPr kumimoji="0" lang="zh-CN" altLang="en-US" sz="2400" b="1" dirty="0">
                <a:latin typeface="Trebuchet MS" panose="020B0603020202020204" pitchFamily="34" charset="0"/>
              </a:rPr>
            </a:br>
            <a:r>
              <a:rPr lang="en-US" altLang="zh-CN" sz="2400" b="1" dirty="0">
                <a:solidFill>
                  <a:srgbClr val="0B61FF"/>
                </a:solidFill>
                <a:latin typeface="Trebuchet MS" panose="020B0603020202020204" pitchFamily="34" charset="0"/>
              </a:rPr>
              <a:t>(1) </a:t>
            </a:r>
            <a:r>
              <a:rPr lang="en-US" altLang="zh-CN" sz="2400" b="1" dirty="0">
                <a:latin typeface="Trebuchet MS" panose="020B0603020202020204" pitchFamily="34" charset="0"/>
              </a:rPr>
              <a:t>dom(</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 </a:t>
            </a:r>
            <a:r>
              <a:rPr lang="en-US" altLang="zh-CN" sz="2400" b="1" i="1" dirty="0">
                <a:latin typeface="Trebuchet MS" panose="020B0603020202020204" pitchFamily="34" charset="0"/>
              </a:rPr>
              <a:t>x </a:t>
            </a: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∈dom</a:t>
            </a:r>
            <a:r>
              <a:rPr lang="en-US" altLang="zh-CN" sz="2400" b="1" i="1" dirty="0">
                <a:latin typeface="Trebuchet MS" panose="020B0603020202020204" pitchFamily="34" charset="0"/>
              </a:rPr>
              <a:t>G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)∈dom</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kumimoji="0" lang="zh-CN" altLang="en-US" sz="2400" b="1" dirty="0">
                <a:latin typeface="Trebuchet MS" panose="020B0603020202020204" pitchFamily="34" charset="0"/>
              </a:rPr>
              <a:t> </a:t>
            </a:r>
            <a:endParaRPr kumimoji="0" lang="en-US" altLang="zh-CN" sz="2400" b="1" dirty="0">
              <a:latin typeface="Trebuchet MS" panose="020B0603020202020204" pitchFamily="34" charset="0"/>
            </a:endParaRPr>
          </a:p>
          <a:p>
            <a:pPr marL="719138">
              <a:lnSpc>
                <a:spcPct val="110000"/>
              </a:lnSpc>
              <a:spcBef>
                <a:spcPct val="0"/>
              </a:spcBef>
              <a:buNone/>
            </a:pPr>
            <a:r>
              <a:rPr kumimoji="0" lang="zh-CN" altLang="zh-CN" sz="2400" b="0" u="none" strike="noStrike" cap="none" normalizeH="0" baseline="0" dirty="0">
                <a:ln>
                  <a:noFill/>
                </a:ln>
                <a:effectLst/>
                <a:latin typeface="Trebuchet MS" panose="020B0603020202020204" pitchFamily="34" charset="0"/>
              </a:rPr>
              <a:t>(</a:t>
            </a:r>
            <a:r>
              <a:rPr kumimoji="0" lang="zh-CN" altLang="zh-CN" sz="2400" b="0" u="none" strike="noStrike" cap="none" normalizeH="0" baseline="0" dirty="0">
                <a:ln>
                  <a:noFill/>
                </a:ln>
                <a:solidFill>
                  <a:schemeClr val="bg2">
                    <a:lumMod val="50000"/>
                  </a:schemeClr>
                </a:solidFill>
                <a:effectLst/>
                <a:latin typeface="Trebuchet MS" panose="020B0603020202020204" pitchFamily="34" charset="0"/>
              </a:rPr>
              <a:t>This describes the relationship between the domains and ranges of the functions</a:t>
            </a:r>
            <a:r>
              <a:rPr kumimoji="0" lang="zh-CN" altLang="zh-CN" sz="2400" b="0" u="none" strike="noStrike" cap="none" normalizeH="0" baseline="0" dirty="0">
                <a:ln>
                  <a:noFill/>
                </a:ln>
                <a:effectLst/>
                <a:latin typeface="Trebuchet MS" panose="020B0603020202020204" pitchFamily="34" charset="0"/>
              </a:rPr>
              <a:t>.)</a:t>
            </a:r>
            <a:endParaRPr kumimoji="0" lang="en-US" altLang="zh-CN" sz="2400" b="1" u="none" strike="noStrike" cap="none" normalizeH="0" baseline="0" dirty="0">
              <a:ln>
                <a:noFill/>
              </a:ln>
              <a:effectLst/>
              <a:latin typeface="Trebuchet MS" panose="020B0603020202020204" pitchFamily="34" charset="0"/>
            </a:endParaRPr>
          </a:p>
          <a:p>
            <a:pPr marL="719138" indent="-360363">
              <a:lnSpc>
                <a:spcPct val="110000"/>
              </a:lnSpc>
              <a:spcBef>
                <a:spcPct val="0"/>
              </a:spcBef>
              <a:buNone/>
            </a:pPr>
            <a:r>
              <a:rPr lang="en-US" altLang="zh-CN" sz="2400" b="1" dirty="0">
                <a:solidFill>
                  <a:srgbClr val="0B61FF"/>
                </a:solidFill>
                <a:latin typeface="Trebuchet MS" panose="020B0603020202020204" pitchFamily="34" charset="0"/>
              </a:rPr>
              <a:t>(2)</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∈dom(</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 </a:t>
            </a:r>
            <a:r>
              <a:rPr lang="zh-CN" altLang="en-US"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kumimoji="0" lang="zh-CN" altLang="en-US" sz="2400" b="1" dirty="0">
                <a:latin typeface="Trebuchet MS" panose="020B0603020202020204" pitchFamily="34" charset="0"/>
              </a:rPr>
              <a:t> </a:t>
            </a:r>
            <a:endParaRPr kumimoji="0" lang="en-US" altLang="zh-CN" sz="2400" b="1" dirty="0">
              <a:latin typeface="Trebuchet MS" panose="020B0603020202020204" pitchFamily="34" charset="0"/>
            </a:endParaRPr>
          </a:p>
          <a:p>
            <a:pPr marL="719138">
              <a:lnSpc>
                <a:spcPct val="110000"/>
              </a:lnSpc>
              <a:spcBef>
                <a:spcPct val="0"/>
              </a:spcBef>
              <a:buNone/>
            </a:pPr>
            <a:r>
              <a:rPr kumimoji="0" lang="zh-CN" altLang="zh-CN" sz="2400" b="0" u="none" strike="noStrike" cap="none" normalizeH="0" baseline="0" dirty="0">
                <a:ln>
                  <a:noFill/>
                </a:ln>
                <a:effectLst/>
                <a:latin typeface="Trebuchet MS" panose="020B0603020202020204" pitchFamily="34" charset="0"/>
              </a:rPr>
              <a:t>(</a:t>
            </a:r>
            <a:r>
              <a:rPr kumimoji="0" lang="en-US" altLang="zh-CN" sz="2400" dirty="0">
                <a:solidFill>
                  <a:schemeClr val="bg2">
                    <a:lumMod val="50000"/>
                  </a:schemeClr>
                </a:solidFill>
                <a:latin typeface="Trebuchet MS" panose="020B0603020202020204" pitchFamily="34" charset="0"/>
              </a:rPr>
              <a:t>This specifies the order of computation for the composite function</a:t>
            </a:r>
            <a:r>
              <a:rPr kumimoji="0" lang="zh-CN" altLang="zh-CN" sz="2400" b="0" u="none" strike="noStrike" cap="none" normalizeH="0" baseline="0" dirty="0">
                <a:ln>
                  <a:noFill/>
                </a:ln>
                <a:effectLst/>
                <a:latin typeface="Trebuchet MS" panose="020B0603020202020204" pitchFamily="34" charset="0"/>
              </a:rPr>
              <a:t>.)</a:t>
            </a:r>
            <a:endParaRPr kumimoji="0" lang="en-US" altLang="zh-CN" sz="2400" dirty="0">
              <a:latin typeface="Trebuchet MS" panose="020B0603020202020204" pitchFamily="34" charset="0"/>
            </a:endParaRPr>
          </a:p>
        </p:txBody>
      </p:sp>
      <p:pic>
        <p:nvPicPr>
          <p:cNvPr id="14" name="图片 13">
            <a:extLst>
              <a:ext uri="{FF2B5EF4-FFF2-40B4-BE49-F238E27FC236}">
                <a16:creationId xmlns:a16="http://schemas.microsoft.com/office/drawing/2014/main" id="{5EC83D15-5395-458D-B4D5-0EA43D2277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911" y="3678845"/>
            <a:ext cx="4519706" cy="2222267"/>
          </a:xfrm>
          <a:prstGeom prst="rect">
            <a:avLst/>
          </a:prstGeom>
        </p:spPr>
      </p:pic>
      <p:sp>
        <p:nvSpPr>
          <p:cNvPr id="16" name="文本框 15">
            <a:extLst>
              <a:ext uri="{FF2B5EF4-FFF2-40B4-BE49-F238E27FC236}">
                <a16:creationId xmlns:a16="http://schemas.microsoft.com/office/drawing/2014/main" id="{EF1AE84C-5C16-40F4-8A7F-FE57190C1273}"/>
              </a:ext>
            </a:extLst>
          </p:cNvPr>
          <p:cNvSpPr txBox="1"/>
          <p:nvPr/>
        </p:nvSpPr>
        <p:spPr>
          <a:xfrm>
            <a:off x="5568626" y="3656012"/>
            <a:ext cx="5164688" cy="2268185"/>
          </a:xfrm>
          <a:prstGeom prst="rect">
            <a:avLst/>
          </a:prstGeom>
          <a:noFill/>
        </p:spPr>
        <p:txBody>
          <a:bodyPr wrap="square" rtlCol="0">
            <a:spAutoFit/>
          </a:bodyPr>
          <a:lstStyle/>
          <a:p>
            <a:pPr>
              <a:lnSpc>
                <a:spcPct val="120000"/>
              </a:lnSpc>
            </a:pPr>
            <a:r>
              <a:rPr lang="en-US" altLang="zh-CN" sz="2400" b="1" dirty="0">
                <a:latin typeface="Trebuchet MS" panose="020B0603020202020204" pitchFamily="34" charset="0"/>
              </a:rPr>
              <a:t>Note</a:t>
            </a:r>
            <a:r>
              <a:rPr lang="en-US" altLang="zh-CN" sz="2400" dirty="0">
                <a:latin typeface="Trebuchet MS" panose="020B0603020202020204" pitchFamily="34" charset="0"/>
              </a:rPr>
              <a:t>: The composition of functions is </a:t>
            </a:r>
            <a:r>
              <a:rPr lang="en-US" altLang="zh-CN" sz="2400" b="1" dirty="0">
                <a:latin typeface="Trebuchet MS" panose="020B0603020202020204" pitchFamily="34" charset="0"/>
              </a:rPr>
              <a:t>left composition</a:t>
            </a:r>
            <a:r>
              <a:rPr lang="en-US" altLang="zh-CN" sz="2400" dirty="0">
                <a:latin typeface="Trebuchet MS" panose="020B0603020202020204" pitchFamily="34" charset="0"/>
              </a:rPr>
              <a:t> with </a:t>
            </a:r>
            <a:r>
              <a:rPr lang="en-US" altLang="zh-CN" sz="2400" b="1" dirty="0">
                <a:latin typeface="Trebuchet MS" panose="020B0603020202020204" pitchFamily="34" charset="0"/>
              </a:rPr>
              <a:t>right-hand priority</a:t>
            </a:r>
            <a:r>
              <a:rPr lang="en-US" altLang="zh-CN" sz="2400" dirty="0">
                <a:latin typeface="Trebuchet MS" panose="020B0603020202020204" pitchFamily="34" charset="0"/>
              </a:rPr>
              <a:t>, while the composition of relations is </a:t>
            </a:r>
            <a:r>
              <a:rPr lang="en-US" altLang="zh-CN" sz="2400" b="1" dirty="0">
                <a:latin typeface="Trebuchet MS" panose="020B0603020202020204" pitchFamily="34" charset="0"/>
              </a:rPr>
              <a:t>right composition</a:t>
            </a:r>
            <a:r>
              <a:rPr lang="en-US" altLang="zh-CN" sz="2400" dirty="0">
                <a:latin typeface="Trebuchet MS" panose="020B0603020202020204" pitchFamily="34" charset="0"/>
              </a:rPr>
              <a:t> with </a:t>
            </a:r>
            <a:r>
              <a:rPr lang="en-US" altLang="zh-CN" sz="2400" b="1" dirty="0">
                <a:latin typeface="Trebuchet MS" panose="020B0603020202020204" pitchFamily="34" charset="0"/>
              </a:rPr>
              <a:t>left-hand priority</a:t>
            </a:r>
            <a:r>
              <a:rPr lang="en-US" altLang="zh-CN" sz="2400" dirty="0">
                <a:latin typeface="Trebuchet MS" panose="020B0603020202020204" pitchFamily="34" charset="0"/>
              </a:rPr>
              <a:t>.</a:t>
            </a:r>
          </a:p>
        </p:txBody>
      </p:sp>
    </p:spTree>
    <p:extLst>
      <p:ext uri="{BB962C8B-B14F-4D97-AF65-F5344CB8AC3E}">
        <p14:creationId xmlns:p14="http://schemas.microsoft.com/office/powerpoint/2010/main" val="37567716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1000"/>
                                        <p:tgtEl>
                                          <p:spTgt spid="15">
                                            <p:txEl>
                                              <p:pRg st="2" end="2"/>
                                            </p:txEl>
                                          </p:spTgt>
                                        </p:tgtEl>
                                      </p:cBhvr>
                                    </p:animEffect>
                                    <p:anim calcmode="lin" valueType="num">
                                      <p:cBhvr>
                                        <p:cTn id="8"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xEl>
                                              <p:pRg st="3" end="3"/>
                                            </p:txEl>
                                          </p:spTgt>
                                        </p:tgtEl>
                                        <p:attrNameLst>
                                          <p:attrName>style.visibility</p:attrName>
                                        </p:attrNameLst>
                                      </p:cBhvr>
                                      <p:to>
                                        <p:strVal val="visible"/>
                                      </p:to>
                                    </p:set>
                                    <p:animEffect transition="in" filter="fade">
                                      <p:cBhvr>
                                        <p:cTn id="12" dur="1000"/>
                                        <p:tgtEl>
                                          <p:spTgt spid="15">
                                            <p:txEl>
                                              <p:pRg st="3" end="3"/>
                                            </p:txEl>
                                          </p:spTgt>
                                        </p:tgtEl>
                                      </p:cBhvr>
                                    </p:animEffect>
                                    <p:anim calcmode="lin" valueType="num">
                                      <p:cBhvr>
                                        <p:cTn id="13"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1+#ppt_w/2"/>
                                          </p:val>
                                        </p:tav>
                                        <p:tav tm="100000">
                                          <p:val>
                                            <p:strVal val="#ppt_x"/>
                                          </p:val>
                                        </p:tav>
                                      </p:tavLst>
                                    </p:anim>
                                    <p:anim calcmode="lin" valueType="num">
                                      <p:cBhvr additive="base">
                                        <p:cTn id="27"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rebuchet MS" panose="020B0603020202020204" pitchFamily="34" charset="0"/>
                <a:ea typeface="宋体" panose="02010600030101010101" pitchFamily="2" charset="-122"/>
                <a:cs typeface="Times New Roman" panose="02020603050405020304" pitchFamily="18" charset="0"/>
              </a:rPr>
              <a:t>5.2.1 Composition of Functions</a:t>
            </a:r>
            <a:endParaRPr lang="en-US" altLang="zh-CN" sz="2000" b="1" dirty="0">
              <a:latin typeface="Cambria Math" panose="02040503050406030204" pitchFamily="18" charset="0"/>
              <a:ea typeface="Cambria Math" panose="02040503050406030204" pitchFamily="18" charset="0"/>
              <a:cs typeface="Times New Roman" panose="02020603050405020304" pitchFamily="18" charset="0"/>
            </a:endParaRP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Function Composition and Mapping Properties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260945" y="792530"/>
            <a:ext cx="8492656" cy="41931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 5.2</a:t>
            </a:r>
            <a:r>
              <a:rPr lang="zh-CN" altLang="en-US" sz="2400" b="1" dirty="0">
                <a:latin typeface="Trebuchet MS" panose="020B0603020202020204" pitchFamily="34" charset="0"/>
              </a:rPr>
              <a:t>：</a:t>
            </a:r>
            <a:r>
              <a:rPr lang="en-US" altLang="zh-CN" sz="2400" b="1" dirty="0">
                <a:latin typeface="Trebuchet MS" panose="020B0603020202020204" pitchFamily="34" charset="0"/>
              </a:rPr>
              <a:t> </a:t>
            </a:r>
            <a:r>
              <a:rPr lang="en-US" altLang="zh-CN" sz="2400" dirty="0">
                <a:latin typeface="Trebuchet MS" panose="020B0603020202020204" pitchFamily="34" charset="0"/>
              </a:rPr>
              <a:t>Let</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 </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p>
          <a:p>
            <a:pPr marL="719138" indent="-447675" eaLnBrk="1" hangingPunct="1">
              <a:lnSpc>
                <a:spcPct val="120000"/>
              </a:lnSpc>
              <a:buFontTx/>
              <a:buNone/>
            </a:pPr>
            <a:r>
              <a:rPr lang="en-US" altLang="zh-CN" sz="2400" b="1" dirty="0">
                <a:solidFill>
                  <a:srgbClr val="0B61FF"/>
                </a:solidFill>
                <a:latin typeface="Trebuchet MS" panose="020B0603020202020204" pitchFamily="34" charset="0"/>
              </a:rPr>
              <a:t>(1) </a:t>
            </a:r>
            <a:r>
              <a:rPr lang="en-US" altLang="zh-CN" sz="2400" dirty="0">
                <a:latin typeface="Trebuchet MS" panose="020B0603020202020204" pitchFamily="34" charset="0"/>
              </a:rPr>
              <a:t>If</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g </a:t>
            </a:r>
            <a:r>
              <a:rPr lang="en-US" altLang="zh-CN" sz="2400" dirty="0">
                <a:latin typeface="Trebuchet MS" panose="020B0603020202020204" pitchFamily="34" charset="0"/>
              </a:rPr>
              <a:t>are surjective, then</a:t>
            </a:r>
            <a:r>
              <a:rPr lang="zh-CN" altLang="en-US" sz="2400" dirty="0">
                <a:latin typeface="Trebuchet MS" panose="020B0603020202020204" pitchFamily="34" charset="0"/>
              </a:rPr>
              <a:t>  </a:t>
            </a:r>
            <a:r>
              <a:rPr lang="en-US" altLang="zh-CN" sz="2400" b="1" i="1" dirty="0">
                <a:latin typeface="Trebuchet MS" panose="020B0603020202020204" pitchFamily="34" charset="0"/>
              </a:rPr>
              <a:t>f</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dirty="0">
                <a:latin typeface="Trebuchet MS" panose="020B0603020202020204" pitchFamily="34" charset="0"/>
              </a:rPr>
              <a:t> is also </a:t>
            </a:r>
            <a:r>
              <a:rPr lang="en-US" altLang="zh-CN" sz="2400" b="1" i="1" dirty="0">
                <a:latin typeface="Trebuchet MS" panose="020B0603020202020204" pitchFamily="34" charset="0"/>
              </a:rPr>
              <a:t>surjective</a:t>
            </a:r>
            <a:r>
              <a:rPr lang="en-US" altLang="zh-CN" sz="2400" dirty="0">
                <a:latin typeface="Trebuchet MS" panose="020B0603020202020204" pitchFamily="34" charset="0"/>
              </a:rPr>
              <a:t>.</a:t>
            </a:r>
            <a:endParaRPr lang="en-US" altLang="zh-CN" sz="2400" b="1" dirty="0">
              <a:latin typeface="Trebuchet MS" panose="020B0603020202020204" pitchFamily="34" charset="0"/>
            </a:endParaRPr>
          </a:p>
          <a:p>
            <a:pPr marL="719138" indent="-447675" eaLnBrk="1" hangingPunct="1">
              <a:lnSpc>
                <a:spcPct val="120000"/>
              </a:lnSpc>
              <a:buFontTx/>
              <a:buNone/>
            </a:pPr>
            <a:r>
              <a:rPr lang="en-US" altLang="zh-CN" sz="2400" b="1" dirty="0">
                <a:solidFill>
                  <a:srgbClr val="0B61FF"/>
                </a:solidFill>
                <a:latin typeface="Trebuchet MS" panose="020B0603020202020204" pitchFamily="34" charset="0"/>
              </a:rPr>
              <a:t>(2) </a:t>
            </a:r>
            <a:r>
              <a:rPr lang="en-US" altLang="zh-CN" sz="2400" dirty="0">
                <a:latin typeface="Trebuchet MS" panose="020B0603020202020204" pitchFamily="34" charset="0"/>
              </a:rPr>
              <a:t>If both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g </a:t>
            </a:r>
            <a:r>
              <a:rPr lang="en-US" altLang="zh-CN" sz="2400" dirty="0">
                <a:latin typeface="Trebuchet MS" panose="020B0603020202020204" pitchFamily="34" charset="0"/>
              </a:rPr>
              <a:t>are injective, then the composition </a:t>
            </a:r>
            <a:r>
              <a:rPr lang="en-US" altLang="zh-CN" sz="2400" b="1" i="1" dirty="0">
                <a:latin typeface="Trebuchet MS" panose="020B0603020202020204" pitchFamily="34" charset="0"/>
              </a:rPr>
              <a:t>f</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dirty="0">
                <a:latin typeface="Trebuchet MS" panose="020B0603020202020204" pitchFamily="34" charset="0"/>
              </a:rPr>
              <a:t> is also </a:t>
            </a:r>
            <a:r>
              <a:rPr lang="en-US" altLang="zh-CN" sz="2400" b="1" i="1" dirty="0">
                <a:latin typeface="Trebuchet MS" panose="020B0603020202020204" pitchFamily="34" charset="0"/>
              </a:rPr>
              <a:t>injective</a:t>
            </a:r>
            <a:r>
              <a:rPr lang="en-US" altLang="zh-CN" sz="2400" b="1" dirty="0">
                <a:latin typeface="Trebuchet MS" panose="020B0603020202020204" pitchFamily="34" charset="0"/>
              </a:rPr>
              <a:t>. </a:t>
            </a:r>
          </a:p>
          <a:p>
            <a:pPr marL="719138" indent="-447675" eaLnBrk="1" hangingPunct="1">
              <a:lnSpc>
                <a:spcPct val="120000"/>
              </a:lnSpc>
              <a:buFontTx/>
              <a:buNone/>
            </a:pPr>
            <a:r>
              <a:rPr lang="en-US" altLang="zh-CN" sz="2400" b="1" dirty="0">
                <a:solidFill>
                  <a:srgbClr val="0B61FF"/>
                </a:solidFill>
                <a:latin typeface="Trebuchet MS" panose="020B0603020202020204" pitchFamily="34" charset="0"/>
              </a:rPr>
              <a:t>(3) </a:t>
            </a:r>
            <a:r>
              <a:rPr lang="en-US" altLang="zh-CN" sz="2400" dirty="0">
                <a:latin typeface="Trebuchet MS" panose="020B0603020202020204" pitchFamily="34" charset="0"/>
              </a:rPr>
              <a:t>If both</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g</a:t>
            </a:r>
            <a:r>
              <a:rPr lang="en-US" altLang="zh-CN" sz="2400" b="1" dirty="0">
                <a:latin typeface="Trebuchet MS" panose="020B0603020202020204" pitchFamily="34" charset="0"/>
              </a:rPr>
              <a:t> </a:t>
            </a:r>
            <a:r>
              <a:rPr lang="en-US" altLang="zh-CN" sz="2400" dirty="0">
                <a:latin typeface="Trebuchet MS" panose="020B0603020202020204" pitchFamily="34" charset="0"/>
              </a:rPr>
              <a:t>are bijective, then the composition </a:t>
            </a:r>
            <a:r>
              <a:rPr lang="en-US" altLang="zh-CN" sz="2400" b="1" i="1" dirty="0">
                <a:latin typeface="Trebuchet MS" panose="020B0603020202020204" pitchFamily="34" charset="0"/>
              </a:rPr>
              <a:t>f</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C </a:t>
            </a:r>
            <a:r>
              <a:rPr lang="en-US" altLang="zh-CN" sz="2400" dirty="0">
                <a:latin typeface="Trebuchet MS" panose="020B0603020202020204" pitchFamily="34" charset="0"/>
              </a:rPr>
              <a:t>is also </a:t>
            </a:r>
            <a:r>
              <a:rPr lang="en-US" altLang="zh-CN" sz="2400" b="1" i="1" dirty="0">
                <a:latin typeface="Trebuchet MS" panose="020B0603020202020204" pitchFamily="34" charset="0"/>
              </a:rPr>
              <a:t>bijective</a:t>
            </a:r>
            <a:r>
              <a:rPr lang="en-US" altLang="zh-CN" sz="2400" dirty="0">
                <a:latin typeface="Trebuchet MS" panose="020B0603020202020204" pitchFamily="34" charset="0"/>
              </a:rPr>
              <a:t>.</a:t>
            </a:r>
          </a:p>
          <a:p>
            <a:pPr eaLnBrk="1" hangingPunct="1">
              <a:buFontTx/>
              <a:buNone/>
            </a:pPr>
            <a:endParaRPr lang="en-US" altLang="zh-CN" b="1" dirty="0"/>
          </a:p>
        </p:txBody>
      </p:sp>
    </p:spTree>
    <p:extLst>
      <p:ext uri="{BB962C8B-B14F-4D97-AF65-F5344CB8AC3E}">
        <p14:creationId xmlns:p14="http://schemas.microsoft.com/office/powerpoint/2010/main" val="20159691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rebuchet MS" panose="020B0603020202020204" pitchFamily="34" charset="0"/>
                <a:ea typeface="宋体" panose="02010600030101010101" pitchFamily="2" charset="-122"/>
                <a:cs typeface="Times New Roman" panose="02020603050405020304" pitchFamily="18" charset="0"/>
              </a:rPr>
              <a:t>5.2.1 Composition of Functions</a:t>
            </a:r>
            <a:endParaRPr lang="en-US" altLang="zh-CN" sz="2000" b="1" dirty="0">
              <a:latin typeface="Cambria Math" panose="02040503050406030204" pitchFamily="18" charset="0"/>
              <a:ea typeface="Cambria Math" panose="02040503050406030204" pitchFamily="18" charset="0"/>
              <a:cs typeface="Times New Roman" panose="02020603050405020304" pitchFamily="18" charset="0"/>
            </a:endParaRP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Function Composition and Mapping Properties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260944" y="792529"/>
            <a:ext cx="9733627" cy="49006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 5.2</a:t>
            </a:r>
            <a:r>
              <a:rPr lang="zh-CN" altLang="en-US" sz="2400" b="1" dirty="0">
                <a:latin typeface="Trebuchet MS" panose="020B0603020202020204" pitchFamily="34" charset="0"/>
              </a:rPr>
              <a:t>：</a:t>
            </a:r>
            <a:r>
              <a:rPr lang="en-US" altLang="zh-CN" sz="2400" b="1" dirty="0">
                <a:latin typeface="Trebuchet MS" panose="020B0603020202020204" pitchFamily="34" charset="0"/>
              </a:rPr>
              <a:t> </a:t>
            </a:r>
            <a:r>
              <a:rPr lang="en-US" altLang="zh-CN" sz="2400" dirty="0">
                <a:latin typeface="Trebuchet MS" panose="020B0603020202020204" pitchFamily="34" charset="0"/>
              </a:rPr>
              <a:t>Let</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 </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p>
          <a:p>
            <a:pPr marL="271463" indent="-271463" eaLnBrk="1" hangingPunct="1">
              <a:lnSpc>
                <a:spcPct val="120000"/>
              </a:lnSpc>
              <a:spcBef>
                <a:spcPts val="600"/>
              </a:spcBef>
              <a:buNone/>
            </a:pPr>
            <a:r>
              <a:rPr lang="en-US" altLang="zh-CN" sz="2400" b="1" dirty="0">
                <a:solidFill>
                  <a:srgbClr val="0B61FF"/>
                </a:solidFill>
                <a:latin typeface="Trebuchet MS" panose="020B0603020202020204" pitchFamily="34" charset="0"/>
              </a:rPr>
              <a:t>(1) </a:t>
            </a:r>
            <a:r>
              <a:rPr lang="en-US" altLang="zh-CN" sz="2400" dirty="0">
                <a:latin typeface="Trebuchet MS" panose="020B0603020202020204" pitchFamily="34" charset="0"/>
              </a:rPr>
              <a:t>If</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g </a:t>
            </a:r>
            <a:r>
              <a:rPr lang="en-US" altLang="zh-CN" sz="2400" dirty="0">
                <a:latin typeface="Trebuchet MS" panose="020B0603020202020204" pitchFamily="34" charset="0"/>
              </a:rPr>
              <a:t>are surjective, then</a:t>
            </a:r>
            <a:r>
              <a:rPr lang="zh-CN" altLang="en-US" sz="2400" dirty="0">
                <a:latin typeface="Trebuchet MS" panose="020B0603020202020204" pitchFamily="34" charset="0"/>
              </a:rPr>
              <a:t>  </a:t>
            </a:r>
            <a:r>
              <a:rPr lang="en-US" altLang="zh-CN" sz="2400" b="1" i="1" dirty="0">
                <a:latin typeface="Trebuchet MS" panose="020B0603020202020204" pitchFamily="34" charset="0"/>
              </a:rPr>
              <a:t>f</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dirty="0">
                <a:latin typeface="Trebuchet MS" panose="020B0603020202020204" pitchFamily="34" charset="0"/>
              </a:rPr>
              <a:t> is also </a:t>
            </a:r>
            <a:r>
              <a:rPr lang="en-US" altLang="zh-CN" sz="2400" b="1" i="1" dirty="0">
                <a:latin typeface="Trebuchet MS" panose="020B0603020202020204" pitchFamily="34" charset="0"/>
              </a:rPr>
              <a:t>surjective</a:t>
            </a:r>
            <a:r>
              <a:rPr lang="en-US" altLang="zh-CN" sz="2400" dirty="0">
                <a:latin typeface="Trebuchet MS" panose="020B0603020202020204" pitchFamily="34" charset="0"/>
              </a:rPr>
              <a:t>.</a:t>
            </a:r>
          </a:p>
          <a:p>
            <a:pPr>
              <a:lnSpc>
                <a:spcPct val="120000"/>
              </a:lnSpc>
              <a:spcBef>
                <a:spcPts val="600"/>
              </a:spcBef>
              <a:buNone/>
            </a:pPr>
            <a:r>
              <a:rPr lang="en-US" altLang="zh-CN" sz="2400" b="1" dirty="0">
                <a:solidFill>
                  <a:srgbClr val="0B61FF"/>
                </a:solidFill>
                <a:latin typeface="Trebuchet MS" panose="020B0603020202020204" pitchFamily="34" charset="0"/>
              </a:rPr>
              <a:t>proof : </a:t>
            </a:r>
            <a:r>
              <a:rPr lang="en-US" altLang="zh-CN" sz="2400" b="1" dirty="0">
                <a:latin typeface="Trebuchet MS" panose="020B0603020202020204" pitchFamily="34" charset="0"/>
              </a:rPr>
              <a:t>Goal</a:t>
            </a:r>
            <a:r>
              <a:rPr lang="en-US" altLang="zh-CN" sz="2400" dirty="0">
                <a:latin typeface="Trebuchet MS" panose="020B0603020202020204" pitchFamily="34" charset="0"/>
              </a:rPr>
              <a:t>: Prove that for any </a:t>
            </a:r>
            <a:r>
              <a:rPr lang="en-US" altLang="zh-CN" sz="2400" b="1" i="1" dirty="0">
                <a:latin typeface="Trebuchet MS" panose="020B0603020202020204" pitchFamily="34" charset="0"/>
              </a:rPr>
              <a:t>c</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dirty="0">
                <a:latin typeface="Trebuchet MS" panose="020B0603020202020204" pitchFamily="34" charset="0"/>
              </a:rPr>
              <a:t>, there exists at least one element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 such that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p>
          <a:p>
            <a:pPr>
              <a:lnSpc>
                <a:spcPct val="120000"/>
              </a:lnSpc>
              <a:spcBef>
                <a:spcPts val="600"/>
              </a:spcBef>
              <a:buNone/>
            </a:pPr>
            <a:r>
              <a:rPr lang="en-US" altLang="zh-CN" sz="2400" dirty="0">
                <a:latin typeface="Trebuchet MS" panose="020B0603020202020204" pitchFamily="34" charset="0"/>
              </a:rPr>
              <a:t>①Since </a:t>
            </a:r>
            <a:r>
              <a:rPr lang="en-US" altLang="zh-CN" sz="2400" b="1" i="1" dirty="0">
                <a:latin typeface="Trebuchet MS" panose="020B0603020202020204" pitchFamily="34" charset="0"/>
              </a:rPr>
              <a:t>f</a:t>
            </a:r>
            <a:r>
              <a:rPr lang="en-US" altLang="zh-CN" sz="2400" dirty="0">
                <a:latin typeface="Trebuchet MS" panose="020B0603020202020204" pitchFamily="34" charset="0"/>
              </a:rPr>
              <a:t> is surjective, for any </a:t>
            </a:r>
            <a:r>
              <a:rPr lang="en-US" altLang="zh-CN" sz="2400" b="1" i="1" dirty="0">
                <a:latin typeface="Trebuchet MS" panose="020B0603020202020204" pitchFamily="34" charset="0"/>
              </a:rPr>
              <a:t>c</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dirty="0">
                <a:latin typeface="Trebuchet MS" panose="020B0603020202020204" pitchFamily="34" charset="0"/>
              </a:rPr>
              <a:t>, there exists some </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 such that </a:t>
            </a:r>
            <a:r>
              <a:rPr lang="en-US" altLang="zh-CN" sz="2400" b="1" i="1" dirty="0">
                <a:latin typeface="Trebuchet MS" panose="020B0603020202020204" pitchFamily="34" charset="0"/>
              </a:rPr>
              <a:t>f</a:t>
            </a:r>
            <a:r>
              <a:rPr lang="en-US" altLang="zh-CN" sz="2400" dirty="0">
                <a:latin typeface="Trebuchet MS" panose="020B0603020202020204" pitchFamily="34" charset="0"/>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a:t>
            </a:r>
            <a:r>
              <a:rPr lang="en-US" altLang="zh-CN" sz="2400" b="1" i="1" dirty="0">
                <a:latin typeface="Trebuchet MS" panose="020B0603020202020204" pitchFamily="34" charset="0"/>
              </a:rPr>
              <a:t>c</a:t>
            </a:r>
            <a:r>
              <a:rPr lang="en-US" altLang="zh-CN" sz="2400" dirty="0">
                <a:latin typeface="Trebuchet MS" panose="020B0603020202020204" pitchFamily="34" charset="0"/>
              </a:rPr>
              <a:t>.</a:t>
            </a:r>
          </a:p>
          <a:p>
            <a:pPr marL="446088" indent="-446088">
              <a:lnSpc>
                <a:spcPct val="120000"/>
              </a:lnSpc>
              <a:spcBef>
                <a:spcPts val="600"/>
              </a:spcBef>
              <a:buNone/>
            </a:pPr>
            <a:r>
              <a:rPr lang="en-US" altLang="zh-CN" sz="2400" dirty="0">
                <a:latin typeface="Trebuchet MS" panose="020B0603020202020204" pitchFamily="34" charset="0"/>
              </a:rPr>
              <a:t>②Since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also surjective, there exists some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 such that </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a:t>
            </a:r>
          </a:p>
          <a:p>
            <a:pPr marL="271463" indent="-271463">
              <a:lnSpc>
                <a:spcPct val="120000"/>
              </a:lnSpc>
              <a:spcBef>
                <a:spcPts val="600"/>
              </a:spcBef>
              <a:buNone/>
            </a:pPr>
            <a:r>
              <a:rPr lang="en-US" altLang="zh-CN" sz="2400" dirty="0">
                <a:latin typeface="Trebuchet MS" panose="020B0603020202020204" pitchFamily="34" charset="0"/>
              </a:rPr>
              <a:t>③Given that </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 </a:t>
            </a:r>
            <a:r>
              <a:rPr lang="en-US" altLang="zh-CN" sz="2400" dirty="0">
                <a:latin typeface="Trebuchet MS" panose="020B0603020202020204" pitchFamily="34" charset="0"/>
              </a:rPr>
              <a:t>and </a:t>
            </a:r>
            <a:r>
              <a:rPr lang="en-US" altLang="zh-CN" sz="2400" b="1" i="1" dirty="0">
                <a:latin typeface="Trebuchet MS" panose="020B0603020202020204" pitchFamily="34" charset="0"/>
              </a:rPr>
              <a:t>f</a:t>
            </a:r>
            <a:r>
              <a:rPr lang="en-US" altLang="zh-CN" sz="2400" dirty="0">
                <a:latin typeface="Trebuchet MS" panose="020B0603020202020204" pitchFamily="34" charset="0"/>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a:t>
            </a:r>
            <a:r>
              <a:rPr lang="en-US" altLang="zh-CN" sz="2400" b="1" i="1" dirty="0">
                <a:latin typeface="Trebuchet MS" panose="020B0603020202020204" pitchFamily="34" charset="0"/>
              </a:rPr>
              <a:t>c</a:t>
            </a:r>
            <a:r>
              <a:rPr lang="en-US" altLang="zh-CN" sz="2400" dirty="0">
                <a:latin typeface="Trebuchet MS" panose="020B0603020202020204" pitchFamily="34" charset="0"/>
              </a:rPr>
              <a:t>, by the definition of function composition, we have: </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dirty="0">
                <a:latin typeface="Trebuchet MS" panose="020B0603020202020204" pitchFamily="34" charset="0"/>
              </a:rPr>
              <a:t>.</a:t>
            </a:r>
          </a:p>
          <a:p>
            <a:pPr marL="271463" indent="-271463">
              <a:lnSpc>
                <a:spcPct val="120000"/>
              </a:lnSpc>
              <a:spcBef>
                <a:spcPts val="600"/>
              </a:spcBef>
              <a:buNone/>
            </a:pPr>
            <a:r>
              <a:rPr lang="en-US" altLang="zh-CN" sz="2400" dirty="0">
                <a:solidFill>
                  <a:srgbClr val="0B61FF"/>
                </a:solidFill>
                <a:latin typeface="Trebuchet MS" panose="020B0603020202020204" pitchFamily="34" charset="0"/>
              </a:rPr>
              <a:t>Therefore</a:t>
            </a:r>
            <a:r>
              <a:rPr lang="en-US" altLang="zh-CN" sz="2400" dirty="0">
                <a:latin typeface="Trebuchet MS" panose="020B0603020202020204" pitchFamily="34" charset="0"/>
              </a:rPr>
              <a:t>, </a:t>
            </a:r>
            <a:r>
              <a:rPr lang="en-US" altLang="zh-CN" sz="2400" b="1" i="1" dirty="0">
                <a:latin typeface="Trebuchet MS" panose="020B0603020202020204" pitchFamily="34" charset="0"/>
              </a:rPr>
              <a:t>f</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dirty="0">
                <a:latin typeface="Trebuchet MS" panose="020B0603020202020204" pitchFamily="34" charset="0"/>
              </a:rPr>
              <a:t> is </a:t>
            </a:r>
            <a:r>
              <a:rPr lang="en-US" altLang="zh-CN" sz="2400" b="1" i="1" dirty="0">
                <a:latin typeface="Trebuchet MS" panose="020B0603020202020204" pitchFamily="34" charset="0"/>
              </a:rPr>
              <a:t>surjective.</a:t>
            </a:r>
            <a:endParaRPr lang="en-US" altLang="zh-CN" sz="2400" b="1" dirty="0">
              <a:latin typeface="Trebuchet MS" panose="020B0603020202020204" pitchFamily="34" charset="0"/>
            </a:endParaRPr>
          </a:p>
          <a:p>
            <a:pPr marL="271463" indent="0" eaLnBrk="1" hangingPunct="1">
              <a:lnSpc>
                <a:spcPct val="120000"/>
              </a:lnSpc>
              <a:buNone/>
            </a:pPr>
            <a:endParaRPr lang="en-US" altLang="zh-CN" sz="2400" b="1" dirty="0">
              <a:latin typeface="Trebuchet MS" panose="020B0603020202020204" pitchFamily="34" charset="0"/>
            </a:endParaRPr>
          </a:p>
          <a:p>
            <a:pPr eaLnBrk="1" hangingPunct="1">
              <a:buFontTx/>
              <a:buNone/>
            </a:pPr>
            <a:endParaRPr lang="en-US" altLang="zh-CN" b="1" dirty="0"/>
          </a:p>
        </p:txBody>
      </p:sp>
    </p:spTree>
    <p:extLst>
      <p:ext uri="{BB962C8B-B14F-4D97-AF65-F5344CB8AC3E}">
        <p14:creationId xmlns:p14="http://schemas.microsoft.com/office/powerpoint/2010/main" val="37014064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4" end="4"/>
                                            </p:txEl>
                                          </p:spTgt>
                                        </p:tgtEl>
                                        <p:attrNameLst>
                                          <p:attrName>style.visibility</p:attrName>
                                        </p:attrNameLst>
                                      </p:cBhvr>
                                      <p:to>
                                        <p:strVal val="visible"/>
                                      </p:to>
                                    </p:set>
                                    <p:animEffect transition="in" filter="fade">
                                      <p:cBhvr>
                                        <p:cTn id="14" dur="1000"/>
                                        <p:tgtEl>
                                          <p:spTgt spid="8">
                                            <p:txEl>
                                              <p:pRg st="4" end="4"/>
                                            </p:txEl>
                                          </p:spTgt>
                                        </p:tgtEl>
                                      </p:cBhvr>
                                    </p:animEffect>
                                    <p:anim calcmode="lin" valueType="num">
                                      <p:cBhvr>
                                        <p:cTn id="1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animEffect transition="in" filter="fade">
                                      <p:cBhvr>
                                        <p:cTn id="21" dur="1000"/>
                                        <p:tgtEl>
                                          <p:spTgt spid="8">
                                            <p:txEl>
                                              <p:pRg st="5" end="5"/>
                                            </p:txEl>
                                          </p:spTgt>
                                        </p:tgtEl>
                                      </p:cBhvr>
                                    </p:animEffect>
                                    <p:anim calcmode="lin" valueType="num">
                                      <p:cBhvr>
                                        <p:cTn id="2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6" end="6"/>
                                            </p:txEl>
                                          </p:spTgt>
                                        </p:tgtEl>
                                        <p:attrNameLst>
                                          <p:attrName>style.visibility</p:attrName>
                                        </p:attrNameLst>
                                      </p:cBhvr>
                                      <p:to>
                                        <p:strVal val="visible"/>
                                      </p:to>
                                    </p:set>
                                    <p:animEffect transition="in" filter="fade">
                                      <p:cBhvr>
                                        <p:cTn id="28" dur="1000"/>
                                        <p:tgtEl>
                                          <p:spTgt spid="8">
                                            <p:txEl>
                                              <p:pRg st="6" end="6"/>
                                            </p:txEl>
                                          </p:spTgt>
                                        </p:tgtEl>
                                      </p:cBhvr>
                                    </p:animEffect>
                                    <p:anim calcmode="lin" valueType="num">
                                      <p:cBhvr>
                                        <p:cTn id="29"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rebuchet MS" panose="020B0603020202020204" pitchFamily="34" charset="0"/>
                <a:ea typeface="宋体" panose="02010600030101010101" pitchFamily="2" charset="-122"/>
                <a:cs typeface="Times New Roman" panose="02020603050405020304" pitchFamily="18" charset="0"/>
              </a:rPr>
              <a:t>5.2.1 Composition of Functions</a:t>
            </a:r>
            <a:endParaRPr lang="en-US" altLang="zh-CN" sz="2000" b="1" dirty="0">
              <a:latin typeface="Cambria Math" panose="02040503050406030204" pitchFamily="18" charset="0"/>
              <a:ea typeface="Cambria Math" panose="02040503050406030204" pitchFamily="18" charset="0"/>
              <a:cs typeface="Times New Roman" panose="02020603050405020304" pitchFamily="18" charset="0"/>
            </a:endParaRP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Function Composition and Mapping Properties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260944" y="792529"/>
            <a:ext cx="9733627" cy="49006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 5.2</a:t>
            </a:r>
            <a:r>
              <a:rPr lang="zh-CN" altLang="en-US" sz="2400" b="1" dirty="0">
                <a:latin typeface="Trebuchet MS" panose="020B0603020202020204" pitchFamily="34" charset="0"/>
              </a:rPr>
              <a:t>：</a:t>
            </a:r>
            <a:r>
              <a:rPr lang="en-US" altLang="zh-CN" sz="2400" b="1" dirty="0">
                <a:latin typeface="Trebuchet MS" panose="020B0603020202020204" pitchFamily="34" charset="0"/>
              </a:rPr>
              <a:t> </a:t>
            </a:r>
            <a:r>
              <a:rPr lang="en-US" altLang="zh-CN" sz="2400" dirty="0">
                <a:latin typeface="Trebuchet MS" panose="020B0603020202020204" pitchFamily="34" charset="0"/>
              </a:rPr>
              <a:t>Let</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 </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p>
          <a:p>
            <a:pPr marL="719138" indent="-719138">
              <a:lnSpc>
                <a:spcPct val="120000"/>
              </a:lnSpc>
              <a:buNone/>
            </a:pPr>
            <a:r>
              <a:rPr lang="en-US" altLang="zh-CN" sz="2400" b="1" dirty="0">
                <a:solidFill>
                  <a:srgbClr val="0B61FF"/>
                </a:solidFill>
                <a:latin typeface="Trebuchet MS" panose="020B0603020202020204" pitchFamily="34" charset="0"/>
              </a:rPr>
              <a:t>(2) </a:t>
            </a:r>
            <a:r>
              <a:rPr lang="en-US" altLang="zh-CN" sz="2400" dirty="0">
                <a:latin typeface="Trebuchet MS" panose="020B0603020202020204" pitchFamily="34" charset="0"/>
              </a:rPr>
              <a:t>If both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g </a:t>
            </a:r>
            <a:r>
              <a:rPr lang="en-US" altLang="zh-CN" sz="2400" dirty="0">
                <a:latin typeface="Trebuchet MS" panose="020B0603020202020204" pitchFamily="34" charset="0"/>
              </a:rPr>
              <a:t>are injective, then the composition </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dirty="0">
                <a:latin typeface="Trebuchet MS" panose="020B0603020202020204" pitchFamily="34" charset="0"/>
              </a:rPr>
              <a:t> is also </a:t>
            </a:r>
            <a:r>
              <a:rPr lang="en-US" altLang="zh-CN" sz="2400" b="1" i="1" dirty="0">
                <a:latin typeface="Trebuchet MS" panose="020B0603020202020204" pitchFamily="34" charset="0"/>
              </a:rPr>
              <a:t>injective</a:t>
            </a:r>
            <a:r>
              <a:rPr lang="en-US" altLang="zh-CN" sz="2400" b="1" dirty="0">
                <a:latin typeface="Trebuchet MS" panose="020B0603020202020204" pitchFamily="34" charset="0"/>
              </a:rPr>
              <a:t>. </a:t>
            </a:r>
          </a:p>
          <a:p>
            <a:pPr>
              <a:lnSpc>
                <a:spcPct val="120000"/>
              </a:lnSpc>
              <a:spcBef>
                <a:spcPts val="600"/>
              </a:spcBef>
              <a:buNone/>
            </a:pPr>
            <a:r>
              <a:rPr lang="en-US" altLang="zh-CN" sz="2400" b="1" dirty="0">
                <a:solidFill>
                  <a:srgbClr val="0B61FF"/>
                </a:solidFill>
                <a:latin typeface="Trebuchet MS" panose="020B0603020202020204" pitchFamily="34" charset="0"/>
              </a:rPr>
              <a:t>proof : </a:t>
            </a:r>
            <a:r>
              <a:rPr lang="en-US" altLang="zh-CN" sz="2400" b="1" dirty="0">
                <a:latin typeface="Trebuchet MS" panose="020B0603020202020204" pitchFamily="34" charset="0"/>
              </a:rPr>
              <a:t>Goal</a:t>
            </a:r>
            <a:r>
              <a:rPr lang="en-US" altLang="zh-CN" sz="2400" dirty="0">
                <a:latin typeface="Trebuchet MS" panose="020B0603020202020204" pitchFamily="34" charset="0"/>
              </a:rPr>
              <a:t>: We need to prove that  if </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A, x</a:t>
            </a:r>
            <a:r>
              <a:rPr lang="en-US" altLang="zh-CN" sz="2400" b="1" baseline="-25000" dirty="0">
                <a:latin typeface="Trebuchet MS" panose="020B0603020202020204" pitchFamily="34" charset="0"/>
              </a:rPr>
              <a:t>1</a:t>
            </a:r>
            <a:r>
              <a:rPr lang="zh-CN" altLang="en-US" sz="2400" dirty="0">
                <a:solidFill>
                  <a:srgbClr val="333333"/>
                </a:solidFill>
                <a:latin typeface="Trebuchet MS" panose="020B0603020202020204" pitchFamily="34" charset="0"/>
              </a:rPr>
              <a:t> ≠ </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zh-CN" altLang="en-US" sz="2400" b="1" baseline="-25000" dirty="0">
                <a:latin typeface="Trebuchet MS" panose="020B0603020202020204" pitchFamily="34" charset="0"/>
              </a:rPr>
              <a:t> </a:t>
            </a:r>
            <a:r>
              <a:rPr lang="en-US" altLang="zh-CN" sz="2400" b="1" i="1" dirty="0">
                <a:latin typeface="Trebuchet MS" panose="020B0603020202020204" pitchFamily="34" charset="0"/>
              </a:rPr>
              <a:t> then 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zh-CN" altLang="en-US" sz="2400" dirty="0">
                <a:solidFill>
                  <a:srgbClr val="333333"/>
                </a:solidFill>
                <a:latin typeface="Trebuchet MS" panose="020B0603020202020204" pitchFamily="34" charset="0"/>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a:t>
            </a:r>
          </a:p>
          <a:p>
            <a:pPr marL="0" indent="271463">
              <a:lnSpc>
                <a:spcPct val="110000"/>
              </a:lnSpc>
              <a:buNone/>
            </a:pPr>
            <a:r>
              <a:rPr lang="en-US" altLang="zh-CN" sz="2400" dirty="0">
                <a:latin typeface="Trebuchet MS" panose="020B0603020202020204" pitchFamily="34" charset="0"/>
              </a:rPr>
              <a:t>①Since </a:t>
            </a:r>
            <a:r>
              <a:rPr lang="en-US" altLang="zh-CN" sz="2400" b="1" i="1" dirty="0">
                <a:latin typeface="Trebuchet MS" panose="020B0603020202020204" pitchFamily="34" charset="0"/>
              </a:rPr>
              <a:t>g</a:t>
            </a:r>
            <a:r>
              <a:rPr lang="zh-CN" altLang="en-US" sz="2400" b="1" i="1" dirty="0">
                <a:latin typeface="Trebuchet MS" panose="020B0603020202020204" pitchFamily="34" charset="0"/>
              </a:rPr>
              <a:t> </a:t>
            </a:r>
            <a:r>
              <a:rPr lang="en-US" altLang="zh-CN" sz="2400" dirty="0">
                <a:latin typeface="Trebuchet MS" panose="020B0603020202020204" pitchFamily="34" charset="0"/>
              </a:rPr>
              <a:t>injective, </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zh-CN" altLang="en-US" sz="2400" dirty="0">
                <a:solidFill>
                  <a:srgbClr val="333333"/>
                </a:solidFill>
                <a:latin typeface="Trebuchet MS" panose="020B0603020202020204" pitchFamily="34" charset="0"/>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zh-CN" altLang="en-US" sz="2400" b="1" dirty="0">
                <a:latin typeface="Trebuchet MS" panose="020B0603020202020204" pitchFamily="34" charset="0"/>
              </a:rPr>
              <a:t>，</a:t>
            </a:r>
            <a:r>
              <a:rPr lang="en-US" altLang="zh-CN" sz="2400" b="1" dirty="0">
                <a:latin typeface="Trebuchet MS" panose="020B0603020202020204" pitchFamily="34" charset="0"/>
              </a:rPr>
              <a:t>and </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en-US" altLang="zh-CN" sz="2400" dirty="0">
                <a:solidFill>
                  <a:srgbClr val="333333"/>
                </a:solidFill>
                <a:latin typeface="Trebuchet MS" panose="020B0603020202020204" pitchFamily="34" charset="0"/>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 ∈</a:t>
            </a:r>
            <a:r>
              <a:rPr lang="en-US" altLang="zh-CN" sz="2400" b="1" i="1" dirty="0">
                <a:latin typeface="Trebuchet MS" panose="020B0603020202020204" pitchFamily="34" charset="0"/>
              </a:rPr>
              <a:t> B=domf</a:t>
            </a:r>
            <a:r>
              <a:rPr lang="zh-CN" altLang="en-US" sz="2400" b="1" i="1" dirty="0">
                <a:latin typeface="Trebuchet MS" panose="020B0603020202020204" pitchFamily="34" charset="0"/>
              </a:rPr>
              <a:t>。 </a:t>
            </a:r>
            <a:endParaRPr lang="en-US" altLang="zh-CN" sz="2400" b="1" i="1" dirty="0">
              <a:latin typeface="Trebuchet MS" panose="020B0603020202020204" pitchFamily="34" charset="0"/>
            </a:endParaRPr>
          </a:p>
          <a:p>
            <a:pPr marL="631825" indent="-360363">
              <a:lnSpc>
                <a:spcPct val="110000"/>
              </a:lnSpc>
              <a:buNone/>
            </a:pPr>
            <a:r>
              <a:rPr lang="zh-CN" altLang="en-US" sz="2400" b="1" dirty="0">
                <a:latin typeface="Trebuchet MS" panose="020B0603020202020204" pitchFamily="34" charset="0"/>
              </a:rPr>
              <a:t>②</a:t>
            </a:r>
            <a:r>
              <a:rPr lang="en-US" altLang="zh-CN" sz="2400" i="1" dirty="0">
                <a:latin typeface="Trebuchet MS" panose="020B0603020202020204" pitchFamily="34" charset="0"/>
              </a:rPr>
              <a:t>Since</a:t>
            </a:r>
            <a:r>
              <a:rPr lang="en-US" altLang="zh-CN" sz="2400" b="1" i="1" dirty="0">
                <a:latin typeface="Trebuchet MS" panose="020B0603020202020204" pitchFamily="34" charset="0"/>
              </a:rPr>
              <a:t> f</a:t>
            </a:r>
            <a:r>
              <a:rPr lang="zh-CN" altLang="en-US" sz="2400" b="1" i="1" dirty="0">
                <a:latin typeface="Trebuchet MS" panose="020B0603020202020204" pitchFamily="34" charset="0"/>
              </a:rPr>
              <a:t> </a:t>
            </a:r>
            <a:r>
              <a:rPr lang="en-US" altLang="zh-CN" sz="2400" dirty="0">
                <a:latin typeface="Trebuchet MS" panose="020B0603020202020204" pitchFamily="34" charset="0"/>
              </a:rPr>
              <a:t>injective</a:t>
            </a:r>
            <a:r>
              <a:rPr lang="en-US" altLang="zh-CN" sz="2400" b="1" dirty="0">
                <a:latin typeface="Trebuchet MS" panose="020B0603020202020204" pitchFamily="34" charset="0"/>
              </a:rPr>
              <a:t>,</a:t>
            </a:r>
            <a:r>
              <a:rPr lang="zh-CN" altLang="en-US" sz="2400" b="1" dirty="0">
                <a:latin typeface="Trebuchet MS" panose="020B0603020202020204" pitchFamily="34" charset="0"/>
              </a:rPr>
              <a:t> </a:t>
            </a:r>
            <a:r>
              <a:rPr lang="en-US" altLang="zh-CN" sz="2400" dirty="0">
                <a:latin typeface="Trebuchet MS" panose="020B0603020202020204" pitchFamily="34" charset="0"/>
              </a:rPr>
              <a:t>we</a:t>
            </a:r>
            <a:r>
              <a:rPr lang="zh-CN" altLang="en-US" sz="2400" dirty="0">
                <a:latin typeface="Trebuchet MS" panose="020B0603020202020204" pitchFamily="34" charset="0"/>
              </a:rPr>
              <a:t> </a:t>
            </a:r>
            <a:r>
              <a:rPr lang="en-US" altLang="zh-CN" sz="2400" dirty="0">
                <a:latin typeface="Trebuchet MS" panose="020B0603020202020204" pitchFamily="34" charset="0"/>
              </a:rPr>
              <a:t>know</a:t>
            </a:r>
            <a:r>
              <a:rPr lang="zh-CN" altLang="en-US" sz="2400" dirty="0">
                <a:latin typeface="Trebuchet MS" panose="020B0603020202020204" pitchFamily="34" charset="0"/>
              </a:rPr>
              <a:t> </a:t>
            </a:r>
            <a:r>
              <a:rPr lang="en-US" altLang="zh-CN" sz="2400" dirty="0">
                <a:latin typeface="Trebuchet MS" panose="020B0603020202020204" pitchFamily="34" charset="0"/>
              </a:rPr>
              <a:t>that</a:t>
            </a:r>
            <a:r>
              <a:rPr lang="zh-CN" altLang="en-US" sz="2400"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 </a:t>
            </a:r>
            <a:r>
              <a:rPr lang="zh-CN" altLang="en-US" sz="2400" dirty="0">
                <a:solidFill>
                  <a:srgbClr val="333333"/>
                </a:solidFill>
                <a:latin typeface="Trebuchet MS" panose="020B0603020202020204" pitchFamily="34" charset="0"/>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 ) </a:t>
            </a:r>
            <a:r>
              <a:rPr lang="zh-CN" altLang="en-US" sz="2400" b="1" dirty="0">
                <a:latin typeface="Trebuchet MS" panose="020B0603020202020204" pitchFamily="34" charset="0"/>
              </a:rPr>
              <a:t>，</a:t>
            </a:r>
            <a:r>
              <a:rPr lang="en-US" altLang="zh-CN" sz="2400" dirty="0">
                <a:latin typeface="Trebuchet MS" panose="020B0603020202020204" pitchFamily="34" charset="0"/>
              </a:rPr>
              <a:t>thus </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zh-CN" altLang="en-US" sz="2400" dirty="0">
                <a:solidFill>
                  <a:srgbClr val="333333"/>
                </a:solidFill>
                <a:latin typeface="Trebuchet MS" panose="020B0603020202020204" pitchFamily="34" charset="0"/>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p>
          <a:p>
            <a:pPr marL="631825" indent="-631825">
              <a:lnSpc>
                <a:spcPct val="110000"/>
              </a:lnSpc>
              <a:buNone/>
            </a:pPr>
            <a:r>
              <a:rPr lang="en-US" altLang="zh-CN" sz="2400" b="1" dirty="0">
                <a:solidFill>
                  <a:srgbClr val="0B61FF"/>
                </a:solidFill>
                <a:latin typeface="Trebuchet MS" panose="020B0603020202020204" pitchFamily="34" charset="0"/>
              </a:rPr>
              <a:t>so</a:t>
            </a:r>
            <a:r>
              <a:rPr lang="en-US" altLang="zh-CN" sz="2400"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is</a:t>
            </a:r>
            <a:r>
              <a:rPr lang="zh-CN" altLang="en-US" sz="2400" b="1" i="1" dirty="0">
                <a:latin typeface="Trebuchet MS" panose="020B0603020202020204" pitchFamily="34" charset="0"/>
              </a:rPr>
              <a:t> </a:t>
            </a:r>
            <a:r>
              <a:rPr lang="en-US" altLang="zh-CN" sz="2400" i="1" dirty="0">
                <a:latin typeface="Trebuchet MS" panose="020B0603020202020204" pitchFamily="34" charset="0"/>
              </a:rPr>
              <a:t>i</a:t>
            </a:r>
            <a:r>
              <a:rPr lang="en-US" altLang="zh-CN" sz="2400" b="1" i="1" dirty="0">
                <a:latin typeface="Trebuchet MS" panose="020B0603020202020204" pitchFamily="34" charset="0"/>
              </a:rPr>
              <a:t>njective</a:t>
            </a:r>
            <a:r>
              <a:rPr lang="en-US" altLang="zh-CN" sz="2400" b="1" dirty="0">
                <a:latin typeface="Trebuchet MS" panose="020B0603020202020204" pitchFamily="34" charset="0"/>
              </a:rPr>
              <a:t>.</a:t>
            </a:r>
            <a:endParaRPr lang="en-US" altLang="zh-CN" sz="2400" b="1" i="1" dirty="0">
              <a:latin typeface="Trebuchet MS" panose="020B0603020202020204" pitchFamily="34" charset="0"/>
            </a:endParaRPr>
          </a:p>
          <a:p>
            <a:pPr marL="271463" indent="0" eaLnBrk="1" hangingPunct="1">
              <a:lnSpc>
                <a:spcPct val="120000"/>
              </a:lnSpc>
              <a:buNone/>
            </a:pPr>
            <a:endParaRPr lang="en-US" altLang="zh-CN" sz="2400" b="1" dirty="0">
              <a:latin typeface="Trebuchet MS" panose="020B0603020202020204" pitchFamily="34" charset="0"/>
            </a:endParaRPr>
          </a:p>
          <a:p>
            <a:pPr eaLnBrk="1" hangingPunct="1">
              <a:buFontTx/>
              <a:buNone/>
            </a:pPr>
            <a:endParaRPr lang="en-US" altLang="zh-CN" b="1" dirty="0"/>
          </a:p>
        </p:txBody>
      </p:sp>
    </p:spTree>
    <p:extLst>
      <p:ext uri="{BB962C8B-B14F-4D97-AF65-F5344CB8AC3E}">
        <p14:creationId xmlns:p14="http://schemas.microsoft.com/office/powerpoint/2010/main" val="26445432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4" end="4"/>
                                            </p:txEl>
                                          </p:spTgt>
                                        </p:tgtEl>
                                        <p:attrNameLst>
                                          <p:attrName>style.visibility</p:attrName>
                                        </p:attrNameLst>
                                      </p:cBhvr>
                                      <p:to>
                                        <p:strVal val="visible"/>
                                      </p:to>
                                    </p:set>
                                    <p:animEffect transition="in" filter="fade">
                                      <p:cBhvr>
                                        <p:cTn id="14" dur="1000"/>
                                        <p:tgtEl>
                                          <p:spTgt spid="8">
                                            <p:txEl>
                                              <p:pRg st="4" end="4"/>
                                            </p:txEl>
                                          </p:spTgt>
                                        </p:tgtEl>
                                      </p:cBhvr>
                                    </p:animEffect>
                                    <p:anim calcmode="lin" valueType="num">
                                      <p:cBhvr>
                                        <p:cTn id="1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animEffect transition="in" filter="fade">
                                      <p:cBhvr>
                                        <p:cTn id="21" dur="1000"/>
                                        <p:tgtEl>
                                          <p:spTgt spid="8">
                                            <p:txEl>
                                              <p:pRg st="5" end="5"/>
                                            </p:txEl>
                                          </p:spTgt>
                                        </p:tgtEl>
                                      </p:cBhvr>
                                    </p:animEffect>
                                    <p:anim calcmode="lin" valueType="num">
                                      <p:cBhvr>
                                        <p:cTn id="2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5.2.1 Composition of Functions</a:t>
            </a:r>
            <a:endParaRPr lang="en-US" altLang="zh-CN" sz="2000" b="1" dirty="0">
              <a:latin typeface="Cambria Math" panose="02040503050406030204" pitchFamily="18" charset="0"/>
              <a:ea typeface="Cambria Math" panose="02040503050406030204" pitchFamily="18" charset="0"/>
              <a:cs typeface="Times New Roman" panose="02020603050405020304" pitchFamily="18" charset="0"/>
            </a:endParaRPr>
          </a:p>
          <a:p>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Identity Property of Function Composition</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9"/>
            <a:ext cx="9006479" cy="510539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 5.3:  Let</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t>
            </a:r>
            <a:r>
              <a:rPr lang="zh-CN" altLang="en-US" sz="2400" b="1" dirty="0">
                <a:latin typeface="Trebuchet MS" panose="020B0603020202020204" pitchFamily="34" charset="0"/>
              </a:rPr>
              <a:t>，</a:t>
            </a:r>
            <a:r>
              <a:rPr lang="en-US" altLang="zh-CN" sz="2400" b="1" dirty="0">
                <a:latin typeface="Trebuchet MS" panose="020B0603020202020204" pitchFamily="34" charset="0"/>
              </a:rPr>
              <a:t>then</a:t>
            </a:r>
            <a:r>
              <a:rPr lang="en-US" altLang="zh-CN" sz="2400" b="1" i="1" dirty="0">
                <a:latin typeface="Trebuchet MS" panose="020B0603020202020204" pitchFamily="34" charset="0"/>
              </a:rPr>
              <a:t>   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  </a:t>
            </a:r>
          </a:p>
          <a:p>
            <a:pPr eaLnBrk="1" hangingPunct="1">
              <a:lnSpc>
                <a:spcPct val="120000"/>
              </a:lnSpc>
              <a:spcBef>
                <a:spcPts val="300"/>
              </a:spcBef>
              <a:buFontTx/>
              <a:buNone/>
            </a:pPr>
            <a:r>
              <a:rPr lang="en-US" altLang="zh-CN" sz="2400" b="1" dirty="0">
                <a:solidFill>
                  <a:srgbClr val="0B61FF"/>
                </a:solidFill>
                <a:latin typeface="Trebuchet MS" panose="020B0603020202020204" pitchFamily="34" charset="0"/>
              </a:rPr>
              <a:t>proof : </a:t>
            </a:r>
            <a:r>
              <a:rPr lang="en-US" altLang="zh-CN" sz="2400" dirty="0">
                <a:latin typeface="Trebuchet MS" panose="020B0603020202020204" pitchFamily="34" charset="0"/>
              </a:rPr>
              <a:t>For any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p>
          <a:p>
            <a:pPr marL="0" indent="0">
              <a:lnSpc>
                <a:spcPct val="120000"/>
              </a:lnSpc>
              <a:spcBef>
                <a:spcPts val="300"/>
              </a:spcBef>
              <a:buNone/>
            </a:pPr>
            <a:r>
              <a:rPr lang="en-US" altLang="zh-CN" sz="2400" b="1" dirty="0">
                <a:latin typeface="Trebuchet MS" panose="020B0603020202020204" pitchFamily="34" charset="0"/>
              </a:rPr>
              <a:t>①(</a:t>
            </a:r>
            <a:r>
              <a:rPr lang="en-US" altLang="zh-CN" sz="2400" b="1" i="1" dirty="0">
                <a:latin typeface="Trebuchet MS" panose="020B0603020202020204" pitchFamily="34" charset="0"/>
              </a:rPr>
              <a:t>f</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so  </a:t>
            </a:r>
            <a:r>
              <a:rPr lang="en-US" altLang="zh-CN" sz="2400" b="1" i="1" dirty="0">
                <a:latin typeface="Trebuchet MS" panose="020B0603020202020204" pitchFamily="34" charset="0"/>
              </a:rPr>
              <a:t>f</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B </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p>
          <a:p>
            <a:pPr marL="0" indent="0">
              <a:lnSpc>
                <a:spcPct val="120000"/>
              </a:lnSpc>
              <a:spcBef>
                <a:spcPts val="300"/>
              </a:spcBef>
              <a:buNone/>
            </a:pPr>
            <a:r>
              <a:rPr lang="en-US" altLang="zh-CN" sz="2400" b="1" dirty="0">
                <a:latin typeface="Trebuchet MS" panose="020B0603020202020204" pitchFamily="34" charset="0"/>
              </a:rPr>
              <a:t>②(</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)(x)=</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  so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 </a:t>
            </a:r>
            <a:r>
              <a:rPr lang="en-US" altLang="zh-CN" sz="2400" b="1" dirty="0">
                <a:latin typeface="Trebuchet MS" panose="020B0603020202020204" pitchFamily="34" charset="0"/>
              </a:rPr>
              <a:t>=</a:t>
            </a:r>
            <a:r>
              <a:rPr lang="en-US" altLang="zh-CN" sz="2400" b="1" i="1" dirty="0">
                <a:latin typeface="Trebuchet MS" panose="020B0603020202020204" pitchFamily="34" charset="0"/>
              </a:rPr>
              <a:t>f</a:t>
            </a:r>
          </a:p>
          <a:p>
            <a:pPr marL="0" indent="0">
              <a:lnSpc>
                <a:spcPct val="120000"/>
              </a:lnSpc>
              <a:spcBef>
                <a:spcPts val="300"/>
              </a:spcBef>
              <a:buNone/>
            </a:pPr>
            <a:r>
              <a:rPr lang="en-US" altLang="zh-CN" sz="2400" b="1" dirty="0">
                <a:solidFill>
                  <a:srgbClr val="0B61FF"/>
                </a:solidFill>
                <a:latin typeface="Trebuchet MS" panose="020B0603020202020204" pitchFamily="34" charset="0"/>
              </a:rPr>
              <a:t>Thus</a:t>
            </a:r>
            <a:r>
              <a:rPr lang="en-US" altLang="zh-CN" sz="2400"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 </a:t>
            </a:r>
          </a:p>
          <a:p>
            <a:pPr>
              <a:lnSpc>
                <a:spcPct val="120000"/>
              </a:lnSpc>
              <a:spcBef>
                <a:spcPts val="3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Reflection </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marL="571500" indent="-342900">
              <a:lnSpc>
                <a:spcPct val="120000"/>
              </a:lnSpc>
              <a:spcBef>
                <a:spcPts val="300"/>
              </a:spcBef>
              <a:buClr>
                <a:srgbClr val="0B61FF"/>
              </a:buClr>
              <a:buSzPct val="120000"/>
            </a:pP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B </a:t>
            </a:r>
            <a:r>
              <a:rPr lang="en-US" altLang="zh-CN" sz="2400" b="1" dirty="0">
                <a:latin typeface="Trebuchet MS" panose="020B0603020202020204" pitchFamily="34" charset="0"/>
              </a:rPr>
              <a:t>=</a:t>
            </a:r>
            <a:r>
              <a:rPr lang="en-US" altLang="zh-CN" sz="2400" b="1" i="1" dirty="0">
                <a:latin typeface="Trebuchet MS" panose="020B0603020202020204" pitchFamily="34" charset="0"/>
              </a:rPr>
              <a:t> I</a:t>
            </a:r>
            <a:r>
              <a:rPr lang="en-US" altLang="zh-CN" sz="2400" b="1" i="1" baseline="-25000" dirty="0">
                <a:latin typeface="Trebuchet MS" panose="020B0603020202020204" pitchFamily="34" charset="0"/>
              </a:rPr>
              <a:t>B</a:t>
            </a:r>
            <a:r>
              <a:rPr kumimoji="0"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 f </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marL="571500" indent="-342900">
              <a:lnSpc>
                <a:spcPct val="120000"/>
              </a:lnSpc>
              <a:spcBef>
                <a:spcPts val="300"/>
              </a:spcBef>
              <a:buClr>
                <a:srgbClr val="0B61FF"/>
              </a:buClr>
              <a:buSzPct val="120000"/>
            </a:pP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b="1" dirty="0">
                <a:latin typeface="Trebuchet MS" panose="020B0603020202020204" pitchFamily="34" charset="0"/>
              </a:rPr>
              <a:t> =</a:t>
            </a:r>
            <a:r>
              <a:rPr lang="en-US" altLang="zh-CN" sz="2400" b="1" i="1" dirty="0">
                <a:latin typeface="Trebuchet MS" panose="020B0603020202020204" pitchFamily="34" charset="0"/>
              </a:rPr>
              <a:t> f</a:t>
            </a:r>
            <a:r>
              <a:rPr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 I</a:t>
            </a:r>
            <a:r>
              <a:rPr lang="en-US" altLang="zh-CN" sz="2400" b="1" i="1" baseline="-25000" dirty="0">
                <a:latin typeface="Trebuchet MS" panose="020B0603020202020204" pitchFamily="34" charset="0"/>
              </a:rPr>
              <a:t>A</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marL="571500" indent="-342900">
              <a:lnSpc>
                <a:spcPct val="120000"/>
              </a:lnSpc>
              <a:spcBef>
                <a:spcPts val="300"/>
              </a:spcBef>
              <a:buClr>
                <a:srgbClr val="0B61FF"/>
              </a:buClr>
              <a:buSzPct val="120000"/>
            </a:pPr>
            <a:r>
              <a:rPr lang="en-US" altLang="zh-CN" sz="2400" dirty="0">
                <a:latin typeface="Trebuchet MS" panose="020B0603020202020204" pitchFamily="34" charset="0"/>
              </a:rPr>
              <a:t>Please analyze based on the matching between the </a:t>
            </a:r>
            <a:r>
              <a:rPr lang="en-US" altLang="zh-CN" sz="2400" b="1" dirty="0">
                <a:latin typeface="Trebuchet MS" panose="020B0603020202020204" pitchFamily="34" charset="0"/>
              </a:rPr>
              <a:t>domain of the identity function</a:t>
            </a:r>
            <a:r>
              <a:rPr lang="en-US" altLang="zh-CN" sz="2400" dirty="0">
                <a:latin typeface="Trebuchet MS" panose="020B0603020202020204" pitchFamily="34" charset="0"/>
              </a:rPr>
              <a:t> and the </a:t>
            </a:r>
            <a:r>
              <a:rPr lang="en-US" altLang="zh-CN" sz="2400" b="1" dirty="0">
                <a:latin typeface="Trebuchet MS" panose="020B0603020202020204" pitchFamily="34" charset="0"/>
              </a:rPr>
              <a:t>codomain of the other function</a:t>
            </a:r>
            <a:r>
              <a:rPr lang="en-US" altLang="zh-CN" sz="2400" dirty="0">
                <a:latin typeface="Trebuchet MS" panose="020B0603020202020204" pitchFamily="34" charset="0"/>
              </a:rPr>
              <a:t>. </a:t>
            </a:r>
          </a:p>
        </p:txBody>
      </p:sp>
    </p:spTree>
    <p:extLst>
      <p:ext uri="{BB962C8B-B14F-4D97-AF65-F5344CB8AC3E}">
        <p14:creationId xmlns:p14="http://schemas.microsoft.com/office/powerpoint/2010/main" val="38167347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anim calcmode="lin" valueType="num">
                                      <p:cBhvr>
                                        <p:cTn id="1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1000"/>
                                        <p:tgtEl>
                                          <p:spTgt spid="8">
                                            <p:txEl>
                                              <p:pRg st="4" end="4"/>
                                            </p:txEl>
                                          </p:spTgt>
                                        </p:tgtEl>
                                      </p:cBhvr>
                                    </p:animEffect>
                                    <p:anim calcmode="lin" valueType="num">
                                      <p:cBhvr>
                                        <p:cTn id="2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fade">
                                      <p:cBhvr>
                                        <p:cTn id="29" dur="1000"/>
                                        <p:tgtEl>
                                          <p:spTgt spid="8">
                                            <p:txEl>
                                              <p:pRg st="5" end="5"/>
                                            </p:txEl>
                                          </p:spTgt>
                                        </p:tgtEl>
                                      </p:cBhvr>
                                    </p:animEffect>
                                    <p:anim calcmode="lin" valueType="num">
                                      <p:cBhvr>
                                        <p:cTn id="3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xEl>
                                              <p:pRg st="6" end="6"/>
                                            </p:txEl>
                                          </p:spTgt>
                                        </p:tgtEl>
                                        <p:attrNameLst>
                                          <p:attrName>style.visibility</p:attrName>
                                        </p:attrNameLst>
                                      </p:cBhvr>
                                      <p:to>
                                        <p:strVal val="visible"/>
                                      </p:to>
                                    </p:set>
                                    <p:animEffect transition="in" filter="fade">
                                      <p:cBhvr>
                                        <p:cTn id="34" dur="1000"/>
                                        <p:tgtEl>
                                          <p:spTgt spid="8">
                                            <p:txEl>
                                              <p:pRg st="6" end="6"/>
                                            </p:txEl>
                                          </p:spTgt>
                                        </p:tgtEl>
                                      </p:cBhvr>
                                    </p:animEffect>
                                    <p:anim calcmode="lin" valueType="num">
                                      <p:cBhvr>
                                        <p:cTn id="35"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animEffect transition="in" filter="fade">
                                      <p:cBhvr>
                                        <p:cTn id="39" dur="1000"/>
                                        <p:tgtEl>
                                          <p:spTgt spid="8">
                                            <p:txEl>
                                              <p:pRg st="7" end="7"/>
                                            </p:txEl>
                                          </p:spTgt>
                                        </p:tgtEl>
                                      </p:cBhvr>
                                    </p:animEffect>
                                    <p:anim calcmode="lin" valueType="num">
                                      <p:cBhvr>
                                        <p:cTn id="40"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8">
                                            <p:txEl>
                                              <p:pRg st="8" end="8"/>
                                            </p:txEl>
                                          </p:spTgt>
                                        </p:tgtEl>
                                        <p:attrNameLst>
                                          <p:attrName>style.visibility</p:attrName>
                                        </p:attrNameLst>
                                      </p:cBhvr>
                                      <p:to>
                                        <p:strVal val="visible"/>
                                      </p:to>
                                    </p:set>
                                    <p:animEffect transition="in" filter="fade">
                                      <p:cBhvr>
                                        <p:cTn id="46" dur="1000"/>
                                        <p:tgtEl>
                                          <p:spTgt spid="8">
                                            <p:txEl>
                                              <p:pRg st="8" end="8"/>
                                            </p:txEl>
                                          </p:spTgt>
                                        </p:tgtEl>
                                      </p:cBhvr>
                                    </p:animEffect>
                                    <p:anim calcmode="lin" valueType="num">
                                      <p:cBhvr>
                                        <p:cTn id="47"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8"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t>              </a:t>
            </a:r>
            <a:r>
              <a:rPr lang="en-US" altLang="zh-CN" sz="2000" b="1" dirty="0">
                <a:latin typeface="Trebuchet MS" panose="020B0603020202020204" pitchFamily="34" charset="0"/>
              </a:rPr>
              <a:t>5.2 Composition of Functions and Inverse Functions</a:t>
            </a:r>
            <a:r>
              <a:rPr lang="en-US" altLang="zh-CN" sz="2000" b="1" dirty="0">
                <a:latin typeface="Trebuchet MS" panose="020B0603020202020204" pitchFamily="34" charset="0"/>
                <a:ea typeface="Cambria Math" panose="02040503050406030204" pitchFamily="18" charset="0"/>
                <a:cs typeface="Times New Roman" panose="02020603050405020304" pitchFamily="18" charset="0"/>
              </a:rPr>
              <a:t>                 </a:t>
            </a:r>
            <a:endParaRPr lang="zh-CN" altLang="en-US" sz="20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kumimoji="0" lang="en-US" altLang="zh-CN" sz="2800" b="1" dirty="0">
              <a:solidFill>
                <a:srgbClr val="FF0000"/>
              </a:solidFill>
            </a:endParaRPr>
          </a:p>
          <a:p>
            <a:pPr marL="457200" lvl="1" indent="0">
              <a:buNone/>
            </a:pPr>
            <a:endParaRPr lang="zh-CN" altLang="en-US" sz="2800" b="1" dirty="0"/>
          </a:p>
        </p:txBody>
      </p:sp>
      <p:sp>
        <p:nvSpPr>
          <p:cNvPr id="15" name="Text Box 3">
            <a:extLst>
              <a:ext uri="{FF2B5EF4-FFF2-40B4-BE49-F238E27FC236}">
                <a16:creationId xmlns:a16="http://schemas.microsoft.com/office/drawing/2014/main" id="{A440F8D9-D480-4DB0-A422-CAACFDC32A5F}"/>
              </a:ext>
            </a:extLst>
          </p:cNvPr>
          <p:cNvSpPr txBox="1">
            <a:spLocks noChangeArrowheads="1"/>
          </p:cNvSpPr>
          <p:nvPr/>
        </p:nvSpPr>
        <p:spPr bwMode="auto">
          <a:xfrm>
            <a:off x="1049564" y="991280"/>
            <a:ext cx="9553122" cy="377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3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5.2.1 Composition of Functions</a:t>
            </a:r>
          </a:p>
          <a:p>
            <a:pPr marL="719138" indent="-360363">
              <a:lnSpc>
                <a:spcPct val="130000"/>
              </a:lnSpc>
              <a:buClr>
                <a:srgbClr val="0B61FF"/>
              </a:buClr>
              <a:buSzPct val="120000"/>
              <a:buFont typeface="Arial" panose="020B0604020202020204" pitchFamily="34" charset="0"/>
              <a:buChar char="•"/>
            </a:pPr>
            <a:r>
              <a:rPr lang="en-US" sz="2400" dirty="0">
                <a:solidFill>
                  <a:schemeClr val="bg2">
                    <a:lumMod val="50000"/>
                  </a:schemeClr>
                </a:solidFill>
                <a:latin typeface="Trebuchet MS" panose="020B0603020202020204" pitchFamily="34" charset="0"/>
              </a:rPr>
              <a:t>The fundamental theorem of function composition and its corollaries</a:t>
            </a:r>
          </a:p>
          <a:p>
            <a:pPr marL="719138" indent="-360363">
              <a:lnSpc>
                <a:spcPct val="130000"/>
              </a:lnSpc>
              <a:buClr>
                <a:srgbClr val="0B61FF"/>
              </a:buClr>
              <a:buSzPct val="120000"/>
              <a:buFont typeface="Arial" panose="020B0604020202020204" pitchFamily="34" charset="0"/>
              <a:buChar char="•"/>
            </a:pPr>
            <a:r>
              <a:rPr lang="en-US" sz="2400" dirty="0">
                <a:solidFill>
                  <a:schemeClr val="bg2">
                    <a:lumMod val="50000"/>
                  </a:schemeClr>
                </a:solidFill>
                <a:latin typeface="Trebuchet MS" panose="020B0603020202020204" pitchFamily="34" charset="0"/>
              </a:rPr>
              <a:t>Properties of function composition</a:t>
            </a:r>
          </a:p>
          <a:p>
            <a:pPr marL="342900" indent="-342900">
              <a:lnSpc>
                <a:spcPct val="13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5.2.2 Inverse Functions</a:t>
            </a:r>
          </a:p>
          <a:p>
            <a:pPr marL="719138" indent="-360363">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Conditions for the existence of an inverse function</a:t>
            </a:r>
          </a:p>
          <a:p>
            <a:pPr marL="719138" indent="-360363">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Properties of inverse function</a:t>
            </a:r>
          </a:p>
        </p:txBody>
      </p:sp>
    </p:spTree>
    <p:extLst>
      <p:ext uri="{BB962C8B-B14F-4D97-AF65-F5344CB8AC3E}">
        <p14:creationId xmlns:p14="http://schemas.microsoft.com/office/powerpoint/2010/main" val="27057146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t>5.2.2 Inverse Functions</a:t>
            </a:r>
            <a:endParaRPr lang="en-US" altLang="zh-CN" sz="2000" b="1" dirty="0">
              <a:latin typeface="Cambria Math" panose="02040503050406030204" pitchFamily="18" charset="0"/>
              <a:ea typeface="Cambria Math" panose="02040503050406030204" pitchFamily="18" charset="0"/>
              <a:cs typeface="Times New Roman" panose="02020603050405020304" pitchFamily="18" charset="0"/>
            </a:endParaRP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Inverse Function Existence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638259" y="849089"/>
            <a:ext cx="11052993" cy="55406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 5.4: Let</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be</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bijective</a:t>
            </a:r>
            <a:r>
              <a:rPr lang="en-US" altLang="zh-CN" sz="2400" b="1" dirty="0">
                <a:latin typeface="Trebuchet MS" panose="020B0603020202020204" pitchFamily="34" charset="0"/>
              </a:rPr>
              <a:t>, so </a:t>
            </a:r>
            <a:r>
              <a:rPr lang="en-US" altLang="zh-CN" sz="2400" b="1" i="1" dirty="0">
                <a:latin typeface="Trebuchet MS" panose="020B0603020202020204" pitchFamily="34" charset="0"/>
              </a:rPr>
              <a:t>f</a:t>
            </a:r>
            <a:r>
              <a:rPr lang="en-US" altLang="zh-CN" sz="2400" b="1" i="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is</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also</a:t>
            </a:r>
            <a:r>
              <a:rPr lang="zh-CN" altLang="en-US" sz="2400" b="1" i="1" dirty="0">
                <a:latin typeface="Trebuchet MS" panose="020B0603020202020204" pitchFamily="34" charset="0"/>
              </a:rPr>
              <a:t> </a:t>
            </a:r>
            <a:r>
              <a:rPr lang="en-US" altLang="zh-CN" sz="2400" b="1" i="1" dirty="0">
                <a:latin typeface="Trebuchet MS" panose="020B0603020202020204" pitchFamily="34" charset="0"/>
              </a:rPr>
              <a:t>bijective</a:t>
            </a:r>
            <a:r>
              <a:rPr lang="en-US" altLang="zh-CN" sz="2400" b="1" dirty="0">
                <a:latin typeface="Trebuchet MS" panose="020B0603020202020204" pitchFamily="34" charset="0"/>
              </a:rPr>
              <a:t>.</a:t>
            </a:r>
          </a:p>
          <a:p>
            <a:pPr eaLnBrk="1" hangingPunct="1">
              <a:lnSpc>
                <a:spcPct val="100000"/>
              </a:lnSpc>
              <a:spcBef>
                <a:spcPts val="300"/>
              </a:spcBef>
              <a:buFontTx/>
              <a:buNone/>
            </a:pPr>
            <a:r>
              <a:rPr lang="en-US" altLang="zh-CN" sz="2400" b="1" dirty="0">
                <a:solidFill>
                  <a:srgbClr val="0B61FF"/>
                </a:solidFill>
                <a:latin typeface="Trebuchet MS" panose="020B0603020202020204" pitchFamily="34" charset="0"/>
              </a:rPr>
              <a:t>Proof:</a:t>
            </a:r>
          </a:p>
          <a:p>
            <a:pPr eaLnBrk="1" hangingPunct="1">
              <a:lnSpc>
                <a:spcPct val="100000"/>
              </a:lnSpc>
              <a:spcBef>
                <a:spcPts val="300"/>
              </a:spcBef>
              <a:buFontTx/>
              <a:buNone/>
            </a:pPr>
            <a:r>
              <a:rPr lang="en-US" altLang="zh-CN" sz="2400" b="1" dirty="0">
                <a:solidFill>
                  <a:srgbClr val="0B61FF"/>
                </a:solidFill>
                <a:latin typeface="Trebuchet MS" panose="020B0603020202020204" pitchFamily="34" charset="0"/>
              </a:rPr>
              <a:t>①</a:t>
            </a:r>
            <a:r>
              <a:rPr lang="en-US" altLang="zh-CN" sz="2400" dirty="0">
                <a:latin typeface="Trebuchet MS" panose="020B0603020202020204" pitchFamily="34" charset="0"/>
              </a:rPr>
              <a:t>Since</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dirty="0">
                <a:latin typeface="Trebuchet MS" panose="020B0603020202020204" pitchFamily="34" charset="0"/>
              </a:rPr>
              <a:t>is</a:t>
            </a:r>
            <a:r>
              <a:rPr lang="zh-CN" altLang="en-US" sz="2400" dirty="0">
                <a:latin typeface="Trebuchet MS" panose="020B0603020202020204" pitchFamily="34" charset="0"/>
              </a:rPr>
              <a:t> </a:t>
            </a:r>
            <a:r>
              <a:rPr lang="en-US" altLang="zh-CN" sz="2400" dirty="0">
                <a:latin typeface="Trebuchet MS" panose="020B0603020202020204" pitchFamily="34" charset="0"/>
              </a:rPr>
              <a:t>a</a:t>
            </a:r>
            <a:r>
              <a:rPr lang="zh-CN" altLang="en-US" sz="2400" dirty="0">
                <a:latin typeface="Trebuchet MS" panose="020B0603020202020204" pitchFamily="34" charset="0"/>
              </a:rPr>
              <a:t> </a:t>
            </a:r>
            <a:r>
              <a:rPr lang="en-US" altLang="zh-CN" sz="2400" dirty="0">
                <a:latin typeface="Trebuchet MS" panose="020B0603020202020204" pitchFamily="34" charset="0"/>
              </a:rPr>
              <a:t>function</a:t>
            </a:r>
            <a:r>
              <a:rPr lang="en-US" altLang="zh-CN" sz="2400" b="1" dirty="0">
                <a:latin typeface="Trebuchet MS" panose="020B0603020202020204" pitchFamily="34" charset="0"/>
              </a:rPr>
              <a:t>, </a:t>
            </a:r>
            <a:r>
              <a:rPr lang="en-US" altLang="zh-CN" sz="2400" dirty="0">
                <a:latin typeface="Trebuchet MS" panose="020B0603020202020204" pitchFamily="34" charset="0"/>
              </a:rPr>
              <a:t>so</a:t>
            </a:r>
            <a:r>
              <a:rPr lang="zh-CN" altLang="en-US" sz="2400" b="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 </a:t>
            </a:r>
            <a:r>
              <a:rPr lang="en-US" altLang="zh-CN" sz="2400" dirty="0">
                <a:latin typeface="Trebuchet MS" panose="020B0603020202020204" pitchFamily="34" charset="0"/>
              </a:rPr>
              <a:t>is</a:t>
            </a:r>
            <a:r>
              <a:rPr lang="zh-CN" altLang="en-US" sz="2400" dirty="0">
                <a:latin typeface="Trebuchet MS" panose="020B0603020202020204" pitchFamily="34" charset="0"/>
              </a:rPr>
              <a:t> </a:t>
            </a:r>
            <a:r>
              <a:rPr lang="en-US" altLang="zh-CN" sz="2400" dirty="0">
                <a:latin typeface="Trebuchet MS" panose="020B0603020202020204" pitchFamily="34" charset="0"/>
              </a:rPr>
              <a:t>relation</a:t>
            </a:r>
            <a:r>
              <a:rPr lang="en-US" altLang="zh-CN" sz="2400" b="1" dirty="0">
                <a:latin typeface="Trebuchet MS" panose="020B0603020202020204" pitchFamily="34" charset="0"/>
              </a:rPr>
              <a:t>, </a:t>
            </a:r>
            <a:r>
              <a:rPr lang="zh-CN" altLang="en-US" sz="2400" b="1" dirty="0">
                <a:latin typeface="Trebuchet MS" panose="020B0603020202020204" pitchFamily="34" charset="0"/>
              </a:rPr>
              <a:t> </a:t>
            </a:r>
            <a:r>
              <a:rPr lang="en-US" altLang="zh-CN" sz="2400" dirty="0">
                <a:latin typeface="Trebuchet MS" panose="020B0603020202020204" pitchFamily="34" charset="0"/>
              </a:rPr>
              <a:t>and</a:t>
            </a:r>
            <a:r>
              <a:rPr lang="zh-CN" altLang="en-US" sz="2400" dirty="0">
                <a:latin typeface="Trebuchet MS" panose="020B0603020202020204" pitchFamily="34" charset="0"/>
              </a:rPr>
              <a:t> </a:t>
            </a:r>
            <a:r>
              <a:rPr lang="en-US" altLang="zh-CN" sz="2400" dirty="0">
                <a:latin typeface="Trebuchet MS" panose="020B0603020202020204" pitchFamily="34" charset="0"/>
              </a:rPr>
              <a:t>we</a:t>
            </a:r>
            <a:r>
              <a:rPr lang="zh-CN" altLang="en-US" sz="2400" dirty="0">
                <a:latin typeface="Trebuchet MS" panose="020B0603020202020204" pitchFamily="34" charset="0"/>
              </a:rPr>
              <a:t> </a:t>
            </a:r>
            <a:r>
              <a:rPr lang="en-US" altLang="zh-CN" sz="2400" dirty="0">
                <a:latin typeface="Trebuchet MS" panose="020B0603020202020204" pitchFamily="34" charset="0"/>
              </a:rPr>
              <a:t>have</a:t>
            </a:r>
            <a:r>
              <a:rPr lang="zh-CN" altLang="en-US" sz="2400" dirty="0">
                <a:latin typeface="Trebuchet MS" panose="020B0603020202020204" pitchFamily="34" charset="0"/>
              </a:rPr>
              <a:t> </a:t>
            </a:r>
            <a:r>
              <a:rPr lang="en-US" altLang="zh-CN" sz="2400" b="1" dirty="0">
                <a:latin typeface="Trebuchet MS" panose="020B0603020202020204" pitchFamily="34" charset="0"/>
              </a:rPr>
              <a:t>dom</a:t>
            </a:r>
            <a:r>
              <a:rPr lang="en-US" altLang="zh-CN" sz="2400" b="1" i="1" dirty="0">
                <a:latin typeface="Trebuchet MS" panose="020B0603020202020204" pitchFamily="34" charset="0"/>
              </a:rPr>
              <a:t>f </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ran</a:t>
            </a:r>
            <a:r>
              <a:rPr lang="en-US" altLang="zh-CN" sz="2400" b="1" i="1" dirty="0">
                <a:latin typeface="Trebuchet MS" panose="020B0603020202020204" pitchFamily="34" charset="0"/>
              </a:rPr>
              <a:t>f </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 ,    ran</a:t>
            </a:r>
            <a:r>
              <a:rPr lang="en-US" altLang="zh-CN" sz="2400" b="1" i="1" dirty="0">
                <a:latin typeface="Trebuchet MS" panose="020B0603020202020204" pitchFamily="34" charset="0"/>
              </a:rPr>
              <a:t>f </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dom</a:t>
            </a:r>
            <a:r>
              <a:rPr lang="en-US" altLang="zh-CN" sz="2400" b="1" i="1" dirty="0">
                <a:latin typeface="Trebuchet MS" panose="020B0603020202020204" pitchFamily="34" charset="0"/>
              </a:rPr>
              <a:t>f </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p>
          <a:p>
            <a:pPr eaLnBrk="1" hangingPunct="1">
              <a:lnSpc>
                <a:spcPct val="100000"/>
              </a:lnSpc>
              <a:spcBef>
                <a:spcPts val="300"/>
              </a:spcBef>
              <a:buFontTx/>
              <a:buNone/>
            </a:pPr>
            <a:r>
              <a:rPr lang="en-US" altLang="zh-CN" sz="2400" b="1" dirty="0">
                <a:solidFill>
                  <a:srgbClr val="0B61FF"/>
                </a:solidFill>
                <a:latin typeface="Trebuchet MS" panose="020B0603020202020204" pitchFamily="34" charset="0"/>
              </a:rPr>
              <a:t>②</a:t>
            </a:r>
            <a:r>
              <a:rPr lang="en-US" altLang="zh-CN" sz="2400" dirty="0">
                <a:latin typeface="Trebuchet MS" panose="020B0603020202020204" pitchFamily="34" charset="0"/>
              </a:rPr>
              <a:t>For</a:t>
            </a:r>
            <a:r>
              <a:rPr lang="zh-CN" altLang="en-US" sz="2400" dirty="0">
                <a:latin typeface="Trebuchet MS" panose="020B0603020202020204" pitchFamily="34" charset="0"/>
              </a:rPr>
              <a:t> </a:t>
            </a:r>
            <a:r>
              <a:rPr lang="en-US" altLang="zh-CN" sz="2400" dirty="0">
                <a:latin typeface="Trebuchet MS" panose="020B0603020202020204" pitchFamily="34" charset="0"/>
              </a:rPr>
              <a:t>any</a:t>
            </a:r>
            <a:r>
              <a:rPr lang="zh-CN" altLang="en-US" sz="2400"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zh-CN" altLang="en-US" sz="2400" b="1" dirty="0">
                <a:latin typeface="Trebuchet MS" panose="020B0603020202020204" pitchFamily="34" charset="0"/>
              </a:rPr>
              <a:t> </a:t>
            </a:r>
            <a:r>
              <a:rPr lang="en-US" altLang="zh-CN" sz="2400" dirty="0">
                <a:latin typeface="Trebuchet MS" panose="020B0603020202020204" pitchFamily="34" charset="0"/>
              </a:rPr>
              <a:t>suppose have</a:t>
            </a:r>
            <a:r>
              <a:rPr lang="zh-CN" altLang="en-US" sz="2400" dirty="0">
                <a:latin typeface="Trebuchet MS" panose="020B0603020202020204" pitchFamily="34" charset="0"/>
              </a:rPr>
              <a:t> </a:t>
            </a:r>
            <a:r>
              <a:rPr lang="en-US" altLang="zh-CN" sz="2400" b="1" i="1" dirty="0">
                <a:latin typeface="Trebuchet MS" panose="020B0603020202020204" pitchFamily="34" charset="0"/>
              </a:rPr>
              <a:t>y</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i="1" dirty="0">
                <a:latin typeface="Trebuchet MS" panose="020B0603020202020204" pitchFamily="34" charset="0"/>
              </a:rPr>
              <a:t>y</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A </a:t>
            </a:r>
            <a:r>
              <a:rPr lang="en-US" altLang="zh-CN" sz="2400" dirty="0">
                <a:latin typeface="Trebuchet MS" panose="020B0603020202020204" pitchFamily="34" charset="0"/>
              </a:rPr>
              <a:t>such</a:t>
            </a:r>
            <a:r>
              <a:rPr lang="zh-CN" altLang="en-US" sz="2400" dirty="0">
                <a:latin typeface="Trebuchet MS" panose="020B0603020202020204" pitchFamily="34" charset="0"/>
              </a:rPr>
              <a:t> </a:t>
            </a:r>
            <a:r>
              <a:rPr lang="en-US" altLang="zh-CN" sz="2400" dirty="0">
                <a:latin typeface="Trebuchet MS" panose="020B0603020202020204" pitchFamily="34" charset="0"/>
              </a:rPr>
              <a:t>that </a:t>
            </a:r>
            <a:r>
              <a:rPr lang="en-US" altLang="zh-CN" sz="2400" b="1" dirty="0">
                <a:latin typeface="Trebuchet MS" panose="020B0603020202020204" pitchFamily="34" charset="0"/>
              </a:rPr>
              <a:t>&lt;</a:t>
            </a:r>
            <a:r>
              <a:rPr lang="en-US" altLang="zh-CN" sz="2400" b="1" i="1" dirty="0">
                <a:latin typeface="Trebuchet MS" panose="020B0603020202020204" pitchFamily="34" charset="0"/>
              </a:rPr>
              <a:t>y</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&gt;∈</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∧&lt;</a:t>
            </a:r>
            <a:r>
              <a:rPr lang="en-US" altLang="zh-CN" sz="2400" b="1" i="1" dirty="0">
                <a:latin typeface="Trebuchet MS" panose="020B0603020202020204" pitchFamily="34" charset="0"/>
              </a:rPr>
              <a:t>y</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 x</a:t>
            </a:r>
            <a:r>
              <a:rPr lang="en-US" altLang="zh-CN" sz="2400" b="1" dirty="0">
                <a:latin typeface="Trebuchet MS" panose="020B0603020202020204" pitchFamily="34" charset="0"/>
              </a:rPr>
              <a:t>&gt;∈</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 </a:t>
            </a:r>
            <a:r>
              <a:rPr lang="en-US" altLang="zh-CN" sz="2400" dirty="0">
                <a:latin typeface="Trebuchet MS" panose="020B0603020202020204" pitchFamily="34" charset="0"/>
              </a:rPr>
              <a:t>then by the definition of inverse </a:t>
            </a:r>
            <a:r>
              <a:rPr lang="en-US" altLang="zh-CN" sz="2400" b="1" dirty="0">
                <a:latin typeface="Trebuchet MS" panose="020B0603020202020204" pitchFamily="34" charset="0"/>
              </a:rPr>
              <a:t>&lt;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&gt;∈</a:t>
            </a:r>
            <a:r>
              <a:rPr lang="en-US" altLang="zh-CN" sz="2400" b="1" i="1" dirty="0">
                <a:latin typeface="Trebuchet MS" panose="020B0603020202020204" pitchFamily="34" charset="0"/>
              </a:rPr>
              <a:t>f</a:t>
            </a:r>
            <a:r>
              <a:rPr lang="en-US" altLang="zh-CN" sz="2400" b="1" dirty="0">
                <a:latin typeface="Trebuchet MS" panose="020B0603020202020204" pitchFamily="34" charset="0"/>
              </a:rPr>
              <a:t>∧&lt;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&gt;∈</a:t>
            </a:r>
            <a:r>
              <a:rPr lang="en-US" altLang="zh-CN" sz="2400" b="1" i="1" dirty="0">
                <a:latin typeface="Trebuchet MS" panose="020B0603020202020204" pitchFamily="34" charset="0"/>
              </a:rPr>
              <a:t>f</a:t>
            </a:r>
            <a:r>
              <a:rPr lang="en-US" altLang="zh-CN" sz="2400" b="1" dirty="0">
                <a:latin typeface="Trebuchet MS" panose="020B0603020202020204" pitchFamily="34" charset="0"/>
              </a:rPr>
              <a:t>. </a:t>
            </a:r>
            <a:r>
              <a:rPr lang="en-US" altLang="zh-CN" sz="2400" dirty="0">
                <a:latin typeface="Trebuchet MS" panose="020B0603020202020204" pitchFamily="34" charset="0"/>
              </a:rPr>
              <a:t>Since</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dirty="0">
                <a:latin typeface="Trebuchet MS" panose="020B0603020202020204" pitchFamily="34" charset="0"/>
              </a:rPr>
              <a:t>is injective</a:t>
            </a:r>
            <a:r>
              <a:rPr lang="en-US" altLang="zh-CN" sz="2400" b="1" i="1" dirty="0">
                <a:latin typeface="Trebuchet MS" panose="020B0603020202020204" pitchFamily="34" charset="0"/>
              </a:rPr>
              <a:t>, </a:t>
            </a:r>
            <a:r>
              <a:rPr lang="en-US" altLang="zh-CN" sz="2400" dirty="0">
                <a:latin typeface="Trebuchet MS" panose="020B0603020202020204" pitchFamily="34" charset="0"/>
              </a:rPr>
              <a:t>it follows that</a:t>
            </a:r>
            <a:r>
              <a:rPr lang="zh-CN" altLang="en-US" sz="2400" dirty="0">
                <a:latin typeface="Trebuchet MS" panose="020B0603020202020204" pitchFamily="34" charset="0"/>
              </a:rPr>
              <a:t> </a:t>
            </a:r>
            <a:r>
              <a:rPr lang="en-US" altLang="zh-CN" sz="2400" b="1" i="1" dirty="0">
                <a:latin typeface="Trebuchet MS" panose="020B0603020202020204" pitchFamily="34" charset="0"/>
              </a:rPr>
              <a:t>y</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 hence</a:t>
            </a:r>
            <a:r>
              <a:rPr lang="zh-CN" altLang="en-US" sz="2400" b="1" dirty="0">
                <a:latin typeface="Trebuchet MS" panose="020B0603020202020204" pitchFamily="34" charset="0"/>
              </a:rPr>
              <a:t> </a:t>
            </a:r>
            <a:r>
              <a:rPr lang="en-US" altLang="zh-CN" sz="2400" b="1" i="1" dirty="0">
                <a:solidFill>
                  <a:srgbClr val="FF0000"/>
                </a:solidFill>
                <a:latin typeface="Trebuchet MS" panose="020B0603020202020204" pitchFamily="34" charset="0"/>
              </a:rPr>
              <a:t>f</a:t>
            </a:r>
            <a:r>
              <a:rPr lang="en-US" altLang="zh-CN" sz="2400" b="1" baseline="30000" dirty="0">
                <a:solidFill>
                  <a:srgbClr val="FF0000"/>
                </a:solidFill>
                <a:latin typeface="Trebuchet MS" panose="020B0603020202020204" pitchFamily="34" charset="0"/>
                <a:sym typeface="Symbol" panose="05050102010706020507" pitchFamily="18" charset="2"/>
              </a:rPr>
              <a:t></a:t>
            </a:r>
            <a:r>
              <a:rPr lang="en-US" altLang="zh-CN" sz="2400" b="1" baseline="30000" dirty="0">
                <a:solidFill>
                  <a:srgbClr val="FF0000"/>
                </a:solidFill>
                <a:latin typeface="Trebuchet MS" panose="020B0603020202020204" pitchFamily="34" charset="0"/>
              </a:rPr>
              <a:t>1</a:t>
            </a:r>
            <a:r>
              <a:rPr lang="zh-CN" altLang="en-US" sz="2400" b="1" baseline="30000" dirty="0">
                <a:solidFill>
                  <a:srgbClr val="FF0000"/>
                </a:solidFill>
                <a:latin typeface="Trebuchet MS" panose="020B0603020202020204" pitchFamily="34" charset="0"/>
              </a:rPr>
              <a:t> </a:t>
            </a:r>
            <a:r>
              <a:rPr lang="en-US" altLang="zh-CN" sz="2400" b="1" dirty="0">
                <a:solidFill>
                  <a:srgbClr val="FF0000"/>
                </a:solidFill>
                <a:latin typeface="Trebuchet MS" panose="020B0603020202020204" pitchFamily="34" charset="0"/>
              </a:rPr>
              <a:t>is </a:t>
            </a:r>
            <a:r>
              <a:rPr lang="en-US" altLang="zh-CN" sz="2400" b="1" i="1" dirty="0">
                <a:solidFill>
                  <a:srgbClr val="FF0000"/>
                </a:solidFill>
                <a:latin typeface="Trebuchet MS" panose="020B0603020202020204" pitchFamily="34" charset="0"/>
              </a:rPr>
              <a:t>a well-defined  function</a:t>
            </a:r>
            <a:r>
              <a:rPr lang="en-US" altLang="zh-CN" sz="2400" b="1" i="1" dirty="0">
                <a:latin typeface="Trebuchet MS" panose="020B0603020202020204" pitchFamily="34" charset="0"/>
              </a:rPr>
              <a:t>.</a:t>
            </a:r>
          </a:p>
          <a:p>
            <a:pPr eaLnBrk="1" hangingPunct="1">
              <a:lnSpc>
                <a:spcPct val="100000"/>
              </a:lnSpc>
              <a:spcBef>
                <a:spcPts val="300"/>
              </a:spcBef>
              <a:buFontTx/>
              <a:buNone/>
            </a:pPr>
            <a:r>
              <a:rPr lang="en-US" altLang="zh-CN" sz="2400" b="1" dirty="0">
                <a:solidFill>
                  <a:srgbClr val="0B61FF"/>
                </a:solidFill>
                <a:latin typeface="Trebuchet MS" panose="020B0603020202020204" pitchFamily="34" charset="0"/>
              </a:rPr>
              <a:t>③</a:t>
            </a:r>
            <a:r>
              <a:rPr lang="en-US" altLang="zh-CN" sz="2400" dirty="0">
                <a:latin typeface="Trebuchet MS" panose="020B0603020202020204" pitchFamily="34" charset="0"/>
              </a:rPr>
              <a:t>Also, for every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 there is a unique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 </a:t>
            </a:r>
            <a:r>
              <a:rPr lang="en-US" altLang="zh-CN" sz="2400" dirty="0">
                <a:latin typeface="Trebuchet MS" panose="020B0603020202020204" pitchFamily="34" charset="0"/>
              </a:rPr>
              <a:t>such that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dirty="0">
                <a:latin typeface="Trebuchet MS" panose="020B0603020202020204" pitchFamily="34" charset="0"/>
              </a:rPr>
              <a:t>, so </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a:t>
            </a:r>
            <a:r>
              <a:rPr lang="en-US" altLang="zh-CN" sz="1600" dirty="0"/>
              <a:t> </a:t>
            </a:r>
            <a:r>
              <a:rPr lang="en-US" altLang="zh-CN" sz="2400" dirty="0">
                <a:latin typeface="Trebuchet MS" panose="020B0603020202020204" pitchFamily="34" charset="0"/>
              </a:rPr>
              <a:t>therefore</a:t>
            </a:r>
            <a:r>
              <a:rPr lang="en-US" altLang="zh-CN" sz="2400" b="1" dirty="0">
                <a:latin typeface="Trebuchet MS" panose="020B0603020202020204" pitchFamily="34" charset="0"/>
              </a:rPr>
              <a:t>, </a:t>
            </a:r>
            <a:r>
              <a:rPr lang="en-US" altLang="zh-CN" sz="2400" b="1" i="1" dirty="0">
                <a:solidFill>
                  <a:srgbClr val="FF0000"/>
                </a:solidFill>
                <a:latin typeface="Trebuchet MS" panose="020B0603020202020204" pitchFamily="34" charset="0"/>
              </a:rPr>
              <a:t>f</a:t>
            </a:r>
            <a:r>
              <a:rPr lang="en-US" altLang="zh-CN" sz="2400" b="1" baseline="30000" dirty="0">
                <a:solidFill>
                  <a:srgbClr val="FF0000"/>
                </a:solidFill>
                <a:latin typeface="Trebuchet MS" panose="020B0603020202020204" pitchFamily="34" charset="0"/>
                <a:sym typeface="Symbol" panose="05050102010706020507" pitchFamily="18" charset="2"/>
              </a:rPr>
              <a:t></a:t>
            </a:r>
            <a:r>
              <a:rPr lang="en-US" altLang="zh-CN" sz="2400" b="1" baseline="30000" dirty="0">
                <a:solidFill>
                  <a:srgbClr val="FF0000"/>
                </a:solidFill>
                <a:latin typeface="Trebuchet MS" panose="020B0603020202020204" pitchFamily="34" charset="0"/>
              </a:rPr>
              <a:t>1  </a:t>
            </a:r>
            <a:r>
              <a:rPr lang="en-US" altLang="zh-CN" sz="2400" b="1" i="1" dirty="0">
                <a:solidFill>
                  <a:srgbClr val="FF0000"/>
                </a:solidFill>
                <a:latin typeface="Trebuchet MS" panose="020B0603020202020204" pitchFamily="34" charset="0"/>
              </a:rPr>
              <a:t>is surjective</a:t>
            </a:r>
            <a:r>
              <a:rPr lang="en-US" altLang="zh-CN" sz="2400" b="1" dirty="0">
                <a:latin typeface="Trebuchet MS" panose="020B0603020202020204" pitchFamily="34" charset="0"/>
              </a:rPr>
              <a:t>.</a:t>
            </a:r>
            <a:endParaRPr lang="en-US" altLang="zh-CN" sz="2400" b="1" i="1" dirty="0">
              <a:latin typeface="Trebuchet MS" panose="020B0603020202020204" pitchFamily="34" charset="0"/>
            </a:endParaRPr>
          </a:p>
          <a:p>
            <a:pPr eaLnBrk="1" hangingPunct="1">
              <a:lnSpc>
                <a:spcPct val="100000"/>
              </a:lnSpc>
              <a:spcBef>
                <a:spcPts val="300"/>
              </a:spcBef>
              <a:buFontTx/>
              <a:buNone/>
            </a:pPr>
            <a:r>
              <a:rPr lang="en-US" altLang="zh-CN" sz="2400" b="1" dirty="0">
                <a:solidFill>
                  <a:srgbClr val="0B61FF"/>
                </a:solidFill>
                <a:latin typeface="Trebuchet MS" panose="020B0603020202020204" pitchFamily="34" charset="0"/>
              </a:rPr>
              <a:t>④</a:t>
            </a:r>
            <a:r>
              <a:rPr lang="en-US" altLang="zh-CN" sz="2400" dirty="0">
                <a:latin typeface="Trebuchet MS" panose="020B0603020202020204" pitchFamily="34" charset="0"/>
              </a:rPr>
              <a:t>Now,</a:t>
            </a:r>
            <a:r>
              <a:rPr lang="zh-CN" altLang="en-US" sz="2400" dirty="0">
                <a:latin typeface="Trebuchet MS" panose="020B0603020202020204" pitchFamily="34" charset="0"/>
              </a:rPr>
              <a:t> </a:t>
            </a:r>
            <a:r>
              <a:rPr lang="en-US" altLang="zh-CN" sz="2400" dirty="0">
                <a:latin typeface="Trebuchet MS" panose="020B0603020202020204" pitchFamily="34" charset="0"/>
              </a:rPr>
              <a:t>suppose</a:t>
            </a:r>
            <a:r>
              <a:rPr lang="zh-CN" altLang="en-US" sz="2400" dirty="0">
                <a:latin typeface="Trebuchet MS" panose="020B0603020202020204" pitchFamily="34" charset="0"/>
              </a:rPr>
              <a:t> </a:t>
            </a:r>
            <a:r>
              <a:rPr lang="en-US" altLang="zh-CN" sz="2400" dirty="0">
                <a:latin typeface="Trebuchet MS" panose="020B0603020202020204" pitchFamily="34" charset="0"/>
              </a:rPr>
              <a:t>exist</a:t>
            </a:r>
            <a:r>
              <a:rPr lang="zh-CN" altLang="en-US" sz="2400"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zh-CN" altLang="en-US" sz="2400" b="1" i="1" dirty="0">
                <a:latin typeface="Trebuchet MS" panose="020B0603020202020204" pitchFamily="34" charset="0"/>
              </a:rPr>
              <a:t> </a:t>
            </a:r>
            <a:r>
              <a:rPr lang="en-US" altLang="zh-CN" sz="2400" dirty="0">
                <a:latin typeface="Trebuchet MS" panose="020B0603020202020204" pitchFamily="34" charset="0"/>
              </a:rPr>
              <a:t>such</a:t>
            </a:r>
            <a:r>
              <a:rPr lang="zh-CN" altLang="en-US" sz="2400" dirty="0">
                <a:latin typeface="Trebuchet MS" panose="020B0603020202020204" pitchFamily="34" charset="0"/>
              </a:rPr>
              <a:t> </a:t>
            </a:r>
            <a:r>
              <a:rPr lang="en-US" altLang="zh-CN" sz="2400" dirty="0">
                <a:latin typeface="Trebuchet MS" panose="020B0603020202020204" pitchFamily="34" charset="0"/>
              </a:rPr>
              <a:t>that</a:t>
            </a:r>
            <a:r>
              <a:rPr lang="zh-CN" altLang="en-US" sz="2400"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i="1" dirty="0">
                <a:latin typeface="Trebuchet MS" panose="020B0603020202020204" pitchFamily="34" charset="0"/>
              </a:rPr>
              <a:t> f</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en-US" altLang="zh-CN" sz="2400" dirty="0">
                <a:latin typeface="Trebuchet MS" panose="020B0603020202020204" pitchFamily="34" charset="0"/>
              </a:rPr>
              <a:t>then</a:t>
            </a:r>
            <a:r>
              <a:rPr lang="zh-CN" altLang="en-US" sz="2400" dirty="0">
                <a:latin typeface="Trebuchet MS" panose="020B0603020202020204" pitchFamily="34" charset="0"/>
              </a:rPr>
              <a:t> </a:t>
            </a:r>
            <a:r>
              <a:rPr lang="en-US" altLang="zh-CN" sz="2400" dirty="0">
                <a:latin typeface="Trebuchet MS" panose="020B0603020202020204" pitchFamily="34" charset="0"/>
              </a:rPr>
              <a:t>we</a:t>
            </a:r>
            <a:r>
              <a:rPr lang="zh-CN" altLang="en-US" sz="2400" dirty="0">
                <a:latin typeface="Trebuchet MS" panose="020B0603020202020204" pitchFamily="34" charset="0"/>
              </a:rPr>
              <a:t> </a:t>
            </a:r>
            <a:r>
              <a:rPr lang="en-US" altLang="zh-CN" sz="2400" dirty="0">
                <a:latin typeface="Trebuchet MS" panose="020B0603020202020204" pitchFamily="34" charset="0"/>
              </a:rPr>
              <a:t>have</a:t>
            </a:r>
            <a:endParaRPr lang="zh-CN" altLang="en-US" sz="2400" dirty="0">
              <a:latin typeface="Trebuchet MS" panose="020B0603020202020204" pitchFamily="34" charset="0"/>
            </a:endParaRPr>
          </a:p>
          <a:p>
            <a:pPr>
              <a:lnSpc>
                <a:spcPct val="100000"/>
              </a:lnSpc>
              <a:spcBef>
                <a:spcPts val="300"/>
              </a:spcBef>
              <a:buNone/>
            </a:pPr>
            <a:r>
              <a:rPr lang="en-US" altLang="zh-CN" sz="2400" b="1" dirty="0">
                <a:latin typeface="Trebuchet MS" panose="020B0603020202020204" pitchFamily="34" charset="0"/>
              </a:rPr>
              <a:t>   &lt;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&gt;∈</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∧&lt;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&gt;∈</a:t>
            </a:r>
            <a:r>
              <a:rPr lang="en-US" altLang="zh-CN" sz="2400" b="1" i="1" dirty="0">
                <a:latin typeface="Trebuchet MS" panose="020B0603020202020204" pitchFamily="34" charset="0"/>
              </a:rPr>
              <a:t>f </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&lt;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i="1" dirty="0">
                <a:latin typeface="Trebuchet MS" panose="020B0603020202020204" pitchFamily="34" charset="0"/>
              </a:rPr>
              <a:t>y</a:t>
            </a:r>
            <a:r>
              <a:rPr lang="en-US" altLang="zh-CN" sz="2400" b="1" dirty="0">
                <a:latin typeface="Trebuchet MS" panose="020B0603020202020204" pitchFamily="34" charset="0"/>
              </a:rPr>
              <a:t> &gt;∈</a:t>
            </a:r>
            <a:r>
              <a:rPr lang="en-US" altLang="zh-CN" sz="2400" b="1" i="1" dirty="0">
                <a:latin typeface="Trebuchet MS" panose="020B0603020202020204" pitchFamily="34" charset="0"/>
              </a:rPr>
              <a:t>f </a:t>
            </a:r>
            <a:r>
              <a:rPr lang="en-US" altLang="zh-CN" sz="2400" b="1" dirty="0">
                <a:latin typeface="Trebuchet MS" panose="020B0603020202020204" pitchFamily="34" charset="0"/>
              </a:rPr>
              <a:t>∧&lt;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&gt;∈</a:t>
            </a:r>
            <a:r>
              <a:rPr lang="en-US" altLang="zh-CN" sz="2400" b="1" i="1" dirty="0">
                <a:latin typeface="Trebuchet MS" panose="020B0603020202020204" pitchFamily="34" charset="0"/>
              </a:rPr>
              <a:t>f</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 </a:t>
            </a:r>
          </a:p>
          <a:p>
            <a:pPr indent="42863">
              <a:lnSpc>
                <a:spcPct val="100000"/>
              </a:lnSpc>
              <a:spcBef>
                <a:spcPts val="300"/>
              </a:spcBef>
              <a:buNone/>
            </a:pPr>
            <a:r>
              <a:rPr lang="en-US" altLang="zh-CN" sz="2400" dirty="0">
                <a:latin typeface="Trebuchet MS" panose="020B0603020202020204" pitchFamily="34" charset="0"/>
              </a:rPr>
              <a:t>(</a:t>
            </a:r>
            <a:r>
              <a:rPr lang="en-US" altLang="zh-CN" sz="2400" dirty="0">
                <a:solidFill>
                  <a:schemeClr val="bg2">
                    <a:lumMod val="50000"/>
                  </a:schemeClr>
                </a:solidFill>
                <a:latin typeface="Trebuchet MS" panose="020B0603020202020204" pitchFamily="34" charset="0"/>
              </a:rPr>
              <a:t>Since f is injective </a:t>
            </a:r>
            <a:r>
              <a:rPr lang="en-US" altLang="zh-CN" sz="2400" i="1" dirty="0">
                <a:solidFill>
                  <a:schemeClr val="bg2">
                    <a:lumMod val="50000"/>
                  </a:schemeClr>
                </a:solidFill>
                <a:latin typeface="Trebuchet MS" panose="020B0603020202020204" pitchFamily="34" charset="0"/>
              </a:rPr>
              <a:t>function</a:t>
            </a:r>
            <a:r>
              <a:rPr lang="en-US" altLang="zh-CN" sz="2400" dirty="0">
                <a:latin typeface="Trebuchet MS" panose="020B0603020202020204" pitchFamily="34" charset="0"/>
              </a:rPr>
              <a:t>),then proves that </a:t>
            </a:r>
            <a:r>
              <a:rPr lang="en-US" altLang="zh-CN" sz="2400" b="1" i="1" dirty="0">
                <a:solidFill>
                  <a:srgbClr val="FF0000"/>
                </a:solidFill>
                <a:latin typeface="Trebuchet MS" panose="020B0603020202020204" pitchFamily="34" charset="0"/>
              </a:rPr>
              <a:t>f</a:t>
            </a:r>
            <a:r>
              <a:rPr lang="en-US" altLang="zh-CN" sz="2400" b="1" baseline="30000" dirty="0">
                <a:solidFill>
                  <a:srgbClr val="FF0000"/>
                </a:solidFill>
                <a:latin typeface="Trebuchet MS" panose="020B0603020202020204" pitchFamily="34" charset="0"/>
                <a:sym typeface="Symbol" panose="05050102010706020507" pitchFamily="18" charset="2"/>
              </a:rPr>
              <a:t></a:t>
            </a:r>
            <a:r>
              <a:rPr lang="en-US" altLang="zh-CN" sz="2400" b="1" baseline="30000" dirty="0">
                <a:solidFill>
                  <a:srgbClr val="FF0000"/>
                </a:solidFill>
                <a:latin typeface="Trebuchet MS" panose="020B0603020202020204" pitchFamily="34" charset="0"/>
              </a:rPr>
              <a:t>1</a:t>
            </a:r>
            <a:r>
              <a:rPr lang="zh-CN" altLang="en-US" sz="2400" b="1" baseline="30000" dirty="0">
                <a:solidFill>
                  <a:srgbClr val="FF0000"/>
                </a:solidFill>
                <a:latin typeface="Trebuchet MS" panose="020B0603020202020204" pitchFamily="34" charset="0"/>
              </a:rPr>
              <a:t> </a:t>
            </a:r>
            <a:r>
              <a:rPr lang="en-US" altLang="zh-CN" sz="2400" b="1" dirty="0">
                <a:solidFill>
                  <a:srgbClr val="FF0000"/>
                </a:solidFill>
                <a:latin typeface="Trebuchet MS" panose="020B0603020202020204" pitchFamily="34" charset="0"/>
              </a:rPr>
              <a:t>is </a:t>
            </a:r>
            <a:r>
              <a:rPr lang="en-US" altLang="zh-CN" sz="2400" b="1" i="1" dirty="0">
                <a:solidFill>
                  <a:srgbClr val="FF0000"/>
                </a:solidFill>
                <a:latin typeface="Trebuchet MS" panose="020B0603020202020204" pitchFamily="34" charset="0"/>
              </a:rPr>
              <a:t>injective</a:t>
            </a:r>
            <a:r>
              <a:rPr lang="en-US" altLang="zh-CN" sz="2400" b="1" dirty="0">
                <a:solidFill>
                  <a:srgbClr val="FF0000"/>
                </a:solidFill>
                <a:latin typeface="Trebuchet MS" panose="020B0603020202020204" pitchFamily="34" charset="0"/>
              </a:rPr>
              <a:t> </a:t>
            </a:r>
            <a:r>
              <a:rPr lang="en-US" altLang="zh-CN" sz="2400" b="1" dirty="0">
                <a:latin typeface="Trebuchet MS" panose="020B0603020202020204" pitchFamily="34" charset="0"/>
              </a:rPr>
              <a:t>.</a:t>
            </a:r>
          </a:p>
          <a:p>
            <a:pPr>
              <a:lnSpc>
                <a:spcPct val="100000"/>
              </a:lnSpc>
              <a:spcBef>
                <a:spcPts val="300"/>
              </a:spcBef>
              <a:buNone/>
            </a:pPr>
            <a:r>
              <a:rPr lang="en-US" altLang="zh-CN" sz="2400" b="1" dirty="0">
                <a:solidFill>
                  <a:srgbClr val="0B61FF"/>
                </a:solidFill>
                <a:latin typeface="Trebuchet MS" panose="020B0603020202020204" pitchFamily="34" charset="0"/>
              </a:rPr>
              <a:t>Conclusion: </a:t>
            </a:r>
            <a:r>
              <a:rPr lang="en-US" altLang="zh-CN" sz="2400" dirty="0">
                <a:latin typeface="Trebuchet MS" panose="020B0603020202020204" pitchFamily="34" charset="0"/>
              </a:rPr>
              <a:t>Since </a:t>
            </a:r>
            <a:r>
              <a:rPr lang="en-US" altLang="zh-CN" sz="2400" b="1" i="1" dirty="0">
                <a:latin typeface="Trebuchet MS" panose="020B0603020202020204" pitchFamily="34" charset="0"/>
              </a:rPr>
              <a:t>f</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 </a:t>
            </a:r>
            <a:r>
              <a:rPr lang="en-US" altLang="zh-CN" sz="2400" dirty="0">
                <a:latin typeface="Trebuchet MS" panose="020B0603020202020204" pitchFamily="34" charset="0"/>
              </a:rPr>
              <a:t>is both </a:t>
            </a:r>
            <a:r>
              <a:rPr lang="en-US" altLang="zh-CN" sz="2400" b="1" dirty="0">
                <a:latin typeface="Trebuchet MS" panose="020B0603020202020204" pitchFamily="34" charset="0"/>
              </a:rPr>
              <a:t>injective</a:t>
            </a:r>
            <a:r>
              <a:rPr lang="en-US" altLang="zh-CN" sz="2400" dirty="0">
                <a:latin typeface="Trebuchet MS" panose="020B0603020202020204" pitchFamily="34" charset="0"/>
              </a:rPr>
              <a:t> and </a:t>
            </a:r>
            <a:r>
              <a:rPr lang="en-US" altLang="zh-CN" sz="2400" b="1" dirty="0">
                <a:latin typeface="Trebuchet MS" panose="020B0603020202020204" pitchFamily="34" charset="0"/>
              </a:rPr>
              <a:t>surjective</a:t>
            </a:r>
            <a:r>
              <a:rPr lang="en-US" altLang="zh-CN" sz="2400" dirty="0">
                <a:latin typeface="Trebuchet MS" panose="020B0603020202020204" pitchFamily="34" charset="0"/>
              </a:rPr>
              <a:t>,</a:t>
            </a:r>
            <a:r>
              <a:rPr lang="en-US" altLang="zh-CN" sz="2400" b="1" i="1" dirty="0">
                <a:latin typeface="Trebuchet MS" panose="020B0603020202020204" pitchFamily="34" charset="0"/>
              </a:rPr>
              <a:t> </a:t>
            </a:r>
            <a:r>
              <a:rPr lang="en-US" altLang="zh-CN" sz="2400" b="1" i="1" dirty="0">
                <a:solidFill>
                  <a:srgbClr val="FF0000"/>
                </a:solidFill>
                <a:latin typeface="Trebuchet MS" panose="020B0603020202020204" pitchFamily="34" charset="0"/>
              </a:rPr>
              <a:t>f</a:t>
            </a:r>
            <a:r>
              <a:rPr lang="en-US" altLang="zh-CN" sz="2400" b="1" baseline="30000" dirty="0">
                <a:solidFill>
                  <a:srgbClr val="FF0000"/>
                </a:solidFill>
                <a:latin typeface="Trebuchet MS" panose="020B0603020202020204" pitchFamily="34" charset="0"/>
                <a:sym typeface="Symbol" panose="05050102010706020507" pitchFamily="18" charset="2"/>
              </a:rPr>
              <a:t></a:t>
            </a:r>
            <a:r>
              <a:rPr lang="en-US" altLang="zh-CN" sz="2400" b="1" baseline="30000" dirty="0">
                <a:solidFill>
                  <a:srgbClr val="FF0000"/>
                </a:solidFill>
                <a:latin typeface="Trebuchet MS" panose="020B0603020202020204" pitchFamily="34" charset="0"/>
              </a:rPr>
              <a:t>1 </a:t>
            </a:r>
            <a:r>
              <a:rPr lang="en-US" altLang="zh-CN" sz="2400" b="1" dirty="0">
                <a:solidFill>
                  <a:srgbClr val="FF0000"/>
                </a:solidFill>
                <a:latin typeface="Trebuchet MS" panose="020B0603020202020204" pitchFamily="34" charset="0"/>
              </a:rPr>
              <a:t>:B→A is a </a:t>
            </a:r>
            <a:r>
              <a:rPr lang="en-US" altLang="zh-CN" sz="2400" b="1" i="1" dirty="0">
                <a:solidFill>
                  <a:srgbClr val="FF0000"/>
                </a:solidFill>
                <a:latin typeface="Trebuchet MS" panose="020B0603020202020204" pitchFamily="34" charset="0"/>
              </a:rPr>
              <a:t>bijective function.</a:t>
            </a:r>
          </a:p>
          <a:p>
            <a:pPr eaLnBrk="1" hangingPunct="1">
              <a:lnSpc>
                <a:spcPct val="110000"/>
              </a:lnSpc>
              <a:spcBef>
                <a:spcPts val="300"/>
              </a:spcBef>
              <a:buFontTx/>
              <a:buNone/>
            </a:pPr>
            <a:r>
              <a:rPr lang="en-US" altLang="zh-CN" sz="2400" b="1" dirty="0">
                <a:latin typeface="Trebuchet MS" panose="020B0603020202020204" pitchFamily="34" charset="0"/>
              </a:rPr>
              <a:t> </a:t>
            </a:r>
            <a:endParaRPr lang="en-US" altLang="zh-CN" sz="2400" dirty="0">
              <a:latin typeface="Trebuchet MS" panose="020B0603020202020204" pitchFamily="34" charset="0"/>
            </a:endParaRPr>
          </a:p>
          <a:p>
            <a:pPr>
              <a:buFont typeface="Arial" panose="020B0604020202020204" pitchFamily="34" charset="0"/>
              <a:buChar char="•"/>
            </a:pPr>
            <a:endParaRPr lang="en-US" altLang="zh-CN" sz="2400" dirty="0">
              <a:latin typeface="Trebuchet MS" panose="020B0603020202020204" pitchFamily="34" charset="0"/>
            </a:endParaRPr>
          </a:p>
          <a:p>
            <a:pPr eaLnBrk="1" hangingPunct="1">
              <a:lnSpc>
                <a:spcPct val="110000"/>
              </a:lnSpc>
              <a:spcBef>
                <a:spcPts val="300"/>
              </a:spcBef>
              <a:buFontTx/>
              <a:buNone/>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325163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5" end="5"/>
                                            </p:txEl>
                                          </p:spTgt>
                                        </p:tgtEl>
                                        <p:attrNameLst>
                                          <p:attrName>style.visibility</p:attrName>
                                        </p:attrNameLst>
                                      </p:cBhvr>
                                      <p:to>
                                        <p:strVal val="visible"/>
                                      </p:to>
                                    </p:set>
                                    <p:animEffect transition="in" filter="fade">
                                      <p:cBhvr>
                                        <p:cTn id="28" dur="1000"/>
                                        <p:tgtEl>
                                          <p:spTgt spid="8">
                                            <p:txEl>
                                              <p:pRg st="5" end="5"/>
                                            </p:txEl>
                                          </p:spTgt>
                                        </p:tgtEl>
                                      </p:cBhvr>
                                    </p:animEffect>
                                    <p:anim calcmode="lin" valueType="num">
                                      <p:cBhvr>
                                        <p:cTn id="2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animEffect transition="in" filter="fade">
                                      <p:cBhvr>
                                        <p:cTn id="33" dur="1000"/>
                                        <p:tgtEl>
                                          <p:spTgt spid="8">
                                            <p:txEl>
                                              <p:pRg st="6" end="6"/>
                                            </p:txEl>
                                          </p:spTgt>
                                        </p:tgtEl>
                                      </p:cBhvr>
                                    </p:animEffect>
                                    <p:anim calcmode="lin" valueType="num">
                                      <p:cBhvr>
                                        <p:cTn id="34"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8">
                                            <p:txEl>
                                              <p:pRg st="7" end="7"/>
                                            </p:txEl>
                                          </p:spTgt>
                                        </p:tgtEl>
                                        <p:attrNameLst>
                                          <p:attrName>style.visibility</p:attrName>
                                        </p:attrNameLst>
                                      </p:cBhvr>
                                      <p:to>
                                        <p:strVal val="visible"/>
                                      </p:to>
                                    </p:set>
                                    <p:animEffect transition="in" filter="fade">
                                      <p:cBhvr>
                                        <p:cTn id="38" dur="1000"/>
                                        <p:tgtEl>
                                          <p:spTgt spid="8">
                                            <p:txEl>
                                              <p:pRg st="7" end="7"/>
                                            </p:txEl>
                                          </p:spTgt>
                                        </p:tgtEl>
                                      </p:cBhvr>
                                    </p:animEffect>
                                    <p:anim calcmode="lin" valueType="num">
                                      <p:cBhvr>
                                        <p:cTn id="39"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8">
                                            <p:txEl>
                                              <p:pRg st="8" end="8"/>
                                            </p:txEl>
                                          </p:spTgt>
                                        </p:tgtEl>
                                        <p:attrNameLst>
                                          <p:attrName>style.visibility</p:attrName>
                                        </p:attrNameLst>
                                      </p:cBhvr>
                                      <p:to>
                                        <p:strVal val="visible"/>
                                      </p:to>
                                    </p:set>
                                    <p:animEffect transition="in" filter="fade">
                                      <p:cBhvr>
                                        <p:cTn id="45" dur="1000"/>
                                        <p:tgtEl>
                                          <p:spTgt spid="8">
                                            <p:txEl>
                                              <p:pRg st="8" end="8"/>
                                            </p:txEl>
                                          </p:spTgt>
                                        </p:tgtEl>
                                      </p:cBhvr>
                                    </p:animEffect>
                                    <p:anim calcmode="lin" valueType="num">
                                      <p:cBhvr>
                                        <p:cTn id="46"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5.2.2 Inverse Functions</a:t>
            </a:r>
            <a:endParaRPr lang="en-US" altLang="zh-CN" sz="2000" b="1" dirty="0">
              <a:latin typeface="Trebuchet MS" panose="020B0603020202020204" pitchFamily="34" charset="0"/>
              <a:ea typeface="Cambria Math" panose="02040503050406030204" pitchFamily="18" charset="0"/>
              <a:cs typeface="Times New Roman" panose="02020603050405020304" pitchFamily="18" charset="0"/>
            </a:endParaRPr>
          </a:p>
          <a:p>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Find the inverse of a composite function</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992283"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pPr>
            <a:endParaRPr lang="en-US" altLang="zh-CN" sz="2800" b="1" dirty="0"/>
          </a:p>
        </p:txBody>
      </p:sp>
      <mc:AlternateContent xmlns:mc="http://schemas.openxmlformats.org/markup-compatibility/2006">
        <mc:Choice xmlns:a14="http://schemas.microsoft.com/office/drawing/2010/main" Requires="a14">
          <p:sp>
            <p:nvSpPr>
              <p:cNvPr id="10" name="Object 4">
                <a:extLst>
                  <a:ext uri="{FF2B5EF4-FFF2-40B4-BE49-F238E27FC236}">
                    <a16:creationId xmlns:a16="http://schemas.microsoft.com/office/drawing/2014/main" id="{90A3D868-CD31-4E89-AD4F-46CF710F4324}"/>
                  </a:ext>
                </a:extLst>
              </p:cNvPr>
              <p:cNvSpPr txBox="1"/>
              <p:nvPr/>
            </p:nvSpPr>
            <p:spPr bwMode="auto">
              <a:xfrm>
                <a:off x="6602283" y="728283"/>
                <a:ext cx="5143403" cy="1111404"/>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sz="2400" b="1" i="1" smtClean="0">
                          <a:solidFill>
                            <a:srgbClr val="000000"/>
                          </a:solidFill>
                          <a:latin typeface="Cambria Math" panose="02040503050406030204" pitchFamily="18" charset="0"/>
                        </a:rPr>
                        <m:t>𝒇</m:t>
                      </m:r>
                      <m:d>
                        <m:dPr>
                          <m:ctrlPr>
                            <a:rPr lang="zh-CN" altLang="en-US" sz="2400" b="1" i="1" smtClean="0">
                              <a:solidFill>
                                <a:srgbClr val="000000"/>
                              </a:solidFill>
                              <a:latin typeface="Cambria Math" panose="02040503050406030204" pitchFamily="18" charset="0"/>
                            </a:rPr>
                          </m:ctrlPr>
                        </m:dPr>
                        <m:e>
                          <m:r>
                            <a:rPr lang="zh-CN" altLang="en-US" sz="2400" b="1" i="1" smtClean="0">
                              <a:solidFill>
                                <a:srgbClr val="000000"/>
                              </a:solidFill>
                              <a:latin typeface="Cambria Math" panose="02040503050406030204" pitchFamily="18" charset="0"/>
                            </a:rPr>
                            <m:t>𝒙</m:t>
                          </m:r>
                        </m:e>
                      </m:d>
                      <m:r>
                        <a:rPr lang="zh-CN" altLang="en-US" sz="2400" b="1" i="1" smtClean="0">
                          <a:solidFill>
                            <a:srgbClr val="000000"/>
                          </a:solidFill>
                          <a:latin typeface="Cambria Math" panose="02040503050406030204" pitchFamily="18" charset="0"/>
                        </a:rPr>
                        <m:t>=</m:t>
                      </m:r>
                      <m:d>
                        <m:dPr>
                          <m:begChr m:val="{"/>
                          <m:endChr m:val=""/>
                          <m:ctrlPr>
                            <a:rPr lang="zh-CN" altLang="en-US" sz="2400" b="1" i="1">
                              <a:solidFill>
                                <a:srgbClr val="000000"/>
                              </a:solidFill>
                              <a:latin typeface="Cambria Math" panose="02040503050406030204" pitchFamily="18" charset="0"/>
                            </a:rPr>
                          </m:ctrlPr>
                        </m:dPr>
                        <m:e>
                          <m:m>
                            <m:mPr>
                              <m:plcHide m:val="on"/>
                              <m:mcs>
                                <m:mc>
                                  <m:mcPr>
                                    <m:count m:val="1"/>
                                    <m:mcJc m:val="center"/>
                                  </m:mcPr>
                                </m:mc>
                              </m:mcs>
                              <m:ctrlPr>
                                <a:rPr lang="zh-CN" altLang="en-US" sz="2400" b="1" i="1">
                                  <a:solidFill>
                                    <a:srgbClr val="000000"/>
                                  </a:solidFill>
                                  <a:latin typeface="Cambria Math" panose="02040503050406030204" pitchFamily="18" charset="0"/>
                                </a:rPr>
                              </m:ctrlPr>
                            </m:mPr>
                            <m:mr>
                              <m:e>
                                <m:sSup>
                                  <m:sSupPr>
                                    <m:ctrlPr>
                                      <a:rPr lang="zh-CN" altLang="en-US" sz="2400" b="1" i="1">
                                        <a:solidFill>
                                          <a:srgbClr val="000000"/>
                                        </a:solidFill>
                                        <a:latin typeface="Cambria Math" panose="02040503050406030204" pitchFamily="18" charset="0"/>
                                      </a:rPr>
                                    </m:ctrlPr>
                                  </m:sSupPr>
                                  <m:e>
                                    <m:r>
                                      <a:rPr lang="zh-CN" altLang="en-US" sz="2400" b="1" i="1">
                                        <a:solidFill>
                                          <a:srgbClr val="000000"/>
                                        </a:solidFill>
                                        <a:latin typeface="Cambria Math" panose="02040503050406030204" pitchFamily="18" charset="0"/>
                                      </a:rPr>
                                      <m:t>𝒙</m:t>
                                    </m:r>
                                  </m:e>
                                  <m:sup>
                                    <m:r>
                                      <a:rPr lang="zh-CN" altLang="en-US" sz="2400" b="1" i="1">
                                        <a:solidFill>
                                          <a:srgbClr val="000000"/>
                                        </a:solidFill>
                                        <a:latin typeface="Cambria Math" panose="02040503050406030204" pitchFamily="18" charset="0"/>
                                      </a:rPr>
                                      <m:t>𝟐</m:t>
                                    </m:r>
                                  </m:sup>
                                </m:sSup>
                                <m:r>
                                  <a:rPr lang="zh-CN" altLang="en-US" sz="2400" b="1" i="1">
                                    <a:solidFill>
                                      <a:srgbClr val="000000"/>
                                    </a:solidFill>
                                    <a:latin typeface="Cambria Math" panose="02040503050406030204" pitchFamily="18" charset="0"/>
                                  </a:rPr>
                                  <m:t>  </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𝟑</m:t>
                                </m:r>
                              </m:e>
                            </m:mr>
                            <m:mr>
                              <m:e>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𝟐</m:t>
                                </m:r>
                                <m:r>
                                  <a:rPr lang="zh-CN" altLang="en-US" sz="2400" b="1" i="1">
                                    <a:solidFill>
                                      <a:srgbClr val="000000"/>
                                    </a:solidFill>
                                    <a:latin typeface="Cambria Math" panose="02040503050406030204" pitchFamily="18" charset="0"/>
                                  </a:rPr>
                                  <m:t>  </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&lt;</m:t>
                                </m:r>
                                <m:r>
                                  <a:rPr lang="zh-CN" altLang="en-US" sz="2400" b="1" i="1">
                                    <a:solidFill>
                                      <a:srgbClr val="000000"/>
                                    </a:solidFill>
                                    <a:latin typeface="Cambria Math" panose="02040503050406030204" pitchFamily="18" charset="0"/>
                                  </a:rPr>
                                  <m:t>𝟑</m:t>
                                </m:r>
                              </m:e>
                            </m:mr>
                          </m:m>
                        </m:e>
                      </m:d>
                      <m:r>
                        <a:rPr lang="en-US" altLang="zh-CN" sz="2400" b="1" i="1" smtClean="0">
                          <a:solidFill>
                            <a:srgbClr val="000000"/>
                          </a:solidFill>
                          <a:latin typeface="Cambria Math" panose="02040503050406030204" pitchFamily="18" charset="0"/>
                        </a:rPr>
                        <m:t> , </m:t>
                      </m:r>
                      <m:r>
                        <a:rPr lang="zh-CN" altLang="en-US" sz="2400" b="1" i="1">
                          <a:solidFill>
                            <a:srgbClr val="000000"/>
                          </a:solidFill>
                          <a:latin typeface="Cambria Math" panose="02040503050406030204" pitchFamily="18" charset="0"/>
                        </a:rPr>
                        <m:t>𝒈</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𝟐</m:t>
                      </m:r>
                    </m:oMath>
                  </m:oMathPara>
                </a14:m>
                <a:endParaRPr lang="zh-CN" altLang="en-US" sz="2400" b="1" dirty="0">
                  <a:latin typeface="Times New Roman" panose="02020603050405020304" pitchFamily="18" charset="0"/>
                  <a:cs typeface="Times New Roman" panose="02020603050405020304" pitchFamily="18" charset="0"/>
                </a:endParaRPr>
              </a:p>
            </p:txBody>
          </p:sp>
        </mc:Choice>
        <mc:Fallback>
          <p:sp>
            <p:nvSpPr>
              <p:cNvPr id="10" name="Object 4">
                <a:extLst>
                  <a:ext uri="{FF2B5EF4-FFF2-40B4-BE49-F238E27FC236}">
                    <a16:creationId xmlns:a16="http://schemas.microsoft.com/office/drawing/2014/main" id="{90A3D868-CD31-4E89-AD4F-46CF710F4324}"/>
                  </a:ext>
                </a:extLst>
              </p:cNvPr>
              <p:cNvSpPr txBox="1">
                <a:spLocks noRot="1" noChangeAspect="1" noMove="1" noResize="1" noEditPoints="1" noAdjustHandles="1" noChangeArrowheads="1" noChangeShapeType="1" noTextEdit="1"/>
              </p:cNvSpPr>
              <p:nvPr/>
            </p:nvSpPr>
            <p:spPr bwMode="auto">
              <a:xfrm>
                <a:off x="6602283" y="728283"/>
                <a:ext cx="5143403" cy="1111404"/>
              </a:xfrm>
              <a:prstGeom prst="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Rectangle 8">
                <a:extLst>
                  <a:ext uri="{FF2B5EF4-FFF2-40B4-BE49-F238E27FC236}">
                    <a16:creationId xmlns:a16="http://schemas.microsoft.com/office/drawing/2014/main" id="{89534D7B-5287-4F9F-842F-E82283789FBF}"/>
                  </a:ext>
                </a:extLst>
              </p:cNvPr>
              <p:cNvSpPr>
                <a:spLocks noChangeArrowheads="1"/>
              </p:cNvSpPr>
              <p:nvPr/>
            </p:nvSpPr>
            <p:spPr bwMode="auto">
              <a:xfrm>
                <a:off x="1191338" y="1033078"/>
                <a:ext cx="10554347" cy="4812551"/>
              </a:xfrm>
              <a:prstGeom prst="rect">
                <a:avLst/>
              </a:prstGeom>
              <a:noFill/>
              <a:ln>
                <a:noFill/>
              </a:ln>
              <a:extLst>
                <a:ext uri="{909E8E84-426E-40DD-AFC4-6F175D3DCCD1}">
                  <a14:hiddenFill>
                    <a:solidFill>
                      <a:srgbClr val="FFFFFF"/>
                    </a:solidFill>
                  </a14:hiddenFill>
                </a:ext>
                <a:ext uri="{91240B29-F687-4F45-9708-019B960494DF}">
                  <a14:hiddenLine w="6350">
                    <a:solidFill>
                      <a:srgbClr val="000000"/>
                    </a:solidFill>
                    <a:miter lim="800000"/>
                    <a:headEnd/>
                    <a:tailEnd/>
                  </a14:hiddenLine>
                </a:ext>
              </a:extLst>
            </p:spPr>
            <p:txBody>
              <a:bodyPr>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Let</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R→R,  </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R→R,</a:t>
                </a:r>
              </a:p>
              <a:p>
                <a:pPr marL="533400" indent="-261938" eaLnBrk="1" hangingPunct="1">
                  <a:lnSpc>
                    <a:spcPct val="120000"/>
                  </a:lnSpc>
                  <a:spcBef>
                    <a:spcPts val="600"/>
                  </a:spcBef>
                  <a:buClr>
                    <a:srgbClr val="0B61FF"/>
                  </a:buClr>
                  <a:buSzPct val="120000"/>
                  <a:buFont typeface="Arial" panose="020B0604020202020204" pitchFamily="34" charset="0"/>
                  <a:buChar char="•"/>
                  <a:tabLst>
                    <a:tab pos="719138" algn="l"/>
                  </a:tabLst>
                </a:pPr>
                <a:r>
                  <a:rPr lang="en-US" altLang="zh-CN" sz="2400" dirty="0">
                    <a:latin typeface="Trebuchet MS" panose="020B0603020202020204" pitchFamily="34" charset="0"/>
                  </a:rPr>
                  <a:t>Find </a:t>
                </a:r>
                <a:r>
                  <a:rPr lang="zh-CN" altLang="en-US" sz="2400" i="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sym typeface="Symbol" panose="05050102010706020507" pitchFamily="18" charset="2"/>
                  </a:rPr>
                  <a:t> </a:t>
                </a:r>
                <a:r>
                  <a:rPr kumimoji="0"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g</a:t>
                </a:r>
                <a:r>
                  <a:rPr lang="en-US" altLang="zh-CN" sz="2400" dirty="0">
                    <a:latin typeface="Trebuchet MS" panose="020B0603020202020204" pitchFamily="34" charset="0"/>
                  </a:rPr>
                  <a:t>, </a:t>
                </a:r>
                <a:r>
                  <a:rPr lang="en-US" altLang="zh-CN" sz="2400" b="1" i="1" dirty="0">
                    <a:latin typeface="Trebuchet MS" panose="020B0603020202020204" pitchFamily="34" charset="0"/>
                  </a:rPr>
                  <a:t>g</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f</a:t>
                </a:r>
                <a:r>
                  <a:rPr lang="en-US" altLang="zh-CN" sz="2400" dirty="0">
                    <a:latin typeface="Trebuchet MS" panose="020B0603020202020204" pitchFamily="34" charset="0"/>
                  </a:rPr>
                  <a:t>.</a:t>
                </a:r>
              </a:p>
              <a:p>
                <a:pPr marL="533400" indent="-261938" eaLnBrk="1" hangingPunct="1">
                  <a:lnSpc>
                    <a:spcPct val="120000"/>
                  </a:lnSpc>
                  <a:spcBef>
                    <a:spcPts val="300"/>
                  </a:spcBef>
                  <a:buClr>
                    <a:srgbClr val="0B61FF"/>
                  </a:buClr>
                  <a:buSzPct val="120000"/>
                  <a:buFont typeface="Arial" panose="020B0604020202020204" pitchFamily="34" charset="0"/>
                  <a:buChar char="•"/>
                  <a:tabLst>
                    <a:tab pos="719138" algn="l"/>
                  </a:tabLst>
                </a:pPr>
                <a:r>
                  <a:rPr lang="en-US" altLang="zh-CN" sz="2400" dirty="0">
                    <a:latin typeface="Trebuchet MS" panose="020B0603020202020204" pitchFamily="34" charset="0"/>
                  </a:rPr>
                  <a:t>If </a:t>
                </a:r>
                <a:r>
                  <a:rPr lang="zh-CN" altLang="en-US" sz="2400" dirty="0">
                    <a:latin typeface="Trebuchet MS" panose="020B0603020202020204" pitchFamily="34" charset="0"/>
                  </a:rPr>
                  <a:t> </a:t>
                </a:r>
                <a:r>
                  <a:rPr lang="en-US" altLang="zh-CN" sz="2400" i="1" dirty="0">
                    <a:latin typeface="Trebuchet MS" panose="020B0603020202020204" pitchFamily="34" charset="0"/>
                  </a:rPr>
                  <a:t>f </a:t>
                </a:r>
                <a:r>
                  <a:rPr lang="zh-CN" altLang="en-US" sz="2400" i="1" dirty="0">
                    <a:latin typeface="Trebuchet MS" panose="020B0603020202020204" pitchFamily="34" charset="0"/>
                  </a:rPr>
                  <a:t> </a:t>
                </a:r>
                <a:r>
                  <a:rPr lang="en-US" altLang="zh-CN" sz="2400" dirty="0">
                    <a:latin typeface="Trebuchet MS" panose="020B0603020202020204" pitchFamily="34" charset="0"/>
                  </a:rPr>
                  <a:t>and</a:t>
                </a:r>
                <a:r>
                  <a:rPr lang="zh-CN" altLang="en-US" sz="2400" dirty="0">
                    <a:latin typeface="Trebuchet MS" panose="020B0603020202020204" pitchFamily="34" charset="0"/>
                  </a:rPr>
                  <a:t> </a:t>
                </a:r>
                <a:r>
                  <a:rPr lang="en-US" altLang="zh-CN" sz="2400" i="1" dirty="0">
                    <a:latin typeface="Trebuchet MS" panose="020B0603020202020204" pitchFamily="34" charset="0"/>
                  </a:rPr>
                  <a:t>g </a:t>
                </a:r>
                <a:r>
                  <a:rPr lang="en-US" altLang="zh-CN" sz="2400" dirty="0">
                    <a:latin typeface="Trebuchet MS" panose="020B0603020202020204" pitchFamily="34" charset="0"/>
                  </a:rPr>
                  <a:t>have inverse functions, find their inverses.</a:t>
                </a:r>
              </a:p>
              <a:p>
                <a:pPr marL="271462">
                  <a:lnSpc>
                    <a:spcPct val="120000"/>
                  </a:lnSpc>
                  <a:spcBef>
                    <a:spcPts val="300"/>
                  </a:spcBef>
                  <a:buClr>
                    <a:srgbClr val="0B61FF"/>
                  </a:buClr>
                  <a:buSzPct val="120000"/>
                  <a:buNone/>
                  <a:tabLst>
                    <a:tab pos="719138" algn="l"/>
                  </a:tabLst>
                </a:pPr>
                <a:r>
                  <a:rPr kumimoji="0" lang="en-US" altLang="zh-CN" sz="2400" b="1" dirty="0">
                    <a:solidFill>
                      <a:srgbClr val="0B61FF"/>
                    </a:solidFill>
                    <a:latin typeface="Trebuchet MS" panose="020B0603020202020204" pitchFamily="34" charset="0"/>
                  </a:rPr>
                  <a:t>Solve</a:t>
                </a:r>
                <a:r>
                  <a:rPr lang="en-US" altLang="zh-CN" sz="2400" dirty="0">
                    <a:solidFill>
                      <a:srgbClr val="0B61FF"/>
                    </a:solidFill>
                  </a:rPr>
                  <a:t> </a:t>
                </a:r>
                <a:r>
                  <a:rPr kumimoji="0" lang="en-US" altLang="zh-CN" sz="2400" b="1" dirty="0">
                    <a:solidFill>
                      <a:srgbClr val="0B61FF"/>
                    </a:solidFill>
                    <a:latin typeface="Trebuchet MS" panose="020B0603020202020204" pitchFamily="34" charset="0"/>
                  </a:rPr>
                  <a:t>:</a:t>
                </a:r>
                <a:endParaRPr lang="en-US" altLang="zh-CN" sz="2400" dirty="0">
                  <a:latin typeface="Trebuchet MS" panose="020B0603020202020204" pitchFamily="34" charset="0"/>
                </a:endParaRPr>
              </a:p>
              <a:p>
                <a:pPr>
                  <a:spcBef>
                    <a:spcPts val="300"/>
                  </a:spcBef>
                  <a:buClr>
                    <a:srgbClr val="0B61FF"/>
                  </a:buClr>
                  <a:buSzPct val="80000"/>
                  <a:buNone/>
                </a:pPr>
                <a14:m>
                  <m:oMathPara xmlns:m="http://schemas.openxmlformats.org/officeDocument/2006/math">
                    <m:oMathParaPr>
                      <m:jc m:val="centerGroup"/>
                    </m:oMathParaPr>
                    <m:oMath xmlns:m="http://schemas.openxmlformats.org/officeDocument/2006/math">
                      <m:r>
                        <a:rPr lang="zh-CN" altLang="en-US" sz="2400" b="1" i="1">
                          <a:latin typeface="Cambria Math" panose="02040503050406030204" pitchFamily="18" charset="0"/>
                        </a:rPr>
                        <m:t>𝒈</m:t>
                      </m:r>
                      <m:r>
                        <a:rPr lang="zh-CN" altLang="en-US" sz="2400" b="1" i="1">
                          <a:latin typeface="Cambria Math" panose="02040503050406030204" pitchFamily="18" charset="0"/>
                        </a:rPr>
                        <m:t>∘</m:t>
                      </m:r>
                      <m:r>
                        <a:rPr lang="zh-CN" altLang="en-US" sz="2400" b="1" i="1">
                          <a:latin typeface="Cambria Math" panose="02040503050406030204" pitchFamily="18" charset="0"/>
                        </a:rPr>
                        <m:t>𝒇</m:t>
                      </m:r>
                      <m:r>
                        <a:rPr lang="en-US" altLang="zh-CN" sz="2400" b="1">
                          <a:latin typeface="Cambria Math" panose="02040503050406030204" pitchFamily="18" charset="0"/>
                        </a:rPr>
                        <m:t>: </m:t>
                      </m:r>
                      <m:r>
                        <a:rPr lang="zh-CN" altLang="en-US" sz="2400" b="1">
                          <a:latin typeface="Cambria Math" panose="02040503050406030204" pitchFamily="18" charset="0"/>
                        </a:rPr>
                        <m:t>𝐑</m:t>
                      </m:r>
                      <m:r>
                        <a:rPr lang="zh-CN" altLang="en-US" sz="2400" b="1" i="1">
                          <a:latin typeface="Cambria Math" panose="02040503050406030204" pitchFamily="18" charset="0"/>
                        </a:rPr>
                        <m:t>→</m:t>
                      </m:r>
                      <m:r>
                        <a:rPr lang="zh-CN" altLang="en-US" sz="2400" b="1">
                          <a:latin typeface="Cambria Math" panose="02040503050406030204" pitchFamily="18" charset="0"/>
                        </a:rPr>
                        <m:t>𝐑</m:t>
                      </m:r>
                      <m:r>
                        <a:rPr lang="zh-CN" altLang="en-US" sz="2400" b="1" i="1">
                          <a:latin typeface="Cambria Math" panose="02040503050406030204" pitchFamily="18" charset="0"/>
                        </a:rPr>
                        <m:t>         </m:t>
                      </m:r>
                      <m:r>
                        <a:rPr lang="zh-CN" altLang="en-US" sz="2400" b="1" i="1">
                          <a:latin typeface="Cambria Math" panose="02040503050406030204" pitchFamily="18" charset="0"/>
                        </a:rPr>
                        <m:t>𝒇</m:t>
                      </m:r>
                      <m:r>
                        <a:rPr lang="zh-CN" altLang="en-US" sz="2400" b="1" i="1">
                          <a:latin typeface="Cambria Math" panose="02040503050406030204" pitchFamily="18" charset="0"/>
                        </a:rPr>
                        <m:t>∘</m:t>
                      </m:r>
                      <m:r>
                        <a:rPr lang="zh-CN" altLang="en-US" sz="2400" b="1" i="1">
                          <a:latin typeface="Cambria Math" panose="02040503050406030204" pitchFamily="18" charset="0"/>
                        </a:rPr>
                        <m:t>𝒈</m:t>
                      </m:r>
                      <m:r>
                        <a:rPr lang="zh-CN" altLang="en-US" sz="2400" b="1" i="1">
                          <a:latin typeface="Cambria Math" panose="02040503050406030204" pitchFamily="18" charset="0"/>
                        </a:rPr>
                        <m:t>:</m:t>
                      </m:r>
                      <m:r>
                        <a:rPr lang="zh-CN" altLang="en-US" sz="2400" b="1">
                          <a:latin typeface="Cambria Math" panose="02040503050406030204" pitchFamily="18" charset="0"/>
                        </a:rPr>
                        <m:t>𝐑</m:t>
                      </m:r>
                      <m:r>
                        <a:rPr lang="zh-CN" altLang="en-US" sz="2400" b="1" i="1">
                          <a:latin typeface="Cambria Math" panose="02040503050406030204" pitchFamily="18" charset="0"/>
                        </a:rPr>
                        <m:t>→</m:t>
                      </m:r>
                      <m:r>
                        <a:rPr lang="zh-CN" altLang="en-US" sz="2400" b="1">
                          <a:latin typeface="Cambria Math" panose="02040503050406030204" pitchFamily="18" charset="0"/>
                        </a:rPr>
                        <m:t>𝐑</m:t>
                      </m:r>
                    </m:oMath>
                    <m:oMath xmlns:m="http://schemas.openxmlformats.org/officeDocument/2006/math">
                      <m:r>
                        <a:rPr lang="zh-CN" altLang="en-US" sz="2400" b="1" i="1">
                          <a:latin typeface="Cambria Math" panose="02040503050406030204" pitchFamily="18" charset="0"/>
                        </a:rPr>
                        <m:t>𝒈</m:t>
                      </m:r>
                      <m:r>
                        <a:rPr lang="zh-CN" altLang="en-US" sz="2400" b="1" i="1">
                          <a:latin typeface="Cambria Math" panose="02040503050406030204" pitchFamily="18" charset="0"/>
                        </a:rPr>
                        <m:t>∘</m:t>
                      </m:r>
                      <m:r>
                        <a:rPr lang="zh-CN" altLang="en-US" sz="2400" b="1" i="1">
                          <a:latin typeface="Cambria Math" panose="02040503050406030204" pitchFamily="18" charset="0"/>
                        </a:rPr>
                        <m:t>𝒇</m:t>
                      </m:r>
                      <m:r>
                        <a:rPr lang="zh-CN" altLang="en-US" sz="2400" b="1" i="1">
                          <a:latin typeface="Cambria Math" panose="02040503050406030204" pitchFamily="18" charset="0"/>
                        </a:rPr>
                        <m:t>(</m:t>
                      </m:r>
                      <m:r>
                        <a:rPr lang="zh-CN" altLang="en-US" sz="2400" b="1" i="1">
                          <a:latin typeface="Cambria Math" panose="02040503050406030204" pitchFamily="18" charset="0"/>
                        </a:rPr>
                        <m:t>𝒙</m:t>
                      </m:r>
                      <m:r>
                        <a:rPr lang="zh-CN" altLang="en-US" sz="2400" b="1" i="1">
                          <a:latin typeface="Cambria Math" panose="02040503050406030204" pitchFamily="18" charset="0"/>
                        </a:rPr>
                        <m:t>)=</m:t>
                      </m:r>
                      <m:d>
                        <m:dPr>
                          <m:begChr m:val="{"/>
                          <m:endChr m:val=""/>
                          <m:ctrlPr>
                            <a:rPr lang="zh-CN" altLang="en-US" sz="2400" b="1" i="1">
                              <a:latin typeface="Cambria Math" panose="02040503050406030204" pitchFamily="18" charset="0"/>
                            </a:rPr>
                          </m:ctrlPr>
                        </m:dPr>
                        <m:e>
                          <m:m>
                            <m:mPr>
                              <m:plcHide m:val="on"/>
                              <m:mcs>
                                <m:mc>
                                  <m:mcPr>
                                    <m:count m:val="1"/>
                                    <m:mcJc m:val="center"/>
                                  </m:mcPr>
                                </m:mc>
                              </m:mcs>
                              <m:ctrlPr>
                                <a:rPr lang="zh-CN" altLang="en-US" sz="2400" b="1" i="1">
                                  <a:latin typeface="Cambria Math" panose="02040503050406030204" pitchFamily="18" charset="0"/>
                                </a:rPr>
                              </m:ctrlPr>
                            </m:mPr>
                            <m:mr>
                              <m:e>
                                <m:sSup>
                                  <m:sSupPr>
                                    <m:ctrlPr>
                                      <a:rPr lang="zh-CN" altLang="en-US" sz="2400" b="1" i="1">
                                        <a:latin typeface="Cambria Math" panose="02040503050406030204" pitchFamily="18" charset="0"/>
                                      </a:rPr>
                                    </m:ctrlPr>
                                  </m:sSupPr>
                                  <m:e>
                                    <m:r>
                                      <a:rPr lang="zh-CN" altLang="en-US" sz="2400" b="1" i="1">
                                        <a:latin typeface="Cambria Math" panose="02040503050406030204" pitchFamily="18" charset="0"/>
                                      </a:rPr>
                                      <m:t>𝒙</m:t>
                                    </m:r>
                                  </m:e>
                                  <m:sup>
                                    <m:r>
                                      <a:rPr lang="zh-CN" altLang="en-US" sz="2400" b="1" i="1">
                                        <a:latin typeface="Cambria Math" panose="02040503050406030204" pitchFamily="18" charset="0"/>
                                      </a:rPr>
                                      <m:t>𝟐</m:t>
                                    </m:r>
                                  </m:sup>
                                </m:sSup>
                                <m:r>
                                  <a:rPr lang="zh-CN" altLang="en-US" sz="2400" b="1" i="1">
                                    <a:latin typeface="Cambria Math" panose="02040503050406030204" pitchFamily="18" charset="0"/>
                                  </a:rPr>
                                  <m:t>+</m:t>
                                </m:r>
                                <m:r>
                                  <a:rPr lang="zh-CN" altLang="en-US" sz="2400" b="1" i="1">
                                    <a:latin typeface="Cambria Math" panose="02040503050406030204" pitchFamily="18" charset="0"/>
                                  </a:rPr>
                                  <m:t>𝟐</m:t>
                                </m:r>
                                <m:r>
                                  <a:rPr lang="zh-CN" altLang="en-US" sz="2400" b="1" i="1">
                                    <a:latin typeface="Cambria Math" panose="02040503050406030204" pitchFamily="18" charset="0"/>
                                  </a:rPr>
                                  <m:t> </m:t>
                                </m:r>
                                <m:r>
                                  <a:rPr lang="zh-CN" altLang="en-US" sz="2400" b="1" i="1">
                                    <a:latin typeface="Cambria Math" panose="02040503050406030204" pitchFamily="18" charset="0"/>
                                  </a:rPr>
                                  <m:t>𝒙</m:t>
                                </m:r>
                                <m:r>
                                  <a:rPr lang="zh-CN" altLang="en-US" sz="2400" b="1" i="1">
                                    <a:latin typeface="Cambria Math" panose="02040503050406030204" pitchFamily="18" charset="0"/>
                                  </a:rPr>
                                  <m:t>≥</m:t>
                                </m:r>
                                <m:r>
                                  <a:rPr lang="zh-CN" altLang="en-US" sz="2400" b="1" i="1">
                                    <a:latin typeface="Cambria Math" panose="02040503050406030204" pitchFamily="18" charset="0"/>
                                  </a:rPr>
                                  <m:t>𝟑</m:t>
                                </m:r>
                              </m:e>
                            </m:mr>
                            <m:mr>
                              <m:e>
                                <m:r>
                                  <a:rPr lang="zh-CN" altLang="en-US" sz="2400" b="1" i="1">
                                    <a:latin typeface="Cambria Math" panose="02040503050406030204" pitchFamily="18" charset="0"/>
                                  </a:rPr>
                                  <m:t>𝟎</m:t>
                                </m:r>
                                <m:r>
                                  <a:rPr lang="zh-CN" altLang="en-US" sz="2400" b="1" i="1">
                                    <a:latin typeface="Cambria Math" panose="02040503050406030204" pitchFamily="18" charset="0"/>
                                  </a:rPr>
                                  <m:t>   </m:t>
                                </m:r>
                                <m:r>
                                  <a:rPr lang="zh-CN" altLang="en-US" sz="2400" b="1" i="1">
                                    <a:latin typeface="Cambria Math" panose="02040503050406030204" pitchFamily="18" charset="0"/>
                                  </a:rPr>
                                  <m:t>𝒙</m:t>
                                </m:r>
                                <m:r>
                                  <a:rPr lang="zh-CN" altLang="en-US" sz="2400" b="1" i="1">
                                    <a:latin typeface="Cambria Math" panose="02040503050406030204" pitchFamily="18" charset="0"/>
                                  </a:rPr>
                                  <m:t>&lt;</m:t>
                                </m:r>
                                <m:r>
                                  <a:rPr lang="zh-CN" altLang="en-US" sz="2400" b="1" i="1">
                                    <a:latin typeface="Cambria Math" panose="02040503050406030204" pitchFamily="18" charset="0"/>
                                  </a:rPr>
                                  <m:t>𝟑</m:t>
                                </m:r>
                              </m:e>
                            </m:mr>
                          </m:m>
                        </m:e>
                      </m:d>
                      <m:r>
                        <a:rPr lang="zh-CN" altLang="en-US" sz="2400" b="1" i="1">
                          <a:latin typeface="Cambria Math" panose="02040503050406030204" pitchFamily="18" charset="0"/>
                        </a:rPr>
                        <m:t>  </m:t>
                      </m:r>
                      <m:r>
                        <a:rPr lang="zh-CN" altLang="en-US" sz="2400" b="1" i="1">
                          <a:latin typeface="Cambria Math" panose="02040503050406030204" pitchFamily="18" charset="0"/>
                        </a:rPr>
                        <m:t>𝒇</m:t>
                      </m:r>
                      <m:r>
                        <a:rPr lang="zh-CN" altLang="en-US" sz="2400" b="1" i="1">
                          <a:latin typeface="Cambria Math" panose="02040503050406030204" pitchFamily="18" charset="0"/>
                        </a:rPr>
                        <m:t>∘</m:t>
                      </m:r>
                      <m:r>
                        <a:rPr lang="zh-CN" altLang="en-US" sz="2400" b="1" i="1">
                          <a:latin typeface="Cambria Math" panose="02040503050406030204" pitchFamily="18" charset="0"/>
                        </a:rPr>
                        <m:t>𝒈</m:t>
                      </m:r>
                      <m:r>
                        <a:rPr lang="zh-CN" altLang="en-US" sz="2400" b="1" i="1">
                          <a:latin typeface="Cambria Math" panose="02040503050406030204" pitchFamily="18" charset="0"/>
                        </a:rPr>
                        <m:t>(</m:t>
                      </m:r>
                      <m:r>
                        <a:rPr lang="zh-CN" altLang="en-US" sz="2400" b="1" i="1">
                          <a:latin typeface="Cambria Math" panose="02040503050406030204" pitchFamily="18" charset="0"/>
                        </a:rPr>
                        <m:t>𝒙</m:t>
                      </m:r>
                      <m:r>
                        <a:rPr lang="zh-CN" altLang="en-US" sz="2400" b="1" i="1">
                          <a:latin typeface="Cambria Math" panose="02040503050406030204" pitchFamily="18" charset="0"/>
                        </a:rPr>
                        <m:t>)=</m:t>
                      </m:r>
                      <m:d>
                        <m:dPr>
                          <m:begChr m:val="{"/>
                          <m:endChr m:val=""/>
                          <m:ctrlPr>
                            <a:rPr lang="zh-CN" altLang="en-US" sz="2400" b="1" i="1">
                              <a:latin typeface="Cambria Math" panose="02040503050406030204" pitchFamily="18" charset="0"/>
                            </a:rPr>
                          </m:ctrlPr>
                        </m:dPr>
                        <m:e>
                          <m:m>
                            <m:mPr>
                              <m:plcHide m:val="on"/>
                              <m:mcs>
                                <m:mc>
                                  <m:mcPr>
                                    <m:count m:val="1"/>
                                    <m:mcJc m:val="center"/>
                                  </m:mcPr>
                                </m:mc>
                              </m:mcs>
                              <m:ctrlPr>
                                <a:rPr lang="zh-CN" altLang="en-US" sz="2400" b="1" i="1">
                                  <a:latin typeface="Cambria Math" panose="02040503050406030204" pitchFamily="18" charset="0"/>
                                </a:rPr>
                              </m:ctrlPr>
                            </m:mPr>
                            <m:mr>
                              <m:e>
                                <m:r>
                                  <a:rPr lang="zh-CN" altLang="en-US" sz="2400" b="1" i="1">
                                    <a:latin typeface="Cambria Math" panose="02040503050406030204" pitchFamily="18" charset="0"/>
                                  </a:rPr>
                                  <m:t>(</m:t>
                                </m:r>
                                <m:r>
                                  <a:rPr lang="zh-CN" altLang="en-US" sz="2400" b="1" i="1">
                                    <a:latin typeface="Cambria Math" panose="02040503050406030204" pitchFamily="18" charset="0"/>
                                  </a:rPr>
                                  <m:t>𝒙</m:t>
                                </m:r>
                                <m:r>
                                  <a:rPr lang="zh-CN" altLang="en-US" sz="2400" b="1" i="1">
                                    <a:latin typeface="Cambria Math" panose="02040503050406030204" pitchFamily="18" charset="0"/>
                                  </a:rPr>
                                  <m:t>+</m:t>
                                </m:r>
                                <m:r>
                                  <a:rPr lang="zh-CN" altLang="en-US" sz="2400" b="1" i="1">
                                    <a:latin typeface="Cambria Math" panose="02040503050406030204" pitchFamily="18" charset="0"/>
                                  </a:rPr>
                                  <m:t>𝟐</m:t>
                                </m:r>
                                <m:sSup>
                                  <m:sSupPr>
                                    <m:ctrlPr>
                                      <a:rPr lang="zh-CN" altLang="en-US" sz="2400" b="1" i="1">
                                        <a:latin typeface="Cambria Math" panose="02040503050406030204" pitchFamily="18" charset="0"/>
                                      </a:rPr>
                                    </m:ctrlPr>
                                  </m:sSupPr>
                                  <m:e>
                                    <m:r>
                                      <a:rPr lang="zh-CN" altLang="en-US" sz="2400" b="1" i="1">
                                        <a:latin typeface="Cambria Math" panose="02040503050406030204" pitchFamily="18" charset="0"/>
                                      </a:rPr>
                                      <m:t>)</m:t>
                                    </m:r>
                                  </m:e>
                                  <m:sup>
                                    <m:r>
                                      <a:rPr lang="zh-CN" altLang="en-US" sz="2400" b="1" i="1">
                                        <a:latin typeface="Cambria Math" panose="02040503050406030204" pitchFamily="18" charset="0"/>
                                      </a:rPr>
                                      <m:t>𝟐</m:t>
                                    </m:r>
                                  </m:sup>
                                </m:sSup>
                                <m:r>
                                  <a:rPr lang="zh-CN" altLang="en-US" sz="2400" b="1" i="1">
                                    <a:latin typeface="Cambria Math" panose="02040503050406030204" pitchFamily="18" charset="0"/>
                                  </a:rPr>
                                  <m:t> </m:t>
                                </m:r>
                                <m:r>
                                  <a:rPr lang="zh-CN" altLang="en-US" sz="2400" b="1" i="1">
                                    <a:latin typeface="Cambria Math" panose="02040503050406030204" pitchFamily="18" charset="0"/>
                                  </a:rPr>
                                  <m:t>𝒙</m:t>
                                </m:r>
                                <m:r>
                                  <a:rPr lang="zh-CN" altLang="en-US" sz="2400" b="1" i="1">
                                    <a:latin typeface="Cambria Math" panose="02040503050406030204" pitchFamily="18" charset="0"/>
                                  </a:rPr>
                                  <m:t>≥</m:t>
                                </m:r>
                                <m:r>
                                  <a:rPr lang="zh-CN" altLang="en-US" sz="2400" b="1" i="1">
                                    <a:latin typeface="Cambria Math" panose="02040503050406030204" pitchFamily="18" charset="0"/>
                                  </a:rPr>
                                  <m:t>𝟏</m:t>
                                </m:r>
                              </m:e>
                            </m:mr>
                            <m:mr>
                              <m:e>
                                <m:r>
                                  <a:rPr lang="zh-CN" altLang="en-US" sz="2400" b="1" i="1">
                                    <a:latin typeface="Cambria Math" panose="02040503050406030204" pitchFamily="18" charset="0"/>
                                  </a:rPr>
                                  <m:t>−</m:t>
                                </m:r>
                                <m:r>
                                  <a:rPr lang="zh-CN" altLang="en-US" sz="2400" b="1" i="1">
                                    <a:latin typeface="Cambria Math" panose="02040503050406030204" pitchFamily="18" charset="0"/>
                                  </a:rPr>
                                  <m:t>𝟐</m:t>
                                </m:r>
                                <m:r>
                                  <a:rPr lang="zh-CN" altLang="en-US" sz="2400" b="1" i="1">
                                    <a:latin typeface="Cambria Math" panose="02040503050406030204" pitchFamily="18" charset="0"/>
                                  </a:rPr>
                                  <m:t>   </m:t>
                                </m:r>
                                <m:r>
                                  <a:rPr lang="zh-CN" altLang="en-US" sz="2400" b="1" i="1">
                                    <a:latin typeface="Cambria Math" panose="02040503050406030204" pitchFamily="18" charset="0"/>
                                  </a:rPr>
                                  <m:t>𝒙</m:t>
                                </m:r>
                                <m:r>
                                  <a:rPr lang="zh-CN" altLang="en-US" sz="2400" b="1" i="1">
                                    <a:latin typeface="Cambria Math" panose="02040503050406030204" pitchFamily="18" charset="0"/>
                                  </a:rPr>
                                  <m:t>&lt;</m:t>
                                </m:r>
                                <m:r>
                                  <a:rPr lang="zh-CN" altLang="en-US" sz="2400" b="1" i="1">
                                    <a:latin typeface="Cambria Math" panose="02040503050406030204" pitchFamily="18" charset="0"/>
                                  </a:rPr>
                                  <m:t>𝟏</m:t>
                                </m:r>
                              </m:e>
                            </m:mr>
                          </m:m>
                        </m:e>
                      </m:d>
                    </m:oMath>
                  </m:oMathPara>
                </a14:m>
                <a:endParaRPr lang="en-US" altLang="zh-CN" sz="2400" dirty="0">
                  <a:cs typeface="Times New Roman" panose="02020603050405020304" pitchFamily="18" charset="0"/>
                </a:endParaRPr>
              </a:p>
              <a:p>
                <a:pPr indent="1165225">
                  <a:lnSpc>
                    <a:spcPct val="120000"/>
                  </a:lnSpc>
                  <a:spcBef>
                    <a:spcPts val="500"/>
                  </a:spcBef>
                  <a:buNone/>
                </a:pPr>
                <a:r>
                  <a:rPr lang="en-US" altLang="zh-CN" sz="2400" b="1" i="1" dirty="0">
                    <a:latin typeface="Trebuchet MS" panose="020B0603020202020204" pitchFamily="34" charset="0"/>
                  </a:rPr>
                  <a:t>f </a:t>
                </a:r>
                <a:r>
                  <a:rPr lang="en-US" altLang="zh-CN" sz="2400" b="1" dirty="0">
                    <a:latin typeface="Trebuchet MS" panose="020B0603020202020204" pitchFamily="34" charset="0"/>
                  </a:rPr>
                  <a:t>: R→R</a:t>
                </a:r>
                <a:r>
                  <a:rPr lang="en-US" altLang="zh-CN" sz="2400" dirty="0">
                    <a:latin typeface="Trebuchet MS" panose="020B0603020202020204" pitchFamily="34" charset="0"/>
                  </a:rPr>
                  <a:t> does not have an inverse function </a:t>
                </a:r>
                <a:r>
                  <a:rPr lang="en-US" altLang="zh-CN" sz="2400" b="1" dirty="0">
                    <a:latin typeface="Trebuchet MS" panose="020B0603020202020204" pitchFamily="34" charset="0"/>
                  </a:rPr>
                  <a:t>.</a:t>
                </a:r>
              </a:p>
              <a:p>
                <a:pPr indent="1165225">
                  <a:lnSpc>
                    <a:spcPct val="120000"/>
                  </a:lnSpc>
                  <a:spcBef>
                    <a:spcPts val="500"/>
                  </a:spcBef>
                  <a:buNone/>
                </a:pPr>
                <a:r>
                  <a:rPr lang="en-US" altLang="zh-CN" sz="2400" b="1" i="1" dirty="0">
                    <a:latin typeface="Trebuchet MS" panose="020B0603020202020204" pitchFamily="34" charset="0"/>
                  </a:rPr>
                  <a:t>g </a:t>
                </a:r>
                <a:r>
                  <a:rPr lang="en-US" altLang="zh-CN" sz="2400" b="1" dirty="0">
                    <a:latin typeface="Trebuchet MS" panose="020B0603020202020204" pitchFamily="34" charset="0"/>
                  </a:rPr>
                  <a:t>: R→R </a:t>
                </a:r>
                <a:r>
                  <a:rPr lang="en-US" altLang="zh-CN" sz="2400" dirty="0">
                    <a:latin typeface="Trebuchet MS" panose="020B0603020202020204" pitchFamily="34" charset="0"/>
                  </a:rPr>
                  <a:t>inverse function is </a:t>
                </a:r>
                <a:r>
                  <a:rPr lang="en-US" altLang="zh-CN" sz="2400" b="1" i="1" dirty="0">
                    <a:latin typeface="Trebuchet MS" panose="020B0603020202020204" pitchFamily="34" charset="0"/>
                  </a:rPr>
                  <a:t>g</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sym typeface="Symbol" panose="05050102010706020507" pitchFamily="18" charset="2"/>
                  </a:rPr>
                  <a:t>: R→R, </a:t>
                </a:r>
                <a:r>
                  <a:rPr lang="en-US" altLang="zh-CN" sz="2400" b="1" i="1" dirty="0">
                    <a:latin typeface="Trebuchet MS" panose="020B0603020202020204" pitchFamily="34" charset="0"/>
                    <a:sym typeface="Symbol" panose="05050102010706020507" pitchFamily="18" charset="2"/>
                  </a:rPr>
                  <a:t>g</a:t>
                </a:r>
                <a:r>
                  <a:rPr lang="en-US" altLang="zh-CN" sz="2400" b="1" i="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x</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x</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2</a:t>
                </a:r>
                <a:r>
                  <a:rPr lang="en-US" altLang="zh-CN" sz="2400" b="1" dirty="0">
                    <a:latin typeface="Trebuchet MS" panose="020B0603020202020204" pitchFamily="34" charset="0"/>
                    <a:sym typeface="Symbol" panose="05050102010706020507" pitchFamily="18" charset="2"/>
                  </a:rPr>
                  <a:t> .   </a:t>
                </a:r>
              </a:p>
              <a:p>
                <a:pPr>
                  <a:lnSpc>
                    <a:spcPct val="120000"/>
                  </a:lnSpc>
                  <a:spcBef>
                    <a:spcPts val="300"/>
                  </a:spcBef>
                  <a:buClr>
                    <a:srgbClr val="0B61FF"/>
                  </a:buClr>
                  <a:buSzPct val="80000"/>
                  <a:buNone/>
                </a:pPr>
                <a:endParaRPr lang="zh-CN" altLang="en-US" sz="2000" b="1" dirty="0">
                  <a:cs typeface="Times New Roman" panose="02020603050405020304" pitchFamily="18" charset="0"/>
                </a:endParaRPr>
              </a:p>
              <a:p>
                <a:pPr>
                  <a:spcBef>
                    <a:spcPct val="0"/>
                  </a:spcBef>
                  <a:buClr>
                    <a:srgbClr val="0B61FF"/>
                  </a:buClr>
                  <a:buSzPct val="80000"/>
                  <a:buNone/>
                </a:pPr>
                <a:endParaRPr lang="zh-CN" altLang="en-US" sz="2400" b="1" dirty="0">
                  <a:latin typeface="Trebuchet MS" panose="020B0603020202020204" pitchFamily="34" charset="0"/>
                </a:endParaRPr>
              </a:p>
            </p:txBody>
          </p:sp>
        </mc:Choice>
        <mc:Fallback xmlns="">
          <p:sp>
            <p:nvSpPr>
              <p:cNvPr id="11" name="Rectangle 8">
                <a:extLst>
                  <a:ext uri="{FF2B5EF4-FFF2-40B4-BE49-F238E27FC236}">
                    <a16:creationId xmlns:a16="http://schemas.microsoft.com/office/drawing/2014/main" id="{89534D7B-5287-4F9F-842F-E82283789FBF}"/>
                  </a:ext>
                </a:extLst>
              </p:cNvPr>
              <p:cNvSpPr>
                <a:spLocks noRot="1" noChangeAspect="1" noMove="1" noResize="1" noEditPoints="1" noAdjustHandles="1" noChangeArrowheads="1" noChangeShapeType="1" noTextEdit="1"/>
              </p:cNvSpPr>
              <p:nvPr/>
            </p:nvSpPr>
            <p:spPr bwMode="auto">
              <a:xfrm>
                <a:off x="1191338" y="1033078"/>
                <a:ext cx="10554347" cy="4812551"/>
              </a:xfrm>
              <a:prstGeom prst="rect">
                <a:avLst/>
              </a:prstGeom>
              <a:blipFill>
                <a:blip r:embed="rId6"/>
                <a:stretch>
                  <a:fillRect l="-404" t="-38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692524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1000"/>
                                        <p:tgtEl>
                                          <p:spTgt spid="11">
                                            <p:txEl>
                                              <p:pRg st="2" end="2"/>
                                            </p:txEl>
                                          </p:spTgt>
                                        </p:tgtEl>
                                      </p:cBhvr>
                                    </p:animEffect>
                                    <p:anim calcmode="lin" valueType="num">
                                      <p:cBhvr>
                                        <p:cTn id="13"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Effect transition="in" filter="fade">
                                      <p:cBhvr>
                                        <p:cTn id="19" dur="1000"/>
                                        <p:tgtEl>
                                          <p:spTgt spid="11">
                                            <p:txEl>
                                              <p:pRg st="3" end="3"/>
                                            </p:txEl>
                                          </p:spTgt>
                                        </p:tgtEl>
                                      </p:cBhvr>
                                    </p:animEffect>
                                    <p:anim calcmode="lin" valueType="num">
                                      <p:cBhvr>
                                        <p:cTn id="20"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fade">
                                      <p:cBhvr>
                                        <p:cTn id="24" dur="1000"/>
                                        <p:tgtEl>
                                          <p:spTgt spid="11">
                                            <p:txEl>
                                              <p:pRg st="4" end="4"/>
                                            </p:txEl>
                                          </p:spTgt>
                                        </p:tgtEl>
                                      </p:cBhvr>
                                    </p:animEffect>
                                    <p:anim calcmode="lin" valueType="num">
                                      <p:cBhvr>
                                        <p:cTn id="25"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1">
                                            <p:txEl>
                                              <p:pRg st="5" end="5"/>
                                            </p:txEl>
                                          </p:spTgt>
                                        </p:tgtEl>
                                        <p:attrNameLst>
                                          <p:attrName>style.visibility</p:attrName>
                                        </p:attrNameLst>
                                      </p:cBhvr>
                                      <p:to>
                                        <p:strVal val="visible"/>
                                      </p:to>
                                    </p:set>
                                    <p:animEffect transition="in" filter="fade">
                                      <p:cBhvr>
                                        <p:cTn id="31" dur="1000"/>
                                        <p:tgtEl>
                                          <p:spTgt spid="11">
                                            <p:txEl>
                                              <p:pRg st="5" end="5"/>
                                            </p:txEl>
                                          </p:spTgt>
                                        </p:tgtEl>
                                      </p:cBhvr>
                                    </p:animEffect>
                                    <p:anim calcmode="lin" valueType="num">
                                      <p:cBhvr>
                                        <p:cTn id="32"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11">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1">
                                            <p:txEl>
                                              <p:pRg st="6" end="6"/>
                                            </p:txEl>
                                          </p:spTgt>
                                        </p:tgtEl>
                                        <p:attrNameLst>
                                          <p:attrName>style.visibility</p:attrName>
                                        </p:attrNameLst>
                                      </p:cBhvr>
                                      <p:to>
                                        <p:strVal val="visible"/>
                                      </p:to>
                                    </p:set>
                                    <p:animEffect transition="in" filter="fade">
                                      <p:cBhvr>
                                        <p:cTn id="36" dur="1000"/>
                                        <p:tgtEl>
                                          <p:spTgt spid="11">
                                            <p:txEl>
                                              <p:pRg st="6" end="6"/>
                                            </p:txEl>
                                          </p:spTgt>
                                        </p:tgtEl>
                                      </p:cBhvr>
                                    </p:animEffect>
                                    <p:anim calcmode="lin" valueType="num">
                                      <p:cBhvr>
                                        <p:cTn id="37"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5.2.2 Inverse Functions</a:t>
            </a:r>
            <a:endParaRPr lang="en-US" altLang="zh-CN" sz="2000" b="1" dirty="0">
              <a:latin typeface="Trebuchet MS" panose="020B0603020202020204" pitchFamily="34" charset="0"/>
              <a:ea typeface="Cambria Math" panose="02040503050406030204" pitchFamily="18" charset="0"/>
              <a:cs typeface="Times New Roman" panose="02020603050405020304" pitchFamily="18" charset="0"/>
            </a:endParaRPr>
          </a:p>
          <a:p>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Identity Composition Theorem of Inverse Functions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7" y="849088"/>
            <a:ext cx="9732193"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 composition of a bijective function and its inverse is the identity function.</a:t>
            </a:r>
          </a:p>
          <a:p>
            <a:pPr eaLnBrk="1" hangingPunct="1">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 5.5: Let</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dirty="0">
                <a:latin typeface="Trebuchet MS" panose="020B0603020202020204" pitchFamily="34" charset="0"/>
              </a:rPr>
              <a:t> be a </a:t>
            </a:r>
            <a:r>
              <a:rPr lang="en-US" altLang="zh-CN" sz="2400" b="1" dirty="0">
                <a:latin typeface="Trebuchet MS" panose="020B0603020202020204" pitchFamily="34" charset="0"/>
              </a:rPr>
              <a:t>bijective</a:t>
            </a:r>
            <a:r>
              <a:rPr lang="en-US" altLang="zh-CN" sz="2400" dirty="0">
                <a:latin typeface="Trebuchet MS" panose="020B0603020202020204" pitchFamily="34" charset="0"/>
              </a:rPr>
              <a:t> function, then:</a:t>
            </a:r>
            <a:br>
              <a:rPr lang="zh-CN" altLang="en-US" sz="2400" b="1" dirty="0">
                <a:latin typeface="Trebuchet MS" panose="020B0603020202020204" pitchFamily="34" charset="0"/>
              </a:rPr>
            </a:b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cs typeface="Lucida Sans Unicode" panose="020B0602030504020204" pitchFamily="34" charset="0"/>
                <a:sym typeface="Symbol" panose="05050102010706020507" pitchFamily="18" charset="2"/>
              </a:rPr>
              <a:t>∘</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lang="en-US" altLang="zh-CN" sz="2400" b="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cs typeface="Lucida Sans Unicode" panose="020B0602030504020204" pitchFamily="34" charset="0"/>
                <a:sym typeface="Symbol" panose="05050102010706020507" pitchFamily="18" charset="2"/>
              </a:rPr>
              <a:t>∘</a:t>
            </a:r>
            <a:r>
              <a:rPr lang="en-US" altLang="zh-CN" sz="2400" b="1" i="1" dirty="0">
                <a:latin typeface="Trebuchet MS" panose="020B0603020202020204" pitchFamily="34" charset="0"/>
              </a:rPr>
              <a:t>f </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B</a:t>
            </a:r>
          </a:p>
          <a:p>
            <a:pPr marL="0" indent="0" eaLnBrk="1" hangingPunct="1">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Proof:</a:t>
            </a:r>
            <a:r>
              <a:rPr lang="en-US" altLang="zh-CN" sz="2400" b="1" i="1" dirty="0">
                <a:latin typeface="Trebuchet MS" panose="020B0603020202020204" pitchFamily="34" charset="0"/>
              </a:rPr>
              <a:t>    </a:t>
            </a:r>
            <a:r>
              <a:rPr lang="en-US" altLang="zh-CN" sz="2400" b="1" dirty="0">
                <a:latin typeface="Trebuchet MS" panose="020B0603020202020204" pitchFamily="34" charset="0"/>
              </a:rPr>
              <a:t>  </a:t>
            </a:r>
          </a:p>
          <a:p>
            <a:pPr indent="217488" eaLnBrk="1" hangingPunct="1">
              <a:lnSpc>
                <a:spcPct val="120000"/>
              </a:lnSpc>
              <a:spcBef>
                <a:spcPts val="300"/>
              </a:spcBef>
              <a:buFontTx/>
              <a:buNone/>
            </a:pPr>
            <a:r>
              <a:rPr lang="en-US" altLang="zh-CN" sz="2400" b="1" dirty="0">
                <a:solidFill>
                  <a:srgbClr val="0B61FF"/>
                </a:solidFill>
                <a:latin typeface="Trebuchet MS" panose="020B0603020202020204" pitchFamily="34" charset="0"/>
              </a:rPr>
              <a:t>① </a:t>
            </a:r>
            <a:r>
              <a:rPr lang="en-US" altLang="zh-CN" sz="2400" dirty="0">
                <a:latin typeface="Trebuchet MS" panose="020B0603020202020204" pitchFamily="34" charset="0"/>
              </a:rPr>
              <a:t>According to Theorem </a:t>
            </a:r>
            <a:r>
              <a:rPr lang="en-US" altLang="zh-CN" sz="2400" b="1" dirty="0">
                <a:latin typeface="Trebuchet MS" panose="020B0603020202020204" pitchFamily="34" charset="0"/>
              </a:rPr>
              <a:t>5.4</a:t>
            </a:r>
            <a:r>
              <a:rPr lang="zh-CN" altLang="en-US" sz="2400" b="1" dirty="0">
                <a:latin typeface="Trebuchet MS" panose="020B0603020202020204" pitchFamily="34" charset="0"/>
              </a:rPr>
              <a:t>  </a:t>
            </a:r>
            <a:r>
              <a:rPr lang="en-US" altLang="zh-CN" sz="2400" b="1" i="1" dirty="0">
                <a:latin typeface="Trebuchet MS" panose="020B0603020202020204" pitchFamily="34" charset="0"/>
              </a:rPr>
              <a:t>f </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 is also bijective.</a:t>
            </a:r>
            <a:r>
              <a:rPr lang="en-US" altLang="zh-CN" sz="2400" b="1" dirty="0">
                <a:latin typeface="Trebuchet MS" panose="020B0603020202020204" pitchFamily="34" charset="0"/>
              </a:rPr>
              <a:t> </a:t>
            </a:r>
          </a:p>
          <a:p>
            <a:pPr marL="804863" indent="-358775">
              <a:lnSpc>
                <a:spcPct val="120000"/>
              </a:lnSpc>
              <a:spcBef>
                <a:spcPts val="300"/>
              </a:spcBef>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By the theorem on function composition,</a:t>
            </a:r>
            <a:r>
              <a:rPr lang="en-US" altLang="zh-CN" sz="2400" b="1" i="1" dirty="0">
                <a:latin typeface="Trebuchet MS" panose="020B0603020202020204" pitchFamily="34" charset="0"/>
              </a:rPr>
              <a:t>f </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cs typeface="Lucida Sans Unicode" panose="020B0602030504020204" pitchFamily="34" charset="0"/>
                <a:sym typeface="Symbol" panose="05050102010706020507" pitchFamily="18" charset="2"/>
              </a:rPr>
              <a:t>∘</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 </a:t>
            </a:r>
            <a:r>
              <a:rPr lang="en-US" altLang="zh-CN" sz="2400" b="1" dirty="0">
                <a:latin typeface="Trebuchet MS" panose="020B0603020202020204" pitchFamily="34"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cs typeface="Lucida Sans Unicode" panose="020B0602030504020204" pitchFamily="34" charset="0"/>
                <a:sym typeface="Symbol" panose="05050102010706020507" pitchFamily="18" charset="2"/>
              </a:rPr>
              <a:t>∘</a:t>
            </a:r>
            <a:r>
              <a:rPr lang="en-US" altLang="zh-CN" sz="2400" b="1" i="1" dirty="0">
                <a:latin typeface="Trebuchet MS" panose="020B0603020202020204" pitchFamily="34" charset="0"/>
              </a:rPr>
              <a:t>f </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rPr>
              <a:t>→</a:t>
            </a:r>
            <a:r>
              <a:rPr lang="en-US" altLang="zh-CN" sz="2400" b="1" i="1" dirty="0">
                <a:latin typeface="Trebuchet MS" panose="020B0603020202020204" pitchFamily="34" charset="0"/>
              </a:rPr>
              <a:t>B </a:t>
            </a:r>
            <a:r>
              <a:rPr lang="zh-CN" altLang="en-US" sz="2400" b="1" dirty="0">
                <a:latin typeface="Trebuchet MS" panose="020B0603020202020204" pitchFamily="34" charset="0"/>
              </a:rPr>
              <a:t>，</a:t>
            </a:r>
            <a:r>
              <a:rPr lang="en-US" altLang="zh-CN" sz="2400" dirty="0">
                <a:latin typeface="Trebuchet MS" panose="020B0603020202020204" pitchFamily="34" charset="0"/>
              </a:rPr>
              <a:t>and both equal the corresponding </a:t>
            </a:r>
            <a:r>
              <a:rPr lang="en-US" altLang="zh-CN" sz="2400" b="1" dirty="0">
                <a:latin typeface="Trebuchet MS" panose="020B0603020202020204" pitchFamily="34" charset="0"/>
              </a:rPr>
              <a:t>identity functions</a:t>
            </a:r>
            <a:r>
              <a:rPr lang="en-US" altLang="zh-CN" sz="2400" dirty="0">
                <a:latin typeface="Trebuchet MS" panose="020B0603020202020204" pitchFamily="34" charset="0"/>
              </a:rPr>
              <a:t>.</a:t>
            </a:r>
          </a:p>
          <a:p>
            <a:pPr marL="804863" indent="-358775" eaLnBrk="1" hangingPunct="1">
              <a:lnSpc>
                <a:spcPct val="120000"/>
              </a:lnSpc>
              <a:spcBef>
                <a:spcPts val="300"/>
              </a:spcBef>
              <a:buFontTx/>
              <a:buNone/>
            </a:pPr>
            <a:r>
              <a:rPr lang="en-US" altLang="zh-CN" sz="2400" b="1" dirty="0">
                <a:solidFill>
                  <a:srgbClr val="0B61FF"/>
                </a:solidFill>
                <a:latin typeface="Trebuchet MS" panose="020B0603020202020204" pitchFamily="34" charset="0"/>
              </a:rPr>
              <a:t>③</a:t>
            </a:r>
            <a:r>
              <a:rPr lang="en-US" altLang="zh-CN" sz="2400" b="1" dirty="0">
                <a:latin typeface="Trebuchet MS" panose="020B0603020202020204" pitchFamily="34" charset="0"/>
              </a:rPr>
              <a:t> </a:t>
            </a:r>
            <a:r>
              <a:rPr lang="en-US" altLang="zh-CN" sz="2400" dirty="0">
                <a:latin typeface="Trebuchet MS" panose="020B0603020202020204" pitchFamily="34" charset="0"/>
              </a:rPr>
              <a:t>By the above Therefore, we have:</a:t>
            </a:r>
            <a:r>
              <a:rPr lang="en-US" altLang="zh-CN" sz="2400" b="1" i="1" dirty="0">
                <a:latin typeface="Trebuchet MS" panose="020B0603020202020204" pitchFamily="34" charset="0"/>
              </a:rPr>
              <a:t> f </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cs typeface="Lucida Sans Unicode" panose="020B0602030504020204" pitchFamily="34" charset="0"/>
                <a:sym typeface="Symbol" panose="05050102010706020507" pitchFamily="18" charset="2"/>
              </a:rPr>
              <a:t>∘</a:t>
            </a:r>
            <a:r>
              <a:rPr lang="en-US" altLang="zh-CN" sz="2400" b="1" i="1" dirty="0">
                <a:latin typeface="Trebuchet MS" panose="020B0603020202020204" pitchFamily="34" charset="0"/>
              </a:rPr>
              <a:t>f </a:t>
            </a:r>
            <a:r>
              <a:rPr lang="en-US" altLang="zh-CN" sz="2400" b="1" dirty="0">
                <a:latin typeface="Trebuchet MS" panose="020B0603020202020204" pitchFamily="34" charset="0"/>
              </a:rPr>
              <a:t>=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a:t>
            </a:r>
            <a:r>
              <a:rPr lang="en-US" altLang="zh-CN" sz="2400" b="1" dirty="0">
                <a:latin typeface="Trebuchet MS" panose="020B0603020202020204" pitchFamily="34" charset="0"/>
              </a:rPr>
              <a:t> ,  </a:t>
            </a:r>
            <a:r>
              <a:rPr lang="en-US" altLang="zh-CN" sz="2400" b="1" i="1" dirty="0">
                <a:latin typeface="Trebuchet MS" panose="020B0603020202020204" pitchFamily="34" charset="0"/>
              </a:rPr>
              <a:t>f</a:t>
            </a:r>
            <a:r>
              <a:rPr lang="en-US" altLang="zh-CN" sz="2400" b="1" dirty="0">
                <a:latin typeface="Trebuchet MS" panose="020B0603020202020204" pitchFamily="34" charset="0"/>
                <a:cs typeface="Lucida Sans Unicode" panose="020B0602030504020204" pitchFamily="34" charset="0"/>
                <a:sym typeface="Symbol" panose="05050102010706020507" pitchFamily="18" charset="2"/>
              </a:rPr>
              <a:t>∘</a:t>
            </a:r>
            <a:r>
              <a:rPr lang="en-US" altLang="zh-CN" sz="2400" b="1" i="1" dirty="0">
                <a:latin typeface="Trebuchet MS" panose="020B0603020202020204" pitchFamily="34" charset="0"/>
              </a:rPr>
              <a:t>f </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B</a:t>
            </a:r>
            <a:r>
              <a:rPr lang="en-US" altLang="zh-CN" sz="2400" b="1" dirty="0">
                <a:latin typeface="Trebuchet MS" panose="020B0603020202020204" pitchFamily="34" charset="0"/>
              </a:rPr>
              <a:t>.  </a:t>
            </a:r>
          </a:p>
          <a:p>
            <a:pPr>
              <a:lnSpc>
                <a:spcPct val="120000"/>
              </a:lnSpc>
              <a:buClr>
                <a:srgbClr val="0B61FF"/>
              </a:buClr>
              <a:buSzPct val="80000"/>
              <a:buFont typeface="Wingdings" panose="05000000000000000000" pitchFamily="2" charset="2"/>
              <a:buChar char="n"/>
            </a:pPr>
            <a:r>
              <a:rPr lang="en-US" altLang="zh-CN" sz="2400" dirty="0">
                <a:latin typeface="Trebuchet MS" panose="020B0603020202020204" pitchFamily="34" charset="0"/>
              </a:rPr>
              <a:t>The left and right compositions of a bijective function and its inverse are identity functions on their respective sets, and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A </a:t>
            </a:r>
            <a:r>
              <a:rPr lang="en-US" altLang="zh-CN" sz="2400" dirty="0">
                <a:latin typeface="Trebuchet MS" panose="020B0603020202020204" pitchFamily="34" charset="0"/>
              </a:rPr>
              <a:t>​ is generally not equal to </a:t>
            </a:r>
            <a:r>
              <a:rPr lang="en-US" altLang="zh-CN" sz="2400" b="1" i="1" dirty="0">
                <a:latin typeface="Trebuchet MS" panose="020B0603020202020204" pitchFamily="34" charset="0"/>
              </a:rPr>
              <a:t>I</a:t>
            </a:r>
            <a:r>
              <a:rPr lang="en-US" altLang="zh-CN" sz="2400" b="1" i="1" baseline="-25000" dirty="0">
                <a:latin typeface="Trebuchet MS" panose="020B0603020202020204" pitchFamily="34" charset="0"/>
              </a:rPr>
              <a:t>B </a:t>
            </a:r>
            <a:r>
              <a:rPr lang="en-US" altLang="zh-CN" sz="2400" dirty="0">
                <a:latin typeface="Trebuchet MS" panose="020B0603020202020204" pitchFamily="34" charset="0"/>
              </a:rPr>
              <a:t>​.</a:t>
            </a:r>
          </a:p>
        </p:txBody>
      </p:sp>
    </p:spTree>
    <p:extLst>
      <p:ext uri="{BB962C8B-B14F-4D97-AF65-F5344CB8AC3E}">
        <p14:creationId xmlns:p14="http://schemas.microsoft.com/office/powerpoint/2010/main" val="16884841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anim calcmode="lin" valueType="num">
                                      <p:cBhvr>
                                        <p:cTn id="1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1000"/>
                                        <p:tgtEl>
                                          <p:spTgt spid="8">
                                            <p:txEl>
                                              <p:pRg st="5" end="5"/>
                                            </p:txEl>
                                          </p:spTgt>
                                        </p:tgtEl>
                                      </p:cBhvr>
                                    </p:animEffect>
                                    <p:anim calcmode="lin" valueType="num">
                                      <p:cBhvr>
                                        <p:cTn id="27"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animEffect transition="in" filter="fade">
                                      <p:cBhvr>
                                        <p:cTn id="33" dur="1000"/>
                                        <p:tgtEl>
                                          <p:spTgt spid="8">
                                            <p:txEl>
                                              <p:pRg st="6" end="6"/>
                                            </p:txEl>
                                          </p:spTgt>
                                        </p:tgtEl>
                                      </p:cBhvr>
                                    </p:animEffect>
                                    <p:anim calcmode="lin" valueType="num">
                                      <p:cBhvr>
                                        <p:cTn id="34"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t>5.2 </a:t>
            </a:r>
            <a:r>
              <a:rPr lang="zh-CN" altLang="en-US" sz="2000" b="1" dirty="0"/>
              <a:t>函数的复合与反函数</a:t>
            </a: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                 </a:t>
            </a:r>
          </a:p>
          <a:p>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5.2.2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反函数</a:t>
            </a:r>
            <a:r>
              <a:rPr lang="en-US" altLang="zh-CN" sz="2400" b="1" dirty="0">
                <a:effectLst/>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反函数的性质</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r>
              <a:rPr lang="en-US" altLang="zh-CN" b="1" dirty="0"/>
              <a:t>The composition of a bijective function and its inverse is the identity function</a:t>
            </a:r>
            <a:br>
              <a:rPr lang="en-US" altLang="zh-CN" dirty="0"/>
            </a:br>
            <a:r>
              <a:rPr lang="en-US" altLang="zh-CN" dirty="0"/>
              <a:t>Theorem </a:t>
            </a:r>
            <a:r>
              <a:rPr lang="en-US" altLang="zh-CN" sz="2800" b="1" dirty="0">
                <a:solidFill>
                  <a:srgbClr val="FF0000"/>
                </a:solidFill>
              </a:rPr>
              <a:t>5.5</a:t>
            </a:r>
            <a:r>
              <a:rPr lang="en-US" altLang="zh-CN" sz="2800" b="1" dirty="0"/>
              <a:t> </a:t>
            </a:r>
            <a:r>
              <a:rPr lang="en-US" altLang="zh-CN" b="1" dirty="0"/>
              <a:t>Let</a:t>
            </a:r>
            <a:r>
              <a:rPr lang="zh-CN" altLang="en-US" sz="2800" b="1" dirty="0"/>
              <a:t> </a:t>
            </a:r>
            <a:r>
              <a:rPr lang="en-US" altLang="zh-CN" sz="2800" b="1" i="1" dirty="0"/>
              <a:t>f </a:t>
            </a:r>
            <a:r>
              <a:rPr lang="en-US" altLang="zh-CN" sz="2800" b="1" dirty="0"/>
              <a:t>: </a:t>
            </a:r>
            <a:r>
              <a:rPr lang="en-US" altLang="zh-CN" sz="2800" b="1" i="1" dirty="0"/>
              <a:t>A</a:t>
            </a:r>
            <a:r>
              <a:rPr lang="en-US" altLang="zh-CN" sz="2800" b="1" dirty="0"/>
              <a:t>→</a:t>
            </a:r>
            <a:r>
              <a:rPr lang="en-US" altLang="zh-CN" sz="2800" b="1" i="1" dirty="0"/>
              <a:t>B</a:t>
            </a:r>
            <a:r>
              <a:rPr lang="en-US" altLang="zh-CN" dirty="0"/>
              <a:t> be a </a:t>
            </a:r>
            <a:r>
              <a:rPr lang="en-US" altLang="zh-CN" b="1" dirty="0"/>
              <a:t>bijective</a:t>
            </a:r>
            <a:r>
              <a:rPr lang="en-US" altLang="zh-CN" dirty="0"/>
              <a:t> function, then:</a:t>
            </a:r>
            <a:br>
              <a:rPr lang="zh-CN" altLang="en-US" sz="2800" b="1" dirty="0"/>
            </a:br>
            <a:r>
              <a:rPr lang="zh-CN" altLang="en-US" sz="2800" b="1" dirty="0"/>
              <a:t>              </a:t>
            </a:r>
            <a:r>
              <a:rPr lang="en-US" altLang="zh-CN" sz="2800" b="1" i="1" dirty="0"/>
              <a:t>f </a:t>
            </a:r>
            <a:r>
              <a:rPr lang="en-US" altLang="zh-CN" sz="2800" b="1" baseline="30000" dirty="0">
                <a:sym typeface="Symbol" panose="05050102010706020507" pitchFamily="18" charset="2"/>
              </a:rPr>
              <a:t></a:t>
            </a:r>
            <a:r>
              <a:rPr lang="en-US" altLang="zh-CN" sz="2800" b="1" baseline="30000" dirty="0"/>
              <a:t>1</a:t>
            </a:r>
            <a:r>
              <a:rPr lang="en-US" altLang="zh-CN" sz="2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2800" b="1" i="1" dirty="0"/>
              <a:t>f </a:t>
            </a:r>
            <a:r>
              <a:rPr lang="en-US" altLang="zh-CN" sz="2800" b="1" dirty="0"/>
              <a:t>= </a:t>
            </a:r>
            <a:r>
              <a:rPr lang="en-US" altLang="zh-CN" sz="2800" b="1" i="1" dirty="0"/>
              <a:t>I</a:t>
            </a:r>
            <a:r>
              <a:rPr lang="en-US" altLang="zh-CN" b="1" i="1" baseline="-25000" dirty="0"/>
              <a:t>A</a:t>
            </a:r>
            <a:r>
              <a:rPr lang="en-US" altLang="zh-CN" sz="2800" b="1" dirty="0"/>
              <a:t>,   </a:t>
            </a:r>
            <a:r>
              <a:rPr lang="en-US" altLang="zh-CN" sz="2800" b="1" i="1" dirty="0"/>
              <a:t>f</a:t>
            </a:r>
            <a:r>
              <a:rPr lang="en-US" altLang="zh-CN" sz="2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2800" b="1" i="1" dirty="0"/>
              <a:t>f </a:t>
            </a:r>
            <a:r>
              <a:rPr lang="en-US" altLang="zh-CN" sz="2800" b="1" baseline="30000" dirty="0">
                <a:sym typeface="Symbol" panose="05050102010706020507" pitchFamily="18" charset="2"/>
              </a:rPr>
              <a:t></a:t>
            </a:r>
            <a:r>
              <a:rPr lang="en-US" altLang="zh-CN" sz="2800" b="1" baseline="30000" dirty="0"/>
              <a:t>1</a:t>
            </a:r>
            <a:r>
              <a:rPr lang="en-US" altLang="zh-CN" sz="2800" b="1" dirty="0"/>
              <a:t> = </a:t>
            </a:r>
            <a:r>
              <a:rPr lang="en-US" altLang="zh-CN" sz="2800" b="1" i="1" dirty="0"/>
              <a:t>I</a:t>
            </a:r>
            <a:r>
              <a:rPr lang="en-US" altLang="zh-CN" b="1" i="1" baseline="-25000" dirty="0"/>
              <a:t>B</a:t>
            </a:r>
            <a:endParaRPr lang="en-US" altLang="zh-CN" sz="2800" b="1" i="1" baseline="-25000" dirty="0"/>
          </a:p>
          <a:p>
            <a:pPr eaLnBrk="1" hangingPunct="1">
              <a:lnSpc>
                <a:spcPct val="110000"/>
              </a:lnSpc>
              <a:buFontTx/>
              <a:buNone/>
            </a:pPr>
            <a:r>
              <a:rPr lang="en-US" altLang="zh-CN" sz="2800" b="1" i="1" dirty="0"/>
              <a:t>    </a:t>
            </a:r>
            <a:r>
              <a:rPr lang="en-US" altLang="zh-CN" sz="2800" b="1" dirty="0"/>
              <a:t>  </a:t>
            </a:r>
          </a:p>
          <a:p>
            <a:pPr eaLnBrk="1" hangingPunct="1">
              <a:lnSpc>
                <a:spcPct val="110000"/>
              </a:lnSpc>
              <a:buFontTx/>
              <a:buNone/>
            </a:pPr>
            <a:r>
              <a:rPr lang="en-US" altLang="zh-CN" dirty="0"/>
              <a:t>Proof</a:t>
            </a:r>
            <a:r>
              <a:rPr lang="zh-CN" altLang="en-US" sz="2800" b="1" dirty="0"/>
              <a:t> </a:t>
            </a:r>
            <a:r>
              <a:rPr lang="en-US" altLang="zh-CN" dirty="0"/>
              <a:t>According to Theorem </a:t>
            </a:r>
            <a:r>
              <a:rPr lang="en-US" altLang="zh-CN" sz="2800" b="1" dirty="0"/>
              <a:t>5.4</a:t>
            </a:r>
            <a:r>
              <a:rPr lang="zh-CN" altLang="en-US" b="1" dirty="0"/>
              <a:t> </a:t>
            </a:r>
            <a:r>
              <a:rPr lang="zh-CN" altLang="en-US" sz="2800" b="1" dirty="0"/>
              <a:t> </a:t>
            </a:r>
            <a:r>
              <a:rPr lang="en-US" altLang="zh-CN" sz="2800" b="1" i="1" dirty="0"/>
              <a:t>f </a:t>
            </a:r>
            <a:r>
              <a:rPr lang="en-US" altLang="zh-CN" sz="2800" b="1" baseline="30000" dirty="0">
                <a:sym typeface="Symbol" panose="05050102010706020507" pitchFamily="18" charset="2"/>
              </a:rPr>
              <a:t></a:t>
            </a:r>
            <a:r>
              <a:rPr lang="en-US" altLang="zh-CN" sz="2800" b="1" baseline="30000" dirty="0"/>
              <a:t>1</a:t>
            </a:r>
            <a:r>
              <a:rPr lang="en-US" altLang="zh-CN" sz="2800" b="1" dirty="0"/>
              <a:t>: </a:t>
            </a:r>
            <a:r>
              <a:rPr lang="en-US" altLang="zh-CN" sz="2800" b="1" i="1" dirty="0"/>
              <a:t>B</a:t>
            </a:r>
            <a:r>
              <a:rPr lang="en-US" altLang="zh-CN" sz="2800" b="1" dirty="0"/>
              <a:t>→</a:t>
            </a:r>
            <a:r>
              <a:rPr lang="en-US" altLang="zh-CN" sz="2800" b="1" i="1" dirty="0"/>
              <a:t>A</a:t>
            </a:r>
            <a:r>
              <a:rPr lang="en-US" altLang="zh-CN" dirty="0"/>
              <a:t> is also bijective.</a:t>
            </a:r>
            <a:r>
              <a:rPr lang="en-US" altLang="zh-CN" sz="2800" b="1" dirty="0"/>
              <a:t>. </a:t>
            </a:r>
          </a:p>
          <a:p>
            <a:pPr>
              <a:lnSpc>
                <a:spcPct val="110000"/>
              </a:lnSpc>
              <a:buNone/>
            </a:pPr>
            <a:r>
              <a:rPr lang="en-US" altLang="zh-CN" dirty="0"/>
              <a:t>By the theorem on function composition,</a:t>
            </a:r>
          </a:p>
          <a:p>
            <a:r>
              <a:rPr lang="en-US" altLang="zh-CN" sz="2800" b="1" i="1" dirty="0"/>
              <a:t>f </a:t>
            </a:r>
            <a:r>
              <a:rPr lang="en-US" altLang="zh-CN" sz="2800" b="1" baseline="30000" dirty="0">
                <a:sym typeface="Symbol" panose="05050102010706020507" pitchFamily="18" charset="2"/>
              </a:rPr>
              <a:t></a:t>
            </a:r>
            <a:r>
              <a:rPr lang="en-US" altLang="zh-CN" sz="2800" b="1" baseline="30000" dirty="0"/>
              <a:t>1</a:t>
            </a:r>
            <a:r>
              <a:rPr lang="en-US" altLang="zh-CN" sz="2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2800" b="1" i="1" dirty="0"/>
              <a:t>f </a:t>
            </a:r>
            <a:r>
              <a:rPr lang="en-US" altLang="zh-CN" sz="2800" b="1" dirty="0"/>
              <a:t>: </a:t>
            </a:r>
            <a:r>
              <a:rPr lang="en-US" altLang="zh-CN" sz="2800" b="1" i="1" dirty="0"/>
              <a:t>B</a:t>
            </a:r>
            <a:r>
              <a:rPr lang="en-US" altLang="zh-CN" sz="2800" b="1" dirty="0"/>
              <a:t>→</a:t>
            </a:r>
            <a:r>
              <a:rPr lang="en-US" altLang="zh-CN" sz="2800" b="1" i="1" dirty="0"/>
              <a:t>B</a:t>
            </a:r>
            <a:r>
              <a:rPr lang="en-US" altLang="zh-CN" sz="2800" b="1" dirty="0"/>
              <a:t>,  </a:t>
            </a:r>
            <a:r>
              <a:rPr lang="en-US" altLang="zh-CN" sz="2800" b="1" i="1" dirty="0"/>
              <a:t>f</a:t>
            </a:r>
            <a:r>
              <a:rPr lang="en-US" altLang="zh-CN" sz="2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2800" b="1" i="1" dirty="0"/>
              <a:t>f </a:t>
            </a:r>
            <a:r>
              <a:rPr lang="en-US" altLang="zh-CN" sz="2800" b="1" baseline="30000" dirty="0">
                <a:sym typeface="Symbol" panose="05050102010706020507" pitchFamily="18" charset="2"/>
              </a:rPr>
              <a:t></a:t>
            </a:r>
            <a:r>
              <a:rPr lang="en-US" altLang="zh-CN" sz="2800" b="1" baseline="30000" dirty="0"/>
              <a:t>1</a:t>
            </a:r>
            <a:r>
              <a:rPr lang="en-US" altLang="zh-CN" sz="2800" b="1" dirty="0"/>
              <a:t>: </a:t>
            </a:r>
            <a:r>
              <a:rPr lang="en-US" altLang="zh-CN" sz="2800" b="1" i="1" dirty="0"/>
              <a:t>A</a:t>
            </a:r>
            <a:r>
              <a:rPr lang="en-US" altLang="zh-CN" sz="2800" b="1" dirty="0"/>
              <a:t>→</a:t>
            </a:r>
            <a:r>
              <a:rPr lang="en-US" altLang="zh-CN" sz="2800" b="1" i="1" dirty="0"/>
              <a:t>A</a:t>
            </a:r>
            <a:r>
              <a:rPr lang="zh-CN" altLang="en-US" sz="2800" b="1" dirty="0"/>
              <a:t>，</a:t>
            </a:r>
            <a:r>
              <a:rPr lang="en-US" altLang="zh-CN" dirty="0"/>
              <a:t>and both are identity functions.</a:t>
            </a:r>
            <a:endParaRPr lang="zh-CN" altLang="en-US" sz="2800" b="1" dirty="0"/>
          </a:p>
          <a:p>
            <a:pPr eaLnBrk="1" hangingPunct="1">
              <a:lnSpc>
                <a:spcPct val="110000"/>
              </a:lnSpc>
              <a:buFontTx/>
              <a:buNone/>
            </a:pPr>
            <a:r>
              <a:rPr lang="en-US" altLang="zh-CN" dirty="0"/>
              <a:t>For a bijective function </a:t>
            </a:r>
            <a:r>
              <a:rPr lang="en-US" altLang="zh-CN" sz="2800" b="1" i="1" dirty="0"/>
              <a:t>f </a:t>
            </a:r>
            <a:r>
              <a:rPr lang="en-US" altLang="zh-CN" sz="2800" b="1" dirty="0"/>
              <a:t>: </a:t>
            </a:r>
            <a:r>
              <a:rPr lang="en-US" altLang="zh-CN" sz="2800" b="1" i="1" dirty="0"/>
              <a:t>A</a:t>
            </a:r>
            <a:r>
              <a:rPr lang="en-US" altLang="zh-CN" sz="2800" b="1" dirty="0"/>
              <a:t>→</a:t>
            </a:r>
            <a:r>
              <a:rPr lang="en-US" altLang="zh-CN" sz="2800" b="1" i="1" dirty="0"/>
              <a:t>A</a:t>
            </a:r>
            <a:r>
              <a:rPr lang="en-US" altLang="zh-CN" sz="2800" b="1" dirty="0"/>
              <a:t>, </a:t>
            </a:r>
            <a:r>
              <a:rPr lang="en-US" altLang="zh-CN" dirty="0"/>
              <a:t>by the above theorem, we have:</a:t>
            </a:r>
            <a:endParaRPr lang="zh-CN" altLang="en-US" sz="2800" b="1" dirty="0"/>
          </a:p>
          <a:p>
            <a:pPr eaLnBrk="1" hangingPunct="1">
              <a:lnSpc>
                <a:spcPct val="110000"/>
              </a:lnSpc>
              <a:buFontTx/>
              <a:buNone/>
            </a:pPr>
            <a:r>
              <a:rPr lang="en-US" altLang="zh-CN" sz="2800" b="1" i="1" dirty="0"/>
              <a:t>                   f </a:t>
            </a:r>
            <a:r>
              <a:rPr lang="en-US" altLang="zh-CN" sz="2800" b="1" baseline="30000" dirty="0">
                <a:sym typeface="Symbol" panose="05050102010706020507" pitchFamily="18" charset="2"/>
              </a:rPr>
              <a:t></a:t>
            </a:r>
            <a:r>
              <a:rPr lang="en-US" altLang="zh-CN" sz="2800" b="1" baseline="30000" dirty="0"/>
              <a:t>1</a:t>
            </a:r>
            <a:r>
              <a:rPr lang="en-US" altLang="zh-CN" sz="2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2800" b="1" i="1" dirty="0"/>
              <a:t>f </a:t>
            </a:r>
            <a:r>
              <a:rPr lang="en-US" altLang="zh-CN" sz="2800" b="1" dirty="0"/>
              <a:t>= </a:t>
            </a:r>
            <a:r>
              <a:rPr lang="en-US" altLang="zh-CN" sz="2800" b="1" i="1" dirty="0"/>
              <a:t>f</a:t>
            </a:r>
            <a:r>
              <a:rPr lang="en-US" altLang="zh-CN" sz="2800" b="1" dirty="0">
                <a:latin typeface="Lucida Sans Unicode" panose="020B0602030504020204" pitchFamily="34" charset="0"/>
                <a:cs typeface="Lucida Sans Unicode" panose="020B0602030504020204" pitchFamily="34" charset="0"/>
                <a:sym typeface="Symbol" panose="05050102010706020507" pitchFamily="18" charset="2"/>
              </a:rPr>
              <a:t>∘</a:t>
            </a:r>
            <a:r>
              <a:rPr lang="en-US" altLang="zh-CN" sz="2800" b="1" i="1" dirty="0"/>
              <a:t>f </a:t>
            </a:r>
            <a:r>
              <a:rPr lang="en-US" altLang="zh-CN" sz="2800" b="1" baseline="30000" dirty="0">
                <a:sym typeface="Symbol" panose="05050102010706020507" pitchFamily="18" charset="2"/>
              </a:rPr>
              <a:t></a:t>
            </a:r>
            <a:r>
              <a:rPr lang="en-US" altLang="zh-CN" sz="2800" b="1" baseline="30000" dirty="0"/>
              <a:t>1</a:t>
            </a:r>
            <a:r>
              <a:rPr lang="en-US" altLang="zh-CN" sz="2800" b="1" dirty="0"/>
              <a:t> = </a:t>
            </a:r>
            <a:r>
              <a:rPr lang="en-US" altLang="zh-CN" sz="2800" b="1" i="1" dirty="0"/>
              <a:t>I</a:t>
            </a:r>
            <a:r>
              <a:rPr lang="en-US" altLang="zh-CN" sz="2800" b="1" i="1" baseline="-25000" dirty="0"/>
              <a:t>A</a:t>
            </a:r>
            <a:r>
              <a:rPr lang="en-US" altLang="zh-CN" sz="2800" b="1" dirty="0"/>
              <a:t>.  </a:t>
            </a:r>
            <a:endParaRPr lang="zh-CN" altLang="en-US" sz="2800" b="1" dirty="0"/>
          </a:p>
        </p:txBody>
      </p:sp>
    </p:spTree>
    <p:extLst>
      <p:ext uri="{BB962C8B-B14F-4D97-AF65-F5344CB8AC3E}">
        <p14:creationId xmlns:p14="http://schemas.microsoft.com/office/powerpoint/2010/main" val="6194795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rPr>
              <a:t>          Chapter 5</a:t>
            </a:r>
            <a:r>
              <a:rPr lang="zh-CN" altLang="en-US" sz="2400" b="1" dirty="0">
                <a:latin typeface="Trebuchet MS" panose="020B0603020202020204" pitchFamily="34" charset="0"/>
              </a:rPr>
              <a:t>：</a:t>
            </a:r>
            <a:r>
              <a:rPr lang="en-US" altLang="zh-CN" sz="2400" b="1" dirty="0"/>
              <a:t>Function</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ct val="0"/>
              </a:spcBef>
              <a:buNone/>
            </a:pPr>
            <a:endParaRPr lang="en-US" altLang="zh-CN" b="1" dirty="0"/>
          </a:p>
          <a:p>
            <a:pPr marL="342900" indent="-342900">
              <a:lnSpc>
                <a:spcPct val="15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5.1 Function Definition and Properties</a:t>
            </a:r>
          </a:p>
          <a:p>
            <a:pPr marL="342900" indent="-342900">
              <a:lnSpc>
                <a:spcPct val="15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5.2 Composition of Functions and Inverse Functions</a:t>
            </a:r>
          </a:p>
          <a:p>
            <a:pPr marL="342900" indent="-342900">
              <a:lnSpc>
                <a:spcPct val="15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5.3 Relational Algebra</a:t>
            </a:r>
          </a:p>
          <a:p>
            <a:pPr lvl="1"/>
            <a:endParaRPr lang="zh-CN" altLang="en-US" sz="2800" b="1" dirty="0"/>
          </a:p>
        </p:txBody>
      </p:sp>
    </p:spTree>
    <p:extLst>
      <p:ext uri="{BB962C8B-B14F-4D97-AF65-F5344CB8AC3E}">
        <p14:creationId xmlns:p14="http://schemas.microsoft.com/office/powerpoint/2010/main" val="15630352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rPr>
              <a:t>          5.3 Relational Algebra</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9256579" cy="51631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Clr>
                <a:srgbClr val="0B61FF"/>
              </a:buClr>
              <a:buSzPct val="80000"/>
              <a:buFont typeface="Wingdings" panose="05000000000000000000" pitchFamily="2" charset="2"/>
              <a:buChar char="n"/>
            </a:pPr>
            <a:r>
              <a:rPr lang="en-US" sz="2400" dirty="0">
                <a:solidFill>
                  <a:srgbClr val="0B61FF"/>
                </a:solidFill>
                <a:latin typeface="Trebuchet MS" panose="020B0603020202020204" pitchFamily="34" charset="0"/>
              </a:rPr>
              <a:t>5.3.1 </a:t>
            </a:r>
            <a:r>
              <a:rPr lang="en-US" altLang="zh-CN" sz="1600" dirty="0"/>
              <a:t> </a:t>
            </a:r>
            <a:r>
              <a:rPr lang="en-US" altLang="zh-CN" sz="2400" dirty="0">
                <a:solidFill>
                  <a:srgbClr val="0B61FF"/>
                </a:solidFill>
                <a:latin typeface="Trebuchet MS" panose="020B0603020202020204" pitchFamily="34" charset="0"/>
              </a:rPr>
              <a:t>Relational Algebra and Its Components</a:t>
            </a:r>
          </a:p>
          <a:p>
            <a:pPr marL="892175" indent="273050">
              <a:lnSpc>
                <a:spcPct val="120000"/>
              </a:lnSpc>
              <a:spcBef>
                <a:spcPts val="600"/>
              </a:spcBef>
              <a:buClr>
                <a:srgbClr val="0B61FF"/>
              </a:buClr>
              <a:buSzPct val="120000"/>
            </a:pPr>
            <a:r>
              <a:rPr lang="en-US" altLang="zh-CN" sz="2400" dirty="0">
                <a:latin typeface="Trebuchet MS" panose="020B0603020202020204" pitchFamily="34" charset="0"/>
              </a:rPr>
              <a:t>Algebra, Algebraic Systems, and Branches of Algebra</a:t>
            </a:r>
          </a:p>
          <a:p>
            <a:pPr marL="892175" indent="273050">
              <a:lnSpc>
                <a:spcPct val="120000"/>
              </a:lnSpc>
              <a:spcBef>
                <a:spcPts val="600"/>
              </a:spcBef>
              <a:buClr>
                <a:srgbClr val="0B61FF"/>
              </a:buClr>
              <a:buSzPct val="120000"/>
            </a:pPr>
            <a:r>
              <a:rPr lang="en-US" altLang="zh-CN" sz="2400" dirty="0">
                <a:latin typeface="Trebuchet MS" panose="020B0603020202020204" pitchFamily="34" charset="0"/>
              </a:rPr>
              <a:t>Relational Algebra and Relational Database Operations</a:t>
            </a:r>
          </a:p>
          <a:p>
            <a:pPr marL="892175" indent="273050">
              <a:lnSpc>
                <a:spcPct val="120000"/>
              </a:lnSpc>
              <a:spcBef>
                <a:spcPts val="600"/>
              </a:spcBef>
              <a:buClr>
                <a:srgbClr val="0B61FF"/>
              </a:buClr>
              <a:buSzPct val="120000"/>
            </a:pPr>
            <a:r>
              <a:rPr lang="en-US" altLang="zh-CN" sz="2400" dirty="0">
                <a:latin typeface="Trebuchet MS" panose="020B0603020202020204" pitchFamily="34" charset="0"/>
              </a:rPr>
              <a:t>Relational Model and Relational Database</a:t>
            </a:r>
            <a:endParaRPr lang="en-US" sz="2400" dirty="0">
              <a:latin typeface="Trebuchet MS" panose="020B0603020202020204" pitchFamily="34" charset="0"/>
            </a:endParaRP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5.3.2 </a:t>
            </a:r>
            <a:r>
              <a:rPr lang="en-US" altLang="zh-CN" sz="2400" dirty="0">
                <a:latin typeface="Trebuchet MS" panose="020B0603020202020204" pitchFamily="34" charset="0"/>
              </a:rPr>
              <a:t>Relational Algebra and Its Operations</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5.3.3 </a:t>
            </a:r>
            <a:r>
              <a:rPr lang="en-US" altLang="zh-CN" sz="2400" dirty="0">
                <a:latin typeface="Trebuchet MS" panose="020B0603020202020204" pitchFamily="34" charset="0"/>
              </a:rPr>
              <a:t>Applications of Relational Algebra</a:t>
            </a:r>
            <a:endParaRPr lang="en-US" sz="2400" dirty="0">
              <a:latin typeface="Trebuchet MS" panose="020B0603020202020204" pitchFamily="34" charset="0"/>
            </a:endParaRPr>
          </a:p>
          <a:p>
            <a:pPr lvl="1"/>
            <a:endParaRPr lang="zh-CN" altLang="en-US" sz="2800" b="1" dirty="0"/>
          </a:p>
        </p:txBody>
      </p:sp>
    </p:spTree>
    <p:extLst>
      <p:ext uri="{BB962C8B-B14F-4D97-AF65-F5344CB8AC3E}">
        <p14:creationId xmlns:p14="http://schemas.microsoft.com/office/powerpoint/2010/main" val="17803947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rebuchet MS" panose="020B0603020202020204" pitchFamily="34" charset="0"/>
              </a:rPr>
              <a:t>5.3.1 Relational Algebra and Its Components</a:t>
            </a:r>
          </a:p>
          <a:p>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18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Algebra, Algebraic Systems, and Branches of Algebra</a:t>
            </a:r>
            <a:endParaRPr lang="en-US" altLang="zh-CN"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94658"/>
            <a:ext cx="10388965"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spcBef>
                <a:spcPts val="300"/>
              </a:spcBef>
              <a:buClr>
                <a:srgbClr val="0B61FF"/>
              </a:buClr>
              <a:buSzPct val="80000"/>
              <a:buFont typeface="Wingdings" panose="05000000000000000000" pitchFamily="2" charset="2"/>
              <a:buChar char="n"/>
            </a:pPr>
            <a:r>
              <a:rPr lang="en-US" altLang="zh-CN" sz="2400" b="1" i="1" dirty="0">
                <a:latin typeface="Trebuchet MS" panose="020B0603020202020204" pitchFamily="34" charset="0"/>
              </a:rPr>
              <a:t>Algebra</a:t>
            </a:r>
            <a:r>
              <a:rPr lang="en-US" altLang="zh-CN" sz="2400" dirty="0">
                <a:latin typeface="Trebuchet MS" panose="020B0603020202020204" pitchFamily="34" charset="0"/>
              </a:rPr>
              <a:t> is the science of studying operational structures.</a:t>
            </a:r>
          </a:p>
          <a:p>
            <a:pPr eaLnBrk="1" hangingPunct="1">
              <a:lnSpc>
                <a:spcPct val="110000"/>
              </a:lnSpc>
              <a:spcBef>
                <a:spcPts val="300"/>
              </a:spcBef>
              <a:buClr>
                <a:srgbClr val="0B61FF"/>
              </a:buClr>
              <a:buSzPct val="80000"/>
              <a:buFont typeface="Wingdings" panose="05000000000000000000" pitchFamily="2" charset="2"/>
              <a:buChar char="n"/>
            </a:pPr>
            <a:r>
              <a:rPr lang="en-US" altLang="zh-CN" sz="2400" b="1" i="1" dirty="0">
                <a:latin typeface="Trebuchet MS" panose="020B0603020202020204" pitchFamily="34" charset="0"/>
              </a:rPr>
              <a:t>Algebraic systems </a:t>
            </a:r>
            <a:r>
              <a:rPr lang="en-US" altLang="zh-CN" sz="2400" dirty="0">
                <a:latin typeface="Trebuchet MS" panose="020B0603020202020204" pitchFamily="34" charset="0"/>
              </a:rPr>
              <a:t>are the stage for these operations.</a:t>
            </a:r>
          </a:p>
          <a:p>
            <a:pPr eaLnBrk="1" hangingPunct="1">
              <a:lnSpc>
                <a:spcPct val="110000"/>
              </a:lnSpc>
              <a:spcBef>
                <a:spcPts val="300"/>
              </a:spcBef>
              <a:buClr>
                <a:srgbClr val="0B61FF"/>
              </a:buClr>
              <a:buSzPct val="80000"/>
              <a:buFont typeface="Wingdings" panose="05000000000000000000" pitchFamily="2" charset="2"/>
              <a:buChar char="n"/>
            </a:pPr>
            <a:r>
              <a:rPr lang="en-US" altLang="zh-CN" sz="2400" b="1" i="1" dirty="0">
                <a:latin typeface="Trebuchet MS" panose="020B0603020202020204" pitchFamily="34" charset="0"/>
              </a:rPr>
              <a:t>Algebraic branches </a:t>
            </a:r>
            <a:r>
              <a:rPr lang="en-US" altLang="zh-CN" sz="2400" dirty="0">
                <a:latin typeface="Trebuchet MS" panose="020B0603020202020204" pitchFamily="34" charset="0"/>
              </a:rPr>
              <a:t>are the specific forms performed on that stage.</a:t>
            </a:r>
            <a:endParaRPr lang="en-US" altLang="zh-CN" sz="2400" b="1" dirty="0">
              <a:solidFill>
                <a:srgbClr val="FF0000"/>
              </a:solidFill>
              <a:latin typeface="Trebuchet MS" panose="020B0603020202020204" pitchFamily="34" charset="0"/>
            </a:endParaRPr>
          </a:p>
        </p:txBody>
      </p:sp>
      <p:graphicFrame>
        <p:nvGraphicFramePr>
          <p:cNvPr id="4" name="表格 3">
            <a:extLst>
              <a:ext uri="{FF2B5EF4-FFF2-40B4-BE49-F238E27FC236}">
                <a16:creationId xmlns:a16="http://schemas.microsoft.com/office/drawing/2014/main" id="{496A83CE-BAB3-4FAA-846C-602B6F1AEA0D}"/>
              </a:ext>
            </a:extLst>
          </p:cNvPr>
          <p:cNvGraphicFramePr>
            <a:graphicFrameLocks noGrp="1"/>
          </p:cNvGraphicFramePr>
          <p:nvPr>
            <p:extLst>
              <p:ext uri="{D42A27DB-BD31-4B8C-83A1-F6EECF244321}">
                <p14:modId xmlns:p14="http://schemas.microsoft.com/office/powerpoint/2010/main" val="2514209444"/>
              </p:ext>
            </p:extLst>
          </p:nvPr>
        </p:nvGraphicFramePr>
        <p:xfrm>
          <a:off x="912403" y="2146171"/>
          <a:ext cx="10112829" cy="3947106"/>
        </p:xfrm>
        <a:graphic>
          <a:graphicData uri="http://schemas.openxmlformats.org/drawingml/2006/table">
            <a:tbl>
              <a:tblPr firstRow="1" firstCol="1" bandRow="1">
                <a:tableStyleId>{5940675A-B579-460E-94D1-54222C63F5DA}</a:tableStyleId>
              </a:tblPr>
              <a:tblGrid>
                <a:gridCol w="1259959">
                  <a:extLst>
                    <a:ext uri="{9D8B030D-6E8A-4147-A177-3AD203B41FA5}">
                      <a16:colId xmlns:a16="http://schemas.microsoft.com/office/drawing/2014/main" val="951620737"/>
                    </a:ext>
                  </a:extLst>
                </a:gridCol>
                <a:gridCol w="1492057">
                  <a:extLst>
                    <a:ext uri="{9D8B030D-6E8A-4147-A177-3AD203B41FA5}">
                      <a16:colId xmlns:a16="http://schemas.microsoft.com/office/drawing/2014/main" val="1982404052"/>
                    </a:ext>
                  </a:extLst>
                </a:gridCol>
                <a:gridCol w="3776495">
                  <a:extLst>
                    <a:ext uri="{9D8B030D-6E8A-4147-A177-3AD203B41FA5}">
                      <a16:colId xmlns:a16="http://schemas.microsoft.com/office/drawing/2014/main" val="1170382195"/>
                    </a:ext>
                  </a:extLst>
                </a:gridCol>
                <a:gridCol w="3584318">
                  <a:extLst>
                    <a:ext uri="{9D8B030D-6E8A-4147-A177-3AD203B41FA5}">
                      <a16:colId xmlns:a16="http://schemas.microsoft.com/office/drawing/2014/main" val="2001470862"/>
                    </a:ext>
                  </a:extLst>
                </a:gridCol>
              </a:tblGrid>
              <a:tr h="813755">
                <a:tc>
                  <a:txBody>
                    <a:bodyPr/>
                    <a:lstStyle/>
                    <a:p>
                      <a:pPr marL="0" indent="0" algn="ctr"/>
                      <a:r>
                        <a:rPr lang="en-US" sz="2000" b="1" kern="100" dirty="0">
                          <a:effectLst/>
                          <a:latin typeface="Trebuchet MS" panose="020B0603020202020204" pitchFamily="34" charset="0"/>
                        </a:rPr>
                        <a:t>Algebra Branch</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solidFill>
                      <a:srgbClr val="DEDAF8"/>
                    </a:solidFill>
                  </a:tcPr>
                </a:tc>
                <a:tc>
                  <a:txBody>
                    <a:bodyPr/>
                    <a:lstStyle/>
                    <a:p>
                      <a:pPr marL="0" indent="0" algn="ctr"/>
                      <a:r>
                        <a:rPr lang="en-US" sz="2000" b="1" kern="100" dirty="0">
                          <a:effectLst/>
                          <a:latin typeface="Trebuchet MS" panose="020B0603020202020204" pitchFamily="34" charset="0"/>
                        </a:rPr>
                        <a:t>Algebraic System </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solidFill>
                      <a:srgbClr val="DEDAF8"/>
                    </a:solidFill>
                  </a:tcPr>
                </a:tc>
                <a:tc>
                  <a:txBody>
                    <a:bodyPr/>
                    <a:lstStyle/>
                    <a:p>
                      <a:pPr marL="0" indent="0" algn="ctr"/>
                      <a:r>
                        <a:rPr lang="en-US" sz="2000" b="1" kern="100" dirty="0">
                          <a:effectLst/>
                          <a:latin typeface="Trebuchet MS" panose="020B0603020202020204" pitchFamily="34" charset="0"/>
                        </a:rPr>
                        <a:t>Description</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solidFill>
                      <a:srgbClr val="DEDAF8"/>
                    </a:solidFill>
                  </a:tcPr>
                </a:tc>
                <a:tc>
                  <a:txBody>
                    <a:bodyPr/>
                    <a:lstStyle/>
                    <a:p>
                      <a:pPr indent="22860" algn="ctr"/>
                      <a:r>
                        <a:rPr lang="en-US" sz="2000" b="1" kern="100" dirty="0">
                          <a:effectLst/>
                          <a:latin typeface="Trebuchet MS" panose="020B0603020202020204" pitchFamily="34" charset="0"/>
                        </a:rPr>
                        <a:t>Applications</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solidFill>
                      <a:srgbClr val="DEDAF8"/>
                    </a:solidFill>
                  </a:tcPr>
                </a:tc>
                <a:extLst>
                  <a:ext uri="{0D108BD9-81ED-4DB2-BD59-A6C34878D82A}">
                    <a16:rowId xmlns:a16="http://schemas.microsoft.com/office/drawing/2014/main" val="2949881840"/>
                  </a:ext>
                </a:extLst>
              </a:tr>
              <a:tr h="813755">
                <a:tc>
                  <a:txBody>
                    <a:bodyPr/>
                    <a:lstStyle/>
                    <a:p>
                      <a:pPr marL="0" indent="0" algn="just"/>
                      <a:r>
                        <a:rPr lang="en-US" sz="2000" b="0" kern="100" dirty="0">
                          <a:effectLst/>
                          <a:latin typeface="Trebuchet MS" panose="020B0603020202020204" pitchFamily="34" charset="0"/>
                        </a:rPr>
                        <a:t>Relational Algebra</a:t>
                      </a:r>
                      <a:endParaRPr lang="zh-CN" sz="2000" b="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34290" algn="just"/>
                      <a:r>
                        <a:rPr lang="en-US" sz="2000" b="1" kern="100" dirty="0">
                          <a:effectLst/>
                          <a:latin typeface="Times New Roman" panose="02020603050405020304" pitchFamily="18" charset="0"/>
                          <a:cs typeface="Times New Roman" panose="02020603050405020304" pitchFamily="18" charset="0"/>
                        </a:rPr>
                        <a:t>(R,σ,π,</a:t>
                      </a:r>
                      <a:r>
                        <a:rPr lang="zh-CN" sz="2000" b="1" kern="100" dirty="0">
                          <a:effectLst/>
                          <a:latin typeface="Times New Roman" panose="02020603050405020304" pitchFamily="18" charset="0"/>
                          <a:cs typeface="Times New Roman" panose="02020603050405020304" pitchFamily="18" charset="0"/>
                        </a:rPr>
                        <a:t>∪</a:t>
                      </a:r>
                      <a:r>
                        <a:rPr lang="en-US" sz="2000" b="1" kern="100" dirty="0">
                          <a:effectLst/>
                          <a:latin typeface="Times New Roman" panose="02020603050405020304" pitchFamily="18" charset="0"/>
                          <a:cs typeface="Times New Roman" panose="02020603050405020304" pitchFamily="18" charset="0"/>
                        </a:rPr>
                        <a:t>,∩,×,…)</a:t>
                      </a:r>
                      <a:endParaRPr lang="zh-CN" sz="20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1430" algn="l"/>
                      <a:r>
                        <a:rPr lang="en-US" sz="2000" kern="100" dirty="0">
                          <a:effectLst/>
                          <a:latin typeface="Trebuchet MS" panose="020B0603020202020204" pitchFamily="34" charset="0"/>
                        </a:rPr>
                        <a:t>Operations on relations (tables) in databases</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2860" algn="l"/>
                      <a:r>
                        <a:rPr lang="en-US" sz="2000" kern="100" dirty="0">
                          <a:effectLst/>
                          <a:latin typeface="Trebuchet MS" panose="020B0603020202020204" pitchFamily="34" charset="0"/>
                        </a:rPr>
                        <a:t>SQL, database query languages</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4831943"/>
                  </a:ext>
                </a:extLst>
              </a:tr>
              <a:tr h="813755">
                <a:tc>
                  <a:txBody>
                    <a:bodyPr/>
                    <a:lstStyle/>
                    <a:p>
                      <a:pPr marL="0" indent="0" algn="just"/>
                      <a:r>
                        <a:rPr lang="en-US" sz="2000" b="0" kern="100" dirty="0">
                          <a:effectLst/>
                          <a:latin typeface="Trebuchet MS" panose="020B0603020202020204" pitchFamily="34" charset="0"/>
                        </a:rPr>
                        <a:t>Boolean Algebra</a:t>
                      </a:r>
                      <a:endParaRPr lang="zh-CN" sz="2000" b="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34290" algn="just"/>
                      <a:r>
                        <a:rPr lang="en-US" sz="2000" b="1" kern="100" dirty="0">
                          <a:effectLst/>
                          <a:latin typeface="Times New Roman" panose="02020603050405020304" pitchFamily="18" charset="0"/>
                          <a:cs typeface="Times New Roman" panose="02020603050405020304" pitchFamily="18" charset="0"/>
                        </a:rPr>
                        <a:t>(B,</a:t>
                      </a:r>
                      <a:r>
                        <a:rPr lang="zh-CN" sz="2000" b="1" kern="100" dirty="0">
                          <a:effectLst/>
                          <a:latin typeface="Times New Roman" panose="02020603050405020304" pitchFamily="18" charset="0"/>
                          <a:cs typeface="Times New Roman" panose="02020603050405020304" pitchFamily="18" charset="0"/>
                        </a:rPr>
                        <a:t>∨</a:t>
                      </a:r>
                      <a:r>
                        <a:rPr lang="en-US" sz="2000" b="1" kern="100" dirty="0">
                          <a:effectLst/>
                          <a:latin typeface="Times New Roman" panose="02020603050405020304" pitchFamily="18" charset="0"/>
                          <a:cs typeface="Times New Roman" panose="02020603050405020304" pitchFamily="18" charset="0"/>
                        </a:rPr>
                        <a:t>,</a:t>
                      </a:r>
                      <a:r>
                        <a:rPr lang="zh-CN" sz="2000" b="1" kern="100" dirty="0">
                          <a:effectLst/>
                          <a:latin typeface="Times New Roman" panose="02020603050405020304" pitchFamily="18" charset="0"/>
                          <a:cs typeface="Times New Roman" panose="02020603050405020304" pitchFamily="18" charset="0"/>
                        </a:rPr>
                        <a:t>∧</a:t>
                      </a:r>
                      <a:r>
                        <a:rPr lang="en-US" sz="2000" b="1" kern="100" dirty="0">
                          <a:effectLst/>
                          <a:latin typeface="Times New Roman" panose="02020603050405020304" pitchFamily="18" charset="0"/>
                          <a:cs typeface="Times New Roman" panose="02020603050405020304" pitchFamily="18" charset="0"/>
                        </a:rPr>
                        <a:t>,¬)</a:t>
                      </a:r>
                      <a:endParaRPr lang="zh-CN" sz="20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1430" algn="l"/>
                      <a:r>
                        <a:rPr lang="en-US" sz="2000" kern="100" dirty="0">
                          <a:effectLst/>
                          <a:latin typeface="Trebuchet MS" panose="020B0603020202020204" pitchFamily="34" charset="0"/>
                        </a:rPr>
                        <a:t>Logic system over two values (true/false or sets)</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2860" algn="l"/>
                      <a:r>
                        <a:rPr lang="en-US" sz="2000" kern="100" dirty="0">
                          <a:effectLst/>
                          <a:latin typeface="Trebuchet MS" panose="020B0603020202020204" pitchFamily="34" charset="0"/>
                        </a:rPr>
                        <a:t>Logic design, digital circuits</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0980699"/>
                  </a:ext>
                </a:extLst>
              </a:tr>
              <a:tr h="813755">
                <a:tc>
                  <a:txBody>
                    <a:bodyPr/>
                    <a:lstStyle/>
                    <a:p>
                      <a:pPr marL="0" indent="0" algn="just"/>
                      <a:r>
                        <a:rPr lang="en-US" sz="2000" b="0" kern="100" dirty="0">
                          <a:effectLst/>
                          <a:latin typeface="Trebuchet MS" panose="020B0603020202020204" pitchFamily="34" charset="0"/>
                        </a:rPr>
                        <a:t>Linear Algebra</a:t>
                      </a:r>
                      <a:endParaRPr lang="zh-CN" sz="2000" b="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34290" algn="just"/>
                      <a:r>
                        <a:rPr lang="en-US" sz="2000" b="1" kern="100" dirty="0">
                          <a:effectLst/>
                          <a:latin typeface="Times New Roman" panose="02020603050405020304" pitchFamily="18" charset="0"/>
                          <a:cs typeface="Times New Roman" panose="02020603050405020304" pitchFamily="18" charset="0"/>
                        </a:rPr>
                        <a:t>(V,+,</a:t>
                      </a:r>
                      <a:r>
                        <a:rPr lang="zh-CN" sz="2000" b="1" kern="100" dirty="0">
                          <a:effectLst/>
                          <a:latin typeface="Times New Roman" panose="02020603050405020304" pitchFamily="18" charset="0"/>
                          <a:cs typeface="Times New Roman" panose="02020603050405020304" pitchFamily="18" charset="0"/>
                        </a:rPr>
                        <a:t>⋅</a:t>
                      </a:r>
                      <a:r>
                        <a:rPr lang="en-US" sz="2000" b="1" kern="100" dirty="0">
                          <a:effectLst/>
                          <a:latin typeface="Times New Roman" panose="02020603050405020304" pitchFamily="18" charset="0"/>
                          <a:cs typeface="Times New Roman" panose="02020603050405020304" pitchFamily="18" charset="0"/>
                        </a:rPr>
                        <a:t>)</a:t>
                      </a:r>
                      <a:endParaRPr lang="zh-CN" sz="20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1430" algn="l"/>
                      <a:r>
                        <a:rPr lang="en-US" sz="2000" kern="100" dirty="0">
                          <a:effectLst/>
                          <a:latin typeface="Trebuchet MS" panose="020B0603020202020204" pitchFamily="34" charset="0"/>
                        </a:rPr>
                        <a:t>Vector spaces over a field with scalar multiplication</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22860" algn="l"/>
                      <a:r>
                        <a:rPr lang="en-US" sz="2000" kern="100" dirty="0">
                          <a:effectLst/>
                          <a:latin typeface="Trebuchet MS" panose="020B0603020202020204" pitchFamily="34" charset="0"/>
                        </a:rPr>
                        <a:t>Physics, machine learning, data science</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97557557"/>
                  </a:ext>
                </a:extLst>
              </a:tr>
              <a:tr h="692086">
                <a:tc gridSpan="4">
                  <a:txBody>
                    <a:bodyPr/>
                    <a:lstStyle/>
                    <a:p>
                      <a:pPr indent="22860" algn="l"/>
                      <a:r>
                        <a:rPr lang="en-US" sz="2000" b="0" kern="100" dirty="0">
                          <a:effectLst/>
                          <a:latin typeface="Trebuchet MS" panose="020B0603020202020204" pitchFamily="34" charset="0"/>
                        </a:rPr>
                        <a:t>Group Theory(G,</a:t>
                      </a:r>
                      <a:r>
                        <a:rPr lang="zh-CN" sz="2000" b="0" kern="100" dirty="0">
                          <a:effectLst/>
                          <a:latin typeface="Trebuchet MS" panose="020B0603020202020204" pitchFamily="34" charset="0"/>
                        </a:rPr>
                        <a:t>⋅</a:t>
                      </a:r>
                      <a:r>
                        <a:rPr lang="en-US" sz="2000" b="0" kern="100" dirty="0">
                          <a:effectLst/>
                          <a:latin typeface="Trebuchet MS" panose="020B0603020202020204" pitchFamily="34" charset="0"/>
                        </a:rPr>
                        <a:t>), Ring Theory(R,+,</a:t>
                      </a:r>
                      <a:r>
                        <a:rPr lang="zh-CN" sz="2000" b="0" kern="100" dirty="0">
                          <a:effectLst/>
                          <a:latin typeface="Trebuchet MS" panose="020B0603020202020204" pitchFamily="34" charset="0"/>
                        </a:rPr>
                        <a:t>⋅</a:t>
                      </a:r>
                      <a:r>
                        <a:rPr lang="en-US" sz="2000" b="0" kern="100" dirty="0">
                          <a:effectLst/>
                          <a:latin typeface="Trebuchet MS" panose="020B0603020202020204" pitchFamily="34" charset="0"/>
                        </a:rPr>
                        <a:t>), Field Theory(F,+,</a:t>
                      </a:r>
                      <a:r>
                        <a:rPr lang="zh-CN" sz="2000" b="0" kern="100" dirty="0">
                          <a:effectLst/>
                          <a:latin typeface="Trebuchet MS" panose="020B0603020202020204" pitchFamily="34" charset="0"/>
                        </a:rPr>
                        <a:t>⋅</a:t>
                      </a:r>
                      <a:r>
                        <a:rPr lang="en-US" sz="2000" b="0" kern="100" dirty="0">
                          <a:effectLst/>
                          <a:latin typeface="Trebuchet MS" panose="020B0603020202020204" pitchFamily="34" charset="0"/>
                        </a:rPr>
                        <a:t>), Automata Algebra State-transition structures,….</a:t>
                      </a:r>
                      <a:endParaRPr lang="zh-CN" sz="2000" b="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35240112"/>
                  </a:ext>
                </a:extLst>
              </a:tr>
            </a:tbl>
          </a:graphicData>
        </a:graphic>
      </p:graphicFrame>
    </p:spTree>
    <p:extLst>
      <p:ext uri="{BB962C8B-B14F-4D97-AF65-F5344CB8AC3E}">
        <p14:creationId xmlns:p14="http://schemas.microsoft.com/office/powerpoint/2010/main" val="38421165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t>5.3.1 Algebra, Algebraic Systems, and Branches of Algebra</a:t>
            </a:r>
            <a:endParaRPr lang="en-US" altLang="zh-CN"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en-US" altLang="zh-CN" sz="2800" b="1" dirty="0">
              <a:solidFill>
                <a:srgbClr val="FF0000"/>
              </a:solidFill>
            </a:endParaRPr>
          </a:p>
        </p:txBody>
      </p:sp>
      <p:sp>
        <p:nvSpPr>
          <p:cNvPr id="14" name="内容占位符 2">
            <a:extLst>
              <a:ext uri="{FF2B5EF4-FFF2-40B4-BE49-F238E27FC236}">
                <a16:creationId xmlns:a16="http://schemas.microsoft.com/office/drawing/2014/main" id="{C447E5EE-9BA9-49D3-8299-53039670480D}"/>
              </a:ext>
            </a:extLst>
          </p:cNvPr>
          <p:cNvSpPr>
            <a:spLocks noGrp="1"/>
          </p:cNvSpPr>
          <p:nvPr>
            <p:ph idx="1"/>
          </p:nvPr>
        </p:nvSpPr>
        <p:spPr>
          <a:xfrm>
            <a:off x="1130110" y="4760003"/>
            <a:ext cx="8064500" cy="1305108"/>
          </a:xfrm>
        </p:spPr>
        <p:txBody>
          <a:bodyPr>
            <a:noAutofit/>
          </a:bodyPr>
          <a:lstStyle/>
          <a:p>
            <a:pPr marL="0" indent="0" eaLnBrk="1" hangingPunct="1">
              <a:buFontTx/>
              <a:buNone/>
              <a:defRPr/>
            </a:pPr>
            <a:r>
              <a:rPr lang="en-US" altLang="zh-CN" b="1" dirty="0"/>
              <a:t>Algebra</a:t>
            </a:r>
            <a:r>
              <a:rPr lang="en-US" altLang="zh-CN" dirty="0"/>
              <a:t>:</a:t>
            </a:r>
            <a:br>
              <a:rPr lang="en-US" altLang="zh-CN" dirty="0"/>
            </a:br>
            <a:r>
              <a:rPr lang="en-US" altLang="zh-CN" dirty="0"/>
              <a:t>A branch of mathematics that studies numbers, symbols, and the rules of operations, such as equations, polynomials, and more abstract structures (groups, rings, fields, etc.).</a:t>
            </a:r>
            <a:endParaRPr lang="zh-CN" altLang="en-US" b="1" dirty="0"/>
          </a:p>
        </p:txBody>
      </p:sp>
      <p:sp>
        <p:nvSpPr>
          <p:cNvPr id="11" name="内容占位符 2">
            <a:extLst>
              <a:ext uri="{FF2B5EF4-FFF2-40B4-BE49-F238E27FC236}">
                <a16:creationId xmlns:a16="http://schemas.microsoft.com/office/drawing/2014/main" id="{6AE9E122-7425-4727-8546-D7089F8C623E}"/>
              </a:ext>
            </a:extLst>
          </p:cNvPr>
          <p:cNvSpPr txBox="1">
            <a:spLocks/>
          </p:cNvSpPr>
          <p:nvPr/>
        </p:nvSpPr>
        <p:spPr>
          <a:xfrm>
            <a:off x="1130110" y="2403817"/>
            <a:ext cx="10782490" cy="16991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defRPr/>
            </a:pPr>
            <a:r>
              <a:rPr lang="en-US" altLang="zh-CN" b="1" dirty="0"/>
              <a:t>Algebraic System</a:t>
            </a:r>
            <a:r>
              <a:rPr lang="en-US" altLang="zh-CN" dirty="0"/>
              <a:t> (also known as </a:t>
            </a:r>
            <a:r>
              <a:rPr lang="en-US" altLang="zh-CN" b="1" dirty="0"/>
              <a:t>Algebraic Structure</a:t>
            </a:r>
            <a:r>
              <a:rPr lang="en-US" altLang="zh-CN" dirty="0"/>
              <a:t>):</a:t>
            </a:r>
            <a:br>
              <a:rPr lang="en-US" altLang="zh-CN" dirty="0"/>
            </a:br>
            <a:r>
              <a:rPr lang="en-US" altLang="zh-CN" dirty="0"/>
              <a:t>It is a more concrete part of algebra, defining a set of elements and operations. Simple examples include sets and binary operations, while more complex examples include rings, fields, and vector spaces. Algebraic systems focus on the properties of these structures and their relationships with one another.</a:t>
            </a:r>
            <a:endParaRPr lang="zh-CN" altLang="en-US" b="1" dirty="0"/>
          </a:p>
        </p:txBody>
      </p:sp>
      <p:sp>
        <p:nvSpPr>
          <p:cNvPr id="17" name="内容占位符 2">
            <a:extLst>
              <a:ext uri="{FF2B5EF4-FFF2-40B4-BE49-F238E27FC236}">
                <a16:creationId xmlns:a16="http://schemas.microsoft.com/office/drawing/2014/main" id="{5B8B017D-335B-49DB-8478-3AA7F6A4C73F}"/>
              </a:ext>
            </a:extLst>
          </p:cNvPr>
          <p:cNvSpPr txBox="1">
            <a:spLocks/>
          </p:cNvSpPr>
          <p:nvPr/>
        </p:nvSpPr>
        <p:spPr>
          <a:xfrm>
            <a:off x="1130110" y="930208"/>
            <a:ext cx="8064500" cy="169916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defRPr/>
            </a:pPr>
            <a:r>
              <a:rPr lang="en-US" altLang="zh-CN" b="1" dirty="0"/>
              <a:t>Relational Algebra</a:t>
            </a:r>
            <a:r>
              <a:rPr lang="en-US" altLang="zh-CN" dirty="0"/>
              <a:t>:</a:t>
            </a:r>
            <a:br>
              <a:rPr lang="en-US" altLang="zh-CN" dirty="0"/>
            </a:br>
            <a:r>
              <a:rPr lang="en-US" altLang="zh-CN" dirty="0"/>
              <a:t>A concept in database theory, relational algebra is a special kind of algebraic system whose elements are </a:t>
            </a:r>
            <a:r>
              <a:rPr lang="en-US" altLang="zh-CN" b="1" dirty="0"/>
              <a:t>relations</a:t>
            </a:r>
            <a:r>
              <a:rPr lang="en-US" altLang="zh-CN" dirty="0"/>
              <a:t> (i.e., tables). The operations are used to </a:t>
            </a:r>
            <a:r>
              <a:rPr lang="en-US" altLang="zh-CN" b="1" dirty="0"/>
              <a:t>query and manipulate data</a:t>
            </a:r>
            <a:r>
              <a:rPr lang="en-US" altLang="zh-CN" dirty="0"/>
              <a:t> stored in the tables. These operations follow specific </a:t>
            </a:r>
            <a:r>
              <a:rPr lang="en-US" altLang="zh-CN" b="1" dirty="0"/>
              <a:t>algebraic rules and properties</a:t>
            </a:r>
            <a:r>
              <a:rPr lang="en-US" altLang="zh-CN" dirty="0"/>
              <a:t>.</a:t>
            </a:r>
            <a:endParaRPr lang="zh-CN" altLang="en-US" b="1" dirty="0"/>
          </a:p>
        </p:txBody>
      </p:sp>
    </p:spTree>
    <p:extLst>
      <p:ext uri="{BB962C8B-B14F-4D97-AF65-F5344CB8AC3E}">
        <p14:creationId xmlns:p14="http://schemas.microsoft.com/office/powerpoint/2010/main" val="3266534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5.3.1 Relational Algebra and Its Components</a:t>
            </a: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Relational Algebra and Relational Database Operations</a:t>
            </a:r>
            <a:endParaRPr lang="en-US" altLang="zh-CN" sz="2400" b="1" dirty="0">
              <a:highlight>
                <a:srgbClr val="FF0000"/>
              </a:highligh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94659"/>
            <a:ext cx="10388965" cy="44733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Relational algebra is an </a:t>
            </a:r>
            <a:r>
              <a:rPr lang="en-US" altLang="zh-CN" sz="2400" b="1" i="1" dirty="0">
                <a:latin typeface="Trebuchet MS" panose="020B0603020202020204" pitchFamily="34" charset="0"/>
              </a:rPr>
              <a:t>abstract query language </a:t>
            </a:r>
            <a:r>
              <a:rPr lang="en-US" altLang="zh-CN" sz="2400" dirty="0">
                <a:latin typeface="Trebuchet MS" panose="020B0603020202020204" pitchFamily="34" charset="0"/>
              </a:rPr>
              <a:t>used to operate on relations (tables) in a relational database.</a:t>
            </a:r>
          </a:p>
          <a:p>
            <a:pPr>
              <a:lnSpc>
                <a:spcPct val="120000"/>
              </a:lnSpc>
              <a:spcBef>
                <a:spcPts val="6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Relational algebra provides the </a:t>
            </a:r>
            <a:r>
              <a:rPr lang="en-US" altLang="zh-CN" sz="2400" b="1" i="1" dirty="0">
                <a:latin typeface="Trebuchet MS" panose="020B0603020202020204" pitchFamily="34" charset="0"/>
              </a:rPr>
              <a:t>theoretical foundation </a:t>
            </a:r>
            <a:r>
              <a:rPr lang="en-US" altLang="zh-CN" sz="2400" dirty="0">
                <a:latin typeface="Trebuchet MS" panose="020B0603020202020204" pitchFamily="34" charset="0"/>
              </a:rPr>
              <a:t>for query languages such as SQL.</a:t>
            </a:r>
          </a:p>
          <a:p>
            <a:pPr>
              <a:lnSpc>
                <a:spcPct val="120000"/>
              </a:lnSpc>
              <a:spcBef>
                <a:spcPts val="6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Relational algebra allows for </a:t>
            </a:r>
            <a:r>
              <a:rPr lang="en-US" altLang="zh-CN" sz="2400" b="1" i="1" dirty="0">
                <a:latin typeface="Trebuchet MS" panose="020B0603020202020204" pitchFamily="34" charset="0"/>
              </a:rPr>
              <a:t>query optimization </a:t>
            </a:r>
            <a:r>
              <a:rPr lang="en-US" altLang="zh-CN" sz="2400" dirty="0">
                <a:latin typeface="Trebuchet MS" panose="020B0603020202020204" pitchFamily="34" charset="0"/>
              </a:rPr>
              <a:t>and equivalence transformations.</a:t>
            </a:r>
          </a:p>
          <a:p>
            <a:pPr>
              <a:lnSpc>
                <a:spcPct val="120000"/>
              </a:lnSpc>
              <a:spcBef>
                <a:spcPts val="600"/>
              </a:spcBef>
              <a:buClr>
                <a:srgbClr val="0B61FF"/>
              </a:buClr>
              <a:buSzPct val="80000"/>
              <a:buFont typeface="Wingdings" panose="05000000000000000000" pitchFamily="2" charset="2"/>
              <a:buChar char="n"/>
            </a:pPr>
            <a:r>
              <a:rPr lang="en-US" altLang="zh-CN" sz="2400" b="1" i="1" dirty="0">
                <a:latin typeface="Trebuchet MS" panose="020B0603020202020204" pitchFamily="34" charset="0"/>
              </a:rPr>
              <a:t>Relational algebra operates </a:t>
            </a:r>
            <a:r>
              <a:rPr lang="en-US" altLang="zh-CN" sz="2400" dirty="0">
                <a:latin typeface="Trebuchet MS" panose="020B0603020202020204" pitchFamily="34" charset="0"/>
              </a:rPr>
              <a:t>on relations (tables) using a set of operators—including selection, projection, union, and intersection—and produces new relations as output.</a:t>
            </a:r>
          </a:p>
        </p:txBody>
      </p:sp>
    </p:spTree>
    <p:extLst>
      <p:ext uri="{BB962C8B-B14F-4D97-AF65-F5344CB8AC3E}">
        <p14:creationId xmlns:p14="http://schemas.microsoft.com/office/powerpoint/2010/main" val="1814463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5.3.1 Relational Algebra and Its Components</a:t>
            </a: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Relational Model and Relational Database</a:t>
            </a:r>
            <a:endParaRPr lang="en-US" altLang="zh-CN"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en-US" altLang="zh-CN" sz="2800" b="1" dirty="0">
              <a:solidFill>
                <a:srgbClr val="FF0000"/>
              </a:solidFill>
            </a:endParaRPr>
          </a:p>
        </p:txBody>
      </p:sp>
      <p:sp>
        <p:nvSpPr>
          <p:cNvPr id="17" name="内容占位符 2">
            <a:extLst>
              <a:ext uri="{FF2B5EF4-FFF2-40B4-BE49-F238E27FC236}">
                <a16:creationId xmlns:a16="http://schemas.microsoft.com/office/drawing/2014/main" id="{5B8B017D-335B-49DB-8478-3AA7F6A4C73F}"/>
              </a:ext>
            </a:extLst>
          </p:cNvPr>
          <p:cNvSpPr txBox="1">
            <a:spLocks/>
          </p:cNvSpPr>
          <p:nvPr/>
        </p:nvSpPr>
        <p:spPr>
          <a:xfrm>
            <a:off x="723081" y="787987"/>
            <a:ext cx="10367193" cy="543501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Clr>
                <a:srgbClr val="0B61FF"/>
              </a:buClr>
              <a:buSzPct val="80000"/>
              <a:buFont typeface="Wingdings" panose="05000000000000000000" pitchFamily="2" charset="2"/>
              <a:buChar char="n"/>
              <a:defRPr/>
            </a:pPr>
            <a:r>
              <a:rPr lang="en-US" altLang="zh-CN" sz="2400" dirty="0">
                <a:latin typeface="Trebuchet MS" panose="020B0603020202020204" pitchFamily="34" charset="0"/>
              </a:rPr>
              <a:t>The </a:t>
            </a:r>
            <a:r>
              <a:rPr lang="en-US" altLang="zh-CN" sz="2400" b="1" i="1" dirty="0">
                <a:latin typeface="Trebuchet MS" panose="020B0603020202020204" pitchFamily="34" charset="0"/>
              </a:rPr>
              <a:t>relational model</a:t>
            </a:r>
            <a:r>
              <a:rPr lang="en-US" altLang="zh-CN" sz="2400" dirty="0">
                <a:latin typeface="Trebuchet MS" panose="020B0603020202020204" pitchFamily="34" charset="0"/>
              </a:rPr>
              <a:t>, proposed by E.F. Codd, is a data model that represents real-world entities and their relationships using relations (tables). Each relation consists of rows (tuples) and columns (attributes).</a:t>
            </a:r>
          </a:p>
          <a:p>
            <a:pPr>
              <a:lnSpc>
                <a:spcPct val="120000"/>
              </a:lnSpc>
              <a:spcBef>
                <a:spcPts val="0"/>
              </a:spcBef>
              <a:buClr>
                <a:srgbClr val="0B61FF"/>
              </a:buClr>
              <a:buSzPct val="80000"/>
              <a:buFont typeface="Wingdings" panose="05000000000000000000" pitchFamily="2" charset="2"/>
              <a:buChar char="n"/>
              <a:defRPr/>
            </a:pPr>
            <a:r>
              <a:rPr lang="en-US" altLang="zh-CN" sz="2400" dirty="0">
                <a:latin typeface="Trebuchet MS" panose="020B0603020202020204" pitchFamily="34" charset="0"/>
              </a:rPr>
              <a:t>The relational model is the theoretical foundation for building </a:t>
            </a:r>
            <a:r>
              <a:rPr lang="en-US" altLang="zh-CN" sz="2400" b="1" i="1" dirty="0">
                <a:latin typeface="Trebuchet MS" panose="020B0603020202020204" pitchFamily="34" charset="0"/>
              </a:rPr>
              <a:t>relational databases</a:t>
            </a:r>
            <a:r>
              <a:rPr lang="en-US" altLang="zh-CN" sz="2400" dirty="0">
                <a:latin typeface="Trebuchet MS" panose="020B0603020202020204" pitchFamily="34" charset="0"/>
              </a:rPr>
              <a:t>. It represents data and relationships using relations (tables).</a:t>
            </a:r>
            <a:endParaRPr lang="en-US" altLang="zh-CN" sz="2400" b="1" dirty="0">
              <a:latin typeface="Trebuchet MS" panose="020B0603020202020204" pitchFamily="34" charset="0"/>
            </a:endParaRPr>
          </a:p>
          <a:p>
            <a:pPr>
              <a:lnSpc>
                <a:spcPct val="120000"/>
              </a:lnSpc>
              <a:spcBef>
                <a:spcPts val="0"/>
              </a:spcBef>
              <a:buClr>
                <a:srgbClr val="0B61FF"/>
              </a:buClr>
              <a:buSzPct val="80000"/>
              <a:buFont typeface="Wingdings" panose="05000000000000000000" pitchFamily="2" charset="2"/>
              <a:buChar char="n"/>
              <a:defRPr/>
            </a:pPr>
            <a:r>
              <a:rPr lang="en-US" altLang="zh-CN" sz="2400" b="1" i="1" dirty="0">
                <a:latin typeface="Trebuchet MS" panose="020B0603020202020204" pitchFamily="34" charset="0"/>
              </a:rPr>
              <a:t>Tables and Relations</a:t>
            </a:r>
            <a:r>
              <a:rPr lang="en-US" altLang="zh-CN" sz="2400" dirty="0">
                <a:latin typeface="Trebuchet MS" panose="020B0603020202020204" pitchFamily="34" charset="0"/>
              </a:rPr>
              <a:t>: Each table in a database represents a </a:t>
            </a:r>
            <a:r>
              <a:rPr lang="en-US" altLang="zh-CN" sz="2400" b="1" dirty="0">
                <a:latin typeface="Trebuchet MS" panose="020B0603020202020204" pitchFamily="34" charset="0"/>
              </a:rPr>
              <a:t>relation</a:t>
            </a:r>
            <a:r>
              <a:rPr lang="en-US" altLang="zh-CN" sz="2400" dirty="0">
                <a:latin typeface="Trebuchet MS" panose="020B0603020202020204" pitchFamily="34" charset="0"/>
              </a:rPr>
              <a:t>. Each row in the table (also called a </a:t>
            </a:r>
            <a:r>
              <a:rPr lang="en-US" altLang="zh-CN" sz="2400" b="1" dirty="0">
                <a:latin typeface="Trebuchet MS" panose="020B0603020202020204" pitchFamily="34" charset="0"/>
              </a:rPr>
              <a:t>tuple</a:t>
            </a:r>
            <a:r>
              <a:rPr lang="en-US" altLang="zh-CN" sz="2400" dirty="0">
                <a:latin typeface="Trebuchet MS" panose="020B0603020202020204" pitchFamily="34" charset="0"/>
              </a:rPr>
              <a:t>) represents an </a:t>
            </a:r>
            <a:r>
              <a:rPr lang="en-US" altLang="zh-CN" sz="2400" b="1" dirty="0">
                <a:latin typeface="Trebuchet MS" panose="020B0603020202020204" pitchFamily="34" charset="0"/>
              </a:rPr>
              <a:t>ordered tuple</a:t>
            </a:r>
            <a:r>
              <a:rPr lang="en-US" altLang="zh-CN" sz="2400" dirty="0">
                <a:latin typeface="Trebuchet MS" panose="020B0603020202020204" pitchFamily="34" charset="0"/>
              </a:rPr>
              <a:t>, which is a member of the relation.</a:t>
            </a:r>
          </a:p>
          <a:p>
            <a:pPr>
              <a:lnSpc>
                <a:spcPct val="120000"/>
              </a:lnSpc>
              <a:spcBef>
                <a:spcPts val="0"/>
              </a:spcBef>
              <a:buClr>
                <a:srgbClr val="0B61FF"/>
              </a:buClr>
              <a:buSzPct val="80000"/>
              <a:buFont typeface="Wingdings" panose="05000000000000000000" pitchFamily="2" charset="2"/>
              <a:buChar char="n"/>
              <a:defRPr/>
            </a:pPr>
            <a:r>
              <a:rPr lang="en-US" altLang="zh-CN" sz="2400" b="1" i="1" dirty="0">
                <a:latin typeface="Trebuchet MS" panose="020B0603020202020204" pitchFamily="34" charset="0"/>
              </a:rPr>
              <a:t>Relationships Between Elements</a:t>
            </a:r>
            <a:r>
              <a:rPr lang="en-US" altLang="zh-CN" sz="2400" dirty="0">
                <a:latin typeface="Trebuchet MS" panose="020B0603020202020204" pitchFamily="34" charset="0"/>
              </a:rPr>
              <a:t>: Each row in a table represents a specific </a:t>
            </a:r>
            <a:r>
              <a:rPr lang="en-US" altLang="zh-CN" sz="2400" b="1" dirty="0">
                <a:latin typeface="Trebuchet MS" panose="020B0603020202020204" pitchFamily="34" charset="0"/>
              </a:rPr>
              <a:t>association or "relation"</a:t>
            </a:r>
            <a:r>
              <a:rPr lang="en-US" altLang="zh-CN" sz="2400" dirty="0">
                <a:latin typeface="Trebuchet MS" panose="020B0603020202020204" pitchFamily="34" charset="0"/>
              </a:rPr>
              <a:t> between columns (also called </a:t>
            </a:r>
            <a:r>
              <a:rPr lang="en-US" altLang="zh-CN" sz="2400" b="1" dirty="0">
                <a:latin typeface="Trebuchet MS" panose="020B0603020202020204" pitchFamily="34" charset="0"/>
              </a:rPr>
              <a:t>attributes</a:t>
            </a:r>
            <a:r>
              <a:rPr lang="en-US" altLang="zh-CN" sz="2400" dirty="0">
                <a:latin typeface="Trebuchet MS" panose="020B0603020202020204" pitchFamily="34" charset="0"/>
              </a:rPr>
              <a:t>), forming a meaningful set of data.</a:t>
            </a:r>
          </a:p>
          <a:p>
            <a:pPr>
              <a:lnSpc>
                <a:spcPct val="120000"/>
              </a:lnSpc>
              <a:spcBef>
                <a:spcPts val="300"/>
              </a:spcBef>
              <a:buClr>
                <a:srgbClr val="0B61FF"/>
              </a:buClr>
              <a:buSzPct val="80000"/>
              <a:buFont typeface="Wingdings" panose="05000000000000000000" pitchFamily="2" charset="2"/>
              <a:buChar char="n"/>
              <a:defRPr/>
            </a:pPr>
            <a:endParaRPr lang="en-US" altLang="zh-CN" sz="2400" dirty="0">
              <a:latin typeface="Trebuchet MS" panose="020B0603020202020204" pitchFamily="34" charset="0"/>
            </a:endParaRPr>
          </a:p>
        </p:txBody>
      </p:sp>
    </p:spTree>
    <p:extLst>
      <p:ext uri="{BB962C8B-B14F-4D97-AF65-F5344CB8AC3E}">
        <p14:creationId xmlns:p14="http://schemas.microsoft.com/office/powerpoint/2010/main" val="12928107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animEffect transition="in" filter="fade">
                                      <p:cBhvr>
                                        <p:cTn id="7" dur="1000"/>
                                        <p:tgtEl>
                                          <p:spTgt spid="17">
                                            <p:txEl>
                                              <p:pRg st="1" end="1"/>
                                            </p:txEl>
                                          </p:spTgt>
                                        </p:tgtEl>
                                      </p:cBhvr>
                                    </p:animEffect>
                                    <p:anim calcmode="lin" valueType="num">
                                      <p:cBhvr>
                                        <p:cTn id="8"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2" end="2"/>
                                            </p:txEl>
                                          </p:spTgt>
                                        </p:tgtEl>
                                        <p:attrNameLst>
                                          <p:attrName>style.visibility</p:attrName>
                                        </p:attrNameLst>
                                      </p:cBhvr>
                                      <p:to>
                                        <p:strVal val="visible"/>
                                      </p:to>
                                    </p:set>
                                    <p:animEffect transition="in" filter="fade">
                                      <p:cBhvr>
                                        <p:cTn id="14" dur="1000"/>
                                        <p:tgtEl>
                                          <p:spTgt spid="17">
                                            <p:txEl>
                                              <p:pRg st="2" end="2"/>
                                            </p:txEl>
                                          </p:spTgt>
                                        </p:tgtEl>
                                      </p:cBhvr>
                                    </p:animEffect>
                                    <p:anim calcmode="lin" valueType="num">
                                      <p:cBhvr>
                                        <p:cTn id="15"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3" end="3"/>
                                            </p:txEl>
                                          </p:spTgt>
                                        </p:tgtEl>
                                        <p:attrNameLst>
                                          <p:attrName>style.visibility</p:attrName>
                                        </p:attrNameLst>
                                      </p:cBhvr>
                                      <p:to>
                                        <p:strVal val="visible"/>
                                      </p:to>
                                    </p:set>
                                    <p:animEffect transition="in" filter="fade">
                                      <p:cBhvr>
                                        <p:cTn id="21" dur="1000"/>
                                        <p:tgtEl>
                                          <p:spTgt spid="17">
                                            <p:txEl>
                                              <p:pRg st="3" end="3"/>
                                            </p:txEl>
                                          </p:spTgt>
                                        </p:tgtEl>
                                      </p:cBhvr>
                                    </p:animEffect>
                                    <p:anim calcmode="lin" valueType="num">
                                      <p:cBhvr>
                                        <p:cTn id="22"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t>5.3 </a:t>
            </a:r>
            <a:r>
              <a:rPr lang="zh-CN" altLang="en-US" sz="2400" b="1" dirty="0"/>
              <a:t>关系代数</a:t>
            </a:r>
            <a:r>
              <a:rPr lang="en-US" altLang="zh-CN" sz="2400" b="1" dirty="0">
                <a:effectLst/>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effectLst/>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关系</a:t>
            </a:r>
            <a:r>
              <a:rPr lang="zh-CN" altLang="en-US"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、关系数据库及其表</a:t>
            </a:r>
            <a:endParaRPr lang="en-US" altLang="zh-CN"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en-US" altLang="zh-CN" sz="2800" b="1" dirty="0">
              <a:solidFill>
                <a:srgbClr val="FF0000"/>
              </a:solidFill>
            </a:endParaRPr>
          </a:p>
        </p:txBody>
      </p:sp>
      <p:sp>
        <p:nvSpPr>
          <p:cNvPr id="14" name="内容占位符 2">
            <a:extLst>
              <a:ext uri="{FF2B5EF4-FFF2-40B4-BE49-F238E27FC236}">
                <a16:creationId xmlns:a16="http://schemas.microsoft.com/office/drawing/2014/main" id="{C447E5EE-9BA9-49D3-8299-53039670480D}"/>
              </a:ext>
            </a:extLst>
          </p:cNvPr>
          <p:cNvSpPr>
            <a:spLocks noGrp="1"/>
          </p:cNvSpPr>
          <p:nvPr>
            <p:ph idx="1"/>
          </p:nvPr>
        </p:nvSpPr>
        <p:spPr>
          <a:xfrm>
            <a:off x="1130110" y="5035427"/>
            <a:ext cx="10053512" cy="1530629"/>
          </a:xfrm>
        </p:spPr>
        <p:txBody>
          <a:bodyPr>
            <a:noAutofit/>
          </a:bodyPr>
          <a:lstStyle/>
          <a:p>
            <a:pPr marL="0" indent="0" eaLnBrk="1" hangingPunct="1">
              <a:buFontTx/>
              <a:buNone/>
              <a:defRPr/>
            </a:pPr>
            <a:r>
              <a:rPr lang="en-US" altLang="zh-CN" sz="1600" b="1" dirty="0"/>
              <a:t>Relations in Set Theory</a:t>
            </a:r>
            <a:br>
              <a:rPr lang="en-US" altLang="zh-CN" sz="1600" dirty="0"/>
            </a:br>
            <a:r>
              <a:rPr lang="en-US" altLang="zh-CN" sz="1600" dirty="0"/>
              <a:t>In set theory, a </a:t>
            </a:r>
            <a:r>
              <a:rPr lang="en-US" altLang="zh-CN" sz="1600" b="1" dirty="0"/>
              <a:t>relation</a:t>
            </a:r>
            <a:r>
              <a:rPr lang="en-US" altLang="zh-CN" sz="1600" dirty="0"/>
              <a:t> is a mathematical object defined on a set, consisting of </a:t>
            </a:r>
            <a:r>
              <a:rPr lang="en-US" altLang="zh-CN" sz="1600" b="1" dirty="0"/>
              <a:t>ordered tuples</a:t>
            </a:r>
            <a:r>
              <a:rPr lang="en-US" altLang="zh-CN" sz="1600" dirty="0"/>
              <a:t> (such as ⟨a, b⟩) from the Cartesian product of sets.</a:t>
            </a:r>
            <a:br>
              <a:rPr lang="en-US" altLang="zh-CN" sz="1600" dirty="0"/>
            </a:br>
            <a:r>
              <a:rPr lang="en-US" altLang="zh-CN" sz="1600" dirty="0"/>
              <a:t>Functions or mappings are special types of relations.</a:t>
            </a:r>
            <a:br>
              <a:rPr lang="en-US" altLang="zh-CN" sz="1600" dirty="0"/>
            </a:br>
            <a:r>
              <a:rPr lang="en-US" altLang="zh-CN" sz="1600" b="1" dirty="0"/>
              <a:t>Reflexive</a:t>
            </a:r>
            <a:r>
              <a:rPr lang="en-US" altLang="zh-CN" sz="1600" dirty="0"/>
              <a:t>, </a:t>
            </a:r>
            <a:r>
              <a:rPr lang="en-US" altLang="zh-CN" sz="1600" b="1" dirty="0"/>
              <a:t>symmetric</a:t>
            </a:r>
            <a:r>
              <a:rPr lang="en-US" altLang="zh-CN" sz="1600" dirty="0"/>
              <a:t>, and </a:t>
            </a:r>
            <a:r>
              <a:rPr lang="en-US" altLang="zh-CN" sz="1600" b="1" dirty="0"/>
              <a:t>transitive</a:t>
            </a:r>
            <a:r>
              <a:rPr lang="en-US" altLang="zh-CN" sz="1600" dirty="0"/>
              <a:t> relations are types of relations that satisfy specific properties.</a:t>
            </a:r>
            <a:endParaRPr lang="zh-CN" altLang="en-US" sz="2400" b="1" dirty="0"/>
          </a:p>
        </p:txBody>
      </p:sp>
      <p:sp>
        <p:nvSpPr>
          <p:cNvPr id="11" name="内容占位符 2">
            <a:extLst>
              <a:ext uri="{FF2B5EF4-FFF2-40B4-BE49-F238E27FC236}">
                <a16:creationId xmlns:a16="http://schemas.microsoft.com/office/drawing/2014/main" id="{6AE9E122-7425-4727-8546-D7089F8C623E}"/>
              </a:ext>
            </a:extLst>
          </p:cNvPr>
          <p:cNvSpPr txBox="1">
            <a:spLocks/>
          </p:cNvSpPr>
          <p:nvPr/>
        </p:nvSpPr>
        <p:spPr>
          <a:xfrm>
            <a:off x="1130110" y="3080200"/>
            <a:ext cx="10406492" cy="18655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defRPr/>
            </a:pPr>
            <a:r>
              <a:rPr lang="en-US" altLang="zh-CN" sz="2400" dirty="0"/>
              <a:t>In 1970, </a:t>
            </a:r>
            <a:r>
              <a:rPr lang="en-US" altLang="zh-CN" sz="2400" b="1" dirty="0"/>
              <a:t>Edgar F. Codd</a:t>
            </a:r>
            <a:r>
              <a:rPr lang="en-US" altLang="zh-CN" sz="2400" dirty="0"/>
              <a:t> (a mathematician and computer scientist) proposed the </a:t>
            </a:r>
            <a:r>
              <a:rPr lang="en-US" altLang="zh-CN" sz="2400" b="1" dirty="0"/>
              <a:t>relational model</a:t>
            </a:r>
            <a:r>
              <a:rPr lang="en-US" altLang="zh-CN" sz="2400" dirty="0"/>
              <a:t> for building relational databases. He used the concept of </a:t>
            </a:r>
            <a:r>
              <a:rPr lang="en-US" altLang="zh-CN" sz="2400" b="1" dirty="0"/>
              <a:t>relations</a:t>
            </a:r>
            <a:r>
              <a:rPr lang="en-US" altLang="zh-CN" sz="2400" dirty="0"/>
              <a:t> from mathematics to organize data.</a:t>
            </a:r>
            <a:br>
              <a:rPr lang="en-US" altLang="zh-CN" sz="2400" dirty="0"/>
            </a:br>
            <a:r>
              <a:rPr lang="en-US" altLang="zh-CN" sz="2400" dirty="0"/>
              <a:t>Relational databases adopted the notion of a </a:t>
            </a:r>
            <a:r>
              <a:rPr lang="en-US" altLang="zh-CN" sz="2400" b="1" dirty="0"/>
              <a:t>"relation"</a:t>
            </a:r>
            <a:r>
              <a:rPr lang="en-US" altLang="zh-CN" sz="2400" dirty="0"/>
              <a:t> from set theory (a set of ordered pairs), and gave it a special application and interpretation within the context of relational database theory.</a:t>
            </a:r>
            <a:endParaRPr lang="zh-CN" altLang="en-US" b="1" dirty="0"/>
          </a:p>
        </p:txBody>
      </p:sp>
      <p:sp>
        <p:nvSpPr>
          <p:cNvPr id="17" name="内容占位符 2">
            <a:extLst>
              <a:ext uri="{FF2B5EF4-FFF2-40B4-BE49-F238E27FC236}">
                <a16:creationId xmlns:a16="http://schemas.microsoft.com/office/drawing/2014/main" id="{5B8B017D-335B-49DB-8478-3AA7F6A4C73F}"/>
              </a:ext>
            </a:extLst>
          </p:cNvPr>
          <p:cNvSpPr txBox="1">
            <a:spLocks/>
          </p:cNvSpPr>
          <p:nvPr/>
        </p:nvSpPr>
        <p:spPr>
          <a:xfrm>
            <a:off x="1130110" y="998037"/>
            <a:ext cx="11290490" cy="223371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FontTx/>
              <a:buNone/>
              <a:defRPr/>
            </a:pPr>
            <a:r>
              <a:rPr lang="en-US" altLang="zh-CN" sz="3200" b="1" dirty="0"/>
              <a:t>Tables and Relations</a:t>
            </a:r>
            <a:r>
              <a:rPr lang="en-US" altLang="zh-CN" sz="3200" dirty="0"/>
              <a:t>:</a:t>
            </a:r>
            <a:br>
              <a:rPr lang="en-US" altLang="zh-CN" sz="3200" dirty="0"/>
            </a:br>
            <a:r>
              <a:rPr lang="en-US" altLang="zh-CN" sz="3200" dirty="0"/>
              <a:t>Each table in a database represents a </a:t>
            </a:r>
            <a:r>
              <a:rPr lang="en-US" altLang="zh-CN" sz="3200" b="1" dirty="0"/>
              <a:t>relation</a:t>
            </a:r>
            <a:r>
              <a:rPr lang="en-US" altLang="zh-CN" sz="3200" dirty="0"/>
              <a:t>. Each row in the table (also called a </a:t>
            </a:r>
            <a:r>
              <a:rPr lang="en-US" altLang="zh-CN" sz="3200" b="1" dirty="0"/>
              <a:t>tuple</a:t>
            </a:r>
            <a:r>
              <a:rPr lang="en-US" altLang="zh-CN" sz="3200" dirty="0"/>
              <a:t>) represents an </a:t>
            </a:r>
            <a:r>
              <a:rPr lang="en-US" altLang="zh-CN" sz="3200" b="1" dirty="0"/>
              <a:t>ordered tuple</a:t>
            </a:r>
            <a:r>
              <a:rPr lang="en-US" altLang="zh-CN" sz="3200" dirty="0"/>
              <a:t>, which is a member of the relation.</a:t>
            </a:r>
          </a:p>
          <a:p>
            <a:pPr marL="0" indent="0">
              <a:lnSpc>
                <a:spcPct val="110000"/>
              </a:lnSpc>
              <a:buFontTx/>
              <a:buNone/>
              <a:defRPr/>
            </a:pPr>
            <a:r>
              <a:rPr lang="en-US" altLang="zh-CN" sz="3200" b="1" dirty="0"/>
              <a:t>Relationships Between Elements</a:t>
            </a:r>
            <a:r>
              <a:rPr lang="en-US" altLang="zh-CN" sz="3200" dirty="0"/>
              <a:t>:</a:t>
            </a:r>
            <a:br>
              <a:rPr lang="en-US" altLang="zh-CN" sz="3200" dirty="0"/>
            </a:br>
            <a:r>
              <a:rPr lang="en-US" altLang="zh-CN" sz="3200" dirty="0"/>
              <a:t>Each row in a table represents a specific </a:t>
            </a:r>
            <a:r>
              <a:rPr lang="en-US" altLang="zh-CN" sz="3200" b="1" dirty="0"/>
              <a:t>association or "relation"</a:t>
            </a:r>
            <a:r>
              <a:rPr lang="en-US" altLang="zh-CN" sz="3200" dirty="0"/>
              <a:t> between columns (also called </a:t>
            </a:r>
            <a:r>
              <a:rPr lang="en-US" altLang="zh-CN" sz="3200" b="1" dirty="0"/>
              <a:t>attributes</a:t>
            </a:r>
            <a:r>
              <a:rPr lang="en-US" altLang="zh-CN" sz="3200" dirty="0"/>
              <a:t>), forming a meaningful set of data.</a:t>
            </a:r>
            <a:endParaRPr lang="zh-CN" altLang="en-US" b="1" dirty="0"/>
          </a:p>
        </p:txBody>
      </p:sp>
    </p:spTree>
    <p:extLst>
      <p:ext uri="{BB962C8B-B14F-4D97-AF65-F5344CB8AC3E}">
        <p14:creationId xmlns:p14="http://schemas.microsoft.com/office/powerpoint/2010/main" val="37120082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rPr>
              <a:t>          5.3 Relational Algebra</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1631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Clr>
                <a:srgbClr val="0B61FF"/>
              </a:buClr>
              <a:buSzPct val="80000"/>
              <a:buFont typeface="Wingdings" panose="05000000000000000000" pitchFamily="2" charset="2"/>
              <a:buChar char="n"/>
            </a:pPr>
            <a:r>
              <a:rPr lang="en-US" sz="2400" dirty="0">
                <a:solidFill>
                  <a:schemeClr val="bg2">
                    <a:lumMod val="50000"/>
                  </a:schemeClr>
                </a:solidFill>
                <a:latin typeface="Trebuchet MS" panose="020B0603020202020204" pitchFamily="34" charset="0"/>
              </a:rPr>
              <a:t>5.3.1 </a:t>
            </a:r>
            <a:r>
              <a:rPr lang="en-US" altLang="zh-CN" sz="1600" dirty="0">
                <a:solidFill>
                  <a:schemeClr val="bg2">
                    <a:lumMod val="50000"/>
                  </a:schemeClr>
                </a:solidFill>
              </a:rPr>
              <a:t> </a:t>
            </a:r>
            <a:r>
              <a:rPr lang="en-US" altLang="zh-CN" sz="2400" dirty="0">
                <a:solidFill>
                  <a:schemeClr val="bg2">
                    <a:lumMod val="50000"/>
                  </a:schemeClr>
                </a:solidFill>
                <a:latin typeface="Trebuchet MS" panose="020B0603020202020204" pitchFamily="34" charset="0"/>
              </a:rPr>
              <a:t>Relational Algebra and Its Components</a:t>
            </a:r>
          </a:p>
          <a:p>
            <a:pPr marL="342900" indent="-342900">
              <a:lnSpc>
                <a:spcPct val="15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5.3.2 </a:t>
            </a:r>
            <a:r>
              <a:rPr lang="en-US" altLang="zh-CN" sz="2400" dirty="0">
                <a:solidFill>
                  <a:srgbClr val="0B61FF"/>
                </a:solidFill>
                <a:latin typeface="Trebuchet MS" panose="020B0603020202020204" pitchFamily="34" charset="0"/>
              </a:rPr>
              <a:t>Relational Algebra Operations</a:t>
            </a:r>
          </a:p>
          <a:p>
            <a:pPr marL="892175" indent="273050">
              <a:lnSpc>
                <a:spcPct val="120000"/>
              </a:lnSpc>
              <a:spcBef>
                <a:spcPts val="600"/>
              </a:spcBef>
              <a:buClr>
                <a:srgbClr val="0B61FF"/>
              </a:buClr>
              <a:buSzPct val="120000"/>
            </a:pPr>
            <a:r>
              <a:rPr lang="en-US" altLang="zh-CN" sz="2400" dirty="0">
                <a:latin typeface="Trebuchet MS" panose="020B0603020202020204" pitchFamily="34" charset="0"/>
              </a:rPr>
              <a:t>Basic and Compound Operations in Relational Algebra</a:t>
            </a:r>
          </a:p>
          <a:p>
            <a:pPr marL="892175" indent="273050">
              <a:lnSpc>
                <a:spcPct val="120000"/>
              </a:lnSpc>
              <a:spcBef>
                <a:spcPts val="600"/>
              </a:spcBef>
              <a:buClr>
                <a:srgbClr val="0B61FF"/>
              </a:buClr>
              <a:buSzPct val="120000"/>
            </a:pPr>
            <a:r>
              <a:rPr lang="en-US" altLang="zh-CN" sz="2400" dirty="0">
                <a:latin typeface="Trebuchet MS" panose="020B0603020202020204" pitchFamily="34" charset="0"/>
              </a:rPr>
              <a:t>Algebraic Operations of Relational Databases</a:t>
            </a:r>
          </a:p>
          <a:p>
            <a:pPr marL="892175" indent="273050">
              <a:lnSpc>
                <a:spcPct val="120000"/>
              </a:lnSpc>
              <a:spcBef>
                <a:spcPts val="600"/>
              </a:spcBef>
              <a:buClr>
                <a:srgbClr val="0B61FF"/>
              </a:buClr>
              <a:buSzPct val="120000"/>
            </a:pPr>
            <a:r>
              <a:rPr lang="en-US" altLang="zh-CN" sz="2400" dirty="0">
                <a:latin typeface="Trebuchet MS" panose="020B0603020202020204" pitchFamily="34" charset="0"/>
              </a:rPr>
              <a:t>Relational Algebra Operations and SQL</a:t>
            </a:r>
          </a:p>
          <a:p>
            <a:pPr marL="342900" indent="-342900">
              <a:lnSpc>
                <a:spcPct val="150000"/>
              </a:lnSpc>
              <a:buClr>
                <a:srgbClr val="0B61FF"/>
              </a:buClr>
              <a:buSzPct val="80000"/>
              <a:buFont typeface="Wingdings" panose="05000000000000000000" pitchFamily="2" charset="2"/>
              <a:buChar char="n"/>
            </a:pPr>
            <a:r>
              <a:rPr lang="en-US" sz="2400" b="1" dirty="0">
                <a:latin typeface="Trebuchet MS" panose="020B0603020202020204" pitchFamily="34" charset="0"/>
              </a:rPr>
              <a:t>5.3.3 </a:t>
            </a:r>
            <a:r>
              <a:rPr lang="en-US" altLang="zh-CN" sz="2400" dirty="0">
                <a:latin typeface="Trebuchet MS" panose="020B0603020202020204" pitchFamily="34" charset="0"/>
              </a:rPr>
              <a:t>Business Process Modeling and Its Tools (Languages)</a:t>
            </a:r>
            <a:endParaRPr lang="en-US" sz="2400" dirty="0">
              <a:latin typeface="Trebuchet MS" panose="020B0603020202020204" pitchFamily="34" charset="0"/>
            </a:endParaRPr>
          </a:p>
          <a:p>
            <a:pPr lvl="1"/>
            <a:endParaRPr lang="zh-CN" altLang="en-US" sz="2800" b="1" dirty="0"/>
          </a:p>
        </p:txBody>
      </p:sp>
    </p:spTree>
    <p:extLst>
      <p:ext uri="{BB962C8B-B14F-4D97-AF65-F5344CB8AC3E}">
        <p14:creationId xmlns:p14="http://schemas.microsoft.com/office/powerpoint/2010/main" val="18910554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5.3.2 Relational algebra operations</a:t>
            </a:r>
          </a:p>
          <a:p>
            <a:r>
              <a:rPr lang="en-US" altLang="zh-CN" sz="20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Basic and Compound Operations in Relational Algebra</a:t>
            </a:r>
            <a:endParaRPr lang="en-US" altLang="zh-CN" sz="2400" b="1" dirty="0">
              <a:highlight>
                <a:srgbClr val="FF0000"/>
              </a:highligh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en-US" altLang="zh-CN" sz="2800" b="1" dirty="0">
              <a:solidFill>
                <a:srgbClr val="FF0000"/>
              </a:solidFill>
            </a:endParaRPr>
          </a:p>
        </p:txBody>
      </p:sp>
      <p:sp>
        <p:nvSpPr>
          <p:cNvPr id="14" name="内容占位符 2">
            <a:extLst>
              <a:ext uri="{FF2B5EF4-FFF2-40B4-BE49-F238E27FC236}">
                <a16:creationId xmlns:a16="http://schemas.microsoft.com/office/drawing/2014/main" id="{C447E5EE-9BA9-49D3-8299-53039670480D}"/>
              </a:ext>
            </a:extLst>
          </p:cNvPr>
          <p:cNvSpPr>
            <a:spLocks noGrp="1"/>
          </p:cNvSpPr>
          <p:nvPr>
            <p:ph idx="1"/>
          </p:nvPr>
        </p:nvSpPr>
        <p:spPr>
          <a:xfrm>
            <a:off x="1130108" y="868732"/>
            <a:ext cx="9550591" cy="5607634"/>
          </a:xfrm>
        </p:spPr>
        <p:txBody>
          <a:bodyPr>
            <a:noAutofit/>
          </a:bodyPr>
          <a:lstStyle/>
          <a:p>
            <a:pPr>
              <a:lnSpc>
                <a:spcPct val="120000"/>
              </a:lnSpc>
              <a:spcBef>
                <a:spcPts val="300"/>
              </a:spcBef>
              <a:buClr>
                <a:srgbClr val="0B61FF"/>
              </a:buClr>
              <a:buSzPct val="80000"/>
              <a:buFont typeface="Wingdings" panose="05000000000000000000" pitchFamily="2" charset="2"/>
              <a:buChar char="n"/>
              <a:defRPr/>
            </a:pPr>
            <a:r>
              <a:rPr lang="en-US" altLang="zh-CN" sz="2400" b="1" i="1" dirty="0">
                <a:latin typeface="Trebuchet MS" panose="020B0603020202020204" pitchFamily="34" charset="0"/>
              </a:rPr>
              <a:t>Relational algebra operations </a:t>
            </a:r>
            <a:r>
              <a:rPr lang="en-US" altLang="zh-CN" sz="2400" dirty="0">
                <a:latin typeface="Trebuchet MS" panose="020B0603020202020204" pitchFamily="34" charset="0"/>
              </a:rPr>
              <a:t>are a subset of relational operations. They form a formal, algebraic system for constructing and optimizing queries.</a:t>
            </a:r>
          </a:p>
          <a:p>
            <a:pPr>
              <a:lnSpc>
                <a:spcPct val="120000"/>
              </a:lnSpc>
              <a:spcBef>
                <a:spcPts val="300"/>
              </a:spcBef>
              <a:buClr>
                <a:srgbClr val="0B61FF"/>
              </a:buClr>
              <a:buSzPct val="80000"/>
              <a:buFont typeface="Wingdings" panose="05000000000000000000" pitchFamily="2" charset="2"/>
              <a:buChar char="n"/>
              <a:defRPr/>
            </a:pPr>
            <a:r>
              <a:rPr lang="en-US" altLang="zh-CN" sz="2400" dirty="0">
                <a:latin typeface="Trebuchet MS" panose="020B0603020202020204" pitchFamily="34" charset="0"/>
              </a:rPr>
              <a:t>Relational algebra operations are a set of </a:t>
            </a:r>
            <a:r>
              <a:rPr lang="en-US" altLang="zh-CN" sz="2400" b="1" i="1" dirty="0">
                <a:latin typeface="Trebuchet MS" panose="020B0603020202020204" pitchFamily="34" charset="0"/>
              </a:rPr>
              <a:t>closed operations</a:t>
            </a:r>
            <a:r>
              <a:rPr lang="en-US" altLang="zh-CN" sz="2400" dirty="0">
                <a:latin typeface="Trebuchet MS" panose="020B0603020202020204" pitchFamily="34" charset="0"/>
              </a:rPr>
              <a:t>, where both the input and the result are relations (</a:t>
            </a:r>
            <a:r>
              <a:rPr lang="en-US" altLang="zh-CN" sz="2400" b="1" dirty="0">
                <a:latin typeface="Trebuchet MS" panose="020B0603020202020204" pitchFamily="34" charset="0"/>
              </a:rPr>
              <a:t>tables</a:t>
            </a:r>
            <a:r>
              <a:rPr lang="en-US" altLang="zh-CN" sz="2400" dirty="0">
                <a:latin typeface="Trebuchet MS" panose="020B0603020202020204" pitchFamily="34" charset="0"/>
              </a:rPr>
              <a:t>). They form the theoretical foundation of the SQL query language.</a:t>
            </a:r>
          </a:p>
          <a:p>
            <a:pPr>
              <a:lnSpc>
                <a:spcPct val="120000"/>
              </a:lnSpc>
              <a:spcBef>
                <a:spcPts val="300"/>
              </a:spcBef>
              <a:buClr>
                <a:srgbClr val="0B61FF"/>
              </a:buClr>
              <a:buSzPct val="80000"/>
              <a:buFont typeface="Wingdings" panose="05000000000000000000" pitchFamily="2" charset="2"/>
              <a:buChar char="n"/>
              <a:defRPr/>
            </a:pPr>
            <a:r>
              <a:rPr lang="en-US" altLang="zh-CN" sz="2400" dirty="0">
                <a:latin typeface="Trebuchet MS" panose="020B0603020202020204" pitchFamily="34" charset="0"/>
              </a:rPr>
              <a:t>Relational algebra consists of </a:t>
            </a:r>
            <a:r>
              <a:rPr lang="en-US" altLang="zh-CN" sz="2400" b="1" i="1" dirty="0">
                <a:latin typeface="Trebuchet MS" panose="020B0603020202020204" pitchFamily="34" charset="0"/>
              </a:rPr>
              <a:t>basic and derived operations</a:t>
            </a:r>
            <a:r>
              <a:rPr lang="en-US" altLang="zh-CN" sz="2400" dirty="0">
                <a:latin typeface="Trebuchet MS" panose="020B0603020202020204" pitchFamily="34" charset="0"/>
              </a:rPr>
              <a:t>. Derived operations are constructed by combining basic ones.</a:t>
            </a:r>
          </a:p>
          <a:p>
            <a:pPr>
              <a:lnSpc>
                <a:spcPct val="120000"/>
              </a:lnSpc>
              <a:spcBef>
                <a:spcPts val="300"/>
              </a:spcBef>
              <a:buClr>
                <a:srgbClr val="0B61FF"/>
              </a:buClr>
              <a:buSzPct val="80000"/>
              <a:buFont typeface="Wingdings" panose="05000000000000000000" pitchFamily="2" charset="2"/>
              <a:buChar char="n"/>
              <a:defRPr/>
            </a:pPr>
            <a:r>
              <a:rPr lang="en-US" altLang="zh-CN" sz="2400" dirty="0">
                <a:latin typeface="Trebuchet MS" panose="020B0603020202020204" pitchFamily="34" charset="0"/>
              </a:rPr>
              <a:t>The </a:t>
            </a:r>
            <a:r>
              <a:rPr lang="en-US" altLang="zh-CN" sz="2400" b="1" i="1" dirty="0">
                <a:latin typeface="Trebuchet MS" panose="020B0603020202020204" pitchFamily="34" charset="0"/>
              </a:rPr>
              <a:t>basic operations include </a:t>
            </a:r>
            <a:r>
              <a:rPr lang="en-US" altLang="zh-CN" sz="2400" dirty="0">
                <a:latin typeface="Trebuchet MS" panose="020B0603020202020204" pitchFamily="34" charset="0"/>
              </a:rPr>
              <a:t>Selection, Projection, Union, Difference, Cartesian Product, and Rename. </a:t>
            </a:r>
          </a:p>
          <a:p>
            <a:pPr>
              <a:lnSpc>
                <a:spcPct val="120000"/>
              </a:lnSpc>
              <a:spcBef>
                <a:spcPts val="300"/>
              </a:spcBef>
              <a:buClr>
                <a:srgbClr val="0B61FF"/>
              </a:buClr>
              <a:buSzPct val="80000"/>
              <a:buFont typeface="Wingdings" panose="05000000000000000000" pitchFamily="2" charset="2"/>
              <a:buChar char="n"/>
              <a:defRPr/>
            </a:pPr>
            <a:r>
              <a:rPr lang="en-US" altLang="zh-CN" sz="2400" dirty="0">
                <a:latin typeface="Trebuchet MS" panose="020B0603020202020204" pitchFamily="34" charset="0"/>
              </a:rPr>
              <a:t>The </a:t>
            </a:r>
            <a:r>
              <a:rPr lang="en-US" altLang="zh-CN" sz="2400" b="1" i="1" dirty="0">
                <a:latin typeface="Trebuchet MS" panose="020B0603020202020204" pitchFamily="34" charset="0"/>
              </a:rPr>
              <a:t>Derived operations include </a:t>
            </a:r>
            <a:r>
              <a:rPr lang="en-US" altLang="zh-CN" sz="2400" dirty="0">
                <a:latin typeface="Trebuchet MS" panose="020B0603020202020204" pitchFamily="34" charset="0"/>
              </a:rPr>
              <a:t>Join, Natural Join, Theta Join, and Division.</a:t>
            </a:r>
            <a:endParaRPr lang="en-US" altLang="zh-CN"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28275210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fade">
                                      <p:cBhvr>
                                        <p:cTn id="28" dur="1000"/>
                                        <p:tgtEl>
                                          <p:spTgt spid="14">
                                            <p:txEl>
                                              <p:pRg st="4" end="4"/>
                                            </p:txEl>
                                          </p:spTgt>
                                        </p:tgtEl>
                                      </p:cBhvr>
                                    </p:animEffect>
                                    <p:anim calcmode="lin" valueType="num">
                                      <p:cBhvr>
                                        <p:cTn id="29"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5.3.2 Relational algebra operations</a:t>
            </a: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8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Basic Operations in Relational Algebra</a:t>
            </a:r>
            <a:endParaRPr lang="en-US" altLang="zh-CN"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en-US" altLang="zh-CN" sz="2800" b="1" dirty="0">
              <a:solidFill>
                <a:srgbClr val="FF0000"/>
              </a:solidFill>
            </a:endParaRPr>
          </a:p>
        </p:txBody>
      </p:sp>
      <p:sp>
        <p:nvSpPr>
          <p:cNvPr id="14" name="内容占位符 2">
            <a:extLst>
              <a:ext uri="{FF2B5EF4-FFF2-40B4-BE49-F238E27FC236}">
                <a16:creationId xmlns:a16="http://schemas.microsoft.com/office/drawing/2014/main" id="{C447E5EE-9BA9-49D3-8299-53039670480D}"/>
              </a:ext>
            </a:extLst>
          </p:cNvPr>
          <p:cNvSpPr>
            <a:spLocks noGrp="1"/>
          </p:cNvSpPr>
          <p:nvPr>
            <p:ph idx="1"/>
          </p:nvPr>
        </p:nvSpPr>
        <p:spPr>
          <a:xfrm>
            <a:off x="1130109" y="868731"/>
            <a:ext cx="9137314" cy="5192953"/>
          </a:xfrm>
        </p:spPr>
        <p:txBody>
          <a:bodyPr>
            <a:noAutofit/>
          </a:bodyPr>
          <a:lstStyle/>
          <a:p>
            <a:pPr>
              <a:lnSpc>
                <a:spcPct val="120000"/>
              </a:lnSpc>
              <a:spcBef>
                <a:spcPts val="6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Selection</a:t>
            </a:r>
            <a:r>
              <a:rPr lang="en-US" altLang="zh-CN" sz="2400" b="1" dirty="0">
                <a:solidFill>
                  <a:srgbClr val="0B61FF"/>
                </a:solidFill>
                <a:latin typeface="Trebuchet MS" panose="020B0603020202020204" pitchFamily="34" charset="0"/>
              </a:rPr>
              <a:t>(</a:t>
            </a:r>
            <a:r>
              <a:rPr lang="en-US" altLang="zh-CN" b="1" dirty="0">
                <a:solidFill>
                  <a:srgbClr val="0B61FF"/>
                </a:solidFill>
              </a:rPr>
              <a:t>σ)</a:t>
            </a:r>
            <a:r>
              <a:rPr lang="en-US" altLang="zh-CN" sz="2400" dirty="0">
                <a:latin typeface="Trebuchet MS" panose="020B0603020202020204" pitchFamily="34" charset="0"/>
              </a:rPr>
              <a:t>: Selects all tuples from a relation that satisfy a given condition.</a:t>
            </a:r>
          </a:p>
          <a:p>
            <a:pPr>
              <a:lnSpc>
                <a:spcPct val="120000"/>
              </a:lnSpc>
              <a:spcBef>
                <a:spcPts val="6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Projection</a:t>
            </a:r>
            <a:r>
              <a:rPr lang="en-US" altLang="zh-CN" sz="2400" b="1" dirty="0">
                <a:solidFill>
                  <a:srgbClr val="0B61FF"/>
                </a:solidFill>
                <a:latin typeface="Trebuchet MS" panose="020B0603020202020204" pitchFamily="34" charset="0"/>
              </a:rPr>
              <a:t>(π)</a:t>
            </a:r>
            <a:r>
              <a:rPr lang="en-US" altLang="zh-CN" sz="2400" dirty="0">
                <a:latin typeface="Trebuchet MS" panose="020B0603020202020204" pitchFamily="34" charset="0"/>
              </a:rPr>
              <a:t>: Creates a new relation by selecting specific columns from an existing relation.</a:t>
            </a:r>
          </a:p>
          <a:p>
            <a:pPr>
              <a:lnSpc>
                <a:spcPct val="120000"/>
              </a:lnSpc>
              <a:spcBef>
                <a:spcPts val="6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Union</a:t>
            </a:r>
            <a:r>
              <a:rPr lang="en-US" altLang="zh-CN" sz="2400" b="1" dirty="0">
                <a:solidFill>
                  <a:srgbClr val="0B61FF"/>
                </a:solidFill>
                <a:latin typeface="Trebuchet MS" panose="020B0603020202020204" pitchFamily="34" charset="0"/>
              </a:rPr>
              <a:t>(</a:t>
            </a:r>
            <a:r>
              <a:rPr lang="zh-CN" altLang="zh-CN" sz="2400" b="1" dirty="0">
                <a:solidFill>
                  <a:srgbClr val="0B61FF"/>
                </a:solidFill>
                <a:latin typeface="Times New Roman" panose="02020603050405020304" pitchFamily="18" charset="0"/>
                <a:cs typeface="Times New Roman" panose="02020603050405020304" pitchFamily="18" charset="0"/>
              </a:rPr>
              <a:t>∪</a:t>
            </a:r>
            <a:r>
              <a:rPr lang="en-US" altLang="zh-CN" sz="2400" b="1" dirty="0">
                <a:solidFill>
                  <a:srgbClr val="0B61FF"/>
                </a:solidFill>
                <a:latin typeface="Trebuchet MS" panose="020B0603020202020204" pitchFamily="34" charset="0"/>
              </a:rPr>
              <a:t>)</a:t>
            </a:r>
            <a:r>
              <a:rPr lang="en-US" altLang="zh-CN" sz="2400" dirty="0">
                <a:latin typeface="Trebuchet MS" panose="020B0603020202020204" pitchFamily="34" charset="0"/>
              </a:rPr>
              <a:t>: Combines two relations with the same attributes into a single relation, denoted as </a:t>
            </a:r>
            <a:r>
              <a:rPr lang="en-US" altLang="zh-CN" sz="2400" b="1" dirty="0">
                <a:latin typeface="Trebuchet MS" panose="020B0603020202020204" pitchFamily="34" charset="0"/>
                <a:cs typeface="Times New Roman" panose="02020603050405020304" pitchFamily="18" charset="0"/>
              </a:rPr>
              <a:t>R ∪ S</a:t>
            </a:r>
            <a:r>
              <a:rPr lang="zh-CN" altLang="en-US"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a:lnSpc>
                <a:spcPct val="120000"/>
              </a:lnSpc>
              <a:spcBef>
                <a:spcPts val="6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Set Difference</a:t>
            </a:r>
            <a:r>
              <a:rPr lang="en-US" altLang="zh-CN" sz="2400" b="1" dirty="0">
                <a:solidFill>
                  <a:srgbClr val="0B61FF"/>
                </a:solidFill>
                <a:latin typeface="Trebuchet MS" panose="020B0603020202020204" pitchFamily="34" charset="0"/>
              </a:rPr>
              <a:t>(–)</a:t>
            </a:r>
            <a:r>
              <a:rPr lang="en-US" altLang="zh-CN" sz="2400" dirty="0">
                <a:latin typeface="Trebuchet MS" panose="020B0603020202020204" pitchFamily="34" charset="0"/>
              </a:rPr>
              <a:t>: Removes the elements of one relation from another, denoted as </a:t>
            </a:r>
            <a:r>
              <a:rPr lang="en-US" altLang="zh-CN" sz="2400" b="1" dirty="0">
                <a:latin typeface="Trebuchet MS" panose="020B0603020202020204" pitchFamily="34" charset="0"/>
                <a:cs typeface="Times New Roman" panose="02020603050405020304" pitchFamily="18" charset="0"/>
              </a:rPr>
              <a:t>R – S</a:t>
            </a:r>
            <a:r>
              <a:rPr lang="zh-CN" altLang="en-US"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a:lnSpc>
                <a:spcPct val="120000"/>
              </a:lnSpc>
              <a:spcBef>
                <a:spcPts val="6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Cartesian Product</a:t>
            </a:r>
            <a:r>
              <a:rPr lang="en-US" altLang="zh-CN" sz="2400" b="1" dirty="0">
                <a:solidFill>
                  <a:srgbClr val="0B61FF"/>
                </a:solidFill>
                <a:latin typeface="Trebuchet MS" panose="020B0603020202020204" pitchFamily="34" charset="0"/>
              </a:rPr>
              <a:t>(×)</a:t>
            </a:r>
            <a:r>
              <a:rPr lang="en-US" altLang="zh-CN" sz="2400" dirty="0">
                <a:latin typeface="Trebuchet MS" panose="020B0603020202020204" pitchFamily="34" charset="0"/>
              </a:rPr>
              <a:t>: Forms all possible combinations of tuples from two relations, denoted as </a:t>
            </a:r>
            <a:r>
              <a:rPr lang="en-US" altLang="zh-CN" sz="2400" b="1" dirty="0">
                <a:latin typeface="Trebuchet MS" panose="020B0603020202020204" pitchFamily="34" charset="0"/>
                <a:cs typeface="Times New Roman" panose="02020603050405020304" pitchFamily="18" charset="0"/>
              </a:rPr>
              <a:t>R × S</a:t>
            </a:r>
            <a:r>
              <a:rPr lang="zh-CN" altLang="en-US"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3207465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fade">
                                      <p:cBhvr>
                                        <p:cTn id="28" dur="1000"/>
                                        <p:tgtEl>
                                          <p:spTgt spid="14">
                                            <p:txEl>
                                              <p:pRg st="4" end="4"/>
                                            </p:txEl>
                                          </p:spTgt>
                                        </p:tgtEl>
                                      </p:cBhvr>
                                    </p:animEffect>
                                    <p:anim calcmode="lin" valueType="num">
                                      <p:cBhvr>
                                        <p:cTn id="29"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t>5.3.2 Relational algebra basic operations</a:t>
            </a:r>
            <a:endParaRPr lang="en-US" altLang="zh-CN"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en-US" altLang="zh-CN" sz="2800" b="1" dirty="0">
              <a:solidFill>
                <a:srgbClr val="FF0000"/>
              </a:solidFill>
            </a:endParaRPr>
          </a:p>
        </p:txBody>
      </p:sp>
      <p:sp>
        <p:nvSpPr>
          <p:cNvPr id="14" name="内容占位符 2">
            <a:extLst>
              <a:ext uri="{FF2B5EF4-FFF2-40B4-BE49-F238E27FC236}">
                <a16:creationId xmlns:a16="http://schemas.microsoft.com/office/drawing/2014/main" id="{C447E5EE-9BA9-49D3-8299-53039670480D}"/>
              </a:ext>
            </a:extLst>
          </p:cNvPr>
          <p:cNvSpPr>
            <a:spLocks noGrp="1"/>
          </p:cNvSpPr>
          <p:nvPr>
            <p:ph idx="1"/>
          </p:nvPr>
        </p:nvSpPr>
        <p:spPr>
          <a:xfrm>
            <a:off x="1130109" y="1144156"/>
            <a:ext cx="8410497" cy="4661736"/>
          </a:xfrm>
        </p:spPr>
        <p:txBody>
          <a:bodyPr>
            <a:noAutofit/>
          </a:bodyPr>
          <a:lstStyle/>
          <a:p>
            <a:pPr marL="0" indent="0" eaLnBrk="1" hangingPunct="1">
              <a:buFontTx/>
              <a:buNone/>
              <a:defRPr/>
            </a:pPr>
            <a:r>
              <a:rPr lang="en-US" altLang="zh-CN" b="1" dirty="0"/>
              <a:t>Selection</a:t>
            </a:r>
            <a:r>
              <a:rPr lang="en-US" altLang="zh-CN" dirty="0"/>
              <a:t>: Selects all tuples from a relation that satisfy a given condition.</a:t>
            </a:r>
            <a:br>
              <a:rPr lang="en-US" altLang="zh-CN" dirty="0"/>
            </a:br>
            <a:r>
              <a:rPr lang="en-US" altLang="zh-CN" b="1" dirty="0"/>
              <a:t>Projection</a:t>
            </a:r>
            <a:r>
              <a:rPr lang="en-US" altLang="zh-CN" dirty="0"/>
              <a:t>: Creates a new relation by selecting specific columns from an existing relation.</a:t>
            </a:r>
            <a:br>
              <a:rPr lang="en-US" altLang="zh-CN" dirty="0"/>
            </a:br>
            <a:r>
              <a:rPr lang="en-US" altLang="zh-CN" b="1" dirty="0"/>
              <a:t>Union</a:t>
            </a:r>
            <a:r>
              <a:rPr lang="en-US" altLang="zh-CN" dirty="0"/>
              <a:t>: Combines two relations with the same attributes into a single relation, denoted as </a:t>
            </a:r>
            <a:r>
              <a:rPr lang="en-US" altLang="zh-CN" b="1" dirty="0">
                <a:latin typeface="Times New Roman" panose="02020603050405020304" pitchFamily="18" charset="0"/>
                <a:cs typeface="Times New Roman" panose="02020603050405020304" pitchFamily="18" charset="0"/>
              </a:rPr>
              <a:t>R ∪ S</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eaLnBrk="1" hangingPunct="1">
              <a:buFontTx/>
              <a:buNone/>
              <a:defRPr/>
            </a:pPr>
            <a:r>
              <a:rPr lang="en-US" altLang="zh-CN" b="1" dirty="0"/>
              <a:t>Set Difference</a:t>
            </a:r>
            <a:r>
              <a:rPr lang="en-US" altLang="zh-CN" dirty="0"/>
              <a:t>: Removes the elements of one relation from another, denoted as </a:t>
            </a:r>
            <a:r>
              <a:rPr lang="en-US" altLang="zh-CN" b="1" dirty="0">
                <a:latin typeface="Times New Roman" panose="02020603050405020304" pitchFamily="18" charset="0"/>
                <a:cs typeface="Times New Roman" panose="02020603050405020304" pitchFamily="18" charset="0"/>
              </a:rPr>
              <a:t>R – S</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eaLnBrk="1" hangingPunct="1">
              <a:buFontTx/>
              <a:buNone/>
              <a:defRPr/>
            </a:pPr>
            <a:r>
              <a:rPr lang="en-US" altLang="zh-CN" b="1" dirty="0"/>
              <a:t>Cartesian Product</a:t>
            </a:r>
            <a:r>
              <a:rPr lang="en-US" altLang="zh-CN" dirty="0"/>
              <a:t>: Forms all possible combinations of tuples from two relations, denoted as </a:t>
            </a:r>
            <a:r>
              <a:rPr lang="en-US" altLang="zh-CN" b="1" dirty="0">
                <a:latin typeface="Times New Roman" panose="02020603050405020304" pitchFamily="18" charset="0"/>
                <a:cs typeface="Times New Roman" panose="02020603050405020304" pitchFamily="18" charset="0"/>
              </a:rPr>
              <a:t>R × S</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08264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5.3.2 Relational algebra operations</a:t>
            </a:r>
          </a:p>
          <a:p>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Compound Operations in Relational Algebra</a:t>
            </a:r>
            <a:endParaRPr lang="en-US" altLang="zh-CN" sz="2400" b="1" dirty="0">
              <a:highlight>
                <a:srgbClr val="FF0000"/>
              </a:highligh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en-US" altLang="zh-CN" sz="2800" b="1" dirty="0">
              <a:solidFill>
                <a:srgbClr val="FF0000"/>
              </a:solidFill>
            </a:endParaRPr>
          </a:p>
        </p:txBody>
      </p:sp>
      <p:sp>
        <p:nvSpPr>
          <p:cNvPr id="14" name="内容占位符 2">
            <a:extLst>
              <a:ext uri="{FF2B5EF4-FFF2-40B4-BE49-F238E27FC236}">
                <a16:creationId xmlns:a16="http://schemas.microsoft.com/office/drawing/2014/main" id="{C447E5EE-9BA9-49D3-8299-53039670480D}"/>
              </a:ext>
            </a:extLst>
          </p:cNvPr>
          <p:cNvSpPr>
            <a:spLocks noGrp="1"/>
          </p:cNvSpPr>
          <p:nvPr>
            <p:ph idx="1"/>
          </p:nvPr>
        </p:nvSpPr>
        <p:spPr>
          <a:xfrm>
            <a:off x="655399" y="868732"/>
            <a:ext cx="11295302" cy="4782768"/>
          </a:xfrm>
        </p:spPr>
        <p:txBody>
          <a:bodyPr>
            <a:noAutofit/>
          </a:bodyPr>
          <a:lstStyle/>
          <a:p>
            <a:pPr eaLnBrk="1" hangingPunct="1">
              <a:lnSpc>
                <a:spcPct val="120000"/>
              </a:lnSpc>
              <a:spcBef>
                <a:spcPts val="6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Rename</a:t>
            </a:r>
            <a:r>
              <a:rPr lang="en-US" altLang="zh-CN" sz="2400" b="1" dirty="0">
                <a:solidFill>
                  <a:srgbClr val="0B61FF"/>
                </a:solidFill>
                <a:latin typeface="Trebuchet MS" panose="020B0603020202020204" pitchFamily="34" charset="0"/>
              </a:rPr>
              <a:t>(ρ )</a:t>
            </a:r>
            <a:r>
              <a:rPr lang="en-US" altLang="zh-CN" sz="2400" b="1" dirty="0">
                <a:latin typeface="Trebuchet MS" panose="020B0603020202020204" pitchFamily="34" charset="0"/>
              </a:rPr>
              <a:t>: </a:t>
            </a:r>
            <a:r>
              <a:rPr lang="en-US" altLang="zh-CN" sz="2400" dirty="0">
                <a:latin typeface="Trebuchet MS" panose="020B0603020202020204" pitchFamily="34" charset="0"/>
              </a:rPr>
              <a:t>Changes the names of attributes in a relation.</a:t>
            </a:r>
          </a:p>
          <a:p>
            <a:pPr eaLnBrk="1" hangingPunct="1">
              <a:lnSpc>
                <a:spcPct val="120000"/>
              </a:lnSpc>
              <a:spcBef>
                <a:spcPts val="6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Natural Join</a:t>
            </a:r>
            <a:r>
              <a:rPr lang="en-US" altLang="zh-CN" sz="2400" b="1" dirty="0">
                <a:solidFill>
                  <a:srgbClr val="0B61FF"/>
                </a:solidFill>
                <a:latin typeface="Trebuchet MS" panose="020B0603020202020204" pitchFamily="34" charset="0"/>
              </a:rPr>
              <a:t>(⨝ )</a:t>
            </a:r>
            <a:r>
              <a:rPr lang="en-US" altLang="zh-CN" sz="2400" dirty="0">
                <a:latin typeface="Trebuchet MS" panose="020B0603020202020204" pitchFamily="34" charset="0"/>
              </a:rPr>
              <a:t>: Merges two relations based on their common attributes, denoted as </a:t>
            </a:r>
            <a:r>
              <a:rPr lang="en-US" altLang="zh-CN" sz="2400" b="1" dirty="0">
                <a:latin typeface="Trebuchet MS" panose="020B0603020202020204" pitchFamily="34" charset="0"/>
              </a:rPr>
              <a:t>R ⨝ S</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eaLnBrk="1" hangingPunct="1">
              <a:lnSpc>
                <a:spcPct val="120000"/>
              </a:lnSpc>
              <a:spcBef>
                <a:spcPts val="6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Intersection</a:t>
            </a:r>
            <a:r>
              <a:rPr lang="en-US" altLang="zh-CN" sz="2400" b="1" dirty="0">
                <a:solidFill>
                  <a:srgbClr val="0B61FF"/>
                </a:solidFill>
                <a:latin typeface="Trebuchet MS" panose="020B0603020202020204" pitchFamily="34" charset="0"/>
              </a:rPr>
              <a:t>(∩)</a:t>
            </a:r>
            <a:r>
              <a:rPr lang="en-US" altLang="zh-CN" sz="2400" b="1" dirty="0">
                <a:latin typeface="Trebuchet MS" panose="020B0603020202020204" pitchFamily="34" charset="0"/>
              </a:rPr>
              <a:t> </a:t>
            </a:r>
            <a:r>
              <a:rPr lang="zh-CN" altLang="en-US"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R ∩ S</a:t>
            </a:r>
            <a:r>
              <a:rPr lang="en-US" altLang="zh-CN" sz="2400" dirty="0">
                <a:latin typeface="Trebuchet MS" panose="020B0603020202020204" pitchFamily="34" charset="0"/>
              </a:rPr>
              <a:t> is not a basic operation in relational algebra, but it can be constructed using union and set difference:</a:t>
            </a:r>
            <a:r>
              <a:rPr lang="zh-CN" altLang="zh-CN" sz="2400" dirty="0">
                <a:solidFill>
                  <a:srgbClr val="374151"/>
                </a:solidFill>
                <a:effectLst/>
                <a:latin typeface="Trebuchet MS" panose="020B0603020202020204" pitchFamily="34" charset="0"/>
                <a:ea typeface="等线" panose="02010600030101010101" pitchFamily="2" charset="-122"/>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R ∩ S =</a:t>
            </a:r>
            <a:r>
              <a:rPr lang="zh-CN"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R </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 S</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R - S</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S - R</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a:t>
            </a:r>
          </a:p>
          <a:p>
            <a:pPr eaLnBrk="1" hangingPunct="1">
              <a:lnSpc>
                <a:spcPct val="120000"/>
              </a:lnSpc>
              <a:spcBef>
                <a:spcPts val="600"/>
              </a:spcBef>
              <a:buClr>
                <a:srgbClr val="0B61FF"/>
              </a:buClr>
              <a:buSzPct val="80000"/>
              <a:buFont typeface="Wingdings" panose="05000000000000000000" pitchFamily="2" charset="2"/>
              <a:buChar char="n"/>
              <a:defRPr/>
            </a:pPr>
            <a:r>
              <a:rPr lang="en-US" altLang="zh-CN" sz="2400" dirty="0">
                <a:latin typeface="Trebuchet MS" panose="020B0603020202020204" pitchFamily="34" charset="0"/>
              </a:rPr>
              <a:t>Structured Query Language (</a:t>
            </a:r>
            <a:r>
              <a:rPr lang="en-US" altLang="zh-CN" sz="2400" b="1" dirty="0">
                <a:latin typeface="Trebuchet MS" panose="020B0603020202020204" pitchFamily="34" charset="0"/>
              </a:rPr>
              <a:t>SQL</a:t>
            </a:r>
            <a:r>
              <a:rPr lang="en-US" altLang="zh-CN" sz="2400" dirty="0">
                <a:latin typeface="Trebuchet MS" panose="020B0603020202020204" pitchFamily="34" charset="0"/>
              </a:rPr>
              <a:t>) is a </a:t>
            </a:r>
            <a:r>
              <a:rPr lang="en-US" altLang="zh-CN" sz="2400" b="1" dirty="0">
                <a:latin typeface="Trebuchet MS" panose="020B0603020202020204" pitchFamily="34" charset="0"/>
              </a:rPr>
              <a:t>practical implementation of relational algebra </a:t>
            </a:r>
            <a:r>
              <a:rPr lang="en-US" altLang="zh-CN" sz="2400" dirty="0">
                <a:latin typeface="Trebuchet MS" panose="020B0603020202020204" pitchFamily="34" charset="0"/>
              </a:rPr>
              <a:t>and relational calculus, enabling operations such as intersection, querying, insertion, updating, and deletion in relational databases.</a:t>
            </a:r>
            <a:endParaRPr lang="zh-CN" altLang="en-US"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10699835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t>5.3 </a:t>
            </a:r>
            <a:r>
              <a:rPr lang="zh-CN" altLang="en-US" sz="2400" b="1" dirty="0"/>
              <a:t>关系代数</a:t>
            </a:r>
            <a:r>
              <a:rPr lang="en-US" altLang="zh-CN" sz="2400" b="1" dirty="0">
                <a:effectLst/>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effectLst/>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关系代数的基本操作（续）</a:t>
            </a:r>
            <a:endParaRPr lang="en-US" altLang="zh-CN"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en-US" altLang="zh-CN" sz="2800" b="1" dirty="0">
              <a:solidFill>
                <a:srgbClr val="FF0000"/>
              </a:solidFill>
            </a:endParaRPr>
          </a:p>
        </p:txBody>
      </p:sp>
      <p:sp>
        <p:nvSpPr>
          <p:cNvPr id="14" name="内容占位符 2">
            <a:extLst>
              <a:ext uri="{FF2B5EF4-FFF2-40B4-BE49-F238E27FC236}">
                <a16:creationId xmlns:a16="http://schemas.microsoft.com/office/drawing/2014/main" id="{C447E5EE-9BA9-49D3-8299-53039670480D}"/>
              </a:ext>
            </a:extLst>
          </p:cNvPr>
          <p:cNvSpPr>
            <a:spLocks noGrp="1"/>
          </p:cNvSpPr>
          <p:nvPr>
            <p:ph idx="1"/>
          </p:nvPr>
        </p:nvSpPr>
        <p:spPr>
          <a:xfrm>
            <a:off x="1130109" y="868731"/>
            <a:ext cx="10820591" cy="5697325"/>
          </a:xfrm>
        </p:spPr>
        <p:txBody>
          <a:bodyPr>
            <a:noAutofit/>
          </a:bodyPr>
          <a:lstStyle/>
          <a:p>
            <a:pPr marL="0" indent="0" eaLnBrk="1" hangingPunct="1">
              <a:buFontTx/>
              <a:buNone/>
              <a:defRPr/>
            </a:pPr>
            <a:r>
              <a:rPr lang="en-US" altLang="zh-CN" b="1" dirty="0"/>
              <a:t>Rename</a:t>
            </a:r>
            <a:r>
              <a:rPr lang="en-US" altLang="zh-CN" dirty="0"/>
              <a:t>: Changes the names of attributes in a relation.</a:t>
            </a:r>
            <a:br>
              <a:rPr lang="en-US" altLang="zh-CN" dirty="0"/>
            </a:br>
            <a:r>
              <a:rPr lang="en-US" altLang="zh-CN" b="1" dirty="0"/>
              <a:t>Natural Join</a:t>
            </a:r>
            <a:r>
              <a:rPr lang="en-US" altLang="zh-CN" dirty="0"/>
              <a:t>: Merges two relations based on their common attributes, denoted as </a:t>
            </a:r>
            <a:r>
              <a:rPr lang="en-US" altLang="zh-CN" b="1" dirty="0"/>
              <a:t>R ⨝ S</a:t>
            </a:r>
            <a:r>
              <a:rPr lang="zh-CN" altLang="en-US" b="1" dirty="0"/>
              <a:t>。</a:t>
            </a:r>
            <a:endParaRPr lang="en-US" altLang="zh-CN" b="1" dirty="0"/>
          </a:p>
          <a:p>
            <a:pPr marL="0" indent="0">
              <a:buNone/>
              <a:defRPr/>
            </a:pPr>
            <a:r>
              <a:rPr lang="en-US" altLang="zh-CN" dirty="0"/>
              <a:t>Intersection </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R ∩ S</a:t>
            </a:r>
            <a:r>
              <a:rPr lang="en-US" altLang="zh-CN" dirty="0"/>
              <a:t> is not a basic operation in relational algebra, but it can be constructed using union and set difference: </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a:buNone/>
              <a:defRPr/>
            </a:pPr>
            <a:r>
              <a:rPr lang="zh-CN" altLang="zh-CN" sz="1800" dirty="0">
                <a:solidFill>
                  <a:srgbClr val="374151"/>
                </a:solidFill>
                <a:effectLst/>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R ∩ S =</a:t>
            </a:r>
            <a:r>
              <a:rPr lang="zh-CN" altLang="zh-CN" b="1" dirty="0">
                <a:latin typeface="Times New Roman" panose="02020603050405020304" pitchFamily="18" charset="0"/>
                <a:cs typeface="Times New Roman" panose="02020603050405020304" pitchFamily="18" charset="0"/>
              </a:rPr>
              <a:t>（</a:t>
            </a:r>
            <a:r>
              <a:rPr lang="zh-CN" altLang="zh-CN" sz="1800"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R </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S</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R - S</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t>
            </a:r>
            <a:r>
              <a:rPr lang="zh-CN" altLang="zh-CN"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S - R</a:t>
            </a:r>
            <a:r>
              <a:rPr lang="zh-CN"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a:buNone/>
              <a:defRPr/>
            </a:pPr>
            <a:r>
              <a:rPr lang="en-US" altLang="zh-CN" dirty="0"/>
              <a:t>In practical relational database systems, the </a:t>
            </a:r>
            <a:r>
              <a:rPr lang="en-US" altLang="zh-CN" b="1" dirty="0"/>
              <a:t>Structured Query Language (SQL)</a:t>
            </a:r>
            <a:r>
              <a:rPr lang="en-US" altLang="zh-CN" dirty="0"/>
              <a:t> typically provides a direct operation to compute intersections.</a:t>
            </a:r>
            <a:br>
              <a:rPr lang="en-US" altLang="zh-CN" dirty="0"/>
            </a:br>
            <a:r>
              <a:rPr lang="en-US" altLang="zh-CN" b="1" dirty="0"/>
              <a:t>SQL (Structured Query Language)</a:t>
            </a:r>
            <a:r>
              <a:rPr lang="en-US" altLang="zh-CN" dirty="0"/>
              <a:t> is a query and programming language used in </a:t>
            </a:r>
            <a:r>
              <a:rPr lang="en-US" altLang="zh-CN" b="1" dirty="0"/>
              <a:t>Relational Database Management Systems (RDBMS)</a:t>
            </a:r>
            <a:r>
              <a:rPr lang="en-US" altLang="zh-CN" dirty="0"/>
              <a:t>. It is a practical implementation of the concepts from relational algebra, allowing users to perform data retrieval, updates, insertions, and deletions.</a:t>
            </a:r>
          </a:p>
          <a:p>
            <a:pPr marL="0" indent="0" eaLnBrk="1" hangingPunct="1">
              <a:buFontTx/>
              <a:buNone/>
              <a:defRPr/>
            </a:pPr>
            <a:endParaRPr lang="zh-CN"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1021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5.3.2 Relational Algebra Operations</a:t>
            </a:r>
            <a:endParaRPr lang="en-US" altLang="zh-CN" sz="2000" b="1" dirty="0">
              <a:latin typeface="Trebuchet MS" panose="020B0603020202020204" pitchFamily="34" charset="0"/>
            </a:endParaRPr>
          </a:p>
          <a:p>
            <a:r>
              <a:rPr lang="en-US" altLang="zh-CN" sz="16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Algebraic Operations of Relational Databases</a:t>
            </a:r>
            <a:endParaRPr lang="en-US" altLang="zh-CN" sz="2400" dirty="0">
              <a:highlight>
                <a:srgbClr val="FF0000"/>
              </a:highligh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en-US" altLang="zh-CN" sz="2800" b="1" dirty="0">
              <a:solidFill>
                <a:srgbClr val="FF0000"/>
              </a:solidFill>
            </a:endParaRPr>
          </a:p>
        </p:txBody>
      </p:sp>
      <mc:AlternateContent xmlns:mc="http://schemas.openxmlformats.org/markup-compatibility/2006" xmlns:a14="http://schemas.microsoft.com/office/drawing/2010/main">
        <mc:Choice Requires="a14">
          <p:sp>
            <p:nvSpPr>
              <p:cNvPr id="14" name="内容占位符 2">
                <a:extLst>
                  <a:ext uri="{FF2B5EF4-FFF2-40B4-BE49-F238E27FC236}">
                    <a16:creationId xmlns:a16="http://schemas.microsoft.com/office/drawing/2014/main" id="{C447E5EE-9BA9-49D3-8299-53039670480D}"/>
                  </a:ext>
                </a:extLst>
              </p:cNvPr>
              <p:cNvSpPr>
                <a:spLocks noGrp="1"/>
              </p:cNvSpPr>
              <p:nvPr>
                <p:ph idx="1"/>
              </p:nvPr>
            </p:nvSpPr>
            <p:spPr>
              <a:xfrm>
                <a:off x="1164998" y="868731"/>
                <a:ext cx="9102425" cy="5897829"/>
              </a:xfrm>
            </p:spPr>
            <p:txBody>
              <a:bodyPr>
                <a:noAutofit/>
              </a:bodyPr>
              <a:lstStyle/>
              <a:p>
                <a:pPr eaLnBrk="1" hangingPunct="1">
                  <a:lnSpc>
                    <a:spcPct val="120000"/>
                  </a:lnSpc>
                  <a:spcBef>
                    <a:spcPts val="3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Data Tables in Databases as Relations</a:t>
                </a:r>
              </a:p>
              <a:p>
                <a:pPr marL="182562" indent="0" eaLnBrk="1" hangingPunct="1">
                  <a:lnSpc>
                    <a:spcPct val="120000"/>
                  </a:lnSpc>
                  <a:spcBef>
                    <a:spcPts val="300"/>
                  </a:spcBef>
                  <a:buClr>
                    <a:srgbClr val="0B61FF"/>
                  </a:buClr>
                  <a:buSzPct val="120000"/>
                  <a:buNone/>
                  <a:defRPr/>
                </a:pPr>
                <a:r>
                  <a:rPr lang="en-US" altLang="zh-CN" sz="2400" b="1" dirty="0">
                    <a:latin typeface="Trebuchet MS" panose="020B0603020202020204" pitchFamily="34" charset="0"/>
                  </a:rPr>
                  <a:t> </a:t>
                </a:r>
                <a:r>
                  <a:rPr lang="en-US" altLang="zh-CN" sz="2400" dirty="0">
                    <a:latin typeface="Trebuchet MS" panose="020B0603020202020204" pitchFamily="34" charset="0"/>
                  </a:rPr>
                  <a:t>A relation is a </a:t>
                </a:r>
                <a:r>
                  <a:rPr lang="en-US" altLang="zh-CN" sz="2400" b="1" i="1" dirty="0">
                    <a:latin typeface="Trebuchet MS" panose="020B0603020202020204" pitchFamily="34" charset="0"/>
                  </a:rPr>
                  <a:t>set of tuples</a:t>
                </a:r>
                <a:r>
                  <a:rPr lang="en-US" altLang="zh-CN" sz="2400" dirty="0">
                    <a:latin typeface="Trebuchet MS" panose="020B0603020202020204" pitchFamily="34" charset="0"/>
                  </a:rPr>
                  <a:t>, where each tuple </a:t>
                </a:r>
                <a:r>
                  <a:rPr lang="en-US" altLang="zh-CN" sz="2400" b="1" dirty="0">
                    <a:latin typeface="Trebuchet MS" panose="020B0603020202020204" pitchFamily="34" charset="0"/>
                  </a:rPr>
                  <a:t>&lt;</a:t>
                </a: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i="1" baseline="-25000" dirty="0">
                    <a:latin typeface="Trebuchet MS" panose="020B0603020202020204" pitchFamily="34" charset="0"/>
                  </a:rPr>
                  <a:t>n</a:t>
                </a:r>
                <a:r>
                  <a:rPr lang="en-US" altLang="zh-CN" sz="2400" b="1" dirty="0">
                    <a:latin typeface="Trebuchet MS" panose="020B0603020202020204" pitchFamily="34" charset="0"/>
                  </a:rPr>
                  <a:t>&gt;</a:t>
                </a:r>
                <a:r>
                  <a:rPr lang="en-US" altLang="zh-CN" sz="2400" dirty="0">
                    <a:latin typeface="Trebuchet MS" panose="020B0603020202020204" pitchFamily="34" charset="0"/>
                  </a:rPr>
                  <a:t> represents a relation with </a:t>
                </a:r>
                <a:r>
                  <a:rPr lang="en-US" altLang="zh-CN" sz="2400" b="1" i="1" dirty="0">
                    <a:latin typeface="Trebuchet MS" panose="020B0603020202020204" pitchFamily="34" charset="0"/>
                  </a:rPr>
                  <a:t>n </a:t>
                </a:r>
                <a:r>
                  <a:rPr lang="en-US" altLang="zh-CN" sz="2400" dirty="0">
                    <a:latin typeface="Trebuchet MS" panose="020B0603020202020204" pitchFamily="34" charset="0"/>
                  </a:rPr>
                  <a:t>attributes.</a:t>
                </a:r>
              </a:p>
              <a:p>
                <a:pPr eaLnBrk="1" hangingPunct="1">
                  <a:lnSpc>
                    <a:spcPct val="120000"/>
                  </a:lnSpc>
                  <a:spcBef>
                    <a:spcPts val="3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Example:   </a:t>
                </a:r>
                <a:r>
                  <a:rPr lang="en-US" altLang="zh-CN" sz="2400" dirty="0">
                    <a:latin typeface="Trebuchet MS" panose="020B0603020202020204" pitchFamily="34" charset="0"/>
                  </a:rPr>
                  <a:t>⟨ID, Name, Age, Address, Phone, Email⟩ </a:t>
                </a:r>
              </a:p>
              <a:p>
                <a:pPr indent="34925" eaLnBrk="1" hangingPunct="1">
                  <a:lnSpc>
                    <a:spcPct val="120000"/>
                  </a:lnSpc>
                  <a:spcBef>
                    <a:spcPts val="300"/>
                  </a:spcBef>
                  <a:buFontTx/>
                  <a:buNone/>
                  <a:defRPr/>
                </a:pPr>
                <a:r>
                  <a:rPr lang="en-US" altLang="zh-CN" sz="2400" dirty="0">
                    <a:latin typeface="Trebuchet MS" panose="020B0603020202020204" pitchFamily="34" charset="0"/>
                  </a:rPr>
                  <a:t>Let </a:t>
                </a:r>
                <a:r>
                  <a:rPr lang="en-US" altLang="zh-CN" sz="2400" b="1" i="1" dirty="0">
                    <a:latin typeface="Trebuchet MS" panose="020B0603020202020204" pitchFamily="34" charset="0"/>
                  </a:rPr>
                  <a:t>R and S </a:t>
                </a:r>
                <a:r>
                  <a:rPr lang="en-US" altLang="zh-CN" sz="2400" dirty="0">
                    <a:latin typeface="Trebuchet MS" panose="020B0603020202020204" pitchFamily="34" charset="0"/>
                  </a:rPr>
                  <a:t>be </a:t>
                </a:r>
                <a:r>
                  <a:rPr lang="en-US" altLang="zh-CN" sz="2400" b="1" i="1" dirty="0">
                    <a:latin typeface="Trebuchet MS" panose="020B0603020202020204" pitchFamily="34" charset="0"/>
                  </a:rPr>
                  <a:t>m-ary</a:t>
                </a:r>
                <a:r>
                  <a:rPr lang="en-US" altLang="zh-CN" sz="2400" dirty="0">
                    <a:latin typeface="Trebuchet MS" panose="020B0603020202020204" pitchFamily="34" charset="0"/>
                  </a:rPr>
                  <a:t> relations with the same attributes, where the m  attributes are denoted as </a:t>
                </a: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2</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i="1" baseline="-25000" dirty="0">
                    <a:latin typeface="Trebuchet MS" panose="020B0603020202020204" pitchFamily="34" charset="0"/>
                  </a:rPr>
                  <a:t>m</a:t>
                </a:r>
                <a:r>
                  <a:rPr lang="zh-CN" altLang="zh-CN" sz="2400" b="1" dirty="0">
                    <a:latin typeface="Trebuchet MS" panose="020B0603020202020204" pitchFamily="34" charset="0"/>
                  </a:rPr>
                  <a:t>，</a:t>
                </a:r>
                <a:r>
                  <a:rPr lang="en-US" altLang="zh-CN" sz="2400" dirty="0">
                    <a:latin typeface="Trebuchet MS" panose="020B0603020202020204" pitchFamily="34" charset="0"/>
                  </a:rPr>
                  <a:t> The basic operations are as follows:</a:t>
                </a:r>
              </a:p>
              <a:p>
                <a:pPr indent="34925">
                  <a:lnSpc>
                    <a:spcPct val="120000"/>
                  </a:lnSpc>
                  <a:spcBef>
                    <a:spcPts val="300"/>
                  </a:spcBef>
                  <a:buNone/>
                  <a:defRPr/>
                </a:pPr>
                <a:r>
                  <a:rPr lang="en-US" altLang="zh-CN" sz="2400" b="1" i="1" dirty="0">
                    <a:latin typeface="Trebuchet MS" panose="020B0603020202020204" pitchFamily="34" charset="0"/>
                  </a:rPr>
                  <a:t>R</a:t>
                </a:r>
                <a:r>
                  <a:rPr lang="zh-CN" altLang="zh-CN" sz="2400" b="1" dirty="0">
                    <a:solidFill>
                      <a:srgbClr val="0B61FF"/>
                    </a:solidFill>
                    <a:latin typeface="Times New Roman" panose="02020603050405020304" pitchFamily="18" charset="0"/>
                    <a:cs typeface="Times New Roman" panose="02020603050405020304" pitchFamily="18" charset="0"/>
                  </a:rPr>
                  <a:t> ∪ </a:t>
                </a:r>
                <a:r>
                  <a:rPr lang="en-US" altLang="zh-CN" sz="2400" b="1" i="1" dirty="0">
                    <a:latin typeface="Trebuchet MS" panose="020B0603020202020204" pitchFamily="34" charset="0"/>
                  </a:rPr>
                  <a:t>S </a:t>
                </a:r>
                <a:r>
                  <a:rPr lang="en-US" altLang="zh-CN" sz="2400" dirty="0">
                    <a:latin typeface="Trebuchet MS" panose="020B0603020202020204" pitchFamily="34" charset="0"/>
                  </a:rPr>
                  <a:t>contains tuples from both </a:t>
                </a:r>
                <a:r>
                  <a:rPr lang="en-US" altLang="zh-CN" sz="2400" b="1" i="1" dirty="0">
                    <a:latin typeface="Trebuchet MS" panose="020B0603020202020204" pitchFamily="34" charset="0"/>
                  </a:rPr>
                  <a:t>R</a:t>
                </a:r>
                <a:r>
                  <a:rPr lang="en-US" altLang="zh-CN" sz="2400" dirty="0">
                    <a:latin typeface="Trebuchet MS" panose="020B0603020202020204" pitchFamily="34" charset="0"/>
                  </a:rPr>
                  <a:t> and </a:t>
                </a:r>
                <a:r>
                  <a:rPr lang="en-US" altLang="zh-CN" sz="2400" b="1" i="1" dirty="0">
                    <a:latin typeface="Trebuchet MS" panose="020B0603020202020204" pitchFamily="34" charset="0"/>
                  </a:rPr>
                  <a:t>S</a:t>
                </a:r>
                <a:r>
                  <a:rPr lang="en-US" altLang="zh-CN" sz="2400" dirty="0">
                    <a:latin typeface="Trebuchet MS" panose="020B0603020202020204" pitchFamily="34" charset="0"/>
                  </a:rPr>
                  <a:t>.</a:t>
                </a:r>
                <a:r>
                  <a:rPr lang="en-US" altLang="zh-CN" sz="2400" b="1" i="1" dirty="0">
                    <a:latin typeface="Trebuchet MS" panose="020B0603020202020204" pitchFamily="34" charset="0"/>
                  </a:rPr>
                  <a:t>    </a:t>
                </a:r>
              </a:p>
              <a:p>
                <a:pPr indent="34925">
                  <a:lnSpc>
                    <a:spcPct val="120000"/>
                  </a:lnSpc>
                  <a:spcBef>
                    <a:spcPts val="300"/>
                  </a:spcBef>
                  <a:buNone/>
                  <a:defRPr/>
                </a:pPr>
                <a:r>
                  <a:rPr lang="en-US" altLang="zh-CN" sz="2400" b="1" i="1" dirty="0">
                    <a:latin typeface="Trebuchet MS" panose="020B0603020202020204" pitchFamily="34" charset="0"/>
                  </a:rPr>
                  <a:t>R</a:t>
                </a:r>
                <a:r>
                  <a:rPr lang="en-US" altLang="zh-CN" sz="2400" b="1" dirty="0">
                    <a:solidFill>
                      <a:srgbClr val="0B61FF"/>
                    </a:solidFill>
                    <a:latin typeface="Trebuchet MS" panose="020B0603020202020204" pitchFamily="34" charset="0"/>
                  </a:rPr>
                  <a:t> ∩ </a:t>
                </a:r>
                <a:r>
                  <a:rPr lang="en-US" altLang="zh-CN" sz="2400" b="1" i="1" dirty="0">
                    <a:latin typeface="Trebuchet MS" panose="020B0603020202020204" pitchFamily="34" charset="0"/>
                  </a:rPr>
                  <a:t>S </a:t>
                </a:r>
                <a:r>
                  <a:rPr lang="en-US" altLang="zh-CN" sz="2400" dirty="0">
                    <a:latin typeface="Trebuchet MS" panose="020B0603020202020204" pitchFamily="34" charset="0"/>
                  </a:rPr>
                  <a:t>contains tuples that are present in both </a:t>
                </a:r>
                <a:r>
                  <a:rPr lang="en-US" altLang="zh-CN" sz="2400" b="1" i="1" dirty="0">
                    <a:latin typeface="Trebuchet MS" panose="020B0603020202020204" pitchFamily="34" charset="0"/>
                  </a:rPr>
                  <a:t>R and S</a:t>
                </a:r>
                <a:r>
                  <a:rPr lang="zh-CN" altLang="zh-CN" sz="2400" b="1" dirty="0">
                    <a:latin typeface="Trebuchet MS" panose="020B0603020202020204" pitchFamily="34" charset="0"/>
                  </a:rPr>
                  <a:t>；</a:t>
                </a:r>
              </a:p>
              <a:p>
                <a:pPr indent="34925">
                  <a:lnSpc>
                    <a:spcPct val="120000"/>
                  </a:lnSpc>
                  <a:spcBef>
                    <a:spcPts val="300"/>
                  </a:spcBef>
                  <a:buNone/>
                  <a:defRPr/>
                </a:pPr>
                <a:r>
                  <a:rPr lang="en-US" altLang="zh-CN" sz="2400" b="1" i="1" dirty="0">
                    <a:latin typeface="Trebuchet MS" panose="020B0603020202020204" pitchFamily="34" charset="0"/>
                  </a:rPr>
                  <a:t>R</a:t>
                </a:r>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0B61FF"/>
                    </a:solidFill>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rPr>
                  <a:t>S</a:t>
                </a:r>
                <a:r>
                  <a:rPr lang="en-US" altLang="zh-CN" sz="2400" dirty="0">
                    <a:latin typeface="Trebuchet MS" panose="020B0603020202020204" pitchFamily="34" charset="0"/>
                  </a:rPr>
                  <a:t> contains tuples that are in </a:t>
                </a:r>
                <a:r>
                  <a:rPr lang="en-US" altLang="zh-CN" sz="2400" b="1" i="1" dirty="0">
                    <a:latin typeface="Trebuchet MS" panose="020B0603020202020204" pitchFamily="34" charset="0"/>
                  </a:rPr>
                  <a:t>R but not in S</a:t>
                </a:r>
                <a:r>
                  <a:rPr lang="en-US" altLang="zh-CN" sz="2400" b="1" dirty="0">
                    <a:latin typeface="Trebuchet MS" panose="020B0603020202020204" pitchFamily="34" charset="0"/>
                  </a:rPr>
                  <a:t>. </a:t>
                </a:r>
                <a:endParaRPr lang="zh-CN" altLang="zh-CN" sz="2400" b="1" dirty="0">
                  <a:latin typeface="Trebuchet MS" panose="020B0603020202020204" pitchFamily="34" charset="0"/>
                </a:endParaRPr>
              </a:p>
              <a:p>
                <a:pPr indent="-46038">
                  <a:lnSpc>
                    <a:spcPct val="120000"/>
                  </a:lnSpc>
                  <a:spcBef>
                    <a:spcPts val="300"/>
                  </a:spcBef>
                  <a:buNone/>
                  <a:defRPr/>
                </a:pPr>
                <a:r>
                  <a:rPr lang="en-US" altLang="zh-CN" sz="2400" dirty="0">
                    <a:latin typeface="Trebuchet MS" panose="020B0603020202020204" pitchFamily="34" charset="0"/>
                  </a:rPr>
                  <a:t>Projection </a:t>
                </a:r>
                <a14:m>
                  <m:oMath xmlns:m="http://schemas.openxmlformats.org/officeDocument/2006/math">
                    <m:sSub>
                      <m:sSubPr>
                        <m:ctrlPr>
                          <a:rPr lang="zh-CN" altLang="en-US" sz="2400" b="1" i="1" smtClean="0">
                            <a:solidFill>
                              <a:srgbClr val="000000"/>
                            </a:solidFill>
                            <a:latin typeface="Cambria Math" panose="02040503050406030204" pitchFamily="18" charset="0"/>
                          </a:rPr>
                        </m:ctrlPr>
                      </m:sSubPr>
                      <m:e>
                        <m:r>
                          <a:rPr lang="zh-CN" altLang="en-US" sz="2400" b="1" i="1" smtClean="0">
                            <a:solidFill>
                              <a:srgbClr val="0B61FF"/>
                            </a:solidFill>
                            <a:latin typeface="Cambria Math" panose="02040503050406030204" pitchFamily="18" charset="0"/>
                          </a:rPr>
                          <m:t>𝝅</m:t>
                        </m:r>
                      </m:e>
                      <m: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𝑨</m:t>
                            </m:r>
                          </m:e>
                          <m:sub>
                            <m:func>
                              <m:funcPr>
                                <m:ctrlPr>
                                  <a:rPr lang="zh-CN" altLang="en-US" sz="2400" b="1" i="1">
                                    <a:solidFill>
                                      <a:srgbClr val="000000"/>
                                    </a:solidFill>
                                    <a:latin typeface="Cambria Math" panose="02040503050406030204" pitchFamily="18" charset="0"/>
                                  </a:rPr>
                                </m:ctrlPr>
                              </m:funcPr>
                              <m:fName>
                                <m:sSub>
                                  <m:sSubPr>
                                    <m:ctrlPr>
                                      <a:rPr lang="zh-CN" altLang="en-US" sz="2400" b="1" i="1">
                                        <a:solidFill>
                                          <a:srgbClr val="000000"/>
                                        </a:solidFill>
                                        <a:latin typeface="Cambria Math" panose="02040503050406030204" pitchFamily="18" charset="0"/>
                                      </a:rPr>
                                    </m:ctrlPr>
                                  </m:sSubPr>
                                  <m:e>
                                    <m:r>
                                      <a:rPr lang="zh-CN" altLang="en-US" sz="2400" b="1" i="0">
                                        <a:solidFill>
                                          <a:srgbClr val="000000"/>
                                        </a:solidFill>
                                        <a:latin typeface="Cambria Math" panose="02040503050406030204" pitchFamily="18" charset="0"/>
                                      </a:rPr>
                                      <m:t>𝐢</m:t>
                                    </m:r>
                                  </m:e>
                                  <m:sub>
                                    <m:r>
                                      <a:rPr lang="zh-CN" altLang="en-US" sz="2400" b="1" i="1">
                                        <a:solidFill>
                                          <a:srgbClr val="000000"/>
                                        </a:solidFill>
                                        <a:latin typeface="Cambria Math" panose="02040503050406030204" pitchFamily="18" charset="0"/>
                                      </a:rPr>
                                      <m:t>𝟏</m:t>
                                    </m:r>
                                  </m:sub>
                                </m:sSub>
                              </m:fName>
                              <m:e>
                                <m:r>
                                  <a:rPr lang="en-US" altLang="zh-CN" sz="2400" b="1" i="1" smtClean="0">
                                    <a:solidFill>
                                      <a:srgbClr val="000000"/>
                                    </a:solidFill>
                                    <a:latin typeface="Cambria Math" panose="02040503050406030204" pitchFamily="18" charset="0"/>
                                  </a:rPr>
                                  <m:t>,</m:t>
                                </m:r>
                              </m:e>
                            </m:func>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𝑨</m:t>
                            </m:r>
                          </m:e>
                          <m: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𝒊</m:t>
                                </m:r>
                              </m:e>
                              <m:sub>
                                <m:r>
                                  <a:rPr lang="zh-CN" altLang="en-US" sz="2400" b="1" i="1">
                                    <a:solidFill>
                                      <a:srgbClr val="000000"/>
                                    </a:solidFill>
                                    <a:latin typeface="Cambria Math" panose="02040503050406030204" pitchFamily="18" charset="0"/>
                                  </a:rPr>
                                  <m:t>𝟐</m:t>
                                </m:r>
                              </m:sub>
                            </m:sSub>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𝑨</m:t>
                            </m:r>
                          </m:e>
                          <m: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𝒊</m:t>
                                </m:r>
                              </m:e>
                              <m:sub>
                                <m:r>
                                  <a:rPr lang="zh-CN" altLang="en-US" sz="2400" b="1" i="1">
                                    <a:solidFill>
                                      <a:srgbClr val="000000"/>
                                    </a:solidFill>
                                    <a:latin typeface="Cambria Math" panose="02040503050406030204" pitchFamily="18" charset="0"/>
                                  </a:rPr>
                                  <m:t>𝒏</m:t>
                                </m:r>
                              </m:sub>
                            </m:sSub>
                          </m:sub>
                        </m:sSub>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𝑹</m:t>
                    </m:r>
                    <m:r>
                      <a:rPr lang="zh-CN" altLang="en-US" sz="2400" b="1" i="1">
                        <a:solidFill>
                          <a:srgbClr val="000000"/>
                        </a:solidFill>
                        <a:latin typeface="Cambria Math" panose="02040503050406030204" pitchFamily="18" charset="0"/>
                      </a:rPr>
                      <m:t>)</m:t>
                    </m:r>
                  </m:oMath>
                </a14:m>
                <a:r>
                  <a:rPr lang="en-US" altLang="zh-CN" sz="2400" b="1" dirty="0">
                    <a:latin typeface="Trebuchet MS" panose="020B0603020202020204" pitchFamily="34" charset="0"/>
                  </a:rPr>
                  <a:t> </a:t>
                </a:r>
                <a:r>
                  <a:rPr lang="en-US" altLang="zh-CN" sz="2400" dirty="0">
                    <a:latin typeface="Trebuchet MS" panose="020B0603020202020204" pitchFamily="34" charset="0"/>
                  </a:rPr>
                  <a:t>Select only certain columns </a:t>
                </a:r>
                <a14:m>
                  <m:oMath xmlns:m="http://schemas.openxmlformats.org/officeDocument/2006/math">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𝑨</m:t>
                        </m:r>
                      </m:e>
                      <m: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𝒊</m:t>
                            </m:r>
                          </m:e>
                          <m:sub>
                            <m:r>
                              <a:rPr lang="zh-CN" altLang="en-US" sz="2400" b="1" i="1">
                                <a:solidFill>
                                  <a:srgbClr val="000000"/>
                                </a:solidFill>
                                <a:latin typeface="Cambria Math" panose="02040503050406030204" pitchFamily="18" charset="0"/>
                              </a:rPr>
                              <m:t>𝟏</m:t>
                            </m:r>
                          </m:sub>
                        </m:sSub>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𝑨</m:t>
                        </m:r>
                      </m:e>
                      <m: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𝒊</m:t>
                            </m:r>
                          </m:e>
                          <m:sub>
                            <m:r>
                              <a:rPr lang="zh-CN" altLang="en-US" sz="2400" b="1" i="1">
                                <a:solidFill>
                                  <a:srgbClr val="000000"/>
                                </a:solidFill>
                                <a:latin typeface="Cambria Math" panose="02040503050406030204" pitchFamily="18" charset="0"/>
                              </a:rPr>
                              <m:t>𝟐</m:t>
                            </m:r>
                          </m:sub>
                        </m:sSub>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𝑨</m:t>
                        </m:r>
                      </m:e>
                      <m: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𝒊</m:t>
                            </m:r>
                          </m:e>
                          <m:sub>
                            <m:r>
                              <a:rPr lang="zh-CN" altLang="en-US" sz="2400" b="1" i="1">
                                <a:solidFill>
                                  <a:srgbClr val="000000"/>
                                </a:solidFill>
                                <a:latin typeface="Cambria Math" panose="02040503050406030204" pitchFamily="18" charset="0"/>
                              </a:rPr>
                              <m:t>𝒏</m:t>
                            </m:r>
                          </m:sub>
                        </m:sSub>
                      </m:sub>
                    </m:sSub>
                    <m:r>
                      <a:rPr lang="zh-CN" altLang="en-US" sz="2400" i="1">
                        <a:solidFill>
                          <a:srgbClr val="000000"/>
                        </a:solidFill>
                        <a:latin typeface="Cambria Math" panose="02040503050406030204" pitchFamily="18" charset="0"/>
                      </a:rPr>
                      <m:t> </m:t>
                    </m:r>
                  </m:oMath>
                </a14:m>
                <a:r>
                  <a:rPr lang="en-US" altLang="zh-CN" sz="2400" dirty="0">
                    <a:latin typeface="Trebuchet MS" panose="020B0603020202020204" pitchFamily="34" charset="0"/>
                  </a:rPr>
                  <a:t>from </a:t>
                </a:r>
                <a:r>
                  <a:rPr lang="en-US" altLang="zh-CN" sz="2400" b="1" i="1" dirty="0">
                    <a:latin typeface="Trebuchet MS" panose="020B0603020202020204" pitchFamily="34" charset="0"/>
                  </a:rPr>
                  <a:t>R </a:t>
                </a:r>
                <a:r>
                  <a:rPr lang="en-US" altLang="zh-CN" sz="2400" dirty="0">
                    <a:latin typeface="Trebuchet MS" panose="020B0603020202020204" pitchFamily="34" charset="0"/>
                  </a:rPr>
                  <a:t> form a new relation.</a:t>
                </a:r>
                <a:endParaRPr lang="en-US" altLang="zh-CN" sz="2400" b="1" dirty="0">
                  <a:latin typeface="Trebuchet MS" panose="020B0603020202020204" pitchFamily="34" charset="0"/>
                </a:endParaRPr>
              </a:p>
              <a:p>
                <a:pPr indent="34925" eaLnBrk="1" hangingPunct="1">
                  <a:lnSpc>
                    <a:spcPct val="120000"/>
                  </a:lnSpc>
                  <a:spcBef>
                    <a:spcPts val="300"/>
                  </a:spcBef>
                  <a:buFontTx/>
                  <a:buNone/>
                  <a:defRPr/>
                </a:pPr>
                <a:endParaRPr lang="zh-CN" altLang="zh-CN" sz="2400" b="1" dirty="0">
                  <a:latin typeface="Trebuchet MS" panose="020B0603020202020204" pitchFamily="34" charset="0"/>
                </a:endParaRPr>
              </a:p>
              <a:p>
                <a:pPr indent="-46038" eaLnBrk="1" hangingPunct="1">
                  <a:lnSpc>
                    <a:spcPct val="110000"/>
                  </a:lnSpc>
                  <a:spcBef>
                    <a:spcPts val="300"/>
                  </a:spcBef>
                  <a:buClr>
                    <a:srgbClr val="0B61FF"/>
                  </a:buClr>
                  <a:buSzPct val="120000"/>
                  <a:defRPr/>
                </a:pPr>
                <a:endParaRPr lang="en-US" altLang="zh-CN" sz="2400" b="1" i="1" dirty="0">
                  <a:latin typeface="Trebuchet MS" panose="020B0603020202020204" pitchFamily="34" charset="0"/>
                </a:endParaRPr>
              </a:p>
              <a:p>
                <a:pPr marL="0" indent="0" eaLnBrk="1" hangingPunct="1">
                  <a:lnSpc>
                    <a:spcPct val="110000"/>
                  </a:lnSpc>
                  <a:spcBef>
                    <a:spcPts val="300"/>
                  </a:spcBef>
                  <a:buFontTx/>
                  <a:buNone/>
                  <a:defRPr/>
                </a:pPr>
                <a:endParaRPr lang="zh-CN" altLang="en-US" sz="2400" b="1" dirty="0">
                  <a:latin typeface="Trebuchet MS" panose="020B0603020202020204" pitchFamily="34" charset="0"/>
                </a:endParaRPr>
              </a:p>
            </p:txBody>
          </p:sp>
        </mc:Choice>
        <mc:Fallback xmlns="">
          <p:sp>
            <p:nvSpPr>
              <p:cNvPr id="14" name="内容占位符 2">
                <a:extLst>
                  <a:ext uri="{FF2B5EF4-FFF2-40B4-BE49-F238E27FC236}">
                    <a16:creationId xmlns:a16="http://schemas.microsoft.com/office/drawing/2014/main" id="{C447E5EE-9BA9-49D3-8299-53039670480D}"/>
                  </a:ext>
                </a:extLst>
              </p:cNvPr>
              <p:cNvSpPr>
                <a:spLocks noGrp="1" noRot="1" noChangeAspect="1" noMove="1" noResize="1" noEditPoints="1" noAdjustHandles="1" noChangeArrowheads="1" noChangeShapeType="1" noTextEdit="1"/>
              </p:cNvSpPr>
              <p:nvPr>
                <p:ph idx="1"/>
              </p:nvPr>
            </p:nvSpPr>
            <p:spPr>
              <a:xfrm>
                <a:off x="1164998" y="868731"/>
                <a:ext cx="9102425" cy="5897829"/>
              </a:xfrm>
              <a:blipFill>
                <a:blip r:embed="rId5"/>
                <a:stretch>
                  <a:fillRect l="-469" t="-3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518968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animEffect transition="in" filter="fade">
                                      <p:cBhvr>
                                        <p:cTn id="7" dur="1000"/>
                                        <p:tgtEl>
                                          <p:spTgt spid="14">
                                            <p:txEl>
                                              <p:pRg st="2" end="2"/>
                                            </p:txEl>
                                          </p:spTgt>
                                        </p:tgtEl>
                                      </p:cBhvr>
                                    </p:animEffect>
                                    <p:anim calcmode="lin" valueType="num">
                                      <p:cBhvr>
                                        <p:cTn id="8"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3" end="3"/>
                                            </p:txEl>
                                          </p:spTgt>
                                        </p:tgtEl>
                                        <p:attrNameLst>
                                          <p:attrName>style.visibility</p:attrName>
                                        </p:attrNameLst>
                                      </p:cBhvr>
                                      <p:to>
                                        <p:strVal val="visible"/>
                                      </p:to>
                                    </p:set>
                                    <p:animEffect transition="in" filter="fade">
                                      <p:cBhvr>
                                        <p:cTn id="12" dur="1000"/>
                                        <p:tgtEl>
                                          <p:spTgt spid="14">
                                            <p:txEl>
                                              <p:pRg st="3" end="3"/>
                                            </p:txEl>
                                          </p:spTgt>
                                        </p:tgtEl>
                                      </p:cBhvr>
                                    </p:animEffect>
                                    <p:anim calcmode="lin" valueType="num">
                                      <p:cBhvr>
                                        <p:cTn id="13"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animEffect transition="in" filter="fade">
                                      <p:cBhvr>
                                        <p:cTn id="19" dur="1000"/>
                                        <p:tgtEl>
                                          <p:spTgt spid="14">
                                            <p:txEl>
                                              <p:pRg st="4" end="4"/>
                                            </p:txEl>
                                          </p:spTgt>
                                        </p:tgtEl>
                                      </p:cBhvr>
                                    </p:animEffect>
                                    <p:anim calcmode="lin" valueType="num">
                                      <p:cBhvr>
                                        <p:cTn id="20"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4">
                                            <p:txEl>
                                              <p:pRg st="5" end="5"/>
                                            </p:txEl>
                                          </p:spTgt>
                                        </p:tgtEl>
                                        <p:attrNameLst>
                                          <p:attrName>style.visibility</p:attrName>
                                        </p:attrNameLst>
                                      </p:cBhvr>
                                      <p:to>
                                        <p:strVal val="visible"/>
                                      </p:to>
                                    </p:set>
                                    <p:animEffect transition="in" filter="fade">
                                      <p:cBhvr>
                                        <p:cTn id="26" dur="1000"/>
                                        <p:tgtEl>
                                          <p:spTgt spid="14">
                                            <p:txEl>
                                              <p:pRg st="5" end="5"/>
                                            </p:txEl>
                                          </p:spTgt>
                                        </p:tgtEl>
                                      </p:cBhvr>
                                    </p:animEffect>
                                    <p:anim calcmode="lin" valueType="num">
                                      <p:cBhvr>
                                        <p:cTn id="27"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4">
                                            <p:txEl>
                                              <p:pRg st="6" end="6"/>
                                            </p:txEl>
                                          </p:spTgt>
                                        </p:tgtEl>
                                        <p:attrNameLst>
                                          <p:attrName>style.visibility</p:attrName>
                                        </p:attrNameLst>
                                      </p:cBhvr>
                                      <p:to>
                                        <p:strVal val="visible"/>
                                      </p:to>
                                    </p:set>
                                    <p:animEffect transition="in" filter="fade">
                                      <p:cBhvr>
                                        <p:cTn id="33" dur="1000"/>
                                        <p:tgtEl>
                                          <p:spTgt spid="14">
                                            <p:txEl>
                                              <p:pRg st="6" end="6"/>
                                            </p:txEl>
                                          </p:spTgt>
                                        </p:tgtEl>
                                      </p:cBhvr>
                                    </p:animEffect>
                                    <p:anim calcmode="lin" valueType="num">
                                      <p:cBhvr>
                                        <p:cTn id="34"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4">
                                            <p:txEl>
                                              <p:pRg st="7" end="7"/>
                                            </p:txEl>
                                          </p:spTgt>
                                        </p:tgtEl>
                                        <p:attrNameLst>
                                          <p:attrName>style.visibility</p:attrName>
                                        </p:attrNameLst>
                                      </p:cBhvr>
                                      <p:to>
                                        <p:strVal val="visible"/>
                                      </p:to>
                                    </p:set>
                                    <p:animEffect transition="in" filter="fade">
                                      <p:cBhvr>
                                        <p:cTn id="40" dur="1000"/>
                                        <p:tgtEl>
                                          <p:spTgt spid="14">
                                            <p:txEl>
                                              <p:pRg st="7" end="7"/>
                                            </p:txEl>
                                          </p:spTgt>
                                        </p:tgtEl>
                                      </p:cBhvr>
                                    </p:animEffect>
                                    <p:anim calcmode="lin" valueType="num">
                                      <p:cBhvr>
                                        <p:cTn id="41"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5.3.2 Relational Algebra Operations</a:t>
            </a:r>
            <a:endParaRPr lang="en-US" altLang="zh-CN" sz="2000" b="1" dirty="0">
              <a:latin typeface="Trebuchet MS" panose="020B0603020202020204" pitchFamily="34" charset="0"/>
            </a:endParaRPr>
          </a:p>
          <a:p>
            <a:r>
              <a:rPr lang="en-US" altLang="zh-CN" sz="16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Algebraic Operations of Relational Databases(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en-US" altLang="zh-CN" sz="2400" b="1" dirty="0">
              <a:highlight>
                <a:srgbClr val="FF0000"/>
              </a:highligh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en-US" altLang="zh-CN" sz="2800" b="1" dirty="0">
              <a:solidFill>
                <a:srgbClr val="FF0000"/>
              </a:solidFill>
            </a:endParaRPr>
          </a:p>
        </p:txBody>
      </p:sp>
      <p:sp>
        <p:nvSpPr>
          <p:cNvPr id="14" name="内容占位符 2">
            <a:extLst>
              <a:ext uri="{FF2B5EF4-FFF2-40B4-BE49-F238E27FC236}">
                <a16:creationId xmlns:a16="http://schemas.microsoft.com/office/drawing/2014/main" id="{C447E5EE-9BA9-49D3-8299-53039670480D}"/>
              </a:ext>
            </a:extLst>
          </p:cNvPr>
          <p:cNvSpPr>
            <a:spLocks noGrp="1"/>
          </p:cNvSpPr>
          <p:nvPr>
            <p:ph idx="1"/>
          </p:nvPr>
        </p:nvSpPr>
        <p:spPr>
          <a:xfrm>
            <a:off x="824682" y="868732"/>
            <a:ext cx="10800445" cy="5017718"/>
          </a:xfrm>
        </p:spPr>
        <p:txBody>
          <a:bodyPr>
            <a:noAutofit/>
          </a:bodyPr>
          <a:lstStyle/>
          <a:p>
            <a:pPr>
              <a:lnSpc>
                <a:spcPct val="120000"/>
              </a:lnSpc>
              <a:spcBef>
                <a:spcPts val="3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Example: </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dirty="0">
                <a:latin typeface="Trebuchet MS" panose="020B0603020202020204" pitchFamily="34" charset="0"/>
              </a:rPr>
              <a:t>Employee Information</a:t>
            </a:r>
          </a:p>
          <a:p>
            <a:pPr>
              <a:lnSpc>
                <a:spcPct val="120000"/>
              </a:lnSpc>
              <a:spcBef>
                <a:spcPts val="300"/>
              </a:spcBef>
              <a:buClr>
                <a:srgbClr val="0B61FF"/>
              </a:buClr>
              <a:buSzPct val="80000"/>
              <a:buFont typeface="Wingdings" panose="05000000000000000000" pitchFamily="2" charset="2"/>
              <a:buChar char="n"/>
              <a:defRPr/>
            </a:pPr>
            <a:endParaRPr lang="en-US" altLang="zh-CN" sz="2400" dirty="0">
              <a:latin typeface="Trebuchet MS" panose="020B0603020202020204" pitchFamily="34" charset="0"/>
            </a:endParaRPr>
          </a:p>
          <a:p>
            <a:pPr>
              <a:lnSpc>
                <a:spcPct val="120000"/>
              </a:lnSpc>
              <a:spcBef>
                <a:spcPts val="300"/>
              </a:spcBef>
              <a:buClr>
                <a:srgbClr val="0B61FF"/>
              </a:buClr>
              <a:buSzPct val="80000"/>
              <a:buFont typeface="Wingdings" panose="05000000000000000000" pitchFamily="2" charset="2"/>
              <a:buChar char="n"/>
              <a:defRPr/>
            </a:pPr>
            <a:endParaRPr lang="en-US" altLang="zh-CN" sz="2400" dirty="0">
              <a:latin typeface="Trebuchet MS" panose="020B0603020202020204" pitchFamily="34" charset="0"/>
            </a:endParaRPr>
          </a:p>
          <a:p>
            <a:pPr>
              <a:lnSpc>
                <a:spcPct val="120000"/>
              </a:lnSpc>
              <a:spcBef>
                <a:spcPts val="300"/>
              </a:spcBef>
              <a:buClr>
                <a:srgbClr val="0B61FF"/>
              </a:buClr>
              <a:buSzPct val="80000"/>
              <a:buFont typeface="Wingdings" panose="05000000000000000000" pitchFamily="2" charset="2"/>
              <a:buChar char="n"/>
              <a:defRPr/>
            </a:pPr>
            <a:endParaRPr lang="en-US" altLang="zh-CN" sz="2400" dirty="0">
              <a:latin typeface="Trebuchet MS" panose="020B0603020202020204" pitchFamily="34" charset="0"/>
            </a:endParaRPr>
          </a:p>
          <a:p>
            <a:pPr marL="0" indent="0">
              <a:lnSpc>
                <a:spcPct val="120000"/>
              </a:lnSpc>
              <a:spcBef>
                <a:spcPts val="300"/>
              </a:spcBef>
              <a:buClr>
                <a:srgbClr val="0B61FF"/>
              </a:buClr>
              <a:buSzPct val="80000"/>
              <a:buNone/>
              <a:defRPr/>
            </a:pPr>
            <a:endParaRPr lang="en-US" altLang="zh-CN" sz="2400" dirty="0">
              <a:latin typeface="Trebuchet MS" panose="020B0603020202020204" pitchFamily="34" charset="0"/>
            </a:endParaRPr>
          </a:p>
          <a:p>
            <a:pPr marL="182562" indent="0">
              <a:lnSpc>
                <a:spcPct val="110000"/>
              </a:lnSpc>
              <a:spcBef>
                <a:spcPts val="300"/>
              </a:spcBef>
              <a:buClr>
                <a:srgbClr val="0B61FF"/>
              </a:buClr>
              <a:buSzPct val="120000"/>
              <a:buNone/>
              <a:defRPr/>
            </a:pPr>
            <a:r>
              <a:rPr lang="en-US" altLang="zh-CN" sz="2400" b="1" dirty="0">
                <a:solidFill>
                  <a:srgbClr val="0B61FF"/>
                </a:solidFill>
                <a:latin typeface="Trebuchet MS" panose="020B0603020202020204" pitchFamily="34" charset="0"/>
                <a:sym typeface="Symbol"/>
              </a:rPr>
              <a:t></a:t>
            </a:r>
            <a:r>
              <a:rPr lang="en-US" altLang="zh-CN" sz="2400" b="1" baseline="-25000" dirty="0">
                <a:latin typeface="Trebuchet MS" panose="020B0603020202020204" pitchFamily="34" charset="0"/>
              </a:rPr>
              <a:t>Name,Phone,Email </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dirty="0">
                <a:latin typeface="Trebuchet MS" panose="020B0603020202020204" pitchFamily="34" charset="0"/>
              </a:rPr>
              <a:t> The query result is selecting the columns </a:t>
            </a:r>
            <a:r>
              <a:rPr lang="en-US" altLang="zh-CN" sz="2400" b="1" dirty="0">
                <a:latin typeface="Trebuchet MS" panose="020B0603020202020204" pitchFamily="34" charset="0"/>
              </a:rPr>
              <a:t>Name</a:t>
            </a:r>
            <a:r>
              <a:rPr lang="en-US" altLang="zh-CN" sz="2400" dirty="0">
                <a:latin typeface="Trebuchet MS" panose="020B0603020202020204" pitchFamily="34" charset="0"/>
              </a:rPr>
              <a:t>, </a:t>
            </a:r>
            <a:r>
              <a:rPr lang="en-US" altLang="zh-CN" sz="2400" b="1" dirty="0">
                <a:latin typeface="Trebuchet MS" panose="020B0603020202020204" pitchFamily="34" charset="0"/>
              </a:rPr>
              <a:t>Phone</a:t>
            </a:r>
            <a:r>
              <a:rPr lang="en-US" altLang="zh-CN" sz="2400" dirty="0">
                <a:latin typeface="Trebuchet MS" panose="020B0603020202020204" pitchFamily="34" charset="0"/>
              </a:rPr>
              <a:t>, and </a:t>
            </a:r>
            <a:r>
              <a:rPr lang="en-US" altLang="zh-CN" sz="2400" b="1" dirty="0">
                <a:latin typeface="Trebuchet MS" panose="020B0603020202020204" pitchFamily="34" charset="0"/>
              </a:rPr>
              <a:t>Email</a:t>
            </a:r>
            <a:r>
              <a:rPr lang="en-US" altLang="zh-CN" sz="2400" dirty="0">
                <a:latin typeface="Trebuchet MS" panose="020B0603020202020204" pitchFamily="34" charset="0"/>
              </a:rPr>
              <a:t>.</a:t>
            </a:r>
          </a:p>
          <a:p>
            <a:pPr indent="-46038" eaLnBrk="1" hangingPunct="1">
              <a:lnSpc>
                <a:spcPct val="110000"/>
              </a:lnSpc>
              <a:spcBef>
                <a:spcPts val="300"/>
              </a:spcBef>
              <a:buClr>
                <a:srgbClr val="0B61FF"/>
              </a:buClr>
              <a:buSzPct val="120000"/>
              <a:defRPr/>
            </a:pPr>
            <a:endParaRPr lang="en-US" altLang="zh-CN" sz="2400" b="1" i="1" dirty="0">
              <a:latin typeface="Trebuchet MS" panose="020B0603020202020204" pitchFamily="34" charset="0"/>
            </a:endParaRPr>
          </a:p>
          <a:p>
            <a:pPr marL="0" indent="0" eaLnBrk="1" hangingPunct="1">
              <a:lnSpc>
                <a:spcPct val="110000"/>
              </a:lnSpc>
              <a:spcBef>
                <a:spcPts val="300"/>
              </a:spcBef>
              <a:buFontTx/>
              <a:buNone/>
              <a:defRPr/>
            </a:pPr>
            <a:endParaRPr lang="zh-CN" altLang="en-US" sz="2400" b="1" dirty="0">
              <a:latin typeface="Trebuchet MS" panose="020B0603020202020204" pitchFamily="34" charset="0"/>
            </a:endParaRPr>
          </a:p>
        </p:txBody>
      </p:sp>
      <p:graphicFrame>
        <p:nvGraphicFramePr>
          <p:cNvPr id="4" name="表格 3">
            <a:extLst>
              <a:ext uri="{FF2B5EF4-FFF2-40B4-BE49-F238E27FC236}">
                <a16:creationId xmlns:a16="http://schemas.microsoft.com/office/drawing/2014/main" id="{6DBE4626-412C-48C8-A526-2579F9021B61}"/>
              </a:ext>
            </a:extLst>
          </p:cNvPr>
          <p:cNvGraphicFramePr>
            <a:graphicFrameLocks noGrp="1"/>
          </p:cNvGraphicFramePr>
          <p:nvPr>
            <p:extLst>
              <p:ext uri="{D42A27DB-BD31-4B8C-83A1-F6EECF244321}">
                <p14:modId xmlns:p14="http://schemas.microsoft.com/office/powerpoint/2010/main" val="2866640949"/>
              </p:ext>
            </p:extLst>
          </p:nvPr>
        </p:nvGraphicFramePr>
        <p:xfrm>
          <a:off x="824682" y="1361399"/>
          <a:ext cx="10616749" cy="1606235"/>
        </p:xfrm>
        <a:graphic>
          <a:graphicData uri="http://schemas.openxmlformats.org/drawingml/2006/table">
            <a:tbl>
              <a:tblPr firstRow="1" firstCol="1" bandRow="1">
                <a:tableStyleId>{5940675A-B579-460E-94D1-54222C63F5DA}</a:tableStyleId>
              </a:tblPr>
              <a:tblGrid>
                <a:gridCol w="2129776">
                  <a:extLst>
                    <a:ext uri="{9D8B030D-6E8A-4147-A177-3AD203B41FA5}">
                      <a16:colId xmlns:a16="http://schemas.microsoft.com/office/drawing/2014/main" val="1906018980"/>
                    </a:ext>
                  </a:extLst>
                </a:gridCol>
                <a:gridCol w="730862">
                  <a:extLst>
                    <a:ext uri="{9D8B030D-6E8A-4147-A177-3AD203B41FA5}">
                      <a16:colId xmlns:a16="http://schemas.microsoft.com/office/drawing/2014/main" val="1005567651"/>
                    </a:ext>
                  </a:extLst>
                </a:gridCol>
                <a:gridCol w="3011256">
                  <a:extLst>
                    <a:ext uri="{9D8B030D-6E8A-4147-A177-3AD203B41FA5}">
                      <a16:colId xmlns:a16="http://schemas.microsoft.com/office/drawing/2014/main" val="2612335796"/>
                    </a:ext>
                  </a:extLst>
                </a:gridCol>
                <a:gridCol w="1631600">
                  <a:extLst>
                    <a:ext uri="{9D8B030D-6E8A-4147-A177-3AD203B41FA5}">
                      <a16:colId xmlns:a16="http://schemas.microsoft.com/office/drawing/2014/main" val="2606803979"/>
                    </a:ext>
                  </a:extLst>
                </a:gridCol>
                <a:gridCol w="3113255">
                  <a:extLst>
                    <a:ext uri="{9D8B030D-6E8A-4147-A177-3AD203B41FA5}">
                      <a16:colId xmlns:a16="http://schemas.microsoft.com/office/drawing/2014/main" val="1345962723"/>
                    </a:ext>
                  </a:extLst>
                </a:gridCol>
              </a:tblGrid>
              <a:tr h="0">
                <a:tc>
                  <a:txBody>
                    <a:bodyPr/>
                    <a:lstStyle/>
                    <a:p>
                      <a:pPr algn="ctr">
                        <a:lnSpc>
                          <a:spcPct val="115000"/>
                        </a:lnSpc>
                        <a:spcAft>
                          <a:spcPts val="1000"/>
                        </a:spcAft>
                      </a:pPr>
                      <a:r>
                        <a:rPr lang="en-US" sz="2000" dirty="0">
                          <a:effectLst/>
                          <a:latin typeface="Trebuchet MS" panose="020B0603020202020204" pitchFamily="34" charset="0"/>
                        </a:rPr>
                        <a:t>Name</a:t>
                      </a:r>
                      <a:endParaRPr lang="zh-CN" sz="200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solidFill>
                      <a:srgbClr val="DEDAF8"/>
                    </a:solidFill>
                  </a:tcPr>
                </a:tc>
                <a:tc>
                  <a:txBody>
                    <a:bodyPr/>
                    <a:lstStyle/>
                    <a:p>
                      <a:pPr algn="ctr">
                        <a:lnSpc>
                          <a:spcPct val="115000"/>
                        </a:lnSpc>
                        <a:spcAft>
                          <a:spcPts val="1000"/>
                        </a:spcAft>
                      </a:pPr>
                      <a:r>
                        <a:rPr lang="en-US" sz="2000" dirty="0">
                          <a:effectLst/>
                          <a:latin typeface="Trebuchet MS" panose="020B0603020202020204" pitchFamily="34" charset="0"/>
                        </a:rPr>
                        <a:t>Age</a:t>
                      </a:r>
                      <a:endParaRPr lang="zh-CN" sz="200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solidFill>
                      <a:srgbClr val="DEDAF8"/>
                    </a:solidFill>
                  </a:tcPr>
                </a:tc>
                <a:tc>
                  <a:txBody>
                    <a:bodyPr/>
                    <a:lstStyle/>
                    <a:p>
                      <a:pPr algn="ctr">
                        <a:lnSpc>
                          <a:spcPct val="115000"/>
                        </a:lnSpc>
                        <a:spcAft>
                          <a:spcPts val="1000"/>
                        </a:spcAft>
                      </a:pPr>
                      <a:r>
                        <a:rPr lang="en-US" sz="2000" dirty="0">
                          <a:effectLst/>
                          <a:latin typeface="Trebuchet MS" panose="020B0603020202020204" pitchFamily="34" charset="0"/>
                        </a:rPr>
                        <a:t>Address</a:t>
                      </a:r>
                      <a:endParaRPr lang="zh-CN" sz="200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solidFill>
                      <a:srgbClr val="DEDAF8"/>
                    </a:solidFill>
                  </a:tcPr>
                </a:tc>
                <a:tc>
                  <a:txBody>
                    <a:bodyPr/>
                    <a:lstStyle/>
                    <a:p>
                      <a:pPr algn="ctr">
                        <a:lnSpc>
                          <a:spcPct val="115000"/>
                        </a:lnSpc>
                        <a:spcAft>
                          <a:spcPts val="1000"/>
                        </a:spcAft>
                      </a:pPr>
                      <a:r>
                        <a:rPr lang="en-US" sz="2000" dirty="0">
                          <a:effectLst/>
                          <a:latin typeface="Trebuchet MS" panose="020B0603020202020204" pitchFamily="34" charset="0"/>
                        </a:rPr>
                        <a:t>Phone</a:t>
                      </a:r>
                      <a:endParaRPr lang="zh-CN" sz="200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solidFill>
                      <a:srgbClr val="DEDAF8"/>
                    </a:solidFill>
                  </a:tcPr>
                </a:tc>
                <a:tc>
                  <a:txBody>
                    <a:bodyPr/>
                    <a:lstStyle/>
                    <a:p>
                      <a:pPr algn="ctr">
                        <a:lnSpc>
                          <a:spcPct val="115000"/>
                        </a:lnSpc>
                        <a:spcAft>
                          <a:spcPts val="1000"/>
                        </a:spcAft>
                      </a:pPr>
                      <a:r>
                        <a:rPr lang="en-US" sz="2000" dirty="0">
                          <a:effectLst/>
                          <a:latin typeface="Trebuchet MS" panose="020B0603020202020204" pitchFamily="34" charset="0"/>
                        </a:rPr>
                        <a:t>Email</a:t>
                      </a:r>
                      <a:endParaRPr lang="zh-CN" sz="200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solidFill>
                      <a:srgbClr val="DEDAF8"/>
                    </a:solidFill>
                  </a:tcPr>
                </a:tc>
                <a:extLst>
                  <a:ext uri="{0D108BD9-81ED-4DB2-BD59-A6C34878D82A}">
                    <a16:rowId xmlns:a16="http://schemas.microsoft.com/office/drawing/2014/main" val="3642559483"/>
                  </a:ext>
                </a:extLst>
              </a:tr>
              <a:tr h="42077">
                <a:tc>
                  <a:txBody>
                    <a:bodyPr/>
                    <a:lstStyle/>
                    <a:p>
                      <a:pPr>
                        <a:lnSpc>
                          <a:spcPct val="115000"/>
                        </a:lnSpc>
                        <a:spcAft>
                          <a:spcPts val="1000"/>
                        </a:spcAft>
                      </a:pPr>
                      <a:r>
                        <a:rPr lang="en-US" sz="2000" b="0" dirty="0">
                          <a:effectLst/>
                          <a:latin typeface="Trebuchet MS" panose="020B0603020202020204" pitchFamily="34" charset="0"/>
                        </a:rPr>
                        <a:t>Zhang Wei</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28</a:t>
                      </a:r>
                      <a:endParaRPr lang="zh-CN" sz="2000" b="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Zhongguancun, Beijing</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13812345678</a:t>
                      </a:r>
                      <a:endParaRPr lang="zh-CN" sz="2000" b="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zhangwei@exa.com</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92117425"/>
                  </a:ext>
                </a:extLst>
              </a:tr>
              <a:tr h="0">
                <a:tc>
                  <a:txBody>
                    <a:bodyPr/>
                    <a:lstStyle/>
                    <a:p>
                      <a:pPr>
                        <a:lnSpc>
                          <a:spcPct val="115000"/>
                        </a:lnSpc>
                        <a:spcAft>
                          <a:spcPts val="1000"/>
                        </a:spcAft>
                      </a:pPr>
                      <a:r>
                        <a:rPr lang="en-US" sz="2000" b="0" dirty="0">
                          <a:effectLst/>
                          <a:latin typeface="Trebuchet MS" panose="020B0603020202020204" pitchFamily="34" charset="0"/>
                        </a:rPr>
                        <a:t>Li Ting</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32</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Pudong, Shanghai</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13987654321</a:t>
                      </a:r>
                      <a:endParaRPr lang="zh-CN" sz="2000" b="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liting@exa.com</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58732675"/>
                  </a:ext>
                </a:extLst>
              </a:tr>
              <a:tr h="0">
                <a:tc>
                  <a:txBody>
                    <a:bodyPr/>
                    <a:lstStyle/>
                    <a:p>
                      <a:pPr>
                        <a:lnSpc>
                          <a:spcPct val="115000"/>
                        </a:lnSpc>
                        <a:spcAft>
                          <a:spcPts val="1000"/>
                        </a:spcAft>
                      </a:pPr>
                      <a:r>
                        <a:rPr lang="en-US" sz="2000" b="0" dirty="0">
                          <a:effectLst/>
                          <a:latin typeface="Trebuchet MS" panose="020B0603020202020204" pitchFamily="34" charset="0"/>
                        </a:rPr>
                        <a:t>Wang Qiang</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45</a:t>
                      </a:r>
                      <a:endParaRPr lang="zh-CN" sz="2000" b="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Tianhe, Guangzhou</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13722223333</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wangqiang@exa.com</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06694262"/>
                  </a:ext>
                </a:extLst>
              </a:tr>
              <a:tr h="0">
                <a:tc>
                  <a:txBody>
                    <a:bodyPr/>
                    <a:lstStyle/>
                    <a:p>
                      <a:pPr>
                        <a:lnSpc>
                          <a:spcPct val="115000"/>
                        </a:lnSpc>
                        <a:spcAft>
                          <a:spcPts val="1000"/>
                        </a:spcAft>
                      </a:pPr>
                      <a:r>
                        <a:rPr lang="en-US" sz="2000" b="0" dirty="0">
                          <a:effectLst/>
                          <a:latin typeface="Trebuchet MS" panose="020B0603020202020204" pitchFamily="34" charset="0"/>
                        </a:rPr>
                        <a:t>Zhao Xiaolin</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26</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Jinjiang, Chengdu</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13611114444</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zhaoxiaolin@exa.com</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17577402"/>
                  </a:ext>
                </a:extLst>
              </a:tr>
            </a:tbl>
          </a:graphicData>
        </a:graphic>
      </p:graphicFrame>
      <p:graphicFrame>
        <p:nvGraphicFramePr>
          <p:cNvPr id="15" name="表格 14">
            <a:extLst>
              <a:ext uri="{FF2B5EF4-FFF2-40B4-BE49-F238E27FC236}">
                <a16:creationId xmlns:a16="http://schemas.microsoft.com/office/drawing/2014/main" id="{A04FAA5D-7A11-4BB4-BDB8-CFF95A98F9FD}"/>
              </a:ext>
            </a:extLst>
          </p:cNvPr>
          <p:cNvGraphicFramePr>
            <a:graphicFrameLocks noGrp="1"/>
          </p:cNvGraphicFramePr>
          <p:nvPr>
            <p:extLst>
              <p:ext uri="{D42A27DB-BD31-4B8C-83A1-F6EECF244321}">
                <p14:modId xmlns:p14="http://schemas.microsoft.com/office/powerpoint/2010/main" val="420539336"/>
              </p:ext>
            </p:extLst>
          </p:nvPr>
        </p:nvGraphicFramePr>
        <p:xfrm>
          <a:off x="977082" y="4211279"/>
          <a:ext cx="6874631" cy="1606235"/>
        </p:xfrm>
        <a:graphic>
          <a:graphicData uri="http://schemas.openxmlformats.org/drawingml/2006/table">
            <a:tbl>
              <a:tblPr firstRow="1" firstCol="1" bandRow="1">
                <a:tableStyleId>{5940675A-B579-460E-94D1-54222C63F5DA}</a:tableStyleId>
              </a:tblPr>
              <a:tblGrid>
                <a:gridCol w="2129776">
                  <a:extLst>
                    <a:ext uri="{9D8B030D-6E8A-4147-A177-3AD203B41FA5}">
                      <a16:colId xmlns:a16="http://schemas.microsoft.com/office/drawing/2014/main" val="1906018980"/>
                    </a:ext>
                  </a:extLst>
                </a:gridCol>
                <a:gridCol w="1631600">
                  <a:extLst>
                    <a:ext uri="{9D8B030D-6E8A-4147-A177-3AD203B41FA5}">
                      <a16:colId xmlns:a16="http://schemas.microsoft.com/office/drawing/2014/main" val="2606803979"/>
                    </a:ext>
                  </a:extLst>
                </a:gridCol>
                <a:gridCol w="3113255">
                  <a:extLst>
                    <a:ext uri="{9D8B030D-6E8A-4147-A177-3AD203B41FA5}">
                      <a16:colId xmlns:a16="http://schemas.microsoft.com/office/drawing/2014/main" val="1345962723"/>
                    </a:ext>
                  </a:extLst>
                </a:gridCol>
              </a:tblGrid>
              <a:tr h="0">
                <a:tc>
                  <a:txBody>
                    <a:bodyPr/>
                    <a:lstStyle/>
                    <a:p>
                      <a:pPr algn="ctr">
                        <a:lnSpc>
                          <a:spcPct val="115000"/>
                        </a:lnSpc>
                        <a:spcAft>
                          <a:spcPts val="1000"/>
                        </a:spcAft>
                      </a:pPr>
                      <a:r>
                        <a:rPr lang="en-US" sz="2000" dirty="0">
                          <a:effectLst/>
                          <a:latin typeface="Trebuchet MS" panose="020B0603020202020204" pitchFamily="34" charset="0"/>
                        </a:rPr>
                        <a:t>Name</a:t>
                      </a:r>
                      <a:endParaRPr lang="zh-CN" sz="200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solidFill>
                      <a:srgbClr val="DEDAF8"/>
                    </a:solidFill>
                  </a:tcPr>
                </a:tc>
                <a:tc>
                  <a:txBody>
                    <a:bodyPr/>
                    <a:lstStyle/>
                    <a:p>
                      <a:pPr algn="ctr">
                        <a:lnSpc>
                          <a:spcPct val="115000"/>
                        </a:lnSpc>
                        <a:spcAft>
                          <a:spcPts val="1000"/>
                        </a:spcAft>
                      </a:pPr>
                      <a:r>
                        <a:rPr lang="en-US" sz="2000" dirty="0">
                          <a:effectLst/>
                          <a:latin typeface="Trebuchet MS" panose="020B0603020202020204" pitchFamily="34" charset="0"/>
                        </a:rPr>
                        <a:t>Phone</a:t>
                      </a:r>
                      <a:endParaRPr lang="zh-CN" sz="200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solidFill>
                      <a:srgbClr val="DEDAF8"/>
                    </a:solidFill>
                  </a:tcPr>
                </a:tc>
                <a:tc>
                  <a:txBody>
                    <a:bodyPr/>
                    <a:lstStyle/>
                    <a:p>
                      <a:pPr algn="ctr">
                        <a:lnSpc>
                          <a:spcPct val="115000"/>
                        </a:lnSpc>
                        <a:spcAft>
                          <a:spcPts val="1000"/>
                        </a:spcAft>
                      </a:pPr>
                      <a:r>
                        <a:rPr lang="en-US" sz="2000" dirty="0">
                          <a:effectLst/>
                          <a:latin typeface="Trebuchet MS" panose="020B0603020202020204" pitchFamily="34" charset="0"/>
                        </a:rPr>
                        <a:t>Email</a:t>
                      </a:r>
                      <a:endParaRPr lang="zh-CN" sz="200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solidFill>
                      <a:srgbClr val="DEDAF8"/>
                    </a:solidFill>
                  </a:tcPr>
                </a:tc>
                <a:extLst>
                  <a:ext uri="{0D108BD9-81ED-4DB2-BD59-A6C34878D82A}">
                    <a16:rowId xmlns:a16="http://schemas.microsoft.com/office/drawing/2014/main" val="3642559483"/>
                  </a:ext>
                </a:extLst>
              </a:tr>
              <a:tr h="42077">
                <a:tc>
                  <a:txBody>
                    <a:bodyPr/>
                    <a:lstStyle/>
                    <a:p>
                      <a:pPr>
                        <a:lnSpc>
                          <a:spcPct val="115000"/>
                        </a:lnSpc>
                        <a:spcAft>
                          <a:spcPts val="1000"/>
                        </a:spcAft>
                      </a:pPr>
                      <a:r>
                        <a:rPr lang="en-US" sz="2000" b="0" dirty="0">
                          <a:effectLst/>
                          <a:latin typeface="Trebuchet MS" panose="020B0603020202020204" pitchFamily="34" charset="0"/>
                        </a:rPr>
                        <a:t>Zhang Wei</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13812345678</a:t>
                      </a:r>
                      <a:endParaRPr lang="zh-CN" sz="2000" b="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zhangwei@exa.com</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92117425"/>
                  </a:ext>
                </a:extLst>
              </a:tr>
              <a:tr h="0">
                <a:tc>
                  <a:txBody>
                    <a:bodyPr/>
                    <a:lstStyle/>
                    <a:p>
                      <a:pPr>
                        <a:lnSpc>
                          <a:spcPct val="115000"/>
                        </a:lnSpc>
                        <a:spcAft>
                          <a:spcPts val="1000"/>
                        </a:spcAft>
                      </a:pPr>
                      <a:r>
                        <a:rPr lang="en-US" sz="2000" b="0" dirty="0">
                          <a:effectLst/>
                          <a:latin typeface="Trebuchet MS" panose="020B0603020202020204" pitchFamily="34" charset="0"/>
                        </a:rPr>
                        <a:t>Li Ting</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13987654321</a:t>
                      </a:r>
                      <a:endParaRPr lang="zh-CN" sz="2000" b="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liting@exa.com</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58732675"/>
                  </a:ext>
                </a:extLst>
              </a:tr>
              <a:tr h="0">
                <a:tc>
                  <a:txBody>
                    <a:bodyPr/>
                    <a:lstStyle/>
                    <a:p>
                      <a:pPr>
                        <a:lnSpc>
                          <a:spcPct val="115000"/>
                        </a:lnSpc>
                        <a:spcAft>
                          <a:spcPts val="1000"/>
                        </a:spcAft>
                      </a:pPr>
                      <a:r>
                        <a:rPr lang="en-US" sz="2000" b="0" dirty="0">
                          <a:effectLst/>
                          <a:latin typeface="Trebuchet MS" panose="020B0603020202020204" pitchFamily="34" charset="0"/>
                        </a:rPr>
                        <a:t>Wang Qiang</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13722223333</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wangqiang@exa.com</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06694262"/>
                  </a:ext>
                </a:extLst>
              </a:tr>
              <a:tr h="0">
                <a:tc>
                  <a:txBody>
                    <a:bodyPr/>
                    <a:lstStyle/>
                    <a:p>
                      <a:pPr>
                        <a:lnSpc>
                          <a:spcPct val="115000"/>
                        </a:lnSpc>
                        <a:spcAft>
                          <a:spcPts val="1000"/>
                        </a:spcAft>
                      </a:pPr>
                      <a:r>
                        <a:rPr lang="en-US" sz="2000" b="0" dirty="0">
                          <a:effectLst/>
                          <a:latin typeface="Trebuchet MS" panose="020B0603020202020204" pitchFamily="34" charset="0"/>
                        </a:rPr>
                        <a:t>Zhao Xiaolin</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13611114444</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2000" b="0" dirty="0">
                          <a:effectLst/>
                          <a:latin typeface="Trebuchet MS" panose="020B0603020202020204" pitchFamily="34" charset="0"/>
                        </a:rPr>
                        <a:t>zhaoxiaolin@exa.com</a:t>
                      </a:r>
                      <a:endParaRPr lang="zh-CN" sz="2000" b="0" dirty="0">
                        <a:effectLst/>
                        <a:latin typeface="Trebuchet MS" panose="020B0603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17577402"/>
                  </a:ext>
                </a:extLst>
              </a:tr>
            </a:tbl>
          </a:graphicData>
        </a:graphic>
      </p:graphicFrame>
    </p:spTree>
    <p:extLst>
      <p:ext uri="{BB962C8B-B14F-4D97-AF65-F5344CB8AC3E}">
        <p14:creationId xmlns:p14="http://schemas.microsoft.com/office/powerpoint/2010/main" val="2613146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5" end="5"/>
                                            </p:txEl>
                                          </p:spTgt>
                                        </p:tgtEl>
                                        <p:attrNameLst>
                                          <p:attrName>style.visibility</p:attrName>
                                        </p:attrNameLst>
                                      </p:cBhvr>
                                      <p:to>
                                        <p:strVal val="visible"/>
                                      </p:to>
                                    </p:set>
                                    <p:animEffect transition="in" filter="fade">
                                      <p:cBhvr>
                                        <p:cTn id="7" dur="1000"/>
                                        <p:tgtEl>
                                          <p:spTgt spid="14">
                                            <p:txEl>
                                              <p:pRg st="5" end="5"/>
                                            </p:txEl>
                                          </p:spTgt>
                                        </p:tgtEl>
                                      </p:cBhvr>
                                    </p:animEffect>
                                    <p:anim calcmode="lin" valueType="num">
                                      <p:cBhvr>
                                        <p:cTn id="8"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5.3.2 Relational Algebra Operations</a:t>
            </a:r>
            <a:endParaRPr lang="en-US" altLang="zh-CN" sz="2000" b="1" dirty="0">
              <a:latin typeface="Trebuchet MS" panose="020B0603020202020204" pitchFamily="34" charset="0"/>
            </a:endParaRPr>
          </a:p>
          <a:p>
            <a:r>
              <a:rPr lang="en-US" altLang="zh-CN" sz="16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Relational Algebra Operations and SQL(</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en-US" altLang="zh-CN" sz="2400" b="1" dirty="0">
              <a:highlight>
                <a:srgbClr val="FF0000"/>
              </a:highligh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8"/>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endParaRPr lang="en-US" altLang="zh-CN" sz="2800" b="1" dirty="0">
              <a:solidFill>
                <a:srgbClr val="FF0000"/>
              </a:solidFill>
            </a:endParaRPr>
          </a:p>
        </p:txBody>
      </p:sp>
      <p:sp>
        <p:nvSpPr>
          <p:cNvPr id="14" name="内容占位符 2">
            <a:extLst>
              <a:ext uri="{FF2B5EF4-FFF2-40B4-BE49-F238E27FC236}">
                <a16:creationId xmlns:a16="http://schemas.microsoft.com/office/drawing/2014/main" id="{C447E5EE-9BA9-49D3-8299-53039670480D}"/>
              </a:ext>
            </a:extLst>
          </p:cNvPr>
          <p:cNvSpPr>
            <a:spLocks noGrp="1"/>
          </p:cNvSpPr>
          <p:nvPr>
            <p:ph idx="1"/>
          </p:nvPr>
        </p:nvSpPr>
        <p:spPr>
          <a:xfrm>
            <a:off x="1164998" y="868732"/>
            <a:ext cx="9102425" cy="5192952"/>
          </a:xfrm>
        </p:spPr>
        <p:txBody>
          <a:bodyPr>
            <a:noAutofit/>
          </a:bodyPr>
          <a:lstStyle/>
          <a:p>
            <a:pPr eaLnBrk="1" hangingPunct="1">
              <a:lnSpc>
                <a:spcPct val="120000"/>
              </a:lnSpc>
              <a:spcBef>
                <a:spcPts val="3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Example:   </a:t>
            </a:r>
            <a:r>
              <a:rPr lang="en-US" altLang="zh-CN" sz="2400" dirty="0">
                <a:latin typeface="Trebuchet MS" panose="020B0603020202020204" pitchFamily="34" charset="0"/>
              </a:rPr>
              <a:t>⟨ID, Name, Age, Address, Phone, Email⟩ </a:t>
            </a:r>
          </a:p>
          <a:p>
            <a:pPr indent="34925" eaLnBrk="1" hangingPunct="1">
              <a:lnSpc>
                <a:spcPct val="120000"/>
              </a:lnSpc>
              <a:spcBef>
                <a:spcPts val="300"/>
              </a:spcBef>
              <a:buFontTx/>
              <a:buNone/>
              <a:defRPr/>
            </a:pPr>
            <a:r>
              <a:rPr lang="en-US" altLang="zh-CN" sz="2400" dirty="0">
                <a:latin typeface="Trebuchet MS" panose="020B0603020202020204" pitchFamily="34" charset="0"/>
              </a:rPr>
              <a:t>Let </a:t>
            </a:r>
            <a:r>
              <a:rPr lang="en-US" altLang="zh-CN" sz="2400" b="1" i="1" dirty="0">
                <a:latin typeface="Trebuchet MS" panose="020B0603020202020204" pitchFamily="34" charset="0"/>
              </a:rPr>
              <a:t>R and S </a:t>
            </a:r>
            <a:r>
              <a:rPr lang="en-US" altLang="zh-CN" sz="2400" dirty="0">
                <a:latin typeface="Trebuchet MS" panose="020B0603020202020204" pitchFamily="34" charset="0"/>
              </a:rPr>
              <a:t>be </a:t>
            </a:r>
            <a:r>
              <a:rPr lang="en-US" altLang="zh-CN" sz="2400" b="1" i="1" dirty="0">
                <a:latin typeface="Trebuchet MS" panose="020B0603020202020204" pitchFamily="34" charset="0"/>
              </a:rPr>
              <a:t>m-ary</a:t>
            </a:r>
            <a:r>
              <a:rPr lang="en-US" altLang="zh-CN" sz="2400" dirty="0">
                <a:latin typeface="Trebuchet MS" panose="020B0603020202020204" pitchFamily="34" charset="0"/>
              </a:rPr>
              <a:t> relations with the same attributes.</a:t>
            </a:r>
          </a:p>
          <a:p>
            <a:pPr indent="34925">
              <a:lnSpc>
                <a:spcPct val="120000"/>
              </a:lnSpc>
              <a:spcBef>
                <a:spcPts val="300"/>
              </a:spcBef>
              <a:buNone/>
              <a:defRPr/>
            </a:pPr>
            <a:r>
              <a:rPr lang="en-US" altLang="zh-CN" sz="2400" b="1" i="1" dirty="0">
                <a:latin typeface="Trebuchet MS" panose="020B0603020202020204" pitchFamily="34" charset="0"/>
              </a:rPr>
              <a:t>R</a:t>
            </a:r>
            <a:r>
              <a:rPr lang="zh-CN" altLang="zh-CN" sz="2400" b="1" dirty="0">
                <a:solidFill>
                  <a:srgbClr val="0B61FF"/>
                </a:solidFill>
                <a:latin typeface="Times New Roman" panose="02020603050405020304" pitchFamily="18" charset="0"/>
                <a:cs typeface="Times New Roman" panose="02020603050405020304" pitchFamily="18" charset="0"/>
              </a:rPr>
              <a:t> ∪ </a:t>
            </a:r>
            <a:r>
              <a:rPr lang="en-US" altLang="zh-CN" sz="2400" b="1" i="1" dirty="0">
                <a:latin typeface="Trebuchet MS" panose="020B0603020202020204" pitchFamily="34" charset="0"/>
              </a:rPr>
              <a:t>S </a:t>
            </a:r>
            <a:r>
              <a:rPr lang="en-US" altLang="zh-CN" sz="2400" dirty="0">
                <a:latin typeface="Trebuchet MS" panose="020B0603020202020204" pitchFamily="34" charset="0"/>
              </a:rPr>
              <a:t>:</a:t>
            </a:r>
          </a:p>
          <a:p>
            <a:pPr indent="939800">
              <a:lnSpc>
                <a:spcPct val="120000"/>
              </a:lnSpc>
              <a:spcBef>
                <a:spcPts val="300"/>
              </a:spcBef>
              <a:buNone/>
              <a:defRPr/>
            </a:pPr>
            <a:r>
              <a:rPr lang="en-US" altLang="zh-CN" sz="2400" dirty="0">
                <a:latin typeface="Trebuchet MS" panose="020B0603020202020204" pitchFamily="34" charset="0"/>
              </a:rPr>
              <a:t>SELECT * FROM </a:t>
            </a:r>
            <a:r>
              <a:rPr lang="en-US" altLang="zh-CN" sz="2400" b="1" i="1" dirty="0">
                <a:latin typeface="Trebuchet MS" panose="020B0603020202020204" pitchFamily="34" charset="0"/>
              </a:rPr>
              <a:t>R</a:t>
            </a:r>
            <a:r>
              <a:rPr lang="en-US" altLang="zh-CN" sz="2400" dirty="0">
                <a:latin typeface="Trebuchet MS" panose="020B0603020202020204" pitchFamily="34" charset="0"/>
              </a:rPr>
              <a:t> UNION SELECT * FROM </a:t>
            </a:r>
            <a:r>
              <a:rPr lang="en-US" altLang="zh-CN" sz="2400" b="1" i="1" dirty="0">
                <a:latin typeface="Trebuchet MS" panose="020B0603020202020204" pitchFamily="34" charset="0"/>
              </a:rPr>
              <a:t>S</a:t>
            </a:r>
            <a:r>
              <a:rPr lang="en-US" altLang="zh-CN" sz="2400" dirty="0">
                <a:latin typeface="Trebuchet MS" panose="020B0603020202020204" pitchFamily="34" charset="0"/>
              </a:rPr>
              <a:t>;  </a:t>
            </a:r>
          </a:p>
          <a:p>
            <a:pPr indent="34925">
              <a:lnSpc>
                <a:spcPct val="120000"/>
              </a:lnSpc>
              <a:spcBef>
                <a:spcPts val="300"/>
              </a:spcBef>
              <a:buNone/>
              <a:defRPr/>
            </a:pPr>
            <a:r>
              <a:rPr lang="en-US" altLang="zh-CN" sz="2400" b="1" i="1" dirty="0">
                <a:latin typeface="Trebuchet MS" panose="020B0603020202020204" pitchFamily="34" charset="0"/>
              </a:rPr>
              <a:t>R</a:t>
            </a:r>
            <a:r>
              <a:rPr lang="en-US" altLang="zh-CN" sz="2400" b="1" dirty="0">
                <a:solidFill>
                  <a:srgbClr val="0B61FF"/>
                </a:solidFill>
                <a:latin typeface="Trebuchet MS" panose="020B0603020202020204" pitchFamily="34" charset="0"/>
              </a:rPr>
              <a:t> ∩ </a:t>
            </a:r>
            <a:r>
              <a:rPr lang="en-US" altLang="zh-CN" sz="2400" b="1" i="1" dirty="0">
                <a:latin typeface="Trebuchet MS" panose="020B0603020202020204" pitchFamily="34" charset="0"/>
              </a:rPr>
              <a:t>S </a:t>
            </a:r>
            <a:r>
              <a:rPr lang="en-US" altLang="zh-CN" sz="2400" dirty="0">
                <a:latin typeface="Trebuchet MS" panose="020B0603020202020204" pitchFamily="34" charset="0"/>
              </a:rPr>
              <a:t>:</a:t>
            </a:r>
          </a:p>
          <a:p>
            <a:pPr indent="939800">
              <a:lnSpc>
                <a:spcPct val="120000"/>
              </a:lnSpc>
              <a:spcBef>
                <a:spcPts val="300"/>
              </a:spcBef>
              <a:buNone/>
              <a:defRPr/>
            </a:pPr>
            <a:r>
              <a:rPr lang="en-US" altLang="zh-CN" sz="2400" dirty="0">
                <a:latin typeface="Trebuchet MS" panose="020B0603020202020204" pitchFamily="34" charset="0"/>
              </a:rPr>
              <a:t>SELECT * FROM </a:t>
            </a:r>
            <a:r>
              <a:rPr lang="en-US" altLang="zh-CN" sz="2400" b="1" i="1" dirty="0">
                <a:latin typeface="Trebuchet MS" panose="020B0603020202020204" pitchFamily="34" charset="0"/>
              </a:rPr>
              <a:t>R</a:t>
            </a:r>
            <a:r>
              <a:rPr lang="en-US" altLang="zh-CN" sz="2400" dirty="0">
                <a:latin typeface="Trebuchet MS" panose="020B0603020202020204" pitchFamily="34" charset="0"/>
              </a:rPr>
              <a:t> INTERSECT SELECT * FROM </a:t>
            </a:r>
            <a:r>
              <a:rPr lang="en-US" altLang="zh-CN" sz="2400" b="1" i="1" dirty="0">
                <a:latin typeface="Trebuchet MS" panose="020B0603020202020204" pitchFamily="34" charset="0"/>
              </a:rPr>
              <a:t>S</a:t>
            </a:r>
            <a:r>
              <a:rPr lang="en-US" altLang="zh-CN" sz="2400" dirty="0">
                <a:latin typeface="Trebuchet MS" panose="020B0603020202020204" pitchFamily="34" charset="0"/>
              </a:rPr>
              <a:t>;</a:t>
            </a:r>
            <a:endParaRPr lang="zh-CN" altLang="zh-CN" sz="2400" dirty="0">
              <a:latin typeface="Trebuchet MS" panose="020B0603020202020204" pitchFamily="34" charset="0"/>
            </a:endParaRPr>
          </a:p>
          <a:p>
            <a:pPr indent="34925">
              <a:lnSpc>
                <a:spcPct val="120000"/>
              </a:lnSpc>
              <a:spcBef>
                <a:spcPts val="300"/>
              </a:spcBef>
              <a:buNone/>
              <a:defRPr/>
            </a:pPr>
            <a:r>
              <a:rPr lang="en-US" altLang="zh-CN" sz="2400" b="1" i="1" dirty="0">
                <a:latin typeface="Trebuchet MS" panose="020B0603020202020204" pitchFamily="34" charset="0"/>
              </a:rPr>
              <a:t>R</a:t>
            </a:r>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0B61FF"/>
                </a:solidFill>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rPr>
              <a:t>S</a:t>
            </a:r>
            <a:r>
              <a:rPr lang="en-US" altLang="zh-CN" sz="2400" dirty="0">
                <a:latin typeface="Trebuchet MS" panose="020B0603020202020204" pitchFamily="34" charset="0"/>
              </a:rPr>
              <a:t>  :</a:t>
            </a:r>
          </a:p>
          <a:p>
            <a:pPr indent="939800">
              <a:lnSpc>
                <a:spcPct val="120000"/>
              </a:lnSpc>
              <a:spcBef>
                <a:spcPts val="300"/>
              </a:spcBef>
              <a:buNone/>
              <a:defRPr/>
            </a:pPr>
            <a:r>
              <a:rPr lang="en-US" altLang="zh-CN" sz="2400" dirty="0">
                <a:latin typeface="Trebuchet MS" panose="020B0603020202020204" pitchFamily="34" charset="0"/>
              </a:rPr>
              <a:t>SELECT * FROM </a:t>
            </a:r>
            <a:r>
              <a:rPr lang="en-US" altLang="zh-CN" sz="2400" b="1" i="1" dirty="0">
                <a:latin typeface="Trebuchet MS" panose="020B0603020202020204" pitchFamily="34" charset="0"/>
              </a:rPr>
              <a:t>R</a:t>
            </a:r>
            <a:r>
              <a:rPr lang="en-US" altLang="zh-CN" sz="2400" dirty="0">
                <a:latin typeface="Trebuchet MS" panose="020B0603020202020204" pitchFamily="34" charset="0"/>
              </a:rPr>
              <a:t> EXCEPT SELECT * FROM </a:t>
            </a:r>
            <a:r>
              <a:rPr lang="en-US" altLang="zh-CN" sz="2400" b="1" i="1" dirty="0">
                <a:latin typeface="Trebuchet MS" panose="020B0603020202020204" pitchFamily="34" charset="0"/>
              </a:rPr>
              <a:t>S</a:t>
            </a:r>
            <a:r>
              <a:rPr lang="en-US" altLang="zh-CN" sz="2400" dirty="0">
                <a:latin typeface="Trebuchet MS" panose="020B0603020202020204" pitchFamily="34" charset="0"/>
              </a:rPr>
              <a:t>;</a:t>
            </a:r>
          </a:p>
          <a:p>
            <a:pPr indent="34925">
              <a:lnSpc>
                <a:spcPct val="120000"/>
              </a:lnSpc>
              <a:spcBef>
                <a:spcPts val="300"/>
              </a:spcBef>
              <a:buNone/>
              <a:defRPr/>
            </a:pPr>
            <a:r>
              <a:rPr lang="en-US" altLang="zh-CN" sz="2400" b="1" dirty="0">
                <a:solidFill>
                  <a:srgbClr val="0B61FF"/>
                </a:solidFill>
                <a:latin typeface="Trebuchet MS" panose="020B0603020202020204" pitchFamily="34" charset="0"/>
                <a:sym typeface="Symbol"/>
              </a:rPr>
              <a:t></a:t>
            </a:r>
            <a:r>
              <a:rPr lang="en-US" altLang="zh-CN" sz="2400" b="1" baseline="-25000" dirty="0">
                <a:latin typeface="Trebuchet MS" panose="020B0603020202020204" pitchFamily="34" charset="0"/>
              </a:rPr>
              <a:t>Name,Phone,Email </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 :</a:t>
            </a:r>
          </a:p>
          <a:p>
            <a:pPr indent="939800">
              <a:lnSpc>
                <a:spcPct val="120000"/>
              </a:lnSpc>
              <a:spcBef>
                <a:spcPts val="300"/>
              </a:spcBef>
              <a:buNone/>
              <a:defRPr/>
            </a:pPr>
            <a:r>
              <a:rPr lang="en-US" altLang="zh-CN" sz="2400" dirty="0">
                <a:latin typeface="Trebuchet MS" panose="020B0603020202020204" pitchFamily="34" charset="0"/>
              </a:rPr>
              <a:t>SELECT Name, Phone, Email FROM </a:t>
            </a:r>
            <a:r>
              <a:rPr lang="en-US" altLang="zh-CN" sz="2400" b="1" i="1" dirty="0">
                <a:latin typeface="Trebuchet MS" panose="020B0603020202020204" pitchFamily="34" charset="0"/>
              </a:rPr>
              <a:t>R</a:t>
            </a:r>
            <a:r>
              <a:rPr lang="en-US" altLang="zh-CN" sz="2400" dirty="0">
                <a:latin typeface="Trebuchet MS" panose="020B0603020202020204" pitchFamily="34" charset="0"/>
              </a:rPr>
              <a:t>;</a:t>
            </a:r>
            <a:endParaRPr lang="zh-CN" altLang="zh-CN" sz="2400" dirty="0">
              <a:latin typeface="Trebuchet MS" panose="020B0603020202020204" pitchFamily="34" charset="0"/>
            </a:endParaRPr>
          </a:p>
          <a:p>
            <a:pPr indent="34925" eaLnBrk="1" hangingPunct="1">
              <a:lnSpc>
                <a:spcPct val="120000"/>
              </a:lnSpc>
              <a:spcBef>
                <a:spcPts val="300"/>
              </a:spcBef>
              <a:buFontTx/>
              <a:buNone/>
              <a:defRPr/>
            </a:pPr>
            <a:endParaRPr lang="zh-CN" altLang="zh-CN" sz="2400" b="1" dirty="0">
              <a:latin typeface="Trebuchet MS" panose="020B0603020202020204" pitchFamily="34" charset="0"/>
            </a:endParaRPr>
          </a:p>
          <a:p>
            <a:pPr indent="-46038" eaLnBrk="1" hangingPunct="1">
              <a:lnSpc>
                <a:spcPct val="110000"/>
              </a:lnSpc>
              <a:spcBef>
                <a:spcPts val="300"/>
              </a:spcBef>
              <a:buClr>
                <a:srgbClr val="0B61FF"/>
              </a:buClr>
              <a:buSzPct val="120000"/>
              <a:defRPr/>
            </a:pPr>
            <a:endParaRPr lang="en-US" altLang="zh-CN" sz="2400" b="1" i="1" dirty="0">
              <a:latin typeface="Trebuchet MS" panose="020B0603020202020204" pitchFamily="34" charset="0"/>
            </a:endParaRPr>
          </a:p>
          <a:p>
            <a:pPr marL="0" indent="0" eaLnBrk="1" hangingPunct="1">
              <a:lnSpc>
                <a:spcPct val="110000"/>
              </a:lnSpc>
              <a:spcBef>
                <a:spcPts val="300"/>
              </a:spcBef>
              <a:buFontTx/>
              <a:buNone/>
              <a:defRPr/>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31495082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4" end="4"/>
                                            </p:txEl>
                                          </p:spTgt>
                                        </p:tgtEl>
                                        <p:attrNameLst>
                                          <p:attrName>style.visibility</p:attrName>
                                        </p:attrNameLst>
                                      </p:cBhvr>
                                      <p:to>
                                        <p:strVal val="visible"/>
                                      </p:to>
                                    </p:set>
                                    <p:animEffect transition="in" filter="fade">
                                      <p:cBhvr>
                                        <p:cTn id="7" dur="1000"/>
                                        <p:tgtEl>
                                          <p:spTgt spid="14">
                                            <p:txEl>
                                              <p:pRg st="4" end="4"/>
                                            </p:txEl>
                                          </p:spTgt>
                                        </p:tgtEl>
                                      </p:cBhvr>
                                    </p:animEffect>
                                    <p:anim calcmode="lin" valueType="num">
                                      <p:cBhvr>
                                        <p:cTn id="8"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5" end="5"/>
                                            </p:txEl>
                                          </p:spTgt>
                                        </p:tgtEl>
                                        <p:attrNameLst>
                                          <p:attrName>style.visibility</p:attrName>
                                        </p:attrNameLst>
                                      </p:cBhvr>
                                      <p:to>
                                        <p:strVal val="visible"/>
                                      </p:to>
                                    </p:set>
                                    <p:animEffect transition="in" filter="fade">
                                      <p:cBhvr>
                                        <p:cTn id="12" dur="1000"/>
                                        <p:tgtEl>
                                          <p:spTgt spid="14">
                                            <p:txEl>
                                              <p:pRg st="5" end="5"/>
                                            </p:txEl>
                                          </p:spTgt>
                                        </p:tgtEl>
                                      </p:cBhvr>
                                    </p:animEffect>
                                    <p:anim calcmode="lin" valueType="num">
                                      <p:cBhvr>
                                        <p:cTn id="1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animEffect transition="in" filter="fade">
                                      <p:cBhvr>
                                        <p:cTn id="19" dur="1000"/>
                                        <p:tgtEl>
                                          <p:spTgt spid="14">
                                            <p:txEl>
                                              <p:pRg st="6" end="6"/>
                                            </p:txEl>
                                          </p:spTgt>
                                        </p:tgtEl>
                                      </p:cBhvr>
                                    </p:animEffect>
                                    <p:anim calcmode="lin" valueType="num">
                                      <p:cBhvr>
                                        <p:cTn id="20"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14">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4">
                                            <p:txEl>
                                              <p:pRg st="7" end="7"/>
                                            </p:txEl>
                                          </p:spTgt>
                                        </p:tgtEl>
                                        <p:attrNameLst>
                                          <p:attrName>style.visibility</p:attrName>
                                        </p:attrNameLst>
                                      </p:cBhvr>
                                      <p:to>
                                        <p:strVal val="visible"/>
                                      </p:to>
                                    </p:set>
                                    <p:animEffect transition="in" filter="fade">
                                      <p:cBhvr>
                                        <p:cTn id="24" dur="1000"/>
                                        <p:tgtEl>
                                          <p:spTgt spid="14">
                                            <p:txEl>
                                              <p:pRg st="7" end="7"/>
                                            </p:txEl>
                                          </p:spTgt>
                                        </p:tgtEl>
                                      </p:cBhvr>
                                    </p:animEffect>
                                    <p:anim calcmode="lin" valueType="num">
                                      <p:cBhvr>
                                        <p:cTn id="25"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26"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4">
                                            <p:txEl>
                                              <p:pRg st="8" end="8"/>
                                            </p:txEl>
                                          </p:spTgt>
                                        </p:tgtEl>
                                        <p:attrNameLst>
                                          <p:attrName>style.visibility</p:attrName>
                                        </p:attrNameLst>
                                      </p:cBhvr>
                                      <p:to>
                                        <p:strVal val="visible"/>
                                      </p:to>
                                    </p:set>
                                    <p:animEffect transition="in" filter="fade">
                                      <p:cBhvr>
                                        <p:cTn id="31" dur="1000"/>
                                        <p:tgtEl>
                                          <p:spTgt spid="14">
                                            <p:txEl>
                                              <p:pRg st="8" end="8"/>
                                            </p:txEl>
                                          </p:spTgt>
                                        </p:tgtEl>
                                      </p:cBhvr>
                                    </p:animEffect>
                                    <p:anim calcmode="lin" valueType="num">
                                      <p:cBhvr>
                                        <p:cTn id="32"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14">
                                            <p:txEl>
                                              <p:pRg st="8" end="8"/>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4">
                                            <p:txEl>
                                              <p:pRg st="9" end="9"/>
                                            </p:txEl>
                                          </p:spTgt>
                                        </p:tgtEl>
                                        <p:attrNameLst>
                                          <p:attrName>style.visibility</p:attrName>
                                        </p:attrNameLst>
                                      </p:cBhvr>
                                      <p:to>
                                        <p:strVal val="visible"/>
                                      </p:to>
                                    </p:set>
                                    <p:animEffect transition="in" filter="fade">
                                      <p:cBhvr>
                                        <p:cTn id="36" dur="1000"/>
                                        <p:tgtEl>
                                          <p:spTgt spid="14">
                                            <p:txEl>
                                              <p:pRg st="9" end="9"/>
                                            </p:txEl>
                                          </p:spTgt>
                                        </p:tgtEl>
                                      </p:cBhvr>
                                    </p:animEffect>
                                    <p:anim calcmode="lin" valueType="num">
                                      <p:cBhvr>
                                        <p:cTn id="37"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38"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5.3.2 Applications of Relational Algebra</a:t>
            </a:r>
          </a:p>
          <a:p>
            <a:r>
              <a:rPr lang="en-US" altLang="zh-CN" sz="16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Algebraic Operations of Relational Databases(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en-US" altLang="zh-CN"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9"/>
            <a:ext cx="9138922" cy="50373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defRPr/>
            </a:pPr>
            <a:r>
              <a:rPr lang="en-US" altLang="zh-CN" sz="2400" dirty="0">
                <a:latin typeface="Trebuchet MS" panose="020B0603020202020204" pitchFamily="34" charset="0"/>
              </a:rPr>
              <a:t>The </a:t>
            </a:r>
            <a:r>
              <a:rPr lang="en-US" altLang="zh-CN" sz="2400" b="1" dirty="0">
                <a:latin typeface="Trebuchet MS" panose="020B0603020202020204" pitchFamily="34" charset="0"/>
              </a:rPr>
              <a:t>Cartesian Product</a:t>
            </a:r>
            <a:r>
              <a:rPr lang="en-US" altLang="zh-CN" sz="2400" dirty="0">
                <a:latin typeface="Trebuchet MS" panose="020B0603020202020204" pitchFamily="34" charset="0"/>
              </a:rPr>
              <a:t> </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b="1" i="1" dirty="0">
                <a:latin typeface="Trebuchet MS" panose="020B0603020202020204" pitchFamily="34" charset="0"/>
              </a:rPr>
              <a:t>S</a:t>
            </a:r>
            <a:r>
              <a:rPr lang="en-US" altLang="zh-CN" sz="2400" dirty="0">
                <a:latin typeface="Trebuchet MS" panose="020B0603020202020204" pitchFamily="34" charset="0"/>
              </a:rPr>
              <a:t>  is a set consisting of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dirty="0">
                <a:latin typeface="Trebuchet MS" panose="020B0603020202020204" pitchFamily="34" charset="0"/>
              </a:rPr>
              <a:t> tuples of the form </a:t>
            </a:r>
            <a:r>
              <a:rPr lang="en-US" altLang="zh-CN" sz="2400" b="1" dirty="0">
                <a:latin typeface="Trebuchet MS" panose="020B0603020202020204" pitchFamily="34" charset="0"/>
              </a:rPr>
              <a:t>&lt;</a:t>
            </a:r>
            <a:r>
              <a:rPr lang="en-US" altLang="zh-CN" sz="2400" b="1" i="1" dirty="0">
                <a:latin typeface="Trebuchet MS" panose="020B0603020202020204" pitchFamily="34" charset="0"/>
              </a:rPr>
              <a:t>A</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i="1" baseline="-25000"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baseline="-25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i="1" baseline="-25000" dirty="0">
                <a:latin typeface="Trebuchet MS" panose="020B0603020202020204" pitchFamily="34" charset="0"/>
              </a:rPr>
              <a:t>n</a:t>
            </a:r>
            <a:r>
              <a:rPr lang="en-US" altLang="zh-CN" sz="2400" b="1" dirty="0">
                <a:latin typeface="Trebuchet MS" panose="020B0603020202020204" pitchFamily="34" charset="0"/>
              </a:rPr>
              <a:t>&gt; </a:t>
            </a:r>
            <a:r>
              <a:rPr lang="en-US" altLang="zh-CN" sz="2400" dirty="0">
                <a:latin typeface="Trebuchet MS" panose="020B0603020202020204" pitchFamily="34" charset="0"/>
              </a:rPr>
              <a:t>where the tuples have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dirty="0">
                <a:latin typeface="Trebuchet MS" panose="020B0603020202020204" pitchFamily="34" charset="0"/>
              </a:rPr>
              <a:t> attributes.</a:t>
            </a:r>
            <a:r>
              <a:rPr lang="en-US" altLang="zh-CN" sz="2400" b="1" i="1" dirty="0">
                <a:latin typeface="Trebuchet MS" panose="020B0603020202020204" pitchFamily="34" charset="0"/>
              </a:rPr>
              <a:t>  </a:t>
            </a:r>
          </a:p>
          <a:p>
            <a:pPr eaLnBrk="1" hangingPunct="1">
              <a:lnSpc>
                <a:spcPct val="120000"/>
              </a:lnSpc>
              <a:spcBef>
                <a:spcPts val="3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Example:</a:t>
            </a:r>
            <a:r>
              <a:rPr lang="en-US" altLang="zh-CN" sz="2400" b="1" i="1" dirty="0">
                <a:latin typeface="Trebuchet MS" panose="020B0603020202020204" pitchFamily="34" charset="0"/>
              </a:rPr>
              <a:t> R</a:t>
            </a:r>
            <a:r>
              <a:rPr lang="en-US" altLang="zh-CN" sz="2400" dirty="0">
                <a:latin typeface="Trebuchet MS" panose="020B0603020202020204" pitchFamily="34" charset="0"/>
              </a:rPr>
              <a:t>={&lt;1,abc&gt;,&lt;2,cabel&gt;}</a:t>
            </a:r>
            <a:r>
              <a:rPr lang="zh-CN" altLang="zh-CN" sz="2400" b="1" dirty="0">
                <a:latin typeface="Trebuchet MS" panose="020B0603020202020204" pitchFamily="34" charset="0"/>
              </a:rPr>
              <a:t>，</a:t>
            </a:r>
            <a:r>
              <a:rPr lang="en-US" altLang="zh-CN" sz="2400" b="1" dirty="0">
                <a:latin typeface="Trebuchet MS" panose="020B0603020202020204" pitchFamily="34" charset="0"/>
              </a:rPr>
              <a:t>  </a:t>
            </a:r>
          </a:p>
          <a:p>
            <a:pPr marL="144000" eaLnBrk="1" hangingPunct="1">
              <a:lnSpc>
                <a:spcPct val="120000"/>
              </a:lnSpc>
              <a:spcBef>
                <a:spcPts val="300"/>
              </a:spcBef>
              <a:buFontTx/>
              <a:buNone/>
              <a:defRPr/>
            </a:pPr>
            <a:r>
              <a:rPr lang="en-US" altLang="zh-CN" sz="2400" b="1" i="1" dirty="0">
                <a:latin typeface="Trebuchet MS" panose="020B0603020202020204" pitchFamily="34" charset="0"/>
              </a:rPr>
              <a:t>   S</a:t>
            </a:r>
            <a:r>
              <a:rPr lang="en-US" altLang="zh-CN" sz="2400" dirty="0">
                <a:latin typeface="Trebuchet MS" panose="020B0603020202020204" pitchFamily="34" charset="0"/>
              </a:rPr>
              <a:t>={&lt;cabel,300,25&gt;,&lt;sin,190,15&gt;,&lt;cod,60,5&gt;}</a:t>
            </a:r>
            <a:r>
              <a:rPr lang="zh-CN" altLang="zh-CN" sz="2400" b="1" dirty="0">
                <a:latin typeface="Trebuchet MS" panose="020B0603020202020204" pitchFamily="34" charset="0"/>
              </a:rPr>
              <a:t>，</a:t>
            </a:r>
          </a:p>
          <a:p>
            <a:pPr eaLnBrk="1" hangingPunct="1">
              <a:lnSpc>
                <a:spcPct val="120000"/>
              </a:lnSpc>
              <a:spcBef>
                <a:spcPts val="300"/>
              </a:spcBef>
              <a:buFontTx/>
              <a:buNone/>
              <a:defRPr/>
            </a:pPr>
            <a:r>
              <a:rPr lang="en-US" altLang="zh-CN" sz="2400" b="1" i="1" dirty="0">
                <a:latin typeface="Trebuchet MS" panose="020B0603020202020204" pitchFamily="34" charset="0"/>
              </a:rPr>
              <a:t>   R</a:t>
            </a:r>
            <a:r>
              <a:rPr lang="en-US" altLang="zh-CN" sz="2400" b="1" dirty="0">
                <a:latin typeface="Trebuchet MS" panose="020B0603020202020204" pitchFamily="34" charset="0"/>
              </a:rPr>
              <a:t>×</a:t>
            </a:r>
            <a:r>
              <a:rPr lang="en-US" altLang="zh-CN" sz="2400" b="1" i="1" dirty="0">
                <a:latin typeface="Trebuchet MS" panose="020B0603020202020204" pitchFamily="34" charset="0"/>
              </a:rPr>
              <a:t>S</a:t>
            </a:r>
            <a:r>
              <a:rPr lang="en-US" altLang="zh-CN" sz="2400" b="1" dirty="0">
                <a:latin typeface="Trebuchet MS" panose="020B0603020202020204" pitchFamily="34" charset="0"/>
              </a:rPr>
              <a:t>=</a:t>
            </a:r>
            <a:r>
              <a:rPr lang="en-US" altLang="zh-CN" sz="2400" dirty="0">
                <a:latin typeface="Trebuchet MS" panose="020B0603020202020204" pitchFamily="34" charset="0"/>
              </a:rPr>
              <a:t>{&lt;1,abc,cabel,300,25&gt;,&lt;1,abc,sin,190,15&gt;,</a:t>
            </a:r>
          </a:p>
          <a:p>
            <a:pPr eaLnBrk="1" hangingPunct="1">
              <a:lnSpc>
                <a:spcPct val="120000"/>
              </a:lnSpc>
              <a:spcBef>
                <a:spcPts val="300"/>
              </a:spcBef>
              <a:buFontTx/>
              <a:buNone/>
              <a:defRPr/>
            </a:pPr>
            <a:r>
              <a:rPr lang="en-US" altLang="zh-CN" sz="2400" dirty="0">
                <a:latin typeface="Trebuchet MS" panose="020B0603020202020204" pitchFamily="34" charset="0"/>
              </a:rPr>
              <a:t>             &lt;1,abc,cod,60,5&gt;,&lt;2,cabel,cabel,300,25&gt;,</a:t>
            </a:r>
          </a:p>
          <a:p>
            <a:pPr eaLnBrk="1" hangingPunct="1">
              <a:lnSpc>
                <a:spcPct val="120000"/>
              </a:lnSpc>
              <a:spcBef>
                <a:spcPts val="300"/>
              </a:spcBef>
              <a:buFontTx/>
              <a:buNone/>
              <a:defRPr/>
            </a:pPr>
            <a:r>
              <a:rPr lang="en-US" altLang="zh-CN" sz="2400" dirty="0">
                <a:latin typeface="Trebuchet MS" panose="020B0603020202020204" pitchFamily="34" charset="0"/>
              </a:rPr>
              <a:t>             &lt;2,cabel,sin,190,15&gt;,&lt;2,cabel,cod,60,5&gt;}</a:t>
            </a:r>
          </a:p>
          <a:p>
            <a:pPr eaLnBrk="1" hangingPunct="1">
              <a:lnSpc>
                <a:spcPct val="120000"/>
              </a:lnSpc>
              <a:spcBef>
                <a:spcPts val="300"/>
              </a:spcBef>
              <a:buFontTx/>
              <a:buNone/>
              <a:defRPr/>
            </a:pPr>
            <a:endParaRPr lang="en-US" altLang="zh-CN" sz="2400" dirty="0">
              <a:latin typeface="Trebuchet MS" panose="020B0603020202020204" pitchFamily="34" charset="0"/>
            </a:endParaRPr>
          </a:p>
          <a:p>
            <a:pPr>
              <a:lnSpc>
                <a:spcPct val="120000"/>
              </a:lnSpc>
              <a:spcBef>
                <a:spcPts val="300"/>
              </a:spcBef>
              <a:buNone/>
              <a:defRPr/>
            </a:pPr>
            <a:r>
              <a:rPr lang="en-US" altLang="zh-CN" sz="2400" b="1" i="1" dirty="0">
                <a:solidFill>
                  <a:srgbClr val="0B61FF"/>
                </a:solidFill>
                <a:latin typeface="Trebuchet MS" panose="020B0603020202020204" pitchFamily="34" charset="0"/>
              </a:rPr>
              <a:t>R</a:t>
            </a:r>
            <a:r>
              <a:rPr lang="en-US" altLang="zh-CN" sz="2400" b="1" dirty="0">
                <a:solidFill>
                  <a:srgbClr val="0B61FF"/>
                </a:solidFill>
                <a:latin typeface="Trebuchet MS" panose="020B0603020202020204" pitchFamily="34" charset="0"/>
              </a:rPr>
              <a:t>×</a:t>
            </a:r>
            <a:r>
              <a:rPr lang="en-US" altLang="zh-CN" sz="2400" b="1" i="1" dirty="0">
                <a:solidFill>
                  <a:srgbClr val="0B61FF"/>
                </a:solidFill>
                <a:latin typeface="Trebuchet MS" panose="020B0603020202020204" pitchFamily="34" charset="0"/>
              </a:rPr>
              <a:t>S : </a:t>
            </a:r>
            <a:r>
              <a:rPr lang="en-US" altLang="zh-CN" sz="2400" dirty="0">
                <a:latin typeface="Trebuchet MS" panose="020B0603020202020204" pitchFamily="34" charset="0"/>
              </a:rPr>
              <a:t>SELECT * FROM R CROSS JOIN </a:t>
            </a:r>
            <a:r>
              <a:rPr lang="en-US" altLang="zh-CN" sz="2400" b="1" i="1" dirty="0">
                <a:latin typeface="Trebuchet MS" panose="020B0603020202020204" pitchFamily="34" charset="0"/>
              </a:rPr>
              <a:t>S</a:t>
            </a:r>
            <a:r>
              <a:rPr lang="zh-CN" altLang="en-US" sz="2400" dirty="0">
                <a:latin typeface="Trebuchet MS" panose="020B0603020202020204" pitchFamily="34" charset="0"/>
              </a:rPr>
              <a:t>；</a:t>
            </a:r>
            <a:endParaRPr lang="zh-CN" altLang="zh-CN" sz="2400" b="1" dirty="0">
              <a:latin typeface="Trebuchet MS" panose="020B0603020202020204" pitchFamily="34" charset="0"/>
            </a:endParaRPr>
          </a:p>
        </p:txBody>
      </p:sp>
    </p:spTree>
    <p:extLst>
      <p:ext uri="{BB962C8B-B14F-4D97-AF65-F5344CB8AC3E}">
        <p14:creationId xmlns:p14="http://schemas.microsoft.com/office/powerpoint/2010/main" val="14277468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fade">
                                      <p:cBhvr>
                                        <p:cTn id="29" dur="1000"/>
                                        <p:tgtEl>
                                          <p:spTgt spid="8">
                                            <p:txEl>
                                              <p:pRg st="5" end="5"/>
                                            </p:txEl>
                                          </p:spTgt>
                                        </p:tgtEl>
                                      </p:cBhvr>
                                    </p:animEffect>
                                    <p:anim calcmode="lin" valueType="num">
                                      <p:cBhvr>
                                        <p:cTn id="3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xEl>
                                              <p:pRg st="7" end="7"/>
                                            </p:txEl>
                                          </p:spTgt>
                                        </p:tgtEl>
                                        <p:attrNameLst>
                                          <p:attrName>style.visibility</p:attrName>
                                        </p:attrNameLst>
                                      </p:cBhvr>
                                      <p:to>
                                        <p:strVal val="visible"/>
                                      </p:to>
                                    </p:set>
                                    <p:animEffect transition="in" filter="fade">
                                      <p:cBhvr>
                                        <p:cTn id="34" dur="1000"/>
                                        <p:tgtEl>
                                          <p:spTgt spid="8">
                                            <p:txEl>
                                              <p:pRg st="7" end="7"/>
                                            </p:txEl>
                                          </p:spTgt>
                                        </p:tgtEl>
                                      </p:cBhvr>
                                    </p:animEffect>
                                    <p:anim calcmode="lin" valueType="num">
                                      <p:cBhvr>
                                        <p:cTn id="35"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rPr>
              <a:t>          5.3 Relational Algebra</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1631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Clr>
                <a:srgbClr val="0B61FF"/>
              </a:buClr>
              <a:buSzPct val="80000"/>
              <a:buFont typeface="Wingdings" panose="05000000000000000000" pitchFamily="2" charset="2"/>
              <a:buChar char="n"/>
            </a:pPr>
            <a:r>
              <a:rPr lang="en-US" sz="2400" dirty="0">
                <a:solidFill>
                  <a:schemeClr val="bg2">
                    <a:lumMod val="50000"/>
                  </a:schemeClr>
                </a:solidFill>
                <a:latin typeface="Trebuchet MS" panose="020B0603020202020204" pitchFamily="34" charset="0"/>
              </a:rPr>
              <a:t>5.3.1 </a:t>
            </a:r>
            <a:r>
              <a:rPr lang="en-US" altLang="zh-CN" sz="1600" dirty="0">
                <a:solidFill>
                  <a:schemeClr val="bg2">
                    <a:lumMod val="50000"/>
                  </a:schemeClr>
                </a:solidFill>
              </a:rPr>
              <a:t> </a:t>
            </a:r>
            <a:r>
              <a:rPr lang="en-US" altLang="zh-CN" sz="2400" dirty="0">
                <a:solidFill>
                  <a:schemeClr val="bg2">
                    <a:lumMod val="50000"/>
                  </a:schemeClr>
                </a:solidFill>
                <a:latin typeface="Trebuchet MS" panose="020B0603020202020204" pitchFamily="34" charset="0"/>
              </a:rPr>
              <a:t>Relational Algebra and Its Components</a:t>
            </a:r>
          </a:p>
          <a:p>
            <a:pPr marL="342900" indent="-342900">
              <a:lnSpc>
                <a:spcPct val="15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5.3.2 </a:t>
            </a:r>
            <a:r>
              <a:rPr lang="en-US" altLang="zh-CN" sz="2400" dirty="0">
                <a:solidFill>
                  <a:schemeClr val="bg2">
                    <a:lumMod val="50000"/>
                  </a:schemeClr>
                </a:solidFill>
                <a:latin typeface="Trebuchet MS" panose="020B0603020202020204" pitchFamily="34" charset="0"/>
              </a:rPr>
              <a:t>Relational Algebra Operations</a:t>
            </a:r>
          </a:p>
          <a:p>
            <a:pPr marL="342900" indent="-342900">
              <a:lnSpc>
                <a:spcPct val="15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5.3.3 </a:t>
            </a:r>
            <a:r>
              <a:rPr lang="en-US" altLang="zh-CN" sz="2400" dirty="0">
                <a:solidFill>
                  <a:srgbClr val="0B61FF"/>
                </a:solidFill>
                <a:latin typeface="Trebuchet MS" panose="020B0603020202020204" pitchFamily="34" charset="0"/>
              </a:rPr>
              <a:t>Business Process Modeling and Its Tools (Languages)</a:t>
            </a:r>
          </a:p>
          <a:p>
            <a:pPr marL="892175" indent="273050">
              <a:lnSpc>
                <a:spcPct val="120000"/>
              </a:lnSpc>
              <a:spcBef>
                <a:spcPts val="600"/>
              </a:spcBef>
              <a:buClr>
                <a:srgbClr val="0B61FF"/>
              </a:buClr>
              <a:buSzPct val="120000"/>
            </a:pPr>
            <a:r>
              <a:rPr lang="en-US" altLang="zh-CN" sz="2400" dirty="0">
                <a:latin typeface="Trebuchet MS" panose="020B0603020202020204" pitchFamily="34" charset="0"/>
              </a:rPr>
              <a:t>Business Process Modeling Tools</a:t>
            </a:r>
          </a:p>
          <a:p>
            <a:pPr marL="892175" indent="273050">
              <a:lnSpc>
                <a:spcPct val="120000"/>
              </a:lnSpc>
              <a:spcBef>
                <a:spcPts val="600"/>
              </a:spcBef>
              <a:buClr>
                <a:srgbClr val="0B61FF"/>
              </a:buClr>
              <a:buSzPct val="120000"/>
            </a:pPr>
            <a:r>
              <a:rPr lang="en-US" altLang="zh-CN" sz="2400" dirty="0">
                <a:latin typeface="Trebuchet MS" panose="020B0603020202020204" pitchFamily="34" charset="0"/>
              </a:rPr>
              <a:t>Workflow Net and Its Components</a:t>
            </a:r>
          </a:p>
          <a:p>
            <a:pPr marL="892175" indent="273050">
              <a:lnSpc>
                <a:spcPct val="120000"/>
              </a:lnSpc>
              <a:spcBef>
                <a:spcPts val="600"/>
              </a:spcBef>
              <a:buClr>
                <a:srgbClr val="0B61FF"/>
              </a:buClr>
              <a:buSzPct val="120000"/>
            </a:pPr>
            <a:r>
              <a:rPr lang="en-US" altLang="zh-CN" sz="2400" dirty="0">
                <a:latin typeface="Trebuchet MS" panose="020B0603020202020204" pitchFamily="34" charset="0"/>
              </a:rPr>
              <a:t>WF-net Transition Types</a:t>
            </a:r>
          </a:p>
          <a:p>
            <a:pPr marL="892175" indent="273050">
              <a:lnSpc>
                <a:spcPct val="120000"/>
              </a:lnSpc>
              <a:spcBef>
                <a:spcPts val="600"/>
              </a:spcBef>
              <a:buClr>
                <a:srgbClr val="0B61FF"/>
              </a:buClr>
              <a:buSzPct val="120000"/>
            </a:pPr>
            <a:r>
              <a:rPr lang="en-US" altLang="zh-CN" sz="2400" dirty="0">
                <a:latin typeface="Trebuchet MS" panose="020B0603020202020204" pitchFamily="34" charset="0"/>
              </a:rPr>
              <a:t>Formal Definition of WF-net</a:t>
            </a:r>
            <a:endParaRPr lang="en-US" sz="2400" dirty="0">
              <a:latin typeface="Trebuchet MS" panose="020B0603020202020204" pitchFamily="34" charset="0"/>
            </a:endParaRPr>
          </a:p>
          <a:p>
            <a:pPr lvl="1"/>
            <a:endParaRPr lang="zh-CN" altLang="en-US" sz="2800" b="1" dirty="0"/>
          </a:p>
        </p:txBody>
      </p:sp>
    </p:spTree>
    <p:extLst>
      <p:ext uri="{BB962C8B-B14F-4D97-AF65-F5344CB8AC3E}">
        <p14:creationId xmlns:p14="http://schemas.microsoft.com/office/powerpoint/2010/main" val="12560608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5.3.4 Business Process Modeling and Its Tools (Languages)</a:t>
            </a:r>
          </a:p>
          <a:p>
            <a:r>
              <a:rPr lang="en-US" altLang="zh-CN" sz="16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Business Process Modeling Tools</a:t>
            </a:r>
            <a:endParaRPr lang="en-US" altLang="zh-CN" sz="2400" b="1" dirty="0">
              <a:highlight>
                <a:srgbClr val="FF0000"/>
              </a:highligh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65441" y="841376"/>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FontTx/>
              <a:buNone/>
              <a:defRPr/>
            </a:pPr>
            <a:endParaRPr lang="en-US" altLang="zh-CN" sz="2800" b="1" dirty="0"/>
          </a:p>
          <a:p>
            <a:pPr marL="0" indent="0" eaLnBrk="1" hangingPunct="1">
              <a:buFontTx/>
              <a:buNone/>
              <a:defRPr/>
            </a:pPr>
            <a:endParaRPr lang="en-US" altLang="zh-CN" b="1" dirty="0"/>
          </a:p>
          <a:p>
            <a:pPr marL="144000" eaLnBrk="1" hangingPunct="1">
              <a:spcBef>
                <a:spcPts val="1200"/>
              </a:spcBef>
              <a:buFontTx/>
              <a:buNone/>
              <a:defRPr/>
            </a:pPr>
            <a:r>
              <a:rPr lang="en-US" altLang="zh-CN" sz="2800" b="1" i="1" dirty="0"/>
              <a:t>   </a:t>
            </a:r>
            <a:endParaRPr lang="zh-CN" altLang="zh-CN" sz="2800" b="1" dirty="0"/>
          </a:p>
        </p:txBody>
      </p:sp>
      <p:sp>
        <p:nvSpPr>
          <p:cNvPr id="87" name="矩形 86">
            <a:extLst>
              <a:ext uri="{FF2B5EF4-FFF2-40B4-BE49-F238E27FC236}">
                <a16:creationId xmlns:a16="http://schemas.microsoft.com/office/drawing/2014/main" id="{27B6C7E2-6EAC-43D6-9CA0-40A6D6B808EA}"/>
              </a:ext>
            </a:extLst>
          </p:cNvPr>
          <p:cNvSpPr/>
          <p:nvPr/>
        </p:nvSpPr>
        <p:spPr>
          <a:xfrm>
            <a:off x="1076998" y="788426"/>
            <a:ext cx="9758642" cy="5555224"/>
          </a:xfrm>
          <a:prstGeom prst="rect">
            <a:avLst/>
          </a:prstGeom>
        </p:spPr>
        <p:txBody>
          <a:bodyPr wrap="square">
            <a:noAutofit/>
          </a:bodyPr>
          <a:lstStyle/>
          <a:p>
            <a:pPr marL="342900" indent="-342900">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Business Process Modeling (BPM)</a:t>
            </a:r>
            <a:r>
              <a:rPr lang="en-US" altLang="zh-CN" sz="2400" dirty="0">
                <a:latin typeface="Trebuchet MS" panose="020B0603020202020204" pitchFamily="34" charset="0"/>
              </a:rPr>
              <a:t> is a method for graphically representing internal processes within an organization. </a:t>
            </a:r>
          </a:p>
          <a:p>
            <a:pPr marL="342900" indent="-342900">
              <a:lnSpc>
                <a:spcPct val="120000"/>
              </a:lnSpc>
              <a:buClr>
                <a:srgbClr val="0B61FF"/>
              </a:buClr>
              <a:buSzPct val="80000"/>
              <a:buFont typeface="Wingdings" panose="05000000000000000000" pitchFamily="2" charset="2"/>
              <a:buChar char="n"/>
            </a:pPr>
            <a:r>
              <a:rPr lang="en-US" altLang="zh-CN" sz="2400" dirty="0">
                <a:latin typeface="Trebuchet MS" panose="020B0603020202020204" pitchFamily="34" charset="0"/>
              </a:rPr>
              <a:t>BPM is an interdisciplinary application of several branches of discrete mathematics—such as graph theory, logic, and automata theory—and represents an advanced application level of </a:t>
            </a:r>
            <a:r>
              <a:rPr lang="en-US" altLang="zh-CN" sz="2400" b="1" dirty="0">
                <a:latin typeface="Trebuchet MS" panose="020B0603020202020204" pitchFamily="34" charset="0"/>
              </a:rPr>
              <a:t>system behavior modeling</a:t>
            </a:r>
            <a:r>
              <a:rPr lang="en-US" altLang="zh-CN" sz="2400" dirty="0">
                <a:latin typeface="Trebuchet MS" panose="020B0603020202020204" pitchFamily="34" charset="0"/>
              </a:rPr>
              <a:t> based on discrete mathematics.</a:t>
            </a:r>
          </a:p>
          <a:p>
            <a:pPr marL="342900" indent="-342900">
              <a:lnSpc>
                <a:spcPct val="120000"/>
              </a:lnSpc>
              <a:buClr>
                <a:srgbClr val="0B61FF"/>
              </a:buClr>
              <a:buSzPct val="80000"/>
              <a:buFont typeface="Wingdings" panose="05000000000000000000" pitchFamily="2" charset="2"/>
              <a:buChar char="n"/>
            </a:pPr>
            <a:r>
              <a:rPr lang="en-US" altLang="zh-CN" sz="2400" dirty="0">
                <a:latin typeface="Trebuchet MS" panose="020B0603020202020204" pitchFamily="34" charset="0"/>
              </a:rPr>
              <a:t>Popular Business Process Modeling </a:t>
            </a:r>
            <a:r>
              <a:rPr lang="en-US" altLang="zh-CN" sz="2400" b="1" dirty="0">
                <a:latin typeface="Trebuchet MS" panose="020B0603020202020204" pitchFamily="34" charset="0"/>
              </a:rPr>
              <a:t>Tools and Languages</a:t>
            </a:r>
            <a:r>
              <a:rPr lang="en-US" altLang="zh-CN" sz="2400" dirty="0">
                <a:latin typeface="Trebuchet MS" panose="020B0603020202020204" pitchFamily="34" charset="0"/>
              </a:rPr>
              <a:t>:</a:t>
            </a:r>
          </a:p>
          <a:p>
            <a:pPr marL="536575" indent="-182563">
              <a:lnSpc>
                <a:spcPct val="12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Petri Nets</a:t>
            </a:r>
          </a:p>
          <a:p>
            <a:pPr marL="536575" indent="-182563">
              <a:lnSpc>
                <a:spcPct val="12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Workflow Net</a:t>
            </a:r>
          </a:p>
          <a:p>
            <a:pPr marL="536575" indent="-182563">
              <a:lnSpc>
                <a:spcPct val="12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UML Activity Diagrams</a:t>
            </a:r>
          </a:p>
          <a:p>
            <a:pPr marL="536575" indent="-182563">
              <a:lnSpc>
                <a:spcPct val="12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BPMN</a:t>
            </a:r>
            <a:r>
              <a:rPr lang="zh-CN" altLang="en-US" sz="2400" dirty="0">
                <a:latin typeface="Trebuchet MS" panose="020B0603020202020204" pitchFamily="34" charset="0"/>
              </a:rPr>
              <a:t>（</a:t>
            </a:r>
            <a:r>
              <a:rPr lang="en-US" altLang="zh-CN" sz="2400" dirty="0">
                <a:latin typeface="Trebuchet MS" panose="020B0603020202020204" pitchFamily="34" charset="0"/>
              </a:rPr>
              <a:t>Business Process Model and Notation</a:t>
            </a:r>
            <a:r>
              <a:rPr lang="zh-CN" altLang="en-US" sz="2400" dirty="0">
                <a:latin typeface="Trebuchet MS" panose="020B0603020202020204" pitchFamily="34" charset="0"/>
              </a:rPr>
              <a:t>）</a:t>
            </a:r>
          </a:p>
          <a:p>
            <a:pPr marL="536575" indent="-182563">
              <a:lnSpc>
                <a:spcPct val="12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EPC</a:t>
            </a:r>
            <a:r>
              <a:rPr lang="zh-CN" altLang="en-US" sz="2400" dirty="0">
                <a:latin typeface="Trebuchet MS" panose="020B0603020202020204" pitchFamily="34" charset="0"/>
              </a:rPr>
              <a:t>（</a:t>
            </a:r>
            <a:r>
              <a:rPr lang="en-US" altLang="zh-CN" sz="2400" dirty="0">
                <a:latin typeface="Trebuchet MS" panose="020B0603020202020204" pitchFamily="34" charset="0"/>
              </a:rPr>
              <a:t>Event-driven Process Chain</a:t>
            </a:r>
            <a:r>
              <a:rPr lang="zh-CN" altLang="en-US" sz="2400" dirty="0">
                <a:latin typeface="Trebuchet MS" panose="020B0603020202020204" pitchFamily="34" charset="0"/>
              </a:rPr>
              <a:t>）</a:t>
            </a:r>
            <a:endParaRPr lang="en-US" altLang="zh-CN" sz="2400" dirty="0">
              <a:latin typeface="Trebuchet MS" panose="020B0603020202020204" pitchFamily="34" charset="0"/>
            </a:endParaRPr>
          </a:p>
          <a:p>
            <a:pPr marL="536575" indent="-182563">
              <a:lnSpc>
                <a:spcPct val="120000"/>
              </a:lnSpc>
              <a:buClr>
                <a:srgbClr val="0B61FF"/>
              </a:buClr>
              <a:buSzPct val="120000"/>
              <a:buFont typeface="Arial" panose="020B0604020202020204" pitchFamily="34" charset="0"/>
              <a:buChar char="•"/>
            </a:pPr>
            <a:endParaRPr lang="en-US" altLang="zh-CN" sz="2400" dirty="0">
              <a:latin typeface="Trebuchet MS" panose="020B0603020202020204" pitchFamily="34" charset="0"/>
            </a:endParaRPr>
          </a:p>
        </p:txBody>
      </p:sp>
    </p:spTree>
    <p:extLst>
      <p:ext uri="{BB962C8B-B14F-4D97-AF65-F5344CB8AC3E}">
        <p14:creationId xmlns:p14="http://schemas.microsoft.com/office/powerpoint/2010/main" val="9001728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7">
                                            <p:txEl>
                                              <p:pRg st="2" end="2"/>
                                            </p:txEl>
                                          </p:spTgt>
                                        </p:tgtEl>
                                        <p:attrNameLst>
                                          <p:attrName>style.visibility</p:attrName>
                                        </p:attrNameLst>
                                      </p:cBhvr>
                                      <p:to>
                                        <p:strVal val="visible"/>
                                      </p:to>
                                    </p:set>
                                    <p:animEffect transition="in" filter="fade">
                                      <p:cBhvr>
                                        <p:cTn id="7" dur="1000"/>
                                        <p:tgtEl>
                                          <p:spTgt spid="87">
                                            <p:txEl>
                                              <p:pRg st="2" end="2"/>
                                            </p:txEl>
                                          </p:spTgt>
                                        </p:tgtEl>
                                      </p:cBhvr>
                                    </p:animEffect>
                                    <p:anim calcmode="lin" valueType="num">
                                      <p:cBhvr>
                                        <p:cTn id="8" dur="1000" fill="hold"/>
                                        <p:tgtEl>
                                          <p:spTgt spid="8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7">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7">
                                            <p:txEl>
                                              <p:pRg st="3" end="3"/>
                                            </p:txEl>
                                          </p:spTgt>
                                        </p:tgtEl>
                                        <p:attrNameLst>
                                          <p:attrName>style.visibility</p:attrName>
                                        </p:attrNameLst>
                                      </p:cBhvr>
                                      <p:to>
                                        <p:strVal val="visible"/>
                                      </p:to>
                                    </p:set>
                                    <p:animEffect transition="in" filter="fade">
                                      <p:cBhvr>
                                        <p:cTn id="12" dur="1000"/>
                                        <p:tgtEl>
                                          <p:spTgt spid="87">
                                            <p:txEl>
                                              <p:pRg st="3" end="3"/>
                                            </p:txEl>
                                          </p:spTgt>
                                        </p:tgtEl>
                                      </p:cBhvr>
                                    </p:animEffect>
                                    <p:anim calcmode="lin" valueType="num">
                                      <p:cBhvr>
                                        <p:cTn id="13" dur="1000" fill="hold"/>
                                        <p:tgtEl>
                                          <p:spTgt spid="8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7">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7">
                                            <p:txEl>
                                              <p:pRg st="4" end="4"/>
                                            </p:txEl>
                                          </p:spTgt>
                                        </p:tgtEl>
                                        <p:attrNameLst>
                                          <p:attrName>style.visibility</p:attrName>
                                        </p:attrNameLst>
                                      </p:cBhvr>
                                      <p:to>
                                        <p:strVal val="visible"/>
                                      </p:to>
                                    </p:set>
                                    <p:animEffect transition="in" filter="fade">
                                      <p:cBhvr>
                                        <p:cTn id="17" dur="1000"/>
                                        <p:tgtEl>
                                          <p:spTgt spid="87">
                                            <p:txEl>
                                              <p:pRg st="4" end="4"/>
                                            </p:txEl>
                                          </p:spTgt>
                                        </p:tgtEl>
                                      </p:cBhvr>
                                    </p:animEffect>
                                    <p:anim calcmode="lin" valueType="num">
                                      <p:cBhvr>
                                        <p:cTn id="18" dur="1000" fill="hold"/>
                                        <p:tgtEl>
                                          <p:spTgt spid="87">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87">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7">
                                            <p:txEl>
                                              <p:pRg st="5" end="5"/>
                                            </p:txEl>
                                          </p:spTgt>
                                        </p:tgtEl>
                                        <p:attrNameLst>
                                          <p:attrName>style.visibility</p:attrName>
                                        </p:attrNameLst>
                                      </p:cBhvr>
                                      <p:to>
                                        <p:strVal val="visible"/>
                                      </p:to>
                                    </p:set>
                                    <p:animEffect transition="in" filter="fade">
                                      <p:cBhvr>
                                        <p:cTn id="22" dur="1000"/>
                                        <p:tgtEl>
                                          <p:spTgt spid="87">
                                            <p:txEl>
                                              <p:pRg st="5" end="5"/>
                                            </p:txEl>
                                          </p:spTgt>
                                        </p:tgtEl>
                                      </p:cBhvr>
                                    </p:animEffect>
                                    <p:anim calcmode="lin" valueType="num">
                                      <p:cBhvr>
                                        <p:cTn id="23" dur="1000" fill="hold"/>
                                        <p:tgtEl>
                                          <p:spTgt spid="87">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87">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7">
                                            <p:txEl>
                                              <p:pRg st="6" end="6"/>
                                            </p:txEl>
                                          </p:spTgt>
                                        </p:tgtEl>
                                        <p:attrNameLst>
                                          <p:attrName>style.visibility</p:attrName>
                                        </p:attrNameLst>
                                      </p:cBhvr>
                                      <p:to>
                                        <p:strVal val="visible"/>
                                      </p:to>
                                    </p:set>
                                    <p:animEffect transition="in" filter="fade">
                                      <p:cBhvr>
                                        <p:cTn id="27" dur="1000"/>
                                        <p:tgtEl>
                                          <p:spTgt spid="87">
                                            <p:txEl>
                                              <p:pRg st="6" end="6"/>
                                            </p:txEl>
                                          </p:spTgt>
                                        </p:tgtEl>
                                      </p:cBhvr>
                                    </p:animEffect>
                                    <p:anim calcmode="lin" valueType="num">
                                      <p:cBhvr>
                                        <p:cTn id="28" dur="1000" fill="hold"/>
                                        <p:tgtEl>
                                          <p:spTgt spid="8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87">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87">
                                            <p:txEl>
                                              <p:pRg st="7" end="7"/>
                                            </p:txEl>
                                          </p:spTgt>
                                        </p:tgtEl>
                                        <p:attrNameLst>
                                          <p:attrName>style.visibility</p:attrName>
                                        </p:attrNameLst>
                                      </p:cBhvr>
                                      <p:to>
                                        <p:strVal val="visible"/>
                                      </p:to>
                                    </p:set>
                                    <p:animEffect transition="in" filter="fade">
                                      <p:cBhvr>
                                        <p:cTn id="32" dur="1000"/>
                                        <p:tgtEl>
                                          <p:spTgt spid="87">
                                            <p:txEl>
                                              <p:pRg st="7" end="7"/>
                                            </p:txEl>
                                          </p:spTgt>
                                        </p:tgtEl>
                                      </p:cBhvr>
                                    </p:animEffect>
                                    <p:anim calcmode="lin" valueType="num">
                                      <p:cBhvr>
                                        <p:cTn id="33" dur="1000" fill="hold"/>
                                        <p:tgtEl>
                                          <p:spTgt spid="87">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8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5.3.4 Business Process Modeling and Its Tools (Languages)</a:t>
            </a:r>
          </a:p>
          <a:p>
            <a:r>
              <a:rPr lang="en-US" altLang="zh-CN" sz="16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Workflow Net and Its Components</a:t>
            </a:r>
            <a:endParaRPr lang="en-US" altLang="zh-CN" sz="2400" b="1" dirty="0">
              <a:highlight>
                <a:srgbClr val="FF0000"/>
              </a:highligh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65441" y="841376"/>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FontTx/>
              <a:buNone/>
              <a:defRPr/>
            </a:pPr>
            <a:endParaRPr lang="en-US" altLang="zh-CN" sz="2800" b="1" dirty="0"/>
          </a:p>
          <a:p>
            <a:pPr marL="0" indent="0" eaLnBrk="1" hangingPunct="1">
              <a:buFontTx/>
              <a:buNone/>
              <a:defRPr/>
            </a:pPr>
            <a:endParaRPr lang="en-US" altLang="zh-CN" b="1" dirty="0"/>
          </a:p>
          <a:p>
            <a:pPr marL="144000" eaLnBrk="1" hangingPunct="1">
              <a:spcBef>
                <a:spcPts val="1200"/>
              </a:spcBef>
              <a:buFontTx/>
              <a:buNone/>
              <a:defRPr/>
            </a:pPr>
            <a:r>
              <a:rPr lang="en-US" altLang="zh-CN" sz="2800" b="1" i="1" dirty="0"/>
              <a:t>   </a:t>
            </a:r>
            <a:endParaRPr lang="zh-CN" altLang="zh-CN" sz="2800" b="1" dirty="0"/>
          </a:p>
        </p:txBody>
      </p:sp>
      <p:sp>
        <p:nvSpPr>
          <p:cNvPr id="87" name="矩形 86">
            <a:extLst>
              <a:ext uri="{FF2B5EF4-FFF2-40B4-BE49-F238E27FC236}">
                <a16:creationId xmlns:a16="http://schemas.microsoft.com/office/drawing/2014/main" id="{27B6C7E2-6EAC-43D6-9CA0-40A6D6B808EA}"/>
              </a:ext>
            </a:extLst>
          </p:cNvPr>
          <p:cNvSpPr/>
          <p:nvPr/>
        </p:nvSpPr>
        <p:spPr>
          <a:xfrm>
            <a:off x="764480" y="788426"/>
            <a:ext cx="9006478" cy="5228198"/>
          </a:xfrm>
          <a:prstGeom prst="rect">
            <a:avLst/>
          </a:prstGeom>
        </p:spPr>
        <p:txBody>
          <a:bodyPr wrap="square">
            <a:noAutofit/>
          </a:bodyPr>
          <a:lstStyle/>
          <a:p>
            <a:pPr marL="342900" indent="-342900">
              <a:lnSpc>
                <a:spcPct val="120000"/>
              </a:lnSpc>
              <a:buClr>
                <a:srgbClr val="0B61FF"/>
              </a:buClr>
              <a:buSzPct val="80000"/>
              <a:buFont typeface="Wingdings" panose="05000000000000000000" pitchFamily="2" charset="2"/>
              <a:buChar char="n"/>
            </a:pPr>
            <a:r>
              <a:rPr lang="en-US" altLang="zh-CN" sz="2400" b="1" i="1" dirty="0">
                <a:latin typeface="Trebuchet MS" panose="020B0603020202020204" pitchFamily="34" charset="0"/>
              </a:rPr>
              <a:t>Petri Net </a:t>
            </a:r>
            <a:r>
              <a:rPr lang="en-US" altLang="zh-CN" sz="2400" dirty="0">
                <a:latin typeface="Trebuchet MS" panose="020B0603020202020204" pitchFamily="34" charset="0"/>
              </a:rPr>
              <a:t>is a mathematical modeling language consisting of </a:t>
            </a:r>
            <a:r>
              <a:rPr lang="en-US" altLang="zh-CN" sz="2400" b="1" dirty="0">
                <a:latin typeface="Trebuchet MS" panose="020B0603020202020204" pitchFamily="34" charset="0"/>
              </a:rPr>
              <a:t>places</a:t>
            </a:r>
            <a:r>
              <a:rPr lang="en-US" altLang="zh-CN" sz="2400" dirty="0">
                <a:latin typeface="Trebuchet MS" panose="020B0603020202020204" pitchFamily="34" charset="0"/>
              </a:rPr>
              <a:t>, </a:t>
            </a:r>
            <a:r>
              <a:rPr lang="en-US" altLang="zh-CN" sz="2400" b="1" dirty="0">
                <a:latin typeface="Trebuchet MS" panose="020B0603020202020204" pitchFamily="34" charset="0"/>
              </a:rPr>
              <a:t>transitions</a:t>
            </a:r>
            <a:r>
              <a:rPr lang="en-US" altLang="zh-CN" sz="2400" dirty="0">
                <a:latin typeface="Trebuchet MS" panose="020B0603020202020204" pitchFamily="34" charset="0"/>
              </a:rPr>
              <a:t>, and </a:t>
            </a:r>
            <a:r>
              <a:rPr lang="en-US" altLang="zh-CN" sz="2400" b="1" dirty="0">
                <a:latin typeface="Trebuchet MS" panose="020B0603020202020204" pitchFamily="34" charset="0"/>
              </a:rPr>
              <a:t>tokens</a:t>
            </a:r>
            <a:r>
              <a:rPr lang="en-US" altLang="zh-CN" sz="2400" dirty="0">
                <a:latin typeface="Trebuchet MS" panose="020B0603020202020204" pitchFamily="34" charset="0"/>
              </a:rPr>
              <a:t>. It can accurately describe and analyze the dynamic behavior of complex systems.</a:t>
            </a:r>
          </a:p>
          <a:p>
            <a:pPr marL="342900" indent="-342900">
              <a:lnSpc>
                <a:spcPct val="120000"/>
              </a:lnSpc>
              <a:buClr>
                <a:srgbClr val="0B61FF"/>
              </a:buClr>
              <a:buSzPct val="80000"/>
              <a:buFont typeface="Wingdings" panose="05000000000000000000" pitchFamily="2" charset="2"/>
              <a:buChar char="n"/>
            </a:pPr>
            <a:r>
              <a:rPr lang="en-US" altLang="zh-CN" sz="2400" dirty="0">
                <a:latin typeface="Trebuchet MS" panose="020B0603020202020204" pitchFamily="34" charset="0"/>
              </a:rPr>
              <a:t>A </a:t>
            </a:r>
            <a:r>
              <a:rPr lang="en-US" altLang="zh-CN" sz="2400" b="1" i="1" dirty="0">
                <a:latin typeface="Trebuchet MS" panose="020B0603020202020204" pitchFamily="34" charset="0"/>
              </a:rPr>
              <a:t>WF-net</a:t>
            </a:r>
            <a:r>
              <a:rPr lang="en-US" altLang="zh-CN" sz="2400" dirty="0">
                <a:latin typeface="Trebuchet MS" panose="020B0603020202020204" pitchFamily="34" charset="0"/>
              </a:rPr>
              <a:t> is a specialized Petri net that adds start and end constraints for workflows, using sets, relations, and functions to enhance business process modeling and analysis.</a:t>
            </a:r>
          </a:p>
          <a:p>
            <a:pPr marL="342900" indent="-342900">
              <a:lnSpc>
                <a:spcPct val="120000"/>
              </a:lnSpc>
              <a:buClr>
                <a:srgbClr val="0B61FF"/>
              </a:buClr>
              <a:buSzPct val="80000"/>
              <a:buFont typeface="Wingdings" panose="05000000000000000000" pitchFamily="2" charset="2"/>
              <a:buChar char="n"/>
            </a:pPr>
            <a:r>
              <a:rPr lang="en-US" altLang="zh-CN" sz="2400" b="1" i="1" dirty="0">
                <a:effectLst/>
                <a:latin typeface="Trebuchet MS" panose="020B0603020202020204" pitchFamily="34" charset="0"/>
                <a:ea typeface="宋体" panose="02010600030101010101" pitchFamily="2" charset="-122"/>
              </a:rPr>
              <a:t>WF-net Components</a:t>
            </a:r>
            <a:r>
              <a:rPr lang="en-US" altLang="zh-CN" sz="2400" dirty="0">
                <a:effectLst/>
                <a:latin typeface="Trebuchet MS" panose="020B0603020202020204" pitchFamily="34" charset="0"/>
                <a:ea typeface="宋体" panose="02010600030101010101" pitchFamily="2" charset="-122"/>
              </a:rPr>
              <a:t>:</a:t>
            </a:r>
          </a:p>
          <a:p>
            <a:pPr>
              <a:lnSpc>
                <a:spcPct val="120000"/>
              </a:lnSpc>
              <a:buClr>
                <a:srgbClr val="0B61FF"/>
              </a:buClr>
              <a:buSzPct val="80000"/>
            </a:pPr>
            <a:endParaRPr lang="en-US" altLang="zh-CN" sz="2400" dirty="0">
              <a:latin typeface="Trebuchet MS" panose="020B0603020202020204" pitchFamily="34" charset="0"/>
            </a:endParaRPr>
          </a:p>
        </p:txBody>
      </p:sp>
      <p:graphicFrame>
        <p:nvGraphicFramePr>
          <p:cNvPr id="5" name="表格 4">
            <a:extLst>
              <a:ext uri="{FF2B5EF4-FFF2-40B4-BE49-F238E27FC236}">
                <a16:creationId xmlns:a16="http://schemas.microsoft.com/office/drawing/2014/main" id="{E3517B0C-918A-4688-840C-9E69FA15C48F}"/>
              </a:ext>
            </a:extLst>
          </p:cNvPr>
          <p:cNvGraphicFramePr>
            <a:graphicFrameLocks noGrp="1"/>
          </p:cNvGraphicFramePr>
          <p:nvPr>
            <p:extLst>
              <p:ext uri="{D42A27DB-BD31-4B8C-83A1-F6EECF244321}">
                <p14:modId xmlns:p14="http://schemas.microsoft.com/office/powerpoint/2010/main" val="1516553400"/>
              </p:ext>
            </p:extLst>
          </p:nvPr>
        </p:nvGraphicFramePr>
        <p:xfrm>
          <a:off x="1272193" y="3934870"/>
          <a:ext cx="7718722" cy="2178063"/>
        </p:xfrm>
        <a:graphic>
          <a:graphicData uri="http://schemas.openxmlformats.org/drawingml/2006/table">
            <a:tbl>
              <a:tblPr firstRow="1" firstCol="1" bandRow="1">
                <a:tableStyleId>{5940675A-B579-460E-94D1-54222C63F5DA}</a:tableStyleId>
              </a:tblPr>
              <a:tblGrid>
                <a:gridCol w="2254338">
                  <a:extLst>
                    <a:ext uri="{9D8B030D-6E8A-4147-A177-3AD203B41FA5}">
                      <a16:colId xmlns:a16="http://schemas.microsoft.com/office/drawing/2014/main" val="2049354098"/>
                    </a:ext>
                  </a:extLst>
                </a:gridCol>
                <a:gridCol w="2465408">
                  <a:extLst>
                    <a:ext uri="{9D8B030D-6E8A-4147-A177-3AD203B41FA5}">
                      <a16:colId xmlns:a16="http://schemas.microsoft.com/office/drawing/2014/main" val="2451761335"/>
                    </a:ext>
                  </a:extLst>
                </a:gridCol>
                <a:gridCol w="2998976">
                  <a:extLst>
                    <a:ext uri="{9D8B030D-6E8A-4147-A177-3AD203B41FA5}">
                      <a16:colId xmlns:a16="http://schemas.microsoft.com/office/drawing/2014/main" val="4079530182"/>
                    </a:ext>
                  </a:extLst>
                </a:gridCol>
              </a:tblGrid>
              <a:tr h="189773">
                <a:tc>
                  <a:txBody>
                    <a:bodyPr/>
                    <a:lstStyle/>
                    <a:p>
                      <a:pPr indent="127000" algn="ctr"/>
                      <a:r>
                        <a:rPr lang="en-US" sz="2000" b="1" kern="100" dirty="0">
                          <a:effectLst/>
                        </a:rPr>
                        <a:t>Component</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solidFill>
                      <a:srgbClr val="DEDAF8"/>
                    </a:solidFill>
                  </a:tcPr>
                </a:tc>
                <a:tc>
                  <a:txBody>
                    <a:bodyPr/>
                    <a:lstStyle/>
                    <a:p>
                      <a:pPr indent="20955" algn="ctr"/>
                      <a:r>
                        <a:rPr lang="en-US" sz="2000" b="1" kern="100" dirty="0">
                          <a:effectLst/>
                        </a:rPr>
                        <a:t>Symbol / Notation</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solidFill>
                      <a:srgbClr val="DEDAF8"/>
                    </a:solidFill>
                  </a:tcPr>
                </a:tc>
                <a:tc>
                  <a:txBody>
                    <a:bodyPr/>
                    <a:lstStyle/>
                    <a:p>
                      <a:pPr indent="229235" algn="ctr"/>
                      <a:r>
                        <a:rPr lang="en-US" sz="2000" b="1" kern="100" dirty="0">
                          <a:effectLst/>
                        </a:rPr>
                        <a:t>Description</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solidFill>
                      <a:srgbClr val="DEDAF8"/>
                    </a:solidFill>
                  </a:tcPr>
                </a:tc>
                <a:extLst>
                  <a:ext uri="{0D108BD9-81ED-4DB2-BD59-A6C34878D82A}">
                    <a16:rowId xmlns:a16="http://schemas.microsoft.com/office/drawing/2014/main" val="2951763939"/>
                  </a:ext>
                </a:extLst>
              </a:tr>
              <a:tr h="264597">
                <a:tc>
                  <a:txBody>
                    <a:bodyPr/>
                    <a:lstStyle/>
                    <a:p>
                      <a:pPr indent="127000" algn="just"/>
                      <a:r>
                        <a:rPr lang="en-US" sz="2000" kern="100" dirty="0">
                          <a:effectLst/>
                          <a:latin typeface="Trebuchet MS" panose="020B0603020202020204" pitchFamily="34" charset="0"/>
                        </a:rPr>
                        <a:t>Place </a:t>
                      </a:r>
                      <a:r>
                        <a:rPr lang="en-US" sz="2000" b="1" i="1" kern="100" dirty="0">
                          <a:effectLst/>
                          <a:latin typeface="Trebuchet MS" panose="020B0603020202020204" pitchFamily="34" charset="0"/>
                        </a:rPr>
                        <a:t>P</a:t>
                      </a:r>
                      <a:endParaRPr lang="zh-CN" sz="2000" b="1" i="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r>
                        <a:rPr lang="en-US" sz="2000" b="1" kern="100" dirty="0">
                          <a:effectLst/>
                          <a:latin typeface="Trebuchet MS" panose="020B0603020202020204" pitchFamily="34" charset="0"/>
                        </a:rPr>
                        <a:t>○</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r>
                        <a:rPr lang="en-US" sz="2000" kern="100" dirty="0">
                          <a:effectLst/>
                          <a:latin typeface="Trebuchet MS" panose="020B0603020202020204" pitchFamily="34" charset="0"/>
                        </a:rPr>
                        <a:t>condition or state</a:t>
                      </a:r>
                      <a:endParaRPr lang="zh-CN" sz="2000" kern="10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91411705"/>
                  </a:ext>
                </a:extLst>
              </a:tr>
              <a:tr h="349263">
                <a:tc>
                  <a:txBody>
                    <a:bodyPr/>
                    <a:lstStyle/>
                    <a:p>
                      <a:pPr indent="127000" algn="just"/>
                      <a:r>
                        <a:rPr lang="en-US" sz="2000" kern="100" dirty="0">
                          <a:effectLst/>
                          <a:latin typeface="Trebuchet MS" panose="020B0603020202020204" pitchFamily="34" charset="0"/>
                        </a:rPr>
                        <a:t>Transition </a:t>
                      </a:r>
                      <a:r>
                        <a:rPr lang="en-US" sz="2000" b="1" i="1" kern="100" dirty="0">
                          <a:solidFill>
                            <a:schemeClr val="tx1"/>
                          </a:solidFill>
                          <a:effectLst/>
                          <a:latin typeface="Trebuchet MS" panose="020B0603020202020204" pitchFamily="34" charset="0"/>
                          <a:ea typeface="+mn-ea"/>
                          <a:cs typeface="+mn-cs"/>
                        </a:rPr>
                        <a:t>T</a:t>
                      </a:r>
                      <a:endParaRPr lang="zh-CN" altLang="en-US" sz="2000" b="1" i="1" kern="100" dirty="0">
                        <a:solidFill>
                          <a:schemeClr val="tx1"/>
                        </a:solidFill>
                        <a:effectLst/>
                        <a:latin typeface="Trebuchet MS" panose="020B0603020202020204" pitchFamily="34" charset="0"/>
                        <a:ea typeface="+mn-ea"/>
                        <a:cs typeface="+mn-cs"/>
                      </a:endParaRPr>
                    </a:p>
                  </a:txBody>
                  <a:tcPr marL="68580" marR="68580" marT="0" marB="0" anchor="ctr"/>
                </a:tc>
                <a:tc>
                  <a:txBody>
                    <a:bodyPr/>
                    <a:lstStyle/>
                    <a:p>
                      <a:pPr indent="127000" algn="just"/>
                      <a:r>
                        <a:rPr lang="zh-CN" sz="2000" b="1" kern="100" dirty="0">
                          <a:effectLst/>
                          <a:latin typeface="Trebuchet MS" panose="020B0603020202020204" pitchFamily="34" charset="0"/>
                        </a:rPr>
                        <a:t>▭</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r>
                        <a:rPr lang="en-US" sz="2000" kern="100" dirty="0">
                          <a:effectLst/>
                          <a:latin typeface="Trebuchet MS" panose="020B0603020202020204" pitchFamily="34" charset="0"/>
                        </a:rPr>
                        <a:t>activity or task</a:t>
                      </a:r>
                      <a:endParaRPr lang="zh-CN" sz="2000" kern="10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06443108"/>
                  </a:ext>
                </a:extLst>
              </a:tr>
              <a:tr h="304800">
                <a:tc>
                  <a:txBody>
                    <a:bodyPr/>
                    <a:lstStyle/>
                    <a:p>
                      <a:pPr indent="127000" algn="just"/>
                      <a:r>
                        <a:rPr lang="en-US" sz="2000" kern="100" dirty="0">
                          <a:effectLst/>
                          <a:latin typeface="Trebuchet MS" panose="020B0603020202020204" pitchFamily="34" charset="0"/>
                        </a:rPr>
                        <a:t>Flow Relation </a:t>
                      </a:r>
                      <a:r>
                        <a:rPr lang="en-US" sz="2000" b="1" i="1" kern="100" dirty="0">
                          <a:solidFill>
                            <a:schemeClr val="tx1"/>
                          </a:solidFill>
                          <a:effectLst/>
                          <a:latin typeface="Trebuchet MS" panose="020B0603020202020204" pitchFamily="34" charset="0"/>
                          <a:ea typeface="+mn-ea"/>
                          <a:cs typeface="+mn-cs"/>
                        </a:rPr>
                        <a:t>F</a:t>
                      </a:r>
                      <a:endParaRPr lang="zh-CN" altLang="en-US" sz="2000" b="1" i="1" kern="100" dirty="0">
                        <a:solidFill>
                          <a:schemeClr val="tx1"/>
                        </a:solidFill>
                        <a:effectLst/>
                        <a:latin typeface="Trebuchet MS" panose="020B0603020202020204" pitchFamily="34" charset="0"/>
                        <a:ea typeface="+mn-ea"/>
                        <a:cs typeface="+mn-cs"/>
                      </a:endParaRPr>
                    </a:p>
                  </a:txBody>
                  <a:tcPr marL="68580" marR="68580" marT="0" marB="0" anchor="ctr"/>
                </a:tc>
                <a:tc>
                  <a:txBody>
                    <a:bodyPr/>
                    <a:lstStyle/>
                    <a:p>
                      <a:pPr indent="127000" algn="just"/>
                      <a:r>
                        <a:rPr lang="en-US" sz="2000" b="1" kern="100" dirty="0">
                          <a:effectLst/>
                          <a:latin typeface="Trebuchet MS" panose="020B0603020202020204" pitchFamily="34" charset="0"/>
                        </a:rPr>
                        <a:t>→</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l"/>
                      <a:r>
                        <a:rPr lang="en-US" sz="2000" kern="100" dirty="0">
                          <a:effectLst/>
                          <a:latin typeface="Trebuchet MS" panose="020B0603020202020204" pitchFamily="34" charset="0"/>
                        </a:rPr>
                        <a:t>control flow connection</a:t>
                      </a:r>
                      <a:endParaRPr lang="zh-CN" sz="2000" kern="10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70928536"/>
                  </a:ext>
                </a:extLst>
              </a:tr>
              <a:tr h="115372">
                <a:tc>
                  <a:txBody>
                    <a:bodyPr/>
                    <a:lstStyle/>
                    <a:p>
                      <a:pPr indent="127000" algn="just"/>
                      <a:r>
                        <a:rPr lang="en-US" sz="2000" kern="100" dirty="0">
                          <a:effectLst/>
                          <a:latin typeface="Trebuchet MS" panose="020B0603020202020204" pitchFamily="34" charset="0"/>
                        </a:rPr>
                        <a:t>Start Place </a:t>
                      </a:r>
                      <a:r>
                        <a:rPr lang="en-US" sz="2000" b="1" i="1" kern="100" dirty="0">
                          <a:solidFill>
                            <a:schemeClr val="tx1"/>
                          </a:solidFill>
                          <a:effectLst/>
                          <a:latin typeface="Trebuchet MS" panose="020B0603020202020204" pitchFamily="34" charset="0"/>
                          <a:ea typeface="+mn-ea"/>
                          <a:cs typeface="+mn-cs"/>
                        </a:rPr>
                        <a:t>i</a:t>
                      </a:r>
                      <a:endParaRPr lang="zh-CN" altLang="en-US" sz="2000" b="1" i="1" kern="100" dirty="0">
                        <a:solidFill>
                          <a:schemeClr val="tx1"/>
                        </a:solidFill>
                        <a:effectLst/>
                        <a:latin typeface="Trebuchet MS" panose="020B0603020202020204" pitchFamily="34" charset="0"/>
                        <a:ea typeface="+mn-ea"/>
                        <a:cs typeface="+mn-cs"/>
                      </a:endParaRPr>
                    </a:p>
                  </a:txBody>
                  <a:tcPr marL="68580" marR="68580" marT="0" marB="0" anchor="ctr"/>
                </a:tc>
                <a:tc>
                  <a:txBody>
                    <a:bodyPr/>
                    <a:lstStyle/>
                    <a:p>
                      <a:pPr indent="127000" algn="just"/>
                      <a:r>
                        <a:rPr lang="en-US" sz="2000" b="1" kern="100" dirty="0">
                          <a:effectLst/>
                          <a:latin typeface="Trebuchet MS" panose="020B0603020202020204" pitchFamily="34" charset="0"/>
                        </a:rPr>
                        <a:t>○</a:t>
                      </a:r>
                      <a:r>
                        <a:rPr lang="zh-CN" sz="2000" b="1" kern="100" dirty="0">
                          <a:effectLst/>
                          <a:latin typeface="Trebuchet MS" panose="020B0603020202020204" pitchFamily="34" charset="0"/>
                        </a:rPr>
                        <a:t>（</a:t>
                      </a:r>
                      <a:r>
                        <a:rPr lang="en-US" sz="2000" b="1" kern="100" dirty="0">
                          <a:effectLst/>
                          <a:latin typeface="Trebuchet MS" panose="020B0603020202020204" pitchFamily="34" charset="0"/>
                        </a:rPr>
                        <a:t>no input</a:t>
                      </a:r>
                      <a:r>
                        <a:rPr lang="zh-CN" sz="2000" b="1" kern="100" dirty="0">
                          <a:effectLst/>
                          <a:latin typeface="Trebuchet MS" panose="020B0603020202020204" pitchFamily="34" charset="0"/>
                        </a:rPr>
                        <a:t>）</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r>
                        <a:rPr lang="en-US" sz="2000" kern="100" dirty="0">
                          <a:effectLst/>
                          <a:latin typeface="Trebuchet MS" panose="020B0603020202020204" pitchFamily="34" charset="0"/>
                        </a:rPr>
                        <a:t>start place</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7816700"/>
                  </a:ext>
                </a:extLst>
              </a:tr>
              <a:tr h="221402">
                <a:tc>
                  <a:txBody>
                    <a:bodyPr/>
                    <a:lstStyle/>
                    <a:p>
                      <a:pPr indent="127000" algn="just"/>
                      <a:r>
                        <a:rPr lang="en-US" sz="2000" kern="100" dirty="0">
                          <a:effectLst/>
                          <a:latin typeface="Trebuchet MS" panose="020B0603020202020204" pitchFamily="34" charset="0"/>
                        </a:rPr>
                        <a:t>End Place </a:t>
                      </a:r>
                      <a:r>
                        <a:rPr lang="en-US" sz="2000" b="1" i="1" kern="100" dirty="0">
                          <a:solidFill>
                            <a:schemeClr val="tx1"/>
                          </a:solidFill>
                          <a:effectLst/>
                          <a:latin typeface="Trebuchet MS" panose="020B0603020202020204" pitchFamily="34" charset="0"/>
                          <a:ea typeface="+mn-ea"/>
                          <a:cs typeface="+mn-cs"/>
                        </a:rPr>
                        <a:t>o</a:t>
                      </a:r>
                      <a:endParaRPr lang="zh-CN" altLang="en-US" sz="2000" b="1" i="1" kern="100" dirty="0">
                        <a:solidFill>
                          <a:schemeClr val="tx1"/>
                        </a:solidFill>
                        <a:effectLst/>
                        <a:latin typeface="Trebuchet MS" panose="020B0603020202020204" pitchFamily="34" charset="0"/>
                        <a:ea typeface="+mn-ea"/>
                        <a:cs typeface="+mn-cs"/>
                      </a:endParaRPr>
                    </a:p>
                  </a:txBody>
                  <a:tcPr marL="68580" marR="68580" marT="0" marB="0" anchor="ctr"/>
                </a:tc>
                <a:tc>
                  <a:txBody>
                    <a:bodyPr/>
                    <a:lstStyle/>
                    <a:p>
                      <a:pPr indent="127000" algn="just"/>
                      <a:r>
                        <a:rPr lang="en-US" sz="2000" b="1" kern="100" dirty="0">
                          <a:effectLst/>
                          <a:latin typeface="Trebuchet MS" panose="020B0603020202020204" pitchFamily="34" charset="0"/>
                        </a:rPr>
                        <a:t>○</a:t>
                      </a:r>
                      <a:r>
                        <a:rPr lang="zh-CN" sz="2000" b="1" kern="100" dirty="0">
                          <a:effectLst/>
                          <a:latin typeface="Trebuchet MS" panose="020B0603020202020204" pitchFamily="34" charset="0"/>
                        </a:rPr>
                        <a:t>（</a:t>
                      </a:r>
                      <a:r>
                        <a:rPr lang="en-US" sz="2000" b="1" kern="100" dirty="0">
                          <a:effectLst/>
                          <a:latin typeface="Trebuchet MS" panose="020B0603020202020204" pitchFamily="34" charset="0"/>
                        </a:rPr>
                        <a:t>no output</a:t>
                      </a:r>
                      <a:r>
                        <a:rPr lang="zh-CN" sz="2000" b="1" kern="100" dirty="0">
                          <a:effectLst/>
                          <a:latin typeface="Trebuchet MS" panose="020B0603020202020204" pitchFamily="34" charset="0"/>
                        </a:rPr>
                        <a:t>）</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r>
                        <a:rPr lang="en-US" sz="2000" kern="100" dirty="0">
                          <a:effectLst/>
                          <a:latin typeface="Trebuchet MS" panose="020B0603020202020204" pitchFamily="34" charset="0"/>
                        </a:rPr>
                        <a:t>end place</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27329483"/>
                  </a:ext>
                </a:extLst>
              </a:tr>
              <a:tr h="0">
                <a:tc>
                  <a:txBody>
                    <a:bodyPr/>
                    <a:lstStyle/>
                    <a:p>
                      <a:pPr indent="127000" algn="just"/>
                      <a:r>
                        <a:rPr lang="en-US" sz="2000" kern="100" dirty="0">
                          <a:effectLst/>
                          <a:latin typeface="Trebuchet MS" panose="020B0603020202020204" pitchFamily="34" charset="0"/>
                        </a:rPr>
                        <a:t>Net Definition</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r>
                        <a:rPr lang="en-US" sz="2000" b="1" i="1" kern="100" dirty="0">
                          <a:solidFill>
                            <a:schemeClr val="tx1"/>
                          </a:solidFill>
                          <a:effectLst/>
                          <a:latin typeface="Trebuchet MS" panose="020B0603020202020204" pitchFamily="34" charset="0"/>
                          <a:ea typeface="+mn-ea"/>
                          <a:cs typeface="+mn-cs"/>
                        </a:rPr>
                        <a:t>N</a:t>
                      </a:r>
                      <a:r>
                        <a:rPr lang="en-US" sz="2000" b="1" kern="100" dirty="0">
                          <a:effectLst/>
                          <a:latin typeface="Trebuchet MS" panose="020B0603020202020204" pitchFamily="34" charset="0"/>
                        </a:rPr>
                        <a:t> = (</a:t>
                      </a:r>
                      <a:r>
                        <a:rPr lang="en-US" sz="2000" b="1" i="1" kern="100" dirty="0">
                          <a:effectLst/>
                          <a:latin typeface="Trebuchet MS" panose="020B0603020202020204" pitchFamily="34" charset="0"/>
                        </a:rPr>
                        <a:t>P</a:t>
                      </a:r>
                      <a:r>
                        <a:rPr lang="en-US" sz="2000" b="1" kern="100" dirty="0">
                          <a:effectLst/>
                          <a:latin typeface="Trebuchet MS" panose="020B0603020202020204" pitchFamily="34" charset="0"/>
                        </a:rPr>
                        <a:t>, </a:t>
                      </a:r>
                      <a:r>
                        <a:rPr lang="en-US" sz="2000" b="1" i="1" kern="100" dirty="0">
                          <a:effectLst/>
                          <a:latin typeface="Trebuchet MS" panose="020B0603020202020204" pitchFamily="34" charset="0"/>
                        </a:rPr>
                        <a:t>T</a:t>
                      </a:r>
                      <a:r>
                        <a:rPr lang="en-US" sz="2000" b="1" kern="100" dirty="0">
                          <a:effectLst/>
                          <a:latin typeface="Trebuchet MS" panose="020B0603020202020204" pitchFamily="34" charset="0"/>
                        </a:rPr>
                        <a:t>, </a:t>
                      </a:r>
                      <a:r>
                        <a:rPr lang="en-US" sz="2000" b="1" i="1" kern="100" dirty="0">
                          <a:effectLst/>
                          <a:latin typeface="Trebuchet MS" panose="020B0603020202020204" pitchFamily="34" charset="0"/>
                        </a:rPr>
                        <a:t>F</a:t>
                      </a:r>
                      <a:r>
                        <a:rPr lang="en-US" sz="2000" b="1" kern="100" dirty="0">
                          <a:effectLst/>
                          <a:latin typeface="Trebuchet MS" panose="020B0603020202020204" pitchFamily="34" charset="0"/>
                        </a:rPr>
                        <a:t>)</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r>
                        <a:rPr lang="en-US" sz="2000" kern="100" dirty="0">
                          <a:effectLst/>
                          <a:latin typeface="Trebuchet MS" panose="020B0603020202020204" pitchFamily="34" charset="0"/>
                        </a:rPr>
                        <a:t>triple of </a:t>
                      </a:r>
                      <a:r>
                        <a:rPr lang="en-US" sz="2000" b="1" i="1" kern="100" dirty="0">
                          <a:effectLst/>
                          <a:latin typeface="Trebuchet MS" panose="020B0603020202020204" pitchFamily="34" charset="0"/>
                        </a:rPr>
                        <a:t>P</a:t>
                      </a:r>
                      <a:r>
                        <a:rPr lang="en-US" sz="2000" kern="100" dirty="0">
                          <a:effectLst/>
                          <a:latin typeface="Trebuchet MS" panose="020B0603020202020204" pitchFamily="34" charset="0"/>
                        </a:rPr>
                        <a:t>, </a:t>
                      </a:r>
                      <a:r>
                        <a:rPr lang="en-US" sz="2000" b="1" i="1" kern="100" dirty="0">
                          <a:effectLst/>
                          <a:latin typeface="Trebuchet MS" panose="020B0603020202020204" pitchFamily="34" charset="0"/>
                        </a:rPr>
                        <a:t>T</a:t>
                      </a:r>
                      <a:r>
                        <a:rPr lang="en-US" sz="2000" kern="100" dirty="0">
                          <a:effectLst/>
                          <a:latin typeface="Trebuchet MS" panose="020B0603020202020204" pitchFamily="34" charset="0"/>
                        </a:rPr>
                        <a:t>, and </a:t>
                      </a:r>
                      <a:r>
                        <a:rPr lang="en-US" sz="2000" b="1" i="1" kern="100" dirty="0">
                          <a:effectLst/>
                          <a:latin typeface="Trebuchet MS" panose="020B0603020202020204" pitchFamily="34" charset="0"/>
                        </a:rPr>
                        <a:t>F</a:t>
                      </a:r>
                      <a:endParaRPr lang="zh-CN" sz="2000" b="1" i="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35217389"/>
                  </a:ext>
                </a:extLst>
              </a:tr>
            </a:tbl>
          </a:graphicData>
        </a:graphic>
      </p:graphicFrame>
    </p:spTree>
    <p:extLst>
      <p:ext uri="{BB962C8B-B14F-4D97-AF65-F5344CB8AC3E}">
        <p14:creationId xmlns:p14="http://schemas.microsoft.com/office/powerpoint/2010/main" val="31288735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7">
                                            <p:txEl>
                                              <p:pRg st="1" end="1"/>
                                            </p:txEl>
                                          </p:spTgt>
                                        </p:tgtEl>
                                        <p:attrNameLst>
                                          <p:attrName>style.visibility</p:attrName>
                                        </p:attrNameLst>
                                      </p:cBhvr>
                                      <p:to>
                                        <p:strVal val="visible"/>
                                      </p:to>
                                    </p:set>
                                    <p:animEffect transition="in" filter="fade">
                                      <p:cBhvr>
                                        <p:cTn id="7" dur="1000"/>
                                        <p:tgtEl>
                                          <p:spTgt spid="87">
                                            <p:txEl>
                                              <p:pRg st="1" end="1"/>
                                            </p:txEl>
                                          </p:spTgt>
                                        </p:tgtEl>
                                      </p:cBhvr>
                                    </p:animEffect>
                                    <p:anim calcmode="lin" valueType="num">
                                      <p:cBhvr>
                                        <p:cTn id="8" dur="1000" fill="hold"/>
                                        <p:tgtEl>
                                          <p:spTgt spid="8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7">
                                            <p:txEl>
                                              <p:pRg st="2" end="2"/>
                                            </p:txEl>
                                          </p:spTgt>
                                        </p:tgtEl>
                                        <p:attrNameLst>
                                          <p:attrName>style.visibility</p:attrName>
                                        </p:attrNameLst>
                                      </p:cBhvr>
                                      <p:to>
                                        <p:strVal val="visible"/>
                                      </p:to>
                                    </p:set>
                                    <p:animEffect transition="in" filter="fade">
                                      <p:cBhvr>
                                        <p:cTn id="14" dur="1000"/>
                                        <p:tgtEl>
                                          <p:spTgt spid="87">
                                            <p:txEl>
                                              <p:pRg st="2" end="2"/>
                                            </p:txEl>
                                          </p:spTgt>
                                        </p:tgtEl>
                                      </p:cBhvr>
                                    </p:animEffect>
                                    <p:anim calcmode="lin" valueType="num">
                                      <p:cBhvr>
                                        <p:cTn id="15" dur="1000" fill="hold"/>
                                        <p:tgtEl>
                                          <p:spTgt spid="8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7">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t>5.3 </a:t>
            </a:r>
            <a:r>
              <a:rPr lang="zh-CN" altLang="en-US" sz="2400" b="1" dirty="0"/>
              <a:t>关系代数</a:t>
            </a:r>
            <a:r>
              <a:rPr lang="en-US" altLang="zh-CN" sz="2400" b="1" dirty="0">
                <a:effectLst/>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effectLst/>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工作流网</a:t>
            </a:r>
            <a:r>
              <a:rPr lang="en-US" altLang="zh-CN" sz="2400" b="1" dirty="0">
                <a:effectLst/>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WF_net</a:t>
            </a:r>
            <a:endParaRPr lang="en-US" altLang="zh-CN"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65441" y="841376"/>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FontTx/>
              <a:buNone/>
              <a:defRPr/>
            </a:pPr>
            <a:endParaRPr lang="en-US" altLang="zh-CN" sz="2800" b="1" dirty="0"/>
          </a:p>
          <a:p>
            <a:pPr marL="0" indent="0" eaLnBrk="1" hangingPunct="1">
              <a:buFontTx/>
              <a:buNone/>
              <a:defRPr/>
            </a:pPr>
            <a:endParaRPr lang="en-US" altLang="zh-CN" b="1" dirty="0"/>
          </a:p>
          <a:p>
            <a:pPr marL="144000" eaLnBrk="1" hangingPunct="1">
              <a:spcBef>
                <a:spcPts val="1200"/>
              </a:spcBef>
              <a:buFontTx/>
              <a:buNone/>
              <a:defRPr/>
            </a:pPr>
            <a:r>
              <a:rPr lang="en-US" altLang="zh-CN" sz="2800" b="1" i="1" dirty="0"/>
              <a:t>   </a:t>
            </a:r>
            <a:endParaRPr lang="zh-CN" altLang="zh-CN" sz="2800" b="1" dirty="0"/>
          </a:p>
        </p:txBody>
      </p:sp>
      <p:sp>
        <p:nvSpPr>
          <p:cNvPr id="85" name="矩形 84">
            <a:extLst>
              <a:ext uri="{FF2B5EF4-FFF2-40B4-BE49-F238E27FC236}">
                <a16:creationId xmlns:a16="http://schemas.microsoft.com/office/drawing/2014/main" id="{F4CAA1E8-C3AE-4642-B4FE-6E1D90EDF69E}"/>
              </a:ext>
            </a:extLst>
          </p:cNvPr>
          <p:cNvSpPr/>
          <p:nvPr/>
        </p:nvSpPr>
        <p:spPr>
          <a:xfrm>
            <a:off x="1076998" y="2730872"/>
            <a:ext cx="9006480" cy="2677656"/>
          </a:xfrm>
          <a:prstGeom prst="rect">
            <a:avLst/>
          </a:prstGeom>
        </p:spPr>
        <p:txBody>
          <a:bodyPr wrap="square">
            <a:spAutoFit/>
          </a:bodyPr>
          <a:lstStyle/>
          <a:p>
            <a:r>
              <a:rPr lang="en-US" altLang="zh-CN" sz="2800" b="1" dirty="0"/>
              <a:t>WF-net (Workflow Net)</a:t>
            </a:r>
            <a:r>
              <a:rPr lang="en-US" altLang="zh-CN" sz="2800" dirty="0"/>
              <a:t> is a method for business process modeling that uses the concepts of sets, relations, and functions. It is a special type of Petri net specifically designed for modeling workflows, describing and analyzing workflows. It adds support for workflow-specific features on top of the basic Petri net.</a:t>
            </a:r>
          </a:p>
        </p:txBody>
      </p:sp>
      <p:sp>
        <p:nvSpPr>
          <p:cNvPr id="87" name="矩形 86">
            <a:extLst>
              <a:ext uri="{FF2B5EF4-FFF2-40B4-BE49-F238E27FC236}">
                <a16:creationId xmlns:a16="http://schemas.microsoft.com/office/drawing/2014/main" id="{27B6C7E2-6EAC-43D6-9CA0-40A6D6B808EA}"/>
              </a:ext>
            </a:extLst>
          </p:cNvPr>
          <p:cNvSpPr/>
          <p:nvPr/>
        </p:nvSpPr>
        <p:spPr>
          <a:xfrm>
            <a:off x="1076998" y="788427"/>
            <a:ext cx="9006478" cy="1815882"/>
          </a:xfrm>
          <a:prstGeom prst="rect">
            <a:avLst/>
          </a:prstGeom>
        </p:spPr>
        <p:txBody>
          <a:bodyPr wrap="square">
            <a:spAutoFit/>
          </a:bodyPr>
          <a:lstStyle/>
          <a:p>
            <a:r>
              <a:rPr lang="en-US" altLang="zh-CN" sz="2800" b="1" dirty="0"/>
              <a:t>Business Process Modeling (BPM)</a:t>
            </a:r>
            <a:r>
              <a:rPr lang="en-US" altLang="zh-CN" sz="2800" dirty="0"/>
              <a:t> is a method for graphically representing internal processes within an organization. It uses various models to describe processes (such as flowcharts, UML diagrams, WF-nets, etc.).</a:t>
            </a:r>
          </a:p>
        </p:txBody>
      </p:sp>
      <p:sp>
        <p:nvSpPr>
          <p:cNvPr id="88" name="矩形 87">
            <a:extLst>
              <a:ext uri="{FF2B5EF4-FFF2-40B4-BE49-F238E27FC236}">
                <a16:creationId xmlns:a16="http://schemas.microsoft.com/office/drawing/2014/main" id="{BDB64072-07CA-4C8B-9864-117FA52AD2D8}"/>
              </a:ext>
            </a:extLst>
          </p:cNvPr>
          <p:cNvSpPr/>
          <p:nvPr/>
        </p:nvSpPr>
        <p:spPr>
          <a:xfrm>
            <a:off x="1088557" y="5326467"/>
            <a:ext cx="9006478" cy="1384995"/>
          </a:xfrm>
          <a:prstGeom prst="rect">
            <a:avLst/>
          </a:prstGeom>
        </p:spPr>
        <p:txBody>
          <a:bodyPr wrap="square">
            <a:spAutoFit/>
          </a:bodyPr>
          <a:lstStyle/>
          <a:p>
            <a:r>
              <a:rPr lang="en-US" altLang="zh-CN" sz="2800" b="1" dirty="0"/>
              <a:t>Petri Net</a:t>
            </a:r>
            <a:r>
              <a:rPr lang="en-US" altLang="zh-CN" sz="2800" dirty="0"/>
              <a:t> is a mathematical modeling language consisting of </a:t>
            </a:r>
            <a:r>
              <a:rPr lang="en-US" altLang="zh-CN" sz="2800" b="1" dirty="0"/>
              <a:t>places</a:t>
            </a:r>
            <a:r>
              <a:rPr lang="en-US" altLang="zh-CN" sz="2800" dirty="0"/>
              <a:t>, </a:t>
            </a:r>
            <a:r>
              <a:rPr lang="en-US" altLang="zh-CN" sz="2800" b="1" dirty="0"/>
              <a:t>transitions</a:t>
            </a:r>
            <a:r>
              <a:rPr lang="en-US" altLang="zh-CN" sz="2800" dirty="0"/>
              <a:t>, and </a:t>
            </a:r>
            <a:r>
              <a:rPr lang="en-US" altLang="zh-CN" sz="2800" b="1" dirty="0"/>
              <a:t>tokens</a:t>
            </a:r>
            <a:r>
              <a:rPr lang="en-US" altLang="zh-CN" sz="2800" dirty="0"/>
              <a:t>. It can accurately describe and analyze the dynamic behavior of complex systems.</a:t>
            </a:r>
          </a:p>
        </p:txBody>
      </p:sp>
    </p:spTree>
    <p:extLst>
      <p:ext uri="{BB962C8B-B14F-4D97-AF65-F5344CB8AC3E}">
        <p14:creationId xmlns:p14="http://schemas.microsoft.com/office/powerpoint/2010/main" val="21455144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ppt_x"/>
                                          </p:val>
                                        </p:tav>
                                        <p:tav tm="100000">
                                          <p:val>
                                            <p:strVal val="#ppt_x"/>
                                          </p:val>
                                        </p:tav>
                                      </p:tavLst>
                                    </p:anim>
                                    <p:anim calcmode="lin" valueType="num">
                                      <p:cBhvr additive="base">
                                        <p:cTn id="8"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8"/>
                                        </p:tgtEl>
                                        <p:attrNameLst>
                                          <p:attrName>style.visibility</p:attrName>
                                        </p:attrNameLst>
                                      </p:cBhvr>
                                      <p:to>
                                        <p:strVal val="visible"/>
                                      </p:to>
                                    </p:set>
                                    <p:anim calcmode="lin" valueType="num">
                                      <p:cBhvr additive="base">
                                        <p:cTn id="13" dur="500" fill="hold"/>
                                        <p:tgtEl>
                                          <p:spTgt spid="88"/>
                                        </p:tgtEl>
                                        <p:attrNameLst>
                                          <p:attrName>ppt_x</p:attrName>
                                        </p:attrNameLst>
                                      </p:cBhvr>
                                      <p:tavLst>
                                        <p:tav tm="0">
                                          <p:val>
                                            <p:strVal val="#ppt_x"/>
                                          </p:val>
                                        </p:tav>
                                        <p:tav tm="100000">
                                          <p:val>
                                            <p:strVal val="#ppt_x"/>
                                          </p:val>
                                        </p:tav>
                                      </p:tavLst>
                                    </p:anim>
                                    <p:anim calcmode="lin" valueType="num">
                                      <p:cBhvr additive="base">
                                        <p:cTn id="14"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8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5.3.4 Business Process Modeling and Its Tools (Languages)</a:t>
            </a:r>
          </a:p>
          <a:p>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8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800" b="1" dirty="0"/>
              <a:t>Workflow Net</a:t>
            </a:r>
            <a:r>
              <a:rPr lang="en-US" altLang="zh-CN" sz="2800" b="1" dirty="0">
                <a:solidFill>
                  <a:schemeClr val="accent2"/>
                </a:solidFill>
              </a:rPr>
              <a:t>(e.g.)</a:t>
            </a:r>
            <a:endParaRPr lang="en-US" altLang="zh-CN" sz="2400" b="1" dirty="0">
              <a:solidFill>
                <a:schemeClr val="accent2"/>
              </a:solidFill>
              <a:highlight>
                <a:srgbClr val="FF0000"/>
              </a:highligh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65441" y="841376"/>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FontTx/>
              <a:buNone/>
              <a:defRPr/>
            </a:pPr>
            <a:endParaRPr lang="en-US" altLang="zh-CN" sz="2800" b="1" dirty="0"/>
          </a:p>
          <a:p>
            <a:pPr marL="0" indent="0" eaLnBrk="1" hangingPunct="1">
              <a:buFontTx/>
              <a:buNone/>
              <a:defRPr/>
            </a:pPr>
            <a:endParaRPr lang="en-US" altLang="zh-CN" b="1" dirty="0"/>
          </a:p>
          <a:p>
            <a:pPr marL="144000" eaLnBrk="1" hangingPunct="1">
              <a:spcBef>
                <a:spcPts val="1200"/>
              </a:spcBef>
              <a:buFontTx/>
              <a:buNone/>
              <a:defRPr/>
            </a:pPr>
            <a:r>
              <a:rPr lang="en-US" altLang="zh-CN" sz="2800" b="1" i="1" dirty="0"/>
              <a:t>   </a:t>
            </a:r>
            <a:endParaRPr lang="zh-CN" altLang="zh-CN" sz="2800" b="1" dirty="0"/>
          </a:p>
        </p:txBody>
      </p:sp>
      <p:grpSp>
        <p:nvGrpSpPr>
          <p:cNvPr id="10" name="Group 2">
            <a:extLst>
              <a:ext uri="{FF2B5EF4-FFF2-40B4-BE49-F238E27FC236}">
                <a16:creationId xmlns:a16="http://schemas.microsoft.com/office/drawing/2014/main" id="{A023C31A-9330-44A3-A9B8-0F1C9B1CB124}"/>
              </a:ext>
            </a:extLst>
          </p:cNvPr>
          <p:cNvGrpSpPr>
            <a:grpSpLocks/>
          </p:cNvGrpSpPr>
          <p:nvPr/>
        </p:nvGrpSpPr>
        <p:grpSpPr bwMode="auto">
          <a:xfrm>
            <a:off x="1410611" y="890360"/>
            <a:ext cx="7345363" cy="2538640"/>
            <a:chOff x="1398" y="4393"/>
            <a:chExt cx="8572" cy="3281"/>
          </a:xfrm>
        </p:grpSpPr>
        <p:grpSp>
          <p:nvGrpSpPr>
            <p:cNvPr id="11" name="Group 3">
              <a:extLst>
                <a:ext uri="{FF2B5EF4-FFF2-40B4-BE49-F238E27FC236}">
                  <a16:creationId xmlns:a16="http://schemas.microsoft.com/office/drawing/2014/main" id="{62B968A7-2C9D-49E3-9211-45B5824CBD53}"/>
                </a:ext>
              </a:extLst>
            </p:cNvPr>
            <p:cNvGrpSpPr>
              <a:grpSpLocks/>
            </p:cNvGrpSpPr>
            <p:nvPr/>
          </p:nvGrpSpPr>
          <p:grpSpPr bwMode="auto">
            <a:xfrm>
              <a:off x="1398" y="4393"/>
              <a:ext cx="8572" cy="3281"/>
              <a:chOff x="2387" y="3851"/>
              <a:chExt cx="8572" cy="3281"/>
            </a:xfrm>
          </p:grpSpPr>
          <p:grpSp>
            <p:nvGrpSpPr>
              <p:cNvPr id="21" name="Group 4">
                <a:extLst>
                  <a:ext uri="{FF2B5EF4-FFF2-40B4-BE49-F238E27FC236}">
                    <a16:creationId xmlns:a16="http://schemas.microsoft.com/office/drawing/2014/main" id="{AC6BEA75-AA58-4BE5-9AF2-C9C3BAD43426}"/>
                  </a:ext>
                </a:extLst>
              </p:cNvPr>
              <p:cNvGrpSpPr>
                <a:grpSpLocks/>
              </p:cNvGrpSpPr>
              <p:nvPr/>
            </p:nvGrpSpPr>
            <p:grpSpPr bwMode="auto">
              <a:xfrm>
                <a:off x="4113" y="4078"/>
                <a:ext cx="2032" cy="3054"/>
                <a:chOff x="4113" y="4078"/>
                <a:chExt cx="2032" cy="3054"/>
              </a:xfrm>
            </p:grpSpPr>
            <p:sp>
              <p:nvSpPr>
                <p:cNvPr id="71" name="Oval 5">
                  <a:extLst>
                    <a:ext uri="{FF2B5EF4-FFF2-40B4-BE49-F238E27FC236}">
                      <a16:creationId xmlns:a16="http://schemas.microsoft.com/office/drawing/2014/main" id="{54B81A29-03A1-4705-BED2-5AD683A076F2}"/>
                    </a:ext>
                  </a:extLst>
                </p:cNvPr>
                <p:cNvSpPr>
                  <a:spLocks noChangeArrowheads="1"/>
                </p:cNvSpPr>
                <p:nvPr/>
              </p:nvSpPr>
              <p:spPr bwMode="auto">
                <a:xfrm>
                  <a:off x="4113" y="4504"/>
                  <a:ext cx="437" cy="426"/>
                </a:xfrm>
                <a:prstGeom prst="ellipse">
                  <a:avLst/>
                </a:prstGeom>
                <a:solidFill>
                  <a:srgbClr val="FFFFFF"/>
                </a:solidFill>
                <a:ln w="9525">
                  <a:solidFill>
                    <a:srgbClr val="000000"/>
                  </a:solidFill>
                  <a:round/>
                  <a:headEnd/>
                  <a:tailEnd/>
                </a:ln>
              </p:spPr>
              <p:txBody>
                <a:bodyPr lIns="18000" tIns="10800" rIns="18000" bIns="108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p</a:t>
                  </a:r>
                  <a:r>
                    <a:rPr kumimoji="0" lang="en-US" altLang="zh-CN" sz="1800" baseline="-25000" dirty="0">
                      <a:solidFill>
                        <a:schemeClr val="accent2"/>
                      </a:solidFill>
                      <a:latin typeface="Calibri" panose="020F0502020204030204" pitchFamily="34" charset="0"/>
                      <a:ea typeface="华文行楷" panose="02010800040101010101" pitchFamily="2" charset="-122"/>
                    </a:rPr>
                    <a:t>1</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72" name="Oval 6">
                  <a:extLst>
                    <a:ext uri="{FF2B5EF4-FFF2-40B4-BE49-F238E27FC236}">
                      <a16:creationId xmlns:a16="http://schemas.microsoft.com/office/drawing/2014/main" id="{EB5ED941-B768-45D3-8245-E62E3FED1132}"/>
                    </a:ext>
                  </a:extLst>
                </p:cNvPr>
                <p:cNvSpPr>
                  <a:spLocks noChangeArrowheads="1"/>
                </p:cNvSpPr>
                <p:nvPr/>
              </p:nvSpPr>
              <p:spPr bwMode="auto">
                <a:xfrm>
                  <a:off x="4113" y="5447"/>
                  <a:ext cx="434" cy="426"/>
                </a:xfrm>
                <a:prstGeom prst="ellipse">
                  <a:avLst/>
                </a:prstGeom>
                <a:solidFill>
                  <a:srgbClr val="FFFFFF"/>
                </a:solidFill>
                <a:ln w="9525">
                  <a:solidFill>
                    <a:srgbClr val="000000"/>
                  </a:solidFill>
                  <a:round/>
                  <a:headEnd/>
                  <a:tailEnd/>
                </a:ln>
              </p:spPr>
              <p:txBody>
                <a:bodyPr lIns="18000" tIns="0" rIns="18000" bIns="108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p</a:t>
                  </a:r>
                  <a:r>
                    <a:rPr kumimoji="0" lang="en-US" altLang="zh-CN" sz="1800" baseline="-25000" dirty="0">
                      <a:solidFill>
                        <a:schemeClr val="accent2"/>
                      </a:solidFill>
                      <a:latin typeface="Calibri" panose="020F0502020204030204" pitchFamily="34" charset="0"/>
                      <a:ea typeface="华文行楷" panose="02010800040101010101" pitchFamily="2" charset="-122"/>
                    </a:rPr>
                    <a:t>2</a:t>
                  </a:r>
                  <a:endParaRPr kumimoji="0" lang="zh-CN" altLang="zh-CN" sz="1800">
                    <a:solidFill>
                      <a:schemeClr val="accent2"/>
                    </a:solidFill>
                    <a:latin typeface="Arial" panose="020B0604020202020204" pitchFamily="34" charset="0"/>
                    <a:ea typeface="华文行楷" panose="02010800040101010101" pitchFamily="2" charset="-122"/>
                  </a:endParaRPr>
                </a:p>
              </p:txBody>
            </p:sp>
            <p:cxnSp>
              <p:nvCxnSpPr>
                <p:cNvPr id="73" name="AutoShape 7">
                  <a:extLst>
                    <a:ext uri="{FF2B5EF4-FFF2-40B4-BE49-F238E27FC236}">
                      <a16:creationId xmlns:a16="http://schemas.microsoft.com/office/drawing/2014/main" id="{DFDDC4D4-7783-41D7-BC5F-B7C55D7C340F}"/>
                    </a:ext>
                  </a:extLst>
                </p:cNvPr>
                <p:cNvCxnSpPr>
                  <a:cxnSpLocks noChangeShapeType="1"/>
                </p:cNvCxnSpPr>
                <p:nvPr/>
              </p:nvCxnSpPr>
              <p:spPr bwMode="auto">
                <a:xfrm flipV="1">
                  <a:off x="4484" y="4238"/>
                  <a:ext cx="409" cy="32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74" name="Oval 8">
                  <a:extLst>
                    <a:ext uri="{FF2B5EF4-FFF2-40B4-BE49-F238E27FC236}">
                      <a16:creationId xmlns:a16="http://schemas.microsoft.com/office/drawing/2014/main" id="{671E5789-E5A0-4585-AC9B-9A7641D3D727}"/>
                    </a:ext>
                  </a:extLst>
                </p:cNvPr>
                <p:cNvSpPr>
                  <a:spLocks noChangeArrowheads="1"/>
                </p:cNvSpPr>
                <p:nvPr/>
              </p:nvSpPr>
              <p:spPr bwMode="auto">
                <a:xfrm>
                  <a:off x="4116" y="6328"/>
                  <a:ext cx="434" cy="426"/>
                </a:xfrm>
                <a:prstGeom prst="ellipse">
                  <a:avLst/>
                </a:prstGeom>
                <a:solidFill>
                  <a:srgbClr val="FFFFFF"/>
                </a:solidFill>
                <a:ln w="9525">
                  <a:solidFill>
                    <a:srgbClr val="000000"/>
                  </a:solidFill>
                  <a:round/>
                  <a:headEnd/>
                  <a:tailEnd/>
                </a:ln>
              </p:spPr>
              <p:txBody>
                <a:bodyPr lIns="18000" tIns="0" rIns="18000" bIns="108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p</a:t>
                  </a:r>
                  <a:r>
                    <a:rPr kumimoji="0" lang="en-US" altLang="zh-CN" sz="1800" baseline="-25000" dirty="0">
                      <a:solidFill>
                        <a:schemeClr val="accent2"/>
                      </a:solidFill>
                      <a:latin typeface="Calibri" panose="020F0502020204030204" pitchFamily="34" charset="0"/>
                      <a:ea typeface="华文行楷" panose="02010800040101010101" pitchFamily="2" charset="-122"/>
                    </a:rPr>
                    <a:t>3</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75" name="Oval 9">
                  <a:extLst>
                    <a:ext uri="{FF2B5EF4-FFF2-40B4-BE49-F238E27FC236}">
                      <a16:creationId xmlns:a16="http://schemas.microsoft.com/office/drawing/2014/main" id="{C929D875-69DB-4329-AAD1-C2EB24EDAD85}"/>
                    </a:ext>
                  </a:extLst>
                </p:cNvPr>
                <p:cNvSpPr>
                  <a:spLocks noChangeArrowheads="1"/>
                </p:cNvSpPr>
                <p:nvPr/>
              </p:nvSpPr>
              <p:spPr bwMode="auto">
                <a:xfrm>
                  <a:off x="5711" y="4516"/>
                  <a:ext cx="434" cy="426"/>
                </a:xfrm>
                <a:prstGeom prst="ellipse">
                  <a:avLst/>
                </a:prstGeom>
                <a:solidFill>
                  <a:srgbClr val="FFFFFF"/>
                </a:solidFill>
                <a:ln w="9525">
                  <a:solidFill>
                    <a:srgbClr val="000000"/>
                  </a:solidFill>
                  <a:round/>
                  <a:headEnd/>
                  <a:tailEnd/>
                </a:ln>
              </p:spPr>
              <p:txBody>
                <a:bodyPr lIns="18000" tIns="0" rIns="18000" bIns="108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p</a:t>
                  </a:r>
                  <a:r>
                    <a:rPr kumimoji="0" lang="en-US" altLang="zh-CN" sz="1800" baseline="-25000" dirty="0">
                      <a:solidFill>
                        <a:schemeClr val="accent2"/>
                      </a:solidFill>
                      <a:latin typeface="Calibri" panose="020F0502020204030204" pitchFamily="34" charset="0"/>
                      <a:ea typeface="华文行楷" panose="02010800040101010101" pitchFamily="2" charset="-122"/>
                    </a:rPr>
                    <a:t>4</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76" name="Oval 10">
                  <a:extLst>
                    <a:ext uri="{FF2B5EF4-FFF2-40B4-BE49-F238E27FC236}">
                      <a16:creationId xmlns:a16="http://schemas.microsoft.com/office/drawing/2014/main" id="{7ADD9DEC-29C1-403C-8345-16365A8FB85A}"/>
                    </a:ext>
                  </a:extLst>
                </p:cNvPr>
                <p:cNvSpPr>
                  <a:spLocks noChangeArrowheads="1"/>
                </p:cNvSpPr>
                <p:nvPr/>
              </p:nvSpPr>
              <p:spPr bwMode="auto">
                <a:xfrm>
                  <a:off x="5711" y="5446"/>
                  <a:ext cx="434" cy="426"/>
                </a:xfrm>
                <a:prstGeom prst="ellipse">
                  <a:avLst/>
                </a:prstGeom>
                <a:solidFill>
                  <a:srgbClr val="FFFFFF"/>
                </a:solidFill>
                <a:ln w="9525">
                  <a:solidFill>
                    <a:srgbClr val="000000"/>
                  </a:solidFill>
                  <a:round/>
                  <a:headEnd/>
                  <a:tailEnd/>
                </a:ln>
              </p:spPr>
              <p:txBody>
                <a:bodyPr lIns="18000" tIns="0" rIns="18000" bIns="108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p</a:t>
                  </a:r>
                  <a:r>
                    <a:rPr kumimoji="0" lang="en-US" altLang="zh-CN" sz="1800" baseline="-25000" dirty="0">
                      <a:solidFill>
                        <a:schemeClr val="accent2"/>
                      </a:solidFill>
                      <a:latin typeface="Calibri" panose="020F0502020204030204" pitchFamily="34" charset="0"/>
                      <a:ea typeface="华文行楷" panose="02010800040101010101" pitchFamily="2" charset="-122"/>
                    </a:rPr>
                    <a:t>5</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77" name="Oval 11">
                  <a:extLst>
                    <a:ext uri="{FF2B5EF4-FFF2-40B4-BE49-F238E27FC236}">
                      <a16:creationId xmlns:a16="http://schemas.microsoft.com/office/drawing/2014/main" id="{8EE2CC2F-F5A0-4372-B117-51B3C90F8BC2}"/>
                    </a:ext>
                  </a:extLst>
                </p:cNvPr>
                <p:cNvSpPr>
                  <a:spLocks noChangeArrowheads="1"/>
                </p:cNvSpPr>
                <p:nvPr/>
              </p:nvSpPr>
              <p:spPr bwMode="auto">
                <a:xfrm>
                  <a:off x="5711" y="6328"/>
                  <a:ext cx="434" cy="426"/>
                </a:xfrm>
                <a:prstGeom prst="ellipse">
                  <a:avLst/>
                </a:prstGeom>
                <a:solidFill>
                  <a:srgbClr val="FFFFFF"/>
                </a:solidFill>
                <a:ln w="9525">
                  <a:solidFill>
                    <a:srgbClr val="000000"/>
                  </a:solidFill>
                  <a:round/>
                  <a:headEnd/>
                  <a:tailEnd/>
                </a:ln>
              </p:spPr>
              <p:txBody>
                <a:bodyPr lIns="18000" tIns="0" rIns="18000" bIns="108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p</a:t>
                  </a:r>
                  <a:r>
                    <a:rPr kumimoji="0" lang="en-US" altLang="zh-CN" sz="1800" baseline="-25000" dirty="0">
                      <a:solidFill>
                        <a:schemeClr val="accent2"/>
                      </a:solidFill>
                      <a:latin typeface="Calibri" panose="020F0502020204030204" pitchFamily="34" charset="0"/>
                      <a:ea typeface="华文行楷" panose="02010800040101010101" pitchFamily="2" charset="-122"/>
                    </a:rPr>
                    <a:t>6</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78" name="Rectangle 12">
                  <a:extLst>
                    <a:ext uri="{FF2B5EF4-FFF2-40B4-BE49-F238E27FC236}">
                      <a16:creationId xmlns:a16="http://schemas.microsoft.com/office/drawing/2014/main" id="{075D4C1D-AC01-42AB-AC2A-008146733843}"/>
                    </a:ext>
                  </a:extLst>
                </p:cNvPr>
                <p:cNvSpPr>
                  <a:spLocks noChangeArrowheads="1"/>
                </p:cNvSpPr>
                <p:nvPr/>
              </p:nvSpPr>
              <p:spPr bwMode="auto">
                <a:xfrm>
                  <a:off x="4909" y="4078"/>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2</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79" name="Rectangle 13">
                  <a:extLst>
                    <a:ext uri="{FF2B5EF4-FFF2-40B4-BE49-F238E27FC236}">
                      <a16:creationId xmlns:a16="http://schemas.microsoft.com/office/drawing/2014/main" id="{CD317A43-4279-4417-A0F4-2491BFF53FE5}"/>
                    </a:ext>
                  </a:extLst>
                </p:cNvPr>
                <p:cNvSpPr>
                  <a:spLocks noChangeArrowheads="1"/>
                </p:cNvSpPr>
                <p:nvPr/>
              </p:nvSpPr>
              <p:spPr bwMode="auto">
                <a:xfrm>
                  <a:off x="4909" y="4616"/>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3</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80" name="Rectangle 14">
                  <a:extLst>
                    <a:ext uri="{FF2B5EF4-FFF2-40B4-BE49-F238E27FC236}">
                      <a16:creationId xmlns:a16="http://schemas.microsoft.com/office/drawing/2014/main" id="{FB4E1995-2C66-41A6-9711-9BB36AC29981}"/>
                    </a:ext>
                  </a:extLst>
                </p:cNvPr>
                <p:cNvSpPr>
                  <a:spLocks noChangeArrowheads="1"/>
                </p:cNvSpPr>
                <p:nvPr/>
              </p:nvSpPr>
              <p:spPr bwMode="auto">
                <a:xfrm>
                  <a:off x="4896" y="5161"/>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4</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81" name="Rectangle 15">
                  <a:extLst>
                    <a:ext uri="{FF2B5EF4-FFF2-40B4-BE49-F238E27FC236}">
                      <a16:creationId xmlns:a16="http://schemas.microsoft.com/office/drawing/2014/main" id="{5286C590-52EA-441A-A253-B808517D8FE6}"/>
                    </a:ext>
                  </a:extLst>
                </p:cNvPr>
                <p:cNvSpPr>
                  <a:spLocks noChangeArrowheads="1"/>
                </p:cNvSpPr>
                <p:nvPr/>
              </p:nvSpPr>
              <p:spPr bwMode="auto">
                <a:xfrm>
                  <a:off x="4893" y="5686"/>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5</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82" name="Rectangle 16">
                  <a:extLst>
                    <a:ext uri="{FF2B5EF4-FFF2-40B4-BE49-F238E27FC236}">
                      <a16:creationId xmlns:a16="http://schemas.microsoft.com/office/drawing/2014/main" id="{970D57BB-A59D-4D8D-8932-3F6152FCF3C0}"/>
                    </a:ext>
                  </a:extLst>
                </p:cNvPr>
                <p:cNvSpPr>
                  <a:spLocks noChangeArrowheads="1"/>
                </p:cNvSpPr>
                <p:nvPr/>
              </p:nvSpPr>
              <p:spPr bwMode="auto">
                <a:xfrm>
                  <a:off x="4896" y="6202"/>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6</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83" name="Rectangle 17">
                  <a:extLst>
                    <a:ext uri="{FF2B5EF4-FFF2-40B4-BE49-F238E27FC236}">
                      <a16:creationId xmlns:a16="http://schemas.microsoft.com/office/drawing/2014/main" id="{ABEEDE51-4A22-47C0-8470-7A5CD192827F}"/>
                    </a:ext>
                  </a:extLst>
                </p:cNvPr>
                <p:cNvSpPr>
                  <a:spLocks noChangeArrowheads="1"/>
                </p:cNvSpPr>
                <p:nvPr/>
              </p:nvSpPr>
              <p:spPr bwMode="auto">
                <a:xfrm>
                  <a:off x="4896" y="6706"/>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7</a:t>
                  </a:r>
                  <a:endParaRPr kumimoji="0" lang="zh-CN" altLang="zh-CN" sz="1800">
                    <a:solidFill>
                      <a:schemeClr val="accent2"/>
                    </a:solidFill>
                    <a:latin typeface="Arial" panose="020B0604020202020204" pitchFamily="34" charset="0"/>
                    <a:ea typeface="华文行楷" panose="02010800040101010101" pitchFamily="2" charset="-122"/>
                  </a:endParaRPr>
                </a:p>
              </p:txBody>
            </p:sp>
          </p:grpSp>
          <p:grpSp>
            <p:nvGrpSpPr>
              <p:cNvPr id="23" name="Group 18">
                <a:extLst>
                  <a:ext uri="{FF2B5EF4-FFF2-40B4-BE49-F238E27FC236}">
                    <a16:creationId xmlns:a16="http://schemas.microsoft.com/office/drawing/2014/main" id="{87F879AE-CE27-4106-9DEE-042E9C44B9D0}"/>
                  </a:ext>
                </a:extLst>
              </p:cNvPr>
              <p:cNvGrpSpPr>
                <a:grpSpLocks/>
              </p:cNvGrpSpPr>
              <p:nvPr/>
            </p:nvGrpSpPr>
            <p:grpSpPr bwMode="auto">
              <a:xfrm>
                <a:off x="2387" y="3851"/>
                <a:ext cx="8572" cy="3088"/>
                <a:chOff x="2374" y="3851"/>
                <a:chExt cx="8572" cy="3088"/>
              </a:xfrm>
            </p:grpSpPr>
            <p:cxnSp>
              <p:nvCxnSpPr>
                <p:cNvPr id="24" name="AutoShape 19">
                  <a:extLst>
                    <a:ext uri="{FF2B5EF4-FFF2-40B4-BE49-F238E27FC236}">
                      <a16:creationId xmlns:a16="http://schemas.microsoft.com/office/drawing/2014/main" id="{D2D6D168-7B8F-4B1D-BCEE-B8322CCB0C39}"/>
                    </a:ext>
                  </a:extLst>
                </p:cNvPr>
                <p:cNvCxnSpPr>
                  <a:cxnSpLocks noChangeShapeType="1"/>
                </p:cNvCxnSpPr>
                <p:nvPr/>
              </p:nvCxnSpPr>
              <p:spPr bwMode="auto">
                <a:xfrm>
                  <a:off x="7777" y="5686"/>
                  <a:ext cx="348"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5" name="AutoShape 20">
                  <a:extLst>
                    <a:ext uri="{FF2B5EF4-FFF2-40B4-BE49-F238E27FC236}">
                      <a16:creationId xmlns:a16="http://schemas.microsoft.com/office/drawing/2014/main" id="{088562F9-C5B6-4C65-A4D8-77EE91272135}"/>
                    </a:ext>
                  </a:extLst>
                </p:cNvPr>
                <p:cNvCxnSpPr>
                  <a:cxnSpLocks noChangeShapeType="1"/>
                </p:cNvCxnSpPr>
                <p:nvPr/>
              </p:nvCxnSpPr>
              <p:spPr bwMode="auto">
                <a:xfrm>
                  <a:off x="8622" y="5686"/>
                  <a:ext cx="335"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6" name="AutoShape 21">
                  <a:extLst>
                    <a:ext uri="{FF2B5EF4-FFF2-40B4-BE49-F238E27FC236}">
                      <a16:creationId xmlns:a16="http://schemas.microsoft.com/office/drawing/2014/main" id="{8CAD7C01-955F-4705-9AF1-778E66E9008F}"/>
                    </a:ext>
                  </a:extLst>
                </p:cNvPr>
                <p:cNvCxnSpPr>
                  <a:cxnSpLocks noChangeShapeType="1"/>
                </p:cNvCxnSpPr>
                <p:nvPr/>
              </p:nvCxnSpPr>
              <p:spPr bwMode="auto">
                <a:xfrm flipV="1">
                  <a:off x="9356" y="5234"/>
                  <a:ext cx="383" cy="31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7" name="AutoShape 22">
                  <a:extLst>
                    <a:ext uri="{FF2B5EF4-FFF2-40B4-BE49-F238E27FC236}">
                      <a16:creationId xmlns:a16="http://schemas.microsoft.com/office/drawing/2014/main" id="{44CE2F3D-69CC-4B28-9B2C-4E3B62740D75}"/>
                    </a:ext>
                  </a:extLst>
                </p:cNvPr>
                <p:cNvCxnSpPr>
                  <a:cxnSpLocks noChangeShapeType="1"/>
                </p:cNvCxnSpPr>
                <p:nvPr/>
              </p:nvCxnSpPr>
              <p:spPr bwMode="auto">
                <a:xfrm>
                  <a:off x="9356" y="5810"/>
                  <a:ext cx="383" cy="13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 name="AutoShape 23">
                  <a:extLst>
                    <a:ext uri="{FF2B5EF4-FFF2-40B4-BE49-F238E27FC236}">
                      <a16:creationId xmlns:a16="http://schemas.microsoft.com/office/drawing/2014/main" id="{7496564D-2F6A-4927-83C1-77DD7F85FC29}"/>
                    </a:ext>
                  </a:extLst>
                </p:cNvPr>
                <p:cNvCxnSpPr>
                  <a:cxnSpLocks noChangeShapeType="1"/>
                </p:cNvCxnSpPr>
                <p:nvPr/>
              </p:nvCxnSpPr>
              <p:spPr bwMode="auto">
                <a:xfrm>
                  <a:off x="10203" y="5234"/>
                  <a:ext cx="413" cy="31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9" name="AutoShape 24">
                  <a:extLst>
                    <a:ext uri="{FF2B5EF4-FFF2-40B4-BE49-F238E27FC236}">
                      <a16:creationId xmlns:a16="http://schemas.microsoft.com/office/drawing/2014/main" id="{2A0E5226-A5AA-4510-9322-C027C2190B52}"/>
                    </a:ext>
                  </a:extLst>
                </p:cNvPr>
                <p:cNvCxnSpPr>
                  <a:cxnSpLocks noChangeShapeType="1"/>
                </p:cNvCxnSpPr>
                <p:nvPr/>
              </p:nvCxnSpPr>
              <p:spPr bwMode="auto">
                <a:xfrm flipV="1">
                  <a:off x="10203" y="5810"/>
                  <a:ext cx="309" cy="13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30" name="Group 25">
                  <a:extLst>
                    <a:ext uri="{FF2B5EF4-FFF2-40B4-BE49-F238E27FC236}">
                      <a16:creationId xmlns:a16="http://schemas.microsoft.com/office/drawing/2014/main" id="{3E816D20-E96A-4633-8F2B-FC98F967081B}"/>
                    </a:ext>
                  </a:extLst>
                </p:cNvPr>
                <p:cNvGrpSpPr>
                  <a:grpSpLocks/>
                </p:cNvGrpSpPr>
                <p:nvPr/>
              </p:nvGrpSpPr>
              <p:grpSpPr bwMode="auto">
                <a:xfrm>
                  <a:off x="2374" y="3851"/>
                  <a:ext cx="8572" cy="3088"/>
                  <a:chOff x="2374" y="3851"/>
                  <a:chExt cx="8572" cy="3088"/>
                </a:xfrm>
              </p:grpSpPr>
              <p:cxnSp>
                <p:nvCxnSpPr>
                  <p:cNvPr id="31" name="AutoShape 26">
                    <a:extLst>
                      <a:ext uri="{FF2B5EF4-FFF2-40B4-BE49-F238E27FC236}">
                        <a16:creationId xmlns:a16="http://schemas.microsoft.com/office/drawing/2014/main" id="{00A156A2-A65E-4091-8F17-3F7C24A9425C}"/>
                      </a:ext>
                    </a:extLst>
                  </p:cNvPr>
                  <p:cNvCxnSpPr>
                    <a:cxnSpLocks noChangeShapeType="1"/>
                  </p:cNvCxnSpPr>
                  <p:nvPr/>
                </p:nvCxnSpPr>
                <p:spPr bwMode="auto">
                  <a:xfrm>
                    <a:off x="2808" y="5587"/>
                    <a:ext cx="38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2" name="AutoShape 27">
                    <a:extLst>
                      <a:ext uri="{FF2B5EF4-FFF2-40B4-BE49-F238E27FC236}">
                        <a16:creationId xmlns:a16="http://schemas.microsoft.com/office/drawing/2014/main" id="{728DBFEA-BEA6-4A5A-874C-58273DE3D5E2}"/>
                      </a:ext>
                    </a:extLst>
                  </p:cNvPr>
                  <p:cNvCxnSpPr>
                    <a:cxnSpLocks noChangeShapeType="1"/>
                  </p:cNvCxnSpPr>
                  <p:nvPr/>
                </p:nvCxnSpPr>
                <p:spPr bwMode="auto">
                  <a:xfrm flipV="1">
                    <a:off x="3671" y="4846"/>
                    <a:ext cx="445" cy="60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3" name="AutoShape 28">
                    <a:extLst>
                      <a:ext uri="{FF2B5EF4-FFF2-40B4-BE49-F238E27FC236}">
                        <a16:creationId xmlns:a16="http://schemas.microsoft.com/office/drawing/2014/main" id="{A6917267-37DD-4558-807A-61AA3BD40697}"/>
                      </a:ext>
                    </a:extLst>
                  </p:cNvPr>
                  <p:cNvCxnSpPr>
                    <a:cxnSpLocks noChangeShapeType="1"/>
                  </p:cNvCxnSpPr>
                  <p:nvPr/>
                </p:nvCxnSpPr>
                <p:spPr bwMode="auto">
                  <a:xfrm>
                    <a:off x="3671" y="5587"/>
                    <a:ext cx="445"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4" name="AutoShape 29">
                    <a:extLst>
                      <a:ext uri="{FF2B5EF4-FFF2-40B4-BE49-F238E27FC236}">
                        <a16:creationId xmlns:a16="http://schemas.microsoft.com/office/drawing/2014/main" id="{477E2DB5-D037-45F9-84F5-D65A56DE8FAF}"/>
                      </a:ext>
                    </a:extLst>
                  </p:cNvPr>
                  <p:cNvCxnSpPr>
                    <a:cxnSpLocks noChangeShapeType="1"/>
                  </p:cNvCxnSpPr>
                  <p:nvPr/>
                </p:nvCxnSpPr>
                <p:spPr bwMode="auto">
                  <a:xfrm>
                    <a:off x="3671" y="5717"/>
                    <a:ext cx="445" cy="7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5" name="AutoShape 30">
                    <a:extLst>
                      <a:ext uri="{FF2B5EF4-FFF2-40B4-BE49-F238E27FC236}">
                        <a16:creationId xmlns:a16="http://schemas.microsoft.com/office/drawing/2014/main" id="{266CC828-5408-42BF-8BAC-BBBFF4C4C4A1}"/>
                      </a:ext>
                    </a:extLst>
                  </p:cNvPr>
                  <p:cNvCxnSpPr>
                    <a:cxnSpLocks noChangeShapeType="1"/>
                  </p:cNvCxnSpPr>
                  <p:nvPr/>
                </p:nvCxnSpPr>
                <p:spPr bwMode="auto">
                  <a:xfrm>
                    <a:off x="4550" y="4681"/>
                    <a:ext cx="317" cy="16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6" name="AutoShape 31">
                    <a:extLst>
                      <a:ext uri="{FF2B5EF4-FFF2-40B4-BE49-F238E27FC236}">
                        <a16:creationId xmlns:a16="http://schemas.microsoft.com/office/drawing/2014/main" id="{A4B9E374-65FF-47FE-8724-AD21ED367CA5}"/>
                      </a:ext>
                    </a:extLst>
                  </p:cNvPr>
                  <p:cNvCxnSpPr>
                    <a:cxnSpLocks noChangeShapeType="1"/>
                  </p:cNvCxnSpPr>
                  <p:nvPr/>
                </p:nvCxnSpPr>
                <p:spPr bwMode="auto">
                  <a:xfrm flipV="1">
                    <a:off x="4550" y="5384"/>
                    <a:ext cx="317" cy="16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7" name="AutoShape 32">
                    <a:extLst>
                      <a:ext uri="{FF2B5EF4-FFF2-40B4-BE49-F238E27FC236}">
                        <a16:creationId xmlns:a16="http://schemas.microsoft.com/office/drawing/2014/main" id="{E533F130-85AE-4604-A272-FF1DB01018F6}"/>
                      </a:ext>
                    </a:extLst>
                  </p:cNvPr>
                  <p:cNvCxnSpPr>
                    <a:cxnSpLocks noChangeShapeType="1"/>
                  </p:cNvCxnSpPr>
                  <p:nvPr/>
                </p:nvCxnSpPr>
                <p:spPr bwMode="auto">
                  <a:xfrm>
                    <a:off x="4550" y="5717"/>
                    <a:ext cx="317" cy="23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8" name="AutoShape 33">
                    <a:extLst>
                      <a:ext uri="{FF2B5EF4-FFF2-40B4-BE49-F238E27FC236}">
                        <a16:creationId xmlns:a16="http://schemas.microsoft.com/office/drawing/2014/main" id="{0030690A-6593-407F-8ED1-CCECC8948631}"/>
                      </a:ext>
                    </a:extLst>
                  </p:cNvPr>
                  <p:cNvCxnSpPr>
                    <a:cxnSpLocks noChangeShapeType="1"/>
                  </p:cNvCxnSpPr>
                  <p:nvPr/>
                </p:nvCxnSpPr>
                <p:spPr bwMode="auto">
                  <a:xfrm flipV="1">
                    <a:off x="4550" y="6342"/>
                    <a:ext cx="346" cy="15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9" name="AutoShape 34">
                    <a:extLst>
                      <a:ext uri="{FF2B5EF4-FFF2-40B4-BE49-F238E27FC236}">
                        <a16:creationId xmlns:a16="http://schemas.microsoft.com/office/drawing/2014/main" id="{49CEFB0E-4E63-42A4-99F5-0771C91471D5}"/>
                      </a:ext>
                    </a:extLst>
                  </p:cNvPr>
                  <p:cNvCxnSpPr>
                    <a:cxnSpLocks noChangeShapeType="1"/>
                  </p:cNvCxnSpPr>
                  <p:nvPr/>
                </p:nvCxnSpPr>
                <p:spPr bwMode="auto">
                  <a:xfrm>
                    <a:off x="4523" y="6680"/>
                    <a:ext cx="399" cy="25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0" name="AutoShape 35">
                    <a:extLst>
                      <a:ext uri="{FF2B5EF4-FFF2-40B4-BE49-F238E27FC236}">
                        <a16:creationId xmlns:a16="http://schemas.microsoft.com/office/drawing/2014/main" id="{85918C9E-0F21-4498-A5AA-6D1DFC5A95EC}"/>
                      </a:ext>
                    </a:extLst>
                  </p:cNvPr>
                  <p:cNvCxnSpPr>
                    <a:cxnSpLocks noChangeShapeType="1"/>
                  </p:cNvCxnSpPr>
                  <p:nvPr/>
                </p:nvCxnSpPr>
                <p:spPr bwMode="auto">
                  <a:xfrm flipV="1">
                    <a:off x="5378" y="4681"/>
                    <a:ext cx="333" cy="16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1" name="AutoShape 36">
                    <a:extLst>
                      <a:ext uri="{FF2B5EF4-FFF2-40B4-BE49-F238E27FC236}">
                        <a16:creationId xmlns:a16="http://schemas.microsoft.com/office/drawing/2014/main" id="{C6C508F1-7318-4ABE-BE27-B144BBDA1043}"/>
                      </a:ext>
                    </a:extLst>
                  </p:cNvPr>
                  <p:cNvCxnSpPr>
                    <a:cxnSpLocks noChangeShapeType="1"/>
                  </p:cNvCxnSpPr>
                  <p:nvPr/>
                </p:nvCxnSpPr>
                <p:spPr bwMode="auto">
                  <a:xfrm>
                    <a:off x="5360" y="5384"/>
                    <a:ext cx="351" cy="16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2" name="AutoShape 37">
                    <a:extLst>
                      <a:ext uri="{FF2B5EF4-FFF2-40B4-BE49-F238E27FC236}">
                        <a16:creationId xmlns:a16="http://schemas.microsoft.com/office/drawing/2014/main" id="{3B567C04-3F39-4A70-B165-88E14697D5BF}"/>
                      </a:ext>
                    </a:extLst>
                  </p:cNvPr>
                  <p:cNvCxnSpPr>
                    <a:cxnSpLocks noChangeShapeType="1"/>
                  </p:cNvCxnSpPr>
                  <p:nvPr/>
                </p:nvCxnSpPr>
                <p:spPr bwMode="auto">
                  <a:xfrm flipV="1">
                    <a:off x="5347" y="5717"/>
                    <a:ext cx="364" cy="23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3" name="AutoShape 38">
                    <a:extLst>
                      <a:ext uri="{FF2B5EF4-FFF2-40B4-BE49-F238E27FC236}">
                        <a16:creationId xmlns:a16="http://schemas.microsoft.com/office/drawing/2014/main" id="{E9AD6122-CF70-4219-BCD3-21925C49790A}"/>
                      </a:ext>
                    </a:extLst>
                  </p:cNvPr>
                  <p:cNvCxnSpPr>
                    <a:cxnSpLocks noChangeShapeType="1"/>
                  </p:cNvCxnSpPr>
                  <p:nvPr/>
                </p:nvCxnSpPr>
                <p:spPr bwMode="auto">
                  <a:xfrm>
                    <a:off x="5378" y="6436"/>
                    <a:ext cx="333" cy="6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4" name="AutoShape 39">
                    <a:extLst>
                      <a:ext uri="{FF2B5EF4-FFF2-40B4-BE49-F238E27FC236}">
                        <a16:creationId xmlns:a16="http://schemas.microsoft.com/office/drawing/2014/main" id="{82F9E766-DFD3-4E42-8EA6-2C880EF47BEB}"/>
                      </a:ext>
                    </a:extLst>
                  </p:cNvPr>
                  <p:cNvCxnSpPr>
                    <a:cxnSpLocks noChangeShapeType="1"/>
                  </p:cNvCxnSpPr>
                  <p:nvPr/>
                </p:nvCxnSpPr>
                <p:spPr bwMode="auto">
                  <a:xfrm flipV="1">
                    <a:off x="5347" y="6680"/>
                    <a:ext cx="364" cy="25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5" name="AutoShape 40">
                    <a:extLst>
                      <a:ext uri="{FF2B5EF4-FFF2-40B4-BE49-F238E27FC236}">
                        <a16:creationId xmlns:a16="http://schemas.microsoft.com/office/drawing/2014/main" id="{C9A89518-2419-48D1-8518-7C4B7C8138CF}"/>
                      </a:ext>
                    </a:extLst>
                  </p:cNvPr>
                  <p:cNvCxnSpPr>
                    <a:cxnSpLocks noChangeShapeType="1"/>
                  </p:cNvCxnSpPr>
                  <p:nvPr/>
                </p:nvCxnSpPr>
                <p:spPr bwMode="auto">
                  <a:xfrm>
                    <a:off x="6127" y="4846"/>
                    <a:ext cx="309" cy="70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6" name="AutoShape 41">
                    <a:extLst>
                      <a:ext uri="{FF2B5EF4-FFF2-40B4-BE49-F238E27FC236}">
                        <a16:creationId xmlns:a16="http://schemas.microsoft.com/office/drawing/2014/main" id="{4271D48B-369E-48F6-9E80-DF4E47B8CF81}"/>
                      </a:ext>
                    </a:extLst>
                  </p:cNvPr>
                  <p:cNvCxnSpPr>
                    <a:cxnSpLocks noChangeShapeType="1"/>
                  </p:cNvCxnSpPr>
                  <p:nvPr/>
                </p:nvCxnSpPr>
                <p:spPr bwMode="auto">
                  <a:xfrm>
                    <a:off x="6145" y="5686"/>
                    <a:ext cx="291"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7" name="AutoShape 42">
                    <a:extLst>
                      <a:ext uri="{FF2B5EF4-FFF2-40B4-BE49-F238E27FC236}">
                        <a16:creationId xmlns:a16="http://schemas.microsoft.com/office/drawing/2014/main" id="{968C9BAD-7EFF-4D60-92BD-5527D6FDD7B8}"/>
                      </a:ext>
                    </a:extLst>
                  </p:cNvPr>
                  <p:cNvCxnSpPr>
                    <a:cxnSpLocks noChangeShapeType="1"/>
                  </p:cNvCxnSpPr>
                  <p:nvPr/>
                </p:nvCxnSpPr>
                <p:spPr bwMode="auto">
                  <a:xfrm flipV="1">
                    <a:off x="6127" y="5873"/>
                    <a:ext cx="309" cy="56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8" name="AutoShape 43">
                    <a:extLst>
                      <a:ext uri="{FF2B5EF4-FFF2-40B4-BE49-F238E27FC236}">
                        <a16:creationId xmlns:a16="http://schemas.microsoft.com/office/drawing/2014/main" id="{E8CC05A2-3F13-4D04-A14A-B4DB6D04AEF0}"/>
                      </a:ext>
                    </a:extLst>
                  </p:cNvPr>
                  <p:cNvCxnSpPr>
                    <a:cxnSpLocks noChangeShapeType="1"/>
                  </p:cNvCxnSpPr>
                  <p:nvPr/>
                </p:nvCxnSpPr>
                <p:spPr bwMode="auto">
                  <a:xfrm>
                    <a:off x="6900" y="5686"/>
                    <a:ext cx="443"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9" name="AutoShape 44">
                    <a:extLst>
                      <a:ext uri="{FF2B5EF4-FFF2-40B4-BE49-F238E27FC236}">
                        <a16:creationId xmlns:a16="http://schemas.microsoft.com/office/drawing/2014/main" id="{AAE11D2F-4865-4A0B-B91F-45BF72140C38}"/>
                      </a:ext>
                    </a:extLst>
                  </p:cNvPr>
                  <p:cNvCxnSpPr>
                    <a:cxnSpLocks noChangeShapeType="1"/>
                  </p:cNvCxnSpPr>
                  <p:nvPr/>
                </p:nvCxnSpPr>
                <p:spPr bwMode="auto">
                  <a:xfrm flipV="1">
                    <a:off x="9115" y="4277"/>
                    <a:ext cx="0" cy="117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0" name="AutoShape 45">
                    <a:extLst>
                      <a:ext uri="{FF2B5EF4-FFF2-40B4-BE49-F238E27FC236}">
                        <a16:creationId xmlns:a16="http://schemas.microsoft.com/office/drawing/2014/main" id="{954918DF-C3AF-4C94-A2C5-5609350020B9}"/>
                      </a:ext>
                    </a:extLst>
                  </p:cNvPr>
                  <p:cNvCxnSpPr>
                    <a:cxnSpLocks noChangeShapeType="1"/>
                  </p:cNvCxnSpPr>
                  <p:nvPr/>
                </p:nvCxnSpPr>
                <p:spPr bwMode="auto">
                  <a:xfrm>
                    <a:off x="7629" y="4290"/>
                    <a:ext cx="211" cy="39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1" name="AutoShape 46">
                    <a:extLst>
                      <a:ext uri="{FF2B5EF4-FFF2-40B4-BE49-F238E27FC236}">
                        <a16:creationId xmlns:a16="http://schemas.microsoft.com/office/drawing/2014/main" id="{DCF5155B-7CF8-4C4D-9E68-684F1235CBD1}"/>
                      </a:ext>
                    </a:extLst>
                  </p:cNvPr>
                  <p:cNvCxnSpPr>
                    <a:cxnSpLocks noChangeShapeType="1"/>
                  </p:cNvCxnSpPr>
                  <p:nvPr/>
                </p:nvCxnSpPr>
                <p:spPr bwMode="auto">
                  <a:xfrm flipH="1">
                    <a:off x="7225" y="4277"/>
                    <a:ext cx="209" cy="40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2" name="AutoShape 47">
                    <a:extLst>
                      <a:ext uri="{FF2B5EF4-FFF2-40B4-BE49-F238E27FC236}">
                        <a16:creationId xmlns:a16="http://schemas.microsoft.com/office/drawing/2014/main" id="{F1D75632-2166-4D53-9D45-2EC5ACA1D01D}"/>
                      </a:ext>
                    </a:extLst>
                  </p:cNvPr>
                  <p:cNvCxnSpPr>
                    <a:cxnSpLocks noChangeShapeType="1"/>
                  </p:cNvCxnSpPr>
                  <p:nvPr/>
                </p:nvCxnSpPr>
                <p:spPr bwMode="auto">
                  <a:xfrm>
                    <a:off x="7317" y="5107"/>
                    <a:ext cx="117" cy="33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3" name="AutoShape 48">
                    <a:extLst>
                      <a:ext uri="{FF2B5EF4-FFF2-40B4-BE49-F238E27FC236}">
                        <a16:creationId xmlns:a16="http://schemas.microsoft.com/office/drawing/2014/main" id="{0F10F64E-4605-4F31-A6BF-7C800EED04B7}"/>
                      </a:ext>
                    </a:extLst>
                  </p:cNvPr>
                  <p:cNvCxnSpPr>
                    <a:cxnSpLocks noChangeShapeType="1"/>
                  </p:cNvCxnSpPr>
                  <p:nvPr/>
                </p:nvCxnSpPr>
                <p:spPr bwMode="auto">
                  <a:xfrm flipH="1">
                    <a:off x="7629" y="5107"/>
                    <a:ext cx="148" cy="33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54" name="Group 49">
                    <a:extLst>
                      <a:ext uri="{FF2B5EF4-FFF2-40B4-BE49-F238E27FC236}">
                        <a16:creationId xmlns:a16="http://schemas.microsoft.com/office/drawing/2014/main" id="{414C6B31-9D33-43A1-9B86-EF812BE8A2DD}"/>
                      </a:ext>
                    </a:extLst>
                  </p:cNvPr>
                  <p:cNvGrpSpPr>
                    <a:grpSpLocks/>
                  </p:cNvGrpSpPr>
                  <p:nvPr/>
                </p:nvGrpSpPr>
                <p:grpSpPr bwMode="auto">
                  <a:xfrm>
                    <a:off x="2374" y="3851"/>
                    <a:ext cx="8572" cy="2292"/>
                    <a:chOff x="2374" y="3851"/>
                    <a:chExt cx="8572" cy="2292"/>
                  </a:xfrm>
                </p:grpSpPr>
                <p:cxnSp>
                  <p:nvCxnSpPr>
                    <p:cNvPr id="55" name="AutoShape 50">
                      <a:extLst>
                        <a:ext uri="{FF2B5EF4-FFF2-40B4-BE49-F238E27FC236}">
                          <a16:creationId xmlns:a16="http://schemas.microsoft.com/office/drawing/2014/main" id="{F96501AC-A15D-43FF-8320-895EC83F7F1A}"/>
                        </a:ext>
                      </a:extLst>
                    </p:cNvPr>
                    <p:cNvCxnSpPr>
                      <a:cxnSpLocks noChangeShapeType="1"/>
                    </p:cNvCxnSpPr>
                    <p:nvPr/>
                  </p:nvCxnSpPr>
                  <p:spPr bwMode="auto">
                    <a:xfrm>
                      <a:off x="5378" y="4238"/>
                      <a:ext cx="333" cy="32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6" name="AutoShape 51">
                      <a:extLst>
                        <a:ext uri="{FF2B5EF4-FFF2-40B4-BE49-F238E27FC236}">
                          <a16:creationId xmlns:a16="http://schemas.microsoft.com/office/drawing/2014/main" id="{F03E53A6-9E0A-43DC-A4F9-B8C1F187F55C}"/>
                        </a:ext>
                      </a:extLst>
                    </p:cNvPr>
                    <p:cNvCxnSpPr>
                      <a:cxnSpLocks noChangeShapeType="1"/>
                    </p:cNvCxnSpPr>
                    <p:nvPr/>
                  </p:nvCxnSpPr>
                  <p:spPr bwMode="auto">
                    <a:xfrm flipH="1">
                      <a:off x="7777" y="4070"/>
                      <a:ext cx="1076"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57" name="Group 52">
                      <a:extLst>
                        <a:ext uri="{FF2B5EF4-FFF2-40B4-BE49-F238E27FC236}">
                          <a16:creationId xmlns:a16="http://schemas.microsoft.com/office/drawing/2014/main" id="{A3D74999-2D59-40A5-8B9F-5EED47BBC6B7}"/>
                        </a:ext>
                      </a:extLst>
                    </p:cNvPr>
                    <p:cNvGrpSpPr>
                      <a:grpSpLocks/>
                    </p:cNvGrpSpPr>
                    <p:nvPr/>
                  </p:nvGrpSpPr>
                  <p:grpSpPr bwMode="auto">
                    <a:xfrm>
                      <a:off x="2374" y="3851"/>
                      <a:ext cx="8572" cy="2292"/>
                      <a:chOff x="2374" y="3851"/>
                      <a:chExt cx="8572" cy="2292"/>
                    </a:xfrm>
                  </p:grpSpPr>
                  <p:sp>
                    <p:nvSpPr>
                      <p:cNvPr id="58" name="Oval 53">
                        <a:extLst>
                          <a:ext uri="{FF2B5EF4-FFF2-40B4-BE49-F238E27FC236}">
                            <a16:creationId xmlns:a16="http://schemas.microsoft.com/office/drawing/2014/main" id="{A4EED840-2EB9-4BCC-96D5-5EBF2332A071}"/>
                          </a:ext>
                        </a:extLst>
                      </p:cNvPr>
                      <p:cNvSpPr>
                        <a:spLocks noChangeArrowheads="1"/>
                      </p:cNvSpPr>
                      <p:nvPr/>
                    </p:nvSpPr>
                    <p:spPr bwMode="auto">
                      <a:xfrm>
                        <a:off x="2374" y="5384"/>
                        <a:ext cx="434" cy="426"/>
                      </a:xfrm>
                      <a:prstGeom prst="ellipse">
                        <a:avLst/>
                      </a:prstGeom>
                      <a:solidFill>
                        <a:srgbClr val="FFFFFF"/>
                      </a:solidFill>
                      <a:ln w="9525">
                        <a:solidFill>
                          <a:srgbClr val="000000"/>
                        </a:solidFill>
                        <a:round/>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i</a:t>
                        </a:r>
                        <a:r>
                          <a:rPr kumimoji="0" lang="en-US" altLang="zh-CN" sz="1000" dirty="0">
                            <a:solidFill>
                              <a:schemeClr val="accent2"/>
                            </a:solidFill>
                            <a:ea typeface="华文行楷" panose="02010800040101010101" pitchFamily="2" charset="-122"/>
                            <a:sym typeface="Symbol" panose="05050102010706020507" pitchFamily="18" charset="2"/>
                          </a:rPr>
                          <a:t></a:t>
                        </a:r>
                        <a:endParaRPr kumimoji="0" lang="zh-CN" altLang="zh-CN" sz="1800" dirty="0">
                          <a:solidFill>
                            <a:schemeClr val="accent2"/>
                          </a:solidFill>
                          <a:latin typeface="Arial" panose="020B0604020202020204" pitchFamily="34" charset="0"/>
                          <a:ea typeface="华文行楷" panose="02010800040101010101" pitchFamily="2" charset="-122"/>
                        </a:endParaRPr>
                      </a:p>
                    </p:txBody>
                  </p:sp>
                  <p:sp>
                    <p:nvSpPr>
                      <p:cNvPr id="59" name="Rectangle 54">
                        <a:extLst>
                          <a:ext uri="{FF2B5EF4-FFF2-40B4-BE49-F238E27FC236}">
                            <a16:creationId xmlns:a16="http://schemas.microsoft.com/office/drawing/2014/main" id="{34A64F59-CA99-499D-81CA-96D8354AB86B}"/>
                          </a:ext>
                        </a:extLst>
                      </p:cNvPr>
                      <p:cNvSpPr>
                        <a:spLocks noChangeArrowheads="1"/>
                      </p:cNvSpPr>
                      <p:nvPr/>
                    </p:nvSpPr>
                    <p:spPr bwMode="auto">
                      <a:xfrm>
                        <a:off x="3207" y="5384"/>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1</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60" name="Oval 55">
                        <a:extLst>
                          <a:ext uri="{FF2B5EF4-FFF2-40B4-BE49-F238E27FC236}">
                            <a16:creationId xmlns:a16="http://schemas.microsoft.com/office/drawing/2014/main" id="{8B93D530-617C-4D90-AD0D-383AE61FB48A}"/>
                          </a:ext>
                        </a:extLst>
                      </p:cNvPr>
                      <p:cNvSpPr>
                        <a:spLocks noChangeArrowheads="1"/>
                      </p:cNvSpPr>
                      <p:nvPr/>
                    </p:nvSpPr>
                    <p:spPr bwMode="auto">
                      <a:xfrm>
                        <a:off x="10512" y="5447"/>
                        <a:ext cx="434" cy="426"/>
                      </a:xfrm>
                      <a:prstGeom prst="ellipse">
                        <a:avLst/>
                      </a:prstGeom>
                      <a:solidFill>
                        <a:srgbClr val="FFFFFF"/>
                      </a:solidFill>
                      <a:ln w="9525">
                        <a:solidFill>
                          <a:srgbClr val="000000"/>
                        </a:solidFill>
                        <a:round/>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o</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61" name="Oval 56">
                        <a:extLst>
                          <a:ext uri="{FF2B5EF4-FFF2-40B4-BE49-F238E27FC236}">
                            <a16:creationId xmlns:a16="http://schemas.microsoft.com/office/drawing/2014/main" id="{B22845EC-D9F7-4042-86DF-447222CCAA78}"/>
                          </a:ext>
                        </a:extLst>
                      </p:cNvPr>
                      <p:cNvSpPr>
                        <a:spLocks noChangeArrowheads="1"/>
                      </p:cNvSpPr>
                      <p:nvPr/>
                    </p:nvSpPr>
                    <p:spPr bwMode="auto">
                      <a:xfrm>
                        <a:off x="7317" y="3864"/>
                        <a:ext cx="434" cy="426"/>
                      </a:xfrm>
                      <a:prstGeom prst="ellipse">
                        <a:avLst/>
                      </a:prstGeom>
                      <a:solidFill>
                        <a:srgbClr val="FFFFFF"/>
                      </a:solidFill>
                      <a:ln w="9525">
                        <a:solidFill>
                          <a:srgbClr val="000000"/>
                        </a:solidFill>
                        <a:round/>
                        <a:headEnd/>
                        <a:tailEnd/>
                      </a:ln>
                    </p:spPr>
                    <p:txBody>
                      <a:bodyPr lIns="18000" tIns="0" rIns="18000" bIns="108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p</a:t>
                        </a:r>
                        <a:r>
                          <a:rPr kumimoji="0" lang="en-US" altLang="zh-CN" sz="1800" baseline="-25000" dirty="0">
                            <a:solidFill>
                              <a:schemeClr val="accent2"/>
                            </a:solidFill>
                            <a:latin typeface="Calibri" panose="020F0502020204030204" pitchFamily="34" charset="0"/>
                            <a:ea typeface="华文行楷" panose="02010800040101010101" pitchFamily="2" charset="-122"/>
                          </a:rPr>
                          <a:t>7</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62" name="Oval 57">
                        <a:extLst>
                          <a:ext uri="{FF2B5EF4-FFF2-40B4-BE49-F238E27FC236}">
                            <a16:creationId xmlns:a16="http://schemas.microsoft.com/office/drawing/2014/main" id="{4C08C626-D6F6-4D82-87DB-E546AA870FE8}"/>
                          </a:ext>
                        </a:extLst>
                      </p:cNvPr>
                      <p:cNvSpPr>
                        <a:spLocks noChangeArrowheads="1"/>
                      </p:cNvSpPr>
                      <p:nvPr/>
                    </p:nvSpPr>
                    <p:spPr bwMode="auto">
                      <a:xfrm>
                        <a:off x="7343" y="5446"/>
                        <a:ext cx="434" cy="426"/>
                      </a:xfrm>
                      <a:prstGeom prst="ellipse">
                        <a:avLst/>
                      </a:prstGeom>
                      <a:solidFill>
                        <a:srgbClr val="FFFFFF"/>
                      </a:solidFill>
                      <a:ln w="9525">
                        <a:solidFill>
                          <a:srgbClr val="000000"/>
                        </a:solidFill>
                        <a:round/>
                        <a:headEnd/>
                        <a:tailEnd/>
                      </a:ln>
                    </p:spPr>
                    <p:txBody>
                      <a:bodyPr lIns="18000" tIns="0" rIns="18000" bIns="108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p</a:t>
                        </a:r>
                        <a:r>
                          <a:rPr kumimoji="0" lang="en-US" altLang="zh-CN" sz="1800" baseline="-25000" dirty="0">
                            <a:solidFill>
                              <a:schemeClr val="accent2"/>
                            </a:solidFill>
                            <a:latin typeface="Calibri" panose="020F0502020204030204" pitchFamily="34" charset="0"/>
                            <a:ea typeface="华文行楷" panose="02010800040101010101" pitchFamily="2" charset="-122"/>
                          </a:rPr>
                          <a:t>8</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63" name="Oval 58">
                        <a:extLst>
                          <a:ext uri="{FF2B5EF4-FFF2-40B4-BE49-F238E27FC236}">
                            <a16:creationId xmlns:a16="http://schemas.microsoft.com/office/drawing/2014/main" id="{B0D83BA4-21C3-49AF-844A-E67235DD5763}"/>
                          </a:ext>
                        </a:extLst>
                      </p:cNvPr>
                      <p:cNvSpPr>
                        <a:spLocks noChangeArrowheads="1"/>
                      </p:cNvSpPr>
                      <p:nvPr/>
                    </p:nvSpPr>
                    <p:spPr bwMode="auto">
                      <a:xfrm>
                        <a:off x="8945" y="5447"/>
                        <a:ext cx="434" cy="426"/>
                      </a:xfrm>
                      <a:prstGeom prst="ellipse">
                        <a:avLst/>
                      </a:prstGeom>
                      <a:solidFill>
                        <a:srgbClr val="FFFFFF"/>
                      </a:solidFill>
                      <a:ln w="9525">
                        <a:solidFill>
                          <a:srgbClr val="000000"/>
                        </a:solidFill>
                        <a:round/>
                        <a:headEnd/>
                        <a:tailEnd/>
                      </a:ln>
                    </p:spPr>
                    <p:txBody>
                      <a:bodyPr lIns="18000" tIns="0" rIns="18000" bIns="108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p</a:t>
                        </a:r>
                        <a:r>
                          <a:rPr kumimoji="0" lang="en-US" altLang="zh-CN" sz="1800" baseline="-25000" dirty="0">
                            <a:solidFill>
                              <a:schemeClr val="accent2"/>
                            </a:solidFill>
                            <a:latin typeface="Calibri" panose="020F0502020204030204" pitchFamily="34" charset="0"/>
                            <a:ea typeface="华文行楷" panose="02010800040101010101" pitchFamily="2" charset="-122"/>
                          </a:rPr>
                          <a:t>9</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64" name="Rectangle 59">
                        <a:extLst>
                          <a:ext uri="{FF2B5EF4-FFF2-40B4-BE49-F238E27FC236}">
                            <a16:creationId xmlns:a16="http://schemas.microsoft.com/office/drawing/2014/main" id="{FD075AA9-EF82-4AE0-A216-308E05735A2B}"/>
                          </a:ext>
                        </a:extLst>
                      </p:cNvPr>
                      <p:cNvSpPr>
                        <a:spLocks noChangeArrowheads="1"/>
                      </p:cNvSpPr>
                      <p:nvPr/>
                    </p:nvSpPr>
                    <p:spPr bwMode="auto">
                      <a:xfrm>
                        <a:off x="6429" y="5446"/>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000" i="1" dirty="0">
                            <a:solidFill>
                              <a:schemeClr val="accent2"/>
                            </a:solidFill>
                            <a:latin typeface="Calibri" panose="020F0502020204030204" pitchFamily="34" charset="0"/>
                            <a:ea typeface="华文行楷" panose="02010800040101010101" pitchFamily="2" charset="-122"/>
                          </a:rPr>
                          <a:t>  </a:t>
                        </a: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i="1" baseline="-25000" dirty="0">
                            <a:solidFill>
                              <a:schemeClr val="accent2"/>
                            </a:solidFill>
                            <a:latin typeface="Calibri" panose="020F0502020204030204" pitchFamily="34" charset="0"/>
                            <a:ea typeface="华文行楷" panose="02010800040101010101" pitchFamily="2" charset="-122"/>
                          </a:rPr>
                          <a:t>8</a:t>
                        </a:r>
                        <a:endParaRPr kumimoji="0" lang="zh-CN" altLang="zh-CN" sz="1800" baseline="-25000">
                          <a:solidFill>
                            <a:schemeClr val="accent2"/>
                          </a:solidFill>
                          <a:latin typeface="Arial" panose="020B0604020202020204" pitchFamily="34" charset="0"/>
                          <a:ea typeface="华文行楷" panose="02010800040101010101" pitchFamily="2" charset="-122"/>
                        </a:endParaRPr>
                      </a:p>
                    </p:txBody>
                  </p:sp>
                  <p:sp>
                    <p:nvSpPr>
                      <p:cNvPr id="65" name="Rectangle 60">
                        <a:extLst>
                          <a:ext uri="{FF2B5EF4-FFF2-40B4-BE49-F238E27FC236}">
                            <a16:creationId xmlns:a16="http://schemas.microsoft.com/office/drawing/2014/main" id="{E4ABF00A-60C6-47D8-B7F5-6B9B7C5E6280}"/>
                          </a:ext>
                        </a:extLst>
                      </p:cNvPr>
                      <p:cNvSpPr>
                        <a:spLocks noChangeArrowheads="1"/>
                      </p:cNvSpPr>
                      <p:nvPr/>
                    </p:nvSpPr>
                    <p:spPr bwMode="auto">
                      <a:xfrm>
                        <a:off x="8151" y="5447"/>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9</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66" name="Rectangle 61">
                        <a:extLst>
                          <a:ext uri="{FF2B5EF4-FFF2-40B4-BE49-F238E27FC236}">
                            <a16:creationId xmlns:a16="http://schemas.microsoft.com/office/drawing/2014/main" id="{F79CD607-D05D-47A7-9AE9-C5372D8E01A7}"/>
                          </a:ext>
                        </a:extLst>
                      </p:cNvPr>
                      <p:cNvSpPr>
                        <a:spLocks noChangeArrowheads="1"/>
                      </p:cNvSpPr>
                      <p:nvPr/>
                    </p:nvSpPr>
                    <p:spPr bwMode="auto">
                      <a:xfrm>
                        <a:off x="9739" y="5133"/>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1</a:t>
                        </a:r>
                        <a:r>
                          <a:rPr kumimoji="0" lang="en-US" altLang="zh-CN" sz="1800" baseline="-25000" dirty="0">
                            <a:solidFill>
                              <a:schemeClr val="accent2"/>
                            </a:solidFill>
                            <a:ea typeface="华文行楷" panose="02010800040101010101" pitchFamily="2" charset="-122"/>
                          </a:rPr>
                          <a:t>0</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67" name="Rectangle 62">
                        <a:extLst>
                          <a:ext uri="{FF2B5EF4-FFF2-40B4-BE49-F238E27FC236}">
                            <a16:creationId xmlns:a16="http://schemas.microsoft.com/office/drawing/2014/main" id="{A4B86719-FCB2-431D-A583-72744E81803F}"/>
                          </a:ext>
                        </a:extLst>
                      </p:cNvPr>
                      <p:cNvSpPr>
                        <a:spLocks noChangeArrowheads="1"/>
                      </p:cNvSpPr>
                      <p:nvPr/>
                    </p:nvSpPr>
                    <p:spPr bwMode="auto">
                      <a:xfrm>
                        <a:off x="9739" y="5717"/>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11</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68" name="Rectangle 63">
                        <a:extLst>
                          <a:ext uri="{FF2B5EF4-FFF2-40B4-BE49-F238E27FC236}">
                            <a16:creationId xmlns:a16="http://schemas.microsoft.com/office/drawing/2014/main" id="{23481A43-EC67-4C27-B09A-7889E252D777}"/>
                          </a:ext>
                        </a:extLst>
                      </p:cNvPr>
                      <p:cNvSpPr>
                        <a:spLocks noChangeArrowheads="1"/>
                      </p:cNvSpPr>
                      <p:nvPr/>
                    </p:nvSpPr>
                    <p:spPr bwMode="auto">
                      <a:xfrm>
                        <a:off x="8902" y="3851"/>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12</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69" name="Rectangle 64">
                        <a:extLst>
                          <a:ext uri="{FF2B5EF4-FFF2-40B4-BE49-F238E27FC236}">
                            <a16:creationId xmlns:a16="http://schemas.microsoft.com/office/drawing/2014/main" id="{175DDE26-D32E-448F-BB2E-FCC50985DA84}"/>
                          </a:ext>
                        </a:extLst>
                      </p:cNvPr>
                      <p:cNvSpPr>
                        <a:spLocks noChangeArrowheads="1"/>
                      </p:cNvSpPr>
                      <p:nvPr/>
                    </p:nvSpPr>
                    <p:spPr bwMode="auto">
                      <a:xfrm>
                        <a:off x="7090" y="4681"/>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13</a:t>
                        </a:r>
                        <a:endParaRPr kumimoji="0" lang="zh-CN" altLang="zh-CN" sz="1800">
                          <a:solidFill>
                            <a:schemeClr val="accent2"/>
                          </a:solidFill>
                          <a:latin typeface="Arial" panose="020B0604020202020204" pitchFamily="34" charset="0"/>
                          <a:ea typeface="华文行楷" panose="02010800040101010101" pitchFamily="2" charset="-122"/>
                        </a:endParaRPr>
                      </a:p>
                    </p:txBody>
                  </p:sp>
                  <p:sp>
                    <p:nvSpPr>
                      <p:cNvPr id="70" name="Rectangle 65">
                        <a:extLst>
                          <a:ext uri="{FF2B5EF4-FFF2-40B4-BE49-F238E27FC236}">
                            <a16:creationId xmlns:a16="http://schemas.microsoft.com/office/drawing/2014/main" id="{BB8A24AA-60EE-422D-93E2-A69D0AF5273B}"/>
                          </a:ext>
                        </a:extLst>
                      </p:cNvPr>
                      <p:cNvSpPr>
                        <a:spLocks noChangeArrowheads="1"/>
                      </p:cNvSpPr>
                      <p:nvPr/>
                    </p:nvSpPr>
                    <p:spPr bwMode="auto">
                      <a:xfrm>
                        <a:off x="7629" y="4681"/>
                        <a:ext cx="464" cy="426"/>
                      </a:xfrm>
                      <a:prstGeom prst="rect">
                        <a:avLst/>
                      </a:prstGeom>
                      <a:solidFill>
                        <a:srgbClr val="FFFFFF"/>
                      </a:solidFill>
                      <a:ln w="9525">
                        <a:solidFill>
                          <a:srgbClr val="000000"/>
                        </a:solidFill>
                        <a:miter lim="800000"/>
                        <a:headEnd/>
                        <a:tailEnd/>
                      </a:ln>
                    </p:spPr>
                    <p:txBody>
                      <a:bodyPr lIns="54000" rIns="540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1800" i="1" dirty="0">
                            <a:solidFill>
                              <a:schemeClr val="accent2"/>
                            </a:solidFill>
                            <a:latin typeface="Calibri" panose="020F0502020204030204" pitchFamily="34" charset="0"/>
                            <a:ea typeface="华文行楷" panose="02010800040101010101" pitchFamily="2" charset="-122"/>
                          </a:rPr>
                          <a:t>T</a:t>
                        </a:r>
                        <a:r>
                          <a:rPr kumimoji="0" lang="en-US" altLang="zh-CN" sz="1800" baseline="-25000" dirty="0">
                            <a:solidFill>
                              <a:schemeClr val="accent2"/>
                            </a:solidFill>
                            <a:latin typeface="Calibri" panose="020F0502020204030204" pitchFamily="34" charset="0"/>
                            <a:ea typeface="华文行楷" panose="02010800040101010101" pitchFamily="2" charset="-122"/>
                          </a:rPr>
                          <a:t>14</a:t>
                        </a:r>
                        <a:endParaRPr kumimoji="0" lang="zh-CN" altLang="zh-CN" sz="1800" dirty="0">
                          <a:solidFill>
                            <a:schemeClr val="accent2"/>
                          </a:solidFill>
                          <a:latin typeface="Arial" panose="020B0604020202020204" pitchFamily="34" charset="0"/>
                          <a:ea typeface="华文行楷" panose="02010800040101010101" pitchFamily="2" charset="-122"/>
                        </a:endParaRPr>
                      </a:p>
                    </p:txBody>
                  </p:sp>
                </p:grpSp>
              </p:grpSp>
            </p:grpSp>
          </p:grpSp>
        </p:grpSp>
        <p:cxnSp>
          <p:nvCxnSpPr>
            <p:cNvPr id="12" name="AutoShape 66">
              <a:extLst>
                <a:ext uri="{FF2B5EF4-FFF2-40B4-BE49-F238E27FC236}">
                  <a16:creationId xmlns:a16="http://schemas.microsoft.com/office/drawing/2014/main" id="{BCBE6EF6-3D2A-4E2B-8A6D-D4B0DC80F5FE}"/>
                </a:ext>
              </a:extLst>
            </p:cNvPr>
            <p:cNvCxnSpPr>
              <a:cxnSpLocks noChangeShapeType="1"/>
            </p:cNvCxnSpPr>
            <p:nvPr/>
          </p:nvCxnSpPr>
          <p:spPr bwMode="auto">
            <a:xfrm>
              <a:off x="2540" y="5898"/>
              <a:ext cx="0" cy="426"/>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4" name="AutoShape 67">
              <a:extLst>
                <a:ext uri="{FF2B5EF4-FFF2-40B4-BE49-F238E27FC236}">
                  <a16:creationId xmlns:a16="http://schemas.microsoft.com/office/drawing/2014/main" id="{6CE9A634-2877-4497-9519-F98A95B1442C}"/>
                </a:ext>
              </a:extLst>
            </p:cNvPr>
            <p:cNvCxnSpPr>
              <a:cxnSpLocks noChangeShapeType="1"/>
            </p:cNvCxnSpPr>
            <p:nvPr/>
          </p:nvCxnSpPr>
          <p:spPr bwMode="auto">
            <a:xfrm flipV="1">
              <a:off x="2540" y="5898"/>
              <a:ext cx="155" cy="20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5" name="AutoShape 68">
              <a:extLst>
                <a:ext uri="{FF2B5EF4-FFF2-40B4-BE49-F238E27FC236}">
                  <a16:creationId xmlns:a16="http://schemas.microsoft.com/office/drawing/2014/main" id="{B3C9C656-37D7-431C-87A5-C2DC41E2B5B5}"/>
                </a:ext>
              </a:extLst>
            </p:cNvPr>
            <p:cNvCxnSpPr>
              <a:cxnSpLocks noChangeShapeType="1"/>
            </p:cNvCxnSpPr>
            <p:nvPr/>
          </p:nvCxnSpPr>
          <p:spPr bwMode="auto">
            <a:xfrm>
              <a:off x="2540" y="6101"/>
              <a:ext cx="155" cy="22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6" name="AutoShape 69">
              <a:extLst>
                <a:ext uri="{FF2B5EF4-FFF2-40B4-BE49-F238E27FC236}">
                  <a16:creationId xmlns:a16="http://schemas.microsoft.com/office/drawing/2014/main" id="{6F8461AC-BF14-4F4B-B3AB-5476F21CCB32}"/>
                </a:ext>
              </a:extLst>
            </p:cNvPr>
            <p:cNvCxnSpPr>
              <a:cxnSpLocks noChangeShapeType="1"/>
            </p:cNvCxnSpPr>
            <p:nvPr/>
          </p:nvCxnSpPr>
          <p:spPr bwMode="auto">
            <a:xfrm>
              <a:off x="5570" y="5961"/>
              <a:ext cx="0" cy="426"/>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 name="AutoShape 70">
              <a:extLst>
                <a:ext uri="{FF2B5EF4-FFF2-40B4-BE49-F238E27FC236}">
                  <a16:creationId xmlns:a16="http://schemas.microsoft.com/office/drawing/2014/main" id="{2994289F-7AE7-4E3D-86AC-4D216CF58F80}"/>
                </a:ext>
              </a:extLst>
            </p:cNvPr>
            <p:cNvCxnSpPr>
              <a:cxnSpLocks noChangeShapeType="1"/>
            </p:cNvCxnSpPr>
            <p:nvPr/>
          </p:nvCxnSpPr>
          <p:spPr bwMode="auto">
            <a:xfrm>
              <a:off x="5460" y="5960"/>
              <a:ext cx="110" cy="2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 name="AutoShape 71">
              <a:extLst>
                <a:ext uri="{FF2B5EF4-FFF2-40B4-BE49-F238E27FC236}">
                  <a16:creationId xmlns:a16="http://schemas.microsoft.com/office/drawing/2014/main" id="{7F4EC390-F3AC-422E-91B6-C88956A86D5C}"/>
                </a:ext>
              </a:extLst>
            </p:cNvPr>
            <p:cNvCxnSpPr>
              <a:cxnSpLocks noChangeShapeType="1"/>
            </p:cNvCxnSpPr>
            <p:nvPr/>
          </p:nvCxnSpPr>
          <p:spPr bwMode="auto">
            <a:xfrm flipV="1">
              <a:off x="5460" y="6200"/>
              <a:ext cx="110" cy="186"/>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84" name="矩形 83">
            <a:extLst>
              <a:ext uri="{FF2B5EF4-FFF2-40B4-BE49-F238E27FC236}">
                <a16:creationId xmlns:a16="http://schemas.microsoft.com/office/drawing/2014/main" id="{A4D886E5-3991-443C-85D0-A705344D38E3}"/>
              </a:ext>
            </a:extLst>
          </p:cNvPr>
          <p:cNvSpPr/>
          <p:nvPr/>
        </p:nvSpPr>
        <p:spPr>
          <a:xfrm>
            <a:off x="816537" y="3630945"/>
            <a:ext cx="5373016" cy="2901885"/>
          </a:xfrm>
          <a:prstGeom prst="rect">
            <a:avLst/>
          </a:prstGeom>
        </p:spPr>
        <p:txBody>
          <a:bodyPr wrap="square">
            <a:spAutoFit/>
          </a:bodyPr>
          <a:lstStyle/>
          <a:p>
            <a:pPr marL="531813" indent="-531813" eaLnBrk="1" hangingPunct="1">
              <a:lnSpc>
                <a:spcPct val="110000"/>
              </a:lnSpc>
              <a:defRPr/>
            </a:pPr>
            <a:r>
              <a:rPr lang="en-US" altLang="zh-CN" sz="2400" b="1" i="1" dirty="0">
                <a:solidFill>
                  <a:schemeClr val="accent2"/>
                </a:solidFill>
                <a:latin typeface="Trebuchet MS" panose="020B0603020202020204" pitchFamily="34" charset="0"/>
              </a:rPr>
              <a:t>T</a:t>
            </a:r>
            <a:r>
              <a:rPr lang="en-US" altLang="zh-CN" sz="2400" b="1" baseline="-25000" dirty="0">
                <a:solidFill>
                  <a:schemeClr val="accent2"/>
                </a:solidFill>
                <a:latin typeface="Trebuchet MS" panose="020B0603020202020204" pitchFamily="34" charset="0"/>
              </a:rPr>
              <a:t>1</a:t>
            </a:r>
            <a:r>
              <a:rPr lang="en-US" altLang="zh-CN" sz="2400" b="1" dirty="0">
                <a:solidFill>
                  <a:schemeClr val="tx1"/>
                </a:solidFill>
                <a:latin typeface="Trebuchet MS" panose="020B0603020202020204" pitchFamily="34" charset="0"/>
              </a:rPr>
              <a:t>: </a:t>
            </a:r>
            <a:r>
              <a:rPr lang="en-US" altLang="zh-CN" sz="2400" dirty="0">
                <a:latin typeface="Trebuchet MS" panose="020B0603020202020204" pitchFamily="34" charset="0"/>
              </a:rPr>
              <a:t>Receive the paper, invite three reviewers.</a:t>
            </a:r>
            <a:endParaRPr lang="zh-CN" altLang="zh-CN" sz="2400" b="1" dirty="0">
              <a:solidFill>
                <a:schemeClr val="tx1"/>
              </a:solidFill>
              <a:latin typeface="Trebuchet MS" panose="020B0603020202020204" pitchFamily="34" charset="0"/>
            </a:endParaRPr>
          </a:p>
          <a:p>
            <a:pPr marL="2060575" indent="-2060575" eaLnBrk="1" hangingPunct="1">
              <a:lnSpc>
                <a:spcPct val="110000"/>
              </a:lnSpc>
              <a:defRPr/>
            </a:pPr>
            <a:r>
              <a:rPr lang="en-US" altLang="zh-CN" sz="2400" b="1" i="1" dirty="0">
                <a:solidFill>
                  <a:schemeClr val="accent2"/>
                </a:solidFill>
                <a:latin typeface="Trebuchet MS" panose="020B0603020202020204" pitchFamily="34" charset="0"/>
              </a:rPr>
              <a:t>T</a:t>
            </a:r>
            <a:r>
              <a:rPr lang="en-US" altLang="zh-CN" sz="2400" b="1" baseline="-25000" dirty="0">
                <a:solidFill>
                  <a:schemeClr val="accent2"/>
                </a:solidFill>
                <a:latin typeface="Trebuchet MS" panose="020B0603020202020204" pitchFamily="34" charset="0"/>
              </a:rPr>
              <a:t>2</a:t>
            </a:r>
            <a:r>
              <a:rPr lang="en-US" altLang="zh-CN" sz="2400" b="1" dirty="0">
                <a:solidFill>
                  <a:schemeClr val="accent2"/>
                </a:solidFill>
                <a:latin typeface="Trebuchet MS" panose="020B0603020202020204" pitchFamily="34" charset="0"/>
              </a:rPr>
              <a:t>,</a:t>
            </a:r>
            <a:r>
              <a:rPr lang="en-US" altLang="zh-CN" sz="2400" b="1" i="1" dirty="0">
                <a:solidFill>
                  <a:schemeClr val="accent2"/>
                </a:solidFill>
                <a:latin typeface="Trebuchet MS" panose="020B0603020202020204" pitchFamily="34" charset="0"/>
              </a:rPr>
              <a:t>T</a:t>
            </a:r>
            <a:r>
              <a:rPr lang="en-US" altLang="zh-CN" sz="2400" b="1" baseline="-25000" dirty="0">
                <a:solidFill>
                  <a:schemeClr val="accent2"/>
                </a:solidFill>
                <a:latin typeface="Trebuchet MS" panose="020B0603020202020204" pitchFamily="34" charset="0"/>
              </a:rPr>
              <a:t>4</a:t>
            </a:r>
            <a:r>
              <a:rPr lang="en-US" altLang="zh-CN" sz="2400" b="1" dirty="0">
                <a:solidFill>
                  <a:schemeClr val="accent2"/>
                </a:solidFill>
                <a:latin typeface="Trebuchet MS" panose="020B0603020202020204" pitchFamily="34" charset="0"/>
              </a:rPr>
              <a:t>,</a:t>
            </a:r>
            <a:r>
              <a:rPr lang="en-US" altLang="zh-CN" sz="2400" b="1" i="1" dirty="0">
                <a:solidFill>
                  <a:schemeClr val="accent2"/>
                </a:solidFill>
                <a:latin typeface="Trebuchet MS" panose="020B0603020202020204" pitchFamily="34" charset="0"/>
              </a:rPr>
              <a:t>T</a:t>
            </a:r>
            <a:r>
              <a:rPr lang="en-US" altLang="zh-CN" sz="2400" b="1" baseline="-25000" dirty="0">
                <a:solidFill>
                  <a:schemeClr val="accent2"/>
                </a:solidFill>
                <a:latin typeface="Trebuchet MS" panose="020B0603020202020204" pitchFamily="34" charset="0"/>
              </a:rPr>
              <a:t>6 </a:t>
            </a:r>
            <a:r>
              <a:rPr lang="en-US" altLang="zh-CN" sz="2400" b="1" i="1" dirty="0">
                <a:solidFill>
                  <a:schemeClr val="accent2"/>
                </a:solidFill>
                <a:latin typeface="Trebuchet MS" panose="020B0603020202020204" pitchFamily="34" charset="0"/>
              </a:rPr>
              <a:t>,T</a:t>
            </a:r>
            <a:r>
              <a:rPr lang="en-US" altLang="zh-CN" sz="2400" b="1" baseline="-25000" dirty="0">
                <a:solidFill>
                  <a:schemeClr val="accent2"/>
                </a:solidFill>
                <a:latin typeface="Trebuchet MS" panose="020B0603020202020204" pitchFamily="34" charset="0"/>
              </a:rPr>
              <a:t>13</a:t>
            </a:r>
            <a:r>
              <a:rPr lang="en-US" altLang="zh-CN" sz="2400" b="1" dirty="0">
                <a:solidFill>
                  <a:schemeClr val="tx1"/>
                </a:solidFill>
                <a:latin typeface="Trebuchet MS" panose="020B0603020202020204" pitchFamily="34" charset="0"/>
              </a:rPr>
              <a:t>: </a:t>
            </a:r>
            <a:r>
              <a:rPr lang="en-US" altLang="zh-CN" sz="2400" dirty="0">
                <a:latin typeface="Trebuchet MS" panose="020B0603020202020204" pitchFamily="34" charset="0"/>
              </a:rPr>
              <a:t>Receive review comments on time.</a:t>
            </a:r>
            <a:endParaRPr lang="zh-CN" altLang="zh-CN" sz="2400" b="1" dirty="0">
              <a:solidFill>
                <a:schemeClr val="tx1"/>
              </a:solidFill>
              <a:latin typeface="Trebuchet MS" panose="020B0603020202020204" pitchFamily="34" charset="0"/>
            </a:endParaRPr>
          </a:p>
          <a:p>
            <a:pPr eaLnBrk="1" hangingPunct="1">
              <a:lnSpc>
                <a:spcPct val="110000"/>
              </a:lnSpc>
              <a:defRPr/>
            </a:pPr>
            <a:r>
              <a:rPr lang="en-US" altLang="zh-CN" sz="2400" b="1" i="1" dirty="0">
                <a:solidFill>
                  <a:schemeClr val="accent2"/>
                </a:solidFill>
                <a:latin typeface="Trebuchet MS" panose="020B0603020202020204" pitchFamily="34" charset="0"/>
              </a:rPr>
              <a:t>T</a:t>
            </a:r>
            <a:r>
              <a:rPr lang="en-US" altLang="zh-CN" sz="2400" b="1" baseline="-25000" dirty="0">
                <a:solidFill>
                  <a:schemeClr val="accent2"/>
                </a:solidFill>
                <a:latin typeface="Trebuchet MS" panose="020B0603020202020204" pitchFamily="34" charset="0"/>
              </a:rPr>
              <a:t>3</a:t>
            </a:r>
            <a:r>
              <a:rPr lang="en-US" altLang="zh-CN" sz="2400" b="1" dirty="0">
                <a:solidFill>
                  <a:schemeClr val="accent2"/>
                </a:solidFill>
                <a:latin typeface="Trebuchet MS" panose="020B0603020202020204" pitchFamily="34" charset="0"/>
              </a:rPr>
              <a:t>,</a:t>
            </a:r>
            <a:r>
              <a:rPr lang="en-US" altLang="zh-CN" sz="2400" b="1" i="1" dirty="0">
                <a:solidFill>
                  <a:schemeClr val="accent2"/>
                </a:solidFill>
                <a:latin typeface="Trebuchet MS" panose="020B0603020202020204" pitchFamily="34" charset="0"/>
              </a:rPr>
              <a:t>T</a:t>
            </a:r>
            <a:r>
              <a:rPr lang="en-US" altLang="zh-CN" sz="2400" b="1" baseline="-25000" dirty="0">
                <a:solidFill>
                  <a:schemeClr val="accent2"/>
                </a:solidFill>
                <a:latin typeface="Trebuchet MS" panose="020B0603020202020204" pitchFamily="34" charset="0"/>
              </a:rPr>
              <a:t>5</a:t>
            </a:r>
            <a:r>
              <a:rPr lang="en-US" altLang="zh-CN" sz="2400" b="1" dirty="0">
                <a:solidFill>
                  <a:schemeClr val="accent2"/>
                </a:solidFill>
                <a:latin typeface="Trebuchet MS" panose="020B0603020202020204" pitchFamily="34" charset="0"/>
              </a:rPr>
              <a:t>,</a:t>
            </a:r>
            <a:r>
              <a:rPr lang="en-US" altLang="zh-CN" sz="2400" b="1" i="1" dirty="0">
                <a:solidFill>
                  <a:schemeClr val="accent2"/>
                </a:solidFill>
                <a:latin typeface="Trebuchet MS" panose="020B0603020202020204" pitchFamily="34" charset="0"/>
              </a:rPr>
              <a:t>T</a:t>
            </a:r>
            <a:r>
              <a:rPr lang="en-US" altLang="zh-CN" sz="2400" b="1" baseline="-25000" dirty="0">
                <a:solidFill>
                  <a:schemeClr val="accent2"/>
                </a:solidFill>
                <a:latin typeface="Trebuchet MS" panose="020B0603020202020204" pitchFamily="34" charset="0"/>
              </a:rPr>
              <a:t>7</a:t>
            </a:r>
            <a:r>
              <a:rPr lang="en-US" altLang="zh-CN" sz="2400" b="1" dirty="0">
                <a:solidFill>
                  <a:schemeClr val="accent2"/>
                </a:solidFill>
                <a:latin typeface="Trebuchet MS" panose="020B0603020202020204" pitchFamily="34" charset="0"/>
              </a:rPr>
              <a:t>,</a:t>
            </a:r>
            <a:r>
              <a:rPr lang="en-US" altLang="zh-CN" sz="2400" b="1" i="1" dirty="0">
                <a:solidFill>
                  <a:schemeClr val="accent2"/>
                </a:solidFill>
                <a:latin typeface="Trebuchet MS" panose="020B0603020202020204" pitchFamily="34" charset="0"/>
              </a:rPr>
              <a:t>T</a:t>
            </a:r>
            <a:r>
              <a:rPr lang="en-US" altLang="zh-CN" sz="2400" b="1" baseline="-25000" dirty="0">
                <a:solidFill>
                  <a:schemeClr val="accent2"/>
                </a:solidFill>
                <a:latin typeface="Trebuchet MS" panose="020B0603020202020204" pitchFamily="34" charset="0"/>
              </a:rPr>
              <a:t>14</a:t>
            </a:r>
            <a:r>
              <a:rPr lang="en-US" altLang="zh-CN" sz="2400" b="1" dirty="0">
                <a:solidFill>
                  <a:schemeClr val="tx1"/>
                </a:solidFill>
                <a:latin typeface="Trebuchet MS" panose="020B0603020202020204" pitchFamily="34" charset="0"/>
              </a:rPr>
              <a:t>:</a:t>
            </a:r>
            <a:r>
              <a:rPr lang="en-US" altLang="zh-CN" sz="2400" dirty="0">
                <a:latin typeface="Trebuchet MS" panose="020B0603020202020204" pitchFamily="34" charset="0"/>
              </a:rPr>
              <a:t> Do not receive review comments on time; </a:t>
            </a:r>
            <a:r>
              <a:rPr lang="zh-CN" altLang="zh-CN" sz="2400" b="1" dirty="0">
                <a:solidFill>
                  <a:schemeClr val="tx1"/>
                </a:solidFill>
                <a:latin typeface="Trebuchet MS" panose="020B0603020202020204" pitchFamily="34" charset="0"/>
              </a:rPr>
              <a:t>；</a:t>
            </a:r>
          </a:p>
          <a:p>
            <a:pPr eaLnBrk="1" hangingPunct="1">
              <a:lnSpc>
                <a:spcPct val="110000"/>
              </a:lnSpc>
              <a:defRPr/>
            </a:pPr>
            <a:r>
              <a:rPr lang="en-US" altLang="zh-CN" sz="2400" b="1" i="1" dirty="0">
                <a:solidFill>
                  <a:schemeClr val="accent2"/>
                </a:solidFill>
                <a:latin typeface="Trebuchet MS" panose="020B0603020202020204" pitchFamily="34" charset="0"/>
              </a:rPr>
              <a:t>T</a:t>
            </a:r>
            <a:r>
              <a:rPr lang="en-US" altLang="zh-CN" sz="2400" b="1" baseline="-25000" dirty="0">
                <a:solidFill>
                  <a:schemeClr val="accent2"/>
                </a:solidFill>
                <a:latin typeface="Trebuchet MS" panose="020B0603020202020204" pitchFamily="34" charset="0"/>
              </a:rPr>
              <a:t>8</a:t>
            </a:r>
            <a:r>
              <a:rPr lang="en-US" altLang="zh-CN" sz="2400" b="1" dirty="0">
                <a:solidFill>
                  <a:schemeClr val="tx1"/>
                </a:solidFill>
                <a:latin typeface="Trebuchet MS" panose="020B0603020202020204" pitchFamily="34" charset="0"/>
              </a:rPr>
              <a:t>:</a:t>
            </a:r>
            <a:r>
              <a:rPr lang="en-US" altLang="zh-CN" sz="2400" dirty="0">
                <a:latin typeface="Trebuchet MS" panose="020B0603020202020204" pitchFamily="34" charset="0"/>
              </a:rPr>
              <a:t> Summarize review comments.</a:t>
            </a:r>
            <a:endParaRPr lang="zh-CN" altLang="zh-CN" sz="2400" b="1" dirty="0">
              <a:solidFill>
                <a:schemeClr val="tx1"/>
              </a:solidFill>
              <a:latin typeface="Trebuchet MS" panose="020B0603020202020204" pitchFamily="34" charset="0"/>
            </a:endParaRPr>
          </a:p>
        </p:txBody>
      </p:sp>
      <p:sp>
        <p:nvSpPr>
          <p:cNvPr id="85" name="矩形 84">
            <a:extLst>
              <a:ext uri="{FF2B5EF4-FFF2-40B4-BE49-F238E27FC236}">
                <a16:creationId xmlns:a16="http://schemas.microsoft.com/office/drawing/2014/main" id="{F4CAA1E8-C3AE-4642-B4FE-6E1D90EDF69E}"/>
              </a:ext>
            </a:extLst>
          </p:cNvPr>
          <p:cNvSpPr/>
          <p:nvPr/>
        </p:nvSpPr>
        <p:spPr>
          <a:xfrm>
            <a:off x="6501465" y="3630945"/>
            <a:ext cx="5373016" cy="2089355"/>
          </a:xfrm>
          <a:prstGeom prst="rect">
            <a:avLst/>
          </a:prstGeom>
        </p:spPr>
        <p:txBody>
          <a:bodyPr wrap="square">
            <a:spAutoFit/>
          </a:bodyPr>
          <a:lstStyle/>
          <a:p>
            <a:pPr eaLnBrk="1" hangingPunct="1">
              <a:lnSpc>
                <a:spcPct val="110000"/>
              </a:lnSpc>
              <a:defRPr/>
            </a:pPr>
            <a:r>
              <a:rPr lang="en-US" altLang="zh-CN" sz="2400" b="1" i="1" dirty="0">
                <a:solidFill>
                  <a:schemeClr val="accent2"/>
                </a:solidFill>
                <a:latin typeface="Trebuchet MS" panose="020B0603020202020204" pitchFamily="34" charset="0"/>
                <a:ea typeface="+mj-ea"/>
              </a:rPr>
              <a:t>T</a:t>
            </a:r>
            <a:r>
              <a:rPr lang="en-US" altLang="zh-CN" sz="2400" b="1" baseline="-25000" dirty="0">
                <a:solidFill>
                  <a:schemeClr val="accent2"/>
                </a:solidFill>
                <a:latin typeface="Trebuchet MS" panose="020B0603020202020204" pitchFamily="34" charset="0"/>
                <a:ea typeface="+mj-ea"/>
              </a:rPr>
              <a:t>9</a:t>
            </a:r>
            <a:r>
              <a:rPr lang="en-US" altLang="zh-CN" sz="2400" b="1" dirty="0">
                <a:solidFill>
                  <a:srgbClr val="000000"/>
                </a:solidFill>
                <a:latin typeface="Trebuchet MS" panose="020B0603020202020204" pitchFamily="34" charset="0"/>
                <a:ea typeface="+mj-ea"/>
              </a:rPr>
              <a:t>:</a:t>
            </a:r>
            <a:r>
              <a:rPr lang="en-US" altLang="zh-CN" sz="2400" dirty="0">
                <a:latin typeface="Trebuchet MS" panose="020B0603020202020204" pitchFamily="34" charset="0"/>
              </a:rPr>
              <a:t> Decide whether to accept the paper; </a:t>
            </a:r>
            <a:r>
              <a:rPr lang="zh-CN" altLang="zh-CN" sz="2400" b="1" dirty="0">
                <a:solidFill>
                  <a:srgbClr val="000000"/>
                </a:solidFill>
                <a:latin typeface="Trebuchet MS" panose="020B0603020202020204" pitchFamily="34" charset="0"/>
                <a:ea typeface="+mj-ea"/>
              </a:rPr>
              <a:t>；</a:t>
            </a:r>
            <a:endParaRPr lang="en-US" altLang="zh-CN" sz="2400" b="1" dirty="0">
              <a:solidFill>
                <a:srgbClr val="000000"/>
              </a:solidFill>
              <a:latin typeface="Trebuchet MS" panose="020B0603020202020204" pitchFamily="34" charset="0"/>
              <a:ea typeface="+mj-ea"/>
            </a:endParaRPr>
          </a:p>
          <a:p>
            <a:pPr eaLnBrk="1" hangingPunct="1">
              <a:lnSpc>
                <a:spcPct val="110000"/>
              </a:lnSpc>
              <a:defRPr/>
            </a:pPr>
            <a:r>
              <a:rPr lang="en-US" altLang="zh-CN" sz="2400" b="1" i="1" dirty="0">
                <a:solidFill>
                  <a:schemeClr val="accent2"/>
                </a:solidFill>
                <a:latin typeface="Trebuchet MS" panose="020B0603020202020204" pitchFamily="34" charset="0"/>
                <a:ea typeface="+mj-ea"/>
              </a:rPr>
              <a:t>T</a:t>
            </a:r>
            <a:r>
              <a:rPr lang="en-US" altLang="zh-CN" sz="2400" b="1" baseline="-25000" dirty="0">
                <a:solidFill>
                  <a:schemeClr val="accent2"/>
                </a:solidFill>
                <a:latin typeface="Trebuchet MS" panose="020B0603020202020204" pitchFamily="34" charset="0"/>
                <a:ea typeface="+mj-ea"/>
              </a:rPr>
              <a:t>10</a:t>
            </a:r>
            <a:r>
              <a:rPr lang="en-US" altLang="zh-CN" sz="2400" b="1" dirty="0">
                <a:solidFill>
                  <a:schemeClr val="tx1"/>
                </a:solidFill>
                <a:latin typeface="Trebuchet MS" panose="020B0603020202020204" pitchFamily="34" charset="0"/>
                <a:ea typeface="+mj-ea"/>
              </a:rPr>
              <a:t>:</a:t>
            </a:r>
            <a:r>
              <a:rPr lang="en-US" altLang="zh-CN" sz="2400" dirty="0">
                <a:latin typeface="Trebuchet MS" panose="020B0603020202020204" pitchFamily="34" charset="0"/>
              </a:rPr>
              <a:t> Accept the paper; </a:t>
            </a:r>
            <a:r>
              <a:rPr lang="zh-CN" altLang="zh-CN" sz="2400" b="1" dirty="0">
                <a:solidFill>
                  <a:schemeClr val="tx1"/>
                </a:solidFill>
                <a:latin typeface="Trebuchet MS" panose="020B0603020202020204" pitchFamily="34" charset="0"/>
                <a:ea typeface="+mj-ea"/>
              </a:rPr>
              <a:t>；</a:t>
            </a:r>
            <a:endParaRPr lang="en-US" altLang="zh-CN" sz="2400" b="1" dirty="0">
              <a:solidFill>
                <a:srgbClr val="000000"/>
              </a:solidFill>
              <a:latin typeface="Trebuchet MS" panose="020B0603020202020204" pitchFamily="34" charset="0"/>
              <a:ea typeface="+mj-ea"/>
            </a:endParaRPr>
          </a:p>
          <a:p>
            <a:pPr eaLnBrk="1" hangingPunct="1">
              <a:lnSpc>
                <a:spcPct val="110000"/>
              </a:lnSpc>
              <a:defRPr/>
            </a:pPr>
            <a:r>
              <a:rPr lang="en-US" altLang="zh-CN" sz="2400" b="1" i="1" dirty="0">
                <a:solidFill>
                  <a:schemeClr val="accent2"/>
                </a:solidFill>
                <a:latin typeface="Trebuchet MS" panose="020B0603020202020204" pitchFamily="34" charset="0"/>
                <a:ea typeface="+mj-ea"/>
              </a:rPr>
              <a:t>T</a:t>
            </a:r>
            <a:r>
              <a:rPr lang="en-US" altLang="zh-CN" sz="2400" b="1" baseline="-25000" dirty="0">
                <a:solidFill>
                  <a:schemeClr val="accent2"/>
                </a:solidFill>
                <a:latin typeface="Trebuchet MS" panose="020B0603020202020204" pitchFamily="34" charset="0"/>
                <a:ea typeface="+mj-ea"/>
              </a:rPr>
              <a:t>11</a:t>
            </a:r>
            <a:r>
              <a:rPr lang="en-US" altLang="zh-CN" sz="2400" b="1" dirty="0">
                <a:solidFill>
                  <a:schemeClr val="tx1"/>
                </a:solidFill>
                <a:latin typeface="Trebuchet MS" panose="020B0603020202020204" pitchFamily="34" charset="0"/>
                <a:ea typeface="+mj-ea"/>
              </a:rPr>
              <a:t>:</a:t>
            </a:r>
            <a:r>
              <a:rPr lang="en-US" altLang="zh-CN" sz="2400" dirty="0">
                <a:latin typeface="Trebuchet MS" panose="020B0603020202020204" pitchFamily="34" charset="0"/>
              </a:rPr>
              <a:t> Reject the paper; </a:t>
            </a:r>
            <a:r>
              <a:rPr lang="zh-CN" altLang="zh-CN" sz="2400" b="1" dirty="0">
                <a:solidFill>
                  <a:schemeClr val="tx1"/>
                </a:solidFill>
                <a:latin typeface="Trebuchet MS" panose="020B0603020202020204" pitchFamily="34" charset="0"/>
                <a:ea typeface="+mj-ea"/>
              </a:rPr>
              <a:t>；</a:t>
            </a:r>
          </a:p>
          <a:p>
            <a:pPr eaLnBrk="1" hangingPunct="1">
              <a:lnSpc>
                <a:spcPct val="110000"/>
              </a:lnSpc>
              <a:defRPr/>
            </a:pPr>
            <a:r>
              <a:rPr lang="en-US" altLang="zh-CN" sz="2400" b="1" i="1" dirty="0">
                <a:solidFill>
                  <a:schemeClr val="accent2"/>
                </a:solidFill>
                <a:latin typeface="Trebuchet MS" panose="020B0603020202020204" pitchFamily="34" charset="0"/>
                <a:ea typeface="+mj-ea"/>
              </a:rPr>
              <a:t>T</a:t>
            </a:r>
            <a:r>
              <a:rPr lang="en-US" altLang="zh-CN" sz="2400" b="1" baseline="-25000" dirty="0">
                <a:solidFill>
                  <a:schemeClr val="accent2"/>
                </a:solidFill>
                <a:latin typeface="Trebuchet MS" panose="020B0603020202020204" pitchFamily="34" charset="0"/>
                <a:ea typeface="+mj-ea"/>
              </a:rPr>
              <a:t>12</a:t>
            </a:r>
            <a:r>
              <a:rPr lang="en-US" altLang="zh-CN" sz="2400" b="1" dirty="0">
                <a:solidFill>
                  <a:schemeClr val="tx1"/>
                </a:solidFill>
                <a:latin typeface="Trebuchet MS" panose="020B0603020202020204" pitchFamily="34" charset="0"/>
                <a:ea typeface="+mj-ea"/>
              </a:rPr>
              <a:t>:</a:t>
            </a:r>
            <a:r>
              <a:rPr lang="en-US" altLang="zh-CN" sz="2400" dirty="0">
                <a:latin typeface="Trebuchet MS" panose="020B0603020202020204" pitchFamily="34" charset="0"/>
              </a:rPr>
              <a:t> Re-invite other reviewers </a:t>
            </a:r>
            <a:r>
              <a:rPr lang="zh-CN" altLang="zh-CN" sz="2400" b="1" dirty="0">
                <a:solidFill>
                  <a:schemeClr val="tx1"/>
                </a:solidFill>
                <a:latin typeface="Trebuchet MS" panose="020B0603020202020204" pitchFamily="34" charset="0"/>
                <a:ea typeface="+mj-ea"/>
              </a:rPr>
              <a:t>；</a:t>
            </a:r>
            <a:endParaRPr lang="zh-CN" altLang="zh-CN" b="1" dirty="0">
              <a:solidFill>
                <a:srgbClr val="000000"/>
              </a:solidFill>
              <a:latin typeface="Trebuchet MS" panose="020B0603020202020204" pitchFamily="34" charset="0"/>
              <a:ea typeface="宋体"/>
            </a:endParaRPr>
          </a:p>
        </p:txBody>
      </p:sp>
    </p:spTree>
    <p:extLst>
      <p:ext uri="{BB962C8B-B14F-4D97-AF65-F5344CB8AC3E}">
        <p14:creationId xmlns:p14="http://schemas.microsoft.com/office/powerpoint/2010/main" val="36781577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1000"/>
                                        <p:tgtEl>
                                          <p:spTgt spid="84"/>
                                        </p:tgtEl>
                                      </p:cBhvr>
                                    </p:animEffect>
                                    <p:anim calcmode="lin" valueType="num">
                                      <p:cBhvr>
                                        <p:cTn id="8" dur="1000" fill="hold"/>
                                        <p:tgtEl>
                                          <p:spTgt spid="84"/>
                                        </p:tgtEl>
                                        <p:attrNameLst>
                                          <p:attrName>ppt_x</p:attrName>
                                        </p:attrNameLst>
                                      </p:cBhvr>
                                      <p:tavLst>
                                        <p:tav tm="0">
                                          <p:val>
                                            <p:strVal val="#ppt_x"/>
                                          </p:val>
                                        </p:tav>
                                        <p:tav tm="100000">
                                          <p:val>
                                            <p:strVal val="#ppt_x"/>
                                          </p:val>
                                        </p:tav>
                                      </p:tavLst>
                                    </p:anim>
                                    <p:anim calcmode="lin" valueType="num">
                                      <p:cBhvr>
                                        <p:cTn id="9" dur="1000" fill="hold"/>
                                        <p:tgtEl>
                                          <p:spTgt spid="8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5"/>
                                        </p:tgtEl>
                                        <p:attrNameLst>
                                          <p:attrName>style.visibility</p:attrName>
                                        </p:attrNameLst>
                                      </p:cBhvr>
                                      <p:to>
                                        <p:strVal val="visible"/>
                                      </p:to>
                                    </p:set>
                                    <p:animEffect transition="in" filter="fade">
                                      <p:cBhvr>
                                        <p:cTn id="14" dur="1000"/>
                                        <p:tgtEl>
                                          <p:spTgt spid="85"/>
                                        </p:tgtEl>
                                      </p:cBhvr>
                                    </p:animEffect>
                                    <p:anim calcmode="lin" valueType="num">
                                      <p:cBhvr>
                                        <p:cTn id="15" dur="1000" fill="hold"/>
                                        <p:tgtEl>
                                          <p:spTgt spid="85"/>
                                        </p:tgtEl>
                                        <p:attrNameLst>
                                          <p:attrName>ppt_x</p:attrName>
                                        </p:attrNameLst>
                                      </p:cBhvr>
                                      <p:tavLst>
                                        <p:tav tm="0">
                                          <p:val>
                                            <p:strVal val="#ppt_x"/>
                                          </p:val>
                                        </p:tav>
                                        <p:tav tm="100000">
                                          <p:val>
                                            <p:strVal val="#ppt_x"/>
                                          </p:val>
                                        </p:tav>
                                      </p:tavLst>
                                    </p:anim>
                                    <p:anim calcmode="lin" valueType="num">
                                      <p:cBhvr>
                                        <p:cTn id="16" dur="1000" fill="hold"/>
                                        <p:tgtEl>
                                          <p:spTgt spid="8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5.3.4 Business Process Modeling and Its Tools (Languages)</a:t>
            </a:r>
          </a:p>
          <a:p>
            <a:r>
              <a:rPr lang="en-US" altLang="zh-CN" sz="1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8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effectLst/>
                <a:latin typeface="Trebuchet MS" panose="020B0603020202020204" pitchFamily="34" charset="0"/>
                <a:ea typeface="宋体" panose="02010600030101010101" pitchFamily="2" charset="-122"/>
              </a:rPr>
              <a:t>WF-net Transition Types</a:t>
            </a:r>
            <a:endParaRPr lang="en-US" altLang="zh-CN" sz="2400" b="1" dirty="0">
              <a:highlight>
                <a:srgbClr val="FF0000"/>
              </a:highligh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53208" y="841376"/>
            <a:ext cx="9006479"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0B61FF"/>
              </a:buClr>
              <a:buSzPct val="80000"/>
              <a:buFont typeface="Wingdings" panose="05000000000000000000" pitchFamily="2" charset="2"/>
              <a:buChar char="n"/>
              <a:defRPr/>
            </a:pPr>
            <a:r>
              <a:rPr lang="en-US" altLang="zh-CN" sz="2400" dirty="0">
                <a:effectLst/>
                <a:latin typeface="Trebuchet MS" panose="020B0603020202020204" pitchFamily="34" charset="0"/>
                <a:ea typeface="宋体" panose="02010600030101010101" pitchFamily="2" charset="-122"/>
              </a:rPr>
              <a:t>WF-net Transition Types</a:t>
            </a:r>
            <a:r>
              <a:rPr lang="zh-CN" altLang="en-US" sz="2400" dirty="0">
                <a:effectLst/>
                <a:latin typeface="Trebuchet MS" panose="020B0603020202020204" pitchFamily="34" charset="0"/>
                <a:ea typeface="宋体" panose="02010600030101010101" pitchFamily="2" charset="-122"/>
              </a:rPr>
              <a:t>：</a:t>
            </a:r>
            <a:endParaRPr lang="en-US" altLang="zh-CN" sz="2400" dirty="0">
              <a:effectLst/>
              <a:latin typeface="Trebuchet MS" panose="020B0603020202020204" pitchFamily="34" charset="0"/>
              <a:ea typeface="宋体" panose="02010600030101010101" pitchFamily="2" charset="-122"/>
            </a:endParaRPr>
          </a:p>
          <a:p>
            <a:pPr eaLnBrk="1" hangingPunct="1">
              <a:buClr>
                <a:srgbClr val="0B61FF"/>
              </a:buClr>
              <a:buSzPct val="80000"/>
              <a:buFont typeface="Wingdings" panose="05000000000000000000" pitchFamily="2" charset="2"/>
              <a:buChar char="n"/>
              <a:defRPr/>
            </a:pPr>
            <a:endParaRPr lang="zh-CN" altLang="zh-CN" sz="2400" b="1" dirty="0">
              <a:latin typeface="Trebuchet MS" panose="020B0603020202020204" pitchFamily="34" charset="0"/>
            </a:endParaRPr>
          </a:p>
        </p:txBody>
      </p:sp>
      <p:graphicFrame>
        <p:nvGraphicFramePr>
          <p:cNvPr id="5" name="表格 4">
            <a:extLst>
              <a:ext uri="{FF2B5EF4-FFF2-40B4-BE49-F238E27FC236}">
                <a16:creationId xmlns:a16="http://schemas.microsoft.com/office/drawing/2014/main" id="{7F4B652B-1A4F-460D-9C1E-79129595DD97}"/>
              </a:ext>
            </a:extLst>
          </p:cNvPr>
          <p:cNvGraphicFramePr>
            <a:graphicFrameLocks noGrp="1"/>
          </p:cNvGraphicFramePr>
          <p:nvPr>
            <p:extLst>
              <p:ext uri="{D42A27DB-BD31-4B8C-83A1-F6EECF244321}">
                <p14:modId xmlns:p14="http://schemas.microsoft.com/office/powerpoint/2010/main" val="1357075492"/>
              </p:ext>
            </p:extLst>
          </p:nvPr>
        </p:nvGraphicFramePr>
        <p:xfrm>
          <a:off x="808967" y="1245831"/>
          <a:ext cx="10431463" cy="3091995"/>
        </p:xfrm>
        <a:graphic>
          <a:graphicData uri="http://schemas.openxmlformats.org/drawingml/2006/table">
            <a:tbl>
              <a:tblPr firstRow="1" firstCol="1" bandRow="1">
                <a:tableStyleId>{5940675A-B579-460E-94D1-54222C63F5DA}</a:tableStyleId>
              </a:tblPr>
              <a:tblGrid>
                <a:gridCol w="1676157">
                  <a:extLst>
                    <a:ext uri="{9D8B030D-6E8A-4147-A177-3AD203B41FA5}">
                      <a16:colId xmlns:a16="http://schemas.microsoft.com/office/drawing/2014/main" val="9160274"/>
                    </a:ext>
                  </a:extLst>
                </a:gridCol>
                <a:gridCol w="4261143">
                  <a:extLst>
                    <a:ext uri="{9D8B030D-6E8A-4147-A177-3AD203B41FA5}">
                      <a16:colId xmlns:a16="http://schemas.microsoft.com/office/drawing/2014/main" val="670016690"/>
                    </a:ext>
                  </a:extLst>
                </a:gridCol>
                <a:gridCol w="4494163">
                  <a:extLst>
                    <a:ext uri="{9D8B030D-6E8A-4147-A177-3AD203B41FA5}">
                      <a16:colId xmlns:a16="http://schemas.microsoft.com/office/drawing/2014/main" val="871294779"/>
                    </a:ext>
                  </a:extLst>
                </a:gridCol>
              </a:tblGrid>
              <a:tr h="343555">
                <a:tc>
                  <a:txBody>
                    <a:bodyPr/>
                    <a:lstStyle/>
                    <a:p>
                      <a:pPr indent="127000" algn="ctr"/>
                      <a:r>
                        <a:rPr lang="en-US" sz="2000" b="1" kern="100" dirty="0">
                          <a:effectLst/>
                          <a:latin typeface="Trebuchet MS" panose="020B0603020202020204" pitchFamily="34" charset="0"/>
                        </a:rPr>
                        <a:t>Type</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solidFill>
                      <a:srgbClr val="DEDAF8"/>
                    </a:solidFill>
                  </a:tcPr>
                </a:tc>
                <a:tc>
                  <a:txBody>
                    <a:bodyPr/>
                    <a:lstStyle/>
                    <a:p>
                      <a:pPr marL="21590" indent="127000" algn="ctr"/>
                      <a:r>
                        <a:rPr lang="en-US" sz="2000" b="1" kern="100" dirty="0">
                          <a:effectLst/>
                          <a:latin typeface="Trebuchet MS" panose="020B0603020202020204" pitchFamily="34" charset="0"/>
                        </a:rPr>
                        <a:t>Structure</a:t>
                      </a:r>
                      <a:endParaRPr lang="zh-CN" sz="2000" b="1" kern="10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solidFill>
                      <a:srgbClr val="DEDAF8"/>
                    </a:solidFill>
                  </a:tcPr>
                </a:tc>
                <a:tc>
                  <a:txBody>
                    <a:bodyPr/>
                    <a:lstStyle/>
                    <a:p>
                      <a:pPr marL="12065" indent="-12065" algn="ctr"/>
                      <a:r>
                        <a:rPr lang="en-US" sz="2000" b="1" kern="100" dirty="0">
                          <a:effectLst/>
                          <a:latin typeface="Trebuchet MS" panose="020B0603020202020204" pitchFamily="34" charset="0"/>
                        </a:rPr>
                        <a:t>Description</a:t>
                      </a:r>
                      <a:endParaRPr lang="zh-CN" sz="2000" b="1"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solidFill>
                      <a:srgbClr val="DEDAF8"/>
                    </a:solidFill>
                  </a:tcPr>
                </a:tc>
                <a:extLst>
                  <a:ext uri="{0D108BD9-81ED-4DB2-BD59-A6C34878D82A}">
                    <a16:rowId xmlns:a16="http://schemas.microsoft.com/office/drawing/2014/main" val="2136693924"/>
                  </a:ext>
                </a:extLst>
              </a:tr>
              <a:tr h="343555">
                <a:tc>
                  <a:txBody>
                    <a:bodyPr/>
                    <a:lstStyle/>
                    <a:p>
                      <a:pPr marL="0" indent="0" algn="just"/>
                      <a:r>
                        <a:rPr lang="en-US" sz="2000" kern="100" dirty="0">
                          <a:effectLst/>
                          <a:latin typeface="Trebuchet MS" panose="020B0603020202020204" pitchFamily="34" charset="0"/>
                        </a:rPr>
                        <a:t>Normal</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just"/>
                      <a:r>
                        <a:rPr lang="en-US" sz="2000" kern="100" dirty="0">
                          <a:effectLst/>
                          <a:latin typeface="Trebuchet MS" panose="020B0603020202020204" pitchFamily="34" charset="0"/>
                        </a:rPr>
                        <a:t>One input → One output</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l"/>
                      <a:r>
                        <a:rPr lang="en-US" sz="2000" kern="100" dirty="0">
                          <a:effectLst/>
                          <a:latin typeface="Trebuchet MS" panose="020B0603020202020204" pitchFamily="34" charset="0"/>
                        </a:rPr>
                        <a:t>Executes a single task in sequence</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85405633"/>
                  </a:ext>
                </a:extLst>
              </a:tr>
              <a:tr h="343555">
                <a:tc>
                  <a:txBody>
                    <a:bodyPr/>
                    <a:lstStyle/>
                    <a:p>
                      <a:pPr marL="0" indent="0" algn="just"/>
                      <a:r>
                        <a:rPr lang="en-US" sz="2000" kern="100" dirty="0">
                          <a:effectLst/>
                          <a:latin typeface="Trebuchet MS" panose="020B0603020202020204" pitchFamily="34" charset="0"/>
                        </a:rPr>
                        <a:t>AND-split</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just"/>
                      <a:r>
                        <a:rPr lang="en-US" sz="2000" kern="100" dirty="0">
                          <a:effectLst/>
                          <a:latin typeface="Trebuchet MS" panose="020B0603020202020204" pitchFamily="34" charset="0"/>
                        </a:rPr>
                        <a:t>One input → Multiple outputs</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l"/>
                      <a:r>
                        <a:rPr lang="en-US" sz="2000" kern="100" dirty="0">
                          <a:effectLst/>
                          <a:latin typeface="Trebuchet MS" panose="020B0603020202020204" pitchFamily="34" charset="0"/>
                        </a:rPr>
                        <a:t>Starts parallel branches</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4258905"/>
                  </a:ext>
                </a:extLst>
              </a:tr>
              <a:tr h="343555">
                <a:tc>
                  <a:txBody>
                    <a:bodyPr/>
                    <a:lstStyle/>
                    <a:p>
                      <a:pPr marL="0" indent="0" algn="just"/>
                      <a:r>
                        <a:rPr lang="en-US" sz="2000" kern="100" dirty="0">
                          <a:effectLst/>
                          <a:latin typeface="Trebuchet MS" panose="020B0603020202020204" pitchFamily="34" charset="0"/>
                        </a:rPr>
                        <a:t>AND-join</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just"/>
                      <a:r>
                        <a:rPr lang="en-US" sz="2000" kern="100" dirty="0">
                          <a:effectLst/>
                          <a:latin typeface="Trebuchet MS" panose="020B0603020202020204" pitchFamily="34" charset="0"/>
                        </a:rPr>
                        <a:t>Multiple inputs → One output</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l"/>
                      <a:r>
                        <a:rPr lang="en-US" sz="2000" kern="100" dirty="0">
                          <a:effectLst/>
                          <a:latin typeface="Trebuchet MS" panose="020B0603020202020204" pitchFamily="34" charset="0"/>
                        </a:rPr>
                        <a:t>Waits for all branches to continue</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22742572"/>
                  </a:ext>
                </a:extLst>
              </a:tr>
              <a:tr h="343555">
                <a:tc>
                  <a:txBody>
                    <a:bodyPr/>
                    <a:lstStyle/>
                    <a:p>
                      <a:pPr marL="0" indent="0" algn="just"/>
                      <a:r>
                        <a:rPr lang="en-US" sz="2000" kern="100" dirty="0">
                          <a:effectLst/>
                          <a:latin typeface="Trebuchet MS" panose="020B0603020202020204" pitchFamily="34" charset="0"/>
                        </a:rPr>
                        <a:t>XOR-split</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just"/>
                      <a:r>
                        <a:rPr lang="en-US" sz="2000" kern="100" dirty="0">
                          <a:effectLst/>
                          <a:latin typeface="Trebuchet MS" panose="020B0603020202020204" pitchFamily="34" charset="0"/>
                        </a:rPr>
                        <a:t>One input → One of several outputs</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l"/>
                      <a:r>
                        <a:rPr lang="en-US" sz="2000" kern="100" dirty="0">
                          <a:effectLst/>
                          <a:latin typeface="Trebuchet MS" panose="020B0603020202020204" pitchFamily="34" charset="0"/>
                        </a:rPr>
                        <a:t>Selects one path based on condition</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27878622"/>
                  </a:ext>
                </a:extLst>
              </a:tr>
              <a:tr h="343555">
                <a:tc>
                  <a:txBody>
                    <a:bodyPr/>
                    <a:lstStyle/>
                    <a:p>
                      <a:pPr marL="0" indent="0" algn="just"/>
                      <a:r>
                        <a:rPr lang="en-US" sz="2000" kern="100" dirty="0">
                          <a:effectLst/>
                          <a:latin typeface="Trebuchet MS" panose="020B0603020202020204" pitchFamily="34" charset="0"/>
                        </a:rPr>
                        <a:t>XOR-join</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just"/>
                      <a:r>
                        <a:rPr lang="en-US" sz="2000" kern="100" dirty="0">
                          <a:effectLst/>
                          <a:latin typeface="Trebuchet MS" panose="020B0603020202020204" pitchFamily="34" charset="0"/>
                        </a:rPr>
                        <a:t>One of several inputs → One output</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l"/>
                      <a:r>
                        <a:rPr lang="en-US" sz="2000" kern="100" dirty="0">
                          <a:effectLst/>
                          <a:latin typeface="Trebuchet MS" panose="020B0603020202020204" pitchFamily="34" charset="0"/>
                        </a:rPr>
                        <a:t>Any path completes to proceed</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02287499"/>
                  </a:ext>
                </a:extLst>
              </a:tr>
              <a:tr h="343555">
                <a:tc>
                  <a:txBody>
                    <a:bodyPr/>
                    <a:lstStyle/>
                    <a:p>
                      <a:pPr marL="0" indent="0" algn="just"/>
                      <a:r>
                        <a:rPr lang="en-US" sz="2000" kern="100" dirty="0">
                          <a:effectLst/>
                          <a:latin typeface="Trebuchet MS" panose="020B0603020202020204" pitchFamily="34" charset="0"/>
                        </a:rPr>
                        <a:t>Loop</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just"/>
                      <a:r>
                        <a:rPr lang="en-US" sz="2000" kern="100" dirty="0">
                          <a:effectLst/>
                          <a:latin typeface="Trebuchet MS" panose="020B0603020202020204" pitchFamily="34" charset="0"/>
                        </a:rPr>
                        <a:t>Output reconnects to earlier place</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l"/>
                      <a:r>
                        <a:rPr lang="en-US" sz="2000" kern="100" dirty="0">
                          <a:effectLst/>
                          <a:latin typeface="Trebuchet MS" panose="020B0603020202020204" pitchFamily="34" charset="0"/>
                        </a:rPr>
                        <a:t>Repeats a task until condition met</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36528444"/>
                  </a:ext>
                </a:extLst>
              </a:tr>
              <a:tr h="687110">
                <a:tc>
                  <a:txBody>
                    <a:bodyPr/>
                    <a:lstStyle/>
                    <a:p>
                      <a:pPr marL="0" indent="0" algn="just"/>
                      <a:r>
                        <a:rPr lang="en-US" sz="2000" kern="100" dirty="0">
                          <a:effectLst/>
                          <a:latin typeface="Trebuchet MS" panose="020B0603020202020204" pitchFamily="34" charset="0"/>
                        </a:rPr>
                        <a:t>Cancel/Interrupt</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tc>
                <a:tc>
                  <a:txBody>
                    <a:bodyPr/>
                    <a:lstStyle/>
                    <a:p>
                      <a:pPr marL="0" indent="0" algn="just"/>
                      <a:r>
                        <a:rPr lang="en-US" sz="2000" kern="100" dirty="0">
                          <a:effectLst/>
                          <a:latin typeface="Trebuchet MS" panose="020B0603020202020204" pitchFamily="34" charset="0"/>
                        </a:rPr>
                        <a:t>Interrupts flow</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indent="0" algn="l"/>
                      <a:r>
                        <a:rPr lang="en-US" sz="2000" kern="100" dirty="0">
                          <a:effectLst/>
                          <a:latin typeface="Trebuchet MS" panose="020B0603020202020204" pitchFamily="34" charset="0"/>
                        </a:rPr>
                        <a:t>End a process branch prematurely</a:t>
                      </a:r>
                      <a:endParaRPr lang="zh-CN" sz="2000" kern="100" dirty="0">
                        <a:effectLst/>
                        <a:latin typeface="Trebuchet MS" panose="020B060302020202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7607850"/>
                  </a:ext>
                </a:extLst>
              </a:tr>
            </a:tbl>
          </a:graphicData>
        </a:graphic>
      </p:graphicFrame>
      <p:sp>
        <p:nvSpPr>
          <p:cNvPr id="21" name="文本框 20">
            <a:extLst>
              <a:ext uri="{FF2B5EF4-FFF2-40B4-BE49-F238E27FC236}">
                <a16:creationId xmlns:a16="http://schemas.microsoft.com/office/drawing/2014/main" id="{B00394C8-DD67-4DA5-95D1-13926941E4F6}"/>
              </a:ext>
            </a:extLst>
          </p:cNvPr>
          <p:cNvSpPr txBox="1"/>
          <p:nvPr/>
        </p:nvSpPr>
        <p:spPr>
          <a:xfrm>
            <a:off x="753208" y="4372949"/>
            <a:ext cx="6099716" cy="461665"/>
          </a:xfrm>
          <a:prstGeom prst="rect">
            <a:avLst/>
          </a:prstGeom>
          <a:noFill/>
        </p:spPr>
        <p:txBody>
          <a:bodyPr wrap="square">
            <a:spAutoFit/>
          </a:bodyPr>
          <a:lstStyle/>
          <a:p>
            <a:pPr marL="342900" indent="-342900">
              <a:buClr>
                <a:srgbClr val="0B61FF"/>
              </a:buClr>
              <a:buSzPct val="80000"/>
              <a:buFont typeface="Wingdings" panose="05000000000000000000" pitchFamily="2" charset="2"/>
              <a:buChar char="n"/>
            </a:pPr>
            <a:r>
              <a:rPr lang="en-US" altLang="zh-CN" sz="2400" dirty="0">
                <a:latin typeface="Trebuchet MS" panose="020B0603020202020204" pitchFamily="34" charset="0"/>
              </a:rPr>
              <a:t>WF-net Control-flow Operator Symbols</a:t>
            </a:r>
            <a:r>
              <a:rPr lang="zh-CN" altLang="en-US" sz="2400" dirty="0">
                <a:latin typeface="Trebuchet MS" panose="020B0603020202020204" pitchFamily="34" charset="0"/>
              </a:rPr>
              <a:t>：</a:t>
            </a:r>
          </a:p>
        </p:txBody>
      </p:sp>
      <p:pic>
        <p:nvPicPr>
          <p:cNvPr id="12" name="图片 11">
            <a:extLst>
              <a:ext uri="{FF2B5EF4-FFF2-40B4-BE49-F238E27FC236}">
                <a16:creationId xmlns:a16="http://schemas.microsoft.com/office/drawing/2014/main" id="{E50AE8B8-95D5-462F-BE72-D2BE3B2D91ED}"/>
              </a:ext>
            </a:extLst>
          </p:cNvPr>
          <p:cNvPicPr>
            <a:picLocks noChangeAspect="1"/>
          </p:cNvPicPr>
          <p:nvPr/>
        </p:nvPicPr>
        <p:blipFill>
          <a:blip r:embed="rId5"/>
          <a:stretch>
            <a:fillRect/>
          </a:stretch>
        </p:blipFill>
        <p:spPr>
          <a:xfrm>
            <a:off x="1157819" y="5023238"/>
            <a:ext cx="1257300" cy="920750"/>
          </a:xfrm>
          <a:prstGeom prst="rect">
            <a:avLst/>
          </a:prstGeom>
        </p:spPr>
      </p:pic>
      <p:pic>
        <p:nvPicPr>
          <p:cNvPr id="19" name="图片 18">
            <a:extLst>
              <a:ext uri="{FF2B5EF4-FFF2-40B4-BE49-F238E27FC236}">
                <a16:creationId xmlns:a16="http://schemas.microsoft.com/office/drawing/2014/main" id="{B2F8FFE3-7DC9-4B01-A5D9-EEDD918256D5}"/>
              </a:ext>
            </a:extLst>
          </p:cNvPr>
          <p:cNvPicPr>
            <a:picLocks noChangeAspect="1"/>
          </p:cNvPicPr>
          <p:nvPr/>
        </p:nvPicPr>
        <p:blipFill>
          <a:blip r:embed="rId6"/>
          <a:stretch>
            <a:fillRect/>
          </a:stretch>
        </p:blipFill>
        <p:spPr>
          <a:xfrm>
            <a:off x="2959454" y="5023238"/>
            <a:ext cx="1295400" cy="920750"/>
          </a:xfrm>
          <a:prstGeom prst="rect">
            <a:avLst/>
          </a:prstGeom>
        </p:spPr>
      </p:pic>
      <p:pic>
        <p:nvPicPr>
          <p:cNvPr id="27" name="图片 26">
            <a:extLst>
              <a:ext uri="{FF2B5EF4-FFF2-40B4-BE49-F238E27FC236}">
                <a16:creationId xmlns:a16="http://schemas.microsoft.com/office/drawing/2014/main" id="{0D46B378-2F3E-440A-BA5B-68A2F282D075}"/>
              </a:ext>
            </a:extLst>
          </p:cNvPr>
          <p:cNvPicPr>
            <a:picLocks noChangeAspect="1"/>
          </p:cNvPicPr>
          <p:nvPr/>
        </p:nvPicPr>
        <p:blipFill>
          <a:blip r:embed="rId7"/>
          <a:stretch>
            <a:fillRect/>
          </a:stretch>
        </p:blipFill>
        <p:spPr>
          <a:xfrm>
            <a:off x="6600825" y="5023238"/>
            <a:ext cx="1295400" cy="920750"/>
          </a:xfrm>
          <a:prstGeom prst="rect">
            <a:avLst/>
          </a:prstGeom>
        </p:spPr>
      </p:pic>
      <p:pic>
        <p:nvPicPr>
          <p:cNvPr id="29" name="图片 28">
            <a:extLst>
              <a:ext uri="{FF2B5EF4-FFF2-40B4-BE49-F238E27FC236}">
                <a16:creationId xmlns:a16="http://schemas.microsoft.com/office/drawing/2014/main" id="{2E5ED6FE-D89D-49CC-9961-EFDD6D578E29}"/>
              </a:ext>
            </a:extLst>
          </p:cNvPr>
          <p:cNvPicPr>
            <a:picLocks noChangeAspect="1"/>
          </p:cNvPicPr>
          <p:nvPr/>
        </p:nvPicPr>
        <p:blipFill>
          <a:blip r:embed="rId8"/>
          <a:stretch>
            <a:fillRect/>
          </a:stretch>
        </p:blipFill>
        <p:spPr>
          <a:xfrm>
            <a:off x="4799189" y="5023238"/>
            <a:ext cx="1257300" cy="920750"/>
          </a:xfrm>
          <a:prstGeom prst="rect">
            <a:avLst/>
          </a:prstGeom>
        </p:spPr>
      </p:pic>
    </p:spTree>
    <p:extLst>
      <p:ext uri="{BB962C8B-B14F-4D97-AF65-F5344CB8AC3E}">
        <p14:creationId xmlns:p14="http://schemas.microsoft.com/office/powerpoint/2010/main" val="2174491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1000" fill="hold"/>
                                        <p:tgtEl>
                                          <p:spTgt spid="19"/>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1000"/>
                                        <p:tgtEl>
                                          <p:spTgt spid="29"/>
                                        </p:tgtEl>
                                      </p:cBhvr>
                                    </p:animEffect>
                                    <p:anim calcmode="lin" valueType="num">
                                      <p:cBhvr>
                                        <p:cTn id="25" dur="1000" fill="hold"/>
                                        <p:tgtEl>
                                          <p:spTgt spid="29"/>
                                        </p:tgtEl>
                                        <p:attrNameLst>
                                          <p:attrName>ppt_x</p:attrName>
                                        </p:attrNameLst>
                                      </p:cBhvr>
                                      <p:tavLst>
                                        <p:tav tm="0">
                                          <p:val>
                                            <p:strVal val="#ppt_x"/>
                                          </p:val>
                                        </p:tav>
                                        <p:tav tm="100000">
                                          <p:val>
                                            <p:strVal val="#ppt_x"/>
                                          </p:val>
                                        </p:tav>
                                      </p:tavLst>
                                    </p:anim>
                                    <p:anim calcmode="lin" valueType="num">
                                      <p:cBhvr>
                                        <p:cTn id="26" dur="1000" fill="hold"/>
                                        <p:tgtEl>
                                          <p:spTgt spid="29"/>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1000"/>
                                        <p:tgtEl>
                                          <p:spTgt spid="27"/>
                                        </p:tgtEl>
                                      </p:cBhvr>
                                    </p:animEffect>
                                    <p:anim calcmode="lin" valueType="num">
                                      <p:cBhvr>
                                        <p:cTn id="30" dur="1000" fill="hold"/>
                                        <p:tgtEl>
                                          <p:spTgt spid="27"/>
                                        </p:tgtEl>
                                        <p:attrNameLst>
                                          <p:attrName>ppt_x</p:attrName>
                                        </p:attrNameLst>
                                      </p:cBhvr>
                                      <p:tavLst>
                                        <p:tav tm="0">
                                          <p:val>
                                            <p:strVal val="#ppt_x"/>
                                          </p:val>
                                        </p:tav>
                                        <p:tav tm="100000">
                                          <p:val>
                                            <p:strVal val="#ppt_x"/>
                                          </p:val>
                                        </p:tav>
                                      </p:tavLst>
                                    </p:anim>
                                    <p:anim calcmode="lin" valueType="num">
                                      <p:cBhvr>
                                        <p:cTn id="31"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5.3.4 Business Process Modeling and Its Tools (Languages)</a:t>
            </a:r>
          </a:p>
          <a:p>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8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Formal Definition of WF-net</a:t>
            </a:r>
            <a:endParaRPr lang="en-US" altLang="zh-CN" sz="2400" b="1" dirty="0">
              <a:highlight>
                <a:srgbClr val="FF0000"/>
              </a:highlight>
              <a:latin typeface="Trebuchet MS" panose="020B0603020202020204" pitchFamily="34"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65441" y="841376"/>
            <a:ext cx="9373959" cy="50869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cs typeface="Times New Roman" panose="02020603050405020304" pitchFamily="18" charset="0"/>
              </a:rPr>
              <a:t>WF_net</a:t>
            </a:r>
            <a:r>
              <a:rPr lang="en-US" altLang="zh-CN" sz="2400" b="1" dirty="0">
                <a:latin typeface="Trebuchet MS" panose="020B0603020202020204" pitchFamily="34" charset="0"/>
              </a:rPr>
              <a:t> </a:t>
            </a:r>
            <a:r>
              <a:rPr lang="en-US" altLang="zh-CN" sz="2400" dirty="0">
                <a:latin typeface="Trebuchet MS" panose="020B0603020202020204" pitchFamily="34" charset="0"/>
              </a:rPr>
              <a:t> is a triple </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&gt;</a:t>
            </a:r>
            <a:r>
              <a:rPr lang="zh-CN"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Set of places</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T</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Set of transitions</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Flow relation</a:t>
            </a:r>
            <a:r>
              <a:rPr lang="en-US" altLang="zh-CN" sz="2400" b="1" dirty="0">
                <a:latin typeface="Trebuchet MS" panose="020B0603020202020204" pitchFamily="34" charset="0"/>
                <a:cs typeface="Times New Roman" panose="02020603050405020304" pitchFamily="18" charset="0"/>
              </a:rPr>
              <a:t>. </a:t>
            </a:r>
            <a:endParaRPr lang="zh-CN" altLang="zh-CN" sz="2400" b="1" dirty="0">
              <a:latin typeface="Trebuchet MS" panose="020B0603020202020204" pitchFamily="34" charset="0"/>
              <a:cs typeface="Times New Roman" panose="02020603050405020304" pitchFamily="18" charset="0"/>
            </a:endParaRPr>
          </a:p>
          <a:p>
            <a:pPr indent="-50800" eaLnBrk="1" hangingPunct="1">
              <a:lnSpc>
                <a:spcPct val="110000"/>
              </a:lnSpc>
              <a:spcBef>
                <a:spcPts val="300"/>
              </a:spcBef>
              <a:buFontTx/>
              <a:buNone/>
            </a:pPr>
            <a:r>
              <a:rPr lang="en-US" altLang="zh-CN" sz="2400" b="1" dirty="0">
                <a:solidFill>
                  <a:srgbClr val="0B61FF"/>
                </a:solidFill>
                <a:latin typeface="Trebuchet MS" panose="020B0603020202020204" pitchFamily="34" charset="0"/>
                <a:cs typeface="Times New Roman" panose="02020603050405020304" pitchFamily="18" charset="0"/>
              </a:rPr>
              <a:t>(1)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zh-CN" sz="2400" b="1" dirty="0">
                <a:latin typeface="Trebuchet MS" panose="020B0603020202020204" pitchFamily="34" charset="0"/>
                <a:cs typeface="Times New Roman" panose="02020603050405020304" pitchFamily="18" charset="0"/>
              </a:rPr>
              <a:t>；</a:t>
            </a:r>
            <a:r>
              <a:rPr lang="en-US" altLang="zh-CN" sz="2400" b="1" dirty="0">
                <a:solidFill>
                  <a:srgbClr val="0B61FF"/>
                </a:solidFill>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zh-CN" sz="2400" b="1" dirty="0">
                <a:latin typeface="Trebuchet MS" panose="020B0603020202020204" pitchFamily="34" charset="0"/>
                <a:cs typeface="Times New Roman" panose="02020603050405020304" pitchFamily="18" charset="0"/>
              </a:rPr>
              <a:t>；</a:t>
            </a:r>
            <a:r>
              <a:rPr lang="en-US" altLang="zh-CN" sz="2400" b="1" dirty="0">
                <a:solidFill>
                  <a:srgbClr val="0B61FF"/>
                </a:solidFill>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P</a:t>
            </a:r>
            <a:r>
              <a:rPr lang="zh-CN" altLang="zh-CN" sz="2400" b="1" dirty="0">
                <a:latin typeface="Trebuchet MS" panose="020B0603020202020204" pitchFamily="34" charset="0"/>
                <a:cs typeface="Times New Roman" panose="02020603050405020304" pitchFamily="18" charset="0"/>
              </a:rPr>
              <a:t>；</a:t>
            </a:r>
          </a:p>
          <a:p>
            <a:pPr marL="622300" indent="-444500" eaLnBrk="1" hangingPunct="1">
              <a:lnSpc>
                <a:spcPct val="110000"/>
              </a:lnSpc>
              <a:buFontTx/>
              <a:buNone/>
            </a:pPr>
            <a:r>
              <a:rPr lang="en-US" altLang="zh-CN" sz="2400" b="1" dirty="0">
                <a:solidFill>
                  <a:srgbClr val="0B61FF"/>
                </a:solidFill>
                <a:latin typeface="Trebuchet MS" panose="020B0603020202020204" pitchFamily="34" charset="0"/>
                <a:cs typeface="Times New Roman" panose="02020603050405020304" pitchFamily="18" charset="0"/>
              </a:rPr>
              <a:t>(4)</a:t>
            </a:r>
            <a:r>
              <a:rPr lang="en-US" altLang="zh-CN" sz="2400" b="1" dirty="0">
                <a:latin typeface="Trebuchet MS" panose="020B0603020202020204" pitchFamily="34" charset="0"/>
                <a:cs typeface="Times New Roman" panose="02020603050405020304" pitchFamily="18" charset="0"/>
              </a:rPr>
              <a:t> dom</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∪ran</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T</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where  dom</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 </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&gt;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ran</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 </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&gt;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cs typeface="Times New Roman" panose="02020603050405020304" pitchFamily="18" charset="0"/>
              </a:rPr>
              <a:t>；</a:t>
            </a:r>
          </a:p>
          <a:p>
            <a:pPr marL="622300" indent="-444500" eaLnBrk="1" hangingPunct="1">
              <a:lnSpc>
                <a:spcPct val="110000"/>
              </a:lnSpc>
              <a:buFontTx/>
              <a:buNone/>
            </a:pPr>
            <a:r>
              <a:rPr lang="en-US" altLang="zh-CN" sz="2400" b="1" dirty="0">
                <a:solidFill>
                  <a:srgbClr val="0B61FF"/>
                </a:solidFill>
                <a:latin typeface="Trebuchet MS" panose="020B0603020202020204" pitchFamily="34" charset="0"/>
                <a:cs typeface="Times New Roman" panose="02020603050405020304" pitchFamily="18" charset="0"/>
              </a:rPr>
              <a:t>(5) </a:t>
            </a:r>
            <a:r>
              <a:rPr lang="en-US" altLang="zh-CN" sz="2400" dirty="0">
                <a:latin typeface="Trebuchet MS" panose="020B0603020202020204" pitchFamily="34" charset="0"/>
              </a:rPr>
              <a:t>There exists a starting place </a:t>
            </a:r>
            <a:r>
              <a:rPr lang="en-US" altLang="zh-CN" sz="2400" b="1" i="1" dirty="0">
                <a:latin typeface="Trebuchet MS" panose="020B0603020202020204" pitchFamily="34" charset="0"/>
                <a:cs typeface="Times New Roman" panose="02020603050405020304" pitchFamily="18" charset="0"/>
              </a:rPr>
              <a:t>i</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such that </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i</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zh-CN"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marL="622300" indent="-444500" eaLnBrk="1" hangingPunct="1">
              <a:lnSpc>
                <a:spcPct val="110000"/>
              </a:lnSpc>
              <a:buFontTx/>
              <a:buNone/>
            </a:pP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i</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j |&lt;j</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i</a:t>
            </a:r>
            <a:r>
              <a:rPr lang="en-US" altLang="zh-CN" sz="2400" b="1" dirty="0">
                <a:latin typeface="Trebuchet MS" panose="020B0603020202020204" pitchFamily="34" charset="0"/>
                <a:cs typeface="Times New Roman" panose="02020603050405020304" pitchFamily="18" charset="0"/>
              </a:rPr>
              <a:t>&gt;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is the </a:t>
            </a:r>
            <a:r>
              <a:rPr lang="en-US" altLang="zh-CN" sz="2400" b="1" dirty="0">
                <a:latin typeface="Trebuchet MS" panose="020B0603020202020204" pitchFamily="34" charset="0"/>
              </a:rPr>
              <a:t>pre-set </a:t>
            </a:r>
            <a:r>
              <a:rPr lang="en-US" altLang="zh-CN" sz="2400" b="1" dirty="0">
                <a:latin typeface="Trebuchet MS" panose="020B0603020202020204" pitchFamily="34" charset="0"/>
                <a:cs typeface="Times New Roman" panose="02020603050405020304" pitchFamily="18" charset="0"/>
              </a:rPr>
              <a:t> of </a:t>
            </a:r>
            <a:r>
              <a:rPr lang="en-US" altLang="zh-CN" sz="2400" b="1" i="1" dirty="0">
                <a:latin typeface="Trebuchet MS" panose="020B0603020202020204" pitchFamily="34" charset="0"/>
                <a:cs typeface="Times New Roman" panose="02020603050405020304" pitchFamily="18" charset="0"/>
              </a:rPr>
              <a:t>i</a:t>
            </a:r>
            <a:r>
              <a:rPr lang="zh-CN" altLang="zh-CN" sz="2400" b="1" dirty="0">
                <a:latin typeface="Trebuchet MS" panose="020B0603020202020204" pitchFamily="34" charset="0"/>
                <a:cs typeface="Times New Roman" panose="02020603050405020304" pitchFamily="18" charset="0"/>
              </a:rPr>
              <a:t>；</a:t>
            </a:r>
          </a:p>
          <a:p>
            <a:pPr indent="-50800" eaLnBrk="1" hangingPunct="1">
              <a:lnSpc>
                <a:spcPct val="110000"/>
              </a:lnSpc>
              <a:buFontTx/>
              <a:buNone/>
            </a:pPr>
            <a:r>
              <a:rPr lang="en-US" altLang="zh-CN" sz="2400" b="1" dirty="0">
                <a:solidFill>
                  <a:srgbClr val="0B61FF"/>
                </a:solidFill>
                <a:latin typeface="Trebuchet MS" panose="020B0603020202020204" pitchFamily="34" charset="0"/>
                <a:cs typeface="Times New Roman" panose="02020603050405020304" pitchFamily="18" charset="0"/>
              </a:rPr>
              <a:t>(6)</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There exists an ending place </a:t>
            </a:r>
            <a:r>
              <a:rPr lang="en-US" altLang="zh-CN" sz="2400" b="1" i="1" dirty="0">
                <a:latin typeface="Trebuchet MS" panose="020B0603020202020204" pitchFamily="34" charset="0"/>
                <a:cs typeface="Times New Roman" panose="02020603050405020304" pitchFamily="18" charset="0"/>
              </a:rPr>
              <a:t>o</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such that </a:t>
            </a:r>
            <a:r>
              <a:rPr lang="en-US" altLang="zh-CN" sz="2400" b="1" i="1" dirty="0">
                <a:latin typeface="Trebuchet MS" panose="020B0603020202020204" pitchFamily="34" charset="0"/>
                <a:cs typeface="Times New Roman" panose="02020603050405020304" pitchFamily="18" charset="0"/>
              </a:rPr>
              <a:t>o</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zh-CN"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indent="-50800" eaLnBrk="1" hangingPunct="1">
              <a:lnSpc>
                <a:spcPct val="110000"/>
              </a:lnSpc>
              <a:buFontTx/>
              <a:buNone/>
            </a:pPr>
            <a:r>
              <a:rPr lang="en-US" altLang="zh-CN" sz="2400" b="1" i="1" dirty="0">
                <a:latin typeface="Trebuchet MS" panose="020B0603020202020204" pitchFamily="34" charset="0"/>
                <a:cs typeface="Times New Roman" panose="02020603050405020304" pitchFamily="18" charset="0"/>
              </a:rPr>
              <a:t>     o</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j |&lt;o</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cs typeface="Times New Roman" panose="02020603050405020304" pitchFamily="18" charset="0"/>
              </a:rPr>
              <a:t>&gt;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is the </a:t>
            </a:r>
            <a:r>
              <a:rPr lang="en-US" altLang="zh-CN" sz="2400" b="1" dirty="0">
                <a:latin typeface="Trebuchet MS" panose="020B0603020202020204" pitchFamily="34" charset="0"/>
              </a:rPr>
              <a:t>post-set</a:t>
            </a:r>
            <a:r>
              <a:rPr lang="en-US" altLang="zh-CN" sz="2400" dirty="0">
                <a:latin typeface="Trebuchet MS" panose="020B0603020202020204" pitchFamily="34" charset="0"/>
              </a:rPr>
              <a:t> of </a:t>
            </a:r>
            <a:r>
              <a:rPr lang="en-US" altLang="zh-CN" sz="2400" b="1" i="1" dirty="0">
                <a:latin typeface="Trebuchet MS" panose="020B0603020202020204" pitchFamily="34" charset="0"/>
                <a:cs typeface="Times New Roman" panose="02020603050405020304" pitchFamily="18" charset="0"/>
              </a:rPr>
              <a:t>o</a:t>
            </a:r>
            <a:r>
              <a:rPr lang="zh-CN" altLang="zh-CN" sz="2400" b="1" dirty="0">
                <a:latin typeface="Trebuchet MS" panose="020B0603020202020204" pitchFamily="34" charset="0"/>
                <a:cs typeface="Times New Roman" panose="02020603050405020304" pitchFamily="18" charset="0"/>
              </a:rPr>
              <a:t>；</a:t>
            </a:r>
          </a:p>
          <a:p>
            <a:pPr indent="-50800" eaLnBrk="1" hangingPunct="1">
              <a:lnSpc>
                <a:spcPct val="110000"/>
              </a:lnSpc>
              <a:buFontTx/>
              <a:buNone/>
            </a:pPr>
            <a:r>
              <a:rPr lang="en-US" altLang="zh-CN" sz="2400" b="1" dirty="0">
                <a:solidFill>
                  <a:srgbClr val="0B61FF"/>
                </a:solidFill>
                <a:latin typeface="Trebuchet MS" panose="020B0603020202020204" pitchFamily="34" charset="0"/>
                <a:cs typeface="Times New Roman" panose="02020603050405020304" pitchFamily="18" charset="0"/>
              </a:rPr>
              <a:t>(7)</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Each node </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T,</a:t>
            </a:r>
            <a:r>
              <a:rPr lang="en-US" altLang="zh-CN" sz="2400" dirty="0">
                <a:latin typeface="Trebuchet MS" panose="020B0603020202020204" pitchFamily="34" charset="0"/>
              </a:rPr>
              <a:t>lies on a path from </a:t>
            </a:r>
            <a:r>
              <a:rPr lang="en-US" altLang="zh-CN" sz="2400" b="1" i="1" dirty="0">
                <a:latin typeface="Trebuchet MS" panose="020B0603020202020204" pitchFamily="34" charset="0"/>
                <a:cs typeface="Times New Roman" panose="02020603050405020304" pitchFamily="18" charset="0"/>
              </a:rPr>
              <a:t>I to o</a:t>
            </a:r>
            <a:r>
              <a:rPr lang="en-US" altLang="zh-CN" sz="2400" b="1" dirty="0">
                <a:latin typeface="Trebuchet MS" panose="020B0603020202020204" pitchFamily="34" charset="0"/>
                <a:cs typeface="Times New Roman" panose="02020603050405020304" pitchFamily="18" charset="0"/>
              </a:rPr>
              <a:t>.</a:t>
            </a:r>
            <a:endParaRPr lang="zh-CN" altLang="en-US"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5052571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8">
                                            <p:txEl>
                                              <p:pRg st="6" end="6"/>
                                            </p:txEl>
                                          </p:spTgt>
                                        </p:tgtEl>
                                        <p:attrNameLst>
                                          <p:attrName>style.visibility</p:attrName>
                                        </p:attrNameLst>
                                      </p:cBhvr>
                                      <p:to>
                                        <p:strVal val="visible"/>
                                      </p:to>
                                    </p:set>
                                    <p:animEffect transition="in" filter="fade">
                                      <p:cBhvr>
                                        <p:cTn id="38" dur="1000"/>
                                        <p:tgtEl>
                                          <p:spTgt spid="8">
                                            <p:txEl>
                                              <p:pRg st="6" end="6"/>
                                            </p:txEl>
                                          </p:spTgt>
                                        </p:tgtEl>
                                      </p:cBhvr>
                                    </p:animEffect>
                                    <p:anim calcmode="lin" valueType="num">
                                      <p:cBhvr>
                                        <p:cTn id="39"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8">
                                            <p:txEl>
                                              <p:pRg st="7" end="7"/>
                                            </p:txEl>
                                          </p:spTgt>
                                        </p:tgtEl>
                                        <p:attrNameLst>
                                          <p:attrName>style.visibility</p:attrName>
                                        </p:attrNameLst>
                                      </p:cBhvr>
                                      <p:to>
                                        <p:strVal val="visible"/>
                                      </p:to>
                                    </p:set>
                                    <p:animEffect transition="in" filter="fade">
                                      <p:cBhvr>
                                        <p:cTn id="45" dur="1000"/>
                                        <p:tgtEl>
                                          <p:spTgt spid="8">
                                            <p:txEl>
                                              <p:pRg st="7" end="7"/>
                                            </p:txEl>
                                          </p:spTgt>
                                        </p:tgtEl>
                                      </p:cBhvr>
                                    </p:animEffect>
                                    <p:anim calcmode="lin" valueType="num">
                                      <p:cBhvr>
                                        <p:cTn id="46"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5.3.4 Business Process Modeling and Its Tools (Languages)</a:t>
            </a:r>
          </a:p>
          <a:p>
            <a:r>
              <a:rPr lang="en-US" altLang="zh-CN"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8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8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WF-net Transition </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en-US" altLang="zh-CN"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65441" y="841376"/>
            <a:ext cx="10258012"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FontTx/>
              <a:buNone/>
              <a:defRPr/>
            </a:pPr>
            <a:endParaRPr lang="en-US" altLang="zh-CN" sz="2800" b="1" dirty="0"/>
          </a:p>
          <a:p>
            <a:pPr marL="0" indent="0" eaLnBrk="1" hangingPunct="1">
              <a:buFontTx/>
              <a:buNone/>
              <a:defRPr/>
            </a:pPr>
            <a:endParaRPr lang="en-US" altLang="zh-CN" b="1" dirty="0"/>
          </a:p>
          <a:p>
            <a:pPr marL="144000" eaLnBrk="1" hangingPunct="1">
              <a:spcBef>
                <a:spcPts val="1200"/>
              </a:spcBef>
              <a:buFontTx/>
              <a:buNone/>
              <a:defRPr/>
            </a:pPr>
            <a:r>
              <a:rPr lang="en-US" altLang="zh-CN" sz="2800" b="1" i="1" dirty="0"/>
              <a:t>   </a:t>
            </a:r>
            <a:endParaRPr lang="zh-CN" altLang="zh-CN" sz="2800" b="1" dirty="0"/>
          </a:p>
        </p:txBody>
      </p:sp>
      <p:sp>
        <p:nvSpPr>
          <p:cNvPr id="84" name="矩形 83">
            <a:extLst>
              <a:ext uri="{FF2B5EF4-FFF2-40B4-BE49-F238E27FC236}">
                <a16:creationId xmlns:a16="http://schemas.microsoft.com/office/drawing/2014/main" id="{A4D886E5-3991-443C-85D0-A705344D38E3}"/>
              </a:ext>
            </a:extLst>
          </p:cNvPr>
          <p:cNvSpPr/>
          <p:nvPr/>
        </p:nvSpPr>
        <p:spPr>
          <a:xfrm>
            <a:off x="682100" y="4245768"/>
            <a:ext cx="5528200" cy="1824987"/>
          </a:xfrm>
          <a:prstGeom prst="rect">
            <a:avLst/>
          </a:prstGeom>
        </p:spPr>
        <p:txBody>
          <a:bodyPr wrap="square">
            <a:spAutoFit/>
          </a:bodyPr>
          <a:lstStyle/>
          <a:p>
            <a:pPr>
              <a:lnSpc>
                <a:spcPct val="120000"/>
              </a:lnSpc>
              <a:defRPr/>
            </a:pPr>
            <a:r>
              <a:rPr lang="en-US" altLang="zh-CN" sz="2400" dirty="0">
                <a:latin typeface="Trebuchet MS" panose="020B0603020202020204" pitchFamily="34" charset="0"/>
              </a:rPr>
              <a:t>Place Set </a:t>
            </a:r>
            <a:r>
              <a:rPr lang="en-US" altLang="zh-CN" sz="2400" b="1" i="1" dirty="0">
                <a:solidFill>
                  <a:srgbClr val="FF0000"/>
                </a:solidFill>
                <a:latin typeface="Trebuchet MS" panose="020B0603020202020204" pitchFamily="34" charset="0"/>
                <a:cs typeface="Times New Roman" panose="02020603050405020304" pitchFamily="18" charset="0"/>
              </a:rPr>
              <a:t>P</a:t>
            </a:r>
            <a:r>
              <a:rPr lang="zh-CN" altLang="en-US" sz="2400" b="1" dirty="0">
                <a:latin typeface="Trebuchet MS" panose="020B0603020202020204" pitchFamily="34" charset="0"/>
                <a:cs typeface="Times New Roman" panose="02020603050405020304" pitchFamily="18" charset="0"/>
              </a:rPr>
              <a:t>：</a:t>
            </a:r>
            <a:endParaRPr lang="en-US" altLang="zh-CN" sz="2400" b="1" dirty="0">
              <a:solidFill>
                <a:schemeClr val="tx1"/>
              </a:solidFill>
              <a:latin typeface="Trebuchet MS" panose="020B0603020202020204" pitchFamily="34" charset="0"/>
            </a:endParaRPr>
          </a:p>
          <a:p>
            <a:pPr>
              <a:lnSpc>
                <a:spcPct val="120000"/>
              </a:lnSpc>
              <a:defRPr/>
            </a:pPr>
            <a:r>
              <a:rPr lang="en-US" altLang="zh-CN" sz="2400" b="1" i="1" dirty="0">
                <a:solidFill>
                  <a:schemeClr val="tx1"/>
                </a:solidFill>
                <a:latin typeface="Trebuchet MS" panose="020B0603020202020204" pitchFamily="34" charset="0"/>
                <a:cs typeface="Times New Roman" panose="02020603050405020304" pitchFamily="18" charset="0"/>
              </a:rPr>
              <a:t>i</a:t>
            </a:r>
            <a:r>
              <a:rPr lang="zh-CN" altLang="zh-CN" sz="2400" b="1" dirty="0">
                <a:solidFill>
                  <a:schemeClr val="tx1"/>
                </a:solidFill>
                <a:latin typeface="Trebuchet MS" panose="020B0603020202020204" pitchFamily="34" charset="0"/>
              </a:rPr>
              <a:t>：</a:t>
            </a:r>
            <a:r>
              <a:rPr lang="en-US" altLang="zh-CN" sz="2400" dirty="0">
                <a:latin typeface="Trebuchet MS" panose="020B0603020202020204" pitchFamily="34" charset="0"/>
              </a:rPr>
              <a:t> Start </a:t>
            </a:r>
            <a:r>
              <a:rPr lang="zh-CN" altLang="zh-CN" sz="2400" b="1" dirty="0">
                <a:solidFill>
                  <a:schemeClr val="tx1"/>
                </a:solidFill>
                <a:latin typeface="Trebuchet MS" panose="020B0603020202020204" pitchFamily="34" charset="0"/>
              </a:rPr>
              <a:t>；</a:t>
            </a:r>
            <a:endParaRPr lang="en-US" altLang="zh-CN" sz="2400" b="1" dirty="0">
              <a:solidFill>
                <a:schemeClr val="tx1"/>
              </a:solidFill>
              <a:latin typeface="Trebuchet MS" panose="020B0603020202020204" pitchFamily="34" charset="0"/>
            </a:endParaRPr>
          </a:p>
          <a:p>
            <a:pPr>
              <a:lnSpc>
                <a:spcPct val="120000"/>
              </a:lnSpc>
              <a:defRPr/>
            </a:pPr>
            <a:r>
              <a:rPr lang="en-US" altLang="zh-CN" sz="2400" b="1" i="1" dirty="0">
                <a:solidFill>
                  <a:schemeClr val="tx1"/>
                </a:solidFill>
                <a:latin typeface="Trebuchet MS" panose="020B0603020202020204" pitchFamily="34" charset="0"/>
                <a:cs typeface="Times New Roman" panose="02020603050405020304" pitchFamily="18" charset="0"/>
              </a:rPr>
              <a:t>o</a:t>
            </a:r>
            <a:r>
              <a:rPr lang="zh-CN" altLang="zh-CN" sz="2400" b="1" dirty="0">
                <a:solidFill>
                  <a:schemeClr val="tx1"/>
                </a:solidFill>
                <a:latin typeface="Trebuchet MS" panose="020B0603020202020204" pitchFamily="34" charset="0"/>
              </a:rPr>
              <a:t>：</a:t>
            </a:r>
            <a:r>
              <a:rPr lang="en-US" altLang="zh-CN" sz="2400" dirty="0">
                <a:latin typeface="Trebuchet MS" panose="020B0603020202020204" pitchFamily="34" charset="0"/>
              </a:rPr>
              <a:t>End</a:t>
            </a:r>
            <a:endParaRPr lang="zh-CN" altLang="zh-CN" sz="2400" b="1" dirty="0">
              <a:solidFill>
                <a:schemeClr val="tx1"/>
              </a:solidFill>
              <a:latin typeface="Trebuchet MS" panose="020B0603020202020204" pitchFamily="34" charset="0"/>
            </a:endParaRPr>
          </a:p>
          <a:p>
            <a:pPr>
              <a:lnSpc>
                <a:spcPct val="120000"/>
              </a:lnSpc>
              <a:defRPr/>
            </a:pPr>
            <a:r>
              <a:rPr lang="en-US" altLang="zh-CN" sz="2400" b="1" i="1" dirty="0">
                <a:solidFill>
                  <a:schemeClr val="tx1"/>
                </a:solidFill>
                <a:latin typeface="Trebuchet MS" panose="020B0603020202020204" pitchFamily="34" charset="0"/>
                <a:cs typeface="Times New Roman" panose="02020603050405020304" pitchFamily="18" charset="0"/>
              </a:rPr>
              <a:t>p</a:t>
            </a:r>
            <a:r>
              <a:rPr lang="en-US" altLang="zh-CN" sz="2400" b="1" baseline="-25000" dirty="0">
                <a:solidFill>
                  <a:schemeClr val="tx1"/>
                </a:solidFill>
                <a:latin typeface="Trebuchet MS" panose="020B0603020202020204" pitchFamily="34" charset="0"/>
                <a:cs typeface="Times New Roman" panose="02020603050405020304" pitchFamily="18" charset="0"/>
              </a:rPr>
              <a:t>1</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p</a:t>
            </a:r>
            <a:r>
              <a:rPr lang="en-US" altLang="zh-CN" sz="2400" b="1" baseline="-25000" dirty="0">
                <a:solidFill>
                  <a:schemeClr val="tx1"/>
                </a:solidFill>
                <a:latin typeface="Trebuchet MS" panose="020B0603020202020204" pitchFamily="34" charset="0"/>
                <a:cs typeface="Times New Roman" panose="02020603050405020304" pitchFamily="18" charset="0"/>
              </a:rPr>
              <a:t>2</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p</a:t>
            </a:r>
            <a:r>
              <a:rPr lang="en-US" altLang="zh-CN" sz="2400" b="1" baseline="-25000" dirty="0">
                <a:solidFill>
                  <a:schemeClr val="tx1"/>
                </a:solidFill>
                <a:latin typeface="Trebuchet MS" panose="020B0603020202020204" pitchFamily="34" charset="0"/>
                <a:cs typeface="Times New Roman" panose="02020603050405020304" pitchFamily="18" charset="0"/>
              </a:rPr>
              <a:t>3</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p</a:t>
            </a:r>
            <a:r>
              <a:rPr lang="en-US" altLang="zh-CN" sz="2400" b="1" baseline="-25000" dirty="0">
                <a:solidFill>
                  <a:schemeClr val="tx1"/>
                </a:solidFill>
                <a:latin typeface="Trebuchet MS" panose="020B0603020202020204" pitchFamily="34" charset="0"/>
                <a:cs typeface="Times New Roman" panose="02020603050405020304" pitchFamily="18" charset="0"/>
              </a:rPr>
              <a:t>7 </a:t>
            </a:r>
            <a:r>
              <a:rPr lang="en-US" altLang="zh-CN" sz="2400" b="1" dirty="0">
                <a:solidFill>
                  <a:schemeClr val="tx1"/>
                </a:solidFill>
                <a:latin typeface="Trebuchet MS" panose="020B0603020202020204" pitchFamily="34" charset="0"/>
              </a:rPr>
              <a:t>:</a:t>
            </a:r>
            <a:r>
              <a:rPr lang="en-US" altLang="zh-CN" sz="2400" dirty="0">
                <a:latin typeface="Trebuchet MS" panose="020B0603020202020204" pitchFamily="34" charset="0"/>
              </a:rPr>
              <a:t> Intermediate places</a:t>
            </a:r>
            <a:endParaRPr lang="zh-CN" altLang="zh-CN" sz="2400" b="1" dirty="0">
              <a:solidFill>
                <a:schemeClr val="tx1"/>
              </a:solidFill>
              <a:latin typeface="Trebuchet MS" panose="020B0603020202020204" pitchFamily="34" charset="0"/>
            </a:endParaRPr>
          </a:p>
        </p:txBody>
      </p:sp>
      <p:sp>
        <p:nvSpPr>
          <p:cNvPr id="85" name="矩形 84">
            <a:extLst>
              <a:ext uri="{FF2B5EF4-FFF2-40B4-BE49-F238E27FC236}">
                <a16:creationId xmlns:a16="http://schemas.microsoft.com/office/drawing/2014/main" id="{F4CAA1E8-C3AE-4642-B4FE-6E1D90EDF69E}"/>
              </a:ext>
            </a:extLst>
          </p:cNvPr>
          <p:cNvSpPr/>
          <p:nvPr/>
        </p:nvSpPr>
        <p:spPr>
          <a:xfrm>
            <a:off x="7398393" y="812186"/>
            <a:ext cx="4308401" cy="4356578"/>
          </a:xfrm>
          <a:prstGeom prst="rect">
            <a:avLst/>
          </a:prstGeom>
        </p:spPr>
        <p:txBody>
          <a:bodyPr wrap="square">
            <a:noAutofit/>
          </a:bodyPr>
          <a:lstStyle/>
          <a:p>
            <a:pPr>
              <a:lnSpc>
                <a:spcPct val="120000"/>
              </a:lnSpc>
            </a:pPr>
            <a:r>
              <a:rPr lang="en-US" altLang="zh-CN" sz="2400" dirty="0">
                <a:latin typeface="Trebuchet MS" panose="020B0603020202020204" pitchFamily="34" charset="0"/>
              </a:rPr>
              <a:t>Meaning of Transition Set </a:t>
            </a:r>
            <a:r>
              <a:rPr lang="en-US" altLang="zh-CN" sz="2400" b="1" i="1" dirty="0">
                <a:solidFill>
                  <a:srgbClr val="FF0000"/>
                </a:solidFill>
                <a:latin typeface="Trebuchet MS" panose="020B0603020202020204" pitchFamily="34" charset="0"/>
              </a:rPr>
              <a:t>T</a:t>
            </a:r>
            <a:r>
              <a:rPr lang="zh-CN" altLang="en-US" sz="2400" b="1" dirty="0">
                <a:latin typeface="Trebuchet MS" panose="020B0603020202020204" pitchFamily="34" charset="0"/>
              </a:rPr>
              <a:t>：</a:t>
            </a:r>
            <a:endParaRPr lang="en-US" altLang="zh-CN" sz="2400" b="1" i="1" dirty="0">
              <a:latin typeface="Trebuchet MS" panose="020B0603020202020204" pitchFamily="34" charset="0"/>
              <a:cs typeface="Times New Roman" panose="02020603050405020304" pitchFamily="18" charset="0"/>
            </a:endParaRPr>
          </a:p>
          <a:p>
            <a:pPr>
              <a:lnSpc>
                <a:spcPct val="120000"/>
              </a:lnSpc>
            </a:pPr>
            <a:r>
              <a:rPr lang="en-US" altLang="zh-CN" sz="2400" b="1" i="1" dirty="0">
                <a:latin typeface="Trebuchet MS" panose="020B0603020202020204" pitchFamily="34" charset="0"/>
                <a:cs typeface="Times New Roman" panose="02020603050405020304" pitchFamily="18" charset="0"/>
              </a:rPr>
              <a:t>T</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Register</a:t>
            </a:r>
            <a:endParaRPr lang="en-US" altLang="zh-CN" sz="2400" b="1" dirty="0">
              <a:latin typeface="Trebuchet MS" panose="020B0603020202020204" pitchFamily="34" charset="0"/>
              <a:cs typeface="Times New Roman" panose="02020603050405020304" pitchFamily="18" charset="0"/>
            </a:endParaRPr>
          </a:p>
          <a:p>
            <a:pPr>
              <a:lnSpc>
                <a:spcPct val="120000"/>
              </a:lnSpc>
            </a:pPr>
            <a:r>
              <a:rPr lang="en-US" altLang="zh-CN" sz="2400" b="1" i="1" dirty="0">
                <a:latin typeface="Trebuchet MS" panose="020B0603020202020204" pitchFamily="34" charset="0"/>
                <a:cs typeface="Times New Roman" panose="02020603050405020304" pitchFamily="18" charset="0"/>
              </a:rPr>
              <a:t>T</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Send out survey</a:t>
            </a:r>
            <a:endParaRPr lang="en-US" altLang="zh-CN" sz="2400" b="1" dirty="0">
              <a:latin typeface="Trebuchet MS" panose="020B0603020202020204" pitchFamily="34" charset="0"/>
              <a:cs typeface="Times New Roman" panose="02020603050405020304" pitchFamily="18" charset="0"/>
            </a:endParaRPr>
          </a:p>
          <a:p>
            <a:pPr>
              <a:lnSpc>
                <a:spcPct val="120000"/>
              </a:lnSpc>
            </a:pPr>
            <a:r>
              <a:rPr lang="en-US" altLang="zh-CN" sz="2400" b="1" i="1" dirty="0">
                <a:latin typeface="Trebuchet MS" panose="020B0603020202020204" pitchFamily="34" charset="0"/>
                <a:cs typeface="Times New Roman" panose="02020603050405020304" pitchFamily="18" charset="0"/>
              </a:rPr>
              <a:t>T</a:t>
            </a:r>
            <a:r>
              <a:rPr lang="en-US" altLang="zh-CN" sz="2400" b="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Process survey </a:t>
            </a:r>
            <a:endParaRPr lang="en-US" altLang="zh-CN" sz="2400" b="1" dirty="0">
              <a:latin typeface="Trebuchet MS" panose="020B0603020202020204" pitchFamily="34" charset="0"/>
              <a:cs typeface="Times New Roman" panose="02020603050405020304" pitchFamily="18" charset="0"/>
            </a:endParaRPr>
          </a:p>
          <a:p>
            <a:pPr>
              <a:lnSpc>
                <a:spcPct val="120000"/>
              </a:lnSpc>
            </a:pPr>
            <a:r>
              <a:rPr lang="en-US" altLang="zh-CN" sz="2400" b="1" i="1" dirty="0">
                <a:latin typeface="Trebuchet MS" panose="020B0603020202020204" pitchFamily="34" charset="0"/>
                <a:cs typeface="Times New Roman" panose="02020603050405020304" pitchFamily="18" charset="0"/>
              </a:rPr>
              <a:t>T</a:t>
            </a:r>
            <a:r>
              <a:rPr lang="en-US" altLang="zh-CN" sz="2400" b="1" baseline="-25000" dirty="0">
                <a:latin typeface="Trebuchet MS" panose="020B0603020202020204" pitchFamily="34" charset="0"/>
                <a:cs typeface="Times New Roman" panose="02020603050405020304" pitchFamily="18" charset="0"/>
              </a:rPr>
              <a:t>4</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Handle expiration </a:t>
            </a:r>
            <a:endParaRPr lang="en-US" altLang="zh-CN" sz="2400" b="1" dirty="0">
              <a:latin typeface="Trebuchet MS" panose="020B0603020202020204" pitchFamily="34" charset="0"/>
              <a:cs typeface="Times New Roman" panose="02020603050405020304" pitchFamily="18" charset="0"/>
            </a:endParaRPr>
          </a:p>
          <a:p>
            <a:pPr>
              <a:lnSpc>
                <a:spcPct val="120000"/>
              </a:lnSpc>
            </a:pPr>
            <a:r>
              <a:rPr lang="en-US" altLang="zh-CN" sz="2400" b="1" i="1" dirty="0">
                <a:latin typeface="Trebuchet MS" panose="020B0603020202020204" pitchFamily="34" charset="0"/>
                <a:cs typeface="Times New Roman" panose="02020603050405020304" pitchFamily="18" charset="0"/>
              </a:rPr>
              <a:t>T</a:t>
            </a:r>
            <a:r>
              <a:rPr lang="en-US" altLang="zh-CN" sz="2400" b="1" baseline="-25000" dirty="0">
                <a:latin typeface="Trebuchet MS" panose="020B0603020202020204" pitchFamily="34" charset="0"/>
                <a:cs typeface="Times New Roman" panose="02020603050405020304" pitchFamily="18" charset="0"/>
              </a:rPr>
              <a:t>5</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Evaluate complaints</a:t>
            </a:r>
          </a:p>
          <a:p>
            <a:pPr>
              <a:lnSpc>
                <a:spcPct val="120000"/>
              </a:lnSpc>
            </a:pPr>
            <a:r>
              <a:rPr lang="en-US" altLang="zh-CN" sz="2400" b="1" i="1" dirty="0">
                <a:latin typeface="Trebuchet MS" panose="020B0603020202020204" pitchFamily="34" charset="0"/>
                <a:cs typeface="Times New Roman" panose="02020603050405020304" pitchFamily="18" charset="0"/>
              </a:rPr>
              <a:t>T</a:t>
            </a:r>
            <a:r>
              <a:rPr lang="en-US" altLang="zh-CN" sz="2400" b="1" baseline="-25000" dirty="0">
                <a:latin typeface="Trebuchet MS" panose="020B0603020202020204" pitchFamily="34" charset="0"/>
                <a:cs typeface="Times New Roman" panose="02020603050405020304" pitchFamily="18" charset="0"/>
              </a:rPr>
              <a:t>6</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Handle complaints</a:t>
            </a:r>
          </a:p>
          <a:p>
            <a:pPr>
              <a:lnSpc>
                <a:spcPct val="120000"/>
              </a:lnSpc>
            </a:pPr>
            <a:r>
              <a:rPr lang="en-US" altLang="zh-CN" sz="2400" b="1" i="1" dirty="0">
                <a:latin typeface="Trebuchet MS" panose="020B0603020202020204" pitchFamily="34" charset="0"/>
                <a:cs typeface="Times New Roman" panose="02020603050405020304" pitchFamily="18" charset="0"/>
              </a:rPr>
              <a:t>T</a:t>
            </a:r>
            <a:r>
              <a:rPr lang="en-US" altLang="zh-CN" sz="2400" b="1" baseline="-25000" dirty="0">
                <a:latin typeface="Trebuchet MS" panose="020B0603020202020204" pitchFamily="34" charset="0"/>
                <a:cs typeface="Times New Roman" panose="02020603050405020304" pitchFamily="18" charset="0"/>
              </a:rPr>
              <a:t>7</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Check processing results</a:t>
            </a:r>
          </a:p>
          <a:p>
            <a:pPr>
              <a:lnSpc>
                <a:spcPct val="120000"/>
              </a:lnSpc>
            </a:pPr>
            <a:r>
              <a:rPr lang="en-US" altLang="zh-CN" sz="2400" b="1" i="1" dirty="0">
                <a:latin typeface="Trebuchet MS" panose="020B0603020202020204" pitchFamily="34" charset="0"/>
                <a:cs typeface="Times New Roman" panose="02020603050405020304" pitchFamily="18" charset="0"/>
              </a:rPr>
              <a:t>T</a:t>
            </a:r>
            <a:r>
              <a:rPr lang="en-US" altLang="zh-CN" sz="2400" b="1" baseline="-25000" dirty="0">
                <a:latin typeface="Trebuchet MS" panose="020B0603020202020204" pitchFamily="34" charset="0"/>
                <a:cs typeface="Times New Roman" panose="02020603050405020304" pitchFamily="18" charset="0"/>
              </a:rPr>
              <a:t>8</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Archive</a:t>
            </a:r>
            <a:endParaRPr lang="zh-CN" altLang="zh-CN" sz="2400" b="1" dirty="0">
              <a:latin typeface="Trebuchet MS" panose="020B0603020202020204" pitchFamily="34" charset="0"/>
              <a:cs typeface="Times New Roman" panose="02020603050405020304" pitchFamily="18" charset="0"/>
            </a:endParaRPr>
          </a:p>
        </p:txBody>
      </p:sp>
      <p:pic>
        <p:nvPicPr>
          <p:cNvPr id="86" name="Picture 2" descr="4T14">
            <a:extLst>
              <a:ext uri="{FF2B5EF4-FFF2-40B4-BE49-F238E27FC236}">
                <a16:creationId xmlns:a16="http://schemas.microsoft.com/office/drawing/2014/main" id="{C79B9DF4-ECEB-4150-88AD-A3522D254CD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15715" r="15710"/>
          <a:stretch>
            <a:fillRect/>
          </a:stretch>
        </p:blipFill>
        <p:spPr bwMode="auto">
          <a:xfrm>
            <a:off x="824940" y="806950"/>
            <a:ext cx="6635750"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3650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1000"/>
                                        <p:tgtEl>
                                          <p:spTgt spid="84"/>
                                        </p:tgtEl>
                                      </p:cBhvr>
                                    </p:animEffect>
                                    <p:anim calcmode="lin" valueType="num">
                                      <p:cBhvr>
                                        <p:cTn id="8" dur="1000" fill="hold"/>
                                        <p:tgtEl>
                                          <p:spTgt spid="84"/>
                                        </p:tgtEl>
                                        <p:attrNameLst>
                                          <p:attrName>ppt_x</p:attrName>
                                        </p:attrNameLst>
                                      </p:cBhvr>
                                      <p:tavLst>
                                        <p:tav tm="0">
                                          <p:val>
                                            <p:strVal val="#ppt_x"/>
                                          </p:val>
                                        </p:tav>
                                        <p:tav tm="100000">
                                          <p:val>
                                            <p:strVal val="#ppt_x"/>
                                          </p:val>
                                        </p:tav>
                                      </p:tavLst>
                                    </p:anim>
                                    <p:anim calcmode="lin" valueType="num">
                                      <p:cBhvr>
                                        <p:cTn id="9" dur="1000" fill="hold"/>
                                        <p:tgtEl>
                                          <p:spTgt spid="8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5"/>
                                        </p:tgtEl>
                                        <p:attrNameLst>
                                          <p:attrName>style.visibility</p:attrName>
                                        </p:attrNameLst>
                                      </p:cBhvr>
                                      <p:to>
                                        <p:strVal val="visible"/>
                                      </p:to>
                                    </p:set>
                                    <p:animEffect transition="in" filter="fade">
                                      <p:cBhvr>
                                        <p:cTn id="14" dur="1000"/>
                                        <p:tgtEl>
                                          <p:spTgt spid="85"/>
                                        </p:tgtEl>
                                      </p:cBhvr>
                                    </p:animEffect>
                                    <p:anim calcmode="lin" valueType="num">
                                      <p:cBhvr>
                                        <p:cTn id="15" dur="1000" fill="hold"/>
                                        <p:tgtEl>
                                          <p:spTgt spid="85"/>
                                        </p:tgtEl>
                                        <p:attrNameLst>
                                          <p:attrName>ppt_x</p:attrName>
                                        </p:attrNameLst>
                                      </p:cBhvr>
                                      <p:tavLst>
                                        <p:tav tm="0">
                                          <p:val>
                                            <p:strVal val="#ppt_x"/>
                                          </p:val>
                                        </p:tav>
                                        <p:tav tm="100000">
                                          <p:val>
                                            <p:strVal val="#ppt_x"/>
                                          </p:val>
                                        </p:tav>
                                      </p:tavLst>
                                    </p:anim>
                                    <p:anim calcmode="lin" valueType="num">
                                      <p:cBhvr>
                                        <p:cTn id="16" dur="1000" fill="hold"/>
                                        <p:tgtEl>
                                          <p:spTgt spid="8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5</a:t>
            </a:r>
            <a:r>
              <a:rPr lang="zh-CN" altLang="en-US" sz="2400" b="1" dirty="0">
                <a:latin typeface="Trebuchet MS" panose="020B0603020202020204" pitchFamily="34" charset="0"/>
              </a:rPr>
              <a:t>：</a:t>
            </a:r>
            <a:r>
              <a:rPr lang="en-US" altLang="zh-CN" sz="2400" b="1" dirty="0">
                <a:latin typeface="Trebuchet MS" panose="020B0603020202020204" pitchFamily="34" charset="0"/>
              </a:rPr>
              <a:t>Function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1377146707"/>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13242</TotalTime>
  <Words>15153</Words>
  <Application>Microsoft Office PowerPoint</Application>
  <PresentationFormat>宽屏</PresentationFormat>
  <Paragraphs>1138</Paragraphs>
  <Slides>68</Slides>
  <Notes>68</Notes>
  <HiddenSlides>7</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68</vt:i4>
      </vt:variant>
    </vt:vector>
  </HeadingPairs>
  <TitlesOfParts>
    <vt:vector size="85" baseType="lpstr">
      <vt:lpstr>Arial Unicode MS</vt:lpstr>
      <vt:lpstr>KaTeX_Math</vt:lpstr>
      <vt:lpstr>等线</vt:lpstr>
      <vt:lpstr>华文行楷</vt:lpstr>
      <vt:lpstr>楷体_GB2312</vt:lpstr>
      <vt:lpstr>宋体</vt:lpstr>
      <vt:lpstr>Arial</vt:lpstr>
      <vt:lpstr>Calibri</vt:lpstr>
      <vt:lpstr>Calibri Light</vt:lpstr>
      <vt:lpstr>Cambria Math</vt:lpstr>
      <vt:lpstr>Lucida Sans Unicode</vt:lpstr>
      <vt:lpstr>Segoe UI</vt:lpstr>
      <vt:lpstr>Symbol</vt:lpstr>
      <vt:lpstr>Times New Roman</vt:lpstr>
      <vt:lpstr>Trebuchet MS</vt:lpstr>
      <vt:lpstr>Wingdings</vt:lpstr>
      <vt:lpstr>Office 主题</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dc:title>
  <dc:creator>..</dc:creator>
  <cp:lastModifiedBy>lenovo</cp:lastModifiedBy>
  <cp:revision>1001</cp:revision>
  <dcterms:created xsi:type="dcterms:W3CDTF">2017-07-24T02:14:00Z</dcterms:created>
  <dcterms:modified xsi:type="dcterms:W3CDTF">2025-04-16T15:51:03Z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73C6946277D1426C8BB6322F8B832BA4</vt:lpwstr>
  </property>
</Properties>
</file>