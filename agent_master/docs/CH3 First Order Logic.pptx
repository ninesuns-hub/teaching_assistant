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vsdx" ContentType="application/vnd.ms-visio.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4"/>
  </p:notesMasterIdLst>
  <p:sldIdLst>
    <p:sldId id="615" r:id="rId2"/>
    <p:sldId id="265" r:id="rId3"/>
    <p:sldId id="543" r:id="rId4"/>
    <p:sldId id="545" r:id="rId5"/>
    <p:sldId id="618" r:id="rId6"/>
    <p:sldId id="620" r:id="rId7"/>
    <p:sldId id="595" r:id="rId8"/>
    <p:sldId id="546" r:id="rId9"/>
    <p:sldId id="547" r:id="rId10"/>
    <p:sldId id="591" r:id="rId11"/>
    <p:sldId id="549" r:id="rId12"/>
    <p:sldId id="550" r:id="rId13"/>
    <p:sldId id="593" r:id="rId14"/>
    <p:sldId id="551" r:id="rId15"/>
    <p:sldId id="594" r:id="rId16"/>
    <p:sldId id="552" r:id="rId17"/>
    <p:sldId id="553" r:id="rId18"/>
    <p:sldId id="554" r:id="rId19"/>
    <p:sldId id="596" r:id="rId20"/>
    <p:sldId id="555" r:id="rId21"/>
    <p:sldId id="556" r:id="rId22"/>
    <p:sldId id="557" r:id="rId23"/>
    <p:sldId id="558" r:id="rId24"/>
    <p:sldId id="559" r:id="rId25"/>
    <p:sldId id="582" r:id="rId26"/>
    <p:sldId id="560" r:id="rId27"/>
    <p:sldId id="562" r:id="rId28"/>
    <p:sldId id="564" r:id="rId29"/>
    <p:sldId id="565" r:id="rId30"/>
    <p:sldId id="598" r:id="rId31"/>
    <p:sldId id="599" r:id="rId32"/>
    <p:sldId id="504" r:id="rId33"/>
    <p:sldId id="616" r:id="rId34"/>
    <p:sldId id="600" r:id="rId35"/>
    <p:sldId id="490" r:id="rId36"/>
    <p:sldId id="570" r:id="rId37"/>
    <p:sldId id="603" r:id="rId38"/>
    <p:sldId id="605" r:id="rId39"/>
    <p:sldId id="606" r:id="rId40"/>
    <p:sldId id="607" r:id="rId41"/>
    <p:sldId id="587" r:id="rId42"/>
    <p:sldId id="588" r:id="rId43"/>
    <p:sldId id="527" r:id="rId44"/>
    <p:sldId id="609" r:id="rId45"/>
    <p:sldId id="571" r:id="rId46"/>
    <p:sldId id="572" r:id="rId47"/>
    <p:sldId id="573" r:id="rId48"/>
    <p:sldId id="611" r:id="rId49"/>
    <p:sldId id="612" r:id="rId50"/>
    <p:sldId id="574" r:id="rId51"/>
    <p:sldId id="613" r:id="rId52"/>
    <p:sldId id="614" r:id="rId53"/>
  </p:sldIdLst>
  <p:sldSz cx="12192000" cy="6858000"/>
  <p:notesSz cx="7104063" cy="10234613"/>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32">
          <p15:clr>
            <a:srgbClr val="A4A3A4"/>
          </p15:clr>
        </p15:guide>
        <p15:guide id="2" pos="379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B61FF"/>
    <a:srgbClr val="FBE5D6"/>
    <a:srgbClr val="BDD7EE"/>
    <a:srgbClr val="DEDAF8"/>
    <a:srgbClr val="CFA57C"/>
    <a:srgbClr val="002F7C"/>
    <a:srgbClr val="104AA8"/>
    <a:srgbClr val="0C3EAC"/>
    <a:srgbClr val="3D557A"/>
    <a:srgbClr val="45566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401" autoAdjust="0"/>
    <p:restoredTop sz="71481" autoAdjust="0"/>
  </p:normalViewPr>
  <p:slideViewPr>
    <p:cSldViewPr snapToGrid="0" showGuides="1">
      <p:cViewPr varScale="1">
        <p:scale>
          <a:sx n="75" d="100"/>
          <a:sy n="75" d="100"/>
        </p:scale>
        <p:origin x="876" y="48"/>
      </p:cViewPr>
      <p:guideLst>
        <p:guide orient="horz" pos="2032"/>
        <p:guide pos="379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7.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873E485D-0A46-47F7-A37C-0200B173D2B8}" type="datetimeFigureOut">
              <a:rPr lang="zh-CN" altLang="en-US" smtClean="0"/>
              <a:t>2025/3/25</a:t>
            </a:fld>
            <a:endParaRPr lang="zh-CN" altLang="en-US"/>
          </a:p>
        </p:txBody>
      </p:sp>
      <p:sp>
        <p:nvSpPr>
          <p:cNvPr id="4" name="幻灯片图像占位符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CAFE74B6-F93C-4D90-BE1A-7EFEDB35C0D4}"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A7EA511-84E0-4AE0-9842-AB0E10994BF1}"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1611313" eaLnBrk="1" hangingPunct="1">
              <a:spcBef>
                <a:spcPct val="60000"/>
              </a:spcBef>
              <a:buNone/>
            </a:pPr>
            <a:r>
              <a:rPr lang="zh-CN" altLang="en-US" b="1" dirty="0">
                <a:solidFill>
                  <a:srgbClr val="FF0000"/>
                </a:solidFill>
              </a:rPr>
              <a:t>3.1 一阶逻辑基本概念</a:t>
            </a:r>
          </a:p>
          <a:p>
            <a:pPr marL="0" indent="1611313" eaLnBrk="1" hangingPunct="1">
              <a:lnSpc>
                <a:spcPct val="200000"/>
              </a:lnSpc>
              <a:spcBef>
                <a:spcPct val="60000"/>
              </a:spcBef>
              <a:buNone/>
            </a:pPr>
            <a:r>
              <a:rPr lang="zh-CN" altLang="en-US" b="1" dirty="0"/>
              <a:t>3.2 一阶逻辑等值演算</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990600" indent="-177800" algn="l">
              <a:lnSpc>
                <a:spcPct val="130000"/>
              </a:lnSpc>
              <a:spcBef>
                <a:spcPts val="600"/>
              </a:spcBef>
              <a:buClr>
                <a:srgbClr val="0B61FF"/>
              </a:buClr>
              <a:buSzPct val="120000"/>
            </a:pPr>
            <a:r>
              <a:rPr lang="en-US" altLang="zh-CN" sz="1200" b="1" i="0" dirty="0">
                <a:solidFill>
                  <a:srgbClr val="0C0D0E"/>
                </a:solidFill>
                <a:effectLst/>
                <a:latin typeface="Trebuchet MS" panose="020B0603020202020204" pitchFamily="34" charset="0"/>
              </a:rPr>
              <a:t>Individual Constants, Individual Variables, Domain of Discourse, Universe of Discourse</a:t>
            </a:r>
          </a:p>
          <a:p>
            <a:pPr marL="990600" indent="-177800" algn="l">
              <a:lnSpc>
                <a:spcPct val="130000"/>
              </a:lnSpc>
              <a:spcBef>
                <a:spcPts val="600"/>
              </a:spcBef>
              <a:buClr>
                <a:srgbClr val="0B61FF"/>
              </a:buClr>
              <a:buSzPct val="120000"/>
            </a:pPr>
            <a:r>
              <a:rPr lang="en-US" altLang="zh-CN" sz="1200" b="1" i="0" dirty="0">
                <a:solidFill>
                  <a:srgbClr val="0C0D0E"/>
                </a:solidFill>
                <a:effectLst/>
                <a:latin typeface="Trebuchet MS" panose="020B0603020202020204" pitchFamily="34" charset="0"/>
              </a:rPr>
              <a:t>Propositional Constants, Propositional Variables</a:t>
            </a:r>
          </a:p>
          <a:p>
            <a:pPr marL="990600" indent="-177800" algn="l">
              <a:lnSpc>
                <a:spcPct val="130000"/>
              </a:lnSpc>
              <a:spcBef>
                <a:spcPts val="600"/>
              </a:spcBef>
              <a:buClr>
                <a:srgbClr val="0B61FF"/>
              </a:buClr>
              <a:buSzPct val="120000"/>
            </a:pPr>
            <a:r>
              <a:rPr lang="en-US" altLang="zh-CN" sz="1200" b="1" i="0" dirty="0">
                <a:solidFill>
                  <a:srgbClr val="0C0D0E"/>
                </a:solidFill>
                <a:effectLst/>
                <a:latin typeface="Trebuchet MS" panose="020B0603020202020204" pitchFamily="34" charset="0"/>
              </a:rPr>
              <a:t>Universal Quantifiers, Existential Quantifiers</a:t>
            </a:r>
          </a:p>
          <a:p>
            <a:pPr marL="0" indent="0" eaLnBrk="1" hangingPunct="1">
              <a:spcBef>
                <a:spcPct val="60000"/>
              </a:spcBef>
              <a:buNone/>
            </a:pPr>
            <a:endParaRPr lang="en-US" altLang="zh-CN" b="1" dirty="0"/>
          </a:p>
          <a:p>
            <a:pPr lvl="1"/>
            <a:r>
              <a:rPr lang="en-US" altLang="zh-CN" b="0" i="0" dirty="0">
                <a:solidFill>
                  <a:srgbClr val="0C0D0E"/>
                </a:solidFill>
                <a:effectLst/>
                <a:latin typeface="Trebuchet MS" panose="020B0603020202020204" pitchFamily="34" charset="0"/>
              </a:rPr>
              <a:t>First-order language L (alphabet, terms, atomic formulas, compound formulas)</a:t>
            </a:r>
          </a:p>
          <a:p>
            <a:pPr lvl="1"/>
            <a:r>
              <a:rPr lang="en-US" altLang="zh-CN" b="0" i="0" dirty="0">
                <a:solidFill>
                  <a:srgbClr val="0C0D0E"/>
                </a:solidFill>
                <a:effectLst/>
                <a:latin typeface="Trebuchet MS" panose="020B0603020202020204" pitchFamily="34" charset="0"/>
              </a:rPr>
              <a:t>Scope and bound variables, bound occurrences and free occurrences</a:t>
            </a:r>
          </a:p>
          <a:p>
            <a:pPr lvl="1"/>
            <a:r>
              <a:rPr lang="en-US" altLang="zh-CN" b="0" i="0" dirty="0">
                <a:solidFill>
                  <a:srgbClr val="0C0D0E"/>
                </a:solidFill>
                <a:effectLst/>
                <a:latin typeface="Trebuchet MS" panose="020B0603020202020204" pitchFamily="34" charset="0"/>
              </a:rPr>
              <a:t>Closed formulas</a:t>
            </a:r>
          </a:p>
          <a:p>
            <a:pPr lvl="1"/>
            <a:r>
              <a:rPr lang="en-US" altLang="zh-CN" b="0" i="0" dirty="0">
                <a:solidFill>
                  <a:srgbClr val="0C0D0E"/>
                </a:solidFill>
                <a:effectLst/>
                <a:latin typeface="Trebuchet MS" panose="020B0603020202020204" pitchFamily="34" charset="0"/>
              </a:rPr>
              <a:t>Interpretation of first-order language L</a:t>
            </a:r>
          </a:p>
          <a:p>
            <a:pPr lvl="1"/>
            <a:r>
              <a:rPr lang="en-US" altLang="zh-CN" b="0" i="0" dirty="0">
                <a:solidFill>
                  <a:srgbClr val="0C0D0E"/>
                </a:solidFill>
                <a:effectLst/>
                <a:latin typeface="Trebuchet MS" panose="020B0603020202020204" pitchFamily="34" charset="0"/>
              </a:rPr>
              <a:t>Tautologies, contradictions, and satisfiable formulas</a:t>
            </a:r>
          </a:p>
          <a:p>
            <a:pPr lvl="1"/>
            <a:r>
              <a:rPr lang="en-US" altLang="zh-CN" b="0" i="0" dirty="0">
                <a:solidFill>
                  <a:srgbClr val="0C0D0E"/>
                </a:solidFill>
                <a:effectLst/>
                <a:latin typeface="Trebuchet MS" panose="020B0603020202020204" pitchFamily="34" charset="0"/>
              </a:rPr>
              <a:t>Substitution examples</a:t>
            </a:r>
          </a:p>
          <a:p>
            <a:pPr marL="0" indent="0" eaLnBrk="1" hangingPunct="1">
              <a:spcBef>
                <a:spcPct val="60000"/>
              </a:spcBef>
              <a:buNone/>
            </a:pPr>
            <a:endParaRPr lang="en-US" altLang="zh-CN" b="1" dirty="0"/>
          </a:p>
          <a:p>
            <a:pPr marL="0" indent="0" eaLnBrk="1" hangingPunct="1">
              <a:spcBef>
                <a:spcPct val="60000"/>
              </a:spcBef>
              <a:buNone/>
            </a:pPr>
            <a:r>
              <a:rPr lang="zh-CN" altLang="en-US" b="1" dirty="0"/>
              <a:t>3.1.1 命题逻辑的局限性</a:t>
            </a:r>
          </a:p>
          <a:p>
            <a:pPr marL="0" indent="0" eaLnBrk="1" hangingPunct="1">
              <a:spcBef>
                <a:spcPct val="60000"/>
              </a:spcBef>
              <a:buNone/>
            </a:pPr>
            <a:r>
              <a:rPr lang="zh-CN" altLang="en-US" b="1" dirty="0"/>
              <a:t>3.1.2 个体词、谓词与量词</a:t>
            </a:r>
          </a:p>
          <a:p>
            <a:pPr lvl="1" indent="119063" eaLnBrk="1" hangingPunct="1"/>
            <a:r>
              <a:rPr lang="zh-CN" altLang="en-US" b="1" dirty="0"/>
              <a:t>个体常项、个体变项、个体域、全总个体域</a:t>
            </a:r>
          </a:p>
          <a:p>
            <a:pPr lvl="1" indent="119063" eaLnBrk="1" hangingPunct="1"/>
            <a:r>
              <a:rPr lang="zh-CN" altLang="en-US" b="1" dirty="0"/>
              <a:t>谓词常项、谓词变项</a:t>
            </a:r>
          </a:p>
          <a:p>
            <a:pPr lvl="1" indent="119063" eaLnBrk="1" hangingPunct="1"/>
            <a:r>
              <a:rPr lang="zh-CN" altLang="en-US" b="1" dirty="0"/>
              <a:t>全称量词、存在量词</a:t>
            </a:r>
          </a:p>
          <a:p>
            <a:pPr marL="0" indent="0" eaLnBrk="1" hangingPunct="1">
              <a:spcBef>
                <a:spcPct val="60000"/>
              </a:spcBef>
              <a:buNone/>
            </a:pPr>
            <a:r>
              <a:rPr lang="zh-CN" altLang="en-US" b="1" dirty="0"/>
              <a:t>3.1.3 一阶逻辑命题符号化</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3</a:t>
            </a:fld>
            <a:endParaRPr lang="zh-CN" altLang="en-US"/>
          </a:p>
        </p:txBody>
      </p:sp>
    </p:spTree>
    <p:extLst>
      <p:ext uri="{BB962C8B-B14F-4D97-AF65-F5344CB8AC3E}">
        <p14:creationId xmlns:p14="http://schemas.microsoft.com/office/powerpoint/2010/main" val="38132876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spcBef>
                <a:spcPct val="60000"/>
              </a:spcBef>
              <a:buFont typeface="Wingdings" panose="05000000000000000000" pitchFamily="2" charset="2"/>
              <a:buChar char="l"/>
            </a:pPr>
            <a:r>
              <a:rPr lang="zh-CN" altLang="en-US" sz="1200" b="1" dirty="0"/>
              <a:t>在逻辑学中，</a:t>
            </a:r>
            <a:r>
              <a:rPr lang="zh-CN" altLang="en-US" sz="1200" b="1" dirty="0">
                <a:solidFill>
                  <a:srgbClr val="FF0000"/>
                </a:solidFill>
              </a:rPr>
              <a:t>命题</a:t>
            </a:r>
            <a:r>
              <a:rPr lang="zh-CN" altLang="en-US" sz="1200" b="1" dirty="0"/>
              <a:t>是表达断定性陈述的语句，它可以被判断为真或假。</a:t>
            </a:r>
          </a:p>
          <a:p>
            <a:pPr>
              <a:spcBef>
                <a:spcPct val="60000"/>
              </a:spcBef>
              <a:buFont typeface="Wingdings" panose="05000000000000000000" pitchFamily="2" charset="2"/>
              <a:buChar char="l"/>
            </a:pPr>
            <a:r>
              <a:rPr lang="zh-CN" altLang="en-US" sz="1200" b="1" dirty="0"/>
              <a:t>命题的</a:t>
            </a:r>
            <a:r>
              <a:rPr lang="zh-CN" altLang="en-US" sz="1200" b="1" dirty="0">
                <a:solidFill>
                  <a:srgbClr val="FF0000"/>
                </a:solidFill>
              </a:rPr>
              <a:t>内部结构</a:t>
            </a:r>
            <a:r>
              <a:rPr lang="zh-CN" altLang="en-US" sz="1200" b="1" dirty="0"/>
              <a:t>通常包括对象、属性、数量或范围、逻辑连接词等要素。</a:t>
            </a:r>
            <a:endParaRPr lang="en-US" altLang="zh-CN" sz="1200" b="1" dirty="0"/>
          </a:p>
          <a:p>
            <a:pPr>
              <a:spcBef>
                <a:spcPct val="60000"/>
              </a:spcBef>
              <a:buFont typeface="Wingdings" panose="05000000000000000000" pitchFamily="2" charset="2"/>
              <a:buChar char="l"/>
            </a:pPr>
            <a:r>
              <a:rPr lang="zh-CN" altLang="en-US" sz="1200" b="1" dirty="0"/>
              <a:t> </a:t>
            </a:r>
            <a:r>
              <a:rPr lang="zh-CN" altLang="en-US" sz="1200" b="1" dirty="0">
                <a:solidFill>
                  <a:srgbClr val="FF0000"/>
                </a:solidFill>
              </a:rPr>
              <a:t>命题逻辑</a:t>
            </a:r>
            <a:r>
              <a:rPr lang="zh-CN" altLang="en-US" sz="1200" b="1" dirty="0"/>
              <a:t>专注于命题之间的逻辑关系，不涉及命题内部的结构。</a:t>
            </a:r>
            <a:r>
              <a:rPr lang="zh-CN" altLang="zh-CN" sz="1200" b="1" dirty="0"/>
              <a:t>例如，</a:t>
            </a:r>
            <a:r>
              <a:rPr lang="en-US" altLang="zh-CN" sz="1200" b="1" dirty="0"/>
              <a:t>“</a:t>
            </a:r>
            <a:r>
              <a:rPr lang="zh-CN" altLang="zh-CN" sz="1200" b="1" dirty="0"/>
              <a:t>今天是晴天</a:t>
            </a:r>
            <a:r>
              <a:rPr lang="en-US" altLang="zh-CN" sz="1200" b="1" dirty="0"/>
              <a:t>”</a:t>
            </a:r>
            <a:r>
              <a:rPr lang="zh-CN" altLang="zh-CN" sz="1200" b="1" dirty="0"/>
              <a:t>或</a:t>
            </a:r>
            <a:r>
              <a:rPr lang="en-US" altLang="zh-CN" sz="1200" b="1" dirty="0"/>
              <a:t>“</a:t>
            </a:r>
            <a:r>
              <a:rPr lang="zh-CN" altLang="zh-CN" sz="1200" b="1" dirty="0"/>
              <a:t>苏格拉底是人</a:t>
            </a:r>
            <a:r>
              <a:rPr lang="en-US" altLang="zh-CN" sz="1200" b="1" dirty="0"/>
              <a:t>”</a:t>
            </a:r>
            <a:r>
              <a:rPr lang="zh-CN" altLang="zh-CN" sz="1200" b="1" dirty="0"/>
              <a:t>都是命题。命题逻辑关注的是这些命题如何通过逻辑连接词组合起来形成更复杂的陈述。</a:t>
            </a:r>
          </a:p>
          <a:p>
            <a:pPr>
              <a:spcBef>
                <a:spcPct val="60000"/>
              </a:spcBef>
              <a:buFont typeface="Wingdings" panose="05000000000000000000" pitchFamily="2" charset="2"/>
              <a:buChar char="l"/>
            </a:pPr>
            <a:r>
              <a:rPr lang="zh-CN" altLang="zh-CN" sz="1200" b="1" dirty="0"/>
              <a:t>一个有效的逻辑论断意味着</a:t>
            </a:r>
            <a:r>
              <a:rPr lang="zh-CN" altLang="en-US" sz="1200" b="1" dirty="0"/>
              <a:t>其</a:t>
            </a:r>
            <a:r>
              <a:rPr lang="zh-CN" altLang="zh-CN" sz="1200" b="1" dirty="0"/>
              <a:t>结论在所有前提为真的情况下也必定为真</a:t>
            </a:r>
            <a:r>
              <a:rPr lang="zh-CN" altLang="en-US" sz="1200" b="1" dirty="0"/>
              <a:t>，</a:t>
            </a:r>
            <a:r>
              <a:rPr lang="zh-CN" altLang="zh-CN" sz="1200" b="1" dirty="0"/>
              <a:t>并不意味着论断本身必须在所有情况下都为真，只是说在其</a:t>
            </a:r>
            <a:r>
              <a:rPr lang="zh-CN" altLang="zh-CN" sz="1200" b="1" dirty="0">
                <a:solidFill>
                  <a:srgbClr val="FF0000"/>
                </a:solidFill>
              </a:rPr>
              <a:t>特定的前提</a:t>
            </a:r>
            <a:r>
              <a:rPr lang="zh-CN" altLang="zh-CN" sz="1200" b="1" dirty="0"/>
              <a:t>为真的情况下，结论也为真。</a:t>
            </a:r>
            <a:endParaRPr lang="en-US" altLang="zh-CN" sz="1200" b="1" dirty="0"/>
          </a:p>
          <a:p>
            <a:pPr>
              <a:spcBef>
                <a:spcPct val="60000"/>
              </a:spcBef>
              <a:buFont typeface="Wingdings" panose="05000000000000000000" pitchFamily="2" charset="2"/>
              <a:buChar char="l"/>
            </a:pPr>
            <a:r>
              <a:rPr lang="zh-CN" altLang="en-US" sz="1200" b="1" dirty="0"/>
              <a:t> </a:t>
            </a:r>
            <a:r>
              <a:rPr lang="zh-CN" altLang="en-US" sz="1200" b="1" dirty="0">
                <a:solidFill>
                  <a:srgbClr val="FF0000"/>
                </a:solidFill>
              </a:rPr>
              <a:t>重言式</a:t>
            </a:r>
            <a:r>
              <a:rPr lang="zh-CN" altLang="en-US" sz="1200" b="1" dirty="0"/>
              <a:t>是一种特殊类型的命题，不依赖于任何特定前提，它在所有情况下都是真的。</a:t>
            </a:r>
            <a:endParaRPr lang="zh-CN" altLang="zh-CN" sz="1200" b="1" dirty="0"/>
          </a:p>
          <a:p>
            <a:endParaRPr lang="en-US" altLang="zh-CN" dirty="0"/>
          </a:p>
          <a:p>
            <a:r>
              <a:rPr lang="zh-CN" altLang="en-US" dirty="0"/>
              <a:t>命题逻辑与一阶逻辑的区别？</a:t>
            </a:r>
          </a:p>
          <a:p>
            <a:r>
              <a:rPr lang="zh-CN" altLang="en-US" dirty="0"/>
              <a:t>命题逻辑和一阶逻辑是逻辑学中的两个基本分支，它们在表达能力和应用范围上有显著的区别：</a:t>
            </a:r>
          </a:p>
          <a:p>
            <a:endParaRPr lang="zh-CN" altLang="en-US" dirty="0"/>
          </a:p>
          <a:p>
            <a:r>
              <a:rPr lang="zh-CN" altLang="en-US" dirty="0"/>
              <a:t>表达能力：</a:t>
            </a:r>
          </a:p>
          <a:p>
            <a:endParaRPr lang="zh-CN" altLang="en-US" dirty="0"/>
          </a:p>
          <a:p>
            <a:r>
              <a:rPr lang="zh-CN" altLang="en-US" dirty="0"/>
              <a:t>命题逻辑：是逻辑学的一个基础分支，主要关注于命题之间的逻辑关系。它处理的是整个命题的真假，而不涉及命题内部的结构。命题逻辑中的基本单位是命题，例如“今天下雨”或“火车晚点”。命题逻辑使用逻辑联结词（如“和”，“或”，“非”）来构造更复杂的命题。</a:t>
            </a:r>
          </a:p>
          <a:p>
            <a:r>
              <a:rPr lang="zh-CN" altLang="en-US" dirty="0"/>
              <a:t>一阶逻辑：也称谓词逻辑，是逻辑学的另一个重要分支，它在命题逻辑的基础上增加了量词（如“所有”，“存在”）和谓词（可以理解为属性或关系）。一阶逻辑可以表达命题内部的结构，比如“所有人都是凡人”或“存在一只猫是黑色的”。这使得一阶逻辑在表达能力上更加强大和灵活。</a:t>
            </a:r>
          </a:p>
          <a:p>
            <a:r>
              <a:rPr lang="zh-CN" altLang="en-US" dirty="0"/>
              <a:t>形式化：</a:t>
            </a:r>
          </a:p>
          <a:p>
            <a:endParaRPr lang="zh-CN" altLang="en-US" dirty="0"/>
          </a:p>
          <a:p>
            <a:r>
              <a:rPr lang="zh-CN" altLang="en-US" dirty="0"/>
              <a:t>命题逻辑的形式化相对简单，因为它只涉及到整个命题的真假。</a:t>
            </a:r>
          </a:p>
          <a:p>
            <a:r>
              <a:rPr lang="zh-CN" altLang="en-US" dirty="0"/>
              <a:t>一阶逻辑的形式化更加复杂，因为它需要处理个体、谓词、量词等更复杂的元素。</a:t>
            </a:r>
          </a:p>
          <a:p>
            <a:r>
              <a:rPr lang="zh-CN" altLang="en-US" dirty="0"/>
              <a:t>应用范围：</a:t>
            </a:r>
          </a:p>
          <a:p>
            <a:endParaRPr lang="zh-CN" altLang="en-US" dirty="0"/>
          </a:p>
          <a:p>
            <a:r>
              <a:rPr lang="zh-CN" altLang="en-US" dirty="0"/>
              <a:t>命题逻辑主要用于分析和推理那些可以被整体性描述的情况。</a:t>
            </a:r>
          </a:p>
          <a:p>
            <a:r>
              <a:rPr lang="zh-CN" altLang="en-US" dirty="0"/>
              <a:t>一阶逻辑由于其表达能力更强，因此在数学、计算机科学、语言学等领域有更广泛的应用。它能够描述和推理个体之间的关系以及属性。</a:t>
            </a:r>
          </a:p>
          <a:p>
            <a:r>
              <a:rPr lang="zh-CN" altLang="en-US" dirty="0"/>
              <a:t>推理复杂性：</a:t>
            </a:r>
          </a:p>
          <a:p>
            <a:endParaRPr lang="zh-CN" altLang="en-US" dirty="0"/>
          </a:p>
          <a:p>
            <a:r>
              <a:rPr lang="zh-CN" altLang="en-US" dirty="0"/>
              <a:t>命题逻辑的推理通常比一阶逻辑简单，因为它处理的结构更为直接和简单。</a:t>
            </a:r>
          </a:p>
          <a:p>
            <a:r>
              <a:rPr lang="zh-CN" altLang="en-US" dirty="0"/>
              <a:t>一阶逻辑的推理更加复杂，特别是当涉及到量词和谓词的时候。</a:t>
            </a:r>
          </a:p>
          <a:p>
            <a:r>
              <a:rPr lang="zh-CN" altLang="en-US" dirty="0"/>
              <a:t>总的来说，一阶逻辑在表达能力上更为强大，可以表达个体之间的复杂关系，而命题逻辑则更加简洁，适用于处理整体性的命题。</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4</a:t>
            </a:fld>
            <a:endParaRPr lang="zh-CN" altLang="en-US"/>
          </a:p>
        </p:txBody>
      </p:sp>
    </p:spTree>
    <p:extLst>
      <p:ext uri="{BB962C8B-B14F-4D97-AF65-F5344CB8AC3E}">
        <p14:creationId xmlns:p14="http://schemas.microsoft.com/office/powerpoint/2010/main" val="24834822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spcBef>
                <a:spcPct val="60000"/>
              </a:spcBef>
              <a:buFont typeface="Wingdings" panose="05000000000000000000" pitchFamily="2" charset="2"/>
              <a:buChar char="l"/>
            </a:pPr>
            <a:r>
              <a:rPr lang="zh-CN" altLang="en-US" sz="1200" b="1" dirty="0"/>
              <a:t>在逻辑学中，</a:t>
            </a:r>
            <a:r>
              <a:rPr lang="zh-CN" altLang="en-US" sz="1200" b="1" dirty="0">
                <a:solidFill>
                  <a:srgbClr val="FF0000"/>
                </a:solidFill>
              </a:rPr>
              <a:t>命题</a:t>
            </a:r>
            <a:r>
              <a:rPr lang="zh-CN" altLang="en-US" sz="1200" b="1" dirty="0"/>
              <a:t>是表达断定性陈述的语句，它可以被判断为真或假。</a:t>
            </a:r>
          </a:p>
          <a:p>
            <a:pPr>
              <a:spcBef>
                <a:spcPct val="60000"/>
              </a:spcBef>
              <a:buFont typeface="Wingdings" panose="05000000000000000000" pitchFamily="2" charset="2"/>
              <a:buChar char="l"/>
            </a:pPr>
            <a:r>
              <a:rPr lang="zh-CN" altLang="en-US" sz="1200" b="1" dirty="0"/>
              <a:t>命题的</a:t>
            </a:r>
            <a:r>
              <a:rPr lang="zh-CN" altLang="en-US" sz="1200" b="1" dirty="0">
                <a:solidFill>
                  <a:srgbClr val="FF0000"/>
                </a:solidFill>
              </a:rPr>
              <a:t>内部结构</a:t>
            </a:r>
            <a:r>
              <a:rPr lang="zh-CN" altLang="en-US" sz="1200" b="1" dirty="0"/>
              <a:t>通常包括对象、属性、数量或范围、逻辑连接词等要素。</a:t>
            </a:r>
            <a:endParaRPr lang="en-US" altLang="zh-CN" sz="1200" b="1" dirty="0"/>
          </a:p>
          <a:p>
            <a:pPr>
              <a:spcBef>
                <a:spcPct val="60000"/>
              </a:spcBef>
              <a:buFont typeface="Wingdings" panose="05000000000000000000" pitchFamily="2" charset="2"/>
              <a:buChar char="l"/>
            </a:pPr>
            <a:r>
              <a:rPr lang="zh-CN" altLang="en-US" sz="1200" b="1" dirty="0"/>
              <a:t> </a:t>
            </a:r>
            <a:r>
              <a:rPr lang="zh-CN" altLang="en-US" sz="1200" b="1" dirty="0">
                <a:solidFill>
                  <a:srgbClr val="FF0000"/>
                </a:solidFill>
              </a:rPr>
              <a:t>命题逻辑</a:t>
            </a:r>
            <a:r>
              <a:rPr lang="zh-CN" altLang="en-US" sz="1200" b="1" dirty="0"/>
              <a:t>专注于命题之间的逻辑关系，不涉及命题内部的结构。</a:t>
            </a:r>
            <a:r>
              <a:rPr lang="zh-CN" altLang="zh-CN" sz="1200" b="1" dirty="0"/>
              <a:t>例如，</a:t>
            </a:r>
            <a:r>
              <a:rPr lang="en-US" altLang="zh-CN" sz="1200" b="1" dirty="0"/>
              <a:t>“</a:t>
            </a:r>
            <a:r>
              <a:rPr lang="zh-CN" altLang="zh-CN" sz="1200" b="1" dirty="0"/>
              <a:t>今天是晴天</a:t>
            </a:r>
            <a:r>
              <a:rPr lang="en-US" altLang="zh-CN" sz="1200" b="1" dirty="0"/>
              <a:t>”</a:t>
            </a:r>
            <a:r>
              <a:rPr lang="zh-CN" altLang="zh-CN" sz="1200" b="1" dirty="0"/>
              <a:t>或</a:t>
            </a:r>
            <a:r>
              <a:rPr lang="en-US" altLang="zh-CN" sz="1200" b="1" dirty="0"/>
              <a:t>“</a:t>
            </a:r>
            <a:r>
              <a:rPr lang="zh-CN" altLang="zh-CN" sz="1200" b="1" dirty="0"/>
              <a:t>苏格拉底是人</a:t>
            </a:r>
            <a:r>
              <a:rPr lang="en-US" altLang="zh-CN" sz="1200" b="1" dirty="0"/>
              <a:t>”</a:t>
            </a:r>
            <a:r>
              <a:rPr lang="zh-CN" altLang="zh-CN" sz="1200" b="1" dirty="0"/>
              <a:t>都是命题。命题逻辑关注的是这些命题如何通过逻辑连接词组合起来形成更复杂的陈述。</a:t>
            </a:r>
          </a:p>
          <a:p>
            <a:pPr>
              <a:spcBef>
                <a:spcPct val="60000"/>
              </a:spcBef>
              <a:buFont typeface="Wingdings" panose="05000000000000000000" pitchFamily="2" charset="2"/>
              <a:buChar char="l"/>
            </a:pPr>
            <a:r>
              <a:rPr lang="zh-CN" altLang="zh-CN" sz="1200" b="1" dirty="0"/>
              <a:t>一个有效的逻辑论断意味着</a:t>
            </a:r>
            <a:r>
              <a:rPr lang="zh-CN" altLang="en-US" sz="1200" b="1" dirty="0"/>
              <a:t>其</a:t>
            </a:r>
            <a:r>
              <a:rPr lang="zh-CN" altLang="zh-CN" sz="1200" b="1" dirty="0"/>
              <a:t>结论在所有前提为真的情况下也必定为真</a:t>
            </a:r>
            <a:r>
              <a:rPr lang="zh-CN" altLang="en-US" sz="1200" b="1" dirty="0"/>
              <a:t>，</a:t>
            </a:r>
            <a:r>
              <a:rPr lang="zh-CN" altLang="zh-CN" sz="1200" b="1" dirty="0"/>
              <a:t>并不意味着论断本身必须在所有情况下都为真，只是说在其</a:t>
            </a:r>
            <a:r>
              <a:rPr lang="zh-CN" altLang="zh-CN" sz="1200" b="1" dirty="0">
                <a:solidFill>
                  <a:srgbClr val="FF0000"/>
                </a:solidFill>
              </a:rPr>
              <a:t>特定的前提</a:t>
            </a:r>
            <a:r>
              <a:rPr lang="zh-CN" altLang="zh-CN" sz="1200" b="1" dirty="0"/>
              <a:t>为真的情况下，结论也为真。</a:t>
            </a:r>
            <a:endParaRPr lang="en-US" altLang="zh-CN" sz="1200" b="1" dirty="0"/>
          </a:p>
          <a:p>
            <a:pPr>
              <a:spcBef>
                <a:spcPct val="60000"/>
              </a:spcBef>
              <a:buFont typeface="Wingdings" panose="05000000000000000000" pitchFamily="2" charset="2"/>
              <a:buChar char="l"/>
            </a:pPr>
            <a:r>
              <a:rPr lang="zh-CN" altLang="en-US" sz="1200" b="1" dirty="0"/>
              <a:t> </a:t>
            </a:r>
            <a:r>
              <a:rPr lang="zh-CN" altLang="en-US" sz="1200" b="1" dirty="0">
                <a:solidFill>
                  <a:srgbClr val="FF0000"/>
                </a:solidFill>
              </a:rPr>
              <a:t>重言式</a:t>
            </a:r>
            <a:r>
              <a:rPr lang="zh-CN" altLang="en-US" sz="1200" b="1" dirty="0"/>
              <a:t>是一种特殊类型的命题，不依赖于任何特定前提，它在所有情况下都是真的。</a:t>
            </a:r>
            <a:endParaRPr lang="zh-CN" altLang="zh-CN" sz="1200" b="1" dirty="0"/>
          </a:p>
          <a:p>
            <a:endParaRPr lang="en-US" altLang="zh-CN" dirty="0"/>
          </a:p>
          <a:p>
            <a:r>
              <a:rPr lang="zh-CN" altLang="en-US" dirty="0"/>
              <a:t>命题逻辑与一阶逻辑的区别？</a:t>
            </a:r>
          </a:p>
          <a:p>
            <a:r>
              <a:rPr lang="zh-CN" altLang="en-US" dirty="0"/>
              <a:t>命题逻辑和一阶逻辑是逻辑学中的两个基本分支，它们在表达能力和应用范围上有显著的区别：</a:t>
            </a:r>
          </a:p>
          <a:p>
            <a:endParaRPr lang="zh-CN" altLang="en-US" dirty="0"/>
          </a:p>
          <a:p>
            <a:r>
              <a:rPr lang="zh-CN" altLang="en-US" dirty="0"/>
              <a:t>表达能力：</a:t>
            </a:r>
          </a:p>
          <a:p>
            <a:endParaRPr lang="zh-CN" altLang="en-US" dirty="0"/>
          </a:p>
          <a:p>
            <a:r>
              <a:rPr lang="zh-CN" altLang="en-US" dirty="0"/>
              <a:t>命题逻辑：是逻辑学的一个基础分支，主要关注于命题之间的逻辑关系。它处理的是整个命题的真假，而不涉及命题内部的结构。命题逻辑中的基本单位是命题，例如“今天下雨”或“火车晚点”。命题逻辑使用逻辑联结词（如“和”，“或”，“非”）来构造更复杂的命题。</a:t>
            </a:r>
          </a:p>
          <a:p>
            <a:r>
              <a:rPr lang="zh-CN" altLang="en-US" dirty="0"/>
              <a:t>一阶逻辑：也称谓词逻辑，是逻辑学的另一个重要分支，它在命题逻辑的基础上增加了量词（如“所有”，“存在”）和谓词（可以理解为属性或关系）。一阶逻辑可以表达命题内部的结构，比如“所有人都是凡人”或“存在一只猫是黑色的”。这使得一阶逻辑在表达能力上更加强大和灵活。</a:t>
            </a:r>
          </a:p>
          <a:p>
            <a:r>
              <a:rPr lang="zh-CN" altLang="en-US" dirty="0"/>
              <a:t>形式化：</a:t>
            </a:r>
          </a:p>
          <a:p>
            <a:endParaRPr lang="zh-CN" altLang="en-US" dirty="0"/>
          </a:p>
          <a:p>
            <a:r>
              <a:rPr lang="zh-CN" altLang="en-US" dirty="0"/>
              <a:t>命题逻辑的形式化相对简单，因为它只涉及到整个命题的真假。</a:t>
            </a:r>
          </a:p>
          <a:p>
            <a:r>
              <a:rPr lang="zh-CN" altLang="en-US" dirty="0"/>
              <a:t>一阶逻辑的形式化更加复杂，因为它需要处理个体、谓词、量词等更复杂的元素。</a:t>
            </a:r>
          </a:p>
          <a:p>
            <a:r>
              <a:rPr lang="zh-CN" altLang="en-US" dirty="0"/>
              <a:t>应用范围：</a:t>
            </a:r>
          </a:p>
          <a:p>
            <a:endParaRPr lang="zh-CN" altLang="en-US" dirty="0"/>
          </a:p>
          <a:p>
            <a:r>
              <a:rPr lang="zh-CN" altLang="en-US" dirty="0"/>
              <a:t>命题逻辑主要用于分析和推理那些可以被整体性描述的情况。</a:t>
            </a:r>
          </a:p>
          <a:p>
            <a:r>
              <a:rPr lang="zh-CN" altLang="en-US" dirty="0"/>
              <a:t>一阶逻辑由于其表达能力更强，因此在数学、计算机科学、语言学等领域有更广泛的应用。它能够描述和推理个体之间的关系以及属性。</a:t>
            </a:r>
          </a:p>
          <a:p>
            <a:r>
              <a:rPr lang="zh-CN" altLang="en-US" dirty="0"/>
              <a:t>推理复杂性：</a:t>
            </a:r>
          </a:p>
          <a:p>
            <a:endParaRPr lang="zh-CN" altLang="en-US" dirty="0"/>
          </a:p>
          <a:p>
            <a:r>
              <a:rPr lang="zh-CN" altLang="en-US" dirty="0"/>
              <a:t>命题逻辑的推理通常比一阶逻辑简单，因为它处理的结构更为直接和简单。</a:t>
            </a:r>
          </a:p>
          <a:p>
            <a:r>
              <a:rPr lang="zh-CN" altLang="en-US" dirty="0"/>
              <a:t>一阶逻辑的推理更加复杂，特别是当涉及到量词和谓词的时候。</a:t>
            </a:r>
          </a:p>
          <a:p>
            <a:r>
              <a:rPr lang="zh-CN" altLang="en-US" dirty="0"/>
              <a:t>总的来说，一阶逻辑在表达能力上更为强大，可以表达个体之间的复杂关系，而命题逻辑则更加简洁，适用于处理整体性的命题。</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5</a:t>
            </a:fld>
            <a:endParaRPr lang="zh-CN" altLang="en-US"/>
          </a:p>
        </p:txBody>
      </p:sp>
    </p:spTree>
    <p:extLst>
      <p:ext uri="{BB962C8B-B14F-4D97-AF65-F5344CB8AC3E}">
        <p14:creationId xmlns:p14="http://schemas.microsoft.com/office/powerpoint/2010/main" val="11028567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spcBef>
                <a:spcPct val="60000"/>
              </a:spcBef>
              <a:buFont typeface="Wingdings" panose="05000000000000000000" pitchFamily="2" charset="2"/>
              <a:buChar char="l"/>
            </a:pPr>
            <a:r>
              <a:rPr lang="zh-CN" altLang="en-US" sz="1200" b="1" dirty="0"/>
              <a:t>在逻辑学中，</a:t>
            </a:r>
            <a:r>
              <a:rPr lang="zh-CN" altLang="en-US" sz="1200" b="1" dirty="0">
                <a:solidFill>
                  <a:srgbClr val="FF0000"/>
                </a:solidFill>
              </a:rPr>
              <a:t>命题</a:t>
            </a:r>
            <a:r>
              <a:rPr lang="zh-CN" altLang="en-US" sz="1200" b="1" dirty="0"/>
              <a:t>是表达断定性陈述的语句，它可以被判断为真或假。</a:t>
            </a:r>
          </a:p>
          <a:p>
            <a:pPr>
              <a:spcBef>
                <a:spcPct val="60000"/>
              </a:spcBef>
              <a:buFont typeface="Wingdings" panose="05000000000000000000" pitchFamily="2" charset="2"/>
              <a:buChar char="l"/>
            </a:pPr>
            <a:r>
              <a:rPr lang="zh-CN" altLang="en-US" sz="1200" b="1" dirty="0"/>
              <a:t>命题的</a:t>
            </a:r>
            <a:r>
              <a:rPr lang="zh-CN" altLang="en-US" sz="1200" b="1" dirty="0">
                <a:solidFill>
                  <a:srgbClr val="FF0000"/>
                </a:solidFill>
              </a:rPr>
              <a:t>内部结构</a:t>
            </a:r>
            <a:r>
              <a:rPr lang="zh-CN" altLang="en-US" sz="1200" b="1" dirty="0"/>
              <a:t>通常包括对象、属性、数量或范围、逻辑连接词等要素。</a:t>
            </a:r>
            <a:endParaRPr lang="en-US" altLang="zh-CN" sz="1200" b="1" dirty="0"/>
          </a:p>
          <a:p>
            <a:pPr>
              <a:spcBef>
                <a:spcPct val="60000"/>
              </a:spcBef>
              <a:buFont typeface="Wingdings" panose="05000000000000000000" pitchFamily="2" charset="2"/>
              <a:buChar char="l"/>
            </a:pPr>
            <a:r>
              <a:rPr lang="zh-CN" altLang="en-US" sz="1200" b="1" dirty="0"/>
              <a:t> </a:t>
            </a:r>
            <a:r>
              <a:rPr lang="zh-CN" altLang="en-US" sz="1200" b="1" dirty="0">
                <a:solidFill>
                  <a:srgbClr val="FF0000"/>
                </a:solidFill>
              </a:rPr>
              <a:t>命题逻辑</a:t>
            </a:r>
            <a:r>
              <a:rPr lang="zh-CN" altLang="en-US" sz="1200" b="1" dirty="0"/>
              <a:t>专注于命题之间的逻辑关系，不涉及命题内部的结构。</a:t>
            </a:r>
            <a:r>
              <a:rPr lang="zh-CN" altLang="zh-CN" sz="1200" b="1" dirty="0"/>
              <a:t>例如，</a:t>
            </a:r>
            <a:r>
              <a:rPr lang="en-US" altLang="zh-CN" sz="1200" b="1" dirty="0"/>
              <a:t>“</a:t>
            </a:r>
            <a:r>
              <a:rPr lang="zh-CN" altLang="zh-CN" sz="1200" b="1" dirty="0"/>
              <a:t>今天是晴天</a:t>
            </a:r>
            <a:r>
              <a:rPr lang="en-US" altLang="zh-CN" sz="1200" b="1" dirty="0"/>
              <a:t>”</a:t>
            </a:r>
            <a:r>
              <a:rPr lang="zh-CN" altLang="zh-CN" sz="1200" b="1" dirty="0"/>
              <a:t>或</a:t>
            </a:r>
            <a:r>
              <a:rPr lang="en-US" altLang="zh-CN" sz="1200" b="1" dirty="0"/>
              <a:t>“</a:t>
            </a:r>
            <a:r>
              <a:rPr lang="zh-CN" altLang="zh-CN" sz="1200" b="1" dirty="0"/>
              <a:t>苏格拉底是人</a:t>
            </a:r>
            <a:r>
              <a:rPr lang="en-US" altLang="zh-CN" sz="1200" b="1" dirty="0"/>
              <a:t>”</a:t>
            </a:r>
            <a:r>
              <a:rPr lang="zh-CN" altLang="zh-CN" sz="1200" b="1" dirty="0"/>
              <a:t>都是命题。命题逻辑关注的是这些命题如何通过逻辑连接词组合起来形成更复杂的陈述。</a:t>
            </a:r>
          </a:p>
          <a:p>
            <a:pPr>
              <a:spcBef>
                <a:spcPct val="60000"/>
              </a:spcBef>
              <a:buFont typeface="Wingdings" panose="05000000000000000000" pitchFamily="2" charset="2"/>
              <a:buChar char="l"/>
            </a:pPr>
            <a:r>
              <a:rPr lang="zh-CN" altLang="zh-CN" sz="1200" b="1" dirty="0"/>
              <a:t>一个有效的逻辑论断意味着</a:t>
            </a:r>
            <a:r>
              <a:rPr lang="zh-CN" altLang="en-US" sz="1200" b="1" dirty="0"/>
              <a:t>其</a:t>
            </a:r>
            <a:r>
              <a:rPr lang="zh-CN" altLang="zh-CN" sz="1200" b="1" dirty="0"/>
              <a:t>结论在所有前提为真的情况下也必定为真</a:t>
            </a:r>
            <a:r>
              <a:rPr lang="zh-CN" altLang="en-US" sz="1200" b="1" dirty="0"/>
              <a:t>，</a:t>
            </a:r>
            <a:r>
              <a:rPr lang="zh-CN" altLang="zh-CN" sz="1200" b="1" dirty="0"/>
              <a:t>并不意味着论断本身必须在所有情况下都为真，只是说在其</a:t>
            </a:r>
            <a:r>
              <a:rPr lang="zh-CN" altLang="zh-CN" sz="1200" b="1" dirty="0">
                <a:solidFill>
                  <a:srgbClr val="FF0000"/>
                </a:solidFill>
              </a:rPr>
              <a:t>特定的前提</a:t>
            </a:r>
            <a:r>
              <a:rPr lang="zh-CN" altLang="zh-CN" sz="1200" b="1" dirty="0"/>
              <a:t>为真的情况下，结论也为真。</a:t>
            </a:r>
            <a:endParaRPr lang="en-US" altLang="zh-CN" sz="1200" b="1" dirty="0"/>
          </a:p>
          <a:p>
            <a:pPr>
              <a:spcBef>
                <a:spcPct val="60000"/>
              </a:spcBef>
              <a:buFont typeface="Wingdings" panose="05000000000000000000" pitchFamily="2" charset="2"/>
              <a:buChar char="l"/>
            </a:pPr>
            <a:r>
              <a:rPr lang="zh-CN" altLang="en-US" sz="1200" b="1" dirty="0"/>
              <a:t> </a:t>
            </a:r>
            <a:r>
              <a:rPr lang="zh-CN" altLang="en-US" sz="1200" b="1" dirty="0">
                <a:solidFill>
                  <a:srgbClr val="FF0000"/>
                </a:solidFill>
              </a:rPr>
              <a:t>重言式</a:t>
            </a:r>
            <a:r>
              <a:rPr lang="zh-CN" altLang="en-US" sz="1200" b="1" dirty="0"/>
              <a:t>是一种特殊类型的命题，不依赖于任何特定前提，它在所有情况下都是真的。</a:t>
            </a:r>
            <a:endParaRPr lang="zh-CN" altLang="zh-CN" sz="1200" b="1" dirty="0"/>
          </a:p>
          <a:p>
            <a:endParaRPr lang="en-US" altLang="zh-CN" dirty="0"/>
          </a:p>
          <a:p>
            <a:r>
              <a:rPr lang="zh-CN" altLang="en-US" dirty="0"/>
              <a:t>命题逻辑与一阶逻辑的区别？</a:t>
            </a:r>
          </a:p>
          <a:p>
            <a:r>
              <a:rPr lang="zh-CN" altLang="en-US" dirty="0"/>
              <a:t>命题逻辑和一阶逻辑是逻辑学中的两个基本分支，它们在表达能力和应用范围上有显著的区别：</a:t>
            </a:r>
          </a:p>
          <a:p>
            <a:endParaRPr lang="zh-CN" altLang="en-US" dirty="0"/>
          </a:p>
          <a:p>
            <a:r>
              <a:rPr lang="zh-CN" altLang="en-US" dirty="0"/>
              <a:t>表达能力：</a:t>
            </a:r>
          </a:p>
          <a:p>
            <a:endParaRPr lang="zh-CN" altLang="en-US" dirty="0"/>
          </a:p>
          <a:p>
            <a:r>
              <a:rPr lang="zh-CN" altLang="en-US" dirty="0"/>
              <a:t>命题逻辑：是逻辑学的一个基础分支，主要关注于命题之间的逻辑关系。它处理的是整个命题的真假，而不涉及命题内部的结构。命题逻辑中的基本单位是命题，例如“今天下雨”或“火车晚点”。命题逻辑使用逻辑联结词（如“和”，“或”，“非”）来构造更复杂的命题。</a:t>
            </a:r>
          </a:p>
          <a:p>
            <a:r>
              <a:rPr lang="zh-CN" altLang="en-US" dirty="0"/>
              <a:t>一阶逻辑：也称谓词逻辑，是逻辑学的另一个重要分支，它在命题逻辑的基础上增加了量词（如“所有”，“存在”）和谓词（可以理解为属性或关系）。一阶逻辑可以表达命题内部的结构，比如“所有人都是凡人”或“存在一只猫是黑色的”。这使得一阶逻辑在表达能力上更加强大和灵活。</a:t>
            </a:r>
          </a:p>
          <a:p>
            <a:r>
              <a:rPr lang="zh-CN" altLang="en-US" dirty="0"/>
              <a:t>形式化：</a:t>
            </a:r>
          </a:p>
          <a:p>
            <a:endParaRPr lang="zh-CN" altLang="en-US" dirty="0"/>
          </a:p>
          <a:p>
            <a:r>
              <a:rPr lang="zh-CN" altLang="en-US" dirty="0"/>
              <a:t>命题逻辑的形式化相对简单，因为它只涉及到整个命题的真假。</a:t>
            </a:r>
          </a:p>
          <a:p>
            <a:r>
              <a:rPr lang="zh-CN" altLang="en-US" dirty="0"/>
              <a:t>一阶逻辑的形式化更加复杂，因为它需要处理个体、谓词、量词等更复杂的元素。</a:t>
            </a:r>
          </a:p>
          <a:p>
            <a:r>
              <a:rPr lang="zh-CN" altLang="en-US" dirty="0"/>
              <a:t>应用范围：</a:t>
            </a:r>
          </a:p>
          <a:p>
            <a:endParaRPr lang="zh-CN" altLang="en-US" dirty="0"/>
          </a:p>
          <a:p>
            <a:r>
              <a:rPr lang="zh-CN" altLang="en-US" dirty="0"/>
              <a:t>命题逻辑主要用于分析和推理那些可以被整体性描述的情况。</a:t>
            </a:r>
          </a:p>
          <a:p>
            <a:r>
              <a:rPr lang="zh-CN" altLang="en-US" dirty="0"/>
              <a:t>一阶逻辑由于其表达能力更强，因此在数学、计算机科学、语言学等领域有更广泛的应用。它能够描述和推理个体之间的关系以及属性。</a:t>
            </a:r>
          </a:p>
          <a:p>
            <a:r>
              <a:rPr lang="zh-CN" altLang="en-US" dirty="0"/>
              <a:t>推理复杂性：</a:t>
            </a:r>
          </a:p>
          <a:p>
            <a:endParaRPr lang="zh-CN" altLang="en-US" dirty="0"/>
          </a:p>
          <a:p>
            <a:r>
              <a:rPr lang="zh-CN" altLang="en-US" dirty="0"/>
              <a:t>命题逻辑的推理通常比一阶逻辑简单，因为它处理的结构更为直接和简单。</a:t>
            </a:r>
          </a:p>
          <a:p>
            <a:r>
              <a:rPr lang="zh-CN" altLang="en-US" dirty="0"/>
              <a:t>一阶逻辑的推理更加复杂，特别是当涉及到量词和谓词的时候。</a:t>
            </a:r>
          </a:p>
          <a:p>
            <a:r>
              <a:rPr lang="zh-CN" altLang="en-US" dirty="0"/>
              <a:t>总的来说，一阶逻辑在表达能力上更为强大，可以表达个体之间的复杂关系，而命题逻辑则更加简洁，适用于处理整体性的命题。</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6</a:t>
            </a:fld>
            <a:endParaRPr lang="zh-CN" altLang="en-US"/>
          </a:p>
        </p:txBody>
      </p:sp>
    </p:spTree>
    <p:extLst>
      <p:ext uri="{BB962C8B-B14F-4D97-AF65-F5344CB8AC3E}">
        <p14:creationId xmlns:p14="http://schemas.microsoft.com/office/powerpoint/2010/main" val="21142279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990600" indent="-177800" algn="l">
              <a:lnSpc>
                <a:spcPct val="130000"/>
              </a:lnSpc>
              <a:spcBef>
                <a:spcPts val="600"/>
              </a:spcBef>
              <a:buClr>
                <a:srgbClr val="0B61FF"/>
              </a:buClr>
              <a:buSzPct val="120000"/>
            </a:pPr>
            <a:r>
              <a:rPr lang="en-US" altLang="zh-CN" sz="1200" b="1" i="0" dirty="0">
                <a:solidFill>
                  <a:srgbClr val="0C0D0E"/>
                </a:solidFill>
                <a:effectLst/>
                <a:latin typeface="Trebuchet MS" panose="020B0603020202020204" pitchFamily="34" charset="0"/>
              </a:rPr>
              <a:t>Individual Constants, Individual Variables, Domain of Discourse, Universe of Discourse</a:t>
            </a:r>
          </a:p>
          <a:p>
            <a:pPr marL="990600" indent="-177800" algn="l">
              <a:lnSpc>
                <a:spcPct val="130000"/>
              </a:lnSpc>
              <a:spcBef>
                <a:spcPts val="600"/>
              </a:spcBef>
              <a:buClr>
                <a:srgbClr val="0B61FF"/>
              </a:buClr>
              <a:buSzPct val="120000"/>
            </a:pPr>
            <a:r>
              <a:rPr lang="en-US" altLang="zh-CN" sz="1200" b="1" i="0" dirty="0">
                <a:solidFill>
                  <a:srgbClr val="0C0D0E"/>
                </a:solidFill>
                <a:effectLst/>
                <a:latin typeface="Trebuchet MS" panose="020B0603020202020204" pitchFamily="34" charset="0"/>
              </a:rPr>
              <a:t>Propositional Constants, Propositional Variables</a:t>
            </a:r>
          </a:p>
          <a:p>
            <a:pPr marL="990600" indent="-177800" algn="l">
              <a:lnSpc>
                <a:spcPct val="130000"/>
              </a:lnSpc>
              <a:spcBef>
                <a:spcPts val="600"/>
              </a:spcBef>
              <a:buClr>
                <a:srgbClr val="0B61FF"/>
              </a:buClr>
              <a:buSzPct val="120000"/>
            </a:pPr>
            <a:r>
              <a:rPr lang="en-US" altLang="zh-CN" sz="1200" b="1" i="0" dirty="0">
                <a:solidFill>
                  <a:srgbClr val="0C0D0E"/>
                </a:solidFill>
                <a:effectLst/>
                <a:latin typeface="Trebuchet MS" panose="020B0603020202020204" pitchFamily="34" charset="0"/>
              </a:rPr>
              <a:t>Universal Quantifiers, Existential Quantifiers</a:t>
            </a:r>
          </a:p>
          <a:p>
            <a:pPr marL="0" indent="0" eaLnBrk="1" hangingPunct="1">
              <a:spcBef>
                <a:spcPct val="60000"/>
              </a:spcBef>
              <a:buNone/>
            </a:pPr>
            <a:endParaRPr lang="en-US" altLang="zh-CN" b="1" dirty="0"/>
          </a:p>
          <a:p>
            <a:pPr lvl="1"/>
            <a:r>
              <a:rPr lang="en-US" altLang="zh-CN" b="0" i="0" dirty="0">
                <a:solidFill>
                  <a:srgbClr val="0C0D0E"/>
                </a:solidFill>
                <a:effectLst/>
                <a:latin typeface="Trebuchet MS" panose="020B0603020202020204" pitchFamily="34" charset="0"/>
              </a:rPr>
              <a:t>First-order language L (alphabet, terms, atomic formulas, compound formulas)</a:t>
            </a:r>
          </a:p>
          <a:p>
            <a:pPr lvl="1"/>
            <a:r>
              <a:rPr lang="en-US" altLang="zh-CN" b="0" i="0" dirty="0">
                <a:solidFill>
                  <a:srgbClr val="0C0D0E"/>
                </a:solidFill>
                <a:effectLst/>
                <a:latin typeface="Trebuchet MS" panose="020B0603020202020204" pitchFamily="34" charset="0"/>
              </a:rPr>
              <a:t>Scope and bound variables, bound occurrences and free occurrences</a:t>
            </a:r>
          </a:p>
          <a:p>
            <a:pPr lvl="1"/>
            <a:r>
              <a:rPr lang="en-US" altLang="zh-CN" b="0" i="0" dirty="0">
                <a:solidFill>
                  <a:srgbClr val="0C0D0E"/>
                </a:solidFill>
                <a:effectLst/>
                <a:latin typeface="Trebuchet MS" panose="020B0603020202020204" pitchFamily="34" charset="0"/>
              </a:rPr>
              <a:t>Closed formulas</a:t>
            </a:r>
          </a:p>
          <a:p>
            <a:pPr lvl="1"/>
            <a:r>
              <a:rPr lang="en-US" altLang="zh-CN" b="0" i="0" dirty="0">
                <a:solidFill>
                  <a:srgbClr val="0C0D0E"/>
                </a:solidFill>
                <a:effectLst/>
                <a:latin typeface="Trebuchet MS" panose="020B0603020202020204" pitchFamily="34" charset="0"/>
              </a:rPr>
              <a:t>Interpretation of first-order language L</a:t>
            </a:r>
          </a:p>
          <a:p>
            <a:pPr lvl="1"/>
            <a:r>
              <a:rPr lang="en-US" altLang="zh-CN" b="0" i="0" dirty="0">
                <a:solidFill>
                  <a:srgbClr val="0C0D0E"/>
                </a:solidFill>
                <a:effectLst/>
                <a:latin typeface="Trebuchet MS" panose="020B0603020202020204" pitchFamily="34" charset="0"/>
              </a:rPr>
              <a:t>Tautologies, contradictions, and satisfiable formulas</a:t>
            </a:r>
          </a:p>
          <a:p>
            <a:pPr lvl="1"/>
            <a:r>
              <a:rPr lang="en-US" altLang="zh-CN" b="0" i="0" dirty="0">
                <a:solidFill>
                  <a:srgbClr val="0C0D0E"/>
                </a:solidFill>
                <a:effectLst/>
                <a:latin typeface="Trebuchet MS" panose="020B0603020202020204" pitchFamily="34" charset="0"/>
              </a:rPr>
              <a:t>Substitution examples</a:t>
            </a:r>
          </a:p>
          <a:p>
            <a:pPr marL="0" indent="0" eaLnBrk="1" hangingPunct="1">
              <a:spcBef>
                <a:spcPct val="60000"/>
              </a:spcBef>
              <a:buNone/>
            </a:pPr>
            <a:endParaRPr lang="en-US" altLang="zh-CN" b="1" dirty="0"/>
          </a:p>
          <a:p>
            <a:pPr marL="0" indent="0" eaLnBrk="1" hangingPunct="1">
              <a:spcBef>
                <a:spcPct val="60000"/>
              </a:spcBef>
              <a:buNone/>
            </a:pPr>
            <a:r>
              <a:rPr lang="zh-CN" altLang="en-US" b="1" dirty="0"/>
              <a:t>3.1.1 命题逻辑的局限性</a:t>
            </a:r>
          </a:p>
          <a:p>
            <a:pPr marL="0" indent="0" eaLnBrk="1" hangingPunct="1">
              <a:spcBef>
                <a:spcPct val="60000"/>
              </a:spcBef>
              <a:buNone/>
            </a:pPr>
            <a:r>
              <a:rPr lang="zh-CN" altLang="en-US" b="1" dirty="0"/>
              <a:t>3.1.2 个体词、谓词与量词</a:t>
            </a:r>
          </a:p>
          <a:p>
            <a:pPr lvl="1" indent="119063" eaLnBrk="1" hangingPunct="1"/>
            <a:r>
              <a:rPr lang="zh-CN" altLang="en-US" b="1" dirty="0"/>
              <a:t>个体常项、个体变项、个体域、全总个体域</a:t>
            </a:r>
          </a:p>
          <a:p>
            <a:pPr lvl="1" indent="119063" eaLnBrk="1" hangingPunct="1"/>
            <a:r>
              <a:rPr lang="zh-CN" altLang="en-US" b="1" dirty="0"/>
              <a:t>谓词常项、谓词变项</a:t>
            </a:r>
          </a:p>
          <a:p>
            <a:pPr lvl="1" indent="119063" eaLnBrk="1" hangingPunct="1"/>
            <a:r>
              <a:rPr lang="zh-CN" altLang="en-US" b="1" dirty="0"/>
              <a:t>全称量词、存在量词</a:t>
            </a:r>
          </a:p>
          <a:p>
            <a:pPr marL="0" indent="0" eaLnBrk="1" hangingPunct="1">
              <a:spcBef>
                <a:spcPct val="60000"/>
              </a:spcBef>
              <a:buNone/>
            </a:pPr>
            <a:r>
              <a:rPr lang="zh-CN" altLang="en-US" b="1" dirty="0"/>
              <a:t>3.1.3 一阶逻辑命题符号化</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7</a:t>
            </a:fld>
            <a:endParaRPr lang="zh-CN" altLang="en-US"/>
          </a:p>
        </p:txBody>
      </p:sp>
    </p:spTree>
    <p:extLst>
      <p:ext uri="{BB962C8B-B14F-4D97-AF65-F5344CB8AC3E}">
        <p14:creationId xmlns:p14="http://schemas.microsoft.com/office/powerpoint/2010/main" val="37725187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eaLnBrk="1" hangingPunct="1">
              <a:lnSpc>
                <a:spcPct val="90000"/>
              </a:lnSpc>
              <a:buFontTx/>
              <a:buNone/>
            </a:pPr>
            <a:r>
              <a:rPr lang="zh-CN" altLang="en-US" sz="1200" b="1" dirty="0">
                <a:solidFill>
                  <a:srgbClr val="FF3300"/>
                </a:solidFill>
              </a:rPr>
              <a:t>个体词</a:t>
            </a:r>
            <a:r>
              <a:rPr lang="zh-CN" altLang="en-US" sz="1200" b="1" dirty="0"/>
              <a:t>: 所研究对象中可以独立存在的具体或抽象的客体</a:t>
            </a:r>
          </a:p>
          <a:p>
            <a:pPr algn="just" eaLnBrk="1" hangingPunct="1">
              <a:lnSpc>
                <a:spcPct val="90000"/>
              </a:lnSpc>
              <a:buFontTx/>
              <a:buNone/>
            </a:pPr>
            <a:r>
              <a:rPr lang="zh-CN" altLang="en-US" sz="1200" b="1" dirty="0">
                <a:solidFill>
                  <a:srgbClr val="FF3300"/>
                </a:solidFill>
              </a:rPr>
              <a:t>个体常项</a:t>
            </a:r>
            <a:r>
              <a:rPr lang="zh-CN" altLang="en-US" sz="1200" b="1" dirty="0"/>
              <a:t>: 表示具体事物的个体词, 用</a:t>
            </a:r>
            <a:r>
              <a:rPr lang="en-US" altLang="zh-CN" sz="1200" b="1" i="1" dirty="0"/>
              <a:t>a</a:t>
            </a:r>
            <a:r>
              <a:rPr lang="en-US" altLang="zh-CN" sz="1200" b="1" dirty="0"/>
              <a:t>, </a:t>
            </a:r>
            <a:r>
              <a:rPr lang="en-US" altLang="zh-CN" sz="1200" b="1" i="1" dirty="0"/>
              <a:t>b</a:t>
            </a:r>
            <a:r>
              <a:rPr lang="en-US" altLang="zh-CN" sz="1200" b="1" dirty="0"/>
              <a:t>, </a:t>
            </a:r>
            <a:r>
              <a:rPr lang="en-US" altLang="zh-CN" sz="1200" b="1" i="1" dirty="0"/>
              <a:t>c</a:t>
            </a:r>
            <a:r>
              <a:rPr lang="zh-CN" altLang="en-US" sz="1200" b="1" dirty="0"/>
              <a:t>等表示</a:t>
            </a:r>
          </a:p>
          <a:p>
            <a:pPr algn="just" eaLnBrk="1" hangingPunct="1">
              <a:lnSpc>
                <a:spcPct val="90000"/>
              </a:lnSpc>
              <a:buFontTx/>
              <a:buNone/>
            </a:pPr>
            <a:r>
              <a:rPr lang="zh-CN" altLang="en-US" sz="1200" b="1" dirty="0">
                <a:solidFill>
                  <a:srgbClr val="FF3300"/>
                </a:solidFill>
              </a:rPr>
              <a:t>个体变项</a:t>
            </a:r>
            <a:r>
              <a:rPr lang="zh-CN" altLang="en-US" sz="1200" b="1" dirty="0"/>
              <a:t>: 表示抽象事物的个体词, 用</a:t>
            </a:r>
            <a:r>
              <a:rPr lang="en-US" altLang="zh-CN" sz="1200" b="1" i="1" dirty="0"/>
              <a:t>x</a:t>
            </a:r>
            <a:r>
              <a:rPr lang="en-US" altLang="zh-CN" sz="1200" b="1" dirty="0"/>
              <a:t>, </a:t>
            </a:r>
            <a:r>
              <a:rPr lang="en-US" altLang="zh-CN" sz="1200" b="1" i="1" dirty="0"/>
              <a:t>y</a:t>
            </a:r>
            <a:r>
              <a:rPr lang="en-US" altLang="zh-CN" sz="1200" b="1" dirty="0"/>
              <a:t>, </a:t>
            </a:r>
            <a:r>
              <a:rPr lang="en-US" altLang="zh-CN" sz="1200" b="1" i="1" dirty="0"/>
              <a:t>z</a:t>
            </a:r>
            <a:r>
              <a:rPr lang="zh-CN" altLang="en-US" sz="1200" b="1" dirty="0"/>
              <a:t>等表示</a:t>
            </a:r>
          </a:p>
          <a:p>
            <a:pPr algn="just" eaLnBrk="1" hangingPunct="1">
              <a:lnSpc>
                <a:spcPct val="90000"/>
              </a:lnSpc>
              <a:buFontTx/>
              <a:buNone/>
            </a:pPr>
            <a:r>
              <a:rPr lang="zh-CN" altLang="en-US" sz="1200" b="1" dirty="0">
                <a:solidFill>
                  <a:srgbClr val="FF3300"/>
                </a:solidFill>
              </a:rPr>
              <a:t>个体域</a:t>
            </a:r>
            <a:r>
              <a:rPr lang="zh-CN" altLang="en-US" sz="1200" b="1" dirty="0"/>
              <a:t>: 个体变项的取值范围</a:t>
            </a:r>
          </a:p>
          <a:p>
            <a:pPr algn="just" eaLnBrk="1" hangingPunct="1">
              <a:lnSpc>
                <a:spcPct val="90000"/>
              </a:lnSpc>
              <a:buFontTx/>
              <a:buNone/>
            </a:pPr>
            <a:r>
              <a:rPr lang="zh-CN" altLang="en-US" sz="1200" b="1" dirty="0">
                <a:solidFill>
                  <a:srgbClr val="FF3300"/>
                </a:solidFill>
              </a:rPr>
              <a:t>全总个体域</a:t>
            </a:r>
            <a:r>
              <a:rPr lang="zh-CN" altLang="en-US" sz="1200" b="1" dirty="0"/>
              <a:t>:   宇宙间一切事物</a:t>
            </a:r>
          </a:p>
          <a:p>
            <a:pPr algn="just" eaLnBrk="1" hangingPunct="1">
              <a:lnSpc>
                <a:spcPct val="90000"/>
              </a:lnSpc>
              <a:buFontTx/>
              <a:buNone/>
            </a:pPr>
            <a:endParaRPr lang="zh-CN" altLang="en-US" sz="1200" b="1" dirty="0"/>
          </a:p>
          <a:p>
            <a:pPr algn="just" eaLnBrk="1" hangingPunct="1">
              <a:lnSpc>
                <a:spcPct val="90000"/>
              </a:lnSpc>
              <a:buFontTx/>
              <a:buNone/>
            </a:pPr>
            <a:r>
              <a:rPr lang="zh-CN" altLang="en-US" sz="1200" b="1" dirty="0">
                <a:solidFill>
                  <a:srgbClr val="000066"/>
                </a:solidFill>
              </a:rPr>
              <a:t>例如  “若</a:t>
            </a:r>
            <a:r>
              <a:rPr lang="en-US" altLang="zh-CN" sz="1200" b="1" i="1" dirty="0">
                <a:solidFill>
                  <a:srgbClr val="000066"/>
                </a:solidFill>
              </a:rPr>
              <a:t>x</a:t>
            </a:r>
            <a:r>
              <a:rPr lang="zh-CN" altLang="en-US" sz="1200" b="1" dirty="0">
                <a:solidFill>
                  <a:srgbClr val="000066"/>
                </a:solidFill>
              </a:rPr>
              <a:t>是偶数, 则</a:t>
            </a:r>
            <a:r>
              <a:rPr lang="en-US" altLang="zh-CN" sz="1200" b="1" i="1" dirty="0">
                <a:solidFill>
                  <a:srgbClr val="000066"/>
                </a:solidFill>
              </a:rPr>
              <a:t>x</a:t>
            </a:r>
            <a:r>
              <a:rPr lang="zh-CN" altLang="en-US" sz="1200" b="1" dirty="0">
                <a:solidFill>
                  <a:srgbClr val="000066"/>
                </a:solidFill>
              </a:rPr>
              <a:t>能被2整除.” </a:t>
            </a:r>
          </a:p>
          <a:p>
            <a:pPr algn="just" eaLnBrk="1" hangingPunct="1">
              <a:lnSpc>
                <a:spcPct val="90000"/>
              </a:lnSpc>
              <a:buFontTx/>
              <a:buNone/>
            </a:pPr>
            <a:r>
              <a:rPr lang="zh-CN" altLang="en-US" sz="1200" b="1" dirty="0">
                <a:solidFill>
                  <a:srgbClr val="000066"/>
                </a:solidFill>
              </a:rPr>
              <a:t>     </a:t>
            </a:r>
            <a:r>
              <a:rPr lang="en-US" altLang="zh-CN" sz="1200" b="1" i="1" dirty="0">
                <a:solidFill>
                  <a:srgbClr val="000066"/>
                </a:solidFill>
              </a:rPr>
              <a:t>x</a:t>
            </a:r>
            <a:r>
              <a:rPr lang="zh-CN" altLang="en-US" sz="1200" b="1" dirty="0">
                <a:solidFill>
                  <a:srgbClr val="000066"/>
                </a:solidFill>
              </a:rPr>
              <a:t>、 偶数和2是个体词, 偶数和2是个体常项, </a:t>
            </a:r>
            <a:r>
              <a:rPr lang="en-US" altLang="zh-CN" sz="1200" b="1" i="1" dirty="0">
                <a:solidFill>
                  <a:srgbClr val="000066"/>
                </a:solidFill>
              </a:rPr>
              <a:t>x</a:t>
            </a:r>
            <a:r>
              <a:rPr lang="zh-CN" altLang="en-US" sz="1200" b="1" dirty="0">
                <a:solidFill>
                  <a:srgbClr val="000066"/>
                </a:solidFill>
              </a:rPr>
              <a:t>是个体变项</a:t>
            </a:r>
          </a:p>
          <a:p>
            <a:pPr algn="just" eaLnBrk="1" hangingPunct="1">
              <a:lnSpc>
                <a:spcPct val="90000"/>
              </a:lnSpc>
              <a:buFontTx/>
              <a:buNone/>
            </a:pPr>
            <a:r>
              <a:rPr lang="zh-CN" altLang="en-US" sz="1200" b="1" dirty="0">
                <a:solidFill>
                  <a:srgbClr val="000066"/>
                </a:solidFill>
              </a:rPr>
              <a:t>    个体域可以是自然数集</a:t>
            </a:r>
            <a:r>
              <a:rPr lang="en-US" altLang="zh-CN" sz="1200" b="1" dirty="0">
                <a:solidFill>
                  <a:srgbClr val="000066"/>
                </a:solidFill>
              </a:rPr>
              <a:t>N, </a:t>
            </a:r>
            <a:r>
              <a:rPr lang="zh-CN" altLang="en-US" sz="1200" b="1" dirty="0">
                <a:solidFill>
                  <a:srgbClr val="000066"/>
                </a:solidFill>
              </a:rPr>
              <a:t>整数集</a:t>
            </a:r>
            <a:r>
              <a:rPr lang="en-US" altLang="zh-CN" sz="1200" b="1" dirty="0">
                <a:solidFill>
                  <a:srgbClr val="000066"/>
                </a:solidFill>
              </a:rPr>
              <a:t>Z,</a:t>
            </a:r>
            <a:r>
              <a:rPr lang="en-US" altLang="zh-CN" sz="1200" b="1" dirty="0">
                <a:solidFill>
                  <a:srgbClr val="000066"/>
                </a:solidFill>
                <a:cs typeface="Times New Roman" panose="02020603050405020304" pitchFamily="18" charset="0"/>
              </a:rPr>
              <a:t>…,</a:t>
            </a:r>
            <a:r>
              <a:rPr lang="en-US" altLang="zh-CN" sz="1200" b="1" dirty="0">
                <a:solidFill>
                  <a:srgbClr val="000066"/>
                </a:solidFill>
              </a:rPr>
              <a:t> </a:t>
            </a:r>
            <a:r>
              <a:rPr lang="zh-CN" altLang="en-US" sz="1200" b="1" dirty="0">
                <a:solidFill>
                  <a:srgbClr val="000066"/>
                </a:solidFill>
              </a:rPr>
              <a:t>也可以是全总个体域</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8</a:t>
            </a:fld>
            <a:endParaRPr lang="zh-CN" altLang="en-US"/>
          </a:p>
        </p:txBody>
      </p:sp>
    </p:spTree>
    <p:extLst>
      <p:ext uri="{BB962C8B-B14F-4D97-AF65-F5344CB8AC3E}">
        <p14:creationId xmlns:p14="http://schemas.microsoft.com/office/powerpoint/2010/main" val="9272218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eaLnBrk="1" hangingPunct="1">
              <a:buFontTx/>
              <a:buNone/>
            </a:pPr>
            <a:r>
              <a:rPr lang="zh-CN" altLang="en-US" sz="1200" b="1" dirty="0">
                <a:solidFill>
                  <a:srgbClr val="FF3300"/>
                </a:solidFill>
              </a:rPr>
              <a:t>谓词</a:t>
            </a:r>
            <a:r>
              <a:rPr lang="zh-CN" altLang="en-US" sz="1200" b="1" dirty="0"/>
              <a:t>: 表示个体词性质或相互之间关系的词</a:t>
            </a:r>
          </a:p>
          <a:p>
            <a:pPr algn="just" eaLnBrk="1" hangingPunct="1">
              <a:buFontTx/>
              <a:buNone/>
            </a:pPr>
            <a:r>
              <a:rPr lang="zh-CN" altLang="en-US" sz="1200" b="1" dirty="0">
                <a:solidFill>
                  <a:srgbClr val="FF3300"/>
                </a:solidFill>
              </a:rPr>
              <a:t>谓词常项</a:t>
            </a:r>
            <a:r>
              <a:rPr lang="zh-CN" altLang="en-US" sz="1200" b="1" dirty="0"/>
              <a:t>: 表示具体性质或相互之间关系的谓词</a:t>
            </a:r>
            <a:endParaRPr lang="zh-CN" altLang="en-US" sz="1200" b="1" dirty="0">
              <a:solidFill>
                <a:schemeClr val="bg2"/>
              </a:solidFill>
            </a:endParaRPr>
          </a:p>
          <a:p>
            <a:pPr algn="just" eaLnBrk="1" hangingPunct="1">
              <a:buFontTx/>
              <a:buNone/>
            </a:pPr>
            <a:r>
              <a:rPr lang="zh-CN" altLang="en-US" sz="1200" b="1" dirty="0">
                <a:solidFill>
                  <a:srgbClr val="FF3300"/>
                </a:solidFill>
              </a:rPr>
              <a:t>谓词变项</a:t>
            </a:r>
            <a:r>
              <a:rPr lang="zh-CN" altLang="en-US" sz="1200" b="1" dirty="0"/>
              <a:t>: 表示抽象性质或相互之间关系的谓词</a:t>
            </a:r>
            <a:endParaRPr lang="en-US" altLang="zh-CN" sz="1200" b="1" dirty="0">
              <a:solidFill>
                <a:schemeClr val="bg2"/>
              </a:solidFill>
            </a:endParaRPr>
          </a:p>
          <a:p>
            <a:pPr algn="just" eaLnBrk="1" hangingPunct="1">
              <a:buFontTx/>
              <a:buNone/>
            </a:pPr>
            <a:r>
              <a:rPr lang="en-US" altLang="zh-CN" sz="1200" b="1" dirty="0"/>
              <a:t>                       </a:t>
            </a:r>
            <a:r>
              <a:rPr lang="zh-CN" altLang="en-US" sz="1200" b="1" dirty="0"/>
              <a:t>谓词用</a:t>
            </a:r>
            <a:r>
              <a:rPr lang="en-US" altLang="zh-CN" sz="1200" b="1" i="1" dirty="0"/>
              <a:t>F,G,H,P</a:t>
            </a:r>
            <a:r>
              <a:rPr lang="zh-CN" altLang="en-US" sz="1200" b="1" dirty="0"/>
              <a:t>等表示 </a:t>
            </a:r>
          </a:p>
          <a:p>
            <a:pPr algn="just" eaLnBrk="1" hangingPunct="1">
              <a:buFontTx/>
              <a:buNone/>
            </a:pPr>
            <a:endParaRPr lang="en-US" altLang="zh-CN" sz="1200" b="1" i="1" dirty="0">
              <a:solidFill>
                <a:srgbClr val="FF0000"/>
              </a:solidFill>
            </a:endParaRPr>
          </a:p>
          <a:p>
            <a:pPr algn="just" eaLnBrk="1" hangingPunct="1">
              <a:buFontTx/>
              <a:buNone/>
            </a:pPr>
            <a:r>
              <a:rPr lang="en-US" altLang="zh-CN" sz="1200" b="1" i="1" dirty="0">
                <a:solidFill>
                  <a:srgbClr val="FF3300"/>
                </a:solidFill>
              </a:rPr>
              <a:t>n</a:t>
            </a:r>
            <a:r>
              <a:rPr lang="zh-CN" altLang="en-US" sz="1200" b="1" dirty="0">
                <a:solidFill>
                  <a:srgbClr val="FF3300"/>
                </a:solidFill>
              </a:rPr>
              <a:t>元谓词</a:t>
            </a:r>
            <a:r>
              <a:rPr lang="en-US" altLang="zh-CN" sz="1200" b="1" i="1" dirty="0">
                <a:solidFill>
                  <a:srgbClr val="FF3300"/>
                </a:solidFill>
              </a:rPr>
              <a:t>P</a:t>
            </a:r>
            <a:r>
              <a:rPr lang="en-US" altLang="zh-CN" sz="1200" b="1" dirty="0">
                <a:solidFill>
                  <a:srgbClr val="FF3300"/>
                </a:solidFill>
              </a:rPr>
              <a:t>(</a:t>
            </a:r>
            <a:r>
              <a:rPr lang="en-US" altLang="zh-CN" sz="1200" b="1" i="1" dirty="0">
                <a:solidFill>
                  <a:srgbClr val="FF3300"/>
                </a:solidFill>
              </a:rPr>
              <a:t>x</a:t>
            </a:r>
            <a:r>
              <a:rPr lang="en-US" altLang="zh-CN" sz="1200" b="1" baseline="-25000" dirty="0">
                <a:solidFill>
                  <a:srgbClr val="FF3300"/>
                </a:solidFill>
              </a:rPr>
              <a:t>1</a:t>
            </a:r>
            <a:r>
              <a:rPr lang="en-US" altLang="zh-CN" sz="1200" b="1" dirty="0">
                <a:solidFill>
                  <a:srgbClr val="FF3300"/>
                </a:solidFill>
              </a:rPr>
              <a:t>, </a:t>
            </a:r>
            <a:r>
              <a:rPr lang="en-US" altLang="zh-CN" sz="1200" b="1" i="1" dirty="0">
                <a:solidFill>
                  <a:srgbClr val="FF3300"/>
                </a:solidFill>
              </a:rPr>
              <a:t>x</a:t>
            </a:r>
            <a:r>
              <a:rPr lang="en-US" altLang="zh-CN" sz="1200" b="1" baseline="-25000" dirty="0">
                <a:solidFill>
                  <a:srgbClr val="FF3300"/>
                </a:solidFill>
              </a:rPr>
              <a:t>2</a:t>
            </a:r>
            <a:r>
              <a:rPr lang="en-US" altLang="zh-CN" sz="1200" b="1" dirty="0">
                <a:solidFill>
                  <a:srgbClr val="FF3300"/>
                </a:solidFill>
              </a:rPr>
              <a:t>,</a:t>
            </a:r>
            <a:r>
              <a:rPr lang="en-US" altLang="zh-CN" sz="1200" b="1" dirty="0">
                <a:solidFill>
                  <a:srgbClr val="FF3300"/>
                </a:solidFill>
                <a:cs typeface="Times New Roman" panose="02020603050405020304" pitchFamily="18" charset="0"/>
              </a:rPr>
              <a:t>…</a:t>
            </a:r>
            <a:r>
              <a:rPr lang="en-US" altLang="zh-CN" sz="1200" b="1" dirty="0">
                <a:solidFill>
                  <a:srgbClr val="FF3300"/>
                </a:solidFill>
              </a:rPr>
              <a:t>, </a:t>
            </a:r>
            <a:r>
              <a:rPr lang="en-US" altLang="zh-CN" sz="1200" b="1" i="1" dirty="0">
                <a:solidFill>
                  <a:srgbClr val="FF3300"/>
                </a:solidFill>
              </a:rPr>
              <a:t>x</a:t>
            </a:r>
            <a:r>
              <a:rPr lang="en-US" altLang="zh-CN" sz="1200" b="1" i="1" baseline="-25000" dirty="0">
                <a:solidFill>
                  <a:srgbClr val="FF3300"/>
                </a:solidFill>
              </a:rPr>
              <a:t>n</a:t>
            </a:r>
            <a:r>
              <a:rPr lang="en-US" altLang="zh-CN" sz="1200" b="1" dirty="0">
                <a:solidFill>
                  <a:srgbClr val="FF3300"/>
                </a:solidFill>
              </a:rPr>
              <a:t>)</a:t>
            </a:r>
            <a:r>
              <a:rPr lang="en-US" altLang="zh-CN" sz="1200" b="1" dirty="0"/>
              <a:t>: </a:t>
            </a:r>
            <a:r>
              <a:rPr lang="zh-CN" altLang="en-US" sz="1200" b="1" dirty="0"/>
              <a:t>含</a:t>
            </a:r>
            <a:r>
              <a:rPr lang="en-US" altLang="zh-CN" sz="1200" b="1" i="1" dirty="0"/>
              <a:t>n</a:t>
            </a:r>
            <a:r>
              <a:rPr lang="zh-CN" altLang="en-US" sz="1200" b="1" dirty="0"/>
              <a:t>个命题变项的谓词, 是定义在</a:t>
            </a:r>
          </a:p>
          <a:p>
            <a:pPr algn="just" eaLnBrk="1" hangingPunct="1">
              <a:buFontTx/>
              <a:buNone/>
            </a:pPr>
            <a:r>
              <a:rPr lang="zh-CN" altLang="en-US" sz="1200" b="1" dirty="0"/>
              <a:t>个体域上, 值域为{0,1}的</a:t>
            </a:r>
            <a:r>
              <a:rPr lang="en-US" altLang="zh-CN" sz="1200" b="1" i="1" dirty="0"/>
              <a:t>n</a:t>
            </a:r>
            <a:r>
              <a:rPr lang="zh-CN" altLang="en-US" sz="1200" b="1" dirty="0"/>
              <a:t>元函数</a:t>
            </a:r>
          </a:p>
          <a:p>
            <a:pPr algn="just" eaLnBrk="1" hangingPunct="1">
              <a:buFontTx/>
              <a:buNone/>
            </a:pPr>
            <a:r>
              <a:rPr lang="zh-CN" altLang="en-US" sz="1200" b="1" dirty="0">
                <a:solidFill>
                  <a:srgbClr val="FF3300"/>
                </a:solidFill>
              </a:rPr>
              <a:t>一元谓词</a:t>
            </a:r>
            <a:r>
              <a:rPr lang="zh-CN" altLang="en-US" sz="1200" b="1" dirty="0"/>
              <a:t>: 表示事物的性质</a:t>
            </a:r>
          </a:p>
          <a:p>
            <a:pPr algn="just" eaLnBrk="1" hangingPunct="1">
              <a:buFontTx/>
              <a:buNone/>
            </a:pPr>
            <a:r>
              <a:rPr lang="zh-CN" altLang="en-US" sz="1200" b="1" dirty="0">
                <a:solidFill>
                  <a:srgbClr val="FF3300"/>
                </a:solidFill>
              </a:rPr>
              <a:t>多元谓词(</a:t>
            </a:r>
            <a:r>
              <a:rPr lang="en-US" altLang="zh-CN" sz="1200" b="1" i="1" dirty="0">
                <a:solidFill>
                  <a:srgbClr val="FF3300"/>
                </a:solidFill>
              </a:rPr>
              <a:t>n</a:t>
            </a:r>
            <a:r>
              <a:rPr lang="en-US" altLang="zh-CN" sz="1200" b="1" dirty="0">
                <a:solidFill>
                  <a:srgbClr val="FF3300"/>
                </a:solidFill>
                <a:sym typeface="Symbol" panose="05050102010706020507" pitchFamily="18" charset="2"/>
              </a:rPr>
              <a:t></a:t>
            </a:r>
            <a:r>
              <a:rPr lang="en-US" altLang="zh-CN" sz="1200" b="1" dirty="0">
                <a:solidFill>
                  <a:srgbClr val="FF3300"/>
                </a:solidFill>
              </a:rPr>
              <a:t>2)</a:t>
            </a:r>
            <a:r>
              <a:rPr lang="en-US" altLang="zh-CN" sz="1200" b="1" dirty="0"/>
              <a:t>: </a:t>
            </a:r>
            <a:r>
              <a:rPr lang="zh-CN" altLang="en-US" sz="1200" b="1" dirty="0"/>
              <a:t>表示事物之间的关系</a:t>
            </a:r>
          </a:p>
          <a:p>
            <a:pPr algn="just" eaLnBrk="1" hangingPunct="1">
              <a:buFontTx/>
              <a:buNone/>
            </a:pPr>
            <a:r>
              <a:rPr lang="en-US" altLang="zh-CN" sz="1200" b="1" dirty="0">
                <a:solidFill>
                  <a:srgbClr val="FF3300"/>
                </a:solidFill>
              </a:rPr>
              <a:t>0</a:t>
            </a:r>
            <a:r>
              <a:rPr lang="zh-CN" altLang="en-US" sz="1200" b="1" dirty="0">
                <a:solidFill>
                  <a:srgbClr val="FF3300"/>
                </a:solidFill>
              </a:rPr>
              <a:t>元谓词</a:t>
            </a:r>
            <a:r>
              <a:rPr lang="zh-CN" altLang="en-US" sz="1200" b="1" dirty="0"/>
              <a:t>: 不含个体变项的谓词,即命题常项或命题变项</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9</a:t>
            </a:fld>
            <a:endParaRPr lang="zh-CN" altLang="en-US"/>
          </a:p>
        </p:txBody>
      </p:sp>
    </p:spTree>
    <p:extLst>
      <p:ext uri="{BB962C8B-B14F-4D97-AF65-F5344CB8AC3E}">
        <p14:creationId xmlns:p14="http://schemas.microsoft.com/office/powerpoint/2010/main" val="1529612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eaLnBrk="1" hangingPunct="1">
              <a:buFontTx/>
              <a:buNone/>
            </a:pPr>
            <a:r>
              <a:rPr lang="zh-CN" altLang="en-US" sz="1200" b="1" dirty="0">
                <a:solidFill>
                  <a:srgbClr val="FF3300"/>
                </a:solidFill>
              </a:rPr>
              <a:t>谓词</a:t>
            </a:r>
            <a:r>
              <a:rPr lang="zh-CN" altLang="en-US" sz="1200" b="1" dirty="0"/>
              <a:t>: 表示个体词性质或相互之间关系的词</a:t>
            </a:r>
          </a:p>
          <a:p>
            <a:pPr algn="just" eaLnBrk="1" hangingPunct="1">
              <a:buFontTx/>
              <a:buNone/>
            </a:pPr>
            <a:r>
              <a:rPr lang="zh-CN" altLang="en-US" sz="1200" b="1" dirty="0">
                <a:solidFill>
                  <a:srgbClr val="FF3300"/>
                </a:solidFill>
              </a:rPr>
              <a:t>谓词常项</a:t>
            </a:r>
            <a:r>
              <a:rPr lang="zh-CN" altLang="en-US" sz="1200" b="1" dirty="0"/>
              <a:t>: 表示具体性质或相互之间关系的谓词</a:t>
            </a:r>
            <a:endParaRPr lang="zh-CN" altLang="en-US" sz="1200" b="1" dirty="0">
              <a:solidFill>
                <a:schemeClr val="bg2"/>
              </a:solidFill>
            </a:endParaRPr>
          </a:p>
          <a:p>
            <a:pPr algn="just" eaLnBrk="1" hangingPunct="1">
              <a:buFontTx/>
              <a:buNone/>
            </a:pPr>
            <a:r>
              <a:rPr lang="zh-CN" altLang="en-US" sz="1200" b="1" dirty="0">
                <a:solidFill>
                  <a:srgbClr val="FF3300"/>
                </a:solidFill>
              </a:rPr>
              <a:t>谓词变项</a:t>
            </a:r>
            <a:r>
              <a:rPr lang="zh-CN" altLang="en-US" sz="1200" b="1" dirty="0"/>
              <a:t>: 表示抽象性质或相互之间关系的谓词</a:t>
            </a:r>
            <a:endParaRPr lang="en-US" altLang="zh-CN" sz="1200" b="1" dirty="0">
              <a:solidFill>
                <a:schemeClr val="bg2"/>
              </a:solidFill>
            </a:endParaRPr>
          </a:p>
          <a:p>
            <a:pPr algn="just" eaLnBrk="1" hangingPunct="1">
              <a:buFontTx/>
              <a:buNone/>
            </a:pPr>
            <a:r>
              <a:rPr lang="en-US" altLang="zh-CN" sz="1200" b="1" dirty="0"/>
              <a:t>                       </a:t>
            </a:r>
            <a:r>
              <a:rPr lang="zh-CN" altLang="en-US" sz="1200" b="1" dirty="0"/>
              <a:t>谓词用</a:t>
            </a:r>
            <a:r>
              <a:rPr lang="en-US" altLang="zh-CN" sz="1200" b="1" i="1" dirty="0"/>
              <a:t>F,G,H,P</a:t>
            </a:r>
            <a:r>
              <a:rPr lang="zh-CN" altLang="en-US" sz="1200" b="1" dirty="0"/>
              <a:t>等表示 </a:t>
            </a:r>
          </a:p>
          <a:p>
            <a:pPr algn="just" eaLnBrk="1" hangingPunct="1">
              <a:buFontTx/>
              <a:buNone/>
            </a:pPr>
            <a:endParaRPr lang="en-US" altLang="zh-CN" sz="1200" b="1" i="1" dirty="0">
              <a:solidFill>
                <a:srgbClr val="FF0000"/>
              </a:solidFill>
            </a:endParaRPr>
          </a:p>
          <a:p>
            <a:pPr algn="just" eaLnBrk="1" hangingPunct="1">
              <a:buFontTx/>
              <a:buNone/>
            </a:pPr>
            <a:r>
              <a:rPr lang="en-US" altLang="zh-CN" sz="1200" b="1" i="1" dirty="0">
                <a:solidFill>
                  <a:srgbClr val="FF3300"/>
                </a:solidFill>
              </a:rPr>
              <a:t>n</a:t>
            </a:r>
            <a:r>
              <a:rPr lang="zh-CN" altLang="en-US" sz="1200" b="1" dirty="0">
                <a:solidFill>
                  <a:srgbClr val="FF3300"/>
                </a:solidFill>
              </a:rPr>
              <a:t>元谓词</a:t>
            </a:r>
            <a:r>
              <a:rPr lang="en-US" altLang="zh-CN" sz="1200" b="1" i="1" dirty="0">
                <a:solidFill>
                  <a:srgbClr val="FF3300"/>
                </a:solidFill>
              </a:rPr>
              <a:t>P</a:t>
            </a:r>
            <a:r>
              <a:rPr lang="en-US" altLang="zh-CN" sz="1200" b="1" dirty="0">
                <a:solidFill>
                  <a:srgbClr val="FF3300"/>
                </a:solidFill>
              </a:rPr>
              <a:t>(</a:t>
            </a:r>
            <a:r>
              <a:rPr lang="en-US" altLang="zh-CN" sz="1200" b="1" i="1" dirty="0">
                <a:solidFill>
                  <a:srgbClr val="FF3300"/>
                </a:solidFill>
              </a:rPr>
              <a:t>x</a:t>
            </a:r>
            <a:r>
              <a:rPr lang="en-US" altLang="zh-CN" sz="1200" b="1" baseline="-25000" dirty="0">
                <a:solidFill>
                  <a:srgbClr val="FF3300"/>
                </a:solidFill>
              </a:rPr>
              <a:t>1</a:t>
            </a:r>
            <a:r>
              <a:rPr lang="en-US" altLang="zh-CN" sz="1200" b="1" dirty="0">
                <a:solidFill>
                  <a:srgbClr val="FF3300"/>
                </a:solidFill>
              </a:rPr>
              <a:t>, </a:t>
            </a:r>
            <a:r>
              <a:rPr lang="en-US" altLang="zh-CN" sz="1200" b="1" i="1" dirty="0">
                <a:solidFill>
                  <a:srgbClr val="FF3300"/>
                </a:solidFill>
              </a:rPr>
              <a:t>x</a:t>
            </a:r>
            <a:r>
              <a:rPr lang="en-US" altLang="zh-CN" sz="1200" b="1" baseline="-25000" dirty="0">
                <a:solidFill>
                  <a:srgbClr val="FF3300"/>
                </a:solidFill>
              </a:rPr>
              <a:t>2</a:t>
            </a:r>
            <a:r>
              <a:rPr lang="en-US" altLang="zh-CN" sz="1200" b="1" dirty="0">
                <a:solidFill>
                  <a:srgbClr val="FF3300"/>
                </a:solidFill>
              </a:rPr>
              <a:t>,</a:t>
            </a:r>
            <a:r>
              <a:rPr lang="en-US" altLang="zh-CN" sz="1200" b="1" dirty="0">
                <a:solidFill>
                  <a:srgbClr val="FF3300"/>
                </a:solidFill>
                <a:cs typeface="Times New Roman" panose="02020603050405020304" pitchFamily="18" charset="0"/>
              </a:rPr>
              <a:t>…</a:t>
            </a:r>
            <a:r>
              <a:rPr lang="en-US" altLang="zh-CN" sz="1200" b="1" dirty="0">
                <a:solidFill>
                  <a:srgbClr val="FF3300"/>
                </a:solidFill>
              </a:rPr>
              <a:t>, </a:t>
            </a:r>
            <a:r>
              <a:rPr lang="en-US" altLang="zh-CN" sz="1200" b="1" i="1" dirty="0">
                <a:solidFill>
                  <a:srgbClr val="FF3300"/>
                </a:solidFill>
              </a:rPr>
              <a:t>x</a:t>
            </a:r>
            <a:r>
              <a:rPr lang="en-US" altLang="zh-CN" sz="1200" b="1" i="1" baseline="-25000" dirty="0">
                <a:solidFill>
                  <a:srgbClr val="FF3300"/>
                </a:solidFill>
              </a:rPr>
              <a:t>n</a:t>
            </a:r>
            <a:r>
              <a:rPr lang="en-US" altLang="zh-CN" sz="1200" b="1" dirty="0">
                <a:solidFill>
                  <a:srgbClr val="FF3300"/>
                </a:solidFill>
              </a:rPr>
              <a:t>)</a:t>
            </a:r>
            <a:r>
              <a:rPr lang="en-US" altLang="zh-CN" sz="1200" b="1" dirty="0"/>
              <a:t>: </a:t>
            </a:r>
            <a:r>
              <a:rPr lang="zh-CN" altLang="en-US" sz="1200" b="1" dirty="0"/>
              <a:t>含</a:t>
            </a:r>
            <a:r>
              <a:rPr lang="en-US" altLang="zh-CN" sz="1200" b="1" i="1" dirty="0"/>
              <a:t>n</a:t>
            </a:r>
            <a:r>
              <a:rPr lang="zh-CN" altLang="en-US" sz="1200" b="1" dirty="0"/>
              <a:t>个命题变项的谓词, 是定义在</a:t>
            </a:r>
          </a:p>
          <a:p>
            <a:pPr algn="just" eaLnBrk="1" hangingPunct="1">
              <a:buFontTx/>
              <a:buNone/>
            </a:pPr>
            <a:r>
              <a:rPr lang="zh-CN" altLang="en-US" sz="1200" b="1" dirty="0"/>
              <a:t>个体域上, 值域为{0,1}的</a:t>
            </a:r>
            <a:r>
              <a:rPr lang="en-US" altLang="zh-CN" sz="1200" b="1" i="1" dirty="0"/>
              <a:t>n</a:t>
            </a:r>
            <a:r>
              <a:rPr lang="zh-CN" altLang="en-US" sz="1200" b="1" dirty="0"/>
              <a:t>元函数</a:t>
            </a:r>
          </a:p>
          <a:p>
            <a:pPr algn="just" eaLnBrk="1" hangingPunct="1">
              <a:buFontTx/>
              <a:buNone/>
            </a:pPr>
            <a:r>
              <a:rPr lang="zh-CN" altLang="en-US" sz="1200" b="1" dirty="0">
                <a:solidFill>
                  <a:srgbClr val="FF3300"/>
                </a:solidFill>
              </a:rPr>
              <a:t>一元谓词</a:t>
            </a:r>
            <a:r>
              <a:rPr lang="zh-CN" altLang="en-US" sz="1200" b="1" dirty="0"/>
              <a:t>: 表示事物的性质</a:t>
            </a:r>
          </a:p>
          <a:p>
            <a:pPr algn="just" eaLnBrk="1" hangingPunct="1">
              <a:buFontTx/>
              <a:buNone/>
            </a:pPr>
            <a:r>
              <a:rPr lang="zh-CN" altLang="en-US" sz="1200" b="1" dirty="0">
                <a:solidFill>
                  <a:srgbClr val="FF3300"/>
                </a:solidFill>
              </a:rPr>
              <a:t>多元谓词(</a:t>
            </a:r>
            <a:r>
              <a:rPr lang="en-US" altLang="zh-CN" sz="1200" b="1" i="1" dirty="0">
                <a:solidFill>
                  <a:srgbClr val="FF3300"/>
                </a:solidFill>
              </a:rPr>
              <a:t>n</a:t>
            </a:r>
            <a:r>
              <a:rPr lang="en-US" altLang="zh-CN" sz="1200" b="1" dirty="0">
                <a:solidFill>
                  <a:srgbClr val="FF3300"/>
                </a:solidFill>
                <a:sym typeface="Symbol" panose="05050102010706020507" pitchFamily="18" charset="2"/>
              </a:rPr>
              <a:t></a:t>
            </a:r>
            <a:r>
              <a:rPr lang="en-US" altLang="zh-CN" sz="1200" b="1" dirty="0">
                <a:solidFill>
                  <a:srgbClr val="FF3300"/>
                </a:solidFill>
              </a:rPr>
              <a:t>2)</a:t>
            </a:r>
            <a:r>
              <a:rPr lang="en-US" altLang="zh-CN" sz="1200" b="1" dirty="0"/>
              <a:t>: </a:t>
            </a:r>
            <a:r>
              <a:rPr lang="zh-CN" altLang="en-US" sz="1200" b="1" dirty="0"/>
              <a:t>表示事物之间的关系</a:t>
            </a:r>
          </a:p>
          <a:p>
            <a:pPr algn="just" eaLnBrk="1" hangingPunct="1">
              <a:buFontTx/>
              <a:buNone/>
            </a:pPr>
            <a:r>
              <a:rPr lang="en-US" altLang="zh-CN" sz="1200" b="1" dirty="0">
                <a:solidFill>
                  <a:srgbClr val="FF3300"/>
                </a:solidFill>
              </a:rPr>
              <a:t>0</a:t>
            </a:r>
            <a:r>
              <a:rPr lang="zh-CN" altLang="en-US" sz="1200" b="1" dirty="0">
                <a:solidFill>
                  <a:srgbClr val="FF3300"/>
                </a:solidFill>
              </a:rPr>
              <a:t>元谓词</a:t>
            </a:r>
            <a:r>
              <a:rPr lang="zh-CN" altLang="en-US" sz="1200" b="1" dirty="0"/>
              <a:t>: 不含个体变项的谓词,即命题常项或命题变项</a:t>
            </a:r>
          </a:p>
          <a:p>
            <a:endParaRPr lang="en-US" altLang="zh-CN" dirty="0"/>
          </a:p>
          <a:p>
            <a:r>
              <a:rPr lang="zh-CN" altLang="en-US" dirty="0"/>
              <a:t>函数 </a:t>
            </a:r>
            <a:r>
              <a:rPr lang="en-US" altLang="zh-CN" dirty="0"/>
              <a:t>input function</a:t>
            </a:r>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10</a:t>
            </a:fld>
            <a:endParaRPr lang="zh-CN" altLang="en-US"/>
          </a:p>
        </p:txBody>
      </p:sp>
    </p:spTree>
    <p:extLst>
      <p:ext uri="{BB962C8B-B14F-4D97-AF65-F5344CB8AC3E}">
        <p14:creationId xmlns:p14="http://schemas.microsoft.com/office/powerpoint/2010/main" val="11005775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eaLnBrk="1" hangingPunct="1">
              <a:spcBef>
                <a:spcPct val="30000"/>
              </a:spcBef>
              <a:buClr>
                <a:schemeClr val="bg2"/>
              </a:buClr>
              <a:buSzPct val="75000"/>
              <a:buFont typeface="Wingdings" panose="05000000000000000000" pitchFamily="2" charset="2"/>
              <a:buNone/>
            </a:pPr>
            <a:r>
              <a:rPr kumimoji="0" lang="zh-CN" altLang="en-US" sz="1200" b="1" dirty="0">
                <a:solidFill>
                  <a:srgbClr val="00B0F0"/>
                </a:solidFill>
              </a:rPr>
              <a:t>例： </a:t>
            </a:r>
            <a:r>
              <a:rPr kumimoji="0" lang="zh-CN" altLang="en-US" sz="1200" b="1" dirty="0"/>
              <a:t>将下述命题用0元谓词符号化, 并讨论它们的真值:</a:t>
            </a:r>
          </a:p>
          <a:p>
            <a:pPr algn="just" eaLnBrk="1" hangingPunct="1">
              <a:spcBef>
                <a:spcPct val="30000"/>
              </a:spcBef>
              <a:buClr>
                <a:schemeClr val="bg2"/>
              </a:buClr>
              <a:buSzPct val="75000"/>
              <a:buFont typeface="Wingdings" panose="05000000000000000000" pitchFamily="2" charset="2"/>
              <a:buNone/>
            </a:pPr>
            <a:r>
              <a:rPr kumimoji="0" lang="zh-CN" altLang="en-US" sz="1200" b="1" dirty="0"/>
              <a:t>(1)     是无理数, 而     是有理数</a:t>
            </a:r>
          </a:p>
          <a:p>
            <a:pPr algn="just" eaLnBrk="1" hangingPunct="1">
              <a:spcBef>
                <a:spcPct val="30000"/>
              </a:spcBef>
              <a:buClr>
                <a:schemeClr val="bg2"/>
              </a:buClr>
              <a:buSzPct val="75000"/>
              <a:buFont typeface="Wingdings" panose="05000000000000000000" pitchFamily="2" charset="2"/>
              <a:buNone/>
            </a:pPr>
            <a:r>
              <a:rPr kumimoji="0" lang="zh-CN" altLang="en-US" sz="1200" b="1" dirty="0"/>
              <a:t>(2) 如果2&gt;3，则3&lt;4</a:t>
            </a:r>
          </a:p>
          <a:p>
            <a:pPr algn="just" eaLnBrk="1" hangingPunct="1">
              <a:spcBef>
                <a:spcPct val="30000"/>
              </a:spcBef>
              <a:buClr>
                <a:schemeClr val="bg2"/>
              </a:buClr>
              <a:buSzPct val="75000"/>
              <a:buFont typeface="Wingdings" panose="05000000000000000000" pitchFamily="2" charset="2"/>
              <a:buNone/>
            </a:pPr>
            <a:r>
              <a:rPr kumimoji="0" lang="zh-CN" altLang="en-US" sz="1200" b="1" dirty="0">
                <a:solidFill>
                  <a:srgbClr val="00B0F0"/>
                </a:solidFill>
              </a:rPr>
              <a:t>解</a:t>
            </a:r>
            <a:r>
              <a:rPr kumimoji="0" lang="zh-CN" altLang="en-US" sz="1200" b="1" dirty="0"/>
              <a:t>  (1) 设</a:t>
            </a:r>
            <a:r>
              <a:rPr kumimoji="0" lang="en-US" altLang="zh-CN" sz="1200" b="1" i="1" dirty="0"/>
              <a:t>F</a:t>
            </a:r>
            <a:r>
              <a:rPr kumimoji="0" lang="en-US" altLang="zh-CN" sz="1200" b="1" dirty="0"/>
              <a:t>(</a:t>
            </a:r>
            <a:r>
              <a:rPr kumimoji="0" lang="en-US" altLang="zh-CN" sz="1200" b="1" i="1" dirty="0"/>
              <a:t>x</a:t>
            </a:r>
            <a:r>
              <a:rPr kumimoji="0" lang="en-US" altLang="zh-CN" sz="1200" b="1" dirty="0"/>
              <a:t>): </a:t>
            </a:r>
            <a:r>
              <a:rPr kumimoji="0" lang="en-US" altLang="zh-CN" sz="1200" b="1" i="1" dirty="0"/>
              <a:t>x</a:t>
            </a:r>
            <a:r>
              <a:rPr kumimoji="0" lang="zh-CN" altLang="en-US" sz="1200" b="1" dirty="0"/>
              <a:t>是无理数, </a:t>
            </a:r>
            <a:r>
              <a:rPr kumimoji="0" lang="en-US" altLang="zh-CN" sz="1200" b="1" i="1" dirty="0"/>
              <a:t>G</a:t>
            </a:r>
            <a:r>
              <a:rPr kumimoji="0" lang="en-US" altLang="zh-CN" sz="1200" b="1" dirty="0"/>
              <a:t>(</a:t>
            </a:r>
            <a:r>
              <a:rPr kumimoji="0" lang="en-US" altLang="zh-CN" sz="1200" b="1" i="1" dirty="0"/>
              <a:t>x</a:t>
            </a:r>
            <a:r>
              <a:rPr kumimoji="0" lang="en-US" altLang="zh-CN" sz="1200" b="1" dirty="0"/>
              <a:t>): </a:t>
            </a:r>
            <a:r>
              <a:rPr kumimoji="0" lang="en-US" altLang="zh-CN" sz="1200" b="1" i="1" dirty="0"/>
              <a:t>x</a:t>
            </a:r>
            <a:r>
              <a:rPr kumimoji="0" lang="zh-CN" altLang="en-US" sz="1200" b="1" dirty="0"/>
              <a:t>是有理数</a:t>
            </a:r>
          </a:p>
          <a:p>
            <a:pPr algn="just" eaLnBrk="1" hangingPunct="1">
              <a:spcBef>
                <a:spcPct val="30000"/>
              </a:spcBef>
              <a:buClr>
                <a:schemeClr val="bg2"/>
              </a:buClr>
              <a:buSzPct val="75000"/>
              <a:buFont typeface="Wingdings" panose="05000000000000000000" pitchFamily="2" charset="2"/>
              <a:buNone/>
            </a:pPr>
            <a:r>
              <a:rPr kumimoji="0" lang="zh-CN" altLang="en-US" sz="1200" b="1" dirty="0"/>
              <a:t>符号化为</a:t>
            </a:r>
          </a:p>
          <a:p>
            <a:pPr algn="just" eaLnBrk="1" hangingPunct="1">
              <a:spcBef>
                <a:spcPct val="30000"/>
              </a:spcBef>
              <a:buClr>
                <a:schemeClr val="bg2"/>
              </a:buClr>
              <a:buSzPct val="75000"/>
              <a:buFont typeface="Wingdings" panose="05000000000000000000" pitchFamily="2" charset="2"/>
              <a:buNone/>
            </a:pPr>
            <a:r>
              <a:rPr kumimoji="0" lang="zh-CN" altLang="en-US" sz="1200" b="1" dirty="0"/>
              <a:t>真值为0</a:t>
            </a:r>
          </a:p>
          <a:p>
            <a:pPr algn="just" eaLnBrk="1" hangingPunct="1">
              <a:spcBef>
                <a:spcPct val="30000"/>
              </a:spcBef>
              <a:buClr>
                <a:schemeClr val="bg2"/>
              </a:buClr>
              <a:buSzPct val="75000"/>
              <a:buFont typeface="Wingdings" panose="05000000000000000000" pitchFamily="2" charset="2"/>
              <a:buNone/>
            </a:pPr>
            <a:r>
              <a:rPr kumimoji="0" lang="zh-CN" altLang="en-US" sz="1200" b="1" dirty="0"/>
              <a:t>(2) 设 </a:t>
            </a:r>
            <a:r>
              <a:rPr kumimoji="0" lang="en-US" altLang="zh-CN" sz="1200" b="1" i="1" dirty="0"/>
              <a:t>F</a:t>
            </a:r>
            <a:r>
              <a:rPr kumimoji="0" lang="en-US" altLang="zh-CN" sz="1200" b="1" dirty="0"/>
              <a:t>(</a:t>
            </a:r>
            <a:r>
              <a:rPr kumimoji="0" lang="en-US" altLang="zh-CN" sz="1200" b="1" i="1" dirty="0"/>
              <a:t>x</a:t>
            </a:r>
            <a:r>
              <a:rPr kumimoji="0" lang="en-US" altLang="zh-CN" sz="1200" b="1" dirty="0"/>
              <a:t>,</a:t>
            </a:r>
            <a:r>
              <a:rPr kumimoji="0" lang="en-US" altLang="zh-CN" sz="1200" b="1" i="1" dirty="0"/>
              <a:t>y</a:t>
            </a:r>
            <a:r>
              <a:rPr kumimoji="0" lang="en-US" altLang="zh-CN" sz="1200" b="1" dirty="0"/>
              <a:t>): </a:t>
            </a:r>
            <a:r>
              <a:rPr kumimoji="0" lang="en-US" altLang="zh-CN" sz="1200" b="1" i="1" dirty="0"/>
              <a:t>x</a:t>
            </a:r>
            <a:r>
              <a:rPr kumimoji="0" lang="en-US" altLang="zh-CN" sz="1200" b="1" dirty="0"/>
              <a:t>&gt;</a:t>
            </a:r>
            <a:r>
              <a:rPr kumimoji="0" lang="en-US" altLang="zh-CN" sz="1200" b="1" i="1" dirty="0"/>
              <a:t>y</a:t>
            </a:r>
            <a:r>
              <a:rPr kumimoji="0" lang="en-US" altLang="zh-CN" sz="1200" b="1" dirty="0"/>
              <a:t>, </a:t>
            </a:r>
            <a:r>
              <a:rPr kumimoji="0" lang="en-US" altLang="zh-CN" sz="1200" b="1" i="1" dirty="0"/>
              <a:t>G</a:t>
            </a:r>
            <a:r>
              <a:rPr kumimoji="0" lang="en-US" altLang="zh-CN" sz="1200" b="1" dirty="0"/>
              <a:t>(</a:t>
            </a:r>
            <a:r>
              <a:rPr kumimoji="0" lang="en-US" altLang="zh-CN" sz="1200" b="1" i="1" dirty="0"/>
              <a:t>x</a:t>
            </a:r>
            <a:r>
              <a:rPr kumimoji="0" lang="en-US" altLang="zh-CN" sz="1200" b="1" dirty="0"/>
              <a:t>,</a:t>
            </a:r>
            <a:r>
              <a:rPr kumimoji="0" lang="en-US" altLang="zh-CN" sz="1200" b="1" i="1" dirty="0"/>
              <a:t>y</a:t>
            </a:r>
            <a:r>
              <a:rPr kumimoji="0" lang="en-US" altLang="zh-CN" sz="1200" b="1" dirty="0"/>
              <a:t>): </a:t>
            </a:r>
            <a:r>
              <a:rPr kumimoji="0" lang="en-US" altLang="zh-CN" sz="1200" b="1" i="1" dirty="0"/>
              <a:t>x</a:t>
            </a:r>
            <a:r>
              <a:rPr kumimoji="0" lang="en-US" altLang="zh-CN" sz="1200" b="1" dirty="0"/>
              <a:t>&lt;</a:t>
            </a:r>
            <a:r>
              <a:rPr kumimoji="0" lang="en-US" altLang="zh-CN" sz="1200" b="1" i="1" dirty="0"/>
              <a:t>y,</a:t>
            </a:r>
            <a:endParaRPr kumimoji="0" lang="en-US" altLang="zh-CN" sz="1200" b="1" dirty="0"/>
          </a:p>
          <a:p>
            <a:pPr algn="just" eaLnBrk="1" hangingPunct="1">
              <a:spcBef>
                <a:spcPct val="30000"/>
              </a:spcBef>
              <a:buClr>
                <a:schemeClr val="bg2"/>
              </a:buClr>
              <a:buSzPct val="75000"/>
              <a:buFont typeface="Wingdings" panose="05000000000000000000" pitchFamily="2" charset="2"/>
              <a:buNone/>
            </a:pPr>
            <a:r>
              <a:rPr kumimoji="0" lang="zh-CN" altLang="en-US" sz="1200" b="1" dirty="0"/>
              <a:t>符号化为 </a:t>
            </a:r>
            <a:r>
              <a:rPr kumimoji="0" lang="en-US" altLang="zh-CN" sz="1200" b="1" i="1" dirty="0"/>
              <a:t>F</a:t>
            </a:r>
            <a:r>
              <a:rPr kumimoji="0" lang="en-US" altLang="zh-CN" sz="1200" b="1" dirty="0"/>
              <a:t>(2,3)</a:t>
            </a:r>
            <a:r>
              <a:rPr kumimoji="0" lang="en-US" altLang="zh-CN" sz="1200" b="1" dirty="0">
                <a:sym typeface="Symbol" panose="05050102010706020507" pitchFamily="18" charset="2"/>
              </a:rPr>
              <a:t></a:t>
            </a:r>
            <a:r>
              <a:rPr kumimoji="0" lang="en-US" altLang="zh-CN" sz="1200" b="1" i="1" dirty="0"/>
              <a:t>G</a:t>
            </a:r>
            <a:r>
              <a:rPr kumimoji="0" lang="en-US" altLang="zh-CN" sz="1200" b="1" dirty="0"/>
              <a:t>(3,4)</a:t>
            </a:r>
          </a:p>
          <a:p>
            <a:pPr algn="just" eaLnBrk="1" hangingPunct="1">
              <a:spcBef>
                <a:spcPct val="30000"/>
              </a:spcBef>
              <a:buClr>
                <a:schemeClr val="bg2"/>
              </a:buClr>
              <a:buSzPct val="75000"/>
              <a:buFont typeface="Wingdings" panose="05000000000000000000" pitchFamily="2" charset="2"/>
              <a:buNone/>
            </a:pPr>
            <a:r>
              <a:rPr kumimoji="0" lang="zh-CN" altLang="en-US" sz="1200" b="1" dirty="0"/>
              <a:t>真值为1</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11</a:t>
            </a:fld>
            <a:endParaRPr lang="zh-CN" altLang="en-US"/>
          </a:p>
        </p:txBody>
      </p:sp>
    </p:spTree>
    <p:extLst>
      <p:ext uri="{BB962C8B-B14F-4D97-AF65-F5344CB8AC3E}">
        <p14:creationId xmlns:p14="http://schemas.microsoft.com/office/powerpoint/2010/main" val="36922895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eaLnBrk="1" hangingPunct="1">
              <a:buFontTx/>
              <a:buNone/>
            </a:pPr>
            <a:r>
              <a:rPr lang="zh-CN" altLang="en-US" sz="1200" b="1" dirty="0">
                <a:solidFill>
                  <a:srgbClr val="FF3300"/>
                </a:solidFill>
              </a:rPr>
              <a:t>量词</a:t>
            </a:r>
            <a:r>
              <a:rPr lang="zh-CN" altLang="en-US" sz="1200" b="1" dirty="0"/>
              <a:t>: 表示数量的词</a:t>
            </a:r>
          </a:p>
          <a:p>
            <a:pPr algn="just" eaLnBrk="1" hangingPunct="1">
              <a:buFontTx/>
              <a:buNone/>
            </a:pPr>
            <a:r>
              <a:rPr lang="zh-CN" altLang="en-US" sz="1200" b="1" dirty="0">
                <a:solidFill>
                  <a:srgbClr val="FF3300"/>
                </a:solidFill>
              </a:rPr>
              <a:t>全称量词</a:t>
            </a:r>
            <a:r>
              <a:rPr lang="zh-CN" altLang="en-US" sz="1200" b="1" dirty="0">
                <a:solidFill>
                  <a:srgbClr val="FF3300"/>
                </a:solidFill>
                <a:sym typeface="Symbol" panose="05050102010706020507" pitchFamily="18" charset="2"/>
              </a:rPr>
              <a:t></a:t>
            </a:r>
            <a:r>
              <a:rPr lang="zh-CN" altLang="en-US" sz="1200" b="1" dirty="0">
                <a:sym typeface="Symbol" panose="05050102010706020507" pitchFamily="18" charset="2"/>
              </a:rPr>
              <a:t>: 表示任意的, 所有的, 一切的等</a:t>
            </a:r>
            <a:endParaRPr lang="zh-CN" altLang="en-US" sz="1200" b="1" dirty="0"/>
          </a:p>
          <a:p>
            <a:pPr algn="just" eaLnBrk="1" hangingPunct="1">
              <a:buFontTx/>
              <a:buNone/>
            </a:pPr>
            <a:r>
              <a:rPr lang="zh-CN" altLang="en-US" sz="1200" b="1" dirty="0"/>
              <a:t>     如 </a:t>
            </a:r>
            <a:r>
              <a:rPr lang="zh-CN" altLang="en-US" sz="1200" b="1" dirty="0">
                <a:sym typeface="Symbol" panose="05050102010706020507" pitchFamily="18" charset="2"/>
              </a:rPr>
              <a:t></a:t>
            </a:r>
            <a:r>
              <a:rPr lang="en-US" altLang="zh-CN" sz="1200" b="1" i="1" dirty="0"/>
              <a:t>x </a:t>
            </a:r>
            <a:r>
              <a:rPr lang="zh-CN" altLang="en-US" sz="1200" b="1" dirty="0"/>
              <a:t>表示对个体域中所有的</a:t>
            </a:r>
            <a:r>
              <a:rPr lang="en-US" altLang="zh-CN" sz="1200" b="1" i="1" dirty="0"/>
              <a:t>x</a:t>
            </a:r>
          </a:p>
          <a:p>
            <a:pPr eaLnBrk="1" hangingPunct="1">
              <a:buFontTx/>
              <a:buNone/>
            </a:pPr>
            <a:r>
              <a:rPr lang="en-US" altLang="zh-CN" sz="1200" b="1" dirty="0"/>
              <a:t>      </a:t>
            </a:r>
            <a:r>
              <a:rPr lang="zh-CN" altLang="en-US" sz="1200" b="1" dirty="0">
                <a:sym typeface="Symbol" panose="05050102010706020507" pitchFamily="18" charset="2"/>
              </a:rPr>
              <a:t></a:t>
            </a:r>
            <a:r>
              <a:rPr lang="en-US" altLang="zh-CN" sz="1200" b="1" i="1" dirty="0"/>
              <a:t>x</a:t>
            </a:r>
            <a:r>
              <a:rPr lang="en-US" altLang="zh-CN" sz="1200" b="1" dirty="0"/>
              <a:t> </a:t>
            </a:r>
            <a:r>
              <a:rPr lang="en-US" altLang="zh-CN" sz="1200" b="1" i="1" dirty="0"/>
              <a:t>F</a:t>
            </a:r>
            <a:r>
              <a:rPr lang="en-US" altLang="zh-CN" sz="1200" b="1" dirty="0"/>
              <a:t>(</a:t>
            </a:r>
            <a:r>
              <a:rPr lang="en-US" altLang="zh-CN" sz="1200" b="1" i="1" dirty="0"/>
              <a:t>x</a:t>
            </a:r>
            <a:r>
              <a:rPr lang="en-US" altLang="zh-CN" sz="1200" b="1" dirty="0"/>
              <a:t>)</a:t>
            </a:r>
            <a:r>
              <a:rPr lang="zh-CN" altLang="en-US" sz="1200" b="1" dirty="0"/>
              <a:t> 表示所有的</a:t>
            </a:r>
            <a:r>
              <a:rPr lang="en-US" altLang="zh-CN" sz="1200" b="1" i="1" dirty="0"/>
              <a:t>x</a:t>
            </a:r>
            <a:r>
              <a:rPr lang="zh-CN" altLang="en-US" sz="1200" b="1" dirty="0"/>
              <a:t>具有性质</a:t>
            </a:r>
            <a:r>
              <a:rPr lang="en-US" altLang="zh-CN" sz="1200" b="1" i="1" dirty="0"/>
              <a:t>F</a:t>
            </a:r>
          </a:p>
          <a:p>
            <a:pPr eaLnBrk="1" hangingPunct="1">
              <a:buFontTx/>
              <a:buNone/>
            </a:pPr>
            <a:endParaRPr lang="zh-CN" altLang="en-US" sz="1200" b="1" dirty="0"/>
          </a:p>
          <a:p>
            <a:pPr eaLnBrk="1" hangingPunct="1">
              <a:buFontTx/>
              <a:buNone/>
            </a:pPr>
            <a:r>
              <a:rPr lang="zh-CN" altLang="en-US" sz="1200" b="1" dirty="0">
                <a:solidFill>
                  <a:srgbClr val="FF3300"/>
                </a:solidFill>
              </a:rPr>
              <a:t>存在量词</a:t>
            </a:r>
            <a:r>
              <a:rPr lang="zh-CN" altLang="en-US" sz="1200" b="1" dirty="0">
                <a:solidFill>
                  <a:srgbClr val="FF3300"/>
                </a:solidFill>
                <a:sym typeface="Symbol" panose="05050102010706020507" pitchFamily="18" charset="2"/>
              </a:rPr>
              <a:t></a:t>
            </a:r>
            <a:r>
              <a:rPr lang="zh-CN" altLang="en-US" sz="1200" b="1" dirty="0">
                <a:sym typeface="Symbol" panose="05050102010706020507" pitchFamily="18" charset="2"/>
              </a:rPr>
              <a:t>: 表示存在, 有的, 至少有一个等</a:t>
            </a:r>
            <a:endParaRPr lang="zh-CN" altLang="en-US" sz="1200" b="1" dirty="0"/>
          </a:p>
          <a:p>
            <a:pPr eaLnBrk="1" hangingPunct="1">
              <a:buFontTx/>
              <a:buNone/>
            </a:pPr>
            <a:r>
              <a:rPr lang="zh-CN" altLang="en-US" sz="1200" b="1" dirty="0"/>
              <a:t>     如 </a:t>
            </a:r>
            <a:r>
              <a:rPr lang="zh-CN" altLang="en-US" sz="1200" b="1" dirty="0">
                <a:sym typeface="Symbol" panose="05050102010706020507" pitchFamily="18" charset="2"/>
              </a:rPr>
              <a:t></a:t>
            </a:r>
            <a:r>
              <a:rPr lang="en-US" altLang="zh-CN" sz="1200" b="1" i="1" dirty="0"/>
              <a:t>x</a:t>
            </a:r>
            <a:r>
              <a:rPr lang="en-US" altLang="zh-CN" sz="1200" b="1" dirty="0"/>
              <a:t> </a:t>
            </a:r>
            <a:r>
              <a:rPr lang="zh-CN" altLang="en-US" sz="1200" b="1" dirty="0"/>
              <a:t>表示在个体域中存在</a:t>
            </a:r>
            <a:r>
              <a:rPr lang="en-US" altLang="zh-CN" sz="1200" b="1" i="1" dirty="0"/>
              <a:t>x</a:t>
            </a:r>
          </a:p>
          <a:p>
            <a:pPr eaLnBrk="1" hangingPunct="1">
              <a:buFontTx/>
              <a:buNone/>
            </a:pPr>
            <a:r>
              <a:rPr lang="zh-CN" altLang="en-US" sz="1200" b="1" dirty="0">
                <a:sym typeface="Symbol" panose="05050102010706020507" pitchFamily="18" charset="2"/>
              </a:rPr>
              <a:t>      </a:t>
            </a:r>
            <a:r>
              <a:rPr lang="en-US" altLang="zh-CN" sz="1200" b="1" i="1" dirty="0"/>
              <a:t>x F</a:t>
            </a:r>
            <a:r>
              <a:rPr lang="en-US" altLang="zh-CN" sz="1200" b="1" dirty="0"/>
              <a:t>(</a:t>
            </a:r>
            <a:r>
              <a:rPr lang="en-US" altLang="zh-CN" sz="1200" b="1" i="1" dirty="0"/>
              <a:t>x</a:t>
            </a:r>
            <a:r>
              <a:rPr lang="en-US" altLang="zh-CN" sz="1200" b="1" dirty="0"/>
              <a:t>)</a:t>
            </a:r>
            <a:r>
              <a:rPr lang="zh-CN" altLang="en-US" sz="1200" b="1" dirty="0"/>
              <a:t> 表示存在</a:t>
            </a:r>
            <a:r>
              <a:rPr lang="en-US" altLang="zh-CN" sz="1200" b="1" i="1" dirty="0"/>
              <a:t>x</a:t>
            </a:r>
            <a:r>
              <a:rPr lang="zh-CN" altLang="en-US" sz="1200" b="1" dirty="0"/>
              <a:t>具有性质</a:t>
            </a:r>
            <a:r>
              <a:rPr lang="en-US" altLang="zh-CN" sz="1200" b="1" i="1" dirty="0"/>
              <a:t>F</a:t>
            </a:r>
            <a:endParaRPr lang="zh-CN" altLang="en-US" sz="1200" b="1" dirty="0"/>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12</a:t>
            </a:fld>
            <a:endParaRPr lang="zh-CN" altLang="en-US"/>
          </a:p>
        </p:txBody>
      </p:sp>
    </p:spTree>
    <p:extLst>
      <p:ext uri="{BB962C8B-B14F-4D97-AF65-F5344CB8AC3E}">
        <p14:creationId xmlns:p14="http://schemas.microsoft.com/office/powerpoint/2010/main" val="277935703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990600" indent="-177800" algn="l">
              <a:lnSpc>
                <a:spcPct val="130000"/>
              </a:lnSpc>
              <a:spcBef>
                <a:spcPts val="600"/>
              </a:spcBef>
              <a:buClr>
                <a:srgbClr val="0B61FF"/>
              </a:buClr>
              <a:buSzPct val="120000"/>
            </a:pPr>
            <a:r>
              <a:rPr lang="en-US" altLang="zh-CN" sz="1200" b="1" i="0" dirty="0">
                <a:solidFill>
                  <a:srgbClr val="0C0D0E"/>
                </a:solidFill>
                <a:effectLst/>
                <a:latin typeface="Trebuchet MS" panose="020B0603020202020204" pitchFamily="34" charset="0"/>
              </a:rPr>
              <a:t>Individual Constants, Individual Variables, Domain of Discourse, Universe of Discourse</a:t>
            </a:r>
          </a:p>
          <a:p>
            <a:pPr marL="990600" indent="-177800" algn="l">
              <a:lnSpc>
                <a:spcPct val="130000"/>
              </a:lnSpc>
              <a:spcBef>
                <a:spcPts val="600"/>
              </a:spcBef>
              <a:buClr>
                <a:srgbClr val="0B61FF"/>
              </a:buClr>
              <a:buSzPct val="120000"/>
            </a:pPr>
            <a:r>
              <a:rPr lang="en-US" altLang="zh-CN" sz="1200" b="1" i="0" dirty="0">
                <a:solidFill>
                  <a:srgbClr val="0C0D0E"/>
                </a:solidFill>
                <a:effectLst/>
                <a:latin typeface="Trebuchet MS" panose="020B0603020202020204" pitchFamily="34" charset="0"/>
              </a:rPr>
              <a:t>Propositional Constants, Propositional Variables</a:t>
            </a:r>
          </a:p>
          <a:p>
            <a:pPr marL="990600" indent="-177800" algn="l">
              <a:lnSpc>
                <a:spcPct val="130000"/>
              </a:lnSpc>
              <a:spcBef>
                <a:spcPts val="600"/>
              </a:spcBef>
              <a:buClr>
                <a:srgbClr val="0B61FF"/>
              </a:buClr>
              <a:buSzPct val="120000"/>
            </a:pPr>
            <a:r>
              <a:rPr lang="en-US" altLang="zh-CN" sz="1200" b="1" i="0" dirty="0">
                <a:solidFill>
                  <a:srgbClr val="0C0D0E"/>
                </a:solidFill>
                <a:effectLst/>
                <a:latin typeface="Trebuchet MS" panose="020B0603020202020204" pitchFamily="34" charset="0"/>
              </a:rPr>
              <a:t>Universal Quantifiers, Existential Quantifiers</a:t>
            </a:r>
          </a:p>
          <a:p>
            <a:pPr marL="0" indent="0" eaLnBrk="1" hangingPunct="1">
              <a:spcBef>
                <a:spcPct val="60000"/>
              </a:spcBef>
              <a:buNone/>
            </a:pPr>
            <a:endParaRPr lang="en-US" altLang="zh-CN" b="1" dirty="0"/>
          </a:p>
          <a:p>
            <a:pPr lvl="1"/>
            <a:r>
              <a:rPr lang="en-US" altLang="zh-CN" b="0" i="0" dirty="0">
                <a:solidFill>
                  <a:srgbClr val="0C0D0E"/>
                </a:solidFill>
                <a:effectLst/>
                <a:latin typeface="Trebuchet MS" panose="020B0603020202020204" pitchFamily="34" charset="0"/>
              </a:rPr>
              <a:t>First-order language L (alphabet, terms, atomic formulas, compound formulas)</a:t>
            </a:r>
          </a:p>
          <a:p>
            <a:pPr lvl="1"/>
            <a:r>
              <a:rPr lang="en-US" altLang="zh-CN" b="0" i="0" dirty="0">
                <a:solidFill>
                  <a:srgbClr val="0C0D0E"/>
                </a:solidFill>
                <a:effectLst/>
                <a:latin typeface="Trebuchet MS" panose="020B0603020202020204" pitchFamily="34" charset="0"/>
              </a:rPr>
              <a:t>Scope and bound variables, bound occurrences and free occurrences</a:t>
            </a:r>
          </a:p>
          <a:p>
            <a:pPr lvl="1"/>
            <a:r>
              <a:rPr lang="en-US" altLang="zh-CN" b="0" i="0" dirty="0">
                <a:solidFill>
                  <a:srgbClr val="0C0D0E"/>
                </a:solidFill>
                <a:effectLst/>
                <a:latin typeface="Trebuchet MS" panose="020B0603020202020204" pitchFamily="34" charset="0"/>
              </a:rPr>
              <a:t>Closed formulas</a:t>
            </a:r>
          </a:p>
          <a:p>
            <a:pPr lvl="1"/>
            <a:r>
              <a:rPr lang="en-US" altLang="zh-CN" b="0" i="0" dirty="0">
                <a:solidFill>
                  <a:srgbClr val="0C0D0E"/>
                </a:solidFill>
                <a:effectLst/>
                <a:latin typeface="Trebuchet MS" panose="020B0603020202020204" pitchFamily="34" charset="0"/>
              </a:rPr>
              <a:t>Interpretation of first-order language L</a:t>
            </a:r>
          </a:p>
          <a:p>
            <a:pPr lvl="1"/>
            <a:r>
              <a:rPr lang="en-US" altLang="zh-CN" b="0" i="0" dirty="0">
                <a:solidFill>
                  <a:srgbClr val="0C0D0E"/>
                </a:solidFill>
                <a:effectLst/>
                <a:latin typeface="Trebuchet MS" panose="020B0603020202020204" pitchFamily="34" charset="0"/>
              </a:rPr>
              <a:t>Tautologies, contradictions, and satisfiable formulas</a:t>
            </a:r>
          </a:p>
          <a:p>
            <a:pPr lvl="1"/>
            <a:r>
              <a:rPr lang="en-US" altLang="zh-CN" b="0" i="0" dirty="0">
                <a:solidFill>
                  <a:srgbClr val="0C0D0E"/>
                </a:solidFill>
                <a:effectLst/>
                <a:latin typeface="Trebuchet MS" panose="020B0603020202020204" pitchFamily="34" charset="0"/>
              </a:rPr>
              <a:t>Substitution examples</a:t>
            </a:r>
          </a:p>
          <a:p>
            <a:pPr marL="0" indent="0" eaLnBrk="1" hangingPunct="1">
              <a:spcBef>
                <a:spcPct val="60000"/>
              </a:spcBef>
              <a:buNone/>
            </a:pPr>
            <a:endParaRPr lang="en-US" altLang="zh-CN" b="1" dirty="0"/>
          </a:p>
          <a:p>
            <a:pPr marL="0" indent="0" eaLnBrk="1" hangingPunct="1">
              <a:spcBef>
                <a:spcPct val="60000"/>
              </a:spcBef>
              <a:buNone/>
            </a:pPr>
            <a:r>
              <a:rPr lang="zh-CN" altLang="en-US" b="1" dirty="0"/>
              <a:t>3.1.1 命题逻辑的局限性</a:t>
            </a:r>
          </a:p>
          <a:p>
            <a:pPr marL="0" indent="0" eaLnBrk="1" hangingPunct="1">
              <a:spcBef>
                <a:spcPct val="60000"/>
              </a:spcBef>
              <a:buNone/>
            </a:pPr>
            <a:r>
              <a:rPr lang="zh-CN" altLang="en-US" b="1" dirty="0"/>
              <a:t>3.1.2 个体词、谓词与量词</a:t>
            </a:r>
          </a:p>
          <a:p>
            <a:pPr lvl="1" indent="119063" eaLnBrk="1" hangingPunct="1"/>
            <a:r>
              <a:rPr lang="zh-CN" altLang="en-US" b="1" dirty="0"/>
              <a:t>个体常项、个体变项、个体域、全总个体域</a:t>
            </a:r>
          </a:p>
          <a:p>
            <a:pPr lvl="1" indent="119063" eaLnBrk="1" hangingPunct="1"/>
            <a:r>
              <a:rPr lang="zh-CN" altLang="en-US" b="1" dirty="0"/>
              <a:t>谓词常项、谓词变项</a:t>
            </a:r>
          </a:p>
          <a:p>
            <a:pPr lvl="1" indent="119063" eaLnBrk="1" hangingPunct="1"/>
            <a:r>
              <a:rPr lang="zh-CN" altLang="en-US" b="1" dirty="0"/>
              <a:t>全称量词、存在量词</a:t>
            </a:r>
          </a:p>
          <a:p>
            <a:pPr marL="0" indent="0" eaLnBrk="1" hangingPunct="1">
              <a:spcBef>
                <a:spcPct val="60000"/>
              </a:spcBef>
              <a:buNone/>
            </a:pPr>
            <a:r>
              <a:rPr lang="zh-CN" altLang="en-US" b="1" dirty="0"/>
              <a:t>3.1.3 一阶逻辑命题符号化</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13</a:t>
            </a:fld>
            <a:endParaRPr lang="zh-CN" altLang="en-US"/>
          </a:p>
        </p:txBody>
      </p:sp>
    </p:spTree>
    <p:extLst>
      <p:ext uri="{BB962C8B-B14F-4D97-AF65-F5344CB8AC3E}">
        <p14:creationId xmlns:p14="http://schemas.microsoft.com/office/powerpoint/2010/main" val="16196886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eaLnBrk="1" hangingPunct="1">
              <a:spcBef>
                <a:spcPct val="30000"/>
              </a:spcBef>
              <a:buFontTx/>
              <a:buNone/>
            </a:pPr>
            <a:r>
              <a:rPr lang="zh-CN" altLang="en-US" sz="1200" b="1" dirty="0">
                <a:solidFill>
                  <a:srgbClr val="00B0F0"/>
                </a:solidFill>
              </a:rPr>
              <a:t>例：  </a:t>
            </a:r>
            <a:r>
              <a:rPr lang="zh-CN" altLang="en-US" sz="1200" b="1" dirty="0"/>
              <a:t>在一阶逻辑中将下面命题符号化: </a:t>
            </a:r>
          </a:p>
          <a:p>
            <a:pPr algn="just" eaLnBrk="1" hangingPunct="1">
              <a:spcBef>
                <a:spcPct val="30000"/>
              </a:spcBef>
              <a:buFontTx/>
              <a:buNone/>
            </a:pPr>
            <a:r>
              <a:rPr lang="zh-CN" altLang="en-US" sz="1200" b="1" dirty="0"/>
              <a:t>(1) 人都爱美;  (2) 有人用左手写字</a:t>
            </a:r>
          </a:p>
          <a:p>
            <a:pPr algn="just" eaLnBrk="1" hangingPunct="1">
              <a:spcBef>
                <a:spcPct val="30000"/>
              </a:spcBef>
              <a:buFontTx/>
              <a:buNone/>
            </a:pPr>
            <a:r>
              <a:rPr lang="zh-CN" altLang="en-US" sz="1200" b="1" dirty="0"/>
              <a:t>个体域分别取(</a:t>
            </a:r>
            <a:r>
              <a:rPr lang="en-US" altLang="zh-CN" sz="1200" b="1" i="1" dirty="0"/>
              <a:t>a</a:t>
            </a:r>
            <a:r>
              <a:rPr lang="en-US" altLang="zh-CN" sz="1200" b="1" dirty="0"/>
              <a:t>) </a:t>
            </a:r>
            <a:r>
              <a:rPr lang="zh-CN" altLang="en-US" sz="1200" b="1" dirty="0"/>
              <a:t>人类集合,  (</a:t>
            </a:r>
            <a:r>
              <a:rPr lang="en-US" altLang="zh-CN" sz="1200" b="1" i="1" dirty="0"/>
              <a:t>b</a:t>
            </a:r>
            <a:r>
              <a:rPr lang="en-US" altLang="zh-CN" sz="1200" b="1" dirty="0"/>
              <a:t>) </a:t>
            </a:r>
            <a:r>
              <a:rPr lang="zh-CN" altLang="en-US" sz="1200" b="1" dirty="0"/>
              <a:t>全总个体域 .</a:t>
            </a:r>
          </a:p>
          <a:p>
            <a:pPr algn="just" eaLnBrk="1" hangingPunct="1">
              <a:spcBef>
                <a:spcPct val="30000"/>
              </a:spcBef>
              <a:buFontTx/>
              <a:buNone/>
            </a:pPr>
            <a:r>
              <a:rPr lang="zh-CN" altLang="en-US" sz="1200" b="1" dirty="0">
                <a:solidFill>
                  <a:srgbClr val="00B0F0"/>
                </a:solidFill>
              </a:rPr>
              <a:t>解: </a:t>
            </a:r>
            <a:r>
              <a:rPr lang="zh-CN" altLang="en-US" sz="1200" b="1" dirty="0"/>
              <a:t>(</a:t>
            </a:r>
            <a:r>
              <a:rPr lang="en-US" altLang="zh-CN" sz="1200" b="1" i="1" dirty="0"/>
              <a:t>a</a:t>
            </a:r>
            <a:r>
              <a:rPr lang="en-US" altLang="zh-CN" sz="1200" b="1" dirty="0"/>
              <a:t>) (1) </a:t>
            </a:r>
            <a:r>
              <a:rPr lang="zh-CN" altLang="en-US" sz="1200" b="1" dirty="0"/>
              <a:t>设</a:t>
            </a:r>
            <a:r>
              <a:rPr lang="en-US" altLang="zh-CN" sz="1200" b="1" i="1" dirty="0"/>
              <a:t>F</a:t>
            </a:r>
            <a:r>
              <a:rPr lang="en-US" altLang="zh-CN" sz="1200" b="1" dirty="0"/>
              <a:t>(</a:t>
            </a:r>
            <a:r>
              <a:rPr lang="en-US" altLang="zh-CN" sz="1200" b="1" i="1" dirty="0"/>
              <a:t>x</a:t>
            </a:r>
            <a:r>
              <a:rPr lang="en-US" altLang="zh-CN" sz="1200" b="1" dirty="0"/>
              <a:t>): </a:t>
            </a:r>
            <a:r>
              <a:rPr lang="en-US" altLang="zh-CN" sz="1200" b="1" i="1" dirty="0"/>
              <a:t>x</a:t>
            </a:r>
            <a:r>
              <a:rPr lang="zh-CN" altLang="en-US" sz="1200" b="1" dirty="0"/>
              <a:t>爱美,   符号化为 </a:t>
            </a:r>
            <a:r>
              <a:rPr lang="zh-CN" altLang="en-US" sz="1200" b="1" dirty="0">
                <a:sym typeface="Symbol" panose="05050102010706020507" pitchFamily="18" charset="2"/>
              </a:rPr>
              <a:t></a:t>
            </a:r>
            <a:r>
              <a:rPr lang="en-US" altLang="zh-CN" sz="1200" b="1" i="1" dirty="0"/>
              <a:t>x F</a:t>
            </a:r>
            <a:r>
              <a:rPr lang="en-US" altLang="zh-CN" sz="1200" b="1" dirty="0"/>
              <a:t>(</a:t>
            </a:r>
            <a:r>
              <a:rPr lang="en-US" altLang="zh-CN" sz="1200" b="1" i="1" dirty="0"/>
              <a:t>x</a:t>
            </a:r>
            <a:r>
              <a:rPr lang="en-US" altLang="zh-CN" sz="1200" b="1" dirty="0"/>
              <a:t>)</a:t>
            </a:r>
          </a:p>
          <a:p>
            <a:pPr algn="just" eaLnBrk="1" hangingPunct="1">
              <a:spcBef>
                <a:spcPct val="30000"/>
              </a:spcBef>
              <a:buFontTx/>
              <a:buNone/>
            </a:pPr>
            <a:r>
              <a:rPr lang="en-US" altLang="zh-CN" sz="1200" b="1" dirty="0"/>
              <a:t>            (2) </a:t>
            </a:r>
            <a:r>
              <a:rPr lang="zh-CN" altLang="en-US" sz="1200" b="1" dirty="0"/>
              <a:t>设</a:t>
            </a:r>
            <a:r>
              <a:rPr lang="en-US" altLang="zh-CN" sz="1200" b="1" i="1" dirty="0"/>
              <a:t>G</a:t>
            </a:r>
            <a:r>
              <a:rPr lang="en-US" altLang="zh-CN" sz="1200" b="1" dirty="0"/>
              <a:t>(</a:t>
            </a:r>
            <a:r>
              <a:rPr lang="en-US" altLang="zh-CN" sz="1200" b="1" i="1" dirty="0"/>
              <a:t>x</a:t>
            </a:r>
            <a:r>
              <a:rPr lang="en-US" altLang="zh-CN" sz="1200" b="1" dirty="0"/>
              <a:t>): </a:t>
            </a:r>
            <a:r>
              <a:rPr lang="en-US" altLang="zh-CN" sz="1200" b="1" i="1" dirty="0"/>
              <a:t>x</a:t>
            </a:r>
            <a:r>
              <a:rPr lang="zh-CN" altLang="en-US" sz="1200" b="1" dirty="0"/>
              <a:t>用左手写字,   符号化为 </a:t>
            </a:r>
            <a:r>
              <a:rPr lang="zh-CN" altLang="en-US" sz="1200" b="1" dirty="0">
                <a:sym typeface="Symbol" panose="05050102010706020507" pitchFamily="18" charset="2"/>
              </a:rPr>
              <a:t></a:t>
            </a:r>
            <a:r>
              <a:rPr lang="en-US" altLang="zh-CN" sz="1200" b="1" i="1" dirty="0"/>
              <a:t>x G</a:t>
            </a:r>
            <a:r>
              <a:rPr lang="en-US" altLang="zh-CN" sz="1200" b="1" dirty="0"/>
              <a:t>(</a:t>
            </a:r>
            <a:r>
              <a:rPr lang="en-US" altLang="zh-CN" sz="1200" b="1" i="1" dirty="0"/>
              <a:t>x</a:t>
            </a:r>
            <a:r>
              <a:rPr lang="en-US" altLang="zh-CN" sz="1200" b="1" dirty="0"/>
              <a:t>)</a:t>
            </a:r>
          </a:p>
          <a:p>
            <a:pPr algn="just" eaLnBrk="1" hangingPunct="1">
              <a:spcBef>
                <a:spcPct val="30000"/>
              </a:spcBef>
              <a:buFontTx/>
              <a:buNone/>
            </a:pPr>
            <a:r>
              <a:rPr lang="en-US" altLang="zh-CN" sz="1200" b="1" dirty="0"/>
              <a:t>      (</a:t>
            </a:r>
            <a:r>
              <a:rPr lang="en-US" altLang="zh-CN" sz="1200" b="1" i="1" dirty="0"/>
              <a:t>b</a:t>
            </a:r>
            <a:r>
              <a:rPr lang="en-US" altLang="zh-CN" sz="1200" b="1" dirty="0"/>
              <a:t>) </a:t>
            </a:r>
            <a:r>
              <a:rPr lang="zh-CN" altLang="en-US" sz="1200" b="1" dirty="0"/>
              <a:t>设</a:t>
            </a:r>
            <a:r>
              <a:rPr lang="en-US" altLang="zh-CN" sz="1200" b="1" i="1" dirty="0"/>
              <a:t>M</a:t>
            </a:r>
            <a:r>
              <a:rPr lang="en-US" altLang="zh-CN" sz="1200" b="1" dirty="0"/>
              <a:t>(</a:t>
            </a:r>
            <a:r>
              <a:rPr lang="en-US" altLang="zh-CN" sz="1200" b="1" i="1" dirty="0"/>
              <a:t>x</a:t>
            </a:r>
            <a:r>
              <a:rPr lang="en-US" altLang="zh-CN" sz="1200" b="1" dirty="0"/>
              <a:t>): </a:t>
            </a:r>
            <a:r>
              <a:rPr lang="en-US" altLang="zh-CN" sz="1200" b="1" i="1" dirty="0"/>
              <a:t>x</a:t>
            </a:r>
            <a:r>
              <a:rPr lang="zh-CN" altLang="en-US" sz="1200" b="1" dirty="0"/>
              <a:t>为人， </a:t>
            </a:r>
            <a:r>
              <a:rPr lang="en-US" altLang="zh-CN" sz="1200" b="1" i="1" dirty="0"/>
              <a:t>F</a:t>
            </a:r>
            <a:r>
              <a:rPr lang="en-US" altLang="zh-CN" sz="1200" b="1" dirty="0"/>
              <a:t>(</a:t>
            </a:r>
            <a:r>
              <a:rPr lang="en-US" altLang="zh-CN" sz="1200" b="1" i="1" dirty="0"/>
              <a:t>x</a:t>
            </a:r>
            <a:r>
              <a:rPr lang="en-US" altLang="zh-CN" sz="1200" b="1" dirty="0"/>
              <a:t>),</a:t>
            </a:r>
            <a:r>
              <a:rPr lang="zh-CN" altLang="en-US" sz="1200" b="1" dirty="0"/>
              <a:t> </a:t>
            </a:r>
            <a:r>
              <a:rPr lang="en-US" altLang="zh-CN" sz="1200" b="1" i="1" dirty="0"/>
              <a:t>G</a:t>
            </a:r>
            <a:r>
              <a:rPr lang="en-US" altLang="zh-CN" sz="1200" b="1" dirty="0"/>
              <a:t>(</a:t>
            </a:r>
            <a:r>
              <a:rPr lang="en-US" altLang="zh-CN" sz="1200" b="1" i="1" dirty="0"/>
              <a:t>x</a:t>
            </a:r>
            <a:r>
              <a:rPr lang="en-US" altLang="zh-CN" sz="1200" b="1" dirty="0"/>
              <a:t>)</a:t>
            </a:r>
            <a:r>
              <a:rPr lang="zh-CN" altLang="en-US" sz="1200" b="1" dirty="0"/>
              <a:t>同(</a:t>
            </a:r>
            <a:r>
              <a:rPr lang="en-US" altLang="zh-CN" sz="1200" b="1" i="1" dirty="0"/>
              <a:t>a</a:t>
            </a:r>
            <a:r>
              <a:rPr lang="en-US" altLang="zh-CN" sz="1200" b="1" dirty="0"/>
              <a:t>)</a:t>
            </a:r>
            <a:r>
              <a:rPr lang="zh-CN" altLang="en-US" sz="1200" b="1" dirty="0"/>
              <a:t>中</a:t>
            </a:r>
          </a:p>
          <a:p>
            <a:pPr algn="just" eaLnBrk="1" hangingPunct="1">
              <a:spcBef>
                <a:spcPct val="30000"/>
              </a:spcBef>
              <a:buFontTx/>
              <a:buNone/>
            </a:pPr>
            <a:r>
              <a:rPr lang="zh-CN" altLang="en-US" sz="1200" b="1" dirty="0"/>
              <a:t>            (1) </a:t>
            </a:r>
            <a:r>
              <a:rPr lang="zh-CN" altLang="en-US" sz="1200" b="1" dirty="0">
                <a:sym typeface="Symbol" panose="05050102010706020507" pitchFamily="18" charset="2"/>
              </a:rPr>
              <a:t></a:t>
            </a:r>
            <a:r>
              <a:rPr lang="en-US" altLang="zh-CN" sz="1200" b="1" i="1" dirty="0"/>
              <a:t>x </a:t>
            </a:r>
            <a:r>
              <a:rPr lang="en-US" altLang="zh-CN" sz="1200" b="1" dirty="0"/>
              <a:t>(</a:t>
            </a:r>
            <a:r>
              <a:rPr lang="en-US" altLang="zh-CN" sz="1200" b="1" i="1" dirty="0"/>
              <a:t>M</a:t>
            </a:r>
            <a:r>
              <a:rPr lang="en-US" altLang="zh-CN" sz="1200" b="1" dirty="0"/>
              <a:t>(</a:t>
            </a:r>
            <a:r>
              <a:rPr lang="en-US" altLang="zh-CN" sz="1200" b="1" i="1" dirty="0"/>
              <a:t>x</a:t>
            </a:r>
            <a:r>
              <a:rPr lang="en-US" altLang="zh-CN" sz="1200" b="1" dirty="0"/>
              <a:t>)</a:t>
            </a:r>
            <a:r>
              <a:rPr lang="en-US" altLang="zh-CN" sz="1200" b="1" dirty="0">
                <a:sym typeface="Symbol" panose="05050102010706020507" pitchFamily="18" charset="2"/>
              </a:rPr>
              <a:t></a:t>
            </a:r>
            <a:r>
              <a:rPr lang="en-US" altLang="zh-CN" sz="1200" b="1" i="1" dirty="0"/>
              <a:t>F</a:t>
            </a:r>
            <a:r>
              <a:rPr lang="en-US" altLang="zh-CN" sz="1200" b="1" dirty="0"/>
              <a:t>(</a:t>
            </a:r>
            <a:r>
              <a:rPr lang="en-US" altLang="zh-CN" sz="1200" b="1" i="1" dirty="0"/>
              <a:t>x</a:t>
            </a:r>
            <a:r>
              <a:rPr lang="en-US" altLang="zh-CN" sz="1200" b="1" dirty="0"/>
              <a:t>))</a:t>
            </a:r>
          </a:p>
          <a:p>
            <a:pPr algn="just" eaLnBrk="1" hangingPunct="1">
              <a:spcBef>
                <a:spcPct val="30000"/>
              </a:spcBef>
              <a:buFontTx/>
              <a:buNone/>
            </a:pPr>
            <a:r>
              <a:rPr lang="en-US" altLang="zh-CN" sz="1200" b="1" dirty="0"/>
              <a:t>            (2) </a:t>
            </a:r>
            <a:r>
              <a:rPr lang="en-US" altLang="zh-CN" sz="1200" b="1" dirty="0">
                <a:sym typeface="Symbol" panose="05050102010706020507" pitchFamily="18" charset="2"/>
              </a:rPr>
              <a:t></a:t>
            </a:r>
            <a:r>
              <a:rPr lang="en-US" altLang="zh-CN" sz="1200" b="1" dirty="0"/>
              <a:t> </a:t>
            </a:r>
            <a:r>
              <a:rPr lang="en-US" altLang="zh-CN" sz="1200" b="1" i="1" dirty="0"/>
              <a:t>x </a:t>
            </a:r>
            <a:r>
              <a:rPr lang="en-US" altLang="zh-CN" sz="1200" b="1" dirty="0"/>
              <a:t>(</a:t>
            </a:r>
            <a:r>
              <a:rPr lang="en-US" altLang="zh-CN" sz="1200" b="1" i="1" dirty="0"/>
              <a:t>M</a:t>
            </a:r>
            <a:r>
              <a:rPr lang="en-US" altLang="zh-CN" sz="1200" b="1" dirty="0"/>
              <a:t>(</a:t>
            </a:r>
            <a:r>
              <a:rPr lang="en-US" altLang="zh-CN" sz="1200" b="1" i="1" dirty="0"/>
              <a:t>x</a:t>
            </a:r>
            <a:r>
              <a:rPr lang="en-US" altLang="zh-CN" sz="1200" b="1" dirty="0"/>
              <a:t>)</a:t>
            </a:r>
            <a:r>
              <a:rPr lang="en-US" altLang="zh-CN" sz="1200" b="1" dirty="0">
                <a:sym typeface="Symbol" panose="05050102010706020507" pitchFamily="18" charset="2"/>
              </a:rPr>
              <a:t></a:t>
            </a:r>
            <a:r>
              <a:rPr lang="en-US" altLang="zh-CN" sz="1200" b="1" i="1" dirty="0"/>
              <a:t>G</a:t>
            </a:r>
            <a:r>
              <a:rPr lang="en-US" altLang="zh-CN" sz="1200" b="1" dirty="0"/>
              <a:t>(</a:t>
            </a:r>
            <a:r>
              <a:rPr lang="en-US" altLang="zh-CN" sz="1200" b="1" i="1" dirty="0"/>
              <a:t>x</a:t>
            </a:r>
            <a:r>
              <a:rPr lang="en-US" altLang="zh-CN" sz="1200" b="1" dirty="0"/>
              <a:t>))</a:t>
            </a:r>
          </a:p>
          <a:p>
            <a:pPr algn="just" eaLnBrk="1" hangingPunct="1">
              <a:spcBef>
                <a:spcPct val="30000"/>
              </a:spcBef>
              <a:buFontTx/>
              <a:buNone/>
            </a:pPr>
            <a:r>
              <a:rPr lang="en-US" altLang="zh-CN" sz="1200" b="1" i="1" dirty="0"/>
              <a:t>M</a:t>
            </a:r>
            <a:r>
              <a:rPr lang="en-US" altLang="zh-CN" sz="1200" b="1" dirty="0"/>
              <a:t>(</a:t>
            </a:r>
            <a:r>
              <a:rPr lang="en-US" altLang="zh-CN" sz="1200" b="1" i="1" dirty="0"/>
              <a:t>x</a:t>
            </a:r>
            <a:r>
              <a:rPr lang="en-US" altLang="zh-CN" sz="1200" b="1" dirty="0"/>
              <a:t>)</a:t>
            </a:r>
            <a:r>
              <a:rPr lang="zh-CN" altLang="en-US" sz="1200" b="1" dirty="0"/>
              <a:t>称作</a:t>
            </a:r>
            <a:endParaRPr lang="en-US" altLang="zh-CN" sz="1200" b="1" dirty="0"/>
          </a:p>
          <a:p>
            <a:pPr algn="just" eaLnBrk="1" hangingPunct="1">
              <a:spcBef>
                <a:spcPct val="30000"/>
              </a:spcBef>
              <a:buFontTx/>
              <a:buNone/>
            </a:pPr>
            <a:r>
              <a:rPr lang="zh-CN" altLang="en-US" sz="1200" b="1" dirty="0">
                <a:solidFill>
                  <a:srgbClr val="FF0000"/>
                </a:solidFill>
              </a:rPr>
              <a:t>特性谓词</a:t>
            </a:r>
            <a:endParaRPr lang="zh-CN" altLang="en-US" sz="1200" b="1"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dirty="0">
                <a:solidFill>
                  <a:srgbClr val="FF3300"/>
                </a:solidFill>
              </a:rPr>
              <a:t>一元谓词</a:t>
            </a:r>
            <a:r>
              <a:rPr lang="zh-CN" altLang="en-US" sz="1200" b="1" dirty="0"/>
              <a:t>: 表示事物的性质</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14</a:t>
            </a:fld>
            <a:endParaRPr lang="zh-CN" altLang="en-US"/>
          </a:p>
        </p:txBody>
      </p:sp>
    </p:spTree>
    <p:extLst>
      <p:ext uri="{BB962C8B-B14F-4D97-AF65-F5344CB8AC3E}">
        <p14:creationId xmlns:p14="http://schemas.microsoft.com/office/powerpoint/2010/main" val="181645195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eaLnBrk="1" hangingPunct="1">
              <a:spcBef>
                <a:spcPct val="30000"/>
              </a:spcBef>
              <a:buFontTx/>
              <a:buNone/>
            </a:pPr>
            <a:r>
              <a:rPr lang="zh-CN" altLang="en-US" sz="1200" b="1" dirty="0">
                <a:solidFill>
                  <a:srgbClr val="00B0F0"/>
                </a:solidFill>
              </a:rPr>
              <a:t>例：  </a:t>
            </a:r>
            <a:r>
              <a:rPr lang="zh-CN" altLang="en-US" sz="1200" b="1" dirty="0"/>
              <a:t>在一阶逻辑中将下面命题符号化: </a:t>
            </a:r>
          </a:p>
          <a:p>
            <a:pPr algn="just" eaLnBrk="1" hangingPunct="1">
              <a:spcBef>
                <a:spcPct val="30000"/>
              </a:spcBef>
              <a:buFontTx/>
              <a:buNone/>
            </a:pPr>
            <a:r>
              <a:rPr lang="zh-CN" altLang="en-US" sz="1200" b="1" dirty="0"/>
              <a:t>(1) 人都爱美;  (2) 有人用左手写字</a:t>
            </a:r>
          </a:p>
          <a:p>
            <a:pPr algn="just" eaLnBrk="1" hangingPunct="1">
              <a:spcBef>
                <a:spcPct val="30000"/>
              </a:spcBef>
              <a:buFontTx/>
              <a:buNone/>
            </a:pPr>
            <a:r>
              <a:rPr lang="zh-CN" altLang="en-US" sz="1200" b="1" dirty="0"/>
              <a:t>个体域分别取(</a:t>
            </a:r>
            <a:r>
              <a:rPr lang="en-US" altLang="zh-CN" sz="1200" b="1" i="1" dirty="0"/>
              <a:t>a</a:t>
            </a:r>
            <a:r>
              <a:rPr lang="en-US" altLang="zh-CN" sz="1200" b="1" dirty="0"/>
              <a:t>) </a:t>
            </a:r>
            <a:r>
              <a:rPr lang="zh-CN" altLang="en-US" sz="1200" b="1" dirty="0"/>
              <a:t>人类集合,  (</a:t>
            </a:r>
            <a:r>
              <a:rPr lang="en-US" altLang="zh-CN" sz="1200" b="1" i="1" dirty="0"/>
              <a:t>b</a:t>
            </a:r>
            <a:r>
              <a:rPr lang="en-US" altLang="zh-CN" sz="1200" b="1" dirty="0"/>
              <a:t>) </a:t>
            </a:r>
            <a:r>
              <a:rPr lang="zh-CN" altLang="en-US" sz="1200" b="1" dirty="0"/>
              <a:t>全总个体域 .</a:t>
            </a:r>
          </a:p>
          <a:p>
            <a:pPr algn="just" eaLnBrk="1" hangingPunct="1">
              <a:spcBef>
                <a:spcPct val="30000"/>
              </a:spcBef>
              <a:buFontTx/>
              <a:buNone/>
            </a:pPr>
            <a:r>
              <a:rPr lang="zh-CN" altLang="en-US" sz="1200" b="1" dirty="0">
                <a:solidFill>
                  <a:srgbClr val="00B0F0"/>
                </a:solidFill>
              </a:rPr>
              <a:t>解: </a:t>
            </a:r>
            <a:r>
              <a:rPr lang="zh-CN" altLang="en-US" sz="1200" b="1" dirty="0"/>
              <a:t>(</a:t>
            </a:r>
            <a:r>
              <a:rPr lang="en-US" altLang="zh-CN" sz="1200" b="1" i="1" dirty="0"/>
              <a:t>a</a:t>
            </a:r>
            <a:r>
              <a:rPr lang="en-US" altLang="zh-CN" sz="1200" b="1" dirty="0"/>
              <a:t>) (1) </a:t>
            </a:r>
            <a:r>
              <a:rPr lang="zh-CN" altLang="en-US" sz="1200" b="1" dirty="0"/>
              <a:t>设</a:t>
            </a:r>
            <a:r>
              <a:rPr lang="en-US" altLang="zh-CN" sz="1200" b="1" i="1" dirty="0"/>
              <a:t>F</a:t>
            </a:r>
            <a:r>
              <a:rPr lang="en-US" altLang="zh-CN" sz="1200" b="1" dirty="0"/>
              <a:t>(</a:t>
            </a:r>
            <a:r>
              <a:rPr lang="en-US" altLang="zh-CN" sz="1200" b="1" i="1" dirty="0"/>
              <a:t>x</a:t>
            </a:r>
            <a:r>
              <a:rPr lang="en-US" altLang="zh-CN" sz="1200" b="1" dirty="0"/>
              <a:t>): </a:t>
            </a:r>
            <a:r>
              <a:rPr lang="en-US" altLang="zh-CN" sz="1200" b="1" i="1" dirty="0"/>
              <a:t>x</a:t>
            </a:r>
            <a:r>
              <a:rPr lang="zh-CN" altLang="en-US" sz="1200" b="1" dirty="0"/>
              <a:t>爱美,   符号化为 </a:t>
            </a:r>
            <a:r>
              <a:rPr lang="zh-CN" altLang="en-US" sz="1200" b="1" dirty="0">
                <a:sym typeface="Symbol" panose="05050102010706020507" pitchFamily="18" charset="2"/>
              </a:rPr>
              <a:t></a:t>
            </a:r>
            <a:r>
              <a:rPr lang="en-US" altLang="zh-CN" sz="1200" b="1" i="1" dirty="0"/>
              <a:t>x F</a:t>
            </a:r>
            <a:r>
              <a:rPr lang="en-US" altLang="zh-CN" sz="1200" b="1" dirty="0"/>
              <a:t>(</a:t>
            </a:r>
            <a:r>
              <a:rPr lang="en-US" altLang="zh-CN" sz="1200" b="1" i="1" dirty="0"/>
              <a:t>x</a:t>
            </a:r>
            <a:r>
              <a:rPr lang="en-US" altLang="zh-CN" sz="1200" b="1" dirty="0"/>
              <a:t>)</a:t>
            </a:r>
          </a:p>
          <a:p>
            <a:pPr algn="just" eaLnBrk="1" hangingPunct="1">
              <a:spcBef>
                <a:spcPct val="30000"/>
              </a:spcBef>
              <a:buFontTx/>
              <a:buNone/>
            </a:pPr>
            <a:r>
              <a:rPr lang="en-US" altLang="zh-CN" sz="1200" b="1" dirty="0"/>
              <a:t>            (2) </a:t>
            </a:r>
            <a:r>
              <a:rPr lang="zh-CN" altLang="en-US" sz="1200" b="1" dirty="0"/>
              <a:t>设</a:t>
            </a:r>
            <a:r>
              <a:rPr lang="en-US" altLang="zh-CN" sz="1200" b="1" i="1" dirty="0"/>
              <a:t>G</a:t>
            </a:r>
            <a:r>
              <a:rPr lang="en-US" altLang="zh-CN" sz="1200" b="1" dirty="0"/>
              <a:t>(</a:t>
            </a:r>
            <a:r>
              <a:rPr lang="en-US" altLang="zh-CN" sz="1200" b="1" i="1" dirty="0"/>
              <a:t>x</a:t>
            </a:r>
            <a:r>
              <a:rPr lang="en-US" altLang="zh-CN" sz="1200" b="1" dirty="0"/>
              <a:t>): </a:t>
            </a:r>
            <a:r>
              <a:rPr lang="en-US" altLang="zh-CN" sz="1200" b="1" i="1" dirty="0"/>
              <a:t>x</a:t>
            </a:r>
            <a:r>
              <a:rPr lang="zh-CN" altLang="en-US" sz="1200" b="1" dirty="0"/>
              <a:t>用左手写字,   符号化为 </a:t>
            </a:r>
            <a:r>
              <a:rPr lang="zh-CN" altLang="en-US" sz="1200" b="1" dirty="0">
                <a:sym typeface="Symbol" panose="05050102010706020507" pitchFamily="18" charset="2"/>
              </a:rPr>
              <a:t></a:t>
            </a:r>
            <a:r>
              <a:rPr lang="en-US" altLang="zh-CN" sz="1200" b="1" i="1" dirty="0"/>
              <a:t>x G</a:t>
            </a:r>
            <a:r>
              <a:rPr lang="en-US" altLang="zh-CN" sz="1200" b="1" dirty="0"/>
              <a:t>(</a:t>
            </a:r>
            <a:r>
              <a:rPr lang="en-US" altLang="zh-CN" sz="1200" b="1" i="1" dirty="0"/>
              <a:t>x</a:t>
            </a:r>
            <a:r>
              <a:rPr lang="en-US" altLang="zh-CN" sz="1200" b="1" dirty="0"/>
              <a:t>)</a:t>
            </a:r>
          </a:p>
          <a:p>
            <a:pPr algn="just" eaLnBrk="1" hangingPunct="1">
              <a:spcBef>
                <a:spcPct val="30000"/>
              </a:spcBef>
              <a:buFontTx/>
              <a:buNone/>
            </a:pPr>
            <a:r>
              <a:rPr lang="en-US" altLang="zh-CN" sz="1200" b="1" dirty="0"/>
              <a:t>      (</a:t>
            </a:r>
            <a:r>
              <a:rPr lang="en-US" altLang="zh-CN" sz="1200" b="1" i="1" dirty="0"/>
              <a:t>b</a:t>
            </a:r>
            <a:r>
              <a:rPr lang="en-US" altLang="zh-CN" sz="1200" b="1" dirty="0"/>
              <a:t>) </a:t>
            </a:r>
            <a:r>
              <a:rPr lang="zh-CN" altLang="en-US" sz="1200" b="1" dirty="0"/>
              <a:t>设</a:t>
            </a:r>
            <a:r>
              <a:rPr lang="en-US" altLang="zh-CN" sz="1200" b="1" i="1" dirty="0"/>
              <a:t>M</a:t>
            </a:r>
            <a:r>
              <a:rPr lang="en-US" altLang="zh-CN" sz="1200" b="1" dirty="0"/>
              <a:t>(</a:t>
            </a:r>
            <a:r>
              <a:rPr lang="en-US" altLang="zh-CN" sz="1200" b="1" i="1" dirty="0"/>
              <a:t>x</a:t>
            </a:r>
            <a:r>
              <a:rPr lang="en-US" altLang="zh-CN" sz="1200" b="1" dirty="0"/>
              <a:t>): </a:t>
            </a:r>
            <a:r>
              <a:rPr lang="en-US" altLang="zh-CN" sz="1200" b="1" i="1" dirty="0"/>
              <a:t>x</a:t>
            </a:r>
            <a:r>
              <a:rPr lang="zh-CN" altLang="en-US" sz="1200" b="1" dirty="0"/>
              <a:t>为人， </a:t>
            </a:r>
            <a:r>
              <a:rPr lang="en-US" altLang="zh-CN" sz="1200" b="1" i="1" dirty="0"/>
              <a:t>F</a:t>
            </a:r>
            <a:r>
              <a:rPr lang="en-US" altLang="zh-CN" sz="1200" b="1" dirty="0"/>
              <a:t>(</a:t>
            </a:r>
            <a:r>
              <a:rPr lang="en-US" altLang="zh-CN" sz="1200" b="1" i="1" dirty="0"/>
              <a:t>x</a:t>
            </a:r>
            <a:r>
              <a:rPr lang="en-US" altLang="zh-CN" sz="1200" b="1" dirty="0"/>
              <a:t>),</a:t>
            </a:r>
            <a:r>
              <a:rPr lang="zh-CN" altLang="en-US" sz="1200" b="1" dirty="0"/>
              <a:t> </a:t>
            </a:r>
            <a:r>
              <a:rPr lang="en-US" altLang="zh-CN" sz="1200" b="1" i="1" dirty="0"/>
              <a:t>G</a:t>
            </a:r>
            <a:r>
              <a:rPr lang="en-US" altLang="zh-CN" sz="1200" b="1" dirty="0"/>
              <a:t>(</a:t>
            </a:r>
            <a:r>
              <a:rPr lang="en-US" altLang="zh-CN" sz="1200" b="1" i="1" dirty="0"/>
              <a:t>x</a:t>
            </a:r>
            <a:r>
              <a:rPr lang="en-US" altLang="zh-CN" sz="1200" b="1" dirty="0"/>
              <a:t>)</a:t>
            </a:r>
            <a:r>
              <a:rPr lang="zh-CN" altLang="en-US" sz="1200" b="1" dirty="0"/>
              <a:t>同(</a:t>
            </a:r>
            <a:r>
              <a:rPr lang="en-US" altLang="zh-CN" sz="1200" b="1" i="1" dirty="0"/>
              <a:t>a</a:t>
            </a:r>
            <a:r>
              <a:rPr lang="en-US" altLang="zh-CN" sz="1200" b="1" dirty="0"/>
              <a:t>)</a:t>
            </a:r>
            <a:r>
              <a:rPr lang="zh-CN" altLang="en-US" sz="1200" b="1" dirty="0"/>
              <a:t>中</a:t>
            </a:r>
          </a:p>
          <a:p>
            <a:pPr algn="just" eaLnBrk="1" hangingPunct="1">
              <a:spcBef>
                <a:spcPct val="30000"/>
              </a:spcBef>
              <a:buFontTx/>
              <a:buNone/>
            </a:pPr>
            <a:r>
              <a:rPr lang="zh-CN" altLang="en-US" sz="1200" b="1" dirty="0"/>
              <a:t>            (1) </a:t>
            </a:r>
            <a:r>
              <a:rPr lang="zh-CN" altLang="en-US" sz="1200" b="1" dirty="0">
                <a:sym typeface="Symbol" panose="05050102010706020507" pitchFamily="18" charset="2"/>
              </a:rPr>
              <a:t></a:t>
            </a:r>
            <a:r>
              <a:rPr lang="en-US" altLang="zh-CN" sz="1200" b="1" i="1" dirty="0"/>
              <a:t>x </a:t>
            </a:r>
            <a:r>
              <a:rPr lang="en-US" altLang="zh-CN" sz="1200" b="1" dirty="0"/>
              <a:t>(</a:t>
            </a:r>
            <a:r>
              <a:rPr lang="en-US" altLang="zh-CN" sz="1200" b="1" i="1" dirty="0"/>
              <a:t>M</a:t>
            </a:r>
            <a:r>
              <a:rPr lang="en-US" altLang="zh-CN" sz="1200" b="1" dirty="0"/>
              <a:t>(</a:t>
            </a:r>
            <a:r>
              <a:rPr lang="en-US" altLang="zh-CN" sz="1200" b="1" i="1" dirty="0"/>
              <a:t>x</a:t>
            </a:r>
            <a:r>
              <a:rPr lang="en-US" altLang="zh-CN" sz="1200" b="1" dirty="0"/>
              <a:t>)</a:t>
            </a:r>
            <a:r>
              <a:rPr lang="en-US" altLang="zh-CN" sz="1200" b="1" dirty="0">
                <a:sym typeface="Symbol" panose="05050102010706020507" pitchFamily="18" charset="2"/>
              </a:rPr>
              <a:t></a:t>
            </a:r>
            <a:r>
              <a:rPr lang="en-US" altLang="zh-CN" sz="1200" b="1" i="1" dirty="0"/>
              <a:t>F</a:t>
            </a:r>
            <a:r>
              <a:rPr lang="en-US" altLang="zh-CN" sz="1200" b="1" dirty="0"/>
              <a:t>(</a:t>
            </a:r>
            <a:r>
              <a:rPr lang="en-US" altLang="zh-CN" sz="1200" b="1" i="1" dirty="0"/>
              <a:t>x</a:t>
            </a:r>
            <a:r>
              <a:rPr lang="en-US" altLang="zh-CN" sz="1200" b="1" dirty="0"/>
              <a:t>))</a:t>
            </a:r>
          </a:p>
          <a:p>
            <a:pPr algn="just" eaLnBrk="1" hangingPunct="1">
              <a:spcBef>
                <a:spcPct val="30000"/>
              </a:spcBef>
              <a:buFontTx/>
              <a:buNone/>
            </a:pPr>
            <a:r>
              <a:rPr lang="en-US" altLang="zh-CN" sz="1200" b="1" dirty="0"/>
              <a:t>            (2) </a:t>
            </a:r>
            <a:r>
              <a:rPr lang="en-US" altLang="zh-CN" sz="1200" b="1" dirty="0">
                <a:sym typeface="Symbol" panose="05050102010706020507" pitchFamily="18" charset="2"/>
              </a:rPr>
              <a:t></a:t>
            </a:r>
            <a:r>
              <a:rPr lang="en-US" altLang="zh-CN" sz="1200" b="1" dirty="0"/>
              <a:t> </a:t>
            </a:r>
            <a:r>
              <a:rPr lang="en-US" altLang="zh-CN" sz="1200" b="1" i="1" dirty="0"/>
              <a:t>x </a:t>
            </a:r>
            <a:r>
              <a:rPr lang="en-US" altLang="zh-CN" sz="1200" b="1" dirty="0"/>
              <a:t>(</a:t>
            </a:r>
            <a:r>
              <a:rPr lang="en-US" altLang="zh-CN" sz="1200" b="1" i="1" dirty="0"/>
              <a:t>M</a:t>
            </a:r>
            <a:r>
              <a:rPr lang="en-US" altLang="zh-CN" sz="1200" b="1" dirty="0"/>
              <a:t>(</a:t>
            </a:r>
            <a:r>
              <a:rPr lang="en-US" altLang="zh-CN" sz="1200" b="1" i="1" dirty="0"/>
              <a:t>x</a:t>
            </a:r>
            <a:r>
              <a:rPr lang="en-US" altLang="zh-CN" sz="1200" b="1" dirty="0"/>
              <a:t>)</a:t>
            </a:r>
            <a:r>
              <a:rPr lang="en-US" altLang="zh-CN" sz="1200" b="1" dirty="0">
                <a:sym typeface="Symbol" panose="05050102010706020507" pitchFamily="18" charset="2"/>
              </a:rPr>
              <a:t></a:t>
            </a:r>
            <a:r>
              <a:rPr lang="en-US" altLang="zh-CN" sz="1200" b="1" i="1" dirty="0"/>
              <a:t>G</a:t>
            </a:r>
            <a:r>
              <a:rPr lang="en-US" altLang="zh-CN" sz="1200" b="1" dirty="0"/>
              <a:t>(</a:t>
            </a:r>
            <a:r>
              <a:rPr lang="en-US" altLang="zh-CN" sz="1200" b="1" i="1" dirty="0"/>
              <a:t>x</a:t>
            </a:r>
            <a:r>
              <a:rPr lang="en-US" altLang="zh-CN" sz="1200" b="1" dirty="0"/>
              <a:t>))</a:t>
            </a:r>
          </a:p>
          <a:p>
            <a:pPr algn="just" eaLnBrk="1" hangingPunct="1">
              <a:spcBef>
                <a:spcPct val="30000"/>
              </a:spcBef>
              <a:buFontTx/>
              <a:buNone/>
            </a:pPr>
            <a:r>
              <a:rPr lang="en-US" altLang="zh-CN" sz="1200" b="1" i="1" dirty="0"/>
              <a:t>M</a:t>
            </a:r>
            <a:r>
              <a:rPr lang="en-US" altLang="zh-CN" sz="1200" b="1" dirty="0"/>
              <a:t>(</a:t>
            </a:r>
            <a:r>
              <a:rPr lang="en-US" altLang="zh-CN" sz="1200" b="1" i="1" dirty="0"/>
              <a:t>x</a:t>
            </a:r>
            <a:r>
              <a:rPr lang="en-US" altLang="zh-CN" sz="1200" b="1" dirty="0"/>
              <a:t>)</a:t>
            </a:r>
            <a:r>
              <a:rPr lang="zh-CN" altLang="en-US" sz="1200" b="1" dirty="0"/>
              <a:t>称作</a:t>
            </a:r>
            <a:r>
              <a:rPr lang="zh-CN" altLang="en-US" sz="1200" b="1" dirty="0">
                <a:solidFill>
                  <a:srgbClr val="FF0000"/>
                </a:solidFill>
              </a:rPr>
              <a:t>特性谓词</a:t>
            </a:r>
            <a:endParaRPr lang="zh-CN" altLang="en-US" sz="1200" b="1" dirty="0"/>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15</a:t>
            </a:fld>
            <a:endParaRPr lang="zh-CN" altLang="en-US"/>
          </a:p>
        </p:txBody>
      </p:sp>
    </p:spTree>
    <p:extLst>
      <p:ext uri="{BB962C8B-B14F-4D97-AF65-F5344CB8AC3E}">
        <p14:creationId xmlns:p14="http://schemas.microsoft.com/office/powerpoint/2010/main" val="120518055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609600" indent="-609600" eaLnBrk="1" hangingPunct="1">
              <a:buFontTx/>
              <a:buNone/>
            </a:pPr>
            <a:r>
              <a:rPr lang="zh-CN" altLang="en-US" sz="1200" b="1" dirty="0">
                <a:solidFill>
                  <a:srgbClr val="00B0F0"/>
                </a:solidFill>
              </a:rPr>
              <a:t>例： </a:t>
            </a:r>
            <a:r>
              <a:rPr lang="zh-CN" altLang="en-US" sz="1200" b="1" dirty="0"/>
              <a:t>将下列命题符号化, 并讨论其真值:</a:t>
            </a:r>
          </a:p>
          <a:p>
            <a:pPr marL="609600" indent="-609600" eaLnBrk="1" hangingPunct="1">
              <a:buFontTx/>
              <a:buNone/>
            </a:pPr>
            <a:r>
              <a:rPr lang="zh-CN" altLang="en-US" sz="1200" b="1" dirty="0"/>
              <a:t>(1) 对任意的</a:t>
            </a:r>
            <a:r>
              <a:rPr lang="en-US" altLang="zh-CN" sz="1200" b="1" i="1" dirty="0"/>
              <a:t>x</a:t>
            </a:r>
            <a:r>
              <a:rPr lang="en-US" altLang="zh-CN" sz="1200" b="1" dirty="0"/>
              <a:t>, </a:t>
            </a:r>
            <a:r>
              <a:rPr lang="zh-CN" altLang="en-US" sz="1200" b="1" dirty="0"/>
              <a:t>均有</a:t>
            </a:r>
            <a:r>
              <a:rPr lang="en-US" altLang="zh-CN" sz="1200" b="1" i="1" dirty="0"/>
              <a:t>x</a:t>
            </a:r>
            <a:r>
              <a:rPr lang="en-US" altLang="zh-CN" sz="1200" b="1" baseline="30000" dirty="0"/>
              <a:t>2</a:t>
            </a:r>
            <a:r>
              <a:rPr lang="en-US" altLang="zh-CN" sz="1200" b="1" dirty="0"/>
              <a:t>-3</a:t>
            </a:r>
            <a:r>
              <a:rPr lang="en-US" altLang="zh-CN" sz="1200" b="1" i="1" dirty="0"/>
              <a:t>x</a:t>
            </a:r>
            <a:r>
              <a:rPr lang="en-US" altLang="zh-CN" sz="1200" b="1" dirty="0"/>
              <a:t>+2=(</a:t>
            </a:r>
            <a:r>
              <a:rPr lang="en-US" altLang="zh-CN" sz="1200" b="1" i="1" dirty="0"/>
              <a:t>x</a:t>
            </a:r>
            <a:r>
              <a:rPr lang="en-US" altLang="zh-CN" sz="1200" b="1" dirty="0"/>
              <a:t>-1)(</a:t>
            </a:r>
            <a:r>
              <a:rPr lang="en-US" altLang="zh-CN" sz="1200" b="1" i="1" dirty="0"/>
              <a:t>x</a:t>
            </a:r>
            <a:r>
              <a:rPr lang="en-US" altLang="zh-CN" sz="1200" b="1" dirty="0"/>
              <a:t>-2)</a:t>
            </a:r>
          </a:p>
          <a:p>
            <a:pPr marL="609600" indent="-609600" eaLnBrk="1" hangingPunct="1">
              <a:buFontTx/>
              <a:buNone/>
            </a:pPr>
            <a:r>
              <a:rPr lang="zh-CN" altLang="en-US" sz="1200" b="1" dirty="0"/>
              <a:t>(2) 存在</a:t>
            </a:r>
            <a:r>
              <a:rPr lang="en-US" altLang="zh-CN" sz="1200" b="1" i="1" dirty="0"/>
              <a:t>x</a:t>
            </a:r>
            <a:r>
              <a:rPr lang="en-US" altLang="zh-CN" sz="1200" b="1" dirty="0"/>
              <a:t>, </a:t>
            </a:r>
            <a:r>
              <a:rPr lang="zh-CN" altLang="en-US" sz="1200" b="1" dirty="0"/>
              <a:t>使得</a:t>
            </a:r>
            <a:r>
              <a:rPr lang="en-US" altLang="zh-CN" sz="1200" b="1" i="1" dirty="0"/>
              <a:t>x</a:t>
            </a:r>
            <a:r>
              <a:rPr lang="en-US" altLang="zh-CN" sz="1200" b="1" dirty="0"/>
              <a:t>+5=3</a:t>
            </a:r>
          </a:p>
          <a:p>
            <a:pPr marL="609600" indent="-609600" eaLnBrk="1" hangingPunct="1">
              <a:buFontTx/>
              <a:buNone/>
            </a:pPr>
            <a:r>
              <a:rPr lang="zh-CN" altLang="en-US" sz="1200" b="1" dirty="0"/>
              <a:t>分别取(</a:t>
            </a:r>
            <a:r>
              <a:rPr lang="en-US" altLang="zh-CN" sz="1200" b="1" dirty="0"/>
              <a:t>a) </a:t>
            </a:r>
            <a:r>
              <a:rPr lang="zh-CN" altLang="en-US" sz="1200" b="1" dirty="0"/>
              <a:t>个体域</a:t>
            </a:r>
            <a:r>
              <a:rPr lang="en-US" altLang="zh-CN" sz="1200" b="1" i="1" dirty="0"/>
              <a:t>D</a:t>
            </a:r>
            <a:r>
              <a:rPr lang="en-US" altLang="zh-CN" sz="1200" b="1" baseline="-25000" dirty="0"/>
              <a:t>1</a:t>
            </a:r>
            <a:r>
              <a:rPr lang="en-US" altLang="zh-CN" sz="1200" b="1" dirty="0"/>
              <a:t>=N, (b) </a:t>
            </a:r>
            <a:r>
              <a:rPr lang="zh-CN" altLang="en-US" sz="1200" b="1" dirty="0"/>
              <a:t>个体域</a:t>
            </a:r>
            <a:r>
              <a:rPr lang="en-US" altLang="zh-CN" sz="1200" b="1" i="1" dirty="0"/>
              <a:t>D</a:t>
            </a:r>
            <a:r>
              <a:rPr lang="en-US" altLang="zh-CN" sz="1200" b="1" baseline="-25000" dirty="0"/>
              <a:t>2</a:t>
            </a:r>
            <a:r>
              <a:rPr lang="en-US" altLang="zh-CN" sz="1200" b="1" dirty="0"/>
              <a:t>=R</a:t>
            </a:r>
          </a:p>
          <a:p>
            <a:pPr marL="609600" indent="-609600" eaLnBrk="1" hangingPunct="1">
              <a:buFontTx/>
              <a:buNone/>
            </a:pPr>
            <a:r>
              <a:rPr lang="zh-CN" altLang="en-US" sz="1200" b="1" dirty="0">
                <a:solidFill>
                  <a:srgbClr val="00B0F0"/>
                </a:solidFill>
              </a:rPr>
              <a:t>解： </a:t>
            </a:r>
            <a:r>
              <a:rPr lang="zh-CN" altLang="en-US" sz="1200" b="1" dirty="0"/>
              <a:t>记</a:t>
            </a:r>
            <a:r>
              <a:rPr lang="en-US" altLang="zh-CN" sz="1200" b="1" i="1" dirty="0"/>
              <a:t>F</a:t>
            </a:r>
            <a:r>
              <a:rPr lang="en-US" altLang="zh-CN" sz="1200" b="1" dirty="0"/>
              <a:t>(</a:t>
            </a:r>
            <a:r>
              <a:rPr lang="en-US" altLang="zh-CN" sz="1200" b="1" i="1" dirty="0"/>
              <a:t>x</a:t>
            </a:r>
            <a:r>
              <a:rPr lang="en-US" altLang="zh-CN" sz="1200" b="1" dirty="0"/>
              <a:t>): </a:t>
            </a:r>
            <a:r>
              <a:rPr lang="en-US" altLang="zh-CN" sz="1200" b="1" i="1" dirty="0"/>
              <a:t>x</a:t>
            </a:r>
            <a:r>
              <a:rPr lang="en-US" altLang="zh-CN" sz="1200" b="1" baseline="30000" dirty="0"/>
              <a:t>2</a:t>
            </a:r>
            <a:r>
              <a:rPr lang="en-US" altLang="zh-CN" sz="1200" b="1" dirty="0"/>
              <a:t>-3</a:t>
            </a:r>
            <a:r>
              <a:rPr lang="en-US" altLang="zh-CN" sz="1200" b="1" i="1" dirty="0"/>
              <a:t>x</a:t>
            </a:r>
            <a:r>
              <a:rPr lang="en-US" altLang="zh-CN" sz="1200" b="1" dirty="0"/>
              <a:t>+2=(</a:t>
            </a:r>
            <a:r>
              <a:rPr lang="en-US" altLang="zh-CN" sz="1200" b="1" i="1" dirty="0"/>
              <a:t>x</a:t>
            </a:r>
            <a:r>
              <a:rPr lang="en-US" altLang="zh-CN" sz="1200" b="1" dirty="0"/>
              <a:t>-1)(</a:t>
            </a:r>
            <a:r>
              <a:rPr lang="en-US" altLang="zh-CN" sz="1200" b="1" i="1" dirty="0"/>
              <a:t>x</a:t>
            </a:r>
            <a:r>
              <a:rPr lang="en-US" altLang="zh-CN" sz="1200" b="1" dirty="0"/>
              <a:t>-2), </a:t>
            </a:r>
            <a:r>
              <a:rPr lang="en-US" altLang="zh-CN" sz="1200" b="1" i="1" dirty="0"/>
              <a:t> G</a:t>
            </a:r>
            <a:r>
              <a:rPr lang="en-US" altLang="zh-CN" sz="1200" b="1" dirty="0"/>
              <a:t>(</a:t>
            </a:r>
            <a:r>
              <a:rPr lang="en-US" altLang="zh-CN" sz="1200" b="1" i="1" dirty="0"/>
              <a:t>x</a:t>
            </a:r>
            <a:r>
              <a:rPr lang="en-US" altLang="zh-CN" sz="1200" b="1" dirty="0"/>
              <a:t>): </a:t>
            </a:r>
            <a:r>
              <a:rPr lang="en-US" altLang="zh-CN" sz="1200" b="1" i="1" dirty="0"/>
              <a:t>x</a:t>
            </a:r>
            <a:r>
              <a:rPr lang="en-US" altLang="zh-CN" sz="1200" b="1" dirty="0"/>
              <a:t>+5=3</a:t>
            </a:r>
          </a:p>
          <a:p>
            <a:pPr marL="609600" indent="-609600" eaLnBrk="1" hangingPunct="1">
              <a:buFontTx/>
              <a:buNone/>
            </a:pPr>
            <a:r>
              <a:rPr lang="en-US" altLang="zh-CN" sz="1200" b="1" dirty="0"/>
              <a:t>(a) (1) </a:t>
            </a:r>
            <a:r>
              <a:rPr lang="zh-CN" altLang="en-US" sz="1200" b="1" dirty="0">
                <a:sym typeface="Symbol" panose="05050102010706020507" pitchFamily="18" charset="2"/>
              </a:rPr>
              <a:t></a:t>
            </a:r>
            <a:r>
              <a:rPr lang="en-US" altLang="zh-CN" sz="1200" b="1" i="1" dirty="0"/>
              <a:t>x F</a:t>
            </a:r>
            <a:r>
              <a:rPr lang="en-US" altLang="zh-CN" sz="1200" b="1" dirty="0"/>
              <a:t>(</a:t>
            </a:r>
            <a:r>
              <a:rPr lang="en-US" altLang="zh-CN" sz="1200" b="1" i="1" dirty="0"/>
              <a:t>x</a:t>
            </a:r>
            <a:r>
              <a:rPr lang="en-US" altLang="zh-CN" sz="1200" b="1" dirty="0"/>
              <a:t>)        </a:t>
            </a:r>
            <a:r>
              <a:rPr lang="zh-CN" altLang="en-US" sz="1200" b="1" dirty="0"/>
              <a:t>真值为1</a:t>
            </a:r>
          </a:p>
          <a:p>
            <a:pPr marL="609600" indent="-609600" eaLnBrk="1" hangingPunct="1">
              <a:buFontTx/>
              <a:buNone/>
            </a:pPr>
            <a:r>
              <a:rPr lang="zh-CN" altLang="en-US" sz="1200" b="1" dirty="0"/>
              <a:t>      (2) </a:t>
            </a:r>
            <a:r>
              <a:rPr lang="zh-CN" altLang="en-US" sz="1200" b="1" dirty="0">
                <a:sym typeface="Symbol" panose="05050102010706020507" pitchFamily="18" charset="2"/>
              </a:rPr>
              <a:t></a:t>
            </a:r>
            <a:r>
              <a:rPr lang="en-US" altLang="zh-CN" sz="1200" b="1" i="1" dirty="0"/>
              <a:t>x G</a:t>
            </a:r>
            <a:r>
              <a:rPr lang="en-US" altLang="zh-CN" sz="1200" b="1" dirty="0"/>
              <a:t>(</a:t>
            </a:r>
            <a:r>
              <a:rPr lang="en-US" altLang="zh-CN" sz="1200" b="1" i="1" dirty="0"/>
              <a:t>x</a:t>
            </a:r>
            <a:r>
              <a:rPr lang="en-US" altLang="zh-CN" sz="1200" b="1" dirty="0"/>
              <a:t>)        </a:t>
            </a:r>
            <a:r>
              <a:rPr lang="zh-CN" altLang="en-US" sz="1200" b="1" dirty="0"/>
              <a:t>真值为0</a:t>
            </a:r>
          </a:p>
          <a:p>
            <a:pPr marL="609600" indent="-609600" eaLnBrk="1" hangingPunct="1">
              <a:buFontTx/>
              <a:buNone/>
            </a:pPr>
            <a:r>
              <a:rPr lang="zh-CN" altLang="en-US" sz="1200" b="1" dirty="0"/>
              <a:t>(</a:t>
            </a:r>
            <a:r>
              <a:rPr lang="en-US" altLang="zh-CN" sz="1200" b="1" dirty="0"/>
              <a:t>b) (1) </a:t>
            </a:r>
            <a:r>
              <a:rPr lang="zh-CN" altLang="en-US" sz="1200" b="1" dirty="0">
                <a:sym typeface="Symbol" panose="05050102010706020507" pitchFamily="18" charset="2"/>
              </a:rPr>
              <a:t></a:t>
            </a:r>
            <a:r>
              <a:rPr lang="en-US" altLang="zh-CN" sz="1200" b="1" i="1" dirty="0"/>
              <a:t>x F</a:t>
            </a:r>
            <a:r>
              <a:rPr lang="en-US" altLang="zh-CN" sz="1200" b="1" dirty="0"/>
              <a:t>(</a:t>
            </a:r>
            <a:r>
              <a:rPr lang="en-US" altLang="zh-CN" sz="1200" b="1" i="1" dirty="0"/>
              <a:t>x</a:t>
            </a:r>
            <a:r>
              <a:rPr lang="en-US" altLang="zh-CN" sz="1200" b="1" dirty="0"/>
              <a:t>)        </a:t>
            </a:r>
            <a:r>
              <a:rPr lang="zh-CN" altLang="en-US" sz="1200" b="1" dirty="0"/>
              <a:t>真值为1</a:t>
            </a:r>
          </a:p>
          <a:p>
            <a:pPr marL="609600" indent="-609600" eaLnBrk="1" hangingPunct="1">
              <a:buFontTx/>
              <a:buNone/>
            </a:pPr>
            <a:r>
              <a:rPr lang="zh-CN" altLang="en-US" sz="1200" b="1" dirty="0"/>
              <a:t>      (2) </a:t>
            </a:r>
            <a:r>
              <a:rPr lang="zh-CN" altLang="en-US" sz="1200" b="1" dirty="0">
                <a:sym typeface="Symbol" panose="05050102010706020507" pitchFamily="18" charset="2"/>
              </a:rPr>
              <a:t></a:t>
            </a:r>
            <a:r>
              <a:rPr lang="en-US" altLang="zh-CN" sz="1200" b="1" i="1" dirty="0"/>
              <a:t>x G</a:t>
            </a:r>
            <a:r>
              <a:rPr lang="en-US" altLang="zh-CN" sz="1200" b="1" dirty="0"/>
              <a:t>(</a:t>
            </a:r>
            <a:r>
              <a:rPr lang="en-US" altLang="zh-CN" sz="1200" b="1" i="1" dirty="0"/>
              <a:t>x</a:t>
            </a:r>
            <a:r>
              <a:rPr lang="en-US" altLang="zh-CN" sz="1200" b="1" dirty="0"/>
              <a:t>)        </a:t>
            </a:r>
            <a:r>
              <a:rPr lang="zh-CN" altLang="en-US" sz="1200" b="1" dirty="0"/>
              <a:t>真值为1</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16</a:t>
            </a:fld>
            <a:endParaRPr lang="zh-CN" altLang="en-US"/>
          </a:p>
        </p:txBody>
      </p:sp>
    </p:spTree>
    <p:extLst>
      <p:ext uri="{BB962C8B-B14F-4D97-AF65-F5344CB8AC3E}">
        <p14:creationId xmlns:p14="http://schemas.microsoft.com/office/powerpoint/2010/main" val="2555019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533400" indent="-533400" algn="just" eaLnBrk="1" hangingPunct="1">
              <a:buFontTx/>
              <a:buNone/>
            </a:pPr>
            <a:r>
              <a:rPr lang="zh-CN" altLang="en-US" sz="1200" b="1" dirty="0">
                <a:solidFill>
                  <a:srgbClr val="00B0F0"/>
                </a:solidFill>
              </a:rPr>
              <a:t>例：  </a:t>
            </a:r>
            <a:r>
              <a:rPr lang="zh-CN" altLang="en-US" sz="1200" b="1" dirty="0"/>
              <a:t>将下面命题符号化:</a:t>
            </a:r>
          </a:p>
          <a:p>
            <a:pPr marL="533400" indent="-533400" algn="just" eaLnBrk="1" hangingPunct="1">
              <a:buFontTx/>
              <a:buNone/>
            </a:pPr>
            <a:r>
              <a:rPr lang="zh-CN" altLang="en-US" sz="1200" b="1" dirty="0"/>
              <a:t>(1) 兔子比乌龟跑得快</a:t>
            </a:r>
          </a:p>
          <a:p>
            <a:pPr marL="533400" indent="-533400" algn="just" eaLnBrk="1" hangingPunct="1">
              <a:buFontTx/>
              <a:buNone/>
            </a:pPr>
            <a:r>
              <a:rPr lang="zh-CN" altLang="en-US" sz="1200" b="1" dirty="0"/>
              <a:t>(2) 有的兔子比所有的乌龟跑得快</a:t>
            </a:r>
          </a:p>
          <a:p>
            <a:pPr marL="533400" indent="-533400" algn="just" eaLnBrk="1" hangingPunct="1">
              <a:buFontTx/>
              <a:buNone/>
            </a:pPr>
            <a:r>
              <a:rPr lang="zh-CN" altLang="en-US" sz="1200" b="1" dirty="0"/>
              <a:t>(3) 并不是所有的兔子都比乌龟跑得快</a:t>
            </a:r>
          </a:p>
          <a:p>
            <a:pPr marL="533400" indent="-533400" algn="just" eaLnBrk="1" hangingPunct="1">
              <a:buFontTx/>
              <a:buNone/>
            </a:pPr>
            <a:r>
              <a:rPr lang="zh-CN" altLang="en-US" sz="1200" b="1" dirty="0"/>
              <a:t>(4) 不存在跑得一样快的兔子和乌龟</a:t>
            </a:r>
            <a:endParaRPr lang="en-US" altLang="zh-CN" sz="1200" b="1" dirty="0"/>
          </a:p>
          <a:p>
            <a:pPr marL="533400" indent="-533400" algn="just" eaLnBrk="1" hangingPunct="1">
              <a:buFontTx/>
              <a:buNone/>
            </a:pPr>
            <a:r>
              <a:rPr lang="zh-CN" altLang="en-US" sz="1200" b="1" dirty="0">
                <a:solidFill>
                  <a:srgbClr val="00B0F0"/>
                </a:solidFill>
              </a:rPr>
              <a:t>解：  </a:t>
            </a:r>
            <a:r>
              <a:rPr lang="zh-CN" altLang="en-US" sz="1200" b="1" dirty="0"/>
              <a:t>用全总个体域,   令</a:t>
            </a:r>
            <a:r>
              <a:rPr lang="en-US" altLang="zh-CN" sz="1200" b="1" i="1" dirty="0"/>
              <a:t>F</a:t>
            </a:r>
            <a:r>
              <a:rPr lang="en-US" altLang="zh-CN" sz="1200" b="1" dirty="0"/>
              <a:t>(</a:t>
            </a:r>
            <a:r>
              <a:rPr lang="en-US" altLang="zh-CN" sz="1200" b="1" i="1" dirty="0"/>
              <a:t>x</a:t>
            </a:r>
            <a:r>
              <a:rPr lang="en-US" altLang="zh-CN" sz="1200" b="1" dirty="0"/>
              <a:t>): </a:t>
            </a:r>
            <a:r>
              <a:rPr lang="en-US" altLang="zh-CN" sz="1200" b="1" i="1" dirty="0"/>
              <a:t>x</a:t>
            </a:r>
            <a:r>
              <a:rPr lang="zh-CN" altLang="en-US" sz="1200" b="1" dirty="0"/>
              <a:t>是兔子, </a:t>
            </a:r>
            <a:r>
              <a:rPr lang="en-US" altLang="zh-CN" sz="1200" b="1" i="1" dirty="0"/>
              <a:t>G</a:t>
            </a:r>
            <a:r>
              <a:rPr lang="en-US" altLang="zh-CN" sz="1200" b="1" dirty="0"/>
              <a:t>(</a:t>
            </a:r>
            <a:r>
              <a:rPr lang="en-US" altLang="zh-CN" sz="1200" b="1" i="1" dirty="0"/>
              <a:t>y</a:t>
            </a:r>
            <a:r>
              <a:rPr lang="en-US" altLang="zh-CN" sz="1200" b="1" dirty="0"/>
              <a:t>): </a:t>
            </a:r>
            <a:r>
              <a:rPr lang="en-US" altLang="zh-CN" sz="1200" b="1" i="1" dirty="0"/>
              <a:t>y</a:t>
            </a:r>
            <a:r>
              <a:rPr lang="zh-CN" altLang="en-US" sz="1200" b="1" dirty="0"/>
              <a:t>是乌龟,</a:t>
            </a:r>
          </a:p>
          <a:p>
            <a:pPr marL="533400" indent="-533400" algn="just" eaLnBrk="1" hangingPunct="1">
              <a:buFontTx/>
              <a:buNone/>
            </a:pPr>
            <a:r>
              <a:rPr lang="zh-CN" altLang="en-US" sz="1200" b="1" dirty="0"/>
              <a:t>      </a:t>
            </a:r>
            <a:r>
              <a:rPr lang="en-US" altLang="zh-CN" sz="1200" b="1" i="1" dirty="0"/>
              <a:t>H</a:t>
            </a:r>
            <a:r>
              <a:rPr lang="en-US" altLang="zh-CN" sz="1200" b="1" dirty="0"/>
              <a:t>(</a:t>
            </a:r>
            <a:r>
              <a:rPr lang="en-US" altLang="zh-CN" sz="1200" b="1" i="1" dirty="0"/>
              <a:t>x</a:t>
            </a:r>
            <a:r>
              <a:rPr lang="en-US" altLang="zh-CN" sz="1200" b="1" dirty="0"/>
              <a:t>,</a:t>
            </a:r>
            <a:r>
              <a:rPr lang="en-US" altLang="zh-CN" sz="1200" b="1" i="1" dirty="0"/>
              <a:t>y</a:t>
            </a:r>
            <a:r>
              <a:rPr lang="en-US" altLang="zh-CN" sz="1200" b="1" dirty="0"/>
              <a:t>): </a:t>
            </a:r>
            <a:r>
              <a:rPr lang="en-US" altLang="zh-CN" sz="1200" b="1" i="1" dirty="0"/>
              <a:t>x</a:t>
            </a:r>
            <a:r>
              <a:rPr lang="zh-CN" altLang="en-US" sz="1200" b="1" dirty="0"/>
              <a:t>比</a:t>
            </a:r>
            <a:r>
              <a:rPr lang="en-US" altLang="zh-CN" sz="1200" b="1" i="1" dirty="0"/>
              <a:t>y</a:t>
            </a:r>
            <a:r>
              <a:rPr lang="zh-CN" altLang="en-US" sz="1200" b="1" dirty="0"/>
              <a:t>跑得快,   </a:t>
            </a:r>
            <a:r>
              <a:rPr lang="en-US" altLang="zh-CN" sz="1200" b="1" i="1" dirty="0"/>
              <a:t>L</a:t>
            </a:r>
            <a:r>
              <a:rPr lang="en-US" altLang="zh-CN" sz="1200" b="1" dirty="0"/>
              <a:t>(</a:t>
            </a:r>
            <a:r>
              <a:rPr lang="en-US" altLang="zh-CN" sz="1200" b="1" i="1" dirty="0"/>
              <a:t>x</a:t>
            </a:r>
            <a:r>
              <a:rPr lang="en-US" altLang="zh-CN" sz="1200" b="1" dirty="0"/>
              <a:t>,</a:t>
            </a:r>
            <a:r>
              <a:rPr lang="en-US" altLang="zh-CN" sz="1200" b="1" i="1" dirty="0"/>
              <a:t>y</a:t>
            </a:r>
            <a:r>
              <a:rPr lang="en-US" altLang="zh-CN" sz="1200" b="1" dirty="0"/>
              <a:t>): </a:t>
            </a:r>
            <a:r>
              <a:rPr lang="en-US" altLang="zh-CN" sz="1200" b="1" i="1" dirty="0"/>
              <a:t>x</a:t>
            </a:r>
            <a:r>
              <a:rPr lang="zh-CN" altLang="en-US" sz="1200" b="1" dirty="0"/>
              <a:t>和</a:t>
            </a:r>
            <a:r>
              <a:rPr lang="en-US" altLang="zh-CN" sz="1200" b="1" i="1" dirty="0"/>
              <a:t>y</a:t>
            </a:r>
            <a:r>
              <a:rPr lang="zh-CN" altLang="en-US" sz="1200" b="1" dirty="0"/>
              <a:t>跑得一样快</a:t>
            </a:r>
          </a:p>
          <a:p>
            <a:pPr marL="533400" indent="-533400" algn="just" eaLnBrk="1" hangingPunct="1">
              <a:buFontTx/>
              <a:buNone/>
            </a:pPr>
            <a:r>
              <a:rPr lang="zh-CN" altLang="en-US" sz="1200" b="1" dirty="0">
                <a:sym typeface="Symbol" panose="05050102010706020507" pitchFamily="18" charset="2"/>
              </a:rPr>
              <a:t>(1)  </a:t>
            </a:r>
            <a:r>
              <a:rPr lang="en-US" altLang="zh-CN" sz="1200" b="1" i="1" dirty="0"/>
              <a:t>x</a:t>
            </a:r>
            <a:r>
              <a:rPr lang="en-US" altLang="zh-CN" sz="1200" b="1" dirty="0">
                <a:sym typeface="Symbol" panose="05050102010706020507" pitchFamily="18" charset="2"/>
              </a:rPr>
              <a:t></a:t>
            </a:r>
            <a:r>
              <a:rPr lang="en-US" altLang="zh-CN" sz="1200" b="1" i="1" dirty="0"/>
              <a:t>y</a:t>
            </a:r>
            <a:r>
              <a:rPr lang="en-US" altLang="zh-CN" sz="1200" b="1" dirty="0"/>
              <a:t>(</a:t>
            </a:r>
            <a:r>
              <a:rPr lang="en-US" altLang="zh-CN" sz="1200" b="1" i="1" dirty="0"/>
              <a:t>F</a:t>
            </a:r>
            <a:r>
              <a:rPr lang="en-US" altLang="zh-CN" sz="1200" b="1" dirty="0"/>
              <a:t>(</a:t>
            </a:r>
            <a:r>
              <a:rPr lang="en-US" altLang="zh-CN" sz="1200" b="1" i="1" dirty="0"/>
              <a:t>x</a:t>
            </a:r>
            <a:r>
              <a:rPr lang="en-US" altLang="zh-CN" sz="1200" b="1" dirty="0"/>
              <a:t>)</a:t>
            </a:r>
            <a:r>
              <a:rPr lang="en-US" altLang="zh-CN" sz="1200" b="1" dirty="0">
                <a:sym typeface="Symbol" panose="05050102010706020507" pitchFamily="18" charset="2"/>
              </a:rPr>
              <a:t></a:t>
            </a:r>
            <a:r>
              <a:rPr lang="en-US" altLang="zh-CN" sz="1200" b="1" i="1" dirty="0"/>
              <a:t>G</a:t>
            </a:r>
            <a:r>
              <a:rPr lang="en-US" altLang="zh-CN" sz="1200" b="1" dirty="0"/>
              <a:t>(</a:t>
            </a:r>
            <a:r>
              <a:rPr lang="en-US" altLang="zh-CN" sz="1200" b="1" i="1" dirty="0"/>
              <a:t>y</a:t>
            </a:r>
            <a:r>
              <a:rPr lang="en-US" altLang="zh-CN" sz="1200" b="1" dirty="0"/>
              <a:t>)</a:t>
            </a:r>
            <a:r>
              <a:rPr lang="en-US" altLang="zh-CN" sz="1200" b="1" dirty="0">
                <a:sym typeface="Symbol" panose="05050102010706020507" pitchFamily="18" charset="2"/>
              </a:rPr>
              <a:t></a:t>
            </a:r>
            <a:r>
              <a:rPr lang="en-US" altLang="zh-CN" sz="1200" b="1" i="1" dirty="0"/>
              <a:t>H</a:t>
            </a:r>
            <a:r>
              <a:rPr lang="en-US" altLang="zh-CN" sz="1200" b="1" dirty="0"/>
              <a:t>(</a:t>
            </a:r>
            <a:r>
              <a:rPr lang="en-US" altLang="zh-CN" sz="1200" b="1" i="1" dirty="0"/>
              <a:t>x</a:t>
            </a:r>
            <a:r>
              <a:rPr lang="en-US" altLang="zh-CN" sz="1200" b="1" dirty="0"/>
              <a:t>,</a:t>
            </a:r>
            <a:r>
              <a:rPr lang="en-US" altLang="zh-CN" sz="1200" b="1" i="1" dirty="0"/>
              <a:t>y</a:t>
            </a:r>
            <a:r>
              <a:rPr lang="en-US" altLang="zh-CN" sz="1200" b="1" dirty="0"/>
              <a:t>)) </a:t>
            </a:r>
          </a:p>
          <a:p>
            <a:pPr marL="533400" indent="-533400" algn="just" eaLnBrk="1" hangingPunct="1">
              <a:buFontTx/>
              <a:buNone/>
            </a:pPr>
            <a:r>
              <a:rPr lang="zh-CN" altLang="en-US" sz="1200" b="1" dirty="0"/>
              <a:t>(2)  </a:t>
            </a:r>
            <a:r>
              <a:rPr lang="en-US" altLang="zh-CN" sz="1200" b="1" dirty="0">
                <a:sym typeface="Symbol" panose="05050102010706020507" pitchFamily="18" charset="2"/>
              </a:rPr>
              <a:t></a:t>
            </a:r>
            <a:r>
              <a:rPr lang="en-US" altLang="zh-CN" sz="1200" b="1" i="1" dirty="0"/>
              <a:t>x</a:t>
            </a:r>
            <a:r>
              <a:rPr lang="en-US" altLang="zh-CN" sz="1200" b="1" dirty="0"/>
              <a:t>(</a:t>
            </a:r>
            <a:r>
              <a:rPr lang="en-US" altLang="zh-CN" sz="1200" b="1" i="1" dirty="0"/>
              <a:t>F</a:t>
            </a:r>
            <a:r>
              <a:rPr lang="en-US" altLang="zh-CN" sz="1200" b="1" dirty="0"/>
              <a:t>(</a:t>
            </a:r>
            <a:r>
              <a:rPr lang="en-US" altLang="zh-CN" sz="1200" b="1" i="1" dirty="0"/>
              <a:t>x</a:t>
            </a:r>
            <a:r>
              <a:rPr lang="en-US" altLang="zh-CN" sz="1200" b="1" dirty="0"/>
              <a:t>)</a:t>
            </a:r>
            <a:r>
              <a:rPr lang="en-US" altLang="zh-CN" sz="1200" b="1" dirty="0">
                <a:sym typeface="Symbol" panose="05050102010706020507" pitchFamily="18" charset="2"/>
              </a:rPr>
              <a:t>(</a:t>
            </a:r>
            <a:r>
              <a:rPr lang="en-US" altLang="zh-CN" sz="1200" b="1" i="1" dirty="0"/>
              <a:t>y </a:t>
            </a:r>
            <a:r>
              <a:rPr lang="en-US" altLang="zh-CN" sz="1200" b="1" dirty="0"/>
              <a:t>(</a:t>
            </a:r>
            <a:r>
              <a:rPr lang="en-US" altLang="zh-CN" sz="1200" b="1" i="1" dirty="0"/>
              <a:t>G</a:t>
            </a:r>
            <a:r>
              <a:rPr lang="en-US" altLang="zh-CN" sz="1200" b="1" dirty="0"/>
              <a:t>(</a:t>
            </a:r>
            <a:r>
              <a:rPr lang="en-US" altLang="zh-CN" sz="1200" b="1" i="1" dirty="0"/>
              <a:t>y</a:t>
            </a:r>
            <a:r>
              <a:rPr lang="en-US" altLang="zh-CN" sz="1200" b="1" dirty="0"/>
              <a:t>)</a:t>
            </a:r>
            <a:r>
              <a:rPr lang="en-US" altLang="zh-CN" sz="1200" b="1" dirty="0">
                <a:sym typeface="Symbol" panose="05050102010706020507" pitchFamily="18" charset="2"/>
              </a:rPr>
              <a:t></a:t>
            </a:r>
            <a:r>
              <a:rPr lang="en-US" altLang="zh-CN" sz="1200" b="1" i="1" dirty="0"/>
              <a:t>H</a:t>
            </a:r>
            <a:r>
              <a:rPr lang="en-US" altLang="zh-CN" sz="1200" b="1" dirty="0"/>
              <a:t>(</a:t>
            </a:r>
            <a:r>
              <a:rPr lang="en-US" altLang="zh-CN" sz="1200" b="1" i="1" dirty="0"/>
              <a:t>x</a:t>
            </a:r>
            <a:r>
              <a:rPr lang="en-US" altLang="zh-CN" sz="1200" b="1" dirty="0"/>
              <a:t>,</a:t>
            </a:r>
            <a:r>
              <a:rPr lang="en-US" altLang="zh-CN" sz="1200" b="1" i="1" dirty="0"/>
              <a:t>y</a:t>
            </a:r>
            <a:r>
              <a:rPr lang="en-US" altLang="zh-CN" sz="1200" b="1" dirty="0"/>
              <a:t>)</a:t>
            </a:r>
            <a:r>
              <a:rPr lang="en-US" altLang="zh-CN" sz="1200" b="1" dirty="0">
                <a:sym typeface="Symbol" panose="05050102010706020507" pitchFamily="18" charset="2"/>
              </a:rPr>
              <a:t>))</a:t>
            </a:r>
            <a:endParaRPr lang="en-US" altLang="zh-CN" sz="1200" b="1" dirty="0"/>
          </a:p>
          <a:p>
            <a:pPr marL="533400" indent="-533400" algn="just" eaLnBrk="1" hangingPunct="1">
              <a:buFontTx/>
              <a:buNone/>
            </a:pPr>
            <a:r>
              <a:rPr lang="en-US" altLang="zh-CN" sz="1200" b="1" dirty="0"/>
              <a:t>(3)  </a:t>
            </a:r>
            <a:r>
              <a:rPr lang="en-US" altLang="zh-CN" sz="1200" b="1" dirty="0">
                <a:cs typeface="Times New Roman" panose="02020603050405020304" pitchFamily="18" charset="0"/>
                <a:sym typeface="Symbol" panose="05050102010706020507" pitchFamily="18" charset="2"/>
              </a:rPr>
              <a:t> </a:t>
            </a:r>
            <a:r>
              <a:rPr lang="zh-CN" altLang="en-US" sz="1200" b="1" dirty="0">
                <a:sym typeface="Symbol" panose="05050102010706020507" pitchFamily="18" charset="2"/>
              </a:rPr>
              <a:t></a:t>
            </a:r>
            <a:r>
              <a:rPr lang="en-US" altLang="zh-CN" sz="1200" b="1" i="1" dirty="0"/>
              <a:t>x</a:t>
            </a:r>
            <a:r>
              <a:rPr lang="en-US" altLang="zh-CN" sz="1200" b="1" dirty="0">
                <a:sym typeface="Symbol" panose="05050102010706020507" pitchFamily="18" charset="2"/>
              </a:rPr>
              <a:t></a:t>
            </a:r>
            <a:r>
              <a:rPr lang="en-US" altLang="zh-CN" sz="1200" b="1" i="1" dirty="0"/>
              <a:t>y</a:t>
            </a:r>
            <a:r>
              <a:rPr lang="en-US" altLang="zh-CN" sz="1200" b="1" dirty="0"/>
              <a:t>(</a:t>
            </a:r>
            <a:r>
              <a:rPr lang="en-US" altLang="zh-CN" sz="1200" b="1" i="1" dirty="0"/>
              <a:t>F</a:t>
            </a:r>
            <a:r>
              <a:rPr lang="en-US" altLang="zh-CN" sz="1200" b="1" dirty="0"/>
              <a:t>(</a:t>
            </a:r>
            <a:r>
              <a:rPr lang="en-US" altLang="zh-CN" sz="1200" b="1" i="1" dirty="0"/>
              <a:t>x</a:t>
            </a:r>
            <a:r>
              <a:rPr lang="en-US" altLang="zh-CN" sz="1200" b="1" dirty="0"/>
              <a:t>)</a:t>
            </a:r>
            <a:r>
              <a:rPr lang="en-US" altLang="zh-CN" sz="1200" b="1" dirty="0">
                <a:sym typeface="Symbol" panose="05050102010706020507" pitchFamily="18" charset="2"/>
              </a:rPr>
              <a:t></a:t>
            </a:r>
            <a:r>
              <a:rPr lang="en-US" altLang="zh-CN" sz="1200" b="1" i="1" dirty="0"/>
              <a:t>G</a:t>
            </a:r>
            <a:r>
              <a:rPr lang="en-US" altLang="zh-CN" sz="1200" b="1" dirty="0"/>
              <a:t>(</a:t>
            </a:r>
            <a:r>
              <a:rPr lang="en-US" altLang="zh-CN" sz="1200" b="1" i="1" dirty="0"/>
              <a:t>y</a:t>
            </a:r>
            <a:r>
              <a:rPr lang="en-US" altLang="zh-CN" sz="1200" b="1" dirty="0"/>
              <a:t>)</a:t>
            </a:r>
            <a:r>
              <a:rPr lang="en-US" altLang="zh-CN" sz="1200" b="1" dirty="0">
                <a:sym typeface="Symbol" panose="05050102010706020507" pitchFamily="18" charset="2"/>
              </a:rPr>
              <a:t></a:t>
            </a:r>
            <a:r>
              <a:rPr lang="en-US" altLang="zh-CN" sz="1200" b="1" i="1" dirty="0"/>
              <a:t>H</a:t>
            </a:r>
            <a:r>
              <a:rPr lang="en-US" altLang="zh-CN" sz="1200" b="1" dirty="0"/>
              <a:t>(</a:t>
            </a:r>
            <a:r>
              <a:rPr lang="en-US" altLang="zh-CN" sz="1200" b="1" i="1" dirty="0"/>
              <a:t>x</a:t>
            </a:r>
            <a:r>
              <a:rPr lang="en-US" altLang="zh-CN" sz="1200" b="1" dirty="0"/>
              <a:t>,</a:t>
            </a:r>
            <a:r>
              <a:rPr lang="en-US" altLang="zh-CN" sz="1200" b="1" i="1" dirty="0"/>
              <a:t>y</a:t>
            </a:r>
            <a:r>
              <a:rPr lang="en-US" altLang="zh-CN" sz="1200" b="1" dirty="0"/>
              <a:t>)) </a:t>
            </a:r>
          </a:p>
          <a:p>
            <a:pPr marL="533400" indent="-533400" algn="just" eaLnBrk="1" hangingPunct="1">
              <a:buFontTx/>
              <a:buNone/>
            </a:pPr>
            <a:r>
              <a:rPr lang="zh-CN" altLang="en-US" sz="1200" b="1" dirty="0">
                <a:sym typeface="Symbol" panose="05050102010706020507" pitchFamily="18" charset="2"/>
              </a:rPr>
              <a:t>(4)  </a:t>
            </a:r>
            <a:r>
              <a:rPr lang="en-US" altLang="zh-CN" sz="1200" b="1" dirty="0">
                <a:cs typeface="Times New Roman" panose="02020603050405020304" pitchFamily="18" charset="0"/>
                <a:sym typeface="Symbol" panose="05050102010706020507" pitchFamily="18" charset="2"/>
              </a:rPr>
              <a:t></a:t>
            </a:r>
            <a:r>
              <a:rPr lang="zh-CN" altLang="en-US" sz="1200" b="1" dirty="0">
                <a:sym typeface="Symbol" panose="05050102010706020507" pitchFamily="18" charset="2"/>
              </a:rPr>
              <a:t> </a:t>
            </a:r>
            <a:r>
              <a:rPr lang="en-US" altLang="zh-CN" sz="1200" b="1" i="1" dirty="0"/>
              <a:t>x</a:t>
            </a:r>
            <a:r>
              <a:rPr lang="en-US" altLang="zh-CN" sz="1200" b="1" dirty="0">
                <a:sym typeface="Symbol" panose="05050102010706020507" pitchFamily="18" charset="2"/>
              </a:rPr>
              <a:t></a:t>
            </a:r>
            <a:r>
              <a:rPr lang="en-US" altLang="zh-CN" sz="1200" b="1" i="1" dirty="0"/>
              <a:t>y</a:t>
            </a:r>
            <a:r>
              <a:rPr lang="en-US" altLang="zh-CN" sz="1200" b="1" dirty="0"/>
              <a:t>(</a:t>
            </a:r>
            <a:r>
              <a:rPr lang="en-US" altLang="zh-CN" sz="1200" b="1" i="1" dirty="0"/>
              <a:t>F</a:t>
            </a:r>
            <a:r>
              <a:rPr lang="en-US" altLang="zh-CN" sz="1200" b="1" dirty="0"/>
              <a:t>(</a:t>
            </a:r>
            <a:r>
              <a:rPr lang="en-US" altLang="zh-CN" sz="1200" b="1" i="1" dirty="0"/>
              <a:t>x</a:t>
            </a:r>
            <a:r>
              <a:rPr lang="en-US" altLang="zh-CN" sz="1200" b="1" dirty="0"/>
              <a:t>)</a:t>
            </a:r>
            <a:r>
              <a:rPr lang="en-US" altLang="zh-CN" sz="1200" b="1" dirty="0">
                <a:sym typeface="Symbol" panose="05050102010706020507" pitchFamily="18" charset="2"/>
              </a:rPr>
              <a:t></a:t>
            </a:r>
            <a:r>
              <a:rPr lang="en-US" altLang="zh-CN" sz="1200" b="1" i="1" dirty="0"/>
              <a:t>G</a:t>
            </a:r>
            <a:r>
              <a:rPr lang="en-US" altLang="zh-CN" sz="1200" b="1" dirty="0"/>
              <a:t>(</a:t>
            </a:r>
            <a:r>
              <a:rPr lang="en-US" altLang="zh-CN" sz="1200" b="1" i="1" dirty="0"/>
              <a:t>y</a:t>
            </a:r>
            <a:r>
              <a:rPr lang="en-US" altLang="zh-CN" sz="1200" b="1" dirty="0"/>
              <a:t>)</a:t>
            </a:r>
            <a:r>
              <a:rPr lang="en-US" altLang="zh-CN" sz="1200" b="1" dirty="0">
                <a:sym typeface="Symbol" panose="05050102010706020507" pitchFamily="18" charset="2"/>
              </a:rPr>
              <a:t></a:t>
            </a:r>
            <a:r>
              <a:rPr lang="en-US" altLang="zh-CN" sz="1200" b="1" i="1" dirty="0"/>
              <a:t>L</a:t>
            </a:r>
            <a:r>
              <a:rPr lang="en-US" altLang="zh-CN" sz="1200" b="1" dirty="0"/>
              <a:t>(</a:t>
            </a:r>
            <a:r>
              <a:rPr lang="en-US" altLang="zh-CN" sz="1200" b="1" i="1" dirty="0"/>
              <a:t>x</a:t>
            </a:r>
            <a:r>
              <a:rPr lang="en-US" altLang="zh-CN" sz="1200" b="1" dirty="0"/>
              <a:t>,</a:t>
            </a:r>
            <a:r>
              <a:rPr lang="en-US" altLang="zh-CN" sz="1200" b="1" i="1" dirty="0"/>
              <a:t>y</a:t>
            </a:r>
            <a:r>
              <a:rPr lang="en-US" altLang="zh-CN" sz="1200" b="1" dirty="0"/>
              <a:t>))</a:t>
            </a:r>
            <a:endParaRPr lang="zh-CN" altLang="en-US" sz="1200" b="1" dirty="0"/>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17</a:t>
            </a:fld>
            <a:endParaRPr lang="zh-CN" altLang="en-US"/>
          </a:p>
        </p:txBody>
      </p:sp>
    </p:spTree>
    <p:extLst>
      <p:ext uri="{BB962C8B-B14F-4D97-AF65-F5344CB8AC3E}">
        <p14:creationId xmlns:p14="http://schemas.microsoft.com/office/powerpoint/2010/main" val="236198042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buFontTx/>
              <a:buNone/>
            </a:pPr>
            <a:r>
              <a:rPr lang="zh-CN" altLang="en-US" sz="1200" b="1" dirty="0"/>
              <a:t>(1) 一元谓词和多元谓词的使用</a:t>
            </a:r>
          </a:p>
          <a:p>
            <a:pPr eaLnBrk="1" hangingPunct="1">
              <a:buFontTx/>
              <a:buNone/>
            </a:pPr>
            <a:r>
              <a:rPr lang="zh-CN" altLang="en-US" sz="1200" b="1" dirty="0"/>
              <a:t>(2) 全称量词和存在量词的区别</a:t>
            </a:r>
          </a:p>
          <a:p>
            <a:pPr eaLnBrk="1" hangingPunct="1">
              <a:buFontTx/>
              <a:buNone/>
            </a:pPr>
            <a:r>
              <a:rPr lang="zh-CN" altLang="en-US" sz="1200" b="1" dirty="0"/>
              <a:t>(3) 多个量词出现时, 不能随意交换顺序</a:t>
            </a:r>
          </a:p>
          <a:p>
            <a:pPr eaLnBrk="1" hangingPunct="1">
              <a:buFontTx/>
              <a:buNone/>
            </a:pPr>
            <a:r>
              <a:rPr lang="zh-CN" altLang="en-US" sz="1200" b="1" dirty="0">
                <a:solidFill>
                  <a:srgbClr val="00B0F0"/>
                </a:solidFill>
              </a:rPr>
              <a:t>如</a:t>
            </a:r>
            <a:r>
              <a:rPr lang="zh-CN" altLang="en-US" sz="1200" b="1" dirty="0"/>
              <a:t> 在个体域</a:t>
            </a:r>
            <a:r>
              <a:rPr lang="en-US" altLang="zh-CN" sz="1200" b="1" dirty="0"/>
              <a:t>R</a:t>
            </a:r>
            <a:r>
              <a:rPr lang="zh-CN" altLang="en-US" sz="1200" b="1" dirty="0"/>
              <a:t>中, 记</a:t>
            </a:r>
            <a:r>
              <a:rPr lang="en-US" altLang="zh-CN" sz="1200" b="1" i="1" dirty="0"/>
              <a:t>H</a:t>
            </a:r>
            <a:r>
              <a:rPr lang="en-US" altLang="zh-CN" sz="1200" b="1" dirty="0"/>
              <a:t>(</a:t>
            </a:r>
            <a:r>
              <a:rPr lang="en-US" altLang="zh-CN" sz="1200" b="1" i="1" dirty="0"/>
              <a:t>x,y</a:t>
            </a:r>
            <a:r>
              <a:rPr lang="en-US" altLang="zh-CN" sz="1200" b="1" dirty="0"/>
              <a:t>): </a:t>
            </a:r>
            <a:r>
              <a:rPr lang="en-US" altLang="zh-CN" sz="1200" b="1" i="1" dirty="0"/>
              <a:t>x+y</a:t>
            </a:r>
            <a:r>
              <a:rPr lang="en-US" altLang="zh-CN" sz="1200" b="1" dirty="0"/>
              <a:t>=10     </a:t>
            </a:r>
          </a:p>
          <a:p>
            <a:pPr eaLnBrk="1" hangingPunct="1">
              <a:buFontTx/>
              <a:buNone/>
            </a:pPr>
            <a:r>
              <a:rPr lang="en-US" altLang="zh-CN" sz="1200" b="1" dirty="0">
                <a:sym typeface="Symbol" panose="05050102010706020507" pitchFamily="18" charset="2"/>
              </a:rPr>
              <a:t>      </a:t>
            </a:r>
            <a:r>
              <a:rPr lang="en-US" altLang="zh-CN" sz="1200" b="1" i="1" dirty="0"/>
              <a:t>x</a:t>
            </a:r>
            <a:r>
              <a:rPr lang="en-US" altLang="zh-CN" sz="1200" b="1" dirty="0">
                <a:sym typeface="Symbol" panose="05050102010706020507" pitchFamily="18" charset="2"/>
              </a:rPr>
              <a:t></a:t>
            </a:r>
            <a:r>
              <a:rPr lang="en-US" altLang="zh-CN" sz="1200" b="1" i="1" dirty="0"/>
              <a:t>y H</a:t>
            </a:r>
            <a:r>
              <a:rPr lang="en-US" altLang="zh-CN" sz="1200" b="1" dirty="0"/>
              <a:t>(</a:t>
            </a:r>
            <a:r>
              <a:rPr lang="en-US" altLang="zh-CN" sz="1200" b="1" i="1" dirty="0"/>
              <a:t>x</a:t>
            </a:r>
            <a:r>
              <a:rPr lang="en-US" altLang="zh-CN" sz="1200" b="1" dirty="0"/>
              <a:t>,</a:t>
            </a:r>
            <a:r>
              <a:rPr lang="en-US" altLang="zh-CN" sz="1200" b="1" i="1" dirty="0"/>
              <a:t>y</a:t>
            </a:r>
            <a:r>
              <a:rPr lang="en-US" altLang="zh-CN" sz="1200" b="1" dirty="0"/>
              <a:t>)               </a:t>
            </a:r>
            <a:r>
              <a:rPr lang="zh-CN" altLang="en-US" sz="1200" b="1" dirty="0"/>
              <a:t>真值为1</a:t>
            </a:r>
          </a:p>
          <a:p>
            <a:pPr eaLnBrk="1" hangingPunct="1">
              <a:buFontTx/>
              <a:buNone/>
            </a:pPr>
            <a:r>
              <a:rPr lang="en-US" altLang="zh-CN" sz="1200" b="1" dirty="0">
                <a:sym typeface="Symbol" panose="05050102010706020507" pitchFamily="18" charset="2"/>
              </a:rPr>
              <a:t>      </a:t>
            </a:r>
            <a:r>
              <a:rPr lang="en-US" altLang="zh-CN" sz="1200" b="1" i="1" dirty="0"/>
              <a:t>y</a:t>
            </a:r>
            <a:r>
              <a:rPr lang="en-US" altLang="zh-CN" sz="1200" b="1" dirty="0">
                <a:sym typeface="Symbol" panose="05050102010706020507" pitchFamily="18" charset="2"/>
              </a:rPr>
              <a:t></a:t>
            </a:r>
            <a:r>
              <a:rPr lang="en-US" altLang="zh-CN" sz="1200" b="1" i="1" dirty="0"/>
              <a:t>x H</a:t>
            </a:r>
            <a:r>
              <a:rPr lang="en-US" altLang="zh-CN" sz="1200" b="1" dirty="0"/>
              <a:t>(</a:t>
            </a:r>
            <a:r>
              <a:rPr lang="en-US" altLang="zh-CN" sz="1200" b="1" i="1" dirty="0"/>
              <a:t>x</a:t>
            </a:r>
            <a:r>
              <a:rPr lang="en-US" altLang="zh-CN" sz="1200" b="1" dirty="0"/>
              <a:t>,</a:t>
            </a:r>
            <a:r>
              <a:rPr lang="en-US" altLang="zh-CN" sz="1200" b="1" i="1" dirty="0"/>
              <a:t>y</a:t>
            </a:r>
            <a:r>
              <a:rPr lang="en-US" altLang="zh-CN" sz="1200" b="1" dirty="0"/>
              <a:t>)               </a:t>
            </a:r>
            <a:r>
              <a:rPr lang="zh-CN" altLang="en-US" sz="1200" b="1" dirty="0"/>
              <a:t>真值为0</a:t>
            </a:r>
          </a:p>
          <a:p>
            <a:pPr eaLnBrk="1" hangingPunct="1">
              <a:buFontTx/>
              <a:buNone/>
            </a:pPr>
            <a:r>
              <a:rPr lang="zh-CN" altLang="en-US" sz="1200" b="1" dirty="0"/>
              <a:t>(4) 命题的符号化不唯一</a:t>
            </a:r>
          </a:p>
          <a:p>
            <a:pPr eaLnBrk="1" hangingPunct="1">
              <a:buFontTx/>
              <a:buNone/>
            </a:pPr>
            <a:r>
              <a:rPr lang="zh-CN" altLang="en-US" sz="1200" b="1" dirty="0">
                <a:solidFill>
                  <a:srgbClr val="00B0F0"/>
                </a:solidFill>
              </a:rPr>
              <a:t>如</a:t>
            </a:r>
            <a:r>
              <a:rPr lang="zh-CN" altLang="en-US" sz="1200" b="1" dirty="0"/>
              <a:t>上例有如下变化的符号化形式：</a:t>
            </a:r>
            <a:endParaRPr lang="en-US" altLang="zh-CN" sz="1200" b="1" dirty="0"/>
          </a:p>
          <a:p>
            <a:pPr eaLnBrk="1" hangingPunct="1">
              <a:buFontTx/>
              <a:buNone/>
            </a:pPr>
            <a:r>
              <a:rPr lang="zh-CN" altLang="en-US" sz="1200" b="1" dirty="0"/>
              <a:t>(1) </a:t>
            </a:r>
            <a:r>
              <a:rPr lang="zh-CN" altLang="en-US" sz="1200" b="1" dirty="0">
                <a:sym typeface="Symbol" panose="05050102010706020507" pitchFamily="18" charset="2"/>
              </a:rPr>
              <a:t></a:t>
            </a:r>
            <a:r>
              <a:rPr lang="en-US" altLang="zh-CN" sz="1200" b="1" i="1" dirty="0"/>
              <a:t>x </a:t>
            </a:r>
            <a:r>
              <a:rPr lang="en-US" altLang="zh-CN" sz="1200" b="1" dirty="0"/>
              <a:t>(</a:t>
            </a:r>
            <a:r>
              <a:rPr lang="en-US" altLang="zh-CN" sz="1200" b="1" i="1" dirty="0"/>
              <a:t>F</a:t>
            </a:r>
            <a:r>
              <a:rPr lang="en-US" altLang="zh-CN" sz="1200" b="1" dirty="0"/>
              <a:t>(</a:t>
            </a:r>
            <a:r>
              <a:rPr lang="en-US" altLang="zh-CN" sz="1200" b="1" i="1" dirty="0"/>
              <a:t>x</a:t>
            </a:r>
            <a:r>
              <a:rPr lang="en-US" altLang="zh-CN" sz="1200" b="1" dirty="0"/>
              <a:t>)</a:t>
            </a:r>
            <a:r>
              <a:rPr lang="en-US" altLang="zh-CN" sz="1200" b="1" dirty="0">
                <a:sym typeface="Symbol" panose="05050102010706020507" pitchFamily="18" charset="2"/>
              </a:rPr>
              <a:t></a:t>
            </a:r>
            <a:r>
              <a:rPr lang="en-US" altLang="zh-CN" sz="1200" b="1" i="1" dirty="0"/>
              <a:t>y</a:t>
            </a:r>
            <a:r>
              <a:rPr lang="en-US" altLang="zh-CN" sz="1200" b="1" dirty="0"/>
              <a:t>(</a:t>
            </a:r>
            <a:r>
              <a:rPr lang="en-US" altLang="zh-CN" sz="1200" b="1" i="1" dirty="0"/>
              <a:t>G</a:t>
            </a:r>
            <a:r>
              <a:rPr lang="en-US" altLang="zh-CN" sz="1200" b="1" dirty="0"/>
              <a:t>(</a:t>
            </a:r>
            <a:r>
              <a:rPr lang="en-US" altLang="zh-CN" sz="1200" b="1" i="1" dirty="0"/>
              <a:t>y</a:t>
            </a:r>
            <a:r>
              <a:rPr lang="en-US" altLang="zh-CN" sz="1200" b="1" dirty="0"/>
              <a:t>)</a:t>
            </a:r>
            <a:r>
              <a:rPr lang="en-US" altLang="zh-CN" sz="1200" b="1" dirty="0">
                <a:sym typeface="Symbol" panose="05050102010706020507" pitchFamily="18" charset="2"/>
              </a:rPr>
              <a:t></a:t>
            </a:r>
            <a:r>
              <a:rPr lang="en-US" altLang="zh-CN" sz="1200" b="1" i="1" dirty="0"/>
              <a:t>H</a:t>
            </a:r>
            <a:r>
              <a:rPr lang="en-US" altLang="zh-CN" sz="1200" b="1" dirty="0"/>
              <a:t>(</a:t>
            </a:r>
            <a:r>
              <a:rPr lang="en-US" altLang="zh-CN" sz="1200" b="1" i="1" dirty="0"/>
              <a:t>x</a:t>
            </a:r>
            <a:r>
              <a:rPr lang="en-US" altLang="zh-CN" sz="1200" b="1" dirty="0"/>
              <a:t>,</a:t>
            </a:r>
            <a:r>
              <a:rPr lang="en-US" altLang="zh-CN" sz="1200" b="1" i="1" dirty="0"/>
              <a:t>y</a:t>
            </a:r>
            <a:r>
              <a:rPr lang="en-US" altLang="zh-CN" sz="1200" b="1" dirty="0"/>
              <a:t>)))</a:t>
            </a:r>
            <a:endParaRPr lang="zh-CN" altLang="en-US" sz="1200" b="1" dirty="0"/>
          </a:p>
          <a:p>
            <a:pPr eaLnBrk="1" hangingPunct="1">
              <a:buFontTx/>
              <a:buNone/>
            </a:pPr>
            <a:r>
              <a:rPr lang="zh-CN" altLang="en-US" sz="1200" b="1" dirty="0"/>
              <a:t>(3) </a:t>
            </a:r>
            <a:r>
              <a:rPr lang="zh-CN" altLang="en-US" sz="1200" b="1" dirty="0">
                <a:sym typeface="Symbol" panose="05050102010706020507" pitchFamily="18" charset="2"/>
              </a:rPr>
              <a:t></a:t>
            </a:r>
            <a:r>
              <a:rPr lang="en-US" altLang="zh-CN" sz="1200" b="1" i="1" dirty="0"/>
              <a:t>x</a:t>
            </a:r>
            <a:r>
              <a:rPr lang="en-US" altLang="zh-CN" sz="1200" b="1" dirty="0">
                <a:sym typeface="Symbol" panose="05050102010706020507" pitchFamily="18" charset="2"/>
              </a:rPr>
              <a:t></a:t>
            </a:r>
            <a:r>
              <a:rPr lang="en-US" altLang="zh-CN" sz="1200" b="1" i="1" dirty="0"/>
              <a:t>y</a:t>
            </a:r>
            <a:r>
              <a:rPr lang="en-US" altLang="zh-CN" sz="1200" b="1" dirty="0"/>
              <a:t>(</a:t>
            </a:r>
            <a:r>
              <a:rPr lang="en-US" altLang="zh-CN" sz="1200" b="1" i="1" dirty="0"/>
              <a:t>F</a:t>
            </a:r>
            <a:r>
              <a:rPr lang="en-US" altLang="zh-CN" sz="1200" b="1" dirty="0"/>
              <a:t>(</a:t>
            </a:r>
            <a:r>
              <a:rPr lang="en-US" altLang="zh-CN" sz="1200" b="1" i="1" dirty="0"/>
              <a:t>x</a:t>
            </a:r>
            <a:r>
              <a:rPr lang="en-US" altLang="zh-CN" sz="1200" b="1" dirty="0"/>
              <a:t>)</a:t>
            </a:r>
            <a:r>
              <a:rPr lang="en-US" altLang="zh-CN" sz="1200" b="1" dirty="0">
                <a:sym typeface="Symbol" panose="05050102010706020507" pitchFamily="18" charset="2"/>
              </a:rPr>
              <a:t></a:t>
            </a:r>
            <a:r>
              <a:rPr lang="en-US" altLang="zh-CN" sz="1200" b="1" i="1" dirty="0"/>
              <a:t>G</a:t>
            </a:r>
            <a:r>
              <a:rPr lang="en-US" altLang="zh-CN" sz="1200" b="1" dirty="0"/>
              <a:t>(</a:t>
            </a:r>
            <a:r>
              <a:rPr lang="en-US" altLang="zh-CN" sz="1200" b="1" i="1" dirty="0"/>
              <a:t>y</a:t>
            </a:r>
            <a:r>
              <a:rPr lang="en-US" altLang="zh-CN" sz="1200" b="1" dirty="0"/>
              <a:t>)</a:t>
            </a:r>
            <a:r>
              <a:rPr lang="en-US" altLang="zh-CN" sz="1200" b="1" dirty="0">
                <a:sym typeface="Symbol" panose="05050102010706020507" pitchFamily="18" charset="2"/>
              </a:rPr>
              <a:t></a:t>
            </a:r>
            <a:r>
              <a:rPr lang="en-US" altLang="zh-CN" sz="1200" b="1" dirty="0">
                <a:cs typeface="Times New Roman" panose="02020603050405020304" pitchFamily="18" charset="0"/>
                <a:sym typeface="Symbol" panose="05050102010706020507" pitchFamily="18" charset="2"/>
              </a:rPr>
              <a:t></a:t>
            </a:r>
            <a:r>
              <a:rPr lang="en-US" altLang="zh-CN" sz="1200" b="1" i="1" dirty="0"/>
              <a:t>H</a:t>
            </a:r>
            <a:r>
              <a:rPr lang="en-US" altLang="zh-CN" sz="1200" b="1" dirty="0"/>
              <a:t>(</a:t>
            </a:r>
            <a:r>
              <a:rPr lang="en-US" altLang="zh-CN" sz="1200" b="1" i="1" dirty="0"/>
              <a:t>x</a:t>
            </a:r>
            <a:r>
              <a:rPr lang="en-US" altLang="zh-CN" sz="1200" b="1" dirty="0"/>
              <a:t>,</a:t>
            </a:r>
            <a:r>
              <a:rPr lang="en-US" altLang="zh-CN" sz="1200" b="1" i="1" dirty="0"/>
              <a:t>y</a:t>
            </a:r>
            <a:r>
              <a:rPr lang="en-US" altLang="zh-CN" sz="1200" b="1" dirty="0"/>
              <a:t>))</a:t>
            </a:r>
            <a:endParaRPr lang="zh-CN" altLang="en-US" sz="1200" b="1" dirty="0"/>
          </a:p>
          <a:p>
            <a:pPr eaLnBrk="1" hangingPunct="1">
              <a:buFontTx/>
              <a:buNone/>
            </a:pPr>
            <a:r>
              <a:rPr lang="zh-CN" altLang="en-US" sz="1200" b="1" dirty="0"/>
              <a:t>(4) </a:t>
            </a:r>
            <a:r>
              <a:rPr lang="zh-CN" altLang="en-US" sz="1200" b="1" dirty="0">
                <a:sym typeface="Symbol" panose="05050102010706020507" pitchFamily="18" charset="2"/>
              </a:rPr>
              <a:t></a:t>
            </a:r>
            <a:r>
              <a:rPr lang="en-US" altLang="zh-CN" sz="1200" b="1" i="1" dirty="0"/>
              <a:t>x</a:t>
            </a:r>
            <a:r>
              <a:rPr lang="en-US" altLang="zh-CN" sz="1200" b="1" dirty="0">
                <a:sym typeface="Symbol" panose="05050102010706020507" pitchFamily="18" charset="2"/>
              </a:rPr>
              <a:t></a:t>
            </a:r>
            <a:r>
              <a:rPr lang="en-US" altLang="zh-CN" sz="1200" b="1" i="1" dirty="0"/>
              <a:t>y</a:t>
            </a:r>
            <a:r>
              <a:rPr lang="en-US" altLang="zh-CN" sz="1200" b="1" dirty="0"/>
              <a:t>(</a:t>
            </a:r>
            <a:r>
              <a:rPr lang="en-US" altLang="zh-CN" sz="1200" b="1" i="1" dirty="0"/>
              <a:t>F</a:t>
            </a:r>
            <a:r>
              <a:rPr lang="en-US" altLang="zh-CN" sz="1200" b="1" dirty="0"/>
              <a:t>(</a:t>
            </a:r>
            <a:r>
              <a:rPr lang="en-US" altLang="zh-CN" sz="1200" b="1" i="1" dirty="0"/>
              <a:t>x</a:t>
            </a:r>
            <a:r>
              <a:rPr lang="en-US" altLang="zh-CN" sz="1200" b="1" dirty="0"/>
              <a:t>)</a:t>
            </a:r>
            <a:r>
              <a:rPr lang="en-US" altLang="zh-CN" sz="1200" b="1" dirty="0">
                <a:sym typeface="Symbol" panose="05050102010706020507" pitchFamily="18" charset="2"/>
              </a:rPr>
              <a:t></a:t>
            </a:r>
            <a:r>
              <a:rPr lang="en-US" altLang="zh-CN" sz="1200" b="1" i="1" dirty="0"/>
              <a:t>G</a:t>
            </a:r>
            <a:r>
              <a:rPr lang="en-US" altLang="zh-CN" sz="1200" b="1" dirty="0"/>
              <a:t>(</a:t>
            </a:r>
            <a:r>
              <a:rPr lang="en-US" altLang="zh-CN" sz="1200" b="1" i="1" dirty="0"/>
              <a:t>y</a:t>
            </a:r>
            <a:r>
              <a:rPr lang="en-US" altLang="zh-CN" sz="1200" b="1" dirty="0"/>
              <a:t>)</a:t>
            </a:r>
            <a:r>
              <a:rPr lang="en-US" altLang="zh-CN" sz="1200" b="1" dirty="0">
                <a:sym typeface="Symbol" panose="05050102010706020507" pitchFamily="18" charset="2"/>
              </a:rPr>
              <a:t></a:t>
            </a:r>
            <a:r>
              <a:rPr lang="en-US" altLang="zh-CN" sz="1200" b="1" dirty="0">
                <a:cs typeface="Times New Roman" panose="02020603050405020304" pitchFamily="18" charset="0"/>
                <a:sym typeface="Symbol" panose="05050102010706020507" pitchFamily="18" charset="2"/>
              </a:rPr>
              <a:t></a:t>
            </a:r>
            <a:r>
              <a:rPr lang="en-US" altLang="zh-CN" sz="1200" b="1" i="1" dirty="0"/>
              <a:t>L</a:t>
            </a:r>
            <a:r>
              <a:rPr lang="en-US" altLang="zh-CN" sz="1200" b="1" dirty="0"/>
              <a:t>(</a:t>
            </a:r>
            <a:r>
              <a:rPr lang="en-US" altLang="zh-CN" sz="1200" b="1" i="1" dirty="0"/>
              <a:t>x</a:t>
            </a:r>
            <a:r>
              <a:rPr lang="en-US" altLang="zh-CN" sz="1200" b="1" dirty="0"/>
              <a:t>,</a:t>
            </a:r>
            <a:r>
              <a:rPr lang="en-US" altLang="zh-CN" sz="1200" b="1" i="1" dirty="0"/>
              <a:t>y</a:t>
            </a:r>
            <a:r>
              <a:rPr lang="en-US" altLang="zh-CN" sz="1200" b="1" dirty="0"/>
              <a:t>))</a:t>
            </a:r>
            <a:endParaRPr lang="zh-CN" altLang="en-US" sz="1200" b="1" dirty="0"/>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18</a:t>
            </a:fld>
            <a:endParaRPr lang="zh-CN" altLang="en-US"/>
          </a:p>
        </p:txBody>
      </p:sp>
    </p:spTree>
    <p:extLst>
      <p:ext uri="{BB962C8B-B14F-4D97-AF65-F5344CB8AC3E}">
        <p14:creationId xmlns:p14="http://schemas.microsoft.com/office/powerpoint/2010/main" val="330531795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eaLnBrk="1" hangingPunct="1">
              <a:spcBef>
                <a:spcPct val="60000"/>
              </a:spcBef>
              <a:buNone/>
            </a:pPr>
            <a:endParaRPr lang="en-US" altLang="zh-CN" b="1" dirty="0"/>
          </a:p>
          <a:p>
            <a:pPr marL="0" indent="0" eaLnBrk="1" hangingPunct="1">
              <a:spcBef>
                <a:spcPct val="60000"/>
              </a:spcBef>
              <a:buNone/>
            </a:pPr>
            <a:r>
              <a:rPr lang="zh-CN" altLang="en-US" b="1" dirty="0"/>
              <a:t>3.1.1 命题逻辑的局限性</a:t>
            </a:r>
          </a:p>
          <a:p>
            <a:pPr marL="0" indent="0" eaLnBrk="1" hangingPunct="1">
              <a:spcBef>
                <a:spcPct val="60000"/>
              </a:spcBef>
              <a:buNone/>
            </a:pPr>
            <a:r>
              <a:rPr lang="zh-CN" altLang="en-US" b="1" dirty="0"/>
              <a:t>3.1.2 个体词、谓词与量词</a:t>
            </a:r>
          </a:p>
          <a:p>
            <a:pPr lvl="1" indent="119063" eaLnBrk="1" hangingPunct="1"/>
            <a:r>
              <a:rPr lang="zh-CN" altLang="en-US" b="1" dirty="0"/>
              <a:t>个体常项、个体变项、个体域、全总个体域</a:t>
            </a:r>
          </a:p>
          <a:p>
            <a:pPr lvl="1" indent="119063" eaLnBrk="1" hangingPunct="1"/>
            <a:r>
              <a:rPr lang="zh-CN" altLang="en-US" b="1" dirty="0"/>
              <a:t>谓词常项、谓词变项</a:t>
            </a:r>
          </a:p>
          <a:p>
            <a:pPr lvl="1" indent="119063" eaLnBrk="1" hangingPunct="1"/>
            <a:r>
              <a:rPr lang="zh-CN" altLang="en-US" b="1" dirty="0"/>
              <a:t>全称量词、存在量词</a:t>
            </a:r>
          </a:p>
          <a:p>
            <a:pPr marL="0" indent="0" eaLnBrk="1" hangingPunct="1">
              <a:spcBef>
                <a:spcPct val="60000"/>
              </a:spcBef>
              <a:buNone/>
            </a:pPr>
            <a:r>
              <a:rPr lang="zh-CN" altLang="en-US" b="1" dirty="0"/>
              <a:t>3.1.3 一阶逻辑命题符号化</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19</a:t>
            </a:fld>
            <a:endParaRPr lang="zh-CN" altLang="en-US"/>
          </a:p>
        </p:txBody>
      </p:sp>
    </p:spTree>
    <p:extLst>
      <p:ext uri="{BB962C8B-B14F-4D97-AF65-F5344CB8AC3E}">
        <p14:creationId xmlns:p14="http://schemas.microsoft.com/office/powerpoint/2010/main" val="168417983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spcBef>
                <a:spcPct val="35000"/>
              </a:spcBef>
              <a:buNone/>
            </a:pPr>
            <a:r>
              <a:rPr lang="zh-CN" altLang="zh-CN" b="1" dirty="0">
                <a:solidFill>
                  <a:srgbClr val="FF0000"/>
                </a:solidFill>
              </a:rPr>
              <a:t>一阶语言</a:t>
            </a:r>
            <a:r>
              <a:rPr lang="zh-CN" altLang="zh-CN" b="1" dirty="0"/>
              <a:t>是一种符号语言，用于表达一阶逻辑中的陈述</a:t>
            </a:r>
            <a:r>
              <a:rPr lang="zh-CN" altLang="en-US" b="1" dirty="0"/>
              <a:t>，</a:t>
            </a:r>
            <a:r>
              <a:rPr lang="zh-CN" altLang="zh-CN" b="1" dirty="0"/>
              <a:t>合式公式是</a:t>
            </a:r>
            <a:r>
              <a:rPr lang="zh-CN" altLang="en-US" b="1" dirty="0"/>
              <a:t>其</a:t>
            </a:r>
            <a:r>
              <a:rPr lang="zh-CN" altLang="zh-CN" b="1" dirty="0"/>
              <a:t>构造的表达式</a:t>
            </a:r>
            <a:r>
              <a:rPr lang="zh-CN" altLang="en-US" b="1" dirty="0"/>
              <a:t>，</a:t>
            </a:r>
            <a:r>
              <a:rPr lang="zh-CN" altLang="zh-CN" b="1" dirty="0"/>
              <a:t>用于精确地表达关于对象和它们的关系的复杂陈述。</a:t>
            </a:r>
            <a:endParaRPr lang="en-US" altLang="zh-CN" b="1" dirty="0"/>
          </a:p>
          <a:p>
            <a:pPr algn="just" eaLnBrk="1" hangingPunct="1">
              <a:spcBef>
                <a:spcPct val="35000"/>
              </a:spcBef>
              <a:buFontTx/>
              <a:buNone/>
            </a:pPr>
            <a:r>
              <a:rPr lang="zh-CN" altLang="en-US" sz="1800" b="1" dirty="0">
                <a:solidFill>
                  <a:srgbClr val="FF3300"/>
                </a:solidFill>
              </a:rPr>
              <a:t>定义3.1 </a:t>
            </a:r>
            <a:r>
              <a:rPr lang="zh-CN" altLang="en-US" b="1" dirty="0"/>
              <a:t>一阶语言</a:t>
            </a:r>
            <a:r>
              <a:rPr lang="zh-CN" altLang="en-US" sz="1800" b="1" dirty="0">
                <a:solidFill>
                  <a:srgbClr val="FF3300"/>
                </a:solidFill>
              </a:rPr>
              <a:t>字母表</a:t>
            </a:r>
            <a:r>
              <a:rPr lang="zh-CN" altLang="en-US" sz="1800" b="1" dirty="0"/>
              <a:t>定义如下：</a:t>
            </a:r>
          </a:p>
          <a:p>
            <a:pPr algn="just" eaLnBrk="1" hangingPunct="1">
              <a:spcBef>
                <a:spcPct val="35000"/>
              </a:spcBef>
              <a:buFontTx/>
              <a:buNone/>
            </a:pPr>
            <a:r>
              <a:rPr lang="zh-CN" altLang="en-US" sz="1800" b="1" dirty="0"/>
              <a:t>(1) 个体常项：</a:t>
            </a:r>
            <a:r>
              <a:rPr lang="en-US" altLang="zh-CN" sz="1800" b="1" i="1" dirty="0"/>
              <a:t>a</a:t>
            </a:r>
            <a:r>
              <a:rPr lang="en-US" altLang="zh-CN" sz="1800" b="1" dirty="0"/>
              <a:t>, </a:t>
            </a:r>
            <a:r>
              <a:rPr lang="en-US" altLang="zh-CN" sz="1800" b="1" i="1" dirty="0"/>
              <a:t>b</a:t>
            </a:r>
            <a:r>
              <a:rPr lang="en-US" altLang="zh-CN" sz="1800" b="1" dirty="0"/>
              <a:t>, </a:t>
            </a:r>
            <a:r>
              <a:rPr lang="en-US" altLang="zh-CN" sz="1800" b="1" i="1" dirty="0"/>
              <a:t>c</a:t>
            </a:r>
            <a:r>
              <a:rPr lang="en-US" altLang="zh-CN" sz="1800" b="1" dirty="0"/>
              <a:t>, …, </a:t>
            </a:r>
            <a:r>
              <a:rPr lang="en-US" altLang="zh-CN" sz="1800" b="1" i="1" dirty="0"/>
              <a:t>a</a:t>
            </a:r>
            <a:r>
              <a:rPr lang="en-US" altLang="zh-CN" sz="1800" b="1" i="1" baseline="-30000" dirty="0"/>
              <a:t>i</a:t>
            </a:r>
            <a:r>
              <a:rPr lang="en-US" altLang="zh-CN" sz="1800" b="1" dirty="0"/>
              <a:t>, </a:t>
            </a:r>
            <a:r>
              <a:rPr lang="en-US" altLang="zh-CN" sz="1800" b="1" i="1" dirty="0"/>
              <a:t>b</a:t>
            </a:r>
            <a:r>
              <a:rPr lang="en-US" altLang="zh-CN" sz="1800" b="1" i="1" baseline="-30000" dirty="0"/>
              <a:t>i</a:t>
            </a:r>
            <a:r>
              <a:rPr lang="en-US" altLang="zh-CN" sz="1800" b="1" dirty="0"/>
              <a:t>, </a:t>
            </a:r>
            <a:r>
              <a:rPr lang="en-US" altLang="zh-CN" sz="1800" b="1" i="1" dirty="0"/>
              <a:t>c</a:t>
            </a:r>
            <a:r>
              <a:rPr lang="en-US" altLang="zh-CN" sz="1800" b="1" i="1" baseline="-30000" dirty="0"/>
              <a:t>i</a:t>
            </a:r>
            <a:r>
              <a:rPr lang="en-US" altLang="zh-CN" sz="1800" b="1" dirty="0"/>
              <a:t>, …, </a:t>
            </a:r>
            <a:r>
              <a:rPr lang="en-US" altLang="zh-CN" sz="1800" b="1" i="1" dirty="0"/>
              <a:t>i</a:t>
            </a:r>
            <a:r>
              <a:rPr lang="en-US" altLang="zh-CN" sz="1800" b="1" dirty="0"/>
              <a:t> </a:t>
            </a:r>
            <a:r>
              <a:rPr lang="en-US" altLang="zh-CN" sz="1800" b="1" dirty="0">
                <a:sym typeface="Symbol" panose="05050102010706020507" pitchFamily="18" charset="2"/>
              </a:rPr>
              <a:t></a:t>
            </a:r>
            <a:r>
              <a:rPr lang="en-US" altLang="zh-CN" sz="1800" b="1" dirty="0"/>
              <a:t>1</a:t>
            </a:r>
          </a:p>
          <a:p>
            <a:pPr algn="just" eaLnBrk="1" hangingPunct="1">
              <a:spcBef>
                <a:spcPct val="35000"/>
              </a:spcBef>
              <a:buFontTx/>
              <a:buNone/>
            </a:pPr>
            <a:r>
              <a:rPr lang="en-US" altLang="zh-CN" sz="1800" b="1" dirty="0"/>
              <a:t>(2) </a:t>
            </a:r>
            <a:r>
              <a:rPr lang="zh-CN" altLang="en-US" sz="1800" b="1" dirty="0"/>
              <a:t>个体变项：</a:t>
            </a:r>
            <a:r>
              <a:rPr lang="en-US" altLang="zh-CN" sz="1800" b="1" i="1" dirty="0"/>
              <a:t>x</a:t>
            </a:r>
            <a:r>
              <a:rPr lang="en-US" altLang="zh-CN" sz="1800" b="1" dirty="0"/>
              <a:t>, </a:t>
            </a:r>
            <a:r>
              <a:rPr lang="en-US" altLang="zh-CN" sz="1800" b="1" i="1" dirty="0"/>
              <a:t>y</a:t>
            </a:r>
            <a:r>
              <a:rPr lang="en-US" altLang="zh-CN" sz="1800" b="1" dirty="0"/>
              <a:t>, </a:t>
            </a:r>
            <a:r>
              <a:rPr lang="en-US" altLang="zh-CN" sz="1800" b="1" i="1" dirty="0"/>
              <a:t>z</a:t>
            </a:r>
            <a:r>
              <a:rPr lang="en-US" altLang="zh-CN" sz="1800" b="1" dirty="0"/>
              <a:t>, …, </a:t>
            </a:r>
            <a:r>
              <a:rPr lang="en-US" altLang="zh-CN" sz="1800" b="1" i="1" dirty="0"/>
              <a:t>x</a:t>
            </a:r>
            <a:r>
              <a:rPr lang="en-US" altLang="zh-CN" sz="1800" b="1" i="1" baseline="-30000" dirty="0"/>
              <a:t>i</a:t>
            </a:r>
            <a:r>
              <a:rPr lang="en-US" altLang="zh-CN" sz="1800" b="1" dirty="0"/>
              <a:t>, </a:t>
            </a:r>
            <a:r>
              <a:rPr lang="en-US" altLang="zh-CN" sz="1800" b="1" i="1" dirty="0"/>
              <a:t>y</a:t>
            </a:r>
            <a:r>
              <a:rPr lang="en-US" altLang="zh-CN" sz="1800" b="1" i="1" baseline="-30000" dirty="0"/>
              <a:t>i</a:t>
            </a:r>
            <a:r>
              <a:rPr lang="en-US" altLang="zh-CN" sz="1800" b="1" dirty="0"/>
              <a:t>, </a:t>
            </a:r>
            <a:r>
              <a:rPr lang="en-US" altLang="zh-CN" sz="1800" b="1" i="1" dirty="0"/>
              <a:t>z</a:t>
            </a:r>
            <a:r>
              <a:rPr lang="en-US" altLang="zh-CN" sz="1800" b="1" i="1" baseline="-30000" dirty="0"/>
              <a:t>i</a:t>
            </a:r>
            <a:r>
              <a:rPr lang="en-US" altLang="zh-CN" sz="1800" b="1" dirty="0"/>
              <a:t>, …, </a:t>
            </a:r>
            <a:r>
              <a:rPr lang="en-US" altLang="zh-CN" sz="1800" b="1" i="1" dirty="0"/>
              <a:t>i</a:t>
            </a:r>
            <a:r>
              <a:rPr lang="en-US" altLang="zh-CN" sz="1800" b="1" dirty="0"/>
              <a:t> </a:t>
            </a:r>
            <a:r>
              <a:rPr lang="en-US" altLang="zh-CN" sz="1800" b="1" dirty="0">
                <a:sym typeface="Symbol" panose="05050102010706020507" pitchFamily="18" charset="2"/>
              </a:rPr>
              <a:t></a:t>
            </a:r>
            <a:r>
              <a:rPr lang="en-US" altLang="zh-CN" sz="1800" b="1" dirty="0"/>
              <a:t>1 </a:t>
            </a:r>
          </a:p>
          <a:p>
            <a:pPr algn="just" eaLnBrk="1" hangingPunct="1">
              <a:spcBef>
                <a:spcPct val="35000"/>
              </a:spcBef>
              <a:buFontTx/>
              <a:buNone/>
            </a:pPr>
            <a:r>
              <a:rPr lang="en-US" altLang="zh-CN" sz="1800" b="1" dirty="0"/>
              <a:t>(3) </a:t>
            </a:r>
            <a:r>
              <a:rPr lang="zh-CN" altLang="en-US" sz="1800" b="1" dirty="0"/>
              <a:t>函数符号：</a:t>
            </a:r>
            <a:r>
              <a:rPr lang="en-US" altLang="zh-CN" sz="1800" b="1" i="1" dirty="0"/>
              <a:t>f</a:t>
            </a:r>
            <a:r>
              <a:rPr lang="en-US" altLang="zh-CN" sz="1800" b="1" dirty="0"/>
              <a:t>, </a:t>
            </a:r>
            <a:r>
              <a:rPr lang="en-US" altLang="zh-CN" sz="1800" b="1" i="1" dirty="0"/>
              <a:t>g</a:t>
            </a:r>
            <a:r>
              <a:rPr lang="en-US" altLang="zh-CN" sz="1800" b="1" dirty="0"/>
              <a:t>, </a:t>
            </a:r>
            <a:r>
              <a:rPr lang="en-US" altLang="zh-CN" sz="1800" b="1" i="1" dirty="0"/>
              <a:t>h</a:t>
            </a:r>
            <a:r>
              <a:rPr lang="en-US" altLang="zh-CN" sz="1800" b="1" dirty="0"/>
              <a:t>, …, </a:t>
            </a:r>
            <a:r>
              <a:rPr lang="en-US" altLang="zh-CN" sz="1800" b="1" i="1" dirty="0"/>
              <a:t>f</a:t>
            </a:r>
            <a:r>
              <a:rPr lang="en-US" altLang="zh-CN" sz="1800" b="1" i="1" baseline="-30000" dirty="0"/>
              <a:t>i</a:t>
            </a:r>
            <a:r>
              <a:rPr lang="en-US" altLang="zh-CN" sz="1800" b="1" dirty="0"/>
              <a:t>, </a:t>
            </a:r>
            <a:r>
              <a:rPr lang="en-US" altLang="zh-CN" sz="1800" b="1" i="1" dirty="0"/>
              <a:t>g</a:t>
            </a:r>
            <a:r>
              <a:rPr lang="en-US" altLang="zh-CN" sz="1800" b="1" i="1" baseline="-30000" dirty="0"/>
              <a:t>i</a:t>
            </a:r>
            <a:r>
              <a:rPr lang="en-US" altLang="zh-CN" sz="1800" b="1" dirty="0"/>
              <a:t>, </a:t>
            </a:r>
            <a:r>
              <a:rPr lang="en-US" altLang="zh-CN" sz="1800" b="1" i="1" dirty="0"/>
              <a:t>h</a:t>
            </a:r>
            <a:r>
              <a:rPr lang="en-US" altLang="zh-CN" sz="1800" b="1" i="1" baseline="-30000" dirty="0"/>
              <a:t>i</a:t>
            </a:r>
            <a:r>
              <a:rPr lang="en-US" altLang="zh-CN" sz="1800" b="1" dirty="0"/>
              <a:t>, …, </a:t>
            </a:r>
            <a:r>
              <a:rPr lang="en-US" altLang="zh-CN" sz="1800" b="1" i="1" dirty="0"/>
              <a:t>i</a:t>
            </a:r>
            <a:r>
              <a:rPr lang="en-US" altLang="zh-CN" sz="1800" b="1" dirty="0"/>
              <a:t> </a:t>
            </a:r>
            <a:r>
              <a:rPr lang="en-US" altLang="zh-CN" sz="1800" b="1" dirty="0">
                <a:sym typeface="Symbol" panose="05050102010706020507" pitchFamily="18" charset="2"/>
              </a:rPr>
              <a:t></a:t>
            </a:r>
            <a:r>
              <a:rPr lang="en-US" altLang="zh-CN" sz="1800" b="1" dirty="0"/>
              <a:t>1</a:t>
            </a:r>
          </a:p>
          <a:p>
            <a:pPr algn="just" eaLnBrk="1" hangingPunct="1">
              <a:spcBef>
                <a:spcPct val="35000"/>
              </a:spcBef>
              <a:buFontTx/>
              <a:buNone/>
            </a:pPr>
            <a:r>
              <a:rPr lang="en-US" altLang="zh-CN" sz="1800" b="1" dirty="0"/>
              <a:t>(4) </a:t>
            </a:r>
            <a:r>
              <a:rPr lang="zh-CN" altLang="en-US" sz="1800" b="1" dirty="0"/>
              <a:t>谓词符号：</a:t>
            </a:r>
            <a:r>
              <a:rPr lang="en-US" altLang="zh-CN" sz="1800" b="1" i="1" dirty="0"/>
              <a:t>F</a:t>
            </a:r>
            <a:r>
              <a:rPr lang="en-US" altLang="zh-CN" sz="1800" b="1" dirty="0"/>
              <a:t>, </a:t>
            </a:r>
            <a:r>
              <a:rPr lang="en-US" altLang="zh-CN" sz="1800" b="1" i="1" dirty="0"/>
              <a:t>G</a:t>
            </a:r>
            <a:r>
              <a:rPr lang="en-US" altLang="zh-CN" sz="1800" b="1" dirty="0"/>
              <a:t>, </a:t>
            </a:r>
            <a:r>
              <a:rPr lang="en-US" altLang="zh-CN" sz="1800" b="1" i="1" dirty="0"/>
              <a:t>H</a:t>
            </a:r>
            <a:r>
              <a:rPr lang="en-US" altLang="zh-CN" sz="1800" b="1" dirty="0"/>
              <a:t>, …, </a:t>
            </a:r>
            <a:r>
              <a:rPr lang="en-US" altLang="zh-CN" sz="1800" b="1" i="1" dirty="0"/>
              <a:t>F</a:t>
            </a:r>
            <a:r>
              <a:rPr lang="en-US" altLang="zh-CN" sz="1800" b="1" i="1" baseline="-30000" dirty="0"/>
              <a:t>i</a:t>
            </a:r>
            <a:r>
              <a:rPr lang="en-US" altLang="zh-CN" sz="1800" b="1" dirty="0"/>
              <a:t>, </a:t>
            </a:r>
            <a:r>
              <a:rPr lang="en-US" altLang="zh-CN" sz="1800" b="1" i="1" dirty="0"/>
              <a:t>G</a:t>
            </a:r>
            <a:r>
              <a:rPr lang="en-US" altLang="zh-CN" sz="1800" b="1" i="1" baseline="-30000" dirty="0"/>
              <a:t>i</a:t>
            </a:r>
            <a:r>
              <a:rPr lang="en-US" altLang="zh-CN" sz="1800" b="1" dirty="0"/>
              <a:t>, </a:t>
            </a:r>
            <a:r>
              <a:rPr lang="en-US" altLang="zh-CN" sz="1800" b="1" i="1" dirty="0"/>
              <a:t>H</a:t>
            </a:r>
            <a:r>
              <a:rPr lang="en-US" altLang="zh-CN" sz="1800" b="1" i="1" baseline="-30000" dirty="0"/>
              <a:t>i</a:t>
            </a:r>
            <a:r>
              <a:rPr lang="en-US" altLang="zh-CN" sz="1800" b="1" dirty="0"/>
              <a:t>, …, </a:t>
            </a:r>
            <a:r>
              <a:rPr lang="en-US" altLang="zh-CN" sz="1800" b="1" i="1" dirty="0"/>
              <a:t>i</a:t>
            </a:r>
            <a:r>
              <a:rPr lang="en-US" altLang="zh-CN" sz="1800" b="1" dirty="0"/>
              <a:t> </a:t>
            </a:r>
            <a:r>
              <a:rPr lang="en-US" altLang="zh-CN" sz="1800" b="1" dirty="0">
                <a:sym typeface="Symbol" panose="05050102010706020507" pitchFamily="18" charset="2"/>
              </a:rPr>
              <a:t></a:t>
            </a:r>
            <a:r>
              <a:rPr lang="en-US" altLang="zh-CN" sz="1800" b="1" dirty="0"/>
              <a:t>1</a:t>
            </a:r>
          </a:p>
          <a:p>
            <a:pPr algn="just" eaLnBrk="1" hangingPunct="1">
              <a:spcBef>
                <a:spcPct val="35000"/>
              </a:spcBef>
              <a:buFontTx/>
              <a:buNone/>
            </a:pPr>
            <a:r>
              <a:rPr lang="en-US" altLang="zh-CN" sz="1800" b="1" dirty="0"/>
              <a:t>(5) </a:t>
            </a:r>
            <a:r>
              <a:rPr lang="zh-CN" altLang="en-US" sz="1800" b="1" dirty="0"/>
              <a:t>量词符号：</a:t>
            </a:r>
            <a:r>
              <a:rPr lang="zh-CN" altLang="en-US" sz="1800" b="1" dirty="0">
                <a:sym typeface="Symbol" panose="05050102010706020507" pitchFamily="18" charset="2"/>
              </a:rPr>
              <a:t></a:t>
            </a:r>
            <a:r>
              <a:rPr lang="zh-CN" altLang="en-US" sz="1800" b="1" dirty="0"/>
              <a:t>, </a:t>
            </a:r>
            <a:r>
              <a:rPr lang="zh-CN" altLang="en-US" sz="1800" b="1" dirty="0">
                <a:sym typeface="Symbol" panose="05050102010706020507" pitchFamily="18" charset="2"/>
              </a:rPr>
              <a:t></a:t>
            </a:r>
            <a:endParaRPr lang="zh-CN" altLang="en-US" sz="1800" b="1" dirty="0"/>
          </a:p>
          <a:p>
            <a:pPr algn="just" eaLnBrk="1" hangingPunct="1">
              <a:spcBef>
                <a:spcPct val="35000"/>
              </a:spcBef>
              <a:buFontTx/>
              <a:buNone/>
            </a:pPr>
            <a:r>
              <a:rPr lang="zh-CN" altLang="en-US" sz="1800" b="1" dirty="0"/>
              <a:t>(6) 联结词符号：</a:t>
            </a:r>
            <a:r>
              <a:rPr lang="zh-CN" altLang="en-US" sz="1800" b="1" dirty="0">
                <a:sym typeface="Symbol" panose="05050102010706020507" pitchFamily="18" charset="2"/>
              </a:rPr>
              <a:t></a:t>
            </a:r>
            <a:r>
              <a:rPr lang="zh-CN" altLang="en-US" sz="1800" b="1" dirty="0"/>
              <a:t>, </a:t>
            </a:r>
            <a:r>
              <a:rPr lang="zh-CN" altLang="en-US" sz="1800" b="1" dirty="0">
                <a:sym typeface="Symbol" panose="05050102010706020507" pitchFamily="18" charset="2"/>
              </a:rPr>
              <a:t></a:t>
            </a:r>
            <a:r>
              <a:rPr lang="zh-CN" altLang="en-US" sz="1800" b="1" dirty="0"/>
              <a:t>, </a:t>
            </a:r>
            <a:r>
              <a:rPr lang="zh-CN" altLang="en-US" sz="1800" b="1" dirty="0">
                <a:sym typeface="Symbol" panose="05050102010706020507" pitchFamily="18" charset="2"/>
              </a:rPr>
              <a:t></a:t>
            </a:r>
            <a:r>
              <a:rPr lang="zh-CN" altLang="en-US" sz="1800" b="1" dirty="0"/>
              <a:t>, </a:t>
            </a:r>
            <a:r>
              <a:rPr lang="zh-CN" altLang="en-US" sz="1800" b="1" dirty="0">
                <a:sym typeface="Symbol" panose="05050102010706020507" pitchFamily="18" charset="2"/>
              </a:rPr>
              <a:t></a:t>
            </a:r>
            <a:r>
              <a:rPr lang="zh-CN" altLang="en-US" sz="1800" b="1" dirty="0"/>
              <a:t>, </a:t>
            </a:r>
            <a:r>
              <a:rPr lang="zh-CN" altLang="en-US" sz="1800" b="1" dirty="0">
                <a:sym typeface="Symbol" panose="05050102010706020507" pitchFamily="18" charset="2"/>
              </a:rPr>
              <a:t></a:t>
            </a:r>
            <a:r>
              <a:rPr lang="zh-CN" altLang="en-US" sz="1800" b="1" dirty="0"/>
              <a:t> </a:t>
            </a:r>
          </a:p>
          <a:p>
            <a:pPr eaLnBrk="1" hangingPunct="1">
              <a:spcBef>
                <a:spcPct val="35000"/>
              </a:spcBef>
              <a:buFontTx/>
              <a:buNone/>
            </a:pPr>
            <a:r>
              <a:rPr lang="zh-CN" altLang="en-US" sz="1800" b="1" dirty="0"/>
              <a:t>(7) 括号与逗号：( ), </a:t>
            </a:r>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20</a:t>
            </a:fld>
            <a:endParaRPr lang="zh-CN" altLang="en-US"/>
          </a:p>
        </p:txBody>
      </p:sp>
    </p:spTree>
    <p:extLst>
      <p:ext uri="{BB962C8B-B14F-4D97-AF65-F5344CB8AC3E}">
        <p14:creationId xmlns:p14="http://schemas.microsoft.com/office/powerpoint/2010/main" val="347542611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eaLnBrk="1" hangingPunct="1">
              <a:lnSpc>
                <a:spcPct val="90000"/>
              </a:lnSpc>
              <a:spcBef>
                <a:spcPct val="30000"/>
              </a:spcBef>
              <a:buFontTx/>
              <a:buNone/>
            </a:pPr>
            <a:r>
              <a:rPr lang="zh-CN" altLang="en-US" sz="1200" b="1" dirty="0">
                <a:solidFill>
                  <a:srgbClr val="FF3300"/>
                </a:solidFill>
              </a:rPr>
              <a:t>定义3.</a:t>
            </a:r>
            <a:r>
              <a:rPr lang="zh-CN" altLang="en-US" b="1" dirty="0">
                <a:solidFill>
                  <a:srgbClr val="FF3300"/>
                </a:solidFill>
              </a:rPr>
              <a:t>2</a:t>
            </a:r>
            <a:r>
              <a:rPr lang="zh-CN" altLang="en-US" sz="1200" b="1" dirty="0"/>
              <a:t>  一阶语言</a:t>
            </a:r>
            <a:r>
              <a:rPr lang="zh-CN" altLang="en-US" sz="1200" b="1" dirty="0">
                <a:solidFill>
                  <a:srgbClr val="FF3300"/>
                </a:solidFill>
              </a:rPr>
              <a:t>项</a:t>
            </a:r>
            <a:r>
              <a:rPr lang="zh-CN" altLang="en-US" sz="1200" b="1" dirty="0"/>
              <a:t>的定义如下：</a:t>
            </a:r>
          </a:p>
          <a:p>
            <a:pPr algn="just" eaLnBrk="1" hangingPunct="1">
              <a:lnSpc>
                <a:spcPct val="90000"/>
              </a:lnSpc>
              <a:spcBef>
                <a:spcPct val="30000"/>
              </a:spcBef>
              <a:buFontTx/>
              <a:buNone/>
            </a:pPr>
            <a:r>
              <a:rPr lang="zh-CN" altLang="en-US" sz="1200" b="1" dirty="0"/>
              <a:t>(1) 个体常项和个体变项是项.</a:t>
            </a:r>
          </a:p>
          <a:p>
            <a:pPr algn="just" eaLnBrk="1" hangingPunct="1">
              <a:lnSpc>
                <a:spcPct val="90000"/>
              </a:lnSpc>
              <a:spcBef>
                <a:spcPct val="30000"/>
              </a:spcBef>
              <a:buFontTx/>
              <a:buNone/>
            </a:pPr>
            <a:r>
              <a:rPr lang="zh-CN" altLang="en-US" sz="1200" b="1" dirty="0"/>
              <a:t>(2) 若</a:t>
            </a:r>
            <a:r>
              <a:rPr lang="zh-CN" altLang="en-US" sz="1200" b="1" i="1" dirty="0">
                <a:sym typeface="Symbol" panose="05050102010706020507" pitchFamily="18" charset="2"/>
              </a:rPr>
              <a:t></a:t>
            </a:r>
            <a:r>
              <a:rPr lang="zh-CN" altLang="en-US" sz="1200" b="1" dirty="0"/>
              <a:t>(</a:t>
            </a:r>
            <a:r>
              <a:rPr lang="en-US" altLang="zh-CN" sz="1200" b="1" i="1" dirty="0"/>
              <a:t>x</a:t>
            </a:r>
            <a:r>
              <a:rPr lang="en-US" altLang="zh-CN" sz="1200" b="1" baseline="-30000" dirty="0"/>
              <a:t>1</a:t>
            </a:r>
            <a:r>
              <a:rPr lang="en-US" altLang="zh-CN" sz="1200" b="1" dirty="0"/>
              <a:t>, </a:t>
            </a:r>
            <a:r>
              <a:rPr lang="en-US" altLang="zh-CN" sz="1200" b="1" i="1" dirty="0"/>
              <a:t>x</a:t>
            </a:r>
            <a:r>
              <a:rPr lang="en-US" altLang="zh-CN" sz="1200" b="1" baseline="-30000" dirty="0"/>
              <a:t>2</a:t>
            </a:r>
            <a:r>
              <a:rPr lang="en-US" altLang="zh-CN" sz="1200" b="1" dirty="0"/>
              <a:t>, …, </a:t>
            </a:r>
            <a:r>
              <a:rPr lang="en-US" altLang="zh-CN" sz="1200" b="1" i="1" dirty="0"/>
              <a:t>x</a:t>
            </a:r>
            <a:r>
              <a:rPr lang="en-US" altLang="zh-CN" sz="1200" b="1" i="1" baseline="-30000" dirty="0"/>
              <a:t>n</a:t>
            </a:r>
            <a:r>
              <a:rPr lang="en-US" altLang="zh-CN" sz="1200" b="1" dirty="0"/>
              <a:t>)</a:t>
            </a:r>
            <a:r>
              <a:rPr lang="zh-CN" altLang="en-US" sz="1200" b="1" dirty="0"/>
              <a:t>是任意的</a:t>
            </a:r>
            <a:r>
              <a:rPr lang="en-US" altLang="zh-CN" sz="1200" b="1" i="1" dirty="0"/>
              <a:t>n</a:t>
            </a:r>
            <a:r>
              <a:rPr lang="zh-CN" altLang="en-US" sz="1200" b="1" dirty="0"/>
              <a:t>元函数，</a:t>
            </a:r>
            <a:r>
              <a:rPr lang="en-US" altLang="zh-CN" sz="1200" b="1" i="1" dirty="0"/>
              <a:t>t</a:t>
            </a:r>
            <a:r>
              <a:rPr lang="en-US" altLang="zh-CN" sz="1200" b="1" baseline="-30000" dirty="0"/>
              <a:t>1</a:t>
            </a:r>
            <a:r>
              <a:rPr lang="en-US" altLang="zh-CN" sz="1200" b="1" dirty="0"/>
              <a:t>,</a:t>
            </a:r>
            <a:r>
              <a:rPr lang="en-US" altLang="zh-CN" sz="1200" b="1" i="1" dirty="0"/>
              <a:t>t</a:t>
            </a:r>
            <a:r>
              <a:rPr lang="en-US" altLang="zh-CN" sz="1200" b="1" baseline="-30000" dirty="0"/>
              <a:t>2</a:t>
            </a:r>
            <a:r>
              <a:rPr lang="en-US" altLang="zh-CN" sz="1200" b="1" dirty="0"/>
              <a:t>,…,</a:t>
            </a:r>
            <a:r>
              <a:rPr lang="en-US" altLang="zh-CN" sz="1200" b="1" i="1" dirty="0"/>
              <a:t>t</a:t>
            </a:r>
            <a:r>
              <a:rPr lang="en-US" altLang="zh-CN" sz="1200" b="1" i="1" baseline="-30000" dirty="0"/>
              <a:t>n</a:t>
            </a:r>
            <a:r>
              <a:rPr lang="zh-CN" altLang="en-US" sz="1200" b="1" dirty="0"/>
              <a:t>是任意</a:t>
            </a:r>
          </a:p>
          <a:p>
            <a:pPr algn="just" eaLnBrk="1" hangingPunct="1">
              <a:lnSpc>
                <a:spcPct val="90000"/>
              </a:lnSpc>
              <a:spcBef>
                <a:spcPct val="30000"/>
              </a:spcBef>
              <a:buFontTx/>
              <a:buNone/>
            </a:pPr>
            <a:r>
              <a:rPr lang="zh-CN" altLang="en-US" sz="1200" b="1" dirty="0"/>
              <a:t>      的</a:t>
            </a:r>
            <a:r>
              <a:rPr lang="en-US" altLang="zh-CN" sz="1200" b="1" i="1" dirty="0"/>
              <a:t>n</a:t>
            </a:r>
            <a:r>
              <a:rPr lang="zh-CN" altLang="en-US" sz="1200" b="1" dirty="0"/>
              <a:t>个项，则</a:t>
            </a:r>
            <a:r>
              <a:rPr lang="zh-CN" altLang="en-US" sz="1200" b="1" i="1" dirty="0">
                <a:sym typeface="Symbol" panose="05050102010706020507" pitchFamily="18" charset="2"/>
              </a:rPr>
              <a:t></a:t>
            </a:r>
            <a:r>
              <a:rPr lang="zh-CN" altLang="en-US" sz="1200" b="1" dirty="0"/>
              <a:t>(</a:t>
            </a:r>
            <a:r>
              <a:rPr lang="en-US" altLang="zh-CN" sz="1200" b="1" i="1" dirty="0"/>
              <a:t>t</a:t>
            </a:r>
            <a:r>
              <a:rPr lang="en-US" altLang="zh-CN" sz="1200" b="1" baseline="-30000" dirty="0"/>
              <a:t>1</a:t>
            </a:r>
            <a:r>
              <a:rPr lang="en-US" altLang="zh-CN" sz="1200" b="1" dirty="0"/>
              <a:t>, </a:t>
            </a:r>
            <a:r>
              <a:rPr lang="en-US" altLang="zh-CN" sz="1200" b="1" i="1" dirty="0"/>
              <a:t>t</a:t>
            </a:r>
            <a:r>
              <a:rPr lang="en-US" altLang="zh-CN" sz="1200" b="1" baseline="-30000" dirty="0"/>
              <a:t>2</a:t>
            </a:r>
            <a:r>
              <a:rPr lang="en-US" altLang="zh-CN" sz="1200" b="1" dirty="0"/>
              <a:t>, …, </a:t>
            </a:r>
            <a:r>
              <a:rPr lang="en-US" altLang="zh-CN" sz="1200" b="1" i="1" dirty="0"/>
              <a:t>t</a:t>
            </a:r>
            <a:r>
              <a:rPr lang="en-US" altLang="zh-CN" sz="1200" b="1" i="1" baseline="-30000" dirty="0"/>
              <a:t>n</a:t>
            </a:r>
            <a:r>
              <a:rPr lang="en-US" altLang="zh-CN" sz="1200" b="1" dirty="0"/>
              <a:t>) </a:t>
            </a:r>
            <a:r>
              <a:rPr lang="zh-CN" altLang="en-US" sz="1200" b="1" dirty="0"/>
              <a:t>是项.</a:t>
            </a:r>
          </a:p>
          <a:p>
            <a:pPr algn="just" eaLnBrk="1" hangingPunct="1">
              <a:lnSpc>
                <a:spcPct val="90000"/>
              </a:lnSpc>
              <a:spcBef>
                <a:spcPct val="30000"/>
              </a:spcBef>
              <a:buFontTx/>
              <a:buNone/>
            </a:pPr>
            <a:r>
              <a:rPr lang="zh-CN" altLang="en-US" sz="1200" b="1" dirty="0"/>
              <a:t>(3) 所有的项都是有限次使用 (1), (2) 得到的.</a:t>
            </a:r>
          </a:p>
          <a:p>
            <a:pPr algn="just" eaLnBrk="1" hangingPunct="1">
              <a:lnSpc>
                <a:spcPct val="90000"/>
              </a:lnSpc>
              <a:spcBef>
                <a:spcPct val="30000"/>
              </a:spcBef>
              <a:buFontTx/>
              <a:buNone/>
            </a:pPr>
            <a:endParaRPr lang="zh-CN" altLang="en-US" sz="1200" b="1" dirty="0"/>
          </a:p>
          <a:p>
            <a:pPr algn="just" eaLnBrk="1" hangingPunct="1">
              <a:lnSpc>
                <a:spcPct val="90000"/>
              </a:lnSpc>
              <a:spcBef>
                <a:spcPct val="30000"/>
              </a:spcBef>
              <a:buFontTx/>
              <a:buNone/>
            </a:pPr>
            <a:r>
              <a:rPr lang="zh-CN" altLang="en-US" sz="1200" b="1" dirty="0">
                <a:solidFill>
                  <a:srgbClr val="FF3300"/>
                </a:solidFill>
              </a:rPr>
              <a:t>定义3.3</a:t>
            </a:r>
            <a:r>
              <a:rPr lang="zh-CN" altLang="en-US" sz="1200" b="1" dirty="0"/>
              <a:t> 设</a:t>
            </a:r>
            <a:r>
              <a:rPr lang="en-US" altLang="zh-CN" sz="1200" b="1" i="1" dirty="0"/>
              <a:t>R</a:t>
            </a:r>
            <a:r>
              <a:rPr lang="en-US" altLang="zh-CN" sz="1200" b="1" dirty="0"/>
              <a:t>(</a:t>
            </a:r>
            <a:r>
              <a:rPr lang="en-US" altLang="zh-CN" sz="1200" b="1" i="1" dirty="0"/>
              <a:t>x</a:t>
            </a:r>
            <a:r>
              <a:rPr lang="en-US" altLang="zh-CN" sz="1200" b="1" baseline="-30000" dirty="0"/>
              <a:t>1</a:t>
            </a:r>
            <a:r>
              <a:rPr lang="en-US" altLang="zh-CN" sz="1200" b="1" dirty="0"/>
              <a:t>, </a:t>
            </a:r>
            <a:r>
              <a:rPr lang="en-US" altLang="zh-CN" sz="1200" b="1" i="1" dirty="0"/>
              <a:t>x</a:t>
            </a:r>
            <a:r>
              <a:rPr lang="en-US" altLang="zh-CN" sz="1200" b="1" baseline="-30000" dirty="0"/>
              <a:t>2</a:t>
            </a:r>
            <a:r>
              <a:rPr lang="en-US" altLang="zh-CN" sz="1200" b="1" dirty="0"/>
              <a:t>, …, </a:t>
            </a:r>
            <a:r>
              <a:rPr lang="en-US" altLang="zh-CN" sz="1200" b="1" i="1" dirty="0"/>
              <a:t>x</a:t>
            </a:r>
            <a:r>
              <a:rPr lang="en-US" altLang="zh-CN" sz="1200" b="1" i="1" baseline="-30000" dirty="0"/>
              <a:t>n</a:t>
            </a:r>
            <a:r>
              <a:rPr lang="en-US" altLang="zh-CN" sz="1200" b="1" dirty="0"/>
              <a:t>)</a:t>
            </a:r>
            <a:r>
              <a:rPr lang="zh-CN" altLang="en-US" sz="1200" b="1" dirty="0"/>
              <a:t>是一阶语言的任意</a:t>
            </a:r>
            <a:r>
              <a:rPr lang="en-US" altLang="zh-CN" sz="1200" b="1" i="1" dirty="0"/>
              <a:t>n</a:t>
            </a:r>
            <a:r>
              <a:rPr lang="zh-CN" altLang="en-US" sz="1200" b="1" dirty="0"/>
              <a:t>元谓词，</a:t>
            </a:r>
            <a:r>
              <a:rPr lang="en-US" altLang="zh-CN" sz="1200" b="1" i="1" dirty="0"/>
              <a:t>t</a:t>
            </a:r>
            <a:r>
              <a:rPr lang="en-US" altLang="zh-CN" sz="1200" b="1" baseline="-30000" dirty="0"/>
              <a:t>1</a:t>
            </a:r>
            <a:r>
              <a:rPr lang="en-US" altLang="zh-CN" sz="1200" b="1" dirty="0"/>
              <a:t>,</a:t>
            </a:r>
            <a:r>
              <a:rPr lang="en-US" altLang="zh-CN" sz="1200" b="1" i="1" dirty="0"/>
              <a:t>t</a:t>
            </a:r>
            <a:r>
              <a:rPr lang="en-US" altLang="zh-CN" sz="1200" b="1" baseline="-30000" dirty="0"/>
              <a:t>2</a:t>
            </a:r>
            <a:r>
              <a:rPr lang="en-US" altLang="zh-CN" sz="1200" b="1" dirty="0"/>
              <a:t>,…, </a:t>
            </a:r>
            <a:r>
              <a:rPr lang="en-US" altLang="zh-CN" sz="1200" b="1" i="1" dirty="0"/>
              <a:t>t</a:t>
            </a:r>
            <a:r>
              <a:rPr lang="en-US" altLang="zh-CN" sz="1200" b="1" i="1" baseline="-30000" dirty="0"/>
              <a:t>n</a:t>
            </a:r>
            <a:r>
              <a:rPr lang="zh-CN" altLang="en-US" sz="1200" b="1" dirty="0"/>
              <a:t>是任意</a:t>
            </a:r>
            <a:r>
              <a:rPr lang="en-US" altLang="zh-CN" sz="1200" b="1" i="1" dirty="0"/>
              <a:t>n</a:t>
            </a:r>
            <a:r>
              <a:rPr lang="zh-CN" altLang="en-US" sz="1200" b="1" dirty="0"/>
              <a:t>个项，则称</a:t>
            </a:r>
            <a:r>
              <a:rPr lang="en-US" altLang="zh-CN" sz="1200" b="1" i="1" dirty="0"/>
              <a:t>R</a:t>
            </a:r>
            <a:r>
              <a:rPr lang="en-US" altLang="zh-CN" sz="1200" b="1" dirty="0"/>
              <a:t>(</a:t>
            </a:r>
            <a:r>
              <a:rPr lang="en-US" altLang="zh-CN" sz="1200" b="1" i="1" dirty="0"/>
              <a:t>t</a:t>
            </a:r>
            <a:r>
              <a:rPr lang="en-US" altLang="zh-CN" sz="1200" b="1" baseline="-30000" dirty="0"/>
              <a:t>1</a:t>
            </a:r>
            <a:r>
              <a:rPr lang="en-US" altLang="zh-CN" sz="1200" b="1" dirty="0"/>
              <a:t>, </a:t>
            </a:r>
            <a:r>
              <a:rPr lang="en-US" altLang="zh-CN" sz="1200" b="1" i="1" dirty="0"/>
              <a:t>t</a:t>
            </a:r>
            <a:r>
              <a:rPr lang="en-US" altLang="zh-CN" sz="1200" b="1" baseline="-30000" dirty="0"/>
              <a:t>2</a:t>
            </a:r>
            <a:r>
              <a:rPr lang="en-US" altLang="zh-CN" sz="1200" b="1" dirty="0"/>
              <a:t>, …, </a:t>
            </a:r>
            <a:r>
              <a:rPr lang="en-US" altLang="zh-CN" sz="1200" b="1" i="1" dirty="0"/>
              <a:t>t</a:t>
            </a:r>
            <a:r>
              <a:rPr lang="en-US" altLang="zh-CN" sz="1200" b="1" i="1" baseline="-30000" dirty="0"/>
              <a:t>n</a:t>
            </a:r>
            <a:r>
              <a:rPr lang="en-US" altLang="zh-CN" sz="1200" b="1" dirty="0"/>
              <a:t>)</a:t>
            </a:r>
            <a:r>
              <a:rPr lang="zh-CN" altLang="en-US" sz="1200" b="1" dirty="0"/>
              <a:t>是</a:t>
            </a:r>
            <a:r>
              <a:rPr lang="zh-CN" altLang="en-US" sz="1200" b="1" dirty="0">
                <a:solidFill>
                  <a:srgbClr val="FF3300"/>
                </a:solidFill>
              </a:rPr>
              <a:t>原子公式</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21</a:t>
            </a:fld>
            <a:endParaRPr lang="zh-CN" altLang="en-US"/>
          </a:p>
        </p:txBody>
      </p:sp>
    </p:spTree>
    <p:extLst>
      <p:ext uri="{BB962C8B-B14F-4D97-AF65-F5344CB8AC3E}">
        <p14:creationId xmlns:p14="http://schemas.microsoft.com/office/powerpoint/2010/main" val="311203350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eaLnBrk="1" hangingPunct="1">
              <a:spcBef>
                <a:spcPct val="30000"/>
              </a:spcBef>
              <a:buFontTx/>
              <a:buNone/>
            </a:pPr>
            <a:r>
              <a:rPr lang="zh-CN" altLang="en-US" sz="1200" b="1" dirty="0">
                <a:solidFill>
                  <a:srgbClr val="FF3300"/>
                </a:solidFill>
              </a:rPr>
              <a:t>定义3.4</a:t>
            </a:r>
            <a:r>
              <a:rPr lang="zh-CN" altLang="en-US" sz="1200" b="1" dirty="0"/>
              <a:t>一阶语言</a:t>
            </a:r>
            <a:r>
              <a:rPr lang="zh-CN" altLang="en-US" sz="1200" b="1" dirty="0">
                <a:solidFill>
                  <a:srgbClr val="FF3300"/>
                </a:solidFill>
              </a:rPr>
              <a:t>合式公式</a:t>
            </a:r>
            <a:r>
              <a:rPr lang="zh-CN" altLang="en-US" sz="1200" b="1" dirty="0"/>
              <a:t>定义如下：</a:t>
            </a:r>
          </a:p>
          <a:p>
            <a:pPr algn="just" eaLnBrk="1" hangingPunct="1">
              <a:spcBef>
                <a:spcPct val="30000"/>
              </a:spcBef>
              <a:buFontTx/>
              <a:buNone/>
            </a:pPr>
            <a:r>
              <a:rPr lang="zh-CN" altLang="en-US" sz="1200" b="1" dirty="0"/>
              <a:t>(1) 原子公式是合式公式 </a:t>
            </a:r>
          </a:p>
          <a:p>
            <a:pPr algn="just" eaLnBrk="1" hangingPunct="1">
              <a:spcBef>
                <a:spcPct val="30000"/>
              </a:spcBef>
              <a:buFontTx/>
              <a:buNone/>
            </a:pPr>
            <a:r>
              <a:rPr lang="zh-CN" altLang="en-US" sz="1200" b="1" dirty="0"/>
              <a:t>(2) 若</a:t>
            </a:r>
            <a:r>
              <a:rPr lang="en-US" altLang="zh-CN" sz="1200" b="1" i="1" dirty="0"/>
              <a:t>A</a:t>
            </a:r>
            <a:r>
              <a:rPr lang="zh-CN" altLang="en-US" sz="1200" b="1" dirty="0"/>
              <a:t>是合式公式, 则 (</a:t>
            </a:r>
            <a:r>
              <a:rPr lang="zh-CN" altLang="en-US" sz="1200" b="1" dirty="0">
                <a:sym typeface="Symbol" panose="05050102010706020507" pitchFamily="18" charset="2"/>
              </a:rPr>
              <a:t></a:t>
            </a:r>
            <a:r>
              <a:rPr lang="en-US" altLang="zh-CN" sz="1200" b="1" i="1" dirty="0"/>
              <a:t>A</a:t>
            </a:r>
            <a:r>
              <a:rPr lang="en-US" altLang="zh-CN" sz="1200" b="1" dirty="0"/>
              <a:t>)</a:t>
            </a:r>
            <a:r>
              <a:rPr lang="zh-CN" altLang="en-US" sz="1200" b="1" dirty="0"/>
              <a:t>也是合式公式</a:t>
            </a:r>
          </a:p>
          <a:p>
            <a:pPr algn="just" eaLnBrk="1" hangingPunct="1">
              <a:spcBef>
                <a:spcPct val="30000"/>
              </a:spcBef>
              <a:buFontTx/>
              <a:buNone/>
            </a:pPr>
            <a:r>
              <a:rPr lang="zh-CN" altLang="en-US" sz="1200" b="1" dirty="0"/>
              <a:t>(3) 若</a:t>
            </a:r>
            <a:r>
              <a:rPr lang="en-US" altLang="zh-CN" sz="1200" b="1" i="1" dirty="0"/>
              <a:t>A</a:t>
            </a:r>
            <a:r>
              <a:rPr lang="en-US" altLang="zh-CN" sz="1200" b="1" dirty="0"/>
              <a:t>, </a:t>
            </a:r>
            <a:r>
              <a:rPr lang="en-US" altLang="zh-CN" sz="1200" b="1" i="1" dirty="0"/>
              <a:t>B</a:t>
            </a:r>
            <a:r>
              <a:rPr lang="zh-CN" altLang="en-US" sz="1200" b="1" dirty="0"/>
              <a:t>是合式公式, 则(</a:t>
            </a:r>
            <a:r>
              <a:rPr lang="en-US" altLang="zh-CN" sz="1200" b="1" i="1" dirty="0"/>
              <a:t>A</a:t>
            </a:r>
            <a:r>
              <a:rPr lang="en-US" altLang="zh-CN" sz="1200" b="1" dirty="0">
                <a:sym typeface="Symbol" panose="05050102010706020507" pitchFamily="18" charset="2"/>
              </a:rPr>
              <a:t></a:t>
            </a:r>
            <a:r>
              <a:rPr lang="en-US" altLang="zh-CN" sz="1200" b="1" i="1" dirty="0"/>
              <a:t>B</a:t>
            </a:r>
            <a:r>
              <a:rPr lang="en-US" altLang="zh-CN" sz="1200" b="1" dirty="0"/>
              <a:t>), (</a:t>
            </a:r>
            <a:r>
              <a:rPr lang="en-US" altLang="zh-CN" sz="1200" b="1" i="1" dirty="0"/>
              <a:t>A</a:t>
            </a:r>
            <a:r>
              <a:rPr lang="en-US" altLang="zh-CN" sz="1200" b="1" dirty="0">
                <a:sym typeface="Symbol" panose="05050102010706020507" pitchFamily="18" charset="2"/>
              </a:rPr>
              <a:t></a:t>
            </a:r>
            <a:r>
              <a:rPr lang="en-US" altLang="zh-CN" sz="1200" b="1" i="1" dirty="0"/>
              <a:t>B</a:t>
            </a:r>
            <a:r>
              <a:rPr lang="en-US" altLang="zh-CN" sz="1200" b="1" dirty="0"/>
              <a:t>), (</a:t>
            </a:r>
            <a:r>
              <a:rPr lang="en-US" altLang="zh-CN" sz="1200" b="1" i="1" dirty="0"/>
              <a:t>A</a:t>
            </a:r>
            <a:r>
              <a:rPr lang="en-US" altLang="zh-CN" sz="1200" b="1" dirty="0">
                <a:sym typeface="Symbol" panose="05050102010706020507" pitchFamily="18" charset="2"/>
              </a:rPr>
              <a:t></a:t>
            </a:r>
            <a:r>
              <a:rPr lang="en-US" altLang="zh-CN" sz="1200" b="1" i="1" dirty="0"/>
              <a:t>B</a:t>
            </a:r>
            <a:r>
              <a:rPr lang="en-US" altLang="zh-CN" sz="1200" b="1" dirty="0"/>
              <a:t>), (</a:t>
            </a:r>
            <a:r>
              <a:rPr lang="en-US" altLang="zh-CN" sz="1200" b="1" i="1" dirty="0"/>
              <a:t>A</a:t>
            </a:r>
            <a:r>
              <a:rPr lang="en-US" altLang="zh-CN" sz="1200" b="1" dirty="0">
                <a:sym typeface="Symbol" panose="05050102010706020507" pitchFamily="18" charset="2"/>
              </a:rPr>
              <a:t></a:t>
            </a:r>
            <a:r>
              <a:rPr lang="en-US" altLang="zh-CN" sz="1200" b="1" i="1" dirty="0"/>
              <a:t>B</a:t>
            </a:r>
            <a:r>
              <a:rPr lang="en-US" altLang="zh-CN" sz="1200" b="1" dirty="0"/>
              <a:t>)</a:t>
            </a:r>
            <a:r>
              <a:rPr lang="zh-CN" altLang="en-US" sz="1200" b="1" dirty="0"/>
              <a:t>也</a:t>
            </a:r>
          </a:p>
          <a:p>
            <a:pPr algn="just" eaLnBrk="1" hangingPunct="1">
              <a:spcBef>
                <a:spcPct val="30000"/>
              </a:spcBef>
              <a:buFontTx/>
              <a:buNone/>
            </a:pPr>
            <a:r>
              <a:rPr lang="zh-CN" altLang="en-US" sz="1200" b="1" dirty="0"/>
              <a:t>      是合式公式</a:t>
            </a:r>
          </a:p>
          <a:p>
            <a:pPr algn="just" eaLnBrk="1" hangingPunct="1">
              <a:spcBef>
                <a:spcPct val="30000"/>
              </a:spcBef>
              <a:buFontTx/>
              <a:buNone/>
            </a:pPr>
            <a:r>
              <a:rPr lang="zh-CN" altLang="en-US" sz="1200" b="1" dirty="0"/>
              <a:t>(4) 若</a:t>
            </a:r>
            <a:r>
              <a:rPr lang="en-US" altLang="zh-CN" sz="1200" b="1" i="1" dirty="0"/>
              <a:t>A</a:t>
            </a:r>
            <a:r>
              <a:rPr lang="zh-CN" altLang="en-US" sz="1200" b="1" dirty="0"/>
              <a:t>是合式公式, 则</a:t>
            </a:r>
            <a:r>
              <a:rPr lang="zh-CN" altLang="en-US" sz="1200" b="1" dirty="0">
                <a:sym typeface="Symbol" panose="05050102010706020507" pitchFamily="18" charset="2"/>
              </a:rPr>
              <a:t></a:t>
            </a:r>
            <a:r>
              <a:rPr lang="en-US" altLang="zh-CN" sz="1200" b="1" i="1" dirty="0"/>
              <a:t>xA</a:t>
            </a:r>
            <a:r>
              <a:rPr lang="en-US" altLang="zh-CN" sz="1200" b="1" dirty="0"/>
              <a:t>, </a:t>
            </a:r>
            <a:r>
              <a:rPr lang="en-US" altLang="zh-CN" sz="1200" b="1" dirty="0">
                <a:sym typeface="Symbol" panose="05050102010706020507" pitchFamily="18" charset="2"/>
              </a:rPr>
              <a:t></a:t>
            </a:r>
            <a:r>
              <a:rPr lang="en-US" altLang="zh-CN" sz="1200" b="1" i="1" dirty="0"/>
              <a:t>xA</a:t>
            </a:r>
            <a:r>
              <a:rPr lang="zh-CN" altLang="en-US" sz="1200" b="1" dirty="0"/>
              <a:t>也是合式公式</a:t>
            </a:r>
          </a:p>
          <a:p>
            <a:pPr algn="just" eaLnBrk="1" hangingPunct="1">
              <a:spcBef>
                <a:spcPct val="30000"/>
              </a:spcBef>
              <a:buFontTx/>
              <a:buNone/>
            </a:pPr>
            <a:r>
              <a:rPr lang="zh-CN" altLang="en-US" sz="1200" b="1" dirty="0"/>
              <a:t>(5) 只有有限次地应用(1)~(4)形成的符号串才是合式公式.</a:t>
            </a:r>
          </a:p>
          <a:p>
            <a:pPr algn="just" eaLnBrk="1" hangingPunct="1">
              <a:spcBef>
                <a:spcPct val="30000"/>
              </a:spcBef>
              <a:buFontTx/>
              <a:buNone/>
            </a:pPr>
            <a:r>
              <a:rPr lang="zh-CN" altLang="en-US" sz="1200" b="1" dirty="0"/>
              <a:t>合式公式又称</a:t>
            </a:r>
            <a:r>
              <a:rPr lang="zh-CN" altLang="en-US" sz="1200" b="1" dirty="0">
                <a:solidFill>
                  <a:srgbClr val="FF0000"/>
                </a:solidFill>
              </a:rPr>
              <a:t>谓词公式</a:t>
            </a:r>
            <a:r>
              <a:rPr lang="zh-CN" altLang="en-US" sz="1200" b="1" dirty="0"/>
              <a:t>, 简称</a:t>
            </a:r>
            <a:r>
              <a:rPr lang="zh-CN" altLang="en-US" sz="1200" b="1" dirty="0">
                <a:solidFill>
                  <a:srgbClr val="FF0000"/>
                </a:solidFill>
              </a:rPr>
              <a:t>公式</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22</a:t>
            </a:fld>
            <a:endParaRPr lang="zh-CN" altLang="en-US"/>
          </a:p>
        </p:txBody>
      </p:sp>
    </p:spTree>
    <p:extLst>
      <p:ext uri="{BB962C8B-B14F-4D97-AF65-F5344CB8AC3E}">
        <p14:creationId xmlns:p14="http://schemas.microsoft.com/office/powerpoint/2010/main" val="48719199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dirty="0"/>
              <a:t> </a:t>
            </a:r>
            <a:r>
              <a:rPr lang="en-US" altLang="zh-CN" sz="1200" b="1" i="1" dirty="0"/>
              <a:t>y</a:t>
            </a:r>
            <a:r>
              <a:rPr lang="zh-CN" altLang="en-US" sz="1200" b="1" dirty="0"/>
              <a:t>的第一次出现为自由出现, 第二次出现为约束出现 不在</a:t>
            </a:r>
            <a:r>
              <a:rPr lang="zh-CN" altLang="en-US" sz="1200" b="1" dirty="0">
                <a:solidFill>
                  <a:srgbClr val="FF3300"/>
                </a:solidFill>
              </a:rPr>
              <a:t>辖域</a:t>
            </a:r>
            <a:r>
              <a:rPr lang="zh-CN" altLang="en-US" sz="1200" b="1" dirty="0"/>
              <a:t>中</a:t>
            </a:r>
            <a:endParaRPr lang="en-US" altLang="zh-CN" sz="1200" b="1"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b="1" dirty="0"/>
          </a:p>
          <a:p>
            <a:pPr algn="just">
              <a:buNone/>
            </a:pPr>
            <a:r>
              <a:rPr lang="zh-CN" altLang="en-US" sz="1200" b="1" dirty="0">
                <a:solidFill>
                  <a:srgbClr val="FF3300"/>
                </a:solidFill>
              </a:rPr>
              <a:t>定义3.5 </a:t>
            </a:r>
            <a:r>
              <a:rPr lang="zh-CN" altLang="en-US" sz="1200" b="1" dirty="0"/>
              <a:t> 在公式</a:t>
            </a:r>
            <a:r>
              <a:rPr lang="zh-CN" altLang="en-US" sz="1200" b="1" dirty="0">
                <a:sym typeface="Symbol" panose="05050102010706020507" pitchFamily="18" charset="2"/>
              </a:rPr>
              <a:t></a:t>
            </a:r>
            <a:r>
              <a:rPr lang="en-US" altLang="zh-CN" sz="1200" b="1" i="1" dirty="0"/>
              <a:t>xA</a:t>
            </a:r>
            <a:r>
              <a:rPr lang="zh-CN" altLang="en-US" sz="1200" b="1" dirty="0"/>
              <a:t>和</a:t>
            </a:r>
            <a:r>
              <a:rPr lang="zh-CN" altLang="en-US" sz="1200" b="1" dirty="0">
                <a:sym typeface="Symbol" panose="05050102010706020507" pitchFamily="18" charset="2"/>
              </a:rPr>
              <a:t></a:t>
            </a:r>
            <a:r>
              <a:rPr lang="en-US" altLang="zh-CN" sz="1200" b="1" i="1" dirty="0"/>
              <a:t>xA</a:t>
            </a:r>
            <a:r>
              <a:rPr lang="zh-CN" altLang="en-US" sz="1200" b="1" dirty="0"/>
              <a:t>中, 称</a:t>
            </a:r>
            <a:r>
              <a:rPr lang="en-US" altLang="zh-CN" sz="1200" b="1" i="1" dirty="0"/>
              <a:t>x</a:t>
            </a:r>
            <a:r>
              <a:rPr lang="zh-CN" altLang="en-US" sz="1200" b="1" dirty="0"/>
              <a:t>为</a:t>
            </a:r>
            <a:r>
              <a:rPr lang="zh-CN" altLang="en-US" sz="1200" b="1" dirty="0">
                <a:solidFill>
                  <a:srgbClr val="FF3300"/>
                </a:solidFill>
              </a:rPr>
              <a:t>指导变</a:t>
            </a:r>
            <a:r>
              <a:rPr lang="zh-CN" altLang="en-US" b="1" dirty="0">
                <a:solidFill>
                  <a:srgbClr val="FF3300"/>
                </a:solidFill>
              </a:rPr>
              <a:t>项（元）</a:t>
            </a:r>
            <a:r>
              <a:rPr lang="zh-CN" altLang="en-US" sz="1200" b="1" dirty="0"/>
              <a:t>, </a:t>
            </a:r>
            <a:r>
              <a:rPr lang="en-US" altLang="zh-CN" sz="1200" b="1" i="1" dirty="0"/>
              <a:t>A</a:t>
            </a:r>
            <a:r>
              <a:rPr lang="zh-CN" altLang="en-US" sz="1200" b="1" dirty="0"/>
              <a:t>为相应量词的</a:t>
            </a:r>
            <a:r>
              <a:rPr lang="zh-CN" altLang="en-US" sz="1200" b="1" dirty="0">
                <a:solidFill>
                  <a:srgbClr val="FF3300"/>
                </a:solidFill>
              </a:rPr>
              <a:t>辖域</a:t>
            </a:r>
            <a:r>
              <a:rPr lang="zh-CN" altLang="en-US" sz="1200" b="1" dirty="0"/>
              <a:t>. 在</a:t>
            </a:r>
            <a:r>
              <a:rPr lang="zh-CN" altLang="en-US" sz="1200" b="1" dirty="0">
                <a:sym typeface="Symbol" panose="05050102010706020507" pitchFamily="18" charset="2"/>
              </a:rPr>
              <a:t></a:t>
            </a:r>
            <a:r>
              <a:rPr lang="en-US" altLang="zh-CN" sz="1200" b="1" i="1" dirty="0"/>
              <a:t>x</a:t>
            </a:r>
            <a:r>
              <a:rPr lang="zh-CN" altLang="en-US" sz="1200" b="1" dirty="0"/>
              <a:t>和</a:t>
            </a:r>
            <a:r>
              <a:rPr lang="zh-CN" altLang="en-US" sz="1200" b="1" dirty="0">
                <a:sym typeface="Symbol" panose="05050102010706020507" pitchFamily="18" charset="2"/>
              </a:rPr>
              <a:t></a:t>
            </a:r>
            <a:r>
              <a:rPr lang="en-US" altLang="zh-CN" sz="1200" b="1" i="1" dirty="0"/>
              <a:t>x</a:t>
            </a:r>
            <a:r>
              <a:rPr lang="zh-CN" altLang="en-US" sz="1200" b="1" dirty="0"/>
              <a:t>的</a:t>
            </a:r>
            <a:r>
              <a:rPr lang="zh-CN" altLang="en-US" sz="1200" b="1" dirty="0">
                <a:solidFill>
                  <a:srgbClr val="FF3300"/>
                </a:solidFill>
              </a:rPr>
              <a:t>辖域</a:t>
            </a:r>
            <a:r>
              <a:rPr lang="zh-CN" altLang="en-US" sz="1200" b="1" dirty="0"/>
              <a:t>中, </a:t>
            </a:r>
            <a:r>
              <a:rPr lang="en-US" altLang="zh-CN" sz="1200" b="1" i="1" dirty="0"/>
              <a:t>x</a:t>
            </a:r>
            <a:r>
              <a:rPr lang="zh-CN" altLang="en-US" sz="1200" b="1" dirty="0"/>
              <a:t>的所有出现称为</a:t>
            </a:r>
            <a:r>
              <a:rPr lang="zh-CN" altLang="en-US" sz="1200" b="1" dirty="0">
                <a:solidFill>
                  <a:srgbClr val="FF3300"/>
                </a:solidFill>
              </a:rPr>
              <a:t>约束出现</a:t>
            </a:r>
            <a:r>
              <a:rPr lang="zh-CN" altLang="en-US" sz="1200" b="1" dirty="0"/>
              <a:t>，</a:t>
            </a:r>
          </a:p>
          <a:p>
            <a:pPr algn="just" eaLnBrk="1" hangingPunct="1">
              <a:buFontTx/>
              <a:buNone/>
            </a:pPr>
            <a:r>
              <a:rPr lang="en-US" altLang="zh-CN" sz="1200" b="1" i="1" dirty="0"/>
              <a:t>A</a:t>
            </a:r>
            <a:r>
              <a:rPr lang="zh-CN" altLang="en-US" sz="1200" b="1" dirty="0"/>
              <a:t>中不是约束出现的其他变项称为</a:t>
            </a:r>
            <a:r>
              <a:rPr lang="zh-CN" altLang="en-US" sz="1200" b="1" dirty="0">
                <a:solidFill>
                  <a:srgbClr val="FF3300"/>
                </a:solidFill>
              </a:rPr>
              <a:t>自由出现</a:t>
            </a:r>
            <a:endParaRPr lang="zh-CN" altLang="en-US" sz="1200" b="1" dirty="0"/>
          </a:p>
          <a:p>
            <a:pPr algn="just" eaLnBrk="1" hangingPunct="1">
              <a:buFontTx/>
              <a:buNone/>
            </a:pPr>
            <a:endParaRPr lang="zh-CN" altLang="en-US" sz="1200" b="1" dirty="0">
              <a:solidFill>
                <a:srgbClr val="000066"/>
              </a:solidFill>
            </a:endParaRPr>
          </a:p>
          <a:p>
            <a:pPr algn="just" eaLnBrk="1" hangingPunct="1">
              <a:buFontTx/>
              <a:buNone/>
            </a:pPr>
            <a:r>
              <a:rPr lang="zh-CN" altLang="en-US" sz="1200" b="1" dirty="0">
                <a:solidFill>
                  <a:srgbClr val="00B0F0"/>
                </a:solidFill>
              </a:rPr>
              <a:t>例： </a:t>
            </a:r>
            <a:r>
              <a:rPr lang="zh-CN" altLang="en-US" sz="1200" b="1" dirty="0"/>
              <a:t>公式 </a:t>
            </a:r>
            <a:r>
              <a:rPr lang="zh-CN" altLang="en-US" sz="1200" b="1" dirty="0">
                <a:sym typeface="Symbol" panose="05050102010706020507" pitchFamily="18" charset="2"/>
              </a:rPr>
              <a:t></a:t>
            </a:r>
            <a:r>
              <a:rPr lang="en-US" altLang="zh-CN" sz="1200" b="1" i="1" dirty="0"/>
              <a:t>x</a:t>
            </a:r>
            <a:r>
              <a:rPr lang="en-US" altLang="zh-CN" sz="1200" b="1" dirty="0"/>
              <a:t>(</a:t>
            </a:r>
            <a:r>
              <a:rPr lang="en-US" altLang="zh-CN" sz="1200" b="1" i="1" dirty="0"/>
              <a:t>F</a:t>
            </a:r>
            <a:r>
              <a:rPr lang="en-US" altLang="zh-CN" sz="1200" b="1" dirty="0"/>
              <a:t>(</a:t>
            </a:r>
            <a:r>
              <a:rPr lang="en-US" altLang="zh-CN" sz="1200" b="1" i="1" dirty="0"/>
              <a:t>x</a:t>
            </a:r>
            <a:r>
              <a:rPr lang="en-US" altLang="zh-CN" sz="1200" b="1" dirty="0"/>
              <a:t>,</a:t>
            </a:r>
            <a:r>
              <a:rPr lang="en-US" altLang="zh-CN" sz="1200" b="1" i="1" dirty="0"/>
              <a:t>y</a:t>
            </a:r>
            <a:r>
              <a:rPr lang="en-US" altLang="zh-CN" sz="1200" b="1" dirty="0"/>
              <a:t>)</a:t>
            </a:r>
            <a:r>
              <a:rPr lang="en-US" altLang="zh-CN" sz="1200" b="1" dirty="0">
                <a:sym typeface="Symbol" panose="05050102010706020507" pitchFamily="18" charset="2"/>
              </a:rPr>
              <a:t></a:t>
            </a:r>
            <a:r>
              <a:rPr lang="zh-CN" altLang="en-US" sz="1200" b="1" dirty="0">
                <a:sym typeface="Symbol" panose="05050102010706020507" pitchFamily="18" charset="2"/>
              </a:rPr>
              <a:t></a:t>
            </a:r>
            <a:r>
              <a:rPr lang="en-US" altLang="zh-CN" sz="1200" b="1" i="1" dirty="0"/>
              <a:t>yG</a:t>
            </a:r>
            <a:r>
              <a:rPr lang="en-US" altLang="zh-CN" sz="1200" b="1" dirty="0"/>
              <a:t>(</a:t>
            </a:r>
            <a:r>
              <a:rPr lang="en-US" altLang="zh-CN" sz="1200" b="1" i="1" dirty="0"/>
              <a:t>x</a:t>
            </a:r>
            <a:r>
              <a:rPr lang="en-US" altLang="zh-CN" sz="1200" b="1" dirty="0"/>
              <a:t>,</a:t>
            </a:r>
            <a:r>
              <a:rPr lang="en-US" altLang="zh-CN" sz="1200" b="1" i="1" dirty="0"/>
              <a:t>y</a:t>
            </a:r>
            <a:r>
              <a:rPr lang="en-US" altLang="zh-CN" sz="1200" b="1" dirty="0"/>
              <a:t>,</a:t>
            </a:r>
            <a:r>
              <a:rPr lang="en-US" altLang="zh-CN" sz="1200" b="1" i="1" dirty="0"/>
              <a:t>z</a:t>
            </a:r>
            <a:r>
              <a:rPr lang="en-US" altLang="zh-CN" sz="1200" b="1" dirty="0"/>
              <a:t>))</a:t>
            </a:r>
            <a:endParaRPr lang="zh-CN" altLang="en-US" sz="1200" b="1" dirty="0"/>
          </a:p>
          <a:p>
            <a:pPr algn="just" eaLnBrk="1" hangingPunct="1">
              <a:buFontTx/>
              <a:buNone/>
            </a:pPr>
            <a:r>
              <a:rPr lang="zh-CN" altLang="en-US" sz="1200" b="1" i="1" dirty="0"/>
              <a:t> </a:t>
            </a:r>
            <a:r>
              <a:rPr lang="zh-CN" altLang="en-US" sz="1200" b="1" dirty="0">
                <a:sym typeface="Symbol" panose="05050102010706020507" pitchFamily="18" charset="2"/>
              </a:rPr>
              <a:t></a:t>
            </a:r>
            <a:r>
              <a:rPr lang="en-US" altLang="zh-CN" sz="1200" b="1" i="1" dirty="0"/>
              <a:t>x</a:t>
            </a:r>
            <a:r>
              <a:rPr lang="zh-CN" altLang="en-US" sz="1200" b="1" dirty="0"/>
              <a:t>的辖域:</a:t>
            </a:r>
            <a:r>
              <a:rPr lang="en-US" altLang="zh-CN" sz="1200" b="1" dirty="0"/>
              <a:t>(</a:t>
            </a:r>
            <a:r>
              <a:rPr lang="en-US" altLang="zh-CN" sz="1200" b="1" i="1" dirty="0"/>
              <a:t>F</a:t>
            </a:r>
            <a:r>
              <a:rPr lang="en-US" altLang="zh-CN" sz="1200" b="1" dirty="0"/>
              <a:t>(</a:t>
            </a:r>
            <a:r>
              <a:rPr lang="en-US" altLang="zh-CN" sz="1200" b="1" i="1" dirty="0"/>
              <a:t>x</a:t>
            </a:r>
            <a:r>
              <a:rPr lang="en-US" altLang="zh-CN" sz="1200" b="1" dirty="0"/>
              <a:t>,</a:t>
            </a:r>
            <a:r>
              <a:rPr lang="en-US" altLang="zh-CN" sz="1200" b="1" i="1" dirty="0"/>
              <a:t>y</a:t>
            </a:r>
            <a:r>
              <a:rPr lang="en-US" altLang="zh-CN" sz="1200" b="1" dirty="0"/>
              <a:t>)</a:t>
            </a:r>
            <a:r>
              <a:rPr lang="en-US" altLang="zh-CN" sz="1200" b="1" dirty="0">
                <a:sym typeface="Symbol" panose="05050102010706020507" pitchFamily="18" charset="2"/>
              </a:rPr>
              <a:t></a:t>
            </a:r>
            <a:r>
              <a:rPr lang="zh-CN" altLang="en-US" sz="1200" b="1" dirty="0">
                <a:sym typeface="Symbol" panose="05050102010706020507" pitchFamily="18" charset="2"/>
              </a:rPr>
              <a:t></a:t>
            </a:r>
            <a:r>
              <a:rPr lang="en-US" altLang="zh-CN" sz="1200" b="1" i="1" dirty="0"/>
              <a:t>yG</a:t>
            </a:r>
            <a:r>
              <a:rPr lang="en-US" altLang="zh-CN" sz="1200" b="1" dirty="0"/>
              <a:t>(</a:t>
            </a:r>
            <a:r>
              <a:rPr lang="en-US" altLang="zh-CN" sz="1200" b="1" i="1" dirty="0"/>
              <a:t>x</a:t>
            </a:r>
            <a:r>
              <a:rPr lang="en-US" altLang="zh-CN" sz="1200" b="1" dirty="0"/>
              <a:t>,</a:t>
            </a:r>
            <a:r>
              <a:rPr lang="en-US" altLang="zh-CN" sz="1200" b="1" i="1" dirty="0"/>
              <a:t>y</a:t>
            </a:r>
            <a:r>
              <a:rPr lang="en-US" altLang="zh-CN" sz="1200" b="1" dirty="0"/>
              <a:t>,</a:t>
            </a:r>
            <a:r>
              <a:rPr lang="en-US" altLang="zh-CN" sz="1200" b="1" i="1" dirty="0"/>
              <a:t>z</a:t>
            </a:r>
            <a:r>
              <a:rPr lang="en-US" altLang="zh-CN" sz="1200" b="1" dirty="0"/>
              <a:t>))</a:t>
            </a:r>
            <a:r>
              <a:rPr lang="zh-CN" altLang="en-US" sz="1200" b="1" dirty="0"/>
              <a:t>， 指导变元为</a:t>
            </a:r>
            <a:r>
              <a:rPr lang="en-US" altLang="zh-CN" sz="1200" b="1" i="1" dirty="0"/>
              <a:t>x</a:t>
            </a:r>
          </a:p>
          <a:p>
            <a:pPr algn="just" eaLnBrk="1" hangingPunct="1">
              <a:buFontTx/>
              <a:buNone/>
            </a:pPr>
            <a:r>
              <a:rPr lang="zh-CN" altLang="en-US" sz="1200" b="1" dirty="0">
                <a:sym typeface="Symbol" panose="05050102010706020507" pitchFamily="18" charset="2"/>
              </a:rPr>
              <a:t> </a:t>
            </a:r>
            <a:r>
              <a:rPr lang="en-US" altLang="zh-CN" sz="1200" b="1" i="1" dirty="0"/>
              <a:t>y</a:t>
            </a:r>
            <a:r>
              <a:rPr lang="zh-CN" altLang="en-US" sz="1200" b="1" dirty="0"/>
              <a:t>的辖域:</a:t>
            </a:r>
            <a:r>
              <a:rPr lang="en-US" altLang="zh-CN" sz="1200" b="1" i="1" dirty="0"/>
              <a:t>G</a:t>
            </a:r>
            <a:r>
              <a:rPr lang="en-US" altLang="zh-CN" sz="1200" b="1" dirty="0"/>
              <a:t>(</a:t>
            </a:r>
            <a:r>
              <a:rPr lang="en-US" altLang="zh-CN" sz="1200" b="1" i="1" dirty="0"/>
              <a:t>x</a:t>
            </a:r>
            <a:r>
              <a:rPr lang="en-US" altLang="zh-CN" sz="1200" b="1" dirty="0"/>
              <a:t>,</a:t>
            </a:r>
            <a:r>
              <a:rPr lang="en-US" altLang="zh-CN" sz="1200" b="1" i="1" dirty="0"/>
              <a:t>y</a:t>
            </a:r>
            <a:r>
              <a:rPr lang="en-US" altLang="zh-CN" sz="1200" b="1" dirty="0"/>
              <a:t>,</a:t>
            </a:r>
            <a:r>
              <a:rPr lang="en-US" altLang="zh-CN" sz="1200" b="1" i="1" dirty="0"/>
              <a:t>z</a:t>
            </a:r>
            <a:r>
              <a:rPr lang="en-US" altLang="zh-CN" sz="1200" b="1" dirty="0"/>
              <a:t>)</a:t>
            </a:r>
            <a:r>
              <a:rPr lang="zh-CN" altLang="en-US" sz="1200" b="1" dirty="0"/>
              <a:t>， 指导变元为</a:t>
            </a:r>
            <a:r>
              <a:rPr lang="en-US" altLang="zh-CN" sz="1200" b="1" i="1" dirty="0"/>
              <a:t>y</a:t>
            </a:r>
          </a:p>
          <a:p>
            <a:pPr algn="just" eaLnBrk="1" hangingPunct="1">
              <a:buFontTx/>
              <a:buNone/>
            </a:pPr>
            <a:r>
              <a:rPr lang="en-US" altLang="zh-CN" sz="1200" b="1" dirty="0"/>
              <a:t> </a:t>
            </a:r>
            <a:r>
              <a:rPr lang="en-US" altLang="zh-CN" sz="1200" b="1" i="1" dirty="0"/>
              <a:t>x</a:t>
            </a:r>
            <a:r>
              <a:rPr lang="zh-CN" altLang="en-US" sz="1200" b="1" dirty="0"/>
              <a:t>的两次出现均为约束出现</a:t>
            </a:r>
          </a:p>
          <a:p>
            <a:pPr algn="just" eaLnBrk="1" hangingPunct="1">
              <a:buFontTx/>
              <a:buNone/>
            </a:pPr>
            <a:r>
              <a:rPr lang="zh-CN" altLang="en-US" sz="1200" b="1" dirty="0"/>
              <a:t> </a:t>
            </a:r>
            <a:r>
              <a:rPr lang="en-US" altLang="zh-CN" sz="1200" b="1" i="1" dirty="0"/>
              <a:t>y</a:t>
            </a:r>
            <a:r>
              <a:rPr lang="zh-CN" altLang="en-US" sz="1200" b="1" dirty="0"/>
              <a:t>的第一次出现为自由出现, 第二次出现为约束出现</a:t>
            </a:r>
          </a:p>
          <a:p>
            <a:pPr algn="just" eaLnBrk="1" hangingPunct="1">
              <a:buFontTx/>
              <a:buNone/>
            </a:pPr>
            <a:r>
              <a:rPr lang="en-US" altLang="zh-CN" sz="1200" b="1" i="1" dirty="0"/>
              <a:t>z</a:t>
            </a:r>
            <a:r>
              <a:rPr lang="zh-CN" altLang="en-US" sz="1200" b="1" dirty="0"/>
              <a:t>为自由出现. </a:t>
            </a: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200" b="1" dirty="0"/>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23</a:t>
            </a:fld>
            <a:endParaRPr lang="zh-CN" altLang="en-US"/>
          </a:p>
        </p:txBody>
      </p:sp>
    </p:spTree>
    <p:extLst>
      <p:ext uri="{BB962C8B-B14F-4D97-AF65-F5344CB8AC3E}">
        <p14:creationId xmlns:p14="http://schemas.microsoft.com/office/powerpoint/2010/main" val="387920392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1" dirty="0"/>
              <a:t>在</a:t>
            </a:r>
            <a:r>
              <a:rPr lang="zh-CN" altLang="en-US" sz="1200" b="1" dirty="0">
                <a:sym typeface="Symbol" panose="05050102010706020507" pitchFamily="18" charset="2"/>
              </a:rPr>
              <a:t></a:t>
            </a:r>
            <a:r>
              <a:rPr lang="en-US" altLang="zh-CN" sz="1200" b="1" i="1" dirty="0"/>
              <a:t>x</a:t>
            </a:r>
            <a:r>
              <a:rPr lang="zh-CN" altLang="en-US" sz="1200" b="1" dirty="0"/>
              <a:t>和</a:t>
            </a:r>
            <a:r>
              <a:rPr lang="zh-CN" altLang="en-US" sz="1200" b="1" dirty="0">
                <a:sym typeface="Symbol" panose="05050102010706020507" pitchFamily="18" charset="2"/>
              </a:rPr>
              <a:t></a:t>
            </a:r>
            <a:r>
              <a:rPr lang="en-US" altLang="zh-CN" sz="1200" b="1" i="1" dirty="0"/>
              <a:t>x</a:t>
            </a:r>
            <a:r>
              <a:rPr lang="zh-CN" altLang="en-US" sz="1200" b="1" dirty="0"/>
              <a:t>的</a:t>
            </a:r>
            <a:r>
              <a:rPr lang="zh-CN" altLang="en-US" sz="1200" b="1" dirty="0">
                <a:solidFill>
                  <a:srgbClr val="FF3300"/>
                </a:solidFill>
              </a:rPr>
              <a:t>辖域</a:t>
            </a:r>
            <a:r>
              <a:rPr lang="zh-CN" altLang="en-US" sz="1200" b="1" dirty="0"/>
              <a:t>中, </a:t>
            </a:r>
            <a:r>
              <a:rPr lang="en-US" altLang="zh-CN" sz="1200" b="1" i="1" dirty="0"/>
              <a:t>x</a:t>
            </a:r>
            <a:r>
              <a:rPr lang="zh-CN" altLang="en-US" sz="1200" b="1" dirty="0"/>
              <a:t>的所有出现称为</a:t>
            </a:r>
            <a:r>
              <a:rPr lang="zh-CN" altLang="en-US" sz="1200" b="1" dirty="0">
                <a:solidFill>
                  <a:srgbClr val="FF3300"/>
                </a:solidFill>
              </a:rPr>
              <a:t>约束出现</a:t>
            </a:r>
            <a:endParaRPr lang="en-US" altLang="zh-CN" sz="1200" b="1" dirty="0">
              <a:solidFill>
                <a:srgbClr val="FF3300"/>
              </a:solidFill>
            </a:endParaRPr>
          </a:p>
          <a:p>
            <a:pPr algn="just" eaLnBrk="1" hangingPunct="1">
              <a:buFontTx/>
              <a:buNone/>
            </a:pPr>
            <a:r>
              <a:rPr lang="zh-CN" altLang="en-US" sz="1200" b="1" dirty="0">
                <a:solidFill>
                  <a:srgbClr val="00B0F0"/>
                </a:solidFill>
              </a:rPr>
              <a:t>例：</a:t>
            </a:r>
            <a:r>
              <a:rPr lang="zh-CN" altLang="en-US" sz="1200" b="1" dirty="0"/>
              <a:t>公式 </a:t>
            </a:r>
            <a:r>
              <a:rPr lang="zh-CN" altLang="en-US" sz="1200" b="1" dirty="0">
                <a:sym typeface="Symbol" panose="05050102010706020507" pitchFamily="18" charset="2"/>
              </a:rPr>
              <a:t></a:t>
            </a:r>
            <a:r>
              <a:rPr lang="en-US" altLang="zh-CN" sz="1200" b="1" i="1" dirty="0"/>
              <a:t>x</a:t>
            </a:r>
            <a:r>
              <a:rPr lang="en-US" altLang="zh-CN" sz="1200" b="1" dirty="0"/>
              <a:t>(</a:t>
            </a:r>
            <a:r>
              <a:rPr lang="en-US" altLang="zh-CN" sz="1200" b="1" i="1" dirty="0"/>
              <a:t>F</a:t>
            </a:r>
            <a:r>
              <a:rPr lang="en-US" altLang="zh-CN" sz="1200" b="1" dirty="0"/>
              <a:t>(</a:t>
            </a:r>
            <a:r>
              <a:rPr lang="en-US" altLang="zh-CN" sz="1200" b="1" i="1" dirty="0"/>
              <a:t>x</a:t>
            </a:r>
            <a:r>
              <a:rPr lang="en-US" altLang="zh-CN" sz="1200" b="1" dirty="0"/>
              <a:t>)</a:t>
            </a:r>
            <a:r>
              <a:rPr lang="en-US" altLang="zh-CN" sz="1200" b="1" dirty="0">
                <a:sym typeface="Symbol" panose="05050102010706020507" pitchFamily="18" charset="2"/>
              </a:rPr>
              <a:t></a:t>
            </a:r>
            <a:r>
              <a:rPr lang="zh-CN" altLang="en-US" sz="1200" b="1" dirty="0">
                <a:sym typeface="Symbol" panose="05050102010706020507" pitchFamily="18" charset="2"/>
              </a:rPr>
              <a:t></a:t>
            </a:r>
            <a:r>
              <a:rPr lang="en-US" altLang="zh-CN" sz="1200" b="1" i="1" dirty="0"/>
              <a:t>xG</a:t>
            </a:r>
            <a:r>
              <a:rPr lang="en-US" altLang="zh-CN" sz="1200" b="1" dirty="0"/>
              <a:t>(</a:t>
            </a:r>
            <a:r>
              <a:rPr lang="en-US" altLang="zh-CN" sz="1200" b="1" i="1" dirty="0"/>
              <a:t>x</a:t>
            </a:r>
            <a:r>
              <a:rPr lang="en-US" altLang="zh-CN" sz="1200" b="1" dirty="0"/>
              <a:t>))</a:t>
            </a:r>
            <a:endParaRPr lang="zh-CN" altLang="en-US" sz="1200" b="1" dirty="0"/>
          </a:p>
          <a:p>
            <a:pPr algn="just" eaLnBrk="1" hangingPunct="1">
              <a:buFontTx/>
              <a:buNone/>
            </a:pPr>
            <a:r>
              <a:rPr lang="zh-CN" altLang="en-US" sz="1200" b="1" dirty="0">
                <a:sym typeface="Symbol" panose="05050102010706020507" pitchFamily="18" charset="2"/>
              </a:rPr>
              <a:t></a:t>
            </a:r>
            <a:r>
              <a:rPr lang="en-US" altLang="zh-CN" sz="1200" b="1" i="1" dirty="0"/>
              <a:t>x</a:t>
            </a:r>
            <a:r>
              <a:rPr lang="zh-CN" altLang="en-US" sz="1200" b="1" dirty="0"/>
              <a:t>的辖域:</a:t>
            </a:r>
            <a:r>
              <a:rPr lang="en-US" altLang="zh-CN" sz="1200" b="1" dirty="0"/>
              <a:t>(</a:t>
            </a:r>
            <a:r>
              <a:rPr lang="en-US" altLang="zh-CN" sz="1200" b="1" i="1" dirty="0"/>
              <a:t>F</a:t>
            </a:r>
            <a:r>
              <a:rPr lang="en-US" altLang="zh-CN" sz="1200" b="1" dirty="0"/>
              <a:t>(</a:t>
            </a:r>
            <a:r>
              <a:rPr lang="en-US" altLang="zh-CN" sz="1200" b="1" i="1" dirty="0"/>
              <a:t>x</a:t>
            </a:r>
            <a:r>
              <a:rPr lang="en-US" altLang="zh-CN" sz="1200" b="1" dirty="0"/>
              <a:t>)</a:t>
            </a:r>
            <a:r>
              <a:rPr lang="en-US" altLang="zh-CN" sz="1200" b="1" dirty="0">
                <a:sym typeface="Symbol" panose="05050102010706020507" pitchFamily="18" charset="2"/>
              </a:rPr>
              <a:t></a:t>
            </a:r>
            <a:r>
              <a:rPr lang="zh-CN" altLang="en-US" sz="1200" b="1" dirty="0">
                <a:sym typeface="Symbol" panose="05050102010706020507" pitchFamily="18" charset="2"/>
              </a:rPr>
              <a:t></a:t>
            </a:r>
            <a:r>
              <a:rPr lang="en-US" altLang="zh-CN" sz="1200" b="1" i="1" dirty="0"/>
              <a:t>xG</a:t>
            </a:r>
            <a:r>
              <a:rPr lang="en-US" altLang="zh-CN" sz="1200" b="1" dirty="0"/>
              <a:t>(</a:t>
            </a:r>
            <a:r>
              <a:rPr lang="en-US" altLang="zh-CN" sz="1200" b="1" i="1" dirty="0"/>
              <a:t>x</a:t>
            </a:r>
            <a:r>
              <a:rPr lang="en-US" altLang="zh-CN" sz="1200" b="1" dirty="0"/>
              <a:t>))</a:t>
            </a:r>
            <a:r>
              <a:rPr lang="zh-CN" altLang="en-US" sz="1200" b="1" dirty="0"/>
              <a:t>， 指导变元为</a:t>
            </a:r>
            <a:r>
              <a:rPr lang="en-US" altLang="zh-CN" sz="1200" b="1" i="1" dirty="0"/>
              <a:t>x</a:t>
            </a:r>
          </a:p>
          <a:p>
            <a:pPr algn="just" eaLnBrk="1" hangingPunct="1">
              <a:buFontTx/>
              <a:buNone/>
            </a:pPr>
            <a:r>
              <a:rPr lang="zh-CN" altLang="en-US" sz="1200" b="1" dirty="0">
                <a:sym typeface="Symbol" panose="05050102010706020507" pitchFamily="18" charset="2"/>
              </a:rPr>
              <a:t></a:t>
            </a:r>
            <a:r>
              <a:rPr lang="en-US" altLang="zh-CN" sz="1200" b="1" i="1" dirty="0"/>
              <a:t>x</a:t>
            </a:r>
            <a:r>
              <a:rPr lang="zh-CN" altLang="en-US" sz="1200" b="1" dirty="0"/>
              <a:t>的辖域:</a:t>
            </a:r>
            <a:r>
              <a:rPr lang="en-US" altLang="zh-CN" sz="1200" b="1" i="1" dirty="0"/>
              <a:t>G</a:t>
            </a:r>
            <a:r>
              <a:rPr lang="en-US" altLang="zh-CN" sz="1200" b="1" dirty="0"/>
              <a:t>(</a:t>
            </a:r>
            <a:r>
              <a:rPr lang="en-US" altLang="zh-CN" sz="1200" b="1" i="1" dirty="0"/>
              <a:t>x</a:t>
            </a:r>
            <a:r>
              <a:rPr lang="en-US" altLang="zh-CN" sz="1200" b="1" dirty="0"/>
              <a:t>)</a:t>
            </a:r>
            <a:r>
              <a:rPr lang="zh-CN" altLang="en-US" sz="1200" b="1" dirty="0"/>
              <a:t>， 指导变元为</a:t>
            </a:r>
            <a:r>
              <a:rPr lang="en-US" altLang="zh-CN" sz="1200" b="1" i="1" dirty="0"/>
              <a:t>x</a:t>
            </a:r>
          </a:p>
          <a:p>
            <a:pPr algn="just" eaLnBrk="1" hangingPunct="1">
              <a:buFontTx/>
              <a:buNone/>
            </a:pPr>
            <a:r>
              <a:rPr lang="en-US" altLang="zh-CN" sz="1200" b="1" i="1" dirty="0"/>
              <a:t>x</a:t>
            </a:r>
            <a:r>
              <a:rPr lang="zh-CN" altLang="en-US" sz="1200" b="1" dirty="0"/>
              <a:t>的两次出现均为约束出现. 但是, 第一次出现的</a:t>
            </a:r>
            <a:r>
              <a:rPr lang="en-US" altLang="zh-CN" sz="1200" b="1" i="1" dirty="0"/>
              <a:t>x</a:t>
            </a:r>
            <a:r>
              <a:rPr lang="zh-CN" altLang="en-US" sz="1200" b="1" dirty="0"/>
              <a:t>是</a:t>
            </a:r>
            <a:r>
              <a:rPr lang="zh-CN" altLang="en-US" sz="1200" b="1" dirty="0">
                <a:sym typeface="Symbol" panose="05050102010706020507" pitchFamily="18" charset="2"/>
              </a:rPr>
              <a:t></a:t>
            </a:r>
            <a:r>
              <a:rPr lang="en-US" altLang="zh-CN" sz="1200" b="1" i="1" dirty="0"/>
              <a:t>x</a:t>
            </a:r>
            <a:r>
              <a:rPr lang="zh-CN" altLang="en-US" sz="1200" b="1" dirty="0"/>
              <a:t>中</a:t>
            </a:r>
          </a:p>
          <a:p>
            <a:pPr algn="just" eaLnBrk="1" hangingPunct="1">
              <a:buFontTx/>
              <a:buNone/>
            </a:pPr>
            <a:r>
              <a:rPr lang="zh-CN" altLang="en-US" sz="1200" b="1" dirty="0"/>
              <a:t>的</a:t>
            </a:r>
            <a:r>
              <a:rPr lang="en-US" altLang="zh-CN" sz="1200" b="1" i="1" dirty="0"/>
              <a:t>x,</a:t>
            </a:r>
            <a:r>
              <a:rPr lang="en-US" altLang="zh-CN" sz="1200" b="1" dirty="0"/>
              <a:t> </a:t>
            </a:r>
            <a:r>
              <a:rPr lang="zh-CN" altLang="en-US" sz="1200" b="1" dirty="0"/>
              <a:t>第二次出现的</a:t>
            </a:r>
            <a:r>
              <a:rPr lang="en-US" altLang="zh-CN" sz="1200" b="1" i="1" dirty="0"/>
              <a:t>x</a:t>
            </a:r>
            <a:r>
              <a:rPr lang="zh-CN" altLang="en-US" sz="1200" b="1" dirty="0"/>
              <a:t>是</a:t>
            </a:r>
            <a:r>
              <a:rPr lang="zh-CN" altLang="en-US" sz="1200" b="1" dirty="0">
                <a:sym typeface="Symbol" panose="05050102010706020507" pitchFamily="18" charset="2"/>
              </a:rPr>
              <a:t></a:t>
            </a:r>
            <a:r>
              <a:rPr lang="en-US" altLang="zh-CN" sz="1200" b="1" i="1" dirty="0"/>
              <a:t>x</a:t>
            </a:r>
            <a:r>
              <a:rPr lang="zh-CN" altLang="en-US" sz="1200" b="1" dirty="0"/>
              <a:t>中的</a:t>
            </a:r>
            <a:r>
              <a:rPr lang="en-US" altLang="zh-CN" sz="1200" b="1" i="1" dirty="0"/>
              <a:t>x</a:t>
            </a:r>
            <a:r>
              <a:rPr lang="zh-CN" altLang="en-US" sz="1200" b="1" dirty="0"/>
              <a:t>. </a:t>
            </a:r>
          </a:p>
          <a:p>
            <a:pPr eaLnBrk="1" hangingPunct="1">
              <a:buFontTx/>
              <a:buNone/>
            </a:pPr>
            <a:endParaRPr lang="zh-CN" altLang="en-US" sz="1200" b="1" dirty="0"/>
          </a:p>
          <a:p>
            <a:pPr eaLnBrk="1" hangingPunct="1">
              <a:buFontTx/>
              <a:buNone/>
            </a:pPr>
            <a:r>
              <a:rPr lang="zh-CN" altLang="en-US" sz="1200" b="1" dirty="0">
                <a:solidFill>
                  <a:srgbClr val="FF3300"/>
                </a:solidFill>
              </a:rPr>
              <a:t>闭式</a:t>
            </a:r>
            <a:r>
              <a:rPr lang="zh-CN" altLang="en-US" sz="1200" b="1" dirty="0"/>
              <a:t>: 不含自由出现的个体变项的公式是封闭的合式公式，简称闭式.</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24</a:t>
            </a:fld>
            <a:endParaRPr lang="zh-CN" altLang="en-US"/>
          </a:p>
        </p:txBody>
      </p:sp>
    </p:spTree>
    <p:extLst>
      <p:ext uri="{BB962C8B-B14F-4D97-AF65-F5344CB8AC3E}">
        <p14:creationId xmlns:p14="http://schemas.microsoft.com/office/powerpoint/2010/main" val="172079049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r>
              <a:rPr lang="zh-CN" altLang="zh-CN" sz="1800" kern="100" dirty="0">
                <a:effectLst/>
                <a:highlight>
                  <a:srgbClr val="FFFF00"/>
                </a:highlight>
                <a:latin typeface="等线" panose="02010600030101010101" pitchFamily="2" charset="-122"/>
                <a:ea typeface="等线" panose="02010600030101010101" pitchFamily="2" charset="-122"/>
                <a:cs typeface="Times New Roman" panose="02020603050405020304" pitchFamily="18" charset="0"/>
              </a:rPr>
              <a:t>公式</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提供了一个逻辑表达式的框架。</a:t>
            </a:r>
          </a:p>
          <a:p>
            <a:pPr algn="just"/>
            <a:r>
              <a:rPr lang="zh-CN" altLang="zh-CN" sz="1800" kern="100" dirty="0">
                <a:effectLst/>
                <a:highlight>
                  <a:srgbClr val="FFFF00"/>
                </a:highlight>
                <a:latin typeface="等线" panose="02010600030101010101" pitchFamily="2" charset="-122"/>
                <a:ea typeface="等线" panose="02010600030101010101" pitchFamily="2" charset="-122"/>
                <a:cs typeface="Times New Roman" panose="02020603050405020304" pitchFamily="18" charset="0"/>
              </a:rPr>
              <a:t>解释</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给这个框架赋予具体的意义。</a:t>
            </a:r>
          </a:p>
          <a:p>
            <a:pPr algn="just"/>
            <a:r>
              <a:rPr lang="zh-CN" altLang="zh-CN" sz="1800" kern="100" dirty="0">
                <a:effectLst/>
                <a:highlight>
                  <a:srgbClr val="FFFF00"/>
                </a:highlight>
                <a:latin typeface="等线" panose="02010600030101010101" pitchFamily="2" charset="-122"/>
                <a:ea typeface="等线" panose="02010600030101010101" pitchFamily="2" charset="-122"/>
                <a:cs typeface="Times New Roman" panose="02020603050405020304" pitchFamily="18" charset="0"/>
              </a:rPr>
              <a:t>赋值</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为公式中的自由变量指定值，使得我们可以评估公式在特定情况下的真值。</a:t>
            </a:r>
          </a:p>
          <a:p>
            <a:pPr algn="just"/>
            <a:r>
              <a:rPr lang="zh-CN" altLang="zh-CN" sz="1800" kern="100" dirty="0">
                <a:effectLst/>
                <a:highlight>
                  <a:srgbClr val="FFFF00"/>
                </a:highlight>
                <a:latin typeface="等线" panose="02010600030101010101" pitchFamily="2" charset="-122"/>
                <a:ea typeface="等线" panose="02010600030101010101" pitchFamily="2" charset="-122"/>
                <a:cs typeface="Times New Roman" panose="02020603050405020304" pitchFamily="18" charset="0"/>
              </a:rPr>
              <a:t>量化消除了自由变量</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，使得公式的真值不再依赖于具体的赋值，而是取决于所有可能赋值的整体情况。</a:t>
            </a:r>
            <a:r>
              <a:rPr lang="zh-CN" altLang="en-US" sz="1800" b="1" dirty="0">
                <a:sym typeface="Symbol" panose="05050102010706020507" pitchFamily="18" charset="2"/>
              </a:rPr>
              <a:t></a:t>
            </a:r>
            <a:endPar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endParaRPr lang="en-US" altLang="zh-CN" sz="1800" b="1" kern="100" dirty="0">
              <a:effectLst/>
              <a:latin typeface="等线" panose="02010600030101010101" pitchFamily="2" charset="-122"/>
              <a:ea typeface="等线" panose="02010600030101010101" pitchFamily="2" charset="-122"/>
              <a:cs typeface="Times New Roman" panose="02020603050405020304" pitchFamily="18" charset="0"/>
              <a:sym typeface="Symbol" panose="05050102010706020507" pitchFamily="18" charset="2"/>
            </a:endParaRPr>
          </a:p>
          <a:p>
            <a:pPr marL="0" indent="0" algn="just">
              <a:buNone/>
            </a:pPr>
            <a:r>
              <a:rPr lang="zh-CN" altLang="zh-CN" sz="2800" b="1" dirty="0"/>
              <a:t>公式</a:t>
            </a:r>
            <a:r>
              <a:rPr lang="zh-CN" altLang="zh-CN" sz="2800" b="1" dirty="0">
                <a:effectLst/>
                <a:ea typeface="等线" panose="02010600030101010101" pitchFamily="2" charset="-122"/>
                <a:cs typeface="Times New Roman" panose="02020603050405020304" pitchFamily="18" charset="0"/>
              </a:rPr>
              <a:t>（</a:t>
            </a:r>
            <a:r>
              <a:rPr lang="en-US" altLang="zh-CN" sz="2800" b="1" dirty="0">
                <a:effectLst/>
                <a:ea typeface="等线" panose="02010600030101010101" pitchFamily="2" charset="-122"/>
                <a:cs typeface="Times New Roman" panose="02020603050405020304" pitchFamily="18" charset="0"/>
              </a:rPr>
              <a:t>Formula</a:t>
            </a:r>
            <a:r>
              <a:rPr lang="zh-CN" altLang="zh-CN" sz="2800" b="1" dirty="0">
                <a:effectLst/>
                <a:ea typeface="等线" panose="02010600030101010101" pitchFamily="2" charset="-122"/>
                <a:cs typeface="Times New Roman" panose="02020603050405020304" pitchFamily="18" charset="0"/>
              </a:rPr>
              <a:t>）</a:t>
            </a:r>
            <a:r>
              <a:rPr lang="zh-CN" altLang="en-US" sz="2800" b="1" dirty="0"/>
              <a:t>仅仅是</a:t>
            </a:r>
            <a:r>
              <a:rPr lang="zh-CN" altLang="zh-CN" sz="2800" b="1" dirty="0"/>
              <a:t>逻辑表达式的框架</a:t>
            </a:r>
            <a:r>
              <a:rPr lang="zh-CN" altLang="en-US" sz="2800" b="1" dirty="0"/>
              <a:t>，</a:t>
            </a:r>
            <a:r>
              <a:rPr lang="zh-CN" altLang="zh-CN" sz="2800" b="1" dirty="0"/>
              <a:t>对</a:t>
            </a:r>
            <a:r>
              <a:rPr lang="zh-CN" altLang="en-US" sz="2800" b="1" dirty="0"/>
              <a:t>其</a:t>
            </a:r>
            <a:r>
              <a:rPr lang="zh-CN" altLang="zh-CN" sz="2800" b="1" dirty="0"/>
              <a:t>进行真值评估</a:t>
            </a:r>
            <a:r>
              <a:rPr lang="zh-CN" altLang="en-US" sz="2800" b="1" dirty="0"/>
              <a:t>需要完成如下工作：</a:t>
            </a:r>
            <a:endParaRPr lang="en-US" altLang="zh-CN" sz="2800" b="1" dirty="0"/>
          </a:p>
          <a:p>
            <a:pPr algn="just">
              <a:buFont typeface="Wingdings" panose="05000000000000000000" pitchFamily="2" charset="2"/>
              <a:buChar char="l"/>
            </a:pPr>
            <a:r>
              <a:rPr lang="zh-CN" altLang="zh-CN" sz="2800" b="1" dirty="0"/>
              <a:t>解释</a:t>
            </a:r>
            <a:r>
              <a:rPr lang="zh-CN" altLang="zh-CN" sz="2800" b="1" dirty="0">
                <a:ea typeface="等线" panose="02010600030101010101" pitchFamily="2" charset="-122"/>
                <a:cs typeface="Times New Roman" panose="02020603050405020304" pitchFamily="18" charset="0"/>
              </a:rPr>
              <a:t>（</a:t>
            </a:r>
            <a:r>
              <a:rPr lang="en-US" altLang="zh-CN" sz="2800" b="1" dirty="0">
                <a:ea typeface="等线" panose="02010600030101010101" pitchFamily="2" charset="-122"/>
                <a:cs typeface="Times New Roman" panose="02020603050405020304" pitchFamily="18" charset="0"/>
              </a:rPr>
              <a:t>Interpretation</a:t>
            </a:r>
            <a:r>
              <a:rPr lang="zh-CN" altLang="zh-CN" sz="2800" b="1" dirty="0">
                <a:ea typeface="等线" panose="02010600030101010101" pitchFamily="2" charset="-122"/>
                <a:cs typeface="Times New Roman" panose="02020603050405020304" pitchFamily="18" charset="0"/>
              </a:rPr>
              <a:t>）</a:t>
            </a:r>
            <a:r>
              <a:rPr lang="zh-CN" altLang="zh-CN" sz="2800" b="1" dirty="0"/>
              <a:t>给这个框架赋予具体的意</a:t>
            </a:r>
            <a:r>
              <a:rPr lang="zh-CN" altLang="en-US" sz="2800" b="1" dirty="0"/>
              <a:t>（语）</a:t>
            </a:r>
            <a:r>
              <a:rPr lang="zh-CN" altLang="zh-CN" sz="2800" b="1" dirty="0"/>
              <a:t>义</a:t>
            </a:r>
          </a:p>
          <a:p>
            <a:pPr algn="just">
              <a:buFont typeface="Wingdings" panose="05000000000000000000" pitchFamily="2" charset="2"/>
              <a:buChar char="l"/>
            </a:pPr>
            <a:r>
              <a:rPr lang="zh-CN" altLang="zh-CN" sz="2800" b="1" dirty="0"/>
              <a:t>赋值</a:t>
            </a:r>
            <a:r>
              <a:rPr lang="zh-CN" altLang="zh-CN" sz="2800" b="1" dirty="0">
                <a:ea typeface="等线" panose="02010600030101010101" pitchFamily="2" charset="-122"/>
                <a:cs typeface="Times New Roman" panose="02020603050405020304" pitchFamily="18" charset="0"/>
              </a:rPr>
              <a:t>（</a:t>
            </a:r>
            <a:r>
              <a:rPr lang="en-US" altLang="zh-CN" sz="2800" b="1" dirty="0">
                <a:ea typeface="等线" panose="02010600030101010101" pitchFamily="2" charset="-122"/>
                <a:cs typeface="Times New Roman" panose="02020603050405020304" pitchFamily="18" charset="0"/>
              </a:rPr>
              <a:t>Assignment</a:t>
            </a:r>
            <a:r>
              <a:rPr lang="zh-CN" altLang="zh-CN" sz="2800" b="1" dirty="0">
                <a:ea typeface="等线" panose="02010600030101010101" pitchFamily="2" charset="-122"/>
                <a:cs typeface="Times New Roman" panose="02020603050405020304" pitchFamily="18" charset="0"/>
              </a:rPr>
              <a:t>）</a:t>
            </a:r>
            <a:r>
              <a:rPr lang="zh-CN" altLang="en-US" sz="2800" b="1" dirty="0"/>
              <a:t>是</a:t>
            </a:r>
            <a:r>
              <a:rPr lang="zh-CN" altLang="zh-CN" sz="2800" b="1" dirty="0"/>
              <a:t>在给定的解释下为公式中的自由变量指定值</a:t>
            </a:r>
          </a:p>
          <a:p>
            <a:pPr algn="just">
              <a:buFont typeface="Wingdings" panose="05000000000000000000" pitchFamily="2" charset="2"/>
              <a:buChar char="l"/>
            </a:pPr>
            <a:r>
              <a:rPr lang="zh-CN" altLang="zh-CN" sz="2800" b="1" dirty="0"/>
              <a:t>量化</a:t>
            </a:r>
            <a:r>
              <a:rPr lang="zh-CN" altLang="zh-CN" sz="2800" b="1" dirty="0">
                <a:ea typeface="等线" panose="02010600030101010101" pitchFamily="2" charset="-122"/>
                <a:cs typeface="Times New Roman" panose="02020603050405020304" pitchFamily="18" charset="0"/>
              </a:rPr>
              <a:t>（</a:t>
            </a:r>
            <a:r>
              <a:rPr lang="en-US" altLang="zh-CN" sz="2800" b="1" dirty="0">
                <a:ea typeface="等线" panose="02010600030101010101" pitchFamily="2" charset="-122"/>
                <a:cs typeface="Times New Roman" panose="02020603050405020304" pitchFamily="18" charset="0"/>
              </a:rPr>
              <a:t>Quantification</a:t>
            </a:r>
            <a:r>
              <a:rPr lang="zh-CN" altLang="zh-CN" sz="2800" b="1" dirty="0">
                <a:ea typeface="等线" panose="02010600030101010101" pitchFamily="2" charset="-122"/>
                <a:cs typeface="Times New Roman" panose="02020603050405020304" pitchFamily="18" charset="0"/>
              </a:rPr>
              <a:t>）</a:t>
            </a:r>
            <a:r>
              <a:rPr lang="zh-CN" altLang="en-US" sz="2800" b="1" dirty="0"/>
              <a:t>可以</a:t>
            </a:r>
            <a:r>
              <a:rPr lang="zh-CN" altLang="zh-CN" sz="2800" b="1" dirty="0"/>
              <a:t>消除了自由变量，使公式的真值不再依赖于具体的赋值，而是取决于所有可能赋值的整体情况。</a:t>
            </a:r>
            <a:endParaRPr lang="en-US" altLang="zh-CN" sz="2800" b="1" dirty="0"/>
          </a:p>
          <a:p>
            <a:pPr eaLnBrk="1" hangingPunct="1">
              <a:buFontTx/>
              <a:buNone/>
            </a:pPr>
            <a:r>
              <a:rPr lang="zh-CN" altLang="en-US" sz="2800" b="1" dirty="0"/>
              <a:t>  上述工作通常包含：①指定域；②为每个常量指定域中的元素；③为每个谓词符号提供指定域中的关系；④为每个函数符号指定一个实际的函数；⑤在特定解释下对公式中自由变量的具体取值。</a:t>
            </a:r>
          </a:p>
          <a:p>
            <a:pPr algn="just"/>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25</a:t>
            </a:fld>
            <a:endParaRPr lang="zh-CN" altLang="en-US"/>
          </a:p>
        </p:txBody>
      </p:sp>
    </p:spTree>
    <p:extLst>
      <p:ext uri="{BB962C8B-B14F-4D97-AF65-F5344CB8AC3E}">
        <p14:creationId xmlns:p14="http://schemas.microsoft.com/office/powerpoint/2010/main" val="325004873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r>
              <a:rPr lang="zh-CN" altLang="zh-CN" sz="1800" kern="100" dirty="0">
                <a:effectLst/>
                <a:highlight>
                  <a:srgbClr val="FFFF00"/>
                </a:highlight>
                <a:latin typeface="等线" panose="02010600030101010101" pitchFamily="2" charset="-122"/>
                <a:ea typeface="等线" panose="02010600030101010101" pitchFamily="2" charset="-122"/>
                <a:cs typeface="Times New Roman" panose="02020603050405020304" pitchFamily="18" charset="0"/>
              </a:rPr>
              <a:t>公式</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提供了一个逻辑表达式的框架。</a:t>
            </a:r>
          </a:p>
          <a:p>
            <a:pPr algn="just"/>
            <a:r>
              <a:rPr lang="zh-CN" altLang="zh-CN" sz="1800" kern="100" dirty="0">
                <a:effectLst/>
                <a:highlight>
                  <a:srgbClr val="FFFF00"/>
                </a:highlight>
                <a:latin typeface="等线" panose="02010600030101010101" pitchFamily="2" charset="-122"/>
                <a:ea typeface="等线" panose="02010600030101010101" pitchFamily="2" charset="-122"/>
                <a:cs typeface="Times New Roman" panose="02020603050405020304" pitchFamily="18" charset="0"/>
              </a:rPr>
              <a:t>解释</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给这个框架赋予具体的意义。</a:t>
            </a:r>
          </a:p>
          <a:p>
            <a:pPr algn="just"/>
            <a:r>
              <a:rPr lang="zh-CN" altLang="zh-CN" sz="1800" kern="100" dirty="0">
                <a:effectLst/>
                <a:highlight>
                  <a:srgbClr val="FFFF00"/>
                </a:highlight>
                <a:latin typeface="等线" panose="02010600030101010101" pitchFamily="2" charset="-122"/>
                <a:ea typeface="等线" panose="02010600030101010101" pitchFamily="2" charset="-122"/>
                <a:cs typeface="Times New Roman" panose="02020603050405020304" pitchFamily="18" charset="0"/>
              </a:rPr>
              <a:t>赋值</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为公式中的自由变量指定值，使得我们可以评估公式在特定情况下的真值。</a:t>
            </a:r>
          </a:p>
          <a:p>
            <a:pPr algn="just"/>
            <a:r>
              <a:rPr lang="zh-CN" altLang="zh-CN" sz="1800" kern="100" dirty="0">
                <a:effectLst/>
                <a:highlight>
                  <a:srgbClr val="FFFF00"/>
                </a:highlight>
                <a:latin typeface="等线" panose="02010600030101010101" pitchFamily="2" charset="-122"/>
                <a:ea typeface="等线" panose="02010600030101010101" pitchFamily="2" charset="-122"/>
                <a:cs typeface="Times New Roman" panose="02020603050405020304" pitchFamily="18" charset="0"/>
              </a:rPr>
              <a:t>量化消除了自由变量</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，使得公式的真值不再依赖于具体的赋值，而是取决于所有可能赋值的整体情况。</a:t>
            </a:r>
          </a:p>
          <a:p>
            <a:pPr>
              <a:buNone/>
            </a:pPr>
            <a:r>
              <a:rPr lang="zh-CN" altLang="en-US" sz="1200" b="1" dirty="0">
                <a:solidFill>
                  <a:srgbClr val="00B0F0"/>
                </a:solidFill>
              </a:rPr>
              <a:t>例：</a:t>
            </a:r>
            <a:r>
              <a:rPr lang="zh-CN" altLang="en-US" sz="1200" b="1" dirty="0"/>
              <a:t>公式</a:t>
            </a:r>
            <a:r>
              <a:rPr lang="zh-CN" altLang="en-US" sz="1200" b="1" dirty="0">
                <a:sym typeface="Symbol" panose="05050102010706020507" pitchFamily="18" charset="2"/>
              </a:rPr>
              <a:t></a:t>
            </a:r>
            <a:r>
              <a:rPr lang="en-US" altLang="zh-CN" sz="1200" b="1" i="1" dirty="0"/>
              <a:t>x</a:t>
            </a:r>
            <a:r>
              <a:rPr lang="en-US" altLang="zh-CN" sz="1200" b="1" dirty="0"/>
              <a:t>(</a:t>
            </a:r>
            <a:r>
              <a:rPr lang="en-US" altLang="zh-CN" sz="1200" b="1" i="1" dirty="0"/>
              <a:t>F</a:t>
            </a:r>
            <a:r>
              <a:rPr lang="en-US" altLang="zh-CN" sz="1200" b="1" dirty="0"/>
              <a:t>(</a:t>
            </a:r>
            <a:r>
              <a:rPr lang="en-US" altLang="zh-CN" sz="1200" b="1" i="1" dirty="0"/>
              <a:t>x</a:t>
            </a:r>
            <a:r>
              <a:rPr lang="en-US" altLang="zh-CN" sz="1200" b="1" dirty="0"/>
              <a:t>)</a:t>
            </a:r>
            <a:r>
              <a:rPr lang="en-US" altLang="zh-CN" sz="1200" b="1" dirty="0">
                <a:sym typeface="Symbol" panose="05050102010706020507" pitchFamily="18" charset="2"/>
              </a:rPr>
              <a:t></a:t>
            </a:r>
            <a:r>
              <a:rPr lang="en-US" altLang="zh-CN" sz="1200" b="1" i="1" dirty="0"/>
              <a:t>G</a:t>
            </a:r>
            <a:r>
              <a:rPr lang="en-US" altLang="zh-CN" sz="1200" b="1" dirty="0"/>
              <a:t>(</a:t>
            </a:r>
            <a:r>
              <a:rPr lang="en-US" altLang="zh-CN" sz="1200" b="1" i="1" dirty="0"/>
              <a:t>x</a:t>
            </a:r>
            <a:r>
              <a:rPr lang="en-US" altLang="zh-CN" sz="1200" b="1" dirty="0"/>
              <a:t>))</a:t>
            </a:r>
          </a:p>
          <a:p>
            <a:pPr eaLnBrk="1" hangingPunct="1">
              <a:buFontTx/>
              <a:buNone/>
            </a:pPr>
            <a:r>
              <a:rPr lang="zh-CN" altLang="en-US" sz="1200" b="1" dirty="0"/>
              <a:t>指定1  个体域:全总个体域, </a:t>
            </a:r>
            <a:r>
              <a:rPr lang="en-US" altLang="zh-CN" sz="1200" b="1" i="1" dirty="0"/>
              <a:t>F</a:t>
            </a:r>
            <a:r>
              <a:rPr lang="en-US" altLang="zh-CN" sz="1200" b="1" dirty="0"/>
              <a:t>(</a:t>
            </a:r>
            <a:r>
              <a:rPr lang="en-US" altLang="zh-CN" sz="1200" b="1" i="1" dirty="0"/>
              <a:t>x</a:t>
            </a:r>
            <a:r>
              <a:rPr lang="en-US" altLang="zh-CN" sz="1200" b="1" dirty="0"/>
              <a:t>): </a:t>
            </a:r>
            <a:r>
              <a:rPr lang="en-US" altLang="zh-CN" sz="1200" b="1" i="1" dirty="0"/>
              <a:t>x</a:t>
            </a:r>
            <a:r>
              <a:rPr lang="zh-CN" altLang="en-US" sz="1200" b="1" dirty="0"/>
              <a:t>是人, </a:t>
            </a:r>
            <a:r>
              <a:rPr lang="en-US" altLang="zh-CN" sz="1200" b="1" i="1" dirty="0"/>
              <a:t>G</a:t>
            </a:r>
            <a:r>
              <a:rPr lang="en-US" altLang="zh-CN" sz="1200" b="1" dirty="0"/>
              <a:t>(</a:t>
            </a:r>
            <a:r>
              <a:rPr lang="en-US" altLang="zh-CN" sz="1200" b="1" i="1" dirty="0"/>
              <a:t>x</a:t>
            </a:r>
            <a:r>
              <a:rPr lang="en-US" altLang="zh-CN" sz="1200" b="1" dirty="0"/>
              <a:t>): </a:t>
            </a:r>
            <a:r>
              <a:rPr lang="en-US" altLang="zh-CN" sz="1200" b="1" i="1" dirty="0"/>
              <a:t>x</a:t>
            </a:r>
            <a:r>
              <a:rPr lang="zh-CN" altLang="en-US" sz="1200" b="1" dirty="0"/>
              <a:t>是黄种人</a:t>
            </a:r>
          </a:p>
          <a:p>
            <a:pPr eaLnBrk="1" hangingPunct="1">
              <a:buFontTx/>
              <a:buNone/>
            </a:pPr>
            <a:r>
              <a:rPr lang="zh-CN" altLang="en-US" sz="1200" b="1" dirty="0"/>
              <a:t>             假命题</a:t>
            </a:r>
          </a:p>
          <a:p>
            <a:pPr eaLnBrk="1" hangingPunct="1">
              <a:buFontTx/>
              <a:buNone/>
            </a:pPr>
            <a:r>
              <a:rPr lang="zh-CN" altLang="en-US" sz="1200" b="1" dirty="0"/>
              <a:t>指定2  个体域:实数集, </a:t>
            </a:r>
            <a:r>
              <a:rPr lang="en-US" altLang="zh-CN" sz="1200" b="1" i="1" dirty="0"/>
              <a:t>F</a:t>
            </a:r>
            <a:r>
              <a:rPr lang="en-US" altLang="zh-CN" sz="1200" b="1" dirty="0"/>
              <a:t>(</a:t>
            </a:r>
            <a:r>
              <a:rPr lang="en-US" altLang="zh-CN" sz="1200" b="1" i="1" dirty="0"/>
              <a:t>x</a:t>
            </a:r>
            <a:r>
              <a:rPr lang="en-US" altLang="zh-CN" sz="1200" b="1" dirty="0"/>
              <a:t>): </a:t>
            </a:r>
            <a:r>
              <a:rPr lang="en-US" altLang="zh-CN" sz="1200" b="1" i="1" dirty="0"/>
              <a:t>x&gt;</a:t>
            </a:r>
            <a:r>
              <a:rPr lang="en-US" altLang="zh-CN" sz="1200" b="1" dirty="0"/>
              <a:t>10</a:t>
            </a:r>
            <a:r>
              <a:rPr lang="zh-CN" altLang="en-US" sz="1200" b="1" dirty="0"/>
              <a:t>, </a:t>
            </a:r>
            <a:r>
              <a:rPr lang="en-US" altLang="zh-CN" sz="1200" b="1" i="1" dirty="0"/>
              <a:t>G</a:t>
            </a:r>
            <a:r>
              <a:rPr lang="en-US" altLang="zh-CN" sz="1200" b="1" dirty="0"/>
              <a:t>(</a:t>
            </a:r>
            <a:r>
              <a:rPr lang="en-US" altLang="zh-CN" sz="1200" b="1" i="1" dirty="0"/>
              <a:t>x</a:t>
            </a:r>
            <a:r>
              <a:rPr lang="en-US" altLang="zh-CN" sz="1200" b="1" dirty="0"/>
              <a:t>): </a:t>
            </a:r>
            <a:r>
              <a:rPr lang="en-US" altLang="zh-CN" sz="1200" b="1" i="1" dirty="0"/>
              <a:t>x</a:t>
            </a:r>
            <a:r>
              <a:rPr lang="zh-CN" altLang="en-US" sz="1200" b="1" dirty="0"/>
              <a:t>&gt;0</a:t>
            </a:r>
          </a:p>
          <a:p>
            <a:pPr eaLnBrk="1" hangingPunct="1">
              <a:buFontTx/>
              <a:buNone/>
            </a:pPr>
            <a:r>
              <a:rPr lang="zh-CN" altLang="en-US" sz="1200" b="1" dirty="0"/>
              <a:t>             真命题</a:t>
            </a:r>
            <a:endParaRPr lang="en-US" altLang="zh-CN" sz="1200" b="1" dirty="0"/>
          </a:p>
          <a:p>
            <a:pPr eaLnBrk="1" hangingPunct="1">
              <a:buFontTx/>
              <a:buNone/>
            </a:pPr>
            <a:endParaRPr lang="en-US" altLang="zh-CN" sz="1200" b="1" dirty="0"/>
          </a:p>
          <a:p>
            <a:pPr eaLnBrk="1" hangingPunct="1">
              <a:buFontTx/>
              <a:buNone/>
            </a:pPr>
            <a:r>
              <a:rPr lang="zh-CN" altLang="en-US" sz="1200" b="1" dirty="0">
                <a:solidFill>
                  <a:srgbClr val="00B0F0"/>
                </a:solidFill>
              </a:rPr>
              <a:t>例：  </a:t>
            </a:r>
            <a:r>
              <a:rPr lang="zh-CN" altLang="en-US" sz="1200" b="1" dirty="0">
                <a:sym typeface="Symbol" panose="05050102010706020507" pitchFamily="18" charset="2"/>
              </a:rPr>
              <a:t></a:t>
            </a:r>
            <a:r>
              <a:rPr lang="en-US" altLang="zh-CN" sz="1200" b="1" i="1" dirty="0"/>
              <a:t>xF</a:t>
            </a:r>
            <a:r>
              <a:rPr lang="en-US" altLang="zh-CN" sz="1200" b="1" dirty="0"/>
              <a:t>(</a:t>
            </a:r>
            <a:r>
              <a:rPr lang="en-US" altLang="zh-CN" sz="1200" b="1" i="1" dirty="0"/>
              <a:t>x,y</a:t>
            </a:r>
            <a:r>
              <a:rPr lang="en-US" altLang="zh-CN" sz="1200" b="1" dirty="0"/>
              <a:t>)</a:t>
            </a:r>
          </a:p>
          <a:p>
            <a:pPr eaLnBrk="1" hangingPunct="1">
              <a:buFontTx/>
              <a:buNone/>
            </a:pPr>
            <a:r>
              <a:rPr lang="zh-CN" altLang="en-US" sz="1200" b="1" dirty="0"/>
              <a:t>指定  个体域:自然数集, </a:t>
            </a:r>
            <a:r>
              <a:rPr lang="en-US" altLang="zh-CN" sz="1200" b="1" i="1" dirty="0"/>
              <a:t>F</a:t>
            </a:r>
            <a:r>
              <a:rPr lang="en-US" altLang="zh-CN" sz="1200" b="1" dirty="0"/>
              <a:t>(</a:t>
            </a:r>
            <a:r>
              <a:rPr lang="en-US" altLang="zh-CN" sz="1200" b="1" i="1" dirty="0"/>
              <a:t>x,y</a:t>
            </a:r>
            <a:r>
              <a:rPr lang="en-US" altLang="zh-CN" sz="1200" b="1" dirty="0"/>
              <a:t>): </a:t>
            </a:r>
            <a:r>
              <a:rPr lang="en-US" altLang="zh-CN" sz="1200" b="1" i="1" dirty="0"/>
              <a:t>x=y</a:t>
            </a:r>
          </a:p>
          <a:p>
            <a:pPr eaLnBrk="1" hangingPunct="1">
              <a:buFontTx/>
              <a:buNone/>
            </a:pPr>
            <a:r>
              <a:rPr lang="en-US" altLang="zh-CN" sz="1200" b="1" i="1" dirty="0"/>
              <a:t>            y</a:t>
            </a:r>
            <a:r>
              <a:rPr lang="en-US" altLang="zh-CN" sz="1200" b="1" dirty="0"/>
              <a:t>=0</a:t>
            </a:r>
            <a:endParaRPr lang="zh-CN" altLang="en-US" sz="1200" b="1" dirty="0"/>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26</a:t>
            </a:fld>
            <a:endParaRPr lang="zh-CN" altLang="en-US"/>
          </a:p>
        </p:txBody>
      </p:sp>
    </p:spTree>
    <p:extLst>
      <p:ext uri="{BB962C8B-B14F-4D97-AF65-F5344CB8AC3E}">
        <p14:creationId xmlns:p14="http://schemas.microsoft.com/office/powerpoint/2010/main" val="343488107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AFE74B6-F93C-4D90-BE1A-7EFEDB35C0D4}" type="slidenum">
              <a:rPr lang="zh-CN" altLang="en-US" smtClean="0"/>
              <a:t>27</a:t>
            </a:fld>
            <a:endParaRPr lang="zh-CN" altLang="en-US"/>
          </a:p>
        </p:txBody>
      </p:sp>
    </p:spTree>
    <p:extLst>
      <p:ext uri="{BB962C8B-B14F-4D97-AF65-F5344CB8AC3E}">
        <p14:creationId xmlns:p14="http://schemas.microsoft.com/office/powerpoint/2010/main" val="142511154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eaLnBrk="1" hangingPunct="1">
              <a:spcBef>
                <a:spcPct val="40000"/>
              </a:spcBef>
              <a:buFontTx/>
              <a:buNone/>
            </a:pPr>
            <a:r>
              <a:rPr lang="zh-CN" altLang="en-US" sz="1200" b="1" dirty="0">
                <a:solidFill>
                  <a:srgbClr val="FF3300"/>
                </a:solidFill>
                <a:latin typeface="宋体" panose="02010600030101010101" pitchFamily="2" charset="-122"/>
              </a:rPr>
              <a:t>永真式(逻辑有效式)</a:t>
            </a:r>
            <a:r>
              <a:rPr lang="zh-CN" altLang="en-US" sz="1200" b="1" dirty="0">
                <a:latin typeface="宋体" panose="02010600030101010101" pitchFamily="2" charset="-122"/>
              </a:rPr>
              <a:t>: 无成假解释和赋值</a:t>
            </a:r>
          </a:p>
          <a:p>
            <a:pPr algn="just" eaLnBrk="1" hangingPunct="1">
              <a:spcBef>
                <a:spcPct val="40000"/>
              </a:spcBef>
              <a:buFontTx/>
              <a:buNone/>
            </a:pPr>
            <a:r>
              <a:rPr lang="zh-CN" altLang="en-US" sz="1200" b="1" dirty="0">
                <a:solidFill>
                  <a:srgbClr val="FF3300"/>
                </a:solidFill>
                <a:latin typeface="宋体" panose="02010600030101010101" pitchFamily="2" charset="-122"/>
              </a:rPr>
              <a:t>矛盾式(永假式)</a:t>
            </a:r>
            <a:r>
              <a:rPr lang="zh-CN" altLang="en-US" sz="1200" b="1" dirty="0">
                <a:latin typeface="宋体" panose="02010600030101010101" pitchFamily="2" charset="-122"/>
              </a:rPr>
              <a:t>: 无成真解释和赋值</a:t>
            </a:r>
          </a:p>
          <a:p>
            <a:pPr algn="just" eaLnBrk="1" hangingPunct="1">
              <a:spcBef>
                <a:spcPct val="40000"/>
              </a:spcBef>
              <a:buFontTx/>
              <a:buNone/>
            </a:pPr>
            <a:r>
              <a:rPr lang="zh-CN" altLang="en-US" sz="1200" b="1" dirty="0">
                <a:solidFill>
                  <a:srgbClr val="FF3300"/>
                </a:solidFill>
                <a:latin typeface="宋体" panose="02010600030101010101" pitchFamily="2" charset="-122"/>
              </a:rPr>
              <a:t>可满足式</a:t>
            </a:r>
            <a:r>
              <a:rPr lang="zh-CN" altLang="en-US" sz="1200" b="1" dirty="0">
                <a:latin typeface="宋体" panose="02010600030101010101" pitchFamily="2" charset="-122"/>
              </a:rPr>
              <a:t>: 至少有一个成真解释和赋值</a:t>
            </a:r>
          </a:p>
          <a:p>
            <a:pPr algn="just" eaLnBrk="1" hangingPunct="1">
              <a:spcBef>
                <a:spcPct val="40000"/>
              </a:spcBef>
              <a:buFontTx/>
              <a:buNone/>
            </a:pPr>
            <a:endParaRPr lang="zh-CN" altLang="en-US" sz="1200" b="1" dirty="0">
              <a:latin typeface="宋体" panose="02010600030101010101" pitchFamily="2" charset="-122"/>
            </a:endParaRPr>
          </a:p>
          <a:p>
            <a:pPr algn="just">
              <a:spcBef>
                <a:spcPct val="40000"/>
              </a:spcBef>
              <a:buNone/>
            </a:pPr>
            <a:r>
              <a:rPr lang="zh-CN" altLang="en-US" sz="1200" b="1" dirty="0">
                <a:latin typeface="宋体" panose="02010600030101010101" pitchFamily="2" charset="-122"/>
              </a:rPr>
              <a:t>永真式为可满足式，但反之不真</a:t>
            </a:r>
            <a:endParaRPr lang="en-US" altLang="zh-CN" sz="1200" b="1" dirty="0">
              <a:latin typeface="宋体" panose="02010600030101010101" pitchFamily="2" charset="-122"/>
            </a:endParaRPr>
          </a:p>
          <a:p>
            <a:pPr algn="just" eaLnBrk="1" hangingPunct="1">
              <a:spcBef>
                <a:spcPct val="40000"/>
              </a:spcBef>
              <a:buFontTx/>
              <a:buNone/>
            </a:pPr>
            <a:r>
              <a:rPr lang="zh-CN" altLang="en-US" sz="1200" b="1" dirty="0">
                <a:latin typeface="宋体" panose="02010600030101010101" pitchFamily="2" charset="-122"/>
              </a:rPr>
              <a:t>在一阶逻辑中</a:t>
            </a:r>
            <a:r>
              <a:rPr lang="en-US" altLang="zh-CN" sz="1200" b="1" dirty="0">
                <a:latin typeface="宋体" panose="02010600030101010101" pitchFamily="2" charset="-122"/>
              </a:rPr>
              <a:t>, </a:t>
            </a:r>
            <a:r>
              <a:rPr lang="zh-CN" altLang="en-US" sz="1200" b="1" dirty="0">
                <a:latin typeface="宋体" panose="02010600030101010101" pitchFamily="2" charset="-122"/>
              </a:rPr>
              <a:t>公式的可满足性</a:t>
            </a:r>
            <a:r>
              <a:rPr lang="en-US" altLang="zh-CN" sz="1200" b="1" dirty="0">
                <a:latin typeface="宋体" panose="02010600030101010101" pitchFamily="2" charset="-122"/>
              </a:rPr>
              <a:t>(</a:t>
            </a:r>
            <a:r>
              <a:rPr lang="zh-CN" altLang="en-US" sz="1200" b="1" dirty="0">
                <a:latin typeface="宋体" panose="02010600030101010101" pitchFamily="2" charset="-122"/>
              </a:rPr>
              <a:t>永真性</a:t>
            </a:r>
            <a:r>
              <a:rPr lang="en-US" altLang="zh-CN" sz="1200" b="1" dirty="0">
                <a:latin typeface="宋体" panose="02010600030101010101" pitchFamily="2" charset="-122"/>
              </a:rPr>
              <a:t>,</a:t>
            </a:r>
            <a:r>
              <a:rPr lang="zh-CN" altLang="en-US" sz="1200" b="1" dirty="0">
                <a:latin typeface="宋体" panose="02010600030101010101" pitchFamily="2" charset="-122"/>
              </a:rPr>
              <a:t>永假性</a:t>
            </a:r>
            <a:r>
              <a:rPr lang="en-US" altLang="zh-CN" sz="1200" b="1" dirty="0">
                <a:latin typeface="宋体" panose="02010600030101010101" pitchFamily="2" charset="-122"/>
              </a:rPr>
              <a:t>)</a:t>
            </a:r>
            <a:r>
              <a:rPr lang="zh-CN" altLang="en-US" sz="1200" b="1" dirty="0">
                <a:latin typeface="宋体" panose="02010600030101010101" pitchFamily="2" charset="-122"/>
              </a:rPr>
              <a:t>是不可判定的</a:t>
            </a:r>
            <a:r>
              <a:rPr lang="en-US" altLang="zh-CN" sz="1200" b="1" dirty="0">
                <a:latin typeface="宋体" panose="02010600030101010101" pitchFamily="2" charset="-122"/>
              </a:rPr>
              <a:t>,</a:t>
            </a:r>
            <a:r>
              <a:rPr lang="zh-CN" altLang="en-US" sz="1200" b="1" dirty="0">
                <a:latin typeface="宋体" panose="02010600030101010101" pitchFamily="2" charset="-122"/>
              </a:rPr>
              <a:t>即不存在算法能在有限步内判断任给的公式是否是可满足式</a:t>
            </a:r>
            <a:r>
              <a:rPr lang="en-US" altLang="zh-CN" sz="1200" b="1" dirty="0">
                <a:latin typeface="宋体" panose="02010600030101010101" pitchFamily="2" charset="-122"/>
              </a:rPr>
              <a:t>(</a:t>
            </a:r>
            <a:r>
              <a:rPr lang="zh-CN" altLang="en-US" sz="1200" b="1" dirty="0">
                <a:latin typeface="宋体" panose="02010600030101010101" pitchFamily="2" charset="-122"/>
              </a:rPr>
              <a:t>永真式</a:t>
            </a:r>
            <a:r>
              <a:rPr lang="en-US" altLang="zh-CN" sz="1200" b="1" dirty="0">
                <a:latin typeface="宋体" panose="02010600030101010101" pitchFamily="2" charset="-122"/>
              </a:rPr>
              <a:t>,</a:t>
            </a:r>
            <a:r>
              <a:rPr lang="zh-CN" altLang="en-US" sz="1200" b="1" dirty="0">
                <a:latin typeface="宋体" panose="02010600030101010101" pitchFamily="2" charset="-122"/>
              </a:rPr>
              <a:t>矛盾</a:t>
            </a:r>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28</a:t>
            </a:fld>
            <a:endParaRPr lang="zh-CN" altLang="en-US"/>
          </a:p>
        </p:txBody>
      </p:sp>
    </p:spTree>
    <p:extLst>
      <p:ext uri="{BB962C8B-B14F-4D97-AF65-F5344CB8AC3E}">
        <p14:creationId xmlns:p14="http://schemas.microsoft.com/office/powerpoint/2010/main" val="34334629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eaLnBrk="1" hangingPunct="1">
              <a:spcBef>
                <a:spcPct val="35000"/>
              </a:spcBef>
              <a:buFontTx/>
              <a:buNone/>
            </a:pPr>
            <a:r>
              <a:rPr lang="zh-CN" altLang="en-US" sz="1200" b="1" dirty="0">
                <a:solidFill>
                  <a:srgbClr val="FF3300"/>
                </a:solidFill>
              </a:rPr>
              <a:t>定义3.9 </a:t>
            </a:r>
            <a:r>
              <a:rPr lang="zh-CN" altLang="en-US" sz="1200" b="1" dirty="0"/>
              <a:t>设</a:t>
            </a:r>
            <a:r>
              <a:rPr lang="en-US" altLang="zh-CN" sz="1200" b="1" i="1" dirty="0"/>
              <a:t>A</a:t>
            </a:r>
            <a:r>
              <a:rPr lang="en-US" altLang="zh-CN" sz="1200" b="1" baseline="-30000" dirty="0"/>
              <a:t>0</a:t>
            </a:r>
            <a:r>
              <a:rPr lang="zh-CN" altLang="en-US" sz="1200" b="1" dirty="0"/>
              <a:t>是含命题变项</a:t>
            </a:r>
            <a:r>
              <a:rPr lang="en-US" altLang="zh-CN" sz="1200" b="1" i="1" dirty="0"/>
              <a:t>p</a:t>
            </a:r>
            <a:r>
              <a:rPr lang="en-US" altLang="zh-CN" sz="1200" b="1" baseline="-30000" dirty="0"/>
              <a:t>1</a:t>
            </a:r>
            <a:r>
              <a:rPr lang="en-US" altLang="zh-CN" sz="1200" b="1" dirty="0"/>
              <a:t>, </a:t>
            </a:r>
            <a:r>
              <a:rPr lang="en-US" altLang="zh-CN" sz="1200" b="1" i="1" dirty="0"/>
              <a:t>p</a:t>
            </a:r>
            <a:r>
              <a:rPr lang="en-US" altLang="zh-CN" sz="1200" b="1" baseline="-30000" dirty="0"/>
              <a:t>2</a:t>
            </a:r>
            <a:r>
              <a:rPr lang="en-US" altLang="zh-CN" sz="1200" b="1" dirty="0"/>
              <a:t>, …,</a:t>
            </a:r>
            <a:r>
              <a:rPr lang="en-US" altLang="zh-CN" sz="1200" b="1" i="1" dirty="0"/>
              <a:t>p</a:t>
            </a:r>
            <a:r>
              <a:rPr lang="en-US" altLang="zh-CN" sz="1200" b="1" i="1" baseline="-30000" dirty="0"/>
              <a:t>n</a:t>
            </a:r>
            <a:r>
              <a:rPr lang="zh-CN" altLang="en-US" sz="1200" b="1" dirty="0"/>
              <a:t>的命题公式, </a:t>
            </a:r>
            <a:r>
              <a:rPr lang="en-US" altLang="zh-CN" sz="1200" b="1" i="1" dirty="0"/>
              <a:t>A</a:t>
            </a:r>
            <a:r>
              <a:rPr lang="en-US" altLang="zh-CN" sz="1200" b="1" baseline="-30000" dirty="0"/>
              <a:t>1</a:t>
            </a:r>
            <a:r>
              <a:rPr lang="en-US" altLang="zh-CN" sz="1200" b="1" dirty="0"/>
              <a:t>,</a:t>
            </a:r>
            <a:r>
              <a:rPr lang="en-US" altLang="zh-CN" sz="1200" b="1" i="1" dirty="0"/>
              <a:t>A</a:t>
            </a:r>
            <a:r>
              <a:rPr lang="en-US" altLang="zh-CN" sz="1200" b="1" baseline="-30000" dirty="0"/>
              <a:t>2</a:t>
            </a:r>
            <a:r>
              <a:rPr lang="en-US" altLang="zh-CN" sz="1200" b="1" dirty="0"/>
              <a:t>,…, </a:t>
            </a:r>
            <a:r>
              <a:rPr lang="en-US" altLang="zh-CN" sz="1200" b="1" i="1" dirty="0"/>
              <a:t>A</a:t>
            </a:r>
            <a:r>
              <a:rPr lang="en-US" altLang="zh-CN" sz="1200" b="1" i="1" baseline="-30000" dirty="0"/>
              <a:t>n</a:t>
            </a:r>
            <a:r>
              <a:rPr lang="zh-CN" altLang="en-US" sz="1200" b="1" dirty="0"/>
              <a:t>是</a:t>
            </a:r>
            <a:r>
              <a:rPr lang="en-US" altLang="zh-CN" sz="1200" b="1" i="1" dirty="0"/>
              <a:t>n</a:t>
            </a:r>
            <a:r>
              <a:rPr lang="zh-CN" altLang="en-US" sz="1200" b="1" dirty="0"/>
              <a:t>个谓词公式, 用</a:t>
            </a:r>
            <a:r>
              <a:rPr lang="en-US" altLang="zh-CN" sz="1200" b="1" i="1" dirty="0"/>
              <a:t>A</a:t>
            </a:r>
            <a:r>
              <a:rPr lang="en-US" altLang="zh-CN" sz="1200" b="1" i="1" baseline="-30000" dirty="0"/>
              <a:t>i</a:t>
            </a:r>
            <a:r>
              <a:rPr lang="zh-CN" altLang="en-US" sz="1200" b="1" dirty="0"/>
              <a:t>处处代替</a:t>
            </a:r>
            <a:r>
              <a:rPr lang="en-US" altLang="zh-CN" sz="1200" b="1" i="1" dirty="0"/>
              <a:t>A</a:t>
            </a:r>
            <a:r>
              <a:rPr lang="en-US" altLang="zh-CN" sz="1200" b="1" baseline="-30000" dirty="0"/>
              <a:t>0</a:t>
            </a:r>
            <a:r>
              <a:rPr lang="zh-CN" altLang="en-US" sz="1200" b="1" dirty="0"/>
              <a:t>中的</a:t>
            </a:r>
            <a:r>
              <a:rPr lang="en-US" altLang="zh-CN" sz="1200" b="1" i="1" dirty="0"/>
              <a:t>p</a:t>
            </a:r>
            <a:r>
              <a:rPr lang="en-US" altLang="zh-CN" sz="1200" b="1" i="1" baseline="-30000" dirty="0"/>
              <a:t>i</a:t>
            </a:r>
            <a:r>
              <a:rPr lang="en-US" altLang="zh-CN" sz="1200" b="1" dirty="0"/>
              <a:t>(1</a:t>
            </a:r>
            <a:r>
              <a:rPr lang="en-US" altLang="zh-CN" sz="1200" b="1" dirty="0">
                <a:sym typeface="Symbol" panose="05050102010706020507" pitchFamily="18" charset="2"/>
              </a:rPr>
              <a:t></a:t>
            </a:r>
            <a:r>
              <a:rPr lang="en-US" altLang="zh-CN" sz="1200" b="1" i="1" dirty="0"/>
              <a:t>i</a:t>
            </a:r>
            <a:r>
              <a:rPr lang="en-US" altLang="zh-CN" sz="1200" b="1" dirty="0">
                <a:sym typeface="Symbol" panose="05050102010706020507" pitchFamily="18" charset="2"/>
              </a:rPr>
              <a:t></a:t>
            </a:r>
            <a:r>
              <a:rPr lang="en-US" altLang="zh-CN" sz="1200" b="1" i="1" dirty="0"/>
              <a:t>n</a:t>
            </a:r>
            <a:r>
              <a:rPr lang="en-US" altLang="zh-CN" sz="1200" b="1" dirty="0"/>
              <a:t>), </a:t>
            </a:r>
            <a:r>
              <a:rPr lang="zh-CN" altLang="en-US" sz="1200" b="1" dirty="0"/>
              <a:t>所得公式</a:t>
            </a:r>
            <a:r>
              <a:rPr lang="en-US" altLang="zh-CN" sz="1200" b="1" i="1" dirty="0"/>
              <a:t>A</a:t>
            </a:r>
            <a:r>
              <a:rPr lang="zh-CN" altLang="en-US" sz="1200" b="1" dirty="0"/>
              <a:t>称为</a:t>
            </a:r>
            <a:r>
              <a:rPr lang="en-US" altLang="zh-CN" sz="1200" b="1" i="1" dirty="0"/>
              <a:t>A</a:t>
            </a:r>
            <a:r>
              <a:rPr lang="en-US" altLang="zh-CN" sz="1200" b="1" baseline="-30000" dirty="0"/>
              <a:t>0</a:t>
            </a:r>
            <a:r>
              <a:rPr lang="zh-CN" altLang="en-US" sz="1200" b="1" dirty="0"/>
              <a:t>的</a:t>
            </a:r>
            <a:r>
              <a:rPr lang="zh-CN" altLang="en-US" sz="1200" b="1" dirty="0">
                <a:solidFill>
                  <a:srgbClr val="FF3300"/>
                </a:solidFill>
              </a:rPr>
              <a:t>代换实例</a:t>
            </a:r>
            <a:r>
              <a:rPr lang="zh-CN" altLang="en-US" sz="1200" b="1" dirty="0"/>
              <a:t>.</a:t>
            </a:r>
          </a:p>
          <a:p>
            <a:pPr algn="just" eaLnBrk="1" hangingPunct="1">
              <a:spcBef>
                <a:spcPct val="35000"/>
              </a:spcBef>
              <a:buFontTx/>
              <a:buNone/>
            </a:pPr>
            <a:r>
              <a:rPr lang="zh-CN" altLang="en-US" sz="1200" b="1" dirty="0">
                <a:solidFill>
                  <a:srgbClr val="1D0F73"/>
                </a:solidFill>
              </a:rPr>
              <a:t>例如 </a:t>
            </a:r>
            <a:r>
              <a:rPr lang="en-US" altLang="zh-CN" sz="1200" b="1" i="1" dirty="0">
                <a:solidFill>
                  <a:srgbClr val="1D0F73"/>
                </a:solidFill>
              </a:rPr>
              <a:t>F</a:t>
            </a:r>
            <a:r>
              <a:rPr lang="en-US" altLang="zh-CN" sz="1200" b="1" dirty="0">
                <a:solidFill>
                  <a:srgbClr val="1D0F73"/>
                </a:solidFill>
              </a:rPr>
              <a:t>(</a:t>
            </a:r>
            <a:r>
              <a:rPr lang="en-US" altLang="zh-CN" sz="1200" b="1" i="1" dirty="0">
                <a:solidFill>
                  <a:srgbClr val="1D0F73"/>
                </a:solidFill>
              </a:rPr>
              <a:t>x</a:t>
            </a:r>
            <a:r>
              <a:rPr lang="en-US" altLang="zh-CN" sz="1200" b="1" dirty="0">
                <a:solidFill>
                  <a:srgbClr val="1D0F73"/>
                </a:solidFill>
              </a:rPr>
              <a:t>)</a:t>
            </a:r>
            <a:r>
              <a:rPr lang="en-US" altLang="zh-CN" sz="1200" b="1" dirty="0">
                <a:solidFill>
                  <a:srgbClr val="1D0F73"/>
                </a:solidFill>
                <a:sym typeface="Symbol" panose="05050102010706020507" pitchFamily="18" charset="2"/>
              </a:rPr>
              <a:t></a:t>
            </a:r>
            <a:r>
              <a:rPr lang="en-US" altLang="zh-CN" sz="1200" b="1" i="1" dirty="0">
                <a:solidFill>
                  <a:srgbClr val="1D0F73"/>
                </a:solidFill>
              </a:rPr>
              <a:t>G</a:t>
            </a:r>
            <a:r>
              <a:rPr lang="en-US" altLang="zh-CN" sz="1200" b="1" dirty="0">
                <a:solidFill>
                  <a:srgbClr val="1D0F73"/>
                </a:solidFill>
              </a:rPr>
              <a:t>(</a:t>
            </a:r>
            <a:r>
              <a:rPr lang="en-US" altLang="zh-CN" sz="1200" b="1" i="1" dirty="0">
                <a:solidFill>
                  <a:srgbClr val="1D0F73"/>
                </a:solidFill>
              </a:rPr>
              <a:t>x</a:t>
            </a:r>
            <a:r>
              <a:rPr lang="en-US" altLang="zh-CN" sz="1200" b="1" dirty="0">
                <a:solidFill>
                  <a:srgbClr val="1D0F73"/>
                </a:solidFill>
              </a:rPr>
              <a:t>), </a:t>
            </a:r>
            <a:r>
              <a:rPr lang="en-US" altLang="zh-CN" sz="1200" b="1" dirty="0">
                <a:solidFill>
                  <a:srgbClr val="1D0F73"/>
                </a:solidFill>
                <a:sym typeface="Symbol" panose="05050102010706020507" pitchFamily="18" charset="2"/>
              </a:rPr>
              <a:t></a:t>
            </a:r>
            <a:r>
              <a:rPr lang="en-US" altLang="zh-CN" sz="1200" b="1" i="1" dirty="0">
                <a:solidFill>
                  <a:srgbClr val="1D0F73"/>
                </a:solidFill>
              </a:rPr>
              <a:t>xF</a:t>
            </a:r>
            <a:r>
              <a:rPr lang="en-US" altLang="zh-CN" sz="1200" b="1" dirty="0">
                <a:solidFill>
                  <a:srgbClr val="1D0F73"/>
                </a:solidFill>
              </a:rPr>
              <a:t>(</a:t>
            </a:r>
            <a:r>
              <a:rPr lang="en-US" altLang="zh-CN" sz="1200" b="1" i="1" dirty="0">
                <a:solidFill>
                  <a:srgbClr val="1D0F73"/>
                </a:solidFill>
              </a:rPr>
              <a:t>x</a:t>
            </a:r>
            <a:r>
              <a:rPr lang="en-US" altLang="zh-CN" sz="1200" b="1" dirty="0">
                <a:solidFill>
                  <a:srgbClr val="1D0F73"/>
                </a:solidFill>
              </a:rPr>
              <a:t>)</a:t>
            </a:r>
            <a:r>
              <a:rPr lang="en-US" altLang="zh-CN" sz="1200" b="1" dirty="0">
                <a:solidFill>
                  <a:srgbClr val="1D0F73"/>
                </a:solidFill>
                <a:sym typeface="Symbol" panose="05050102010706020507" pitchFamily="18" charset="2"/>
              </a:rPr>
              <a:t></a:t>
            </a:r>
            <a:r>
              <a:rPr lang="en-US" altLang="zh-CN" sz="1200" b="1" i="1" dirty="0">
                <a:solidFill>
                  <a:srgbClr val="1D0F73"/>
                </a:solidFill>
              </a:rPr>
              <a:t>yG</a:t>
            </a:r>
            <a:r>
              <a:rPr lang="en-US" altLang="zh-CN" sz="1200" b="1" dirty="0">
                <a:solidFill>
                  <a:srgbClr val="1D0F73"/>
                </a:solidFill>
              </a:rPr>
              <a:t>(</a:t>
            </a:r>
            <a:r>
              <a:rPr lang="en-US" altLang="zh-CN" sz="1200" b="1" i="1" dirty="0">
                <a:solidFill>
                  <a:srgbClr val="1D0F73"/>
                </a:solidFill>
              </a:rPr>
              <a:t>y</a:t>
            </a:r>
            <a:r>
              <a:rPr lang="en-US" altLang="zh-CN" sz="1200" b="1" dirty="0">
                <a:solidFill>
                  <a:srgbClr val="1D0F73"/>
                </a:solidFill>
              </a:rPr>
              <a:t>) </a:t>
            </a:r>
            <a:r>
              <a:rPr lang="zh-CN" altLang="en-US" sz="1200" b="1" dirty="0">
                <a:solidFill>
                  <a:srgbClr val="1D0F73"/>
                </a:solidFill>
              </a:rPr>
              <a:t>等都是</a:t>
            </a:r>
            <a:r>
              <a:rPr lang="en-US" altLang="zh-CN" sz="1200" b="1" i="1" dirty="0" err="1">
                <a:solidFill>
                  <a:srgbClr val="1D0F73"/>
                </a:solidFill>
              </a:rPr>
              <a:t>p</a:t>
            </a:r>
            <a:r>
              <a:rPr lang="en-US" altLang="zh-CN" sz="1200" b="1" dirty="0" err="1">
                <a:solidFill>
                  <a:srgbClr val="1D0F73"/>
                </a:solidFill>
                <a:sym typeface="Symbol" panose="05050102010706020507" pitchFamily="18" charset="2"/>
              </a:rPr>
              <a:t></a:t>
            </a:r>
            <a:r>
              <a:rPr lang="en-US" altLang="zh-CN" sz="1200" b="1" i="1" dirty="0" err="1">
                <a:solidFill>
                  <a:srgbClr val="1D0F73"/>
                </a:solidFill>
              </a:rPr>
              <a:t>q</a:t>
            </a:r>
            <a:r>
              <a:rPr lang="zh-CN" altLang="en-US" sz="1200" b="1" dirty="0">
                <a:solidFill>
                  <a:srgbClr val="1D0F73"/>
                </a:solidFill>
              </a:rPr>
              <a:t>的代换实例</a:t>
            </a:r>
          </a:p>
          <a:p>
            <a:pPr eaLnBrk="1" hangingPunct="1">
              <a:spcBef>
                <a:spcPct val="35000"/>
              </a:spcBef>
              <a:buFontTx/>
              <a:buNone/>
            </a:pPr>
            <a:r>
              <a:rPr lang="zh-CN" altLang="en-US" sz="1200" b="1" dirty="0"/>
              <a:t> </a:t>
            </a:r>
          </a:p>
          <a:p>
            <a:pPr eaLnBrk="1" hangingPunct="1">
              <a:spcBef>
                <a:spcPct val="35000"/>
              </a:spcBef>
              <a:buFontTx/>
              <a:buNone/>
            </a:pPr>
            <a:r>
              <a:rPr lang="zh-CN" altLang="en-US" sz="1200" b="1" dirty="0">
                <a:solidFill>
                  <a:srgbClr val="FF3300"/>
                </a:solidFill>
              </a:rPr>
              <a:t>定理3.2</a:t>
            </a:r>
            <a:r>
              <a:rPr lang="zh-CN" altLang="en-US" sz="1200" b="1" dirty="0">
                <a:solidFill>
                  <a:srgbClr val="FF0066"/>
                </a:solidFill>
              </a:rPr>
              <a:t>   </a:t>
            </a:r>
            <a:r>
              <a:rPr lang="zh-CN" altLang="en-US" sz="1200" b="1" dirty="0"/>
              <a:t>重言式的代换实例都是永真式，矛盾式的代换实例都是矛盾式. </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29</a:t>
            </a:fld>
            <a:endParaRPr lang="zh-CN" altLang="en-US"/>
          </a:p>
        </p:txBody>
      </p:sp>
    </p:spTree>
    <p:extLst>
      <p:ext uri="{BB962C8B-B14F-4D97-AF65-F5344CB8AC3E}">
        <p14:creationId xmlns:p14="http://schemas.microsoft.com/office/powerpoint/2010/main" val="369970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1" dirty="0"/>
              <a:t>取解释</a:t>
            </a:r>
            <a:r>
              <a:rPr kumimoji="0" lang="en-US" altLang="zh-CN" sz="1200" b="1" i="1" dirty="0"/>
              <a:t>I</a:t>
            </a:r>
            <a:r>
              <a:rPr kumimoji="0" lang="en-US" altLang="zh-CN" sz="1200" b="1" baseline="-25000" dirty="0"/>
              <a:t>1</a:t>
            </a:r>
            <a:r>
              <a:rPr kumimoji="0" lang="en-US" altLang="zh-CN" sz="1200" b="1" dirty="0"/>
              <a:t>, </a:t>
            </a:r>
            <a:r>
              <a:rPr kumimoji="0" lang="en-US" altLang="zh-CN" sz="1200" b="1" i="1" dirty="0"/>
              <a:t>D</a:t>
            </a:r>
            <a:r>
              <a:rPr kumimoji="0" lang="en-US" altLang="zh-CN" sz="1200" b="1" baseline="-25000" dirty="0"/>
              <a:t>1</a:t>
            </a:r>
            <a:r>
              <a:rPr kumimoji="0" lang="en-US" altLang="zh-CN" sz="1200" b="1" dirty="0"/>
              <a:t>=R,          :</a:t>
            </a:r>
            <a:r>
              <a:rPr kumimoji="0" lang="en-US" altLang="zh-CN" sz="1200" b="1" i="1" dirty="0"/>
              <a:t>x</a:t>
            </a:r>
            <a:r>
              <a:rPr kumimoji="0" lang="zh-CN" altLang="en-US" sz="1200" b="1" dirty="0"/>
              <a:t>是整数,          :</a:t>
            </a:r>
            <a:r>
              <a:rPr kumimoji="0" lang="en-US" altLang="zh-CN" sz="1200" b="1" i="1" dirty="0"/>
              <a:t>x</a:t>
            </a:r>
            <a:r>
              <a:rPr kumimoji="0" lang="zh-CN" altLang="en-US" sz="1200" b="1" dirty="0"/>
              <a:t>是有理数,   真命题</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1" dirty="0"/>
              <a:t>取解释</a:t>
            </a:r>
            <a:r>
              <a:rPr kumimoji="0" lang="en-US" altLang="zh-CN" sz="1200" b="1" i="1" dirty="0"/>
              <a:t>I</a:t>
            </a:r>
            <a:r>
              <a:rPr kumimoji="0" lang="en-US" altLang="zh-CN" sz="1200" b="1" baseline="-25000" dirty="0"/>
              <a:t>2</a:t>
            </a:r>
            <a:r>
              <a:rPr kumimoji="0" lang="en-US" altLang="zh-CN" sz="1200" b="1" dirty="0"/>
              <a:t>, </a:t>
            </a:r>
            <a:r>
              <a:rPr kumimoji="0" lang="en-US" altLang="zh-CN" sz="1200" b="1" i="1" dirty="0"/>
              <a:t>D</a:t>
            </a:r>
            <a:r>
              <a:rPr kumimoji="0" lang="en-US" altLang="zh-CN" sz="1200" b="1" baseline="-25000" dirty="0"/>
              <a:t>2</a:t>
            </a:r>
            <a:r>
              <a:rPr kumimoji="0" lang="en-US" altLang="zh-CN" sz="1200" b="1" dirty="0"/>
              <a:t>=R,           :</a:t>
            </a:r>
            <a:r>
              <a:rPr kumimoji="0" lang="en-US" altLang="zh-CN" sz="1200" b="1" i="1" dirty="0"/>
              <a:t>x</a:t>
            </a:r>
            <a:r>
              <a:rPr kumimoji="0" lang="zh-CN" altLang="en-US" sz="1200" b="1" dirty="0"/>
              <a:t>是整数,          :</a:t>
            </a:r>
            <a:r>
              <a:rPr kumimoji="0" lang="en-US" altLang="zh-CN" sz="1200" b="1" i="1" dirty="0"/>
              <a:t>x</a:t>
            </a:r>
            <a:r>
              <a:rPr kumimoji="0" lang="zh-CN" altLang="en-US" sz="1200" b="1" dirty="0"/>
              <a:t>是自然数</a:t>
            </a:r>
            <a:r>
              <a:rPr kumimoji="0" lang="en-US" altLang="zh-CN" sz="1200" b="1" dirty="0"/>
              <a:t>,   </a:t>
            </a:r>
            <a:r>
              <a:rPr kumimoji="0" lang="zh-CN" altLang="en-US" sz="1200" b="1" dirty="0"/>
              <a:t>假命题</a:t>
            </a:r>
            <a:endParaRPr kumimoji="0" lang="en-US" altLang="zh-CN" sz="1200" b="1"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1" dirty="0"/>
              <a:t>1)</a:t>
            </a:r>
            <a:r>
              <a:rPr kumimoji="0" lang="zh-CN" altLang="en-US" sz="1200" b="1" dirty="0"/>
              <a:t>非永真式的</a:t>
            </a:r>
            <a:r>
              <a:rPr kumimoji="0" lang="zh-CN" altLang="en-US" sz="1200" b="1" dirty="0">
                <a:highlight>
                  <a:srgbClr val="FFFF00"/>
                </a:highlight>
              </a:rPr>
              <a:t>可满足式</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1" dirty="0"/>
              <a:t>2</a:t>
            </a:r>
            <a:r>
              <a:rPr kumimoji="0" lang="zh-CN" altLang="en-US" sz="1200" b="1" dirty="0"/>
              <a:t>）永真式</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1" dirty="0"/>
              <a:t>3</a:t>
            </a:r>
            <a:r>
              <a:rPr kumimoji="0" lang="zh-CN" altLang="en-US" sz="1200" b="1" dirty="0"/>
              <a:t>）矛盾式</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1200" b="1" dirty="0"/>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200" b="1" dirty="0"/>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30</a:t>
            </a:fld>
            <a:endParaRPr lang="zh-CN" altLang="en-US"/>
          </a:p>
        </p:txBody>
      </p:sp>
    </p:spTree>
    <p:extLst>
      <p:ext uri="{BB962C8B-B14F-4D97-AF65-F5344CB8AC3E}">
        <p14:creationId xmlns:p14="http://schemas.microsoft.com/office/powerpoint/2010/main" val="8417322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1" dirty="0"/>
              <a:t>取解释</a:t>
            </a:r>
            <a:r>
              <a:rPr kumimoji="0" lang="en-US" altLang="zh-CN" sz="1200" b="1" i="1" dirty="0"/>
              <a:t>I</a:t>
            </a:r>
            <a:r>
              <a:rPr kumimoji="0" lang="en-US" altLang="zh-CN" sz="1200" b="1" baseline="-25000" dirty="0"/>
              <a:t>1</a:t>
            </a:r>
            <a:r>
              <a:rPr kumimoji="0" lang="en-US" altLang="zh-CN" sz="1200" b="1" dirty="0"/>
              <a:t>, </a:t>
            </a:r>
            <a:r>
              <a:rPr kumimoji="0" lang="en-US" altLang="zh-CN" sz="1200" b="1" i="1" dirty="0"/>
              <a:t>D</a:t>
            </a:r>
            <a:r>
              <a:rPr kumimoji="0" lang="en-US" altLang="zh-CN" sz="1200" b="1" baseline="-25000" dirty="0"/>
              <a:t>1</a:t>
            </a:r>
            <a:r>
              <a:rPr kumimoji="0" lang="en-US" altLang="zh-CN" sz="1200" b="1" dirty="0"/>
              <a:t>=R,          :</a:t>
            </a:r>
            <a:r>
              <a:rPr kumimoji="0" lang="en-US" altLang="zh-CN" sz="1200" b="1" i="1" dirty="0"/>
              <a:t>x</a:t>
            </a:r>
            <a:r>
              <a:rPr kumimoji="0" lang="zh-CN" altLang="en-US" sz="1200" b="1" dirty="0"/>
              <a:t>是整数,          :</a:t>
            </a:r>
            <a:r>
              <a:rPr kumimoji="0" lang="en-US" altLang="zh-CN" sz="1200" b="1" i="1" dirty="0"/>
              <a:t>x</a:t>
            </a:r>
            <a:r>
              <a:rPr kumimoji="0" lang="zh-CN" altLang="en-US" sz="1200" b="1" dirty="0"/>
              <a:t>是有理数,   真命题</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1" dirty="0"/>
              <a:t>取解释</a:t>
            </a:r>
            <a:r>
              <a:rPr kumimoji="0" lang="en-US" altLang="zh-CN" sz="1200" b="1" i="1" dirty="0"/>
              <a:t>I</a:t>
            </a:r>
            <a:r>
              <a:rPr kumimoji="0" lang="en-US" altLang="zh-CN" sz="1200" b="1" baseline="-25000" dirty="0"/>
              <a:t>2</a:t>
            </a:r>
            <a:r>
              <a:rPr kumimoji="0" lang="en-US" altLang="zh-CN" sz="1200" b="1" dirty="0"/>
              <a:t>, </a:t>
            </a:r>
            <a:r>
              <a:rPr kumimoji="0" lang="en-US" altLang="zh-CN" sz="1200" b="1" i="1" dirty="0"/>
              <a:t>D</a:t>
            </a:r>
            <a:r>
              <a:rPr kumimoji="0" lang="en-US" altLang="zh-CN" sz="1200" b="1" baseline="-25000" dirty="0"/>
              <a:t>2</a:t>
            </a:r>
            <a:r>
              <a:rPr kumimoji="0" lang="en-US" altLang="zh-CN" sz="1200" b="1" dirty="0"/>
              <a:t>=R,           :</a:t>
            </a:r>
            <a:r>
              <a:rPr kumimoji="0" lang="en-US" altLang="zh-CN" sz="1200" b="1" i="1" dirty="0"/>
              <a:t>x</a:t>
            </a:r>
            <a:r>
              <a:rPr kumimoji="0" lang="zh-CN" altLang="en-US" sz="1200" b="1" dirty="0"/>
              <a:t>是整数,          :</a:t>
            </a:r>
            <a:r>
              <a:rPr kumimoji="0" lang="en-US" altLang="zh-CN" sz="1200" b="1" i="1" dirty="0"/>
              <a:t>x</a:t>
            </a:r>
            <a:r>
              <a:rPr kumimoji="0" lang="zh-CN" altLang="en-US" sz="1200" b="1" dirty="0"/>
              <a:t>是自然数</a:t>
            </a:r>
            <a:r>
              <a:rPr kumimoji="0" lang="en-US" altLang="zh-CN" sz="1200" b="1" dirty="0"/>
              <a:t>,   </a:t>
            </a:r>
            <a:r>
              <a:rPr kumimoji="0" lang="zh-CN" altLang="en-US" sz="1200" b="1" dirty="0"/>
              <a:t>假命题</a:t>
            </a:r>
            <a:endParaRPr kumimoji="0" lang="en-US" altLang="zh-CN" sz="1200" b="1"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1" dirty="0"/>
              <a:t>1)</a:t>
            </a:r>
            <a:r>
              <a:rPr kumimoji="0" lang="zh-CN" altLang="en-US" sz="1200" b="1" dirty="0"/>
              <a:t>非永真式的</a:t>
            </a:r>
            <a:r>
              <a:rPr kumimoji="0" lang="zh-CN" altLang="en-US" sz="1200" b="1" dirty="0">
                <a:highlight>
                  <a:srgbClr val="FFFF00"/>
                </a:highlight>
              </a:rPr>
              <a:t>可满足式</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1" dirty="0"/>
              <a:t>2</a:t>
            </a:r>
            <a:r>
              <a:rPr kumimoji="0" lang="zh-CN" altLang="en-US" sz="1200" b="1" dirty="0"/>
              <a:t>）永真式</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1" dirty="0"/>
              <a:t>3</a:t>
            </a:r>
            <a:r>
              <a:rPr kumimoji="0" lang="zh-CN" altLang="en-US" sz="1200" b="1" dirty="0"/>
              <a:t>）矛盾式</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1200" b="1" dirty="0"/>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200" b="1" dirty="0"/>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31</a:t>
            </a:fld>
            <a:endParaRPr lang="zh-CN" altLang="en-US"/>
          </a:p>
        </p:txBody>
      </p:sp>
    </p:spTree>
    <p:extLst>
      <p:ext uri="{BB962C8B-B14F-4D97-AF65-F5344CB8AC3E}">
        <p14:creationId xmlns:p14="http://schemas.microsoft.com/office/powerpoint/2010/main" val="322279805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AFE74B6-F93C-4D90-BE1A-7EFEDB35C0D4}" type="slidenum">
              <a:rPr lang="zh-CN" altLang="en-US" smtClean="0"/>
              <a:t>32</a:t>
            </a:fld>
            <a:endParaRPr lang="zh-CN" altLang="en-US"/>
          </a:p>
        </p:txBody>
      </p:sp>
    </p:spTree>
    <p:extLst>
      <p:ext uri="{BB962C8B-B14F-4D97-AF65-F5344CB8AC3E}">
        <p14:creationId xmlns:p14="http://schemas.microsoft.com/office/powerpoint/2010/main" val="305045177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A7EA511-84E0-4AE0-9842-AB0E10994BF1}" type="slidenum">
              <a:rPr lang="zh-CN" altLang="en-US" smtClean="0"/>
              <a:t>33</a:t>
            </a:fld>
            <a:endParaRPr lang="zh-CN" altLang="en-US"/>
          </a:p>
        </p:txBody>
      </p:sp>
    </p:spTree>
    <p:extLst>
      <p:ext uri="{BB962C8B-B14F-4D97-AF65-F5344CB8AC3E}">
        <p14:creationId xmlns:p14="http://schemas.microsoft.com/office/powerpoint/2010/main" val="125006064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1611313" eaLnBrk="1" hangingPunct="1">
              <a:spcBef>
                <a:spcPct val="60000"/>
              </a:spcBef>
              <a:buNone/>
            </a:pPr>
            <a:r>
              <a:rPr lang="zh-CN" altLang="en-US" b="1" dirty="0">
                <a:solidFill>
                  <a:srgbClr val="FF0000"/>
                </a:solidFill>
              </a:rPr>
              <a:t>3.1 一阶逻辑基本概念</a:t>
            </a:r>
          </a:p>
          <a:p>
            <a:pPr marL="0" indent="1611313" eaLnBrk="1" hangingPunct="1">
              <a:lnSpc>
                <a:spcPct val="200000"/>
              </a:lnSpc>
              <a:spcBef>
                <a:spcPct val="60000"/>
              </a:spcBef>
              <a:buNone/>
            </a:pPr>
            <a:r>
              <a:rPr lang="zh-CN" altLang="en-US" b="1" dirty="0"/>
              <a:t>3.2 一阶逻辑等值演算</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34</a:t>
            </a:fld>
            <a:endParaRPr lang="zh-CN" altLang="en-US"/>
          </a:p>
        </p:txBody>
      </p:sp>
    </p:spTree>
    <p:extLst>
      <p:ext uri="{BB962C8B-B14F-4D97-AF65-F5344CB8AC3E}">
        <p14:creationId xmlns:p14="http://schemas.microsoft.com/office/powerpoint/2010/main" val="186654435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892175" eaLnBrk="1" hangingPunct="1">
              <a:buNone/>
            </a:pPr>
            <a:r>
              <a:rPr lang="zh-CN" altLang="en-US" b="1" dirty="0"/>
              <a:t>3.2.1 一阶逻辑等值式与置换规则</a:t>
            </a:r>
          </a:p>
          <a:p>
            <a:pPr marL="1698625" lvl="1" indent="-87313" eaLnBrk="1" hangingPunct="1">
              <a:spcBef>
                <a:spcPct val="40000"/>
              </a:spcBef>
            </a:pPr>
            <a:r>
              <a:rPr lang="zh-CN" altLang="en-US" b="1" dirty="0"/>
              <a:t>基本等值式</a:t>
            </a:r>
          </a:p>
          <a:p>
            <a:pPr marL="1698625" lvl="1" indent="-87313" eaLnBrk="1" hangingPunct="1">
              <a:spcBef>
                <a:spcPct val="40000"/>
              </a:spcBef>
            </a:pPr>
            <a:r>
              <a:rPr lang="zh-CN" altLang="en-US" b="1" dirty="0"/>
              <a:t>置换规则、换名规则</a:t>
            </a:r>
            <a:endParaRPr lang="en-US" altLang="zh-CN" b="1" dirty="0"/>
          </a:p>
          <a:p>
            <a:pPr marL="0" lvl="1" indent="892175" eaLnBrk="1" hangingPunct="1">
              <a:spcBef>
                <a:spcPct val="40000"/>
              </a:spcBef>
            </a:pPr>
            <a:endParaRPr lang="zh-CN" altLang="en-US" b="1" dirty="0"/>
          </a:p>
          <a:p>
            <a:pPr marL="0" indent="892175" eaLnBrk="1" hangingPunct="1">
              <a:spcBef>
                <a:spcPct val="60000"/>
              </a:spcBef>
              <a:buNone/>
            </a:pPr>
            <a:r>
              <a:rPr lang="zh-CN" altLang="en-US" b="1" dirty="0"/>
              <a:t>3.2.2 一阶逻辑前束范式</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35</a:t>
            </a:fld>
            <a:endParaRPr lang="zh-CN" altLang="en-US"/>
          </a:p>
        </p:txBody>
      </p:sp>
    </p:spTree>
    <p:extLst>
      <p:ext uri="{BB962C8B-B14F-4D97-AF65-F5344CB8AC3E}">
        <p14:creationId xmlns:p14="http://schemas.microsoft.com/office/powerpoint/2010/main" val="212957601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AFE74B6-F93C-4D90-BE1A-7EFEDB35C0D4}" type="slidenum">
              <a:rPr lang="zh-CN" altLang="en-US" smtClean="0"/>
              <a:t>36</a:t>
            </a:fld>
            <a:endParaRPr lang="zh-CN" altLang="en-US"/>
          </a:p>
        </p:txBody>
      </p:sp>
    </p:spTree>
    <p:extLst>
      <p:ext uri="{BB962C8B-B14F-4D97-AF65-F5344CB8AC3E}">
        <p14:creationId xmlns:p14="http://schemas.microsoft.com/office/powerpoint/2010/main" val="378466901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AFE74B6-F93C-4D90-BE1A-7EFEDB35C0D4}" type="slidenum">
              <a:rPr lang="zh-CN" altLang="en-US" smtClean="0"/>
              <a:t>37</a:t>
            </a:fld>
            <a:endParaRPr lang="zh-CN" altLang="en-US"/>
          </a:p>
        </p:txBody>
      </p:sp>
    </p:spTree>
    <p:extLst>
      <p:ext uri="{BB962C8B-B14F-4D97-AF65-F5344CB8AC3E}">
        <p14:creationId xmlns:p14="http://schemas.microsoft.com/office/powerpoint/2010/main" val="67330223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buClr>
                <a:schemeClr val="bg2"/>
              </a:buClr>
              <a:buSzPct val="75000"/>
              <a:buFont typeface="Wingdings" panose="05000000000000000000" pitchFamily="2" charset="2"/>
              <a:buNone/>
            </a:pPr>
            <a:r>
              <a:rPr kumimoji="0" lang="zh-CN" altLang="en-US" sz="1200" b="1" dirty="0">
                <a:solidFill>
                  <a:srgbClr val="FF3300"/>
                </a:solidFill>
              </a:rPr>
              <a:t>定义3.10</a:t>
            </a:r>
            <a:r>
              <a:rPr kumimoji="0" lang="zh-CN" altLang="en-US" sz="1200" b="1" dirty="0"/>
              <a:t>  若</a:t>
            </a:r>
            <a:r>
              <a:rPr kumimoji="0" lang="en-US" altLang="zh-CN" sz="1200" b="1" i="1" dirty="0"/>
              <a:t>A</a:t>
            </a:r>
            <a:r>
              <a:rPr kumimoji="0" lang="en-US" altLang="zh-CN" sz="1200" b="1" dirty="0">
                <a:sym typeface="Symbol" panose="05050102010706020507" pitchFamily="18" charset="2"/>
              </a:rPr>
              <a:t></a:t>
            </a:r>
            <a:r>
              <a:rPr kumimoji="0" lang="en-US" altLang="zh-CN" sz="1200" b="1" i="1" dirty="0"/>
              <a:t>B</a:t>
            </a:r>
            <a:r>
              <a:rPr kumimoji="0" lang="zh-CN" altLang="en-US" sz="1200" b="1" dirty="0"/>
              <a:t>是永真式（有效式）, 则称</a:t>
            </a:r>
            <a:r>
              <a:rPr kumimoji="0" lang="en-US" altLang="zh-CN" sz="1200" b="1" i="1" dirty="0"/>
              <a:t>A</a:t>
            </a:r>
            <a:r>
              <a:rPr kumimoji="0" lang="zh-CN" altLang="en-US" sz="1200" b="1" dirty="0"/>
              <a:t>与</a:t>
            </a:r>
            <a:r>
              <a:rPr kumimoji="0" lang="en-US" altLang="zh-CN" sz="1200" b="1" i="1" dirty="0"/>
              <a:t>B</a:t>
            </a:r>
            <a:r>
              <a:rPr kumimoji="0" lang="zh-CN" altLang="en-US" sz="1200" b="1" dirty="0"/>
              <a:t>是</a:t>
            </a:r>
            <a:r>
              <a:rPr kumimoji="0" lang="zh-CN" altLang="en-US" sz="1200" b="1" dirty="0">
                <a:solidFill>
                  <a:srgbClr val="FF3300"/>
                </a:solidFill>
              </a:rPr>
              <a:t>等值</a:t>
            </a:r>
            <a:r>
              <a:rPr kumimoji="0" lang="zh-CN" altLang="en-US" sz="1200" b="1" dirty="0"/>
              <a:t>的, 记作 </a:t>
            </a:r>
            <a:r>
              <a:rPr kumimoji="0" lang="en-US" altLang="zh-CN" sz="1200" b="1" i="1" dirty="0"/>
              <a:t>A</a:t>
            </a:r>
            <a:r>
              <a:rPr kumimoji="0" lang="en-US" altLang="zh-CN" sz="1200" b="1" dirty="0">
                <a:sym typeface="Symbol" panose="05050102010706020507" pitchFamily="18" charset="2"/>
              </a:rPr>
              <a:t></a:t>
            </a:r>
            <a:r>
              <a:rPr kumimoji="0" lang="en-US" altLang="zh-CN" sz="1200" b="1" i="1" dirty="0"/>
              <a:t>B, </a:t>
            </a:r>
            <a:r>
              <a:rPr kumimoji="0" lang="zh-CN" altLang="en-US" sz="1200" b="1" dirty="0"/>
              <a:t>并称</a:t>
            </a:r>
            <a:r>
              <a:rPr kumimoji="0" lang="en-US" altLang="zh-CN" sz="1200" b="1" i="1" dirty="0"/>
              <a:t>A</a:t>
            </a:r>
            <a:r>
              <a:rPr kumimoji="0" lang="en-US" altLang="zh-CN" sz="1200" b="1" dirty="0">
                <a:sym typeface="Symbol" panose="05050102010706020507" pitchFamily="18" charset="2"/>
              </a:rPr>
              <a:t></a:t>
            </a:r>
            <a:r>
              <a:rPr kumimoji="0" lang="en-US" altLang="zh-CN" sz="1200" b="1" i="1" dirty="0"/>
              <a:t>B</a:t>
            </a:r>
            <a:r>
              <a:rPr kumimoji="0" lang="zh-CN" altLang="en-US" sz="1200" b="1" dirty="0"/>
              <a:t>为</a:t>
            </a:r>
            <a:r>
              <a:rPr kumimoji="0" lang="zh-CN" altLang="en-US" sz="1200" b="1" dirty="0">
                <a:solidFill>
                  <a:srgbClr val="FF3300"/>
                </a:solidFill>
              </a:rPr>
              <a:t>等值式</a:t>
            </a:r>
            <a:endParaRPr kumimoji="0" lang="en-US" altLang="zh-CN" sz="1200" b="1" dirty="0">
              <a:solidFill>
                <a:srgbClr val="FF3300"/>
              </a:solidFill>
            </a:endParaRPr>
          </a:p>
          <a:p>
            <a:pPr eaLnBrk="1" hangingPunct="1">
              <a:buClr>
                <a:schemeClr val="bg2"/>
              </a:buClr>
              <a:buSzPct val="75000"/>
              <a:buFont typeface="Wingdings" panose="05000000000000000000" pitchFamily="2" charset="2"/>
              <a:buNone/>
            </a:pPr>
            <a:endParaRPr lang="en-US" altLang="zh-CN" b="1" dirty="0">
              <a:solidFill>
                <a:srgbClr val="FF3300"/>
              </a:solidFill>
            </a:endParaRPr>
          </a:p>
          <a:p>
            <a:pPr eaLnBrk="1" hangingPunct="1">
              <a:buClr>
                <a:schemeClr val="bg2"/>
              </a:buClr>
              <a:buSzPct val="75000"/>
              <a:buFont typeface="Wingdings" panose="05000000000000000000" pitchFamily="2" charset="2"/>
              <a:buNone/>
            </a:pPr>
            <a:r>
              <a:rPr kumimoji="0" lang="en-US" altLang="zh-CN" sz="1200" b="1" dirty="0">
                <a:solidFill>
                  <a:srgbClr val="FF0000"/>
                </a:solidFill>
              </a:rPr>
              <a:t>24</a:t>
            </a:r>
            <a:r>
              <a:rPr kumimoji="0" lang="zh-CN" altLang="en-US" sz="1200" b="1" dirty="0">
                <a:solidFill>
                  <a:srgbClr val="FF0000"/>
                </a:solidFill>
              </a:rPr>
              <a:t>个命题基本等值</a:t>
            </a:r>
            <a:r>
              <a:rPr lang="zh-CN" altLang="en-US" b="1" dirty="0">
                <a:solidFill>
                  <a:srgbClr val="FF0000"/>
                </a:solidFill>
              </a:rPr>
              <a:t>式及其代换实例都是一阶逻辑的等值式</a:t>
            </a:r>
            <a:endParaRPr lang="en-US" altLang="zh-CN" b="1" dirty="0">
              <a:solidFill>
                <a:srgbClr val="FF0000"/>
              </a:solidFill>
            </a:endParaRPr>
          </a:p>
          <a:p>
            <a:pPr eaLnBrk="1" hangingPunct="1">
              <a:buFont typeface="Wingdings" panose="05000000000000000000" pitchFamily="2" charset="2"/>
              <a:buNone/>
            </a:pPr>
            <a:r>
              <a:rPr lang="zh-CN" altLang="en-US" sz="1200" b="1" dirty="0">
                <a:latin typeface="Times New Roman" panose="02020603050405020304" pitchFamily="18" charset="0"/>
              </a:rPr>
              <a:t>如，</a:t>
            </a:r>
            <a:r>
              <a:rPr lang="zh-CN" altLang="en-US" sz="1200" b="1" dirty="0">
                <a:latin typeface="Times New Roman" panose="02020603050405020304" pitchFamily="18" charset="0"/>
                <a:sym typeface="Symbol" panose="05050102010706020507" pitchFamily="18" charset="2"/>
              </a:rPr>
              <a:t></a:t>
            </a:r>
            <a:r>
              <a:rPr lang="en-US" altLang="zh-CN" sz="1200" b="1" i="1" dirty="0">
                <a:latin typeface="Times New Roman" panose="02020603050405020304" pitchFamily="18" charset="0"/>
              </a:rPr>
              <a:t>xF</a:t>
            </a:r>
            <a:r>
              <a:rPr lang="en-US" altLang="zh-CN" sz="1200" b="1" dirty="0">
                <a:latin typeface="Times New Roman" panose="02020603050405020304" pitchFamily="18" charset="0"/>
              </a:rPr>
              <a:t>(</a:t>
            </a:r>
            <a:r>
              <a:rPr lang="en-US" altLang="zh-CN" sz="1200" b="1" i="1" dirty="0">
                <a:latin typeface="Times New Roman" panose="02020603050405020304" pitchFamily="18" charset="0"/>
              </a:rPr>
              <a:t>x</a:t>
            </a:r>
            <a:r>
              <a:rPr lang="en-US" altLang="zh-CN" sz="1200" b="1" dirty="0">
                <a:latin typeface="Times New Roman" panose="02020603050405020304" pitchFamily="18" charset="0"/>
              </a:rPr>
              <a:t>)</a:t>
            </a:r>
            <a:r>
              <a:rPr lang="en-US" altLang="zh-CN" sz="1200" b="1" dirty="0">
                <a:latin typeface="Times New Roman" panose="02020603050405020304" pitchFamily="18" charset="0"/>
                <a:sym typeface="Symbol" panose="05050102010706020507" pitchFamily="18" charset="2"/>
              </a:rPr>
              <a:t></a:t>
            </a:r>
            <a:r>
              <a:rPr lang="en-US" altLang="zh-CN" sz="1200" b="1" i="1" dirty="0">
                <a:latin typeface="Times New Roman" panose="02020603050405020304" pitchFamily="18" charset="0"/>
              </a:rPr>
              <a:t>yG</a:t>
            </a:r>
            <a:r>
              <a:rPr lang="en-US" altLang="zh-CN" sz="1200" b="1" dirty="0">
                <a:latin typeface="Times New Roman" panose="02020603050405020304" pitchFamily="18" charset="0"/>
              </a:rPr>
              <a:t>(</a:t>
            </a:r>
            <a:r>
              <a:rPr lang="en-US" altLang="zh-CN" sz="1200" b="1" i="1" dirty="0">
                <a:latin typeface="Times New Roman" panose="02020603050405020304" pitchFamily="18" charset="0"/>
              </a:rPr>
              <a:t>y</a:t>
            </a:r>
            <a:r>
              <a:rPr lang="en-US" altLang="zh-CN" sz="1200" b="1" dirty="0">
                <a:latin typeface="Times New Roman" panose="02020603050405020304" pitchFamily="18" charset="0"/>
              </a:rPr>
              <a:t>) </a:t>
            </a:r>
            <a:r>
              <a:rPr lang="en-US" altLang="zh-CN" sz="1200" b="1" dirty="0">
                <a:latin typeface="Times New Roman" panose="02020603050405020304" pitchFamily="18" charset="0"/>
                <a:sym typeface="Symbol" panose="05050102010706020507" pitchFamily="18" charset="2"/>
              </a:rPr>
              <a:t> </a:t>
            </a:r>
            <a:r>
              <a:rPr lang="en-US" altLang="zh-CN" sz="1200" b="1" i="1" dirty="0">
                <a:latin typeface="Times New Roman" panose="02020603050405020304" pitchFamily="18" charset="0"/>
              </a:rPr>
              <a:t>xF</a:t>
            </a:r>
            <a:r>
              <a:rPr lang="en-US" altLang="zh-CN" sz="1200" b="1" dirty="0">
                <a:latin typeface="Times New Roman" panose="02020603050405020304" pitchFamily="18" charset="0"/>
              </a:rPr>
              <a:t>(</a:t>
            </a:r>
            <a:r>
              <a:rPr lang="en-US" altLang="zh-CN" sz="1200" b="1" i="1" dirty="0">
                <a:latin typeface="Times New Roman" panose="02020603050405020304" pitchFamily="18" charset="0"/>
              </a:rPr>
              <a:t>x</a:t>
            </a:r>
            <a:r>
              <a:rPr lang="en-US" altLang="zh-CN" sz="1200" b="1" dirty="0">
                <a:latin typeface="Times New Roman" panose="02020603050405020304" pitchFamily="18" charset="0"/>
              </a:rPr>
              <a:t>)</a:t>
            </a:r>
            <a:r>
              <a:rPr lang="en-US" altLang="zh-CN" sz="1200" b="1" dirty="0">
                <a:latin typeface="Times New Roman" panose="02020603050405020304" pitchFamily="18" charset="0"/>
                <a:sym typeface="Symbol" panose="05050102010706020507" pitchFamily="18" charset="2"/>
              </a:rPr>
              <a:t></a:t>
            </a:r>
            <a:r>
              <a:rPr lang="en-US" altLang="zh-CN" sz="1200" b="1" i="1" dirty="0">
                <a:latin typeface="Times New Roman" panose="02020603050405020304" pitchFamily="18" charset="0"/>
              </a:rPr>
              <a:t>yG</a:t>
            </a:r>
            <a:r>
              <a:rPr lang="en-US" altLang="zh-CN" sz="1200" b="1" dirty="0">
                <a:latin typeface="Times New Roman" panose="02020603050405020304" pitchFamily="18" charset="0"/>
              </a:rPr>
              <a:t>(</a:t>
            </a:r>
            <a:r>
              <a:rPr lang="en-US" altLang="zh-CN" sz="1200" b="1" i="1" dirty="0">
                <a:latin typeface="Times New Roman" panose="02020603050405020304" pitchFamily="18" charset="0"/>
              </a:rPr>
              <a:t>y</a:t>
            </a:r>
            <a:r>
              <a:rPr lang="en-US" altLang="zh-CN" sz="1200" b="1" dirty="0">
                <a:latin typeface="Times New Roman" panose="02020603050405020304" pitchFamily="18" charset="0"/>
              </a:rPr>
              <a:t>)</a:t>
            </a:r>
          </a:p>
          <a:p>
            <a:pPr eaLnBrk="1" hangingPunct="1">
              <a:buFont typeface="Wingdings" panose="05000000000000000000" pitchFamily="2" charset="2"/>
              <a:buNone/>
            </a:pPr>
            <a:r>
              <a:rPr lang="en-US" altLang="zh-CN" sz="1200" b="1" dirty="0">
                <a:latin typeface="Times New Roman" panose="02020603050405020304" pitchFamily="18" charset="0"/>
              </a:rPr>
              <a:t>        </a:t>
            </a:r>
            <a:r>
              <a:rPr lang="en-US" altLang="zh-CN" sz="1200" b="1" dirty="0">
                <a:latin typeface="Times New Roman" panose="02020603050405020304" pitchFamily="18" charset="0"/>
                <a:sym typeface="Symbol" panose="05050102010706020507" pitchFamily="18" charset="2"/>
              </a:rPr>
              <a:t></a:t>
            </a:r>
            <a:r>
              <a:rPr lang="en-US" altLang="zh-CN" sz="1200" b="1" dirty="0">
                <a:latin typeface="Times New Roman" panose="02020603050405020304" pitchFamily="18" charset="0"/>
              </a:rPr>
              <a:t>(</a:t>
            </a:r>
            <a:r>
              <a:rPr lang="en-US" altLang="zh-CN" sz="1200" b="1" dirty="0">
                <a:latin typeface="Times New Roman" panose="02020603050405020304" pitchFamily="18" charset="0"/>
                <a:sym typeface="Symbol" panose="05050102010706020507" pitchFamily="18" charset="2"/>
              </a:rPr>
              <a:t></a:t>
            </a:r>
            <a:r>
              <a:rPr lang="en-US" altLang="zh-CN" sz="1200" b="1" i="1" dirty="0">
                <a:latin typeface="Times New Roman" panose="02020603050405020304" pitchFamily="18" charset="0"/>
              </a:rPr>
              <a:t>xF</a:t>
            </a:r>
            <a:r>
              <a:rPr lang="en-US" altLang="zh-CN" sz="1200" b="1" dirty="0">
                <a:latin typeface="Times New Roman" panose="02020603050405020304" pitchFamily="18" charset="0"/>
              </a:rPr>
              <a:t>(</a:t>
            </a:r>
            <a:r>
              <a:rPr lang="en-US" altLang="zh-CN" sz="1200" b="1" i="1" dirty="0">
                <a:latin typeface="Times New Roman" panose="02020603050405020304" pitchFamily="18" charset="0"/>
              </a:rPr>
              <a:t>x</a:t>
            </a:r>
            <a:r>
              <a:rPr lang="en-US" altLang="zh-CN" sz="1200" b="1" dirty="0">
                <a:latin typeface="Times New Roman" panose="02020603050405020304" pitchFamily="18" charset="0"/>
              </a:rPr>
              <a:t>)</a:t>
            </a:r>
            <a:r>
              <a:rPr lang="en-US" altLang="zh-CN" sz="1200" b="1" dirty="0">
                <a:latin typeface="Times New Roman" panose="02020603050405020304" pitchFamily="18" charset="0"/>
                <a:sym typeface="Symbol" panose="05050102010706020507" pitchFamily="18" charset="2"/>
              </a:rPr>
              <a:t></a:t>
            </a:r>
            <a:r>
              <a:rPr lang="en-US" altLang="zh-CN" sz="1200" b="1" i="1" dirty="0">
                <a:latin typeface="Times New Roman" panose="02020603050405020304" pitchFamily="18" charset="0"/>
              </a:rPr>
              <a:t>yG</a:t>
            </a:r>
            <a:r>
              <a:rPr lang="en-US" altLang="zh-CN" sz="1200" b="1" dirty="0">
                <a:latin typeface="Times New Roman" panose="02020603050405020304" pitchFamily="18" charset="0"/>
              </a:rPr>
              <a:t>(</a:t>
            </a:r>
            <a:r>
              <a:rPr lang="en-US" altLang="zh-CN" sz="1200" b="1" i="1" dirty="0">
                <a:latin typeface="Times New Roman" panose="02020603050405020304" pitchFamily="18" charset="0"/>
              </a:rPr>
              <a:t>y</a:t>
            </a:r>
            <a:r>
              <a:rPr lang="en-US" altLang="zh-CN" sz="1200" b="1" dirty="0">
                <a:latin typeface="Times New Roman" panose="02020603050405020304" pitchFamily="18" charset="0"/>
              </a:rPr>
              <a:t>)) </a:t>
            </a:r>
            <a:r>
              <a:rPr lang="en-US" altLang="zh-CN" sz="1200" b="1" dirty="0">
                <a:latin typeface="Times New Roman" panose="02020603050405020304" pitchFamily="18" charset="0"/>
                <a:sym typeface="Symbol" panose="05050102010706020507" pitchFamily="18" charset="2"/>
              </a:rPr>
              <a:t> </a:t>
            </a:r>
            <a:r>
              <a:rPr lang="en-US" altLang="zh-CN" sz="1200" b="1" i="1" dirty="0">
                <a:latin typeface="Times New Roman" panose="02020603050405020304" pitchFamily="18" charset="0"/>
              </a:rPr>
              <a:t>xF</a:t>
            </a:r>
            <a:r>
              <a:rPr lang="en-US" altLang="zh-CN" sz="1200" b="1" dirty="0">
                <a:latin typeface="Times New Roman" panose="02020603050405020304" pitchFamily="18" charset="0"/>
              </a:rPr>
              <a:t>(</a:t>
            </a:r>
            <a:r>
              <a:rPr lang="en-US" altLang="zh-CN" sz="1200" b="1" i="1" dirty="0">
                <a:latin typeface="Times New Roman" panose="02020603050405020304" pitchFamily="18" charset="0"/>
              </a:rPr>
              <a:t>x</a:t>
            </a:r>
            <a:r>
              <a:rPr lang="en-US" altLang="zh-CN" sz="1200" b="1" dirty="0">
                <a:latin typeface="Times New Roman" panose="02020603050405020304" pitchFamily="18" charset="0"/>
              </a:rPr>
              <a:t>)</a:t>
            </a:r>
            <a:r>
              <a:rPr lang="en-US" altLang="zh-CN" sz="1200" b="1" dirty="0">
                <a:latin typeface="Times New Roman" panose="02020603050405020304" pitchFamily="18" charset="0"/>
                <a:sym typeface="Symbol" panose="05050102010706020507" pitchFamily="18" charset="2"/>
              </a:rPr>
              <a:t></a:t>
            </a:r>
            <a:r>
              <a:rPr lang="en-US" altLang="zh-CN" sz="1200" b="1" i="1" dirty="0">
                <a:latin typeface="Times New Roman" panose="02020603050405020304" pitchFamily="18" charset="0"/>
              </a:rPr>
              <a:t>yG</a:t>
            </a:r>
            <a:r>
              <a:rPr lang="en-US" altLang="zh-CN" sz="1200" b="1" dirty="0">
                <a:latin typeface="Times New Roman" panose="02020603050405020304" pitchFamily="18" charset="0"/>
              </a:rPr>
              <a:t>(</a:t>
            </a:r>
            <a:r>
              <a:rPr lang="en-US" altLang="zh-CN" sz="1200" b="1" i="1" dirty="0">
                <a:latin typeface="Times New Roman" panose="02020603050405020304" pitchFamily="18" charset="0"/>
              </a:rPr>
              <a:t>y</a:t>
            </a:r>
            <a:r>
              <a:rPr lang="en-US" altLang="zh-CN" sz="1200" b="1" dirty="0">
                <a:latin typeface="Times New Roman" panose="02020603050405020304" pitchFamily="18" charset="0"/>
              </a:rPr>
              <a:t>)   </a:t>
            </a:r>
            <a:r>
              <a:rPr lang="zh-CN" altLang="en-US" sz="1200" b="1" dirty="0">
                <a:latin typeface="Times New Roman" panose="02020603050405020304" pitchFamily="18" charset="0"/>
              </a:rPr>
              <a:t>等 </a:t>
            </a:r>
            <a:endParaRPr lang="en-US" altLang="zh-CN" sz="1200" b="1" dirty="0">
              <a:latin typeface="Times New Roman" panose="02020603050405020304" pitchFamily="18" charset="0"/>
            </a:endParaRPr>
          </a:p>
          <a:p>
            <a:pPr eaLnBrk="1" hangingPunct="1">
              <a:spcBef>
                <a:spcPct val="60000"/>
              </a:spcBef>
              <a:buFontTx/>
              <a:buNone/>
            </a:pPr>
            <a:r>
              <a:rPr lang="zh-CN" altLang="en-US" b="1" dirty="0">
                <a:solidFill>
                  <a:srgbClr val="FF0000"/>
                </a:solidFill>
              </a:rPr>
              <a:t>消去量词等值式</a:t>
            </a:r>
            <a:endParaRPr lang="en-US" altLang="zh-CN" b="1" dirty="0">
              <a:solidFill>
                <a:srgbClr val="FF0000"/>
              </a:solidFill>
            </a:endParaRPr>
          </a:p>
          <a:p>
            <a:pPr eaLnBrk="1" hangingPunct="1">
              <a:spcBef>
                <a:spcPct val="60000"/>
              </a:spcBef>
              <a:buFontTx/>
              <a:buNone/>
            </a:pPr>
            <a:r>
              <a:rPr lang="zh-CN" altLang="en-US" sz="1200" b="1" dirty="0"/>
              <a:t>     设</a:t>
            </a:r>
            <a:r>
              <a:rPr lang="en-US" altLang="zh-CN" sz="1200" b="1" i="1" dirty="0"/>
              <a:t>D</a:t>
            </a:r>
            <a:r>
              <a:rPr lang="en-US" altLang="zh-CN" sz="1200" b="1" dirty="0"/>
              <a:t>={</a:t>
            </a:r>
            <a:r>
              <a:rPr lang="en-US" altLang="zh-CN" sz="1200" b="1" i="1" dirty="0"/>
              <a:t>a</a:t>
            </a:r>
            <a:r>
              <a:rPr lang="en-US" altLang="zh-CN" sz="1200" b="1" baseline="-30000" dirty="0"/>
              <a:t>1</a:t>
            </a:r>
            <a:r>
              <a:rPr lang="en-US" altLang="zh-CN" sz="1200" b="1" dirty="0"/>
              <a:t>,</a:t>
            </a:r>
            <a:r>
              <a:rPr lang="en-US" altLang="zh-CN" sz="1200" b="1" i="1" dirty="0"/>
              <a:t>a</a:t>
            </a:r>
            <a:r>
              <a:rPr lang="en-US" altLang="zh-CN" sz="1200" b="1" baseline="-30000" dirty="0"/>
              <a:t>2</a:t>
            </a:r>
            <a:r>
              <a:rPr lang="en-US" altLang="zh-CN" sz="1200" b="1" dirty="0"/>
              <a:t>,…,</a:t>
            </a:r>
            <a:r>
              <a:rPr lang="en-US" altLang="zh-CN" sz="1200" b="1" i="1" dirty="0"/>
              <a:t>a</a:t>
            </a:r>
            <a:r>
              <a:rPr lang="en-US" altLang="zh-CN" sz="1200" b="1" i="1" baseline="-30000" dirty="0"/>
              <a:t>n</a:t>
            </a:r>
            <a:r>
              <a:rPr lang="en-US" altLang="zh-CN" sz="1200" b="1" dirty="0"/>
              <a:t>} </a:t>
            </a:r>
          </a:p>
          <a:p>
            <a:pPr eaLnBrk="1" hangingPunct="1">
              <a:buFontTx/>
              <a:buNone/>
            </a:pPr>
            <a:r>
              <a:rPr lang="en-US" altLang="zh-CN" sz="1200" b="1" dirty="0">
                <a:sym typeface="Symbol" panose="05050102010706020507" pitchFamily="18" charset="2"/>
              </a:rPr>
              <a:t>     </a:t>
            </a:r>
            <a:r>
              <a:rPr lang="en-US" altLang="zh-CN" sz="1200" b="1" i="1" dirty="0"/>
              <a:t>xA</a:t>
            </a:r>
            <a:r>
              <a:rPr lang="en-US" altLang="zh-CN" sz="1200" b="1" dirty="0"/>
              <a:t>(</a:t>
            </a:r>
            <a:r>
              <a:rPr lang="en-US" altLang="zh-CN" sz="1200" b="1" i="1" dirty="0"/>
              <a:t>x</a:t>
            </a:r>
            <a:r>
              <a:rPr lang="en-US" altLang="zh-CN" sz="1200" b="1" dirty="0"/>
              <a:t>)</a:t>
            </a:r>
            <a:r>
              <a:rPr lang="en-US" altLang="zh-CN" sz="1200" b="1" dirty="0">
                <a:sym typeface="Symbol" panose="05050102010706020507" pitchFamily="18" charset="2"/>
              </a:rPr>
              <a:t></a:t>
            </a:r>
            <a:r>
              <a:rPr lang="en-US" altLang="zh-CN" sz="1200" b="1" i="1" dirty="0"/>
              <a:t>A</a:t>
            </a:r>
            <a:r>
              <a:rPr lang="en-US" altLang="zh-CN" sz="1200" b="1" dirty="0"/>
              <a:t>(</a:t>
            </a:r>
            <a:r>
              <a:rPr lang="en-US" altLang="zh-CN" sz="1200" b="1" i="1" dirty="0"/>
              <a:t>a</a:t>
            </a:r>
            <a:r>
              <a:rPr lang="en-US" altLang="zh-CN" sz="1200" b="1" baseline="-30000" dirty="0"/>
              <a:t>1</a:t>
            </a:r>
            <a:r>
              <a:rPr lang="en-US" altLang="zh-CN" sz="1200" b="1" dirty="0"/>
              <a:t>)</a:t>
            </a:r>
            <a:r>
              <a:rPr lang="en-US" altLang="zh-CN" sz="1200" b="1" dirty="0">
                <a:sym typeface="Symbol" panose="05050102010706020507" pitchFamily="18" charset="2"/>
              </a:rPr>
              <a:t></a:t>
            </a:r>
            <a:r>
              <a:rPr lang="en-US" altLang="zh-CN" sz="1200" b="1" i="1" dirty="0"/>
              <a:t>A</a:t>
            </a:r>
            <a:r>
              <a:rPr lang="en-US" altLang="zh-CN" sz="1200" b="1" dirty="0"/>
              <a:t>(</a:t>
            </a:r>
            <a:r>
              <a:rPr lang="en-US" altLang="zh-CN" sz="1200" b="1" i="1" dirty="0"/>
              <a:t>a</a:t>
            </a:r>
            <a:r>
              <a:rPr lang="en-US" altLang="zh-CN" sz="1200" b="1" baseline="-30000" dirty="0"/>
              <a:t>2</a:t>
            </a:r>
            <a:r>
              <a:rPr lang="en-US" altLang="zh-CN" sz="1200" b="1" dirty="0"/>
              <a:t>)</a:t>
            </a:r>
            <a:r>
              <a:rPr lang="en-US" altLang="zh-CN" sz="1200" b="1" dirty="0">
                <a:sym typeface="Symbol" panose="05050102010706020507" pitchFamily="18" charset="2"/>
              </a:rPr>
              <a:t></a:t>
            </a:r>
            <a:r>
              <a:rPr lang="en-US" altLang="zh-CN" sz="1200" b="1" dirty="0"/>
              <a:t>…</a:t>
            </a:r>
            <a:r>
              <a:rPr lang="en-US" altLang="zh-CN" sz="1200" b="1" dirty="0">
                <a:sym typeface="Symbol" panose="05050102010706020507" pitchFamily="18" charset="2"/>
              </a:rPr>
              <a:t></a:t>
            </a:r>
            <a:r>
              <a:rPr lang="en-US" altLang="zh-CN" sz="1200" b="1" i="1" dirty="0"/>
              <a:t>A</a:t>
            </a:r>
            <a:r>
              <a:rPr lang="en-US" altLang="zh-CN" sz="1200" b="1" dirty="0"/>
              <a:t>(</a:t>
            </a:r>
            <a:r>
              <a:rPr lang="en-US" altLang="zh-CN" sz="1200" b="1" i="1" dirty="0"/>
              <a:t>a</a:t>
            </a:r>
            <a:r>
              <a:rPr lang="en-US" altLang="zh-CN" sz="1200" b="1" i="1" baseline="-30000" dirty="0"/>
              <a:t>n</a:t>
            </a:r>
            <a:r>
              <a:rPr lang="en-US" altLang="zh-CN" sz="1200" b="1" dirty="0"/>
              <a:t>) </a:t>
            </a:r>
          </a:p>
          <a:p>
            <a:pPr eaLnBrk="1" hangingPunct="1">
              <a:buFontTx/>
              <a:buNone/>
            </a:pPr>
            <a:r>
              <a:rPr lang="en-US" altLang="zh-CN" sz="1200" b="1" dirty="0">
                <a:sym typeface="Symbol" panose="05050102010706020507" pitchFamily="18" charset="2"/>
              </a:rPr>
              <a:t>     </a:t>
            </a:r>
            <a:r>
              <a:rPr lang="en-US" altLang="zh-CN" sz="1200" b="1" i="1" dirty="0"/>
              <a:t>xA</a:t>
            </a:r>
            <a:r>
              <a:rPr lang="en-US" altLang="zh-CN" sz="1200" b="1" dirty="0"/>
              <a:t>(</a:t>
            </a:r>
            <a:r>
              <a:rPr lang="en-US" altLang="zh-CN" sz="1200" b="1" i="1" dirty="0"/>
              <a:t>x</a:t>
            </a:r>
            <a:r>
              <a:rPr lang="en-US" altLang="zh-CN" sz="1200" b="1" dirty="0"/>
              <a:t>)</a:t>
            </a:r>
            <a:r>
              <a:rPr lang="en-US" altLang="zh-CN" sz="1200" b="1" dirty="0">
                <a:sym typeface="Symbol" panose="05050102010706020507" pitchFamily="18" charset="2"/>
              </a:rPr>
              <a:t></a:t>
            </a:r>
            <a:r>
              <a:rPr lang="en-US" altLang="zh-CN" sz="1200" b="1" i="1" dirty="0"/>
              <a:t>A</a:t>
            </a:r>
            <a:r>
              <a:rPr lang="en-US" altLang="zh-CN" sz="1200" b="1" dirty="0"/>
              <a:t>(</a:t>
            </a:r>
            <a:r>
              <a:rPr lang="en-US" altLang="zh-CN" sz="1200" b="1" i="1" dirty="0"/>
              <a:t>a</a:t>
            </a:r>
            <a:r>
              <a:rPr lang="en-US" altLang="zh-CN" sz="1200" b="1" baseline="-30000" dirty="0"/>
              <a:t>1</a:t>
            </a:r>
            <a:r>
              <a:rPr lang="en-US" altLang="zh-CN" sz="1200" b="1" dirty="0"/>
              <a:t>)</a:t>
            </a:r>
            <a:r>
              <a:rPr lang="en-US" altLang="zh-CN" sz="1200" b="1" dirty="0">
                <a:sym typeface="Symbol" panose="05050102010706020507" pitchFamily="18" charset="2"/>
              </a:rPr>
              <a:t></a:t>
            </a:r>
            <a:r>
              <a:rPr lang="en-US" altLang="zh-CN" sz="1200" b="1" i="1" dirty="0"/>
              <a:t>A</a:t>
            </a:r>
            <a:r>
              <a:rPr lang="en-US" altLang="zh-CN" sz="1200" b="1" dirty="0"/>
              <a:t>(</a:t>
            </a:r>
            <a:r>
              <a:rPr lang="en-US" altLang="zh-CN" sz="1200" b="1" i="1" dirty="0"/>
              <a:t>a</a:t>
            </a:r>
            <a:r>
              <a:rPr lang="en-US" altLang="zh-CN" sz="1200" b="1" baseline="-30000" dirty="0"/>
              <a:t>2</a:t>
            </a:r>
            <a:r>
              <a:rPr lang="en-US" altLang="zh-CN" sz="1200" b="1" dirty="0"/>
              <a:t>)</a:t>
            </a:r>
            <a:r>
              <a:rPr lang="en-US" altLang="zh-CN" sz="1200" b="1" dirty="0">
                <a:sym typeface="Symbol" panose="05050102010706020507" pitchFamily="18" charset="2"/>
              </a:rPr>
              <a:t></a:t>
            </a:r>
            <a:r>
              <a:rPr lang="en-US" altLang="zh-CN" sz="1200" b="1" dirty="0"/>
              <a:t>…</a:t>
            </a:r>
            <a:r>
              <a:rPr lang="en-US" altLang="zh-CN" sz="1200" b="1" dirty="0">
                <a:sym typeface="Symbol" panose="05050102010706020507" pitchFamily="18" charset="2"/>
              </a:rPr>
              <a:t></a:t>
            </a:r>
            <a:r>
              <a:rPr lang="en-US" altLang="zh-CN" sz="1200" b="1" i="1" dirty="0"/>
              <a:t>A</a:t>
            </a:r>
            <a:r>
              <a:rPr lang="en-US" altLang="zh-CN" sz="1200" b="1" dirty="0"/>
              <a:t>(</a:t>
            </a:r>
            <a:r>
              <a:rPr lang="en-US" altLang="zh-CN" sz="1200" b="1" i="1" dirty="0"/>
              <a:t>a</a:t>
            </a:r>
            <a:r>
              <a:rPr lang="en-US" altLang="zh-CN" sz="1200" b="1" i="1" baseline="-30000" dirty="0"/>
              <a:t>n</a:t>
            </a:r>
            <a:r>
              <a:rPr lang="en-US" altLang="zh-CN" sz="1200" b="1" dirty="0"/>
              <a:t>)</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38</a:t>
            </a:fld>
            <a:endParaRPr lang="zh-CN" altLang="en-US"/>
          </a:p>
        </p:txBody>
      </p:sp>
    </p:spTree>
    <p:extLst>
      <p:ext uri="{BB962C8B-B14F-4D97-AF65-F5344CB8AC3E}">
        <p14:creationId xmlns:p14="http://schemas.microsoft.com/office/powerpoint/2010/main" val="334202651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buClr>
                <a:schemeClr val="bg2"/>
              </a:buClr>
              <a:buSzPct val="75000"/>
              <a:buFont typeface="Wingdings" panose="05000000000000000000" pitchFamily="2" charset="2"/>
              <a:buNone/>
            </a:pPr>
            <a:r>
              <a:rPr kumimoji="0" lang="zh-CN" altLang="en-US" sz="1200" b="1" dirty="0">
                <a:solidFill>
                  <a:srgbClr val="FF3300"/>
                </a:solidFill>
              </a:rPr>
              <a:t>定义3.10</a:t>
            </a:r>
            <a:r>
              <a:rPr kumimoji="0" lang="zh-CN" altLang="en-US" sz="1200" b="1" dirty="0"/>
              <a:t>  若</a:t>
            </a:r>
            <a:r>
              <a:rPr kumimoji="0" lang="en-US" altLang="zh-CN" sz="1200" b="1" i="1" dirty="0"/>
              <a:t>A</a:t>
            </a:r>
            <a:r>
              <a:rPr kumimoji="0" lang="en-US" altLang="zh-CN" sz="1200" b="1" dirty="0">
                <a:sym typeface="Symbol" panose="05050102010706020507" pitchFamily="18" charset="2"/>
              </a:rPr>
              <a:t></a:t>
            </a:r>
            <a:r>
              <a:rPr kumimoji="0" lang="en-US" altLang="zh-CN" sz="1200" b="1" i="1" dirty="0"/>
              <a:t>B</a:t>
            </a:r>
            <a:r>
              <a:rPr kumimoji="0" lang="zh-CN" altLang="en-US" sz="1200" b="1" dirty="0"/>
              <a:t>是永真式（有效式）, 则称</a:t>
            </a:r>
            <a:r>
              <a:rPr kumimoji="0" lang="en-US" altLang="zh-CN" sz="1200" b="1" i="1" dirty="0"/>
              <a:t>A</a:t>
            </a:r>
            <a:r>
              <a:rPr kumimoji="0" lang="zh-CN" altLang="en-US" sz="1200" b="1" dirty="0"/>
              <a:t>与</a:t>
            </a:r>
            <a:r>
              <a:rPr kumimoji="0" lang="en-US" altLang="zh-CN" sz="1200" b="1" i="1" dirty="0"/>
              <a:t>B</a:t>
            </a:r>
            <a:r>
              <a:rPr kumimoji="0" lang="zh-CN" altLang="en-US" sz="1200" b="1" dirty="0"/>
              <a:t>是</a:t>
            </a:r>
            <a:r>
              <a:rPr kumimoji="0" lang="zh-CN" altLang="en-US" sz="1200" b="1" dirty="0">
                <a:solidFill>
                  <a:srgbClr val="FF3300"/>
                </a:solidFill>
              </a:rPr>
              <a:t>等值</a:t>
            </a:r>
            <a:r>
              <a:rPr kumimoji="0" lang="zh-CN" altLang="en-US" sz="1200" b="1" dirty="0"/>
              <a:t>的, 记作 </a:t>
            </a:r>
            <a:r>
              <a:rPr kumimoji="0" lang="en-US" altLang="zh-CN" sz="1200" b="1" i="1" dirty="0"/>
              <a:t>A</a:t>
            </a:r>
            <a:r>
              <a:rPr kumimoji="0" lang="en-US" altLang="zh-CN" sz="1200" b="1" dirty="0">
                <a:sym typeface="Symbol" panose="05050102010706020507" pitchFamily="18" charset="2"/>
              </a:rPr>
              <a:t></a:t>
            </a:r>
            <a:r>
              <a:rPr kumimoji="0" lang="en-US" altLang="zh-CN" sz="1200" b="1" i="1" dirty="0"/>
              <a:t>B, </a:t>
            </a:r>
            <a:r>
              <a:rPr kumimoji="0" lang="zh-CN" altLang="en-US" sz="1200" b="1" dirty="0"/>
              <a:t>并称</a:t>
            </a:r>
            <a:r>
              <a:rPr kumimoji="0" lang="en-US" altLang="zh-CN" sz="1200" b="1" i="1" dirty="0"/>
              <a:t>A</a:t>
            </a:r>
            <a:r>
              <a:rPr kumimoji="0" lang="en-US" altLang="zh-CN" sz="1200" b="1" dirty="0">
                <a:sym typeface="Symbol" panose="05050102010706020507" pitchFamily="18" charset="2"/>
              </a:rPr>
              <a:t></a:t>
            </a:r>
            <a:r>
              <a:rPr kumimoji="0" lang="en-US" altLang="zh-CN" sz="1200" b="1" i="1" dirty="0"/>
              <a:t>B</a:t>
            </a:r>
            <a:r>
              <a:rPr kumimoji="0" lang="zh-CN" altLang="en-US" sz="1200" b="1" dirty="0"/>
              <a:t>为</a:t>
            </a:r>
            <a:r>
              <a:rPr kumimoji="0" lang="zh-CN" altLang="en-US" sz="1200" b="1" dirty="0">
                <a:solidFill>
                  <a:srgbClr val="FF3300"/>
                </a:solidFill>
              </a:rPr>
              <a:t>等值式</a:t>
            </a:r>
            <a:endParaRPr kumimoji="0" lang="en-US" altLang="zh-CN" sz="1200" b="1" dirty="0">
              <a:solidFill>
                <a:srgbClr val="FF3300"/>
              </a:solidFill>
            </a:endParaRPr>
          </a:p>
          <a:p>
            <a:pPr eaLnBrk="1" hangingPunct="1">
              <a:buClr>
                <a:schemeClr val="bg2"/>
              </a:buClr>
              <a:buSzPct val="75000"/>
              <a:buFont typeface="Wingdings" panose="05000000000000000000" pitchFamily="2" charset="2"/>
              <a:buNone/>
            </a:pPr>
            <a:endParaRPr lang="en-US" altLang="zh-CN" b="1" dirty="0">
              <a:solidFill>
                <a:srgbClr val="FF3300"/>
              </a:solidFill>
            </a:endParaRPr>
          </a:p>
          <a:p>
            <a:pPr eaLnBrk="1" hangingPunct="1">
              <a:buClr>
                <a:schemeClr val="bg2"/>
              </a:buClr>
              <a:buSzPct val="75000"/>
              <a:buFont typeface="Wingdings" panose="05000000000000000000" pitchFamily="2" charset="2"/>
              <a:buNone/>
            </a:pPr>
            <a:r>
              <a:rPr kumimoji="0" lang="en-US" altLang="zh-CN" sz="1200" b="1" dirty="0">
                <a:solidFill>
                  <a:srgbClr val="FF0000"/>
                </a:solidFill>
              </a:rPr>
              <a:t>24</a:t>
            </a:r>
            <a:r>
              <a:rPr kumimoji="0" lang="zh-CN" altLang="en-US" sz="1200" b="1" dirty="0">
                <a:solidFill>
                  <a:srgbClr val="FF0000"/>
                </a:solidFill>
              </a:rPr>
              <a:t>个命题基本等值</a:t>
            </a:r>
            <a:r>
              <a:rPr lang="zh-CN" altLang="en-US" b="1" dirty="0">
                <a:solidFill>
                  <a:srgbClr val="FF0000"/>
                </a:solidFill>
              </a:rPr>
              <a:t>式及其代换实例都是一阶逻辑的等值式</a:t>
            </a:r>
            <a:endParaRPr lang="en-US" altLang="zh-CN" b="1" dirty="0">
              <a:solidFill>
                <a:srgbClr val="FF0000"/>
              </a:solidFill>
            </a:endParaRPr>
          </a:p>
          <a:p>
            <a:pPr eaLnBrk="1" hangingPunct="1">
              <a:buFont typeface="Wingdings" panose="05000000000000000000" pitchFamily="2" charset="2"/>
              <a:buNone/>
            </a:pPr>
            <a:r>
              <a:rPr lang="zh-CN" altLang="en-US" sz="1200" b="1" dirty="0">
                <a:latin typeface="Times New Roman" panose="02020603050405020304" pitchFamily="18" charset="0"/>
              </a:rPr>
              <a:t>如，</a:t>
            </a:r>
            <a:r>
              <a:rPr lang="zh-CN" altLang="en-US" sz="1200" b="1" dirty="0">
                <a:latin typeface="Times New Roman" panose="02020603050405020304" pitchFamily="18" charset="0"/>
                <a:sym typeface="Symbol" panose="05050102010706020507" pitchFamily="18" charset="2"/>
              </a:rPr>
              <a:t></a:t>
            </a:r>
            <a:r>
              <a:rPr lang="en-US" altLang="zh-CN" sz="1200" b="1" i="1" dirty="0">
                <a:latin typeface="Times New Roman" panose="02020603050405020304" pitchFamily="18" charset="0"/>
              </a:rPr>
              <a:t>xF</a:t>
            </a:r>
            <a:r>
              <a:rPr lang="en-US" altLang="zh-CN" sz="1200" b="1" dirty="0">
                <a:latin typeface="Times New Roman" panose="02020603050405020304" pitchFamily="18" charset="0"/>
              </a:rPr>
              <a:t>(</a:t>
            </a:r>
            <a:r>
              <a:rPr lang="en-US" altLang="zh-CN" sz="1200" b="1" i="1" dirty="0">
                <a:latin typeface="Times New Roman" panose="02020603050405020304" pitchFamily="18" charset="0"/>
              </a:rPr>
              <a:t>x</a:t>
            </a:r>
            <a:r>
              <a:rPr lang="en-US" altLang="zh-CN" sz="1200" b="1" dirty="0">
                <a:latin typeface="Times New Roman" panose="02020603050405020304" pitchFamily="18" charset="0"/>
              </a:rPr>
              <a:t>)</a:t>
            </a:r>
            <a:r>
              <a:rPr lang="en-US" altLang="zh-CN" sz="1200" b="1" dirty="0">
                <a:latin typeface="Times New Roman" panose="02020603050405020304" pitchFamily="18" charset="0"/>
                <a:sym typeface="Symbol" panose="05050102010706020507" pitchFamily="18" charset="2"/>
              </a:rPr>
              <a:t></a:t>
            </a:r>
            <a:r>
              <a:rPr lang="en-US" altLang="zh-CN" sz="1200" b="1" i="1" dirty="0">
                <a:latin typeface="Times New Roman" panose="02020603050405020304" pitchFamily="18" charset="0"/>
              </a:rPr>
              <a:t>yG</a:t>
            </a:r>
            <a:r>
              <a:rPr lang="en-US" altLang="zh-CN" sz="1200" b="1" dirty="0">
                <a:latin typeface="Times New Roman" panose="02020603050405020304" pitchFamily="18" charset="0"/>
              </a:rPr>
              <a:t>(</a:t>
            </a:r>
            <a:r>
              <a:rPr lang="en-US" altLang="zh-CN" sz="1200" b="1" i="1" dirty="0">
                <a:latin typeface="Times New Roman" panose="02020603050405020304" pitchFamily="18" charset="0"/>
              </a:rPr>
              <a:t>y</a:t>
            </a:r>
            <a:r>
              <a:rPr lang="en-US" altLang="zh-CN" sz="1200" b="1" dirty="0">
                <a:latin typeface="Times New Roman" panose="02020603050405020304" pitchFamily="18" charset="0"/>
              </a:rPr>
              <a:t>) </a:t>
            </a:r>
            <a:r>
              <a:rPr lang="en-US" altLang="zh-CN" sz="1200" b="1" dirty="0">
                <a:latin typeface="Times New Roman" panose="02020603050405020304" pitchFamily="18" charset="0"/>
                <a:sym typeface="Symbol" panose="05050102010706020507" pitchFamily="18" charset="2"/>
              </a:rPr>
              <a:t> </a:t>
            </a:r>
            <a:r>
              <a:rPr lang="en-US" altLang="zh-CN" sz="1200" b="1" i="1" dirty="0">
                <a:latin typeface="Times New Roman" panose="02020603050405020304" pitchFamily="18" charset="0"/>
              </a:rPr>
              <a:t>xF</a:t>
            </a:r>
            <a:r>
              <a:rPr lang="en-US" altLang="zh-CN" sz="1200" b="1" dirty="0">
                <a:latin typeface="Times New Roman" panose="02020603050405020304" pitchFamily="18" charset="0"/>
              </a:rPr>
              <a:t>(</a:t>
            </a:r>
            <a:r>
              <a:rPr lang="en-US" altLang="zh-CN" sz="1200" b="1" i="1" dirty="0">
                <a:latin typeface="Times New Roman" panose="02020603050405020304" pitchFamily="18" charset="0"/>
              </a:rPr>
              <a:t>x</a:t>
            </a:r>
            <a:r>
              <a:rPr lang="en-US" altLang="zh-CN" sz="1200" b="1" dirty="0">
                <a:latin typeface="Times New Roman" panose="02020603050405020304" pitchFamily="18" charset="0"/>
              </a:rPr>
              <a:t>)</a:t>
            </a:r>
            <a:r>
              <a:rPr lang="en-US" altLang="zh-CN" sz="1200" b="1" dirty="0">
                <a:latin typeface="Times New Roman" panose="02020603050405020304" pitchFamily="18" charset="0"/>
                <a:sym typeface="Symbol" panose="05050102010706020507" pitchFamily="18" charset="2"/>
              </a:rPr>
              <a:t></a:t>
            </a:r>
            <a:r>
              <a:rPr lang="en-US" altLang="zh-CN" sz="1200" b="1" i="1" dirty="0">
                <a:latin typeface="Times New Roman" panose="02020603050405020304" pitchFamily="18" charset="0"/>
              </a:rPr>
              <a:t>yG</a:t>
            </a:r>
            <a:r>
              <a:rPr lang="en-US" altLang="zh-CN" sz="1200" b="1" dirty="0">
                <a:latin typeface="Times New Roman" panose="02020603050405020304" pitchFamily="18" charset="0"/>
              </a:rPr>
              <a:t>(</a:t>
            </a:r>
            <a:r>
              <a:rPr lang="en-US" altLang="zh-CN" sz="1200" b="1" i="1" dirty="0">
                <a:latin typeface="Times New Roman" panose="02020603050405020304" pitchFamily="18" charset="0"/>
              </a:rPr>
              <a:t>y</a:t>
            </a:r>
            <a:r>
              <a:rPr lang="en-US" altLang="zh-CN" sz="1200" b="1" dirty="0">
                <a:latin typeface="Times New Roman" panose="02020603050405020304" pitchFamily="18" charset="0"/>
              </a:rPr>
              <a:t>)</a:t>
            </a:r>
          </a:p>
          <a:p>
            <a:pPr eaLnBrk="1" hangingPunct="1">
              <a:buFont typeface="Wingdings" panose="05000000000000000000" pitchFamily="2" charset="2"/>
              <a:buNone/>
            </a:pPr>
            <a:r>
              <a:rPr lang="en-US" altLang="zh-CN" sz="1200" b="1" dirty="0">
                <a:latin typeface="Times New Roman" panose="02020603050405020304" pitchFamily="18" charset="0"/>
              </a:rPr>
              <a:t>        </a:t>
            </a:r>
            <a:r>
              <a:rPr lang="en-US" altLang="zh-CN" sz="1200" b="1" dirty="0">
                <a:latin typeface="Times New Roman" panose="02020603050405020304" pitchFamily="18" charset="0"/>
                <a:sym typeface="Symbol" panose="05050102010706020507" pitchFamily="18" charset="2"/>
              </a:rPr>
              <a:t></a:t>
            </a:r>
            <a:r>
              <a:rPr lang="en-US" altLang="zh-CN" sz="1200" b="1" dirty="0">
                <a:latin typeface="Times New Roman" panose="02020603050405020304" pitchFamily="18" charset="0"/>
              </a:rPr>
              <a:t>(</a:t>
            </a:r>
            <a:r>
              <a:rPr lang="en-US" altLang="zh-CN" sz="1200" b="1" dirty="0">
                <a:latin typeface="Times New Roman" panose="02020603050405020304" pitchFamily="18" charset="0"/>
                <a:sym typeface="Symbol" panose="05050102010706020507" pitchFamily="18" charset="2"/>
              </a:rPr>
              <a:t></a:t>
            </a:r>
            <a:r>
              <a:rPr lang="en-US" altLang="zh-CN" sz="1200" b="1" i="1" dirty="0">
                <a:latin typeface="Times New Roman" panose="02020603050405020304" pitchFamily="18" charset="0"/>
              </a:rPr>
              <a:t>xF</a:t>
            </a:r>
            <a:r>
              <a:rPr lang="en-US" altLang="zh-CN" sz="1200" b="1" dirty="0">
                <a:latin typeface="Times New Roman" panose="02020603050405020304" pitchFamily="18" charset="0"/>
              </a:rPr>
              <a:t>(</a:t>
            </a:r>
            <a:r>
              <a:rPr lang="en-US" altLang="zh-CN" sz="1200" b="1" i="1" dirty="0">
                <a:latin typeface="Times New Roman" panose="02020603050405020304" pitchFamily="18" charset="0"/>
              </a:rPr>
              <a:t>x</a:t>
            </a:r>
            <a:r>
              <a:rPr lang="en-US" altLang="zh-CN" sz="1200" b="1" dirty="0">
                <a:latin typeface="Times New Roman" panose="02020603050405020304" pitchFamily="18" charset="0"/>
              </a:rPr>
              <a:t>)</a:t>
            </a:r>
            <a:r>
              <a:rPr lang="en-US" altLang="zh-CN" sz="1200" b="1" dirty="0">
                <a:latin typeface="Times New Roman" panose="02020603050405020304" pitchFamily="18" charset="0"/>
                <a:sym typeface="Symbol" panose="05050102010706020507" pitchFamily="18" charset="2"/>
              </a:rPr>
              <a:t></a:t>
            </a:r>
            <a:r>
              <a:rPr lang="en-US" altLang="zh-CN" sz="1200" b="1" i="1" dirty="0">
                <a:latin typeface="Times New Roman" panose="02020603050405020304" pitchFamily="18" charset="0"/>
              </a:rPr>
              <a:t>yG</a:t>
            </a:r>
            <a:r>
              <a:rPr lang="en-US" altLang="zh-CN" sz="1200" b="1" dirty="0">
                <a:latin typeface="Times New Roman" panose="02020603050405020304" pitchFamily="18" charset="0"/>
              </a:rPr>
              <a:t>(</a:t>
            </a:r>
            <a:r>
              <a:rPr lang="en-US" altLang="zh-CN" sz="1200" b="1" i="1" dirty="0">
                <a:latin typeface="Times New Roman" panose="02020603050405020304" pitchFamily="18" charset="0"/>
              </a:rPr>
              <a:t>y</a:t>
            </a:r>
            <a:r>
              <a:rPr lang="en-US" altLang="zh-CN" sz="1200" b="1" dirty="0">
                <a:latin typeface="Times New Roman" panose="02020603050405020304" pitchFamily="18" charset="0"/>
              </a:rPr>
              <a:t>)) </a:t>
            </a:r>
            <a:r>
              <a:rPr lang="en-US" altLang="zh-CN" sz="1200" b="1" dirty="0">
                <a:latin typeface="Times New Roman" panose="02020603050405020304" pitchFamily="18" charset="0"/>
                <a:sym typeface="Symbol" panose="05050102010706020507" pitchFamily="18" charset="2"/>
              </a:rPr>
              <a:t> </a:t>
            </a:r>
            <a:r>
              <a:rPr lang="en-US" altLang="zh-CN" sz="1200" b="1" i="1" dirty="0">
                <a:latin typeface="Times New Roman" panose="02020603050405020304" pitchFamily="18" charset="0"/>
              </a:rPr>
              <a:t>xF</a:t>
            </a:r>
            <a:r>
              <a:rPr lang="en-US" altLang="zh-CN" sz="1200" b="1" dirty="0">
                <a:latin typeface="Times New Roman" panose="02020603050405020304" pitchFamily="18" charset="0"/>
              </a:rPr>
              <a:t>(</a:t>
            </a:r>
            <a:r>
              <a:rPr lang="en-US" altLang="zh-CN" sz="1200" b="1" i="1" dirty="0">
                <a:latin typeface="Times New Roman" panose="02020603050405020304" pitchFamily="18" charset="0"/>
              </a:rPr>
              <a:t>x</a:t>
            </a:r>
            <a:r>
              <a:rPr lang="en-US" altLang="zh-CN" sz="1200" b="1" dirty="0">
                <a:latin typeface="Times New Roman" panose="02020603050405020304" pitchFamily="18" charset="0"/>
              </a:rPr>
              <a:t>)</a:t>
            </a:r>
            <a:r>
              <a:rPr lang="en-US" altLang="zh-CN" sz="1200" b="1" dirty="0">
                <a:latin typeface="Times New Roman" panose="02020603050405020304" pitchFamily="18" charset="0"/>
                <a:sym typeface="Symbol" panose="05050102010706020507" pitchFamily="18" charset="2"/>
              </a:rPr>
              <a:t></a:t>
            </a:r>
            <a:r>
              <a:rPr lang="en-US" altLang="zh-CN" sz="1200" b="1" i="1" dirty="0">
                <a:latin typeface="Times New Roman" panose="02020603050405020304" pitchFamily="18" charset="0"/>
              </a:rPr>
              <a:t>yG</a:t>
            </a:r>
            <a:r>
              <a:rPr lang="en-US" altLang="zh-CN" sz="1200" b="1" dirty="0">
                <a:latin typeface="Times New Roman" panose="02020603050405020304" pitchFamily="18" charset="0"/>
              </a:rPr>
              <a:t>(</a:t>
            </a:r>
            <a:r>
              <a:rPr lang="en-US" altLang="zh-CN" sz="1200" b="1" i="1" dirty="0">
                <a:latin typeface="Times New Roman" panose="02020603050405020304" pitchFamily="18" charset="0"/>
              </a:rPr>
              <a:t>y</a:t>
            </a:r>
            <a:r>
              <a:rPr lang="en-US" altLang="zh-CN" sz="1200" b="1" dirty="0">
                <a:latin typeface="Times New Roman" panose="02020603050405020304" pitchFamily="18" charset="0"/>
              </a:rPr>
              <a:t>)   </a:t>
            </a:r>
            <a:r>
              <a:rPr lang="zh-CN" altLang="en-US" sz="1200" b="1" dirty="0">
                <a:latin typeface="Times New Roman" panose="02020603050405020304" pitchFamily="18" charset="0"/>
              </a:rPr>
              <a:t>等 </a:t>
            </a:r>
            <a:endParaRPr lang="en-US" altLang="zh-CN" sz="1200" b="1" dirty="0">
              <a:latin typeface="Times New Roman" panose="02020603050405020304" pitchFamily="18" charset="0"/>
            </a:endParaRPr>
          </a:p>
          <a:p>
            <a:pPr eaLnBrk="1" hangingPunct="1">
              <a:spcBef>
                <a:spcPct val="60000"/>
              </a:spcBef>
              <a:buFontTx/>
              <a:buNone/>
            </a:pPr>
            <a:r>
              <a:rPr lang="zh-CN" altLang="en-US" b="1" dirty="0">
                <a:solidFill>
                  <a:srgbClr val="FF0000"/>
                </a:solidFill>
              </a:rPr>
              <a:t>消去量词等值式</a:t>
            </a:r>
            <a:endParaRPr lang="en-US" altLang="zh-CN" b="1" dirty="0">
              <a:solidFill>
                <a:srgbClr val="FF0000"/>
              </a:solidFill>
            </a:endParaRPr>
          </a:p>
          <a:p>
            <a:pPr eaLnBrk="1" hangingPunct="1">
              <a:spcBef>
                <a:spcPct val="60000"/>
              </a:spcBef>
              <a:buFontTx/>
              <a:buNone/>
            </a:pPr>
            <a:r>
              <a:rPr lang="zh-CN" altLang="en-US" sz="1200" b="1" dirty="0"/>
              <a:t>     设</a:t>
            </a:r>
            <a:r>
              <a:rPr lang="en-US" altLang="zh-CN" sz="1200" b="1" i="1" dirty="0"/>
              <a:t>D</a:t>
            </a:r>
            <a:r>
              <a:rPr lang="en-US" altLang="zh-CN" sz="1200" b="1" dirty="0"/>
              <a:t>={</a:t>
            </a:r>
            <a:r>
              <a:rPr lang="en-US" altLang="zh-CN" sz="1200" b="1" i="1" dirty="0"/>
              <a:t>a</a:t>
            </a:r>
            <a:r>
              <a:rPr lang="en-US" altLang="zh-CN" sz="1200" b="1" baseline="-30000" dirty="0"/>
              <a:t>1</a:t>
            </a:r>
            <a:r>
              <a:rPr lang="en-US" altLang="zh-CN" sz="1200" b="1" dirty="0"/>
              <a:t>,</a:t>
            </a:r>
            <a:r>
              <a:rPr lang="en-US" altLang="zh-CN" sz="1200" b="1" i="1" dirty="0"/>
              <a:t>a</a:t>
            </a:r>
            <a:r>
              <a:rPr lang="en-US" altLang="zh-CN" sz="1200" b="1" baseline="-30000" dirty="0"/>
              <a:t>2</a:t>
            </a:r>
            <a:r>
              <a:rPr lang="en-US" altLang="zh-CN" sz="1200" b="1" dirty="0"/>
              <a:t>,…,</a:t>
            </a:r>
            <a:r>
              <a:rPr lang="en-US" altLang="zh-CN" sz="1200" b="1" i="1" dirty="0"/>
              <a:t>a</a:t>
            </a:r>
            <a:r>
              <a:rPr lang="en-US" altLang="zh-CN" sz="1200" b="1" i="1" baseline="-30000" dirty="0"/>
              <a:t>n</a:t>
            </a:r>
            <a:r>
              <a:rPr lang="en-US" altLang="zh-CN" sz="1200" b="1" dirty="0"/>
              <a:t>} </a:t>
            </a:r>
          </a:p>
          <a:p>
            <a:pPr eaLnBrk="1" hangingPunct="1">
              <a:buFontTx/>
              <a:buNone/>
            </a:pPr>
            <a:r>
              <a:rPr lang="en-US" altLang="zh-CN" sz="1200" b="1" dirty="0">
                <a:sym typeface="Symbol" panose="05050102010706020507" pitchFamily="18" charset="2"/>
              </a:rPr>
              <a:t>     </a:t>
            </a:r>
            <a:r>
              <a:rPr lang="en-US" altLang="zh-CN" sz="1200" b="1" i="1" dirty="0"/>
              <a:t>xA</a:t>
            </a:r>
            <a:r>
              <a:rPr lang="en-US" altLang="zh-CN" sz="1200" b="1" dirty="0"/>
              <a:t>(</a:t>
            </a:r>
            <a:r>
              <a:rPr lang="en-US" altLang="zh-CN" sz="1200" b="1" i="1" dirty="0"/>
              <a:t>x</a:t>
            </a:r>
            <a:r>
              <a:rPr lang="en-US" altLang="zh-CN" sz="1200" b="1" dirty="0"/>
              <a:t>)</a:t>
            </a:r>
            <a:r>
              <a:rPr lang="en-US" altLang="zh-CN" sz="1200" b="1" dirty="0">
                <a:sym typeface="Symbol" panose="05050102010706020507" pitchFamily="18" charset="2"/>
              </a:rPr>
              <a:t></a:t>
            </a:r>
            <a:r>
              <a:rPr lang="en-US" altLang="zh-CN" sz="1200" b="1" i="1" dirty="0"/>
              <a:t>A</a:t>
            </a:r>
            <a:r>
              <a:rPr lang="en-US" altLang="zh-CN" sz="1200" b="1" dirty="0"/>
              <a:t>(</a:t>
            </a:r>
            <a:r>
              <a:rPr lang="en-US" altLang="zh-CN" sz="1200" b="1" i="1" dirty="0"/>
              <a:t>a</a:t>
            </a:r>
            <a:r>
              <a:rPr lang="en-US" altLang="zh-CN" sz="1200" b="1" baseline="-30000" dirty="0"/>
              <a:t>1</a:t>
            </a:r>
            <a:r>
              <a:rPr lang="en-US" altLang="zh-CN" sz="1200" b="1" dirty="0"/>
              <a:t>)</a:t>
            </a:r>
            <a:r>
              <a:rPr lang="en-US" altLang="zh-CN" sz="1200" b="1" dirty="0">
                <a:sym typeface="Symbol" panose="05050102010706020507" pitchFamily="18" charset="2"/>
              </a:rPr>
              <a:t></a:t>
            </a:r>
            <a:r>
              <a:rPr lang="en-US" altLang="zh-CN" sz="1200" b="1" i="1" dirty="0"/>
              <a:t>A</a:t>
            </a:r>
            <a:r>
              <a:rPr lang="en-US" altLang="zh-CN" sz="1200" b="1" dirty="0"/>
              <a:t>(</a:t>
            </a:r>
            <a:r>
              <a:rPr lang="en-US" altLang="zh-CN" sz="1200" b="1" i="1" dirty="0"/>
              <a:t>a</a:t>
            </a:r>
            <a:r>
              <a:rPr lang="en-US" altLang="zh-CN" sz="1200" b="1" baseline="-30000" dirty="0"/>
              <a:t>2</a:t>
            </a:r>
            <a:r>
              <a:rPr lang="en-US" altLang="zh-CN" sz="1200" b="1" dirty="0"/>
              <a:t>)</a:t>
            </a:r>
            <a:r>
              <a:rPr lang="en-US" altLang="zh-CN" sz="1200" b="1" dirty="0">
                <a:sym typeface="Symbol" panose="05050102010706020507" pitchFamily="18" charset="2"/>
              </a:rPr>
              <a:t></a:t>
            </a:r>
            <a:r>
              <a:rPr lang="en-US" altLang="zh-CN" sz="1200" b="1" dirty="0"/>
              <a:t>…</a:t>
            </a:r>
            <a:r>
              <a:rPr lang="en-US" altLang="zh-CN" sz="1200" b="1" dirty="0">
                <a:sym typeface="Symbol" panose="05050102010706020507" pitchFamily="18" charset="2"/>
              </a:rPr>
              <a:t></a:t>
            </a:r>
            <a:r>
              <a:rPr lang="en-US" altLang="zh-CN" sz="1200" b="1" i="1" dirty="0"/>
              <a:t>A</a:t>
            </a:r>
            <a:r>
              <a:rPr lang="en-US" altLang="zh-CN" sz="1200" b="1" dirty="0"/>
              <a:t>(</a:t>
            </a:r>
            <a:r>
              <a:rPr lang="en-US" altLang="zh-CN" sz="1200" b="1" i="1" dirty="0"/>
              <a:t>a</a:t>
            </a:r>
            <a:r>
              <a:rPr lang="en-US" altLang="zh-CN" sz="1200" b="1" i="1" baseline="-30000" dirty="0"/>
              <a:t>n</a:t>
            </a:r>
            <a:r>
              <a:rPr lang="en-US" altLang="zh-CN" sz="1200" b="1" dirty="0"/>
              <a:t>) </a:t>
            </a:r>
          </a:p>
          <a:p>
            <a:pPr eaLnBrk="1" hangingPunct="1">
              <a:buFontTx/>
              <a:buNone/>
            </a:pPr>
            <a:r>
              <a:rPr lang="en-US" altLang="zh-CN" sz="1200" b="1" dirty="0">
                <a:sym typeface="Symbol" panose="05050102010706020507" pitchFamily="18" charset="2"/>
              </a:rPr>
              <a:t>     </a:t>
            </a:r>
            <a:r>
              <a:rPr lang="en-US" altLang="zh-CN" sz="1200" b="1" i="1" dirty="0"/>
              <a:t>xA</a:t>
            </a:r>
            <a:r>
              <a:rPr lang="en-US" altLang="zh-CN" sz="1200" b="1" dirty="0"/>
              <a:t>(</a:t>
            </a:r>
            <a:r>
              <a:rPr lang="en-US" altLang="zh-CN" sz="1200" b="1" i="1" dirty="0"/>
              <a:t>x</a:t>
            </a:r>
            <a:r>
              <a:rPr lang="en-US" altLang="zh-CN" sz="1200" b="1" dirty="0"/>
              <a:t>)</a:t>
            </a:r>
            <a:r>
              <a:rPr lang="en-US" altLang="zh-CN" sz="1200" b="1" dirty="0">
                <a:sym typeface="Symbol" panose="05050102010706020507" pitchFamily="18" charset="2"/>
              </a:rPr>
              <a:t></a:t>
            </a:r>
            <a:r>
              <a:rPr lang="en-US" altLang="zh-CN" sz="1200" b="1" i="1" dirty="0"/>
              <a:t>A</a:t>
            </a:r>
            <a:r>
              <a:rPr lang="en-US" altLang="zh-CN" sz="1200" b="1" dirty="0"/>
              <a:t>(</a:t>
            </a:r>
            <a:r>
              <a:rPr lang="en-US" altLang="zh-CN" sz="1200" b="1" i="1" dirty="0"/>
              <a:t>a</a:t>
            </a:r>
            <a:r>
              <a:rPr lang="en-US" altLang="zh-CN" sz="1200" b="1" baseline="-30000" dirty="0"/>
              <a:t>1</a:t>
            </a:r>
            <a:r>
              <a:rPr lang="en-US" altLang="zh-CN" sz="1200" b="1" dirty="0"/>
              <a:t>)</a:t>
            </a:r>
            <a:r>
              <a:rPr lang="en-US" altLang="zh-CN" sz="1200" b="1" dirty="0">
                <a:sym typeface="Symbol" panose="05050102010706020507" pitchFamily="18" charset="2"/>
              </a:rPr>
              <a:t></a:t>
            </a:r>
            <a:r>
              <a:rPr lang="en-US" altLang="zh-CN" sz="1200" b="1" i="1" dirty="0"/>
              <a:t>A</a:t>
            </a:r>
            <a:r>
              <a:rPr lang="en-US" altLang="zh-CN" sz="1200" b="1" dirty="0"/>
              <a:t>(</a:t>
            </a:r>
            <a:r>
              <a:rPr lang="en-US" altLang="zh-CN" sz="1200" b="1" i="1" dirty="0"/>
              <a:t>a</a:t>
            </a:r>
            <a:r>
              <a:rPr lang="en-US" altLang="zh-CN" sz="1200" b="1" baseline="-30000" dirty="0"/>
              <a:t>2</a:t>
            </a:r>
            <a:r>
              <a:rPr lang="en-US" altLang="zh-CN" sz="1200" b="1" dirty="0"/>
              <a:t>)</a:t>
            </a:r>
            <a:r>
              <a:rPr lang="en-US" altLang="zh-CN" sz="1200" b="1" dirty="0">
                <a:sym typeface="Symbol" panose="05050102010706020507" pitchFamily="18" charset="2"/>
              </a:rPr>
              <a:t></a:t>
            </a:r>
            <a:r>
              <a:rPr lang="en-US" altLang="zh-CN" sz="1200" b="1" dirty="0"/>
              <a:t>…</a:t>
            </a:r>
            <a:r>
              <a:rPr lang="en-US" altLang="zh-CN" sz="1200" b="1" dirty="0">
                <a:sym typeface="Symbol" panose="05050102010706020507" pitchFamily="18" charset="2"/>
              </a:rPr>
              <a:t></a:t>
            </a:r>
            <a:r>
              <a:rPr lang="en-US" altLang="zh-CN" sz="1200" b="1" i="1" dirty="0"/>
              <a:t>A</a:t>
            </a:r>
            <a:r>
              <a:rPr lang="en-US" altLang="zh-CN" sz="1200" b="1" dirty="0"/>
              <a:t>(</a:t>
            </a:r>
            <a:r>
              <a:rPr lang="en-US" altLang="zh-CN" sz="1200" b="1" i="1" dirty="0"/>
              <a:t>a</a:t>
            </a:r>
            <a:r>
              <a:rPr lang="en-US" altLang="zh-CN" sz="1200" b="1" i="1" baseline="-30000" dirty="0"/>
              <a:t>n</a:t>
            </a:r>
            <a:r>
              <a:rPr lang="en-US" altLang="zh-CN" sz="1200" b="1" dirty="0"/>
              <a:t>)</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39</a:t>
            </a:fld>
            <a:endParaRPr lang="zh-CN" altLang="en-US"/>
          </a:p>
        </p:txBody>
      </p:sp>
    </p:spTree>
    <p:extLst>
      <p:ext uri="{BB962C8B-B14F-4D97-AF65-F5344CB8AC3E}">
        <p14:creationId xmlns:p14="http://schemas.microsoft.com/office/powerpoint/2010/main" val="217334349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buClr>
                <a:schemeClr val="bg2"/>
              </a:buClr>
              <a:buSzPct val="75000"/>
              <a:buFont typeface="Wingdings" panose="05000000000000000000" pitchFamily="2" charset="2"/>
              <a:buNone/>
            </a:pPr>
            <a:r>
              <a:rPr kumimoji="0" lang="zh-CN" altLang="en-US" sz="1200" b="1" dirty="0">
                <a:solidFill>
                  <a:srgbClr val="FF3300"/>
                </a:solidFill>
              </a:rPr>
              <a:t>定义3.10</a:t>
            </a:r>
            <a:r>
              <a:rPr kumimoji="0" lang="zh-CN" altLang="en-US" sz="1200" b="1" dirty="0"/>
              <a:t>  若</a:t>
            </a:r>
            <a:r>
              <a:rPr kumimoji="0" lang="en-US" altLang="zh-CN" sz="1200" b="1" i="1" dirty="0"/>
              <a:t>A</a:t>
            </a:r>
            <a:r>
              <a:rPr kumimoji="0" lang="en-US" altLang="zh-CN" sz="1200" b="1" dirty="0">
                <a:sym typeface="Symbol" panose="05050102010706020507" pitchFamily="18" charset="2"/>
              </a:rPr>
              <a:t></a:t>
            </a:r>
            <a:r>
              <a:rPr kumimoji="0" lang="en-US" altLang="zh-CN" sz="1200" b="1" i="1" dirty="0"/>
              <a:t>B</a:t>
            </a:r>
            <a:r>
              <a:rPr kumimoji="0" lang="zh-CN" altLang="en-US" sz="1200" b="1" dirty="0"/>
              <a:t>是永真式（有效式）, 则称</a:t>
            </a:r>
            <a:r>
              <a:rPr kumimoji="0" lang="en-US" altLang="zh-CN" sz="1200" b="1" i="1" dirty="0"/>
              <a:t>A</a:t>
            </a:r>
            <a:r>
              <a:rPr kumimoji="0" lang="zh-CN" altLang="en-US" sz="1200" b="1" dirty="0"/>
              <a:t>与</a:t>
            </a:r>
            <a:r>
              <a:rPr kumimoji="0" lang="en-US" altLang="zh-CN" sz="1200" b="1" i="1" dirty="0"/>
              <a:t>B</a:t>
            </a:r>
            <a:r>
              <a:rPr kumimoji="0" lang="zh-CN" altLang="en-US" sz="1200" b="1" dirty="0"/>
              <a:t>是</a:t>
            </a:r>
            <a:r>
              <a:rPr kumimoji="0" lang="zh-CN" altLang="en-US" sz="1200" b="1" dirty="0">
                <a:solidFill>
                  <a:srgbClr val="FF3300"/>
                </a:solidFill>
              </a:rPr>
              <a:t>等值</a:t>
            </a:r>
            <a:r>
              <a:rPr kumimoji="0" lang="zh-CN" altLang="en-US" sz="1200" b="1" dirty="0"/>
              <a:t>的, 记作 </a:t>
            </a:r>
            <a:r>
              <a:rPr kumimoji="0" lang="en-US" altLang="zh-CN" sz="1200" b="1" i="1" dirty="0"/>
              <a:t>A</a:t>
            </a:r>
            <a:r>
              <a:rPr kumimoji="0" lang="en-US" altLang="zh-CN" sz="1200" b="1" dirty="0">
                <a:sym typeface="Symbol" panose="05050102010706020507" pitchFamily="18" charset="2"/>
              </a:rPr>
              <a:t></a:t>
            </a:r>
            <a:r>
              <a:rPr kumimoji="0" lang="en-US" altLang="zh-CN" sz="1200" b="1" i="1" dirty="0"/>
              <a:t>B, </a:t>
            </a:r>
            <a:r>
              <a:rPr kumimoji="0" lang="zh-CN" altLang="en-US" sz="1200" b="1" dirty="0"/>
              <a:t>并称</a:t>
            </a:r>
            <a:r>
              <a:rPr kumimoji="0" lang="en-US" altLang="zh-CN" sz="1200" b="1" i="1" dirty="0"/>
              <a:t>A</a:t>
            </a:r>
            <a:r>
              <a:rPr kumimoji="0" lang="en-US" altLang="zh-CN" sz="1200" b="1" dirty="0">
                <a:sym typeface="Symbol" panose="05050102010706020507" pitchFamily="18" charset="2"/>
              </a:rPr>
              <a:t></a:t>
            </a:r>
            <a:r>
              <a:rPr kumimoji="0" lang="en-US" altLang="zh-CN" sz="1200" b="1" i="1" dirty="0"/>
              <a:t>B</a:t>
            </a:r>
            <a:r>
              <a:rPr kumimoji="0" lang="zh-CN" altLang="en-US" sz="1200" b="1" dirty="0"/>
              <a:t>为</a:t>
            </a:r>
            <a:r>
              <a:rPr kumimoji="0" lang="zh-CN" altLang="en-US" sz="1200" b="1" dirty="0">
                <a:solidFill>
                  <a:srgbClr val="FF3300"/>
                </a:solidFill>
              </a:rPr>
              <a:t>等值式</a:t>
            </a:r>
            <a:endParaRPr kumimoji="0" lang="en-US" altLang="zh-CN" sz="1200" b="1" dirty="0">
              <a:solidFill>
                <a:srgbClr val="FF3300"/>
              </a:solidFill>
            </a:endParaRPr>
          </a:p>
          <a:p>
            <a:pPr eaLnBrk="1" hangingPunct="1">
              <a:buClr>
                <a:schemeClr val="bg2"/>
              </a:buClr>
              <a:buSzPct val="75000"/>
              <a:buFont typeface="Wingdings" panose="05000000000000000000" pitchFamily="2" charset="2"/>
              <a:buNone/>
            </a:pPr>
            <a:endParaRPr lang="en-US" altLang="zh-CN" b="1" dirty="0">
              <a:solidFill>
                <a:srgbClr val="FF3300"/>
              </a:solidFill>
            </a:endParaRPr>
          </a:p>
          <a:p>
            <a:pPr eaLnBrk="1" hangingPunct="1">
              <a:buClr>
                <a:schemeClr val="bg2"/>
              </a:buClr>
              <a:buSzPct val="75000"/>
              <a:buFont typeface="Wingdings" panose="05000000000000000000" pitchFamily="2" charset="2"/>
              <a:buNone/>
            </a:pPr>
            <a:r>
              <a:rPr kumimoji="0" lang="en-US" altLang="zh-CN" sz="1200" b="1" dirty="0">
                <a:solidFill>
                  <a:srgbClr val="FF0000"/>
                </a:solidFill>
              </a:rPr>
              <a:t>24</a:t>
            </a:r>
            <a:r>
              <a:rPr kumimoji="0" lang="zh-CN" altLang="en-US" sz="1200" b="1" dirty="0">
                <a:solidFill>
                  <a:srgbClr val="FF0000"/>
                </a:solidFill>
              </a:rPr>
              <a:t>个命题基本等值</a:t>
            </a:r>
            <a:r>
              <a:rPr lang="zh-CN" altLang="en-US" b="1" dirty="0">
                <a:solidFill>
                  <a:srgbClr val="FF0000"/>
                </a:solidFill>
              </a:rPr>
              <a:t>式及其代换实例都是一阶逻辑的等值式</a:t>
            </a:r>
            <a:endParaRPr lang="en-US" altLang="zh-CN" b="1" dirty="0">
              <a:solidFill>
                <a:srgbClr val="FF0000"/>
              </a:solidFill>
            </a:endParaRPr>
          </a:p>
          <a:p>
            <a:pPr eaLnBrk="1" hangingPunct="1">
              <a:buFont typeface="Wingdings" panose="05000000000000000000" pitchFamily="2" charset="2"/>
              <a:buNone/>
            </a:pPr>
            <a:r>
              <a:rPr lang="zh-CN" altLang="en-US" sz="1200" b="1" dirty="0">
                <a:latin typeface="Times New Roman" panose="02020603050405020304" pitchFamily="18" charset="0"/>
              </a:rPr>
              <a:t>如，</a:t>
            </a:r>
            <a:r>
              <a:rPr lang="zh-CN" altLang="en-US" sz="1200" b="1" dirty="0">
                <a:latin typeface="Times New Roman" panose="02020603050405020304" pitchFamily="18" charset="0"/>
                <a:sym typeface="Symbol" panose="05050102010706020507" pitchFamily="18" charset="2"/>
              </a:rPr>
              <a:t></a:t>
            </a:r>
            <a:r>
              <a:rPr lang="en-US" altLang="zh-CN" sz="1200" b="1" i="1" dirty="0">
                <a:latin typeface="Times New Roman" panose="02020603050405020304" pitchFamily="18" charset="0"/>
              </a:rPr>
              <a:t>xF</a:t>
            </a:r>
            <a:r>
              <a:rPr lang="en-US" altLang="zh-CN" sz="1200" b="1" dirty="0">
                <a:latin typeface="Times New Roman" panose="02020603050405020304" pitchFamily="18" charset="0"/>
              </a:rPr>
              <a:t>(</a:t>
            </a:r>
            <a:r>
              <a:rPr lang="en-US" altLang="zh-CN" sz="1200" b="1" i="1" dirty="0">
                <a:latin typeface="Times New Roman" panose="02020603050405020304" pitchFamily="18" charset="0"/>
              </a:rPr>
              <a:t>x</a:t>
            </a:r>
            <a:r>
              <a:rPr lang="en-US" altLang="zh-CN" sz="1200" b="1" dirty="0">
                <a:latin typeface="Times New Roman" panose="02020603050405020304" pitchFamily="18" charset="0"/>
              </a:rPr>
              <a:t>)</a:t>
            </a:r>
            <a:r>
              <a:rPr lang="en-US" altLang="zh-CN" sz="1200" b="1" dirty="0">
                <a:latin typeface="Times New Roman" panose="02020603050405020304" pitchFamily="18" charset="0"/>
                <a:sym typeface="Symbol" panose="05050102010706020507" pitchFamily="18" charset="2"/>
              </a:rPr>
              <a:t></a:t>
            </a:r>
            <a:r>
              <a:rPr lang="en-US" altLang="zh-CN" sz="1200" b="1" i="1" dirty="0">
                <a:latin typeface="Times New Roman" panose="02020603050405020304" pitchFamily="18" charset="0"/>
              </a:rPr>
              <a:t>yG</a:t>
            </a:r>
            <a:r>
              <a:rPr lang="en-US" altLang="zh-CN" sz="1200" b="1" dirty="0">
                <a:latin typeface="Times New Roman" panose="02020603050405020304" pitchFamily="18" charset="0"/>
              </a:rPr>
              <a:t>(</a:t>
            </a:r>
            <a:r>
              <a:rPr lang="en-US" altLang="zh-CN" sz="1200" b="1" i="1" dirty="0">
                <a:latin typeface="Times New Roman" panose="02020603050405020304" pitchFamily="18" charset="0"/>
              </a:rPr>
              <a:t>y</a:t>
            </a:r>
            <a:r>
              <a:rPr lang="en-US" altLang="zh-CN" sz="1200" b="1" dirty="0">
                <a:latin typeface="Times New Roman" panose="02020603050405020304" pitchFamily="18" charset="0"/>
              </a:rPr>
              <a:t>) </a:t>
            </a:r>
            <a:r>
              <a:rPr lang="en-US" altLang="zh-CN" sz="1200" b="1" dirty="0">
                <a:latin typeface="Times New Roman" panose="02020603050405020304" pitchFamily="18" charset="0"/>
                <a:sym typeface="Symbol" panose="05050102010706020507" pitchFamily="18" charset="2"/>
              </a:rPr>
              <a:t> </a:t>
            </a:r>
            <a:r>
              <a:rPr lang="en-US" altLang="zh-CN" sz="1200" b="1" i="1" dirty="0">
                <a:latin typeface="Times New Roman" panose="02020603050405020304" pitchFamily="18" charset="0"/>
              </a:rPr>
              <a:t>xF</a:t>
            </a:r>
            <a:r>
              <a:rPr lang="en-US" altLang="zh-CN" sz="1200" b="1" dirty="0">
                <a:latin typeface="Times New Roman" panose="02020603050405020304" pitchFamily="18" charset="0"/>
              </a:rPr>
              <a:t>(</a:t>
            </a:r>
            <a:r>
              <a:rPr lang="en-US" altLang="zh-CN" sz="1200" b="1" i="1" dirty="0">
                <a:latin typeface="Times New Roman" panose="02020603050405020304" pitchFamily="18" charset="0"/>
              </a:rPr>
              <a:t>x</a:t>
            </a:r>
            <a:r>
              <a:rPr lang="en-US" altLang="zh-CN" sz="1200" b="1" dirty="0">
                <a:latin typeface="Times New Roman" panose="02020603050405020304" pitchFamily="18" charset="0"/>
              </a:rPr>
              <a:t>)</a:t>
            </a:r>
            <a:r>
              <a:rPr lang="en-US" altLang="zh-CN" sz="1200" b="1" dirty="0">
                <a:latin typeface="Times New Roman" panose="02020603050405020304" pitchFamily="18" charset="0"/>
                <a:sym typeface="Symbol" panose="05050102010706020507" pitchFamily="18" charset="2"/>
              </a:rPr>
              <a:t></a:t>
            </a:r>
            <a:r>
              <a:rPr lang="en-US" altLang="zh-CN" sz="1200" b="1" i="1" dirty="0">
                <a:latin typeface="Times New Roman" panose="02020603050405020304" pitchFamily="18" charset="0"/>
              </a:rPr>
              <a:t>yG</a:t>
            </a:r>
            <a:r>
              <a:rPr lang="en-US" altLang="zh-CN" sz="1200" b="1" dirty="0">
                <a:latin typeface="Times New Roman" panose="02020603050405020304" pitchFamily="18" charset="0"/>
              </a:rPr>
              <a:t>(</a:t>
            </a:r>
            <a:r>
              <a:rPr lang="en-US" altLang="zh-CN" sz="1200" b="1" i="1" dirty="0">
                <a:latin typeface="Times New Roman" panose="02020603050405020304" pitchFamily="18" charset="0"/>
              </a:rPr>
              <a:t>y</a:t>
            </a:r>
            <a:r>
              <a:rPr lang="en-US" altLang="zh-CN" sz="1200" b="1" dirty="0">
                <a:latin typeface="Times New Roman" panose="02020603050405020304" pitchFamily="18" charset="0"/>
              </a:rPr>
              <a:t>)</a:t>
            </a:r>
          </a:p>
          <a:p>
            <a:pPr eaLnBrk="1" hangingPunct="1">
              <a:buFont typeface="Wingdings" panose="05000000000000000000" pitchFamily="2" charset="2"/>
              <a:buNone/>
            </a:pPr>
            <a:r>
              <a:rPr lang="en-US" altLang="zh-CN" sz="1200" b="1" dirty="0">
                <a:latin typeface="Times New Roman" panose="02020603050405020304" pitchFamily="18" charset="0"/>
              </a:rPr>
              <a:t>        </a:t>
            </a:r>
            <a:r>
              <a:rPr lang="en-US" altLang="zh-CN" sz="1200" b="1" dirty="0">
                <a:latin typeface="Times New Roman" panose="02020603050405020304" pitchFamily="18" charset="0"/>
                <a:sym typeface="Symbol" panose="05050102010706020507" pitchFamily="18" charset="2"/>
              </a:rPr>
              <a:t></a:t>
            </a:r>
            <a:r>
              <a:rPr lang="en-US" altLang="zh-CN" sz="1200" b="1" dirty="0">
                <a:latin typeface="Times New Roman" panose="02020603050405020304" pitchFamily="18" charset="0"/>
              </a:rPr>
              <a:t>(</a:t>
            </a:r>
            <a:r>
              <a:rPr lang="en-US" altLang="zh-CN" sz="1200" b="1" dirty="0">
                <a:latin typeface="Times New Roman" panose="02020603050405020304" pitchFamily="18" charset="0"/>
                <a:sym typeface="Symbol" panose="05050102010706020507" pitchFamily="18" charset="2"/>
              </a:rPr>
              <a:t></a:t>
            </a:r>
            <a:r>
              <a:rPr lang="en-US" altLang="zh-CN" sz="1200" b="1" i="1" dirty="0">
                <a:latin typeface="Times New Roman" panose="02020603050405020304" pitchFamily="18" charset="0"/>
              </a:rPr>
              <a:t>xF</a:t>
            </a:r>
            <a:r>
              <a:rPr lang="en-US" altLang="zh-CN" sz="1200" b="1" dirty="0">
                <a:latin typeface="Times New Roman" panose="02020603050405020304" pitchFamily="18" charset="0"/>
              </a:rPr>
              <a:t>(</a:t>
            </a:r>
            <a:r>
              <a:rPr lang="en-US" altLang="zh-CN" sz="1200" b="1" i="1" dirty="0">
                <a:latin typeface="Times New Roman" panose="02020603050405020304" pitchFamily="18" charset="0"/>
              </a:rPr>
              <a:t>x</a:t>
            </a:r>
            <a:r>
              <a:rPr lang="en-US" altLang="zh-CN" sz="1200" b="1" dirty="0">
                <a:latin typeface="Times New Roman" panose="02020603050405020304" pitchFamily="18" charset="0"/>
              </a:rPr>
              <a:t>)</a:t>
            </a:r>
            <a:r>
              <a:rPr lang="en-US" altLang="zh-CN" sz="1200" b="1" dirty="0">
                <a:latin typeface="Times New Roman" panose="02020603050405020304" pitchFamily="18" charset="0"/>
                <a:sym typeface="Symbol" panose="05050102010706020507" pitchFamily="18" charset="2"/>
              </a:rPr>
              <a:t></a:t>
            </a:r>
            <a:r>
              <a:rPr lang="en-US" altLang="zh-CN" sz="1200" b="1" i="1" dirty="0">
                <a:latin typeface="Times New Roman" panose="02020603050405020304" pitchFamily="18" charset="0"/>
              </a:rPr>
              <a:t>yG</a:t>
            </a:r>
            <a:r>
              <a:rPr lang="en-US" altLang="zh-CN" sz="1200" b="1" dirty="0">
                <a:latin typeface="Times New Roman" panose="02020603050405020304" pitchFamily="18" charset="0"/>
              </a:rPr>
              <a:t>(</a:t>
            </a:r>
            <a:r>
              <a:rPr lang="en-US" altLang="zh-CN" sz="1200" b="1" i="1" dirty="0">
                <a:latin typeface="Times New Roman" panose="02020603050405020304" pitchFamily="18" charset="0"/>
              </a:rPr>
              <a:t>y</a:t>
            </a:r>
            <a:r>
              <a:rPr lang="en-US" altLang="zh-CN" sz="1200" b="1" dirty="0">
                <a:latin typeface="Times New Roman" panose="02020603050405020304" pitchFamily="18" charset="0"/>
              </a:rPr>
              <a:t>)) </a:t>
            </a:r>
            <a:r>
              <a:rPr lang="en-US" altLang="zh-CN" sz="1200" b="1" dirty="0">
                <a:latin typeface="Times New Roman" panose="02020603050405020304" pitchFamily="18" charset="0"/>
                <a:sym typeface="Symbol" panose="05050102010706020507" pitchFamily="18" charset="2"/>
              </a:rPr>
              <a:t> </a:t>
            </a:r>
            <a:r>
              <a:rPr lang="en-US" altLang="zh-CN" sz="1200" b="1" i="1" dirty="0">
                <a:latin typeface="Times New Roman" panose="02020603050405020304" pitchFamily="18" charset="0"/>
              </a:rPr>
              <a:t>xF</a:t>
            </a:r>
            <a:r>
              <a:rPr lang="en-US" altLang="zh-CN" sz="1200" b="1" dirty="0">
                <a:latin typeface="Times New Roman" panose="02020603050405020304" pitchFamily="18" charset="0"/>
              </a:rPr>
              <a:t>(</a:t>
            </a:r>
            <a:r>
              <a:rPr lang="en-US" altLang="zh-CN" sz="1200" b="1" i="1" dirty="0">
                <a:latin typeface="Times New Roman" panose="02020603050405020304" pitchFamily="18" charset="0"/>
              </a:rPr>
              <a:t>x</a:t>
            </a:r>
            <a:r>
              <a:rPr lang="en-US" altLang="zh-CN" sz="1200" b="1" dirty="0">
                <a:latin typeface="Times New Roman" panose="02020603050405020304" pitchFamily="18" charset="0"/>
              </a:rPr>
              <a:t>)</a:t>
            </a:r>
            <a:r>
              <a:rPr lang="en-US" altLang="zh-CN" sz="1200" b="1" dirty="0">
                <a:latin typeface="Times New Roman" panose="02020603050405020304" pitchFamily="18" charset="0"/>
                <a:sym typeface="Symbol" panose="05050102010706020507" pitchFamily="18" charset="2"/>
              </a:rPr>
              <a:t></a:t>
            </a:r>
            <a:r>
              <a:rPr lang="en-US" altLang="zh-CN" sz="1200" b="1" i="1" dirty="0">
                <a:latin typeface="Times New Roman" panose="02020603050405020304" pitchFamily="18" charset="0"/>
              </a:rPr>
              <a:t>yG</a:t>
            </a:r>
            <a:r>
              <a:rPr lang="en-US" altLang="zh-CN" sz="1200" b="1" dirty="0">
                <a:latin typeface="Times New Roman" panose="02020603050405020304" pitchFamily="18" charset="0"/>
              </a:rPr>
              <a:t>(</a:t>
            </a:r>
            <a:r>
              <a:rPr lang="en-US" altLang="zh-CN" sz="1200" b="1" i="1" dirty="0">
                <a:latin typeface="Times New Roman" panose="02020603050405020304" pitchFamily="18" charset="0"/>
              </a:rPr>
              <a:t>y</a:t>
            </a:r>
            <a:r>
              <a:rPr lang="en-US" altLang="zh-CN" sz="1200" b="1" dirty="0">
                <a:latin typeface="Times New Roman" panose="02020603050405020304" pitchFamily="18" charset="0"/>
              </a:rPr>
              <a:t>)   </a:t>
            </a:r>
            <a:r>
              <a:rPr lang="zh-CN" altLang="en-US" sz="1200" b="1" dirty="0">
                <a:latin typeface="Times New Roman" panose="02020603050405020304" pitchFamily="18" charset="0"/>
              </a:rPr>
              <a:t>等 </a:t>
            </a:r>
            <a:endParaRPr lang="en-US" altLang="zh-CN" sz="1200" b="1" dirty="0">
              <a:latin typeface="Times New Roman" panose="02020603050405020304" pitchFamily="18" charset="0"/>
            </a:endParaRPr>
          </a:p>
          <a:p>
            <a:pPr eaLnBrk="1" hangingPunct="1">
              <a:spcBef>
                <a:spcPct val="60000"/>
              </a:spcBef>
              <a:buFontTx/>
              <a:buNone/>
            </a:pPr>
            <a:r>
              <a:rPr lang="zh-CN" altLang="en-US" b="1" dirty="0">
                <a:solidFill>
                  <a:srgbClr val="FF0000"/>
                </a:solidFill>
              </a:rPr>
              <a:t>消去量词等值式</a:t>
            </a:r>
            <a:endParaRPr lang="en-US" altLang="zh-CN" b="1" dirty="0">
              <a:solidFill>
                <a:srgbClr val="FF0000"/>
              </a:solidFill>
            </a:endParaRPr>
          </a:p>
          <a:p>
            <a:pPr eaLnBrk="1" hangingPunct="1">
              <a:spcBef>
                <a:spcPct val="60000"/>
              </a:spcBef>
              <a:buFontTx/>
              <a:buNone/>
            </a:pPr>
            <a:r>
              <a:rPr lang="zh-CN" altLang="en-US" sz="1200" b="1" dirty="0"/>
              <a:t>     设</a:t>
            </a:r>
            <a:r>
              <a:rPr lang="en-US" altLang="zh-CN" sz="1200" b="1" i="1" dirty="0"/>
              <a:t>D</a:t>
            </a:r>
            <a:r>
              <a:rPr lang="en-US" altLang="zh-CN" sz="1200" b="1" dirty="0"/>
              <a:t>={</a:t>
            </a:r>
            <a:r>
              <a:rPr lang="en-US" altLang="zh-CN" sz="1200" b="1" i="1" dirty="0"/>
              <a:t>a</a:t>
            </a:r>
            <a:r>
              <a:rPr lang="en-US" altLang="zh-CN" sz="1200" b="1" baseline="-30000" dirty="0"/>
              <a:t>1</a:t>
            </a:r>
            <a:r>
              <a:rPr lang="en-US" altLang="zh-CN" sz="1200" b="1" dirty="0"/>
              <a:t>,</a:t>
            </a:r>
            <a:r>
              <a:rPr lang="en-US" altLang="zh-CN" sz="1200" b="1" i="1" dirty="0"/>
              <a:t>a</a:t>
            </a:r>
            <a:r>
              <a:rPr lang="en-US" altLang="zh-CN" sz="1200" b="1" baseline="-30000" dirty="0"/>
              <a:t>2</a:t>
            </a:r>
            <a:r>
              <a:rPr lang="en-US" altLang="zh-CN" sz="1200" b="1" dirty="0"/>
              <a:t>,…,</a:t>
            </a:r>
            <a:r>
              <a:rPr lang="en-US" altLang="zh-CN" sz="1200" b="1" i="1" dirty="0"/>
              <a:t>a</a:t>
            </a:r>
            <a:r>
              <a:rPr lang="en-US" altLang="zh-CN" sz="1200" b="1" i="1" baseline="-30000" dirty="0"/>
              <a:t>n</a:t>
            </a:r>
            <a:r>
              <a:rPr lang="en-US" altLang="zh-CN" sz="1200" b="1" dirty="0"/>
              <a:t>} </a:t>
            </a:r>
          </a:p>
          <a:p>
            <a:pPr eaLnBrk="1" hangingPunct="1">
              <a:buFontTx/>
              <a:buNone/>
            </a:pPr>
            <a:r>
              <a:rPr lang="en-US" altLang="zh-CN" sz="1200" b="1" dirty="0">
                <a:sym typeface="Symbol" panose="05050102010706020507" pitchFamily="18" charset="2"/>
              </a:rPr>
              <a:t>     </a:t>
            </a:r>
            <a:r>
              <a:rPr lang="en-US" altLang="zh-CN" sz="1200" b="1" i="1" dirty="0"/>
              <a:t>xA</a:t>
            </a:r>
            <a:r>
              <a:rPr lang="en-US" altLang="zh-CN" sz="1200" b="1" dirty="0"/>
              <a:t>(</a:t>
            </a:r>
            <a:r>
              <a:rPr lang="en-US" altLang="zh-CN" sz="1200" b="1" i="1" dirty="0"/>
              <a:t>x</a:t>
            </a:r>
            <a:r>
              <a:rPr lang="en-US" altLang="zh-CN" sz="1200" b="1" dirty="0"/>
              <a:t>)</a:t>
            </a:r>
            <a:r>
              <a:rPr lang="en-US" altLang="zh-CN" sz="1200" b="1" dirty="0">
                <a:sym typeface="Symbol" panose="05050102010706020507" pitchFamily="18" charset="2"/>
              </a:rPr>
              <a:t></a:t>
            </a:r>
            <a:r>
              <a:rPr lang="en-US" altLang="zh-CN" sz="1200" b="1" i="1" dirty="0"/>
              <a:t>A</a:t>
            </a:r>
            <a:r>
              <a:rPr lang="en-US" altLang="zh-CN" sz="1200" b="1" dirty="0"/>
              <a:t>(</a:t>
            </a:r>
            <a:r>
              <a:rPr lang="en-US" altLang="zh-CN" sz="1200" b="1" i="1" dirty="0"/>
              <a:t>a</a:t>
            </a:r>
            <a:r>
              <a:rPr lang="en-US" altLang="zh-CN" sz="1200" b="1" baseline="-30000" dirty="0"/>
              <a:t>1</a:t>
            </a:r>
            <a:r>
              <a:rPr lang="en-US" altLang="zh-CN" sz="1200" b="1" dirty="0"/>
              <a:t>)</a:t>
            </a:r>
            <a:r>
              <a:rPr lang="en-US" altLang="zh-CN" sz="1200" b="1" dirty="0">
                <a:sym typeface="Symbol" panose="05050102010706020507" pitchFamily="18" charset="2"/>
              </a:rPr>
              <a:t></a:t>
            </a:r>
            <a:r>
              <a:rPr lang="en-US" altLang="zh-CN" sz="1200" b="1" i="1" dirty="0"/>
              <a:t>A</a:t>
            </a:r>
            <a:r>
              <a:rPr lang="en-US" altLang="zh-CN" sz="1200" b="1" dirty="0"/>
              <a:t>(</a:t>
            </a:r>
            <a:r>
              <a:rPr lang="en-US" altLang="zh-CN" sz="1200" b="1" i="1" dirty="0"/>
              <a:t>a</a:t>
            </a:r>
            <a:r>
              <a:rPr lang="en-US" altLang="zh-CN" sz="1200" b="1" baseline="-30000" dirty="0"/>
              <a:t>2</a:t>
            </a:r>
            <a:r>
              <a:rPr lang="en-US" altLang="zh-CN" sz="1200" b="1" dirty="0"/>
              <a:t>)</a:t>
            </a:r>
            <a:r>
              <a:rPr lang="en-US" altLang="zh-CN" sz="1200" b="1" dirty="0">
                <a:sym typeface="Symbol" panose="05050102010706020507" pitchFamily="18" charset="2"/>
              </a:rPr>
              <a:t></a:t>
            </a:r>
            <a:r>
              <a:rPr lang="en-US" altLang="zh-CN" sz="1200" b="1" dirty="0"/>
              <a:t>…</a:t>
            </a:r>
            <a:r>
              <a:rPr lang="en-US" altLang="zh-CN" sz="1200" b="1" dirty="0">
                <a:sym typeface="Symbol" panose="05050102010706020507" pitchFamily="18" charset="2"/>
              </a:rPr>
              <a:t></a:t>
            </a:r>
            <a:r>
              <a:rPr lang="en-US" altLang="zh-CN" sz="1200" b="1" i="1" dirty="0"/>
              <a:t>A</a:t>
            </a:r>
            <a:r>
              <a:rPr lang="en-US" altLang="zh-CN" sz="1200" b="1" dirty="0"/>
              <a:t>(</a:t>
            </a:r>
            <a:r>
              <a:rPr lang="en-US" altLang="zh-CN" sz="1200" b="1" i="1" dirty="0"/>
              <a:t>a</a:t>
            </a:r>
            <a:r>
              <a:rPr lang="en-US" altLang="zh-CN" sz="1200" b="1" i="1" baseline="-30000" dirty="0"/>
              <a:t>n</a:t>
            </a:r>
            <a:r>
              <a:rPr lang="en-US" altLang="zh-CN" sz="1200" b="1" dirty="0"/>
              <a:t>) </a:t>
            </a:r>
          </a:p>
          <a:p>
            <a:pPr eaLnBrk="1" hangingPunct="1">
              <a:buFontTx/>
              <a:buNone/>
            </a:pPr>
            <a:r>
              <a:rPr lang="en-US" altLang="zh-CN" sz="1200" b="1" dirty="0">
                <a:sym typeface="Symbol" panose="05050102010706020507" pitchFamily="18" charset="2"/>
              </a:rPr>
              <a:t>     </a:t>
            </a:r>
            <a:r>
              <a:rPr lang="en-US" altLang="zh-CN" sz="1200" b="1" i="1" dirty="0"/>
              <a:t>xA</a:t>
            </a:r>
            <a:r>
              <a:rPr lang="en-US" altLang="zh-CN" sz="1200" b="1" dirty="0"/>
              <a:t>(</a:t>
            </a:r>
            <a:r>
              <a:rPr lang="en-US" altLang="zh-CN" sz="1200" b="1" i="1" dirty="0"/>
              <a:t>x</a:t>
            </a:r>
            <a:r>
              <a:rPr lang="en-US" altLang="zh-CN" sz="1200" b="1" dirty="0"/>
              <a:t>)</a:t>
            </a:r>
            <a:r>
              <a:rPr lang="en-US" altLang="zh-CN" sz="1200" b="1" dirty="0">
                <a:sym typeface="Symbol" panose="05050102010706020507" pitchFamily="18" charset="2"/>
              </a:rPr>
              <a:t></a:t>
            </a:r>
            <a:r>
              <a:rPr lang="en-US" altLang="zh-CN" sz="1200" b="1" i="1" dirty="0"/>
              <a:t>A</a:t>
            </a:r>
            <a:r>
              <a:rPr lang="en-US" altLang="zh-CN" sz="1200" b="1" dirty="0"/>
              <a:t>(</a:t>
            </a:r>
            <a:r>
              <a:rPr lang="en-US" altLang="zh-CN" sz="1200" b="1" i="1" dirty="0"/>
              <a:t>a</a:t>
            </a:r>
            <a:r>
              <a:rPr lang="en-US" altLang="zh-CN" sz="1200" b="1" baseline="-30000" dirty="0"/>
              <a:t>1</a:t>
            </a:r>
            <a:r>
              <a:rPr lang="en-US" altLang="zh-CN" sz="1200" b="1" dirty="0"/>
              <a:t>)</a:t>
            </a:r>
            <a:r>
              <a:rPr lang="en-US" altLang="zh-CN" sz="1200" b="1" dirty="0">
                <a:sym typeface="Symbol" panose="05050102010706020507" pitchFamily="18" charset="2"/>
              </a:rPr>
              <a:t></a:t>
            </a:r>
            <a:r>
              <a:rPr lang="en-US" altLang="zh-CN" sz="1200" b="1" i="1" dirty="0"/>
              <a:t>A</a:t>
            </a:r>
            <a:r>
              <a:rPr lang="en-US" altLang="zh-CN" sz="1200" b="1" dirty="0"/>
              <a:t>(</a:t>
            </a:r>
            <a:r>
              <a:rPr lang="en-US" altLang="zh-CN" sz="1200" b="1" i="1" dirty="0"/>
              <a:t>a</a:t>
            </a:r>
            <a:r>
              <a:rPr lang="en-US" altLang="zh-CN" sz="1200" b="1" baseline="-30000" dirty="0"/>
              <a:t>2</a:t>
            </a:r>
            <a:r>
              <a:rPr lang="en-US" altLang="zh-CN" sz="1200" b="1" dirty="0"/>
              <a:t>)</a:t>
            </a:r>
            <a:r>
              <a:rPr lang="en-US" altLang="zh-CN" sz="1200" b="1" dirty="0">
                <a:sym typeface="Symbol" panose="05050102010706020507" pitchFamily="18" charset="2"/>
              </a:rPr>
              <a:t></a:t>
            </a:r>
            <a:r>
              <a:rPr lang="en-US" altLang="zh-CN" sz="1200" b="1" dirty="0"/>
              <a:t>…</a:t>
            </a:r>
            <a:r>
              <a:rPr lang="en-US" altLang="zh-CN" sz="1200" b="1" dirty="0">
                <a:sym typeface="Symbol" panose="05050102010706020507" pitchFamily="18" charset="2"/>
              </a:rPr>
              <a:t></a:t>
            </a:r>
            <a:r>
              <a:rPr lang="en-US" altLang="zh-CN" sz="1200" b="1" i="1" dirty="0"/>
              <a:t>A</a:t>
            </a:r>
            <a:r>
              <a:rPr lang="en-US" altLang="zh-CN" sz="1200" b="1" dirty="0"/>
              <a:t>(</a:t>
            </a:r>
            <a:r>
              <a:rPr lang="en-US" altLang="zh-CN" sz="1200" b="1" i="1" dirty="0"/>
              <a:t>a</a:t>
            </a:r>
            <a:r>
              <a:rPr lang="en-US" altLang="zh-CN" sz="1200" b="1" i="1" baseline="-30000" dirty="0"/>
              <a:t>n</a:t>
            </a:r>
            <a:r>
              <a:rPr lang="en-US" altLang="zh-CN" sz="1200" b="1" dirty="0"/>
              <a:t>)</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40</a:t>
            </a:fld>
            <a:endParaRPr lang="zh-CN" altLang="en-US"/>
          </a:p>
        </p:txBody>
      </p:sp>
    </p:spTree>
    <p:extLst>
      <p:ext uri="{BB962C8B-B14F-4D97-AF65-F5344CB8AC3E}">
        <p14:creationId xmlns:p14="http://schemas.microsoft.com/office/powerpoint/2010/main" val="287222579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spcBef>
                <a:spcPct val="60000"/>
              </a:spcBef>
              <a:buNone/>
            </a:pPr>
            <a:r>
              <a:rPr lang="zh-CN" altLang="en-US" b="1" dirty="0">
                <a:solidFill>
                  <a:srgbClr val="FF0000"/>
                </a:solidFill>
              </a:rPr>
              <a:t>量词否定等值式</a:t>
            </a:r>
          </a:p>
          <a:p>
            <a:pPr algn="just">
              <a:spcBef>
                <a:spcPct val="40000"/>
              </a:spcBef>
              <a:buFontTx/>
              <a:buNone/>
            </a:pPr>
            <a:r>
              <a:rPr lang="zh-CN" altLang="en-US" sz="1200" b="1" dirty="0"/>
              <a:t>设</a:t>
            </a:r>
            <a:r>
              <a:rPr lang="en-US" altLang="zh-CN" sz="1200" b="1" i="1" dirty="0"/>
              <a:t>A</a:t>
            </a:r>
            <a:r>
              <a:rPr lang="en-US" altLang="zh-CN" sz="1200" b="1" dirty="0"/>
              <a:t>(</a:t>
            </a:r>
            <a:r>
              <a:rPr lang="en-US" altLang="zh-CN" sz="1200" b="1" i="1" dirty="0"/>
              <a:t>x</a:t>
            </a:r>
            <a:r>
              <a:rPr lang="en-US" altLang="zh-CN" sz="1200" b="1" dirty="0"/>
              <a:t>)</a:t>
            </a:r>
            <a:r>
              <a:rPr lang="zh-CN" altLang="en-US" sz="1200" b="1" dirty="0"/>
              <a:t>是含</a:t>
            </a:r>
            <a:r>
              <a:rPr lang="en-US" altLang="zh-CN" sz="1200" b="1" i="1" dirty="0"/>
              <a:t>x</a:t>
            </a:r>
            <a:r>
              <a:rPr lang="zh-CN" altLang="en-US" sz="1200" b="1" dirty="0"/>
              <a:t>自由出现的公式</a:t>
            </a:r>
          </a:p>
          <a:p>
            <a:pPr algn="just">
              <a:spcBef>
                <a:spcPct val="40000"/>
              </a:spcBef>
              <a:buFontTx/>
              <a:buNone/>
            </a:pPr>
            <a:r>
              <a:rPr lang="en-US" altLang="zh-CN" sz="1200" b="1" dirty="0">
                <a:sym typeface="Symbol" panose="05050102010706020507" pitchFamily="18" charset="2"/>
              </a:rPr>
              <a:t>    </a:t>
            </a:r>
            <a:r>
              <a:rPr lang="zh-CN" altLang="en-US" sz="1200" b="1" dirty="0">
                <a:sym typeface="Symbol" panose="05050102010706020507" pitchFamily="18" charset="2"/>
              </a:rPr>
              <a:t></a:t>
            </a:r>
            <a:r>
              <a:rPr lang="en-US" altLang="zh-CN" sz="1200" b="1" i="1" dirty="0"/>
              <a:t>xA</a:t>
            </a:r>
            <a:r>
              <a:rPr lang="en-US" altLang="zh-CN" sz="1200" b="1" dirty="0"/>
              <a:t>(</a:t>
            </a:r>
            <a:r>
              <a:rPr lang="en-US" altLang="zh-CN" sz="1200" b="1" i="1" dirty="0"/>
              <a:t>x</a:t>
            </a:r>
            <a:r>
              <a:rPr lang="en-US" altLang="zh-CN" sz="1200" b="1" dirty="0"/>
              <a:t>)</a:t>
            </a:r>
            <a:r>
              <a:rPr lang="en-US" altLang="zh-CN" sz="1200" b="1" dirty="0">
                <a:sym typeface="Symbol" panose="05050102010706020507" pitchFamily="18" charset="2"/>
              </a:rPr>
              <a:t> </a:t>
            </a:r>
            <a:r>
              <a:rPr lang="en-US" altLang="zh-CN" sz="1200" b="1" i="1" dirty="0"/>
              <a:t>x </a:t>
            </a:r>
            <a:r>
              <a:rPr lang="en-US" altLang="zh-CN" sz="1200" b="1" dirty="0">
                <a:sym typeface="Symbol" panose="05050102010706020507" pitchFamily="18" charset="2"/>
              </a:rPr>
              <a:t></a:t>
            </a:r>
            <a:r>
              <a:rPr lang="en-US" altLang="zh-CN" sz="1200" b="1" i="1" dirty="0"/>
              <a:t>A</a:t>
            </a:r>
            <a:r>
              <a:rPr lang="en-US" altLang="zh-CN" sz="1200" b="1" dirty="0"/>
              <a:t>(</a:t>
            </a:r>
            <a:r>
              <a:rPr lang="en-US" altLang="zh-CN" sz="1200" b="1" i="1" dirty="0"/>
              <a:t>x</a:t>
            </a:r>
            <a:r>
              <a:rPr lang="en-US" altLang="zh-CN" sz="1200" b="1" dirty="0"/>
              <a:t>)</a:t>
            </a:r>
          </a:p>
          <a:p>
            <a:pPr algn="just">
              <a:spcBef>
                <a:spcPct val="40000"/>
              </a:spcBef>
              <a:buFontTx/>
              <a:buNone/>
            </a:pPr>
            <a:r>
              <a:rPr lang="en-US" altLang="zh-CN" sz="1200" b="1" dirty="0">
                <a:sym typeface="Symbol" panose="05050102010706020507" pitchFamily="18" charset="2"/>
              </a:rPr>
              <a:t>     </a:t>
            </a:r>
            <a:r>
              <a:rPr lang="en-US" altLang="zh-CN" sz="1200" b="1" i="1" dirty="0"/>
              <a:t>xA</a:t>
            </a:r>
            <a:r>
              <a:rPr lang="en-US" altLang="zh-CN" sz="1200" b="1" dirty="0"/>
              <a:t>(</a:t>
            </a:r>
            <a:r>
              <a:rPr lang="en-US" altLang="zh-CN" sz="1200" b="1" i="1" dirty="0"/>
              <a:t>x</a:t>
            </a:r>
            <a:r>
              <a:rPr lang="en-US" altLang="zh-CN" sz="1200" b="1" dirty="0"/>
              <a:t>)</a:t>
            </a:r>
            <a:r>
              <a:rPr lang="en-US" altLang="zh-CN" sz="1200" b="1" dirty="0">
                <a:sym typeface="Symbol" panose="05050102010706020507" pitchFamily="18" charset="2"/>
              </a:rPr>
              <a:t></a:t>
            </a:r>
            <a:r>
              <a:rPr lang="zh-CN" altLang="en-US" sz="1200" b="1" dirty="0">
                <a:sym typeface="Symbol" panose="05050102010706020507" pitchFamily="18" charset="2"/>
              </a:rPr>
              <a:t></a:t>
            </a:r>
            <a:r>
              <a:rPr lang="en-US" altLang="zh-CN" sz="1200" b="1" i="1" dirty="0"/>
              <a:t>x </a:t>
            </a:r>
            <a:r>
              <a:rPr lang="en-US" altLang="zh-CN" sz="1200" b="1" dirty="0">
                <a:sym typeface="Symbol" panose="05050102010706020507" pitchFamily="18" charset="2"/>
              </a:rPr>
              <a:t></a:t>
            </a:r>
            <a:r>
              <a:rPr lang="en-US" altLang="zh-CN" sz="1200" b="1" i="1" dirty="0"/>
              <a:t>A</a:t>
            </a:r>
            <a:r>
              <a:rPr lang="en-US" altLang="zh-CN" sz="1200" b="1" dirty="0"/>
              <a:t>(</a:t>
            </a:r>
            <a:r>
              <a:rPr lang="en-US" altLang="zh-CN" sz="1200" b="1" i="1" dirty="0"/>
              <a:t>x</a:t>
            </a:r>
            <a:r>
              <a:rPr lang="en-US" altLang="zh-CN" sz="1200" b="1" dirty="0"/>
              <a:t>)</a:t>
            </a:r>
            <a:endParaRPr lang="zh-CN" altLang="en-US" sz="1200" b="1" dirty="0">
              <a:solidFill>
                <a:srgbClr val="003399"/>
              </a:solidFill>
              <a:ea typeface="黑体" panose="02010609060101010101" pitchFamily="49" charset="-122"/>
            </a:endParaRPr>
          </a:p>
          <a:p>
            <a:pPr eaLnBrk="1" hangingPunct="1">
              <a:buClr>
                <a:schemeClr val="bg2"/>
              </a:buClr>
              <a:buSzPct val="75000"/>
              <a:buFont typeface="Wingdings" panose="05000000000000000000" pitchFamily="2" charset="2"/>
              <a:buNone/>
            </a:pPr>
            <a:endParaRPr kumimoji="0" lang="zh-CN" altLang="en-US" sz="1200" b="1" dirty="0"/>
          </a:p>
          <a:p>
            <a:pPr>
              <a:spcBef>
                <a:spcPct val="60000"/>
              </a:spcBef>
              <a:buNone/>
            </a:pPr>
            <a:r>
              <a:rPr lang="zh-CN" altLang="en-US" b="1" dirty="0">
                <a:solidFill>
                  <a:srgbClr val="FF0000"/>
                </a:solidFill>
              </a:rPr>
              <a:t>量词分配等值式  </a:t>
            </a:r>
          </a:p>
          <a:p>
            <a:pPr algn="just">
              <a:spcBef>
                <a:spcPct val="40000"/>
              </a:spcBef>
              <a:buFontTx/>
              <a:buNone/>
            </a:pPr>
            <a:r>
              <a:rPr lang="zh-CN" altLang="en-US" sz="1200" b="1" dirty="0">
                <a:sym typeface="Symbol" panose="05050102010706020507" pitchFamily="18" charset="2"/>
              </a:rPr>
              <a:t>    </a:t>
            </a:r>
            <a:r>
              <a:rPr lang="en-US" altLang="zh-CN" sz="1200" b="1" i="1" dirty="0"/>
              <a:t>x</a:t>
            </a:r>
            <a:r>
              <a:rPr lang="en-US" altLang="zh-CN" sz="1200" b="1" dirty="0"/>
              <a:t>(</a:t>
            </a:r>
            <a:r>
              <a:rPr lang="en-US" altLang="zh-CN" sz="1200" b="1" i="1" dirty="0"/>
              <a:t>A</a:t>
            </a:r>
            <a:r>
              <a:rPr lang="en-US" altLang="zh-CN" sz="1200" b="1" dirty="0"/>
              <a:t>(</a:t>
            </a:r>
            <a:r>
              <a:rPr lang="en-US" altLang="zh-CN" sz="1200" b="1" i="1" dirty="0"/>
              <a:t>x</a:t>
            </a:r>
            <a:r>
              <a:rPr lang="en-US" altLang="zh-CN" sz="1200" b="1" dirty="0"/>
              <a:t>)</a:t>
            </a:r>
            <a:r>
              <a:rPr lang="en-US" altLang="zh-CN" sz="1200" b="1" dirty="0">
                <a:sym typeface="Symbol" panose="05050102010706020507" pitchFamily="18" charset="2"/>
              </a:rPr>
              <a:t></a:t>
            </a:r>
            <a:r>
              <a:rPr lang="en-US" altLang="zh-CN" sz="1200" b="1" i="1" dirty="0"/>
              <a:t>B</a:t>
            </a:r>
            <a:r>
              <a:rPr lang="en-US" altLang="zh-CN" sz="1200" b="1" dirty="0"/>
              <a:t>(</a:t>
            </a:r>
            <a:r>
              <a:rPr lang="en-US" altLang="zh-CN" sz="1200" b="1" i="1" dirty="0"/>
              <a:t>x</a:t>
            </a:r>
            <a:r>
              <a:rPr lang="en-US" altLang="zh-CN" sz="1200" b="1" dirty="0"/>
              <a:t>))</a:t>
            </a:r>
            <a:r>
              <a:rPr lang="en-US" altLang="zh-CN" sz="1200" b="1" dirty="0">
                <a:sym typeface="Symbol" panose="05050102010706020507" pitchFamily="18" charset="2"/>
              </a:rPr>
              <a:t></a:t>
            </a:r>
            <a:r>
              <a:rPr lang="en-US" altLang="zh-CN" sz="1200" b="1" i="1" dirty="0"/>
              <a:t>xA</a:t>
            </a:r>
            <a:r>
              <a:rPr lang="en-US" altLang="zh-CN" sz="1200" b="1" dirty="0"/>
              <a:t>(</a:t>
            </a:r>
            <a:r>
              <a:rPr lang="en-US" altLang="zh-CN" sz="1200" b="1" i="1" dirty="0"/>
              <a:t>x</a:t>
            </a:r>
            <a:r>
              <a:rPr lang="en-US" altLang="zh-CN" sz="1200" b="1" dirty="0"/>
              <a:t>)</a:t>
            </a:r>
            <a:r>
              <a:rPr lang="en-US" altLang="zh-CN" sz="1200" b="1" dirty="0">
                <a:sym typeface="Symbol" panose="05050102010706020507" pitchFamily="18" charset="2"/>
              </a:rPr>
              <a:t></a:t>
            </a:r>
            <a:r>
              <a:rPr lang="en-US" altLang="zh-CN" sz="1200" b="1" i="1" dirty="0"/>
              <a:t>xB</a:t>
            </a:r>
            <a:r>
              <a:rPr lang="en-US" altLang="zh-CN" sz="1200" b="1" dirty="0"/>
              <a:t>(</a:t>
            </a:r>
            <a:r>
              <a:rPr lang="en-US" altLang="zh-CN" sz="1200" b="1" i="1" dirty="0"/>
              <a:t>x</a:t>
            </a:r>
            <a:r>
              <a:rPr lang="en-US" altLang="zh-CN" sz="1200" b="1" dirty="0"/>
              <a:t>)</a:t>
            </a:r>
          </a:p>
          <a:p>
            <a:pPr algn="just">
              <a:spcBef>
                <a:spcPct val="40000"/>
              </a:spcBef>
              <a:buFontTx/>
              <a:buNone/>
            </a:pPr>
            <a:r>
              <a:rPr lang="en-US" altLang="zh-CN" sz="1200" b="1" dirty="0">
                <a:sym typeface="Symbol" panose="05050102010706020507" pitchFamily="18" charset="2"/>
              </a:rPr>
              <a:t>    </a:t>
            </a:r>
            <a:r>
              <a:rPr lang="en-US" altLang="zh-CN" sz="1200" b="1" i="1" dirty="0"/>
              <a:t>x</a:t>
            </a:r>
            <a:r>
              <a:rPr lang="en-US" altLang="zh-CN" sz="1200" b="1" dirty="0"/>
              <a:t>(</a:t>
            </a:r>
            <a:r>
              <a:rPr lang="en-US" altLang="zh-CN" sz="1200" b="1" i="1" dirty="0"/>
              <a:t>A</a:t>
            </a:r>
            <a:r>
              <a:rPr lang="en-US" altLang="zh-CN" sz="1200" b="1" dirty="0"/>
              <a:t>(</a:t>
            </a:r>
            <a:r>
              <a:rPr lang="en-US" altLang="zh-CN" sz="1200" b="1" i="1" dirty="0"/>
              <a:t>x</a:t>
            </a:r>
            <a:r>
              <a:rPr lang="en-US" altLang="zh-CN" sz="1200" b="1" dirty="0"/>
              <a:t>)</a:t>
            </a:r>
            <a:r>
              <a:rPr lang="en-US" altLang="zh-CN" sz="1200" b="1" dirty="0">
                <a:sym typeface="Symbol" panose="05050102010706020507" pitchFamily="18" charset="2"/>
              </a:rPr>
              <a:t></a:t>
            </a:r>
            <a:r>
              <a:rPr lang="en-US" altLang="zh-CN" sz="1200" b="1" i="1" dirty="0"/>
              <a:t>B</a:t>
            </a:r>
            <a:r>
              <a:rPr lang="en-US" altLang="zh-CN" sz="1200" b="1" dirty="0"/>
              <a:t>(</a:t>
            </a:r>
            <a:r>
              <a:rPr lang="en-US" altLang="zh-CN" sz="1200" b="1" i="1" dirty="0"/>
              <a:t>x</a:t>
            </a:r>
            <a:r>
              <a:rPr lang="en-US" altLang="zh-CN" sz="1200" b="1" dirty="0"/>
              <a:t>))</a:t>
            </a:r>
            <a:r>
              <a:rPr lang="en-US" altLang="zh-CN" sz="1200" b="1" dirty="0">
                <a:sym typeface="Symbol" panose="05050102010706020507" pitchFamily="18" charset="2"/>
              </a:rPr>
              <a:t></a:t>
            </a:r>
            <a:r>
              <a:rPr lang="en-US" altLang="zh-CN" sz="1200" b="1" i="1" dirty="0"/>
              <a:t>xA</a:t>
            </a:r>
            <a:r>
              <a:rPr lang="en-US" altLang="zh-CN" sz="1200" b="1" dirty="0"/>
              <a:t>(</a:t>
            </a:r>
            <a:r>
              <a:rPr lang="en-US" altLang="zh-CN" sz="1200" b="1" i="1" dirty="0"/>
              <a:t>x</a:t>
            </a:r>
            <a:r>
              <a:rPr lang="en-US" altLang="zh-CN" sz="1200" b="1" dirty="0"/>
              <a:t>)</a:t>
            </a:r>
            <a:r>
              <a:rPr lang="en-US" altLang="zh-CN" sz="1200" b="1" dirty="0">
                <a:sym typeface="Symbol" panose="05050102010706020507" pitchFamily="18" charset="2"/>
              </a:rPr>
              <a:t></a:t>
            </a:r>
            <a:r>
              <a:rPr lang="en-US" altLang="zh-CN" sz="1200" b="1" i="1" dirty="0"/>
              <a:t>xB</a:t>
            </a:r>
            <a:r>
              <a:rPr lang="en-US" altLang="zh-CN" sz="1200" b="1" dirty="0"/>
              <a:t>(</a:t>
            </a:r>
            <a:r>
              <a:rPr lang="en-US" altLang="zh-CN" sz="1200" b="1" i="1" dirty="0"/>
              <a:t>x</a:t>
            </a:r>
            <a:r>
              <a:rPr lang="en-US" altLang="zh-CN" sz="1200" b="1" dirty="0"/>
              <a:t>)</a:t>
            </a:r>
          </a:p>
          <a:p>
            <a:pPr>
              <a:spcBef>
                <a:spcPct val="40000"/>
              </a:spcBef>
              <a:buFontTx/>
              <a:buNone/>
            </a:pPr>
            <a:r>
              <a:rPr lang="zh-CN" altLang="en-US" sz="1200" b="1" dirty="0"/>
              <a:t>注意：</a:t>
            </a:r>
            <a:r>
              <a:rPr lang="zh-CN" altLang="en-US" sz="1200" b="1" dirty="0">
                <a:sym typeface="Symbol" panose="05050102010706020507" pitchFamily="18" charset="2"/>
              </a:rPr>
              <a:t></a:t>
            </a:r>
            <a:r>
              <a:rPr lang="zh-CN" altLang="en-US" sz="1200" b="1" dirty="0"/>
              <a:t>对</a:t>
            </a:r>
            <a:r>
              <a:rPr lang="zh-CN" altLang="en-US" sz="1200" b="1" dirty="0">
                <a:sym typeface="Symbol" panose="05050102010706020507" pitchFamily="18" charset="2"/>
              </a:rPr>
              <a:t></a:t>
            </a:r>
            <a:r>
              <a:rPr lang="zh-CN" altLang="en-US" sz="1200" b="1" dirty="0"/>
              <a:t>，</a:t>
            </a:r>
            <a:r>
              <a:rPr lang="zh-CN" altLang="en-US" sz="1200" b="1" dirty="0">
                <a:sym typeface="Symbol" panose="05050102010706020507" pitchFamily="18" charset="2"/>
              </a:rPr>
              <a:t></a:t>
            </a:r>
            <a:r>
              <a:rPr lang="zh-CN" altLang="en-US" sz="1200" b="1" dirty="0"/>
              <a:t>对</a:t>
            </a:r>
            <a:r>
              <a:rPr lang="zh-CN" altLang="en-US" sz="1200" b="1" dirty="0">
                <a:sym typeface="Symbol" panose="05050102010706020507" pitchFamily="18" charset="2"/>
              </a:rPr>
              <a:t></a:t>
            </a:r>
            <a:r>
              <a:rPr lang="zh-CN" altLang="en-US" sz="1200" b="1" dirty="0"/>
              <a:t>无分配律 </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41</a:t>
            </a:fld>
            <a:endParaRPr lang="zh-CN" altLang="en-US"/>
          </a:p>
        </p:txBody>
      </p:sp>
    </p:spTree>
    <p:extLst>
      <p:ext uri="{BB962C8B-B14F-4D97-AF65-F5344CB8AC3E}">
        <p14:creationId xmlns:p14="http://schemas.microsoft.com/office/powerpoint/2010/main" val="282703380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buFont typeface="Wingdings" panose="05000000000000000000" pitchFamily="2" charset="2"/>
              <a:buNone/>
            </a:pPr>
            <a:r>
              <a:rPr lang="zh-CN" altLang="en-US" b="1" dirty="0">
                <a:solidFill>
                  <a:srgbClr val="FF0000"/>
                </a:solidFill>
                <a:latin typeface="+mn-ea"/>
              </a:rPr>
              <a:t>量词辖域收缩与扩张等值式</a:t>
            </a:r>
            <a:r>
              <a:rPr lang="zh-CN" altLang="en-US" sz="1200" b="1" dirty="0">
                <a:solidFill>
                  <a:srgbClr val="FF0000"/>
                </a:solidFill>
                <a:latin typeface="+mn-ea"/>
              </a:rPr>
              <a:t> </a:t>
            </a:r>
          </a:p>
          <a:p>
            <a:pPr algn="just">
              <a:buFont typeface="Wingdings" panose="05000000000000000000" pitchFamily="2" charset="2"/>
              <a:buNone/>
            </a:pPr>
            <a:r>
              <a:rPr lang="zh-CN" altLang="en-US" sz="1200" b="1" dirty="0">
                <a:latin typeface="Times New Roman" panose="02020603050405020304" pitchFamily="18" charset="0"/>
              </a:rPr>
              <a:t>设</a:t>
            </a:r>
            <a:r>
              <a:rPr lang="en-US" altLang="zh-CN" sz="1200" b="1" i="1" dirty="0">
                <a:latin typeface="Times New Roman" panose="02020603050405020304" pitchFamily="18" charset="0"/>
              </a:rPr>
              <a:t>A</a:t>
            </a:r>
            <a:r>
              <a:rPr lang="en-US" altLang="zh-CN" sz="1200" b="1" dirty="0">
                <a:latin typeface="Times New Roman" panose="02020603050405020304" pitchFamily="18" charset="0"/>
              </a:rPr>
              <a:t>(</a:t>
            </a:r>
            <a:r>
              <a:rPr lang="en-US" altLang="zh-CN" sz="1200" b="1" i="1" dirty="0">
                <a:latin typeface="Times New Roman" panose="02020603050405020304" pitchFamily="18" charset="0"/>
              </a:rPr>
              <a:t>x</a:t>
            </a:r>
            <a:r>
              <a:rPr lang="en-US" altLang="zh-CN" sz="1200" b="1" dirty="0">
                <a:latin typeface="Times New Roman" panose="02020603050405020304" pitchFamily="18" charset="0"/>
              </a:rPr>
              <a:t>)</a:t>
            </a:r>
            <a:r>
              <a:rPr lang="zh-CN" altLang="en-US" sz="1200" b="1" dirty="0">
                <a:latin typeface="Times New Roman" panose="02020603050405020304" pitchFamily="18" charset="0"/>
              </a:rPr>
              <a:t>是含</a:t>
            </a:r>
            <a:r>
              <a:rPr lang="en-US" altLang="zh-CN" sz="1200" b="1" i="1" dirty="0">
                <a:latin typeface="Times New Roman" panose="02020603050405020304" pitchFamily="18" charset="0"/>
              </a:rPr>
              <a:t>x</a:t>
            </a:r>
            <a:r>
              <a:rPr lang="zh-CN" altLang="en-US" sz="1200" b="1" dirty="0">
                <a:latin typeface="Times New Roman" panose="02020603050405020304" pitchFamily="18" charset="0"/>
              </a:rPr>
              <a:t>自由出现的公式，</a:t>
            </a:r>
            <a:r>
              <a:rPr lang="en-US" altLang="zh-CN" sz="1200" b="1" i="1" dirty="0">
                <a:latin typeface="Times New Roman" panose="02020603050405020304" pitchFamily="18" charset="0"/>
              </a:rPr>
              <a:t>B</a:t>
            </a:r>
            <a:r>
              <a:rPr lang="zh-CN" altLang="en-US" sz="1200" b="1" dirty="0">
                <a:latin typeface="Times New Roman" panose="02020603050405020304" pitchFamily="18" charset="0"/>
              </a:rPr>
              <a:t>中不含</a:t>
            </a:r>
            <a:r>
              <a:rPr lang="en-US" altLang="zh-CN" sz="1200" b="1" i="1" dirty="0">
                <a:latin typeface="Times New Roman" panose="02020603050405020304" pitchFamily="18" charset="0"/>
              </a:rPr>
              <a:t>x</a:t>
            </a:r>
            <a:r>
              <a:rPr lang="zh-CN" altLang="en-US" sz="1200" b="1" dirty="0">
                <a:latin typeface="Times New Roman" panose="02020603050405020304" pitchFamily="18" charset="0"/>
              </a:rPr>
              <a:t>的出现</a:t>
            </a:r>
          </a:p>
          <a:p>
            <a:pPr marL="0" marR="0" lvl="0" indent="0" algn="just"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zh-CN" altLang="en-US" sz="1200" b="1" dirty="0">
                <a:latin typeface="Times New Roman" panose="02020603050405020304" pitchFamily="18" charset="0"/>
              </a:rPr>
              <a:t>关于全称量词的：关于存在量词的</a:t>
            </a:r>
            <a:r>
              <a:rPr lang="en-US" altLang="zh-CN" sz="1200" b="1" dirty="0">
                <a:latin typeface="Times New Roman" panose="02020603050405020304" pitchFamily="18" charset="0"/>
              </a:rPr>
              <a:t>:</a:t>
            </a:r>
          </a:p>
          <a:p>
            <a:pPr algn="just">
              <a:buFont typeface="Wingdings" panose="05000000000000000000" pitchFamily="2" charset="2"/>
              <a:buNone/>
            </a:pPr>
            <a:endParaRPr lang="zh-CN" altLang="en-US" sz="1200" b="1" dirty="0">
              <a:latin typeface="Times New Roman" panose="02020603050405020304" pitchFamily="18" charset="0"/>
            </a:endParaRP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42</a:t>
            </a:fld>
            <a:endParaRPr lang="zh-CN" altLang="en-US"/>
          </a:p>
        </p:txBody>
      </p:sp>
    </p:spTree>
    <p:extLst>
      <p:ext uri="{BB962C8B-B14F-4D97-AF65-F5344CB8AC3E}">
        <p14:creationId xmlns:p14="http://schemas.microsoft.com/office/powerpoint/2010/main" val="75984786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lnSpc>
                <a:spcPct val="90000"/>
              </a:lnSpc>
              <a:buFontTx/>
              <a:buNone/>
            </a:pPr>
            <a:r>
              <a:rPr lang="zh-CN" altLang="en-US" sz="1200" b="1" dirty="0">
                <a:solidFill>
                  <a:srgbClr val="FF0000"/>
                </a:solidFill>
              </a:rPr>
              <a:t>置换规则</a:t>
            </a:r>
            <a:r>
              <a:rPr lang="zh-CN" altLang="en-US" sz="1200" b="1" dirty="0"/>
              <a:t>   设</a:t>
            </a:r>
            <a:r>
              <a:rPr lang="en-US" altLang="zh-CN" sz="1200" b="1" i="1" dirty="0">
                <a:cs typeface="Times New Roman" panose="02020603050405020304" pitchFamily="18" charset="0"/>
                <a:sym typeface="Symbol" panose="05050102010706020507" pitchFamily="18" charset="2"/>
              </a:rPr>
              <a:t></a:t>
            </a:r>
            <a:r>
              <a:rPr lang="zh-CN" altLang="en-US" sz="1200" b="1" dirty="0"/>
              <a:t>(</a:t>
            </a:r>
            <a:r>
              <a:rPr lang="en-US" altLang="zh-CN" sz="1200" b="1" i="1" dirty="0"/>
              <a:t>A</a:t>
            </a:r>
            <a:r>
              <a:rPr lang="en-US" altLang="zh-CN" sz="1200" b="1" dirty="0"/>
              <a:t>)</a:t>
            </a:r>
            <a:r>
              <a:rPr lang="zh-CN" altLang="en-US" sz="1200" b="1" dirty="0"/>
              <a:t>是含公式</a:t>
            </a:r>
            <a:r>
              <a:rPr lang="en-US" altLang="zh-CN" sz="1200" b="1" i="1" dirty="0"/>
              <a:t>A</a:t>
            </a:r>
            <a:r>
              <a:rPr lang="zh-CN" altLang="en-US" sz="1200" b="1" dirty="0"/>
              <a:t>的公式, </a:t>
            </a:r>
            <a:r>
              <a:rPr lang="en-US" altLang="zh-CN" sz="1200" b="1" i="1" dirty="0">
                <a:cs typeface="Times New Roman" panose="02020603050405020304" pitchFamily="18" charset="0"/>
                <a:sym typeface="Symbol" panose="05050102010706020507" pitchFamily="18" charset="2"/>
              </a:rPr>
              <a:t></a:t>
            </a:r>
            <a:r>
              <a:rPr lang="zh-CN" altLang="en-US" sz="1200" b="1" dirty="0"/>
              <a:t>(</a:t>
            </a:r>
            <a:r>
              <a:rPr lang="en-US" altLang="zh-CN" sz="1200" b="1" i="1" dirty="0"/>
              <a:t>B</a:t>
            </a:r>
            <a:r>
              <a:rPr lang="en-US" altLang="zh-CN" sz="1200" b="1" dirty="0"/>
              <a:t>)</a:t>
            </a:r>
            <a:r>
              <a:rPr lang="zh-CN" altLang="en-US" sz="1200" b="1" dirty="0"/>
              <a:t>是用公式</a:t>
            </a:r>
            <a:r>
              <a:rPr lang="en-US" altLang="zh-CN" sz="1200" b="1" i="1" dirty="0"/>
              <a:t>B</a:t>
            </a:r>
            <a:r>
              <a:rPr lang="zh-CN" altLang="en-US" sz="1200" b="1" dirty="0"/>
              <a:t>取</a:t>
            </a:r>
          </a:p>
          <a:p>
            <a:pPr eaLnBrk="1" hangingPunct="1">
              <a:lnSpc>
                <a:spcPct val="90000"/>
              </a:lnSpc>
              <a:buFontTx/>
              <a:buNone/>
            </a:pPr>
            <a:r>
              <a:rPr lang="zh-CN" altLang="en-US" sz="1200" b="1" dirty="0"/>
              <a:t>代</a:t>
            </a:r>
            <a:r>
              <a:rPr lang="en-US" altLang="zh-CN" sz="1200" b="1" i="1" dirty="0">
                <a:cs typeface="Times New Roman" panose="02020603050405020304" pitchFamily="18" charset="0"/>
                <a:sym typeface="Symbol" panose="05050102010706020507" pitchFamily="18" charset="2"/>
              </a:rPr>
              <a:t></a:t>
            </a:r>
            <a:r>
              <a:rPr lang="zh-CN" altLang="en-US" sz="1200" b="1" dirty="0"/>
              <a:t>(</a:t>
            </a:r>
            <a:r>
              <a:rPr lang="en-US" altLang="zh-CN" sz="1200" b="1" i="1" dirty="0"/>
              <a:t>A</a:t>
            </a:r>
            <a:r>
              <a:rPr lang="en-US" altLang="zh-CN" sz="1200" b="1" dirty="0"/>
              <a:t>)</a:t>
            </a:r>
            <a:r>
              <a:rPr lang="zh-CN" altLang="en-US" sz="1200" b="1" dirty="0"/>
              <a:t>中的所有</a:t>
            </a:r>
            <a:r>
              <a:rPr lang="en-US" altLang="zh-CN" sz="1200" b="1" i="1" dirty="0"/>
              <a:t>A</a:t>
            </a:r>
            <a:r>
              <a:rPr lang="zh-CN" altLang="en-US" sz="1200" b="1" dirty="0"/>
              <a:t>得到的公式, 则</a:t>
            </a:r>
            <a:r>
              <a:rPr lang="en-US" altLang="zh-CN" sz="1200" b="1" i="1" dirty="0">
                <a:cs typeface="Times New Roman" panose="02020603050405020304" pitchFamily="18" charset="0"/>
                <a:sym typeface="Symbol" panose="05050102010706020507" pitchFamily="18" charset="2"/>
              </a:rPr>
              <a:t></a:t>
            </a:r>
            <a:r>
              <a:rPr lang="zh-CN" altLang="en-US" sz="1200" b="1" dirty="0"/>
              <a:t>(</a:t>
            </a:r>
            <a:r>
              <a:rPr lang="en-US" altLang="zh-CN" sz="1200" b="1" i="1" dirty="0"/>
              <a:t>A</a:t>
            </a:r>
            <a:r>
              <a:rPr lang="en-US" altLang="zh-CN" sz="1200" b="1" dirty="0"/>
              <a:t>)</a:t>
            </a:r>
            <a:r>
              <a:rPr lang="en-US" altLang="zh-CN" sz="1200" b="1" dirty="0">
                <a:sym typeface="Symbol" panose="05050102010706020507" pitchFamily="18" charset="2"/>
              </a:rPr>
              <a:t></a:t>
            </a:r>
            <a:r>
              <a:rPr lang="en-US" altLang="zh-CN" sz="1200" b="1" i="1" dirty="0">
                <a:cs typeface="Times New Roman" panose="02020603050405020304" pitchFamily="18" charset="0"/>
                <a:sym typeface="Symbol" panose="05050102010706020507" pitchFamily="18" charset="2"/>
              </a:rPr>
              <a:t></a:t>
            </a:r>
            <a:r>
              <a:rPr lang="zh-CN" altLang="en-US" sz="1200" b="1" dirty="0"/>
              <a:t>(</a:t>
            </a:r>
            <a:r>
              <a:rPr lang="en-US" altLang="zh-CN" sz="1200" b="1" i="1" dirty="0"/>
              <a:t>B</a:t>
            </a:r>
            <a:r>
              <a:rPr lang="en-US" altLang="zh-CN" sz="1200" b="1" dirty="0"/>
              <a:t>)</a:t>
            </a:r>
          </a:p>
          <a:p>
            <a:pPr eaLnBrk="1" hangingPunct="1">
              <a:lnSpc>
                <a:spcPct val="90000"/>
              </a:lnSpc>
              <a:buFontTx/>
              <a:buNone/>
            </a:pPr>
            <a:endParaRPr lang="en-US" altLang="zh-CN" sz="1200" b="1" dirty="0"/>
          </a:p>
          <a:p>
            <a:pPr eaLnBrk="1" hangingPunct="1">
              <a:lnSpc>
                <a:spcPct val="90000"/>
              </a:lnSpc>
              <a:buFontTx/>
              <a:buNone/>
            </a:pPr>
            <a:r>
              <a:rPr lang="zh-CN" altLang="en-US" sz="1200" b="1" dirty="0">
                <a:solidFill>
                  <a:srgbClr val="FF0000"/>
                </a:solidFill>
              </a:rPr>
              <a:t>换名规则</a:t>
            </a:r>
            <a:r>
              <a:rPr lang="zh-CN" altLang="en-US" sz="1200" b="1" dirty="0"/>
              <a:t>   将公式</a:t>
            </a:r>
            <a:r>
              <a:rPr lang="en-US" altLang="zh-CN" sz="1200" b="1" i="1" dirty="0"/>
              <a:t>A</a:t>
            </a:r>
            <a:r>
              <a:rPr lang="zh-CN" altLang="en-US" sz="1200" b="1" dirty="0"/>
              <a:t>中某量词的指导变元及其在辖域内的</a:t>
            </a:r>
          </a:p>
          <a:p>
            <a:pPr eaLnBrk="1" hangingPunct="1">
              <a:lnSpc>
                <a:spcPct val="90000"/>
              </a:lnSpc>
              <a:buFontTx/>
              <a:buNone/>
            </a:pPr>
            <a:r>
              <a:rPr lang="zh-CN" altLang="en-US" sz="1200" b="1" dirty="0"/>
              <a:t>所有约束出现改成该量词辖域内未曾出现的某个个体变</a:t>
            </a:r>
          </a:p>
          <a:p>
            <a:pPr eaLnBrk="1" hangingPunct="1">
              <a:lnSpc>
                <a:spcPct val="90000"/>
              </a:lnSpc>
              <a:buFontTx/>
              <a:buNone/>
            </a:pPr>
            <a:r>
              <a:rPr lang="zh-CN" altLang="en-US" sz="1200" b="1" dirty="0"/>
              <a:t>项, 其余部分不变, 记所得公式为</a:t>
            </a:r>
            <a:r>
              <a:rPr lang="en-US" altLang="zh-CN" sz="1200" b="1" i="1" dirty="0"/>
              <a:t>A</a:t>
            </a:r>
            <a:r>
              <a:rPr lang="en-US" altLang="zh-CN" sz="1200" b="1" dirty="0">
                <a:sym typeface="Symbol" panose="05050102010706020507" pitchFamily="18" charset="2"/>
              </a:rPr>
              <a:t></a:t>
            </a:r>
            <a:r>
              <a:rPr lang="en-US" altLang="zh-CN" sz="1200" b="1" dirty="0">
                <a:cs typeface="Times New Roman" panose="02020603050405020304" pitchFamily="18" charset="0"/>
              </a:rPr>
              <a:t>, </a:t>
            </a:r>
            <a:r>
              <a:rPr lang="zh-CN" altLang="en-US" sz="1200" b="1" dirty="0"/>
              <a:t>则</a:t>
            </a:r>
            <a:r>
              <a:rPr lang="en-US" altLang="zh-CN" sz="1200" b="1" i="1" dirty="0"/>
              <a:t>A</a:t>
            </a:r>
            <a:r>
              <a:rPr lang="en-US" altLang="zh-CN" sz="1200" b="1" dirty="0">
                <a:sym typeface="Symbol" panose="05050102010706020507" pitchFamily="18" charset="2"/>
              </a:rPr>
              <a:t></a:t>
            </a:r>
            <a:r>
              <a:rPr lang="en-US" altLang="zh-CN" sz="1200" b="1" i="1" dirty="0"/>
              <a:t>A</a:t>
            </a:r>
            <a:r>
              <a:rPr lang="zh-CN" altLang="en-US" sz="1200" b="1" dirty="0">
                <a:cs typeface="Times New Roman" panose="02020603050405020304" pitchFamily="18" charset="0"/>
              </a:rPr>
              <a:t> </a:t>
            </a:r>
            <a:endParaRPr lang="en-US" altLang="zh-CN" sz="1200" b="1" dirty="0">
              <a:cs typeface="Times New Roman" panose="02020603050405020304" pitchFamily="18" charset="0"/>
            </a:endParaRPr>
          </a:p>
          <a:p>
            <a:pPr eaLnBrk="1" hangingPunct="1">
              <a:lnSpc>
                <a:spcPct val="90000"/>
              </a:lnSpc>
              <a:buFontTx/>
              <a:buNone/>
            </a:pPr>
            <a:endParaRPr lang="en-US" altLang="zh-CN" b="1" dirty="0">
              <a:cs typeface="Times New Roman" panose="02020603050405020304" pitchFamily="18" charset="0"/>
            </a:endParaRPr>
          </a:p>
          <a:p>
            <a:pPr eaLnBrk="1" hangingPunct="1">
              <a:lnSpc>
                <a:spcPct val="90000"/>
              </a:lnSpc>
              <a:buFont typeface="Wingdings" panose="05000000000000000000" pitchFamily="2" charset="2"/>
              <a:buChar char="l"/>
            </a:pPr>
            <a:r>
              <a:rPr lang="zh-CN" altLang="en-US" sz="1200" b="1" dirty="0">
                <a:cs typeface="Times New Roman" panose="02020603050405020304" pitchFamily="18" charset="0"/>
              </a:rPr>
              <a:t>置换可以用来变换表达式，寻找等价的表达形式</a:t>
            </a:r>
          </a:p>
          <a:p>
            <a:pPr eaLnBrk="1" hangingPunct="1">
              <a:lnSpc>
                <a:spcPct val="90000"/>
              </a:lnSpc>
              <a:buFont typeface="Wingdings" panose="05000000000000000000" pitchFamily="2" charset="2"/>
              <a:buChar char="l"/>
            </a:pPr>
            <a:r>
              <a:rPr lang="zh-CN" altLang="en-US" sz="1200" b="1" dirty="0">
                <a:cs typeface="Times New Roman" panose="02020603050405020304" pitchFamily="18" charset="0"/>
              </a:rPr>
              <a:t>换名可以消除变量名冲突、澄清量词作用域</a:t>
            </a:r>
            <a:endParaRPr lang="en-US" altLang="zh-CN" sz="1200" b="1" dirty="0">
              <a:cs typeface="Times New Roman" panose="02020603050405020304" pitchFamily="18" charset="0"/>
            </a:endParaRPr>
          </a:p>
          <a:p>
            <a:pPr eaLnBrk="1" hangingPunct="1">
              <a:lnSpc>
                <a:spcPct val="90000"/>
              </a:lnSpc>
              <a:buFont typeface="Wingdings" panose="05000000000000000000" pitchFamily="2" charset="2"/>
              <a:buChar char="l"/>
            </a:pPr>
            <a:r>
              <a:rPr lang="zh-CN" altLang="en-US" sz="1200" b="1" dirty="0">
                <a:cs typeface="Times New Roman" panose="02020603050405020304" pitchFamily="18" charset="0"/>
              </a:rPr>
              <a:t>置换时被替换的项不应该变成某个量词范围内的变量</a:t>
            </a:r>
          </a:p>
          <a:p>
            <a:pPr eaLnBrk="1" hangingPunct="1">
              <a:lnSpc>
                <a:spcPct val="90000"/>
              </a:lnSpc>
              <a:buFont typeface="Wingdings" panose="05000000000000000000" pitchFamily="2" charset="2"/>
              <a:buChar char="l"/>
            </a:pPr>
            <a:r>
              <a:rPr lang="zh-CN" altLang="en-US" sz="1200" b="1" dirty="0">
                <a:cs typeface="Times New Roman" panose="02020603050405020304" pitchFamily="18" charset="0"/>
              </a:rPr>
              <a:t>换名时只有被量词绑定的变量名被更改，其余的公式结构应保持不变</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43</a:t>
            </a:fld>
            <a:endParaRPr lang="zh-CN" altLang="en-US"/>
          </a:p>
        </p:txBody>
      </p:sp>
    </p:spTree>
    <p:extLst>
      <p:ext uri="{BB962C8B-B14F-4D97-AF65-F5344CB8AC3E}">
        <p14:creationId xmlns:p14="http://schemas.microsoft.com/office/powerpoint/2010/main" val="154525771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lnSpc>
                <a:spcPct val="90000"/>
              </a:lnSpc>
              <a:buFontTx/>
              <a:buNone/>
            </a:pPr>
            <a:r>
              <a:rPr lang="zh-CN" altLang="en-US" sz="1200" b="1" dirty="0">
                <a:solidFill>
                  <a:srgbClr val="FF0000"/>
                </a:solidFill>
              </a:rPr>
              <a:t>置换规则</a:t>
            </a:r>
            <a:r>
              <a:rPr lang="zh-CN" altLang="en-US" sz="1200" b="1" dirty="0"/>
              <a:t>   设</a:t>
            </a:r>
            <a:r>
              <a:rPr lang="en-US" altLang="zh-CN" sz="1200" b="1" i="1" dirty="0">
                <a:cs typeface="Times New Roman" panose="02020603050405020304" pitchFamily="18" charset="0"/>
                <a:sym typeface="Symbol" panose="05050102010706020507" pitchFamily="18" charset="2"/>
              </a:rPr>
              <a:t></a:t>
            </a:r>
            <a:r>
              <a:rPr lang="zh-CN" altLang="en-US" sz="1200" b="1" dirty="0"/>
              <a:t>(</a:t>
            </a:r>
            <a:r>
              <a:rPr lang="en-US" altLang="zh-CN" sz="1200" b="1" i="1" dirty="0"/>
              <a:t>A</a:t>
            </a:r>
            <a:r>
              <a:rPr lang="en-US" altLang="zh-CN" sz="1200" b="1" dirty="0"/>
              <a:t>)</a:t>
            </a:r>
            <a:r>
              <a:rPr lang="zh-CN" altLang="en-US" sz="1200" b="1" dirty="0"/>
              <a:t>是含公式</a:t>
            </a:r>
            <a:r>
              <a:rPr lang="en-US" altLang="zh-CN" sz="1200" b="1" i="1" dirty="0"/>
              <a:t>A</a:t>
            </a:r>
            <a:r>
              <a:rPr lang="zh-CN" altLang="en-US" sz="1200" b="1" dirty="0"/>
              <a:t>的公式, </a:t>
            </a:r>
            <a:r>
              <a:rPr lang="en-US" altLang="zh-CN" sz="1200" b="1" i="1" dirty="0">
                <a:cs typeface="Times New Roman" panose="02020603050405020304" pitchFamily="18" charset="0"/>
                <a:sym typeface="Symbol" panose="05050102010706020507" pitchFamily="18" charset="2"/>
              </a:rPr>
              <a:t></a:t>
            </a:r>
            <a:r>
              <a:rPr lang="zh-CN" altLang="en-US" sz="1200" b="1" dirty="0"/>
              <a:t>(</a:t>
            </a:r>
            <a:r>
              <a:rPr lang="en-US" altLang="zh-CN" sz="1200" b="1" i="1" dirty="0"/>
              <a:t>B</a:t>
            </a:r>
            <a:r>
              <a:rPr lang="en-US" altLang="zh-CN" sz="1200" b="1" dirty="0"/>
              <a:t>)</a:t>
            </a:r>
            <a:r>
              <a:rPr lang="zh-CN" altLang="en-US" sz="1200" b="1" dirty="0"/>
              <a:t>是用公式</a:t>
            </a:r>
            <a:r>
              <a:rPr lang="en-US" altLang="zh-CN" sz="1200" b="1" i="1" dirty="0"/>
              <a:t>B</a:t>
            </a:r>
            <a:r>
              <a:rPr lang="zh-CN" altLang="en-US" sz="1200" b="1" dirty="0"/>
              <a:t>取</a:t>
            </a:r>
          </a:p>
          <a:p>
            <a:pPr eaLnBrk="1" hangingPunct="1">
              <a:lnSpc>
                <a:spcPct val="90000"/>
              </a:lnSpc>
              <a:buFontTx/>
              <a:buNone/>
            </a:pPr>
            <a:r>
              <a:rPr lang="zh-CN" altLang="en-US" sz="1200" b="1" dirty="0"/>
              <a:t>代</a:t>
            </a:r>
            <a:r>
              <a:rPr lang="en-US" altLang="zh-CN" sz="1200" b="1" i="1" dirty="0">
                <a:cs typeface="Times New Roman" panose="02020603050405020304" pitchFamily="18" charset="0"/>
                <a:sym typeface="Symbol" panose="05050102010706020507" pitchFamily="18" charset="2"/>
              </a:rPr>
              <a:t></a:t>
            </a:r>
            <a:r>
              <a:rPr lang="zh-CN" altLang="en-US" sz="1200" b="1" dirty="0"/>
              <a:t>(</a:t>
            </a:r>
            <a:r>
              <a:rPr lang="en-US" altLang="zh-CN" sz="1200" b="1" i="1" dirty="0"/>
              <a:t>A</a:t>
            </a:r>
            <a:r>
              <a:rPr lang="en-US" altLang="zh-CN" sz="1200" b="1" dirty="0"/>
              <a:t>)</a:t>
            </a:r>
            <a:r>
              <a:rPr lang="zh-CN" altLang="en-US" sz="1200" b="1" dirty="0"/>
              <a:t>中的所有</a:t>
            </a:r>
            <a:r>
              <a:rPr lang="en-US" altLang="zh-CN" sz="1200" b="1" i="1" dirty="0"/>
              <a:t>A</a:t>
            </a:r>
            <a:r>
              <a:rPr lang="zh-CN" altLang="en-US" sz="1200" b="1" dirty="0"/>
              <a:t>得到的公式, 则</a:t>
            </a:r>
            <a:r>
              <a:rPr lang="en-US" altLang="zh-CN" sz="1200" b="1" i="1" dirty="0">
                <a:cs typeface="Times New Roman" panose="02020603050405020304" pitchFamily="18" charset="0"/>
                <a:sym typeface="Symbol" panose="05050102010706020507" pitchFamily="18" charset="2"/>
              </a:rPr>
              <a:t></a:t>
            </a:r>
            <a:r>
              <a:rPr lang="zh-CN" altLang="en-US" sz="1200" b="1" dirty="0"/>
              <a:t>(</a:t>
            </a:r>
            <a:r>
              <a:rPr lang="en-US" altLang="zh-CN" sz="1200" b="1" i="1" dirty="0"/>
              <a:t>A</a:t>
            </a:r>
            <a:r>
              <a:rPr lang="en-US" altLang="zh-CN" sz="1200" b="1" dirty="0"/>
              <a:t>)</a:t>
            </a:r>
            <a:r>
              <a:rPr lang="en-US" altLang="zh-CN" sz="1200" b="1" dirty="0">
                <a:sym typeface="Symbol" panose="05050102010706020507" pitchFamily="18" charset="2"/>
              </a:rPr>
              <a:t></a:t>
            </a:r>
            <a:r>
              <a:rPr lang="en-US" altLang="zh-CN" sz="1200" b="1" i="1" dirty="0">
                <a:cs typeface="Times New Roman" panose="02020603050405020304" pitchFamily="18" charset="0"/>
                <a:sym typeface="Symbol" panose="05050102010706020507" pitchFamily="18" charset="2"/>
              </a:rPr>
              <a:t></a:t>
            </a:r>
            <a:r>
              <a:rPr lang="zh-CN" altLang="en-US" sz="1200" b="1" dirty="0"/>
              <a:t>(</a:t>
            </a:r>
            <a:r>
              <a:rPr lang="en-US" altLang="zh-CN" sz="1200" b="1" i="1" dirty="0"/>
              <a:t>B</a:t>
            </a:r>
            <a:r>
              <a:rPr lang="en-US" altLang="zh-CN" sz="1200" b="1" dirty="0"/>
              <a:t>)</a:t>
            </a:r>
          </a:p>
          <a:p>
            <a:pPr eaLnBrk="1" hangingPunct="1">
              <a:lnSpc>
                <a:spcPct val="90000"/>
              </a:lnSpc>
              <a:buFontTx/>
              <a:buNone/>
            </a:pPr>
            <a:endParaRPr lang="en-US" altLang="zh-CN" sz="1200" b="1" dirty="0"/>
          </a:p>
          <a:p>
            <a:pPr eaLnBrk="1" hangingPunct="1">
              <a:lnSpc>
                <a:spcPct val="90000"/>
              </a:lnSpc>
              <a:buFontTx/>
              <a:buNone/>
            </a:pPr>
            <a:r>
              <a:rPr lang="zh-CN" altLang="en-US" sz="1200" b="1" dirty="0">
                <a:solidFill>
                  <a:srgbClr val="FF0000"/>
                </a:solidFill>
              </a:rPr>
              <a:t>换名规则</a:t>
            </a:r>
            <a:r>
              <a:rPr lang="zh-CN" altLang="en-US" sz="1200" b="1" dirty="0"/>
              <a:t>   将公式</a:t>
            </a:r>
            <a:r>
              <a:rPr lang="en-US" altLang="zh-CN" sz="1200" b="1" i="1" dirty="0"/>
              <a:t>A</a:t>
            </a:r>
            <a:r>
              <a:rPr lang="zh-CN" altLang="en-US" sz="1200" b="1" dirty="0"/>
              <a:t>中某量词的指导变元及其在辖域内的</a:t>
            </a:r>
          </a:p>
          <a:p>
            <a:pPr eaLnBrk="1" hangingPunct="1">
              <a:lnSpc>
                <a:spcPct val="90000"/>
              </a:lnSpc>
              <a:buFontTx/>
              <a:buNone/>
            </a:pPr>
            <a:r>
              <a:rPr lang="zh-CN" altLang="en-US" sz="1200" b="1" dirty="0"/>
              <a:t>所有约束出现改成该量词辖域内未曾出现的某个个体变</a:t>
            </a:r>
          </a:p>
          <a:p>
            <a:pPr eaLnBrk="1" hangingPunct="1">
              <a:lnSpc>
                <a:spcPct val="90000"/>
              </a:lnSpc>
              <a:buFontTx/>
              <a:buNone/>
            </a:pPr>
            <a:r>
              <a:rPr lang="zh-CN" altLang="en-US" sz="1200" b="1" dirty="0"/>
              <a:t>项, 其余部分不变, 记所得公式为</a:t>
            </a:r>
            <a:r>
              <a:rPr lang="en-US" altLang="zh-CN" sz="1200" b="1" i="1" dirty="0"/>
              <a:t>A</a:t>
            </a:r>
            <a:r>
              <a:rPr lang="en-US" altLang="zh-CN" sz="1200" b="1" dirty="0">
                <a:sym typeface="Symbol" panose="05050102010706020507" pitchFamily="18" charset="2"/>
              </a:rPr>
              <a:t></a:t>
            </a:r>
            <a:r>
              <a:rPr lang="en-US" altLang="zh-CN" sz="1200" b="1" dirty="0">
                <a:cs typeface="Times New Roman" panose="02020603050405020304" pitchFamily="18" charset="0"/>
              </a:rPr>
              <a:t>, </a:t>
            </a:r>
            <a:r>
              <a:rPr lang="zh-CN" altLang="en-US" sz="1200" b="1" dirty="0"/>
              <a:t>则</a:t>
            </a:r>
            <a:r>
              <a:rPr lang="en-US" altLang="zh-CN" sz="1200" b="1" i="1" dirty="0"/>
              <a:t>A</a:t>
            </a:r>
            <a:r>
              <a:rPr lang="en-US" altLang="zh-CN" sz="1200" b="1" dirty="0">
                <a:sym typeface="Symbol" panose="05050102010706020507" pitchFamily="18" charset="2"/>
              </a:rPr>
              <a:t></a:t>
            </a:r>
            <a:r>
              <a:rPr lang="en-US" altLang="zh-CN" sz="1200" b="1" i="1" dirty="0"/>
              <a:t>A</a:t>
            </a:r>
            <a:r>
              <a:rPr lang="zh-CN" altLang="en-US" sz="1200" b="1" dirty="0">
                <a:cs typeface="Times New Roman" panose="02020603050405020304" pitchFamily="18" charset="0"/>
              </a:rPr>
              <a:t> </a:t>
            </a:r>
            <a:endParaRPr lang="en-US" altLang="zh-CN" sz="1200" b="1" dirty="0">
              <a:cs typeface="Times New Roman" panose="02020603050405020304" pitchFamily="18" charset="0"/>
            </a:endParaRPr>
          </a:p>
          <a:p>
            <a:pPr eaLnBrk="1" hangingPunct="1">
              <a:lnSpc>
                <a:spcPct val="90000"/>
              </a:lnSpc>
              <a:buFontTx/>
              <a:buNone/>
            </a:pPr>
            <a:endParaRPr lang="en-US" altLang="zh-CN" b="1" dirty="0">
              <a:cs typeface="Times New Roman" panose="02020603050405020304" pitchFamily="18" charset="0"/>
            </a:endParaRPr>
          </a:p>
          <a:p>
            <a:pPr eaLnBrk="1" hangingPunct="1">
              <a:lnSpc>
                <a:spcPct val="90000"/>
              </a:lnSpc>
              <a:buFont typeface="Wingdings" panose="05000000000000000000" pitchFamily="2" charset="2"/>
              <a:buChar char="l"/>
            </a:pPr>
            <a:r>
              <a:rPr lang="zh-CN" altLang="en-US" sz="1200" b="1" dirty="0">
                <a:cs typeface="Times New Roman" panose="02020603050405020304" pitchFamily="18" charset="0"/>
              </a:rPr>
              <a:t>置换可以用来变换表达式，寻找等价的表达形式</a:t>
            </a:r>
          </a:p>
          <a:p>
            <a:pPr eaLnBrk="1" hangingPunct="1">
              <a:lnSpc>
                <a:spcPct val="90000"/>
              </a:lnSpc>
              <a:buFont typeface="Wingdings" panose="05000000000000000000" pitchFamily="2" charset="2"/>
              <a:buChar char="l"/>
            </a:pPr>
            <a:r>
              <a:rPr lang="zh-CN" altLang="en-US" sz="1200" b="1" dirty="0">
                <a:cs typeface="Times New Roman" panose="02020603050405020304" pitchFamily="18" charset="0"/>
              </a:rPr>
              <a:t>换名可以消除变量名冲突、澄清量词作用域</a:t>
            </a:r>
            <a:endParaRPr lang="en-US" altLang="zh-CN" sz="1200" b="1" dirty="0">
              <a:cs typeface="Times New Roman" panose="02020603050405020304" pitchFamily="18" charset="0"/>
            </a:endParaRPr>
          </a:p>
          <a:p>
            <a:pPr eaLnBrk="1" hangingPunct="1">
              <a:lnSpc>
                <a:spcPct val="90000"/>
              </a:lnSpc>
              <a:buFont typeface="Wingdings" panose="05000000000000000000" pitchFamily="2" charset="2"/>
              <a:buChar char="l"/>
            </a:pPr>
            <a:r>
              <a:rPr lang="zh-CN" altLang="en-US" sz="1200" b="1" dirty="0">
                <a:cs typeface="Times New Roman" panose="02020603050405020304" pitchFamily="18" charset="0"/>
              </a:rPr>
              <a:t>置换时被替换的项不应该变成某个量词范围内的变量</a:t>
            </a:r>
          </a:p>
          <a:p>
            <a:pPr eaLnBrk="1" hangingPunct="1">
              <a:lnSpc>
                <a:spcPct val="90000"/>
              </a:lnSpc>
              <a:buFont typeface="Wingdings" panose="05000000000000000000" pitchFamily="2" charset="2"/>
              <a:buChar char="l"/>
            </a:pPr>
            <a:r>
              <a:rPr lang="zh-CN" altLang="en-US" sz="1200" b="1" dirty="0">
                <a:cs typeface="Times New Roman" panose="02020603050405020304" pitchFamily="18" charset="0"/>
              </a:rPr>
              <a:t>换名时只有被量词绑定的变量名被更改，其余的公式结构应保持不变</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44</a:t>
            </a:fld>
            <a:endParaRPr lang="zh-CN" altLang="en-US"/>
          </a:p>
        </p:txBody>
      </p:sp>
    </p:spTree>
    <p:extLst>
      <p:ext uri="{BB962C8B-B14F-4D97-AF65-F5344CB8AC3E}">
        <p14:creationId xmlns:p14="http://schemas.microsoft.com/office/powerpoint/2010/main" val="350091214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AFE74B6-F93C-4D90-BE1A-7EFEDB35C0D4}" type="slidenum">
              <a:rPr lang="zh-CN" altLang="en-US" smtClean="0"/>
              <a:t>45</a:t>
            </a:fld>
            <a:endParaRPr lang="zh-CN" altLang="en-US"/>
          </a:p>
        </p:txBody>
      </p:sp>
    </p:spTree>
    <p:extLst>
      <p:ext uri="{BB962C8B-B14F-4D97-AF65-F5344CB8AC3E}">
        <p14:creationId xmlns:p14="http://schemas.microsoft.com/office/powerpoint/2010/main" val="367456793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dirty="0"/>
              <a:t>量词辖域收缩</a:t>
            </a:r>
            <a:endParaRPr lang="zh-CN" altLang="en-US" sz="1200" b="1" dirty="0">
              <a:sym typeface="Symbol" panose="05050102010706020507" pitchFamily="18" charset="2"/>
            </a:endParaRP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46</a:t>
            </a:fld>
            <a:endParaRPr lang="zh-CN" altLang="en-US"/>
          </a:p>
        </p:txBody>
      </p:sp>
    </p:spTree>
    <p:extLst>
      <p:ext uri="{BB962C8B-B14F-4D97-AF65-F5344CB8AC3E}">
        <p14:creationId xmlns:p14="http://schemas.microsoft.com/office/powerpoint/2010/main" val="364138652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AFE74B6-F93C-4D90-BE1A-7EFEDB35C0D4}" type="slidenum">
              <a:rPr lang="zh-CN" altLang="en-US" smtClean="0"/>
              <a:t>47</a:t>
            </a:fld>
            <a:endParaRPr lang="zh-CN" altLang="en-US"/>
          </a:p>
        </p:txBody>
      </p:sp>
    </p:spTree>
    <p:extLst>
      <p:ext uri="{BB962C8B-B14F-4D97-AF65-F5344CB8AC3E}">
        <p14:creationId xmlns:p14="http://schemas.microsoft.com/office/powerpoint/2010/main" val="302604077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AFE74B6-F93C-4D90-BE1A-7EFEDB35C0D4}" type="slidenum">
              <a:rPr lang="zh-CN" altLang="en-US" smtClean="0"/>
              <a:t>48</a:t>
            </a:fld>
            <a:endParaRPr lang="zh-CN" altLang="en-US"/>
          </a:p>
        </p:txBody>
      </p:sp>
    </p:spTree>
    <p:extLst>
      <p:ext uri="{BB962C8B-B14F-4D97-AF65-F5344CB8AC3E}">
        <p14:creationId xmlns:p14="http://schemas.microsoft.com/office/powerpoint/2010/main" val="420403433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892175" eaLnBrk="1" hangingPunct="1">
              <a:buNone/>
            </a:pPr>
            <a:r>
              <a:rPr lang="zh-CN" altLang="en-US" b="1" dirty="0"/>
              <a:t>3.2.1 一阶逻辑等值式与置换规则</a:t>
            </a:r>
          </a:p>
          <a:p>
            <a:pPr marL="1698625" lvl="1" indent="-87313" eaLnBrk="1" hangingPunct="1">
              <a:spcBef>
                <a:spcPct val="40000"/>
              </a:spcBef>
            </a:pPr>
            <a:r>
              <a:rPr lang="zh-CN" altLang="en-US" b="1" dirty="0"/>
              <a:t>基本等值式</a:t>
            </a:r>
          </a:p>
          <a:p>
            <a:pPr marL="1698625" lvl="1" indent="-87313" eaLnBrk="1" hangingPunct="1">
              <a:spcBef>
                <a:spcPct val="40000"/>
              </a:spcBef>
            </a:pPr>
            <a:r>
              <a:rPr lang="zh-CN" altLang="en-US" b="1" dirty="0"/>
              <a:t>置换规则、换名规则</a:t>
            </a:r>
            <a:endParaRPr lang="en-US" altLang="zh-CN" b="1" dirty="0"/>
          </a:p>
          <a:p>
            <a:pPr marL="0" lvl="1" indent="892175" eaLnBrk="1" hangingPunct="1">
              <a:spcBef>
                <a:spcPct val="40000"/>
              </a:spcBef>
            </a:pPr>
            <a:endParaRPr lang="zh-CN" altLang="en-US" b="1" dirty="0"/>
          </a:p>
          <a:p>
            <a:pPr marL="0" indent="892175" eaLnBrk="1" hangingPunct="1">
              <a:spcBef>
                <a:spcPct val="60000"/>
              </a:spcBef>
              <a:buNone/>
            </a:pPr>
            <a:r>
              <a:rPr lang="zh-CN" altLang="en-US" b="1" dirty="0"/>
              <a:t>3.2.2 一阶逻辑前束范式</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49</a:t>
            </a:fld>
            <a:endParaRPr lang="zh-CN" altLang="en-US"/>
          </a:p>
        </p:txBody>
      </p:sp>
    </p:spTree>
    <p:extLst>
      <p:ext uri="{BB962C8B-B14F-4D97-AF65-F5344CB8AC3E}">
        <p14:creationId xmlns:p14="http://schemas.microsoft.com/office/powerpoint/2010/main" val="271571436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374151"/>
                </a:solidFill>
                <a:effectLst/>
                <a:latin typeface="Söhne"/>
              </a:rPr>
              <a:t>前束范式（</a:t>
            </a:r>
            <a:r>
              <a:rPr lang="en-US" altLang="zh-CN" b="0" i="0" dirty="0">
                <a:solidFill>
                  <a:srgbClr val="374151"/>
                </a:solidFill>
                <a:effectLst/>
                <a:latin typeface="Söhne"/>
              </a:rPr>
              <a:t>Prenex Normal Form</a:t>
            </a:r>
            <a:r>
              <a:rPr lang="zh-CN" altLang="en-US" b="0" i="0" dirty="0">
                <a:solidFill>
                  <a:srgbClr val="374151"/>
                </a:solidFill>
                <a:effectLst/>
                <a:latin typeface="Söhne"/>
              </a:rPr>
              <a:t>）是一种特殊形式的逻辑公式，其中所有的量词都被移动到公式的前面，形成一个连续的量词前缀，而不涉及任何逻辑运算符。</a:t>
            </a:r>
            <a:endParaRPr lang="en-US" altLang="zh-CN" b="0" i="0" dirty="0">
              <a:solidFill>
                <a:srgbClr val="374151"/>
              </a:solidFill>
              <a:effectLst/>
              <a:latin typeface="Söhne"/>
            </a:endParaRPr>
          </a:p>
          <a:p>
            <a:r>
              <a:rPr lang="zh-CN" altLang="en-US" b="0" i="0" dirty="0">
                <a:solidFill>
                  <a:srgbClr val="374151"/>
                </a:solidFill>
                <a:effectLst/>
                <a:latin typeface="Söhne"/>
              </a:rPr>
              <a:t>否定符号“</a:t>
            </a:r>
            <a:r>
              <a:rPr lang="en-US" altLang="zh-CN" b="0" i="0" dirty="0">
                <a:solidFill>
                  <a:srgbClr val="374151"/>
                </a:solidFill>
                <a:effectLst/>
                <a:latin typeface="Söhne"/>
              </a:rPr>
              <a:t>¬”</a:t>
            </a:r>
            <a:r>
              <a:rPr lang="zh-CN" altLang="en-US" b="0" i="0" dirty="0">
                <a:solidFill>
                  <a:srgbClr val="374151"/>
                </a:solidFill>
                <a:effectLst/>
                <a:latin typeface="Söhne"/>
              </a:rPr>
              <a:t>出现在存在量词“∃”之前，这意味着公式并不是前束范式。在前束范式中，我们不会在量词后面的矩阵部分看到任何量词，而且所有的否定操作都会作用于矩阵的原子公式，而不是量词。</a:t>
            </a:r>
            <a:endParaRPr lang="en-US" altLang="zh-CN" b="0" i="0" dirty="0">
              <a:solidFill>
                <a:srgbClr val="374151"/>
              </a:solidFill>
              <a:effectLst/>
              <a:latin typeface="Söhne"/>
            </a:endParaRPr>
          </a:p>
          <a:p>
            <a:r>
              <a:rPr lang="zh-CN" altLang="en-US" b="0" i="0" dirty="0">
                <a:solidFill>
                  <a:srgbClr val="374151"/>
                </a:solidFill>
                <a:effectLst/>
                <a:latin typeface="Söhne"/>
              </a:rPr>
              <a:t>量词的否定规则允许我们将 </a:t>
            </a:r>
            <a:r>
              <a:rPr lang="en-US" altLang="zh-CN" b="0" i="0" dirty="0">
                <a:solidFill>
                  <a:srgbClr val="374151"/>
                </a:solidFill>
                <a:effectLst/>
                <a:latin typeface="Söhne"/>
              </a:rPr>
              <a:t>¬∃x </a:t>
            </a:r>
            <a:r>
              <a:rPr lang="zh-CN" altLang="en-US" b="0" i="0" dirty="0">
                <a:solidFill>
                  <a:srgbClr val="374151"/>
                </a:solidFill>
                <a:effectLst/>
                <a:latin typeface="Söhne"/>
              </a:rPr>
              <a:t>转换为 ∀</a:t>
            </a:r>
            <a:r>
              <a:rPr lang="en-US" altLang="zh-CN" b="0" i="0" dirty="0">
                <a:solidFill>
                  <a:srgbClr val="374151"/>
                </a:solidFill>
                <a:effectLst/>
                <a:latin typeface="Söhne"/>
              </a:rPr>
              <a:t>x¬</a:t>
            </a:r>
            <a:r>
              <a:rPr lang="zh-CN" altLang="en-US" b="0" i="0" dirty="0">
                <a:solidFill>
                  <a:srgbClr val="374151"/>
                </a:solidFill>
                <a:effectLst/>
                <a:latin typeface="Söhne"/>
              </a:rPr>
              <a:t>。</a:t>
            </a:r>
            <a:endParaRPr lang="en-US" altLang="zh-CN" b="0" i="0" dirty="0">
              <a:solidFill>
                <a:srgbClr val="374151"/>
              </a:solidFill>
              <a:effectLst/>
              <a:latin typeface="Söhne"/>
            </a:endParaRPr>
          </a:p>
          <a:p>
            <a:r>
              <a:rPr lang="en-US" altLang="zh-CN" b="0" i="0" dirty="0">
                <a:solidFill>
                  <a:srgbClr val="374151"/>
                </a:solidFill>
                <a:effectLst/>
                <a:latin typeface="Söhne"/>
              </a:rPr>
              <a:t>¬∃x[F(x) ∧ ¬G(x)] </a:t>
            </a:r>
            <a:r>
              <a:rPr lang="zh-CN" altLang="en-US" b="0" i="0" dirty="0">
                <a:solidFill>
                  <a:srgbClr val="374151"/>
                </a:solidFill>
                <a:effectLst/>
                <a:latin typeface="Söhne"/>
              </a:rPr>
              <a:t>可以转换为 ∀</a:t>
            </a:r>
            <a:r>
              <a:rPr lang="en-US" altLang="zh-CN" b="0" i="0" dirty="0">
                <a:solidFill>
                  <a:srgbClr val="374151"/>
                </a:solidFill>
                <a:effectLst/>
                <a:latin typeface="Söhne"/>
              </a:rPr>
              <a:t>x¬[F(x) ∧ ¬G(x)]</a:t>
            </a:r>
            <a:r>
              <a:rPr lang="zh-CN" altLang="en-US" b="0" i="0" dirty="0">
                <a:solidFill>
                  <a:srgbClr val="374151"/>
                </a:solidFill>
                <a:effectLst/>
                <a:latin typeface="Söhne"/>
              </a:rPr>
              <a:t>，进一步转换为 ∀</a:t>
            </a:r>
            <a:r>
              <a:rPr lang="en-US" altLang="zh-CN" b="0" i="0" dirty="0">
                <a:solidFill>
                  <a:srgbClr val="374151"/>
                </a:solidFill>
                <a:effectLst/>
                <a:latin typeface="Söhne"/>
              </a:rPr>
              <a:t>x[¬F(x) ∨ G(x)]</a:t>
            </a:r>
            <a:r>
              <a:rPr lang="zh-CN" altLang="en-US" b="0" i="0" dirty="0">
                <a:solidFill>
                  <a:srgbClr val="374151"/>
                </a:solidFill>
                <a:effectLst/>
                <a:latin typeface="Söhne"/>
              </a:rPr>
              <a:t>，这是前束范式，因为所有量词都移动到了公式的前面。</a:t>
            </a:r>
            <a:endParaRPr lang="en-US" altLang="zh-CN" b="0" i="0" dirty="0">
              <a:solidFill>
                <a:srgbClr val="374151"/>
              </a:solidFill>
              <a:effectLst/>
              <a:latin typeface="Söhne"/>
            </a:endParaRPr>
          </a:p>
          <a:p>
            <a:endParaRPr lang="en-US" altLang="zh-CN" b="0" i="0" dirty="0">
              <a:solidFill>
                <a:srgbClr val="374151"/>
              </a:solidFill>
              <a:effectLst/>
              <a:latin typeface="Söhne"/>
            </a:endParaRPr>
          </a:p>
          <a:p>
            <a:pPr algn="just" eaLnBrk="1" hangingPunct="1">
              <a:buClr>
                <a:schemeClr val="bg2"/>
              </a:buClr>
              <a:buSzPct val="75000"/>
              <a:buFont typeface="Wingdings" panose="05000000000000000000" pitchFamily="2" charset="2"/>
              <a:buNone/>
            </a:pPr>
            <a:r>
              <a:rPr kumimoji="0" lang="zh-CN" altLang="en-US" sz="1200" b="1" dirty="0">
                <a:solidFill>
                  <a:srgbClr val="FF3300"/>
                </a:solidFill>
              </a:rPr>
              <a:t>定义3.11</a:t>
            </a:r>
            <a:r>
              <a:rPr kumimoji="0" lang="zh-CN" altLang="en-US" sz="1200" b="1" dirty="0"/>
              <a:t> 设</a:t>
            </a:r>
            <a:r>
              <a:rPr kumimoji="0" lang="en-US" altLang="zh-CN" sz="1200" b="1" i="1" dirty="0"/>
              <a:t>A</a:t>
            </a:r>
            <a:r>
              <a:rPr kumimoji="0" lang="zh-CN" altLang="en-US" sz="1200" b="1" dirty="0"/>
              <a:t>为一个一阶逻辑公式, 若</a:t>
            </a:r>
            <a:r>
              <a:rPr kumimoji="0" lang="en-US" altLang="zh-CN" sz="1200" b="1" i="1" dirty="0"/>
              <a:t>A</a:t>
            </a:r>
            <a:r>
              <a:rPr kumimoji="0" lang="zh-CN" altLang="en-US" sz="1200" b="1" dirty="0"/>
              <a:t>具有如下形式</a:t>
            </a:r>
          </a:p>
          <a:p>
            <a:pPr algn="ctr" eaLnBrk="1" hangingPunct="1">
              <a:buClr>
                <a:schemeClr val="bg2"/>
              </a:buClr>
              <a:buSzPct val="75000"/>
              <a:buFont typeface="Wingdings" panose="05000000000000000000" pitchFamily="2" charset="2"/>
              <a:buNone/>
            </a:pPr>
            <a:r>
              <a:rPr kumimoji="0" lang="en-US" altLang="zh-CN" sz="1200" b="1" i="1" dirty="0"/>
              <a:t> Q</a:t>
            </a:r>
            <a:r>
              <a:rPr kumimoji="0" lang="en-US" altLang="zh-CN" sz="1200" b="1" baseline="-30000" dirty="0"/>
              <a:t>1</a:t>
            </a:r>
            <a:r>
              <a:rPr kumimoji="0" lang="en-US" altLang="zh-CN" sz="1200" b="1" i="1" dirty="0"/>
              <a:t>x</a:t>
            </a:r>
            <a:r>
              <a:rPr kumimoji="0" lang="en-US" altLang="zh-CN" sz="1200" b="1" baseline="-30000" dirty="0"/>
              <a:t>1</a:t>
            </a:r>
            <a:r>
              <a:rPr kumimoji="0" lang="en-US" altLang="zh-CN" sz="1200" b="1" i="1" dirty="0"/>
              <a:t>Q</a:t>
            </a:r>
            <a:r>
              <a:rPr kumimoji="0" lang="en-US" altLang="zh-CN" sz="1200" b="1" baseline="-30000" dirty="0"/>
              <a:t>2</a:t>
            </a:r>
            <a:r>
              <a:rPr kumimoji="0" lang="en-US" altLang="zh-CN" sz="1200" b="1" i="1" dirty="0"/>
              <a:t>x</a:t>
            </a:r>
            <a:r>
              <a:rPr kumimoji="0" lang="en-US" altLang="zh-CN" sz="1200" b="1" baseline="-30000" dirty="0"/>
              <a:t>2</a:t>
            </a:r>
            <a:r>
              <a:rPr kumimoji="0" lang="en-US" altLang="zh-CN" sz="1200" b="1" dirty="0"/>
              <a:t>…</a:t>
            </a:r>
            <a:r>
              <a:rPr kumimoji="0" lang="en-US" altLang="zh-CN" sz="1200" b="1" i="1" dirty="0"/>
              <a:t>Q</a:t>
            </a:r>
            <a:r>
              <a:rPr kumimoji="0" lang="en-US" altLang="zh-CN" sz="1200" b="1" i="1" baseline="-30000" dirty="0"/>
              <a:t>k</a:t>
            </a:r>
            <a:r>
              <a:rPr kumimoji="0" lang="en-US" altLang="zh-CN" sz="1200" b="1" i="1" dirty="0"/>
              <a:t>x</a:t>
            </a:r>
            <a:r>
              <a:rPr kumimoji="0" lang="en-US" altLang="zh-CN" sz="1200" b="1" i="1" baseline="-30000" dirty="0"/>
              <a:t>k </a:t>
            </a:r>
            <a:r>
              <a:rPr kumimoji="0" lang="en-US" altLang="zh-CN" sz="1200" b="1" i="1" dirty="0"/>
              <a:t>B</a:t>
            </a:r>
          </a:p>
          <a:p>
            <a:pPr algn="just" eaLnBrk="1" hangingPunct="1">
              <a:buClr>
                <a:schemeClr val="bg2"/>
              </a:buClr>
              <a:buSzPct val="75000"/>
              <a:buFont typeface="Wingdings" panose="05000000000000000000" pitchFamily="2" charset="2"/>
              <a:buNone/>
            </a:pPr>
            <a:r>
              <a:rPr kumimoji="0" lang="zh-CN" altLang="en-US" sz="1200" b="1" dirty="0"/>
              <a:t>则称</a:t>
            </a:r>
            <a:r>
              <a:rPr kumimoji="0" lang="en-US" altLang="zh-CN" sz="1200" b="1" i="1" dirty="0"/>
              <a:t>A</a:t>
            </a:r>
            <a:r>
              <a:rPr kumimoji="0" lang="zh-CN" altLang="en-US" sz="1200" b="1" dirty="0"/>
              <a:t>为</a:t>
            </a:r>
            <a:r>
              <a:rPr kumimoji="0" lang="zh-CN" altLang="en-US" sz="1200" b="1" dirty="0">
                <a:solidFill>
                  <a:srgbClr val="FF3300"/>
                </a:solidFill>
              </a:rPr>
              <a:t>前束范式</a:t>
            </a:r>
            <a:r>
              <a:rPr kumimoji="0" lang="zh-CN" altLang="en-US" sz="1200" b="1" dirty="0"/>
              <a:t>, 其中</a:t>
            </a:r>
            <a:r>
              <a:rPr kumimoji="0" lang="en-US" altLang="zh-CN" sz="1200" b="1" i="1" dirty="0"/>
              <a:t>Q</a:t>
            </a:r>
            <a:r>
              <a:rPr kumimoji="0" lang="en-US" altLang="zh-CN" sz="1200" b="1" i="1" baseline="-30000" dirty="0"/>
              <a:t>i</a:t>
            </a:r>
            <a:r>
              <a:rPr kumimoji="0" lang="en-US" altLang="zh-CN" sz="1200" b="1" baseline="-30000" dirty="0"/>
              <a:t> </a:t>
            </a:r>
            <a:r>
              <a:rPr kumimoji="0" lang="zh-CN" altLang="en-US" sz="1200" b="1" dirty="0"/>
              <a:t>为</a:t>
            </a:r>
            <a:r>
              <a:rPr kumimoji="0" lang="zh-CN" altLang="en-US" sz="1200" b="1" dirty="0">
                <a:sym typeface="Symbol" panose="05050102010706020507" pitchFamily="18" charset="2"/>
              </a:rPr>
              <a:t></a:t>
            </a:r>
            <a:r>
              <a:rPr kumimoji="0" lang="zh-CN" altLang="en-US" sz="1200" b="1" dirty="0"/>
              <a:t>或</a:t>
            </a:r>
            <a:r>
              <a:rPr kumimoji="0" lang="zh-CN" altLang="en-US" sz="1200" b="1" dirty="0">
                <a:sym typeface="Symbol" panose="05050102010706020507" pitchFamily="18" charset="2"/>
              </a:rPr>
              <a:t>, </a:t>
            </a:r>
            <a:r>
              <a:rPr kumimoji="0" lang="en-US" altLang="zh-CN" sz="1200" b="1" dirty="0"/>
              <a:t>1</a:t>
            </a:r>
            <a:r>
              <a:rPr kumimoji="0" lang="en-US" altLang="zh-CN" sz="1200" b="1" dirty="0">
                <a:sym typeface="Symbol" panose="05050102010706020507" pitchFamily="18" charset="2"/>
              </a:rPr>
              <a:t></a:t>
            </a:r>
            <a:r>
              <a:rPr kumimoji="0" lang="en-US" altLang="zh-CN" sz="1200" b="1" i="1" dirty="0"/>
              <a:t>i</a:t>
            </a:r>
            <a:r>
              <a:rPr kumimoji="0" lang="en-US" altLang="zh-CN" sz="1200" b="1" dirty="0">
                <a:sym typeface="Symbol" panose="05050102010706020507" pitchFamily="18" charset="2"/>
              </a:rPr>
              <a:t></a:t>
            </a:r>
            <a:r>
              <a:rPr kumimoji="0" lang="en-US" altLang="zh-CN" sz="1200" b="1" i="1" dirty="0"/>
              <a:t>k</a:t>
            </a:r>
            <a:r>
              <a:rPr kumimoji="0" lang="zh-CN" altLang="en-US" sz="1200" b="1" dirty="0">
                <a:sym typeface="Symbol" panose="05050102010706020507" pitchFamily="18" charset="2"/>
              </a:rPr>
              <a:t>, </a:t>
            </a:r>
            <a:r>
              <a:rPr kumimoji="0" lang="en-US" altLang="zh-CN" sz="1200" b="1" i="1" dirty="0"/>
              <a:t>B</a:t>
            </a:r>
            <a:r>
              <a:rPr kumimoji="0" lang="zh-CN" altLang="en-US" sz="1200" b="1" dirty="0"/>
              <a:t>为不含量词的</a:t>
            </a:r>
          </a:p>
          <a:p>
            <a:pPr algn="just" eaLnBrk="1" hangingPunct="1">
              <a:buClr>
                <a:schemeClr val="bg2"/>
              </a:buClr>
              <a:buSzPct val="75000"/>
              <a:buFont typeface="Wingdings" panose="05000000000000000000" pitchFamily="2" charset="2"/>
              <a:buNone/>
            </a:pPr>
            <a:r>
              <a:rPr kumimoji="0" lang="zh-CN" altLang="en-US" sz="1200" b="1" dirty="0"/>
              <a:t>公式.</a:t>
            </a:r>
          </a:p>
          <a:p>
            <a:pPr algn="just" eaLnBrk="1" hangingPunct="1">
              <a:spcBef>
                <a:spcPct val="80000"/>
              </a:spcBef>
              <a:buFontTx/>
              <a:buNone/>
            </a:pPr>
            <a:r>
              <a:rPr lang="zh-CN" altLang="en-US" sz="1200" b="1" dirty="0">
                <a:solidFill>
                  <a:srgbClr val="00B0F0"/>
                </a:solidFill>
              </a:rPr>
              <a:t>例如</a:t>
            </a:r>
            <a:r>
              <a:rPr lang="zh-CN" altLang="en-US" sz="1200" b="1" dirty="0">
                <a:solidFill>
                  <a:srgbClr val="000066"/>
                </a:solidFill>
              </a:rPr>
              <a:t>    </a:t>
            </a:r>
            <a:r>
              <a:rPr lang="zh-CN" altLang="en-US" sz="1200" b="1" dirty="0">
                <a:sym typeface="Symbol" panose="05050102010706020507" pitchFamily="18" charset="2"/>
              </a:rPr>
              <a:t></a:t>
            </a:r>
            <a:r>
              <a:rPr lang="en-US" altLang="zh-CN" sz="1200" b="1" i="1" dirty="0"/>
              <a:t>x</a:t>
            </a:r>
            <a:r>
              <a:rPr lang="en-US" altLang="zh-CN" sz="1200" b="1" dirty="0">
                <a:sym typeface="Symbol" panose="05050102010706020507" pitchFamily="18" charset="2"/>
              </a:rPr>
              <a:t></a:t>
            </a:r>
            <a:r>
              <a:rPr lang="en-US" altLang="zh-CN" sz="1200" b="1" i="1" dirty="0"/>
              <a:t>y</a:t>
            </a:r>
            <a:r>
              <a:rPr lang="en-US" altLang="zh-CN" sz="1200" b="1" dirty="0"/>
              <a:t>(</a:t>
            </a:r>
            <a:r>
              <a:rPr lang="en-US" altLang="zh-CN" sz="1200" b="1" i="1" dirty="0"/>
              <a:t>F</a:t>
            </a:r>
            <a:r>
              <a:rPr lang="en-US" altLang="zh-CN" sz="1200" b="1" dirty="0"/>
              <a:t>(</a:t>
            </a:r>
            <a:r>
              <a:rPr lang="en-US" altLang="zh-CN" sz="1200" b="1" i="1" dirty="0"/>
              <a:t>x</a:t>
            </a:r>
            <a:r>
              <a:rPr lang="en-US" altLang="zh-CN" sz="1200" b="1" dirty="0"/>
              <a:t>)</a:t>
            </a:r>
            <a:r>
              <a:rPr lang="en-US" altLang="zh-CN" sz="1200" b="1" dirty="0">
                <a:sym typeface="Symbol" panose="05050102010706020507" pitchFamily="18" charset="2"/>
              </a:rPr>
              <a:t></a:t>
            </a:r>
            <a:r>
              <a:rPr lang="en-US" altLang="zh-CN" sz="1200" b="1" dirty="0"/>
              <a:t>(</a:t>
            </a:r>
            <a:r>
              <a:rPr lang="en-US" altLang="zh-CN" sz="1200" b="1" i="1" dirty="0"/>
              <a:t>G</a:t>
            </a:r>
            <a:r>
              <a:rPr lang="en-US" altLang="zh-CN" sz="1200" b="1" dirty="0"/>
              <a:t>(</a:t>
            </a:r>
            <a:r>
              <a:rPr lang="en-US" altLang="zh-CN" sz="1200" b="1" i="1" dirty="0"/>
              <a:t>y</a:t>
            </a:r>
            <a:r>
              <a:rPr lang="en-US" altLang="zh-CN" sz="1200" b="1" dirty="0"/>
              <a:t>)</a:t>
            </a:r>
            <a:r>
              <a:rPr lang="en-US" altLang="zh-CN" sz="1200" b="1" dirty="0">
                <a:sym typeface="Symbol" panose="05050102010706020507" pitchFamily="18" charset="2"/>
              </a:rPr>
              <a:t></a:t>
            </a:r>
            <a:r>
              <a:rPr lang="en-US" altLang="zh-CN" sz="1200" b="1" i="1" dirty="0"/>
              <a:t>H</a:t>
            </a:r>
            <a:r>
              <a:rPr lang="en-US" altLang="zh-CN" sz="1200" b="1" dirty="0"/>
              <a:t>(</a:t>
            </a:r>
            <a:r>
              <a:rPr lang="en-US" altLang="zh-CN" sz="1200" b="1" i="1" dirty="0"/>
              <a:t>x</a:t>
            </a:r>
            <a:r>
              <a:rPr lang="en-US" altLang="zh-CN" sz="1200" b="1" dirty="0"/>
              <a:t>,</a:t>
            </a:r>
            <a:r>
              <a:rPr lang="en-US" altLang="zh-CN" sz="1200" b="1" i="1" dirty="0"/>
              <a:t>y</a:t>
            </a:r>
            <a:r>
              <a:rPr lang="en-US" altLang="zh-CN" sz="1200" b="1" dirty="0"/>
              <a:t>))) </a:t>
            </a:r>
          </a:p>
          <a:p>
            <a:pPr algn="just" eaLnBrk="1" hangingPunct="1">
              <a:buFontTx/>
              <a:buNone/>
            </a:pPr>
            <a:r>
              <a:rPr lang="en-US" altLang="zh-CN" sz="1200" b="1" dirty="0">
                <a:sym typeface="Symbol" panose="05050102010706020507" pitchFamily="18" charset="2"/>
              </a:rPr>
              <a:t>            </a:t>
            </a:r>
            <a:r>
              <a:rPr lang="en-US" altLang="zh-CN" sz="1200" b="1" i="1" dirty="0"/>
              <a:t>x</a:t>
            </a:r>
            <a:r>
              <a:rPr lang="en-US" altLang="zh-CN" sz="1200" b="1" dirty="0">
                <a:sym typeface="Symbol" panose="05050102010706020507" pitchFamily="18" charset="2"/>
              </a:rPr>
              <a:t></a:t>
            </a:r>
            <a:r>
              <a:rPr lang="en-US" altLang="zh-CN" sz="1200" b="1" dirty="0"/>
              <a:t>(</a:t>
            </a:r>
            <a:r>
              <a:rPr lang="en-US" altLang="zh-CN" sz="1200" b="1" i="1" dirty="0"/>
              <a:t>F</a:t>
            </a:r>
            <a:r>
              <a:rPr lang="en-US" altLang="zh-CN" sz="1200" b="1" dirty="0"/>
              <a:t>(</a:t>
            </a:r>
            <a:r>
              <a:rPr lang="en-US" altLang="zh-CN" sz="1200" b="1" i="1" dirty="0"/>
              <a:t>x</a:t>
            </a:r>
            <a:r>
              <a:rPr lang="en-US" altLang="zh-CN" sz="1200" b="1" dirty="0"/>
              <a:t>)</a:t>
            </a:r>
            <a:r>
              <a:rPr lang="en-US" altLang="zh-CN" sz="1200" b="1" dirty="0">
                <a:sym typeface="Symbol" panose="05050102010706020507" pitchFamily="18" charset="2"/>
              </a:rPr>
              <a:t></a:t>
            </a:r>
            <a:r>
              <a:rPr lang="en-US" altLang="zh-CN" sz="1200" b="1" i="1" dirty="0"/>
              <a:t>G</a:t>
            </a:r>
            <a:r>
              <a:rPr lang="en-US" altLang="zh-CN" sz="1200" b="1" dirty="0"/>
              <a:t>(</a:t>
            </a:r>
            <a:r>
              <a:rPr lang="en-US" altLang="zh-CN" sz="1200" b="1" i="1" dirty="0"/>
              <a:t>x</a:t>
            </a:r>
            <a:r>
              <a:rPr lang="en-US" altLang="zh-CN" sz="1200" b="1" dirty="0"/>
              <a:t>))</a:t>
            </a:r>
          </a:p>
          <a:p>
            <a:pPr algn="just" eaLnBrk="1" hangingPunct="1">
              <a:buFontTx/>
              <a:buNone/>
            </a:pPr>
            <a:r>
              <a:rPr lang="zh-CN" altLang="en-US" sz="1200" b="1" dirty="0"/>
              <a:t>是前束范式 </a:t>
            </a:r>
          </a:p>
          <a:p>
            <a:pPr eaLnBrk="1" hangingPunct="1">
              <a:buFontTx/>
              <a:buNone/>
            </a:pPr>
            <a:r>
              <a:rPr lang="zh-CN" altLang="en-US" sz="1200" b="1" dirty="0">
                <a:sym typeface="Symbol" panose="05050102010706020507" pitchFamily="18" charset="2"/>
              </a:rPr>
              <a:t>            </a:t>
            </a:r>
            <a:r>
              <a:rPr lang="en-US" altLang="zh-CN" sz="1200" b="1" i="1" dirty="0"/>
              <a:t>x</a:t>
            </a:r>
            <a:r>
              <a:rPr lang="en-US" altLang="zh-CN" sz="1200" b="1" dirty="0"/>
              <a:t>(</a:t>
            </a:r>
            <a:r>
              <a:rPr lang="en-US" altLang="zh-CN" sz="1200" b="1" i="1" dirty="0"/>
              <a:t>F</a:t>
            </a:r>
            <a:r>
              <a:rPr lang="en-US" altLang="zh-CN" sz="1200" b="1" dirty="0"/>
              <a:t>(</a:t>
            </a:r>
            <a:r>
              <a:rPr lang="en-US" altLang="zh-CN" sz="1200" b="1" i="1" dirty="0"/>
              <a:t>x</a:t>
            </a:r>
            <a:r>
              <a:rPr lang="en-US" altLang="zh-CN" sz="1200" b="1" dirty="0"/>
              <a:t>)</a:t>
            </a:r>
            <a:r>
              <a:rPr lang="en-US" altLang="zh-CN" sz="1200" b="1" dirty="0">
                <a:sym typeface="Symbol" panose="05050102010706020507" pitchFamily="18" charset="2"/>
              </a:rPr>
              <a:t></a:t>
            </a:r>
            <a:r>
              <a:rPr lang="en-US" altLang="zh-CN" sz="1200" b="1" i="1" dirty="0"/>
              <a:t>y</a:t>
            </a:r>
            <a:r>
              <a:rPr lang="en-US" altLang="zh-CN" sz="1200" b="1" dirty="0"/>
              <a:t>(</a:t>
            </a:r>
            <a:r>
              <a:rPr lang="en-US" altLang="zh-CN" sz="1200" b="1" i="1" dirty="0"/>
              <a:t>G</a:t>
            </a:r>
            <a:r>
              <a:rPr lang="en-US" altLang="zh-CN" sz="1200" b="1" dirty="0"/>
              <a:t>(</a:t>
            </a:r>
            <a:r>
              <a:rPr lang="en-US" altLang="zh-CN" sz="1200" b="1" i="1" dirty="0"/>
              <a:t>y</a:t>
            </a:r>
            <a:r>
              <a:rPr lang="en-US" altLang="zh-CN" sz="1200" b="1" dirty="0"/>
              <a:t>)</a:t>
            </a:r>
            <a:r>
              <a:rPr lang="en-US" altLang="zh-CN" sz="1200" b="1" dirty="0">
                <a:sym typeface="Symbol" panose="05050102010706020507" pitchFamily="18" charset="2"/>
              </a:rPr>
              <a:t></a:t>
            </a:r>
            <a:r>
              <a:rPr lang="en-US" altLang="zh-CN" sz="1200" b="1" i="1" dirty="0"/>
              <a:t>H</a:t>
            </a:r>
            <a:r>
              <a:rPr lang="en-US" altLang="zh-CN" sz="1200" b="1" dirty="0"/>
              <a:t>(</a:t>
            </a:r>
            <a:r>
              <a:rPr lang="en-US" altLang="zh-CN" sz="1200" b="1" i="1" dirty="0"/>
              <a:t>x</a:t>
            </a:r>
            <a:r>
              <a:rPr lang="en-US" altLang="zh-CN" sz="1200" b="1" dirty="0"/>
              <a:t>,</a:t>
            </a:r>
            <a:r>
              <a:rPr lang="en-US" altLang="zh-CN" sz="1200" b="1" i="1" dirty="0"/>
              <a:t>y</a:t>
            </a:r>
            <a:r>
              <a:rPr lang="en-US" altLang="zh-CN" sz="1200" b="1" dirty="0"/>
              <a:t>)))</a:t>
            </a:r>
          </a:p>
          <a:p>
            <a:pPr eaLnBrk="1" hangingPunct="1">
              <a:buFontTx/>
              <a:buNone/>
            </a:pPr>
            <a:r>
              <a:rPr lang="en-US" altLang="zh-CN" sz="1200" b="1" dirty="0">
                <a:sym typeface="Symbol" panose="05050102010706020507" pitchFamily="18" charset="2"/>
              </a:rPr>
              <a:t>            </a:t>
            </a:r>
            <a:r>
              <a:rPr lang="en-US" altLang="zh-CN" sz="1200" b="1" i="1" dirty="0"/>
              <a:t>x</a:t>
            </a:r>
            <a:r>
              <a:rPr lang="en-US" altLang="zh-CN" sz="1200" b="1" dirty="0"/>
              <a:t>(</a:t>
            </a:r>
            <a:r>
              <a:rPr lang="en-US" altLang="zh-CN" sz="1200" b="1" i="1" dirty="0"/>
              <a:t>F</a:t>
            </a:r>
            <a:r>
              <a:rPr lang="en-US" altLang="zh-CN" sz="1200" b="1" dirty="0"/>
              <a:t>(</a:t>
            </a:r>
            <a:r>
              <a:rPr lang="en-US" altLang="zh-CN" sz="1200" b="1" i="1" dirty="0"/>
              <a:t>x</a:t>
            </a:r>
            <a:r>
              <a:rPr lang="en-US" altLang="zh-CN" sz="1200" b="1" dirty="0"/>
              <a:t>)</a:t>
            </a:r>
            <a:r>
              <a:rPr lang="en-US" altLang="zh-CN" sz="1200" b="1" dirty="0">
                <a:sym typeface="Symbol" panose="05050102010706020507" pitchFamily="18" charset="2"/>
              </a:rPr>
              <a:t></a:t>
            </a:r>
            <a:r>
              <a:rPr lang="en-US" altLang="zh-CN" sz="1200" b="1" i="1" dirty="0"/>
              <a:t>G</a:t>
            </a:r>
            <a:r>
              <a:rPr lang="en-US" altLang="zh-CN" sz="1200" b="1" dirty="0"/>
              <a:t>(</a:t>
            </a:r>
            <a:r>
              <a:rPr lang="en-US" altLang="zh-CN" sz="1200" b="1" i="1" dirty="0"/>
              <a:t>x</a:t>
            </a:r>
            <a:r>
              <a:rPr lang="en-US" altLang="zh-CN" sz="1200" b="1" dirty="0"/>
              <a:t>))</a:t>
            </a:r>
          </a:p>
          <a:p>
            <a:pPr eaLnBrk="1" hangingPunct="1">
              <a:buFontTx/>
              <a:buNone/>
            </a:pPr>
            <a:r>
              <a:rPr lang="zh-CN" altLang="en-US" sz="1200" b="1" dirty="0"/>
              <a:t>不是前束范式</a:t>
            </a:r>
            <a:endParaRPr kumimoji="0" lang="zh-CN" altLang="en-US" sz="1200" b="1" dirty="0"/>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50</a:t>
            </a:fld>
            <a:endParaRPr lang="zh-CN" altLang="en-US"/>
          </a:p>
        </p:txBody>
      </p:sp>
    </p:spTree>
    <p:extLst>
      <p:ext uri="{BB962C8B-B14F-4D97-AF65-F5344CB8AC3E}">
        <p14:creationId xmlns:p14="http://schemas.microsoft.com/office/powerpoint/2010/main" val="206271055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AFE74B6-F93C-4D90-BE1A-7EFEDB35C0D4}" type="slidenum">
              <a:rPr lang="zh-CN" altLang="en-US" smtClean="0"/>
              <a:t>51</a:t>
            </a:fld>
            <a:endParaRPr lang="zh-CN" altLang="en-US"/>
          </a:p>
        </p:txBody>
      </p:sp>
    </p:spTree>
    <p:extLst>
      <p:ext uri="{BB962C8B-B14F-4D97-AF65-F5344CB8AC3E}">
        <p14:creationId xmlns:p14="http://schemas.microsoft.com/office/powerpoint/2010/main" val="167300361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AFE74B6-F93C-4D90-BE1A-7EFEDB35C0D4}" type="slidenum">
              <a:rPr lang="zh-CN" altLang="en-US" smtClean="0"/>
              <a:t>52</a:t>
            </a:fld>
            <a:endParaRPr lang="zh-CN" altLang="en-US"/>
          </a:p>
        </p:txBody>
      </p:sp>
    </p:spTree>
    <p:extLst>
      <p:ext uri="{BB962C8B-B14F-4D97-AF65-F5344CB8AC3E}">
        <p14:creationId xmlns:p14="http://schemas.microsoft.com/office/powerpoint/2010/main" val="2649588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82F288E0-7875-42C4-84C8-98DBBD3BF4D2}" type="datetimeFigureOut">
              <a:rPr lang="zh-CN" altLang="en-US" smtClean="0"/>
              <a:t>2025/3/25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82F288E0-7875-42C4-84C8-98DBBD3BF4D2}" type="datetimeFigureOut">
              <a:rPr lang="zh-CN" altLang="en-US" smtClean="0"/>
              <a:t>2025/3/25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82F288E0-7875-42C4-84C8-98DBBD3BF4D2}" type="datetimeFigureOut">
              <a:rPr lang="zh-CN" altLang="en-US" smtClean="0"/>
              <a:t>2025/3/25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82F288E0-7875-42C4-84C8-98DBBD3BF4D2}" type="datetimeFigureOut">
              <a:rPr lang="zh-CN" altLang="en-US" smtClean="0"/>
              <a:t>2025/3/25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1186774" y="1778438"/>
            <a:ext cx="4873574" cy="8239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p>
        </p:txBody>
      </p:sp>
      <p:sp>
        <p:nvSpPr>
          <p:cNvPr id="4" name="内容占位符 3"/>
          <p:cNvSpPr>
            <a:spLocks noGrp="1"/>
          </p:cNvSpPr>
          <p:nvPr>
            <p:ph sz="half" idx="2"/>
          </p:nvPr>
        </p:nvSpPr>
        <p:spPr>
          <a:xfrm>
            <a:off x="1186774" y="2665379"/>
            <a:ext cx="4873574"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256938" y="1778438"/>
            <a:ext cx="4897576" cy="8239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p>
        </p:txBody>
      </p:sp>
      <p:sp>
        <p:nvSpPr>
          <p:cNvPr id="6" name="内容占位符 5"/>
          <p:cNvSpPr>
            <a:spLocks noGrp="1"/>
          </p:cNvSpPr>
          <p:nvPr>
            <p:ph sz="quarter" idx="4"/>
          </p:nvPr>
        </p:nvSpPr>
        <p:spPr>
          <a:xfrm>
            <a:off x="6256938" y="2665379"/>
            <a:ext cx="4897576"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82F288E0-7875-42C4-84C8-98DBBD3BF4D2}" type="datetimeFigureOut">
              <a:rPr lang="zh-CN" altLang="en-US" smtClean="0"/>
              <a:t>2025/3/25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82F288E0-7875-42C4-84C8-98DBBD3BF4D2}" type="datetimeFigureOut">
              <a:rPr lang="zh-CN" altLang="en-US" smtClean="0"/>
              <a:t>2025/3/25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2F288E0-7875-42C4-84C8-98DBBD3BF4D2}" type="datetimeFigureOut">
              <a:rPr lang="zh-CN" altLang="en-US" smtClean="0"/>
              <a:t>2025/3/25</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457201"/>
            <a:ext cx="6172200" cy="54038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4165349" cy="3811588"/>
          </a:xfrm>
        </p:spPr>
        <p:txBody>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82F288E0-7875-42C4-84C8-98DBBD3BF4D2}" type="datetimeFigureOut">
              <a:rPr lang="zh-CN" altLang="en-US" smtClean="0"/>
              <a:t>2025/3/25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82F288E0-7875-42C4-84C8-98DBBD3BF4D2}" type="datetimeFigureOut">
              <a:rPr lang="zh-CN" altLang="en-US" smtClean="0"/>
              <a:t>2025/3/25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38200" y="365125"/>
            <a:ext cx="10515600" cy="58118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日期占位符 2"/>
          <p:cNvSpPr>
            <a:spLocks noGrp="1"/>
          </p:cNvSpPr>
          <p:nvPr>
            <p:ph type="dt" sz="half" idx="10"/>
          </p:nvPr>
        </p:nvSpPr>
        <p:spPr/>
        <p:txBody>
          <a:bodyPr/>
          <a:lstStyle/>
          <a:p>
            <a:fld id="{82F288E0-7875-42C4-84C8-98DBBD3BF4D2}" type="datetimeFigureOut">
              <a:rPr lang="zh-CN" altLang="en-US" smtClean="0"/>
              <a:t>2025/3/25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
        <p:nvSpPr>
          <p:cNvPr id="3" name="图片占位符 2"/>
          <p:cNvSpPr>
            <a:spLocks noGrp="1"/>
          </p:cNvSpPr>
          <p:nvPr>
            <p:ph type="pic" sz="quarter" idx="10"/>
          </p:nvPr>
        </p:nvSpPr>
        <p:spPr>
          <a:xfrm>
            <a:off x="0" y="0"/>
            <a:ext cx="12192000" cy="4403725"/>
          </a:xfrm>
          <a:prstGeom prst="rect">
            <a:avLst/>
          </a:prstGeom>
        </p:spPr>
        <p:txBody>
          <a:bodyPr/>
          <a:lstStyle/>
          <a:p>
            <a:endParaRPr lang="zh-CN" altLang="en-US"/>
          </a:p>
        </p:txBody>
      </p:sp>
      <p:sp>
        <p:nvSpPr>
          <p:cNvPr id="5" name="文本占位符 4"/>
          <p:cNvSpPr>
            <a:spLocks noGrp="1"/>
          </p:cNvSpPr>
          <p:nvPr>
            <p:ph type="body" sz="quarter" idx="11"/>
          </p:nvPr>
        </p:nvSpPr>
        <p:spPr>
          <a:xfrm>
            <a:off x="0" y="3075709"/>
            <a:ext cx="12192000" cy="1328016"/>
          </a:xfrm>
          <a:prstGeom prst="rect">
            <a:avLst/>
          </a:prstGeom>
          <a:solidFill>
            <a:schemeClr val="accent1">
              <a:lumMod val="75000"/>
              <a:alpha val="74000"/>
            </a:schemeClr>
          </a:solidFill>
          <a:ln>
            <a:noFill/>
          </a:ln>
        </p:spPr>
        <p:txBody>
          <a:bodyPr/>
          <a:lstStyle>
            <a:lvl1pPr>
              <a:defRPr>
                <a:solidFill>
                  <a:schemeClr val="tx1">
                    <a:alpha val="0"/>
                  </a:schemeClr>
                </a:solidFill>
              </a:defRPr>
            </a:lvl1pPr>
          </a:lstStyle>
          <a:p>
            <a:pPr lvl="0"/>
            <a:endParaRPr lang="zh-CN" altLang="en-US" dirty="0"/>
          </a:p>
        </p:txBody>
      </p:sp>
      <p:sp>
        <p:nvSpPr>
          <p:cNvPr id="6" name="副标题 2"/>
          <p:cNvSpPr>
            <a:spLocks noGrp="1"/>
          </p:cNvSpPr>
          <p:nvPr>
            <p:ph type="subTitle" idx="1"/>
          </p:nvPr>
        </p:nvSpPr>
        <p:spPr>
          <a:xfrm>
            <a:off x="1851024" y="2809284"/>
            <a:ext cx="7855511" cy="558799"/>
          </a:xfrm>
          <a:prstGeom prst="rect">
            <a:avLst/>
          </a:prstGeom>
        </p:spPr>
        <p:txBody>
          <a:bodyPr anchor="ctr">
            <a:normAutofit/>
          </a:bodyPr>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7" name="标题 1"/>
          <p:cNvSpPr>
            <a:spLocks noGrp="1"/>
          </p:cNvSpPr>
          <p:nvPr>
            <p:ph type="ctrTitle"/>
          </p:nvPr>
        </p:nvSpPr>
        <p:spPr>
          <a:xfrm>
            <a:off x="1851024" y="2110693"/>
            <a:ext cx="7855511" cy="698591"/>
          </a:xfrm>
          <a:prstGeom prst="rect">
            <a:avLst/>
          </a:prstGeom>
        </p:spPr>
        <p:txBody>
          <a:bodyPr anchor="ctr">
            <a:normAutofit/>
          </a:bodyPr>
          <a:lstStyle>
            <a:lvl1pPr algn="l">
              <a:defRPr sz="4000">
                <a:solidFill>
                  <a:schemeClr val="tx1"/>
                </a:solidFill>
              </a:defRPr>
            </a:lvl1pPr>
          </a:lstStyle>
          <a:p>
            <a:r>
              <a:rPr lang="en-US" dirty="0"/>
              <a:t>Click to edit Master title style</a:t>
            </a:r>
            <a:endParaRPr lang="zh-CN" altLang="en-US" dirty="0"/>
          </a:p>
        </p:txBody>
      </p:sp>
      <p:sp>
        <p:nvSpPr>
          <p:cNvPr id="8" name="文本占位符 13"/>
          <p:cNvSpPr>
            <a:spLocks noGrp="1"/>
          </p:cNvSpPr>
          <p:nvPr>
            <p:ph type="body" sz="quarter" idx="12" hasCustomPrompt="1"/>
          </p:nvPr>
        </p:nvSpPr>
        <p:spPr>
          <a:xfrm>
            <a:off x="1851024" y="4572592"/>
            <a:ext cx="7855511" cy="296271"/>
          </a:xfrm>
          <a:prstGeom prst="rect">
            <a:avLst/>
          </a:prstGeom>
        </p:spPr>
        <p:txBody>
          <a:bodyPr vert="horz" anchor="ctr">
            <a:noAutofit/>
          </a:bodyPr>
          <a:lstStyle>
            <a:lvl1pPr marL="0" indent="0" algn="l">
              <a:buNone/>
              <a:defRPr sz="1500" b="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Signature</a:t>
            </a:r>
          </a:p>
        </p:txBody>
      </p:sp>
      <p:sp>
        <p:nvSpPr>
          <p:cNvPr id="9" name="文本占位符 13"/>
          <p:cNvSpPr>
            <a:spLocks noGrp="1"/>
          </p:cNvSpPr>
          <p:nvPr>
            <p:ph type="body" sz="quarter" idx="13" hasCustomPrompt="1"/>
          </p:nvPr>
        </p:nvSpPr>
        <p:spPr>
          <a:xfrm>
            <a:off x="1851024" y="4868863"/>
            <a:ext cx="7855511" cy="296271"/>
          </a:xfrm>
          <a:prstGeom prst="rect">
            <a:avLst/>
          </a:prstGeom>
        </p:spPr>
        <p:txBody>
          <a:bodyPr vert="horz" anchor="ctr">
            <a:noAutofit/>
          </a:bodyPr>
          <a:lstStyle>
            <a:lvl1pPr marL="0" indent="0" algn="l">
              <a:buNone/>
              <a:defRPr sz="1500" b="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Date</a:t>
            </a:r>
            <a:endParaRPr lang="zh-CN" altLang="en-US" dirty="0"/>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2F288E0-7875-42C4-84C8-98DBBD3BF4D2}" type="datetimeFigureOut">
              <a:rPr lang="zh-CN" altLang="en-US" smtClean="0"/>
              <a:t>2025/3/25</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9BB5D0-35E4-459D-AEF3-FE4D7C45CC19}"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p14:dur="10"/>
    </mc:Choice>
    <mc:Fallback xmlns="">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4.emf"/><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4.emf"/><Relationship Id="rId5" Type="http://schemas.openxmlformats.org/officeDocument/2006/relationships/image" Target="../media/image5.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7" Type="http://schemas.openxmlformats.org/officeDocument/2006/relationships/image" Target="../media/image5.emf"/><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package" Target="../embeddings/Microsoft_Visio_Drawing.vsdx"/><Relationship Id="rId5" Type="http://schemas.openxmlformats.org/officeDocument/2006/relationships/image" Target="../media/image3.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4.emf"/><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4.emf"/><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4.emf"/><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4.emf"/><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media/image4.emf"/><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2.xml"/><Relationship Id="rId5" Type="http://schemas.openxmlformats.org/officeDocument/2006/relationships/image" Target="../media/image4.emf"/><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4.emf"/><Relationship Id="rId5" Type="http://schemas.openxmlformats.org/officeDocument/2006/relationships/image" Target="../media/image6.png"/><Relationship Id="rId4" Type="http://schemas.openxmlformats.org/officeDocument/2006/relationships/image" Target="../media/image3.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7" Type="http://schemas.openxmlformats.org/officeDocument/2006/relationships/image" Target="../media/image7.emf"/><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package" Target="../embeddings/Microsoft_Visio_Drawing1.vsdx"/><Relationship Id="rId5" Type="http://schemas.openxmlformats.org/officeDocument/2006/relationships/image" Target="../media/image3.png"/><Relationship Id="rId4" Type="http://schemas.openxmlformats.org/officeDocument/2006/relationships/image" Target="../media/image2.png"/></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image" Target="../media/image4.emf"/><Relationship Id="rId5" Type="http://schemas.openxmlformats.org/officeDocument/2006/relationships/image" Target="../media/image8.png"/><Relationship Id="rId4" Type="http://schemas.openxmlformats.org/officeDocument/2006/relationships/image" Target="../media/image3.png"/></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image" Target="../media/image4.emf"/><Relationship Id="rId5" Type="http://schemas.openxmlformats.org/officeDocument/2006/relationships/image" Target="../media/image9.png"/><Relationship Id="rId4" Type="http://schemas.openxmlformats.org/officeDocument/2006/relationships/image" Target="../media/image3.png"/></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3.xml"/><Relationship Id="rId1" Type="http://schemas.openxmlformats.org/officeDocument/2006/relationships/slideLayout" Target="../slideLayouts/slideLayout11.xml"/><Relationship Id="rId5" Type="http://schemas.openxmlformats.org/officeDocument/2006/relationships/image" Target="../media/image3.png"/><Relationship Id="rId4" Type="http://schemas.openxmlformats.org/officeDocument/2006/relationships/image" Target="../media/image2.png"/></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6.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3.png"/></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7.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3.png"/></Relationships>
</file>

<file path=ppt/slides/_rels/slide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7" Type="http://schemas.openxmlformats.org/officeDocument/2006/relationships/image" Target="../media/image7.emf"/><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package" Target="../embeddings/Microsoft_Visio_Drawing2.vsdx"/><Relationship Id="rId5" Type="http://schemas.openxmlformats.org/officeDocument/2006/relationships/image" Target="../media/image3.png"/><Relationship Id="rId4" Type="http://schemas.openxmlformats.org/officeDocument/2006/relationships/image" Target="../media/image2.png"/></Relationships>
</file>

<file path=ppt/slides/_rels/slide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4.xml"/><Relationship Id="rId7" Type="http://schemas.openxmlformats.org/officeDocument/2006/relationships/image" Target="../media/image5.emf"/><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package" Target="../embeddings/Microsoft_Visio_Drawing3.vsdx"/><Relationship Id="rId5" Type="http://schemas.openxmlformats.org/officeDocument/2006/relationships/image" Target="../media/image3.png"/><Relationship Id="rId4" Type="http://schemas.openxmlformats.org/officeDocument/2006/relationships/image" Target="../media/image2.png"/></Relationships>
</file>

<file path=ppt/slides/_rels/slide4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5.xml"/><Relationship Id="rId1" Type="http://schemas.openxmlformats.org/officeDocument/2006/relationships/slideLayout" Target="../slideLayouts/slideLayout2.xml"/><Relationship Id="rId5" Type="http://schemas.openxmlformats.org/officeDocument/2006/relationships/image" Target="../media/image4.emf"/><Relationship Id="rId4" Type="http://schemas.openxmlformats.org/officeDocument/2006/relationships/image" Target="../media/image3.png"/></Relationships>
</file>

<file path=ppt/slides/_rels/slide4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6.xml"/><Relationship Id="rId1" Type="http://schemas.openxmlformats.org/officeDocument/2006/relationships/slideLayout" Target="../slideLayouts/slideLayout2.xml"/><Relationship Id="rId5" Type="http://schemas.openxmlformats.org/officeDocument/2006/relationships/image" Target="../media/image4.emf"/><Relationship Id="rId4" Type="http://schemas.openxmlformats.org/officeDocument/2006/relationships/image" Target="../media/image3.png"/></Relationships>
</file>

<file path=ppt/slides/_rels/slide4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7.xml"/><Relationship Id="rId1" Type="http://schemas.openxmlformats.org/officeDocument/2006/relationships/slideLayout" Target="../slideLayouts/slideLayout2.xml"/><Relationship Id="rId6" Type="http://schemas.openxmlformats.org/officeDocument/2006/relationships/image" Target="../media/image4.emf"/><Relationship Id="rId5" Type="http://schemas.openxmlformats.org/officeDocument/2006/relationships/image" Target="../media/image12.png"/><Relationship Id="rId4" Type="http://schemas.openxmlformats.org/officeDocument/2006/relationships/image" Target="../media/image3.png"/></Relationships>
</file>

<file path=ppt/slides/_rels/slide48.xml.rels><?xml version="1.0" encoding="UTF-8" standalone="yes"?>
<Relationships xmlns="http://schemas.openxmlformats.org/package/2006/relationships"><Relationship Id="rId8" Type="http://schemas.openxmlformats.org/officeDocument/2006/relationships/image" Target="../media/image7.emf"/><Relationship Id="rId3" Type="http://schemas.openxmlformats.org/officeDocument/2006/relationships/notesSlide" Target="../notesSlides/notesSlide48.xml"/><Relationship Id="rId7" Type="http://schemas.openxmlformats.org/officeDocument/2006/relationships/package" Target="../embeddings/Microsoft_Visio_Drawing4.vsdx"/><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image" Target="../media/image4.emf"/><Relationship Id="rId5" Type="http://schemas.openxmlformats.org/officeDocument/2006/relationships/image" Target="../media/image3.png"/><Relationship Id="rId4" Type="http://schemas.openxmlformats.org/officeDocument/2006/relationships/image" Target="../media/image2.png"/></Relationships>
</file>

<file path=ppt/slides/_rels/slide4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0.xml"/><Relationship Id="rId1" Type="http://schemas.openxmlformats.org/officeDocument/2006/relationships/slideLayout" Target="../slideLayouts/slideLayout2.xml"/><Relationship Id="rId5" Type="http://schemas.openxmlformats.org/officeDocument/2006/relationships/image" Target="../media/image4.emf"/><Relationship Id="rId4" Type="http://schemas.openxmlformats.org/officeDocument/2006/relationships/image" Target="../media/image3.png"/></Relationships>
</file>

<file path=ppt/slides/_rels/slide5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2.xml"/><Relationship Id="rId1" Type="http://schemas.openxmlformats.org/officeDocument/2006/relationships/slideLayout" Target="../slideLayouts/slideLayout2.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p:cNvPicPr>
            <a:picLocks noChangeAspect="1"/>
          </p:cNvPicPr>
          <p:nvPr/>
        </p:nvPicPr>
        <p:blipFill rotWithShape="1">
          <a:blip r:embed="rId3" cstate="print">
            <a:extLst>
              <a:ext uri="{28A0092B-C50C-407E-A947-70E740481C1C}">
                <a14:useLocalDpi xmlns:a14="http://schemas.microsoft.com/office/drawing/2010/main" val="0"/>
              </a:ext>
            </a:extLst>
          </a:blip>
          <a:srcRect t="5418" b="-5557"/>
          <a:stretch>
            <a:fillRect/>
          </a:stretch>
        </p:blipFill>
        <p:spPr>
          <a:xfrm>
            <a:off x="0" y="0"/>
            <a:ext cx="12192000" cy="5105399"/>
          </a:xfrm>
          <a:prstGeom prst="rect">
            <a:avLst/>
          </a:prstGeom>
        </p:spPr>
      </p:pic>
      <p:sp>
        <p:nvSpPr>
          <p:cNvPr id="15" name="文本占位符 14"/>
          <p:cNvSpPr>
            <a:spLocks noGrp="1"/>
          </p:cNvSpPr>
          <p:nvPr>
            <p:ph type="body" sz="quarter" idx="11"/>
          </p:nvPr>
        </p:nvSpPr>
        <p:spPr>
          <a:xfrm>
            <a:off x="0" y="4379558"/>
            <a:ext cx="12192000" cy="1191229"/>
          </a:xfrm>
          <a:solidFill>
            <a:srgbClr val="002060"/>
          </a:solidFill>
        </p:spPr>
        <p:txBody>
          <a:bodyPr/>
          <a:lstStyle/>
          <a:p>
            <a:endParaRPr lang="zh-CN" altLang="en-US" dirty="0">
              <a:solidFill>
                <a:srgbClr val="0070C0">
                  <a:alpha val="0"/>
                </a:srgbClr>
              </a:solidFill>
            </a:endParaRPr>
          </a:p>
        </p:txBody>
      </p:sp>
      <p:sp>
        <p:nvSpPr>
          <p:cNvPr id="21" name="标题 3"/>
          <p:cNvSpPr>
            <a:spLocks noGrp="1"/>
          </p:cNvSpPr>
          <p:nvPr>
            <p:ph type="ctrTitle"/>
          </p:nvPr>
        </p:nvSpPr>
        <p:spPr>
          <a:xfrm>
            <a:off x="357734" y="4571653"/>
            <a:ext cx="9955189" cy="949255"/>
          </a:xfrm>
        </p:spPr>
        <p:txBody>
          <a:bodyPr>
            <a:noAutofit/>
          </a:bodyPr>
          <a:lstStyle/>
          <a:p>
            <a:br>
              <a:rPr lang="en-US" altLang="zh-CN" b="1" dirty="0">
                <a:solidFill>
                  <a:schemeClr val="bg1"/>
                </a:solidFill>
                <a:effectLst>
                  <a:outerShdw blurRad="38100" dist="38100" dir="2700000" algn="tl">
                    <a:srgbClr val="000000">
                      <a:alpha val="43137"/>
                    </a:srgbClr>
                  </a:outerShdw>
                </a:effectLst>
              </a:rPr>
            </a:br>
            <a:r>
              <a:rPr lang="en-US" altLang="zh-CN" b="1" dirty="0">
                <a:solidFill>
                  <a:schemeClr val="bg1"/>
                </a:solidFill>
                <a:latin typeface="Trebuchet MS" panose="020B0603020202020204" pitchFamily="34" charset="0"/>
              </a:rPr>
              <a:t>Discrete Mathematics</a:t>
            </a:r>
            <a:r>
              <a:rPr lang="zh-CN" altLang="en-US" b="1" dirty="0">
                <a:solidFill>
                  <a:schemeClr val="bg1"/>
                </a:solidFill>
                <a:latin typeface="Trebuchet MS" panose="020B0603020202020204" pitchFamily="34" charset="0"/>
              </a:rPr>
              <a:t> </a:t>
            </a:r>
            <a:r>
              <a:rPr lang="en-US" altLang="zh-CN" b="1" dirty="0">
                <a:solidFill>
                  <a:schemeClr val="bg1"/>
                </a:solidFill>
                <a:latin typeface="Trebuchet MS" panose="020B0603020202020204" pitchFamily="34" charset="0"/>
              </a:rPr>
              <a:t>2025 Spring</a:t>
            </a:r>
            <a:br>
              <a:rPr lang="en-US" altLang="zh-CN" b="1" dirty="0">
                <a:solidFill>
                  <a:schemeClr val="bg1"/>
                </a:solidFill>
                <a:effectLst>
                  <a:outerShdw blurRad="38100" dist="38100" dir="2700000" algn="tl">
                    <a:srgbClr val="000000">
                      <a:alpha val="43137"/>
                    </a:srgbClr>
                  </a:outerShdw>
                </a:effectLst>
              </a:rPr>
            </a:br>
            <a:endParaRPr lang="en-US" altLang="zh-CN" b="1" dirty="0">
              <a:solidFill>
                <a:schemeClr val="bg1"/>
              </a:solidFill>
              <a:effectLst>
                <a:outerShdw blurRad="38100" dist="38100" dir="2700000" algn="tl">
                  <a:srgbClr val="000000">
                    <a:alpha val="43137"/>
                  </a:srgbClr>
                </a:outerShdw>
              </a:effectLst>
            </a:endParaRPr>
          </a:p>
        </p:txBody>
      </p:sp>
      <p:sp>
        <p:nvSpPr>
          <p:cNvPr id="6" name="文本框 5"/>
          <p:cNvSpPr txBox="1"/>
          <p:nvPr/>
        </p:nvSpPr>
        <p:spPr>
          <a:xfrm>
            <a:off x="935135" y="5797109"/>
            <a:ext cx="7262777" cy="523220"/>
          </a:xfrm>
          <a:prstGeom prst="rect">
            <a:avLst/>
          </a:prstGeom>
          <a:noFill/>
        </p:spPr>
        <p:txBody>
          <a:bodyPr wrap="square" rtlCol="0">
            <a:spAutoFit/>
          </a:bodyPr>
          <a:lstStyle/>
          <a:p>
            <a:pPr algn="ctr" fontAlgn="base">
              <a:spcBef>
                <a:spcPct val="10000"/>
              </a:spcBef>
              <a:spcAft>
                <a:spcPct val="0"/>
              </a:spcAft>
              <a:buClr>
                <a:srgbClr val="39BBF0"/>
              </a:buClr>
              <a:buSzPct val="60000"/>
            </a:pPr>
            <a:r>
              <a:rPr kumimoji="1" lang="zh-CN" altLang="en-US" sz="2800" b="1" dirty="0">
                <a:latin typeface="Trebuchet MS" panose="020B0603020202020204" pitchFamily="34" charset="0"/>
                <a:ea typeface="宋体" panose="02010600030101010101" pitchFamily="2" charset="-122"/>
              </a:rPr>
              <a:t>魏可佶</a:t>
            </a:r>
            <a:r>
              <a:rPr kumimoji="1" lang="zh-CN" altLang="en-US" sz="2400" b="1" dirty="0">
                <a:latin typeface="Trebuchet MS" panose="020B0603020202020204" pitchFamily="34" charset="0"/>
                <a:ea typeface="宋体" panose="02010600030101010101" pitchFamily="2" charset="-122"/>
              </a:rPr>
              <a:t> </a:t>
            </a:r>
            <a:r>
              <a:rPr kumimoji="1" lang="zh-CN" altLang="en-US" sz="2400" b="1" dirty="0">
                <a:latin typeface="Trebuchet MS" panose="020B0603020202020204" pitchFamily="34" charset="0"/>
                <a:ea typeface="微软雅黑" pitchFamily="34" charset="-122"/>
              </a:rPr>
              <a:t>    </a:t>
            </a:r>
            <a:r>
              <a:rPr lang="en-US" altLang="zh-CN" sz="2800" b="1" dirty="0">
                <a:latin typeface="Trebuchet MS" panose="020B0603020202020204" pitchFamily="34" charset="0"/>
                <a:cs typeface="Times New Roman" panose="02020603050405020304" pitchFamily="18" charset="0"/>
              </a:rPr>
              <a:t>kejiwei@tongji.edu.cn</a:t>
            </a:r>
            <a:r>
              <a:rPr lang="en-US" altLang="zh-CN" sz="2800" dirty="0">
                <a:cs typeface="Times New Roman" panose="02020603050405020304" pitchFamily="18" charset="0"/>
              </a:rPr>
              <a:t>		</a:t>
            </a:r>
          </a:p>
        </p:txBody>
      </p:sp>
      <p:pic>
        <p:nvPicPr>
          <p:cNvPr id="13" name="Picture 6" descr="D:\MBA工作\LOGO\同济经管LOGO反白.png"/>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9960847" y="4691952"/>
            <a:ext cx="1696528" cy="566440"/>
          </a:xfrm>
          <a:prstGeom prst="rect">
            <a:avLst/>
          </a:prstGeom>
          <a:noFill/>
          <a:extLst>
            <a:ext uri="{909E8E84-426E-40DD-AFC4-6F175D3DCCD1}">
              <a14:hiddenFill xmlns:a14="http://schemas.microsoft.com/office/drawing/2010/main">
                <a:solidFill>
                  <a:srgbClr val="FFFFFF"/>
                </a:solidFill>
              </a14:hiddenFill>
            </a:ext>
          </a:extLst>
        </p:spPr>
      </p:pic>
      <p:pic>
        <p:nvPicPr>
          <p:cNvPr id="3" name="图片 2" descr="微信图片_20220318113523"/>
          <p:cNvPicPr>
            <a:picLocks noChangeAspect="1"/>
          </p:cNvPicPr>
          <p:nvPr userDrawn="1"/>
        </p:nvPicPr>
        <p:blipFill>
          <a:blip r:embed="rId5"/>
          <a:stretch>
            <a:fillRect/>
          </a:stretch>
        </p:blipFill>
        <p:spPr>
          <a:xfrm>
            <a:off x="9291877" y="6115050"/>
            <a:ext cx="2244725" cy="361315"/>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dirty="0">
                <a:latin typeface="Trebuchet MS" panose="020B0603020202020204" pitchFamily="34" charset="0"/>
              </a:rPr>
              <a:t>Chapter 3</a:t>
            </a:r>
            <a:r>
              <a:rPr lang="zh-CN" altLang="en-US" sz="2400" b="1" dirty="0">
                <a:latin typeface="Trebuchet MS" panose="020B0603020202020204" pitchFamily="34" charset="0"/>
              </a:rPr>
              <a:t>： </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First Order Logic</a:t>
            </a:r>
            <a:r>
              <a:rPr lang="en-US" altLang="zh-CN" sz="2400" b="1" dirty="0">
                <a:effectLst/>
                <a:latin typeface="Trebuchet MS" panose="020B0603020202020204" pitchFamily="34" charset="0"/>
                <a:ea typeface="Cambria Math" panose="02040503050406030204" pitchFamily="18" charset="0"/>
                <a:cs typeface="Times New Roman" panose="02020603050405020304" pitchFamily="18" charset="0"/>
              </a:rPr>
              <a:t>                   </a:t>
            </a:r>
            <a:endParaRPr lang="zh-CN" altLang="en-US" sz="2400" b="1" dirty="0">
              <a:solidFill>
                <a:srgbClr val="3D557A"/>
              </a:solidFill>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824681" y="765176"/>
            <a:ext cx="10261008" cy="527746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1611313" eaLnBrk="1" hangingPunct="1">
              <a:spcBef>
                <a:spcPct val="60000"/>
              </a:spcBef>
              <a:buNone/>
            </a:pPr>
            <a:endParaRPr lang="en-US" altLang="zh-CN" sz="2400" b="1" dirty="0">
              <a:latin typeface="Trebuchet MS" panose="020B0603020202020204" pitchFamily="34" charset="0"/>
            </a:endParaRPr>
          </a:p>
          <a:p>
            <a:pPr marL="898525" indent="260350" eaLnBrk="1" hangingPunct="1">
              <a:lnSpc>
                <a:spcPct val="130000"/>
              </a:lnSpc>
              <a:spcBef>
                <a:spcPct val="60000"/>
              </a:spcBef>
              <a:buClr>
                <a:srgbClr val="0B61FF"/>
              </a:buClr>
              <a:buSzPct val="80000"/>
              <a:buFont typeface="Wingdings" panose="05000000000000000000" pitchFamily="2" charset="2"/>
              <a:buChar char="n"/>
            </a:pPr>
            <a:r>
              <a:rPr lang="en-US" altLang="zh-CN" sz="2400" dirty="0">
                <a:solidFill>
                  <a:srgbClr val="0B61FF"/>
                </a:solidFill>
                <a:latin typeface="Trebuchet MS" panose="020B0603020202020204" pitchFamily="34" charset="0"/>
              </a:rPr>
              <a:t>3.1 Basic Concepts of First-Order Logic</a:t>
            </a:r>
          </a:p>
          <a:p>
            <a:pPr marL="898525" indent="260350" eaLnBrk="1" hangingPunct="1">
              <a:lnSpc>
                <a:spcPct val="130000"/>
              </a:lnSpc>
              <a:spcBef>
                <a:spcPct val="60000"/>
              </a:spcBef>
              <a:buClr>
                <a:srgbClr val="0B61FF"/>
              </a:buClr>
              <a:buSzPct val="80000"/>
              <a:buFont typeface="Wingdings" panose="05000000000000000000" pitchFamily="2" charset="2"/>
              <a:buChar char="n"/>
            </a:pPr>
            <a:r>
              <a:rPr lang="en-US" altLang="zh-CN" sz="2400" dirty="0">
                <a:latin typeface="Trebuchet MS" panose="020B0603020202020204" pitchFamily="34" charset="0"/>
              </a:rPr>
              <a:t>3.2 Equivalence Calculus of First-Order Logic</a:t>
            </a:r>
            <a:endParaRPr lang="zh-CN" altLang="en-US" sz="2400" b="1" dirty="0">
              <a:latin typeface="Trebuchet MS" panose="020B0603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400" b="1" dirty="0">
                <a:solidFill>
                  <a:schemeClr val="bg1"/>
                </a:solidFill>
                <a:latin typeface="Trebuchet MS" panose="020B0603020202020204" pitchFamily="34" charset="0"/>
              </a:rPr>
              <a:t>           3.1 Basic Concepts of First-Order Logic</a:t>
            </a:r>
            <a:endParaRPr lang="en-US" altLang="zh-CN" sz="2000" b="1"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0125" y="892176"/>
            <a:ext cx="10536477" cy="315912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304800" algn="l">
              <a:lnSpc>
                <a:spcPct val="130000"/>
              </a:lnSpc>
              <a:spcBef>
                <a:spcPts val="600"/>
              </a:spcBef>
              <a:buClr>
                <a:srgbClr val="0B61FF"/>
              </a:buClr>
              <a:buSzPct val="80000"/>
              <a:buFont typeface="Wingdings" panose="05000000000000000000" pitchFamily="2" charset="2"/>
              <a:buChar char="n"/>
            </a:pPr>
            <a:r>
              <a:rPr lang="en-US" altLang="zh-CN" sz="2400" b="1" i="0" dirty="0">
                <a:solidFill>
                  <a:srgbClr val="0B61FF"/>
                </a:solidFill>
                <a:effectLst/>
                <a:latin typeface="Trebuchet MS" panose="020B0603020202020204" pitchFamily="34" charset="0"/>
              </a:rPr>
              <a:t>3.1.1 The Limitations of Propositional Logic</a:t>
            </a:r>
          </a:p>
          <a:p>
            <a:pPr indent="304800" algn="l">
              <a:lnSpc>
                <a:spcPct val="130000"/>
              </a:lnSpc>
              <a:spcBef>
                <a:spcPts val="600"/>
              </a:spcBef>
              <a:buClr>
                <a:srgbClr val="0B61FF"/>
              </a:buClr>
              <a:buSzPct val="80000"/>
              <a:buFont typeface="Wingdings" panose="05000000000000000000" pitchFamily="2" charset="2"/>
              <a:buChar char="n"/>
            </a:pPr>
            <a:r>
              <a:rPr lang="en-US" altLang="zh-CN" sz="2400" b="1" i="0" dirty="0">
                <a:solidFill>
                  <a:srgbClr val="0C0D0E"/>
                </a:solidFill>
                <a:effectLst/>
                <a:latin typeface="Trebuchet MS" panose="020B0603020202020204" pitchFamily="34" charset="0"/>
              </a:rPr>
              <a:t>3.1.2 Individual Terms, Predicates, and Quantifiers</a:t>
            </a:r>
          </a:p>
          <a:p>
            <a:pPr indent="304800">
              <a:lnSpc>
                <a:spcPct val="130000"/>
              </a:lnSpc>
              <a:spcBef>
                <a:spcPts val="600"/>
              </a:spcBef>
              <a:buClr>
                <a:srgbClr val="0B61FF"/>
              </a:buClr>
              <a:buSzPct val="80000"/>
              <a:buFont typeface="Wingdings" panose="05000000000000000000" pitchFamily="2" charset="2"/>
              <a:buChar char="n"/>
            </a:pPr>
            <a:r>
              <a:rPr lang="en-US" altLang="zh-CN" sz="2400" b="1" dirty="0">
                <a:solidFill>
                  <a:srgbClr val="0C0D0E"/>
                </a:solidFill>
                <a:latin typeface="Trebuchet MS" panose="020B0603020202020204" pitchFamily="34" charset="0"/>
              </a:rPr>
              <a:t>3.1.3 Symbolization of First-Order Logic</a:t>
            </a:r>
          </a:p>
          <a:p>
            <a:pPr indent="304800">
              <a:lnSpc>
                <a:spcPct val="130000"/>
              </a:lnSpc>
              <a:spcBef>
                <a:spcPts val="600"/>
              </a:spcBef>
              <a:buClr>
                <a:srgbClr val="0B61FF"/>
              </a:buClr>
              <a:buSzPct val="80000"/>
              <a:buFont typeface="Wingdings" panose="05000000000000000000" pitchFamily="2" charset="2"/>
              <a:buChar char="n"/>
            </a:pPr>
            <a:r>
              <a:rPr lang="en-US" altLang="zh-CN" sz="2400" b="1" dirty="0">
                <a:solidFill>
                  <a:srgbClr val="0C0D0E"/>
                </a:solidFill>
                <a:latin typeface="Trebuchet MS" panose="020B0603020202020204" pitchFamily="34" charset="0"/>
              </a:rPr>
              <a:t>3.1.4 First-Order Logic Formulas and Classification</a:t>
            </a:r>
          </a:p>
          <a:p>
            <a:pPr indent="304800">
              <a:lnSpc>
                <a:spcPct val="130000"/>
              </a:lnSpc>
              <a:spcBef>
                <a:spcPts val="600"/>
              </a:spcBef>
              <a:buClr>
                <a:srgbClr val="0B61FF"/>
              </a:buClr>
              <a:buSzPct val="80000"/>
              <a:buFont typeface="Wingdings" panose="05000000000000000000" pitchFamily="2" charset="2"/>
              <a:buChar char="n"/>
            </a:pPr>
            <a:endParaRPr lang="zh-CN" altLang="en-US" b="1" dirty="0">
              <a:latin typeface="Trebuchet MS" panose="020B0603020202020204" pitchFamily="34" charset="0"/>
            </a:endParaRPr>
          </a:p>
        </p:txBody>
      </p:sp>
    </p:spTree>
    <p:extLst>
      <p:ext uri="{BB962C8B-B14F-4D97-AF65-F5344CB8AC3E}">
        <p14:creationId xmlns:p14="http://schemas.microsoft.com/office/powerpoint/2010/main" val="136449895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l">
              <a:lnSpc>
                <a:spcPct val="110000"/>
              </a:lnSpc>
              <a:spcBef>
                <a:spcPts val="300"/>
              </a:spcBef>
              <a:buClr>
                <a:srgbClr val="0B61FF"/>
              </a:buClr>
              <a:buSzPct val="80000"/>
            </a:pPr>
            <a:r>
              <a:rPr lang="en-US" altLang="zh-CN" sz="2000" b="1" dirty="0">
                <a:effectLst/>
                <a:latin typeface="Cambria Math" panose="02040503050406030204" pitchFamily="18" charset="0"/>
                <a:ea typeface="Cambria Math" panose="02040503050406030204" pitchFamily="18" charset="0"/>
                <a:cs typeface="Times New Roman" panose="02020603050405020304" pitchFamily="18" charset="0"/>
              </a:rPr>
              <a:t>                  </a:t>
            </a:r>
            <a:r>
              <a:rPr lang="en-US" altLang="zh-CN" sz="2000" b="1" i="0" dirty="0">
                <a:solidFill>
                  <a:schemeClr val="bg1"/>
                </a:solidFill>
                <a:effectLst/>
                <a:latin typeface="Trebuchet MS" panose="020B0603020202020204" pitchFamily="34" charset="0"/>
              </a:rPr>
              <a:t>3.1.1 The Limitations of Propositional Logic</a:t>
            </a:r>
          </a:p>
          <a:p>
            <a:pPr algn="l">
              <a:lnSpc>
                <a:spcPct val="110000"/>
              </a:lnSpc>
              <a:spcBef>
                <a:spcPts val="300"/>
              </a:spcBef>
              <a:buClr>
                <a:srgbClr val="0B61FF"/>
              </a:buClr>
              <a:buSzPct val="80000"/>
            </a:pPr>
            <a:r>
              <a:rPr lang="en-US" altLang="zh-CN" sz="2400" dirty="0"/>
              <a:t>                 </a:t>
            </a:r>
            <a:r>
              <a:rPr lang="en-US" altLang="zh-CN" sz="2400"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latin typeface="Trebuchet MS" panose="020B0603020202020204" pitchFamily="34" charset="0"/>
              </a:rPr>
              <a:t>The key limitations of propositional logic</a:t>
            </a:r>
            <a:endParaRPr lang="en-US" altLang="zh-CN" sz="2400" b="1" i="0" dirty="0">
              <a:solidFill>
                <a:schemeClr val="bg1"/>
              </a:solidFill>
              <a:effectLs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0125" y="797833"/>
            <a:ext cx="9934575" cy="526385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66700" indent="-266700">
              <a:lnSpc>
                <a:spcPct val="120000"/>
              </a:lnSpc>
              <a:spcBef>
                <a:spcPts val="300"/>
              </a:spcBef>
              <a:buClr>
                <a:srgbClr val="0B61FF"/>
              </a:buClr>
              <a:buSzPct val="80000"/>
              <a:buFont typeface="Wingdings" panose="05000000000000000000" pitchFamily="2" charset="2"/>
              <a:buChar char="n"/>
              <a:tabLst>
                <a:tab pos="266700" algn="l"/>
              </a:tabLst>
            </a:pPr>
            <a:r>
              <a:rPr lang="en-US" altLang="zh-CN" sz="2400" b="1" kern="0" dirty="0">
                <a:effectLst/>
                <a:latin typeface="Trebuchet MS" panose="020B0603020202020204" pitchFamily="34" charset="0"/>
                <a:ea typeface="宋体" panose="02010600030101010101" pitchFamily="2" charset="-122"/>
                <a:cs typeface="宋体" panose="02010600030101010101" pitchFamily="2" charset="-122"/>
              </a:rPr>
              <a:t> </a:t>
            </a:r>
            <a:r>
              <a:rPr lang="en-US" altLang="zh-CN" sz="2400" b="1" i="1" kern="0" dirty="0">
                <a:effectLst/>
                <a:latin typeface="Trebuchet MS" panose="020B0603020202020204" pitchFamily="34" charset="0"/>
                <a:ea typeface="宋体" panose="02010600030101010101" pitchFamily="2" charset="-122"/>
                <a:cs typeface="宋体" panose="02010600030101010101" pitchFamily="2" charset="-122"/>
              </a:rPr>
              <a:t>Inability to express individual relationships</a:t>
            </a:r>
            <a:r>
              <a:rPr lang="en-US" altLang="zh-CN" sz="2400" i="1" kern="0" dirty="0">
                <a:effectLst/>
                <a:latin typeface="Trebuchet MS" panose="020B0603020202020204" pitchFamily="34" charset="0"/>
                <a:ea typeface="宋体" panose="02010600030101010101" pitchFamily="2" charset="-122"/>
                <a:cs typeface="宋体" panose="02010600030101010101" pitchFamily="2" charset="-122"/>
              </a:rPr>
              <a:t> </a:t>
            </a:r>
            <a:r>
              <a:rPr lang="en-US" altLang="zh-CN" sz="2400" kern="0" dirty="0">
                <a:effectLst/>
                <a:latin typeface="Trebuchet MS" panose="020B0603020202020204" pitchFamily="34" charset="0"/>
                <a:ea typeface="宋体" panose="02010600030101010101" pitchFamily="2" charset="-122"/>
                <a:cs typeface="宋体" panose="02010600030101010101" pitchFamily="2" charset="-122"/>
              </a:rPr>
              <a:t>:</a:t>
            </a:r>
          </a:p>
          <a:p>
            <a:pPr marL="355600" indent="0">
              <a:lnSpc>
                <a:spcPct val="120000"/>
              </a:lnSpc>
              <a:spcBef>
                <a:spcPts val="300"/>
              </a:spcBef>
              <a:buClr>
                <a:srgbClr val="0B61FF"/>
              </a:buClr>
              <a:buSzPct val="80000"/>
              <a:buNone/>
            </a:pPr>
            <a:r>
              <a:rPr lang="en-US" altLang="zh-CN" sz="2400" kern="0" dirty="0">
                <a:effectLst/>
                <a:latin typeface="Trebuchet MS" panose="020B0603020202020204" pitchFamily="34" charset="0"/>
                <a:ea typeface="宋体" panose="02010600030101010101" pitchFamily="2" charset="-122"/>
                <a:cs typeface="宋体" panose="02010600030101010101" pitchFamily="2" charset="-122"/>
              </a:rPr>
              <a:t>It treats statements as whole units without using variables (</a:t>
            </a:r>
            <a:r>
              <a:rPr lang="en-US" altLang="zh-CN" sz="2400" b="1" i="1" kern="0" dirty="0">
                <a:effectLst/>
                <a:latin typeface="Trebuchet MS" panose="020B0603020202020204" pitchFamily="34" charset="0"/>
                <a:ea typeface="宋体" panose="02010600030101010101" pitchFamily="2" charset="-122"/>
                <a:cs typeface="宋体" panose="02010600030101010101" pitchFamily="2" charset="-122"/>
              </a:rPr>
              <a:t>x</a:t>
            </a:r>
            <a:r>
              <a:rPr lang="en-US" altLang="zh-CN" sz="2400" kern="0" dirty="0">
                <a:effectLst/>
                <a:latin typeface="Trebuchet MS" panose="020B0603020202020204" pitchFamily="34" charset="0"/>
                <a:ea typeface="宋体" panose="02010600030101010101" pitchFamily="2" charset="-122"/>
                <a:cs typeface="宋体" panose="02010600030101010101" pitchFamily="2" charset="-122"/>
              </a:rPr>
              <a:t>) and predicates (</a:t>
            </a:r>
            <a:r>
              <a:rPr lang="en-US" altLang="zh-CN" sz="2400" b="1" i="1" kern="0" dirty="0">
                <a:effectLst/>
                <a:latin typeface="Trebuchet MS" panose="020B0603020202020204" pitchFamily="34" charset="0"/>
                <a:ea typeface="宋体" panose="02010600030101010101" pitchFamily="2" charset="-122"/>
                <a:cs typeface="宋体" panose="02010600030101010101" pitchFamily="2" charset="-122"/>
              </a:rPr>
              <a:t>H</a:t>
            </a:r>
            <a:r>
              <a:rPr lang="en-US" altLang="zh-CN" sz="2400" kern="0" dirty="0">
                <a:effectLst/>
                <a:latin typeface="Trebuchet MS" panose="020B0603020202020204" pitchFamily="34" charset="0"/>
                <a:ea typeface="宋体" panose="02010600030101010101" pitchFamily="2" charset="-122"/>
                <a:cs typeface="宋体" panose="02010600030101010101" pitchFamily="2" charset="-122"/>
              </a:rPr>
              <a:t>(</a:t>
            </a:r>
            <a:r>
              <a:rPr lang="en-US" altLang="zh-CN" sz="2400" b="1" i="1" kern="0" dirty="0">
                <a:effectLst/>
                <a:latin typeface="Trebuchet MS" panose="020B0603020202020204" pitchFamily="34" charset="0"/>
                <a:ea typeface="宋体" panose="02010600030101010101" pitchFamily="2" charset="-122"/>
                <a:cs typeface="宋体" panose="02010600030101010101" pitchFamily="2" charset="-122"/>
              </a:rPr>
              <a:t>x</a:t>
            </a:r>
            <a:r>
              <a:rPr lang="en-US" altLang="zh-CN" sz="2400" kern="0" dirty="0">
                <a:effectLst/>
                <a:latin typeface="Trebuchet MS" panose="020B0603020202020204" pitchFamily="34" charset="0"/>
                <a:ea typeface="宋体" panose="02010600030101010101" pitchFamily="2" charset="-122"/>
                <a:cs typeface="宋体" panose="02010600030101010101" pitchFamily="2" charset="-122"/>
              </a:rPr>
              <a:t>), </a:t>
            </a:r>
            <a:r>
              <a:rPr lang="en-US" altLang="zh-CN" sz="2400" b="1" i="1" kern="0" dirty="0">
                <a:effectLst/>
                <a:latin typeface="Trebuchet MS" panose="020B0603020202020204" pitchFamily="34" charset="0"/>
                <a:ea typeface="宋体" panose="02010600030101010101" pitchFamily="2" charset="-122"/>
                <a:cs typeface="宋体" panose="02010600030101010101" pitchFamily="2" charset="-122"/>
              </a:rPr>
              <a:t>M</a:t>
            </a:r>
            <a:r>
              <a:rPr lang="en-US" altLang="zh-CN" sz="2400" kern="0" dirty="0">
                <a:effectLst/>
                <a:latin typeface="Trebuchet MS" panose="020B0603020202020204" pitchFamily="34" charset="0"/>
                <a:ea typeface="宋体" panose="02010600030101010101" pitchFamily="2" charset="-122"/>
                <a:cs typeface="宋体" panose="02010600030101010101" pitchFamily="2" charset="-122"/>
              </a:rPr>
              <a:t>(</a:t>
            </a:r>
            <a:r>
              <a:rPr lang="en-US" altLang="zh-CN" sz="2400" b="1" i="1" kern="0" dirty="0">
                <a:effectLst/>
                <a:latin typeface="Trebuchet MS" panose="020B0603020202020204" pitchFamily="34" charset="0"/>
                <a:ea typeface="宋体" panose="02010600030101010101" pitchFamily="2" charset="-122"/>
                <a:cs typeface="宋体" panose="02010600030101010101" pitchFamily="2" charset="-122"/>
              </a:rPr>
              <a:t>x</a:t>
            </a:r>
            <a:r>
              <a:rPr lang="en-US" altLang="zh-CN" sz="2400" kern="0" dirty="0">
                <a:effectLst/>
                <a:latin typeface="Trebuchet MS" panose="020B0603020202020204" pitchFamily="34" charset="0"/>
                <a:ea typeface="宋体" panose="02010600030101010101" pitchFamily="2" charset="-122"/>
                <a:cs typeface="宋体" panose="02010600030101010101" pitchFamily="2" charset="-122"/>
              </a:rPr>
              <a:t>)) to represent properties. </a:t>
            </a:r>
            <a:endParaRPr lang="zh-CN" altLang="zh-CN" sz="2400" kern="100" dirty="0">
              <a:effectLst/>
              <a:latin typeface="Trebuchet MS" panose="020B0603020202020204" pitchFamily="34" charset="0"/>
              <a:ea typeface="宋体" panose="02010600030101010101" pitchFamily="2" charset="-122"/>
              <a:cs typeface="Times New Roman" panose="02020603050405020304" pitchFamily="18" charset="0"/>
            </a:endParaRPr>
          </a:p>
          <a:p>
            <a:pPr indent="266700" algn="l">
              <a:lnSpc>
                <a:spcPct val="120000"/>
              </a:lnSpc>
              <a:spcBef>
                <a:spcPts val="300"/>
              </a:spcBef>
              <a:buClr>
                <a:srgbClr val="0B61FF"/>
              </a:buClr>
              <a:buSzPct val="120000"/>
            </a:pPr>
            <a:r>
              <a:rPr lang="en-US" altLang="zh-CN" sz="2400" kern="0" dirty="0">
                <a:effectLst/>
                <a:latin typeface="Trebuchet MS" panose="020B0603020202020204" pitchFamily="34" charset="0"/>
                <a:ea typeface="宋体" panose="02010600030101010101" pitchFamily="2" charset="-122"/>
                <a:cs typeface="宋体" panose="02010600030101010101" pitchFamily="2" charset="-122"/>
              </a:rPr>
              <a:t>For example, it can only express "</a:t>
            </a:r>
            <a:r>
              <a:rPr lang="en-US" altLang="zh-CN" sz="2400" b="1" kern="0" dirty="0">
                <a:effectLst/>
                <a:latin typeface="Trebuchet MS" panose="020B0603020202020204" pitchFamily="34" charset="0"/>
                <a:ea typeface="宋体" panose="02010600030101010101" pitchFamily="2" charset="-122"/>
                <a:cs typeface="宋体" panose="02010600030101010101" pitchFamily="2" charset="-122"/>
              </a:rPr>
              <a:t>All humans are mortal</a:t>
            </a:r>
            <a:r>
              <a:rPr lang="en-US" altLang="zh-CN" sz="2400" kern="0" dirty="0">
                <a:effectLst/>
                <a:latin typeface="Trebuchet MS" panose="020B0603020202020204" pitchFamily="34" charset="0"/>
                <a:ea typeface="宋体" panose="02010600030101010101" pitchFamily="2" charset="-122"/>
                <a:cs typeface="宋体" panose="02010600030101010101" pitchFamily="2" charset="-122"/>
              </a:rPr>
              <a:t>" as a single proposition, not as </a:t>
            </a:r>
            <a:r>
              <a:rPr lang="en-US" altLang="zh-CN" sz="2400" b="1" kern="0" dirty="0">
                <a:effectLst/>
                <a:latin typeface="Trebuchet MS" panose="020B0603020202020204" pitchFamily="34" charset="0"/>
                <a:ea typeface="宋体" panose="02010600030101010101" pitchFamily="2" charset="-122"/>
                <a:cs typeface="Cambria Math" panose="02040503050406030204" pitchFamily="18" charset="0"/>
              </a:rPr>
              <a:t>∀</a:t>
            </a:r>
            <a:r>
              <a:rPr lang="en-US" altLang="zh-CN" sz="2400" b="1" kern="0" dirty="0">
                <a:effectLst/>
                <a:latin typeface="Trebuchet MS" panose="020B0603020202020204" pitchFamily="34" charset="0"/>
                <a:ea typeface="宋体" panose="02010600030101010101" pitchFamily="2" charset="-122"/>
                <a:cs typeface="宋体" panose="02010600030101010101" pitchFamily="2" charset="-122"/>
              </a:rPr>
              <a:t>x(</a:t>
            </a:r>
            <a:r>
              <a:rPr lang="en-US" altLang="zh-CN" sz="2400" b="1" i="1" kern="0" dirty="0">
                <a:effectLst/>
                <a:latin typeface="Trebuchet MS" panose="020B0603020202020204" pitchFamily="34" charset="0"/>
                <a:ea typeface="宋体" panose="02010600030101010101" pitchFamily="2" charset="-122"/>
                <a:cs typeface="宋体" panose="02010600030101010101" pitchFamily="2" charset="-122"/>
              </a:rPr>
              <a:t>H</a:t>
            </a:r>
            <a:r>
              <a:rPr lang="en-US" altLang="zh-CN" sz="2400" kern="0" dirty="0">
                <a:effectLst/>
                <a:latin typeface="Trebuchet MS" panose="020B0603020202020204" pitchFamily="34" charset="0"/>
                <a:ea typeface="宋体" panose="02010600030101010101" pitchFamily="2" charset="-122"/>
                <a:cs typeface="宋体" panose="02010600030101010101" pitchFamily="2" charset="-122"/>
              </a:rPr>
              <a:t>(</a:t>
            </a:r>
            <a:r>
              <a:rPr lang="en-US" altLang="zh-CN" sz="2400" b="1" i="1" kern="0" dirty="0">
                <a:effectLst/>
                <a:latin typeface="Trebuchet MS" panose="020B0603020202020204" pitchFamily="34" charset="0"/>
                <a:ea typeface="宋体" panose="02010600030101010101" pitchFamily="2" charset="-122"/>
                <a:cs typeface="宋体" panose="02010600030101010101" pitchFamily="2" charset="-122"/>
              </a:rPr>
              <a:t>x</a:t>
            </a:r>
            <a:r>
              <a:rPr lang="en-US" altLang="zh-CN" sz="2400" kern="0" dirty="0">
                <a:effectLst/>
                <a:latin typeface="Trebuchet MS" panose="020B0603020202020204" pitchFamily="34" charset="0"/>
                <a:ea typeface="宋体" panose="02010600030101010101" pitchFamily="2" charset="-122"/>
                <a:cs typeface="宋体" panose="02010600030101010101" pitchFamily="2" charset="-122"/>
              </a:rPr>
              <a:t>)</a:t>
            </a:r>
            <a:r>
              <a:rPr lang="zh-CN" altLang="zh-CN" sz="2400" b="1" kern="0" dirty="0">
                <a:effectLst/>
                <a:latin typeface="Trebuchet MS" panose="020B0603020202020204" pitchFamily="34" charset="0"/>
                <a:ea typeface="宋体" panose="02010600030101010101" pitchFamily="2" charset="-122"/>
                <a:cs typeface="宋体" panose="02010600030101010101" pitchFamily="2" charset="-122"/>
              </a:rPr>
              <a:t>→</a:t>
            </a:r>
            <a:r>
              <a:rPr lang="en-US" altLang="zh-CN" sz="2400" b="1" i="1" kern="0" dirty="0">
                <a:effectLst/>
                <a:latin typeface="Trebuchet MS" panose="020B0603020202020204" pitchFamily="34" charset="0"/>
                <a:ea typeface="宋体" panose="02010600030101010101" pitchFamily="2" charset="-122"/>
                <a:cs typeface="宋体" panose="02010600030101010101" pitchFamily="2" charset="-122"/>
              </a:rPr>
              <a:t>M</a:t>
            </a:r>
            <a:r>
              <a:rPr lang="en-US" altLang="zh-CN" sz="2400" kern="0" dirty="0">
                <a:effectLst/>
                <a:latin typeface="Trebuchet MS" panose="020B0603020202020204" pitchFamily="34" charset="0"/>
                <a:ea typeface="宋体" panose="02010600030101010101" pitchFamily="2" charset="-122"/>
                <a:cs typeface="宋体" panose="02010600030101010101" pitchFamily="2" charset="-122"/>
              </a:rPr>
              <a:t>(</a:t>
            </a:r>
            <a:r>
              <a:rPr lang="en-US" altLang="zh-CN" sz="2400" b="1" i="1" kern="0" dirty="0">
                <a:effectLst/>
                <a:latin typeface="Trebuchet MS" panose="020B0603020202020204" pitchFamily="34" charset="0"/>
                <a:ea typeface="宋体" panose="02010600030101010101" pitchFamily="2" charset="-122"/>
                <a:cs typeface="宋体" panose="02010600030101010101" pitchFamily="2" charset="-122"/>
              </a:rPr>
              <a:t>x</a:t>
            </a:r>
            <a:r>
              <a:rPr lang="en-US" altLang="zh-CN" sz="2400" kern="0" dirty="0">
                <a:effectLst/>
                <a:latin typeface="Trebuchet MS" panose="020B0603020202020204" pitchFamily="34" charset="0"/>
                <a:ea typeface="宋体" panose="02010600030101010101" pitchFamily="2" charset="-122"/>
                <a:cs typeface="宋体" panose="02010600030101010101" pitchFamily="2" charset="-122"/>
              </a:rPr>
              <a:t>)</a:t>
            </a:r>
            <a:r>
              <a:rPr lang="en-US" altLang="zh-CN" sz="2400" b="1" kern="0" dirty="0">
                <a:effectLst/>
                <a:latin typeface="Trebuchet MS" panose="020B0603020202020204" pitchFamily="34" charset="0"/>
                <a:ea typeface="宋体" panose="02010600030101010101" pitchFamily="2" charset="-122"/>
                <a:cs typeface="宋体" panose="02010600030101010101" pitchFamily="2" charset="-122"/>
              </a:rPr>
              <a:t>)</a:t>
            </a:r>
            <a:r>
              <a:rPr lang="en-US" altLang="zh-CN" sz="2400" kern="0" dirty="0">
                <a:effectLst/>
                <a:latin typeface="Trebuchet MS" panose="020B0603020202020204" pitchFamily="34" charset="0"/>
                <a:ea typeface="宋体" panose="02010600030101010101" pitchFamily="2" charset="-122"/>
                <a:cs typeface="宋体" panose="02010600030101010101" pitchFamily="2" charset="-122"/>
              </a:rPr>
              <a:t>, which specifies the relationship for each individual.</a:t>
            </a:r>
          </a:p>
          <a:p>
            <a:pPr marL="355600" indent="-355600">
              <a:lnSpc>
                <a:spcPct val="120000"/>
              </a:lnSpc>
              <a:spcBef>
                <a:spcPts val="300"/>
              </a:spcBef>
              <a:buClr>
                <a:srgbClr val="0B61FF"/>
              </a:buClr>
              <a:buSzPct val="80000"/>
              <a:buFont typeface="Wingdings" panose="05000000000000000000" pitchFamily="2" charset="2"/>
              <a:buChar char="n"/>
            </a:pPr>
            <a:r>
              <a:rPr lang="en-US" altLang="zh-CN" sz="2400" b="1" i="1" kern="100" dirty="0">
                <a:effectLst/>
                <a:latin typeface="Trebuchet MS" panose="020B0603020202020204" pitchFamily="34" charset="0"/>
                <a:ea typeface="宋体" panose="02010600030101010101" pitchFamily="2" charset="-122"/>
                <a:cs typeface="Times New Roman" panose="02020603050405020304" pitchFamily="18" charset="0"/>
              </a:rPr>
              <a:t>Inability to perform generalization and instantiation reasoning</a:t>
            </a:r>
            <a:r>
              <a:rPr lang="en-US" altLang="zh-CN" sz="2400" b="1" kern="100" dirty="0">
                <a:effectLst/>
                <a:latin typeface="Trebuchet MS" panose="020B0603020202020204" pitchFamily="34" charset="0"/>
                <a:ea typeface="宋体" panose="02010600030101010101" pitchFamily="2" charset="-122"/>
                <a:cs typeface="Times New Roman" panose="02020603050405020304" pitchFamily="18" charset="0"/>
              </a:rPr>
              <a:t>:</a:t>
            </a:r>
            <a:br>
              <a:rPr lang="en-US" altLang="zh-CN" sz="2400" kern="100" dirty="0">
                <a:effectLst/>
                <a:latin typeface="Trebuchet MS" panose="020B0603020202020204" pitchFamily="34" charset="0"/>
                <a:ea typeface="宋体" panose="02010600030101010101" pitchFamily="2" charset="-122"/>
                <a:cs typeface="Times New Roman" panose="02020603050405020304" pitchFamily="18" charset="0"/>
              </a:rPr>
            </a:br>
            <a:r>
              <a:rPr lang="en-US" altLang="zh-CN" sz="2400" kern="100" dirty="0">
                <a:effectLst/>
                <a:latin typeface="Trebuchet MS" panose="020B0603020202020204" pitchFamily="34" charset="0"/>
                <a:ea typeface="宋体" panose="02010600030101010101" pitchFamily="2" charset="-122"/>
                <a:cs typeface="Times New Roman" panose="02020603050405020304" pitchFamily="18" charset="0"/>
              </a:rPr>
              <a:t>Propositional logic cannot express the general statement "All humans are mortal" (</a:t>
            </a:r>
            <a:r>
              <a:rPr lang="en-US" altLang="zh-CN" sz="2400" b="1" kern="0" dirty="0">
                <a:effectLst/>
                <a:latin typeface="Trebuchet MS" panose="020B0603020202020204" pitchFamily="34" charset="0"/>
                <a:ea typeface="宋体" panose="02010600030101010101" pitchFamily="2" charset="-122"/>
                <a:cs typeface="Cambria Math" panose="02040503050406030204" pitchFamily="18" charset="0"/>
              </a:rPr>
              <a:t>∀</a:t>
            </a:r>
            <a:r>
              <a:rPr lang="en-US" altLang="zh-CN" sz="2400" b="1" kern="0" dirty="0">
                <a:effectLst/>
                <a:latin typeface="Trebuchet MS" panose="020B0603020202020204" pitchFamily="34" charset="0"/>
                <a:ea typeface="宋体" panose="02010600030101010101" pitchFamily="2" charset="-122"/>
                <a:cs typeface="宋体" panose="02010600030101010101" pitchFamily="2" charset="-122"/>
              </a:rPr>
              <a:t>x(</a:t>
            </a:r>
            <a:r>
              <a:rPr lang="en-US" altLang="zh-CN" sz="2400" b="1" i="1" kern="0" dirty="0">
                <a:effectLst/>
                <a:latin typeface="Trebuchet MS" panose="020B0603020202020204" pitchFamily="34" charset="0"/>
                <a:ea typeface="宋体" panose="02010600030101010101" pitchFamily="2" charset="-122"/>
                <a:cs typeface="宋体" panose="02010600030101010101" pitchFamily="2" charset="-122"/>
              </a:rPr>
              <a:t>H</a:t>
            </a:r>
            <a:r>
              <a:rPr lang="en-US" altLang="zh-CN" sz="2400" kern="0" dirty="0">
                <a:effectLst/>
                <a:latin typeface="Trebuchet MS" panose="020B0603020202020204" pitchFamily="34" charset="0"/>
                <a:ea typeface="宋体" panose="02010600030101010101" pitchFamily="2" charset="-122"/>
                <a:cs typeface="宋体" panose="02010600030101010101" pitchFamily="2" charset="-122"/>
              </a:rPr>
              <a:t>(</a:t>
            </a:r>
            <a:r>
              <a:rPr lang="en-US" altLang="zh-CN" sz="2400" b="1" i="1" kern="0" dirty="0">
                <a:effectLst/>
                <a:latin typeface="Trebuchet MS" panose="020B0603020202020204" pitchFamily="34" charset="0"/>
                <a:ea typeface="宋体" panose="02010600030101010101" pitchFamily="2" charset="-122"/>
                <a:cs typeface="宋体" panose="02010600030101010101" pitchFamily="2" charset="-122"/>
              </a:rPr>
              <a:t>x</a:t>
            </a:r>
            <a:r>
              <a:rPr lang="en-US" altLang="zh-CN" sz="2400" kern="0" dirty="0">
                <a:effectLst/>
                <a:latin typeface="Trebuchet MS" panose="020B0603020202020204" pitchFamily="34" charset="0"/>
                <a:ea typeface="宋体" panose="02010600030101010101" pitchFamily="2" charset="-122"/>
                <a:cs typeface="宋体" panose="02010600030101010101" pitchFamily="2" charset="-122"/>
              </a:rPr>
              <a:t>)</a:t>
            </a:r>
            <a:r>
              <a:rPr lang="zh-CN" altLang="zh-CN" sz="2400" b="1" kern="0" dirty="0">
                <a:effectLst/>
                <a:latin typeface="Trebuchet MS" panose="020B0603020202020204" pitchFamily="34" charset="0"/>
                <a:ea typeface="宋体" panose="02010600030101010101" pitchFamily="2" charset="-122"/>
                <a:cs typeface="宋体" panose="02010600030101010101" pitchFamily="2" charset="-122"/>
              </a:rPr>
              <a:t>→</a:t>
            </a:r>
            <a:r>
              <a:rPr lang="en-US" altLang="zh-CN" sz="2400" b="1" i="1" kern="0" dirty="0">
                <a:effectLst/>
                <a:latin typeface="Trebuchet MS" panose="020B0603020202020204" pitchFamily="34" charset="0"/>
                <a:ea typeface="宋体" panose="02010600030101010101" pitchFamily="2" charset="-122"/>
                <a:cs typeface="宋体" panose="02010600030101010101" pitchFamily="2" charset="-122"/>
              </a:rPr>
              <a:t>M</a:t>
            </a:r>
            <a:r>
              <a:rPr lang="en-US" altLang="zh-CN" sz="2400" kern="0" dirty="0">
                <a:effectLst/>
                <a:latin typeface="Trebuchet MS" panose="020B0603020202020204" pitchFamily="34" charset="0"/>
                <a:ea typeface="宋体" panose="02010600030101010101" pitchFamily="2" charset="-122"/>
                <a:cs typeface="宋体" panose="02010600030101010101" pitchFamily="2" charset="-122"/>
              </a:rPr>
              <a:t>(</a:t>
            </a:r>
            <a:r>
              <a:rPr lang="en-US" altLang="zh-CN" sz="2400" b="1" i="1" kern="0" dirty="0">
                <a:effectLst/>
                <a:latin typeface="Trebuchet MS" panose="020B0603020202020204" pitchFamily="34" charset="0"/>
                <a:ea typeface="宋体" panose="02010600030101010101" pitchFamily="2" charset="-122"/>
                <a:cs typeface="宋体" panose="02010600030101010101" pitchFamily="2" charset="-122"/>
              </a:rPr>
              <a:t>x</a:t>
            </a:r>
            <a:r>
              <a:rPr lang="en-US" altLang="zh-CN" sz="2400" kern="0" dirty="0">
                <a:effectLst/>
                <a:latin typeface="Trebuchet MS" panose="020B0603020202020204" pitchFamily="34" charset="0"/>
                <a:ea typeface="宋体" panose="02010600030101010101" pitchFamily="2" charset="-122"/>
                <a:cs typeface="宋体" panose="02010600030101010101" pitchFamily="2" charset="-122"/>
              </a:rPr>
              <a:t>)</a:t>
            </a:r>
            <a:r>
              <a:rPr lang="en-US" altLang="zh-CN" sz="2400" b="1" kern="0" dirty="0">
                <a:effectLst/>
                <a:latin typeface="Trebuchet MS" panose="020B0603020202020204" pitchFamily="34" charset="0"/>
                <a:ea typeface="宋体" panose="02010600030101010101" pitchFamily="2" charset="-122"/>
                <a:cs typeface="宋体" panose="02010600030101010101" pitchFamily="2" charset="-122"/>
              </a:rPr>
              <a:t>)</a:t>
            </a:r>
            <a:r>
              <a:rPr lang="en-US" altLang="zh-CN" sz="2400" kern="0" dirty="0">
                <a:effectLst/>
                <a:latin typeface="Trebuchet MS" panose="020B0603020202020204" pitchFamily="34" charset="0"/>
                <a:ea typeface="宋体" panose="02010600030101010101" pitchFamily="2" charset="-122"/>
                <a:cs typeface="宋体" panose="02010600030101010101" pitchFamily="2" charset="-122"/>
              </a:rPr>
              <a:t>, </a:t>
            </a:r>
            <a:r>
              <a:rPr lang="en-US" altLang="zh-CN" sz="2400" kern="100" dirty="0">
                <a:effectLst/>
                <a:latin typeface="Trebuchet MS" panose="020B0603020202020204" pitchFamily="34" charset="0"/>
                <a:ea typeface="宋体" panose="02010600030101010101" pitchFamily="2" charset="-122"/>
                <a:cs typeface="Times New Roman" panose="02020603050405020304" pitchFamily="18" charset="0"/>
              </a:rPr>
              <a:t>It cannot derive </a:t>
            </a:r>
            <a:r>
              <a:rPr lang="en-US" altLang="zh-CN" sz="2400" b="1" i="1" kern="0" dirty="0">
                <a:effectLst/>
                <a:latin typeface="Trebuchet MS" panose="020B0603020202020204" pitchFamily="34" charset="0"/>
                <a:ea typeface="宋体" panose="02010600030101010101" pitchFamily="2" charset="-122"/>
                <a:cs typeface="宋体" panose="02010600030101010101" pitchFamily="2" charset="-122"/>
              </a:rPr>
              <a:t>M</a:t>
            </a:r>
            <a:r>
              <a:rPr lang="en-US" altLang="zh-CN" sz="2400" kern="0" dirty="0">
                <a:effectLst/>
                <a:latin typeface="Trebuchet MS" panose="020B0603020202020204" pitchFamily="34" charset="0"/>
                <a:ea typeface="宋体" panose="02010600030101010101" pitchFamily="2" charset="-122"/>
                <a:cs typeface="宋体" panose="02010600030101010101" pitchFamily="2" charset="-122"/>
              </a:rPr>
              <a:t>(</a:t>
            </a:r>
            <a:r>
              <a:rPr lang="en-US" altLang="zh-CN" sz="2400" b="1" i="1" kern="0" dirty="0">
                <a:effectLst/>
                <a:latin typeface="Trebuchet MS" panose="020B0603020202020204" pitchFamily="34" charset="0"/>
                <a:ea typeface="宋体" panose="02010600030101010101" pitchFamily="2" charset="-122"/>
                <a:cs typeface="宋体" panose="02010600030101010101" pitchFamily="2" charset="-122"/>
              </a:rPr>
              <a:t>s</a:t>
            </a:r>
            <a:r>
              <a:rPr lang="en-US" altLang="zh-CN" sz="2400" kern="0" dirty="0">
                <a:effectLst/>
                <a:latin typeface="Trebuchet MS" panose="020B0603020202020204" pitchFamily="34" charset="0"/>
                <a:ea typeface="宋体" panose="02010600030101010101" pitchFamily="2" charset="-122"/>
                <a:cs typeface="宋体" panose="02010600030101010101" pitchFamily="2" charset="-122"/>
              </a:rPr>
              <a:t>)</a:t>
            </a:r>
            <a:r>
              <a:rPr lang="en-US" altLang="zh-CN" sz="2400" kern="100" dirty="0">
                <a:effectLst/>
                <a:latin typeface="Trebuchet MS" panose="020B0603020202020204" pitchFamily="34" charset="0"/>
                <a:ea typeface="宋体" panose="02010600030101010101" pitchFamily="2" charset="-122"/>
                <a:cs typeface="Times New Roman" panose="02020603050405020304" pitchFamily="18" charset="0"/>
              </a:rPr>
              <a:t> from (</a:t>
            </a:r>
            <a:r>
              <a:rPr lang="en-US" altLang="zh-CN" sz="2400" b="1" kern="0" dirty="0">
                <a:effectLst/>
                <a:latin typeface="Trebuchet MS" panose="020B0603020202020204" pitchFamily="34" charset="0"/>
                <a:ea typeface="宋体" panose="02010600030101010101" pitchFamily="2" charset="-122"/>
                <a:cs typeface="Cambria Math" panose="02040503050406030204" pitchFamily="18" charset="0"/>
              </a:rPr>
              <a:t>∀</a:t>
            </a:r>
            <a:r>
              <a:rPr lang="en-US" altLang="zh-CN" sz="2400" b="1" kern="0" dirty="0">
                <a:effectLst/>
                <a:latin typeface="Trebuchet MS" panose="020B0603020202020204" pitchFamily="34" charset="0"/>
                <a:ea typeface="宋体" panose="02010600030101010101" pitchFamily="2" charset="-122"/>
                <a:cs typeface="宋体" panose="02010600030101010101" pitchFamily="2" charset="-122"/>
              </a:rPr>
              <a:t>x(</a:t>
            </a:r>
            <a:r>
              <a:rPr lang="en-US" altLang="zh-CN" sz="2400" b="1" i="1" kern="0" dirty="0">
                <a:effectLst/>
                <a:latin typeface="Trebuchet MS" panose="020B0603020202020204" pitchFamily="34" charset="0"/>
                <a:ea typeface="宋体" panose="02010600030101010101" pitchFamily="2" charset="-122"/>
                <a:cs typeface="宋体" panose="02010600030101010101" pitchFamily="2" charset="-122"/>
              </a:rPr>
              <a:t>H</a:t>
            </a:r>
            <a:r>
              <a:rPr lang="en-US" altLang="zh-CN" sz="2400" kern="0" dirty="0">
                <a:effectLst/>
                <a:latin typeface="Trebuchet MS" panose="020B0603020202020204" pitchFamily="34" charset="0"/>
                <a:ea typeface="宋体" panose="02010600030101010101" pitchFamily="2" charset="-122"/>
                <a:cs typeface="宋体" panose="02010600030101010101" pitchFamily="2" charset="-122"/>
              </a:rPr>
              <a:t>(</a:t>
            </a:r>
            <a:r>
              <a:rPr lang="en-US" altLang="zh-CN" sz="2400" b="1" i="1" kern="0" dirty="0">
                <a:effectLst/>
                <a:latin typeface="Trebuchet MS" panose="020B0603020202020204" pitchFamily="34" charset="0"/>
                <a:ea typeface="宋体" panose="02010600030101010101" pitchFamily="2" charset="-122"/>
                <a:cs typeface="宋体" panose="02010600030101010101" pitchFamily="2" charset="-122"/>
              </a:rPr>
              <a:t>x</a:t>
            </a:r>
            <a:r>
              <a:rPr lang="en-US" altLang="zh-CN" sz="2400" kern="0" dirty="0">
                <a:effectLst/>
                <a:latin typeface="Trebuchet MS" panose="020B0603020202020204" pitchFamily="34" charset="0"/>
                <a:ea typeface="宋体" panose="02010600030101010101" pitchFamily="2" charset="-122"/>
                <a:cs typeface="宋体" panose="02010600030101010101" pitchFamily="2" charset="-122"/>
              </a:rPr>
              <a:t>)</a:t>
            </a:r>
            <a:r>
              <a:rPr lang="zh-CN" altLang="zh-CN" sz="2400" b="1" kern="0" dirty="0">
                <a:effectLst/>
                <a:latin typeface="Trebuchet MS" panose="020B0603020202020204" pitchFamily="34" charset="0"/>
                <a:ea typeface="宋体" panose="02010600030101010101" pitchFamily="2" charset="-122"/>
                <a:cs typeface="宋体" panose="02010600030101010101" pitchFamily="2" charset="-122"/>
              </a:rPr>
              <a:t>→</a:t>
            </a:r>
            <a:r>
              <a:rPr lang="en-US" altLang="zh-CN" sz="2400" b="1" i="1" kern="0" dirty="0">
                <a:effectLst/>
                <a:latin typeface="Trebuchet MS" panose="020B0603020202020204" pitchFamily="34" charset="0"/>
                <a:ea typeface="宋体" panose="02010600030101010101" pitchFamily="2" charset="-122"/>
                <a:cs typeface="宋体" panose="02010600030101010101" pitchFamily="2" charset="-122"/>
              </a:rPr>
              <a:t>M</a:t>
            </a:r>
            <a:r>
              <a:rPr lang="en-US" altLang="zh-CN" sz="2400" kern="0" dirty="0">
                <a:effectLst/>
                <a:latin typeface="Trebuchet MS" panose="020B0603020202020204" pitchFamily="34" charset="0"/>
                <a:ea typeface="宋体" panose="02010600030101010101" pitchFamily="2" charset="-122"/>
                <a:cs typeface="宋体" panose="02010600030101010101" pitchFamily="2" charset="-122"/>
              </a:rPr>
              <a:t>(</a:t>
            </a:r>
            <a:r>
              <a:rPr lang="en-US" altLang="zh-CN" sz="2400" b="1" i="1" kern="0" dirty="0">
                <a:effectLst/>
                <a:latin typeface="Trebuchet MS" panose="020B0603020202020204" pitchFamily="34" charset="0"/>
                <a:ea typeface="宋体" panose="02010600030101010101" pitchFamily="2" charset="-122"/>
                <a:cs typeface="宋体" panose="02010600030101010101" pitchFamily="2" charset="-122"/>
              </a:rPr>
              <a:t>x</a:t>
            </a:r>
            <a:r>
              <a:rPr lang="en-US" altLang="zh-CN" sz="2400" kern="0" dirty="0">
                <a:effectLst/>
                <a:latin typeface="Trebuchet MS" panose="020B0603020202020204" pitchFamily="34" charset="0"/>
                <a:ea typeface="宋体" panose="02010600030101010101" pitchFamily="2" charset="-122"/>
                <a:cs typeface="宋体" panose="02010600030101010101" pitchFamily="2" charset="-122"/>
              </a:rPr>
              <a:t>) </a:t>
            </a:r>
            <a:r>
              <a:rPr lang="en-US" altLang="zh-CN" sz="2400" kern="100" dirty="0">
                <a:effectLst/>
                <a:latin typeface="Trebuchet MS" panose="020B0603020202020204" pitchFamily="34" charset="0"/>
                <a:ea typeface="宋体" panose="02010600030101010101" pitchFamily="2" charset="-122"/>
                <a:cs typeface="Times New Roman" panose="02020603050405020304" pitchFamily="18" charset="0"/>
              </a:rPr>
              <a:t>and </a:t>
            </a:r>
            <a:r>
              <a:rPr lang="en-US" altLang="zh-CN" sz="2400" b="1" i="1" kern="100" dirty="0">
                <a:effectLst/>
                <a:latin typeface="Trebuchet MS" panose="020B0603020202020204" pitchFamily="34" charset="0"/>
                <a:ea typeface="宋体" panose="02010600030101010101" pitchFamily="2" charset="-122"/>
                <a:cs typeface="Times New Roman" panose="02020603050405020304" pitchFamily="18" charset="0"/>
              </a:rPr>
              <a:t>H</a:t>
            </a:r>
            <a:r>
              <a:rPr lang="en-US" altLang="zh-CN" sz="2400" kern="100" dirty="0">
                <a:effectLst/>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kern="100" dirty="0">
                <a:effectLst/>
                <a:latin typeface="Trebuchet MS" panose="020B0603020202020204" pitchFamily="34" charset="0"/>
                <a:ea typeface="宋体" panose="02010600030101010101" pitchFamily="2" charset="-122"/>
                <a:cs typeface="Times New Roman" panose="02020603050405020304" pitchFamily="18" charset="0"/>
              </a:rPr>
              <a:t>s</a:t>
            </a:r>
            <a:r>
              <a:rPr lang="en-US" altLang="zh-CN" sz="2400" kern="100" dirty="0">
                <a:effectLst/>
                <a:latin typeface="Trebuchet MS" panose="020B0603020202020204" pitchFamily="34" charset="0"/>
                <a:ea typeface="宋体" panose="02010600030101010101" pitchFamily="2" charset="-122"/>
                <a:cs typeface="Times New Roman" panose="02020603050405020304" pitchFamily="18" charset="0"/>
              </a:rPr>
              <a:t>), as it only combines concrete propositions without handling universal (</a:t>
            </a:r>
            <a:r>
              <a:rPr lang="en-US" altLang="zh-CN" sz="2400" b="1" kern="100" dirty="0">
                <a:effectLst/>
                <a:latin typeface="Trebuchet MS" panose="020B0603020202020204" pitchFamily="34" charset="0"/>
                <a:ea typeface="宋体" panose="02010600030101010101" pitchFamily="2" charset="-122"/>
                <a:cs typeface="Cambria Math" panose="02040503050406030204" pitchFamily="18" charset="0"/>
              </a:rPr>
              <a:t>∀</a:t>
            </a:r>
            <a:r>
              <a:rPr lang="en-US" altLang="zh-CN" sz="2400" kern="100" dirty="0">
                <a:effectLst/>
                <a:latin typeface="Trebuchet MS" panose="020B0603020202020204" pitchFamily="34" charset="0"/>
                <a:ea typeface="宋体" panose="02010600030101010101" pitchFamily="2" charset="-122"/>
                <a:cs typeface="Times New Roman" panose="02020603050405020304" pitchFamily="18" charset="0"/>
              </a:rPr>
              <a:t>) or existential (</a:t>
            </a:r>
            <a:r>
              <a:rPr lang="en-US" altLang="zh-CN" sz="2400" b="1" kern="100" dirty="0">
                <a:effectLst/>
                <a:latin typeface="Trebuchet MS" panose="020B0603020202020204" pitchFamily="34" charset="0"/>
                <a:ea typeface="宋体" panose="02010600030101010101" pitchFamily="2" charset="-122"/>
                <a:cs typeface="Cambria Math" panose="02040503050406030204" pitchFamily="18" charset="0"/>
              </a:rPr>
              <a:t>∃</a:t>
            </a:r>
            <a:r>
              <a:rPr lang="en-US" altLang="zh-CN" sz="2400" kern="100" dirty="0">
                <a:effectLst/>
                <a:latin typeface="Trebuchet MS" panose="020B0603020202020204" pitchFamily="34" charset="0"/>
                <a:ea typeface="宋体" panose="02010600030101010101" pitchFamily="2" charset="-122"/>
                <a:cs typeface="Times New Roman" panose="02020603050405020304" pitchFamily="18" charset="0"/>
              </a:rPr>
              <a:t>) quantification.</a:t>
            </a:r>
            <a:endParaRPr lang="zh-CN" altLang="zh-CN" sz="2400" kern="100" dirty="0">
              <a:effectLst/>
              <a:latin typeface="Trebuchet MS" panose="020B0603020202020204" pitchFamily="34" charset="0"/>
              <a:ea typeface="宋体" panose="02010600030101010101" pitchFamily="2" charset="-122"/>
              <a:cs typeface="Times New Roman" panose="02020603050405020304" pitchFamily="18" charset="0"/>
            </a:endParaRPr>
          </a:p>
          <a:p>
            <a:pPr indent="0" algn="l">
              <a:lnSpc>
                <a:spcPct val="120000"/>
              </a:lnSpc>
              <a:spcBef>
                <a:spcPts val="300"/>
              </a:spcBef>
              <a:buClr>
                <a:srgbClr val="0B61FF"/>
              </a:buClr>
              <a:buSzPct val="120000"/>
              <a:buNone/>
            </a:pPr>
            <a:endParaRPr lang="zh-CN" altLang="zh-CN" sz="2400" kern="100" dirty="0">
              <a:effectLst/>
              <a:latin typeface="Trebuchet MS" panose="020B0603020202020204" pitchFamily="34" charset="0"/>
              <a:ea typeface="宋体" panose="02010600030101010101" pitchFamily="2" charset="-122"/>
              <a:cs typeface="Times New Roman" panose="02020603050405020304" pitchFamily="18" charset="0"/>
            </a:endParaRPr>
          </a:p>
          <a:p>
            <a:pPr marL="457200" lvl="1" indent="0">
              <a:lnSpc>
                <a:spcPct val="110000"/>
              </a:lnSpc>
              <a:spcBef>
                <a:spcPts val="300"/>
              </a:spcBef>
              <a:buNone/>
            </a:pPr>
            <a:endParaRPr lang="zh-CN" altLang="en-US" b="1" dirty="0">
              <a:latin typeface="Trebuchet MS" panose="020B0603020202020204" pitchFamily="34" charset="0"/>
            </a:endParaRPr>
          </a:p>
        </p:txBody>
      </p:sp>
    </p:spTree>
    <p:extLst>
      <p:ext uri="{BB962C8B-B14F-4D97-AF65-F5344CB8AC3E}">
        <p14:creationId xmlns:p14="http://schemas.microsoft.com/office/powerpoint/2010/main" val="270841799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2" end="2"/>
                                            </p:txEl>
                                          </p:spTgt>
                                        </p:tgtEl>
                                        <p:attrNameLst>
                                          <p:attrName>style.visibility</p:attrName>
                                        </p:attrNameLst>
                                      </p:cBhvr>
                                      <p:to>
                                        <p:strVal val="visible"/>
                                      </p:to>
                                    </p:set>
                                    <p:animEffect transition="in" filter="fade">
                                      <p:cBhvr>
                                        <p:cTn id="7" dur="1000"/>
                                        <p:tgtEl>
                                          <p:spTgt spid="8">
                                            <p:txEl>
                                              <p:pRg st="2" end="2"/>
                                            </p:txEl>
                                          </p:spTgt>
                                        </p:tgtEl>
                                      </p:cBhvr>
                                    </p:animEffect>
                                    <p:anim calcmode="lin" valueType="num">
                                      <p:cBhvr>
                                        <p:cTn id="8"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8">
                                            <p:txEl>
                                              <p:pRg st="3" end="3"/>
                                            </p:txEl>
                                          </p:spTgt>
                                        </p:tgtEl>
                                        <p:attrNameLst>
                                          <p:attrName>style.visibility</p:attrName>
                                        </p:attrNameLst>
                                      </p:cBhvr>
                                      <p:to>
                                        <p:strVal val="visible"/>
                                      </p:to>
                                    </p:set>
                                    <p:animEffect transition="in" filter="fade">
                                      <p:cBhvr>
                                        <p:cTn id="14" dur="1000"/>
                                        <p:tgtEl>
                                          <p:spTgt spid="8">
                                            <p:txEl>
                                              <p:pRg st="3" end="3"/>
                                            </p:txEl>
                                          </p:spTgt>
                                        </p:tgtEl>
                                      </p:cBhvr>
                                    </p:animEffect>
                                    <p:anim calcmode="lin" valueType="num">
                                      <p:cBhvr>
                                        <p:cTn id="15"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16" dur="1000" fill="hold"/>
                                        <p:tgtEl>
                                          <p:spTgt spid="8">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l">
              <a:lnSpc>
                <a:spcPct val="110000"/>
              </a:lnSpc>
              <a:spcBef>
                <a:spcPts val="300"/>
              </a:spcBef>
              <a:buClr>
                <a:srgbClr val="0B61FF"/>
              </a:buClr>
              <a:buSzPct val="80000"/>
            </a:pPr>
            <a:r>
              <a:rPr lang="en-US" altLang="zh-CN" sz="2000" b="1" dirty="0">
                <a:effectLst/>
                <a:latin typeface="Cambria Math" panose="02040503050406030204" pitchFamily="18" charset="0"/>
                <a:ea typeface="Cambria Math" panose="02040503050406030204" pitchFamily="18" charset="0"/>
                <a:cs typeface="Times New Roman" panose="02020603050405020304" pitchFamily="18" charset="0"/>
              </a:rPr>
              <a:t>                  </a:t>
            </a:r>
            <a:r>
              <a:rPr lang="en-US" altLang="zh-CN" sz="2000" b="1" i="0" dirty="0">
                <a:solidFill>
                  <a:schemeClr val="bg1"/>
                </a:solidFill>
                <a:effectLst/>
                <a:latin typeface="Trebuchet MS" panose="020B0603020202020204" pitchFamily="34" charset="0"/>
              </a:rPr>
              <a:t>3.1.1 The Limitations of Propositional Logic</a:t>
            </a:r>
          </a:p>
          <a:p>
            <a:pPr>
              <a:lnSpc>
                <a:spcPct val="110000"/>
              </a:lnSpc>
              <a:spcBef>
                <a:spcPts val="300"/>
              </a:spcBef>
              <a:buClr>
                <a:srgbClr val="0B61FF"/>
              </a:buClr>
              <a:buSzPct val="80000"/>
            </a:pPr>
            <a:r>
              <a:rPr lang="en-US" altLang="zh-CN" sz="2400" dirty="0"/>
              <a:t>                 </a:t>
            </a:r>
            <a:r>
              <a:rPr lang="en-US" altLang="zh-CN" sz="2400"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latin typeface="Trebuchet MS" panose="020B0603020202020204" pitchFamily="34" charset="0"/>
              </a:rPr>
              <a:t>The key limitations of propositional logic</a:t>
            </a:r>
            <a:r>
              <a:rPr lang="en-US"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b="1" kern="100" dirty="0">
                <a:solidFill>
                  <a:schemeClr val="accent2"/>
                </a:solidFill>
                <a:effectLst/>
                <a:latin typeface="Times New Roman" panose="02020603050405020304" pitchFamily="18" charset="0"/>
                <a:ea typeface="宋体" panose="02010600030101010101" pitchFamily="2" charset="-122"/>
                <a:cs typeface="Times New Roman" panose="02020603050405020304" pitchFamily="18" charset="0"/>
              </a:rPr>
              <a:t>cont.</a:t>
            </a:r>
            <a:r>
              <a:rPr lang="en-US"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en-US" altLang="zh-CN" sz="2400" b="1" i="0" dirty="0">
              <a:solidFill>
                <a:schemeClr val="bg1"/>
              </a:solidFill>
              <a:effectLs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0125" y="931829"/>
            <a:ext cx="10536477" cy="481445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66700" indent="-266700">
              <a:lnSpc>
                <a:spcPct val="120000"/>
              </a:lnSpc>
              <a:spcBef>
                <a:spcPts val="300"/>
              </a:spcBef>
              <a:buClr>
                <a:srgbClr val="0B61FF"/>
              </a:buClr>
              <a:buSzPct val="80000"/>
              <a:buFont typeface="Wingdings" panose="05000000000000000000" pitchFamily="2" charset="2"/>
              <a:buChar char="n"/>
              <a:tabLst>
                <a:tab pos="266700" algn="l"/>
              </a:tabLst>
            </a:pPr>
            <a:r>
              <a:rPr lang="en-US" altLang="zh-CN" sz="2400" b="1" kern="0" dirty="0">
                <a:latin typeface="Trebuchet MS" panose="020B0603020202020204" pitchFamily="34" charset="0"/>
                <a:ea typeface="宋体" panose="02010600030101010101" pitchFamily="2" charset="-122"/>
              </a:rPr>
              <a:t>Lack of expressive power in predicate logic:</a:t>
            </a:r>
            <a:br>
              <a:rPr lang="en-US" altLang="zh-CN" sz="1600" dirty="0"/>
            </a:br>
            <a:r>
              <a:rPr lang="en-US" altLang="zh-CN" sz="2400" kern="0" dirty="0">
                <a:latin typeface="Trebuchet MS" panose="020B0603020202020204" pitchFamily="34" charset="0"/>
                <a:ea typeface="宋体" panose="02010600030101010101" pitchFamily="2" charset="-122"/>
              </a:rPr>
              <a:t>Propositional logic cannot describe relationships between different individuals (e.g., parent-child relationships, size comparisons). </a:t>
            </a:r>
          </a:p>
          <a:p>
            <a:pPr indent="266700" algn="l">
              <a:lnSpc>
                <a:spcPct val="120000"/>
              </a:lnSpc>
              <a:spcBef>
                <a:spcPts val="300"/>
              </a:spcBef>
              <a:buClr>
                <a:srgbClr val="0B61FF"/>
              </a:buClr>
              <a:buSzPct val="120000"/>
            </a:pPr>
            <a:r>
              <a:rPr lang="en-US" altLang="zh-CN" sz="2400" dirty="0">
                <a:latin typeface="Trebuchet MS" panose="020B0603020202020204" pitchFamily="34" charset="0"/>
              </a:rPr>
              <a:t>For example, it cannot express the existential statement "Some people are mortal" </a:t>
            </a:r>
            <a:r>
              <a:rPr lang="en-US" altLang="zh-CN" sz="2400" b="1" dirty="0">
                <a:latin typeface="Trebuchet MS" panose="020B0603020202020204" pitchFamily="34" charset="0"/>
              </a:rPr>
              <a:t> ∃</a:t>
            </a:r>
            <a:r>
              <a:rPr lang="en-US" altLang="zh-CN" sz="2400" b="1" i="1" dirty="0">
                <a:latin typeface="Trebuchet MS" panose="020B0603020202020204" pitchFamily="34" charset="0"/>
              </a:rPr>
              <a:t>xM</a:t>
            </a:r>
            <a:r>
              <a:rPr lang="en-US" altLang="zh-CN" sz="2400" b="1" dirty="0">
                <a:latin typeface="Trebuchet MS" panose="020B0603020202020204" pitchFamily="34" charset="0"/>
              </a:rPr>
              <a:t>(</a:t>
            </a:r>
            <a:r>
              <a:rPr lang="en-US" altLang="zh-CN" sz="2400" b="1" i="1" dirty="0">
                <a:latin typeface="Trebuchet MS" panose="020B0603020202020204" pitchFamily="34" charset="0"/>
              </a:rPr>
              <a:t>x</a:t>
            </a:r>
            <a:r>
              <a:rPr lang="en-US" altLang="zh-CN" sz="2400" b="1" dirty="0">
                <a:latin typeface="Trebuchet MS" panose="020B0603020202020204" pitchFamily="34" charset="0"/>
              </a:rPr>
              <a:t>).</a:t>
            </a:r>
          </a:p>
          <a:p>
            <a:pPr indent="0" algn="l">
              <a:lnSpc>
                <a:spcPct val="120000"/>
              </a:lnSpc>
              <a:spcBef>
                <a:spcPts val="300"/>
              </a:spcBef>
              <a:buClr>
                <a:srgbClr val="0B61FF"/>
              </a:buClr>
              <a:buSzPct val="120000"/>
              <a:buNone/>
            </a:pPr>
            <a:r>
              <a:rPr lang="en-US" altLang="zh-CN" sz="2400" b="1" dirty="0">
                <a:latin typeface="Trebuchet MS" panose="020B0603020202020204" pitchFamily="34" charset="0"/>
              </a:rPr>
              <a:t>   Example</a:t>
            </a:r>
            <a:r>
              <a:rPr lang="en-US" altLang="zh-CN" sz="2400" b="1" kern="0" dirty="0">
                <a:latin typeface="Trebuchet MS" panose="020B0603020202020204" pitchFamily="34" charset="0"/>
                <a:ea typeface="宋体" panose="02010600030101010101" pitchFamily="2" charset="-122"/>
              </a:rPr>
              <a:t>:</a:t>
            </a:r>
            <a:r>
              <a:rPr lang="en-US" altLang="zh-CN" sz="1600" dirty="0"/>
              <a:t> </a:t>
            </a:r>
            <a:r>
              <a:rPr lang="en-US" altLang="zh-CN" sz="2400" dirty="0">
                <a:latin typeface="Trebuchet MS" panose="020B0603020202020204" pitchFamily="34" charset="0"/>
              </a:rPr>
              <a:t>Theorem proof</a:t>
            </a:r>
            <a:endParaRPr lang="en-US" altLang="zh-CN" sz="2400" b="1" kern="0" dirty="0">
              <a:effectLst/>
              <a:latin typeface="Trebuchet MS" panose="020B0603020202020204" pitchFamily="34" charset="0"/>
              <a:ea typeface="宋体" panose="02010600030101010101" pitchFamily="2" charset="-122"/>
              <a:cs typeface="宋体" panose="02010600030101010101" pitchFamily="2" charset="-122"/>
            </a:endParaRPr>
          </a:p>
          <a:p>
            <a:pPr marL="539750" indent="0" algn="l">
              <a:lnSpc>
                <a:spcPct val="120000"/>
              </a:lnSpc>
              <a:spcBef>
                <a:spcPts val="300"/>
              </a:spcBef>
              <a:buClr>
                <a:srgbClr val="0B61FF"/>
              </a:buClr>
              <a:buSzPct val="120000"/>
              <a:buNone/>
            </a:pPr>
            <a:r>
              <a:rPr lang="en-US" altLang="zh-CN" sz="2400" b="1" dirty="0"/>
              <a:t>Suppose we have a mathematical theorem:</a:t>
            </a:r>
            <a:br>
              <a:rPr lang="en-US" altLang="zh-CN" sz="2400" dirty="0"/>
            </a:br>
            <a:r>
              <a:rPr lang="en-US" altLang="zh-CN" sz="2400" dirty="0"/>
              <a:t>If a number is even, then it is divisible by 2.</a:t>
            </a:r>
          </a:p>
          <a:p>
            <a:pPr marL="539750" indent="0" algn="l">
              <a:lnSpc>
                <a:spcPct val="120000"/>
              </a:lnSpc>
              <a:spcBef>
                <a:spcPts val="300"/>
              </a:spcBef>
              <a:buClr>
                <a:srgbClr val="0B61FF"/>
              </a:buClr>
              <a:buSzPct val="120000"/>
              <a:buNone/>
            </a:pPr>
            <a:r>
              <a:rPr lang="en-US" altLang="zh-CN" sz="2400" b="1" dirty="0">
                <a:latin typeface="Trebuchet MS" panose="020B0603020202020204" pitchFamily="34" charset="0"/>
              </a:rPr>
              <a:t>Specific proposition:</a:t>
            </a:r>
            <a:r>
              <a:rPr lang="en-US" altLang="zh-CN" sz="2400" dirty="0">
                <a:latin typeface="Trebuchet MS" panose="020B0603020202020204" pitchFamily="34" charset="0"/>
              </a:rPr>
              <a:t> "4 is even."</a:t>
            </a:r>
            <a:br>
              <a:rPr lang="en-US" altLang="zh-CN" sz="2400" dirty="0">
                <a:latin typeface="Trebuchet MS" panose="020B0603020202020204" pitchFamily="34" charset="0"/>
              </a:rPr>
            </a:br>
            <a:r>
              <a:rPr lang="en-US" altLang="zh-CN" sz="2400" b="1" dirty="0">
                <a:latin typeface="Trebuchet MS" panose="020B0603020202020204" pitchFamily="34" charset="0"/>
              </a:rPr>
              <a:t>Conclusion:</a:t>
            </a:r>
            <a:r>
              <a:rPr lang="en-US" altLang="zh-CN" sz="2400" dirty="0">
                <a:latin typeface="Trebuchet MS" panose="020B0603020202020204" pitchFamily="34" charset="0"/>
              </a:rPr>
              <a:t> "4 is divisible by 2."</a:t>
            </a:r>
            <a:endParaRPr lang="zh-CN" altLang="zh-CN" sz="2400" kern="100" dirty="0">
              <a:effectLst/>
              <a:latin typeface="Trebuchet MS" panose="020B0603020202020204" pitchFamily="34" charset="0"/>
              <a:ea typeface="宋体" panose="02010600030101010101" pitchFamily="2" charset="-122"/>
              <a:cs typeface="Times New Roman" panose="02020603050405020304" pitchFamily="18" charset="0"/>
            </a:endParaRPr>
          </a:p>
        </p:txBody>
      </p:sp>
      <p:pic>
        <p:nvPicPr>
          <p:cNvPr id="11" name="图片 10">
            <a:extLst>
              <a:ext uri="{FF2B5EF4-FFF2-40B4-BE49-F238E27FC236}">
                <a16:creationId xmlns:a16="http://schemas.microsoft.com/office/drawing/2014/main" id="{781E38FA-EA86-4742-9A02-8652E9DD1A15}"/>
              </a:ext>
            </a:extLst>
          </p:cNvPr>
          <p:cNvPicPr/>
          <p:nvPr/>
        </p:nvPicPr>
        <p:blipFill>
          <a:blip r:embed="rId5"/>
          <a:stretch>
            <a:fillRect/>
          </a:stretch>
        </p:blipFill>
        <p:spPr>
          <a:xfrm>
            <a:off x="1000125" y="3332077"/>
            <a:ext cx="577850" cy="241300"/>
          </a:xfrm>
          <a:prstGeom prst="rect">
            <a:avLst/>
          </a:prstGeom>
        </p:spPr>
      </p:pic>
    </p:spTree>
    <p:extLst>
      <p:ext uri="{BB962C8B-B14F-4D97-AF65-F5344CB8AC3E}">
        <p14:creationId xmlns:p14="http://schemas.microsoft.com/office/powerpoint/2010/main" val="213828472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animEffect transition="in" filter="fade">
                                      <p:cBhvr>
                                        <p:cTn id="7" dur="1000"/>
                                        <p:tgtEl>
                                          <p:spTgt spid="8">
                                            <p:txEl>
                                              <p:pRg st="1" end="1"/>
                                            </p:txEl>
                                          </p:spTgt>
                                        </p:tgtEl>
                                      </p:cBhvr>
                                    </p:animEffect>
                                    <p:anim calcmode="lin" valueType="num">
                                      <p:cBhvr>
                                        <p:cTn id="8" dur="1000" fill="hold"/>
                                        <p:tgtEl>
                                          <p:spTgt spid="8">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1000"/>
                                        <p:tgtEl>
                                          <p:spTgt spid="11"/>
                                        </p:tgtEl>
                                      </p:cBhvr>
                                    </p:animEffect>
                                    <p:anim calcmode="lin" valueType="num">
                                      <p:cBhvr>
                                        <p:cTn id="15" dur="1000" fill="hold"/>
                                        <p:tgtEl>
                                          <p:spTgt spid="11"/>
                                        </p:tgtEl>
                                        <p:attrNameLst>
                                          <p:attrName>ppt_x</p:attrName>
                                        </p:attrNameLst>
                                      </p:cBhvr>
                                      <p:tavLst>
                                        <p:tav tm="0">
                                          <p:val>
                                            <p:strVal val="#ppt_x"/>
                                          </p:val>
                                        </p:tav>
                                        <p:tav tm="100000">
                                          <p:val>
                                            <p:strVal val="#ppt_x"/>
                                          </p:val>
                                        </p:tav>
                                      </p:tavLst>
                                    </p:anim>
                                    <p:anim calcmode="lin" valueType="num">
                                      <p:cBhvr>
                                        <p:cTn id="16" dur="1000" fill="hold"/>
                                        <p:tgtEl>
                                          <p:spTgt spid="11"/>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8">
                                            <p:txEl>
                                              <p:pRg st="2" end="2"/>
                                            </p:txEl>
                                          </p:spTgt>
                                        </p:tgtEl>
                                        <p:attrNameLst>
                                          <p:attrName>style.visibility</p:attrName>
                                        </p:attrNameLst>
                                      </p:cBhvr>
                                      <p:to>
                                        <p:strVal val="visible"/>
                                      </p:to>
                                    </p:set>
                                    <p:animEffect transition="in" filter="fade">
                                      <p:cBhvr>
                                        <p:cTn id="19" dur="1000"/>
                                        <p:tgtEl>
                                          <p:spTgt spid="8">
                                            <p:txEl>
                                              <p:pRg st="2" end="2"/>
                                            </p:txEl>
                                          </p:spTgt>
                                        </p:tgtEl>
                                      </p:cBhvr>
                                    </p:animEffect>
                                    <p:anim calcmode="lin" valueType="num">
                                      <p:cBhvr>
                                        <p:cTn id="20"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8">
                                            <p:txEl>
                                              <p:pRg st="2" end="2"/>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8">
                                            <p:txEl>
                                              <p:pRg st="3" end="3"/>
                                            </p:txEl>
                                          </p:spTgt>
                                        </p:tgtEl>
                                        <p:attrNameLst>
                                          <p:attrName>style.visibility</p:attrName>
                                        </p:attrNameLst>
                                      </p:cBhvr>
                                      <p:to>
                                        <p:strVal val="visible"/>
                                      </p:to>
                                    </p:set>
                                    <p:animEffect transition="in" filter="fade">
                                      <p:cBhvr>
                                        <p:cTn id="24" dur="1000"/>
                                        <p:tgtEl>
                                          <p:spTgt spid="8">
                                            <p:txEl>
                                              <p:pRg st="3" end="3"/>
                                            </p:txEl>
                                          </p:spTgt>
                                        </p:tgtEl>
                                      </p:cBhvr>
                                    </p:animEffect>
                                    <p:anim calcmode="lin" valueType="num">
                                      <p:cBhvr>
                                        <p:cTn id="25"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8">
                                            <p:txEl>
                                              <p:pRg st="3" end="3"/>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8">
                                            <p:txEl>
                                              <p:pRg st="4" end="4"/>
                                            </p:txEl>
                                          </p:spTgt>
                                        </p:tgtEl>
                                        <p:attrNameLst>
                                          <p:attrName>style.visibility</p:attrName>
                                        </p:attrNameLst>
                                      </p:cBhvr>
                                      <p:to>
                                        <p:strVal val="visible"/>
                                      </p:to>
                                    </p:set>
                                    <p:animEffect transition="in" filter="fade">
                                      <p:cBhvr>
                                        <p:cTn id="29" dur="1000"/>
                                        <p:tgtEl>
                                          <p:spTgt spid="8">
                                            <p:txEl>
                                              <p:pRg st="4" end="4"/>
                                            </p:txEl>
                                          </p:spTgt>
                                        </p:tgtEl>
                                      </p:cBhvr>
                                    </p:animEffect>
                                    <p:anim calcmode="lin" valueType="num">
                                      <p:cBhvr>
                                        <p:cTn id="30" dur="1000" fill="hold"/>
                                        <p:tgtEl>
                                          <p:spTgt spid="8">
                                            <p:txEl>
                                              <p:pRg st="4" end="4"/>
                                            </p:txEl>
                                          </p:spTgt>
                                        </p:tgtEl>
                                        <p:attrNameLst>
                                          <p:attrName>ppt_x</p:attrName>
                                        </p:attrNameLst>
                                      </p:cBhvr>
                                      <p:tavLst>
                                        <p:tav tm="0">
                                          <p:val>
                                            <p:strVal val="#ppt_x"/>
                                          </p:val>
                                        </p:tav>
                                        <p:tav tm="100000">
                                          <p:val>
                                            <p:strVal val="#ppt_x"/>
                                          </p:val>
                                        </p:tav>
                                      </p:tavLst>
                                    </p:anim>
                                    <p:anim calcmode="lin" valueType="num">
                                      <p:cBhvr>
                                        <p:cTn id="31" dur="1000" fill="hold"/>
                                        <p:tgtEl>
                                          <p:spTgt spid="8">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l">
              <a:lnSpc>
                <a:spcPct val="110000"/>
              </a:lnSpc>
              <a:spcBef>
                <a:spcPts val="300"/>
              </a:spcBef>
              <a:buClr>
                <a:srgbClr val="0B61FF"/>
              </a:buClr>
              <a:buSzPct val="80000"/>
            </a:pPr>
            <a:r>
              <a:rPr lang="en-US" altLang="zh-CN" sz="2000" b="1" dirty="0">
                <a:effectLst/>
                <a:latin typeface="Cambria Math" panose="02040503050406030204" pitchFamily="18" charset="0"/>
                <a:ea typeface="Cambria Math" panose="02040503050406030204" pitchFamily="18" charset="0"/>
                <a:cs typeface="Times New Roman" panose="02020603050405020304" pitchFamily="18" charset="0"/>
              </a:rPr>
              <a:t>                  </a:t>
            </a:r>
            <a:r>
              <a:rPr lang="en-US" altLang="zh-CN" sz="2000" b="1" i="0" dirty="0">
                <a:solidFill>
                  <a:schemeClr val="bg1"/>
                </a:solidFill>
                <a:effectLst/>
                <a:latin typeface="Trebuchet MS" panose="020B0603020202020204" pitchFamily="34" charset="0"/>
              </a:rPr>
              <a:t>3.1.1 The Limitations of Propositional Logic</a:t>
            </a:r>
          </a:p>
          <a:p>
            <a:pPr>
              <a:lnSpc>
                <a:spcPct val="110000"/>
              </a:lnSpc>
              <a:spcBef>
                <a:spcPts val="300"/>
              </a:spcBef>
              <a:buClr>
                <a:srgbClr val="0B61FF"/>
              </a:buClr>
              <a:buSzPct val="80000"/>
            </a:pPr>
            <a:r>
              <a:rPr lang="en-US" altLang="zh-CN" sz="2400" dirty="0"/>
              <a:t>                 </a:t>
            </a:r>
            <a:r>
              <a:rPr lang="en-US" altLang="zh-CN" sz="2400"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latin typeface="Trebuchet MS" panose="020B0603020202020204" pitchFamily="34" charset="0"/>
              </a:rPr>
              <a:t>The key limitations of propositional logic</a:t>
            </a:r>
            <a:r>
              <a:rPr lang="en-US"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b="1" kern="100" dirty="0">
                <a:solidFill>
                  <a:schemeClr val="accent2"/>
                </a:solidFill>
                <a:effectLst/>
                <a:latin typeface="Times New Roman" panose="02020603050405020304" pitchFamily="18" charset="0"/>
                <a:ea typeface="宋体" panose="02010600030101010101" pitchFamily="2" charset="-122"/>
                <a:cs typeface="Times New Roman" panose="02020603050405020304" pitchFamily="18" charset="0"/>
              </a:rPr>
              <a:t>cont.</a:t>
            </a:r>
            <a:r>
              <a:rPr lang="en-US"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en-US" altLang="zh-CN" sz="2400" b="1" i="0" dirty="0">
              <a:solidFill>
                <a:schemeClr val="bg1"/>
              </a:solidFill>
              <a:effectLs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0125" y="806700"/>
            <a:ext cx="9934575" cy="566966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69875" indent="-269875" algn="l">
              <a:lnSpc>
                <a:spcPct val="100000"/>
              </a:lnSpc>
              <a:spcBef>
                <a:spcPts val="0"/>
              </a:spcBef>
              <a:buClr>
                <a:srgbClr val="0B61FF"/>
              </a:buClr>
              <a:buSzPct val="80000"/>
              <a:buFont typeface="Wingdings" panose="05000000000000000000" pitchFamily="2" charset="2"/>
              <a:buChar char="n"/>
            </a:pPr>
            <a:r>
              <a:rPr lang="en-US" altLang="zh-CN" sz="2400" b="1" dirty="0">
                <a:latin typeface="Trebuchet MS" panose="020B0603020202020204" pitchFamily="34" charset="0"/>
              </a:rPr>
              <a:t>In first-order logic:</a:t>
            </a:r>
            <a:br>
              <a:rPr lang="en-US" altLang="zh-CN" sz="2400" dirty="0">
                <a:latin typeface="Trebuchet MS" panose="020B0603020202020204" pitchFamily="34" charset="0"/>
              </a:rPr>
            </a:br>
            <a:r>
              <a:rPr lang="en-US" altLang="zh-CN" sz="2400" b="1" dirty="0">
                <a:latin typeface="Trebuchet MS" panose="020B0603020202020204" pitchFamily="34" charset="0"/>
              </a:rPr>
              <a:t>∀</a:t>
            </a:r>
            <a:r>
              <a:rPr lang="en-US" altLang="zh-CN" sz="2400" b="1" i="1" dirty="0">
                <a:latin typeface="Trebuchet MS" panose="020B0603020202020204" pitchFamily="34" charset="0"/>
              </a:rPr>
              <a:t>x</a:t>
            </a:r>
            <a:r>
              <a:rPr lang="en-US" altLang="zh-CN" sz="2400" b="1" dirty="0">
                <a:latin typeface="Trebuchet MS" panose="020B0603020202020204" pitchFamily="34" charset="0"/>
              </a:rPr>
              <a:t>(</a:t>
            </a:r>
            <a:r>
              <a:rPr lang="en-US" altLang="zh-CN" sz="2400" b="1" i="1" dirty="0">
                <a:latin typeface="Trebuchet MS" panose="020B0603020202020204" pitchFamily="34" charset="0"/>
              </a:rPr>
              <a:t>E</a:t>
            </a:r>
            <a:r>
              <a:rPr lang="en-US" altLang="zh-CN" sz="2400" b="1" dirty="0">
                <a:latin typeface="Trebuchet MS" panose="020B0603020202020204" pitchFamily="34" charset="0"/>
              </a:rPr>
              <a:t>(</a:t>
            </a:r>
            <a:r>
              <a:rPr lang="en-US" altLang="zh-CN" sz="2400" b="1" i="1" dirty="0">
                <a:latin typeface="Trebuchet MS" panose="020B0603020202020204" pitchFamily="34" charset="0"/>
              </a:rPr>
              <a:t>x</a:t>
            </a:r>
            <a:r>
              <a:rPr lang="en-US" altLang="zh-CN" sz="2400" b="1" dirty="0">
                <a:latin typeface="Trebuchet MS" panose="020B0603020202020204" pitchFamily="34" charset="0"/>
              </a:rPr>
              <a:t>)→</a:t>
            </a:r>
            <a:r>
              <a:rPr lang="en-US" altLang="zh-CN" sz="2400" b="1" i="1" dirty="0">
                <a:latin typeface="Trebuchet MS" panose="020B0603020202020204" pitchFamily="34" charset="0"/>
              </a:rPr>
              <a:t>D</a:t>
            </a:r>
            <a:r>
              <a:rPr lang="en-US" altLang="zh-CN" sz="2400" b="1" dirty="0">
                <a:latin typeface="Trebuchet MS" panose="020B0603020202020204" pitchFamily="34" charset="0"/>
              </a:rPr>
              <a:t>(</a:t>
            </a:r>
            <a:r>
              <a:rPr lang="en-US" altLang="zh-CN" sz="2400" b="1" i="1" dirty="0">
                <a:latin typeface="Trebuchet MS" panose="020B0603020202020204" pitchFamily="34" charset="0"/>
              </a:rPr>
              <a:t>x</a:t>
            </a:r>
            <a:r>
              <a:rPr lang="en-US" altLang="zh-CN" sz="2400" b="1" dirty="0">
                <a:latin typeface="Trebuchet MS" panose="020B0603020202020204" pitchFamily="34" charset="0"/>
              </a:rPr>
              <a:t>))    </a:t>
            </a:r>
            <a:r>
              <a:rPr lang="en-US" altLang="zh-CN" sz="2400" dirty="0">
                <a:latin typeface="Trebuchet MS" panose="020B0603020202020204" pitchFamily="34" charset="0"/>
              </a:rPr>
              <a:t>(All even numbers are divisible by 2).</a:t>
            </a:r>
            <a:br>
              <a:rPr lang="en-US" altLang="zh-CN" sz="2400" dirty="0">
                <a:latin typeface="Trebuchet MS" panose="020B0603020202020204" pitchFamily="34" charset="0"/>
              </a:rPr>
            </a:br>
            <a:r>
              <a:rPr lang="en-US" altLang="zh-CN" sz="2400" b="1" i="1" dirty="0">
                <a:latin typeface="Trebuchet MS" panose="020B0603020202020204" pitchFamily="34" charset="0"/>
              </a:rPr>
              <a:t>E</a:t>
            </a:r>
            <a:r>
              <a:rPr lang="en-US" altLang="zh-CN" sz="2400" dirty="0">
                <a:latin typeface="Trebuchet MS" panose="020B0603020202020204" pitchFamily="34" charset="0"/>
              </a:rPr>
              <a:t>(</a:t>
            </a:r>
            <a:r>
              <a:rPr lang="en-US" altLang="zh-CN" sz="2400" b="1" dirty="0">
                <a:latin typeface="Trebuchet MS" panose="020B0603020202020204" pitchFamily="34" charset="0"/>
              </a:rPr>
              <a:t>4</a:t>
            </a:r>
            <a:r>
              <a:rPr lang="en-US" altLang="zh-CN" sz="2400" dirty="0">
                <a:latin typeface="Trebuchet MS" panose="020B0603020202020204" pitchFamily="34" charset="0"/>
              </a:rPr>
              <a:t>) (4 is even).</a:t>
            </a:r>
            <a:br>
              <a:rPr lang="en-US" altLang="zh-CN" sz="2400" dirty="0">
                <a:latin typeface="Trebuchet MS" panose="020B0603020202020204" pitchFamily="34" charset="0"/>
              </a:rPr>
            </a:br>
            <a:r>
              <a:rPr lang="en-US" altLang="zh-CN" sz="2400" b="1" dirty="0">
                <a:latin typeface="Trebuchet MS" panose="020B0603020202020204" pitchFamily="34" charset="0"/>
              </a:rPr>
              <a:t>Conclusion:</a:t>
            </a:r>
            <a:r>
              <a:rPr lang="en-US" altLang="zh-CN" sz="2400" dirty="0">
                <a:latin typeface="Trebuchet MS" panose="020B0603020202020204" pitchFamily="34" charset="0"/>
              </a:rPr>
              <a:t> </a:t>
            </a:r>
            <a:r>
              <a:rPr lang="en-US" altLang="zh-CN" sz="2400" b="1" dirty="0">
                <a:latin typeface="Trebuchet MS" panose="020B0603020202020204" pitchFamily="34" charset="0"/>
              </a:rPr>
              <a:t>D</a:t>
            </a:r>
            <a:r>
              <a:rPr lang="en-US" altLang="zh-CN" sz="2400" dirty="0">
                <a:latin typeface="Trebuchet MS" panose="020B0603020202020204" pitchFamily="34" charset="0"/>
              </a:rPr>
              <a:t>(</a:t>
            </a:r>
            <a:r>
              <a:rPr lang="en-US" altLang="zh-CN" sz="2400" b="1" dirty="0">
                <a:latin typeface="Trebuchet MS" panose="020B0603020202020204" pitchFamily="34" charset="0"/>
              </a:rPr>
              <a:t>4</a:t>
            </a:r>
            <a:r>
              <a:rPr lang="en-US" altLang="zh-CN" sz="2400" dirty="0">
                <a:latin typeface="Trebuchet MS" panose="020B0603020202020204" pitchFamily="34" charset="0"/>
              </a:rPr>
              <a:t>) (4 is divisible by 2).</a:t>
            </a:r>
          </a:p>
          <a:p>
            <a:pPr marL="269875" indent="-269875" algn="l">
              <a:lnSpc>
                <a:spcPct val="100000"/>
              </a:lnSpc>
              <a:spcBef>
                <a:spcPts val="0"/>
              </a:spcBef>
              <a:buClr>
                <a:srgbClr val="0B61FF"/>
              </a:buClr>
              <a:buSzPct val="80000"/>
              <a:buFont typeface="Wingdings" panose="05000000000000000000" pitchFamily="2" charset="2"/>
              <a:buChar char="n"/>
            </a:pPr>
            <a:r>
              <a:rPr lang="en-US" altLang="zh-CN" sz="2400" b="1" dirty="0">
                <a:latin typeface="Trebuchet MS" panose="020B0603020202020204" pitchFamily="34" charset="0"/>
              </a:rPr>
              <a:t>Using propositional logic:</a:t>
            </a:r>
            <a:br>
              <a:rPr lang="en-US" altLang="zh-CN" sz="2400" dirty="0">
                <a:latin typeface="Trebuchet MS" panose="020B0603020202020204" pitchFamily="34" charset="0"/>
              </a:rPr>
            </a:br>
            <a:r>
              <a:rPr lang="en-US" altLang="zh-CN" sz="2400" dirty="0">
                <a:latin typeface="Trebuchet MS" panose="020B0603020202020204" pitchFamily="34" charset="0"/>
              </a:rPr>
              <a:t>Let </a:t>
            </a:r>
            <a:r>
              <a:rPr lang="en-US" altLang="zh-CN" sz="2400" b="1" i="1" dirty="0">
                <a:latin typeface="Trebuchet MS" panose="020B0603020202020204" pitchFamily="34" charset="0"/>
              </a:rPr>
              <a:t>P</a:t>
            </a:r>
            <a:r>
              <a:rPr lang="en-US" altLang="zh-CN" sz="2400" dirty="0">
                <a:latin typeface="Trebuchet MS" panose="020B0603020202020204" pitchFamily="34" charset="0"/>
              </a:rPr>
              <a:t> represent  "All even numbers are divisible by 2."</a:t>
            </a:r>
            <a:br>
              <a:rPr lang="en-US" altLang="zh-CN" sz="2400" dirty="0">
                <a:latin typeface="Trebuchet MS" panose="020B0603020202020204" pitchFamily="34" charset="0"/>
              </a:rPr>
            </a:br>
            <a:r>
              <a:rPr lang="en-US" altLang="zh-CN" sz="2400" dirty="0">
                <a:latin typeface="Trebuchet MS" panose="020B0603020202020204" pitchFamily="34" charset="0"/>
              </a:rPr>
              <a:t>Let </a:t>
            </a:r>
            <a:r>
              <a:rPr lang="en-US" altLang="zh-CN" sz="2400" b="1" i="1" dirty="0">
                <a:latin typeface="Trebuchet MS" panose="020B0603020202020204" pitchFamily="34" charset="0"/>
              </a:rPr>
              <a:t>Q</a:t>
            </a:r>
            <a:r>
              <a:rPr lang="en-US" altLang="zh-CN" sz="2400" dirty="0">
                <a:latin typeface="Trebuchet MS" panose="020B0603020202020204" pitchFamily="34" charset="0"/>
              </a:rPr>
              <a:t> represent  "4 is even."</a:t>
            </a:r>
            <a:br>
              <a:rPr lang="en-US" altLang="zh-CN" sz="2400" dirty="0">
                <a:latin typeface="Trebuchet MS" panose="020B0603020202020204" pitchFamily="34" charset="0"/>
              </a:rPr>
            </a:br>
            <a:r>
              <a:rPr lang="en-US" altLang="zh-CN" sz="2400" dirty="0">
                <a:latin typeface="Trebuchet MS" panose="020B0603020202020204" pitchFamily="34" charset="0"/>
              </a:rPr>
              <a:t>Let </a:t>
            </a:r>
            <a:r>
              <a:rPr lang="en-US" altLang="zh-CN" sz="2400" b="1" i="1" dirty="0">
                <a:latin typeface="Trebuchet MS" panose="020B0603020202020204" pitchFamily="34" charset="0"/>
              </a:rPr>
              <a:t>R</a:t>
            </a:r>
            <a:r>
              <a:rPr lang="en-US" altLang="zh-CN" sz="2400" dirty="0">
                <a:latin typeface="Trebuchet MS" panose="020B0603020202020204" pitchFamily="34" charset="0"/>
              </a:rPr>
              <a:t> represent  "4 is divisible by 2."</a:t>
            </a:r>
            <a:br>
              <a:rPr lang="en-US" altLang="zh-CN" sz="2400" dirty="0">
                <a:latin typeface="Trebuchet MS" panose="020B0603020202020204" pitchFamily="34" charset="0"/>
              </a:rPr>
            </a:br>
            <a:r>
              <a:rPr lang="en-US" altLang="zh-CN" sz="2400" dirty="0">
                <a:latin typeface="Trebuchet MS" panose="020B0603020202020204" pitchFamily="34" charset="0"/>
              </a:rPr>
              <a:t>The reasoning takes the form: </a:t>
            </a:r>
            <a:r>
              <a:rPr lang="en-US" altLang="zh-CN" sz="2400" b="1" dirty="0">
                <a:latin typeface="Trebuchet MS" panose="020B0603020202020204" pitchFamily="34" charset="0"/>
              </a:rPr>
              <a:t>(</a:t>
            </a:r>
            <a:r>
              <a:rPr lang="en-US" altLang="zh-CN" sz="2400" b="1" i="1" dirty="0">
                <a:latin typeface="Trebuchet MS" panose="020B0603020202020204" pitchFamily="34" charset="0"/>
              </a:rPr>
              <a:t>P</a:t>
            </a:r>
            <a:r>
              <a:rPr lang="en-US" altLang="zh-CN" sz="2400" b="1" dirty="0">
                <a:latin typeface="Trebuchet MS" panose="020B0603020202020204" pitchFamily="34" charset="0"/>
              </a:rPr>
              <a:t>∧</a:t>
            </a:r>
            <a:r>
              <a:rPr lang="en-US" altLang="zh-CN" sz="2400" b="1" i="1" dirty="0">
                <a:latin typeface="Trebuchet MS" panose="020B0603020202020204" pitchFamily="34" charset="0"/>
              </a:rPr>
              <a:t>Q</a:t>
            </a:r>
            <a:r>
              <a:rPr lang="en-US" altLang="zh-CN" sz="2400" b="1" dirty="0">
                <a:latin typeface="Trebuchet MS" panose="020B0603020202020204" pitchFamily="34" charset="0"/>
              </a:rPr>
              <a:t>)→</a:t>
            </a:r>
            <a:r>
              <a:rPr lang="en-US" altLang="zh-CN" sz="2400" b="1" i="1" dirty="0">
                <a:latin typeface="Trebuchet MS" panose="020B0603020202020204" pitchFamily="34" charset="0"/>
              </a:rPr>
              <a:t>R</a:t>
            </a:r>
            <a:r>
              <a:rPr lang="en-US" altLang="zh-CN" sz="2400" dirty="0">
                <a:latin typeface="Trebuchet MS" panose="020B0603020202020204" pitchFamily="34" charset="0"/>
              </a:rPr>
              <a:t>.</a:t>
            </a:r>
          </a:p>
          <a:p>
            <a:pPr marL="269875" indent="-269875" algn="l">
              <a:lnSpc>
                <a:spcPct val="100000"/>
              </a:lnSpc>
              <a:spcBef>
                <a:spcPts val="0"/>
              </a:spcBef>
              <a:buClr>
                <a:srgbClr val="0B61FF"/>
              </a:buClr>
              <a:buSzPct val="80000"/>
              <a:buFont typeface="Wingdings" panose="05000000000000000000" pitchFamily="2" charset="2"/>
              <a:buChar char="n"/>
            </a:pPr>
            <a:r>
              <a:rPr lang="en-US" altLang="zh-CN" sz="2400" b="1" dirty="0">
                <a:latin typeface="Trebuchet MS" panose="020B0603020202020204" pitchFamily="34" charset="0"/>
              </a:rPr>
              <a:t>Problem:</a:t>
            </a:r>
            <a:br>
              <a:rPr lang="en-US" altLang="zh-CN" sz="2400" dirty="0">
                <a:latin typeface="Trebuchet MS" panose="020B0603020202020204" pitchFamily="34" charset="0"/>
              </a:rPr>
            </a:br>
            <a:r>
              <a:rPr lang="en-US" altLang="zh-CN" sz="2400" b="1" i="1" dirty="0">
                <a:latin typeface="Trebuchet MS" panose="020B0603020202020204" pitchFamily="34" charset="0"/>
              </a:rPr>
              <a:t>P</a:t>
            </a:r>
            <a:r>
              <a:rPr lang="en-US" altLang="zh-CN" sz="2400" dirty="0">
                <a:latin typeface="Trebuchet MS" panose="020B0603020202020204" pitchFamily="34" charset="0"/>
              </a:rPr>
              <a:t> is just a single proposition and cannot analyze its internal quantification </a:t>
            </a:r>
            <a:r>
              <a:rPr lang="en-US" altLang="zh-CN" sz="2400" b="1" dirty="0">
                <a:latin typeface="Trebuchet MS" panose="020B0603020202020204" pitchFamily="34" charset="0"/>
              </a:rPr>
              <a:t>∀</a:t>
            </a:r>
            <a:r>
              <a:rPr lang="en-US" altLang="zh-CN" sz="2400" b="1" i="1" dirty="0">
                <a:latin typeface="Trebuchet MS" panose="020B0603020202020204" pitchFamily="34" charset="0"/>
              </a:rPr>
              <a:t>x</a:t>
            </a:r>
            <a:r>
              <a:rPr lang="en-US" altLang="zh-CN" sz="2400" b="1" dirty="0">
                <a:latin typeface="Trebuchet MS" panose="020B0603020202020204" pitchFamily="34" charset="0"/>
              </a:rPr>
              <a:t>(</a:t>
            </a:r>
            <a:r>
              <a:rPr lang="en-US" altLang="zh-CN" sz="2400" b="1" i="1" dirty="0">
                <a:latin typeface="Trebuchet MS" panose="020B0603020202020204" pitchFamily="34" charset="0"/>
              </a:rPr>
              <a:t>E</a:t>
            </a:r>
            <a:r>
              <a:rPr lang="en-US" altLang="zh-CN" sz="2400" b="1" dirty="0">
                <a:latin typeface="Trebuchet MS" panose="020B0603020202020204" pitchFamily="34" charset="0"/>
              </a:rPr>
              <a:t>(</a:t>
            </a:r>
            <a:r>
              <a:rPr lang="en-US" altLang="zh-CN" sz="2400" b="1" i="1" dirty="0">
                <a:latin typeface="Trebuchet MS" panose="020B0603020202020204" pitchFamily="34" charset="0"/>
              </a:rPr>
              <a:t>x</a:t>
            </a:r>
            <a:r>
              <a:rPr lang="en-US" altLang="zh-CN" sz="2400" b="1" dirty="0">
                <a:latin typeface="Trebuchet MS" panose="020B0603020202020204" pitchFamily="34" charset="0"/>
              </a:rPr>
              <a:t>)→</a:t>
            </a:r>
            <a:r>
              <a:rPr lang="en-US" altLang="zh-CN" sz="2400" b="1" i="1" dirty="0">
                <a:latin typeface="Trebuchet MS" panose="020B0603020202020204" pitchFamily="34" charset="0"/>
              </a:rPr>
              <a:t>D</a:t>
            </a:r>
            <a:r>
              <a:rPr lang="en-US" altLang="zh-CN" sz="2400" b="1" dirty="0">
                <a:latin typeface="Trebuchet MS" panose="020B0603020202020204" pitchFamily="34" charset="0"/>
              </a:rPr>
              <a:t>(</a:t>
            </a:r>
            <a:r>
              <a:rPr lang="en-US" altLang="zh-CN" sz="2400" b="1" i="1" dirty="0">
                <a:latin typeface="Trebuchet MS" panose="020B0603020202020204" pitchFamily="34" charset="0"/>
              </a:rPr>
              <a:t>x</a:t>
            </a:r>
            <a:r>
              <a:rPr lang="en-US" altLang="zh-CN" sz="2400" b="1" dirty="0">
                <a:latin typeface="Trebuchet MS" panose="020B0603020202020204" pitchFamily="34" charset="0"/>
              </a:rPr>
              <a:t>))</a:t>
            </a:r>
            <a:br>
              <a:rPr lang="en-US" altLang="zh-CN" sz="2400" dirty="0">
                <a:latin typeface="Trebuchet MS" panose="020B0603020202020204" pitchFamily="34" charset="0"/>
              </a:rPr>
            </a:br>
            <a:r>
              <a:rPr lang="en-US" altLang="zh-CN" sz="2400" dirty="0">
                <a:latin typeface="Trebuchet MS" panose="020B0603020202020204" pitchFamily="34" charset="0"/>
              </a:rPr>
              <a:t>It cannot perform instantiation reasoning (e.g., it cannot directly derive "4 is divisible by 2" from "All even numbers are divisible by 2").</a:t>
            </a:r>
            <a:endParaRPr lang="zh-CN" altLang="zh-CN" sz="2400" kern="100" dirty="0">
              <a:effectLst/>
              <a:latin typeface="Trebuchet MS" panose="020B0603020202020204" pitchFamily="34"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54538574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animEffect transition="in" filter="fade">
                                      <p:cBhvr>
                                        <p:cTn id="7" dur="1000"/>
                                        <p:tgtEl>
                                          <p:spTgt spid="8">
                                            <p:txEl>
                                              <p:pRg st="1" end="1"/>
                                            </p:txEl>
                                          </p:spTgt>
                                        </p:tgtEl>
                                      </p:cBhvr>
                                    </p:animEffect>
                                    <p:anim calcmode="lin" valueType="num">
                                      <p:cBhvr>
                                        <p:cTn id="8" dur="1000" fill="hold"/>
                                        <p:tgtEl>
                                          <p:spTgt spid="8">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8">
                                            <p:txEl>
                                              <p:pRg st="2" end="2"/>
                                            </p:txEl>
                                          </p:spTgt>
                                        </p:tgtEl>
                                        <p:attrNameLst>
                                          <p:attrName>style.visibility</p:attrName>
                                        </p:attrNameLst>
                                      </p:cBhvr>
                                      <p:to>
                                        <p:strVal val="visible"/>
                                      </p:to>
                                    </p:set>
                                    <p:animEffect transition="in" filter="fade">
                                      <p:cBhvr>
                                        <p:cTn id="14" dur="1000"/>
                                        <p:tgtEl>
                                          <p:spTgt spid="8">
                                            <p:txEl>
                                              <p:pRg st="2" end="2"/>
                                            </p:txEl>
                                          </p:spTgt>
                                        </p:tgtEl>
                                      </p:cBhvr>
                                    </p:animEffect>
                                    <p:anim calcmode="lin" valueType="num">
                                      <p:cBhvr>
                                        <p:cTn id="15"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8">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400" b="1" dirty="0">
                <a:solidFill>
                  <a:schemeClr val="bg1"/>
                </a:solidFill>
                <a:latin typeface="Trebuchet MS" panose="020B0603020202020204" pitchFamily="34" charset="0"/>
              </a:rPr>
              <a:t>           3.1 Basic Concepts of First-Order Logic</a:t>
            </a:r>
            <a:endParaRPr lang="en-US" altLang="zh-CN" sz="2000" b="1"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0125" y="892175"/>
            <a:ext cx="10536477" cy="457245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304800" algn="l">
              <a:lnSpc>
                <a:spcPct val="130000"/>
              </a:lnSpc>
              <a:spcBef>
                <a:spcPts val="600"/>
              </a:spcBef>
              <a:buClr>
                <a:srgbClr val="0B61FF"/>
              </a:buClr>
              <a:buSzPct val="80000"/>
              <a:buFont typeface="Wingdings" panose="05000000000000000000" pitchFamily="2" charset="2"/>
              <a:buChar char="n"/>
            </a:pPr>
            <a:r>
              <a:rPr lang="en-US" altLang="zh-CN" sz="2400" b="1" i="0" dirty="0">
                <a:solidFill>
                  <a:schemeClr val="bg2">
                    <a:lumMod val="75000"/>
                  </a:schemeClr>
                </a:solidFill>
                <a:effectLst/>
                <a:latin typeface="Trebuchet MS" panose="020B0603020202020204" pitchFamily="34" charset="0"/>
              </a:rPr>
              <a:t>3.1.1 The Limitations of Propositional Logic</a:t>
            </a:r>
          </a:p>
          <a:p>
            <a:pPr indent="304800">
              <a:lnSpc>
                <a:spcPct val="130000"/>
              </a:lnSpc>
              <a:spcBef>
                <a:spcPts val="600"/>
              </a:spcBef>
              <a:buClr>
                <a:srgbClr val="0B61FF"/>
              </a:buClr>
              <a:buSzPct val="80000"/>
              <a:buFont typeface="Wingdings" panose="05000000000000000000" pitchFamily="2" charset="2"/>
              <a:buChar char="n"/>
            </a:pPr>
            <a:r>
              <a:rPr lang="en-US" altLang="zh-CN" sz="2400" b="1" dirty="0">
                <a:solidFill>
                  <a:srgbClr val="0B61FF"/>
                </a:solidFill>
                <a:latin typeface="Trebuchet MS" panose="020B0603020202020204" pitchFamily="34" charset="0"/>
              </a:rPr>
              <a:t>3.1.2 Individual Terms, Predicates, and Quantifiers</a:t>
            </a:r>
          </a:p>
          <a:p>
            <a:pPr marL="804863" indent="-271463" algn="l">
              <a:buFont typeface="Arial" panose="020B0604020202020204" pitchFamily="34" charset="0"/>
              <a:buChar char="•"/>
            </a:pPr>
            <a:r>
              <a:rPr lang="en-US" altLang="zh-CN" sz="2400" i="0" dirty="0">
                <a:solidFill>
                  <a:srgbClr val="0C0D0E"/>
                </a:solidFill>
                <a:effectLst/>
                <a:latin typeface="Trebuchet MS" panose="020B0603020202020204" pitchFamily="34" charset="0"/>
              </a:rPr>
              <a:t>Individual Constants, Individual Variables, Domain of Discourse, Universe of Discourse</a:t>
            </a:r>
          </a:p>
          <a:p>
            <a:pPr marL="804863" indent="-271463" algn="l">
              <a:buFont typeface="Arial" panose="020B0604020202020204" pitchFamily="34" charset="0"/>
              <a:buChar char="•"/>
            </a:pPr>
            <a:r>
              <a:rPr lang="en-US" altLang="zh-CN" sz="2400" i="0" dirty="0">
                <a:solidFill>
                  <a:srgbClr val="0C0D0E"/>
                </a:solidFill>
                <a:effectLst/>
                <a:latin typeface="Trebuchet MS" panose="020B0603020202020204" pitchFamily="34" charset="0"/>
              </a:rPr>
              <a:t>Propositional Constants, Propositional Variables</a:t>
            </a:r>
          </a:p>
          <a:p>
            <a:pPr marL="804863" indent="-271463" algn="l">
              <a:buFont typeface="Arial" panose="020B0604020202020204" pitchFamily="34" charset="0"/>
              <a:buChar char="•"/>
            </a:pPr>
            <a:r>
              <a:rPr lang="en-US" altLang="zh-CN" sz="2400" i="0" dirty="0">
                <a:solidFill>
                  <a:srgbClr val="0C0D0E"/>
                </a:solidFill>
                <a:effectLst/>
                <a:latin typeface="Trebuchet MS" panose="020B0603020202020204" pitchFamily="34" charset="0"/>
              </a:rPr>
              <a:t>Universal Quantifiers, Existential Quantifiers</a:t>
            </a:r>
            <a:endParaRPr lang="en-US" altLang="zh-CN" sz="2400" b="1" dirty="0">
              <a:solidFill>
                <a:srgbClr val="0B61FF"/>
              </a:solidFill>
              <a:latin typeface="Trebuchet MS" panose="020B0603020202020204" pitchFamily="34" charset="0"/>
            </a:endParaRPr>
          </a:p>
          <a:p>
            <a:pPr indent="304800">
              <a:lnSpc>
                <a:spcPct val="130000"/>
              </a:lnSpc>
              <a:spcBef>
                <a:spcPts val="600"/>
              </a:spcBef>
              <a:buClr>
                <a:srgbClr val="0B61FF"/>
              </a:buClr>
              <a:buSzPct val="80000"/>
              <a:buFont typeface="Wingdings" panose="05000000000000000000" pitchFamily="2" charset="2"/>
              <a:buChar char="n"/>
            </a:pPr>
            <a:r>
              <a:rPr lang="en-US" altLang="zh-CN" sz="2400" b="1" dirty="0">
                <a:solidFill>
                  <a:srgbClr val="0C0D0E"/>
                </a:solidFill>
                <a:latin typeface="Trebuchet MS" panose="020B0603020202020204" pitchFamily="34" charset="0"/>
              </a:rPr>
              <a:t>3.1.3 Symbolization of First-Order Logic</a:t>
            </a:r>
          </a:p>
          <a:p>
            <a:pPr indent="304800">
              <a:lnSpc>
                <a:spcPct val="130000"/>
              </a:lnSpc>
              <a:spcBef>
                <a:spcPts val="600"/>
              </a:spcBef>
              <a:buClr>
                <a:srgbClr val="0B61FF"/>
              </a:buClr>
              <a:buSzPct val="80000"/>
              <a:buFont typeface="Wingdings" panose="05000000000000000000" pitchFamily="2" charset="2"/>
              <a:buChar char="n"/>
            </a:pPr>
            <a:r>
              <a:rPr lang="en-US" altLang="zh-CN" sz="2400" b="1" dirty="0">
                <a:solidFill>
                  <a:srgbClr val="0C0D0E"/>
                </a:solidFill>
                <a:latin typeface="Trebuchet MS" panose="020B0603020202020204" pitchFamily="34" charset="0"/>
              </a:rPr>
              <a:t>3.1.4 First-Order Logic Formulas and Classification</a:t>
            </a:r>
          </a:p>
          <a:p>
            <a:pPr indent="304800">
              <a:lnSpc>
                <a:spcPct val="130000"/>
              </a:lnSpc>
              <a:spcBef>
                <a:spcPts val="600"/>
              </a:spcBef>
              <a:buClr>
                <a:srgbClr val="0B61FF"/>
              </a:buClr>
              <a:buSzPct val="80000"/>
              <a:buFont typeface="Wingdings" panose="05000000000000000000" pitchFamily="2" charset="2"/>
              <a:buChar char="n"/>
            </a:pPr>
            <a:endParaRPr lang="zh-CN" altLang="en-US" b="1" dirty="0">
              <a:latin typeface="Trebuchet MS" panose="020B0603020202020204" pitchFamily="34" charset="0"/>
            </a:endParaRPr>
          </a:p>
        </p:txBody>
      </p:sp>
    </p:spTree>
    <p:extLst>
      <p:ext uri="{BB962C8B-B14F-4D97-AF65-F5344CB8AC3E}">
        <p14:creationId xmlns:p14="http://schemas.microsoft.com/office/powerpoint/2010/main" val="319436346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spcBef>
                <a:spcPts val="600"/>
              </a:spcBef>
              <a:buClr>
                <a:srgbClr val="0B61FF"/>
              </a:buClr>
              <a:buSzPct val="80000"/>
            </a:pPr>
            <a:r>
              <a:rPr lang="en-US" altLang="zh-CN" sz="2000" b="1" dirty="0">
                <a:effectLst/>
                <a:latin typeface="Cambria Math" panose="02040503050406030204" pitchFamily="18" charset="0"/>
                <a:ea typeface="Cambria Math" panose="02040503050406030204" pitchFamily="18" charset="0"/>
                <a:cs typeface="Times New Roman" panose="02020603050405020304" pitchFamily="18" charset="0"/>
              </a:rPr>
              <a:t>                  </a:t>
            </a:r>
            <a:r>
              <a:rPr lang="en-US" altLang="zh-CN" sz="2000" b="1" dirty="0">
                <a:solidFill>
                  <a:schemeClr val="bg1"/>
                </a:solidFill>
                <a:latin typeface="Trebuchet MS" panose="020B0603020202020204" pitchFamily="34" charset="0"/>
              </a:rPr>
              <a:t>3.1.2 Individual Terms, Predicates, and Quantifiers</a:t>
            </a:r>
          </a:p>
          <a:p>
            <a:pPr>
              <a:spcBef>
                <a:spcPts val="600"/>
              </a:spcBef>
              <a:buClr>
                <a:srgbClr val="0B61FF"/>
              </a:buClr>
              <a:buSzPct val="80000"/>
            </a:pPr>
            <a:r>
              <a:rPr lang="en-US" altLang="zh-CN" sz="2400" dirty="0">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2400" dirty="0">
                <a:latin typeface="Trebuchet MS" panose="020B0603020202020204" pitchFamily="34" charset="0"/>
              </a:rPr>
              <a:t> Definition of an individual term</a:t>
            </a:r>
            <a:endParaRPr lang="en-US" altLang="zh-CN" sz="2400" dirty="0">
              <a:solidFill>
                <a:schemeClr val="bg1"/>
              </a:solidFill>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0124" y="765175"/>
            <a:ext cx="10353676" cy="578802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lnSpc>
                <a:spcPct val="110000"/>
              </a:lnSpc>
              <a:spcBef>
                <a:spcPts val="0"/>
              </a:spcBef>
              <a:buClr>
                <a:srgbClr val="0B61FF"/>
              </a:buClr>
              <a:buSzPct val="80000"/>
              <a:buFont typeface="Wingdings" panose="05000000000000000000" pitchFamily="2" charset="2"/>
              <a:buChar char="n"/>
            </a:pPr>
            <a:r>
              <a:rPr lang="en-US" altLang="zh-CN" sz="2400" b="1" i="1" dirty="0">
                <a:solidFill>
                  <a:srgbClr val="0C0D0E"/>
                </a:solidFill>
                <a:effectLst/>
                <a:latin typeface="Trebuchet MS" panose="020B0603020202020204" pitchFamily="34" charset="0"/>
              </a:rPr>
              <a:t>Individual term</a:t>
            </a:r>
            <a:r>
              <a:rPr lang="en-US" altLang="zh-CN" sz="2400" i="1" dirty="0">
                <a:solidFill>
                  <a:srgbClr val="0C0D0E"/>
                </a:solidFill>
                <a:effectLst/>
                <a:latin typeface="Trebuchet MS" panose="020B0603020202020204" pitchFamily="34" charset="0"/>
              </a:rPr>
              <a:t>:</a:t>
            </a:r>
            <a:r>
              <a:rPr lang="en-US" altLang="zh-CN" sz="2400" b="1" i="0" dirty="0">
                <a:solidFill>
                  <a:srgbClr val="0C0D0E"/>
                </a:solidFill>
                <a:effectLst/>
                <a:latin typeface="Trebuchet MS" panose="020B0603020202020204" pitchFamily="34" charset="0"/>
              </a:rPr>
              <a:t> </a:t>
            </a:r>
            <a:r>
              <a:rPr lang="en-US" altLang="zh-CN" sz="2400" b="0" i="0" dirty="0">
                <a:solidFill>
                  <a:srgbClr val="0C0D0E"/>
                </a:solidFill>
                <a:effectLst/>
                <a:latin typeface="Trebuchet MS" panose="020B0603020202020204" pitchFamily="34" charset="0"/>
              </a:rPr>
              <a:t>Objects, either concrete or abstract, that can exist independently within the scope of study.</a:t>
            </a:r>
          </a:p>
          <a:p>
            <a:pPr algn="l">
              <a:lnSpc>
                <a:spcPct val="110000"/>
              </a:lnSpc>
              <a:spcBef>
                <a:spcPts val="0"/>
              </a:spcBef>
              <a:buClr>
                <a:srgbClr val="0B61FF"/>
              </a:buClr>
              <a:buSzPct val="80000"/>
              <a:buFont typeface="Wingdings" panose="05000000000000000000" pitchFamily="2" charset="2"/>
              <a:buChar char="n"/>
            </a:pPr>
            <a:r>
              <a:rPr lang="en-US" altLang="zh-CN" sz="2400" b="1" i="1" dirty="0">
                <a:solidFill>
                  <a:srgbClr val="0C0D0E"/>
                </a:solidFill>
                <a:effectLst/>
                <a:latin typeface="Trebuchet MS" panose="020B0603020202020204" pitchFamily="34" charset="0"/>
              </a:rPr>
              <a:t>Individual constant</a:t>
            </a:r>
            <a:r>
              <a:rPr lang="en-US" altLang="zh-CN" sz="2400" b="0" i="0" dirty="0">
                <a:solidFill>
                  <a:srgbClr val="0C0D0E"/>
                </a:solidFill>
                <a:effectLst/>
                <a:latin typeface="Trebuchet MS" panose="020B0603020202020204" pitchFamily="34" charset="0"/>
              </a:rPr>
              <a:t>: An individual term representing specific things, denoted by </a:t>
            </a:r>
            <a:r>
              <a:rPr lang="en-US" altLang="zh-CN" sz="2400" b="1" i="1" dirty="0">
                <a:solidFill>
                  <a:srgbClr val="0C0D0E"/>
                </a:solidFill>
                <a:effectLst/>
                <a:latin typeface="Trebuchet MS" panose="020B0603020202020204" pitchFamily="34" charset="0"/>
              </a:rPr>
              <a:t>a</a:t>
            </a:r>
            <a:r>
              <a:rPr lang="en-US" altLang="zh-CN" sz="2400" b="0" i="0" dirty="0">
                <a:solidFill>
                  <a:srgbClr val="0C0D0E"/>
                </a:solidFill>
                <a:effectLst/>
                <a:latin typeface="Trebuchet MS" panose="020B0603020202020204" pitchFamily="34" charset="0"/>
              </a:rPr>
              <a:t>, </a:t>
            </a:r>
            <a:r>
              <a:rPr lang="en-US" altLang="zh-CN" sz="2400" b="1" i="1" dirty="0">
                <a:solidFill>
                  <a:srgbClr val="0C0D0E"/>
                </a:solidFill>
                <a:effectLst/>
                <a:latin typeface="Trebuchet MS" panose="020B0603020202020204" pitchFamily="34" charset="0"/>
              </a:rPr>
              <a:t>b</a:t>
            </a:r>
            <a:r>
              <a:rPr lang="en-US" altLang="zh-CN" sz="2400" b="0" i="0" dirty="0">
                <a:solidFill>
                  <a:srgbClr val="0C0D0E"/>
                </a:solidFill>
                <a:effectLst/>
                <a:latin typeface="Trebuchet MS" panose="020B0603020202020204" pitchFamily="34" charset="0"/>
              </a:rPr>
              <a:t>, </a:t>
            </a:r>
            <a:r>
              <a:rPr lang="en-US" altLang="zh-CN" sz="2400" b="1" i="1" dirty="0">
                <a:solidFill>
                  <a:srgbClr val="0C0D0E"/>
                </a:solidFill>
                <a:effectLst/>
                <a:latin typeface="Trebuchet MS" panose="020B0603020202020204" pitchFamily="34" charset="0"/>
              </a:rPr>
              <a:t>c</a:t>
            </a:r>
            <a:r>
              <a:rPr lang="en-US" altLang="zh-CN" sz="2400" b="0" i="0" dirty="0">
                <a:solidFill>
                  <a:srgbClr val="0C0D0E"/>
                </a:solidFill>
                <a:effectLst/>
                <a:latin typeface="Trebuchet MS" panose="020B0603020202020204" pitchFamily="34" charset="0"/>
              </a:rPr>
              <a:t>, etc.</a:t>
            </a:r>
          </a:p>
          <a:p>
            <a:pPr algn="l">
              <a:lnSpc>
                <a:spcPct val="110000"/>
              </a:lnSpc>
              <a:spcBef>
                <a:spcPts val="0"/>
              </a:spcBef>
              <a:buClr>
                <a:srgbClr val="0B61FF"/>
              </a:buClr>
              <a:buSzPct val="80000"/>
              <a:buFont typeface="Wingdings" panose="05000000000000000000" pitchFamily="2" charset="2"/>
              <a:buChar char="n"/>
            </a:pPr>
            <a:r>
              <a:rPr lang="en-US" altLang="zh-CN" sz="2400" b="1" i="1" dirty="0">
                <a:solidFill>
                  <a:srgbClr val="0C0D0E"/>
                </a:solidFill>
                <a:effectLst/>
                <a:latin typeface="Trebuchet MS" panose="020B0603020202020204" pitchFamily="34" charset="0"/>
              </a:rPr>
              <a:t>Individual variable</a:t>
            </a:r>
            <a:r>
              <a:rPr lang="en-US" altLang="zh-CN" sz="2400" b="0" i="0" dirty="0">
                <a:solidFill>
                  <a:srgbClr val="0C0D0E"/>
                </a:solidFill>
                <a:effectLst/>
                <a:latin typeface="Trebuchet MS" panose="020B0603020202020204" pitchFamily="34" charset="0"/>
              </a:rPr>
              <a:t>: An individual term representing abstract things, denoted by </a:t>
            </a:r>
            <a:r>
              <a:rPr lang="en-US" altLang="zh-CN" sz="2400" b="1" i="1" dirty="0">
                <a:solidFill>
                  <a:srgbClr val="0C0D0E"/>
                </a:solidFill>
                <a:effectLst/>
                <a:latin typeface="Trebuchet MS" panose="020B0603020202020204" pitchFamily="34" charset="0"/>
              </a:rPr>
              <a:t>x</a:t>
            </a:r>
            <a:r>
              <a:rPr lang="en-US" altLang="zh-CN" sz="2400" b="0" i="0" dirty="0">
                <a:solidFill>
                  <a:srgbClr val="0C0D0E"/>
                </a:solidFill>
                <a:effectLst/>
                <a:latin typeface="Trebuchet MS" panose="020B0603020202020204" pitchFamily="34" charset="0"/>
              </a:rPr>
              <a:t>, </a:t>
            </a:r>
            <a:r>
              <a:rPr lang="en-US" altLang="zh-CN" sz="2400" b="1" i="1" dirty="0">
                <a:solidFill>
                  <a:srgbClr val="0C0D0E"/>
                </a:solidFill>
                <a:effectLst/>
                <a:latin typeface="Trebuchet MS" panose="020B0603020202020204" pitchFamily="34" charset="0"/>
              </a:rPr>
              <a:t>y</a:t>
            </a:r>
            <a:r>
              <a:rPr lang="en-US" altLang="zh-CN" sz="2400" b="0" i="0" dirty="0">
                <a:solidFill>
                  <a:srgbClr val="0C0D0E"/>
                </a:solidFill>
                <a:effectLst/>
                <a:latin typeface="Trebuchet MS" panose="020B0603020202020204" pitchFamily="34" charset="0"/>
              </a:rPr>
              <a:t>, </a:t>
            </a:r>
            <a:r>
              <a:rPr lang="en-US" altLang="zh-CN" sz="2400" b="1" i="1" dirty="0">
                <a:solidFill>
                  <a:srgbClr val="0C0D0E"/>
                </a:solidFill>
                <a:effectLst/>
                <a:latin typeface="Trebuchet MS" panose="020B0603020202020204" pitchFamily="34" charset="0"/>
              </a:rPr>
              <a:t>z</a:t>
            </a:r>
            <a:r>
              <a:rPr lang="en-US" altLang="zh-CN" sz="2400" b="0" i="0" dirty="0">
                <a:solidFill>
                  <a:srgbClr val="0C0D0E"/>
                </a:solidFill>
                <a:effectLst/>
                <a:latin typeface="Trebuchet MS" panose="020B0603020202020204" pitchFamily="34" charset="0"/>
              </a:rPr>
              <a:t>, etc.</a:t>
            </a:r>
          </a:p>
          <a:p>
            <a:pPr algn="l">
              <a:lnSpc>
                <a:spcPct val="110000"/>
              </a:lnSpc>
              <a:spcBef>
                <a:spcPts val="0"/>
              </a:spcBef>
              <a:buClr>
                <a:srgbClr val="0B61FF"/>
              </a:buClr>
              <a:buSzPct val="80000"/>
              <a:buFont typeface="Wingdings" panose="05000000000000000000" pitchFamily="2" charset="2"/>
              <a:buChar char="n"/>
            </a:pPr>
            <a:r>
              <a:rPr lang="en-US" altLang="zh-CN" sz="2400" b="1" i="1" dirty="0">
                <a:solidFill>
                  <a:srgbClr val="0C0D0E"/>
                </a:solidFill>
                <a:effectLst/>
                <a:latin typeface="Trebuchet MS" panose="020B0603020202020204" pitchFamily="34" charset="0"/>
              </a:rPr>
              <a:t>Domain of individuals</a:t>
            </a:r>
            <a:r>
              <a:rPr lang="en-US" altLang="zh-CN" sz="2400" b="0" i="0" dirty="0">
                <a:solidFill>
                  <a:srgbClr val="0C0D0E"/>
                </a:solidFill>
                <a:effectLst/>
                <a:latin typeface="Trebuchet MS" panose="020B0603020202020204" pitchFamily="34" charset="0"/>
              </a:rPr>
              <a:t>: The range of values that individual variables can take.</a:t>
            </a:r>
          </a:p>
          <a:p>
            <a:pPr algn="l">
              <a:lnSpc>
                <a:spcPct val="110000"/>
              </a:lnSpc>
              <a:spcBef>
                <a:spcPts val="0"/>
              </a:spcBef>
              <a:buClr>
                <a:srgbClr val="0B61FF"/>
              </a:buClr>
              <a:buSzPct val="80000"/>
              <a:buFont typeface="Wingdings" panose="05000000000000000000" pitchFamily="2" charset="2"/>
              <a:buChar char="n"/>
            </a:pPr>
            <a:r>
              <a:rPr lang="en-US" altLang="zh-CN" sz="2400" b="1" i="1" dirty="0">
                <a:solidFill>
                  <a:srgbClr val="0C0D0E"/>
                </a:solidFill>
                <a:effectLst/>
                <a:latin typeface="Trebuchet MS" panose="020B0603020202020204" pitchFamily="34" charset="0"/>
              </a:rPr>
              <a:t>Universal dom</a:t>
            </a:r>
            <a:r>
              <a:rPr lang="en-US" altLang="zh-CN" sz="2400" b="1" i="0" dirty="0">
                <a:solidFill>
                  <a:srgbClr val="0C0D0E"/>
                </a:solidFill>
                <a:effectLst/>
                <a:latin typeface="Trebuchet MS" panose="020B0603020202020204" pitchFamily="34" charset="0"/>
              </a:rPr>
              <a:t>ai</a:t>
            </a:r>
            <a:r>
              <a:rPr lang="en-US" altLang="zh-CN" sz="2400" b="0" i="0" dirty="0">
                <a:solidFill>
                  <a:srgbClr val="0C0D0E"/>
                </a:solidFill>
                <a:effectLst/>
                <a:latin typeface="Trebuchet MS" panose="020B0603020202020204" pitchFamily="34" charset="0"/>
              </a:rPr>
              <a:t>n: All things in the universe.</a:t>
            </a:r>
          </a:p>
          <a:p>
            <a:pPr algn="l">
              <a:lnSpc>
                <a:spcPct val="110000"/>
              </a:lnSpc>
              <a:spcBef>
                <a:spcPts val="0"/>
              </a:spcBef>
              <a:buClr>
                <a:srgbClr val="0B61FF"/>
              </a:buClr>
              <a:buSzPct val="80000"/>
              <a:buFont typeface="Wingdings" panose="05000000000000000000" pitchFamily="2" charset="2"/>
              <a:buChar char="n"/>
            </a:pPr>
            <a:r>
              <a:rPr lang="en-US" altLang="zh-CN" sz="2400" b="1" i="0" dirty="0">
                <a:solidFill>
                  <a:srgbClr val="0C0D0E"/>
                </a:solidFill>
                <a:effectLst/>
                <a:latin typeface="Trebuchet MS" panose="020B0603020202020204" pitchFamily="34" charset="0"/>
              </a:rPr>
              <a:t>Such as</a:t>
            </a:r>
            <a:r>
              <a:rPr lang="en-US" altLang="zh-CN" sz="2400" b="0" i="0" dirty="0">
                <a:solidFill>
                  <a:srgbClr val="0C0D0E"/>
                </a:solidFill>
                <a:effectLst/>
                <a:latin typeface="Trebuchet MS" panose="020B0603020202020204" pitchFamily="34" charset="0"/>
              </a:rPr>
              <a:t>: "If </a:t>
            </a:r>
            <a:r>
              <a:rPr lang="en-US" altLang="zh-CN" sz="2400" b="1" i="1" dirty="0">
                <a:solidFill>
                  <a:srgbClr val="0C0D0E"/>
                </a:solidFill>
                <a:effectLst/>
                <a:latin typeface="Trebuchet MS" panose="020B0603020202020204" pitchFamily="34" charset="0"/>
              </a:rPr>
              <a:t>x</a:t>
            </a:r>
            <a:r>
              <a:rPr lang="en-US" altLang="zh-CN" sz="2400" b="0" i="0" dirty="0">
                <a:solidFill>
                  <a:srgbClr val="0C0D0E"/>
                </a:solidFill>
                <a:effectLst/>
                <a:latin typeface="Trebuchet MS" panose="020B0603020202020204" pitchFamily="34" charset="0"/>
              </a:rPr>
              <a:t> is even, then </a:t>
            </a:r>
            <a:r>
              <a:rPr lang="en-US" altLang="zh-CN" sz="2400" b="1" i="1" dirty="0">
                <a:solidFill>
                  <a:srgbClr val="0C0D0E"/>
                </a:solidFill>
                <a:effectLst/>
                <a:latin typeface="Trebuchet MS" panose="020B0603020202020204" pitchFamily="34" charset="0"/>
              </a:rPr>
              <a:t>x</a:t>
            </a:r>
            <a:r>
              <a:rPr lang="en-US" altLang="zh-CN" sz="2400" b="0" i="0" dirty="0">
                <a:solidFill>
                  <a:srgbClr val="0C0D0E"/>
                </a:solidFill>
                <a:effectLst/>
                <a:latin typeface="Trebuchet MS" panose="020B0603020202020204" pitchFamily="34" charset="0"/>
              </a:rPr>
              <a:t> is divisible by </a:t>
            </a:r>
            <a:r>
              <a:rPr lang="en-US" altLang="zh-CN" sz="2400" b="1" i="1" dirty="0">
                <a:solidFill>
                  <a:srgbClr val="0C0D0E"/>
                </a:solidFill>
                <a:effectLst/>
                <a:latin typeface="Trebuchet MS" panose="020B0603020202020204" pitchFamily="34" charset="0"/>
              </a:rPr>
              <a:t>2</a:t>
            </a:r>
            <a:r>
              <a:rPr lang="en-US" altLang="zh-CN" sz="2400" b="0" i="0" dirty="0">
                <a:solidFill>
                  <a:srgbClr val="0C0D0E"/>
                </a:solidFill>
                <a:effectLst/>
                <a:latin typeface="Trebuchet MS" panose="020B0603020202020204" pitchFamily="34" charset="0"/>
              </a:rPr>
              <a:t>."</a:t>
            </a:r>
          </a:p>
          <a:p>
            <a:pPr marL="446088" indent="-174625" algn="l">
              <a:lnSpc>
                <a:spcPct val="110000"/>
              </a:lnSpc>
              <a:spcBef>
                <a:spcPts val="0"/>
              </a:spcBef>
              <a:buClr>
                <a:srgbClr val="0B61FF"/>
              </a:buClr>
              <a:buSzPct val="120000"/>
            </a:pPr>
            <a:r>
              <a:rPr lang="en-US" altLang="zh-CN" sz="2400" b="1" i="1" dirty="0">
                <a:solidFill>
                  <a:srgbClr val="0C0D0E"/>
                </a:solidFill>
                <a:effectLst/>
                <a:latin typeface="Trebuchet MS" panose="020B0603020202020204" pitchFamily="34" charset="0"/>
              </a:rPr>
              <a:t>x</a:t>
            </a:r>
            <a:r>
              <a:rPr lang="en-US" altLang="zh-CN" sz="2400" b="0" i="0" dirty="0">
                <a:solidFill>
                  <a:srgbClr val="0C0D0E"/>
                </a:solidFill>
                <a:effectLst/>
                <a:latin typeface="Trebuchet MS" panose="020B0603020202020204" pitchFamily="34" charset="0"/>
              </a:rPr>
              <a:t>, even, and </a:t>
            </a:r>
            <a:r>
              <a:rPr lang="en-US" altLang="zh-CN" sz="2400" b="1" i="1" dirty="0">
                <a:solidFill>
                  <a:srgbClr val="0C0D0E"/>
                </a:solidFill>
                <a:effectLst/>
                <a:latin typeface="Trebuchet MS" panose="020B0603020202020204" pitchFamily="34" charset="0"/>
              </a:rPr>
              <a:t>2</a:t>
            </a:r>
            <a:r>
              <a:rPr lang="en-US" altLang="zh-CN" sz="2400" b="0" i="0" dirty="0">
                <a:solidFill>
                  <a:srgbClr val="0C0D0E"/>
                </a:solidFill>
                <a:effectLst/>
                <a:latin typeface="Trebuchet MS" panose="020B0603020202020204" pitchFamily="34" charset="0"/>
              </a:rPr>
              <a:t> are individual terms; even and </a:t>
            </a:r>
            <a:r>
              <a:rPr lang="en-US" altLang="zh-CN" sz="2400" b="1" i="1" dirty="0">
                <a:solidFill>
                  <a:srgbClr val="0C0D0E"/>
                </a:solidFill>
                <a:effectLst/>
                <a:latin typeface="Trebuchet MS" panose="020B0603020202020204" pitchFamily="34" charset="0"/>
              </a:rPr>
              <a:t>2</a:t>
            </a:r>
            <a:r>
              <a:rPr lang="en-US" altLang="zh-CN" sz="2400" b="0" i="0" dirty="0">
                <a:solidFill>
                  <a:srgbClr val="0C0D0E"/>
                </a:solidFill>
                <a:effectLst/>
                <a:latin typeface="Trebuchet MS" panose="020B0603020202020204" pitchFamily="34" charset="0"/>
              </a:rPr>
              <a:t> are individual constants; x is an individual variable.</a:t>
            </a:r>
          </a:p>
          <a:p>
            <a:pPr indent="217488" algn="l">
              <a:lnSpc>
                <a:spcPct val="110000"/>
              </a:lnSpc>
              <a:spcBef>
                <a:spcPts val="0"/>
              </a:spcBef>
              <a:buClr>
                <a:srgbClr val="0B61FF"/>
              </a:buClr>
              <a:buSzPct val="120000"/>
            </a:pPr>
            <a:r>
              <a:rPr lang="en-US" altLang="zh-CN" sz="2400" b="0" i="0" dirty="0">
                <a:solidFill>
                  <a:srgbClr val="0C0D0E"/>
                </a:solidFill>
                <a:effectLst/>
                <a:latin typeface="Trebuchet MS" panose="020B0603020202020204" pitchFamily="34" charset="0"/>
              </a:rPr>
              <a:t>The domain of individuals can be the set of natural numbers </a:t>
            </a:r>
            <a:r>
              <a:rPr lang="en-US" altLang="zh-CN" sz="2400" b="1" i="1" dirty="0">
                <a:solidFill>
                  <a:srgbClr val="0C0D0E"/>
                </a:solidFill>
                <a:effectLst/>
                <a:latin typeface="Trebuchet MS" panose="020B0603020202020204" pitchFamily="34" charset="0"/>
              </a:rPr>
              <a:t>N</a:t>
            </a:r>
            <a:r>
              <a:rPr lang="en-US" altLang="zh-CN" sz="2400" b="0" i="0" dirty="0">
                <a:solidFill>
                  <a:srgbClr val="0C0D0E"/>
                </a:solidFill>
                <a:effectLst/>
                <a:latin typeface="Trebuchet MS" panose="020B0603020202020204" pitchFamily="34" charset="0"/>
              </a:rPr>
              <a:t>, the set of integers </a:t>
            </a:r>
            <a:r>
              <a:rPr lang="en-US" altLang="zh-CN" sz="2400" b="1" i="1" dirty="0">
                <a:solidFill>
                  <a:srgbClr val="0C0D0E"/>
                </a:solidFill>
                <a:effectLst/>
                <a:latin typeface="Trebuchet MS" panose="020B0603020202020204" pitchFamily="34" charset="0"/>
              </a:rPr>
              <a:t>Z</a:t>
            </a:r>
            <a:r>
              <a:rPr lang="en-US" altLang="zh-CN" sz="2400" b="0" i="0" dirty="0">
                <a:solidFill>
                  <a:srgbClr val="0C0D0E"/>
                </a:solidFill>
                <a:effectLst/>
                <a:latin typeface="Trebuchet MS" panose="020B0603020202020204" pitchFamily="34" charset="0"/>
              </a:rPr>
              <a:t>, etc., or it can be the universal domain.</a:t>
            </a:r>
          </a:p>
          <a:p>
            <a:pPr marL="457200" lvl="1" indent="0">
              <a:lnSpc>
                <a:spcPct val="110000"/>
              </a:lnSpc>
              <a:spcBef>
                <a:spcPts val="0"/>
              </a:spcBef>
              <a:buNone/>
            </a:pPr>
            <a:endParaRPr lang="zh-CN" altLang="en-US" b="1" dirty="0">
              <a:latin typeface="Trebuchet MS" panose="020B0603020202020204" pitchFamily="34" charset="0"/>
            </a:endParaRPr>
          </a:p>
        </p:txBody>
      </p:sp>
    </p:spTree>
    <p:extLst>
      <p:ext uri="{BB962C8B-B14F-4D97-AF65-F5344CB8AC3E}">
        <p14:creationId xmlns:p14="http://schemas.microsoft.com/office/powerpoint/2010/main" val="134051200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animEffect transition="in" filter="fade">
                                      <p:cBhvr>
                                        <p:cTn id="7" dur="1000"/>
                                        <p:tgtEl>
                                          <p:spTgt spid="8">
                                            <p:txEl>
                                              <p:pRg st="1" end="1"/>
                                            </p:txEl>
                                          </p:spTgt>
                                        </p:tgtEl>
                                      </p:cBhvr>
                                    </p:animEffect>
                                    <p:anim calcmode="lin" valueType="num">
                                      <p:cBhvr>
                                        <p:cTn id="8" dur="1000" fill="hold"/>
                                        <p:tgtEl>
                                          <p:spTgt spid="8">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8">
                                            <p:txEl>
                                              <p:pRg st="2" end="2"/>
                                            </p:txEl>
                                          </p:spTgt>
                                        </p:tgtEl>
                                        <p:attrNameLst>
                                          <p:attrName>style.visibility</p:attrName>
                                        </p:attrNameLst>
                                      </p:cBhvr>
                                      <p:to>
                                        <p:strVal val="visible"/>
                                      </p:to>
                                    </p:set>
                                    <p:animEffect transition="in" filter="fade">
                                      <p:cBhvr>
                                        <p:cTn id="14" dur="1000"/>
                                        <p:tgtEl>
                                          <p:spTgt spid="8">
                                            <p:txEl>
                                              <p:pRg st="2" end="2"/>
                                            </p:txEl>
                                          </p:spTgt>
                                        </p:tgtEl>
                                      </p:cBhvr>
                                    </p:animEffect>
                                    <p:anim calcmode="lin" valueType="num">
                                      <p:cBhvr>
                                        <p:cTn id="15"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8">
                                            <p:txEl>
                                              <p:pRg st="3" end="3"/>
                                            </p:txEl>
                                          </p:spTgt>
                                        </p:tgtEl>
                                        <p:attrNameLst>
                                          <p:attrName>style.visibility</p:attrName>
                                        </p:attrNameLst>
                                      </p:cBhvr>
                                      <p:to>
                                        <p:strVal val="visible"/>
                                      </p:to>
                                    </p:set>
                                    <p:animEffect transition="in" filter="fade">
                                      <p:cBhvr>
                                        <p:cTn id="21" dur="1000"/>
                                        <p:tgtEl>
                                          <p:spTgt spid="8">
                                            <p:txEl>
                                              <p:pRg st="3" end="3"/>
                                            </p:txEl>
                                          </p:spTgt>
                                        </p:tgtEl>
                                      </p:cBhvr>
                                    </p:animEffect>
                                    <p:anim calcmode="lin" valueType="num">
                                      <p:cBhvr>
                                        <p:cTn id="22"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8">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8">
                                            <p:txEl>
                                              <p:pRg st="4" end="4"/>
                                            </p:txEl>
                                          </p:spTgt>
                                        </p:tgtEl>
                                        <p:attrNameLst>
                                          <p:attrName>style.visibility</p:attrName>
                                        </p:attrNameLst>
                                      </p:cBhvr>
                                      <p:to>
                                        <p:strVal val="visible"/>
                                      </p:to>
                                    </p:set>
                                    <p:animEffect transition="in" filter="fade">
                                      <p:cBhvr>
                                        <p:cTn id="28" dur="1000"/>
                                        <p:tgtEl>
                                          <p:spTgt spid="8">
                                            <p:txEl>
                                              <p:pRg st="4" end="4"/>
                                            </p:txEl>
                                          </p:spTgt>
                                        </p:tgtEl>
                                      </p:cBhvr>
                                    </p:animEffect>
                                    <p:anim calcmode="lin" valueType="num">
                                      <p:cBhvr>
                                        <p:cTn id="29" dur="1000" fill="hold"/>
                                        <p:tgtEl>
                                          <p:spTgt spid="8">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8">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8">
                                            <p:txEl>
                                              <p:pRg st="5" end="5"/>
                                            </p:txEl>
                                          </p:spTgt>
                                        </p:tgtEl>
                                        <p:attrNameLst>
                                          <p:attrName>style.visibility</p:attrName>
                                        </p:attrNameLst>
                                      </p:cBhvr>
                                      <p:to>
                                        <p:strVal val="visible"/>
                                      </p:to>
                                    </p:set>
                                    <p:animEffect transition="in" filter="fade">
                                      <p:cBhvr>
                                        <p:cTn id="35" dur="1000"/>
                                        <p:tgtEl>
                                          <p:spTgt spid="8">
                                            <p:txEl>
                                              <p:pRg st="5" end="5"/>
                                            </p:txEl>
                                          </p:spTgt>
                                        </p:tgtEl>
                                      </p:cBhvr>
                                    </p:animEffect>
                                    <p:anim calcmode="lin" valueType="num">
                                      <p:cBhvr>
                                        <p:cTn id="36" dur="1000" fill="hold"/>
                                        <p:tgtEl>
                                          <p:spTgt spid="8">
                                            <p:txEl>
                                              <p:pRg st="5" end="5"/>
                                            </p:txEl>
                                          </p:spTgt>
                                        </p:tgtEl>
                                        <p:attrNameLst>
                                          <p:attrName>ppt_x</p:attrName>
                                        </p:attrNameLst>
                                      </p:cBhvr>
                                      <p:tavLst>
                                        <p:tav tm="0">
                                          <p:val>
                                            <p:strVal val="#ppt_x"/>
                                          </p:val>
                                        </p:tav>
                                        <p:tav tm="100000">
                                          <p:val>
                                            <p:strVal val="#ppt_x"/>
                                          </p:val>
                                        </p:tav>
                                      </p:tavLst>
                                    </p:anim>
                                    <p:anim calcmode="lin" valueType="num">
                                      <p:cBhvr>
                                        <p:cTn id="37" dur="1000" fill="hold"/>
                                        <p:tgtEl>
                                          <p:spTgt spid="8">
                                            <p:txEl>
                                              <p:pRg st="5" end="5"/>
                                            </p:txEl>
                                          </p:spTgt>
                                        </p:tgtEl>
                                        <p:attrNameLst>
                                          <p:attrName>ppt_y</p:attrName>
                                        </p:attrNameLst>
                                      </p:cBhvr>
                                      <p:tavLst>
                                        <p:tav tm="0">
                                          <p:val>
                                            <p:strVal val="#ppt_y+.1"/>
                                          </p:val>
                                        </p:tav>
                                        <p:tav tm="100000">
                                          <p:val>
                                            <p:strVal val="#ppt_y"/>
                                          </p:val>
                                        </p:tav>
                                      </p:tavLst>
                                    </p:anim>
                                  </p:childTnLst>
                                </p:cTn>
                              </p:par>
                              <p:par>
                                <p:cTn id="38" presetID="42" presetClass="entr" presetSubtype="0" fill="hold" nodeType="withEffect">
                                  <p:stCondLst>
                                    <p:cond delay="0"/>
                                  </p:stCondLst>
                                  <p:childTnLst>
                                    <p:set>
                                      <p:cBhvr>
                                        <p:cTn id="39" dur="1" fill="hold">
                                          <p:stCondLst>
                                            <p:cond delay="0"/>
                                          </p:stCondLst>
                                        </p:cTn>
                                        <p:tgtEl>
                                          <p:spTgt spid="8">
                                            <p:txEl>
                                              <p:pRg st="6" end="6"/>
                                            </p:txEl>
                                          </p:spTgt>
                                        </p:tgtEl>
                                        <p:attrNameLst>
                                          <p:attrName>style.visibility</p:attrName>
                                        </p:attrNameLst>
                                      </p:cBhvr>
                                      <p:to>
                                        <p:strVal val="visible"/>
                                      </p:to>
                                    </p:set>
                                    <p:animEffect transition="in" filter="fade">
                                      <p:cBhvr>
                                        <p:cTn id="40" dur="1000"/>
                                        <p:tgtEl>
                                          <p:spTgt spid="8">
                                            <p:txEl>
                                              <p:pRg st="6" end="6"/>
                                            </p:txEl>
                                          </p:spTgt>
                                        </p:tgtEl>
                                      </p:cBhvr>
                                    </p:animEffect>
                                    <p:anim calcmode="lin" valueType="num">
                                      <p:cBhvr>
                                        <p:cTn id="41" dur="1000" fill="hold"/>
                                        <p:tgtEl>
                                          <p:spTgt spid="8">
                                            <p:txEl>
                                              <p:pRg st="6" end="6"/>
                                            </p:txEl>
                                          </p:spTgt>
                                        </p:tgtEl>
                                        <p:attrNameLst>
                                          <p:attrName>ppt_x</p:attrName>
                                        </p:attrNameLst>
                                      </p:cBhvr>
                                      <p:tavLst>
                                        <p:tav tm="0">
                                          <p:val>
                                            <p:strVal val="#ppt_x"/>
                                          </p:val>
                                        </p:tav>
                                        <p:tav tm="100000">
                                          <p:val>
                                            <p:strVal val="#ppt_x"/>
                                          </p:val>
                                        </p:tav>
                                      </p:tavLst>
                                    </p:anim>
                                    <p:anim calcmode="lin" valueType="num">
                                      <p:cBhvr>
                                        <p:cTn id="42" dur="1000" fill="hold"/>
                                        <p:tgtEl>
                                          <p:spTgt spid="8">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nodeType="clickEffect">
                                  <p:stCondLst>
                                    <p:cond delay="0"/>
                                  </p:stCondLst>
                                  <p:childTnLst>
                                    <p:set>
                                      <p:cBhvr>
                                        <p:cTn id="46" dur="1" fill="hold">
                                          <p:stCondLst>
                                            <p:cond delay="0"/>
                                          </p:stCondLst>
                                        </p:cTn>
                                        <p:tgtEl>
                                          <p:spTgt spid="8">
                                            <p:txEl>
                                              <p:pRg st="7" end="7"/>
                                            </p:txEl>
                                          </p:spTgt>
                                        </p:tgtEl>
                                        <p:attrNameLst>
                                          <p:attrName>style.visibility</p:attrName>
                                        </p:attrNameLst>
                                      </p:cBhvr>
                                      <p:to>
                                        <p:strVal val="visible"/>
                                      </p:to>
                                    </p:set>
                                    <p:animEffect transition="in" filter="fade">
                                      <p:cBhvr>
                                        <p:cTn id="47" dur="1000"/>
                                        <p:tgtEl>
                                          <p:spTgt spid="8">
                                            <p:txEl>
                                              <p:pRg st="7" end="7"/>
                                            </p:txEl>
                                          </p:spTgt>
                                        </p:tgtEl>
                                      </p:cBhvr>
                                    </p:animEffect>
                                    <p:anim calcmode="lin" valueType="num">
                                      <p:cBhvr>
                                        <p:cTn id="48" dur="1000" fill="hold"/>
                                        <p:tgtEl>
                                          <p:spTgt spid="8">
                                            <p:txEl>
                                              <p:pRg st="7" end="7"/>
                                            </p:txEl>
                                          </p:spTgt>
                                        </p:tgtEl>
                                        <p:attrNameLst>
                                          <p:attrName>ppt_x</p:attrName>
                                        </p:attrNameLst>
                                      </p:cBhvr>
                                      <p:tavLst>
                                        <p:tav tm="0">
                                          <p:val>
                                            <p:strVal val="#ppt_x"/>
                                          </p:val>
                                        </p:tav>
                                        <p:tav tm="100000">
                                          <p:val>
                                            <p:strVal val="#ppt_x"/>
                                          </p:val>
                                        </p:tav>
                                      </p:tavLst>
                                    </p:anim>
                                    <p:anim calcmode="lin" valueType="num">
                                      <p:cBhvr>
                                        <p:cTn id="49" dur="1000" fill="hold"/>
                                        <p:tgtEl>
                                          <p:spTgt spid="8">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spcBef>
                <a:spcPts val="600"/>
              </a:spcBef>
              <a:buClr>
                <a:srgbClr val="0B61FF"/>
              </a:buClr>
              <a:buSzPct val="80000"/>
            </a:pPr>
            <a:r>
              <a:rPr lang="en-US" altLang="zh-CN" sz="2000" b="1" dirty="0">
                <a:effectLst/>
                <a:latin typeface="Cambria Math" panose="02040503050406030204" pitchFamily="18" charset="0"/>
                <a:ea typeface="Cambria Math" panose="02040503050406030204" pitchFamily="18" charset="0"/>
                <a:cs typeface="Times New Roman" panose="02020603050405020304" pitchFamily="18" charset="0"/>
              </a:rPr>
              <a:t>                  </a:t>
            </a:r>
            <a:r>
              <a:rPr lang="en-US" altLang="zh-CN" sz="2000" b="1" dirty="0">
                <a:solidFill>
                  <a:schemeClr val="bg1"/>
                </a:solidFill>
                <a:latin typeface="Trebuchet MS" panose="020B0603020202020204" pitchFamily="34" charset="0"/>
              </a:rPr>
              <a:t>3.1.2 Individual Terms, Predicates, and Quantifiers</a:t>
            </a:r>
          </a:p>
          <a:p>
            <a:pPr>
              <a:spcBef>
                <a:spcPts val="600"/>
              </a:spcBef>
              <a:buClr>
                <a:srgbClr val="0B61FF"/>
              </a:buClr>
              <a:buSzPct val="80000"/>
            </a:pPr>
            <a:r>
              <a:rPr lang="en-US" altLang="zh-CN" sz="2400" dirty="0">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2400" dirty="0">
                <a:latin typeface="Trebuchet MS" panose="020B0603020202020204" pitchFamily="34" charset="0"/>
              </a:rPr>
              <a:t> Definition of a Predicate</a:t>
            </a: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824682" y="765175"/>
            <a:ext cx="10463804" cy="578802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0000"/>
              </a:lnSpc>
              <a:spcBef>
                <a:spcPts val="0"/>
              </a:spcBef>
              <a:buClr>
                <a:srgbClr val="0B61FF"/>
              </a:buClr>
              <a:buSzPct val="80000"/>
              <a:buFont typeface="Wingdings" panose="05000000000000000000" pitchFamily="2" charset="2"/>
              <a:buChar char="n"/>
            </a:pPr>
            <a:r>
              <a:rPr lang="en-US" altLang="zh-CN" sz="2400" b="1" i="1" dirty="0">
                <a:solidFill>
                  <a:srgbClr val="0C0D0E"/>
                </a:solidFill>
                <a:effectLst/>
                <a:latin typeface="Trebuchet MS" panose="020B0603020202020204" pitchFamily="34" charset="0"/>
              </a:rPr>
              <a:t>Predicate</a:t>
            </a:r>
            <a:r>
              <a:rPr lang="en-US" altLang="zh-CN" sz="2400" b="0" i="0" dirty="0">
                <a:solidFill>
                  <a:srgbClr val="0C0D0E"/>
                </a:solidFill>
                <a:effectLst/>
                <a:latin typeface="Trebuchet MS" panose="020B0603020202020204" pitchFamily="34" charset="0"/>
              </a:rPr>
              <a:t>: </a:t>
            </a:r>
            <a:r>
              <a:rPr lang="en-US" altLang="zh-CN" sz="2400" dirty="0">
                <a:solidFill>
                  <a:srgbClr val="0C0D0E"/>
                </a:solidFill>
                <a:latin typeface="Trebuchet MS" panose="020B0603020202020204" pitchFamily="34" charset="0"/>
              </a:rPr>
              <a:t>A word that represents the properties of individual terms or the relationships among them. Predicates are typically denoted by symbols such as </a:t>
            </a:r>
            <a:r>
              <a:rPr lang="en-US" altLang="zh-CN" sz="2400" b="1" i="1" dirty="0">
                <a:solidFill>
                  <a:srgbClr val="0C0D0E"/>
                </a:solidFill>
                <a:latin typeface="Trebuchet MS" panose="020B0603020202020204" pitchFamily="34" charset="0"/>
              </a:rPr>
              <a:t>F</a:t>
            </a:r>
            <a:r>
              <a:rPr lang="en-US" altLang="zh-CN" sz="2400" dirty="0">
                <a:solidFill>
                  <a:srgbClr val="0C0D0E"/>
                </a:solidFill>
                <a:latin typeface="Trebuchet MS" panose="020B0603020202020204" pitchFamily="34" charset="0"/>
              </a:rPr>
              <a:t>, </a:t>
            </a:r>
            <a:r>
              <a:rPr lang="en-US" altLang="zh-CN" sz="2400" b="1" i="1" dirty="0">
                <a:solidFill>
                  <a:srgbClr val="0C0D0E"/>
                </a:solidFill>
                <a:latin typeface="Trebuchet MS" panose="020B0603020202020204" pitchFamily="34" charset="0"/>
              </a:rPr>
              <a:t>G</a:t>
            </a:r>
            <a:r>
              <a:rPr lang="en-US" altLang="zh-CN" sz="2400" dirty="0">
                <a:solidFill>
                  <a:srgbClr val="0C0D0E"/>
                </a:solidFill>
                <a:latin typeface="Trebuchet MS" panose="020B0603020202020204" pitchFamily="34" charset="0"/>
              </a:rPr>
              <a:t>, </a:t>
            </a:r>
            <a:r>
              <a:rPr lang="en-US" altLang="zh-CN" sz="2400" b="1" i="1" dirty="0">
                <a:solidFill>
                  <a:srgbClr val="0C0D0E"/>
                </a:solidFill>
                <a:latin typeface="Trebuchet MS" panose="020B0603020202020204" pitchFamily="34" charset="0"/>
              </a:rPr>
              <a:t>H</a:t>
            </a:r>
            <a:r>
              <a:rPr lang="en-US" altLang="zh-CN" sz="2400" dirty="0">
                <a:solidFill>
                  <a:srgbClr val="0C0D0E"/>
                </a:solidFill>
                <a:latin typeface="Trebuchet MS" panose="020B0603020202020204" pitchFamily="34" charset="0"/>
              </a:rPr>
              <a:t>, and </a:t>
            </a:r>
            <a:r>
              <a:rPr lang="en-US" altLang="zh-CN" sz="2400" b="1" i="1" dirty="0">
                <a:solidFill>
                  <a:srgbClr val="0C0D0E"/>
                </a:solidFill>
                <a:latin typeface="Trebuchet MS" panose="020B0603020202020204" pitchFamily="34" charset="0"/>
              </a:rPr>
              <a:t>P</a:t>
            </a:r>
            <a:r>
              <a:rPr lang="en-US" altLang="zh-CN" sz="2400" dirty="0">
                <a:solidFill>
                  <a:srgbClr val="0C0D0E"/>
                </a:solidFill>
                <a:latin typeface="Trebuchet MS" panose="020B0603020202020204" pitchFamily="34" charset="0"/>
              </a:rPr>
              <a:t>.</a:t>
            </a:r>
            <a:endParaRPr lang="en-US" altLang="zh-CN" sz="2400" b="0" i="0" dirty="0">
              <a:solidFill>
                <a:srgbClr val="0C0D0E"/>
              </a:solidFill>
              <a:effectLst/>
              <a:latin typeface="Trebuchet MS" panose="020B0603020202020204" pitchFamily="34" charset="0"/>
            </a:endParaRPr>
          </a:p>
          <a:p>
            <a:pPr algn="l">
              <a:lnSpc>
                <a:spcPct val="110000"/>
              </a:lnSpc>
              <a:spcBef>
                <a:spcPts val="0"/>
              </a:spcBef>
              <a:buClr>
                <a:srgbClr val="0B61FF"/>
              </a:buClr>
              <a:buSzPct val="80000"/>
              <a:buFont typeface="Wingdings" panose="05000000000000000000" pitchFamily="2" charset="2"/>
              <a:buChar char="n"/>
            </a:pPr>
            <a:r>
              <a:rPr lang="en-US" altLang="zh-CN" sz="2400" b="1" i="1" dirty="0">
                <a:solidFill>
                  <a:srgbClr val="0C0D0E"/>
                </a:solidFill>
                <a:effectLst/>
                <a:latin typeface="Trebuchet MS" panose="020B0603020202020204" pitchFamily="34" charset="0"/>
              </a:rPr>
              <a:t>Predicate constant</a:t>
            </a:r>
            <a:r>
              <a:rPr lang="en-US" altLang="zh-CN" sz="2400" b="0" i="0" dirty="0">
                <a:solidFill>
                  <a:srgbClr val="0C0D0E"/>
                </a:solidFill>
                <a:effectLst/>
                <a:latin typeface="Trebuchet MS" panose="020B0603020202020204" pitchFamily="34" charset="0"/>
              </a:rPr>
              <a:t>: </a:t>
            </a:r>
            <a:r>
              <a:rPr lang="en-US" altLang="zh-CN" sz="2400" dirty="0">
                <a:solidFill>
                  <a:srgbClr val="0C0D0E"/>
                </a:solidFill>
                <a:latin typeface="Trebuchet MS" panose="020B0603020202020204" pitchFamily="34" charset="0"/>
              </a:rPr>
              <a:t>A predicate that represents a </a:t>
            </a:r>
            <a:r>
              <a:rPr lang="en-US" altLang="zh-CN" sz="2400" dirty="0">
                <a:solidFill>
                  <a:srgbClr val="0C0D0E"/>
                </a:solidFill>
                <a:highlight>
                  <a:srgbClr val="FFFF00"/>
                </a:highlight>
                <a:latin typeface="Trebuchet MS" panose="020B0603020202020204" pitchFamily="34" charset="0"/>
              </a:rPr>
              <a:t>specific</a:t>
            </a:r>
            <a:r>
              <a:rPr lang="en-US" altLang="zh-CN" sz="2400" dirty="0">
                <a:solidFill>
                  <a:srgbClr val="0C0D0E"/>
                </a:solidFill>
                <a:latin typeface="Trebuchet MS" panose="020B0603020202020204" pitchFamily="34" charset="0"/>
              </a:rPr>
              <a:t> property or relationship.</a:t>
            </a:r>
          </a:p>
          <a:p>
            <a:pPr algn="l">
              <a:lnSpc>
                <a:spcPct val="110000"/>
              </a:lnSpc>
              <a:spcBef>
                <a:spcPts val="0"/>
              </a:spcBef>
              <a:buClr>
                <a:srgbClr val="0B61FF"/>
              </a:buClr>
              <a:buSzPct val="80000"/>
              <a:buFont typeface="Wingdings" panose="05000000000000000000" pitchFamily="2" charset="2"/>
              <a:buChar char="n"/>
            </a:pPr>
            <a:r>
              <a:rPr lang="en-US" altLang="zh-CN" sz="2400" b="1" i="1" dirty="0">
                <a:solidFill>
                  <a:srgbClr val="0C0D0E"/>
                </a:solidFill>
                <a:effectLst/>
                <a:latin typeface="Trebuchet MS" panose="020B0603020202020204" pitchFamily="34" charset="0"/>
              </a:rPr>
              <a:t>Predicate variable</a:t>
            </a:r>
            <a:r>
              <a:rPr lang="en-US" altLang="zh-CN" sz="2400" b="0" i="0" dirty="0">
                <a:solidFill>
                  <a:srgbClr val="0C0D0E"/>
                </a:solidFill>
                <a:effectLst/>
                <a:latin typeface="Trebuchet MS" panose="020B0603020202020204" pitchFamily="34" charset="0"/>
              </a:rPr>
              <a:t>: </a:t>
            </a:r>
            <a:r>
              <a:rPr lang="en-US" altLang="zh-CN" sz="2400" dirty="0">
                <a:solidFill>
                  <a:srgbClr val="0C0D0E"/>
                </a:solidFill>
                <a:latin typeface="Trebuchet MS" panose="020B0603020202020204" pitchFamily="34" charset="0"/>
              </a:rPr>
              <a:t>A predicate that represents an </a:t>
            </a:r>
            <a:r>
              <a:rPr lang="en-US" altLang="zh-CN" sz="2400" dirty="0">
                <a:solidFill>
                  <a:srgbClr val="0C0D0E"/>
                </a:solidFill>
                <a:highlight>
                  <a:srgbClr val="FFFF00"/>
                </a:highlight>
                <a:latin typeface="Trebuchet MS" panose="020B0603020202020204" pitchFamily="34" charset="0"/>
              </a:rPr>
              <a:t>abstract</a:t>
            </a:r>
            <a:r>
              <a:rPr lang="en-US" altLang="zh-CN" sz="2400" dirty="0">
                <a:solidFill>
                  <a:srgbClr val="0C0D0E"/>
                </a:solidFill>
                <a:latin typeface="Trebuchet MS" panose="020B0603020202020204" pitchFamily="34" charset="0"/>
              </a:rPr>
              <a:t> property or relationship.</a:t>
            </a:r>
          </a:p>
          <a:p>
            <a:pPr algn="l">
              <a:lnSpc>
                <a:spcPct val="110000"/>
              </a:lnSpc>
              <a:spcBef>
                <a:spcPts val="0"/>
              </a:spcBef>
              <a:buClr>
                <a:srgbClr val="0B61FF"/>
              </a:buClr>
              <a:buSzPct val="80000"/>
              <a:buFont typeface="Wingdings" panose="05000000000000000000" pitchFamily="2" charset="2"/>
              <a:buChar char="n"/>
            </a:pPr>
            <a:r>
              <a:rPr lang="en-US" altLang="zh-CN" sz="2400" b="1" i="1" dirty="0">
                <a:solidFill>
                  <a:srgbClr val="0C0D0E"/>
                </a:solidFill>
                <a:effectLst/>
                <a:latin typeface="Trebuchet MS" panose="020B0603020202020204" pitchFamily="34" charset="0"/>
              </a:rPr>
              <a:t>n-ary predicate </a:t>
            </a:r>
            <a:r>
              <a:rPr lang="en-US" altLang="zh-CN" sz="2400" b="1" i="0" dirty="0">
                <a:solidFill>
                  <a:srgbClr val="0C0D0E"/>
                </a:solidFill>
                <a:effectLst/>
                <a:latin typeface="Trebuchet MS" panose="020B0603020202020204" pitchFamily="34" charset="0"/>
              </a:rPr>
              <a:t>P(</a:t>
            </a:r>
            <a:r>
              <a:rPr lang="en-US" altLang="zh-CN" sz="2400" b="1" i="1" dirty="0">
                <a:solidFill>
                  <a:srgbClr val="0C0D0E"/>
                </a:solidFill>
                <a:effectLst/>
                <a:latin typeface="Trebuchet MS" panose="020B0603020202020204" pitchFamily="34" charset="0"/>
              </a:rPr>
              <a:t>x</a:t>
            </a:r>
            <a:r>
              <a:rPr lang="en-US" altLang="zh-CN" sz="2400" b="1" i="0" baseline="-25000" dirty="0">
                <a:solidFill>
                  <a:srgbClr val="0C0D0E"/>
                </a:solidFill>
                <a:effectLst/>
                <a:latin typeface="Trebuchet MS" panose="020B0603020202020204" pitchFamily="34" charset="0"/>
              </a:rPr>
              <a:t>₁</a:t>
            </a:r>
            <a:r>
              <a:rPr lang="en-US" altLang="zh-CN" sz="2400" b="1" i="0" dirty="0">
                <a:solidFill>
                  <a:srgbClr val="0C0D0E"/>
                </a:solidFill>
                <a:effectLst/>
                <a:latin typeface="Trebuchet MS" panose="020B0603020202020204" pitchFamily="34" charset="0"/>
              </a:rPr>
              <a:t>, </a:t>
            </a:r>
            <a:r>
              <a:rPr lang="en-US" altLang="zh-CN" sz="2400" b="1" i="1" dirty="0">
                <a:solidFill>
                  <a:srgbClr val="0C0D0E"/>
                </a:solidFill>
                <a:effectLst/>
                <a:latin typeface="Trebuchet MS" panose="020B0603020202020204" pitchFamily="34" charset="0"/>
              </a:rPr>
              <a:t>x</a:t>
            </a:r>
            <a:r>
              <a:rPr lang="en-US" altLang="zh-CN" sz="2400" b="1" baseline="-25000" dirty="0">
                <a:solidFill>
                  <a:srgbClr val="0C0D0E"/>
                </a:solidFill>
                <a:latin typeface="Trebuchet MS" panose="020B0603020202020204" pitchFamily="34" charset="0"/>
              </a:rPr>
              <a:t>₂</a:t>
            </a:r>
            <a:r>
              <a:rPr lang="en-US" altLang="zh-CN" sz="2400" b="1" i="0" dirty="0">
                <a:solidFill>
                  <a:srgbClr val="0C0D0E"/>
                </a:solidFill>
                <a:effectLst/>
                <a:latin typeface="Trebuchet MS" panose="020B0603020202020204" pitchFamily="34" charset="0"/>
              </a:rPr>
              <a:t>, …, </a:t>
            </a:r>
            <a:r>
              <a:rPr lang="en-US" altLang="zh-CN" sz="2400" b="1" i="1" dirty="0">
                <a:solidFill>
                  <a:srgbClr val="0C0D0E"/>
                </a:solidFill>
                <a:effectLst/>
                <a:latin typeface="Trebuchet MS" panose="020B0603020202020204" pitchFamily="34" charset="0"/>
              </a:rPr>
              <a:t>x</a:t>
            </a:r>
            <a:r>
              <a:rPr lang="en-US" altLang="zh-CN" sz="2400" b="1" baseline="-25000" dirty="0">
                <a:solidFill>
                  <a:srgbClr val="0C0D0E"/>
                </a:solidFill>
                <a:latin typeface="Trebuchet MS" panose="020B0603020202020204" pitchFamily="34" charset="0"/>
              </a:rPr>
              <a:t>ₙ</a:t>
            </a:r>
            <a:r>
              <a:rPr lang="en-US" altLang="zh-CN" sz="2400" b="1" i="0" dirty="0">
                <a:solidFill>
                  <a:srgbClr val="0C0D0E"/>
                </a:solidFill>
                <a:effectLst/>
                <a:latin typeface="Trebuchet MS" panose="020B0603020202020204" pitchFamily="34" charset="0"/>
              </a:rPr>
              <a:t>): </a:t>
            </a:r>
            <a:r>
              <a:rPr lang="en-US" altLang="zh-CN" sz="2400" b="0" i="0" dirty="0">
                <a:solidFill>
                  <a:srgbClr val="0C0D0E"/>
                </a:solidFill>
                <a:effectLst/>
                <a:latin typeface="Trebuchet MS" panose="020B0603020202020204" pitchFamily="34" charset="0"/>
              </a:rPr>
              <a:t>A predicate with </a:t>
            </a:r>
            <a:r>
              <a:rPr lang="en-US" altLang="zh-CN" sz="2400" b="1" i="1" dirty="0">
                <a:solidFill>
                  <a:srgbClr val="0C0D0E"/>
                </a:solidFill>
                <a:effectLst/>
                <a:latin typeface="Trebuchet MS" panose="020B0603020202020204" pitchFamily="34" charset="0"/>
              </a:rPr>
              <a:t>n</a:t>
            </a:r>
            <a:r>
              <a:rPr lang="en-US" altLang="zh-CN" sz="2400" b="0" i="0" dirty="0">
                <a:solidFill>
                  <a:srgbClr val="0C0D0E"/>
                </a:solidFill>
                <a:effectLst/>
                <a:latin typeface="Trebuchet MS" panose="020B0603020202020204" pitchFamily="34" charset="0"/>
              </a:rPr>
              <a:t> propositional variables, defined as an </a:t>
            </a:r>
            <a:r>
              <a:rPr lang="en-US" altLang="zh-CN" sz="2400" b="1" i="1" dirty="0">
                <a:solidFill>
                  <a:srgbClr val="0C0D0E"/>
                </a:solidFill>
                <a:effectLst/>
                <a:latin typeface="Trebuchet MS" panose="020B0603020202020204" pitchFamily="34" charset="0"/>
              </a:rPr>
              <a:t>n</a:t>
            </a:r>
            <a:r>
              <a:rPr lang="en-US" altLang="zh-CN" sz="2400" b="0" i="0" dirty="0">
                <a:solidFill>
                  <a:srgbClr val="0C0D0E"/>
                </a:solidFill>
                <a:effectLst/>
                <a:latin typeface="Trebuchet MS" panose="020B0603020202020204" pitchFamily="34" charset="0"/>
              </a:rPr>
              <a:t>-</a:t>
            </a:r>
            <a:r>
              <a:rPr lang="en-US" altLang="zh-CN" sz="2400" b="1" i="0" dirty="0">
                <a:solidFill>
                  <a:srgbClr val="0C0D0E"/>
                </a:solidFill>
                <a:effectLst/>
                <a:latin typeface="Trebuchet MS" panose="020B0603020202020204" pitchFamily="34" charset="0"/>
              </a:rPr>
              <a:t>ary</a:t>
            </a:r>
            <a:r>
              <a:rPr lang="en-US" altLang="zh-CN" sz="2400" b="0" i="0" dirty="0">
                <a:solidFill>
                  <a:srgbClr val="0C0D0E"/>
                </a:solidFill>
                <a:effectLst/>
                <a:latin typeface="Trebuchet MS" panose="020B0603020202020204" pitchFamily="34" charset="0"/>
              </a:rPr>
              <a:t> function over the domain of individuals with a range of {0, 1}.</a:t>
            </a:r>
          </a:p>
          <a:p>
            <a:pPr algn="l">
              <a:lnSpc>
                <a:spcPct val="110000"/>
              </a:lnSpc>
              <a:spcBef>
                <a:spcPts val="0"/>
              </a:spcBef>
              <a:buClr>
                <a:srgbClr val="0B61FF"/>
              </a:buClr>
              <a:buSzPct val="80000"/>
              <a:buFont typeface="Wingdings" panose="05000000000000000000" pitchFamily="2" charset="2"/>
              <a:buChar char="n"/>
            </a:pPr>
            <a:r>
              <a:rPr lang="en-US" altLang="zh-CN" sz="2400" b="1" i="1" dirty="0">
                <a:solidFill>
                  <a:srgbClr val="0C0D0E"/>
                </a:solidFill>
                <a:effectLst/>
                <a:latin typeface="Trebuchet MS" panose="020B0603020202020204" pitchFamily="34" charset="0"/>
              </a:rPr>
              <a:t>Unary predicate</a:t>
            </a:r>
            <a:r>
              <a:rPr lang="en-US" altLang="zh-CN" sz="2400" b="0" i="0" dirty="0">
                <a:solidFill>
                  <a:srgbClr val="0C0D0E"/>
                </a:solidFill>
                <a:effectLst/>
                <a:latin typeface="Trebuchet MS" panose="020B0603020202020204" pitchFamily="34" charset="0"/>
              </a:rPr>
              <a:t>: Represents properties of things.</a:t>
            </a:r>
          </a:p>
          <a:p>
            <a:pPr algn="l">
              <a:lnSpc>
                <a:spcPct val="110000"/>
              </a:lnSpc>
              <a:spcBef>
                <a:spcPts val="0"/>
              </a:spcBef>
              <a:buClr>
                <a:srgbClr val="0B61FF"/>
              </a:buClr>
              <a:buSzPct val="80000"/>
              <a:buFont typeface="Wingdings" panose="05000000000000000000" pitchFamily="2" charset="2"/>
              <a:buChar char="n"/>
            </a:pPr>
            <a:r>
              <a:rPr lang="en-US" altLang="zh-CN" sz="2400" b="1" i="1" dirty="0">
                <a:solidFill>
                  <a:srgbClr val="0C0D0E"/>
                </a:solidFill>
                <a:effectLst/>
                <a:latin typeface="Trebuchet MS" panose="020B0603020202020204" pitchFamily="34" charset="0"/>
              </a:rPr>
              <a:t>Multi-ary predicate </a:t>
            </a:r>
            <a:r>
              <a:rPr lang="en-US" altLang="zh-CN" sz="2400" b="0" i="0" dirty="0">
                <a:solidFill>
                  <a:srgbClr val="0C0D0E"/>
                </a:solidFill>
                <a:effectLst/>
                <a:latin typeface="Trebuchet MS" panose="020B0603020202020204" pitchFamily="34" charset="0"/>
              </a:rPr>
              <a:t>(</a:t>
            </a:r>
            <a:r>
              <a:rPr lang="en-US" altLang="zh-CN" sz="2400" b="1" i="1" dirty="0">
                <a:solidFill>
                  <a:srgbClr val="0C0D0E"/>
                </a:solidFill>
                <a:effectLst/>
                <a:latin typeface="Trebuchet MS" panose="020B0603020202020204" pitchFamily="34" charset="0"/>
              </a:rPr>
              <a:t>n</a:t>
            </a:r>
            <a:r>
              <a:rPr lang="en-US" altLang="zh-CN" sz="2400" b="0" i="0" dirty="0">
                <a:solidFill>
                  <a:srgbClr val="0C0D0E"/>
                </a:solidFill>
                <a:effectLst/>
                <a:latin typeface="Trebuchet MS" panose="020B0603020202020204" pitchFamily="34" charset="0"/>
              </a:rPr>
              <a:t> ≥ 2): Represents relationships among things.</a:t>
            </a:r>
          </a:p>
          <a:p>
            <a:pPr algn="l">
              <a:lnSpc>
                <a:spcPct val="110000"/>
              </a:lnSpc>
              <a:spcBef>
                <a:spcPts val="0"/>
              </a:spcBef>
              <a:buClr>
                <a:srgbClr val="0B61FF"/>
              </a:buClr>
              <a:buSzPct val="80000"/>
              <a:buFont typeface="Wingdings" panose="05000000000000000000" pitchFamily="2" charset="2"/>
              <a:buChar char="n"/>
            </a:pPr>
            <a:r>
              <a:rPr lang="en-US" altLang="zh-CN" sz="2400" b="1" i="1" dirty="0">
                <a:solidFill>
                  <a:srgbClr val="0C0D0E"/>
                </a:solidFill>
                <a:effectLst/>
                <a:latin typeface="Trebuchet MS" panose="020B0603020202020204" pitchFamily="34" charset="0"/>
              </a:rPr>
              <a:t>0-ary predicate</a:t>
            </a:r>
            <a:r>
              <a:rPr lang="en-US" altLang="zh-CN" sz="2400" b="0" i="0" dirty="0">
                <a:solidFill>
                  <a:srgbClr val="0C0D0E"/>
                </a:solidFill>
                <a:effectLst/>
                <a:latin typeface="Trebuchet MS" panose="020B0603020202020204" pitchFamily="34" charset="0"/>
              </a:rPr>
              <a:t>: A predicate without individual variables, i.e., a propositional constant or propositional variable.</a:t>
            </a:r>
          </a:p>
          <a:p>
            <a:pPr marL="457200" lvl="1" indent="0">
              <a:lnSpc>
                <a:spcPct val="110000"/>
              </a:lnSpc>
              <a:spcBef>
                <a:spcPts val="0"/>
              </a:spcBef>
              <a:buNone/>
            </a:pPr>
            <a:endParaRPr lang="zh-CN" altLang="en-US" b="1" dirty="0">
              <a:latin typeface="Trebuchet MS" panose="020B0603020202020204" pitchFamily="34" charset="0"/>
            </a:endParaRPr>
          </a:p>
        </p:txBody>
      </p:sp>
    </p:spTree>
    <p:extLst>
      <p:ext uri="{BB962C8B-B14F-4D97-AF65-F5344CB8AC3E}">
        <p14:creationId xmlns:p14="http://schemas.microsoft.com/office/powerpoint/2010/main" val="311887088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animEffect transition="in" filter="fade">
                                      <p:cBhvr>
                                        <p:cTn id="7" dur="1000"/>
                                        <p:tgtEl>
                                          <p:spTgt spid="8">
                                            <p:txEl>
                                              <p:pRg st="1" end="1"/>
                                            </p:txEl>
                                          </p:spTgt>
                                        </p:tgtEl>
                                      </p:cBhvr>
                                    </p:animEffect>
                                    <p:anim calcmode="lin" valueType="num">
                                      <p:cBhvr>
                                        <p:cTn id="8" dur="1000" fill="hold"/>
                                        <p:tgtEl>
                                          <p:spTgt spid="8">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8">
                                            <p:txEl>
                                              <p:pRg st="2" end="2"/>
                                            </p:txEl>
                                          </p:spTgt>
                                        </p:tgtEl>
                                        <p:attrNameLst>
                                          <p:attrName>style.visibility</p:attrName>
                                        </p:attrNameLst>
                                      </p:cBhvr>
                                      <p:to>
                                        <p:strVal val="visible"/>
                                      </p:to>
                                    </p:set>
                                    <p:animEffect transition="in" filter="fade">
                                      <p:cBhvr>
                                        <p:cTn id="14" dur="1000"/>
                                        <p:tgtEl>
                                          <p:spTgt spid="8">
                                            <p:txEl>
                                              <p:pRg st="2" end="2"/>
                                            </p:txEl>
                                          </p:spTgt>
                                        </p:tgtEl>
                                      </p:cBhvr>
                                    </p:animEffect>
                                    <p:anim calcmode="lin" valueType="num">
                                      <p:cBhvr>
                                        <p:cTn id="15"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8">
                                            <p:txEl>
                                              <p:pRg st="3" end="3"/>
                                            </p:txEl>
                                          </p:spTgt>
                                        </p:tgtEl>
                                        <p:attrNameLst>
                                          <p:attrName>style.visibility</p:attrName>
                                        </p:attrNameLst>
                                      </p:cBhvr>
                                      <p:to>
                                        <p:strVal val="visible"/>
                                      </p:to>
                                    </p:set>
                                    <p:animEffect transition="in" filter="fade">
                                      <p:cBhvr>
                                        <p:cTn id="21" dur="1000"/>
                                        <p:tgtEl>
                                          <p:spTgt spid="8">
                                            <p:txEl>
                                              <p:pRg st="3" end="3"/>
                                            </p:txEl>
                                          </p:spTgt>
                                        </p:tgtEl>
                                      </p:cBhvr>
                                    </p:animEffect>
                                    <p:anim calcmode="lin" valueType="num">
                                      <p:cBhvr>
                                        <p:cTn id="22"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8">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8">
                                            <p:txEl>
                                              <p:pRg st="4" end="4"/>
                                            </p:txEl>
                                          </p:spTgt>
                                        </p:tgtEl>
                                        <p:attrNameLst>
                                          <p:attrName>style.visibility</p:attrName>
                                        </p:attrNameLst>
                                      </p:cBhvr>
                                      <p:to>
                                        <p:strVal val="visible"/>
                                      </p:to>
                                    </p:set>
                                    <p:animEffect transition="in" filter="fade">
                                      <p:cBhvr>
                                        <p:cTn id="28" dur="1000"/>
                                        <p:tgtEl>
                                          <p:spTgt spid="8">
                                            <p:txEl>
                                              <p:pRg st="4" end="4"/>
                                            </p:txEl>
                                          </p:spTgt>
                                        </p:tgtEl>
                                      </p:cBhvr>
                                    </p:animEffect>
                                    <p:anim calcmode="lin" valueType="num">
                                      <p:cBhvr>
                                        <p:cTn id="29" dur="1000" fill="hold"/>
                                        <p:tgtEl>
                                          <p:spTgt spid="8">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8">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8">
                                            <p:txEl>
                                              <p:pRg st="5" end="5"/>
                                            </p:txEl>
                                          </p:spTgt>
                                        </p:tgtEl>
                                        <p:attrNameLst>
                                          <p:attrName>style.visibility</p:attrName>
                                        </p:attrNameLst>
                                      </p:cBhvr>
                                      <p:to>
                                        <p:strVal val="visible"/>
                                      </p:to>
                                    </p:set>
                                    <p:animEffect transition="in" filter="fade">
                                      <p:cBhvr>
                                        <p:cTn id="35" dur="1000"/>
                                        <p:tgtEl>
                                          <p:spTgt spid="8">
                                            <p:txEl>
                                              <p:pRg st="5" end="5"/>
                                            </p:txEl>
                                          </p:spTgt>
                                        </p:tgtEl>
                                      </p:cBhvr>
                                    </p:animEffect>
                                    <p:anim calcmode="lin" valueType="num">
                                      <p:cBhvr>
                                        <p:cTn id="36" dur="1000" fill="hold"/>
                                        <p:tgtEl>
                                          <p:spTgt spid="8">
                                            <p:txEl>
                                              <p:pRg st="5" end="5"/>
                                            </p:txEl>
                                          </p:spTgt>
                                        </p:tgtEl>
                                        <p:attrNameLst>
                                          <p:attrName>ppt_x</p:attrName>
                                        </p:attrNameLst>
                                      </p:cBhvr>
                                      <p:tavLst>
                                        <p:tav tm="0">
                                          <p:val>
                                            <p:strVal val="#ppt_x"/>
                                          </p:val>
                                        </p:tav>
                                        <p:tav tm="100000">
                                          <p:val>
                                            <p:strVal val="#ppt_x"/>
                                          </p:val>
                                        </p:tav>
                                      </p:tavLst>
                                    </p:anim>
                                    <p:anim calcmode="lin" valueType="num">
                                      <p:cBhvr>
                                        <p:cTn id="37" dur="1000" fill="hold"/>
                                        <p:tgtEl>
                                          <p:spTgt spid="8">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8">
                                            <p:txEl>
                                              <p:pRg st="6" end="6"/>
                                            </p:txEl>
                                          </p:spTgt>
                                        </p:tgtEl>
                                        <p:attrNameLst>
                                          <p:attrName>style.visibility</p:attrName>
                                        </p:attrNameLst>
                                      </p:cBhvr>
                                      <p:to>
                                        <p:strVal val="visible"/>
                                      </p:to>
                                    </p:set>
                                    <p:animEffect transition="in" filter="fade">
                                      <p:cBhvr>
                                        <p:cTn id="42" dur="1000"/>
                                        <p:tgtEl>
                                          <p:spTgt spid="8">
                                            <p:txEl>
                                              <p:pRg st="6" end="6"/>
                                            </p:txEl>
                                          </p:spTgt>
                                        </p:tgtEl>
                                      </p:cBhvr>
                                    </p:animEffect>
                                    <p:anim calcmode="lin" valueType="num">
                                      <p:cBhvr>
                                        <p:cTn id="43" dur="1000" fill="hold"/>
                                        <p:tgtEl>
                                          <p:spTgt spid="8">
                                            <p:txEl>
                                              <p:pRg st="6" end="6"/>
                                            </p:txEl>
                                          </p:spTgt>
                                        </p:tgtEl>
                                        <p:attrNameLst>
                                          <p:attrName>ppt_x</p:attrName>
                                        </p:attrNameLst>
                                      </p:cBhvr>
                                      <p:tavLst>
                                        <p:tav tm="0">
                                          <p:val>
                                            <p:strVal val="#ppt_x"/>
                                          </p:val>
                                        </p:tav>
                                        <p:tav tm="100000">
                                          <p:val>
                                            <p:strVal val="#ppt_x"/>
                                          </p:val>
                                        </p:tav>
                                      </p:tavLst>
                                    </p:anim>
                                    <p:anim calcmode="lin" valueType="num">
                                      <p:cBhvr>
                                        <p:cTn id="44" dur="1000" fill="hold"/>
                                        <p:tgtEl>
                                          <p:spTgt spid="8">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spcBef>
                <a:spcPts val="600"/>
              </a:spcBef>
              <a:buClr>
                <a:srgbClr val="0B61FF"/>
              </a:buClr>
              <a:buSzPct val="80000"/>
            </a:pPr>
            <a:r>
              <a:rPr lang="en-US" altLang="zh-CN" sz="2000" b="1" dirty="0">
                <a:effectLst/>
                <a:latin typeface="Cambria Math" panose="02040503050406030204" pitchFamily="18" charset="0"/>
                <a:ea typeface="Cambria Math" panose="02040503050406030204" pitchFamily="18" charset="0"/>
                <a:cs typeface="Times New Roman" panose="02020603050405020304" pitchFamily="18" charset="0"/>
              </a:rPr>
              <a:t>                  </a:t>
            </a:r>
            <a:r>
              <a:rPr lang="en-US" altLang="zh-CN" sz="2000" b="1" dirty="0">
                <a:solidFill>
                  <a:schemeClr val="bg1"/>
                </a:solidFill>
                <a:latin typeface="Trebuchet MS" panose="020B0603020202020204" pitchFamily="34" charset="0"/>
              </a:rPr>
              <a:t>3.1.2 Individual Terms, Predicates, and Quantifiers</a:t>
            </a:r>
          </a:p>
          <a:p>
            <a:pPr>
              <a:spcBef>
                <a:spcPts val="600"/>
              </a:spcBef>
              <a:buClr>
                <a:srgbClr val="0B61FF"/>
              </a:buClr>
              <a:buSzPct val="80000"/>
            </a:pPr>
            <a:r>
              <a:rPr lang="en-US" altLang="zh-CN" sz="2400" dirty="0">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2400" dirty="0">
                <a:latin typeface="Trebuchet MS" panose="020B0603020202020204" pitchFamily="34" charset="0"/>
              </a:rPr>
              <a:t> Predicate</a:t>
            </a:r>
            <a:r>
              <a:rPr lang="en-US" altLang="zh-CN" sz="2400" dirty="0"/>
              <a:t>  </a:t>
            </a:r>
            <a:r>
              <a:rPr lang="en-US" altLang="zh-CN" sz="2400" dirty="0">
                <a:latin typeface="Trebuchet MS" panose="020B0603020202020204" pitchFamily="34" charset="0"/>
              </a:rPr>
              <a:t>example</a:t>
            </a: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9" name="Rectangle 3">
            <a:extLst>
              <a:ext uri="{FF2B5EF4-FFF2-40B4-BE49-F238E27FC236}">
                <a16:creationId xmlns:a16="http://schemas.microsoft.com/office/drawing/2014/main" id="{61A912AC-0296-4DA8-9B35-A95ED11B6903}"/>
              </a:ext>
            </a:extLst>
          </p:cNvPr>
          <p:cNvSpPr txBox="1">
            <a:spLocks noChangeArrowheads="1"/>
          </p:cNvSpPr>
          <p:nvPr/>
        </p:nvSpPr>
        <p:spPr>
          <a:xfrm>
            <a:off x="1000124" y="765175"/>
            <a:ext cx="10191751" cy="561385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lnSpc>
                <a:spcPct val="100000"/>
              </a:lnSpc>
              <a:buNone/>
            </a:pPr>
            <a:r>
              <a:rPr lang="en-US" altLang="zh-CN" sz="2400" b="1" i="0" dirty="0">
                <a:solidFill>
                  <a:srgbClr val="0B61FF"/>
                </a:solidFill>
                <a:effectLst/>
                <a:latin typeface="Trebuchet MS" panose="020B0603020202020204" pitchFamily="34" charset="0"/>
              </a:rPr>
              <a:t>(1) </a:t>
            </a:r>
            <a:r>
              <a:rPr lang="en-US" altLang="zh-CN" sz="2400" b="1" i="0" dirty="0">
                <a:solidFill>
                  <a:srgbClr val="0C0D0E"/>
                </a:solidFill>
                <a:effectLst/>
                <a:latin typeface="Trebuchet MS" panose="020B0603020202020204" pitchFamily="34" charset="0"/>
              </a:rPr>
              <a:t>4 is even</a:t>
            </a:r>
            <a:endParaRPr lang="en-US" altLang="zh-CN" sz="2400" b="0" i="0" dirty="0">
              <a:solidFill>
                <a:srgbClr val="0C0D0E"/>
              </a:solidFill>
              <a:effectLst/>
              <a:latin typeface="Trebuchet MS" panose="020B0603020202020204" pitchFamily="34" charset="0"/>
            </a:endParaRPr>
          </a:p>
          <a:p>
            <a:pPr marL="457200" lvl="1" indent="0" algn="l">
              <a:lnSpc>
                <a:spcPct val="100000"/>
              </a:lnSpc>
              <a:buClr>
                <a:srgbClr val="0B61FF"/>
              </a:buClr>
              <a:buSzPct val="120000"/>
              <a:buNone/>
            </a:pPr>
            <a:r>
              <a:rPr lang="en-US" altLang="zh-CN" b="1" i="0" dirty="0">
                <a:solidFill>
                  <a:srgbClr val="0B61FF"/>
                </a:solidFill>
                <a:effectLst/>
                <a:latin typeface="Trebuchet MS" panose="020B0603020202020204" pitchFamily="34" charset="0"/>
              </a:rPr>
              <a:t>① </a:t>
            </a:r>
            <a:r>
              <a:rPr lang="en-US" altLang="zh-CN" b="0" i="0" dirty="0">
                <a:solidFill>
                  <a:srgbClr val="0C0D0E"/>
                </a:solidFill>
                <a:effectLst/>
                <a:latin typeface="Trebuchet MS" panose="020B0603020202020204" pitchFamily="34" charset="0"/>
              </a:rPr>
              <a:t>"4" is an individual constant.</a:t>
            </a:r>
            <a:r>
              <a:rPr lang="en-US" altLang="zh-CN" b="1" dirty="0">
                <a:solidFill>
                  <a:srgbClr val="0B61FF"/>
                </a:solidFill>
                <a:latin typeface="Trebuchet MS" panose="020B0603020202020204" pitchFamily="34" charset="0"/>
              </a:rPr>
              <a:t>②</a:t>
            </a:r>
            <a:r>
              <a:rPr lang="en-US" altLang="zh-CN" b="0" i="0" dirty="0">
                <a:solidFill>
                  <a:srgbClr val="0C0D0E"/>
                </a:solidFill>
                <a:effectLst/>
                <a:latin typeface="Trebuchet MS" panose="020B0603020202020204" pitchFamily="34" charset="0"/>
              </a:rPr>
              <a:t> "is even" is a predicate constant.</a:t>
            </a:r>
            <a:r>
              <a:rPr lang="en-US" altLang="zh-CN" b="1" dirty="0">
                <a:solidFill>
                  <a:srgbClr val="0B61FF"/>
                </a:solidFill>
                <a:latin typeface="Trebuchet MS" panose="020B0603020202020204" pitchFamily="34" charset="0"/>
              </a:rPr>
              <a:t>③</a:t>
            </a:r>
            <a:r>
              <a:rPr lang="en-US" altLang="zh-CN" dirty="0"/>
              <a:t> </a:t>
            </a:r>
            <a:r>
              <a:rPr lang="en-US" altLang="zh-CN" b="0" i="0" dirty="0">
                <a:solidFill>
                  <a:srgbClr val="0C0D0E"/>
                </a:solidFill>
                <a:effectLst/>
                <a:latin typeface="Trebuchet MS" panose="020B0603020202020204" pitchFamily="34" charset="0"/>
              </a:rPr>
              <a:t>"</a:t>
            </a:r>
            <a:r>
              <a:rPr lang="en-US" altLang="zh-CN" dirty="0"/>
              <a:t>4 is even</a:t>
            </a:r>
            <a:r>
              <a:rPr lang="en-US" altLang="zh-CN" b="0" i="0" dirty="0">
                <a:solidFill>
                  <a:srgbClr val="0C0D0E"/>
                </a:solidFill>
                <a:effectLst/>
                <a:latin typeface="Trebuchet MS" panose="020B0603020202020204" pitchFamily="34" charset="0"/>
              </a:rPr>
              <a:t> "</a:t>
            </a:r>
            <a:r>
              <a:rPr lang="en-US" altLang="zh-CN" dirty="0"/>
              <a:t> is symbolized as </a:t>
            </a:r>
            <a:r>
              <a:rPr lang="en-US" altLang="zh-CN" b="1" i="1" dirty="0"/>
              <a:t>F</a:t>
            </a:r>
            <a:r>
              <a:rPr lang="en-US" altLang="zh-CN" b="1" dirty="0"/>
              <a:t>(4).</a:t>
            </a:r>
            <a:endParaRPr lang="en-US" altLang="zh-CN" b="0" i="0" dirty="0">
              <a:solidFill>
                <a:srgbClr val="0C0D0E"/>
              </a:solidFill>
              <a:effectLst/>
              <a:latin typeface="Trebuchet MS" panose="020B0603020202020204" pitchFamily="34" charset="0"/>
            </a:endParaRPr>
          </a:p>
          <a:p>
            <a:pPr marL="0" indent="0" algn="l">
              <a:lnSpc>
                <a:spcPct val="100000"/>
              </a:lnSpc>
              <a:buNone/>
            </a:pPr>
            <a:r>
              <a:rPr lang="en-US" altLang="zh-CN" sz="2400" b="1" i="0" dirty="0">
                <a:solidFill>
                  <a:srgbClr val="0B61FF"/>
                </a:solidFill>
                <a:effectLst/>
                <a:latin typeface="Trebuchet MS" panose="020B0603020202020204" pitchFamily="34" charset="0"/>
              </a:rPr>
              <a:t>(2) </a:t>
            </a:r>
            <a:r>
              <a:rPr lang="en-US" altLang="zh-CN" sz="2400" b="1" i="0" dirty="0">
                <a:solidFill>
                  <a:srgbClr val="0C0D0E"/>
                </a:solidFill>
                <a:effectLst/>
                <a:latin typeface="Trebuchet MS" panose="020B0603020202020204" pitchFamily="34" charset="0"/>
              </a:rPr>
              <a:t>Xiao Wang and Xiao Li are the same age</a:t>
            </a:r>
            <a:endParaRPr lang="en-US" altLang="zh-CN" sz="2400" b="0" i="0" dirty="0">
              <a:solidFill>
                <a:srgbClr val="0C0D0E"/>
              </a:solidFill>
              <a:effectLst/>
              <a:latin typeface="Trebuchet MS" panose="020B0603020202020204" pitchFamily="34" charset="0"/>
            </a:endParaRPr>
          </a:p>
          <a:p>
            <a:pPr marL="457200" lvl="1" indent="0" algn="l">
              <a:lnSpc>
                <a:spcPct val="100000"/>
              </a:lnSpc>
              <a:buNone/>
            </a:pPr>
            <a:r>
              <a:rPr lang="en-US" altLang="zh-CN" b="1" i="0" dirty="0">
                <a:solidFill>
                  <a:srgbClr val="0B61FF"/>
                </a:solidFill>
                <a:effectLst/>
                <a:latin typeface="Trebuchet MS" panose="020B0603020202020204" pitchFamily="34" charset="0"/>
              </a:rPr>
              <a:t>① </a:t>
            </a:r>
            <a:r>
              <a:rPr lang="en-US" altLang="zh-CN" b="0" i="0" dirty="0">
                <a:solidFill>
                  <a:srgbClr val="0C0D0E"/>
                </a:solidFill>
                <a:effectLst/>
                <a:latin typeface="Trebuchet MS" panose="020B0603020202020204" pitchFamily="34" charset="0"/>
              </a:rPr>
              <a:t>"Xiao Wang" and "Xiao Li" are individual constants.</a:t>
            </a:r>
            <a:r>
              <a:rPr lang="en-US" altLang="zh-CN" b="1" dirty="0">
                <a:solidFill>
                  <a:srgbClr val="0B61FF"/>
                </a:solidFill>
                <a:latin typeface="Trebuchet MS" panose="020B0603020202020204" pitchFamily="34" charset="0"/>
              </a:rPr>
              <a:t> ② </a:t>
            </a:r>
            <a:r>
              <a:rPr lang="en-US" altLang="zh-CN" b="0" i="0" dirty="0">
                <a:solidFill>
                  <a:srgbClr val="0C0D0E"/>
                </a:solidFill>
                <a:effectLst/>
                <a:latin typeface="Trebuchet MS" panose="020B0603020202020204" pitchFamily="34" charset="0"/>
              </a:rPr>
              <a:t>"are the same age" is a predicate constant.</a:t>
            </a:r>
            <a:r>
              <a:rPr lang="en-US" altLang="zh-CN" b="1" dirty="0">
                <a:solidFill>
                  <a:srgbClr val="0B61FF"/>
                </a:solidFill>
                <a:latin typeface="Trebuchet MS" panose="020B0603020202020204" pitchFamily="34" charset="0"/>
              </a:rPr>
              <a:t> ③ </a:t>
            </a:r>
            <a:r>
              <a:rPr lang="en-US" altLang="zh-CN" b="0" i="0" dirty="0">
                <a:solidFill>
                  <a:srgbClr val="0C0D0E"/>
                </a:solidFill>
                <a:effectLst/>
                <a:latin typeface="Trebuchet MS" panose="020B0603020202020204" pitchFamily="34" charset="0"/>
              </a:rPr>
              <a:t>Let </a:t>
            </a:r>
            <a:r>
              <a:rPr lang="en-US" altLang="zh-CN" b="1" i="1" dirty="0">
                <a:solidFill>
                  <a:srgbClr val="0C0D0E"/>
                </a:solidFill>
                <a:effectLst/>
                <a:latin typeface="Trebuchet MS" panose="020B0603020202020204" pitchFamily="34" charset="0"/>
              </a:rPr>
              <a:t>a</a:t>
            </a:r>
            <a:r>
              <a:rPr lang="en-US" altLang="zh-CN" b="0" i="0" dirty="0">
                <a:solidFill>
                  <a:srgbClr val="0C0D0E"/>
                </a:solidFill>
                <a:effectLst/>
                <a:latin typeface="Trebuchet MS" panose="020B0603020202020204" pitchFamily="34" charset="0"/>
              </a:rPr>
              <a:t>: Xiao Wang, </a:t>
            </a:r>
            <a:r>
              <a:rPr lang="en-US" altLang="zh-CN" b="1" i="1" dirty="0">
                <a:solidFill>
                  <a:srgbClr val="0C0D0E"/>
                </a:solidFill>
                <a:effectLst/>
                <a:latin typeface="Trebuchet MS" panose="020B0603020202020204" pitchFamily="34" charset="0"/>
              </a:rPr>
              <a:t>b</a:t>
            </a:r>
            <a:r>
              <a:rPr lang="en-US" altLang="zh-CN" b="0" i="0" dirty="0">
                <a:solidFill>
                  <a:srgbClr val="0C0D0E"/>
                </a:solidFill>
                <a:effectLst/>
                <a:latin typeface="Trebuchet MS" panose="020B0603020202020204" pitchFamily="34" charset="0"/>
              </a:rPr>
              <a:t>: Xiao Li, and </a:t>
            </a:r>
            <a:r>
              <a:rPr lang="en-US" altLang="zh-CN" b="1" i="1" dirty="0">
                <a:solidFill>
                  <a:srgbClr val="0C0D0E"/>
                </a:solidFill>
                <a:effectLst/>
                <a:latin typeface="Trebuchet MS" panose="020B0603020202020204" pitchFamily="34" charset="0"/>
              </a:rPr>
              <a:t>G</a:t>
            </a:r>
            <a:r>
              <a:rPr lang="en-US" altLang="zh-CN" b="1" i="0" dirty="0">
                <a:solidFill>
                  <a:srgbClr val="0C0D0E"/>
                </a:solidFill>
                <a:effectLst/>
                <a:latin typeface="Trebuchet MS" panose="020B0603020202020204" pitchFamily="34" charset="0"/>
              </a:rPr>
              <a:t>(</a:t>
            </a:r>
            <a:r>
              <a:rPr lang="en-US" altLang="zh-CN" b="1" i="1" dirty="0">
                <a:solidFill>
                  <a:srgbClr val="0C0D0E"/>
                </a:solidFill>
                <a:effectLst/>
                <a:latin typeface="Trebuchet MS" panose="020B0603020202020204" pitchFamily="34" charset="0"/>
              </a:rPr>
              <a:t>x</a:t>
            </a:r>
            <a:r>
              <a:rPr lang="en-US" altLang="zh-CN" b="1" i="0" dirty="0">
                <a:solidFill>
                  <a:srgbClr val="0C0D0E"/>
                </a:solidFill>
                <a:effectLst/>
                <a:latin typeface="Trebuchet MS" panose="020B0603020202020204" pitchFamily="34" charset="0"/>
              </a:rPr>
              <a:t>,</a:t>
            </a:r>
            <a:r>
              <a:rPr lang="en-US" altLang="zh-CN" b="1" i="1" dirty="0">
                <a:solidFill>
                  <a:srgbClr val="0C0D0E"/>
                </a:solidFill>
                <a:effectLst/>
                <a:latin typeface="Trebuchet MS" panose="020B0603020202020204" pitchFamily="34" charset="0"/>
              </a:rPr>
              <a:t>y</a:t>
            </a:r>
            <a:r>
              <a:rPr lang="en-US" altLang="zh-CN" b="1" i="0" dirty="0">
                <a:solidFill>
                  <a:srgbClr val="0C0D0E"/>
                </a:solidFill>
                <a:effectLst/>
                <a:latin typeface="Trebuchet MS" panose="020B0603020202020204" pitchFamily="34" charset="0"/>
              </a:rPr>
              <a:t>)</a:t>
            </a:r>
            <a:r>
              <a:rPr lang="en-US" altLang="zh-CN" b="0" i="0" dirty="0">
                <a:solidFill>
                  <a:srgbClr val="0C0D0E"/>
                </a:solidFill>
                <a:effectLst/>
                <a:latin typeface="Trebuchet MS" panose="020B0603020202020204" pitchFamily="34" charset="0"/>
              </a:rPr>
              <a:t>: </a:t>
            </a:r>
            <a:r>
              <a:rPr lang="en-US" altLang="zh-CN" b="1" i="1" dirty="0">
                <a:solidFill>
                  <a:srgbClr val="0C0D0E"/>
                </a:solidFill>
                <a:effectLst/>
                <a:latin typeface="Trebuchet MS" panose="020B0603020202020204" pitchFamily="34" charset="0"/>
              </a:rPr>
              <a:t>x</a:t>
            </a:r>
            <a:r>
              <a:rPr lang="en-US" altLang="zh-CN" b="0" i="0" dirty="0">
                <a:solidFill>
                  <a:srgbClr val="0C0D0E"/>
                </a:solidFill>
                <a:effectLst/>
                <a:latin typeface="Trebuchet MS" panose="020B0603020202020204" pitchFamily="34" charset="0"/>
              </a:rPr>
              <a:t> and </a:t>
            </a:r>
            <a:r>
              <a:rPr lang="en-US" altLang="zh-CN" b="1" i="1" dirty="0">
                <a:solidFill>
                  <a:srgbClr val="0C0D0E"/>
                </a:solidFill>
                <a:effectLst/>
                <a:latin typeface="Trebuchet MS" panose="020B0603020202020204" pitchFamily="34" charset="0"/>
              </a:rPr>
              <a:t>y</a:t>
            </a:r>
            <a:r>
              <a:rPr lang="en-US" altLang="zh-CN" b="0" i="0" dirty="0">
                <a:solidFill>
                  <a:srgbClr val="0C0D0E"/>
                </a:solidFill>
                <a:effectLst/>
                <a:latin typeface="Trebuchet MS" panose="020B0603020202020204" pitchFamily="34" charset="0"/>
              </a:rPr>
              <a:t> are the same age.</a:t>
            </a:r>
            <a:r>
              <a:rPr lang="en-US" altLang="zh-CN" b="1" dirty="0">
                <a:solidFill>
                  <a:srgbClr val="0B61FF"/>
                </a:solidFill>
                <a:latin typeface="Trebuchet MS" panose="020B0603020202020204" pitchFamily="34" charset="0"/>
              </a:rPr>
              <a:t>④</a:t>
            </a:r>
            <a:r>
              <a:rPr lang="en-US" altLang="zh-CN" b="0" i="0" dirty="0">
                <a:solidFill>
                  <a:srgbClr val="0C0D0E"/>
                </a:solidFill>
                <a:effectLst/>
                <a:latin typeface="Trebuchet MS" panose="020B0603020202020204" pitchFamily="34" charset="0"/>
              </a:rPr>
              <a:t> Symbolization</a:t>
            </a:r>
            <a:r>
              <a:rPr lang="en-US" altLang="zh-CN" dirty="0">
                <a:latin typeface="Trebuchet MS" panose="020B0603020202020204" pitchFamily="34" charset="0"/>
              </a:rPr>
              <a:t> as </a:t>
            </a:r>
            <a:r>
              <a:rPr lang="en-US" altLang="zh-CN" b="1" i="1" dirty="0">
                <a:solidFill>
                  <a:srgbClr val="0C0D0E"/>
                </a:solidFill>
                <a:effectLst/>
                <a:latin typeface="Trebuchet MS" panose="020B0603020202020204" pitchFamily="34" charset="0"/>
              </a:rPr>
              <a:t>G</a:t>
            </a:r>
            <a:r>
              <a:rPr lang="en-US" altLang="zh-CN" b="1" i="0" dirty="0">
                <a:solidFill>
                  <a:srgbClr val="0C0D0E"/>
                </a:solidFill>
                <a:effectLst/>
                <a:latin typeface="Trebuchet MS" panose="020B0603020202020204" pitchFamily="34" charset="0"/>
              </a:rPr>
              <a:t>(</a:t>
            </a:r>
            <a:r>
              <a:rPr lang="en-US" altLang="zh-CN" b="1" i="1" dirty="0">
                <a:solidFill>
                  <a:srgbClr val="0C0D0E"/>
                </a:solidFill>
                <a:effectLst/>
                <a:latin typeface="Trebuchet MS" panose="020B0603020202020204" pitchFamily="34" charset="0"/>
              </a:rPr>
              <a:t>a</a:t>
            </a:r>
            <a:r>
              <a:rPr lang="en-US" altLang="zh-CN" b="1" i="0" dirty="0">
                <a:solidFill>
                  <a:srgbClr val="0C0D0E"/>
                </a:solidFill>
                <a:effectLst/>
                <a:latin typeface="Trebuchet MS" panose="020B0603020202020204" pitchFamily="34" charset="0"/>
              </a:rPr>
              <a:t>,</a:t>
            </a:r>
            <a:r>
              <a:rPr lang="en-US" altLang="zh-CN" b="1" i="1" dirty="0">
                <a:solidFill>
                  <a:srgbClr val="0C0D0E"/>
                </a:solidFill>
                <a:effectLst/>
                <a:latin typeface="Trebuchet MS" panose="020B0603020202020204" pitchFamily="34" charset="0"/>
              </a:rPr>
              <a:t>b</a:t>
            </a:r>
            <a:r>
              <a:rPr lang="en-US" altLang="zh-CN" b="1" i="0" dirty="0">
                <a:solidFill>
                  <a:srgbClr val="0C0D0E"/>
                </a:solidFill>
                <a:effectLst/>
                <a:latin typeface="Trebuchet MS" panose="020B0603020202020204" pitchFamily="34" charset="0"/>
              </a:rPr>
              <a:t>).</a:t>
            </a:r>
          </a:p>
          <a:p>
            <a:pPr marL="0" indent="0" algn="l">
              <a:lnSpc>
                <a:spcPct val="100000"/>
              </a:lnSpc>
              <a:buNone/>
            </a:pPr>
            <a:r>
              <a:rPr lang="en-US" altLang="zh-CN" sz="2400" b="1" i="0" dirty="0">
                <a:solidFill>
                  <a:srgbClr val="0B61FF"/>
                </a:solidFill>
                <a:effectLst/>
                <a:latin typeface="Trebuchet MS" panose="020B0603020202020204" pitchFamily="34" charset="0"/>
              </a:rPr>
              <a:t>(3) </a:t>
            </a:r>
            <a:r>
              <a:rPr lang="en-US" altLang="zh-CN" sz="2400" b="1" i="0" dirty="0">
                <a:solidFill>
                  <a:srgbClr val="0C0D0E"/>
                </a:solidFill>
                <a:effectLst/>
                <a:latin typeface="Trebuchet MS" panose="020B0603020202020204" pitchFamily="34" charset="0"/>
              </a:rPr>
              <a:t>x&lt;y</a:t>
            </a:r>
          </a:p>
          <a:p>
            <a:pPr marL="457200" lvl="1" indent="0" algn="l">
              <a:lnSpc>
                <a:spcPct val="100000"/>
              </a:lnSpc>
              <a:buNone/>
            </a:pPr>
            <a:r>
              <a:rPr lang="en-US" altLang="zh-CN" b="1" i="0" dirty="0">
                <a:solidFill>
                  <a:srgbClr val="0B61FF"/>
                </a:solidFill>
                <a:effectLst/>
                <a:latin typeface="Trebuchet MS" panose="020B0603020202020204" pitchFamily="34" charset="0"/>
              </a:rPr>
              <a:t>① </a:t>
            </a:r>
            <a:r>
              <a:rPr lang="en-US" altLang="zh-CN" b="1" i="1" dirty="0">
                <a:solidFill>
                  <a:srgbClr val="0C0D0E"/>
                </a:solidFill>
                <a:effectLst/>
                <a:latin typeface="Trebuchet MS" panose="020B0603020202020204" pitchFamily="34" charset="0"/>
              </a:rPr>
              <a:t>x</a:t>
            </a:r>
            <a:r>
              <a:rPr lang="en-US" altLang="zh-CN" b="0" i="0" dirty="0">
                <a:solidFill>
                  <a:srgbClr val="0C0D0E"/>
                </a:solidFill>
                <a:effectLst/>
                <a:latin typeface="Trebuchet MS" panose="020B0603020202020204" pitchFamily="34" charset="0"/>
              </a:rPr>
              <a:t> and </a:t>
            </a:r>
            <a:r>
              <a:rPr lang="en-US" altLang="zh-CN" b="1" i="1" dirty="0">
                <a:solidFill>
                  <a:srgbClr val="0C0D0E"/>
                </a:solidFill>
                <a:effectLst/>
                <a:latin typeface="Trebuchet MS" panose="020B0603020202020204" pitchFamily="34" charset="0"/>
              </a:rPr>
              <a:t>y</a:t>
            </a:r>
            <a:r>
              <a:rPr lang="en-US" altLang="zh-CN" b="0" i="0" dirty="0">
                <a:solidFill>
                  <a:srgbClr val="0C0D0E"/>
                </a:solidFill>
                <a:effectLst/>
                <a:latin typeface="Trebuchet MS" panose="020B0603020202020204" pitchFamily="34" charset="0"/>
              </a:rPr>
              <a:t> are propositional variables."</a:t>
            </a:r>
            <a:r>
              <a:rPr lang="en-US" altLang="zh-CN" b="1" i="0" dirty="0">
                <a:solidFill>
                  <a:srgbClr val="0C0D0E"/>
                </a:solidFill>
                <a:effectLst/>
                <a:latin typeface="Trebuchet MS" panose="020B0603020202020204" pitchFamily="34" charset="0"/>
              </a:rPr>
              <a:t>&lt;</a:t>
            </a:r>
            <a:r>
              <a:rPr lang="en-US" altLang="zh-CN" b="0" i="0" dirty="0">
                <a:solidFill>
                  <a:srgbClr val="0C0D0E"/>
                </a:solidFill>
                <a:effectLst/>
                <a:latin typeface="Trebuchet MS" panose="020B0603020202020204" pitchFamily="34" charset="0"/>
              </a:rPr>
              <a:t>" is a predicate constant.</a:t>
            </a:r>
            <a:r>
              <a:rPr lang="en-US" altLang="zh-CN" b="1" dirty="0">
                <a:solidFill>
                  <a:srgbClr val="0B61FF"/>
                </a:solidFill>
                <a:latin typeface="Trebuchet MS" panose="020B0603020202020204" pitchFamily="34" charset="0"/>
              </a:rPr>
              <a:t> ② </a:t>
            </a:r>
            <a:r>
              <a:rPr lang="en-US" altLang="zh-CN" b="0" i="0" dirty="0">
                <a:solidFill>
                  <a:srgbClr val="0C0D0E"/>
                </a:solidFill>
                <a:effectLst/>
                <a:latin typeface="Trebuchet MS" panose="020B0603020202020204" pitchFamily="34" charset="0"/>
              </a:rPr>
              <a:t>Symbolization</a:t>
            </a:r>
            <a:r>
              <a:rPr lang="en-US" altLang="zh-CN" dirty="0">
                <a:latin typeface="Trebuchet MS" panose="020B0603020202020204" pitchFamily="34" charset="0"/>
              </a:rPr>
              <a:t> as </a:t>
            </a:r>
            <a:r>
              <a:rPr lang="en-US" altLang="zh-CN" b="0" i="0" dirty="0">
                <a:solidFill>
                  <a:srgbClr val="0C0D0E"/>
                </a:solidFill>
                <a:effectLst/>
                <a:latin typeface="Trebuchet MS" panose="020B0603020202020204" pitchFamily="34" charset="0"/>
              </a:rPr>
              <a:t> </a:t>
            </a:r>
            <a:r>
              <a:rPr lang="en-US" altLang="zh-CN" b="1" i="1" dirty="0">
                <a:solidFill>
                  <a:srgbClr val="0C0D0E"/>
                </a:solidFill>
                <a:effectLst/>
                <a:latin typeface="Trebuchet MS" panose="020B0603020202020204" pitchFamily="34" charset="0"/>
              </a:rPr>
              <a:t>L</a:t>
            </a:r>
            <a:r>
              <a:rPr lang="en-US" altLang="zh-CN" b="1" i="0" dirty="0">
                <a:solidFill>
                  <a:srgbClr val="0C0D0E"/>
                </a:solidFill>
                <a:effectLst/>
                <a:latin typeface="Trebuchet MS" panose="020B0603020202020204" pitchFamily="34" charset="0"/>
              </a:rPr>
              <a:t>(</a:t>
            </a:r>
            <a:r>
              <a:rPr lang="en-US" altLang="zh-CN" b="1" i="1" dirty="0">
                <a:solidFill>
                  <a:srgbClr val="0C0D0E"/>
                </a:solidFill>
                <a:effectLst/>
                <a:latin typeface="Trebuchet MS" panose="020B0603020202020204" pitchFamily="34" charset="0"/>
              </a:rPr>
              <a:t>x</a:t>
            </a:r>
            <a:r>
              <a:rPr lang="en-US" altLang="zh-CN" b="1" i="0" dirty="0">
                <a:solidFill>
                  <a:srgbClr val="0C0D0E"/>
                </a:solidFill>
                <a:effectLst/>
                <a:latin typeface="Trebuchet MS" panose="020B0603020202020204" pitchFamily="34" charset="0"/>
              </a:rPr>
              <a:t>,</a:t>
            </a:r>
            <a:r>
              <a:rPr lang="en-US" altLang="zh-CN" b="1" i="1" dirty="0">
                <a:solidFill>
                  <a:srgbClr val="0C0D0E"/>
                </a:solidFill>
                <a:effectLst/>
                <a:latin typeface="Trebuchet MS" panose="020B0603020202020204" pitchFamily="34" charset="0"/>
              </a:rPr>
              <a:t>y</a:t>
            </a:r>
            <a:r>
              <a:rPr lang="en-US" altLang="zh-CN" b="1" i="0" dirty="0">
                <a:solidFill>
                  <a:srgbClr val="0C0D0E"/>
                </a:solidFill>
                <a:effectLst/>
                <a:latin typeface="Trebuchet MS" panose="020B0603020202020204" pitchFamily="34" charset="0"/>
              </a:rPr>
              <a:t>).</a:t>
            </a:r>
          </a:p>
          <a:p>
            <a:pPr marL="0" indent="0" algn="l">
              <a:lnSpc>
                <a:spcPct val="100000"/>
              </a:lnSpc>
              <a:buNone/>
            </a:pPr>
            <a:r>
              <a:rPr lang="en-US" altLang="zh-CN" sz="2400" b="1" i="0" dirty="0">
                <a:solidFill>
                  <a:srgbClr val="0B61FF"/>
                </a:solidFill>
                <a:effectLst/>
                <a:latin typeface="Trebuchet MS" panose="020B0603020202020204" pitchFamily="34" charset="0"/>
              </a:rPr>
              <a:t>(4) </a:t>
            </a:r>
            <a:r>
              <a:rPr lang="en-US" altLang="zh-CN" sz="2400" b="1" i="1" dirty="0">
                <a:solidFill>
                  <a:srgbClr val="0C0D0E"/>
                </a:solidFill>
                <a:effectLst/>
                <a:latin typeface="Trebuchet MS" panose="020B0603020202020204" pitchFamily="34" charset="0"/>
              </a:rPr>
              <a:t>x</a:t>
            </a:r>
            <a:r>
              <a:rPr lang="en-US" altLang="zh-CN" sz="2400" b="1" i="0" dirty="0">
                <a:solidFill>
                  <a:srgbClr val="0C0D0E"/>
                </a:solidFill>
                <a:effectLst/>
                <a:latin typeface="Trebuchet MS" panose="020B0603020202020204" pitchFamily="34" charset="0"/>
              </a:rPr>
              <a:t> has a certain property </a:t>
            </a:r>
            <a:r>
              <a:rPr lang="en-US" altLang="zh-CN" sz="2400" b="1" i="1" dirty="0">
                <a:solidFill>
                  <a:srgbClr val="0C0D0E"/>
                </a:solidFill>
                <a:effectLst/>
                <a:latin typeface="Trebuchet MS" panose="020B0603020202020204" pitchFamily="34" charset="0"/>
              </a:rPr>
              <a:t>P</a:t>
            </a:r>
            <a:endParaRPr lang="en-US" altLang="zh-CN" sz="2400" b="0" i="1" dirty="0">
              <a:solidFill>
                <a:srgbClr val="0C0D0E"/>
              </a:solidFill>
              <a:effectLst/>
              <a:latin typeface="Trebuchet MS" panose="020B0603020202020204" pitchFamily="34" charset="0"/>
            </a:endParaRPr>
          </a:p>
          <a:p>
            <a:pPr marL="457200" lvl="1" indent="0" algn="l">
              <a:lnSpc>
                <a:spcPct val="100000"/>
              </a:lnSpc>
              <a:buNone/>
            </a:pPr>
            <a:r>
              <a:rPr lang="en-US" altLang="zh-CN" b="1" i="0" dirty="0">
                <a:solidFill>
                  <a:srgbClr val="0B61FF"/>
                </a:solidFill>
                <a:effectLst/>
                <a:latin typeface="Trebuchet MS" panose="020B0603020202020204" pitchFamily="34" charset="0"/>
              </a:rPr>
              <a:t>① </a:t>
            </a:r>
            <a:r>
              <a:rPr lang="en-US" altLang="zh-CN" b="1" i="1" dirty="0">
                <a:solidFill>
                  <a:srgbClr val="0C0D0E"/>
                </a:solidFill>
                <a:effectLst/>
                <a:latin typeface="Trebuchet MS" panose="020B0603020202020204" pitchFamily="34" charset="0"/>
              </a:rPr>
              <a:t>x</a:t>
            </a:r>
            <a:r>
              <a:rPr lang="en-US" altLang="zh-CN" b="0" i="0" dirty="0">
                <a:solidFill>
                  <a:srgbClr val="0C0D0E"/>
                </a:solidFill>
                <a:effectLst/>
                <a:latin typeface="Trebuchet MS" panose="020B0603020202020204" pitchFamily="34" charset="0"/>
              </a:rPr>
              <a:t> is a propositional variable.</a:t>
            </a:r>
            <a:r>
              <a:rPr lang="en-US" altLang="zh-CN" b="1" dirty="0">
                <a:solidFill>
                  <a:srgbClr val="0B61FF"/>
                </a:solidFill>
                <a:latin typeface="Trebuchet MS" panose="020B0603020202020204" pitchFamily="34" charset="0"/>
              </a:rPr>
              <a:t> ② </a:t>
            </a:r>
            <a:r>
              <a:rPr lang="en-US" altLang="zh-CN" b="1" i="0" dirty="0">
                <a:solidFill>
                  <a:srgbClr val="0C0D0E"/>
                </a:solidFill>
                <a:effectLst/>
                <a:latin typeface="Trebuchet MS" panose="020B0603020202020204" pitchFamily="34" charset="0"/>
              </a:rPr>
              <a:t>P</a:t>
            </a:r>
            <a:r>
              <a:rPr lang="en-US" altLang="zh-CN" b="0" i="0" dirty="0">
                <a:solidFill>
                  <a:srgbClr val="0C0D0E"/>
                </a:solidFill>
                <a:effectLst/>
                <a:latin typeface="Trebuchet MS" panose="020B0603020202020204" pitchFamily="34" charset="0"/>
              </a:rPr>
              <a:t> is a predicate variable.</a:t>
            </a:r>
            <a:r>
              <a:rPr lang="en-US" altLang="zh-CN" b="1" dirty="0">
                <a:solidFill>
                  <a:srgbClr val="0B61FF"/>
                </a:solidFill>
                <a:latin typeface="Trebuchet MS" panose="020B0603020202020204" pitchFamily="34" charset="0"/>
              </a:rPr>
              <a:t> ③ </a:t>
            </a:r>
            <a:r>
              <a:rPr lang="en-US" altLang="zh-CN" b="0" i="0" dirty="0">
                <a:solidFill>
                  <a:srgbClr val="0C0D0E"/>
                </a:solidFill>
                <a:effectLst/>
                <a:latin typeface="Trebuchet MS" panose="020B0603020202020204" pitchFamily="34" charset="0"/>
              </a:rPr>
              <a:t>Symbolization as </a:t>
            </a:r>
            <a:r>
              <a:rPr lang="en-US" altLang="zh-CN" b="1" i="1" dirty="0">
                <a:solidFill>
                  <a:srgbClr val="0C0D0E"/>
                </a:solidFill>
                <a:effectLst/>
                <a:latin typeface="Trebuchet MS" panose="020B0603020202020204" pitchFamily="34" charset="0"/>
              </a:rPr>
              <a:t>P</a:t>
            </a:r>
            <a:r>
              <a:rPr lang="en-US" altLang="zh-CN" b="1" i="0" dirty="0">
                <a:solidFill>
                  <a:srgbClr val="0C0D0E"/>
                </a:solidFill>
                <a:effectLst/>
                <a:latin typeface="Trebuchet MS" panose="020B0603020202020204" pitchFamily="34" charset="0"/>
              </a:rPr>
              <a:t>(</a:t>
            </a:r>
            <a:r>
              <a:rPr lang="en-US" altLang="zh-CN" b="1" i="1" dirty="0">
                <a:solidFill>
                  <a:srgbClr val="0C0D0E"/>
                </a:solidFill>
                <a:effectLst/>
                <a:latin typeface="Trebuchet MS" panose="020B0603020202020204" pitchFamily="34" charset="0"/>
              </a:rPr>
              <a:t>x</a:t>
            </a:r>
            <a:r>
              <a:rPr lang="en-US" altLang="zh-CN" b="1" i="0" dirty="0">
                <a:solidFill>
                  <a:srgbClr val="0C0D0E"/>
                </a:solidFill>
                <a:effectLst/>
                <a:latin typeface="Trebuchet MS" panose="020B0603020202020204" pitchFamily="34" charset="0"/>
              </a:rPr>
              <a:t>).</a:t>
            </a:r>
          </a:p>
        </p:txBody>
      </p:sp>
    </p:spTree>
    <p:extLst>
      <p:ext uri="{BB962C8B-B14F-4D97-AF65-F5344CB8AC3E}">
        <p14:creationId xmlns:p14="http://schemas.microsoft.com/office/powerpoint/2010/main" val="340121975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
                                            <p:txEl>
                                              <p:pRg st="2" end="2"/>
                                            </p:txEl>
                                          </p:spTgt>
                                        </p:tgtEl>
                                        <p:attrNameLst>
                                          <p:attrName>style.visibility</p:attrName>
                                        </p:attrNameLst>
                                      </p:cBhvr>
                                      <p:to>
                                        <p:strVal val="visible"/>
                                      </p:to>
                                    </p:set>
                                    <p:animEffect transition="in" filter="fade">
                                      <p:cBhvr>
                                        <p:cTn id="7" dur="1000"/>
                                        <p:tgtEl>
                                          <p:spTgt spid="9">
                                            <p:txEl>
                                              <p:pRg st="2" end="2"/>
                                            </p:txEl>
                                          </p:spTgt>
                                        </p:tgtEl>
                                      </p:cBhvr>
                                    </p:animEffect>
                                    <p:anim calcmode="lin" valueType="num">
                                      <p:cBhvr>
                                        <p:cTn id="8" dur="1000" fill="hold"/>
                                        <p:tgtEl>
                                          <p:spTgt spid="9">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9">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9">
                                            <p:txEl>
                                              <p:pRg st="3" end="3"/>
                                            </p:txEl>
                                          </p:spTgt>
                                        </p:tgtEl>
                                        <p:attrNameLst>
                                          <p:attrName>style.visibility</p:attrName>
                                        </p:attrNameLst>
                                      </p:cBhvr>
                                      <p:to>
                                        <p:strVal val="visible"/>
                                      </p:to>
                                    </p:set>
                                    <p:animEffect transition="in" filter="fade">
                                      <p:cBhvr>
                                        <p:cTn id="12" dur="1000"/>
                                        <p:tgtEl>
                                          <p:spTgt spid="9">
                                            <p:txEl>
                                              <p:pRg st="3" end="3"/>
                                            </p:txEl>
                                          </p:spTgt>
                                        </p:tgtEl>
                                      </p:cBhvr>
                                    </p:animEffect>
                                    <p:anim calcmode="lin" valueType="num">
                                      <p:cBhvr>
                                        <p:cTn id="13" dur="1000" fill="hold"/>
                                        <p:tgtEl>
                                          <p:spTgt spid="9">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9">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9">
                                            <p:txEl>
                                              <p:pRg st="4" end="4"/>
                                            </p:txEl>
                                          </p:spTgt>
                                        </p:tgtEl>
                                        <p:attrNameLst>
                                          <p:attrName>style.visibility</p:attrName>
                                        </p:attrNameLst>
                                      </p:cBhvr>
                                      <p:to>
                                        <p:strVal val="visible"/>
                                      </p:to>
                                    </p:set>
                                    <p:animEffect transition="in" filter="fade">
                                      <p:cBhvr>
                                        <p:cTn id="19" dur="1000"/>
                                        <p:tgtEl>
                                          <p:spTgt spid="9">
                                            <p:txEl>
                                              <p:pRg st="4" end="4"/>
                                            </p:txEl>
                                          </p:spTgt>
                                        </p:tgtEl>
                                      </p:cBhvr>
                                    </p:animEffect>
                                    <p:anim calcmode="lin" valueType="num">
                                      <p:cBhvr>
                                        <p:cTn id="20" dur="1000" fill="hold"/>
                                        <p:tgtEl>
                                          <p:spTgt spid="9">
                                            <p:txEl>
                                              <p:pRg st="4" end="4"/>
                                            </p:txEl>
                                          </p:spTgt>
                                        </p:tgtEl>
                                        <p:attrNameLst>
                                          <p:attrName>ppt_x</p:attrName>
                                        </p:attrNameLst>
                                      </p:cBhvr>
                                      <p:tavLst>
                                        <p:tav tm="0">
                                          <p:val>
                                            <p:strVal val="#ppt_x"/>
                                          </p:val>
                                        </p:tav>
                                        <p:tav tm="100000">
                                          <p:val>
                                            <p:strVal val="#ppt_x"/>
                                          </p:val>
                                        </p:tav>
                                      </p:tavLst>
                                    </p:anim>
                                    <p:anim calcmode="lin" valueType="num">
                                      <p:cBhvr>
                                        <p:cTn id="21" dur="1000" fill="hold"/>
                                        <p:tgtEl>
                                          <p:spTgt spid="9">
                                            <p:txEl>
                                              <p:pRg st="4" end="4"/>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9">
                                            <p:txEl>
                                              <p:pRg st="5" end="5"/>
                                            </p:txEl>
                                          </p:spTgt>
                                        </p:tgtEl>
                                        <p:attrNameLst>
                                          <p:attrName>style.visibility</p:attrName>
                                        </p:attrNameLst>
                                      </p:cBhvr>
                                      <p:to>
                                        <p:strVal val="visible"/>
                                      </p:to>
                                    </p:set>
                                    <p:animEffect transition="in" filter="fade">
                                      <p:cBhvr>
                                        <p:cTn id="24" dur="1000"/>
                                        <p:tgtEl>
                                          <p:spTgt spid="9">
                                            <p:txEl>
                                              <p:pRg st="5" end="5"/>
                                            </p:txEl>
                                          </p:spTgt>
                                        </p:tgtEl>
                                      </p:cBhvr>
                                    </p:animEffect>
                                    <p:anim calcmode="lin" valueType="num">
                                      <p:cBhvr>
                                        <p:cTn id="25" dur="1000" fill="hold"/>
                                        <p:tgtEl>
                                          <p:spTgt spid="9">
                                            <p:txEl>
                                              <p:pRg st="5" end="5"/>
                                            </p:txEl>
                                          </p:spTgt>
                                        </p:tgtEl>
                                        <p:attrNameLst>
                                          <p:attrName>ppt_x</p:attrName>
                                        </p:attrNameLst>
                                      </p:cBhvr>
                                      <p:tavLst>
                                        <p:tav tm="0">
                                          <p:val>
                                            <p:strVal val="#ppt_x"/>
                                          </p:val>
                                        </p:tav>
                                        <p:tav tm="100000">
                                          <p:val>
                                            <p:strVal val="#ppt_x"/>
                                          </p:val>
                                        </p:tav>
                                      </p:tavLst>
                                    </p:anim>
                                    <p:anim calcmode="lin" valueType="num">
                                      <p:cBhvr>
                                        <p:cTn id="26" dur="1000" fill="hold"/>
                                        <p:tgtEl>
                                          <p:spTgt spid="9">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9">
                                            <p:txEl>
                                              <p:pRg st="6" end="6"/>
                                            </p:txEl>
                                          </p:spTgt>
                                        </p:tgtEl>
                                        <p:attrNameLst>
                                          <p:attrName>style.visibility</p:attrName>
                                        </p:attrNameLst>
                                      </p:cBhvr>
                                      <p:to>
                                        <p:strVal val="visible"/>
                                      </p:to>
                                    </p:set>
                                    <p:animEffect transition="in" filter="fade">
                                      <p:cBhvr>
                                        <p:cTn id="31" dur="1000"/>
                                        <p:tgtEl>
                                          <p:spTgt spid="9">
                                            <p:txEl>
                                              <p:pRg st="6" end="6"/>
                                            </p:txEl>
                                          </p:spTgt>
                                        </p:tgtEl>
                                      </p:cBhvr>
                                    </p:animEffect>
                                    <p:anim calcmode="lin" valueType="num">
                                      <p:cBhvr>
                                        <p:cTn id="32" dur="1000" fill="hold"/>
                                        <p:tgtEl>
                                          <p:spTgt spid="9">
                                            <p:txEl>
                                              <p:pRg st="6" end="6"/>
                                            </p:txEl>
                                          </p:spTgt>
                                        </p:tgtEl>
                                        <p:attrNameLst>
                                          <p:attrName>ppt_x</p:attrName>
                                        </p:attrNameLst>
                                      </p:cBhvr>
                                      <p:tavLst>
                                        <p:tav tm="0">
                                          <p:val>
                                            <p:strVal val="#ppt_x"/>
                                          </p:val>
                                        </p:tav>
                                        <p:tav tm="100000">
                                          <p:val>
                                            <p:strVal val="#ppt_x"/>
                                          </p:val>
                                        </p:tav>
                                      </p:tavLst>
                                    </p:anim>
                                    <p:anim calcmode="lin" valueType="num">
                                      <p:cBhvr>
                                        <p:cTn id="33" dur="1000" fill="hold"/>
                                        <p:tgtEl>
                                          <p:spTgt spid="9">
                                            <p:txEl>
                                              <p:pRg st="6" end="6"/>
                                            </p:txEl>
                                          </p:spTgt>
                                        </p:tgtEl>
                                        <p:attrNameLst>
                                          <p:attrName>ppt_y</p:attrName>
                                        </p:attrNameLst>
                                      </p:cBhvr>
                                      <p:tavLst>
                                        <p:tav tm="0">
                                          <p:val>
                                            <p:strVal val="#ppt_y+.1"/>
                                          </p:val>
                                        </p:tav>
                                        <p:tav tm="100000">
                                          <p:val>
                                            <p:strVal val="#ppt_y"/>
                                          </p:val>
                                        </p:tav>
                                      </p:tavLst>
                                    </p:anim>
                                  </p:childTnLst>
                                </p:cTn>
                              </p:par>
                              <p:par>
                                <p:cTn id="34" presetID="42" presetClass="entr" presetSubtype="0" fill="hold" nodeType="withEffect">
                                  <p:stCondLst>
                                    <p:cond delay="0"/>
                                  </p:stCondLst>
                                  <p:childTnLst>
                                    <p:set>
                                      <p:cBhvr>
                                        <p:cTn id="35" dur="1" fill="hold">
                                          <p:stCondLst>
                                            <p:cond delay="0"/>
                                          </p:stCondLst>
                                        </p:cTn>
                                        <p:tgtEl>
                                          <p:spTgt spid="9">
                                            <p:txEl>
                                              <p:pRg st="7" end="7"/>
                                            </p:txEl>
                                          </p:spTgt>
                                        </p:tgtEl>
                                        <p:attrNameLst>
                                          <p:attrName>style.visibility</p:attrName>
                                        </p:attrNameLst>
                                      </p:cBhvr>
                                      <p:to>
                                        <p:strVal val="visible"/>
                                      </p:to>
                                    </p:set>
                                    <p:animEffect transition="in" filter="fade">
                                      <p:cBhvr>
                                        <p:cTn id="36" dur="1000"/>
                                        <p:tgtEl>
                                          <p:spTgt spid="9">
                                            <p:txEl>
                                              <p:pRg st="7" end="7"/>
                                            </p:txEl>
                                          </p:spTgt>
                                        </p:tgtEl>
                                      </p:cBhvr>
                                    </p:animEffect>
                                    <p:anim calcmode="lin" valueType="num">
                                      <p:cBhvr>
                                        <p:cTn id="37" dur="1000" fill="hold"/>
                                        <p:tgtEl>
                                          <p:spTgt spid="9">
                                            <p:txEl>
                                              <p:pRg st="7" end="7"/>
                                            </p:txEl>
                                          </p:spTgt>
                                        </p:tgtEl>
                                        <p:attrNameLst>
                                          <p:attrName>ppt_x</p:attrName>
                                        </p:attrNameLst>
                                      </p:cBhvr>
                                      <p:tavLst>
                                        <p:tav tm="0">
                                          <p:val>
                                            <p:strVal val="#ppt_x"/>
                                          </p:val>
                                        </p:tav>
                                        <p:tav tm="100000">
                                          <p:val>
                                            <p:strVal val="#ppt_x"/>
                                          </p:val>
                                        </p:tav>
                                      </p:tavLst>
                                    </p:anim>
                                    <p:anim calcmode="lin" valueType="num">
                                      <p:cBhvr>
                                        <p:cTn id="38" dur="1000" fill="hold"/>
                                        <p:tgtEl>
                                          <p:spTgt spid="9">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spcBef>
                <a:spcPts val="600"/>
              </a:spcBef>
              <a:buClr>
                <a:srgbClr val="0B61FF"/>
              </a:buClr>
              <a:buSzPct val="80000"/>
            </a:pPr>
            <a:r>
              <a:rPr lang="en-US" altLang="zh-CN" sz="2000" b="1" dirty="0">
                <a:effectLst/>
                <a:latin typeface="Cambria Math" panose="02040503050406030204" pitchFamily="18" charset="0"/>
                <a:ea typeface="Cambria Math" panose="02040503050406030204" pitchFamily="18" charset="0"/>
                <a:cs typeface="Times New Roman" panose="02020603050405020304" pitchFamily="18" charset="0"/>
              </a:rPr>
              <a:t>                  </a:t>
            </a:r>
            <a:r>
              <a:rPr lang="en-US" altLang="zh-CN" sz="2000" b="1" dirty="0">
                <a:solidFill>
                  <a:schemeClr val="bg1"/>
                </a:solidFill>
                <a:latin typeface="Trebuchet MS" panose="020B0603020202020204" pitchFamily="34" charset="0"/>
              </a:rPr>
              <a:t>3.1.2 Individual Terms, Predicates, and Quantifiers</a:t>
            </a:r>
          </a:p>
          <a:p>
            <a:pPr>
              <a:spcBef>
                <a:spcPts val="600"/>
              </a:spcBef>
              <a:buClr>
                <a:srgbClr val="0B61FF"/>
              </a:buClr>
              <a:buSzPct val="80000"/>
            </a:pPr>
            <a:r>
              <a:rPr lang="en-US" altLang="zh-CN" sz="2400" dirty="0">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2400" dirty="0">
                <a:latin typeface="Trebuchet MS" panose="020B0603020202020204" pitchFamily="34" charset="0"/>
              </a:rPr>
              <a:t> Predicate</a:t>
            </a:r>
            <a:r>
              <a:rPr lang="en-US" altLang="zh-CN" sz="2400" dirty="0"/>
              <a:t>  </a:t>
            </a:r>
            <a:r>
              <a:rPr lang="en-US" altLang="zh-CN" sz="2400" dirty="0">
                <a:latin typeface="Trebuchet MS" panose="020B0603020202020204" pitchFamily="34" charset="0"/>
              </a:rPr>
              <a:t>example </a:t>
            </a:r>
            <a:r>
              <a:rPr lang="en-US" altLang="zh-CN" sz="1800" b="1" kern="100" dirty="0">
                <a:solidFill>
                  <a:schemeClr val="accent2"/>
                </a:solidFill>
                <a:effectLst/>
                <a:latin typeface="Times New Roman" panose="02020603050405020304" pitchFamily="18" charset="0"/>
                <a:ea typeface="宋体" panose="02010600030101010101" pitchFamily="2" charset="-122"/>
                <a:cs typeface="Times New Roman" panose="02020603050405020304" pitchFamily="18" charset="0"/>
              </a:rPr>
              <a:t>(cont.)</a:t>
            </a:r>
            <a:endParaRPr lang="en-US" altLang="zh-CN" sz="2400" b="1" dirty="0">
              <a:solidFill>
                <a:schemeClr val="accent2"/>
              </a:solidFill>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F80D7BCB-0B4D-4798-9066-BD9EBB8D3EF5}"/>
                  </a:ext>
                </a:extLst>
              </p:cNvPr>
              <p:cNvSpPr txBox="1"/>
              <p:nvPr/>
            </p:nvSpPr>
            <p:spPr>
              <a:xfrm>
                <a:off x="1087244" y="987626"/>
                <a:ext cx="9718288" cy="4701480"/>
              </a:xfrm>
              <a:prstGeom prst="rect">
                <a:avLst/>
              </a:prstGeom>
              <a:noFill/>
            </p:spPr>
            <p:txBody>
              <a:bodyPr wrap="square">
                <a:spAutoFit/>
              </a:bodyPr>
              <a:lstStyle/>
              <a:p>
                <a:pPr eaLnBrk="1" hangingPunct="1">
                  <a:lnSpc>
                    <a:spcPct val="120000"/>
                  </a:lnSpc>
                  <a:spcBef>
                    <a:spcPts val="600"/>
                  </a:spcBef>
                  <a:buClr>
                    <a:schemeClr val="bg2"/>
                  </a:buClr>
                  <a:buSzPct val="75000"/>
                  <a:buFont typeface="Wingdings" panose="05000000000000000000" pitchFamily="2" charset="2"/>
                  <a:buNone/>
                </a:pPr>
                <a:r>
                  <a:rPr kumimoji="0" lang="en-US" altLang="zh-CN" sz="2400" b="1" dirty="0">
                    <a:latin typeface="Trebuchet MS" panose="020B0603020202020204" pitchFamily="34" charset="0"/>
                  </a:rPr>
                  <a:t>      Example</a:t>
                </a:r>
                <a:r>
                  <a:rPr kumimoji="0" lang="zh-CN" altLang="en-US" sz="2400" b="1" dirty="0">
                    <a:latin typeface="Trebuchet MS" panose="020B0603020202020204" pitchFamily="34" charset="0"/>
                  </a:rPr>
                  <a:t>：</a:t>
                </a:r>
                <a:r>
                  <a:rPr lang="en-US" altLang="zh-CN" sz="2400" b="0" i="0" dirty="0">
                    <a:effectLst/>
                    <a:latin typeface="Trebuchet MS" panose="020B0603020202020204" pitchFamily="34" charset="0"/>
                  </a:rPr>
                  <a:t>Symbolize the following propositions using </a:t>
                </a:r>
                <a:r>
                  <a:rPr lang="en-US" altLang="zh-CN" sz="2400" b="1" i="0" dirty="0">
                    <a:effectLst/>
                    <a:latin typeface="Trebuchet MS" panose="020B0603020202020204" pitchFamily="34" charset="0"/>
                  </a:rPr>
                  <a:t>0th-order predicates</a:t>
                </a:r>
                <a:r>
                  <a:rPr lang="en-US" altLang="zh-CN" sz="2400" b="0" i="0" dirty="0">
                    <a:effectLst/>
                    <a:latin typeface="Trebuchet MS" panose="020B0603020202020204" pitchFamily="34" charset="0"/>
                  </a:rPr>
                  <a:t> and discuss their truth values.</a:t>
                </a:r>
              </a:p>
              <a:p>
                <a:pPr>
                  <a:lnSpc>
                    <a:spcPct val="120000"/>
                  </a:lnSpc>
                  <a:spcBef>
                    <a:spcPts val="600"/>
                  </a:spcBef>
                  <a:buClr>
                    <a:schemeClr val="bg2"/>
                  </a:buClr>
                  <a:buSzPct val="75000"/>
                </a:pPr>
                <a:r>
                  <a:rPr kumimoji="0" lang="zh-CN" altLang="en-US" sz="2400" b="1" dirty="0">
                    <a:solidFill>
                      <a:srgbClr val="0B61FF"/>
                    </a:solidFill>
                    <a:latin typeface="Trebuchet MS" panose="020B0603020202020204" pitchFamily="34" charset="0"/>
                  </a:rPr>
                  <a:t>(1) </a:t>
                </a:r>
                <a14:m>
                  <m:oMath xmlns:m="http://schemas.openxmlformats.org/officeDocument/2006/math">
                    <m:rad>
                      <m:radPr>
                        <m:degHide m:val="on"/>
                        <m:ctrlPr>
                          <a:rPr kumimoji="0" lang="zh-CN" altLang="en-US" sz="2400" b="1" i="1" smtClean="0">
                            <a:latin typeface="Cambria Math" panose="02040503050406030204" pitchFamily="18" charset="0"/>
                          </a:rPr>
                        </m:ctrlPr>
                      </m:radPr>
                      <m:deg/>
                      <m:e>
                        <m:r>
                          <a:rPr kumimoji="0" lang="en-US" altLang="zh-CN" sz="2400" b="1" i="1" smtClean="0">
                            <a:latin typeface="Cambria Math" panose="02040503050406030204" pitchFamily="18" charset="0"/>
                          </a:rPr>
                          <m:t>𝟐</m:t>
                        </m:r>
                      </m:e>
                    </m:rad>
                  </m:oMath>
                </a14:m>
                <a:r>
                  <a:rPr kumimoji="0" lang="zh-CN" altLang="en-US" sz="2400" b="1" dirty="0">
                    <a:latin typeface="Trebuchet MS" panose="020B0603020202020204" pitchFamily="34" charset="0"/>
                  </a:rPr>
                  <a:t> </a:t>
                </a:r>
                <a:r>
                  <a:rPr kumimoji="0" lang="en-US" altLang="zh-CN" sz="2400" b="1" dirty="0">
                    <a:latin typeface="Trebuchet MS" panose="020B0603020202020204" pitchFamily="34" charset="0"/>
                  </a:rPr>
                  <a:t>is irrational</a:t>
                </a:r>
                <a:r>
                  <a:rPr kumimoji="0" lang="zh-CN" altLang="en-US" sz="2400" b="1" dirty="0">
                    <a:latin typeface="Trebuchet MS" panose="020B0603020202020204" pitchFamily="34" charset="0"/>
                  </a:rPr>
                  <a:t>, </a:t>
                </a:r>
                <a:r>
                  <a:rPr kumimoji="0" lang="en-US" altLang="zh-CN" sz="2400" b="1" dirty="0">
                    <a:latin typeface="Trebuchet MS" panose="020B0603020202020204" pitchFamily="34" charset="0"/>
                  </a:rPr>
                  <a:t>and</a:t>
                </a:r>
                <a:r>
                  <a:rPr kumimoji="0" lang="zh-CN" altLang="en-US" sz="2400" b="1" dirty="0">
                    <a:latin typeface="Trebuchet MS" panose="020B0603020202020204" pitchFamily="34" charset="0"/>
                  </a:rPr>
                  <a:t> </a:t>
                </a:r>
                <a14:m>
                  <m:oMath xmlns:m="http://schemas.openxmlformats.org/officeDocument/2006/math">
                    <m:rad>
                      <m:radPr>
                        <m:degHide m:val="on"/>
                        <m:ctrlPr>
                          <a:rPr lang="zh-CN" altLang="en-US" sz="2400" b="1" i="1">
                            <a:latin typeface="Cambria Math" panose="02040503050406030204" pitchFamily="18" charset="0"/>
                          </a:rPr>
                        </m:ctrlPr>
                      </m:radPr>
                      <m:deg/>
                      <m:e>
                        <m:r>
                          <a:rPr lang="en-US" altLang="zh-CN" sz="2400" b="1" i="1" smtClean="0">
                            <a:latin typeface="Cambria Math" panose="02040503050406030204" pitchFamily="18" charset="0"/>
                          </a:rPr>
                          <m:t>𝟑</m:t>
                        </m:r>
                      </m:e>
                    </m:rad>
                  </m:oMath>
                </a14:m>
                <a:r>
                  <a:rPr kumimoji="0" lang="zh-CN" altLang="en-US" sz="2400" b="1" dirty="0">
                    <a:latin typeface="Trebuchet MS" panose="020B0603020202020204" pitchFamily="34" charset="0"/>
                  </a:rPr>
                  <a:t>  </a:t>
                </a:r>
                <a:r>
                  <a:rPr kumimoji="0" lang="en-US" altLang="zh-CN" sz="2400" b="1" dirty="0">
                    <a:latin typeface="Trebuchet MS" panose="020B0603020202020204" pitchFamily="34" charset="0"/>
                  </a:rPr>
                  <a:t>is rational</a:t>
                </a:r>
                <a:endParaRPr kumimoji="0" lang="zh-CN" altLang="en-US" sz="2400" b="1" dirty="0">
                  <a:latin typeface="Trebuchet MS" panose="020B0603020202020204" pitchFamily="34" charset="0"/>
                </a:endParaRPr>
              </a:p>
              <a:p>
                <a:pPr eaLnBrk="1" hangingPunct="1">
                  <a:lnSpc>
                    <a:spcPct val="120000"/>
                  </a:lnSpc>
                  <a:spcBef>
                    <a:spcPts val="600"/>
                  </a:spcBef>
                  <a:buClr>
                    <a:schemeClr val="bg2"/>
                  </a:buClr>
                  <a:buSzPct val="75000"/>
                  <a:buFont typeface="Wingdings" panose="05000000000000000000" pitchFamily="2" charset="2"/>
                  <a:buNone/>
                </a:pPr>
                <a:r>
                  <a:rPr kumimoji="0" lang="zh-CN" altLang="en-US" sz="2400" b="1" dirty="0">
                    <a:solidFill>
                      <a:srgbClr val="0B61FF"/>
                    </a:solidFill>
                    <a:latin typeface="Trebuchet MS" panose="020B0603020202020204" pitchFamily="34" charset="0"/>
                  </a:rPr>
                  <a:t>(2) </a:t>
                </a:r>
                <a:r>
                  <a:rPr kumimoji="0" lang="en-US" altLang="zh-CN" sz="2400" b="1" dirty="0">
                    <a:latin typeface="Trebuchet MS" panose="020B0603020202020204" pitchFamily="34" charset="0"/>
                  </a:rPr>
                  <a:t>If</a:t>
                </a:r>
                <a:r>
                  <a:rPr kumimoji="0" lang="zh-CN" altLang="en-US" sz="2400" b="1" dirty="0">
                    <a:latin typeface="Trebuchet MS" panose="020B0603020202020204" pitchFamily="34" charset="0"/>
                  </a:rPr>
                  <a:t> 2&gt;3，</a:t>
                </a:r>
                <a:r>
                  <a:rPr kumimoji="0" lang="en-US" altLang="zh-CN" sz="2400" b="1" dirty="0">
                    <a:latin typeface="Trebuchet MS" panose="020B0603020202020204" pitchFamily="34" charset="0"/>
                  </a:rPr>
                  <a:t>then </a:t>
                </a:r>
                <a:r>
                  <a:rPr kumimoji="0" lang="zh-CN" altLang="en-US" sz="2400" b="1" dirty="0">
                    <a:latin typeface="Trebuchet MS" panose="020B0603020202020204" pitchFamily="34" charset="0"/>
                  </a:rPr>
                  <a:t>3&lt;4</a:t>
                </a:r>
              </a:p>
              <a:p>
                <a:pPr marL="342900" indent="-342900" eaLnBrk="1" hangingPunct="1">
                  <a:lnSpc>
                    <a:spcPct val="120000"/>
                  </a:lnSpc>
                  <a:spcBef>
                    <a:spcPts val="600"/>
                  </a:spcBef>
                  <a:buClr>
                    <a:srgbClr val="0B61FF"/>
                  </a:buClr>
                  <a:buSzPct val="80000"/>
                  <a:buFont typeface="Wingdings" panose="05000000000000000000" pitchFamily="2" charset="2"/>
                  <a:buChar char="n"/>
                </a:pPr>
                <a:r>
                  <a:rPr kumimoji="0" lang="en-US" altLang="zh-CN" sz="2400" b="1" dirty="0">
                    <a:latin typeface="Trebuchet MS" panose="020B0603020202020204" pitchFamily="34" charset="0"/>
                  </a:rPr>
                  <a:t>Solve:</a:t>
                </a:r>
                <a:r>
                  <a:rPr kumimoji="0" lang="zh-CN" altLang="en-US" sz="2400" b="1" dirty="0">
                    <a:latin typeface="Trebuchet MS" panose="020B0603020202020204" pitchFamily="34" charset="0"/>
                  </a:rPr>
                  <a:t> </a:t>
                </a:r>
                <a:endParaRPr kumimoji="0" lang="en-US" altLang="zh-CN" sz="2400" b="1" dirty="0">
                  <a:latin typeface="Trebuchet MS" panose="020B0603020202020204" pitchFamily="34" charset="0"/>
                </a:endParaRPr>
              </a:p>
              <a:p>
                <a:pPr eaLnBrk="1" hangingPunct="1">
                  <a:lnSpc>
                    <a:spcPct val="120000"/>
                  </a:lnSpc>
                  <a:spcBef>
                    <a:spcPts val="600"/>
                  </a:spcBef>
                  <a:buClr>
                    <a:schemeClr val="bg2"/>
                  </a:buClr>
                  <a:buSzPct val="75000"/>
                  <a:buFont typeface="Wingdings" panose="05000000000000000000" pitchFamily="2" charset="2"/>
                  <a:buNone/>
                </a:pPr>
                <a:r>
                  <a:rPr kumimoji="0" lang="zh-CN" altLang="en-US" sz="2400" b="1" dirty="0">
                    <a:solidFill>
                      <a:srgbClr val="0B61FF"/>
                    </a:solidFill>
                    <a:latin typeface="Trebuchet MS" panose="020B0603020202020204" pitchFamily="34" charset="0"/>
                  </a:rPr>
                  <a:t>(1)</a:t>
                </a:r>
                <a:r>
                  <a:rPr kumimoji="0" lang="zh-CN" altLang="en-US" sz="2400" b="1" dirty="0">
                    <a:latin typeface="Trebuchet MS" panose="020B0603020202020204" pitchFamily="34" charset="0"/>
                  </a:rPr>
                  <a:t> </a:t>
                </a:r>
                <a:r>
                  <a:rPr kumimoji="0" lang="en-US" altLang="zh-CN" sz="2400" b="1" dirty="0">
                    <a:latin typeface="Trebuchet MS" panose="020B0603020202020204" pitchFamily="34" charset="0"/>
                  </a:rPr>
                  <a:t>Let </a:t>
                </a:r>
                <a:r>
                  <a:rPr kumimoji="0" lang="en-US" altLang="zh-CN" sz="2400" b="1" i="1" dirty="0">
                    <a:latin typeface="Trebuchet MS" panose="020B0603020202020204" pitchFamily="34" charset="0"/>
                  </a:rPr>
                  <a:t>F</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x</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x</a:t>
                </a:r>
                <a:r>
                  <a:rPr kumimoji="0" lang="zh-CN" altLang="en-US" sz="2400" b="1" i="1" dirty="0">
                    <a:latin typeface="Trebuchet MS" panose="020B0603020202020204" pitchFamily="34" charset="0"/>
                  </a:rPr>
                  <a:t> </a:t>
                </a:r>
                <a:r>
                  <a:rPr kumimoji="0" lang="en-US" altLang="zh-CN" sz="2400" dirty="0">
                    <a:latin typeface="Trebuchet MS" panose="020B0603020202020204" pitchFamily="34" charset="0"/>
                  </a:rPr>
                  <a:t>is irrational</a:t>
                </a:r>
                <a:r>
                  <a:rPr kumimoji="0" lang="zh-CN" altLang="en-US" sz="2400" b="1" dirty="0">
                    <a:latin typeface="Trebuchet MS" panose="020B0603020202020204" pitchFamily="34" charset="0"/>
                  </a:rPr>
                  <a:t>, </a:t>
                </a:r>
                <a:r>
                  <a:rPr kumimoji="0" lang="en-US" altLang="zh-CN" sz="2400" b="1" i="1" dirty="0">
                    <a:latin typeface="Trebuchet MS" panose="020B0603020202020204" pitchFamily="34" charset="0"/>
                  </a:rPr>
                  <a:t>G</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x</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x</a:t>
                </a:r>
                <a:r>
                  <a:rPr kumimoji="0" lang="en-US" altLang="zh-CN" sz="2400" b="1" dirty="0">
                    <a:latin typeface="Trebuchet MS" panose="020B0603020202020204" pitchFamily="34" charset="0"/>
                  </a:rPr>
                  <a:t> </a:t>
                </a:r>
                <a:r>
                  <a:rPr kumimoji="0" lang="en-US" altLang="zh-CN" sz="2400" dirty="0">
                    <a:latin typeface="Trebuchet MS" panose="020B0603020202020204" pitchFamily="34" charset="0"/>
                  </a:rPr>
                  <a:t>is rational</a:t>
                </a:r>
                <a:endParaRPr kumimoji="0" lang="zh-CN" altLang="en-US" sz="2400" dirty="0">
                  <a:latin typeface="Trebuchet MS" panose="020B0603020202020204" pitchFamily="34" charset="0"/>
                </a:endParaRPr>
              </a:p>
              <a:p>
                <a:pPr>
                  <a:lnSpc>
                    <a:spcPct val="120000"/>
                  </a:lnSpc>
                  <a:spcBef>
                    <a:spcPts val="600"/>
                  </a:spcBef>
                  <a:buClr>
                    <a:schemeClr val="bg2"/>
                  </a:buClr>
                  <a:buSzPct val="75000"/>
                </a:pPr>
                <a:r>
                  <a:rPr lang="en-US" altLang="zh-CN" sz="2400" b="0" i="0" dirty="0">
                    <a:solidFill>
                      <a:srgbClr val="0C0D0E"/>
                    </a:solidFill>
                    <a:effectLst/>
                    <a:latin typeface="Trebuchet MS" panose="020B0603020202020204" pitchFamily="34" charset="0"/>
                  </a:rPr>
                  <a:t>Symbolization</a:t>
                </a:r>
                <a:r>
                  <a:rPr lang="en-US" altLang="zh-CN" sz="2400" dirty="0">
                    <a:latin typeface="Trebuchet MS" panose="020B0603020202020204" pitchFamily="34" charset="0"/>
                  </a:rPr>
                  <a:t> as: </a:t>
                </a:r>
                <a14:m>
                  <m:oMath xmlns:m="http://schemas.openxmlformats.org/officeDocument/2006/math">
                    <m:r>
                      <a:rPr lang="en-US" altLang="zh-CN" sz="2400" b="1" i="1" smtClean="0">
                        <a:latin typeface="Cambria Math" panose="02040503050406030204" pitchFamily="18" charset="0"/>
                      </a:rPr>
                      <m:t>𝑭</m:t>
                    </m:r>
                    <m:d>
                      <m:dPr>
                        <m:ctrlPr>
                          <a:rPr lang="en-US" altLang="zh-CN" sz="2400" b="0" i="1" smtClean="0">
                            <a:latin typeface="Cambria Math" panose="02040503050406030204" pitchFamily="18" charset="0"/>
                          </a:rPr>
                        </m:ctrlPr>
                      </m:dPr>
                      <m:e>
                        <m:rad>
                          <m:radPr>
                            <m:degHide m:val="on"/>
                            <m:ctrlPr>
                              <a:rPr lang="zh-CN" altLang="en-US" sz="2400" b="1" i="1">
                                <a:latin typeface="Cambria Math" panose="02040503050406030204" pitchFamily="18" charset="0"/>
                              </a:rPr>
                            </m:ctrlPr>
                          </m:radPr>
                          <m:deg/>
                          <m:e>
                            <m:r>
                              <a:rPr lang="en-US" altLang="zh-CN" sz="2400" b="1" i="1">
                                <a:latin typeface="Cambria Math" panose="02040503050406030204" pitchFamily="18" charset="0"/>
                              </a:rPr>
                              <m:t>𝟐</m:t>
                            </m:r>
                          </m:e>
                        </m:rad>
                      </m:e>
                    </m:d>
                    <m:r>
                      <a:rPr lang="en-US" altLang="zh-CN" sz="2400" b="1" i="0" smtClean="0">
                        <a:latin typeface="Cambria Math" panose="02040503050406030204" pitchFamily="18" charset="0"/>
                        <a:ea typeface="Cambria Math" panose="02040503050406030204" pitchFamily="18" charset="0"/>
                      </a:rPr>
                      <m:t>∧</m:t>
                    </m:r>
                    <m:r>
                      <a:rPr lang="en-US" altLang="zh-CN" sz="2400" b="1" i="1" smtClean="0">
                        <a:latin typeface="Cambria Math" panose="02040503050406030204" pitchFamily="18" charset="0"/>
                        <a:ea typeface="Cambria Math" panose="02040503050406030204" pitchFamily="18" charset="0"/>
                      </a:rPr>
                      <m:t>𝑮</m:t>
                    </m:r>
                    <m:d>
                      <m:dPr>
                        <m:ctrlPr>
                          <a:rPr lang="en-US" altLang="zh-CN" sz="2400" b="1" i="1" smtClean="0">
                            <a:latin typeface="Cambria Math" panose="02040503050406030204" pitchFamily="18" charset="0"/>
                            <a:ea typeface="Cambria Math" panose="02040503050406030204" pitchFamily="18" charset="0"/>
                          </a:rPr>
                        </m:ctrlPr>
                      </m:dPr>
                      <m:e>
                        <m:rad>
                          <m:radPr>
                            <m:degHide m:val="on"/>
                            <m:ctrlPr>
                              <a:rPr lang="zh-CN" altLang="en-US" sz="2400" b="1" i="1">
                                <a:latin typeface="Cambria Math" panose="02040503050406030204" pitchFamily="18" charset="0"/>
                              </a:rPr>
                            </m:ctrlPr>
                          </m:radPr>
                          <m:deg/>
                          <m:e>
                            <m:r>
                              <a:rPr lang="en-US" altLang="zh-CN" sz="2400" b="1" i="1">
                                <a:latin typeface="Cambria Math" panose="02040503050406030204" pitchFamily="18" charset="0"/>
                              </a:rPr>
                              <m:t>𝟑</m:t>
                            </m:r>
                          </m:e>
                        </m:rad>
                      </m:e>
                    </m:d>
                  </m:oMath>
                </a14:m>
                <a:r>
                  <a:rPr kumimoji="0" lang="en-US" altLang="zh-CN" sz="2400" b="1" dirty="0">
                    <a:latin typeface="Trebuchet MS" panose="020B0603020202020204" pitchFamily="34" charset="0"/>
                  </a:rPr>
                  <a:t>,  True</a:t>
                </a:r>
                <a:r>
                  <a:rPr kumimoji="0" lang="zh-CN" altLang="en-US" sz="2400" b="1" dirty="0">
                    <a:latin typeface="Trebuchet MS" panose="020B0603020202020204" pitchFamily="34" charset="0"/>
                  </a:rPr>
                  <a:t> </a:t>
                </a:r>
                <a:r>
                  <a:rPr kumimoji="0" lang="en-US" altLang="zh-CN" sz="2400" b="1" dirty="0">
                    <a:latin typeface="Trebuchet MS" panose="020B0603020202020204" pitchFamily="34" charset="0"/>
                  </a:rPr>
                  <a:t>value: </a:t>
                </a:r>
                <a:r>
                  <a:rPr kumimoji="0" lang="zh-CN" altLang="en-US" sz="2400" b="1" dirty="0">
                    <a:latin typeface="Trebuchet MS" panose="020B0603020202020204" pitchFamily="34" charset="0"/>
                  </a:rPr>
                  <a:t>0</a:t>
                </a:r>
              </a:p>
              <a:p>
                <a:pPr eaLnBrk="1" hangingPunct="1">
                  <a:lnSpc>
                    <a:spcPct val="120000"/>
                  </a:lnSpc>
                  <a:spcBef>
                    <a:spcPts val="600"/>
                  </a:spcBef>
                  <a:buClr>
                    <a:schemeClr val="bg2"/>
                  </a:buClr>
                  <a:buSzPct val="75000"/>
                  <a:buFont typeface="Wingdings" panose="05000000000000000000" pitchFamily="2" charset="2"/>
                  <a:buNone/>
                </a:pPr>
                <a:r>
                  <a:rPr kumimoji="0" lang="zh-CN" altLang="en-US" sz="2400" b="1" dirty="0">
                    <a:solidFill>
                      <a:srgbClr val="0B61FF"/>
                    </a:solidFill>
                    <a:latin typeface="Trebuchet MS" panose="020B0603020202020204" pitchFamily="34" charset="0"/>
                  </a:rPr>
                  <a:t>(2) </a:t>
                </a:r>
                <a:r>
                  <a:rPr kumimoji="0" lang="en-US" altLang="zh-CN" sz="2400" b="1" dirty="0">
                    <a:latin typeface="Trebuchet MS" panose="020B0603020202020204" pitchFamily="34" charset="0"/>
                  </a:rPr>
                  <a:t>Let </a:t>
                </a:r>
                <a:r>
                  <a:rPr kumimoji="0" lang="zh-CN" altLang="en-US" sz="2400" b="1" dirty="0">
                    <a:latin typeface="Trebuchet MS" panose="020B0603020202020204" pitchFamily="34" charset="0"/>
                  </a:rPr>
                  <a:t> </a:t>
                </a:r>
                <a:r>
                  <a:rPr kumimoji="0" lang="en-US" altLang="zh-CN" sz="2400" b="1" i="1" dirty="0">
                    <a:latin typeface="Trebuchet MS" panose="020B0603020202020204" pitchFamily="34" charset="0"/>
                  </a:rPr>
                  <a:t>F</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x</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y</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x</a:t>
                </a:r>
                <a:r>
                  <a:rPr kumimoji="0" lang="en-US" altLang="zh-CN" sz="2400" b="1" dirty="0">
                    <a:latin typeface="Trebuchet MS" panose="020B0603020202020204" pitchFamily="34" charset="0"/>
                  </a:rPr>
                  <a:t>&gt;</a:t>
                </a:r>
                <a:r>
                  <a:rPr kumimoji="0" lang="en-US" altLang="zh-CN" sz="2400" b="1" i="1" dirty="0">
                    <a:latin typeface="Trebuchet MS" panose="020B0603020202020204" pitchFamily="34" charset="0"/>
                  </a:rPr>
                  <a:t>y</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G</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x</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y</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x</a:t>
                </a:r>
                <a:r>
                  <a:rPr kumimoji="0" lang="en-US" altLang="zh-CN" sz="2400" b="1" dirty="0">
                    <a:latin typeface="Trebuchet MS" panose="020B0603020202020204" pitchFamily="34" charset="0"/>
                  </a:rPr>
                  <a:t>&lt;</a:t>
                </a:r>
                <a:r>
                  <a:rPr kumimoji="0" lang="en-US" altLang="zh-CN" sz="2400" b="1" i="1" dirty="0">
                    <a:latin typeface="Trebuchet MS" panose="020B0603020202020204" pitchFamily="34" charset="0"/>
                  </a:rPr>
                  <a:t>y,</a:t>
                </a:r>
              </a:p>
              <a:p>
                <a:pPr eaLnBrk="1" hangingPunct="1">
                  <a:lnSpc>
                    <a:spcPct val="120000"/>
                  </a:lnSpc>
                  <a:spcBef>
                    <a:spcPts val="600"/>
                  </a:spcBef>
                  <a:buClr>
                    <a:schemeClr val="bg2"/>
                  </a:buClr>
                  <a:buSzPct val="75000"/>
                  <a:buFont typeface="Wingdings" panose="05000000000000000000" pitchFamily="2" charset="2"/>
                  <a:buNone/>
                </a:pPr>
                <a:r>
                  <a:rPr lang="en-US" altLang="zh-CN" sz="2400" b="0" i="0" dirty="0">
                    <a:solidFill>
                      <a:srgbClr val="0C0D0E"/>
                    </a:solidFill>
                    <a:effectLst/>
                    <a:latin typeface="Trebuchet MS" panose="020B0603020202020204" pitchFamily="34" charset="0"/>
                  </a:rPr>
                  <a:t>Symbolization</a:t>
                </a:r>
                <a:r>
                  <a:rPr lang="en-US" altLang="zh-CN" sz="2400" dirty="0">
                    <a:latin typeface="Trebuchet MS" panose="020B0603020202020204" pitchFamily="34" charset="0"/>
                  </a:rPr>
                  <a:t> as: </a:t>
                </a:r>
                <a14:m>
                  <m:oMath xmlns:m="http://schemas.openxmlformats.org/officeDocument/2006/math">
                    <m:r>
                      <a:rPr lang="en-US" altLang="zh-CN" sz="2400" b="1" i="1" smtClean="0">
                        <a:latin typeface="Cambria Math" panose="02040503050406030204" pitchFamily="18" charset="0"/>
                      </a:rPr>
                      <m:t>𝑭</m:t>
                    </m:r>
                    <m:d>
                      <m:dPr>
                        <m:ctrlPr>
                          <a:rPr lang="en-US" altLang="zh-CN" sz="2400" b="1" i="1" smtClean="0">
                            <a:latin typeface="Cambria Math" panose="02040503050406030204" pitchFamily="18" charset="0"/>
                          </a:rPr>
                        </m:ctrlPr>
                      </m:dPr>
                      <m:e>
                        <m:r>
                          <a:rPr lang="en-US" altLang="zh-CN" sz="2400" b="1" i="1" smtClean="0">
                            <a:latin typeface="Cambria Math" panose="02040503050406030204" pitchFamily="18" charset="0"/>
                          </a:rPr>
                          <m:t>𝟐</m:t>
                        </m:r>
                        <m:r>
                          <a:rPr lang="en-US" altLang="zh-CN" sz="2400" b="1" i="1" smtClean="0">
                            <a:latin typeface="Cambria Math" panose="02040503050406030204" pitchFamily="18" charset="0"/>
                          </a:rPr>
                          <m:t>,</m:t>
                        </m:r>
                        <m:r>
                          <a:rPr lang="en-US" altLang="zh-CN" sz="2400" b="1" i="1" smtClean="0">
                            <a:latin typeface="Cambria Math" panose="02040503050406030204" pitchFamily="18" charset="0"/>
                          </a:rPr>
                          <m:t>𝟑</m:t>
                        </m:r>
                      </m:e>
                    </m:d>
                    <m:r>
                      <a:rPr lang="en-US" altLang="zh-CN" sz="2400" b="1" i="1" smtClean="0">
                        <a:latin typeface="Cambria Math" panose="02040503050406030204" pitchFamily="18" charset="0"/>
                        <a:ea typeface="Cambria Math" panose="02040503050406030204" pitchFamily="18" charset="0"/>
                      </a:rPr>
                      <m:t>→</m:t>
                    </m:r>
                    <m:r>
                      <a:rPr lang="en-US" altLang="zh-CN" sz="2400" b="1" i="1" smtClean="0">
                        <a:latin typeface="Cambria Math" panose="02040503050406030204" pitchFamily="18" charset="0"/>
                        <a:ea typeface="Cambria Math" panose="02040503050406030204" pitchFamily="18" charset="0"/>
                      </a:rPr>
                      <m:t>𝑮</m:t>
                    </m:r>
                    <m:d>
                      <m:dPr>
                        <m:ctrlPr>
                          <a:rPr lang="en-US" altLang="zh-CN" sz="2400" b="1" i="1" smtClean="0">
                            <a:latin typeface="Cambria Math" panose="02040503050406030204" pitchFamily="18" charset="0"/>
                            <a:ea typeface="Cambria Math" panose="02040503050406030204" pitchFamily="18" charset="0"/>
                          </a:rPr>
                        </m:ctrlPr>
                      </m:dPr>
                      <m:e>
                        <m:r>
                          <a:rPr lang="en-US" altLang="zh-CN" sz="2400" b="1" i="1" smtClean="0">
                            <a:latin typeface="Cambria Math" panose="02040503050406030204" pitchFamily="18" charset="0"/>
                            <a:ea typeface="Cambria Math" panose="02040503050406030204" pitchFamily="18" charset="0"/>
                          </a:rPr>
                          <m:t>𝟑</m:t>
                        </m:r>
                        <m:r>
                          <a:rPr lang="en-US" altLang="zh-CN" sz="2400" b="1" i="1" smtClean="0">
                            <a:latin typeface="Cambria Math" panose="02040503050406030204" pitchFamily="18" charset="0"/>
                            <a:ea typeface="Cambria Math" panose="02040503050406030204" pitchFamily="18" charset="0"/>
                          </a:rPr>
                          <m:t>,</m:t>
                        </m:r>
                        <m:r>
                          <a:rPr lang="en-US" altLang="zh-CN" sz="2400" b="1" i="1" smtClean="0">
                            <a:latin typeface="Cambria Math" panose="02040503050406030204" pitchFamily="18" charset="0"/>
                            <a:ea typeface="Cambria Math" panose="02040503050406030204" pitchFamily="18" charset="0"/>
                          </a:rPr>
                          <m:t>𝟒</m:t>
                        </m:r>
                      </m:e>
                    </m:d>
                  </m:oMath>
                </a14:m>
                <a:r>
                  <a:rPr kumimoji="0" lang="en-US" altLang="zh-CN" sz="2400" b="1" dirty="0">
                    <a:latin typeface="Trebuchet MS" panose="020B0603020202020204" pitchFamily="34" charset="0"/>
                  </a:rPr>
                  <a:t>, True</a:t>
                </a:r>
                <a:r>
                  <a:rPr kumimoji="0" lang="zh-CN" altLang="en-US" sz="2400" b="1" dirty="0">
                    <a:latin typeface="Trebuchet MS" panose="020B0603020202020204" pitchFamily="34" charset="0"/>
                  </a:rPr>
                  <a:t> </a:t>
                </a:r>
                <a:r>
                  <a:rPr kumimoji="0" lang="en-US" altLang="zh-CN" sz="2400" b="1" dirty="0">
                    <a:latin typeface="Trebuchet MS" panose="020B0603020202020204" pitchFamily="34" charset="0"/>
                  </a:rPr>
                  <a:t>value: </a:t>
                </a:r>
                <a:r>
                  <a:rPr kumimoji="0" lang="zh-CN" altLang="en-US" sz="2400" b="1" dirty="0">
                    <a:latin typeface="Trebuchet MS" panose="020B0603020202020204" pitchFamily="34" charset="0"/>
                  </a:rPr>
                  <a:t>1</a:t>
                </a:r>
              </a:p>
            </p:txBody>
          </p:sp>
        </mc:Choice>
        <mc:Fallback xmlns="">
          <p:sp>
            <p:nvSpPr>
              <p:cNvPr id="16" name="文本框 15">
                <a:extLst>
                  <a:ext uri="{FF2B5EF4-FFF2-40B4-BE49-F238E27FC236}">
                    <a16:creationId xmlns:a16="http://schemas.microsoft.com/office/drawing/2014/main" id="{F80D7BCB-0B4D-4798-9066-BD9EBB8D3EF5}"/>
                  </a:ext>
                </a:extLst>
              </p:cNvPr>
              <p:cNvSpPr txBox="1">
                <a:spLocks noRot="1" noChangeAspect="1" noMove="1" noResize="1" noEditPoints="1" noAdjustHandles="1" noChangeArrowheads="1" noChangeShapeType="1" noTextEdit="1"/>
              </p:cNvSpPr>
              <p:nvPr/>
            </p:nvSpPr>
            <p:spPr>
              <a:xfrm>
                <a:off x="1087244" y="987626"/>
                <a:ext cx="9718288" cy="4701480"/>
              </a:xfrm>
              <a:prstGeom prst="rect">
                <a:avLst/>
              </a:prstGeom>
              <a:blipFill>
                <a:blip r:embed="rId5"/>
                <a:stretch>
                  <a:fillRect l="-940" t="-778" b="-1946"/>
                </a:stretch>
              </a:blipFill>
            </p:spPr>
            <p:txBody>
              <a:bodyPr/>
              <a:lstStyle/>
              <a:p>
                <a:r>
                  <a:rPr lang="zh-CN" altLang="en-US">
                    <a:noFill/>
                  </a:rPr>
                  <a:t> </a:t>
                </a:r>
              </a:p>
            </p:txBody>
          </p:sp>
        </mc:Fallback>
      </mc:AlternateContent>
      <p:pic>
        <p:nvPicPr>
          <p:cNvPr id="17" name="图片 16">
            <a:extLst>
              <a:ext uri="{FF2B5EF4-FFF2-40B4-BE49-F238E27FC236}">
                <a16:creationId xmlns:a16="http://schemas.microsoft.com/office/drawing/2014/main" id="{781E38FA-EA86-4742-9A02-8652E9DD1A15}"/>
              </a:ext>
            </a:extLst>
          </p:cNvPr>
          <p:cNvPicPr/>
          <p:nvPr/>
        </p:nvPicPr>
        <p:blipFill>
          <a:blip r:embed="rId6"/>
          <a:stretch>
            <a:fillRect/>
          </a:stretch>
        </p:blipFill>
        <p:spPr>
          <a:xfrm>
            <a:off x="1201622" y="1133862"/>
            <a:ext cx="577850" cy="241300"/>
          </a:xfrm>
          <a:prstGeom prst="rect">
            <a:avLst/>
          </a:prstGeom>
        </p:spPr>
      </p:pic>
    </p:spTree>
    <p:extLst>
      <p:ext uri="{BB962C8B-B14F-4D97-AF65-F5344CB8AC3E}">
        <p14:creationId xmlns:p14="http://schemas.microsoft.com/office/powerpoint/2010/main" val="398872341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6">
                                            <p:txEl>
                                              <p:pRg st="4" end="4"/>
                                            </p:txEl>
                                          </p:spTgt>
                                        </p:tgtEl>
                                        <p:attrNameLst>
                                          <p:attrName>style.visibility</p:attrName>
                                        </p:attrNameLst>
                                      </p:cBhvr>
                                      <p:to>
                                        <p:strVal val="visible"/>
                                      </p:to>
                                    </p:set>
                                    <p:animEffect transition="in" filter="fade">
                                      <p:cBhvr>
                                        <p:cTn id="7" dur="1000"/>
                                        <p:tgtEl>
                                          <p:spTgt spid="16">
                                            <p:txEl>
                                              <p:pRg st="4" end="4"/>
                                            </p:txEl>
                                          </p:spTgt>
                                        </p:tgtEl>
                                      </p:cBhvr>
                                    </p:animEffect>
                                    <p:anim calcmode="lin" valueType="num">
                                      <p:cBhvr>
                                        <p:cTn id="8" dur="1000" fill="hold"/>
                                        <p:tgtEl>
                                          <p:spTgt spid="16">
                                            <p:txEl>
                                              <p:pRg st="4" end="4"/>
                                            </p:txEl>
                                          </p:spTgt>
                                        </p:tgtEl>
                                        <p:attrNameLst>
                                          <p:attrName>ppt_x</p:attrName>
                                        </p:attrNameLst>
                                      </p:cBhvr>
                                      <p:tavLst>
                                        <p:tav tm="0">
                                          <p:val>
                                            <p:strVal val="#ppt_x"/>
                                          </p:val>
                                        </p:tav>
                                        <p:tav tm="100000">
                                          <p:val>
                                            <p:strVal val="#ppt_x"/>
                                          </p:val>
                                        </p:tav>
                                      </p:tavLst>
                                    </p:anim>
                                    <p:anim calcmode="lin" valueType="num">
                                      <p:cBhvr>
                                        <p:cTn id="9" dur="1000" fill="hold"/>
                                        <p:tgtEl>
                                          <p:spTgt spid="16">
                                            <p:txEl>
                                              <p:pRg st="4" end="4"/>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6">
                                            <p:txEl>
                                              <p:pRg st="5" end="5"/>
                                            </p:txEl>
                                          </p:spTgt>
                                        </p:tgtEl>
                                        <p:attrNameLst>
                                          <p:attrName>style.visibility</p:attrName>
                                        </p:attrNameLst>
                                      </p:cBhvr>
                                      <p:to>
                                        <p:strVal val="visible"/>
                                      </p:to>
                                    </p:set>
                                    <p:animEffect transition="in" filter="fade">
                                      <p:cBhvr>
                                        <p:cTn id="12" dur="1000"/>
                                        <p:tgtEl>
                                          <p:spTgt spid="16">
                                            <p:txEl>
                                              <p:pRg st="5" end="5"/>
                                            </p:txEl>
                                          </p:spTgt>
                                        </p:tgtEl>
                                      </p:cBhvr>
                                    </p:animEffect>
                                    <p:anim calcmode="lin" valueType="num">
                                      <p:cBhvr>
                                        <p:cTn id="13" dur="1000" fill="hold"/>
                                        <p:tgtEl>
                                          <p:spTgt spid="16">
                                            <p:txEl>
                                              <p:pRg st="5" end="5"/>
                                            </p:txEl>
                                          </p:spTgt>
                                        </p:tgtEl>
                                        <p:attrNameLst>
                                          <p:attrName>ppt_x</p:attrName>
                                        </p:attrNameLst>
                                      </p:cBhvr>
                                      <p:tavLst>
                                        <p:tav tm="0">
                                          <p:val>
                                            <p:strVal val="#ppt_x"/>
                                          </p:val>
                                        </p:tav>
                                        <p:tav tm="100000">
                                          <p:val>
                                            <p:strVal val="#ppt_x"/>
                                          </p:val>
                                        </p:tav>
                                      </p:tavLst>
                                    </p:anim>
                                    <p:anim calcmode="lin" valueType="num">
                                      <p:cBhvr>
                                        <p:cTn id="14" dur="1000" fill="hold"/>
                                        <p:tgtEl>
                                          <p:spTgt spid="16">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16">
                                            <p:txEl>
                                              <p:pRg st="6" end="6"/>
                                            </p:txEl>
                                          </p:spTgt>
                                        </p:tgtEl>
                                        <p:attrNameLst>
                                          <p:attrName>style.visibility</p:attrName>
                                        </p:attrNameLst>
                                      </p:cBhvr>
                                      <p:to>
                                        <p:strVal val="visible"/>
                                      </p:to>
                                    </p:set>
                                    <p:animEffect transition="in" filter="fade">
                                      <p:cBhvr>
                                        <p:cTn id="19" dur="1000"/>
                                        <p:tgtEl>
                                          <p:spTgt spid="16">
                                            <p:txEl>
                                              <p:pRg st="6" end="6"/>
                                            </p:txEl>
                                          </p:spTgt>
                                        </p:tgtEl>
                                      </p:cBhvr>
                                    </p:animEffect>
                                    <p:anim calcmode="lin" valueType="num">
                                      <p:cBhvr>
                                        <p:cTn id="20" dur="1000" fill="hold"/>
                                        <p:tgtEl>
                                          <p:spTgt spid="16">
                                            <p:txEl>
                                              <p:pRg st="6" end="6"/>
                                            </p:txEl>
                                          </p:spTgt>
                                        </p:tgtEl>
                                        <p:attrNameLst>
                                          <p:attrName>ppt_x</p:attrName>
                                        </p:attrNameLst>
                                      </p:cBhvr>
                                      <p:tavLst>
                                        <p:tav tm="0">
                                          <p:val>
                                            <p:strVal val="#ppt_x"/>
                                          </p:val>
                                        </p:tav>
                                        <p:tav tm="100000">
                                          <p:val>
                                            <p:strVal val="#ppt_x"/>
                                          </p:val>
                                        </p:tav>
                                      </p:tavLst>
                                    </p:anim>
                                    <p:anim calcmode="lin" valueType="num">
                                      <p:cBhvr>
                                        <p:cTn id="21" dur="1000" fill="hold"/>
                                        <p:tgtEl>
                                          <p:spTgt spid="16">
                                            <p:txEl>
                                              <p:pRg st="6" end="6"/>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16">
                                            <p:txEl>
                                              <p:pRg st="7" end="7"/>
                                            </p:txEl>
                                          </p:spTgt>
                                        </p:tgtEl>
                                        <p:attrNameLst>
                                          <p:attrName>style.visibility</p:attrName>
                                        </p:attrNameLst>
                                      </p:cBhvr>
                                      <p:to>
                                        <p:strVal val="visible"/>
                                      </p:to>
                                    </p:set>
                                    <p:animEffect transition="in" filter="fade">
                                      <p:cBhvr>
                                        <p:cTn id="24" dur="1000"/>
                                        <p:tgtEl>
                                          <p:spTgt spid="16">
                                            <p:txEl>
                                              <p:pRg st="7" end="7"/>
                                            </p:txEl>
                                          </p:spTgt>
                                        </p:tgtEl>
                                      </p:cBhvr>
                                    </p:animEffect>
                                    <p:anim calcmode="lin" valueType="num">
                                      <p:cBhvr>
                                        <p:cTn id="25" dur="1000" fill="hold"/>
                                        <p:tgtEl>
                                          <p:spTgt spid="16">
                                            <p:txEl>
                                              <p:pRg st="7" end="7"/>
                                            </p:txEl>
                                          </p:spTgt>
                                        </p:tgtEl>
                                        <p:attrNameLst>
                                          <p:attrName>ppt_x</p:attrName>
                                        </p:attrNameLst>
                                      </p:cBhvr>
                                      <p:tavLst>
                                        <p:tav tm="0">
                                          <p:val>
                                            <p:strVal val="#ppt_x"/>
                                          </p:val>
                                        </p:tav>
                                        <p:tav tm="100000">
                                          <p:val>
                                            <p:strVal val="#ppt_x"/>
                                          </p:val>
                                        </p:tav>
                                      </p:tavLst>
                                    </p:anim>
                                    <p:anim calcmode="lin" valueType="num">
                                      <p:cBhvr>
                                        <p:cTn id="26" dur="1000" fill="hold"/>
                                        <p:tgtEl>
                                          <p:spTgt spid="16">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spcBef>
                <a:spcPts val="600"/>
              </a:spcBef>
              <a:buClr>
                <a:srgbClr val="0B61FF"/>
              </a:buClr>
              <a:buSzPct val="80000"/>
            </a:pPr>
            <a:r>
              <a:rPr lang="en-US" altLang="zh-CN" sz="2000" b="1" dirty="0">
                <a:solidFill>
                  <a:schemeClr val="bg1"/>
                </a:solidFill>
                <a:latin typeface="Trebuchet MS" panose="020B0603020202020204" pitchFamily="34" charset="0"/>
              </a:rPr>
              <a:t>            3.1.2 Individual Terms, Predicates, and Quantifiers</a:t>
            </a:r>
          </a:p>
          <a:p>
            <a:pPr>
              <a:spcBef>
                <a:spcPts val="600"/>
              </a:spcBef>
              <a:buClr>
                <a:srgbClr val="0B61FF"/>
              </a:buClr>
              <a:buSzPct val="80000"/>
            </a:pPr>
            <a:r>
              <a:rPr lang="en-US" altLang="zh-CN" sz="2400" dirty="0">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2400" dirty="0">
                <a:latin typeface="Trebuchet MS" panose="020B0603020202020204" pitchFamily="34" charset="0"/>
              </a:rPr>
              <a:t> </a:t>
            </a:r>
            <a:r>
              <a:rPr lang="en-US" altLang="zh-CN" sz="2400" b="1" dirty="0">
                <a:solidFill>
                  <a:schemeClr val="bg1"/>
                </a:solidFill>
                <a:latin typeface="Trebuchet MS" panose="020B0603020202020204" pitchFamily="34" charset="0"/>
              </a:rPr>
              <a:t>Quantifiers</a:t>
            </a:r>
            <a:endParaRPr lang="en-US" altLang="zh-CN" sz="2400" b="1" dirty="0">
              <a:solidFill>
                <a:schemeClr val="accent2"/>
              </a:solidFill>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0124" y="765175"/>
            <a:ext cx="9602561" cy="578802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lnSpc>
                <a:spcPct val="120000"/>
              </a:lnSpc>
              <a:spcBef>
                <a:spcPts val="600"/>
              </a:spcBef>
              <a:buClr>
                <a:srgbClr val="0B61FF"/>
              </a:buClr>
              <a:buSzPct val="80000"/>
              <a:buFont typeface="Wingdings" panose="05000000000000000000" pitchFamily="2" charset="2"/>
              <a:buChar char="n"/>
            </a:pPr>
            <a:r>
              <a:rPr lang="en-US" altLang="zh-CN" sz="2400" b="1" i="1" dirty="0">
                <a:solidFill>
                  <a:srgbClr val="0C0D0E"/>
                </a:solidFill>
                <a:effectLst/>
                <a:latin typeface="Trebuchet MS" panose="020B0603020202020204" pitchFamily="34" charset="0"/>
              </a:rPr>
              <a:t>Quantifiers</a:t>
            </a:r>
            <a:r>
              <a:rPr lang="en-US" altLang="zh-CN" sz="2400" b="1" i="0" dirty="0">
                <a:solidFill>
                  <a:srgbClr val="0C0D0E"/>
                </a:solidFill>
                <a:effectLst/>
                <a:latin typeface="Trebuchet MS" panose="020B0603020202020204" pitchFamily="34" charset="0"/>
              </a:rPr>
              <a:t>: </a:t>
            </a:r>
            <a:r>
              <a:rPr lang="en-US" altLang="zh-CN" sz="2400" i="0" dirty="0">
                <a:solidFill>
                  <a:srgbClr val="0C0D0E"/>
                </a:solidFill>
                <a:effectLst/>
                <a:latin typeface="Trebuchet MS" panose="020B0603020202020204" pitchFamily="34" charset="0"/>
              </a:rPr>
              <a:t>Words that indicate quantity.</a:t>
            </a:r>
          </a:p>
          <a:p>
            <a:pPr algn="l">
              <a:lnSpc>
                <a:spcPct val="120000"/>
              </a:lnSpc>
              <a:spcBef>
                <a:spcPts val="600"/>
              </a:spcBef>
              <a:buClr>
                <a:srgbClr val="0B61FF"/>
              </a:buClr>
              <a:buSzPct val="80000"/>
              <a:buFont typeface="Wingdings" panose="05000000000000000000" pitchFamily="2" charset="2"/>
              <a:buChar char="n"/>
            </a:pPr>
            <a:r>
              <a:rPr lang="en-US" altLang="zh-CN" sz="2400" b="1" i="1" dirty="0">
                <a:solidFill>
                  <a:srgbClr val="0C0D0E"/>
                </a:solidFill>
                <a:effectLst/>
                <a:latin typeface="Trebuchet MS" panose="020B0603020202020204" pitchFamily="34" charset="0"/>
              </a:rPr>
              <a:t>Universal quantifier </a:t>
            </a:r>
            <a:r>
              <a:rPr lang="en-US" altLang="zh-CN" sz="2400" b="1" i="0" dirty="0">
                <a:solidFill>
                  <a:srgbClr val="0C0D0E"/>
                </a:solidFill>
                <a:effectLst/>
                <a:latin typeface="Trebuchet MS" panose="020B0603020202020204" pitchFamily="34" charset="0"/>
              </a:rPr>
              <a:t>∀</a:t>
            </a:r>
            <a:r>
              <a:rPr lang="en-US" altLang="zh-CN" sz="2400" b="1" i="1" dirty="0">
                <a:solidFill>
                  <a:srgbClr val="0C0D0E"/>
                </a:solidFill>
                <a:effectLst/>
                <a:latin typeface="Trebuchet MS" panose="020B0603020202020204" pitchFamily="34" charset="0"/>
              </a:rPr>
              <a:t>: </a:t>
            </a:r>
            <a:r>
              <a:rPr lang="en-US" altLang="zh-CN" sz="2400" dirty="0">
                <a:solidFill>
                  <a:srgbClr val="0C0D0E"/>
                </a:solidFill>
                <a:effectLst/>
                <a:latin typeface="Trebuchet MS" panose="020B0603020202020204" pitchFamily="34" charset="0"/>
              </a:rPr>
              <a:t>Indicates</a:t>
            </a:r>
            <a:r>
              <a:rPr lang="en-US" altLang="zh-CN" sz="2400" b="1" i="0" dirty="0">
                <a:solidFill>
                  <a:srgbClr val="0C0D0E"/>
                </a:solidFill>
                <a:effectLst/>
                <a:latin typeface="Trebuchet MS" panose="020B0603020202020204" pitchFamily="34" charset="0"/>
              </a:rPr>
              <a:t> 'any', 'all', 'every', </a:t>
            </a:r>
            <a:r>
              <a:rPr lang="en-US" altLang="zh-CN" sz="2400" i="0" dirty="0">
                <a:solidFill>
                  <a:srgbClr val="0C0D0E"/>
                </a:solidFill>
                <a:effectLst/>
                <a:latin typeface="Trebuchet MS" panose="020B0603020202020204" pitchFamily="34" charset="0"/>
              </a:rPr>
              <a:t>etc</a:t>
            </a:r>
            <a:r>
              <a:rPr lang="en-US" altLang="zh-CN" sz="2400" b="1" i="0" dirty="0">
                <a:solidFill>
                  <a:srgbClr val="0C0D0E"/>
                </a:solidFill>
                <a:effectLst/>
                <a:latin typeface="Trebuchet MS" panose="020B0603020202020204" pitchFamily="34" charset="0"/>
              </a:rPr>
              <a:t>.</a:t>
            </a:r>
            <a:endParaRPr lang="en-US" altLang="zh-CN" sz="2400" b="0" i="0" dirty="0">
              <a:solidFill>
                <a:srgbClr val="0C0D0E"/>
              </a:solidFill>
              <a:effectLst/>
              <a:latin typeface="Trebuchet MS" panose="020B0603020202020204" pitchFamily="34" charset="0"/>
            </a:endParaRPr>
          </a:p>
          <a:p>
            <a:pPr marL="0" indent="271463" algn="l">
              <a:lnSpc>
                <a:spcPct val="120000"/>
              </a:lnSpc>
              <a:spcBef>
                <a:spcPts val="600"/>
              </a:spcBef>
              <a:buClr>
                <a:srgbClr val="0B61FF"/>
              </a:buClr>
              <a:buSzPct val="80000"/>
              <a:buNone/>
            </a:pPr>
            <a:r>
              <a:rPr lang="en-US" altLang="zh-CN" sz="2400" b="1" i="0" dirty="0">
                <a:solidFill>
                  <a:srgbClr val="0C0D0E"/>
                </a:solidFill>
                <a:effectLst/>
                <a:latin typeface="Trebuchet MS" panose="020B0603020202020204" pitchFamily="34" charset="0"/>
              </a:rPr>
              <a:t>Such as: </a:t>
            </a:r>
            <a:r>
              <a:rPr lang="en-US" altLang="zh-CN" sz="2400" b="1" dirty="0">
                <a:solidFill>
                  <a:srgbClr val="0C0D0E"/>
                </a:solidFill>
                <a:effectLst/>
                <a:latin typeface="Trebuchet MS" panose="020B0603020202020204" pitchFamily="34" charset="0"/>
              </a:rPr>
              <a:t>∀</a:t>
            </a:r>
            <a:r>
              <a:rPr lang="en-US" altLang="zh-CN" sz="2400" b="1" i="1" dirty="0">
                <a:solidFill>
                  <a:srgbClr val="0C0D0E"/>
                </a:solidFill>
                <a:effectLst/>
                <a:latin typeface="Trebuchet MS" panose="020B0603020202020204" pitchFamily="34" charset="0"/>
              </a:rPr>
              <a:t>x</a:t>
            </a:r>
            <a:r>
              <a:rPr lang="en-US" altLang="zh-CN" sz="2400" b="0" i="0" dirty="0">
                <a:solidFill>
                  <a:srgbClr val="0C0D0E"/>
                </a:solidFill>
                <a:effectLst/>
                <a:latin typeface="Trebuchet MS" panose="020B0603020202020204" pitchFamily="34" charset="0"/>
              </a:rPr>
              <a:t> means "for all </a:t>
            </a:r>
            <a:r>
              <a:rPr lang="en-US" altLang="zh-CN" sz="2400" b="1" i="1" dirty="0">
                <a:solidFill>
                  <a:srgbClr val="0C0D0E"/>
                </a:solidFill>
                <a:effectLst/>
                <a:latin typeface="Trebuchet MS" panose="020B0603020202020204" pitchFamily="34" charset="0"/>
              </a:rPr>
              <a:t>x</a:t>
            </a:r>
            <a:r>
              <a:rPr lang="en-US" altLang="zh-CN" sz="2400" b="0" i="0" dirty="0">
                <a:solidFill>
                  <a:srgbClr val="0C0D0E"/>
                </a:solidFill>
                <a:effectLst/>
                <a:latin typeface="Trebuchet MS" panose="020B0603020202020204" pitchFamily="34" charset="0"/>
              </a:rPr>
              <a:t> in the domain of discourse."</a:t>
            </a:r>
          </a:p>
          <a:p>
            <a:pPr marL="0" indent="0" algn="l">
              <a:lnSpc>
                <a:spcPct val="120000"/>
              </a:lnSpc>
              <a:spcBef>
                <a:spcPts val="600"/>
              </a:spcBef>
              <a:buClr>
                <a:srgbClr val="0B61FF"/>
              </a:buClr>
              <a:buSzPct val="80000"/>
              <a:buNone/>
            </a:pPr>
            <a:r>
              <a:rPr lang="en-US" altLang="zh-CN" sz="2400" b="0" i="0" dirty="0">
                <a:solidFill>
                  <a:srgbClr val="0C0D0E"/>
                </a:solidFill>
                <a:effectLst/>
                <a:latin typeface="Trebuchet MS" panose="020B0603020202020204" pitchFamily="34" charset="0"/>
              </a:rPr>
              <a:t>                 </a:t>
            </a:r>
            <a:r>
              <a:rPr lang="en-US" altLang="zh-CN" sz="2400" b="1" i="0" dirty="0">
                <a:solidFill>
                  <a:srgbClr val="0C0D0E"/>
                </a:solidFill>
                <a:effectLst/>
                <a:latin typeface="Trebuchet MS" panose="020B0603020202020204" pitchFamily="34" charset="0"/>
              </a:rPr>
              <a:t>∀</a:t>
            </a:r>
            <a:r>
              <a:rPr lang="en-US" altLang="zh-CN" sz="2400" b="1" i="1" dirty="0">
                <a:solidFill>
                  <a:srgbClr val="0C0D0E"/>
                </a:solidFill>
                <a:effectLst/>
                <a:latin typeface="Trebuchet MS" panose="020B0603020202020204" pitchFamily="34" charset="0"/>
              </a:rPr>
              <a:t>xF</a:t>
            </a:r>
            <a:r>
              <a:rPr lang="en-US" altLang="zh-CN" sz="2400" b="1" i="0" dirty="0">
                <a:solidFill>
                  <a:srgbClr val="0C0D0E"/>
                </a:solidFill>
                <a:effectLst/>
                <a:latin typeface="Trebuchet MS" panose="020B0603020202020204" pitchFamily="34" charset="0"/>
              </a:rPr>
              <a:t>(</a:t>
            </a:r>
            <a:r>
              <a:rPr lang="en-US" altLang="zh-CN" sz="2400" b="1" i="1" dirty="0">
                <a:solidFill>
                  <a:srgbClr val="0C0D0E"/>
                </a:solidFill>
                <a:effectLst/>
                <a:latin typeface="Trebuchet MS" panose="020B0603020202020204" pitchFamily="34" charset="0"/>
              </a:rPr>
              <a:t>x</a:t>
            </a:r>
            <a:r>
              <a:rPr lang="en-US" altLang="zh-CN" sz="2400" b="1" i="0" dirty="0">
                <a:solidFill>
                  <a:srgbClr val="0C0D0E"/>
                </a:solidFill>
                <a:effectLst/>
                <a:latin typeface="Trebuchet MS" panose="020B0603020202020204" pitchFamily="34" charset="0"/>
              </a:rPr>
              <a:t>) </a:t>
            </a:r>
            <a:r>
              <a:rPr lang="en-US" altLang="zh-CN" sz="2400" b="0" i="0" dirty="0">
                <a:solidFill>
                  <a:srgbClr val="0C0D0E"/>
                </a:solidFill>
                <a:effectLst/>
                <a:latin typeface="Trebuchet MS" panose="020B0603020202020204" pitchFamily="34" charset="0"/>
              </a:rPr>
              <a:t>means "All </a:t>
            </a:r>
            <a:r>
              <a:rPr lang="en-US" altLang="zh-CN" sz="2400" i="1" dirty="0">
                <a:solidFill>
                  <a:srgbClr val="0C0D0E"/>
                </a:solidFill>
                <a:effectLst/>
                <a:latin typeface="Trebuchet MS" panose="020B0603020202020204" pitchFamily="34" charset="0"/>
              </a:rPr>
              <a:t>x</a:t>
            </a:r>
            <a:r>
              <a:rPr lang="en-US" altLang="zh-CN" sz="2400" b="0" i="0" dirty="0">
                <a:solidFill>
                  <a:srgbClr val="0C0D0E"/>
                </a:solidFill>
                <a:effectLst/>
                <a:latin typeface="Trebuchet MS" panose="020B0603020202020204" pitchFamily="34" charset="0"/>
              </a:rPr>
              <a:t> have the property </a:t>
            </a:r>
            <a:r>
              <a:rPr lang="en-US" altLang="zh-CN" sz="2400" b="1" i="1" dirty="0">
                <a:solidFill>
                  <a:srgbClr val="0C0D0E"/>
                </a:solidFill>
                <a:effectLst/>
                <a:latin typeface="Trebuchet MS" panose="020B0603020202020204" pitchFamily="34" charset="0"/>
              </a:rPr>
              <a:t>F</a:t>
            </a:r>
            <a:r>
              <a:rPr lang="en-US" altLang="zh-CN" sz="2400" b="0" i="0" dirty="0">
                <a:solidFill>
                  <a:srgbClr val="0C0D0E"/>
                </a:solidFill>
                <a:effectLst/>
                <a:latin typeface="Trebuchet MS" panose="020B0603020202020204" pitchFamily="34" charset="0"/>
              </a:rPr>
              <a:t>."</a:t>
            </a:r>
          </a:p>
          <a:p>
            <a:pPr algn="l">
              <a:lnSpc>
                <a:spcPct val="120000"/>
              </a:lnSpc>
              <a:spcBef>
                <a:spcPts val="600"/>
              </a:spcBef>
              <a:buClr>
                <a:srgbClr val="0B61FF"/>
              </a:buClr>
              <a:buSzPct val="80000"/>
              <a:buFont typeface="Wingdings" panose="05000000000000000000" pitchFamily="2" charset="2"/>
              <a:buChar char="n"/>
            </a:pPr>
            <a:r>
              <a:rPr lang="en-US" altLang="zh-CN" sz="2400" b="1" i="0" dirty="0">
                <a:solidFill>
                  <a:srgbClr val="0C0D0E"/>
                </a:solidFill>
                <a:effectLst/>
                <a:latin typeface="Trebuchet MS" panose="020B0603020202020204" pitchFamily="34" charset="0"/>
              </a:rPr>
              <a:t>Existential quantifier ∃: </a:t>
            </a:r>
            <a:r>
              <a:rPr lang="en-US" altLang="zh-CN" sz="2400" i="0" dirty="0">
                <a:solidFill>
                  <a:srgbClr val="0C0D0E"/>
                </a:solidFill>
                <a:effectLst/>
                <a:latin typeface="Trebuchet MS" panose="020B0603020202020204" pitchFamily="34" charset="0"/>
              </a:rPr>
              <a:t>Indicates</a:t>
            </a:r>
            <a:r>
              <a:rPr lang="en-US" altLang="zh-CN" sz="2400" b="1" i="0" dirty="0">
                <a:solidFill>
                  <a:srgbClr val="0C0D0E"/>
                </a:solidFill>
                <a:effectLst/>
                <a:latin typeface="Trebuchet MS" panose="020B0603020202020204" pitchFamily="34" charset="0"/>
              </a:rPr>
              <a:t> 'there exists', 'there is', 'at least one', </a:t>
            </a:r>
            <a:r>
              <a:rPr lang="en-US" altLang="zh-CN" sz="2400" i="0" dirty="0">
                <a:solidFill>
                  <a:srgbClr val="0C0D0E"/>
                </a:solidFill>
                <a:effectLst/>
                <a:latin typeface="Trebuchet MS" panose="020B0603020202020204" pitchFamily="34" charset="0"/>
              </a:rPr>
              <a:t>etc.</a:t>
            </a:r>
          </a:p>
          <a:p>
            <a:pPr marL="0" indent="0" algn="l">
              <a:lnSpc>
                <a:spcPct val="120000"/>
              </a:lnSpc>
              <a:spcBef>
                <a:spcPts val="600"/>
              </a:spcBef>
              <a:buClr>
                <a:srgbClr val="0B61FF"/>
              </a:buClr>
              <a:buSzPct val="80000"/>
              <a:buNone/>
            </a:pPr>
            <a:r>
              <a:rPr lang="en-US" altLang="zh-CN" sz="2400" b="1" i="0" dirty="0">
                <a:solidFill>
                  <a:srgbClr val="0C0D0E"/>
                </a:solidFill>
                <a:effectLst/>
                <a:latin typeface="Trebuchet MS" panose="020B0603020202020204" pitchFamily="34" charset="0"/>
              </a:rPr>
              <a:t>   Such as: </a:t>
            </a:r>
          </a:p>
          <a:p>
            <a:pPr marL="0" indent="0" algn="l">
              <a:lnSpc>
                <a:spcPct val="120000"/>
              </a:lnSpc>
              <a:spcBef>
                <a:spcPts val="600"/>
              </a:spcBef>
              <a:buClr>
                <a:srgbClr val="0B61FF"/>
              </a:buClr>
              <a:buSzPct val="80000"/>
              <a:buNone/>
            </a:pPr>
            <a:r>
              <a:rPr lang="en-US" altLang="zh-CN" sz="2400" b="1" dirty="0">
                <a:solidFill>
                  <a:srgbClr val="0C0D0E"/>
                </a:solidFill>
                <a:latin typeface="Trebuchet MS" panose="020B0603020202020204" pitchFamily="34" charset="0"/>
              </a:rPr>
              <a:t>     </a:t>
            </a:r>
            <a:r>
              <a:rPr lang="en-US" altLang="zh-CN" sz="2400" b="1" i="0" dirty="0">
                <a:solidFill>
                  <a:srgbClr val="0C0D0E"/>
                </a:solidFill>
                <a:effectLst/>
                <a:latin typeface="Trebuchet MS" panose="020B0603020202020204" pitchFamily="34" charset="0"/>
              </a:rPr>
              <a:t>∃</a:t>
            </a:r>
            <a:r>
              <a:rPr lang="en-US" altLang="zh-CN" sz="2400" b="1" i="1" dirty="0">
                <a:solidFill>
                  <a:srgbClr val="0C0D0E"/>
                </a:solidFill>
                <a:effectLst/>
                <a:latin typeface="Trebuchet MS" panose="020B0603020202020204" pitchFamily="34" charset="0"/>
              </a:rPr>
              <a:t>x</a:t>
            </a:r>
            <a:r>
              <a:rPr lang="en-US" altLang="zh-CN" sz="2400" b="0" i="0" dirty="0">
                <a:solidFill>
                  <a:srgbClr val="0C0D0E"/>
                </a:solidFill>
                <a:effectLst/>
                <a:latin typeface="Trebuchet MS" panose="020B0603020202020204" pitchFamily="34" charset="0"/>
              </a:rPr>
              <a:t> means "there exists an </a:t>
            </a:r>
            <a:r>
              <a:rPr lang="en-US" altLang="zh-CN" sz="2400" b="1" i="1" dirty="0">
                <a:solidFill>
                  <a:srgbClr val="0C0D0E"/>
                </a:solidFill>
                <a:effectLst/>
                <a:latin typeface="Trebuchet MS" panose="020B0603020202020204" pitchFamily="34" charset="0"/>
              </a:rPr>
              <a:t>x</a:t>
            </a:r>
            <a:r>
              <a:rPr lang="en-US" altLang="zh-CN" sz="2400" b="0" i="0" dirty="0">
                <a:solidFill>
                  <a:srgbClr val="0C0D0E"/>
                </a:solidFill>
                <a:effectLst/>
                <a:latin typeface="Trebuchet MS" panose="020B0603020202020204" pitchFamily="34" charset="0"/>
              </a:rPr>
              <a:t> in the domain of discourse."</a:t>
            </a:r>
          </a:p>
          <a:p>
            <a:pPr marL="0" indent="0" algn="l">
              <a:lnSpc>
                <a:spcPct val="120000"/>
              </a:lnSpc>
              <a:spcBef>
                <a:spcPts val="600"/>
              </a:spcBef>
              <a:buClr>
                <a:srgbClr val="0B61FF"/>
              </a:buClr>
              <a:buSzPct val="80000"/>
              <a:buNone/>
            </a:pPr>
            <a:r>
              <a:rPr lang="en-US" altLang="zh-CN" sz="2400" b="0" i="0" dirty="0">
                <a:solidFill>
                  <a:srgbClr val="0C0D0E"/>
                </a:solidFill>
                <a:effectLst/>
                <a:latin typeface="Trebuchet MS" panose="020B0603020202020204" pitchFamily="34" charset="0"/>
              </a:rPr>
              <a:t>     </a:t>
            </a:r>
            <a:r>
              <a:rPr lang="en-US" altLang="zh-CN" sz="2400" b="1" i="0" dirty="0">
                <a:solidFill>
                  <a:srgbClr val="0C0D0E"/>
                </a:solidFill>
                <a:effectLst/>
                <a:latin typeface="Trebuchet MS" panose="020B0603020202020204" pitchFamily="34" charset="0"/>
              </a:rPr>
              <a:t>∃</a:t>
            </a:r>
            <a:r>
              <a:rPr lang="en-US" altLang="zh-CN" sz="2400" b="1" i="1" dirty="0">
                <a:solidFill>
                  <a:srgbClr val="0C0D0E"/>
                </a:solidFill>
                <a:effectLst/>
                <a:latin typeface="Trebuchet MS" panose="020B0603020202020204" pitchFamily="34" charset="0"/>
              </a:rPr>
              <a:t>xF</a:t>
            </a:r>
            <a:r>
              <a:rPr lang="en-US" altLang="zh-CN" sz="2400" b="1" i="0" dirty="0">
                <a:solidFill>
                  <a:srgbClr val="0C0D0E"/>
                </a:solidFill>
                <a:effectLst/>
                <a:latin typeface="Trebuchet MS" panose="020B0603020202020204" pitchFamily="34" charset="0"/>
              </a:rPr>
              <a:t>(</a:t>
            </a:r>
            <a:r>
              <a:rPr lang="en-US" altLang="zh-CN" sz="2400" b="1" i="1" dirty="0">
                <a:solidFill>
                  <a:srgbClr val="0C0D0E"/>
                </a:solidFill>
                <a:effectLst/>
                <a:latin typeface="Trebuchet MS" panose="020B0603020202020204" pitchFamily="34" charset="0"/>
              </a:rPr>
              <a:t>x</a:t>
            </a:r>
            <a:r>
              <a:rPr lang="en-US" altLang="zh-CN" sz="2400" b="1" i="0" dirty="0">
                <a:solidFill>
                  <a:srgbClr val="0C0D0E"/>
                </a:solidFill>
                <a:effectLst/>
                <a:latin typeface="Trebuchet MS" panose="020B0603020202020204" pitchFamily="34" charset="0"/>
              </a:rPr>
              <a:t>) </a:t>
            </a:r>
            <a:r>
              <a:rPr lang="en-US" altLang="zh-CN" sz="2400" b="0" i="0" dirty="0">
                <a:solidFill>
                  <a:srgbClr val="0C0D0E"/>
                </a:solidFill>
                <a:effectLst/>
                <a:latin typeface="Trebuchet MS" panose="020B0603020202020204" pitchFamily="34" charset="0"/>
              </a:rPr>
              <a:t>means "There exists an </a:t>
            </a:r>
            <a:r>
              <a:rPr lang="en-US" altLang="zh-CN" sz="2400" b="1" i="1" dirty="0">
                <a:solidFill>
                  <a:srgbClr val="0C0D0E"/>
                </a:solidFill>
                <a:effectLst/>
                <a:latin typeface="Trebuchet MS" panose="020B0603020202020204" pitchFamily="34" charset="0"/>
              </a:rPr>
              <a:t>x</a:t>
            </a:r>
            <a:r>
              <a:rPr lang="en-US" altLang="zh-CN" sz="2400" b="0" i="0" dirty="0">
                <a:solidFill>
                  <a:srgbClr val="0C0D0E"/>
                </a:solidFill>
                <a:effectLst/>
                <a:latin typeface="Trebuchet MS" panose="020B0603020202020204" pitchFamily="34" charset="0"/>
              </a:rPr>
              <a:t> that has the property </a:t>
            </a:r>
            <a:r>
              <a:rPr lang="en-US" altLang="zh-CN" sz="2400" b="1" i="1" dirty="0">
                <a:solidFill>
                  <a:srgbClr val="0C0D0E"/>
                </a:solidFill>
                <a:effectLst/>
                <a:latin typeface="Trebuchet MS" panose="020B0603020202020204" pitchFamily="34" charset="0"/>
              </a:rPr>
              <a:t>F</a:t>
            </a:r>
            <a:r>
              <a:rPr lang="en-US" altLang="zh-CN" sz="2400" b="0" i="0" dirty="0">
                <a:solidFill>
                  <a:srgbClr val="0C0D0E"/>
                </a:solidFill>
                <a:effectLst/>
                <a:latin typeface="Trebuchet MS" panose="020B0603020202020204" pitchFamily="34" charset="0"/>
              </a:rPr>
              <a:t>.</a:t>
            </a:r>
          </a:p>
        </p:txBody>
      </p:sp>
    </p:spTree>
    <p:extLst>
      <p:ext uri="{BB962C8B-B14F-4D97-AF65-F5344CB8AC3E}">
        <p14:creationId xmlns:p14="http://schemas.microsoft.com/office/powerpoint/2010/main" val="130390954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animEffect transition="in" filter="fade">
                                      <p:cBhvr>
                                        <p:cTn id="7" dur="1000"/>
                                        <p:tgtEl>
                                          <p:spTgt spid="8">
                                            <p:txEl>
                                              <p:pRg st="1" end="1"/>
                                            </p:txEl>
                                          </p:spTgt>
                                        </p:tgtEl>
                                      </p:cBhvr>
                                    </p:animEffect>
                                    <p:anim calcmode="lin" valueType="num">
                                      <p:cBhvr>
                                        <p:cTn id="8" dur="1000" fill="hold"/>
                                        <p:tgtEl>
                                          <p:spTgt spid="8">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8">
                                            <p:txEl>
                                              <p:pRg st="2" end="2"/>
                                            </p:txEl>
                                          </p:spTgt>
                                        </p:tgtEl>
                                        <p:attrNameLst>
                                          <p:attrName>style.visibility</p:attrName>
                                        </p:attrNameLst>
                                      </p:cBhvr>
                                      <p:to>
                                        <p:strVal val="visible"/>
                                      </p:to>
                                    </p:set>
                                    <p:animEffect transition="in" filter="fade">
                                      <p:cBhvr>
                                        <p:cTn id="12" dur="1000"/>
                                        <p:tgtEl>
                                          <p:spTgt spid="8">
                                            <p:txEl>
                                              <p:pRg st="2" end="2"/>
                                            </p:txEl>
                                          </p:spTgt>
                                        </p:tgtEl>
                                      </p:cBhvr>
                                    </p:animEffect>
                                    <p:anim calcmode="lin" valueType="num">
                                      <p:cBhvr>
                                        <p:cTn id="13"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8">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8">
                                            <p:txEl>
                                              <p:pRg st="3" end="3"/>
                                            </p:txEl>
                                          </p:spTgt>
                                        </p:tgtEl>
                                        <p:attrNameLst>
                                          <p:attrName>style.visibility</p:attrName>
                                        </p:attrNameLst>
                                      </p:cBhvr>
                                      <p:to>
                                        <p:strVal val="visible"/>
                                      </p:to>
                                    </p:set>
                                    <p:animEffect transition="in" filter="fade">
                                      <p:cBhvr>
                                        <p:cTn id="17" dur="1000"/>
                                        <p:tgtEl>
                                          <p:spTgt spid="8">
                                            <p:txEl>
                                              <p:pRg st="3" end="3"/>
                                            </p:txEl>
                                          </p:spTgt>
                                        </p:tgtEl>
                                      </p:cBhvr>
                                    </p:animEffect>
                                    <p:anim calcmode="lin" valueType="num">
                                      <p:cBhvr>
                                        <p:cTn id="18"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8">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8">
                                            <p:txEl>
                                              <p:pRg st="4" end="4"/>
                                            </p:txEl>
                                          </p:spTgt>
                                        </p:tgtEl>
                                        <p:attrNameLst>
                                          <p:attrName>style.visibility</p:attrName>
                                        </p:attrNameLst>
                                      </p:cBhvr>
                                      <p:to>
                                        <p:strVal val="visible"/>
                                      </p:to>
                                    </p:set>
                                    <p:animEffect transition="in" filter="fade">
                                      <p:cBhvr>
                                        <p:cTn id="24" dur="1000"/>
                                        <p:tgtEl>
                                          <p:spTgt spid="8">
                                            <p:txEl>
                                              <p:pRg st="4" end="4"/>
                                            </p:txEl>
                                          </p:spTgt>
                                        </p:tgtEl>
                                      </p:cBhvr>
                                    </p:animEffect>
                                    <p:anim calcmode="lin" valueType="num">
                                      <p:cBhvr>
                                        <p:cTn id="25" dur="1000" fill="hold"/>
                                        <p:tgtEl>
                                          <p:spTgt spid="8">
                                            <p:txEl>
                                              <p:pRg st="4" end="4"/>
                                            </p:txEl>
                                          </p:spTgt>
                                        </p:tgtEl>
                                        <p:attrNameLst>
                                          <p:attrName>ppt_x</p:attrName>
                                        </p:attrNameLst>
                                      </p:cBhvr>
                                      <p:tavLst>
                                        <p:tav tm="0">
                                          <p:val>
                                            <p:strVal val="#ppt_x"/>
                                          </p:val>
                                        </p:tav>
                                        <p:tav tm="100000">
                                          <p:val>
                                            <p:strVal val="#ppt_x"/>
                                          </p:val>
                                        </p:tav>
                                      </p:tavLst>
                                    </p:anim>
                                    <p:anim calcmode="lin" valueType="num">
                                      <p:cBhvr>
                                        <p:cTn id="26" dur="1000" fill="hold"/>
                                        <p:tgtEl>
                                          <p:spTgt spid="8">
                                            <p:txEl>
                                              <p:pRg st="4" end="4"/>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8">
                                            <p:txEl>
                                              <p:pRg st="5" end="5"/>
                                            </p:txEl>
                                          </p:spTgt>
                                        </p:tgtEl>
                                        <p:attrNameLst>
                                          <p:attrName>style.visibility</p:attrName>
                                        </p:attrNameLst>
                                      </p:cBhvr>
                                      <p:to>
                                        <p:strVal val="visible"/>
                                      </p:to>
                                    </p:set>
                                    <p:animEffect transition="in" filter="fade">
                                      <p:cBhvr>
                                        <p:cTn id="29" dur="1000"/>
                                        <p:tgtEl>
                                          <p:spTgt spid="8">
                                            <p:txEl>
                                              <p:pRg st="5" end="5"/>
                                            </p:txEl>
                                          </p:spTgt>
                                        </p:tgtEl>
                                      </p:cBhvr>
                                    </p:animEffect>
                                    <p:anim calcmode="lin" valueType="num">
                                      <p:cBhvr>
                                        <p:cTn id="30" dur="1000" fill="hold"/>
                                        <p:tgtEl>
                                          <p:spTgt spid="8">
                                            <p:txEl>
                                              <p:pRg st="5" end="5"/>
                                            </p:txEl>
                                          </p:spTgt>
                                        </p:tgtEl>
                                        <p:attrNameLst>
                                          <p:attrName>ppt_x</p:attrName>
                                        </p:attrNameLst>
                                      </p:cBhvr>
                                      <p:tavLst>
                                        <p:tav tm="0">
                                          <p:val>
                                            <p:strVal val="#ppt_x"/>
                                          </p:val>
                                        </p:tav>
                                        <p:tav tm="100000">
                                          <p:val>
                                            <p:strVal val="#ppt_x"/>
                                          </p:val>
                                        </p:tav>
                                      </p:tavLst>
                                    </p:anim>
                                    <p:anim calcmode="lin" valueType="num">
                                      <p:cBhvr>
                                        <p:cTn id="31" dur="1000" fill="hold"/>
                                        <p:tgtEl>
                                          <p:spTgt spid="8">
                                            <p:txEl>
                                              <p:pRg st="5" end="5"/>
                                            </p:txEl>
                                          </p:spTgt>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8">
                                            <p:txEl>
                                              <p:pRg st="6" end="6"/>
                                            </p:txEl>
                                          </p:spTgt>
                                        </p:tgtEl>
                                        <p:attrNameLst>
                                          <p:attrName>style.visibility</p:attrName>
                                        </p:attrNameLst>
                                      </p:cBhvr>
                                      <p:to>
                                        <p:strVal val="visible"/>
                                      </p:to>
                                    </p:set>
                                    <p:animEffect transition="in" filter="fade">
                                      <p:cBhvr>
                                        <p:cTn id="34" dur="1000"/>
                                        <p:tgtEl>
                                          <p:spTgt spid="8">
                                            <p:txEl>
                                              <p:pRg st="6" end="6"/>
                                            </p:txEl>
                                          </p:spTgt>
                                        </p:tgtEl>
                                      </p:cBhvr>
                                    </p:animEffect>
                                    <p:anim calcmode="lin" valueType="num">
                                      <p:cBhvr>
                                        <p:cTn id="35" dur="1000" fill="hold"/>
                                        <p:tgtEl>
                                          <p:spTgt spid="8">
                                            <p:txEl>
                                              <p:pRg st="6" end="6"/>
                                            </p:txEl>
                                          </p:spTgt>
                                        </p:tgtEl>
                                        <p:attrNameLst>
                                          <p:attrName>ppt_x</p:attrName>
                                        </p:attrNameLst>
                                      </p:cBhvr>
                                      <p:tavLst>
                                        <p:tav tm="0">
                                          <p:val>
                                            <p:strVal val="#ppt_x"/>
                                          </p:val>
                                        </p:tav>
                                        <p:tav tm="100000">
                                          <p:val>
                                            <p:strVal val="#ppt_x"/>
                                          </p:val>
                                        </p:tav>
                                      </p:tavLst>
                                    </p:anim>
                                    <p:anim calcmode="lin" valueType="num">
                                      <p:cBhvr>
                                        <p:cTn id="36" dur="1000" fill="hold"/>
                                        <p:tgtEl>
                                          <p:spTgt spid="8">
                                            <p:txEl>
                                              <p:pRg st="6" end="6"/>
                                            </p:txEl>
                                          </p:spTgt>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0"/>
                                  </p:stCondLst>
                                  <p:childTnLst>
                                    <p:set>
                                      <p:cBhvr>
                                        <p:cTn id="38" dur="1" fill="hold">
                                          <p:stCondLst>
                                            <p:cond delay="0"/>
                                          </p:stCondLst>
                                        </p:cTn>
                                        <p:tgtEl>
                                          <p:spTgt spid="8">
                                            <p:txEl>
                                              <p:pRg st="7" end="7"/>
                                            </p:txEl>
                                          </p:spTgt>
                                        </p:tgtEl>
                                        <p:attrNameLst>
                                          <p:attrName>style.visibility</p:attrName>
                                        </p:attrNameLst>
                                      </p:cBhvr>
                                      <p:to>
                                        <p:strVal val="visible"/>
                                      </p:to>
                                    </p:set>
                                    <p:animEffect transition="in" filter="fade">
                                      <p:cBhvr>
                                        <p:cTn id="39" dur="1000"/>
                                        <p:tgtEl>
                                          <p:spTgt spid="8">
                                            <p:txEl>
                                              <p:pRg st="7" end="7"/>
                                            </p:txEl>
                                          </p:spTgt>
                                        </p:tgtEl>
                                      </p:cBhvr>
                                    </p:animEffect>
                                    <p:anim calcmode="lin" valueType="num">
                                      <p:cBhvr>
                                        <p:cTn id="40" dur="1000" fill="hold"/>
                                        <p:tgtEl>
                                          <p:spTgt spid="8">
                                            <p:txEl>
                                              <p:pRg st="7" end="7"/>
                                            </p:txEl>
                                          </p:spTgt>
                                        </p:tgtEl>
                                        <p:attrNameLst>
                                          <p:attrName>ppt_x</p:attrName>
                                        </p:attrNameLst>
                                      </p:cBhvr>
                                      <p:tavLst>
                                        <p:tav tm="0">
                                          <p:val>
                                            <p:strVal val="#ppt_x"/>
                                          </p:val>
                                        </p:tav>
                                        <p:tav tm="100000">
                                          <p:val>
                                            <p:strVal val="#ppt_x"/>
                                          </p:val>
                                        </p:tav>
                                      </p:tavLst>
                                    </p:anim>
                                    <p:anim calcmode="lin" valueType="num">
                                      <p:cBhvr>
                                        <p:cTn id="41" dur="1000" fill="hold"/>
                                        <p:tgtEl>
                                          <p:spTgt spid="8">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400" b="1" dirty="0">
                <a:solidFill>
                  <a:schemeClr val="bg1"/>
                </a:solidFill>
                <a:latin typeface="Trebuchet MS" panose="020B0603020202020204" pitchFamily="34" charset="0"/>
              </a:rPr>
              <a:t>           3.1 Basic Concepts of First-Order Logic</a:t>
            </a:r>
            <a:endParaRPr lang="en-US" altLang="zh-CN" sz="2000" b="1"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0125" y="892176"/>
            <a:ext cx="10536477" cy="315912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304800" algn="l">
              <a:lnSpc>
                <a:spcPct val="130000"/>
              </a:lnSpc>
              <a:spcBef>
                <a:spcPts val="600"/>
              </a:spcBef>
              <a:buClr>
                <a:srgbClr val="0B61FF"/>
              </a:buClr>
              <a:buSzPct val="80000"/>
              <a:buFont typeface="Wingdings" panose="05000000000000000000" pitchFamily="2" charset="2"/>
              <a:buChar char="n"/>
            </a:pPr>
            <a:r>
              <a:rPr lang="en-US" altLang="zh-CN" sz="2400" b="1" i="0" dirty="0">
                <a:solidFill>
                  <a:schemeClr val="bg2">
                    <a:lumMod val="75000"/>
                  </a:schemeClr>
                </a:solidFill>
                <a:effectLst/>
                <a:latin typeface="Trebuchet MS" panose="020B0603020202020204" pitchFamily="34" charset="0"/>
              </a:rPr>
              <a:t>3.1.1 The Limitations of Propositional Logic</a:t>
            </a:r>
          </a:p>
          <a:p>
            <a:pPr indent="304800" algn="l">
              <a:lnSpc>
                <a:spcPct val="130000"/>
              </a:lnSpc>
              <a:spcBef>
                <a:spcPts val="600"/>
              </a:spcBef>
              <a:buClr>
                <a:srgbClr val="0B61FF"/>
              </a:buClr>
              <a:buSzPct val="80000"/>
              <a:buFont typeface="Wingdings" panose="05000000000000000000" pitchFamily="2" charset="2"/>
              <a:buChar char="n"/>
            </a:pPr>
            <a:r>
              <a:rPr lang="en-US" altLang="zh-CN" sz="2400" b="1" i="0" dirty="0">
                <a:solidFill>
                  <a:schemeClr val="bg2">
                    <a:lumMod val="75000"/>
                  </a:schemeClr>
                </a:solidFill>
                <a:effectLst/>
                <a:latin typeface="Trebuchet MS" panose="020B0603020202020204" pitchFamily="34" charset="0"/>
              </a:rPr>
              <a:t>3.1.2 Individual Terms, Predicates, and Quantifiers</a:t>
            </a:r>
          </a:p>
          <a:p>
            <a:pPr indent="304800">
              <a:lnSpc>
                <a:spcPct val="130000"/>
              </a:lnSpc>
              <a:spcBef>
                <a:spcPts val="600"/>
              </a:spcBef>
              <a:buClr>
                <a:srgbClr val="0B61FF"/>
              </a:buClr>
              <a:buSzPct val="80000"/>
              <a:buFont typeface="Wingdings" panose="05000000000000000000" pitchFamily="2" charset="2"/>
              <a:buChar char="n"/>
            </a:pPr>
            <a:r>
              <a:rPr lang="en-US" altLang="zh-CN" sz="2400" b="1" dirty="0">
                <a:solidFill>
                  <a:srgbClr val="0B61FF"/>
                </a:solidFill>
                <a:latin typeface="Trebuchet MS" panose="020B0603020202020204" pitchFamily="34" charset="0"/>
              </a:rPr>
              <a:t>3.1.3 Symbolization of First-Order Logic</a:t>
            </a:r>
          </a:p>
          <a:p>
            <a:pPr indent="304800">
              <a:lnSpc>
                <a:spcPct val="130000"/>
              </a:lnSpc>
              <a:spcBef>
                <a:spcPts val="600"/>
              </a:spcBef>
              <a:buClr>
                <a:srgbClr val="0B61FF"/>
              </a:buClr>
              <a:buSzPct val="80000"/>
              <a:buFont typeface="Wingdings" panose="05000000000000000000" pitchFamily="2" charset="2"/>
              <a:buChar char="n"/>
            </a:pPr>
            <a:r>
              <a:rPr lang="en-US" altLang="zh-CN" sz="2400" b="1" dirty="0">
                <a:solidFill>
                  <a:srgbClr val="0C0D0E"/>
                </a:solidFill>
                <a:latin typeface="Trebuchet MS" panose="020B0603020202020204" pitchFamily="34" charset="0"/>
              </a:rPr>
              <a:t>3.1.4 First-Order Logic Formulas and Classification</a:t>
            </a:r>
          </a:p>
          <a:p>
            <a:pPr indent="304800">
              <a:lnSpc>
                <a:spcPct val="130000"/>
              </a:lnSpc>
              <a:spcBef>
                <a:spcPts val="600"/>
              </a:spcBef>
              <a:buClr>
                <a:srgbClr val="0B61FF"/>
              </a:buClr>
              <a:buSzPct val="80000"/>
              <a:buFont typeface="Wingdings" panose="05000000000000000000" pitchFamily="2" charset="2"/>
              <a:buChar char="n"/>
            </a:pPr>
            <a:endParaRPr lang="zh-CN" altLang="en-US" b="1" dirty="0">
              <a:latin typeface="Trebuchet MS" panose="020B0603020202020204" pitchFamily="34" charset="0"/>
            </a:endParaRPr>
          </a:p>
        </p:txBody>
      </p:sp>
    </p:spTree>
    <p:extLst>
      <p:ext uri="{BB962C8B-B14F-4D97-AF65-F5344CB8AC3E}">
        <p14:creationId xmlns:p14="http://schemas.microsoft.com/office/powerpoint/2010/main" val="182175189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spcBef>
                <a:spcPts val="600"/>
              </a:spcBef>
              <a:buClr>
                <a:srgbClr val="0B61FF"/>
              </a:buClr>
              <a:buSzPct val="80000"/>
            </a:pPr>
            <a:r>
              <a:rPr lang="en-US" altLang="zh-CN" sz="2000" b="1" dirty="0">
                <a:effectLst/>
                <a:latin typeface="Cambria Math" panose="02040503050406030204" pitchFamily="18" charset="0"/>
                <a:ea typeface="Cambria Math" panose="02040503050406030204" pitchFamily="18" charset="0"/>
                <a:cs typeface="Times New Roman" panose="02020603050405020304" pitchFamily="18" charset="0"/>
              </a:rPr>
              <a:t>                  </a:t>
            </a:r>
            <a:r>
              <a:rPr lang="en-US" altLang="zh-CN" sz="2000" b="1" dirty="0">
                <a:solidFill>
                  <a:schemeClr val="bg1"/>
                </a:solidFill>
                <a:latin typeface="Trebuchet MS" panose="020B0603020202020204" pitchFamily="34" charset="0"/>
              </a:rPr>
              <a:t>3.1.3 Symbolization of First-Order Logic</a:t>
            </a:r>
          </a:p>
          <a:p>
            <a:pPr>
              <a:spcBef>
                <a:spcPts val="600"/>
              </a:spcBef>
              <a:buClr>
                <a:srgbClr val="0B61FF"/>
              </a:buClr>
              <a:buSzPct val="80000"/>
            </a:pPr>
            <a:r>
              <a:rPr lang="en-US" altLang="zh-CN" sz="2400" dirty="0">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2400" dirty="0">
                <a:latin typeface="Trebuchet MS" panose="020B0603020202020204" pitchFamily="34" charset="0"/>
              </a:rPr>
              <a:t> </a:t>
            </a:r>
            <a:r>
              <a:rPr lang="en-US" altLang="zh-CN" sz="2400" b="1" dirty="0">
                <a:latin typeface="Trebuchet MS" panose="020B0603020202020204" pitchFamily="34" charset="0"/>
              </a:rPr>
              <a:t>Property Predicate vs. Unary Predicate</a:t>
            </a:r>
            <a:endParaRPr lang="en-US" altLang="zh-CN" sz="2400" b="1" dirty="0">
              <a:solidFill>
                <a:schemeClr val="accent2"/>
              </a:solidFill>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5"/>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0124" y="762001"/>
            <a:ext cx="10191751" cy="57912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lnSpc>
                <a:spcPct val="100000"/>
              </a:lnSpc>
              <a:spcBef>
                <a:spcPts val="0"/>
              </a:spcBef>
              <a:buClr>
                <a:srgbClr val="0B61FF"/>
              </a:buClr>
              <a:buSzPct val="80000"/>
              <a:buFont typeface="Wingdings" panose="05000000000000000000" pitchFamily="2" charset="2"/>
              <a:buChar char="n"/>
            </a:pPr>
            <a:r>
              <a:rPr lang="en-US" altLang="zh-CN" sz="2400" dirty="0">
                <a:latin typeface="Trebuchet MS" panose="020B0603020202020204" pitchFamily="34" charset="0"/>
              </a:rPr>
              <a:t>A </a:t>
            </a:r>
            <a:r>
              <a:rPr lang="en-US" altLang="zh-CN" sz="2400" b="1" i="1" dirty="0">
                <a:latin typeface="Trebuchet MS" panose="020B0603020202020204" pitchFamily="34" charset="0"/>
              </a:rPr>
              <a:t>property predicate </a:t>
            </a:r>
            <a:r>
              <a:rPr lang="en-US" altLang="zh-CN" sz="2400" dirty="0">
                <a:latin typeface="Trebuchet MS" panose="020B0603020202020204" pitchFamily="34" charset="0"/>
              </a:rPr>
              <a:t>can be regarded as a subset or a special case of a </a:t>
            </a:r>
            <a:r>
              <a:rPr lang="en-US" altLang="zh-CN" sz="2400" b="1" i="1" dirty="0">
                <a:latin typeface="Trebuchet MS" panose="020B0603020202020204" pitchFamily="34" charset="0"/>
              </a:rPr>
              <a:t>unary predicate</a:t>
            </a:r>
            <a:r>
              <a:rPr lang="en-US" altLang="zh-CN" sz="2400" dirty="0">
                <a:latin typeface="Trebuchet MS" panose="020B0603020202020204" pitchFamily="34" charset="0"/>
              </a:rPr>
              <a:t>, i.e</a:t>
            </a:r>
            <a:r>
              <a:rPr lang="en-US" altLang="zh-CN" sz="2400" b="1" i="1" dirty="0">
                <a:latin typeface="Trebuchet MS" panose="020B0603020202020204" pitchFamily="34" charset="0"/>
              </a:rPr>
              <a:t>., Property Predicate </a:t>
            </a:r>
            <a:r>
              <a:rPr lang="en-US" altLang="zh-CN" sz="2400" dirty="0">
                <a:latin typeface="Trebuchet MS" panose="020B0603020202020204" pitchFamily="34" charset="0"/>
              </a:rPr>
              <a:t>⊆ </a:t>
            </a:r>
            <a:r>
              <a:rPr lang="en-US" altLang="zh-CN" sz="2400" b="1" i="1" dirty="0">
                <a:latin typeface="Trebuchet MS" panose="020B0603020202020204" pitchFamily="34" charset="0"/>
              </a:rPr>
              <a:t>Unary Predicate.</a:t>
            </a:r>
          </a:p>
          <a:p>
            <a:pPr marL="0" indent="0" algn="l">
              <a:lnSpc>
                <a:spcPct val="120000"/>
              </a:lnSpc>
              <a:spcBef>
                <a:spcPts val="300"/>
              </a:spcBef>
              <a:buClr>
                <a:srgbClr val="0B61FF"/>
              </a:buClr>
              <a:buSzPct val="80000"/>
              <a:buNone/>
            </a:pPr>
            <a:endParaRPr lang="en-US" altLang="zh-CN" sz="2400" b="1" i="1" dirty="0">
              <a:latin typeface="Trebuchet MS" panose="020B0603020202020204" pitchFamily="34" charset="0"/>
            </a:endParaRPr>
          </a:p>
          <a:p>
            <a:pPr marL="0" indent="0" algn="l">
              <a:lnSpc>
                <a:spcPct val="120000"/>
              </a:lnSpc>
              <a:spcBef>
                <a:spcPts val="300"/>
              </a:spcBef>
              <a:buNone/>
            </a:pPr>
            <a:endParaRPr lang="en-US" altLang="zh-CN" sz="2400" b="1" i="1" dirty="0">
              <a:solidFill>
                <a:srgbClr val="0C0D0E"/>
              </a:solidFill>
              <a:effectLst/>
              <a:latin typeface="Trebuchet MS" panose="020B0603020202020204" pitchFamily="34" charset="0"/>
            </a:endParaRPr>
          </a:p>
        </p:txBody>
      </p:sp>
      <p:graphicFrame>
        <p:nvGraphicFramePr>
          <p:cNvPr id="3" name="表格 3">
            <a:extLst>
              <a:ext uri="{FF2B5EF4-FFF2-40B4-BE49-F238E27FC236}">
                <a16:creationId xmlns:a16="http://schemas.microsoft.com/office/drawing/2014/main" id="{D8B687EF-A3F7-4EB3-83F1-DDF7DE1CDEE0}"/>
              </a:ext>
            </a:extLst>
          </p:cNvPr>
          <p:cNvGraphicFramePr>
            <a:graphicFrameLocks noGrp="1"/>
          </p:cNvGraphicFramePr>
          <p:nvPr>
            <p:extLst>
              <p:ext uri="{D42A27DB-BD31-4B8C-83A1-F6EECF244321}">
                <p14:modId xmlns:p14="http://schemas.microsoft.com/office/powerpoint/2010/main" val="353432908"/>
              </p:ext>
            </p:extLst>
          </p:nvPr>
        </p:nvGraphicFramePr>
        <p:xfrm>
          <a:off x="1108980" y="1712372"/>
          <a:ext cx="9886954" cy="3505200"/>
        </p:xfrm>
        <a:graphic>
          <a:graphicData uri="http://schemas.openxmlformats.org/drawingml/2006/table">
            <a:tbl>
              <a:tblPr firstRow="1" bandRow="1">
                <a:tableStyleId>{5C22544A-7EE6-4342-B048-85BDC9FD1C3A}</a:tableStyleId>
              </a:tblPr>
              <a:tblGrid>
                <a:gridCol w="1794700">
                  <a:extLst>
                    <a:ext uri="{9D8B030D-6E8A-4147-A177-3AD203B41FA5}">
                      <a16:colId xmlns:a16="http://schemas.microsoft.com/office/drawing/2014/main" val="3274009196"/>
                    </a:ext>
                  </a:extLst>
                </a:gridCol>
                <a:gridCol w="4074063">
                  <a:extLst>
                    <a:ext uri="{9D8B030D-6E8A-4147-A177-3AD203B41FA5}">
                      <a16:colId xmlns:a16="http://schemas.microsoft.com/office/drawing/2014/main" val="2647605561"/>
                    </a:ext>
                  </a:extLst>
                </a:gridCol>
                <a:gridCol w="4018191">
                  <a:extLst>
                    <a:ext uri="{9D8B030D-6E8A-4147-A177-3AD203B41FA5}">
                      <a16:colId xmlns:a16="http://schemas.microsoft.com/office/drawing/2014/main" val="4164680713"/>
                    </a:ext>
                  </a:extLst>
                </a:gridCol>
              </a:tblGrid>
              <a:tr h="370840">
                <a:tc>
                  <a:txBody>
                    <a:bodyPr/>
                    <a:lstStyle/>
                    <a:p>
                      <a:pPr algn="ctr"/>
                      <a:r>
                        <a:rPr lang="en-US" sz="2000" b="1" dirty="0">
                          <a:solidFill>
                            <a:schemeClr val="tx1"/>
                          </a:solidFill>
                          <a:latin typeface="Trebuchet MS" panose="020B0603020202020204" pitchFamily="34" charset="0"/>
                        </a:rPr>
                        <a:t>Item</a:t>
                      </a:r>
                      <a:endParaRPr lang="en-US" sz="2000" dirty="0">
                        <a:solidFill>
                          <a:schemeClr val="tx1"/>
                        </a:solidFill>
                        <a:latin typeface="Trebuchet MS" panose="020B0603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5D6"/>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b="1" kern="1200" dirty="0">
                          <a:solidFill>
                            <a:schemeClr val="tx1"/>
                          </a:solidFill>
                          <a:latin typeface="Trebuchet MS" panose="020B0603020202020204" pitchFamily="34" charset="0"/>
                          <a:ea typeface="+mn-ea"/>
                          <a:cs typeface="+mn-cs"/>
                        </a:rPr>
                        <a:t>Property Predicate </a:t>
                      </a:r>
                      <a:r>
                        <a:rPr lang="en-US" altLang="zh-CN" sz="2000" b="1" i="1" dirty="0">
                          <a:solidFill>
                            <a:schemeClr val="tx1"/>
                          </a:solidFill>
                          <a:latin typeface="Trebuchet MS" panose="020B0603020202020204" pitchFamily="34" charset="0"/>
                        </a:rPr>
                        <a:t>P</a:t>
                      </a:r>
                      <a:r>
                        <a:rPr lang="en-US" altLang="zh-CN" sz="2000" b="1" dirty="0">
                          <a:solidFill>
                            <a:schemeClr val="tx1"/>
                          </a:solidFill>
                          <a:latin typeface="Trebuchet MS" panose="020B0603020202020204" pitchFamily="34" charset="0"/>
                        </a:rPr>
                        <a:t>(</a:t>
                      </a:r>
                      <a:r>
                        <a:rPr lang="en-US" altLang="zh-CN" sz="2000" b="1" i="1" dirty="0">
                          <a:solidFill>
                            <a:schemeClr val="tx1"/>
                          </a:solidFill>
                          <a:latin typeface="Trebuchet MS" panose="020B0603020202020204" pitchFamily="34" charset="0"/>
                        </a:rPr>
                        <a:t>x</a:t>
                      </a:r>
                      <a:r>
                        <a:rPr lang="en-US" altLang="zh-CN" sz="2000" b="1" dirty="0">
                          <a:solidFill>
                            <a:schemeClr val="tx1"/>
                          </a:solidFill>
                          <a:latin typeface="Trebuchet MS" panose="020B0603020202020204" pitchFamily="34" charset="0"/>
                        </a:rPr>
                        <a:t>)</a:t>
                      </a:r>
                      <a:endParaRPr lang="en-US" sz="2000" b="1" kern="1200" dirty="0">
                        <a:solidFill>
                          <a:schemeClr val="tx1"/>
                        </a:solidFill>
                        <a:latin typeface="Trebuchet MS" panose="020B0603020202020204" pitchFamily="34" charset="0"/>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EDAF8"/>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b="1" kern="1200" dirty="0">
                          <a:solidFill>
                            <a:schemeClr val="tx1"/>
                          </a:solidFill>
                          <a:latin typeface="Trebuchet MS" panose="020B0603020202020204" pitchFamily="34" charset="0"/>
                          <a:ea typeface="+mn-ea"/>
                          <a:cs typeface="+mn-cs"/>
                        </a:rPr>
                        <a:t>Unary Predicate </a:t>
                      </a:r>
                      <a:r>
                        <a:rPr lang="en-US" altLang="zh-CN" sz="2000" b="1" i="1" dirty="0">
                          <a:solidFill>
                            <a:schemeClr val="tx1"/>
                          </a:solidFill>
                          <a:latin typeface="Trebuchet MS" panose="020B0603020202020204" pitchFamily="34" charset="0"/>
                        </a:rPr>
                        <a:t>P</a:t>
                      </a:r>
                      <a:r>
                        <a:rPr lang="en-US" altLang="zh-CN" sz="2000" b="1" dirty="0">
                          <a:solidFill>
                            <a:schemeClr val="tx1"/>
                          </a:solidFill>
                          <a:latin typeface="Trebuchet MS" panose="020B0603020202020204" pitchFamily="34" charset="0"/>
                        </a:rPr>
                        <a:t>(</a:t>
                      </a:r>
                      <a:r>
                        <a:rPr lang="en-US" altLang="zh-CN" sz="2000" b="1" i="1" dirty="0">
                          <a:solidFill>
                            <a:schemeClr val="tx1"/>
                          </a:solidFill>
                          <a:latin typeface="Trebuchet MS" panose="020B0603020202020204" pitchFamily="34" charset="0"/>
                        </a:rPr>
                        <a:t>x</a:t>
                      </a:r>
                      <a:r>
                        <a:rPr lang="en-US" altLang="zh-CN" sz="2000" b="1" dirty="0">
                          <a:solidFill>
                            <a:schemeClr val="tx1"/>
                          </a:solidFill>
                          <a:latin typeface="Trebuchet MS" panose="020B0603020202020204" pitchFamily="34" charset="0"/>
                        </a:rPr>
                        <a:t>)</a:t>
                      </a:r>
                      <a:endParaRPr lang="en-US" sz="2000" b="1" kern="1200" dirty="0">
                        <a:solidFill>
                          <a:schemeClr val="tx1"/>
                        </a:solidFill>
                        <a:latin typeface="Trebuchet MS" panose="020B0603020202020204" pitchFamily="34" charset="0"/>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EDAF8"/>
                    </a:solidFill>
                  </a:tcPr>
                </a:tc>
                <a:extLst>
                  <a:ext uri="{0D108BD9-81ED-4DB2-BD59-A6C34878D82A}">
                    <a16:rowId xmlns:a16="http://schemas.microsoft.com/office/drawing/2014/main" val="1677080356"/>
                  </a:ext>
                </a:extLst>
              </a:tr>
              <a:tr h="370840">
                <a:tc>
                  <a:txBody>
                    <a:bodyPr/>
                    <a:lstStyle/>
                    <a:p>
                      <a:r>
                        <a:rPr lang="en-US" altLang="zh-CN" sz="2000" b="1" dirty="0">
                          <a:latin typeface="Trebuchet MS" panose="020B0603020202020204" pitchFamily="34" charset="0"/>
                        </a:rPr>
                        <a:t>Definition</a:t>
                      </a:r>
                      <a:endParaRPr lang="zh-CN" altLang="en-US" sz="2000" b="1" dirty="0">
                        <a:latin typeface="Trebuchet MS" panose="020B0603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DD7EE"/>
                    </a:solidFill>
                  </a:tcPr>
                </a:tc>
                <a:tc>
                  <a:txBody>
                    <a:bodyPr/>
                    <a:lstStyle/>
                    <a:p>
                      <a:r>
                        <a:rPr lang="en-US" altLang="zh-CN" sz="2000" dirty="0">
                          <a:latin typeface="Trebuchet MS" panose="020B0603020202020204" pitchFamily="34" charset="0"/>
                        </a:rPr>
                        <a:t>Describes an </a:t>
                      </a:r>
                      <a:r>
                        <a:rPr lang="en-US" altLang="zh-CN" sz="2000" b="1" dirty="0">
                          <a:latin typeface="Trebuchet MS" panose="020B0603020202020204" pitchFamily="34" charset="0"/>
                        </a:rPr>
                        <a:t>individual's</a:t>
                      </a:r>
                      <a:r>
                        <a:rPr lang="en-US" altLang="zh-CN" sz="2000" dirty="0">
                          <a:latin typeface="Trebuchet MS" panose="020B0603020202020204" pitchFamily="34" charset="0"/>
                        </a:rPr>
                        <a:t> inherent property or characteristic</a:t>
                      </a:r>
                      <a:endParaRPr lang="zh-CN" altLang="en-US" sz="2000" dirty="0">
                        <a:latin typeface="Trebuchet MS" panose="020B0603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000" dirty="0">
                          <a:latin typeface="Trebuchet MS" panose="020B0603020202020204" pitchFamily="34" charset="0"/>
                        </a:rPr>
                        <a:t>Any predicate that applies to a </a:t>
                      </a:r>
                      <a:r>
                        <a:rPr lang="en-US" altLang="zh-CN" sz="2000" b="1" dirty="0">
                          <a:latin typeface="Trebuchet MS" panose="020B0603020202020204" pitchFamily="34" charset="0"/>
                        </a:rPr>
                        <a:t>single variable</a:t>
                      </a:r>
                      <a:endParaRPr lang="zh-CN" altLang="en-US" sz="2000" b="1" dirty="0">
                        <a:latin typeface="Trebuchet MS" panose="020B0603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96975525"/>
                  </a:ext>
                </a:extLst>
              </a:tr>
              <a:tr h="370840">
                <a:tc>
                  <a:txBody>
                    <a:bodyPr/>
                    <a:lstStyle/>
                    <a:p>
                      <a:r>
                        <a:rPr lang="en-US" altLang="zh-CN" sz="2000" b="1" dirty="0">
                          <a:latin typeface="Trebuchet MS" panose="020B0603020202020204" pitchFamily="34" charset="0"/>
                        </a:rPr>
                        <a:t>Relation</a:t>
                      </a:r>
                      <a:endParaRPr lang="zh-CN" altLang="en-US" sz="2000" b="1" dirty="0">
                        <a:latin typeface="Trebuchet MS" panose="020B0603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DD7EE"/>
                    </a:solidFill>
                  </a:tcPr>
                </a:tc>
                <a:tc>
                  <a:txBody>
                    <a:bodyPr/>
                    <a:lstStyle/>
                    <a:p>
                      <a:r>
                        <a:rPr lang="en-US" altLang="zh-CN" sz="2000" dirty="0">
                          <a:latin typeface="Trebuchet MS" panose="020B0603020202020204" pitchFamily="34" charset="0"/>
                        </a:rPr>
                        <a:t>Describes </a:t>
                      </a:r>
                      <a:r>
                        <a:rPr lang="en-US" altLang="zh-CN" sz="2000" b="1" dirty="0">
                          <a:latin typeface="Trebuchet MS" panose="020B0603020202020204" pitchFamily="34" charset="0"/>
                        </a:rPr>
                        <a:t>only the property of an object</a:t>
                      </a:r>
                      <a:r>
                        <a:rPr lang="en-US" altLang="zh-CN" sz="2000" dirty="0">
                          <a:latin typeface="Trebuchet MS" panose="020B0603020202020204" pitchFamily="34" charset="0"/>
                        </a:rPr>
                        <a:t>, without involving other objects</a:t>
                      </a:r>
                      <a:endParaRPr lang="zh-CN" altLang="en-US" sz="2000" dirty="0">
                        <a:latin typeface="Trebuchet MS" panose="020B0603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000" dirty="0">
                          <a:latin typeface="Trebuchet MS" panose="020B0603020202020204" pitchFamily="34" charset="0"/>
                        </a:rPr>
                        <a:t>May describe an object's property </a:t>
                      </a:r>
                      <a:r>
                        <a:rPr lang="en-US" altLang="zh-CN" sz="2000" b="1" dirty="0">
                          <a:latin typeface="Trebuchet MS" panose="020B0603020202020204" pitchFamily="34" charset="0"/>
                        </a:rPr>
                        <a:t>or its role/relationship</a:t>
                      </a:r>
                      <a:endParaRPr lang="zh-CN" altLang="en-US" sz="2000" b="1" dirty="0">
                        <a:latin typeface="Trebuchet MS" panose="020B0603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727729359"/>
                  </a:ext>
                </a:extLst>
              </a:tr>
              <a:tr h="370840">
                <a:tc>
                  <a:txBody>
                    <a:bodyPr/>
                    <a:lstStyle/>
                    <a:p>
                      <a:r>
                        <a:rPr lang="en-US" altLang="zh-CN" sz="2000" b="1" dirty="0">
                          <a:latin typeface="Trebuchet MS" panose="020B0603020202020204" pitchFamily="34" charset="0"/>
                        </a:rPr>
                        <a:t>Examples</a:t>
                      </a:r>
                      <a:endParaRPr lang="zh-CN" altLang="en-US" sz="2000" b="1" dirty="0">
                        <a:latin typeface="Trebuchet MS" panose="020B0603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DD7EE"/>
                    </a:solidFill>
                  </a:tcPr>
                </a:tc>
                <a:tc>
                  <a:txBody>
                    <a:bodyPr/>
                    <a:lstStyle/>
                    <a:p>
                      <a:r>
                        <a:rPr lang="en-US" altLang="zh-CN" sz="2000" dirty="0">
                          <a:latin typeface="Trebuchet MS" panose="020B0603020202020204" pitchFamily="34" charset="0"/>
                        </a:rPr>
                        <a:t>Even(x) (x is even) </a:t>
                      </a:r>
                      <a:br>
                        <a:rPr lang="en-US" altLang="zh-CN" sz="2000" dirty="0">
                          <a:latin typeface="Trebuchet MS" panose="020B0603020202020204" pitchFamily="34" charset="0"/>
                        </a:rPr>
                      </a:br>
                      <a:r>
                        <a:rPr lang="en-US" altLang="zh-CN" sz="2000" dirty="0">
                          <a:latin typeface="Trebuchet MS" panose="020B0603020202020204" pitchFamily="34" charset="0"/>
                        </a:rPr>
                        <a:t>Red(x)  (x is red)</a:t>
                      </a:r>
                      <a:endParaRPr lang="zh-CN" altLang="en-US" sz="2000" dirty="0">
                        <a:latin typeface="Trebuchet MS" panose="020B0603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000" dirty="0">
                          <a:latin typeface="Trebuchet MS" panose="020B0603020202020204" pitchFamily="34" charset="0"/>
                        </a:rPr>
                        <a:t>Student(x) (x is a student) </a:t>
                      </a:r>
                      <a:br>
                        <a:rPr lang="en-US" altLang="zh-CN" sz="2000" dirty="0">
                          <a:latin typeface="Trebuchet MS" panose="020B0603020202020204" pitchFamily="34" charset="0"/>
                        </a:rPr>
                      </a:br>
                      <a:r>
                        <a:rPr lang="en-US" altLang="zh-CN" sz="2000" dirty="0">
                          <a:latin typeface="Trebuchet MS" panose="020B0603020202020204" pitchFamily="34" charset="0"/>
                        </a:rPr>
                        <a:t>Parent(x)   (x is a parent)</a:t>
                      </a:r>
                      <a:endParaRPr lang="zh-CN" altLang="en-US" sz="2000" dirty="0">
                        <a:latin typeface="Trebuchet MS" panose="020B0603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20526703"/>
                  </a:ext>
                </a:extLst>
              </a:tr>
              <a:tr h="370840">
                <a:tc>
                  <a:txBody>
                    <a:bodyPr/>
                    <a:lstStyle/>
                    <a:p>
                      <a:r>
                        <a:rPr lang="en-US" altLang="zh-CN" sz="2000" b="1" dirty="0">
                          <a:latin typeface="Trebuchet MS" panose="020B0603020202020204" pitchFamily="34" charset="0"/>
                        </a:rPr>
                        <a:t>Application</a:t>
                      </a:r>
                      <a:endParaRPr lang="zh-CN" altLang="en-US" sz="2000" b="1" dirty="0">
                        <a:latin typeface="Trebuchet MS" panose="020B0603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DD7EE"/>
                    </a:solidFill>
                  </a:tcPr>
                </a:tc>
                <a:tc>
                  <a:txBody>
                    <a:bodyPr/>
                    <a:lstStyle/>
                    <a:p>
                      <a:r>
                        <a:rPr lang="en-US" altLang="zh-CN" sz="2000" dirty="0">
                          <a:latin typeface="Trebuchet MS" panose="020B0603020202020204" pitchFamily="34" charset="0"/>
                        </a:rPr>
                        <a:t>used to express </a:t>
                      </a:r>
                      <a:r>
                        <a:rPr lang="en-US" altLang="zh-CN" sz="2000" b="1" dirty="0">
                          <a:latin typeface="Trebuchet MS" panose="020B0603020202020204" pitchFamily="34" charset="0"/>
                        </a:rPr>
                        <a:t>individual properties</a:t>
                      </a:r>
                      <a:endParaRPr lang="zh-CN" altLang="en-US" sz="2000" dirty="0">
                        <a:latin typeface="Trebuchet MS" panose="020B0603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000" dirty="0">
                          <a:latin typeface="Trebuchet MS" panose="020B0603020202020204" pitchFamily="34" charset="0"/>
                        </a:rPr>
                        <a:t>A general term for </a:t>
                      </a:r>
                      <a:r>
                        <a:rPr lang="en-US" altLang="zh-CN" sz="2000" b="1" dirty="0">
                          <a:latin typeface="Trebuchet MS" panose="020B0603020202020204" pitchFamily="34" charset="0"/>
                        </a:rPr>
                        <a:t>any predicate with one parameter</a:t>
                      </a:r>
                      <a:endParaRPr lang="zh-CN" altLang="en-US" sz="2000" dirty="0">
                        <a:latin typeface="Trebuchet MS" panose="020B0603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788916071"/>
                  </a:ext>
                </a:extLst>
              </a:tr>
            </a:tbl>
          </a:graphicData>
        </a:graphic>
      </p:graphicFrame>
      <p:sp>
        <p:nvSpPr>
          <p:cNvPr id="10" name="文本框 9">
            <a:extLst>
              <a:ext uri="{FF2B5EF4-FFF2-40B4-BE49-F238E27FC236}">
                <a16:creationId xmlns:a16="http://schemas.microsoft.com/office/drawing/2014/main" id="{F0096AFF-16D5-4C54-81DE-221241B0B286}"/>
              </a:ext>
            </a:extLst>
          </p:cNvPr>
          <p:cNvSpPr txBox="1"/>
          <p:nvPr/>
        </p:nvSpPr>
        <p:spPr>
          <a:xfrm>
            <a:off x="1196066" y="5276260"/>
            <a:ext cx="8688164" cy="1015663"/>
          </a:xfrm>
          <a:prstGeom prst="rect">
            <a:avLst/>
          </a:prstGeom>
          <a:noFill/>
        </p:spPr>
        <p:txBody>
          <a:bodyPr wrap="square">
            <a:spAutoFit/>
          </a:bodyPr>
          <a:lstStyle/>
          <a:p>
            <a:r>
              <a:rPr lang="en-US" altLang="zh-CN" sz="2000" dirty="0">
                <a:latin typeface="Trebuchet MS" panose="020B0603020202020204" pitchFamily="34" charset="0"/>
              </a:rPr>
              <a:t>In machine learning model design, </a:t>
            </a:r>
            <a:r>
              <a:rPr lang="en-US" altLang="zh-CN" sz="2000" b="1" dirty="0">
                <a:latin typeface="Trebuchet MS" panose="020B0603020202020204" pitchFamily="34" charset="0"/>
              </a:rPr>
              <a:t>property predicates</a:t>
            </a:r>
            <a:r>
              <a:rPr lang="en-US" altLang="zh-CN" sz="2000" dirty="0">
                <a:latin typeface="Trebuchet MS" panose="020B0603020202020204" pitchFamily="34" charset="0"/>
              </a:rPr>
              <a:t> are typically used for classification tasks and can be utilized in </a:t>
            </a:r>
            <a:r>
              <a:rPr lang="en-US" altLang="zh-CN" sz="2000" b="1" dirty="0">
                <a:latin typeface="Trebuchet MS" panose="020B0603020202020204" pitchFamily="34" charset="0"/>
              </a:rPr>
              <a:t>feature selection</a:t>
            </a:r>
            <a:r>
              <a:rPr lang="en-US" altLang="zh-CN" sz="2000" dirty="0">
                <a:latin typeface="Trebuchet MS" panose="020B0603020202020204" pitchFamily="34" charset="0"/>
              </a:rPr>
              <a:t>, while </a:t>
            </a:r>
            <a:r>
              <a:rPr lang="en-US" altLang="zh-CN" sz="2000" b="1" dirty="0">
                <a:latin typeface="Trebuchet MS" panose="020B0603020202020204" pitchFamily="34" charset="0"/>
              </a:rPr>
              <a:t>unary predicates</a:t>
            </a:r>
            <a:r>
              <a:rPr lang="en-US" altLang="zh-CN" sz="2000" dirty="0">
                <a:latin typeface="Trebuchet MS" panose="020B0603020202020204" pitchFamily="34" charset="0"/>
              </a:rPr>
              <a:t> may involve object roles and </a:t>
            </a:r>
            <a:r>
              <a:rPr lang="en-US" altLang="zh-CN" sz="2000" b="1" dirty="0">
                <a:latin typeface="Trebuchet MS" panose="020B0603020202020204" pitchFamily="34" charset="0"/>
              </a:rPr>
              <a:t>relational inference</a:t>
            </a:r>
            <a:r>
              <a:rPr lang="en-US" altLang="zh-CN" sz="2000" dirty="0">
                <a:latin typeface="Trebuchet MS" panose="020B0603020202020204" pitchFamily="34" charset="0"/>
              </a:rPr>
              <a:t>.</a:t>
            </a:r>
            <a:endParaRPr lang="zh-CN" altLang="en-US" sz="2000" dirty="0">
              <a:latin typeface="Trebuchet MS" panose="020B0603020202020204" pitchFamily="34" charset="0"/>
            </a:endParaRPr>
          </a:p>
        </p:txBody>
      </p:sp>
      <p:sp>
        <p:nvSpPr>
          <p:cNvPr id="6" name="Rectangle 2">
            <a:extLst>
              <a:ext uri="{FF2B5EF4-FFF2-40B4-BE49-F238E27FC236}">
                <a16:creationId xmlns:a16="http://schemas.microsoft.com/office/drawing/2014/main" id="{4CBABDE3-0AA3-4EEF-9BBB-FCA74D288E07}"/>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7" name="对象 6">
            <a:extLst>
              <a:ext uri="{FF2B5EF4-FFF2-40B4-BE49-F238E27FC236}">
                <a16:creationId xmlns:a16="http://schemas.microsoft.com/office/drawing/2014/main" id="{BD8D8452-9AE0-41AB-9E3C-DAB80FC085D3}"/>
              </a:ext>
            </a:extLst>
          </p:cNvPr>
          <p:cNvGraphicFramePr>
            <a:graphicFrameLocks noChangeAspect="1"/>
          </p:cNvGraphicFramePr>
          <p:nvPr>
            <p:extLst>
              <p:ext uri="{D42A27DB-BD31-4B8C-83A1-F6EECF244321}">
                <p14:modId xmlns:p14="http://schemas.microsoft.com/office/powerpoint/2010/main" val="446863364"/>
              </p:ext>
            </p:extLst>
          </p:nvPr>
        </p:nvGraphicFramePr>
        <p:xfrm>
          <a:off x="892630" y="5268677"/>
          <a:ext cx="424543" cy="516336"/>
        </p:xfrm>
        <a:graphic>
          <a:graphicData uri="http://schemas.openxmlformats.org/presentationml/2006/ole">
            <mc:AlternateContent xmlns:mc="http://schemas.openxmlformats.org/markup-compatibility/2006">
              <mc:Choice xmlns:v="urn:schemas-microsoft-com:vml" Requires="v">
                <p:oleObj spid="_x0000_s1029" name="Visio" r:id="rId6" imgW="584296" imgH="698595" progId="Visio.Drawing.15">
                  <p:embed/>
                </p:oleObj>
              </mc:Choice>
              <mc:Fallback>
                <p:oleObj name="Visio" r:id="rId6" imgW="584296" imgH="698595" progId="Visio.Drawing.15">
                  <p:embed/>
                  <p:pic>
                    <p:nvPicPr>
                      <p:cNvPr id="0" name="Object 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92630" y="5268677"/>
                        <a:ext cx="424543" cy="516336"/>
                      </a:xfrm>
                      <a:prstGeom prst="rect">
                        <a:avLst/>
                      </a:prstGeom>
                      <a:noFill/>
                    </p:spPr>
                  </p:pic>
                </p:oleObj>
              </mc:Fallback>
            </mc:AlternateContent>
          </a:graphicData>
        </a:graphic>
      </p:graphicFrame>
    </p:spTree>
    <p:extLst>
      <p:ext uri="{BB962C8B-B14F-4D97-AF65-F5344CB8AC3E}">
        <p14:creationId xmlns:p14="http://schemas.microsoft.com/office/powerpoint/2010/main" val="404039413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1000"/>
                                        <p:tgtEl>
                                          <p:spTgt spid="10"/>
                                        </p:tgtEl>
                                      </p:cBhvr>
                                    </p:animEffect>
                                    <p:anim calcmode="lin" valueType="num">
                                      <p:cBhvr>
                                        <p:cTn id="15" dur="1000" fill="hold"/>
                                        <p:tgtEl>
                                          <p:spTgt spid="10"/>
                                        </p:tgtEl>
                                        <p:attrNameLst>
                                          <p:attrName>ppt_x</p:attrName>
                                        </p:attrNameLst>
                                      </p:cBhvr>
                                      <p:tavLst>
                                        <p:tav tm="0">
                                          <p:val>
                                            <p:strVal val="#ppt_x"/>
                                          </p:val>
                                        </p:tav>
                                        <p:tav tm="100000">
                                          <p:val>
                                            <p:strVal val="#ppt_x"/>
                                          </p:val>
                                        </p:tav>
                                      </p:tavLst>
                                    </p:anim>
                                    <p:anim calcmode="lin" valueType="num">
                                      <p:cBhvr>
                                        <p:cTn id="16" dur="1000" fill="hold"/>
                                        <p:tgtEl>
                                          <p:spTgt spid="10"/>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1000"/>
                                        <p:tgtEl>
                                          <p:spTgt spid="7"/>
                                        </p:tgtEl>
                                      </p:cBhvr>
                                    </p:animEffect>
                                    <p:anim calcmode="lin" valueType="num">
                                      <p:cBhvr>
                                        <p:cTn id="20" dur="1000" fill="hold"/>
                                        <p:tgtEl>
                                          <p:spTgt spid="7"/>
                                        </p:tgtEl>
                                        <p:attrNameLst>
                                          <p:attrName>ppt_x</p:attrName>
                                        </p:attrNameLst>
                                      </p:cBhvr>
                                      <p:tavLst>
                                        <p:tav tm="0">
                                          <p:val>
                                            <p:strVal val="#ppt_x"/>
                                          </p:val>
                                        </p:tav>
                                        <p:tav tm="100000">
                                          <p:val>
                                            <p:strVal val="#ppt_x"/>
                                          </p:val>
                                        </p:tav>
                                      </p:tavLst>
                                    </p:anim>
                                    <p:anim calcmode="lin" valueType="num">
                                      <p:cBhvr>
                                        <p:cTn id="21"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spcBef>
                <a:spcPts val="600"/>
              </a:spcBef>
              <a:buClr>
                <a:srgbClr val="0B61FF"/>
              </a:buClr>
              <a:buSzPct val="80000"/>
            </a:pPr>
            <a:r>
              <a:rPr lang="en-US" altLang="zh-CN" sz="2000" b="1" dirty="0">
                <a:effectLst/>
                <a:latin typeface="Cambria Math" panose="02040503050406030204" pitchFamily="18" charset="0"/>
                <a:ea typeface="Cambria Math" panose="02040503050406030204" pitchFamily="18" charset="0"/>
                <a:cs typeface="Times New Roman" panose="02020603050405020304" pitchFamily="18" charset="0"/>
              </a:rPr>
              <a:t>                  </a:t>
            </a:r>
            <a:r>
              <a:rPr lang="en-US" altLang="zh-CN" sz="1800" b="1" dirty="0">
                <a:solidFill>
                  <a:schemeClr val="bg1"/>
                </a:solidFill>
                <a:latin typeface="Trebuchet MS" panose="020B0603020202020204" pitchFamily="34" charset="0"/>
              </a:rPr>
              <a:t>3.1.3 Symbolization of First-Order Logic</a:t>
            </a:r>
          </a:p>
          <a:p>
            <a:pPr>
              <a:spcBef>
                <a:spcPts val="600"/>
              </a:spcBef>
              <a:buClr>
                <a:srgbClr val="0B61FF"/>
              </a:buClr>
              <a:buSzPct val="80000"/>
            </a:pPr>
            <a:r>
              <a:rPr lang="en-US" altLang="zh-CN" sz="2000" dirty="0">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2400" b="1" dirty="0">
                <a:latin typeface="Trebuchet MS" panose="020B0603020202020204" pitchFamily="34" charset="0"/>
              </a:rPr>
              <a:t> Property Predicate vs. </a:t>
            </a:r>
            <a:r>
              <a:rPr lang="en-US" altLang="zh-CN" sz="2400" b="1" dirty="0">
                <a:solidFill>
                  <a:schemeClr val="bg1"/>
                </a:solidFill>
                <a:latin typeface="Trebuchet MS" panose="020B0603020202020204" pitchFamily="34" charset="0"/>
              </a:rPr>
              <a:t>First-order Logic</a:t>
            </a:r>
            <a:r>
              <a:rPr lang="en-US" altLang="zh-CN" sz="2400" b="1" dirty="0">
                <a:latin typeface="Trebuchet MS" panose="020B0603020202020204" pitchFamily="34" charset="0"/>
              </a:rPr>
              <a:t>(</a:t>
            </a:r>
            <a:r>
              <a:rPr lang="en-US" altLang="zh-CN" sz="2400" b="1" dirty="0">
                <a:solidFill>
                  <a:schemeClr val="accent2"/>
                </a:solidFill>
                <a:latin typeface="Trebuchet MS" panose="020B0603020202020204" pitchFamily="34" charset="0"/>
              </a:rPr>
              <a:t>e.g.</a:t>
            </a:r>
            <a:r>
              <a:rPr lang="en-US" altLang="zh-CN" sz="2400" b="1" dirty="0">
                <a:latin typeface="Trebuchet MS" panose="020B0603020202020204" pitchFamily="34" charset="0"/>
              </a:rPr>
              <a:t>)</a:t>
            </a:r>
            <a:endParaRPr lang="en-US" altLang="zh-CN" sz="2400" b="1" dirty="0">
              <a:solidFill>
                <a:schemeClr val="accent2"/>
              </a:solidFill>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824683" y="765175"/>
            <a:ext cx="10942774" cy="534987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lnSpc>
                <a:spcPct val="120000"/>
              </a:lnSpc>
              <a:spcBef>
                <a:spcPts val="600"/>
              </a:spcBef>
              <a:buNone/>
            </a:pPr>
            <a:r>
              <a:rPr lang="en-US" altLang="zh-CN" sz="2400" i="0" dirty="0">
                <a:solidFill>
                  <a:srgbClr val="0C0D0E"/>
                </a:solidFill>
                <a:effectLst/>
                <a:latin typeface="Trebuchet MS" panose="020B0603020202020204" pitchFamily="34" charset="0"/>
              </a:rPr>
              <a:t>    </a:t>
            </a:r>
            <a:r>
              <a:rPr lang="en-US" altLang="zh-CN" sz="2400" b="1" i="0" dirty="0">
                <a:solidFill>
                  <a:srgbClr val="0C0D0E"/>
                </a:solidFill>
                <a:effectLst/>
                <a:latin typeface="Trebuchet MS" panose="020B0603020202020204" pitchFamily="34" charset="0"/>
              </a:rPr>
              <a:t>Examples:</a:t>
            </a:r>
            <a:r>
              <a:rPr lang="en-US" altLang="zh-CN" sz="2400" i="0" dirty="0">
                <a:solidFill>
                  <a:srgbClr val="0C0D0E"/>
                </a:solidFill>
                <a:effectLst/>
                <a:latin typeface="Trebuchet MS" panose="020B0603020202020204" pitchFamily="34" charset="0"/>
              </a:rPr>
              <a:t> Symbolizing the following propositions in first-order logic:</a:t>
            </a:r>
            <a:br>
              <a:rPr lang="en-US" altLang="zh-CN" sz="2400" i="0" dirty="0">
                <a:solidFill>
                  <a:srgbClr val="0C0D0E"/>
                </a:solidFill>
                <a:effectLst/>
                <a:latin typeface="Trebuchet MS" panose="020B0603020202020204" pitchFamily="34" charset="0"/>
              </a:rPr>
            </a:br>
            <a:r>
              <a:rPr lang="en-US" altLang="zh-CN" sz="2400" b="1" i="0" dirty="0">
                <a:solidFill>
                  <a:srgbClr val="0B61FF"/>
                </a:solidFill>
                <a:effectLst/>
                <a:latin typeface="Trebuchet MS" panose="020B0603020202020204" pitchFamily="34" charset="0"/>
              </a:rPr>
              <a:t>(1) </a:t>
            </a:r>
            <a:r>
              <a:rPr lang="en-US" altLang="zh-CN" sz="2400" i="0" dirty="0">
                <a:solidFill>
                  <a:srgbClr val="0C0D0E"/>
                </a:solidFill>
                <a:effectLst/>
                <a:latin typeface="Trebuchet MS" panose="020B0603020202020204" pitchFamily="34" charset="0"/>
              </a:rPr>
              <a:t>All people love beauty; </a:t>
            </a:r>
            <a:r>
              <a:rPr lang="en-US" altLang="zh-CN" sz="2400" b="1" i="0" dirty="0">
                <a:solidFill>
                  <a:srgbClr val="0B61FF"/>
                </a:solidFill>
                <a:effectLst/>
                <a:latin typeface="Trebuchet MS" panose="020B0603020202020204" pitchFamily="34" charset="0"/>
              </a:rPr>
              <a:t>(2) </a:t>
            </a:r>
            <a:r>
              <a:rPr lang="en-US" altLang="zh-CN" sz="2400" i="0" dirty="0">
                <a:solidFill>
                  <a:srgbClr val="0C0D0E"/>
                </a:solidFill>
                <a:effectLst/>
                <a:latin typeface="Trebuchet MS" panose="020B0603020202020204" pitchFamily="34" charset="0"/>
              </a:rPr>
              <a:t>There is someone who writes with their left hand.  </a:t>
            </a:r>
            <a:r>
              <a:rPr lang="en-US" altLang="zh-CN" sz="2400" b="1" i="0" dirty="0">
                <a:solidFill>
                  <a:srgbClr val="0C0D0E"/>
                </a:solidFill>
                <a:effectLst/>
                <a:latin typeface="Trebuchet MS" panose="020B0603020202020204" pitchFamily="34" charset="0"/>
              </a:rPr>
              <a:t>Domain of discourse</a:t>
            </a:r>
            <a:r>
              <a:rPr lang="en-US" altLang="zh-CN" sz="2400" i="0" dirty="0">
                <a:solidFill>
                  <a:srgbClr val="0C0D0E"/>
                </a:solidFill>
                <a:effectLst/>
                <a:latin typeface="Trebuchet MS" panose="020B0603020202020204" pitchFamily="34" charset="0"/>
              </a:rPr>
              <a:t>:</a:t>
            </a:r>
            <a:r>
              <a:rPr lang="en-US" altLang="zh-CN" sz="2400" b="1" i="0" dirty="0">
                <a:solidFill>
                  <a:srgbClr val="0B61FF"/>
                </a:solidFill>
                <a:effectLst/>
                <a:latin typeface="Trebuchet MS" panose="020B0603020202020204" pitchFamily="34" charset="0"/>
              </a:rPr>
              <a:t>(a) </a:t>
            </a:r>
            <a:r>
              <a:rPr lang="en-US" altLang="zh-CN" sz="2400" i="0" dirty="0">
                <a:solidFill>
                  <a:srgbClr val="0C0D0E"/>
                </a:solidFill>
                <a:effectLst/>
                <a:latin typeface="Trebuchet MS" panose="020B0603020202020204" pitchFamily="34" charset="0"/>
              </a:rPr>
              <a:t>The set of humans; </a:t>
            </a:r>
            <a:r>
              <a:rPr lang="en-US" altLang="zh-CN" sz="2400" b="1" i="0" dirty="0">
                <a:solidFill>
                  <a:srgbClr val="0B61FF"/>
                </a:solidFill>
                <a:effectLst/>
                <a:latin typeface="Trebuchet MS" panose="020B0603020202020204" pitchFamily="34" charset="0"/>
              </a:rPr>
              <a:t>(b)</a:t>
            </a:r>
            <a:r>
              <a:rPr lang="en-US" altLang="zh-CN" sz="2400" i="0" dirty="0">
                <a:solidFill>
                  <a:srgbClr val="0C0D0E"/>
                </a:solidFill>
                <a:effectLst/>
                <a:latin typeface="Trebuchet MS" panose="020B0603020202020204" pitchFamily="34" charset="0"/>
              </a:rPr>
              <a:t> The universal domain.</a:t>
            </a:r>
          </a:p>
          <a:p>
            <a:pPr algn="l">
              <a:lnSpc>
                <a:spcPct val="120000"/>
              </a:lnSpc>
              <a:spcBef>
                <a:spcPts val="600"/>
              </a:spcBef>
              <a:buClr>
                <a:srgbClr val="0B61FF"/>
              </a:buClr>
              <a:buSzPct val="80000"/>
              <a:buFont typeface="Wingdings" panose="05000000000000000000" pitchFamily="2" charset="2"/>
              <a:buChar char="n"/>
            </a:pPr>
            <a:r>
              <a:rPr lang="en-US" altLang="zh-CN" sz="2400" b="1" i="0" dirty="0">
                <a:solidFill>
                  <a:srgbClr val="0C0D0E"/>
                </a:solidFill>
                <a:effectLst/>
                <a:latin typeface="Trebuchet MS" panose="020B0603020202020204" pitchFamily="34" charset="0"/>
              </a:rPr>
              <a:t>Solution: Domain of </a:t>
            </a:r>
            <a:r>
              <a:rPr lang="en-US" altLang="zh-CN" sz="2400" i="0" dirty="0">
                <a:solidFill>
                  <a:srgbClr val="0B61FF"/>
                </a:solidFill>
                <a:effectLst/>
                <a:latin typeface="Trebuchet MS" panose="020B0603020202020204" pitchFamily="34" charset="0"/>
              </a:rPr>
              <a:t>(a) :</a:t>
            </a:r>
          </a:p>
          <a:p>
            <a:pPr marL="0" indent="0" algn="l">
              <a:lnSpc>
                <a:spcPct val="120000"/>
              </a:lnSpc>
              <a:spcBef>
                <a:spcPts val="600"/>
              </a:spcBef>
              <a:buClr>
                <a:srgbClr val="0B61FF"/>
              </a:buClr>
              <a:buSzPct val="80000"/>
              <a:buNone/>
            </a:pPr>
            <a:r>
              <a:rPr lang="en-US" altLang="zh-CN" sz="2400" b="1" i="0" dirty="0">
                <a:solidFill>
                  <a:srgbClr val="0B61FF"/>
                </a:solidFill>
                <a:effectLst/>
                <a:latin typeface="Trebuchet MS" panose="020B0603020202020204" pitchFamily="34" charset="0"/>
              </a:rPr>
              <a:t>(1) </a:t>
            </a:r>
            <a:r>
              <a:rPr lang="en-US" altLang="zh-CN" sz="2400" i="0" dirty="0">
                <a:solidFill>
                  <a:srgbClr val="0C0D0E"/>
                </a:solidFill>
                <a:effectLst/>
                <a:latin typeface="Trebuchet MS" panose="020B0603020202020204" pitchFamily="34" charset="0"/>
              </a:rPr>
              <a:t>Let </a:t>
            </a:r>
            <a:r>
              <a:rPr lang="en-US" altLang="zh-CN" sz="2400" b="1" i="1" dirty="0">
                <a:solidFill>
                  <a:srgbClr val="0C0D0E"/>
                </a:solidFill>
                <a:effectLst/>
                <a:latin typeface="Trebuchet MS" panose="020B0603020202020204" pitchFamily="34" charset="0"/>
              </a:rPr>
              <a:t>F</a:t>
            </a:r>
            <a:r>
              <a:rPr lang="en-US" altLang="zh-CN" sz="2400" i="0" dirty="0">
                <a:solidFill>
                  <a:srgbClr val="0C0D0E"/>
                </a:solidFill>
                <a:effectLst/>
                <a:latin typeface="Trebuchet MS" panose="020B0603020202020204" pitchFamily="34" charset="0"/>
              </a:rPr>
              <a:t>(</a:t>
            </a:r>
            <a:r>
              <a:rPr lang="en-US" altLang="zh-CN" sz="2400" b="1" i="1" dirty="0">
                <a:solidFill>
                  <a:srgbClr val="0C0D0E"/>
                </a:solidFill>
                <a:effectLst/>
                <a:latin typeface="Trebuchet MS" panose="020B0603020202020204" pitchFamily="34" charset="0"/>
              </a:rPr>
              <a:t>x</a:t>
            </a:r>
            <a:r>
              <a:rPr lang="en-US" altLang="zh-CN" sz="2400" i="0" dirty="0">
                <a:solidFill>
                  <a:srgbClr val="0C0D0E"/>
                </a:solidFill>
                <a:effectLst/>
                <a:latin typeface="Trebuchet MS" panose="020B0603020202020204" pitchFamily="34" charset="0"/>
              </a:rPr>
              <a:t>): </a:t>
            </a:r>
            <a:r>
              <a:rPr lang="en-US" altLang="zh-CN" sz="2400" b="1" i="1" dirty="0">
                <a:solidFill>
                  <a:srgbClr val="0C0D0E"/>
                </a:solidFill>
                <a:effectLst/>
                <a:latin typeface="Trebuchet MS" panose="020B0603020202020204" pitchFamily="34" charset="0"/>
              </a:rPr>
              <a:t>x</a:t>
            </a:r>
            <a:r>
              <a:rPr lang="en-US" altLang="zh-CN" sz="2400" i="0" dirty="0">
                <a:solidFill>
                  <a:srgbClr val="0C0D0E"/>
                </a:solidFill>
                <a:effectLst/>
                <a:latin typeface="Trebuchet MS" panose="020B0603020202020204" pitchFamily="34" charset="0"/>
              </a:rPr>
              <a:t> loves beauty. Symbolized as </a:t>
            </a:r>
            <a:r>
              <a:rPr lang="en-US" altLang="zh-CN" sz="2400" b="1" i="0" dirty="0">
                <a:solidFill>
                  <a:srgbClr val="0C0D0E"/>
                </a:solidFill>
                <a:effectLst/>
                <a:latin typeface="Trebuchet MS" panose="020B0603020202020204" pitchFamily="34" charset="0"/>
              </a:rPr>
              <a:t>∀</a:t>
            </a:r>
            <a:r>
              <a:rPr lang="en-US" altLang="zh-CN" sz="2400" b="1" i="1" dirty="0">
                <a:solidFill>
                  <a:srgbClr val="0C0D0E"/>
                </a:solidFill>
                <a:effectLst/>
                <a:latin typeface="Trebuchet MS" panose="020B0603020202020204" pitchFamily="34" charset="0"/>
              </a:rPr>
              <a:t>x</a:t>
            </a:r>
            <a:r>
              <a:rPr lang="en-US" altLang="zh-CN" sz="2400" i="0" dirty="0">
                <a:solidFill>
                  <a:srgbClr val="0C0D0E"/>
                </a:solidFill>
                <a:effectLst/>
                <a:latin typeface="Trebuchet MS" panose="020B0603020202020204" pitchFamily="34" charset="0"/>
              </a:rPr>
              <a:t> </a:t>
            </a:r>
            <a:r>
              <a:rPr lang="en-US" altLang="zh-CN" sz="2400" b="1" i="1" dirty="0">
                <a:solidFill>
                  <a:srgbClr val="0C0D0E"/>
                </a:solidFill>
                <a:effectLst/>
                <a:latin typeface="Trebuchet MS" panose="020B0603020202020204" pitchFamily="34" charset="0"/>
              </a:rPr>
              <a:t>F</a:t>
            </a:r>
            <a:r>
              <a:rPr lang="en-US" altLang="zh-CN" sz="2400" i="0" dirty="0">
                <a:solidFill>
                  <a:srgbClr val="0C0D0E"/>
                </a:solidFill>
                <a:effectLst/>
                <a:latin typeface="Trebuchet MS" panose="020B0603020202020204" pitchFamily="34" charset="0"/>
              </a:rPr>
              <a:t>(</a:t>
            </a:r>
            <a:r>
              <a:rPr lang="en-US" altLang="zh-CN" sz="2400" b="1" i="1" dirty="0">
                <a:solidFill>
                  <a:srgbClr val="0C0D0E"/>
                </a:solidFill>
                <a:effectLst/>
                <a:latin typeface="Trebuchet MS" panose="020B0603020202020204" pitchFamily="34" charset="0"/>
              </a:rPr>
              <a:t>x</a:t>
            </a:r>
            <a:r>
              <a:rPr lang="en-US" altLang="zh-CN" sz="2400" i="0" dirty="0">
                <a:solidFill>
                  <a:srgbClr val="0C0D0E"/>
                </a:solidFill>
                <a:effectLst/>
                <a:latin typeface="Trebuchet MS" panose="020B0603020202020204" pitchFamily="34" charset="0"/>
              </a:rPr>
              <a:t>).</a:t>
            </a:r>
            <a:br>
              <a:rPr lang="en-US" altLang="zh-CN" sz="2400" i="0" dirty="0">
                <a:solidFill>
                  <a:srgbClr val="0C0D0E"/>
                </a:solidFill>
                <a:effectLst/>
                <a:latin typeface="Trebuchet MS" panose="020B0603020202020204" pitchFamily="34" charset="0"/>
              </a:rPr>
            </a:br>
            <a:r>
              <a:rPr lang="en-US" altLang="zh-CN" sz="2400" b="1" i="0" dirty="0">
                <a:solidFill>
                  <a:srgbClr val="0B61FF"/>
                </a:solidFill>
                <a:effectLst/>
                <a:latin typeface="Trebuchet MS" panose="020B0603020202020204" pitchFamily="34" charset="0"/>
              </a:rPr>
              <a:t>(2) </a:t>
            </a:r>
            <a:r>
              <a:rPr lang="en-US" altLang="zh-CN" sz="2400" i="0" dirty="0">
                <a:solidFill>
                  <a:srgbClr val="0C0D0E"/>
                </a:solidFill>
                <a:effectLst/>
                <a:latin typeface="Trebuchet MS" panose="020B0603020202020204" pitchFamily="34" charset="0"/>
              </a:rPr>
              <a:t>Let </a:t>
            </a:r>
            <a:r>
              <a:rPr lang="en-US" altLang="zh-CN" sz="2400" b="1" i="1" dirty="0">
                <a:solidFill>
                  <a:srgbClr val="0C0D0E"/>
                </a:solidFill>
                <a:effectLst/>
                <a:latin typeface="Trebuchet MS" panose="020B0603020202020204" pitchFamily="34" charset="0"/>
              </a:rPr>
              <a:t>G</a:t>
            </a:r>
            <a:r>
              <a:rPr lang="en-US" altLang="zh-CN" sz="2400" i="0" dirty="0">
                <a:solidFill>
                  <a:srgbClr val="0C0D0E"/>
                </a:solidFill>
                <a:effectLst/>
                <a:latin typeface="Trebuchet MS" panose="020B0603020202020204" pitchFamily="34" charset="0"/>
              </a:rPr>
              <a:t>(</a:t>
            </a:r>
            <a:r>
              <a:rPr lang="en-US" altLang="zh-CN" sz="2400" b="1" i="1" dirty="0">
                <a:solidFill>
                  <a:srgbClr val="0C0D0E"/>
                </a:solidFill>
                <a:effectLst/>
                <a:latin typeface="Trebuchet MS" panose="020B0603020202020204" pitchFamily="34" charset="0"/>
              </a:rPr>
              <a:t>x</a:t>
            </a:r>
            <a:r>
              <a:rPr lang="en-US" altLang="zh-CN" sz="2400" i="0" dirty="0">
                <a:solidFill>
                  <a:srgbClr val="0C0D0E"/>
                </a:solidFill>
                <a:effectLst/>
                <a:latin typeface="Trebuchet MS" panose="020B0603020202020204" pitchFamily="34" charset="0"/>
              </a:rPr>
              <a:t>): </a:t>
            </a:r>
            <a:r>
              <a:rPr lang="en-US" altLang="zh-CN" sz="2400" b="1" i="1" dirty="0">
                <a:solidFill>
                  <a:srgbClr val="0C0D0E"/>
                </a:solidFill>
                <a:effectLst/>
                <a:latin typeface="Trebuchet MS" panose="020B0603020202020204" pitchFamily="34" charset="0"/>
              </a:rPr>
              <a:t>x</a:t>
            </a:r>
            <a:r>
              <a:rPr lang="en-US" altLang="zh-CN" sz="2400" i="0" dirty="0">
                <a:solidFill>
                  <a:srgbClr val="0C0D0E"/>
                </a:solidFill>
                <a:effectLst/>
                <a:latin typeface="Trebuchet MS" panose="020B0603020202020204" pitchFamily="34" charset="0"/>
              </a:rPr>
              <a:t> writes with their left hand. Symbolized as </a:t>
            </a:r>
            <a:r>
              <a:rPr lang="en-US" altLang="zh-CN" sz="2400" b="1" i="0" dirty="0">
                <a:solidFill>
                  <a:srgbClr val="0C0D0E"/>
                </a:solidFill>
                <a:effectLst/>
                <a:latin typeface="Trebuchet MS" panose="020B0603020202020204" pitchFamily="34" charset="0"/>
              </a:rPr>
              <a:t>∃</a:t>
            </a:r>
            <a:r>
              <a:rPr lang="en-US" altLang="zh-CN" sz="2400" b="1" i="1" dirty="0">
                <a:solidFill>
                  <a:srgbClr val="0C0D0E"/>
                </a:solidFill>
                <a:effectLst/>
                <a:latin typeface="Trebuchet MS" panose="020B0603020202020204" pitchFamily="34" charset="0"/>
              </a:rPr>
              <a:t>x</a:t>
            </a:r>
            <a:r>
              <a:rPr lang="en-US" altLang="zh-CN" sz="2400" b="1" i="0" dirty="0">
                <a:solidFill>
                  <a:srgbClr val="0C0D0E"/>
                </a:solidFill>
                <a:effectLst/>
                <a:latin typeface="Trebuchet MS" panose="020B0603020202020204" pitchFamily="34" charset="0"/>
              </a:rPr>
              <a:t> </a:t>
            </a:r>
            <a:r>
              <a:rPr lang="en-US" altLang="zh-CN" sz="2400" b="1" i="1" dirty="0">
                <a:solidFill>
                  <a:srgbClr val="0C0D0E"/>
                </a:solidFill>
                <a:effectLst/>
                <a:latin typeface="Trebuchet MS" panose="020B0603020202020204" pitchFamily="34" charset="0"/>
              </a:rPr>
              <a:t>G</a:t>
            </a:r>
            <a:r>
              <a:rPr lang="en-US" altLang="zh-CN" sz="2400" b="1" i="0" dirty="0">
                <a:solidFill>
                  <a:srgbClr val="0C0D0E"/>
                </a:solidFill>
                <a:effectLst/>
                <a:latin typeface="Trebuchet MS" panose="020B0603020202020204" pitchFamily="34" charset="0"/>
              </a:rPr>
              <a:t>(</a:t>
            </a:r>
            <a:r>
              <a:rPr lang="en-US" altLang="zh-CN" sz="2400" b="1" i="1" dirty="0">
                <a:solidFill>
                  <a:srgbClr val="0C0D0E"/>
                </a:solidFill>
                <a:effectLst/>
                <a:latin typeface="Trebuchet MS" panose="020B0603020202020204" pitchFamily="34" charset="0"/>
              </a:rPr>
              <a:t>x</a:t>
            </a:r>
            <a:r>
              <a:rPr lang="en-US" altLang="zh-CN" sz="2400" b="1" i="0" dirty="0">
                <a:solidFill>
                  <a:srgbClr val="0C0D0E"/>
                </a:solidFill>
                <a:effectLst/>
                <a:latin typeface="Trebuchet MS" panose="020B0603020202020204" pitchFamily="34" charset="0"/>
              </a:rPr>
              <a:t>)</a:t>
            </a:r>
            <a:r>
              <a:rPr lang="en-US" altLang="zh-CN" sz="2400" i="0" dirty="0">
                <a:solidFill>
                  <a:srgbClr val="0C0D0E"/>
                </a:solidFill>
                <a:effectLst/>
                <a:latin typeface="Trebuchet MS" panose="020B0603020202020204" pitchFamily="34" charset="0"/>
              </a:rPr>
              <a:t>.</a:t>
            </a:r>
          </a:p>
          <a:p>
            <a:pPr>
              <a:lnSpc>
                <a:spcPct val="120000"/>
              </a:lnSpc>
              <a:spcBef>
                <a:spcPts val="600"/>
              </a:spcBef>
              <a:buClr>
                <a:srgbClr val="0B61FF"/>
              </a:buClr>
              <a:buSzPct val="80000"/>
              <a:buFont typeface="Wingdings" panose="05000000000000000000" pitchFamily="2" charset="2"/>
              <a:buChar char="n"/>
            </a:pPr>
            <a:r>
              <a:rPr lang="en-US" altLang="zh-CN" sz="2400" b="1" i="0" dirty="0">
                <a:solidFill>
                  <a:srgbClr val="0C0D0E"/>
                </a:solidFill>
                <a:effectLst/>
                <a:latin typeface="Trebuchet MS" panose="020B0603020202020204" pitchFamily="34" charset="0"/>
              </a:rPr>
              <a:t>Solution: Domain of </a:t>
            </a:r>
            <a:r>
              <a:rPr lang="en-US" altLang="zh-CN" sz="2400" i="0" dirty="0">
                <a:solidFill>
                  <a:srgbClr val="0B61FF"/>
                </a:solidFill>
                <a:effectLst/>
                <a:latin typeface="Trebuchet MS" panose="020B0603020202020204" pitchFamily="34" charset="0"/>
              </a:rPr>
              <a:t>(b) :</a:t>
            </a:r>
            <a:r>
              <a:rPr lang="en-US" altLang="zh-CN" sz="2400" i="0" dirty="0">
                <a:solidFill>
                  <a:srgbClr val="0C0D0E"/>
                </a:solidFill>
                <a:effectLst/>
                <a:latin typeface="Trebuchet MS" panose="020B0603020202020204" pitchFamily="34" charset="0"/>
              </a:rPr>
              <a:t> Let </a:t>
            </a:r>
            <a:r>
              <a:rPr lang="en-US" altLang="zh-CN" sz="2400" b="1" i="1" dirty="0">
                <a:solidFill>
                  <a:srgbClr val="0C0D0E"/>
                </a:solidFill>
                <a:effectLst/>
                <a:latin typeface="Trebuchet MS" panose="020B0603020202020204" pitchFamily="34" charset="0"/>
              </a:rPr>
              <a:t>M</a:t>
            </a:r>
            <a:r>
              <a:rPr lang="en-US" altLang="zh-CN" sz="2400" b="1" i="0" dirty="0">
                <a:solidFill>
                  <a:srgbClr val="0C0D0E"/>
                </a:solidFill>
                <a:effectLst/>
                <a:latin typeface="Trebuchet MS" panose="020B0603020202020204" pitchFamily="34" charset="0"/>
              </a:rPr>
              <a:t>(</a:t>
            </a:r>
            <a:r>
              <a:rPr lang="en-US" altLang="zh-CN" sz="2400" b="1" i="1" dirty="0">
                <a:solidFill>
                  <a:srgbClr val="0C0D0E"/>
                </a:solidFill>
                <a:effectLst/>
                <a:latin typeface="Trebuchet MS" panose="020B0603020202020204" pitchFamily="34" charset="0"/>
              </a:rPr>
              <a:t>x</a:t>
            </a:r>
            <a:r>
              <a:rPr lang="en-US" altLang="zh-CN" sz="2400" b="1" i="0" dirty="0">
                <a:solidFill>
                  <a:srgbClr val="0C0D0E"/>
                </a:solidFill>
                <a:effectLst/>
                <a:latin typeface="Trebuchet MS" panose="020B0603020202020204" pitchFamily="34" charset="0"/>
              </a:rPr>
              <a:t>)</a:t>
            </a:r>
            <a:r>
              <a:rPr lang="en-US" altLang="zh-CN" sz="2400" i="0" dirty="0">
                <a:solidFill>
                  <a:srgbClr val="0C0D0E"/>
                </a:solidFill>
                <a:effectLst/>
                <a:latin typeface="Trebuchet MS" panose="020B0603020202020204" pitchFamily="34" charset="0"/>
              </a:rPr>
              <a:t>: </a:t>
            </a:r>
            <a:r>
              <a:rPr lang="en-US" altLang="zh-CN" sz="2400" b="1" i="1" dirty="0">
                <a:solidFill>
                  <a:srgbClr val="0C0D0E"/>
                </a:solidFill>
                <a:effectLst/>
                <a:latin typeface="Trebuchet MS" panose="020B0603020202020204" pitchFamily="34" charset="0"/>
              </a:rPr>
              <a:t>x</a:t>
            </a:r>
            <a:r>
              <a:rPr lang="en-US" altLang="zh-CN" sz="2400" i="0" dirty="0">
                <a:solidFill>
                  <a:srgbClr val="0C0D0E"/>
                </a:solidFill>
                <a:effectLst/>
                <a:latin typeface="Trebuchet MS" panose="020B0603020202020204" pitchFamily="34" charset="0"/>
              </a:rPr>
              <a:t> is a person. </a:t>
            </a:r>
            <a:r>
              <a:rPr lang="en-US" altLang="zh-CN" sz="2400" b="1" i="1" dirty="0">
                <a:solidFill>
                  <a:srgbClr val="0C0D0E"/>
                </a:solidFill>
                <a:effectLst/>
                <a:latin typeface="Trebuchet MS" panose="020B0603020202020204" pitchFamily="34" charset="0"/>
              </a:rPr>
              <a:t>F</a:t>
            </a:r>
            <a:r>
              <a:rPr lang="en-US" altLang="zh-CN" sz="2400" b="1" i="0" dirty="0">
                <a:solidFill>
                  <a:srgbClr val="0C0D0E"/>
                </a:solidFill>
                <a:effectLst/>
                <a:latin typeface="Trebuchet MS" panose="020B0603020202020204" pitchFamily="34" charset="0"/>
              </a:rPr>
              <a:t>(</a:t>
            </a:r>
            <a:r>
              <a:rPr lang="en-US" altLang="zh-CN" sz="2400" b="1" i="1" dirty="0">
                <a:solidFill>
                  <a:srgbClr val="0C0D0E"/>
                </a:solidFill>
                <a:effectLst/>
                <a:latin typeface="Trebuchet MS" panose="020B0603020202020204" pitchFamily="34" charset="0"/>
              </a:rPr>
              <a:t>x</a:t>
            </a:r>
            <a:r>
              <a:rPr lang="en-US" altLang="zh-CN" sz="2400" b="1" i="0" dirty="0">
                <a:solidFill>
                  <a:srgbClr val="0C0D0E"/>
                </a:solidFill>
                <a:effectLst/>
                <a:latin typeface="Trebuchet MS" panose="020B0603020202020204" pitchFamily="34" charset="0"/>
              </a:rPr>
              <a:t>)</a:t>
            </a:r>
            <a:r>
              <a:rPr lang="en-US" altLang="zh-CN" sz="2400" i="0" dirty="0">
                <a:solidFill>
                  <a:srgbClr val="0C0D0E"/>
                </a:solidFill>
                <a:effectLst/>
                <a:latin typeface="Trebuchet MS" panose="020B0603020202020204" pitchFamily="34" charset="0"/>
              </a:rPr>
              <a:t> and </a:t>
            </a:r>
            <a:r>
              <a:rPr lang="en-US" altLang="zh-CN" sz="2400" b="1" i="1" dirty="0">
                <a:solidFill>
                  <a:srgbClr val="0C0D0E"/>
                </a:solidFill>
                <a:effectLst/>
                <a:latin typeface="Trebuchet MS" panose="020B0603020202020204" pitchFamily="34" charset="0"/>
              </a:rPr>
              <a:t>G</a:t>
            </a:r>
            <a:r>
              <a:rPr lang="en-US" altLang="zh-CN" sz="2400" b="1" i="0" dirty="0">
                <a:solidFill>
                  <a:srgbClr val="0C0D0E"/>
                </a:solidFill>
                <a:effectLst/>
                <a:latin typeface="Trebuchet MS" panose="020B0603020202020204" pitchFamily="34" charset="0"/>
              </a:rPr>
              <a:t>(</a:t>
            </a:r>
            <a:r>
              <a:rPr lang="en-US" altLang="zh-CN" sz="2400" b="1" i="1" dirty="0">
                <a:solidFill>
                  <a:srgbClr val="0C0D0E"/>
                </a:solidFill>
                <a:effectLst/>
                <a:latin typeface="Trebuchet MS" panose="020B0603020202020204" pitchFamily="34" charset="0"/>
              </a:rPr>
              <a:t>x</a:t>
            </a:r>
            <a:r>
              <a:rPr lang="en-US" altLang="zh-CN" sz="2400" b="1" i="0" dirty="0">
                <a:solidFill>
                  <a:srgbClr val="0C0D0E"/>
                </a:solidFill>
                <a:effectLst/>
                <a:latin typeface="Trebuchet MS" panose="020B0603020202020204" pitchFamily="34" charset="0"/>
              </a:rPr>
              <a:t>)</a:t>
            </a:r>
            <a:r>
              <a:rPr lang="en-US" altLang="zh-CN" sz="2400" i="0" dirty="0">
                <a:solidFill>
                  <a:srgbClr val="0C0D0E"/>
                </a:solidFill>
                <a:effectLst/>
                <a:latin typeface="Trebuchet MS" panose="020B0603020202020204" pitchFamily="34" charset="0"/>
              </a:rPr>
              <a:t> are the same as in </a:t>
            </a:r>
            <a:r>
              <a:rPr lang="en-US" altLang="zh-CN" sz="2400" b="1" i="0" dirty="0">
                <a:solidFill>
                  <a:srgbClr val="0B61FF"/>
                </a:solidFill>
                <a:effectLst/>
                <a:latin typeface="Trebuchet MS" panose="020B0603020202020204" pitchFamily="34" charset="0"/>
              </a:rPr>
              <a:t>(a)</a:t>
            </a:r>
            <a:r>
              <a:rPr lang="en-US" altLang="zh-CN" sz="2400" i="0" dirty="0">
                <a:solidFill>
                  <a:srgbClr val="0C0D0E"/>
                </a:solidFill>
                <a:effectLst/>
                <a:latin typeface="Trebuchet MS" panose="020B0603020202020204" pitchFamily="34" charset="0"/>
              </a:rPr>
              <a:t>.</a:t>
            </a:r>
            <a:br>
              <a:rPr lang="en-US" altLang="zh-CN" sz="2400" i="0" dirty="0">
                <a:solidFill>
                  <a:srgbClr val="0C0D0E"/>
                </a:solidFill>
                <a:effectLst/>
                <a:latin typeface="Trebuchet MS" panose="020B0603020202020204" pitchFamily="34" charset="0"/>
              </a:rPr>
            </a:br>
            <a:r>
              <a:rPr lang="en-US" altLang="zh-CN" sz="2400" b="1" i="0" dirty="0">
                <a:solidFill>
                  <a:srgbClr val="0B61FF"/>
                </a:solidFill>
                <a:effectLst/>
                <a:latin typeface="Trebuchet MS" panose="020B0603020202020204" pitchFamily="34" charset="0"/>
              </a:rPr>
              <a:t>(1) </a:t>
            </a:r>
            <a:r>
              <a:rPr lang="en-US" altLang="zh-CN" sz="2400" i="0" dirty="0">
                <a:solidFill>
                  <a:srgbClr val="0C0D0E"/>
                </a:solidFill>
                <a:effectLst/>
                <a:latin typeface="Trebuchet MS" panose="020B0603020202020204" pitchFamily="34" charset="0"/>
              </a:rPr>
              <a:t>Symbolized as </a:t>
            </a:r>
            <a:r>
              <a:rPr lang="en-US" altLang="zh-CN" sz="2400" b="1" i="0" dirty="0">
                <a:solidFill>
                  <a:srgbClr val="0C0D0E"/>
                </a:solidFill>
                <a:effectLst/>
                <a:latin typeface="Trebuchet MS" panose="020B0603020202020204" pitchFamily="34" charset="0"/>
              </a:rPr>
              <a:t>∀</a:t>
            </a:r>
            <a:r>
              <a:rPr lang="en-US" altLang="zh-CN" sz="2400" b="1" i="1" dirty="0">
                <a:solidFill>
                  <a:srgbClr val="0C0D0E"/>
                </a:solidFill>
                <a:effectLst/>
                <a:latin typeface="Trebuchet MS" panose="020B0603020202020204" pitchFamily="34" charset="0"/>
              </a:rPr>
              <a:t>x</a:t>
            </a:r>
            <a:r>
              <a:rPr lang="en-US" altLang="zh-CN" sz="2400" b="1" i="0" dirty="0">
                <a:solidFill>
                  <a:srgbClr val="0C0D0E"/>
                </a:solidFill>
                <a:effectLst/>
                <a:latin typeface="Trebuchet MS" panose="020B0603020202020204" pitchFamily="34" charset="0"/>
              </a:rPr>
              <a:t> (M(</a:t>
            </a:r>
            <a:r>
              <a:rPr lang="en-US" altLang="zh-CN" sz="2400" b="1" i="1" dirty="0">
                <a:solidFill>
                  <a:srgbClr val="0C0D0E"/>
                </a:solidFill>
                <a:effectLst/>
                <a:latin typeface="Trebuchet MS" panose="020B0603020202020204" pitchFamily="34" charset="0"/>
              </a:rPr>
              <a:t>x</a:t>
            </a:r>
            <a:r>
              <a:rPr lang="en-US" altLang="zh-CN" sz="2400" b="1" i="0" dirty="0">
                <a:solidFill>
                  <a:srgbClr val="0C0D0E"/>
                </a:solidFill>
                <a:effectLst/>
                <a:latin typeface="Trebuchet MS" panose="020B0603020202020204" pitchFamily="34" charset="0"/>
              </a:rPr>
              <a:t>) → </a:t>
            </a:r>
            <a:r>
              <a:rPr lang="en-US" altLang="zh-CN" sz="2400" b="1" i="1" dirty="0">
                <a:solidFill>
                  <a:srgbClr val="0C0D0E"/>
                </a:solidFill>
                <a:effectLst/>
                <a:latin typeface="Trebuchet MS" panose="020B0603020202020204" pitchFamily="34" charset="0"/>
              </a:rPr>
              <a:t>F</a:t>
            </a:r>
            <a:r>
              <a:rPr lang="en-US" altLang="zh-CN" sz="2400" b="1" i="0" dirty="0">
                <a:solidFill>
                  <a:srgbClr val="0C0D0E"/>
                </a:solidFill>
                <a:effectLst/>
                <a:latin typeface="Trebuchet MS" panose="020B0603020202020204" pitchFamily="34" charset="0"/>
              </a:rPr>
              <a:t>(</a:t>
            </a:r>
            <a:r>
              <a:rPr lang="en-US" altLang="zh-CN" sz="2400" b="1" i="1" dirty="0">
                <a:solidFill>
                  <a:srgbClr val="0C0D0E"/>
                </a:solidFill>
                <a:effectLst/>
                <a:latin typeface="Trebuchet MS" panose="020B0603020202020204" pitchFamily="34" charset="0"/>
              </a:rPr>
              <a:t>x</a:t>
            </a:r>
            <a:r>
              <a:rPr lang="en-US" altLang="zh-CN" sz="2400" b="1" i="0" dirty="0">
                <a:solidFill>
                  <a:srgbClr val="0C0D0E"/>
                </a:solidFill>
                <a:effectLst/>
                <a:latin typeface="Trebuchet MS" panose="020B0603020202020204" pitchFamily="34" charset="0"/>
              </a:rPr>
              <a:t>)).</a:t>
            </a:r>
            <a:br>
              <a:rPr lang="en-US" altLang="zh-CN" sz="2400" i="0" dirty="0">
                <a:solidFill>
                  <a:srgbClr val="0C0D0E"/>
                </a:solidFill>
                <a:effectLst/>
                <a:latin typeface="Trebuchet MS" panose="020B0603020202020204" pitchFamily="34" charset="0"/>
              </a:rPr>
            </a:br>
            <a:r>
              <a:rPr lang="en-US" altLang="zh-CN" sz="2400" b="1" dirty="0">
                <a:solidFill>
                  <a:srgbClr val="0B61FF"/>
                </a:solidFill>
                <a:effectLst/>
                <a:latin typeface="Trebuchet MS" panose="020B0603020202020204" pitchFamily="34" charset="0"/>
              </a:rPr>
              <a:t>(2) </a:t>
            </a:r>
            <a:r>
              <a:rPr lang="en-US" altLang="zh-CN" sz="2400" i="0" dirty="0">
                <a:solidFill>
                  <a:srgbClr val="0C0D0E"/>
                </a:solidFill>
                <a:effectLst/>
                <a:latin typeface="Trebuchet MS" panose="020B0603020202020204" pitchFamily="34" charset="0"/>
              </a:rPr>
              <a:t>Symbolized </a:t>
            </a:r>
            <a:r>
              <a:rPr lang="en-US" altLang="zh-CN" sz="2400" dirty="0">
                <a:solidFill>
                  <a:srgbClr val="0C0D0E"/>
                </a:solidFill>
                <a:effectLst/>
                <a:latin typeface="Trebuchet MS" panose="020B0603020202020204" pitchFamily="34" charset="0"/>
              </a:rPr>
              <a:t>as</a:t>
            </a:r>
            <a:r>
              <a:rPr lang="en-US" altLang="zh-CN" sz="2400" b="1" i="0" dirty="0">
                <a:solidFill>
                  <a:srgbClr val="0C0D0E"/>
                </a:solidFill>
                <a:effectLst/>
                <a:latin typeface="Trebuchet MS" panose="020B0603020202020204" pitchFamily="34" charset="0"/>
              </a:rPr>
              <a:t> ∃x (M(x) ∧ G(x)).</a:t>
            </a:r>
          </a:p>
          <a:p>
            <a:pPr algn="l">
              <a:lnSpc>
                <a:spcPct val="120000"/>
              </a:lnSpc>
              <a:spcBef>
                <a:spcPts val="600"/>
              </a:spcBef>
              <a:buClr>
                <a:srgbClr val="0B61FF"/>
              </a:buClr>
              <a:buSzPct val="80000"/>
              <a:buFont typeface="Wingdings" panose="05000000000000000000" pitchFamily="2" charset="2"/>
              <a:buChar char="n"/>
            </a:pPr>
            <a:r>
              <a:rPr lang="en-US" altLang="zh-CN" sz="2400" b="1" i="1" dirty="0">
                <a:solidFill>
                  <a:srgbClr val="0C0D0E"/>
                </a:solidFill>
                <a:effectLst/>
                <a:latin typeface="Trebuchet MS" panose="020B0603020202020204" pitchFamily="34" charset="0"/>
              </a:rPr>
              <a:t>M</a:t>
            </a:r>
            <a:r>
              <a:rPr lang="en-US" altLang="zh-CN" sz="2400" b="1" i="0" dirty="0">
                <a:solidFill>
                  <a:srgbClr val="0C0D0E"/>
                </a:solidFill>
                <a:effectLst/>
                <a:latin typeface="Trebuchet MS" panose="020B0603020202020204" pitchFamily="34" charset="0"/>
              </a:rPr>
              <a:t>(</a:t>
            </a:r>
            <a:r>
              <a:rPr lang="en-US" altLang="zh-CN" sz="2400" b="1" i="1" dirty="0">
                <a:solidFill>
                  <a:srgbClr val="0C0D0E"/>
                </a:solidFill>
                <a:effectLst/>
                <a:latin typeface="Trebuchet MS" panose="020B0603020202020204" pitchFamily="34" charset="0"/>
              </a:rPr>
              <a:t>x</a:t>
            </a:r>
            <a:r>
              <a:rPr lang="en-US" altLang="zh-CN" sz="2400" b="1" i="0" dirty="0">
                <a:solidFill>
                  <a:srgbClr val="0C0D0E"/>
                </a:solidFill>
                <a:effectLst/>
                <a:latin typeface="Trebuchet MS" panose="020B0603020202020204" pitchFamily="34" charset="0"/>
              </a:rPr>
              <a:t>)</a:t>
            </a:r>
            <a:r>
              <a:rPr lang="en-US" altLang="zh-CN" sz="2400" i="0" dirty="0">
                <a:solidFill>
                  <a:srgbClr val="0C0D0E"/>
                </a:solidFill>
                <a:effectLst/>
                <a:latin typeface="Trebuchet MS" panose="020B0603020202020204" pitchFamily="34" charset="0"/>
              </a:rPr>
              <a:t> is called a </a:t>
            </a:r>
            <a:r>
              <a:rPr lang="en-US" altLang="zh-CN" sz="2400" b="1" i="0" dirty="0">
                <a:solidFill>
                  <a:srgbClr val="0C0D0E"/>
                </a:solidFill>
                <a:effectLst/>
                <a:latin typeface="Trebuchet MS" panose="020B0603020202020204" pitchFamily="34" charset="0"/>
              </a:rPr>
              <a:t>characteristic predicate</a:t>
            </a:r>
            <a:r>
              <a:rPr lang="en-US" altLang="zh-CN" sz="2400" i="0" dirty="0">
                <a:solidFill>
                  <a:srgbClr val="0C0D0E"/>
                </a:solidFill>
                <a:effectLst/>
                <a:latin typeface="Trebuchet MS" panose="020B0603020202020204" pitchFamily="34" charset="0"/>
              </a:rPr>
              <a:t>.</a:t>
            </a:r>
          </a:p>
        </p:txBody>
      </p:sp>
      <p:pic>
        <p:nvPicPr>
          <p:cNvPr id="9" name="图片 8">
            <a:extLst>
              <a:ext uri="{FF2B5EF4-FFF2-40B4-BE49-F238E27FC236}">
                <a16:creationId xmlns:a16="http://schemas.microsoft.com/office/drawing/2014/main" id="{53B909DC-B339-4934-9115-A1198DE702AD}"/>
              </a:ext>
            </a:extLst>
          </p:cNvPr>
          <p:cNvPicPr/>
          <p:nvPr/>
        </p:nvPicPr>
        <p:blipFill>
          <a:blip r:embed="rId5"/>
          <a:stretch>
            <a:fillRect/>
          </a:stretch>
        </p:blipFill>
        <p:spPr>
          <a:xfrm>
            <a:off x="766187" y="927036"/>
            <a:ext cx="577850" cy="241300"/>
          </a:xfrm>
          <a:prstGeom prst="rect">
            <a:avLst/>
          </a:prstGeom>
        </p:spPr>
      </p:pic>
    </p:spTree>
    <p:extLst>
      <p:ext uri="{BB962C8B-B14F-4D97-AF65-F5344CB8AC3E}">
        <p14:creationId xmlns:p14="http://schemas.microsoft.com/office/powerpoint/2010/main" val="397541882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animEffect transition="in" filter="fade">
                                      <p:cBhvr>
                                        <p:cTn id="7" dur="1000"/>
                                        <p:tgtEl>
                                          <p:spTgt spid="8">
                                            <p:txEl>
                                              <p:pRg st="1" end="1"/>
                                            </p:txEl>
                                          </p:spTgt>
                                        </p:tgtEl>
                                      </p:cBhvr>
                                    </p:animEffect>
                                    <p:anim calcmode="lin" valueType="num">
                                      <p:cBhvr>
                                        <p:cTn id="8" dur="1000" fill="hold"/>
                                        <p:tgtEl>
                                          <p:spTgt spid="8">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8">
                                            <p:txEl>
                                              <p:pRg st="2" end="2"/>
                                            </p:txEl>
                                          </p:spTgt>
                                        </p:tgtEl>
                                        <p:attrNameLst>
                                          <p:attrName>style.visibility</p:attrName>
                                        </p:attrNameLst>
                                      </p:cBhvr>
                                      <p:to>
                                        <p:strVal val="visible"/>
                                      </p:to>
                                    </p:set>
                                    <p:animEffect transition="in" filter="fade">
                                      <p:cBhvr>
                                        <p:cTn id="12" dur="1000"/>
                                        <p:tgtEl>
                                          <p:spTgt spid="8">
                                            <p:txEl>
                                              <p:pRg st="2" end="2"/>
                                            </p:txEl>
                                          </p:spTgt>
                                        </p:tgtEl>
                                      </p:cBhvr>
                                    </p:animEffect>
                                    <p:anim calcmode="lin" valueType="num">
                                      <p:cBhvr>
                                        <p:cTn id="13"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8">
                                            <p:txEl>
                                              <p:pRg st="3" end="3"/>
                                            </p:txEl>
                                          </p:spTgt>
                                        </p:tgtEl>
                                        <p:attrNameLst>
                                          <p:attrName>style.visibility</p:attrName>
                                        </p:attrNameLst>
                                      </p:cBhvr>
                                      <p:to>
                                        <p:strVal val="visible"/>
                                      </p:to>
                                    </p:set>
                                    <p:animEffect transition="in" filter="fade">
                                      <p:cBhvr>
                                        <p:cTn id="19" dur="1000"/>
                                        <p:tgtEl>
                                          <p:spTgt spid="8">
                                            <p:txEl>
                                              <p:pRg st="3" end="3"/>
                                            </p:txEl>
                                          </p:spTgt>
                                        </p:tgtEl>
                                      </p:cBhvr>
                                    </p:animEffect>
                                    <p:anim calcmode="lin" valueType="num">
                                      <p:cBhvr>
                                        <p:cTn id="20"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21" dur="1000" fill="hold"/>
                                        <p:tgtEl>
                                          <p:spTgt spid="8">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8">
                                            <p:txEl>
                                              <p:pRg st="4" end="4"/>
                                            </p:txEl>
                                          </p:spTgt>
                                        </p:tgtEl>
                                        <p:attrNameLst>
                                          <p:attrName>style.visibility</p:attrName>
                                        </p:attrNameLst>
                                      </p:cBhvr>
                                      <p:to>
                                        <p:strVal val="visible"/>
                                      </p:to>
                                    </p:set>
                                    <p:animEffect transition="in" filter="fade">
                                      <p:cBhvr>
                                        <p:cTn id="26" dur="1000"/>
                                        <p:tgtEl>
                                          <p:spTgt spid="8">
                                            <p:txEl>
                                              <p:pRg st="4" end="4"/>
                                            </p:txEl>
                                          </p:spTgt>
                                        </p:tgtEl>
                                      </p:cBhvr>
                                    </p:animEffect>
                                    <p:anim calcmode="lin" valueType="num">
                                      <p:cBhvr>
                                        <p:cTn id="27" dur="1000" fill="hold"/>
                                        <p:tgtEl>
                                          <p:spTgt spid="8">
                                            <p:txEl>
                                              <p:pRg st="4" end="4"/>
                                            </p:txEl>
                                          </p:spTgt>
                                        </p:tgtEl>
                                        <p:attrNameLst>
                                          <p:attrName>ppt_x</p:attrName>
                                        </p:attrNameLst>
                                      </p:cBhvr>
                                      <p:tavLst>
                                        <p:tav tm="0">
                                          <p:val>
                                            <p:strVal val="#ppt_x"/>
                                          </p:val>
                                        </p:tav>
                                        <p:tav tm="100000">
                                          <p:val>
                                            <p:strVal val="#ppt_x"/>
                                          </p:val>
                                        </p:tav>
                                      </p:tavLst>
                                    </p:anim>
                                    <p:anim calcmode="lin" valueType="num">
                                      <p:cBhvr>
                                        <p:cTn id="28" dur="1000" fill="hold"/>
                                        <p:tgtEl>
                                          <p:spTgt spid="8">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spcBef>
                <a:spcPts val="600"/>
              </a:spcBef>
              <a:buClr>
                <a:srgbClr val="0B61FF"/>
              </a:buClr>
              <a:buSzPct val="80000"/>
            </a:pPr>
            <a:r>
              <a:rPr lang="en-US" altLang="zh-CN" sz="1800" b="1" dirty="0">
                <a:effectLst/>
                <a:latin typeface="Cambria Math" panose="02040503050406030204" pitchFamily="18" charset="0"/>
                <a:ea typeface="Cambria Math" panose="02040503050406030204" pitchFamily="18" charset="0"/>
                <a:cs typeface="Times New Roman" panose="02020603050405020304" pitchFamily="18" charset="0"/>
              </a:rPr>
              <a:t>                   </a:t>
            </a:r>
            <a:r>
              <a:rPr lang="en-US" altLang="zh-CN" sz="2000" b="1" dirty="0">
                <a:solidFill>
                  <a:schemeClr val="bg1"/>
                </a:solidFill>
                <a:latin typeface="Trebuchet MS" panose="020B0603020202020204" pitchFamily="34" charset="0"/>
              </a:rPr>
              <a:t>3.1.3 Symbolization of First-Order Logic</a:t>
            </a:r>
          </a:p>
          <a:p>
            <a:pPr>
              <a:spcBef>
                <a:spcPts val="600"/>
              </a:spcBef>
              <a:buClr>
                <a:srgbClr val="0B61FF"/>
              </a:buClr>
              <a:buSzPct val="80000"/>
            </a:pPr>
            <a:r>
              <a:rPr lang="en-US" altLang="zh-CN" sz="1800" b="1" dirty="0">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2400" b="1" dirty="0">
                <a:latin typeface="Trebuchet MS" panose="020B0603020202020204" pitchFamily="34" charset="0"/>
              </a:rPr>
              <a:t> Property Predicate (</a:t>
            </a:r>
            <a:r>
              <a:rPr lang="en-US" altLang="zh-CN" sz="2400" b="1" dirty="0">
                <a:solidFill>
                  <a:schemeClr val="accent2"/>
                </a:solidFill>
                <a:latin typeface="Trebuchet MS" panose="020B0603020202020204" pitchFamily="34" charset="0"/>
              </a:rPr>
              <a:t>e.g.</a:t>
            </a:r>
            <a:r>
              <a:rPr lang="en-US" altLang="zh-CN" sz="2400" b="1" dirty="0">
                <a:latin typeface="Trebuchet MS" panose="020B0603020202020204" pitchFamily="34" charset="0"/>
              </a:rPr>
              <a:t>)</a:t>
            </a:r>
            <a:endParaRPr lang="zh-CN" altLang="en-US" sz="2400" b="1" dirty="0">
              <a:solidFill>
                <a:schemeClr val="bg1"/>
              </a:solidFill>
              <a:highlight>
                <a:srgbClr val="FF0000"/>
              </a:highlight>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0123" y="765176"/>
            <a:ext cx="10919733" cy="560296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lnSpc>
                <a:spcPct val="120000"/>
              </a:lnSpc>
              <a:spcBef>
                <a:spcPts val="300"/>
              </a:spcBef>
              <a:buNone/>
            </a:pPr>
            <a:r>
              <a:rPr lang="en-US" sz="2400" b="1" i="0" dirty="0">
                <a:solidFill>
                  <a:srgbClr val="0C0D0E"/>
                </a:solidFill>
                <a:effectLst/>
                <a:latin typeface="Trebuchet MS" panose="020B0603020202020204" pitchFamily="34" charset="0"/>
              </a:rPr>
              <a:t>   Examples: </a:t>
            </a:r>
            <a:r>
              <a:rPr lang="en-US" sz="2400" i="0" dirty="0">
                <a:solidFill>
                  <a:srgbClr val="0C0D0E"/>
                </a:solidFill>
                <a:effectLst/>
                <a:latin typeface="Trebuchet MS" panose="020B0603020202020204" pitchFamily="34" charset="0"/>
              </a:rPr>
              <a:t>Symbolize the following propositions and discuss their truth values:</a:t>
            </a:r>
          </a:p>
          <a:p>
            <a:pPr marL="0" indent="0" algn="l">
              <a:lnSpc>
                <a:spcPct val="120000"/>
              </a:lnSpc>
              <a:spcBef>
                <a:spcPts val="300"/>
              </a:spcBef>
              <a:buNone/>
            </a:pPr>
            <a:r>
              <a:rPr lang="en-US" sz="2400" i="0" dirty="0">
                <a:solidFill>
                  <a:srgbClr val="0C0D0E"/>
                </a:solidFill>
                <a:effectLst/>
                <a:latin typeface="Trebuchet MS" panose="020B0603020202020204" pitchFamily="34" charset="0"/>
              </a:rPr>
              <a:t> </a:t>
            </a:r>
            <a:r>
              <a:rPr lang="en-US" sz="2400" b="1" i="0" dirty="0">
                <a:solidFill>
                  <a:srgbClr val="0B61FF"/>
                </a:solidFill>
                <a:effectLst/>
                <a:latin typeface="Trebuchet MS" panose="020B0603020202020204" pitchFamily="34" charset="0"/>
              </a:rPr>
              <a:t>(1) </a:t>
            </a:r>
            <a:r>
              <a:rPr lang="en-US" sz="2400" b="0" i="0" dirty="0">
                <a:solidFill>
                  <a:srgbClr val="0C0D0E"/>
                </a:solidFill>
                <a:effectLst/>
                <a:latin typeface="Trebuchet MS" panose="020B0603020202020204" pitchFamily="34" charset="0"/>
              </a:rPr>
              <a:t>For all </a:t>
            </a:r>
            <a:r>
              <a:rPr lang="en-US" sz="2400" b="1" i="1" dirty="0">
                <a:solidFill>
                  <a:srgbClr val="0C0D0E"/>
                </a:solidFill>
                <a:effectLst/>
                <a:latin typeface="Trebuchet MS" panose="020B0603020202020204" pitchFamily="34" charset="0"/>
              </a:rPr>
              <a:t>x</a:t>
            </a:r>
            <a:r>
              <a:rPr lang="en-US" sz="2400" b="0" i="0" dirty="0">
                <a:solidFill>
                  <a:srgbClr val="0C0D0E"/>
                </a:solidFill>
                <a:effectLst/>
                <a:latin typeface="Trebuchet MS" panose="020B0603020202020204" pitchFamily="34" charset="0"/>
              </a:rPr>
              <a:t>, </a:t>
            </a:r>
            <a:r>
              <a:rPr lang="en-US" altLang="zh-CN" sz="2400" b="1" i="0" dirty="0">
                <a:solidFill>
                  <a:srgbClr val="0C0D0E"/>
                </a:solidFill>
                <a:effectLst/>
                <a:latin typeface="Trebuchet MS" panose="020B0603020202020204" pitchFamily="34" charset="0"/>
              </a:rPr>
              <a:t>x</a:t>
            </a:r>
            <a:r>
              <a:rPr lang="en-US" altLang="zh-CN" sz="2400" b="1" i="0" baseline="30000" dirty="0">
                <a:solidFill>
                  <a:srgbClr val="0C0D0E"/>
                </a:solidFill>
                <a:effectLst/>
                <a:latin typeface="Trebuchet MS" panose="020B0603020202020204" pitchFamily="34" charset="0"/>
              </a:rPr>
              <a:t>2</a:t>
            </a:r>
            <a:r>
              <a:rPr lang="en-US" altLang="zh-CN" sz="2400" b="1" i="0" dirty="0">
                <a:solidFill>
                  <a:srgbClr val="0C0D0E"/>
                </a:solidFill>
                <a:effectLst/>
                <a:latin typeface="Trebuchet MS" panose="020B0603020202020204" pitchFamily="34" charset="0"/>
              </a:rPr>
              <a:t>−3</a:t>
            </a:r>
            <a:r>
              <a:rPr lang="en-US" altLang="zh-CN" sz="2400" b="1" i="1" dirty="0">
                <a:solidFill>
                  <a:srgbClr val="0C0D0E"/>
                </a:solidFill>
                <a:effectLst/>
                <a:latin typeface="Trebuchet MS" panose="020B0603020202020204" pitchFamily="34" charset="0"/>
              </a:rPr>
              <a:t>x</a:t>
            </a:r>
            <a:r>
              <a:rPr lang="en-US" altLang="zh-CN" sz="2400" b="1" i="0" dirty="0">
                <a:solidFill>
                  <a:srgbClr val="0C0D0E"/>
                </a:solidFill>
                <a:effectLst/>
                <a:latin typeface="Trebuchet MS" panose="020B0603020202020204" pitchFamily="34" charset="0"/>
              </a:rPr>
              <a:t>+2=(</a:t>
            </a:r>
            <a:r>
              <a:rPr lang="en-US" altLang="zh-CN" sz="2400" b="1" i="1" dirty="0">
                <a:solidFill>
                  <a:srgbClr val="0C0D0E"/>
                </a:solidFill>
                <a:effectLst/>
                <a:latin typeface="Trebuchet MS" panose="020B0603020202020204" pitchFamily="34" charset="0"/>
              </a:rPr>
              <a:t>x</a:t>
            </a:r>
            <a:r>
              <a:rPr lang="en-US" altLang="zh-CN" sz="2400" b="1" i="0" dirty="0">
                <a:solidFill>
                  <a:srgbClr val="0C0D0E"/>
                </a:solidFill>
                <a:effectLst/>
                <a:latin typeface="Trebuchet MS" panose="020B0603020202020204" pitchFamily="34" charset="0"/>
              </a:rPr>
              <a:t>−1)(</a:t>
            </a:r>
            <a:r>
              <a:rPr lang="en-US" altLang="zh-CN" sz="2400" b="1" i="1" dirty="0">
                <a:solidFill>
                  <a:srgbClr val="0C0D0E"/>
                </a:solidFill>
                <a:effectLst/>
                <a:latin typeface="Trebuchet MS" panose="020B0603020202020204" pitchFamily="34" charset="0"/>
              </a:rPr>
              <a:t>x</a:t>
            </a:r>
            <a:r>
              <a:rPr lang="en-US" altLang="zh-CN" sz="2400" b="1" i="0" dirty="0">
                <a:solidFill>
                  <a:srgbClr val="0C0D0E"/>
                </a:solidFill>
                <a:effectLst/>
                <a:latin typeface="Trebuchet MS" panose="020B0603020202020204" pitchFamily="34" charset="0"/>
              </a:rPr>
              <a:t>−2</a:t>
            </a:r>
            <a:r>
              <a:rPr lang="en-US" sz="2400" b="1" dirty="0">
                <a:latin typeface="Trebuchet MS" panose="020B0603020202020204" pitchFamily="34" charset="0"/>
              </a:rPr>
              <a:t>);</a:t>
            </a:r>
            <a:r>
              <a:rPr lang="en-US" sz="2400" b="1" dirty="0">
                <a:solidFill>
                  <a:srgbClr val="0B61FF"/>
                </a:solidFill>
                <a:latin typeface="Trebuchet MS" panose="020B0603020202020204" pitchFamily="34" charset="0"/>
              </a:rPr>
              <a:t>(2)</a:t>
            </a:r>
            <a:r>
              <a:rPr lang="en-US" sz="2400" b="0" i="0" dirty="0">
                <a:solidFill>
                  <a:srgbClr val="0C0D0E"/>
                </a:solidFill>
                <a:effectLst/>
                <a:latin typeface="Trebuchet MS" panose="020B0603020202020204" pitchFamily="34" charset="0"/>
              </a:rPr>
              <a:t> There exists an x such that </a:t>
            </a:r>
            <a:r>
              <a:rPr lang="en-US" altLang="zh-CN" sz="2400" b="1" i="1" dirty="0">
                <a:solidFill>
                  <a:srgbClr val="0C0D0E"/>
                </a:solidFill>
                <a:effectLst/>
                <a:latin typeface="Trebuchet MS" panose="020B0603020202020204" pitchFamily="34" charset="0"/>
              </a:rPr>
              <a:t> x</a:t>
            </a:r>
            <a:r>
              <a:rPr lang="en-US" altLang="zh-CN" sz="2400" b="1" i="0" dirty="0">
                <a:solidFill>
                  <a:srgbClr val="0C0D0E"/>
                </a:solidFill>
                <a:effectLst/>
                <a:latin typeface="Trebuchet MS" panose="020B0603020202020204" pitchFamily="34" charset="0"/>
              </a:rPr>
              <a:t>+5=3</a:t>
            </a:r>
            <a:r>
              <a:rPr lang="en-US" sz="2400" b="0" i="0" dirty="0">
                <a:solidFill>
                  <a:srgbClr val="0C0D0E"/>
                </a:solidFill>
                <a:effectLst/>
                <a:latin typeface="Trebuchet MS" panose="020B0603020202020204" pitchFamily="34" charset="0"/>
              </a:rPr>
              <a:t>.</a:t>
            </a:r>
          </a:p>
          <a:p>
            <a:pPr marL="0" indent="0" algn="l">
              <a:lnSpc>
                <a:spcPct val="120000"/>
              </a:lnSpc>
              <a:spcBef>
                <a:spcPts val="300"/>
              </a:spcBef>
              <a:buNone/>
            </a:pPr>
            <a:r>
              <a:rPr lang="en-US" sz="2400" b="0" i="0" dirty="0">
                <a:solidFill>
                  <a:srgbClr val="0C0D0E"/>
                </a:solidFill>
                <a:effectLst/>
                <a:latin typeface="Trebuchet MS" panose="020B0603020202020204" pitchFamily="34" charset="0"/>
              </a:rPr>
              <a:t>Consider the following </a:t>
            </a:r>
            <a:r>
              <a:rPr lang="en-US" sz="2400" b="1" i="0" dirty="0">
                <a:solidFill>
                  <a:srgbClr val="0C0D0E"/>
                </a:solidFill>
                <a:effectLst/>
                <a:latin typeface="Trebuchet MS" panose="020B0603020202020204" pitchFamily="34" charset="0"/>
              </a:rPr>
              <a:t>domains</a:t>
            </a:r>
            <a:r>
              <a:rPr lang="en-US" sz="2400" b="0" i="0" dirty="0">
                <a:solidFill>
                  <a:srgbClr val="0C0D0E"/>
                </a:solidFill>
                <a:effectLst/>
                <a:latin typeface="Trebuchet MS" panose="020B0603020202020204" pitchFamily="34" charset="0"/>
              </a:rPr>
              <a:t> of discourse: </a:t>
            </a:r>
            <a:r>
              <a:rPr lang="en-US" sz="2400" b="1" i="0" dirty="0">
                <a:solidFill>
                  <a:srgbClr val="0B61FF"/>
                </a:solidFill>
                <a:effectLst/>
                <a:latin typeface="Trebuchet MS" panose="020B0603020202020204" pitchFamily="34" charset="0"/>
              </a:rPr>
              <a:t>(a)</a:t>
            </a:r>
            <a:r>
              <a:rPr lang="en-US" sz="2400" b="0" i="0" dirty="0">
                <a:solidFill>
                  <a:srgbClr val="0C0D0E"/>
                </a:solidFill>
                <a:effectLst/>
                <a:latin typeface="Trebuchet MS" panose="020B0603020202020204" pitchFamily="34" charset="0"/>
              </a:rPr>
              <a:t> </a:t>
            </a:r>
            <a:r>
              <a:rPr lang="en-US" sz="2400" b="1" i="1" dirty="0">
                <a:solidFill>
                  <a:srgbClr val="0C0D0E"/>
                </a:solidFill>
                <a:effectLst/>
                <a:latin typeface="Trebuchet MS" panose="020B0603020202020204" pitchFamily="34" charset="0"/>
              </a:rPr>
              <a:t>D</a:t>
            </a:r>
            <a:r>
              <a:rPr lang="en-US" sz="2400" b="1" i="0" baseline="-25000" dirty="0">
                <a:solidFill>
                  <a:srgbClr val="0C0D0E"/>
                </a:solidFill>
                <a:effectLst/>
                <a:latin typeface="Trebuchet MS" panose="020B0603020202020204" pitchFamily="34" charset="0"/>
              </a:rPr>
              <a:t>1</a:t>
            </a:r>
            <a:r>
              <a:rPr lang="en-US" sz="2400" b="0" i="0" dirty="0">
                <a:solidFill>
                  <a:srgbClr val="0C0D0E"/>
                </a:solidFill>
                <a:effectLst/>
                <a:latin typeface="Trebuchet MS" panose="020B0603020202020204" pitchFamily="34" charset="0"/>
              </a:rPr>
              <a:t>=</a:t>
            </a:r>
            <a:r>
              <a:rPr lang="en-US" sz="2400" b="1" i="0" dirty="0">
                <a:solidFill>
                  <a:srgbClr val="0C0D0E"/>
                </a:solidFill>
                <a:effectLst/>
                <a:latin typeface="Trebuchet MS" panose="020B0603020202020204" pitchFamily="34" charset="0"/>
              </a:rPr>
              <a:t>N</a:t>
            </a:r>
            <a:r>
              <a:rPr lang="en-US" sz="2400" b="0" i="0" dirty="0">
                <a:solidFill>
                  <a:srgbClr val="0C0D0E"/>
                </a:solidFill>
                <a:effectLst/>
                <a:latin typeface="Trebuchet MS" panose="020B0603020202020204" pitchFamily="34" charset="0"/>
              </a:rPr>
              <a:t> (the set of natural numbers); </a:t>
            </a:r>
            <a:r>
              <a:rPr lang="en-US" sz="2400" b="1" dirty="0">
                <a:solidFill>
                  <a:srgbClr val="0B61FF"/>
                </a:solidFill>
                <a:latin typeface="Trebuchet MS" panose="020B0603020202020204" pitchFamily="34" charset="0"/>
              </a:rPr>
              <a:t>(b)</a:t>
            </a:r>
            <a:r>
              <a:rPr lang="en-US" sz="2400" b="0" i="0" dirty="0">
                <a:solidFill>
                  <a:srgbClr val="0C0D0E"/>
                </a:solidFill>
                <a:effectLst/>
                <a:latin typeface="Trebuchet MS" panose="020B0603020202020204" pitchFamily="34" charset="0"/>
              </a:rPr>
              <a:t> </a:t>
            </a:r>
            <a:r>
              <a:rPr lang="en-US" altLang="zh-CN" sz="2400" b="1" i="1" dirty="0">
                <a:solidFill>
                  <a:srgbClr val="0C0D0E"/>
                </a:solidFill>
                <a:effectLst/>
                <a:latin typeface="Trebuchet MS" panose="020B0603020202020204" pitchFamily="34" charset="0"/>
              </a:rPr>
              <a:t> D</a:t>
            </a:r>
            <a:r>
              <a:rPr lang="en-US" altLang="zh-CN" sz="2400" b="1" i="0" baseline="-25000" dirty="0">
                <a:solidFill>
                  <a:srgbClr val="0C0D0E"/>
                </a:solidFill>
                <a:effectLst/>
                <a:latin typeface="Trebuchet MS" panose="020B0603020202020204" pitchFamily="34" charset="0"/>
              </a:rPr>
              <a:t>2 </a:t>
            </a:r>
            <a:r>
              <a:rPr lang="en-US" sz="2400" b="0" i="0" dirty="0">
                <a:solidFill>
                  <a:srgbClr val="0C0D0E"/>
                </a:solidFill>
                <a:effectLst/>
                <a:latin typeface="Trebuchet MS" panose="020B0603020202020204" pitchFamily="34" charset="0"/>
              </a:rPr>
              <a:t>=</a:t>
            </a:r>
            <a:r>
              <a:rPr lang="en-US" sz="2400" b="1" i="1" dirty="0">
                <a:solidFill>
                  <a:srgbClr val="0C0D0E"/>
                </a:solidFill>
                <a:effectLst/>
                <a:latin typeface="Trebuchet MS" panose="020B0603020202020204" pitchFamily="34" charset="0"/>
              </a:rPr>
              <a:t>R</a:t>
            </a:r>
            <a:r>
              <a:rPr lang="en-US" sz="2400" b="0" i="0" dirty="0">
                <a:solidFill>
                  <a:srgbClr val="0C0D0E"/>
                </a:solidFill>
                <a:effectLst/>
                <a:latin typeface="Trebuchet MS" panose="020B0603020202020204" pitchFamily="34" charset="0"/>
              </a:rPr>
              <a:t> (the set of real numbers).</a:t>
            </a:r>
          </a:p>
          <a:p>
            <a:pPr algn="l">
              <a:lnSpc>
                <a:spcPct val="120000"/>
              </a:lnSpc>
              <a:spcBef>
                <a:spcPts val="300"/>
              </a:spcBef>
              <a:buClr>
                <a:srgbClr val="0B61FF"/>
              </a:buClr>
              <a:buSzPct val="80000"/>
              <a:buFont typeface="Wingdings" panose="05000000000000000000" pitchFamily="2" charset="2"/>
              <a:buChar char="n"/>
            </a:pPr>
            <a:r>
              <a:rPr lang="en-US" sz="2400" b="1" i="0" dirty="0">
                <a:solidFill>
                  <a:srgbClr val="0C0D0E"/>
                </a:solidFill>
                <a:effectLst/>
                <a:latin typeface="Trebuchet MS" panose="020B0603020202020204" pitchFamily="34" charset="0"/>
              </a:rPr>
              <a:t>Solution:</a:t>
            </a:r>
            <a:r>
              <a:rPr lang="en-US" sz="2400" b="0" i="0" dirty="0">
                <a:solidFill>
                  <a:srgbClr val="0C0D0E"/>
                </a:solidFill>
                <a:effectLst/>
                <a:latin typeface="Trebuchet MS" panose="020B0603020202020204" pitchFamily="34" charset="0"/>
              </a:rPr>
              <a:t> Let</a:t>
            </a:r>
            <a:r>
              <a:rPr lang="en-US" sz="2400" b="1" i="0" dirty="0">
                <a:solidFill>
                  <a:srgbClr val="0C0D0E"/>
                </a:solidFill>
                <a:effectLst/>
                <a:latin typeface="Trebuchet MS" panose="020B0603020202020204" pitchFamily="34" charset="0"/>
              </a:rPr>
              <a:t> </a:t>
            </a:r>
            <a:r>
              <a:rPr lang="en-US" sz="2400" b="1" i="1" dirty="0">
                <a:solidFill>
                  <a:srgbClr val="0C0D0E"/>
                </a:solidFill>
                <a:effectLst/>
                <a:latin typeface="Trebuchet MS" panose="020B0603020202020204" pitchFamily="34" charset="0"/>
              </a:rPr>
              <a:t>F</a:t>
            </a:r>
            <a:r>
              <a:rPr lang="en-US" sz="2400" b="1" i="0" dirty="0">
                <a:solidFill>
                  <a:srgbClr val="0C0D0E"/>
                </a:solidFill>
                <a:effectLst/>
                <a:latin typeface="Trebuchet MS" panose="020B0603020202020204" pitchFamily="34" charset="0"/>
              </a:rPr>
              <a:t>(</a:t>
            </a:r>
            <a:r>
              <a:rPr lang="en-US" sz="2400" b="1" i="1" dirty="0">
                <a:solidFill>
                  <a:srgbClr val="0C0D0E"/>
                </a:solidFill>
                <a:effectLst/>
                <a:latin typeface="Trebuchet MS" panose="020B0603020202020204" pitchFamily="34" charset="0"/>
              </a:rPr>
              <a:t>x</a:t>
            </a:r>
            <a:r>
              <a:rPr lang="en-US" sz="2400" b="1" i="0" dirty="0">
                <a:solidFill>
                  <a:srgbClr val="0C0D0E"/>
                </a:solidFill>
                <a:effectLst/>
                <a:latin typeface="Trebuchet MS" panose="020B0603020202020204" pitchFamily="34" charset="0"/>
              </a:rPr>
              <a:t>)</a:t>
            </a:r>
            <a:r>
              <a:rPr lang="en-US" sz="2400" b="0" i="0" dirty="0">
                <a:solidFill>
                  <a:srgbClr val="0C0D0E"/>
                </a:solidFill>
                <a:effectLst/>
                <a:latin typeface="Trebuchet MS" panose="020B0603020202020204" pitchFamily="34" charset="0"/>
              </a:rPr>
              <a:t>:</a:t>
            </a:r>
            <a:r>
              <a:rPr lang="en-US" sz="2400" b="1" i="0" dirty="0">
                <a:solidFill>
                  <a:srgbClr val="0C0D0E"/>
                </a:solidFill>
                <a:effectLst/>
                <a:latin typeface="Trebuchet MS" panose="020B0603020202020204" pitchFamily="34" charset="0"/>
              </a:rPr>
              <a:t>x</a:t>
            </a:r>
            <a:r>
              <a:rPr lang="en-US" sz="2400" b="1" i="0" baseline="30000" dirty="0">
                <a:solidFill>
                  <a:srgbClr val="0C0D0E"/>
                </a:solidFill>
                <a:effectLst/>
                <a:latin typeface="Trebuchet MS" panose="020B0603020202020204" pitchFamily="34" charset="0"/>
              </a:rPr>
              <a:t>2</a:t>
            </a:r>
            <a:r>
              <a:rPr lang="en-US" sz="2400" b="1" i="0" dirty="0">
                <a:solidFill>
                  <a:srgbClr val="0C0D0E"/>
                </a:solidFill>
                <a:effectLst/>
                <a:latin typeface="Trebuchet MS" panose="020B0603020202020204" pitchFamily="34" charset="0"/>
              </a:rPr>
              <a:t>−3</a:t>
            </a:r>
            <a:r>
              <a:rPr lang="en-US" sz="2400" b="1" i="1" dirty="0">
                <a:solidFill>
                  <a:srgbClr val="0C0D0E"/>
                </a:solidFill>
                <a:effectLst/>
                <a:latin typeface="Trebuchet MS" panose="020B0603020202020204" pitchFamily="34" charset="0"/>
              </a:rPr>
              <a:t>x</a:t>
            </a:r>
            <a:r>
              <a:rPr lang="en-US" sz="2400" b="1" i="0" dirty="0">
                <a:solidFill>
                  <a:srgbClr val="0C0D0E"/>
                </a:solidFill>
                <a:effectLst/>
                <a:latin typeface="Trebuchet MS" panose="020B0603020202020204" pitchFamily="34" charset="0"/>
              </a:rPr>
              <a:t>+2=(</a:t>
            </a:r>
            <a:r>
              <a:rPr lang="en-US" sz="2400" b="1" i="1" dirty="0">
                <a:solidFill>
                  <a:srgbClr val="0C0D0E"/>
                </a:solidFill>
                <a:effectLst/>
                <a:latin typeface="Trebuchet MS" panose="020B0603020202020204" pitchFamily="34" charset="0"/>
              </a:rPr>
              <a:t>x</a:t>
            </a:r>
            <a:r>
              <a:rPr lang="en-US" sz="2400" b="1" i="0" dirty="0">
                <a:solidFill>
                  <a:srgbClr val="0C0D0E"/>
                </a:solidFill>
                <a:effectLst/>
                <a:latin typeface="Trebuchet MS" panose="020B0603020202020204" pitchFamily="34" charset="0"/>
              </a:rPr>
              <a:t>−1)(</a:t>
            </a:r>
            <a:r>
              <a:rPr lang="en-US" sz="2400" b="1" i="1" dirty="0">
                <a:solidFill>
                  <a:srgbClr val="0C0D0E"/>
                </a:solidFill>
                <a:effectLst/>
                <a:latin typeface="Trebuchet MS" panose="020B0603020202020204" pitchFamily="34" charset="0"/>
              </a:rPr>
              <a:t>x</a:t>
            </a:r>
            <a:r>
              <a:rPr lang="en-US" sz="2400" b="1" i="0" dirty="0">
                <a:solidFill>
                  <a:srgbClr val="0C0D0E"/>
                </a:solidFill>
                <a:effectLst/>
                <a:latin typeface="Trebuchet MS" panose="020B0603020202020204" pitchFamily="34" charset="0"/>
              </a:rPr>
              <a:t>−2), </a:t>
            </a:r>
            <a:r>
              <a:rPr lang="en-US" sz="2400" b="0" i="0" dirty="0">
                <a:solidFill>
                  <a:srgbClr val="0C0D0E"/>
                </a:solidFill>
                <a:effectLst/>
                <a:latin typeface="Trebuchet MS" panose="020B0603020202020204" pitchFamily="34" charset="0"/>
              </a:rPr>
              <a:t>and </a:t>
            </a:r>
            <a:r>
              <a:rPr lang="en-US" sz="2400" b="1" i="1" dirty="0">
                <a:solidFill>
                  <a:srgbClr val="0C0D0E"/>
                </a:solidFill>
                <a:effectLst/>
                <a:latin typeface="Trebuchet MS" panose="020B0603020202020204" pitchFamily="34" charset="0"/>
              </a:rPr>
              <a:t>G</a:t>
            </a:r>
            <a:r>
              <a:rPr lang="en-US" sz="2400" b="1" i="0" dirty="0">
                <a:solidFill>
                  <a:srgbClr val="0C0D0E"/>
                </a:solidFill>
                <a:effectLst/>
                <a:latin typeface="Trebuchet MS" panose="020B0603020202020204" pitchFamily="34" charset="0"/>
              </a:rPr>
              <a:t>(</a:t>
            </a:r>
            <a:r>
              <a:rPr lang="en-US" sz="2400" b="1" i="1" dirty="0">
                <a:solidFill>
                  <a:srgbClr val="0C0D0E"/>
                </a:solidFill>
                <a:effectLst/>
                <a:latin typeface="Trebuchet MS" panose="020B0603020202020204" pitchFamily="34" charset="0"/>
              </a:rPr>
              <a:t>x</a:t>
            </a:r>
            <a:r>
              <a:rPr lang="en-US" sz="2400" b="1" i="0" dirty="0">
                <a:solidFill>
                  <a:srgbClr val="0C0D0E"/>
                </a:solidFill>
                <a:effectLst/>
                <a:latin typeface="Trebuchet MS" panose="020B0603020202020204" pitchFamily="34" charset="0"/>
              </a:rPr>
              <a:t>):</a:t>
            </a:r>
            <a:r>
              <a:rPr lang="en-US" sz="2400" b="1" i="1" dirty="0">
                <a:solidFill>
                  <a:srgbClr val="0C0D0E"/>
                </a:solidFill>
                <a:effectLst/>
                <a:latin typeface="Trebuchet MS" panose="020B0603020202020204" pitchFamily="34" charset="0"/>
              </a:rPr>
              <a:t>x</a:t>
            </a:r>
            <a:r>
              <a:rPr lang="en-US" sz="2400" b="1" i="0" dirty="0">
                <a:solidFill>
                  <a:srgbClr val="0C0D0E"/>
                </a:solidFill>
                <a:effectLst/>
                <a:latin typeface="Trebuchet MS" panose="020B0603020202020204" pitchFamily="34" charset="0"/>
              </a:rPr>
              <a:t>+5=3</a:t>
            </a:r>
            <a:r>
              <a:rPr lang="en-US" sz="2400" b="0" i="0" dirty="0">
                <a:solidFill>
                  <a:srgbClr val="0C0D0E"/>
                </a:solidFill>
                <a:effectLst/>
                <a:latin typeface="Trebuchet MS" panose="020B0603020202020204" pitchFamily="34" charset="0"/>
              </a:rPr>
              <a:t>.</a:t>
            </a:r>
          </a:p>
          <a:p>
            <a:pPr marL="271463" indent="174625" algn="l">
              <a:lnSpc>
                <a:spcPct val="120000"/>
              </a:lnSpc>
              <a:spcBef>
                <a:spcPts val="300"/>
              </a:spcBef>
              <a:buClr>
                <a:srgbClr val="0B61FF"/>
              </a:buClr>
              <a:buSzPct val="120000"/>
            </a:pPr>
            <a:r>
              <a:rPr lang="en-US" sz="2400" b="1" i="0" dirty="0">
                <a:solidFill>
                  <a:srgbClr val="0B61FF"/>
                </a:solidFill>
                <a:effectLst/>
                <a:latin typeface="Trebuchet MS" panose="020B0603020202020204" pitchFamily="34" charset="0"/>
              </a:rPr>
              <a:t>(a)</a:t>
            </a:r>
            <a:r>
              <a:rPr lang="en-US" sz="2400" b="0" i="0" dirty="0">
                <a:solidFill>
                  <a:srgbClr val="0B61FF"/>
                </a:solidFill>
                <a:effectLst/>
                <a:latin typeface="Trebuchet MS" panose="020B0603020202020204" pitchFamily="34" charset="0"/>
              </a:rPr>
              <a:t> </a:t>
            </a:r>
            <a:r>
              <a:rPr lang="en-US" sz="2400" b="0" i="0" dirty="0">
                <a:solidFill>
                  <a:srgbClr val="0C0D0E"/>
                </a:solidFill>
                <a:effectLst/>
                <a:latin typeface="Trebuchet MS" panose="020B0603020202020204" pitchFamily="34" charset="0"/>
              </a:rPr>
              <a:t>Domain </a:t>
            </a:r>
            <a:r>
              <a:rPr lang="en-US" altLang="zh-CN" sz="2400" b="1" i="1" dirty="0">
                <a:solidFill>
                  <a:srgbClr val="0C0D0E"/>
                </a:solidFill>
                <a:effectLst/>
                <a:latin typeface="Trebuchet MS" panose="020B0603020202020204" pitchFamily="34" charset="0"/>
              </a:rPr>
              <a:t> D</a:t>
            </a:r>
            <a:r>
              <a:rPr lang="en-US" altLang="zh-CN" sz="2400" b="1" i="0" baseline="-25000" dirty="0">
                <a:solidFill>
                  <a:srgbClr val="0C0D0E"/>
                </a:solidFill>
                <a:effectLst/>
                <a:latin typeface="Trebuchet MS" panose="020B0603020202020204" pitchFamily="34" charset="0"/>
              </a:rPr>
              <a:t>1</a:t>
            </a:r>
            <a:r>
              <a:rPr lang="en-US" altLang="zh-CN" sz="2400" b="0" i="0" dirty="0">
                <a:solidFill>
                  <a:srgbClr val="0C0D0E"/>
                </a:solidFill>
                <a:effectLst/>
                <a:latin typeface="Trebuchet MS" panose="020B0603020202020204" pitchFamily="34" charset="0"/>
              </a:rPr>
              <a:t>=</a:t>
            </a:r>
            <a:r>
              <a:rPr lang="en-US" altLang="zh-CN" sz="2400" b="1" i="0" dirty="0">
                <a:solidFill>
                  <a:srgbClr val="0C0D0E"/>
                </a:solidFill>
                <a:effectLst/>
                <a:latin typeface="Trebuchet MS" panose="020B0603020202020204" pitchFamily="34" charset="0"/>
              </a:rPr>
              <a:t>N </a:t>
            </a:r>
            <a:r>
              <a:rPr lang="en-US" sz="2400" b="0" i="0" dirty="0">
                <a:solidFill>
                  <a:srgbClr val="0C0D0E"/>
                </a:solidFill>
                <a:effectLst/>
                <a:latin typeface="Trebuchet MS" panose="020B0603020202020204" pitchFamily="34" charset="0"/>
              </a:rPr>
              <a:t>:</a:t>
            </a:r>
          </a:p>
          <a:p>
            <a:pPr marL="271463" indent="533400" algn="l">
              <a:lnSpc>
                <a:spcPct val="120000"/>
              </a:lnSpc>
              <a:spcBef>
                <a:spcPts val="300"/>
              </a:spcBef>
              <a:buNone/>
            </a:pPr>
            <a:r>
              <a:rPr lang="en-US" altLang="zh-CN" sz="2400" i="0" dirty="0">
                <a:solidFill>
                  <a:srgbClr val="0C0D0E"/>
                </a:solidFill>
                <a:effectLst/>
                <a:latin typeface="Trebuchet MS" panose="020B0603020202020204" pitchFamily="34" charset="0"/>
              </a:rPr>
              <a:t> </a:t>
            </a:r>
            <a:r>
              <a:rPr lang="en-US" altLang="zh-CN" sz="2400" b="1" i="0" dirty="0">
                <a:solidFill>
                  <a:srgbClr val="0B61FF"/>
                </a:solidFill>
                <a:effectLst/>
                <a:latin typeface="Trebuchet MS" panose="020B0603020202020204" pitchFamily="34" charset="0"/>
              </a:rPr>
              <a:t>(1) </a:t>
            </a:r>
            <a:r>
              <a:rPr lang="en-US" sz="2400" b="1" dirty="0">
                <a:solidFill>
                  <a:srgbClr val="0C0D0E"/>
                </a:solidFill>
                <a:effectLst/>
                <a:latin typeface="Trebuchet MS" panose="020B0603020202020204" pitchFamily="34" charset="0"/>
              </a:rPr>
              <a:t>∀</a:t>
            </a:r>
            <a:r>
              <a:rPr lang="en-US" sz="2400" b="1" i="1" dirty="0">
                <a:solidFill>
                  <a:srgbClr val="0C0D0E"/>
                </a:solidFill>
                <a:effectLst/>
                <a:latin typeface="Trebuchet MS" panose="020B0603020202020204" pitchFamily="34" charset="0"/>
              </a:rPr>
              <a:t>xF</a:t>
            </a:r>
            <a:r>
              <a:rPr lang="en-US" sz="2400" b="1" dirty="0">
                <a:solidFill>
                  <a:srgbClr val="0C0D0E"/>
                </a:solidFill>
                <a:effectLst/>
                <a:latin typeface="Trebuchet MS" panose="020B0603020202020204" pitchFamily="34" charset="0"/>
              </a:rPr>
              <a:t>(</a:t>
            </a:r>
            <a:r>
              <a:rPr lang="en-US" sz="2400" b="1" i="1" dirty="0">
                <a:solidFill>
                  <a:srgbClr val="0C0D0E"/>
                </a:solidFill>
                <a:effectLst/>
                <a:latin typeface="Trebuchet MS" panose="020B0603020202020204" pitchFamily="34" charset="0"/>
              </a:rPr>
              <a:t>x</a:t>
            </a:r>
            <a:r>
              <a:rPr lang="en-US" sz="2400" b="1" dirty="0">
                <a:solidFill>
                  <a:srgbClr val="0C0D0E"/>
                </a:solidFill>
                <a:effectLst/>
                <a:latin typeface="Trebuchet MS" panose="020B0603020202020204" pitchFamily="34" charset="0"/>
              </a:rPr>
              <a:t>) </a:t>
            </a:r>
            <a:r>
              <a:rPr lang="en-US" sz="2400" b="0" i="0" dirty="0">
                <a:solidFill>
                  <a:srgbClr val="0C0D0E"/>
                </a:solidFill>
                <a:effectLst/>
                <a:latin typeface="Trebuchet MS" panose="020B0603020202020204" pitchFamily="34" charset="0"/>
              </a:rPr>
              <a:t>Truth value: 1 (True)</a:t>
            </a:r>
          </a:p>
          <a:p>
            <a:pPr marL="271463" indent="533400" algn="l">
              <a:lnSpc>
                <a:spcPct val="120000"/>
              </a:lnSpc>
              <a:spcBef>
                <a:spcPts val="300"/>
              </a:spcBef>
              <a:buNone/>
            </a:pPr>
            <a:r>
              <a:rPr lang="en-US" altLang="zh-CN" sz="2400" b="1" dirty="0">
                <a:solidFill>
                  <a:srgbClr val="0B61FF"/>
                </a:solidFill>
                <a:latin typeface="Trebuchet MS" panose="020B0603020202020204" pitchFamily="34" charset="0"/>
              </a:rPr>
              <a:t> (2)</a:t>
            </a:r>
            <a:r>
              <a:rPr lang="en-US" altLang="zh-CN" sz="2400" b="0" i="0" dirty="0">
                <a:solidFill>
                  <a:srgbClr val="0C0D0E"/>
                </a:solidFill>
                <a:effectLst/>
                <a:latin typeface="Trebuchet MS" panose="020B0603020202020204" pitchFamily="34" charset="0"/>
              </a:rPr>
              <a:t> </a:t>
            </a:r>
            <a:r>
              <a:rPr lang="en-US" sz="2400" b="1" i="0" dirty="0">
                <a:solidFill>
                  <a:srgbClr val="0C0D0E"/>
                </a:solidFill>
                <a:effectLst/>
                <a:latin typeface="Trebuchet MS" panose="020B0603020202020204" pitchFamily="34" charset="0"/>
              </a:rPr>
              <a:t>∃</a:t>
            </a:r>
            <a:r>
              <a:rPr lang="en-US" sz="2400" b="1" i="1" dirty="0">
                <a:solidFill>
                  <a:srgbClr val="0C0D0E"/>
                </a:solidFill>
                <a:effectLst/>
                <a:latin typeface="Trebuchet MS" panose="020B0603020202020204" pitchFamily="34" charset="0"/>
              </a:rPr>
              <a:t>xG</a:t>
            </a:r>
            <a:r>
              <a:rPr lang="en-US" sz="2400" b="1" i="0" dirty="0">
                <a:solidFill>
                  <a:srgbClr val="0C0D0E"/>
                </a:solidFill>
                <a:effectLst/>
                <a:latin typeface="Trebuchet MS" panose="020B0603020202020204" pitchFamily="34" charset="0"/>
              </a:rPr>
              <a:t>(</a:t>
            </a:r>
            <a:r>
              <a:rPr lang="en-US" sz="2400" b="1" i="1" dirty="0">
                <a:solidFill>
                  <a:srgbClr val="0C0D0E"/>
                </a:solidFill>
                <a:effectLst/>
                <a:latin typeface="Trebuchet MS" panose="020B0603020202020204" pitchFamily="34" charset="0"/>
              </a:rPr>
              <a:t>x</a:t>
            </a:r>
            <a:r>
              <a:rPr lang="en-US" sz="2400" b="1" i="0" dirty="0">
                <a:solidFill>
                  <a:srgbClr val="0C0D0E"/>
                </a:solidFill>
                <a:effectLst/>
                <a:latin typeface="Trebuchet MS" panose="020B0603020202020204" pitchFamily="34" charset="0"/>
              </a:rPr>
              <a:t>) </a:t>
            </a:r>
            <a:r>
              <a:rPr lang="en-US" sz="2400" b="0" i="0" dirty="0">
                <a:solidFill>
                  <a:srgbClr val="0C0D0E"/>
                </a:solidFill>
                <a:effectLst/>
                <a:latin typeface="Trebuchet MS" panose="020B0603020202020204" pitchFamily="34" charset="0"/>
              </a:rPr>
              <a:t>Truth value: 0 (False)</a:t>
            </a:r>
          </a:p>
          <a:p>
            <a:pPr marL="271463" indent="174625" algn="l">
              <a:lnSpc>
                <a:spcPct val="120000"/>
              </a:lnSpc>
              <a:spcBef>
                <a:spcPts val="300"/>
              </a:spcBef>
            </a:pPr>
            <a:r>
              <a:rPr lang="en-US" sz="2400" b="1" i="0" dirty="0">
                <a:solidFill>
                  <a:srgbClr val="0B61FF"/>
                </a:solidFill>
                <a:effectLst/>
                <a:latin typeface="Trebuchet MS" panose="020B0603020202020204" pitchFamily="34" charset="0"/>
              </a:rPr>
              <a:t>(b)</a:t>
            </a:r>
            <a:r>
              <a:rPr lang="en-US" sz="2400" b="0" i="0" dirty="0">
                <a:solidFill>
                  <a:srgbClr val="0C0D0E"/>
                </a:solidFill>
                <a:effectLst/>
                <a:latin typeface="Trebuchet MS" panose="020B0603020202020204" pitchFamily="34" charset="0"/>
              </a:rPr>
              <a:t> Domain </a:t>
            </a:r>
            <a:r>
              <a:rPr lang="en-US" altLang="zh-CN" sz="2400" b="1" i="1" dirty="0">
                <a:solidFill>
                  <a:srgbClr val="0C0D0E"/>
                </a:solidFill>
                <a:effectLst/>
                <a:latin typeface="Trebuchet MS" panose="020B0603020202020204" pitchFamily="34" charset="0"/>
              </a:rPr>
              <a:t> D</a:t>
            </a:r>
            <a:r>
              <a:rPr lang="en-US" altLang="zh-CN" sz="2400" b="1" i="0" baseline="-25000" dirty="0">
                <a:solidFill>
                  <a:srgbClr val="0C0D0E"/>
                </a:solidFill>
                <a:effectLst/>
                <a:latin typeface="Trebuchet MS" panose="020B0603020202020204" pitchFamily="34" charset="0"/>
              </a:rPr>
              <a:t>2 </a:t>
            </a:r>
            <a:r>
              <a:rPr lang="en-US" altLang="zh-CN" sz="2400" b="0" i="0" dirty="0">
                <a:solidFill>
                  <a:srgbClr val="0C0D0E"/>
                </a:solidFill>
                <a:effectLst/>
                <a:latin typeface="Trebuchet MS" panose="020B0603020202020204" pitchFamily="34" charset="0"/>
              </a:rPr>
              <a:t>=</a:t>
            </a:r>
            <a:r>
              <a:rPr lang="en-US" altLang="zh-CN" sz="2400" b="1" i="1" dirty="0">
                <a:solidFill>
                  <a:srgbClr val="0C0D0E"/>
                </a:solidFill>
                <a:effectLst/>
                <a:latin typeface="Trebuchet MS" panose="020B0603020202020204" pitchFamily="34" charset="0"/>
              </a:rPr>
              <a:t>R </a:t>
            </a:r>
            <a:r>
              <a:rPr lang="en-US" sz="2400" b="0" i="0" dirty="0">
                <a:solidFill>
                  <a:srgbClr val="0C0D0E"/>
                </a:solidFill>
                <a:effectLst/>
                <a:latin typeface="Trebuchet MS" panose="020B0603020202020204" pitchFamily="34" charset="0"/>
              </a:rPr>
              <a:t>:</a:t>
            </a:r>
          </a:p>
          <a:p>
            <a:pPr marL="271463" indent="620713" algn="l">
              <a:lnSpc>
                <a:spcPct val="120000"/>
              </a:lnSpc>
              <a:spcBef>
                <a:spcPts val="300"/>
              </a:spcBef>
              <a:buNone/>
            </a:pPr>
            <a:r>
              <a:rPr lang="en-US" altLang="zh-CN" sz="2400" b="1" i="0" dirty="0">
                <a:solidFill>
                  <a:srgbClr val="0B61FF"/>
                </a:solidFill>
                <a:effectLst/>
                <a:latin typeface="Trebuchet MS" panose="020B0603020202020204" pitchFamily="34" charset="0"/>
              </a:rPr>
              <a:t>(1) </a:t>
            </a:r>
            <a:r>
              <a:rPr lang="en-US" sz="2400" b="1" i="0" dirty="0">
                <a:solidFill>
                  <a:srgbClr val="0C0D0E"/>
                </a:solidFill>
                <a:effectLst/>
                <a:latin typeface="Trebuchet MS" panose="020B0603020202020204" pitchFamily="34" charset="0"/>
              </a:rPr>
              <a:t>∀</a:t>
            </a:r>
            <a:r>
              <a:rPr lang="en-US" sz="2400" b="1" i="1" dirty="0">
                <a:solidFill>
                  <a:srgbClr val="0C0D0E"/>
                </a:solidFill>
                <a:effectLst/>
                <a:latin typeface="Trebuchet MS" panose="020B0603020202020204" pitchFamily="34" charset="0"/>
              </a:rPr>
              <a:t>x</a:t>
            </a:r>
            <a:r>
              <a:rPr lang="en-US" sz="2400" b="1" i="0" dirty="0">
                <a:solidFill>
                  <a:srgbClr val="0C0D0E"/>
                </a:solidFill>
                <a:effectLst/>
                <a:latin typeface="Trebuchet MS" panose="020B0603020202020204" pitchFamily="34" charset="0"/>
              </a:rPr>
              <a:t>F(</a:t>
            </a:r>
            <a:r>
              <a:rPr lang="en-US" sz="2400" b="1" i="1" dirty="0">
                <a:solidFill>
                  <a:srgbClr val="0C0D0E"/>
                </a:solidFill>
                <a:effectLst/>
                <a:latin typeface="Trebuchet MS" panose="020B0603020202020204" pitchFamily="34" charset="0"/>
              </a:rPr>
              <a:t>x</a:t>
            </a:r>
            <a:r>
              <a:rPr lang="en-US" sz="2400" b="1" i="0" dirty="0">
                <a:solidFill>
                  <a:srgbClr val="0C0D0E"/>
                </a:solidFill>
                <a:effectLst/>
                <a:latin typeface="Trebuchet MS" panose="020B0603020202020204" pitchFamily="34" charset="0"/>
              </a:rPr>
              <a:t>) </a:t>
            </a:r>
            <a:r>
              <a:rPr lang="en-US" sz="2400" b="0" i="0" dirty="0">
                <a:solidFill>
                  <a:srgbClr val="0C0D0E"/>
                </a:solidFill>
                <a:effectLst/>
                <a:latin typeface="Trebuchet MS" panose="020B0603020202020204" pitchFamily="34" charset="0"/>
              </a:rPr>
              <a:t>Truth value: 1 (True)</a:t>
            </a:r>
          </a:p>
          <a:p>
            <a:pPr marL="271463" indent="620713" algn="l">
              <a:lnSpc>
                <a:spcPct val="120000"/>
              </a:lnSpc>
              <a:spcBef>
                <a:spcPts val="300"/>
              </a:spcBef>
              <a:buNone/>
            </a:pPr>
            <a:r>
              <a:rPr lang="en-US" altLang="zh-CN" sz="2400" b="1" dirty="0">
                <a:solidFill>
                  <a:srgbClr val="0B61FF"/>
                </a:solidFill>
                <a:latin typeface="Trebuchet MS" panose="020B0603020202020204" pitchFamily="34" charset="0"/>
              </a:rPr>
              <a:t>(2)</a:t>
            </a:r>
            <a:r>
              <a:rPr lang="en-US" altLang="zh-CN" sz="2400" b="0" i="0" dirty="0">
                <a:solidFill>
                  <a:srgbClr val="0C0D0E"/>
                </a:solidFill>
                <a:effectLst/>
                <a:latin typeface="Trebuchet MS" panose="020B0603020202020204" pitchFamily="34" charset="0"/>
              </a:rPr>
              <a:t> </a:t>
            </a:r>
            <a:r>
              <a:rPr lang="en-US" sz="2400" b="1" dirty="0">
                <a:solidFill>
                  <a:srgbClr val="0C0D0E"/>
                </a:solidFill>
                <a:effectLst/>
                <a:latin typeface="Trebuchet MS" panose="020B0603020202020204" pitchFamily="34" charset="0"/>
              </a:rPr>
              <a:t>∃</a:t>
            </a:r>
            <a:r>
              <a:rPr lang="en-US" sz="2400" b="1" i="1" dirty="0">
                <a:solidFill>
                  <a:srgbClr val="0C0D0E"/>
                </a:solidFill>
                <a:effectLst/>
                <a:latin typeface="Trebuchet MS" panose="020B0603020202020204" pitchFamily="34" charset="0"/>
              </a:rPr>
              <a:t>x</a:t>
            </a:r>
            <a:r>
              <a:rPr lang="en-US" sz="2400" b="1" dirty="0">
                <a:solidFill>
                  <a:srgbClr val="0C0D0E"/>
                </a:solidFill>
                <a:effectLst/>
                <a:latin typeface="Trebuchet MS" panose="020B0603020202020204" pitchFamily="34" charset="0"/>
              </a:rPr>
              <a:t>G(</a:t>
            </a:r>
            <a:r>
              <a:rPr lang="en-US" sz="2400" b="1" i="1" dirty="0">
                <a:solidFill>
                  <a:srgbClr val="0C0D0E"/>
                </a:solidFill>
                <a:effectLst/>
                <a:latin typeface="Trebuchet MS" panose="020B0603020202020204" pitchFamily="34" charset="0"/>
              </a:rPr>
              <a:t>x</a:t>
            </a:r>
            <a:r>
              <a:rPr lang="en-US" sz="2400" b="1" dirty="0">
                <a:solidFill>
                  <a:srgbClr val="0C0D0E"/>
                </a:solidFill>
                <a:effectLst/>
                <a:latin typeface="Trebuchet MS" panose="020B0603020202020204" pitchFamily="34" charset="0"/>
              </a:rPr>
              <a:t>) </a:t>
            </a:r>
            <a:r>
              <a:rPr lang="en-US" sz="2400" b="0" i="0" dirty="0">
                <a:solidFill>
                  <a:srgbClr val="0C0D0E"/>
                </a:solidFill>
                <a:effectLst/>
                <a:latin typeface="Trebuchet MS" panose="020B0603020202020204" pitchFamily="34" charset="0"/>
              </a:rPr>
              <a:t>Truth value: 1 (True)</a:t>
            </a:r>
          </a:p>
        </p:txBody>
      </p:sp>
      <p:pic>
        <p:nvPicPr>
          <p:cNvPr id="9" name="图片 8">
            <a:extLst>
              <a:ext uri="{FF2B5EF4-FFF2-40B4-BE49-F238E27FC236}">
                <a16:creationId xmlns:a16="http://schemas.microsoft.com/office/drawing/2014/main" id="{99C668B2-516A-4B1C-90E2-BD5A3B4A122F}"/>
              </a:ext>
            </a:extLst>
          </p:cNvPr>
          <p:cNvPicPr/>
          <p:nvPr/>
        </p:nvPicPr>
        <p:blipFill>
          <a:blip r:embed="rId5"/>
          <a:stretch>
            <a:fillRect/>
          </a:stretch>
        </p:blipFill>
        <p:spPr>
          <a:xfrm>
            <a:off x="766187" y="927036"/>
            <a:ext cx="577850" cy="241300"/>
          </a:xfrm>
          <a:prstGeom prst="rect">
            <a:avLst/>
          </a:prstGeom>
        </p:spPr>
      </p:pic>
    </p:spTree>
    <p:extLst>
      <p:ext uri="{BB962C8B-B14F-4D97-AF65-F5344CB8AC3E}">
        <p14:creationId xmlns:p14="http://schemas.microsoft.com/office/powerpoint/2010/main" val="208971087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animEffect transition="in" filter="fade">
                                      <p:cBhvr>
                                        <p:cTn id="7" dur="1000"/>
                                        <p:tgtEl>
                                          <p:spTgt spid="8">
                                            <p:txEl>
                                              <p:pRg st="1" end="1"/>
                                            </p:txEl>
                                          </p:spTgt>
                                        </p:tgtEl>
                                      </p:cBhvr>
                                    </p:animEffect>
                                    <p:anim calcmode="lin" valueType="num">
                                      <p:cBhvr>
                                        <p:cTn id="8" dur="1000" fill="hold"/>
                                        <p:tgtEl>
                                          <p:spTgt spid="8">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8">
                                            <p:txEl>
                                              <p:pRg st="2" end="2"/>
                                            </p:txEl>
                                          </p:spTgt>
                                        </p:tgtEl>
                                        <p:attrNameLst>
                                          <p:attrName>style.visibility</p:attrName>
                                        </p:attrNameLst>
                                      </p:cBhvr>
                                      <p:to>
                                        <p:strVal val="visible"/>
                                      </p:to>
                                    </p:set>
                                    <p:animEffect transition="in" filter="fade">
                                      <p:cBhvr>
                                        <p:cTn id="12" dur="1000"/>
                                        <p:tgtEl>
                                          <p:spTgt spid="8">
                                            <p:txEl>
                                              <p:pRg st="2" end="2"/>
                                            </p:txEl>
                                          </p:spTgt>
                                        </p:tgtEl>
                                      </p:cBhvr>
                                    </p:animEffect>
                                    <p:anim calcmode="lin" valueType="num">
                                      <p:cBhvr>
                                        <p:cTn id="13"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8">
                                            <p:txEl>
                                              <p:pRg st="3" end="3"/>
                                            </p:txEl>
                                          </p:spTgt>
                                        </p:tgtEl>
                                        <p:attrNameLst>
                                          <p:attrName>style.visibility</p:attrName>
                                        </p:attrNameLst>
                                      </p:cBhvr>
                                      <p:to>
                                        <p:strVal val="visible"/>
                                      </p:to>
                                    </p:set>
                                    <p:animEffect transition="in" filter="fade">
                                      <p:cBhvr>
                                        <p:cTn id="19" dur="1000"/>
                                        <p:tgtEl>
                                          <p:spTgt spid="8">
                                            <p:txEl>
                                              <p:pRg st="3" end="3"/>
                                            </p:txEl>
                                          </p:spTgt>
                                        </p:tgtEl>
                                      </p:cBhvr>
                                    </p:animEffect>
                                    <p:anim calcmode="lin" valueType="num">
                                      <p:cBhvr>
                                        <p:cTn id="20"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21" dur="1000" fill="hold"/>
                                        <p:tgtEl>
                                          <p:spTgt spid="8">
                                            <p:txEl>
                                              <p:pRg st="3" end="3"/>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8">
                                            <p:txEl>
                                              <p:pRg st="4" end="4"/>
                                            </p:txEl>
                                          </p:spTgt>
                                        </p:tgtEl>
                                        <p:attrNameLst>
                                          <p:attrName>style.visibility</p:attrName>
                                        </p:attrNameLst>
                                      </p:cBhvr>
                                      <p:to>
                                        <p:strVal val="visible"/>
                                      </p:to>
                                    </p:set>
                                    <p:animEffect transition="in" filter="fade">
                                      <p:cBhvr>
                                        <p:cTn id="24" dur="1000"/>
                                        <p:tgtEl>
                                          <p:spTgt spid="8">
                                            <p:txEl>
                                              <p:pRg st="4" end="4"/>
                                            </p:txEl>
                                          </p:spTgt>
                                        </p:tgtEl>
                                      </p:cBhvr>
                                    </p:animEffect>
                                    <p:anim calcmode="lin" valueType="num">
                                      <p:cBhvr>
                                        <p:cTn id="25" dur="1000" fill="hold"/>
                                        <p:tgtEl>
                                          <p:spTgt spid="8">
                                            <p:txEl>
                                              <p:pRg st="4" end="4"/>
                                            </p:txEl>
                                          </p:spTgt>
                                        </p:tgtEl>
                                        <p:attrNameLst>
                                          <p:attrName>ppt_x</p:attrName>
                                        </p:attrNameLst>
                                      </p:cBhvr>
                                      <p:tavLst>
                                        <p:tav tm="0">
                                          <p:val>
                                            <p:strVal val="#ppt_x"/>
                                          </p:val>
                                        </p:tav>
                                        <p:tav tm="100000">
                                          <p:val>
                                            <p:strVal val="#ppt_x"/>
                                          </p:val>
                                        </p:tav>
                                      </p:tavLst>
                                    </p:anim>
                                    <p:anim calcmode="lin" valueType="num">
                                      <p:cBhvr>
                                        <p:cTn id="26" dur="1000" fill="hold"/>
                                        <p:tgtEl>
                                          <p:spTgt spid="8">
                                            <p:txEl>
                                              <p:pRg st="4" end="4"/>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8">
                                            <p:txEl>
                                              <p:pRg st="5" end="5"/>
                                            </p:txEl>
                                          </p:spTgt>
                                        </p:tgtEl>
                                        <p:attrNameLst>
                                          <p:attrName>style.visibility</p:attrName>
                                        </p:attrNameLst>
                                      </p:cBhvr>
                                      <p:to>
                                        <p:strVal val="visible"/>
                                      </p:to>
                                    </p:set>
                                    <p:animEffect transition="in" filter="fade">
                                      <p:cBhvr>
                                        <p:cTn id="29" dur="1000"/>
                                        <p:tgtEl>
                                          <p:spTgt spid="8">
                                            <p:txEl>
                                              <p:pRg st="5" end="5"/>
                                            </p:txEl>
                                          </p:spTgt>
                                        </p:tgtEl>
                                      </p:cBhvr>
                                    </p:animEffect>
                                    <p:anim calcmode="lin" valueType="num">
                                      <p:cBhvr>
                                        <p:cTn id="30" dur="1000" fill="hold"/>
                                        <p:tgtEl>
                                          <p:spTgt spid="8">
                                            <p:txEl>
                                              <p:pRg st="5" end="5"/>
                                            </p:txEl>
                                          </p:spTgt>
                                        </p:tgtEl>
                                        <p:attrNameLst>
                                          <p:attrName>ppt_x</p:attrName>
                                        </p:attrNameLst>
                                      </p:cBhvr>
                                      <p:tavLst>
                                        <p:tav tm="0">
                                          <p:val>
                                            <p:strVal val="#ppt_x"/>
                                          </p:val>
                                        </p:tav>
                                        <p:tav tm="100000">
                                          <p:val>
                                            <p:strVal val="#ppt_x"/>
                                          </p:val>
                                        </p:tav>
                                      </p:tavLst>
                                    </p:anim>
                                    <p:anim calcmode="lin" valueType="num">
                                      <p:cBhvr>
                                        <p:cTn id="31" dur="1000" fill="hold"/>
                                        <p:tgtEl>
                                          <p:spTgt spid="8">
                                            <p:txEl>
                                              <p:pRg st="5" end="5"/>
                                            </p:txEl>
                                          </p:spTgt>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8">
                                            <p:txEl>
                                              <p:pRg st="6" end="6"/>
                                            </p:txEl>
                                          </p:spTgt>
                                        </p:tgtEl>
                                        <p:attrNameLst>
                                          <p:attrName>style.visibility</p:attrName>
                                        </p:attrNameLst>
                                      </p:cBhvr>
                                      <p:to>
                                        <p:strVal val="visible"/>
                                      </p:to>
                                    </p:set>
                                    <p:animEffect transition="in" filter="fade">
                                      <p:cBhvr>
                                        <p:cTn id="34" dur="1000"/>
                                        <p:tgtEl>
                                          <p:spTgt spid="8">
                                            <p:txEl>
                                              <p:pRg st="6" end="6"/>
                                            </p:txEl>
                                          </p:spTgt>
                                        </p:tgtEl>
                                      </p:cBhvr>
                                    </p:animEffect>
                                    <p:anim calcmode="lin" valueType="num">
                                      <p:cBhvr>
                                        <p:cTn id="35" dur="1000" fill="hold"/>
                                        <p:tgtEl>
                                          <p:spTgt spid="8">
                                            <p:txEl>
                                              <p:pRg st="6" end="6"/>
                                            </p:txEl>
                                          </p:spTgt>
                                        </p:tgtEl>
                                        <p:attrNameLst>
                                          <p:attrName>ppt_x</p:attrName>
                                        </p:attrNameLst>
                                      </p:cBhvr>
                                      <p:tavLst>
                                        <p:tav tm="0">
                                          <p:val>
                                            <p:strVal val="#ppt_x"/>
                                          </p:val>
                                        </p:tav>
                                        <p:tav tm="100000">
                                          <p:val>
                                            <p:strVal val="#ppt_x"/>
                                          </p:val>
                                        </p:tav>
                                      </p:tavLst>
                                    </p:anim>
                                    <p:anim calcmode="lin" valueType="num">
                                      <p:cBhvr>
                                        <p:cTn id="36" dur="1000" fill="hold"/>
                                        <p:tgtEl>
                                          <p:spTgt spid="8">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nodeType="clickEffect">
                                  <p:stCondLst>
                                    <p:cond delay="0"/>
                                  </p:stCondLst>
                                  <p:childTnLst>
                                    <p:set>
                                      <p:cBhvr>
                                        <p:cTn id="40" dur="1" fill="hold">
                                          <p:stCondLst>
                                            <p:cond delay="0"/>
                                          </p:stCondLst>
                                        </p:cTn>
                                        <p:tgtEl>
                                          <p:spTgt spid="8">
                                            <p:txEl>
                                              <p:pRg st="7" end="7"/>
                                            </p:txEl>
                                          </p:spTgt>
                                        </p:tgtEl>
                                        <p:attrNameLst>
                                          <p:attrName>style.visibility</p:attrName>
                                        </p:attrNameLst>
                                      </p:cBhvr>
                                      <p:to>
                                        <p:strVal val="visible"/>
                                      </p:to>
                                    </p:set>
                                    <p:animEffect transition="in" filter="fade">
                                      <p:cBhvr>
                                        <p:cTn id="41" dur="1000"/>
                                        <p:tgtEl>
                                          <p:spTgt spid="8">
                                            <p:txEl>
                                              <p:pRg st="7" end="7"/>
                                            </p:txEl>
                                          </p:spTgt>
                                        </p:tgtEl>
                                      </p:cBhvr>
                                    </p:animEffect>
                                    <p:anim calcmode="lin" valueType="num">
                                      <p:cBhvr>
                                        <p:cTn id="42" dur="1000" fill="hold"/>
                                        <p:tgtEl>
                                          <p:spTgt spid="8">
                                            <p:txEl>
                                              <p:pRg st="7" end="7"/>
                                            </p:txEl>
                                          </p:spTgt>
                                        </p:tgtEl>
                                        <p:attrNameLst>
                                          <p:attrName>ppt_x</p:attrName>
                                        </p:attrNameLst>
                                      </p:cBhvr>
                                      <p:tavLst>
                                        <p:tav tm="0">
                                          <p:val>
                                            <p:strVal val="#ppt_x"/>
                                          </p:val>
                                        </p:tav>
                                        <p:tav tm="100000">
                                          <p:val>
                                            <p:strVal val="#ppt_x"/>
                                          </p:val>
                                        </p:tav>
                                      </p:tavLst>
                                    </p:anim>
                                    <p:anim calcmode="lin" valueType="num">
                                      <p:cBhvr>
                                        <p:cTn id="43" dur="1000" fill="hold"/>
                                        <p:tgtEl>
                                          <p:spTgt spid="8">
                                            <p:txEl>
                                              <p:pRg st="7" end="7"/>
                                            </p:txEl>
                                          </p:spTgt>
                                        </p:tgtEl>
                                        <p:attrNameLst>
                                          <p:attrName>ppt_y</p:attrName>
                                        </p:attrNameLst>
                                      </p:cBhvr>
                                      <p:tavLst>
                                        <p:tav tm="0">
                                          <p:val>
                                            <p:strVal val="#ppt_y+.1"/>
                                          </p:val>
                                        </p:tav>
                                        <p:tav tm="100000">
                                          <p:val>
                                            <p:strVal val="#ppt_y"/>
                                          </p:val>
                                        </p:tav>
                                      </p:tavLst>
                                    </p:anim>
                                  </p:childTnLst>
                                </p:cTn>
                              </p:par>
                              <p:par>
                                <p:cTn id="44" presetID="42" presetClass="entr" presetSubtype="0" fill="hold" nodeType="withEffect">
                                  <p:stCondLst>
                                    <p:cond delay="0"/>
                                  </p:stCondLst>
                                  <p:childTnLst>
                                    <p:set>
                                      <p:cBhvr>
                                        <p:cTn id="45" dur="1" fill="hold">
                                          <p:stCondLst>
                                            <p:cond delay="0"/>
                                          </p:stCondLst>
                                        </p:cTn>
                                        <p:tgtEl>
                                          <p:spTgt spid="8">
                                            <p:txEl>
                                              <p:pRg st="8" end="8"/>
                                            </p:txEl>
                                          </p:spTgt>
                                        </p:tgtEl>
                                        <p:attrNameLst>
                                          <p:attrName>style.visibility</p:attrName>
                                        </p:attrNameLst>
                                      </p:cBhvr>
                                      <p:to>
                                        <p:strVal val="visible"/>
                                      </p:to>
                                    </p:set>
                                    <p:animEffect transition="in" filter="fade">
                                      <p:cBhvr>
                                        <p:cTn id="46" dur="1000"/>
                                        <p:tgtEl>
                                          <p:spTgt spid="8">
                                            <p:txEl>
                                              <p:pRg st="8" end="8"/>
                                            </p:txEl>
                                          </p:spTgt>
                                        </p:tgtEl>
                                      </p:cBhvr>
                                    </p:animEffect>
                                    <p:anim calcmode="lin" valueType="num">
                                      <p:cBhvr>
                                        <p:cTn id="47" dur="1000" fill="hold"/>
                                        <p:tgtEl>
                                          <p:spTgt spid="8">
                                            <p:txEl>
                                              <p:pRg st="8" end="8"/>
                                            </p:txEl>
                                          </p:spTgt>
                                        </p:tgtEl>
                                        <p:attrNameLst>
                                          <p:attrName>ppt_x</p:attrName>
                                        </p:attrNameLst>
                                      </p:cBhvr>
                                      <p:tavLst>
                                        <p:tav tm="0">
                                          <p:val>
                                            <p:strVal val="#ppt_x"/>
                                          </p:val>
                                        </p:tav>
                                        <p:tav tm="100000">
                                          <p:val>
                                            <p:strVal val="#ppt_x"/>
                                          </p:val>
                                        </p:tav>
                                      </p:tavLst>
                                    </p:anim>
                                    <p:anim calcmode="lin" valueType="num">
                                      <p:cBhvr>
                                        <p:cTn id="48" dur="1000" fill="hold"/>
                                        <p:tgtEl>
                                          <p:spTgt spid="8">
                                            <p:txEl>
                                              <p:pRg st="8" end="8"/>
                                            </p:txEl>
                                          </p:spTgt>
                                        </p:tgtEl>
                                        <p:attrNameLst>
                                          <p:attrName>ppt_y</p:attrName>
                                        </p:attrNameLst>
                                      </p:cBhvr>
                                      <p:tavLst>
                                        <p:tav tm="0">
                                          <p:val>
                                            <p:strVal val="#ppt_y+.1"/>
                                          </p:val>
                                        </p:tav>
                                        <p:tav tm="100000">
                                          <p:val>
                                            <p:strVal val="#ppt_y"/>
                                          </p:val>
                                        </p:tav>
                                      </p:tavLst>
                                    </p:anim>
                                  </p:childTnLst>
                                </p:cTn>
                              </p:par>
                              <p:par>
                                <p:cTn id="49" presetID="42" presetClass="entr" presetSubtype="0" fill="hold" nodeType="withEffect">
                                  <p:stCondLst>
                                    <p:cond delay="0"/>
                                  </p:stCondLst>
                                  <p:childTnLst>
                                    <p:set>
                                      <p:cBhvr>
                                        <p:cTn id="50" dur="1" fill="hold">
                                          <p:stCondLst>
                                            <p:cond delay="0"/>
                                          </p:stCondLst>
                                        </p:cTn>
                                        <p:tgtEl>
                                          <p:spTgt spid="8">
                                            <p:txEl>
                                              <p:pRg st="9" end="9"/>
                                            </p:txEl>
                                          </p:spTgt>
                                        </p:tgtEl>
                                        <p:attrNameLst>
                                          <p:attrName>style.visibility</p:attrName>
                                        </p:attrNameLst>
                                      </p:cBhvr>
                                      <p:to>
                                        <p:strVal val="visible"/>
                                      </p:to>
                                    </p:set>
                                    <p:animEffect transition="in" filter="fade">
                                      <p:cBhvr>
                                        <p:cTn id="51" dur="1000"/>
                                        <p:tgtEl>
                                          <p:spTgt spid="8">
                                            <p:txEl>
                                              <p:pRg st="9" end="9"/>
                                            </p:txEl>
                                          </p:spTgt>
                                        </p:tgtEl>
                                      </p:cBhvr>
                                    </p:animEffect>
                                    <p:anim calcmode="lin" valueType="num">
                                      <p:cBhvr>
                                        <p:cTn id="52" dur="1000" fill="hold"/>
                                        <p:tgtEl>
                                          <p:spTgt spid="8">
                                            <p:txEl>
                                              <p:pRg st="9" end="9"/>
                                            </p:txEl>
                                          </p:spTgt>
                                        </p:tgtEl>
                                        <p:attrNameLst>
                                          <p:attrName>ppt_x</p:attrName>
                                        </p:attrNameLst>
                                      </p:cBhvr>
                                      <p:tavLst>
                                        <p:tav tm="0">
                                          <p:val>
                                            <p:strVal val="#ppt_x"/>
                                          </p:val>
                                        </p:tav>
                                        <p:tav tm="100000">
                                          <p:val>
                                            <p:strVal val="#ppt_x"/>
                                          </p:val>
                                        </p:tav>
                                      </p:tavLst>
                                    </p:anim>
                                    <p:anim calcmode="lin" valueType="num">
                                      <p:cBhvr>
                                        <p:cTn id="53" dur="1000" fill="hold"/>
                                        <p:tgtEl>
                                          <p:spTgt spid="8">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spcBef>
                <a:spcPts val="600"/>
              </a:spcBef>
              <a:buClr>
                <a:srgbClr val="0B61FF"/>
              </a:buClr>
              <a:buSzPct val="80000"/>
            </a:pPr>
            <a:r>
              <a:rPr lang="en-US" altLang="zh-CN" sz="2000" b="1" dirty="0">
                <a:effectLst/>
                <a:latin typeface="Cambria Math" panose="02040503050406030204" pitchFamily="18" charset="0"/>
                <a:ea typeface="Cambria Math" panose="02040503050406030204" pitchFamily="18" charset="0"/>
                <a:cs typeface="Times New Roman" panose="02020603050405020304" pitchFamily="18" charset="0"/>
              </a:rPr>
              <a:t>                  </a:t>
            </a:r>
            <a:r>
              <a:rPr lang="en-US" altLang="zh-CN" sz="2000" b="1" dirty="0">
                <a:solidFill>
                  <a:schemeClr val="bg1"/>
                </a:solidFill>
                <a:latin typeface="Trebuchet MS" panose="020B0603020202020204" pitchFamily="34" charset="0"/>
              </a:rPr>
              <a:t>3.1.3 Symbolization of First-Order Logic</a:t>
            </a:r>
          </a:p>
          <a:p>
            <a:pPr>
              <a:spcBef>
                <a:spcPts val="600"/>
              </a:spcBef>
              <a:buClr>
                <a:srgbClr val="0B61FF"/>
              </a:buClr>
              <a:buSzPct val="80000"/>
            </a:pPr>
            <a:r>
              <a:rPr lang="en-US" altLang="zh-CN" sz="1800" dirty="0">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2400" dirty="0">
                <a:latin typeface="Trebuchet MS" panose="020B0603020202020204" pitchFamily="34" charset="0"/>
              </a:rPr>
              <a:t> </a:t>
            </a:r>
            <a:r>
              <a:rPr lang="en-US" altLang="zh-CN" sz="2400" b="1" i="0" dirty="0">
                <a:solidFill>
                  <a:schemeClr val="bg1"/>
                </a:solidFill>
                <a:effectLst/>
                <a:latin typeface="Trebuchet MS" panose="020B0603020202020204" pitchFamily="34" charset="0"/>
              </a:rPr>
              <a:t>Examples</a:t>
            </a:r>
            <a:endParaRPr lang="zh-CN" altLang="en-US" sz="2400" dirty="0">
              <a:solidFill>
                <a:schemeClr val="bg1"/>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766187" y="773196"/>
            <a:ext cx="10659625" cy="578802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lnSpc>
                <a:spcPct val="110000"/>
              </a:lnSpc>
              <a:spcBef>
                <a:spcPts val="0"/>
              </a:spcBef>
              <a:buNone/>
            </a:pPr>
            <a:r>
              <a:rPr lang="en-US" sz="2400" b="1" i="0" dirty="0">
                <a:solidFill>
                  <a:srgbClr val="0C0D0E"/>
                </a:solidFill>
                <a:effectLst/>
                <a:latin typeface="Trebuchet MS" panose="020B0603020202020204" pitchFamily="34" charset="0"/>
              </a:rPr>
              <a:t>     Example: </a:t>
            </a:r>
            <a:r>
              <a:rPr lang="en-US" sz="2400" i="0" dirty="0">
                <a:solidFill>
                  <a:srgbClr val="0C0D0E"/>
                </a:solidFill>
                <a:effectLst/>
                <a:latin typeface="Trebuchet MS" panose="020B0603020202020204" pitchFamily="34" charset="0"/>
              </a:rPr>
              <a:t>Symbolize the following propositions</a:t>
            </a:r>
            <a:r>
              <a:rPr lang="en-US" sz="2400" b="1" i="0" dirty="0">
                <a:solidFill>
                  <a:srgbClr val="0C0D0E"/>
                </a:solidFill>
                <a:effectLst/>
                <a:latin typeface="Trebuchet MS" panose="020B0603020202020204" pitchFamily="34" charset="0"/>
              </a:rPr>
              <a:t>:</a:t>
            </a:r>
            <a:endParaRPr lang="en-US" sz="2400" b="0" i="0" dirty="0">
              <a:solidFill>
                <a:srgbClr val="0C0D0E"/>
              </a:solidFill>
              <a:effectLst/>
              <a:latin typeface="Trebuchet MS" panose="020B0603020202020204" pitchFamily="34" charset="0"/>
            </a:endParaRPr>
          </a:p>
          <a:p>
            <a:pPr marL="0" indent="271463" algn="l">
              <a:lnSpc>
                <a:spcPct val="110000"/>
              </a:lnSpc>
              <a:spcBef>
                <a:spcPts val="0"/>
              </a:spcBef>
              <a:buNone/>
            </a:pPr>
            <a:r>
              <a:rPr lang="en-US" sz="2400" b="1" dirty="0">
                <a:solidFill>
                  <a:srgbClr val="0B61FF"/>
                </a:solidFill>
                <a:latin typeface="Trebuchet MS" panose="020B0603020202020204" pitchFamily="34" charset="0"/>
              </a:rPr>
              <a:t>(1)</a:t>
            </a:r>
            <a:r>
              <a:rPr lang="zh-CN" altLang="en-US" sz="2400" b="1" dirty="0">
                <a:solidFill>
                  <a:srgbClr val="0B61FF"/>
                </a:solidFill>
                <a:latin typeface="Trebuchet MS" panose="020B0603020202020204" pitchFamily="34" charset="0"/>
              </a:rPr>
              <a:t> </a:t>
            </a:r>
            <a:r>
              <a:rPr lang="en-US" sz="2400" b="0" i="0" dirty="0">
                <a:solidFill>
                  <a:srgbClr val="0C0D0E"/>
                </a:solidFill>
                <a:effectLst/>
                <a:latin typeface="Trebuchet MS" panose="020B0603020202020204" pitchFamily="34" charset="0"/>
              </a:rPr>
              <a:t>Rabbits run faster than turtles.</a:t>
            </a:r>
          </a:p>
          <a:p>
            <a:pPr marL="0" indent="271463" algn="l">
              <a:lnSpc>
                <a:spcPct val="110000"/>
              </a:lnSpc>
              <a:spcBef>
                <a:spcPts val="0"/>
              </a:spcBef>
              <a:buNone/>
            </a:pPr>
            <a:r>
              <a:rPr lang="en-US" altLang="zh-CN" sz="2400" b="1" dirty="0">
                <a:solidFill>
                  <a:srgbClr val="0B61FF"/>
                </a:solidFill>
                <a:latin typeface="Trebuchet MS" panose="020B0603020202020204" pitchFamily="34" charset="0"/>
              </a:rPr>
              <a:t>(2)</a:t>
            </a:r>
            <a:r>
              <a:rPr lang="zh-CN" altLang="en-US" sz="2400" b="1" dirty="0">
                <a:solidFill>
                  <a:srgbClr val="0B61FF"/>
                </a:solidFill>
                <a:latin typeface="Trebuchet MS" panose="020B0603020202020204" pitchFamily="34" charset="0"/>
              </a:rPr>
              <a:t> </a:t>
            </a:r>
            <a:r>
              <a:rPr lang="en-US" sz="2400" b="0" i="0" dirty="0">
                <a:solidFill>
                  <a:srgbClr val="0C0D0E"/>
                </a:solidFill>
                <a:effectLst/>
                <a:latin typeface="Trebuchet MS" panose="020B0603020202020204" pitchFamily="34" charset="0"/>
              </a:rPr>
              <a:t>Some rabbits run faster than all turtles.</a:t>
            </a:r>
          </a:p>
          <a:p>
            <a:pPr marL="0" indent="271463" algn="l">
              <a:lnSpc>
                <a:spcPct val="110000"/>
              </a:lnSpc>
              <a:spcBef>
                <a:spcPts val="0"/>
              </a:spcBef>
              <a:buNone/>
            </a:pPr>
            <a:r>
              <a:rPr lang="en-US" altLang="zh-CN" sz="2400" b="1" dirty="0">
                <a:solidFill>
                  <a:srgbClr val="0B61FF"/>
                </a:solidFill>
                <a:latin typeface="Trebuchet MS" panose="020B0603020202020204" pitchFamily="34" charset="0"/>
              </a:rPr>
              <a:t>(3)</a:t>
            </a:r>
            <a:r>
              <a:rPr lang="zh-CN" altLang="en-US" sz="2400" b="1" dirty="0">
                <a:solidFill>
                  <a:srgbClr val="0B61FF"/>
                </a:solidFill>
                <a:latin typeface="Trebuchet MS" panose="020B0603020202020204" pitchFamily="34" charset="0"/>
              </a:rPr>
              <a:t> </a:t>
            </a:r>
            <a:r>
              <a:rPr lang="en-US" sz="2400" b="0" i="0" dirty="0">
                <a:solidFill>
                  <a:srgbClr val="0C0D0E"/>
                </a:solidFill>
                <a:effectLst/>
                <a:latin typeface="Trebuchet MS" panose="020B0603020202020204" pitchFamily="34" charset="0"/>
              </a:rPr>
              <a:t>Not all rabbits run faster than turtles.</a:t>
            </a:r>
          </a:p>
          <a:p>
            <a:pPr marL="0" indent="271463" algn="l">
              <a:lnSpc>
                <a:spcPct val="110000"/>
              </a:lnSpc>
              <a:spcBef>
                <a:spcPts val="0"/>
              </a:spcBef>
              <a:buNone/>
            </a:pPr>
            <a:r>
              <a:rPr lang="en-US" altLang="zh-CN" sz="2400" b="1" dirty="0">
                <a:solidFill>
                  <a:srgbClr val="0B61FF"/>
                </a:solidFill>
                <a:latin typeface="Trebuchet MS" panose="020B0603020202020204" pitchFamily="34" charset="0"/>
              </a:rPr>
              <a:t>(4)</a:t>
            </a:r>
            <a:r>
              <a:rPr lang="zh-CN" altLang="en-US" sz="2400" b="1" dirty="0">
                <a:solidFill>
                  <a:srgbClr val="0B61FF"/>
                </a:solidFill>
                <a:latin typeface="Trebuchet MS" panose="020B0603020202020204" pitchFamily="34" charset="0"/>
              </a:rPr>
              <a:t> </a:t>
            </a:r>
            <a:r>
              <a:rPr lang="en-US" sz="2400" b="0" i="0" dirty="0">
                <a:solidFill>
                  <a:srgbClr val="0C0D0E"/>
                </a:solidFill>
                <a:effectLst/>
                <a:latin typeface="Trebuchet MS" panose="020B0603020202020204" pitchFamily="34" charset="0"/>
              </a:rPr>
              <a:t>There do not exist rabbits and turtles that run at the same speed.</a:t>
            </a:r>
          </a:p>
          <a:p>
            <a:pPr algn="l">
              <a:lnSpc>
                <a:spcPct val="110000"/>
              </a:lnSpc>
              <a:spcBef>
                <a:spcPts val="0"/>
              </a:spcBef>
              <a:buClr>
                <a:srgbClr val="0B61FF"/>
              </a:buClr>
              <a:buSzPct val="80000"/>
              <a:buFont typeface="Wingdings" panose="05000000000000000000" pitchFamily="2" charset="2"/>
              <a:buChar char="n"/>
            </a:pPr>
            <a:r>
              <a:rPr lang="en-US" sz="2400" b="1" i="0" dirty="0">
                <a:solidFill>
                  <a:srgbClr val="0C0D0E"/>
                </a:solidFill>
                <a:effectLst/>
                <a:latin typeface="Trebuchet MS" panose="020B0603020202020204" pitchFamily="34" charset="0"/>
              </a:rPr>
              <a:t>Solution: </a:t>
            </a:r>
            <a:r>
              <a:rPr lang="en-US" sz="2400" b="0" i="0" dirty="0">
                <a:solidFill>
                  <a:srgbClr val="0C0D0E"/>
                </a:solidFill>
                <a:effectLst/>
                <a:latin typeface="Trebuchet MS" panose="020B0603020202020204" pitchFamily="34" charset="0"/>
              </a:rPr>
              <a:t>Using a universal domain, let:</a:t>
            </a:r>
          </a:p>
          <a:p>
            <a:pPr marL="446088" indent="-174625" algn="l">
              <a:lnSpc>
                <a:spcPct val="110000"/>
              </a:lnSpc>
              <a:spcBef>
                <a:spcPts val="0"/>
              </a:spcBef>
              <a:buClr>
                <a:srgbClr val="0B61FF"/>
              </a:buClr>
              <a:buSzPct val="120000"/>
              <a:buFont typeface="Arial" panose="020B0604020202020204" pitchFamily="34" charset="0"/>
              <a:buChar char="•"/>
            </a:pPr>
            <a:r>
              <a:rPr lang="en-US" sz="2400" b="1" i="1" dirty="0">
                <a:solidFill>
                  <a:srgbClr val="0C0D0E"/>
                </a:solidFill>
                <a:effectLst/>
                <a:latin typeface="Trebuchet MS" panose="020B0603020202020204" pitchFamily="34" charset="0"/>
              </a:rPr>
              <a:t>F</a:t>
            </a:r>
            <a:r>
              <a:rPr lang="en-US" sz="2400" b="1" i="0" dirty="0">
                <a:solidFill>
                  <a:srgbClr val="0C0D0E"/>
                </a:solidFill>
                <a:effectLst/>
                <a:latin typeface="Trebuchet MS" panose="020B0603020202020204" pitchFamily="34" charset="0"/>
              </a:rPr>
              <a:t>(</a:t>
            </a:r>
            <a:r>
              <a:rPr lang="en-US" sz="2400" b="1" i="1" dirty="0">
                <a:solidFill>
                  <a:srgbClr val="0C0D0E"/>
                </a:solidFill>
                <a:effectLst/>
                <a:latin typeface="Trebuchet MS" panose="020B0603020202020204" pitchFamily="34" charset="0"/>
              </a:rPr>
              <a:t>x</a:t>
            </a:r>
            <a:r>
              <a:rPr lang="en-US" sz="2400" b="1" i="0" dirty="0">
                <a:solidFill>
                  <a:srgbClr val="0C0D0E"/>
                </a:solidFill>
                <a:effectLst/>
                <a:latin typeface="Trebuchet MS" panose="020B0603020202020204" pitchFamily="34" charset="0"/>
              </a:rPr>
              <a:t>)</a:t>
            </a:r>
            <a:r>
              <a:rPr lang="en-US" sz="2400" b="0" i="0" dirty="0">
                <a:solidFill>
                  <a:srgbClr val="0C0D0E"/>
                </a:solidFill>
                <a:effectLst/>
                <a:latin typeface="Trebuchet MS" panose="020B0603020202020204" pitchFamily="34" charset="0"/>
              </a:rPr>
              <a:t>: </a:t>
            </a:r>
            <a:r>
              <a:rPr lang="en-US" sz="2400" b="1" i="1" dirty="0">
                <a:solidFill>
                  <a:srgbClr val="0C0D0E"/>
                </a:solidFill>
                <a:effectLst/>
                <a:latin typeface="Trebuchet MS" panose="020B0603020202020204" pitchFamily="34" charset="0"/>
              </a:rPr>
              <a:t>x</a:t>
            </a:r>
            <a:r>
              <a:rPr lang="en-US" sz="2400" b="0" i="0" dirty="0">
                <a:solidFill>
                  <a:srgbClr val="0C0D0E"/>
                </a:solidFill>
                <a:effectLst/>
                <a:latin typeface="Trebuchet MS" panose="020B0603020202020204" pitchFamily="34" charset="0"/>
              </a:rPr>
              <a:t> is a rabbit.</a:t>
            </a:r>
          </a:p>
          <a:p>
            <a:pPr marL="446088" indent="-174625" algn="l">
              <a:lnSpc>
                <a:spcPct val="110000"/>
              </a:lnSpc>
              <a:spcBef>
                <a:spcPts val="0"/>
              </a:spcBef>
              <a:buClr>
                <a:srgbClr val="0B61FF"/>
              </a:buClr>
              <a:buSzPct val="120000"/>
              <a:buFont typeface="Arial" panose="020B0604020202020204" pitchFamily="34" charset="0"/>
              <a:buChar char="•"/>
            </a:pPr>
            <a:r>
              <a:rPr lang="en-US" sz="2400" b="1" i="1" dirty="0">
                <a:solidFill>
                  <a:srgbClr val="0C0D0E"/>
                </a:solidFill>
                <a:effectLst/>
                <a:latin typeface="Trebuchet MS" panose="020B0603020202020204" pitchFamily="34" charset="0"/>
              </a:rPr>
              <a:t>G</a:t>
            </a:r>
            <a:r>
              <a:rPr lang="en-US" sz="2400" b="1" i="0" dirty="0">
                <a:solidFill>
                  <a:srgbClr val="0C0D0E"/>
                </a:solidFill>
                <a:effectLst/>
                <a:latin typeface="Trebuchet MS" panose="020B0603020202020204" pitchFamily="34" charset="0"/>
              </a:rPr>
              <a:t>(</a:t>
            </a:r>
            <a:r>
              <a:rPr lang="en-US" sz="2400" b="1" i="1" dirty="0">
                <a:solidFill>
                  <a:srgbClr val="0C0D0E"/>
                </a:solidFill>
                <a:effectLst/>
                <a:latin typeface="Trebuchet MS" panose="020B0603020202020204" pitchFamily="34" charset="0"/>
              </a:rPr>
              <a:t>y</a:t>
            </a:r>
            <a:r>
              <a:rPr lang="en-US" sz="2400" b="1" i="0" dirty="0">
                <a:solidFill>
                  <a:srgbClr val="0C0D0E"/>
                </a:solidFill>
                <a:effectLst/>
                <a:latin typeface="Trebuchet MS" panose="020B0603020202020204" pitchFamily="34" charset="0"/>
              </a:rPr>
              <a:t>)</a:t>
            </a:r>
            <a:r>
              <a:rPr lang="en-US" sz="2400" b="0" i="0" dirty="0">
                <a:solidFill>
                  <a:srgbClr val="0C0D0E"/>
                </a:solidFill>
                <a:effectLst/>
                <a:latin typeface="Trebuchet MS" panose="020B0603020202020204" pitchFamily="34" charset="0"/>
              </a:rPr>
              <a:t>: </a:t>
            </a:r>
            <a:r>
              <a:rPr lang="en-US" sz="2400" b="1" i="1" dirty="0">
                <a:solidFill>
                  <a:srgbClr val="0C0D0E"/>
                </a:solidFill>
                <a:effectLst/>
                <a:latin typeface="Trebuchet MS" panose="020B0603020202020204" pitchFamily="34" charset="0"/>
              </a:rPr>
              <a:t>y</a:t>
            </a:r>
            <a:r>
              <a:rPr lang="en-US" sz="2400" b="0" i="0" dirty="0">
                <a:solidFill>
                  <a:srgbClr val="0C0D0E"/>
                </a:solidFill>
                <a:effectLst/>
                <a:latin typeface="Trebuchet MS" panose="020B0603020202020204" pitchFamily="34" charset="0"/>
              </a:rPr>
              <a:t> is a turtle.</a:t>
            </a:r>
          </a:p>
          <a:p>
            <a:pPr marL="446088" indent="-174625" algn="l">
              <a:lnSpc>
                <a:spcPct val="110000"/>
              </a:lnSpc>
              <a:spcBef>
                <a:spcPts val="0"/>
              </a:spcBef>
              <a:buClr>
                <a:srgbClr val="0B61FF"/>
              </a:buClr>
              <a:buSzPct val="120000"/>
              <a:buFont typeface="Arial" panose="020B0604020202020204" pitchFamily="34" charset="0"/>
              <a:buChar char="•"/>
            </a:pPr>
            <a:r>
              <a:rPr lang="en-US" sz="2400" b="1" i="1" dirty="0">
                <a:solidFill>
                  <a:srgbClr val="0C0D0E"/>
                </a:solidFill>
                <a:effectLst/>
                <a:latin typeface="Trebuchet MS" panose="020B0603020202020204" pitchFamily="34" charset="0"/>
              </a:rPr>
              <a:t>H</a:t>
            </a:r>
            <a:r>
              <a:rPr lang="en-US" sz="2400" b="1" i="0" dirty="0">
                <a:solidFill>
                  <a:srgbClr val="0C0D0E"/>
                </a:solidFill>
                <a:effectLst/>
                <a:latin typeface="Trebuchet MS" panose="020B0603020202020204" pitchFamily="34" charset="0"/>
              </a:rPr>
              <a:t>(</a:t>
            </a:r>
            <a:r>
              <a:rPr lang="en-US" sz="2400" b="1" i="1" dirty="0">
                <a:solidFill>
                  <a:srgbClr val="0C0D0E"/>
                </a:solidFill>
                <a:effectLst/>
                <a:latin typeface="Trebuchet MS" panose="020B0603020202020204" pitchFamily="34" charset="0"/>
              </a:rPr>
              <a:t>x</a:t>
            </a:r>
            <a:r>
              <a:rPr lang="en-US" sz="2400" b="1" i="0" dirty="0">
                <a:solidFill>
                  <a:srgbClr val="0C0D0E"/>
                </a:solidFill>
                <a:effectLst/>
                <a:latin typeface="Trebuchet MS" panose="020B0603020202020204" pitchFamily="34" charset="0"/>
              </a:rPr>
              <a:t>,</a:t>
            </a:r>
            <a:r>
              <a:rPr lang="en-US" sz="2400" b="1" i="1" dirty="0">
                <a:solidFill>
                  <a:srgbClr val="0C0D0E"/>
                </a:solidFill>
                <a:effectLst/>
                <a:latin typeface="Trebuchet MS" panose="020B0603020202020204" pitchFamily="34" charset="0"/>
              </a:rPr>
              <a:t>y</a:t>
            </a:r>
            <a:r>
              <a:rPr lang="en-US" sz="2400" b="1" i="0" dirty="0">
                <a:solidFill>
                  <a:srgbClr val="0C0D0E"/>
                </a:solidFill>
                <a:effectLst/>
                <a:latin typeface="Trebuchet MS" panose="020B0603020202020204" pitchFamily="34" charset="0"/>
              </a:rPr>
              <a:t>)</a:t>
            </a:r>
            <a:r>
              <a:rPr lang="en-US" sz="2400" b="0" i="0" dirty="0">
                <a:solidFill>
                  <a:srgbClr val="0C0D0E"/>
                </a:solidFill>
                <a:effectLst/>
                <a:latin typeface="Trebuchet MS" panose="020B0603020202020204" pitchFamily="34" charset="0"/>
              </a:rPr>
              <a:t>: </a:t>
            </a:r>
            <a:r>
              <a:rPr lang="en-US" sz="2400" b="1" i="1" dirty="0">
                <a:solidFill>
                  <a:srgbClr val="0C0D0E"/>
                </a:solidFill>
                <a:effectLst/>
                <a:latin typeface="Trebuchet MS" panose="020B0603020202020204" pitchFamily="34" charset="0"/>
              </a:rPr>
              <a:t>x</a:t>
            </a:r>
            <a:r>
              <a:rPr lang="en-US" sz="2400" b="0" i="0" dirty="0">
                <a:solidFill>
                  <a:srgbClr val="0C0D0E"/>
                </a:solidFill>
                <a:effectLst/>
                <a:latin typeface="Trebuchet MS" panose="020B0603020202020204" pitchFamily="34" charset="0"/>
              </a:rPr>
              <a:t> runs faster than </a:t>
            </a:r>
            <a:r>
              <a:rPr lang="en-US" sz="2400" b="1" i="1" dirty="0">
                <a:solidFill>
                  <a:srgbClr val="0C0D0E"/>
                </a:solidFill>
                <a:effectLst/>
                <a:latin typeface="Trebuchet MS" panose="020B0603020202020204" pitchFamily="34" charset="0"/>
              </a:rPr>
              <a:t>y</a:t>
            </a:r>
            <a:r>
              <a:rPr lang="en-US" sz="2400" b="0" i="0" dirty="0">
                <a:solidFill>
                  <a:srgbClr val="0C0D0E"/>
                </a:solidFill>
                <a:effectLst/>
                <a:latin typeface="Trebuchet MS" panose="020B0603020202020204" pitchFamily="34" charset="0"/>
              </a:rPr>
              <a:t>.</a:t>
            </a:r>
          </a:p>
          <a:p>
            <a:pPr marL="446088" indent="-174625" algn="l">
              <a:lnSpc>
                <a:spcPct val="110000"/>
              </a:lnSpc>
              <a:spcBef>
                <a:spcPts val="0"/>
              </a:spcBef>
              <a:buClr>
                <a:srgbClr val="0B61FF"/>
              </a:buClr>
              <a:buSzPct val="120000"/>
              <a:buFont typeface="Arial" panose="020B0604020202020204" pitchFamily="34" charset="0"/>
              <a:buChar char="•"/>
            </a:pPr>
            <a:r>
              <a:rPr lang="en-US" sz="2400" b="1" i="1" dirty="0">
                <a:solidFill>
                  <a:srgbClr val="0C0D0E"/>
                </a:solidFill>
                <a:effectLst/>
                <a:latin typeface="Trebuchet MS" panose="020B0603020202020204" pitchFamily="34" charset="0"/>
              </a:rPr>
              <a:t>L</a:t>
            </a:r>
            <a:r>
              <a:rPr lang="en-US" sz="2400" b="1" i="0" dirty="0">
                <a:solidFill>
                  <a:srgbClr val="0C0D0E"/>
                </a:solidFill>
                <a:effectLst/>
                <a:latin typeface="Trebuchet MS" panose="020B0603020202020204" pitchFamily="34" charset="0"/>
              </a:rPr>
              <a:t>(</a:t>
            </a:r>
            <a:r>
              <a:rPr lang="en-US" sz="2400" b="1" i="1" dirty="0">
                <a:solidFill>
                  <a:srgbClr val="0C0D0E"/>
                </a:solidFill>
                <a:effectLst/>
                <a:latin typeface="Trebuchet MS" panose="020B0603020202020204" pitchFamily="34" charset="0"/>
              </a:rPr>
              <a:t>x</a:t>
            </a:r>
            <a:r>
              <a:rPr lang="en-US" sz="2400" b="1" i="0" dirty="0">
                <a:solidFill>
                  <a:srgbClr val="0C0D0E"/>
                </a:solidFill>
                <a:effectLst/>
                <a:latin typeface="Trebuchet MS" panose="020B0603020202020204" pitchFamily="34" charset="0"/>
              </a:rPr>
              <a:t>,</a:t>
            </a:r>
            <a:r>
              <a:rPr lang="en-US" sz="2400" b="1" i="1" dirty="0">
                <a:solidFill>
                  <a:srgbClr val="0C0D0E"/>
                </a:solidFill>
                <a:effectLst/>
                <a:latin typeface="Trebuchet MS" panose="020B0603020202020204" pitchFamily="34" charset="0"/>
              </a:rPr>
              <a:t>y</a:t>
            </a:r>
            <a:r>
              <a:rPr lang="en-US" sz="2400" b="1" i="0" dirty="0">
                <a:solidFill>
                  <a:srgbClr val="0C0D0E"/>
                </a:solidFill>
                <a:effectLst/>
                <a:latin typeface="Trebuchet MS" panose="020B0603020202020204" pitchFamily="34" charset="0"/>
              </a:rPr>
              <a:t>)</a:t>
            </a:r>
            <a:r>
              <a:rPr lang="en-US" sz="2400" b="0" i="0" dirty="0">
                <a:solidFill>
                  <a:srgbClr val="0C0D0E"/>
                </a:solidFill>
                <a:effectLst/>
                <a:latin typeface="Trebuchet MS" panose="020B0603020202020204" pitchFamily="34" charset="0"/>
              </a:rPr>
              <a:t>: </a:t>
            </a:r>
            <a:r>
              <a:rPr lang="en-US" sz="2400" b="1" i="1" dirty="0">
                <a:solidFill>
                  <a:srgbClr val="0C0D0E"/>
                </a:solidFill>
                <a:effectLst/>
                <a:latin typeface="Trebuchet MS" panose="020B0603020202020204" pitchFamily="34" charset="0"/>
              </a:rPr>
              <a:t>x</a:t>
            </a:r>
            <a:r>
              <a:rPr lang="en-US" sz="2400" b="0" i="0" dirty="0">
                <a:solidFill>
                  <a:srgbClr val="0C0D0E"/>
                </a:solidFill>
                <a:effectLst/>
                <a:latin typeface="Trebuchet MS" panose="020B0603020202020204" pitchFamily="34" charset="0"/>
              </a:rPr>
              <a:t> and </a:t>
            </a:r>
            <a:r>
              <a:rPr lang="en-US" sz="2400" b="1" i="1" dirty="0">
                <a:solidFill>
                  <a:srgbClr val="0C0D0E"/>
                </a:solidFill>
                <a:effectLst/>
                <a:latin typeface="Trebuchet MS" panose="020B0603020202020204" pitchFamily="34" charset="0"/>
              </a:rPr>
              <a:t>y</a:t>
            </a:r>
            <a:r>
              <a:rPr lang="en-US" sz="2400" b="0" i="0" dirty="0">
                <a:solidFill>
                  <a:srgbClr val="0C0D0E"/>
                </a:solidFill>
                <a:effectLst/>
                <a:latin typeface="Trebuchet MS" panose="020B0603020202020204" pitchFamily="34" charset="0"/>
              </a:rPr>
              <a:t> run at the same speed.</a:t>
            </a:r>
          </a:p>
          <a:p>
            <a:pPr marL="271463" indent="0" algn="l">
              <a:lnSpc>
                <a:spcPct val="110000"/>
              </a:lnSpc>
              <a:spcBef>
                <a:spcPts val="0"/>
              </a:spcBef>
              <a:buClr>
                <a:srgbClr val="0B61FF"/>
              </a:buClr>
              <a:buSzPct val="120000"/>
              <a:buNone/>
            </a:pPr>
            <a:r>
              <a:rPr lang="en-US" altLang="zh-CN" sz="2400" b="1" dirty="0">
                <a:solidFill>
                  <a:srgbClr val="0B61FF"/>
                </a:solidFill>
                <a:latin typeface="Trebuchet MS" panose="020B0603020202020204" pitchFamily="34" charset="0"/>
              </a:rPr>
              <a:t>(1)</a:t>
            </a:r>
            <a:r>
              <a:rPr lang="zh-CN" altLang="en-US" sz="2400" b="1" dirty="0">
                <a:solidFill>
                  <a:srgbClr val="0B61FF"/>
                </a:solidFill>
                <a:latin typeface="Trebuchet MS" panose="020B0603020202020204" pitchFamily="34" charset="0"/>
              </a:rPr>
              <a:t> </a:t>
            </a:r>
            <a:r>
              <a:rPr lang="en-US" sz="2400" b="1" i="0" dirty="0">
                <a:solidFill>
                  <a:srgbClr val="0C0D0E"/>
                </a:solidFill>
                <a:effectLst/>
                <a:latin typeface="Trebuchet MS" panose="020B0603020202020204" pitchFamily="34" charset="0"/>
              </a:rPr>
              <a:t>∀</a:t>
            </a:r>
            <a:r>
              <a:rPr lang="en-US" sz="2400" b="1" i="1" dirty="0">
                <a:solidFill>
                  <a:srgbClr val="0C0D0E"/>
                </a:solidFill>
                <a:effectLst/>
                <a:latin typeface="Trebuchet MS" panose="020B0603020202020204" pitchFamily="34" charset="0"/>
              </a:rPr>
              <a:t>x</a:t>
            </a:r>
            <a:r>
              <a:rPr lang="en-US" sz="2400" b="1" i="0" dirty="0">
                <a:solidFill>
                  <a:srgbClr val="0C0D0E"/>
                </a:solidFill>
                <a:effectLst/>
                <a:latin typeface="Trebuchet MS" panose="020B0603020202020204" pitchFamily="34" charset="0"/>
              </a:rPr>
              <a:t>∀</a:t>
            </a:r>
            <a:r>
              <a:rPr lang="en-US" sz="2400" b="1" i="1" dirty="0">
                <a:solidFill>
                  <a:srgbClr val="0C0D0E"/>
                </a:solidFill>
                <a:effectLst/>
                <a:latin typeface="Trebuchet MS" panose="020B0603020202020204" pitchFamily="34" charset="0"/>
              </a:rPr>
              <a:t>y</a:t>
            </a:r>
            <a:r>
              <a:rPr lang="en-US" sz="2400" b="1" i="0" dirty="0">
                <a:solidFill>
                  <a:srgbClr val="0C0D0E"/>
                </a:solidFill>
                <a:effectLst/>
                <a:latin typeface="Trebuchet MS" panose="020B0603020202020204" pitchFamily="34" charset="0"/>
              </a:rPr>
              <a:t>(</a:t>
            </a:r>
            <a:r>
              <a:rPr lang="en-US" sz="2400" b="1" i="1" dirty="0">
                <a:solidFill>
                  <a:srgbClr val="0C0D0E"/>
                </a:solidFill>
                <a:effectLst/>
                <a:latin typeface="Trebuchet MS" panose="020B0603020202020204" pitchFamily="34" charset="0"/>
              </a:rPr>
              <a:t>F</a:t>
            </a:r>
            <a:r>
              <a:rPr lang="en-US" sz="2400" b="1" i="0" dirty="0">
                <a:solidFill>
                  <a:srgbClr val="0C0D0E"/>
                </a:solidFill>
                <a:effectLst/>
                <a:latin typeface="Trebuchet MS" panose="020B0603020202020204" pitchFamily="34" charset="0"/>
              </a:rPr>
              <a:t>(</a:t>
            </a:r>
            <a:r>
              <a:rPr lang="en-US" sz="2400" b="1" i="1" dirty="0">
                <a:solidFill>
                  <a:srgbClr val="0C0D0E"/>
                </a:solidFill>
                <a:effectLst/>
                <a:latin typeface="Trebuchet MS" panose="020B0603020202020204" pitchFamily="34" charset="0"/>
              </a:rPr>
              <a:t>x</a:t>
            </a:r>
            <a:r>
              <a:rPr lang="en-US" sz="2400" b="1" i="0" dirty="0">
                <a:solidFill>
                  <a:srgbClr val="0C0D0E"/>
                </a:solidFill>
                <a:effectLst/>
                <a:latin typeface="Trebuchet MS" panose="020B0603020202020204" pitchFamily="34" charset="0"/>
              </a:rPr>
              <a:t>)∧</a:t>
            </a:r>
            <a:r>
              <a:rPr lang="en-US" sz="2400" b="1" i="1" dirty="0">
                <a:solidFill>
                  <a:srgbClr val="0C0D0E"/>
                </a:solidFill>
                <a:effectLst/>
                <a:latin typeface="Trebuchet MS" panose="020B0603020202020204" pitchFamily="34" charset="0"/>
              </a:rPr>
              <a:t>G</a:t>
            </a:r>
            <a:r>
              <a:rPr lang="en-US" sz="2400" b="1" i="0" dirty="0">
                <a:solidFill>
                  <a:srgbClr val="0C0D0E"/>
                </a:solidFill>
                <a:effectLst/>
                <a:latin typeface="Trebuchet MS" panose="020B0603020202020204" pitchFamily="34" charset="0"/>
              </a:rPr>
              <a:t>(</a:t>
            </a:r>
            <a:r>
              <a:rPr lang="en-US" sz="2400" b="1" i="1" dirty="0">
                <a:solidFill>
                  <a:srgbClr val="0C0D0E"/>
                </a:solidFill>
                <a:effectLst/>
                <a:latin typeface="Trebuchet MS" panose="020B0603020202020204" pitchFamily="34" charset="0"/>
              </a:rPr>
              <a:t>y</a:t>
            </a:r>
            <a:r>
              <a:rPr lang="en-US" sz="2400" b="1" i="0" dirty="0">
                <a:solidFill>
                  <a:srgbClr val="0C0D0E"/>
                </a:solidFill>
                <a:effectLst/>
                <a:latin typeface="Trebuchet MS" panose="020B0603020202020204" pitchFamily="34" charset="0"/>
              </a:rPr>
              <a:t>)→</a:t>
            </a:r>
            <a:r>
              <a:rPr lang="en-US" sz="2400" b="1" i="1" dirty="0">
                <a:solidFill>
                  <a:srgbClr val="0C0D0E"/>
                </a:solidFill>
                <a:effectLst/>
                <a:latin typeface="Trebuchet MS" panose="020B0603020202020204" pitchFamily="34" charset="0"/>
              </a:rPr>
              <a:t>H</a:t>
            </a:r>
            <a:r>
              <a:rPr lang="en-US" sz="2400" b="1" i="0" dirty="0">
                <a:solidFill>
                  <a:srgbClr val="0C0D0E"/>
                </a:solidFill>
                <a:effectLst/>
                <a:latin typeface="Trebuchet MS" panose="020B0603020202020204" pitchFamily="34" charset="0"/>
              </a:rPr>
              <a:t>(</a:t>
            </a:r>
            <a:r>
              <a:rPr lang="en-US" sz="2400" b="1" i="1" dirty="0">
                <a:solidFill>
                  <a:srgbClr val="0C0D0E"/>
                </a:solidFill>
                <a:effectLst/>
                <a:latin typeface="Trebuchet MS" panose="020B0603020202020204" pitchFamily="34" charset="0"/>
              </a:rPr>
              <a:t>x</a:t>
            </a:r>
            <a:r>
              <a:rPr lang="en-US" sz="2400" b="1" i="0" dirty="0">
                <a:solidFill>
                  <a:srgbClr val="0C0D0E"/>
                </a:solidFill>
                <a:effectLst/>
                <a:latin typeface="Trebuchet MS" panose="020B0603020202020204" pitchFamily="34" charset="0"/>
              </a:rPr>
              <a:t>,</a:t>
            </a:r>
            <a:r>
              <a:rPr lang="en-US" sz="2400" b="1" i="1" dirty="0">
                <a:solidFill>
                  <a:srgbClr val="0C0D0E"/>
                </a:solidFill>
                <a:effectLst/>
                <a:latin typeface="Trebuchet MS" panose="020B0603020202020204" pitchFamily="34" charset="0"/>
              </a:rPr>
              <a:t>y</a:t>
            </a:r>
            <a:r>
              <a:rPr lang="en-US" sz="2400" b="1" i="0" dirty="0">
                <a:solidFill>
                  <a:srgbClr val="0C0D0E"/>
                </a:solidFill>
                <a:effectLst/>
                <a:latin typeface="Trebuchet MS" panose="020B0603020202020204" pitchFamily="34" charset="0"/>
              </a:rPr>
              <a:t>))</a:t>
            </a:r>
          </a:p>
          <a:p>
            <a:pPr marL="0" indent="271463" algn="l">
              <a:lnSpc>
                <a:spcPct val="110000"/>
              </a:lnSpc>
              <a:spcBef>
                <a:spcPts val="0"/>
              </a:spcBef>
              <a:buNone/>
            </a:pPr>
            <a:r>
              <a:rPr lang="en-US" altLang="zh-CN" sz="2400" b="1" dirty="0">
                <a:solidFill>
                  <a:srgbClr val="0B61FF"/>
                </a:solidFill>
                <a:latin typeface="Trebuchet MS" panose="020B0603020202020204" pitchFamily="34" charset="0"/>
              </a:rPr>
              <a:t>(2)</a:t>
            </a:r>
            <a:r>
              <a:rPr lang="zh-CN" altLang="en-US" sz="2400" b="1" dirty="0">
                <a:solidFill>
                  <a:srgbClr val="0B61FF"/>
                </a:solidFill>
                <a:latin typeface="Trebuchet MS" panose="020B0603020202020204" pitchFamily="34" charset="0"/>
              </a:rPr>
              <a:t> </a:t>
            </a:r>
            <a:r>
              <a:rPr lang="en-US" sz="2400" b="1" i="0" dirty="0">
                <a:solidFill>
                  <a:srgbClr val="0C0D0E"/>
                </a:solidFill>
                <a:effectLst/>
                <a:latin typeface="Trebuchet MS" panose="020B0603020202020204" pitchFamily="34" charset="0"/>
              </a:rPr>
              <a:t>∃</a:t>
            </a:r>
            <a:r>
              <a:rPr lang="en-US" sz="2400" b="1" i="1" dirty="0">
                <a:solidFill>
                  <a:srgbClr val="0C0D0E"/>
                </a:solidFill>
                <a:effectLst/>
                <a:latin typeface="Trebuchet MS" panose="020B0603020202020204" pitchFamily="34" charset="0"/>
              </a:rPr>
              <a:t>x</a:t>
            </a:r>
            <a:r>
              <a:rPr lang="en-US" sz="2400" b="1" i="0" dirty="0">
                <a:solidFill>
                  <a:srgbClr val="0C0D0E"/>
                </a:solidFill>
                <a:effectLst/>
                <a:latin typeface="Trebuchet MS" panose="020B0603020202020204" pitchFamily="34" charset="0"/>
              </a:rPr>
              <a:t>(</a:t>
            </a:r>
            <a:r>
              <a:rPr lang="en-US" sz="2400" b="1" i="1" dirty="0">
                <a:solidFill>
                  <a:srgbClr val="0C0D0E"/>
                </a:solidFill>
                <a:effectLst/>
                <a:latin typeface="Trebuchet MS" panose="020B0603020202020204" pitchFamily="34" charset="0"/>
              </a:rPr>
              <a:t>F</a:t>
            </a:r>
            <a:r>
              <a:rPr lang="en-US" sz="2400" b="1" i="0" dirty="0">
                <a:solidFill>
                  <a:srgbClr val="0C0D0E"/>
                </a:solidFill>
                <a:effectLst/>
                <a:latin typeface="Trebuchet MS" panose="020B0603020202020204" pitchFamily="34" charset="0"/>
              </a:rPr>
              <a:t>(</a:t>
            </a:r>
            <a:r>
              <a:rPr lang="en-US" sz="2400" b="1" i="1" dirty="0">
                <a:solidFill>
                  <a:srgbClr val="0C0D0E"/>
                </a:solidFill>
                <a:effectLst/>
                <a:latin typeface="Trebuchet MS" panose="020B0603020202020204" pitchFamily="34" charset="0"/>
              </a:rPr>
              <a:t>x</a:t>
            </a:r>
            <a:r>
              <a:rPr lang="en-US" sz="2400" b="1" i="0" dirty="0">
                <a:solidFill>
                  <a:srgbClr val="0C0D0E"/>
                </a:solidFill>
                <a:effectLst/>
                <a:latin typeface="Trebuchet MS" panose="020B0603020202020204" pitchFamily="34" charset="0"/>
              </a:rPr>
              <a:t>)∧∀</a:t>
            </a:r>
            <a:r>
              <a:rPr lang="en-US" sz="2400" b="1" i="1" dirty="0">
                <a:solidFill>
                  <a:srgbClr val="0C0D0E"/>
                </a:solidFill>
                <a:effectLst/>
                <a:latin typeface="Trebuchet MS" panose="020B0603020202020204" pitchFamily="34" charset="0"/>
              </a:rPr>
              <a:t>y</a:t>
            </a:r>
            <a:r>
              <a:rPr lang="en-US" sz="2400" b="1" i="0" dirty="0">
                <a:solidFill>
                  <a:srgbClr val="0C0D0E"/>
                </a:solidFill>
                <a:effectLst/>
                <a:latin typeface="Trebuchet MS" panose="020B0603020202020204" pitchFamily="34" charset="0"/>
              </a:rPr>
              <a:t>(</a:t>
            </a:r>
            <a:r>
              <a:rPr lang="en-US" sz="2400" b="1" i="1" dirty="0">
                <a:solidFill>
                  <a:srgbClr val="0C0D0E"/>
                </a:solidFill>
                <a:effectLst/>
                <a:latin typeface="Trebuchet MS" panose="020B0603020202020204" pitchFamily="34" charset="0"/>
              </a:rPr>
              <a:t>G</a:t>
            </a:r>
            <a:r>
              <a:rPr lang="en-US" sz="2400" b="1" i="0" dirty="0">
                <a:solidFill>
                  <a:srgbClr val="0C0D0E"/>
                </a:solidFill>
                <a:effectLst/>
                <a:latin typeface="Trebuchet MS" panose="020B0603020202020204" pitchFamily="34" charset="0"/>
              </a:rPr>
              <a:t>(</a:t>
            </a:r>
            <a:r>
              <a:rPr lang="en-US" sz="2400" b="1" i="1" dirty="0">
                <a:solidFill>
                  <a:srgbClr val="0C0D0E"/>
                </a:solidFill>
                <a:effectLst/>
                <a:latin typeface="Trebuchet MS" panose="020B0603020202020204" pitchFamily="34" charset="0"/>
              </a:rPr>
              <a:t>y</a:t>
            </a:r>
            <a:r>
              <a:rPr lang="en-US" sz="2400" b="1" i="0" dirty="0">
                <a:solidFill>
                  <a:srgbClr val="0C0D0E"/>
                </a:solidFill>
                <a:effectLst/>
                <a:latin typeface="Trebuchet MS" panose="020B0603020202020204" pitchFamily="34" charset="0"/>
              </a:rPr>
              <a:t>)→</a:t>
            </a:r>
            <a:r>
              <a:rPr lang="en-US" sz="2400" b="1" i="1" dirty="0">
                <a:solidFill>
                  <a:srgbClr val="0C0D0E"/>
                </a:solidFill>
                <a:effectLst/>
                <a:latin typeface="Trebuchet MS" panose="020B0603020202020204" pitchFamily="34" charset="0"/>
              </a:rPr>
              <a:t>H</a:t>
            </a:r>
            <a:r>
              <a:rPr lang="en-US" sz="2400" b="1" i="0" dirty="0">
                <a:solidFill>
                  <a:srgbClr val="0C0D0E"/>
                </a:solidFill>
                <a:effectLst/>
                <a:latin typeface="Trebuchet MS" panose="020B0603020202020204" pitchFamily="34" charset="0"/>
              </a:rPr>
              <a:t>(</a:t>
            </a:r>
            <a:r>
              <a:rPr lang="en-US" sz="2400" b="1" i="1" dirty="0">
                <a:solidFill>
                  <a:srgbClr val="0C0D0E"/>
                </a:solidFill>
                <a:effectLst/>
                <a:latin typeface="Trebuchet MS" panose="020B0603020202020204" pitchFamily="34" charset="0"/>
              </a:rPr>
              <a:t>x</a:t>
            </a:r>
            <a:r>
              <a:rPr lang="en-US" sz="2400" b="1" i="0" dirty="0">
                <a:solidFill>
                  <a:srgbClr val="0C0D0E"/>
                </a:solidFill>
                <a:effectLst/>
                <a:latin typeface="Trebuchet MS" panose="020B0603020202020204" pitchFamily="34" charset="0"/>
              </a:rPr>
              <a:t>,</a:t>
            </a:r>
            <a:r>
              <a:rPr lang="en-US" sz="2400" b="1" i="1" dirty="0">
                <a:solidFill>
                  <a:srgbClr val="0C0D0E"/>
                </a:solidFill>
                <a:effectLst/>
                <a:latin typeface="Trebuchet MS" panose="020B0603020202020204" pitchFamily="34" charset="0"/>
              </a:rPr>
              <a:t>y</a:t>
            </a:r>
            <a:r>
              <a:rPr lang="en-US" sz="2400" b="1" i="0" dirty="0">
                <a:solidFill>
                  <a:srgbClr val="0C0D0E"/>
                </a:solidFill>
                <a:effectLst/>
                <a:latin typeface="Trebuchet MS" panose="020B0603020202020204" pitchFamily="34" charset="0"/>
              </a:rPr>
              <a:t>)))</a:t>
            </a:r>
          </a:p>
          <a:p>
            <a:pPr marL="0" indent="271463" algn="l">
              <a:lnSpc>
                <a:spcPct val="110000"/>
              </a:lnSpc>
              <a:spcBef>
                <a:spcPts val="0"/>
              </a:spcBef>
              <a:buNone/>
            </a:pPr>
            <a:r>
              <a:rPr lang="en-US" altLang="zh-CN" sz="2400" b="1" dirty="0">
                <a:solidFill>
                  <a:srgbClr val="0B61FF"/>
                </a:solidFill>
                <a:latin typeface="Trebuchet MS" panose="020B0603020202020204" pitchFamily="34" charset="0"/>
              </a:rPr>
              <a:t>(3)</a:t>
            </a:r>
            <a:r>
              <a:rPr lang="zh-CN" altLang="en-US" sz="2400" b="1" dirty="0">
                <a:solidFill>
                  <a:srgbClr val="0B61FF"/>
                </a:solidFill>
                <a:latin typeface="Trebuchet MS" panose="020B0603020202020204" pitchFamily="34" charset="0"/>
              </a:rPr>
              <a:t> </a:t>
            </a:r>
            <a:r>
              <a:rPr lang="en-US" sz="2400" b="1" i="0" dirty="0">
                <a:solidFill>
                  <a:srgbClr val="0C0D0E"/>
                </a:solidFill>
                <a:effectLst/>
                <a:latin typeface="Trebuchet MS" panose="020B0603020202020204" pitchFamily="34" charset="0"/>
              </a:rPr>
              <a:t>¬∀</a:t>
            </a:r>
            <a:r>
              <a:rPr lang="en-US" sz="2400" b="1" i="1" dirty="0">
                <a:solidFill>
                  <a:srgbClr val="0C0D0E"/>
                </a:solidFill>
                <a:effectLst/>
                <a:latin typeface="Trebuchet MS" panose="020B0603020202020204" pitchFamily="34" charset="0"/>
              </a:rPr>
              <a:t>x</a:t>
            </a:r>
            <a:r>
              <a:rPr lang="en-US" sz="2400" b="1" i="0" dirty="0">
                <a:solidFill>
                  <a:srgbClr val="0C0D0E"/>
                </a:solidFill>
                <a:effectLst/>
                <a:latin typeface="Trebuchet MS" panose="020B0603020202020204" pitchFamily="34" charset="0"/>
              </a:rPr>
              <a:t>∀</a:t>
            </a:r>
            <a:r>
              <a:rPr lang="en-US" sz="2400" b="1" i="1" dirty="0">
                <a:solidFill>
                  <a:srgbClr val="0C0D0E"/>
                </a:solidFill>
                <a:effectLst/>
                <a:latin typeface="Trebuchet MS" panose="020B0603020202020204" pitchFamily="34" charset="0"/>
              </a:rPr>
              <a:t>y</a:t>
            </a:r>
            <a:r>
              <a:rPr lang="en-US" sz="2400" b="1" i="0" dirty="0">
                <a:solidFill>
                  <a:srgbClr val="0C0D0E"/>
                </a:solidFill>
                <a:effectLst/>
                <a:latin typeface="Trebuchet MS" panose="020B0603020202020204" pitchFamily="34" charset="0"/>
              </a:rPr>
              <a:t>(</a:t>
            </a:r>
            <a:r>
              <a:rPr lang="en-US" sz="2400" b="1" i="1" dirty="0">
                <a:solidFill>
                  <a:srgbClr val="0C0D0E"/>
                </a:solidFill>
                <a:effectLst/>
                <a:latin typeface="Trebuchet MS" panose="020B0603020202020204" pitchFamily="34" charset="0"/>
              </a:rPr>
              <a:t>F</a:t>
            </a:r>
            <a:r>
              <a:rPr lang="en-US" sz="2400" b="1" i="0" dirty="0">
                <a:solidFill>
                  <a:srgbClr val="0C0D0E"/>
                </a:solidFill>
                <a:effectLst/>
                <a:latin typeface="Trebuchet MS" panose="020B0603020202020204" pitchFamily="34" charset="0"/>
              </a:rPr>
              <a:t>(</a:t>
            </a:r>
            <a:r>
              <a:rPr lang="en-US" sz="2400" b="1" i="1" dirty="0">
                <a:solidFill>
                  <a:srgbClr val="0C0D0E"/>
                </a:solidFill>
                <a:effectLst/>
                <a:latin typeface="Trebuchet MS" panose="020B0603020202020204" pitchFamily="34" charset="0"/>
              </a:rPr>
              <a:t>x</a:t>
            </a:r>
            <a:r>
              <a:rPr lang="en-US" sz="2400" b="1" i="0" dirty="0">
                <a:solidFill>
                  <a:srgbClr val="0C0D0E"/>
                </a:solidFill>
                <a:effectLst/>
                <a:latin typeface="Trebuchet MS" panose="020B0603020202020204" pitchFamily="34" charset="0"/>
              </a:rPr>
              <a:t>)∧</a:t>
            </a:r>
            <a:r>
              <a:rPr lang="en-US" sz="2400" b="1" i="1" dirty="0">
                <a:solidFill>
                  <a:srgbClr val="0C0D0E"/>
                </a:solidFill>
                <a:effectLst/>
                <a:latin typeface="Trebuchet MS" panose="020B0603020202020204" pitchFamily="34" charset="0"/>
              </a:rPr>
              <a:t>G</a:t>
            </a:r>
            <a:r>
              <a:rPr lang="en-US" sz="2400" b="1" i="0" dirty="0">
                <a:solidFill>
                  <a:srgbClr val="0C0D0E"/>
                </a:solidFill>
                <a:effectLst/>
                <a:latin typeface="Trebuchet MS" panose="020B0603020202020204" pitchFamily="34" charset="0"/>
              </a:rPr>
              <a:t>(</a:t>
            </a:r>
            <a:r>
              <a:rPr lang="en-US" sz="2400" b="1" i="1" dirty="0">
                <a:solidFill>
                  <a:srgbClr val="0C0D0E"/>
                </a:solidFill>
                <a:effectLst/>
                <a:latin typeface="Trebuchet MS" panose="020B0603020202020204" pitchFamily="34" charset="0"/>
              </a:rPr>
              <a:t>y</a:t>
            </a:r>
            <a:r>
              <a:rPr lang="en-US" sz="2400" b="1" i="0" dirty="0">
                <a:solidFill>
                  <a:srgbClr val="0C0D0E"/>
                </a:solidFill>
                <a:effectLst/>
                <a:latin typeface="Trebuchet MS" panose="020B0603020202020204" pitchFamily="34" charset="0"/>
              </a:rPr>
              <a:t>)→</a:t>
            </a:r>
            <a:r>
              <a:rPr lang="en-US" sz="2400" b="1" i="1" dirty="0">
                <a:solidFill>
                  <a:srgbClr val="0C0D0E"/>
                </a:solidFill>
                <a:effectLst/>
                <a:latin typeface="Trebuchet MS" panose="020B0603020202020204" pitchFamily="34" charset="0"/>
              </a:rPr>
              <a:t>H</a:t>
            </a:r>
            <a:r>
              <a:rPr lang="en-US" sz="2400" b="1" i="0" dirty="0">
                <a:solidFill>
                  <a:srgbClr val="0C0D0E"/>
                </a:solidFill>
                <a:effectLst/>
                <a:latin typeface="Trebuchet MS" panose="020B0603020202020204" pitchFamily="34" charset="0"/>
              </a:rPr>
              <a:t>(</a:t>
            </a:r>
            <a:r>
              <a:rPr lang="en-US" sz="2400" b="1" i="1" dirty="0">
                <a:solidFill>
                  <a:srgbClr val="0C0D0E"/>
                </a:solidFill>
                <a:effectLst/>
                <a:latin typeface="Trebuchet MS" panose="020B0603020202020204" pitchFamily="34" charset="0"/>
              </a:rPr>
              <a:t>x</a:t>
            </a:r>
            <a:r>
              <a:rPr lang="en-US" sz="2400" b="1" i="0" dirty="0">
                <a:solidFill>
                  <a:srgbClr val="0C0D0E"/>
                </a:solidFill>
                <a:effectLst/>
                <a:latin typeface="Trebuchet MS" panose="020B0603020202020204" pitchFamily="34" charset="0"/>
              </a:rPr>
              <a:t>,</a:t>
            </a:r>
            <a:r>
              <a:rPr lang="en-US" sz="2400" b="1" i="1" dirty="0">
                <a:solidFill>
                  <a:srgbClr val="0C0D0E"/>
                </a:solidFill>
                <a:effectLst/>
                <a:latin typeface="Trebuchet MS" panose="020B0603020202020204" pitchFamily="34" charset="0"/>
              </a:rPr>
              <a:t>y</a:t>
            </a:r>
            <a:r>
              <a:rPr lang="en-US" sz="2400" b="1" i="0" dirty="0">
                <a:solidFill>
                  <a:srgbClr val="0C0D0E"/>
                </a:solidFill>
                <a:effectLst/>
                <a:latin typeface="Trebuchet MS" panose="020B0603020202020204" pitchFamily="34" charset="0"/>
              </a:rPr>
              <a:t>))</a:t>
            </a:r>
          </a:p>
          <a:p>
            <a:pPr marL="0" indent="271463" algn="l">
              <a:lnSpc>
                <a:spcPct val="110000"/>
              </a:lnSpc>
              <a:spcBef>
                <a:spcPts val="0"/>
              </a:spcBef>
              <a:buNone/>
            </a:pPr>
            <a:r>
              <a:rPr lang="en-US" altLang="zh-CN" sz="2400" b="1" dirty="0">
                <a:solidFill>
                  <a:srgbClr val="0B61FF"/>
                </a:solidFill>
                <a:latin typeface="Trebuchet MS" panose="020B0603020202020204" pitchFamily="34" charset="0"/>
              </a:rPr>
              <a:t>(4)</a:t>
            </a:r>
            <a:r>
              <a:rPr lang="zh-CN" altLang="en-US" sz="2400" b="1" dirty="0">
                <a:solidFill>
                  <a:srgbClr val="0B61FF"/>
                </a:solidFill>
                <a:latin typeface="Trebuchet MS" panose="020B0603020202020204" pitchFamily="34" charset="0"/>
              </a:rPr>
              <a:t> </a:t>
            </a:r>
            <a:r>
              <a:rPr lang="en-US" sz="2400" b="1" i="0" dirty="0">
                <a:solidFill>
                  <a:srgbClr val="0C0D0E"/>
                </a:solidFill>
                <a:effectLst/>
                <a:latin typeface="Trebuchet MS" panose="020B0603020202020204" pitchFamily="34" charset="0"/>
              </a:rPr>
              <a:t>¬∃</a:t>
            </a:r>
            <a:r>
              <a:rPr lang="en-US" sz="2400" b="1" i="1" dirty="0">
                <a:solidFill>
                  <a:srgbClr val="0C0D0E"/>
                </a:solidFill>
                <a:effectLst/>
                <a:latin typeface="Trebuchet MS" panose="020B0603020202020204" pitchFamily="34" charset="0"/>
              </a:rPr>
              <a:t>x</a:t>
            </a:r>
            <a:r>
              <a:rPr lang="en-US" sz="2400" b="1" i="0" dirty="0">
                <a:solidFill>
                  <a:srgbClr val="0C0D0E"/>
                </a:solidFill>
                <a:effectLst/>
                <a:latin typeface="Trebuchet MS" panose="020B0603020202020204" pitchFamily="34" charset="0"/>
              </a:rPr>
              <a:t>∃</a:t>
            </a:r>
            <a:r>
              <a:rPr lang="en-US" sz="2400" b="1" i="1" dirty="0">
                <a:solidFill>
                  <a:srgbClr val="0C0D0E"/>
                </a:solidFill>
                <a:effectLst/>
                <a:latin typeface="Trebuchet MS" panose="020B0603020202020204" pitchFamily="34" charset="0"/>
              </a:rPr>
              <a:t>y</a:t>
            </a:r>
            <a:r>
              <a:rPr lang="en-US" sz="2400" b="1" i="0" dirty="0">
                <a:solidFill>
                  <a:srgbClr val="0C0D0E"/>
                </a:solidFill>
                <a:effectLst/>
                <a:latin typeface="Trebuchet MS" panose="020B0603020202020204" pitchFamily="34" charset="0"/>
              </a:rPr>
              <a:t>(</a:t>
            </a:r>
            <a:r>
              <a:rPr lang="en-US" sz="2400" b="1" i="1" dirty="0">
                <a:solidFill>
                  <a:srgbClr val="0C0D0E"/>
                </a:solidFill>
                <a:effectLst/>
                <a:latin typeface="Trebuchet MS" panose="020B0603020202020204" pitchFamily="34" charset="0"/>
              </a:rPr>
              <a:t>F</a:t>
            </a:r>
            <a:r>
              <a:rPr lang="en-US" sz="2400" b="1" i="0" dirty="0">
                <a:solidFill>
                  <a:srgbClr val="0C0D0E"/>
                </a:solidFill>
                <a:effectLst/>
                <a:latin typeface="Trebuchet MS" panose="020B0603020202020204" pitchFamily="34" charset="0"/>
              </a:rPr>
              <a:t>(</a:t>
            </a:r>
            <a:r>
              <a:rPr lang="en-US" sz="2400" b="1" i="1" dirty="0">
                <a:solidFill>
                  <a:srgbClr val="0C0D0E"/>
                </a:solidFill>
                <a:effectLst/>
                <a:latin typeface="Trebuchet MS" panose="020B0603020202020204" pitchFamily="34" charset="0"/>
              </a:rPr>
              <a:t>x</a:t>
            </a:r>
            <a:r>
              <a:rPr lang="en-US" sz="2400" b="1" i="0" dirty="0">
                <a:solidFill>
                  <a:srgbClr val="0C0D0E"/>
                </a:solidFill>
                <a:effectLst/>
                <a:latin typeface="Trebuchet MS" panose="020B0603020202020204" pitchFamily="34" charset="0"/>
              </a:rPr>
              <a:t>)∧</a:t>
            </a:r>
            <a:r>
              <a:rPr lang="en-US" sz="2400" b="1" i="1" dirty="0">
                <a:solidFill>
                  <a:srgbClr val="0C0D0E"/>
                </a:solidFill>
                <a:effectLst/>
                <a:latin typeface="Trebuchet MS" panose="020B0603020202020204" pitchFamily="34" charset="0"/>
              </a:rPr>
              <a:t>G</a:t>
            </a:r>
            <a:r>
              <a:rPr lang="en-US" sz="2400" b="1" i="0" dirty="0">
                <a:solidFill>
                  <a:srgbClr val="0C0D0E"/>
                </a:solidFill>
                <a:effectLst/>
                <a:latin typeface="Trebuchet MS" panose="020B0603020202020204" pitchFamily="34" charset="0"/>
              </a:rPr>
              <a:t>(</a:t>
            </a:r>
            <a:r>
              <a:rPr lang="en-US" sz="2400" b="1" i="1" dirty="0">
                <a:solidFill>
                  <a:srgbClr val="0C0D0E"/>
                </a:solidFill>
                <a:effectLst/>
                <a:latin typeface="Trebuchet MS" panose="020B0603020202020204" pitchFamily="34" charset="0"/>
              </a:rPr>
              <a:t>y</a:t>
            </a:r>
            <a:r>
              <a:rPr lang="en-US" sz="2400" b="1" i="0" dirty="0">
                <a:solidFill>
                  <a:srgbClr val="0C0D0E"/>
                </a:solidFill>
                <a:effectLst/>
                <a:latin typeface="Trebuchet MS" panose="020B0603020202020204" pitchFamily="34" charset="0"/>
              </a:rPr>
              <a:t>)∧</a:t>
            </a:r>
            <a:r>
              <a:rPr lang="en-US" sz="2400" b="1" i="1" dirty="0">
                <a:solidFill>
                  <a:srgbClr val="0C0D0E"/>
                </a:solidFill>
                <a:effectLst/>
                <a:latin typeface="Trebuchet MS" panose="020B0603020202020204" pitchFamily="34" charset="0"/>
              </a:rPr>
              <a:t>L</a:t>
            </a:r>
            <a:r>
              <a:rPr lang="en-US" sz="2400" b="1" i="0" dirty="0">
                <a:solidFill>
                  <a:srgbClr val="0C0D0E"/>
                </a:solidFill>
                <a:effectLst/>
                <a:latin typeface="Trebuchet MS" panose="020B0603020202020204" pitchFamily="34" charset="0"/>
              </a:rPr>
              <a:t>(</a:t>
            </a:r>
            <a:r>
              <a:rPr lang="en-US" sz="2400" b="1" i="1" dirty="0">
                <a:solidFill>
                  <a:srgbClr val="0C0D0E"/>
                </a:solidFill>
                <a:effectLst/>
                <a:latin typeface="Trebuchet MS" panose="020B0603020202020204" pitchFamily="34" charset="0"/>
              </a:rPr>
              <a:t>x</a:t>
            </a:r>
            <a:r>
              <a:rPr lang="en-US" sz="2400" b="1" i="0" dirty="0">
                <a:solidFill>
                  <a:srgbClr val="0C0D0E"/>
                </a:solidFill>
                <a:effectLst/>
                <a:latin typeface="Trebuchet MS" panose="020B0603020202020204" pitchFamily="34" charset="0"/>
              </a:rPr>
              <a:t>,</a:t>
            </a:r>
            <a:r>
              <a:rPr lang="en-US" sz="2400" b="1" i="1" dirty="0">
                <a:solidFill>
                  <a:srgbClr val="0C0D0E"/>
                </a:solidFill>
                <a:effectLst/>
                <a:latin typeface="Trebuchet MS" panose="020B0603020202020204" pitchFamily="34" charset="0"/>
              </a:rPr>
              <a:t>y</a:t>
            </a:r>
            <a:r>
              <a:rPr lang="en-US" sz="2400" b="1" i="0" dirty="0">
                <a:solidFill>
                  <a:srgbClr val="0C0D0E"/>
                </a:solidFill>
                <a:effectLst/>
                <a:latin typeface="Trebuchet MS" panose="020B0603020202020204" pitchFamily="34" charset="0"/>
              </a:rPr>
              <a:t>))</a:t>
            </a:r>
          </a:p>
        </p:txBody>
      </p:sp>
      <p:pic>
        <p:nvPicPr>
          <p:cNvPr id="9" name="图片 8">
            <a:extLst>
              <a:ext uri="{FF2B5EF4-FFF2-40B4-BE49-F238E27FC236}">
                <a16:creationId xmlns:a16="http://schemas.microsoft.com/office/drawing/2014/main" id="{53924418-7571-4392-B22C-BB82BEB0D446}"/>
              </a:ext>
            </a:extLst>
          </p:cNvPr>
          <p:cNvPicPr/>
          <p:nvPr/>
        </p:nvPicPr>
        <p:blipFill>
          <a:blip r:embed="rId5"/>
          <a:stretch>
            <a:fillRect/>
          </a:stretch>
        </p:blipFill>
        <p:spPr>
          <a:xfrm>
            <a:off x="766187" y="927036"/>
            <a:ext cx="577850" cy="241300"/>
          </a:xfrm>
          <a:prstGeom prst="rect">
            <a:avLst/>
          </a:prstGeom>
        </p:spPr>
      </p:pic>
    </p:spTree>
    <p:extLst>
      <p:ext uri="{BB962C8B-B14F-4D97-AF65-F5344CB8AC3E}">
        <p14:creationId xmlns:p14="http://schemas.microsoft.com/office/powerpoint/2010/main" val="88577694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5" end="5"/>
                                            </p:txEl>
                                          </p:spTgt>
                                        </p:tgtEl>
                                        <p:attrNameLst>
                                          <p:attrName>style.visibility</p:attrName>
                                        </p:attrNameLst>
                                      </p:cBhvr>
                                      <p:to>
                                        <p:strVal val="visible"/>
                                      </p:to>
                                    </p:set>
                                    <p:animEffect transition="in" filter="fade">
                                      <p:cBhvr>
                                        <p:cTn id="7" dur="1000"/>
                                        <p:tgtEl>
                                          <p:spTgt spid="8">
                                            <p:txEl>
                                              <p:pRg st="5" end="5"/>
                                            </p:txEl>
                                          </p:spTgt>
                                        </p:tgtEl>
                                      </p:cBhvr>
                                    </p:animEffect>
                                    <p:anim calcmode="lin" valueType="num">
                                      <p:cBhvr>
                                        <p:cTn id="8" dur="1000" fill="hold"/>
                                        <p:tgtEl>
                                          <p:spTgt spid="8">
                                            <p:txEl>
                                              <p:pRg st="5" end="5"/>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5" end="5"/>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8">
                                            <p:txEl>
                                              <p:pRg st="6" end="6"/>
                                            </p:txEl>
                                          </p:spTgt>
                                        </p:tgtEl>
                                        <p:attrNameLst>
                                          <p:attrName>style.visibility</p:attrName>
                                        </p:attrNameLst>
                                      </p:cBhvr>
                                      <p:to>
                                        <p:strVal val="visible"/>
                                      </p:to>
                                    </p:set>
                                    <p:animEffect transition="in" filter="fade">
                                      <p:cBhvr>
                                        <p:cTn id="12" dur="1000"/>
                                        <p:tgtEl>
                                          <p:spTgt spid="8">
                                            <p:txEl>
                                              <p:pRg st="6" end="6"/>
                                            </p:txEl>
                                          </p:spTgt>
                                        </p:tgtEl>
                                      </p:cBhvr>
                                    </p:animEffect>
                                    <p:anim calcmode="lin" valueType="num">
                                      <p:cBhvr>
                                        <p:cTn id="13" dur="1000" fill="hold"/>
                                        <p:tgtEl>
                                          <p:spTgt spid="8">
                                            <p:txEl>
                                              <p:pRg st="6" end="6"/>
                                            </p:txEl>
                                          </p:spTgt>
                                        </p:tgtEl>
                                        <p:attrNameLst>
                                          <p:attrName>ppt_x</p:attrName>
                                        </p:attrNameLst>
                                      </p:cBhvr>
                                      <p:tavLst>
                                        <p:tav tm="0">
                                          <p:val>
                                            <p:strVal val="#ppt_x"/>
                                          </p:val>
                                        </p:tav>
                                        <p:tav tm="100000">
                                          <p:val>
                                            <p:strVal val="#ppt_x"/>
                                          </p:val>
                                        </p:tav>
                                      </p:tavLst>
                                    </p:anim>
                                    <p:anim calcmode="lin" valueType="num">
                                      <p:cBhvr>
                                        <p:cTn id="14" dur="1000" fill="hold"/>
                                        <p:tgtEl>
                                          <p:spTgt spid="8">
                                            <p:txEl>
                                              <p:pRg st="6" end="6"/>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8">
                                            <p:txEl>
                                              <p:pRg st="7" end="7"/>
                                            </p:txEl>
                                          </p:spTgt>
                                        </p:tgtEl>
                                        <p:attrNameLst>
                                          <p:attrName>style.visibility</p:attrName>
                                        </p:attrNameLst>
                                      </p:cBhvr>
                                      <p:to>
                                        <p:strVal val="visible"/>
                                      </p:to>
                                    </p:set>
                                    <p:animEffect transition="in" filter="fade">
                                      <p:cBhvr>
                                        <p:cTn id="17" dur="1000"/>
                                        <p:tgtEl>
                                          <p:spTgt spid="8">
                                            <p:txEl>
                                              <p:pRg st="7" end="7"/>
                                            </p:txEl>
                                          </p:spTgt>
                                        </p:tgtEl>
                                      </p:cBhvr>
                                    </p:animEffect>
                                    <p:anim calcmode="lin" valueType="num">
                                      <p:cBhvr>
                                        <p:cTn id="18" dur="1000" fill="hold"/>
                                        <p:tgtEl>
                                          <p:spTgt spid="8">
                                            <p:txEl>
                                              <p:pRg st="7" end="7"/>
                                            </p:txEl>
                                          </p:spTgt>
                                        </p:tgtEl>
                                        <p:attrNameLst>
                                          <p:attrName>ppt_x</p:attrName>
                                        </p:attrNameLst>
                                      </p:cBhvr>
                                      <p:tavLst>
                                        <p:tav tm="0">
                                          <p:val>
                                            <p:strVal val="#ppt_x"/>
                                          </p:val>
                                        </p:tav>
                                        <p:tav tm="100000">
                                          <p:val>
                                            <p:strVal val="#ppt_x"/>
                                          </p:val>
                                        </p:tav>
                                      </p:tavLst>
                                    </p:anim>
                                    <p:anim calcmode="lin" valueType="num">
                                      <p:cBhvr>
                                        <p:cTn id="19" dur="1000" fill="hold"/>
                                        <p:tgtEl>
                                          <p:spTgt spid="8">
                                            <p:txEl>
                                              <p:pRg st="7" end="7"/>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8">
                                            <p:txEl>
                                              <p:pRg st="8" end="8"/>
                                            </p:txEl>
                                          </p:spTgt>
                                        </p:tgtEl>
                                        <p:attrNameLst>
                                          <p:attrName>style.visibility</p:attrName>
                                        </p:attrNameLst>
                                      </p:cBhvr>
                                      <p:to>
                                        <p:strVal val="visible"/>
                                      </p:to>
                                    </p:set>
                                    <p:animEffect transition="in" filter="fade">
                                      <p:cBhvr>
                                        <p:cTn id="22" dur="1000"/>
                                        <p:tgtEl>
                                          <p:spTgt spid="8">
                                            <p:txEl>
                                              <p:pRg st="8" end="8"/>
                                            </p:txEl>
                                          </p:spTgt>
                                        </p:tgtEl>
                                      </p:cBhvr>
                                    </p:animEffect>
                                    <p:anim calcmode="lin" valueType="num">
                                      <p:cBhvr>
                                        <p:cTn id="23" dur="1000" fill="hold"/>
                                        <p:tgtEl>
                                          <p:spTgt spid="8">
                                            <p:txEl>
                                              <p:pRg st="8" end="8"/>
                                            </p:txEl>
                                          </p:spTgt>
                                        </p:tgtEl>
                                        <p:attrNameLst>
                                          <p:attrName>ppt_x</p:attrName>
                                        </p:attrNameLst>
                                      </p:cBhvr>
                                      <p:tavLst>
                                        <p:tav tm="0">
                                          <p:val>
                                            <p:strVal val="#ppt_x"/>
                                          </p:val>
                                        </p:tav>
                                        <p:tav tm="100000">
                                          <p:val>
                                            <p:strVal val="#ppt_x"/>
                                          </p:val>
                                        </p:tav>
                                      </p:tavLst>
                                    </p:anim>
                                    <p:anim calcmode="lin" valueType="num">
                                      <p:cBhvr>
                                        <p:cTn id="24" dur="1000" fill="hold"/>
                                        <p:tgtEl>
                                          <p:spTgt spid="8">
                                            <p:txEl>
                                              <p:pRg st="8" end="8"/>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8">
                                            <p:txEl>
                                              <p:pRg st="9" end="9"/>
                                            </p:txEl>
                                          </p:spTgt>
                                        </p:tgtEl>
                                        <p:attrNameLst>
                                          <p:attrName>style.visibility</p:attrName>
                                        </p:attrNameLst>
                                      </p:cBhvr>
                                      <p:to>
                                        <p:strVal val="visible"/>
                                      </p:to>
                                    </p:set>
                                    <p:animEffect transition="in" filter="fade">
                                      <p:cBhvr>
                                        <p:cTn id="27" dur="1000"/>
                                        <p:tgtEl>
                                          <p:spTgt spid="8">
                                            <p:txEl>
                                              <p:pRg st="9" end="9"/>
                                            </p:txEl>
                                          </p:spTgt>
                                        </p:tgtEl>
                                      </p:cBhvr>
                                    </p:animEffect>
                                    <p:anim calcmode="lin" valueType="num">
                                      <p:cBhvr>
                                        <p:cTn id="28" dur="1000" fill="hold"/>
                                        <p:tgtEl>
                                          <p:spTgt spid="8">
                                            <p:txEl>
                                              <p:pRg st="9" end="9"/>
                                            </p:txEl>
                                          </p:spTgt>
                                        </p:tgtEl>
                                        <p:attrNameLst>
                                          <p:attrName>ppt_x</p:attrName>
                                        </p:attrNameLst>
                                      </p:cBhvr>
                                      <p:tavLst>
                                        <p:tav tm="0">
                                          <p:val>
                                            <p:strVal val="#ppt_x"/>
                                          </p:val>
                                        </p:tav>
                                        <p:tav tm="100000">
                                          <p:val>
                                            <p:strVal val="#ppt_x"/>
                                          </p:val>
                                        </p:tav>
                                      </p:tavLst>
                                    </p:anim>
                                    <p:anim calcmode="lin" valueType="num">
                                      <p:cBhvr>
                                        <p:cTn id="29" dur="1000" fill="hold"/>
                                        <p:tgtEl>
                                          <p:spTgt spid="8">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nodeType="clickEffect">
                                  <p:stCondLst>
                                    <p:cond delay="0"/>
                                  </p:stCondLst>
                                  <p:childTnLst>
                                    <p:set>
                                      <p:cBhvr>
                                        <p:cTn id="33" dur="1" fill="hold">
                                          <p:stCondLst>
                                            <p:cond delay="0"/>
                                          </p:stCondLst>
                                        </p:cTn>
                                        <p:tgtEl>
                                          <p:spTgt spid="8">
                                            <p:txEl>
                                              <p:pRg st="10" end="10"/>
                                            </p:txEl>
                                          </p:spTgt>
                                        </p:tgtEl>
                                        <p:attrNameLst>
                                          <p:attrName>style.visibility</p:attrName>
                                        </p:attrNameLst>
                                      </p:cBhvr>
                                      <p:to>
                                        <p:strVal val="visible"/>
                                      </p:to>
                                    </p:set>
                                    <p:animEffect transition="in" filter="fade">
                                      <p:cBhvr>
                                        <p:cTn id="34" dur="1000"/>
                                        <p:tgtEl>
                                          <p:spTgt spid="8">
                                            <p:txEl>
                                              <p:pRg st="10" end="10"/>
                                            </p:txEl>
                                          </p:spTgt>
                                        </p:tgtEl>
                                      </p:cBhvr>
                                    </p:animEffect>
                                    <p:anim calcmode="lin" valueType="num">
                                      <p:cBhvr>
                                        <p:cTn id="35" dur="1000" fill="hold"/>
                                        <p:tgtEl>
                                          <p:spTgt spid="8">
                                            <p:txEl>
                                              <p:pRg st="10" end="10"/>
                                            </p:txEl>
                                          </p:spTgt>
                                        </p:tgtEl>
                                        <p:attrNameLst>
                                          <p:attrName>ppt_x</p:attrName>
                                        </p:attrNameLst>
                                      </p:cBhvr>
                                      <p:tavLst>
                                        <p:tav tm="0">
                                          <p:val>
                                            <p:strVal val="#ppt_x"/>
                                          </p:val>
                                        </p:tav>
                                        <p:tav tm="100000">
                                          <p:val>
                                            <p:strVal val="#ppt_x"/>
                                          </p:val>
                                        </p:tav>
                                      </p:tavLst>
                                    </p:anim>
                                    <p:anim calcmode="lin" valueType="num">
                                      <p:cBhvr>
                                        <p:cTn id="36" dur="1000" fill="hold"/>
                                        <p:tgtEl>
                                          <p:spTgt spid="8">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nodeType="clickEffect">
                                  <p:stCondLst>
                                    <p:cond delay="0"/>
                                  </p:stCondLst>
                                  <p:childTnLst>
                                    <p:set>
                                      <p:cBhvr>
                                        <p:cTn id="40" dur="1" fill="hold">
                                          <p:stCondLst>
                                            <p:cond delay="0"/>
                                          </p:stCondLst>
                                        </p:cTn>
                                        <p:tgtEl>
                                          <p:spTgt spid="8">
                                            <p:txEl>
                                              <p:pRg st="11" end="11"/>
                                            </p:txEl>
                                          </p:spTgt>
                                        </p:tgtEl>
                                        <p:attrNameLst>
                                          <p:attrName>style.visibility</p:attrName>
                                        </p:attrNameLst>
                                      </p:cBhvr>
                                      <p:to>
                                        <p:strVal val="visible"/>
                                      </p:to>
                                    </p:set>
                                    <p:animEffect transition="in" filter="fade">
                                      <p:cBhvr>
                                        <p:cTn id="41" dur="1000"/>
                                        <p:tgtEl>
                                          <p:spTgt spid="8">
                                            <p:txEl>
                                              <p:pRg st="11" end="11"/>
                                            </p:txEl>
                                          </p:spTgt>
                                        </p:tgtEl>
                                      </p:cBhvr>
                                    </p:animEffect>
                                    <p:anim calcmode="lin" valueType="num">
                                      <p:cBhvr>
                                        <p:cTn id="42" dur="1000" fill="hold"/>
                                        <p:tgtEl>
                                          <p:spTgt spid="8">
                                            <p:txEl>
                                              <p:pRg st="11" end="11"/>
                                            </p:txEl>
                                          </p:spTgt>
                                        </p:tgtEl>
                                        <p:attrNameLst>
                                          <p:attrName>ppt_x</p:attrName>
                                        </p:attrNameLst>
                                      </p:cBhvr>
                                      <p:tavLst>
                                        <p:tav tm="0">
                                          <p:val>
                                            <p:strVal val="#ppt_x"/>
                                          </p:val>
                                        </p:tav>
                                        <p:tav tm="100000">
                                          <p:val>
                                            <p:strVal val="#ppt_x"/>
                                          </p:val>
                                        </p:tav>
                                      </p:tavLst>
                                    </p:anim>
                                    <p:anim calcmode="lin" valueType="num">
                                      <p:cBhvr>
                                        <p:cTn id="43" dur="1000" fill="hold"/>
                                        <p:tgtEl>
                                          <p:spTgt spid="8">
                                            <p:txEl>
                                              <p:pRg st="11" end="11"/>
                                            </p:txEl>
                                          </p:spTgt>
                                        </p:tgtEl>
                                        <p:attrNameLst>
                                          <p:attrName>ppt_y</p:attrName>
                                        </p:attrNameLst>
                                      </p:cBhvr>
                                      <p:tavLst>
                                        <p:tav tm="0">
                                          <p:val>
                                            <p:strVal val="#ppt_y+.1"/>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42" presetClass="entr" presetSubtype="0" fill="hold" nodeType="clickEffect">
                                  <p:stCondLst>
                                    <p:cond delay="0"/>
                                  </p:stCondLst>
                                  <p:childTnLst>
                                    <p:set>
                                      <p:cBhvr>
                                        <p:cTn id="47" dur="1" fill="hold">
                                          <p:stCondLst>
                                            <p:cond delay="0"/>
                                          </p:stCondLst>
                                        </p:cTn>
                                        <p:tgtEl>
                                          <p:spTgt spid="8">
                                            <p:txEl>
                                              <p:pRg st="12" end="12"/>
                                            </p:txEl>
                                          </p:spTgt>
                                        </p:tgtEl>
                                        <p:attrNameLst>
                                          <p:attrName>style.visibility</p:attrName>
                                        </p:attrNameLst>
                                      </p:cBhvr>
                                      <p:to>
                                        <p:strVal val="visible"/>
                                      </p:to>
                                    </p:set>
                                    <p:animEffect transition="in" filter="fade">
                                      <p:cBhvr>
                                        <p:cTn id="48" dur="1000"/>
                                        <p:tgtEl>
                                          <p:spTgt spid="8">
                                            <p:txEl>
                                              <p:pRg st="12" end="12"/>
                                            </p:txEl>
                                          </p:spTgt>
                                        </p:tgtEl>
                                      </p:cBhvr>
                                    </p:animEffect>
                                    <p:anim calcmode="lin" valueType="num">
                                      <p:cBhvr>
                                        <p:cTn id="49" dur="1000" fill="hold"/>
                                        <p:tgtEl>
                                          <p:spTgt spid="8">
                                            <p:txEl>
                                              <p:pRg st="12" end="12"/>
                                            </p:txEl>
                                          </p:spTgt>
                                        </p:tgtEl>
                                        <p:attrNameLst>
                                          <p:attrName>ppt_x</p:attrName>
                                        </p:attrNameLst>
                                      </p:cBhvr>
                                      <p:tavLst>
                                        <p:tav tm="0">
                                          <p:val>
                                            <p:strVal val="#ppt_x"/>
                                          </p:val>
                                        </p:tav>
                                        <p:tav tm="100000">
                                          <p:val>
                                            <p:strVal val="#ppt_x"/>
                                          </p:val>
                                        </p:tav>
                                      </p:tavLst>
                                    </p:anim>
                                    <p:anim calcmode="lin" valueType="num">
                                      <p:cBhvr>
                                        <p:cTn id="50" dur="1000" fill="hold"/>
                                        <p:tgtEl>
                                          <p:spTgt spid="8">
                                            <p:txEl>
                                              <p:pRg st="12" end="12"/>
                                            </p:txEl>
                                          </p:spTgt>
                                        </p:tgtEl>
                                        <p:attrNameLst>
                                          <p:attrName>ppt_y</p:attrName>
                                        </p:attrNameLst>
                                      </p:cBhvr>
                                      <p:tavLst>
                                        <p:tav tm="0">
                                          <p:val>
                                            <p:strVal val="#ppt_y+.1"/>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42" presetClass="entr" presetSubtype="0" fill="hold" nodeType="clickEffect">
                                  <p:stCondLst>
                                    <p:cond delay="0"/>
                                  </p:stCondLst>
                                  <p:childTnLst>
                                    <p:set>
                                      <p:cBhvr>
                                        <p:cTn id="54" dur="1" fill="hold">
                                          <p:stCondLst>
                                            <p:cond delay="0"/>
                                          </p:stCondLst>
                                        </p:cTn>
                                        <p:tgtEl>
                                          <p:spTgt spid="8">
                                            <p:txEl>
                                              <p:pRg st="13" end="13"/>
                                            </p:txEl>
                                          </p:spTgt>
                                        </p:tgtEl>
                                        <p:attrNameLst>
                                          <p:attrName>style.visibility</p:attrName>
                                        </p:attrNameLst>
                                      </p:cBhvr>
                                      <p:to>
                                        <p:strVal val="visible"/>
                                      </p:to>
                                    </p:set>
                                    <p:animEffect transition="in" filter="fade">
                                      <p:cBhvr>
                                        <p:cTn id="55" dur="1000"/>
                                        <p:tgtEl>
                                          <p:spTgt spid="8">
                                            <p:txEl>
                                              <p:pRg st="13" end="13"/>
                                            </p:txEl>
                                          </p:spTgt>
                                        </p:tgtEl>
                                      </p:cBhvr>
                                    </p:animEffect>
                                    <p:anim calcmode="lin" valueType="num">
                                      <p:cBhvr>
                                        <p:cTn id="56" dur="1000" fill="hold"/>
                                        <p:tgtEl>
                                          <p:spTgt spid="8">
                                            <p:txEl>
                                              <p:pRg st="13" end="13"/>
                                            </p:txEl>
                                          </p:spTgt>
                                        </p:tgtEl>
                                        <p:attrNameLst>
                                          <p:attrName>ppt_x</p:attrName>
                                        </p:attrNameLst>
                                      </p:cBhvr>
                                      <p:tavLst>
                                        <p:tav tm="0">
                                          <p:val>
                                            <p:strVal val="#ppt_x"/>
                                          </p:val>
                                        </p:tav>
                                        <p:tav tm="100000">
                                          <p:val>
                                            <p:strVal val="#ppt_x"/>
                                          </p:val>
                                        </p:tav>
                                      </p:tavLst>
                                    </p:anim>
                                    <p:anim calcmode="lin" valueType="num">
                                      <p:cBhvr>
                                        <p:cTn id="57" dur="1000" fill="hold"/>
                                        <p:tgtEl>
                                          <p:spTgt spid="8">
                                            <p:txEl>
                                              <p:pRg st="13" end="1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spcBef>
                <a:spcPts val="600"/>
              </a:spcBef>
              <a:buClr>
                <a:srgbClr val="0B61FF"/>
              </a:buClr>
              <a:buSzPct val="80000"/>
            </a:pPr>
            <a:r>
              <a:rPr lang="en-US" altLang="zh-CN" sz="2000" b="1" dirty="0">
                <a:effectLst/>
                <a:latin typeface="Cambria Math" panose="02040503050406030204" pitchFamily="18" charset="0"/>
                <a:ea typeface="Cambria Math" panose="02040503050406030204" pitchFamily="18" charset="0"/>
                <a:cs typeface="Times New Roman" panose="02020603050405020304" pitchFamily="18" charset="0"/>
              </a:rPr>
              <a:t>                  </a:t>
            </a:r>
            <a:r>
              <a:rPr lang="en-US" altLang="zh-CN" sz="2000" b="1" dirty="0">
                <a:solidFill>
                  <a:schemeClr val="bg1"/>
                </a:solidFill>
                <a:latin typeface="Trebuchet MS" panose="020B0603020202020204" pitchFamily="34" charset="0"/>
              </a:rPr>
              <a:t>3.1.3 Symbolization of First-Order Logic</a:t>
            </a:r>
          </a:p>
          <a:p>
            <a:pPr>
              <a:spcBef>
                <a:spcPts val="600"/>
              </a:spcBef>
              <a:buClr>
                <a:srgbClr val="0B61FF"/>
              </a:buClr>
              <a:buSzPct val="80000"/>
            </a:pPr>
            <a:r>
              <a:rPr lang="en-US" altLang="zh-CN" sz="1800" dirty="0">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2400" b="1" dirty="0">
                <a:solidFill>
                  <a:schemeClr val="bg1"/>
                </a:solidFill>
                <a:latin typeface="Trebuchet MS" panose="020B0603020202020204" pitchFamily="34" charset="0"/>
              </a:rPr>
              <a:t>Notices</a:t>
            </a:r>
            <a:endParaRPr lang="zh-CN" altLang="en-US" sz="2400" b="1" dirty="0">
              <a:solidFill>
                <a:schemeClr val="bg1"/>
              </a:solidFill>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754590" y="714373"/>
            <a:ext cx="9602561" cy="578802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lnSpc>
                <a:spcPct val="110000"/>
              </a:lnSpc>
              <a:spcBef>
                <a:spcPts val="300"/>
              </a:spcBef>
              <a:buClr>
                <a:srgbClr val="0B61FF"/>
              </a:buClr>
              <a:buSzPct val="80000"/>
              <a:buFont typeface="Wingdings" panose="05000000000000000000" pitchFamily="2" charset="2"/>
              <a:buChar char="n"/>
            </a:pPr>
            <a:r>
              <a:rPr lang="en-US" sz="2400" i="0" dirty="0">
                <a:solidFill>
                  <a:srgbClr val="0C0D0E"/>
                </a:solidFill>
                <a:effectLst/>
                <a:latin typeface="Trebuchet MS" panose="020B0603020202020204" pitchFamily="34" charset="0"/>
              </a:rPr>
              <a:t>The use of </a:t>
            </a:r>
            <a:r>
              <a:rPr lang="en-US" sz="2400" b="1" dirty="0">
                <a:solidFill>
                  <a:srgbClr val="0C0D0E"/>
                </a:solidFill>
                <a:effectLst/>
                <a:latin typeface="Trebuchet MS" panose="020B0603020202020204" pitchFamily="34" charset="0"/>
              </a:rPr>
              <a:t>unary</a:t>
            </a:r>
            <a:r>
              <a:rPr lang="en-US" sz="2400" i="0" dirty="0">
                <a:solidFill>
                  <a:srgbClr val="0C0D0E"/>
                </a:solidFill>
                <a:effectLst/>
                <a:latin typeface="Trebuchet MS" panose="020B0603020202020204" pitchFamily="34" charset="0"/>
              </a:rPr>
              <a:t> and </a:t>
            </a:r>
            <a:r>
              <a:rPr lang="en-US" sz="2400" b="1" i="1" dirty="0">
                <a:solidFill>
                  <a:srgbClr val="0C0D0E"/>
                </a:solidFill>
                <a:effectLst/>
                <a:latin typeface="Trebuchet MS" panose="020B0603020202020204" pitchFamily="34" charset="0"/>
              </a:rPr>
              <a:t>n</a:t>
            </a:r>
            <a:r>
              <a:rPr lang="en-US" sz="2400" b="1" dirty="0">
                <a:solidFill>
                  <a:srgbClr val="0C0D0E"/>
                </a:solidFill>
                <a:effectLst/>
                <a:latin typeface="Trebuchet MS" panose="020B0603020202020204" pitchFamily="34" charset="0"/>
              </a:rPr>
              <a:t>-ary</a:t>
            </a:r>
            <a:r>
              <a:rPr lang="en-US" sz="2400" i="0" dirty="0">
                <a:solidFill>
                  <a:srgbClr val="0C0D0E"/>
                </a:solidFill>
                <a:effectLst/>
                <a:latin typeface="Trebuchet MS" panose="020B0603020202020204" pitchFamily="34" charset="0"/>
              </a:rPr>
              <a:t> predicates</a:t>
            </a:r>
            <a:r>
              <a:rPr lang="en-US" sz="2400" dirty="0">
                <a:solidFill>
                  <a:srgbClr val="0C0D0E"/>
                </a:solidFill>
                <a:latin typeface="Trebuchet MS" panose="020B0603020202020204" pitchFamily="34" charset="0"/>
              </a:rPr>
              <a:t>.</a:t>
            </a:r>
            <a:endParaRPr lang="en-US" sz="2400" i="0" dirty="0">
              <a:solidFill>
                <a:srgbClr val="0C0D0E"/>
              </a:solidFill>
              <a:effectLst/>
              <a:latin typeface="Trebuchet MS" panose="020B0603020202020204" pitchFamily="34" charset="0"/>
            </a:endParaRPr>
          </a:p>
          <a:p>
            <a:pPr algn="l">
              <a:lnSpc>
                <a:spcPct val="110000"/>
              </a:lnSpc>
              <a:spcBef>
                <a:spcPts val="300"/>
              </a:spcBef>
              <a:buClr>
                <a:srgbClr val="0B61FF"/>
              </a:buClr>
              <a:buSzPct val="80000"/>
              <a:buFont typeface="Wingdings" panose="05000000000000000000" pitchFamily="2" charset="2"/>
              <a:buChar char="n"/>
            </a:pPr>
            <a:r>
              <a:rPr lang="en-US" sz="2400" i="0" dirty="0">
                <a:solidFill>
                  <a:srgbClr val="0C0D0E"/>
                </a:solidFill>
                <a:effectLst/>
                <a:latin typeface="Trebuchet MS" panose="020B0603020202020204" pitchFamily="34" charset="0"/>
              </a:rPr>
              <a:t>The </a:t>
            </a:r>
            <a:r>
              <a:rPr lang="en-US" sz="2400" b="1" i="0" dirty="0">
                <a:solidFill>
                  <a:srgbClr val="0C0D0E"/>
                </a:solidFill>
                <a:effectLst/>
                <a:latin typeface="Trebuchet MS" panose="020B0603020202020204" pitchFamily="34" charset="0"/>
              </a:rPr>
              <a:t>distinction</a:t>
            </a:r>
            <a:r>
              <a:rPr lang="en-US" sz="2400" i="0" dirty="0">
                <a:solidFill>
                  <a:srgbClr val="0C0D0E"/>
                </a:solidFill>
                <a:effectLst/>
                <a:latin typeface="Trebuchet MS" panose="020B0603020202020204" pitchFamily="34" charset="0"/>
              </a:rPr>
              <a:t> between universal and </a:t>
            </a:r>
            <a:r>
              <a:rPr lang="en-US" sz="2400" b="1" i="0" dirty="0">
                <a:solidFill>
                  <a:srgbClr val="0C0D0E"/>
                </a:solidFill>
                <a:effectLst/>
                <a:latin typeface="Trebuchet MS" panose="020B0603020202020204" pitchFamily="34" charset="0"/>
              </a:rPr>
              <a:t>existentia</a:t>
            </a:r>
            <a:r>
              <a:rPr lang="en-US" sz="2400" i="0" dirty="0">
                <a:solidFill>
                  <a:srgbClr val="0C0D0E"/>
                </a:solidFill>
                <a:effectLst/>
                <a:latin typeface="Trebuchet MS" panose="020B0603020202020204" pitchFamily="34" charset="0"/>
              </a:rPr>
              <a:t>l quantifiers.</a:t>
            </a:r>
          </a:p>
          <a:p>
            <a:pPr algn="l">
              <a:lnSpc>
                <a:spcPct val="110000"/>
              </a:lnSpc>
              <a:spcBef>
                <a:spcPts val="300"/>
              </a:spcBef>
              <a:buClr>
                <a:srgbClr val="0B61FF"/>
              </a:buClr>
              <a:buSzPct val="80000"/>
              <a:buFont typeface="Wingdings" panose="05000000000000000000" pitchFamily="2" charset="2"/>
              <a:buChar char="n"/>
            </a:pPr>
            <a:r>
              <a:rPr lang="en-US" sz="2400" i="0" dirty="0">
                <a:solidFill>
                  <a:srgbClr val="0C0D0E"/>
                </a:solidFill>
                <a:effectLst/>
                <a:latin typeface="Trebuchet MS" panose="020B0603020202020204" pitchFamily="34" charset="0"/>
              </a:rPr>
              <a:t>When multiple quantifiers appear, their </a:t>
            </a:r>
            <a:r>
              <a:rPr lang="en-US" sz="2400" b="1" i="0" dirty="0">
                <a:solidFill>
                  <a:srgbClr val="0C0D0E"/>
                </a:solidFill>
                <a:effectLst/>
                <a:latin typeface="Trebuchet MS" panose="020B0603020202020204" pitchFamily="34" charset="0"/>
              </a:rPr>
              <a:t>order</a:t>
            </a:r>
            <a:r>
              <a:rPr lang="en-US" sz="2400" i="0" dirty="0">
                <a:solidFill>
                  <a:srgbClr val="0C0D0E"/>
                </a:solidFill>
                <a:effectLst/>
                <a:latin typeface="Trebuchet MS" panose="020B0603020202020204" pitchFamily="34" charset="0"/>
              </a:rPr>
              <a:t> cannot be arbitrarily swapped. </a:t>
            </a:r>
          </a:p>
          <a:p>
            <a:pPr marL="0" indent="0" algn="l">
              <a:lnSpc>
                <a:spcPct val="110000"/>
              </a:lnSpc>
              <a:spcBef>
                <a:spcPts val="300"/>
              </a:spcBef>
              <a:buNone/>
            </a:pPr>
            <a:r>
              <a:rPr lang="en-US" sz="2400" b="1" dirty="0">
                <a:solidFill>
                  <a:srgbClr val="0C0D0E"/>
                </a:solidFill>
                <a:effectLst/>
                <a:latin typeface="Trebuchet MS" panose="020B0603020202020204" pitchFamily="34" charset="0"/>
              </a:rPr>
              <a:t>   Such as: </a:t>
            </a:r>
            <a:r>
              <a:rPr lang="en-US" sz="2400" dirty="0">
                <a:solidFill>
                  <a:srgbClr val="0C0D0E"/>
                </a:solidFill>
                <a:effectLst/>
                <a:latin typeface="Trebuchet MS" panose="020B0603020202020204" pitchFamily="34" charset="0"/>
              </a:rPr>
              <a:t>in the domain of real numbers </a:t>
            </a:r>
            <a:r>
              <a:rPr lang="en-US" sz="2400" b="1" i="1" dirty="0">
                <a:solidFill>
                  <a:srgbClr val="0C0D0E"/>
                </a:solidFill>
                <a:effectLst/>
                <a:latin typeface="Trebuchet MS" panose="020B0603020202020204" pitchFamily="34" charset="0"/>
              </a:rPr>
              <a:t>R</a:t>
            </a:r>
            <a:r>
              <a:rPr lang="en-US" sz="2400" b="0" i="1" dirty="0">
                <a:solidFill>
                  <a:srgbClr val="0C0D0E"/>
                </a:solidFill>
                <a:effectLst/>
                <a:latin typeface="Trebuchet MS" panose="020B0603020202020204" pitchFamily="34" charset="0"/>
              </a:rPr>
              <a:t>, </a:t>
            </a:r>
            <a:r>
              <a:rPr lang="en-US" sz="2400" b="1" dirty="0">
                <a:solidFill>
                  <a:srgbClr val="0C0D0E"/>
                </a:solidFill>
                <a:effectLst/>
                <a:latin typeface="Trebuchet MS" panose="020B0603020202020204" pitchFamily="34" charset="0"/>
              </a:rPr>
              <a:t>let</a:t>
            </a:r>
            <a:r>
              <a:rPr lang="en-US" sz="2400" b="0" i="1" dirty="0">
                <a:solidFill>
                  <a:srgbClr val="0C0D0E"/>
                </a:solidFill>
                <a:effectLst/>
                <a:latin typeface="Trebuchet MS" panose="020B0603020202020204" pitchFamily="34" charset="0"/>
              </a:rPr>
              <a:t> </a:t>
            </a:r>
            <a:r>
              <a:rPr lang="en-US" sz="2400" b="1" i="1" dirty="0">
                <a:solidFill>
                  <a:srgbClr val="0C0D0E"/>
                </a:solidFill>
                <a:effectLst/>
                <a:latin typeface="Trebuchet MS" panose="020B0603020202020204" pitchFamily="34" charset="0"/>
              </a:rPr>
              <a:t>H</a:t>
            </a:r>
            <a:r>
              <a:rPr lang="en-US" sz="2400" b="1" dirty="0">
                <a:solidFill>
                  <a:srgbClr val="0C0D0E"/>
                </a:solidFill>
                <a:effectLst/>
                <a:latin typeface="Trebuchet MS" panose="020B0603020202020204" pitchFamily="34" charset="0"/>
              </a:rPr>
              <a:t>(</a:t>
            </a:r>
            <a:r>
              <a:rPr lang="en-US" sz="2400" b="1" i="1" dirty="0">
                <a:solidFill>
                  <a:srgbClr val="0C0D0E"/>
                </a:solidFill>
                <a:effectLst/>
                <a:latin typeface="Trebuchet MS" panose="020B0603020202020204" pitchFamily="34" charset="0"/>
              </a:rPr>
              <a:t>x,y</a:t>
            </a:r>
            <a:r>
              <a:rPr lang="en-US" sz="2400" b="0" dirty="0">
                <a:solidFill>
                  <a:srgbClr val="0C0D0E"/>
                </a:solidFill>
                <a:effectLst/>
                <a:latin typeface="Trebuchet MS" panose="020B0603020202020204" pitchFamily="34" charset="0"/>
              </a:rPr>
              <a:t>)</a:t>
            </a:r>
            <a:r>
              <a:rPr lang="en-US" sz="2400" b="0" i="1" dirty="0">
                <a:solidFill>
                  <a:srgbClr val="0C0D0E"/>
                </a:solidFill>
                <a:effectLst/>
                <a:latin typeface="Trebuchet MS" panose="020B0603020202020204" pitchFamily="34" charset="0"/>
              </a:rPr>
              <a:t>: </a:t>
            </a:r>
            <a:r>
              <a:rPr lang="en-US" sz="2400" b="1" i="1" dirty="0">
                <a:solidFill>
                  <a:srgbClr val="0C0D0E"/>
                </a:solidFill>
                <a:effectLst/>
                <a:latin typeface="Trebuchet MS" panose="020B0603020202020204" pitchFamily="34" charset="0"/>
              </a:rPr>
              <a:t>x+y=</a:t>
            </a:r>
            <a:r>
              <a:rPr lang="en-US" sz="2400" b="1" dirty="0">
                <a:solidFill>
                  <a:srgbClr val="0C0D0E"/>
                </a:solidFill>
                <a:effectLst/>
                <a:latin typeface="Trebuchet MS" panose="020B0603020202020204" pitchFamily="34" charset="0"/>
              </a:rPr>
              <a:t>1</a:t>
            </a:r>
            <a:r>
              <a:rPr lang="en-US" sz="2400" b="0" dirty="0">
                <a:solidFill>
                  <a:srgbClr val="0C0D0E"/>
                </a:solidFill>
                <a:effectLst/>
                <a:latin typeface="Trebuchet MS" panose="020B0603020202020204" pitchFamily="34" charset="0"/>
              </a:rPr>
              <a:t>0</a:t>
            </a:r>
          </a:p>
          <a:p>
            <a:pPr marL="533400" lvl="1" indent="-261938" algn="l">
              <a:lnSpc>
                <a:spcPct val="110000"/>
              </a:lnSpc>
              <a:spcBef>
                <a:spcPts val="300"/>
              </a:spcBef>
              <a:buClr>
                <a:srgbClr val="0B61FF"/>
              </a:buClr>
              <a:buSzPct val="120000"/>
            </a:pPr>
            <a:r>
              <a:rPr lang="en-US" b="1" i="0" dirty="0">
                <a:solidFill>
                  <a:srgbClr val="0C0D0E"/>
                </a:solidFill>
                <a:effectLst/>
                <a:latin typeface="Trebuchet MS" panose="020B0603020202020204" pitchFamily="34" charset="0"/>
              </a:rPr>
              <a:t>∀</a:t>
            </a:r>
            <a:r>
              <a:rPr lang="en-US" b="1" i="1" dirty="0">
                <a:solidFill>
                  <a:srgbClr val="0C0D0E"/>
                </a:solidFill>
                <a:effectLst/>
                <a:latin typeface="Trebuchet MS" panose="020B0603020202020204" pitchFamily="34" charset="0"/>
              </a:rPr>
              <a:t>x</a:t>
            </a:r>
            <a:r>
              <a:rPr lang="en-US" b="1" i="0" dirty="0">
                <a:solidFill>
                  <a:srgbClr val="0C0D0E"/>
                </a:solidFill>
                <a:effectLst/>
                <a:latin typeface="Trebuchet MS" panose="020B0603020202020204" pitchFamily="34" charset="0"/>
              </a:rPr>
              <a:t>∃</a:t>
            </a:r>
            <a:r>
              <a:rPr lang="en-US" b="1" i="1" dirty="0">
                <a:solidFill>
                  <a:srgbClr val="0C0D0E"/>
                </a:solidFill>
                <a:effectLst/>
                <a:latin typeface="Trebuchet MS" panose="020B0603020202020204" pitchFamily="34" charset="0"/>
              </a:rPr>
              <a:t>yH</a:t>
            </a:r>
            <a:r>
              <a:rPr lang="en-US" b="1" i="0" dirty="0">
                <a:solidFill>
                  <a:srgbClr val="0C0D0E"/>
                </a:solidFill>
                <a:effectLst/>
                <a:latin typeface="Trebuchet MS" panose="020B0603020202020204" pitchFamily="34" charset="0"/>
              </a:rPr>
              <a:t>(</a:t>
            </a:r>
            <a:r>
              <a:rPr lang="en-US" b="1" i="1" dirty="0">
                <a:solidFill>
                  <a:srgbClr val="0C0D0E"/>
                </a:solidFill>
                <a:effectLst/>
                <a:latin typeface="Trebuchet MS" panose="020B0603020202020204" pitchFamily="34" charset="0"/>
              </a:rPr>
              <a:t>x</a:t>
            </a:r>
            <a:r>
              <a:rPr lang="en-US" b="1" i="0" dirty="0">
                <a:solidFill>
                  <a:srgbClr val="0C0D0E"/>
                </a:solidFill>
                <a:effectLst/>
                <a:latin typeface="Trebuchet MS" panose="020B0603020202020204" pitchFamily="34" charset="0"/>
              </a:rPr>
              <a:t>,</a:t>
            </a:r>
            <a:r>
              <a:rPr lang="en-US" b="1" i="1" dirty="0">
                <a:solidFill>
                  <a:srgbClr val="0C0D0E"/>
                </a:solidFill>
                <a:effectLst/>
                <a:latin typeface="Trebuchet MS" panose="020B0603020202020204" pitchFamily="34" charset="0"/>
              </a:rPr>
              <a:t>y</a:t>
            </a:r>
            <a:r>
              <a:rPr lang="en-US" b="1" i="0" dirty="0">
                <a:solidFill>
                  <a:srgbClr val="0C0D0E"/>
                </a:solidFill>
                <a:effectLst/>
                <a:latin typeface="Trebuchet MS" panose="020B0603020202020204" pitchFamily="34" charset="0"/>
              </a:rPr>
              <a:t>) </a:t>
            </a:r>
            <a:r>
              <a:rPr lang="en-US" b="0" i="0" dirty="0">
                <a:solidFill>
                  <a:srgbClr val="0C0D0E"/>
                </a:solidFill>
                <a:effectLst/>
                <a:latin typeface="Trebuchet MS" panose="020B0603020202020204" pitchFamily="34" charset="0"/>
              </a:rPr>
              <a:t>has a truth value of </a:t>
            </a:r>
            <a:r>
              <a:rPr lang="en-US" b="1" i="0" dirty="0">
                <a:solidFill>
                  <a:srgbClr val="0C0D0E"/>
                </a:solidFill>
                <a:effectLst/>
                <a:latin typeface="Trebuchet MS" panose="020B0603020202020204" pitchFamily="34" charset="0"/>
              </a:rPr>
              <a:t>1</a:t>
            </a:r>
          </a:p>
          <a:p>
            <a:pPr marL="533400" lvl="1" indent="-261938" algn="l">
              <a:lnSpc>
                <a:spcPct val="110000"/>
              </a:lnSpc>
              <a:spcBef>
                <a:spcPts val="300"/>
              </a:spcBef>
              <a:buClr>
                <a:srgbClr val="0B61FF"/>
              </a:buClr>
              <a:buSzPct val="120000"/>
            </a:pPr>
            <a:r>
              <a:rPr lang="en-US" b="1" i="0" dirty="0">
                <a:solidFill>
                  <a:srgbClr val="0C0D0E"/>
                </a:solidFill>
                <a:effectLst/>
                <a:latin typeface="Trebuchet MS" panose="020B0603020202020204" pitchFamily="34" charset="0"/>
              </a:rPr>
              <a:t>∃</a:t>
            </a:r>
            <a:r>
              <a:rPr lang="en-US" b="1" i="1" dirty="0">
                <a:solidFill>
                  <a:srgbClr val="0C0D0E"/>
                </a:solidFill>
                <a:effectLst/>
                <a:latin typeface="Trebuchet MS" panose="020B0603020202020204" pitchFamily="34" charset="0"/>
              </a:rPr>
              <a:t>y</a:t>
            </a:r>
            <a:r>
              <a:rPr lang="en-US" b="1" i="0" dirty="0">
                <a:solidFill>
                  <a:srgbClr val="0C0D0E"/>
                </a:solidFill>
                <a:effectLst/>
                <a:latin typeface="Trebuchet MS" panose="020B0603020202020204" pitchFamily="34" charset="0"/>
              </a:rPr>
              <a:t>∀</a:t>
            </a:r>
            <a:r>
              <a:rPr lang="en-US" b="1" i="1" dirty="0">
                <a:solidFill>
                  <a:srgbClr val="0C0D0E"/>
                </a:solidFill>
                <a:effectLst/>
                <a:latin typeface="Trebuchet MS" panose="020B0603020202020204" pitchFamily="34" charset="0"/>
              </a:rPr>
              <a:t>xH</a:t>
            </a:r>
            <a:r>
              <a:rPr lang="en-US" b="1" i="0" dirty="0">
                <a:solidFill>
                  <a:srgbClr val="0C0D0E"/>
                </a:solidFill>
                <a:effectLst/>
                <a:latin typeface="Trebuchet MS" panose="020B0603020202020204" pitchFamily="34" charset="0"/>
              </a:rPr>
              <a:t>(</a:t>
            </a:r>
            <a:r>
              <a:rPr lang="en-US" b="1" i="1" dirty="0">
                <a:solidFill>
                  <a:srgbClr val="0C0D0E"/>
                </a:solidFill>
                <a:effectLst/>
                <a:latin typeface="Trebuchet MS" panose="020B0603020202020204" pitchFamily="34" charset="0"/>
              </a:rPr>
              <a:t>x</a:t>
            </a:r>
            <a:r>
              <a:rPr lang="en-US" b="1" i="0" dirty="0">
                <a:solidFill>
                  <a:srgbClr val="0C0D0E"/>
                </a:solidFill>
                <a:effectLst/>
                <a:latin typeface="Trebuchet MS" panose="020B0603020202020204" pitchFamily="34" charset="0"/>
              </a:rPr>
              <a:t>,</a:t>
            </a:r>
            <a:r>
              <a:rPr lang="en-US" b="1" i="1" dirty="0">
                <a:solidFill>
                  <a:srgbClr val="0C0D0E"/>
                </a:solidFill>
                <a:effectLst/>
                <a:latin typeface="Trebuchet MS" panose="020B0603020202020204" pitchFamily="34" charset="0"/>
              </a:rPr>
              <a:t>y</a:t>
            </a:r>
            <a:r>
              <a:rPr lang="en-US" b="1" i="0" dirty="0">
                <a:solidFill>
                  <a:srgbClr val="0C0D0E"/>
                </a:solidFill>
                <a:effectLst/>
                <a:latin typeface="Trebuchet MS" panose="020B0603020202020204" pitchFamily="34" charset="0"/>
              </a:rPr>
              <a:t>) </a:t>
            </a:r>
            <a:r>
              <a:rPr lang="en-US" b="0" i="0" dirty="0">
                <a:solidFill>
                  <a:srgbClr val="0C0D0E"/>
                </a:solidFill>
                <a:effectLst/>
                <a:latin typeface="Trebuchet MS" panose="020B0603020202020204" pitchFamily="34" charset="0"/>
              </a:rPr>
              <a:t>has a truth value of </a:t>
            </a:r>
            <a:r>
              <a:rPr lang="en-US" b="1" i="0" dirty="0">
                <a:solidFill>
                  <a:srgbClr val="0C0D0E"/>
                </a:solidFill>
                <a:effectLst/>
                <a:latin typeface="Trebuchet MS" panose="020B0603020202020204" pitchFamily="34" charset="0"/>
              </a:rPr>
              <a:t>0</a:t>
            </a:r>
          </a:p>
          <a:p>
            <a:pPr>
              <a:lnSpc>
                <a:spcPct val="110000"/>
              </a:lnSpc>
              <a:spcBef>
                <a:spcPts val="300"/>
              </a:spcBef>
              <a:buClr>
                <a:srgbClr val="0B61FF"/>
              </a:buClr>
              <a:buSzPct val="80000"/>
              <a:buFont typeface="Wingdings" panose="05000000000000000000" pitchFamily="2" charset="2"/>
              <a:buChar char="n"/>
            </a:pPr>
            <a:r>
              <a:rPr lang="en-US" sz="2400" dirty="0">
                <a:solidFill>
                  <a:srgbClr val="0C0D0E"/>
                </a:solidFill>
                <a:latin typeface="Trebuchet MS" panose="020B0603020202020204" pitchFamily="34" charset="0"/>
              </a:rPr>
              <a:t>The symbolization of propositions is </a:t>
            </a:r>
            <a:r>
              <a:rPr lang="en-US" sz="2400" b="1" dirty="0">
                <a:solidFill>
                  <a:srgbClr val="0C0D0E"/>
                </a:solidFill>
                <a:latin typeface="Trebuchet MS" panose="020B0603020202020204" pitchFamily="34" charset="0"/>
              </a:rPr>
              <a:t>not unique</a:t>
            </a:r>
            <a:r>
              <a:rPr lang="en-US" sz="2400" dirty="0">
                <a:solidFill>
                  <a:srgbClr val="0C0D0E"/>
                </a:solidFill>
                <a:latin typeface="Trebuchet MS" panose="020B0603020202020204" pitchFamily="34" charset="0"/>
              </a:rPr>
              <a:t>. </a:t>
            </a:r>
          </a:p>
          <a:p>
            <a:pPr marL="0" indent="0" algn="l">
              <a:lnSpc>
                <a:spcPct val="110000"/>
              </a:lnSpc>
              <a:spcBef>
                <a:spcPts val="300"/>
              </a:spcBef>
              <a:buNone/>
            </a:pPr>
            <a:r>
              <a:rPr lang="en-US" altLang="zh-CN" sz="2400" b="1" dirty="0">
                <a:solidFill>
                  <a:srgbClr val="0C0D0E"/>
                </a:solidFill>
                <a:effectLst/>
                <a:latin typeface="Trebuchet MS" panose="020B0603020202020204" pitchFamily="34" charset="0"/>
              </a:rPr>
              <a:t>Such as: </a:t>
            </a:r>
            <a:r>
              <a:rPr lang="en-US" sz="2400" b="0" dirty="0">
                <a:solidFill>
                  <a:srgbClr val="0C0D0E"/>
                </a:solidFill>
                <a:effectLst/>
                <a:latin typeface="Trebuchet MS" panose="020B0603020202020204" pitchFamily="34" charset="0"/>
              </a:rPr>
              <a:t>based on the previous example, there are the following alternative symbolizations:</a:t>
            </a:r>
          </a:p>
          <a:p>
            <a:pPr marL="457200" lvl="1" indent="-185738" algn="l">
              <a:lnSpc>
                <a:spcPct val="110000"/>
              </a:lnSpc>
              <a:spcBef>
                <a:spcPts val="300"/>
              </a:spcBef>
              <a:buNone/>
            </a:pPr>
            <a:r>
              <a:rPr lang="en-US" altLang="zh-CN" sz="2400" b="1" dirty="0">
                <a:solidFill>
                  <a:srgbClr val="0B61FF"/>
                </a:solidFill>
                <a:latin typeface="Trebuchet MS" panose="020B0603020202020204" pitchFamily="34" charset="0"/>
              </a:rPr>
              <a:t>(1) </a:t>
            </a:r>
            <a:r>
              <a:rPr lang="en-US" b="1" i="0" dirty="0">
                <a:solidFill>
                  <a:srgbClr val="0C0D0E"/>
                </a:solidFill>
                <a:effectLst/>
                <a:latin typeface="Trebuchet MS" panose="020B0603020202020204" pitchFamily="34" charset="0"/>
              </a:rPr>
              <a:t>∀</a:t>
            </a:r>
            <a:r>
              <a:rPr lang="en-US" b="1" i="1" dirty="0">
                <a:solidFill>
                  <a:srgbClr val="0C0D0E"/>
                </a:solidFill>
                <a:effectLst/>
                <a:latin typeface="Trebuchet MS" panose="020B0603020202020204" pitchFamily="34" charset="0"/>
              </a:rPr>
              <a:t>x</a:t>
            </a:r>
            <a:r>
              <a:rPr lang="en-US" b="1" i="0" dirty="0">
                <a:solidFill>
                  <a:srgbClr val="0C0D0E"/>
                </a:solidFill>
                <a:effectLst/>
                <a:latin typeface="Trebuchet MS" panose="020B0603020202020204" pitchFamily="34" charset="0"/>
              </a:rPr>
              <a:t>(</a:t>
            </a:r>
            <a:r>
              <a:rPr lang="en-US" b="1" i="1" dirty="0">
                <a:solidFill>
                  <a:srgbClr val="0C0D0E"/>
                </a:solidFill>
                <a:effectLst/>
                <a:latin typeface="Trebuchet MS" panose="020B0603020202020204" pitchFamily="34" charset="0"/>
              </a:rPr>
              <a:t>F</a:t>
            </a:r>
            <a:r>
              <a:rPr lang="en-US" b="1" i="0" dirty="0">
                <a:solidFill>
                  <a:srgbClr val="0C0D0E"/>
                </a:solidFill>
                <a:effectLst/>
                <a:latin typeface="Trebuchet MS" panose="020B0603020202020204" pitchFamily="34" charset="0"/>
              </a:rPr>
              <a:t>(</a:t>
            </a:r>
            <a:r>
              <a:rPr lang="en-US" b="1" i="1" dirty="0">
                <a:solidFill>
                  <a:srgbClr val="0C0D0E"/>
                </a:solidFill>
                <a:effectLst/>
                <a:latin typeface="Trebuchet MS" panose="020B0603020202020204" pitchFamily="34" charset="0"/>
              </a:rPr>
              <a:t>x</a:t>
            </a:r>
            <a:r>
              <a:rPr lang="en-US" b="1" i="0" dirty="0">
                <a:solidFill>
                  <a:srgbClr val="0C0D0E"/>
                </a:solidFill>
                <a:effectLst/>
                <a:latin typeface="Trebuchet MS" panose="020B0603020202020204" pitchFamily="34" charset="0"/>
              </a:rPr>
              <a:t>)→∀</a:t>
            </a:r>
            <a:r>
              <a:rPr lang="en-US" b="1" i="1" dirty="0">
                <a:solidFill>
                  <a:srgbClr val="0C0D0E"/>
                </a:solidFill>
                <a:effectLst/>
                <a:latin typeface="Trebuchet MS" panose="020B0603020202020204" pitchFamily="34" charset="0"/>
              </a:rPr>
              <a:t>y</a:t>
            </a:r>
            <a:r>
              <a:rPr lang="en-US" b="1" i="0" dirty="0">
                <a:solidFill>
                  <a:srgbClr val="0C0D0E"/>
                </a:solidFill>
                <a:effectLst/>
                <a:latin typeface="Trebuchet MS" panose="020B0603020202020204" pitchFamily="34" charset="0"/>
              </a:rPr>
              <a:t>(G(</a:t>
            </a:r>
            <a:r>
              <a:rPr lang="en-US" b="1" i="1" dirty="0">
                <a:solidFill>
                  <a:srgbClr val="0C0D0E"/>
                </a:solidFill>
                <a:effectLst/>
                <a:latin typeface="Trebuchet MS" panose="020B0603020202020204" pitchFamily="34" charset="0"/>
              </a:rPr>
              <a:t>y</a:t>
            </a:r>
            <a:r>
              <a:rPr lang="en-US" b="1" i="0" dirty="0">
                <a:solidFill>
                  <a:srgbClr val="0C0D0E"/>
                </a:solidFill>
                <a:effectLst/>
                <a:latin typeface="Trebuchet MS" panose="020B0603020202020204" pitchFamily="34" charset="0"/>
              </a:rPr>
              <a:t>)→</a:t>
            </a:r>
            <a:r>
              <a:rPr lang="en-US" b="1" i="1" dirty="0">
                <a:solidFill>
                  <a:srgbClr val="0C0D0E"/>
                </a:solidFill>
                <a:effectLst/>
                <a:latin typeface="Trebuchet MS" panose="020B0603020202020204" pitchFamily="34" charset="0"/>
              </a:rPr>
              <a:t>H</a:t>
            </a:r>
            <a:r>
              <a:rPr lang="en-US" b="1" i="0" dirty="0">
                <a:solidFill>
                  <a:srgbClr val="0C0D0E"/>
                </a:solidFill>
                <a:effectLst/>
                <a:latin typeface="Trebuchet MS" panose="020B0603020202020204" pitchFamily="34" charset="0"/>
              </a:rPr>
              <a:t>(</a:t>
            </a:r>
            <a:r>
              <a:rPr lang="en-US" b="1" i="1" dirty="0">
                <a:solidFill>
                  <a:srgbClr val="0C0D0E"/>
                </a:solidFill>
                <a:effectLst/>
                <a:latin typeface="Trebuchet MS" panose="020B0603020202020204" pitchFamily="34" charset="0"/>
              </a:rPr>
              <a:t>x</a:t>
            </a:r>
            <a:r>
              <a:rPr lang="en-US" b="1" i="0" dirty="0">
                <a:solidFill>
                  <a:srgbClr val="0C0D0E"/>
                </a:solidFill>
                <a:effectLst/>
                <a:latin typeface="Trebuchet MS" panose="020B0603020202020204" pitchFamily="34" charset="0"/>
              </a:rPr>
              <a:t>,</a:t>
            </a:r>
            <a:r>
              <a:rPr lang="en-US" b="1" i="1" dirty="0">
                <a:solidFill>
                  <a:srgbClr val="0C0D0E"/>
                </a:solidFill>
                <a:effectLst/>
                <a:latin typeface="Trebuchet MS" panose="020B0603020202020204" pitchFamily="34" charset="0"/>
              </a:rPr>
              <a:t>y</a:t>
            </a:r>
            <a:r>
              <a:rPr lang="en-US" b="1" i="0" dirty="0">
                <a:solidFill>
                  <a:srgbClr val="0C0D0E"/>
                </a:solidFill>
                <a:effectLst/>
                <a:latin typeface="Trebuchet MS" panose="020B0603020202020204" pitchFamily="34" charset="0"/>
              </a:rPr>
              <a:t>)))   (</a:t>
            </a:r>
            <a:r>
              <a:rPr lang="en-US" altLang="zh-CN" sz="2400" b="1" i="0" dirty="0">
                <a:solidFill>
                  <a:srgbClr val="0B61FF"/>
                </a:solidFill>
                <a:effectLst/>
                <a:latin typeface="Trebuchet MS" panose="020B0603020202020204" pitchFamily="34" charset="0"/>
              </a:rPr>
              <a:t>∀</a:t>
            </a:r>
            <a:r>
              <a:rPr lang="en-US" altLang="zh-CN" sz="2400" b="1" i="1" dirty="0">
                <a:solidFill>
                  <a:srgbClr val="0B61FF"/>
                </a:solidFill>
                <a:effectLst/>
                <a:latin typeface="Trebuchet MS" panose="020B0603020202020204" pitchFamily="34" charset="0"/>
              </a:rPr>
              <a:t>x</a:t>
            </a:r>
            <a:r>
              <a:rPr lang="en-US" altLang="zh-CN" sz="2400" b="1" i="0" dirty="0">
                <a:solidFill>
                  <a:srgbClr val="0B61FF"/>
                </a:solidFill>
                <a:effectLst/>
                <a:latin typeface="Trebuchet MS" panose="020B0603020202020204" pitchFamily="34" charset="0"/>
              </a:rPr>
              <a:t>∀</a:t>
            </a:r>
            <a:r>
              <a:rPr lang="en-US" altLang="zh-CN" sz="2400" b="1" i="1" dirty="0">
                <a:solidFill>
                  <a:srgbClr val="0B61FF"/>
                </a:solidFill>
                <a:effectLst/>
                <a:latin typeface="Trebuchet MS" panose="020B0603020202020204" pitchFamily="34" charset="0"/>
              </a:rPr>
              <a:t>y</a:t>
            </a:r>
            <a:r>
              <a:rPr lang="en-US" altLang="zh-CN" sz="2400" b="1" i="0" dirty="0">
                <a:solidFill>
                  <a:srgbClr val="0B61FF"/>
                </a:solidFill>
                <a:effectLst/>
                <a:latin typeface="Trebuchet MS" panose="020B0603020202020204" pitchFamily="34" charset="0"/>
              </a:rPr>
              <a:t>(</a:t>
            </a:r>
            <a:r>
              <a:rPr lang="en-US" altLang="zh-CN" sz="2400" b="1" i="1" dirty="0">
                <a:solidFill>
                  <a:srgbClr val="0B61FF"/>
                </a:solidFill>
                <a:effectLst/>
                <a:latin typeface="Trebuchet MS" panose="020B0603020202020204" pitchFamily="34" charset="0"/>
              </a:rPr>
              <a:t>F</a:t>
            </a:r>
            <a:r>
              <a:rPr lang="en-US" altLang="zh-CN" sz="2400" b="1" i="0" dirty="0">
                <a:solidFill>
                  <a:srgbClr val="0B61FF"/>
                </a:solidFill>
                <a:effectLst/>
                <a:latin typeface="Trebuchet MS" panose="020B0603020202020204" pitchFamily="34" charset="0"/>
              </a:rPr>
              <a:t>(</a:t>
            </a:r>
            <a:r>
              <a:rPr lang="en-US" altLang="zh-CN" sz="2400" b="1" i="1" dirty="0">
                <a:solidFill>
                  <a:srgbClr val="0B61FF"/>
                </a:solidFill>
                <a:effectLst/>
                <a:latin typeface="Trebuchet MS" panose="020B0603020202020204" pitchFamily="34" charset="0"/>
              </a:rPr>
              <a:t>x</a:t>
            </a:r>
            <a:r>
              <a:rPr lang="en-US" altLang="zh-CN" sz="2400" b="1" i="0" dirty="0">
                <a:solidFill>
                  <a:srgbClr val="0B61FF"/>
                </a:solidFill>
                <a:effectLst/>
                <a:latin typeface="Trebuchet MS" panose="020B0603020202020204" pitchFamily="34" charset="0"/>
              </a:rPr>
              <a:t>)∧</a:t>
            </a:r>
            <a:r>
              <a:rPr lang="en-US" altLang="zh-CN" sz="2400" b="1" i="1" dirty="0">
                <a:solidFill>
                  <a:srgbClr val="0B61FF"/>
                </a:solidFill>
                <a:effectLst/>
                <a:latin typeface="Trebuchet MS" panose="020B0603020202020204" pitchFamily="34" charset="0"/>
              </a:rPr>
              <a:t>G</a:t>
            </a:r>
            <a:r>
              <a:rPr lang="en-US" altLang="zh-CN" sz="2400" b="1" i="0" dirty="0">
                <a:solidFill>
                  <a:srgbClr val="0B61FF"/>
                </a:solidFill>
                <a:effectLst/>
                <a:latin typeface="Trebuchet MS" panose="020B0603020202020204" pitchFamily="34" charset="0"/>
              </a:rPr>
              <a:t>(</a:t>
            </a:r>
            <a:r>
              <a:rPr lang="en-US" altLang="zh-CN" sz="2400" b="1" i="1" dirty="0">
                <a:solidFill>
                  <a:srgbClr val="0B61FF"/>
                </a:solidFill>
                <a:effectLst/>
                <a:latin typeface="Trebuchet MS" panose="020B0603020202020204" pitchFamily="34" charset="0"/>
              </a:rPr>
              <a:t>y</a:t>
            </a:r>
            <a:r>
              <a:rPr lang="en-US" altLang="zh-CN" sz="2400" b="1" i="0" dirty="0">
                <a:solidFill>
                  <a:srgbClr val="0B61FF"/>
                </a:solidFill>
                <a:effectLst/>
                <a:latin typeface="Trebuchet MS" panose="020B0603020202020204" pitchFamily="34" charset="0"/>
              </a:rPr>
              <a:t>)→</a:t>
            </a:r>
            <a:r>
              <a:rPr lang="en-US" altLang="zh-CN" sz="2400" b="1" i="1" dirty="0">
                <a:solidFill>
                  <a:srgbClr val="0B61FF"/>
                </a:solidFill>
                <a:effectLst/>
                <a:latin typeface="Trebuchet MS" panose="020B0603020202020204" pitchFamily="34" charset="0"/>
              </a:rPr>
              <a:t>H</a:t>
            </a:r>
            <a:r>
              <a:rPr lang="en-US" altLang="zh-CN" sz="2400" b="1" i="0" dirty="0">
                <a:solidFill>
                  <a:srgbClr val="0B61FF"/>
                </a:solidFill>
                <a:effectLst/>
                <a:latin typeface="Trebuchet MS" panose="020B0603020202020204" pitchFamily="34" charset="0"/>
              </a:rPr>
              <a:t>(</a:t>
            </a:r>
            <a:r>
              <a:rPr lang="en-US" altLang="zh-CN" sz="2400" b="1" i="1" dirty="0">
                <a:solidFill>
                  <a:srgbClr val="0B61FF"/>
                </a:solidFill>
                <a:effectLst/>
                <a:latin typeface="Trebuchet MS" panose="020B0603020202020204" pitchFamily="34" charset="0"/>
              </a:rPr>
              <a:t>x</a:t>
            </a:r>
            <a:r>
              <a:rPr lang="en-US" altLang="zh-CN" sz="2400" b="1" i="0" dirty="0">
                <a:solidFill>
                  <a:srgbClr val="0B61FF"/>
                </a:solidFill>
                <a:effectLst/>
                <a:latin typeface="Trebuchet MS" panose="020B0603020202020204" pitchFamily="34" charset="0"/>
              </a:rPr>
              <a:t>,</a:t>
            </a:r>
            <a:r>
              <a:rPr lang="en-US" altLang="zh-CN" sz="2400" b="1" i="1" dirty="0">
                <a:solidFill>
                  <a:srgbClr val="0B61FF"/>
                </a:solidFill>
                <a:effectLst/>
                <a:latin typeface="Trebuchet MS" panose="020B0603020202020204" pitchFamily="34" charset="0"/>
              </a:rPr>
              <a:t>y</a:t>
            </a:r>
            <a:r>
              <a:rPr lang="en-US" altLang="zh-CN" sz="2400" b="1" i="0" dirty="0">
                <a:solidFill>
                  <a:srgbClr val="0B61FF"/>
                </a:solidFill>
                <a:effectLst/>
                <a:latin typeface="Trebuchet MS" panose="020B0603020202020204" pitchFamily="34" charset="0"/>
              </a:rPr>
              <a:t>)</a:t>
            </a:r>
            <a:r>
              <a:rPr lang="en-US" altLang="zh-CN" sz="2400" b="1" i="0" dirty="0">
                <a:solidFill>
                  <a:srgbClr val="0C0D0E"/>
                </a:solidFill>
                <a:effectLst/>
                <a:latin typeface="Trebuchet MS" panose="020B0603020202020204" pitchFamily="34" charset="0"/>
              </a:rPr>
              <a:t>)</a:t>
            </a:r>
            <a:endParaRPr lang="en-US" b="1" i="0" dirty="0">
              <a:solidFill>
                <a:srgbClr val="0C0D0E"/>
              </a:solidFill>
              <a:effectLst/>
              <a:latin typeface="Trebuchet MS" panose="020B0603020202020204" pitchFamily="34" charset="0"/>
            </a:endParaRPr>
          </a:p>
          <a:p>
            <a:pPr marL="457200" lvl="1" indent="-185738" algn="l">
              <a:lnSpc>
                <a:spcPct val="110000"/>
              </a:lnSpc>
              <a:spcBef>
                <a:spcPts val="300"/>
              </a:spcBef>
              <a:buNone/>
            </a:pPr>
            <a:r>
              <a:rPr lang="en-US" altLang="zh-CN" sz="2400" b="1" dirty="0">
                <a:solidFill>
                  <a:srgbClr val="0B61FF"/>
                </a:solidFill>
                <a:latin typeface="Trebuchet MS" panose="020B0603020202020204" pitchFamily="34" charset="0"/>
              </a:rPr>
              <a:t>(3) </a:t>
            </a:r>
            <a:r>
              <a:rPr lang="en-US" b="1" i="0" dirty="0">
                <a:solidFill>
                  <a:srgbClr val="0C0D0E"/>
                </a:solidFill>
                <a:effectLst/>
                <a:latin typeface="Trebuchet MS" panose="020B0603020202020204" pitchFamily="34" charset="0"/>
              </a:rPr>
              <a:t>∃</a:t>
            </a:r>
            <a:r>
              <a:rPr lang="en-US" b="1" i="1" dirty="0">
                <a:solidFill>
                  <a:srgbClr val="0C0D0E"/>
                </a:solidFill>
                <a:effectLst/>
                <a:latin typeface="Trebuchet MS" panose="020B0603020202020204" pitchFamily="34" charset="0"/>
              </a:rPr>
              <a:t>x</a:t>
            </a:r>
            <a:r>
              <a:rPr lang="en-US" b="1" i="0" dirty="0">
                <a:solidFill>
                  <a:srgbClr val="0C0D0E"/>
                </a:solidFill>
                <a:effectLst/>
                <a:latin typeface="Trebuchet MS" panose="020B0603020202020204" pitchFamily="34" charset="0"/>
              </a:rPr>
              <a:t>∃</a:t>
            </a:r>
            <a:r>
              <a:rPr lang="en-US" b="1" i="1" dirty="0">
                <a:solidFill>
                  <a:srgbClr val="0C0D0E"/>
                </a:solidFill>
                <a:effectLst/>
                <a:latin typeface="Trebuchet MS" panose="020B0603020202020204" pitchFamily="34" charset="0"/>
              </a:rPr>
              <a:t>y</a:t>
            </a:r>
            <a:r>
              <a:rPr lang="en-US" b="1" i="0" dirty="0">
                <a:solidFill>
                  <a:srgbClr val="0C0D0E"/>
                </a:solidFill>
                <a:effectLst/>
                <a:latin typeface="Trebuchet MS" panose="020B0603020202020204" pitchFamily="34" charset="0"/>
              </a:rPr>
              <a:t>(</a:t>
            </a:r>
            <a:r>
              <a:rPr lang="en-US" b="1" i="1" dirty="0">
                <a:solidFill>
                  <a:srgbClr val="0C0D0E"/>
                </a:solidFill>
                <a:effectLst/>
                <a:latin typeface="Trebuchet MS" panose="020B0603020202020204" pitchFamily="34" charset="0"/>
              </a:rPr>
              <a:t>F</a:t>
            </a:r>
            <a:r>
              <a:rPr lang="en-US" b="1" i="0" dirty="0">
                <a:solidFill>
                  <a:srgbClr val="0C0D0E"/>
                </a:solidFill>
                <a:effectLst/>
                <a:latin typeface="Trebuchet MS" panose="020B0603020202020204" pitchFamily="34" charset="0"/>
              </a:rPr>
              <a:t>(</a:t>
            </a:r>
            <a:r>
              <a:rPr lang="en-US" b="1" i="1" dirty="0">
                <a:solidFill>
                  <a:srgbClr val="0C0D0E"/>
                </a:solidFill>
                <a:effectLst/>
                <a:latin typeface="Trebuchet MS" panose="020B0603020202020204" pitchFamily="34" charset="0"/>
              </a:rPr>
              <a:t>x</a:t>
            </a:r>
            <a:r>
              <a:rPr lang="en-US" b="1" i="0" dirty="0">
                <a:solidFill>
                  <a:srgbClr val="0C0D0E"/>
                </a:solidFill>
                <a:effectLst/>
                <a:latin typeface="Trebuchet MS" panose="020B0603020202020204" pitchFamily="34" charset="0"/>
              </a:rPr>
              <a:t>)∧</a:t>
            </a:r>
            <a:r>
              <a:rPr lang="en-US" b="1" i="1" dirty="0">
                <a:solidFill>
                  <a:srgbClr val="0C0D0E"/>
                </a:solidFill>
                <a:effectLst/>
                <a:latin typeface="Trebuchet MS" panose="020B0603020202020204" pitchFamily="34" charset="0"/>
              </a:rPr>
              <a:t>G</a:t>
            </a:r>
            <a:r>
              <a:rPr lang="en-US" b="1" i="0" dirty="0">
                <a:solidFill>
                  <a:srgbClr val="0C0D0E"/>
                </a:solidFill>
                <a:effectLst/>
                <a:latin typeface="Trebuchet MS" panose="020B0603020202020204" pitchFamily="34" charset="0"/>
              </a:rPr>
              <a:t>(</a:t>
            </a:r>
            <a:r>
              <a:rPr lang="en-US" b="1" i="1" dirty="0">
                <a:solidFill>
                  <a:srgbClr val="0C0D0E"/>
                </a:solidFill>
                <a:effectLst/>
                <a:latin typeface="Trebuchet MS" panose="020B0603020202020204" pitchFamily="34" charset="0"/>
              </a:rPr>
              <a:t>y</a:t>
            </a:r>
            <a:r>
              <a:rPr lang="en-US" b="1" i="0" dirty="0">
                <a:solidFill>
                  <a:srgbClr val="0C0D0E"/>
                </a:solidFill>
                <a:effectLst/>
                <a:latin typeface="Trebuchet MS" panose="020B0603020202020204" pitchFamily="34" charset="0"/>
              </a:rPr>
              <a:t>)∧¬</a:t>
            </a:r>
            <a:r>
              <a:rPr lang="en-US" b="1" i="1" dirty="0">
                <a:solidFill>
                  <a:srgbClr val="0C0D0E"/>
                </a:solidFill>
                <a:effectLst/>
                <a:latin typeface="Trebuchet MS" panose="020B0603020202020204" pitchFamily="34" charset="0"/>
              </a:rPr>
              <a:t>H</a:t>
            </a:r>
            <a:r>
              <a:rPr lang="en-US" b="1" i="0" dirty="0">
                <a:solidFill>
                  <a:srgbClr val="0C0D0E"/>
                </a:solidFill>
                <a:effectLst/>
                <a:latin typeface="Trebuchet MS" panose="020B0603020202020204" pitchFamily="34" charset="0"/>
              </a:rPr>
              <a:t>(</a:t>
            </a:r>
            <a:r>
              <a:rPr lang="en-US" b="1" i="1" dirty="0">
                <a:solidFill>
                  <a:srgbClr val="0C0D0E"/>
                </a:solidFill>
                <a:effectLst/>
                <a:latin typeface="Trebuchet MS" panose="020B0603020202020204" pitchFamily="34" charset="0"/>
              </a:rPr>
              <a:t>x</a:t>
            </a:r>
            <a:r>
              <a:rPr lang="en-US" b="1" i="0" dirty="0">
                <a:solidFill>
                  <a:srgbClr val="0C0D0E"/>
                </a:solidFill>
                <a:effectLst/>
                <a:latin typeface="Trebuchet MS" panose="020B0603020202020204" pitchFamily="34" charset="0"/>
              </a:rPr>
              <a:t>,</a:t>
            </a:r>
            <a:r>
              <a:rPr lang="en-US" b="1" i="1" dirty="0">
                <a:solidFill>
                  <a:srgbClr val="0C0D0E"/>
                </a:solidFill>
                <a:effectLst/>
                <a:latin typeface="Trebuchet MS" panose="020B0603020202020204" pitchFamily="34" charset="0"/>
              </a:rPr>
              <a:t>y</a:t>
            </a:r>
            <a:r>
              <a:rPr lang="en-US" b="1" i="0" dirty="0">
                <a:solidFill>
                  <a:srgbClr val="0C0D0E"/>
                </a:solidFill>
                <a:effectLst/>
                <a:latin typeface="Trebuchet MS" panose="020B0603020202020204" pitchFamily="34" charset="0"/>
              </a:rPr>
              <a:t>))    (</a:t>
            </a:r>
            <a:r>
              <a:rPr lang="en-US" altLang="zh-CN" sz="2400" b="1" i="0" dirty="0">
                <a:solidFill>
                  <a:srgbClr val="0B61FF"/>
                </a:solidFill>
                <a:effectLst/>
                <a:latin typeface="Trebuchet MS" panose="020B0603020202020204" pitchFamily="34" charset="0"/>
              </a:rPr>
              <a:t>¬∀</a:t>
            </a:r>
            <a:r>
              <a:rPr lang="en-US" altLang="zh-CN" sz="2400" b="1" i="1" dirty="0">
                <a:solidFill>
                  <a:srgbClr val="0B61FF"/>
                </a:solidFill>
                <a:effectLst/>
                <a:latin typeface="Trebuchet MS" panose="020B0603020202020204" pitchFamily="34" charset="0"/>
              </a:rPr>
              <a:t>x</a:t>
            </a:r>
            <a:r>
              <a:rPr lang="en-US" altLang="zh-CN" sz="2400" b="1" i="0" dirty="0">
                <a:solidFill>
                  <a:srgbClr val="0B61FF"/>
                </a:solidFill>
                <a:effectLst/>
                <a:latin typeface="Trebuchet MS" panose="020B0603020202020204" pitchFamily="34" charset="0"/>
              </a:rPr>
              <a:t>∀</a:t>
            </a:r>
            <a:r>
              <a:rPr lang="en-US" altLang="zh-CN" sz="2400" b="1" i="1" dirty="0">
                <a:solidFill>
                  <a:srgbClr val="0B61FF"/>
                </a:solidFill>
                <a:effectLst/>
                <a:latin typeface="Trebuchet MS" panose="020B0603020202020204" pitchFamily="34" charset="0"/>
              </a:rPr>
              <a:t>y</a:t>
            </a:r>
            <a:r>
              <a:rPr lang="en-US" altLang="zh-CN" sz="2400" b="1" i="0" dirty="0">
                <a:solidFill>
                  <a:srgbClr val="0B61FF"/>
                </a:solidFill>
                <a:effectLst/>
                <a:latin typeface="Trebuchet MS" panose="020B0603020202020204" pitchFamily="34" charset="0"/>
              </a:rPr>
              <a:t>(</a:t>
            </a:r>
            <a:r>
              <a:rPr lang="en-US" altLang="zh-CN" sz="2400" b="1" i="1" dirty="0">
                <a:solidFill>
                  <a:srgbClr val="0B61FF"/>
                </a:solidFill>
                <a:effectLst/>
                <a:latin typeface="Trebuchet MS" panose="020B0603020202020204" pitchFamily="34" charset="0"/>
              </a:rPr>
              <a:t>F</a:t>
            </a:r>
            <a:r>
              <a:rPr lang="en-US" altLang="zh-CN" sz="2400" b="1" i="0" dirty="0">
                <a:solidFill>
                  <a:srgbClr val="0B61FF"/>
                </a:solidFill>
                <a:effectLst/>
                <a:latin typeface="Trebuchet MS" panose="020B0603020202020204" pitchFamily="34" charset="0"/>
              </a:rPr>
              <a:t>(</a:t>
            </a:r>
            <a:r>
              <a:rPr lang="en-US" altLang="zh-CN" sz="2400" b="1" i="1" dirty="0">
                <a:solidFill>
                  <a:srgbClr val="0B61FF"/>
                </a:solidFill>
                <a:effectLst/>
                <a:latin typeface="Trebuchet MS" panose="020B0603020202020204" pitchFamily="34" charset="0"/>
              </a:rPr>
              <a:t>x</a:t>
            </a:r>
            <a:r>
              <a:rPr lang="en-US" altLang="zh-CN" sz="2400" b="1" i="0" dirty="0">
                <a:solidFill>
                  <a:srgbClr val="0B61FF"/>
                </a:solidFill>
                <a:effectLst/>
                <a:latin typeface="Trebuchet MS" panose="020B0603020202020204" pitchFamily="34" charset="0"/>
              </a:rPr>
              <a:t>)∧</a:t>
            </a:r>
            <a:r>
              <a:rPr lang="en-US" altLang="zh-CN" sz="2400" b="1" i="1" dirty="0">
                <a:solidFill>
                  <a:srgbClr val="0B61FF"/>
                </a:solidFill>
                <a:effectLst/>
                <a:latin typeface="Trebuchet MS" panose="020B0603020202020204" pitchFamily="34" charset="0"/>
              </a:rPr>
              <a:t>G</a:t>
            </a:r>
            <a:r>
              <a:rPr lang="en-US" altLang="zh-CN" sz="2400" b="1" i="0" dirty="0">
                <a:solidFill>
                  <a:srgbClr val="0B61FF"/>
                </a:solidFill>
                <a:effectLst/>
                <a:latin typeface="Trebuchet MS" panose="020B0603020202020204" pitchFamily="34" charset="0"/>
              </a:rPr>
              <a:t>(</a:t>
            </a:r>
            <a:r>
              <a:rPr lang="en-US" altLang="zh-CN" sz="2400" b="1" i="1" dirty="0">
                <a:solidFill>
                  <a:srgbClr val="0B61FF"/>
                </a:solidFill>
                <a:effectLst/>
                <a:latin typeface="Trebuchet MS" panose="020B0603020202020204" pitchFamily="34" charset="0"/>
              </a:rPr>
              <a:t>y</a:t>
            </a:r>
            <a:r>
              <a:rPr lang="en-US" altLang="zh-CN" sz="2400" b="1" i="0" dirty="0">
                <a:solidFill>
                  <a:srgbClr val="0B61FF"/>
                </a:solidFill>
                <a:effectLst/>
                <a:latin typeface="Trebuchet MS" panose="020B0603020202020204" pitchFamily="34" charset="0"/>
              </a:rPr>
              <a:t>)→</a:t>
            </a:r>
            <a:r>
              <a:rPr lang="en-US" altLang="zh-CN" sz="2400" b="1" i="1" dirty="0">
                <a:solidFill>
                  <a:srgbClr val="0B61FF"/>
                </a:solidFill>
                <a:effectLst/>
                <a:latin typeface="Trebuchet MS" panose="020B0603020202020204" pitchFamily="34" charset="0"/>
              </a:rPr>
              <a:t>H</a:t>
            </a:r>
            <a:r>
              <a:rPr lang="en-US" altLang="zh-CN" sz="2400" b="1" i="0" dirty="0">
                <a:solidFill>
                  <a:srgbClr val="0B61FF"/>
                </a:solidFill>
                <a:effectLst/>
                <a:latin typeface="Trebuchet MS" panose="020B0603020202020204" pitchFamily="34" charset="0"/>
              </a:rPr>
              <a:t>(</a:t>
            </a:r>
            <a:r>
              <a:rPr lang="en-US" altLang="zh-CN" sz="2400" b="1" i="1" dirty="0">
                <a:solidFill>
                  <a:srgbClr val="0B61FF"/>
                </a:solidFill>
                <a:effectLst/>
                <a:latin typeface="Trebuchet MS" panose="020B0603020202020204" pitchFamily="34" charset="0"/>
              </a:rPr>
              <a:t>x</a:t>
            </a:r>
            <a:r>
              <a:rPr lang="en-US" altLang="zh-CN" sz="2400" b="1" i="0" dirty="0">
                <a:solidFill>
                  <a:srgbClr val="0B61FF"/>
                </a:solidFill>
                <a:effectLst/>
                <a:latin typeface="Trebuchet MS" panose="020B0603020202020204" pitchFamily="34" charset="0"/>
              </a:rPr>
              <a:t>,</a:t>
            </a:r>
            <a:r>
              <a:rPr lang="en-US" altLang="zh-CN" sz="2400" b="1" i="1" dirty="0">
                <a:solidFill>
                  <a:srgbClr val="0B61FF"/>
                </a:solidFill>
                <a:effectLst/>
                <a:latin typeface="Trebuchet MS" panose="020B0603020202020204" pitchFamily="34" charset="0"/>
              </a:rPr>
              <a:t>y</a:t>
            </a:r>
            <a:r>
              <a:rPr lang="en-US" altLang="zh-CN" sz="2400" b="1" i="0" dirty="0">
                <a:solidFill>
                  <a:srgbClr val="0B61FF"/>
                </a:solidFill>
                <a:effectLst/>
                <a:latin typeface="Trebuchet MS" panose="020B0603020202020204" pitchFamily="34" charset="0"/>
              </a:rPr>
              <a:t>))</a:t>
            </a:r>
            <a:r>
              <a:rPr lang="en-US" b="1" i="0" dirty="0">
                <a:effectLst/>
                <a:latin typeface="Trebuchet MS" panose="020B0603020202020204" pitchFamily="34" charset="0"/>
              </a:rPr>
              <a:t>)</a:t>
            </a:r>
          </a:p>
          <a:p>
            <a:pPr marL="457200" lvl="1" indent="-185738" algn="l">
              <a:lnSpc>
                <a:spcPct val="110000"/>
              </a:lnSpc>
              <a:spcBef>
                <a:spcPts val="300"/>
              </a:spcBef>
              <a:buNone/>
            </a:pPr>
            <a:r>
              <a:rPr lang="en-US" altLang="zh-CN" sz="2400" b="1" dirty="0">
                <a:solidFill>
                  <a:srgbClr val="0B61FF"/>
                </a:solidFill>
                <a:latin typeface="Trebuchet MS" panose="020B0603020202020204" pitchFamily="34" charset="0"/>
              </a:rPr>
              <a:t>(4) </a:t>
            </a:r>
            <a:r>
              <a:rPr lang="en-US" b="1" i="0" dirty="0">
                <a:solidFill>
                  <a:srgbClr val="0C0D0E"/>
                </a:solidFill>
                <a:effectLst/>
                <a:latin typeface="Trebuchet MS" panose="020B0603020202020204" pitchFamily="34" charset="0"/>
              </a:rPr>
              <a:t>∀</a:t>
            </a:r>
            <a:r>
              <a:rPr lang="en-US" b="1" i="1" dirty="0">
                <a:solidFill>
                  <a:srgbClr val="0C0D0E"/>
                </a:solidFill>
                <a:effectLst/>
                <a:latin typeface="Trebuchet MS" panose="020B0603020202020204" pitchFamily="34" charset="0"/>
              </a:rPr>
              <a:t>x</a:t>
            </a:r>
            <a:r>
              <a:rPr lang="en-US" b="1" i="0" dirty="0">
                <a:solidFill>
                  <a:srgbClr val="0C0D0E"/>
                </a:solidFill>
                <a:effectLst/>
                <a:latin typeface="Trebuchet MS" panose="020B0603020202020204" pitchFamily="34" charset="0"/>
              </a:rPr>
              <a:t>∀</a:t>
            </a:r>
            <a:r>
              <a:rPr lang="en-US" b="1" i="1" dirty="0">
                <a:solidFill>
                  <a:srgbClr val="0C0D0E"/>
                </a:solidFill>
                <a:effectLst/>
                <a:latin typeface="Trebuchet MS" panose="020B0603020202020204" pitchFamily="34" charset="0"/>
              </a:rPr>
              <a:t>y</a:t>
            </a:r>
            <a:r>
              <a:rPr lang="en-US" b="1" i="0" dirty="0">
                <a:solidFill>
                  <a:srgbClr val="0C0D0E"/>
                </a:solidFill>
                <a:effectLst/>
                <a:latin typeface="Trebuchet MS" panose="020B0603020202020204" pitchFamily="34" charset="0"/>
              </a:rPr>
              <a:t>(</a:t>
            </a:r>
            <a:r>
              <a:rPr lang="en-US" b="1" i="1" dirty="0">
                <a:solidFill>
                  <a:srgbClr val="0C0D0E"/>
                </a:solidFill>
                <a:effectLst/>
                <a:latin typeface="Trebuchet MS" panose="020B0603020202020204" pitchFamily="34" charset="0"/>
              </a:rPr>
              <a:t>F</a:t>
            </a:r>
            <a:r>
              <a:rPr lang="en-US" b="1" i="0" dirty="0">
                <a:solidFill>
                  <a:srgbClr val="0C0D0E"/>
                </a:solidFill>
                <a:effectLst/>
                <a:latin typeface="Trebuchet MS" panose="020B0603020202020204" pitchFamily="34" charset="0"/>
              </a:rPr>
              <a:t>(</a:t>
            </a:r>
            <a:r>
              <a:rPr lang="en-US" b="1" i="1" dirty="0">
                <a:solidFill>
                  <a:srgbClr val="0C0D0E"/>
                </a:solidFill>
                <a:effectLst/>
                <a:latin typeface="Trebuchet MS" panose="020B0603020202020204" pitchFamily="34" charset="0"/>
              </a:rPr>
              <a:t>x</a:t>
            </a:r>
            <a:r>
              <a:rPr lang="en-US" b="1" i="0" dirty="0">
                <a:solidFill>
                  <a:srgbClr val="0C0D0E"/>
                </a:solidFill>
                <a:effectLst/>
                <a:latin typeface="Trebuchet MS" panose="020B0603020202020204" pitchFamily="34" charset="0"/>
              </a:rPr>
              <a:t>)∧</a:t>
            </a:r>
            <a:r>
              <a:rPr lang="en-US" b="1" i="1" dirty="0">
                <a:solidFill>
                  <a:srgbClr val="0C0D0E"/>
                </a:solidFill>
                <a:effectLst/>
                <a:latin typeface="Trebuchet MS" panose="020B0603020202020204" pitchFamily="34" charset="0"/>
              </a:rPr>
              <a:t>G</a:t>
            </a:r>
            <a:r>
              <a:rPr lang="en-US" b="1" i="0" dirty="0">
                <a:solidFill>
                  <a:srgbClr val="0C0D0E"/>
                </a:solidFill>
                <a:effectLst/>
                <a:latin typeface="Trebuchet MS" panose="020B0603020202020204" pitchFamily="34" charset="0"/>
              </a:rPr>
              <a:t>(</a:t>
            </a:r>
            <a:r>
              <a:rPr lang="en-US" b="1" i="1" dirty="0">
                <a:solidFill>
                  <a:srgbClr val="0C0D0E"/>
                </a:solidFill>
                <a:effectLst/>
                <a:latin typeface="Trebuchet MS" panose="020B0603020202020204" pitchFamily="34" charset="0"/>
              </a:rPr>
              <a:t>y</a:t>
            </a:r>
            <a:r>
              <a:rPr lang="en-US" b="1" i="0" dirty="0">
                <a:solidFill>
                  <a:srgbClr val="0C0D0E"/>
                </a:solidFill>
                <a:effectLst/>
                <a:latin typeface="Trebuchet MS" panose="020B0603020202020204" pitchFamily="34" charset="0"/>
              </a:rPr>
              <a:t>)→¬</a:t>
            </a:r>
            <a:r>
              <a:rPr lang="en-US" b="1" i="1" dirty="0">
                <a:solidFill>
                  <a:srgbClr val="0C0D0E"/>
                </a:solidFill>
                <a:effectLst/>
                <a:latin typeface="Trebuchet MS" panose="020B0603020202020204" pitchFamily="34" charset="0"/>
              </a:rPr>
              <a:t>L</a:t>
            </a:r>
            <a:r>
              <a:rPr lang="en-US" b="1" i="0" dirty="0">
                <a:solidFill>
                  <a:srgbClr val="0C0D0E"/>
                </a:solidFill>
                <a:effectLst/>
                <a:latin typeface="Trebuchet MS" panose="020B0603020202020204" pitchFamily="34" charset="0"/>
              </a:rPr>
              <a:t>(</a:t>
            </a:r>
            <a:r>
              <a:rPr lang="en-US" b="1" i="1" dirty="0">
                <a:solidFill>
                  <a:srgbClr val="0C0D0E"/>
                </a:solidFill>
                <a:effectLst/>
                <a:latin typeface="Trebuchet MS" panose="020B0603020202020204" pitchFamily="34" charset="0"/>
              </a:rPr>
              <a:t>x</a:t>
            </a:r>
            <a:r>
              <a:rPr lang="en-US" b="1" i="0" dirty="0">
                <a:solidFill>
                  <a:srgbClr val="0C0D0E"/>
                </a:solidFill>
                <a:effectLst/>
                <a:latin typeface="Trebuchet MS" panose="020B0603020202020204" pitchFamily="34" charset="0"/>
              </a:rPr>
              <a:t>,</a:t>
            </a:r>
            <a:r>
              <a:rPr lang="en-US" b="1" i="1" dirty="0">
                <a:solidFill>
                  <a:srgbClr val="0C0D0E"/>
                </a:solidFill>
                <a:effectLst/>
                <a:latin typeface="Trebuchet MS" panose="020B0603020202020204" pitchFamily="34" charset="0"/>
              </a:rPr>
              <a:t>y</a:t>
            </a:r>
            <a:r>
              <a:rPr lang="en-US" b="1" i="0" dirty="0">
                <a:solidFill>
                  <a:srgbClr val="0C0D0E"/>
                </a:solidFill>
                <a:effectLst/>
                <a:latin typeface="Trebuchet MS" panose="020B0603020202020204" pitchFamily="34" charset="0"/>
              </a:rPr>
              <a:t>))</a:t>
            </a:r>
            <a:r>
              <a:rPr lang="en-US" b="0" i="0" dirty="0">
                <a:solidFill>
                  <a:srgbClr val="0C0D0E"/>
                </a:solidFill>
                <a:effectLst/>
                <a:latin typeface="Trebuchet MS" panose="020B0603020202020204" pitchFamily="34" charset="0"/>
              </a:rPr>
              <a:t>   (</a:t>
            </a:r>
            <a:r>
              <a:rPr lang="en-US" altLang="zh-CN" sz="2400" b="1" i="0" dirty="0">
                <a:solidFill>
                  <a:srgbClr val="0B61FF"/>
                </a:solidFill>
                <a:effectLst/>
                <a:latin typeface="Trebuchet MS" panose="020B0603020202020204" pitchFamily="34" charset="0"/>
              </a:rPr>
              <a:t>¬∃</a:t>
            </a:r>
            <a:r>
              <a:rPr lang="en-US" altLang="zh-CN" sz="2400" b="1" i="1" dirty="0">
                <a:solidFill>
                  <a:srgbClr val="0B61FF"/>
                </a:solidFill>
                <a:effectLst/>
                <a:latin typeface="Trebuchet MS" panose="020B0603020202020204" pitchFamily="34" charset="0"/>
              </a:rPr>
              <a:t>x</a:t>
            </a:r>
            <a:r>
              <a:rPr lang="en-US" altLang="zh-CN" sz="2400" b="1" i="0" dirty="0">
                <a:solidFill>
                  <a:srgbClr val="0B61FF"/>
                </a:solidFill>
                <a:effectLst/>
                <a:latin typeface="Trebuchet MS" panose="020B0603020202020204" pitchFamily="34" charset="0"/>
              </a:rPr>
              <a:t>∃</a:t>
            </a:r>
            <a:r>
              <a:rPr lang="en-US" altLang="zh-CN" sz="2400" b="1" i="1" dirty="0">
                <a:solidFill>
                  <a:srgbClr val="0B61FF"/>
                </a:solidFill>
                <a:effectLst/>
                <a:latin typeface="Trebuchet MS" panose="020B0603020202020204" pitchFamily="34" charset="0"/>
              </a:rPr>
              <a:t>y</a:t>
            </a:r>
            <a:r>
              <a:rPr lang="en-US" altLang="zh-CN" sz="2400" b="1" i="0" dirty="0">
                <a:solidFill>
                  <a:srgbClr val="0B61FF"/>
                </a:solidFill>
                <a:effectLst/>
                <a:latin typeface="Trebuchet MS" panose="020B0603020202020204" pitchFamily="34" charset="0"/>
              </a:rPr>
              <a:t>(</a:t>
            </a:r>
            <a:r>
              <a:rPr lang="en-US" altLang="zh-CN" sz="2400" b="1" i="1" dirty="0">
                <a:solidFill>
                  <a:srgbClr val="0B61FF"/>
                </a:solidFill>
                <a:effectLst/>
                <a:latin typeface="Trebuchet MS" panose="020B0603020202020204" pitchFamily="34" charset="0"/>
              </a:rPr>
              <a:t>F</a:t>
            </a:r>
            <a:r>
              <a:rPr lang="en-US" altLang="zh-CN" sz="2400" b="1" i="0" dirty="0">
                <a:solidFill>
                  <a:srgbClr val="0B61FF"/>
                </a:solidFill>
                <a:effectLst/>
                <a:latin typeface="Trebuchet MS" panose="020B0603020202020204" pitchFamily="34" charset="0"/>
              </a:rPr>
              <a:t>(</a:t>
            </a:r>
            <a:r>
              <a:rPr lang="en-US" altLang="zh-CN" sz="2400" b="1" i="1" dirty="0">
                <a:solidFill>
                  <a:srgbClr val="0B61FF"/>
                </a:solidFill>
                <a:effectLst/>
                <a:latin typeface="Trebuchet MS" panose="020B0603020202020204" pitchFamily="34" charset="0"/>
              </a:rPr>
              <a:t>x</a:t>
            </a:r>
            <a:r>
              <a:rPr lang="en-US" altLang="zh-CN" sz="2400" b="1" i="0" dirty="0">
                <a:solidFill>
                  <a:srgbClr val="0B61FF"/>
                </a:solidFill>
                <a:effectLst/>
                <a:latin typeface="Trebuchet MS" panose="020B0603020202020204" pitchFamily="34" charset="0"/>
              </a:rPr>
              <a:t>)∧</a:t>
            </a:r>
            <a:r>
              <a:rPr lang="en-US" altLang="zh-CN" sz="2400" b="1" i="1" dirty="0">
                <a:solidFill>
                  <a:srgbClr val="0B61FF"/>
                </a:solidFill>
                <a:effectLst/>
                <a:latin typeface="Trebuchet MS" panose="020B0603020202020204" pitchFamily="34" charset="0"/>
              </a:rPr>
              <a:t>G</a:t>
            </a:r>
            <a:r>
              <a:rPr lang="en-US" altLang="zh-CN" sz="2400" b="1" i="0" dirty="0">
                <a:solidFill>
                  <a:srgbClr val="0B61FF"/>
                </a:solidFill>
                <a:effectLst/>
                <a:latin typeface="Trebuchet MS" panose="020B0603020202020204" pitchFamily="34" charset="0"/>
              </a:rPr>
              <a:t>(</a:t>
            </a:r>
            <a:r>
              <a:rPr lang="en-US" altLang="zh-CN" sz="2400" b="1" i="1" dirty="0">
                <a:solidFill>
                  <a:srgbClr val="0B61FF"/>
                </a:solidFill>
                <a:effectLst/>
                <a:latin typeface="Trebuchet MS" panose="020B0603020202020204" pitchFamily="34" charset="0"/>
              </a:rPr>
              <a:t>y</a:t>
            </a:r>
            <a:r>
              <a:rPr lang="en-US" altLang="zh-CN" sz="2400" b="1" i="0" dirty="0">
                <a:solidFill>
                  <a:srgbClr val="0B61FF"/>
                </a:solidFill>
                <a:effectLst/>
                <a:latin typeface="Trebuchet MS" panose="020B0603020202020204" pitchFamily="34" charset="0"/>
              </a:rPr>
              <a:t>)∧</a:t>
            </a:r>
            <a:r>
              <a:rPr lang="en-US" altLang="zh-CN" sz="2400" b="1" i="1" dirty="0">
                <a:solidFill>
                  <a:srgbClr val="0B61FF"/>
                </a:solidFill>
                <a:effectLst/>
                <a:latin typeface="Trebuchet MS" panose="020B0603020202020204" pitchFamily="34" charset="0"/>
              </a:rPr>
              <a:t>L</a:t>
            </a:r>
            <a:r>
              <a:rPr lang="en-US" altLang="zh-CN" sz="2400" b="1" i="0" dirty="0">
                <a:solidFill>
                  <a:srgbClr val="0B61FF"/>
                </a:solidFill>
                <a:effectLst/>
                <a:latin typeface="Trebuchet MS" panose="020B0603020202020204" pitchFamily="34" charset="0"/>
              </a:rPr>
              <a:t>(</a:t>
            </a:r>
            <a:r>
              <a:rPr lang="en-US" altLang="zh-CN" sz="2400" b="1" i="1" dirty="0">
                <a:solidFill>
                  <a:srgbClr val="0B61FF"/>
                </a:solidFill>
                <a:effectLst/>
                <a:latin typeface="Trebuchet MS" panose="020B0603020202020204" pitchFamily="34" charset="0"/>
              </a:rPr>
              <a:t>x</a:t>
            </a:r>
            <a:r>
              <a:rPr lang="en-US" altLang="zh-CN" sz="2400" b="1" i="0" dirty="0">
                <a:solidFill>
                  <a:srgbClr val="0B61FF"/>
                </a:solidFill>
                <a:effectLst/>
                <a:latin typeface="Trebuchet MS" panose="020B0603020202020204" pitchFamily="34" charset="0"/>
              </a:rPr>
              <a:t>,</a:t>
            </a:r>
            <a:r>
              <a:rPr lang="en-US" altLang="zh-CN" sz="2400" b="1" i="1" dirty="0">
                <a:solidFill>
                  <a:srgbClr val="0B61FF"/>
                </a:solidFill>
                <a:effectLst/>
                <a:latin typeface="Trebuchet MS" panose="020B0603020202020204" pitchFamily="34" charset="0"/>
              </a:rPr>
              <a:t>y</a:t>
            </a:r>
            <a:r>
              <a:rPr lang="en-US" altLang="zh-CN" sz="2400" b="1" i="0" dirty="0">
                <a:solidFill>
                  <a:srgbClr val="0B61FF"/>
                </a:solidFill>
                <a:effectLst/>
                <a:latin typeface="Trebuchet MS" panose="020B0603020202020204" pitchFamily="34" charset="0"/>
              </a:rPr>
              <a:t>))</a:t>
            </a:r>
            <a:r>
              <a:rPr lang="en-US" b="0" i="0" dirty="0">
                <a:solidFill>
                  <a:srgbClr val="0C0D0E"/>
                </a:solidFill>
                <a:effectLst/>
                <a:latin typeface="Trebuchet MS" panose="020B0603020202020204" pitchFamily="34" charset="0"/>
              </a:rPr>
              <a:t>)</a:t>
            </a:r>
          </a:p>
        </p:txBody>
      </p:sp>
    </p:spTree>
    <p:extLst>
      <p:ext uri="{BB962C8B-B14F-4D97-AF65-F5344CB8AC3E}">
        <p14:creationId xmlns:p14="http://schemas.microsoft.com/office/powerpoint/2010/main" val="145059177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animEffect transition="in" filter="fade">
                                      <p:cBhvr>
                                        <p:cTn id="7" dur="1000"/>
                                        <p:tgtEl>
                                          <p:spTgt spid="8">
                                            <p:txEl>
                                              <p:pRg st="1" end="1"/>
                                            </p:txEl>
                                          </p:spTgt>
                                        </p:tgtEl>
                                      </p:cBhvr>
                                    </p:animEffect>
                                    <p:anim calcmode="lin" valueType="num">
                                      <p:cBhvr>
                                        <p:cTn id="8" dur="1000" fill="hold"/>
                                        <p:tgtEl>
                                          <p:spTgt spid="8">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8">
                                            <p:txEl>
                                              <p:pRg st="2" end="2"/>
                                            </p:txEl>
                                          </p:spTgt>
                                        </p:tgtEl>
                                        <p:attrNameLst>
                                          <p:attrName>style.visibility</p:attrName>
                                        </p:attrNameLst>
                                      </p:cBhvr>
                                      <p:to>
                                        <p:strVal val="visible"/>
                                      </p:to>
                                    </p:set>
                                    <p:animEffect transition="in" filter="fade">
                                      <p:cBhvr>
                                        <p:cTn id="14" dur="1000"/>
                                        <p:tgtEl>
                                          <p:spTgt spid="8">
                                            <p:txEl>
                                              <p:pRg st="2" end="2"/>
                                            </p:txEl>
                                          </p:spTgt>
                                        </p:tgtEl>
                                      </p:cBhvr>
                                    </p:animEffect>
                                    <p:anim calcmode="lin" valueType="num">
                                      <p:cBhvr>
                                        <p:cTn id="15"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8">
                                            <p:txEl>
                                              <p:pRg st="2" end="2"/>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8">
                                            <p:txEl>
                                              <p:pRg st="3" end="3"/>
                                            </p:txEl>
                                          </p:spTgt>
                                        </p:tgtEl>
                                        <p:attrNameLst>
                                          <p:attrName>style.visibility</p:attrName>
                                        </p:attrNameLst>
                                      </p:cBhvr>
                                      <p:to>
                                        <p:strVal val="visible"/>
                                      </p:to>
                                    </p:set>
                                    <p:animEffect transition="in" filter="fade">
                                      <p:cBhvr>
                                        <p:cTn id="19" dur="1000"/>
                                        <p:tgtEl>
                                          <p:spTgt spid="8">
                                            <p:txEl>
                                              <p:pRg st="3" end="3"/>
                                            </p:txEl>
                                          </p:spTgt>
                                        </p:tgtEl>
                                      </p:cBhvr>
                                    </p:animEffect>
                                    <p:anim calcmode="lin" valueType="num">
                                      <p:cBhvr>
                                        <p:cTn id="20"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21" dur="1000" fill="hold"/>
                                        <p:tgtEl>
                                          <p:spTgt spid="8">
                                            <p:txEl>
                                              <p:pRg st="3" end="3"/>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8">
                                            <p:txEl>
                                              <p:pRg st="4" end="4"/>
                                            </p:txEl>
                                          </p:spTgt>
                                        </p:tgtEl>
                                        <p:attrNameLst>
                                          <p:attrName>style.visibility</p:attrName>
                                        </p:attrNameLst>
                                      </p:cBhvr>
                                      <p:to>
                                        <p:strVal val="visible"/>
                                      </p:to>
                                    </p:set>
                                    <p:animEffect transition="in" filter="fade">
                                      <p:cBhvr>
                                        <p:cTn id="24" dur="1000"/>
                                        <p:tgtEl>
                                          <p:spTgt spid="8">
                                            <p:txEl>
                                              <p:pRg st="4" end="4"/>
                                            </p:txEl>
                                          </p:spTgt>
                                        </p:tgtEl>
                                      </p:cBhvr>
                                    </p:animEffect>
                                    <p:anim calcmode="lin" valueType="num">
                                      <p:cBhvr>
                                        <p:cTn id="25" dur="1000" fill="hold"/>
                                        <p:tgtEl>
                                          <p:spTgt spid="8">
                                            <p:txEl>
                                              <p:pRg st="4" end="4"/>
                                            </p:txEl>
                                          </p:spTgt>
                                        </p:tgtEl>
                                        <p:attrNameLst>
                                          <p:attrName>ppt_x</p:attrName>
                                        </p:attrNameLst>
                                      </p:cBhvr>
                                      <p:tavLst>
                                        <p:tav tm="0">
                                          <p:val>
                                            <p:strVal val="#ppt_x"/>
                                          </p:val>
                                        </p:tav>
                                        <p:tav tm="100000">
                                          <p:val>
                                            <p:strVal val="#ppt_x"/>
                                          </p:val>
                                        </p:tav>
                                      </p:tavLst>
                                    </p:anim>
                                    <p:anim calcmode="lin" valueType="num">
                                      <p:cBhvr>
                                        <p:cTn id="26" dur="1000" fill="hold"/>
                                        <p:tgtEl>
                                          <p:spTgt spid="8">
                                            <p:txEl>
                                              <p:pRg st="4" end="4"/>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8">
                                            <p:txEl>
                                              <p:pRg st="5" end="5"/>
                                            </p:txEl>
                                          </p:spTgt>
                                        </p:tgtEl>
                                        <p:attrNameLst>
                                          <p:attrName>style.visibility</p:attrName>
                                        </p:attrNameLst>
                                      </p:cBhvr>
                                      <p:to>
                                        <p:strVal val="visible"/>
                                      </p:to>
                                    </p:set>
                                    <p:animEffect transition="in" filter="fade">
                                      <p:cBhvr>
                                        <p:cTn id="29" dur="1000"/>
                                        <p:tgtEl>
                                          <p:spTgt spid="8">
                                            <p:txEl>
                                              <p:pRg st="5" end="5"/>
                                            </p:txEl>
                                          </p:spTgt>
                                        </p:tgtEl>
                                      </p:cBhvr>
                                    </p:animEffect>
                                    <p:anim calcmode="lin" valueType="num">
                                      <p:cBhvr>
                                        <p:cTn id="30" dur="1000" fill="hold"/>
                                        <p:tgtEl>
                                          <p:spTgt spid="8">
                                            <p:txEl>
                                              <p:pRg st="5" end="5"/>
                                            </p:txEl>
                                          </p:spTgt>
                                        </p:tgtEl>
                                        <p:attrNameLst>
                                          <p:attrName>ppt_x</p:attrName>
                                        </p:attrNameLst>
                                      </p:cBhvr>
                                      <p:tavLst>
                                        <p:tav tm="0">
                                          <p:val>
                                            <p:strVal val="#ppt_x"/>
                                          </p:val>
                                        </p:tav>
                                        <p:tav tm="100000">
                                          <p:val>
                                            <p:strVal val="#ppt_x"/>
                                          </p:val>
                                        </p:tav>
                                      </p:tavLst>
                                    </p:anim>
                                    <p:anim calcmode="lin" valueType="num">
                                      <p:cBhvr>
                                        <p:cTn id="31" dur="1000" fill="hold"/>
                                        <p:tgtEl>
                                          <p:spTgt spid="8">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nodeType="clickEffect">
                                  <p:stCondLst>
                                    <p:cond delay="0"/>
                                  </p:stCondLst>
                                  <p:childTnLst>
                                    <p:set>
                                      <p:cBhvr>
                                        <p:cTn id="35" dur="1" fill="hold">
                                          <p:stCondLst>
                                            <p:cond delay="0"/>
                                          </p:stCondLst>
                                        </p:cTn>
                                        <p:tgtEl>
                                          <p:spTgt spid="8">
                                            <p:txEl>
                                              <p:pRg st="6" end="6"/>
                                            </p:txEl>
                                          </p:spTgt>
                                        </p:tgtEl>
                                        <p:attrNameLst>
                                          <p:attrName>style.visibility</p:attrName>
                                        </p:attrNameLst>
                                      </p:cBhvr>
                                      <p:to>
                                        <p:strVal val="visible"/>
                                      </p:to>
                                    </p:set>
                                    <p:animEffect transition="in" filter="fade">
                                      <p:cBhvr>
                                        <p:cTn id="36" dur="1000"/>
                                        <p:tgtEl>
                                          <p:spTgt spid="8">
                                            <p:txEl>
                                              <p:pRg st="6" end="6"/>
                                            </p:txEl>
                                          </p:spTgt>
                                        </p:tgtEl>
                                      </p:cBhvr>
                                    </p:animEffect>
                                    <p:anim calcmode="lin" valueType="num">
                                      <p:cBhvr>
                                        <p:cTn id="37" dur="1000" fill="hold"/>
                                        <p:tgtEl>
                                          <p:spTgt spid="8">
                                            <p:txEl>
                                              <p:pRg st="6" end="6"/>
                                            </p:txEl>
                                          </p:spTgt>
                                        </p:tgtEl>
                                        <p:attrNameLst>
                                          <p:attrName>ppt_x</p:attrName>
                                        </p:attrNameLst>
                                      </p:cBhvr>
                                      <p:tavLst>
                                        <p:tav tm="0">
                                          <p:val>
                                            <p:strVal val="#ppt_x"/>
                                          </p:val>
                                        </p:tav>
                                        <p:tav tm="100000">
                                          <p:val>
                                            <p:strVal val="#ppt_x"/>
                                          </p:val>
                                        </p:tav>
                                      </p:tavLst>
                                    </p:anim>
                                    <p:anim calcmode="lin" valueType="num">
                                      <p:cBhvr>
                                        <p:cTn id="38" dur="1000" fill="hold"/>
                                        <p:tgtEl>
                                          <p:spTgt spid="8">
                                            <p:txEl>
                                              <p:pRg st="6" end="6"/>
                                            </p:txEl>
                                          </p:spTgt>
                                        </p:tgtEl>
                                        <p:attrNameLst>
                                          <p:attrName>ppt_y</p:attrName>
                                        </p:attrNameLst>
                                      </p:cBhvr>
                                      <p:tavLst>
                                        <p:tav tm="0">
                                          <p:val>
                                            <p:strVal val="#ppt_y+.1"/>
                                          </p:val>
                                        </p:tav>
                                        <p:tav tm="100000">
                                          <p:val>
                                            <p:strVal val="#ppt_y"/>
                                          </p:val>
                                        </p:tav>
                                      </p:tavLst>
                                    </p:anim>
                                  </p:childTnLst>
                                </p:cTn>
                              </p:par>
                              <p:par>
                                <p:cTn id="39" presetID="42" presetClass="entr" presetSubtype="0" fill="hold" nodeType="withEffect">
                                  <p:stCondLst>
                                    <p:cond delay="0"/>
                                  </p:stCondLst>
                                  <p:childTnLst>
                                    <p:set>
                                      <p:cBhvr>
                                        <p:cTn id="40" dur="1" fill="hold">
                                          <p:stCondLst>
                                            <p:cond delay="0"/>
                                          </p:stCondLst>
                                        </p:cTn>
                                        <p:tgtEl>
                                          <p:spTgt spid="8">
                                            <p:txEl>
                                              <p:pRg st="7" end="7"/>
                                            </p:txEl>
                                          </p:spTgt>
                                        </p:tgtEl>
                                        <p:attrNameLst>
                                          <p:attrName>style.visibility</p:attrName>
                                        </p:attrNameLst>
                                      </p:cBhvr>
                                      <p:to>
                                        <p:strVal val="visible"/>
                                      </p:to>
                                    </p:set>
                                    <p:animEffect transition="in" filter="fade">
                                      <p:cBhvr>
                                        <p:cTn id="41" dur="1000"/>
                                        <p:tgtEl>
                                          <p:spTgt spid="8">
                                            <p:txEl>
                                              <p:pRg st="7" end="7"/>
                                            </p:txEl>
                                          </p:spTgt>
                                        </p:tgtEl>
                                      </p:cBhvr>
                                    </p:animEffect>
                                    <p:anim calcmode="lin" valueType="num">
                                      <p:cBhvr>
                                        <p:cTn id="42" dur="1000" fill="hold"/>
                                        <p:tgtEl>
                                          <p:spTgt spid="8">
                                            <p:txEl>
                                              <p:pRg st="7" end="7"/>
                                            </p:txEl>
                                          </p:spTgt>
                                        </p:tgtEl>
                                        <p:attrNameLst>
                                          <p:attrName>ppt_x</p:attrName>
                                        </p:attrNameLst>
                                      </p:cBhvr>
                                      <p:tavLst>
                                        <p:tav tm="0">
                                          <p:val>
                                            <p:strVal val="#ppt_x"/>
                                          </p:val>
                                        </p:tav>
                                        <p:tav tm="100000">
                                          <p:val>
                                            <p:strVal val="#ppt_x"/>
                                          </p:val>
                                        </p:tav>
                                      </p:tavLst>
                                    </p:anim>
                                    <p:anim calcmode="lin" valueType="num">
                                      <p:cBhvr>
                                        <p:cTn id="43" dur="1000" fill="hold"/>
                                        <p:tgtEl>
                                          <p:spTgt spid="8">
                                            <p:txEl>
                                              <p:pRg st="7" end="7"/>
                                            </p:txEl>
                                          </p:spTgt>
                                        </p:tgtEl>
                                        <p:attrNameLst>
                                          <p:attrName>ppt_y</p:attrName>
                                        </p:attrNameLst>
                                      </p:cBhvr>
                                      <p:tavLst>
                                        <p:tav tm="0">
                                          <p:val>
                                            <p:strVal val="#ppt_y+.1"/>
                                          </p:val>
                                        </p:tav>
                                        <p:tav tm="100000">
                                          <p:val>
                                            <p:strVal val="#ppt_y"/>
                                          </p:val>
                                        </p:tav>
                                      </p:tavLst>
                                    </p:anim>
                                  </p:childTnLst>
                                </p:cTn>
                              </p:par>
                              <p:par>
                                <p:cTn id="44" presetID="42" presetClass="entr" presetSubtype="0" fill="hold" nodeType="withEffect">
                                  <p:stCondLst>
                                    <p:cond delay="0"/>
                                  </p:stCondLst>
                                  <p:childTnLst>
                                    <p:set>
                                      <p:cBhvr>
                                        <p:cTn id="45" dur="1" fill="hold">
                                          <p:stCondLst>
                                            <p:cond delay="0"/>
                                          </p:stCondLst>
                                        </p:cTn>
                                        <p:tgtEl>
                                          <p:spTgt spid="8">
                                            <p:txEl>
                                              <p:pRg st="8" end="8"/>
                                            </p:txEl>
                                          </p:spTgt>
                                        </p:tgtEl>
                                        <p:attrNameLst>
                                          <p:attrName>style.visibility</p:attrName>
                                        </p:attrNameLst>
                                      </p:cBhvr>
                                      <p:to>
                                        <p:strVal val="visible"/>
                                      </p:to>
                                    </p:set>
                                    <p:animEffect transition="in" filter="fade">
                                      <p:cBhvr>
                                        <p:cTn id="46" dur="1000"/>
                                        <p:tgtEl>
                                          <p:spTgt spid="8">
                                            <p:txEl>
                                              <p:pRg st="8" end="8"/>
                                            </p:txEl>
                                          </p:spTgt>
                                        </p:tgtEl>
                                      </p:cBhvr>
                                    </p:animEffect>
                                    <p:anim calcmode="lin" valueType="num">
                                      <p:cBhvr>
                                        <p:cTn id="47" dur="1000" fill="hold"/>
                                        <p:tgtEl>
                                          <p:spTgt spid="8">
                                            <p:txEl>
                                              <p:pRg st="8" end="8"/>
                                            </p:txEl>
                                          </p:spTgt>
                                        </p:tgtEl>
                                        <p:attrNameLst>
                                          <p:attrName>ppt_x</p:attrName>
                                        </p:attrNameLst>
                                      </p:cBhvr>
                                      <p:tavLst>
                                        <p:tav tm="0">
                                          <p:val>
                                            <p:strVal val="#ppt_x"/>
                                          </p:val>
                                        </p:tav>
                                        <p:tav tm="100000">
                                          <p:val>
                                            <p:strVal val="#ppt_x"/>
                                          </p:val>
                                        </p:tav>
                                      </p:tavLst>
                                    </p:anim>
                                    <p:anim calcmode="lin" valueType="num">
                                      <p:cBhvr>
                                        <p:cTn id="48" dur="1000" fill="hold"/>
                                        <p:tgtEl>
                                          <p:spTgt spid="8">
                                            <p:txEl>
                                              <p:pRg st="8" end="8"/>
                                            </p:txEl>
                                          </p:spTgt>
                                        </p:tgtEl>
                                        <p:attrNameLst>
                                          <p:attrName>ppt_y</p:attrName>
                                        </p:attrNameLst>
                                      </p:cBhvr>
                                      <p:tavLst>
                                        <p:tav tm="0">
                                          <p:val>
                                            <p:strVal val="#ppt_y+.1"/>
                                          </p:val>
                                        </p:tav>
                                        <p:tav tm="100000">
                                          <p:val>
                                            <p:strVal val="#ppt_y"/>
                                          </p:val>
                                        </p:tav>
                                      </p:tavLst>
                                    </p:anim>
                                  </p:childTnLst>
                                </p:cTn>
                              </p:par>
                              <p:par>
                                <p:cTn id="49" presetID="42" presetClass="entr" presetSubtype="0" fill="hold" nodeType="withEffect">
                                  <p:stCondLst>
                                    <p:cond delay="0"/>
                                  </p:stCondLst>
                                  <p:childTnLst>
                                    <p:set>
                                      <p:cBhvr>
                                        <p:cTn id="50" dur="1" fill="hold">
                                          <p:stCondLst>
                                            <p:cond delay="0"/>
                                          </p:stCondLst>
                                        </p:cTn>
                                        <p:tgtEl>
                                          <p:spTgt spid="8">
                                            <p:txEl>
                                              <p:pRg st="9" end="9"/>
                                            </p:txEl>
                                          </p:spTgt>
                                        </p:tgtEl>
                                        <p:attrNameLst>
                                          <p:attrName>style.visibility</p:attrName>
                                        </p:attrNameLst>
                                      </p:cBhvr>
                                      <p:to>
                                        <p:strVal val="visible"/>
                                      </p:to>
                                    </p:set>
                                    <p:animEffect transition="in" filter="fade">
                                      <p:cBhvr>
                                        <p:cTn id="51" dur="1000"/>
                                        <p:tgtEl>
                                          <p:spTgt spid="8">
                                            <p:txEl>
                                              <p:pRg st="9" end="9"/>
                                            </p:txEl>
                                          </p:spTgt>
                                        </p:tgtEl>
                                      </p:cBhvr>
                                    </p:animEffect>
                                    <p:anim calcmode="lin" valueType="num">
                                      <p:cBhvr>
                                        <p:cTn id="52" dur="1000" fill="hold"/>
                                        <p:tgtEl>
                                          <p:spTgt spid="8">
                                            <p:txEl>
                                              <p:pRg st="9" end="9"/>
                                            </p:txEl>
                                          </p:spTgt>
                                        </p:tgtEl>
                                        <p:attrNameLst>
                                          <p:attrName>ppt_x</p:attrName>
                                        </p:attrNameLst>
                                      </p:cBhvr>
                                      <p:tavLst>
                                        <p:tav tm="0">
                                          <p:val>
                                            <p:strVal val="#ppt_x"/>
                                          </p:val>
                                        </p:tav>
                                        <p:tav tm="100000">
                                          <p:val>
                                            <p:strVal val="#ppt_x"/>
                                          </p:val>
                                        </p:tav>
                                      </p:tavLst>
                                    </p:anim>
                                    <p:anim calcmode="lin" valueType="num">
                                      <p:cBhvr>
                                        <p:cTn id="53" dur="1000" fill="hold"/>
                                        <p:tgtEl>
                                          <p:spTgt spid="8">
                                            <p:txEl>
                                              <p:pRg st="9" end="9"/>
                                            </p:txEl>
                                          </p:spTgt>
                                        </p:tgtEl>
                                        <p:attrNameLst>
                                          <p:attrName>ppt_y</p:attrName>
                                        </p:attrNameLst>
                                      </p:cBhvr>
                                      <p:tavLst>
                                        <p:tav tm="0">
                                          <p:val>
                                            <p:strVal val="#ppt_y+.1"/>
                                          </p:val>
                                        </p:tav>
                                        <p:tav tm="100000">
                                          <p:val>
                                            <p:strVal val="#ppt_y"/>
                                          </p:val>
                                        </p:tav>
                                      </p:tavLst>
                                    </p:anim>
                                  </p:childTnLst>
                                </p:cTn>
                              </p:par>
                              <p:par>
                                <p:cTn id="54" presetID="42" presetClass="entr" presetSubtype="0" fill="hold" nodeType="withEffect">
                                  <p:stCondLst>
                                    <p:cond delay="0"/>
                                  </p:stCondLst>
                                  <p:childTnLst>
                                    <p:set>
                                      <p:cBhvr>
                                        <p:cTn id="55" dur="1" fill="hold">
                                          <p:stCondLst>
                                            <p:cond delay="0"/>
                                          </p:stCondLst>
                                        </p:cTn>
                                        <p:tgtEl>
                                          <p:spTgt spid="8">
                                            <p:txEl>
                                              <p:pRg st="10" end="10"/>
                                            </p:txEl>
                                          </p:spTgt>
                                        </p:tgtEl>
                                        <p:attrNameLst>
                                          <p:attrName>style.visibility</p:attrName>
                                        </p:attrNameLst>
                                      </p:cBhvr>
                                      <p:to>
                                        <p:strVal val="visible"/>
                                      </p:to>
                                    </p:set>
                                    <p:animEffect transition="in" filter="fade">
                                      <p:cBhvr>
                                        <p:cTn id="56" dur="1000"/>
                                        <p:tgtEl>
                                          <p:spTgt spid="8">
                                            <p:txEl>
                                              <p:pRg st="10" end="10"/>
                                            </p:txEl>
                                          </p:spTgt>
                                        </p:tgtEl>
                                      </p:cBhvr>
                                    </p:animEffect>
                                    <p:anim calcmode="lin" valueType="num">
                                      <p:cBhvr>
                                        <p:cTn id="57" dur="1000" fill="hold"/>
                                        <p:tgtEl>
                                          <p:spTgt spid="8">
                                            <p:txEl>
                                              <p:pRg st="10" end="10"/>
                                            </p:txEl>
                                          </p:spTgt>
                                        </p:tgtEl>
                                        <p:attrNameLst>
                                          <p:attrName>ppt_x</p:attrName>
                                        </p:attrNameLst>
                                      </p:cBhvr>
                                      <p:tavLst>
                                        <p:tav tm="0">
                                          <p:val>
                                            <p:strVal val="#ppt_x"/>
                                          </p:val>
                                        </p:tav>
                                        <p:tav tm="100000">
                                          <p:val>
                                            <p:strVal val="#ppt_x"/>
                                          </p:val>
                                        </p:tav>
                                      </p:tavLst>
                                    </p:anim>
                                    <p:anim calcmode="lin" valueType="num">
                                      <p:cBhvr>
                                        <p:cTn id="58" dur="1000" fill="hold"/>
                                        <p:tgtEl>
                                          <p:spTgt spid="8">
                                            <p:txEl>
                                              <p:pRg st="10" end="1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400" b="1" dirty="0">
                <a:solidFill>
                  <a:schemeClr val="bg1"/>
                </a:solidFill>
                <a:latin typeface="Trebuchet MS" panose="020B0603020202020204" pitchFamily="34" charset="0"/>
              </a:rPr>
              <a:t>           3.1 Basic Concepts of First-Order Logic</a:t>
            </a:r>
            <a:endParaRPr lang="en-US" altLang="zh-CN" sz="2000" b="1"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0125" y="892175"/>
            <a:ext cx="10536477" cy="503615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304800" algn="l">
              <a:lnSpc>
                <a:spcPct val="130000"/>
              </a:lnSpc>
              <a:spcBef>
                <a:spcPts val="600"/>
              </a:spcBef>
              <a:buClr>
                <a:srgbClr val="0B61FF"/>
              </a:buClr>
              <a:buSzPct val="80000"/>
              <a:buFont typeface="Wingdings" panose="05000000000000000000" pitchFamily="2" charset="2"/>
              <a:buChar char="n"/>
            </a:pPr>
            <a:r>
              <a:rPr lang="en-US" altLang="zh-CN" sz="2400" b="1" i="0" dirty="0">
                <a:solidFill>
                  <a:schemeClr val="bg2">
                    <a:lumMod val="75000"/>
                  </a:schemeClr>
                </a:solidFill>
                <a:effectLst/>
                <a:latin typeface="Trebuchet MS" panose="020B0603020202020204" pitchFamily="34" charset="0"/>
              </a:rPr>
              <a:t>3.1.1 The Limitations of Propositional Logic</a:t>
            </a:r>
          </a:p>
          <a:p>
            <a:pPr indent="304800" algn="l">
              <a:lnSpc>
                <a:spcPct val="130000"/>
              </a:lnSpc>
              <a:spcBef>
                <a:spcPts val="600"/>
              </a:spcBef>
              <a:buClr>
                <a:srgbClr val="0B61FF"/>
              </a:buClr>
              <a:buSzPct val="80000"/>
              <a:buFont typeface="Wingdings" panose="05000000000000000000" pitchFamily="2" charset="2"/>
              <a:buChar char="n"/>
            </a:pPr>
            <a:r>
              <a:rPr lang="en-US" altLang="zh-CN" sz="2400" b="1" i="0" dirty="0">
                <a:solidFill>
                  <a:schemeClr val="bg2">
                    <a:lumMod val="75000"/>
                  </a:schemeClr>
                </a:solidFill>
                <a:effectLst/>
                <a:latin typeface="Trebuchet MS" panose="020B0603020202020204" pitchFamily="34" charset="0"/>
              </a:rPr>
              <a:t>3.1.2 Individual Terms, Predicates, and Quantifiers</a:t>
            </a:r>
          </a:p>
          <a:p>
            <a:pPr indent="304800">
              <a:lnSpc>
                <a:spcPct val="130000"/>
              </a:lnSpc>
              <a:spcBef>
                <a:spcPts val="600"/>
              </a:spcBef>
              <a:buClr>
                <a:srgbClr val="0B61FF"/>
              </a:buClr>
              <a:buSzPct val="80000"/>
              <a:buFont typeface="Wingdings" panose="05000000000000000000" pitchFamily="2" charset="2"/>
              <a:buChar char="n"/>
            </a:pPr>
            <a:r>
              <a:rPr lang="en-US" altLang="zh-CN" sz="2400" b="1" dirty="0">
                <a:solidFill>
                  <a:schemeClr val="bg2">
                    <a:lumMod val="75000"/>
                  </a:schemeClr>
                </a:solidFill>
                <a:latin typeface="Trebuchet MS" panose="020B0603020202020204" pitchFamily="34" charset="0"/>
              </a:rPr>
              <a:t>3.1.3 Symbolization of First-Order Logic</a:t>
            </a:r>
          </a:p>
          <a:p>
            <a:pPr indent="304800">
              <a:lnSpc>
                <a:spcPct val="130000"/>
              </a:lnSpc>
              <a:spcBef>
                <a:spcPts val="600"/>
              </a:spcBef>
              <a:buClr>
                <a:srgbClr val="0B61FF"/>
              </a:buClr>
              <a:buSzPct val="80000"/>
              <a:buFont typeface="Wingdings" panose="05000000000000000000" pitchFamily="2" charset="2"/>
              <a:buChar char="n"/>
            </a:pPr>
            <a:r>
              <a:rPr lang="en-US" altLang="zh-CN" sz="2400" b="1" dirty="0">
                <a:solidFill>
                  <a:srgbClr val="0B61FF"/>
                </a:solidFill>
                <a:latin typeface="Trebuchet MS" panose="020B0603020202020204" pitchFamily="34" charset="0"/>
              </a:rPr>
              <a:t>3.1.4 First-Order Logic Formulas and Classification</a:t>
            </a:r>
          </a:p>
          <a:p>
            <a:pPr lvl="1">
              <a:buClr>
                <a:srgbClr val="0B61FF"/>
              </a:buClr>
              <a:buSzPct val="120000"/>
            </a:pPr>
            <a:r>
              <a:rPr lang="en-US" altLang="zh-CN" b="0" i="0" dirty="0">
                <a:solidFill>
                  <a:srgbClr val="0C0D0E"/>
                </a:solidFill>
                <a:effectLst/>
                <a:latin typeface="Trebuchet MS" panose="020B0603020202020204" pitchFamily="34" charset="0"/>
              </a:rPr>
              <a:t>First-order language  (alphabet, terms, atomic formulas, compound formulas)</a:t>
            </a:r>
          </a:p>
          <a:p>
            <a:pPr lvl="1">
              <a:buClr>
                <a:srgbClr val="0B61FF"/>
              </a:buClr>
              <a:buSzPct val="120000"/>
            </a:pPr>
            <a:r>
              <a:rPr lang="en-US" altLang="zh-CN" b="0" i="0" dirty="0">
                <a:solidFill>
                  <a:srgbClr val="0C0D0E"/>
                </a:solidFill>
                <a:effectLst/>
                <a:latin typeface="Trebuchet MS" panose="020B0603020202020204" pitchFamily="34" charset="0"/>
              </a:rPr>
              <a:t>Scope and bound variables, bound occurrences and free occurrences</a:t>
            </a:r>
          </a:p>
          <a:p>
            <a:pPr lvl="1">
              <a:buClr>
                <a:srgbClr val="0B61FF"/>
              </a:buClr>
              <a:buSzPct val="120000"/>
            </a:pPr>
            <a:r>
              <a:rPr lang="en-US" altLang="zh-CN" b="0" i="0" dirty="0">
                <a:solidFill>
                  <a:srgbClr val="0C0D0E"/>
                </a:solidFill>
                <a:effectLst/>
                <a:latin typeface="Trebuchet MS" panose="020B0603020202020204" pitchFamily="34" charset="0"/>
              </a:rPr>
              <a:t>Closed formulas</a:t>
            </a:r>
          </a:p>
          <a:p>
            <a:pPr lvl="1">
              <a:buClr>
                <a:srgbClr val="0B61FF"/>
              </a:buClr>
              <a:buSzPct val="120000"/>
            </a:pPr>
            <a:r>
              <a:rPr lang="en-US" altLang="zh-CN" b="0" i="0" dirty="0">
                <a:solidFill>
                  <a:srgbClr val="0C0D0E"/>
                </a:solidFill>
                <a:effectLst/>
                <a:latin typeface="Trebuchet MS" panose="020B0603020202020204" pitchFamily="34" charset="0"/>
              </a:rPr>
              <a:t>Interpretation of first-order language </a:t>
            </a:r>
          </a:p>
          <a:p>
            <a:pPr lvl="1">
              <a:buClr>
                <a:srgbClr val="0B61FF"/>
              </a:buClr>
              <a:buSzPct val="120000"/>
            </a:pPr>
            <a:r>
              <a:rPr lang="en-US" altLang="zh-CN" b="0" i="0" dirty="0">
                <a:solidFill>
                  <a:srgbClr val="0C0D0E"/>
                </a:solidFill>
                <a:effectLst/>
                <a:latin typeface="Trebuchet MS" panose="020B0603020202020204" pitchFamily="34" charset="0"/>
              </a:rPr>
              <a:t>Tautologies, contradictions, and satisfiable formulas</a:t>
            </a:r>
          </a:p>
          <a:p>
            <a:pPr lvl="1">
              <a:buClr>
                <a:srgbClr val="0B61FF"/>
              </a:buClr>
              <a:buSzPct val="120000"/>
            </a:pPr>
            <a:r>
              <a:rPr lang="en-US" altLang="zh-CN" b="0" i="0" dirty="0">
                <a:solidFill>
                  <a:srgbClr val="0C0D0E"/>
                </a:solidFill>
                <a:effectLst/>
                <a:latin typeface="Trebuchet MS" panose="020B0603020202020204" pitchFamily="34" charset="0"/>
              </a:rPr>
              <a:t>Substitution examples</a:t>
            </a:r>
          </a:p>
          <a:p>
            <a:pPr indent="0">
              <a:lnSpc>
                <a:spcPct val="130000"/>
              </a:lnSpc>
              <a:spcBef>
                <a:spcPts val="600"/>
              </a:spcBef>
              <a:buClr>
                <a:srgbClr val="0B61FF"/>
              </a:buClr>
              <a:buSzPct val="80000"/>
              <a:buNone/>
            </a:pPr>
            <a:endParaRPr lang="en-US" altLang="zh-CN" sz="2400" b="1" dirty="0">
              <a:solidFill>
                <a:srgbClr val="0B61FF"/>
              </a:solidFill>
              <a:latin typeface="Trebuchet MS" panose="020B0603020202020204" pitchFamily="34" charset="0"/>
            </a:endParaRPr>
          </a:p>
          <a:p>
            <a:pPr indent="304800">
              <a:lnSpc>
                <a:spcPct val="130000"/>
              </a:lnSpc>
              <a:spcBef>
                <a:spcPts val="600"/>
              </a:spcBef>
              <a:buClr>
                <a:srgbClr val="0B61FF"/>
              </a:buClr>
              <a:buSzPct val="80000"/>
              <a:buFont typeface="Wingdings" panose="05000000000000000000" pitchFamily="2" charset="2"/>
              <a:buChar char="n"/>
            </a:pPr>
            <a:endParaRPr lang="zh-CN" altLang="en-US" b="1" dirty="0">
              <a:latin typeface="Trebuchet MS" panose="020B0603020202020204" pitchFamily="34" charset="0"/>
            </a:endParaRPr>
          </a:p>
        </p:txBody>
      </p:sp>
    </p:spTree>
    <p:extLst>
      <p:ext uri="{BB962C8B-B14F-4D97-AF65-F5344CB8AC3E}">
        <p14:creationId xmlns:p14="http://schemas.microsoft.com/office/powerpoint/2010/main" val="428554087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spcBef>
                <a:spcPts val="600"/>
              </a:spcBef>
              <a:buClr>
                <a:srgbClr val="0B61FF"/>
              </a:buClr>
              <a:buSzPct val="80000"/>
            </a:pPr>
            <a:r>
              <a:rPr lang="en-US" altLang="zh-CN" sz="2000" b="1" dirty="0">
                <a:effectLst/>
                <a:latin typeface="Cambria Math" panose="02040503050406030204" pitchFamily="18" charset="0"/>
                <a:ea typeface="Cambria Math" panose="02040503050406030204" pitchFamily="18" charset="0"/>
                <a:cs typeface="Times New Roman" panose="02020603050405020304" pitchFamily="18" charset="0"/>
              </a:rPr>
              <a:t>                  </a:t>
            </a:r>
            <a:r>
              <a:rPr lang="en-US" altLang="zh-CN" sz="2000" b="1" dirty="0">
                <a:solidFill>
                  <a:schemeClr val="bg1"/>
                </a:solidFill>
                <a:latin typeface="Trebuchet MS" panose="020B0603020202020204" pitchFamily="34" charset="0"/>
              </a:rPr>
              <a:t>3.1.4</a:t>
            </a:r>
            <a:r>
              <a:rPr lang="en-US" altLang="zh-CN" sz="2000" b="1" dirty="0">
                <a:solidFill>
                  <a:srgbClr val="0B61FF"/>
                </a:solidFill>
                <a:latin typeface="Trebuchet MS" panose="020B0603020202020204" pitchFamily="34" charset="0"/>
              </a:rPr>
              <a:t> </a:t>
            </a:r>
            <a:r>
              <a:rPr lang="en-US" altLang="zh-CN" sz="2000" b="1" dirty="0">
                <a:solidFill>
                  <a:schemeClr val="bg1"/>
                </a:solidFill>
                <a:latin typeface="Trebuchet MS" panose="020B0603020202020204" pitchFamily="34" charset="0"/>
              </a:rPr>
              <a:t>First-Order Logic Formulas and Classification</a:t>
            </a:r>
          </a:p>
          <a:p>
            <a:pPr>
              <a:spcBef>
                <a:spcPts val="600"/>
              </a:spcBef>
              <a:buClr>
                <a:srgbClr val="0B61FF"/>
              </a:buClr>
              <a:buSzPct val="80000"/>
            </a:pPr>
            <a:r>
              <a:rPr lang="en-US" altLang="zh-CN" sz="1800" dirty="0">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2400" b="1" dirty="0">
                <a:solidFill>
                  <a:schemeClr val="bg1"/>
                </a:solidFill>
                <a:latin typeface="Trebuchet MS" panose="020B0603020202020204" pitchFamily="34" charset="0"/>
                <a:ea typeface="Cambria Math" panose="02040503050406030204" pitchFamily="18" charset="0"/>
                <a:cs typeface="Times New Roman" panose="02020603050405020304" pitchFamily="18" charset="0"/>
              </a:rPr>
              <a:t>F</a:t>
            </a:r>
            <a:r>
              <a:rPr lang="en-US" altLang="zh-CN" sz="2400" b="1" i="0" dirty="0">
                <a:solidFill>
                  <a:schemeClr val="bg1"/>
                </a:solidFill>
                <a:effectLst/>
                <a:latin typeface="Trebuchet MS" panose="020B0603020202020204" pitchFamily="34" charset="0"/>
              </a:rPr>
              <a:t>irst-order language </a:t>
            </a:r>
            <a:endParaRPr lang="zh-CN" altLang="en-US" sz="2400" b="1" dirty="0">
              <a:solidFill>
                <a:schemeClr val="bg1"/>
              </a:solidFill>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0124" y="767133"/>
            <a:ext cx="10310133" cy="548162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lnSpc>
                <a:spcPct val="110000"/>
              </a:lnSpc>
              <a:spcBef>
                <a:spcPts val="0"/>
              </a:spcBef>
              <a:buClr>
                <a:srgbClr val="0B61FF"/>
              </a:buClr>
              <a:buSzPct val="80000"/>
              <a:buFont typeface="Wingdings" panose="05000000000000000000" pitchFamily="2" charset="2"/>
              <a:buChar char="n"/>
            </a:pPr>
            <a:r>
              <a:rPr lang="en-US" sz="2400" b="0" i="0" dirty="0">
                <a:solidFill>
                  <a:srgbClr val="0C0D0E"/>
                </a:solidFill>
                <a:effectLst/>
                <a:latin typeface="Trebuchet MS" panose="020B0603020202020204" pitchFamily="34" charset="0"/>
              </a:rPr>
              <a:t> A </a:t>
            </a:r>
            <a:r>
              <a:rPr lang="en-US" sz="2400" b="1" i="1" dirty="0">
                <a:solidFill>
                  <a:srgbClr val="0C0D0E"/>
                </a:solidFill>
                <a:effectLst/>
                <a:latin typeface="Trebuchet MS" panose="020B0603020202020204" pitchFamily="34" charset="0"/>
              </a:rPr>
              <a:t>first-order lang</a:t>
            </a:r>
            <a:r>
              <a:rPr lang="en-US" sz="2400" b="1" dirty="0">
                <a:solidFill>
                  <a:srgbClr val="0C0D0E"/>
                </a:solidFill>
                <a:effectLst/>
                <a:latin typeface="Trebuchet MS" panose="020B0603020202020204" pitchFamily="34" charset="0"/>
              </a:rPr>
              <a:t>uage</a:t>
            </a:r>
            <a:r>
              <a:rPr lang="en-US" sz="2400" b="0" i="0" dirty="0">
                <a:solidFill>
                  <a:srgbClr val="0C0D0E"/>
                </a:solidFill>
                <a:effectLst/>
                <a:latin typeface="Trebuchet MS" panose="020B0603020202020204" pitchFamily="34" charset="0"/>
              </a:rPr>
              <a:t> is a symbolic language used to express statements in first-order logic. </a:t>
            </a:r>
            <a:r>
              <a:rPr lang="en-US" sz="2400" b="1" i="1" dirty="0">
                <a:solidFill>
                  <a:srgbClr val="0C0D0E"/>
                </a:solidFill>
                <a:effectLst/>
                <a:latin typeface="Trebuchet MS" panose="020B0603020202020204" pitchFamily="34" charset="0"/>
              </a:rPr>
              <a:t>Well-formed formulas </a:t>
            </a:r>
            <a:r>
              <a:rPr lang="en-US" sz="2400" b="0" i="0" dirty="0">
                <a:solidFill>
                  <a:srgbClr val="0C0D0E"/>
                </a:solidFill>
                <a:effectLst/>
                <a:latin typeface="Trebuchet MS" panose="020B0603020202020204" pitchFamily="34" charset="0"/>
              </a:rPr>
              <a:t>are its constructed expressions, used to precisely express complex statements about objects and their relationships.</a:t>
            </a:r>
          </a:p>
          <a:p>
            <a:pPr algn="l">
              <a:lnSpc>
                <a:spcPct val="110000"/>
              </a:lnSpc>
              <a:spcBef>
                <a:spcPts val="0"/>
              </a:spcBef>
              <a:buClr>
                <a:srgbClr val="0B61FF"/>
              </a:buClr>
              <a:buSzPct val="80000"/>
              <a:buFont typeface="Wingdings" panose="05000000000000000000" pitchFamily="2" charset="2"/>
              <a:buChar char="n"/>
            </a:pPr>
            <a:r>
              <a:rPr lang="en-US" sz="2400" b="1" i="0" dirty="0">
                <a:solidFill>
                  <a:srgbClr val="0C0D0E"/>
                </a:solidFill>
                <a:effectLst/>
                <a:latin typeface="Trebuchet MS" panose="020B0603020202020204" pitchFamily="34" charset="0"/>
              </a:rPr>
              <a:t>Definition 3.1:</a:t>
            </a:r>
            <a:r>
              <a:rPr lang="en-US" sz="2400" b="0" i="0" dirty="0">
                <a:solidFill>
                  <a:srgbClr val="0C0D0E"/>
                </a:solidFill>
                <a:effectLst/>
                <a:latin typeface="Trebuchet MS" panose="020B0603020202020204" pitchFamily="34" charset="0"/>
              </a:rPr>
              <a:t> The alphabet of a first-order language is defined as follows:</a:t>
            </a:r>
          </a:p>
          <a:p>
            <a:pPr marL="0" indent="174625" algn="l">
              <a:lnSpc>
                <a:spcPct val="110000"/>
              </a:lnSpc>
              <a:spcBef>
                <a:spcPts val="0"/>
              </a:spcBef>
              <a:buNone/>
            </a:pPr>
            <a:r>
              <a:rPr lang="en-US" sz="2400" b="1" i="0" dirty="0">
                <a:solidFill>
                  <a:srgbClr val="0B61FF"/>
                </a:solidFill>
                <a:effectLst/>
                <a:latin typeface="Trebuchet MS" panose="020B0603020202020204" pitchFamily="34" charset="0"/>
              </a:rPr>
              <a:t>(1) </a:t>
            </a:r>
            <a:r>
              <a:rPr lang="en-US" sz="2400" b="1" i="0" dirty="0">
                <a:solidFill>
                  <a:srgbClr val="0C0D0E"/>
                </a:solidFill>
                <a:effectLst/>
                <a:latin typeface="Trebuchet MS" panose="020B0603020202020204" pitchFamily="34" charset="0"/>
              </a:rPr>
              <a:t>Individual constants</a:t>
            </a:r>
            <a:r>
              <a:rPr lang="en-US" sz="2400" b="0" i="0" dirty="0">
                <a:solidFill>
                  <a:srgbClr val="0C0D0E"/>
                </a:solidFill>
                <a:effectLst/>
                <a:latin typeface="Trebuchet MS" panose="020B0603020202020204" pitchFamily="34" charset="0"/>
              </a:rPr>
              <a:t>: </a:t>
            </a:r>
            <a:r>
              <a:rPr lang="en-US" sz="2400" b="1" i="1" dirty="0">
                <a:solidFill>
                  <a:srgbClr val="0C0D0E"/>
                </a:solidFill>
                <a:effectLst/>
                <a:latin typeface="Trebuchet MS" panose="020B0603020202020204" pitchFamily="34" charset="0"/>
              </a:rPr>
              <a:t>a</a:t>
            </a:r>
            <a:r>
              <a:rPr lang="en-US" sz="2400" b="0" i="0" dirty="0">
                <a:solidFill>
                  <a:srgbClr val="0C0D0E"/>
                </a:solidFill>
                <a:effectLst/>
                <a:latin typeface="Trebuchet MS" panose="020B0603020202020204" pitchFamily="34" charset="0"/>
              </a:rPr>
              <a:t>,</a:t>
            </a:r>
            <a:r>
              <a:rPr lang="en-US" sz="2400" b="1" i="1" dirty="0">
                <a:solidFill>
                  <a:srgbClr val="0C0D0E"/>
                </a:solidFill>
                <a:effectLst/>
                <a:latin typeface="Trebuchet MS" panose="020B0603020202020204" pitchFamily="34" charset="0"/>
              </a:rPr>
              <a:t>b</a:t>
            </a:r>
            <a:r>
              <a:rPr lang="en-US" sz="2400" b="0" i="0" dirty="0">
                <a:solidFill>
                  <a:srgbClr val="0C0D0E"/>
                </a:solidFill>
                <a:effectLst/>
                <a:latin typeface="Trebuchet MS" panose="020B0603020202020204" pitchFamily="34" charset="0"/>
              </a:rPr>
              <a:t>,</a:t>
            </a:r>
            <a:r>
              <a:rPr lang="en-US" sz="2400" b="1" i="1" dirty="0">
                <a:solidFill>
                  <a:srgbClr val="0C0D0E"/>
                </a:solidFill>
                <a:effectLst/>
                <a:latin typeface="Trebuchet MS" panose="020B0603020202020204" pitchFamily="34" charset="0"/>
              </a:rPr>
              <a:t>c</a:t>
            </a:r>
            <a:r>
              <a:rPr lang="en-US" sz="2400" b="0" i="0" dirty="0">
                <a:solidFill>
                  <a:srgbClr val="0C0D0E"/>
                </a:solidFill>
                <a:effectLst/>
                <a:latin typeface="Trebuchet MS" panose="020B0603020202020204" pitchFamily="34" charset="0"/>
              </a:rPr>
              <a:t>,…,</a:t>
            </a:r>
            <a:r>
              <a:rPr lang="en-US" sz="2400" b="1" i="1" dirty="0">
                <a:solidFill>
                  <a:srgbClr val="0C0D0E"/>
                </a:solidFill>
                <a:effectLst/>
                <a:latin typeface="Trebuchet MS" panose="020B0603020202020204" pitchFamily="34" charset="0"/>
              </a:rPr>
              <a:t>a</a:t>
            </a:r>
            <a:r>
              <a:rPr lang="en-US" sz="2400" b="1" i="1" baseline="-25000" dirty="0">
                <a:solidFill>
                  <a:srgbClr val="0C0D0E"/>
                </a:solidFill>
                <a:effectLst/>
                <a:latin typeface="Trebuchet MS" panose="020B0603020202020204" pitchFamily="34" charset="0"/>
              </a:rPr>
              <a:t>i</a:t>
            </a:r>
            <a:r>
              <a:rPr lang="en-US" sz="2400" b="0" i="0" dirty="0">
                <a:solidFill>
                  <a:srgbClr val="0C0D0E"/>
                </a:solidFill>
                <a:effectLst/>
                <a:latin typeface="Trebuchet MS" panose="020B0603020202020204" pitchFamily="34" charset="0"/>
              </a:rPr>
              <a:t>,</a:t>
            </a:r>
            <a:r>
              <a:rPr lang="en-US" sz="2400" b="1" i="1" dirty="0">
                <a:solidFill>
                  <a:srgbClr val="0C0D0E"/>
                </a:solidFill>
                <a:effectLst/>
                <a:latin typeface="Trebuchet MS" panose="020B0603020202020204" pitchFamily="34" charset="0"/>
              </a:rPr>
              <a:t>b</a:t>
            </a:r>
            <a:r>
              <a:rPr lang="en-US" sz="2400" b="1" i="1" baseline="-25000" dirty="0">
                <a:solidFill>
                  <a:srgbClr val="0C0D0E"/>
                </a:solidFill>
                <a:latin typeface="Trebuchet MS" panose="020B0603020202020204" pitchFamily="34" charset="0"/>
              </a:rPr>
              <a:t>i</a:t>
            </a:r>
            <a:r>
              <a:rPr lang="en-US" sz="2400" b="0" i="0" dirty="0">
                <a:solidFill>
                  <a:srgbClr val="0C0D0E"/>
                </a:solidFill>
                <a:effectLst/>
                <a:latin typeface="Trebuchet MS" panose="020B0603020202020204" pitchFamily="34" charset="0"/>
              </a:rPr>
              <a:t>,</a:t>
            </a:r>
            <a:r>
              <a:rPr lang="en-US" sz="2400" b="1" i="1" dirty="0">
                <a:solidFill>
                  <a:srgbClr val="0C0D0E"/>
                </a:solidFill>
                <a:effectLst/>
                <a:latin typeface="Trebuchet MS" panose="020B0603020202020204" pitchFamily="34" charset="0"/>
              </a:rPr>
              <a:t>c</a:t>
            </a:r>
            <a:r>
              <a:rPr lang="en-US" sz="2400" b="1" i="1" baseline="-25000" dirty="0">
                <a:solidFill>
                  <a:srgbClr val="0C0D0E"/>
                </a:solidFill>
                <a:latin typeface="Trebuchet MS" panose="020B0603020202020204" pitchFamily="34" charset="0"/>
              </a:rPr>
              <a:t>i</a:t>
            </a:r>
            <a:r>
              <a:rPr lang="en-US" sz="2400" b="0" i="0" dirty="0">
                <a:solidFill>
                  <a:srgbClr val="0C0D0E"/>
                </a:solidFill>
                <a:effectLst/>
                <a:latin typeface="Trebuchet MS" panose="020B0603020202020204" pitchFamily="34" charset="0"/>
              </a:rPr>
              <a:t>,…, where </a:t>
            </a:r>
            <a:r>
              <a:rPr lang="en-US" sz="2400" b="1" i="1" dirty="0">
                <a:solidFill>
                  <a:srgbClr val="0C0D0E"/>
                </a:solidFill>
                <a:effectLst/>
                <a:latin typeface="Trebuchet MS" panose="020B0603020202020204" pitchFamily="34" charset="0"/>
              </a:rPr>
              <a:t>i</a:t>
            </a:r>
            <a:r>
              <a:rPr lang="en-US" sz="2400" b="0" i="0" dirty="0">
                <a:solidFill>
                  <a:srgbClr val="0C0D0E"/>
                </a:solidFill>
                <a:effectLst/>
                <a:latin typeface="Trebuchet MS" panose="020B0603020202020204" pitchFamily="34" charset="0"/>
              </a:rPr>
              <a:t>≥1</a:t>
            </a:r>
          </a:p>
          <a:p>
            <a:pPr marL="0" indent="174625" algn="l">
              <a:lnSpc>
                <a:spcPct val="110000"/>
              </a:lnSpc>
              <a:spcBef>
                <a:spcPts val="0"/>
              </a:spcBef>
              <a:buNone/>
            </a:pPr>
            <a:r>
              <a:rPr lang="en-US" altLang="zh-CN" sz="2400" b="1" i="0" dirty="0">
                <a:solidFill>
                  <a:srgbClr val="0B61FF"/>
                </a:solidFill>
                <a:effectLst/>
                <a:latin typeface="Trebuchet MS" panose="020B0603020202020204" pitchFamily="34" charset="0"/>
              </a:rPr>
              <a:t>(2) </a:t>
            </a:r>
            <a:r>
              <a:rPr lang="en-US" sz="2400" b="1" i="0" dirty="0">
                <a:solidFill>
                  <a:srgbClr val="0C0D0E"/>
                </a:solidFill>
                <a:effectLst/>
                <a:latin typeface="Trebuchet MS" panose="020B0603020202020204" pitchFamily="34" charset="0"/>
              </a:rPr>
              <a:t>Individual variables</a:t>
            </a:r>
            <a:r>
              <a:rPr lang="en-US" sz="2400" b="0" i="0" dirty="0">
                <a:solidFill>
                  <a:srgbClr val="0C0D0E"/>
                </a:solidFill>
                <a:effectLst/>
                <a:latin typeface="Trebuchet MS" panose="020B0603020202020204" pitchFamily="34" charset="0"/>
              </a:rPr>
              <a:t>: </a:t>
            </a:r>
            <a:r>
              <a:rPr lang="en-US" sz="2400" b="1" i="1" dirty="0">
                <a:solidFill>
                  <a:srgbClr val="0C0D0E"/>
                </a:solidFill>
                <a:effectLst/>
                <a:latin typeface="Trebuchet MS" panose="020B0603020202020204" pitchFamily="34" charset="0"/>
              </a:rPr>
              <a:t>x</a:t>
            </a:r>
            <a:r>
              <a:rPr lang="en-US" sz="2400" b="0" i="0" dirty="0">
                <a:solidFill>
                  <a:srgbClr val="0C0D0E"/>
                </a:solidFill>
                <a:effectLst/>
                <a:latin typeface="Trebuchet MS" panose="020B0603020202020204" pitchFamily="34" charset="0"/>
              </a:rPr>
              <a:t>,</a:t>
            </a:r>
            <a:r>
              <a:rPr lang="en-US" sz="2400" b="1" i="1" dirty="0">
                <a:solidFill>
                  <a:srgbClr val="0C0D0E"/>
                </a:solidFill>
                <a:effectLst/>
                <a:latin typeface="Trebuchet MS" panose="020B0603020202020204" pitchFamily="34" charset="0"/>
              </a:rPr>
              <a:t>y</a:t>
            </a:r>
            <a:r>
              <a:rPr lang="en-US" sz="2400" b="0" i="0" dirty="0">
                <a:solidFill>
                  <a:srgbClr val="0C0D0E"/>
                </a:solidFill>
                <a:effectLst/>
                <a:latin typeface="Trebuchet MS" panose="020B0603020202020204" pitchFamily="34" charset="0"/>
              </a:rPr>
              <a:t>,</a:t>
            </a:r>
            <a:r>
              <a:rPr lang="en-US" sz="2400" b="1" i="1" dirty="0">
                <a:solidFill>
                  <a:srgbClr val="0C0D0E"/>
                </a:solidFill>
                <a:effectLst/>
                <a:latin typeface="Trebuchet MS" panose="020B0603020202020204" pitchFamily="34" charset="0"/>
              </a:rPr>
              <a:t>z</a:t>
            </a:r>
            <a:r>
              <a:rPr lang="en-US" sz="2400" b="0" i="0" dirty="0">
                <a:solidFill>
                  <a:srgbClr val="0C0D0E"/>
                </a:solidFill>
                <a:effectLst/>
                <a:latin typeface="Trebuchet MS" panose="020B0603020202020204" pitchFamily="34" charset="0"/>
              </a:rPr>
              <a:t>,…,</a:t>
            </a:r>
            <a:r>
              <a:rPr lang="en-US" sz="2400" b="1" i="1" dirty="0">
                <a:solidFill>
                  <a:srgbClr val="0C0D0E"/>
                </a:solidFill>
                <a:effectLst/>
                <a:latin typeface="Trebuchet MS" panose="020B0603020202020204" pitchFamily="34" charset="0"/>
              </a:rPr>
              <a:t>x</a:t>
            </a:r>
            <a:r>
              <a:rPr lang="en-US" sz="2400" b="1" i="1" baseline="-25000" dirty="0">
                <a:solidFill>
                  <a:srgbClr val="0C0D0E"/>
                </a:solidFill>
                <a:latin typeface="Trebuchet MS" panose="020B0603020202020204" pitchFamily="34" charset="0"/>
              </a:rPr>
              <a:t>i</a:t>
            </a:r>
            <a:r>
              <a:rPr lang="en-US" sz="2400" b="0" i="0" dirty="0">
                <a:solidFill>
                  <a:srgbClr val="0C0D0E"/>
                </a:solidFill>
                <a:effectLst/>
                <a:latin typeface="Trebuchet MS" panose="020B0603020202020204" pitchFamily="34" charset="0"/>
              </a:rPr>
              <a:t>,</a:t>
            </a:r>
            <a:r>
              <a:rPr lang="en-US" sz="2400" b="1" i="1" dirty="0">
                <a:solidFill>
                  <a:srgbClr val="0C0D0E"/>
                </a:solidFill>
                <a:effectLst/>
                <a:latin typeface="Trebuchet MS" panose="020B0603020202020204" pitchFamily="34" charset="0"/>
              </a:rPr>
              <a:t>y</a:t>
            </a:r>
            <a:r>
              <a:rPr lang="en-US" sz="2400" b="1" i="1" baseline="-25000" dirty="0">
                <a:solidFill>
                  <a:srgbClr val="0C0D0E"/>
                </a:solidFill>
                <a:latin typeface="Trebuchet MS" panose="020B0603020202020204" pitchFamily="34" charset="0"/>
              </a:rPr>
              <a:t>i</a:t>
            </a:r>
            <a:r>
              <a:rPr lang="en-US" sz="2400" b="0" i="0" dirty="0">
                <a:solidFill>
                  <a:srgbClr val="0C0D0E"/>
                </a:solidFill>
                <a:effectLst/>
                <a:latin typeface="Trebuchet MS" panose="020B0603020202020204" pitchFamily="34" charset="0"/>
              </a:rPr>
              <a:t>,</a:t>
            </a:r>
            <a:r>
              <a:rPr lang="en-US" sz="2400" b="1" i="1" dirty="0">
                <a:solidFill>
                  <a:srgbClr val="0C0D0E"/>
                </a:solidFill>
                <a:effectLst/>
                <a:latin typeface="Trebuchet MS" panose="020B0603020202020204" pitchFamily="34" charset="0"/>
              </a:rPr>
              <a:t>z</a:t>
            </a:r>
            <a:r>
              <a:rPr lang="en-US" sz="2400" b="1" i="1" baseline="-25000" dirty="0">
                <a:solidFill>
                  <a:srgbClr val="0C0D0E"/>
                </a:solidFill>
                <a:latin typeface="Trebuchet MS" panose="020B0603020202020204" pitchFamily="34" charset="0"/>
              </a:rPr>
              <a:t>i</a:t>
            </a:r>
            <a:r>
              <a:rPr lang="en-US" sz="2400" b="0" i="0" dirty="0">
                <a:solidFill>
                  <a:srgbClr val="0C0D0E"/>
                </a:solidFill>
                <a:effectLst/>
                <a:latin typeface="Trebuchet MS" panose="020B0603020202020204" pitchFamily="34" charset="0"/>
              </a:rPr>
              <a:t>,…, where </a:t>
            </a:r>
            <a:r>
              <a:rPr lang="en-US" sz="2400" b="1" i="1" dirty="0">
                <a:solidFill>
                  <a:srgbClr val="0C0D0E"/>
                </a:solidFill>
                <a:effectLst/>
                <a:latin typeface="Trebuchet MS" panose="020B0603020202020204" pitchFamily="34" charset="0"/>
              </a:rPr>
              <a:t>i</a:t>
            </a:r>
            <a:r>
              <a:rPr lang="en-US" sz="2400" b="0" i="0" dirty="0">
                <a:solidFill>
                  <a:srgbClr val="0C0D0E"/>
                </a:solidFill>
                <a:effectLst/>
                <a:latin typeface="Trebuchet MS" panose="020B0603020202020204" pitchFamily="34" charset="0"/>
              </a:rPr>
              <a:t>≥1</a:t>
            </a:r>
          </a:p>
          <a:p>
            <a:pPr marL="0" indent="174625" algn="l">
              <a:lnSpc>
                <a:spcPct val="110000"/>
              </a:lnSpc>
              <a:spcBef>
                <a:spcPts val="0"/>
              </a:spcBef>
              <a:buNone/>
            </a:pPr>
            <a:r>
              <a:rPr lang="en-US" altLang="zh-CN" sz="2400" b="1" i="0" dirty="0">
                <a:solidFill>
                  <a:srgbClr val="0B61FF"/>
                </a:solidFill>
                <a:effectLst/>
                <a:latin typeface="Trebuchet MS" panose="020B0603020202020204" pitchFamily="34" charset="0"/>
              </a:rPr>
              <a:t>(3) </a:t>
            </a:r>
            <a:r>
              <a:rPr lang="en-US" sz="2400" b="1" i="0" dirty="0">
                <a:solidFill>
                  <a:srgbClr val="0C0D0E"/>
                </a:solidFill>
                <a:effectLst/>
                <a:latin typeface="Trebuchet MS" panose="020B0603020202020204" pitchFamily="34" charset="0"/>
              </a:rPr>
              <a:t>Function symbols</a:t>
            </a:r>
            <a:r>
              <a:rPr lang="en-US" sz="2400" b="0" i="0" dirty="0">
                <a:solidFill>
                  <a:srgbClr val="0C0D0E"/>
                </a:solidFill>
                <a:effectLst/>
                <a:latin typeface="Trebuchet MS" panose="020B0603020202020204" pitchFamily="34" charset="0"/>
              </a:rPr>
              <a:t>: </a:t>
            </a:r>
            <a:r>
              <a:rPr lang="en-US" sz="2400" b="1" i="1" dirty="0">
                <a:solidFill>
                  <a:srgbClr val="0C0D0E"/>
                </a:solidFill>
                <a:effectLst/>
                <a:latin typeface="Trebuchet MS" panose="020B0603020202020204" pitchFamily="34" charset="0"/>
              </a:rPr>
              <a:t>f</a:t>
            </a:r>
            <a:r>
              <a:rPr lang="en-US" sz="2400" b="0" i="0" dirty="0">
                <a:solidFill>
                  <a:srgbClr val="0C0D0E"/>
                </a:solidFill>
                <a:effectLst/>
                <a:latin typeface="Trebuchet MS" panose="020B0603020202020204" pitchFamily="34" charset="0"/>
              </a:rPr>
              <a:t>,</a:t>
            </a:r>
            <a:r>
              <a:rPr lang="en-US" sz="2400" b="1" i="1" dirty="0">
                <a:solidFill>
                  <a:srgbClr val="0C0D0E"/>
                </a:solidFill>
                <a:effectLst/>
                <a:latin typeface="Trebuchet MS" panose="020B0603020202020204" pitchFamily="34" charset="0"/>
              </a:rPr>
              <a:t>g</a:t>
            </a:r>
            <a:r>
              <a:rPr lang="en-US" sz="2400" b="0" i="0" dirty="0">
                <a:solidFill>
                  <a:srgbClr val="0C0D0E"/>
                </a:solidFill>
                <a:effectLst/>
                <a:latin typeface="Trebuchet MS" panose="020B0603020202020204" pitchFamily="34" charset="0"/>
              </a:rPr>
              <a:t>,</a:t>
            </a:r>
            <a:r>
              <a:rPr lang="en-US" sz="2400" b="1" i="1" dirty="0">
                <a:solidFill>
                  <a:srgbClr val="0C0D0E"/>
                </a:solidFill>
                <a:effectLst/>
                <a:latin typeface="Trebuchet MS" panose="020B0603020202020204" pitchFamily="34" charset="0"/>
              </a:rPr>
              <a:t>h</a:t>
            </a:r>
            <a:r>
              <a:rPr lang="en-US" sz="2400" b="0" i="0" dirty="0">
                <a:solidFill>
                  <a:srgbClr val="0C0D0E"/>
                </a:solidFill>
                <a:effectLst/>
                <a:latin typeface="Trebuchet MS" panose="020B0603020202020204" pitchFamily="34" charset="0"/>
              </a:rPr>
              <a:t>,…,</a:t>
            </a:r>
            <a:r>
              <a:rPr lang="en-US" sz="2400" b="1" i="1" dirty="0">
                <a:solidFill>
                  <a:srgbClr val="0C0D0E"/>
                </a:solidFill>
                <a:effectLst/>
                <a:latin typeface="Trebuchet MS" panose="020B0603020202020204" pitchFamily="34" charset="0"/>
              </a:rPr>
              <a:t>f</a:t>
            </a:r>
            <a:r>
              <a:rPr lang="en-US" sz="2400" b="1" i="1" baseline="-25000" dirty="0">
                <a:solidFill>
                  <a:srgbClr val="0C0D0E"/>
                </a:solidFill>
                <a:latin typeface="Trebuchet MS" panose="020B0603020202020204" pitchFamily="34" charset="0"/>
              </a:rPr>
              <a:t>i</a:t>
            </a:r>
            <a:r>
              <a:rPr lang="en-US" sz="2400" b="0" i="0" dirty="0">
                <a:solidFill>
                  <a:srgbClr val="0C0D0E"/>
                </a:solidFill>
                <a:effectLst/>
                <a:latin typeface="Trebuchet MS" panose="020B0603020202020204" pitchFamily="34" charset="0"/>
              </a:rPr>
              <a:t>,</a:t>
            </a:r>
            <a:r>
              <a:rPr lang="en-US" sz="2400" b="1" i="1" dirty="0">
                <a:solidFill>
                  <a:srgbClr val="0C0D0E"/>
                </a:solidFill>
                <a:effectLst/>
                <a:latin typeface="Trebuchet MS" panose="020B0603020202020204" pitchFamily="34" charset="0"/>
              </a:rPr>
              <a:t>g</a:t>
            </a:r>
            <a:r>
              <a:rPr lang="en-US" sz="2400" b="1" i="1" baseline="-25000" dirty="0">
                <a:solidFill>
                  <a:srgbClr val="0C0D0E"/>
                </a:solidFill>
                <a:latin typeface="Trebuchet MS" panose="020B0603020202020204" pitchFamily="34" charset="0"/>
              </a:rPr>
              <a:t>i</a:t>
            </a:r>
            <a:r>
              <a:rPr lang="en-US" sz="2400" b="0" i="0" dirty="0">
                <a:solidFill>
                  <a:srgbClr val="0C0D0E"/>
                </a:solidFill>
                <a:effectLst/>
                <a:latin typeface="Trebuchet MS" panose="020B0603020202020204" pitchFamily="34" charset="0"/>
              </a:rPr>
              <a:t>,</a:t>
            </a:r>
            <a:r>
              <a:rPr lang="en-US" sz="2400" b="1" i="1" dirty="0">
                <a:solidFill>
                  <a:srgbClr val="0C0D0E"/>
                </a:solidFill>
                <a:effectLst/>
                <a:latin typeface="Trebuchet MS" panose="020B0603020202020204" pitchFamily="34" charset="0"/>
              </a:rPr>
              <a:t>h</a:t>
            </a:r>
            <a:r>
              <a:rPr lang="en-US" sz="2400" b="1" i="1" baseline="-25000" dirty="0">
                <a:solidFill>
                  <a:srgbClr val="0C0D0E"/>
                </a:solidFill>
                <a:latin typeface="Trebuchet MS" panose="020B0603020202020204" pitchFamily="34" charset="0"/>
              </a:rPr>
              <a:t>i</a:t>
            </a:r>
            <a:r>
              <a:rPr lang="en-US" sz="2400" b="0" i="0" dirty="0">
                <a:solidFill>
                  <a:srgbClr val="0C0D0E"/>
                </a:solidFill>
                <a:effectLst/>
                <a:latin typeface="Trebuchet MS" panose="020B0603020202020204" pitchFamily="34" charset="0"/>
              </a:rPr>
              <a:t>,…, where </a:t>
            </a:r>
            <a:r>
              <a:rPr lang="en-US" sz="2400" b="1" i="1" dirty="0">
                <a:solidFill>
                  <a:srgbClr val="0C0D0E"/>
                </a:solidFill>
                <a:effectLst/>
                <a:latin typeface="Trebuchet MS" panose="020B0603020202020204" pitchFamily="34" charset="0"/>
              </a:rPr>
              <a:t>i</a:t>
            </a:r>
            <a:r>
              <a:rPr lang="en-US" sz="2400" b="0" i="0" dirty="0">
                <a:solidFill>
                  <a:srgbClr val="0C0D0E"/>
                </a:solidFill>
                <a:effectLst/>
                <a:latin typeface="Trebuchet MS" panose="020B0603020202020204" pitchFamily="34" charset="0"/>
              </a:rPr>
              <a:t>≥1</a:t>
            </a:r>
          </a:p>
          <a:p>
            <a:pPr marL="0" indent="174625" algn="l">
              <a:lnSpc>
                <a:spcPct val="110000"/>
              </a:lnSpc>
              <a:spcBef>
                <a:spcPts val="0"/>
              </a:spcBef>
              <a:buNone/>
            </a:pPr>
            <a:r>
              <a:rPr lang="en-US" altLang="zh-CN" sz="2400" b="1" i="0" dirty="0">
                <a:solidFill>
                  <a:srgbClr val="0B61FF"/>
                </a:solidFill>
                <a:effectLst/>
                <a:latin typeface="Trebuchet MS" panose="020B0603020202020204" pitchFamily="34" charset="0"/>
              </a:rPr>
              <a:t>(4) </a:t>
            </a:r>
            <a:r>
              <a:rPr lang="en-US" sz="2400" b="1" i="0" dirty="0">
                <a:solidFill>
                  <a:srgbClr val="0C0D0E"/>
                </a:solidFill>
                <a:effectLst/>
                <a:latin typeface="Trebuchet MS" panose="020B0603020202020204" pitchFamily="34" charset="0"/>
              </a:rPr>
              <a:t>Predicate symbols</a:t>
            </a:r>
            <a:r>
              <a:rPr lang="en-US" sz="2400" b="0" i="0" dirty="0">
                <a:solidFill>
                  <a:srgbClr val="0C0D0E"/>
                </a:solidFill>
                <a:effectLst/>
                <a:latin typeface="Trebuchet MS" panose="020B0603020202020204" pitchFamily="34" charset="0"/>
              </a:rPr>
              <a:t>: </a:t>
            </a:r>
            <a:r>
              <a:rPr lang="en-US" sz="2400" b="1" i="1" dirty="0">
                <a:solidFill>
                  <a:srgbClr val="0C0D0E"/>
                </a:solidFill>
                <a:effectLst/>
                <a:latin typeface="Trebuchet MS" panose="020B0603020202020204" pitchFamily="34" charset="0"/>
              </a:rPr>
              <a:t>F</a:t>
            </a:r>
            <a:r>
              <a:rPr lang="en-US" sz="2400" b="0" i="0" dirty="0">
                <a:solidFill>
                  <a:srgbClr val="0C0D0E"/>
                </a:solidFill>
                <a:effectLst/>
                <a:latin typeface="Trebuchet MS" panose="020B0603020202020204" pitchFamily="34" charset="0"/>
              </a:rPr>
              <a:t>,</a:t>
            </a:r>
            <a:r>
              <a:rPr lang="en-US" sz="2400" b="1" i="1" dirty="0">
                <a:solidFill>
                  <a:srgbClr val="0C0D0E"/>
                </a:solidFill>
                <a:effectLst/>
                <a:latin typeface="Trebuchet MS" panose="020B0603020202020204" pitchFamily="34" charset="0"/>
              </a:rPr>
              <a:t>G</a:t>
            </a:r>
            <a:r>
              <a:rPr lang="en-US" sz="2400" b="0" i="0" dirty="0">
                <a:solidFill>
                  <a:srgbClr val="0C0D0E"/>
                </a:solidFill>
                <a:effectLst/>
                <a:latin typeface="Trebuchet MS" panose="020B0603020202020204" pitchFamily="34" charset="0"/>
              </a:rPr>
              <a:t>,</a:t>
            </a:r>
            <a:r>
              <a:rPr lang="en-US" sz="2400" b="1" i="1" dirty="0">
                <a:solidFill>
                  <a:srgbClr val="0C0D0E"/>
                </a:solidFill>
                <a:effectLst/>
                <a:latin typeface="Trebuchet MS" panose="020B0603020202020204" pitchFamily="34" charset="0"/>
              </a:rPr>
              <a:t>H</a:t>
            </a:r>
            <a:r>
              <a:rPr lang="en-US" sz="2400" b="0" i="0" dirty="0">
                <a:solidFill>
                  <a:srgbClr val="0C0D0E"/>
                </a:solidFill>
                <a:effectLst/>
                <a:latin typeface="Trebuchet MS" panose="020B0603020202020204" pitchFamily="34" charset="0"/>
              </a:rPr>
              <a:t>,…,</a:t>
            </a:r>
            <a:r>
              <a:rPr lang="en-US" sz="2400" b="1" i="1" dirty="0">
                <a:solidFill>
                  <a:srgbClr val="0C0D0E"/>
                </a:solidFill>
                <a:effectLst/>
                <a:latin typeface="Trebuchet MS" panose="020B0603020202020204" pitchFamily="34" charset="0"/>
              </a:rPr>
              <a:t>F</a:t>
            </a:r>
            <a:r>
              <a:rPr lang="en-US" sz="2400" b="1" i="1" baseline="-25000" dirty="0">
                <a:solidFill>
                  <a:srgbClr val="0C0D0E"/>
                </a:solidFill>
                <a:latin typeface="Trebuchet MS" panose="020B0603020202020204" pitchFamily="34" charset="0"/>
              </a:rPr>
              <a:t>i</a:t>
            </a:r>
            <a:r>
              <a:rPr lang="en-US" sz="2400" b="0" i="0" dirty="0">
                <a:solidFill>
                  <a:srgbClr val="0C0D0E"/>
                </a:solidFill>
                <a:effectLst/>
                <a:latin typeface="Trebuchet MS" panose="020B0603020202020204" pitchFamily="34" charset="0"/>
              </a:rPr>
              <a:t>,</a:t>
            </a:r>
            <a:r>
              <a:rPr lang="en-US" sz="2400" b="1" i="1" dirty="0">
                <a:solidFill>
                  <a:srgbClr val="0C0D0E"/>
                </a:solidFill>
                <a:effectLst/>
                <a:latin typeface="Trebuchet MS" panose="020B0603020202020204" pitchFamily="34" charset="0"/>
              </a:rPr>
              <a:t>G</a:t>
            </a:r>
            <a:r>
              <a:rPr lang="en-US" sz="2400" b="1" i="1" baseline="-25000" dirty="0">
                <a:solidFill>
                  <a:srgbClr val="0C0D0E"/>
                </a:solidFill>
                <a:latin typeface="Trebuchet MS" panose="020B0603020202020204" pitchFamily="34" charset="0"/>
              </a:rPr>
              <a:t>i</a:t>
            </a:r>
            <a:r>
              <a:rPr lang="en-US" sz="2400" b="0" i="0" dirty="0">
                <a:solidFill>
                  <a:srgbClr val="0C0D0E"/>
                </a:solidFill>
                <a:effectLst/>
                <a:latin typeface="Trebuchet MS" panose="020B0603020202020204" pitchFamily="34" charset="0"/>
              </a:rPr>
              <a:t>,</a:t>
            </a:r>
            <a:r>
              <a:rPr lang="en-US" sz="2400" b="1" i="1" dirty="0">
                <a:solidFill>
                  <a:srgbClr val="0C0D0E"/>
                </a:solidFill>
                <a:effectLst/>
                <a:latin typeface="Trebuchet MS" panose="020B0603020202020204" pitchFamily="34" charset="0"/>
              </a:rPr>
              <a:t>H</a:t>
            </a:r>
            <a:r>
              <a:rPr lang="en-US" sz="2400" b="1" i="1" baseline="-25000" dirty="0">
                <a:solidFill>
                  <a:srgbClr val="0C0D0E"/>
                </a:solidFill>
                <a:latin typeface="Trebuchet MS" panose="020B0603020202020204" pitchFamily="34" charset="0"/>
              </a:rPr>
              <a:t>i</a:t>
            </a:r>
            <a:r>
              <a:rPr lang="en-US" sz="2400" b="0" i="0" dirty="0">
                <a:solidFill>
                  <a:srgbClr val="0C0D0E"/>
                </a:solidFill>
                <a:effectLst/>
                <a:latin typeface="Trebuchet MS" panose="020B0603020202020204" pitchFamily="34" charset="0"/>
              </a:rPr>
              <a:t>,…, where </a:t>
            </a:r>
            <a:r>
              <a:rPr lang="en-US" sz="2400" b="1" i="1" dirty="0">
                <a:solidFill>
                  <a:srgbClr val="0C0D0E"/>
                </a:solidFill>
                <a:effectLst/>
                <a:latin typeface="Trebuchet MS" panose="020B0603020202020204" pitchFamily="34" charset="0"/>
              </a:rPr>
              <a:t>i</a:t>
            </a:r>
            <a:r>
              <a:rPr lang="en-US" sz="2400" b="0" i="0" dirty="0">
                <a:solidFill>
                  <a:srgbClr val="0C0D0E"/>
                </a:solidFill>
                <a:effectLst/>
                <a:latin typeface="Trebuchet MS" panose="020B0603020202020204" pitchFamily="34" charset="0"/>
              </a:rPr>
              <a:t>≥1</a:t>
            </a:r>
          </a:p>
          <a:p>
            <a:pPr marL="0" indent="174625" algn="l">
              <a:lnSpc>
                <a:spcPct val="110000"/>
              </a:lnSpc>
              <a:spcBef>
                <a:spcPts val="0"/>
              </a:spcBef>
              <a:buNone/>
            </a:pPr>
            <a:r>
              <a:rPr lang="en-US" altLang="zh-CN" sz="2400" b="1" i="0" dirty="0">
                <a:solidFill>
                  <a:srgbClr val="0B61FF"/>
                </a:solidFill>
                <a:effectLst/>
                <a:latin typeface="Trebuchet MS" panose="020B0603020202020204" pitchFamily="34" charset="0"/>
              </a:rPr>
              <a:t>(5) </a:t>
            </a:r>
            <a:r>
              <a:rPr lang="en-US" sz="2400" b="1" i="0" dirty="0">
                <a:solidFill>
                  <a:srgbClr val="0C0D0E"/>
                </a:solidFill>
                <a:effectLst/>
                <a:latin typeface="Trebuchet MS" panose="020B0603020202020204" pitchFamily="34" charset="0"/>
              </a:rPr>
              <a:t>Quantifier symbols</a:t>
            </a:r>
            <a:r>
              <a:rPr lang="en-US" sz="2400" b="0" i="0" dirty="0">
                <a:solidFill>
                  <a:srgbClr val="0C0D0E"/>
                </a:solidFill>
                <a:effectLst/>
                <a:latin typeface="Trebuchet MS" panose="020B0603020202020204" pitchFamily="34" charset="0"/>
              </a:rPr>
              <a:t>: </a:t>
            </a:r>
            <a:r>
              <a:rPr lang="en-US" sz="2400" b="1" i="0" dirty="0">
                <a:solidFill>
                  <a:srgbClr val="0C0D0E"/>
                </a:solidFill>
                <a:effectLst/>
                <a:latin typeface="Trebuchet MS" panose="020B0603020202020204" pitchFamily="34" charset="0"/>
              </a:rPr>
              <a:t>∀,∃</a:t>
            </a:r>
          </a:p>
          <a:p>
            <a:pPr marL="0" indent="174625" algn="l">
              <a:lnSpc>
                <a:spcPct val="110000"/>
              </a:lnSpc>
              <a:spcBef>
                <a:spcPts val="0"/>
              </a:spcBef>
              <a:buNone/>
            </a:pPr>
            <a:r>
              <a:rPr lang="en-US" altLang="zh-CN" sz="2400" b="1" i="0" dirty="0">
                <a:solidFill>
                  <a:srgbClr val="0B61FF"/>
                </a:solidFill>
                <a:effectLst/>
                <a:latin typeface="Trebuchet MS" panose="020B0603020202020204" pitchFamily="34" charset="0"/>
              </a:rPr>
              <a:t>(6) </a:t>
            </a:r>
            <a:r>
              <a:rPr lang="en-US" sz="2400" b="1" i="0" dirty="0">
                <a:solidFill>
                  <a:srgbClr val="0C0D0E"/>
                </a:solidFill>
                <a:effectLst/>
                <a:latin typeface="Trebuchet MS" panose="020B0603020202020204" pitchFamily="34" charset="0"/>
              </a:rPr>
              <a:t>Connective symbols</a:t>
            </a:r>
            <a:r>
              <a:rPr lang="en-US" sz="2400" b="0" i="0" dirty="0">
                <a:solidFill>
                  <a:srgbClr val="0C0D0E"/>
                </a:solidFill>
                <a:effectLst/>
                <a:latin typeface="Trebuchet MS" panose="020B0603020202020204" pitchFamily="34" charset="0"/>
              </a:rPr>
              <a:t>: </a:t>
            </a:r>
            <a:r>
              <a:rPr lang="en-US" sz="2400" b="1" i="0" dirty="0">
                <a:solidFill>
                  <a:srgbClr val="0C0D0E"/>
                </a:solidFill>
                <a:effectLst/>
                <a:latin typeface="Trebuchet MS" panose="020B0603020202020204" pitchFamily="34" charset="0"/>
              </a:rPr>
              <a:t>¬,∧,∨,→</a:t>
            </a:r>
            <a:r>
              <a:rPr lang="en-US" sz="2400" b="0" i="0" dirty="0">
                <a:solidFill>
                  <a:srgbClr val="0C0D0E"/>
                </a:solidFill>
                <a:effectLst/>
                <a:latin typeface="Trebuchet MS" panose="020B0603020202020204" pitchFamily="34" charset="0"/>
              </a:rPr>
              <a:t>,</a:t>
            </a:r>
            <a:r>
              <a:rPr lang="en-US" sz="2400" b="0" i="0" dirty="0">
                <a:solidFill>
                  <a:srgbClr val="0C0D0E"/>
                </a:solidFill>
                <a:effectLst/>
              </a:rPr>
              <a:t>↔</a:t>
            </a:r>
          </a:p>
          <a:p>
            <a:pPr marL="0" indent="174625" algn="l">
              <a:lnSpc>
                <a:spcPct val="110000"/>
              </a:lnSpc>
              <a:spcBef>
                <a:spcPts val="0"/>
              </a:spcBef>
              <a:buNone/>
            </a:pPr>
            <a:r>
              <a:rPr lang="en-US" altLang="zh-CN" sz="2400" b="1" i="0" dirty="0">
                <a:solidFill>
                  <a:srgbClr val="0B61FF"/>
                </a:solidFill>
                <a:effectLst/>
                <a:latin typeface="Trebuchet MS" panose="020B0603020202020204" pitchFamily="34" charset="0"/>
              </a:rPr>
              <a:t>(7) </a:t>
            </a:r>
            <a:r>
              <a:rPr lang="en-US" sz="2400" b="1" i="0" dirty="0">
                <a:solidFill>
                  <a:srgbClr val="0C0D0E"/>
                </a:solidFill>
                <a:effectLst/>
                <a:latin typeface="Trebuchet MS" panose="020B0603020202020204" pitchFamily="34" charset="0"/>
              </a:rPr>
              <a:t>Parentheses and commas</a:t>
            </a:r>
            <a:r>
              <a:rPr lang="en-US" sz="2400" b="0" i="0" dirty="0">
                <a:solidFill>
                  <a:srgbClr val="0C0D0E"/>
                </a:solidFill>
                <a:effectLst/>
                <a:latin typeface="Trebuchet MS" panose="020B0603020202020204" pitchFamily="34" charset="0"/>
              </a:rPr>
              <a:t>: ( ) , </a:t>
            </a:r>
            <a:r>
              <a:rPr lang="en-US" sz="2400" b="1" i="0" dirty="0">
                <a:solidFill>
                  <a:srgbClr val="0C0D0E"/>
                </a:solidFill>
                <a:effectLst/>
                <a:latin typeface="Trebuchet MS" panose="020B0603020202020204" pitchFamily="34" charset="0"/>
              </a:rPr>
              <a:t>,</a:t>
            </a:r>
          </a:p>
          <a:p>
            <a:pPr eaLnBrk="1" hangingPunct="1">
              <a:lnSpc>
                <a:spcPct val="110000"/>
              </a:lnSpc>
              <a:spcBef>
                <a:spcPts val="0"/>
              </a:spcBef>
              <a:buFontTx/>
              <a:buNone/>
            </a:pPr>
            <a:endParaRPr lang="zh-CN" altLang="en-US" sz="2400" b="1" dirty="0">
              <a:latin typeface="Trebuchet MS" panose="020B0603020202020204" pitchFamily="34" charset="0"/>
            </a:endParaRPr>
          </a:p>
        </p:txBody>
      </p:sp>
    </p:spTree>
    <p:extLst>
      <p:ext uri="{BB962C8B-B14F-4D97-AF65-F5344CB8AC3E}">
        <p14:creationId xmlns:p14="http://schemas.microsoft.com/office/powerpoint/2010/main" val="292429832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animEffect transition="in" filter="fade">
                                      <p:cBhvr>
                                        <p:cTn id="7" dur="1000"/>
                                        <p:tgtEl>
                                          <p:spTgt spid="8">
                                            <p:txEl>
                                              <p:pRg st="1" end="1"/>
                                            </p:txEl>
                                          </p:spTgt>
                                        </p:tgtEl>
                                      </p:cBhvr>
                                    </p:animEffect>
                                    <p:anim calcmode="lin" valueType="num">
                                      <p:cBhvr>
                                        <p:cTn id="8" dur="1000" fill="hold"/>
                                        <p:tgtEl>
                                          <p:spTgt spid="8">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8">
                                            <p:txEl>
                                              <p:pRg st="2" end="2"/>
                                            </p:txEl>
                                          </p:spTgt>
                                        </p:tgtEl>
                                        <p:attrNameLst>
                                          <p:attrName>style.visibility</p:attrName>
                                        </p:attrNameLst>
                                      </p:cBhvr>
                                      <p:to>
                                        <p:strVal val="visible"/>
                                      </p:to>
                                    </p:set>
                                    <p:animEffect transition="in" filter="fade">
                                      <p:cBhvr>
                                        <p:cTn id="12" dur="1000"/>
                                        <p:tgtEl>
                                          <p:spTgt spid="8">
                                            <p:txEl>
                                              <p:pRg st="2" end="2"/>
                                            </p:txEl>
                                          </p:spTgt>
                                        </p:tgtEl>
                                      </p:cBhvr>
                                    </p:animEffect>
                                    <p:anim calcmode="lin" valueType="num">
                                      <p:cBhvr>
                                        <p:cTn id="13"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8">
                                            <p:txEl>
                                              <p:pRg st="3" end="3"/>
                                            </p:txEl>
                                          </p:spTgt>
                                        </p:tgtEl>
                                        <p:attrNameLst>
                                          <p:attrName>style.visibility</p:attrName>
                                        </p:attrNameLst>
                                      </p:cBhvr>
                                      <p:to>
                                        <p:strVal val="visible"/>
                                      </p:to>
                                    </p:set>
                                    <p:animEffect transition="in" filter="fade">
                                      <p:cBhvr>
                                        <p:cTn id="19" dur="1000"/>
                                        <p:tgtEl>
                                          <p:spTgt spid="8">
                                            <p:txEl>
                                              <p:pRg st="3" end="3"/>
                                            </p:txEl>
                                          </p:spTgt>
                                        </p:tgtEl>
                                      </p:cBhvr>
                                    </p:animEffect>
                                    <p:anim calcmode="lin" valueType="num">
                                      <p:cBhvr>
                                        <p:cTn id="20"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21" dur="1000" fill="hold"/>
                                        <p:tgtEl>
                                          <p:spTgt spid="8">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8">
                                            <p:txEl>
                                              <p:pRg st="4" end="4"/>
                                            </p:txEl>
                                          </p:spTgt>
                                        </p:tgtEl>
                                        <p:attrNameLst>
                                          <p:attrName>style.visibility</p:attrName>
                                        </p:attrNameLst>
                                      </p:cBhvr>
                                      <p:to>
                                        <p:strVal val="visible"/>
                                      </p:to>
                                    </p:set>
                                    <p:animEffect transition="in" filter="fade">
                                      <p:cBhvr>
                                        <p:cTn id="26" dur="1000"/>
                                        <p:tgtEl>
                                          <p:spTgt spid="8">
                                            <p:txEl>
                                              <p:pRg st="4" end="4"/>
                                            </p:txEl>
                                          </p:spTgt>
                                        </p:tgtEl>
                                      </p:cBhvr>
                                    </p:animEffect>
                                    <p:anim calcmode="lin" valueType="num">
                                      <p:cBhvr>
                                        <p:cTn id="27" dur="1000" fill="hold"/>
                                        <p:tgtEl>
                                          <p:spTgt spid="8">
                                            <p:txEl>
                                              <p:pRg st="4" end="4"/>
                                            </p:txEl>
                                          </p:spTgt>
                                        </p:tgtEl>
                                        <p:attrNameLst>
                                          <p:attrName>ppt_x</p:attrName>
                                        </p:attrNameLst>
                                      </p:cBhvr>
                                      <p:tavLst>
                                        <p:tav tm="0">
                                          <p:val>
                                            <p:strVal val="#ppt_x"/>
                                          </p:val>
                                        </p:tav>
                                        <p:tav tm="100000">
                                          <p:val>
                                            <p:strVal val="#ppt_x"/>
                                          </p:val>
                                        </p:tav>
                                      </p:tavLst>
                                    </p:anim>
                                    <p:anim calcmode="lin" valueType="num">
                                      <p:cBhvr>
                                        <p:cTn id="28" dur="1000" fill="hold"/>
                                        <p:tgtEl>
                                          <p:spTgt spid="8">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8">
                                            <p:txEl>
                                              <p:pRg st="5" end="5"/>
                                            </p:txEl>
                                          </p:spTgt>
                                        </p:tgtEl>
                                        <p:attrNameLst>
                                          <p:attrName>style.visibility</p:attrName>
                                        </p:attrNameLst>
                                      </p:cBhvr>
                                      <p:to>
                                        <p:strVal val="visible"/>
                                      </p:to>
                                    </p:set>
                                    <p:animEffect transition="in" filter="fade">
                                      <p:cBhvr>
                                        <p:cTn id="33" dur="1000"/>
                                        <p:tgtEl>
                                          <p:spTgt spid="8">
                                            <p:txEl>
                                              <p:pRg st="5" end="5"/>
                                            </p:txEl>
                                          </p:spTgt>
                                        </p:tgtEl>
                                      </p:cBhvr>
                                    </p:animEffect>
                                    <p:anim calcmode="lin" valueType="num">
                                      <p:cBhvr>
                                        <p:cTn id="34" dur="1000" fill="hold"/>
                                        <p:tgtEl>
                                          <p:spTgt spid="8">
                                            <p:txEl>
                                              <p:pRg st="5" end="5"/>
                                            </p:txEl>
                                          </p:spTgt>
                                        </p:tgtEl>
                                        <p:attrNameLst>
                                          <p:attrName>ppt_x</p:attrName>
                                        </p:attrNameLst>
                                      </p:cBhvr>
                                      <p:tavLst>
                                        <p:tav tm="0">
                                          <p:val>
                                            <p:strVal val="#ppt_x"/>
                                          </p:val>
                                        </p:tav>
                                        <p:tav tm="100000">
                                          <p:val>
                                            <p:strVal val="#ppt_x"/>
                                          </p:val>
                                        </p:tav>
                                      </p:tavLst>
                                    </p:anim>
                                    <p:anim calcmode="lin" valueType="num">
                                      <p:cBhvr>
                                        <p:cTn id="35" dur="1000" fill="hold"/>
                                        <p:tgtEl>
                                          <p:spTgt spid="8">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nodeType="clickEffect">
                                  <p:stCondLst>
                                    <p:cond delay="0"/>
                                  </p:stCondLst>
                                  <p:childTnLst>
                                    <p:set>
                                      <p:cBhvr>
                                        <p:cTn id="39" dur="1" fill="hold">
                                          <p:stCondLst>
                                            <p:cond delay="0"/>
                                          </p:stCondLst>
                                        </p:cTn>
                                        <p:tgtEl>
                                          <p:spTgt spid="8">
                                            <p:txEl>
                                              <p:pRg st="6" end="6"/>
                                            </p:txEl>
                                          </p:spTgt>
                                        </p:tgtEl>
                                        <p:attrNameLst>
                                          <p:attrName>style.visibility</p:attrName>
                                        </p:attrNameLst>
                                      </p:cBhvr>
                                      <p:to>
                                        <p:strVal val="visible"/>
                                      </p:to>
                                    </p:set>
                                    <p:animEffect transition="in" filter="fade">
                                      <p:cBhvr>
                                        <p:cTn id="40" dur="1000"/>
                                        <p:tgtEl>
                                          <p:spTgt spid="8">
                                            <p:txEl>
                                              <p:pRg st="6" end="6"/>
                                            </p:txEl>
                                          </p:spTgt>
                                        </p:tgtEl>
                                      </p:cBhvr>
                                    </p:animEffect>
                                    <p:anim calcmode="lin" valueType="num">
                                      <p:cBhvr>
                                        <p:cTn id="41" dur="1000" fill="hold"/>
                                        <p:tgtEl>
                                          <p:spTgt spid="8">
                                            <p:txEl>
                                              <p:pRg st="6" end="6"/>
                                            </p:txEl>
                                          </p:spTgt>
                                        </p:tgtEl>
                                        <p:attrNameLst>
                                          <p:attrName>ppt_x</p:attrName>
                                        </p:attrNameLst>
                                      </p:cBhvr>
                                      <p:tavLst>
                                        <p:tav tm="0">
                                          <p:val>
                                            <p:strVal val="#ppt_x"/>
                                          </p:val>
                                        </p:tav>
                                        <p:tav tm="100000">
                                          <p:val>
                                            <p:strVal val="#ppt_x"/>
                                          </p:val>
                                        </p:tav>
                                      </p:tavLst>
                                    </p:anim>
                                    <p:anim calcmode="lin" valueType="num">
                                      <p:cBhvr>
                                        <p:cTn id="42" dur="1000" fill="hold"/>
                                        <p:tgtEl>
                                          <p:spTgt spid="8">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nodeType="clickEffect">
                                  <p:stCondLst>
                                    <p:cond delay="0"/>
                                  </p:stCondLst>
                                  <p:childTnLst>
                                    <p:set>
                                      <p:cBhvr>
                                        <p:cTn id="46" dur="1" fill="hold">
                                          <p:stCondLst>
                                            <p:cond delay="0"/>
                                          </p:stCondLst>
                                        </p:cTn>
                                        <p:tgtEl>
                                          <p:spTgt spid="8">
                                            <p:txEl>
                                              <p:pRg st="7" end="7"/>
                                            </p:txEl>
                                          </p:spTgt>
                                        </p:tgtEl>
                                        <p:attrNameLst>
                                          <p:attrName>style.visibility</p:attrName>
                                        </p:attrNameLst>
                                      </p:cBhvr>
                                      <p:to>
                                        <p:strVal val="visible"/>
                                      </p:to>
                                    </p:set>
                                    <p:animEffect transition="in" filter="fade">
                                      <p:cBhvr>
                                        <p:cTn id="47" dur="1000"/>
                                        <p:tgtEl>
                                          <p:spTgt spid="8">
                                            <p:txEl>
                                              <p:pRg st="7" end="7"/>
                                            </p:txEl>
                                          </p:spTgt>
                                        </p:tgtEl>
                                      </p:cBhvr>
                                    </p:animEffect>
                                    <p:anim calcmode="lin" valueType="num">
                                      <p:cBhvr>
                                        <p:cTn id="48" dur="1000" fill="hold"/>
                                        <p:tgtEl>
                                          <p:spTgt spid="8">
                                            <p:txEl>
                                              <p:pRg st="7" end="7"/>
                                            </p:txEl>
                                          </p:spTgt>
                                        </p:tgtEl>
                                        <p:attrNameLst>
                                          <p:attrName>ppt_x</p:attrName>
                                        </p:attrNameLst>
                                      </p:cBhvr>
                                      <p:tavLst>
                                        <p:tav tm="0">
                                          <p:val>
                                            <p:strVal val="#ppt_x"/>
                                          </p:val>
                                        </p:tav>
                                        <p:tav tm="100000">
                                          <p:val>
                                            <p:strVal val="#ppt_x"/>
                                          </p:val>
                                        </p:tav>
                                      </p:tavLst>
                                    </p:anim>
                                    <p:anim calcmode="lin" valueType="num">
                                      <p:cBhvr>
                                        <p:cTn id="49" dur="1000" fill="hold"/>
                                        <p:tgtEl>
                                          <p:spTgt spid="8">
                                            <p:txEl>
                                              <p:pRg st="7" end="7"/>
                                            </p:txEl>
                                          </p:spTgt>
                                        </p:tgtEl>
                                        <p:attrNameLst>
                                          <p:attrName>ppt_y</p:attrName>
                                        </p:attrNameLst>
                                      </p:cBhvr>
                                      <p:tavLst>
                                        <p:tav tm="0">
                                          <p:val>
                                            <p:strVal val="#ppt_y+.1"/>
                                          </p:val>
                                        </p:tav>
                                        <p:tav tm="100000">
                                          <p:val>
                                            <p:strVal val="#ppt_y"/>
                                          </p:val>
                                        </p:tav>
                                      </p:tavLst>
                                    </p:anim>
                                  </p:childTnLst>
                                </p:cTn>
                              </p:par>
                              <p:par>
                                <p:cTn id="50" presetID="42" presetClass="entr" presetSubtype="0" fill="hold" nodeType="withEffect">
                                  <p:stCondLst>
                                    <p:cond delay="0"/>
                                  </p:stCondLst>
                                  <p:childTnLst>
                                    <p:set>
                                      <p:cBhvr>
                                        <p:cTn id="51" dur="1" fill="hold">
                                          <p:stCondLst>
                                            <p:cond delay="0"/>
                                          </p:stCondLst>
                                        </p:cTn>
                                        <p:tgtEl>
                                          <p:spTgt spid="8">
                                            <p:txEl>
                                              <p:pRg st="8" end="8"/>
                                            </p:txEl>
                                          </p:spTgt>
                                        </p:tgtEl>
                                        <p:attrNameLst>
                                          <p:attrName>style.visibility</p:attrName>
                                        </p:attrNameLst>
                                      </p:cBhvr>
                                      <p:to>
                                        <p:strVal val="visible"/>
                                      </p:to>
                                    </p:set>
                                    <p:animEffect transition="in" filter="fade">
                                      <p:cBhvr>
                                        <p:cTn id="52" dur="1000"/>
                                        <p:tgtEl>
                                          <p:spTgt spid="8">
                                            <p:txEl>
                                              <p:pRg st="8" end="8"/>
                                            </p:txEl>
                                          </p:spTgt>
                                        </p:tgtEl>
                                      </p:cBhvr>
                                    </p:animEffect>
                                    <p:anim calcmode="lin" valueType="num">
                                      <p:cBhvr>
                                        <p:cTn id="53" dur="1000" fill="hold"/>
                                        <p:tgtEl>
                                          <p:spTgt spid="8">
                                            <p:txEl>
                                              <p:pRg st="8" end="8"/>
                                            </p:txEl>
                                          </p:spTgt>
                                        </p:tgtEl>
                                        <p:attrNameLst>
                                          <p:attrName>ppt_x</p:attrName>
                                        </p:attrNameLst>
                                      </p:cBhvr>
                                      <p:tavLst>
                                        <p:tav tm="0">
                                          <p:val>
                                            <p:strVal val="#ppt_x"/>
                                          </p:val>
                                        </p:tav>
                                        <p:tav tm="100000">
                                          <p:val>
                                            <p:strVal val="#ppt_x"/>
                                          </p:val>
                                        </p:tav>
                                      </p:tavLst>
                                    </p:anim>
                                    <p:anim calcmode="lin" valueType="num">
                                      <p:cBhvr>
                                        <p:cTn id="54" dur="1000" fill="hold"/>
                                        <p:tgtEl>
                                          <p:spTgt spid="8">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spcBef>
                <a:spcPts val="600"/>
              </a:spcBef>
              <a:buClr>
                <a:srgbClr val="0B61FF"/>
              </a:buClr>
              <a:buSzPct val="80000"/>
            </a:pPr>
            <a:r>
              <a:rPr lang="en-US" altLang="zh-CN" sz="2000" b="1" dirty="0">
                <a:effectLst/>
                <a:latin typeface="Cambria Math" panose="02040503050406030204" pitchFamily="18" charset="0"/>
                <a:ea typeface="Cambria Math" panose="02040503050406030204" pitchFamily="18" charset="0"/>
                <a:cs typeface="Times New Roman" panose="02020603050405020304" pitchFamily="18" charset="0"/>
              </a:rPr>
              <a:t>                  </a:t>
            </a:r>
            <a:r>
              <a:rPr lang="en-US" altLang="zh-CN" sz="2000" b="1" dirty="0">
                <a:solidFill>
                  <a:schemeClr val="bg1"/>
                </a:solidFill>
                <a:latin typeface="Trebuchet MS" panose="020B0603020202020204" pitchFamily="34" charset="0"/>
              </a:rPr>
              <a:t>3.1.4</a:t>
            </a:r>
            <a:r>
              <a:rPr lang="en-US" altLang="zh-CN" sz="2000" b="1" dirty="0">
                <a:solidFill>
                  <a:srgbClr val="0B61FF"/>
                </a:solidFill>
                <a:latin typeface="Trebuchet MS" panose="020B0603020202020204" pitchFamily="34" charset="0"/>
              </a:rPr>
              <a:t> </a:t>
            </a:r>
            <a:r>
              <a:rPr lang="en-US" altLang="zh-CN" sz="2000" b="1" dirty="0">
                <a:solidFill>
                  <a:schemeClr val="bg1"/>
                </a:solidFill>
                <a:latin typeface="Trebuchet MS" panose="020B0603020202020204" pitchFamily="34" charset="0"/>
              </a:rPr>
              <a:t>First-Order Logic Formulas and Classification</a:t>
            </a:r>
          </a:p>
          <a:p>
            <a:pPr>
              <a:spcBef>
                <a:spcPts val="600"/>
              </a:spcBef>
              <a:buClr>
                <a:srgbClr val="0B61FF"/>
              </a:buClr>
              <a:buSzPct val="80000"/>
            </a:pPr>
            <a:r>
              <a:rPr lang="en-US" altLang="zh-CN" sz="1800" dirty="0">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2400" b="1" dirty="0"/>
              <a:t>Terms and atomic formulas of first-order logic</a:t>
            </a:r>
            <a:r>
              <a:rPr lang="en-US" altLang="zh-CN" sz="2400" b="1" i="0" dirty="0">
                <a:solidFill>
                  <a:schemeClr val="bg1"/>
                </a:solidFill>
                <a:effectLst/>
                <a:latin typeface="Trebuchet MS" panose="020B0603020202020204" pitchFamily="34" charset="0"/>
              </a:rPr>
              <a:t> </a:t>
            </a:r>
            <a:endParaRPr lang="zh-CN" altLang="en-US" sz="2400" b="1" dirty="0">
              <a:solidFill>
                <a:schemeClr val="bg1"/>
              </a:solidFill>
              <a:highlight>
                <a:srgbClr val="FF0000"/>
              </a:highlight>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0125" y="765176"/>
            <a:ext cx="9874704" cy="542879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lnSpc>
                <a:spcPct val="120000"/>
              </a:lnSpc>
              <a:spcBef>
                <a:spcPts val="600"/>
              </a:spcBef>
              <a:buClr>
                <a:srgbClr val="0B61FF"/>
              </a:buClr>
              <a:buSzPct val="80000"/>
              <a:buFont typeface="Wingdings" panose="05000000000000000000" pitchFamily="2" charset="2"/>
              <a:buChar char="n"/>
            </a:pPr>
            <a:r>
              <a:rPr lang="en-US" sz="2400" b="1" i="0" dirty="0">
                <a:solidFill>
                  <a:srgbClr val="0C0D0E"/>
                </a:solidFill>
                <a:effectLst/>
                <a:latin typeface="Trebuchet MS" panose="020B0603020202020204" pitchFamily="34" charset="0"/>
              </a:rPr>
              <a:t>Definition 3.2</a:t>
            </a:r>
            <a:r>
              <a:rPr lang="zh-CN" altLang="en-US" sz="2400" b="1" i="0" dirty="0">
                <a:solidFill>
                  <a:srgbClr val="0C0D0E"/>
                </a:solidFill>
                <a:effectLst/>
                <a:latin typeface="Trebuchet MS" panose="020B0603020202020204" pitchFamily="34" charset="0"/>
              </a:rPr>
              <a:t>：</a:t>
            </a:r>
            <a:r>
              <a:rPr lang="en-US" sz="2400" b="0" i="0" dirty="0">
                <a:solidFill>
                  <a:srgbClr val="0C0D0E"/>
                </a:solidFill>
                <a:effectLst/>
                <a:latin typeface="Trebuchet MS" panose="020B0603020202020204" pitchFamily="34" charset="0"/>
              </a:rPr>
              <a:t>The definition of </a:t>
            </a:r>
            <a:r>
              <a:rPr lang="en-US" sz="2400" b="1" i="1" dirty="0">
                <a:solidFill>
                  <a:srgbClr val="0C0D0E"/>
                </a:solidFill>
                <a:effectLst/>
                <a:latin typeface="Trebuchet MS" panose="020B0603020202020204" pitchFamily="34" charset="0"/>
              </a:rPr>
              <a:t>terms</a:t>
            </a:r>
            <a:r>
              <a:rPr lang="en-US" sz="2400" b="0" i="0" dirty="0">
                <a:solidFill>
                  <a:srgbClr val="0C0D0E"/>
                </a:solidFill>
                <a:effectLst/>
                <a:latin typeface="Trebuchet MS" panose="020B0603020202020204" pitchFamily="34" charset="0"/>
              </a:rPr>
              <a:t> in a first-order language is as follows: </a:t>
            </a:r>
          </a:p>
          <a:p>
            <a:pPr marL="719138" indent="-447675" algn="l">
              <a:lnSpc>
                <a:spcPct val="120000"/>
              </a:lnSpc>
              <a:spcBef>
                <a:spcPts val="600"/>
              </a:spcBef>
              <a:buClr>
                <a:srgbClr val="0B61FF"/>
              </a:buClr>
              <a:buSzPct val="80000"/>
              <a:buNone/>
            </a:pPr>
            <a:r>
              <a:rPr lang="en-US" altLang="zh-CN" sz="2400" b="1" dirty="0">
                <a:solidFill>
                  <a:srgbClr val="0B61FF"/>
                </a:solidFill>
                <a:latin typeface="Trebuchet MS" panose="020B0603020202020204" pitchFamily="34" charset="0"/>
              </a:rPr>
              <a:t>(1) </a:t>
            </a:r>
            <a:r>
              <a:rPr lang="en-US" sz="2400" b="1" i="1" dirty="0">
                <a:solidFill>
                  <a:srgbClr val="0C0D0E"/>
                </a:solidFill>
                <a:effectLst/>
                <a:latin typeface="Trebuchet MS" panose="020B0603020202020204" pitchFamily="34" charset="0"/>
              </a:rPr>
              <a:t>Individual const</a:t>
            </a:r>
            <a:r>
              <a:rPr lang="en-US" sz="2400" b="1" dirty="0">
                <a:solidFill>
                  <a:srgbClr val="0C0D0E"/>
                </a:solidFill>
                <a:effectLst/>
                <a:latin typeface="Trebuchet MS" panose="020B0603020202020204" pitchFamily="34" charset="0"/>
              </a:rPr>
              <a:t>ants</a:t>
            </a:r>
            <a:r>
              <a:rPr lang="en-US" sz="2400" b="0" i="0" dirty="0">
                <a:solidFill>
                  <a:srgbClr val="0C0D0E"/>
                </a:solidFill>
                <a:effectLst/>
                <a:latin typeface="Trebuchet MS" panose="020B0603020202020204" pitchFamily="34" charset="0"/>
              </a:rPr>
              <a:t> and </a:t>
            </a:r>
            <a:r>
              <a:rPr lang="en-US" sz="2400" b="1" i="1" dirty="0">
                <a:solidFill>
                  <a:srgbClr val="0C0D0E"/>
                </a:solidFill>
                <a:effectLst/>
                <a:latin typeface="Trebuchet MS" panose="020B0603020202020204" pitchFamily="34" charset="0"/>
              </a:rPr>
              <a:t>individual variables </a:t>
            </a:r>
            <a:r>
              <a:rPr lang="en-US" sz="2400" b="0" i="0" dirty="0">
                <a:solidFill>
                  <a:srgbClr val="0C0D0E"/>
                </a:solidFill>
                <a:effectLst/>
                <a:latin typeface="Trebuchet MS" panose="020B0603020202020204" pitchFamily="34" charset="0"/>
              </a:rPr>
              <a:t>are terms.</a:t>
            </a:r>
          </a:p>
          <a:p>
            <a:pPr marL="719138" indent="-447675" algn="l">
              <a:lnSpc>
                <a:spcPct val="120000"/>
              </a:lnSpc>
              <a:spcBef>
                <a:spcPts val="600"/>
              </a:spcBef>
              <a:buNone/>
            </a:pPr>
            <a:r>
              <a:rPr lang="en-US" altLang="zh-CN" sz="2400" b="1" dirty="0">
                <a:solidFill>
                  <a:srgbClr val="0B61FF"/>
                </a:solidFill>
                <a:latin typeface="Trebuchet MS" panose="020B0603020202020204" pitchFamily="34" charset="0"/>
              </a:rPr>
              <a:t>(2) </a:t>
            </a:r>
            <a:r>
              <a:rPr lang="en-US" sz="2400" b="0" i="0" dirty="0">
                <a:solidFill>
                  <a:srgbClr val="0C0D0E"/>
                </a:solidFill>
                <a:effectLst/>
                <a:latin typeface="Trebuchet MS" panose="020B0603020202020204" pitchFamily="34" charset="0"/>
              </a:rPr>
              <a:t>If </a:t>
            </a:r>
            <a:r>
              <a:rPr lang="en-US" sz="2400" b="1" i="1" dirty="0">
                <a:solidFill>
                  <a:srgbClr val="0C0D0E"/>
                </a:solidFill>
                <a:effectLst/>
                <a:latin typeface="Trebuchet MS" panose="020B0603020202020204" pitchFamily="34" charset="0"/>
              </a:rPr>
              <a:t>φ</a:t>
            </a:r>
            <a:r>
              <a:rPr lang="en-US" sz="2400" b="1" i="0" dirty="0">
                <a:solidFill>
                  <a:srgbClr val="0C0D0E"/>
                </a:solidFill>
                <a:effectLst/>
                <a:latin typeface="Trebuchet MS" panose="020B0603020202020204" pitchFamily="34" charset="0"/>
              </a:rPr>
              <a:t>(</a:t>
            </a:r>
            <a:r>
              <a:rPr lang="en-US" sz="2400" b="1" i="1" dirty="0">
                <a:solidFill>
                  <a:srgbClr val="0C0D0E"/>
                </a:solidFill>
                <a:effectLst/>
                <a:latin typeface="Trebuchet MS" panose="020B0603020202020204" pitchFamily="34" charset="0"/>
              </a:rPr>
              <a:t>x</a:t>
            </a:r>
            <a:r>
              <a:rPr lang="en-US" sz="2400" b="1" baseline="-25000" dirty="0">
                <a:solidFill>
                  <a:srgbClr val="0C0D0E"/>
                </a:solidFill>
                <a:effectLst/>
                <a:latin typeface="Trebuchet MS" panose="020B0603020202020204" pitchFamily="34" charset="0"/>
              </a:rPr>
              <a:t>1</a:t>
            </a:r>
            <a:r>
              <a:rPr lang="en-US" sz="2400" b="1" i="0" dirty="0">
                <a:solidFill>
                  <a:srgbClr val="0C0D0E"/>
                </a:solidFill>
                <a:effectLst/>
                <a:latin typeface="Trebuchet MS" panose="020B0603020202020204" pitchFamily="34" charset="0"/>
              </a:rPr>
              <a:t>,</a:t>
            </a:r>
            <a:r>
              <a:rPr lang="en-US" sz="2400" b="1" i="1" dirty="0">
                <a:solidFill>
                  <a:srgbClr val="0C0D0E"/>
                </a:solidFill>
                <a:effectLst/>
                <a:latin typeface="Trebuchet MS" panose="020B0603020202020204" pitchFamily="34" charset="0"/>
              </a:rPr>
              <a:t>x</a:t>
            </a:r>
            <a:r>
              <a:rPr lang="en-US" sz="2400" b="1" baseline="-25000" dirty="0">
                <a:solidFill>
                  <a:srgbClr val="0C0D0E"/>
                </a:solidFill>
                <a:latin typeface="Trebuchet MS" panose="020B0603020202020204" pitchFamily="34" charset="0"/>
              </a:rPr>
              <a:t>2</a:t>
            </a:r>
            <a:r>
              <a:rPr lang="en-US" sz="2400" b="1" i="0" dirty="0">
                <a:solidFill>
                  <a:srgbClr val="0C0D0E"/>
                </a:solidFill>
                <a:effectLst/>
                <a:latin typeface="Trebuchet MS" panose="020B0603020202020204" pitchFamily="34" charset="0"/>
              </a:rPr>
              <a:t>,…,</a:t>
            </a:r>
            <a:r>
              <a:rPr lang="en-US" sz="2400" b="1" i="1" dirty="0">
                <a:solidFill>
                  <a:srgbClr val="0C0D0E"/>
                </a:solidFill>
                <a:effectLst/>
                <a:latin typeface="Trebuchet MS" panose="020B0603020202020204" pitchFamily="34" charset="0"/>
              </a:rPr>
              <a:t>x</a:t>
            </a:r>
            <a:r>
              <a:rPr lang="en-US" sz="2400" b="1" baseline="-25000" dirty="0">
                <a:solidFill>
                  <a:srgbClr val="0C0D0E"/>
                </a:solidFill>
                <a:latin typeface="Trebuchet MS" panose="020B0603020202020204" pitchFamily="34" charset="0"/>
              </a:rPr>
              <a:t>n</a:t>
            </a:r>
            <a:r>
              <a:rPr lang="en-US" sz="2400" b="1" i="0" dirty="0">
                <a:solidFill>
                  <a:srgbClr val="0C0D0E"/>
                </a:solidFill>
                <a:effectLst/>
                <a:latin typeface="Trebuchet MS" panose="020B0603020202020204" pitchFamily="34" charset="0"/>
              </a:rPr>
              <a:t>) </a:t>
            </a:r>
            <a:r>
              <a:rPr lang="en-US" sz="2400" b="0" i="0" dirty="0">
                <a:solidFill>
                  <a:srgbClr val="0C0D0E"/>
                </a:solidFill>
                <a:effectLst/>
                <a:latin typeface="Trebuchet MS" panose="020B0603020202020204" pitchFamily="34" charset="0"/>
              </a:rPr>
              <a:t>is an arbitrary n-ary function symbol, and </a:t>
            </a:r>
            <a:r>
              <a:rPr lang="en-US" sz="2400" b="1" i="1" dirty="0">
                <a:solidFill>
                  <a:srgbClr val="0C0D0E"/>
                </a:solidFill>
                <a:effectLst/>
                <a:latin typeface="Trebuchet MS" panose="020B0603020202020204" pitchFamily="34" charset="0"/>
              </a:rPr>
              <a:t>t</a:t>
            </a:r>
            <a:r>
              <a:rPr lang="en-US" sz="2400" b="1" baseline="-25000" dirty="0">
                <a:solidFill>
                  <a:srgbClr val="0C0D0E"/>
                </a:solidFill>
                <a:latin typeface="Trebuchet MS" panose="020B0603020202020204" pitchFamily="34" charset="0"/>
              </a:rPr>
              <a:t>1</a:t>
            </a:r>
            <a:r>
              <a:rPr lang="en-US" sz="2400" b="0" i="0" dirty="0">
                <a:solidFill>
                  <a:srgbClr val="0C0D0E"/>
                </a:solidFill>
                <a:effectLst/>
                <a:latin typeface="Trebuchet MS" panose="020B0603020202020204" pitchFamily="34" charset="0"/>
              </a:rPr>
              <a:t>,</a:t>
            </a:r>
            <a:r>
              <a:rPr lang="en-US" sz="2400" b="1" i="1" dirty="0">
                <a:solidFill>
                  <a:srgbClr val="0C0D0E"/>
                </a:solidFill>
                <a:effectLst/>
                <a:latin typeface="Trebuchet MS" panose="020B0603020202020204" pitchFamily="34" charset="0"/>
              </a:rPr>
              <a:t>t</a:t>
            </a:r>
            <a:r>
              <a:rPr lang="en-US" sz="2400" b="1" baseline="-25000" dirty="0">
                <a:solidFill>
                  <a:srgbClr val="0C0D0E"/>
                </a:solidFill>
                <a:latin typeface="Trebuchet MS" panose="020B0603020202020204" pitchFamily="34" charset="0"/>
              </a:rPr>
              <a:t>2</a:t>
            </a:r>
            <a:r>
              <a:rPr lang="en-US" sz="2400" b="0" i="0" dirty="0">
                <a:solidFill>
                  <a:srgbClr val="0C0D0E"/>
                </a:solidFill>
                <a:effectLst/>
                <a:latin typeface="Trebuchet MS" panose="020B0603020202020204" pitchFamily="34" charset="0"/>
              </a:rPr>
              <a:t>,…,</a:t>
            </a:r>
            <a:r>
              <a:rPr lang="en-US" sz="2400" b="1" i="1" dirty="0">
                <a:solidFill>
                  <a:srgbClr val="0C0D0E"/>
                </a:solidFill>
                <a:effectLst/>
                <a:latin typeface="Trebuchet MS" panose="020B0603020202020204" pitchFamily="34" charset="0"/>
              </a:rPr>
              <a:t>t</a:t>
            </a:r>
            <a:r>
              <a:rPr lang="en-US" sz="2400" b="1" baseline="-25000" dirty="0">
                <a:solidFill>
                  <a:srgbClr val="0C0D0E"/>
                </a:solidFill>
                <a:latin typeface="Trebuchet MS" panose="020B0603020202020204" pitchFamily="34" charset="0"/>
              </a:rPr>
              <a:t>n</a:t>
            </a:r>
            <a:r>
              <a:rPr lang="en-US" sz="2400" b="0" i="0" dirty="0">
                <a:solidFill>
                  <a:srgbClr val="0C0D0E"/>
                </a:solidFill>
                <a:effectLst/>
                <a:latin typeface="Trebuchet MS" panose="020B0603020202020204" pitchFamily="34" charset="0"/>
              </a:rPr>
              <a:t> are arbitrary terms, then</a:t>
            </a:r>
            <a:r>
              <a:rPr lang="en-US" sz="2400" b="1" i="0" dirty="0">
                <a:solidFill>
                  <a:srgbClr val="0C0D0E"/>
                </a:solidFill>
                <a:effectLst/>
                <a:latin typeface="Trebuchet MS" panose="020B0603020202020204" pitchFamily="34" charset="0"/>
              </a:rPr>
              <a:t> </a:t>
            </a:r>
            <a:r>
              <a:rPr lang="en-US" sz="2400" b="1" i="1" dirty="0">
                <a:solidFill>
                  <a:srgbClr val="0C0D0E"/>
                </a:solidFill>
                <a:effectLst/>
                <a:latin typeface="Trebuchet MS" panose="020B0603020202020204" pitchFamily="34" charset="0"/>
              </a:rPr>
              <a:t>φ</a:t>
            </a:r>
            <a:r>
              <a:rPr lang="en-US" sz="2400" b="1" i="0" dirty="0">
                <a:solidFill>
                  <a:srgbClr val="0C0D0E"/>
                </a:solidFill>
                <a:effectLst/>
                <a:latin typeface="Trebuchet MS" panose="020B0603020202020204" pitchFamily="34" charset="0"/>
              </a:rPr>
              <a:t>(</a:t>
            </a:r>
            <a:r>
              <a:rPr lang="en-US" sz="2400" b="1" i="1" dirty="0">
                <a:solidFill>
                  <a:srgbClr val="0C0D0E"/>
                </a:solidFill>
                <a:effectLst/>
                <a:latin typeface="Trebuchet MS" panose="020B0603020202020204" pitchFamily="34" charset="0"/>
              </a:rPr>
              <a:t>t</a:t>
            </a:r>
            <a:r>
              <a:rPr lang="en-US" sz="2400" b="1" baseline="-25000" dirty="0">
                <a:solidFill>
                  <a:srgbClr val="0C0D0E"/>
                </a:solidFill>
                <a:latin typeface="Trebuchet MS" panose="020B0603020202020204" pitchFamily="34" charset="0"/>
              </a:rPr>
              <a:t>1</a:t>
            </a:r>
            <a:r>
              <a:rPr lang="en-US" sz="2400" b="1" i="0" dirty="0">
                <a:solidFill>
                  <a:srgbClr val="0C0D0E"/>
                </a:solidFill>
                <a:effectLst/>
                <a:latin typeface="Trebuchet MS" panose="020B0603020202020204" pitchFamily="34" charset="0"/>
              </a:rPr>
              <a:t>,</a:t>
            </a:r>
            <a:r>
              <a:rPr lang="en-US" sz="2400" b="1" i="1" dirty="0">
                <a:solidFill>
                  <a:srgbClr val="0C0D0E"/>
                </a:solidFill>
                <a:effectLst/>
                <a:latin typeface="Trebuchet MS" panose="020B0603020202020204" pitchFamily="34" charset="0"/>
              </a:rPr>
              <a:t>t</a:t>
            </a:r>
            <a:r>
              <a:rPr lang="en-US" sz="2400" b="1" baseline="-25000" dirty="0">
                <a:solidFill>
                  <a:srgbClr val="0C0D0E"/>
                </a:solidFill>
                <a:latin typeface="Trebuchet MS" panose="020B0603020202020204" pitchFamily="34" charset="0"/>
              </a:rPr>
              <a:t>2</a:t>
            </a:r>
            <a:r>
              <a:rPr lang="en-US" sz="2400" b="1" i="0" dirty="0">
                <a:solidFill>
                  <a:srgbClr val="0C0D0E"/>
                </a:solidFill>
                <a:effectLst/>
                <a:latin typeface="Trebuchet MS" panose="020B0603020202020204" pitchFamily="34" charset="0"/>
              </a:rPr>
              <a:t>,…,</a:t>
            </a:r>
            <a:r>
              <a:rPr lang="en-US" sz="2400" b="1" i="1" dirty="0">
                <a:solidFill>
                  <a:srgbClr val="0C0D0E"/>
                </a:solidFill>
                <a:effectLst/>
                <a:latin typeface="Trebuchet MS" panose="020B0603020202020204" pitchFamily="34" charset="0"/>
              </a:rPr>
              <a:t>t</a:t>
            </a:r>
            <a:r>
              <a:rPr lang="en-US" sz="2400" b="1" baseline="-25000" dirty="0">
                <a:solidFill>
                  <a:srgbClr val="0C0D0E"/>
                </a:solidFill>
                <a:latin typeface="Trebuchet MS" panose="020B0603020202020204" pitchFamily="34" charset="0"/>
              </a:rPr>
              <a:t>n</a:t>
            </a:r>
            <a:r>
              <a:rPr lang="en-US" sz="2400" b="1" i="0" dirty="0">
                <a:solidFill>
                  <a:srgbClr val="0C0D0E"/>
                </a:solidFill>
                <a:effectLst/>
                <a:latin typeface="Trebuchet MS" panose="020B0603020202020204" pitchFamily="34" charset="0"/>
              </a:rPr>
              <a:t>) </a:t>
            </a:r>
            <a:r>
              <a:rPr lang="en-US" sz="2400" b="0" i="0" dirty="0">
                <a:solidFill>
                  <a:srgbClr val="0C0D0E"/>
                </a:solidFill>
                <a:effectLst/>
                <a:latin typeface="Trebuchet MS" panose="020B0603020202020204" pitchFamily="34" charset="0"/>
              </a:rPr>
              <a:t>is also a term.</a:t>
            </a:r>
          </a:p>
          <a:p>
            <a:pPr marL="719138" indent="-447675" algn="l">
              <a:lnSpc>
                <a:spcPct val="120000"/>
              </a:lnSpc>
              <a:spcBef>
                <a:spcPts val="600"/>
              </a:spcBef>
              <a:buNone/>
            </a:pPr>
            <a:r>
              <a:rPr lang="en-US" altLang="zh-CN" sz="2400" b="1" dirty="0">
                <a:solidFill>
                  <a:srgbClr val="0B61FF"/>
                </a:solidFill>
                <a:latin typeface="Trebuchet MS" panose="020B0603020202020204" pitchFamily="34" charset="0"/>
              </a:rPr>
              <a:t>(3) </a:t>
            </a:r>
            <a:r>
              <a:rPr lang="en-US" sz="2400" b="0" i="0" dirty="0">
                <a:solidFill>
                  <a:srgbClr val="0C0D0E"/>
                </a:solidFill>
                <a:effectLst/>
                <a:latin typeface="Trebuchet MS" panose="020B0603020202020204" pitchFamily="34" charset="0"/>
              </a:rPr>
              <a:t>All terms are obtained through a finite number of applications of </a:t>
            </a:r>
            <a:r>
              <a:rPr lang="en-US" sz="2400" b="1" dirty="0">
                <a:solidFill>
                  <a:srgbClr val="0B61FF"/>
                </a:solidFill>
                <a:latin typeface="Trebuchet MS" panose="020B0603020202020204" pitchFamily="34" charset="0"/>
              </a:rPr>
              <a:t>(1)</a:t>
            </a:r>
            <a:r>
              <a:rPr lang="en-US" sz="2400" b="0" i="0" dirty="0">
                <a:solidFill>
                  <a:srgbClr val="0C0D0E"/>
                </a:solidFill>
                <a:effectLst/>
                <a:latin typeface="Trebuchet MS" panose="020B0603020202020204" pitchFamily="34" charset="0"/>
              </a:rPr>
              <a:t> and </a:t>
            </a:r>
            <a:r>
              <a:rPr lang="en-US" sz="2400" b="1" i="0" dirty="0">
                <a:solidFill>
                  <a:srgbClr val="0B61FF"/>
                </a:solidFill>
                <a:effectLst/>
                <a:latin typeface="Trebuchet MS" panose="020B0603020202020204" pitchFamily="34" charset="0"/>
              </a:rPr>
              <a:t>(2)</a:t>
            </a:r>
            <a:r>
              <a:rPr lang="en-US" sz="2400" b="0" i="0" dirty="0">
                <a:solidFill>
                  <a:srgbClr val="0C0D0E"/>
                </a:solidFill>
                <a:effectLst/>
                <a:latin typeface="Trebuchet MS" panose="020B0603020202020204" pitchFamily="34" charset="0"/>
              </a:rPr>
              <a:t>.</a:t>
            </a:r>
          </a:p>
          <a:p>
            <a:pPr algn="l">
              <a:lnSpc>
                <a:spcPct val="120000"/>
              </a:lnSpc>
              <a:spcBef>
                <a:spcPts val="600"/>
              </a:spcBef>
              <a:buClr>
                <a:srgbClr val="0B61FF"/>
              </a:buClr>
              <a:buSzPct val="80000"/>
              <a:buFont typeface="Wingdings" panose="05000000000000000000" pitchFamily="2" charset="2"/>
              <a:buChar char="n"/>
            </a:pPr>
            <a:r>
              <a:rPr lang="en-US" sz="2400" b="1" i="0" dirty="0">
                <a:solidFill>
                  <a:srgbClr val="0C0D0E"/>
                </a:solidFill>
                <a:effectLst/>
                <a:latin typeface="Trebuchet MS" panose="020B0603020202020204" pitchFamily="34" charset="0"/>
              </a:rPr>
              <a:t>Definition 3.3:</a:t>
            </a:r>
            <a:r>
              <a:rPr lang="en-US" sz="2400" b="0" i="0" dirty="0">
                <a:solidFill>
                  <a:srgbClr val="0C0D0E"/>
                </a:solidFill>
                <a:effectLst/>
                <a:latin typeface="Trebuchet MS" panose="020B0603020202020204" pitchFamily="34" charset="0"/>
              </a:rPr>
              <a:t> Let </a:t>
            </a:r>
            <a:r>
              <a:rPr lang="en-US" sz="2400" b="1" i="1" dirty="0">
                <a:solidFill>
                  <a:srgbClr val="0C0D0E"/>
                </a:solidFill>
                <a:effectLst/>
                <a:latin typeface="Trebuchet MS" panose="020B0603020202020204" pitchFamily="34" charset="0"/>
              </a:rPr>
              <a:t>R</a:t>
            </a:r>
            <a:r>
              <a:rPr lang="en-US" sz="2400" b="1" i="0" dirty="0">
                <a:solidFill>
                  <a:srgbClr val="0C0D0E"/>
                </a:solidFill>
                <a:effectLst/>
                <a:latin typeface="Trebuchet MS" panose="020B0603020202020204" pitchFamily="34" charset="0"/>
              </a:rPr>
              <a:t>(</a:t>
            </a:r>
            <a:r>
              <a:rPr lang="en-US" sz="2400" b="1" i="1" dirty="0">
                <a:solidFill>
                  <a:srgbClr val="0C0D0E"/>
                </a:solidFill>
                <a:effectLst/>
                <a:latin typeface="Trebuchet MS" panose="020B0603020202020204" pitchFamily="34" charset="0"/>
              </a:rPr>
              <a:t>x</a:t>
            </a:r>
            <a:r>
              <a:rPr lang="en-US" sz="2400" b="1" baseline="-25000" dirty="0">
                <a:solidFill>
                  <a:srgbClr val="0C0D0E"/>
                </a:solidFill>
                <a:latin typeface="Trebuchet MS" panose="020B0603020202020204" pitchFamily="34" charset="0"/>
              </a:rPr>
              <a:t>1</a:t>
            </a:r>
            <a:r>
              <a:rPr lang="en-US" sz="2400" b="1" i="0" dirty="0">
                <a:solidFill>
                  <a:srgbClr val="0C0D0E"/>
                </a:solidFill>
                <a:effectLst/>
                <a:latin typeface="Trebuchet MS" panose="020B0603020202020204" pitchFamily="34" charset="0"/>
              </a:rPr>
              <a:t>,</a:t>
            </a:r>
            <a:r>
              <a:rPr lang="en-US" sz="2400" b="1" i="1" dirty="0">
                <a:solidFill>
                  <a:srgbClr val="0C0D0E"/>
                </a:solidFill>
                <a:effectLst/>
                <a:latin typeface="Trebuchet MS" panose="020B0603020202020204" pitchFamily="34" charset="0"/>
              </a:rPr>
              <a:t>x</a:t>
            </a:r>
            <a:r>
              <a:rPr lang="en-US" sz="2400" b="1" baseline="-25000" dirty="0">
                <a:solidFill>
                  <a:srgbClr val="0C0D0E"/>
                </a:solidFill>
                <a:latin typeface="Trebuchet MS" panose="020B0603020202020204" pitchFamily="34" charset="0"/>
              </a:rPr>
              <a:t>2</a:t>
            </a:r>
            <a:r>
              <a:rPr lang="en-US" sz="2400" b="1" i="0" dirty="0">
                <a:solidFill>
                  <a:srgbClr val="0C0D0E"/>
                </a:solidFill>
                <a:effectLst/>
                <a:latin typeface="Trebuchet MS" panose="020B0603020202020204" pitchFamily="34" charset="0"/>
              </a:rPr>
              <a:t>,…,</a:t>
            </a:r>
            <a:r>
              <a:rPr lang="en-US" sz="2400" b="1" i="1" dirty="0">
                <a:solidFill>
                  <a:srgbClr val="0C0D0E"/>
                </a:solidFill>
                <a:effectLst/>
                <a:latin typeface="Trebuchet MS" panose="020B0603020202020204" pitchFamily="34" charset="0"/>
              </a:rPr>
              <a:t>x</a:t>
            </a:r>
            <a:r>
              <a:rPr lang="en-US" sz="2400" b="1" baseline="-25000" dirty="0">
                <a:solidFill>
                  <a:srgbClr val="0C0D0E"/>
                </a:solidFill>
                <a:latin typeface="Trebuchet MS" panose="020B0603020202020204" pitchFamily="34" charset="0"/>
              </a:rPr>
              <a:t>n</a:t>
            </a:r>
            <a:r>
              <a:rPr lang="en-US" sz="2400" b="1" i="0" dirty="0">
                <a:solidFill>
                  <a:srgbClr val="0C0D0E"/>
                </a:solidFill>
                <a:effectLst/>
                <a:latin typeface="Trebuchet MS" panose="020B0603020202020204" pitchFamily="34" charset="0"/>
              </a:rPr>
              <a:t>) </a:t>
            </a:r>
            <a:r>
              <a:rPr lang="en-US" sz="2400" b="0" i="0" dirty="0">
                <a:solidFill>
                  <a:srgbClr val="0C0D0E"/>
                </a:solidFill>
                <a:effectLst/>
                <a:latin typeface="Trebuchet MS" panose="020B0603020202020204" pitchFamily="34" charset="0"/>
              </a:rPr>
              <a:t>be an arbitrary n-ary predicate symbol in a first-order language, and let </a:t>
            </a:r>
            <a:r>
              <a:rPr lang="en-US" sz="2400" b="1" i="1" dirty="0">
                <a:solidFill>
                  <a:srgbClr val="0C0D0E"/>
                </a:solidFill>
                <a:effectLst/>
                <a:latin typeface="Trebuchet MS" panose="020B0603020202020204" pitchFamily="34" charset="0"/>
              </a:rPr>
              <a:t>t</a:t>
            </a:r>
            <a:r>
              <a:rPr lang="en-US" sz="2400" b="1" baseline="-25000" dirty="0">
                <a:solidFill>
                  <a:srgbClr val="0C0D0E"/>
                </a:solidFill>
                <a:latin typeface="Trebuchet MS" panose="020B0603020202020204" pitchFamily="34" charset="0"/>
              </a:rPr>
              <a:t>1</a:t>
            </a:r>
            <a:r>
              <a:rPr lang="en-US" sz="2400" b="1" i="0" dirty="0">
                <a:solidFill>
                  <a:srgbClr val="0C0D0E"/>
                </a:solidFill>
                <a:effectLst/>
                <a:latin typeface="Trebuchet MS" panose="020B0603020202020204" pitchFamily="34" charset="0"/>
              </a:rPr>
              <a:t>,</a:t>
            </a:r>
            <a:r>
              <a:rPr lang="en-US" sz="2400" b="1" i="1" dirty="0">
                <a:solidFill>
                  <a:srgbClr val="0C0D0E"/>
                </a:solidFill>
                <a:effectLst/>
                <a:latin typeface="Trebuchet MS" panose="020B0603020202020204" pitchFamily="34" charset="0"/>
              </a:rPr>
              <a:t>t</a:t>
            </a:r>
            <a:r>
              <a:rPr lang="en-US" sz="2400" b="1" baseline="-25000" dirty="0">
                <a:solidFill>
                  <a:srgbClr val="0C0D0E"/>
                </a:solidFill>
                <a:latin typeface="Trebuchet MS" panose="020B0603020202020204" pitchFamily="34" charset="0"/>
              </a:rPr>
              <a:t>2</a:t>
            </a:r>
            <a:r>
              <a:rPr lang="en-US" sz="2400" b="1" i="0" dirty="0">
                <a:solidFill>
                  <a:srgbClr val="0C0D0E"/>
                </a:solidFill>
                <a:effectLst/>
                <a:latin typeface="Trebuchet MS" panose="020B0603020202020204" pitchFamily="34" charset="0"/>
              </a:rPr>
              <a:t>,…,</a:t>
            </a:r>
            <a:r>
              <a:rPr lang="en-US" sz="2400" b="1" i="1" dirty="0">
                <a:solidFill>
                  <a:srgbClr val="0C0D0E"/>
                </a:solidFill>
                <a:effectLst/>
                <a:latin typeface="Trebuchet MS" panose="020B0603020202020204" pitchFamily="34" charset="0"/>
              </a:rPr>
              <a:t>t</a:t>
            </a:r>
            <a:r>
              <a:rPr lang="en-US" sz="2400" b="1" baseline="-25000" dirty="0">
                <a:solidFill>
                  <a:srgbClr val="0C0D0E"/>
                </a:solidFill>
                <a:latin typeface="Trebuchet MS" panose="020B0603020202020204" pitchFamily="34" charset="0"/>
              </a:rPr>
              <a:t>n</a:t>
            </a:r>
            <a:r>
              <a:rPr lang="en-US" sz="2400" b="1" i="0" dirty="0">
                <a:solidFill>
                  <a:srgbClr val="0C0D0E"/>
                </a:solidFill>
                <a:effectLst/>
                <a:latin typeface="Trebuchet MS" panose="020B0603020202020204" pitchFamily="34" charset="0"/>
              </a:rPr>
              <a:t> </a:t>
            </a:r>
            <a:r>
              <a:rPr lang="en-US" sz="2400" b="0" i="0" dirty="0">
                <a:solidFill>
                  <a:srgbClr val="0C0D0E"/>
                </a:solidFill>
                <a:effectLst/>
                <a:latin typeface="Trebuchet MS" panose="020B0603020202020204" pitchFamily="34" charset="0"/>
              </a:rPr>
              <a:t>be arbitrary terms. Then, </a:t>
            </a:r>
            <a:r>
              <a:rPr lang="en-US" sz="2400" b="1" i="1" dirty="0">
                <a:solidFill>
                  <a:srgbClr val="0C0D0E"/>
                </a:solidFill>
                <a:effectLst/>
                <a:latin typeface="Trebuchet MS" panose="020B0603020202020204" pitchFamily="34" charset="0"/>
              </a:rPr>
              <a:t>R</a:t>
            </a:r>
            <a:r>
              <a:rPr lang="en-US" sz="2400" b="1" i="0" dirty="0">
                <a:solidFill>
                  <a:srgbClr val="0C0D0E"/>
                </a:solidFill>
                <a:effectLst/>
                <a:latin typeface="Trebuchet MS" panose="020B0603020202020204" pitchFamily="34" charset="0"/>
              </a:rPr>
              <a:t>(</a:t>
            </a:r>
            <a:r>
              <a:rPr lang="en-US" sz="2400" b="1" i="1" dirty="0">
                <a:solidFill>
                  <a:srgbClr val="0C0D0E"/>
                </a:solidFill>
                <a:effectLst/>
                <a:latin typeface="Trebuchet MS" panose="020B0603020202020204" pitchFamily="34" charset="0"/>
              </a:rPr>
              <a:t>t</a:t>
            </a:r>
            <a:r>
              <a:rPr lang="en-US" sz="2400" b="1" baseline="-25000" dirty="0">
                <a:solidFill>
                  <a:srgbClr val="0C0D0E"/>
                </a:solidFill>
                <a:latin typeface="Trebuchet MS" panose="020B0603020202020204" pitchFamily="34" charset="0"/>
              </a:rPr>
              <a:t>1</a:t>
            </a:r>
            <a:r>
              <a:rPr lang="en-US" sz="2400" b="1" i="0" dirty="0">
                <a:solidFill>
                  <a:srgbClr val="0C0D0E"/>
                </a:solidFill>
                <a:effectLst/>
                <a:latin typeface="Trebuchet MS" panose="020B0603020202020204" pitchFamily="34" charset="0"/>
              </a:rPr>
              <a:t>,</a:t>
            </a:r>
            <a:r>
              <a:rPr lang="en-US" sz="2400" b="1" i="1" dirty="0">
                <a:solidFill>
                  <a:srgbClr val="0C0D0E"/>
                </a:solidFill>
                <a:effectLst/>
                <a:latin typeface="Trebuchet MS" panose="020B0603020202020204" pitchFamily="34" charset="0"/>
              </a:rPr>
              <a:t>t</a:t>
            </a:r>
            <a:r>
              <a:rPr lang="en-US" sz="2400" b="1" baseline="-25000" dirty="0">
                <a:solidFill>
                  <a:srgbClr val="0C0D0E"/>
                </a:solidFill>
                <a:latin typeface="Trebuchet MS" panose="020B0603020202020204" pitchFamily="34" charset="0"/>
              </a:rPr>
              <a:t>2</a:t>
            </a:r>
            <a:r>
              <a:rPr lang="en-US" sz="2400" b="1" i="0" dirty="0">
                <a:solidFill>
                  <a:srgbClr val="0C0D0E"/>
                </a:solidFill>
                <a:effectLst/>
                <a:latin typeface="Trebuchet MS" panose="020B0603020202020204" pitchFamily="34" charset="0"/>
              </a:rPr>
              <a:t>,…,</a:t>
            </a:r>
            <a:r>
              <a:rPr lang="en-US" sz="2400" b="1" i="1" dirty="0">
                <a:solidFill>
                  <a:srgbClr val="0C0D0E"/>
                </a:solidFill>
                <a:effectLst/>
                <a:latin typeface="Trebuchet MS" panose="020B0603020202020204" pitchFamily="34" charset="0"/>
              </a:rPr>
              <a:t>t</a:t>
            </a:r>
            <a:r>
              <a:rPr lang="en-US" sz="2400" b="1" baseline="-25000" dirty="0">
                <a:solidFill>
                  <a:srgbClr val="0C0D0E"/>
                </a:solidFill>
                <a:latin typeface="Trebuchet MS" panose="020B0603020202020204" pitchFamily="34" charset="0"/>
              </a:rPr>
              <a:t>n</a:t>
            </a:r>
            <a:r>
              <a:rPr lang="en-US" sz="2400" b="1" i="0" dirty="0">
                <a:solidFill>
                  <a:srgbClr val="0C0D0E"/>
                </a:solidFill>
                <a:effectLst/>
                <a:latin typeface="Trebuchet MS" panose="020B0603020202020204" pitchFamily="34" charset="0"/>
              </a:rPr>
              <a:t>) </a:t>
            </a:r>
            <a:r>
              <a:rPr lang="en-US" sz="2400" b="0" i="0" dirty="0">
                <a:solidFill>
                  <a:srgbClr val="0C0D0E"/>
                </a:solidFill>
                <a:effectLst/>
                <a:latin typeface="Trebuchet MS" panose="020B0603020202020204" pitchFamily="34" charset="0"/>
              </a:rPr>
              <a:t>is called an </a:t>
            </a:r>
            <a:r>
              <a:rPr lang="en-US" sz="2400" b="1" i="1" dirty="0">
                <a:solidFill>
                  <a:srgbClr val="0C0D0E"/>
                </a:solidFill>
                <a:effectLst/>
                <a:latin typeface="Trebuchet MS" panose="020B0603020202020204" pitchFamily="34" charset="0"/>
              </a:rPr>
              <a:t>atomic formula</a:t>
            </a:r>
            <a:r>
              <a:rPr lang="en-US" sz="2400" b="0" i="0" dirty="0">
                <a:solidFill>
                  <a:srgbClr val="0C0D0E"/>
                </a:solidFill>
                <a:effectLst/>
                <a:latin typeface="Trebuchet MS" panose="020B0603020202020204" pitchFamily="34" charset="0"/>
              </a:rPr>
              <a:t>.</a:t>
            </a:r>
            <a:endParaRPr lang="zh-CN" altLang="en-US" sz="2400" b="1" dirty="0">
              <a:latin typeface="Trebuchet MS" panose="020B0603020202020204" pitchFamily="34" charset="0"/>
            </a:endParaRPr>
          </a:p>
        </p:txBody>
      </p:sp>
    </p:spTree>
    <p:extLst>
      <p:ext uri="{BB962C8B-B14F-4D97-AF65-F5344CB8AC3E}">
        <p14:creationId xmlns:p14="http://schemas.microsoft.com/office/powerpoint/2010/main" val="147358015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2" end="2"/>
                                            </p:txEl>
                                          </p:spTgt>
                                        </p:tgtEl>
                                        <p:attrNameLst>
                                          <p:attrName>style.visibility</p:attrName>
                                        </p:attrNameLst>
                                      </p:cBhvr>
                                      <p:to>
                                        <p:strVal val="visible"/>
                                      </p:to>
                                    </p:set>
                                    <p:animEffect transition="in" filter="fade">
                                      <p:cBhvr>
                                        <p:cTn id="7" dur="1000"/>
                                        <p:tgtEl>
                                          <p:spTgt spid="8">
                                            <p:txEl>
                                              <p:pRg st="2" end="2"/>
                                            </p:txEl>
                                          </p:spTgt>
                                        </p:tgtEl>
                                      </p:cBhvr>
                                    </p:animEffect>
                                    <p:anim calcmode="lin" valueType="num">
                                      <p:cBhvr>
                                        <p:cTn id="8"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8">
                                            <p:txEl>
                                              <p:pRg st="3" end="3"/>
                                            </p:txEl>
                                          </p:spTgt>
                                        </p:tgtEl>
                                        <p:attrNameLst>
                                          <p:attrName>style.visibility</p:attrName>
                                        </p:attrNameLst>
                                      </p:cBhvr>
                                      <p:to>
                                        <p:strVal val="visible"/>
                                      </p:to>
                                    </p:set>
                                    <p:animEffect transition="in" filter="fade">
                                      <p:cBhvr>
                                        <p:cTn id="14" dur="1000"/>
                                        <p:tgtEl>
                                          <p:spTgt spid="8">
                                            <p:txEl>
                                              <p:pRg st="3" end="3"/>
                                            </p:txEl>
                                          </p:spTgt>
                                        </p:tgtEl>
                                      </p:cBhvr>
                                    </p:animEffect>
                                    <p:anim calcmode="lin" valueType="num">
                                      <p:cBhvr>
                                        <p:cTn id="15"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16" dur="1000" fill="hold"/>
                                        <p:tgtEl>
                                          <p:spTgt spid="8">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8">
                                            <p:txEl>
                                              <p:pRg st="4" end="4"/>
                                            </p:txEl>
                                          </p:spTgt>
                                        </p:tgtEl>
                                        <p:attrNameLst>
                                          <p:attrName>style.visibility</p:attrName>
                                        </p:attrNameLst>
                                      </p:cBhvr>
                                      <p:to>
                                        <p:strVal val="visible"/>
                                      </p:to>
                                    </p:set>
                                    <p:animEffect transition="in" filter="fade">
                                      <p:cBhvr>
                                        <p:cTn id="21" dur="1000"/>
                                        <p:tgtEl>
                                          <p:spTgt spid="8">
                                            <p:txEl>
                                              <p:pRg st="4" end="4"/>
                                            </p:txEl>
                                          </p:spTgt>
                                        </p:tgtEl>
                                      </p:cBhvr>
                                    </p:animEffect>
                                    <p:anim calcmode="lin" valueType="num">
                                      <p:cBhvr>
                                        <p:cTn id="22" dur="1000" fill="hold"/>
                                        <p:tgtEl>
                                          <p:spTgt spid="8">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8">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spcBef>
                <a:spcPts val="600"/>
              </a:spcBef>
              <a:buClr>
                <a:srgbClr val="0B61FF"/>
              </a:buClr>
              <a:buSzPct val="80000"/>
            </a:pPr>
            <a:r>
              <a:rPr lang="en-US" altLang="zh-CN" sz="2000" b="1" dirty="0">
                <a:effectLst/>
                <a:latin typeface="Cambria Math" panose="02040503050406030204" pitchFamily="18" charset="0"/>
                <a:ea typeface="Cambria Math" panose="02040503050406030204" pitchFamily="18" charset="0"/>
                <a:cs typeface="Times New Roman" panose="02020603050405020304" pitchFamily="18" charset="0"/>
              </a:rPr>
              <a:t>                  </a:t>
            </a:r>
            <a:r>
              <a:rPr lang="en-US" altLang="zh-CN" sz="2000" b="1" dirty="0">
                <a:solidFill>
                  <a:schemeClr val="bg1"/>
                </a:solidFill>
                <a:latin typeface="Trebuchet MS" panose="020B0603020202020204" pitchFamily="34" charset="0"/>
              </a:rPr>
              <a:t>3.1.4</a:t>
            </a:r>
            <a:r>
              <a:rPr lang="en-US" altLang="zh-CN" sz="2000" b="1" dirty="0">
                <a:solidFill>
                  <a:srgbClr val="0B61FF"/>
                </a:solidFill>
                <a:latin typeface="Trebuchet MS" panose="020B0603020202020204" pitchFamily="34" charset="0"/>
              </a:rPr>
              <a:t> </a:t>
            </a:r>
            <a:r>
              <a:rPr lang="en-US" altLang="zh-CN" sz="2000" b="1" dirty="0">
                <a:solidFill>
                  <a:schemeClr val="bg1"/>
                </a:solidFill>
                <a:latin typeface="Trebuchet MS" panose="020B0603020202020204" pitchFamily="34" charset="0"/>
              </a:rPr>
              <a:t>First-Order Logic Formulas and Classification</a:t>
            </a:r>
          </a:p>
          <a:p>
            <a:pPr>
              <a:spcBef>
                <a:spcPts val="600"/>
              </a:spcBef>
              <a:buClr>
                <a:srgbClr val="0B61FF"/>
              </a:buClr>
              <a:buSzPct val="80000"/>
            </a:pPr>
            <a:r>
              <a:rPr lang="en-US" altLang="zh-CN" sz="1800" dirty="0">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2400" b="1" i="0" dirty="0">
                <a:solidFill>
                  <a:schemeClr val="bg1"/>
                </a:solidFill>
                <a:effectLst/>
                <a:latin typeface="Trebuchet MS" panose="020B0603020202020204" pitchFamily="34" charset="0"/>
              </a:rPr>
              <a:t>Well-formed formula (predicate formulas</a:t>
            </a:r>
            <a:r>
              <a:rPr lang="en-US" altLang="zh-CN" sz="2400" b="0" i="0" dirty="0">
                <a:solidFill>
                  <a:schemeClr val="bg1"/>
                </a:solidFill>
                <a:effectLst/>
                <a:latin typeface="Trebuchet MS" panose="020B0603020202020204" pitchFamily="34" charset="0"/>
              </a:rPr>
              <a:t> or </a:t>
            </a:r>
            <a:r>
              <a:rPr lang="en-US" altLang="zh-CN" sz="2400" b="1" i="0" dirty="0">
                <a:solidFill>
                  <a:schemeClr val="bg1"/>
                </a:solidFill>
                <a:effectLst/>
                <a:latin typeface="Trebuchet MS" panose="020B0603020202020204" pitchFamily="34" charset="0"/>
              </a:rPr>
              <a:t>formulas</a:t>
            </a:r>
            <a:r>
              <a:rPr lang="en-US" altLang="zh-CN" sz="2400" b="0" i="0" dirty="0">
                <a:solidFill>
                  <a:srgbClr val="0C0D0E"/>
                </a:solidFill>
                <a:effectLst/>
                <a:latin typeface="Trebuchet MS" panose="020B0603020202020204" pitchFamily="34" charset="0"/>
              </a:rPr>
              <a:t>.</a:t>
            </a:r>
            <a:r>
              <a:rPr lang="en-US" altLang="zh-CN" sz="2400" b="1" i="0" dirty="0">
                <a:solidFill>
                  <a:schemeClr val="bg1"/>
                </a:solidFill>
                <a:effectLst/>
                <a:latin typeface="Trebuchet MS" panose="020B0603020202020204" pitchFamily="34" charset="0"/>
              </a:rPr>
              <a:t>)  </a:t>
            </a:r>
            <a:endParaRPr lang="zh-CN" altLang="en-US" sz="2400" b="1" dirty="0">
              <a:solidFill>
                <a:schemeClr val="bg1"/>
              </a:solidFill>
              <a:highlight>
                <a:srgbClr val="FF0000"/>
              </a:highlight>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804182" y="765176"/>
            <a:ext cx="10191751" cy="557031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lnSpc>
                <a:spcPct val="120000"/>
              </a:lnSpc>
              <a:spcBef>
                <a:spcPts val="300"/>
              </a:spcBef>
              <a:buClr>
                <a:srgbClr val="0B61FF"/>
              </a:buClr>
              <a:buSzPct val="80000"/>
              <a:buFont typeface="Wingdings" panose="05000000000000000000" pitchFamily="2" charset="2"/>
              <a:buChar char="n"/>
            </a:pPr>
            <a:r>
              <a:rPr lang="en-US" sz="2400" b="1" i="0" dirty="0">
                <a:solidFill>
                  <a:srgbClr val="0C0D0E"/>
                </a:solidFill>
                <a:effectLst/>
                <a:latin typeface="Trebuchet MS" panose="020B0603020202020204" pitchFamily="34" charset="0"/>
              </a:rPr>
              <a:t>Definition 3.4</a:t>
            </a:r>
            <a:r>
              <a:rPr lang="zh-CN" altLang="en-US" sz="2400" b="0" i="0" dirty="0">
                <a:solidFill>
                  <a:srgbClr val="0C0D0E"/>
                </a:solidFill>
                <a:effectLst/>
                <a:latin typeface="Trebuchet MS" panose="020B0603020202020204" pitchFamily="34" charset="0"/>
              </a:rPr>
              <a:t>：</a:t>
            </a:r>
            <a:r>
              <a:rPr lang="en-US" sz="2400" b="1" i="1" dirty="0">
                <a:solidFill>
                  <a:srgbClr val="0C0D0E"/>
                </a:solidFill>
                <a:effectLst/>
                <a:latin typeface="Trebuchet MS" panose="020B0603020202020204" pitchFamily="34" charset="0"/>
              </a:rPr>
              <a:t>Well-formed formulas </a:t>
            </a:r>
            <a:r>
              <a:rPr lang="en-US" sz="2400" b="0" i="0" dirty="0">
                <a:solidFill>
                  <a:srgbClr val="0C0D0E"/>
                </a:solidFill>
                <a:effectLst/>
                <a:latin typeface="Trebuchet MS" panose="020B0603020202020204" pitchFamily="34" charset="0"/>
              </a:rPr>
              <a:t>in a first-order language are defined as follows:</a:t>
            </a:r>
          </a:p>
          <a:p>
            <a:pPr marL="0" indent="0" algn="l">
              <a:lnSpc>
                <a:spcPct val="120000"/>
              </a:lnSpc>
              <a:spcBef>
                <a:spcPts val="300"/>
              </a:spcBef>
              <a:buClr>
                <a:srgbClr val="0B61FF"/>
              </a:buClr>
              <a:buSzPct val="80000"/>
              <a:buNone/>
            </a:pPr>
            <a:r>
              <a:rPr lang="en-US" altLang="zh-CN" sz="2400" b="1" dirty="0">
                <a:solidFill>
                  <a:srgbClr val="0B61FF"/>
                </a:solidFill>
                <a:latin typeface="Trebuchet MS" panose="020B0603020202020204" pitchFamily="34" charset="0"/>
              </a:rPr>
              <a:t>(1) </a:t>
            </a:r>
            <a:r>
              <a:rPr lang="en-US" sz="2400" b="1" i="0" dirty="0">
                <a:solidFill>
                  <a:srgbClr val="0C0D0E"/>
                </a:solidFill>
                <a:effectLst/>
                <a:latin typeface="Trebuchet MS" panose="020B0603020202020204" pitchFamily="34" charset="0"/>
              </a:rPr>
              <a:t>Atomic formulas</a:t>
            </a:r>
            <a:r>
              <a:rPr lang="en-US" sz="2400" b="0" i="0" dirty="0">
                <a:solidFill>
                  <a:srgbClr val="0C0D0E"/>
                </a:solidFill>
                <a:effectLst/>
                <a:latin typeface="Trebuchet MS" panose="020B0603020202020204" pitchFamily="34" charset="0"/>
              </a:rPr>
              <a:t> are well-formed formulas.</a:t>
            </a:r>
          </a:p>
          <a:p>
            <a:pPr marL="0" indent="0" algn="l">
              <a:lnSpc>
                <a:spcPct val="120000"/>
              </a:lnSpc>
              <a:spcBef>
                <a:spcPts val="300"/>
              </a:spcBef>
              <a:buNone/>
            </a:pPr>
            <a:r>
              <a:rPr lang="en-US" altLang="zh-CN" sz="2400" b="1" dirty="0">
                <a:solidFill>
                  <a:srgbClr val="0B61FF"/>
                </a:solidFill>
                <a:latin typeface="Trebuchet MS" panose="020B0603020202020204" pitchFamily="34" charset="0"/>
              </a:rPr>
              <a:t>(2) </a:t>
            </a:r>
            <a:r>
              <a:rPr lang="en-US" sz="2400" b="0" i="0" dirty="0">
                <a:solidFill>
                  <a:srgbClr val="0C0D0E"/>
                </a:solidFill>
                <a:effectLst/>
                <a:latin typeface="Trebuchet MS" panose="020B0603020202020204" pitchFamily="34" charset="0"/>
              </a:rPr>
              <a:t>If </a:t>
            </a:r>
            <a:r>
              <a:rPr lang="en-US" sz="2400" b="1" i="1" dirty="0">
                <a:solidFill>
                  <a:srgbClr val="0C0D0E"/>
                </a:solidFill>
                <a:effectLst/>
                <a:latin typeface="Trebuchet MS" panose="020B0603020202020204" pitchFamily="34" charset="0"/>
              </a:rPr>
              <a:t>A</a:t>
            </a:r>
            <a:r>
              <a:rPr lang="en-US" sz="2400" b="0" i="0" dirty="0">
                <a:solidFill>
                  <a:srgbClr val="0C0D0E"/>
                </a:solidFill>
                <a:effectLst/>
                <a:latin typeface="Trebuchet MS" panose="020B0603020202020204" pitchFamily="34" charset="0"/>
              </a:rPr>
              <a:t> is a well-formed formula, then ¬</a:t>
            </a:r>
            <a:r>
              <a:rPr lang="en-US" sz="2400" b="1" i="1" dirty="0">
                <a:solidFill>
                  <a:srgbClr val="0C0D0E"/>
                </a:solidFill>
                <a:effectLst/>
                <a:latin typeface="Trebuchet MS" panose="020B0603020202020204" pitchFamily="34" charset="0"/>
              </a:rPr>
              <a:t>A</a:t>
            </a:r>
            <a:r>
              <a:rPr lang="en-US" sz="2400" b="0" i="0" dirty="0">
                <a:solidFill>
                  <a:srgbClr val="0C0D0E"/>
                </a:solidFill>
                <a:effectLst/>
                <a:latin typeface="Trebuchet MS" panose="020B0603020202020204" pitchFamily="34" charset="0"/>
              </a:rPr>
              <a:t> is also a well-formed formula.</a:t>
            </a:r>
          </a:p>
          <a:p>
            <a:pPr marL="0" indent="0" algn="l">
              <a:lnSpc>
                <a:spcPct val="120000"/>
              </a:lnSpc>
              <a:spcBef>
                <a:spcPts val="300"/>
              </a:spcBef>
              <a:buNone/>
            </a:pPr>
            <a:r>
              <a:rPr lang="en-US" altLang="zh-CN" sz="2400" b="1" dirty="0">
                <a:solidFill>
                  <a:srgbClr val="0B61FF"/>
                </a:solidFill>
                <a:latin typeface="Trebuchet MS" panose="020B0603020202020204" pitchFamily="34" charset="0"/>
              </a:rPr>
              <a:t>(3) </a:t>
            </a:r>
            <a:r>
              <a:rPr lang="en-US" sz="2400" b="0" i="0" dirty="0">
                <a:solidFill>
                  <a:srgbClr val="0C0D0E"/>
                </a:solidFill>
                <a:effectLst/>
                <a:latin typeface="Trebuchet MS" panose="020B0603020202020204" pitchFamily="34" charset="0"/>
              </a:rPr>
              <a:t>If </a:t>
            </a:r>
            <a:r>
              <a:rPr lang="en-US" sz="2400" b="1" i="1" dirty="0">
                <a:solidFill>
                  <a:srgbClr val="0C0D0E"/>
                </a:solidFill>
                <a:effectLst/>
                <a:latin typeface="Trebuchet MS" panose="020B0603020202020204" pitchFamily="34" charset="0"/>
              </a:rPr>
              <a:t>A</a:t>
            </a:r>
            <a:r>
              <a:rPr lang="en-US" sz="2400" b="0" i="0" dirty="0">
                <a:solidFill>
                  <a:srgbClr val="0C0D0E"/>
                </a:solidFill>
                <a:effectLst/>
                <a:latin typeface="Trebuchet MS" panose="020B0603020202020204" pitchFamily="34" charset="0"/>
              </a:rPr>
              <a:t> and </a:t>
            </a:r>
            <a:r>
              <a:rPr lang="en-US" sz="2400" b="1" i="1" dirty="0">
                <a:solidFill>
                  <a:srgbClr val="0C0D0E"/>
                </a:solidFill>
                <a:effectLst/>
                <a:latin typeface="Trebuchet MS" panose="020B0603020202020204" pitchFamily="34" charset="0"/>
              </a:rPr>
              <a:t>B</a:t>
            </a:r>
            <a:r>
              <a:rPr lang="en-US" sz="2400" b="0" i="0" dirty="0">
                <a:solidFill>
                  <a:srgbClr val="0C0D0E"/>
                </a:solidFill>
                <a:effectLst/>
                <a:latin typeface="Trebuchet MS" panose="020B0603020202020204" pitchFamily="34" charset="0"/>
              </a:rPr>
              <a:t> are well-formed formulas, then (</a:t>
            </a:r>
            <a:r>
              <a:rPr lang="en-US" sz="2400" b="1" i="1" dirty="0">
                <a:solidFill>
                  <a:srgbClr val="0C0D0E"/>
                </a:solidFill>
                <a:effectLst/>
                <a:latin typeface="Trebuchet MS" panose="020B0603020202020204" pitchFamily="34" charset="0"/>
              </a:rPr>
              <a:t>A</a:t>
            </a:r>
            <a:r>
              <a:rPr lang="en-US" sz="2400" b="1" i="0" dirty="0">
                <a:solidFill>
                  <a:srgbClr val="0C0D0E"/>
                </a:solidFill>
                <a:effectLst/>
                <a:latin typeface="Trebuchet MS" panose="020B0603020202020204" pitchFamily="34" charset="0"/>
              </a:rPr>
              <a:t>∧</a:t>
            </a:r>
            <a:r>
              <a:rPr lang="en-US" sz="2400" b="0" i="1" dirty="0">
                <a:solidFill>
                  <a:srgbClr val="0C0D0E"/>
                </a:solidFill>
                <a:effectLst/>
                <a:latin typeface="Trebuchet MS" panose="020B0603020202020204" pitchFamily="34" charset="0"/>
              </a:rPr>
              <a:t>B</a:t>
            </a:r>
            <a:r>
              <a:rPr lang="en-US" sz="2400" b="0" i="0" dirty="0">
                <a:solidFill>
                  <a:srgbClr val="0C0D0E"/>
                </a:solidFill>
                <a:effectLst/>
                <a:latin typeface="Trebuchet MS" panose="020B0603020202020204" pitchFamily="34" charset="0"/>
              </a:rPr>
              <a:t>), (</a:t>
            </a:r>
            <a:r>
              <a:rPr lang="en-US" sz="2400" b="1" i="1" dirty="0">
                <a:solidFill>
                  <a:srgbClr val="0C0D0E"/>
                </a:solidFill>
                <a:effectLst/>
                <a:latin typeface="Trebuchet MS" panose="020B0603020202020204" pitchFamily="34" charset="0"/>
              </a:rPr>
              <a:t>A</a:t>
            </a:r>
            <a:r>
              <a:rPr lang="en-US" sz="2400" b="1" i="0" dirty="0">
                <a:solidFill>
                  <a:srgbClr val="0C0D0E"/>
                </a:solidFill>
                <a:effectLst/>
                <a:latin typeface="Trebuchet MS" panose="020B0603020202020204" pitchFamily="34" charset="0"/>
              </a:rPr>
              <a:t>∨</a:t>
            </a:r>
            <a:r>
              <a:rPr lang="en-US" sz="2400" b="0" i="1" dirty="0">
                <a:solidFill>
                  <a:srgbClr val="0C0D0E"/>
                </a:solidFill>
                <a:effectLst/>
                <a:latin typeface="Trebuchet MS" panose="020B0603020202020204" pitchFamily="34" charset="0"/>
              </a:rPr>
              <a:t>B</a:t>
            </a:r>
            <a:r>
              <a:rPr lang="en-US" sz="2400" b="0" i="0" dirty="0">
                <a:solidFill>
                  <a:srgbClr val="0C0D0E"/>
                </a:solidFill>
                <a:effectLst/>
                <a:latin typeface="Trebuchet MS" panose="020B0603020202020204" pitchFamily="34" charset="0"/>
              </a:rPr>
              <a:t>), (</a:t>
            </a:r>
            <a:r>
              <a:rPr lang="en-US" sz="2400" b="1" i="1" dirty="0">
                <a:solidFill>
                  <a:srgbClr val="0C0D0E"/>
                </a:solidFill>
                <a:effectLst/>
                <a:latin typeface="Trebuchet MS" panose="020B0603020202020204" pitchFamily="34" charset="0"/>
              </a:rPr>
              <a:t>A</a:t>
            </a:r>
            <a:r>
              <a:rPr lang="en-US" sz="2400" b="1" i="0" dirty="0">
                <a:solidFill>
                  <a:srgbClr val="0C0D0E"/>
                </a:solidFill>
                <a:effectLst/>
                <a:latin typeface="Trebuchet MS" panose="020B0603020202020204" pitchFamily="34" charset="0"/>
              </a:rPr>
              <a:t>→</a:t>
            </a:r>
            <a:r>
              <a:rPr lang="en-US" sz="2400" b="1" i="1" dirty="0">
                <a:solidFill>
                  <a:srgbClr val="0C0D0E"/>
                </a:solidFill>
                <a:effectLst/>
                <a:latin typeface="Trebuchet MS" panose="020B0603020202020204" pitchFamily="34" charset="0"/>
              </a:rPr>
              <a:t>B</a:t>
            </a:r>
            <a:r>
              <a:rPr lang="en-US" sz="2400" b="0" i="0" dirty="0">
                <a:solidFill>
                  <a:srgbClr val="0C0D0E"/>
                </a:solidFill>
                <a:effectLst/>
                <a:latin typeface="Trebuchet MS" panose="020B0603020202020204" pitchFamily="34" charset="0"/>
              </a:rPr>
              <a:t>), and (</a:t>
            </a:r>
            <a:r>
              <a:rPr lang="en-US" sz="2400" b="1" i="1" dirty="0">
                <a:solidFill>
                  <a:srgbClr val="0C0D0E"/>
                </a:solidFill>
                <a:effectLst/>
                <a:latin typeface="Trebuchet MS" panose="020B0603020202020204" pitchFamily="34" charset="0"/>
              </a:rPr>
              <a:t>A</a:t>
            </a:r>
            <a:r>
              <a:rPr lang="en-US" sz="2400" b="1" i="0" dirty="0">
                <a:solidFill>
                  <a:srgbClr val="0C0D0E"/>
                </a:solidFill>
                <a:effectLst/>
              </a:rPr>
              <a:t>↔</a:t>
            </a:r>
            <a:r>
              <a:rPr lang="en-US" sz="2400" b="1" i="1" dirty="0">
                <a:solidFill>
                  <a:srgbClr val="0C0D0E"/>
                </a:solidFill>
                <a:effectLst/>
                <a:latin typeface="Trebuchet MS" panose="020B0603020202020204" pitchFamily="34" charset="0"/>
              </a:rPr>
              <a:t>B</a:t>
            </a:r>
            <a:r>
              <a:rPr lang="en-US" sz="2400" b="0" i="0" dirty="0">
                <a:solidFill>
                  <a:srgbClr val="0C0D0E"/>
                </a:solidFill>
                <a:effectLst/>
                <a:latin typeface="Trebuchet MS" panose="020B0603020202020204" pitchFamily="34" charset="0"/>
              </a:rPr>
              <a:t>) are also well-formed formulas.</a:t>
            </a:r>
          </a:p>
          <a:p>
            <a:pPr marL="0" indent="0" algn="l">
              <a:lnSpc>
                <a:spcPct val="120000"/>
              </a:lnSpc>
              <a:spcBef>
                <a:spcPts val="300"/>
              </a:spcBef>
              <a:buNone/>
            </a:pPr>
            <a:r>
              <a:rPr lang="en-US" altLang="zh-CN" sz="2400" b="1" dirty="0">
                <a:solidFill>
                  <a:srgbClr val="0B61FF"/>
                </a:solidFill>
                <a:latin typeface="Trebuchet MS" panose="020B0603020202020204" pitchFamily="34" charset="0"/>
              </a:rPr>
              <a:t>(4) </a:t>
            </a:r>
            <a:r>
              <a:rPr lang="en-US" sz="2400" b="0" i="0" dirty="0">
                <a:solidFill>
                  <a:srgbClr val="0C0D0E"/>
                </a:solidFill>
                <a:effectLst/>
                <a:latin typeface="Trebuchet MS" panose="020B0603020202020204" pitchFamily="34" charset="0"/>
              </a:rPr>
              <a:t>If </a:t>
            </a:r>
            <a:r>
              <a:rPr lang="en-US" sz="2400" b="1" i="1" dirty="0">
                <a:solidFill>
                  <a:srgbClr val="0C0D0E"/>
                </a:solidFill>
                <a:effectLst/>
                <a:latin typeface="Trebuchet MS" panose="020B0603020202020204" pitchFamily="34" charset="0"/>
              </a:rPr>
              <a:t>A</a:t>
            </a:r>
            <a:r>
              <a:rPr lang="en-US" sz="2400" b="0" i="0" dirty="0">
                <a:solidFill>
                  <a:srgbClr val="0C0D0E"/>
                </a:solidFill>
                <a:effectLst/>
                <a:latin typeface="Trebuchet MS" panose="020B0603020202020204" pitchFamily="34" charset="0"/>
              </a:rPr>
              <a:t> is a well-formed formula, then </a:t>
            </a:r>
            <a:r>
              <a:rPr lang="en-US" sz="2400" b="1" i="0" dirty="0">
                <a:solidFill>
                  <a:srgbClr val="0C0D0E"/>
                </a:solidFill>
                <a:effectLst/>
                <a:latin typeface="Trebuchet MS" panose="020B0603020202020204" pitchFamily="34" charset="0"/>
              </a:rPr>
              <a:t>∀</a:t>
            </a:r>
            <a:r>
              <a:rPr lang="en-US" sz="2400" b="1" i="1" dirty="0">
                <a:solidFill>
                  <a:srgbClr val="0C0D0E"/>
                </a:solidFill>
                <a:effectLst/>
                <a:latin typeface="Trebuchet MS" panose="020B0603020202020204" pitchFamily="34" charset="0"/>
              </a:rPr>
              <a:t>xA </a:t>
            </a:r>
            <a:r>
              <a:rPr lang="en-US" sz="2400" b="0" i="0" dirty="0">
                <a:solidFill>
                  <a:srgbClr val="0C0D0E"/>
                </a:solidFill>
                <a:effectLst/>
                <a:latin typeface="Trebuchet MS" panose="020B0603020202020204" pitchFamily="34" charset="0"/>
              </a:rPr>
              <a:t>and </a:t>
            </a:r>
            <a:r>
              <a:rPr lang="en-US" sz="2400" b="1" i="0" dirty="0">
                <a:solidFill>
                  <a:srgbClr val="0C0D0E"/>
                </a:solidFill>
                <a:effectLst/>
                <a:latin typeface="Trebuchet MS" panose="020B0603020202020204" pitchFamily="34" charset="0"/>
              </a:rPr>
              <a:t>∃</a:t>
            </a:r>
            <a:r>
              <a:rPr lang="en-US" sz="2400" b="1" i="1" dirty="0">
                <a:solidFill>
                  <a:srgbClr val="0C0D0E"/>
                </a:solidFill>
                <a:effectLst/>
                <a:latin typeface="Trebuchet MS" panose="020B0603020202020204" pitchFamily="34" charset="0"/>
              </a:rPr>
              <a:t>x</a:t>
            </a:r>
            <a:r>
              <a:rPr lang="en-US" sz="2400" b="1" i="0" dirty="0">
                <a:solidFill>
                  <a:srgbClr val="0C0D0E"/>
                </a:solidFill>
                <a:effectLst/>
                <a:latin typeface="Trebuchet MS" panose="020B0603020202020204" pitchFamily="34" charset="0"/>
              </a:rPr>
              <a:t>A </a:t>
            </a:r>
            <a:r>
              <a:rPr lang="en-US" sz="2400" b="0" i="0" dirty="0">
                <a:solidFill>
                  <a:srgbClr val="0C0D0E"/>
                </a:solidFill>
                <a:effectLst/>
                <a:latin typeface="Trebuchet MS" panose="020B0603020202020204" pitchFamily="34" charset="0"/>
              </a:rPr>
              <a:t>are also well-formed formulas.</a:t>
            </a:r>
          </a:p>
          <a:p>
            <a:pPr marL="0" indent="0" algn="l">
              <a:lnSpc>
                <a:spcPct val="120000"/>
              </a:lnSpc>
              <a:spcBef>
                <a:spcPts val="300"/>
              </a:spcBef>
              <a:buNone/>
            </a:pPr>
            <a:r>
              <a:rPr lang="en-US" altLang="zh-CN" sz="2400" b="1" dirty="0">
                <a:solidFill>
                  <a:srgbClr val="0B61FF"/>
                </a:solidFill>
                <a:latin typeface="Trebuchet MS" panose="020B0603020202020204" pitchFamily="34" charset="0"/>
              </a:rPr>
              <a:t>(5) </a:t>
            </a:r>
            <a:r>
              <a:rPr lang="en-US" sz="2400" b="0" i="0" dirty="0">
                <a:solidFill>
                  <a:srgbClr val="0C0D0E"/>
                </a:solidFill>
                <a:effectLst/>
                <a:latin typeface="Trebuchet MS" panose="020B0603020202020204" pitchFamily="34" charset="0"/>
              </a:rPr>
              <a:t>Only those expressions formed by a finite application of rules </a:t>
            </a:r>
            <a:r>
              <a:rPr lang="en-US" sz="2400" b="1" dirty="0">
                <a:solidFill>
                  <a:srgbClr val="0B61FF"/>
                </a:solidFill>
                <a:latin typeface="Trebuchet MS" panose="020B0603020202020204" pitchFamily="34" charset="0"/>
              </a:rPr>
              <a:t>(1)</a:t>
            </a:r>
            <a:r>
              <a:rPr lang="en-US" sz="2400" b="0" i="0" dirty="0">
                <a:solidFill>
                  <a:srgbClr val="0C0D0E"/>
                </a:solidFill>
                <a:effectLst/>
                <a:latin typeface="Trebuchet MS" panose="020B0603020202020204" pitchFamily="34" charset="0"/>
              </a:rPr>
              <a:t> through </a:t>
            </a:r>
            <a:r>
              <a:rPr lang="en-US" sz="2400" b="1" dirty="0">
                <a:solidFill>
                  <a:srgbClr val="0B61FF"/>
                </a:solidFill>
                <a:latin typeface="Trebuchet MS" panose="020B0603020202020204" pitchFamily="34" charset="0"/>
              </a:rPr>
              <a:t>(4)</a:t>
            </a:r>
            <a:r>
              <a:rPr lang="en-US" sz="2400" b="0" i="0" dirty="0">
                <a:solidFill>
                  <a:srgbClr val="0C0D0E"/>
                </a:solidFill>
                <a:effectLst/>
                <a:latin typeface="Trebuchet MS" panose="020B0603020202020204" pitchFamily="34" charset="0"/>
              </a:rPr>
              <a:t> are considered well-formed formulas.</a:t>
            </a:r>
          </a:p>
          <a:p>
            <a:pPr algn="l">
              <a:lnSpc>
                <a:spcPct val="120000"/>
              </a:lnSpc>
              <a:spcBef>
                <a:spcPts val="300"/>
              </a:spcBef>
              <a:buClr>
                <a:srgbClr val="0B61FF"/>
              </a:buClr>
              <a:buSzPct val="80000"/>
              <a:buFont typeface="Wingdings" panose="05000000000000000000" pitchFamily="2" charset="2"/>
              <a:buChar char="n"/>
            </a:pPr>
            <a:r>
              <a:rPr lang="en-US" sz="2400" b="0" i="0" dirty="0">
                <a:solidFill>
                  <a:srgbClr val="0C0D0E"/>
                </a:solidFill>
                <a:effectLst/>
                <a:latin typeface="Trebuchet MS" panose="020B0603020202020204" pitchFamily="34" charset="0"/>
              </a:rPr>
              <a:t>Well-formed formulas are also referred to as </a:t>
            </a:r>
            <a:r>
              <a:rPr lang="en-US" sz="2400" b="1" i="1" dirty="0">
                <a:solidFill>
                  <a:srgbClr val="0C0D0E"/>
                </a:solidFill>
                <a:effectLst/>
                <a:latin typeface="Trebuchet MS" panose="020B0603020202020204" pitchFamily="34" charset="0"/>
              </a:rPr>
              <a:t>predicate formulas</a:t>
            </a:r>
            <a:r>
              <a:rPr lang="en-US" sz="2400" b="0" i="1" dirty="0">
                <a:solidFill>
                  <a:srgbClr val="0C0D0E"/>
                </a:solidFill>
                <a:effectLst/>
                <a:latin typeface="Trebuchet MS" panose="020B0603020202020204" pitchFamily="34" charset="0"/>
              </a:rPr>
              <a:t> </a:t>
            </a:r>
            <a:r>
              <a:rPr lang="en-US" sz="2400" b="0" i="0" dirty="0">
                <a:solidFill>
                  <a:srgbClr val="0C0D0E"/>
                </a:solidFill>
                <a:effectLst/>
                <a:latin typeface="Trebuchet MS" panose="020B0603020202020204" pitchFamily="34" charset="0"/>
              </a:rPr>
              <a:t>or simply </a:t>
            </a:r>
            <a:r>
              <a:rPr lang="en-US" sz="2400" b="1" i="1" dirty="0">
                <a:solidFill>
                  <a:srgbClr val="0C0D0E"/>
                </a:solidFill>
                <a:effectLst/>
                <a:latin typeface="Trebuchet MS" panose="020B0603020202020204" pitchFamily="34" charset="0"/>
              </a:rPr>
              <a:t>formulas</a:t>
            </a:r>
            <a:r>
              <a:rPr lang="en-US" sz="2400" b="0" i="0" dirty="0">
                <a:solidFill>
                  <a:srgbClr val="0C0D0E"/>
                </a:solidFill>
                <a:effectLst/>
                <a:latin typeface="Trebuchet MS" panose="020B0603020202020204" pitchFamily="34" charset="0"/>
              </a:rPr>
              <a:t>.</a:t>
            </a:r>
          </a:p>
          <a:p>
            <a:pPr eaLnBrk="1" hangingPunct="1">
              <a:lnSpc>
                <a:spcPct val="120000"/>
              </a:lnSpc>
              <a:spcBef>
                <a:spcPts val="300"/>
              </a:spcBef>
              <a:buFontTx/>
              <a:buNone/>
            </a:pPr>
            <a:endParaRPr lang="zh-CN" altLang="en-US" sz="2400" b="1" dirty="0">
              <a:latin typeface="Trebuchet MS" panose="020B0603020202020204" pitchFamily="34" charset="0"/>
            </a:endParaRPr>
          </a:p>
        </p:txBody>
      </p:sp>
    </p:spTree>
    <p:extLst>
      <p:ext uri="{BB962C8B-B14F-4D97-AF65-F5344CB8AC3E}">
        <p14:creationId xmlns:p14="http://schemas.microsoft.com/office/powerpoint/2010/main" val="136458004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2" end="2"/>
                                            </p:txEl>
                                          </p:spTgt>
                                        </p:tgtEl>
                                        <p:attrNameLst>
                                          <p:attrName>style.visibility</p:attrName>
                                        </p:attrNameLst>
                                      </p:cBhvr>
                                      <p:to>
                                        <p:strVal val="visible"/>
                                      </p:to>
                                    </p:set>
                                    <p:animEffect transition="in" filter="fade">
                                      <p:cBhvr>
                                        <p:cTn id="7" dur="1000"/>
                                        <p:tgtEl>
                                          <p:spTgt spid="8">
                                            <p:txEl>
                                              <p:pRg st="2" end="2"/>
                                            </p:txEl>
                                          </p:spTgt>
                                        </p:tgtEl>
                                      </p:cBhvr>
                                    </p:animEffect>
                                    <p:anim calcmode="lin" valueType="num">
                                      <p:cBhvr>
                                        <p:cTn id="8"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8">
                                            <p:txEl>
                                              <p:pRg st="3" end="3"/>
                                            </p:txEl>
                                          </p:spTgt>
                                        </p:tgtEl>
                                        <p:attrNameLst>
                                          <p:attrName>style.visibility</p:attrName>
                                        </p:attrNameLst>
                                      </p:cBhvr>
                                      <p:to>
                                        <p:strVal val="visible"/>
                                      </p:to>
                                    </p:set>
                                    <p:animEffect transition="in" filter="fade">
                                      <p:cBhvr>
                                        <p:cTn id="12" dur="1000"/>
                                        <p:tgtEl>
                                          <p:spTgt spid="8">
                                            <p:txEl>
                                              <p:pRg st="3" end="3"/>
                                            </p:txEl>
                                          </p:spTgt>
                                        </p:tgtEl>
                                      </p:cBhvr>
                                    </p:animEffect>
                                    <p:anim calcmode="lin" valueType="num">
                                      <p:cBhvr>
                                        <p:cTn id="13"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8">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8">
                                            <p:txEl>
                                              <p:pRg st="4" end="4"/>
                                            </p:txEl>
                                          </p:spTgt>
                                        </p:tgtEl>
                                        <p:attrNameLst>
                                          <p:attrName>style.visibility</p:attrName>
                                        </p:attrNameLst>
                                      </p:cBhvr>
                                      <p:to>
                                        <p:strVal val="visible"/>
                                      </p:to>
                                    </p:set>
                                    <p:animEffect transition="in" filter="fade">
                                      <p:cBhvr>
                                        <p:cTn id="19" dur="1000"/>
                                        <p:tgtEl>
                                          <p:spTgt spid="8">
                                            <p:txEl>
                                              <p:pRg st="4" end="4"/>
                                            </p:txEl>
                                          </p:spTgt>
                                        </p:tgtEl>
                                      </p:cBhvr>
                                    </p:animEffect>
                                    <p:anim calcmode="lin" valueType="num">
                                      <p:cBhvr>
                                        <p:cTn id="20" dur="1000" fill="hold"/>
                                        <p:tgtEl>
                                          <p:spTgt spid="8">
                                            <p:txEl>
                                              <p:pRg st="4" end="4"/>
                                            </p:txEl>
                                          </p:spTgt>
                                        </p:tgtEl>
                                        <p:attrNameLst>
                                          <p:attrName>ppt_x</p:attrName>
                                        </p:attrNameLst>
                                      </p:cBhvr>
                                      <p:tavLst>
                                        <p:tav tm="0">
                                          <p:val>
                                            <p:strVal val="#ppt_x"/>
                                          </p:val>
                                        </p:tav>
                                        <p:tav tm="100000">
                                          <p:val>
                                            <p:strVal val="#ppt_x"/>
                                          </p:val>
                                        </p:tav>
                                      </p:tavLst>
                                    </p:anim>
                                    <p:anim calcmode="lin" valueType="num">
                                      <p:cBhvr>
                                        <p:cTn id="21" dur="1000" fill="hold"/>
                                        <p:tgtEl>
                                          <p:spTgt spid="8">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8">
                                            <p:txEl>
                                              <p:pRg st="5" end="5"/>
                                            </p:txEl>
                                          </p:spTgt>
                                        </p:tgtEl>
                                        <p:attrNameLst>
                                          <p:attrName>style.visibility</p:attrName>
                                        </p:attrNameLst>
                                      </p:cBhvr>
                                      <p:to>
                                        <p:strVal val="visible"/>
                                      </p:to>
                                    </p:set>
                                    <p:animEffect transition="in" filter="fade">
                                      <p:cBhvr>
                                        <p:cTn id="26" dur="1000"/>
                                        <p:tgtEl>
                                          <p:spTgt spid="8">
                                            <p:txEl>
                                              <p:pRg st="5" end="5"/>
                                            </p:txEl>
                                          </p:spTgt>
                                        </p:tgtEl>
                                      </p:cBhvr>
                                    </p:animEffect>
                                    <p:anim calcmode="lin" valueType="num">
                                      <p:cBhvr>
                                        <p:cTn id="27" dur="1000" fill="hold"/>
                                        <p:tgtEl>
                                          <p:spTgt spid="8">
                                            <p:txEl>
                                              <p:pRg st="5" end="5"/>
                                            </p:txEl>
                                          </p:spTgt>
                                        </p:tgtEl>
                                        <p:attrNameLst>
                                          <p:attrName>ppt_x</p:attrName>
                                        </p:attrNameLst>
                                      </p:cBhvr>
                                      <p:tavLst>
                                        <p:tav tm="0">
                                          <p:val>
                                            <p:strVal val="#ppt_x"/>
                                          </p:val>
                                        </p:tav>
                                        <p:tav tm="100000">
                                          <p:val>
                                            <p:strVal val="#ppt_x"/>
                                          </p:val>
                                        </p:tav>
                                      </p:tavLst>
                                    </p:anim>
                                    <p:anim calcmode="lin" valueType="num">
                                      <p:cBhvr>
                                        <p:cTn id="28" dur="1000" fill="hold"/>
                                        <p:tgtEl>
                                          <p:spTgt spid="8">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8">
                                            <p:txEl>
                                              <p:pRg st="6" end="6"/>
                                            </p:txEl>
                                          </p:spTgt>
                                        </p:tgtEl>
                                        <p:attrNameLst>
                                          <p:attrName>style.visibility</p:attrName>
                                        </p:attrNameLst>
                                      </p:cBhvr>
                                      <p:to>
                                        <p:strVal val="visible"/>
                                      </p:to>
                                    </p:set>
                                    <p:animEffect transition="in" filter="fade">
                                      <p:cBhvr>
                                        <p:cTn id="33" dur="1000"/>
                                        <p:tgtEl>
                                          <p:spTgt spid="8">
                                            <p:txEl>
                                              <p:pRg st="6" end="6"/>
                                            </p:txEl>
                                          </p:spTgt>
                                        </p:tgtEl>
                                      </p:cBhvr>
                                    </p:animEffect>
                                    <p:anim calcmode="lin" valueType="num">
                                      <p:cBhvr>
                                        <p:cTn id="34" dur="1000" fill="hold"/>
                                        <p:tgtEl>
                                          <p:spTgt spid="8">
                                            <p:txEl>
                                              <p:pRg st="6" end="6"/>
                                            </p:txEl>
                                          </p:spTgt>
                                        </p:tgtEl>
                                        <p:attrNameLst>
                                          <p:attrName>ppt_x</p:attrName>
                                        </p:attrNameLst>
                                      </p:cBhvr>
                                      <p:tavLst>
                                        <p:tav tm="0">
                                          <p:val>
                                            <p:strVal val="#ppt_x"/>
                                          </p:val>
                                        </p:tav>
                                        <p:tav tm="100000">
                                          <p:val>
                                            <p:strVal val="#ppt_x"/>
                                          </p:val>
                                        </p:tav>
                                      </p:tavLst>
                                    </p:anim>
                                    <p:anim calcmode="lin" valueType="num">
                                      <p:cBhvr>
                                        <p:cTn id="35" dur="1000" fill="hold"/>
                                        <p:tgtEl>
                                          <p:spTgt spid="8">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spcBef>
                <a:spcPts val="600"/>
              </a:spcBef>
              <a:buClr>
                <a:srgbClr val="0B61FF"/>
              </a:buClr>
              <a:buSzPct val="80000"/>
            </a:pPr>
            <a:r>
              <a:rPr lang="en-US" altLang="zh-CN" sz="2000" b="1" dirty="0">
                <a:effectLst/>
                <a:latin typeface="Cambria Math" panose="02040503050406030204" pitchFamily="18" charset="0"/>
                <a:ea typeface="Cambria Math" panose="02040503050406030204" pitchFamily="18" charset="0"/>
                <a:cs typeface="Times New Roman" panose="02020603050405020304" pitchFamily="18" charset="0"/>
              </a:rPr>
              <a:t>                 </a:t>
            </a:r>
            <a:r>
              <a:rPr lang="en-US" altLang="zh-CN" sz="2000" b="1" dirty="0">
                <a:solidFill>
                  <a:schemeClr val="bg1"/>
                </a:solidFill>
                <a:latin typeface="Trebuchet MS" panose="020B0603020202020204" pitchFamily="34" charset="0"/>
              </a:rPr>
              <a:t>3.1.4</a:t>
            </a:r>
            <a:r>
              <a:rPr lang="en-US" altLang="zh-CN" sz="2000" b="1" dirty="0">
                <a:solidFill>
                  <a:srgbClr val="0B61FF"/>
                </a:solidFill>
                <a:latin typeface="Trebuchet MS" panose="020B0603020202020204" pitchFamily="34" charset="0"/>
              </a:rPr>
              <a:t> </a:t>
            </a:r>
            <a:r>
              <a:rPr lang="en-US" altLang="zh-CN" sz="2000" b="1" dirty="0">
                <a:solidFill>
                  <a:schemeClr val="bg1"/>
                </a:solidFill>
                <a:latin typeface="Trebuchet MS" panose="020B0603020202020204" pitchFamily="34" charset="0"/>
              </a:rPr>
              <a:t>First-Order Logic Formulas and Classification</a:t>
            </a:r>
          </a:p>
          <a:p>
            <a:pPr>
              <a:spcBef>
                <a:spcPts val="600"/>
              </a:spcBef>
              <a:buClr>
                <a:srgbClr val="0B61FF"/>
              </a:buClr>
              <a:buSzPct val="80000"/>
            </a:pPr>
            <a:r>
              <a:rPr lang="en-US" altLang="zh-CN" sz="1600" dirty="0">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2400" b="1" dirty="0">
                <a:solidFill>
                  <a:schemeClr val="bg1"/>
                </a:solidFill>
                <a:latin typeface="Trebuchet MS" panose="020B0603020202020204" pitchFamily="34" charset="0"/>
              </a:rPr>
              <a:t>Bound Variable and Bound Occurrences </a:t>
            </a:r>
            <a:r>
              <a:rPr lang="en-US" altLang="zh-CN" sz="2400" b="1" dirty="0">
                <a:solidFill>
                  <a:schemeClr val="bg1"/>
                </a:solidFill>
                <a:effectLst/>
                <a:latin typeface="Trebuchet MS" panose="020B0603020202020204" pitchFamily="34" charset="0"/>
              </a:rPr>
              <a:t>  </a:t>
            </a:r>
            <a:endParaRPr lang="zh-CN" altLang="en-US" sz="2400" b="1" dirty="0">
              <a:solidFill>
                <a:schemeClr val="bg1"/>
              </a:solidFill>
              <a:highlight>
                <a:srgbClr val="FF0000"/>
              </a:highlight>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0125" y="762001"/>
            <a:ext cx="9602561" cy="535305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lnSpc>
                <a:spcPct val="120000"/>
              </a:lnSpc>
              <a:spcBef>
                <a:spcPts val="0"/>
              </a:spcBef>
              <a:buClr>
                <a:srgbClr val="0B61FF"/>
              </a:buClr>
              <a:buSzPct val="80000"/>
              <a:buFont typeface="Wingdings" panose="05000000000000000000" pitchFamily="2" charset="2"/>
              <a:buChar char="n"/>
            </a:pPr>
            <a:r>
              <a:rPr lang="en-US" sz="2400" b="1" i="0" dirty="0">
                <a:solidFill>
                  <a:srgbClr val="0C0D0E"/>
                </a:solidFill>
                <a:effectLst/>
                <a:latin typeface="Trebuchet MS" panose="020B0603020202020204" pitchFamily="34" charset="0"/>
              </a:rPr>
              <a:t>Definition 3.5: </a:t>
            </a:r>
            <a:r>
              <a:rPr lang="en-US" sz="2400" b="0" i="0" dirty="0">
                <a:solidFill>
                  <a:srgbClr val="0C0D0E"/>
                </a:solidFill>
                <a:effectLst/>
                <a:latin typeface="Trebuchet MS" panose="020B0603020202020204" pitchFamily="34" charset="0"/>
              </a:rPr>
              <a:t>In the formulas </a:t>
            </a:r>
            <a:r>
              <a:rPr lang="zh-CN" altLang="en-US" sz="2400" b="1" dirty="0">
                <a:latin typeface="Trebuchet MS" panose="020B0603020202020204" pitchFamily="34" charset="0"/>
                <a:sym typeface="Symbol" panose="05050102010706020507" pitchFamily="18" charset="2"/>
              </a:rPr>
              <a:t></a:t>
            </a:r>
            <a:r>
              <a:rPr lang="en-US" sz="2400" b="1" i="1" dirty="0">
                <a:solidFill>
                  <a:srgbClr val="0C0D0E"/>
                </a:solidFill>
                <a:effectLst/>
                <a:latin typeface="Trebuchet MS" panose="020B0603020202020204" pitchFamily="34" charset="0"/>
              </a:rPr>
              <a:t>xA</a:t>
            </a:r>
            <a:r>
              <a:rPr lang="en-US" sz="2400" b="1" i="0" dirty="0">
                <a:solidFill>
                  <a:srgbClr val="0C0D0E"/>
                </a:solidFill>
                <a:effectLst/>
                <a:latin typeface="Trebuchet MS" panose="020B0603020202020204" pitchFamily="34" charset="0"/>
              </a:rPr>
              <a:t>  </a:t>
            </a:r>
            <a:r>
              <a:rPr lang="en-US" sz="2400" b="0" i="0" dirty="0">
                <a:solidFill>
                  <a:srgbClr val="0C0D0E"/>
                </a:solidFill>
                <a:effectLst/>
                <a:latin typeface="Trebuchet MS" panose="020B0603020202020204" pitchFamily="34" charset="0"/>
              </a:rPr>
              <a:t>and </a:t>
            </a:r>
            <a:r>
              <a:rPr lang="zh-CN" altLang="en-US" sz="2400" b="1" dirty="0">
                <a:latin typeface="Trebuchet MS" panose="020B0603020202020204" pitchFamily="34" charset="0"/>
                <a:sym typeface="Symbol" panose="05050102010706020507" pitchFamily="18" charset="2"/>
              </a:rPr>
              <a:t></a:t>
            </a:r>
            <a:r>
              <a:rPr lang="en-US" sz="2400" i="1" dirty="0">
                <a:solidFill>
                  <a:srgbClr val="0C0D0E"/>
                </a:solidFill>
                <a:effectLst/>
                <a:latin typeface="Trebuchet MS" panose="020B0603020202020204" pitchFamily="34" charset="0"/>
              </a:rPr>
              <a:t>A</a:t>
            </a:r>
            <a:r>
              <a:rPr lang="en-US" sz="2400" b="0" i="0" dirty="0">
                <a:solidFill>
                  <a:srgbClr val="0C0D0E"/>
                </a:solidFill>
                <a:effectLst/>
                <a:latin typeface="Trebuchet MS" panose="020B0603020202020204" pitchFamily="34" charset="0"/>
              </a:rPr>
              <a:t>, </a:t>
            </a:r>
            <a:r>
              <a:rPr lang="en-US" sz="2400" b="1" i="1" dirty="0">
                <a:solidFill>
                  <a:srgbClr val="0C0D0E"/>
                </a:solidFill>
                <a:effectLst/>
                <a:latin typeface="Trebuchet MS" panose="020B0603020202020204" pitchFamily="34" charset="0"/>
              </a:rPr>
              <a:t>x</a:t>
            </a:r>
            <a:r>
              <a:rPr lang="en-US" sz="2400" b="0" i="0" dirty="0">
                <a:solidFill>
                  <a:srgbClr val="0C0D0E"/>
                </a:solidFill>
                <a:effectLst/>
                <a:latin typeface="Trebuchet MS" panose="020B0603020202020204" pitchFamily="34" charset="0"/>
              </a:rPr>
              <a:t> is called the </a:t>
            </a:r>
            <a:r>
              <a:rPr lang="en-US" sz="2400" b="1" i="1" dirty="0">
                <a:solidFill>
                  <a:srgbClr val="0C0D0E"/>
                </a:solidFill>
                <a:effectLst/>
                <a:latin typeface="Trebuchet MS" panose="020B0603020202020204" pitchFamily="34" charset="0"/>
              </a:rPr>
              <a:t>bound variable </a:t>
            </a:r>
            <a:r>
              <a:rPr lang="en-US" sz="2400" b="0" i="0" dirty="0">
                <a:solidFill>
                  <a:srgbClr val="0C0D0E"/>
                </a:solidFill>
                <a:effectLst/>
                <a:latin typeface="Trebuchet MS" panose="020B0603020202020204" pitchFamily="34" charset="0"/>
              </a:rPr>
              <a:t>(or binder), and  A  is the scope of the respective quantifier. In the scope of </a:t>
            </a:r>
            <a:r>
              <a:rPr lang="zh-CN" altLang="en-US" sz="2400" b="1" dirty="0">
                <a:latin typeface="Trebuchet MS" panose="020B0603020202020204" pitchFamily="34" charset="0"/>
                <a:sym typeface="Symbol" panose="05050102010706020507" pitchFamily="18" charset="2"/>
              </a:rPr>
              <a:t></a:t>
            </a:r>
            <a:r>
              <a:rPr lang="en-US" sz="2400" b="1" i="1" dirty="0">
                <a:solidFill>
                  <a:srgbClr val="0C0D0E"/>
                </a:solidFill>
                <a:effectLst/>
                <a:latin typeface="Trebuchet MS" panose="020B0603020202020204" pitchFamily="34" charset="0"/>
              </a:rPr>
              <a:t>x</a:t>
            </a:r>
            <a:r>
              <a:rPr lang="en-US" sz="2400" b="0" i="0" dirty="0">
                <a:solidFill>
                  <a:srgbClr val="0C0D0E"/>
                </a:solidFill>
                <a:effectLst/>
                <a:latin typeface="Trebuchet MS" panose="020B0603020202020204" pitchFamily="34" charset="0"/>
              </a:rPr>
              <a:t>  and </a:t>
            </a:r>
            <a:r>
              <a:rPr lang="zh-CN" altLang="en-US" sz="2400" b="1" dirty="0">
                <a:latin typeface="Trebuchet MS" panose="020B0603020202020204" pitchFamily="34" charset="0"/>
                <a:sym typeface="Symbol" panose="05050102010706020507" pitchFamily="18" charset="2"/>
              </a:rPr>
              <a:t></a:t>
            </a:r>
            <a:r>
              <a:rPr lang="en-US" sz="2400" b="1" i="1" dirty="0">
                <a:solidFill>
                  <a:srgbClr val="0C0D0E"/>
                </a:solidFill>
                <a:effectLst/>
                <a:latin typeface="Trebuchet MS" panose="020B0603020202020204" pitchFamily="34" charset="0"/>
              </a:rPr>
              <a:t>x</a:t>
            </a:r>
            <a:r>
              <a:rPr lang="en-US" sz="2400" b="0" i="0" dirty="0">
                <a:solidFill>
                  <a:srgbClr val="0C0D0E"/>
                </a:solidFill>
                <a:effectLst/>
                <a:latin typeface="Trebuchet MS" panose="020B0603020202020204" pitchFamily="34" charset="0"/>
              </a:rPr>
              <a:t> , all occurrences of </a:t>
            </a:r>
            <a:r>
              <a:rPr lang="en-US" altLang="zh-CN" sz="2400" b="1" i="1" dirty="0">
                <a:solidFill>
                  <a:srgbClr val="0C0D0E"/>
                </a:solidFill>
                <a:effectLst/>
                <a:latin typeface="Trebuchet MS" panose="020B0603020202020204" pitchFamily="34" charset="0"/>
              </a:rPr>
              <a:t>x </a:t>
            </a:r>
            <a:r>
              <a:rPr lang="en-US" sz="2400" b="0" i="0" dirty="0">
                <a:solidFill>
                  <a:srgbClr val="0C0D0E"/>
                </a:solidFill>
                <a:effectLst/>
                <a:latin typeface="Trebuchet MS" panose="020B0603020202020204" pitchFamily="34" charset="0"/>
              </a:rPr>
              <a:t>are called </a:t>
            </a:r>
            <a:r>
              <a:rPr lang="en-US" sz="2400" b="1" i="1" dirty="0">
                <a:solidFill>
                  <a:srgbClr val="0C0D0E"/>
                </a:solidFill>
                <a:effectLst/>
                <a:latin typeface="Trebuchet MS" panose="020B0603020202020204" pitchFamily="34" charset="0"/>
              </a:rPr>
              <a:t>bound occurrences</a:t>
            </a:r>
            <a:r>
              <a:rPr lang="en-US" sz="2400" b="0" i="0" dirty="0">
                <a:solidFill>
                  <a:srgbClr val="0C0D0E"/>
                </a:solidFill>
                <a:effectLst/>
                <a:latin typeface="Trebuchet MS" panose="020B0603020202020204" pitchFamily="34" charset="0"/>
              </a:rPr>
              <a:t>. Variables in </a:t>
            </a:r>
            <a:r>
              <a:rPr lang="en-US" sz="2400" b="1" i="1" dirty="0">
                <a:solidFill>
                  <a:srgbClr val="0C0D0E"/>
                </a:solidFill>
                <a:effectLst/>
                <a:latin typeface="Trebuchet MS" panose="020B0603020202020204" pitchFamily="34" charset="0"/>
              </a:rPr>
              <a:t>A </a:t>
            </a:r>
            <a:r>
              <a:rPr lang="en-US" sz="2400" b="0" i="0" dirty="0">
                <a:solidFill>
                  <a:srgbClr val="0C0D0E"/>
                </a:solidFill>
                <a:effectLst/>
                <a:latin typeface="Trebuchet MS" panose="020B0603020202020204" pitchFamily="34" charset="0"/>
              </a:rPr>
              <a:t> that are not bound occurrences are called </a:t>
            </a:r>
            <a:r>
              <a:rPr lang="en-US" sz="2400" b="1" i="1" dirty="0">
                <a:solidFill>
                  <a:srgbClr val="0C0D0E"/>
                </a:solidFill>
                <a:effectLst/>
                <a:latin typeface="Trebuchet MS" panose="020B0603020202020204" pitchFamily="34" charset="0"/>
              </a:rPr>
              <a:t>free occurrences</a:t>
            </a:r>
            <a:r>
              <a:rPr lang="en-US" sz="2400" b="0" i="0" dirty="0">
                <a:solidFill>
                  <a:srgbClr val="0C0D0E"/>
                </a:solidFill>
                <a:effectLst/>
                <a:latin typeface="Trebuchet MS" panose="020B0603020202020204" pitchFamily="34" charset="0"/>
              </a:rPr>
              <a:t>.</a:t>
            </a:r>
          </a:p>
          <a:p>
            <a:pPr marL="0" indent="0" algn="l">
              <a:lnSpc>
                <a:spcPct val="120000"/>
              </a:lnSpc>
              <a:spcBef>
                <a:spcPts val="0"/>
              </a:spcBef>
              <a:buNone/>
            </a:pPr>
            <a:r>
              <a:rPr lang="en-US" sz="2400" b="1" i="0" dirty="0">
                <a:solidFill>
                  <a:srgbClr val="0C0D0E"/>
                </a:solidFill>
                <a:effectLst/>
                <a:latin typeface="Trebuchet MS" panose="020B0603020202020204" pitchFamily="34" charset="0"/>
              </a:rPr>
              <a:t>       Example</a:t>
            </a:r>
            <a:r>
              <a:rPr lang="en-US" sz="2400" b="0" i="0" dirty="0">
                <a:solidFill>
                  <a:srgbClr val="0C0D0E"/>
                </a:solidFill>
                <a:effectLst/>
                <a:latin typeface="Trebuchet MS" panose="020B0603020202020204" pitchFamily="34" charset="0"/>
              </a:rPr>
              <a:t>: The formula </a:t>
            </a:r>
            <a:r>
              <a:rPr lang="en-US" sz="2400" b="1" i="0" dirty="0">
                <a:solidFill>
                  <a:srgbClr val="0C0D0E"/>
                </a:solidFill>
                <a:effectLst/>
                <a:latin typeface="Trebuchet MS" panose="020B0603020202020204" pitchFamily="34" charset="0"/>
              </a:rPr>
              <a:t>∀</a:t>
            </a:r>
            <a:r>
              <a:rPr lang="en-US" sz="2400" b="1" i="1" dirty="0">
                <a:solidFill>
                  <a:srgbClr val="0C0D0E"/>
                </a:solidFill>
                <a:effectLst/>
                <a:latin typeface="Trebuchet MS" panose="020B0603020202020204" pitchFamily="34" charset="0"/>
              </a:rPr>
              <a:t>x</a:t>
            </a:r>
            <a:r>
              <a:rPr lang="en-US" sz="2400" b="1" i="0" dirty="0">
                <a:solidFill>
                  <a:srgbClr val="0C0D0E"/>
                </a:solidFill>
                <a:effectLst/>
                <a:latin typeface="Trebuchet MS" panose="020B0603020202020204" pitchFamily="34" charset="0"/>
              </a:rPr>
              <a:t>(</a:t>
            </a:r>
            <a:r>
              <a:rPr lang="en-US" sz="2400" b="1" i="1" dirty="0">
                <a:solidFill>
                  <a:srgbClr val="0C0D0E"/>
                </a:solidFill>
                <a:effectLst/>
                <a:latin typeface="Trebuchet MS" panose="020B0603020202020204" pitchFamily="34" charset="0"/>
              </a:rPr>
              <a:t>F</a:t>
            </a:r>
            <a:r>
              <a:rPr lang="en-US" sz="2400" b="1" i="0" dirty="0">
                <a:solidFill>
                  <a:srgbClr val="0C0D0E"/>
                </a:solidFill>
                <a:effectLst/>
                <a:latin typeface="Trebuchet MS" panose="020B0603020202020204" pitchFamily="34" charset="0"/>
              </a:rPr>
              <a:t>(</a:t>
            </a:r>
            <a:r>
              <a:rPr lang="en-US" sz="2400" b="1" i="1" dirty="0">
                <a:solidFill>
                  <a:srgbClr val="0C0D0E"/>
                </a:solidFill>
                <a:effectLst/>
                <a:latin typeface="Trebuchet MS" panose="020B0603020202020204" pitchFamily="34" charset="0"/>
              </a:rPr>
              <a:t>x</a:t>
            </a:r>
            <a:r>
              <a:rPr lang="en-US" sz="2400" b="1" i="0" dirty="0">
                <a:solidFill>
                  <a:srgbClr val="0C0D0E"/>
                </a:solidFill>
                <a:effectLst/>
                <a:latin typeface="Trebuchet MS" panose="020B0603020202020204" pitchFamily="34" charset="0"/>
              </a:rPr>
              <a:t>,</a:t>
            </a:r>
            <a:r>
              <a:rPr lang="en-US" sz="2400" b="1" i="1" dirty="0">
                <a:solidFill>
                  <a:srgbClr val="0C0D0E"/>
                </a:solidFill>
                <a:effectLst/>
                <a:latin typeface="Trebuchet MS" panose="020B0603020202020204" pitchFamily="34" charset="0"/>
              </a:rPr>
              <a:t>y</a:t>
            </a:r>
            <a:r>
              <a:rPr lang="en-US" sz="2400" b="1" i="0" dirty="0">
                <a:solidFill>
                  <a:srgbClr val="0C0D0E"/>
                </a:solidFill>
                <a:effectLst/>
                <a:latin typeface="Trebuchet MS" panose="020B0603020202020204" pitchFamily="34" charset="0"/>
              </a:rPr>
              <a:t>)→∃</a:t>
            </a:r>
            <a:r>
              <a:rPr lang="en-US" sz="2400" b="1" i="1" dirty="0">
                <a:solidFill>
                  <a:srgbClr val="0C0D0E"/>
                </a:solidFill>
                <a:effectLst/>
                <a:latin typeface="Trebuchet MS" panose="020B0603020202020204" pitchFamily="34" charset="0"/>
              </a:rPr>
              <a:t>yG</a:t>
            </a:r>
            <a:r>
              <a:rPr lang="en-US" sz="2400" b="1" i="0" dirty="0">
                <a:solidFill>
                  <a:srgbClr val="0C0D0E"/>
                </a:solidFill>
                <a:effectLst/>
                <a:latin typeface="Trebuchet MS" panose="020B0603020202020204" pitchFamily="34" charset="0"/>
              </a:rPr>
              <a:t>(</a:t>
            </a:r>
            <a:r>
              <a:rPr lang="en-US" sz="2400" b="1" i="1" dirty="0">
                <a:solidFill>
                  <a:srgbClr val="0C0D0E"/>
                </a:solidFill>
                <a:effectLst/>
                <a:latin typeface="Trebuchet MS" panose="020B0603020202020204" pitchFamily="34" charset="0"/>
              </a:rPr>
              <a:t>x</a:t>
            </a:r>
            <a:r>
              <a:rPr lang="en-US" sz="2400" b="1" i="0" dirty="0">
                <a:solidFill>
                  <a:srgbClr val="0C0D0E"/>
                </a:solidFill>
                <a:effectLst/>
                <a:latin typeface="Trebuchet MS" panose="020B0603020202020204" pitchFamily="34" charset="0"/>
              </a:rPr>
              <a:t>,</a:t>
            </a:r>
            <a:r>
              <a:rPr lang="en-US" sz="2400" b="1" i="1" dirty="0">
                <a:solidFill>
                  <a:srgbClr val="0C0D0E"/>
                </a:solidFill>
                <a:effectLst/>
                <a:latin typeface="Trebuchet MS" panose="020B0603020202020204" pitchFamily="34" charset="0"/>
              </a:rPr>
              <a:t>y</a:t>
            </a:r>
            <a:r>
              <a:rPr lang="en-US" sz="2400" b="1" i="0" dirty="0">
                <a:solidFill>
                  <a:srgbClr val="0C0D0E"/>
                </a:solidFill>
                <a:effectLst/>
                <a:latin typeface="Trebuchet MS" panose="020B0603020202020204" pitchFamily="34" charset="0"/>
              </a:rPr>
              <a:t>,</a:t>
            </a:r>
            <a:r>
              <a:rPr lang="en-US" sz="2400" b="1" i="1" dirty="0">
                <a:solidFill>
                  <a:srgbClr val="0C0D0E"/>
                </a:solidFill>
                <a:effectLst/>
                <a:latin typeface="Trebuchet MS" panose="020B0603020202020204" pitchFamily="34" charset="0"/>
              </a:rPr>
              <a:t>z</a:t>
            </a:r>
            <a:r>
              <a:rPr lang="en-US" sz="2400" b="1" i="0" dirty="0">
                <a:solidFill>
                  <a:srgbClr val="0C0D0E"/>
                </a:solidFill>
                <a:effectLst/>
                <a:latin typeface="Trebuchet MS" panose="020B0603020202020204" pitchFamily="34" charset="0"/>
              </a:rPr>
              <a:t>))</a:t>
            </a:r>
          </a:p>
          <a:p>
            <a:pPr>
              <a:lnSpc>
                <a:spcPct val="120000"/>
              </a:lnSpc>
              <a:spcBef>
                <a:spcPts val="0"/>
              </a:spcBef>
              <a:buClr>
                <a:srgbClr val="0B61FF"/>
              </a:buClr>
              <a:buSzPct val="120000"/>
            </a:pPr>
            <a:r>
              <a:rPr lang="en-US" sz="2400" b="0" i="0" dirty="0">
                <a:solidFill>
                  <a:srgbClr val="0C0D0E"/>
                </a:solidFill>
                <a:effectLst/>
                <a:latin typeface="Trebuchet MS" panose="020B0603020202020204" pitchFamily="34" charset="0"/>
              </a:rPr>
              <a:t>The scope of</a:t>
            </a:r>
            <a:r>
              <a:rPr lang="zh-CN" altLang="en-US" sz="2400" b="1" dirty="0">
                <a:latin typeface="Trebuchet MS" panose="020B0603020202020204" pitchFamily="34" charset="0"/>
                <a:sym typeface="Symbol" panose="05050102010706020507" pitchFamily="18" charset="2"/>
              </a:rPr>
              <a:t> </a:t>
            </a:r>
            <a:r>
              <a:rPr lang="en-US" altLang="zh-CN" sz="2400" b="1" i="1" dirty="0">
                <a:solidFill>
                  <a:srgbClr val="0C0D0E"/>
                </a:solidFill>
                <a:effectLst/>
                <a:latin typeface="Trebuchet MS" panose="020B0603020202020204" pitchFamily="34" charset="0"/>
              </a:rPr>
              <a:t>x </a:t>
            </a:r>
            <a:r>
              <a:rPr lang="en-US" sz="2400" b="0" i="0" dirty="0">
                <a:solidFill>
                  <a:srgbClr val="0C0D0E"/>
                </a:solidFill>
                <a:effectLst/>
                <a:latin typeface="Trebuchet MS" panose="020B0603020202020204" pitchFamily="34" charset="0"/>
              </a:rPr>
              <a:t>is </a:t>
            </a:r>
            <a:r>
              <a:rPr lang="en-US" altLang="zh-CN" sz="2400" b="1" i="0" dirty="0">
                <a:solidFill>
                  <a:srgbClr val="0C0D0E"/>
                </a:solidFill>
                <a:effectLst/>
                <a:latin typeface="Trebuchet MS" panose="020B0603020202020204" pitchFamily="34" charset="0"/>
              </a:rPr>
              <a:t> (</a:t>
            </a:r>
            <a:r>
              <a:rPr lang="en-US" altLang="zh-CN" sz="2400" b="1" i="1" dirty="0">
                <a:solidFill>
                  <a:srgbClr val="0C0D0E"/>
                </a:solidFill>
                <a:effectLst/>
                <a:latin typeface="Trebuchet MS" panose="020B0603020202020204" pitchFamily="34" charset="0"/>
              </a:rPr>
              <a:t>F</a:t>
            </a:r>
            <a:r>
              <a:rPr lang="en-US" altLang="zh-CN" sz="2400" b="1" i="0" dirty="0">
                <a:solidFill>
                  <a:srgbClr val="0C0D0E"/>
                </a:solidFill>
                <a:effectLst/>
                <a:latin typeface="Trebuchet MS" panose="020B0603020202020204" pitchFamily="34" charset="0"/>
              </a:rPr>
              <a:t>(</a:t>
            </a:r>
            <a:r>
              <a:rPr lang="en-US" altLang="zh-CN" sz="2400" b="1" i="1" dirty="0">
                <a:solidFill>
                  <a:srgbClr val="0C0D0E"/>
                </a:solidFill>
                <a:effectLst/>
                <a:latin typeface="Trebuchet MS" panose="020B0603020202020204" pitchFamily="34" charset="0"/>
              </a:rPr>
              <a:t>x</a:t>
            </a:r>
            <a:r>
              <a:rPr lang="en-US" altLang="zh-CN" sz="2400" b="1" i="0" dirty="0">
                <a:solidFill>
                  <a:srgbClr val="0C0D0E"/>
                </a:solidFill>
                <a:effectLst/>
                <a:latin typeface="Trebuchet MS" panose="020B0603020202020204" pitchFamily="34" charset="0"/>
              </a:rPr>
              <a:t>,</a:t>
            </a:r>
            <a:r>
              <a:rPr lang="en-US" altLang="zh-CN" sz="2400" b="1" i="1" dirty="0">
                <a:solidFill>
                  <a:srgbClr val="0C0D0E"/>
                </a:solidFill>
                <a:effectLst/>
                <a:latin typeface="Trebuchet MS" panose="020B0603020202020204" pitchFamily="34" charset="0"/>
              </a:rPr>
              <a:t>y</a:t>
            </a:r>
            <a:r>
              <a:rPr lang="en-US" altLang="zh-CN" sz="2400" b="1" i="0" dirty="0">
                <a:solidFill>
                  <a:srgbClr val="0C0D0E"/>
                </a:solidFill>
                <a:effectLst/>
                <a:latin typeface="Trebuchet MS" panose="020B0603020202020204" pitchFamily="34" charset="0"/>
              </a:rPr>
              <a:t>)→∃</a:t>
            </a:r>
            <a:r>
              <a:rPr lang="en-US" altLang="zh-CN" sz="2400" b="1" i="1" dirty="0">
                <a:solidFill>
                  <a:srgbClr val="0C0D0E"/>
                </a:solidFill>
                <a:effectLst/>
                <a:latin typeface="Trebuchet MS" panose="020B0603020202020204" pitchFamily="34" charset="0"/>
              </a:rPr>
              <a:t>yG</a:t>
            </a:r>
            <a:r>
              <a:rPr lang="en-US" altLang="zh-CN" sz="2400" b="1" i="0" dirty="0">
                <a:solidFill>
                  <a:srgbClr val="0C0D0E"/>
                </a:solidFill>
                <a:effectLst/>
                <a:latin typeface="Trebuchet MS" panose="020B0603020202020204" pitchFamily="34" charset="0"/>
              </a:rPr>
              <a:t>(</a:t>
            </a:r>
            <a:r>
              <a:rPr lang="en-US" altLang="zh-CN" sz="2400" b="1" i="1" dirty="0">
                <a:solidFill>
                  <a:srgbClr val="0C0D0E"/>
                </a:solidFill>
                <a:effectLst/>
                <a:latin typeface="Trebuchet MS" panose="020B0603020202020204" pitchFamily="34" charset="0"/>
              </a:rPr>
              <a:t>x</a:t>
            </a:r>
            <a:r>
              <a:rPr lang="en-US" altLang="zh-CN" sz="2400" b="1" i="0" dirty="0">
                <a:solidFill>
                  <a:srgbClr val="0C0D0E"/>
                </a:solidFill>
                <a:effectLst/>
                <a:latin typeface="Trebuchet MS" panose="020B0603020202020204" pitchFamily="34" charset="0"/>
              </a:rPr>
              <a:t>,</a:t>
            </a:r>
            <a:r>
              <a:rPr lang="en-US" altLang="zh-CN" sz="2400" b="1" i="1" dirty="0">
                <a:solidFill>
                  <a:srgbClr val="0C0D0E"/>
                </a:solidFill>
                <a:effectLst/>
                <a:latin typeface="Trebuchet MS" panose="020B0603020202020204" pitchFamily="34" charset="0"/>
              </a:rPr>
              <a:t>y</a:t>
            </a:r>
            <a:r>
              <a:rPr lang="en-US" altLang="zh-CN" sz="2400" b="1" i="0" dirty="0">
                <a:solidFill>
                  <a:srgbClr val="0C0D0E"/>
                </a:solidFill>
                <a:effectLst/>
                <a:latin typeface="Trebuchet MS" panose="020B0603020202020204" pitchFamily="34" charset="0"/>
              </a:rPr>
              <a:t>,</a:t>
            </a:r>
            <a:r>
              <a:rPr lang="en-US" altLang="zh-CN" sz="2400" b="1" i="1" dirty="0">
                <a:solidFill>
                  <a:srgbClr val="0C0D0E"/>
                </a:solidFill>
                <a:effectLst/>
                <a:latin typeface="Trebuchet MS" panose="020B0603020202020204" pitchFamily="34" charset="0"/>
              </a:rPr>
              <a:t>z</a:t>
            </a:r>
            <a:r>
              <a:rPr lang="en-US" altLang="zh-CN" sz="2400" b="1" i="0" dirty="0">
                <a:solidFill>
                  <a:srgbClr val="0C0D0E"/>
                </a:solidFill>
                <a:effectLst/>
                <a:latin typeface="Trebuchet MS" panose="020B0603020202020204" pitchFamily="34" charset="0"/>
              </a:rPr>
              <a:t>))</a:t>
            </a:r>
            <a:r>
              <a:rPr lang="en-US" sz="2400" b="0" i="0" dirty="0">
                <a:solidFill>
                  <a:srgbClr val="0C0D0E"/>
                </a:solidFill>
                <a:effectLst/>
                <a:latin typeface="Trebuchet MS" panose="020B0603020202020204" pitchFamily="34" charset="0"/>
              </a:rPr>
              <a:t>, with </a:t>
            </a:r>
            <a:r>
              <a:rPr lang="en-US" sz="2400" b="1" i="1" dirty="0">
                <a:solidFill>
                  <a:srgbClr val="0C0D0E"/>
                </a:solidFill>
                <a:effectLst/>
                <a:latin typeface="Trebuchet MS" panose="020B0603020202020204" pitchFamily="34" charset="0"/>
              </a:rPr>
              <a:t>x</a:t>
            </a:r>
            <a:r>
              <a:rPr lang="en-US" sz="2400" b="0" i="0" dirty="0">
                <a:solidFill>
                  <a:srgbClr val="0C0D0E"/>
                </a:solidFill>
                <a:effectLst/>
                <a:latin typeface="Trebuchet MS" panose="020B0603020202020204" pitchFamily="34" charset="0"/>
              </a:rPr>
              <a:t> as the </a:t>
            </a:r>
            <a:r>
              <a:rPr lang="en-US" sz="2400" b="1" i="0" dirty="0">
                <a:solidFill>
                  <a:srgbClr val="0C0D0E"/>
                </a:solidFill>
                <a:effectLst/>
                <a:latin typeface="Trebuchet MS" panose="020B0603020202020204" pitchFamily="34" charset="0"/>
              </a:rPr>
              <a:t>bound variable</a:t>
            </a:r>
            <a:r>
              <a:rPr lang="en-US" sz="2400" b="0" i="0" dirty="0">
                <a:solidFill>
                  <a:srgbClr val="0C0D0E"/>
                </a:solidFill>
                <a:effectLst/>
                <a:latin typeface="Trebuchet MS" panose="020B0603020202020204" pitchFamily="34" charset="0"/>
              </a:rPr>
              <a:t>.</a:t>
            </a:r>
            <a:r>
              <a:rPr lang="en-US" altLang="zh-CN" sz="2400" dirty="0">
                <a:solidFill>
                  <a:srgbClr val="0C0D0E"/>
                </a:solidFill>
                <a:latin typeface="Trebuchet MS" panose="020B0603020202020204" pitchFamily="34" charset="0"/>
              </a:rPr>
              <a:t> Both occurrences of </a:t>
            </a:r>
            <a:r>
              <a:rPr lang="en-US" altLang="zh-CN" sz="2400" b="1" i="1" dirty="0">
                <a:solidFill>
                  <a:srgbClr val="0C0D0E"/>
                </a:solidFill>
                <a:latin typeface="Trebuchet MS" panose="020B0603020202020204" pitchFamily="34" charset="0"/>
              </a:rPr>
              <a:t>x</a:t>
            </a:r>
            <a:r>
              <a:rPr lang="en-US" altLang="zh-CN" sz="2400" dirty="0">
                <a:solidFill>
                  <a:srgbClr val="0C0D0E"/>
                </a:solidFill>
                <a:latin typeface="Trebuchet MS" panose="020B0603020202020204" pitchFamily="34" charset="0"/>
              </a:rPr>
              <a:t> are </a:t>
            </a:r>
            <a:r>
              <a:rPr lang="en-US" altLang="zh-CN" sz="2400" b="1" dirty="0">
                <a:solidFill>
                  <a:srgbClr val="0C0D0E"/>
                </a:solidFill>
                <a:latin typeface="Trebuchet MS" panose="020B0603020202020204" pitchFamily="34" charset="0"/>
              </a:rPr>
              <a:t>bound occurrences</a:t>
            </a:r>
            <a:r>
              <a:rPr lang="en-US" altLang="zh-CN" sz="2400" dirty="0">
                <a:solidFill>
                  <a:srgbClr val="0C0D0E"/>
                </a:solidFill>
                <a:latin typeface="Trebuchet MS" panose="020B0603020202020204" pitchFamily="34" charset="0"/>
              </a:rPr>
              <a:t>.</a:t>
            </a:r>
            <a:endParaRPr lang="en-US" sz="2400" b="0" i="0" dirty="0">
              <a:solidFill>
                <a:srgbClr val="0C0D0E"/>
              </a:solidFill>
              <a:effectLst/>
              <a:latin typeface="Trebuchet MS" panose="020B0603020202020204" pitchFamily="34" charset="0"/>
            </a:endParaRPr>
          </a:p>
          <a:p>
            <a:pPr algn="l">
              <a:lnSpc>
                <a:spcPct val="120000"/>
              </a:lnSpc>
              <a:spcBef>
                <a:spcPts val="0"/>
              </a:spcBef>
              <a:buClr>
                <a:srgbClr val="0B61FF"/>
              </a:buClr>
              <a:buSzPct val="120000"/>
              <a:buFont typeface="Arial" panose="020B0604020202020204" pitchFamily="34" charset="0"/>
              <a:buChar char="•"/>
            </a:pPr>
            <a:r>
              <a:rPr lang="en-US" sz="2400" b="0" i="0" dirty="0">
                <a:solidFill>
                  <a:srgbClr val="0C0D0E"/>
                </a:solidFill>
                <a:effectLst/>
                <a:latin typeface="Trebuchet MS" panose="020B0603020202020204" pitchFamily="34" charset="0"/>
              </a:rPr>
              <a:t>The scope of</a:t>
            </a:r>
            <a:r>
              <a:rPr lang="zh-CN" altLang="en-US" sz="2400" b="1" dirty="0">
                <a:latin typeface="Trebuchet MS" panose="020B0603020202020204" pitchFamily="34" charset="0"/>
                <a:sym typeface="Symbol" panose="05050102010706020507" pitchFamily="18" charset="2"/>
              </a:rPr>
              <a:t> </a:t>
            </a:r>
            <a:r>
              <a:rPr lang="en-US" altLang="zh-CN" sz="2400" b="1" i="1" dirty="0">
                <a:solidFill>
                  <a:srgbClr val="0C0D0E"/>
                </a:solidFill>
                <a:effectLst/>
                <a:latin typeface="Trebuchet MS" panose="020B0603020202020204" pitchFamily="34" charset="0"/>
              </a:rPr>
              <a:t>y </a:t>
            </a:r>
            <a:r>
              <a:rPr lang="en-US" sz="2400" b="0" i="0" dirty="0">
                <a:solidFill>
                  <a:srgbClr val="0C0D0E"/>
                </a:solidFill>
                <a:effectLst/>
                <a:latin typeface="Trebuchet MS" panose="020B0603020202020204" pitchFamily="34" charset="0"/>
              </a:rPr>
              <a:t>is </a:t>
            </a:r>
            <a:r>
              <a:rPr lang="en-US" altLang="zh-CN" sz="2400" b="1" i="1" dirty="0">
                <a:solidFill>
                  <a:srgbClr val="0C0D0E"/>
                </a:solidFill>
                <a:effectLst/>
                <a:latin typeface="Trebuchet MS" panose="020B0603020202020204" pitchFamily="34" charset="0"/>
              </a:rPr>
              <a:t>G</a:t>
            </a:r>
            <a:r>
              <a:rPr lang="en-US" altLang="zh-CN" sz="2400" b="1" i="0" dirty="0">
                <a:solidFill>
                  <a:srgbClr val="0C0D0E"/>
                </a:solidFill>
                <a:effectLst/>
                <a:latin typeface="Trebuchet MS" panose="020B0603020202020204" pitchFamily="34" charset="0"/>
              </a:rPr>
              <a:t>(</a:t>
            </a:r>
            <a:r>
              <a:rPr lang="en-US" altLang="zh-CN" sz="2400" b="1" i="1" dirty="0">
                <a:solidFill>
                  <a:srgbClr val="0C0D0E"/>
                </a:solidFill>
                <a:effectLst/>
                <a:latin typeface="Trebuchet MS" panose="020B0603020202020204" pitchFamily="34" charset="0"/>
              </a:rPr>
              <a:t>x</a:t>
            </a:r>
            <a:r>
              <a:rPr lang="en-US" altLang="zh-CN" sz="2400" b="1" i="0" dirty="0">
                <a:solidFill>
                  <a:srgbClr val="0C0D0E"/>
                </a:solidFill>
                <a:effectLst/>
                <a:latin typeface="Trebuchet MS" panose="020B0603020202020204" pitchFamily="34" charset="0"/>
              </a:rPr>
              <a:t>,</a:t>
            </a:r>
            <a:r>
              <a:rPr lang="en-US" altLang="zh-CN" sz="2400" b="1" i="1" dirty="0">
                <a:solidFill>
                  <a:srgbClr val="0C0D0E"/>
                </a:solidFill>
                <a:effectLst/>
                <a:latin typeface="Trebuchet MS" panose="020B0603020202020204" pitchFamily="34" charset="0"/>
              </a:rPr>
              <a:t>y</a:t>
            </a:r>
            <a:r>
              <a:rPr lang="en-US" altLang="zh-CN" sz="2400" b="1" i="0" dirty="0">
                <a:solidFill>
                  <a:srgbClr val="0C0D0E"/>
                </a:solidFill>
                <a:effectLst/>
                <a:latin typeface="Trebuchet MS" panose="020B0603020202020204" pitchFamily="34" charset="0"/>
              </a:rPr>
              <a:t>,</a:t>
            </a:r>
            <a:r>
              <a:rPr lang="en-US" altLang="zh-CN" sz="2400" b="1" i="1" dirty="0">
                <a:solidFill>
                  <a:srgbClr val="0C0D0E"/>
                </a:solidFill>
                <a:effectLst/>
                <a:latin typeface="Trebuchet MS" panose="020B0603020202020204" pitchFamily="34" charset="0"/>
              </a:rPr>
              <a:t>z</a:t>
            </a:r>
            <a:r>
              <a:rPr lang="en-US" altLang="zh-CN" sz="2400" b="1" i="0" dirty="0">
                <a:solidFill>
                  <a:srgbClr val="0C0D0E"/>
                </a:solidFill>
                <a:effectLst/>
                <a:latin typeface="Trebuchet MS" panose="020B0603020202020204" pitchFamily="34" charset="0"/>
              </a:rPr>
              <a:t>)</a:t>
            </a:r>
            <a:r>
              <a:rPr lang="en-US" sz="2400" b="0" i="0" dirty="0">
                <a:solidFill>
                  <a:srgbClr val="0C0D0E"/>
                </a:solidFill>
                <a:effectLst/>
                <a:latin typeface="Trebuchet MS" panose="020B0603020202020204" pitchFamily="34" charset="0"/>
              </a:rPr>
              <a:t>, with </a:t>
            </a:r>
            <a:r>
              <a:rPr lang="en-US" sz="2400" b="1" i="1" dirty="0">
                <a:solidFill>
                  <a:srgbClr val="0C0D0E"/>
                </a:solidFill>
                <a:effectLst/>
                <a:latin typeface="Trebuchet MS" panose="020B0603020202020204" pitchFamily="34" charset="0"/>
              </a:rPr>
              <a:t>y</a:t>
            </a:r>
            <a:r>
              <a:rPr lang="en-US" sz="2400" b="0" i="0" dirty="0">
                <a:solidFill>
                  <a:srgbClr val="0C0D0E"/>
                </a:solidFill>
                <a:effectLst/>
                <a:latin typeface="Trebuchet MS" panose="020B0603020202020204" pitchFamily="34" charset="0"/>
              </a:rPr>
              <a:t> as the </a:t>
            </a:r>
            <a:r>
              <a:rPr lang="en-US" sz="2400" b="1" i="0" dirty="0">
                <a:solidFill>
                  <a:srgbClr val="0C0D0E"/>
                </a:solidFill>
                <a:effectLst/>
                <a:latin typeface="Trebuchet MS" panose="020B0603020202020204" pitchFamily="34" charset="0"/>
              </a:rPr>
              <a:t>bound variable</a:t>
            </a:r>
            <a:r>
              <a:rPr lang="en-US" sz="2400" b="0" i="0" dirty="0">
                <a:solidFill>
                  <a:srgbClr val="0C0D0E"/>
                </a:solidFill>
                <a:effectLst/>
                <a:latin typeface="Trebuchet MS" panose="020B0603020202020204" pitchFamily="34" charset="0"/>
              </a:rPr>
              <a:t>.</a:t>
            </a:r>
          </a:p>
          <a:p>
            <a:pPr algn="l">
              <a:lnSpc>
                <a:spcPct val="120000"/>
              </a:lnSpc>
              <a:spcBef>
                <a:spcPts val="0"/>
              </a:spcBef>
              <a:buClr>
                <a:srgbClr val="0B61FF"/>
              </a:buClr>
              <a:buSzPct val="120000"/>
              <a:buFont typeface="Arial" panose="020B0604020202020204" pitchFamily="34" charset="0"/>
              <a:buChar char="•"/>
            </a:pPr>
            <a:r>
              <a:rPr lang="en-US" sz="2400" b="0" i="0" dirty="0">
                <a:solidFill>
                  <a:srgbClr val="0C0D0E"/>
                </a:solidFill>
                <a:effectLst/>
                <a:latin typeface="Trebuchet MS" panose="020B0603020202020204" pitchFamily="34" charset="0"/>
              </a:rPr>
              <a:t>The first occurrence of </a:t>
            </a:r>
            <a:r>
              <a:rPr lang="en-US" sz="2400" b="1" i="1" dirty="0">
                <a:solidFill>
                  <a:srgbClr val="0C0D0E"/>
                </a:solidFill>
                <a:effectLst/>
                <a:latin typeface="Trebuchet MS" panose="020B0603020202020204" pitchFamily="34" charset="0"/>
              </a:rPr>
              <a:t>y</a:t>
            </a:r>
            <a:r>
              <a:rPr lang="en-US" sz="2400" b="0" i="0" dirty="0">
                <a:solidFill>
                  <a:srgbClr val="0C0D0E"/>
                </a:solidFill>
                <a:effectLst/>
                <a:latin typeface="Trebuchet MS" panose="020B0603020202020204" pitchFamily="34" charset="0"/>
              </a:rPr>
              <a:t> is a </a:t>
            </a:r>
            <a:r>
              <a:rPr lang="en-US" sz="2400" b="1" i="0" dirty="0">
                <a:solidFill>
                  <a:srgbClr val="0C0D0E"/>
                </a:solidFill>
                <a:effectLst/>
                <a:latin typeface="Trebuchet MS" panose="020B0603020202020204" pitchFamily="34" charset="0"/>
              </a:rPr>
              <a:t>free occurrence</a:t>
            </a:r>
            <a:r>
              <a:rPr lang="en-US" sz="2400" b="0" i="0" dirty="0">
                <a:solidFill>
                  <a:srgbClr val="0C0D0E"/>
                </a:solidFill>
                <a:effectLst/>
                <a:latin typeface="Trebuchet MS" panose="020B0603020202020204" pitchFamily="34" charset="0"/>
              </a:rPr>
              <a:t>, and the second occurrence is </a:t>
            </a:r>
            <a:r>
              <a:rPr lang="en-US" sz="2400" b="1" i="0" dirty="0">
                <a:solidFill>
                  <a:srgbClr val="0C0D0E"/>
                </a:solidFill>
                <a:effectLst/>
                <a:latin typeface="Trebuchet MS" panose="020B0603020202020204" pitchFamily="34" charset="0"/>
              </a:rPr>
              <a:t>a bound occurrence</a:t>
            </a:r>
            <a:r>
              <a:rPr lang="en-US" sz="2400" b="0" i="0" dirty="0">
                <a:solidFill>
                  <a:srgbClr val="0C0D0E"/>
                </a:solidFill>
                <a:effectLst/>
                <a:latin typeface="Trebuchet MS" panose="020B0603020202020204" pitchFamily="34" charset="0"/>
              </a:rPr>
              <a:t>.</a:t>
            </a:r>
          </a:p>
          <a:p>
            <a:pPr algn="l">
              <a:lnSpc>
                <a:spcPct val="120000"/>
              </a:lnSpc>
              <a:spcBef>
                <a:spcPts val="0"/>
              </a:spcBef>
              <a:buClr>
                <a:srgbClr val="0B61FF"/>
              </a:buClr>
              <a:buSzPct val="120000"/>
              <a:buFont typeface="Arial" panose="020B0604020202020204" pitchFamily="34" charset="0"/>
              <a:buChar char="•"/>
            </a:pPr>
            <a:r>
              <a:rPr lang="en-US" sz="2400" b="1" i="1" dirty="0">
                <a:solidFill>
                  <a:srgbClr val="0C0D0E"/>
                </a:solidFill>
                <a:effectLst/>
                <a:latin typeface="Trebuchet MS" panose="020B0603020202020204" pitchFamily="34" charset="0"/>
              </a:rPr>
              <a:t>z</a:t>
            </a:r>
            <a:r>
              <a:rPr lang="en-US" sz="2400" b="0" i="0" dirty="0">
                <a:solidFill>
                  <a:srgbClr val="0C0D0E"/>
                </a:solidFill>
                <a:effectLst/>
                <a:latin typeface="Trebuchet MS" panose="020B0603020202020204" pitchFamily="34" charset="0"/>
              </a:rPr>
              <a:t> is a </a:t>
            </a:r>
            <a:r>
              <a:rPr lang="en-US" sz="2400" b="1" i="0" dirty="0">
                <a:solidFill>
                  <a:srgbClr val="0C0D0E"/>
                </a:solidFill>
                <a:effectLst/>
                <a:latin typeface="Trebuchet MS" panose="020B0603020202020204" pitchFamily="34" charset="0"/>
              </a:rPr>
              <a:t>free occurrence</a:t>
            </a:r>
            <a:r>
              <a:rPr lang="en-US" sz="2400" b="0" i="0" dirty="0">
                <a:solidFill>
                  <a:srgbClr val="0C0D0E"/>
                </a:solidFill>
                <a:effectLst/>
                <a:latin typeface="Trebuchet MS" panose="020B0603020202020204" pitchFamily="34" charset="0"/>
              </a:rPr>
              <a:t>.</a:t>
            </a:r>
          </a:p>
          <a:p>
            <a:pPr eaLnBrk="1" hangingPunct="1">
              <a:lnSpc>
                <a:spcPct val="120000"/>
              </a:lnSpc>
              <a:spcBef>
                <a:spcPts val="300"/>
              </a:spcBef>
              <a:buFontTx/>
              <a:buNone/>
            </a:pPr>
            <a:endParaRPr lang="zh-CN" altLang="en-US" sz="2400" b="1" dirty="0">
              <a:latin typeface="Trebuchet MS" panose="020B0603020202020204" pitchFamily="34" charset="0"/>
            </a:endParaRPr>
          </a:p>
        </p:txBody>
      </p:sp>
      <p:pic>
        <p:nvPicPr>
          <p:cNvPr id="9" name="图片 8">
            <a:extLst>
              <a:ext uri="{FF2B5EF4-FFF2-40B4-BE49-F238E27FC236}">
                <a16:creationId xmlns:a16="http://schemas.microsoft.com/office/drawing/2014/main" id="{781E38FA-EA86-4742-9A02-8652E9DD1A15}"/>
              </a:ext>
            </a:extLst>
          </p:cNvPr>
          <p:cNvPicPr/>
          <p:nvPr/>
        </p:nvPicPr>
        <p:blipFill>
          <a:blip r:embed="rId5"/>
          <a:stretch>
            <a:fillRect/>
          </a:stretch>
        </p:blipFill>
        <p:spPr>
          <a:xfrm>
            <a:off x="1191531" y="3123293"/>
            <a:ext cx="577850" cy="241300"/>
          </a:xfrm>
          <a:prstGeom prst="rect">
            <a:avLst/>
          </a:prstGeom>
        </p:spPr>
      </p:pic>
    </p:spTree>
    <p:extLst>
      <p:ext uri="{BB962C8B-B14F-4D97-AF65-F5344CB8AC3E}">
        <p14:creationId xmlns:p14="http://schemas.microsoft.com/office/powerpoint/2010/main" val="143376382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animEffect transition="in" filter="fade">
                                      <p:cBhvr>
                                        <p:cTn id="7" dur="1000"/>
                                        <p:tgtEl>
                                          <p:spTgt spid="8">
                                            <p:txEl>
                                              <p:pRg st="1" end="1"/>
                                            </p:txEl>
                                          </p:spTgt>
                                        </p:tgtEl>
                                      </p:cBhvr>
                                    </p:animEffect>
                                    <p:anim calcmode="lin" valueType="num">
                                      <p:cBhvr>
                                        <p:cTn id="8" dur="1000" fill="hold"/>
                                        <p:tgtEl>
                                          <p:spTgt spid="8">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1000"/>
                                        <p:tgtEl>
                                          <p:spTgt spid="9"/>
                                        </p:tgtEl>
                                      </p:cBhvr>
                                    </p:animEffect>
                                    <p:anim calcmode="lin" valueType="num">
                                      <p:cBhvr>
                                        <p:cTn id="13" dur="1000" fill="hold"/>
                                        <p:tgtEl>
                                          <p:spTgt spid="9"/>
                                        </p:tgtEl>
                                        <p:attrNameLst>
                                          <p:attrName>ppt_x</p:attrName>
                                        </p:attrNameLst>
                                      </p:cBhvr>
                                      <p:tavLst>
                                        <p:tav tm="0">
                                          <p:val>
                                            <p:strVal val="#ppt_x"/>
                                          </p:val>
                                        </p:tav>
                                        <p:tav tm="100000">
                                          <p:val>
                                            <p:strVal val="#ppt_x"/>
                                          </p:val>
                                        </p:tav>
                                      </p:tavLst>
                                    </p:anim>
                                    <p:anim calcmode="lin" valueType="num">
                                      <p:cBhvr>
                                        <p:cTn id="14" dur="1000" fill="hold"/>
                                        <p:tgtEl>
                                          <p:spTgt spid="9"/>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8">
                                            <p:txEl>
                                              <p:pRg st="2" end="2"/>
                                            </p:txEl>
                                          </p:spTgt>
                                        </p:tgtEl>
                                        <p:attrNameLst>
                                          <p:attrName>style.visibility</p:attrName>
                                        </p:attrNameLst>
                                      </p:cBhvr>
                                      <p:to>
                                        <p:strVal val="visible"/>
                                      </p:to>
                                    </p:set>
                                    <p:animEffect transition="in" filter="fade">
                                      <p:cBhvr>
                                        <p:cTn id="17" dur="1000"/>
                                        <p:tgtEl>
                                          <p:spTgt spid="8">
                                            <p:txEl>
                                              <p:pRg st="2" end="2"/>
                                            </p:txEl>
                                          </p:spTgt>
                                        </p:tgtEl>
                                      </p:cBhvr>
                                    </p:animEffect>
                                    <p:anim calcmode="lin" valueType="num">
                                      <p:cBhvr>
                                        <p:cTn id="18"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8">
                                            <p:txEl>
                                              <p:pRg st="3" end="3"/>
                                            </p:txEl>
                                          </p:spTgt>
                                        </p:tgtEl>
                                        <p:attrNameLst>
                                          <p:attrName>style.visibility</p:attrName>
                                        </p:attrNameLst>
                                      </p:cBhvr>
                                      <p:to>
                                        <p:strVal val="visible"/>
                                      </p:to>
                                    </p:set>
                                    <p:animEffect transition="in" filter="fade">
                                      <p:cBhvr>
                                        <p:cTn id="24" dur="1000"/>
                                        <p:tgtEl>
                                          <p:spTgt spid="8">
                                            <p:txEl>
                                              <p:pRg st="3" end="3"/>
                                            </p:txEl>
                                          </p:spTgt>
                                        </p:tgtEl>
                                      </p:cBhvr>
                                    </p:animEffect>
                                    <p:anim calcmode="lin" valueType="num">
                                      <p:cBhvr>
                                        <p:cTn id="25"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8">
                                            <p:txEl>
                                              <p:pRg st="3" end="3"/>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8">
                                            <p:txEl>
                                              <p:pRg st="4" end="4"/>
                                            </p:txEl>
                                          </p:spTgt>
                                        </p:tgtEl>
                                        <p:attrNameLst>
                                          <p:attrName>style.visibility</p:attrName>
                                        </p:attrNameLst>
                                      </p:cBhvr>
                                      <p:to>
                                        <p:strVal val="visible"/>
                                      </p:to>
                                    </p:set>
                                    <p:animEffect transition="in" filter="fade">
                                      <p:cBhvr>
                                        <p:cTn id="29" dur="1000"/>
                                        <p:tgtEl>
                                          <p:spTgt spid="8">
                                            <p:txEl>
                                              <p:pRg st="4" end="4"/>
                                            </p:txEl>
                                          </p:spTgt>
                                        </p:tgtEl>
                                      </p:cBhvr>
                                    </p:animEffect>
                                    <p:anim calcmode="lin" valueType="num">
                                      <p:cBhvr>
                                        <p:cTn id="30" dur="1000" fill="hold"/>
                                        <p:tgtEl>
                                          <p:spTgt spid="8">
                                            <p:txEl>
                                              <p:pRg st="4" end="4"/>
                                            </p:txEl>
                                          </p:spTgt>
                                        </p:tgtEl>
                                        <p:attrNameLst>
                                          <p:attrName>ppt_x</p:attrName>
                                        </p:attrNameLst>
                                      </p:cBhvr>
                                      <p:tavLst>
                                        <p:tav tm="0">
                                          <p:val>
                                            <p:strVal val="#ppt_x"/>
                                          </p:val>
                                        </p:tav>
                                        <p:tav tm="100000">
                                          <p:val>
                                            <p:strVal val="#ppt_x"/>
                                          </p:val>
                                        </p:tav>
                                      </p:tavLst>
                                    </p:anim>
                                    <p:anim calcmode="lin" valueType="num">
                                      <p:cBhvr>
                                        <p:cTn id="31" dur="1000" fill="hold"/>
                                        <p:tgtEl>
                                          <p:spTgt spid="8">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nodeType="clickEffect">
                                  <p:stCondLst>
                                    <p:cond delay="0"/>
                                  </p:stCondLst>
                                  <p:childTnLst>
                                    <p:set>
                                      <p:cBhvr>
                                        <p:cTn id="35" dur="1" fill="hold">
                                          <p:stCondLst>
                                            <p:cond delay="0"/>
                                          </p:stCondLst>
                                        </p:cTn>
                                        <p:tgtEl>
                                          <p:spTgt spid="8">
                                            <p:txEl>
                                              <p:pRg st="5" end="5"/>
                                            </p:txEl>
                                          </p:spTgt>
                                        </p:tgtEl>
                                        <p:attrNameLst>
                                          <p:attrName>style.visibility</p:attrName>
                                        </p:attrNameLst>
                                      </p:cBhvr>
                                      <p:to>
                                        <p:strVal val="visible"/>
                                      </p:to>
                                    </p:set>
                                    <p:animEffect transition="in" filter="fade">
                                      <p:cBhvr>
                                        <p:cTn id="36" dur="1000"/>
                                        <p:tgtEl>
                                          <p:spTgt spid="8">
                                            <p:txEl>
                                              <p:pRg st="5" end="5"/>
                                            </p:txEl>
                                          </p:spTgt>
                                        </p:tgtEl>
                                      </p:cBhvr>
                                    </p:animEffect>
                                    <p:anim calcmode="lin" valueType="num">
                                      <p:cBhvr>
                                        <p:cTn id="37" dur="1000" fill="hold"/>
                                        <p:tgtEl>
                                          <p:spTgt spid="8">
                                            <p:txEl>
                                              <p:pRg st="5" end="5"/>
                                            </p:txEl>
                                          </p:spTgt>
                                        </p:tgtEl>
                                        <p:attrNameLst>
                                          <p:attrName>ppt_x</p:attrName>
                                        </p:attrNameLst>
                                      </p:cBhvr>
                                      <p:tavLst>
                                        <p:tav tm="0">
                                          <p:val>
                                            <p:strVal val="#ppt_x"/>
                                          </p:val>
                                        </p:tav>
                                        <p:tav tm="100000">
                                          <p:val>
                                            <p:strVal val="#ppt_x"/>
                                          </p:val>
                                        </p:tav>
                                      </p:tavLst>
                                    </p:anim>
                                    <p:anim calcmode="lin" valueType="num">
                                      <p:cBhvr>
                                        <p:cTn id="38" dur="1000" fill="hold"/>
                                        <p:tgtEl>
                                          <p:spTgt spid="8">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7620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spcBef>
                <a:spcPts val="600"/>
              </a:spcBef>
              <a:buClr>
                <a:srgbClr val="0B61FF"/>
              </a:buClr>
              <a:buSzPct val="80000"/>
            </a:pPr>
            <a:r>
              <a:rPr lang="en-US" altLang="zh-CN" sz="2000" b="1" dirty="0">
                <a:effectLst/>
                <a:latin typeface="Cambria Math" panose="02040503050406030204" pitchFamily="18" charset="0"/>
                <a:ea typeface="Cambria Math" panose="02040503050406030204" pitchFamily="18" charset="0"/>
                <a:cs typeface="Times New Roman" panose="02020603050405020304" pitchFamily="18" charset="0"/>
              </a:rPr>
              <a:t>                 </a:t>
            </a:r>
            <a:r>
              <a:rPr lang="en-US" altLang="zh-CN" sz="2000" b="1" dirty="0">
                <a:solidFill>
                  <a:schemeClr val="bg1"/>
                </a:solidFill>
                <a:latin typeface="Trebuchet MS" panose="020B0603020202020204" pitchFamily="34" charset="0"/>
              </a:rPr>
              <a:t>3.1.4</a:t>
            </a:r>
            <a:r>
              <a:rPr lang="en-US" altLang="zh-CN" sz="2000" b="1" dirty="0">
                <a:solidFill>
                  <a:srgbClr val="0B61FF"/>
                </a:solidFill>
                <a:latin typeface="Trebuchet MS" panose="020B0603020202020204" pitchFamily="34" charset="0"/>
              </a:rPr>
              <a:t> </a:t>
            </a:r>
            <a:r>
              <a:rPr lang="en-US" altLang="zh-CN" sz="2000" b="1" dirty="0">
                <a:solidFill>
                  <a:schemeClr val="bg1"/>
                </a:solidFill>
                <a:latin typeface="Trebuchet MS" panose="020B0603020202020204" pitchFamily="34" charset="0"/>
              </a:rPr>
              <a:t>First-Order Logic Formulas and Classification</a:t>
            </a:r>
          </a:p>
          <a:p>
            <a:pPr>
              <a:spcBef>
                <a:spcPts val="600"/>
              </a:spcBef>
              <a:buClr>
                <a:srgbClr val="0B61FF"/>
              </a:buClr>
              <a:buSzPct val="80000"/>
            </a:pPr>
            <a:r>
              <a:rPr lang="en-US" altLang="zh-CN" sz="1600" dirty="0">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2400" b="1" dirty="0">
                <a:solidFill>
                  <a:schemeClr val="bg1"/>
                </a:solidFill>
                <a:latin typeface="Trebuchet MS" panose="020B0603020202020204" pitchFamily="34" charset="0"/>
                <a:ea typeface="Cambria Math" panose="02040503050406030204" pitchFamily="18" charset="0"/>
                <a:cs typeface="Times New Roman" panose="02020603050405020304" pitchFamily="18" charset="0"/>
              </a:rPr>
              <a:t>C</a:t>
            </a:r>
            <a:r>
              <a:rPr lang="en-US" altLang="zh-CN" sz="2400" b="1" dirty="0">
                <a:solidFill>
                  <a:schemeClr val="bg1"/>
                </a:solidFill>
                <a:effectLst/>
                <a:latin typeface="Trebuchet MS" panose="020B0603020202020204" pitchFamily="34" charset="0"/>
              </a:rPr>
              <a:t>losed well-formed formula(closed formula)</a:t>
            </a:r>
            <a:endParaRPr lang="zh-CN" altLang="en-US" sz="2400" b="1" dirty="0">
              <a:solidFill>
                <a:schemeClr val="bg1"/>
              </a:solidFill>
              <a:highlight>
                <a:srgbClr val="FF0000"/>
              </a:highlight>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0124" y="765176"/>
            <a:ext cx="10191751" cy="437288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lnSpc>
                <a:spcPct val="120000"/>
              </a:lnSpc>
              <a:buNone/>
            </a:pPr>
            <a:r>
              <a:rPr lang="en-US" sz="2400" b="0" i="0" dirty="0">
                <a:solidFill>
                  <a:srgbClr val="0C0D0E"/>
                </a:solidFill>
                <a:effectLst/>
                <a:latin typeface="Trebuchet MS" panose="020B0603020202020204" pitchFamily="34" charset="0"/>
              </a:rPr>
              <a:t>   </a:t>
            </a:r>
            <a:r>
              <a:rPr lang="en-US" sz="2400" b="1" i="0" dirty="0">
                <a:solidFill>
                  <a:srgbClr val="0C0D0E"/>
                </a:solidFill>
                <a:effectLst/>
                <a:latin typeface="Trebuchet MS" panose="020B0603020202020204" pitchFamily="34" charset="0"/>
              </a:rPr>
              <a:t>Example: </a:t>
            </a:r>
            <a:r>
              <a:rPr lang="en-US" sz="2400" b="0" i="0" dirty="0">
                <a:solidFill>
                  <a:srgbClr val="0C0D0E"/>
                </a:solidFill>
                <a:effectLst/>
                <a:latin typeface="Trebuchet MS" panose="020B0603020202020204" pitchFamily="34" charset="0"/>
              </a:rPr>
              <a:t>The formula </a:t>
            </a:r>
            <a:r>
              <a:rPr lang="zh-CN" altLang="en-US" sz="2400" b="1" dirty="0">
                <a:latin typeface="Trebuchet MS" panose="020B0603020202020204" pitchFamily="34" charset="0"/>
                <a:sym typeface="Symbol" panose="05050102010706020507" pitchFamily="18" charset="2"/>
              </a:rPr>
              <a:t></a:t>
            </a:r>
            <a:r>
              <a:rPr lang="en-US" sz="2400" b="1" i="1" dirty="0">
                <a:solidFill>
                  <a:srgbClr val="0C0D0E"/>
                </a:solidFill>
                <a:effectLst/>
                <a:latin typeface="Trebuchet MS" panose="020B0603020202020204" pitchFamily="34" charset="0"/>
              </a:rPr>
              <a:t>x</a:t>
            </a:r>
            <a:r>
              <a:rPr lang="en-US" sz="2400" b="1" i="0" dirty="0">
                <a:solidFill>
                  <a:srgbClr val="0C0D0E"/>
                </a:solidFill>
                <a:effectLst/>
                <a:latin typeface="Trebuchet MS" panose="020B0603020202020204" pitchFamily="34" charset="0"/>
              </a:rPr>
              <a:t>(</a:t>
            </a:r>
            <a:r>
              <a:rPr lang="en-US" sz="2400" b="1" i="1" dirty="0">
                <a:solidFill>
                  <a:srgbClr val="0C0D0E"/>
                </a:solidFill>
                <a:effectLst/>
                <a:latin typeface="Trebuchet MS" panose="020B0603020202020204" pitchFamily="34" charset="0"/>
              </a:rPr>
              <a:t>F</a:t>
            </a:r>
            <a:r>
              <a:rPr lang="en-US" sz="2400" b="1" i="0" dirty="0">
                <a:solidFill>
                  <a:srgbClr val="0C0D0E"/>
                </a:solidFill>
                <a:effectLst/>
                <a:latin typeface="Trebuchet MS" panose="020B0603020202020204" pitchFamily="34" charset="0"/>
              </a:rPr>
              <a:t>(</a:t>
            </a:r>
            <a:r>
              <a:rPr lang="en-US" sz="2400" b="1" i="1" dirty="0">
                <a:solidFill>
                  <a:srgbClr val="0C0D0E"/>
                </a:solidFill>
                <a:effectLst/>
                <a:latin typeface="Trebuchet MS" panose="020B0603020202020204" pitchFamily="34" charset="0"/>
              </a:rPr>
              <a:t>x</a:t>
            </a:r>
            <a:r>
              <a:rPr lang="en-US" sz="2400" b="1" i="0" dirty="0">
                <a:solidFill>
                  <a:srgbClr val="0C0D0E"/>
                </a:solidFill>
                <a:effectLst/>
                <a:latin typeface="Trebuchet MS" panose="020B0603020202020204" pitchFamily="34" charset="0"/>
              </a:rPr>
              <a:t>)</a:t>
            </a:r>
            <a:r>
              <a:rPr lang="en-US" altLang="zh-CN" sz="2400" b="1" dirty="0">
                <a:latin typeface="Trebuchet MS" panose="020B0603020202020204" pitchFamily="34" charset="0"/>
                <a:sym typeface="Symbol" panose="05050102010706020507" pitchFamily="18" charset="2"/>
              </a:rPr>
              <a:t></a:t>
            </a:r>
            <a:r>
              <a:rPr lang="zh-CN" altLang="en-US" sz="2400" b="1" dirty="0">
                <a:latin typeface="Trebuchet MS" panose="020B0603020202020204" pitchFamily="34" charset="0"/>
                <a:sym typeface="Symbol" panose="05050102010706020507" pitchFamily="18" charset="2"/>
              </a:rPr>
              <a:t></a:t>
            </a:r>
            <a:r>
              <a:rPr lang="en-US" sz="2400" b="1" i="1" dirty="0">
                <a:solidFill>
                  <a:srgbClr val="0C0D0E"/>
                </a:solidFill>
                <a:effectLst/>
                <a:latin typeface="Trebuchet MS" panose="020B0603020202020204" pitchFamily="34" charset="0"/>
              </a:rPr>
              <a:t>xG</a:t>
            </a:r>
            <a:r>
              <a:rPr lang="en-US" sz="2400" b="1" i="0" dirty="0">
                <a:solidFill>
                  <a:srgbClr val="0C0D0E"/>
                </a:solidFill>
                <a:effectLst/>
                <a:latin typeface="Trebuchet MS" panose="020B0603020202020204" pitchFamily="34" charset="0"/>
              </a:rPr>
              <a:t>(</a:t>
            </a:r>
            <a:r>
              <a:rPr lang="en-US" sz="2400" b="1" i="1" dirty="0">
                <a:solidFill>
                  <a:srgbClr val="0C0D0E"/>
                </a:solidFill>
                <a:effectLst/>
                <a:latin typeface="Trebuchet MS" panose="020B0603020202020204" pitchFamily="34" charset="0"/>
              </a:rPr>
              <a:t>x</a:t>
            </a:r>
            <a:r>
              <a:rPr lang="en-US" sz="2400" b="0" i="0" dirty="0">
                <a:solidFill>
                  <a:srgbClr val="0C0D0E"/>
                </a:solidFill>
                <a:effectLst/>
                <a:latin typeface="Trebuchet MS" panose="020B0603020202020204" pitchFamily="34" charset="0"/>
              </a:rPr>
              <a:t>)) </a:t>
            </a:r>
          </a:p>
          <a:p>
            <a:pPr marL="533400" indent="-261938" algn="l">
              <a:lnSpc>
                <a:spcPct val="120000"/>
              </a:lnSpc>
              <a:buClr>
                <a:srgbClr val="0B61FF"/>
              </a:buClr>
              <a:buSzPct val="120000"/>
            </a:pPr>
            <a:r>
              <a:rPr lang="en-US" sz="2400" b="0" i="0" dirty="0">
                <a:solidFill>
                  <a:srgbClr val="0C0D0E"/>
                </a:solidFill>
                <a:effectLst/>
                <a:latin typeface="Trebuchet MS" panose="020B0603020202020204" pitchFamily="34" charset="0"/>
              </a:rPr>
              <a:t>The scope of </a:t>
            </a:r>
            <a:r>
              <a:rPr lang="en-US" sz="2400" b="1" i="0" dirty="0">
                <a:solidFill>
                  <a:srgbClr val="0C0D0E"/>
                </a:solidFill>
                <a:effectLst/>
                <a:latin typeface="Trebuchet MS" panose="020B0603020202020204" pitchFamily="34" charset="0"/>
              </a:rPr>
              <a:t>∀</a:t>
            </a:r>
            <a:r>
              <a:rPr lang="en-US" sz="2400" b="1" i="1" dirty="0">
                <a:solidFill>
                  <a:srgbClr val="0C0D0E"/>
                </a:solidFill>
                <a:effectLst/>
                <a:latin typeface="Trebuchet MS" panose="020B0603020202020204" pitchFamily="34" charset="0"/>
              </a:rPr>
              <a:t>x</a:t>
            </a:r>
            <a:r>
              <a:rPr lang="en-US" sz="2400" b="0" i="0" dirty="0">
                <a:solidFill>
                  <a:srgbClr val="0C0D0E"/>
                </a:solidFill>
                <a:effectLst/>
                <a:latin typeface="Trebuchet MS" panose="020B0603020202020204" pitchFamily="34" charset="0"/>
              </a:rPr>
              <a:t> is </a:t>
            </a:r>
            <a:r>
              <a:rPr lang="en-US" altLang="zh-CN" sz="2400" b="1" i="0" dirty="0">
                <a:solidFill>
                  <a:srgbClr val="0C0D0E"/>
                </a:solidFill>
                <a:effectLst/>
                <a:latin typeface="Trebuchet MS" panose="020B0603020202020204" pitchFamily="34" charset="0"/>
              </a:rPr>
              <a:t> (</a:t>
            </a:r>
            <a:r>
              <a:rPr lang="en-US" altLang="zh-CN" sz="2400" b="1" i="1" dirty="0">
                <a:solidFill>
                  <a:srgbClr val="0C0D0E"/>
                </a:solidFill>
                <a:effectLst/>
                <a:latin typeface="Trebuchet MS" panose="020B0603020202020204" pitchFamily="34" charset="0"/>
              </a:rPr>
              <a:t>F</a:t>
            </a:r>
            <a:r>
              <a:rPr lang="en-US" altLang="zh-CN" sz="2400" b="1" i="0" dirty="0">
                <a:solidFill>
                  <a:srgbClr val="0C0D0E"/>
                </a:solidFill>
                <a:effectLst/>
                <a:latin typeface="Trebuchet MS" panose="020B0603020202020204" pitchFamily="34" charset="0"/>
              </a:rPr>
              <a:t>(</a:t>
            </a:r>
            <a:r>
              <a:rPr lang="en-US" altLang="zh-CN" sz="2400" b="1" i="1" dirty="0">
                <a:solidFill>
                  <a:srgbClr val="0C0D0E"/>
                </a:solidFill>
                <a:effectLst/>
                <a:latin typeface="Trebuchet MS" panose="020B0603020202020204" pitchFamily="34" charset="0"/>
              </a:rPr>
              <a:t>x</a:t>
            </a:r>
            <a:r>
              <a:rPr lang="en-US" altLang="zh-CN" sz="2400" b="1" i="0" dirty="0">
                <a:solidFill>
                  <a:srgbClr val="0C0D0E"/>
                </a:solidFill>
                <a:effectLst/>
                <a:latin typeface="Trebuchet MS" panose="020B0603020202020204" pitchFamily="34" charset="0"/>
              </a:rPr>
              <a:t>)</a:t>
            </a:r>
            <a:r>
              <a:rPr lang="en-US" altLang="zh-CN" sz="2400" b="1" dirty="0">
                <a:latin typeface="Trebuchet MS" panose="020B0603020202020204" pitchFamily="34" charset="0"/>
                <a:sym typeface="Symbol" panose="05050102010706020507" pitchFamily="18" charset="2"/>
              </a:rPr>
              <a:t></a:t>
            </a:r>
            <a:r>
              <a:rPr lang="zh-CN" altLang="en-US" sz="2400" b="1" dirty="0">
                <a:latin typeface="Trebuchet MS" panose="020B0603020202020204" pitchFamily="34" charset="0"/>
                <a:sym typeface="Symbol" panose="05050102010706020507" pitchFamily="18" charset="2"/>
              </a:rPr>
              <a:t></a:t>
            </a:r>
            <a:r>
              <a:rPr lang="en-US" altLang="zh-CN" sz="2400" b="1" i="1" dirty="0">
                <a:solidFill>
                  <a:srgbClr val="0C0D0E"/>
                </a:solidFill>
                <a:effectLst/>
                <a:latin typeface="Trebuchet MS" panose="020B0603020202020204" pitchFamily="34" charset="0"/>
              </a:rPr>
              <a:t>xG</a:t>
            </a:r>
            <a:r>
              <a:rPr lang="en-US" altLang="zh-CN" sz="2400" b="1" i="0" dirty="0">
                <a:solidFill>
                  <a:srgbClr val="0C0D0E"/>
                </a:solidFill>
                <a:effectLst/>
                <a:latin typeface="Trebuchet MS" panose="020B0603020202020204" pitchFamily="34" charset="0"/>
              </a:rPr>
              <a:t>(</a:t>
            </a:r>
            <a:r>
              <a:rPr lang="en-US" altLang="zh-CN" sz="2400" b="1" i="1" dirty="0">
                <a:solidFill>
                  <a:srgbClr val="0C0D0E"/>
                </a:solidFill>
                <a:effectLst/>
                <a:latin typeface="Trebuchet MS" panose="020B0603020202020204" pitchFamily="34" charset="0"/>
              </a:rPr>
              <a:t>x</a:t>
            </a:r>
            <a:r>
              <a:rPr lang="en-US" altLang="zh-CN" sz="2400" b="0" i="0" dirty="0">
                <a:solidFill>
                  <a:srgbClr val="0C0D0E"/>
                </a:solidFill>
                <a:effectLst/>
                <a:latin typeface="Trebuchet MS" panose="020B0603020202020204" pitchFamily="34" charset="0"/>
              </a:rPr>
              <a:t>))</a:t>
            </a:r>
            <a:r>
              <a:rPr lang="en-US" sz="2400" b="0" i="0" dirty="0">
                <a:solidFill>
                  <a:srgbClr val="0C0D0E"/>
                </a:solidFill>
                <a:effectLst/>
                <a:latin typeface="Trebuchet MS" panose="020B0603020202020204" pitchFamily="34" charset="0"/>
              </a:rPr>
              <a:t>, with </a:t>
            </a:r>
            <a:r>
              <a:rPr lang="en-US" sz="2400" b="1" i="1" dirty="0">
                <a:solidFill>
                  <a:srgbClr val="0C0D0E"/>
                </a:solidFill>
                <a:effectLst/>
                <a:latin typeface="Trebuchet MS" panose="020B0603020202020204" pitchFamily="34" charset="0"/>
              </a:rPr>
              <a:t>x</a:t>
            </a:r>
            <a:r>
              <a:rPr lang="en-US" sz="2400" b="0" i="0" dirty="0">
                <a:solidFill>
                  <a:srgbClr val="0C0D0E"/>
                </a:solidFill>
                <a:effectLst/>
                <a:latin typeface="Trebuchet MS" panose="020B0603020202020204" pitchFamily="34" charset="0"/>
              </a:rPr>
              <a:t> as the bound variable.</a:t>
            </a:r>
          </a:p>
          <a:p>
            <a:pPr marL="533400" indent="-261938" algn="l">
              <a:lnSpc>
                <a:spcPct val="120000"/>
              </a:lnSpc>
              <a:buClr>
                <a:srgbClr val="0B61FF"/>
              </a:buClr>
              <a:buSzPct val="120000"/>
            </a:pPr>
            <a:r>
              <a:rPr lang="en-US" sz="2400" b="0" i="0" dirty="0">
                <a:solidFill>
                  <a:srgbClr val="0C0D0E"/>
                </a:solidFill>
                <a:effectLst/>
                <a:latin typeface="Trebuchet MS" panose="020B0603020202020204" pitchFamily="34" charset="0"/>
              </a:rPr>
              <a:t>The scope of </a:t>
            </a:r>
            <a:r>
              <a:rPr lang="zh-CN" altLang="en-US" sz="2400" b="1" dirty="0">
                <a:latin typeface="Trebuchet MS" panose="020B0603020202020204" pitchFamily="34" charset="0"/>
                <a:sym typeface="Symbol" panose="05050102010706020507" pitchFamily="18" charset="2"/>
              </a:rPr>
              <a:t></a:t>
            </a:r>
            <a:r>
              <a:rPr lang="en-US" altLang="zh-CN" sz="2400" b="1" i="1" dirty="0">
                <a:solidFill>
                  <a:srgbClr val="0C0D0E"/>
                </a:solidFill>
                <a:effectLst/>
                <a:latin typeface="Trebuchet MS" panose="020B0603020202020204" pitchFamily="34" charset="0"/>
              </a:rPr>
              <a:t>x</a:t>
            </a:r>
            <a:r>
              <a:rPr lang="en-US" sz="2400" b="0" i="0" dirty="0">
                <a:solidFill>
                  <a:srgbClr val="0C0D0E"/>
                </a:solidFill>
                <a:effectLst/>
                <a:latin typeface="Trebuchet MS" panose="020B0603020202020204" pitchFamily="34" charset="0"/>
              </a:rPr>
              <a:t> is </a:t>
            </a:r>
            <a:r>
              <a:rPr lang="en-US" altLang="zh-CN" sz="2400" b="1" i="1" dirty="0">
                <a:solidFill>
                  <a:srgbClr val="0C0D0E"/>
                </a:solidFill>
                <a:effectLst/>
                <a:latin typeface="Trebuchet MS" panose="020B0603020202020204" pitchFamily="34" charset="0"/>
              </a:rPr>
              <a:t>G</a:t>
            </a:r>
            <a:r>
              <a:rPr lang="en-US" altLang="zh-CN" sz="2400" b="1" i="0" dirty="0">
                <a:solidFill>
                  <a:srgbClr val="0C0D0E"/>
                </a:solidFill>
                <a:effectLst/>
                <a:latin typeface="Trebuchet MS" panose="020B0603020202020204" pitchFamily="34" charset="0"/>
              </a:rPr>
              <a:t>(</a:t>
            </a:r>
            <a:r>
              <a:rPr lang="en-US" altLang="zh-CN" sz="2400" b="1" i="1" dirty="0">
                <a:solidFill>
                  <a:srgbClr val="0C0D0E"/>
                </a:solidFill>
                <a:effectLst/>
                <a:latin typeface="Trebuchet MS" panose="020B0603020202020204" pitchFamily="34" charset="0"/>
              </a:rPr>
              <a:t>x</a:t>
            </a:r>
            <a:r>
              <a:rPr lang="en-US" altLang="zh-CN" sz="2400" b="0" i="0" dirty="0">
                <a:solidFill>
                  <a:srgbClr val="0C0D0E"/>
                </a:solidFill>
                <a:effectLst/>
                <a:latin typeface="Trebuchet MS" panose="020B0603020202020204" pitchFamily="34" charset="0"/>
              </a:rPr>
              <a:t>)</a:t>
            </a:r>
            <a:r>
              <a:rPr lang="en-US" sz="2400" b="0" i="0" dirty="0">
                <a:solidFill>
                  <a:srgbClr val="0C0D0E"/>
                </a:solidFill>
                <a:effectLst/>
                <a:latin typeface="Trebuchet MS" panose="020B0603020202020204" pitchFamily="34" charset="0"/>
              </a:rPr>
              <a:t>, with </a:t>
            </a:r>
            <a:r>
              <a:rPr lang="en-US" sz="2400" b="1" i="1" dirty="0">
                <a:solidFill>
                  <a:srgbClr val="0C0D0E"/>
                </a:solidFill>
                <a:effectLst/>
                <a:latin typeface="Trebuchet MS" panose="020B0603020202020204" pitchFamily="34" charset="0"/>
              </a:rPr>
              <a:t>x</a:t>
            </a:r>
            <a:r>
              <a:rPr lang="en-US" sz="2400" b="0" i="0" dirty="0">
                <a:solidFill>
                  <a:srgbClr val="0C0D0E"/>
                </a:solidFill>
                <a:effectLst/>
                <a:latin typeface="Trebuchet MS" panose="020B0603020202020204" pitchFamily="34" charset="0"/>
              </a:rPr>
              <a:t> as the bound variable.</a:t>
            </a:r>
          </a:p>
          <a:p>
            <a:pPr marL="533400" indent="-261938" algn="l">
              <a:lnSpc>
                <a:spcPct val="120000"/>
              </a:lnSpc>
              <a:buClr>
                <a:srgbClr val="0B61FF"/>
              </a:buClr>
              <a:buSzPct val="120000"/>
            </a:pPr>
            <a:r>
              <a:rPr lang="en-US" sz="2400" b="0" i="0" dirty="0">
                <a:solidFill>
                  <a:srgbClr val="0C0D0E"/>
                </a:solidFill>
                <a:effectLst/>
                <a:latin typeface="Trebuchet MS" panose="020B0603020202020204" pitchFamily="34" charset="0"/>
              </a:rPr>
              <a:t>Both occurrences of </a:t>
            </a:r>
            <a:r>
              <a:rPr lang="en-US" sz="2400" b="1" i="1" dirty="0">
                <a:solidFill>
                  <a:srgbClr val="0C0D0E"/>
                </a:solidFill>
                <a:effectLst/>
                <a:latin typeface="Trebuchet MS" panose="020B0603020202020204" pitchFamily="34" charset="0"/>
              </a:rPr>
              <a:t>x</a:t>
            </a:r>
            <a:r>
              <a:rPr lang="en-US" sz="2400" b="0" i="0" dirty="0">
                <a:solidFill>
                  <a:srgbClr val="0C0D0E"/>
                </a:solidFill>
                <a:effectLst/>
                <a:latin typeface="Trebuchet MS" panose="020B0603020202020204" pitchFamily="34" charset="0"/>
              </a:rPr>
              <a:t> are bound occurrences: </a:t>
            </a:r>
            <a:r>
              <a:rPr lang="en-US" altLang="zh-CN" sz="2400" dirty="0">
                <a:latin typeface="Trebuchet MS" panose="020B0603020202020204" pitchFamily="34" charset="0"/>
              </a:rPr>
              <a:t>the first in</a:t>
            </a:r>
            <a:r>
              <a:rPr lang="en-US" altLang="zh-CN" sz="2400" dirty="0"/>
              <a:t> </a:t>
            </a:r>
            <a:r>
              <a:rPr lang="en-US" altLang="zh-CN" sz="2400" b="1" i="0" dirty="0">
                <a:solidFill>
                  <a:srgbClr val="0C0D0E"/>
                </a:solidFill>
                <a:effectLst/>
                <a:latin typeface="Trebuchet MS" panose="020B0603020202020204" pitchFamily="34" charset="0"/>
              </a:rPr>
              <a:t>∀</a:t>
            </a:r>
            <a:r>
              <a:rPr lang="en-US" altLang="zh-CN" sz="2400" b="1" i="1" dirty="0">
                <a:solidFill>
                  <a:srgbClr val="0C0D0E"/>
                </a:solidFill>
                <a:effectLst/>
                <a:latin typeface="Trebuchet MS" panose="020B0603020202020204" pitchFamily="34" charset="0"/>
              </a:rPr>
              <a:t>x </a:t>
            </a:r>
            <a:r>
              <a:rPr lang="en-US" altLang="zh-CN" sz="2400" b="0" i="0" dirty="0">
                <a:solidFill>
                  <a:srgbClr val="0C0D0E"/>
                </a:solidFill>
                <a:effectLst/>
                <a:latin typeface="Trebuchet MS" panose="020B0603020202020204" pitchFamily="34" charset="0"/>
              </a:rPr>
              <a:t>, and the second </a:t>
            </a:r>
            <a:r>
              <a:rPr lang="en-US" sz="2400" b="0" i="0" dirty="0">
                <a:solidFill>
                  <a:srgbClr val="0C0D0E"/>
                </a:solidFill>
                <a:effectLst/>
                <a:latin typeface="Trebuchet MS" panose="020B0603020202020204" pitchFamily="34" charset="0"/>
              </a:rPr>
              <a:t>in  </a:t>
            </a:r>
            <a:r>
              <a:rPr lang="en-US" sz="2400" b="1" dirty="0">
                <a:solidFill>
                  <a:srgbClr val="0C0D0E"/>
                </a:solidFill>
                <a:effectLst/>
                <a:latin typeface="Trebuchet MS" panose="020B0603020202020204" pitchFamily="34" charset="0"/>
              </a:rPr>
              <a:t>∃</a:t>
            </a:r>
            <a:r>
              <a:rPr lang="en-US" sz="2400" b="1" i="1" dirty="0">
                <a:solidFill>
                  <a:srgbClr val="0C0D0E"/>
                </a:solidFill>
                <a:effectLst/>
                <a:latin typeface="Trebuchet MS" panose="020B0603020202020204" pitchFamily="34" charset="0"/>
              </a:rPr>
              <a:t>x</a:t>
            </a:r>
            <a:r>
              <a:rPr lang="en-US" sz="2400" b="0" i="0" dirty="0">
                <a:solidFill>
                  <a:srgbClr val="0C0D0E"/>
                </a:solidFill>
                <a:effectLst/>
                <a:latin typeface="Trebuchet MS" panose="020B0603020202020204" pitchFamily="34" charset="0"/>
              </a:rPr>
              <a:t>.</a:t>
            </a:r>
            <a:r>
              <a:rPr lang="en-US" altLang="zh-CN" sz="1600" dirty="0"/>
              <a:t> </a:t>
            </a:r>
          </a:p>
          <a:p>
            <a:pPr>
              <a:lnSpc>
                <a:spcPct val="120000"/>
              </a:lnSpc>
              <a:buClr>
                <a:srgbClr val="0B61FF"/>
              </a:buClr>
              <a:buSzPct val="80000"/>
              <a:buFont typeface="Wingdings" panose="05000000000000000000" pitchFamily="2" charset="2"/>
              <a:buChar char="n"/>
            </a:pPr>
            <a:r>
              <a:rPr lang="en-US" sz="2400" b="1" i="0" dirty="0">
                <a:solidFill>
                  <a:srgbClr val="0C0D0E"/>
                </a:solidFill>
                <a:effectLst/>
                <a:latin typeface="Trebuchet MS" panose="020B0603020202020204" pitchFamily="34" charset="0"/>
              </a:rPr>
              <a:t>Closed formula</a:t>
            </a:r>
            <a:r>
              <a:rPr lang="en-US" sz="2400" b="0" i="0" dirty="0">
                <a:solidFill>
                  <a:srgbClr val="0C0D0E"/>
                </a:solidFill>
                <a:effectLst/>
                <a:latin typeface="Trebuchet MS" panose="020B0603020202020204" pitchFamily="34" charset="0"/>
              </a:rPr>
              <a:t>: A formula that contains </a:t>
            </a:r>
            <a:r>
              <a:rPr lang="en-US" sz="2400" b="1" dirty="0">
                <a:solidFill>
                  <a:srgbClr val="0C0D0E"/>
                </a:solidFill>
                <a:effectLst/>
                <a:latin typeface="Trebuchet MS" panose="020B0603020202020204" pitchFamily="34" charset="0"/>
              </a:rPr>
              <a:t>no free occurrences </a:t>
            </a:r>
            <a:r>
              <a:rPr lang="en-US" sz="2400" b="0" i="0" dirty="0">
                <a:solidFill>
                  <a:srgbClr val="0C0D0E"/>
                </a:solidFill>
                <a:effectLst/>
                <a:latin typeface="Trebuchet MS" panose="020B0603020202020204" pitchFamily="34" charset="0"/>
              </a:rPr>
              <a:t>of individual variables is called a </a:t>
            </a:r>
            <a:r>
              <a:rPr lang="en-US" sz="2400" b="1" i="1" dirty="0">
                <a:solidFill>
                  <a:srgbClr val="0C0D0E"/>
                </a:solidFill>
                <a:effectLst/>
                <a:latin typeface="Trebuchet MS" panose="020B0603020202020204" pitchFamily="34" charset="0"/>
              </a:rPr>
              <a:t>closed well-formed formula</a:t>
            </a:r>
            <a:r>
              <a:rPr lang="en-US" sz="2400" b="0" i="0" dirty="0">
                <a:solidFill>
                  <a:srgbClr val="0C0D0E"/>
                </a:solidFill>
                <a:effectLst/>
                <a:latin typeface="Trebuchet MS" panose="020B0603020202020204" pitchFamily="34" charset="0"/>
              </a:rPr>
              <a:t>, abbreviated as </a:t>
            </a:r>
            <a:r>
              <a:rPr lang="en-US" sz="2400" b="1" i="1" dirty="0">
                <a:solidFill>
                  <a:srgbClr val="0C0D0E"/>
                </a:solidFill>
                <a:effectLst/>
                <a:latin typeface="Trebuchet MS" panose="020B0603020202020204" pitchFamily="34" charset="0"/>
              </a:rPr>
              <a:t>closed formula</a:t>
            </a:r>
            <a:r>
              <a:rPr lang="en-US" sz="2400" b="0" i="0" dirty="0">
                <a:solidFill>
                  <a:srgbClr val="0C0D0E"/>
                </a:solidFill>
                <a:effectLst/>
                <a:latin typeface="Trebuchet MS" panose="020B0603020202020204" pitchFamily="34" charset="0"/>
              </a:rPr>
              <a:t>.</a:t>
            </a:r>
          </a:p>
          <a:p>
            <a:pPr eaLnBrk="1" hangingPunct="1">
              <a:lnSpc>
                <a:spcPct val="120000"/>
              </a:lnSpc>
              <a:spcBef>
                <a:spcPts val="600"/>
              </a:spcBef>
              <a:buFontTx/>
              <a:buNone/>
            </a:pPr>
            <a:endParaRPr lang="zh-CN" altLang="en-US" sz="2400" b="1" dirty="0">
              <a:latin typeface="Trebuchet MS" panose="020B0603020202020204" pitchFamily="34" charset="0"/>
            </a:endParaRPr>
          </a:p>
        </p:txBody>
      </p:sp>
      <p:pic>
        <p:nvPicPr>
          <p:cNvPr id="9" name="图片 8">
            <a:extLst>
              <a:ext uri="{FF2B5EF4-FFF2-40B4-BE49-F238E27FC236}">
                <a16:creationId xmlns:a16="http://schemas.microsoft.com/office/drawing/2014/main" id="{618DA4FD-6462-48A3-8A1F-CE0DC39682CE}"/>
              </a:ext>
            </a:extLst>
          </p:cNvPr>
          <p:cNvPicPr/>
          <p:nvPr/>
        </p:nvPicPr>
        <p:blipFill>
          <a:blip r:embed="rId5"/>
          <a:stretch>
            <a:fillRect/>
          </a:stretch>
        </p:blipFill>
        <p:spPr>
          <a:xfrm>
            <a:off x="843186" y="946147"/>
            <a:ext cx="577850" cy="241300"/>
          </a:xfrm>
          <a:prstGeom prst="rect">
            <a:avLst/>
          </a:prstGeom>
        </p:spPr>
      </p:pic>
    </p:spTree>
    <p:extLst>
      <p:ext uri="{BB962C8B-B14F-4D97-AF65-F5344CB8AC3E}">
        <p14:creationId xmlns:p14="http://schemas.microsoft.com/office/powerpoint/2010/main" val="21018930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4" end="4"/>
                                            </p:txEl>
                                          </p:spTgt>
                                        </p:tgtEl>
                                        <p:attrNameLst>
                                          <p:attrName>style.visibility</p:attrName>
                                        </p:attrNameLst>
                                      </p:cBhvr>
                                      <p:to>
                                        <p:strVal val="visible"/>
                                      </p:to>
                                    </p:set>
                                    <p:animEffect transition="in" filter="fade">
                                      <p:cBhvr>
                                        <p:cTn id="7" dur="1000"/>
                                        <p:tgtEl>
                                          <p:spTgt spid="8">
                                            <p:txEl>
                                              <p:pRg st="4" end="4"/>
                                            </p:txEl>
                                          </p:spTgt>
                                        </p:tgtEl>
                                      </p:cBhvr>
                                    </p:animEffect>
                                    <p:anim calcmode="lin" valueType="num">
                                      <p:cBhvr>
                                        <p:cTn id="8" dur="1000" fill="hold"/>
                                        <p:tgtEl>
                                          <p:spTgt spid="8">
                                            <p:txEl>
                                              <p:pRg st="4" end="4"/>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spcBef>
                <a:spcPts val="600"/>
              </a:spcBef>
              <a:buClr>
                <a:srgbClr val="0B61FF"/>
              </a:buClr>
              <a:buSzPct val="80000"/>
            </a:pPr>
            <a:r>
              <a:rPr lang="en-US" altLang="zh-CN" sz="2000" b="1" dirty="0">
                <a:effectLst/>
                <a:latin typeface="Cambria Math" panose="02040503050406030204" pitchFamily="18" charset="0"/>
                <a:ea typeface="Cambria Math" panose="02040503050406030204" pitchFamily="18" charset="0"/>
                <a:cs typeface="Times New Roman" panose="02020603050405020304" pitchFamily="18" charset="0"/>
              </a:rPr>
              <a:t>                 </a:t>
            </a:r>
            <a:r>
              <a:rPr lang="en-US" altLang="zh-CN" sz="2000" b="1" dirty="0">
                <a:solidFill>
                  <a:schemeClr val="bg1"/>
                </a:solidFill>
                <a:latin typeface="Trebuchet MS" panose="020B0603020202020204" pitchFamily="34" charset="0"/>
              </a:rPr>
              <a:t>3.1.4</a:t>
            </a:r>
            <a:r>
              <a:rPr lang="en-US" altLang="zh-CN" sz="2000" b="1" dirty="0">
                <a:solidFill>
                  <a:srgbClr val="0B61FF"/>
                </a:solidFill>
                <a:latin typeface="Trebuchet MS" panose="020B0603020202020204" pitchFamily="34" charset="0"/>
              </a:rPr>
              <a:t> </a:t>
            </a:r>
            <a:r>
              <a:rPr lang="en-US" altLang="zh-CN" sz="2000" b="1" dirty="0">
                <a:solidFill>
                  <a:schemeClr val="bg1"/>
                </a:solidFill>
                <a:latin typeface="Trebuchet MS" panose="020B0603020202020204" pitchFamily="34" charset="0"/>
              </a:rPr>
              <a:t>First-Order Logic Formulas and Classification</a:t>
            </a:r>
          </a:p>
          <a:p>
            <a:pPr>
              <a:spcBef>
                <a:spcPts val="600"/>
              </a:spcBef>
              <a:buClr>
                <a:srgbClr val="0B61FF"/>
              </a:buClr>
              <a:buSzPct val="80000"/>
            </a:pPr>
            <a:r>
              <a:rPr lang="en-US" altLang="zh-CN" sz="1600" dirty="0">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2400" b="1" dirty="0">
                <a:latin typeface="Trebuchet MS" panose="020B0603020202020204" pitchFamily="34" charset="0"/>
              </a:rPr>
              <a:t>Interpretation, assignment, and quantification of formulas</a:t>
            </a:r>
            <a:endParaRPr lang="zh-CN" altLang="en-US" sz="2400" b="1" dirty="0">
              <a:solidFill>
                <a:schemeClr val="bg1"/>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0124" y="830491"/>
            <a:ext cx="9602561" cy="528455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lnSpc>
                <a:spcPct val="120000"/>
              </a:lnSpc>
              <a:buClr>
                <a:srgbClr val="0B61FF"/>
              </a:buClr>
              <a:buSzPct val="80000"/>
              <a:buFont typeface="Wingdings" panose="05000000000000000000" pitchFamily="2" charset="2"/>
              <a:buChar char="n"/>
            </a:pPr>
            <a:r>
              <a:rPr lang="en-US" sz="2400" b="0" i="0" dirty="0">
                <a:solidFill>
                  <a:srgbClr val="0C0D0E"/>
                </a:solidFill>
                <a:effectLst/>
                <a:latin typeface="Trebuchet MS" panose="020B0603020202020204" pitchFamily="34" charset="0"/>
              </a:rPr>
              <a:t>A formula is merely a framework of logical expressions. </a:t>
            </a:r>
            <a:r>
              <a:rPr lang="en-US" sz="2400" b="1" i="0" dirty="0">
                <a:solidFill>
                  <a:srgbClr val="0C0D0E"/>
                </a:solidFill>
                <a:effectLst/>
                <a:latin typeface="Trebuchet MS" panose="020B0603020202020204" pitchFamily="34" charset="0"/>
              </a:rPr>
              <a:t>To evaluate its truth value</a:t>
            </a:r>
            <a:r>
              <a:rPr lang="en-US" sz="2400" b="0" i="0" dirty="0">
                <a:solidFill>
                  <a:srgbClr val="0C0D0E"/>
                </a:solidFill>
                <a:effectLst/>
                <a:latin typeface="Trebuchet MS" panose="020B0603020202020204" pitchFamily="34" charset="0"/>
              </a:rPr>
              <a:t>, the following tasks must be completed:</a:t>
            </a:r>
          </a:p>
          <a:p>
            <a:pPr marL="631825" indent="-457200" algn="l">
              <a:lnSpc>
                <a:spcPct val="120000"/>
              </a:lnSpc>
              <a:buNone/>
            </a:pPr>
            <a:r>
              <a:rPr lang="en-US" altLang="zh-CN" sz="2400" b="1" dirty="0">
                <a:solidFill>
                  <a:srgbClr val="0B61FF"/>
                </a:solidFill>
                <a:latin typeface="Trebuchet MS" panose="020B0603020202020204" pitchFamily="34" charset="0"/>
              </a:rPr>
              <a:t>(1) </a:t>
            </a:r>
            <a:r>
              <a:rPr lang="en-US" sz="2400" b="1" i="0" dirty="0">
                <a:solidFill>
                  <a:srgbClr val="0C0D0E"/>
                </a:solidFill>
                <a:effectLst/>
                <a:latin typeface="Trebuchet MS" panose="020B0603020202020204" pitchFamily="34" charset="0"/>
              </a:rPr>
              <a:t>Interpretation</a:t>
            </a:r>
            <a:r>
              <a:rPr lang="en-US" sz="2400" b="0" i="0" dirty="0">
                <a:solidFill>
                  <a:srgbClr val="0C0D0E"/>
                </a:solidFill>
                <a:effectLst/>
                <a:latin typeface="Trebuchet MS" panose="020B0603020202020204" pitchFamily="34" charset="0"/>
              </a:rPr>
              <a:t>: Assign specific (semantic) </a:t>
            </a:r>
            <a:r>
              <a:rPr lang="en-US" sz="2400" dirty="0">
                <a:solidFill>
                  <a:srgbClr val="0C0D0E"/>
                </a:solidFill>
                <a:latin typeface="Trebuchet MS" panose="020B0603020202020204" pitchFamily="34" charset="0"/>
              </a:rPr>
              <a:t>meaning t</a:t>
            </a:r>
            <a:r>
              <a:rPr lang="en-US" sz="2400" b="0" i="0" dirty="0">
                <a:solidFill>
                  <a:srgbClr val="0C0D0E"/>
                </a:solidFill>
                <a:effectLst/>
                <a:latin typeface="Trebuchet MS" panose="020B0603020202020204" pitchFamily="34" charset="0"/>
              </a:rPr>
              <a:t>o this framework.</a:t>
            </a:r>
          </a:p>
          <a:p>
            <a:pPr marL="631825" indent="-457200" algn="l">
              <a:lnSpc>
                <a:spcPct val="120000"/>
              </a:lnSpc>
              <a:buNone/>
            </a:pPr>
            <a:r>
              <a:rPr lang="en-US" altLang="zh-CN" sz="2400" b="1" dirty="0">
                <a:solidFill>
                  <a:srgbClr val="0B61FF"/>
                </a:solidFill>
                <a:latin typeface="Trebuchet MS" panose="020B0603020202020204" pitchFamily="34" charset="0"/>
              </a:rPr>
              <a:t>(2) </a:t>
            </a:r>
            <a:r>
              <a:rPr lang="en-US" sz="2400" b="1" i="0" dirty="0">
                <a:solidFill>
                  <a:srgbClr val="0C0D0E"/>
                </a:solidFill>
                <a:effectLst/>
                <a:latin typeface="Trebuchet MS" panose="020B0603020202020204" pitchFamily="34" charset="0"/>
              </a:rPr>
              <a:t>Assignment</a:t>
            </a:r>
            <a:r>
              <a:rPr lang="en-US" sz="2400" b="0" i="0" dirty="0">
                <a:solidFill>
                  <a:srgbClr val="0C0D0E"/>
                </a:solidFill>
                <a:effectLst/>
                <a:latin typeface="Trebuchet MS" panose="020B0603020202020204" pitchFamily="34" charset="0"/>
              </a:rPr>
              <a:t>: Under a given interpretation, </a:t>
            </a:r>
            <a:r>
              <a:rPr lang="en-US" sz="2400" i="0" dirty="0">
                <a:solidFill>
                  <a:srgbClr val="0C0D0E"/>
                </a:solidFill>
                <a:effectLst/>
                <a:latin typeface="Trebuchet MS" panose="020B0603020202020204" pitchFamily="34" charset="0"/>
              </a:rPr>
              <a:t>assign values </a:t>
            </a:r>
            <a:r>
              <a:rPr lang="en-US" sz="2400" b="0" i="0" dirty="0">
                <a:solidFill>
                  <a:srgbClr val="0C0D0E"/>
                </a:solidFill>
                <a:effectLst/>
                <a:latin typeface="Trebuchet MS" panose="020B0603020202020204" pitchFamily="34" charset="0"/>
              </a:rPr>
              <a:t>to the free variables in the formula.</a:t>
            </a:r>
          </a:p>
          <a:p>
            <a:pPr marL="631825" indent="-457200" algn="l">
              <a:lnSpc>
                <a:spcPct val="120000"/>
              </a:lnSpc>
              <a:buNone/>
            </a:pPr>
            <a:r>
              <a:rPr lang="en-US" altLang="zh-CN" sz="2400" b="1" dirty="0">
                <a:solidFill>
                  <a:srgbClr val="0B61FF"/>
                </a:solidFill>
                <a:latin typeface="Trebuchet MS" panose="020B0603020202020204" pitchFamily="34" charset="0"/>
              </a:rPr>
              <a:t>(3) </a:t>
            </a:r>
            <a:r>
              <a:rPr lang="en-US" sz="2400" b="1" i="0" dirty="0">
                <a:solidFill>
                  <a:srgbClr val="0C0D0E"/>
                </a:solidFill>
                <a:effectLst/>
                <a:latin typeface="Trebuchet MS" panose="020B0603020202020204" pitchFamily="34" charset="0"/>
              </a:rPr>
              <a:t>Quantification</a:t>
            </a:r>
            <a:r>
              <a:rPr lang="en-US" sz="2400" b="0" i="0" dirty="0">
                <a:solidFill>
                  <a:srgbClr val="0C0D0E"/>
                </a:solidFill>
                <a:effectLst/>
                <a:latin typeface="Trebuchet MS" panose="020B0603020202020204" pitchFamily="34" charset="0"/>
              </a:rPr>
              <a:t>: Eliminate the free variables so that the truth value of the formula no longer depends on specific assignments but is determined by the overall situation of all possible assignments.</a:t>
            </a:r>
          </a:p>
        </p:txBody>
      </p:sp>
    </p:spTree>
    <p:extLst>
      <p:ext uri="{BB962C8B-B14F-4D97-AF65-F5344CB8AC3E}">
        <p14:creationId xmlns:p14="http://schemas.microsoft.com/office/powerpoint/2010/main" val="322145803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2" end="2"/>
                                            </p:txEl>
                                          </p:spTgt>
                                        </p:tgtEl>
                                        <p:attrNameLst>
                                          <p:attrName>style.visibility</p:attrName>
                                        </p:attrNameLst>
                                      </p:cBhvr>
                                      <p:to>
                                        <p:strVal val="visible"/>
                                      </p:to>
                                    </p:set>
                                    <p:animEffect transition="in" filter="fade">
                                      <p:cBhvr>
                                        <p:cTn id="7" dur="1000"/>
                                        <p:tgtEl>
                                          <p:spTgt spid="8">
                                            <p:txEl>
                                              <p:pRg st="2" end="2"/>
                                            </p:txEl>
                                          </p:spTgt>
                                        </p:tgtEl>
                                      </p:cBhvr>
                                    </p:animEffect>
                                    <p:anim calcmode="lin" valueType="num">
                                      <p:cBhvr>
                                        <p:cTn id="8"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8">
                                            <p:txEl>
                                              <p:pRg st="3" end="3"/>
                                            </p:txEl>
                                          </p:spTgt>
                                        </p:tgtEl>
                                        <p:attrNameLst>
                                          <p:attrName>style.visibility</p:attrName>
                                        </p:attrNameLst>
                                      </p:cBhvr>
                                      <p:to>
                                        <p:strVal val="visible"/>
                                      </p:to>
                                    </p:set>
                                    <p:animEffect transition="in" filter="fade">
                                      <p:cBhvr>
                                        <p:cTn id="14" dur="1000"/>
                                        <p:tgtEl>
                                          <p:spTgt spid="8">
                                            <p:txEl>
                                              <p:pRg st="3" end="3"/>
                                            </p:txEl>
                                          </p:spTgt>
                                        </p:tgtEl>
                                      </p:cBhvr>
                                    </p:animEffect>
                                    <p:anim calcmode="lin" valueType="num">
                                      <p:cBhvr>
                                        <p:cTn id="15"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16" dur="1000" fill="hold"/>
                                        <p:tgtEl>
                                          <p:spTgt spid="8">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spcBef>
                <a:spcPts val="600"/>
              </a:spcBef>
              <a:buClr>
                <a:srgbClr val="0B61FF"/>
              </a:buClr>
              <a:buSzPct val="80000"/>
            </a:pPr>
            <a:r>
              <a:rPr lang="en-US" altLang="zh-CN" sz="2000" b="1" dirty="0">
                <a:effectLst/>
                <a:latin typeface="Cambria Math" panose="02040503050406030204" pitchFamily="18" charset="0"/>
                <a:ea typeface="Cambria Math" panose="02040503050406030204" pitchFamily="18" charset="0"/>
                <a:cs typeface="Times New Roman" panose="02020603050405020304" pitchFamily="18" charset="0"/>
              </a:rPr>
              <a:t>                 </a:t>
            </a:r>
            <a:r>
              <a:rPr lang="en-US" altLang="zh-CN" sz="2000" b="1" dirty="0">
                <a:solidFill>
                  <a:schemeClr val="bg1"/>
                </a:solidFill>
                <a:latin typeface="Trebuchet MS" panose="020B0603020202020204" pitchFamily="34" charset="0"/>
              </a:rPr>
              <a:t>3.1.4</a:t>
            </a:r>
            <a:r>
              <a:rPr lang="en-US" altLang="zh-CN" sz="2000" b="1" dirty="0">
                <a:solidFill>
                  <a:srgbClr val="0B61FF"/>
                </a:solidFill>
                <a:latin typeface="Trebuchet MS" panose="020B0603020202020204" pitchFamily="34" charset="0"/>
              </a:rPr>
              <a:t> </a:t>
            </a:r>
            <a:r>
              <a:rPr lang="en-US" altLang="zh-CN" sz="2000" b="1" dirty="0">
                <a:solidFill>
                  <a:schemeClr val="bg1"/>
                </a:solidFill>
                <a:latin typeface="Trebuchet MS" panose="020B0603020202020204" pitchFamily="34" charset="0"/>
              </a:rPr>
              <a:t>First-Order Logic Formulas and Classification</a:t>
            </a:r>
          </a:p>
          <a:p>
            <a:pPr>
              <a:spcBef>
                <a:spcPts val="600"/>
              </a:spcBef>
              <a:buClr>
                <a:srgbClr val="0B61FF"/>
              </a:buClr>
              <a:buSzPct val="80000"/>
            </a:pPr>
            <a:r>
              <a:rPr lang="en-US" altLang="zh-CN" sz="1400" dirty="0">
                <a:latin typeface="Trebuchet MS" panose="020B0603020202020204" pitchFamily="34" charset="0"/>
                <a:ea typeface="Cambria Math" panose="02040503050406030204" pitchFamily="18" charset="0"/>
                <a:cs typeface="Times New Roman" panose="02020603050405020304" pitchFamily="18" charset="0"/>
              </a:rPr>
              <a:t>                  </a:t>
            </a:r>
            <a:r>
              <a:rPr lang="en-US" altLang="zh-CN" sz="2000"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2400" b="1" dirty="0">
                <a:latin typeface="Trebuchet MS" panose="020B0603020202020204" pitchFamily="34" charset="0"/>
              </a:rPr>
              <a:t>Interpretation, assignment, and quantification of formulas(</a:t>
            </a:r>
            <a:r>
              <a:rPr lang="en-US" altLang="zh-CN" sz="2400" b="1" dirty="0">
                <a:solidFill>
                  <a:schemeClr val="accent2"/>
                </a:solidFill>
                <a:latin typeface="Trebuchet MS" panose="020B0603020202020204" pitchFamily="34" charset="0"/>
              </a:rPr>
              <a:t>e.g.</a:t>
            </a:r>
            <a:r>
              <a:rPr lang="en-US" altLang="zh-CN" sz="2400" b="1" dirty="0">
                <a:latin typeface="Trebuchet MS" panose="020B0603020202020204" pitchFamily="34" charset="0"/>
              </a:rPr>
              <a:t>)</a:t>
            </a:r>
            <a:endParaRPr lang="zh-CN" altLang="en-US" sz="2400" b="1" dirty="0">
              <a:solidFill>
                <a:schemeClr val="bg1"/>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522512" y="830491"/>
            <a:ext cx="11168742" cy="578802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lnSpc>
                <a:spcPct val="110000"/>
              </a:lnSpc>
              <a:spcBef>
                <a:spcPts val="300"/>
              </a:spcBef>
              <a:buNone/>
            </a:pPr>
            <a:r>
              <a:rPr lang="en-US" sz="2400" b="0" i="0" dirty="0">
                <a:solidFill>
                  <a:srgbClr val="0C0D0E"/>
                </a:solidFill>
                <a:effectLst/>
                <a:latin typeface="Trebuchet MS" panose="020B0603020202020204" pitchFamily="34" charset="0"/>
              </a:rPr>
              <a:t>   Example: Formula </a:t>
            </a:r>
            <a:r>
              <a:rPr lang="en-US" sz="2400" b="1" i="0" dirty="0">
                <a:solidFill>
                  <a:srgbClr val="0C0D0E"/>
                </a:solidFill>
                <a:effectLst/>
                <a:latin typeface="Trebuchet MS" panose="020B0603020202020204" pitchFamily="34" charset="0"/>
              </a:rPr>
              <a:t>∀</a:t>
            </a:r>
            <a:r>
              <a:rPr lang="en-US" sz="2400" b="1" i="1" dirty="0">
                <a:solidFill>
                  <a:srgbClr val="0C0D0E"/>
                </a:solidFill>
                <a:effectLst/>
                <a:latin typeface="Trebuchet MS" panose="020B0603020202020204" pitchFamily="34" charset="0"/>
              </a:rPr>
              <a:t>x</a:t>
            </a:r>
            <a:r>
              <a:rPr lang="en-US" sz="2400" b="1" i="0" dirty="0">
                <a:solidFill>
                  <a:srgbClr val="0C0D0E"/>
                </a:solidFill>
                <a:effectLst/>
                <a:latin typeface="Trebuchet MS" panose="020B0603020202020204" pitchFamily="34" charset="0"/>
              </a:rPr>
              <a:t>(</a:t>
            </a:r>
            <a:r>
              <a:rPr lang="en-US" sz="2400" b="1" i="1" dirty="0">
                <a:solidFill>
                  <a:srgbClr val="0C0D0E"/>
                </a:solidFill>
                <a:effectLst/>
                <a:latin typeface="Trebuchet MS" panose="020B0603020202020204" pitchFamily="34" charset="0"/>
              </a:rPr>
              <a:t>F</a:t>
            </a:r>
            <a:r>
              <a:rPr lang="en-US" sz="2400" b="1" i="0" dirty="0">
                <a:solidFill>
                  <a:srgbClr val="0C0D0E"/>
                </a:solidFill>
                <a:effectLst/>
                <a:latin typeface="Trebuchet MS" panose="020B0603020202020204" pitchFamily="34" charset="0"/>
              </a:rPr>
              <a:t>(</a:t>
            </a:r>
            <a:r>
              <a:rPr lang="en-US" sz="2400" b="1" i="1" dirty="0">
                <a:solidFill>
                  <a:srgbClr val="0C0D0E"/>
                </a:solidFill>
                <a:effectLst/>
                <a:latin typeface="Trebuchet MS" panose="020B0603020202020204" pitchFamily="34" charset="0"/>
              </a:rPr>
              <a:t>x</a:t>
            </a:r>
            <a:r>
              <a:rPr lang="en-US" sz="2400" b="1" i="0" dirty="0">
                <a:solidFill>
                  <a:srgbClr val="0C0D0E"/>
                </a:solidFill>
                <a:effectLst/>
                <a:latin typeface="Trebuchet MS" panose="020B0603020202020204" pitchFamily="34" charset="0"/>
              </a:rPr>
              <a:t>) → </a:t>
            </a:r>
            <a:r>
              <a:rPr lang="en-US" sz="2400" b="1" i="1" dirty="0">
                <a:solidFill>
                  <a:srgbClr val="0C0D0E"/>
                </a:solidFill>
                <a:effectLst/>
                <a:latin typeface="Trebuchet MS" panose="020B0603020202020204" pitchFamily="34" charset="0"/>
              </a:rPr>
              <a:t>G</a:t>
            </a:r>
            <a:r>
              <a:rPr lang="en-US" sz="2400" b="1" i="0" dirty="0">
                <a:solidFill>
                  <a:srgbClr val="0C0D0E"/>
                </a:solidFill>
                <a:effectLst/>
                <a:latin typeface="Trebuchet MS" panose="020B0603020202020204" pitchFamily="34" charset="0"/>
              </a:rPr>
              <a:t>(</a:t>
            </a:r>
            <a:r>
              <a:rPr lang="en-US" sz="2400" b="1" i="1" dirty="0">
                <a:solidFill>
                  <a:srgbClr val="0C0D0E"/>
                </a:solidFill>
                <a:effectLst/>
                <a:latin typeface="Trebuchet MS" panose="020B0603020202020204" pitchFamily="34" charset="0"/>
              </a:rPr>
              <a:t>x</a:t>
            </a:r>
            <a:r>
              <a:rPr lang="en-US" sz="2400" b="1" i="0" dirty="0">
                <a:solidFill>
                  <a:srgbClr val="0C0D0E"/>
                </a:solidFill>
                <a:effectLst/>
                <a:latin typeface="Trebuchet MS" panose="020B0603020202020204" pitchFamily="34" charset="0"/>
              </a:rPr>
              <a:t>))</a:t>
            </a:r>
          </a:p>
          <a:p>
            <a:pPr indent="42863" algn="l">
              <a:lnSpc>
                <a:spcPct val="110000"/>
              </a:lnSpc>
              <a:spcBef>
                <a:spcPts val="300"/>
              </a:spcBef>
              <a:buClr>
                <a:srgbClr val="0B61FF"/>
              </a:buClr>
              <a:buSzPct val="80000"/>
              <a:buFont typeface="Wingdings" panose="05000000000000000000" pitchFamily="2" charset="2"/>
              <a:buChar char="n"/>
            </a:pPr>
            <a:r>
              <a:rPr lang="en-US" sz="2400" b="1" i="0" dirty="0">
                <a:solidFill>
                  <a:srgbClr val="0C0D0E"/>
                </a:solidFill>
                <a:effectLst/>
                <a:latin typeface="Trebuchet MS" panose="020B0603020202020204" pitchFamily="34" charset="0"/>
              </a:rPr>
              <a:t>Specification1: Domain:</a:t>
            </a:r>
            <a:r>
              <a:rPr lang="en-US" sz="2400" b="0" i="0" dirty="0">
                <a:solidFill>
                  <a:srgbClr val="0C0D0E"/>
                </a:solidFill>
                <a:effectLst/>
                <a:latin typeface="Trebuchet MS" panose="020B0603020202020204" pitchFamily="34" charset="0"/>
              </a:rPr>
              <a:t> All individuals. </a:t>
            </a:r>
            <a:r>
              <a:rPr lang="en-US" sz="2400" b="1" i="1" dirty="0">
                <a:solidFill>
                  <a:srgbClr val="0C0D0E"/>
                </a:solidFill>
                <a:effectLst/>
                <a:latin typeface="Trebuchet MS" panose="020B0603020202020204" pitchFamily="34" charset="0"/>
              </a:rPr>
              <a:t>F</a:t>
            </a:r>
            <a:r>
              <a:rPr lang="en-US" sz="2400" b="1" i="0" dirty="0">
                <a:solidFill>
                  <a:srgbClr val="0C0D0E"/>
                </a:solidFill>
                <a:effectLst/>
                <a:latin typeface="Trebuchet MS" panose="020B0603020202020204" pitchFamily="34" charset="0"/>
              </a:rPr>
              <a:t>(</a:t>
            </a:r>
            <a:r>
              <a:rPr lang="en-US" sz="2400" b="1" i="1" dirty="0">
                <a:solidFill>
                  <a:srgbClr val="0C0D0E"/>
                </a:solidFill>
                <a:effectLst/>
                <a:latin typeface="Trebuchet MS" panose="020B0603020202020204" pitchFamily="34" charset="0"/>
              </a:rPr>
              <a:t>x</a:t>
            </a:r>
            <a:r>
              <a:rPr lang="en-US" sz="2400" b="1" i="0" dirty="0">
                <a:solidFill>
                  <a:srgbClr val="0C0D0E"/>
                </a:solidFill>
                <a:effectLst/>
                <a:latin typeface="Trebuchet MS" panose="020B0603020202020204" pitchFamily="34" charset="0"/>
              </a:rPr>
              <a:t>):</a:t>
            </a:r>
            <a:r>
              <a:rPr lang="en-US" sz="2400" b="0" i="0" dirty="0">
                <a:solidFill>
                  <a:srgbClr val="0C0D0E"/>
                </a:solidFill>
                <a:effectLst/>
                <a:latin typeface="Trebuchet MS" panose="020B0603020202020204" pitchFamily="34" charset="0"/>
              </a:rPr>
              <a:t> </a:t>
            </a:r>
            <a:r>
              <a:rPr lang="en-US" sz="2400" b="1" i="1" dirty="0">
                <a:solidFill>
                  <a:srgbClr val="0C0D0E"/>
                </a:solidFill>
                <a:effectLst/>
                <a:latin typeface="Trebuchet MS" panose="020B0603020202020204" pitchFamily="34" charset="0"/>
              </a:rPr>
              <a:t>x</a:t>
            </a:r>
            <a:r>
              <a:rPr lang="en-US" sz="2400" b="0" i="0" dirty="0">
                <a:solidFill>
                  <a:srgbClr val="0C0D0E"/>
                </a:solidFill>
                <a:effectLst/>
                <a:latin typeface="Trebuchet MS" panose="020B0603020202020204" pitchFamily="34" charset="0"/>
              </a:rPr>
              <a:t> is a person. </a:t>
            </a:r>
            <a:r>
              <a:rPr lang="en-US" sz="2400" b="1" i="1" dirty="0">
                <a:solidFill>
                  <a:srgbClr val="0C0D0E"/>
                </a:solidFill>
                <a:effectLst/>
                <a:latin typeface="Trebuchet MS" panose="020B0603020202020204" pitchFamily="34" charset="0"/>
              </a:rPr>
              <a:t>G</a:t>
            </a:r>
            <a:r>
              <a:rPr lang="en-US" sz="2400" b="1" i="0" dirty="0">
                <a:solidFill>
                  <a:srgbClr val="0C0D0E"/>
                </a:solidFill>
                <a:effectLst/>
                <a:latin typeface="Trebuchet MS" panose="020B0603020202020204" pitchFamily="34" charset="0"/>
              </a:rPr>
              <a:t>(</a:t>
            </a:r>
            <a:r>
              <a:rPr lang="en-US" sz="2400" b="1" i="1" dirty="0">
                <a:solidFill>
                  <a:srgbClr val="0C0D0E"/>
                </a:solidFill>
                <a:effectLst/>
                <a:latin typeface="Trebuchet MS" panose="020B0603020202020204" pitchFamily="34" charset="0"/>
              </a:rPr>
              <a:t>x</a:t>
            </a:r>
            <a:r>
              <a:rPr lang="en-US" sz="2400" b="1" i="0" dirty="0">
                <a:solidFill>
                  <a:srgbClr val="0C0D0E"/>
                </a:solidFill>
                <a:effectLst/>
                <a:latin typeface="Trebuchet MS" panose="020B0603020202020204" pitchFamily="34" charset="0"/>
              </a:rPr>
              <a:t>):</a:t>
            </a:r>
            <a:r>
              <a:rPr lang="en-US" sz="2400" b="0" i="0" dirty="0">
                <a:solidFill>
                  <a:srgbClr val="0C0D0E"/>
                </a:solidFill>
                <a:effectLst/>
                <a:latin typeface="Trebuchet MS" panose="020B0603020202020204" pitchFamily="34" charset="0"/>
              </a:rPr>
              <a:t> </a:t>
            </a:r>
            <a:r>
              <a:rPr lang="en-US" sz="2400" b="1" i="1" dirty="0">
                <a:solidFill>
                  <a:srgbClr val="0C0D0E"/>
                </a:solidFill>
                <a:effectLst/>
                <a:latin typeface="Trebuchet MS" panose="020B0603020202020204" pitchFamily="34" charset="0"/>
              </a:rPr>
              <a:t>x</a:t>
            </a:r>
            <a:r>
              <a:rPr lang="en-US" sz="2400" b="0" i="0" dirty="0">
                <a:solidFill>
                  <a:srgbClr val="0C0D0E"/>
                </a:solidFill>
                <a:effectLst/>
                <a:latin typeface="Trebuchet MS" panose="020B0603020202020204" pitchFamily="34" charset="0"/>
              </a:rPr>
              <a:t> is Asian.</a:t>
            </a:r>
          </a:p>
          <a:p>
            <a:pPr marL="446088" indent="0" algn="l">
              <a:lnSpc>
                <a:spcPct val="110000"/>
              </a:lnSpc>
              <a:spcBef>
                <a:spcPts val="300"/>
              </a:spcBef>
              <a:buNone/>
            </a:pPr>
            <a:r>
              <a:rPr lang="en-US" sz="2400" b="0" i="0" dirty="0">
                <a:solidFill>
                  <a:srgbClr val="0C0D0E"/>
                </a:solidFill>
                <a:effectLst/>
                <a:latin typeface="Trebuchet MS" panose="020B0603020202020204" pitchFamily="34" charset="0"/>
              </a:rPr>
              <a:t>This formula translates to "For all x, if x is a person, then x is Asian." This is a </a:t>
            </a:r>
            <a:r>
              <a:rPr lang="en-US" sz="2400" b="1" i="0" dirty="0">
                <a:solidFill>
                  <a:srgbClr val="0C0D0E"/>
                </a:solidFill>
                <a:effectLst/>
                <a:latin typeface="Trebuchet MS" panose="020B0603020202020204" pitchFamily="34" charset="0"/>
              </a:rPr>
              <a:t>false statement</a:t>
            </a:r>
            <a:r>
              <a:rPr lang="en-US" sz="2400" b="0" i="0" dirty="0">
                <a:solidFill>
                  <a:srgbClr val="0C0D0E"/>
                </a:solidFill>
                <a:effectLst/>
                <a:latin typeface="Trebuchet MS" panose="020B0603020202020204" pitchFamily="34" charset="0"/>
              </a:rPr>
              <a:t> because not all people are Asian.</a:t>
            </a:r>
          </a:p>
          <a:p>
            <a:pPr indent="-53975" algn="l">
              <a:lnSpc>
                <a:spcPct val="110000"/>
              </a:lnSpc>
              <a:spcBef>
                <a:spcPts val="300"/>
              </a:spcBef>
              <a:buClr>
                <a:srgbClr val="0B61FF"/>
              </a:buClr>
              <a:buSzPct val="80000"/>
              <a:buFont typeface="Wingdings" panose="05000000000000000000" pitchFamily="2" charset="2"/>
              <a:buChar char="n"/>
            </a:pPr>
            <a:r>
              <a:rPr lang="en-US" sz="2400" b="1" i="0" dirty="0">
                <a:solidFill>
                  <a:srgbClr val="0C0D0E"/>
                </a:solidFill>
                <a:effectLst/>
                <a:latin typeface="Trebuchet MS" panose="020B0603020202020204" pitchFamily="34" charset="0"/>
              </a:rPr>
              <a:t>Specification 2: Domain:</a:t>
            </a:r>
            <a:r>
              <a:rPr lang="en-US" sz="2400" b="0" i="0" dirty="0">
                <a:solidFill>
                  <a:srgbClr val="0C0D0E"/>
                </a:solidFill>
                <a:effectLst/>
                <a:latin typeface="Trebuchet MS" panose="020B0603020202020204" pitchFamily="34" charset="0"/>
              </a:rPr>
              <a:t> The set of real numbers. </a:t>
            </a:r>
            <a:r>
              <a:rPr lang="en-US" altLang="zh-CN" sz="2400" b="1" i="1" dirty="0">
                <a:solidFill>
                  <a:srgbClr val="0C0D0E"/>
                </a:solidFill>
                <a:effectLst/>
                <a:latin typeface="Trebuchet MS" panose="020B0603020202020204" pitchFamily="34" charset="0"/>
              </a:rPr>
              <a:t>F</a:t>
            </a:r>
            <a:r>
              <a:rPr lang="en-US" altLang="zh-CN" sz="2400" b="1" i="0" dirty="0">
                <a:solidFill>
                  <a:srgbClr val="0C0D0E"/>
                </a:solidFill>
                <a:effectLst/>
                <a:latin typeface="Trebuchet MS" panose="020B0603020202020204" pitchFamily="34" charset="0"/>
              </a:rPr>
              <a:t>(</a:t>
            </a:r>
            <a:r>
              <a:rPr lang="en-US" altLang="zh-CN" sz="2400" b="1" i="1" dirty="0">
                <a:solidFill>
                  <a:srgbClr val="0C0D0E"/>
                </a:solidFill>
                <a:effectLst/>
                <a:latin typeface="Trebuchet MS" panose="020B0603020202020204" pitchFamily="34" charset="0"/>
              </a:rPr>
              <a:t>x</a:t>
            </a:r>
            <a:r>
              <a:rPr lang="en-US" altLang="zh-CN" sz="2400" b="1" i="0" dirty="0">
                <a:solidFill>
                  <a:srgbClr val="0C0D0E"/>
                </a:solidFill>
                <a:effectLst/>
                <a:latin typeface="Trebuchet MS" panose="020B0603020202020204" pitchFamily="34" charset="0"/>
              </a:rPr>
              <a:t>):</a:t>
            </a:r>
            <a:r>
              <a:rPr lang="en-US" altLang="zh-CN" sz="2400" b="0" i="0" dirty="0">
                <a:solidFill>
                  <a:srgbClr val="0C0D0E"/>
                </a:solidFill>
                <a:effectLst/>
                <a:latin typeface="Trebuchet MS" panose="020B0603020202020204" pitchFamily="34" charset="0"/>
              </a:rPr>
              <a:t> </a:t>
            </a:r>
            <a:r>
              <a:rPr lang="en-US" altLang="zh-CN" sz="2400" b="1" i="1" dirty="0">
                <a:solidFill>
                  <a:srgbClr val="0C0D0E"/>
                </a:solidFill>
                <a:effectLst/>
                <a:latin typeface="Trebuchet MS" panose="020B0603020202020204" pitchFamily="34" charset="0"/>
              </a:rPr>
              <a:t>x</a:t>
            </a:r>
            <a:r>
              <a:rPr lang="en-US" altLang="zh-CN" sz="2400" b="1" i="0" dirty="0">
                <a:solidFill>
                  <a:srgbClr val="0C0D0E"/>
                </a:solidFill>
                <a:effectLst/>
                <a:latin typeface="Trebuchet MS" panose="020B0603020202020204" pitchFamily="34" charset="0"/>
              </a:rPr>
              <a:t> </a:t>
            </a:r>
            <a:r>
              <a:rPr lang="en-US" sz="2400" b="1" i="0" dirty="0">
                <a:solidFill>
                  <a:srgbClr val="0C0D0E"/>
                </a:solidFill>
                <a:effectLst/>
                <a:latin typeface="Trebuchet MS" panose="020B0603020202020204" pitchFamily="34" charset="0"/>
              </a:rPr>
              <a:t>&gt; 10</a:t>
            </a:r>
            <a:r>
              <a:rPr lang="en-US" sz="2400" b="0" i="0" dirty="0">
                <a:solidFill>
                  <a:srgbClr val="0C0D0E"/>
                </a:solidFill>
                <a:effectLst/>
                <a:latin typeface="Trebuchet MS" panose="020B0603020202020204" pitchFamily="34" charset="0"/>
              </a:rPr>
              <a:t>. </a:t>
            </a:r>
            <a:r>
              <a:rPr lang="en-US" altLang="zh-CN" sz="2400" b="1" i="1" dirty="0">
                <a:solidFill>
                  <a:srgbClr val="0C0D0E"/>
                </a:solidFill>
                <a:effectLst/>
                <a:latin typeface="Trebuchet MS" panose="020B0603020202020204" pitchFamily="34" charset="0"/>
              </a:rPr>
              <a:t>G</a:t>
            </a:r>
            <a:r>
              <a:rPr lang="en-US" altLang="zh-CN" sz="2400" b="1" i="0" dirty="0">
                <a:solidFill>
                  <a:srgbClr val="0C0D0E"/>
                </a:solidFill>
                <a:effectLst/>
                <a:latin typeface="Trebuchet MS" panose="020B0603020202020204" pitchFamily="34" charset="0"/>
              </a:rPr>
              <a:t>(</a:t>
            </a:r>
            <a:r>
              <a:rPr lang="en-US" altLang="zh-CN" sz="2400" b="1" i="1" dirty="0">
                <a:solidFill>
                  <a:srgbClr val="0C0D0E"/>
                </a:solidFill>
                <a:effectLst/>
                <a:latin typeface="Trebuchet MS" panose="020B0603020202020204" pitchFamily="34" charset="0"/>
              </a:rPr>
              <a:t>x</a:t>
            </a:r>
            <a:r>
              <a:rPr lang="en-US" altLang="zh-CN" sz="2400" b="1" i="0" dirty="0">
                <a:solidFill>
                  <a:srgbClr val="0C0D0E"/>
                </a:solidFill>
                <a:effectLst/>
                <a:latin typeface="Trebuchet MS" panose="020B0603020202020204" pitchFamily="34" charset="0"/>
              </a:rPr>
              <a:t>):</a:t>
            </a:r>
            <a:r>
              <a:rPr lang="en-US" altLang="zh-CN" sz="2400" b="0" i="0" dirty="0">
                <a:solidFill>
                  <a:srgbClr val="0C0D0E"/>
                </a:solidFill>
                <a:effectLst/>
                <a:latin typeface="Trebuchet MS" panose="020B0603020202020204" pitchFamily="34" charset="0"/>
              </a:rPr>
              <a:t> </a:t>
            </a:r>
            <a:r>
              <a:rPr lang="en-US" altLang="zh-CN" sz="2400" b="1" i="1" dirty="0">
                <a:solidFill>
                  <a:srgbClr val="0C0D0E"/>
                </a:solidFill>
                <a:effectLst/>
                <a:latin typeface="Trebuchet MS" panose="020B0603020202020204" pitchFamily="34" charset="0"/>
              </a:rPr>
              <a:t>x </a:t>
            </a:r>
            <a:r>
              <a:rPr lang="en-US" sz="2400" b="0" i="0" dirty="0">
                <a:solidFill>
                  <a:srgbClr val="0C0D0E"/>
                </a:solidFill>
                <a:effectLst/>
                <a:latin typeface="Trebuchet MS" panose="020B0603020202020204" pitchFamily="34" charset="0"/>
              </a:rPr>
              <a:t>&gt; 0.</a:t>
            </a:r>
          </a:p>
          <a:p>
            <a:pPr marL="446088" indent="0" algn="l">
              <a:lnSpc>
                <a:spcPct val="110000"/>
              </a:lnSpc>
              <a:spcBef>
                <a:spcPts val="300"/>
              </a:spcBef>
              <a:buNone/>
            </a:pPr>
            <a:r>
              <a:rPr lang="en-US" sz="2400" b="0" i="0" dirty="0">
                <a:solidFill>
                  <a:srgbClr val="0C0D0E"/>
                </a:solidFill>
                <a:effectLst/>
                <a:latin typeface="Trebuchet MS" panose="020B0603020202020204" pitchFamily="34" charset="0"/>
              </a:rPr>
              <a:t>This formula translates to "For all x, if x &gt; 10, then x &gt; 0." This is a </a:t>
            </a:r>
            <a:r>
              <a:rPr lang="en-US" sz="2400" b="1" i="0" dirty="0">
                <a:solidFill>
                  <a:srgbClr val="0C0D0E"/>
                </a:solidFill>
                <a:effectLst/>
                <a:latin typeface="Trebuchet MS" panose="020B0603020202020204" pitchFamily="34" charset="0"/>
              </a:rPr>
              <a:t>true statement</a:t>
            </a:r>
            <a:r>
              <a:rPr lang="en-US" sz="2400" b="0" i="0" dirty="0">
                <a:solidFill>
                  <a:srgbClr val="0C0D0E"/>
                </a:solidFill>
                <a:effectLst/>
                <a:latin typeface="Trebuchet MS" panose="020B0603020202020204" pitchFamily="34" charset="0"/>
              </a:rPr>
              <a:t> because any number greater than 10 is also greater than 0.</a:t>
            </a:r>
          </a:p>
          <a:p>
            <a:pPr marL="0" indent="0" algn="l">
              <a:lnSpc>
                <a:spcPct val="110000"/>
              </a:lnSpc>
              <a:spcBef>
                <a:spcPts val="300"/>
              </a:spcBef>
              <a:buNone/>
            </a:pPr>
            <a:r>
              <a:rPr lang="en-US" sz="2400" b="1" i="0" dirty="0">
                <a:solidFill>
                  <a:srgbClr val="0C0D0E"/>
                </a:solidFill>
                <a:effectLst/>
                <a:latin typeface="Trebuchet MS" panose="020B0603020202020204" pitchFamily="34" charset="0"/>
              </a:rPr>
              <a:t>     </a:t>
            </a:r>
            <a:r>
              <a:rPr lang="en-US" sz="2400" i="0" dirty="0">
                <a:solidFill>
                  <a:srgbClr val="0C0D0E"/>
                </a:solidFill>
                <a:effectLst/>
                <a:latin typeface="Trebuchet MS" panose="020B0603020202020204" pitchFamily="34" charset="0"/>
              </a:rPr>
              <a:t>Example: Formula </a:t>
            </a:r>
            <a:r>
              <a:rPr lang="en-US" sz="2400" b="1" i="0" dirty="0">
                <a:solidFill>
                  <a:srgbClr val="0C0D0E"/>
                </a:solidFill>
                <a:effectLst/>
                <a:latin typeface="Trebuchet MS" panose="020B0603020202020204" pitchFamily="34" charset="0"/>
              </a:rPr>
              <a:t>∃</a:t>
            </a:r>
            <a:r>
              <a:rPr lang="en-US" sz="2400" b="1" i="1" dirty="0">
                <a:solidFill>
                  <a:srgbClr val="0C0D0E"/>
                </a:solidFill>
                <a:effectLst/>
                <a:latin typeface="Trebuchet MS" panose="020B0603020202020204" pitchFamily="34" charset="0"/>
              </a:rPr>
              <a:t>xF</a:t>
            </a:r>
            <a:r>
              <a:rPr lang="en-US" sz="2400" b="1" i="0" dirty="0">
                <a:solidFill>
                  <a:srgbClr val="0C0D0E"/>
                </a:solidFill>
                <a:effectLst/>
                <a:latin typeface="Trebuchet MS" panose="020B0603020202020204" pitchFamily="34" charset="0"/>
              </a:rPr>
              <a:t>(</a:t>
            </a:r>
            <a:r>
              <a:rPr lang="en-US" sz="2400" b="1" i="1" dirty="0">
                <a:solidFill>
                  <a:srgbClr val="0C0D0E"/>
                </a:solidFill>
                <a:effectLst/>
                <a:latin typeface="Trebuchet MS" panose="020B0603020202020204" pitchFamily="34" charset="0"/>
              </a:rPr>
              <a:t>x</a:t>
            </a:r>
            <a:r>
              <a:rPr lang="en-US" sz="2400" b="1" i="0" dirty="0">
                <a:solidFill>
                  <a:srgbClr val="0C0D0E"/>
                </a:solidFill>
                <a:effectLst/>
                <a:latin typeface="Trebuchet MS" panose="020B0603020202020204" pitchFamily="34" charset="0"/>
              </a:rPr>
              <a:t>,</a:t>
            </a:r>
            <a:r>
              <a:rPr lang="en-US" sz="2400" b="1" i="1" dirty="0">
                <a:solidFill>
                  <a:srgbClr val="0C0D0E"/>
                </a:solidFill>
                <a:effectLst/>
                <a:latin typeface="Trebuchet MS" panose="020B0603020202020204" pitchFamily="34" charset="0"/>
              </a:rPr>
              <a:t>y</a:t>
            </a:r>
            <a:r>
              <a:rPr lang="en-US" sz="2400" b="1" i="0" dirty="0">
                <a:solidFill>
                  <a:srgbClr val="0C0D0E"/>
                </a:solidFill>
                <a:effectLst/>
                <a:latin typeface="Trebuchet MS" panose="020B0603020202020204" pitchFamily="34" charset="0"/>
              </a:rPr>
              <a:t>)</a:t>
            </a:r>
            <a:endParaRPr lang="en-US" sz="2400" b="0" i="0" dirty="0">
              <a:solidFill>
                <a:srgbClr val="0C0D0E"/>
              </a:solidFill>
              <a:effectLst/>
              <a:latin typeface="Trebuchet MS" panose="020B0603020202020204" pitchFamily="34" charset="0"/>
            </a:endParaRPr>
          </a:p>
          <a:p>
            <a:pPr indent="-53975" algn="l">
              <a:lnSpc>
                <a:spcPct val="110000"/>
              </a:lnSpc>
              <a:spcBef>
                <a:spcPts val="300"/>
              </a:spcBef>
              <a:buClr>
                <a:srgbClr val="0B61FF"/>
              </a:buClr>
              <a:buSzPct val="80000"/>
              <a:buFont typeface="Wingdings" panose="05000000000000000000" pitchFamily="2" charset="2"/>
              <a:buChar char="n"/>
            </a:pPr>
            <a:r>
              <a:rPr lang="en-US" sz="2400" b="1" i="0" dirty="0">
                <a:solidFill>
                  <a:srgbClr val="0C0D0E"/>
                </a:solidFill>
                <a:effectLst/>
                <a:latin typeface="Trebuchet MS" panose="020B0603020202020204" pitchFamily="34" charset="0"/>
              </a:rPr>
              <a:t>Specification:Domain:</a:t>
            </a:r>
            <a:r>
              <a:rPr lang="en-US" sz="2400" b="0" i="0" dirty="0">
                <a:solidFill>
                  <a:srgbClr val="0C0D0E"/>
                </a:solidFill>
                <a:effectLst/>
                <a:latin typeface="Trebuchet MS" panose="020B0603020202020204" pitchFamily="34" charset="0"/>
              </a:rPr>
              <a:t> The set of natural numbers.</a:t>
            </a:r>
            <a:r>
              <a:rPr lang="en-US" sz="2400" b="0" i="1" dirty="0">
                <a:solidFill>
                  <a:srgbClr val="0C0D0E"/>
                </a:solidFill>
                <a:effectLst/>
                <a:latin typeface="Trebuchet MS" panose="020B0603020202020204" pitchFamily="34" charset="0"/>
              </a:rPr>
              <a:t> </a:t>
            </a:r>
            <a:r>
              <a:rPr lang="en-US" sz="2400" b="1" i="1" dirty="0">
                <a:solidFill>
                  <a:srgbClr val="0C0D0E"/>
                </a:solidFill>
                <a:effectLst/>
                <a:latin typeface="Trebuchet MS" panose="020B0603020202020204" pitchFamily="34" charset="0"/>
              </a:rPr>
              <a:t>F</a:t>
            </a:r>
            <a:r>
              <a:rPr lang="en-US" sz="2400" b="1" i="0" dirty="0">
                <a:solidFill>
                  <a:srgbClr val="0C0D0E"/>
                </a:solidFill>
                <a:effectLst/>
                <a:latin typeface="Trebuchet MS" panose="020B0603020202020204" pitchFamily="34" charset="0"/>
              </a:rPr>
              <a:t>(</a:t>
            </a:r>
            <a:r>
              <a:rPr lang="en-US" sz="2400" b="1" i="1" dirty="0">
                <a:solidFill>
                  <a:srgbClr val="0C0D0E"/>
                </a:solidFill>
                <a:effectLst/>
                <a:latin typeface="Trebuchet MS" panose="020B0603020202020204" pitchFamily="34" charset="0"/>
              </a:rPr>
              <a:t>x</a:t>
            </a:r>
            <a:r>
              <a:rPr lang="en-US" sz="2400" b="1" i="0" dirty="0">
                <a:solidFill>
                  <a:srgbClr val="0C0D0E"/>
                </a:solidFill>
                <a:effectLst/>
                <a:latin typeface="Trebuchet MS" panose="020B0603020202020204" pitchFamily="34" charset="0"/>
              </a:rPr>
              <a:t>,</a:t>
            </a:r>
            <a:r>
              <a:rPr lang="en-US" sz="2400" b="1" i="1" dirty="0">
                <a:solidFill>
                  <a:srgbClr val="0C0D0E"/>
                </a:solidFill>
                <a:effectLst/>
                <a:latin typeface="Trebuchet MS" panose="020B0603020202020204" pitchFamily="34" charset="0"/>
              </a:rPr>
              <a:t>y</a:t>
            </a:r>
            <a:r>
              <a:rPr lang="en-US" sz="2400" b="1" i="0" dirty="0">
                <a:solidFill>
                  <a:srgbClr val="0C0D0E"/>
                </a:solidFill>
                <a:effectLst/>
                <a:latin typeface="Trebuchet MS" panose="020B0603020202020204" pitchFamily="34" charset="0"/>
              </a:rPr>
              <a:t>):</a:t>
            </a:r>
            <a:r>
              <a:rPr lang="en-US" sz="2400" b="0" i="0" dirty="0">
                <a:solidFill>
                  <a:srgbClr val="0C0D0E"/>
                </a:solidFill>
                <a:effectLst/>
                <a:latin typeface="Trebuchet MS" panose="020B0603020202020204" pitchFamily="34" charset="0"/>
              </a:rPr>
              <a:t> </a:t>
            </a:r>
            <a:r>
              <a:rPr lang="en-US" sz="2400" b="0" i="1" dirty="0">
                <a:solidFill>
                  <a:srgbClr val="0C0D0E"/>
                </a:solidFill>
                <a:effectLst/>
                <a:latin typeface="Trebuchet MS" panose="020B0603020202020204" pitchFamily="34" charset="0"/>
              </a:rPr>
              <a:t>x</a:t>
            </a:r>
            <a:r>
              <a:rPr lang="en-US" sz="2400" b="0" i="0" dirty="0">
                <a:solidFill>
                  <a:srgbClr val="0C0D0E"/>
                </a:solidFill>
                <a:effectLst/>
                <a:latin typeface="Trebuchet MS" panose="020B0603020202020204" pitchFamily="34" charset="0"/>
              </a:rPr>
              <a:t> = </a:t>
            </a:r>
            <a:r>
              <a:rPr lang="en-US" sz="2400" b="1" i="1" dirty="0">
                <a:solidFill>
                  <a:srgbClr val="0C0D0E"/>
                </a:solidFill>
                <a:effectLst/>
                <a:latin typeface="Trebuchet MS" panose="020B0603020202020204" pitchFamily="34" charset="0"/>
              </a:rPr>
              <a:t>y</a:t>
            </a:r>
            <a:r>
              <a:rPr lang="en-US" sz="2400" b="0" i="0" dirty="0">
                <a:solidFill>
                  <a:srgbClr val="0C0D0E"/>
                </a:solidFill>
                <a:effectLst/>
                <a:latin typeface="Trebuchet MS" panose="020B0603020202020204" pitchFamily="34" charset="0"/>
              </a:rPr>
              <a:t>.  </a:t>
            </a:r>
            <a:r>
              <a:rPr lang="en-US" sz="2400" b="1" i="1" dirty="0">
                <a:solidFill>
                  <a:srgbClr val="0C0D0E"/>
                </a:solidFill>
                <a:effectLst/>
                <a:highlight>
                  <a:srgbClr val="FFFF00"/>
                </a:highlight>
                <a:latin typeface="Trebuchet MS" panose="020B0603020202020204" pitchFamily="34" charset="0"/>
              </a:rPr>
              <a:t>y</a:t>
            </a:r>
            <a:r>
              <a:rPr lang="en-US" sz="2400" b="1" i="0" dirty="0">
                <a:solidFill>
                  <a:srgbClr val="0C0D0E"/>
                </a:solidFill>
                <a:effectLst/>
                <a:highlight>
                  <a:srgbClr val="FFFF00"/>
                </a:highlight>
                <a:latin typeface="Trebuchet MS" panose="020B0603020202020204" pitchFamily="34" charset="0"/>
              </a:rPr>
              <a:t> = 0.</a:t>
            </a:r>
          </a:p>
          <a:p>
            <a:pPr marL="446088" indent="0" algn="l">
              <a:lnSpc>
                <a:spcPct val="110000"/>
              </a:lnSpc>
              <a:spcBef>
                <a:spcPts val="300"/>
              </a:spcBef>
              <a:buClr>
                <a:srgbClr val="0B61FF"/>
              </a:buClr>
              <a:buSzPct val="80000"/>
              <a:buNone/>
            </a:pPr>
            <a:r>
              <a:rPr lang="en-US" altLang="zh-CN" sz="2400" dirty="0">
                <a:highlight>
                  <a:srgbClr val="FFFF00"/>
                </a:highlight>
                <a:latin typeface="Trebuchet MS" panose="020B0603020202020204" pitchFamily="34" charset="0"/>
              </a:rPr>
              <a:t>Since </a:t>
            </a:r>
            <a:r>
              <a:rPr lang="en-US" altLang="zh-CN" sz="2400" b="1" i="1" dirty="0">
                <a:highlight>
                  <a:srgbClr val="FFFF00"/>
                </a:highlight>
                <a:latin typeface="Trebuchet MS" panose="020B0603020202020204" pitchFamily="34" charset="0"/>
              </a:rPr>
              <a:t>x</a:t>
            </a:r>
            <a:r>
              <a:rPr lang="en-US" altLang="zh-CN" sz="2400" dirty="0">
                <a:highlight>
                  <a:srgbClr val="FFFF00"/>
                </a:highlight>
                <a:latin typeface="Trebuchet MS" panose="020B0603020202020204" pitchFamily="34" charset="0"/>
              </a:rPr>
              <a:t>,</a:t>
            </a:r>
            <a:r>
              <a:rPr lang="en-US" altLang="zh-CN" sz="2400" b="1" i="1" dirty="0">
                <a:highlight>
                  <a:srgbClr val="FFFF00"/>
                </a:highlight>
                <a:latin typeface="Trebuchet MS" panose="020B0603020202020204" pitchFamily="34" charset="0"/>
              </a:rPr>
              <a:t>y</a:t>
            </a:r>
            <a:r>
              <a:rPr lang="en-US" altLang="zh-CN" sz="2400" dirty="0">
                <a:highlight>
                  <a:srgbClr val="FFFF00"/>
                </a:highlight>
                <a:latin typeface="Trebuchet MS" panose="020B0603020202020204" pitchFamily="34" charset="0"/>
              </a:rPr>
              <a:t> both belong to the set of natural numbers N, for any </a:t>
            </a:r>
            <a:r>
              <a:rPr lang="en-US" altLang="zh-CN" sz="2400" b="1" i="1" dirty="0">
                <a:highlight>
                  <a:srgbClr val="FFFF00"/>
                </a:highlight>
                <a:latin typeface="Trebuchet MS" panose="020B0603020202020204" pitchFamily="34" charset="0"/>
              </a:rPr>
              <a:t>y</a:t>
            </a:r>
            <a:r>
              <a:rPr lang="en-US" altLang="zh-CN" sz="2400" dirty="0">
                <a:highlight>
                  <a:srgbClr val="FFFF00"/>
                </a:highlight>
                <a:latin typeface="Trebuchet MS" panose="020B0603020202020204" pitchFamily="34" charset="0"/>
              </a:rPr>
              <a:t>∈</a:t>
            </a:r>
            <a:r>
              <a:rPr lang="en-US" altLang="zh-CN" sz="2400" b="1" i="1" dirty="0">
                <a:highlight>
                  <a:srgbClr val="FFFF00"/>
                </a:highlight>
                <a:latin typeface="Trebuchet MS" panose="020B0603020202020204" pitchFamily="34" charset="0"/>
              </a:rPr>
              <a:t>N</a:t>
            </a:r>
            <a:r>
              <a:rPr lang="en-US" altLang="zh-CN" sz="2400" dirty="0">
                <a:highlight>
                  <a:srgbClr val="FFFF00"/>
                </a:highlight>
                <a:latin typeface="Trebuchet MS" panose="020B0603020202020204" pitchFamily="34" charset="0"/>
              </a:rPr>
              <a:t>, there exists an </a:t>
            </a:r>
            <a:r>
              <a:rPr lang="en-US" altLang="zh-CN" sz="2400" b="1" i="1" dirty="0">
                <a:highlight>
                  <a:srgbClr val="FFFF00"/>
                </a:highlight>
                <a:latin typeface="Trebuchet MS" panose="020B0603020202020204" pitchFamily="34" charset="0"/>
              </a:rPr>
              <a:t>x</a:t>
            </a:r>
            <a:r>
              <a:rPr lang="en-US" altLang="zh-CN" sz="2400" dirty="0">
                <a:highlight>
                  <a:srgbClr val="FFFF00"/>
                </a:highlight>
                <a:latin typeface="Trebuchet MS" panose="020B0603020202020204" pitchFamily="34" charset="0"/>
              </a:rPr>
              <a:t>=</a:t>
            </a:r>
            <a:r>
              <a:rPr lang="en-US" altLang="zh-CN" sz="2400" b="1" i="1" dirty="0">
                <a:highlight>
                  <a:srgbClr val="FFFF00"/>
                </a:highlight>
                <a:latin typeface="Trebuchet MS" panose="020B0603020202020204" pitchFamily="34" charset="0"/>
              </a:rPr>
              <a:t>y</a:t>
            </a:r>
            <a:r>
              <a:rPr lang="en-US" altLang="zh-CN" sz="2400" dirty="0">
                <a:highlight>
                  <a:srgbClr val="FFFF00"/>
                </a:highlight>
                <a:latin typeface="Trebuchet MS" panose="020B0603020202020204" pitchFamily="34" charset="0"/>
              </a:rPr>
              <a:t> such that the equation holds. Therefore, the statement is </a:t>
            </a:r>
            <a:r>
              <a:rPr lang="en-US" altLang="zh-CN" sz="2400" b="1" dirty="0">
                <a:highlight>
                  <a:srgbClr val="FFFF00"/>
                </a:highlight>
                <a:latin typeface="Trebuchet MS" panose="020B0603020202020204" pitchFamily="34" charset="0"/>
              </a:rPr>
              <a:t>always true</a:t>
            </a:r>
            <a:r>
              <a:rPr lang="en-US" altLang="zh-CN" sz="2400" dirty="0">
                <a:highlight>
                  <a:srgbClr val="FFFF00"/>
                </a:highlight>
                <a:latin typeface="Trebuchet MS" panose="020B0603020202020204" pitchFamily="34" charset="0"/>
              </a:rPr>
              <a:t>.</a:t>
            </a:r>
            <a:endParaRPr lang="en-US" sz="2400" b="0" i="0" dirty="0">
              <a:solidFill>
                <a:srgbClr val="0C0D0E"/>
              </a:solidFill>
              <a:effectLst/>
              <a:highlight>
                <a:srgbClr val="FFFF00"/>
              </a:highlight>
              <a:latin typeface="Trebuchet MS" panose="020B0603020202020204" pitchFamily="34" charset="0"/>
            </a:endParaRPr>
          </a:p>
          <a:p>
            <a:pPr eaLnBrk="1" hangingPunct="1">
              <a:lnSpc>
                <a:spcPct val="110000"/>
              </a:lnSpc>
              <a:spcBef>
                <a:spcPts val="300"/>
              </a:spcBef>
              <a:buFontTx/>
              <a:buNone/>
            </a:pPr>
            <a:endParaRPr lang="zh-CN" altLang="en-US" sz="2400" b="1" dirty="0">
              <a:latin typeface="Trebuchet MS" panose="020B0603020202020204" pitchFamily="34" charset="0"/>
            </a:endParaRPr>
          </a:p>
        </p:txBody>
      </p:sp>
      <p:pic>
        <p:nvPicPr>
          <p:cNvPr id="9" name="图片 8">
            <a:extLst>
              <a:ext uri="{FF2B5EF4-FFF2-40B4-BE49-F238E27FC236}">
                <a16:creationId xmlns:a16="http://schemas.microsoft.com/office/drawing/2014/main" id="{192A2815-8C06-4B3B-8F43-EC3C7B9746CD}"/>
              </a:ext>
            </a:extLst>
          </p:cNvPr>
          <p:cNvPicPr/>
          <p:nvPr/>
        </p:nvPicPr>
        <p:blipFill>
          <a:blip r:embed="rId5"/>
          <a:stretch>
            <a:fillRect/>
          </a:stretch>
        </p:blipFill>
        <p:spPr>
          <a:xfrm>
            <a:off x="375101" y="946147"/>
            <a:ext cx="577850" cy="241300"/>
          </a:xfrm>
          <a:prstGeom prst="rect">
            <a:avLst/>
          </a:prstGeom>
        </p:spPr>
      </p:pic>
      <p:pic>
        <p:nvPicPr>
          <p:cNvPr id="10" name="图片 9">
            <a:extLst>
              <a:ext uri="{FF2B5EF4-FFF2-40B4-BE49-F238E27FC236}">
                <a16:creationId xmlns:a16="http://schemas.microsoft.com/office/drawing/2014/main" id="{EB6A2E7E-2322-479C-96BB-C927E95852DD}"/>
              </a:ext>
            </a:extLst>
          </p:cNvPr>
          <p:cNvPicPr/>
          <p:nvPr/>
        </p:nvPicPr>
        <p:blipFill>
          <a:blip r:embed="rId5"/>
          <a:stretch>
            <a:fillRect/>
          </a:stretch>
        </p:blipFill>
        <p:spPr>
          <a:xfrm>
            <a:off x="527500" y="3972376"/>
            <a:ext cx="577850" cy="241300"/>
          </a:xfrm>
          <a:prstGeom prst="rect">
            <a:avLst/>
          </a:prstGeom>
        </p:spPr>
      </p:pic>
    </p:spTree>
    <p:extLst>
      <p:ext uri="{BB962C8B-B14F-4D97-AF65-F5344CB8AC3E}">
        <p14:creationId xmlns:p14="http://schemas.microsoft.com/office/powerpoint/2010/main" val="350684850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3" end="3"/>
                                            </p:txEl>
                                          </p:spTgt>
                                        </p:tgtEl>
                                        <p:attrNameLst>
                                          <p:attrName>style.visibility</p:attrName>
                                        </p:attrNameLst>
                                      </p:cBhvr>
                                      <p:to>
                                        <p:strVal val="visible"/>
                                      </p:to>
                                    </p:set>
                                    <p:animEffect transition="in" filter="fade">
                                      <p:cBhvr>
                                        <p:cTn id="7" dur="1000"/>
                                        <p:tgtEl>
                                          <p:spTgt spid="8">
                                            <p:txEl>
                                              <p:pRg st="3" end="3"/>
                                            </p:txEl>
                                          </p:spTgt>
                                        </p:tgtEl>
                                      </p:cBhvr>
                                    </p:animEffect>
                                    <p:anim calcmode="lin" valueType="num">
                                      <p:cBhvr>
                                        <p:cTn id="8"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3" end="3"/>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8">
                                            <p:txEl>
                                              <p:pRg st="4" end="4"/>
                                            </p:txEl>
                                          </p:spTgt>
                                        </p:tgtEl>
                                        <p:attrNameLst>
                                          <p:attrName>style.visibility</p:attrName>
                                        </p:attrNameLst>
                                      </p:cBhvr>
                                      <p:to>
                                        <p:strVal val="visible"/>
                                      </p:to>
                                    </p:set>
                                    <p:animEffect transition="in" filter="fade">
                                      <p:cBhvr>
                                        <p:cTn id="12" dur="1000"/>
                                        <p:tgtEl>
                                          <p:spTgt spid="8">
                                            <p:txEl>
                                              <p:pRg st="4" end="4"/>
                                            </p:txEl>
                                          </p:spTgt>
                                        </p:tgtEl>
                                      </p:cBhvr>
                                    </p:animEffect>
                                    <p:anim calcmode="lin" valueType="num">
                                      <p:cBhvr>
                                        <p:cTn id="13" dur="1000" fill="hold"/>
                                        <p:tgtEl>
                                          <p:spTgt spid="8">
                                            <p:txEl>
                                              <p:pRg st="4" end="4"/>
                                            </p:txEl>
                                          </p:spTgt>
                                        </p:tgtEl>
                                        <p:attrNameLst>
                                          <p:attrName>ppt_x</p:attrName>
                                        </p:attrNameLst>
                                      </p:cBhvr>
                                      <p:tavLst>
                                        <p:tav tm="0">
                                          <p:val>
                                            <p:strVal val="#ppt_x"/>
                                          </p:val>
                                        </p:tav>
                                        <p:tav tm="100000">
                                          <p:val>
                                            <p:strVal val="#ppt_x"/>
                                          </p:val>
                                        </p:tav>
                                      </p:tavLst>
                                    </p:anim>
                                    <p:anim calcmode="lin" valueType="num">
                                      <p:cBhvr>
                                        <p:cTn id="14" dur="1000" fill="hold"/>
                                        <p:tgtEl>
                                          <p:spTgt spid="8">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8">
                                            <p:txEl>
                                              <p:pRg st="5" end="5"/>
                                            </p:txEl>
                                          </p:spTgt>
                                        </p:tgtEl>
                                        <p:attrNameLst>
                                          <p:attrName>style.visibility</p:attrName>
                                        </p:attrNameLst>
                                      </p:cBhvr>
                                      <p:to>
                                        <p:strVal val="visible"/>
                                      </p:to>
                                    </p:set>
                                    <p:animEffect transition="in" filter="fade">
                                      <p:cBhvr>
                                        <p:cTn id="19" dur="1000"/>
                                        <p:tgtEl>
                                          <p:spTgt spid="8">
                                            <p:txEl>
                                              <p:pRg st="5" end="5"/>
                                            </p:txEl>
                                          </p:spTgt>
                                        </p:tgtEl>
                                      </p:cBhvr>
                                    </p:animEffect>
                                    <p:anim calcmode="lin" valueType="num">
                                      <p:cBhvr>
                                        <p:cTn id="20" dur="1000" fill="hold"/>
                                        <p:tgtEl>
                                          <p:spTgt spid="8">
                                            <p:txEl>
                                              <p:pRg st="5" end="5"/>
                                            </p:txEl>
                                          </p:spTgt>
                                        </p:tgtEl>
                                        <p:attrNameLst>
                                          <p:attrName>ppt_x</p:attrName>
                                        </p:attrNameLst>
                                      </p:cBhvr>
                                      <p:tavLst>
                                        <p:tav tm="0">
                                          <p:val>
                                            <p:strVal val="#ppt_x"/>
                                          </p:val>
                                        </p:tav>
                                        <p:tav tm="100000">
                                          <p:val>
                                            <p:strVal val="#ppt_x"/>
                                          </p:val>
                                        </p:tav>
                                      </p:tavLst>
                                    </p:anim>
                                    <p:anim calcmode="lin" valueType="num">
                                      <p:cBhvr>
                                        <p:cTn id="21" dur="1000" fill="hold"/>
                                        <p:tgtEl>
                                          <p:spTgt spid="8">
                                            <p:txEl>
                                              <p:pRg st="5" end="5"/>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8">
                                            <p:txEl>
                                              <p:pRg st="6" end="6"/>
                                            </p:txEl>
                                          </p:spTgt>
                                        </p:tgtEl>
                                        <p:attrNameLst>
                                          <p:attrName>style.visibility</p:attrName>
                                        </p:attrNameLst>
                                      </p:cBhvr>
                                      <p:to>
                                        <p:strVal val="visible"/>
                                      </p:to>
                                    </p:set>
                                    <p:animEffect transition="in" filter="fade">
                                      <p:cBhvr>
                                        <p:cTn id="24" dur="1000"/>
                                        <p:tgtEl>
                                          <p:spTgt spid="8">
                                            <p:txEl>
                                              <p:pRg st="6" end="6"/>
                                            </p:txEl>
                                          </p:spTgt>
                                        </p:tgtEl>
                                      </p:cBhvr>
                                    </p:animEffect>
                                    <p:anim calcmode="lin" valueType="num">
                                      <p:cBhvr>
                                        <p:cTn id="25" dur="1000" fill="hold"/>
                                        <p:tgtEl>
                                          <p:spTgt spid="8">
                                            <p:txEl>
                                              <p:pRg st="6" end="6"/>
                                            </p:txEl>
                                          </p:spTgt>
                                        </p:tgtEl>
                                        <p:attrNameLst>
                                          <p:attrName>ppt_x</p:attrName>
                                        </p:attrNameLst>
                                      </p:cBhvr>
                                      <p:tavLst>
                                        <p:tav tm="0">
                                          <p:val>
                                            <p:strVal val="#ppt_x"/>
                                          </p:val>
                                        </p:tav>
                                        <p:tav tm="100000">
                                          <p:val>
                                            <p:strVal val="#ppt_x"/>
                                          </p:val>
                                        </p:tav>
                                      </p:tavLst>
                                    </p:anim>
                                    <p:anim calcmode="lin" valueType="num">
                                      <p:cBhvr>
                                        <p:cTn id="26" dur="1000" fill="hold"/>
                                        <p:tgtEl>
                                          <p:spTgt spid="8">
                                            <p:txEl>
                                              <p:pRg st="6" end="6"/>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8">
                                            <p:txEl>
                                              <p:pRg st="7" end="7"/>
                                            </p:txEl>
                                          </p:spTgt>
                                        </p:tgtEl>
                                        <p:attrNameLst>
                                          <p:attrName>style.visibility</p:attrName>
                                        </p:attrNameLst>
                                      </p:cBhvr>
                                      <p:to>
                                        <p:strVal val="visible"/>
                                      </p:to>
                                    </p:set>
                                    <p:animEffect transition="in" filter="fade">
                                      <p:cBhvr>
                                        <p:cTn id="29" dur="1000"/>
                                        <p:tgtEl>
                                          <p:spTgt spid="8">
                                            <p:txEl>
                                              <p:pRg st="7" end="7"/>
                                            </p:txEl>
                                          </p:spTgt>
                                        </p:tgtEl>
                                      </p:cBhvr>
                                    </p:animEffect>
                                    <p:anim calcmode="lin" valueType="num">
                                      <p:cBhvr>
                                        <p:cTn id="30" dur="1000" fill="hold"/>
                                        <p:tgtEl>
                                          <p:spTgt spid="8">
                                            <p:txEl>
                                              <p:pRg st="7" end="7"/>
                                            </p:txEl>
                                          </p:spTgt>
                                        </p:tgtEl>
                                        <p:attrNameLst>
                                          <p:attrName>ppt_x</p:attrName>
                                        </p:attrNameLst>
                                      </p:cBhvr>
                                      <p:tavLst>
                                        <p:tav tm="0">
                                          <p:val>
                                            <p:strVal val="#ppt_x"/>
                                          </p:val>
                                        </p:tav>
                                        <p:tav tm="100000">
                                          <p:val>
                                            <p:strVal val="#ppt_x"/>
                                          </p:val>
                                        </p:tav>
                                      </p:tavLst>
                                    </p:anim>
                                    <p:anim calcmode="lin" valueType="num">
                                      <p:cBhvr>
                                        <p:cTn id="31" dur="1000" fill="hold"/>
                                        <p:tgtEl>
                                          <p:spTgt spid="8">
                                            <p:txEl>
                                              <p:pRg st="7" end="7"/>
                                            </p:txEl>
                                          </p:spTgt>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1000"/>
                                        <p:tgtEl>
                                          <p:spTgt spid="10"/>
                                        </p:tgtEl>
                                      </p:cBhvr>
                                    </p:animEffect>
                                    <p:anim calcmode="lin" valueType="num">
                                      <p:cBhvr>
                                        <p:cTn id="35" dur="1000" fill="hold"/>
                                        <p:tgtEl>
                                          <p:spTgt spid="10"/>
                                        </p:tgtEl>
                                        <p:attrNameLst>
                                          <p:attrName>ppt_x</p:attrName>
                                        </p:attrNameLst>
                                      </p:cBhvr>
                                      <p:tavLst>
                                        <p:tav tm="0">
                                          <p:val>
                                            <p:strVal val="#ppt_x"/>
                                          </p:val>
                                        </p:tav>
                                        <p:tav tm="100000">
                                          <p:val>
                                            <p:strVal val="#ppt_x"/>
                                          </p:val>
                                        </p:tav>
                                      </p:tavLst>
                                    </p:anim>
                                    <p:anim calcmode="lin" valueType="num">
                                      <p:cBhvr>
                                        <p:cTn id="36"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spcBef>
                <a:spcPts val="600"/>
              </a:spcBef>
              <a:buClr>
                <a:srgbClr val="0B61FF"/>
              </a:buClr>
              <a:buSzPct val="80000"/>
            </a:pPr>
            <a:r>
              <a:rPr lang="en-US" altLang="zh-CN" sz="2000" b="1" dirty="0">
                <a:effectLst/>
                <a:latin typeface="Cambria Math" panose="02040503050406030204" pitchFamily="18" charset="0"/>
                <a:ea typeface="Cambria Math" panose="02040503050406030204" pitchFamily="18" charset="0"/>
                <a:cs typeface="Times New Roman" panose="02020603050405020304" pitchFamily="18" charset="0"/>
              </a:rPr>
              <a:t>                </a:t>
            </a:r>
            <a:r>
              <a:rPr lang="en-US" altLang="zh-CN" sz="1800" b="1" dirty="0">
                <a:solidFill>
                  <a:schemeClr val="bg1"/>
                </a:solidFill>
                <a:latin typeface="Trebuchet MS" panose="020B0603020202020204" pitchFamily="34" charset="0"/>
              </a:rPr>
              <a:t>3.1.4</a:t>
            </a:r>
            <a:r>
              <a:rPr lang="en-US" altLang="zh-CN" sz="1800" b="1" dirty="0">
                <a:solidFill>
                  <a:srgbClr val="0B61FF"/>
                </a:solidFill>
                <a:latin typeface="Trebuchet MS" panose="020B0603020202020204" pitchFamily="34" charset="0"/>
              </a:rPr>
              <a:t> </a:t>
            </a:r>
            <a:r>
              <a:rPr lang="en-US" altLang="zh-CN" sz="1800" b="1" dirty="0">
                <a:solidFill>
                  <a:schemeClr val="bg1"/>
                </a:solidFill>
                <a:latin typeface="Trebuchet MS" panose="020B0603020202020204" pitchFamily="34" charset="0"/>
              </a:rPr>
              <a:t>First-Order Logic Formulas and Classification</a:t>
            </a:r>
          </a:p>
          <a:p>
            <a:pPr>
              <a:spcBef>
                <a:spcPts val="600"/>
              </a:spcBef>
              <a:buClr>
                <a:srgbClr val="0B61FF"/>
              </a:buClr>
              <a:buSzPct val="80000"/>
            </a:pPr>
            <a:r>
              <a:rPr lang="en-US" altLang="zh-CN" sz="1200" dirty="0">
                <a:latin typeface="Trebuchet MS" panose="020B0603020202020204" pitchFamily="34" charset="0"/>
                <a:ea typeface="Cambria Math" panose="02040503050406030204" pitchFamily="18" charset="0"/>
                <a:cs typeface="Times New Roman" panose="02020603050405020304" pitchFamily="18" charset="0"/>
              </a:rPr>
              <a:t>                        </a:t>
            </a:r>
            <a:r>
              <a:rPr lang="en-US" altLang="zh-CN" sz="1800"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2000" b="1" dirty="0">
                <a:latin typeface="Trebuchet MS" panose="020B0603020202020204" pitchFamily="34" charset="0"/>
              </a:rPr>
              <a:t>Interpretation, assignment, and quantification of formulas(</a:t>
            </a:r>
            <a:r>
              <a:rPr lang="en-US" altLang="zh-CN" sz="2000" b="1" dirty="0">
                <a:solidFill>
                  <a:schemeClr val="accent2"/>
                </a:solidFill>
                <a:latin typeface="Trebuchet MS" panose="020B0603020202020204" pitchFamily="34" charset="0"/>
              </a:rPr>
              <a:t>e.g.</a:t>
            </a:r>
            <a:r>
              <a:rPr lang="en-US" altLang="zh-CN" sz="2000" b="1" dirty="0">
                <a:latin typeface="Trebuchet MS" panose="020B0603020202020204" pitchFamily="34" charset="0"/>
              </a:rPr>
              <a:t>)</a:t>
            </a:r>
            <a:endParaRPr lang="zh-CN" altLang="en-US" sz="2000" b="1" dirty="0">
              <a:solidFill>
                <a:schemeClr val="bg1"/>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mc:AlternateContent xmlns:mc="http://schemas.openxmlformats.org/markup-compatibility/2006">
        <mc:Choice xmlns:a14="http://schemas.microsoft.com/office/drawing/2010/main" Requires="a14">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0124" y="765175"/>
                <a:ext cx="10397219" cy="578802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ct val="120000"/>
                  </a:lnSpc>
                  <a:spcBef>
                    <a:spcPct val="0"/>
                  </a:spcBef>
                  <a:buFontTx/>
                  <a:buNone/>
                </a:pPr>
                <a:r>
                  <a:rPr kumimoji="0" lang="en-US" altLang="zh-CN" sz="2400" b="1" dirty="0">
                    <a:latin typeface="Trebuchet MS" panose="020B0603020202020204" pitchFamily="34" charset="0"/>
                  </a:rPr>
                  <a:t>     Example:</a:t>
                </a:r>
                <a:r>
                  <a:rPr kumimoji="0" lang="zh-CN" altLang="en-US" sz="2400" b="1" dirty="0">
                    <a:latin typeface="Trebuchet MS" panose="020B0603020202020204" pitchFamily="34" charset="0"/>
                  </a:rPr>
                  <a:t> </a:t>
                </a:r>
                <a:r>
                  <a:rPr lang="en-US" altLang="zh-CN" sz="2400" dirty="0">
                    <a:latin typeface="Trebuchet MS" panose="020B0603020202020204" pitchFamily="34" charset="0"/>
                  </a:rPr>
                  <a:t>Given the interpretation </a:t>
                </a:r>
                <a:r>
                  <a:rPr lang="en-US" altLang="zh-CN" sz="2400" b="1" i="1" dirty="0">
                    <a:solidFill>
                      <a:srgbClr val="0B61FF"/>
                    </a:solidFill>
                    <a:latin typeface="Trebuchet MS" panose="020B0603020202020204" pitchFamily="34" charset="0"/>
                  </a:rPr>
                  <a:t>I</a:t>
                </a:r>
                <a:r>
                  <a:rPr lang="en-US" altLang="zh-CN" sz="2400" dirty="0">
                    <a:latin typeface="Trebuchet MS" panose="020B0603020202020204" pitchFamily="34" charset="0"/>
                  </a:rPr>
                  <a:t> and </a:t>
                </a:r>
                <a:r>
                  <a:rPr lang="en-US" altLang="zh-CN" sz="2400" b="0" i="0" dirty="0">
                    <a:solidFill>
                      <a:srgbClr val="0C0D0E"/>
                    </a:solidFill>
                    <a:effectLst/>
                    <a:latin typeface="Trebuchet MS" panose="020B0603020202020204" pitchFamily="34" charset="0"/>
                  </a:rPr>
                  <a:t>assignment </a:t>
                </a:r>
                <a:r>
                  <a:rPr lang="en-US" altLang="zh-CN" sz="2400" b="1" i="1" dirty="0">
                    <a:solidFill>
                      <a:srgbClr val="0B61FF"/>
                    </a:solidFill>
                    <a:effectLst/>
                    <a:latin typeface="Trebuchet MS" panose="020B0603020202020204" pitchFamily="34" charset="0"/>
                  </a:rPr>
                  <a:t>σ</a:t>
                </a:r>
                <a:r>
                  <a:rPr lang="en-US" altLang="zh-CN" sz="2400" b="1" i="1" dirty="0">
                    <a:solidFill>
                      <a:srgbClr val="0C0D0E"/>
                    </a:solidFill>
                    <a:effectLst/>
                    <a:latin typeface="Trebuchet MS" panose="020B0603020202020204" pitchFamily="34" charset="0"/>
                  </a:rPr>
                  <a:t> </a:t>
                </a:r>
                <a:r>
                  <a:rPr lang="en-US" altLang="zh-CN" sz="2400" dirty="0">
                    <a:latin typeface="Trebuchet MS" panose="020B0603020202020204" pitchFamily="34" charset="0"/>
                  </a:rPr>
                  <a:t>as follows </a:t>
                </a:r>
                <a:r>
                  <a:rPr kumimoji="0" lang="zh-CN" altLang="en-US" sz="2400" dirty="0">
                    <a:latin typeface="Trebuchet MS" panose="020B0603020202020204" pitchFamily="34" charset="0"/>
                  </a:rPr>
                  <a:t>:  </a:t>
                </a:r>
              </a:p>
              <a:p>
                <a:pPr eaLnBrk="1" hangingPunct="1">
                  <a:lnSpc>
                    <a:spcPct val="120000"/>
                  </a:lnSpc>
                  <a:spcBef>
                    <a:spcPct val="0"/>
                  </a:spcBef>
                  <a:buFontTx/>
                  <a:buNone/>
                </a:pPr>
                <a:r>
                  <a:rPr kumimoji="0" lang="zh-CN" altLang="en-US" sz="2400" b="1" dirty="0">
                    <a:latin typeface="Trebuchet MS" panose="020B0603020202020204" pitchFamily="34" charset="0"/>
                  </a:rPr>
                  <a:t>①</a:t>
                </a:r>
                <a:r>
                  <a:rPr kumimoji="0" lang="en-US" altLang="zh-CN" sz="2400" b="1" dirty="0">
                    <a:latin typeface="Trebuchet MS" panose="020B0603020202020204" pitchFamily="34" charset="0"/>
                  </a:rPr>
                  <a:t> Definition</a:t>
                </a:r>
                <a:r>
                  <a:rPr kumimoji="0" lang="zh-CN" altLang="en-US" sz="2400" b="1" dirty="0">
                    <a:latin typeface="Trebuchet MS" panose="020B0603020202020204" pitchFamily="34" charset="0"/>
                  </a:rPr>
                  <a:t> </a:t>
                </a:r>
                <a:r>
                  <a:rPr kumimoji="0" lang="en-US" altLang="zh-CN" sz="2400" b="1" i="1" dirty="0">
                    <a:latin typeface="Trebuchet MS" panose="020B0603020202020204" pitchFamily="34" charset="0"/>
                  </a:rPr>
                  <a:t>D</a:t>
                </a:r>
                <a:r>
                  <a:rPr kumimoji="0" lang="en-US" altLang="zh-CN" sz="2400" b="1" dirty="0">
                    <a:latin typeface="Trebuchet MS" panose="020B0603020202020204" pitchFamily="34" charset="0"/>
                  </a:rPr>
                  <a:t>=N ; ② </a:t>
                </a:r>
                <a14:m>
                  <m:oMath xmlns:m="http://schemas.openxmlformats.org/officeDocument/2006/math">
                    <m:acc>
                      <m:accPr>
                        <m:chr m:val="̅"/>
                        <m:ctrlPr>
                          <a:rPr kumimoji="0" lang="en-US" altLang="zh-CN" sz="2400" b="1" i="1" smtClean="0">
                            <a:latin typeface="Cambria Math" panose="02040503050406030204" pitchFamily="18" charset="0"/>
                          </a:rPr>
                        </m:ctrlPr>
                      </m:accPr>
                      <m:e>
                        <m:r>
                          <a:rPr kumimoji="0" lang="en-US" altLang="zh-CN" sz="2400" b="1" i="1" smtClean="0">
                            <a:latin typeface="Cambria Math" panose="02040503050406030204" pitchFamily="18" charset="0"/>
                          </a:rPr>
                          <m:t>𝒂</m:t>
                        </m:r>
                      </m:e>
                    </m:acc>
                    <m:r>
                      <a:rPr kumimoji="0" lang="en-US" altLang="zh-CN" sz="2400" b="1" i="1" smtClean="0">
                        <a:latin typeface="Cambria Math" panose="02040503050406030204" pitchFamily="18" charset="0"/>
                      </a:rPr>
                      <m:t>=</m:t>
                    </m:r>
                    <m:r>
                      <a:rPr kumimoji="0" lang="en-US" altLang="zh-CN" sz="2400" b="1" i="1" smtClean="0">
                        <a:latin typeface="Cambria Math" panose="02040503050406030204" pitchFamily="18" charset="0"/>
                      </a:rPr>
                      <m:t>𝟎</m:t>
                    </m:r>
                  </m:oMath>
                </a14:m>
                <a:r>
                  <a:rPr lang="en-US" altLang="zh-CN" sz="2400" i="1" dirty="0">
                    <a:solidFill>
                      <a:srgbClr val="000000"/>
                    </a:solidFill>
                    <a:latin typeface="Cambria Math" panose="02040503050406030204" pitchFamily="18" charset="0"/>
                  </a:rPr>
                  <a:t> </a:t>
                </a:r>
                <a:r>
                  <a:rPr lang="en-US" altLang="zh-CN" sz="2400" dirty="0">
                    <a:solidFill>
                      <a:srgbClr val="000000"/>
                    </a:solidFill>
                    <a:latin typeface="Cambria Math" panose="02040503050406030204" pitchFamily="18" charset="0"/>
                  </a:rPr>
                  <a:t>; </a:t>
                </a:r>
                <a:r>
                  <a:rPr kumimoji="0" lang="en-US" altLang="zh-CN" sz="2400" b="1" dirty="0">
                    <a:latin typeface="Trebuchet MS" panose="020B0603020202020204" pitchFamily="34" charset="0"/>
                  </a:rPr>
                  <a:t>③  </a:t>
                </a:r>
                <a14:m>
                  <m:oMath xmlns:m="http://schemas.openxmlformats.org/officeDocument/2006/math">
                    <m:acc>
                      <m:accPr>
                        <m:chr m:val="̅"/>
                        <m:ctrlPr>
                          <a:rPr kumimoji="0" lang="en-US" altLang="zh-CN" sz="2400" b="1" i="1" smtClean="0">
                            <a:latin typeface="Cambria Math" panose="02040503050406030204" pitchFamily="18" charset="0"/>
                          </a:rPr>
                        </m:ctrlPr>
                      </m:accPr>
                      <m:e>
                        <m:r>
                          <a:rPr kumimoji="0" lang="en-US" altLang="zh-CN" sz="2400" b="1" i="1" smtClean="0">
                            <a:latin typeface="Cambria Math" panose="02040503050406030204" pitchFamily="18" charset="0"/>
                          </a:rPr>
                          <m:t>𝒇</m:t>
                        </m:r>
                      </m:e>
                    </m:acc>
                    <m:d>
                      <m:dPr>
                        <m:ctrlPr>
                          <a:rPr kumimoji="0" lang="en-US" altLang="zh-CN" sz="2400" b="1" i="1" smtClean="0">
                            <a:latin typeface="Cambria Math" panose="02040503050406030204" pitchFamily="18" charset="0"/>
                          </a:rPr>
                        </m:ctrlPr>
                      </m:dPr>
                      <m:e>
                        <m:r>
                          <a:rPr kumimoji="0" lang="en-US" altLang="zh-CN" sz="2400" b="1" i="1" smtClean="0">
                            <a:latin typeface="Cambria Math" panose="02040503050406030204" pitchFamily="18" charset="0"/>
                          </a:rPr>
                          <m:t>𝒙</m:t>
                        </m:r>
                        <m:r>
                          <a:rPr kumimoji="0" lang="en-US" altLang="zh-CN" sz="2400" b="1" i="1" smtClean="0">
                            <a:latin typeface="Cambria Math" panose="02040503050406030204" pitchFamily="18" charset="0"/>
                          </a:rPr>
                          <m:t>,</m:t>
                        </m:r>
                        <m:r>
                          <a:rPr kumimoji="0" lang="en-US" altLang="zh-CN" sz="2400" b="1" i="1" smtClean="0">
                            <a:latin typeface="Cambria Math" panose="02040503050406030204" pitchFamily="18" charset="0"/>
                          </a:rPr>
                          <m:t>𝒚</m:t>
                        </m:r>
                        <m:r>
                          <a:rPr kumimoji="0" lang="en-US" altLang="zh-CN" sz="2400" b="1" i="1" smtClean="0">
                            <a:latin typeface="Cambria Math" panose="02040503050406030204" pitchFamily="18" charset="0"/>
                          </a:rPr>
                          <m:t>)</m:t>
                        </m:r>
                        <m:r>
                          <a:rPr kumimoji="0" lang="en-US" altLang="zh-CN" sz="2400" b="1" i="1" smtClean="0">
                            <a:latin typeface="Cambria Math" panose="02040503050406030204" pitchFamily="18" charset="0"/>
                            <a:ea typeface="Cambria Math" panose="02040503050406030204" pitchFamily="18" charset="0"/>
                          </a:rPr>
                          <m:t>=</m:t>
                        </m:r>
                        <m:r>
                          <a:rPr kumimoji="0" lang="en-US" altLang="zh-CN" sz="2400" b="1" i="1" smtClean="0">
                            <a:latin typeface="Cambria Math" panose="02040503050406030204" pitchFamily="18" charset="0"/>
                            <a:ea typeface="Cambria Math" panose="02040503050406030204" pitchFamily="18" charset="0"/>
                          </a:rPr>
                          <m:t>𝒙</m:t>
                        </m:r>
                        <m:r>
                          <a:rPr kumimoji="0" lang="en-US" altLang="zh-CN" sz="2400" b="1" i="1" smtClean="0">
                            <a:latin typeface="Cambria Math" panose="02040503050406030204" pitchFamily="18" charset="0"/>
                            <a:ea typeface="Cambria Math" panose="02040503050406030204" pitchFamily="18" charset="0"/>
                          </a:rPr>
                          <m:t>+</m:t>
                        </m:r>
                        <m:r>
                          <a:rPr kumimoji="0" lang="en-US" altLang="zh-CN" sz="2400" b="1" i="1" smtClean="0">
                            <a:latin typeface="Cambria Math" panose="02040503050406030204" pitchFamily="18" charset="0"/>
                            <a:ea typeface="Cambria Math" panose="02040503050406030204" pitchFamily="18" charset="0"/>
                          </a:rPr>
                          <m:t>𝒚</m:t>
                        </m:r>
                        <m:r>
                          <a:rPr kumimoji="0" lang="en-US" altLang="zh-CN" sz="2400" b="1" i="1" smtClean="0">
                            <a:latin typeface="Cambria Math" panose="02040503050406030204" pitchFamily="18" charset="0"/>
                            <a:ea typeface="Cambria Math" panose="02040503050406030204" pitchFamily="18" charset="0"/>
                          </a:rPr>
                          <m:t>,</m:t>
                        </m:r>
                        <m:acc>
                          <m:accPr>
                            <m:chr m:val="̅"/>
                            <m:ctrlPr>
                              <a:rPr kumimoji="0" lang="en-US" altLang="zh-CN" sz="2400" b="1" i="1" smtClean="0">
                                <a:latin typeface="Cambria Math" panose="02040503050406030204" pitchFamily="18" charset="0"/>
                                <a:ea typeface="Cambria Math" panose="02040503050406030204" pitchFamily="18" charset="0"/>
                              </a:rPr>
                            </m:ctrlPr>
                          </m:accPr>
                          <m:e>
                            <m:r>
                              <a:rPr kumimoji="0" lang="en-US" altLang="zh-CN" sz="2400" b="1" i="1" smtClean="0">
                                <a:latin typeface="Cambria Math" panose="02040503050406030204" pitchFamily="18" charset="0"/>
                                <a:ea typeface="Cambria Math" panose="02040503050406030204" pitchFamily="18" charset="0"/>
                              </a:rPr>
                              <m:t>𝒈</m:t>
                            </m:r>
                          </m:e>
                        </m:acc>
                        <m:d>
                          <m:dPr>
                            <m:ctrlPr>
                              <a:rPr kumimoji="0" lang="en-US" altLang="zh-CN" sz="2400" b="1" i="1" smtClean="0">
                                <a:latin typeface="Cambria Math" panose="02040503050406030204" pitchFamily="18" charset="0"/>
                              </a:rPr>
                            </m:ctrlPr>
                          </m:dPr>
                          <m:e>
                            <m:r>
                              <a:rPr kumimoji="0" lang="en-US" altLang="zh-CN" sz="2400" b="1" i="1" smtClean="0">
                                <a:latin typeface="Cambria Math" panose="02040503050406030204" pitchFamily="18" charset="0"/>
                              </a:rPr>
                              <m:t>𝒙</m:t>
                            </m:r>
                            <m:r>
                              <a:rPr kumimoji="0" lang="en-US" altLang="zh-CN" sz="2400" b="1" i="1" smtClean="0">
                                <a:latin typeface="Cambria Math" panose="02040503050406030204" pitchFamily="18" charset="0"/>
                              </a:rPr>
                              <m:t>,</m:t>
                            </m:r>
                            <m:r>
                              <a:rPr kumimoji="0" lang="en-US" altLang="zh-CN" sz="2400" b="1" i="1" smtClean="0">
                                <a:latin typeface="Cambria Math" panose="02040503050406030204" pitchFamily="18" charset="0"/>
                              </a:rPr>
                              <m:t>𝒚</m:t>
                            </m:r>
                          </m:e>
                        </m:d>
                        <m:r>
                          <a:rPr kumimoji="0" lang="en-US" altLang="zh-CN" sz="2400" b="1" i="1" smtClean="0">
                            <a:latin typeface="Cambria Math" panose="02040503050406030204" pitchFamily="18" charset="0"/>
                          </a:rPr>
                          <m:t>=</m:t>
                        </m:r>
                        <m:r>
                          <a:rPr kumimoji="0" lang="en-US" altLang="zh-CN" sz="2400" b="1" i="1" smtClean="0">
                            <a:latin typeface="Cambria Math" panose="02040503050406030204" pitchFamily="18" charset="0"/>
                          </a:rPr>
                          <m:t>𝒙𝒚</m:t>
                        </m:r>
                        <m:r>
                          <a:rPr kumimoji="0" lang="en-US" altLang="zh-CN" sz="2400" b="1" i="1" smtClean="0">
                            <a:latin typeface="Cambria Math" panose="02040503050406030204" pitchFamily="18" charset="0"/>
                          </a:rPr>
                          <m:t>   </m:t>
                        </m:r>
                      </m:e>
                    </m:d>
                  </m:oMath>
                </a14:m>
                <a:r>
                  <a:rPr kumimoji="0" lang="en-US" altLang="zh-CN" sz="2400" b="1" dirty="0">
                    <a:latin typeface="Trebuchet MS" panose="020B0603020202020204" pitchFamily="34" charset="0"/>
                  </a:rPr>
                  <a:t> ;                                                 </a:t>
                </a:r>
              </a:p>
              <a:p>
                <a:pPr eaLnBrk="1" hangingPunct="1">
                  <a:lnSpc>
                    <a:spcPct val="120000"/>
                  </a:lnSpc>
                  <a:spcBef>
                    <a:spcPct val="0"/>
                  </a:spcBef>
                  <a:buFontTx/>
                  <a:buNone/>
                </a:pPr>
                <a:r>
                  <a:rPr kumimoji="0" lang="en-US" altLang="zh-CN" sz="2400" b="1" dirty="0">
                    <a:latin typeface="Trebuchet MS" panose="020B0603020202020204" pitchFamily="34" charset="0"/>
                  </a:rPr>
                  <a:t>④ </a:t>
                </a:r>
                <a14:m>
                  <m:oMath xmlns:m="http://schemas.openxmlformats.org/officeDocument/2006/math">
                    <m:acc>
                      <m:accPr>
                        <m:chr m:val="̅"/>
                        <m:ctrlPr>
                          <a:rPr kumimoji="0" lang="en-US" altLang="zh-CN" sz="2400" b="1" i="1" smtClean="0">
                            <a:latin typeface="Cambria Math" panose="02040503050406030204" pitchFamily="18" charset="0"/>
                          </a:rPr>
                        </m:ctrlPr>
                      </m:accPr>
                      <m:e>
                        <m:r>
                          <a:rPr kumimoji="0" lang="en-US" altLang="zh-CN" sz="2400" b="1" i="1" smtClean="0">
                            <a:latin typeface="Cambria Math" panose="02040503050406030204" pitchFamily="18" charset="0"/>
                          </a:rPr>
                          <m:t>𝑭</m:t>
                        </m:r>
                      </m:e>
                    </m:acc>
                    <m:d>
                      <m:dPr>
                        <m:ctrlPr>
                          <a:rPr kumimoji="0" lang="en-US" altLang="zh-CN" sz="2400" b="1" i="1" smtClean="0">
                            <a:latin typeface="Cambria Math" panose="02040503050406030204" pitchFamily="18" charset="0"/>
                          </a:rPr>
                        </m:ctrlPr>
                      </m:dPr>
                      <m:e>
                        <m:r>
                          <a:rPr kumimoji="0" lang="en-US" altLang="zh-CN" sz="2400" b="1" i="1" smtClean="0">
                            <a:latin typeface="Cambria Math" panose="02040503050406030204" pitchFamily="18" charset="0"/>
                          </a:rPr>
                          <m:t>𝒙</m:t>
                        </m:r>
                        <m:r>
                          <a:rPr kumimoji="0" lang="en-US" altLang="zh-CN" sz="2400" b="1" i="1" smtClean="0">
                            <a:latin typeface="Cambria Math" panose="02040503050406030204" pitchFamily="18" charset="0"/>
                          </a:rPr>
                          <m:t>,</m:t>
                        </m:r>
                        <m:r>
                          <a:rPr kumimoji="0" lang="en-US" altLang="zh-CN" sz="2400" b="1" i="1" smtClean="0">
                            <a:latin typeface="Cambria Math" panose="02040503050406030204" pitchFamily="18" charset="0"/>
                          </a:rPr>
                          <m:t>𝒚</m:t>
                        </m:r>
                      </m:e>
                    </m:d>
                    <m:r>
                      <a:rPr kumimoji="0" lang="en-US" altLang="zh-CN" sz="2400" b="1" i="1" smtClean="0">
                        <a:latin typeface="Cambria Math" panose="02040503050406030204" pitchFamily="18" charset="0"/>
                        <a:ea typeface="Cambria Math" panose="02040503050406030204" pitchFamily="18" charset="0"/>
                      </a:rPr>
                      <m:t>:</m:t>
                    </m:r>
                    <m:r>
                      <a:rPr kumimoji="0" lang="en-US" altLang="zh-CN" sz="2400" b="1" i="1" smtClean="0">
                        <a:latin typeface="Cambria Math" panose="02040503050406030204" pitchFamily="18" charset="0"/>
                        <a:ea typeface="Cambria Math" panose="02040503050406030204" pitchFamily="18" charset="0"/>
                      </a:rPr>
                      <m:t>𝒙</m:t>
                    </m:r>
                    <m:r>
                      <a:rPr kumimoji="0" lang="en-US" altLang="zh-CN" sz="2400" b="1" i="1" smtClean="0">
                        <a:latin typeface="Cambria Math" panose="02040503050406030204" pitchFamily="18" charset="0"/>
                        <a:ea typeface="Cambria Math" panose="02040503050406030204" pitchFamily="18" charset="0"/>
                      </a:rPr>
                      <m:t>=</m:t>
                    </m:r>
                    <m:r>
                      <a:rPr kumimoji="0" lang="en-US" altLang="zh-CN" sz="2400" b="1" i="1" smtClean="0">
                        <a:latin typeface="Cambria Math" panose="02040503050406030204" pitchFamily="18" charset="0"/>
                        <a:ea typeface="Cambria Math" panose="02040503050406030204" pitchFamily="18" charset="0"/>
                      </a:rPr>
                      <m:t>𝒚</m:t>
                    </m:r>
                  </m:oMath>
                </a14:m>
                <a:r>
                  <a:rPr kumimoji="0" lang="en-US" altLang="zh-CN" sz="2400" b="1" dirty="0">
                    <a:latin typeface="Trebuchet MS" panose="020B0603020202020204" pitchFamily="34" charset="0"/>
                  </a:rPr>
                  <a:t>. </a:t>
                </a:r>
                <a:r>
                  <a:rPr kumimoji="0" lang="en-US" altLang="zh-CN" sz="2400" b="1" dirty="0">
                    <a:latin typeface="Trebuchet MS" panose="020B0603020202020204" pitchFamily="34" charset="0"/>
                    <a:sym typeface="Symbol" panose="05050102010706020507" pitchFamily="18" charset="2"/>
                  </a:rPr>
                  <a:t>Value</a:t>
                </a:r>
                <a:r>
                  <a:rPr kumimoji="0" lang="zh-CN" altLang="en-US" sz="2400" b="1" dirty="0">
                    <a:latin typeface="Trebuchet MS" panose="020B0603020202020204" pitchFamily="34" charset="0"/>
                    <a:sym typeface="Symbol" panose="05050102010706020507" pitchFamily="18" charset="2"/>
                  </a:rPr>
                  <a:t> </a:t>
                </a:r>
                <a:r>
                  <a:rPr kumimoji="0" lang="en-US" altLang="zh-CN" sz="2400" b="1" dirty="0">
                    <a:latin typeface="Trebuchet MS" panose="020B0603020202020204" pitchFamily="34" charset="0"/>
                    <a:sym typeface="Symbol" panose="05050102010706020507" pitchFamily="18" charset="2"/>
                  </a:rPr>
                  <a:t>: </a:t>
                </a:r>
                <a:r>
                  <a:rPr kumimoji="0" lang="zh-CN" altLang="en-US" sz="2400" b="1" i="1" dirty="0">
                    <a:latin typeface="Trebuchet MS" panose="020B0603020202020204" pitchFamily="34" charset="0"/>
                    <a:sym typeface="Symbol" panose="05050102010706020507" pitchFamily="18" charset="2"/>
                  </a:rPr>
                  <a:t></a:t>
                </a:r>
                <a:r>
                  <a:rPr kumimoji="0" lang="en-US" altLang="zh-CN" sz="2400" b="1" dirty="0">
                    <a:latin typeface="Trebuchet MS" panose="020B0603020202020204" pitchFamily="34" charset="0"/>
                    <a:sym typeface="Symbol" panose="05050102010706020507" pitchFamily="18" charset="2"/>
                  </a:rPr>
                  <a:t>(</a:t>
                </a:r>
                <a:r>
                  <a:rPr kumimoji="0" lang="en-US" altLang="zh-CN" sz="2400" b="1" i="1" dirty="0">
                    <a:latin typeface="Trebuchet MS" panose="020B0603020202020204" pitchFamily="34" charset="0"/>
                    <a:sym typeface="Symbol" panose="05050102010706020507" pitchFamily="18" charset="2"/>
                  </a:rPr>
                  <a:t>x</a:t>
                </a:r>
                <a:r>
                  <a:rPr kumimoji="0" lang="en-US" altLang="zh-CN" sz="2400" b="1" dirty="0">
                    <a:latin typeface="Trebuchet MS" panose="020B0603020202020204" pitchFamily="34" charset="0"/>
                    <a:sym typeface="Symbol" panose="05050102010706020507" pitchFamily="18" charset="2"/>
                  </a:rPr>
                  <a:t>)=0,</a:t>
                </a:r>
                <a:r>
                  <a:rPr kumimoji="0" lang="zh-CN" altLang="en-US" sz="2400" b="1" i="1" dirty="0">
                    <a:latin typeface="Trebuchet MS" panose="020B0603020202020204" pitchFamily="34" charset="0"/>
                    <a:sym typeface="Symbol" panose="05050102010706020507" pitchFamily="18" charset="2"/>
                  </a:rPr>
                  <a:t> </a:t>
                </a:r>
                <a:r>
                  <a:rPr kumimoji="0" lang="en-US" altLang="zh-CN" sz="2400" b="1" dirty="0">
                    <a:latin typeface="Trebuchet MS" panose="020B0603020202020204" pitchFamily="34" charset="0"/>
                    <a:sym typeface="Symbol" panose="05050102010706020507" pitchFamily="18" charset="2"/>
                  </a:rPr>
                  <a:t>(</a:t>
                </a:r>
                <a:r>
                  <a:rPr kumimoji="0" lang="en-US" altLang="zh-CN" sz="2400" b="1" i="1" dirty="0">
                    <a:latin typeface="Trebuchet MS" panose="020B0603020202020204" pitchFamily="34" charset="0"/>
                    <a:sym typeface="Symbol" panose="05050102010706020507" pitchFamily="18" charset="2"/>
                  </a:rPr>
                  <a:t>y</a:t>
                </a:r>
                <a:r>
                  <a:rPr kumimoji="0" lang="en-US" altLang="zh-CN" sz="2400" b="1" dirty="0">
                    <a:latin typeface="Trebuchet MS" panose="020B0603020202020204" pitchFamily="34" charset="0"/>
                    <a:sym typeface="Symbol" panose="05050102010706020507" pitchFamily="18" charset="2"/>
                  </a:rPr>
                  <a:t>)=1, </a:t>
                </a:r>
                <a:r>
                  <a:rPr kumimoji="0" lang="zh-CN" altLang="en-US" sz="2400" b="1" i="1" dirty="0">
                    <a:latin typeface="Trebuchet MS" panose="020B0603020202020204" pitchFamily="34" charset="0"/>
                    <a:sym typeface="Symbol" panose="05050102010706020507" pitchFamily="18" charset="2"/>
                  </a:rPr>
                  <a:t></a:t>
                </a:r>
                <a:r>
                  <a:rPr kumimoji="0" lang="en-US" altLang="zh-CN" sz="2400" b="1" dirty="0">
                    <a:latin typeface="Trebuchet MS" panose="020B0603020202020204" pitchFamily="34" charset="0"/>
                    <a:sym typeface="Symbol" panose="05050102010706020507" pitchFamily="18" charset="2"/>
                  </a:rPr>
                  <a:t>(</a:t>
                </a:r>
                <a:r>
                  <a:rPr kumimoji="0" lang="en-US" altLang="zh-CN" sz="2400" b="1" i="1" dirty="0">
                    <a:latin typeface="Trebuchet MS" panose="020B0603020202020204" pitchFamily="34" charset="0"/>
                    <a:sym typeface="Symbol" panose="05050102010706020507" pitchFamily="18" charset="2"/>
                  </a:rPr>
                  <a:t>z</a:t>
                </a:r>
                <a:r>
                  <a:rPr kumimoji="0" lang="en-US" altLang="zh-CN" sz="2400" b="1" dirty="0">
                    <a:latin typeface="Trebuchet MS" panose="020B0603020202020204" pitchFamily="34" charset="0"/>
                    <a:sym typeface="Symbol" panose="05050102010706020507" pitchFamily="18" charset="2"/>
                  </a:rPr>
                  <a:t>)=2.</a:t>
                </a:r>
              </a:p>
              <a:p>
                <a:pPr indent="-50800" eaLnBrk="1" hangingPunct="1">
                  <a:lnSpc>
                    <a:spcPct val="120000"/>
                  </a:lnSpc>
                  <a:spcBef>
                    <a:spcPct val="0"/>
                  </a:spcBef>
                  <a:buFontTx/>
                  <a:buNone/>
                </a:pPr>
                <a:r>
                  <a:rPr lang="en-US" altLang="zh-CN" sz="2400" b="0" i="0" dirty="0">
                    <a:solidFill>
                      <a:srgbClr val="0C0D0E"/>
                    </a:solidFill>
                    <a:effectLst/>
                    <a:latin typeface="Trebuchet MS" panose="020B0603020202020204" pitchFamily="34" charset="0"/>
                  </a:rPr>
                  <a:t>Explain the meaning of the following formula under interpretation </a:t>
                </a:r>
                <a:r>
                  <a:rPr lang="en-US" altLang="zh-CN" sz="2400" b="1" i="1" dirty="0">
                    <a:solidFill>
                      <a:srgbClr val="0B61FF"/>
                    </a:solidFill>
                    <a:effectLst/>
                    <a:latin typeface="Trebuchet MS" panose="020B0603020202020204" pitchFamily="34" charset="0"/>
                  </a:rPr>
                  <a:t>I</a:t>
                </a:r>
                <a:r>
                  <a:rPr lang="en-US" altLang="zh-CN" sz="2400" b="0" i="0" dirty="0">
                    <a:solidFill>
                      <a:srgbClr val="0C0D0E"/>
                    </a:solidFill>
                    <a:effectLst/>
                    <a:latin typeface="Trebuchet MS" panose="020B0603020202020204" pitchFamily="34" charset="0"/>
                  </a:rPr>
                  <a:t> and assignment </a:t>
                </a:r>
                <a:r>
                  <a:rPr lang="en-US" altLang="zh-CN" sz="2400" b="1" i="1" dirty="0">
                    <a:solidFill>
                      <a:srgbClr val="0B61FF"/>
                    </a:solidFill>
                    <a:effectLst/>
                    <a:latin typeface="Trebuchet MS" panose="020B0603020202020204" pitchFamily="34" charset="0"/>
                  </a:rPr>
                  <a:t>σ</a:t>
                </a:r>
                <a:r>
                  <a:rPr lang="en-US" altLang="zh-CN" sz="2400" b="0" i="0" dirty="0">
                    <a:solidFill>
                      <a:srgbClr val="0C0D0E"/>
                    </a:solidFill>
                    <a:effectLst/>
                    <a:latin typeface="Trebuchet MS" panose="020B0603020202020204" pitchFamily="34" charset="0"/>
                  </a:rPr>
                  <a:t>, and discuss its truth value.</a:t>
                </a:r>
                <a:r>
                  <a:rPr kumimoji="0" lang="zh-CN" altLang="en-US" sz="2400" b="1" dirty="0">
                    <a:latin typeface="Trebuchet MS" panose="020B0603020202020204" pitchFamily="34" charset="0"/>
                  </a:rPr>
                  <a:t>    </a:t>
                </a:r>
                <a:endParaRPr kumimoji="0" lang="en-US" altLang="zh-CN" sz="2400" b="1" dirty="0">
                  <a:latin typeface="Trebuchet MS" panose="020B0603020202020204" pitchFamily="34" charset="0"/>
                </a:endParaRPr>
              </a:p>
              <a:p>
                <a:pPr marL="0" indent="0" eaLnBrk="1" hangingPunct="1">
                  <a:lnSpc>
                    <a:spcPct val="120000"/>
                  </a:lnSpc>
                  <a:spcBef>
                    <a:spcPct val="0"/>
                  </a:spcBef>
                  <a:buNone/>
                </a:pPr>
                <a:r>
                  <a:rPr lang="en-US" altLang="zh-CN" sz="2400" b="1" dirty="0">
                    <a:solidFill>
                      <a:srgbClr val="0B61FF"/>
                    </a:solidFill>
                    <a:latin typeface="Trebuchet MS" panose="020B0603020202020204" pitchFamily="34" charset="0"/>
                    <a:sym typeface="Symbol" panose="05050102010706020507" pitchFamily="18" charset="2"/>
                  </a:rPr>
                  <a:t>(1) </a:t>
                </a:r>
                <a:r>
                  <a:rPr kumimoji="0" lang="zh-CN" altLang="en-US" sz="2400" b="1" dirty="0">
                    <a:latin typeface="Trebuchet MS" panose="020B0603020202020204" pitchFamily="34" charset="0"/>
                    <a:sym typeface="Symbol" panose="05050102010706020507" pitchFamily="18" charset="2"/>
                  </a:rPr>
                  <a:t></a:t>
                </a:r>
                <a:r>
                  <a:rPr kumimoji="0" lang="en-US" altLang="zh-CN" sz="2400" b="1" i="1" dirty="0">
                    <a:latin typeface="Trebuchet MS" panose="020B0603020202020204" pitchFamily="34" charset="0"/>
                  </a:rPr>
                  <a:t>xF</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g</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x</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a</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y</a:t>
                </a:r>
                <a:r>
                  <a:rPr kumimoji="0" lang="en-US" altLang="zh-CN" sz="2400" b="1" dirty="0">
                    <a:latin typeface="Trebuchet MS" panose="020B0603020202020204" pitchFamily="34" charset="0"/>
                  </a:rPr>
                  <a:t>):                              </a:t>
                </a:r>
                <a:r>
                  <a:rPr kumimoji="0" lang="zh-CN" altLang="en-US" sz="2000" b="1" dirty="0">
                    <a:solidFill>
                      <a:schemeClr val="bg2">
                        <a:lumMod val="50000"/>
                      </a:schemeClr>
                    </a:solidFill>
                    <a:latin typeface="Trebuchet MS" panose="020B0603020202020204" pitchFamily="34" charset="0"/>
                    <a:sym typeface="Symbol" panose="05050102010706020507" pitchFamily="18" charset="2"/>
                  </a:rPr>
                  <a:t></a:t>
                </a:r>
                <a:r>
                  <a:rPr kumimoji="0" lang="en-US" altLang="zh-CN" sz="2000" b="1" i="1" dirty="0">
                    <a:solidFill>
                      <a:schemeClr val="bg2">
                        <a:lumMod val="50000"/>
                      </a:schemeClr>
                    </a:solidFill>
                    <a:latin typeface="Trebuchet MS" panose="020B0603020202020204" pitchFamily="34" charset="0"/>
                  </a:rPr>
                  <a:t>x</a:t>
                </a:r>
                <a:r>
                  <a:rPr kumimoji="0" lang="en-US" altLang="zh-CN" sz="2000" b="1" dirty="0">
                    <a:solidFill>
                      <a:schemeClr val="bg2">
                        <a:lumMod val="50000"/>
                      </a:schemeClr>
                    </a:solidFill>
                    <a:latin typeface="Trebuchet MS" panose="020B0603020202020204" pitchFamily="34" charset="0"/>
                  </a:rPr>
                  <a:t>(0</a:t>
                </a:r>
                <a:r>
                  <a:rPr kumimoji="0" lang="en-US" altLang="zh-CN" sz="2000" b="1" i="1" dirty="0">
                    <a:solidFill>
                      <a:schemeClr val="bg2">
                        <a:lumMod val="50000"/>
                      </a:schemeClr>
                    </a:solidFill>
                    <a:latin typeface="Trebuchet MS" panose="020B0603020202020204" pitchFamily="34" charset="0"/>
                  </a:rPr>
                  <a:t>x=</a:t>
                </a:r>
                <a:r>
                  <a:rPr kumimoji="0" lang="en-US" altLang="zh-CN" sz="2000" b="1" dirty="0">
                    <a:solidFill>
                      <a:schemeClr val="bg2">
                        <a:lumMod val="50000"/>
                      </a:schemeClr>
                    </a:solidFill>
                    <a:latin typeface="Trebuchet MS" panose="020B0603020202020204" pitchFamily="34" charset="0"/>
                  </a:rPr>
                  <a:t>1)</a:t>
                </a:r>
                <a:r>
                  <a:rPr kumimoji="0" lang="en-US" altLang="zh-CN" sz="2400" b="1" dirty="0">
                    <a:solidFill>
                      <a:schemeClr val="bg2">
                        <a:lumMod val="50000"/>
                      </a:schemeClr>
                    </a:solidFill>
                    <a:latin typeface="Trebuchet MS" panose="020B0603020202020204" pitchFamily="34" charset="0"/>
                  </a:rPr>
                  <a:t>                 </a:t>
                </a:r>
                <a:r>
                  <a:rPr kumimoji="0" lang="en-US" altLang="zh-CN" sz="2400" b="1" dirty="0">
                    <a:latin typeface="Trebuchet MS" panose="020B0603020202020204" pitchFamily="34" charset="0"/>
                  </a:rPr>
                  <a:t>False</a:t>
                </a:r>
              </a:p>
              <a:p>
                <a:pPr marL="0" indent="0">
                  <a:lnSpc>
                    <a:spcPct val="120000"/>
                  </a:lnSpc>
                  <a:spcBef>
                    <a:spcPct val="0"/>
                  </a:spcBef>
                  <a:buNone/>
                </a:pPr>
                <a:r>
                  <a:rPr kumimoji="0" lang="en-US" altLang="zh-CN" sz="2400" b="1" dirty="0">
                    <a:solidFill>
                      <a:srgbClr val="0B61FF"/>
                    </a:solidFill>
                    <a:latin typeface="Trebuchet MS" panose="020B0603020202020204" pitchFamily="34" charset="0"/>
                    <a:sym typeface="Symbol" panose="05050102010706020507" pitchFamily="18" charset="2"/>
                  </a:rPr>
                  <a:t>(2) </a:t>
                </a:r>
                <a:r>
                  <a:rPr kumimoji="0" lang="zh-CN" altLang="en-US" sz="2400" b="1" dirty="0">
                    <a:latin typeface="Trebuchet MS" panose="020B0603020202020204" pitchFamily="34" charset="0"/>
                    <a:sym typeface="Symbol" panose="05050102010706020507" pitchFamily="18" charset="2"/>
                  </a:rPr>
                  <a:t></a:t>
                </a:r>
                <a:r>
                  <a:rPr kumimoji="0" lang="en-US" altLang="zh-CN" sz="2400" b="1" i="1" dirty="0">
                    <a:latin typeface="Trebuchet MS" panose="020B0603020202020204" pitchFamily="34" charset="0"/>
                  </a:rPr>
                  <a:t>x</a:t>
                </a:r>
                <a:r>
                  <a:rPr kumimoji="0" lang="en-US" altLang="zh-CN" sz="2400" b="1" dirty="0">
                    <a:latin typeface="Trebuchet MS" panose="020B0603020202020204" pitchFamily="34" charset="0"/>
                    <a:sym typeface="Symbol" panose="05050102010706020507" pitchFamily="18" charset="2"/>
                  </a:rPr>
                  <a:t></a:t>
                </a:r>
                <a:r>
                  <a:rPr kumimoji="0" lang="en-US" altLang="zh-CN" sz="2400" b="1" i="1" dirty="0">
                    <a:latin typeface="Trebuchet MS" panose="020B0603020202020204" pitchFamily="34" charset="0"/>
                  </a:rPr>
                  <a:t>y</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F</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f</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x</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a</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y</a:t>
                </a:r>
                <a:r>
                  <a:rPr kumimoji="0" lang="en-US" altLang="zh-CN" sz="2400" b="1" dirty="0">
                    <a:latin typeface="Trebuchet MS" panose="020B0603020202020204" pitchFamily="34" charset="0"/>
                  </a:rPr>
                  <a:t>)</a:t>
                </a:r>
                <a:r>
                  <a:rPr kumimoji="0" lang="en-US" altLang="zh-CN" sz="2400" b="1" dirty="0">
                    <a:latin typeface="Trebuchet MS" panose="020B0603020202020204" pitchFamily="34" charset="0"/>
                    <a:sym typeface="Symbol" panose="05050102010706020507" pitchFamily="18" charset="2"/>
                  </a:rPr>
                  <a:t></a:t>
                </a:r>
                <a:r>
                  <a:rPr kumimoji="0" lang="en-US" altLang="zh-CN" sz="2400" b="1" i="1" dirty="0">
                    <a:latin typeface="Trebuchet MS" panose="020B0603020202020204" pitchFamily="34" charset="0"/>
                  </a:rPr>
                  <a:t>F</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f</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y</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a</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x</a:t>
                </a:r>
                <a:r>
                  <a:rPr kumimoji="0" lang="en-US" altLang="zh-CN" sz="2400" b="1" dirty="0">
                    <a:latin typeface="Trebuchet MS" panose="020B0603020202020204" pitchFamily="34" charset="0"/>
                  </a:rPr>
                  <a:t>))                                  </a:t>
                </a:r>
                <a:r>
                  <a:rPr lang="en-US" altLang="zh-CN" sz="2400" b="1" dirty="0">
                    <a:latin typeface="Trebuchet MS" panose="020B0603020202020204" pitchFamily="34" charset="0"/>
                  </a:rPr>
                  <a:t>Truth</a:t>
                </a:r>
                <a:endParaRPr kumimoji="0" lang="en-US" altLang="zh-CN" sz="2400" b="1" dirty="0">
                  <a:latin typeface="Trebuchet MS" panose="020B0603020202020204" pitchFamily="34" charset="0"/>
                </a:endParaRPr>
              </a:p>
              <a:p>
                <a:pPr marL="0" indent="0">
                  <a:lnSpc>
                    <a:spcPct val="120000"/>
                  </a:lnSpc>
                  <a:spcBef>
                    <a:spcPct val="0"/>
                  </a:spcBef>
                  <a:buNone/>
                </a:pPr>
                <a:r>
                  <a:rPr kumimoji="0" lang="en-US" altLang="zh-CN" sz="2000" b="1" i="1" dirty="0">
                    <a:latin typeface="Trebuchet MS" panose="020B0603020202020204" pitchFamily="34" charset="0"/>
                  </a:rPr>
                  <a:t>      </a:t>
                </a:r>
                <a:r>
                  <a:rPr lang="en-US" altLang="zh-CN" sz="2000" b="1" dirty="0">
                    <a:solidFill>
                      <a:schemeClr val="bg2">
                        <a:lumMod val="50000"/>
                      </a:schemeClr>
                    </a:solidFill>
                    <a:latin typeface="Trebuchet MS" panose="020B0603020202020204" pitchFamily="34" charset="0"/>
                  </a:rPr>
                  <a:t>f(x,a)=x,f(y,a)=y, </a:t>
                </a:r>
                <a:r>
                  <a:rPr lang="zh-CN" altLang="en-US" sz="2000" b="1" dirty="0">
                    <a:solidFill>
                      <a:schemeClr val="bg2">
                        <a:lumMod val="50000"/>
                      </a:schemeClr>
                    </a:solidFill>
                    <a:latin typeface="Trebuchet MS" panose="020B0603020202020204" pitchFamily="34" charset="0"/>
                    <a:sym typeface="Symbol" panose="05050102010706020507" pitchFamily="18" charset="2"/>
                  </a:rPr>
                  <a:t></a:t>
                </a:r>
                <a:r>
                  <a:rPr lang="en-US" altLang="zh-CN" sz="2000" b="1" dirty="0">
                    <a:solidFill>
                      <a:schemeClr val="bg2">
                        <a:lumMod val="50000"/>
                      </a:schemeClr>
                    </a:solidFill>
                    <a:latin typeface="Trebuchet MS" panose="020B0603020202020204" pitchFamily="34" charset="0"/>
                  </a:rPr>
                  <a:t>x</a:t>
                </a:r>
                <a:r>
                  <a:rPr lang="en-US" altLang="zh-CN" sz="2000" b="1" dirty="0">
                    <a:solidFill>
                      <a:schemeClr val="bg2">
                        <a:lumMod val="50000"/>
                      </a:schemeClr>
                    </a:solidFill>
                    <a:latin typeface="Trebuchet MS" panose="020B0603020202020204" pitchFamily="34" charset="0"/>
                    <a:sym typeface="Symbol" panose="05050102010706020507" pitchFamily="18" charset="2"/>
                  </a:rPr>
                  <a:t></a:t>
                </a:r>
                <a:r>
                  <a:rPr lang="en-US" altLang="zh-CN" sz="2000" b="1" dirty="0">
                    <a:solidFill>
                      <a:schemeClr val="bg2">
                        <a:lumMod val="50000"/>
                      </a:schemeClr>
                    </a:solidFill>
                    <a:latin typeface="Trebuchet MS" panose="020B0603020202020204" pitchFamily="34" charset="0"/>
                  </a:rPr>
                  <a:t>y(F(x,y)</a:t>
                </a:r>
                <a:r>
                  <a:rPr lang="en-US" altLang="zh-CN" sz="2000" b="1" dirty="0">
                    <a:solidFill>
                      <a:schemeClr val="bg2">
                        <a:lumMod val="50000"/>
                      </a:schemeClr>
                    </a:solidFill>
                    <a:latin typeface="Trebuchet MS" panose="020B0603020202020204" pitchFamily="34" charset="0"/>
                    <a:sym typeface="Symbol" panose="05050102010706020507" pitchFamily="18" charset="2"/>
                  </a:rPr>
                  <a:t></a:t>
                </a:r>
                <a:r>
                  <a:rPr lang="en-US" altLang="zh-CN" sz="2000" b="1" dirty="0">
                    <a:solidFill>
                      <a:schemeClr val="bg2">
                        <a:lumMod val="50000"/>
                      </a:schemeClr>
                    </a:solidFill>
                    <a:latin typeface="Trebuchet MS" panose="020B0603020202020204" pitchFamily="34" charset="0"/>
                  </a:rPr>
                  <a:t>F(y,x)), (x=y)→(y=x)</a:t>
                </a:r>
                <a:endParaRPr lang="es-ES" altLang="zh-CN" sz="2400" b="1" dirty="0">
                  <a:latin typeface="Trebuchet MS" panose="020B0603020202020204" pitchFamily="34" charset="0"/>
                </a:endParaRPr>
              </a:p>
              <a:p>
                <a:pPr marL="0" indent="0">
                  <a:lnSpc>
                    <a:spcPct val="120000"/>
                  </a:lnSpc>
                  <a:spcBef>
                    <a:spcPct val="0"/>
                  </a:spcBef>
                  <a:buNone/>
                </a:pPr>
                <a:r>
                  <a:rPr kumimoji="0" lang="en-US" altLang="zh-CN" sz="2400" b="1" dirty="0">
                    <a:solidFill>
                      <a:srgbClr val="0B61FF"/>
                    </a:solidFill>
                    <a:latin typeface="Trebuchet MS" panose="020B0603020202020204" pitchFamily="34" charset="0"/>
                    <a:sym typeface="Symbol" panose="05050102010706020507" pitchFamily="18" charset="2"/>
                  </a:rPr>
                  <a:t>(3) </a:t>
                </a:r>
                <a:r>
                  <a:rPr lang="zh-CN" altLang="en-US"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x</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y</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zF</a:t>
                </a:r>
                <a:r>
                  <a:rPr lang="en-US" altLang="zh-CN" sz="2400" b="1" dirty="0">
                    <a:latin typeface="Trebuchet MS" panose="020B0603020202020204" pitchFamily="34" charset="0"/>
                  </a:rPr>
                  <a:t>(</a:t>
                </a:r>
                <a:r>
                  <a:rPr lang="en-US" altLang="zh-CN" sz="2400" b="1" i="1" dirty="0">
                    <a:latin typeface="Trebuchet MS" panose="020B0603020202020204" pitchFamily="34" charset="0"/>
                  </a:rPr>
                  <a:t>f</a:t>
                </a:r>
                <a:r>
                  <a:rPr lang="en-US" altLang="zh-CN" sz="2400" b="1" dirty="0">
                    <a:latin typeface="Trebuchet MS" panose="020B0603020202020204" pitchFamily="34" charset="0"/>
                  </a:rPr>
                  <a:t>(</a:t>
                </a:r>
                <a:r>
                  <a:rPr lang="en-US" altLang="zh-CN" sz="2400" b="1" i="1" dirty="0">
                    <a:latin typeface="Trebuchet MS" panose="020B0603020202020204" pitchFamily="34" charset="0"/>
                  </a:rPr>
                  <a:t>x</a:t>
                </a:r>
                <a:r>
                  <a:rPr lang="en-US" altLang="zh-CN" sz="2400" b="1" dirty="0">
                    <a:latin typeface="Trebuchet MS" panose="020B0603020202020204" pitchFamily="34" charset="0"/>
                  </a:rPr>
                  <a:t>,</a:t>
                </a:r>
                <a:r>
                  <a:rPr lang="en-US" altLang="zh-CN" sz="2400" b="1" i="1" dirty="0">
                    <a:latin typeface="Trebuchet MS" panose="020B0603020202020204" pitchFamily="34" charset="0"/>
                  </a:rPr>
                  <a:t>y</a:t>
                </a:r>
                <a:r>
                  <a:rPr lang="en-US" altLang="zh-CN" sz="2400" b="1" dirty="0">
                    <a:latin typeface="Trebuchet MS" panose="020B0603020202020204" pitchFamily="34" charset="0"/>
                  </a:rPr>
                  <a:t>),</a:t>
                </a:r>
                <a:r>
                  <a:rPr lang="en-US" altLang="zh-CN" sz="2400" b="1" i="1" dirty="0">
                    <a:latin typeface="Trebuchet MS" panose="020B0603020202020204" pitchFamily="34" charset="0"/>
                  </a:rPr>
                  <a:t>z</a:t>
                </a:r>
                <a:r>
                  <a:rPr lang="en-US" altLang="zh-CN" sz="2400" b="1" dirty="0">
                    <a:latin typeface="Trebuchet MS" panose="020B0603020202020204" pitchFamily="34" charset="0"/>
                  </a:rPr>
                  <a:t>)                       </a:t>
                </a:r>
                <a:r>
                  <a:rPr lang="en-US" altLang="zh-CN" sz="2000" b="1" dirty="0">
                    <a:solidFill>
                      <a:schemeClr val="bg2">
                        <a:lumMod val="50000"/>
                      </a:schemeClr>
                    </a:solidFill>
                    <a:latin typeface="Trebuchet MS" panose="020B0603020202020204" pitchFamily="34" charset="0"/>
                  </a:rPr>
                  <a:t>x</a:t>
                </a:r>
                <a:r>
                  <a:rPr lang="en-US" altLang="zh-CN" sz="2000" b="1" dirty="0">
                    <a:solidFill>
                      <a:schemeClr val="bg2">
                        <a:lumMod val="50000"/>
                      </a:schemeClr>
                    </a:solidFill>
                    <a:latin typeface="Trebuchet MS" panose="020B0603020202020204" pitchFamily="34" charset="0"/>
                    <a:sym typeface="Symbol" panose="05050102010706020507" pitchFamily="18" charset="2"/>
                  </a:rPr>
                  <a:t></a:t>
                </a:r>
                <a:r>
                  <a:rPr lang="en-US" altLang="zh-CN" sz="2000" b="1" dirty="0">
                    <a:solidFill>
                      <a:schemeClr val="bg2">
                        <a:lumMod val="50000"/>
                      </a:schemeClr>
                    </a:solidFill>
                    <a:latin typeface="Trebuchet MS" panose="020B0603020202020204" pitchFamily="34" charset="0"/>
                  </a:rPr>
                  <a:t>y</a:t>
                </a:r>
                <a:r>
                  <a:rPr lang="en-US" altLang="zh-CN" sz="2000" b="1" dirty="0">
                    <a:solidFill>
                      <a:schemeClr val="bg2">
                        <a:lumMod val="50000"/>
                      </a:schemeClr>
                    </a:solidFill>
                    <a:latin typeface="Trebuchet MS" panose="020B0603020202020204" pitchFamily="34" charset="0"/>
                    <a:sym typeface="Symbol" panose="05050102010706020507" pitchFamily="18" charset="2"/>
                  </a:rPr>
                  <a:t></a:t>
                </a:r>
                <a:r>
                  <a:rPr lang="en-US" altLang="zh-CN" sz="2000" b="1" dirty="0">
                    <a:solidFill>
                      <a:schemeClr val="bg2">
                        <a:lumMod val="50000"/>
                      </a:schemeClr>
                    </a:solidFill>
                    <a:latin typeface="Trebuchet MS" panose="020B0603020202020204" pitchFamily="34" charset="0"/>
                  </a:rPr>
                  <a:t>z (x+y=z)              </a:t>
                </a:r>
                <a:r>
                  <a:rPr lang="en-US" altLang="zh-CN" sz="2400" b="1" dirty="0">
                    <a:latin typeface="Trebuchet MS" panose="020B0603020202020204" pitchFamily="34" charset="0"/>
                  </a:rPr>
                  <a:t>Truth</a:t>
                </a:r>
              </a:p>
              <a:p>
                <a:pPr marL="0" indent="0">
                  <a:lnSpc>
                    <a:spcPct val="120000"/>
                  </a:lnSpc>
                  <a:spcBef>
                    <a:spcPct val="0"/>
                  </a:spcBef>
                  <a:buNone/>
                </a:pPr>
                <a:r>
                  <a:rPr kumimoji="0" lang="en-US" altLang="zh-CN" sz="2400" b="1" dirty="0">
                    <a:solidFill>
                      <a:srgbClr val="0B61FF"/>
                    </a:solidFill>
                    <a:latin typeface="Trebuchet MS" panose="020B0603020202020204" pitchFamily="34" charset="0"/>
                    <a:sym typeface="Symbol" panose="05050102010706020507" pitchFamily="18" charset="2"/>
                  </a:rPr>
                  <a:t>(4) </a:t>
                </a:r>
                <a:r>
                  <a:rPr kumimoji="0" lang="zh-CN" altLang="en-US" sz="2400" b="1" dirty="0">
                    <a:latin typeface="Trebuchet MS" panose="020B0603020202020204" pitchFamily="34" charset="0"/>
                    <a:sym typeface="Symbol" panose="05050102010706020507" pitchFamily="18" charset="2"/>
                  </a:rPr>
                  <a:t></a:t>
                </a:r>
                <a:r>
                  <a:rPr kumimoji="0" lang="en-US" altLang="zh-CN" sz="2400" b="1" i="1" dirty="0">
                    <a:latin typeface="Trebuchet MS" panose="020B0603020202020204" pitchFamily="34" charset="0"/>
                  </a:rPr>
                  <a:t>xF</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f</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x</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y</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g</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x</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z</a:t>
                </a:r>
                <a:r>
                  <a:rPr kumimoji="0" lang="en-US" altLang="zh-CN" sz="2400" b="1" dirty="0">
                    <a:latin typeface="Trebuchet MS" panose="020B0603020202020204" pitchFamily="34" charset="0"/>
                  </a:rPr>
                  <a:t>))                        </a:t>
                </a:r>
                <a:r>
                  <a:rPr lang="zh-CN" altLang="en-US" sz="2000" b="1" dirty="0">
                    <a:solidFill>
                      <a:schemeClr val="bg2">
                        <a:lumMod val="50000"/>
                      </a:schemeClr>
                    </a:solidFill>
                    <a:latin typeface="Trebuchet MS" panose="020B0603020202020204" pitchFamily="34" charset="0"/>
                    <a:sym typeface="Symbol" panose="05050102010706020507" pitchFamily="18" charset="2"/>
                  </a:rPr>
                  <a:t></a:t>
                </a:r>
                <a:r>
                  <a:rPr lang="en-US" altLang="zh-CN" sz="2000" b="1" dirty="0">
                    <a:solidFill>
                      <a:schemeClr val="bg2">
                        <a:lumMod val="50000"/>
                      </a:schemeClr>
                    </a:solidFill>
                    <a:latin typeface="Trebuchet MS" panose="020B0603020202020204" pitchFamily="34" charset="0"/>
                  </a:rPr>
                  <a:t>x(x+1=2x)                   </a:t>
                </a:r>
                <a:r>
                  <a:rPr lang="en-US" altLang="zh-CN" sz="2400" b="1" dirty="0">
                    <a:latin typeface="Trebuchet MS" panose="020B0603020202020204" pitchFamily="34" charset="0"/>
                  </a:rPr>
                  <a:t>Truth</a:t>
                </a:r>
              </a:p>
              <a:p>
                <a:pPr marL="0" indent="0">
                  <a:lnSpc>
                    <a:spcPct val="120000"/>
                  </a:lnSpc>
                  <a:spcBef>
                    <a:spcPct val="0"/>
                  </a:spcBef>
                  <a:buNone/>
                </a:pPr>
                <a:r>
                  <a:rPr kumimoji="0" lang="en-US" altLang="zh-CN" sz="2400" b="1" dirty="0">
                    <a:solidFill>
                      <a:srgbClr val="0B61FF"/>
                    </a:solidFill>
                    <a:latin typeface="Trebuchet MS" panose="020B0603020202020204" pitchFamily="34" charset="0"/>
                    <a:sym typeface="Symbol" panose="05050102010706020507" pitchFamily="18" charset="2"/>
                  </a:rPr>
                  <a:t>(5) </a:t>
                </a:r>
                <a:r>
                  <a:rPr kumimoji="0" lang="en-US" altLang="zh-CN" sz="2400" b="1" i="1" dirty="0">
                    <a:latin typeface="Trebuchet MS" panose="020B0603020202020204" pitchFamily="34" charset="0"/>
                  </a:rPr>
                  <a:t>F</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f</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x</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a</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g</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y,a</a:t>
                </a:r>
                <a:r>
                  <a:rPr kumimoji="0" lang="en-US" altLang="zh-CN" sz="2400" b="1" dirty="0">
                    <a:latin typeface="Trebuchet MS" panose="020B0603020202020204" pitchFamily="34" charset="0"/>
                  </a:rPr>
                  <a:t>))                           </a:t>
                </a:r>
                <a:r>
                  <a:rPr lang="en-US" altLang="zh-CN" sz="2000" b="1" dirty="0">
                    <a:solidFill>
                      <a:schemeClr val="bg2">
                        <a:lumMod val="50000"/>
                      </a:schemeClr>
                    </a:solidFill>
                    <a:latin typeface="Trebuchet MS" panose="020B0603020202020204" pitchFamily="34" charset="0"/>
                  </a:rPr>
                  <a:t>x+0=1</a:t>
                </a:r>
                <a:r>
                  <a:rPr lang="en-US" altLang="zh-CN" sz="2000" b="1" dirty="0">
                    <a:solidFill>
                      <a:schemeClr val="bg2">
                        <a:lumMod val="50000"/>
                      </a:schemeClr>
                    </a:solidFill>
                    <a:latin typeface="Trebuchet MS" panose="020B0603020202020204" pitchFamily="34" charset="0"/>
                    <a:sym typeface="Symbol" panose="05050102010706020507" pitchFamily="18" charset="2"/>
                  </a:rPr>
                  <a:t></a:t>
                </a:r>
                <a:r>
                  <a:rPr lang="en-US" altLang="zh-CN" sz="2000" b="1" dirty="0">
                    <a:solidFill>
                      <a:schemeClr val="bg2">
                        <a:lumMod val="50000"/>
                      </a:schemeClr>
                    </a:solidFill>
                    <a:latin typeface="Trebuchet MS" panose="020B0603020202020204" pitchFamily="34" charset="0"/>
                  </a:rPr>
                  <a:t>0                       </a:t>
                </a:r>
                <a:r>
                  <a:rPr lang="en-US" altLang="zh-CN" sz="2400" b="1" dirty="0">
                    <a:latin typeface="Trebuchet MS" panose="020B0603020202020204" pitchFamily="34" charset="0"/>
                  </a:rPr>
                  <a:t>Truth</a:t>
                </a:r>
              </a:p>
              <a:p>
                <a:pPr marL="0" indent="0">
                  <a:lnSpc>
                    <a:spcPct val="120000"/>
                  </a:lnSpc>
                  <a:spcBef>
                    <a:spcPct val="0"/>
                  </a:spcBef>
                  <a:buNone/>
                </a:pPr>
                <a:r>
                  <a:rPr kumimoji="0" lang="en-US" altLang="zh-CN" sz="2400" b="1" dirty="0">
                    <a:solidFill>
                      <a:srgbClr val="0B61FF"/>
                    </a:solidFill>
                    <a:latin typeface="Trebuchet MS" panose="020B0603020202020204" pitchFamily="34" charset="0"/>
                    <a:sym typeface="Symbol" panose="05050102010706020507" pitchFamily="18" charset="2"/>
                  </a:rPr>
                  <a:t>(6) </a:t>
                </a:r>
                <a:r>
                  <a:rPr lang="zh-CN" altLang="en-US"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x</a:t>
                </a:r>
                <a:r>
                  <a:rPr lang="en-US" altLang="zh-CN" sz="2400" b="1" dirty="0">
                    <a:latin typeface="Trebuchet MS" panose="020B0603020202020204" pitchFamily="34" charset="0"/>
                  </a:rPr>
                  <a:t>(</a:t>
                </a:r>
                <a:r>
                  <a:rPr kumimoji="0" lang="en-US" altLang="zh-CN" sz="2400" b="1" i="1" dirty="0">
                    <a:latin typeface="Trebuchet MS" panose="020B0603020202020204" pitchFamily="34" charset="0"/>
                  </a:rPr>
                  <a:t>F</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x,y</a:t>
                </a:r>
                <a:r>
                  <a:rPr kumimoji="0" lang="en-US" altLang="zh-CN" sz="2400" b="1" dirty="0">
                    <a:latin typeface="Trebuchet MS" panose="020B0603020202020204" pitchFamily="34" charset="0"/>
                  </a:rPr>
                  <a:t>)</a:t>
                </a:r>
                <a:r>
                  <a:rPr kumimoji="0" lang="en-US" altLang="zh-CN" sz="2400" b="1" dirty="0">
                    <a:latin typeface="Trebuchet MS" panose="020B0603020202020204" pitchFamily="34" charset="0"/>
                    <a:sym typeface="Symbol" panose="05050102010706020507" pitchFamily="18" charset="2"/>
                  </a:rPr>
                  <a:t></a:t>
                </a:r>
                <a:r>
                  <a:rPr kumimoji="0" lang="en-US" altLang="zh-CN" sz="2400" b="1" i="1" dirty="0">
                    <a:latin typeface="Trebuchet MS" panose="020B0603020202020204" pitchFamily="34" charset="0"/>
                    <a:sym typeface="Symbol" panose="05050102010706020507" pitchFamily="18" charset="2"/>
                  </a:rPr>
                  <a:t>y</a:t>
                </a:r>
                <a:r>
                  <a:rPr kumimoji="0" lang="en-US" altLang="zh-CN" sz="2400" b="1" i="1" dirty="0">
                    <a:latin typeface="Trebuchet MS" panose="020B0603020202020204" pitchFamily="34" charset="0"/>
                  </a:rPr>
                  <a:t>F</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f</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x</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a</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g</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y,a</a:t>
                </a:r>
                <a:r>
                  <a:rPr kumimoji="0" lang="en-US" altLang="zh-CN" sz="2400" b="1" dirty="0">
                    <a:latin typeface="Trebuchet MS" panose="020B0603020202020204" pitchFamily="34" charset="0"/>
                  </a:rPr>
                  <a:t>)))    </a:t>
                </a:r>
                <a:r>
                  <a:rPr lang="zh-CN" altLang="en-US" sz="2000" b="1" dirty="0">
                    <a:solidFill>
                      <a:schemeClr val="bg2">
                        <a:lumMod val="50000"/>
                      </a:schemeClr>
                    </a:solidFill>
                    <a:latin typeface="Trebuchet MS" panose="020B0603020202020204" pitchFamily="34" charset="0"/>
                    <a:sym typeface="Symbol" panose="05050102010706020507" pitchFamily="18" charset="2"/>
                  </a:rPr>
                  <a:t></a:t>
                </a:r>
                <a:r>
                  <a:rPr lang="en-US" altLang="zh-CN" sz="2000" b="1" dirty="0">
                    <a:solidFill>
                      <a:schemeClr val="bg2">
                        <a:lumMod val="50000"/>
                      </a:schemeClr>
                    </a:solidFill>
                    <a:latin typeface="Trebuchet MS" panose="020B0603020202020204" pitchFamily="34" charset="0"/>
                  </a:rPr>
                  <a:t>x</a:t>
                </a:r>
                <a:r>
                  <a:rPr lang="zh-CN" altLang="en-US" sz="2000" b="1" dirty="0">
                    <a:solidFill>
                      <a:schemeClr val="bg2">
                        <a:lumMod val="50000"/>
                      </a:schemeClr>
                    </a:solidFill>
                    <a:latin typeface="Trebuchet MS" panose="020B0603020202020204" pitchFamily="34" charset="0"/>
                  </a:rPr>
                  <a:t>(</a:t>
                </a:r>
                <a:r>
                  <a:rPr lang="en-US" altLang="zh-CN" sz="2000" b="1" dirty="0">
                    <a:solidFill>
                      <a:schemeClr val="bg2">
                        <a:lumMod val="50000"/>
                      </a:schemeClr>
                    </a:solidFill>
                    <a:latin typeface="Trebuchet MS" panose="020B0603020202020204" pitchFamily="34" charset="0"/>
                  </a:rPr>
                  <a:t>x=1</a:t>
                </a:r>
                <a:r>
                  <a:rPr lang="en-US" altLang="zh-CN" sz="2000" b="1" dirty="0">
                    <a:solidFill>
                      <a:schemeClr val="bg2">
                        <a:lumMod val="50000"/>
                      </a:schemeClr>
                    </a:solidFill>
                    <a:latin typeface="Trebuchet MS" panose="020B0603020202020204" pitchFamily="34" charset="0"/>
                    <a:sym typeface="Symbol" panose="05050102010706020507" pitchFamily="18" charset="2"/>
                  </a:rPr>
                  <a:t>y(</a:t>
                </a:r>
                <a:r>
                  <a:rPr lang="en-US" altLang="zh-CN" sz="2000" b="1" dirty="0">
                    <a:solidFill>
                      <a:schemeClr val="bg2">
                        <a:lumMod val="50000"/>
                      </a:schemeClr>
                    </a:solidFill>
                    <a:latin typeface="Trebuchet MS" panose="020B0603020202020204" pitchFamily="34" charset="0"/>
                  </a:rPr>
                  <a:t>x+2=2y))   </a:t>
                </a:r>
                <a:r>
                  <a:rPr kumimoji="0" lang="en-US" altLang="zh-CN" sz="2400" b="1" dirty="0">
                    <a:latin typeface="Trebuchet MS" panose="020B0603020202020204" pitchFamily="34" charset="0"/>
                  </a:rPr>
                  <a:t>False</a:t>
                </a:r>
                <a:endParaRPr kumimoji="0" lang="zh-CN" altLang="en-US" sz="2400" b="1" dirty="0"/>
              </a:p>
              <a:p>
                <a:pPr marL="0" indent="0">
                  <a:lnSpc>
                    <a:spcPct val="120000"/>
                  </a:lnSpc>
                  <a:spcBef>
                    <a:spcPct val="0"/>
                  </a:spcBef>
                  <a:buNone/>
                </a:pPr>
                <a:endParaRPr kumimoji="0" lang="zh-CN" altLang="en-US" sz="2400" b="1" dirty="0"/>
              </a:p>
              <a:p>
                <a:pPr marL="0" indent="0" eaLnBrk="1" hangingPunct="1">
                  <a:lnSpc>
                    <a:spcPct val="120000"/>
                  </a:lnSpc>
                  <a:spcBef>
                    <a:spcPct val="0"/>
                  </a:spcBef>
                  <a:buNone/>
                </a:pPr>
                <a:endParaRPr kumimoji="0" lang="zh-CN" altLang="en-US" sz="2400" dirty="0">
                  <a:latin typeface="Trebuchet MS" panose="020B0603020202020204" pitchFamily="34" charset="0"/>
                </a:endParaRPr>
              </a:p>
            </p:txBody>
          </p:sp>
        </mc:Choice>
        <mc:Fallback>
          <p:sp>
            <p:nvSpPr>
              <p:cNvPr id="8" name="Rectangle 3">
                <a:extLst>
                  <a:ext uri="{FF2B5EF4-FFF2-40B4-BE49-F238E27FC236}">
                    <a16:creationId xmlns:a16="http://schemas.microsoft.com/office/drawing/2014/main" id="{97F08C45-3D15-45C1-A5A3-D1EB58DC91FE}"/>
                  </a:ext>
                </a:extLst>
              </p:cNvPr>
              <p:cNvSpPr txBox="1">
                <a:spLocks noRot="1" noChangeAspect="1" noMove="1" noResize="1" noEditPoints="1" noAdjustHandles="1" noChangeArrowheads="1" noChangeShapeType="1" noTextEdit="1"/>
              </p:cNvSpPr>
              <p:nvPr/>
            </p:nvSpPr>
            <p:spPr>
              <a:xfrm>
                <a:off x="1000124" y="765175"/>
                <a:ext cx="10397219" cy="5788025"/>
              </a:xfrm>
              <a:prstGeom prst="rect">
                <a:avLst/>
              </a:prstGeom>
              <a:blipFill>
                <a:blip r:embed="rId5"/>
                <a:stretch>
                  <a:fillRect l="-879" t="-316" r="-32474"/>
                </a:stretch>
              </a:blipFill>
            </p:spPr>
            <p:txBody>
              <a:bodyPr/>
              <a:lstStyle/>
              <a:p>
                <a:r>
                  <a:rPr lang="en-US">
                    <a:noFill/>
                  </a:rPr>
                  <a:t> </a:t>
                </a:r>
              </a:p>
            </p:txBody>
          </p:sp>
        </mc:Fallback>
      </mc:AlternateContent>
      <p:pic>
        <p:nvPicPr>
          <p:cNvPr id="16" name="图片 15">
            <a:extLst>
              <a:ext uri="{FF2B5EF4-FFF2-40B4-BE49-F238E27FC236}">
                <a16:creationId xmlns:a16="http://schemas.microsoft.com/office/drawing/2014/main" id="{C59144B9-6AAA-445C-AD1A-2198602C841F}"/>
              </a:ext>
            </a:extLst>
          </p:cNvPr>
          <p:cNvPicPr/>
          <p:nvPr/>
        </p:nvPicPr>
        <p:blipFill>
          <a:blip r:embed="rId6"/>
          <a:stretch>
            <a:fillRect/>
          </a:stretch>
        </p:blipFill>
        <p:spPr>
          <a:xfrm>
            <a:off x="984701" y="902603"/>
            <a:ext cx="577850" cy="241300"/>
          </a:xfrm>
          <a:prstGeom prst="rect">
            <a:avLst/>
          </a:prstGeom>
        </p:spPr>
      </p:pic>
    </p:spTree>
    <p:extLst>
      <p:ext uri="{BB962C8B-B14F-4D97-AF65-F5344CB8AC3E}">
        <p14:creationId xmlns:p14="http://schemas.microsoft.com/office/powerpoint/2010/main" val="340023808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spcBef>
                <a:spcPts val="600"/>
              </a:spcBef>
              <a:buClr>
                <a:srgbClr val="0B61FF"/>
              </a:buClr>
              <a:buSzPct val="80000"/>
            </a:pP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effectLst/>
                <a:latin typeface="Cambria Math" panose="02040503050406030204" pitchFamily="18" charset="0"/>
                <a:ea typeface="Cambria Math" panose="02040503050406030204" pitchFamily="18" charset="0"/>
                <a:cs typeface="Times New Roman" panose="02020603050405020304" pitchFamily="18" charset="0"/>
              </a:rPr>
              <a:t> 3</a:t>
            </a:r>
            <a:r>
              <a:rPr lang="en-US" altLang="zh-CN" sz="1800" b="1" dirty="0">
                <a:solidFill>
                  <a:schemeClr val="bg1"/>
                </a:solidFill>
                <a:latin typeface="Trebuchet MS" panose="020B0603020202020204" pitchFamily="34" charset="0"/>
              </a:rPr>
              <a:t>.1.4</a:t>
            </a:r>
            <a:r>
              <a:rPr lang="en-US" altLang="zh-CN" sz="1800" b="1" dirty="0">
                <a:solidFill>
                  <a:srgbClr val="0B61FF"/>
                </a:solidFill>
                <a:latin typeface="Trebuchet MS" panose="020B0603020202020204" pitchFamily="34" charset="0"/>
              </a:rPr>
              <a:t> </a:t>
            </a:r>
            <a:r>
              <a:rPr lang="en-US" altLang="zh-CN" sz="1800" b="1" dirty="0">
                <a:solidFill>
                  <a:schemeClr val="bg1"/>
                </a:solidFill>
                <a:latin typeface="Trebuchet MS" panose="020B0603020202020204" pitchFamily="34" charset="0"/>
              </a:rPr>
              <a:t>First-Order Logic Formulas and Classification</a:t>
            </a:r>
          </a:p>
          <a:p>
            <a:pPr>
              <a:spcBef>
                <a:spcPts val="600"/>
              </a:spcBef>
              <a:buClr>
                <a:srgbClr val="0B61FF"/>
              </a:buClr>
              <a:buSzPct val="80000"/>
            </a:pPr>
            <a:r>
              <a:rPr lang="en-US" altLang="zh-CN" sz="1200" dirty="0">
                <a:latin typeface="Trebuchet MS" panose="020B0603020202020204" pitchFamily="34" charset="0"/>
                <a:ea typeface="Cambria Math" panose="02040503050406030204" pitchFamily="18" charset="0"/>
                <a:cs typeface="Times New Roman" panose="02020603050405020304" pitchFamily="18" charset="0"/>
              </a:rPr>
              <a:t>                        </a:t>
            </a:r>
            <a:r>
              <a:rPr lang="en-US" altLang="zh-CN" sz="1800"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2400" b="1" dirty="0">
                <a:latin typeface="Trebuchet MS" panose="020B0603020202020204" pitchFamily="34" charset="0"/>
              </a:rPr>
              <a:t>Classification of first-order</a:t>
            </a:r>
            <a:r>
              <a:rPr lang="en-US" altLang="zh-CN" sz="2400" b="1" dirty="0">
                <a:solidFill>
                  <a:schemeClr val="bg1"/>
                </a:solidFill>
                <a:latin typeface="Trebuchet MS" panose="020B0603020202020204" pitchFamily="34" charset="0"/>
              </a:rPr>
              <a:t> Logic</a:t>
            </a:r>
            <a:r>
              <a:rPr lang="en-US" altLang="zh-CN" sz="2400" b="1" dirty="0">
                <a:latin typeface="Trebuchet MS" panose="020B0603020202020204" pitchFamily="34" charset="0"/>
              </a:rPr>
              <a:t> formulas</a:t>
            </a:r>
            <a:endParaRPr lang="zh-CN" altLang="en-US" sz="2400" b="1" dirty="0">
              <a:solidFill>
                <a:schemeClr val="bg1"/>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5"/>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824681" y="765176"/>
            <a:ext cx="9320805" cy="527746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lnSpc>
                <a:spcPct val="120000"/>
              </a:lnSpc>
              <a:spcBef>
                <a:spcPts val="600"/>
              </a:spcBef>
              <a:buClr>
                <a:srgbClr val="0B61FF"/>
              </a:buClr>
              <a:buSzPct val="80000"/>
              <a:buFont typeface="Wingdings" panose="05000000000000000000" pitchFamily="2" charset="2"/>
              <a:buChar char="n"/>
            </a:pPr>
            <a:r>
              <a:rPr lang="en-US" altLang="zh-CN" sz="2400" b="1" i="1" dirty="0">
                <a:solidFill>
                  <a:srgbClr val="0C0D0E"/>
                </a:solidFill>
                <a:effectLst/>
                <a:latin typeface="Trebuchet MS" panose="020B0603020202020204" pitchFamily="34" charset="0"/>
              </a:rPr>
              <a:t>T</a:t>
            </a:r>
            <a:r>
              <a:rPr lang="en-US" sz="2400" b="1" i="1" dirty="0">
                <a:solidFill>
                  <a:srgbClr val="0C0D0E"/>
                </a:solidFill>
                <a:effectLst/>
                <a:latin typeface="Trebuchet MS" panose="020B0603020202020204" pitchFamily="34" charset="0"/>
              </a:rPr>
              <a:t>autology</a:t>
            </a:r>
            <a:r>
              <a:rPr lang="en-US" sz="2400" b="0" i="0" dirty="0">
                <a:solidFill>
                  <a:srgbClr val="0C0D0E"/>
                </a:solidFill>
                <a:effectLst/>
                <a:latin typeface="Trebuchet MS" panose="020B0603020202020204" pitchFamily="34" charset="0"/>
              </a:rPr>
              <a:t> (logically valid formula): no false interpretation and assignment.</a:t>
            </a:r>
          </a:p>
          <a:p>
            <a:pPr>
              <a:lnSpc>
                <a:spcPct val="120000"/>
              </a:lnSpc>
              <a:spcBef>
                <a:spcPts val="600"/>
              </a:spcBef>
              <a:buClr>
                <a:srgbClr val="0B61FF"/>
              </a:buClr>
              <a:buSzPct val="80000"/>
              <a:buFont typeface="Wingdings" panose="05000000000000000000" pitchFamily="2" charset="2"/>
              <a:buChar char="n"/>
            </a:pPr>
            <a:r>
              <a:rPr lang="en-US" altLang="zh-CN" sz="2400" b="1" i="1" dirty="0">
                <a:solidFill>
                  <a:srgbClr val="0C0D0E"/>
                </a:solidFill>
                <a:effectLst/>
                <a:latin typeface="Trebuchet MS" panose="020B0603020202020204" pitchFamily="34" charset="0"/>
              </a:rPr>
              <a:t>C</a:t>
            </a:r>
            <a:r>
              <a:rPr lang="en-US" sz="2400" b="1" i="1" dirty="0">
                <a:solidFill>
                  <a:srgbClr val="0C0D0E"/>
                </a:solidFill>
                <a:effectLst/>
                <a:latin typeface="Trebuchet MS" panose="020B0603020202020204" pitchFamily="34" charset="0"/>
              </a:rPr>
              <a:t>ontradiction</a:t>
            </a:r>
            <a:r>
              <a:rPr lang="en-US" sz="2400" b="0" i="0" dirty="0">
                <a:solidFill>
                  <a:srgbClr val="0C0D0E"/>
                </a:solidFill>
                <a:effectLst/>
                <a:latin typeface="Trebuchet MS" panose="020B0603020202020204" pitchFamily="34" charset="0"/>
              </a:rPr>
              <a:t> (contravalid formula): no true interpretation and assignment.</a:t>
            </a:r>
            <a:r>
              <a:rPr lang="en-US" altLang="zh-CN" sz="2400" dirty="0"/>
              <a:t> </a:t>
            </a:r>
            <a:endParaRPr lang="en-US" sz="2400" b="0" i="0" dirty="0">
              <a:solidFill>
                <a:srgbClr val="0C0D0E"/>
              </a:solidFill>
              <a:effectLst/>
              <a:latin typeface="Trebuchet MS" panose="020B0603020202020204" pitchFamily="34" charset="0"/>
            </a:endParaRPr>
          </a:p>
          <a:p>
            <a:pPr algn="l">
              <a:lnSpc>
                <a:spcPct val="120000"/>
              </a:lnSpc>
              <a:spcBef>
                <a:spcPts val="600"/>
              </a:spcBef>
              <a:buClr>
                <a:srgbClr val="0B61FF"/>
              </a:buClr>
              <a:buSzPct val="80000"/>
              <a:buFont typeface="Wingdings" panose="05000000000000000000" pitchFamily="2" charset="2"/>
              <a:buChar char="n"/>
            </a:pPr>
            <a:r>
              <a:rPr lang="en-US" altLang="zh-CN" sz="2400" b="1" i="1" dirty="0">
                <a:solidFill>
                  <a:srgbClr val="0C0D0E"/>
                </a:solidFill>
                <a:effectLst/>
                <a:latin typeface="Trebuchet MS" panose="020B0603020202020204" pitchFamily="34" charset="0"/>
              </a:rPr>
              <a:t>S</a:t>
            </a:r>
            <a:r>
              <a:rPr lang="en-US" sz="2400" b="1" i="1" dirty="0">
                <a:solidFill>
                  <a:srgbClr val="0C0D0E"/>
                </a:solidFill>
                <a:effectLst/>
                <a:latin typeface="Trebuchet MS" panose="020B0603020202020204" pitchFamily="34" charset="0"/>
              </a:rPr>
              <a:t>atisfiable formula</a:t>
            </a:r>
            <a:r>
              <a:rPr lang="en-US" sz="2400" b="0" i="0" dirty="0">
                <a:solidFill>
                  <a:srgbClr val="0C0D0E"/>
                </a:solidFill>
                <a:effectLst/>
                <a:latin typeface="Trebuchet MS" panose="020B0603020202020204" pitchFamily="34" charset="0"/>
              </a:rPr>
              <a:t>: at least one true interpretation and assignment.</a:t>
            </a:r>
          </a:p>
          <a:p>
            <a:pPr algn="l">
              <a:lnSpc>
                <a:spcPct val="110000"/>
              </a:lnSpc>
              <a:spcBef>
                <a:spcPts val="0"/>
              </a:spcBef>
              <a:buClr>
                <a:srgbClr val="0B61FF"/>
              </a:buClr>
              <a:buSzPct val="120000"/>
            </a:pPr>
            <a:endParaRPr lang="en-US" sz="2400" b="0" i="0" dirty="0">
              <a:solidFill>
                <a:srgbClr val="0C0D0E"/>
              </a:solidFill>
              <a:effectLst/>
              <a:latin typeface="Trebuchet MS" panose="020B0603020202020204" pitchFamily="34" charset="0"/>
            </a:endParaRPr>
          </a:p>
          <a:p>
            <a:pPr algn="l">
              <a:lnSpc>
                <a:spcPct val="110000"/>
              </a:lnSpc>
              <a:spcBef>
                <a:spcPts val="0"/>
              </a:spcBef>
              <a:buClr>
                <a:srgbClr val="0B61FF"/>
              </a:buClr>
              <a:buSzPct val="120000"/>
            </a:pPr>
            <a:r>
              <a:rPr lang="en-US" sz="2400" b="0" i="0" dirty="0">
                <a:solidFill>
                  <a:srgbClr val="0C0D0E"/>
                </a:solidFill>
                <a:effectLst/>
                <a:latin typeface="Trebuchet MS" panose="020B0603020202020204" pitchFamily="34" charset="0"/>
              </a:rPr>
              <a:t>A tautology is a satisfiable formula, but the converse is not true.</a:t>
            </a:r>
          </a:p>
          <a:p>
            <a:pPr algn="l">
              <a:lnSpc>
                <a:spcPct val="110000"/>
              </a:lnSpc>
              <a:spcBef>
                <a:spcPts val="0"/>
              </a:spcBef>
              <a:buClr>
                <a:srgbClr val="0B61FF"/>
              </a:buClr>
              <a:buSzPct val="120000"/>
            </a:pPr>
            <a:r>
              <a:rPr lang="en-US" sz="2400" b="0" i="0" dirty="0">
                <a:solidFill>
                  <a:srgbClr val="0C0D0E"/>
                </a:solidFill>
                <a:effectLst/>
                <a:latin typeface="Trebuchet MS" panose="020B0603020202020204" pitchFamily="34" charset="0"/>
              </a:rPr>
              <a:t>In first-order logic, the satisfiability (tautology, contradiction) of a formula is undecidable, meaning there is no algorithm that can determine in finite steps whether a given formula is satisfiable (a tautology, a contradiction).</a:t>
            </a:r>
          </a:p>
          <a:p>
            <a:pPr algn="l">
              <a:lnSpc>
                <a:spcPct val="120000"/>
              </a:lnSpc>
              <a:spcBef>
                <a:spcPts val="600"/>
              </a:spcBef>
              <a:buClr>
                <a:srgbClr val="0B61FF"/>
              </a:buClr>
              <a:buSzPct val="120000"/>
            </a:pPr>
            <a:endParaRPr kumimoji="0" lang="zh-CN" altLang="en-US" sz="2400" b="1" dirty="0">
              <a:latin typeface="Trebuchet MS" panose="020B0603020202020204" pitchFamily="34" charset="0"/>
            </a:endParaRPr>
          </a:p>
          <a:p>
            <a:pPr marL="0" lvl="1" indent="0" eaLnBrk="1" hangingPunct="1">
              <a:lnSpc>
                <a:spcPct val="120000"/>
              </a:lnSpc>
              <a:spcBef>
                <a:spcPts val="600"/>
              </a:spcBef>
              <a:buNone/>
              <a:defRPr/>
            </a:pPr>
            <a:endParaRPr lang="en-US" altLang="zh-CN" b="1" dirty="0">
              <a:latin typeface="Trebuchet MS" panose="020B0603020202020204" pitchFamily="34" charset="0"/>
            </a:endParaRPr>
          </a:p>
        </p:txBody>
      </p:sp>
      <p:sp>
        <p:nvSpPr>
          <p:cNvPr id="4" name="Rectangle 2">
            <a:extLst>
              <a:ext uri="{FF2B5EF4-FFF2-40B4-BE49-F238E27FC236}">
                <a16:creationId xmlns:a16="http://schemas.microsoft.com/office/drawing/2014/main" id="{A6022633-1BA5-44D4-B833-85A94171AB6F}"/>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graphicFrame>
        <p:nvGraphicFramePr>
          <p:cNvPr id="5" name="对象 4">
            <a:extLst>
              <a:ext uri="{FF2B5EF4-FFF2-40B4-BE49-F238E27FC236}">
                <a16:creationId xmlns:a16="http://schemas.microsoft.com/office/drawing/2014/main" id="{2A117840-E8AC-4402-8E83-71B02571EAFD}"/>
              </a:ext>
            </a:extLst>
          </p:cNvPr>
          <p:cNvGraphicFramePr>
            <a:graphicFrameLocks noChangeAspect="1"/>
          </p:cNvGraphicFramePr>
          <p:nvPr>
            <p:extLst>
              <p:ext uri="{D42A27DB-BD31-4B8C-83A1-F6EECF244321}">
                <p14:modId xmlns:p14="http://schemas.microsoft.com/office/powerpoint/2010/main" val="2217901320"/>
              </p:ext>
            </p:extLst>
          </p:nvPr>
        </p:nvGraphicFramePr>
        <p:xfrm>
          <a:off x="854075" y="3705727"/>
          <a:ext cx="406834" cy="406834"/>
        </p:xfrm>
        <a:graphic>
          <a:graphicData uri="http://schemas.openxmlformats.org/presentationml/2006/ole">
            <mc:AlternateContent xmlns:mc="http://schemas.openxmlformats.org/markup-compatibility/2006">
              <mc:Choice xmlns:v="urn:schemas-microsoft-com:vml" Requires="v">
                <p:oleObj spid="_x0000_s2053" name="Visio" r:id="rId6" imgW="292148" imgH="292233" progId="Visio.Drawing.15">
                  <p:embed/>
                </p:oleObj>
              </mc:Choice>
              <mc:Fallback>
                <p:oleObj name="Visio" r:id="rId6" imgW="292148" imgH="292233" progId="Visio.Drawing.15">
                  <p:embed/>
                  <p:pic>
                    <p:nvPicPr>
                      <p:cNvPr id="0" name="Object 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54075" y="3705727"/>
                        <a:ext cx="406834" cy="406834"/>
                      </a:xfrm>
                      <a:prstGeom prst="rect">
                        <a:avLst/>
                      </a:prstGeom>
                      <a:noFill/>
                    </p:spPr>
                  </p:pic>
                </p:oleObj>
              </mc:Fallback>
            </mc:AlternateContent>
          </a:graphicData>
        </a:graphic>
      </p:graphicFrame>
    </p:spTree>
    <p:extLst>
      <p:ext uri="{BB962C8B-B14F-4D97-AF65-F5344CB8AC3E}">
        <p14:creationId xmlns:p14="http://schemas.microsoft.com/office/powerpoint/2010/main" val="203691113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animEffect transition="in" filter="fade">
                                      <p:cBhvr>
                                        <p:cTn id="7" dur="1000"/>
                                        <p:tgtEl>
                                          <p:spTgt spid="8">
                                            <p:txEl>
                                              <p:pRg st="1" end="1"/>
                                            </p:txEl>
                                          </p:spTgt>
                                        </p:tgtEl>
                                      </p:cBhvr>
                                    </p:animEffect>
                                    <p:anim calcmode="lin" valueType="num">
                                      <p:cBhvr>
                                        <p:cTn id="8" dur="1000" fill="hold"/>
                                        <p:tgtEl>
                                          <p:spTgt spid="8">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8">
                                            <p:txEl>
                                              <p:pRg st="2" end="2"/>
                                            </p:txEl>
                                          </p:spTgt>
                                        </p:tgtEl>
                                        <p:attrNameLst>
                                          <p:attrName>style.visibility</p:attrName>
                                        </p:attrNameLst>
                                      </p:cBhvr>
                                      <p:to>
                                        <p:strVal val="visible"/>
                                      </p:to>
                                    </p:set>
                                    <p:animEffect transition="in" filter="fade">
                                      <p:cBhvr>
                                        <p:cTn id="14" dur="1000"/>
                                        <p:tgtEl>
                                          <p:spTgt spid="8">
                                            <p:txEl>
                                              <p:pRg st="2" end="2"/>
                                            </p:txEl>
                                          </p:spTgt>
                                        </p:tgtEl>
                                      </p:cBhvr>
                                    </p:animEffect>
                                    <p:anim calcmode="lin" valueType="num">
                                      <p:cBhvr>
                                        <p:cTn id="15"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8">
                                            <p:txEl>
                                              <p:pRg st="4" end="4"/>
                                            </p:txEl>
                                          </p:spTgt>
                                        </p:tgtEl>
                                        <p:attrNameLst>
                                          <p:attrName>style.visibility</p:attrName>
                                        </p:attrNameLst>
                                      </p:cBhvr>
                                      <p:to>
                                        <p:strVal val="visible"/>
                                      </p:to>
                                    </p:set>
                                    <p:animEffect transition="in" filter="fade">
                                      <p:cBhvr>
                                        <p:cTn id="21" dur="1000"/>
                                        <p:tgtEl>
                                          <p:spTgt spid="8">
                                            <p:txEl>
                                              <p:pRg st="4" end="4"/>
                                            </p:txEl>
                                          </p:spTgt>
                                        </p:tgtEl>
                                      </p:cBhvr>
                                    </p:animEffect>
                                    <p:anim calcmode="lin" valueType="num">
                                      <p:cBhvr>
                                        <p:cTn id="22" dur="1000" fill="hold"/>
                                        <p:tgtEl>
                                          <p:spTgt spid="8">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8">
                                            <p:txEl>
                                              <p:pRg st="4" end="4"/>
                                            </p:txEl>
                                          </p:spTgt>
                                        </p:tgtEl>
                                        <p:attrNameLst>
                                          <p:attrName>ppt_y</p:attrName>
                                        </p:attrNameLst>
                                      </p:cBhvr>
                                      <p:tavLst>
                                        <p:tav tm="0">
                                          <p:val>
                                            <p:strVal val="#ppt_y+.1"/>
                                          </p:val>
                                        </p:tav>
                                        <p:tav tm="100000">
                                          <p:val>
                                            <p:strVal val="#ppt_y"/>
                                          </p:val>
                                        </p:tav>
                                      </p:tavLst>
                                    </p:anim>
                                  </p:childTnLst>
                                </p:cTn>
                              </p:par>
                              <p:par>
                                <p:cTn id="24" presetID="42" presetClass="entr" presetSubtype="0" fill="hold" nodeType="withEffect">
                                  <p:stCondLst>
                                    <p:cond delay="0"/>
                                  </p:stCondLst>
                                  <p:childTnLst>
                                    <p:set>
                                      <p:cBhvr>
                                        <p:cTn id="25" dur="1" fill="hold">
                                          <p:stCondLst>
                                            <p:cond delay="0"/>
                                          </p:stCondLst>
                                        </p:cTn>
                                        <p:tgtEl>
                                          <p:spTgt spid="5"/>
                                        </p:tgtEl>
                                        <p:attrNameLst>
                                          <p:attrName>style.visibility</p:attrName>
                                        </p:attrNameLst>
                                      </p:cBhvr>
                                      <p:to>
                                        <p:strVal val="visible"/>
                                      </p:to>
                                    </p:set>
                                    <p:animEffect transition="in" filter="fade">
                                      <p:cBhvr>
                                        <p:cTn id="26" dur="1000"/>
                                        <p:tgtEl>
                                          <p:spTgt spid="5"/>
                                        </p:tgtEl>
                                      </p:cBhvr>
                                    </p:animEffect>
                                    <p:anim calcmode="lin" valueType="num">
                                      <p:cBhvr>
                                        <p:cTn id="27" dur="1000" fill="hold"/>
                                        <p:tgtEl>
                                          <p:spTgt spid="5"/>
                                        </p:tgtEl>
                                        <p:attrNameLst>
                                          <p:attrName>ppt_x</p:attrName>
                                        </p:attrNameLst>
                                      </p:cBhvr>
                                      <p:tavLst>
                                        <p:tav tm="0">
                                          <p:val>
                                            <p:strVal val="#ppt_x"/>
                                          </p:val>
                                        </p:tav>
                                        <p:tav tm="100000">
                                          <p:val>
                                            <p:strVal val="#ppt_x"/>
                                          </p:val>
                                        </p:tav>
                                      </p:tavLst>
                                    </p:anim>
                                    <p:anim calcmode="lin" valueType="num">
                                      <p:cBhvr>
                                        <p:cTn id="28"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8">
                                            <p:txEl>
                                              <p:pRg st="5" end="5"/>
                                            </p:txEl>
                                          </p:spTgt>
                                        </p:tgtEl>
                                        <p:attrNameLst>
                                          <p:attrName>style.visibility</p:attrName>
                                        </p:attrNameLst>
                                      </p:cBhvr>
                                      <p:to>
                                        <p:strVal val="visible"/>
                                      </p:to>
                                    </p:set>
                                    <p:animEffect transition="in" filter="fade">
                                      <p:cBhvr>
                                        <p:cTn id="33" dur="1000"/>
                                        <p:tgtEl>
                                          <p:spTgt spid="8">
                                            <p:txEl>
                                              <p:pRg st="5" end="5"/>
                                            </p:txEl>
                                          </p:spTgt>
                                        </p:tgtEl>
                                      </p:cBhvr>
                                    </p:animEffect>
                                    <p:anim calcmode="lin" valueType="num">
                                      <p:cBhvr>
                                        <p:cTn id="34" dur="1000" fill="hold"/>
                                        <p:tgtEl>
                                          <p:spTgt spid="8">
                                            <p:txEl>
                                              <p:pRg st="5" end="5"/>
                                            </p:txEl>
                                          </p:spTgt>
                                        </p:tgtEl>
                                        <p:attrNameLst>
                                          <p:attrName>ppt_x</p:attrName>
                                        </p:attrNameLst>
                                      </p:cBhvr>
                                      <p:tavLst>
                                        <p:tav tm="0">
                                          <p:val>
                                            <p:strVal val="#ppt_x"/>
                                          </p:val>
                                        </p:tav>
                                        <p:tav tm="100000">
                                          <p:val>
                                            <p:strVal val="#ppt_x"/>
                                          </p:val>
                                        </p:tav>
                                      </p:tavLst>
                                    </p:anim>
                                    <p:anim calcmode="lin" valueType="num">
                                      <p:cBhvr>
                                        <p:cTn id="35" dur="1000" fill="hold"/>
                                        <p:tgtEl>
                                          <p:spTgt spid="8">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spcBef>
                <a:spcPts val="600"/>
              </a:spcBef>
              <a:buClr>
                <a:srgbClr val="0B61FF"/>
              </a:buClr>
              <a:buSzPct val="80000"/>
            </a:pP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effectLst/>
                <a:latin typeface="Cambria Math" panose="02040503050406030204" pitchFamily="18" charset="0"/>
                <a:ea typeface="Cambria Math" panose="02040503050406030204" pitchFamily="18" charset="0"/>
                <a:cs typeface="Times New Roman" panose="02020603050405020304" pitchFamily="18" charset="0"/>
              </a:rPr>
              <a:t>3</a:t>
            </a:r>
            <a:r>
              <a:rPr lang="en-US" altLang="zh-CN" sz="2000" b="1" dirty="0">
                <a:solidFill>
                  <a:schemeClr val="bg1"/>
                </a:solidFill>
                <a:latin typeface="Trebuchet MS" panose="020B0603020202020204" pitchFamily="34" charset="0"/>
              </a:rPr>
              <a:t>.1.4</a:t>
            </a:r>
            <a:r>
              <a:rPr lang="en-US" altLang="zh-CN" sz="2000" b="1" dirty="0">
                <a:solidFill>
                  <a:srgbClr val="0B61FF"/>
                </a:solidFill>
                <a:latin typeface="Trebuchet MS" panose="020B0603020202020204" pitchFamily="34" charset="0"/>
              </a:rPr>
              <a:t> </a:t>
            </a:r>
            <a:r>
              <a:rPr lang="en-US" altLang="zh-CN" sz="2000" b="1" dirty="0">
                <a:solidFill>
                  <a:schemeClr val="bg1"/>
                </a:solidFill>
                <a:latin typeface="Trebuchet MS" panose="020B0603020202020204" pitchFamily="34" charset="0"/>
              </a:rPr>
              <a:t>First-Order Logic Formulas and Classification</a:t>
            </a:r>
          </a:p>
          <a:p>
            <a:pPr>
              <a:spcBef>
                <a:spcPts val="600"/>
              </a:spcBef>
              <a:buClr>
                <a:srgbClr val="0B61FF"/>
              </a:buClr>
              <a:buSzPct val="80000"/>
            </a:pPr>
            <a:r>
              <a:rPr lang="en-US" altLang="zh-CN" sz="1400" dirty="0">
                <a:latin typeface="Trebuchet MS" panose="020B0603020202020204" pitchFamily="34" charset="0"/>
                <a:ea typeface="Cambria Math" panose="02040503050406030204" pitchFamily="18" charset="0"/>
                <a:cs typeface="Times New Roman" panose="02020603050405020304" pitchFamily="18" charset="0"/>
              </a:rPr>
              <a:t>                     </a:t>
            </a:r>
            <a:r>
              <a:rPr lang="en-US" altLang="zh-CN" sz="2000"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2400" b="1" dirty="0">
                <a:latin typeface="Trebuchet MS" panose="020B0603020202020204" pitchFamily="34" charset="0"/>
              </a:rPr>
              <a:t>Substitution instance of a propositional formula</a:t>
            </a:r>
            <a:endParaRPr lang="zh-CN" altLang="en-US" sz="2400" b="1" dirty="0">
              <a:solidFill>
                <a:schemeClr val="bg1"/>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824681" y="765176"/>
            <a:ext cx="10115462" cy="476476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lnSpc>
                <a:spcPct val="120000"/>
              </a:lnSpc>
              <a:buClr>
                <a:srgbClr val="0B61FF"/>
              </a:buClr>
              <a:buSzPct val="80000"/>
              <a:buFont typeface="Wingdings" panose="05000000000000000000" pitchFamily="2" charset="2"/>
              <a:buChar char="n"/>
            </a:pPr>
            <a:r>
              <a:rPr lang="en-US" sz="2400" b="1" i="0" dirty="0">
                <a:solidFill>
                  <a:srgbClr val="0C0D0E"/>
                </a:solidFill>
                <a:effectLst/>
                <a:latin typeface="Trebuchet MS" panose="020B0603020202020204" pitchFamily="34" charset="0"/>
              </a:rPr>
              <a:t>Definition 3.6</a:t>
            </a:r>
            <a:r>
              <a:rPr lang="zh-CN" altLang="en-US" sz="2400" b="1" i="0" dirty="0">
                <a:solidFill>
                  <a:srgbClr val="0C0D0E"/>
                </a:solidFill>
                <a:effectLst/>
                <a:latin typeface="Trebuchet MS" panose="020B0603020202020204" pitchFamily="34" charset="0"/>
              </a:rPr>
              <a:t>：</a:t>
            </a:r>
            <a:r>
              <a:rPr lang="en-US" sz="2400" b="0" i="0" dirty="0">
                <a:solidFill>
                  <a:srgbClr val="0C0D0E"/>
                </a:solidFill>
                <a:effectLst/>
                <a:latin typeface="Trebuchet MS" panose="020B0603020202020204" pitchFamily="34" charset="0"/>
              </a:rPr>
              <a:t> Let </a:t>
            </a:r>
            <a:r>
              <a:rPr lang="en-US" sz="2400" b="1" i="1" dirty="0">
                <a:solidFill>
                  <a:srgbClr val="0C0D0E"/>
                </a:solidFill>
                <a:effectLst/>
                <a:latin typeface="Trebuchet MS" panose="020B0603020202020204" pitchFamily="34" charset="0"/>
              </a:rPr>
              <a:t>A</a:t>
            </a:r>
            <a:r>
              <a:rPr lang="en-US" sz="2400" b="1" i="0" baseline="-25000" dirty="0">
                <a:solidFill>
                  <a:srgbClr val="0C0D0E"/>
                </a:solidFill>
                <a:effectLst/>
                <a:latin typeface="Trebuchet MS" panose="020B0603020202020204" pitchFamily="34" charset="0"/>
              </a:rPr>
              <a:t>0</a:t>
            </a:r>
            <a:r>
              <a:rPr lang="en-US" sz="2400" b="0" i="0" dirty="0">
                <a:solidFill>
                  <a:srgbClr val="0C0D0E"/>
                </a:solidFill>
                <a:effectLst/>
                <a:latin typeface="Trebuchet MS" panose="020B0603020202020204" pitchFamily="34" charset="0"/>
              </a:rPr>
              <a:t> be a propositional formula containing propositional variables</a:t>
            </a:r>
            <a:r>
              <a:rPr lang="en-US" sz="2400" b="1" i="0" dirty="0">
                <a:solidFill>
                  <a:srgbClr val="0C0D0E"/>
                </a:solidFill>
                <a:effectLst/>
                <a:latin typeface="Trebuchet MS" panose="020B0603020202020204" pitchFamily="34" charset="0"/>
              </a:rPr>
              <a:t> </a:t>
            </a:r>
            <a:r>
              <a:rPr lang="en-US" sz="2400" b="1" i="1" dirty="0">
                <a:solidFill>
                  <a:srgbClr val="0C0D0E"/>
                </a:solidFill>
                <a:effectLst/>
                <a:latin typeface="Trebuchet MS" panose="020B0603020202020204" pitchFamily="34" charset="0"/>
              </a:rPr>
              <a:t>p</a:t>
            </a:r>
            <a:r>
              <a:rPr lang="en-US" sz="2400" b="1" i="0" baseline="-25000" dirty="0">
                <a:solidFill>
                  <a:srgbClr val="0C0D0E"/>
                </a:solidFill>
                <a:effectLst/>
                <a:latin typeface="Trebuchet MS" panose="020B0603020202020204" pitchFamily="34" charset="0"/>
              </a:rPr>
              <a:t>1</a:t>
            </a:r>
            <a:r>
              <a:rPr lang="en-US" sz="2400" b="0" i="0" dirty="0">
                <a:solidFill>
                  <a:srgbClr val="0C0D0E"/>
                </a:solidFill>
                <a:effectLst/>
                <a:latin typeface="Trebuchet MS" panose="020B0603020202020204" pitchFamily="34" charset="0"/>
              </a:rPr>
              <a:t>,</a:t>
            </a:r>
            <a:r>
              <a:rPr lang="en-US" sz="2400" b="1" i="1" dirty="0">
                <a:solidFill>
                  <a:srgbClr val="0C0D0E"/>
                </a:solidFill>
                <a:effectLst/>
                <a:latin typeface="Trebuchet MS" panose="020B0603020202020204" pitchFamily="34" charset="0"/>
              </a:rPr>
              <a:t>p</a:t>
            </a:r>
            <a:r>
              <a:rPr lang="en-US" sz="2400" b="1" baseline="-25000" dirty="0">
                <a:solidFill>
                  <a:srgbClr val="0C0D0E"/>
                </a:solidFill>
                <a:latin typeface="Trebuchet MS" panose="020B0603020202020204" pitchFamily="34" charset="0"/>
              </a:rPr>
              <a:t>2</a:t>
            </a:r>
            <a:r>
              <a:rPr lang="en-US" sz="2400" b="0" i="0" dirty="0">
                <a:solidFill>
                  <a:srgbClr val="0C0D0E"/>
                </a:solidFill>
                <a:effectLst/>
                <a:latin typeface="Trebuchet MS" panose="020B0603020202020204" pitchFamily="34" charset="0"/>
              </a:rPr>
              <a:t>,…,</a:t>
            </a:r>
            <a:r>
              <a:rPr lang="en-US" sz="2400" b="1" i="1" dirty="0">
                <a:solidFill>
                  <a:srgbClr val="0C0D0E"/>
                </a:solidFill>
                <a:effectLst/>
                <a:latin typeface="Trebuchet MS" panose="020B0603020202020204" pitchFamily="34" charset="0"/>
              </a:rPr>
              <a:t>p</a:t>
            </a:r>
            <a:r>
              <a:rPr lang="en-US" sz="2400" b="1" i="1" baseline="-25000" dirty="0">
                <a:solidFill>
                  <a:srgbClr val="0C0D0E"/>
                </a:solidFill>
                <a:effectLst/>
                <a:latin typeface="Trebuchet MS" panose="020B0603020202020204" pitchFamily="34" charset="0"/>
              </a:rPr>
              <a:t>n</a:t>
            </a:r>
            <a:r>
              <a:rPr lang="en-US" sz="2400" b="0" i="0" dirty="0">
                <a:solidFill>
                  <a:srgbClr val="0C0D0E"/>
                </a:solidFill>
                <a:effectLst/>
                <a:latin typeface="Trebuchet MS" panose="020B0603020202020204" pitchFamily="34" charset="0"/>
              </a:rPr>
              <a:t>, and let </a:t>
            </a:r>
            <a:r>
              <a:rPr lang="en-US" sz="2400" b="1" i="1" dirty="0">
                <a:solidFill>
                  <a:srgbClr val="0C0D0E"/>
                </a:solidFill>
                <a:effectLst/>
                <a:latin typeface="Trebuchet MS" panose="020B0603020202020204" pitchFamily="34" charset="0"/>
              </a:rPr>
              <a:t>A</a:t>
            </a:r>
            <a:r>
              <a:rPr lang="en-US" sz="2400" b="1" baseline="-25000" dirty="0">
                <a:solidFill>
                  <a:srgbClr val="0C0D0E"/>
                </a:solidFill>
                <a:latin typeface="Trebuchet MS" panose="020B0603020202020204" pitchFamily="34" charset="0"/>
              </a:rPr>
              <a:t>1</a:t>
            </a:r>
            <a:r>
              <a:rPr lang="en-US" sz="2400" b="1" i="0" dirty="0">
                <a:solidFill>
                  <a:srgbClr val="0C0D0E"/>
                </a:solidFill>
                <a:effectLst/>
                <a:latin typeface="Trebuchet MS" panose="020B0603020202020204" pitchFamily="34" charset="0"/>
              </a:rPr>
              <a:t>,</a:t>
            </a:r>
            <a:r>
              <a:rPr lang="en-US" sz="2400" b="1" i="1" dirty="0">
                <a:solidFill>
                  <a:srgbClr val="0C0D0E"/>
                </a:solidFill>
                <a:effectLst/>
                <a:latin typeface="Trebuchet MS" panose="020B0603020202020204" pitchFamily="34" charset="0"/>
              </a:rPr>
              <a:t>A</a:t>
            </a:r>
            <a:r>
              <a:rPr lang="en-US" sz="2400" b="1" baseline="-25000" dirty="0">
                <a:solidFill>
                  <a:srgbClr val="0C0D0E"/>
                </a:solidFill>
                <a:latin typeface="Trebuchet MS" panose="020B0603020202020204" pitchFamily="34" charset="0"/>
              </a:rPr>
              <a:t>2</a:t>
            </a:r>
            <a:r>
              <a:rPr lang="en-US" sz="2400" b="1" i="0" dirty="0">
                <a:solidFill>
                  <a:srgbClr val="0C0D0E"/>
                </a:solidFill>
                <a:effectLst/>
                <a:latin typeface="Trebuchet MS" panose="020B0603020202020204" pitchFamily="34" charset="0"/>
              </a:rPr>
              <a:t>,…,</a:t>
            </a:r>
            <a:r>
              <a:rPr lang="en-US" sz="2400" b="1" i="1" dirty="0">
                <a:solidFill>
                  <a:srgbClr val="0C0D0E"/>
                </a:solidFill>
                <a:effectLst/>
                <a:latin typeface="Trebuchet MS" panose="020B0603020202020204" pitchFamily="34" charset="0"/>
              </a:rPr>
              <a:t>A</a:t>
            </a:r>
            <a:r>
              <a:rPr lang="en-US" sz="2400" b="1" baseline="-25000" dirty="0">
                <a:solidFill>
                  <a:srgbClr val="0C0D0E"/>
                </a:solidFill>
                <a:latin typeface="Trebuchet MS" panose="020B0603020202020204" pitchFamily="34" charset="0"/>
              </a:rPr>
              <a:t>n</a:t>
            </a:r>
            <a:r>
              <a:rPr lang="en-US" sz="2400" b="1" i="0" dirty="0">
                <a:solidFill>
                  <a:srgbClr val="0C0D0E"/>
                </a:solidFill>
                <a:effectLst/>
                <a:latin typeface="Trebuchet MS" panose="020B0603020202020204" pitchFamily="34" charset="0"/>
              </a:rPr>
              <a:t> </a:t>
            </a:r>
            <a:r>
              <a:rPr lang="en-US" sz="2400" b="0" i="0" dirty="0">
                <a:solidFill>
                  <a:srgbClr val="0C0D0E"/>
                </a:solidFill>
                <a:effectLst/>
                <a:latin typeface="Trebuchet MS" panose="020B0603020202020204" pitchFamily="34" charset="0"/>
              </a:rPr>
              <a:t>be predicate formulas. The formula </a:t>
            </a:r>
            <a:r>
              <a:rPr lang="en-US" sz="2400" b="1" i="1" dirty="0">
                <a:solidFill>
                  <a:srgbClr val="0C0D0E"/>
                </a:solidFill>
                <a:effectLst/>
                <a:latin typeface="Trebuchet MS" panose="020B0603020202020204" pitchFamily="34" charset="0"/>
              </a:rPr>
              <a:t>A</a:t>
            </a:r>
            <a:r>
              <a:rPr lang="en-US" sz="2400" b="0" i="0" dirty="0">
                <a:solidFill>
                  <a:srgbClr val="0C0D0E"/>
                </a:solidFill>
                <a:effectLst/>
                <a:latin typeface="Trebuchet MS" panose="020B0603020202020204" pitchFamily="34" charset="0"/>
              </a:rPr>
              <a:t>, obtained by uniformly replacing each </a:t>
            </a:r>
            <a:r>
              <a:rPr lang="en-US" sz="2400" b="1" i="1" dirty="0">
                <a:solidFill>
                  <a:srgbClr val="0C0D0E"/>
                </a:solidFill>
                <a:effectLst/>
                <a:latin typeface="Trebuchet MS" panose="020B0603020202020204" pitchFamily="34" charset="0"/>
              </a:rPr>
              <a:t>p</a:t>
            </a:r>
            <a:r>
              <a:rPr lang="en-US" sz="2400" b="1" i="1" baseline="-25000" dirty="0">
                <a:solidFill>
                  <a:srgbClr val="0C0D0E"/>
                </a:solidFill>
                <a:effectLst/>
                <a:latin typeface="Trebuchet MS" panose="020B0603020202020204" pitchFamily="34" charset="0"/>
              </a:rPr>
              <a:t>i</a:t>
            </a:r>
            <a:r>
              <a:rPr lang="en-US" sz="2400" b="0" i="0" dirty="0">
                <a:solidFill>
                  <a:srgbClr val="0C0D0E"/>
                </a:solidFill>
                <a:effectLst/>
                <a:latin typeface="Trebuchet MS" panose="020B0603020202020204" pitchFamily="34" charset="0"/>
              </a:rPr>
              <a:t> (for 1≤</a:t>
            </a:r>
            <a:r>
              <a:rPr lang="en-US" sz="2400" b="1" i="1" dirty="0">
                <a:solidFill>
                  <a:srgbClr val="0C0D0E"/>
                </a:solidFill>
                <a:effectLst/>
                <a:latin typeface="Trebuchet MS" panose="020B0603020202020204" pitchFamily="34" charset="0"/>
              </a:rPr>
              <a:t>i</a:t>
            </a:r>
            <a:r>
              <a:rPr lang="en-US" sz="2400" b="0" i="0" dirty="0">
                <a:solidFill>
                  <a:srgbClr val="0C0D0E"/>
                </a:solidFill>
                <a:effectLst/>
                <a:latin typeface="Trebuchet MS" panose="020B0603020202020204" pitchFamily="34" charset="0"/>
              </a:rPr>
              <a:t>≤</a:t>
            </a:r>
            <a:r>
              <a:rPr lang="en-US" sz="2400" b="1" i="1" dirty="0">
                <a:solidFill>
                  <a:srgbClr val="0C0D0E"/>
                </a:solidFill>
                <a:effectLst/>
                <a:latin typeface="Trebuchet MS" panose="020B0603020202020204" pitchFamily="34" charset="0"/>
              </a:rPr>
              <a:t>n</a:t>
            </a:r>
            <a:r>
              <a:rPr lang="en-US" sz="2400" b="0" i="0" dirty="0">
                <a:solidFill>
                  <a:srgbClr val="0C0D0E"/>
                </a:solidFill>
                <a:effectLst/>
                <a:latin typeface="Trebuchet MS" panose="020B0603020202020204" pitchFamily="34" charset="0"/>
              </a:rPr>
              <a:t>) in </a:t>
            </a:r>
            <a:r>
              <a:rPr lang="en-US" altLang="zh-CN" sz="2400" b="1" i="1" dirty="0">
                <a:solidFill>
                  <a:srgbClr val="0C0D0E"/>
                </a:solidFill>
                <a:effectLst/>
                <a:latin typeface="Trebuchet MS" panose="020B0603020202020204" pitchFamily="34" charset="0"/>
              </a:rPr>
              <a:t> A</a:t>
            </a:r>
            <a:r>
              <a:rPr lang="en-US" altLang="zh-CN" sz="2400" b="1" i="0" baseline="-25000" dirty="0">
                <a:solidFill>
                  <a:srgbClr val="0C0D0E"/>
                </a:solidFill>
                <a:effectLst/>
                <a:latin typeface="Trebuchet MS" panose="020B0603020202020204" pitchFamily="34" charset="0"/>
              </a:rPr>
              <a:t>0 </a:t>
            </a:r>
            <a:r>
              <a:rPr lang="en-US" sz="2400" b="0" i="0" dirty="0">
                <a:solidFill>
                  <a:srgbClr val="0C0D0E"/>
                </a:solidFill>
                <a:effectLst/>
                <a:latin typeface="Trebuchet MS" panose="020B0603020202020204" pitchFamily="34" charset="0"/>
              </a:rPr>
              <a:t> with </a:t>
            </a:r>
            <a:r>
              <a:rPr lang="en-US" sz="2400" b="1" i="1" dirty="0">
                <a:solidFill>
                  <a:srgbClr val="0C0D0E"/>
                </a:solidFill>
                <a:effectLst/>
                <a:latin typeface="Trebuchet MS" panose="020B0603020202020204" pitchFamily="34" charset="0"/>
              </a:rPr>
              <a:t>A</a:t>
            </a:r>
            <a:r>
              <a:rPr lang="en-US" sz="2400" b="1" i="1" baseline="-25000" dirty="0">
                <a:solidFill>
                  <a:srgbClr val="0C0D0E"/>
                </a:solidFill>
                <a:effectLst/>
                <a:latin typeface="Trebuchet MS" panose="020B0603020202020204" pitchFamily="34" charset="0"/>
              </a:rPr>
              <a:t>i</a:t>
            </a:r>
            <a:r>
              <a:rPr lang="en-US" sz="2400" b="0" i="0" dirty="0">
                <a:solidFill>
                  <a:srgbClr val="0C0D0E"/>
                </a:solidFill>
                <a:effectLst/>
                <a:latin typeface="Trebuchet MS" panose="020B0603020202020204" pitchFamily="34" charset="0"/>
              </a:rPr>
              <a:t>, is called a </a:t>
            </a:r>
            <a:r>
              <a:rPr lang="en-US" sz="2400" b="1" i="1" dirty="0">
                <a:solidFill>
                  <a:srgbClr val="0C0D0E"/>
                </a:solidFill>
                <a:effectLst/>
                <a:latin typeface="Trebuchet MS" panose="020B0603020202020204" pitchFamily="34" charset="0"/>
              </a:rPr>
              <a:t>substitution instance </a:t>
            </a:r>
            <a:r>
              <a:rPr lang="en-US" sz="2400" b="0" i="0" dirty="0">
                <a:solidFill>
                  <a:srgbClr val="0C0D0E"/>
                </a:solidFill>
                <a:effectLst/>
                <a:latin typeface="Trebuchet MS" panose="020B0603020202020204" pitchFamily="34" charset="0"/>
              </a:rPr>
              <a:t>of </a:t>
            </a:r>
            <a:r>
              <a:rPr lang="en-US" altLang="zh-CN" sz="2400" b="1" i="1" dirty="0">
                <a:solidFill>
                  <a:srgbClr val="0C0D0E"/>
                </a:solidFill>
                <a:effectLst/>
                <a:latin typeface="Trebuchet MS" panose="020B0603020202020204" pitchFamily="34" charset="0"/>
              </a:rPr>
              <a:t> A</a:t>
            </a:r>
            <a:r>
              <a:rPr lang="en-US" altLang="zh-CN" sz="2400" b="1" i="0" baseline="-25000" dirty="0">
                <a:solidFill>
                  <a:srgbClr val="0C0D0E"/>
                </a:solidFill>
                <a:effectLst/>
                <a:latin typeface="Trebuchet MS" panose="020B0603020202020204" pitchFamily="34" charset="0"/>
              </a:rPr>
              <a:t>0</a:t>
            </a:r>
            <a:r>
              <a:rPr lang="en-US" sz="2400" b="0" i="0" dirty="0">
                <a:solidFill>
                  <a:srgbClr val="0C0D0E"/>
                </a:solidFill>
                <a:effectLst/>
                <a:latin typeface="Trebuchet MS" panose="020B0603020202020204" pitchFamily="34" charset="0"/>
              </a:rPr>
              <a:t>.</a:t>
            </a:r>
          </a:p>
          <a:p>
            <a:pPr marL="533400" indent="-261938" algn="l">
              <a:lnSpc>
                <a:spcPct val="120000"/>
              </a:lnSpc>
              <a:buClr>
                <a:srgbClr val="0B61FF"/>
              </a:buClr>
              <a:buSzPct val="120000"/>
            </a:pPr>
            <a:r>
              <a:rPr lang="en-US" altLang="zh-CN" sz="2400" b="1" i="0" dirty="0">
                <a:solidFill>
                  <a:srgbClr val="0C0D0E"/>
                </a:solidFill>
                <a:effectLst/>
                <a:latin typeface="Trebuchet MS" panose="020B0603020202020204" pitchFamily="34" charset="0"/>
              </a:rPr>
              <a:t>Such as:</a:t>
            </a:r>
            <a:r>
              <a:rPr lang="en-US" sz="2400" b="1" i="0" dirty="0">
                <a:solidFill>
                  <a:srgbClr val="0C0D0E"/>
                </a:solidFill>
                <a:effectLst/>
                <a:latin typeface="Trebuchet MS" panose="020B0603020202020204" pitchFamily="34" charset="0"/>
              </a:rPr>
              <a:t> </a:t>
            </a:r>
            <a:r>
              <a:rPr lang="en-US" sz="2400" b="1" i="1" dirty="0">
                <a:solidFill>
                  <a:srgbClr val="0C0D0E"/>
                </a:solidFill>
                <a:effectLst/>
                <a:latin typeface="Trebuchet MS" panose="020B0603020202020204" pitchFamily="34" charset="0"/>
              </a:rPr>
              <a:t>F</a:t>
            </a:r>
            <a:r>
              <a:rPr lang="en-US" sz="2400" b="1" i="0" dirty="0">
                <a:solidFill>
                  <a:srgbClr val="0C0D0E"/>
                </a:solidFill>
                <a:effectLst/>
                <a:latin typeface="Trebuchet MS" panose="020B0603020202020204" pitchFamily="34" charset="0"/>
              </a:rPr>
              <a:t>(</a:t>
            </a:r>
            <a:r>
              <a:rPr lang="en-US" sz="2400" b="1" i="1" dirty="0">
                <a:solidFill>
                  <a:srgbClr val="0C0D0E"/>
                </a:solidFill>
                <a:effectLst/>
                <a:latin typeface="Trebuchet MS" panose="020B0603020202020204" pitchFamily="34" charset="0"/>
              </a:rPr>
              <a:t>x</a:t>
            </a:r>
            <a:r>
              <a:rPr lang="en-US" sz="2400" b="1" i="0" dirty="0">
                <a:solidFill>
                  <a:srgbClr val="0C0D0E"/>
                </a:solidFill>
                <a:effectLst/>
                <a:latin typeface="Trebuchet MS" panose="020B0603020202020204" pitchFamily="34" charset="0"/>
              </a:rPr>
              <a:t>)→</a:t>
            </a:r>
            <a:r>
              <a:rPr lang="en-US" sz="2400" b="1" i="1" dirty="0">
                <a:solidFill>
                  <a:srgbClr val="0C0D0E"/>
                </a:solidFill>
                <a:effectLst/>
                <a:latin typeface="Trebuchet MS" panose="020B0603020202020204" pitchFamily="34" charset="0"/>
              </a:rPr>
              <a:t>G</a:t>
            </a:r>
            <a:r>
              <a:rPr lang="en-US" sz="2400" b="1" i="0" dirty="0">
                <a:solidFill>
                  <a:srgbClr val="0C0D0E"/>
                </a:solidFill>
                <a:effectLst/>
                <a:latin typeface="Trebuchet MS" panose="020B0603020202020204" pitchFamily="34" charset="0"/>
              </a:rPr>
              <a:t>(</a:t>
            </a:r>
            <a:r>
              <a:rPr lang="en-US" sz="2400" b="1" i="1" dirty="0">
                <a:solidFill>
                  <a:srgbClr val="0C0D0E"/>
                </a:solidFill>
                <a:effectLst/>
                <a:latin typeface="Trebuchet MS" panose="020B0603020202020204" pitchFamily="34" charset="0"/>
              </a:rPr>
              <a:t>x</a:t>
            </a:r>
            <a:r>
              <a:rPr lang="en-US" sz="2400" b="1" i="0" dirty="0">
                <a:solidFill>
                  <a:srgbClr val="0C0D0E"/>
                </a:solidFill>
                <a:effectLst/>
                <a:latin typeface="Trebuchet MS" panose="020B0603020202020204" pitchFamily="34" charset="0"/>
              </a:rPr>
              <a:t>)</a:t>
            </a:r>
            <a:r>
              <a:rPr lang="en-US" sz="2400" b="0" i="0" dirty="0">
                <a:solidFill>
                  <a:srgbClr val="0C0D0E"/>
                </a:solidFill>
                <a:effectLst/>
                <a:latin typeface="Trebuchet MS" panose="020B0603020202020204" pitchFamily="34" charset="0"/>
              </a:rPr>
              <a:t> and </a:t>
            </a:r>
            <a:r>
              <a:rPr lang="en-US" sz="2400" b="1" i="0" dirty="0">
                <a:solidFill>
                  <a:srgbClr val="0C0D0E"/>
                </a:solidFill>
                <a:effectLst/>
                <a:latin typeface="Trebuchet MS" panose="020B0603020202020204" pitchFamily="34" charset="0"/>
              </a:rPr>
              <a:t>∀</a:t>
            </a:r>
            <a:r>
              <a:rPr lang="en-US" sz="2400" b="1" i="1" dirty="0">
                <a:solidFill>
                  <a:srgbClr val="0C0D0E"/>
                </a:solidFill>
                <a:effectLst/>
                <a:latin typeface="Trebuchet MS" panose="020B0603020202020204" pitchFamily="34" charset="0"/>
              </a:rPr>
              <a:t>xF</a:t>
            </a:r>
            <a:r>
              <a:rPr lang="en-US" sz="2400" b="1" i="0" dirty="0">
                <a:solidFill>
                  <a:srgbClr val="0C0D0E"/>
                </a:solidFill>
                <a:effectLst/>
                <a:latin typeface="Trebuchet MS" panose="020B0603020202020204" pitchFamily="34" charset="0"/>
              </a:rPr>
              <a:t>(</a:t>
            </a:r>
            <a:r>
              <a:rPr lang="en-US" sz="2400" b="1" i="1" dirty="0">
                <a:solidFill>
                  <a:srgbClr val="0C0D0E"/>
                </a:solidFill>
                <a:effectLst/>
                <a:latin typeface="Trebuchet MS" panose="020B0603020202020204" pitchFamily="34" charset="0"/>
              </a:rPr>
              <a:t>x</a:t>
            </a:r>
            <a:r>
              <a:rPr lang="en-US" sz="2400" b="1" i="0" dirty="0">
                <a:solidFill>
                  <a:srgbClr val="0C0D0E"/>
                </a:solidFill>
                <a:effectLst/>
                <a:latin typeface="Trebuchet MS" panose="020B0603020202020204" pitchFamily="34" charset="0"/>
              </a:rPr>
              <a:t>)→∃</a:t>
            </a:r>
            <a:r>
              <a:rPr lang="en-US" sz="2400" b="1" i="1" dirty="0">
                <a:solidFill>
                  <a:srgbClr val="0C0D0E"/>
                </a:solidFill>
                <a:effectLst/>
                <a:latin typeface="Trebuchet MS" panose="020B0603020202020204" pitchFamily="34" charset="0"/>
              </a:rPr>
              <a:t>yG</a:t>
            </a:r>
            <a:r>
              <a:rPr lang="en-US" sz="2400" b="1" i="0" dirty="0">
                <a:solidFill>
                  <a:srgbClr val="0C0D0E"/>
                </a:solidFill>
                <a:effectLst/>
                <a:latin typeface="Trebuchet MS" panose="020B0603020202020204" pitchFamily="34" charset="0"/>
              </a:rPr>
              <a:t>(</a:t>
            </a:r>
            <a:r>
              <a:rPr lang="en-US" sz="2400" b="1" i="1" dirty="0">
                <a:solidFill>
                  <a:srgbClr val="0C0D0E"/>
                </a:solidFill>
                <a:effectLst/>
                <a:latin typeface="Trebuchet MS" panose="020B0603020202020204" pitchFamily="34" charset="0"/>
              </a:rPr>
              <a:t>y</a:t>
            </a:r>
            <a:r>
              <a:rPr lang="en-US" sz="2400" b="1" i="0" dirty="0">
                <a:solidFill>
                  <a:srgbClr val="0C0D0E"/>
                </a:solidFill>
                <a:effectLst/>
                <a:latin typeface="Trebuchet MS" panose="020B0603020202020204" pitchFamily="34" charset="0"/>
              </a:rPr>
              <a:t>) </a:t>
            </a:r>
            <a:r>
              <a:rPr lang="en-US" sz="2400" b="0" i="0" dirty="0">
                <a:solidFill>
                  <a:srgbClr val="0C0D0E"/>
                </a:solidFill>
                <a:effectLst/>
                <a:latin typeface="Trebuchet MS" panose="020B0603020202020204" pitchFamily="34" charset="0"/>
              </a:rPr>
              <a:t>are substitution instances of </a:t>
            </a:r>
            <a:r>
              <a:rPr lang="en-US" sz="2400" b="1" i="1" dirty="0">
                <a:solidFill>
                  <a:srgbClr val="0C0D0E"/>
                </a:solidFill>
                <a:effectLst/>
                <a:latin typeface="Trebuchet MS" panose="020B0603020202020204" pitchFamily="34" charset="0"/>
              </a:rPr>
              <a:t>p</a:t>
            </a:r>
            <a:r>
              <a:rPr lang="en-US" sz="2400" b="1" i="0" dirty="0">
                <a:solidFill>
                  <a:srgbClr val="0C0D0E"/>
                </a:solidFill>
                <a:effectLst/>
                <a:latin typeface="Trebuchet MS" panose="020B0603020202020204" pitchFamily="34" charset="0"/>
              </a:rPr>
              <a:t>→</a:t>
            </a:r>
            <a:r>
              <a:rPr lang="en-US" sz="2400" b="1" i="1" dirty="0">
                <a:solidFill>
                  <a:srgbClr val="0C0D0E"/>
                </a:solidFill>
                <a:effectLst/>
                <a:latin typeface="Trebuchet MS" panose="020B0603020202020204" pitchFamily="34" charset="0"/>
              </a:rPr>
              <a:t>q</a:t>
            </a:r>
            <a:r>
              <a:rPr lang="en-US" sz="2400" b="0" i="0" dirty="0">
                <a:solidFill>
                  <a:srgbClr val="0C0D0E"/>
                </a:solidFill>
                <a:effectLst/>
                <a:latin typeface="Trebuchet MS" panose="020B0603020202020204" pitchFamily="34" charset="0"/>
              </a:rPr>
              <a:t>.</a:t>
            </a:r>
          </a:p>
          <a:p>
            <a:pPr algn="l">
              <a:lnSpc>
                <a:spcPct val="120000"/>
              </a:lnSpc>
              <a:buClr>
                <a:srgbClr val="0B61FF"/>
              </a:buClr>
              <a:buSzPct val="80000"/>
              <a:buFont typeface="Wingdings" panose="05000000000000000000" pitchFamily="2" charset="2"/>
              <a:buChar char="n"/>
            </a:pPr>
            <a:r>
              <a:rPr lang="en-US" sz="2400" b="1" i="0" dirty="0">
                <a:solidFill>
                  <a:srgbClr val="0C0D0E"/>
                </a:solidFill>
                <a:effectLst/>
                <a:latin typeface="Trebuchet MS" panose="020B0603020202020204" pitchFamily="34" charset="0"/>
              </a:rPr>
              <a:t>Theorem 3.2: </a:t>
            </a:r>
            <a:r>
              <a:rPr lang="en-US" sz="2400" b="0" i="0" dirty="0">
                <a:solidFill>
                  <a:srgbClr val="0C0D0E"/>
                </a:solidFill>
                <a:effectLst/>
                <a:latin typeface="Trebuchet MS" panose="020B0603020202020204" pitchFamily="34" charset="0"/>
              </a:rPr>
              <a:t> All substitution instances of a tautology are </a:t>
            </a:r>
            <a:r>
              <a:rPr lang="en-US" sz="2400" b="1" i="0" dirty="0">
                <a:solidFill>
                  <a:srgbClr val="0C0D0E"/>
                </a:solidFill>
                <a:effectLst/>
                <a:latin typeface="Trebuchet MS" panose="020B0603020202020204" pitchFamily="34" charset="0"/>
              </a:rPr>
              <a:t>logically valid</a:t>
            </a:r>
            <a:r>
              <a:rPr lang="en-US" sz="2400" b="0" i="0" dirty="0">
                <a:solidFill>
                  <a:srgbClr val="0C0D0E"/>
                </a:solidFill>
                <a:effectLst/>
                <a:latin typeface="Trebuchet MS" panose="020B0603020202020204" pitchFamily="34" charset="0"/>
              </a:rPr>
              <a:t>, and all substitution instances of a contradiction are </a:t>
            </a:r>
            <a:r>
              <a:rPr lang="en-US" sz="2400" b="1" i="0" dirty="0">
                <a:solidFill>
                  <a:srgbClr val="0C0D0E"/>
                </a:solidFill>
                <a:effectLst/>
                <a:latin typeface="Trebuchet MS" panose="020B0603020202020204" pitchFamily="34" charset="0"/>
              </a:rPr>
              <a:t>contradictions</a:t>
            </a:r>
            <a:r>
              <a:rPr lang="en-US" sz="2400" b="0" i="0" dirty="0">
                <a:solidFill>
                  <a:srgbClr val="0C0D0E"/>
                </a:solidFill>
                <a:effectLst/>
                <a:latin typeface="Trebuchet MS" panose="020B0603020202020204" pitchFamily="34" charset="0"/>
              </a:rPr>
              <a:t>.</a:t>
            </a:r>
          </a:p>
          <a:p>
            <a:pPr algn="just" eaLnBrk="1" hangingPunct="1">
              <a:lnSpc>
                <a:spcPct val="120000"/>
              </a:lnSpc>
              <a:buClr>
                <a:schemeClr val="bg2"/>
              </a:buClr>
              <a:buSzPct val="75000"/>
              <a:buFont typeface="Wingdings" panose="05000000000000000000" pitchFamily="2" charset="2"/>
              <a:buNone/>
            </a:pPr>
            <a:endParaRPr kumimoji="0" lang="zh-CN" altLang="en-US" sz="2400" b="1" dirty="0">
              <a:latin typeface="Trebuchet MS" panose="020B0603020202020204" pitchFamily="34" charset="0"/>
            </a:endParaRPr>
          </a:p>
          <a:p>
            <a:pPr marL="0" lvl="1" indent="0" eaLnBrk="1" hangingPunct="1">
              <a:lnSpc>
                <a:spcPct val="120000"/>
              </a:lnSpc>
              <a:buNone/>
              <a:defRPr/>
            </a:pPr>
            <a:endParaRPr lang="en-US" altLang="zh-CN" b="1" dirty="0">
              <a:latin typeface="Trebuchet MS" panose="020B0603020202020204" pitchFamily="34" charset="0"/>
            </a:endParaRPr>
          </a:p>
        </p:txBody>
      </p:sp>
    </p:spTree>
    <p:extLst>
      <p:ext uri="{BB962C8B-B14F-4D97-AF65-F5344CB8AC3E}">
        <p14:creationId xmlns:p14="http://schemas.microsoft.com/office/powerpoint/2010/main" val="118351314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animEffect transition="in" filter="fade">
                                      <p:cBhvr>
                                        <p:cTn id="7" dur="1000"/>
                                        <p:tgtEl>
                                          <p:spTgt spid="8">
                                            <p:txEl>
                                              <p:pRg st="1" end="1"/>
                                            </p:txEl>
                                          </p:spTgt>
                                        </p:tgtEl>
                                      </p:cBhvr>
                                    </p:animEffect>
                                    <p:anim calcmode="lin" valueType="num">
                                      <p:cBhvr>
                                        <p:cTn id="8" dur="1000" fill="hold"/>
                                        <p:tgtEl>
                                          <p:spTgt spid="8">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8">
                                            <p:txEl>
                                              <p:pRg st="2" end="2"/>
                                            </p:txEl>
                                          </p:spTgt>
                                        </p:tgtEl>
                                        <p:attrNameLst>
                                          <p:attrName>style.visibility</p:attrName>
                                        </p:attrNameLst>
                                      </p:cBhvr>
                                      <p:to>
                                        <p:strVal val="visible"/>
                                      </p:to>
                                    </p:set>
                                    <p:animEffect transition="in" filter="fade">
                                      <p:cBhvr>
                                        <p:cTn id="14" dur="1000"/>
                                        <p:tgtEl>
                                          <p:spTgt spid="8">
                                            <p:txEl>
                                              <p:pRg st="2" end="2"/>
                                            </p:txEl>
                                          </p:spTgt>
                                        </p:tgtEl>
                                      </p:cBhvr>
                                    </p:animEffect>
                                    <p:anim calcmode="lin" valueType="num">
                                      <p:cBhvr>
                                        <p:cTn id="15"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8">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spcBef>
                <a:spcPts val="600"/>
              </a:spcBef>
              <a:buClr>
                <a:srgbClr val="0B61FF"/>
              </a:buClr>
              <a:buSzPct val="80000"/>
            </a:pP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effectLst/>
                <a:latin typeface="Cambria Math" panose="02040503050406030204" pitchFamily="18" charset="0"/>
                <a:ea typeface="Cambria Math" panose="02040503050406030204" pitchFamily="18" charset="0"/>
                <a:cs typeface="Times New Roman" panose="02020603050405020304" pitchFamily="18" charset="0"/>
              </a:rPr>
              <a:t>3</a:t>
            </a:r>
            <a:r>
              <a:rPr lang="en-US" altLang="zh-CN" sz="2000" b="1" dirty="0">
                <a:solidFill>
                  <a:schemeClr val="bg1"/>
                </a:solidFill>
                <a:latin typeface="Trebuchet MS" panose="020B0603020202020204" pitchFamily="34" charset="0"/>
              </a:rPr>
              <a:t>.1.4</a:t>
            </a:r>
            <a:r>
              <a:rPr lang="en-US" altLang="zh-CN" sz="2000" b="1" dirty="0">
                <a:solidFill>
                  <a:srgbClr val="0B61FF"/>
                </a:solidFill>
                <a:latin typeface="Trebuchet MS" panose="020B0603020202020204" pitchFamily="34" charset="0"/>
              </a:rPr>
              <a:t> </a:t>
            </a:r>
            <a:r>
              <a:rPr lang="en-US" altLang="zh-CN" sz="2000" b="1" dirty="0">
                <a:solidFill>
                  <a:schemeClr val="bg1"/>
                </a:solidFill>
                <a:latin typeface="Trebuchet MS" panose="020B0603020202020204" pitchFamily="34" charset="0"/>
              </a:rPr>
              <a:t>First-Order Logic Formulas and Classification</a:t>
            </a:r>
          </a:p>
          <a:p>
            <a:pPr>
              <a:spcBef>
                <a:spcPts val="600"/>
              </a:spcBef>
              <a:buClr>
                <a:srgbClr val="0B61FF"/>
              </a:buClr>
              <a:buSzPct val="80000"/>
            </a:pPr>
            <a:r>
              <a:rPr lang="en-US" altLang="zh-CN" sz="1400" dirty="0">
                <a:latin typeface="Trebuchet MS" panose="020B0603020202020204" pitchFamily="34" charset="0"/>
                <a:ea typeface="Cambria Math" panose="02040503050406030204" pitchFamily="18" charset="0"/>
                <a:cs typeface="Times New Roman" panose="02020603050405020304" pitchFamily="18" charset="0"/>
              </a:rPr>
              <a:t>                        </a:t>
            </a:r>
            <a:r>
              <a:rPr lang="en-US" altLang="zh-CN" sz="2000"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2800" b="1" dirty="0">
                <a:latin typeface="Trebuchet MS" panose="020B0603020202020204" pitchFamily="34" charset="0"/>
              </a:rPr>
              <a:t>Classification of first-order</a:t>
            </a:r>
            <a:r>
              <a:rPr lang="en-US" altLang="zh-CN" sz="2800" b="1" dirty="0">
                <a:solidFill>
                  <a:schemeClr val="bg1"/>
                </a:solidFill>
                <a:latin typeface="Trebuchet MS" panose="020B0603020202020204" pitchFamily="34" charset="0"/>
              </a:rPr>
              <a:t> Logic</a:t>
            </a:r>
            <a:r>
              <a:rPr lang="en-US" altLang="zh-CN" sz="2800" b="1" dirty="0">
                <a:latin typeface="Trebuchet MS" panose="020B0603020202020204" pitchFamily="34" charset="0"/>
              </a:rPr>
              <a:t> formulas(</a:t>
            </a:r>
            <a:r>
              <a:rPr lang="en-US" altLang="zh-CN" sz="2800" b="1" dirty="0">
                <a:solidFill>
                  <a:schemeClr val="accent2"/>
                </a:solidFill>
                <a:latin typeface="Trebuchet MS" panose="020B0603020202020204" pitchFamily="34" charset="0"/>
              </a:rPr>
              <a:t>e.g.</a:t>
            </a:r>
            <a:r>
              <a:rPr lang="en-US" altLang="zh-CN" sz="2800" b="1" dirty="0">
                <a:latin typeface="Trebuchet MS" panose="020B0603020202020204" pitchFamily="34" charset="0"/>
              </a:rPr>
              <a:t>)</a:t>
            </a:r>
            <a:endParaRPr lang="zh-CN" altLang="en-US" sz="2800" b="1" dirty="0">
              <a:solidFill>
                <a:schemeClr val="bg1"/>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824681" y="765175"/>
            <a:ext cx="9320805" cy="5788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eaLnBrk="1" hangingPunct="1">
              <a:lnSpc>
                <a:spcPct val="90000"/>
              </a:lnSpc>
              <a:buClr>
                <a:schemeClr val="bg2"/>
              </a:buClr>
              <a:buSzPct val="75000"/>
              <a:buFont typeface="Wingdings" panose="05000000000000000000" pitchFamily="2" charset="2"/>
              <a:buNone/>
            </a:pPr>
            <a:endParaRPr kumimoji="0" lang="zh-CN" altLang="en-US" sz="3200" b="1" dirty="0"/>
          </a:p>
          <a:p>
            <a:pPr marL="0" lvl="1" indent="0" eaLnBrk="1" hangingPunct="1">
              <a:buNone/>
              <a:defRPr/>
            </a:pPr>
            <a:endParaRPr lang="en-US" altLang="zh-CN" sz="3200" b="1" dirty="0"/>
          </a:p>
        </p:txBody>
      </p:sp>
      <mc:AlternateContent xmlns:mc="http://schemas.openxmlformats.org/markup-compatibility/2006" xmlns:a14="http://schemas.microsoft.com/office/drawing/2010/main">
        <mc:Choice Requires="a14">
          <p:sp>
            <p:nvSpPr>
              <p:cNvPr id="29" name="Rectangle 3">
                <a:extLst>
                  <a:ext uri="{FF2B5EF4-FFF2-40B4-BE49-F238E27FC236}">
                    <a16:creationId xmlns:a16="http://schemas.microsoft.com/office/drawing/2014/main" id="{CE5FBBCA-DAD8-4909-9876-636A803F1B13}"/>
                  </a:ext>
                </a:extLst>
              </p:cNvPr>
              <p:cNvSpPr txBox="1">
                <a:spLocks noChangeArrowheads="1"/>
              </p:cNvSpPr>
              <p:nvPr/>
            </p:nvSpPr>
            <p:spPr>
              <a:xfrm>
                <a:off x="726709" y="870850"/>
                <a:ext cx="11193148" cy="546463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latinLnBrk="1">
                  <a:lnSpc>
                    <a:spcPct val="120000"/>
                  </a:lnSpc>
                  <a:spcBef>
                    <a:spcPts val="600"/>
                  </a:spcBef>
                  <a:buNone/>
                </a:pPr>
                <a:r>
                  <a:rPr lang="en-US" sz="2400" b="1" i="0" dirty="0">
                    <a:effectLst/>
                    <a:latin typeface="Trebuchet MS" panose="020B0603020202020204" pitchFamily="34" charset="0"/>
                  </a:rPr>
                  <a:t>       Example:</a:t>
                </a:r>
                <a:r>
                  <a:rPr lang="en-US" sz="2400" b="0" i="0" dirty="0">
                    <a:effectLst/>
                    <a:latin typeface="Trebuchet MS" panose="020B0603020202020204" pitchFamily="34" charset="0"/>
                  </a:rPr>
                  <a:t> Determine the type of the following formula:</a:t>
                </a:r>
              </a:p>
              <a:p>
                <a:pPr marL="0" indent="0">
                  <a:lnSpc>
                    <a:spcPct val="120000"/>
                  </a:lnSpc>
                  <a:spcBef>
                    <a:spcPts val="600"/>
                  </a:spcBef>
                  <a:buNone/>
                </a:pPr>
                <a:r>
                  <a:rPr lang="en-US" altLang="zh-CN" sz="2400" b="1" dirty="0">
                    <a:solidFill>
                      <a:srgbClr val="0B61FF"/>
                    </a:solidFill>
                    <a:latin typeface="Trebuchet MS" panose="020B0603020202020204" pitchFamily="34" charset="0"/>
                  </a:rPr>
                  <a:t>(</a:t>
                </a:r>
                <a:r>
                  <a:rPr lang="zh-CN" altLang="en-US" sz="2400" b="1" dirty="0">
                    <a:solidFill>
                      <a:srgbClr val="0B61FF"/>
                    </a:solidFill>
                    <a:latin typeface="Trebuchet MS" panose="020B0603020202020204" pitchFamily="34" charset="0"/>
                  </a:rPr>
                  <a:t>1) </a:t>
                </a:r>
                <a:r>
                  <a:rPr lang="zh-CN" altLang="en-US"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x</a:t>
                </a:r>
                <a:r>
                  <a:rPr lang="en-US" altLang="zh-CN" sz="2400" b="1" dirty="0">
                    <a:latin typeface="Trebuchet MS" panose="020B0603020202020204" pitchFamily="34" charset="0"/>
                  </a:rPr>
                  <a:t>(</a:t>
                </a:r>
                <a:r>
                  <a:rPr lang="en-US" altLang="zh-CN" sz="2400" b="1" i="1" dirty="0">
                    <a:latin typeface="Trebuchet MS" panose="020B0603020202020204" pitchFamily="34" charset="0"/>
                  </a:rPr>
                  <a:t>F</a:t>
                </a:r>
                <a:r>
                  <a:rPr lang="en-US" altLang="zh-CN" sz="2400" b="1" dirty="0">
                    <a:latin typeface="Trebuchet MS" panose="020B0603020202020204" pitchFamily="34" charset="0"/>
                  </a:rPr>
                  <a:t>(</a:t>
                </a:r>
                <a:r>
                  <a:rPr lang="en-US" altLang="zh-CN" sz="2400" b="1" i="1" dirty="0">
                    <a:latin typeface="Trebuchet MS" panose="020B0603020202020204" pitchFamily="34" charset="0"/>
                  </a:rPr>
                  <a:t>x</a:t>
                </a:r>
                <a:r>
                  <a:rPr lang="en-US" altLang="zh-CN" sz="2400" b="1" dirty="0">
                    <a:latin typeface="Trebuchet MS" panose="020B0603020202020204" pitchFamily="34" charset="0"/>
                  </a:rPr>
                  <a:t>)</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G</a:t>
                </a:r>
                <a:r>
                  <a:rPr lang="en-US" altLang="zh-CN" sz="2400" b="1" dirty="0">
                    <a:latin typeface="Trebuchet MS" panose="020B0603020202020204" pitchFamily="34" charset="0"/>
                  </a:rPr>
                  <a:t>(</a:t>
                </a:r>
                <a:r>
                  <a:rPr lang="en-US" altLang="zh-CN" sz="2400" b="1" i="1" dirty="0">
                    <a:latin typeface="Trebuchet MS" panose="020B0603020202020204" pitchFamily="34" charset="0"/>
                  </a:rPr>
                  <a:t>x</a:t>
                </a:r>
                <a:r>
                  <a:rPr lang="en-US" altLang="zh-CN" sz="2400" b="1" dirty="0">
                    <a:latin typeface="Trebuchet MS" panose="020B0603020202020204" pitchFamily="34" charset="0"/>
                  </a:rPr>
                  <a:t>))</a:t>
                </a:r>
              </a:p>
              <a:p>
                <a:pPr marL="446088" indent="0">
                  <a:lnSpc>
                    <a:spcPct val="120000"/>
                  </a:lnSpc>
                  <a:spcBef>
                    <a:spcPts val="600"/>
                  </a:spcBef>
                  <a:buNone/>
                </a:pPr>
                <a:r>
                  <a:rPr kumimoji="0" lang="en-US" altLang="zh-CN" sz="2400" b="1" i="1" dirty="0">
                    <a:latin typeface="Trebuchet MS" panose="020B0603020202020204" pitchFamily="34" charset="0"/>
                  </a:rPr>
                  <a:t>I</a:t>
                </a:r>
                <a:r>
                  <a:rPr kumimoji="0" lang="en-US" altLang="zh-CN" sz="2400" b="1" baseline="-25000" dirty="0">
                    <a:latin typeface="Trebuchet MS" panose="020B0603020202020204" pitchFamily="34" charset="0"/>
                  </a:rPr>
                  <a:t>1</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D</a:t>
                </a:r>
                <a:r>
                  <a:rPr kumimoji="0" lang="en-US" altLang="zh-CN" sz="2400" b="1" baseline="-25000" dirty="0">
                    <a:latin typeface="Trebuchet MS" panose="020B0603020202020204" pitchFamily="34" charset="0"/>
                  </a:rPr>
                  <a:t>1</a:t>
                </a:r>
                <a:r>
                  <a:rPr kumimoji="0" lang="en-US" altLang="zh-CN" sz="2400" b="1" dirty="0">
                    <a:latin typeface="Trebuchet MS" panose="020B0603020202020204" pitchFamily="34" charset="0"/>
                  </a:rPr>
                  <a:t>=R, </a:t>
                </a:r>
                <a14:m>
                  <m:oMath xmlns:m="http://schemas.openxmlformats.org/officeDocument/2006/math">
                    <m:acc>
                      <m:accPr>
                        <m:chr m:val="̅"/>
                        <m:ctrlPr>
                          <a:rPr kumimoji="0" lang="en-US" altLang="zh-CN" sz="2400" b="1" i="1" smtClean="0">
                            <a:latin typeface="Cambria Math" panose="02040503050406030204" pitchFamily="18" charset="0"/>
                          </a:rPr>
                        </m:ctrlPr>
                      </m:accPr>
                      <m:e>
                        <m:r>
                          <a:rPr kumimoji="0" lang="en-US" altLang="zh-CN" sz="2400" b="1" i="1" smtClean="0">
                            <a:latin typeface="Cambria Math" panose="02040503050406030204" pitchFamily="18" charset="0"/>
                          </a:rPr>
                          <m:t>𝑭</m:t>
                        </m:r>
                      </m:e>
                    </m:acc>
                    <m:d>
                      <m:dPr>
                        <m:ctrlPr>
                          <a:rPr kumimoji="0" lang="en-US" altLang="zh-CN" sz="2400" b="1" i="1" smtClean="0">
                            <a:latin typeface="Cambria Math" panose="02040503050406030204" pitchFamily="18" charset="0"/>
                          </a:rPr>
                        </m:ctrlPr>
                      </m:dPr>
                      <m:e>
                        <m:r>
                          <a:rPr kumimoji="0" lang="en-US" altLang="zh-CN" sz="2400" b="1" i="1" smtClean="0">
                            <a:latin typeface="Cambria Math" panose="02040503050406030204" pitchFamily="18" charset="0"/>
                          </a:rPr>
                          <m:t>𝒙</m:t>
                        </m:r>
                      </m:e>
                    </m:d>
                    <m:r>
                      <a:rPr kumimoji="0" lang="en-US" altLang="zh-CN" sz="2400" b="1" i="1" smtClean="0">
                        <a:latin typeface="Cambria Math" panose="02040503050406030204" pitchFamily="18" charset="0"/>
                      </a:rPr>
                      <m:t>:</m:t>
                    </m:r>
                    <m:r>
                      <m:rPr>
                        <m:nor/>
                      </m:rPr>
                      <a:rPr lang="en-US" altLang="zh-CN" sz="2400" b="1" i="1" dirty="0">
                        <a:latin typeface="Trebuchet MS" panose="020B0603020202020204" pitchFamily="34" charset="0"/>
                      </a:rPr>
                      <m:t>x</m:t>
                    </m:r>
                    <m:r>
                      <m:rPr>
                        <m:nor/>
                      </m:rPr>
                      <a:rPr lang="zh-CN" altLang="en-US" sz="2400" b="1" i="1" dirty="0">
                        <a:latin typeface="Trebuchet MS" panose="020B0603020202020204" pitchFamily="34" charset="0"/>
                      </a:rPr>
                      <m:t> </m:t>
                    </m:r>
                    <m:r>
                      <m:rPr>
                        <m:nor/>
                      </m:rPr>
                      <a:rPr lang="en-US" altLang="zh-CN" sz="2400" b="1" dirty="0">
                        <a:latin typeface="Trebuchet MS" panose="020B0603020202020204" pitchFamily="34" charset="0"/>
                      </a:rPr>
                      <m:t>integer</m:t>
                    </m:r>
                  </m:oMath>
                </a14:m>
                <a:r>
                  <a:rPr lang="en-US" sz="2400" b="0" i="0" dirty="0">
                    <a:solidFill>
                      <a:srgbClr val="737A87"/>
                    </a:solidFill>
                    <a:effectLst/>
                    <a:latin typeface="Trebuchet MS" panose="020B0603020202020204" pitchFamily="34" charset="0"/>
                  </a:rPr>
                  <a:t>,</a:t>
                </a:r>
                <a:r>
                  <a:rPr lang="en-US" altLang="zh-CN" sz="2400" b="1" dirty="0">
                    <a:latin typeface="Trebuchet MS" panose="020B0603020202020204" pitchFamily="34" charset="0"/>
                  </a:rPr>
                  <a:t> </a:t>
                </a:r>
                <a14:m>
                  <m:oMath xmlns:m="http://schemas.openxmlformats.org/officeDocument/2006/math">
                    <m:acc>
                      <m:accPr>
                        <m:chr m:val="̅"/>
                        <m:ctrlPr>
                          <a:rPr lang="en-US" altLang="zh-CN" sz="2400" b="1" i="1">
                            <a:latin typeface="Cambria Math" panose="02040503050406030204" pitchFamily="18" charset="0"/>
                          </a:rPr>
                        </m:ctrlPr>
                      </m:accPr>
                      <m:e>
                        <m:r>
                          <a:rPr lang="en-US" altLang="zh-CN" sz="2400" b="1" i="1" smtClean="0">
                            <a:latin typeface="Cambria Math" panose="02040503050406030204" pitchFamily="18" charset="0"/>
                          </a:rPr>
                          <m:t>𝑮</m:t>
                        </m:r>
                      </m:e>
                    </m:acc>
                    <m:d>
                      <m:dPr>
                        <m:ctrlPr>
                          <a:rPr lang="en-US" altLang="zh-CN" sz="2400" b="1" i="1">
                            <a:latin typeface="Cambria Math" panose="02040503050406030204" pitchFamily="18" charset="0"/>
                          </a:rPr>
                        </m:ctrlPr>
                      </m:dPr>
                      <m:e>
                        <m:r>
                          <a:rPr lang="en-US" altLang="zh-CN" sz="2400" b="1" i="1">
                            <a:latin typeface="Cambria Math" panose="02040503050406030204" pitchFamily="18" charset="0"/>
                          </a:rPr>
                          <m:t>𝒙</m:t>
                        </m:r>
                      </m:e>
                    </m:d>
                    <m:r>
                      <a:rPr lang="en-US" altLang="zh-CN" sz="2400" b="1" i="1">
                        <a:latin typeface="Cambria Math" panose="02040503050406030204" pitchFamily="18" charset="0"/>
                      </a:rPr>
                      <m:t>:</m:t>
                    </m:r>
                    <m:r>
                      <m:rPr>
                        <m:nor/>
                      </m:rPr>
                      <a:rPr lang="en-US" altLang="zh-CN" sz="2400" b="1" i="1" dirty="0">
                        <a:latin typeface="Trebuchet MS" panose="020B0603020202020204" pitchFamily="34" charset="0"/>
                      </a:rPr>
                      <m:t>x</m:t>
                    </m:r>
                    <m:r>
                      <m:rPr>
                        <m:nor/>
                      </m:rPr>
                      <a:rPr lang="en-US" altLang="zh-CN" sz="2400" b="1" i="1" dirty="0" smtClean="0">
                        <a:latin typeface="Trebuchet MS" panose="020B0603020202020204" pitchFamily="34" charset="0"/>
                      </a:rPr>
                      <m:t> </m:t>
                    </m:r>
                    <m:r>
                      <m:rPr>
                        <m:nor/>
                      </m:rPr>
                      <a:rPr lang="en-US" altLang="zh-CN" sz="2400" dirty="0" smtClean="0">
                        <a:latin typeface="Trebuchet MS" panose="020B0603020202020204" pitchFamily="34" charset="0"/>
                      </a:rPr>
                      <m:t>is</m:t>
                    </m:r>
                    <m:r>
                      <m:rPr>
                        <m:nor/>
                      </m:rPr>
                      <a:rPr lang="en-US" altLang="zh-CN" sz="2400" dirty="0" smtClean="0">
                        <a:latin typeface="Trebuchet MS" panose="020B0603020202020204" pitchFamily="34" charset="0"/>
                      </a:rPr>
                      <m:t> </m:t>
                    </m:r>
                    <m:r>
                      <m:rPr>
                        <m:nor/>
                      </m:rPr>
                      <a:rPr lang="en-US" altLang="zh-CN" sz="2400" b="1" dirty="0">
                        <a:latin typeface="Trebuchet MS" panose="020B0603020202020204" pitchFamily="34" charset="0"/>
                      </a:rPr>
                      <m:t>rational</m:t>
                    </m:r>
                  </m:oMath>
                </a14:m>
                <a:r>
                  <a:rPr lang="en-US" sz="2400" b="0" i="0" dirty="0">
                    <a:solidFill>
                      <a:srgbClr val="737A87"/>
                    </a:solidFill>
                    <a:effectLst/>
                    <a:latin typeface="Trebuchet MS" panose="020B0603020202020204" pitchFamily="34" charset="0"/>
                  </a:rPr>
                  <a:t>. </a:t>
                </a:r>
                <a:r>
                  <a:rPr lang="en-US" altLang="zh-CN" sz="2400" b="1" dirty="0">
                    <a:solidFill>
                      <a:srgbClr val="0B61FF"/>
                    </a:solidFill>
                    <a:latin typeface="Trebuchet MS" panose="020B0603020202020204" pitchFamily="34" charset="0"/>
                  </a:rPr>
                  <a:t>(</a:t>
                </a:r>
                <a:r>
                  <a:rPr lang="zh-CN" altLang="en-US" sz="2400" b="1" dirty="0">
                    <a:solidFill>
                      <a:srgbClr val="0B61FF"/>
                    </a:solidFill>
                    <a:latin typeface="Trebuchet MS" panose="020B0603020202020204" pitchFamily="34" charset="0"/>
                  </a:rPr>
                  <a:t>1) </a:t>
                </a:r>
                <a:r>
                  <a:rPr lang="en-US" altLang="zh-CN" sz="2400" b="1" dirty="0">
                    <a:latin typeface="Trebuchet MS" panose="020B0603020202020204" pitchFamily="34" charset="0"/>
                  </a:rPr>
                  <a:t>is a true proposition.</a:t>
                </a:r>
              </a:p>
              <a:p>
                <a:pPr marL="446088" indent="0">
                  <a:lnSpc>
                    <a:spcPct val="120000"/>
                  </a:lnSpc>
                  <a:spcBef>
                    <a:spcPts val="600"/>
                  </a:spcBef>
                  <a:buNone/>
                </a:pPr>
                <a:r>
                  <a:rPr lang="en-US" altLang="zh-CN" sz="2400" b="1" i="1" dirty="0">
                    <a:latin typeface="Trebuchet MS" panose="020B0603020202020204" pitchFamily="34" charset="0"/>
                  </a:rPr>
                  <a:t>I</a:t>
                </a:r>
                <a:r>
                  <a:rPr lang="en-US" altLang="zh-CN" sz="2400" b="1" baseline="-25000" dirty="0">
                    <a:latin typeface="Trebuchet MS" panose="020B0603020202020204" pitchFamily="34" charset="0"/>
                  </a:rPr>
                  <a:t>2</a:t>
                </a:r>
                <a:r>
                  <a:rPr lang="en-US" altLang="zh-CN" sz="2400" b="1" dirty="0">
                    <a:latin typeface="Trebuchet MS" panose="020B0603020202020204" pitchFamily="34" charset="0"/>
                  </a:rPr>
                  <a:t>:  </a:t>
                </a:r>
                <a:r>
                  <a:rPr lang="en-US" altLang="zh-CN" sz="2400" b="1" i="1" dirty="0">
                    <a:latin typeface="Trebuchet MS" panose="020B0603020202020204" pitchFamily="34" charset="0"/>
                  </a:rPr>
                  <a:t>D</a:t>
                </a:r>
                <a:r>
                  <a:rPr lang="en-US" altLang="zh-CN" sz="2400" b="1" baseline="-25000" dirty="0">
                    <a:latin typeface="Trebuchet MS" panose="020B0603020202020204" pitchFamily="34" charset="0"/>
                  </a:rPr>
                  <a:t>2</a:t>
                </a:r>
                <a:r>
                  <a:rPr lang="en-US" altLang="zh-CN" sz="2400" b="1" dirty="0">
                    <a:latin typeface="Trebuchet MS" panose="020B0603020202020204" pitchFamily="34" charset="0"/>
                  </a:rPr>
                  <a:t>=R, </a:t>
                </a:r>
                <a14:m>
                  <m:oMath xmlns:m="http://schemas.openxmlformats.org/officeDocument/2006/math">
                    <m:acc>
                      <m:accPr>
                        <m:chr m:val="̅"/>
                        <m:ctrlPr>
                          <a:rPr lang="en-US" altLang="zh-CN" sz="2400" b="1" i="1">
                            <a:latin typeface="Cambria Math" panose="02040503050406030204" pitchFamily="18" charset="0"/>
                          </a:rPr>
                        </m:ctrlPr>
                      </m:accPr>
                      <m:e>
                        <m:r>
                          <a:rPr lang="en-US" altLang="zh-CN" sz="2400" b="1" i="1">
                            <a:latin typeface="Cambria Math" panose="02040503050406030204" pitchFamily="18" charset="0"/>
                          </a:rPr>
                          <m:t>𝑭</m:t>
                        </m:r>
                      </m:e>
                    </m:acc>
                    <m:d>
                      <m:dPr>
                        <m:ctrlPr>
                          <a:rPr lang="en-US" altLang="zh-CN" sz="2400" b="1" i="1">
                            <a:latin typeface="Cambria Math" panose="02040503050406030204" pitchFamily="18" charset="0"/>
                          </a:rPr>
                        </m:ctrlPr>
                      </m:dPr>
                      <m:e>
                        <m:r>
                          <a:rPr lang="en-US" altLang="zh-CN" sz="2400" b="1" i="1">
                            <a:latin typeface="Cambria Math" panose="02040503050406030204" pitchFamily="18" charset="0"/>
                          </a:rPr>
                          <m:t>𝒙</m:t>
                        </m:r>
                      </m:e>
                    </m:d>
                    <m:r>
                      <a:rPr lang="en-US" altLang="zh-CN" sz="2400" b="1" i="1">
                        <a:latin typeface="Cambria Math" panose="02040503050406030204" pitchFamily="18" charset="0"/>
                      </a:rPr>
                      <m:t>:</m:t>
                    </m:r>
                    <m:r>
                      <m:rPr>
                        <m:nor/>
                      </m:rPr>
                      <a:rPr lang="en-US" altLang="zh-CN" sz="2400" b="1" i="1" dirty="0">
                        <a:latin typeface="Trebuchet MS" panose="020B0603020202020204" pitchFamily="34" charset="0"/>
                      </a:rPr>
                      <m:t>x</m:t>
                    </m:r>
                    <m:r>
                      <m:rPr>
                        <m:nor/>
                      </m:rPr>
                      <a:rPr lang="zh-CN" altLang="en-US" sz="2400" b="1" i="1" dirty="0">
                        <a:latin typeface="Trebuchet MS" panose="020B0603020202020204" pitchFamily="34" charset="0"/>
                      </a:rPr>
                      <m:t> </m:t>
                    </m:r>
                    <m:r>
                      <m:rPr>
                        <m:nor/>
                      </m:rPr>
                      <a:rPr lang="en-US" altLang="zh-CN" sz="2400" b="1" dirty="0">
                        <a:latin typeface="Trebuchet MS" panose="020B0603020202020204" pitchFamily="34" charset="0"/>
                      </a:rPr>
                      <m:t>integer</m:t>
                    </m:r>
                  </m:oMath>
                </a14:m>
                <a:r>
                  <a:rPr lang="en-US" altLang="zh-CN" sz="2400" dirty="0">
                    <a:solidFill>
                      <a:srgbClr val="737A87"/>
                    </a:solidFill>
                    <a:latin typeface="Trebuchet MS" panose="020B0603020202020204" pitchFamily="34" charset="0"/>
                  </a:rPr>
                  <a:t>,</a:t>
                </a:r>
                <a:r>
                  <a:rPr lang="en-US" altLang="zh-CN" sz="2400" b="1" dirty="0">
                    <a:latin typeface="Trebuchet MS" panose="020B0603020202020204" pitchFamily="34" charset="0"/>
                  </a:rPr>
                  <a:t> </a:t>
                </a:r>
                <a14:m>
                  <m:oMath xmlns:m="http://schemas.openxmlformats.org/officeDocument/2006/math">
                    <m:acc>
                      <m:accPr>
                        <m:chr m:val="̅"/>
                        <m:ctrlPr>
                          <a:rPr lang="en-US" altLang="zh-CN" sz="2400" b="1" i="1">
                            <a:latin typeface="Cambria Math" panose="02040503050406030204" pitchFamily="18" charset="0"/>
                          </a:rPr>
                        </m:ctrlPr>
                      </m:accPr>
                      <m:e>
                        <m:r>
                          <a:rPr lang="en-US" altLang="zh-CN" sz="2400" b="1" i="1">
                            <a:latin typeface="Cambria Math" panose="02040503050406030204" pitchFamily="18" charset="0"/>
                          </a:rPr>
                          <m:t>𝑮</m:t>
                        </m:r>
                      </m:e>
                    </m:acc>
                    <m:d>
                      <m:dPr>
                        <m:ctrlPr>
                          <a:rPr lang="en-US" altLang="zh-CN" sz="2400" b="1" i="1">
                            <a:latin typeface="Cambria Math" panose="02040503050406030204" pitchFamily="18" charset="0"/>
                          </a:rPr>
                        </m:ctrlPr>
                      </m:dPr>
                      <m:e>
                        <m:r>
                          <a:rPr lang="en-US" altLang="zh-CN" sz="2400" b="1" i="1">
                            <a:latin typeface="Cambria Math" panose="02040503050406030204" pitchFamily="18" charset="0"/>
                          </a:rPr>
                          <m:t>𝒙</m:t>
                        </m:r>
                      </m:e>
                    </m:d>
                    <m:r>
                      <a:rPr lang="en-US" altLang="zh-CN" sz="2400" b="1" i="1">
                        <a:latin typeface="Cambria Math" panose="02040503050406030204" pitchFamily="18" charset="0"/>
                      </a:rPr>
                      <m:t>:</m:t>
                    </m:r>
                    <m:r>
                      <m:rPr>
                        <m:nor/>
                      </m:rPr>
                      <a:rPr lang="en-US" altLang="zh-CN" sz="2400" b="1" i="1" dirty="0">
                        <a:latin typeface="Trebuchet MS" panose="020B0603020202020204" pitchFamily="34" charset="0"/>
                      </a:rPr>
                      <m:t>x</m:t>
                    </m:r>
                    <m:r>
                      <m:rPr>
                        <m:nor/>
                      </m:rPr>
                      <a:rPr lang="en-US" altLang="zh-CN" sz="2400" b="1" i="1" dirty="0" smtClean="0">
                        <a:latin typeface="Trebuchet MS" panose="020B0603020202020204" pitchFamily="34" charset="0"/>
                      </a:rPr>
                      <m:t> </m:t>
                    </m:r>
                    <m:r>
                      <m:rPr>
                        <m:nor/>
                      </m:rPr>
                      <a:rPr lang="en-US" altLang="zh-CN" sz="2400" dirty="0">
                        <a:latin typeface="Trebuchet MS" panose="020B0603020202020204" pitchFamily="34" charset="0"/>
                      </a:rPr>
                      <m:t>is</m:t>
                    </m:r>
                    <m:r>
                      <m:rPr>
                        <m:nor/>
                      </m:rPr>
                      <a:rPr lang="zh-CN" altLang="en-US" sz="2400" dirty="0">
                        <a:latin typeface="Trebuchet MS" panose="020B0603020202020204" pitchFamily="34" charset="0"/>
                      </a:rPr>
                      <m:t> </m:t>
                    </m:r>
                    <m:r>
                      <m:rPr>
                        <m:nor/>
                      </m:rPr>
                      <a:rPr lang="en-US" altLang="zh-CN" sz="2400" b="1" dirty="0">
                        <a:latin typeface="Trebuchet MS" panose="020B0603020202020204" pitchFamily="34" charset="0"/>
                      </a:rPr>
                      <m:t>natural</m:t>
                    </m:r>
                    <m:r>
                      <m:rPr>
                        <m:nor/>
                      </m:rPr>
                      <a:rPr lang="en-US" altLang="zh-CN" sz="2400" b="1" dirty="0">
                        <a:latin typeface="Trebuchet MS" panose="020B0603020202020204" pitchFamily="34" charset="0"/>
                      </a:rPr>
                      <m:t> </m:t>
                    </m:r>
                    <m:r>
                      <m:rPr>
                        <m:nor/>
                      </m:rPr>
                      <a:rPr lang="en-US" altLang="zh-CN" sz="2400" b="1" dirty="0">
                        <a:latin typeface="Trebuchet MS" panose="020B0603020202020204" pitchFamily="34" charset="0"/>
                      </a:rPr>
                      <m:t>number</m:t>
                    </m:r>
                  </m:oMath>
                </a14:m>
                <a:r>
                  <a:rPr lang="en-US" altLang="zh-CN" sz="2400" dirty="0">
                    <a:solidFill>
                      <a:srgbClr val="737A87"/>
                    </a:solidFill>
                    <a:latin typeface="Trebuchet MS" panose="020B0603020202020204" pitchFamily="34" charset="0"/>
                  </a:rPr>
                  <a:t>. </a:t>
                </a:r>
                <a:r>
                  <a:rPr lang="en-US" altLang="zh-CN" sz="2400" b="1" dirty="0">
                    <a:solidFill>
                      <a:srgbClr val="0B61FF"/>
                    </a:solidFill>
                    <a:latin typeface="Trebuchet MS" panose="020B0603020202020204" pitchFamily="34" charset="0"/>
                  </a:rPr>
                  <a:t>(1) </a:t>
                </a:r>
                <a:r>
                  <a:rPr lang="en-US" altLang="zh-CN" sz="2400" b="1" dirty="0">
                    <a:latin typeface="Trebuchet MS" panose="020B0603020202020204" pitchFamily="34" charset="0"/>
                  </a:rPr>
                  <a:t>is a false proposition.  </a:t>
                </a:r>
                <a:r>
                  <a:rPr lang="en-US" altLang="zh-CN" sz="2400" b="1" dirty="0">
                    <a:solidFill>
                      <a:srgbClr val="0B61FF"/>
                    </a:solidFill>
                    <a:latin typeface="Trebuchet MS" panose="020B0603020202020204" pitchFamily="34" charset="0"/>
                  </a:rPr>
                  <a:t>(</a:t>
                </a:r>
                <a:r>
                  <a:rPr lang="zh-CN" altLang="en-US" sz="2400" b="1" dirty="0">
                    <a:solidFill>
                      <a:srgbClr val="0B61FF"/>
                    </a:solidFill>
                    <a:latin typeface="Trebuchet MS" panose="020B0603020202020204" pitchFamily="34" charset="0"/>
                  </a:rPr>
                  <a:t>1) </a:t>
                </a:r>
                <a:r>
                  <a:rPr lang="en-US" altLang="zh-CN" sz="2400" dirty="0">
                    <a:latin typeface="Trebuchet MS" panose="020B0603020202020204" pitchFamily="34" charset="0"/>
                  </a:rPr>
                  <a:t>is a</a:t>
                </a:r>
                <a:r>
                  <a:rPr lang="en-US" altLang="zh-CN" sz="2400" dirty="0">
                    <a:solidFill>
                      <a:srgbClr val="0C0D0E"/>
                    </a:solidFill>
                    <a:latin typeface="Trebuchet MS" panose="020B0603020202020204" pitchFamily="34" charset="0"/>
                  </a:rPr>
                  <a:t> </a:t>
                </a:r>
                <a:r>
                  <a:rPr lang="en-US" altLang="zh-CN" sz="2400" b="1" dirty="0">
                    <a:solidFill>
                      <a:srgbClr val="0C0D0E"/>
                    </a:solidFill>
                    <a:latin typeface="Trebuchet MS" panose="020B0603020202020204" pitchFamily="34" charset="0"/>
                  </a:rPr>
                  <a:t>satisfiable formula </a:t>
                </a:r>
                <a:r>
                  <a:rPr lang="en-US" altLang="zh-CN" sz="2400" dirty="0">
                    <a:solidFill>
                      <a:srgbClr val="0C0D0E"/>
                    </a:solidFill>
                    <a:latin typeface="Trebuchet MS" panose="020B0603020202020204" pitchFamily="34" charset="0"/>
                  </a:rPr>
                  <a:t>(not logically valid formula).</a:t>
                </a:r>
              </a:p>
              <a:p>
                <a:pPr marL="0" indent="0">
                  <a:lnSpc>
                    <a:spcPct val="120000"/>
                  </a:lnSpc>
                  <a:spcBef>
                    <a:spcPts val="600"/>
                  </a:spcBef>
                  <a:buNone/>
                </a:pPr>
                <a:r>
                  <a:rPr lang="en-US" altLang="zh-CN" sz="2400" b="1" dirty="0">
                    <a:solidFill>
                      <a:srgbClr val="0B61FF"/>
                    </a:solidFill>
                    <a:latin typeface="Trebuchet MS" panose="020B0603020202020204" pitchFamily="34" charset="0"/>
                  </a:rPr>
                  <a:t>(2) </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rPr>
                  <a:t>(</a:t>
                </a:r>
                <a:r>
                  <a:rPr lang="zh-CN" altLang="en-US"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xF</a:t>
                </a:r>
                <a:r>
                  <a:rPr lang="en-US" altLang="zh-CN" sz="2400" b="1" dirty="0">
                    <a:latin typeface="Trebuchet MS" panose="020B0603020202020204" pitchFamily="34" charset="0"/>
                  </a:rPr>
                  <a:t>(</a:t>
                </a:r>
                <a:r>
                  <a:rPr lang="en-US" altLang="zh-CN" sz="2400" b="1" i="1" dirty="0">
                    <a:latin typeface="Trebuchet MS" panose="020B0603020202020204" pitchFamily="34" charset="0"/>
                  </a:rPr>
                  <a:t>x,y</a:t>
                </a:r>
                <a:r>
                  <a:rPr lang="en-US" altLang="zh-CN" sz="2400" b="1" dirty="0">
                    <a:latin typeface="Trebuchet MS" panose="020B0603020202020204" pitchFamily="34" charset="0"/>
                  </a:rPr>
                  <a:t>))</a:t>
                </a:r>
                <a:r>
                  <a:rPr lang="en-US" altLang="zh-CN" sz="2400" b="1" dirty="0">
                    <a:latin typeface="Trebuchet MS" panose="020B0603020202020204" pitchFamily="34" charset="0"/>
                    <a:sym typeface="Symbol" panose="05050102010706020507" pitchFamily="18" charset="2"/>
                  </a:rPr>
                  <a:t>(</a:t>
                </a:r>
                <a:r>
                  <a:rPr lang="zh-CN" altLang="en-US"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xF</a:t>
                </a:r>
                <a:r>
                  <a:rPr lang="en-US" altLang="zh-CN" sz="2400" b="1" dirty="0">
                    <a:latin typeface="Trebuchet MS" panose="020B0603020202020204" pitchFamily="34" charset="0"/>
                  </a:rPr>
                  <a:t>(</a:t>
                </a:r>
                <a:r>
                  <a:rPr lang="en-US" altLang="zh-CN" sz="2400" b="1" i="1" dirty="0">
                    <a:latin typeface="Trebuchet MS" panose="020B0603020202020204" pitchFamily="34" charset="0"/>
                  </a:rPr>
                  <a:t>x,y</a:t>
                </a:r>
                <a:r>
                  <a:rPr lang="en-US" altLang="zh-CN" sz="2400" b="1" dirty="0">
                    <a:latin typeface="Trebuchet MS" panose="020B0603020202020204" pitchFamily="34" charset="0"/>
                  </a:rPr>
                  <a:t>))</a:t>
                </a:r>
                <a:r>
                  <a:rPr lang="en-US" altLang="zh-CN" sz="2400" b="1" dirty="0">
                    <a:latin typeface="Trebuchet MS" panose="020B0603020202020204" pitchFamily="34" charset="0"/>
                    <a:sym typeface="Symbol" panose="05050102010706020507" pitchFamily="18" charset="2"/>
                  </a:rPr>
                  <a:t>  , </a:t>
                </a:r>
              </a:p>
              <a:p>
                <a:pPr marL="533400" indent="0">
                  <a:lnSpc>
                    <a:spcPct val="120000"/>
                  </a:lnSpc>
                  <a:spcBef>
                    <a:spcPts val="600"/>
                  </a:spcBef>
                  <a:buNone/>
                </a:pP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rPr>
                  <a:t>p</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p </a:t>
                </a:r>
                <a:r>
                  <a:rPr lang="en-US" altLang="zh-CN" sz="2400" dirty="0">
                    <a:solidFill>
                      <a:srgbClr val="0C0D0E"/>
                    </a:solidFill>
                    <a:latin typeface="Trebuchet MS" panose="020B0603020202020204" pitchFamily="34" charset="0"/>
                  </a:rPr>
                  <a:t>substitution instances </a:t>
                </a:r>
                <a:r>
                  <a:rPr lang="zh-CN" altLang="en-US" sz="2400" b="1" dirty="0">
                    <a:latin typeface="Trebuchet MS" panose="020B0603020202020204" pitchFamily="34" charset="0"/>
                  </a:rPr>
                  <a:t>, </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p</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p</a:t>
                </a:r>
                <a:r>
                  <a:rPr lang="zh-CN" altLang="en-US" sz="2400" b="1" dirty="0">
                    <a:latin typeface="Trebuchet MS" panose="020B0603020202020204" pitchFamily="34" charset="0"/>
                  </a:rPr>
                  <a:t>  </a:t>
                </a:r>
                <a:r>
                  <a:rPr lang="en-US" altLang="zh-CN" sz="2400" dirty="0">
                    <a:solidFill>
                      <a:srgbClr val="0C0D0E"/>
                    </a:solidFill>
                    <a:latin typeface="Trebuchet MS" panose="020B0603020202020204" pitchFamily="34" charset="0"/>
                  </a:rPr>
                  <a:t>tautology</a:t>
                </a:r>
                <a:r>
                  <a:rPr lang="zh-CN" altLang="en-US" sz="2400" b="1" dirty="0">
                    <a:latin typeface="Trebuchet MS" panose="020B0603020202020204" pitchFamily="34" charset="0"/>
                  </a:rPr>
                  <a:t>, </a:t>
                </a:r>
                <a:r>
                  <a:rPr lang="en-US" altLang="zh-CN" sz="2400" b="1" dirty="0">
                    <a:solidFill>
                      <a:srgbClr val="0B61FF"/>
                    </a:solidFill>
                    <a:latin typeface="Trebuchet MS" panose="020B0603020202020204" pitchFamily="34" charset="0"/>
                  </a:rPr>
                  <a:t>(2) </a:t>
                </a:r>
                <a:r>
                  <a:rPr lang="en-US" altLang="zh-CN" sz="2400" dirty="0">
                    <a:latin typeface="Trebuchet MS" panose="020B0603020202020204" pitchFamily="34" charset="0"/>
                  </a:rPr>
                  <a:t>is a</a:t>
                </a:r>
                <a:r>
                  <a:rPr lang="en-US" altLang="zh-CN" sz="2400" b="1" dirty="0">
                    <a:latin typeface="Trebuchet MS" panose="020B0603020202020204" pitchFamily="34" charset="0"/>
                  </a:rPr>
                  <a:t> </a:t>
                </a:r>
                <a:r>
                  <a:rPr lang="en-US" altLang="zh-CN" sz="2400" b="1" dirty="0">
                    <a:solidFill>
                      <a:srgbClr val="0C0D0E"/>
                    </a:solidFill>
                    <a:latin typeface="Trebuchet MS" panose="020B0603020202020204" pitchFamily="34" charset="0"/>
                  </a:rPr>
                  <a:t>tautology</a:t>
                </a:r>
                <a:r>
                  <a:rPr lang="en-US" altLang="zh-CN" sz="2400" dirty="0">
                    <a:solidFill>
                      <a:srgbClr val="0C0D0E"/>
                    </a:solidFill>
                    <a:latin typeface="Trebuchet MS" panose="020B0603020202020204" pitchFamily="34" charset="0"/>
                  </a:rPr>
                  <a:t>.</a:t>
                </a:r>
              </a:p>
              <a:p>
                <a:pPr algn="just" eaLnBrk="1" hangingPunct="1">
                  <a:lnSpc>
                    <a:spcPct val="120000"/>
                  </a:lnSpc>
                  <a:spcBef>
                    <a:spcPts val="600"/>
                  </a:spcBef>
                  <a:buFontTx/>
                  <a:buNone/>
                </a:pPr>
                <a:r>
                  <a:rPr lang="en-US" altLang="zh-CN" sz="2400" b="1" dirty="0">
                    <a:solidFill>
                      <a:srgbClr val="0B61FF"/>
                    </a:solidFill>
                    <a:latin typeface="Trebuchet MS" panose="020B0603020202020204" pitchFamily="34" charset="0"/>
                  </a:rPr>
                  <a:t>(3) </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rPr>
                  <a:t> (</a:t>
                </a:r>
                <a:r>
                  <a:rPr lang="zh-CN" altLang="en-US"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xF</a:t>
                </a:r>
                <a:r>
                  <a:rPr lang="en-US" altLang="zh-CN" sz="2400" b="1" dirty="0">
                    <a:latin typeface="Trebuchet MS" panose="020B0603020202020204" pitchFamily="34" charset="0"/>
                  </a:rPr>
                  <a:t>(</a:t>
                </a:r>
                <a:r>
                  <a:rPr lang="en-US" altLang="zh-CN" sz="2400" b="1" i="1" dirty="0">
                    <a:latin typeface="Trebuchet MS" panose="020B0603020202020204" pitchFamily="34" charset="0"/>
                  </a:rPr>
                  <a:t>x</a:t>
                </a:r>
                <a:r>
                  <a:rPr lang="en-US" altLang="zh-CN" sz="2400" b="1" dirty="0">
                    <a:latin typeface="Trebuchet MS" panose="020B0603020202020204" pitchFamily="34" charset="0"/>
                  </a:rPr>
                  <a:t>)</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yG</a:t>
                </a:r>
                <a:r>
                  <a:rPr lang="en-US" altLang="zh-CN" sz="2400" b="1" dirty="0">
                    <a:latin typeface="Trebuchet MS" panose="020B0603020202020204" pitchFamily="34" charset="0"/>
                  </a:rPr>
                  <a:t>(</a:t>
                </a:r>
                <a:r>
                  <a:rPr lang="en-US" altLang="zh-CN" sz="2400" b="1" i="1" dirty="0">
                    <a:latin typeface="Trebuchet MS" panose="020B0603020202020204" pitchFamily="34" charset="0"/>
                  </a:rPr>
                  <a:t>y</a:t>
                </a:r>
                <a:r>
                  <a:rPr lang="en-US" altLang="zh-CN" sz="2400" b="1" dirty="0">
                    <a:latin typeface="Trebuchet MS" panose="020B0603020202020204" pitchFamily="34" charset="0"/>
                  </a:rPr>
                  <a:t>)) </a:t>
                </a:r>
                <a:r>
                  <a:rPr lang="en-US" altLang="zh-CN" sz="2400" b="1" dirty="0">
                    <a:latin typeface="Trebuchet MS" panose="020B0603020202020204" pitchFamily="34" charset="0"/>
                    <a:sym typeface="Symbol" panose="05050102010706020507" pitchFamily="18" charset="2"/>
                  </a:rPr>
                  <a:t> </a:t>
                </a:r>
                <a:r>
                  <a:rPr lang="en-US" altLang="zh-CN" sz="2400" b="1" i="1" dirty="0">
                    <a:latin typeface="Trebuchet MS" panose="020B0603020202020204" pitchFamily="34" charset="0"/>
                  </a:rPr>
                  <a:t>yG</a:t>
                </a:r>
                <a:r>
                  <a:rPr lang="en-US" altLang="zh-CN" sz="2400" b="1" dirty="0">
                    <a:latin typeface="Trebuchet MS" panose="020B0603020202020204" pitchFamily="34" charset="0"/>
                  </a:rPr>
                  <a:t>(</a:t>
                </a:r>
                <a:r>
                  <a:rPr lang="en-US" altLang="zh-CN" sz="2400" b="1" i="1" dirty="0">
                    <a:latin typeface="Trebuchet MS" panose="020B0603020202020204" pitchFamily="34" charset="0"/>
                  </a:rPr>
                  <a:t>y</a:t>
                </a:r>
                <a:r>
                  <a:rPr lang="en-US" altLang="zh-CN" sz="2400" b="1" dirty="0">
                    <a:latin typeface="Trebuchet MS" panose="020B0603020202020204" pitchFamily="34" charset="0"/>
                  </a:rPr>
                  <a:t>), </a:t>
                </a:r>
              </a:p>
              <a:p>
                <a:pPr marL="533400" indent="0">
                  <a:lnSpc>
                    <a:spcPct val="120000"/>
                  </a:lnSpc>
                  <a:spcBef>
                    <a:spcPts val="600"/>
                  </a:spcBef>
                  <a:buNone/>
                </a:pP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rPr>
                  <a:t>(</a:t>
                </a:r>
                <a:r>
                  <a:rPr lang="en-US" altLang="zh-CN" sz="2400" b="1" i="1" dirty="0">
                    <a:latin typeface="Trebuchet MS" panose="020B0603020202020204" pitchFamily="34" charset="0"/>
                  </a:rPr>
                  <a:t>p</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q</a:t>
                </a:r>
                <a:r>
                  <a:rPr lang="en-US" altLang="zh-CN" sz="2400" b="1" dirty="0">
                    <a:latin typeface="Trebuchet MS" panose="020B0603020202020204" pitchFamily="34" charset="0"/>
                  </a:rPr>
                  <a:t>)</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q</a:t>
                </a:r>
                <a:r>
                  <a:rPr lang="en-US" altLang="zh-CN" sz="2400" dirty="0">
                    <a:solidFill>
                      <a:srgbClr val="0C0D0E"/>
                    </a:solidFill>
                    <a:latin typeface="Trebuchet MS" panose="020B0603020202020204" pitchFamily="34" charset="0"/>
                  </a:rPr>
                  <a:t> substitution instances</a:t>
                </a:r>
                <a:r>
                  <a:rPr kumimoji="0" lang="zh-CN" altLang="en-US" sz="2400" b="1" dirty="0">
                    <a:latin typeface="Trebuchet MS" panose="020B0603020202020204" pitchFamily="34" charset="0"/>
                  </a:rPr>
                  <a:t>, </a:t>
                </a:r>
                <a:r>
                  <a:rPr lang="en-US" altLang="zh-CN" sz="2400" b="1" dirty="0">
                    <a:latin typeface="Trebuchet MS" panose="020B0603020202020204" pitchFamily="34" charset="0"/>
                    <a:sym typeface="Symbol" panose="05050102010706020507" pitchFamily="18" charset="2"/>
                  </a:rPr>
                  <a:t></a:t>
                </a:r>
                <a:r>
                  <a:rPr lang="en-US" altLang="zh-CN" sz="2400" b="1" dirty="0">
                    <a:latin typeface="Trebuchet MS" panose="020B0603020202020204" pitchFamily="34" charset="0"/>
                  </a:rPr>
                  <a:t>(</a:t>
                </a:r>
                <a:r>
                  <a:rPr lang="en-US" altLang="zh-CN" sz="2400" b="1" i="1" dirty="0">
                    <a:latin typeface="Trebuchet MS" panose="020B0603020202020204" pitchFamily="34" charset="0"/>
                  </a:rPr>
                  <a:t>p</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q</a:t>
                </a:r>
                <a:r>
                  <a:rPr lang="en-US" altLang="zh-CN" sz="2400" b="1" dirty="0">
                    <a:latin typeface="Trebuchet MS" panose="020B0603020202020204" pitchFamily="34" charset="0"/>
                  </a:rPr>
                  <a:t>)</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q </a:t>
                </a:r>
                <a:r>
                  <a:rPr lang="en-US" altLang="zh-CN" sz="2400" dirty="0">
                    <a:solidFill>
                      <a:srgbClr val="0C0D0E"/>
                    </a:solidFill>
                    <a:latin typeface="Trebuchet MS" panose="020B0603020202020204" pitchFamily="34" charset="0"/>
                  </a:rPr>
                  <a:t>contradiction, </a:t>
                </a:r>
                <a:r>
                  <a:rPr lang="en-US" altLang="zh-CN" sz="2400" b="1" dirty="0">
                    <a:solidFill>
                      <a:srgbClr val="0B61FF"/>
                    </a:solidFill>
                    <a:latin typeface="Trebuchet MS" panose="020B0603020202020204" pitchFamily="34" charset="0"/>
                  </a:rPr>
                  <a:t>(3) </a:t>
                </a:r>
                <a:r>
                  <a:rPr lang="en-US" altLang="zh-CN" sz="2400" dirty="0">
                    <a:latin typeface="Trebuchet MS" panose="020B0603020202020204" pitchFamily="34" charset="0"/>
                  </a:rPr>
                  <a:t>is a</a:t>
                </a:r>
                <a:r>
                  <a:rPr lang="en-US" altLang="zh-CN" sz="2400" b="1" dirty="0">
                    <a:latin typeface="Trebuchet MS" panose="020B0603020202020204" pitchFamily="34" charset="0"/>
                  </a:rPr>
                  <a:t> </a:t>
                </a:r>
                <a:r>
                  <a:rPr lang="en-US" altLang="zh-CN" sz="2400" b="1" dirty="0">
                    <a:solidFill>
                      <a:srgbClr val="0C0D0E"/>
                    </a:solidFill>
                    <a:latin typeface="Trebuchet MS" panose="020B0603020202020204" pitchFamily="34" charset="0"/>
                  </a:rPr>
                  <a:t>contradiction.</a:t>
                </a:r>
                <a:endParaRPr kumimoji="0" lang="zh-CN" altLang="en-US" sz="2400" b="1" dirty="0">
                  <a:latin typeface="Trebuchet MS" panose="020B0603020202020204" pitchFamily="34" charset="0"/>
                </a:endParaRPr>
              </a:p>
              <a:p>
                <a:pPr algn="just" eaLnBrk="1" hangingPunct="1">
                  <a:lnSpc>
                    <a:spcPct val="110000"/>
                  </a:lnSpc>
                  <a:buFontTx/>
                  <a:buNone/>
                </a:pPr>
                <a:endParaRPr lang="zh-CN" altLang="en-US" sz="2400" b="1" dirty="0">
                  <a:latin typeface="Trebuchet MS" panose="020B0603020202020204" pitchFamily="34" charset="0"/>
                </a:endParaRPr>
              </a:p>
              <a:p>
                <a:pPr marL="0" indent="0">
                  <a:buNone/>
                </a:pPr>
                <a:endParaRPr lang="zh-CN" altLang="en-US" sz="2400" b="1" dirty="0">
                  <a:latin typeface="Trebuchet MS" panose="020B0603020202020204" pitchFamily="34" charset="0"/>
                </a:endParaRPr>
              </a:p>
              <a:p>
                <a:pPr marL="0" indent="0">
                  <a:buNone/>
                </a:pPr>
                <a:endParaRPr lang="zh-CN" altLang="en-US" sz="2400" b="1" dirty="0">
                  <a:latin typeface="Trebuchet MS" panose="020B0603020202020204" pitchFamily="34" charset="0"/>
                  <a:sym typeface="Symbol" panose="05050102010706020507" pitchFamily="18" charset="2"/>
                </a:endParaRPr>
              </a:p>
              <a:p>
                <a:pPr marL="0" indent="0">
                  <a:buNone/>
                </a:pPr>
                <a:endParaRPr lang="zh-CN" altLang="en-US" sz="2400" b="1" dirty="0">
                  <a:latin typeface="Trebuchet MS" panose="020B0603020202020204" pitchFamily="34" charset="0"/>
                </a:endParaRPr>
              </a:p>
            </p:txBody>
          </p:sp>
        </mc:Choice>
        <mc:Fallback xmlns="">
          <p:sp>
            <p:nvSpPr>
              <p:cNvPr id="29" name="Rectangle 3">
                <a:extLst>
                  <a:ext uri="{FF2B5EF4-FFF2-40B4-BE49-F238E27FC236}">
                    <a16:creationId xmlns:a16="http://schemas.microsoft.com/office/drawing/2014/main" id="{CE5FBBCA-DAD8-4909-9876-636A803F1B13}"/>
                  </a:ext>
                </a:extLst>
              </p:cNvPr>
              <p:cNvSpPr txBox="1">
                <a:spLocks noRot="1" noChangeAspect="1" noMove="1" noResize="1" noEditPoints="1" noAdjustHandles="1" noChangeArrowheads="1" noChangeShapeType="1" noTextEdit="1"/>
              </p:cNvSpPr>
              <p:nvPr/>
            </p:nvSpPr>
            <p:spPr>
              <a:xfrm>
                <a:off x="726709" y="870850"/>
                <a:ext cx="11193148" cy="5464633"/>
              </a:xfrm>
              <a:prstGeom prst="rect">
                <a:avLst/>
              </a:prstGeom>
              <a:blipFill>
                <a:blip r:embed="rId5"/>
                <a:stretch>
                  <a:fillRect l="-817" t="-335"/>
                </a:stretch>
              </a:blipFill>
            </p:spPr>
            <p:txBody>
              <a:bodyPr/>
              <a:lstStyle/>
              <a:p>
                <a:r>
                  <a:rPr lang="zh-CN" altLang="en-US">
                    <a:noFill/>
                  </a:rPr>
                  <a:t> </a:t>
                </a:r>
              </a:p>
            </p:txBody>
          </p:sp>
        </mc:Fallback>
      </mc:AlternateContent>
      <p:pic>
        <p:nvPicPr>
          <p:cNvPr id="24" name="图片 23">
            <a:extLst>
              <a:ext uri="{FF2B5EF4-FFF2-40B4-BE49-F238E27FC236}">
                <a16:creationId xmlns:a16="http://schemas.microsoft.com/office/drawing/2014/main" id="{7BA89FDA-23B7-4709-9AB5-4C1A6A869670}"/>
              </a:ext>
            </a:extLst>
          </p:cNvPr>
          <p:cNvPicPr/>
          <p:nvPr/>
        </p:nvPicPr>
        <p:blipFill>
          <a:blip r:embed="rId6"/>
          <a:stretch>
            <a:fillRect/>
          </a:stretch>
        </p:blipFill>
        <p:spPr>
          <a:xfrm>
            <a:off x="908499" y="1033235"/>
            <a:ext cx="577850" cy="241300"/>
          </a:xfrm>
          <a:prstGeom prst="rect">
            <a:avLst/>
          </a:prstGeom>
        </p:spPr>
      </p:pic>
    </p:spTree>
    <p:extLst>
      <p:ext uri="{BB962C8B-B14F-4D97-AF65-F5344CB8AC3E}">
        <p14:creationId xmlns:p14="http://schemas.microsoft.com/office/powerpoint/2010/main" val="290028552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9">
                                            <p:txEl>
                                              <p:pRg st="1" end="1"/>
                                            </p:txEl>
                                          </p:spTgt>
                                        </p:tgtEl>
                                        <p:attrNameLst>
                                          <p:attrName>style.visibility</p:attrName>
                                        </p:attrNameLst>
                                      </p:cBhvr>
                                      <p:to>
                                        <p:strVal val="visible"/>
                                      </p:to>
                                    </p:set>
                                    <p:animEffect transition="in" filter="fade">
                                      <p:cBhvr>
                                        <p:cTn id="7" dur="1000"/>
                                        <p:tgtEl>
                                          <p:spTgt spid="29">
                                            <p:txEl>
                                              <p:pRg st="1" end="1"/>
                                            </p:txEl>
                                          </p:spTgt>
                                        </p:tgtEl>
                                      </p:cBhvr>
                                    </p:animEffect>
                                    <p:anim calcmode="lin" valueType="num">
                                      <p:cBhvr>
                                        <p:cTn id="8" dur="1000" fill="hold"/>
                                        <p:tgtEl>
                                          <p:spTgt spid="29">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29">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29">
                                            <p:txEl>
                                              <p:pRg st="2" end="2"/>
                                            </p:txEl>
                                          </p:spTgt>
                                        </p:tgtEl>
                                        <p:attrNameLst>
                                          <p:attrName>style.visibility</p:attrName>
                                        </p:attrNameLst>
                                      </p:cBhvr>
                                      <p:to>
                                        <p:strVal val="visible"/>
                                      </p:to>
                                    </p:set>
                                    <p:animEffect transition="in" filter="fade">
                                      <p:cBhvr>
                                        <p:cTn id="12" dur="1000"/>
                                        <p:tgtEl>
                                          <p:spTgt spid="29">
                                            <p:txEl>
                                              <p:pRg st="2" end="2"/>
                                            </p:txEl>
                                          </p:spTgt>
                                        </p:tgtEl>
                                      </p:cBhvr>
                                    </p:animEffect>
                                    <p:anim calcmode="lin" valueType="num">
                                      <p:cBhvr>
                                        <p:cTn id="13" dur="1000" fill="hold"/>
                                        <p:tgtEl>
                                          <p:spTgt spid="29">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29">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29">
                                            <p:txEl>
                                              <p:pRg st="3" end="3"/>
                                            </p:txEl>
                                          </p:spTgt>
                                        </p:tgtEl>
                                        <p:attrNameLst>
                                          <p:attrName>style.visibility</p:attrName>
                                        </p:attrNameLst>
                                      </p:cBhvr>
                                      <p:to>
                                        <p:strVal val="visible"/>
                                      </p:to>
                                    </p:set>
                                    <p:animEffect transition="in" filter="fade">
                                      <p:cBhvr>
                                        <p:cTn id="19" dur="1000"/>
                                        <p:tgtEl>
                                          <p:spTgt spid="29">
                                            <p:txEl>
                                              <p:pRg st="3" end="3"/>
                                            </p:txEl>
                                          </p:spTgt>
                                        </p:tgtEl>
                                      </p:cBhvr>
                                    </p:animEffect>
                                    <p:anim calcmode="lin" valueType="num">
                                      <p:cBhvr>
                                        <p:cTn id="20" dur="1000" fill="hold"/>
                                        <p:tgtEl>
                                          <p:spTgt spid="29">
                                            <p:txEl>
                                              <p:pRg st="3" end="3"/>
                                            </p:txEl>
                                          </p:spTgt>
                                        </p:tgtEl>
                                        <p:attrNameLst>
                                          <p:attrName>ppt_x</p:attrName>
                                        </p:attrNameLst>
                                      </p:cBhvr>
                                      <p:tavLst>
                                        <p:tav tm="0">
                                          <p:val>
                                            <p:strVal val="#ppt_x"/>
                                          </p:val>
                                        </p:tav>
                                        <p:tav tm="100000">
                                          <p:val>
                                            <p:strVal val="#ppt_x"/>
                                          </p:val>
                                        </p:tav>
                                      </p:tavLst>
                                    </p:anim>
                                    <p:anim calcmode="lin" valueType="num">
                                      <p:cBhvr>
                                        <p:cTn id="21" dur="1000" fill="hold"/>
                                        <p:tgtEl>
                                          <p:spTgt spid="29">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29">
                                            <p:txEl>
                                              <p:pRg st="4" end="4"/>
                                            </p:txEl>
                                          </p:spTgt>
                                        </p:tgtEl>
                                        <p:attrNameLst>
                                          <p:attrName>style.visibility</p:attrName>
                                        </p:attrNameLst>
                                      </p:cBhvr>
                                      <p:to>
                                        <p:strVal val="visible"/>
                                      </p:to>
                                    </p:set>
                                    <p:animEffect transition="in" filter="fade">
                                      <p:cBhvr>
                                        <p:cTn id="26" dur="1000"/>
                                        <p:tgtEl>
                                          <p:spTgt spid="29">
                                            <p:txEl>
                                              <p:pRg st="4" end="4"/>
                                            </p:txEl>
                                          </p:spTgt>
                                        </p:tgtEl>
                                      </p:cBhvr>
                                    </p:animEffect>
                                    <p:anim calcmode="lin" valueType="num">
                                      <p:cBhvr>
                                        <p:cTn id="27" dur="1000" fill="hold"/>
                                        <p:tgtEl>
                                          <p:spTgt spid="29">
                                            <p:txEl>
                                              <p:pRg st="4" end="4"/>
                                            </p:txEl>
                                          </p:spTgt>
                                        </p:tgtEl>
                                        <p:attrNameLst>
                                          <p:attrName>ppt_x</p:attrName>
                                        </p:attrNameLst>
                                      </p:cBhvr>
                                      <p:tavLst>
                                        <p:tav tm="0">
                                          <p:val>
                                            <p:strVal val="#ppt_x"/>
                                          </p:val>
                                        </p:tav>
                                        <p:tav tm="100000">
                                          <p:val>
                                            <p:strVal val="#ppt_x"/>
                                          </p:val>
                                        </p:tav>
                                      </p:tavLst>
                                    </p:anim>
                                    <p:anim calcmode="lin" valueType="num">
                                      <p:cBhvr>
                                        <p:cTn id="28" dur="1000" fill="hold"/>
                                        <p:tgtEl>
                                          <p:spTgt spid="29">
                                            <p:txEl>
                                              <p:pRg st="4" end="4"/>
                                            </p:txEl>
                                          </p:spTgt>
                                        </p:tgtEl>
                                        <p:attrNameLst>
                                          <p:attrName>ppt_y</p:attrName>
                                        </p:attrNameLst>
                                      </p:cBhvr>
                                      <p:tavLst>
                                        <p:tav tm="0">
                                          <p:val>
                                            <p:strVal val="#ppt_y+.1"/>
                                          </p:val>
                                        </p:tav>
                                        <p:tav tm="100000">
                                          <p:val>
                                            <p:strVal val="#ppt_y"/>
                                          </p:val>
                                        </p:tav>
                                      </p:tavLst>
                                    </p:anim>
                                  </p:childTnLst>
                                </p:cTn>
                              </p:par>
                              <p:par>
                                <p:cTn id="29" presetID="42" presetClass="entr" presetSubtype="0" fill="hold" nodeType="withEffect">
                                  <p:stCondLst>
                                    <p:cond delay="0"/>
                                  </p:stCondLst>
                                  <p:childTnLst>
                                    <p:set>
                                      <p:cBhvr>
                                        <p:cTn id="30" dur="1" fill="hold">
                                          <p:stCondLst>
                                            <p:cond delay="0"/>
                                          </p:stCondLst>
                                        </p:cTn>
                                        <p:tgtEl>
                                          <p:spTgt spid="29">
                                            <p:txEl>
                                              <p:pRg st="5" end="5"/>
                                            </p:txEl>
                                          </p:spTgt>
                                        </p:tgtEl>
                                        <p:attrNameLst>
                                          <p:attrName>style.visibility</p:attrName>
                                        </p:attrNameLst>
                                      </p:cBhvr>
                                      <p:to>
                                        <p:strVal val="visible"/>
                                      </p:to>
                                    </p:set>
                                    <p:animEffect transition="in" filter="fade">
                                      <p:cBhvr>
                                        <p:cTn id="31" dur="1000"/>
                                        <p:tgtEl>
                                          <p:spTgt spid="29">
                                            <p:txEl>
                                              <p:pRg st="5" end="5"/>
                                            </p:txEl>
                                          </p:spTgt>
                                        </p:tgtEl>
                                      </p:cBhvr>
                                    </p:animEffect>
                                    <p:anim calcmode="lin" valueType="num">
                                      <p:cBhvr>
                                        <p:cTn id="32" dur="1000" fill="hold"/>
                                        <p:tgtEl>
                                          <p:spTgt spid="29">
                                            <p:txEl>
                                              <p:pRg st="5" end="5"/>
                                            </p:txEl>
                                          </p:spTgt>
                                        </p:tgtEl>
                                        <p:attrNameLst>
                                          <p:attrName>ppt_x</p:attrName>
                                        </p:attrNameLst>
                                      </p:cBhvr>
                                      <p:tavLst>
                                        <p:tav tm="0">
                                          <p:val>
                                            <p:strVal val="#ppt_x"/>
                                          </p:val>
                                        </p:tav>
                                        <p:tav tm="100000">
                                          <p:val>
                                            <p:strVal val="#ppt_x"/>
                                          </p:val>
                                        </p:tav>
                                      </p:tavLst>
                                    </p:anim>
                                    <p:anim calcmode="lin" valueType="num">
                                      <p:cBhvr>
                                        <p:cTn id="33" dur="1000" fill="hold"/>
                                        <p:tgtEl>
                                          <p:spTgt spid="29">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nodeType="clickEffect">
                                  <p:stCondLst>
                                    <p:cond delay="0"/>
                                  </p:stCondLst>
                                  <p:childTnLst>
                                    <p:set>
                                      <p:cBhvr>
                                        <p:cTn id="37" dur="1" fill="hold">
                                          <p:stCondLst>
                                            <p:cond delay="0"/>
                                          </p:stCondLst>
                                        </p:cTn>
                                        <p:tgtEl>
                                          <p:spTgt spid="29">
                                            <p:txEl>
                                              <p:pRg st="6" end="6"/>
                                            </p:txEl>
                                          </p:spTgt>
                                        </p:tgtEl>
                                        <p:attrNameLst>
                                          <p:attrName>style.visibility</p:attrName>
                                        </p:attrNameLst>
                                      </p:cBhvr>
                                      <p:to>
                                        <p:strVal val="visible"/>
                                      </p:to>
                                    </p:set>
                                    <p:animEffect transition="in" filter="fade">
                                      <p:cBhvr>
                                        <p:cTn id="38" dur="1000"/>
                                        <p:tgtEl>
                                          <p:spTgt spid="29">
                                            <p:txEl>
                                              <p:pRg st="6" end="6"/>
                                            </p:txEl>
                                          </p:spTgt>
                                        </p:tgtEl>
                                      </p:cBhvr>
                                    </p:animEffect>
                                    <p:anim calcmode="lin" valueType="num">
                                      <p:cBhvr>
                                        <p:cTn id="39" dur="1000" fill="hold"/>
                                        <p:tgtEl>
                                          <p:spTgt spid="29">
                                            <p:txEl>
                                              <p:pRg st="6" end="6"/>
                                            </p:txEl>
                                          </p:spTgt>
                                        </p:tgtEl>
                                        <p:attrNameLst>
                                          <p:attrName>ppt_x</p:attrName>
                                        </p:attrNameLst>
                                      </p:cBhvr>
                                      <p:tavLst>
                                        <p:tav tm="0">
                                          <p:val>
                                            <p:strVal val="#ppt_x"/>
                                          </p:val>
                                        </p:tav>
                                        <p:tav tm="100000">
                                          <p:val>
                                            <p:strVal val="#ppt_x"/>
                                          </p:val>
                                        </p:tav>
                                      </p:tavLst>
                                    </p:anim>
                                    <p:anim calcmode="lin" valueType="num">
                                      <p:cBhvr>
                                        <p:cTn id="40" dur="1000" fill="hold"/>
                                        <p:tgtEl>
                                          <p:spTgt spid="29">
                                            <p:txEl>
                                              <p:pRg st="6" end="6"/>
                                            </p:txEl>
                                          </p:spTgt>
                                        </p:tgtEl>
                                        <p:attrNameLst>
                                          <p:attrName>ppt_y</p:attrName>
                                        </p:attrNameLst>
                                      </p:cBhvr>
                                      <p:tavLst>
                                        <p:tav tm="0">
                                          <p:val>
                                            <p:strVal val="#ppt_y+.1"/>
                                          </p:val>
                                        </p:tav>
                                        <p:tav tm="100000">
                                          <p:val>
                                            <p:strVal val="#ppt_y"/>
                                          </p:val>
                                        </p:tav>
                                      </p:tavLst>
                                    </p:anim>
                                  </p:childTnLst>
                                </p:cTn>
                              </p:par>
                              <p:par>
                                <p:cTn id="41" presetID="42" presetClass="entr" presetSubtype="0" fill="hold" nodeType="withEffect">
                                  <p:stCondLst>
                                    <p:cond delay="0"/>
                                  </p:stCondLst>
                                  <p:childTnLst>
                                    <p:set>
                                      <p:cBhvr>
                                        <p:cTn id="42" dur="1" fill="hold">
                                          <p:stCondLst>
                                            <p:cond delay="0"/>
                                          </p:stCondLst>
                                        </p:cTn>
                                        <p:tgtEl>
                                          <p:spTgt spid="29">
                                            <p:txEl>
                                              <p:pRg st="7" end="7"/>
                                            </p:txEl>
                                          </p:spTgt>
                                        </p:tgtEl>
                                        <p:attrNameLst>
                                          <p:attrName>style.visibility</p:attrName>
                                        </p:attrNameLst>
                                      </p:cBhvr>
                                      <p:to>
                                        <p:strVal val="visible"/>
                                      </p:to>
                                    </p:set>
                                    <p:animEffect transition="in" filter="fade">
                                      <p:cBhvr>
                                        <p:cTn id="43" dur="1000"/>
                                        <p:tgtEl>
                                          <p:spTgt spid="29">
                                            <p:txEl>
                                              <p:pRg st="7" end="7"/>
                                            </p:txEl>
                                          </p:spTgt>
                                        </p:tgtEl>
                                      </p:cBhvr>
                                    </p:animEffect>
                                    <p:anim calcmode="lin" valueType="num">
                                      <p:cBhvr>
                                        <p:cTn id="44" dur="1000" fill="hold"/>
                                        <p:tgtEl>
                                          <p:spTgt spid="29">
                                            <p:txEl>
                                              <p:pRg st="7" end="7"/>
                                            </p:txEl>
                                          </p:spTgt>
                                        </p:tgtEl>
                                        <p:attrNameLst>
                                          <p:attrName>ppt_x</p:attrName>
                                        </p:attrNameLst>
                                      </p:cBhvr>
                                      <p:tavLst>
                                        <p:tav tm="0">
                                          <p:val>
                                            <p:strVal val="#ppt_x"/>
                                          </p:val>
                                        </p:tav>
                                        <p:tav tm="100000">
                                          <p:val>
                                            <p:strVal val="#ppt_x"/>
                                          </p:val>
                                        </p:tav>
                                      </p:tavLst>
                                    </p:anim>
                                    <p:anim calcmode="lin" valueType="num">
                                      <p:cBhvr>
                                        <p:cTn id="45" dur="1000" fill="hold"/>
                                        <p:tgtEl>
                                          <p:spTgt spid="29">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spcBef>
                <a:spcPts val="600"/>
              </a:spcBef>
              <a:buClr>
                <a:srgbClr val="0B61FF"/>
              </a:buClr>
              <a:buSzPct val="80000"/>
            </a:pP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effectLst/>
                <a:latin typeface="Cambria Math" panose="02040503050406030204" pitchFamily="18" charset="0"/>
                <a:ea typeface="Cambria Math" panose="02040503050406030204" pitchFamily="18" charset="0"/>
                <a:cs typeface="Times New Roman" panose="02020603050405020304" pitchFamily="18" charset="0"/>
              </a:rPr>
              <a:t>3</a:t>
            </a:r>
            <a:r>
              <a:rPr lang="en-US" altLang="zh-CN" sz="2000" b="1" dirty="0">
                <a:solidFill>
                  <a:schemeClr val="bg1"/>
                </a:solidFill>
                <a:latin typeface="Trebuchet MS" panose="020B0603020202020204" pitchFamily="34" charset="0"/>
              </a:rPr>
              <a:t>.1.4</a:t>
            </a:r>
            <a:r>
              <a:rPr lang="en-US" altLang="zh-CN" sz="2000" b="1" dirty="0">
                <a:solidFill>
                  <a:srgbClr val="0B61FF"/>
                </a:solidFill>
                <a:latin typeface="Trebuchet MS" panose="020B0603020202020204" pitchFamily="34" charset="0"/>
              </a:rPr>
              <a:t> </a:t>
            </a:r>
            <a:r>
              <a:rPr lang="en-US" altLang="zh-CN" sz="2000" b="1" dirty="0">
                <a:solidFill>
                  <a:schemeClr val="bg1"/>
                </a:solidFill>
                <a:latin typeface="Trebuchet MS" panose="020B0603020202020204" pitchFamily="34" charset="0"/>
              </a:rPr>
              <a:t>First-Order Logic Formulas and Classification</a:t>
            </a:r>
          </a:p>
          <a:p>
            <a:pPr>
              <a:spcBef>
                <a:spcPts val="600"/>
              </a:spcBef>
              <a:buClr>
                <a:srgbClr val="0B61FF"/>
              </a:buClr>
              <a:buSzPct val="80000"/>
            </a:pPr>
            <a:r>
              <a:rPr lang="en-US" altLang="zh-CN" sz="1400" dirty="0">
                <a:latin typeface="Trebuchet MS" panose="020B0603020202020204" pitchFamily="34" charset="0"/>
                <a:ea typeface="Cambria Math" panose="02040503050406030204" pitchFamily="18" charset="0"/>
                <a:cs typeface="Times New Roman" panose="02020603050405020304" pitchFamily="18" charset="0"/>
              </a:rPr>
              <a:t>                        </a:t>
            </a:r>
            <a:r>
              <a:rPr lang="en-US" altLang="zh-CN" sz="2000"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2800" b="1" dirty="0">
                <a:latin typeface="Trebuchet MS" panose="020B0603020202020204" pitchFamily="34" charset="0"/>
              </a:rPr>
              <a:t>Classification of first-order</a:t>
            </a:r>
            <a:r>
              <a:rPr lang="en-US" altLang="zh-CN" sz="2800" b="1" dirty="0">
                <a:solidFill>
                  <a:schemeClr val="bg1"/>
                </a:solidFill>
                <a:latin typeface="Trebuchet MS" panose="020B0603020202020204" pitchFamily="34" charset="0"/>
              </a:rPr>
              <a:t> Logic</a:t>
            </a:r>
            <a:r>
              <a:rPr lang="en-US" altLang="zh-CN" sz="2800" b="1" dirty="0">
                <a:latin typeface="Trebuchet MS" panose="020B0603020202020204" pitchFamily="34" charset="0"/>
              </a:rPr>
              <a:t> formulas(</a:t>
            </a:r>
            <a:r>
              <a:rPr lang="en-US" altLang="zh-CN" sz="2800" b="1" dirty="0">
                <a:solidFill>
                  <a:schemeClr val="accent2"/>
                </a:solidFill>
                <a:latin typeface="Trebuchet MS" panose="020B0603020202020204" pitchFamily="34" charset="0"/>
              </a:rPr>
              <a:t>e.g.</a:t>
            </a:r>
            <a:r>
              <a:rPr lang="en-US" altLang="zh-CN" sz="2800" b="1" dirty="0">
                <a:latin typeface="Trebuchet MS" panose="020B0603020202020204" pitchFamily="34" charset="0"/>
              </a:rPr>
              <a:t>)</a:t>
            </a:r>
            <a:endParaRPr lang="zh-CN" altLang="en-US" sz="2800" b="1" dirty="0">
              <a:solidFill>
                <a:schemeClr val="bg1"/>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824681" y="765175"/>
            <a:ext cx="9320805" cy="5788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eaLnBrk="1" hangingPunct="1">
              <a:lnSpc>
                <a:spcPct val="90000"/>
              </a:lnSpc>
              <a:buClr>
                <a:schemeClr val="bg2"/>
              </a:buClr>
              <a:buSzPct val="75000"/>
              <a:buFont typeface="Wingdings" panose="05000000000000000000" pitchFamily="2" charset="2"/>
              <a:buNone/>
            </a:pPr>
            <a:endParaRPr kumimoji="0" lang="zh-CN" altLang="en-US" sz="3200" b="1" dirty="0"/>
          </a:p>
          <a:p>
            <a:pPr marL="0" lvl="1" indent="0" eaLnBrk="1" hangingPunct="1">
              <a:buNone/>
              <a:defRPr/>
            </a:pPr>
            <a:endParaRPr lang="en-US" altLang="zh-CN" sz="3200" b="1" dirty="0"/>
          </a:p>
        </p:txBody>
      </p:sp>
      <mc:AlternateContent xmlns:mc="http://schemas.openxmlformats.org/markup-compatibility/2006" xmlns:a14="http://schemas.microsoft.com/office/drawing/2010/main">
        <mc:Choice Requires="a14">
          <p:sp>
            <p:nvSpPr>
              <p:cNvPr id="29" name="Rectangle 3">
                <a:extLst>
                  <a:ext uri="{FF2B5EF4-FFF2-40B4-BE49-F238E27FC236}">
                    <a16:creationId xmlns:a16="http://schemas.microsoft.com/office/drawing/2014/main" id="{CE5FBBCA-DAD8-4909-9876-636A803F1B13}"/>
                  </a:ext>
                </a:extLst>
              </p:cNvPr>
              <p:cNvSpPr txBox="1">
                <a:spLocks noChangeArrowheads="1"/>
              </p:cNvSpPr>
              <p:nvPr/>
            </p:nvSpPr>
            <p:spPr>
              <a:xfrm>
                <a:off x="1031510" y="870850"/>
                <a:ext cx="8852720" cy="410392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latinLnBrk="1">
                  <a:lnSpc>
                    <a:spcPct val="120000"/>
                  </a:lnSpc>
                  <a:spcBef>
                    <a:spcPts val="600"/>
                  </a:spcBef>
                  <a:buNone/>
                </a:pPr>
                <a:r>
                  <a:rPr lang="en-US" sz="2400" b="1" i="0" dirty="0">
                    <a:effectLst/>
                    <a:latin typeface="Trebuchet MS" panose="020B0603020202020204" pitchFamily="34" charset="0"/>
                  </a:rPr>
                  <a:t>       Example:</a:t>
                </a:r>
                <a:r>
                  <a:rPr lang="en-US" sz="2400" b="0" i="0" dirty="0">
                    <a:effectLst/>
                    <a:latin typeface="Trebuchet MS" panose="020B0603020202020204" pitchFamily="34" charset="0"/>
                  </a:rPr>
                  <a:t> Determine the type of the following formula:</a:t>
                </a:r>
              </a:p>
              <a:p>
                <a:pPr marL="0" indent="0">
                  <a:lnSpc>
                    <a:spcPct val="120000"/>
                  </a:lnSpc>
                  <a:spcBef>
                    <a:spcPts val="600"/>
                  </a:spcBef>
                  <a:buNone/>
                </a:pPr>
                <a:r>
                  <a:rPr lang="en-US" altLang="zh-CN" sz="2400" b="1" dirty="0">
                    <a:solidFill>
                      <a:srgbClr val="0B61FF"/>
                    </a:solidFill>
                    <a:latin typeface="Trebuchet MS" panose="020B0603020202020204" pitchFamily="34" charset="0"/>
                  </a:rPr>
                  <a:t>(4</a:t>
                </a:r>
                <a:r>
                  <a:rPr lang="zh-CN" altLang="en-US" sz="2400" b="1" dirty="0">
                    <a:solidFill>
                      <a:srgbClr val="0B61FF"/>
                    </a:solidFill>
                    <a:latin typeface="Trebuchet MS" panose="020B0603020202020204" pitchFamily="34" charset="0"/>
                  </a:rPr>
                  <a:t>) </a:t>
                </a:r>
                <a:r>
                  <a:rPr lang="zh-CN" altLang="en-US"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xF</a:t>
                </a:r>
                <a:r>
                  <a:rPr lang="en-US" altLang="zh-CN" sz="2400" b="1" dirty="0">
                    <a:latin typeface="Trebuchet MS" panose="020B0603020202020204" pitchFamily="34" charset="0"/>
                  </a:rPr>
                  <a:t>(</a:t>
                </a:r>
                <a:r>
                  <a:rPr lang="en-US" altLang="zh-CN" sz="2400" b="1" i="1" dirty="0">
                    <a:latin typeface="Trebuchet MS" panose="020B0603020202020204" pitchFamily="34" charset="0"/>
                  </a:rPr>
                  <a:t>x,y</a:t>
                </a:r>
                <a:r>
                  <a:rPr lang="en-US" altLang="zh-CN" sz="2400" b="1" dirty="0">
                    <a:latin typeface="Trebuchet MS" panose="020B0603020202020204" pitchFamily="34" charset="0"/>
                  </a:rPr>
                  <a:t>)</a:t>
                </a:r>
                <a:endParaRPr lang="zh-CN" altLang="en-US" sz="2400" b="1" dirty="0">
                  <a:latin typeface="Trebuchet MS" panose="020B0603020202020204" pitchFamily="34" charset="0"/>
                </a:endParaRPr>
              </a:p>
              <a:p>
                <a:pPr marL="446088" indent="0">
                  <a:lnSpc>
                    <a:spcPct val="120000"/>
                  </a:lnSpc>
                  <a:spcBef>
                    <a:spcPts val="600"/>
                  </a:spcBef>
                  <a:buNone/>
                </a:pPr>
                <a:r>
                  <a:rPr kumimoji="0" lang="en-US" altLang="zh-CN" sz="2400" b="1" i="1" dirty="0">
                    <a:latin typeface="Trebuchet MS" panose="020B0603020202020204" pitchFamily="34" charset="0"/>
                  </a:rPr>
                  <a:t>I</a:t>
                </a:r>
                <a:r>
                  <a:rPr kumimoji="0" lang="en-US" altLang="zh-CN" sz="2400" b="1" baseline="-25000" dirty="0">
                    <a:latin typeface="Trebuchet MS" panose="020B0603020202020204" pitchFamily="34" charset="0"/>
                  </a:rPr>
                  <a:t>1</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D</a:t>
                </a:r>
                <a:r>
                  <a:rPr kumimoji="0" lang="en-US" altLang="zh-CN" sz="2400" b="1" baseline="-25000" dirty="0">
                    <a:latin typeface="Trebuchet MS" panose="020B0603020202020204" pitchFamily="34" charset="0"/>
                  </a:rPr>
                  <a:t>1</a:t>
                </a:r>
                <a:r>
                  <a:rPr kumimoji="0" lang="en-US" altLang="zh-CN" sz="2400" b="1" dirty="0">
                    <a:latin typeface="Trebuchet MS" panose="020B0603020202020204" pitchFamily="34" charset="0"/>
                  </a:rPr>
                  <a:t>=N, </a:t>
                </a:r>
                <a14:m>
                  <m:oMath xmlns:m="http://schemas.openxmlformats.org/officeDocument/2006/math">
                    <m:acc>
                      <m:accPr>
                        <m:chr m:val="̅"/>
                        <m:ctrlPr>
                          <a:rPr kumimoji="0" lang="en-US" altLang="zh-CN" sz="2400" b="1" i="1" smtClean="0">
                            <a:latin typeface="Cambria Math" panose="02040503050406030204" pitchFamily="18" charset="0"/>
                          </a:rPr>
                        </m:ctrlPr>
                      </m:accPr>
                      <m:e>
                        <m:r>
                          <a:rPr kumimoji="0" lang="en-US" altLang="zh-CN" sz="2400" b="1" i="1" smtClean="0">
                            <a:latin typeface="Cambria Math" panose="02040503050406030204" pitchFamily="18" charset="0"/>
                          </a:rPr>
                          <m:t>𝑭</m:t>
                        </m:r>
                      </m:e>
                    </m:acc>
                    <m:d>
                      <m:dPr>
                        <m:ctrlPr>
                          <a:rPr kumimoji="0" lang="en-US" altLang="zh-CN" sz="2400" b="1" i="1" smtClean="0">
                            <a:latin typeface="Cambria Math" panose="02040503050406030204" pitchFamily="18" charset="0"/>
                          </a:rPr>
                        </m:ctrlPr>
                      </m:dPr>
                      <m:e>
                        <m:r>
                          <a:rPr kumimoji="0" lang="en-US" altLang="zh-CN" sz="2400" b="1" i="1" smtClean="0">
                            <a:latin typeface="Cambria Math" panose="02040503050406030204" pitchFamily="18" charset="0"/>
                          </a:rPr>
                          <m:t>𝒙</m:t>
                        </m:r>
                        <m:r>
                          <a:rPr kumimoji="0" lang="en-US" altLang="zh-CN" sz="2400" b="1" i="1" smtClean="0">
                            <a:latin typeface="Cambria Math" panose="02040503050406030204" pitchFamily="18" charset="0"/>
                          </a:rPr>
                          <m:t>,</m:t>
                        </m:r>
                        <m:r>
                          <a:rPr kumimoji="0" lang="en-US" altLang="zh-CN" sz="2400" b="1" i="1" smtClean="0">
                            <a:latin typeface="Cambria Math" panose="02040503050406030204" pitchFamily="18" charset="0"/>
                          </a:rPr>
                          <m:t>𝒚</m:t>
                        </m:r>
                      </m:e>
                    </m:d>
                    <m:r>
                      <a:rPr kumimoji="0" lang="en-US" altLang="zh-CN" sz="2400" b="1" i="1" smtClean="0">
                        <a:latin typeface="Cambria Math" panose="02040503050406030204" pitchFamily="18" charset="0"/>
                      </a:rPr>
                      <m:t>:</m:t>
                    </m:r>
                    <m:r>
                      <m:rPr>
                        <m:nor/>
                      </m:rPr>
                      <a:rPr lang="en-US" altLang="zh-CN" sz="2400" b="1" i="1" dirty="0">
                        <a:latin typeface="Trebuchet MS" panose="020B0603020202020204" pitchFamily="34" charset="0"/>
                      </a:rPr>
                      <m:t>x</m:t>
                    </m:r>
                    <m:r>
                      <a:rPr lang="zh-CN" altLang="en-US" sz="2400" b="1" i="1" dirty="0" smtClean="0">
                        <a:latin typeface="Cambria Math" panose="02040503050406030204" pitchFamily="18" charset="0"/>
                      </a:rPr>
                      <m:t>≥</m:t>
                    </m:r>
                    <m:r>
                      <m:rPr>
                        <m:nor/>
                      </m:rPr>
                      <a:rPr lang="en-US" altLang="zh-CN" sz="2400" b="1" i="0" dirty="0" smtClean="0">
                        <a:latin typeface="Cambria Math" panose="02040503050406030204" pitchFamily="18" charset="0"/>
                      </a:rPr>
                      <m:t>y</m:t>
                    </m:r>
                  </m:oMath>
                </a14:m>
                <a:r>
                  <a:rPr lang="en-US" sz="2400" b="0" i="0" dirty="0">
                    <a:solidFill>
                      <a:srgbClr val="737A87"/>
                    </a:solidFill>
                    <a:effectLst/>
                    <a:latin typeface="Trebuchet MS" panose="020B0603020202020204" pitchFamily="34" charset="0"/>
                  </a:rPr>
                  <a:t>,</a:t>
                </a:r>
                <a:r>
                  <a:rPr lang="en-US" altLang="zh-CN" sz="2400" b="1" dirty="0">
                    <a:sym typeface="Symbol" panose="05050102010706020507" pitchFamily="18" charset="2"/>
                  </a:rPr>
                  <a:t> Assign</a:t>
                </a:r>
                <a:r>
                  <a:rPr lang="zh-CN" altLang="en-US" sz="2400" b="1" dirty="0">
                    <a:sym typeface="Symbol" panose="05050102010706020507" pitchFamily="18" charset="2"/>
                  </a:rPr>
                  <a:t> </a:t>
                </a:r>
                <a:r>
                  <a:rPr lang="zh-CN" altLang="en-US" sz="2400" b="1" i="1" dirty="0">
                    <a:sym typeface="Symbol" panose="05050102010706020507" pitchFamily="18" charset="2"/>
                  </a:rPr>
                  <a:t></a:t>
                </a:r>
                <a:r>
                  <a:rPr lang="en-US" altLang="zh-CN" sz="2400" b="1" dirty="0">
                    <a:sym typeface="Symbol" panose="05050102010706020507" pitchFamily="18" charset="2"/>
                  </a:rPr>
                  <a:t>(</a:t>
                </a:r>
                <a:r>
                  <a:rPr lang="en-US" altLang="zh-CN" sz="2400" b="1" i="1" dirty="0">
                    <a:sym typeface="Symbol" panose="05050102010706020507" pitchFamily="18" charset="2"/>
                  </a:rPr>
                  <a:t>y</a:t>
                </a:r>
                <a:r>
                  <a:rPr lang="en-US" altLang="zh-CN" sz="2400" b="1" dirty="0"/>
                  <a:t>)=0</a:t>
                </a:r>
                <a:r>
                  <a:rPr lang="en-US" sz="2400" b="0" i="0" dirty="0">
                    <a:solidFill>
                      <a:srgbClr val="737A87"/>
                    </a:solidFill>
                    <a:effectLst/>
                    <a:latin typeface="Trebuchet MS" panose="020B0603020202020204" pitchFamily="34" charset="0"/>
                  </a:rPr>
                  <a:t>.</a:t>
                </a:r>
              </a:p>
              <a:p>
                <a:pPr marL="446088" indent="0">
                  <a:lnSpc>
                    <a:spcPct val="120000"/>
                  </a:lnSpc>
                  <a:spcBef>
                    <a:spcPts val="600"/>
                  </a:spcBef>
                  <a:buNone/>
                </a:pPr>
                <a:r>
                  <a:rPr lang="en-US" sz="2400" dirty="0">
                    <a:solidFill>
                      <a:srgbClr val="737A87"/>
                    </a:solidFill>
                    <a:latin typeface="Trebuchet MS" panose="020B0603020202020204" pitchFamily="34" charset="0"/>
                  </a:rPr>
                  <a:t>    </a:t>
                </a:r>
                <a:r>
                  <a:rPr lang="en-US" sz="2400" b="0" i="0" dirty="0">
                    <a:solidFill>
                      <a:srgbClr val="737A87"/>
                    </a:solidFill>
                    <a:effectLst/>
                    <a:latin typeface="Trebuchet MS" panose="020B0603020202020204" pitchFamily="34" charset="0"/>
                  </a:rPr>
                  <a:t> </a:t>
                </a:r>
                <a:r>
                  <a:rPr lang="en-US" altLang="zh-CN" sz="2400" b="1" dirty="0">
                    <a:solidFill>
                      <a:srgbClr val="0B61FF"/>
                    </a:solidFill>
                    <a:latin typeface="Trebuchet MS" panose="020B0603020202020204" pitchFamily="34" charset="0"/>
                  </a:rPr>
                  <a:t>(4</a:t>
                </a:r>
                <a:r>
                  <a:rPr lang="zh-CN" altLang="en-US" sz="2400" b="1" dirty="0">
                    <a:solidFill>
                      <a:srgbClr val="0B61FF"/>
                    </a:solidFill>
                    <a:latin typeface="Trebuchet MS" panose="020B0603020202020204" pitchFamily="34" charset="0"/>
                  </a:rPr>
                  <a:t>) </a:t>
                </a:r>
                <a:r>
                  <a:rPr lang="en-US" altLang="zh-CN" sz="2400" b="1" dirty="0">
                    <a:latin typeface="Trebuchet MS" panose="020B0603020202020204" pitchFamily="34" charset="0"/>
                  </a:rPr>
                  <a:t>is a true proposition.</a:t>
                </a:r>
              </a:p>
              <a:p>
                <a:pPr marL="446088" indent="0">
                  <a:lnSpc>
                    <a:spcPct val="120000"/>
                  </a:lnSpc>
                  <a:spcBef>
                    <a:spcPts val="600"/>
                  </a:spcBef>
                  <a:buNone/>
                </a:pPr>
                <a:r>
                  <a:rPr lang="en-US" altLang="zh-CN" sz="2400" b="1" i="1" dirty="0">
                    <a:latin typeface="Trebuchet MS" panose="020B0603020202020204" pitchFamily="34" charset="0"/>
                  </a:rPr>
                  <a:t>I</a:t>
                </a:r>
                <a:r>
                  <a:rPr lang="en-US" altLang="zh-CN" sz="2400" b="1" baseline="-25000" dirty="0">
                    <a:latin typeface="Trebuchet MS" panose="020B0603020202020204" pitchFamily="34" charset="0"/>
                  </a:rPr>
                  <a:t>2</a:t>
                </a:r>
                <a:r>
                  <a:rPr lang="en-US" altLang="zh-CN" sz="2400" b="1" dirty="0">
                    <a:latin typeface="Trebuchet MS" panose="020B0603020202020204" pitchFamily="34" charset="0"/>
                  </a:rPr>
                  <a:t>:  </a:t>
                </a:r>
                <a:r>
                  <a:rPr lang="en-US" altLang="zh-CN" sz="2400" b="1" i="1" dirty="0">
                    <a:latin typeface="Trebuchet MS" panose="020B0603020202020204" pitchFamily="34" charset="0"/>
                  </a:rPr>
                  <a:t>D</a:t>
                </a:r>
                <a:r>
                  <a:rPr lang="en-US" altLang="zh-CN" sz="2400" b="1" baseline="-25000" dirty="0">
                    <a:latin typeface="Trebuchet MS" panose="020B0603020202020204" pitchFamily="34" charset="0"/>
                  </a:rPr>
                  <a:t>2</a:t>
                </a:r>
                <a:r>
                  <a:rPr lang="en-US" altLang="zh-CN" sz="2400" b="1" dirty="0">
                    <a:latin typeface="Trebuchet MS" panose="020B0603020202020204" pitchFamily="34" charset="0"/>
                  </a:rPr>
                  <a:t>=N,</a:t>
                </a:r>
                <a14:m>
                  <m:oMath xmlns:m="http://schemas.openxmlformats.org/officeDocument/2006/math">
                    <m:acc>
                      <m:accPr>
                        <m:chr m:val="̅"/>
                        <m:ctrlPr>
                          <a:rPr lang="en-US" altLang="zh-CN" sz="2400" b="1" i="1">
                            <a:latin typeface="Cambria Math" panose="02040503050406030204" pitchFamily="18" charset="0"/>
                          </a:rPr>
                        </m:ctrlPr>
                      </m:accPr>
                      <m:e>
                        <m:r>
                          <a:rPr lang="en-US" altLang="zh-CN" sz="2400" b="1" i="1" smtClean="0">
                            <a:latin typeface="Cambria Math" panose="02040503050406030204" pitchFamily="18" charset="0"/>
                          </a:rPr>
                          <m:t> </m:t>
                        </m:r>
                        <m:r>
                          <a:rPr lang="en-US" altLang="zh-CN" sz="2400" b="1" i="1">
                            <a:latin typeface="Cambria Math" panose="02040503050406030204" pitchFamily="18" charset="0"/>
                          </a:rPr>
                          <m:t>𝑭</m:t>
                        </m:r>
                      </m:e>
                    </m:acc>
                    <m:d>
                      <m:dPr>
                        <m:ctrlPr>
                          <a:rPr lang="en-US" altLang="zh-CN" sz="2400" b="1" i="1">
                            <a:latin typeface="Cambria Math" panose="02040503050406030204" pitchFamily="18" charset="0"/>
                          </a:rPr>
                        </m:ctrlPr>
                      </m:dPr>
                      <m:e>
                        <m:r>
                          <a:rPr lang="en-US" altLang="zh-CN" sz="2400" b="1" i="1">
                            <a:latin typeface="Cambria Math" panose="02040503050406030204" pitchFamily="18" charset="0"/>
                          </a:rPr>
                          <m:t>𝒙</m:t>
                        </m:r>
                        <m:r>
                          <a:rPr lang="en-US" altLang="zh-CN" sz="2400" b="1" i="1">
                            <a:latin typeface="Cambria Math" panose="02040503050406030204" pitchFamily="18" charset="0"/>
                          </a:rPr>
                          <m:t>,</m:t>
                        </m:r>
                        <m:r>
                          <a:rPr lang="en-US" altLang="zh-CN" sz="2400" b="1" i="1">
                            <a:latin typeface="Cambria Math" panose="02040503050406030204" pitchFamily="18" charset="0"/>
                          </a:rPr>
                          <m:t>𝒚</m:t>
                        </m:r>
                      </m:e>
                    </m:d>
                    <m:r>
                      <a:rPr lang="en-US" altLang="zh-CN" sz="2400" b="1" i="1">
                        <a:latin typeface="Cambria Math" panose="02040503050406030204" pitchFamily="18" charset="0"/>
                      </a:rPr>
                      <m:t>:</m:t>
                    </m:r>
                    <m:r>
                      <m:rPr>
                        <m:nor/>
                      </m:rPr>
                      <a:rPr lang="en-US" altLang="zh-CN" sz="2400" b="1" i="1" dirty="0">
                        <a:latin typeface="Trebuchet MS" panose="020B0603020202020204" pitchFamily="34" charset="0"/>
                      </a:rPr>
                      <m:t>x</m:t>
                    </m:r>
                    <m:r>
                      <a:rPr lang="zh-CN" altLang="en-US" sz="2400" b="1" i="1" dirty="0">
                        <a:latin typeface="Cambria Math" panose="02040503050406030204" pitchFamily="18" charset="0"/>
                      </a:rPr>
                      <m:t>≥</m:t>
                    </m:r>
                    <m:r>
                      <m:rPr>
                        <m:nor/>
                      </m:rPr>
                      <a:rPr lang="en-US" altLang="zh-CN" sz="2400" b="1" dirty="0">
                        <a:latin typeface="Cambria Math" panose="02040503050406030204" pitchFamily="18" charset="0"/>
                      </a:rPr>
                      <m:t>y</m:t>
                    </m:r>
                  </m:oMath>
                </a14:m>
                <a:r>
                  <a:rPr lang="en-US" altLang="zh-CN" sz="2400" dirty="0">
                    <a:solidFill>
                      <a:srgbClr val="737A87"/>
                    </a:solidFill>
                    <a:latin typeface="Trebuchet MS" panose="020B0603020202020204" pitchFamily="34" charset="0"/>
                  </a:rPr>
                  <a:t>, </a:t>
                </a:r>
                <a:r>
                  <a:rPr lang="en-US" altLang="zh-CN" sz="2400" b="1" dirty="0">
                    <a:sym typeface="Symbol" panose="05050102010706020507" pitchFamily="18" charset="2"/>
                  </a:rPr>
                  <a:t>Assign</a:t>
                </a:r>
                <a:r>
                  <a:rPr lang="zh-CN" altLang="en-US" sz="2400" b="1" dirty="0">
                    <a:sym typeface="Symbol" panose="05050102010706020507" pitchFamily="18" charset="2"/>
                  </a:rPr>
                  <a:t> </a:t>
                </a:r>
                <a:r>
                  <a:rPr lang="zh-CN" altLang="en-US" sz="2400" b="1" i="1" dirty="0">
                    <a:sym typeface="Symbol" panose="05050102010706020507" pitchFamily="18" charset="2"/>
                  </a:rPr>
                  <a:t></a:t>
                </a:r>
                <a:r>
                  <a:rPr lang="en-US" altLang="zh-CN" sz="2400" b="1" dirty="0">
                    <a:sym typeface="Symbol" panose="05050102010706020507" pitchFamily="18" charset="2"/>
                  </a:rPr>
                  <a:t>(</a:t>
                </a:r>
                <a:r>
                  <a:rPr lang="en-US" altLang="zh-CN" sz="2400" b="1" i="1" dirty="0">
                    <a:sym typeface="Symbol" panose="05050102010706020507" pitchFamily="18" charset="2"/>
                  </a:rPr>
                  <a:t>y</a:t>
                </a:r>
                <a:r>
                  <a:rPr lang="en-US" altLang="zh-CN" sz="2400" b="1" dirty="0"/>
                  <a:t>)=1</a:t>
                </a:r>
                <a:r>
                  <a:rPr lang="en-US" altLang="zh-CN" sz="2400" dirty="0">
                    <a:solidFill>
                      <a:srgbClr val="737A87"/>
                    </a:solidFill>
                    <a:latin typeface="Trebuchet MS" panose="020B0603020202020204" pitchFamily="34" charset="0"/>
                  </a:rPr>
                  <a:t>.</a:t>
                </a:r>
              </a:p>
              <a:p>
                <a:pPr marL="446088" indent="0">
                  <a:lnSpc>
                    <a:spcPct val="120000"/>
                  </a:lnSpc>
                  <a:spcBef>
                    <a:spcPts val="600"/>
                  </a:spcBef>
                  <a:buNone/>
                </a:pPr>
                <a:r>
                  <a:rPr lang="en-US" altLang="zh-CN" sz="2400" dirty="0">
                    <a:solidFill>
                      <a:srgbClr val="737A87"/>
                    </a:solidFill>
                    <a:latin typeface="Trebuchet MS" panose="020B0603020202020204" pitchFamily="34" charset="0"/>
                  </a:rPr>
                  <a:t>     </a:t>
                </a:r>
                <a:r>
                  <a:rPr lang="en-US" altLang="zh-CN" sz="2400" b="1" dirty="0">
                    <a:solidFill>
                      <a:srgbClr val="0B61FF"/>
                    </a:solidFill>
                    <a:latin typeface="Trebuchet MS" panose="020B0603020202020204" pitchFamily="34" charset="0"/>
                  </a:rPr>
                  <a:t>(4) </a:t>
                </a:r>
                <a:r>
                  <a:rPr lang="en-US" altLang="zh-CN" sz="2400" b="1" dirty="0">
                    <a:latin typeface="Trebuchet MS" panose="020B0603020202020204" pitchFamily="34" charset="0"/>
                  </a:rPr>
                  <a:t>is a false proposition.  </a:t>
                </a:r>
              </a:p>
              <a:p>
                <a:pPr marL="446088" indent="0">
                  <a:lnSpc>
                    <a:spcPct val="120000"/>
                  </a:lnSpc>
                  <a:spcBef>
                    <a:spcPts val="600"/>
                  </a:spcBef>
                  <a:buNone/>
                </a:pPr>
                <a:r>
                  <a:rPr lang="en-US" altLang="zh-CN" sz="2400" b="1" dirty="0">
                    <a:solidFill>
                      <a:srgbClr val="0B61FF"/>
                    </a:solidFill>
                    <a:latin typeface="Trebuchet MS" panose="020B0603020202020204" pitchFamily="34" charset="0"/>
                  </a:rPr>
                  <a:t>(4</a:t>
                </a:r>
                <a:r>
                  <a:rPr lang="zh-CN" altLang="en-US" sz="2400" b="1" dirty="0">
                    <a:solidFill>
                      <a:srgbClr val="0B61FF"/>
                    </a:solidFill>
                    <a:latin typeface="Trebuchet MS" panose="020B0603020202020204" pitchFamily="34" charset="0"/>
                  </a:rPr>
                  <a:t>) </a:t>
                </a:r>
                <a:r>
                  <a:rPr lang="en-US" altLang="zh-CN" sz="2400" dirty="0">
                    <a:latin typeface="Trebuchet MS" panose="020B0603020202020204" pitchFamily="34" charset="0"/>
                  </a:rPr>
                  <a:t>is a</a:t>
                </a:r>
                <a:r>
                  <a:rPr lang="en-US" altLang="zh-CN" sz="2400" dirty="0">
                    <a:solidFill>
                      <a:srgbClr val="0C0D0E"/>
                    </a:solidFill>
                    <a:latin typeface="Trebuchet MS" panose="020B0603020202020204" pitchFamily="34" charset="0"/>
                  </a:rPr>
                  <a:t> </a:t>
                </a:r>
                <a:r>
                  <a:rPr lang="en-US" altLang="zh-CN" sz="2400" b="1" dirty="0">
                    <a:solidFill>
                      <a:srgbClr val="0C0D0E"/>
                    </a:solidFill>
                    <a:latin typeface="Trebuchet MS" panose="020B0603020202020204" pitchFamily="34" charset="0"/>
                  </a:rPr>
                  <a:t>satisfiable formula </a:t>
                </a:r>
                <a:r>
                  <a:rPr lang="en-US" altLang="zh-CN" sz="2400" dirty="0">
                    <a:solidFill>
                      <a:srgbClr val="0C0D0E"/>
                    </a:solidFill>
                    <a:latin typeface="Trebuchet MS" panose="020B0603020202020204" pitchFamily="34" charset="0"/>
                  </a:rPr>
                  <a:t>(not logically valid formula).</a:t>
                </a:r>
              </a:p>
              <a:p>
                <a:pPr algn="just" eaLnBrk="1" hangingPunct="1">
                  <a:lnSpc>
                    <a:spcPct val="110000"/>
                  </a:lnSpc>
                  <a:buFontTx/>
                  <a:buNone/>
                </a:pPr>
                <a:endParaRPr lang="zh-CN" altLang="en-US" sz="2400" b="1" dirty="0">
                  <a:latin typeface="Trebuchet MS" panose="020B0603020202020204" pitchFamily="34" charset="0"/>
                </a:endParaRPr>
              </a:p>
              <a:p>
                <a:pPr marL="0" indent="0">
                  <a:buNone/>
                </a:pPr>
                <a:endParaRPr lang="zh-CN" altLang="en-US" sz="2400" b="1" dirty="0">
                  <a:latin typeface="Trebuchet MS" panose="020B0603020202020204" pitchFamily="34" charset="0"/>
                </a:endParaRPr>
              </a:p>
              <a:p>
                <a:pPr marL="0" indent="0">
                  <a:buNone/>
                </a:pPr>
                <a:endParaRPr lang="zh-CN" altLang="en-US" sz="2400" b="1" dirty="0">
                  <a:latin typeface="Trebuchet MS" panose="020B0603020202020204" pitchFamily="34" charset="0"/>
                  <a:sym typeface="Symbol" panose="05050102010706020507" pitchFamily="18" charset="2"/>
                </a:endParaRPr>
              </a:p>
              <a:p>
                <a:pPr marL="0" indent="0">
                  <a:buNone/>
                </a:pPr>
                <a:endParaRPr lang="zh-CN" altLang="en-US" sz="2400" b="1" dirty="0">
                  <a:latin typeface="Trebuchet MS" panose="020B0603020202020204" pitchFamily="34" charset="0"/>
                </a:endParaRPr>
              </a:p>
            </p:txBody>
          </p:sp>
        </mc:Choice>
        <mc:Fallback xmlns="">
          <p:sp>
            <p:nvSpPr>
              <p:cNvPr id="29" name="Rectangle 3">
                <a:extLst>
                  <a:ext uri="{FF2B5EF4-FFF2-40B4-BE49-F238E27FC236}">
                    <a16:creationId xmlns:a16="http://schemas.microsoft.com/office/drawing/2014/main" id="{CE5FBBCA-DAD8-4909-9876-636A803F1B13}"/>
                  </a:ext>
                </a:extLst>
              </p:cNvPr>
              <p:cNvSpPr txBox="1">
                <a:spLocks noRot="1" noChangeAspect="1" noMove="1" noResize="1" noEditPoints="1" noAdjustHandles="1" noChangeArrowheads="1" noChangeShapeType="1" noTextEdit="1"/>
              </p:cNvSpPr>
              <p:nvPr/>
            </p:nvSpPr>
            <p:spPr>
              <a:xfrm>
                <a:off x="1031510" y="870850"/>
                <a:ext cx="8852720" cy="4103921"/>
              </a:xfrm>
              <a:prstGeom prst="rect">
                <a:avLst/>
              </a:prstGeom>
              <a:blipFill>
                <a:blip r:embed="rId5"/>
                <a:stretch>
                  <a:fillRect l="-1033" t="-446"/>
                </a:stretch>
              </a:blipFill>
            </p:spPr>
            <p:txBody>
              <a:bodyPr/>
              <a:lstStyle/>
              <a:p>
                <a:r>
                  <a:rPr lang="zh-CN" altLang="en-US">
                    <a:noFill/>
                  </a:rPr>
                  <a:t> </a:t>
                </a:r>
              </a:p>
            </p:txBody>
          </p:sp>
        </mc:Fallback>
      </mc:AlternateContent>
      <p:pic>
        <p:nvPicPr>
          <p:cNvPr id="24" name="图片 23">
            <a:extLst>
              <a:ext uri="{FF2B5EF4-FFF2-40B4-BE49-F238E27FC236}">
                <a16:creationId xmlns:a16="http://schemas.microsoft.com/office/drawing/2014/main" id="{7BA89FDA-23B7-4709-9AB5-4C1A6A869670}"/>
              </a:ext>
            </a:extLst>
          </p:cNvPr>
          <p:cNvPicPr/>
          <p:nvPr/>
        </p:nvPicPr>
        <p:blipFill>
          <a:blip r:embed="rId6"/>
          <a:stretch>
            <a:fillRect/>
          </a:stretch>
        </p:blipFill>
        <p:spPr>
          <a:xfrm>
            <a:off x="1180645" y="1033235"/>
            <a:ext cx="577850" cy="241300"/>
          </a:xfrm>
          <a:prstGeom prst="rect">
            <a:avLst/>
          </a:prstGeom>
        </p:spPr>
      </p:pic>
    </p:spTree>
    <p:extLst>
      <p:ext uri="{BB962C8B-B14F-4D97-AF65-F5344CB8AC3E}">
        <p14:creationId xmlns:p14="http://schemas.microsoft.com/office/powerpoint/2010/main" val="65991816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9">
                                            <p:txEl>
                                              <p:pRg st="4" end="4"/>
                                            </p:txEl>
                                          </p:spTgt>
                                        </p:tgtEl>
                                        <p:attrNameLst>
                                          <p:attrName>style.visibility</p:attrName>
                                        </p:attrNameLst>
                                      </p:cBhvr>
                                      <p:to>
                                        <p:strVal val="visible"/>
                                      </p:to>
                                    </p:set>
                                    <p:animEffect transition="in" filter="fade">
                                      <p:cBhvr>
                                        <p:cTn id="7" dur="1000"/>
                                        <p:tgtEl>
                                          <p:spTgt spid="29">
                                            <p:txEl>
                                              <p:pRg st="4" end="4"/>
                                            </p:txEl>
                                          </p:spTgt>
                                        </p:tgtEl>
                                      </p:cBhvr>
                                    </p:animEffect>
                                    <p:anim calcmode="lin" valueType="num">
                                      <p:cBhvr>
                                        <p:cTn id="8" dur="1000" fill="hold"/>
                                        <p:tgtEl>
                                          <p:spTgt spid="29">
                                            <p:txEl>
                                              <p:pRg st="4" end="4"/>
                                            </p:txEl>
                                          </p:spTgt>
                                        </p:tgtEl>
                                        <p:attrNameLst>
                                          <p:attrName>ppt_x</p:attrName>
                                        </p:attrNameLst>
                                      </p:cBhvr>
                                      <p:tavLst>
                                        <p:tav tm="0">
                                          <p:val>
                                            <p:strVal val="#ppt_x"/>
                                          </p:val>
                                        </p:tav>
                                        <p:tav tm="100000">
                                          <p:val>
                                            <p:strVal val="#ppt_x"/>
                                          </p:val>
                                        </p:tav>
                                      </p:tavLst>
                                    </p:anim>
                                    <p:anim calcmode="lin" valueType="num">
                                      <p:cBhvr>
                                        <p:cTn id="9" dur="1000" fill="hold"/>
                                        <p:tgtEl>
                                          <p:spTgt spid="29">
                                            <p:txEl>
                                              <p:pRg st="4" end="4"/>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29">
                                            <p:txEl>
                                              <p:pRg st="5" end="5"/>
                                            </p:txEl>
                                          </p:spTgt>
                                        </p:tgtEl>
                                        <p:attrNameLst>
                                          <p:attrName>style.visibility</p:attrName>
                                        </p:attrNameLst>
                                      </p:cBhvr>
                                      <p:to>
                                        <p:strVal val="visible"/>
                                      </p:to>
                                    </p:set>
                                    <p:animEffect transition="in" filter="fade">
                                      <p:cBhvr>
                                        <p:cTn id="12" dur="1000"/>
                                        <p:tgtEl>
                                          <p:spTgt spid="29">
                                            <p:txEl>
                                              <p:pRg st="5" end="5"/>
                                            </p:txEl>
                                          </p:spTgt>
                                        </p:tgtEl>
                                      </p:cBhvr>
                                    </p:animEffect>
                                    <p:anim calcmode="lin" valueType="num">
                                      <p:cBhvr>
                                        <p:cTn id="13" dur="1000" fill="hold"/>
                                        <p:tgtEl>
                                          <p:spTgt spid="29">
                                            <p:txEl>
                                              <p:pRg st="5" end="5"/>
                                            </p:txEl>
                                          </p:spTgt>
                                        </p:tgtEl>
                                        <p:attrNameLst>
                                          <p:attrName>ppt_x</p:attrName>
                                        </p:attrNameLst>
                                      </p:cBhvr>
                                      <p:tavLst>
                                        <p:tav tm="0">
                                          <p:val>
                                            <p:strVal val="#ppt_x"/>
                                          </p:val>
                                        </p:tav>
                                        <p:tav tm="100000">
                                          <p:val>
                                            <p:strVal val="#ppt_x"/>
                                          </p:val>
                                        </p:tav>
                                      </p:tavLst>
                                    </p:anim>
                                    <p:anim calcmode="lin" valueType="num">
                                      <p:cBhvr>
                                        <p:cTn id="14" dur="1000" fill="hold"/>
                                        <p:tgtEl>
                                          <p:spTgt spid="29">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29">
                                            <p:txEl>
                                              <p:pRg st="6" end="6"/>
                                            </p:txEl>
                                          </p:spTgt>
                                        </p:tgtEl>
                                        <p:attrNameLst>
                                          <p:attrName>style.visibility</p:attrName>
                                        </p:attrNameLst>
                                      </p:cBhvr>
                                      <p:to>
                                        <p:strVal val="visible"/>
                                      </p:to>
                                    </p:set>
                                    <p:animEffect transition="in" filter="fade">
                                      <p:cBhvr>
                                        <p:cTn id="19" dur="1000"/>
                                        <p:tgtEl>
                                          <p:spTgt spid="29">
                                            <p:txEl>
                                              <p:pRg st="6" end="6"/>
                                            </p:txEl>
                                          </p:spTgt>
                                        </p:tgtEl>
                                      </p:cBhvr>
                                    </p:animEffect>
                                    <p:anim calcmode="lin" valueType="num">
                                      <p:cBhvr>
                                        <p:cTn id="20" dur="1000" fill="hold"/>
                                        <p:tgtEl>
                                          <p:spTgt spid="29">
                                            <p:txEl>
                                              <p:pRg st="6" end="6"/>
                                            </p:txEl>
                                          </p:spTgt>
                                        </p:tgtEl>
                                        <p:attrNameLst>
                                          <p:attrName>ppt_x</p:attrName>
                                        </p:attrNameLst>
                                      </p:cBhvr>
                                      <p:tavLst>
                                        <p:tav tm="0">
                                          <p:val>
                                            <p:strVal val="#ppt_x"/>
                                          </p:val>
                                        </p:tav>
                                        <p:tav tm="100000">
                                          <p:val>
                                            <p:strVal val="#ppt_x"/>
                                          </p:val>
                                        </p:tav>
                                      </p:tavLst>
                                    </p:anim>
                                    <p:anim calcmode="lin" valueType="num">
                                      <p:cBhvr>
                                        <p:cTn id="21" dur="1000" fill="hold"/>
                                        <p:tgtEl>
                                          <p:spTgt spid="29">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dirty="0">
                <a:solidFill>
                  <a:srgbClr val="0B61FF"/>
                </a:solidFill>
                <a:latin typeface="Trebuchet MS" panose="020B0603020202020204" pitchFamily="34" charset="0"/>
              </a:rPr>
              <a:t>              </a:t>
            </a:r>
            <a:r>
              <a:rPr lang="en-US" altLang="zh-CN" sz="2400" b="1" dirty="0">
                <a:solidFill>
                  <a:schemeClr val="bg1"/>
                </a:solidFill>
                <a:latin typeface="Trebuchet MS" panose="020B0603020202020204" pitchFamily="34" charset="0"/>
              </a:rPr>
              <a:t>3.1 Basic Concepts of First-Order Logic</a:t>
            </a:r>
            <a:r>
              <a:rPr lang="en-US" altLang="zh-CN" sz="24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2400" b="1" dirty="0">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latin typeface="Trebuchet MS" panose="020B0603020202020204" pitchFamily="34" charset="0"/>
                <a:cs typeface="Times New Roman" panose="02020603050405020304" pitchFamily="18" charset="0"/>
              </a:rPr>
              <a:t>Brief summary</a:t>
            </a:r>
            <a:endParaRPr lang="zh-CN" altLang="en-US" sz="2400" b="1" dirty="0">
              <a:latin typeface="Trebuchet MS" panose="020B0603020202020204" pitchFamily="34" charset="0"/>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8BF31B8E-C90A-43F8-8C26-F34466C89F87}"/>
              </a:ext>
            </a:extLst>
          </p:cNvPr>
          <p:cNvSpPr txBox="1">
            <a:spLocks noChangeArrowheads="1"/>
          </p:cNvSpPr>
          <p:nvPr/>
        </p:nvSpPr>
        <p:spPr>
          <a:xfrm>
            <a:off x="1403350" y="692149"/>
            <a:ext cx="8583131" cy="5582527"/>
          </a:xfrm>
          <a:prstGeom prst="rect">
            <a:avLst/>
          </a:prstGeom>
          <a:extLst>
            <a:ext uri="{91240B29-F687-4F45-9708-019B960494DF}">
              <a14:hiddenLine xmlns:a14="http://schemas.microsoft.com/office/drawing/2010/main" w="3175">
                <a:solidFill>
                  <a:srgbClr val="000000"/>
                </a:solidFill>
                <a:miter lim="800000"/>
                <a:headEnd/>
                <a:tailEnd/>
              </a14:hiddenLine>
            </a:ext>
          </a:extLst>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buFont typeface="Wingdings" panose="05000000000000000000" pitchFamily="2" charset="2"/>
              <a:buNone/>
            </a:pPr>
            <a:r>
              <a:rPr lang="en-US" altLang="zh-CN" sz="2400" b="1" dirty="0"/>
              <a:t>Objective :</a:t>
            </a:r>
          </a:p>
          <a:p>
            <a:pPr>
              <a:lnSpc>
                <a:spcPct val="150000"/>
              </a:lnSpc>
              <a:buFont typeface="Wingdings" panose="05000000000000000000" pitchFamily="2" charset="2"/>
              <a:buNone/>
            </a:pPr>
            <a:endParaRPr lang="en-US" altLang="zh-CN" sz="2400" b="1" dirty="0"/>
          </a:p>
          <a:p>
            <a:pPr>
              <a:lnSpc>
                <a:spcPct val="150000"/>
              </a:lnSpc>
              <a:buFont typeface="Wingdings" panose="05000000000000000000" pitchFamily="2" charset="2"/>
              <a:buNone/>
            </a:pPr>
            <a:endParaRPr lang="en-US" altLang="zh-CN" sz="2400" b="1" dirty="0"/>
          </a:p>
          <a:p>
            <a:pPr>
              <a:lnSpc>
                <a:spcPct val="150000"/>
              </a:lnSpc>
              <a:buNone/>
            </a:pPr>
            <a:r>
              <a:rPr lang="en-US" altLang="zh-CN" sz="2400" b="1" dirty="0"/>
              <a:t>Key Concepts </a:t>
            </a:r>
            <a:r>
              <a:rPr lang="zh-CN" altLang="en-US" sz="2400" b="1" dirty="0"/>
              <a:t>： </a:t>
            </a:r>
            <a:endParaRPr lang="en-US" altLang="zh-CN" sz="2400" b="1" dirty="0"/>
          </a:p>
          <a:p>
            <a:pPr>
              <a:lnSpc>
                <a:spcPct val="150000"/>
              </a:lnSpc>
              <a:buFont typeface="Wingdings" panose="05000000000000000000" pitchFamily="2" charset="2"/>
              <a:buNone/>
            </a:pPr>
            <a:endParaRPr lang="zh-CN" altLang="en-US" sz="2400" b="1" dirty="0"/>
          </a:p>
        </p:txBody>
      </p:sp>
    </p:spTree>
    <p:extLst>
      <p:ext uri="{BB962C8B-B14F-4D97-AF65-F5344CB8AC3E}">
        <p14:creationId xmlns:p14="http://schemas.microsoft.com/office/powerpoint/2010/main" val="3068878790"/>
      </p:ext>
    </p:extLst>
  </p:cSld>
  <p:clrMapOvr>
    <a:masterClrMapping/>
  </p:clrMapOvr>
  <mc:AlternateContent xmlns:mc="http://schemas.openxmlformats.org/markup-compatibility/2006" xmlns:p14="http://schemas.microsoft.com/office/powerpoint/2010/main">
    <mc:Choice Requires="p14">
      <p:transition p14:dur="50" advTm="20"/>
    </mc:Choice>
    <mc:Fallback xmlns="">
      <p:transition advTm="20"/>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p:cNvPicPr>
            <a:picLocks noChangeAspect="1"/>
          </p:cNvPicPr>
          <p:nvPr/>
        </p:nvPicPr>
        <p:blipFill rotWithShape="1">
          <a:blip r:embed="rId3" cstate="print">
            <a:extLst>
              <a:ext uri="{28A0092B-C50C-407E-A947-70E740481C1C}">
                <a14:useLocalDpi xmlns:a14="http://schemas.microsoft.com/office/drawing/2010/main" val="0"/>
              </a:ext>
            </a:extLst>
          </a:blip>
          <a:srcRect t="5418" b="-5557"/>
          <a:stretch>
            <a:fillRect/>
          </a:stretch>
        </p:blipFill>
        <p:spPr>
          <a:xfrm>
            <a:off x="0" y="0"/>
            <a:ext cx="12192000" cy="5105399"/>
          </a:xfrm>
          <a:prstGeom prst="rect">
            <a:avLst/>
          </a:prstGeom>
        </p:spPr>
      </p:pic>
      <p:sp>
        <p:nvSpPr>
          <p:cNvPr id="15" name="文本占位符 14"/>
          <p:cNvSpPr>
            <a:spLocks noGrp="1"/>
          </p:cNvSpPr>
          <p:nvPr>
            <p:ph type="body" sz="quarter" idx="11"/>
          </p:nvPr>
        </p:nvSpPr>
        <p:spPr>
          <a:xfrm>
            <a:off x="0" y="4379558"/>
            <a:ext cx="12192000" cy="1191229"/>
          </a:xfrm>
          <a:solidFill>
            <a:srgbClr val="002060"/>
          </a:solidFill>
        </p:spPr>
        <p:txBody>
          <a:bodyPr/>
          <a:lstStyle/>
          <a:p>
            <a:endParaRPr lang="zh-CN" altLang="en-US" dirty="0">
              <a:solidFill>
                <a:srgbClr val="0070C0">
                  <a:alpha val="0"/>
                </a:srgbClr>
              </a:solidFill>
            </a:endParaRPr>
          </a:p>
        </p:txBody>
      </p:sp>
      <p:sp>
        <p:nvSpPr>
          <p:cNvPr id="21" name="标题 3"/>
          <p:cNvSpPr>
            <a:spLocks noGrp="1"/>
          </p:cNvSpPr>
          <p:nvPr>
            <p:ph type="ctrTitle"/>
          </p:nvPr>
        </p:nvSpPr>
        <p:spPr>
          <a:xfrm>
            <a:off x="357734" y="4571653"/>
            <a:ext cx="9955189" cy="949255"/>
          </a:xfrm>
        </p:spPr>
        <p:txBody>
          <a:bodyPr>
            <a:noAutofit/>
          </a:bodyPr>
          <a:lstStyle/>
          <a:p>
            <a:br>
              <a:rPr lang="en-US" altLang="zh-CN" b="1" dirty="0">
                <a:solidFill>
                  <a:schemeClr val="bg1"/>
                </a:solidFill>
                <a:effectLst>
                  <a:outerShdw blurRad="38100" dist="38100" dir="2700000" algn="tl">
                    <a:srgbClr val="000000">
                      <a:alpha val="43137"/>
                    </a:srgbClr>
                  </a:outerShdw>
                </a:effectLst>
              </a:rPr>
            </a:br>
            <a:r>
              <a:rPr lang="en-US" altLang="zh-CN" b="1" dirty="0">
                <a:solidFill>
                  <a:schemeClr val="bg1"/>
                </a:solidFill>
                <a:latin typeface="Trebuchet MS" panose="020B0603020202020204" pitchFamily="34" charset="0"/>
              </a:rPr>
              <a:t>Discrete Mathematics</a:t>
            </a:r>
            <a:r>
              <a:rPr lang="zh-CN" altLang="en-US" b="1" dirty="0">
                <a:solidFill>
                  <a:schemeClr val="bg1"/>
                </a:solidFill>
                <a:latin typeface="Trebuchet MS" panose="020B0603020202020204" pitchFamily="34" charset="0"/>
              </a:rPr>
              <a:t> </a:t>
            </a:r>
            <a:r>
              <a:rPr lang="en-US" altLang="zh-CN" b="1" dirty="0">
                <a:solidFill>
                  <a:schemeClr val="bg1"/>
                </a:solidFill>
                <a:latin typeface="Trebuchet MS" panose="020B0603020202020204" pitchFamily="34" charset="0"/>
              </a:rPr>
              <a:t>2025 Spring</a:t>
            </a:r>
            <a:br>
              <a:rPr lang="en-US" altLang="zh-CN" b="1" dirty="0">
                <a:solidFill>
                  <a:schemeClr val="bg1"/>
                </a:solidFill>
                <a:effectLst>
                  <a:outerShdw blurRad="38100" dist="38100" dir="2700000" algn="tl">
                    <a:srgbClr val="000000">
                      <a:alpha val="43137"/>
                    </a:srgbClr>
                  </a:outerShdw>
                </a:effectLst>
              </a:rPr>
            </a:br>
            <a:endParaRPr lang="en-US" altLang="zh-CN" b="1" dirty="0">
              <a:solidFill>
                <a:schemeClr val="bg1"/>
              </a:solidFill>
              <a:effectLst>
                <a:outerShdw blurRad="38100" dist="38100" dir="2700000" algn="tl">
                  <a:srgbClr val="000000">
                    <a:alpha val="43137"/>
                  </a:srgbClr>
                </a:outerShdw>
              </a:effectLst>
            </a:endParaRPr>
          </a:p>
        </p:txBody>
      </p:sp>
      <p:sp>
        <p:nvSpPr>
          <p:cNvPr id="6" name="文本框 5"/>
          <p:cNvSpPr txBox="1"/>
          <p:nvPr/>
        </p:nvSpPr>
        <p:spPr>
          <a:xfrm>
            <a:off x="935135" y="5797109"/>
            <a:ext cx="7262777" cy="523220"/>
          </a:xfrm>
          <a:prstGeom prst="rect">
            <a:avLst/>
          </a:prstGeom>
          <a:noFill/>
        </p:spPr>
        <p:txBody>
          <a:bodyPr wrap="square" rtlCol="0">
            <a:spAutoFit/>
          </a:bodyPr>
          <a:lstStyle/>
          <a:p>
            <a:pPr algn="ctr" fontAlgn="base">
              <a:spcBef>
                <a:spcPct val="10000"/>
              </a:spcBef>
              <a:spcAft>
                <a:spcPct val="0"/>
              </a:spcAft>
              <a:buClr>
                <a:srgbClr val="39BBF0"/>
              </a:buClr>
              <a:buSzPct val="60000"/>
            </a:pPr>
            <a:r>
              <a:rPr kumimoji="1" lang="zh-CN" altLang="en-US" sz="2800" b="1" dirty="0">
                <a:latin typeface="Trebuchet MS" panose="020B0603020202020204" pitchFamily="34" charset="0"/>
                <a:ea typeface="宋体" panose="02010600030101010101" pitchFamily="2" charset="-122"/>
              </a:rPr>
              <a:t>魏可佶</a:t>
            </a:r>
            <a:r>
              <a:rPr kumimoji="1" lang="zh-CN" altLang="en-US" sz="2400" b="1" dirty="0">
                <a:latin typeface="Trebuchet MS" panose="020B0603020202020204" pitchFamily="34" charset="0"/>
                <a:ea typeface="宋体" panose="02010600030101010101" pitchFamily="2" charset="-122"/>
              </a:rPr>
              <a:t> </a:t>
            </a:r>
            <a:r>
              <a:rPr kumimoji="1" lang="zh-CN" altLang="en-US" sz="2400" b="1" dirty="0">
                <a:latin typeface="Trebuchet MS" panose="020B0603020202020204" pitchFamily="34" charset="0"/>
                <a:ea typeface="微软雅黑" pitchFamily="34" charset="-122"/>
              </a:rPr>
              <a:t>    </a:t>
            </a:r>
            <a:r>
              <a:rPr lang="en-US" altLang="zh-CN" sz="2800" b="1" dirty="0">
                <a:latin typeface="Trebuchet MS" panose="020B0603020202020204" pitchFamily="34" charset="0"/>
                <a:cs typeface="Times New Roman" panose="02020603050405020304" pitchFamily="18" charset="0"/>
              </a:rPr>
              <a:t>kejiwei@tongji.edu.cn</a:t>
            </a:r>
            <a:r>
              <a:rPr lang="en-US" altLang="zh-CN" sz="2800" dirty="0">
                <a:cs typeface="Times New Roman" panose="02020603050405020304" pitchFamily="18" charset="0"/>
              </a:rPr>
              <a:t>		</a:t>
            </a:r>
          </a:p>
        </p:txBody>
      </p:sp>
      <p:pic>
        <p:nvPicPr>
          <p:cNvPr id="13" name="Picture 6" descr="D:\MBA工作\LOGO\同济经管LOGO反白.png"/>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9960847" y="4691952"/>
            <a:ext cx="1696528" cy="566440"/>
          </a:xfrm>
          <a:prstGeom prst="rect">
            <a:avLst/>
          </a:prstGeom>
          <a:noFill/>
          <a:extLst>
            <a:ext uri="{909E8E84-426E-40DD-AFC4-6F175D3DCCD1}">
              <a14:hiddenFill xmlns:a14="http://schemas.microsoft.com/office/drawing/2010/main">
                <a:solidFill>
                  <a:srgbClr val="FFFFFF"/>
                </a:solidFill>
              </a14:hiddenFill>
            </a:ext>
          </a:extLst>
        </p:spPr>
      </p:pic>
      <p:pic>
        <p:nvPicPr>
          <p:cNvPr id="3" name="图片 2" descr="微信图片_20220318113523"/>
          <p:cNvPicPr>
            <a:picLocks noChangeAspect="1"/>
          </p:cNvPicPr>
          <p:nvPr userDrawn="1"/>
        </p:nvPicPr>
        <p:blipFill>
          <a:blip r:embed="rId5"/>
          <a:stretch>
            <a:fillRect/>
          </a:stretch>
        </p:blipFill>
        <p:spPr>
          <a:xfrm>
            <a:off x="9291877" y="6115050"/>
            <a:ext cx="2244725" cy="361315"/>
          </a:xfrm>
          <a:prstGeom prst="rect">
            <a:avLst/>
          </a:prstGeom>
        </p:spPr>
      </p:pic>
    </p:spTree>
    <p:extLst>
      <p:ext uri="{BB962C8B-B14F-4D97-AF65-F5344CB8AC3E}">
        <p14:creationId xmlns:p14="http://schemas.microsoft.com/office/powerpoint/2010/main" val="189060808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dirty="0">
                <a:latin typeface="Trebuchet MS" panose="020B0603020202020204" pitchFamily="34" charset="0"/>
              </a:rPr>
              <a:t>Chapter 3</a:t>
            </a:r>
            <a:r>
              <a:rPr lang="zh-CN" altLang="en-US" sz="2400" b="1" dirty="0">
                <a:latin typeface="Trebuchet MS" panose="020B0603020202020204" pitchFamily="34" charset="0"/>
              </a:rPr>
              <a:t>： </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First Order Logic</a:t>
            </a:r>
            <a:r>
              <a:rPr lang="en-US" altLang="zh-CN" sz="2400" b="1" dirty="0">
                <a:effectLst/>
                <a:latin typeface="Trebuchet MS" panose="020B0603020202020204" pitchFamily="34" charset="0"/>
                <a:ea typeface="Cambria Math" panose="02040503050406030204" pitchFamily="18" charset="0"/>
                <a:cs typeface="Times New Roman" panose="02020603050405020304" pitchFamily="18" charset="0"/>
              </a:rPr>
              <a:t>                   </a:t>
            </a:r>
            <a:endParaRPr lang="zh-CN" altLang="en-US" sz="2400" b="1" dirty="0">
              <a:solidFill>
                <a:srgbClr val="3D557A"/>
              </a:solidFill>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824681" y="765176"/>
            <a:ext cx="10261008" cy="527746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1611313" eaLnBrk="1" hangingPunct="1">
              <a:spcBef>
                <a:spcPct val="60000"/>
              </a:spcBef>
              <a:buNone/>
            </a:pPr>
            <a:endParaRPr lang="en-US" altLang="zh-CN" sz="2400" b="1" dirty="0">
              <a:latin typeface="Trebuchet MS" panose="020B0603020202020204" pitchFamily="34" charset="0"/>
            </a:endParaRPr>
          </a:p>
          <a:p>
            <a:pPr marL="898525" indent="260350" eaLnBrk="1" hangingPunct="1">
              <a:lnSpc>
                <a:spcPct val="130000"/>
              </a:lnSpc>
              <a:spcBef>
                <a:spcPct val="60000"/>
              </a:spcBef>
              <a:buClr>
                <a:srgbClr val="0B61FF"/>
              </a:buClr>
              <a:buSzPct val="80000"/>
              <a:buFont typeface="Wingdings" panose="05000000000000000000" pitchFamily="2" charset="2"/>
              <a:buChar char="n"/>
            </a:pPr>
            <a:r>
              <a:rPr lang="en-US" altLang="zh-CN" sz="2400" dirty="0">
                <a:solidFill>
                  <a:schemeClr val="tx1">
                    <a:lumMod val="50000"/>
                    <a:lumOff val="50000"/>
                  </a:schemeClr>
                </a:solidFill>
                <a:latin typeface="Trebuchet MS" panose="020B0603020202020204" pitchFamily="34" charset="0"/>
              </a:rPr>
              <a:t>3.1 Basic Concepts of First-Order Logic</a:t>
            </a:r>
          </a:p>
          <a:p>
            <a:pPr marL="898525" indent="260350" eaLnBrk="1" hangingPunct="1">
              <a:lnSpc>
                <a:spcPct val="130000"/>
              </a:lnSpc>
              <a:spcBef>
                <a:spcPct val="60000"/>
              </a:spcBef>
              <a:buClr>
                <a:srgbClr val="0B61FF"/>
              </a:buClr>
              <a:buSzPct val="80000"/>
              <a:buFont typeface="Wingdings" panose="05000000000000000000" pitchFamily="2" charset="2"/>
              <a:buChar char="n"/>
            </a:pPr>
            <a:r>
              <a:rPr lang="en-US" altLang="zh-CN" sz="2400" dirty="0">
                <a:solidFill>
                  <a:srgbClr val="0B61FF"/>
                </a:solidFill>
                <a:latin typeface="Trebuchet MS" panose="020B0603020202020204" pitchFamily="34" charset="0"/>
              </a:rPr>
              <a:t>3.2 Equivalence Calculus of First-Order Logic</a:t>
            </a:r>
            <a:endParaRPr lang="zh-CN" altLang="en-US" sz="2400" b="1" dirty="0">
              <a:solidFill>
                <a:srgbClr val="0B61FF"/>
              </a:solidFill>
              <a:latin typeface="Trebuchet MS" panose="020B0603020202020204" pitchFamily="34" charset="0"/>
            </a:endParaRPr>
          </a:p>
        </p:txBody>
      </p:sp>
    </p:spTree>
    <p:extLst>
      <p:ext uri="{BB962C8B-B14F-4D97-AF65-F5344CB8AC3E}">
        <p14:creationId xmlns:p14="http://schemas.microsoft.com/office/powerpoint/2010/main" val="411916808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400" dirty="0">
                <a:solidFill>
                  <a:schemeClr val="bg1"/>
                </a:solidFill>
                <a:latin typeface="Trebuchet MS" panose="020B0603020202020204" pitchFamily="34" charset="0"/>
              </a:rPr>
              <a:t>          3.2 Equivalence Calculus of First-Order Logic</a:t>
            </a:r>
            <a:endParaRPr lang="en-US" altLang="zh-CN" sz="2400" dirty="0">
              <a:solidFill>
                <a:schemeClr val="bg1"/>
              </a:solidFill>
              <a:effectLst/>
              <a:latin typeface="Trebuchet MS" panose="020B0603020202020204" pitchFamily="34" charset="0"/>
              <a:ea typeface="Cambria Math" panose="02040503050406030204" pitchFamily="18" charset="0"/>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75052" y="765175"/>
            <a:ext cx="8907148" cy="578802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eaLnBrk="1" hangingPunct="1">
              <a:buFontTx/>
              <a:buNone/>
            </a:pPr>
            <a:endParaRPr lang="en-US" altLang="zh-CN" sz="2800" b="1" dirty="0">
              <a:solidFill>
                <a:srgbClr val="FF3300"/>
              </a:solidFill>
              <a:latin typeface="宋体" panose="02010600030101010101" pitchFamily="2" charset="-122"/>
            </a:endParaRPr>
          </a:p>
          <a:p>
            <a:pPr algn="l">
              <a:lnSpc>
                <a:spcPct val="130000"/>
              </a:lnSpc>
              <a:buClr>
                <a:srgbClr val="0B61FF"/>
              </a:buClr>
              <a:buSzPct val="80000"/>
              <a:buFont typeface="Wingdings" panose="05000000000000000000" pitchFamily="2" charset="2"/>
              <a:buChar char="n"/>
            </a:pPr>
            <a:r>
              <a:rPr lang="en-US" sz="2400" b="1" i="0" dirty="0">
                <a:solidFill>
                  <a:srgbClr val="0B61FF"/>
                </a:solidFill>
                <a:effectLst/>
                <a:latin typeface="Trebuchet MS" panose="020B0603020202020204" pitchFamily="34" charset="0"/>
              </a:rPr>
              <a:t>3.2.1 First-Order Logic Equivalences and Substitution Rules </a:t>
            </a:r>
            <a:r>
              <a:rPr lang="en-US" sz="2400" b="1" i="0" dirty="0">
                <a:solidFill>
                  <a:srgbClr val="0C0D0E"/>
                </a:solidFill>
                <a:effectLst/>
                <a:latin typeface="Trebuchet MS" panose="020B0603020202020204" pitchFamily="34" charset="0"/>
              </a:rPr>
              <a:t>Basic Equivalences Substitution Rules, Renaming Rules</a:t>
            </a:r>
          </a:p>
          <a:p>
            <a:pPr algn="l">
              <a:lnSpc>
                <a:spcPct val="130000"/>
              </a:lnSpc>
              <a:buClr>
                <a:srgbClr val="0B61FF"/>
              </a:buClr>
              <a:buSzPct val="80000"/>
              <a:buFont typeface="Wingdings" panose="05000000000000000000" pitchFamily="2" charset="2"/>
              <a:buChar char="n"/>
            </a:pPr>
            <a:r>
              <a:rPr lang="en-US" sz="2400" b="1" i="0" dirty="0">
                <a:solidFill>
                  <a:srgbClr val="0C0D0E"/>
                </a:solidFill>
                <a:effectLst/>
                <a:latin typeface="Trebuchet MS" panose="020B0603020202020204" pitchFamily="34" charset="0"/>
              </a:rPr>
              <a:t>3.2.2 </a:t>
            </a:r>
            <a:r>
              <a:rPr lang="en-US" altLang="zh-CN" sz="2400" b="1" dirty="0">
                <a:solidFill>
                  <a:srgbClr val="0C0D0E"/>
                </a:solidFill>
                <a:latin typeface="Trebuchet MS" panose="020B0603020202020204" pitchFamily="34" charset="0"/>
              </a:rPr>
              <a:t>Prenex normal form of first-order logic</a:t>
            </a:r>
            <a:endParaRPr lang="zh-CN" altLang="en-US" sz="2800" b="1" dirty="0"/>
          </a:p>
        </p:txBody>
      </p:sp>
    </p:spTree>
    <p:extLst>
      <p:ext uri="{BB962C8B-B14F-4D97-AF65-F5344CB8AC3E}">
        <p14:creationId xmlns:p14="http://schemas.microsoft.com/office/powerpoint/2010/main" val="189534193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solidFill>
                  <a:schemeClr val="bg1"/>
                </a:solidFill>
                <a:latin typeface="Trebuchet MS" panose="020B0603020202020204" pitchFamily="34" charset="0"/>
                <a:ea typeface="宋体" panose="02010600030101010101" pitchFamily="2" charset="-122"/>
                <a:cs typeface="Times New Roman" panose="02020603050405020304" pitchFamily="18" charset="0"/>
              </a:rPr>
              <a:t>            </a:t>
            </a:r>
            <a:r>
              <a:rPr lang="en-US" altLang="zh-CN" sz="2000" b="1" i="0" dirty="0">
                <a:solidFill>
                  <a:schemeClr val="bg1"/>
                </a:solidFill>
                <a:effectLst/>
                <a:latin typeface="Trebuchet MS" panose="020B0603020202020204" pitchFamily="34" charset="0"/>
              </a:rPr>
              <a:t>3.2.1 First-Order Logic Equivalences and Substitution Rules</a:t>
            </a:r>
          </a:p>
          <a:p>
            <a:r>
              <a:rPr lang="en-US" altLang="zh-CN" sz="1800"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dirty="0"/>
              <a:t> </a:t>
            </a:r>
            <a:r>
              <a:rPr lang="en-US" altLang="zh-CN" sz="2400" b="1" dirty="0">
                <a:latin typeface="Trebuchet MS" panose="020B0603020202020204" pitchFamily="34" charset="0"/>
              </a:rPr>
              <a:t>Review of Basic Equivalence Expressions</a:t>
            </a:r>
            <a:endParaRPr lang="en-US" altLang="zh-CN" sz="2400" b="1" dirty="0">
              <a:solidFill>
                <a:schemeClr val="bg1"/>
              </a:solidFill>
              <a:effectLst/>
              <a:latin typeface="Trebuchet MS" panose="020B0603020202020204" pitchFamily="34" charset="0"/>
              <a:ea typeface="Cambria Math" panose="02040503050406030204" pitchFamily="18" charset="0"/>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824681" y="765175"/>
            <a:ext cx="8907148" cy="5788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eaLnBrk="1" hangingPunct="1">
              <a:buFontTx/>
              <a:buNone/>
            </a:pPr>
            <a:endParaRPr lang="en-US" altLang="zh-CN" sz="2800" b="1" dirty="0">
              <a:solidFill>
                <a:srgbClr val="FF3300"/>
              </a:solidFill>
              <a:latin typeface="宋体" panose="02010600030101010101" pitchFamily="2" charset="-122"/>
            </a:endParaRPr>
          </a:p>
          <a:p>
            <a:pPr marL="457200" lvl="1" indent="0" eaLnBrk="1" hangingPunct="1">
              <a:buNone/>
            </a:pPr>
            <a:endParaRPr lang="zh-CN" altLang="en-US" sz="2800" b="1" dirty="0"/>
          </a:p>
        </p:txBody>
      </p:sp>
      <p:pic>
        <p:nvPicPr>
          <p:cNvPr id="3" name="图片 2">
            <a:extLst>
              <a:ext uri="{FF2B5EF4-FFF2-40B4-BE49-F238E27FC236}">
                <a16:creationId xmlns:a16="http://schemas.microsoft.com/office/drawing/2014/main" id="{EC27C4DE-5D2A-4D2C-B97A-7E5D333A7482}"/>
              </a:ext>
            </a:extLst>
          </p:cNvPr>
          <p:cNvPicPr>
            <a:picLocks noChangeAspect="1"/>
          </p:cNvPicPr>
          <p:nvPr/>
        </p:nvPicPr>
        <p:blipFill>
          <a:blip r:embed="rId5"/>
          <a:stretch>
            <a:fillRect/>
          </a:stretch>
        </p:blipFill>
        <p:spPr>
          <a:xfrm>
            <a:off x="1323843" y="854344"/>
            <a:ext cx="7968034" cy="5539117"/>
          </a:xfrm>
          <a:prstGeom prst="rect">
            <a:avLst/>
          </a:prstGeom>
        </p:spPr>
      </p:pic>
    </p:spTree>
    <p:extLst>
      <p:ext uri="{BB962C8B-B14F-4D97-AF65-F5344CB8AC3E}">
        <p14:creationId xmlns:p14="http://schemas.microsoft.com/office/powerpoint/2010/main" val="115658670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solidFill>
                  <a:schemeClr val="bg1"/>
                </a:solidFill>
                <a:latin typeface="Trebuchet MS" panose="020B0603020202020204" pitchFamily="34" charset="0"/>
                <a:ea typeface="宋体" panose="02010600030101010101" pitchFamily="2" charset="-122"/>
                <a:cs typeface="Times New Roman" panose="02020603050405020304" pitchFamily="18" charset="0"/>
              </a:rPr>
              <a:t>            </a:t>
            </a:r>
            <a:r>
              <a:rPr lang="en-US" altLang="zh-CN" sz="2000" b="1" i="0" dirty="0">
                <a:solidFill>
                  <a:schemeClr val="bg1"/>
                </a:solidFill>
                <a:effectLst/>
                <a:latin typeface="Trebuchet MS" panose="020B0603020202020204" pitchFamily="34" charset="0"/>
              </a:rPr>
              <a:t>3.2.1 First-Order Logic Equivalences and Substitution Rules</a:t>
            </a:r>
          </a:p>
          <a:p>
            <a:r>
              <a:rPr lang="en-US" altLang="zh-CN" sz="1800"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dirty="0"/>
              <a:t> </a:t>
            </a:r>
            <a:r>
              <a:rPr lang="en-US" altLang="zh-CN" sz="2400" b="1" dirty="0">
                <a:latin typeface="Trebuchet MS" panose="020B0603020202020204" pitchFamily="34" charset="0"/>
              </a:rPr>
              <a:t>Review of Basic Equivalence Expressions </a:t>
            </a:r>
            <a:r>
              <a:rPr lang="en-US"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kern="100" dirty="0">
                <a:solidFill>
                  <a:schemeClr val="accent2"/>
                </a:solidFill>
                <a:effectLst/>
                <a:latin typeface="Times New Roman" panose="02020603050405020304" pitchFamily="18" charset="0"/>
                <a:ea typeface="宋体" panose="02010600030101010101" pitchFamily="2" charset="-122"/>
                <a:cs typeface="Times New Roman" panose="02020603050405020304" pitchFamily="18" charset="0"/>
              </a:rPr>
              <a:t>(cont.)</a:t>
            </a:r>
            <a:endParaRPr lang="en-US" altLang="zh-CN" sz="2000" b="1" dirty="0">
              <a:solidFill>
                <a:schemeClr val="accent2"/>
              </a:solidFill>
              <a:effectLst/>
              <a:latin typeface="Trebuchet MS" panose="020B0603020202020204" pitchFamily="34" charset="0"/>
              <a:ea typeface="Cambria Math" panose="02040503050406030204" pitchFamily="18" charset="0"/>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824681" y="765175"/>
            <a:ext cx="8907148" cy="5788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eaLnBrk="1" hangingPunct="1">
              <a:buFontTx/>
              <a:buNone/>
            </a:pPr>
            <a:endParaRPr lang="en-US" altLang="zh-CN" sz="2800" b="1" dirty="0">
              <a:solidFill>
                <a:srgbClr val="FF3300"/>
              </a:solidFill>
              <a:latin typeface="宋体" panose="02010600030101010101" pitchFamily="2" charset="-122"/>
            </a:endParaRPr>
          </a:p>
          <a:p>
            <a:pPr marL="457200" lvl="1" indent="0" eaLnBrk="1" hangingPunct="1">
              <a:buNone/>
            </a:pPr>
            <a:endParaRPr lang="zh-CN" altLang="en-US" sz="2800" b="1" dirty="0"/>
          </a:p>
        </p:txBody>
      </p:sp>
      <p:pic>
        <p:nvPicPr>
          <p:cNvPr id="5" name="图片 4">
            <a:extLst>
              <a:ext uri="{FF2B5EF4-FFF2-40B4-BE49-F238E27FC236}">
                <a16:creationId xmlns:a16="http://schemas.microsoft.com/office/drawing/2014/main" id="{71932F47-45E8-45CF-A5A9-18D6B76352F6}"/>
              </a:ext>
            </a:extLst>
          </p:cNvPr>
          <p:cNvPicPr>
            <a:picLocks noChangeAspect="1"/>
          </p:cNvPicPr>
          <p:nvPr/>
        </p:nvPicPr>
        <p:blipFill>
          <a:blip r:embed="rId5"/>
          <a:stretch>
            <a:fillRect/>
          </a:stretch>
        </p:blipFill>
        <p:spPr>
          <a:xfrm>
            <a:off x="1000125" y="865556"/>
            <a:ext cx="7910695" cy="5249494"/>
          </a:xfrm>
          <a:prstGeom prst="rect">
            <a:avLst/>
          </a:prstGeom>
        </p:spPr>
      </p:pic>
    </p:spTree>
    <p:extLst>
      <p:ext uri="{BB962C8B-B14F-4D97-AF65-F5344CB8AC3E}">
        <p14:creationId xmlns:p14="http://schemas.microsoft.com/office/powerpoint/2010/main" val="56027351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i="0" dirty="0">
                <a:solidFill>
                  <a:schemeClr val="bg1"/>
                </a:solidFill>
                <a:effectLst/>
                <a:latin typeface="Trebuchet MS" panose="020B0603020202020204" pitchFamily="34" charset="0"/>
              </a:rPr>
              <a:t>3.2.1 First-Order Logic Equivalences and Substitution Rules</a:t>
            </a:r>
          </a:p>
          <a:p>
            <a:r>
              <a:rPr lang="en-US" altLang="zh-CN" sz="1800"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dirty="0"/>
              <a:t> </a:t>
            </a:r>
            <a:r>
              <a:rPr lang="en-US" altLang="zh-CN" sz="2400" b="1" dirty="0">
                <a:latin typeface="Trebuchet MS" panose="020B0603020202020204" pitchFamily="34" charset="0"/>
              </a:rPr>
              <a:t>Tautology A</a:t>
            </a:r>
            <a:r>
              <a:rPr lang="en-US" altLang="zh-CN" sz="2400" b="1" dirty="0">
                <a:latin typeface="Trebuchet MS" panose="020B0603020202020204" pitchFamily="34" charset="0"/>
                <a:ea typeface="Arial Unicode MS" panose="020B0604020202020204" pitchFamily="34" charset="-122"/>
              </a:rPr>
              <a:t>↔B  vs. Equivalence A</a:t>
            </a:r>
            <a:r>
              <a:rPr lang="en-US" altLang="zh-CN" sz="2400" b="1" dirty="0">
                <a:latin typeface="Trebuchet MS" panose="020B0603020202020204" pitchFamily="34" charset="0"/>
                <a:sym typeface="Symbol" panose="05050102010706020507" pitchFamily="18" charset="2"/>
              </a:rPr>
              <a:t>  </a:t>
            </a:r>
            <a:r>
              <a:rPr lang="en-US" altLang="zh-CN" sz="2400" b="1" dirty="0">
                <a:latin typeface="Trebuchet MS" panose="020B0603020202020204" pitchFamily="34" charset="0"/>
                <a:ea typeface="Arial Unicode MS" panose="020B0604020202020204" pitchFamily="34" charset="-122"/>
              </a:rPr>
              <a:t>B</a:t>
            </a:r>
            <a:endParaRPr lang="en-US" altLang="zh-CN" sz="2000" b="1" dirty="0">
              <a:solidFill>
                <a:schemeClr val="accent2"/>
              </a:solidFill>
              <a:effectLst/>
              <a:latin typeface="Trebuchet MS" panose="020B0603020202020204" pitchFamily="34" charset="0"/>
              <a:ea typeface="Cambria Math" panose="02040503050406030204" pitchFamily="18" charset="0"/>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0" name="Rectangle 3">
            <a:extLst>
              <a:ext uri="{FF2B5EF4-FFF2-40B4-BE49-F238E27FC236}">
                <a16:creationId xmlns:a16="http://schemas.microsoft.com/office/drawing/2014/main" id="{8C4E7262-5A22-44F6-A0DA-6CD88C657AE7}"/>
              </a:ext>
            </a:extLst>
          </p:cNvPr>
          <p:cNvSpPr txBox="1">
            <a:spLocks noChangeArrowheads="1"/>
          </p:cNvSpPr>
          <p:nvPr/>
        </p:nvSpPr>
        <p:spPr>
          <a:xfrm>
            <a:off x="912403" y="783771"/>
            <a:ext cx="9190176" cy="4789716"/>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600"/>
              </a:spcBef>
              <a:buClr>
                <a:srgbClr val="0B61FF"/>
              </a:buClr>
              <a:buSzPct val="80000"/>
              <a:buFont typeface="Wingdings" panose="05000000000000000000" pitchFamily="2" charset="2"/>
              <a:buChar char="n"/>
            </a:pPr>
            <a:r>
              <a:rPr lang="en-US" sz="2400" b="1" dirty="0">
                <a:solidFill>
                  <a:srgbClr val="0C0D0E"/>
                </a:solidFill>
                <a:latin typeface="Trebuchet MS" panose="020B0603020202020204" pitchFamily="34" charset="0"/>
                <a:ea typeface="Arial Unicode MS" panose="020B0604020202020204" pitchFamily="34" charset="-122"/>
              </a:rPr>
              <a:t>Definition 3.7: </a:t>
            </a:r>
            <a:r>
              <a:rPr lang="en-US" sz="2400" dirty="0">
                <a:solidFill>
                  <a:srgbClr val="0C0D0E"/>
                </a:solidFill>
                <a:latin typeface="Trebuchet MS" panose="020B0603020202020204" pitchFamily="34" charset="0"/>
                <a:ea typeface="Arial Unicode MS" panose="020B0604020202020204" pitchFamily="34" charset="-122"/>
              </a:rPr>
              <a:t>If </a:t>
            </a:r>
            <a:r>
              <a:rPr lang="en-US" altLang="zh-CN" sz="2400" b="1" i="1" dirty="0">
                <a:solidFill>
                  <a:srgbClr val="0C0D0E"/>
                </a:solidFill>
                <a:latin typeface="Trebuchet MS" panose="020B0603020202020204" pitchFamily="34" charset="0"/>
                <a:ea typeface="Arial Unicode MS" panose="020B0604020202020204" pitchFamily="34" charset="-122"/>
              </a:rPr>
              <a:t>A</a:t>
            </a:r>
            <a:r>
              <a:rPr lang="en-US" altLang="zh-CN" sz="2400" dirty="0">
                <a:solidFill>
                  <a:srgbClr val="0C0D0E"/>
                </a:solidFill>
                <a:ea typeface="Arial Unicode MS" panose="020B0604020202020204" pitchFamily="34" charset="-122"/>
              </a:rPr>
              <a:t>↔</a:t>
            </a:r>
            <a:r>
              <a:rPr lang="en-US" altLang="zh-CN" sz="2400" b="1" i="1" dirty="0">
                <a:solidFill>
                  <a:srgbClr val="0C0D0E"/>
                </a:solidFill>
                <a:latin typeface="Trebuchet MS" panose="020B0603020202020204" pitchFamily="34" charset="0"/>
                <a:ea typeface="Arial Unicode MS" panose="020B0604020202020204" pitchFamily="34" charset="-122"/>
              </a:rPr>
              <a:t>B</a:t>
            </a:r>
            <a:r>
              <a:rPr lang="en-US" altLang="zh-CN" sz="2400" dirty="0">
                <a:solidFill>
                  <a:srgbClr val="0C0D0E"/>
                </a:solidFill>
                <a:latin typeface="Trebuchet MS" panose="020B0603020202020204" pitchFamily="34" charset="0"/>
                <a:ea typeface="Arial Unicode MS" panose="020B0604020202020204" pitchFamily="34" charset="-122"/>
              </a:rPr>
              <a:t> </a:t>
            </a:r>
            <a:r>
              <a:rPr lang="en-US" sz="2400" dirty="0">
                <a:solidFill>
                  <a:srgbClr val="0C0D0E"/>
                </a:solidFill>
                <a:latin typeface="Trebuchet MS" panose="020B0603020202020204" pitchFamily="34" charset="0"/>
                <a:ea typeface="Arial Unicode MS" panose="020B0604020202020204" pitchFamily="34" charset="-122"/>
              </a:rPr>
              <a:t> is a </a:t>
            </a:r>
            <a:r>
              <a:rPr lang="en-US" sz="2400" b="1" dirty="0">
                <a:solidFill>
                  <a:srgbClr val="0C0D0E"/>
                </a:solidFill>
                <a:latin typeface="Trebuchet MS" panose="020B0603020202020204" pitchFamily="34" charset="0"/>
                <a:ea typeface="Arial Unicode MS" panose="020B0604020202020204" pitchFamily="34" charset="-122"/>
              </a:rPr>
              <a:t>tautology</a:t>
            </a:r>
            <a:r>
              <a:rPr lang="en-US" sz="2400" dirty="0">
                <a:solidFill>
                  <a:srgbClr val="0C0D0E"/>
                </a:solidFill>
                <a:latin typeface="Trebuchet MS" panose="020B0603020202020204" pitchFamily="34" charset="0"/>
                <a:ea typeface="Arial Unicode MS" panose="020B0604020202020204" pitchFamily="34" charset="-122"/>
              </a:rPr>
              <a:t> (a valid formula), then </a:t>
            </a:r>
            <a:r>
              <a:rPr lang="en-US" sz="2400" b="1" i="1" dirty="0">
                <a:solidFill>
                  <a:srgbClr val="0C0D0E"/>
                </a:solidFill>
                <a:latin typeface="Trebuchet MS" panose="020B0603020202020204" pitchFamily="34" charset="0"/>
                <a:ea typeface="Arial Unicode MS" panose="020B0604020202020204" pitchFamily="34" charset="-122"/>
              </a:rPr>
              <a:t>A</a:t>
            </a:r>
            <a:r>
              <a:rPr lang="en-US" sz="2400" dirty="0">
                <a:solidFill>
                  <a:srgbClr val="0C0D0E"/>
                </a:solidFill>
                <a:latin typeface="Trebuchet MS" panose="020B0603020202020204" pitchFamily="34" charset="0"/>
                <a:ea typeface="Arial Unicode MS" panose="020B0604020202020204" pitchFamily="34" charset="-122"/>
              </a:rPr>
              <a:t> and </a:t>
            </a:r>
            <a:r>
              <a:rPr lang="en-US" sz="2400" b="1" i="1" dirty="0">
                <a:solidFill>
                  <a:srgbClr val="0C0D0E"/>
                </a:solidFill>
                <a:latin typeface="Trebuchet MS" panose="020B0603020202020204" pitchFamily="34" charset="0"/>
                <a:ea typeface="Arial Unicode MS" panose="020B0604020202020204" pitchFamily="34" charset="-122"/>
              </a:rPr>
              <a:t>B</a:t>
            </a:r>
            <a:r>
              <a:rPr lang="en-US" sz="2400" dirty="0">
                <a:solidFill>
                  <a:srgbClr val="0C0D0E"/>
                </a:solidFill>
                <a:latin typeface="Trebuchet MS" panose="020B0603020202020204" pitchFamily="34" charset="0"/>
                <a:ea typeface="Arial Unicode MS" panose="020B0604020202020204" pitchFamily="34" charset="-122"/>
              </a:rPr>
              <a:t> are called equivalent, denoted by </a:t>
            </a:r>
            <a:r>
              <a:rPr lang="en-US" altLang="zh-CN" sz="2400" b="1" i="1" dirty="0">
                <a:solidFill>
                  <a:srgbClr val="0C0D0E"/>
                </a:solidFill>
                <a:latin typeface="Trebuchet MS" panose="020B0603020202020204" pitchFamily="34" charset="0"/>
                <a:ea typeface="Arial Unicode MS" panose="020B0604020202020204" pitchFamily="34" charset="-122"/>
              </a:rPr>
              <a:t> A</a:t>
            </a:r>
            <a:r>
              <a:rPr lang="en-US" altLang="zh-CN" sz="2400" b="1" dirty="0">
                <a:latin typeface="Trebuchet MS" panose="020B0603020202020204" pitchFamily="34" charset="0"/>
                <a:sym typeface="Symbol" panose="05050102010706020507" pitchFamily="18" charset="2"/>
              </a:rPr>
              <a:t>  </a:t>
            </a:r>
            <a:r>
              <a:rPr lang="en-US" altLang="zh-CN" sz="2400" b="1" i="1" dirty="0">
                <a:solidFill>
                  <a:srgbClr val="0C0D0E"/>
                </a:solidFill>
                <a:latin typeface="Trebuchet MS" panose="020B0603020202020204" pitchFamily="34" charset="0"/>
                <a:ea typeface="Arial Unicode MS" panose="020B0604020202020204" pitchFamily="34" charset="-122"/>
              </a:rPr>
              <a:t>B</a:t>
            </a:r>
            <a:r>
              <a:rPr lang="en-US" sz="2400" dirty="0">
                <a:solidFill>
                  <a:srgbClr val="0C0D0E"/>
                </a:solidFill>
                <a:latin typeface="Trebuchet MS" panose="020B0603020202020204" pitchFamily="34" charset="0"/>
                <a:ea typeface="Arial Unicode MS" panose="020B0604020202020204" pitchFamily="34" charset="-122"/>
              </a:rPr>
              <a:t>, and </a:t>
            </a:r>
            <a:r>
              <a:rPr lang="en-US" sz="2400" b="1" i="1" dirty="0">
                <a:solidFill>
                  <a:srgbClr val="0C0D0E"/>
                </a:solidFill>
                <a:latin typeface="Trebuchet MS" panose="020B0603020202020204" pitchFamily="34" charset="0"/>
                <a:ea typeface="Arial Unicode MS" panose="020B0604020202020204" pitchFamily="34" charset="-122"/>
              </a:rPr>
              <a:t>A</a:t>
            </a:r>
            <a:r>
              <a:rPr lang="en-US" sz="2400" dirty="0">
                <a:solidFill>
                  <a:srgbClr val="0C0D0E"/>
                </a:solidFill>
                <a:latin typeface="Trebuchet MS" panose="020B0603020202020204" pitchFamily="34" charset="0"/>
                <a:ea typeface="Arial Unicode MS" panose="020B0604020202020204" pitchFamily="34" charset="-122"/>
              </a:rPr>
              <a:t> </a:t>
            </a:r>
            <a:r>
              <a:rPr lang="en-US" sz="2400" b="1" i="1" dirty="0">
                <a:solidFill>
                  <a:srgbClr val="0C0D0E"/>
                </a:solidFill>
                <a:latin typeface="Trebuchet MS" panose="020B0603020202020204" pitchFamily="34" charset="0"/>
                <a:ea typeface="Arial Unicode MS" panose="020B0604020202020204" pitchFamily="34" charset="-122"/>
              </a:rPr>
              <a:t>B</a:t>
            </a:r>
            <a:r>
              <a:rPr lang="en-US" sz="2400" dirty="0">
                <a:solidFill>
                  <a:srgbClr val="0C0D0E"/>
                </a:solidFill>
                <a:latin typeface="Trebuchet MS" panose="020B0603020202020204" pitchFamily="34" charset="0"/>
                <a:ea typeface="Arial Unicode MS" panose="020B0604020202020204" pitchFamily="34" charset="-122"/>
              </a:rPr>
              <a:t> is referred to as an </a:t>
            </a:r>
            <a:r>
              <a:rPr lang="en-US" sz="2400" b="1" i="1" dirty="0">
                <a:solidFill>
                  <a:srgbClr val="0C0D0E"/>
                </a:solidFill>
                <a:latin typeface="Trebuchet MS" panose="020B0603020202020204" pitchFamily="34" charset="0"/>
                <a:ea typeface="Arial Unicode MS" panose="020B0604020202020204" pitchFamily="34" charset="-122"/>
              </a:rPr>
              <a:t>equivalence</a:t>
            </a:r>
            <a:r>
              <a:rPr lang="en-US" sz="2400" dirty="0">
                <a:solidFill>
                  <a:srgbClr val="0C0D0E"/>
                </a:solidFill>
                <a:latin typeface="Trebuchet MS" panose="020B0603020202020204" pitchFamily="34" charset="0"/>
                <a:ea typeface="Arial Unicode MS" panose="020B0604020202020204" pitchFamily="34" charset="-122"/>
              </a:rPr>
              <a:t>.</a:t>
            </a:r>
          </a:p>
          <a:p>
            <a:pPr algn="l">
              <a:lnSpc>
                <a:spcPct val="120000"/>
              </a:lnSpc>
              <a:spcBef>
                <a:spcPts val="600"/>
              </a:spcBef>
              <a:buClr>
                <a:srgbClr val="0B61FF"/>
              </a:buClr>
              <a:buSzPct val="80000"/>
              <a:buFont typeface="Wingdings" panose="05000000000000000000" pitchFamily="2" charset="2"/>
              <a:buChar char="n"/>
            </a:pPr>
            <a:r>
              <a:rPr lang="en-US" sz="2400" b="0" i="0" dirty="0">
                <a:solidFill>
                  <a:srgbClr val="0C0D0E"/>
                </a:solidFill>
                <a:effectLst/>
                <a:latin typeface="Trebuchet MS" panose="020B0603020202020204" pitchFamily="34" charset="0"/>
              </a:rPr>
              <a:t>There are 24 propositional basic equivalences and their substitution examples, all of which are equivalences in first-order logic.</a:t>
            </a:r>
          </a:p>
          <a:p>
            <a:pPr algn="l">
              <a:lnSpc>
                <a:spcPct val="120000"/>
              </a:lnSpc>
              <a:spcBef>
                <a:spcPts val="600"/>
              </a:spcBef>
              <a:buClr>
                <a:srgbClr val="0B61FF"/>
              </a:buClr>
              <a:buSzPct val="80000"/>
              <a:buFont typeface="Wingdings" panose="05000000000000000000" pitchFamily="2" charset="2"/>
              <a:buChar char="n"/>
            </a:pPr>
            <a:r>
              <a:rPr lang="en-US" sz="2400" b="0" i="0" dirty="0">
                <a:solidFill>
                  <a:srgbClr val="0C0D0E"/>
                </a:solidFill>
                <a:effectLst/>
                <a:latin typeface="Trebuchet MS" panose="020B0603020202020204" pitchFamily="34" charset="0"/>
              </a:rPr>
              <a:t> For example:</a:t>
            </a:r>
            <a:endParaRPr lang="en-US" sz="2400" b="1" i="1" dirty="0">
              <a:solidFill>
                <a:srgbClr val="0C0D0E"/>
              </a:solidFill>
              <a:effectLst/>
              <a:latin typeface="Trebuchet MS" panose="020B0603020202020204" pitchFamily="34" charset="0"/>
            </a:endParaRPr>
          </a:p>
          <a:p>
            <a:pPr marL="0" indent="0">
              <a:lnSpc>
                <a:spcPct val="120000"/>
              </a:lnSpc>
              <a:spcBef>
                <a:spcPts val="600"/>
              </a:spcBef>
              <a:buNone/>
            </a:pPr>
            <a:r>
              <a:rPr lang="zh-CN" altLang="en-US" sz="2400" b="1" dirty="0">
                <a:latin typeface="Trebuchet MS" panose="020B0603020202020204" pitchFamily="34" charset="0"/>
                <a:sym typeface="Symbol" panose="05050102010706020507" pitchFamily="18" charset="2"/>
              </a:rPr>
              <a:t> </a:t>
            </a:r>
            <a:r>
              <a:rPr lang="en-US" altLang="zh-CN" sz="2400" b="1" dirty="0">
                <a:latin typeface="Trebuchet MS" panose="020B0603020202020204" pitchFamily="34" charset="0"/>
                <a:sym typeface="Symbol" panose="05050102010706020507" pitchFamily="18" charset="2"/>
              </a:rPr>
              <a:t>	</a:t>
            </a:r>
            <a:r>
              <a:rPr lang="zh-CN" altLang="en-US"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xF</a:t>
            </a:r>
            <a:r>
              <a:rPr lang="en-US" altLang="zh-CN" sz="2400" b="1" dirty="0">
                <a:latin typeface="Trebuchet MS" panose="020B0603020202020204" pitchFamily="34" charset="0"/>
              </a:rPr>
              <a:t>(</a:t>
            </a:r>
            <a:r>
              <a:rPr lang="en-US" altLang="zh-CN" sz="2400" b="1" i="1" dirty="0">
                <a:latin typeface="Trebuchet MS" panose="020B0603020202020204" pitchFamily="34" charset="0"/>
              </a:rPr>
              <a:t>x</a:t>
            </a:r>
            <a:r>
              <a:rPr lang="en-US" altLang="zh-CN" sz="2400" b="1" dirty="0">
                <a:latin typeface="Trebuchet MS" panose="020B0603020202020204" pitchFamily="34" charset="0"/>
              </a:rPr>
              <a:t>)</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yG</a:t>
            </a:r>
            <a:r>
              <a:rPr lang="en-US" altLang="zh-CN" sz="2400" b="1" dirty="0">
                <a:latin typeface="Trebuchet MS" panose="020B0603020202020204" pitchFamily="34" charset="0"/>
              </a:rPr>
              <a:t>(</a:t>
            </a:r>
            <a:r>
              <a:rPr lang="en-US" altLang="zh-CN" sz="2400" b="1" i="1" dirty="0">
                <a:latin typeface="Trebuchet MS" panose="020B0603020202020204" pitchFamily="34" charset="0"/>
              </a:rPr>
              <a:t>y</a:t>
            </a:r>
            <a:r>
              <a:rPr lang="en-US" altLang="zh-CN" sz="2400" b="1" dirty="0">
                <a:latin typeface="Trebuchet MS" panose="020B0603020202020204" pitchFamily="34" charset="0"/>
              </a:rPr>
              <a:t>) </a:t>
            </a:r>
            <a:r>
              <a:rPr lang="en-US" altLang="zh-CN" sz="2400" b="1" dirty="0">
                <a:latin typeface="Trebuchet MS" panose="020B0603020202020204" pitchFamily="34" charset="0"/>
                <a:sym typeface="Symbol" panose="05050102010706020507" pitchFamily="18" charset="2"/>
              </a:rPr>
              <a:t> </a:t>
            </a:r>
            <a:r>
              <a:rPr lang="en-US" altLang="zh-CN" sz="2400" b="1" i="1" dirty="0">
                <a:latin typeface="Trebuchet MS" panose="020B0603020202020204" pitchFamily="34" charset="0"/>
              </a:rPr>
              <a:t>xF</a:t>
            </a:r>
            <a:r>
              <a:rPr lang="en-US" altLang="zh-CN" sz="2400" b="1" dirty="0">
                <a:latin typeface="Trebuchet MS" panose="020B0603020202020204" pitchFamily="34" charset="0"/>
              </a:rPr>
              <a:t>(</a:t>
            </a:r>
            <a:r>
              <a:rPr lang="en-US" altLang="zh-CN" sz="2400" b="1" i="1" dirty="0">
                <a:latin typeface="Trebuchet MS" panose="020B0603020202020204" pitchFamily="34" charset="0"/>
              </a:rPr>
              <a:t>x</a:t>
            </a:r>
            <a:r>
              <a:rPr lang="en-US" altLang="zh-CN" sz="2400" b="1" dirty="0">
                <a:latin typeface="Trebuchet MS" panose="020B0603020202020204" pitchFamily="34" charset="0"/>
              </a:rPr>
              <a:t>)</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yG</a:t>
            </a:r>
            <a:r>
              <a:rPr lang="en-US" altLang="zh-CN" sz="2400" b="1" dirty="0">
                <a:latin typeface="Trebuchet MS" panose="020B0603020202020204" pitchFamily="34" charset="0"/>
              </a:rPr>
              <a:t>(</a:t>
            </a:r>
            <a:r>
              <a:rPr lang="en-US" altLang="zh-CN" sz="2400" b="1" i="1" dirty="0">
                <a:latin typeface="Trebuchet MS" panose="020B0603020202020204" pitchFamily="34" charset="0"/>
              </a:rPr>
              <a:t>y</a:t>
            </a:r>
            <a:r>
              <a:rPr lang="en-US" altLang="zh-CN" sz="2400" b="1" dirty="0">
                <a:latin typeface="Trebuchet MS" panose="020B0603020202020204" pitchFamily="34" charset="0"/>
              </a:rPr>
              <a:t>)</a:t>
            </a:r>
          </a:p>
          <a:p>
            <a:pPr eaLnBrk="1" hangingPunct="1">
              <a:lnSpc>
                <a:spcPct val="120000"/>
              </a:lnSpc>
              <a:spcBef>
                <a:spcPts val="600"/>
              </a:spcBef>
              <a:buFont typeface="Wingdings" panose="05000000000000000000" pitchFamily="2" charset="2"/>
              <a:buNone/>
            </a:pPr>
            <a:r>
              <a:rPr lang="en-US" altLang="zh-CN" sz="2400" b="1" dirty="0">
                <a:latin typeface="Trebuchet MS" panose="020B0603020202020204" pitchFamily="34" charset="0"/>
              </a:rPr>
              <a:t>        </a:t>
            </a:r>
            <a:r>
              <a:rPr lang="en-US" altLang="zh-CN" sz="2400" b="1" dirty="0">
                <a:latin typeface="Trebuchet MS" panose="020B0603020202020204" pitchFamily="34" charset="0"/>
                <a:sym typeface="Symbol" panose="05050102010706020507" pitchFamily="18" charset="2"/>
              </a:rPr>
              <a:t></a:t>
            </a:r>
            <a:r>
              <a:rPr lang="en-US" altLang="zh-CN" sz="2400" b="1" dirty="0">
                <a:latin typeface="Trebuchet MS" panose="020B0603020202020204" pitchFamily="34" charset="0"/>
              </a:rPr>
              <a:t>(</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xF</a:t>
            </a:r>
            <a:r>
              <a:rPr lang="en-US" altLang="zh-CN" sz="2400" b="1" dirty="0">
                <a:latin typeface="Trebuchet MS" panose="020B0603020202020204" pitchFamily="34" charset="0"/>
              </a:rPr>
              <a:t>(</a:t>
            </a:r>
            <a:r>
              <a:rPr lang="en-US" altLang="zh-CN" sz="2400" b="1" i="1" dirty="0">
                <a:latin typeface="Trebuchet MS" panose="020B0603020202020204" pitchFamily="34" charset="0"/>
              </a:rPr>
              <a:t>x</a:t>
            </a:r>
            <a:r>
              <a:rPr lang="en-US" altLang="zh-CN" sz="2400" b="1" dirty="0">
                <a:latin typeface="Trebuchet MS" panose="020B0603020202020204" pitchFamily="34" charset="0"/>
              </a:rPr>
              <a:t>)</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yG</a:t>
            </a:r>
            <a:r>
              <a:rPr lang="en-US" altLang="zh-CN" sz="2400" b="1" dirty="0">
                <a:latin typeface="Trebuchet MS" panose="020B0603020202020204" pitchFamily="34" charset="0"/>
              </a:rPr>
              <a:t>(</a:t>
            </a:r>
            <a:r>
              <a:rPr lang="en-US" altLang="zh-CN" sz="2400" b="1" i="1" dirty="0">
                <a:latin typeface="Trebuchet MS" panose="020B0603020202020204" pitchFamily="34" charset="0"/>
              </a:rPr>
              <a:t>y</a:t>
            </a:r>
            <a:r>
              <a:rPr lang="en-US" altLang="zh-CN" sz="2400" b="1" dirty="0">
                <a:latin typeface="Trebuchet MS" panose="020B0603020202020204" pitchFamily="34" charset="0"/>
              </a:rPr>
              <a:t>)) </a:t>
            </a:r>
            <a:r>
              <a:rPr lang="en-US" altLang="zh-CN" sz="2400" b="1" dirty="0">
                <a:latin typeface="Trebuchet MS" panose="020B0603020202020204" pitchFamily="34" charset="0"/>
                <a:sym typeface="Symbol" panose="05050102010706020507" pitchFamily="18" charset="2"/>
              </a:rPr>
              <a:t> </a:t>
            </a:r>
            <a:r>
              <a:rPr lang="en-US" altLang="zh-CN" sz="2400" b="1" i="1" dirty="0">
                <a:latin typeface="Trebuchet MS" panose="020B0603020202020204" pitchFamily="34" charset="0"/>
              </a:rPr>
              <a:t>xF</a:t>
            </a:r>
            <a:r>
              <a:rPr lang="en-US" altLang="zh-CN" sz="2400" b="1" dirty="0">
                <a:latin typeface="Trebuchet MS" panose="020B0603020202020204" pitchFamily="34" charset="0"/>
              </a:rPr>
              <a:t>(</a:t>
            </a:r>
            <a:r>
              <a:rPr lang="en-US" altLang="zh-CN" sz="2400" b="1" i="1" dirty="0">
                <a:latin typeface="Trebuchet MS" panose="020B0603020202020204" pitchFamily="34" charset="0"/>
              </a:rPr>
              <a:t>x</a:t>
            </a:r>
            <a:r>
              <a:rPr lang="en-US" altLang="zh-CN" sz="2400" b="1" dirty="0">
                <a:latin typeface="Trebuchet MS" panose="020B0603020202020204" pitchFamily="34" charset="0"/>
              </a:rPr>
              <a:t>)</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yG</a:t>
            </a:r>
            <a:r>
              <a:rPr lang="en-US" altLang="zh-CN" sz="2400" b="1" dirty="0">
                <a:latin typeface="Trebuchet MS" panose="020B0603020202020204" pitchFamily="34" charset="0"/>
              </a:rPr>
              <a:t>(</a:t>
            </a:r>
            <a:r>
              <a:rPr lang="en-US" altLang="zh-CN" sz="2400" b="1" i="1" dirty="0">
                <a:latin typeface="Trebuchet MS" panose="020B0603020202020204" pitchFamily="34" charset="0"/>
              </a:rPr>
              <a:t>y</a:t>
            </a:r>
            <a:r>
              <a:rPr lang="en-US" altLang="zh-CN" sz="2400" b="1" dirty="0">
                <a:latin typeface="Trebuchet MS" panose="020B0603020202020204" pitchFamily="34" charset="0"/>
              </a:rPr>
              <a:t>)   and</a:t>
            </a:r>
            <a:r>
              <a:rPr lang="zh-CN" altLang="en-US" sz="2400" b="1" dirty="0">
                <a:latin typeface="Trebuchet MS" panose="020B0603020202020204" pitchFamily="34" charset="0"/>
              </a:rPr>
              <a:t> </a:t>
            </a:r>
            <a:r>
              <a:rPr lang="en-US" altLang="zh-CN" sz="2400" b="1" dirty="0">
                <a:latin typeface="Trebuchet MS" panose="020B0603020202020204" pitchFamily="34" charset="0"/>
              </a:rPr>
              <a:t>so</a:t>
            </a:r>
            <a:r>
              <a:rPr lang="zh-CN" altLang="en-US" sz="2400" b="1" dirty="0">
                <a:latin typeface="Trebuchet MS" panose="020B0603020202020204" pitchFamily="34" charset="0"/>
              </a:rPr>
              <a:t> </a:t>
            </a:r>
            <a:r>
              <a:rPr lang="en-US" altLang="zh-CN" sz="2400" b="1" dirty="0">
                <a:latin typeface="Trebuchet MS" panose="020B0603020202020204" pitchFamily="34" charset="0"/>
              </a:rPr>
              <a:t>on</a:t>
            </a:r>
          </a:p>
          <a:p>
            <a:pPr eaLnBrk="1" hangingPunct="1">
              <a:lnSpc>
                <a:spcPct val="120000"/>
              </a:lnSpc>
              <a:spcBef>
                <a:spcPts val="600"/>
              </a:spcBef>
              <a:buFont typeface="Wingdings" panose="05000000000000000000" pitchFamily="2" charset="2"/>
              <a:buNone/>
            </a:pPr>
            <a:endParaRPr lang="zh-CN" altLang="en-US" sz="2400" b="1" dirty="0">
              <a:latin typeface="Trebuchet MS" panose="020B0603020202020204" pitchFamily="34" charset="0"/>
            </a:endParaRPr>
          </a:p>
          <a:p>
            <a:pPr eaLnBrk="1" hangingPunct="1">
              <a:lnSpc>
                <a:spcPct val="120000"/>
              </a:lnSpc>
              <a:spcBef>
                <a:spcPts val="600"/>
              </a:spcBef>
              <a:buClr>
                <a:schemeClr val="bg2"/>
              </a:buClr>
              <a:buSzPct val="75000"/>
              <a:buFont typeface="Wingdings" panose="05000000000000000000" pitchFamily="2" charset="2"/>
              <a:buNone/>
            </a:pPr>
            <a:endParaRPr kumimoji="0" lang="zh-CN" altLang="en-US" sz="2400" b="1" dirty="0">
              <a:latin typeface="Trebuchet MS" panose="020B0603020202020204" pitchFamily="34" charset="0"/>
            </a:endParaRPr>
          </a:p>
          <a:p>
            <a:pPr marL="457200" lvl="1" indent="0" eaLnBrk="1" hangingPunct="1">
              <a:lnSpc>
                <a:spcPct val="120000"/>
              </a:lnSpc>
              <a:spcBef>
                <a:spcPts val="600"/>
              </a:spcBef>
              <a:buNone/>
            </a:pPr>
            <a:endParaRPr lang="zh-CN" altLang="en-US" b="1" dirty="0">
              <a:latin typeface="Trebuchet MS" panose="020B0603020202020204" pitchFamily="34" charset="0"/>
            </a:endParaRPr>
          </a:p>
        </p:txBody>
      </p:sp>
    </p:spTree>
    <p:extLst>
      <p:ext uri="{BB962C8B-B14F-4D97-AF65-F5344CB8AC3E}">
        <p14:creationId xmlns:p14="http://schemas.microsoft.com/office/powerpoint/2010/main" val="46377810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0">
                                            <p:txEl>
                                              <p:pRg st="1" end="1"/>
                                            </p:txEl>
                                          </p:spTgt>
                                        </p:tgtEl>
                                        <p:attrNameLst>
                                          <p:attrName>style.visibility</p:attrName>
                                        </p:attrNameLst>
                                      </p:cBhvr>
                                      <p:to>
                                        <p:strVal val="visible"/>
                                      </p:to>
                                    </p:set>
                                    <p:animEffect transition="in" filter="fade">
                                      <p:cBhvr>
                                        <p:cTn id="7" dur="1000"/>
                                        <p:tgtEl>
                                          <p:spTgt spid="10">
                                            <p:txEl>
                                              <p:pRg st="1" end="1"/>
                                            </p:txEl>
                                          </p:spTgt>
                                        </p:tgtEl>
                                      </p:cBhvr>
                                    </p:animEffect>
                                    <p:anim calcmode="lin" valueType="num">
                                      <p:cBhvr>
                                        <p:cTn id="8"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0">
                                            <p:txEl>
                                              <p:pRg st="2" end="2"/>
                                            </p:txEl>
                                          </p:spTgt>
                                        </p:tgtEl>
                                        <p:attrNameLst>
                                          <p:attrName>style.visibility</p:attrName>
                                        </p:attrNameLst>
                                      </p:cBhvr>
                                      <p:to>
                                        <p:strVal val="visible"/>
                                      </p:to>
                                    </p:set>
                                    <p:animEffect transition="in" filter="fade">
                                      <p:cBhvr>
                                        <p:cTn id="14" dur="1000"/>
                                        <p:tgtEl>
                                          <p:spTgt spid="10">
                                            <p:txEl>
                                              <p:pRg st="2" end="2"/>
                                            </p:txEl>
                                          </p:spTgt>
                                        </p:tgtEl>
                                      </p:cBhvr>
                                    </p:animEffect>
                                    <p:anim calcmode="lin" valueType="num">
                                      <p:cBhvr>
                                        <p:cTn id="15"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10">
                                            <p:txEl>
                                              <p:pRg st="2" end="2"/>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10">
                                            <p:txEl>
                                              <p:pRg st="3" end="3"/>
                                            </p:txEl>
                                          </p:spTgt>
                                        </p:tgtEl>
                                        <p:attrNameLst>
                                          <p:attrName>style.visibility</p:attrName>
                                        </p:attrNameLst>
                                      </p:cBhvr>
                                      <p:to>
                                        <p:strVal val="visible"/>
                                      </p:to>
                                    </p:set>
                                    <p:animEffect transition="in" filter="fade">
                                      <p:cBhvr>
                                        <p:cTn id="19" dur="1000"/>
                                        <p:tgtEl>
                                          <p:spTgt spid="10">
                                            <p:txEl>
                                              <p:pRg st="3" end="3"/>
                                            </p:txEl>
                                          </p:spTgt>
                                        </p:tgtEl>
                                      </p:cBhvr>
                                    </p:animEffect>
                                    <p:anim calcmode="lin" valueType="num">
                                      <p:cBhvr>
                                        <p:cTn id="20" dur="1000" fill="hold"/>
                                        <p:tgtEl>
                                          <p:spTgt spid="10">
                                            <p:txEl>
                                              <p:pRg st="3" end="3"/>
                                            </p:txEl>
                                          </p:spTgt>
                                        </p:tgtEl>
                                        <p:attrNameLst>
                                          <p:attrName>ppt_x</p:attrName>
                                        </p:attrNameLst>
                                      </p:cBhvr>
                                      <p:tavLst>
                                        <p:tav tm="0">
                                          <p:val>
                                            <p:strVal val="#ppt_x"/>
                                          </p:val>
                                        </p:tav>
                                        <p:tav tm="100000">
                                          <p:val>
                                            <p:strVal val="#ppt_x"/>
                                          </p:val>
                                        </p:tav>
                                      </p:tavLst>
                                    </p:anim>
                                    <p:anim calcmode="lin" valueType="num">
                                      <p:cBhvr>
                                        <p:cTn id="21" dur="1000" fill="hold"/>
                                        <p:tgtEl>
                                          <p:spTgt spid="10">
                                            <p:txEl>
                                              <p:pRg st="3" end="3"/>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10">
                                            <p:txEl>
                                              <p:pRg st="4" end="4"/>
                                            </p:txEl>
                                          </p:spTgt>
                                        </p:tgtEl>
                                        <p:attrNameLst>
                                          <p:attrName>style.visibility</p:attrName>
                                        </p:attrNameLst>
                                      </p:cBhvr>
                                      <p:to>
                                        <p:strVal val="visible"/>
                                      </p:to>
                                    </p:set>
                                    <p:animEffect transition="in" filter="fade">
                                      <p:cBhvr>
                                        <p:cTn id="24" dur="1000"/>
                                        <p:tgtEl>
                                          <p:spTgt spid="10">
                                            <p:txEl>
                                              <p:pRg st="4" end="4"/>
                                            </p:txEl>
                                          </p:spTgt>
                                        </p:tgtEl>
                                      </p:cBhvr>
                                    </p:animEffect>
                                    <p:anim calcmode="lin" valueType="num">
                                      <p:cBhvr>
                                        <p:cTn id="25" dur="1000" fill="hold"/>
                                        <p:tgtEl>
                                          <p:spTgt spid="10">
                                            <p:txEl>
                                              <p:pRg st="4" end="4"/>
                                            </p:txEl>
                                          </p:spTgt>
                                        </p:tgtEl>
                                        <p:attrNameLst>
                                          <p:attrName>ppt_x</p:attrName>
                                        </p:attrNameLst>
                                      </p:cBhvr>
                                      <p:tavLst>
                                        <p:tav tm="0">
                                          <p:val>
                                            <p:strVal val="#ppt_x"/>
                                          </p:val>
                                        </p:tav>
                                        <p:tav tm="100000">
                                          <p:val>
                                            <p:strVal val="#ppt_x"/>
                                          </p:val>
                                        </p:tav>
                                      </p:tavLst>
                                    </p:anim>
                                    <p:anim calcmode="lin" valueType="num">
                                      <p:cBhvr>
                                        <p:cTn id="26" dur="1000" fill="hold"/>
                                        <p:tgtEl>
                                          <p:spTgt spid="10">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i="0" dirty="0">
                <a:solidFill>
                  <a:schemeClr val="bg1"/>
                </a:solidFill>
                <a:effectLst/>
                <a:latin typeface="Trebuchet MS" panose="020B0603020202020204" pitchFamily="34" charset="0"/>
              </a:rPr>
              <a:t>3.2.1 First-Order Logic Equivalences and Substitution Rules</a:t>
            </a:r>
          </a:p>
          <a:p>
            <a:r>
              <a:rPr lang="en-US" altLang="zh-CN" sz="1800"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dirty="0"/>
              <a:t> </a:t>
            </a:r>
            <a:r>
              <a:rPr lang="en-US" altLang="zh-CN" sz="2400" b="1" i="0" dirty="0">
                <a:solidFill>
                  <a:schemeClr val="bg1"/>
                </a:solidFill>
                <a:effectLst/>
                <a:latin typeface="Trebuchet MS" panose="020B0603020202020204" pitchFamily="34" charset="0"/>
              </a:rPr>
              <a:t>Quantifier Elimination Equivalences</a:t>
            </a:r>
            <a:endParaRPr lang="en-US" altLang="zh-CN" sz="2000" b="1" dirty="0">
              <a:solidFill>
                <a:schemeClr val="bg1"/>
              </a:solidFill>
              <a:effectLst/>
              <a:latin typeface="Trebuchet MS" panose="020B0603020202020204" pitchFamily="34" charset="0"/>
              <a:ea typeface="Cambria Math" panose="02040503050406030204" pitchFamily="18" charset="0"/>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0" name="Rectangle 3">
            <a:extLst>
              <a:ext uri="{FF2B5EF4-FFF2-40B4-BE49-F238E27FC236}">
                <a16:creationId xmlns:a16="http://schemas.microsoft.com/office/drawing/2014/main" id="{8C4E7262-5A22-44F6-A0DA-6CD88C657AE7}"/>
              </a:ext>
            </a:extLst>
          </p:cNvPr>
          <p:cNvSpPr txBox="1">
            <a:spLocks noChangeArrowheads="1"/>
          </p:cNvSpPr>
          <p:nvPr/>
        </p:nvSpPr>
        <p:spPr>
          <a:xfrm>
            <a:off x="912403" y="937776"/>
            <a:ext cx="9190176" cy="3075960"/>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lnSpc>
                <a:spcPct val="120000"/>
              </a:lnSpc>
              <a:spcBef>
                <a:spcPts val="600"/>
              </a:spcBef>
              <a:buClr>
                <a:srgbClr val="0B61FF"/>
              </a:buClr>
              <a:buSzPct val="80000"/>
              <a:buFont typeface="Wingdings" panose="05000000000000000000" pitchFamily="2" charset="2"/>
              <a:buChar char="n"/>
            </a:pPr>
            <a:r>
              <a:rPr lang="en-US" sz="2400" b="1" i="0" dirty="0">
                <a:solidFill>
                  <a:srgbClr val="0C0D0E"/>
                </a:solidFill>
                <a:effectLst/>
                <a:latin typeface="Trebuchet MS" panose="020B0603020202020204" pitchFamily="34" charset="0"/>
              </a:rPr>
              <a:t>Quantifier Elimination Equivalences</a:t>
            </a:r>
            <a:r>
              <a:rPr lang="en-US" sz="2400" b="0" i="0" dirty="0">
                <a:solidFill>
                  <a:srgbClr val="0C0D0E"/>
                </a:solidFill>
                <a:effectLst/>
                <a:latin typeface="Trebuchet MS" panose="020B0603020202020204" pitchFamily="34" charset="0"/>
              </a:rPr>
              <a:t>:</a:t>
            </a:r>
            <a:r>
              <a:rPr lang="en-US" altLang="zh-CN" sz="1600" dirty="0"/>
              <a:t> </a:t>
            </a:r>
            <a:r>
              <a:rPr lang="en-US" altLang="zh-CN" sz="2400" dirty="0">
                <a:latin typeface="Trebuchet MS" panose="020B0603020202020204" pitchFamily="34" charset="0"/>
              </a:rPr>
              <a:t>To</a:t>
            </a:r>
            <a:r>
              <a:rPr lang="en-US" altLang="zh-CN" sz="1600" dirty="0"/>
              <a:t> </a:t>
            </a:r>
            <a:r>
              <a:rPr lang="en-US" altLang="zh-CN" sz="2400" dirty="0">
                <a:latin typeface="Trebuchet MS" panose="020B0603020202020204" pitchFamily="34" charset="0"/>
              </a:rPr>
              <a:t>transform logical expressions to remove quantifiers (</a:t>
            </a:r>
            <a:r>
              <a:rPr lang="en-US" altLang="zh-CN" sz="2400" b="1" dirty="0">
                <a:latin typeface="Trebuchet MS" panose="020B0603020202020204" pitchFamily="34" charset="0"/>
              </a:rPr>
              <a:t>∃, ∀</a:t>
            </a:r>
            <a:r>
              <a:rPr lang="en-US" altLang="zh-CN" sz="2400" dirty="0">
                <a:latin typeface="Trebuchet MS" panose="020B0603020202020204" pitchFamily="34" charset="0"/>
              </a:rPr>
              <a:t>), yielding an equivalent </a:t>
            </a:r>
            <a:r>
              <a:rPr lang="en-US" altLang="zh-CN" sz="2400" b="1" dirty="0">
                <a:latin typeface="Trebuchet MS" panose="020B0603020202020204" pitchFamily="34" charset="0"/>
              </a:rPr>
              <a:t>quantifier-free</a:t>
            </a:r>
            <a:r>
              <a:rPr lang="en-US" altLang="zh-CN" sz="2400" dirty="0">
                <a:latin typeface="Trebuchet MS" panose="020B0603020202020204" pitchFamily="34" charset="0"/>
              </a:rPr>
              <a:t> form.</a:t>
            </a:r>
            <a:endParaRPr lang="en-US" sz="2400" dirty="0">
              <a:latin typeface="Trebuchet MS" panose="020B0603020202020204" pitchFamily="34" charset="0"/>
            </a:endParaRPr>
          </a:p>
          <a:p>
            <a:pPr marL="355600" indent="41275" algn="l">
              <a:lnSpc>
                <a:spcPct val="120000"/>
              </a:lnSpc>
              <a:spcBef>
                <a:spcPts val="600"/>
              </a:spcBef>
              <a:buClr>
                <a:srgbClr val="0B61FF"/>
              </a:buClr>
              <a:buSzPct val="120000"/>
            </a:pPr>
            <a:r>
              <a:rPr lang="en-US" altLang="zh-CN" sz="2400" b="1" dirty="0">
                <a:latin typeface="Trebuchet MS" panose="020B0603020202020204" pitchFamily="34" charset="0"/>
              </a:rPr>
              <a:t> Let </a:t>
            </a:r>
            <a:r>
              <a:rPr lang="en-US" altLang="zh-CN" sz="2400" b="1" i="1" dirty="0">
                <a:latin typeface="Trebuchet MS" panose="020B0603020202020204" pitchFamily="34" charset="0"/>
              </a:rPr>
              <a:t>D</a:t>
            </a:r>
            <a:r>
              <a:rPr lang="en-US" altLang="zh-CN" sz="2400" b="1" dirty="0">
                <a:latin typeface="Trebuchet MS" panose="020B0603020202020204" pitchFamily="34" charset="0"/>
              </a:rPr>
              <a:t>={</a:t>
            </a:r>
            <a:r>
              <a:rPr lang="en-US" altLang="zh-CN" sz="2400" b="1" i="1" dirty="0">
                <a:latin typeface="Trebuchet MS" panose="020B0603020202020204" pitchFamily="34" charset="0"/>
              </a:rPr>
              <a:t>a</a:t>
            </a:r>
            <a:r>
              <a:rPr lang="en-US" altLang="zh-CN" sz="2400" b="1" baseline="-30000" dirty="0">
                <a:latin typeface="Trebuchet MS" panose="020B0603020202020204" pitchFamily="34" charset="0"/>
              </a:rPr>
              <a:t>1</a:t>
            </a:r>
            <a:r>
              <a:rPr lang="en-US" altLang="zh-CN" sz="2400" b="1" dirty="0">
                <a:latin typeface="Trebuchet MS" panose="020B0603020202020204" pitchFamily="34" charset="0"/>
              </a:rPr>
              <a:t>,</a:t>
            </a:r>
            <a:r>
              <a:rPr lang="en-US" altLang="zh-CN" sz="2400" b="1" i="1" dirty="0">
                <a:latin typeface="Trebuchet MS" panose="020B0603020202020204" pitchFamily="34" charset="0"/>
              </a:rPr>
              <a:t>a</a:t>
            </a:r>
            <a:r>
              <a:rPr lang="en-US" altLang="zh-CN" sz="2400" b="1" baseline="-30000" dirty="0">
                <a:latin typeface="Trebuchet MS" panose="020B0603020202020204" pitchFamily="34" charset="0"/>
              </a:rPr>
              <a:t>2</a:t>
            </a:r>
            <a:r>
              <a:rPr lang="en-US" altLang="zh-CN" sz="2400" b="1" dirty="0">
                <a:latin typeface="Trebuchet MS" panose="020B0603020202020204" pitchFamily="34" charset="0"/>
              </a:rPr>
              <a:t>,…,</a:t>
            </a:r>
            <a:r>
              <a:rPr lang="en-US" altLang="zh-CN" sz="2400" b="1" i="1" dirty="0">
                <a:latin typeface="Trebuchet MS" panose="020B0603020202020204" pitchFamily="34" charset="0"/>
              </a:rPr>
              <a:t>a</a:t>
            </a:r>
            <a:r>
              <a:rPr lang="en-US" altLang="zh-CN" sz="2400" b="1" i="1" baseline="-30000" dirty="0">
                <a:latin typeface="Trebuchet MS" panose="020B0603020202020204" pitchFamily="34" charset="0"/>
              </a:rPr>
              <a:t>n</a:t>
            </a:r>
            <a:r>
              <a:rPr lang="en-US" altLang="zh-CN" sz="2400" b="1" dirty="0">
                <a:latin typeface="Trebuchet MS" panose="020B0603020202020204" pitchFamily="34" charset="0"/>
              </a:rPr>
              <a:t>} </a:t>
            </a:r>
          </a:p>
          <a:p>
            <a:pPr eaLnBrk="1" hangingPunct="1">
              <a:lnSpc>
                <a:spcPct val="120000"/>
              </a:lnSpc>
              <a:spcBef>
                <a:spcPts val="600"/>
              </a:spcBef>
              <a:buFontTx/>
              <a:buNone/>
            </a:pPr>
            <a:r>
              <a:rPr lang="en-US" altLang="zh-CN" sz="2400" b="1" dirty="0">
                <a:latin typeface="Trebuchet MS" panose="020B0603020202020204" pitchFamily="34" charset="0"/>
                <a:sym typeface="Symbol" panose="05050102010706020507" pitchFamily="18" charset="2"/>
              </a:rPr>
              <a:t>     </a:t>
            </a:r>
            <a:r>
              <a:rPr lang="en-US" altLang="zh-CN" sz="2400" b="1" i="1" dirty="0">
                <a:latin typeface="Trebuchet MS" panose="020B0603020202020204" pitchFamily="34" charset="0"/>
              </a:rPr>
              <a:t>xA</a:t>
            </a:r>
            <a:r>
              <a:rPr lang="en-US" altLang="zh-CN" sz="2400" b="1" dirty="0">
                <a:latin typeface="Trebuchet MS" panose="020B0603020202020204" pitchFamily="34" charset="0"/>
              </a:rPr>
              <a:t>(</a:t>
            </a:r>
            <a:r>
              <a:rPr lang="en-US" altLang="zh-CN" sz="2400" b="1" i="1" dirty="0">
                <a:latin typeface="Trebuchet MS" panose="020B0603020202020204" pitchFamily="34" charset="0"/>
              </a:rPr>
              <a:t>x</a:t>
            </a:r>
            <a:r>
              <a:rPr lang="en-US" altLang="zh-CN" sz="2400" b="1" dirty="0">
                <a:latin typeface="Trebuchet MS" panose="020B0603020202020204" pitchFamily="34" charset="0"/>
              </a:rPr>
              <a:t>)</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A</a:t>
            </a:r>
            <a:r>
              <a:rPr lang="en-US" altLang="zh-CN" sz="2400" b="1" dirty="0">
                <a:latin typeface="Trebuchet MS" panose="020B0603020202020204" pitchFamily="34" charset="0"/>
              </a:rPr>
              <a:t>(</a:t>
            </a:r>
            <a:r>
              <a:rPr lang="en-US" altLang="zh-CN" sz="2400" b="1" i="1" dirty="0">
                <a:latin typeface="Trebuchet MS" panose="020B0603020202020204" pitchFamily="34" charset="0"/>
              </a:rPr>
              <a:t>a</a:t>
            </a:r>
            <a:r>
              <a:rPr lang="en-US" altLang="zh-CN" sz="2400" b="1" baseline="-30000" dirty="0">
                <a:latin typeface="Trebuchet MS" panose="020B0603020202020204" pitchFamily="34" charset="0"/>
              </a:rPr>
              <a:t>1</a:t>
            </a:r>
            <a:r>
              <a:rPr lang="en-US" altLang="zh-CN" sz="2400" b="1" dirty="0">
                <a:latin typeface="Trebuchet MS" panose="020B0603020202020204" pitchFamily="34" charset="0"/>
              </a:rPr>
              <a:t>)</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A</a:t>
            </a:r>
            <a:r>
              <a:rPr lang="en-US" altLang="zh-CN" sz="2400" b="1" dirty="0">
                <a:latin typeface="Trebuchet MS" panose="020B0603020202020204" pitchFamily="34" charset="0"/>
              </a:rPr>
              <a:t>(</a:t>
            </a:r>
            <a:r>
              <a:rPr lang="en-US" altLang="zh-CN" sz="2400" b="1" i="1" dirty="0">
                <a:latin typeface="Trebuchet MS" panose="020B0603020202020204" pitchFamily="34" charset="0"/>
              </a:rPr>
              <a:t>a</a:t>
            </a:r>
            <a:r>
              <a:rPr lang="en-US" altLang="zh-CN" sz="2400" b="1" baseline="-30000" dirty="0">
                <a:latin typeface="Trebuchet MS" panose="020B0603020202020204" pitchFamily="34" charset="0"/>
              </a:rPr>
              <a:t>2</a:t>
            </a:r>
            <a:r>
              <a:rPr lang="en-US" altLang="zh-CN" sz="2400" b="1" dirty="0">
                <a:latin typeface="Trebuchet MS" panose="020B0603020202020204" pitchFamily="34" charset="0"/>
              </a:rPr>
              <a:t>)</a:t>
            </a:r>
            <a:r>
              <a:rPr lang="en-US" altLang="zh-CN" sz="2400" b="1" dirty="0">
                <a:latin typeface="Trebuchet MS" panose="020B0603020202020204" pitchFamily="34" charset="0"/>
                <a:sym typeface="Symbol" panose="05050102010706020507" pitchFamily="18" charset="2"/>
              </a:rPr>
              <a:t></a:t>
            </a:r>
            <a:r>
              <a:rPr lang="en-US" altLang="zh-CN" sz="2400" b="1" dirty="0">
                <a:latin typeface="Trebuchet MS" panose="020B0603020202020204" pitchFamily="34" charset="0"/>
              </a:rPr>
              <a:t>…</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A</a:t>
            </a:r>
            <a:r>
              <a:rPr lang="en-US" altLang="zh-CN" sz="2400" b="1" dirty="0">
                <a:latin typeface="Trebuchet MS" panose="020B0603020202020204" pitchFamily="34" charset="0"/>
              </a:rPr>
              <a:t>(</a:t>
            </a:r>
            <a:r>
              <a:rPr lang="en-US" altLang="zh-CN" sz="2400" b="1" i="1" dirty="0">
                <a:latin typeface="Trebuchet MS" panose="020B0603020202020204" pitchFamily="34" charset="0"/>
              </a:rPr>
              <a:t>a</a:t>
            </a:r>
            <a:r>
              <a:rPr lang="en-US" altLang="zh-CN" sz="2400" b="1" i="1" baseline="-30000" dirty="0">
                <a:latin typeface="Trebuchet MS" panose="020B0603020202020204" pitchFamily="34" charset="0"/>
              </a:rPr>
              <a:t>n</a:t>
            </a:r>
            <a:r>
              <a:rPr lang="en-US" altLang="zh-CN" sz="2400" b="1" dirty="0">
                <a:latin typeface="Trebuchet MS" panose="020B0603020202020204" pitchFamily="34" charset="0"/>
              </a:rPr>
              <a:t>) </a:t>
            </a:r>
          </a:p>
          <a:p>
            <a:pPr eaLnBrk="1" hangingPunct="1">
              <a:lnSpc>
                <a:spcPct val="120000"/>
              </a:lnSpc>
              <a:spcBef>
                <a:spcPts val="600"/>
              </a:spcBef>
              <a:buFontTx/>
              <a:buNone/>
            </a:pPr>
            <a:r>
              <a:rPr lang="en-US" altLang="zh-CN" sz="2400" b="1" dirty="0">
                <a:latin typeface="Trebuchet MS" panose="020B0603020202020204" pitchFamily="34" charset="0"/>
                <a:sym typeface="Symbol" panose="05050102010706020507" pitchFamily="18" charset="2"/>
              </a:rPr>
              <a:t>     </a:t>
            </a:r>
            <a:r>
              <a:rPr lang="en-US" altLang="zh-CN" sz="2400" b="1" i="1" dirty="0">
                <a:latin typeface="Trebuchet MS" panose="020B0603020202020204" pitchFamily="34" charset="0"/>
              </a:rPr>
              <a:t>xA</a:t>
            </a:r>
            <a:r>
              <a:rPr lang="en-US" altLang="zh-CN" sz="2400" b="1" dirty="0">
                <a:latin typeface="Trebuchet MS" panose="020B0603020202020204" pitchFamily="34" charset="0"/>
              </a:rPr>
              <a:t>(</a:t>
            </a:r>
            <a:r>
              <a:rPr lang="en-US" altLang="zh-CN" sz="2400" b="1" i="1" dirty="0">
                <a:latin typeface="Trebuchet MS" panose="020B0603020202020204" pitchFamily="34" charset="0"/>
              </a:rPr>
              <a:t>x</a:t>
            </a:r>
            <a:r>
              <a:rPr lang="en-US" altLang="zh-CN" sz="2400" b="1" dirty="0">
                <a:latin typeface="Trebuchet MS" panose="020B0603020202020204" pitchFamily="34" charset="0"/>
              </a:rPr>
              <a:t>)</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A</a:t>
            </a:r>
            <a:r>
              <a:rPr lang="en-US" altLang="zh-CN" sz="2400" b="1" dirty="0">
                <a:latin typeface="Trebuchet MS" panose="020B0603020202020204" pitchFamily="34" charset="0"/>
              </a:rPr>
              <a:t>(</a:t>
            </a:r>
            <a:r>
              <a:rPr lang="en-US" altLang="zh-CN" sz="2400" b="1" i="1" dirty="0">
                <a:latin typeface="Trebuchet MS" panose="020B0603020202020204" pitchFamily="34" charset="0"/>
              </a:rPr>
              <a:t>a</a:t>
            </a:r>
            <a:r>
              <a:rPr lang="en-US" altLang="zh-CN" sz="2400" b="1" baseline="-30000" dirty="0">
                <a:latin typeface="Trebuchet MS" panose="020B0603020202020204" pitchFamily="34" charset="0"/>
              </a:rPr>
              <a:t>1</a:t>
            </a:r>
            <a:r>
              <a:rPr lang="en-US" altLang="zh-CN" sz="2400" b="1" dirty="0">
                <a:latin typeface="Trebuchet MS" panose="020B0603020202020204" pitchFamily="34" charset="0"/>
              </a:rPr>
              <a:t>)</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A</a:t>
            </a:r>
            <a:r>
              <a:rPr lang="en-US" altLang="zh-CN" sz="2400" b="1" dirty="0">
                <a:latin typeface="Trebuchet MS" panose="020B0603020202020204" pitchFamily="34" charset="0"/>
              </a:rPr>
              <a:t>(</a:t>
            </a:r>
            <a:r>
              <a:rPr lang="en-US" altLang="zh-CN" sz="2400" b="1" i="1" dirty="0">
                <a:latin typeface="Trebuchet MS" panose="020B0603020202020204" pitchFamily="34" charset="0"/>
              </a:rPr>
              <a:t>a</a:t>
            </a:r>
            <a:r>
              <a:rPr lang="en-US" altLang="zh-CN" sz="2400" b="1" baseline="-30000" dirty="0">
                <a:latin typeface="Trebuchet MS" panose="020B0603020202020204" pitchFamily="34" charset="0"/>
              </a:rPr>
              <a:t>2</a:t>
            </a:r>
            <a:r>
              <a:rPr lang="en-US" altLang="zh-CN" sz="2400" b="1" dirty="0">
                <a:latin typeface="Trebuchet MS" panose="020B0603020202020204" pitchFamily="34" charset="0"/>
              </a:rPr>
              <a:t>)</a:t>
            </a:r>
            <a:r>
              <a:rPr lang="en-US" altLang="zh-CN" sz="2400" b="1" dirty="0">
                <a:latin typeface="Trebuchet MS" panose="020B0603020202020204" pitchFamily="34" charset="0"/>
                <a:sym typeface="Symbol" panose="05050102010706020507" pitchFamily="18" charset="2"/>
              </a:rPr>
              <a:t></a:t>
            </a:r>
            <a:r>
              <a:rPr lang="en-US" altLang="zh-CN" sz="2400" b="1" dirty="0">
                <a:latin typeface="Trebuchet MS" panose="020B0603020202020204" pitchFamily="34" charset="0"/>
              </a:rPr>
              <a:t>…</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A</a:t>
            </a:r>
            <a:r>
              <a:rPr lang="en-US" altLang="zh-CN" sz="2400" b="1" dirty="0">
                <a:latin typeface="Trebuchet MS" panose="020B0603020202020204" pitchFamily="34" charset="0"/>
              </a:rPr>
              <a:t>(</a:t>
            </a:r>
            <a:r>
              <a:rPr lang="en-US" altLang="zh-CN" sz="2400" b="1" i="1" dirty="0">
                <a:latin typeface="Trebuchet MS" panose="020B0603020202020204" pitchFamily="34" charset="0"/>
              </a:rPr>
              <a:t>a</a:t>
            </a:r>
            <a:r>
              <a:rPr lang="en-US" altLang="zh-CN" sz="2400" b="1" i="1" baseline="-30000" dirty="0">
                <a:latin typeface="Trebuchet MS" panose="020B0603020202020204" pitchFamily="34" charset="0"/>
              </a:rPr>
              <a:t>n</a:t>
            </a:r>
            <a:r>
              <a:rPr lang="en-US" altLang="zh-CN" sz="2400" b="1" dirty="0">
                <a:latin typeface="Trebuchet MS" panose="020B0603020202020204" pitchFamily="34" charset="0"/>
              </a:rPr>
              <a:t>)</a:t>
            </a:r>
          </a:p>
          <a:p>
            <a:pPr eaLnBrk="1" hangingPunct="1">
              <a:lnSpc>
                <a:spcPct val="120000"/>
              </a:lnSpc>
              <a:spcBef>
                <a:spcPts val="600"/>
              </a:spcBef>
              <a:buFont typeface="Wingdings" panose="05000000000000000000" pitchFamily="2" charset="2"/>
              <a:buNone/>
            </a:pPr>
            <a:endParaRPr lang="zh-CN" altLang="en-US" sz="2400" b="1" dirty="0">
              <a:latin typeface="Trebuchet MS" panose="020B0603020202020204" pitchFamily="34" charset="0"/>
            </a:endParaRPr>
          </a:p>
          <a:p>
            <a:pPr eaLnBrk="1" hangingPunct="1">
              <a:lnSpc>
                <a:spcPct val="120000"/>
              </a:lnSpc>
              <a:spcBef>
                <a:spcPts val="600"/>
              </a:spcBef>
              <a:buClr>
                <a:schemeClr val="bg2"/>
              </a:buClr>
              <a:buSzPct val="75000"/>
              <a:buFont typeface="Wingdings" panose="05000000000000000000" pitchFamily="2" charset="2"/>
              <a:buNone/>
            </a:pPr>
            <a:endParaRPr kumimoji="0" lang="zh-CN" altLang="en-US" sz="2400" b="1" dirty="0">
              <a:latin typeface="Trebuchet MS" panose="020B0603020202020204" pitchFamily="34" charset="0"/>
            </a:endParaRPr>
          </a:p>
          <a:p>
            <a:pPr marL="457200" lvl="1" indent="0" eaLnBrk="1" hangingPunct="1">
              <a:lnSpc>
                <a:spcPct val="120000"/>
              </a:lnSpc>
              <a:spcBef>
                <a:spcPts val="600"/>
              </a:spcBef>
              <a:buNone/>
            </a:pPr>
            <a:endParaRPr lang="zh-CN" altLang="en-US" b="1" dirty="0">
              <a:latin typeface="Trebuchet MS" panose="020B0603020202020204" pitchFamily="34" charset="0"/>
            </a:endParaRPr>
          </a:p>
        </p:txBody>
      </p:sp>
    </p:spTree>
    <p:extLst>
      <p:ext uri="{BB962C8B-B14F-4D97-AF65-F5344CB8AC3E}">
        <p14:creationId xmlns:p14="http://schemas.microsoft.com/office/powerpoint/2010/main" val="746099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0">
                                            <p:txEl>
                                              <p:pRg st="1" end="1"/>
                                            </p:txEl>
                                          </p:spTgt>
                                        </p:tgtEl>
                                        <p:attrNameLst>
                                          <p:attrName>style.visibility</p:attrName>
                                        </p:attrNameLst>
                                      </p:cBhvr>
                                      <p:to>
                                        <p:strVal val="visible"/>
                                      </p:to>
                                    </p:set>
                                    <p:animEffect transition="in" filter="fade">
                                      <p:cBhvr>
                                        <p:cTn id="7" dur="1000"/>
                                        <p:tgtEl>
                                          <p:spTgt spid="10">
                                            <p:txEl>
                                              <p:pRg st="1" end="1"/>
                                            </p:txEl>
                                          </p:spTgt>
                                        </p:tgtEl>
                                      </p:cBhvr>
                                    </p:animEffect>
                                    <p:anim calcmode="lin" valueType="num">
                                      <p:cBhvr>
                                        <p:cTn id="8"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10">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0">
                                            <p:txEl>
                                              <p:pRg st="2" end="2"/>
                                            </p:txEl>
                                          </p:spTgt>
                                        </p:tgtEl>
                                        <p:attrNameLst>
                                          <p:attrName>style.visibility</p:attrName>
                                        </p:attrNameLst>
                                      </p:cBhvr>
                                      <p:to>
                                        <p:strVal val="visible"/>
                                      </p:to>
                                    </p:set>
                                    <p:animEffect transition="in" filter="fade">
                                      <p:cBhvr>
                                        <p:cTn id="12" dur="1000"/>
                                        <p:tgtEl>
                                          <p:spTgt spid="10">
                                            <p:txEl>
                                              <p:pRg st="2" end="2"/>
                                            </p:txEl>
                                          </p:spTgt>
                                        </p:tgtEl>
                                      </p:cBhvr>
                                    </p:animEffect>
                                    <p:anim calcmode="lin" valueType="num">
                                      <p:cBhvr>
                                        <p:cTn id="13"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10">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0">
                                            <p:txEl>
                                              <p:pRg st="3" end="3"/>
                                            </p:txEl>
                                          </p:spTgt>
                                        </p:tgtEl>
                                        <p:attrNameLst>
                                          <p:attrName>style.visibility</p:attrName>
                                        </p:attrNameLst>
                                      </p:cBhvr>
                                      <p:to>
                                        <p:strVal val="visible"/>
                                      </p:to>
                                    </p:set>
                                    <p:animEffect transition="in" filter="fade">
                                      <p:cBhvr>
                                        <p:cTn id="17" dur="1000"/>
                                        <p:tgtEl>
                                          <p:spTgt spid="10">
                                            <p:txEl>
                                              <p:pRg st="3" end="3"/>
                                            </p:txEl>
                                          </p:spTgt>
                                        </p:tgtEl>
                                      </p:cBhvr>
                                    </p:animEffect>
                                    <p:anim calcmode="lin" valueType="num">
                                      <p:cBhvr>
                                        <p:cTn id="18" dur="1000" fill="hold"/>
                                        <p:tgtEl>
                                          <p:spTgt spid="10">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10">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i="0" dirty="0">
                <a:solidFill>
                  <a:schemeClr val="bg1"/>
                </a:solidFill>
                <a:effectLst/>
                <a:latin typeface="Trebuchet MS" panose="020B0603020202020204" pitchFamily="34" charset="0"/>
              </a:rPr>
              <a:t>3.2.1 First-Order Logic Equivalences and Substitution Rules</a:t>
            </a:r>
          </a:p>
          <a:p>
            <a:r>
              <a:rPr lang="en-US" altLang="zh-CN" sz="1800"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dirty="0"/>
              <a:t> </a:t>
            </a:r>
            <a:r>
              <a:rPr lang="en-US" altLang="zh-CN" sz="2400" b="1" i="0" dirty="0">
                <a:solidFill>
                  <a:schemeClr val="bg1"/>
                </a:solidFill>
                <a:effectLst/>
                <a:latin typeface="Trebuchet MS" panose="020B0603020202020204" pitchFamily="34" charset="0"/>
              </a:rPr>
              <a:t>Quantifier </a:t>
            </a:r>
            <a:r>
              <a:rPr lang="en-US" altLang="zh-CN" sz="2400" b="1" dirty="0">
                <a:solidFill>
                  <a:schemeClr val="bg1"/>
                </a:solidFill>
                <a:latin typeface="Trebuchet MS" panose="020B0603020202020204" pitchFamily="34" charset="0"/>
              </a:rPr>
              <a:t>Negation</a:t>
            </a:r>
            <a:r>
              <a:rPr lang="en-US" altLang="zh-CN" sz="2400" b="1" i="0" dirty="0">
                <a:solidFill>
                  <a:schemeClr val="bg1"/>
                </a:solidFill>
                <a:effectLst/>
                <a:latin typeface="Trebuchet MS" panose="020B0603020202020204" pitchFamily="34" charset="0"/>
              </a:rPr>
              <a:t> Equivalences</a:t>
            </a:r>
            <a:endParaRPr lang="en-US" altLang="zh-CN" sz="2000" b="1" dirty="0">
              <a:solidFill>
                <a:schemeClr val="bg1"/>
              </a:solidFill>
              <a:effectLst/>
              <a:latin typeface="Trebuchet MS" panose="020B0603020202020204" pitchFamily="34" charset="0"/>
              <a:ea typeface="Cambria Math" panose="02040503050406030204" pitchFamily="18" charset="0"/>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0" name="Rectangle 3">
            <a:extLst>
              <a:ext uri="{FF2B5EF4-FFF2-40B4-BE49-F238E27FC236}">
                <a16:creationId xmlns:a16="http://schemas.microsoft.com/office/drawing/2014/main" id="{8C4E7262-5A22-44F6-A0DA-6CD88C657AE7}"/>
              </a:ext>
            </a:extLst>
          </p:cNvPr>
          <p:cNvSpPr txBox="1">
            <a:spLocks noChangeArrowheads="1"/>
          </p:cNvSpPr>
          <p:nvPr/>
        </p:nvSpPr>
        <p:spPr>
          <a:xfrm>
            <a:off x="912403" y="937776"/>
            <a:ext cx="9190176" cy="3075960"/>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600"/>
              </a:spcBef>
              <a:buClr>
                <a:srgbClr val="0B61FF"/>
              </a:buClr>
              <a:buSzPct val="80000"/>
              <a:buFont typeface="Wingdings" panose="05000000000000000000" pitchFamily="2" charset="2"/>
              <a:buChar char="n"/>
            </a:pPr>
            <a:r>
              <a:rPr lang="en-US" altLang="zh-CN" sz="2400" b="1" dirty="0">
                <a:solidFill>
                  <a:srgbClr val="0C0D0E"/>
                </a:solidFill>
                <a:latin typeface="Trebuchet MS" panose="020B0603020202020204" pitchFamily="34" charset="0"/>
              </a:rPr>
              <a:t>Quantifier Negation Equivalences</a:t>
            </a:r>
            <a:r>
              <a:rPr lang="en-US" sz="2400" b="1" dirty="0">
                <a:solidFill>
                  <a:srgbClr val="0C0D0E"/>
                </a:solidFill>
                <a:latin typeface="Trebuchet MS" panose="020B0603020202020204" pitchFamily="34" charset="0"/>
              </a:rPr>
              <a:t>:</a:t>
            </a:r>
            <a:r>
              <a:rPr lang="en-US" altLang="zh-CN" sz="2400" b="1" dirty="0">
                <a:solidFill>
                  <a:srgbClr val="0C0D0E"/>
                </a:solidFill>
                <a:latin typeface="Trebuchet MS" panose="020B0603020202020204" pitchFamily="34" charset="0"/>
              </a:rPr>
              <a:t> To </a:t>
            </a:r>
            <a:r>
              <a:rPr lang="en-US" altLang="zh-CN" sz="2400" dirty="0">
                <a:latin typeface="Trebuchet MS" panose="020B0603020202020204" pitchFamily="34" charset="0"/>
              </a:rPr>
              <a:t>convert quantifiers (</a:t>
            </a:r>
            <a:r>
              <a:rPr lang="en-US" altLang="zh-CN" sz="2400" b="1" dirty="0">
                <a:latin typeface="Trebuchet MS" panose="020B0603020202020204" pitchFamily="34" charset="0"/>
              </a:rPr>
              <a:t>∀ and ∃</a:t>
            </a:r>
            <a:r>
              <a:rPr lang="en-US" altLang="zh-CN" sz="2400" dirty="0">
                <a:latin typeface="Trebuchet MS" panose="020B0603020202020204" pitchFamily="34" charset="0"/>
              </a:rPr>
              <a:t>) and negation (</a:t>
            </a:r>
            <a:r>
              <a:rPr lang="en-US" altLang="zh-CN" sz="2400" b="1" dirty="0">
                <a:latin typeface="Trebuchet MS" panose="020B0603020202020204" pitchFamily="34" charset="0"/>
              </a:rPr>
              <a:t>¬</a:t>
            </a:r>
            <a:r>
              <a:rPr lang="en-US" altLang="zh-CN" sz="2400" dirty="0">
                <a:latin typeface="Trebuchet MS" panose="020B0603020202020204" pitchFamily="34" charset="0"/>
              </a:rPr>
              <a:t>), changing the scope of the negation without altering the logical meaning. </a:t>
            </a:r>
          </a:p>
          <a:p>
            <a:pPr indent="41275" algn="l">
              <a:buClr>
                <a:srgbClr val="0B61FF"/>
              </a:buClr>
              <a:buSzPct val="120000"/>
            </a:pPr>
            <a:r>
              <a:rPr lang="en-US" altLang="zh-CN" sz="2400" b="0" i="0" dirty="0">
                <a:solidFill>
                  <a:srgbClr val="0C0D0E"/>
                </a:solidFill>
                <a:effectLst/>
                <a:latin typeface="Trebuchet MS" panose="020B0603020202020204" pitchFamily="34" charset="0"/>
              </a:rPr>
              <a:t> Let </a:t>
            </a:r>
            <a:r>
              <a:rPr lang="en-US" altLang="zh-CN" sz="2400" b="1" i="1" dirty="0">
                <a:solidFill>
                  <a:srgbClr val="0C0D0E"/>
                </a:solidFill>
                <a:effectLst/>
                <a:latin typeface="Trebuchet MS" panose="020B0603020202020204" pitchFamily="34" charset="0"/>
              </a:rPr>
              <a:t>A</a:t>
            </a:r>
            <a:r>
              <a:rPr lang="en-US" altLang="zh-CN" sz="2400" b="0" i="0" dirty="0">
                <a:solidFill>
                  <a:srgbClr val="0C0D0E"/>
                </a:solidFill>
                <a:effectLst/>
                <a:latin typeface="Trebuchet MS" panose="020B0603020202020204" pitchFamily="34" charset="0"/>
              </a:rPr>
              <a:t>(</a:t>
            </a:r>
            <a:r>
              <a:rPr lang="en-US" altLang="zh-CN" sz="2400" b="1" i="1" dirty="0">
                <a:solidFill>
                  <a:srgbClr val="0C0D0E"/>
                </a:solidFill>
                <a:effectLst/>
                <a:latin typeface="Trebuchet MS" panose="020B0603020202020204" pitchFamily="34" charset="0"/>
              </a:rPr>
              <a:t>x</a:t>
            </a:r>
            <a:r>
              <a:rPr lang="en-US" altLang="zh-CN" sz="2400" b="0" i="0" dirty="0">
                <a:solidFill>
                  <a:srgbClr val="0C0D0E"/>
                </a:solidFill>
                <a:effectLst/>
                <a:latin typeface="Trebuchet MS" panose="020B0603020202020204" pitchFamily="34" charset="0"/>
              </a:rPr>
              <a:t>) be a formula in which </a:t>
            </a:r>
            <a:r>
              <a:rPr lang="en-US" altLang="zh-CN" sz="2400" b="1" i="1" dirty="0">
                <a:solidFill>
                  <a:srgbClr val="0C0D0E"/>
                </a:solidFill>
                <a:effectLst/>
                <a:latin typeface="Trebuchet MS" panose="020B0603020202020204" pitchFamily="34" charset="0"/>
              </a:rPr>
              <a:t>x</a:t>
            </a:r>
            <a:r>
              <a:rPr lang="en-US" altLang="zh-CN" sz="2400" b="0" i="0" dirty="0">
                <a:solidFill>
                  <a:srgbClr val="0C0D0E"/>
                </a:solidFill>
                <a:effectLst/>
                <a:latin typeface="Trebuchet MS" panose="020B0603020202020204" pitchFamily="34" charset="0"/>
              </a:rPr>
              <a:t> appears freely.</a:t>
            </a:r>
          </a:p>
          <a:p>
            <a:pPr indent="223838" algn="just">
              <a:spcBef>
                <a:spcPct val="40000"/>
              </a:spcBef>
              <a:buFontTx/>
              <a:buNone/>
            </a:pPr>
            <a:r>
              <a:rPr lang="en-US" altLang="zh-CN" sz="2400" b="1" dirty="0">
                <a:latin typeface="Trebuchet MS" panose="020B0603020202020204" pitchFamily="34" charset="0"/>
                <a:sym typeface="Symbol" panose="05050102010706020507" pitchFamily="18" charset="2"/>
              </a:rPr>
              <a:t>    </a:t>
            </a:r>
            <a:r>
              <a:rPr lang="zh-CN" altLang="en-US"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xA</a:t>
            </a:r>
            <a:r>
              <a:rPr lang="en-US" altLang="zh-CN" sz="2400" b="1" dirty="0">
                <a:latin typeface="Trebuchet MS" panose="020B0603020202020204" pitchFamily="34" charset="0"/>
              </a:rPr>
              <a:t>(</a:t>
            </a:r>
            <a:r>
              <a:rPr lang="en-US" altLang="zh-CN" sz="2400" b="1" i="1" dirty="0">
                <a:latin typeface="Trebuchet MS" panose="020B0603020202020204" pitchFamily="34" charset="0"/>
              </a:rPr>
              <a:t>x</a:t>
            </a:r>
            <a:r>
              <a:rPr lang="en-US" altLang="zh-CN" sz="2400" b="1" dirty="0">
                <a:latin typeface="Trebuchet MS" panose="020B0603020202020204" pitchFamily="34" charset="0"/>
              </a:rPr>
              <a:t>)</a:t>
            </a:r>
            <a:r>
              <a:rPr lang="en-US" altLang="zh-CN" sz="2400" b="1" dirty="0">
                <a:latin typeface="Trebuchet MS" panose="020B0603020202020204" pitchFamily="34" charset="0"/>
                <a:sym typeface="Symbol" panose="05050102010706020507" pitchFamily="18" charset="2"/>
              </a:rPr>
              <a:t> </a:t>
            </a:r>
            <a:r>
              <a:rPr lang="en-US" altLang="zh-CN" sz="2400" b="1" i="1" dirty="0">
                <a:latin typeface="Trebuchet MS" panose="020B0603020202020204" pitchFamily="34" charset="0"/>
              </a:rPr>
              <a:t>x </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A</a:t>
            </a:r>
            <a:r>
              <a:rPr lang="en-US" altLang="zh-CN" sz="2400" b="1" dirty="0">
                <a:latin typeface="Trebuchet MS" panose="020B0603020202020204" pitchFamily="34" charset="0"/>
              </a:rPr>
              <a:t>(</a:t>
            </a:r>
            <a:r>
              <a:rPr lang="en-US" altLang="zh-CN" sz="2400" b="1" i="1" dirty="0">
                <a:latin typeface="Trebuchet MS" panose="020B0603020202020204" pitchFamily="34" charset="0"/>
              </a:rPr>
              <a:t>x</a:t>
            </a:r>
            <a:r>
              <a:rPr lang="en-US" altLang="zh-CN" sz="2400" b="1" dirty="0">
                <a:latin typeface="Trebuchet MS" panose="020B0603020202020204" pitchFamily="34" charset="0"/>
              </a:rPr>
              <a:t>)</a:t>
            </a:r>
          </a:p>
          <a:p>
            <a:pPr indent="223838" algn="just">
              <a:spcBef>
                <a:spcPct val="40000"/>
              </a:spcBef>
              <a:buFontTx/>
              <a:buNone/>
            </a:pPr>
            <a:r>
              <a:rPr lang="en-US" altLang="zh-CN" sz="2400" b="1" dirty="0">
                <a:latin typeface="Trebuchet MS" panose="020B0603020202020204" pitchFamily="34" charset="0"/>
                <a:sym typeface="Symbol" panose="05050102010706020507" pitchFamily="18" charset="2"/>
              </a:rPr>
              <a:t>     </a:t>
            </a:r>
            <a:r>
              <a:rPr lang="en-US" altLang="zh-CN" sz="2400" b="1" i="1" dirty="0">
                <a:latin typeface="Trebuchet MS" panose="020B0603020202020204" pitchFamily="34" charset="0"/>
              </a:rPr>
              <a:t>xA</a:t>
            </a:r>
            <a:r>
              <a:rPr lang="en-US" altLang="zh-CN" sz="2400" b="1" dirty="0">
                <a:latin typeface="Trebuchet MS" panose="020B0603020202020204" pitchFamily="34" charset="0"/>
              </a:rPr>
              <a:t>(</a:t>
            </a:r>
            <a:r>
              <a:rPr lang="en-US" altLang="zh-CN" sz="2400" b="1" i="1" dirty="0">
                <a:latin typeface="Trebuchet MS" panose="020B0603020202020204" pitchFamily="34" charset="0"/>
              </a:rPr>
              <a:t>x</a:t>
            </a:r>
            <a:r>
              <a:rPr lang="en-US" altLang="zh-CN" sz="2400" b="1" dirty="0">
                <a:latin typeface="Trebuchet MS" panose="020B0603020202020204" pitchFamily="34" charset="0"/>
              </a:rPr>
              <a:t>)</a:t>
            </a:r>
            <a:r>
              <a:rPr lang="en-US" altLang="zh-CN" sz="2400" b="1" dirty="0">
                <a:latin typeface="Trebuchet MS" panose="020B0603020202020204" pitchFamily="34" charset="0"/>
                <a:sym typeface="Symbol" panose="05050102010706020507" pitchFamily="18" charset="2"/>
              </a:rPr>
              <a:t></a:t>
            </a:r>
            <a:r>
              <a:rPr lang="zh-CN" altLang="en-US"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x </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A</a:t>
            </a:r>
            <a:r>
              <a:rPr lang="en-US" altLang="zh-CN" sz="2400" b="1" dirty="0">
                <a:latin typeface="Trebuchet MS" panose="020B0603020202020204" pitchFamily="34" charset="0"/>
              </a:rPr>
              <a:t>(</a:t>
            </a:r>
            <a:r>
              <a:rPr lang="en-US" altLang="zh-CN" sz="2400" b="1" i="1" dirty="0">
                <a:latin typeface="Trebuchet MS" panose="020B0603020202020204" pitchFamily="34" charset="0"/>
              </a:rPr>
              <a:t>x</a:t>
            </a:r>
            <a:r>
              <a:rPr lang="en-US" altLang="zh-CN" sz="2400" b="1" dirty="0">
                <a:latin typeface="Trebuchet MS" panose="020B0603020202020204" pitchFamily="34" charset="0"/>
              </a:rPr>
              <a:t>)</a:t>
            </a:r>
            <a:endParaRPr lang="zh-CN" altLang="en-US" sz="2400" b="1" dirty="0">
              <a:solidFill>
                <a:srgbClr val="003399"/>
              </a:solidFill>
              <a:latin typeface="Trebuchet MS" panose="020B0603020202020204" pitchFamily="34" charset="0"/>
              <a:ea typeface="黑体" panose="02010609060101010101" pitchFamily="49" charset="-122"/>
            </a:endParaRPr>
          </a:p>
          <a:p>
            <a:pPr eaLnBrk="1" hangingPunct="1">
              <a:lnSpc>
                <a:spcPct val="120000"/>
              </a:lnSpc>
              <a:spcBef>
                <a:spcPts val="600"/>
              </a:spcBef>
              <a:buFont typeface="Wingdings" panose="05000000000000000000" pitchFamily="2" charset="2"/>
              <a:buNone/>
            </a:pPr>
            <a:endParaRPr lang="zh-CN" altLang="en-US" sz="2400" b="1" dirty="0">
              <a:latin typeface="Trebuchet MS" panose="020B0603020202020204" pitchFamily="34" charset="0"/>
            </a:endParaRPr>
          </a:p>
          <a:p>
            <a:pPr eaLnBrk="1" hangingPunct="1">
              <a:lnSpc>
                <a:spcPct val="120000"/>
              </a:lnSpc>
              <a:spcBef>
                <a:spcPts val="600"/>
              </a:spcBef>
              <a:buClr>
                <a:schemeClr val="bg2"/>
              </a:buClr>
              <a:buSzPct val="75000"/>
              <a:buFont typeface="Wingdings" panose="05000000000000000000" pitchFamily="2" charset="2"/>
              <a:buNone/>
            </a:pPr>
            <a:endParaRPr kumimoji="0" lang="zh-CN" altLang="en-US" sz="2400" b="1" dirty="0">
              <a:latin typeface="Trebuchet MS" panose="020B0603020202020204" pitchFamily="34" charset="0"/>
            </a:endParaRPr>
          </a:p>
          <a:p>
            <a:pPr marL="457200" lvl="1" indent="0" eaLnBrk="1" hangingPunct="1">
              <a:lnSpc>
                <a:spcPct val="120000"/>
              </a:lnSpc>
              <a:spcBef>
                <a:spcPts val="600"/>
              </a:spcBef>
              <a:buNone/>
            </a:pPr>
            <a:endParaRPr lang="zh-CN" altLang="en-US" b="1" dirty="0">
              <a:latin typeface="Trebuchet MS" panose="020B0603020202020204" pitchFamily="34" charset="0"/>
            </a:endParaRPr>
          </a:p>
        </p:txBody>
      </p:sp>
    </p:spTree>
    <p:extLst>
      <p:ext uri="{BB962C8B-B14F-4D97-AF65-F5344CB8AC3E}">
        <p14:creationId xmlns:p14="http://schemas.microsoft.com/office/powerpoint/2010/main" val="368138016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0">
                                            <p:txEl>
                                              <p:pRg st="1" end="1"/>
                                            </p:txEl>
                                          </p:spTgt>
                                        </p:tgtEl>
                                        <p:attrNameLst>
                                          <p:attrName>style.visibility</p:attrName>
                                        </p:attrNameLst>
                                      </p:cBhvr>
                                      <p:to>
                                        <p:strVal val="visible"/>
                                      </p:to>
                                    </p:set>
                                    <p:animEffect transition="in" filter="fade">
                                      <p:cBhvr>
                                        <p:cTn id="7" dur="1000"/>
                                        <p:tgtEl>
                                          <p:spTgt spid="10">
                                            <p:txEl>
                                              <p:pRg st="1" end="1"/>
                                            </p:txEl>
                                          </p:spTgt>
                                        </p:tgtEl>
                                      </p:cBhvr>
                                    </p:animEffect>
                                    <p:anim calcmode="lin" valueType="num">
                                      <p:cBhvr>
                                        <p:cTn id="8"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10">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0">
                                            <p:txEl>
                                              <p:pRg st="2" end="2"/>
                                            </p:txEl>
                                          </p:spTgt>
                                        </p:tgtEl>
                                        <p:attrNameLst>
                                          <p:attrName>style.visibility</p:attrName>
                                        </p:attrNameLst>
                                      </p:cBhvr>
                                      <p:to>
                                        <p:strVal val="visible"/>
                                      </p:to>
                                    </p:set>
                                    <p:animEffect transition="in" filter="fade">
                                      <p:cBhvr>
                                        <p:cTn id="12" dur="1000"/>
                                        <p:tgtEl>
                                          <p:spTgt spid="10">
                                            <p:txEl>
                                              <p:pRg st="2" end="2"/>
                                            </p:txEl>
                                          </p:spTgt>
                                        </p:tgtEl>
                                      </p:cBhvr>
                                    </p:animEffect>
                                    <p:anim calcmode="lin" valueType="num">
                                      <p:cBhvr>
                                        <p:cTn id="13"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10">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0">
                                            <p:txEl>
                                              <p:pRg st="3" end="3"/>
                                            </p:txEl>
                                          </p:spTgt>
                                        </p:tgtEl>
                                        <p:attrNameLst>
                                          <p:attrName>style.visibility</p:attrName>
                                        </p:attrNameLst>
                                      </p:cBhvr>
                                      <p:to>
                                        <p:strVal val="visible"/>
                                      </p:to>
                                    </p:set>
                                    <p:animEffect transition="in" filter="fade">
                                      <p:cBhvr>
                                        <p:cTn id="17" dur="1000"/>
                                        <p:tgtEl>
                                          <p:spTgt spid="10">
                                            <p:txEl>
                                              <p:pRg st="3" end="3"/>
                                            </p:txEl>
                                          </p:spTgt>
                                        </p:tgtEl>
                                      </p:cBhvr>
                                    </p:animEffect>
                                    <p:anim calcmode="lin" valueType="num">
                                      <p:cBhvr>
                                        <p:cTn id="18" dur="1000" fill="hold"/>
                                        <p:tgtEl>
                                          <p:spTgt spid="10">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10">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i="0" dirty="0">
                <a:solidFill>
                  <a:schemeClr val="bg1"/>
                </a:solidFill>
                <a:effectLst/>
                <a:latin typeface="Trebuchet MS" panose="020B0603020202020204" pitchFamily="34" charset="0"/>
              </a:rPr>
              <a:t>3.2.1 First-Order Logic Equivalences and Substitution Rules</a:t>
            </a:r>
          </a:p>
          <a:p>
            <a:r>
              <a:rPr lang="en-US" altLang="zh-CN" sz="1800"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dirty="0"/>
              <a:t> </a:t>
            </a:r>
            <a:r>
              <a:rPr lang="en-US" altLang="zh-CN" sz="2400" b="1" i="0" dirty="0">
                <a:solidFill>
                  <a:schemeClr val="bg1"/>
                </a:solidFill>
                <a:effectLst/>
                <a:latin typeface="Trebuchet MS" panose="020B0603020202020204" pitchFamily="34" charset="0"/>
              </a:rPr>
              <a:t>Quantifier </a:t>
            </a:r>
            <a:r>
              <a:rPr lang="en-US" altLang="zh-CN" sz="2400" b="1" dirty="0">
                <a:solidFill>
                  <a:schemeClr val="bg1"/>
                </a:solidFill>
                <a:latin typeface="Trebuchet MS" panose="020B0603020202020204" pitchFamily="34" charset="0"/>
              </a:rPr>
              <a:t>Negation</a:t>
            </a:r>
            <a:r>
              <a:rPr lang="en-US" altLang="zh-CN" sz="2400" b="1" i="0" dirty="0">
                <a:solidFill>
                  <a:schemeClr val="bg1"/>
                </a:solidFill>
                <a:effectLst/>
                <a:latin typeface="Trebuchet MS" panose="020B0603020202020204" pitchFamily="34" charset="0"/>
              </a:rPr>
              <a:t> Equivalences</a:t>
            </a:r>
            <a:endParaRPr lang="en-US" altLang="zh-CN" sz="2000" b="1" dirty="0">
              <a:solidFill>
                <a:schemeClr val="bg1"/>
              </a:solidFill>
              <a:effectLst/>
              <a:latin typeface="Trebuchet MS" panose="020B0603020202020204" pitchFamily="34" charset="0"/>
              <a:ea typeface="Cambria Math" panose="02040503050406030204" pitchFamily="18" charset="0"/>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5"/>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31509" y="852264"/>
            <a:ext cx="8852719" cy="476476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buClr>
                <a:srgbClr val="0B61FF"/>
              </a:buClr>
              <a:buSzPct val="80000"/>
              <a:buFont typeface="Wingdings" panose="05000000000000000000" pitchFamily="2" charset="2"/>
              <a:buChar char="n"/>
            </a:pPr>
            <a:r>
              <a:rPr lang="en-US" sz="2400" b="1" i="0" dirty="0">
                <a:solidFill>
                  <a:srgbClr val="0C0D0E"/>
                </a:solidFill>
                <a:effectLst/>
                <a:latin typeface="Trebuchet MS" panose="020B0603020202020204" pitchFamily="34" charset="0"/>
              </a:rPr>
              <a:t>Quantifier Distribution Equivalences:</a:t>
            </a:r>
            <a:r>
              <a:rPr lang="en-US" altLang="zh-CN" sz="1600" dirty="0"/>
              <a:t> </a:t>
            </a:r>
            <a:r>
              <a:rPr lang="en-US" altLang="zh-CN" sz="2400" dirty="0">
                <a:latin typeface="Trebuchet MS" panose="020B0603020202020204" pitchFamily="34" charset="0"/>
              </a:rPr>
              <a:t>To allocate or restructure quantifiers (</a:t>
            </a:r>
            <a:r>
              <a:rPr lang="en-US" altLang="zh-CN" sz="2400" b="1" dirty="0">
                <a:latin typeface="Trebuchet MS" panose="020B0603020202020204" pitchFamily="34" charset="0"/>
              </a:rPr>
              <a:t>∀, ∃</a:t>
            </a:r>
            <a:r>
              <a:rPr lang="en-US" altLang="zh-CN" sz="2400" dirty="0">
                <a:latin typeface="Trebuchet MS" panose="020B0603020202020204" pitchFamily="34" charset="0"/>
              </a:rPr>
              <a:t>) to interact correctly with logical operations (</a:t>
            </a:r>
            <a:r>
              <a:rPr lang="en-US" altLang="zh-CN" sz="2400" b="1" dirty="0">
                <a:latin typeface="Trebuchet MS" panose="020B0603020202020204" pitchFamily="34" charset="0"/>
              </a:rPr>
              <a:t>∧, ∨, →</a:t>
            </a:r>
            <a:r>
              <a:rPr lang="en-US" altLang="zh-CN" sz="2400" dirty="0">
                <a:latin typeface="Trebuchet MS" panose="020B0603020202020204" pitchFamily="34" charset="0"/>
              </a:rPr>
              <a:t>) while preserving logical equivalence.</a:t>
            </a:r>
            <a:endParaRPr lang="en-US" sz="2400" b="0" i="0" dirty="0">
              <a:solidFill>
                <a:srgbClr val="0C0D0E"/>
              </a:solidFill>
              <a:effectLst/>
              <a:latin typeface="Trebuchet MS" panose="020B0603020202020204" pitchFamily="34" charset="0"/>
            </a:endParaRPr>
          </a:p>
          <a:p>
            <a:pPr indent="41275">
              <a:buClr>
                <a:srgbClr val="0B61FF"/>
              </a:buClr>
              <a:buSzPct val="120000"/>
            </a:pPr>
            <a:r>
              <a:rPr lang="zh-CN" altLang="en-US" sz="2400" b="1" dirty="0">
                <a:latin typeface="Trebuchet MS" panose="020B0603020202020204" pitchFamily="34" charset="0"/>
                <a:sym typeface="Symbol" panose="05050102010706020507" pitchFamily="18" charset="2"/>
              </a:rPr>
              <a:t> </a:t>
            </a:r>
            <a:r>
              <a:rPr lang="en-US" altLang="zh-CN" sz="2400" b="1" i="1" dirty="0">
                <a:latin typeface="Trebuchet MS" panose="020B0603020202020204" pitchFamily="34" charset="0"/>
              </a:rPr>
              <a:t>x</a:t>
            </a:r>
            <a:r>
              <a:rPr lang="en-US" altLang="zh-CN" sz="2400" b="1" dirty="0">
                <a:latin typeface="Trebuchet MS" panose="020B0603020202020204" pitchFamily="34" charset="0"/>
              </a:rPr>
              <a:t>(</a:t>
            </a:r>
            <a:r>
              <a:rPr lang="en-US" altLang="zh-CN" sz="2400" b="1" i="1" dirty="0">
                <a:latin typeface="Trebuchet MS" panose="020B0603020202020204" pitchFamily="34" charset="0"/>
              </a:rPr>
              <a:t>A</a:t>
            </a:r>
            <a:r>
              <a:rPr lang="en-US" altLang="zh-CN" sz="2400" b="1" dirty="0">
                <a:latin typeface="Trebuchet MS" panose="020B0603020202020204" pitchFamily="34" charset="0"/>
              </a:rPr>
              <a:t>(</a:t>
            </a:r>
            <a:r>
              <a:rPr lang="en-US" altLang="zh-CN" sz="2400" b="1" i="1" dirty="0">
                <a:latin typeface="Trebuchet MS" panose="020B0603020202020204" pitchFamily="34" charset="0"/>
              </a:rPr>
              <a:t>x</a:t>
            </a:r>
            <a:r>
              <a:rPr lang="en-US" altLang="zh-CN" sz="2400" b="1" dirty="0">
                <a:latin typeface="Trebuchet MS" panose="020B0603020202020204" pitchFamily="34" charset="0"/>
              </a:rPr>
              <a:t>)</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B</a:t>
            </a:r>
            <a:r>
              <a:rPr lang="en-US" altLang="zh-CN" sz="2400" b="1" dirty="0">
                <a:latin typeface="Trebuchet MS" panose="020B0603020202020204" pitchFamily="34" charset="0"/>
              </a:rPr>
              <a:t>(</a:t>
            </a:r>
            <a:r>
              <a:rPr lang="en-US" altLang="zh-CN" sz="2400" b="1" i="1" dirty="0">
                <a:latin typeface="Trebuchet MS" panose="020B0603020202020204" pitchFamily="34" charset="0"/>
              </a:rPr>
              <a:t>x</a:t>
            </a:r>
            <a:r>
              <a:rPr lang="en-US" altLang="zh-CN" sz="2400" b="1" dirty="0">
                <a:latin typeface="Trebuchet MS" panose="020B0603020202020204" pitchFamily="34" charset="0"/>
              </a:rPr>
              <a:t>))</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xA</a:t>
            </a:r>
            <a:r>
              <a:rPr lang="en-US" altLang="zh-CN" sz="2400" b="1" dirty="0">
                <a:latin typeface="Trebuchet MS" panose="020B0603020202020204" pitchFamily="34" charset="0"/>
              </a:rPr>
              <a:t>(</a:t>
            </a:r>
            <a:r>
              <a:rPr lang="en-US" altLang="zh-CN" sz="2400" b="1" i="1" dirty="0">
                <a:latin typeface="Trebuchet MS" panose="020B0603020202020204" pitchFamily="34" charset="0"/>
              </a:rPr>
              <a:t>x</a:t>
            </a:r>
            <a:r>
              <a:rPr lang="en-US" altLang="zh-CN" sz="2400" b="1" dirty="0">
                <a:latin typeface="Trebuchet MS" panose="020B0603020202020204" pitchFamily="34" charset="0"/>
              </a:rPr>
              <a:t>)</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xB</a:t>
            </a:r>
            <a:r>
              <a:rPr lang="en-US" altLang="zh-CN" sz="2400" b="1" dirty="0">
                <a:latin typeface="Trebuchet MS" panose="020B0603020202020204" pitchFamily="34" charset="0"/>
              </a:rPr>
              <a:t>(</a:t>
            </a:r>
            <a:r>
              <a:rPr lang="en-US" altLang="zh-CN" sz="2400" b="1" i="1" dirty="0">
                <a:latin typeface="Trebuchet MS" panose="020B0603020202020204" pitchFamily="34" charset="0"/>
              </a:rPr>
              <a:t>x</a:t>
            </a:r>
            <a:r>
              <a:rPr lang="en-US" altLang="zh-CN" sz="2400" b="1" dirty="0">
                <a:latin typeface="Trebuchet MS" panose="020B0603020202020204" pitchFamily="34" charset="0"/>
              </a:rPr>
              <a:t>)</a:t>
            </a:r>
          </a:p>
          <a:p>
            <a:pPr algn="just">
              <a:spcBef>
                <a:spcPct val="40000"/>
              </a:spcBef>
              <a:buFontTx/>
              <a:buNone/>
            </a:pPr>
            <a:r>
              <a:rPr lang="en-US" altLang="zh-CN" sz="2400" b="1" dirty="0">
                <a:latin typeface="Trebuchet MS" panose="020B0603020202020204" pitchFamily="34" charset="0"/>
                <a:sym typeface="Symbol" panose="05050102010706020507" pitchFamily="18" charset="2"/>
              </a:rPr>
              <a:t>     </a:t>
            </a:r>
            <a:r>
              <a:rPr lang="en-US" altLang="zh-CN" sz="2400" b="1" i="1" dirty="0">
                <a:latin typeface="Trebuchet MS" panose="020B0603020202020204" pitchFamily="34" charset="0"/>
              </a:rPr>
              <a:t>x</a:t>
            </a:r>
            <a:r>
              <a:rPr lang="en-US" altLang="zh-CN" sz="2400" b="1" dirty="0">
                <a:latin typeface="Trebuchet MS" panose="020B0603020202020204" pitchFamily="34" charset="0"/>
              </a:rPr>
              <a:t>(</a:t>
            </a:r>
            <a:r>
              <a:rPr lang="en-US" altLang="zh-CN" sz="2400" b="1" i="1" dirty="0">
                <a:latin typeface="Trebuchet MS" panose="020B0603020202020204" pitchFamily="34" charset="0"/>
              </a:rPr>
              <a:t>A</a:t>
            </a:r>
            <a:r>
              <a:rPr lang="en-US" altLang="zh-CN" sz="2400" b="1" dirty="0">
                <a:latin typeface="Trebuchet MS" panose="020B0603020202020204" pitchFamily="34" charset="0"/>
              </a:rPr>
              <a:t>(</a:t>
            </a:r>
            <a:r>
              <a:rPr lang="en-US" altLang="zh-CN" sz="2400" b="1" i="1" dirty="0">
                <a:latin typeface="Trebuchet MS" panose="020B0603020202020204" pitchFamily="34" charset="0"/>
              </a:rPr>
              <a:t>x</a:t>
            </a:r>
            <a:r>
              <a:rPr lang="en-US" altLang="zh-CN" sz="2400" b="1" dirty="0">
                <a:latin typeface="Trebuchet MS" panose="020B0603020202020204" pitchFamily="34" charset="0"/>
              </a:rPr>
              <a:t>)</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B</a:t>
            </a:r>
            <a:r>
              <a:rPr lang="en-US" altLang="zh-CN" sz="2400" b="1" dirty="0">
                <a:latin typeface="Trebuchet MS" panose="020B0603020202020204" pitchFamily="34" charset="0"/>
              </a:rPr>
              <a:t>(</a:t>
            </a:r>
            <a:r>
              <a:rPr lang="en-US" altLang="zh-CN" sz="2400" b="1" i="1" dirty="0">
                <a:latin typeface="Trebuchet MS" panose="020B0603020202020204" pitchFamily="34" charset="0"/>
              </a:rPr>
              <a:t>x</a:t>
            </a:r>
            <a:r>
              <a:rPr lang="en-US" altLang="zh-CN" sz="2400" b="1" dirty="0">
                <a:latin typeface="Trebuchet MS" panose="020B0603020202020204" pitchFamily="34" charset="0"/>
              </a:rPr>
              <a:t>))</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xA</a:t>
            </a:r>
            <a:r>
              <a:rPr lang="en-US" altLang="zh-CN" sz="2400" b="1" dirty="0">
                <a:latin typeface="Trebuchet MS" panose="020B0603020202020204" pitchFamily="34" charset="0"/>
              </a:rPr>
              <a:t>(</a:t>
            </a:r>
            <a:r>
              <a:rPr lang="en-US" altLang="zh-CN" sz="2400" b="1" i="1" dirty="0">
                <a:latin typeface="Trebuchet MS" panose="020B0603020202020204" pitchFamily="34" charset="0"/>
              </a:rPr>
              <a:t>x</a:t>
            </a:r>
            <a:r>
              <a:rPr lang="en-US" altLang="zh-CN" sz="2400" b="1" dirty="0">
                <a:latin typeface="Trebuchet MS" panose="020B0603020202020204" pitchFamily="34" charset="0"/>
              </a:rPr>
              <a:t>)</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xB</a:t>
            </a:r>
            <a:r>
              <a:rPr lang="en-US" altLang="zh-CN" sz="2400" b="1" dirty="0">
                <a:latin typeface="Trebuchet MS" panose="020B0603020202020204" pitchFamily="34" charset="0"/>
              </a:rPr>
              <a:t>(</a:t>
            </a:r>
            <a:r>
              <a:rPr lang="en-US" altLang="zh-CN" sz="2400" b="1" i="1" dirty="0">
                <a:latin typeface="Trebuchet MS" panose="020B0603020202020204" pitchFamily="34" charset="0"/>
              </a:rPr>
              <a:t>x</a:t>
            </a:r>
            <a:r>
              <a:rPr lang="en-US" altLang="zh-CN" sz="2400" b="1" dirty="0">
                <a:latin typeface="Trebuchet MS" panose="020B0603020202020204" pitchFamily="34" charset="0"/>
              </a:rPr>
              <a:t>)</a:t>
            </a:r>
          </a:p>
          <a:p>
            <a:pPr marL="2155825" indent="-1703388">
              <a:spcBef>
                <a:spcPct val="40000"/>
              </a:spcBef>
              <a:buNone/>
            </a:pPr>
            <a:r>
              <a:rPr lang="en-US" altLang="zh-CN" sz="2400" b="1" dirty="0">
                <a:latin typeface="Trebuchet MS" panose="020B0603020202020204" pitchFamily="34" charset="0"/>
              </a:rPr>
              <a:t>Attention</a:t>
            </a:r>
            <a:r>
              <a:rPr lang="zh-CN" altLang="en-US" sz="2400" b="1" dirty="0">
                <a:latin typeface="Trebuchet MS" panose="020B0603020202020204" pitchFamily="34" charset="0"/>
              </a:rPr>
              <a:t>：</a:t>
            </a:r>
            <a:r>
              <a:rPr lang="zh-CN" altLang="en-US" sz="2400" b="1" dirty="0">
                <a:latin typeface="Trebuchet MS" panose="020B0603020202020204" pitchFamily="34" charset="0"/>
                <a:sym typeface="Symbol" panose="05050102010706020507" pitchFamily="18" charset="2"/>
              </a:rPr>
              <a:t> </a:t>
            </a:r>
            <a:r>
              <a:rPr lang="en-US" altLang="zh-CN" sz="2400" b="1" dirty="0">
                <a:latin typeface="Trebuchet MS" panose="020B0603020202020204" pitchFamily="34" charset="0"/>
                <a:sym typeface="Symbol" panose="05050102010706020507" pitchFamily="18" charset="2"/>
              </a:rPr>
              <a:t>to</a:t>
            </a:r>
            <a:r>
              <a:rPr lang="zh-CN" altLang="en-US" sz="2400" b="1" dirty="0">
                <a:latin typeface="Trebuchet MS" panose="020B0603020202020204" pitchFamily="34" charset="0"/>
                <a:sym typeface="Symbol" panose="05050102010706020507" pitchFamily="18" charset="2"/>
              </a:rPr>
              <a:t> </a:t>
            </a:r>
            <a:r>
              <a:rPr lang="zh-CN" altLang="en-US" sz="2400" b="1" dirty="0">
                <a:latin typeface="Trebuchet MS" panose="020B0603020202020204" pitchFamily="34" charset="0"/>
              </a:rPr>
              <a:t>，</a:t>
            </a:r>
            <a:r>
              <a:rPr lang="zh-CN" altLang="en-US" sz="2400" b="1" dirty="0">
                <a:latin typeface="Trebuchet MS" panose="020B0603020202020204" pitchFamily="34" charset="0"/>
                <a:sym typeface="Symbol" panose="05050102010706020507" pitchFamily="18" charset="2"/>
              </a:rPr>
              <a:t> </a:t>
            </a:r>
            <a:r>
              <a:rPr lang="en-US" altLang="zh-CN" sz="2400" b="1" dirty="0">
                <a:latin typeface="Trebuchet MS" panose="020B0603020202020204" pitchFamily="34" charset="0"/>
                <a:sym typeface="Symbol" panose="05050102010706020507" pitchFamily="18" charset="2"/>
              </a:rPr>
              <a:t>to</a:t>
            </a:r>
            <a:r>
              <a:rPr lang="zh-CN" altLang="en-US" sz="2400" b="1" dirty="0">
                <a:latin typeface="Trebuchet MS" panose="020B0603020202020204" pitchFamily="34" charset="0"/>
                <a:sym typeface="Symbol" panose="05050102010706020507" pitchFamily="18" charset="2"/>
              </a:rPr>
              <a:t> </a:t>
            </a:r>
            <a:r>
              <a:rPr lang="zh-CN" altLang="en-US" sz="2400" b="1" dirty="0">
                <a:latin typeface="Trebuchet MS" panose="020B0603020202020204" pitchFamily="34" charset="0"/>
              </a:rPr>
              <a:t>  </a:t>
            </a:r>
            <a:r>
              <a:rPr lang="en-US" altLang="zh-CN" sz="2400" b="1" dirty="0">
                <a:latin typeface="Trebuchet MS" panose="020B0603020202020204" pitchFamily="34" charset="0"/>
              </a:rPr>
              <a:t>no </a:t>
            </a:r>
            <a:r>
              <a:rPr lang="en-US" sz="2400" b="1" i="0" dirty="0">
                <a:solidFill>
                  <a:srgbClr val="0C0D0E"/>
                </a:solidFill>
                <a:effectLst/>
                <a:latin typeface="Trebuchet MS" panose="020B0603020202020204" pitchFamily="34" charset="0"/>
              </a:rPr>
              <a:t>Quantifier Distribution Equivalences.</a:t>
            </a:r>
            <a:endParaRPr lang="en-US" sz="2400" b="0" i="0" dirty="0">
              <a:solidFill>
                <a:srgbClr val="0C0D0E"/>
              </a:solidFill>
              <a:effectLst/>
              <a:latin typeface="Trebuchet MS" panose="020B0603020202020204" pitchFamily="34" charset="0"/>
            </a:endParaRPr>
          </a:p>
          <a:p>
            <a:pPr>
              <a:spcBef>
                <a:spcPct val="40000"/>
              </a:spcBef>
              <a:buFontTx/>
              <a:buNone/>
            </a:pPr>
            <a:endParaRPr lang="zh-CN" altLang="en-US" sz="2800" b="1" dirty="0"/>
          </a:p>
          <a:p>
            <a:pPr marL="457200" lvl="1" indent="0" eaLnBrk="1" hangingPunct="1">
              <a:buNone/>
            </a:pPr>
            <a:endParaRPr lang="zh-CN" altLang="en-US" sz="2800" b="1" dirty="0"/>
          </a:p>
        </p:txBody>
      </p:sp>
      <p:sp>
        <p:nvSpPr>
          <p:cNvPr id="4" name="Rectangle 2">
            <a:extLst>
              <a:ext uri="{FF2B5EF4-FFF2-40B4-BE49-F238E27FC236}">
                <a16:creationId xmlns:a16="http://schemas.microsoft.com/office/drawing/2014/main" id="{7E743E8B-637A-475A-B66B-3A5FCB88055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graphicFrame>
        <p:nvGraphicFramePr>
          <p:cNvPr id="5" name="对象 4">
            <a:extLst>
              <a:ext uri="{FF2B5EF4-FFF2-40B4-BE49-F238E27FC236}">
                <a16:creationId xmlns:a16="http://schemas.microsoft.com/office/drawing/2014/main" id="{8DCDE4C9-1E3F-4AD9-977C-CF060CFE00D7}"/>
              </a:ext>
            </a:extLst>
          </p:cNvPr>
          <p:cNvGraphicFramePr>
            <a:graphicFrameLocks noChangeAspect="1"/>
          </p:cNvGraphicFramePr>
          <p:nvPr>
            <p:extLst>
              <p:ext uri="{D42A27DB-BD31-4B8C-83A1-F6EECF244321}">
                <p14:modId xmlns:p14="http://schemas.microsoft.com/office/powerpoint/2010/main" val="143552178"/>
              </p:ext>
            </p:extLst>
          </p:nvPr>
        </p:nvGraphicFramePr>
        <p:xfrm>
          <a:off x="1155031" y="3243827"/>
          <a:ext cx="442762" cy="442762"/>
        </p:xfrm>
        <a:graphic>
          <a:graphicData uri="http://schemas.openxmlformats.org/presentationml/2006/ole">
            <mc:AlternateContent xmlns:mc="http://schemas.openxmlformats.org/markup-compatibility/2006">
              <mc:Choice xmlns:v="urn:schemas-microsoft-com:vml" Requires="v">
                <p:oleObj spid="_x0000_s3077" name="Visio" r:id="rId6" imgW="292148" imgH="292233" progId="Visio.Drawing.15">
                  <p:embed/>
                </p:oleObj>
              </mc:Choice>
              <mc:Fallback>
                <p:oleObj name="Visio" r:id="rId6" imgW="292148" imgH="292233" progId="Visio.Drawing.15">
                  <p:embed/>
                  <p:pic>
                    <p:nvPicPr>
                      <p:cNvPr id="0" name="Object 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55031" y="3243827"/>
                        <a:ext cx="442762" cy="442762"/>
                      </a:xfrm>
                      <a:prstGeom prst="rect">
                        <a:avLst/>
                      </a:prstGeom>
                      <a:noFill/>
                    </p:spPr>
                  </p:pic>
                </p:oleObj>
              </mc:Fallback>
            </mc:AlternateContent>
          </a:graphicData>
        </a:graphic>
      </p:graphicFrame>
    </p:spTree>
    <p:extLst>
      <p:ext uri="{BB962C8B-B14F-4D97-AF65-F5344CB8AC3E}">
        <p14:creationId xmlns:p14="http://schemas.microsoft.com/office/powerpoint/2010/main" val="166322801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animEffect transition="in" filter="fade">
                                      <p:cBhvr>
                                        <p:cTn id="7" dur="1000"/>
                                        <p:tgtEl>
                                          <p:spTgt spid="8">
                                            <p:txEl>
                                              <p:pRg st="1" end="1"/>
                                            </p:txEl>
                                          </p:spTgt>
                                        </p:tgtEl>
                                      </p:cBhvr>
                                    </p:animEffect>
                                    <p:anim calcmode="lin" valueType="num">
                                      <p:cBhvr>
                                        <p:cTn id="8" dur="1000" fill="hold"/>
                                        <p:tgtEl>
                                          <p:spTgt spid="8">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8">
                                            <p:txEl>
                                              <p:pRg st="2" end="2"/>
                                            </p:txEl>
                                          </p:spTgt>
                                        </p:tgtEl>
                                        <p:attrNameLst>
                                          <p:attrName>style.visibility</p:attrName>
                                        </p:attrNameLst>
                                      </p:cBhvr>
                                      <p:to>
                                        <p:strVal val="visible"/>
                                      </p:to>
                                    </p:set>
                                    <p:animEffect transition="in" filter="fade">
                                      <p:cBhvr>
                                        <p:cTn id="12" dur="1000"/>
                                        <p:tgtEl>
                                          <p:spTgt spid="8">
                                            <p:txEl>
                                              <p:pRg st="2" end="2"/>
                                            </p:txEl>
                                          </p:spTgt>
                                        </p:tgtEl>
                                      </p:cBhvr>
                                    </p:animEffect>
                                    <p:anim calcmode="lin" valueType="num">
                                      <p:cBhvr>
                                        <p:cTn id="13"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8">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8">
                                            <p:txEl>
                                              <p:pRg st="3" end="3"/>
                                            </p:txEl>
                                          </p:spTgt>
                                        </p:tgtEl>
                                        <p:attrNameLst>
                                          <p:attrName>style.visibility</p:attrName>
                                        </p:attrNameLst>
                                      </p:cBhvr>
                                      <p:to>
                                        <p:strVal val="visible"/>
                                      </p:to>
                                    </p:set>
                                    <p:animEffect transition="in" filter="fade">
                                      <p:cBhvr>
                                        <p:cTn id="17" dur="1000"/>
                                        <p:tgtEl>
                                          <p:spTgt spid="8">
                                            <p:txEl>
                                              <p:pRg st="3" end="3"/>
                                            </p:txEl>
                                          </p:spTgt>
                                        </p:tgtEl>
                                      </p:cBhvr>
                                    </p:animEffect>
                                    <p:anim calcmode="lin" valueType="num">
                                      <p:cBhvr>
                                        <p:cTn id="18"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8">
                                            <p:txEl>
                                              <p:pRg st="3" end="3"/>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1000"/>
                                        <p:tgtEl>
                                          <p:spTgt spid="5"/>
                                        </p:tgtEl>
                                      </p:cBhvr>
                                    </p:animEffect>
                                    <p:anim calcmode="lin" valueType="num">
                                      <p:cBhvr>
                                        <p:cTn id="23" dur="1000" fill="hold"/>
                                        <p:tgtEl>
                                          <p:spTgt spid="5"/>
                                        </p:tgtEl>
                                        <p:attrNameLst>
                                          <p:attrName>ppt_x</p:attrName>
                                        </p:attrNameLst>
                                      </p:cBhvr>
                                      <p:tavLst>
                                        <p:tav tm="0">
                                          <p:val>
                                            <p:strVal val="#ppt_x"/>
                                          </p:val>
                                        </p:tav>
                                        <p:tav tm="100000">
                                          <p:val>
                                            <p:strVal val="#ppt_x"/>
                                          </p:val>
                                        </p:tav>
                                      </p:tavLst>
                                    </p:anim>
                                    <p:anim calcmode="lin" valueType="num">
                                      <p:cBhvr>
                                        <p:cTn id="24"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solidFill>
                  <a:schemeClr val="bg1"/>
                </a:solidFill>
                <a:latin typeface="Trebuchet MS" panose="020B0603020202020204" pitchFamily="34" charset="0"/>
              </a:rPr>
              <a:t>3.2.1 First-Order Logic Equivalences and Substitution Rules</a:t>
            </a:r>
          </a:p>
          <a:p>
            <a:r>
              <a:rPr lang="en-US" altLang="zh-CN"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dirty="0"/>
              <a:t> </a:t>
            </a:r>
            <a:r>
              <a:rPr lang="en-US" altLang="zh-CN" sz="2400" b="1" dirty="0">
                <a:latin typeface="Trebuchet MS" panose="020B0603020202020204" pitchFamily="34" charset="0"/>
              </a:rPr>
              <a:t>Quantifier scope reduction and expansion equivalences</a:t>
            </a:r>
            <a:endParaRPr lang="en-US" altLang="zh-CN" sz="2000" b="1" dirty="0">
              <a:solidFill>
                <a:schemeClr val="bg1"/>
              </a:solidFill>
              <a:latin typeface="Trebuchet MS" panose="020B0603020202020204" pitchFamily="34" charset="0"/>
              <a:ea typeface="Cambria Math" panose="02040503050406030204" pitchFamily="18" charset="0"/>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31509" y="852263"/>
            <a:ext cx="8852719" cy="5788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eaLnBrk="1" hangingPunct="1">
              <a:buNone/>
            </a:pPr>
            <a:endParaRPr lang="zh-CN" altLang="en-US" sz="2800" b="1" dirty="0"/>
          </a:p>
        </p:txBody>
      </p:sp>
      <p:sp>
        <p:nvSpPr>
          <p:cNvPr id="10" name="Text Box 4">
            <a:extLst>
              <a:ext uri="{FF2B5EF4-FFF2-40B4-BE49-F238E27FC236}">
                <a16:creationId xmlns:a16="http://schemas.microsoft.com/office/drawing/2014/main" id="{F09B478F-9F9E-424D-8E28-3B453EF9C23B}"/>
              </a:ext>
            </a:extLst>
          </p:cNvPr>
          <p:cNvSpPr txBox="1">
            <a:spLocks noChangeArrowheads="1"/>
          </p:cNvSpPr>
          <p:nvPr/>
        </p:nvSpPr>
        <p:spPr bwMode="auto">
          <a:xfrm>
            <a:off x="1031509" y="916690"/>
            <a:ext cx="9767120" cy="49427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342900" indent="-342900" eaLnBrk="1" hangingPunct="1">
              <a:lnSpc>
                <a:spcPct val="120000"/>
              </a:lnSpc>
              <a:spcBef>
                <a:spcPct val="20000"/>
              </a:spcBef>
              <a:buClr>
                <a:srgbClr val="0B61FF"/>
              </a:buClr>
              <a:buSzPct val="80000"/>
              <a:buFont typeface="Wingdings" panose="05000000000000000000" pitchFamily="2" charset="2"/>
              <a:buChar char="n"/>
            </a:pPr>
            <a:r>
              <a:rPr lang="en-US" altLang="zh-CN" sz="2400" b="1" dirty="0">
                <a:latin typeface="Trebuchet MS" panose="020B0603020202020204" pitchFamily="34" charset="0"/>
              </a:rPr>
              <a:t>Quantifier scope reduction and expansion equivalences</a:t>
            </a:r>
            <a:r>
              <a:rPr lang="zh-CN" altLang="en-US" sz="2400" dirty="0">
                <a:latin typeface="Trebuchet MS" panose="020B0603020202020204" pitchFamily="34" charset="0"/>
              </a:rPr>
              <a:t>：</a:t>
            </a:r>
            <a:r>
              <a:rPr lang="en-US" altLang="zh-CN" sz="2400" dirty="0">
                <a:latin typeface="Trebuchet MS" panose="020B0603020202020204" pitchFamily="34" charset="0"/>
              </a:rPr>
              <a:t>To adjust the scope of quantifiers (</a:t>
            </a:r>
            <a:r>
              <a:rPr lang="en-US" altLang="zh-CN" sz="2400" b="1" dirty="0">
                <a:latin typeface="Trebuchet MS" panose="020B0603020202020204" pitchFamily="34" charset="0"/>
              </a:rPr>
              <a:t>∀, ∃</a:t>
            </a:r>
            <a:r>
              <a:rPr lang="en-US" altLang="zh-CN" sz="2400" dirty="0">
                <a:latin typeface="Trebuchet MS" panose="020B0603020202020204" pitchFamily="34" charset="0"/>
              </a:rPr>
              <a:t>) while preserving logical equivalence.</a:t>
            </a:r>
          </a:p>
          <a:p>
            <a:pPr marL="533400" indent="-261938" algn="just" eaLnBrk="1" hangingPunct="1">
              <a:lnSpc>
                <a:spcPct val="120000"/>
              </a:lnSpc>
              <a:spcBef>
                <a:spcPct val="20000"/>
              </a:spcBef>
              <a:buClr>
                <a:srgbClr val="0B61FF"/>
              </a:buClr>
              <a:buSzPct val="120000"/>
              <a:buFont typeface="Arial" panose="020B0604020202020204" pitchFamily="34" charset="0"/>
              <a:buChar char="•"/>
            </a:pPr>
            <a:r>
              <a:rPr lang="en-US" altLang="zh-CN" sz="2400" b="0" i="0" dirty="0">
                <a:solidFill>
                  <a:srgbClr val="0C0D0E"/>
                </a:solidFill>
                <a:effectLst/>
                <a:latin typeface="Trebuchet MS" panose="020B0603020202020204" pitchFamily="34" charset="0"/>
              </a:rPr>
              <a:t>Let </a:t>
            </a:r>
            <a:r>
              <a:rPr lang="en-US" altLang="zh-CN" sz="2400" b="1" i="1" dirty="0">
                <a:solidFill>
                  <a:srgbClr val="0C0D0E"/>
                </a:solidFill>
                <a:effectLst/>
                <a:latin typeface="Trebuchet MS" panose="020B0603020202020204" pitchFamily="34" charset="0"/>
              </a:rPr>
              <a:t>A</a:t>
            </a:r>
            <a:r>
              <a:rPr lang="en-US" altLang="zh-CN" sz="2400" b="0" i="0" dirty="0">
                <a:solidFill>
                  <a:srgbClr val="0C0D0E"/>
                </a:solidFill>
                <a:effectLst/>
                <a:latin typeface="Trebuchet MS" panose="020B0603020202020204" pitchFamily="34" charset="0"/>
              </a:rPr>
              <a:t>(</a:t>
            </a:r>
            <a:r>
              <a:rPr lang="en-US" altLang="zh-CN" sz="2400" b="1" i="1" dirty="0">
                <a:solidFill>
                  <a:srgbClr val="0C0D0E"/>
                </a:solidFill>
                <a:effectLst/>
                <a:latin typeface="Trebuchet MS" panose="020B0603020202020204" pitchFamily="34" charset="0"/>
              </a:rPr>
              <a:t>x</a:t>
            </a:r>
            <a:r>
              <a:rPr lang="en-US" altLang="zh-CN" sz="2400" b="0" i="0" dirty="0">
                <a:solidFill>
                  <a:srgbClr val="0C0D0E"/>
                </a:solidFill>
                <a:effectLst/>
                <a:latin typeface="Trebuchet MS" panose="020B0603020202020204" pitchFamily="34" charset="0"/>
              </a:rPr>
              <a:t>) be a formula in which </a:t>
            </a:r>
            <a:r>
              <a:rPr lang="en-US" altLang="zh-CN" sz="2400" b="1" i="1" dirty="0">
                <a:solidFill>
                  <a:srgbClr val="0C0D0E"/>
                </a:solidFill>
                <a:effectLst/>
                <a:latin typeface="Trebuchet MS" panose="020B0603020202020204" pitchFamily="34" charset="0"/>
              </a:rPr>
              <a:t>x</a:t>
            </a:r>
            <a:r>
              <a:rPr lang="en-US" altLang="zh-CN" sz="2400" b="0" i="0" dirty="0">
                <a:solidFill>
                  <a:srgbClr val="0C0D0E"/>
                </a:solidFill>
                <a:effectLst/>
                <a:latin typeface="Trebuchet MS" panose="020B0603020202020204" pitchFamily="34" charset="0"/>
              </a:rPr>
              <a:t> appears freely, and let </a:t>
            </a:r>
            <a:r>
              <a:rPr lang="en-US" altLang="zh-CN" sz="2400" b="1" i="1" dirty="0">
                <a:solidFill>
                  <a:srgbClr val="0C0D0E"/>
                </a:solidFill>
                <a:effectLst/>
                <a:latin typeface="Trebuchet MS" panose="020B0603020202020204" pitchFamily="34" charset="0"/>
              </a:rPr>
              <a:t>B</a:t>
            </a:r>
            <a:r>
              <a:rPr lang="en-US" altLang="zh-CN" sz="2400" b="0" i="0" dirty="0">
                <a:solidFill>
                  <a:srgbClr val="0C0D0E"/>
                </a:solidFill>
                <a:effectLst/>
                <a:latin typeface="Trebuchet MS" panose="020B0603020202020204" pitchFamily="34" charset="0"/>
              </a:rPr>
              <a:t> be a formula in which </a:t>
            </a:r>
            <a:r>
              <a:rPr lang="en-US" altLang="zh-CN" sz="2400" b="1" i="1" dirty="0">
                <a:solidFill>
                  <a:srgbClr val="0C0D0E"/>
                </a:solidFill>
                <a:effectLst/>
                <a:latin typeface="Trebuchet MS" panose="020B0603020202020204" pitchFamily="34" charset="0"/>
              </a:rPr>
              <a:t>x</a:t>
            </a:r>
            <a:r>
              <a:rPr lang="en-US" altLang="zh-CN" sz="2400" b="0" i="0" dirty="0">
                <a:solidFill>
                  <a:srgbClr val="0C0D0E"/>
                </a:solidFill>
                <a:effectLst/>
                <a:latin typeface="Trebuchet MS" panose="020B0603020202020204" pitchFamily="34" charset="0"/>
              </a:rPr>
              <a:t> does not appear.</a:t>
            </a:r>
          </a:p>
          <a:p>
            <a:pPr indent="446088" algn="just" eaLnBrk="1" hangingPunct="1">
              <a:lnSpc>
                <a:spcPct val="120000"/>
              </a:lnSpc>
              <a:spcBef>
                <a:spcPct val="20000"/>
              </a:spcBef>
              <a:buClr>
                <a:schemeClr val="bg2"/>
              </a:buClr>
              <a:buSzPct val="75000"/>
            </a:pPr>
            <a:r>
              <a:rPr lang="en-US" altLang="zh-CN" sz="2400" b="1" dirty="0">
                <a:solidFill>
                  <a:srgbClr val="0B61FF"/>
                </a:solidFill>
                <a:latin typeface="Times New Roman" panose="02020603050405020304" pitchFamily="18" charset="0"/>
                <a:ea typeface="宋体" panose="02010600030101010101" pitchFamily="2" charset="-122"/>
              </a:rPr>
              <a:t>Universal quantifier                </a:t>
            </a:r>
            <a:r>
              <a:rPr lang="en-US" sz="2400" b="1" dirty="0">
                <a:solidFill>
                  <a:srgbClr val="0B61FF"/>
                </a:solidFill>
                <a:latin typeface="Trebuchet MS" panose="020B0603020202020204" pitchFamily="34" charset="0"/>
              </a:rPr>
              <a:t>  E</a:t>
            </a:r>
            <a:r>
              <a:rPr lang="en-US" sz="2400" b="1" i="0" dirty="0">
                <a:solidFill>
                  <a:srgbClr val="0B61FF"/>
                </a:solidFill>
                <a:effectLst/>
                <a:latin typeface="Trebuchet MS" panose="020B0603020202020204" pitchFamily="34" charset="0"/>
              </a:rPr>
              <a:t>xistential quantifier</a:t>
            </a:r>
            <a:r>
              <a:rPr lang="en-US" altLang="zh-CN" sz="2400" b="1" dirty="0">
                <a:solidFill>
                  <a:srgbClr val="0B61FF"/>
                </a:solidFill>
                <a:latin typeface="Trebuchet MS" panose="020B0603020202020204" pitchFamily="34" charset="0"/>
                <a:sym typeface="Symbol" panose="05050102010706020507" pitchFamily="18" charset="2"/>
              </a:rPr>
              <a:t>       </a:t>
            </a:r>
          </a:p>
          <a:p>
            <a:pPr indent="446088" algn="just" eaLnBrk="1" hangingPunct="1">
              <a:lnSpc>
                <a:spcPct val="120000"/>
              </a:lnSpc>
              <a:spcBef>
                <a:spcPct val="20000"/>
              </a:spcBef>
              <a:buClr>
                <a:schemeClr val="bg2"/>
              </a:buClr>
              <a:buSzPct val="75000"/>
            </a:pPr>
            <a:r>
              <a:rPr lang="zh-CN" altLang="en-US" sz="2400" b="1" dirty="0">
                <a:latin typeface="Times New Roman" panose="02020603050405020304" pitchFamily="18" charset="0"/>
                <a:sym typeface="Symbol" panose="05050102010706020507" pitchFamily="18" charset="2"/>
              </a:rPr>
              <a:t></a:t>
            </a:r>
            <a:r>
              <a:rPr lang="en-US" altLang="zh-CN" sz="2400" b="1" i="1" dirty="0">
                <a:latin typeface="Times New Roman" panose="02020603050405020304" pitchFamily="18" charset="0"/>
              </a:rPr>
              <a:t>x</a:t>
            </a:r>
            <a:r>
              <a:rPr lang="en-US" altLang="zh-CN" sz="2400" b="1" dirty="0">
                <a:latin typeface="Times New Roman" panose="02020603050405020304" pitchFamily="18" charset="0"/>
              </a:rPr>
              <a:t>(</a:t>
            </a:r>
            <a:r>
              <a:rPr lang="en-US" altLang="zh-CN" sz="2400" b="1" i="1" dirty="0">
                <a:latin typeface="Times New Roman" panose="02020603050405020304" pitchFamily="18" charset="0"/>
              </a:rPr>
              <a:t>A</a:t>
            </a:r>
            <a:r>
              <a:rPr lang="en-US" altLang="zh-CN" sz="2400" b="1" dirty="0">
                <a:latin typeface="Times New Roman" panose="02020603050405020304" pitchFamily="18" charset="0"/>
              </a:rPr>
              <a:t>(</a:t>
            </a:r>
            <a:r>
              <a:rPr lang="en-US" altLang="zh-CN" sz="2400" b="1" i="1" dirty="0">
                <a:latin typeface="Times New Roman" panose="02020603050405020304" pitchFamily="18" charset="0"/>
              </a:rPr>
              <a:t>x</a:t>
            </a:r>
            <a:r>
              <a:rPr lang="en-US" altLang="zh-CN" sz="2400" b="1" dirty="0">
                <a:latin typeface="Times New Roman" panose="02020603050405020304" pitchFamily="18" charset="0"/>
              </a:rPr>
              <a:t>)</a:t>
            </a:r>
            <a:r>
              <a:rPr lang="en-US" altLang="zh-CN" sz="2400" b="1" dirty="0">
                <a:latin typeface="Times New Roman" panose="02020603050405020304" pitchFamily="18" charset="0"/>
                <a:sym typeface="Symbol" panose="05050102010706020507" pitchFamily="18" charset="2"/>
              </a:rPr>
              <a:t></a:t>
            </a:r>
            <a:r>
              <a:rPr lang="en-US" altLang="zh-CN" sz="2400" b="1" i="1" dirty="0">
                <a:latin typeface="Times New Roman" panose="02020603050405020304" pitchFamily="18" charset="0"/>
              </a:rPr>
              <a:t>B</a:t>
            </a:r>
            <a:r>
              <a:rPr lang="en-US" altLang="zh-CN" sz="2400" b="1" dirty="0">
                <a:latin typeface="Times New Roman" panose="02020603050405020304" pitchFamily="18" charset="0"/>
              </a:rPr>
              <a:t>)</a:t>
            </a:r>
            <a:r>
              <a:rPr lang="en-US" altLang="zh-CN" sz="2400" b="1" dirty="0">
                <a:latin typeface="Times New Roman" panose="02020603050405020304" pitchFamily="18" charset="0"/>
                <a:sym typeface="Symbol" panose="05050102010706020507" pitchFamily="18" charset="2"/>
              </a:rPr>
              <a:t></a:t>
            </a:r>
            <a:r>
              <a:rPr lang="en-US" altLang="zh-CN" sz="2400" b="1" i="1" dirty="0">
                <a:latin typeface="Times New Roman" panose="02020603050405020304" pitchFamily="18" charset="0"/>
              </a:rPr>
              <a:t>xA</a:t>
            </a:r>
            <a:r>
              <a:rPr lang="en-US" altLang="zh-CN" sz="2400" b="1" dirty="0">
                <a:latin typeface="Times New Roman" panose="02020603050405020304" pitchFamily="18" charset="0"/>
              </a:rPr>
              <a:t>(</a:t>
            </a:r>
            <a:r>
              <a:rPr lang="en-US" altLang="zh-CN" sz="2400" b="1" i="1" dirty="0">
                <a:latin typeface="Times New Roman" panose="02020603050405020304" pitchFamily="18" charset="0"/>
              </a:rPr>
              <a:t>x</a:t>
            </a:r>
            <a:r>
              <a:rPr lang="en-US" altLang="zh-CN" sz="2400" b="1" dirty="0">
                <a:latin typeface="Times New Roman" panose="02020603050405020304" pitchFamily="18" charset="0"/>
              </a:rPr>
              <a:t>)</a:t>
            </a:r>
            <a:r>
              <a:rPr lang="en-US" altLang="zh-CN" sz="2400" b="1" dirty="0">
                <a:latin typeface="Times New Roman" panose="02020603050405020304" pitchFamily="18" charset="0"/>
                <a:sym typeface="Symbol" panose="05050102010706020507" pitchFamily="18" charset="2"/>
              </a:rPr>
              <a:t></a:t>
            </a:r>
            <a:r>
              <a:rPr lang="en-US" altLang="zh-CN" sz="2400" b="1" i="1" dirty="0">
                <a:latin typeface="Times New Roman" panose="02020603050405020304" pitchFamily="18" charset="0"/>
              </a:rPr>
              <a:t>B          </a:t>
            </a:r>
            <a:r>
              <a:rPr lang="en-US" altLang="zh-CN" sz="2400" b="1" dirty="0">
                <a:latin typeface="Trebuchet MS" panose="020B0603020202020204" pitchFamily="34" charset="0"/>
                <a:sym typeface="Symbol" panose="05050102010706020507" pitchFamily="18" charset="2"/>
              </a:rPr>
              <a:t> </a:t>
            </a:r>
            <a:r>
              <a:rPr lang="en-US" altLang="zh-CN" sz="2400" b="1" i="1" dirty="0">
                <a:latin typeface="Trebuchet MS" panose="020B0603020202020204" pitchFamily="34" charset="0"/>
              </a:rPr>
              <a:t>x</a:t>
            </a:r>
            <a:r>
              <a:rPr lang="en-US" altLang="zh-CN" sz="2400" b="1" dirty="0">
                <a:latin typeface="Trebuchet MS" panose="020B0603020202020204" pitchFamily="34" charset="0"/>
              </a:rPr>
              <a:t>(</a:t>
            </a:r>
            <a:r>
              <a:rPr lang="en-US" altLang="zh-CN" sz="2400" b="1" i="1" dirty="0">
                <a:latin typeface="Trebuchet MS" panose="020B0603020202020204" pitchFamily="34" charset="0"/>
              </a:rPr>
              <a:t>A</a:t>
            </a:r>
            <a:r>
              <a:rPr lang="en-US" altLang="zh-CN" sz="2400" b="1" dirty="0">
                <a:latin typeface="Trebuchet MS" panose="020B0603020202020204" pitchFamily="34" charset="0"/>
              </a:rPr>
              <a:t>(</a:t>
            </a:r>
            <a:r>
              <a:rPr lang="en-US" altLang="zh-CN" sz="2400" b="1" i="1" dirty="0">
                <a:latin typeface="Trebuchet MS" panose="020B0603020202020204" pitchFamily="34" charset="0"/>
              </a:rPr>
              <a:t>x</a:t>
            </a:r>
            <a:r>
              <a:rPr lang="en-US" altLang="zh-CN" sz="2400" b="1" dirty="0">
                <a:latin typeface="Trebuchet MS" panose="020B0603020202020204" pitchFamily="34" charset="0"/>
              </a:rPr>
              <a:t>)</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B</a:t>
            </a:r>
            <a:r>
              <a:rPr lang="en-US" altLang="zh-CN" sz="2400" b="1" dirty="0">
                <a:latin typeface="Trebuchet MS" panose="020B0603020202020204" pitchFamily="34" charset="0"/>
              </a:rPr>
              <a:t>)</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xA</a:t>
            </a:r>
            <a:r>
              <a:rPr lang="en-US" altLang="zh-CN" sz="2400" b="1" dirty="0">
                <a:latin typeface="Trebuchet MS" panose="020B0603020202020204" pitchFamily="34" charset="0"/>
              </a:rPr>
              <a:t>(</a:t>
            </a:r>
            <a:r>
              <a:rPr lang="en-US" altLang="zh-CN" sz="2400" b="1" i="1" dirty="0">
                <a:latin typeface="Trebuchet MS" panose="020B0603020202020204" pitchFamily="34" charset="0"/>
              </a:rPr>
              <a:t>x</a:t>
            </a:r>
            <a:r>
              <a:rPr lang="en-US" altLang="zh-CN" sz="2400" b="1" dirty="0">
                <a:latin typeface="Trebuchet MS" panose="020B0603020202020204" pitchFamily="34" charset="0"/>
              </a:rPr>
              <a:t>)</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B</a:t>
            </a:r>
            <a:endParaRPr lang="en-US" altLang="zh-CN" sz="2400" b="1" dirty="0">
              <a:latin typeface="Trebuchet MS" panose="020B0603020202020204" pitchFamily="34" charset="0"/>
            </a:endParaRPr>
          </a:p>
          <a:p>
            <a:pPr indent="446088" algn="just" eaLnBrk="1" hangingPunct="1">
              <a:lnSpc>
                <a:spcPct val="120000"/>
              </a:lnSpc>
              <a:spcBef>
                <a:spcPct val="20000"/>
              </a:spcBef>
              <a:buClr>
                <a:schemeClr val="bg2"/>
              </a:buClr>
              <a:buSzPct val="75000"/>
            </a:pPr>
            <a:r>
              <a:rPr lang="en-US" altLang="zh-CN" sz="2400" b="1" dirty="0">
                <a:latin typeface="Times New Roman" panose="02020603050405020304" pitchFamily="18" charset="0"/>
                <a:sym typeface="Symbol" panose="05050102010706020507" pitchFamily="18" charset="2"/>
              </a:rPr>
              <a:t></a:t>
            </a:r>
            <a:r>
              <a:rPr lang="en-US" altLang="zh-CN" sz="2400" b="1" i="1" dirty="0">
                <a:latin typeface="Times New Roman" panose="02020603050405020304" pitchFamily="18" charset="0"/>
              </a:rPr>
              <a:t>x</a:t>
            </a:r>
            <a:r>
              <a:rPr lang="en-US" altLang="zh-CN" sz="2400" b="1" dirty="0">
                <a:latin typeface="Times New Roman" panose="02020603050405020304" pitchFamily="18" charset="0"/>
              </a:rPr>
              <a:t>(</a:t>
            </a:r>
            <a:r>
              <a:rPr lang="en-US" altLang="zh-CN" sz="2400" b="1" i="1" dirty="0">
                <a:latin typeface="Times New Roman" panose="02020603050405020304" pitchFamily="18" charset="0"/>
              </a:rPr>
              <a:t>A</a:t>
            </a:r>
            <a:r>
              <a:rPr lang="en-US" altLang="zh-CN" sz="2400" b="1" dirty="0">
                <a:latin typeface="Times New Roman" panose="02020603050405020304" pitchFamily="18" charset="0"/>
              </a:rPr>
              <a:t>(</a:t>
            </a:r>
            <a:r>
              <a:rPr lang="en-US" altLang="zh-CN" sz="2400" b="1" i="1" dirty="0">
                <a:latin typeface="Times New Roman" panose="02020603050405020304" pitchFamily="18" charset="0"/>
              </a:rPr>
              <a:t>x</a:t>
            </a:r>
            <a:r>
              <a:rPr lang="en-US" altLang="zh-CN" sz="2400" b="1" dirty="0">
                <a:latin typeface="Times New Roman" panose="02020603050405020304" pitchFamily="18" charset="0"/>
              </a:rPr>
              <a:t>)</a:t>
            </a:r>
            <a:r>
              <a:rPr lang="en-US" altLang="zh-CN" sz="2400" b="1" dirty="0">
                <a:latin typeface="Times New Roman" panose="02020603050405020304" pitchFamily="18" charset="0"/>
                <a:sym typeface="Symbol" panose="05050102010706020507" pitchFamily="18" charset="2"/>
              </a:rPr>
              <a:t></a:t>
            </a:r>
            <a:r>
              <a:rPr lang="en-US" altLang="zh-CN" sz="2400" b="1" i="1" dirty="0">
                <a:latin typeface="Times New Roman" panose="02020603050405020304" pitchFamily="18" charset="0"/>
              </a:rPr>
              <a:t>B</a:t>
            </a:r>
            <a:r>
              <a:rPr lang="en-US" altLang="zh-CN" sz="2400" b="1" dirty="0">
                <a:latin typeface="Times New Roman" panose="02020603050405020304" pitchFamily="18" charset="0"/>
              </a:rPr>
              <a:t>)</a:t>
            </a:r>
            <a:r>
              <a:rPr lang="en-US" altLang="zh-CN" sz="2400" b="1" dirty="0">
                <a:latin typeface="Times New Roman" panose="02020603050405020304" pitchFamily="18" charset="0"/>
                <a:sym typeface="Symbol" panose="05050102010706020507" pitchFamily="18" charset="2"/>
              </a:rPr>
              <a:t></a:t>
            </a:r>
            <a:r>
              <a:rPr lang="en-US" altLang="zh-CN" sz="2400" b="1" i="1" dirty="0">
                <a:latin typeface="Times New Roman" panose="02020603050405020304" pitchFamily="18" charset="0"/>
              </a:rPr>
              <a:t>xA</a:t>
            </a:r>
            <a:r>
              <a:rPr lang="en-US" altLang="zh-CN" sz="2400" b="1" dirty="0">
                <a:latin typeface="Times New Roman" panose="02020603050405020304" pitchFamily="18" charset="0"/>
              </a:rPr>
              <a:t>(</a:t>
            </a:r>
            <a:r>
              <a:rPr lang="en-US" altLang="zh-CN" sz="2400" b="1" i="1" dirty="0">
                <a:latin typeface="Times New Roman" panose="02020603050405020304" pitchFamily="18" charset="0"/>
              </a:rPr>
              <a:t>x</a:t>
            </a:r>
            <a:r>
              <a:rPr lang="en-US" altLang="zh-CN" sz="2400" b="1" dirty="0">
                <a:latin typeface="Times New Roman" panose="02020603050405020304" pitchFamily="18" charset="0"/>
              </a:rPr>
              <a:t>)</a:t>
            </a:r>
            <a:r>
              <a:rPr lang="en-US" altLang="zh-CN" sz="2400" b="1" dirty="0">
                <a:latin typeface="Times New Roman" panose="02020603050405020304" pitchFamily="18" charset="0"/>
                <a:sym typeface="Symbol" panose="05050102010706020507" pitchFamily="18" charset="2"/>
              </a:rPr>
              <a:t></a:t>
            </a:r>
            <a:r>
              <a:rPr lang="en-US" altLang="zh-CN" sz="2400" b="1" i="1" dirty="0">
                <a:latin typeface="Times New Roman" panose="02020603050405020304" pitchFamily="18" charset="0"/>
              </a:rPr>
              <a:t>B </a:t>
            </a:r>
            <a:r>
              <a:rPr lang="en-US" altLang="zh-CN" sz="2400" b="1" dirty="0">
                <a:latin typeface="Trebuchet MS" panose="020B0603020202020204" pitchFamily="34" charset="0"/>
                <a:sym typeface="Symbol" panose="05050102010706020507" pitchFamily="18" charset="2"/>
              </a:rPr>
              <a:t>         </a:t>
            </a:r>
            <a:r>
              <a:rPr lang="en-US" altLang="zh-CN" sz="2400" b="1" i="1" dirty="0">
                <a:latin typeface="Trebuchet MS" panose="020B0603020202020204" pitchFamily="34" charset="0"/>
              </a:rPr>
              <a:t>x</a:t>
            </a:r>
            <a:r>
              <a:rPr lang="en-US" altLang="zh-CN" sz="2400" b="1" dirty="0">
                <a:latin typeface="Trebuchet MS" panose="020B0603020202020204" pitchFamily="34" charset="0"/>
              </a:rPr>
              <a:t>(</a:t>
            </a:r>
            <a:r>
              <a:rPr lang="en-US" altLang="zh-CN" sz="2400" b="1" i="1" dirty="0">
                <a:latin typeface="Trebuchet MS" panose="020B0603020202020204" pitchFamily="34" charset="0"/>
              </a:rPr>
              <a:t>A</a:t>
            </a:r>
            <a:r>
              <a:rPr lang="en-US" altLang="zh-CN" sz="2400" b="1" dirty="0">
                <a:latin typeface="Trebuchet MS" panose="020B0603020202020204" pitchFamily="34" charset="0"/>
              </a:rPr>
              <a:t>(</a:t>
            </a:r>
            <a:r>
              <a:rPr lang="en-US" altLang="zh-CN" sz="2400" b="1" i="1" dirty="0">
                <a:latin typeface="Trebuchet MS" panose="020B0603020202020204" pitchFamily="34" charset="0"/>
              </a:rPr>
              <a:t>x</a:t>
            </a:r>
            <a:r>
              <a:rPr lang="en-US" altLang="zh-CN" sz="2400" b="1" dirty="0">
                <a:latin typeface="Trebuchet MS" panose="020B0603020202020204" pitchFamily="34" charset="0"/>
              </a:rPr>
              <a:t>)</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B</a:t>
            </a:r>
            <a:r>
              <a:rPr lang="en-US" altLang="zh-CN" sz="2400" b="1" dirty="0">
                <a:latin typeface="Trebuchet MS" panose="020B0603020202020204" pitchFamily="34" charset="0"/>
              </a:rPr>
              <a:t>)</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xA</a:t>
            </a:r>
            <a:r>
              <a:rPr lang="en-US" altLang="zh-CN" sz="2400" b="1" dirty="0">
                <a:latin typeface="Trebuchet MS" panose="020B0603020202020204" pitchFamily="34" charset="0"/>
              </a:rPr>
              <a:t>(</a:t>
            </a:r>
            <a:r>
              <a:rPr lang="en-US" altLang="zh-CN" sz="2400" b="1" i="1" dirty="0">
                <a:latin typeface="Trebuchet MS" panose="020B0603020202020204" pitchFamily="34" charset="0"/>
              </a:rPr>
              <a:t>x</a:t>
            </a:r>
            <a:r>
              <a:rPr lang="en-US" altLang="zh-CN" sz="2400" b="1" dirty="0">
                <a:latin typeface="Trebuchet MS" panose="020B0603020202020204" pitchFamily="34" charset="0"/>
              </a:rPr>
              <a:t>)</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B</a:t>
            </a:r>
            <a:endParaRPr lang="en-US" altLang="zh-CN" sz="2400" b="1" dirty="0">
              <a:latin typeface="Trebuchet MS" panose="020B0603020202020204" pitchFamily="34" charset="0"/>
            </a:endParaRPr>
          </a:p>
          <a:p>
            <a:pPr indent="446088" algn="just" eaLnBrk="1" hangingPunct="1">
              <a:lnSpc>
                <a:spcPct val="120000"/>
              </a:lnSpc>
              <a:spcBef>
                <a:spcPct val="20000"/>
              </a:spcBef>
              <a:buClr>
                <a:schemeClr val="bg2"/>
              </a:buClr>
              <a:buSzPct val="75000"/>
              <a:buFont typeface="Wingdings" panose="05000000000000000000" pitchFamily="2" charset="2"/>
              <a:buNone/>
            </a:pPr>
            <a:r>
              <a:rPr lang="en-US" altLang="zh-CN" sz="2400" b="1" dirty="0">
                <a:latin typeface="Times New Roman" panose="02020603050405020304" pitchFamily="18" charset="0"/>
                <a:sym typeface="Symbol" panose="05050102010706020507" pitchFamily="18" charset="2"/>
              </a:rPr>
              <a:t></a:t>
            </a:r>
            <a:r>
              <a:rPr lang="en-US" altLang="zh-CN" sz="2400" b="1" i="1" dirty="0">
                <a:latin typeface="Times New Roman" panose="02020603050405020304" pitchFamily="18" charset="0"/>
              </a:rPr>
              <a:t>x</a:t>
            </a:r>
            <a:r>
              <a:rPr lang="en-US" altLang="zh-CN" sz="2400" b="1" dirty="0">
                <a:latin typeface="Times New Roman" panose="02020603050405020304" pitchFamily="18" charset="0"/>
              </a:rPr>
              <a:t>(</a:t>
            </a:r>
            <a:r>
              <a:rPr lang="en-US" altLang="zh-CN" sz="2400" b="1" i="1" dirty="0">
                <a:latin typeface="Times New Roman" panose="02020603050405020304" pitchFamily="18" charset="0"/>
              </a:rPr>
              <a:t>A</a:t>
            </a:r>
            <a:r>
              <a:rPr lang="en-US" altLang="zh-CN" sz="2400" b="1" dirty="0">
                <a:latin typeface="Times New Roman" panose="02020603050405020304" pitchFamily="18" charset="0"/>
              </a:rPr>
              <a:t>(</a:t>
            </a:r>
            <a:r>
              <a:rPr lang="en-US" altLang="zh-CN" sz="2400" b="1" i="1" dirty="0">
                <a:latin typeface="Times New Roman" panose="02020603050405020304" pitchFamily="18" charset="0"/>
              </a:rPr>
              <a:t>x</a:t>
            </a:r>
            <a:r>
              <a:rPr lang="en-US" altLang="zh-CN" sz="2400" b="1" dirty="0">
                <a:latin typeface="Times New Roman" panose="02020603050405020304" pitchFamily="18" charset="0"/>
              </a:rPr>
              <a:t>)</a:t>
            </a:r>
            <a:r>
              <a:rPr lang="en-US" altLang="zh-CN" sz="2400" b="1" dirty="0">
                <a:latin typeface="Times New Roman" panose="02020603050405020304" pitchFamily="18" charset="0"/>
                <a:sym typeface="Symbol" panose="05050102010706020507" pitchFamily="18" charset="2"/>
              </a:rPr>
              <a:t></a:t>
            </a:r>
            <a:r>
              <a:rPr lang="en-US" altLang="zh-CN" sz="2400" b="1" i="1" dirty="0">
                <a:latin typeface="Times New Roman" panose="02020603050405020304" pitchFamily="18" charset="0"/>
              </a:rPr>
              <a:t>B</a:t>
            </a:r>
            <a:r>
              <a:rPr lang="en-US" altLang="zh-CN" sz="2400" b="1" dirty="0">
                <a:latin typeface="Times New Roman" panose="02020603050405020304" pitchFamily="18" charset="0"/>
              </a:rPr>
              <a:t>)</a:t>
            </a:r>
            <a:r>
              <a:rPr lang="en-US" altLang="zh-CN" sz="2400" b="1" dirty="0">
                <a:latin typeface="Times New Roman" panose="02020603050405020304" pitchFamily="18" charset="0"/>
                <a:sym typeface="Symbol" panose="05050102010706020507" pitchFamily="18" charset="2"/>
              </a:rPr>
              <a:t></a:t>
            </a:r>
            <a:r>
              <a:rPr lang="en-US" altLang="zh-CN" sz="2400" b="1" i="1" dirty="0">
                <a:latin typeface="Times New Roman" panose="02020603050405020304" pitchFamily="18" charset="0"/>
              </a:rPr>
              <a:t>xA</a:t>
            </a:r>
            <a:r>
              <a:rPr lang="en-US" altLang="zh-CN" sz="2400" b="1" dirty="0">
                <a:latin typeface="Times New Roman" panose="02020603050405020304" pitchFamily="18" charset="0"/>
              </a:rPr>
              <a:t>(</a:t>
            </a:r>
            <a:r>
              <a:rPr lang="en-US" altLang="zh-CN" sz="2400" b="1" i="1" dirty="0">
                <a:latin typeface="Times New Roman" panose="02020603050405020304" pitchFamily="18" charset="0"/>
              </a:rPr>
              <a:t>x</a:t>
            </a:r>
            <a:r>
              <a:rPr lang="en-US" altLang="zh-CN" sz="2400" b="1" dirty="0">
                <a:latin typeface="Times New Roman" panose="02020603050405020304" pitchFamily="18" charset="0"/>
              </a:rPr>
              <a:t>)</a:t>
            </a:r>
            <a:r>
              <a:rPr lang="en-US" altLang="zh-CN" sz="2400" b="1" dirty="0">
                <a:latin typeface="Times New Roman" panose="02020603050405020304" pitchFamily="18" charset="0"/>
                <a:sym typeface="Symbol" panose="05050102010706020507" pitchFamily="18" charset="2"/>
              </a:rPr>
              <a:t></a:t>
            </a:r>
            <a:r>
              <a:rPr lang="en-US" altLang="zh-CN" sz="2400" b="1" i="1" dirty="0">
                <a:latin typeface="Times New Roman" panose="02020603050405020304" pitchFamily="18" charset="0"/>
              </a:rPr>
              <a:t>B         </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x</a:t>
            </a:r>
            <a:r>
              <a:rPr lang="en-US" altLang="zh-CN" sz="2400" b="1" dirty="0">
                <a:latin typeface="Trebuchet MS" panose="020B0603020202020204" pitchFamily="34" charset="0"/>
              </a:rPr>
              <a:t>(</a:t>
            </a:r>
            <a:r>
              <a:rPr lang="en-US" altLang="zh-CN" sz="2400" b="1" i="1" dirty="0">
                <a:latin typeface="Trebuchet MS" panose="020B0603020202020204" pitchFamily="34" charset="0"/>
              </a:rPr>
              <a:t>A</a:t>
            </a:r>
            <a:r>
              <a:rPr lang="en-US" altLang="zh-CN" sz="2400" b="1" dirty="0">
                <a:latin typeface="Trebuchet MS" panose="020B0603020202020204" pitchFamily="34" charset="0"/>
              </a:rPr>
              <a:t>(</a:t>
            </a:r>
            <a:r>
              <a:rPr lang="en-US" altLang="zh-CN" sz="2400" b="1" i="1" dirty="0">
                <a:latin typeface="Trebuchet MS" panose="020B0603020202020204" pitchFamily="34" charset="0"/>
              </a:rPr>
              <a:t>x</a:t>
            </a:r>
            <a:r>
              <a:rPr lang="en-US" altLang="zh-CN" sz="2400" b="1" dirty="0">
                <a:latin typeface="Trebuchet MS" panose="020B0603020202020204" pitchFamily="34" charset="0"/>
              </a:rPr>
              <a:t>)</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B</a:t>
            </a:r>
            <a:r>
              <a:rPr lang="en-US" altLang="zh-CN" sz="2400" b="1" dirty="0">
                <a:latin typeface="Trebuchet MS" panose="020B0603020202020204" pitchFamily="34" charset="0"/>
              </a:rPr>
              <a:t>)</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xA</a:t>
            </a:r>
            <a:r>
              <a:rPr lang="en-US" altLang="zh-CN" sz="2400" b="1" dirty="0">
                <a:latin typeface="Trebuchet MS" panose="020B0603020202020204" pitchFamily="34" charset="0"/>
              </a:rPr>
              <a:t>(</a:t>
            </a:r>
            <a:r>
              <a:rPr lang="en-US" altLang="zh-CN" sz="2400" b="1" i="1" dirty="0">
                <a:latin typeface="Trebuchet MS" panose="020B0603020202020204" pitchFamily="34" charset="0"/>
              </a:rPr>
              <a:t>x</a:t>
            </a:r>
            <a:r>
              <a:rPr lang="en-US" altLang="zh-CN" sz="2400" b="1" dirty="0">
                <a:latin typeface="Trebuchet MS" panose="020B0603020202020204" pitchFamily="34" charset="0"/>
              </a:rPr>
              <a:t>)</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B</a:t>
            </a:r>
            <a:endParaRPr lang="en-US" altLang="zh-CN" sz="2400" b="1" dirty="0">
              <a:latin typeface="Trebuchet MS" panose="020B0603020202020204" pitchFamily="34" charset="0"/>
            </a:endParaRPr>
          </a:p>
          <a:p>
            <a:pPr indent="446088" eaLnBrk="1" hangingPunct="1">
              <a:lnSpc>
                <a:spcPct val="120000"/>
              </a:lnSpc>
              <a:spcBef>
                <a:spcPct val="20000"/>
              </a:spcBef>
              <a:buClr>
                <a:schemeClr val="bg2"/>
              </a:buClr>
              <a:buSzPct val="75000"/>
              <a:buFont typeface="Wingdings" panose="05000000000000000000" pitchFamily="2" charset="2"/>
              <a:buNone/>
            </a:pPr>
            <a:r>
              <a:rPr lang="en-US" altLang="zh-CN" sz="2400" b="1" dirty="0">
                <a:latin typeface="Times New Roman" panose="02020603050405020304" pitchFamily="18" charset="0"/>
                <a:sym typeface="Symbol" panose="05050102010706020507" pitchFamily="18" charset="2"/>
              </a:rPr>
              <a:t></a:t>
            </a:r>
            <a:r>
              <a:rPr lang="en-US" altLang="zh-CN" sz="2400" b="1" i="1" dirty="0">
                <a:latin typeface="Times New Roman" panose="02020603050405020304" pitchFamily="18" charset="0"/>
              </a:rPr>
              <a:t>x</a:t>
            </a:r>
            <a:r>
              <a:rPr lang="en-US" altLang="zh-CN" sz="2400" b="1" dirty="0">
                <a:latin typeface="Times New Roman" panose="02020603050405020304" pitchFamily="18" charset="0"/>
              </a:rPr>
              <a:t>(</a:t>
            </a:r>
            <a:r>
              <a:rPr lang="en-US" altLang="zh-CN" sz="2400" b="1" i="1" dirty="0">
                <a:latin typeface="Times New Roman" panose="02020603050405020304" pitchFamily="18" charset="0"/>
              </a:rPr>
              <a:t>B</a:t>
            </a:r>
            <a:r>
              <a:rPr lang="en-US" altLang="zh-CN" sz="2400" b="1" dirty="0">
                <a:latin typeface="Times New Roman" panose="02020603050405020304" pitchFamily="18" charset="0"/>
                <a:sym typeface="Symbol" panose="05050102010706020507" pitchFamily="18" charset="2"/>
              </a:rPr>
              <a:t></a:t>
            </a:r>
            <a:r>
              <a:rPr lang="en-US" altLang="zh-CN" sz="2400" b="1" i="1" dirty="0">
                <a:latin typeface="Times New Roman" panose="02020603050405020304" pitchFamily="18" charset="0"/>
              </a:rPr>
              <a:t>A</a:t>
            </a:r>
            <a:r>
              <a:rPr lang="en-US" altLang="zh-CN" sz="2400" b="1" dirty="0">
                <a:latin typeface="Times New Roman" panose="02020603050405020304" pitchFamily="18" charset="0"/>
              </a:rPr>
              <a:t>(</a:t>
            </a:r>
            <a:r>
              <a:rPr lang="en-US" altLang="zh-CN" sz="2400" b="1" i="1" dirty="0">
                <a:latin typeface="Times New Roman" panose="02020603050405020304" pitchFamily="18" charset="0"/>
              </a:rPr>
              <a:t>x</a:t>
            </a:r>
            <a:r>
              <a:rPr lang="en-US" altLang="zh-CN" sz="2400" b="1" dirty="0">
                <a:latin typeface="Times New Roman" panose="02020603050405020304" pitchFamily="18" charset="0"/>
              </a:rPr>
              <a:t>))</a:t>
            </a:r>
            <a:r>
              <a:rPr lang="en-US" altLang="zh-CN" sz="2400" b="1" dirty="0">
                <a:latin typeface="Times New Roman" panose="02020603050405020304" pitchFamily="18" charset="0"/>
                <a:sym typeface="Symbol" panose="05050102010706020507" pitchFamily="18" charset="2"/>
              </a:rPr>
              <a:t></a:t>
            </a:r>
            <a:r>
              <a:rPr lang="en-US" altLang="zh-CN" sz="2400" b="1" i="1" dirty="0">
                <a:latin typeface="Times New Roman" panose="02020603050405020304" pitchFamily="18" charset="0"/>
              </a:rPr>
              <a:t>B</a:t>
            </a:r>
            <a:r>
              <a:rPr lang="en-US" altLang="zh-CN" sz="2400" b="1" dirty="0">
                <a:latin typeface="Times New Roman" panose="02020603050405020304" pitchFamily="18" charset="0"/>
                <a:sym typeface="Symbol" panose="05050102010706020507" pitchFamily="18" charset="2"/>
              </a:rPr>
              <a:t></a:t>
            </a:r>
            <a:r>
              <a:rPr lang="en-US" altLang="zh-CN" sz="2400" b="1" i="1" dirty="0">
                <a:latin typeface="Times New Roman" panose="02020603050405020304" pitchFamily="18" charset="0"/>
              </a:rPr>
              <a:t>xA</a:t>
            </a:r>
            <a:r>
              <a:rPr lang="en-US" altLang="zh-CN" sz="2400" b="1" dirty="0">
                <a:latin typeface="Times New Roman" panose="02020603050405020304" pitchFamily="18" charset="0"/>
              </a:rPr>
              <a:t>(</a:t>
            </a:r>
            <a:r>
              <a:rPr lang="en-US" altLang="zh-CN" sz="2400" b="1" i="1" dirty="0">
                <a:latin typeface="Times New Roman" panose="02020603050405020304" pitchFamily="18" charset="0"/>
              </a:rPr>
              <a:t>x</a:t>
            </a:r>
            <a:r>
              <a:rPr lang="en-US" altLang="zh-CN" sz="2400" b="1" dirty="0">
                <a:latin typeface="Times New Roman" panose="02020603050405020304" pitchFamily="18" charset="0"/>
              </a:rPr>
              <a:t>)      </a:t>
            </a:r>
            <a:r>
              <a:rPr lang="en-US" altLang="zh-CN" sz="2400" b="1" dirty="0">
                <a:latin typeface="Trebuchet MS" panose="020B0603020202020204" pitchFamily="34" charset="0"/>
                <a:sym typeface="Symbol" panose="05050102010706020507" pitchFamily="18" charset="2"/>
              </a:rPr>
              <a:t>  </a:t>
            </a:r>
            <a:r>
              <a:rPr lang="en-US" altLang="zh-CN" sz="2400" b="1" i="1" dirty="0">
                <a:latin typeface="Trebuchet MS" panose="020B0603020202020204" pitchFamily="34" charset="0"/>
              </a:rPr>
              <a:t>x</a:t>
            </a:r>
            <a:r>
              <a:rPr lang="en-US" altLang="zh-CN" sz="2400" b="1" dirty="0">
                <a:latin typeface="Trebuchet MS" panose="020B0603020202020204" pitchFamily="34" charset="0"/>
              </a:rPr>
              <a:t>(</a:t>
            </a:r>
            <a:r>
              <a:rPr lang="en-US" altLang="zh-CN" sz="2400" b="1" i="1" dirty="0">
                <a:latin typeface="Trebuchet MS" panose="020B0603020202020204" pitchFamily="34" charset="0"/>
              </a:rPr>
              <a:t>B</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A</a:t>
            </a:r>
            <a:r>
              <a:rPr lang="en-US" altLang="zh-CN" sz="2400" b="1" dirty="0">
                <a:latin typeface="Trebuchet MS" panose="020B0603020202020204" pitchFamily="34" charset="0"/>
              </a:rPr>
              <a:t>(</a:t>
            </a:r>
            <a:r>
              <a:rPr lang="en-US" altLang="zh-CN" sz="2400" b="1" i="1" dirty="0">
                <a:latin typeface="Trebuchet MS" panose="020B0603020202020204" pitchFamily="34" charset="0"/>
              </a:rPr>
              <a:t>x</a:t>
            </a:r>
            <a:r>
              <a:rPr lang="en-US" altLang="zh-CN" sz="2400" b="1" dirty="0">
                <a:latin typeface="Trebuchet MS" panose="020B0603020202020204" pitchFamily="34" charset="0"/>
              </a:rPr>
              <a:t>))</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B</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xA</a:t>
            </a:r>
            <a:r>
              <a:rPr lang="en-US" altLang="zh-CN" sz="2400" b="1" dirty="0">
                <a:latin typeface="Trebuchet MS" panose="020B0603020202020204" pitchFamily="34" charset="0"/>
              </a:rPr>
              <a:t>(</a:t>
            </a:r>
            <a:r>
              <a:rPr lang="en-US" altLang="zh-CN" sz="2400" b="1" i="1" dirty="0">
                <a:latin typeface="Trebuchet MS" panose="020B0603020202020204" pitchFamily="34" charset="0"/>
              </a:rPr>
              <a:t>x</a:t>
            </a:r>
            <a:r>
              <a:rPr lang="en-US" altLang="zh-CN" sz="2400" b="1" dirty="0">
                <a:latin typeface="Trebuchet MS" panose="020B0603020202020204" pitchFamily="34" charset="0"/>
              </a:rPr>
              <a:t>)</a:t>
            </a:r>
          </a:p>
        </p:txBody>
      </p:sp>
    </p:spTree>
    <p:extLst>
      <p:ext uri="{BB962C8B-B14F-4D97-AF65-F5344CB8AC3E}">
        <p14:creationId xmlns:p14="http://schemas.microsoft.com/office/powerpoint/2010/main" val="380701718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0">
                                            <p:txEl>
                                              <p:pRg st="1" end="1"/>
                                            </p:txEl>
                                          </p:spTgt>
                                        </p:tgtEl>
                                        <p:attrNameLst>
                                          <p:attrName>style.visibility</p:attrName>
                                        </p:attrNameLst>
                                      </p:cBhvr>
                                      <p:to>
                                        <p:strVal val="visible"/>
                                      </p:to>
                                    </p:set>
                                    <p:animEffect transition="in" filter="fade">
                                      <p:cBhvr>
                                        <p:cTn id="7" dur="1000"/>
                                        <p:tgtEl>
                                          <p:spTgt spid="10">
                                            <p:txEl>
                                              <p:pRg st="1" end="1"/>
                                            </p:txEl>
                                          </p:spTgt>
                                        </p:tgtEl>
                                      </p:cBhvr>
                                    </p:animEffect>
                                    <p:anim calcmode="lin" valueType="num">
                                      <p:cBhvr>
                                        <p:cTn id="8"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10">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0">
                                            <p:txEl>
                                              <p:pRg st="2" end="2"/>
                                            </p:txEl>
                                          </p:spTgt>
                                        </p:tgtEl>
                                        <p:attrNameLst>
                                          <p:attrName>style.visibility</p:attrName>
                                        </p:attrNameLst>
                                      </p:cBhvr>
                                      <p:to>
                                        <p:strVal val="visible"/>
                                      </p:to>
                                    </p:set>
                                    <p:animEffect transition="in" filter="fade">
                                      <p:cBhvr>
                                        <p:cTn id="12" dur="1000"/>
                                        <p:tgtEl>
                                          <p:spTgt spid="10">
                                            <p:txEl>
                                              <p:pRg st="2" end="2"/>
                                            </p:txEl>
                                          </p:spTgt>
                                        </p:tgtEl>
                                      </p:cBhvr>
                                    </p:animEffect>
                                    <p:anim calcmode="lin" valueType="num">
                                      <p:cBhvr>
                                        <p:cTn id="13"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10">
                                            <p:txEl>
                                              <p:pRg st="3" end="3"/>
                                            </p:txEl>
                                          </p:spTgt>
                                        </p:tgtEl>
                                        <p:attrNameLst>
                                          <p:attrName>style.visibility</p:attrName>
                                        </p:attrNameLst>
                                      </p:cBhvr>
                                      <p:to>
                                        <p:strVal val="visible"/>
                                      </p:to>
                                    </p:set>
                                    <p:animEffect transition="in" filter="fade">
                                      <p:cBhvr>
                                        <p:cTn id="19" dur="1000"/>
                                        <p:tgtEl>
                                          <p:spTgt spid="10">
                                            <p:txEl>
                                              <p:pRg st="3" end="3"/>
                                            </p:txEl>
                                          </p:spTgt>
                                        </p:tgtEl>
                                      </p:cBhvr>
                                    </p:animEffect>
                                    <p:anim calcmode="lin" valueType="num">
                                      <p:cBhvr>
                                        <p:cTn id="20" dur="1000" fill="hold"/>
                                        <p:tgtEl>
                                          <p:spTgt spid="10">
                                            <p:txEl>
                                              <p:pRg st="3" end="3"/>
                                            </p:txEl>
                                          </p:spTgt>
                                        </p:tgtEl>
                                        <p:attrNameLst>
                                          <p:attrName>ppt_x</p:attrName>
                                        </p:attrNameLst>
                                      </p:cBhvr>
                                      <p:tavLst>
                                        <p:tav tm="0">
                                          <p:val>
                                            <p:strVal val="#ppt_x"/>
                                          </p:val>
                                        </p:tav>
                                        <p:tav tm="100000">
                                          <p:val>
                                            <p:strVal val="#ppt_x"/>
                                          </p:val>
                                        </p:tav>
                                      </p:tavLst>
                                    </p:anim>
                                    <p:anim calcmode="lin" valueType="num">
                                      <p:cBhvr>
                                        <p:cTn id="21" dur="1000" fill="hold"/>
                                        <p:tgtEl>
                                          <p:spTgt spid="10">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10">
                                            <p:txEl>
                                              <p:pRg st="4" end="4"/>
                                            </p:txEl>
                                          </p:spTgt>
                                        </p:tgtEl>
                                        <p:attrNameLst>
                                          <p:attrName>style.visibility</p:attrName>
                                        </p:attrNameLst>
                                      </p:cBhvr>
                                      <p:to>
                                        <p:strVal val="visible"/>
                                      </p:to>
                                    </p:set>
                                    <p:animEffect transition="in" filter="fade">
                                      <p:cBhvr>
                                        <p:cTn id="26" dur="1000"/>
                                        <p:tgtEl>
                                          <p:spTgt spid="10">
                                            <p:txEl>
                                              <p:pRg st="4" end="4"/>
                                            </p:txEl>
                                          </p:spTgt>
                                        </p:tgtEl>
                                      </p:cBhvr>
                                    </p:animEffect>
                                    <p:anim calcmode="lin" valueType="num">
                                      <p:cBhvr>
                                        <p:cTn id="27" dur="1000" fill="hold"/>
                                        <p:tgtEl>
                                          <p:spTgt spid="10">
                                            <p:txEl>
                                              <p:pRg st="4" end="4"/>
                                            </p:txEl>
                                          </p:spTgt>
                                        </p:tgtEl>
                                        <p:attrNameLst>
                                          <p:attrName>ppt_x</p:attrName>
                                        </p:attrNameLst>
                                      </p:cBhvr>
                                      <p:tavLst>
                                        <p:tav tm="0">
                                          <p:val>
                                            <p:strVal val="#ppt_x"/>
                                          </p:val>
                                        </p:tav>
                                        <p:tav tm="100000">
                                          <p:val>
                                            <p:strVal val="#ppt_x"/>
                                          </p:val>
                                        </p:tav>
                                      </p:tavLst>
                                    </p:anim>
                                    <p:anim calcmode="lin" valueType="num">
                                      <p:cBhvr>
                                        <p:cTn id="28" dur="1000" fill="hold"/>
                                        <p:tgtEl>
                                          <p:spTgt spid="10">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10">
                                            <p:txEl>
                                              <p:pRg st="5" end="5"/>
                                            </p:txEl>
                                          </p:spTgt>
                                        </p:tgtEl>
                                        <p:attrNameLst>
                                          <p:attrName>style.visibility</p:attrName>
                                        </p:attrNameLst>
                                      </p:cBhvr>
                                      <p:to>
                                        <p:strVal val="visible"/>
                                      </p:to>
                                    </p:set>
                                    <p:animEffect transition="in" filter="fade">
                                      <p:cBhvr>
                                        <p:cTn id="33" dur="1000"/>
                                        <p:tgtEl>
                                          <p:spTgt spid="10">
                                            <p:txEl>
                                              <p:pRg st="5" end="5"/>
                                            </p:txEl>
                                          </p:spTgt>
                                        </p:tgtEl>
                                      </p:cBhvr>
                                    </p:animEffect>
                                    <p:anim calcmode="lin" valueType="num">
                                      <p:cBhvr>
                                        <p:cTn id="34" dur="1000" fill="hold"/>
                                        <p:tgtEl>
                                          <p:spTgt spid="10">
                                            <p:txEl>
                                              <p:pRg st="5" end="5"/>
                                            </p:txEl>
                                          </p:spTgt>
                                        </p:tgtEl>
                                        <p:attrNameLst>
                                          <p:attrName>ppt_x</p:attrName>
                                        </p:attrNameLst>
                                      </p:cBhvr>
                                      <p:tavLst>
                                        <p:tav tm="0">
                                          <p:val>
                                            <p:strVal val="#ppt_x"/>
                                          </p:val>
                                        </p:tav>
                                        <p:tav tm="100000">
                                          <p:val>
                                            <p:strVal val="#ppt_x"/>
                                          </p:val>
                                        </p:tav>
                                      </p:tavLst>
                                    </p:anim>
                                    <p:anim calcmode="lin" valueType="num">
                                      <p:cBhvr>
                                        <p:cTn id="35" dur="1000" fill="hold"/>
                                        <p:tgtEl>
                                          <p:spTgt spid="10">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nodeType="clickEffect">
                                  <p:stCondLst>
                                    <p:cond delay="0"/>
                                  </p:stCondLst>
                                  <p:childTnLst>
                                    <p:set>
                                      <p:cBhvr>
                                        <p:cTn id="39" dur="1" fill="hold">
                                          <p:stCondLst>
                                            <p:cond delay="0"/>
                                          </p:stCondLst>
                                        </p:cTn>
                                        <p:tgtEl>
                                          <p:spTgt spid="10">
                                            <p:txEl>
                                              <p:pRg st="6" end="6"/>
                                            </p:txEl>
                                          </p:spTgt>
                                        </p:tgtEl>
                                        <p:attrNameLst>
                                          <p:attrName>style.visibility</p:attrName>
                                        </p:attrNameLst>
                                      </p:cBhvr>
                                      <p:to>
                                        <p:strVal val="visible"/>
                                      </p:to>
                                    </p:set>
                                    <p:animEffect transition="in" filter="fade">
                                      <p:cBhvr>
                                        <p:cTn id="40" dur="1000"/>
                                        <p:tgtEl>
                                          <p:spTgt spid="10">
                                            <p:txEl>
                                              <p:pRg st="6" end="6"/>
                                            </p:txEl>
                                          </p:spTgt>
                                        </p:tgtEl>
                                      </p:cBhvr>
                                    </p:animEffect>
                                    <p:anim calcmode="lin" valueType="num">
                                      <p:cBhvr>
                                        <p:cTn id="41" dur="1000" fill="hold"/>
                                        <p:tgtEl>
                                          <p:spTgt spid="10">
                                            <p:txEl>
                                              <p:pRg st="6" end="6"/>
                                            </p:txEl>
                                          </p:spTgt>
                                        </p:tgtEl>
                                        <p:attrNameLst>
                                          <p:attrName>ppt_x</p:attrName>
                                        </p:attrNameLst>
                                      </p:cBhvr>
                                      <p:tavLst>
                                        <p:tav tm="0">
                                          <p:val>
                                            <p:strVal val="#ppt_x"/>
                                          </p:val>
                                        </p:tav>
                                        <p:tav tm="100000">
                                          <p:val>
                                            <p:strVal val="#ppt_x"/>
                                          </p:val>
                                        </p:tav>
                                      </p:tavLst>
                                    </p:anim>
                                    <p:anim calcmode="lin" valueType="num">
                                      <p:cBhvr>
                                        <p:cTn id="42" dur="1000" fill="hold"/>
                                        <p:tgtEl>
                                          <p:spTgt spid="10">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solidFill>
                  <a:schemeClr val="bg1"/>
                </a:solidFill>
                <a:latin typeface="Trebuchet MS" panose="020B0603020202020204" pitchFamily="34" charset="0"/>
              </a:rPr>
              <a:t>3.2.1 First-Order Logic Equivalences and Substitution Rules</a:t>
            </a:r>
          </a:p>
          <a:p>
            <a:r>
              <a:rPr lang="en-US" altLang="zh-CN" sz="2000"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dirty="0"/>
              <a:t> </a:t>
            </a:r>
            <a:r>
              <a:rPr lang="en-US" altLang="zh-CN" sz="2400" b="1" dirty="0">
                <a:solidFill>
                  <a:schemeClr val="bg1"/>
                </a:solidFill>
                <a:latin typeface="Trebuchet MS" panose="020B0603020202020204" pitchFamily="34" charset="0"/>
              </a:rPr>
              <a:t>Substitution and Renaming Rules</a:t>
            </a:r>
            <a:endParaRPr lang="en-US" altLang="zh-CN" sz="2400" b="1" dirty="0">
              <a:solidFill>
                <a:schemeClr val="bg1"/>
              </a:solidFill>
              <a:effectLst/>
              <a:latin typeface="Trebuchet MS" panose="020B0603020202020204" pitchFamily="34" charset="0"/>
              <a:ea typeface="Cambria Math" panose="02040503050406030204" pitchFamily="18" charset="0"/>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824681" y="841378"/>
            <a:ext cx="8907148" cy="545056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lnSpc>
                <a:spcPct val="120000"/>
              </a:lnSpc>
              <a:spcBef>
                <a:spcPts val="300"/>
              </a:spcBef>
              <a:buClr>
                <a:srgbClr val="0B61FF"/>
              </a:buClr>
              <a:buSzPct val="80000"/>
              <a:buFont typeface="Wingdings" panose="05000000000000000000" pitchFamily="2" charset="2"/>
              <a:buChar char="n"/>
            </a:pPr>
            <a:r>
              <a:rPr lang="en-US" sz="2600" b="1" i="0" dirty="0">
                <a:solidFill>
                  <a:srgbClr val="0C0D0E"/>
                </a:solidFill>
                <a:effectLst/>
                <a:latin typeface="Trebuchet MS" panose="020B0603020202020204" pitchFamily="34" charset="0"/>
              </a:rPr>
              <a:t>Substitution Rule</a:t>
            </a:r>
            <a:r>
              <a:rPr lang="zh-CN" altLang="en-US" sz="2600" b="1" i="0" dirty="0">
                <a:solidFill>
                  <a:srgbClr val="0C0D0E"/>
                </a:solidFill>
                <a:effectLst/>
                <a:latin typeface="Trebuchet MS" panose="020B0603020202020204" pitchFamily="34" charset="0"/>
              </a:rPr>
              <a:t>：</a:t>
            </a:r>
            <a:br>
              <a:rPr lang="en-US" sz="2600" b="0" i="0" dirty="0">
                <a:solidFill>
                  <a:srgbClr val="0C0D0E"/>
                </a:solidFill>
                <a:effectLst/>
                <a:latin typeface="Trebuchet MS" panose="020B0603020202020204" pitchFamily="34" charset="0"/>
              </a:rPr>
            </a:br>
            <a:r>
              <a:rPr lang="en-US" sz="2600" b="0" i="0" dirty="0">
                <a:solidFill>
                  <a:srgbClr val="0C0D0E"/>
                </a:solidFill>
                <a:effectLst/>
                <a:latin typeface="Trebuchet MS" panose="020B0603020202020204" pitchFamily="34" charset="0"/>
              </a:rPr>
              <a:t>Let </a:t>
            </a:r>
            <a:r>
              <a:rPr lang="en-US" sz="2600" b="1" i="1" dirty="0">
                <a:solidFill>
                  <a:srgbClr val="0C0D0E"/>
                </a:solidFill>
                <a:effectLst/>
                <a:latin typeface="Trebuchet MS" panose="020B0603020202020204" pitchFamily="34" charset="0"/>
              </a:rPr>
              <a:t>Φ</a:t>
            </a:r>
            <a:r>
              <a:rPr lang="en-US" sz="2600" b="0" i="0" dirty="0">
                <a:solidFill>
                  <a:srgbClr val="0C0D0E"/>
                </a:solidFill>
                <a:effectLst/>
                <a:latin typeface="Trebuchet MS" panose="020B0603020202020204" pitchFamily="34" charset="0"/>
              </a:rPr>
              <a:t>(</a:t>
            </a:r>
            <a:r>
              <a:rPr lang="en-US" sz="2600" b="1" i="1" dirty="0">
                <a:solidFill>
                  <a:srgbClr val="0C0D0E"/>
                </a:solidFill>
                <a:effectLst/>
                <a:latin typeface="Trebuchet MS" panose="020B0603020202020204" pitchFamily="34" charset="0"/>
              </a:rPr>
              <a:t>A</a:t>
            </a:r>
            <a:r>
              <a:rPr lang="en-US" sz="2600" b="0" i="0" dirty="0">
                <a:solidFill>
                  <a:srgbClr val="0C0D0E"/>
                </a:solidFill>
                <a:effectLst/>
                <a:latin typeface="Trebuchet MS" panose="020B0603020202020204" pitchFamily="34" charset="0"/>
              </a:rPr>
              <a:t>) be a formula containing formula </a:t>
            </a:r>
            <a:r>
              <a:rPr lang="en-US" sz="2600" b="1" i="1" dirty="0">
                <a:solidFill>
                  <a:srgbClr val="0C0D0E"/>
                </a:solidFill>
                <a:effectLst/>
                <a:latin typeface="Trebuchet MS" panose="020B0603020202020204" pitchFamily="34" charset="0"/>
              </a:rPr>
              <a:t>A</a:t>
            </a:r>
            <a:r>
              <a:rPr lang="en-US" sz="2600" b="0" i="0" dirty="0">
                <a:solidFill>
                  <a:srgbClr val="0C0D0E"/>
                </a:solidFill>
                <a:effectLst/>
                <a:latin typeface="Trebuchet MS" panose="020B0603020202020204" pitchFamily="34" charset="0"/>
              </a:rPr>
              <a:t>, and </a:t>
            </a:r>
            <a:r>
              <a:rPr lang="en-US" sz="2600" b="1" i="1" dirty="0">
                <a:solidFill>
                  <a:srgbClr val="0C0D0E"/>
                </a:solidFill>
                <a:effectLst/>
                <a:latin typeface="Trebuchet MS" panose="020B0603020202020204" pitchFamily="34" charset="0"/>
              </a:rPr>
              <a:t>Φ</a:t>
            </a:r>
            <a:r>
              <a:rPr lang="en-US" sz="2600" b="0" i="0" dirty="0">
                <a:solidFill>
                  <a:srgbClr val="0C0D0E"/>
                </a:solidFill>
                <a:effectLst/>
                <a:latin typeface="Trebuchet MS" panose="020B0603020202020204" pitchFamily="34" charset="0"/>
              </a:rPr>
              <a:t>(</a:t>
            </a:r>
            <a:r>
              <a:rPr lang="en-US" sz="2600" b="1" i="1" dirty="0">
                <a:solidFill>
                  <a:srgbClr val="0C0D0E"/>
                </a:solidFill>
                <a:effectLst/>
                <a:latin typeface="Trebuchet MS" panose="020B0603020202020204" pitchFamily="34" charset="0"/>
              </a:rPr>
              <a:t>B</a:t>
            </a:r>
            <a:r>
              <a:rPr lang="en-US" sz="2600" b="0" i="0" dirty="0">
                <a:solidFill>
                  <a:srgbClr val="0C0D0E"/>
                </a:solidFill>
                <a:effectLst/>
                <a:latin typeface="Trebuchet MS" panose="020B0603020202020204" pitchFamily="34" charset="0"/>
              </a:rPr>
              <a:t>) be the formula obtained by replacing all occurrences of </a:t>
            </a:r>
            <a:r>
              <a:rPr lang="en-US" sz="2600" b="1" i="1" dirty="0">
                <a:solidFill>
                  <a:srgbClr val="0C0D0E"/>
                </a:solidFill>
                <a:effectLst/>
                <a:latin typeface="Trebuchet MS" panose="020B0603020202020204" pitchFamily="34" charset="0"/>
              </a:rPr>
              <a:t>A</a:t>
            </a:r>
            <a:r>
              <a:rPr lang="en-US" sz="2600" b="0" i="0" dirty="0">
                <a:solidFill>
                  <a:srgbClr val="0C0D0E"/>
                </a:solidFill>
                <a:effectLst/>
                <a:latin typeface="Trebuchet MS" panose="020B0603020202020204" pitchFamily="34" charset="0"/>
              </a:rPr>
              <a:t> in </a:t>
            </a:r>
            <a:r>
              <a:rPr lang="en-US" sz="2600" b="1" i="1" dirty="0">
                <a:solidFill>
                  <a:srgbClr val="0C0D0E"/>
                </a:solidFill>
                <a:effectLst/>
                <a:latin typeface="Trebuchet MS" panose="020B0603020202020204" pitchFamily="34" charset="0"/>
              </a:rPr>
              <a:t>Φ</a:t>
            </a:r>
            <a:r>
              <a:rPr lang="en-US" sz="2600" b="0" i="0" dirty="0">
                <a:solidFill>
                  <a:srgbClr val="0C0D0E"/>
                </a:solidFill>
                <a:effectLst/>
                <a:latin typeface="Trebuchet MS" panose="020B0603020202020204" pitchFamily="34" charset="0"/>
              </a:rPr>
              <a:t>(</a:t>
            </a:r>
            <a:r>
              <a:rPr lang="en-US" sz="2600" b="1" i="1" dirty="0">
                <a:solidFill>
                  <a:srgbClr val="0C0D0E"/>
                </a:solidFill>
                <a:effectLst/>
                <a:latin typeface="Trebuchet MS" panose="020B0603020202020204" pitchFamily="34" charset="0"/>
              </a:rPr>
              <a:t>A</a:t>
            </a:r>
            <a:r>
              <a:rPr lang="en-US" sz="2600" b="0" i="0" dirty="0">
                <a:solidFill>
                  <a:srgbClr val="0C0D0E"/>
                </a:solidFill>
                <a:effectLst/>
                <a:latin typeface="Trebuchet MS" panose="020B0603020202020204" pitchFamily="34" charset="0"/>
              </a:rPr>
              <a:t>) with formula </a:t>
            </a:r>
            <a:r>
              <a:rPr lang="en-US" sz="2600" b="1" i="1" dirty="0">
                <a:solidFill>
                  <a:srgbClr val="0C0D0E"/>
                </a:solidFill>
                <a:effectLst/>
                <a:latin typeface="Trebuchet MS" panose="020B0603020202020204" pitchFamily="34" charset="0"/>
              </a:rPr>
              <a:t>B</a:t>
            </a:r>
            <a:r>
              <a:rPr lang="en-US" sz="2600" b="0" i="0" dirty="0">
                <a:solidFill>
                  <a:srgbClr val="0C0D0E"/>
                </a:solidFill>
                <a:effectLst/>
                <a:latin typeface="Trebuchet MS" panose="020B0603020202020204" pitchFamily="34" charset="0"/>
              </a:rPr>
              <a:t>. Then, </a:t>
            </a:r>
            <a:r>
              <a:rPr lang="en-US" sz="2600" b="1" i="1" dirty="0">
                <a:solidFill>
                  <a:srgbClr val="0C0D0E"/>
                </a:solidFill>
                <a:effectLst/>
                <a:latin typeface="Trebuchet MS" panose="020B0603020202020204" pitchFamily="34" charset="0"/>
              </a:rPr>
              <a:t>Φ</a:t>
            </a:r>
            <a:r>
              <a:rPr lang="en-US" sz="2600" b="0" i="0" dirty="0">
                <a:solidFill>
                  <a:srgbClr val="0C0D0E"/>
                </a:solidFill>
                <a:effectLst/>
                <a:latin typeface="Trebuchet MS" panose="020B0603020202020204" pitchFamily="34" charset="0"/>
              </a:rPr>
              <a:t>(</a:t>
            </a:r>
            <a:r>
              <a:rPr lang="en-US" sz="2600" b="1" i="1" dirty="0">
                <a:solidFill>
                  <a:srgbClr val="0C0D0E"/>
                </a:solidFill>
                <a:effectLst/>
                <a:latin typeface="Trebuchet MS" panose="020B0603020202020204" pitchFamily="34" charset="0"/>
              </a:rPr>
              <a:t>A</a:t>
            </a:r>
            <a:r>
              <a:rPr lang="en-US" sz="2600" b="0" i="0" dirty="0">
                <a:solidFill>
                  <a:srgbClr val="0C0D0E"/>
                </a:solidFill>
                <a:effectLst/>
                <a:latin typeface="Trebuchet MS" panose="020B0603020202020204" pitchFamily="34" charset="0"/>
              </a:rPr>
              <a:t>) ⇔ </a:t>
            </a:r>
            <a:r>
              <a:rPr lang="en-US" sz="2600" b="1" i="1" dirty="0">
                <a:solidFill>
                  <a:srgbClr val="0C0D0E"/>
                </a:solidFill>
                <a:effectLst/>
                <a:latin typeface="Trebuchet MS" panose="020B0603020202020204" pitchFamily="34" charset="0"/>
              </a:rPr>
              <a:t>Φ</a:t>
            </a:r>
            <a:r>
              <a:rPr lang="en-US" sz="2600" b="0" i="0" dirty="0">
                <a:solidFill>
                  <a:srgbClr val="0C0D0E"/>
                </a:solidFill>
                <a:effectLst/>
                <a:latin typeface="Trebuchet MS" panose="020B0603020202020204" pitchFamily="34" charset="0"/>
              </a:rPr>
              <a:t>(</a:t>
            </a:r>
            <a:r>
              <a:rPr lang="en-US" sz="2600" b="1" i="1" dirty="0">
                <a:solidFill>
                  <a:srgbClr val="0C0D0E"/>
                </a:solidFill>
                <a:effectLst/>
                <a:latin typeface="Trebuchet MS" panose="020B0603020202020204" pitchFamily="34" charset="0"/>
              </a:rPr>
              <a:t>B</a:t>
            </a:r>
            <a:r>
              <a:rPr lang="en-US" sz="2600" b="0" i="0" dirty="0">
                <a:solidFill>
                  <a:srgbClr val="0C0D0E"/>
                </a:solidFill>
                <a:effectLst/>
                <a:latin typeface="Trebuchet MS" panose="020B0603020202020204" pitchFamily="34" charset="0"/>
              </a:rPr>
              <a:t>).</a:t>
            </a:r>
          </a:p>
          <a:p>
            <a:pPr algn="l">
              <a:lnSpc>
                <a:spcPct val="120000"/>
              </a:lnSpc>
              <a:spcBef>
                <a:spcPts val="300"/>
              </a:spcBef>
              <a:buClr>
                <a:srgbClr val="0B61FF"/>
              </a:buClr>
              <a:buSzPct val="80000"/>
              <a:buFont typeface="Wingdings" panose="05000000000000000000" pitchFamily="2" charset="2"/>
              <a:buChar char="n"/>
            </a:pPr>
            <a:r>
              <a:rPr lang="en-US" sz="2600" b="1" i="0" dirty="0">
                <a:solidFill>
                  <a:srgbClr val="0C0D0E"/>
                </a:solidFill>
                <a:effectLst/>
                <a:latin typeface="Trebuchet MS" panose="020B0603020202020204" pitchFamily="34" charset="0"/>
              </a:rPr>
              <a:t>Renaming Rule</a:t>
            </a:r>
            <a:r>
              <a:rPr lang="zh-CN" altLang="en-US" sz="2600" b="1" i="0" dirty="0">
                <a:solidFill>
                  <a:srgbClr val="0C0D0E"/>
                </a:solidFill>
                <a:effectLst/>
                <a:latin typeface="Trebuchet MS" panose="020B0603020202020204" pitchFamily="34" charset="0"/>
              </a:rPr>
              <a:t>：</a:t>
            </a:r>
            <a:br>
              <a:rPr lang="en-US" sz="2600" b="0" i="0" dirty="0">
                <a:solidFill>
                  <a:srgbClr val="0C0D0E"/>
                </a:solidFill>
                <a:effectLst/>
                <a:latin typeface="Trebuchet MS" panose="020B0603020202020204" pitchFamily="34" charset="0"/>
              </a:rPr>
            </a:br>
            <a:r>
              <a:rPr lang="en-US" sz="2600" b="0" i="0" dirty="0">
                <a:solidFill>
                  <a:srgbClr val="0C0D0E"/>
                </a:solidFill>
                <a:effectLst/>
                <a:latin typeface="Trebuchet MS" panose="020B0603020202020204" pitchFamily="34" charset="0"/>
              </a:rPr>
              <a:t>In a formula </a:t>
            </a:r>
            <a:r>
              <a:rPr lang="en-US" sz="2600" b="1" i="1" dirty="0">
                <a:solidFill>
                  <a:srgbClr val="0C0D0E"/>
                </a:solidFill>
                <a:effectLst/>
                <a:latin typeface="Trebuchet MS" panose="020B0603020202020204" pitchFamily="34" charset="0"/>
              </a:rPr>
              <a:t>A</a:t>
            </a:r>
            <a:r>
              <a:rPr lang="en-US" sz="2600" b="0" i="0" dirty="0">
                <a:solidFill>
                  <a:srgbClr val="0C0D0E"/>
                </a:solidFill>
                <a:effectLst/>
                <a:latin typeface="Trebuchet MS" panose="020B0603020202020204" pitchFamily="34" charset="0"/>
              </a:rPr>
              <a:t>, change the bound variables (and their occurrences within the scope of the quantifier) of a quantifier to an individual term that has not appeared within the scope of that quantifier. The rest of the formula remains unchanged, and the resulting formula is denoted as </a:t>
            </a:r>
            <a:r>
              <a:rPr lang="en-US" sz="2600" b="1" i="1" dirty="0">
                <a:solidFill>
                  <a:srgbClr val="0C0D0E"/>
                </a:solidFill>
                <a:effectLst/>
                <a:latin typeface="Trebuchet MS" panose="020B0603020202020204" pitchFamily="34" charset="0"/>
              </a:rPr>
              <a:t>A</a:t>
            </a:r>
            <a:r>
              <a:rPr lang="en-US" sz="2600" b="1" i="0" dirty="0">
                <a:solidFill>
                  <a:srgbClr val="0C0D0E"/>
                </a:solidFill>
                <a:effectLst/>
                <a:latin typeface="Trebuchet MS" panose="020B0603020202020204" pitchFamily="34" charset="0"/>
              </a:rPr>
              <a:t>'</a:t>
            </a:r>
            <a:r>
              <a:rPr lang="en-US" sz="2600" b="0" i="0" dirty="0">
                <a:solidFill>
                  <a:srgbClr val="0C0D0E"/>
                </a:solidFill>
                <a:effectLst/>
                <a:latin typeface="Trebuchet MS" panose="020B0603020202020204" pitchFamily="34" charset="0"/>
              </a:rPr>
              <a:t>. Then, </a:t>
            </a:r>
            <a:r>
              <a:rPr lang="en-US" altLang="zh-CN" sz="2600" b="1" i="1" dirty="0">
                <a:solidFill>
                  <a:srgbClr val="0C0D0E"/>
                </a:solidFill>
                <a:effectLst/>
                <a:latin typeface="Trebuchet MS" panose="020B0603020202020204" pitchFamily="34" charset="0"/>
              </a:rPr>
              <a:t>A</a:t>
            </a:r>
            <a:r>
              <a:rPr lang="en-US" altLang="zh-CN" sz="2600" b="1" i="0" dirty="0">
                <a:solidFill>
                  <a:srgbClr val="0C0D0E"/>
                </a:solidFill>
                <a:effectLst/>
                <a:latin typeface="Trebuchet MS" panose="020B0603020202020204" pitchFamily="34" charset="0"/>
              </a:rPr>
              <a:t>'</a:t>
            </a:r>
            <a:r>
              <a:rPr lang="en-US" sz="2600" b="0" i="0" dirty="0">
                <a:solidFill>
                  <a:srgbClr val="0C0D0E"/>
                </a:solidFill>
                <a:effectLst/>
                <a:latin typeface="Trebuchet MS" panose="020B0603020202020204" pitchFamily="34" charset="0"/>
              </a:rPr>
              <a:t> ⇔ </a:t>
            </a:r>
            <a:r>
              <a:rPr lang="en-US" sz="2600" b="1" i="1" dirty="0">
                <a:solidFill>
                  <a:srgbClr val="0C0D0E"/>
                </a:solidFill>
                <a:effectLst/>
                <a:latin typeface="Trebuchet MS" panose="020B0603020202020204" pitchFamily="34" charset="0"/>
              </a:rPr>
              <a:t>A</a:t>
            </a:r>
            <a:r>
              <a:rPr lang="en-US" sz="2600" b="0" i="0" dirty="0">
                <a:solidFill>
                  <a:srgbClr val="0C0D0E"/>
                </a:solidFill>
                <a:effectLst/>
                <a:latin typeface="Trebuchet MS" panose="020B0603020202020204" pitchFamily="34" charset="0"/>
              </a:rPr>
              <a:t>.</a:t>
            </a:r>
          </a:p>
          <a:p>
            <a:pPr eaLnBrk="1" hangingPunct="1">
              <a:buClr>
                <a:srgbClr val="FF0066"/>
              </a:buClr>
              <a:buSzPct val="125000"/>
            </a:pPr>
            <a:endParaRPr lang="zh-CN" altLang="en-US" sz="2800" b="1" dirty="0"/>
          </a:p>
        </p:txBody>
      </p:sp>
    </p:spTree>
    <p:extLst>
      <p:ext uri="{BB962C8B-B14F-4D97-AF65-F5344CB8AC3E}">
        <p14:creationId xmlns:p14="http://schemas.microsoft.com/office/powerpoint/2010/main" val="69645991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animEffect transition="in" filter="fade">
                                      <p:cBhvr>
                                        <p:cTn id="7" dur="1000"/>
                                        <p:tgtEl>
                                          <p:spTgt spid="8">
                                            <p:txEl>
                                              <p:pRg st="1" end="1"/>
                                            </p:txEl>
                                          </p:spTgt>
                                        </p:tgtEl>
                                      </p:cBhvr>
                                    </p:animEffect>
                                    <p:anim calcmode="lin" valueType="num">
                                      <p:cBhvr>
                                        <p:cTn id="8" dur="1000" fill="hold"/>
                                        <p:tgtEl>
                                          <p:spTgt spid="8">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solidFill>
                  <a:schemeClr val="bg1"/>
                </a:solidFill>
                <a:latin typeface="Trebuchet MS" panose="020B0603020202020204" pitchFamily="34" charset="0"/>
              </a:rPr>
              <a:t>3.2.1 First-Order Logic Equivalences and Substitution Rules</a:t>
            </a:r>
          </a:p>
          <a:p>
            <a:r>
              <a:rPr lang="en-US" altLang="zh-CN" sz="2000"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dirty="0"/>
              <a:t> </a:t>
            </a:r>
            <a:r>
              <a:rPr lang="en-US" altLang="zh-CN" sz="2400" b="1" dirty="0">
                <a:solidFill>
                  <a:schemeClr val="bg1"/>
                </a:solidFill>
                <a:latin typeface="Trebuchet MS" panose="020B0603020202020204" pitchFamily="34" charset="0"/>
              </a:rPr>
              <a:t>Substitution and Renaming Rules</a:t>
            </a:r>
            <a:endParaRPr lang="en-US" altLang="zh-CN" sz="2400" b="1" dirty="0">
              <a:effectLst/>
              <a:latin typeface="Cambria Math" panose="02040503050406030204" pitchFamily="18" charset="0"/>
              <a:ea typeface="Cambria Math" panose="02040503050406030204" pitchFamily="18" charset="0"/>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5"/>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325424" y="841378"/>
            <a:ext cx="8907148" cy="486273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spcBef>
                <a:spcPts val="300"/>
              </a:spcBef>
              <a:buNone/>
            </a:pPr>
            <a:r>
              <a:rPr lang="en-US" altLang="zh-CN" dirty="0"/>
              <a:t>  </a:t>
            </a:r>
            <a:r>
              <a:rPr lang="en-US" altLang="zh-CN" b="1" dirty="0">
                <a:latin typeface="Trebuchet MS" panose="020B0603020202020204" pitchFamily="34" charset="0"/>
              </a:rPr>
              <a:t>Note:</a:t>
            </a:r>
            <a:endParaRPr lang="en-US" sz="2600" b="1" i="0" dirty="0">
              <a:solidFill>
                <a:srgbClr val="0C0D0E"/>
              </a:solidFill>
              <a:effectLst/>
              <a:latin typeface="Trebuchet MS" panose="020B0603020202020204" pitchFamily="34" charset="0"/>
            </a:endParaRPr>
          </a:p>
          <a:p>
            <a:pPr marL="533400" indent="-533400">
              <a:lnSpc>
                <a:spcPct val="120000"/>
              </a:lnSpc>
              <a:spcBef>
                <a:spcPts val="300"/>
              </a:spcBef>
              <a:buNone/>
            </a:pPr>
            <a:r>
              <a:rPr lang="en-US" altLang="zh-CN" sz="2400" b="1" dirty="0">
                <a:solidFill>
                  <a:srgbClr val="0B61FF"/>
                </a:solidFill>
                <a:latin typeface="Trebuchet MS" panose="020B0603020202020204" pitchFamily="34" charset="0"/>
              </a:rPr>
              <a:t>(1)</a:t>
            </a:r>
            <a:r>
              <a:rPr lang="zh-CN" altLang="en-US" sz="2400" b="1" dirty="0">
                <a:solidFill>
                  <a:srgbClr val="0B61FF"/>
                </a:solidFill>
                <a:latin typeface="Trebuchet MS" panose="020B0603020202020204" pitchFamily="34" charset="0"/>
              </a:rPr>
              <a:t> </a:t>
            </a:r>
            <a:r>
              <a:rPr lang="en-US" sz="2400" b="1" i="1" dirty="0">
                <a:solidFill>
                  <a:srgbClr val="0C0D0E"/>
                </a:solidFill>
                <a:effectLst/>
                <a:latin typeface="Trebuchet MS" panose="020B0603020202020204" pitchFamily="34" charset="0"/>
              </a:rPr>
              <a:t>Substitution</a:t>
            </a:r>
            <a:r>
              <a:rPr lang="en-US" sz="2400" b="0" i="0" dirty="0">
                <a:solidFill>
                  <a:srgbClr val="0C0D0E"/>
                </a:solidFill>
                <a:effectLst/>
                <a:latin typeface="Trebuchet MS" panose="020B0603020202020204" pitchFamily="34" charset="0"/>
              </a:rPr>
              <a:t> can be used to transform expressions and find equivalent forms of expression.</a:t>
            </a:r>
          </a:p>
          <a:p>
            <a:pPr marL="446088" indent="-446088" algn="l">
              <a:lnSpc>
                <a:spcPct val="120000"/>
              </a:lnSpc>
              <a:spcBef>
                <a:spcPts val="300"/>
              </a:spcBef>
              <a:buNone/>
            </a:pPr>
            <a:r>
              <a:rPr lang="en-US" altLang="zh-CN" sz="2400" b="1" dirty="0">
                <a:solidFill>
                  <a:srgbClr val="0B61FF"/>
                </a:solidFill>
                <a:latin typeface="Trebuchet MS" panose="020B0603020202020204" pitchFamily="34" charset="0"/>
              </a:rPr>
              <a:t>(2)</a:t>
            </a:r>
            <a:r>
              <a:rPr lang="zh-CN" altLang="en-US" sz="2400" b="1" dirty="0">
                <a:solidFill>
                  <a:srgbClr val="0B61FF"/>
                </a:solidFill>
                <a:latin typeface="Trebuchet MS" panose="020B0603020202020204" pitchFamily="34" charset="0"/>
              </a:rPr>
              <a:t> </a:t>
            </a:r>
            <a:r>
              <a:rPr lang="en-US" sz="2400" b="1" i="1" dirty="0">
                <a:solidFill>
                  <a:srgbClr val="0C0D0E"/>
                </a:solidFill>
                <a:effectLst/>
                <a:latin typeface="Trebuchet MS" panose="020B0603020202020204" pitchFamily="34" charset="0"/>
              </a:rPr>
              <a:t>Renaming</a:t>
            </a:r>
            <a:r>
              <a:rPr lang="en-US" sz="2400" b="0" i="0" dirty="0">
                <a:solidFill>
                  <a:srgbClr val="0C0D0E"/>
                </a:solidFill>
                <a:effectLst/>
                <a:latin typeface="Trebuchet MS" panose="020B0603020202020204" pitchFamily="34" charset="0"/>
              </a:rPr>
              <a:t> can eliminate variable name conflicts and clarify the scope of quantifiers.</a:t>
            </a:r>
          </a:p>
          <a:p>
            <a:pPr marL="446088" indent="-446088" algn="l">
              <a:lnSpc>
                <a:spcPct val="120000"/>
              </a:lnSpc>
              <a:spcBef>
                <a:spcPts val="300"/>
              </a:spcBef>
              <a:buNone/>
              <a:tabLst>
                <a:tab pos="446088" algn="l"/>
              </a:tabLst>
            </a:pPr>
            <a:r>
              <a:rPr lang="en-US" altLang="zh-CN" sz="2400" b="1" dirty="0">
                <a:solidFill>
                  <a:srgbClr val="0B61FF"/>
                </a:solidFill>
                <a:latin typeface="Trebuchet MS" panose="020B0603020202020204" pitchFamily="34" charset="0"/>
              </a:rPr>
              <a:t>(3)</a:t>
            </a:r>
            <a:r>
              <a:rPr lang="zh-CN" altLang="en-US" sz="2400" b="1" dirty="0">
                <a:solidFill>
                  <a:srgbClr val="0B61FF"/>
                </a:solidFill>
                <a:latin typeface="Trebuchet MS" panose="020B0603020202020204" pitchFamily="34" charset="0"/>
              </a:rPr>
              <a:t> </a:t>
            </a:r>
            <a:r>
              <a:rPr lang="en-US" sz="2400" b="0" i="0" dirty="0">
                <a:solidFill>
                  <a:srgbClr val="0C0D0E"/>
                </a:solidFill>
                <a:effectLst/>
                <a:latin typeface="Trebuchet MS" panose="020B0603020202020204" pitchFamily="34" charset="0"/>
              </a:rPr>
              <a:t>When substituting, the replaced terms should not become variables within the scope of some quantifier.</a:t>
            </a:r>
          </a:p>
          <a:p>
            <a:pPr marL="446088" indent="-446088" algn="l">
              <a:lnSpc>
                <a:spcPct val="120000"/>
              </a:lnSpc>
              <a:spcBef>
                <a:spcPts val="300"/>
              </a:spcBef>
              <a:buNone/>
            </a:pPr>
            <a:r>
              <a:rPr lang="en-US" altLang="zh-CN" sz="2400" b="1" dirty="0">
                <a:solidFill>
                  <a:srgbClr val="0B61FF"/>
                </a:solidFill>
                <a:latin typeface="Trebuchet MS" panose="020B0603020202020204" pitchFamily="34" charset="0"/>
              </a:rPr>
              <a:t>(4)</a:t>
            </a:r>
            <a:r>
              <a:rPr lang="zh-CN" altLang="en-US" sz="2400" b="1" dirty="0">
                <a:solidFill>
                  <a:srgbClr val="0B61FF"/>
                </a:solidFill>
                <a:latin typeface="Trebuchet MS" panose="020B0603020202020204" pitchFamily="34" charset="0"/>
              </a:rPr>
              <a:t> </a:t>
            </a:r>
            <a:r>
              <a:rPr lang="en-US" sz="2400" b="0" i="0" dirty="0">
                <a:solidFill>
                  <a:srgbClr val="0C0D0E"/>
                </a:solidFill>
                <a:effectLst/>
                <a:latin typeface="Trebuchet MS" panose="020B0603020202020204" pitchFamily="34" charset="0"/>
              </a:rPr>
              <a:t>When renaming, only the variable names bound by quantifiers are changed, and the rest of the formula structure remains unchanged.</a:t>
            </a:r>
          </a:p>
          <a:p>
            <a:pPr eaLnBrk="1" hangingPunct="1">
              <a:buClr>
                <a:srgbClr val="FF0066"/>
              </a:buClr>
              <a:buSzPct val="125000"/>
            </a:pPr>
            <a:endParaRPr lang="zh-CN" altLang="en-US" sz="2800" b="1" dirty="0"/>
          </a:p>
        </p:txBody>
      </p:sp>
      <p:sp>
        <p:nvSpPr>
          <p:cNvPr id="4" name="Rectangle 2">
            <a:extLst>
              <a:ext uri="{FF2B5EF4-FFF2-40B4-BE49-F238E27FC236}">
                <a16:creationId xmlns:a16="http://schemas.microsoft.com/office/drawing/2014/main" id="{00BEC7ED-483A-498E-B911-420D66F7610F}"/>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a:extLst>
              <a:ext uri="{FF2B5EF4-FFF2-40B4-BE49-F238E27FC236}">
                <a16:creationId xmlns:a16="http://schemas.microsoft.com/office/drawing/2014/main" id="{E96EADBA-10C8-45F1-90F0-B0EEF15A2A63}"/>
              </a:ext>
            </a:extLst>
          </p:cNvPr>
          <p:cNvGraphicFramePr>
            <a:graphicFrameLocks noChangeAspect="1"/>
          </p:cNvGraphicFramePr>
          <p:nvPr>
            <p:extLst>
              <p:ext uri="{D42A27DB-BD31-4B8C-83A1-F6EECF244321}">
                <p14:modId xmlns:p14="http://schemas.microsoft.com/office/powerpoint/2010/main" val="2825229628"/>
              </p:ext>
            </p:extLst>
          </p:nvPr>
        </p:nvGraphicFramePr>
        <p:xfrm>
          <a:off x="1211491" y="926324"/>
          <a:ext cx="399596" cy="485995"/>
        </p:xfrm>
        <a:graphic>
          <a:graphicData uri="http://schemas.openxmlformats.org/presentationml/2006/ole">
            <mc:AlternateContent xmlns:mc="http://schemas.openxmlformats.org/markup-compatibility/2006">
              <mc:Choice xmlns:v="urn:schemas-microsoft-com:vml" Requires="v">
                <p:oleObj spid="_x0000_s4101" name="Visio" r:id="rId6" imgW="584296" imgH="698595" progId="Visio.Drawing.15">
                  <p:embed/>
                </p:oleObj>
              </mc:Choice>
              <mc:Fallback>
                <p:oleObj name="Visio" r:id="rId6" imgW="584296" imgH="698595" progId="Visio.Drawing.15">
                  <p:embed/>
                  <p:pic>
                    <p:nvPicPr>
                      <p:cNvPr id="0" name="Object 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11491" y="926324"/>
                        <a:ext cx="399596" cy="485995"/>
                      </a:xfrm>
                      <a:prstGeom prst="rect">
                        <a:avLst/>
                      </a:prstGeom>
                      <a:noFill/>
                    </p:spPr>
                  </p:pic>
                </p:oleObj>
              </mc:Fallback>
            </mc:AlternateContent>
          </a:graphicData>
        </a:graphic>
      </p:graphicFrame>
    </p:spTree>
    <p:extLst>
      <p:ext uri="{BB962C8B-B14F-4D97-AF65-F5344CB8AC3E}">
        <p14:creationId xmlns:p14="http://schemas.microsoft.com/office/powerpoint/2010/main" val="102928554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2" end="2"/>
                                            </p:txEl>
                                          </p:spTgt>
                                        </p:tgtEl>
                                        <p:attrNameLst>
                                          <p:attrName>style.visibility</p:attrName>
                                        </p:attrNameLst>
                                      </p:cBhvr>
                                      <p:to>
                                        <p:strVal val="visible"/>
                                      </p:to>
                                    </p:set>
                                    <p:animEffect transition="in" filter="fade">
                                      <p:cBhvr>
                                        <p:cTn id="7" dur="1000"/>
                                        <p:tgtEl>
                                          <p:spTgt spid="8">
                                            <p:txEl>
                                              <p:pRg st="2" end="2"/>
                                            </p:txEl>
                                          </p:spTgt>
                                        </p:tgtEl>
                                      </p:cBhvr>
                                    </p:animEffect>
                                    <p:anim calcmode="lin" valueType="num">
                                      <p:cBhvr>
                                        <p:cTn id="8"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8">
                                            <p:txEl>
                                              <p:pRg st="3" end="3"/>
                                            </p:txEl>
                                          </p:spTgt>
                                        </p:tgtEl>
                                        <p:attrNameLst>
                                          <p:attrName>style.visibility</p:attrName>
                                        </p:attrNameLst>
                                      </p:cBhvr>
                                      <p:to>
                                        <p:strVal val="visible"/>
                                      </p:to>
                                    </p:set>
                                    <p:animEffect transition="in" filter="fade">
                                      <p:cBhvr>
                                        <p:cTn id="14" dur="1000"/>
                                        <p:tgtEl>
                                          <p:spTgt spid="8">
                                            <p:txEl>
                                              <p:pRg st="3" end="3"/>
                                            </p:txEl>
                                          </p:spTgt>
                                        </p:tgtEl>
                                      </p:cBhvr>
                                    </p:animEffect>
                                    <p:anim calcmode="lin" valueType="num">
                                      <p:cBhvr>
                                        <p:cTn id="15"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16" dur="1000" fill="hold"/>
                                        <p:tgtEl>
                                          <p:spTgt spid="8">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8">
                                            <p:txEl>
                                              <p:pRg st="4" end="4"/>
                                            </p:txEl>
                                          </p:spTgt>
                                        </p:tgtEl>
                                        <p:attrNameLst>
                                          <p:attrName>style.visibility</p:attrName>
                                        </p:attrNameLst>
                                      </p:cBhvr>
                                      <p:to>
                                        <p:strVal val="visible"/>
                                      </p:to>
                                    </p:set>
                                    <p:animEffect transition="in" filter="fade">
                                      <p:cBhvr>
                                        <p:cTn id="21" dur="1000"/>
                                        <p:tgtEl>
                                          <p:spTgt spid="8">
                                            <p:txEl>
                                              <p:pRg st="4" end="4"/>
                                            </p:txEl>
                                          </p:spTgt>
                                        </p:tgtEl>
                                      </p:cBhvr>
                                    </p:animEffect>
                                    <p:anim calcmode="lin" valueType="num">
                                      <p:cBhvr>
                                        <p:cTn id="22" dur="1000" fill="hold"/>
                                        <p:tgtEl>
                                          <p:spTgt spid="8">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8">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solidFill>
                  <a:schemeClr val="bg1"/>
                </a:solidFill>
                <a:latin typeface="Trebuchet MS" panose="020B0603020202020204" pitchFamily="34" charset="0"/>
              </a:rPr>
              <a:t>3.2.1 First-Order Logic Equivalences and Substitution Rules</a:t>
            </a:r>
          </a:p>
          <a:p>
            <a:r>
              <a:rPr lang="en-US" altLang="zh-CN" sz="2000"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dirty="0"/>
              <a:t> </a:t>
            </a:r>
            <a:r>
              <a:rPr lang="en-US" altLang="zh-CN" sz="2400" b="1" dirty="0">
                <a:solidFill>
                  <a:schemeClr val="bg1"/>
                </a:solidFill>
                <a:latin typeface="Trebuchet MS" panose="020B0603020202020204" pitchFamily="34" charset="0"/>
              </a:rPr>
              <a:t>Renaming Rules(</a:t>
            </a:r>
            <a:r>
              <a:rPr lang="en-US" altLang="zh-CN" sz="2400" b="1" dirty="0">
                <a:solidFill>
                  <a:schemeClr val="accent2"/>
                </a:solidFill>
                <a:latin typeface="Trebuchet MS" panose="020B0603020202020204" pitchFamily="34" charset="0"/>
              </a:rPr>
              <a:t>e.g.</a:t>
            </a:r>
            <a:r>
              <a:rPr lang="en-US" altLang="zh-CN" sz="2400" b="1" dirty="0">
                <a:solidFill>
                  <a:schemeClr val="bg1"/>
                </a:solidFill>
                <a:latin typeface="Trebuchet MS" panose="020B0603020202020204" pitchFamily="34" charset="0"/>
              </a:rPr>
              <a:t>)</a:t>
            </a:r>
            <a:endParaRPr lang="en-US" altLang="zh-CN" sz="2400" b="1" dirty="0">
              <a:effectLst/>
              <a:latin typeface="Cambria Math" panose="02040503050406030204" pitchFamily="18" charset="0"/>
              <a:ea typeface="Cambria Math" panose="02040503050406030204" pitchFamily="18" charset="0"/>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824681" y="765175"/>
            <a:ext cx="8907148" cy="5788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eaLnBrk="1" hangingPunct="1">
              <a:buClr>
                <a:srgbClr val="FF0066"/>
              </a:buClr>
              <a:buSzPct val="125000"/>
              <a:buNone/>
            </a:pPr>
            <a:endParaRPr lang="zh-CN" altLang="en-US" sz="2800" b="1" dirty="0"/>
          </a:p>
        </p:txBody>
      </p:sp>
      <p:sp>
        <p:nvSpPr>
          <p:cNvPr id="9" name="Rectangle 3">
            <a:extLst>
              <a:ext uri="{FF2B5EF4-FFF2-40B4-BE49-F238E27FC236}">
                <a16:creationId xmlns:a16="http://schemas.microsoft.com/office/drawing/2014/main" id="{0694A6CD-D98E-4CCD-8404-E29D70C9F398}"/>
              </a:ext>
            </a:extLst>
          </p:cNvPr>
          <p:cNvSpPr txBox="1">
            <a:spLocks noChangeArrowheads="1"/>
          </p:cNvSpPr>
          <p:nvPr/>
        </p:nvSpPr>
        <p:spPr>
          <a:xfrm>
            <a:off x="912402" y="876108"/>
            <a:ext cx="10245455" cy="505222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eaLnBrk="0" fontAlgn="base" hangingPunct="0">
              <a:lnSpc>
                <a:spcPct val="120000"/>
              </a:lnSpc>
              <a:spcBef>
                <a:spcPts val="300"/>
              </a:spcBef>
              <a:spcAft>
                <a:spcPct val="0"/>
              </a:spcAft>
              <a:buNone/>
            </a:pPr>
            <a:r>
              <a:rPr lang="en-US" altLang="zh-CN" sz="2400" b="1" dirty="0">
                <a:latin typeface="Trebuchet MS" panose="020B0603020202020204" pitchFamily="34" charset="0"/>
              </a:rPr>
              <a:t>      Example:</a:t>
            </a:r>
            <a:r>
              <a:rPr lang="en-US" altLang="zh-CN" sz="2400" dirty="0">
                <a:latin typeface="Trebuchet MS" panose="020B0603020202020204" pitchFamily="34" charset="0"/>
              </a:rPr>
              <a:t> </a:t>
            </a:r>
            <a:r>
              <a:rPr kumimoji="0" lang="en-US" altLang="en-US" sz="2400" b="0" i="0" u="none" strike="noStrike" cap="none" normalizeH="0" baseline="0" dirty="0">
                <a:ln>
                  <a:noFill/>
                </a:ln>
                <a:solidFill>
                  <a:schemeClr val="tx1"/>
                </a:solidFill>
                <a:effectLst/>
                <a:latin typeface="Trebuchet MS" panose="020B0603020202020204" pitchFamily="34" charset="0"/>
              </a:rPr>
              <a:t>Eliminate the individual variables that appear both in the constraints and as free variables in the equation.</a:t>
            </a:r>
          </a:p>
          <a:p>
            <a:pPr marL="0" indent="0">
              <a:lnSpc>
                <a:spcPct val="120000"/>
              </a:lnSpc>
              <a:spcBef>
                <a:spcPts val="300"/>
              </a:spcBef>
              <a:buNone/>
            </a:pPr>
            <a:r>
              <a:rPr lang="en-US" altLang="zh-CN" sz="2400" b="1" dirty="0">
                <a:solidFill>
                  <a:srgbClr val="0B61FF"/>
                </a:solidFill>
                <a:latin typeface="Trebuchet MS" panose="020B0603020202020204" pitchFamily="34" charset="0"/>
                <a:sym typeface="Symbol" panose="05050102010706020507" pitchFamily="18" charset="2"/>
              </a:rPr>
              <a:t>(1) </a:t>
            </a:r>
            <a:r>
              <a:rPr lang="zh-CN" altLang="en-US"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xF</a:t>
            </a:r>
            <a:r>
              <a:rPr lang="en-US" altLang="zh-CN" sz="2400" b="1" dirty="0">
                <a:latin typeface="Trebuchet MS" panose="020B0603020202020204" pitchFamily="34" charset="0"/>
              </a:rPr>
              <a:t>(</a:t>
            </a:r>
            <a:r>
              <a:rPr lang="en-US" altLang="zh-CN" sz="2400" b="1" i="1" dirty="0">
                <a:latin typeface="Trebuchet MS" panose="020B0603020202020204" pitchFamily="34" charset="0"/>
              </a:rPr>
              <a:t>x,y,z</a:t>
            </a:r>
            <a:r>
              <a:rPr lang="en-US" altLang="zh-CN" sz="2400" b="1" dirty="0">
                <a:latin typeface="Trebuchet MS" panose="020B0603020202020204" pitchFamily="34" charset="0"/>
              </a:rPr>
              <a:t>) </a:t>
            </a:r>
            <a:r>
              <a:rPr lang="en-US" altLang="zh-CN" sz="2400" b="1" dirty="0">
                <a:latin typeface="Trebuchet MS" panose="020B0603020202020204" pitchFamily="34" charset="0"/>
                <a:sym typeface="Symbol" panose="05050102010706020507" pitchFamily="18" charset="2"/>
              </a:rPr>
              <a:t></a:t>
            </a:r>
            <a:r>
              <a:rPr lang="en-US" altLang="zh-CN" sz="2400" b="1" dirty="0">
                <a:latin typeface="Trebuchet MS" panose="020B0603020202020204" pitchFamily="34" charset="0"/>
              </a:rPr>
              <a:t> </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yG</a:t>
            </a:r>
            <a:r>
              <a:rPr lang="en-US" altLang="zh-CN" sz="2400" b="1" dirty="0">
                <a:latin typeface="Trebuchet MS" panose="020B0603020202020204" pitchFamily="34" charset="0"/>
              </a:rPr>
              <a:t>(</a:t>
            </a:r>
            <a:r>
              <a:rPr lang="en-US" altLang="zh-CN" sz="2400" b="1" i="1" dirty="0">
                <a:latin typeface="Trebuchet MS" panose="020B0603020202020204" pitchFamily="34" charset="0"/>
              </a:rPr>
              <a:t>x,y,z</a:t>
            </a:r>
            <a:r>
              <a:rPr lang="en-US" altLang="zh-CN" sz="2400" b="1" dirty="0">
                <a:latin typeface="Trebuchet MS" panose="020B0603020202020204" pitchFamily="34" charset="0"/>
              </a:rPr>
              <a:t>)</a:t>
            </a:r>
          </a:p>
          <a:p>
            <a:pPr marL="0" indent="0">
              <a:lnSpc>
                <a:spcPct val="120000"/>
              </a:lnSpc>
              <a:spcBef>
                <a:spcPts val="300"/>
              </a:spcBef>
              <a:buNone/>
            </a:pPr>
            <a:r>
              <a:rPr lang="en-US" altLang="zh-CN" sz="2400" b="1" dirty="0">
                <a:latin typeface="Trebuchet MS" panose="020B0603020202020204" pitchFamily="34" charset="0"/>
                <a:sym typeface="Symbol" panose="05050102010706020507" pitchFamily="18" charset="2"/>
              </a:rPr>
              <a:t>     </a:t>
            </a:r>
            <a:r>
              <a:rPr lang="zh-CN" altLang="en-US" sz="2400" b="1" dirty="0">
                <a:latin typeface="Trebuchet MS" panose="020B0603020202020204" pitchFamily="34" charset="0"/>
                <a:sym typeface="Symbol" panose="05050102010706020507" pitchFamily="18" charset="2"/>
              </a:rPr>
              <a:t> </a:t>
            </a:r>
            <a:r>
              <a:rPr lang="en-US" altLang="zh-CN" sz="2400" b="1" i="1" dirty="0">
                <a:latin typeface="Trebuchet MS" panose="020B0603020202020204" pitchFamily="34" charset="0"/>
              </a:rPr>
              <a:t>uF</a:t>
            </a:r>
            <a:r>
              <a:rPr lang="en-US" altLang="zh-CN" sz="2400" b="1" dirty="0">
                <a:latin typeface="Trebuchet MS" panose="020B0603020202020204" pitchFamily="34" charset="0"/>
              </a:rPr>
              <a:t>(</a:t>
            </a:r>
            <a:r>
              <a:rPr lang="en-US" altLang="zh-CN" sz="2400" b="1" i="1" dirty="0">
                <a:latin typeface="Trebuchet MS" panose="020B0603020202020204" pitchFamily="34" charset="0"/>
              </a:rPr>
              <a:t>u,y,z</a:t>
            </a:r>
            <a:r>
              <a:rPr lang="en-US" altLang="zh-CN" sz="2400" b="1" dirty="0">
                <a:latin typeface="Trebuchet MS" panose="020B0603020202020204" pitchFamily="34" charset="0"/>
              </a:rPr>
              <a:t>) </a:t>
            </a:r>
            <a:r>
              <a:rPr lang="en-US" altLang="zh-CN" sz="2400" b="1" dirty="0">
                <a:latin typeface="Trebuchet MS" panose="020B0603020202020204" pitchFamily="34" charset="0"/>
                <a:sym typeface="Symbol" panose="05050102010706020507" pitchFamily="18" charset="2"/>
              </a:rPr>
              <a:t></a:t>
            </a:r>
            <a:r>
              <a:rPr lang="en-US" altLang="zh-CN" sz="2400" b="1" dirty="0">
                <a:latin typeface="Trebuchet MS" panose="020B0603020202020204" pitchFamily="34" charset="0"/>
              </a:rPr>
              <a:t> </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yG</a:t>
            </a:r>
            <a:r>
              <a:rPr lang="en-US" altLang="zh-CN" sz="2400" b="1" dirty="0">
                <a:latin typeface="Trebuchet MS" panose="020B0603020202020204" pitchFamily="34" charset="0"/>
              </a:rPr>
              <a:t>(</a:t>
            </a:r>
            <a:r>
              <a:rPr lang="en-US" altLang="zh-CN" sz="2400" b="1" i="1" dirty="0">
                <a:latin typeface="Trebuchet MS" panose="020B0603020202020204" pitchFamily="34" charset="0"/>
              </a:rPr>
              <a:t>x,y,z</a:t>
            </a:r>
            <a:r>
              <a:rPr lang="en-US" altLang="zh-CN" sz="2400" b="1" dirty="0">
                <a:latin typeface="Trebuchet MS" panose="020B0603020202020204" pitchFamily="34" charset="0"/>
              </a:rPr>
              <a:t>)</a:t>
            </a:r>
          </a:p>
          <a:p>
            <a:pPr marL="0" indent="0">
              <a:lnSpc>
                <a:spcPct val="120000"/>
              </a:lnSpc>
              <a:spcBef>
                <a:spcPts val="300"/>
              </a:spcBef>
              <a:buNone/>
            </a:pPr>
            <a:r>
              <a:rPr lang="en-US" altLang="zh-CN" sz="2400" b="1" dirty="0">
                <a:latin typeface="Trebuchet MS" panose="020B0603020202020204" pitchFamily="34" charset="0"/>
                <a:sym typeface="Symbol" panose="05050102010706020507" pitchFamily="18" charset="2"/>
              </a:rPr>
              <a:t>     </a:t>
            </a:r>
            <a:r>
              <a:rPr lang="zh-CN" altLang="en-US" sz="2400" b="1" dirty="0">
                <a:latin typeface="Trebuchet MS" panose="020B0603020202020204" pitchFamily="34" charset="0"/>
                <a:sym typeface="Symbol" panose="05050102010706020507" pitchFamily="18" charset="2"/>
              </a:rPr>
              <a:t> </a:t>
            </a:r>
            <a:r>
              <a:rPr lang="en-US" altLang="zh-CN" sz="2400" b="1" i="1" dirty="0">
                <a:latin typeface="Trebuchet MS" panose="020B0603020202020204" pitchFamily="34" charset="0"/>
              </a:rPr>
              <a:t>uF</a:t>
            </a:r>
            <a:r>
              <a:rPr lang="en-US" altLang="zh-CN" sz="2400" b="1" dirty="0">
                <a:latin typeface="Trebuchet MS" panose="020B0603020202020204" pitchFamily="34" charset="0"/>
              </a:rPr>
              <a:t>(</a:t>
            </a:r>
            <a:r>
              <a:rPr lang="en-US" altLang="zh-CN" sz="2400" b="1" i="1" dirty="0">
                <a:latin typeface="Trebuchet MS" panose="020B0603020202020204" pitchFamily="34" charset="0"/>
              </a:rPr>
              <a:t>u,y,z</a:t>
            </a:r>
            <a:r>
              <a:rPr lang="en-US" altLang="zh-CN" sz="2400" b="1" dirty="0">
                <a:latin typeface="Trebuchet MS" panose="020B0603020202020204" pitchFamily="34" charset="0"/>
              </a:rPr>
              <a:t>) </a:t>
            </a:r>
            <a:r>
              <a:rPr lang="en-US" altLang="zh-CN" sz="2400" b="1" dirty="0">
                <a:latin typeface="Trebuchet MS" panose="020B0603020202020204" pitchFamily="34" charset="0"/>
                <a:sym typeface="Symbol" panose="05050102010706020507" pitchFamily="18" charset="2"/>
              </a:rPr>
              <a:t></a:t>
            </a:r>
            <a:r>
              <a:rPr lang="en-US" altLang="zh-CN" sz="2400" b="1" dirty="0">
                <a:latin typeface="Trebuchet MS" panose="020B0603020202020204" pitchFamily="34" charset="0"/>
              </a:rPr>
              <a:t> </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vG</a:t>
            </a:r>
            <a:r>
              <a:rPr lang="en-US" altLang="zh-CN" sz="2400" b="1" dirty="0">
                <a:latin typeface="Trebuchet MS" panose="020B0603020202020204" pitchFamily="34" charset="0"/>
              </a:rPr>
              <a:t>(</a:t>
            </a:r>
            <a:r>
              <a:rPr lang="en-US" altLang="zh-CN" sz="2400" b="1" i="1" dirty="0">
                <a:latin typeface="Trebuchet MS" panose="020B0603020202020204" pitchFamily="34" charset="0"/>
              </a:rPr>
              <a:t>x,v,z</a:t>
            </a:r>
            <a:r>
              <a:rPr lang="en-US" altLang="zh-CN" sz="2400" b="1" dirty="0">
                <a:latin typeface="Trebuchet MS" panose="020B0603020202020204" pitchFamily="34" charset="0"/>
              </a:rPr>
              <a:t>) </a:t>
            </a:r>
            <a:r>
              <a:rPr lang="zh-CN" altLang="en-US" sz="2400" dirty="0">
                <a:latin typeface="Trebuchet MS" panose="020B0603020202020204" pitchFamily="34" charset="0"/>
              </a:rPr>
              <a:t>（</a:t>
            </a:r>
            <a:r>
              <a:rPr lang="en-US" altLang="zh-CN" sz="2400" dirty="0">
                <a:latin typeface="Trebuchet MS" panose="020B0603020202020204" pitchFamily="34" charset="0"/>
              </a:rPr>
              <a:t>Renaming Rule Equivalence)</a:t>
            </a:r>
          </a:p>
          <a:p>
            <a:pPr marL="358775" indent="0">
              <a:lnSpc>
                <a:spcPct val="120000"/>
              </a:lnSpc>
              <a:spcBef>
                <a:spcPts val="300"/>
              </a:spcBef>
              <a:buNone/>
            </a:pPr>
            <a:r>
              <a:rPr lang="en-US" altLang="zh-CN" sz="2400" dirty="0">
                <a:solidFill>
                  <a:schemeClr val="bg2">
                    <a:lumMod val="50000"/>
                  </a:schemeClr>
                </a:solidFill>
                <a:latin typeface="Trebuchet MS" panose="020B0603020202020204" pitchFamily="34" charset="0"/>
              </a:rPr>
              <a:t>Avoid variable confusion and improve expression readability and consistency.</a:t>
            </a:r>
            <a:endParaRPr lang="zh-CN" altLang="en-US" sz="2400" b="1" dirty="0">
              <a:solidFill>
                <a:schemeClr val="bg2">
                  <a:lumMod val="50000"/>
                </a:schemeClr>
              </a:solidFill>
              <a:latin typeface="Trebuchet MS" panose="020B0603020202020204" pitchFamily="34" charset="0"/>
            </a:endParaRPr>
          </a:p>
          <a:p>
            <a:pPr marL="0" indent="0">
              <a:lnSpc>
                <a:spcPct val="120000"/>
              </a:lnSpc>
              <a:spcBef>
                <a:spcPts val="300"/>
              </a:spcBef>
              <a:buNone/>
            </a:pPr>
            <a:r>
              <a:rPr lang="en-US" altLang="zh-CN" sz="2400" b="1" dirty="0">
                <a:solidFill>
                  <a:srgbClr val="0B61FF"/>
                </a:solidFill>
                <a:latin typeface="Trebuchet MS" panose="020B0603020202020204" pitchFamily="34" charset="0"/>
                <a:sym typeface="Symbol" panose="05050102010706020507" pitchFamily="18" charset="2"/>
              </a:rPr>
              <a:t>(2) </a:t>
            </a:r>
            <a:r>
              <a:rPr lang="zh-CN" altLang="en-US"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x</a:t>
            </a:r>
            <a:r>
              <a:rPr lang="en-US" altLang="zh-CN" sz="2400" b="1" dirty="0">
                <a:latin typeface="Trebuchet MS" panose="020B0603020202020204" pitchFamily="34" charset="0"/>
              </a:rPr>
              <a:t>(</a:t>
            </a:r>
            <a:r>
              <a:rPr lang="en-US" altLang="zh-CN" sz="2400" b="1" i="1" dirty="0">
                <a:latin typeface="Trebuchet MS" panose="020B0603020202020204" pitchFamily="34" charset="0"/>
              </a:rPr>
              <a:t>F</a:t>
            </a:r>
            <a:r>
              <a:rPr lang="en-US" altLang="zh-CN" sz="2400" b="1" dirty="0">
                <a:latin typeface="Trebuchet MS" panose="020B0603020202020204" pitchFamily="34" charset="0"/>
              </a:rPr>
              <a:t>(</a:t>
            </a:r>
            <a:r>
              <a:rPr lang="en-US" altLang="zh-CN" sz="2400" b="1" i="1" dirty="0">
                <a:latin typeface="Trebuchet MS" panose="020B0603020202020204" pitchFamily="34" charset="0"/>
              </a:rPr>
              <a:t>x,y</a:t>
            </a:r>
            <a:r>
              <a:rPr lang="en-US" altLang="zh-CN" sz="2400" b="1" dirty="0">
                <a:latin typeface="Trebuchet MS" panose="020B0603020202020204" pitchFamily="34" charset="0"/>
              </a:rPr>
              <a:t>) </a:t>
            </a:r>
            <a:r>
              <a:rPr lang="en-US" altLang="zh-CN" sz="2400" b="1" dirty="0">
                <a:latin typeface="Trebuchet MS" panose="020B0603020202020204" pitchFamily="34" charset="0"/>
                <a:sym typeface="Symbol" panose="05050102010706020507" pitchFamily="18" charset="2"/>
              </a:rPr>
              <a:t></a:t>
            </a:r>
            <a:r>
              <a:rPr lang="en-US" altLang="zh-CN" sz="2400" b="1" dirty="0">
                <a:latin typeface="Trebuchet MS" panose="020B0603020202020204" pitchFamily="34" charset="0"/>
              </a:rPr>
              <a:t> </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yG</a:t>
            </a:r>
            <a:r>
              <a:rPr lang="en-US" altLang="zh-CN" sz="2400" b="1" dirty="0">
                <a:latin typeface="Trebuchet MS" panose="020B0603020202020204" pitchFamily="34" charset="0"/>
              </a:rPr>
              <a:t>(</a:t>
            </a:r>
            <a:r>
              <a:rPr lang="en-US" altLang="zh-CN" sz="2400" b="1" i="1" dirty="0">
                <a:latin typeface="Trebuchet MS" panose="020B0603020202020204" pitchFamily="34" charset="0"/>
              </a:rPr>
              <a:t>x,y,z</a:t>
            </a:r>
            <a:r>
              <a:rPr lang="en-US" altLang="zh-CN" sz="2400" b="1" dirty="0">
                <a:latin typeface="Trebuchet MS" panose="020B0603020202020204" pitchFamily="34" charset="0"/>
              </a:rPr>
              <a:t>))</a:t>
            </a:r>
          </a:p>
          <a:p>
            <a:pPr marL="0" indent="0">
              <a:lnSpc>
                <a:spcPct val="120000"/>
              </a:lnSpc>
              <a:spcBef>
                <a:spcPts val="300"/>
              </a:spcBef>
              <a:buNone/>
            </a:pPr>
            <a:r>
              <a:rPr lang="en-US" altLang="zh-CN" sz="2400" b="1" dirty="0">
                <a:latin typeface="Trebuchet MS" panose="020B0603020202020204" pitchFamily="34" charset="0"/>
                <a:sym typeface="Symbol" panose="05050102010706020507" pitchFamily="18" charset="2"/>
              </a:rPr>
              <a:t>     </a:t>
            </a:r>
            <a:r>
              <a:rPr lang="zh-CN" altLang="en-US" sz="2400" b="1" dirty="0">
                <a:latin typeface="Trebuchet MS" panose="020B0603020202020204" pitchFamily="34" charset="0"/>
                <a:sym typeface="Symbol" panose="05050102010706020507" pitchFamily="18" charset="2"/>
              </a:rPr>
              <a:t> </a:t>
            </a:r>
            <a:r>
              <a:rPr lang="en-US" altLang="zh-CN" sz="2400" b="1" i="1" dirty="0">
                <a:latin typeface="Trebuchet MS" panose="020B0603020202020204" pitchFamily="34" charset="0"/>
              </a:rPr>
              <a:t>x</a:t>
            </a:r>
            <a:r>
              <a:rPr lang="en-US" altLang="zh-CN" sz="2400" b="1" dirty="0">
                <a:latin typeface="Trebuchet MS" panose="020B0603020202020204" pitchFamily="34" charset="0"/>
              </a:rPr>
              <a:t>(</a:t>
            </a:r>
            <a:r>
              <a:rPr lang="en-US" altLang="zh-CN" sz="2400" b="1" i="1" dirty="0">
                <a:latin typeface="Trebuchet MS" panose="020B0603020202020204" pitchFamily="34" charset="0"/>
              </a:rPr>
              <a:t>F</a:t>
            </a:r>
            <a:r>
              <a:rPr lang="en-US" altLang="zh-CN" sz="2400" b="1" dirty="0">
                <a:latin typeface="Trebuchet MS" panose="020B0603020202020204" pitchFamily="34" charset="0"/>
              </a:rPr>
              <a:t>(</a:t>
            </a:r>
            <a:r>
              <a:rPr lang="en-US" altLang="zh-CN" sz="2400" b="1" i="1" dirty="0">
                <a:latin typeface="Trebuchet MS" panose="020B0603020202020204" pitchFamily="34" charset="0"/>
              </a:rPr>
              <a:t>x,y</a:t>
            </a:r>
            <a:r>
              <a:rPr lang="en-US" altLang="zh-CN" sz="2400" b="1" dirty="0">
                <a:latin typeface="Trebuchet MS" panose="020B0603020202020204" pitchFamily="34" charset="0"/>
              </a:rPr>
              <a:t>) </a:t>
            </a:r>
            <a:r>
              <a:rPr lang="en-US" altLang="zh-CN" sz="2400" b="1" dirty="0">
                <a:latin typeface="Trebuchet MS" panose="020B0603020202020204" pitchFamily="34" charset="0"/>
                <a:sym typeface="Symbol" panose="05050102010706020507" pitchFamily="18" charset="2"/>
              </a:rPr>
              <a:t></a:t>
            </a:r>
            <a:r>
              <a:rPr lang="en-US" altLang="zh-CN" sz="2400" b="1" dirty="0">
                <a:latin typeface="Trebuchet MS" panose="020B0603020202020204" pitchFamily="34" charset="0"/>
              </a:rPr>
              <a:t> </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tG</a:t>
            </a:r>
            <a:r>
              <a:rPr lang="en-US" altLang="zh-CN" sz="2400" b="1" dirty="0">
                <a:latin typeface="Trebuchet MS" panose="020B0603020202020204" pitchFamily="34" charset="0"/>
              </a:rPr>
              <a:t>(</a:t>
            </a:r>
            <a:r>
              <a:rPr lang="en-US" altLang="zh-CN" sz="2400" b="1" i="1" dirty="0">
                <a:latin typeface="Trebuchet MS" panose="020B0603020202020204" pitchFamily="34" charset="0"/>
              </a:rPr>
              <a:t>x,t,z</a:t>
            </a:r>
            <a:r>
              <a:rPr lang="en-US" altLang="zh-CN" sz="2400" b="1" dirty="0">
                <a:latin typeface="Trebuchet MS" panose="020B0603020202020204" pitchFamily="34" charset="0"/>
              </a:rPr>
              <a:t>)) </a:t>
            </a:r>
            <a:r>
              <a:rPr lang="zh-CN" altLang="en-US" sz="2400" dirty="0">
                <a:latin typeface="Trebuchet MS" panose="020B0603020202020204" pitchFamily="34" charset="0"/>
              </a:rPr>
              <a:t>（</a:t>
            </a:r>
            <a:r>
              <a:rPr lang="en-US" altLang="zh-CN" sz="2400" dirty="0">
                <a:latin typeface="Trebuchet MS" panose="020B0603020202020204" pitchFamily="34" charset="0"/>
              </a:rPr>
              <a:t>Renaming Rule Equivalence</a:t>
            </a:r>
            <a:r>
              <a:rPr lang="zh-CN" altLang="en-US" sz="2400" dirty="0">
                <a:latin typeface="Trebuchet MS" panose="020B0603020202020204" pitchFamily="34" charset="0"/>
              </a:rPr>
              <a:t>）</a:t>
            </a:r>
            <a:endParaRPr lang="en-US" altLang="zh-CN" sz="2400" dirty="0">
              <a:latin typeface="Trebuchet MS" panose="020B0603020202020204" pitchFamily="34" charset="0"/>
            </a:endParaRPr>
          </a:p>
          <a:p>
            <a:pPr marL="358775" indent="0">
              <a:lnSpc>
                <a:spcPct val="120000"/>
              </a:lnSpc>
              <a:spcBef>
                <a:spcPts val="300"/>
              </a:spcBef>
              <a:buNone/>
            </a:pPr>
            <a:r>
              <a:rPr lang="en-US" altLang="zh-CN" sz="2400" dirty="0">
                <a:solidFill>
                  <a:schemeClr val="bg2">
                    <a:lumMod val="50000"/>
                  </a:schemeClr>
                </a:solidFill>
                <a:latin typeface="Trebuchet MS" panose="020B0603020202020204" pitchFamily="34" charset="0"/>
              </a:rPr>
              <a:t> Only changed the bound variable name of the existential quantifier y.</a:t>
            </a:r>
            <a:endParaRPr lang="zh-CN" altLang="en-US" sz="2400" dirty="0">
              <a:solidFill>
                <a:schemeClr val="bg2">
                  <a:lumMod val="50000"/>
                </a:schemeClr>
              </a:solidFill>
              <a:latin typeface="Trebuchet MS" panose="020B0603020202020204" pitchFamily="34" charset="0"/>
            </a:endParaRPr>
          </a:p>
          <a:p>
            <a:pPr marL="0" indent="0">
              <a:lnSpc>
                <a:spcPct val="120000"/>
              </a:lnSpc>
              <a:spcBef>
                <a:spcPts val="300"/>
              </a:spcBef>
              <a:buNone/>
            </a:pPr>
            <a:endParaRPr lang="zh-CN" altLang="en-US" sz="2400" b="1" dirty="0">
              <a:latin typeface="Trebuchet MS" panose="020B0603020202020204" pitchFamily="34" charset="0"/>
            </a:endParaRPr>
          </a:p>
          <a:p>
            <a:pPr marL="0" indent="0">
              <a:lnSpc>
                <a:spcPct val="120000"/>
              </a:lnSpc>
              <a:spcBef>
                <a:spcPts val="300"/>
              </a:spcBef>
              <a:buNone/>
            </a:pPr>
            <a:endParaRPr lang="zh-CN" altLang="en-US" sz="2400" b="1" dirty="0">
              <a:latin typeface="Trebuchet MS" panose="020B0603020202020204" pitchFamily="34" charset="0"/>
            </a:endParaRPr>
          </a:p>
          <a:p>
            <a:pPr marL="0" indent="0">
              <a:lnSpc>
                <a:spcPct val="120000"/>
              </a:lnSpc>
              <a:spcBef>
                <a:spcPts val="300"/>
              </a:spcBef>
              <a:buNone/>
            </a:pPr>
            <a:endParaRPr lang="zh-CN" altLang="en-US" sz="2400" b="1" dirty="0">
              <a:latin typeface="Trebuchet MS" panose="020B0603020202020204" pitchFamily="34" charset="0"/>
            </a:endParaRPr>
          </a:p>
        </p:txBody>
      </p:sp>
      <p:pic>
        <p:nvPicPr>
          <p:cNvPr id="15" name="图片 14">
            <a:extLst>
              <a:ext uri="{FF2B5EF4-FFF2-40B4-BE49-F238E27FC236}">
                <a16:creationId xmlns:a16="http://schemas.microsoft.com/office/drawing/2014/main" id="{781E38FA-EA86-4742-9A02-8652E9DD1A15}"/>
              </a:ext>
            </a:extLst>
          </p:cNvPr>
          <p:cNvPicPr/>
          <p:nvPr/>
        </p:nvPicPr>
        <p:blipFill>
          <a:blip r:embed="rId5"/>
          <a:stretch>
            <a:fillRect/>
          </a:stretch>
        </p:blipFill>
        <p:spPr>
          <a:xfrm>
            <a:off x="930276" y="1031648"/>
            <a:ext cx="577850" cy="241300"/>
          </a:xfrm>
          <a:prstGeom prst="rect">
            <a:avLst/>
          </a:prstGeom>
        </p:spPr>
      </p:pic>
    </p:spTree>
    <p:extLst>
      <p:ext uri="{BB962C8B-B14F-4D97-AF65-F5344CB8AC3E}">
        <p14:creationId xmlns:p14="http://schemas.microsoft.com/office/powerpoint/2010/main" val="155275390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
                                            <p:txEl>
                                              <p:pRg st="1" end="1"/>
                                            </p:txEl>
                                          </p:spTgt>
                                        </p:tgtEl>
                                        <p:attrNameLst>
                                          <p:attrName>style.visibility</p:attrName>
                                        </p:attrNameLst>
                                      </p:cBhvr>
                                      <p:to>
                                        <p:strVal val="visible"/>
                                      </p:to>
                                    </p:set>
                                    <p:animEffect transition="in" filter="fade">
                                      <p:cBhvr>
                                        <p:cTn id="7" dur="1000"/>
                                        <p:tgtEl>
                                          <p:spTgt spid="9">
                                            <p:txEl>
                                              <p:pRg st="1" end="1"/>
                                            </p:txEl>
                                          </p:spTgt>
                                        </p:tgtEl>
                                      </p:cBhvr>
                                    </p:animEffect>
                                    <p:anim calcmode="lin" valueType="num">
                                      <p:cBhvr>
                                        <p:cTn id="8" dur="1000" fill="hold"/>
                                        <p:tgtEl>
                                          <p:spTgt spid="9">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9">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9">
                                            <p:txEl>
                                              <p:pRg st="2" end="2"/>
                                            </p:txEl>
                                          </p:spTgt>
                                        </p:tgtEl>
                                        <p:attrNameLst>
                                          <p:attrName>style.visibility</p:attrName>
                                        </p:attrNameLst>
                                      </p:cBhvr>
                                      <p:to>
                                        <p:strVal val="visible"/>
                                      </p:to>
                                    </p:set>
                                    <p:animEffect transition="in" filter="fade">
                                      <p:cBhvr>
                                        <p:cTn id="12" dur="1000"/>
                                        <p:tgtEl>
                                          <p:spTgt spid="9">
                                            <p:txEl>
                                              <p:pRg st="2" end="2"/>
                                            </p:txEl>
                                          </p:spTgt>
                                        </p:tgtEl>
                                      </p:cBhvr>
                                    </p:animEffect>
                                    <p:anim calcmode="lin" valueType="num">
                                      <p:cBhvr>
                                        <p:cTn id="13" dur="1000" fill="hold"/>
                                        <p:tgtEl>
                                          <p:spTgt spid="9">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9">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9">
                                            <p:txEl>
                                              <p:pRg st="3" end="3"/>
                                            </p:txEl>
                                          </p:spTgt>
                                        </p:tgtEl>
                                        <p:attrNameLst>
                                          <p:attrName>style.visibility</p:attrName>
                                        </p:attrNameLst>
                                      </p:cBhvr>
                                      <p:to>
                                        <p:strVal val="visible"/>
                                      </p:to>
                                    </p:set>
                                    <p:animEffect transition="in" filter="fade">
                                      <p:cBhvr>
                                        <p:cTn id="17" dur="1000"/>
                                        <p:tgtEl>
                                          <p:spTgt spid="9">
                                            <p:txEl>
                                              <p:pRg st="3" end="3"/>
                                            </p:txEl>
                                          </p:spTgt>
                                        </p:tgtEl>
                                      </p:cBhvr>
                                    </p:animEffect>
                                    <p:anim calcmode="lin" valueType="num">
                                      <p:cBhvr>
                                        <p:cTn id="18" dur="1000" fill="hold"/>
                                        <p:tgtEl>
                                          <p:spTgt spid="9">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9">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9">
                                            <p:txEl>
                                              <p:pRg st="4" end="4"/>
                                            </p:txEl>
                                          </p:spTgt>
                                        </p:tgtEl>
                                        <p:attrNameLst>
                                          <p:attrName>style.visibility</p:attrName>
                                        </p:attrNameLst>
                                      </p:cBhvr>
                                      <p:to>
                                        <p:strVal val="visible"/>
                                      </p:to>
                                    </p:set>
                                    <p:animEffect transition="in" filter="fade">
                                      <p:cBhvr>
                                        <p:cTn id="24" dur="1000"/>
                                        <p:tgtEl>
                                          <p:spTgt spid="9">
                                            <p:txEl>
                                              <p:pRg st="4" end="4"/>
                                            </p:txEl>
                                          </p:spTgt>
                                        </p:tgtEl>
                                      </p:cBhvr>
                                    </p:animEffect>
                                    <p:anim calcmode="lin" valueType="num">
                                      <p:cBhvr>
                                        <p:cTn id="25" dur="1000" fill="hold"/>
                                        <p:tgtEl>
                                          <p:spTgt spid="9">
                                            <p:txEl>
                                              <p:pRg st="4" end="4"/>
                                            </p:txEl>
                                          </p:spTgt>
                                        </p:tgtEl>
                                        <p:attrNameLst>
                                          <p:attrName>ppt_x</p:attrName>
                                        </p:attrNameLst>
                                      </p:cBhvr>
                                      <p:tavLst>
                                        <p:tav tm="0">
                                          <p:val>
                                            <p:strVal val="#ppt_x"/>
                                          </p:val>
                                        </p:tav>
                                        <p:tav tm="100000">
                                          <p:val>
                                            <p:strVal val="#ppt_x"/>
                                          </p:val>
                                        </p:tav>
                                      </p:tavLst>
                                    </p:anim>
                                    <p:anim calcmode="lin" valueType="num">
                                      <p:cBhvr>
                                        <p:cTn id="26" dur="1000" fill="hold"/>
                                        <p:tgtEl>
                                          <p:spTgt spid="9">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9">
                                            <p:txEl>
                                              <p:pRg st="5" end="5"/>
                                            </p:txEl>
                                          </p:spTgt>
                                        </p:tgtEl>
                                        <p:attrNameLst>
                                          <p:attrName>style.visibility</p:attrName>
                                        </p:attrNameLst>
                                      </p:cBhvr>
                                      <p:to>
                                        <p:strVal val="visible"/>
                                      </p:to>
                                    </p:set>
                                    <p:animEffect transition="in" filter="fade">
                                      <p:cBhvr>
                                        <p:cTn id="31" dur="1000"/>
                                        <p:tgtEl>
                                          <p:spTgt spid="9">
                                            <p:txEl>
                                              <p:pRg st="5" end="5"/>
                                            </p:txEl>
                                          </p:spTgt>
                                        </p:tgtEl>
                                      </p:cBhvr>
                                    </p:animEffect>
                                    <p:anim calcmode="lin" valueType="num">
                                      <p:cBhvr>
                                        <p:cTn id="32" dur="1000" fill="hold"/>
                                        <p:tgtEl>
                                          <p:spTgt spid="9">
                                            <p:txEl>
                                              <p:pRg st="5" end="5"/>
                                            </p:txEl>
                                          </p:spTgt>
                                        </p:tgtEl>
                                        <p:attrNameLst>
                                          <p:attrName>ppt_x</p:attrName>
                                        </p:attrNameLst>
                                      </p:cBhvr>
                                      <p:tavLst>
                                        <p:tav tm="0">
                                          <p:val>
                                            <p:strVal val="#ppt_x"/>
                                          </p:val>
                                        </p:tav>
                                        <p:tav tm="100000">
                                          <p:val>
                                            <p:strVal val="#ppt_x"/>
                                          </p:val>
                                        </p:tav>
                                      </p:tavLst>
                                    </p:anim>
                                    <p:anim calcmode="lin" valueType="num">
                                      <p:cBhvr>
                                        <p:cTn id="33" dur="1000" fill="hold"/>
                                        <p:tgtEl>
                                          <p:spTgt spid="9">
                                            <p:txEl>
                                              <p:pRg st="5" end="5"/>
                                            </p:txEl>
                                          </p:spTgt>
                                        </p:tgtEl>
                                        <p:attrNameLst>
                                          <p:attrName>ppt_y</p:attrName>
                                        </p:attrNameLst>
                                      </p:cBhvr>
                                      <p:tavLst>
                                        <p:tav tm="0">
                                          <p:val>
                                            <p:strVal val="#ppt_y+.1"/>
                                          </p:val>
                                        </p:tav>
                                        <p:tav tm="100000">
                                          <p:val>
                                            <p:strVal val="#ppt_y"/>
                                          </p:val>
                                        </p:tav>
                                      </p:tavLst>
                                    </p:anim>
                                  </p:childTnLst>
                                </p:cTn>
                              </p:par>
                              <p:par>
                                <p:cTn id="34" presetID="42" presetClass="entr" presetSubtype="0" fill="hold" nodeType="withEffect">
                                  <p:stCondLst>
                                    <p:cond delay="0"/>
                                  </p:stCondLst>
                                  <p:childTnLst>
                                    <p:set>
                                      <p:cBhvr>
                                        <p:cTn id="35" dur="1" fill="hold">
                                          <p:stCondLst>
                                            <p:cond delay="0"/>
                                          </p:stCondLst>
                                        </p:cTn>
                                        <p:tgtEl>
                                          <p:spTgt spid="9">
                                            <p:txEl>
                                              <p:pRg st="6" end="6"/>
                                            </p:txEl>
                                          </p:spTgt>
                                        </p:tgtEl>
                                        <p:attrNameLst>
                                          <p:attrName>style.visibility</p:attrName>
                                        </p:attrNameLst>
                                      </p:cBhvr>
                                      <p:to>
                                        <p:strVal val="visible"/>
                                      </p:to>
                                    </p:set>
                                    <p:animEffect transition="in" filter="fade">
                                      <p:cBhvr>
                                        <p:cTn id="36" dur="1000"/>
                                        <p:tgtEl>
                                          <p:spTgt spid="9">
                                            <p:txEl>
                                              <p:pRg st="6" end="6"/>
                                            </p:txEl>
                                          </p:spTgt>
                                        </p:tgtEl>
                                      </p:cBhvr>
                                    </p:animEffect>
                                    <p:anim calcmode="lin" valueType="num">
                                      <p:cBhvr>
                                        <p:cTn id="37" dur="1000" fill="hold"/>
                                        <p:tgtEl>
                                          <p:spTgt spid="9">
                                            <p:txEl>
                                              <p:pRg st="6" end="6"/>
                                            </p:txEl>
                                          </p:spTgt>
                                        </p:tgtEl>
                                        <p:attrNameLst>
                                          <p:attrName>ppt_x</p:attrName>
                                        </p:attrNameLst>
                                      </p:cBhvr>
                                      <p:tavLst>
                                        <p:tav tm="0">
                                          <p:val>
                                            <p:strVal val="#ppt_x"/>
                                          </p:val>
                                        </p:tav>
                                        <p:tav tm="100000">
                                          <p:val>
                                            <p:strVal val="#ppt_x"/>
                                          </p:val>
                                        </p:tav>
                                      </p:tavLst>
                                    </p:anim>
                                    <p:anim calcmode="lin" valueType="num">
                                      <p:cBhvr>
                                        <p:cTn id="38" dur="1000" fill="hold"/>
                                        <p:tgtEl>
                                          <p:spTgt spid="9">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nodeType="clickEffect">
                                  <p:stCondLst>
                                    <p:cond delay="0"/>
                                  </p:stCondLst>
                                  <p:childTnLst>
                                    <p:set>
                                      <p:cBhvr>
                                        <p:cTn id="42" dur="1" fill="hold">
                                          <p:stCondLst>
                                            <p:cond delay="0"/>
                                          </p:stCondLst>
                                        </p:cTn>
                                        <p:tgtEl>
                                          <p:spTgt spid="9">
                                            <p:txEl>
                                              <p:pRg st="7" end="7"/>
                                            </p:txEl>
                                          </p:spTgt>
                                        </p:tgtEl>
                                        <p:attrNameLst>
                                          <p:attrName>style.visibility</p:attrName>
                                        </p:attrNameLst>
                                      </p:cBhvr>
                                      <p:to>
                                        <p:strVal val="visible"/>
                                      </p:to>
                                    </p:set>
                                    <p:animEffect transition="in" filter="fade">
                                      <p:cBhvr>
                                        <p:cTn id="43" dur="1000"/>
                                        <p:tgtEl>
                                          <p:spTgt spid="9">
                                            <p:txEl>
                                              <p:pRg st="7" end="7"/>
                                            </p:txEl>
                                          </p:spTgt>
                                        </p:tgtEl>
                                      </p:cBhvr>
                                    </p:animEffect>
                                    <p:anim calcmode="lin" valueType="num">
                                      <p:cBhvr>
                                        <p:cTn id="44" dur="1000" fill="hold"/>
                                        <p:tgtEl>
                                          <p:spTgt spid="9">
                                            <p:txEl>
                                              <p:pRg st="7" end="7"/>
                                            </p:txEl>
                                          </p:spTgt>
                                        </p:tgtEl>
                                        <p:attrNameLst>
                                          <p:attrName>ppt_x</p:attrName>
                                        </p:attrNameLst>
                                      </p:cBhvr>
                                      <p:tavLst>
                                        <p:tav tm="0">
                                          <p:val>
                                            <p:strVal val="#ppt_x"/>
                                          </p:val>
                                        </p:tav>
                                        <p:tav tm="100000">
                                          <p:val>
                                            <p:strVal val="#ppt_x"/>
                                          </p:val>
                                        </p:tav>
                                      </p:tavLst>
                                    </p:anim>
                                    <p:anim calcmode="lin" valueType="num">
                                      <p:cBhvr>
                                        <p:cTn id="45" dur="1000" fill="hold"/>
                                        <p:tgtEl>
                                          <p:spTgt spid="9">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solidFill>
                  <a:schemeClr val="bg1"/>
                </a:solidFill>
                <a:latin typeface="Trebuchet MS" panose="020B0603020202020204" pitchFamily="34" charset="0"/>
              </a:rPr>
              <a:t>3.2.1 First-Order Logic Equivalences and Substitution Rules</a:t>
            </a:r>
          </a:p>
          <a:p>
            <a:r>
              <a:rPr lang="en-US" altLang="zh-CN" sz="2000"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dirty="0"/>
              <a:t> </a:t>
            </a:r>
            <a:r>
              <a:rPr lang="en-US" altLang="zh-CN" sz="2400" b="1" dirty="0">
                <a:latin typeface="Trebuchet MS" panose="020B0603020202020204" pitchFamily="34" charset="0"/>
              </a:rPr>
              <a:t>Quantifier scope reduction and expansion equivalences</a:t>
            </a:r>
            <a:r>
              <a:rPr lang="en-US" altLang="zh-CN" sz="2400" b="1" dirty="0">
                <a:solidFill>
                  <a:schemeClr val="bg1"/>
                </a:solidFill>
                <a:latin typeface="Trebuchet MS" panose="020B0603020202020204" pitchFamily="34" charset="0"/>
              </a:rPr>
              <a:t>(</a:t>
            </a:r>
            <a:r>
              <a:rPr lang="en-US" altLang="zh-CN" sz="2400" b="1" dirty="0">
                <a:solidFill>
                  <a:schemeClr val="accent2"/>
                </a:solidFill>
                <a:latin typeface="Trebuchet MS" panose="020B0603020202020204" pitchFamily="34" charset="0"/>
              </a:rPr>
              <a:t>e.g.</a:t>
            </a:r>
            <a:r>
              <a:rPr lang="en-US" altLang="zh-CN" sz="2400" b="1" dirty="0">
                <a:solidFill>
                  <a:schemeClr val="bg1"/>
                </a:solidFill>
                <a:latin typeface="Trebuchet MS" panose="020B0603020202020204" pitchFamily="34" charset="0"/>
              </a:rPr>
              <a:t>)</a:t>
            </a:r>
            <a:endParaRPr lang="en-US" altLang="zh-CN" sz="2400" b="1" dirty="0">
              <a:effectLst/>
              <a:latin typeface="Cambria Math" panose="02040503050406030204" pitchFamily="18" charset="0"/>
              <a:ea typeface="Cambria Math" panose="02040503050406030204" pitchFamily="18" charset="0"/>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824681" y="765175"/>
            <a:ext cx="8907148" cy="5788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eaLnBrk="1" hangingPunct="1">
              <a:buClr>
                <a:srgbClr val="FF0066"/>
              </a:buClr>
              <a:buSzPct val="125000"/>
              <a:buNone/>
            </a:pPr>
            <a:endParaRPr lang="zh-CN" altLang="en-US" sz="2800" b="1" dirty="0"/>
          </a:p>
        </p:txBody>
      </p:sp>
      <p:sp>
        <p:nvSpPr>
          <p:cNvPr id="16" name="Rectangle 3">
            <a:extLst>
              <a:ext uri="{FF2B5EF4-FFF2-40B4-BE49-F238E27FC236}">
                <a16:creationId xmlns:a16="http://schemas.microsoft.com/office/drawing/2014/main" id="{FEE6189C-C152-4BFF-85E6-1AF46400F713}"/>
              </a:ext>
            </a:extLst>
          </p:cNvPr>
          <p:cNvSpPr txBox="1">
            <a:spLocks noChangeArrowheads="1"/>
          </p:cNvSpPr>
          <p:nvPr/>
        </p:nvSpPr>
        <p:spPr>
          <a:xfrm>
            <a:off x="1045026" y="903514"/>
            <a:ext cx="9982203" cy="524691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300"/>
              </a:spcBef>
              <a:buFontTx/>
              <a:buNone/>
            </a:pPr>
            <a:r>
              <a:rPr lang="en-US" sz="2400" b="1" dirty="0">
                <a:latin typeface="Trebuchet MS" panose="020B0603020202020204" pitchFamily="34" charset="0"/>
              </a:rPr>
              <a:t>    Example: </a:t>
            </a:r>
            <a:r>
              <a:rPr lang="en-US" sz="2400" dirty="0">
                <a:latin typeface="Trebuchet MS" panose="020B0603020202020204" pitchFamily="34" charset="0"/>
              </a:rPr>
              <a:t>Let the domain of individuals be </a:t>
            </a:r>
            <a:r>
              <a:rPr lang="en-US" sz="2400" b="1" i="1" dirty="0">
                <a:latin typeface="Trebuchet MS" panose="020B0603020202020204" pitchFamily="34" charset="0"/>
              </a:rPr>
              <a:t>D</a:t>
            </a:r>
            <a:r>
              <a:rPr lang="en-US" sz="2400" dirty="0">
                <a:latin typeface="Trebuchet MS" panose="020B0603020202020204" pitchFamily="34" charset="0"/>
              </a:rPr>
              <a:t>={</a:t>
            </a:r>
            <a:r>
              <a:rPr lang="en-US" sz="2400" b="1" i="1" dirty="0">
                <a:latin typeface="Trebuchet MS" panose="020B0603020202020204" pitchFamily="34" charset="0"/>
              </a:rPr>
              <a:t>a</a:t>
            </a:r>
            <a:r>
              <a:rPr lang="en-US" sz="2400" dirty="0">
                <a:latin typeface="Trebuchet MS" panose="020B0603020202020204" pitchFamily="34" charset="0"/>
              </a:rPr>
              <a:t>,</a:t>
            </a:r>
            <a:r>
              <a:rPr lang="en-US" sz="2400" b="1" i="1" dirty="0">
                <a:latin typeface="Trebuchet MS" panose="020B0603020202020204" pitchFamily="34" charset="0"/>
              </a:rPr>
              <a:t>b</a:t>
            </a:r>
            <a:r>
              <a:rPr lang="en-US" sz="2400" dirty="0">
                <a:latin typeface="Trebuchet MS" panose="020B0603020202020204" pitchFamily="34" charset="0"/>
              </a:rPr>
              <a:t>,</a:t>
            </a:r>
            <a:r>
              <a:rPr lang="en-US" sz="2400" b="1" i="1" dirty="0">
                <a:latin typeface="Trebuchet MS" panose="020B0603020202020204" pitchFamily="34" charset="0"/>
              </a:rPr>
              <a:t>c</a:t>
            </a:r>
            <a:r>
              <a:rPr lang="en-US" sz="2400" dirty="0">
                <a:latin typeface="Trebuchet MS" panose="020B0603020202020204" pitchFamily="34" charset="0"/>
              </a:rPr>
              <a:t>}, eliminate the quantifiers in the following formula:</a:t>
            </a:r>
          </a:p>
          <a:p>
            <a:pPr>
              <a:lnSpc>
                <a:spcPct val="120000"/>
              </a:lnSpc>
              <a:spcBef>
                <a:spcPts val="300"/>
              </a:spcBef>
              <a:buFontTx/>
              <a:buNone/>
            </a:pPr>
            <a:r>
              <a:rPr lang="zh-CN" altLang="en-US" sz="2400" b="1" dirty="0">
                <a:solidFill>
                  <a:srgbClr val="0B61FF"/>
                </a:solidFill>
                <a:latin typeface="Trebuchet MS" panose="020B0603020202020204" pitchFamily="34" charset="0"/>
              </a:rPr>
              <a:t>(1) </a:t>
            </a:r>
            <a:r>
              <a:rPr lang="zh-CN" altLang="en-US"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x</a:t>
            </a:r>
            <a:r>
              <a:rPr lang="en-US" altLang="zh-CN" sz="2400" b="1" dirty="0">
                <a:latin typeface="Trebuchet MS" panose="020B0603020202020204" pitchFamily="34" charset="0"/>
              </a:rPr>
              <a:t>(</a:t>
            </a:r>
            <a:r>
              <a:rPr lang="en-US" altLang="zh-CN" sz="2400" b="1" i="1" dirty="0">
                <a:latin typeface="Trebuchet MS" panose="020B0603020202020204" pitchFamily="34" charset="0"/>
              </a:rPr>
              <a:t>F</a:t>
            </a:r>
            <a:r>
              <a:rPr lang="en-US" altLang="zh-CN" sz="2400" b="1" dirty="0">
                <a:latin typeface="Trebuchet MS" panose="020B0603020202020204" pitchFamily="34" charset="0"/>
              </a:rPr>
              <a:t>(</a:t>
            </a:r>
            <a:r>
              <a:rPr lang="en-US" altLang="zh-CN" sz="2400" b="1" i="1" dirty="0">
                <a:latin typeface="Trebuchet MS" panose="020B0603020202020204" pitchFamily="34" charset="0"/>
              </a:rPr>
              <a:t>x</a:t>
            </a:r>
            <a:r>
              <a:rPr lang="en-US" altLang="zh-CN" sz="2400" b="1" dirty="0">
                <a:latin typeface="Trebuchet MS" panose="020B0603020202020204" pitchFamily="34" charset="0"/>
              </a:rPr>
              <a:t>)</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G</a:t>
            </a:r>
            <a:r>
              <a:rPr lang="en-US" altLang="zh-CN" sz="2400" b="1" dirty="0">
                <a:latin typeface="Trebuchet MS" panose="020B0603020202020204" pitchFamily="34" charset="0"/>
              </a:rPr>
              <a:t>(</a:t>
            </a:r>
            <a:r>
              <a:rPr lang="en-US" altLang="zh-CN" sz="2400" b="1" i="1" dirty="0">
                <a:latin typeface="Trebuchet MS" panose="020B0603020202020204" pitchFamily="34" charset="0"/>
              </a:rPr>
              <a:t>x</a:t>
            </a:r>
            <a:r>
              <a:rPr lang="en-US" altLang="zh-CN" sz="2400" b="1" dirty="0">
                <a:latin typeface="Trebuchet MS" panose="020B0603020202020204" pitchFamily="34" charset="0"/>
              </a:rPr>
              <a:t>))</a:t>
            </a:r>
          </a:p>
          <a:p>
            <a:pPr>
              <a:lnSpc>
                <a:spcPct val="120000"/>
              </a:lnSpc>
              <a:spcBef>
                <a:spcPts val="300"/>
              </a:spcBef>
              <a:buNone/>
            </a:pPr>
            <a:r>
              <a:rPr lang="en-US" altLang="zh-CN" sz="2400" b="1" dirty="0">
                <a:latin typeface="Trebuchet MS" panose="020B0603020202020204" pitchFamily="34" charset="0"/>
                <a:sym typeface="Symbol" panose="05050102010706020507" pitchFamily="18" charset="2"/>
              </a:rPr>
              <a:t>      </a:t>
            </a:r>
            <a:r>
              <a:rPr lang="zh-CN" altLang="en-US" sz="2400" b="1" dirty="0">
                <a:latin typeface="Trebuchet MS" panose="020B0603020202020204" pitchFamily="34" charset="0"/>
                <a:sym typeface="Symbol" panose="05050102010706020507" pitchFamily="18" charset="2"/>
              </a:rPr>
              <a:t> </a:t>
            </a:r>
            <a:r>
              <a:rPr lang="en-US" altLang="zh-CN" sz="2400" b="1" dirty="0">
                <a:latin typeface="Trebuchet MS" panose="020B0603020202020204" pitchFamily="34" charset="0"/>
              </a:rPr>
              <a:t>(</a:t>
            </a:r>
            <a:r>
              <a:rPr lang="en-US" altLang="zh-CN" sz="2400" b="1" i="1" dirty="0">
                <a:latin typeface="Trebuchet MS" panose="020B0603020202020204" pitchFamily="34" charset="0"/>
              </a:rPr>
              <a:t>F</a:t>
            </a:r>
            <a:r>
              <a:rPr lang="en-US" altLang="zh-CN" sz="2400" b="1" dirty="0">
                <a:latin typeface="Trebuchet MS" panose="020B0603020202020204" pitchFamily="34" charset="0"/>
              </a:rPr>
              <a:t>(</a:t>
            </a:r>
            <a:r>
              <a:rPr lang="en-US" altLang="zh-CN" sz="2400" b="1" i="1" dirty="0">
                <a:latin typeface="Trebuchet MS" panose="020B0603020202020204" pitchFamily="34" charset="0"/>
              </a:rPr>
              <a:t>a</a:t>
            </a:r>
            <a:r>
              <a:rPr lang="en-US" altLang="zh-CN" sz="2400" b="1" dirty="0">
                <a:latin typeface="Trebuchet MS" panose="020B0603020202020204" pitchFamily="34" charset="0"/>
              </a:rPr>
              <a:t>)</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G</a:t>
            </a:r>
            <a:r>
              <a:rPr lang="en-US" altLang="zh-CN" sz="2400" b="1" dirty="0">
                <a:latin typeface="Trebuchet MS" panose="020B0603020202020204" pitchFamily="34" charset="0"/>
              </a:rPr>
              <a:t>(</a:t>
            </a:r>
            <a:r>
              <a:rPr lang="en-US" altLang="zh-CN" sz="2400" b="1" i="1" dirty="0">
                <a:latin typeface="Trebuchet MS" panose="020B0603020202020204" pitchFamily="34" charset="0"/>
              </a:rPr>
              <a:t>a</a:t>
            </a:r>
            <a:r>
              <a:rPr lang="en-US" altLang="zh-CN" sz="2400" b="1" dirty="0">
                <a:latin typeface="Trebuchet MS" panose="020B0603020202020204" pitchFamily="34" charset="0"/>
              </a:rPr>
              <a:t>))</a:t>
            </a:r>
            <a:r>
              <a:rPr lang="en-US" altLang="zh-CN" sz="2400" b="1" dirty="0">
                <a:latin typeface="Trebuchet MS" panose="020B0603020202020204" pitchFamily="34" charset="0"/>
                <a:sym typeface="Symbol" panose="05050102010706020507" pitchFamily="18" charset="2"/>
              </a:rPr>
              <a:t></a:t>
            </a:r>
            <a:r>
              <a:rPr lang="en-US" altLang="zh-CN" sz="2400" b="1" dirty="0">
                <a:latin typeface="Trebuchet MS" panose="020B0603020202020204" pitchFamily="34" charset="0"/>
              </a:rPr>
              <a:t>(</a:t>
            </a:r>
            <a:r>
              <a:rPr lang="en-US" altLang="zh-CN" sz="2400" b="1" i="1" dirty="0">
                <a:latin typeface="Trebuchet MS" panose="020B0603020202020204" pitchFamily="34" charset="0"/>
              </a:rPr>
              <a:t>F</a:t>
            </a:r>
            <a:r>
              <a:rPr lang="en-US" altLang="zh-CN" sz="2400" b="1" dirty="0">
                <a:latin typeface="Trebuchet MS" panose="020B0603020202020204" pitchFamily="34" charset="0"/>
              </a:rPr>
              <a:t>(</a:t>
            </a:r>
            <a:r>
              <a:rPr lang="en-US" altLang="zh-CN" sz="2400" b="1" i="1" dirty="0">
                <a:latin typeface="Trebuchet MS" panose="020B0603020202020204" pitchFamily="34" charset="0"/>
              </a:rPr>
              <a:t>b</a:t>
            </a:r>
            <a:r>
              <a:rPr lang="en-US" altLang="zh-CN" sz="2400" b="1" dirty="0">
                <a:latin typeface="Trebuchet MS" panose="020B0603020202020204" pitchFamily="34" charset="0"/>
              </a:rPr>
              <a:t>)</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G</a:t>
            </a:r>
            <a:r>
              <a:rPr lang="en-US" altLang="zh-CN" sz="2400" b="1" dirty="0">
                <a:latin typeface="Trebuchet MS" panose="020B0603020202020204" pitchFamily="34" charset="0"/>
              </a:rPr>
              <a:t>(</a:t>
            </a:r>
            <a:r>
              <a:rPr lang="en-US" altLang="zh-CN" sz="2400" b="1" i="1" dirty="0">
                <a:latin typeface="Trebuchet MS" panose="020B0603020202020204" pitchFamily="34" charset="0"/>
              </a:rPr>
              <a:t>b</a:t>
            </a:r>
            <a:r>
              <a:rPr lang="en-US" altLang="zh-CN" sz="2400" b="1" dirty="0">
                <a:latin typeface="Trebuchet MS" panose="020B0603020202020204" pitchFamily="34" charset="0"/>
              </a:rPr>
              <a:t>))</a:t>
            </a:r>
            <a:r>
              <a:rPr lang="en-US" altLang="zh-CN" sz="2400" b="1" dirty="0">
                <a:latin typeface="Trebuchet MS" panose="020B0603020202020204" pitchFamily="34" charset="0"/>
                <a:sym typeface="Symbol" panose="05050102010706020507" pitchFamily="18" charset="2"/>
              </a:rPr>
              <a:t></a:t>
            </a:r>
            <a:r>
              <a:rPr lang="en-US" altLang="zh-CN" sz="2400" b="1" dirty="0">
                <a:latin typeface="Trebuchet MS" panose="020B0603020202020204" pitchFamily="34" charset="0"/>
              </a:rPr>
              <a:t>(</a:t>
            </a:r>
            <a:r>
              <a:rPr lang="en-US" altLang="zh-CN" sz="2400" b="1" i="1" dirty="0">
                <a:latin typeface="Trebuchet MS" panose="020B0603020202020204" pitchFamily="34" charset="0"/>
              </a:rPr>
              <a:t>F</a:t>
            </a:r>
            <a:r>
              <a:rPr lang="en-US" altLang="zh-CN" sz="2400" b="1" dirty="0">
                <a:latin typeface="Trebuchet MS" panose="020B0603020202020204" pitchFamily="34" charset="0"/>
              </a:rPr>
              <a:t>(</a:t>
            </a:r>
            <a:r>
              <a:rPr lang="en-US" altLang="zh-CN" sz="2400" b="1" i="1" dirty="0">
                <a:latin typeface="Trebuchet MS" panose="020B0603020202020204" pitchFamily="34" charset="0"/>
              </a:rPr>
              <a:t>c</a:t>
            </a:r>
            <a:r>
              <a:rPr lang="en-US" altLang="zh-CN" sz="2400" b="1" dirty="0">
                <a:latin typeface="Trebuchet MS" panose="020B0603020202020204" pitchFamily="34" charset="0"/>
              </a:rPr>
              <a:t>)</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G</a:t>
            </a:r>
            <a:r>
              <a:rPr lang="en-US" altLang="zh-CN" sz="2400" b="1" dirty="0">
                <a:latin typeface="Trebuchet MS" panose="020B0603020202020204" pitchFamily="34" charset="0"/>
              </a:rPr>
              <a:t>(</a:t>
            </a:r>
            <a:r>
              <a:rPr lang="en-US" altLang="zh-CN" sz="2400" b="1" i="1" dirty="0">
                <a:latin typeface="Trebuchet MS" panose="020B0603020202020204" pitchFamily="34" charset="0"/>
              </a:rPr>
              <a:t>c</a:t>
            </a:r>
            <a:r>
              <a:rPr lang="en-US" altLang="zh-CN" sz="2400" b="1" dirty="0">
                <a:latin typeface="Trebuchet MS" panose="020B0603020202020204" pitchFamily="34" charset="0"/>
              </a:rPr>
              <a:t>))</a:t>
            </a:r>
            <a:endParaRPr lang="en-US" altLang="zh-CN" sz="2000" b="1" dirty="0">
              <a:solidFill>
                <a:schemeClr val="bg2">
                  <a:lumMod val="75000"/>
                </a:schemeClr>
              </a:solidFill>
              <a:latin typeface="Trebuchet MS" panose="020B0603020202020204" pitchFamily="34" charset="0"/>
            </a:endParaRPr>
          </a:p>
          <a:p>
            <a:pPr>
              <a:lnSpc>
                <a:spcPct val="120000"/>
              </a:lnSpc>
              <a:spcBef>
                <a:spcPts val="300"/>
              </a:spcBef>
              <a:buNone/>
            </a:pPr>
            <a:r>
              <a:rPr lang="zh-CN" altLang="en-US" sz="2400" b="1" dirty="0">
                <a:solidFill>
                  <a:srgbClr val="0B61FF"/>
                </a:solidFill>
                <a:latin typeface="Trebuchet MS" panose="020B0603020202020204" pitchFamily="34" charset="0"/>
              </a:rPr>
              <a:t>(2) </a:t>
            </a:r>
            <a:r>
              <a:rPr lang="zh-CN" altLang="en-US"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x</a:t>
            </a:r>
            <a:r>
              <a:rPr lang="en-US" altLang="zh-CN" sz="2400" b="1" dirty="0">
                <a:latin typeface="Trebuchet MS" panose="020B0603020202020204" pitchFamily="34" charset="0"/>
              </a:rPr>
              <a:t>(</a:t>
            </a:r>
            <a:r>
              <a:rPr lang="en-US" altLang="zh-CN" sz="2400" b="1" i="1" dirty="0">
                <a:latin typeface="Trebuchet MS" panose="020B0603020202020204" pitchFamily="34" charset="0"/>
              </a:rPr>
              <a:t>F</a:t>
            </a:r>
            <a:r>
              <a:rPr lang="en-US" altLang="zh-CN" sz="2400" b="1" dirty="0">
                <a:latin typeface="Trebuchet MS" panose="020B0603020202020204" pitchFamily="34" charset="0"/>
              </a:rPr>
              <a:t>(</a:t>
            </a:r>
            <a:r>
              <a:rPr lang="en-US" altLang="zh-CN" sz="2400" b="1" i="1" dirty="0">
                <a:latin typeface="Trebuchet MS" panose="020B0603020202020204" pitchFamily="34" charset="0"/>
              </a:rPr>
              <a:t>x</a:t>
            </a:r>
            <a:r>
              <a:rPr lang="en-US" altLang="zh-CN" sz="2400" b="1" dirty="0">
                <a:latin typeface="Trebuchet MS" panose="020B0603020202020204" pitchFamily="34" charset="0"/>
              </a:rPr>
              <a:t>)</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sym typeface="Symbol" panose="05050102010706020507" pitchFamily="18" charset="2"/>
              </a:rPr>
              <a:t>y</a:t>
            </a:r>
            <a:r>
              <a:rPr lang="en-US" altLang="zh-CN" sz="2400" b="1" i="1" dirty="0">
                <a:latin typeface="Trebuchet MS" panose="020B0603020202020204" pitchFamily="34" charset="0"/>
              </a:rPr>
              <a:t>G</a:t>
            </a:r>
            <a:r>
              <a:rPr lang="en-US" altLang="zh-CN" sz="2400" b="1" dirty="0">
                <a:latin typeface="Trebuchet MS" panose="020B0603020202020204" pitchFamily="34" charset="0"/>
              </a:rPr>
              <a:t>(</a:t>
            </a:r>
            <a:r>
              <a:rPr lang="en-US" altLang="zh-CN" sz="2400" b="1" i="1" dirty="0">
                <a:latin typeface="Trebuchet MS" panose="020B0603020202020204" pitchFamily="34" charset="0"/>
              </a:rPr>
              <a:t>y</a:t>
            </a:r>
            <a:r>
              <a:rPr lang="en-US" altLang="zh-CN" sz="2400" b="1" dirty="0">
                <a:latin typeface="Trebuchet MS" panose="020B0603020202020204" pitchFamily="34" charset="0"/>
              </a:rPr>
              <a:t>))</a:t>
            </a:r>
          </a:p>
          <a:p>
            <a:pPr>
              <a:lnSpc>
                <a:spcPct val="120000"/>
              </a:lnSpc>
              <a:spcBef>
                <a:spcPts val="300"/>
              </a:spcBef>
              <a:buNone/>
            </a:pPr>
            <a:r>
              <a:rPr lang="en-US" altLang="zh-CN" sz="2400" b="1" dirty="0">
                <a:latin typeface="Trebuchet MS" panose="020B0603020202020204" pitchFamily="34" charset="0"/>
                <a:sym typeface="Symbol" panose="05050102010706020507" pitchFamily="18" charset="2"/>
              </a:rPr>
              <a:t>      </a:t>
            </a:r>
            <a:r>
              <a:rPr lang="zh-CN" altLang="en-US"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xF</a:t>
            </a:r>
            <a:r>
              <a:rPr lang="en-US" altLang="zh-CN" sz="2400" b="1" dirty="0">
                <a:latin typeface="Trebuchet MS" panose="020B0603020202020204" pitchFamily="34" charset="0"/>
              </a:rPr>
              <a:t>(</a:t>
            </a:r>
            <a:r>
              <a:rPr lang="en-US" altLang="zh-CN" sz="2400" b="1" i="1" dirty="0">
                <a:latin typeface="Trebuchet MS" panose="020B0603020202020204" pitchFamily="34" charset="0"/>
              </a:rPr>
              <a:t>x</a:t>
            </a:r>
            <a:r>
              <a:rPr lang="en-US" altLang="zh-CN" sz="2400" b="1" dirty="0">
                <a:latin typeface="Trebuchet MS" panose="020B0603020202020204" pitchFamily="34" charset="0"/>
              </a:rPr>
              <a:t>)</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sym typeface="Symbol" panose="05050102010706020507" pitchFamily="18" charset="2"/>
              </a:rPr>
              <a:t>y</a:t>
            </a:r>
            <a:r>
              <a:rPr lang="en-US" altLang="zh-CN" sz="2400" b="1" i="1" dirty="0">
                <a:latin typeface="Trebuchet MS" panose="020B0603020202020204" pitchFamily="34" charset="0"/>
              </a:rPr>
              <a:t>G</a:t>
            </a:r>
            <a:r>
              <a:rPr lang="en-US" altLang="zh-CN" sz="2400" b="1" dirty="0">
                <a:latin typeface="Trebuchet MS" panose="020B0603020202020204" pitchFamily="34" charset="0"/>
              </a:rPr>
              <a:t>(</a:t>
            </a:r>
            <a:r>
              <a:rPr lang="en-US" altLang="zh-CN" sz="2400" b="1" i="1" dirty="0">
                <a:latin typeface="Trebuchet MS" panose="020B0603020202020204" pitchFamily="34" charset="0"/>
              </a:rPr>
              <a:t>y</a:t>
            </a:r>
            <a:r>
              <a:rPr lang="en-US" altLang="zh-CN" sz="2400" b="1" dirty="0">
                <a:latin typeface="Trebuchet MS" panose="020B0603020202020204" pitchFamily="34" charset="0"/>
              </a:rPr>
              <a:t>)              </a:t>
            </a:r>
            <a:r>
              <a:rPr lang="zh-CN" altLang="en-US" sz="2400" b="1" dirty="0">
                <a:solidFill>
                  <a:schemeClr val="bg2">
                    <a:lumMod val="75000"/>
                  </a:schemeClr>
                </a:solidFill>
                <a:latin typeface="Trebuchet MS" panose="020B0603020202020204" pitchFamily="34" charset="0"/>
              </a:rPr>
              <a:t>（</a:t>
            </a:r>
            <a:r>
              <a:rPr lang="en-US" altLang="zh-CN" sz="2400" b="1" dirty="0">
                <a:solidFill>
                  <a:schemeClr val="bg2">
                    <a:lumMod val="75000"/>
                  </a:schemeClr>
                </a:solidFill>
                <a:latin typeface="Trebuchet MS" panose="020B0603020202020204" pitchFamily="34" charset="0"/>
              </a:rPr>
              <a:t> Quantifier scope reduction </a:t>
            </a:r>
            <a:r>
              <a:rPr lang="zh-CN" altLang="en-US" sz="2400" b="1" dirty="0">
                <a:solidFill>
                  <a:schemeClr val="bg2">
                    <a:lumMod val="75000"/>
                  </a:schemeClr>
                </a:solidFill>
                <a:latin typeface="Trebuchet MS" panose="020B0603020202020204" pitchFamily="34" charset="0"/>
              </a:rPr>
              <a:t>）</a:t>
            </a:r>
            <a:endParaRPr lang="en-US" altLang="zh-CN" sz="2400" b="1" dirty="0">
              <a:solidFill>
                <a:schemeClr val="bg2">
                  <a:lumMod val="75000"/>
                </a:schemeClr>
              </a:solidFill>
              <a:latin typeface="Trebuchet MS" panose="020B0603020202020204" pitchFamily="34" charset="0"/>
            </a:endParaRPr>
          </a:p>
          <a:p>
            <a:pPr>
              <a:lnSpc>
                <a:spcPct val="120000"/>
              </a:lnSpc>
              <a:spcBef>
                <a:spcPts val="300"/>
              </a:spcBef>
              <a:buNone/>
            </a:pPr>
            <a:r>
              <a:rPr lang="en-US" altLang="zh-CN" sz="2400" b="1" dirty="0">
                <a:latin typeface="Trebuchet MS" panose="020B0603020202020204" pitchFamily="34" charset="0"/>
              </a:rPr>
              <a:t>     </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F</a:t>
            </a:r>
            <a:r>
              <a:rPr lang="en-US" altLang="zh-CN" sz="2400" b="1" dirty="0">
                <a:latin typeface="Trebuchet MS" panose="020B0603020202020204" pitchFamily="34" charset="0"/>
              </a:rPr>
              <a:t>(</a:t>
            </a:r>
            <a:r>
              <a:rPr lang="en-US" altLang="zh-CN" sz="2400" b="1" i="1" dirty="0">
                <a:latin typeface="Trebuchet MS" panose="020B0603020202020204" pitchFamily="34" charset="0"/>
              </a:rPr>
              <a:t>a</a:t>
            </a:r>
            <a:r>
              <a:rPr lang="en-US" altLang="zh-CN" sz="2400" b="1" dirty="0">
                <a:latin typeface="Trebuchet MS" panose="020B0603020202020204" pitchFamily="34" charset="0"/>
              </a:rPr>
              <a:t>)</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F</a:t>
            </a:r>
            <a:r>
              <a:rPr lang="en-US" altLang="zh-CN" sz="2400" b="1" dirty="0">
                <a:latin typeface="Trebuchet MS" panose="020B0603020202020204" pitchFamily="34" charset="0"/>
              </a:rPr>
              <a:t>(</a:t>
            </a:r>
            <a:r>
              <a:rPr lang="en-US" altLang="zh-CN" sz="2400" b="1" i="1" dirty="0">
                <a:latin typeface="Trebuchet MS" panose="020B0603020202020204" pitchFamily="34" charset="0"/>
              </a:rPr>
              <a:t>b</a:t>
            </a:r>
            <a:r>
              <a:rPr lang="en-US" altLang="zh-CN" sz="2400" b="1" dirty="0">
                <a:latin typeface="Trebuchet MS" panose="020B0603020202020204" pitchFamily="34" charset="0"/>
              </a:rPr>
              <a:t>)</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F</a:t>
            </a:r>
            <a:r>
              <a:rPr lang="en-US" altLang="zh-CN" sz="2400" b="1" dirty="0">
                <a:latin typeface="Trebuchet MS" panose="020B0603020202020204" pitchFamily="34" charset="0"/>
              </a:rPr>
              <a:t>(</a:t>
            </a:r>
            <a:r>
              <a:rPr lang="en-US" altLang="zh-CN" sz="2400" b="1" i="1" dirty="0">
                <a:latin typeface="Trebuchet MS" panose="020B0603020202020204" pitchFamily="34" charset="0"/>
              </a:rPr>
              <a:t>c</a:t>
            </a:r>
            <a:r>
              <a:rPr lang="en-US" altLang="zh-CN" sz="2400" b="1" dirty="0">
                <a:latin typeface="Trebuchet MS" panose="020B0603020202020204" pitchFamily="34" charset="0"/>
              </a:rPr>
              <a:t>)</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G</a:t>
            </a:r>
            <a:r>
              <a:rPr lang="en-US" altLang="zh-CN" sz="2400" b="1" dirty="0">
                <a:latin typeface="Trebuchet MS" panose="020B0603020202020204" pitchFamily="34" charset="0"/>
              </a:rPr>
              <a:t>(</a:t>
            </a:r>
            <a:r>
              <a:rPr lang="en-US" altLang="zh-CN" sz="2400" b="1" i="1" dirty="0">
                <a:latin typeface="Trebuchet MS" panose="020B0603020202020204" pitchFamily="34" charset="0"/>
              </a:rPr>
              <a:t>a</a:t>
            </a:r>
            <a:r>
              <a:rPr lang="en-US" altLang="zh-CN" sz="2400" b="1" dirty="0">
                <a:latin typeface="Trebuchet MS" panose="020B0603020202020204" pitchFamily="34" charset="0"/>
              </a:rPr>
              <a:t>)</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G</a:t>
            </a:r>
            <a:r>
              <a:rPr lang="en-US" altLang="zh-CN" sz="2400" b="1" dirty="0">
                <a:latin typeface="Trebuchet MS" panose="020B0603020202020204" pitchFamily="34" charset="0"/>
              </a:rPr>
              <a:t>(</a:t>
            </a:r>
            <a:r>
              <a:rPr lang="en-US" altLang="zh-CN" sz="2400" b="1" i="1" dirty="0">
                <a:latin typeface="Trebuchet MS" panose="020B0603020202020204" pitchFamily="34" charset="0"/>
              </a:rPr>
              <a:t>b</a:t>
            </a:r>
            <a:r>
              <a:rPr lang="en-US" altLang="zh-CN" sz="2400" b="1" dirty="0">
                <a:latin typeface="Trebuchet MS" panose="020B0603020202020204" pitchFamily="34" charset="0"/>
              </a:rPr>
              <a:t>)</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G</a:t>
            </a:r>
            <a:r>
              <a:rPr lang="en-US" altLang="zh-CN" sz="2400" b="1" dirty="0">
                <a:latin typeface="Trebuchet MS" panose="020B0603020202020204" pitchFamily="34" charset="0"/>
              </a:rPr>
              <a:t>(</a:t>
            </a:r>
            <a:r>
              <a:rPr lang="en-US" altLang="zh-CN" sz="2400" b="1" i="1" dirty="0">
                <a:latin typeface="Trebuchet MS" panose="020B0603020202020204" pitchFamily="34" charset="0"/>
              </a:rPr>
              <a:t>c</a:t>
            </a:r>
            <a:r>
              <a:rPr lang="en-US" altLang="zh-CN" sz="2400" b="1" dirty="0">
                <a:latin typeface="Trebuchet MS" panose="020B0603020202020204" pitchFamily="34" charset="0"/>
              </a:rPr>
              <a:t>))</a:t>
            </a:r>
          </a:p>
          <a:p>
            <a:pPr>
              <a:lnSpc>
                <a:spcPct val="120000"/>
              </a:lnSpc>
              <a:spcBef>
                <a:spcPts val="300"/>
              </a:spcBef>
              <a:buNone/>
            </a:pPr>
            <a:r>
              <a:rPr lang="zh-CN" altLang="en-US" sz="2400" b="1" dirty="0">
                <a:solidFill>
                  <a:srgbClr val="0B61FF"/>
                </a:solidFill>
                <a:latin typeface="Trebuchet MS" panose="020B0603020202020204" pitchFamily="34" charset="0"/>
              </a:rPr>
              <a:t>(3) </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sym typeface="Symbol" panose="05050102010706020507" pitchFamily="18" charset="2"/>
              </a:rPr>
              <a:t>x</a:t>
            </a:r>
            <a:r>
              <a:rPr lang="zh-CN" altLang="en-US"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yF</a:t>
            </a:r>
            <a:r>
              <a:rPr lang="en-US" altLang="zh-CN" sz="2400" b="1" dirty="0">
                <a:latin typeface="Trebuchet MS" panose="020B0603020202020204" pitchFamily="34" charset="0"/>
              </a:rPr>
              <a:t>(</a:t>
            </a:r>
            <a:r>
              <a:rPr lang="en-US" altLang="zh-CN" sz="2400" b="1" i="1" dirty="0">
                <a:latin typeface="Trebuchet MS" panose="020B0603020202020204" pitchFamily="34" charset="0"/>
              </a:rPr>
              <a:t>x,y</a:t>
            </a:r>
            <a:r>
              <a:rPr lang="en-US" altLang="zh-CN" sz="2400" b="1" dirty="0">
                <a:latin typeface="Trebuchet MS" panose="020B0603020202020204" pitchFamily="34" charset="0"/>
              </a:rPr>
              <a:t>)</a:t>
            </a:r>
            <a:endParaRPr lang="zh-CN" altLang="en-US" sz="2400" b="1" dirty="0">
              <a:latin typeface="Trebuchet MS" panose="020B0603020202020204" pitchFamily="34" charset="0"/>
            </a:endParaRPr>
          </a:p>
          <a:p>
            <a:pPr indent="130175">
              <a:lnSpc>
                <a:spcPct val="120000"/>
              </a:lnSpc>
              <a:spcBef>
                <a:spcPts val="300"/>
              </a:spcBef>
              <a:buNone/>
            </a:pPr>
            <a:r>
              <a:rPr lang="en-US" altLang="zh-CN" sz="2400" b="1" dirty="0">
                <a:latin typeface="Trebuchet MS" panose="020B0603020202020204" pitchFamily="34" charset="0"/>
                <a:sym typeface="Symbol" panose="05050102010706020507" pitchFamily="18" charset="2"/>
              </a:rPr>
              <a:t> </a:t>
            </a:r>
            <a:r>
              <a:rPr lang="en-US" altLang="zh-CN" sz="2400" b="1" i="1" dirty="0">
                <a:latin typeface="Trebuchet MS" panose="020B0603020202020204" pitchFamily="34" charset="0"/>
              </a:rPr>
              <a:t>x</a:t>
            </a:r>
            <a:r>
              <a:rPr lang="en-US" altLang="zh-CN" sz="2400" b="1" dirty="0">
                <a:latin typeface="Trebuchet MS" panose="020B0603020202020204" pitchFamily="34" charset="0"/>
              </a:rPr>
              <a:t>(</a:t>
            </a:r>
            <a:r>
              <a:rPr lang="en-US" altLang="zh-CN" sz="2400" b="1" i="1" dirty="0">
                <a:latin typeface="Trebuchet MS" panose="020B0603020202020204" pitchFamily="34" charset="0"/>
              </a:rPr>
              <a:t>F</a:t>
            </a:r>
            <a:r>
              <a:rPr lang="en-US" altLang="zh-CN" sz="2400" b="1" dirty="0">
                <a:latin typeface="Trebuchet MS" panose="020B0603020202020204" pitchFamily="34" charset="0"/>
              </a:rPr>
              <a:t>(</a:t>
            </a:r>
            <a:r>
              <a:rPr lang="en-US" altLang="zh-CN" sz="2400" b="1" i="1" dirty="0">
                <a:latin typeface="Trebuchet MS" panose="020B0603020202020204" pitchFamily="34" charset="0"/>
              </a:rPr>
              <a:t>x,a</a:t>
            </a:r>
            <a:r>
              <a:rPr lang="en-US" altLang="zh-CN" sz="2400" b="1" dirty="0">
                <a:latin typeface="Trebuchet MS" panose="020B0603020202020204" pitchFamily="34" charset="0"/>
              </a:rPr>
              <a:t>)</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F</a:t>
            </a:r>
            <a:r>
              <a:rPr lang="en-US" altLang="zh-CN" sz="2400" b="1" dirty="0">
                <a:latin typeface="Trebuchet MS" panose="020B0603020202020204" pitchFamily="34" charset="0"/>
              </a:rPr>
              <a:t>(</a:t>
            </a:r>
            <a:r>
              <a:rPr lang="en-US" altLang="zh-CN" sz="2400" b="1" i="1" dirty="0">
                <a:latin typeface="Trebuchet MS" panose="020B0603020202020204" pitchFamily="34" charset="0"/>
              </a:rPr>
              <a:t>x,b</a:t>
            </a:r>
            <a:r>
              <a:rPr lang="en-US" altLang="zh-CN" sz="2400" b="1" dirty="0">
                <a:latin typeface="Trebuchet MS" panose="020B0603020202020204" pitchFamily="34" charset="0"/>
              </a:rPr>
              <a:t>)</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F</a:t>
            </a:r>
            <a:r>
              <a:rPr lang="en-US" altLang="zh-CN" sz="2400" b="1" dirty="0">
                <a:latin typeface="Trebuchet MS" panose="020B0603020202020204" pitchFamily="34" charset="0"/>
              </a:rPr>
              <a:t>(</a:t>
            </a:r>
            <a:r>
              <a:rPr lang="en-US" altLang="zh-CN" sz="2400" b="1" i="1" dirty="0">
                <a:latin typeface="Trebuchet MS" panose="020B0603020202020204" pitchFamily="34" charset="0"/>
              </a:rPr>
              <a:t>x,c</a:t>
            </a:r>
            <a:r>
              <a:rPr lang="en-US" altLang="zh-CN" sz="2400" b="1" dirty="0">
                <a:latin typeface="Trebuchet MS" panose="020B0603020202020204" pitchFamily="34" charset="0"/>
              </a:rPr>
              <a:t>)</a:t>
            </a:r>
            <a:r>
              <a:rPr lang="en-US" altLang="zh-CN" sz="2400" b="1" dirty="0">
                <a:latin typeface="Trebuchet MS" panose="020B0603020202020204" pitchFamily="34" charset="0"/>
                <a:sym typeface="Symbol" panose="05050102010706020507" pitchFamily="18" charset="2"/>
              </a:rPr>
              <a:t>)</a:t>
            </a:r>
            <a:endParaRPr lang="zh-CN" altLang="en-US" sz="2400" b="1" dirty="0">
              <a:latin typeface="Trebuchet MS" panose="020B0603020202020204" pitchFamily="34" charset="0"/>
              <a:sym typeface="Symbol" panose="05050102010706020507" pitchFamily="18" charset="2"/>
            </a:endParaRPr>
          </a:p>
          <a:p>
            <a:pPr marL="804863" indent="-446088">
              <a:lnSpc>
                <a:spcPct val="120000"/>
              </a:lnSpc>
              <a:spcBef>
                <a:spcPts val="300"/>
              </a:spcBef>
              <a:buNone/>
            </a:pPr>
            <a:r>
              <a:rPr lang="en-US" altLang="zh-CN" sz="2400" b="1" dirty="0">
                <a:latin typeface="Trebuchet MS" panose="020B0603020202020204" pitchFamily="34" charset="0"/>
                <a:sym typeface="Symbol" panose="05050102010706020507" pitchFamily="18" charset="2"/>
              </a:rPr>
              <a:t> </a:t>
            </a:r>
            <a:r>
              <a:rPr lang="en-US" altLang="zh-CN" sz="2400" b="1" dirty="0">
                <a:latin typeface="Trebuchet MS" panose="020B0603020202020204" pitchFamily="34" charset="0"/>
              </a:rPr>
              <a:t>(</a:t>
            </a:r>
            <a:r>
              <a:rPr lang="en-US" altLang="zh-CN" sz="2400" b="1" i="1" dirty="0">
                <a:latin typeface="Trebuchet MS" panose="020B0603020202020204" pitchFamily="34" charset="0"/>
              </a:rPr>
              <a:t>F</a:t>
            </a:r>
            <a:r>
              <a:rPr lang="en-US" altLang="zh-CN" sz="2400" b="1" dirty="0">
                <a:latin typeface="Trebuchet MS" panose="020B0603020202020204" pitchFamily="34" charset="0"/>
              </a:rPr>
              <a:t>(</a:t>
            </a:r>
            <a:r>
              <a:rPr lang="en-US" altLang="zh-CN" sz="2400" b="1" i="1" dirty="0">
                <a:latin typeface="Trebuchet MS" panose="020B0603020202020204" pitchFamily="34" charset="0"/>
              </a:rPr>
              <a:t>a,a</a:t>
            </a:r>
            <a:r>
              <a:rPr lang="en-US" altLang="zh-CN" sz="2400" b="1" dirty="0">
                <a:latin typeface="Trebuchet MS" panose="020B0603020202020204" pitchFamily="34" charset="0"/>
              </a:rPr>
              <a:t>)</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F</a:t>
            </a:r>
            <a:r>
              <a:rPr lang="en-US" altLang="zh-CN" sz="2400" b="1" dirty="0">
                <a:latin typeface="Trebuchet MS" panose="020B0603020202020204" pitchFamily="34" charset="0"/>
              </a:rPr>
              <a:t>(</a:t>
            </a:r>
            <a:r>
              <a:rPr lang="en-US" altLang="zh-CN" sz="2400" b="1" i="1" dirty="0">
                <a:latin typeface="Trebuchet MS" panose="020B0603020202020204" pitchFamily="34" charset="0"/>
              </a:rPr>
              <a:t>a,b</a:t>
            </a:r>
            <a:r>
              <a:rPr lang="en-US" altLang="zh-CN" sz="2400" b="1" dirty="0">
                <a:latin typeface="Trebuchet MS" panose="020B0603020202020204" pitchFamily="34" charset="0"/>
              </a:rPr>
              <a:t>)</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F</a:t>
            </a:r>
            <a:r>
              <a:rPr lang="en-US" altLang="zh-CN" sz="2400" b="1" dirty="0">
                <a:latin typeface="Trebuchet MS" panose="020B0603020202020204" pitchFamily="34" charset="0"/>
              </a:rPr>
              <a:t>(</a:t>
            </a:r>
            <a:r>
              <a:rPr lang="en-US" altLang="zh-CN" sz="2400" b="1" i="1" dirty="0">
                <a:latin typeface="Trebuchet MS" panose="020B0603020202020204" pitchFamily="34" charset="0"/>
              </a:rPr>
              <a:t>a,c</a:t>
            </a:r>
            <a:r>
              <a:rPr lang="en-US" altLang="zh-CN" sz="2400" b="1" dirty="0">
                <a:latin typeface="Trebuchet MS" panose="020B0603020202020204" pitchFamily="34" charset="0"/>
              </a:rPr>
              <a:t>)</a:t>
            </a:r>
            <a:r>
              <a:rPr lang="en-US" altLang="zh-CN" sz="2400" b="1" dirty="0">
                <a:latin typeface="Trebuchet MS" panose="020B0603020202020204" pitchFamily="34" charset="0"/>
                <a:sym typeface="Symbol" panose="05050102010706020507" pitchFamily="18" charset="2"/>
              </a:rPr>
              <a:t>)</a:t>
            </a:r>
            <a:r>
              <a:rPr lang="en-US" altLang="zh-CN" sz="2400" b="1" dirty="0">
                <a:latin typeface="Trebuchet MS" panose="020B0603020202020204" pitchFamily="34" charset="0"/>
              </a:rPr>
              <a:t>(</a:t>
            </a:r>
            <a:r>
              <a:rPr lang="en-US" altLang="zh-CN" sz="2400" b="1" i="1" dirty="0">
                <a:latin typeface="Trebuchet MS" panose="020B0603020202020204" pitchFamily="34" charset="0"/>
              </a:rPr>
              <a:t>F</a:t>
            </a:r>
            <a:r>
              <a:rPr lang="en-US" altLang="zh-CN" sz="2400" b="1" dirty="0">
                <a:latin typeface="Trebuchet MS" panose="020B0603020202020204" pitchFamily="34" charset="0"/>
              </a:rPr>
              <a:t>(</a:t>
            </a:r>
            <a:r>
              <a:rPr lang="en-US" altLang="zh-CN" sz="2400" b="1" i="1" dirty="0">
                <a:latin typeface="Trebuchet MS" panose="020B0603020202020204" pitchFamily="34" charset="0"/>
              </a:rPr>
              <a:t>b,a</a:t>
            </a:r>
            <a:r>
              <a:rPr lang="en-US" altLang="zh-CN" sz="2400" b="1" dirty="0">
                <a:latin typeface="Trebuchet MS" panose="020B0603020202020204" pitchFamily="34" charset="0"/>
              </a:rPr>
              <a:t>)</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F</a:t>
            </a:r>
            <a:r>
              <a:rPr lang="en-US" altLang="zh-CN" sz="2400" b="1" dirty="0">
                <a:latin typeface="Trebuchet MS" panose="020B0603020202020204" pitchFamily="34" charset="0"/>
              </a:rPr>
              <a:t>(</a:t>
            </a:r>
            <a:r>
              <a:rPr lang="en-US" altLang="zh-CN" sz="2400" b="1" i="1" dirty="0">
                <a:latin typeface="Trebuchet MS" panose="020B0603020202020204" pitchFamily="34" charset="0"/>
              </a:rPr>
              <a:t>b,b</a:t>
            </a:r>
            <a:r>
              <a:rPr lang="en-US" altLang="zh-CN" sz="2400" b="1" dirty="0">
                <a:latin typeface="Trebuchet MS" panose="020B0603020202020204" pitchFamily="34" charset="0"/>
              </a:rPr>
              <a:t>)</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F</a:t>
            </a:r>
            <a:r>
              <a:rPr lang="en-US" altLang="zh-CN" sz="2400" b="1" dirty="0">
                <a:latin typeface="Trebuchet MS" panose="020B0603020202020204" pitchFamily="34" charset="0"/>
              </a:rPr>
              <a:t>(</a:t>
            </a:r>
            <a:r>
              <a:rPr lang="en-US" altLang="zh-CN" sz="2400" b="1" i="1" dirty="0">
                <a:latin typeface="Trebuchet MS" panose="020B0603020202020204" pitchFamily="34" charset="0"/>
              </a:rPr>
              <a:t>b,c</a:t>
            </a:r>
            <a:r>
              <a:rPr lang="en-US" altLang="zh-CN" sz="2400" b="1" dirty="0">
                <a:latin typeface="Trebuchet MS" panose="020B0603020202020204" pitchFamily="34" charset="0"/>
              </a:rPr>
              <a:t>)</a:t>
            </a:r>
            <a:r>
              <a:rPr lang="en-US" altLang="zh-CN" sz="2400" b="1" dirty="0">
                <a:latin typeface="Trebuchet MS" panose="020B0603020202020204" pitchFamily="34" charset="0"/>
                <a:sym typeface="Symbol" panose="05050102010706020507" pitchFamily="18" charset="2"/>
              </a:rPr>
              <a:t>) </a:t>
            </a:r>
            <a:r>
              <a:rPr lang="en-US" altLang="zh-CN" sz="2400" b="1" dirty="0">
                <a:latin typeface="Trebuchet MS" panose="020B0603020202020204" pitchFamily="34" charset="0"/>
              </a:rPr>
              <a:t>(</a:t>
            </a:r>
            <a:r>
              <a:rPr lang="en-US" altLang="zh-CN" sz="2400" b="1" i="1" dirty="0">
                <a:latin typeface="Trebuchet MS" panose="020B0603020202020204" pitchFamily="34" charset="0"/>
              </a:rPr>
              <a:t>F</a:t>
            </a:r>
            <a:r>
              <a:rPr lang="en-US" altLang="zh-CN" sz="2400" b="1" dirty="0">
                <a:latin typeface="Trebuchet MS" panose="020B0603020202020204" pitchFamily="34" charset="0"/>
              </a:rPr>
              <a:t>(</a:t>
            </a:r>
            <a:r>
              <a:rPr lang="en-US" altLang="zh-CN" sz="2400" b="1" i="1" dirty="0">
                <a:latin typeface="Trebuchet MS" panose="020B0603020202020204" pitchFamily="34" charset="0"/>
              </a:rPr>
              <a:t>c,a</a:t>
            </a:r>
            <a:r>
              <a:rPr lang="en-US" altLang="zh-CN" sz="2400" b="1" dirty="0">
                <a:latin typeface="Trebuchet MS" panose="020B0603020202020204" pitchFamily="34" charset="0"/>
              </a:rPr>
              <a:t>)</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F</a:t>
            </a:r>
            <a:r>
              <a:rPr lang="en-US" altLang="zh-CN" sz="2400" b="1" dirty="0">
                <a:latin typeface="Trebuchet MS" panose="020B0603020202020204" pitchFamily="34" charset="0"/>
              </a:rPr>
              <a:t>(</a:t>
            </a:r>
            <a:r>
              <a:rPr lang="en-US" altLang="zh-CN" sz="2400" b="1" i="1" dirty="0">
                <a:latin typeface="Trebuchet MS" panose="020B0603020202020204" pitchFamily="34" charset="0"/>
              </a:rPr>
              <a:t>c,b</a:t>
            </a:r>
            <a:r>
              <a:rPr lang="en-US" altLang="zh-CN" sz="2400" b="1" dirty="0">
                <a:latin typeface="Trebuchet MS" panose="020B0603020202020204" pitchFamily="34" charset="0"/>
              </a:rPr>
              <a:t>)</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F</a:t>
            </a:r>
            <a:r>
              <a:rPr lang="en-US" altLang="zh-CN" sz="2400" b="1" dirty="0">
                <a:latin typeface="Trebuchet MS" panose="020B0603020202020204" pitchFamily="34" charset="0"/>
              </a:rPr>
              <a:t>(</a:t>
            </a:r>
            <a:r>
              <a:rPr lang="en-US" altLang="zh-CN" sz="2400" b="1" i="1" dirty="0">
                <a:latin typeface="Trebuchet MS" panose="020B0603020202020204" pitchFamily="34" charset="0"/>
              </a:rPr>
              <a:t>c,c</a:t>
            </a:r>
            <a:r>
              <a:rPr lang="en-US" altLang="zh-CN" sz="2400" b="1" dirty="0">
                <a:latin typeface="Trebuchet MS" panose="020B0603020202020204" pitchFamily="34" charset="0"/>
              </a:rPr>
              <a:t>)</a:t>
            </a:r>
            <a:r>
              <a:rPr lang="en-US" altLang="zh-CN" sz="2400" b="1" dirty="0">
                <a:latin typeface="Trebuchet MS" panose="020B0603020202020204" pitchFamily="34" charset="0"/>
                <a:sym typeface="Symbol" panose="05050102010706020507" pitchFamily="18" charset="2"/>
              </a:rPr>
              <a:t>)</a:t>
            </a:r>
          </a:p>
          <a:p>
            <a:pPr>
              <a:buNone/>
            </a:pPr>
            <a:endParaRPr lang="zh-CN" altLang="en-US" sz="2400" b="1" dirty="0">
              <a:latin typeface="Trebuchet MS" panose="020B0603020202020204" pitchFamily="34" charset="0"/>
            </a:endParaRPr>
          </a:p>
          <a:p>
            <a:pPr>
              <a:buNone/>
            </a:pPr>
            <a:endParaRPr lang="zh-CN" altLang="en-US" sz="2400" b="1" dirty="0">
              <a:latin typeface="Trebuchet MS" panose="020B0603020202020204" pitchFamily="34" charset="0"/>
            </a:endParaRPr>
          </a:p>
          <a:p>
            <a:pPr>
              <a:buNone/>
            </a:pPr>
            <a:endParaRPr lang="zh-CN" altLang="en-US" sz="2400" b="1" dirty="0">
              <a:latin typeface="Trebuchet MS" panose="020B0603020202020204" pitchFamily="34" charset="0"/>
              <a:sym typeface="Symbol" panose="05050102010706020507" pitchFamily="18" charset="2"/>
            </a:endParaRPr>
          </a:p>
          <a:p>
            <a:pPr>
              <a:buFontTx/>
              <a:buNone/>
            </a:pPr>
            <a:endParaRPr lang="zh-CN" altLang="en-US" sz="2400" b="1" dirty="0">
              <a:latin typeface="Trebuchet MS" panose="020B0603020202020204" pitchFamily="34" charset="0"/>
            </a:endParaRPr>
          </a:p>
        </p:txBody>
      </p:sp>
      <p:pic>
        <p:nvPicPr>
          <p:cNvPr id="15" name="图片 14">
            <a:extLst>
              <a:ext uri="{FF2B5EF4-FFF2-40B4-BE49-F238E27FC236}">
                <a16:creationId xmlns:a16="http://schemas.microsoft.com/office/drawing/2014/main" id="{E3AD41C5-9E85-454F-8E74-E359F346FF93}"/>
              </a:ext>
            </a:extLst>
          </p:cNvPr>
          <p:cNvPicPr/>
          <p:nvPr/>
        </p:nvPicPr>
        <p:blipFill>
          <a:blip r:embed="rId5"/>
          <a:stretch>
            <a:fillRect/>
          </a:stretch>
        </p:blipFill>
        <p:spPr>
          <a:xfrm>
            <a:off x="930276" y="1031648"/>
            <a:ext cx="577850" cy="241300"/>
          </a:xfrm>
          <a:prstGeom prst="rect">
            <a:avLst/>
          </a:prstGeom>
        </p:spPr>
      </p:pic>
    </p:spTree>
    <p:extLst>
      <p:ext uri="{BB962C8B-B14F-4D97-AF65-F5344CB8AC3E}">
        <p14:creationId xmlns:p14="http://schemas.microsoft.com/office/powerpoint/2010/main" val="262337984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solidFill>
                  <a:schemeClr val="bg1"/>
                </a:solidFill>
                <a:latin typeface="Trebuchet MS" panose="020B0603020202020204" pitchFamily="34" charset="0"/>
              </a:rPr>
              <a:t>3.2.1 First-Order Logic Equivalences and Substitution Rules</a:t>
            </a:r>
          </a:p>
          <a:p>
            <a:r>
              <a:rPr lang="en-US" altLang="zh-CN" sz="2000"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dirty="0"/>
              <a:t> </a:t>
            </a:r>
            <a:r>
              <a:rPr lang="en-US" altLang="zh-CN" sz="2400" b="1" dirty="0">
                <a:latin typeface="Trebuchet MS" panose="020B0603020202020204" pitchFamily="34" charset="0"/>
              </a:rPr>
              <a:t>Quantifier scope reduction and expansion equivalences</a:t>
            </a:r>
            <a:r>
              <a:rPr lang="en-US" altLang="zh-CN" sz="2400" b="1" dirty="0">
                <a:solidFill>
                  <a:schemeClr val="bg1"/>
                </a:solidFill>
                <a:latin typeface="Trebuchet MS" panose="020B0603020202020204" pitchFamily="34" charset="0"/>
              </a:rPr>
              <a:t>(</a:t>
            </a:r>
            <a:r>
              <a:rPr lang="en-US" altLang="zh-CN" sz="2400" b="1" dirty="0">
                <a:solidFill>
                  <a:schemeClr val="accent2"/>
                </a:solidFill>
                <a:latin typeface="Trebuchet MS" panose="020B0603020202020204" pitchFamily="34" charset="0"/>
              </a:rPr>
              <a:t>e.g.</a:t>
            </a:r>
            <a:r>
              <a:rPr lang="en-US" altLang="zh-CN" sz="2400" b="1" dirty="0">
                <a:solidFill>
                  <a:schemeClr val="bg1"/>
                </a:solidFill>
                <a:latin typeface="Trebuchet MS" panose="020B0603020202020204" pitchFamily="34" charset="0"/>
              </a:rPr>
              <a:t>)</a:t>
            </a:r>
            <a:endParaRPr lang="en-US" altLang="zh-CN" sz="2400" b="1" dirty="0">
              <a:effectLst/>
              <a:latin typeface="Cambria Math" panose="02040503050406030204" pitchFamily="18" charset="0"/>
              <a:ea typeface="Cambria Math" panose="02040503050406030204" pitchFamily="18" charset="0"/>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mc:AlternateContent xmlns:mc="http://schemas.openxmlformats.org/markup-compatibility/2006">
        <mc:Choice xmlns:a14="http://schemas.microsoft.com/office/drawing/2010/main" Requires="a14">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824681" y="765175"/>
                <a:ext cx="9788890" cy="592713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ct val="120000"/>
                  </a:lnSpc>
                  <a:buFontTx/>
                  <a:buNone/>
                </a:pPr>
                <a:r>
                  <a:rPr lang="en-US" altLang="zh-CN" sz="2600" b="1" dirty="0">
                    <a:latin typeface="Trebuchet MS" panose="020B0603020202020204" pitchFamily="34" charset="0"/>
                  </a:rPr>
                  <a:t>     Example</a:t>
                </a:r>
                <a:r>
                  <a:rPr lang="zh-CN" altLang="en-US" sz="2600" b="1" dirty="0">
                    <a:latin typeface="Trebuchet MS" panose="020B0603020202020204" pitchFamily="34" charset="0"/>
                  </a:rPr>
                  <a:t>： </a:t>
                </a:r>
                <a:r>
                  <a:rPr lang="en-US" altLang="zh-CN" sz="2600" b="1" dirty="0">
                    <a:latin typeface="Trebuchet MS" panose="020B0603020202020204" pitchFamily="34" charset="0"/>
                  </a:rPr>
                  <a:t>Given </a:t>
                </a:r>
                <a:r>
                  <a:rPr lang="en-US" altLang="zh-CN" sz="2600" b="1" i="1" dirty="0">
                    <a:latin typeface="Trebuchet MS" panose="020B0603020202020204" pitchFamily="34" charset="0"/>
                  </a:rPr>
                  <a:t>I</a:t>
                </a:r>
                <a:r>
                  <a:rPr lang="en-US" altLang="zh-CN" sz="2600" b="1" dirty="0">
                    <a:latin typeface="Trebuchet MS" panose="020B0603020202020204" pitchFamily="34" charset="0"/>
                  </a:rPr>
                  <a:t>: </a:t>
                </a:r>
                <a:r>
                  <a:rPr lang="en-US" altLang="zh-CN" sz="2600" b="1" dirty="0">
                    <a:solidFill>
                      <a:srgbClr val="0B61FF"/>
                    </a:solidFill>
                    <a:latin typeface="Trebuchet MS" panose="020B0603020202020204" pitchFamily="34" charset="0"/>
                  </a:rPr>
                  <a:t>(a)</a:t>
                </a:r>
                <a:r>
                  <a:rPr lang="en-US" altLang="zh-CN" sz="2600" b="1" dirty="0">
                    <a:latin typeface="Trebuchet MS" panose="020B0603020202020204" pitchFamily="34" charset="0"/>
                  </a:rPr>
                  <a:t> </a:t>
                </a:r>
                <a:r>
                  <a:rPr lang="en-US" altLang="zh-CN" sz="2600" b="1" i="1" dirty="0">
                    <a:latin typeface="Trebuchet MS" panose="020B0603020202020204" pitchFamily="34" charset="0"/>
                  </a:rPr>
                  <a:t>D</a:t>
                </a:r>
                <a:r>
                  <a:rPr lang="en-US" altLang="zh-CN" sz="2600" b="1" dirty="0">
                    <a:latin typeface="Trebuchet MS" panose="020B0603020202020204" pitchFamily="34" charset="0"/>
                  </a:rPr>
                  <a:t>={2,3}, </a:t>
                </a:r>
                <a:r>
                  <a:rPr lang="en-US" altLang="zh-CN" sz="2600" b="1" dirty="0">
                    <a:solidFill>
                      <a:srgbClr val="0B61FF"/>
                    </a:solidFill>
                    <a:latin typeface="Trebuchet MS" panose="020B0603020202020204" pitchFamily="34" charset="0"/>
                  </a:rPr>
                  <a:t>(b)</a:t>
                </a:r>
                <a14:m>
                  <m:oMath xmlns:m="http://schemas.openxmlformats.org/officeDocument/2006/math">
                    <m:acc>
                      <m:accPr>
                        <m:chr m:val="̅"/>
                        <m:ctrlPr>
                          <a:rPr lang="en-US" altLang="zh-CN" sz="2600" b="1" i="1" smtClean="0">
                            <a:latin typeface="Cambria Math" panose="02040503050406030204" pitchFamily="18" charset="0"/>
                          </a:rPr>
                        </m:ctrlPr>
                      </m:accPr>
                      <m:e>
                        <m:r>
                          <a:rPr lang="en-US" altLang="zh-CN" sz="2600" b="1" i="1" smtClean="0">
                            <a:latin typeface="Cambria Math" panose="02040503050406030204" pitchFamily="18" charset="0"/>
                          </a:rPr>
                          <m:t>𝒇</m:t>
                        </m:r>
                      </m:e>
                    </m:acc>
                    <m:r>
                      <a:rPr lang="en-US" altLang="zh-CN" sz="2600" b="1" i="1" smtClean="0">
                        <a:latin typeface="Cambria Math" panose="02040503050406030204" pitchFamily="18" charset="0"/>
                      </a:rPr>
                      <m:t>:</m:t>
                    </m:r>
                    <m:acc>
                      <m:accPr>
                        <m:chr m:val="̅"/>
                        <m:ctrlPr>
                          <a:rPr lang="en-US" altLang="zh-CN" sz="2600" b="1" i="1" smtClean="0">
                            <a:latin typeface="Cambria Math" panose="02040503050406030204" pitchFamily="18" charset="0"/>
                          </a:rPr>
                        </m:ctrlPr>
                      </m:accPr>
                      <m:e>
                        <m:r>
                          <a:rPr lang="en-US" altLang="zh-CN" sz="2600" b="1" i="1" smtClean="0">
                            <a:latin typeface="Cambria Math" panose="02040503050406030204" pitchFamily="18" charset="0"/>
                          </a:rPr>
                          <m:t>𝒇</m:t>
                        </m:r>
                      </m:e>
                    </m:acc>
                    <m:d>
                      <m:dPr>
                        <m:ctrlPr>
                          <a:rPr lang="en-US" altLang="zh-CN" sz="2600" b="1" i="1" smtClean="0">
                            <a:latin typeface="Cambria Math" panose="02040503050406030204" pitchFamily="18" charset="0"/>
                          </a:rPr>
                        </m:ctrlPr>
                      </m:dPr>
                      <m:e>
                        <m:r>
                          <a:rPr lang="en-US" altLang="zh-CN" sz="2600" b="1" i="1" smtClean="0">
                            <a:latin typeface="Cambria Math" panose="02040503050406030204" pitchFamily="18" charset="0"/>
                          </a:rPr>
                          <m:t>𝟐</m:t>
                        </m:r>
                      </m:e>
                    </m:d>
                    <m:r>
                      <a:rPr lang="en-US" altLang="zh-CN" sz="2600" b="1" i="1" smtClean="0">
                        <a:latin typeface="Cambria Math" panose="02040503050406030204" pitchFamily="18" charset="0"/>
                        <a:ea typeface="Cambria Math" panose="02040503050406030204" pitchFamily="18" charset="0"/>
                      </a:rPr>
                      <m:t>=</m:t>
                    </m:r>
                    <m:r>
                      <a:rPr lang="en-US" altLang="zh-CN" sz="2600" b="1" i="1" smtClean="0">
                        <a:latin typeface="Cambria Math" panose="02040503050406030204" pitchFamily="18" charset="0"/>
                        <a:ea typeface="Cambria Math" panose="02040503050406030204" pitchFamily="18" charset="0"/>
                      </a:rPr>
                      <m:t>𝟑</m:t>
                    </m:r>
                    <m:r>
                      <a:rPr lang="en-US" altLang="zh-CN" sz="2600" b="1" i="1" smtClean="0">
                        <a:latin typeface="Cambria Math" panose="02040503050406030204" pitchFamily="18" charset="0"/>
                        <a:ea typeface="Cambria Math" panose="02040503050406030204" pitchFamily="18" charset="0"/>
                      </a:rPr>
                      <m:t>,</m:t>
                    </m:r>
                    <m:acc>
                      <m:accPr>
                        <m:chr m:val="̅"/>
                        <m:ctrlPr>
                          <a:rPr lang="en-US" altLang="zh-CN" sz="2600" b="1" i="1" smtClean="0">
                            <a:latin typeface="Cambria Math" panose="02040503050406030204" pitchFamily="18" charset="0"/>
                            <a:ea typeface="Cambria Math" panose="02040503050406030204" pitchFamily="18" charset="0"/>
                          </a:rPr>
                        </m:ctrlPr>
                      </m:accPr>
                      <m:e>
                        <m:r>
                          <a:rPr lang="en-US" altLang="zh-CN" sz="2600" b="1" i="1" smtClean="0">
                            <a:latin typeface="Cambria Math" panose="02040503050406030204" pitchFamily="18" charset="0"/>
                            <a:ea typeface="Cambria Math" panose="02040503050406030204" pitchFamily="18" charset="0"/>
                          </a:rPr>
                          <m:t>𝒇</m:t>
                        </m:r>
                      </m:e>
                    </m:acc>
                    <m:d>
                      <m:dPr>
                        <m:ctrlPr>
                          <a:rPr lang="en-US" altLang="zh-CN" sz="2600" b="1" i="1" smtClean="0">
                            <a:latin typeface="Cambria Math" panose="02040503050406030204" pitchFamily="18" charset="0"/>
                          </a:rPr>
                        </m:ctrlPr>
                      </m:dPr>
                      <m:e>
                        <m:r>
                          <a:rPr lang="en-US" altLang="zh-CN" sz="2600" b="1" i="1" smtClean="0">
                            <a:latin typeface="Cambria Math" panose="02040503050406030204" pitchFamily="18" charset="0"/>
                          </a:rPr>
                          <m:t>𝟑</m:t>
                        </m:r>
                      </m:e>
                    </m:d>
                    <m:r>
                      <a:rPr lang="en-US" altLang="zh-CN" sz="2600" b="1" i="1" smtClean="0">
                        <a:latin typeface="Cambria Math" panose="02040503050406030204" pitchFamily="18" charset="0"/>
                        <a:ea typeface="Cambria Math" panose="02040503050406030204" pitchFamily="18" charset="0"/>
                      </a:rPr>
                      <m:t>=</m:t>
                    </m:r>
                    <m:r>
                      <a:rPr lang="en-US" altLang="zh-CN" sz="2600" b="1" i="1" smtClean="0">
                        <a:latin typeface="Cambria Math" panose="02040503050406030204" pitchFamily="18" charset="0"/>
                        <a:ea typeface="Cambria Math" panose="02040503050406030204" pitchFamily="18" charset="0"/>
                      </a:rPr>
                      <m:t>𝟐</m:t>
                    </m:r>
                    <m:r>
                      <a:rPr lang="en-US" altLang="zh-CN" sz="2600" b="1" i="1" smtClean="0">
                        <a:latin typeface="Cambria Math" panose="02040503050406030204" pitchFamily="18" charset="0"/>
                        <a:ea typeface="Cambria Math" panose="02040503050406030204" pitchFamily="18" charset="0"/>
                      </a:rPr>
                      <m:t>,</m:t>
                    </m:r>
                  </m:oMath>
                </a14:m>
                <a:r>
                  <a:rPr lang="en-US" altLang="zh-CN" sz="2600" b="1" dirty="0">
                    <a:latin typeface="Trebuchet MS" panose="020B0603020202020204" pitchFamily="34" charset="0"/>
                  </a:rPr>
                  <a:t>   </a:t>
                </a:r>
              </a:p>
              <a:p>
                <a:pPr indent="217488">
                  <a:lnSpc>
                    <a:spcPct val="120000"/>
                  </a:lnSpc>
                  <a:buNone/>
                </a:pPr>
                <a:r>
                  <a:rPr lang="en-US" altLang="zh-CN" sz="2600" b="1" dirty="0">
                    <a:solidFill>
                      <a:srgbClr val="0B61FF"/>
                    </a:solidFill>
                    <a:latin typeface="Trebuchet MS" panose="020B0603020202020204" pitchFamily="34" charset="0"/>
                  </a:rPr>
                  <a:t>(c)</a:t>
                </a:r>
                <a:r>
                  <a:rPr lang="en-US" altLang="zh-CN" sz="2600" b="1" dirty="0"/>
                  <a:t> </a:t>
                </a:r>
                <a14:m>
                  <m:oMath xmlns:m="http://schemas.openxmlformats.org/officeDocument/2006/math">
                    <m:acc>
                      <m:accPr>
                        <m:chr m:val="̅"/>
                        <m:ctrlPr>
                          <a:rPr lang="en-US" altLang="zh-CN" sz="2600" b="1" i="1" smtClean="0">
                            <a:latin typeface="Cambria Math" panose="02040503050406030204" pitchFamily="18" charset="0"/>
                          </a:rPr>
                        </m:ctrlPr>
                      </m:accPr>
                      <m:e>
                        <m:r>
                          <a:rPr lang="en-US" altLang="zh-CN" sz="2600" b="1" i="1" smtClean="0">
                            <a:latin typeface="Cambria Math" panose="02040503050406030204" pitchFamily="18" charset="0"/>
                          </a:rPr>
                          <m:t>𝑭</m:t>
                        </m:r>
                      </m:e>
                    </m:acc>
                    <m:d>
                      <m:dPr>
                        <m:ctrlPr>
                          <a:rPr lang="en-US" altLang="zh-CN" sz="2600" b="1" i="1" smtClean="0">
                            <a:latin typeface="Cambria Math" panose="02040503050406030204" pitchFamily="18" charset="0"/>
                          </a:rPr>
                        </m:ctrlPr>
                      </m:dPr>
                      <m:e>
                        <m:r>
                          <a:rPr lang="en-US" altLang="zh-CN" sz="2600" b="1" i="1" smtClean="0">
                            <a:latin typeface="Cambria Math" panose="02040503050406030204" pitchFamily="18" charset="0"/>
                          </a:rPr>
                          <m:t>𝒙</m:t>
                        </m:r>
                      </m:e>
                    </m:d>
                    <m:r>
                      <a:rPr lang="en-US" altLang="zh-CN" sz="2600" b="1" i="1" smtClean="0">
                        <a:latin typeface="Cambria Math" panose="02040503050406030204" pitchFamily="18" charset="0"/>
                      </a:rPr>
                      <m:t>:</m:t>
                    </m:r>
                  </m:oMath>
                </a14:m>
                <a:r>
                  <a:rPr kumimoji="0" lang="en-US" altLang="zh-CN" sz="2600" b="1" dirty="0">
                    <a:latin typeface="Trebuchet MS" panose="020B0603020202020204" pitchFamily="34" charset="0"/>
                  </a:rPr>
                  <a:t> </a:t>
                </a:r>
                <a:r>
                  <a:rPr kumimoji="0" lang="en-US" altLang="zh-CN" sz="2600" b="1" i="1" dirty="0">
                    <a:latin typeface="Trebuchet MS" panose="020B0603020202020204" pitchFamily="34" charset="0"/>
                  </a:rPr>
                  <a:t>x </a:t>
                </a:r>
                <a:r>
                  <a:rPr kumimoji="0" lang="en-US" altLang="zh-CN" sz="2600" b="1" dirty="0">
                    <a:latin typeface="Trebuchet MS" panose="020B0603020202020204" pitchFamily="34" charset="0"/>
                  </a:rPr>
                  <a:t>is even</a:t>
                </a:r>
                <a:r>
                  <a:rPr kumimoji="0" lang="zh-CN" altLang="en-US" sz="2600" b="1" dirty="0">
                    <a:latin typeface="Trebuchet MS" panose="020B0603020202020204" pitchFamily="34" charset="0"/>
                  </a:rPr>
                  <a:t>, </a:t>
                </a:r>
                <a14:m>
                  <m:oMath xmlns:m="http://schemas.openxmlformats.org/officeDocument/2006/math">
                    <m:acc>
                      <m:accPr>
                        <m:chr m:val="̅"/>
                        <m:ctrlPr>
                          <a:rPr lang="en-US" altLang="zh-CN" sz="2600" b="1" i="1">
                            <a:latin typeface="Cambria Math" panose="02040503050406030204" pitchFamily="18" charset="0"/>
                          </a:rPr>
                        </m:ctrlPr>
                      </m:accPr>
                      <m:e>
                        <m:r>
                          <m:rPr>
                            <m:sty m:val="p"/>
                          </m:rPr>
                          <a:rPr lang="en-US" altLang="zh-CN" sz="2600" b="1" i="1" smtClean="0">
                            <a:latin typeface="Cambria Math" panose="02040503050406030204" pitchFamily="18" charset="0"/>
                          </a:rPr>
                          <m:t>G</m:t>
                        </m:r>
                      </m:e>
                    </m:acc>
                    <m:d>
                      <m:dPr>
                        <m:ctrlPr>
                          <a:rPr lang="en-US" altLang="zh-CN" sz="2600" b="1" i="1">
                            <a:latin typeface="Cambria Math" panose="02040503050406030204" pitchFamily="18" charset="0"/>
                          </a:rPr>
                        </m:ctrlPr>
                      </m:dPr>
                      <m:e>
                        <m:r>
                          <a:rPr lang="en-US" altLang="zh-CN" sz="2600" b="1" i="1">
                            <a:latin typeface="Cambria Math" panose="02040503050406030204" pitchFamily="18" charset="0"/>
                          </a:rPr>
                          <m:t>𝒙</m:t>
                        </m:r>
                        <m:r>
                          <a:rPr lang="en-US" altLang="zh-CN" sz="2600" b="1" i="1" smtClean="0">
                            <a:latin typeface="Cambria Math" panose="02040503050406030204" pitchFamily="18" charset="0"/>
                          </a:rPr>
                          <m:t>,</m:t>
                        </m:r>
                        <m:r>
                          <m:rPr>
                            <m:sty m:val="p"/>
                          </m:rPr>
                          <a:rPr lang="en-US" altLang="zh-CN" sz="2600" b="1" i="1">
                            <a:latin typeface="Cambria Math" panose="02040503050406030204" pitchFamily="18" charset="0"/>
                          </a:rPr>
                          <m:t>y</m:t>
                        </m:r>
                      </m:e>
                    </m:d>
                    <m:r>
                      <a:rPr lang="en-US" altLang="zh-CN" sz="2600" b="1" i="1">
                        <a:latin typeface="Cambria Math" panose="02040503050406030204" pitchFamily="18" charset="0"/>
                      </a:rPr>
                      <m:t>:</m:t>
                    </m:r>
                  </m:oMath>
                </a14:m>
                <a:r>
                  <a:rPr kumimoji="0" lang="zh-CN" altLang="en-US" sz="2600" b="1" dirty="0">
                    <a:latin typeface="Trebuchet MS" panose="020B0603020202020204" pitchFamily="34" charset="0"/>
                  </a:rPr>
                  <a:t> </a:t>
                </a:r>
                <a:r>
                  <a:rPr kumimoji="0" lang="en-US" altLang="zh-CN" sz="2600" b="1" i="1" dirty="0">
                    <a:latin typeface="Trebuchet MS" panose="020B0603020202020204" pitchFamily="34" charset="0"/>
                  </a:rPr>
                  <a:t>x</a:t>
                </a:r>
                <a:r>
                  <a:rPr kumimoji="0" lang="en-US" altLang="zh-CN" sz="2600" b="1" dirty="0">
                    <a:latin typeface="Trebuchet MS" panose="020B0603020202020204" pitchFamily="34" charset="0"/>
                  </a:rPr>
                  <a:t>=2 </a:t>
                </a:r>
                <a:r>
                  <a:rPr lang="en-US" altLang="zh-CN" sz="2600" b="1" dirty="0">
                    <a:latin typeface="Trebuchet MS" panose="020B0603020202020204" pitchFamily="34" charset="0"/>
                    <a:sym typeface="Symbol" panose="05050102010706020507" pitchFamily="18" charset="2"/>
                  </a:rPr>
                  <a:t> </a:t>
                </a:r>
                <a:r>
                  <a:rPr kumimoji="0" lang="en-US" altLang="zh-CN" sz="2600" b="1" i="1" dirty="0">
                    <a:latin typeface="Trebuchet MS" panose="020B0603020202020204" pitchFamily="34" charset="0"/>
                  </a:rPr>
                  <a:t>y</a:t>
                </a:r>
                <a:r>
                  <a:rPr kumimoji="0" lang="en-US" altLang="zh-CN" sz="2600" b="1" dirty="0">
                    <a:latin typeface="Trebuchet MS" panose="020B0603020202020204" pitchFamily="34" charset="0"/>
                  </a:rPr>
                  <a:t>=2, </a:t>
                </a:r>
                <a14:m>
                  <m:oMath xmlns:m="http://schemas.openxmlformats.org/officeDocument/2006/math">
                    <m:acc>
                      <m:accPr>
                        <m:chr m:val="̅"/>
                        <m:ctrlPr>
                          <a:rPr lang="en-US" altLang="zh-CN" sz="2600" b="1" i="1" smtClean="0">
                            <a:latin typeface="Cambria Math" panose="02040503050406030204" pitchFamily="18" charset="0"/>
                          </a:rPr>
                        </m:ctrlPr>
                      </m:accPr>
                      <m:e>
                        <m:r>
                          <a:rPr lang="en-US" altLang="zh-CN" sz="2600" b="1" i="1" smtClean="0">
                            <a:latin typeface="Cambria Math" panose="02040503050406030204" pitchFamily="18" charset="0"/>
                          </a:rPr>
                          <m:t>𝑳</m:t>
                        </m:r>
                      </m:e>
                    </m:acc>
                    <m:d>
                      <m:dPr>
                        <m:ctrlPr>
                          <a:rPr lang="en-US" altLang="zh-CN" sz="2600" b="1" i="1">
                            <a:latin typeface="Cambria Math" panose="02040503050406030204" pitchFamily="18" charset="0"/>
                          </a:rPr>
                        </m:ctrlPr>
                      </m:dPr>
                      <m:e>
                        <m:r>
                          <a:rPr lang="en-US" altLang="zh-CN" sz="2600" b="1" i="1">
                            <a:latin typeface="Cambria Math" panose="02040503050406030204" pitchFamily="18" charset="0"/>
                          </a:rPr>
                          <m:t>𝒙</m:t>
                        </m:r>
                        <m:r>
                          <a:rPr lang="en-US" altLang="zh-CN" sz="2600" b="1" i="1">
                            <a:latin typeface="Cambria Math" panose="02040503050406030204" pitchFamily="18" charset="0"/>
                          </a:rPr>
                          <m:t>,</m:t>
                        </m:r>
                        <m:r>
                          <m:rPr>
                            <m:sty m:val="p"/>
                          </m:rPr>
                          <a:rPr lang="en-US" altLang="zh-CN" sz="2600" b="1" i="1">
                            <a:latin typeface="Cambria Math" panose="02040503050406030204" pitchFamily="18" charset="0"/>
                          </a:rPr>
                          <m:t>y</m:t>
                        </m:r>
                      </m:e>
                    </m:d>
                    <m:r>
                      <a:rPr lang="en-US" altLang="zh-CN" sz="2600" b="1" i="1">
                        <a:latin typeface="Cambria Math" panose="02040503050406030204" pitchFamily="18" charset="0"/>
                      </a:rPr>
                      <m:t>:</m:t>
                    </m:r>
                  </m:oMath>
                </a14:m>
                <a:r>
                  <a:rPr kumimoji="0" lang="en-US" altLang="zh-CN" sz="2600" b="1" dirty="0">
                    <a:latin typeface="Trebuchet MS" panose="020B0603020202020204" pitchFamily="34" charset="0"/>
                  </a:rPr>
                  <a:t> </a:t>
                </a:r>
                <a:r>
                  <a:rPr kumimoji="0" lang="en-US" altLang="zh-CN" sz="2600" b="1" i="1" dirty="0">
                    <a:latin typeface="Trebuchet MS" panose="020B0603020202020204" pitchFamily="34" charset="0"/>
                  </a:rPr>
                  <a:t>x=y.</a:t>
                </a:r>
              </a:p>
              <a:p>
                <a:pPr indent="217488" eaLnBrk="1" hangingPunct="1">
                  <a:lnSpc>
                    <a:spcPct val="120000"/>
                  </a:lnSpc>
                  <a:buFontTx/>
                  <a:buNone/>
                </a:pPr>
                <a:r>
                  <a:rPr kumimoji="0" lang="en-US" altLang="zh-CN" sz="2600" b="1" dirty="0">
                    <a:latin typeface="Trebuchet MS" panose="020B0603020202020204" pitchFamily="34" charset="0"/>
                  </a:rPr>
                  <a:t>Solve the true value under </a:t>
                </a:r>
                <a:r>
                  <a:rPr lang="en-US" altLang="zh-CN" sz="2600" b="1" i="1" dirty="0">
                    <a:latin typeface="Trebuchet MS" panose="020B0603020202020204" pitchFamily="34" charset="0"/>
                  </a:rPr>
                  <a:t>I:</a:t>
                </a:r>
                <a:endParaRPr kumimoji="0" lang="zh-CN" altLang="en-US" sz="2600" b="1" dirty="0">
                  <a:latin typeface="Trebuchet MS" panose="020B0603020202020204" pitchFamily="34" charset="0"/>
                </a:endParaRPr>
              </a:p>
              <a:p>
                <a:pPr marL="804863" indent="-358775" eaLnBrk="1" hangingPunct="1">
                  <a:lnSpc>
                    <a:spcPct val="120000"/>
                  </a:lnSpc>
                  <a:buFontTx/>
                  <a:buNone/>
                </a:pPr>
                <a:r>
                  <a:rPr kumimoji="0" lang="zh-CN" altLang="en-US" sz="2600" b="1" dirty="0">
                    <a:solidFill>
                      <a:srgbClr val="0B61FF"/>
                    </a:solidFill>
                    <a:latin typeface="Trebuchet MS" panose="020B0603020202020204" pitchFamily="34" charset="0"/>
                  </a:rPr>
                  <a:t>(1) </a:t>
                </a:r>
                <a:r>
                  <a:rPr lang="en-US" altLang="zh-CN" sz="2600" b="1" dirty="0">
                    <a:latin typeface="Trebuchet MS" panose="020B0603020202020204" pitchFamily="34" charset="0"/>
                    <a:sym typeface="Symbol" panose="05050102010706020507" pitchFamily="18" charset="2"/>
                  </a:rPr>
                  <a:t></a:t>
                </a:r>
                <a:r>
                  <a:rPr lang="en-US" altLang="zh-CN" sz="2600" b="1" i="1" dirty="0">
                    <a:latin typeface="Trebuchet MS" panose="020B0603020202020204" pitchFamily="34" charset="0"/>
                  </a:rPr>
                  <a:t>x</a:t>
                </a:r>
                <a:r>
                  <a:rPr lang="en-US" altLang="zh-CN" sz="2600" b="1" dirty="0">
                    <a:latin typeface="Trebuchet MS" panose="020B0603020202020204" pitchFamily="34" charset="0"/>
                  </a:rPr>
                  <a:t>(</a:t>
                </a:r>
                <a:r>
                  <a:rPr lang="en-US" altLang="zh-CN" sz="2600" b="1" i="1" dirty="0">
                    <a:latin typeface="Trebuchet MS" panose="020B0603020202020204" pitchFamily="34" charset="0"/>
                  </a:rPr>
                  <a:t>F</a:t>
                </a:r>
                <a:r>
                  <a:rPr lang="en-US" altLang="zh-CN" sz="2600" b="1" dirty="0">
                    <a:latin typeface="Trebuchet MS" panose="020B0603020202020204" pitchFamily="34" charset="0"/>
                  </a:rPr>
                  <a:t>(</a:t>
                </a:r>
                <a:r>
                  <a:rPr lang="en-US" altLang="zh-CN" sz="2600" b="1" i="1" dirty="0">
                    <a:latin typeface="Trebuchet MS" panose="020B0603020202020204" pitchFamily="34" charset="0"/>
                  </a:rPr>
                  <a:t>f</a:t>
                </a:r>
                <a:r>
                  <a:rPr lang="en-US" altLang="zh-CN" sz="2600" b="1" dirty="0">
                    <a:latin typeface="Trebuchet MS" panose="020B0603020202020204" pitchFamily="34" charset="0"/>
                  </a:rPr>
                  <a:t>(</a:t>
                </a:r>
                <a:r>
                  <a:rPr lang="en-US" altLang="zh-CN" sz="2600" b="1" i="1" dirty="0">
                    <a:latin typeface="Trebuchet MS" panose="020B0603020202020204" pitchFamily="34" charset="0"/>
                  </a:rPr>
                  <a:t>x</a:t>
                </a:r>
                <a:r>
                  <a:rPr lang="en-US" altLang="zh-CN" sz="2600" b="1" dirty="0">
                    <a:latin typeface="Trebuchet MS" panose="020B0603020202020204" pitchFamily="34" charset="0"/>
                  </a:rPr>
                  <a:t>))</a:t>
                </a:r>
                <a:r>
                  <a:rPr lang="en-US" altLang="zh-CN" sz="2600" b="1" dirty="0">
                    <a:latin typeface="Trebuchet MS" panose="020B0603020202020204" pitchFamily="34" charset="0"/>
                    <a:sym typeface="Symbol" panose="05050102010706020507" pitchFamily="18" charset="2"/>
                  </a:rPr>
                  <a:t></a:t>
                </a:r>
                <a:r>
                  <a:rPr lang="en-US" altLang="zh-CN" sz="2600" b="1" i="1" dirty="0">
                    <a:latin typeface="Trebuchet MS" panose="020B0603020202020204" pitchFamily="34" charset="0"/>
                  </a:rPr>
                  <a:t>G</a:t>
                </a:r>
                <a:r>
                  <a:rPr lang="en-US" altLang="zh-CN" sz="2600" b="1" dirty="0">
                    <a:latin typeface="Trebuchet MS" panose="020B0603020202020204" pitchFamily="34" charset="0"/>
                  </a:rPr>
                  <a:t>(</a:t>
                </a:r>
                <a:r>
                  <a:rPr lang="en-US" altLang="zh-CN" sz="2600" b="1" i="1" dirty="0">
                    <a:latin typeface="Trebuchet MS" panose="020B0603020202020204" pitchFamily="34" charset="0"/>
                  </a:rPr>
                  <a:t>x, f</a:t>
                </a:r>
                <a:r>
                  <a:rPr lang="en-US" altLang="zh-CN" sz="2600" b="1" dirty="0">
                    <a:latin typeface="Trebuchet MS" panose="020B0603020202020204" pitchFamily="34" charset="0"/>
                  </a:rPr>
                  <a:t>(</a:t>
                </a:r>
                <a:r>
                  <a:rPr lang="en-US" altLang="zh-CN" sz="2600" b="1" i="1" dirty="0">
                    <a:latin typeface="Trebuchet MS" panose="020B0603020202020204" pitchFamily="34" charset="0"/>
                  </a:rPr>
                  <a:t>x</a:t>
                </a:r>
                <a:r>
                  <a:rPr lang="en-US" altLang="zh-CN" sz="2600" b="1" dirty="0">
                    <a:latin typeface="Trebuchet MS" panose="020B0603020202020204" pitchFamily="34" charset="0"/>
                  </a:rPr>
                  <a:t>)))</a:t>
                </a:r>
                <a:r>
                  <a:rPr kumimoji="0" lang="zh-CN" altLang="en-US" sz="2600" b="1" dirty="0">
                    <a:latin typeface="Trebuchet MS" panose="020B0603020202020204" pitchFamily="34" charset="0"/>
                  </a:rPr>
                  <a:t> </a:t>
                </a:r>
                <a:endParaRPr kumimoji="0" lang="en-US" altLang="zh-CN" sz="2600" b="1" dirty="0">
                  <a:latin typeface="Trebuchet MS" panose="020B0603020202020204" pitchFamily="34" charset="0"/>
                </a:endParaRPr>
              </a:p>
              <a:p>
                <a:pPr marL="804863" indent="87313" eaLnBrk="1" hangingPunct="1">
                  <a:lnSpc>
                    <a:spcPct val="120000"/>
                  </a:lnSpc>
                  <a:buFontTx/>
                  <a:buNone/>
                </a:pPr>
                <a:r>
                  <a:rPr lang="en-US" altLang="zh-CN" sz="2600" b="1" dirty="0">
                    <a:sym typeface="Symbol" panose="05050102010706020507" pitchFamily="18" charset="2"/>
                  </a:rPr>
                  <a:t>Solve: </a:t>
                </a:r>
                <a:r>
                  <a:rPr lang="zh-CN" altLang="en-US" sz="2600" b="1" dirty="0"/>
                  <a:t>(</a:t>
                </a:r>
                <a:r>
                  <a:rPr lang="en-US" altLang="zh-CN" sz="2600" b="1" i="1" dirty="0"/>
                  <a:t>F</a:t>
                </a:r>
                <a:r>
                  <a:rPr lang="en-US" altLang="zh-CN" sz="2600" b="1" dirty="0"/>
                  <a:t>(</a:t>
                </a:r>
                <a:r>
                  <a:rPr lang="en-US" altLang="zh-CN" sz="2600" b="1" i="1" dirty="0"/>
                  <a:t>f</a:t>
                </a:r>
                <a:r>
                  <a:rPr lang="en-US" altLang="zh-CN" sz="2600" b="1" dirty="0"/>
                  <a:t>(2))</a:t>
                </a:r>
                <a:r>
                  <a:rPr lang="en-US" altLang="zh-CN" sz="2600" b="1" dirty="0">
                    <a:sym typeface="Symbol" panose="05050102010706020507" pitchFamily="18" charset="2"/>
                  </a:rPr>
                  <a:t></a:t>
                </a:r>
                <a:r>
                  <a:rPr lang="en-US" altLang="zh-CN" sz="2600" b="1" i="1" dirty="0"/>
                  <a:t>G</a:t>
                </a:r>
                <a:r>
                  <a:rPr lang="en-US" altLang="zh-CN" sz="2600" b="1" dirty="0"/>
                  <a:t>(2</a:t>
                </a:r>
                <a:r>
                  <a:rPr lang="en-US" altLang="zh-CN" sz="2600" b="1" i="1" dirty="0"/>
                  <a:t>, f</a:t>
                </a:r>
                <a:r>
                  <a:rPr lang="en-US" altLang="zh-CN" sz="2600" b="1" dirty="0"/>
                  <a:t>(2)))</a:t>
                </a:r>
                <a:r>
                  <a:rPr lang="en-US" altLang="zh-CN" sz="2600" b="1" dirty="0">
                    <a:sym typeface="Symbol" panose="05050102010706020507" pitchFamily="18" charset="2"/>
                  </a:rPr>
                  <a:t></a:t>
                </a:r>
                <a:r>
                  <a:rPr lang="en-US" altLang="zh-CN" sz="2600" b="1" dirty="0"/>
                  <a:t>(</a:t>
                </a:r>
                <a:r>
                  <a:rPr lang="en-US" altLang="zh-CN" sz="2600" b="1" i="1" dirty="0"/>
                  <a:t>F</a:t>
                </a:r>
                <a:r>
                  <a:rPr lang="en-US" altLang="zh-CN" sz="2600" b="1" dirty="0"/>
                  <a:t>(</a:t>
                </a:r>
                <a:r>
                  <a:rPr lang="en-US" altLang="zh-CN" sz="2600" b="1" i="1" dirty="0"/>
                  <a:t>f</a:t>
                </a:r>
                <a:r>
                  <a:rPr lang="en-US" altLang="zh-CN" sz="2600" b="1" dirty="0"/>
                  <a:t>(3))</a:t>
                </a:r>
                <a:r>
                  <a:rPr lang="en-US" altLang="zh-CN" sz="2600" b="1" dirty="0">
                    <a:sym typeface="Symbol" panose="05050102010706020507" pitchFamily="18" charset="2"/>
                  </a:rPr>
                  <a:t></a:t>
                </a:r>
                <a:r>
                  <a:rPr lang="en-US" altLang="zh-CN" sz="2600" b="1" i="1" dirty="0"/>
                  <a:t>G</a:t>
                </a:r>
                <a:r>
                  <a:rPr lang="en-US" altLang="zh-CN" sz="2600" b="1" dirty="0"/>
                  <a:t>(3</a:t>
                </a:r>
                <a:r>
                  <a:rPr lang="en-US" altLang="zh-CN" sz="2600" b="1" i="1" dirty="0"/>
                  <a:t>, f</a:t>
                </a:r>
                <a:r>
                  <a:rPr lang="en-US" altLang="zh-CN" sz="2600" b="1" dirty="0"/>
                  <a:t>(3)))</a:t>
                </a:r>
                <a:r>
                  <a:rPr kumimoji="0" lang="zh-CN" altLang="en-US" sz="2600" b="1" dirty="0">
                    <a:latin typeface="Trebuchet MS" panose="020B0603020202020204" pitchFamily="34" charset="0"/>
                  </a:rPr>
                  <a:t> </a:t>
                </a:r>
                <a:endParaRPr kumimoji="0" lang="en-US" altLang="zh-CN" sz="2600" b="1" dirty="0">
                  <a:latin typeface="Trebuchet MS" panose="020B0603020202020204" pitchFamily="34" charset="0"/>
                </a:endParaRPr>
              </a:p>
              <a:p>
                <a:pPr marL="804863" indent="185738">
                  <a:lnSpc>
                    <a:spcPct val="120000"/>
                  </a:lnSpc>
                  <a:buNone/>
                </a:pPr>
                <a:r>
                  <a:rPr lang="en-US" altLang="zh-CN" sz="2600" b="1" dirty="0">
                    <a:sym typeface="Symbol" panose="05050102010706020507" pitchFamily="18" charset="2"/>
                  </a:rPr>
                  <a:t>            </a:t>
                </a:r>
                <a:r>
                  <a:rPr lang="en-US" altLang="zh-CN" sz="2600" b="1" dirty="0"/>
                  <a:t>(1</a:t>
                </a:r>
                <a:r>
                  <a:rPr lang="en-US" altLang="zh-CN" sz="2600" b="1" dirty="0">
                    <a:sym typeface="Symbol" panose="05050102010706020507" pitchFamily="18" charset="2"/>
                  </a:rPr>
                  <a:t>1</a:t>
                </a:r>
                <a:r>
                  <a:rPr lang="en-US" altLang="zh-CN" sz="2600" b="1" dirty="0"/>
                  <a:t>)</a:t>
                </a:r>
                <a:r>
                  <a:rPr lang="en-US" altLang="zh-CN" sz="2600" b="1" dirty="0">
                    <a:sym typeface="Symbol" panose="05050102010706020507" pitchFamily="18" charset="2"/>
                  </a:rPr>
                  <a:t></a:t>
                </a:r>
                <a:r>
                  <a:rPr lang="en-US" altLang="zh-CN" sz="2600" b="1" dirty="0"/>
                  <a:t>(0</a:t>
                </a:r>
                <a:r>
                  <a:rPr lang="en-US" altLang="zh-CN" sz="2600" b="1" dirty="0">
                    <a:sym typeface="Symbol" panose="05050102010706020507" pitchFamily="18" charset="2"/>
                  </a:rPr>
                  <a:t>1</a:t>
                </a:r>
                <a:r>
                  <a:rPr lang="en-US" altLang="zh-CN" sz="2600" b="1" dirty="0"/>
                  <a:t>) </a:t>
                </a:r>
                <a:r>
                  <a:rPr lang="en-US" altLang="zh-CN" sz="2600" b="1" dirty="0">
                    <a:sym typeface="Symbol" panose="05050102010706020507" pitchFamily="18" charset="2"/>
                  </a:rPr>
                  <a:t></a:t>
                </a:r>
                <a:r>
                  <a:rPr lang="en-US" altLang="zh-CN" sz="2600" b="1" dirty="0"/>
                  <a:t> 1</a:t>
                </a:r>
              </a:p>
              <a:p>
                <a:pPr indent="217488">
                  <a:lnSpc>
                    <a:spcPct val="120000"/>
                  </a:lnSpc>
                  <a:buNone/>
                </a:pPr>
                <a:r>
                  <a:rPr kumimoji="0" lang="zh-CN" altLang="en-US" sz="2600" b="1" dirty="0">
                    <a:solidFill>
                      <a:srgbClr val="0B61FF"/>
                    </a:solidFill>
                  </a:rPr>
                  <a:t>(2) </a:t>
                </a:r>
                <a:r>
                  <a:rPr lang="en-US" altLang="zh-CN" sz="2600" b="1" dirty="0">
                    <a:sym typeface="Symbol" panose="05050102010706020507" pitchFamily="18" charset="2"/>
                  </a:rPr>
                  <a:t></a:t>
                </a:r>
                <a:r>
                  <a:rPr lang="en-US" altLang="zh-CN" sz="2600" b="1" i="1" dirty="0"/>
                  <a:t>x</a:t>
                </a:r>
                <a:r>
                  <a:rPr lang="zh-CN" altLang="en-US" sz="2600" b="1" dirty="0">
                    <a:sym typeface="Symbol" panose="05050102010706020507" pitchFamily="18" charset="2"/>
                  </a:rPr>
                  <a:t></a:t>
                </a:r>
                <a:r>
                  <a:rPr lang="en-US" altLang="zh-CN" sz="2600" b="1" i="1" dirty="0"/>
                  <a:t>yL</a:t>
                </a:r>
                <a:r>
                  <a:rPr lang="en-US" altLang="zh-CN" sz="2600" b="1" dirty="0"/>
                  <a:t>(</a:t>
                </a:r>
                <a:r>
                  <a:rPr lang="en-US" altLang="zh-CN" sz="2600" b="1" i="1" dirty="0"/>
                  <a:t>x,y</a:t>
                </a:r>
                <a:r>
                  <a:rPr lang="en-US" altLang="zh-CN" sz="2600" b="1" dirty="0"/>
                  <a:t>)</a:t>
                </a:r>
                <a:endParaRPr lang="zh-CN" altLang="en-US" sz="2600" b="1" dirty="0"/>
              </a:p>
              <a:p>
                <a:pPr indent="663575">
                  <a:lnSpc>
                    <a:spcPct val="120000"/>
                  </a:lnSpc>
                  <a:buNone/>
                </a:pPr>
                <a:r>
                  <a:rPr lang="en-US" altLang="zh-CN" sz="2600" b="1" dirty="0">
                    <a:sym typeface="Symbol" panose="05050102010706020507" pitchFamily="18" charset="2"/>
                  </a:rPr>
                  <a:t>Solve: </a:t>
                </a:r>
                <a:r>
                  <a:rPr lang="zh-CN" altLang="en-US" sz="2600" b="1" dirty="0">
                    <a:sym typeface="Symbol" panose="05050102010706020507" pitchFamily="18" charset="2"/>
                  </a:rPr>
                  <a:t></a:t>
                </a:r>
                <a:r>
                  <a:rPr lang="en-US" altLang="zh-CN" sz="2600" b="1" i="1" dirty="0"/>
                  <a:t>yL</a:t>
                </a:r>
                <a:r>
                  <a:rPr lang="en-US" altLang="zh-CN" sz="2600" b="1" dirty="0"/>
                  <a:t>(2</a:t>
                </a:r>
                <a:r>
                  <a:rPr lang="en-US" altLang="zh-CN" sz="2600" b="1" i="1" dirty="0"/>
                  <a:t>,y</a:t>
                </a:r>
                <a:r>
                  <a:rPr lang="en-US" altLang="zh-CN" sz="2600" b="1" dirty="0"/>
                  <a:t>)</a:t>
                </a:r>
                <a:r>
                  <a:rPr lang="en-US" altLang="zh-CN" sz="2600" b="1" dirty="0">
                    <a:sym typeface="Symbol" panose="05050102010706020507" pitchFamily="18" charset="2"/>
                  </a:rPr>
                  <a:t></a:t>
                </a:r>
                <a:r>
                  <a:rPr lang="zh-CN" altLang="en-US" sz="2600" b="1" dirty="0">
                    <a:sym typeface="Symbol" panose="05050102010706020507" pitchFamily="18" charset="2"/>
                  </a:rPr>
                  <a:t></a:t>
                </a:r>
                <a:r>
                  <a:rPr lang="en-US" altLang="zh-CN" sz="2600" b="1" i="1" dirty="0"/>
                  <a:t>yL</a:t>
                </a:r>
                <a:r>
                  <a:rPr lang="en-US" altLang="zh-CN" sz="2600" b="1" dirty="0"/>
                  <a:t>(3</a:t>
                </a:r>
                <a:r>
                  <a:rPr lang="en-US" altLang="zh-CN" sz="2600" b="1" i="1" dirty="0"/>
                  <a:t>,y</a:t>
                </a:r>
                <a:r>
                  <a:rPr lang="en-US" altLang="zh-CN" sz="2600" b="1" dirty="0"/>
                  <a:t>)</a:t>
                </a:r>
                <a:endParaRPr lang="zh-CN" altLang="en-US" sz="2600" b="1" dirty="0"/>
              </a:p>
              <a:p>
                <a:pPr indent="663575">
                  <a:lnSpc>
                    <a:spcPct val="120000"/>
                  </a:lnSpc>
                  <a:buNone/>
                </a:pPr>
                <a:r>
                  <a:rPr lang="en-US" altLang="zh-CN" sz="2600" b="1" dirty="0">
                    <a:sym typeface="Symbol" panose="05050102010706020507" pitchFamily="18" charset="2"/>
                  </a:rPr>
                  <a:t>             (</a:t>
                </a:r>
                <a:r>
                  <a:rPr lang="en-US" altLang="zh-CN" sz="2600" b="1" i="1" dirty="0"/>
                  <a:t>L</a:t>
                </a:r>
                <a:r>
                  <a:rPr lang="en-US" altLang="zh-CN" sz="2600" b="1" dirty="0"/>
                  <a:t>(2,2)</a:t>
                </a:r>
                <a:r>
                  <a:rPr lang="en-US" altLang="zh-CN" sz="2600" b="1" dirty="0">
                    <a:sym typeface="Symbol" panose="05050102010706020507" pitchFamily="18" charset="2"/>
                  </a:rPr>
                  <a:t></a:t>
                </a:r>
                <a:r>
                  <a:rPr lang="en-US" altLang="zh-CN" sz="2600" b="1" i="1" dirty="0"/>
                  <a:t>L</a:t>
                </a:r>
                <a:r>
                  <a:rPr lang="en-US" altLang="zh-CN" sz="2600" b="1" dirty="0"/>
                  <a:t>(2,3))</a:t>
                </a:r>
                <a:r>
                  <a:rPr lang="en-US" altLang="zh-CN" sz="2600" b="1" dirty="0">
                    <a:sym typeface="Symbol" panose="05050102010706020507" pitchFamily="18" charset="2"/>
                  </a:rPr>
                  <a:t>(</a:t>
                </a:r>
                <a:r>
                  <a:rPr lang="en-US" altLang="zh-CN" sz="2600" b="1" i="1" dirty="0"/>
                  <a:t>L</a:t>
                </a:r>
                <a:r>
                  <a:rPr lang="en-US" altLang="zh-CN" sz="2600" b="1" dirty="0"/>
                  <a:t>(3,2)</a:t>
                </a:r>
                <a:r>
                  <a:rPr lang="en-US" altLang="zh-CN" sz="2600" b="1" dirty="0">
                    <a:sym typeface="Symbol" panose="05050102010706020507" pitchFamily="18" charset="2"/>
                  </a:rPr>
                  <a:t></a:t>
                </a:r>
                <a:r>
                  <a:rPr lang="en-US" altLang="zh-CN" sz="2600" b="1" i="1" dirty="0"/>
                  <a:t>L</a:t>
                </a:r>
                <a:r>
                  <a:rPr lang="en-US" altLang="zh-CN" sz="2600" b="1" dirty="0"/>
                  <a:t>(3,3)) </a:t>
                </a:r>
                <a:endParaRPr lang="zh-CN" altLang="en-US" sz="2600" b="1" dirty="0"/>
              </a:p>
              <a:p>
                <a:pPr indent="663575">
                  <a:lnSpc>
                    <a:spcPct val="120000"/>
                  </a:lnSpc>
                  <a:buNone/>
                </a:pPr>
                <a:r>
                  <a:rPr lang="en-US" altLang="zh-CN" sz="2600" b="1" dirty="0">
                    <a:sym typeface="Symbol" panose="05050102010706020507" pitchFamily="18" charset="2"/>
                  </a:rPr>
                  <a:t>             (10</a:t>
                </a:r>
                <a:r>
                  <a:rPr lang="en-US" altLang="zh-CN" sz="2600" b="1" dirty="0"/>
                  <a:t>)</a:t>
                </a:r>
                <a:r>
                  <a:rPr lang="en-US" altLang="zh-CN" sz="2600" b="1" dirty="0">
                    <a:sym typeface="Symbol" panose="05050102010706020507" pitchFamily="18" charset="2"/>
                  </a:rPr>
                  <a:t>(01</a:t>
                </a:r>
                <a:r>
                  <a:rPr lang="en-US" altLang="zh-CN" sz="2600" b="1" dirty="0"/>
                  <a:t>) </a:t>
                </a:r>
                <a:r>
                  <a:rPr lang="en-US" altLang="zh-CN" sz="2600" b="1" dirty="0">
                    <a:sym typeface="Symbol" panose="05050102010706020507" pitchFamily="18" charset="2"/>
                  </a:rPr>
                  <a:t> 0</a:t>
                </a:r>
                <a:endParaRPr kumimoji="0" lang="zh-CN" altLang="en-US" sz="2400" b="1" dirty="0">
                  <a:latin typeface="Trebuchet MS" panose="020B0603020202020204" pitchFamily="34" charset="0"/>
                </a:endParaRPr>
              </a:p>
            </p:txBody>
          </p:sp>
        </mc:Choice>
        <mc:Fallback>
          <p:sp>
            <p:nvSpPr>
              <p:cNvPr id="8" name="Rectangle 3">
                <a:extLst>
                  <a:ext uri="{FF2B5EF4-FFF2-40B4-BE49-F238E27FC236}">
                    <a16:creationId xmlns:a16="http://schemas.microsoft.com/office/drawing/2014/main" id="{97F08C45-3D15-45C1-A5A3-D1EB58DC91FE}"/>
                  </a:ext>
                </a:extLst>
              </p:cNvPr>
              <p:cNvSpPr txBox="1">
                <a:spLocks noRot="1" noChangeAspect="1" noMove="1" noResize="1" noEditPoints="1" noAdjustHandles="1" noChangeArrowheads="1" noChangeShapeType="1" noTextEdit="1"/>
              </p:cNvSpPr>
              <p:nvPr/>
            </p:nvSpPr>
            <p:spPr>
              <a:xfrm>
                <a:off x="824681" y="765175"/>
                <a:ext cx="9788890" cy="5927136"/>
              </a:xfrm>
              <a:prstGeom prst="rect">
                <a:avLst/>
              </a:prstGeom>
              <a:blipFill>
                <a:blip r:embed="rId5"/>
                <a:stretch>
                  <a:fillRect t="-514" b="-3395"/>
                </a:stretch>
              </a:blipFill>
            </p:spPr>
            <p:txBody>
              <a:bodyPr/>
              <a:lstStyle/>
              <a:p>
                <a:r>
                  <a:rPr lang="en-US">
                    <a:noFill/>
                  </a:rPr>
                  <a:t> </a:t>
                </a:r>
              </a:p>
            </p:txBody>
          </p:sp>
        </mc:Fallback>
      </mc:AlternateContent>
      <p:pic>
        <p:nvPicPr>
          <p:cNvPr id="21" name="图片 20">
            <a:extLst>
              <a:ext uri="{FF2B5EF4-FFF2-40B4-BE49-F238E27FC236}">
                <a16:creationId xmlns:a16="http://schemas.microsoft.com/office/drawing/2014/main" id="{781E38FA-EA86-4742-9A02-8652E9DD1A15}"/>
              </a:ext>
            </a:extLst>
          </p:cNvPr>
          <p:cNvPicPr/>
          <p:nvPr/>
        </p:nvPicPr>
        <p:blipFill>
          <a:blip r:embed="rId6"/>
          <a:stretch>
            <a:fillRect/>
          </a:stretch>
        </p:blipFill>
        <p:spPr>
          <a:xfrm>
            <a:off x="824681" y="916514"/>
            <a:ext cx="577850" cy="241300"/>
          </a:xfrm>
          <a:prstGeom prst="rect">
            <a:avLst/>
          </a:prstGeom>
        </p:spPr>
      </p:pic>
    </p:spTree>
    <p:extLst>
      <p:ext uri="{BB962C8B-B14F-4D97-AF65-F5344CB8AC3E}">
        <p14:creationId xmlns:p14="http://schemas.microsoft.com/office/powerpoint/2010/main" val="212553288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solidFill>
                  <a:schemeClr val="bg1"/>
                </a:solidFill>
                <a:latin typeface="Trebuchet MS" panose="020B0603020202020204" pitchFamily="34" charset="0"/>
              </a:rPr>
              <a:t>3.2.1 First-Order Logic Equivalences and Substitution Rules</a:t>
            </a:r>
          </a:p>
          <a:p>
            <a:r>
              <a:rPr lang="en-US" altLang="zh-CN" sz="2000"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dirty="0"/>
              <a:t> </a:t>
            </a:r>
            <a:r>
              <a:rPr lang="en-US" altLang="zh-CN" sz="2400" b="1" dirty="0">
                <a:latin typeface="Trebuchet MS" panose="020B0603020202020204" pitchFamily="34" charset="0"/>
              </a:rPr>
              <a:t>Prove the </a:t>
            </a:r>
            <a:r>
              <a:rPr lang="en-US" altLang="en-US" sz="2400" b="1" dirty="0">
                <a:latin typeface="Trebuchet MS" panose="020B0603020202020204" pitchFamily="34" charset="0"/>
              </a:rPr>
              <a:t>equivalence</a:t>
            </a:r>
            <a:r>
              <a:rPr lang="en-US" altLang="zh-CN" sz="2400" b="1" dirty="0">
                <a:latin typeface="Trebuchet MS" panose="020B0603020202020204" pitchFamily="34" charset="0"/>
              </a:rPr>
              <a:t> using transformation rules </a:t>
            </a:r>
            <a:r>
              <a:rPr lang="en-US" altLang="zh-CN" sz="2400" b="1" dirty="0">
                <a:solidFill>
                  <a:schemeClr val="bg1"/>
                </a:solidFill>
                <a:latin typeface="Trebuchet MS" panose="020B0603020202020204" pitchFamily="34" charset="0"/>
              </a:rPr>
              <a:t>(</a:t>
            </a:r>
            <a:r>
              <a:rPr lang="en-US" altLang="zh-CN" sz="2400" b="1" dirty="0">
                <a:solidFill>
                  <a:schemeClr val="accent2"/>
                </a:solidFill>
                <a:latin typeface="Trebuchet MS" panose="020B0603020202020204" pitchFamily="34" charset="0"/>
              </a:rPr>
              <a:t>e.g.</a:t>
            </a:r>
            <a:r>
              <a:rPr lang="en-US" altLang="zh-CN" sz="2400" b="1" dirty="0">
                <a:solidFill>
                  <a:schemeClr val="bg1"/>
                </a:solidFill>
                <a:latin typeface="Trebuchet MS" panose="020B0603020202020204" pitchFamily="34" charset="0"/>
              </a:rPr>
              <a:t>)</a:t>
            </a:r>
            <a:endParaRPr lang="en-US" altLang="zh-CN" sz="2400" b="1" dirty="0">
              <a:effectLst/>
              <a:latin typeface="Cambria Math" panose="02040503050406030204" pitchFamily="18" charset="0"/>
              <a:ea typeface="Cambria Math" panose="02040503050406030204" pitchFamily="18" charset="0"/>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5"/>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824681" y="939347"/>
            <a:ext cx="9973948" cy="51757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600"/>
              </a:spcBef>
              <a:buNone/>
            </a:pPr>
            <a:r>
              <a:rPr lang="en-US" altLang="zh-CN" sz="2600" b="1" dirty="0">
                <a:latin typeface="Trebuchet MS" panose="020B0603020202020204" pitchFamily="34" charset="0"/>
              </a:rPr>
              <a:t>     Example</a:t>
            </a:r>
            <a:r>
              <a:rPr lang="zh-CN" altLang="en-US" sz="2600" b="1" dirty="0">
                <a:latin typeface="Trebuchet MS" panose="020B0603020202020204" pitchFamily="34" charset="0"/>
              </a:rPr>
              <a:t>： </a:t>
            </a:r>
            <a:r>
              <a:rPr lang="en-US" altLang="en-US" sz="2400" dirty="0">
                <a:latin typeface="Trebuchet MS" panose="020B0603020202020204" pitchFamily="34" charset="0"/>
              </a:rPr>
              <a:t>Prove the following equivalence:</a:t>
            </a:r>
          </a:p>
          <a:p>
            <a:pPr>
              <a:lnSpc>
                <a:spcPct val="120000"/>
              </a:lnSpc>
              <a:spcBef>
                <a:spcPts val="600"/>
              </a:spcBef>
              <a:buNone/>
            </a:pPr>
            <a:r>
              <a:rPr lang="en-US" altLang="zh-CN" sz="2400" b="1" dirty="0">
                <a:latin typeface="Trebuchet MS" panose="020B0603020202020204" pitchFamily="34" charset="0"/>
                <a:sym typeface="Symbol" panose="05050102010706020507" pitchFamily="18" charset="2"/>
              </a:rPr>
              <a:t>        </a:t>
            </a:r>
            <a:r>
              <a:rPr lang="zh-CN" altLang="en-US" sz="2400" b="1" dirty="0">
                <a:latin typeface="Trebuchet MS" panose="020B0603020202020204" pitchFamily="34" charset="0"/>
              </a:rPr>
              <a:t> </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x</a:t>
            </a:r>
            <a:r>
              <a:rPr lang="en-US" altLang="zh-CN" sz="2400" b="1" dirty="0">
                <a:latin typeface="Trebuchet MS" panose="020B0603020202020204" pitchFamily="34" charset="0"/>
              </a:rPr>
              <a:t>(</a:t>
            </a:r>
            <a:r>
              <a:rPr lang="en-US" altLang="zh-CN" sz="2400" b="1" i="1" dirty="0">
                <a:latin typeface="Trebuchet MS" panose="020B0603020202020204" pitchFamily="34" charset="0"/>
              </a:rPr>
              <a:t>M</a:t>
            </a:r>
            <a:r>
              <a:rPr lang="en-US" altLang="zh-CN" sz="2400" b="1" dirty="0">
                <a:latin typeface="Trebuchet MS" panose="020B0603020202020204" pitchFamily="34" charset="0"/>
              </a:rPr>
              <a:t>(</a:t>
            </a:r>
            <a:r>
              <a:rPr lang="en-US" altLang="zh-CN" sz="2400" b="1" i="1" dirty="0">
                <a:latin typeface="Trebuchet MS" panose="020B0603020202020204" pitchFamily="34" charset="0"/>
              </a:rPr>
              <a:t>x</a:t>
            </a:r>
            <a:r>
              <a:rPr lang="en-US" altLang="zh-CN" sz="2400" b="1" dirty="0">
                <a:latin typeface="Trebuchet MS" panose="020B0603020202020204" pitchFamily="34" charset="0"/>
              </a:rPr>
              <a:t>)</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F</a:t>
            </a:r>
            <a:r>
              <a:rPr lang="en-US" altLang="zh-CN" sz="2400" b="1" dirty="0">
                <a:latin typeface="Trebuchet MS" panose="020B0603020202020204" pitchFamily="34" charset="0"/>
              </a:rPr>
              <a:t>(</a:t>
            </a:r>
            <a:r>
              <a:rPr lang="en-US" altLang="zh-CN" sz="2400" b="1" i="1" dirty="0">
                <a:latin typeface="Trebuchet MS" panose="020B0603020202020204" pitchFamily="34" charset="0"/>
              </a:rPr>
              <a:t>x</a:t>
            </a:r>
            <a:r>
              <a:rPr lang="en-US" altLang="zh-CN" sz="2400" b="1" dirty="0">
                <a:latin typeface="Trebuchet MS" panose="020B0603020202020204" pitchFamily="34" charset="0"/>
              </a:rPr>
              <a:t>)) </a:t>
            </a:r>
            <a:r>
              <a:rPr lang="en-US" altLang="zh-CN" sz="2400" b="1" dirty="0">
                <a:latin typeface="Trebuchet MS" panose="020B0603020202020204" pitchFamily="34" charset="0"/>
                <a:sym typeface="Symbol" panose="05050102010706020507" pitchFamily="18" charset="2"/>
              </a:rPr>
              <a:t> </a:t>
            </a:r>
            <a:r>
              <a:rPr lang="zh-CN" altLang="en-US"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x</a:t>
            </a:r>
            <a:r>
              <a:rPr lang="en-US" altLang="zh-CN" sz="2400" b="1" dirty="0">
                <a:latin typeface="Trebuchet MS" panose="020B0603020202020204" pitchFamily="34" charset="0"/>
              </a:rPr>
              <a:t>(</a:t>
            </a:r>
            <a:r>
              <a:rPr lang="en-US" altLang="zh-CN" sz="2400" b="1" i="1" dirty="0">
                <a:latin typeface="Trebuchet MS" panose="020B0603020202020204" pitchFamily="34" charset="0"/>
              </a:rPr>
              <a:t>M</a:t>
            </a:r>
            <a:r>
              <a:rPr lang="en-US" altLang="zh-CN" sz="2400" b="1" dirty="0">
                <a:latin typeface="Trebuchet MS" panose="020B0603020202020204" pitchFamily="34" charset="0"/>
              </a:rPr>
              <a:t>(</a:t>
            </a:r>
            <a:r>
              <a:rPr lang="en-US" altLang="zh-CN" sz="2400" b="1" i="1" dirty="0">
                <a:latin typeface="Trebuchet MS" panose="020B0603020202020204" pitchFamily="34" charset="0"/>
              </a:rPr>
              <a:t>x</a:t>
            </a:r>
            <a:r>
              <a:rPr lang="en-US" altLang="zh-CN" sz="2400" b="1" dirty="0">
                <a:latin typeface="Trebuchet MS" panose="020B0603020202020204" pitchFamily="34" charset="0"/>
              </a:rPr>
              <a:t>)</a:t>
            </a:r>
            <a:r>
              <a:rPr lang="en-US" altLang="zh-CN" sz="2400" b="1" dirty="0">
                <a:latin typeface="Trebuchet MS" panose="020B0603020202020204" pitchFamily="34" charset="0"/>
                <a:sym typeface="Symbol" panose="05050102010706020507" pitchFamily="18" charset="2"/>
              </a:rPr>
              <a:t> </a:t>
            </a:r>
            <a:r>
              <a:rPr lang="en-US" altLang="zh-CN" sz="2400" b="1" i="1" dirty="0">
                <a:latin typeface="Trebuchet MS" panose="020B0603020202020204" pitchFamily="34" charset="0"/>
              </a:rPr>
              <a:t>F</a:t>
            </a:r>
            <a:r>
              <a:rPr lang="en-US" altLang="zh-CN" sz="2400" b="1" dirty="0">
                <a:latin typeface="Trebuchet MS" panose="020B0603020202020204" pitchFamily="34" charset="0"/>
              </a:rPr>
              <a:t>(</a:t>
            </a:r>
            <a:r>
              <a:rPr lang="en-US" altLang="zh-CN" sz="2400" b="1" i="1" dirty="0">
                <a:latin typeface="Trebuchet MS" panose="020B0603020202020204" pitchFamily="34" charset="0"/>
              </a:rPr>
              <a:t>x</a:t>
            </a:r>
            <a:r>
              <a:rPr lang="en-US" altLang="zh-CN" sz="2400" b="1" dirty="0">
                <a:latin typeface="Trebuchet MS" panose="020B0603020202020204" pitchFamily="34" charset="0"/>
              </a:rPr>
              <a:t>))</a:t>
            </a:r>
            <a:endParaRPr lang="zh-CN" altLang="en-US" sz="2400" b="1" dirty="0">
              <a:latin typeface="Trebuchet MS" panose="020B0603020202020204" pitchFamily="34" charset="0"/>
            </a:endParaRPr>
          </a:p>
          <a:p>
            <a:pPr indent="304800">
              <a:lnSpc>
                <a:spcPct val="120000"/>
              </a:lnSpc>
              <a:spcBef>
                <a:spcPts val="600"/>
              </a:spcBef>
              <a:buNone/>
            </a:pPr>
            <a:r>
              <a:rPr kumimoji="0" lang="en-US" altLang="zh-CN" sz="2400" b="1" dirty="0">
                <a:latin typeface="Trebuchet MS" panose="020B0603020202020204" pitchFamily="34" charset="0"/>
              </a:rPr>
              <a:t>Prove:</a:t>
            </a:r>
          </a:p>
          <a:p>
            <a:pPr indent="304800">
              <a:lnSpc>
                <a:spcPct val="120000"/>
              </a:lnSpc>
              <a:spcBef>
                <a:spcPts val="600"/>
              </a:spcBef>
              <a:buNone/>
            </a:pPr>
            <a:r>
              <a:rPr kumimoji="0" lang="zh-CN" altLang="en-US" sz="2400" b="1" dirty="0">
                <a:latin typeface="Trebuchet MS" panose="020B0603020202020204" pitchFamily="34" charset="0"/>
              </a:rPr>
              <a:t>  </a:t>
            </a:r>
            <a:r>
              <a:rPr kumimoji="0" lang="en-US" altLang="zh-CN" sz="2400" b="1" dirty="0">
                <a:latin typeface="Trebuchet MS" panose="020B0603020202020204" pitchFamily="34" charset="0"/>
              </a:rPr>
              <a:t>Left </a:t>
            </a:r>
            <a:r>
              <a:rPr lang="en-US" altLang="zh-CN" sz="2400" b="1" dirty="0">
                <a:latin typeface="Trebuchet MS" panose="020B0603020202020204" pitchFamily="34" charset="0"/>
                <a:sym typeface="Symbol" panose="05050102010706020507" pitchFamily="18" charset="2"/>
              </a:rPr>
              <a:t> </a:t>
            </a:r>
            <a:r>
              <a:rPr lang="zh-CN" altLang="en-US"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x </a:t>
            </a:r>
            <a:r>
              <a:rPr lang="en-US" altLang="zh-CN" sz="2400" b="1" dirty="0">
                <a:latin typeface="Trebuchet MS" panose="020B0603020202020204" pitchFamily="34" charset="0"/>
                <a:sym typeface="Symbol" panose="05050102010706020507" pitchFamily="18" charset="2"/>
              </a:rPr>
              <a:t></a:t>
            </a:r>
            <a:r>
              <a:rPr lang="en-US" altLang="zh-CN" sz="2400" b="1" dirty="0">
                <a:latin typeface="Trebuchet MS" panose="020B0603020202020204" pitchFamily="34" charset="0"/>
              </a:rPr>
              <a:t>(</a:t>
            </a:r>
            <a:r>
              <a:rPr lang="en-US" altLang="zh-CN" sz="2400" b="1" i="1" dirty="0">
                <a:latin typeface="Trebuchet MS" panose="020B0603020202020204" pitchFamily="34" charset="0"/>
              </a:rPr>
              <a:t>M</a:t>
            </a:r>
            <a:r>
              <a:rPr lang="en-US" altLang="zh-CN" sz="2400" b="1" dirty="0">
                <a:latin typeface="Trebuchet MS" panose="020B0603020202020204" pitchFamily="34" charset="0"/>
              </a:rPr>
              <a:t>(</a:t>
            </a:r>
            <a:r>
              <a:rPr lang="en-US" altLang="zh-CN" sz="2400" b="1" i="1" dirty="0">
                <a:latin typeface="Trebuchet MS" panose="020B0603020202020204" pitchFamily="34" charset="0"/>
              </a:rPr>
              <a:t>x</a:t>
            </a:r>
            <a:r>
              <a:rPr lang="en-US" altLang="zh-CN" sz="2400" b="1" dirty="0">
                <a:latin typeface="Trebuchet MS" panose="020B0603020202020204" pitchFamily="34" charset="0"/>
              </a:rPr>
              <a:t>)</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F</a:t>
            </a:r>
            <a:r>
              <a:rPr lang="en-US" altLang="zh-CN" sz="2400" b="1" dirty="0">
                <a:latin typeface="Trebuchet MS" panose="020B0603020202020204" pitchFamily="34" charset="0"/>
              </a:rPr>
              <a:t>(</a:t>
            </a:r>
            <a:r>
              <a:rPr lang="en-US" altLang="zh-CN" sz="2400" b="1" i="1" dirty="0">
                <a:latin typeface="Trebuchet MS" panose="020B0603020202020204" pitchFamily="34" charset="0"/>
              </a:rPr>
              <a:t>x</a:t>
            </a:r>
            <a:r>
              <a:rPr lang="en-US" altLang="zh-CN" sz="2400" b="1" dirty="0">
                <a:latin typeface="Trebuchet MS" panose="020B0603020202020204" pitchFamily="34" charset="0"/>
              </a:rPr>
              <a:t>)) </a:t>
            </a:r>
            <a:r>
              <a:rPr lang="zh-CN" altLang="en-US" sz="2400" b="1" dirty="0">
                <a:solidFill>
                  <a:schemeClr val="bg2">
                    <a:lumMod val="50000"/>
                  </a:schemeClr>
                </a:solidFill>
                <a:latin typeface="Trebuchet MS" panose="020B0603020202020204" pitchFamily="34" charset="0"/>
              </a:rPr>
              <a:t>（</a:t>
            </a:r>
            <a:r>
              <a:rPr lang="en-US" altLang="zh-CN" sz="2400" b="1" dirty="0">
                <a:solidFill>
                  <a:schemeClr val="bg2">
                    <a:lumMod val="50000"/>
                  </a:schemeClr>
                </a:solidFill>
                <a:latin typeface="Trebuchet MS" panose="020B0603020202020204" pitchFamily="34" charset="0"/>
              </a:rPr>
              <a:t>De Morgan's laws for quantifiers</a:t>
            </a:r>
            <a:r>
              <a:rPr lang="zh-CN" altLang="en-US" sz="2400" b="1" dirty="0">
                <a:latin typeface="Trebuchet MS" panose="020B0603020202020204" pitchFamily="34" charset="0"/>
              </a:rPr>
              <a:t>）</a:t>
            </a:r>
          </a:p>
          <a:p>
            <a:pPr indent="1120775">
              <a:lnSpc>
                <a:spcPct val="120000"/>
              </a:lnSpc>
              <a:spcBef>
                <a:spcPts val="600"/>
              </a:spcBef>
              <a:buNone/>
            </a:pPr>
            <a:r>
              <a:rPr lang="en-US" altLang="zh-CN" sz="2400" b="1" dirty="0">
                <a:latin typeface="Trebuchet MS" panose="020B0603020202020204" pitchFamily="34" charset="0"/>
                <a:sym typeface="Symbol" panose="05050102010706020507" pitchFamily="18" charset="2"/>
              </a:rPr>
              <a:t> </a:t>
            </a:r>
            <a:r>
              <a:rPr lang="zh-CN" altLang="en-US"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x</a:t>
            </a:r>
            <a:r>
              <a:rPr lang="en-US" altLang="zh-CN" sz="2400" b="1" dirty="0">
                <a:latin typeface="Trebuchet MS" panose="020B0603020202020204" pitchFamily="34" charset="0"/>
              </a:rPr>
              <a:t>(</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M</a:t>
            </a:r>
            <a:r>
              <a:rPr lang="en-US" altLang="zh-CN" sz="2400" b="1" dirty="0">
                <a:latin typeface="Trebuchet MS" panose="020B0603020202020204" pitchFamily="34" charset="0"/>
              </a:rPr>
              <a:t>(</a:t>
            </a:r>
            <a:r>
              <a:rPr lang="en-US" altLang="zh-CN" sz="2400" b="1" i="1" dirty="0">
                <a:latin typeface="Trebuchet MS" panose="020B0603020202020204" pitchFamily="34" charset="0"/>
              </a:rPr>
              <a:t>x</a:t>
            </a:r>
            <a:r>
              <a:rPr lang="en-US" altLang="zh-CN" sz="2400" b="1" dirty="0">
                <a:latin typeface="Trebuchet MS" panose="020B0603020202020204" pitchFamily="34" charset="0"/>
              </a:rPr>
              <a:t>)</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F</a:t>
            </a:r>
            <a:r>
              <a:rPr lang="en-US" altLang="zh-CN" sz="2400" b="1" dirty="0">
                <a:latin typeface="Trebuchet MS" panose="020B0603020202020204" pitchFamily="34" charset="0"/>
              </a:rPr>
              <a:t>(</a:t>
            </a:r>
            <a:r>
              <a:rPr lang="en-US" altLang="zh-CN" sz="2400" b="1" i="1" dirty="0">
                <a:latin typeface="Trebuchet MS" panose="020B0603020202020204" pitchFamily="34" charset="0"/>
              </a:rPr>
              <a:t>x</a:t>
            </a:r>
            <a:r>
              <a:rPr lang="en-US" altLang="zh-CN" sz="2400" b="1" dirty="0">
                <a:latin typeface="Trebuchet MS" panose="020B0603020202020204" pitchFamily="34" charset="0"/>
              </a:rPr>
              <a:t>))</a:t>
            </a:r>
            <a:endParaRPr lang="zh-CN" altLang="en-US" sz="2400" b="1" dirty="0">
              <a:latin typeface="Trebuchet MS" panose="020B0603020202020204" pitchFamily="34" charset="0"/>
            </a:endParaRPr>
          </a:p>
          <a:p>
            <a:pPr indent="1120775">
              <a:lnSpc>
                <a:spcPct val="120000"/>
              </a:lnSpc>
              <a:spcBef>
                <a:spcPts val="600"/>
              </a:spcBef>
              <a:buNone/>
            </a:pPr>
            <a:r>
              <a:rPr lang="en-US" altLang="zh-CN" sz="2400" b="1" dirty="0">
                <a:latin typeface="Trebuchet MS" panose="020B0603020202020204" pitchFamily="34" charset="0"/>
                <a:sym typeface="Symbol" panose="05050102010706020507" pitchFamily="18" charset="2"/>
              </a:rPr>
              <a:t> </a:t>
            </a:r>
            <a:r>
              <a:rPr lang="zh-CN" altLang="en-US"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x</a:t>
            </a:r>
            <a:r>
              <a:rPr lang="en-US" altLang="zh-CN" sz="2400" b="1" dirty="0">
                <a:latin typeface="Trebuchet MS" panose="020B0603020202020204" pitchFamily="34" charset="0"/>
              </a:rPr>
              <a:t>(</a:t>
            </a:r>
            <a:r>
              <a:rPr lang="en-US" altLang="zh-CN" sz="2400" b="1" i="1" dirty="0">
                <a:latin typeface="Trebuchet MS" panose="020B0603020202020204" pitchFamily="34" charset="0"/>
              </a:rPr>
              <a:t>M</a:t>
            </a:r>
            <a:r>
              <a:rPr lang="en-US" altLang="zh-CN" sz="2400" b="1" dirty="0">
                <a:latin typeface="Trebuchet MS" panose="020B0603020202020204" pitchFamily="34" charset="0"/>
              </a:rPr>
              <a:t>(</a:t>
            </a:r>
            <a:r>
              <a:rPr lang="en-US" altLang="zh-CN" sz="2400" b="1" i="1" dirty="0">
                <a:latin typeface="Trebuchet MS" panose="020B0603020202020204" pitchFamily="34" charset="0"/>
              </a:rPr>
              <a:t>x</a:t>
            </a:r>
            <a:r>
              <a:rPr lang="en-US" altLang="zh-CN" sz="2400" b="1" dirty="0">
                <a:latin typeface="Trebuchet MS" panose="020B0603020202020204" pitchFamily="34" charset="0"/>
              </a:rPr>
              <a:t>)</a:t>
            </a:r>
            <a:r>
              <a:rPr lang="en-US" altLang="zh-CN" sz="2400" b="1" dirty="0">
                <a:latin typeface="Trebuchet MS" panose="020B0603020202020204" pitchFamily="34" charset="0"/>
                <a:sym typeface="Symbol" panose="05050102010706020507" pitchFamily="18" charset="2"/>
              </a:rPr>
              <a:t> </a:t>
            </a:r>
            <a:r>
              <a:rPr lang="en-US" altLang="zh-CN" sz="2400" b="1" i="1" dirty="0">
                <a:latin typeface="Trebuchet MS" panose="020B0603020202020204" pitchFamily="34" charset="0"/>
              </a:rPr>
              <a:t>F</a:t>
            </a:r>
            <a:r>
              <a:rPr lang="en-US" altLang="zh-CN" sz="2400" b="1" dirty="0">
                <a:latin typeface="Trebuchet MS" panose="020B0603020202020204" pitchFamily="34" charset="0"/>
              </a:rPr>
              <a:t>(</a:t>
            </a:r>
            <a:r>
              <a:rPr lang="en-US" altLang="zh-CN" sz="2400" b="1" i="1" dirty="0">
                <a:latin typeface="Trebuchet MS" panose="020B0603020202020204" pitchFamily="34" charset="0"/>
              </a:rPr>
              <a:t>x</a:t>
            </a:r>
            <a:r>
              <a:rPr lang="en-US" altLang="zh-CN" sz="2400" b="1" dirty="0">
                <a:latin typeface="Trebuchet MS" panose="020B0603020202020204" pitchFamily="34" charset="0"/>
              </a:rPr>
              <a:t>))</a:t>
            </a:r>
          </a:p>
          <a:p>
            <a:pPr indent="1120775">
              <a:lnSpc>
                <a:spcPct val="120000"/>
              </a:lnSpc>
              <a:spcBef>
                <a:spcPts val="600"/>
              </a:spcBef>
              <a:buNone/>
            </a:pPr>
            <a:endParaRPr lang="en-US" altLang="zh-CN" sz="2400" b="1" dirty="0">
              <a:latin typeface="Trebuchet MS" panose="020B0603020202020204" pitchFamily="34" charset="0"/>
            </a:endParaRPr>
          </a:p>
          <a:p>
            <a:pPr marL="446088" indent="0">
              <a:lnSpc>
                <a:spcPct val="120000"/>
              </a:lnSpc>
              <a:spcBef>
                <a:spcPts val="600"/>
              </a:spcBef>
              <a:buNone/>
            </a:pPr>
            <a:r>
              <a:rPr lang="en-US" altLang="zh-CN" sz="2400" dirty="0">
                <a:latin typeface="Trebuchet MS" panose="020B0603020202020204" pitchFamily="34" charset="0"/>
              </a:rPr>
              <a:t>The proof applies three key logical transformation rules:</a:t>
            </a:r>
          </a:p>
          <a:p>
            <a:pPr indent="217488">
              <a:lnSpc>
                <a:spcPct val="120000"/>
              </a:lnSpc>
              <a:spcBef>
                <a:spcPts val="600"/>
              </a:spcBef>
              <a:buNone/>
            </a:pPr>
            <a:r>
              <a:rPr lang="en-US" altLang="zh-CN" sz="2400" b="1" dirty="0">
                <a:latin typeface="Trebuchet MS" panose="020B0603020202020204" pitchFamily="34" charset="0"/>
              </a:rPr>
              <a:t>quantifier negation</a:t>
            </a:r>
            <a:r>
              <a:rPr lang="en-US" altLang="zh-CN" sz="2400" dirty="0">
                <a:latin typeface="Trebuchet MS" panose="020B0603020202020204" pitchFamily="34" charset="0"/>
              </a:rPr>
              <a:t>, </a:t>
            </a:r>
            <a:r>
              <a:rPr lang="en-US" altLang="zh-CN" sz="2400" b="1" dirty="0">
                <a:latin typeface="Trebuchet MS" panose="020B0603020202020204" pitchFamily="34" charset="0"/>
              </a:rPr>
              <a:t>De Morgan’s laws</a:t>
            </a:r>
            <a:r>
              <a:rPr lang="en-US" altLang="zh-CN" sz="2400" dirty="0">
                <a:latin typeface="Trebuchet MS" panose="020B0603020202020204" pitchFamily="34" charset="0"/>
              </a:rPr>
              <a:t>, and </a:t>
            </a:r>
            <a:r>
              <a:rPr lang="en-US" altLang="zh-CN" sz="2400" b="1" dirty="0">
                <a:latin typeface="Trebuchet MS" panose="020B0603020202020204" pitchFamily="34" charset="0"/>
              </a:rPr>
              <a:t>implication equivalence</a:t>
            </a:r>
            <a:r>
              <a:rPr lang="en-US" altLang="zh-CN" sz="2400" dirty="0">
                <a:latin typeface="Trebuchet MS" panose="020B0603020202020204" pitchFamily="34" charset="0"/>
              </a:rPr>
              <a:t>.</a:t>
            </a:r>
            <a:endParaRPr lang="zh-CN" altLang="en-US" sz="2400" dirty="0">
              <a:latin typeface="Trebuchet MS" panose="020B0603020202020204" pitchFamily="34" charset="0"/>
            </a:endParaRPr>
          </a:p>
          <a:p>
            <a:pPr eaLnBrk="1" hangingPunct="1">
              <a:lnSpc>
                <a:spcPct val="100000"/>
              </a:lnSpc>
              <a:buFontTx/>
              <a:buNone/>
            </a:pPr>
            <a:endParaRPr kumimoji="0" lang="zh-CN" altLang="en-US" sz="2400" b="1" dirty="0">
              <a:latin typeface="Trebuchet MS" panose="020B0603020202020204" pitchFamily="34" charset="0"/>
            </a:endParaRPr>
          </a:p>
        </p:txBody>
      </p:sp>
      <p:pic>
        <p:nvPicPr>
          <p:cNvPr id="21" name="图片 20">
            <a:extLst>
              <a:ext uri="{FF2B5EF4-FFF2-40B4-BE49-F238E27FC236}">
                <a16:creationId xmlns:a16="http://schemas.microsoft.com/office/drawing/2014/main" id="{781E38FA-EA86-4742-9A02-8652E9DD1A15}"/>
              </a:ext>
            </a:extLst>
          </p:cNvPr>
          <p:cNvPicPr/>
          <p:nvPr/>
        </p:nvPicPr>
        <p:blipFill>
          <a:blip r:embed="rId6"/>
          <a:stretch>
            <a:fillRect/>
          </a:stretch>
        </p:blipFill>
        <p:spPr>
          <a:xfrm>
            <a:off x="824681" y="1101570"/>
            <a:ext cx="577850" cy="241300"/>
          </a:xfrm>
          <a:prstGeom prst="rect">
            <a:avLst/>
          </a:prstGeom>
        </p:spPr>
      </p:pic>
      <p:sp>
        <p:nvSpPr>
          <p:cNvPr id="4" name="Rectangle 2">
            <a:extLst>
              <a:ext uri="{FF2B5EF4-FFF2-40B4-BE49-F238E27FC236}">
                <a16:creationId xmlns:a16="http://schemas.microsoft.com/office/drawing/2014/main" id="{1458A446-F1AA-4839-B254-6ABEA3D0E4D0}"/>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graphicFrame>
        <p:nvGraphicFramePr>
          <p:cNvPr id="5" name="对象 4">
            <a:extLst>
              <a:ext uri="{FF2B5EF4-FFF2-40B4-BE49-F238E27FC236}">
                <a16:creationId xmlns:a16="http://schemas.microsoft.com/office/drawing/2014/main" id="{365A99F4-A7EE-41FF-A311-63F47445D22A}"/>
              </a:ext>
            </a:extLst>
          </p:cNvPr>
          <p:cNvGraphicFramePr>
            <a:graphicFrameLocks noChangeAspect="1"/>
          </p:cNvGraphicFramePr>
          <p:nvPr>
            <p:extLst>
              <p:ext uri="{D42A27DB-BD31-4B8C-83A1-F6EECF244321}">
                <p14:modId xmlns:p14="http://schemas.microsoft.com/office/powerpoint/2010/main" val="1751244014"/>
              </p:ext>
            </p:extLst>
          </p:nvPr>
        </p:nvGraphicFramePr>
        <p:xfrm>
          <a:off x="912403" y="4593772"/>
          <a:ext cx="480968" cy="480968"/>
        </p:xfrm>
        <a:graphic>
          <a:graphicData uri="http://schemas.openxmlformats.org/presentationml/2006/ole">
            <mc:AlternateContent xmlns:mc="http://schemas.openxmlformats.org/markup-compatibility/2006">
              <mc:Choice xmlns:v="urn:schemas-microsoft-com:vml" Requires="v">
                <p:oleObj spid="_x0000_s5125" name="Visio" r:id="rId7" imgW="292148" imgH="292233" progId="Visio.Drawing.15">
                  <p:embed/>
                </p:oleObj>
              </mc:Choice>
              <mc:Fallback>
                <p:oleObj name="Visio" r:id="rId7" imgW="292148" imgH="292233" progId="Visio.Drawing.15">
                  <p:embed/>
                  <p:pic>
                    <p:nvPicPr>
                      <p:cNvPr id="0" name="Object 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12403" y="4593772"/>
                        <a:ext cx="480968" cy="480968"/>
                      </a:xfrm>
                      <a:prstGeom prst="rect">
                        <a:avLst/>
                      </a:prstGeom>
                      <a:noFill/>
                    </p:spPr>
                  </p:pic>
                </p:oleObj>
              </mc:Fallback>
            </mc:AlternateContent>
          </a:graphicData>
        </a:graphic>
      </p:graphicFrame>
    </p:spTree>
    <p:extLst>
      <p:ext uri="{BB962C8B-B14F-4D97-AF65-F5344CB8AC3E}">
        <p14:creationId xmlns:p14="http://schemas.microsoft.com/office/powerpoint/2010/main" val="216988765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400" dirty="0">
                <a:solidFill>
                  <a:schemeClr val="bg1"/>
                </a:solidFill>
                <a:latin typeface="Trebuchet MS" panose="020B0603020202020204" pitchFamily="34" charset="0"/>
              </a:rPr>
              <a:t>          </a:t>
            </a:r>
            <a:r>
              <a:rPr lang="en-US" altLang="zh-CN" sz="2400" b="1" dirty="0">
                <a:solidFill>
                  <a:schemeClr val="bg1"/>
                </a:solidFill>
                <a:latin typeface="Trebuchet MS" panose="020B0603020202020204" pitchFamily="34" charset="0"/>
              </a:rPr>
              <a:t>3.2 Equivalence Calculus of First-Order Logic</a:t>
            </a:r>
            <a:endParaRPr lang="en-US" altLang="zh-CN" sz="2400" b="1" dirty="0">
              <a:solidFill>
                <a:schemeClr val="bg1"/>
              </a:solidFill>
              <a:effectLst/>
              <a:latin typeface="Trebuchet MS" panose="020B0603020202020204" pitchFamily="34" charset="0"/>
              <a:ea typeface="Cambria Math" panose="02040503050406030204" pitchFamily="18" charset="0"/>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75052" y="765175"/>
            <a:ext cx="8907148" cy="578802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eaLnBrk="1" hangingPunct="1">
              <a:buFontTx/>
              <a:buNone/>
            </a:pPr>
            <a:endParaRPr lang="en-US" altLang="zh-CN" sz="2800" b="1" dirty="0">
              <a:solidFill>
                <a:srgbClr val="FF3300"/>
              </a:solidFill>
              <a:latin typeface="宋体" panose="02010600030101010101" pitchFamily="2" charset="-122"/>
            </a:endParaRPr>
          </a:p>
          <a:p>
            <a:pPr algn="l">
              <a:lnSpc>
                <a:spcPct val="130000"/>
              </a:lnSpc>
              <a:buClr>
                <a:srgbClr val="0B61FF"/>
              </a:buClr>
              <a:buSzPct val="80000"/>
              <a:buFont typeface="Wingdings" panose="05000000000000000000" pitchFamily="2" charset="2"/>
              <a:buChar char="n"/>
            </a:pPr>
            <a:r>
              <a:rPr lang="en-US" sz="2400" b="1" i="0" dirty="0">
                <a:solidFill>
                  <a:srgbClr val="0B61FF"/>
                </a:solidFill>
                <a:effectLst/>
                <a:latin typeface="Trebuchet MS" panose="020B0603020202020204" pitchFamily="34" charset="0"/>
              </a:rPr>
              <a:t>3.2.1 First-Order Logic Equivalences and Substitution Rules </a:t>
            </a:r>
            <a:r>
              <a:rPr lang="en-US" sz="2400" b="1" i="0" dirty="0">
                <a:solidFill>
                  <a:srgbClr val="0C0D0E"/>
                </a:solidFill>
                <a:effectLst/>
                <a:latin typeface="Trebuchet MS" panose="020B0603020202020204" pitchFamily="34" charset="0"/>
              </a:rPr>
              <a:t>Basic Equivalences Substitution Rules, Renaming Rules</a:t>
            </a:r>
          </a:p>
          <a:p>
            <a:pPr algn="l">
              <a:lnSpc>
                <a:spcPct val="130000"/>
              </a:lnSpc>
              <a:buClr>
                <a:srgbClr val="0B61FF"/>
              </a:buClr>
              <a:buSzPct val="80000"/>
              <a:buFont typeface="Wingdings" panose="05000000000000000000" pitchFamily="2" charset="2"/>
              <a:buChar char="n"/>
            </a:pPr>
            <a:r>
              <a:rPr lang="en-US" sz="2400" b="1" i="0" dirty="0">
                <a:solidFill>
                  <a:srgbClr val="0C0D0E"/>
                </a:solidFill>
                <a:effectLst/>
                <a:latin typeface="Trebuchet MS" panose="020B0603020202020204" pitchFamily="34" charset="0"/>
              </a:rPr>
              <a:t>3.2.2 </a:t>
            </a:r>
            <a:r>
              <a:rPr lang="en-US" altLang="zh-CN" sz="2400" b="1" dirty="0">
                <a:solidFill>
                  <a:srgbClr val="0C0D0E"/>
                </a:solidFill>
                <a:latin typeface="Trebuchet MS" panose="020B0603020202020204" pitchFamily="34" charset="0"/>
              </a:rPr>
              <a:t>Prenex normal form of first-order logic</a:t>
            </a:r>
            <a:endParaRPr lang="en-US" sz="2400" b="1" dirty="0">
              <a:solidFill>
                <a:srgbClr val="0C0D0E"/>
              </a:solidFill>
              <a:latin typeface="Trebuchet MS" panose="020B0603020202020204" pitchFamily="34" charset="0"/>
            </a:endParaRPr>
          </a:p>
          <a:p>
            <a:pPr marL="457200" lvl="1" indent="0" eaLnBrk="1" hangingPunct="1">
              <a:buNone/>
            </a:pPr>
            <a:endParaRPr lang="zh-CN" altLang="en-US" sz="2800" b="1" dirty="0"/>
          </a:p>
        </p:txBody>
      </p:sp>
    </p:spTree>
    <p:extLst>
      <p:ext uri="{BB962C8B-B14F-4D97-AF65-F5344CB8AC3E}">
        <p14:creationId xmlns:p14="http://schemas.microsoft.com/office/powerpoint/2010/main" val="217628559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l">
              <a:lnSpc>
                <a:spcPct val="130000"/>
              </a:lnSpc>
              <a:buClr>
                <a:srgbClr val="0B61FF"/>
              </a:buClr>
              <a:buSzPct val="80000"/>
            </a:pP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i="0" dirty="0">
                <a:solidFill>
                  <a:schemeClr val="bg1"/>
                </a:solidFill>
                <a:effectLst/>
                <a:latin typeface="Trebuchet MS" panose="020B0603020202020204" pitchFamily="34" charset="0"/>
              </a:rPr>
              <a:t>3.2.2 </a:t>
            </a:r>
            <a:r>
              <a:rPr lang="en-US" altLang="zh-CN" sz="2000" b="1" dirty="0">
                <a:solidFill>
                  <a:schemeClr val="bg1"/>
                </a:solidFill>
                <a:latin typeface="Trebuchet MS" panose="020B0603020202020204" pitchFamily="34" charset="0"/>
              </a:rPr>
              <a:t>Prenex normal form of first-order logic</a:t>
            </a:r>
          </a:p>
          <a:p>
            <a:r>
              <a:rPr lang="en-US" altLang="zh-CN" sz="2800" b="1" dirty="0">
                <a:effectLst/>
                <a:latin typeface="Cambria Math" panose="02040503050406030204" pitchFamily="18" charset="0"/>
                <a:ea typeface="Cambria Math" panose="02040503050406030204" pitchFamily="18" charset="0"/>
                <a:cs typeface="Times New Roman" panose="02020603050405020304" pitchFamily="18" charset="0"/>
              </a:rPr>
              <a:t>               </a:t>
            </a:r>
            <a:r>
              <a:rPr lang="en-US" altLang="zh-CN" sz="2400"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2400" dirty="0">
                <a:latin typeface="Trebuchet MS" panose="020B0603020202020204" pitchFamily="34" charset="0"/>
              </a:rPr>
              <a:t> </a:t>
            </a:r>
            <a:r>
              <a:rPr lang="en-US" altLang="zh-CN" sz="2400" b="1" dirty="0">
                <a:solidFill>
                  <a:schemeClr val="bg1"/>
                </a:solidFill>
                <a:latin typeface="Trebuchet MS" panose="020B0603020202020204" pitchFamily="34" charset="0"/>
              </a:rPr>
              <a:t>Prenex normal form </a:t>
            </a:r>
            <a:endParaRPr lang="en-US" altLang="zh-CN" sz="2400" b="1" dirty="0">
              <a:effectLst/>
              <a:latin typeface="Trebuchet MS" panose="020B0603020202020204" pitchFamily="34" charset="0"/>
              <a:ea typeface="Cambria Math" panose="02040503050406030204" pitchFamily="18" charset="0"/>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824681" y="838202"/>
            <a:ext cx="10314373" cy="498565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30000"/>
              </a:lnSpc>
              <a:spcBef>
                <a:spcPts val="600"/>
              </a:spcBef>
              <a:buClr>
                <a:srgbClr val="0B61FF"/>
              </a:buClr>
              <a:buSzPct val="80000"/>
              <a:buFont typeface="Wingdings" panose="05000000000000000000" pitchFamily="2" charset="2"/>
              <a:buChar char="n"/>
            </a:pPr>
            <a:r>
              <a:rPr lang="en-US" sz="2400" b="1" i="0" dirty="0">
                <a:effectLst/>
                <a:latin typeface="Trebuchet MS" panose="020B0603020202020204" pitchFamily="34" charset="0"/>
              </a:rPr>
              <a:t>Definition 3.8:</a:t>
            </a:r>
            <a:r>
              <a:rPr lang="en-US" sz="2400" b="0" i="0" dirty="0">
                <a:effectLst/>
                <a:latin typeface="Trebuchet MS" panose="020B0603020202020204" pitchFamily="34" charset="0"/>
              </a:rPr>
              <a:t> Let </a:t>
            </a:r>
            <a:r>
              <a:rPr lang="en-US" sz="2400" b="1" i="1" dirty="0">
                <a:effectLst/>
                <a:latin typeface="Trebuchet MS" panose="020B0603020202020204" pitchFamily="34" charset="0"/>
              </a:rPr>
              <a:t>A</a:t>
            </a:r>
            <a:r>
              <a:rPr lang="en-US" sz="2400" b="0" i="0" dirty="0">
                <a:effectLst/>
                <a:latin typeface="Trebuchet MS" panose="020B0603020202020204" pitchFamily="34" charset="0"/>
              </a:rPr>
              <a:t> be a first-order logic formula. If </a:t>
            </a:r>
            <a:r>
              <a:rPr lang="en-US" sz="2400" b="1" i="1" dirty="0">
                <a:effectLst/>
                <a:latin typeface="Trebuchet MS" panose="020B0603020202020204" pitchFamily="34" charset="0"/>
              </a:rPr>
              <a:t>A</a:t>
            </a:r>
            <a:r>
              <a:rPr lang="en-US" sz="2400" b="0" i="0" dirty="0">
                <a:effectLst/>
                <a:latin typeface="Trebuchet MS" panose="020B0603020202020204" pitchFamily="34" charset="0"/>
              </a:rPr>
              <a:t> has the form</a:t>
            </a:r>
            <a:br>
              <a:rPr lang="en-US" sz="2400" dirty="0">
                <a:latin typeface="Trebuchet MS" panose="020B0603020202020204" pitchFamily="34" charset="0"/>
              </a:rPr>
            </a:br>
            <a:r>
              <a:rPr kumimoji="0" lang="en-US" altLang="zh-CN" sz="2400" b="1" i="1" dirty="0">
                <a:latin typeface="Trebuchet MS" panose="020B0603020202020204" pitchFamily="34" charset="0"/>
              </a:rPr>
              <a:t>     Q</a:t>
            </a:r>
            <a:r>
              <a:rPr kumimoji="0" lang="en-US" altLang="zh-CN" sz="2400" b="1" baseline="-30000" dirty="0">
                <a:latin typeface="Trebuchet MS" panose="020B0603020202020204" pitchFamily="34" charset="0"/>
              </a:rPr>
              <a:t>1</a:t>
            </a:r>
            <a:r>
              <a:rPr kumimoji="0" lang="en-US" altLang="zh-CN" sz="2400" b="1" i="1" dirty="0">
                <a:latin typeface="Trebuchet MS" panose="020B0603020202020204" pitchFamily="34" charset="0"/>
              </a:rPr>
              <a:t>x</a:t>
            </a:r>
            <a:r>
              <a:rPr kumimoji="0" lang="en-US" altLang="zh-CN" sz="2400" b="1" baseline="-30000" dirty="0">
                <a:latin typeface="Trebuchet MS" panose="020B0603020202020204" pitchFamily="34" charset="0"/>
              </a:rPr>
              <a:t>1</a:t>
            </a:r>
            <a:r>
              <a:rPr kumimoji="0" lang="en-US" altLang="zh-CN" sz="2400" b="1" i="1" dirty="0">
                <a:latin typeface="Trebuchet MS" panose="020B0603020202020204" pitchFamily="34" charset="0"/>
              </a:rPr>
              <a:t>Q</a:t>
            </a:r>
            <a:r>
              <a:rPr kumimoji="0" lang="en-US" altLang="zh-CN" sz="2400" b="1" baseline="-30000" dirty="0">
                <a:latin typeface="Trebuchet MS" panose="020B0603020202020204" pitchFamily="34" charset="0"/>
              </a:rPr>
              <a:t>2</a:t>
            </a:r>
            <a:r>
              <a:rPr kumimoji="0" lang="en-US" altLang="zh-CN" sz="2400" b="1" i="1" dirty="0">
                <a:latin typeface="Trebuchet MS" panose="020B0603020202020204" pitchFamily="34" charset="0"/>
              </a:rPr>
              <a:t>x</a:t>
            </a:r>
            <a:r>
              <a:rPr kumimoji="0" lang="en-US" altLang="zh-CN" sz="2400" b="1" baseline="-30000" dirty="0">
                <a:latin typeface="Trebuchet MS" panose="020B0603020202020204" pitchFamily="34" charset="0"/>
              </a:rPr>
              <a:t>2</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Q</a:t>
            </a:r>
            <a:r>
              <a:rPr kumimoji="0" lang="en-US" altLang="zh-CN" sz="2400" b="1" i="1" baseline="-30000" dirty="0">
                <a:latin typeface="Trebuchet MS" panose="020B0603020202020204" pitchFamily="34" charset="0"/>
              </a:rPr>
              <a:t>k</a:t>
            </a:r>
            <a:r>
              <a:rPr kumimoji="0" lang="en-US" altLang="zh-CN" sz="2400" b="1" i="1" dirty="0">
                <a:latin typeface="Trebuchet MS" panose="020B0603020202020204" pitchFamily="34" charset="0"/>
              </a:rPr>
              <a:t>x</a:t>
            </a:r>
            <a:r>
              <a:rPr kumimoji="0" lang="en-US" altLang="zh-CN" sz="2400" b="1" i="1" baseline="-30000" dirty="0">
                <a:latin typeface="Trebuchet MS" panose="020B0603020202020204" pitchFamily="34" charset="0"/>
              </a:rPr>
              <a:t>k </a:t>
            </a:r>
            <a:r>
              <a:rPr kumimoji="0" lang="en-US" altLang="zh-CN" sz="2400" b="1" i="1" dirty="0">
                <a:latin typeface="Trebuchet MS" panose="020B0603020202020204" pitchFamily="34" charset="0"/>
              </a:rPr>
              <a:t>B</a:t>
            </a:r>
          </a:p>
          <a:p>
            <a:pPr indent="42863" algn="just" eaLnBrk="1" hangingPunct="1">
              <a:lnSpc>
                <a:spcPct val="130000"/>
              </a:lnSpc>
              <a:spcBef>
                <a:spcPts val="600"/>
              </a:spcBef>
              <a:buClr>
                <a:schemeClr val="bg2"/>
              </a:buClr>
              <a:buSzPct val="75000"/>
              <a:buFont typeface="Wingdings" panose="05000000000000000000" pitchFamily="2" charset="2"/>
              <a:buNone/>
            </a:pPr>
            <a:r>
              <a:rPr lang="en-US" sz="2400" b="0" i="0" dirty="0">
                <a:effectLst/>
                <a:latin typeface="Trebuchet MS" panose="020B0603020202020204" pitchFamily="34" charset="0"/>
              </a:rPr>
              <a:t>where each </a:t>
            </a:r>
            <a:r>
              <a:rPr lang="en-US" sz="2400" b="1" i="1" dirty="0">
                <a:effectLst/>
                <a:latin typeface="Trebuchet MS" panose="020B0603020202020204" pitchFamily="34" charset="0"/>
              </a:rPr>
              <a:t>Q</a:t>
            </a:r>
            <a:r>
              <a:rPr lang="en-US" sz="2400" b="1" i="1" baseline="-25000" dirty="0">
                <a:effectLst/>
                <a:latin typeface="Trebuchet MS" panose="020B0603020202020204" pitchFamily="34" charset="0"/>
              </a:rPr>
              <a:t>i</a:t>
            </a:r>
            <a:r>
              <a:rPr lang="en-US" sz="2400" b="0" i="0" dirty="0">
                <a:effectLst/>
                <a:latin typeface="Trebuchet MS" panose="020B0603020202020204" pitchFamily="34" charset="0"/>
              </a:rPr>
              <a:t> is either </a:t>
            </a:r>
            <a:r>
              <a:rPr lang="en-US" sz="2400" b="1" dirty="0">
                <a:effectLst/>
                <a:latin typeface="Trebuchet MS" panose="020B0603020202020204" pitchFamily="34" charset="0"/>
              </a:rPr>
              <a:t>∀</a:t>
            </a:r>
            <a:r>
              <a:rPr lang="en-US" sz="2400" b="0" i="0" dirty="0">
                <a:effectLst/>
                <a:latin typeface="Trebuchet MS" panose="020B0603020202020204" pitchFamily="34" charset="0"/>
              </a:rPr>
              <a:t> or </a:t>
            </a:r>
            <a:r>
              <a:rPr lang="en-US" sz="2400" b="1" dirty="0">
                <a:effectLst/>
                <a:latin typeface="Trebuchet MS" panose="020B0603020202020204" pitchFamily="34" charset="0"/>
              </a:rPr>
              <a:t>∃</a:t>
            </a:r>
            <a:r>
              <a:rPr lang="en-US" sz="2400" b="0" i="0" dirty="0">
                <a:effectLst/>
                <a:latin typeface="Trebuchet MS" panose="020B0603020202020204" pitchFamily="34" charset="0"/>
              </a:rPr>
              <a:t> (for </a:t>
            </a:r>
            <a:r>
              <a:rPr lang="en-US" sz="2400" b="0" dirty="0">
                <a:effectLst/>
                <a:latin typeface="Trebuchet MS" panose="020B0603020202020204" pitchFamily="34" charset="0"/>
              </a:rPr>
              <a:t>1≤</a:t>
            </a:r>
            <a:r>
              <a:rPr lang="en-US" sz="2400" b="1" i="1" dirty="0">
                <a:effectLst/>
                <a:latin typeface="Trebuchet MS" panose="020B0603020202020204" pitchFamily="34" charset="0"/>
              </a:rPr>
              <a:t>i</a:t>
            </a:r>
            <a:r>
              <a:rPr lang="en-US" sz="2400" b="0" dirty="0">
                <a:effectLst/>
                <a:latin typeface="Trebuchet MS" panose="020B0603020202020204" pitchFamily="34" charset="0"/>
              </a:rPr>
              <a:t>≤</a:t>
            </a:r>
            <a:r>
              <a:rPr lang="en-US" sz="2400" b="1" i="1" dirty="0">
                <a:effectLst/>
                <a:latin typeface="Trebuchet MS" panose="020B0603020202020204" pitchFamily="34" charset="0"/>
              </a:rPr>
              <a:t>k</a:t>
            </a:r>
            <a:r>
              <a:rPr lang="en-US" sz="2400" b="0" i="0" dirty="0">
                <a:effectLst/>
                <a:latin typeface="Trebuchet MS" panose="020B0603020202020204" pitchFamily="34" charset="0"/>
              </a:rPr>
              <a:t>), and </a:t>
            </a:r>
            <a:r>
              <a:rPr lang="en-US" sz="2400" b="1" i="1" dirty="0">
                <a:effectLst/>
                <a:latin typeface="Trebuchet MS" panose="020B0603020202020204" pitchFamily="34" charset="0"/>
              </a:rPr>
              <a:t>B</a:t>
            </a:r>
            <a:r>
              <a:rPr lang="en-US" sz="2400" b="0" i="0" dirty="0">
                <a:effectLst/>
                <a:latin typeface="Trebuchet MS" panose="020B0603020202020204" pitchFamily="34" charset="0"/>
              </a:rPr>
              <a:t> is a formula without quantifiers, then </a:t>
            </a:r>
            <a:r>
              <a:rPr lang="en-US" sz="2400" b="1" i="1" dirty="0">
                <a:effectLst/>
                <a:latin typeface="Trebuchet MS" panose="020B0603020202020204" pitchFamily="34" charset="0"/>
              </a:rPr>
              <a:t>A</a:t>
            </a:r>
            <a:r>
              <a:rPr lang="en-US" sz="2400" b="0" i="0" dirty="0">
                <a:effectLst/>
                <a:latin typeface="Trebuchet MS" panose="020B0603020202020204" pitchFamily="34" charset="0"/>
              </a:rPr>
              <a:t> is called a </a:t>
            </a:r>
            <a:r>
              <a:rPr lang="en-US" sz="2400" b="1" i="1" dirty="0">
                <a:effectLst/>
                <a:latin typeface="Trebuchet MS" panose="020B0603020202020204" pitchFamily="34" charset="0"/>
              </a:rPr>
              <a:t>prenex normal form.</a:t>
            </a:r>
          </a:p>
          <a:p>
            <a:pPr algn="just" eaLnBrk="1" hangingPunct="1">
              <a:lnSpc>
                <a:spcPct val="130000"/>
              </a:lnSpc>
              <a:spcBef>
                <a:spcPts val="600"/>
              </a:spcBef>
              <a:buClr>
                <a:schemeClr val="bg2"/>
              </a:buClr>
              <a:buSzPct val="75000"/>
              <a:buFont typeface="Wingdings" panose="05000000000000000000" pitchFamily="2" charset="2"/>
              <a:buNone/>
            </a:pPr>
            <a:r>
              <a:rPr lang="en-US" altLang="zh-CN" sz="2400" b="1" dirty="0">
                <a:latin typeface="Trebuchet MS" panose="020B0603020202020204" pitchFamily="34" charset="0"/>
              </a:rPr>
              <a:t>       Examples:</a:t>
            </a:r>
            <a:r>
              <a:rPr lang="zh-CN" altLang="en-US" sz="2400" b="1" dirty="0">
                <a:latin typeface="Trebuchet MS" panose="020B0603020202020204" pitchFamily="34" charset="0"/>
              </a:rPr>
              <a:t>  </a:t>
            </a:r>
            <a:endParaRPr lang="en-US" altLang="zh-CN" sz="2400" b="1" dirty="0">
              <a:latin typeface="Trebuchet MS" panose="020B0603020202020204" pitchFamily="34" charset="0"/>
            </a:endParaRPr>
          </a:p>
          <a:p>
            <a:pPr indent="490538" algn="just">
              <a:lnSpc>
                <a:spcPct val="130000"/>
              </a:lnSpc>
              <a:spcBef>
                <a:spcPts val="600"/>
              </a:spcBef>
              <a:buClr>
                <a:schemeClr val="bg2"/>
              </a:buClr>
              <a:buSzPct val="75000"/>
              <a:buNone/>
            </a:pPr>
            <a:r>
              <a:rPr lang="zh-CN" altLang="en-US"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x</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y</a:t>
            </a:r>
            <a:r>
              <a:rPr lang="en-US" altLang="zh-CN" sz="2400" b="1" dirty="0">
                <a:latin typeface="Trebuchet MS" panose="020B0603020202020204" pitchFamily="34" charset="0"/>
              </a:rPr>
              <a:t>(</a:t>
            </a:r>
            <a:r>
              <a:rPr lang="en-US" altLang="zh-CN" sz="2400" b="1" i="1" dirty="0">
                <a:latin typeface="Trebuchet MS" panose="020B0603020202020204" pitchFamily="34" charset="0"/>
              </a:rPr>
              <a:t>F</a:t>
            </a:r>
            <a:r>
              <a:rPr lang="en-US" altLang="zh-CN" sz="2400" b="1" dirty="0">
                <a:latin typeface="Trebuchet MS" panose="020B0603020202020204" pitchFamily="34" charset="0"/>
              </a:rPr>
              <a:t>(</a:t>
            </a:r>
            <a:r>
              <a:rPr lang="en-US" altLang="zh-CN" sz="2400" b="1" i="1" dirty="0">
                <a:latin typeface="Trebuchet MS" panose="020B0603020202020204" pitchFamily="34" charset="0"/>
              </a:rPr>
              <a:t>x</a:t>
            </a:r>
            <a:r>
              <a:rPr lang="en-US" altLang="zh-CN" sz="2400" b="1" dirty="0">
                <a:latin typeface="Trebuchet MS" panose="020B0603020202020204" pitchFamily="34" charset="0"/>
              </a:rPr>
              <a:t>)</a:t>
            </a:r>
            <a:r>
              <a:rPr lang="en-US" altLang="zh-CN" sz="2400" b="1" dirty="0">
                <a:latin typeface="Trebuchet MS" panose="020B0603020202020204" pitchFamily="34" charset="0"/>
                <a:sym typeface="Symbol" panose="05050102010706020507" pitchFamily="18" charset="2"/>
              </a:rPr>
              <a:t></a:t>
            </a:r>
            <a:r>
              <a:rPr lang="en-US" altLang="zh-CN" sz="2400" b="1" dirty="0">
                <a:latin typeface="Trebuchet MS" panose="020B0603020202020204" pitchFamily="34" charset="0"/>
              </a:rPr>
              <a:t>(</a:t>
            </a:r>
            <a:r>
              <a:rPr lang="en-US" altLang="zh-CN" sz="2400" b="1" i="1" dirty="0">
                <a:latin typeface="Trebuchet MS" panose="020B0603020202020204" pitchFamily="34" charset="0"/>
              </a:rPr>
              <a:t>G</a:t>
            </a:r>
            <a:r>
              <a:rPr lang="en-US" altLang="zh-CN" sz="2400" b="1" dirty="0">
                <a:latin typeface="Trebuchet MS" panose="020B0603020202020204" pitchFamily="34" charset="0"/>
              </a:rPr>
              <a:t>(</a:t>
            </a:r>
            <a:r>
              <a:rPr lang="en-US" altLang="zh-CN" sz="2400" b="1" i="1" dirty="0">
                <a:latin typeface="Trebuchet MS" panose="020B0603020202020204" pitchFamily="34" charset="0"/>
              </a:rPr>
              <a:t>y</a:t>
            </a:r>
            <a:r>
              <a:rPr lang="en-US" altLang="zh-CN" sz="2400" b="1" dirty="0">
                <a:latin typeface="Trebuchet MS" panose="020B0603020202020204" pitchFamily="34" charset="0"/>
              </a:rPr>
              <a:t>)</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H</a:t>
            </a:r>
            <a:r>
              <a:rPr lang="en-US" altLang="zh-CN" sz="2400" b="1" dirty="0">
                <a:latin typeface="Trebuchet MS" panose="020B0603020202020204" pitchFamily="34" charset="0"/>
              </a:rPr>
              <a:t>(</a:t>
            </a:r>
            <a:r>
              <a:rPr lang="en-US" altLang="zh-CN" sz="2400" b="1" i="1" dirty="0">
                <a:latin typeface="Trebuchet MS" panose="020B0603020202020204" pitchFamily="34" charset="0"/>
              </a:rPr>
              <a:t>x</a:t>
            </a:r>
            <a:r>
              <a:rPr lang="en-US" altLang="zh-CN" sz="2400" b="1" dirty="0">
                <a:latin typeface="Trebuchet MS" panose="020B0603020202020204" pitchFamily="34" charset="0"/>
              </a:rPr>
              <a:t>,</a:t>
            </a:r>
            <a:r>
              <a:rPr lang="en-US" altLang="zh-CN" sz="2400" b="1" i="1" dirty="0">
                <a:latin typeface="Trebuchet MS" panose="020B0603020202020204" pitchFamily="34" charset="0"/>
              </a:rPr>
              <a:t>y</a:t>
            </a:r>
            <a:r>
              <a:rPr lang="en-US" altLang="zh-CN" sz="2400" b="1" dirty="0">
                <a:latin typeface="Trebuchet MS" panose="020B0603020202020204" pitchFamily="34" charset="0"/>
              </a:rPr>
              <a:t>)))           </a:t>
            </a:r>
            <a:r>
              <a:rPr lang="en-US" altLang="zh-CN" sz="2400" b="0" i="0" dirty="0">
                <a:effectLst/>
                <a:latin typeface="Trebuchet MS" panose="020B0603020202020204" pitchFamily="34" charset="0"/>
              </a:rPr>
              <a:t>(prenex normal form)</a:t>
            </a:r>
          </a:p>
          <a:p>
            <a:pPr indent="490538" algn="just">
              <a:lnSpc>
                <a:spcPct val="130000"/>
              </a:lnSpc>
              <a:spcBef>
                <a:spcPts val="600"/>
              </a:spcBef>
              <a:buNone/>
            </a:pP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x</a:t>
            </a:r>
            <a:r>
              <a:rPr lang="en-US" altLang="zh-CN" sz="2400" b="1" dirty="0">
                <a:latin typeface="Trebuchet MS" panose="020B0603020202020204" pitchFamily="34" charset="0"/>
                <a:sym typeface="Symbol" panose="05050102010706020507" pitchFamily="18" charset="2"/>
              </a:rPr>
              <a:t></a:t>
            </a:r>
            <a:r>
              <a:rPr lang="en-US" altLang="zh-CN" sz="2400" b="1" dirty="0">
                <a:latin typeface="Trebuchet MS" panose="020B0603020202020204" pitchFamily="34" charset="0"/>
              </a:rPr>
              <a:t>(</a:t>
            </a:r>
            <a:r>
              <a:rPr lang="en-US" altLang="zh-CN" sz="2400" b="1" i="1" dirty="0">
                <a:latin typeface="Trebuchet MS" panose="020B0603020202020204" pitchFamily="34" charset="0"/>
              </a:rPr>
              <a:t>F</a:t>
            </a:r>
            <a:r>
              <a:rPr lang="en-US" altLang="zh-CN" sz="2400" b="1" dirty="0">
                <a:latin typeface="Trebuchet MS" panose="020B0603020202020204" pitchFamily="34" charset="0"/>
              </a:rPr>
              <a:t>(</a:t>
            </a:r>
            <a:r>
              <a:rPr lang="en-US" altLang="zh-CN" sz="2400" b="1" i="1" dirty="0">
                <a:latin typeface="Trebuchet MS" panose="020B0603020202020204" pitchFamily="34" charset="0"/>
              </a:rPr>
              <a:t>x</a:t>
            </a:r>
            <a:r>
              <a:rPr lang="en-US" altLang="zh-CN" sz="2400" b="1" dirty="0">
                <a:latin typeface="Trebuchet MS" panose="020B0603020202020204" pitchFamily="34" charset="0"/>
              </a:rPr>
              <a:t>)</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G</a:t>
            </a:r>
            <a:r>
              <a:rPr lang="en-US" altLang="zh-CN" sz="2400" b="1" dirty="0">
                <a:latin typeface="Trebuchet MS" panose="020B0603020202020204" pitchFamily="34" charset="0"/>
              </a:rPr>
              <a:t>(</a:t>
            </a:r>
            <a:r>
              <a:rPr lang="en-US" altLang="zh-CN" sz="2400" b="1" i="1" dirty="0">
                <a:latin typeface="Trebuchet MS" panose="020B0603020202020204" pitchFamily="34" charset="0"/>
              </a:rPr>
              <a:t>x</a:t>
            </a:r>
            <a:r>
              <a:rPr lang="en-US" altLang="zh-CN" sz="2400" b="1" dirty="0">
                <a:latin typeface="Trebuchet MS" panose="020B0603020202020204" pitchFamily="34" charset="0"/>
              </a:rPr>
              <a:t>))                            </a:t>
            </a:r>
            <a:r>
              <a:rPr lang="en-US" altLang="zh-CN" sz="2400" b="0" i="0" dirty="0">
                <a:effectLst/>
                <a:latin typeface="Trebuchet MS" panose="020B0603020202020204" pitchFamily="34" charset="0"/>
              </a:rPr>
              <a:t>(prenex normal form)</a:t>
            </a:r>
          </a:p>
          <a:p>
            <a:pPr indent="490538">
              <a:lnSpc>
                <a:spcPct val="130000"/>
              </a:lnSpc>
              <a:spcBef>
                <a:spcPts val="600"/>
              </a:spcBef>
              <a:buNone/>
            </a:pPr>
            <a:r>
              <a:rPr lang="zh-CN" altLang="en-US"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x</a:t>
            </a:r>
            <a:r>
              <a:rPr lang="en-US" altLang="zh-CN" sz="2400" b="1" dirty="0">
                <a:latin typeface="Trebuchet MS" panose="020B0603020202020204" pitchFamily="34" charset="0"/>
              </a:rPr>
              <a:t>(</a:t>
            </a:r>
            <a:r>
              <a:rPr lang="en-US" altLang="zh-CN" sz="2400" b="1" i="1" dirty="0">
                <a:latin typeface="Trebuchet MS" panose="020B0603020202020204" pitchFamily="34" charset="0"/>
              </a:rPr>
              <a:t>F</a:t>
            </a:r>
            <a:r>
              <a:rPr lang="en-US" altLang="zh-CN" sz="2400" b="1" dirty="0">
                <a:latin typeface="Trebuchet MS" panose="020B0603020202020204" pitchFamily="34" charset="0"/>
              </a:rPr>
              <a:t>(</a:t>
            </a:r>
            <a:r>
              <a:rPr lang="en-US" altLang="zh-CN" sz="2400" b="1" i="1" dirty="0">
                <a:latin typeface="Trebuchet MS" panose="020B0603020202020204" pitchFamily="34" charset="0"/>
              </a:rPr>
              <a:t>x</a:t>
            </a:r>
            <a:r>
              <a:rPr lang="en-US" altLang="zh-CN" sz="2400" b="1" dirty="0">
                <a:latin typeface="Trebuchet MS" panose="020B0603020202020204" pitchFamily="34" charset="0"/>
              </a:rPr>
              <a:t>)</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y</a:t>
            </a:r>
            <a:r>
              <a:rPr lang="en-US" altLang="zh-CN" sz="2400" b="1" dirty="0">
                <a:latin typeface="Trebuchet MS" panose="020B0603020202020204" pitchFamily="34" charset="0"/>
              </a:rPr>
              <a:t>(</a:t>
            </a:r>
            <a:r>
              <a:rPr lang="en-US" altLang="zh-CN" sz="2400" b="1" i="1" dirty="0">
                <a:latin typeface="Trebuchet MS" panose="020B0603020202020204" pitchFamily="34" charset="0"/>
              </a:rPr>
              <a:t>G</a:t>
            </a:r>
            <a:r>
              <a:rPr lang="en-US" altLang="zh-CN" sz="2400" b="1" dirty="0">
                <a:latin typeface="Trebuchet MS" panose="020B0603020202020204" pitchFamily="34" charset="0"/>
              </a:rPr>
              <a:t>(</a:t>
            </a:r>
            <a:r>
              <a:rPr lang="en-US" altLang="zh-CN" sz="2400" b="1" i="1" dirty="0">
                <a:latin typeface="Trebuchet MS" panose="020B0603020202020204" pitchFamily="34" charset="0"/>
              </a:rPr>
              <a:t>y</a:t>
            </a:r>
            <a:r>
              <a:rPr lang="en-US" altLang="zh-CN" sz="2400" b="1" dirty="0">
                <a:latin typeface="Trebuchet MS" panose="020B0603020202020204" pitchFamily="34" charset="0"/>
              </a:rPr>
              <a:t>)</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H</a:t>
            </a:r>
            <a:r>
              <a:rPr lang="en-US" altLang="zh-CN" sz="2400" b="1" dirty="0">
                <a:latin typeface="Trebuchet MS" panose="020B0603020202020204" pitchFamily="34" charset="0"/>
              </a:rPr>
              <a:t>(</a:t>
            </a:r>
            <a:r>
              <a:rPr lang="en-US" altLang="zh-CN" sz="2400" b="1" i="1" dirty="0">
                <a:latin typeface="Trebuchet MS" panose="020B0603020202020204" pitchFamily="34" charset="0"/>
              </a:rPr>
              <a:t>x</a:t>
            </a:r>
            <a:r>
              <a:rPr lang="en-US" altLang="zh-CN" sz="2400" b="1" dirty="0">
                <a:latin typeface="Trebuchet MS" panose="020B0603020202020204" pitchFamily="34" charset="0"/>
              </a:rPr>
              <a:t>,</a:t>
            </a:r>
            <a:r>
              <a:rPr lang="en-US" altLang="zh-CN" sz="2400" b="1" i="1" dirty="0">
                <a:latin typeface="Trebuchet MS" panose="020B0603020202020204" pitchFamily="34" charset="0"/>
              </a:rPr>
              <a:t>y</a:t>
            </a:r>
            <a:r>
              <a:rPr lang="en-US" altLang="zh-CN" sz="2400" b="1" dirty="0">
                <a:latin typeface="Trebuchet MS" panose="020B0603020202020204" pitchFamily="34" charset="0"/>
              </a:rPr>
              <a:t>)))     </a:t>
            </a:r>
            <a:r>
              <a:rPr lang="en-US" altLang="zh-CN" sz="2400" b="0" i="0" dirty="0">
                <a:effectLst/>
                <a:latin typeface="Trebuchet MS" panose="020B0603020202020204" pitchFamily="34" charset="0"/>
              </a:rPr>
              <a:t>(</a:t>
            </a:r>
            <a:r>
              <a:rPr lang="en-US" altLang="zh-CN" sz="2400" dirty="0">
                <a:latin typeface="Trebuchet MS" panose="020B0603020202020204" pitchFamily="34" charset="0"/>
              </a:rPr>
              <a:t>not </a:t>
            </a:r>
            <a:r>
              <a:rPr lang="en-US" altLang="zh-CN" sz="2400" b="0" i="0" dirty="0">
                <a:effectLst/>
                <a:latin typeface="Trebuchet MS" panose="020B0603020202020204" pitchFamily="34" charset="0"/>
              </a:rPr>
              <a:t>prenex normal form)</a:t>
            </a:r>
          </a:p>
          <a:p>
            <a:pPr indent="490538">
              <a:lnSpc>
                <a:spcPct val="130000"/>
              </a:lnSpc>
              <a:spcBef>
                <a:spcPts val="600"/>
              </a:spcBef>
              <a:buNone/>
            </a:pP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x</a:t>
            </a:r>
            <a:r>
              <a:rPr lang="en-US" altLang="zh-CN" sz="2400" b="1" dirty="0">
                <a:latin typeface="Trebuchet MS" panose="020B0603020202020204" pitchFamily="34" charset="0"/>
              </a:rPr>
              <a:t>(</a:t>
            </a:r>
            <a:r>
              <a:rPr lang="en-US" altLang="zh-CN" sz="2400" b="1" i="1" dirty="0">
                <a:latin typeface="Trebuchet MS" panose="020B0603020202020204" pitchFamily="34" charset="0"/>
              </a:rPr>
              <a:t>F</a:t>
            </a:r>
            <a:r>
              <a:rPr lang="en-US" altLang="zh-CN" sz="2400" b="1" dirty="0">
                <a:latin typeface="Trebuchet MS" panose="020B0603020202020204" pitchFamily="34" charset="0"/>
              </a:rPr>
              <a:t>(</a:t>
            </a:r>
            <a:r>
              <a:rPr lang="en-US" altLang="zh-CN" sz="2400" b="1" i="1" dirty="0">
                <a:latin typeface="Trebuchet MS" panose="020B0603020202020204" pitchFamily="34" charset="0"/>
              </a:rPr>
              <a:t>x</a:t>
            </a:r>
            <a:r>
              <a:rPr lang="en-US" altLang="zh-CN" sz="2400" b="1" dirty="0">
                <a:latin typeface="Trebuchet MS" panose="020B0603020202020204" pitchFamily="34" charset="0"/>
              </a:rPr>
              <a:t>)</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G</a:t>
            </a:r>
            <a:r>
              <a:rPr lang="en-US" altLang="zh-CN" sz="2400" b="1" dirty="0">
                <a:latin typeface="Trebuchet MS" panose="020B0603020202020204" pitchFamily="34" charset="0"/>
              </a:rPr>
              <a:t>(</a:t>
            </a:r>
            <a:r>
              <a:rPr lang="en-US" altLang="zh-CN" sz="2400" b="1" i="1" dirty="0">
                <a:latin typeface="Trebuchet MS" panose="020B0603020202020204" pitchFamily="34" charset="0"/>
              </a:rPr>
              <a:t>x</a:t>
            </a:r>
            <a:r>
              <a:rPr lang="en-US" altLang="zh-CN" sz="2400" b="1" dirty="0">
                <a:latin typeface="Trebuchet MS" panose="020B0603020202020204" pitchFamily="34" charset="0"/>
              </a:rPr>
              <a:t>))</a:t>
            </a:r>
            <a:r>
              <a:rPr lang="en-US" altLang="zh-CN" sz="2400" b="0" i="0" dirty="0">
                <a:effectLst/>
                <a:latin typeface="Trebuchet MS" panose="020B0603020202020204" pitchFamily="34" charset="0"/>
              </a:rPr>
              <a:t>                      (</a:t>
            </a:r>
            <a:r>
              <a:rPr lang="en-US" altLang="zh-CN" sz="2400" dirty="0">
                <a:latin typeface="Trebuchet MS" panose="020B0603020202020204" pitchFamily="34" charset="0"/>
              </a:rPr>
              <a:t>not </a:t>
            </a:r>
            <a:r>
              <a:rPr lang="en-US" altLang="zh-CN" sz="2400" b="0" i="0" dirty="0">
                <a:effectLst/>
                <a:latin typeface="Trebuchet MS" panose="020B0603020202020204" pitchFamily="34" charset="0"/>
              </a:rPr>
              <a:t>prenex normal form)</a:t>
            </a:r>
          </a:p>
          <a:p>
            <a:pPr eaLnBrk="1" hangingPunct="1">
              <a:lnSpc>
                <a:spcPct val="120000"/>
              </a:lnSpc>
              <a:spcBef>
                <a:spcPts val="600"/>
              </a:spcBef>
              <a:buFontTx/>
              <a:buNone/>
            </a:pPr>
            <a:endParaRPr lang="zh-CN" altLang="en-US" sz="2400" dirty="0">
              <a:latin typeface="Trebuchet MS" panose="020B0603020202020204" pitchFamily="34" charset="0"/>
            </a:endParaRPr>
          </a:p>
        </p:txBody>
      </p:sp>
      <p:pic>
        <p:nvPicPr>
          <p:cNvPr id="9" name="图片 8">
            <a:extLst>
              <a:ext uri="{FF2B5EF4-FFF2-40B4-BE49-F238E27FC236}">
                <a16:creationId xmlns:a16="http://schemas.microsoft.com/office/drawing/2014/main" id="{781E38FA-EA86-4742-9A02-8652E9DD1A15}"/>
              </a:ext>
            </a:extLst>
          </p:cNvPr>
          <p:cNvPicPr/>
          <p:nvPr/>
        </p:nvPicPr>
        <p:blipFill>
          <a:blip r:embed="rId5"/>
          <a:stretch>
            <a:fillRect/>
          </a:stretch>
        </p:blipFill>
        <p:spPr>
          <a:xfrm>
            <a:off x="977719" y="3058057"/>
            <a:ext cx="577850" cy="241300"/>
          </a:xfrm>
          <a:prstGeom prst="rect">
            <a:avLst/>
          </a:prstGeom>
        </p:spPr>
      </p:pic>
    </p:spTree>
    <p:extLst>
      <p:ext uri="{BB962C8B-B14F-4D97-AF65-F5344CB8AC3E}">
        <p14:creationId xmlns:p14="http://schemas.microsoft.com/office/powerpoint/2010/main" val="121505277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8">
                                            <p:txEl>
                                              <p:pRg st="2" end="2"/>
                                            </p:txEl>
                                          </p:spTgt>
                                        </p:tgtEl>
                                        <p:attrNameLst>
                                          <p:attrName>style.visibility</p:attrName>
                                        </p:attrNameLst>
                                      </p:cBhvr>
                                      <p:to>
                                        <p:strVal val="visible"/>
                                      </p:to>
                                    </p:set>
                                    <p:animEffect transition="in" filter="fade">
                                      <p:cBhvr>
                                        <p:cTn id="12" dur="1000"/>
                                        <p:tgtEl>
                                          <p:spTgt spid="8">
                                            <p:txEl>
                                              <p:pRg st="2" end="2"/>
                                            </p:txEl>
                                          </p:spTgt>
                                        </p:tgtEl>
                                      </p:cBhvr>
                                    </p:animEffect>
                                    <p:anim calcmode="lin" valueType="num">
                                      <p:cBhvr>
                                        <p:cTn id="13"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8">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8">
                                            <p:txEl>
                                              <p:pRg st="3" end="3"/>
                                            </p:txEl>
                                          </p:spTgt>
                                        </p:tgtEl>
                                        <p:attrNameLst>
                                          <p:attrName>style.visibility</p:attrName>
                                        </p:attrNameLst>
                                      </p:cBhvr>
                                      <p:to>
                                        <p:strVal val="visible"/>
                                      </p:to>
                                    </p:set>
                                    <p:animEffect transition="in" filter="fade">
                                      <p:cBhvr>
                                        <p:cTn id="17" dur="1000"/>
                                        <p:tgtEl>
                                          <p:spTgt spid="8">
                                            <p:txEl>
                                              <p:pRg st="3" end="3"/>
                                            </p:txEl>
                                          </p:spTgt>
                                        </p:tgtEl>
                                      </p:cBhvr>
                                    </p:animEffect>
                                    <p:anim calcmode="lin" valueType="num">
                                      <p:cBhvr>
                                        <p:cTn id="18"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8">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8">
                                            <p:txEl>
                                              <p:pRg st="4" end="4"/>
                                            </p:txEl>
                                          </p:spTgt>
                                        </p:tgtEl>
                                        <p:attrNameLst>
                                          <p:attrName>style.visibility</p:attrName>
                                        </p:attrNameLst>
                                      </p:cBhvr>
                                      <p:to>
                                        <p:strVal val="visible"/>
                                      </p:to>
                                    </p:set>
                                    <p:animEffect transition="in" filter="fade">
                                      <p:cBhvr>
                                        <p:cTn id="24" dur="1000"/>
                                        <p:tgtEl>
                                          <p:spTgt spid="8">
                                            <p:txEl>
                                              <p:pRg st="4" end="4"/>
                                            </p:txEl>
                                          </p:spTgt>
                                        </p:tgtEl>
                                      </p:cBhvr>
                                    </p:animEffect>
                                    <p:anim calcmode="lin" valueType="num">
                                      <p:cBhvr>
                                        <p:cTn id="25" dur="1000" fill="hold"/>
                                        <p:tgtEl>
                                          <p:spTgt spid="8">
                                            <p:txEl>
                                              <p:pRg st="4" end="4"/>
                                            </p:txEl>
                                          </p:spTgt>
                                        </p:tgtEl>
                                        <p:attrNameLst>
                                          <p:attrName>ppt_x</p:attrName>
                                        </p:attrNameLst>
                                      </p:cBhvr>
                                      <p:tavLst>
                                        <p:tav tm="0">
                                          <p:val>
                                            <p:strVal val="#ppt_x"/>
                                          </p:val>
                                        </p:tav>
                                        <p:tav tm="100000">
                                          <p:val>
                                            <p:strVal val="#ppt_x"/>
                                          </p:val>
                                        </p:tav>
                                      </p:tavLst>
                                    </p:anim>
                                    <p:anim calcmode="lin" valueType="num">
                                      <p:cBhvr>
                                        <p:cTn id="26" dur="1000" fill="hold"/>
                                        <p:tgtEl>
                                          <p:spTgt spid="8">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8">
                                            <p:txEl>
                                              <p:pRg st="5" end="5"/>
                                            </p:txEl>
                                          </p:spTgt>
                                        </p:tgtEl>
                                        <p:attrNameLst>
                                          <p:attrName>style.visibility</p:attrName>
                                        </p:attrNameLst>
                                      </p:cBhvr>
                                      <p:to>
                                        <p:strVal val="visible"/>
                                      </p:to>
                                    </p:set>
                                    <p:animEffect transition="in" filter="fade">
                                      <p:cBhvr>
                                        <p:cTn id="31" dur="1000"/>
                                        <p:tgtEl>
                                          <p:spTgt spid="8">
                                            <p:txEl>
                                              <p:pRg st="5" end="5"/>
                                            </p:txEl>
                                          </p:spTgt>
                                        </p:tgtEl>
                                      </p:cBhvr>
                                    </p:animEffect>
                                    <p:anim calcmode="lin" valueType="num">
                                      <p:cBhvr>
                                        <p:cTn id="32" dur="1000" fill="hold"/>
                                        <p:tgtEl>
                                          <p:spTgt spid="8">
                                            <p:txEl>
                                              <p:pRg st="5" end="5"/>
                                            </p:txEl>
                                          </p:spTgt>
                                        </p:tgtEl>
                                        <p:attrNameLst>
                                          <p:attrName>ppt_x</p:attrName>
                                        </p:attrNameLst>
                                      </p:cBhvr>
                                      <p:tavLst>
                                        <p:tav tm="0">
                                          <p:val>
                                            <p:strVal val="#ppt_x"/>
                                          </p:val>
                                        </p:tav>
                                        <p:tav tm="100000">
                                          <p:val>
                                            <p:strVal val="#ppt_x"/>
                                          </p:val>
                                        </p:tav>
                                      </p:tavLst>
                                    </p:anim>
                                    <p:anim calcmode="lin" valueType="num">
                                      <p:cBhvr>
                                        <p:cTn id="33" dur="1000" fill="hold"/>
                                        <p:tgtEl>
                                          <p:spTgt spid="8">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nodeType="clickEffect">
                                  <p:stCondLst>
                                    <p:cond delay="0"/>
                                  </p:stCondLst>
                                  <p:childTnLst>
                                    <p:set>
                                      <p:cBhvr>
                                        <p:cTn id="37" dur="1" fill="hold">
                                          <p:stCondLst>
                                            <p:cond delay="0"/>
                                          </p:stCondLst>
                                        </p:cTn>
                                        <p:tgtEl>
                                          <p:spTgt spid="8">
                                            <p:txEl>
                                              <p:pRg st="6" end="6"/>
                                            </p:txEl>
                                          </p:spTgt>
                                        </p:tgtEl>
                                        <p:attrNameLst>
                                          <p:attrName>style.visibility</p:attrName>
                                        </p:attrNameLst>
                                      </p:cBhvr>
                                      <p:to>
                                        <p:strVal val="visible"/>
                                      </p:to>
                                    </p:set>
                                    <p:animEffect transition="in" filter="fade">
                                      <p:cBhvr>
                                        <p:cTn id="38" dur="1000"/>
                                        <p:tgtEl>
                                          <p:spTgt spid="8">
                                            <p:txEl>
                                              <p:pRg st="6" end="6"/>
                                            </p:txEl>
                                          </p:spTgt>
                                        </p:tgtEl>
                                      </p:cBhvr>
                                    </p:animEffect>
                                    <p:anim calcmode="lin" valueType="num">
                                      <p:cBhvr>
                                        <p:cTn id="39" dur="1000" fill="hold"/>
                                        <p:tgtEl>
                                          <p:spTgt spid="8">
                                            <p:txEl>
                                              <p:pRg st="6" end="6"/>
                                            </p:txEl>
                                          </p:spTgt>
                                        </p:tgtEl>
                                        <p:attrNameLst>
                                          <p:attrName>ppt_x</p:attrName>
                                        </p:attrNameLst>
                                      </p:cBhvr>
                                      <p:tavLst>
                                        <p:tav tm="0">
                                          <p:val>
                                            <p:strVal val="#ppt_x"/>
                                          </p:val>
                                        </p:tav>
                                        <p:tav tm="100000">
                                          <p:val>
                                            <p:strVal val="#ppt_x"/>
                                          </p:val>
                                        </p:tav>
                                      </p:tavLst>
                                    </p:anim>
                                    <p:anim calcmode="lin" valueType="num">
                                      <p:cBhvr>
                                        <p:cTn id="40" dur="1000" fill="hold"/>
                                        <p:tgtEl>
                                          <p:spTgt spid="8">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400" b="1" dirty="0">
                <a:solidFill>
                  <a:schemeClr val="bg1"/>
                </a:solidFill>
                <a:latin typeface="Trebuchet MS" panose="020B0603020202020204" pitchFamily="34" charset="0"/>
              </a:rPr>
              <a:t>          3.2 Equivalence Calculus of First-Order Logic </a:t>
            </a:r>
            <a:r>
              <a:rPr lang="en-US" altLang="zh-CN" sz="24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2400" b="1" dirty="0">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latin typeface="Trebuchet MS" panose="020B0603020202020204" pitchFamily="34" charset="0"/>
                <a:cs typeface="Times New Roman" panose="02020603050405020304" pitchFamily="18" charset="0"/>
              </a:rPr>
              <a:t>Brief summary</a:t>
            </a:r>
            <a:endParaRPr lang="zh-CN" altLang="en-US" sz="2400" b="1" dirty="0">
              <a:latin typeface="Trebuchet MS" panose="020B0603020202020204" pitchFamily="34" charset="0"/>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8BF31B8E-C90A-43F8-8C26-F34466C89F87}"/>
              </a:ext>
            </a:extLst>
          </p:cNvPr>
          <p:cNvSpPr txBox="1">
            <a:spLocks noChangeArrowheads="1"/>
          </p:cNvSpPr>
          <p:nvPr/>
        </p:nvSpPr>
        <p:spPr>
          <a:xfrm>
            <a:off x="1403350" y="692149"/>
            <a:ext cx="8583131" cy="5582527"/>
          </a:xfrm>
          <a:prstGeom prst="rect">
            <a:avLst/>
          </a:prstGeom>
          <a:extLst>
            <a:ext uri="{91240B29-F687-4F45-9708-019B960494DF}">
              <a14:hiddenLine xmlns:a14="http://schemas.microsoft.com/office/drawing/2010/main" w="3175">
                <a:solidFill>
                  <a:srgbClr val="000000"/>
                </a:solidFill>
                <a:miter lim="800000"/>
                <a:headEnd/>
                <a:tailEnd/>
              </a14:hiddenLine>
            </a:ext>
          </a:extLst>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buFont typeface="Wingdings" panose="05000000000000000000" pitchFamily="2" charset="2"/>
              <a:buNone/>
            </a:pPr>
            <a:r>
              <a:rPr lang="en-US" altLang="zh-CN" sz="2400" b="1" dirty="0"/>
              <a:t>Objective :</a:t>
            </a:r>
          </a:p>
          <a:p>
            <a:pPr>
              <a:lnSpc>
                <a:spcPct val="150000"/>
              </a:lnSpc>
              <a:buFont typeface="Wingdings" panose="05000000000000000000" pitchFamily="2" charset="2"/>
              <a:buNone/>
            </a:pPr>
            <a:endParaRPr lang="en-US" altLang="zh-CN" sz="2400" b="1" dirty="0"/>
          </a:p>
          <a:p>
            <a:pPr>
              <a:lnSpc>
                <a:spcPct val="150000"/>
              </a:lnSpc>
              <a:buFont typeface="Wingdings" panose="05000000000000000000" pitchFamily="2" charset="2"/>
              <a:buNone/>
            </a:pPr>
            <a:endParaRPr lang="en-US" altLang="zh-CN" sz="2400" b="1" dirty="0"/>
          </a:p>
          <a:p>
            <a:pPr>
              <a:lnSpc>
                <a:spcPct val="150000"/>
              </a:lnSpc>
              <a:buNone/>
            </a:pPr>
            <a:r>
              <a:rPr lang="en-US" altLang="zh-CN" sz="2400" b="1" dirty="0"/>
              <a:t>Key Concepts </a:t>
            </a:r>
            <a:r>
              <a:rPr lang="zh-CN" altLang="en-US" sz="2400" b="1" dirty="0"/>
              <a:t>： </a:t>
            </a:r>
            <a:endParaRPr lang="en-US" altLang="zh-CN" sz="2400" b="1" dirty="0"/>
          </a:p>
          <a:p>
            <a:pPr>
              <a:lnSpc>
                <a:spcPct val="150000"/>
              </a:lnSpc>
              <a:buFont typeface="Wingdings" panose="05000000000000000000" pitchFamily="2" charset="2"/>
              <a:buNone/>
            </a:pPr>
            <a:endParaRPr lang="zh-CN" altLang="en-US" sz="2400" b="1" dirty="0"/>
          </a:p>
        </p:txBody>
      </p:sp>
    </p:spTree>
    <p:extLst>
      <p:ext uri="{BB962C8B-B14F-4D97-AF65-F5344CB8AC3E}">
        <p14:creationId xmlns:p14="http://schemas.microsoft.com/office/powerpoint/2010/main" val="506438102"/>
      </p:ext>
    </p:extLst>
  </p:cSld>
  <p:clrMapOvr>
    <a:masterClrMapping/>
  </p:clrMapOvr>
  <mc:AlternateContent xmlns:mc="http://schemas.openxmlformats.org/markup-compatibility/2006" xmlns:p14="http://schemas.microsoft.com/office/powerpoint/2010/main">
    <mc:Choice Requires="p14">
      <p:transition p14:dur="50" advTm="20"/>
    </mc:Choice>
    <mc:Fallback xmlns="">
      <p:transition advTm="20"/>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400" b="1" dirty="0">
                <a:solidFill>
                  <a:schemeClr val="bg1"/>
                </a:solidFill>
                <a:latin typeface="Trebuchet MS" panose="020B0603020202020204" pitchFamily="34" charset="0"/>
              </a:rPr>
              <a:t>          </a:t>
            </a:r>
            <a:r>
              <a:rPr lang="en-US" altLang="zh-CN" sz="2400" b="1" dirty="0">
                <a:latin typeface="Trebuchet MS" panose="020B0603020202020204" pitchFamily="34" charset="0"/>
              </a:rPr>
              <a:t>Chapter 3</a:t>
            </a:r>
            <a:r>
              <a:rPr lang="zh-CN" altLang="en-US" sz="2400" b="1" dirty="0">
                <a:latin typeface="Trebuchet MS" panose="020B0603020202020204" pitchFamily="34" charset="0"/>
              </a:rPr>
              <a:t>： </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First Order Logic</a:t>
            </a:r>
            <a:r>
              <a:rPr lang="en-US" altLang="zh-CN" sz="2400" b="1" dirty="0">
                <a:effectLst/>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2400" b="1" dirty="0">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latin typeface="Trebuchet MS" panose="020B0603020202020204" pitchFamily="34" charset="0"/>
                <a:cs typeface="Times New Roman" panose="02020603050405020304" pitchFamily="18" charset="0"/>
              </a:rPr>
              <a:t>Brief summary</a:t>
            </a:r>
            <a:endParaRPr lang="zh-CN" altLang="en-US" sz="2400" b="1" dirty="0">
              <a:latin typeface="Trebuchet MS" panose="020B0603020202020204" pitchFamily="34" charset="0"/>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8BF31B8E-C90A-43F8-8C26-F34466C89F87}"/>
              </a:ext>
            </a:extLst>
          </p:cNvPr>
          <p:cNvSpPr txBox="1">
            <a:spLocks noChangeArrowheads="1"/>
          </p:cNvSpPr>
          <p:nvPr/>
        </p:nvSpPr>
        <p:spPr>
          <a:xfrm>
            <a:off x="1403350" y="692149"/>
            <a:ext cx="8583131" cy="5582527"/>
          </a:xfrm>
          <a:prstGeom prst="rect">
            <a:avLst/>
          </a:prstGeom>
          <a:extLst>
            <a:ext uri="{91240B29-F687-4F45-9708-019B960494DF}">
              <a14:hiddenLine xmlns:a14="http://schemas.microsoft.com/office/drawing/2010/main" w="3175">
                <a:solidFill>
                  <a:srgbClr val="000000"/>
                </a:solidFill>
                <a:miter lim="800000"/>
                <a:headEnd/>
                <a:tailEnd/>
              </a14:hiddenLine>
            </a:ext>
          </a:extLst>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buFont typeface="Wingdings" panose="05000000000000000000" pitchFamily="2" charset="2"/>
              <a:buNone/>
            </a:pPr>
            <a:r>
              <a:rPr lang="en-US" altLang="zh-CN" sz="2400" b="1" dirty="0"/>
              <a:t>Objective :</a:t>
            </a:r>
          </a:p>
          <a:p>
            <a:pPr>
              <a:lnSpc>
                <a:spcPct val="150000"/>
              </a:lnSpc>
              <a:buFont typeface="Wingdings" panose="05000000000000000000" pitchFamily="2" charset="2"/>
              <a:buNone/>
            </a:pPr>
            <a:endParaRPr lang="en-US" altLang="zh-CN" sz="2400" b="1" dirty="0"/>
          </a:p>
          <a:p>
            <a:pPr>
              <a:lnSpc>
                <a:spcPct val="150000"/>
              </a:lnSpc>
              <a:buFont typeface="Wingdings" panose="05000000000000000000" pitchFamily="2" charset="2"/>
              <a:buNone/>
            </a:pPr>
            <a:endParaRPr lang="en-US" altLang="zh-CN" sz="2400" b="1" dirty="0"/>
          </a:p>
          <a:p>
            <a:pPr>
              <a:lnSpc>
                <a:spcPct val="150000"/>
              </a:lnSpc>
              <a:buNone/>
            </a:pPr>
            <a:r>
              <a:rPr lang="en-US" altLang="zh-CN" sz="2400" b="1" dirty="0"/>
              <a:t>Key Concepts </a:t>
            </a:r>
            <a:r>
              <a:rPr lang="zh-CN" altLang="en-US" sz="2400" b="1" dirty="0"/>
              <a:t>： </a:t>
            </a:r>
            <a:endParaRPr lang="en-US" altLang="zh-CN" sz="2400" b="1" dirty="0"/>
          </a:p>
          <a:p>
            <a:pPr>
              <a:lnSpc>
                <a:spcPct val="150000"/>
              </a:lnSpc>
              <a:buFont typeface="Wingdings" panose="05000000000000000000" pitchFamily="2" charset="2"/>
              <a:buNone/>
            </a:pPr>
            <a:endParaRPr lang="zh-CN" altLang="en-US" sz="2400" b="1" dirty="0"/>
          </a:p>
        </p:txBody>
      </p:sp>
    </p:spTree>
    <p:extLst>
      <p:ext uri="{BB962C8B-B14F-4D97-AF65-F5344CB8AC3E}">
        <p14:creationId xmlns:p14="http://schemas.microsoft.com/office/powerpoint/2010/main" val="3415373156"/>
      </p:ext>
    </p:extLst>
  </p:cSld>
  <p:clrMapOvr>
    <a:masterClrMapping/>
  </p:clrMapOvr>
  <mc:AlternateContent xmlns:mc="http://schemas.openxmlformats.org/markup-compatibility/2006" xmlns:p14="http://schemas.microsoft.com/office/powerpoint/2010/main">
    <mc:Choice Requires="p14">
      <p:transition p14:dur="50" advTm="20"/>
    </mc:Choice>
    <mc:Fallback xmlns="">
      <p:transition advTm="20"/>
    </mc:Fallback>
  </mc:AlternateContent>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bwMode="auto">
        <a:noFill/>
        <a:ln>
          <a:noFill/>
        </a:ln>
        <a:effectLst/>
      </a:spPr>
      <a:bodyPr>
        <a:normAutofit/>
      </a:bodyPr>
      <a:lstStyle>
        <a:defPPr algn="l">
          <a:defRPr i="1" smtClean="0">
            <a:solidFill>
              <a:srgbClr val="000000"/>
            </a:solidFill>
            <a:latin typeface="Cambria Math" panose="02040503050406030204" pitchFamily="18"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9924</TotalTime>
  <Words>12494</Words>
  <Application>Microsoft Office PowerPoint</Application>
  <PresentationFormat>宽屏</PresentationFormat>
  <Paragraphs>879</Paragraphs>
  <Slides>52</Slides>
  <Notes>52</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1</vt:i4>
      </vt:variant>
      <vt:variant>
        <vt:lpstr>幻灯片标题</vt:lpstr>
      </vt:variant>
      <vt:variant>
        <vt:i4>52</vt:i4>
      </vt:variant>
    </vt:vector>
  </HeadingPairs>
  <TitlesOfParts>
    <vt:vector size="64" baseType="lpstr">
      <vt:lpstr>等线</vt:lpstr>
      <vt:lpstr>宋体</vt:lpstr>
      <vt:lpstr>Söhne</vt:lpstr>
      <vt:lpstr>Arial</vt:lpstr>
      <vt:lpstr>Calibri</vt:lpstr>
      <vt:lpstr>Calibri Light</vt:lpstr>
      <vt:lpstr>Cambria Math</vt:lpstr>
      <vt:lpstr>Times New Roman</vt:lpstr>
      <vt:lpstr>Trebuchet MS</vt:lpstr>
      <vt:lpstr>Wingdings</vt:lpstr>
      <vt:lpstr>Office 主题</vt:lpstr>
      <vt:lpstr>Visio</vt:lpstr>
      <vt:lpstr> Discrete Mathematics 2025 Spring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 Discrete Mathematics 2025 Spring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dc:title>
  <dc:creator>kejiw</dc:creator>
  <cp:keywords>2025</cp:keywords>
  <cp:lastModifiedBy>keji</cp:lastModifiedBy>
  <cp:revision>724</cp:revision>
  <dcterms:created xsi:type="dcterms:W3CDTF">2017-07-24T02:14:00Z</dcterms:created>
  <dcterms:modified xsi:type="dcterms:W3CDTF">2025-03-25T04:32:12Z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2052-11.1.0.11365</vt:lpwstr>
  </property>
  <property fmtid="{D5CDD505-2E9C-101B-9397-08002B2CF9AE}" pid="3" name="ICV">
    <vt:lpwstr>73C6946277D1426C8BB6322F8B832BA4</vt:lpwstr>
  </property>
</Properties>
</file>