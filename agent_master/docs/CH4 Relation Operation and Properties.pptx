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heme/themeOverride1.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1"/>
  </p:notesMasterIdLst>
  <p:sldIdLst>
    <p:sldId id="671" r:id="rId2"/>
    <p:sldId id="265" r:id="rId3"/>
    <p:sldId id="578" r:id="rId4"/>
    <p:sldId id="579" r:id="rId5"/>
    <p:sldId id="580" r:id="rId6"/>
    <p:sldId id="581" r:id="rId7"/>
    <p:sldId id="582" r:id="rId8"/>
    <p:sldId id="583" r:id="rId9"/>
    <p:sldId id="584" r:id="rId10"/>
    <p:sldId id="585" r:id="rId11"/>
    <p:sldId id="586" r:id="rId12"/>
    <p:sldId id="588" r:id="rId13"/>
    <p:sldId id="607" r:id="rId14"/>
    <p:sldId id="672" r:id="rId15"/>
    <p:sldId id="587" r:id="rId16"/>
    <p:sldId id="675" r:id="rId17"/>
    <p:sldId id="504" r:id="rId18"/>
    <p:sldId id="703" r:id="rId19"/>
    <p:sldId id="702" r:id="rId20"/>
    <p:sldId id="591" r:id="rId21"/>
    <p:sldId id="592" r:id="rId22"/>
    <p:sldId id="543" r:id="rId23"/>
    <p:sldId id="544" r:id="rId24"/>
    <p:sldId id="593" r:id="rId25"/>
    <p:sldId id="594" r:id="rId26"/>
    <p:sldId id="676" r:id="rId27"/>
    <p:sldId id="596" r:id="rId28"/>
    <p:sldId id="597" r:id="rId29"/>
    <p:sldId id="598" r:id="rId30"/>
    <p:sldId id="677" r:id="rId31"/>
    <p:sldId id="600" r:id="rId32"/>
    <p:sldId id="601" r:id="rId33"/>
    <p:sldId id="602" r:id="rId34"/>
    <p:sldId id="679" r:id="rId35"/>
    <p:sldId id="604" r:id="rId36"/>
    <p:sldId id="608" r:id="rId37"/>
    <p:sldId id="681" r:id="rId38"/>
    <p:sldId id="682" r:id="rId39"/>
    <p:sldId id="683" r:id="rId40"/>
    <p:sldId id="684" r:id="rId41"/>
    <p:sldId id="657" r:id="rId42"/>
    <p:sldId id="658" r:id="rId43"/>
    <p:sldId id="686" r:id="rId44"/>
    <p:sldId id="659" r:id="rId45"/>
    <p:sldId id="689" r:id="rId46"/>
    <p:sldId id="690" r:id="rId47"/>
    <p:sldId id="660" r:id="rId48"/>
    <p:sldId id="692" r:id="rId49"/>
    <p:sldId id="661" r:id="rId50"/>
    <p:sldId id="662" r:id="rId51"/>
    <p:sldId id="663" r:id="rId52"/>
    <p:sldId id="664" r:id="rId53"/>
    <p:sldId id="614" r:id="rId54"/>
    <p:sldId id="695" r:id="rId55"/>
    <p:sldId id="696" r:id="rId56"/>
    <p:sldId id="616" r:id="rId57"/>
    <p:sldId id="617" r:id="rId58"/>
    <p:sldId id="698" r:id="rId59"/>
    <p:sldId id="667" r:id="rId60"/>
    <p:sldId id="668" r:id="rId61"/>
    <p:sldId id="700" r:id="rId62"/>
    <p:sldId id="618" r:id="rId63"/>
    <p:sldId id="619" r:id="rId64"/>
    <p:sldId id="620" r:id="rId65"/>
    <p:sldId id="621" r:id="rId66"/>
    <p:sldId id="622" r:id="rId67"/>
    <p:sldId id="623" r:id="rId68"/>
    <p:sldId id="624" r:id="rId69"/>
    <p:sldId id="625" r:id="rId70"/>
    <p:sldId id="626" r:id="rId71"/>
    <p:sldId id="701" r:id="rId72"/>
    <p:sldId id="725" r:id="rId73"/>
    <p:sldId id="611" r:id="rId74"/>
    <p:sldId id="612" r:id="rId75"/>
    <p:sldId id="613" r:id="rId76"/>
    <p:sldId id="726" r:id="rId77"/>
    <p:sldId id="727" r:id="rId78"/>
    <p:sldId id="707" r:id="rId79"/>
    <p:sldId id="728" r:id="rId80"/>
    <p:sldId id="708" r:id="rId81"/>
    <p:sldId id="729" r:id="rId82"/>
    <p:sldId id="730" r:id="rId83"/>
    <p:sldId id="731" r:id="rId84"/>
    <p:sldId id="732" r:id="rId85"/>
    <p:sldId id="733" r:id="rId86"/>
    <p:sldId id="710" r:id="rId87"/>
    <p:sldId id="734" r:id="rId88"/>
    <p:sldId id="735" r:id="rId89"/>
    <p:sldId id="736" r:id="rId90"/>
    <p:sldId id="737" r:id="rId91"/>
    <p:sldId id="711" r:id="rId92"/>
    <p:sldId id="738" r:id="rId93"/>
    <p:sldId id="739" r:id="rId94"/>
    <p:sldId id="713" r:id="rId95"/>
    <p:sldId id="714" r:id="rId96"/>
    <p:sldId id="740" r:id="rId97"/>
    <p:sldId id="716" r:id="rId98"/>
    <p:sldId id="741" r:id="rId99"/>
    <p:sldId id="742" r:id="rId100"/>
    <p:sldId id="743" r:id="rId101"/>
    <p:sldId id="744" r:id="rId102"/>
    <p:sldId id="719" r:id="rId103"/>
    <p:sldId id="745" r:id="rId104"/>
    <p:sldId id="746" r:id="rId105"/>
    <p:sldId id="747" r:id="rId106"/>
    <p:sldId id="748" r:id="rId107"/>
    <p:sldId id="749" r:id="rId108"/>
    <p:sldId id="750" r:id="rId109"/>
    <p:sldId id="751" r:id="rId11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ji" initials="k" lastIdx="1" clrIdx="0">
    <p:extLst>
      <p:ext uri="{19B8F6BF-5375-455C-9EA6-DF929625EA0E}">
        <p15:presenceInfo xmlns:p15="http://schemas.microsoft.com/office/powerpoint/2012/main" userId="08211541b2d093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BFF"/>
    <a:srgbClr val="BDD7EE"/>
    <a:srgbClr val="DEDAF8"/>
    <a:srgbClr val="CFA57C"/>
    <a:srgbClr val="002F7C"/>
    <a:srgbClr val="104AA8"/>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57039" autoAdjust="0"/>
  </p:normalViewPr>
  <p:slideViewPr>
    <p:cSldViewPr snapToGrid="0" showGuides="1">
      <p:cViewPr varScale="1">
        <p:scale>
          <a:sx n="63" d="100"/>
          <a:sy n="63" d="100"/>
        </p:scale>
        <p:origin x="2724" y="72"/>
      </p:cViewPr>
      <p:guideLst>
        <p:guide orient="horz" pos="2032"/>
        <p:guide pos="3798"/>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ommentAuthors" Target="commentAuthor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zh.wikipedia.org/wiki/%E5%AD%90%E9%9B%86" TargetMode="External"/><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3" Type="http://schemas.openxmlformats.org/officeDocument/2006/relationships/hyperlink" Target="https://zh.wikipedia.org/wiki/%E5%AD%90%E9%9B%86" TargetMode="External"/><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524000" eaLnBrk="1" hangingPunct="1">
              <a:spcBef>
                <a:spcPct val="50000"/>
              </a:spcBef>
              <a:buNone/>
            </a:pPr>
            <a:r>
              <a:rPr lang="en-US" altLang="zh-CN" b="1" dirty="0">
                <a:solidFill>
                  <a:srgbClr val="FF0000"/>
                </a:solidFill>
              </a:rPr>
              <a:t>4.1 </a:t>
            </a:r>
            <a:r>
              <a:rPr lang="zh-CN" altLang="en-US" b="1" dirty="0">
                <a:solidFill>
                  <a:srgbClr val="FF0000"/>
                </a:solidFill>
              </a:rPr>
              <a:t>关系的定义及其表示</a:t>
            </a:r>
            <a:endParaRPr lang="en-US" altLang="zh-CN" b="1" dirty="0">
              <a:solidFill>
                <a:srgbClr val="FF0000"/>
              </a:solidFill>
            </a:endParaRPr>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4.2 </a:t>
            </a:r>
            <a:r>
              <a:rPr lang="zh-CN" altLang="en-US" b="1" dirty="0"/>
              <a:t>关系运算</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4.3 </a:t>
            </a:r>
            <a:r>
              <a:rPr lang="zh-CN" altLang="en-US" b="1" dirty="0"/>
              <a:t>关系的性质</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4.4 </a:t>
            </a:r>
            <a:r>
              <a:rPr lang="zh-CN" altLang="en-US" b="1" dirty="0"/>
              <a:t>等价关系与偏序关系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252538" eaLnBrk="1" hangingPunct="1">
              <a:spcBef>
                <a:spcPct val="60000"/>
              </a:spcBef>
              <a:buNone/>
            </a:pPr>
            <a:r>
              <a:rPr lang="en-US" altLang="zh-CN" b="1" dirty="0">
                <a:solidFill>
                  <a:srgbClr val="FF0000"/>
                </a:solidFill>
              </a:rPr>
              <a:t>4.1.1 </a:t>
            </a:r>
            <a:r>
              <a:rPr lang="zh-CN" altLang="en-US" b="1" dirty="0">
                <a:solidFill>
                  <a:srgbClr val="FF0000"/>
                </a:solidFill>
              </a:rPr>
              <a:t>有序对与笛卡儿积</a:t>
            </a:r>
            <a:endParaRPr lang="en-US" altLang="zh-CN" b="1" dirty="0">
              <a:solidFill>
                <a:srgbClr val="FF0000"/>
              </a:solidFill>
            </a:endParaRPr>
          </a:p>
          <a:p>
            <a:pPr marL="0" indent="1252538" eaLnBrk="1" hangingPunct="1">
              <a:spcBef>
                <a:spcPct val="60000"/>
              </a:spcBef>
              <a:buNone/>
            </a:pPr>
            <a:endParaRPr lang="zh-CN" altLang="en-US" b="1" dirty="0"/>
          </a:p>
          <a:p>
            <a:pPr marL="0" indent="1252538" eaLnBrk="1" hangingPunct="1">
              <a:spcBef>
                <a:spcPct val="60000"/>
              </a:spcBef>
              <a:buNone/>
            </a:pPr>
            <a:r>
              <a:rPr lang="en-US" altLang="zh-CN" b="1" dirty="0"/>
              <a:t>4.1.2 </a:t>
            </a:r>
            <a:r>
              <a:rPr lang="zh-CN" altLang="en-US" b="1" dirty="0"/>
              <a:t>二元关系的定义</a:t>
            </a:r>
            <a:endParaRPr lang="en-US" altLang="zh-CN" b="1" dirty="0"/>
          </a:p>
          <a:p>
            <a:pPr marL="0" indent="1252538" eaLnBrk="1" hangingPunct="1">
              <a:spcBef>
                <a:spcPct val="60000"/>
              </a:spcBef>
              <a:buNone/>
            </a:pPr>
            <a:endParaRPr lang="zh-CN" altLang="en-US" b="1" dirty="0"/>
          </a:p>
          <a:p>
            <a:pPr marL="0" indent="1252538" eaLnBrk="1" hangingPunct="1">
              <a:spcBef>
                <a:spcPct val="60000"/>
              </a:spcBef>
              <a:buNone/>
            </a:pPr>
            <a:r>
              <a:rPr lang="en-US" altLang="zh-CN" b="1" dirty="0"/>
              <a:t>4.1.3 </a:t>
            </a:r>
            <a:r>
              <a:rPr lang="zh-CN" altLang="en-US" b="1" dirty="0"/>
              <a:t>二元关系的表示</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11200" indent="-711200" eaLnBrk="1" hangingPunct="1">
              <a:buFontTx/>
              <a:buNone/>
            </a:pPr>
            <a:r>
              <a:rPr lang="zh-CN" altLang="en-US" sz="1200" b="1" dirty="0">
                <a:solidFill>
                  <a:srgbClr val="FF0000"/>
                </a:solidFill>
              </a:rPr>
              <a:t>定义</a:t>
            </a:r>
            <a:r>
              <a:rPr lang="en-US" altLang="zh-CN" sz="1200" b="1" dirty="0">
                <a:solidFill>
                  <a:srgbClr val="FF0000"/>
                </a:solidFill>
              </a:rPr>
              <a:t>4.1</a:t>
            </a:r>
            <a:r>
              <a:rPr lang="en-US" altLang="zh-CN" sz="1200" b="1" dirty="0">
                <a:solidFill>
                  <a:schemeClr val="tx2"/>
                </a:solidFill>
              </a:rPr>
              <a:t>  </a:t>
            </a:r>
            <a:r>
              <a:rPr lang="zh-CN" altLang="en-US" sz="1200" b="1" dirty="0"/>
              <a:t>由两个元素</a:t>
            </a:r>
            <a:r>
              <a:rPr lang="en-US" altLang="zh-CN" sz="1200" b="1" i="1" dirty="0"/>
              <a:t>x</a:t>
            </a:r>
            <a:r>
              <a:rPr lang="zh-CN" altLang="en-US" sz="1200" b="1" dirty="0"/>
              <a:t>和</a:t>
            </a:r>
            <a:r>
              <a:rPr lang="en-US" altLang="zh-CN" sz="1200" b="1" i="1" dirty="0"/>
              <a:t>y</a:t>
            </a:r>
            <a:r>
              <a:rPr lang="zh-CN" altLang="en-US" sz="1200" b="1" dirty="0"/>
              <a:t>按照一定的顺序</a:t>
            </a:r>
          </a:p>
          <a:p>
            <a:pPr marL="711200" indent="-711200" eaLnBrk="1" hangingPunct="1">
              <a:buFontTx/>
              <a:buNone/>
            </a:pPr>
            <a:r>
              <a:rPr lang="zh-CN" altLang="en-US" sz="1200" b="1" dirty="0"/>
              <a:t>组成的二元组称为</a:t>
            </a:r>
            <a:r>
              <a:rPr lang="zh-CN" altLang="en-US" sz="1200" b="1" dirty="0">
                <a:solidFill>
                  <a:srgbClr val="FF0000"/>
                </a:solidFill>
              </a:rPr>
              <a:t>有序对（序偶）</a:t>
            </a:r>
            <a:r>
              <a:rPr lang="zh-CN" altLang="en-US" sz="1200" b="1" dirty="0"/>
              <a:t>，记作 </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p>
          <a:p>
            <a:pPr marL="711200" indent="-711200" eaLnBrk="1" hangingPunct="1">
              <a:buFontTx/>
              <a:buNone/>
            </a:pPr>
            <a:r>
              <a:rPr lang="zh-CN" altLang="en-US" sz="1200" b="1" dirty="0">
                <a:solidFill>
                  <a:srgbClr val="00B0F0"/>
                </a:solidFill>
              </a:rPr>
              <a:t>实例：</a:t>
            </a:r>
            <a:r>
              <a:rPr lang="zh-CN" altLang="en-US" sz="1200" b="1" dirty="0"/>
              <a:t>点的直角坐标 </a:t>
            </a:r>
            <a:r>
              <a:rPr lang="en-US" altLang="zh-CN" sz="1200" b="1" dirty="0"/>
              <a:t>(3,</a:t>
            </a:r>
            <a:r>
              <a:rPr lang="en-US" altLang="zh-CN" sz="1200" b="1" dirty="0">
                <a:sym typeface="Symbol" panose="05050102010706020507" pitchFamily="18" charset="2"/>
              </a:rPr>
              <a:t></a:t>
            </a:r>
            <a:r>
              <a:rPr lang="en-US" altLang="zh-CN" sz="1200" b="1" dirty="0"/>
              <a:t>4) </a:t>
            </a:r>
          </a:p>
          <a:p>
            <a:pPr marL="711200" indent="-711200" eaLnBrk="1" hangingPunct="1">
              <a:spcBef>
                <a:spcPct val="60000"/>
              </a:spcBef>
              <a:buFontTx/>
              <a:buNone/>
            </a:pPr>
            <a:r>
              <a:rPr lang="zh-CN" altLang="en-US" sz="1200" b="1" dirty="0"/>
              <a:t>有序对的性质</a:t>
            </a:r>
          </a:p>
          <a:p>
            <a:pPr marL="711200" indent="-711200" eaLnBrk="1" hangingPunct="1">
              <a:buFontTx/>
              <a:buNone/>
            </a:pPr>
            <a:r>
              <a:rPr lang="zh-CN" altLang="en-US" sz="1200" b="1" dirty="0"/>
              <a:t>    有序性  </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dirty="0"/>
              <a:t>&lt;</a:t>
            </a:r>
            <a:r>
              <a:rPr lang="en-US" altLang="zh-CN" sz="1200" b="1" i="1" dirty="0" err="1"/>
              <a:t>y,x</a:t>
            </a:r>
            <a:r>
              <a:rPr lang="en-US" altLang="zh-CN" sz="1200" b="1" dirty="0"/>
              <a:t>&gt; </a:t>
            </a:r>
            <a:r>
              <a:rPr lang="zh-CN" altLang="en-US" sz="1200" b="1" dirty="0"/>
              <a:t>（当</a:t>
            </a:r>
            <a:r>
              <a:rPr lang="en-US" altLang="zh-CN" sz="1200" b="1" i="1" dirty="0"/>
              <a:t>x</a:t>
            </a:r>
            <a:r>
              <a:rPr lang="en-US" altLang="zh-CN" sz="1200" b="1" i="1" dirty="0">
                <a:sym typeface="Symbol" panose="05050102010706020507" pitchFamily="18" charset="2"/>
              </a:rPr>
              <a:t> </a:t>
            </a:r>
            <a:r>
              <a:rPr lang="en-US" altLang="zh-CN" sz="1200" b="1" i="1" dirty="0"/>
              <a:t>y</a:t>
            </a:r>
            <a:r>
              <a:rPr lang="zh-CN" altLang="en-US" sz="1200" b="1" dirty="0"/>
              <a:t>时）  </a:t>
            </a:r>
          </a:p>
          <a:p>
            <a:pPr marL="711200" indent="-711200" eaLnBrk="1" hangingPunct="1">
              <a:buFontTx/>
              <a:buNone/>
            </a:pPr>
            <a:r>
              <a:rPr lang="zh-CN" altLang="en-US" sz="1200" b="1" dirty="0"/>
              <a:t>     </a:t>
            </a:r>
            <a:r>
              <a:rPr lang="en-US" altLang="zh-CN" sz="1200" b="1" dirty="0"/>
              <a:t>&lt;</a:t>
            </a:r>
            <a:r>
              <a:rPr lang="en-US" altLang="zh-CN" sz="1200" b="1" i="1" dirty="0" err="1"/>
              <a:t>x,y</a:t>
            </a:r>
            <a:r>
              <a:rPr lang="en-US" altLang="zh-CN" sz="1200" b="1" dirty="0"/>
              <a:t>&gt;</a:t>
            </a:r>
            <a:r>
              <a:rPr lang="zh-CN" altLang="en-US" sz="1200" b="1" dirty="0"/>
              <a:t>与</a:t>
            </a:r>
            <a:r>
              <a:rPr lang="en-US" altLang="zh-CN" sz="1200" b="1" dirty="0"/>
              <a:t>&lt;</a:t>
            </a:r>
            <a:r>
              <a:rPr lang="en-US" altLang="zh-CN" sz="1200" b="1" i="1" dirty="0" err="1"/>
              <a:t>u,v</a:t>
            </a:r>
            <a:r>
              <a:rPr lang="en-US" altLang="zh-CN" sz="1200" b="1" dirty="0"/>
              <a:t>&gt;</a:t>
            </a:r>
            <a:r>
              <a:rPr lang="zh-CN" altLang="en-US" sz="1200" b="1" dirty="0"/>
              <a:t>相等的充分必要条件是</a:t>
            </a:r>
          </a:p>
          <a:p>
            <a:pPr marL="711200" indent="-711200" eaLnBrk="1" hangingPunct="1">
              <a:buFontTx/>
              <a:buNone/>
            </a:pPr>
            <a:r>
              <a:rPr lang="zh-CN" altLang="en-US" sz="1200" b="1" dirty="0"/>
              <a:t>               </a:t>
            </a:r>
            <a:r>
              <a:rPr lang="en-US" altLang="zh-CN" sz="1200" b="1" dirty="0"/>
              <a:t>&lt;</a:t>
            </a:r>
            <a:r>
              <a:rPr lang="en-US" altLang="zh-CN" sz="1200" b="1" i="1" dirty="0" err="1"/>
              <a:t>x,y</a:t>
            </a:r>
            <a:r>
              <a:rPr lang="en-US" altLang="zh-CN" sz="1200" b="1" dirty="0"/>
              <a:t>&gt;=&lt;</a:t>
            </a:r>
            <a:r>
              <a:rPr lang="en-US" altLang="zh-CN" sz="1200" b="1" i="1" dirty="0" err="1"/>
              <a:t>u,v</a:t>
            </a:r>
            <a:r>
              <a:rPr lang="en-US" altLang="zh-CN" sz="1200" b="1" dirty="0"/>
              <a:t>&gt; </a:t>
            </a:r>
            <a:r>
              <a:rPr lang="en-US" altLang="zh-CN" sz="1200" b="1" dirty="0">
                <a:sym typeface="Symbol" panose="05050102010706020507" pitchFamily="18" charset="2"/>
              </a:rPr>
              <a:t> </a:t>
            </a:r>
            <a:r>
              <a:rPr lang="en-US" altLang="zh-CN" sz="1200" b="1" i="1" dirty="0"/>
              <a:t>x=u </a:t>
            </a:r>
            <a:r>
              <a:rPr lang="en-US" altLang="zh-CN" sz="1200" b="1" dirty="0">
                <a:sym typeface="Symbol" panose="05050102010706020507" pitchFamily="18" charset="2"/>
              </a:rPr>
              <a:t> </a:t>
            </a:r>
            <a:r>
              <a:rPr lang="en-US" altLang="zh-CN" sz="1200" b="1" i="1" dirty="0"/>
              <a:t>y=v</a:t>
            </a:r>
          </a:p>
          <a:p>
            <a:pPr marL="711200" indent="-711200" eaLnBrk="1" hangingPunct="1">
              <a:spcBef>
                <a:spcPct val="60000"/>
              </a:spcBef>
              <a:buFontTx/>
              <a:buNone/>
            </a:pPr>
            <a:r>
              <a:rPr lang="zh-CN" altLang="en-US" sz="1200" b="1" dirty="0">
                <a:solidFill>
                  <a:srgbClr val="00B0F0"/>
                </a:solidFill>
              </a:rPr>
              <a:t>例</a:t>
            </a:r>
            <a:r>
              <a:rPr lang="en-US" altLang="zh-CN" sz="1200" b="1" dirty="0">
                <a:solidFill>
                  <a:srgbClr val="00B0F0"/>
                </a:solidFill>
              </a:rPr>
              <a:t>1  </a:t>
            </a:r>
            <a:r>
              <a:rPr lang="en-US" altLang="zh-CN" sz="1200" b="1" dirty="0"/>
              <a:t>&lt;2,</a:t>
            </a:r>
            <a:r>
              <a:rPr lang="en-US" altLang="zh-CN" sz="1200" b="1" i="1" dirty="0"/>
              <a:t>x</a:t>
            </a:r>
            <a:r>
              <a:rPr lang="en-US" altLang="zh-CN" sz="1200" b="1" dirty="0"/>
              <a:t>+5&gt;=&lt;3</a:t>
            </a:r>
            <a:r>
              <a:rPr lang="en-US" altLang="zh-CN" sz="1200" b="1" i="1" dirty="0"/>
              <a:t>y</a:t>
            </a:r>
            <a:r>
              <a:rPr lang="en-US" altLang="zh-CN" sz="1200" b="1" dirty="0">
                <a:sym typeface="Symbol" panose="05050102010706020507" pitchFamily="18" charset="2"/>
              </a:rPr>
              <a:t></a:t>
            </a:r>
            <a:r>
              <a:rPr lang="en-US" altLang="zh-CN" sz="1200" b="1" dirty="0"/>
              <a:t>4,</a:t>
            </a:r>
            <a:r>
              <a:rPr lang="en-US" altLang="zh-CN" sz="1200" b="1" i="1" dirty="0"/>
              <a:t>y</a:t>
            </a:r>
            <a:r>
              <a:rPr lang="en-US" altLang="zh-CN" sz="1200" b="1" dirty="0"/>
              <a:t>&gt;</a:t>
            </a:r>
            <a:r>
              <a:rPr lang="zh-CN" altLang="en-US" sz="1200" b="1" dirty="0"/>
              <a:t>，求 </a:t>
            </a:r>
            <a:r>
              <a:rPr lang="en-US" altLang="zh-CN" sz="1200" b="1" i="1" dirty="0"/>
              <a:t>x, y</a:t>
            </a:r>
            <a:r>
              <a:rPr lang="en-US" altLang="zh-CN" sz="1200" b="1" dirty="0"/>
              <a:t>. </a:t>
            </a:r>
          </a:p>
          <a:p>
            <a:pPr marL="711200" indent="-711200" eaLnBrk="1" hangingPunct="1">
              <a:buFontTx/>
              <a:buNone/>
            </a:pPr>
            <a:r>
              <a:rPr lang="zh-CN" altLang="en-US" sz="1200" b="1" dirty="0"/>
              <a:t>解    </a:t>
            </a:r>
            <a:r>
              <a:rPr lang="en-US" altLang="zh-CN" sz="1200" b="1" dirty="0"/>
              <a:t>3</a:t>
            </a:r>
            <a:r>
              <a:rPr lang="en-US" altLang="zh-CN" sz="1200" b="1" i="1" dirty="0"/>
              <a:t>y</a:t>
            </a:r>
            <a:r>
              <a:rPr lang="en-US" altLang="zh-CN" sz="1200" b="1" dirty="0">
                <a:sym typeface="Symbol" panose="05050102010706020507" pitchFamily="18" charset="2"/>
              </a:rPr>
              <a:t></a:t>
            </a:r>
            <a:r>
              <a:rPr lang="en-US" altLang="zh-CN" sz="1200" b="1" dirty="0"/>
              <a:t>4=2, </a:t>
            </a:r>
            <a:r>
              <a:rPr lang="en-US" altLang="zh-CN" sz="1200" b="1" i="1" dirty="0"/>
              <a:t>x</a:t>
            </a:r>
            <a:r>
              <a:rPr lang="en-US" altLang="zh-CN" sz="1200" b="1" dirty="0"/>
              <a:t>+5=</a:t>
            </a:r>
            <a:r>
              <a:rPr lang="en-US" altLang="zh-CN" sz="1200" b="1" i="1" dirty="0"/>
              <a:t>y</a:t>
            </a:r>
            <a:r>
              <a:rPr lang="en-US" altLang="zh-CN" sz="1200" b="1" dirty="0"/>
              <a:t> </a:t>
            </a:r>
            <a:r>
              <a:rPr lang="en-US" altLang="zh-CN" sz="1200" b="1" dirty="0">
                <a:sym typeface="Symbol" panose="05050102010706020507" pitchFamily="18" charset="2"/>
              </a:rPr>
              <a:t> </a:t>
            </a:r>
            <a:r>
              <a:rPr lang="en-US" altLang="zh-CN" sz="1200" b="1" i="1" dirty="0">
                <a:sym typeface="Symbol" panose="05050102010706020507" pitchFamily="18" charset="2"/>
              </a:rPr>
              <a:t>y</a:t>
            </a:r>
            <a:r>
              <a:rPr lang="en-US" altLang="zh-CN" sz="1200" b="1" dirty="0">
                <a:sym typeface="Symbol" panose="05050102010706020507" pitchFamily="18" charset="2"/>
              </a:rPr>
              <a:t>=2, </a:t>
            </a:r>
            <a:r>
              <a:rPr lang="en-US" altLang="zh-CN" sz="1200" b="1" i="1" dirty="0">
                <a:sym typeface="Symbol" panose="05050102010706020507" pitchFamily="18" charset="2"/>
              </a:rPr>
              <a:t>x</a:t>
            </a:r>
            <a:r>
              <a:rPr lang="en-US" altLang="zh-CN" sz="1200" b="1" dirty="0">
                <a:sym typeface="Symbol" panose="05050102010706020507" pitchFamily="18" charset="2"/>
              </a:rPr>
              <a:t>= 3 </a:t>
            </a:r>
            <a:r>
              <a:rPr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1674465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KaTeX_AMS"/>
              </a:rPr>
              <a:t>∅</a:t>
            </a:r>
            <a:r>
              <a:rPr lang="zh-CN" altLang="en-US" b="0" i="0" dirty="0">
                <a:solidFill>
                  <a:srgbClr val="374151"/>
                </a:solidFill>
                <a:effectLst/>
                <a:latin typeface="Söhne"/>
              </a:rPr>
              <a:t> 是一个完全空的集合，而 </a:t>
            </a:r>
            <a:r>
              <a:rPr lang="en-US" altLang="zh-CN" b="0" i="0" dirty="0">
                <a:solidFill>
                  <a:srgbClr val="374151"/>
                </a:solidFill>
                <a:effectLst/>
                <a:latin typeface="KaTeX_Main"/>
              </a:rPr>
              <a:t>{</a:t>
            </a:r>
            <a:r>
              <a:rPr lang="zh-CN" altLang="en-US" b="0" i="0" dirty="0">
                <a:solidFill>
                  <a:srgbClr val="374151"/>
                </a:solidFill>
                <a:effectLst/>
                <a:latin typeface="KaTeX_AMS"/>
              </a:rPr>
              <a:t>∅</a:t>
            </a:r>
            <a:r>
              <a:rPr lang="en-US" altLang="zh-CN" b="0" i="0" dirty="0">
                <a:solidFill>
                  <a:srgbClr val="374151"/>
                </a:solidFill>
                <a:effectLst/>
                <a:latin typeface="KaTeX_Main"/>
              </a:rPr>
              <a:t>}</a:t>
            </a:r>
            <a:r>
              <a:rPr lang="zh-CN" altLang="en-US" b="0" i="0" dirty="0">
                <a:solidFill>
                  <a:srgbClr val="374151"/>
                </a:solidFill>
                <a:effectLst/>
                <a:latin typeface="Söhne"/>
              </a:rPr>
              <a:t> 是一个包含一个元素（即空集）的集合。</a:t>
            </a:r>
            <a:endParaRPr lang="en-US" altLang="zh-CN" b="0" i="0" dirty="0">
              <a:solidFill>
                <a:srgbClr val="374151"/>
              </a:solidFill>
              <a:effectLst/>
              <a:latin typeface="Söhne"/>
            </a:endParaRPr>
          </a:p>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4.2</a:t>
            </a:r>
            <a:r>
              <a:rPr kumimoji="0" lang="en-US" altLang="zh-CN" sz="1200" b="1" dirty="0"/>
              <a:t>   </a:t>
            </a:r>
            <a:r>
              <a:rPr kumimoji="0" lang="zh-CN" altLang="en-US" sz="1200" b="1" dirty="0"/>
              <a:t>设</a:t>
            </a:r>
            <a:r>
              <a:rPr kumimoji="0" lang="en-US" altLang="zh-CN" sz="1200" b="1" i="1" dirty="0"/>
              <a:t>A</a:t>
            </a:r>
            <a:r>
              <a:rPr kumimoji="0" lang="en-US" altLang="zh-CN" sz="1200" b="1" dirty="0"/>
              <a:t>, </a:t>
            </a:r>
            <a:r>
              <a:rPr kumimoji="0" lang="en-US" altLang="zh-CN" sz="1200" b="1" i="1" dirty="0"/>
              <a:t>B</a:t>
            </a:r>
            <a:r>
              <a:rPr kumimoji="0" lang="zh-CN" altLang="en-US" sz="1200" b="1" dirty="0"/>
              <a:t>为集合，</a:t>
            </a:r>
            <a:r>
              <a:rPr kumimoji="0" lang="en-US" altLang="zh-CN" sz="1200" b="1" i="1" dirty="0"/>
              <a:t>A</a:t>
            </a:r>
            <a:r>
              <a:rPr kumimoji="0" lang="zh-CN" altLang="en-US" sz="1200" b="1" dirty="0"/>
              <a:t>与</a:t>
            </a:r>
            <a:r>
              <a:rPr kumimoji="0" lang="en-US" altLang="zh-CN" sz="1200" b="1" i="1" dirty="0"/>
              <a:t>B </a:t>
            </a:r>
            <a:r>
              <a:rPr kumimoji="0" lang="zh-CN" altLang="en-US" sz="1200" b="1" dirty="0"/>
              <a:t>的</a:t>
            </a:r>
            <a:r>
              <a:rPr kumimoji="0" lang="zh-CN" altLang="en-US" sz="1200" b="1" dirty="0">
                <a:solidFill>
                  <a:srgbClr val="FF0000"/>
                </a:solidFill>
              </a:rPr>
              <a:t>笛卡儿积</a:t>
            </a:r>
            <a:r>
              <a:rPr kumimoji="0" lang="zh-CN" altLang="en-US" sz="1200" b="1" dirty="0"/>
              <a:t>记作</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a:t>
            </a:r>
          </a:p>
          <a:p>
            <a:pPr eaLnBrk="1" hangingPunct="1">
              <a:lnSpc>
                <a:spcPct val="120000"/>
              </a:lnSpc>
              <a:spcBef>
                <a:spcPct val="0"/>
              </a:spcBef>
              <a:buFontTx/>
              <a:buNone/>
            </a:pPr>
            <a:r>
              <a:rPr kumimoji="0" lang="zh-CN" altLang="en-US" sz="1200" b="1" dirty="0"/>
              <a:t>                </a:t>
            </a:r>
            <a:r>
              <a:rPr kumimoji="0" lang="en-US" altLang="zh-CN" sz="1200" b="1" i="1" dirty="0"/>
              <a:t>A</a:t>
            </a:r>
            <a:r>
              <a:rPr kumimoji="0" lang="en-US" altLang="zh-CN" sz="1200" b="1" dirty="0">
                <a:sym typeface="Symbol" panose="05050102010706020507" pitchFamily="18" charset="2"/>
              </a:rPr>
              <a:t></a:t>
            </a:r>
            <a:r>
              <a:rPr kumimoji="0" lang="en-US" altLang="zh-CN" sz="1200" b="1" i="1" dirty="0"/>
              <a:t>B </a:t>
            </a:r>
            <a:r>
              <a:rPr kumimoji="0" lang="en-US" altLang="zh-CN" sz="1200" b="1" dirty="0"/>
              <a:t>= {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 </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A</a:t>
            </a:r>
            <a:r>
              <a:rPr kumimoji="0" lang="en-US" altLang="zh-CN" sz="1200" b="1" i="1" dirty="0"/>
              <a:t> </a:t>
            </a:r>
            <a:r>
              <a:rPr kumimoji="0" lang="en-US" altLang="zh-CN" sz="1200" b="1" dirty="0">
                <a:sym typeface="Symbol" panose="05050102010706020507" pitchFamily="18" charset="2"/>
              </a:rPr>
              <a:t> </a:t>
            </a:r>
            <a:r>
              <a:rPr kumimoji="0" lang="en-US" altLang="zh-CN" sz="1200" b="1" i="1" dirty="0" err="1"/>
              <a:t>y</a:t>
            </a:r>
            <a:r>
              <a:rPr kumimoji="0" lang="en-US" altLang="zh-CN" sz="1200" b="1" dirty="0" err="1">
                <a:sym typeface="Symbol" panose="05050102010706020507" pitchFamily="18" charset="2"/>
              </a:rPr>
              <a:t></a:t>
            </a:r>
            <a:r>
              <a:rPr kumimoji="0" lang="en-US" altLang="zh-CN" sz="1200" b="1" i="1" dirty="0" err="1"/>
              <a:t>B</a:t>
            </a:r>
            <a:r>
              <a:rPr kumimoji="0" lang="en-US" altLang="zh-CN" sz="1200" b="1" i="1" dirty="0"/>
              <a:t> </a:t>
            </a:r>
            <a:r>
              <a:rPr kumimoji="0" lang="en-US" altLang="zh-CN" sz="1200" b="1" dirty="0"/>
              <a:t>}.</a:t>
            </a:r>
          </a:p>
          <a:p>
            <a:pPr eaLnBrk="1" hangingPunct="1">
              <a:lnSpc>
                <a:spcPct val="120000"/>
              </a:lnSpc>
              <a:spcBef>
                <a:spcPct val="0"/>
              </a:spcBef>
              <a:buFontTx/>
              <a:buNone/>
            </a:pPr>
            <a:endParaRPr kumimoji="0" lang="zh-CN" altLang="en-US" sz="1200" b="1" dirty="0">
              <a:solidFill>
                <a:srgbClr val="800000"/>
              </a:solidFill>
            </a:endParaRPr>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2   </a:t>
            </a:r>
            <a:r>
              <a:rPr kumimoji="0" lang="en-US" altLang="zh-CN" sz="1200" b="1" i="1" dirty="0"/>
              <a:t>A</a:t>
            </a:r>
            <a:r>
              <a:rPr kumimoji="0" lang="en-US" altLang="zh-CN" sz="1200" b="1" dirty="0"/>
              <a:t>={0, 1}, </a:t>
            </a:r>
            <a:r>
              <a:rPr kumimoji="0" lang="en-US" altLang="zh-CN" sz="1200" b="1" i="1" dirty="0"/>
              <a:t>B</a:t>
            </a:r>
            <a:r>
              <a:rPr kumimoji="0" lang="en-US" altLang="zh-CN" sz="1200" b="1" dirty="0"/>
              <a:t>={</a:t>
            </a:r>
            <a:r>
              <a:rPr kumimoji="0" lang="en-US" altLang="zh-CN" sz="1200" b="1" i="1" dirty="0"/>
              <a:t>a</a:t>
            </a:r>
            <a:r>
              <a:rPr kumimoji="0" lang="en-US" altLang="zh-CN" sz="1200" b="1" dirty="0"/>
              <a:t>, </a:t>
            </a:r>
            <a:r>
              <a:rPr kumimoji="0" lang="en-US" altLang="zh-CN" sz="1200" b="1" i="1" dirty="0"/>
              <a:t>b</a:t>
            </a:r>
            <a:r>
              <a:rPr kumimoji="0" lang="en-US" altLang="zh-CN" sz="1200" b="1" dirty="0"/>
              <a:t>, </a:t>
            </a:r>
            <a:r>
              <a:rPr kumimoji="0" lang="en-US" altLang="zh-CN" sz="1200" b="1" i="1" dirty="0"/>
              <a:t>c</a:t>
            </a:r>
            <a:r>
              <a:rPr kumimoji="0" lang="en-US" altLang="zh-CN" sz="1200" b="1" dirty="0"/>
              <a:t>}</a:t>
            </a:r>
          </a:p>
          <a:p>
            <a:pPr eaLnBrk="1" hangingPunct="1">
              <a:lnSpc>
                <a:spcPct val="120000"/>
              </a:lnSpc>
              <a:spcBef>
                <a:spcPct val="0"/>
              </a:spcBef>
              <a:buFontTx/>
              <a:buNone/>
            </a:pPr>
            <a:r>
              <a:rPr kumimoji="0" lang="en-US" altLang="zh-CN" sz="1200" b="1" dirty="0"/>
              <a:t>        </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en-US" altLang="zh-CN" sz="1200" b="1" dirty="0"/>
              <a:t>{&lt;0,</a:t>
            </a:r>
            <a:r>
              <a:rPr kumimoji="0" lang="en-US" altLang="zh-CN" sz="1200" b="1" i="1" dirty="0"/>
              <a:t>a</a:t>
            </a:r>
            <a:r>
              <a:rPr kumimoji="0" lang="en-US" altLang="zh-CN" sz="1200" b="1" dirty="0"/>
              <a:t>&gt;,&lt;0,</a:t>
            </a:r>
            <a:r>
              <a:rPr kumimoji="0" lang="en-US" altLang="zh-CN" sz="1200" b="1" i="1" dirty="0"/>
              <a:t>b</a:t>
            </a:r>
            <a:r>
              <a:rPr kumimoji="0" lang="en-US" altLang="zh-CN" sz="1200" b="1" dirty="0"/>
              <a:t>&gt;,&lt;0,</a:t>
            </a:r>
            <a:r>
              <a:rPr kumimoji="0" lang="en-US" altLang="zh-CN" sz="1200" b="1" i="1" dirty="0"/>
              <a:t>c</a:t>
            </a:r>
            <a:r>
              <a:rPr kumimoji="0" lang="en-US" altLang="zh-CN" sz="1200" b="1" dirty="0"/>
              <a:t>&gt;,&lt;1,</a:t>
            </a:r>
            <a:r>
              <a:rPr kumimoji="0" lang="en-US" altLang="zh-CN" sz="1200" b="1" i="1" dirty="0"/>
              <a:t>a</a:t>
            </a:r>
            <a:r>
              <a:rPr kumimoji="0" lang="en-US" altLang="zh-CN" sz="1200" b="1" dirty="0"/>
              <a:t>&gt;,&lt;1,</a:t>
            </a:r>
            <a:r>
              <a:rPr kumimoji="0" lang="en-US" altLang="zh-CN" sz="1200" b="1" i="1" dirty="0"/>
              <a:t>b</a:t>
            </a:r>
            <a:r>
              <a:rPr kumimoji="0" lang="en-US" altLang="zh-CN" sz="1200" b="1" dirty="0"/>
              <a:t>&gt;,&lt;1,</a:t>
            </a:r>
            <a:r>
              <a:rPr kumimoji="0" lang="en-US" altLang="zh-CN" sz="1200" b="1" i="1" dirty="0"/>
              <a:t>c</a:t>
            </a:r>
            <a:r>
              <a:rPr kumimoji="0" lang="en-US" altLang="zh-CN" sz="1200" b="1" dirty="0"/>
              <a:t>&gt;} </a:t>
            </a:r>
          </a:p>
          <a:p>
            <a:pPr eaLnBrk="1" hangingPunct="1">
              <a:lnSpc>
                <a:spcPct val="120000"/>
              </a:lnSpc>
              <a:spcBef>
                <a:spcPct val="0"/>
              </a:spcBef>
              <a:buFontTx/>
              <a:buNone/>
            </a:pPr>
            <a:r>
              <a:rPr kumimoji="0" lang="en-US" altLang="zh-CN" sz="1200" b="1" dirty="0"/>
              <a:t>        </a:t>
            </a:r>
            <a:r>
              <a:rPr kumimoji="0" lang="en-US" altLang="zh-CN" sz="1200" b="1" i="1" dirty="0"/>
              <a:t>B</a:t>
            </a:r>
            <a:r>
              <a:rPr kumimoji="0" lang="en-US" altLang="zh-CN" sz="1200" b="1" dirty="0">
                <a:sym typeface="Symbol" panose="05050102010706020507" pitchFamily="18" charset="2"/>
              </a:rPr>
              <a:t></a:t>
            </a:r>
            <a:r>
              <a:rPr kumimoji="0" lang="en-US" altLang="zh-CN" sz="1200" b="1" i="1" dirty="0"/>
              <a:t>A </a:t>
            </a:r>
            <a:r>
              <a:rPr kumimoji="0" lang="en-US" altLang="zh-CN" sz="1200" b="1" dirty="0"/>
              <a:t>={&lt;</a:t>
            </a:r>
            <a:r>
              <a:rPr kumimoji="0" lang="en-US" altLang="zh-CN" sz="1200" b="1" i="1" dirty="0"/>
              <a:t>a</a:t>
            </a:r>
            <a:r>
              <a:rPr kumimoji="0" lang="en-US" altLang="zh-CN" sz="1200" b="1" dirty="0"/>
              <a:t>,0&gt;,&lt;</a:t>
            </a:r>
            <a:r>
              <a:rPr kumimoji="0" lang="en-US" altLang="zh-CN" sz="1200" b="1" i="1" dirty="0"/>
              <a:t>b</a:t>
            </a:r>
            <a:r>
              <a:rPr kumimoji="0" lang="en-US" altLang="zh-CN" sz="1200" b="1" dirty="0"/>
              <a:t>,0&gt;,&lt;</a:t>
            </a:r>
            <a:r>
              <a:rPr kumimoji="0" lang="en-US" altLang="zh-CN" sz="1200" b="1" i="1" dirty="0"/>
              <a:t>c</a:t>
            </a:r>
            <a:r>
              <a:rPr kumimoji="0" lang="en-US" altLang="zh-CN" sz="1200" b="1" dirty="0"/>
              <a:t>,0&gt;,&lt;</a:t>
            </a:r>
            <a:r>
              <a:rPr kumimoji="0" lang="en-US" altLang="zh-CN" sz="1200" b="1" i="1" dirty="0"/>
              <a:t>a</a:t>
            </a:r>
            <a:r>
              <a:rPr kumimoji="0" lang="en-US" altLang="zh-CN" sz="1200" b="1" dirty="0"/>
              <a:t>,1&gt;,&lt;</a:t>
            </a:r>
            <a:r>
              <a:rPr kumimoji="0" lang="en-US" altLang="zh-CN" sz="1200" b="1" i="1" dirty="0"/>
              <a:t>b</a:t>
            </a:r>
            <a:r>
              <a:rPr kumimoji="0" lang="en-US" altLang="zh-CN" sz="1200" b="1" dirty="0"/>
              <a:t>,1&gt;,&lt;</a:t>
            </a:r>
            <a:r>
              <a:rPr kumimoji="0" lang="en-US" altLang="zh-CN" sz="1200" b="1" i="1" dirty="0"/>
              <a:t>c</a:t>
            </a:r>
            <a:r>
              <a:rPr kumimoji="0" lang="en-US" altLang="zh-CN" sz="1200" b="1" dirty="0"/>
              <a:t>,1&gt;}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1155229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pple-system"/>
              </a:rPr>
              <a:t>不满足结合律 而三元有序对是用二元有序对定义的，即</a:t>
            </a:r>
            <a:r>
              <a:rPr lang="en-US" altLang="zh-CN" b="0" i="0" dirty="0">
                <a:solidFill>
                  <a:srgbClr val="333333"/>
                </a:solidFill>
                <a:effectLst/>
                <a:latin typeface="-apple-system"/>
              </a:rPr>
              <a:t>&lt;a</a:t>
            </a:r>
            <a:r>
              <a:rPr lang="zh-CN" altLang="en-US" b="0" i="0" dirty="0">
                <a:solidFill>
                  <a:srgbClr val="333333"/>
                </a:solidFill>
                <a:effectLst/>
                <a:latin typeface="-apple-system"/>
              </a:rPr>
              <a:t>，</a:t>
            </a:r>
            <a:r>
              <a:rPr lang="en-US" altLang="zh-CN" b="0" i="0" dirty="0">
                <a:solidFill>
                  <a:srgbClr val="333333"/>
                </a:solidFill>
                <a:effectLst/>
                <a:latin typeface="-apple-system"/>
              </a:rPr>
              <a:t>b</a:t>
            </a:r>
            <a:r>
              <a:rPr lang="zh-CN" altLang="en-US" b="0" i="0" dirty="0">
                <a:solidFill>
                  <a:srgbClr val="333333"/>
                </a:solidFill>
                <a:effectLst/>
                <a:latin typeface="-apple-system"/>
              </a:rPr>
              <a:t>，</a:t>
            </a:r>
            <a:r>
              <a:rPr lang="en-US" altLang="zh-CN" b="0" i="0" dirty="0">
                <a:solidFill>
                  <a:srgbClr val="333333"/>
                </a:solidFill>
                <a:effectLst/>
                <a:latin typeface="-apple-system"/>
              </a:rPr>
              <a:t>c&gt;=&lt;&lt;a</a:t>
            </a:r>
            <a:r>
              <a:rPr lang="zh-CN" altLang="en-US" b="0" i="0" dirty="0">
                <a:solidFill>
                  <a:srgbClr val="333333"/>
                </a:solidFill>
                <a:effectLst/>
                <a:latin typeface="-apple-system"/>
              </a:rPr>
              <a:t>，</a:t>
            </a:r>
            <a:r>
              <a:rPr lang="en-US" altLang="zh-CN" b="0" i="0" dirty="0">
                <a:solidFill>
                  <a:srgbClr val="333333"/>
                </a:solidFill>
                <a:effectLst/>
                <a:latin typeface="-apple-system"/>
              </a:rPr>
              <a:t>b&gt;</a:t>
            </a:r>
            <a:r>
              <a:rPr lang="zh-CN" altLang="en-US" b="0" i="0" dirty="0">
                <a:solidFill>
                  <a:srgbClr val="333333"/>
                </a:solidFill>
                <a:effectLst/>
                <a:latin typeface="-apple-system"/>
              </a:rPr>
              <a:t>，</a:t>
            </a:r>
            <a:r>
              <a:rPr lang="en-US" altLang="zh-CN" b="0" i="0" dirty="0">
                <a:solidFill>
                  <a:srgbClr val="333333"/>
                </a:solidFill>
                <a:effectLst/>
                <a:latin typeface="-apple-system"/>
              </a:rPr>
              <a:t>c&gt;={&lt;a</a:t>
            </a:r>
            <a:r>
              <a:rPr lang="zh-CN" altLang="en-US" b="0" i="0" dirty="0">
                <a:solidFill>
                  <a:srgbClr val="333333"/>
                </a:solidFill>
                <a:effectLst/>
                <a:latin typeface="-apple-system"/>
              </a:rPr>
              <a:t>，</a:t>
            </a:r>
            <a:r>
              <a:rPr lang="en-US" altLang="zh-CN" b="0" i="0" dirty="0">
                <a:solidFill>
                  <a:srgbClr val="333333"/>
                </a:solidFill>
                <a:effectLst/>
                <a:latin typeface="-apple-system"/>
              </a:rPr>
              <a:t>b&gt;</a:t>
            </a:r>
            <a:r>
              <a:rPr lang="zh-CN" altLang="en-US" b="0" i="0" dirty="0">
                <a:solidFill>
                  <a:srgbClr val="333333"/>
                </a:solidFill>
                <a:effectLst/>
                <a:latin typeface="-apple-system"/>
              </a:rPr>
              <a:t>，</a:t>
            </a:r>
            <a:r>
              <a:rPr lang="en-US" altLang="zh-CN" b="0" i="0" dirty="0">
                <a:solidFill>
                  <a:srgbClr val="333333"/>
                </a:solidFill>
                <a:effectLst/>
                <a:latin typeface="-apple-system"/>
              </a:rPr>
              <a:t>{&lt;a</a:t>
            </a:r>
            <a:r>
              <a:rPr lang="zh-CN" altLang="en-US" b="0" i="0" dirty="0">
                <a:solidFill>
                  <a:srgbClr val="333333"/>
                </a:solidFill>
                <a:effectLst/>
                <a:latin typeface="-apple-system"/>
              </a:rPr>
              <a:t>，</a:t>
            </a:r>
            <a:r>
              <a:rPr lang="en-US" altLang="zh-CN" b="0" i="0" dirty="0">
                <a:solidFill>
                  <a:srgbClr val="333333"/>
                </a:solidFill>
                <a:effectLst/>
                <a:latin typeface="-apple-system"/>
              </a:rPr>
              <a:t>b&gt;</a:t>
            </a:r>
            <a:r>
              <a:rPr lang="zh-CN" altLang="en-US" b="0" i="0" dirty="0">
                <a:solidFill>
                  <a:srgbClr val="333333"/>
                </a:solidFill>
                <a:effectLst/>
                <a:latin typeface="-apple-system"/>
              </a:rPr>
              <a:t>，</a:t>
            </a:r>
            <a:r>
              <a:rPr lang="en-US" altLang="zh-CN" b="0" i="0" dirty="0">
                <a:solidFill>
                  <a:srgbClr val="333333"/>
                </a:solidFill>
                <a:effectLst/>
                <a:latin typeface="-apple-system"/>
              </a:rPr>
              <a:t>c}}</a:t>
            </a:r>
            <a:r>
              <a:rPr lang="zh-CN" altLang="en-US" b="0" i="0" dirty="0">
                <a:solidFill>
                  <a:srgbClr val="333333"/>
                </a:solidFill>
                <a:effectLst/>
                <a:latin typeface="-apple-system"/>
              </a:rPr>
              <a:t>。继续展开就能得到集合的形式。</a:t>
            </a:r>
            <a:endParaRPr lang="en-US" altLang="zh-CN" b="0" i="0" dirty="0">
              <a:solidFill>
                <a:srgbClr val="333333"/>
              </a:solidFill>
              <a:effectLst/>
              <a:latin typeface="-apple-system"/>
            </a:endParaRPr>
          </a:p>
          <a:p>
            <a:endParaRPr lang="en-US" altLang="zh-CN" b="0" i="0" dirty="0">
              <a:solidFill>
                <a:srgbClr val="333333"/>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若</a:t>
            </a:r>
            <a:r>
              <a:rPr kumimoji="0" lang="en-US" altLang="zh-CN" sz="1200" b="1" i="1" dirty="0"/>
              <a:t>A</a:t>
            </a:r>
            <a:r>
              <a:rPr kumimoji="0" lang="zh-CN" altLang="en-US" sz="1200" b="1" dirty="0"/>
              <a:t>或</a:t>
            </a:r>
            <a:r>
              <a:rPr kumimoji="0" lang="en-US" altLang="zh-CN" sz="1200" b="1" i="1" dirty="0"/>
              <a:t>B</a:t>
            </a:r>
            <a:r>
              <a:rPr kumimoji="0" lang="zh-CN" altLang="en-US" sz="1200" b="1" dirty="0"/>
              <a:t>中有一个为空集，则</a:t>
            </a:r>
            <a:r>
              <a:rPr kumimoji="0" lang="en-US" altLang="zh-CN" sz="1200" b="1" i="1" dirty="0"/>
              <a:t>A</a:t>
            </a:r>
            <a:r>
              <a:rPr kumimoji="0" lang="en-US" altLang="zh-CN" sz="1200" b="1" dirty="0">
                <a:sym typeface="Symbol" panose="05050102010706020507" pitchFamily="18" charset="2"/>
              </a:rPr>
              <a:t></a:t>
            </a:r>
            <a:r>
              <a:rPr kumimoji="0" lang="en-US" altLang="zh-CN" sz="1200" b="1" i="1" dirty="0"/>
              <a:t>B</a:t>
            </a:r>
            <a:r>
              <a:rPr kumimoji="0" lang="zh-CN" altLang="en-US" sz="1200" b="1" dirty="0"/>
              <a:t>就是空集</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801715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4.3</a:t>
            </a:r>
            <a:r>
              <a:rPr kumimoji="0" lang="en-US" altLang="zh-CN" sz="1200" b="1" dirty="0"/>
              <a:t> </a:t>
            </a:r>
          </a:p>
          <a:p>
            <a:pPr eaLnBrk="1" hangingPunct="1">
              <a:lnSpc>
                <a:spcPct val="120000"/>
              </a:lnSpc>
              <a:spcBef>
                <a:spcPct val="0"/>
              </a:spcBef>
              <a:buFontTx/>
              <a:buNone/>
            </a:pPr>
            <a:r>
              <a:rPr kumimoji="0" lang="en-US" altLang="zh-CN" sz="1200" b="1" dirty="0"/>
              <a:t>  (1) </a:t>
            </a:r>
            <a:r>
              <a:rPr kumimoji="0" lang="zh-CN" altLang="en-US" sz="1200" b="1" dirty="0"/>
              <a:t>由 </a:t>
            </a:r>
            <a:r>
              <a:rPr kumimoji="0" lang="en-US" altLang="zh-CN" sz="1200" b="1" i="1" dirty="0"/>
              <a:t>n </a:t>
            </a:r>
            <a:r>
              <a:rPr kumimoji="0" lang="zh-CN" altLang="en-US" sz="1200" b="1" dirty="0"/>
              <a:t>个元素 </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n</a:t>
            </a:r>
            <a:r>
              <a:rPr kumimoji="0" lang="zh-CN" altLang="en-US" sz="1200" b="1" dirty="0"/>
              <a:t>按照一定的顺序排列构成</a:t>
            </a:r>
          </a:p>
          <a:p>
            <a:pPr eaLnBrk="1" hangingPunct="1">
              <a:lnSpc>
                <a:spcPct val="120000"/>
              </a:lnSpc>
              <a:spcBef>
                <a:spcPct val="0"/>
              </a:spcBef>
              <a:buFontTx/>
              <a:buNone/>
            </a:pPr>
            <a:r>
              <a:rPr kumimoji="0" lang="zh-CN" altLang="en-US" sz="1200" b="1" dirty="0"/>
              <a:t>        </a:t>
            </a:r>
            <a:r>
              <a:rPr kumimoji="0" lang="zh-CN" altLang="en-US" sz="1200" b="1" dirty="0">
                <a:solidFill>
                  <a:srgbClr val="FF0000"/>
                </a:solidFill>
              </a:rPr>
              <a:t>有序 </a:t>
            </a:r>
            <a:r>
              <a:rPr kumimoji="0" lang="en-US" altLang="zh-CN" sz="1200" b="1" i="1" dirty="0">
                <a:solidFill>
                  <a:srgbClr val="FF0000"/>
                </a:solidFill>
              </a:rPr>
              <a:t>n </a:t>
            </a:r>
            <a:r>
              <a:rPr kumimoji="0" lang="zh-CN" altLang="en-US" sz="1200" b="1" dirty="0">
                <a:solidFill>
                  <a:srgbClr val="FF0000"/>
                </a:solidFill>
              </a:rPr>
              <a:t>元组</a:t>
            </a:r>
            <a:r>
              <a:rPr kumimoji="0" lang="zh-CN" altLang="en-US" sz="1200" b="1" dirty="0"/>
              <a:t>，记作 </a:t>
            </a:r>
            <a:r>
              <a:rPr kumimoji="0" lang="en-US" altLang="zh-CN" sz="1200" b="1" dirty="0"/>
              <a:t>&lt;</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n</a:t>
            </a:r>
            <a:r>
              <a:rPr kumimoji="0" lang="en-US" altLang="zh-CN" sz="1200" b="1" dirty="0"/>
              <a:t>&gt;</a:t>
            </a:r>
          </a:p>
          <a:p>
            <a:pPr eaLnBrk="1" hangingPunct="1">
              <a:lnSpc>
                <a:spcPct val="120000"/>
              </a:lnSpc>
              <a:spcBef>
                <a:spcPct val="0"/>
              </a:spcBef>
              <a:buFontTx/>
              <a:buNone/>
            </a:pPr>
            <a:r>
              <a:rPr kumimoji="0" lang="en-US" altLang="zh-CN" sz="1200" b="1" dirty="0"/>
              <a:t>  (2) </a:t>
            </a:r>
            <a:r>
              <a:rPr kumimoji="0" lang="zh-CN" altLang="en-US" sz="1200" b="1" dirty="0"/>
              <a:t>设</a:t>
            </a:r>
            <a:r>
              <a:rPr kumimoji="0" lang="en-US" altLang="zh-CN" sz="1200" b="1" i="1" dirty="0"/>
              <a:t>A</a:t>
            </a:r>
            <a:r>
              <a:rPr kumimoji="0" lang="en-US" altLang="zh-CN" sz="1200" b="1" baseline="-25000" dirty="0"/>
              <a:t>1</a:t>
            </a:r>
            <a:r>
              <a:rPr kumimoji="0" lang="en-US" altLang="zh-CN" sz="1200" b="1" dirty="0"/>
              <a:t>, </a:t>
            </a:r>
            <a:r>
              <a:rPr kumimoji="0" lang="en-US" altLang="zh-CN" sz="1200" b="1" i="1" dirty="0"/>
              <a:t>A</a:t>
            </a:r>
            <a:r>
              <a:rPr kumimoji="0" lang="en-US" altLang="zh-CN" sz="1200" b="1" baseline="-25000" dirty="0"/>
              <a:t>2</a:t>
            </a:r>
            <a:r>
              <a:rPr kumimoji="0" lang="en-US" altLang="zh-CN" sz="1200" b="1" dirty="0"/>
              <a:t>, …, </a:t>
            </a:r>
            <a:r>
              <a:rPr kumimoji="0" lang="en-US" altLang="zh-CN" sz="1200" b="1" i="1" dirty="0"/>
              <a:t>A</a:t>
            </a:r>
            <a:r>
              <a:rPr kumimoji="0" lang="en-US" altLang="zh-CN" sz="1200" b="1" i="1" baseline="-25000" dirty="0"/>
              <a:t>n</a:t>
            </a:r>
            <a:r>
              <a:rPr kumimoji="0" lang="zh-CN" altLang="en-US" sz="1200" b="1" dirty="0"/>
              <a:t>为集合，称</a:t>
            </a:r>
          </a:p>
          <a:p>
            <a:pPr eaLnBrk="1" hangingPunct="1">
              <a:lnSpc>
                <a:spcPct val="120000"/>
              </a:lnSpc>
              <a:spcBef>
                <a:spcPct val="0"/>
              </a:spcBef>
              <a:buFontTx/>
              <a:buNone/>
            </a:pPr>
            <a:r>
              <a:rPr kumimoji="0" lang="zh-CN" altLang="en-US" sz="1200" b="1" dirty="0"/>
              <a:t>        </a:t>
            </a:r>
            <a:r>
              <a:rPr kumimoji="0" lang="en-US" altLang="zh-CN" sz="1200" b="1" i="1" dirty="0"/>
              <a:t>A</a:t>
            </a:r>
            <a:r>
              <a:rPr kumimoji="0" lang="en-US" altLang="zh-CN" sz="1200" b="1" baseline="-25000" dirty="0"/>
              <a:t>1</a:t>
            </a:r>
            <a:r>
              <a:rPr kumimoji="0" lang="en-US" altLang="zh-CN" sz="1200" b="1" dirty="0">
                <a:sym typeface="Symbol" panose="05050102010706020507" pitchFamily="18" charset="2"/>
              </a:rPr>
              <a:t></a:t>
            </a:r>
            <a:r>
              <a:rPr kumimoji="0" lang="en-US" altLang="zh-CN" sz="1200" b="1" i="1" dirty="0"/>
              <a:t>A</a:t>
            </a:r>
            <a:r>
              <a:rPr kumimoji="0" lang="en-US" altLang="zh-CN" sz="1200" b="1" baseline="-25000" dirty="0"/>
              <a:t>2</a:t>
            </a:r>
            <a:r>
              <a:rPr kumimoji="0" lang="en-US" altLang="zh-CN" sz="1200" b="1" dirty="0">
                <a:sym typeface="Symbol" panose="05050102010706020507" pitchFamily="18" charset="2"/>
              </a:rPr>
              <a:t></a:t>
            </a:r>
            <a:r>
              <a:rPr kumimoji="0" lang="en-US" altLang="zh-CN" sz="1200" b="1" dirty="0"/>
              <a:t>…</a:t>
            </a:r>
            <a:r>
              <a:rPr kumimoji="0" lang="en-US" altLang="zh-CN" sz="1200" b="1" dirty="0">
                <a:sym typeface="Symbol" panose="05050102010706020507" pitchFamily="18" charset="2"/>
              </a:rPr>
              <a:t></a:t>
            </a:r>
            <a:r>
              <a:rPr kumimoji="0" lang="en-US" altLang="zh-CN" sz="1200" b="1" i="1" dirty="0"/>
              <a:t>A</a:t>
            </a:r>
            <a:r>
              <a:rPr kumimoji="0" lang="en-US" altLang="zh-CN" sz="1200" b="1" i="1" baseline="-25000" dirty="0"/>
              <a:t>n</a:t>
            </a:r>
            <a:r>
              <a:rPr kumimoji="0" lang="en-US" altLang="zh-CN" sz="1200" b="1" dirty="0"/>
              <a:t>={&lt;</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 </a:t>
            </a:r>
            <a:r>
              <a:rPr kumimoji="0" lang="en-US" altLang="zh-CN" sz="1200" b="1" i="1" dirty="0" err="1"/>
              <a:t>x</a:t>
            </a:r>
            <a:r>
              <a:rPr kumimoji="0" lang="en-US" altLang="zh-CN" sz="1200" b="1" i="1" baseline="-25000" dirty="0" err="1"/>
              <a:t>n</a:t>
            </a:r>
            <a:r>
              <a:rPr kumimoji="0" lang="en-US" altLang="zh-CN" sz="1200" b="1" dirty="0"/>
              <a:t>&gt; | </a:t>
            </a:r>
            <a:r>
              <a:rPr kumimoji="0" lang="en-US" altLang="zh-CN" sz="1200" b="1" i="1" dirty="0" err="1"/>
              <a:t>x</a:t>
            </a:r>
            <a:r>
              <a:rPr kumimoji="0" lang="en-US" altLang="zh-CN" sz="1200" b="1" i="1" baseline="-25000" dirty="0" err="1"/>
              <a:t>i</a:t>
            </a:r>
            <a:r>
              <a:rPr kumimoji="0" lang="en-US" altLang="zh-CN" sz="1200" b="1" dirty="0" err="1">
                <a:sym typeface="Symbol" panose="05050102010706020507" pitchFamily="18" charset="2"/>
              </a:rPr>
              <a:t></a:t>
            </a:r>
            <a:r>
              <a:rPr kumimoji="0" lang="en-US" altLang="zh-CN" sz="1200" b="1" i="1" dirty="0" err="1"/>
              <a:t>A</a:t>
            </a:r>
            <a:r>
              <a:rPr kumimoji="0" lang="en-US" altLang="zh-CN" sz="1200" b="1" i="1" baseline="-25000" dirty="0" err="1"/>
              <a:t>i</a:t>
            </a:r>
            <a:r>
              <a:rPr kumimoji="0" lang="en-US" altLang="zh-CN" sz="1200" b="1" dirty="0"/>
              <a:t>, </a:t>
            </a:r>
            <a:r>
              <a:rPr kumimoji="0" lang="en-US" altLang="zh-CN" sz="1200" b="1" i="1" dirty="0"/>
              <a:t>i</a:t>
            </a:r>
            <a:r>
              <a:rPr kumimoji="0" lang="en-US" altLang="zh-CN" sz="1200" b="1" dirty="0"/>
              <a:t>=1,2, …,</a:t>
            </a:r>
            <a:r>
              <a:rPr kumimoji="0" lang="en-US" altLang="zh-CN" sz="1200" b="1" i="1" dirty="0"/>
              <a:t>n</a:t>
            </a:r>
            <a:r>
              <a:rPr kumimoji="0" lang="en-US" altLang="zh-CN" sz="1200" b="1" dirty="0"/>
              <a:t>} </a:t>
            </a:r>
          </a:p>
          <a:p>
            <a:pPr eaLnBrk="1" hangingPunct="1">
              <a:lnSpc>
                <a:spcPct val="120000"/>
              </a:lnSpc>
              <a:spcBef>
                <a:spcPct val="0"/>
              </a:spcBef>
              <a:buFontTx/>
              <a:buNone/>
            </a:pPr>
            <a:r>
              <a:rPr kumimoji="0" lang="zh-CN" altLang="en-US" sz="1200" b="1" dirty="0"/>
              <a:t>       为 </a:t>
            </a:r>
            <a:r>
              <a:rPr kumimoji="0" lang="en-US" altLang="zh-CN" sz="1200" b="1" i="1" dirty="0">
                <a:solidFill>
                  <a:srgbClr val="FF0000"/>
                </a:solidFill>
              </a:rPr>
              <a:t>n </a:t>
            </a:r>
            <a:r>
              <a:rPr kumimoji="0" lang="zh-CN" altLang="en-US" sz="1200" b="1" dirty="0">
                <a:solidFill>
                  <a:srgbClr val="FF0000"/>
                </a:solidFill>
              </a:rPr>
              <a:t>阶笛卡儿积</a:t>
            </a:r>
            <a:r>
              <a:rPr kumimoji="0" lang="en-US" altLang="zh-CN" sz="1200" b="1" dirty="0"/>
              <a:t>.</a:t>
            </a:r>
            <a:r>
              <a:rPr kumimoji="0" lang="en-US" altLang="zh-CN" sz="1200" dirty="0"/>
              <a:t> </a:t>
            </a:r>
          </a:p>
          <a:p>
            <a:pPr eaLnBrk="1" hangingPunct="1">
              <a:lnSpc>
                <a:spcPct val="120000"/>
              </a:lnSpc>
              <a:spcBef>
                <a:spcPct val="0"/>
              </a:spcBef>
              <a:buFontTx/>
              <a:buNone/>
            </a:pPr>
            <a:endParaRPr kumimoji="0" lang="zh-CN" altLang="en-US" sz="1200" b="1" dirty="0">
              <a:solidFill>
                <a:srgbClr val="800000"/>
              </a:solidFill>
            </a:endParaRPr>
          </a:p>
          <a:p>
            <a:pPr eaLnBrk="1" hangingPunct="1">
              <a:lnSpc>
                <a:spcPct val="120000"/>
              </a:lnSpc>
              <a:spcBef>
                <a:spcPct val="0"/>
              </a:spcBef>
              <a:buFontTx/>
              <a:buNone/>
            </a:pPr>
            <a:r>
              <a:rPr kumimoji="0" lang="zh-CN" altLang="en-US" sz="1200" b="1" dirty="0">
                <a:solidFill>
                  <a:srgbClr val="00B0F0"/>
                </a:solidFill>
              </a:rPr>
              <a:t>实例</a:t>
            </a:r>
          </a:p>
          <a:p>
            <a:pPr eaLnBrk="1" hangingPunct="1">
              <a:lnSpc>
                <a:spcPct val="120000"/>
              </a:lnSpc>
              <a:spcBef>
                <a:spcPct val="0"/>
              </a:spcBef>
              <a:buFontTx/>
              <a:buNone/>
            </a:pPr>
            <a:r>
              <a:rPr kumimoji="0" lang="zh-CN" altLang="en-US" sz="1200" dirty="0">
                <a:solidFill>
                  <a:srgbClr val="000066"/>
                </a:solidFill>
              </a:rPr>
              <a:t>   </a:t>
            </a:r>
            <a:r>
              <a:rPr kumimoji="0" lang="en-US" altLang="zh-CN" sz="1200" b="1" dirty="0"/>
              <a:t>(1,1,0)</a:t>
            </a:r>
            <a:r>
              <a:rPr kumimoji="0" lang="zh-CN" altLang="en-US" sz="1200" b="1" dirty="0"/>
              <a:t>为空间直角坐标，</a:t>
            </a:r>
            <a:r>
              <a:rPr kumimoji="0" lang="en-US" altLang="zh-CN" sz="1200" b="1" dirty="0"/>
              <a:t>(1,1,0)</a:t>
            </a:r>
            <a:r>
              <a:rPr kumimoji="0" lang="en-US" altLang="zh-CN" sz="1200" b="1" dirty="0">
                <a:sym typeface="Symbol" panose="05050102010706020507" pitchFamily="18" charset="2"/>
              </a:rPr>
              <a:t>R R R</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210121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200" b="1" dirty="0"/>
              <a:t>当</a:t>
            </a:r>
            <a:r>
              <a:rPr kumimoji="0" lang="en-US" altLang="zh-CN" sz="1200" b="1" i="1" dirty="0"/>
              <a:t>a</a:t>
            </a:r>
            <a:r>
              <a:rPr kumimoji="0" lang="en-US" altLang="zh-CN" sz="1200" b="1" dirty="0"/>
              <a:t>, </a:t>
            </a:r>
            <a:r>
              <a:rPr kumimoji="0" lang="en-US" altLang="zh-CN" sz="1200" b="1" i="1" dirty="0"/>
              <a:t>b</a:t>
            </a:r>
            <a:r>
              <a:rPr kumimoji="0" lang="zh-CN" altLang="en-US" sz="1200" b="1" dirty="0"/>
              <a:t>不是有序对时，</a:t>
            </a:r>
            <a:r>
              <a:rPr kumimoji="0" lang="en-US" altLang="zh-CN" sz="1200" b="1" i="1" dirty="0"/>
              <a:t>S</a:t>
            </a:r>
            <a:r>
              <a:rPr kumimoji="0" lang="zh-CN" altLang="en-US" sz="1200" b="1" dirty="0"/>
              <a:t>不是二元关系</a:t>
            </a:r>
            <a:endParaRPr kumimoji="0" lang="en-US" altLang="zh-CN" sz="1200" b="1" dirty="0"/>
          </a:p>
          <a:p>
            <a:endParaRPr kumimoji="0" lang="en-US" altLang="zh-CN" sz="1200" b="1" dirty="0"/>
          </a:p>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4.4</a:t>
            </a:r>
          </a:p>
          <a:p>
            <a:pPr eaLnBrk="1" hangingPunct="1">
              <a:lnSpc>
                <a:spcPct val="120000"/>
              </a:lnSpc>
              <a:spcBef>
                <a:spcPct val="0"/>
              </a:spcBef>
              <a:buFontTx/>
              <a:buNone/>
            </a:pPr>
            <a:r>
              <a:rPr kumimoji="0" lang="zh-CN" altLang="en-US" sz="1200" b="1" dirty="0"/>
              <a:t>如果一个集合满足以下条件之一：</a:t>
            </a:r>
          </a:p>
          <a:p>
            <a:pPr eaLnBrk="1" hangingPunct="1">
              <a:lnSpc>
                <a:spcPct val="120000"/>
              </a:lnSpc>
              <a:spcBef>
                <a:spcPct val="0"/>
              </a:spcBef>
              <a:buFontTx/>
              <a:buNone/>
            </a:pPr>
            <a:r>
              <a:rPr kumimoji="0" lang="zh-CN" altLang="en-US" sz="1200" b="1" dirty="0"/>
              <a:t>（</a:t>
            </a:r>
            <a:r>
              <a:rPr kumimoji="0" lang="en-US" altLang="zh-CN" sz="1200" b="1" dirty="0"/>
              <a:t>1</a:t>
            </a:r>
            <a:r>
              <a:rPr kumimoji="0" lang="zh-CN" altLang="en-US" sz="1200" b="1" dirty="0"/>
              <a:t>）集合非空</a:t>
            </a:r>
            <a:r>
              <a:rPr kumimoji="0" lang="en-US" altLang="zh-CN" sz="1200" b="1" dirty="0"/>
              <a:t>, </a:t>
            </a:r>
            <a:r>
              <a:rPr kumimoji="0" lang="zh-CN" altLang="en-US" sz="1200" b="1" dirty="0"/>
              <a:t>且它的元素都是有序对</a:t>
            </a:r>
          </a:p>
          <a:p>
            <a:pPr eaLnBrk="1" hangingPunct="1">
              <a:lnSpc>
                <a:spcPct val="120000"/>
              </a:lnSpc>
              <a:spcBef>
                <a:spcPct val="0"/>
              </a:spcBef>
              <a:buFontTx/>
              <a:buNone/>
            </a:pPr>
            <a:r>
              <a:rPr kumimoji="0" lang="zh-CN" altLang="en-US" sz="1200" b="1" dirty="0"/>
              <a:t>（</a:t>
            </a:r>
            <a:r>
              <a:rPr kumimoji="0" lang="en-US" altLang="zh-CN" sz="1200" b="1" dirty="0"/>
              <a:t>2</a:t>
            </a:r>
            <a:r>
              <a:rPr kumimoji="0" lang="zh-CN" altLang="en-US" sz="1200" b="1" dirty="0"/>
              <a:t>）集合是空集</a:t>
            </a:r>
          </a:p>
          <a:p>
            <a:pPr eaLnBrk="1" hangingPunct="1">
              <a:lnSpc>
                <a:spcPct val="120000"/>
              </a:lnSpc>
              <a:spcBef>
                <a:spcPct val="0"/>
              </a:spcBef>
              <a:buFontTx/>
              <a:buNone/>
            </a:pPr>
            <a:r>
              <a:rPr kumimoji="0" lang="zh-CN" altLang="en-US" sz="1200" b="1" dirty="0"/>
              <a:t>则称该集合为一个</a:t>
            </a:r>
            <a:r>
              <a:rPr kumimoji="0" lang="zh-CN" altLang="en-US" sz="1200" b="1" dirty="0">
                <a:solidFill>
                  <a:srgbClr val="FF0000"/>
                </a:solidFill>
              </a:rPr>
              <a:t>二元关系</a:t>
            </a:r>
            <a:r>
              <a:rPr kumimoji="0" lang="en-US" altLang="zh-CN" sz="1200" b="1" dirty="0"/>
              <a:t>, </a:t>
            </a:r>
            <a:r>
              <a:rPr kumimoji="0" lang="zh-CN" altLang="en-US" sz="1200" b="1" dirty="0"/>
              <a:t>简称为</a:t>
            </a:r>
            <a:r>
              <a:rPr kumimoji="0" lang="zh-CN" altLang="en-US" sz="1200" b="1" dirty="0">
                <a:solidFill>
                  <a:srgbClr val="FF0000"/>
                </a:solidFill>
              </a:rPr>
              <a:t>关系</a:t>
            </a:r>
            <a:r>
              <a:rPr kumimoji="0" lang="zh-CN" altLang="en-US" sz="1200" b="1" dirty="0"/>
              <a:t>，记作</a:t>
            </a:r>
            <a:r>
              <a:rPr kumimoji="0" lang="en-US" altLang="zh-CN" sz="1200" b="1" i="1" dirty="0"/>
              <a:t>R</a:t>
            </a:r>
            <a:r>
              <a:rPr kumimoji="0" lang="en-US" altLang="zh-CN" sz="1200" b="1" dirty="0"/>
              <a:t>.</a:t>
            </a:r>
          </a:p>
          <a:p>
            <a:pPr eaLnBrk="1" hangingPunct="1">
              <a:lnSpc>
                <a:spcPct val="120000"/>
              </a:lnSpc>
              <a:spcBef>
                <a:spcPct val="0"/>
              </a:spcBef>
              <a:buFontTx/>
              <a:buNone/>
            </a:pPr>
            <a:r>
              <a:rPr kumimoji="0" lang="zh-CN" altLang="en-US" sz="1200" b="1" dirty="0"/>
              <a:t>如</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 </a:t>
            </a:r>
            <a:r>
              <a:rPr kumimoji="0" lang="zh-CN" altLang="en-US" sz="1200" b="1" dirty="0"/>
              <a:t>可记作 </a:t>
            </a:r>
            <a:r>
              <a:rPr kumimoji="0" lang="en-US" altLang="zh-CN" sz="1200" b="1" i="1" dirty="0" err="1"/>
              <a:t>xRy</a:t>
            </a:r>
            <a:r>
              <a:rPr kumimoji="0" lang="zh-CN" altLang="en-US" sz="1200" b="1" dirty="0"/>
              <a:t>；如果</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zh-CN" altLang="en-US" sz="1200" b="1" dirty="0"/>
              <a:t>则记作</a:t>
            </a:r>
            <a:r>
              <a:rPr kumimoji="0" lang="en-US" altLang="zh-CN" sz="1200" b="1" i="1" dirty="0"/>
              <a:t>x   y</a:t>
            </a:r>
            <a:endParaRPr kumimoji="0" lang="en-US" altLang="zh-CN" sz="1200"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实例：</a:t>
            </a:r>
            <a:r>
              <a:rPr kumimoji="0" lang="en-US" altLang="zh-CN" sz="1200" b="1" i="1" dirty="0"/>
              <a:t>R</a:t>
            </a:r>
            <a:r>
              <a:rPr kumimoji="0" lang="en-US" altLang="zh-CN" sz="1200" b="1" dirty="0"/>
              <a:t>={&lt;1,2&gt;,&lt;</a:t>
            </a:r>
            <a:r>
              <a:rPr kumimoji="0" lang="en-US" altLang="zh-CN" sz="1200" b="1" i="1" dirty="0" err="1"/>
              <a:t>a</a:t>
            </a:r>
            <a:r>
              <a:rPr kumimoji="0" lang="en-US" altLang="zh-CN" sz="1200" b="1" dirty="0" err="1"/>
              <a:t>,</a:t>
            </a:r>
            <a:r>
              <a:rPr kumimoji="0" lang="en-US" altLang="zh-CN" sz="1200" b="1" i="1" dirty="0" err="1"/>
              <a:t>b</a:t>
            </a:r>
            <a:r>
              <a:rPr kumimoji="0" lang="en-US" altLang="zh-CN" sz="1200" b="1" dirty="0"/>
              <a:t>&gt;}, </a:t>
            </a:r>
            <a:r>
              <a:rPr kumimoji="0" lang="en-US" altLang="zh-CN" sz="1200" b="1" i="1" dirty="0"/>
              <a:t>S</a:t>
            </a:r>
            <a:r>
              <a:rPr kumimoji="0" lang="en-US" altLang="zh-CN" sz="1200" b="1" dirty="0"/>
              <a:t>={&lt;1,2&gt;,</a:t>
            </a:r>
            <a:r>
              <a:rPr kumimoji="0" lang="en-US" altLang="zh-CN" sz="1200" b="1" i="1" dirty="0" err="1"/>
              <a:t>a</a:t>
            </a:r>
            <a:r>
              <a:rPr kumimoji="0" lang="en-US" altLang="zh-CN" sz="1200" b="1" dirty="0" err="1"/>
              <a:t>,</a:t>
            </a:r>
            <a:r>
              <a:rPr kumimoji="0" lang="en-US" altLang="zh-CN" sz="1200" b="1" i="1" dirty="0" err="1"/>
              <a:t>b</a:t>
            </a:r>
            <a:r>
              <a:rPr kumimoji="0" lang="en-US" altLang="zh-CN" sz="1200" b="1" dirty="0"/>
              <a:t>}. </a:t>
            </a:r>
            <a:endParaRPr kumimoji="0" lang="en-US" altLang="zh-CN" sz="1200" b="1" i="1" dirty="0"/>
          </a:p>
          <a:p>
            <a:pPr eaLnBrk="1" hangingPunct="1">
              <a:lnSpc>
                <a:spcPct val="120000"/>
              </a:lnSpc>
              <a:spcBef>
                <a:spcPct val="0"/>
              </a:spcBef>
              <a:buFontTx/>
              <a:buNone/>
            </a:pPr>
            <a:r>
              <a:rPr kumimoji="0" lang="en-US" altLang="zh-CN" sz="1200" b="1" i="1" dirty="0"/>
              <a:t>      R</a:t>
            </a:r>
            <a:r>
              <a:rPr kumimoji="0" lang="zh-CN" altLang="en-US" sz="1200" b="1" dirty="0"/>
              <a:t>是二元关系</a:t>
            </a:r>
            <a:r>
              <a:rPr kumimoji="0" lang="en-US" altLang="zh-CN" sz="1200" b="1" dirty="0"/>
              <a:t>, </a:t>
            </a:r>
            <a:r>
              <a:rPr kumimoji="0" lang="zh-CN" altLang="en-US" sz="1200" b="1" dirty="0"/>
              <a:t>当</a:t>
            </a:r>
            <a:r>
              <a:rPr kumimoji="0" lang="en-US" altLang="zh-CN" sz="1200" b="1" i="1" dirty="0"/>
              <a:t>a</a:t>
            </a:r>
            <a:r>
              <a:rPr kumimoji="0" lang="en-US" altLang="zh-CN" sz="1200" b="1" dirty="0"/>
              <a:t>, </a:t>
            </a:r>
            <a:r>
              <a:rPr kumimoji="0" lang="en-US" altLang="zh-CN" sz="1200" b="1" i="1" dirty="0"/>
              <a:t>b</a:t>
            </a:r>
            <a:r>
              <a:rPr kumimoji="0" lang="zh-CN" altLang="en-US" sz="1200" b="1" dirty="0"/>
              <a:t>不是有序对时，</a:t>
            </a:r>
            <a:r>
              <a:rPr kumimoji="0" lang="en-US" altLang="zh-CN" sz="1200" b="1" i="1" dirty="0"/>
              <a:t>S</a:t>
            </a:r>
            <a:r>
              <a:rPr kumimoji="0" lang="zh-CN" altLang="en-US" sz="1200" b="1" dirty="0"/>
              <a:t>不是二元关系</a:t>
            </a:r>
          </a:p>
          <a:p>
            <a:pPr eaLnBrk="1" hangingPunct="1">
              <a:lnSpc>
                <a:spcPct val="120000"/>
              </a:lnSpc>
              <a:spcBef>
                <a:spcPct val="0"/>
              </a:spcBef>
              <a:buFontTx/>
              <a:buNone/>
            </a:pPr>
            <a:r>
              <a:rPr kumimoji="0" lang="zh-CN" altLang="en-US" sz="1200" b="1" dirty="0"/>
              <a:t>根据上面的记法，可以写</a:t>
            </a:r>
            <a:r>
              <a:rPr kumimoji="0" lang="en-US" altLang="zh-CN" sz="1200" b="1" dirty="0"/>
              <a:t>1</a:t>
            </a:r>
            <a:r>
              <a:rPr kumimoji="0" lang="en-US" altLang="zh-CN" sz="1200" b="1" i="1" dirty="0"/>
              <a:t>R</a:t>
            </a:r>
            <a:r>
              <a:rPr kumimoji="0" lang="en-US" altLang="zh-CN" sz="1200" b="1" dirty="0"/>
              <a:t>2, </a:t>
            </a:r>
            <a:r>
              <a:rPr kumimoji="0" lang="en-US" altLang="zh-CN" sz="1200" b="1" i="1" dirty="0" err="1"/>
              <a:t>aRb</a:t>
            </a:r>
            <a:r>
              <a:rPr kumimoji="0" lang="en-US" altLang="zh-CN" sz="1200" b="1" dirty="0"/>
              <a:t>, </a:t>
            </a:r>
            <a:r>
              <a:rPr kumimoji="0" lang="en-US" altLang="zh-CN" sz="1200" b="1" i="1" dirty="0"/>
              <a:t>a   c</a:t>
            </a:r>
            <a:r>
              <a:rPr kumimoji="0" lang="zh-CN" altLang="en-US" sz="1200" b="1" dirty="0"/>
              <a:t>等</a:t>
            </a:r>
            <a:r>
              <a:rPr kumimoji="0"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2722285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00B0F0"/>
                </a:solidFill>
              </a:rPr>
              <a:t>例</a:t>
            </a:r>
            <a:r>
              <a:rPr lang="en-US" altLang="zh-CN" sz="1200" b="1" dirty="0">
                <a:solidFill>
                  <a:srgbClr val="00B0F0"/>
                </a:solidFill>
              </a:rPr>
              <a:t>3</a:t>
            </a:r>
            <a:r>
              <a:rPr lang="en-US" altLang="zh-CN" sz="1200" b="1" dirty="0"/>
              <a:t> </a:t>
            </a:r>
          </a:p>
          <a:p>
            <a:pPr eaLnBrk="1" hangingPunct="1">
              <a:lnSpc>
                <a:spcPct val="90000"/>
              </a:lnSpc>
              <a:buFontTx/>
              <a:buNone/>
            </a:pPr>
            <a:r>
              <a:rPr lang="en-US" altLang="zh-CN" sz="1200" b="1" dirty="0"/>
              <a:t>     (1) </a:t>
            </a:r>
            <a:r>
              <a:rPr lang="en-US" altLang="zh-CN" sz="1200" b="1" i="1" dirty="0"/>
              <a:t>R</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 | </a:t>
            </a:r>
            <a:r>
              <a:rPr lang="en-US" altLang="zh-CN" sz="1200" b="1" i="1" dirty="0" err="1"/>
              <a:t>x</a:t>
            </a:r>
            <a:r>
              <a:rPr lang="en-US" altLang="zh-CN" sz="1200" b="1" dirty="0" err="1"/>
              <a:t>,</a:t>
            </a:r>
            <a:r>
              <a:rPr lang="en-US" altLang="zh-CN" sz="1200" b="1" i="1" dirty="0" err="1"/>
              <a:t>y</a:t>
            </a:r>
            <a:r>
              <a:rPr lang="en-US" altLang="zh-CN" sz="1200" b="1" dirty="0" err="1">
                <a:sym typeface="Symbol" panose="05050102010706020507" pitchFamily="18" charset="2"/>
              </a:rPr>
              <a:t></a:t>
            </a:r>
            <a:r>
              <a:rPr lang="en-US" altLang="zh-CN" sz="1200" b="1" dirty="0" err="1"/>
              <a:t>N</a:t>
            </a:r>
            <a:r>
              <a:rPr lang="en-US" altLang="zh-CN" sz="1200" b="1" dirty="0"/>
              <a:t>, </a:t>
            </a:r>
            <a:r>
              <a:rPr lang="en-US" altLang="zh-CN" sz="1200" b="1" i="1" dirty="0" err="1"/>
              <a:t>x</a:t>
            </a:r>
            <a:r>
              <a:rPr lang="en-US" altLang="zh-CN" sz="1200" b="1" dirty="0" err="1"/>
              <a:t>+</a:t>
            </a:r>
            <a:r>
              <a:rPr lang="en-US" altLang="zh-CN" sz="1200" b="1" i="1" dirty="0" err="1"/>
              <a:t>y</a:t>
            </a:r>
            <a:r>
              <a:rPr lang="en-US" altLang="zh-CN" sz="1200" b="1" dirty="0"/>
              <a:t>&lt;3}</a:t>
            </a:r>
            <a:endParaRPr lang="zh-CN" altLang="en-US" sz="1200" b="1" dirty="0"/>
          </a:p>
          <a:p>
            <a:pPr eaLnBrk="1" hangingPunct="1">
              <a:lnSpc>
                <a:spcPct val="90000"/>
              </a:lnSpc>
              <a:buFontTx/>
              <a:buNone/>
            </a:pPr>
            <a:r>
              <a:rPr lang="en-US" altLang="zh-CN" sz="1200" b="1" i="1" dirty="0"/>
              <a:t>             </a:t>
            </a:r>
            <a:r>
              <a:rPr lang="en-US" altLang="zh-CN" sz="1200" b="1" dirty="0"/>
              <a:t>={&lt;0,0&gt;, &lt;0,1&gt;, &lt;0,2&gt;, &lt;1,0&gt;, &lt;1,1&gt;, &lt;2,0&gt;}</a:t>
            </a:r>
          </a:p>
          <a:p>
            <a:pPr eaLnBrk="1" hangingPunct="1">
              <a:lnSpc>
                <a:spcPct val="90000"/>
              </a:lnSpc>
              <a:buFontTx/>
              <a:buNone/>
            </a:pPr>
            <a:r>
              <a:rPr lang="en-US" altLang="zh-CN" sz="1200" b="1" dirty="0"/>
              <a:t>    </a:t>
            </a:r>
          </a:p>
          <a:p>
            <a:pPr eaLnBrk="1" hangingPunct="1">
              <a:lnSpc>
                <a:spcPct val="90000"/>
              </a:lnSpc>
              <a:buFontTx/>
              <a:buNone/>
            </a:pPr>
            <a:r>
              <a:rPr lang="en-US" altLang="zh-CN" sz="1200" b="1" dirty="0"/>
              <a:t>     (2) </a:t>
            </a:r>
            <a:r>
              <a:rPr lang="en-US" altLang="zh-CN" sz="1200" b="1" i="1" dirty="0"/>
              <a:t>C</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 | </a:t>
            </a:r>
            <a:r>
              <a:rPr lang="en-US" altLang="zh-CN" sz="1200" b="1" i="1" dirty="0" err="1"/>
              <a:t>x</a:t>
            </a:r>
            <a:r>
              <a:rPr lang="en-US" altLang="zh-CN" sz="1200" b="1" dirty="0" err="1"/>
              <a:t>,</a:t>
            </a:r>
            <a:r>
              <a:rPr lang="en-US" altLang="zh-CN" sz="1200" b="1" i="1" dirty="0" err="1"/>
              <a:t>y</a:t>
            </a:r>
            <a:r>
              <a:rPr lang="en-US" altLang="zh-CN" sz="1200" b="1" dirty="0" err="1">
                <a:sym typeface="Symbol" panose="05050102010706020507" pitchFamily="18" charset="2"/>
              </a:rPr>
              <a:t></a:t>
            </a:r>
            <a:r>
              <a:rPr lang="en-US" altLang="zh-CN" sz="1200" b="1" dirty="0" err="1"/>
              <a:t>R</a:t>
            </a:r>
            <a:r>
              <a:rPr lang="en-US" altLang="zh-CN" sz="1200" b="1" dirty="0"/>
              <a:t>, </a:t>
            </a:r>
            <a:r>
              <a:rPr lang="en-US" altLang="zh-CN" sz="1200" b="1" i="1" dirty="0"/>
              <a:t>x</a:t>
            </a:r>
            <a:r>
              <a:rPr lang="en-US" altLang="zh-CN" sz="1200" b="1" baseline="30000" dirty="0"/>
              <a:t>2</a:t>
            </a:r>
            <a:r>
              <a:rPr lang="en-US" altLang="zh-CN" sz="1200" b="1" dirty="0"/>
              <a:t>+</a:t>
            </a:r>
            <a:r>
              <a:rPr lang="en-US" altLang="zh-CN" sz="1200" b="1" i="1" dirty="0"/>
              <a:t>y</a:t>
            </a:r>
            <a:r>
              <a:rPr lang="en-US" altLang="zh-CN" sz="1200" b="1" baseline="30000" dirty="0"/>
              <a:t>2</a:t>
            </a:r>
            <a:r>
              <a:rPr lang="en-US" altLang="zh-CN" sz="1200" b="1" dirty="0"/>
              <a:t>=1}</a:t>
            </a:r>
            <a:r>
              <a:rPr lang="zh-CN" altLang="en-US" sz="1200" b="1" dirty="0"/>
              <a:t>，其中</a:t>
            </a:r>
            <a:r>
              <a:rPr lang="en-US" altLang="zh-CN" sz="1200" b="1" dirty="0"/>
              <a:t>R</a:t>
            </a:r>
            <a:r>
              <a:rPr lang="zh-CN" altLang="en-US" sz="1200" b="1" dirty="0"/>
              <a:t>代表实数集合，</a:t>
            </a:r>
          </a:p>
          <a:p>
            <a:pPr eaLnBrk="1" hangingPunct="1">
              <a:lnSpc>
                <a:spcPct val="90000"/>
              </a:lnSpc>
              <a:buFontTx/>
              <a:buNone/>
            </a:pPr>
            <a:r>
              <a:rPr lang="en-US" altLang="zh-CN" sz="1200" b="1" i="1" dirty="0"/>
              <a:t>           C</a:t>
            </a:r>
            <a:r>
              <a:rPr lang="zh-CN" altLang="en-US" sz="1200" b="1" dirty="0"/>
              <a:t>是直角坐标平面上点的横、纵坐标之间的关系，</a:t>
            </a:r>
          </a:p>
          <a:p>
            <a:pPr eaLnBrk="1" hangingPunct="1">
              <a:lnSpc>
                <a:spcPct val="90000"/>
              </a:lnSpc>
              <a:buFontTx/>
              <a:buNone/>
            </a:pPr>
            <a:r>
              <a:rPr lang="en-US" altLang="zh-CN" sz="1200" b="1" dirty="0"/>
              <a:t>           </a:t>
            </a:r>
            <a:r>
              <a:rPr lang="en-US" altLang="zh-CN" sz="1200" b="1" i="1" dirty="0"/>
              <a:t>C</a:t>
            </a:r>
            <a:r>
              <a:rPr lang="zh-CN" altLang="en-US" sz="1200" b="1" dirty="0"/>
              <a:t>中的所有的点恰好构成坐标平面上的单位圆</a:t>
            </a:r>
            <a:r>
              <a:rPr lang="en-US" altLang="zh-CN" sz="1200" b="1" dirty="0"/>
              <a:t>. </a:t>
            </a:r>
          </a:p>
          <a:p>
            <a:pPr eaLnBrk="1" hangingPunct="1">
              <a:lnSpc>
                <a:spcPct val="90000"/>
              </a:lnSpc>
              <a:buFontTx/>
              <a:buNone/>
            </a:pPr>
            <a:r>
              <a:rPr lang="en-US" altLang="zh-CN" sz="1200" b="1" dirty="0"/>
              <a:t>    </a:t>
            </a:r>
          </a:p>
          <a:p>
            <a:pPr eaLnBrk="1" hangingPunct="1">
              <a:lnSpc>
                <a:spcPct val="90000"/>
              </a:lnSpc>
              <a:buFontTx/>
              <a:buNone/>
            </a:pPr>
            <a:r>
              <a:rPr lang="en-US" altLang="zh-CN" sz="1200" b="1" dirty="0"/>
              <a:t>     (3)</a:t>
            </a:r>
            <a:r>
              <a:rPr lang="en-US" altLang="zh-CN" sz="1200" b="1" i="1" dirty="0"/>
              <a:t>  R</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err="1"/>
              <a:t>,</a:t>
            </a:r>
            <a:r>
              <a:rPr lang="en-US" altLang="zh-CN" sz="1200" b="1" i="1" dirty="0" err="1"/>
              <a:t>z</a:t>
            </a:r>
            <a:r>
              <a:rPr lang="en-US" altLang="zh-CN" sz="1200" b="1" dirty="0"/>
              <a:t>&gt; | </a:t>
            </a:r>
            <a:r>
              <a:rPr lang="en-US" altLang="zh-CN" sz="1200" b="1" i="1" dirty="0" err="1"/>
              <a:t>x</a:t>
            </a:r>
            <a:r>
              <a:rPr lang="en-US" altLang="zh-CN" sz="1200" b="1" dirty="0" err="1"/>
              <a:t>,</a:t>
            </a:r>
            <a:r>
              <a:rPr lang="en-US" altLang="zh-CN" sz="1200" b="1" i="1" dirty="0" err="1"/>
              <a:t>y</a:t>
            </a:r>
            <a:r>
              <a:rPr lang="en-US" altLang="zh-CN" sz="1200" b="1" dirty="0" err="1"/>
              <a:t>,</a:t>
            </a:r>
            <a:r>
              <a:rPr lang="en-US" altLang="zh-CN" sz="1200" b="1" i="1" dirty="0" err="1"/>
              <a:t>z</a:t>
            </a:r>
            <a:r>
              <a:rPr lang="en-US" altLang="zh-CN" sz="1200" b="1" dirty="0" err="1">
                <a:sym typeface="Symbol" panose="05050102010706020507" pitchFamily="18" charset="2"/>
              </a:rPr>
              <a:t></a:t>
            </a:r>
            <a:r>
              <a:rPr lang="en-US" altLang="zh-CN" sz="1200" b="1" dirty="0" err="1"/>
              <a:t>R</a:t>
            </a:r>
            <a:r>
              <a:rPr lang="en-US" altLang="zh-CN" sz="1200" b="1" dirty="0"/>
              <a:t>, </a:t>
            </a:r>
            <a:r>
              <a:rPr lang="en-US" altLang="zh-CN" sz="1200" b="1" i="1" dirty="0"/>
              <a:t>x</a:t>
            </a:r>
            <a:r>
              <a:rPr lang="en-US" altLang="zh-CN" sz="1200" b="1" dirty="0"/>
              <a:t>+2</a:t>
            </a:r>
            <a:r>
              <a:rPr lang="en-US" altLang="zh-CN" sz="1200" b="1" i="1" dirty="0"/>
              <a:t>y</a:t>
            </a:r>
            <a:r>
              <a:rPr lang="en-US" altLang="zh-CN" sz="1200" b="1" dirty="0"/>
              <a:t>+</a:t>
            </a:r>
            <a:r>
              <a:rPr lang="en-US" altLang="zh-CN" sz="1200" b="1" i="1" dirty="0"/>
              <a:t>z</a:t>
            </a:r>
            <a:r>
              <a:rPr lang="en-US" altLang="zh-CN" sz="1200" b="1" dirty="0"/>
              <a:t>=3}</a:t>
            </a:r>
            <a:r>
              <a:rPr lang="zh-CN" altLang="en-US" sz="1200" b="1" dirty="0"/>
              <a:t>，</a:t>
            </a:r>
          </a:p>
          <a:p>
            <a:pPr eaLnBrk="1" hangingPunct="1">
              <a:lnSpc>
                <a:spcPct val="90000"/>
              </a:lnSpc>
              <a:buFontTx/>
              <a:buNone/>
            </a:pPr>
            <a:r>
              <a:rPr lang="en-US" altLang="zh-CN" sz="1200" b="1" dirty="0"/>
              <a:t>           </a:t>
            </a:r>
            <a:r>
              <a:rPr lang="en-US" altLang="zh-CN" sz="1200" b="1" i="1" dirty="0"/>
              <a:t>R</a:t>
            </a:r>
            <a:r>
              <a:rPr lang="zh-CN" altLang="en-US" sz="1200" b="1" dirty="0"/>
              <a:t>代表了空间直角坐标系中的一个平面</a:t>
            </a:r>
            <a:r>
              <a:rPr lang="en-US" altLang="zh-CN" sz="1200" b="1" dirty="0"/>
              <a:t>.</a:t>
            </a:r>
            <a:r>
              <a:rPr kumimoji="0" lang="en-US" altLang="zh-CN" sz="1200" b="1" dirty="0"/>
              <a:t>  </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211126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在关系数据库理论中，表（或称为关系）是由这样的</a:t>
            </a:r>
            <a:r>
              <a:rPr lang="en-US" altLang="zh-CN" dirty="0"/>
              <a:t>n</a:t>
            </a:r>
            <a:r>
              <a:rPr lang="zh-CN" altLang="en-US" dirty="0"/>
              <a:t>元组的集合组成的，每个</a:t>
            </a:r>
            <a:r>
              <a:rPr lang="en-US" altLang="zh-CN" dirty="0"/>
              <a:t>n</a:t>
            </a:r>
            <a:r>
              <a:rPr lang="zh-CN" altLang="en-US" dirty="0"/>
              <a:t>元组代表表中的一行，是一个记录。表的每一列代表一个特定的字段，而每一行则是一个记录，反映了这些字段的具体值。</a:t>
            </a:r>
            <a:endParaRPr lang="en-US" altLang="zh-CN" dirty="0"/>
          </a:p>
          <a:p>
            <a:pPr>
              <a:spcBef>
                <a:spcPct val="0"/>
              </a:spcBef>
              <a:buNone/>
            </a:pPr>
            <a:r>
              <a:rPr kumimoji="0" lang="zh-CN" altLang="en-US" sz="1200" b="1" dirty="0"/>
              <a:t>员工</a:t>
            </a:r>
            <a:r>
              <a:rPr lang="zh-CN" altLang="en-US" b="1" dirty="0"/>
              <a:t>工资表（关系）是员工的</a:t>
            </a:r>
            <a:r>
              <a:rPr kumimoji="0" lang="en-US" altLang="zh-CN" sz="1200" b="1" dirty="0"/>
              <a:t>5</a:t>
            </a:r>
            <a:r>
              <a:rPr kumimoji="0" lang="zh-CN" altLang="en-US" sz="1200" b="1" dirty="0"/>
              <a:t>元组的集合：</a:t>
            </a:r>
            <a:endParaRPr kumimoji="0" lang="en-US" altLang="zh-CN" sz="1200" b="1" dirty="0"/>
          </a:p>
          <a:p>
            <a:pPr eaLnBrk="1" hangingPunct="1">
              <a:spcBef>
                <a:spcPct val="0"/>
              </a:spcBef>
              <a:buFontTx/>
              <a:buNone/>
            </a:pPr>
            <a:endParaRPr kumimoji="0" lang="zh-CN" altLang="en-US" sz="1200" b="1" dirty="0"/>
          </a:p>
          <a:p>
            <a:pPr eaLnBrk="1" hangingPunct="1">
              <a:spcBef>
                <a:spcPct val="0"/>
              </a:spcBef>
              <a:buFontTx/>
              <a:buNone/>
            </a:pPr>
            <a:r>
              <a:rPr kumimoji="0" lang="en-US" altLang="zh-CN" sz="1200" b="1" dirty="0"/>
              <a:t>&lt;301,</a:t>
            </a:r>
            <a:r>
              <a:rPr kumimoji="0" lang="zh-CN" altLang="en-US" sz="1200" b="1" dirty="0"/>
              <a:t>柏林</a:t>
            </a:r>
            <a:r>
              <a:rPr kumimoji="0" lang="en-US" altLang="zh-CN" sz="1200" b="1" dirty="0"/>
              <a:t>,25,</a:t>
            </a:r>
            <a:r>
              <a:rPr kumimoji="0" lang="zh-CN" altLang="en-US" sz="1200" b="1" dirty="0"/>
              <a:t>男</a:t>
            </a:r>
            <a:r>
              <a:rPr kumimoji="0" lang="en-US" altLang="zh-CN" sz="1200" b="1" dirty="0"/>
              <a:t>,19000&gt;</a:t>
            </a:r>
            <a:r>
              <a:rPr kumimoji="0" lang="zh-CN" altLang="en-US" sz="1200" b="1" dirty="0"/>
              <a:t>，</a:t>
            </a:r>
            <a:r>
              <a:rPr kumimoji="0" lang="en-US" altLang="zh-CN" sz="1200" b="1" dirty="0"/>
              <a:t>&lt;302,</a:t>
            </a:r>
            <a:r>
              <a:rPr kumimoji="0" lang="zh-CN" altLang="en-US" sz="1200" b="1" dirty="0"/>
              <a:t>欧阳云</a:t>
            </a:r>
            <a:r>
              <a:rPr kumimoji="0" lang="en-US" altLang="zh-CN" sz="1200" b="1" dirty="0"/>
              <a:t>,23,</a:t>
            </a:r>
            <a:r>
              <a:rPr kumimoji="0" lang="zh-CN" altLang="en-US" sz="1200" b="1" dirty="0"/>
              <a:t>女</a:t>
            </a:r>
            <a:r>
              <a:rPr kumimoji="0" lang="en-US" altLang="zh-CN" sz="1200" b="1" dirty="0"/>
              <a:t>,18500&gt;</a:t>
            </a:r>
          </a:p>
          <a:p>
            <a:pPr eaLnBrk="1" hangingPunct="1">
              <a:spcBef>
                <a:spcPct val="0"/>
              </a:spcBef>
              <a:buFontTx/>
              <a:buNone/>
            </a:pP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2389546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集合是关系的静态载体，关系是集合的动态交互规则‌</a:t>
            </a:r>
            <a:endParaRPr lang="en-US" altLang="zh-CN" dirty="0"/>
          </a:p>
          <a:p>
            <a:r>
              <a:rPr lang="zh-CN" altLang="en-US" dirty="0"/>
              <a:t>可以在也可以不在所以</a:t>
            </a:r>
            <a:r>
              <a:rPr lang="en-US" altLang="zh-CN" dirty="0"/>
              <a:t>2^nm</a:t>
            </a:r>
          </a:p>
          <a:p>
            <a:endParaRPr lang="en-US" altLang="zh-CN" dirty="0"/>
          </a:p>
          <a:p>
            <a:pPr eaLnBrk="1" hangingPunct="1">
              <a:spcBef>
                <a:spcPct val="0"/>
              </a:spcBef>
              <a:buFontTx/>
              <a:buNone/>
            </a:pPr>
            <a:r>
              <a:rPr kumimoji="0" lang="zh-CN" altLang="en-US" sz="1200" b="1" dirty="0">
                <a:solidFill>
                  <a:srgbClr val="FF0000"/>
                </a:solidFill>
              </a:rPr>
              <a:t>定义</a:t>
            </a:r>
            <a:r>
              <a:rPr kumimoji="0" lang="en-US" altLang="zh-CN" sz="1200" b="1" dirty="0">
                <a:solidFill>
                  <a:srgbClr val="FF0000"/>
                </a:solidFill>
              </a:rPr>
              <a:t>4.5 </a:t>
            </a:r>
            <a:r>
              <a:rPr kumimoji="0" lang="zh-CN" altLang="en-US" sz="1200" b="1" dirty="0"/>
              <a:t>设</a:t>
            </a:r>
            <a:r>
              <a:rPr kumimoji="0" lang="en-US" altLang="zh-CN" sz="1200" b="1" i="1" dirty="0"/>
              <a:t>A</a:t>
            </a:r>
            <a:r>
              <a:rPr kumimoji="0" lang="en-US" altLang="zh-CN" sz="1200" b="1" dirty="0"/>
              <a:t>,</a:t>
            </a:r>
            <a:r>
              <a:rPr kumimoji="0" lang="en-US" altLang="zh-CN" sz="1200" b="1" i="1" dirty="0"/>
              <a:t>B</a:t>
            </a:r>
            <a:r>
              <a:rPr kumimoji="0" lang="zh-CN" altLang="en-US" sz="1200" b="1" dirty="0"/>
              <a:t>为集合</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zh-CN" altLang="en-US" sz="1200" b="1" dirty="0"/>
              <a:t>的任何子集所定义的二元关系叫做</a:t>
            </a:r>
            <a:r>
              <a:rPr kumimoji="0" lang="zh-CN" altLang="en-US" sz="1200" b="1" dirty="0">
                <a:solidFill>
                  <a:srgbClr val="FF0000"/>
                </a:solidFill>
              </a:rPr>
              <a:t>从</a:t>
            </a:r>
            <a:r>
              <a:rPr kumimoji="0" lang="zh-CN" altLang="en-US" sz="1200" b="1" dirty="0">
                <a:solidFill>
                  <a:srgbClr val="000066"/>
                </a:solidFill>
              </a:rPr>
              <a:t> </a:t>
            </a:r>
            <a:r>
              <a:rPr kumimoji="0" lang="en-US" altLang="zh-CN" sz="1200" b="1" i="1" dirty="0">
                <a:solidFill>
                  <a:srgbClr val="FF0000"/>
                </a:solidFill>
              </a:rPr>
              <a:t>A </a:t>
            </a:r>
            <a:r>
              <a:rPr kumimoji="0" lang="zh-CN" altLang="en-US" sz="1200" b="1" dirty="0">
                <a:solidFill>
                  <a:srgbClr val="FF0000"/>
                </a:solidFill>
              </a:rPr>
              <a:t>到 </a:t>
            </a:r>
            <a:r>
              <a:rPr kumimoji="0" lang="en-US" altLang="zh-CN" sz="1200" b="1" i="1" dirty="0">
                <a:solidFill>
                  <a:srgbClr val="FF0000"/>
                </a:solidFill>
              </a:rPr>
              <a:t>B </a:t>
            </a:r>
            <a:r>
              <a:rPr kumimoji="0" lang="zh-CN" altLang="en-US" sz="1200" b="1" dirty="0">
                <a:solidFill>
                  <a:srgbClr val="FF0000"/>
                </a:solidFill>
              </a:rPr>
              <a:t>的二元关系</a:t>
            </a:r>
            <a:r>
              <a:rPr kumimoji="0" lang="en-US" altLang="zh-CN" sz="1200" b="1" dirty="0"/>
              <a:t>, </a:t>
            </a:r>
            <a:r>
              <a:rPr kumimoji="0" lang="zh-CN" altLang="en-US" sz="1200" b="1" dirty="0"/>
              <a:t>当 </a:t>
            </a:r>
            <a:r>
              <a:rPr kumimoji="0" lang="en-US" altLang="zh-CN" sz="1200" b="1" i="1" dirty="0"/>
              <a:t>A</a:t>
            </a:r>
            <a:r>
              <a:rPr kumimoji="0" lang="en-US" altLang="zh-CN" sz="1200" b="1" dirty="0"/>
              <a:t>=</a:t>
            </a:r>
            <a:r>
              <a:rPr kumimoji="0" lang="en-US" altLang="zh-CN" sz="1200" b="1" i="1" dirty="0"/>
              <a:t>B </a:t>
            </a:r>
            <a:r>
              <a:rPr kumimoji="0" lang="zh-CN" altLang="en-US" sz="1200" b="1" dirty="0"/>
              <a:t>时则叫做 </a:t>
            </a:r>
            <a:r>
              <a:rPr kumimoji="0" lang="en-US" altLang="zh-CN" sz="1200" b="1" i="1" dirty="0">
                <a:solidFill>
                  <a:srgbClr val="FF0000"/>
                </a:solidFill>
              </a:rPr>
              <a:t>A</a:t>
            </a:r>
            <a:r>
              <a:rPr kumimoji="0" lang="zh-CN" altLang="en-US" sz="1200" b="1" dirty="0">
                <a:solidFill>
                  <a:srgbClr val="FF0000"/>
                </a:solidFill>
              </a:rPr>
              <a:t>上的二元关系</a:t>
            </a:r>
            <a:r>
              <a:rPr kumimoji="0" lang="en-US" altLang="zh-CN" sz="1200" b="1" dirty="0"/>
              <a:t>.</a:t>
            </a:r>
          </a:p>
          <a:p>
            <a:pPr eaLnBrk="1" hangingPunct="1">
              <a:spcBef>
                <a:spcPct val="0"/>
              </a:spcBef>
              <a:buFontTx/>
              <a:buNone/>
            </a:pPr>
            <a:endParaRPr kumimoji="0" lang="zh-CN" altLang="en-US" sz="1200" b="1" dirty="0">
              <a:solidFill>
                <a:srgbClr val="000066"/>
              </a:solidFill>
            </a:endParaRPr>
          </a:p>
          <a:p>
            <a:pPr eaLnBrk="1" hangingPunct="1">
              <a:spcBef>
                <a:spcPct val="0"/>
              </a:spcBef>
              <a:buFontTx/>
              <a:buNone/>
            </a:pPr>
            <a:endParaRPr kumimoji="0" lang="zh-CN" altLang="en-US" sz="1200" b="1" dirty="0"/>
          </a:p>
          <a:p>
            <a:pPr eaLnBrk="1" hangingPunct="1">
              <a:spcBef>
                <a:spcPct val="0"/>
              </a:spcBef>
              <a:buFontTx/>
              <a:buNone/>
            </a:pPr>
            <a:r>
              <a:rPr kumimoji="0" lang="zh-CN" altLang="en-US" sz="1200" b="1" dirty="0">
                <a:solidFill>
                  <a:srgbClr val="FF0000"/>
                </a:solidFill>
              </a:rPr>
              <a:t>计数：</a:t>
            </a:r>
          </a:p>
          <a:p>
            <a:pPr eaLnBrk="1" hangingPunct="1">
              <a:spcBef>
                <a:spcPct val="0"/>
              </a:spcBef>
              <a:buFontTx/>
              <a:buNone/>
            </a:pPr>
            <a:r>
              <a:rPr kumimoji="0" lang="en-US" altLang="zh-CN" sz="1200" b="1" dirty="0"/>
              <a:t>|</a:t>
            </a:r>
            <a:r>
              <a:rPr kumimoji="0" lang="en-US" altLang="zh-CN" sz="1200" b="1" i="1" dirty="0">
                <a:solidFill>
                  <a:srgbClr val="FF0000"/>
                </a:solidFill>
              </a:rPr>
              <a:t>A</a:t>
            </a:r>
            <a:r>
              <a:rPr kumimoji="0" lang="en-US" altLang="zh-CN" sz="1200" b="1" dirty="0">
                <a:solidFill>
                  <a:srgbClr val="FF0000"/>
                </a:solidFill>
              </a:rPr>
              <a:t>|=</a:t>
            </a:r>
            <a:r>
              <a:rPr kumimoji="0" lang="en-US" altLang="zh-CN" sz="1200" b="1" i="1" dirty="0">
                <a:solidFill>
                  <a:srgbClr val="FF0000"/>
                </a:solidFill>
              </a:rPr>
              <a:t>n</a:t>
            </a:r>
            <a:r>
              <a:rPr kumimoji="0" lang="en-US" altLang="zh-CN" sz="1200" b="1" dirty="0">
                <a:solidFill>
                  <a:srgbClr val="FF0000"/>
                </a:solidFill>
              </a:rPr>
              <a:t>, |</a:t>
            </a:r>
            <a:r>
              <a:rPr kumimoji="0" lang="en-US" altLang="zh-CN" sz="1200" b="1" i="1" dirty="0">
                <a:solidFill>
                  <a:srgbClr val="FF0000"/>
                </a:solidFill>
              </a:rPr>
              <a:t>B</a:t>
            </a:r>
            <a:r>
              <a:rPr kumimoji="0" lang="en-US" altLang="zh-CN" sz="1200" b="1" dirty="0">
                <a:solidFill>
                  <a:srgbClr val="FF0000"/>
                </a:solidFill>
              </a:rPr>
              <a:t>|=</a:t>
            </a:r>
            <a:r>
              <a:rPr kumimoji="0" lang="en-US" altLang="zh-CN" sz="1200" b="1" i="1" dirty="0">
                <a:solidFill>
                  <a:srgbClr val="FF0000"/>
                </a:solidFill>
              </a:rPr>
              <a:t>m</a:t>
            </a:r>
            <a:r>
              <a:rPr kumimoji="0" lang="en-US" altLang="zh-CN" sz="1200" b="1" dirty="0">
                <a:solidFill>
                  <a:srgbClr val="FF0000"/>
                </a:solidFill>
              </a:rPr>
              <a:t>, |</a:t>
            </a:r>
            <a:r>
              <a:rPr kumimoji="0" lang="en-US" altLang="zh-CN" sz="1200" b="1" i="1" dirty="0">
                <a:solidFill>
                  <a:srgbClr val="FF0000"/>
                </a:solidFill>
              </a:rPr>
              <a:t>A</a:t>
            </a:r>
            <a:r>
              <a:rPr kumimoji="0" lang="en-US" altLang="zh-CN" sz="1200" b="1" dirty="0">
                <a:solidFill>
                  <a:srgbClr val="FF0000"/>
                </a:solidFill>
              </a:rPr>
              <a:t>×</a:t>
            </a:r>
            <a:r>
              <a:rPr kumimoji="0" lang="en-US" altLang="zh-CN" sz="1200" b="1" i="1" dirty="0">
                <a:solidFill>
                  <a:srgbClr val="FF0000"/>
                </a:solidFill>
              </a:rPr>
              <a:t>B</a:t>
            </a:r>
            <a:r>
              <a:rPr kumimoji="0" lang="en-US" altLang="zh-CN" sz="1200" b="1" dirty="0">
                <a:solidFill>
                  <a:srgbClr val="FF0000"/>
                </a:solidFill>
              </a:rPr>
              <a:t>|=</a:t>
            </a:r>
            <a:r>
              <a:rPr kumimoji="0" lang="en-US" altLang="zh-CN" sz="1200" b="1" i="1" dirty="0">
                <a:solidFill>
                  <a:srgbClr val="FF0000"/>
                </a:solidFill>
              </a:rPr>
              <a:t>nm</a:t>
            </a:r>
            <a:r>
              <a:rPr kumimoji="0" lang="en-US" altLang="zh-CN" sz="1200" b="1" dirty="0">
                <a:solidFill>
                  <a:srgbClr val="FF0000"/>
                </a:solidFill>
              </a:rPr>
              <a:t>, </a:t>
            </a:r>
            <a:r>
              <a:rPr kumimoji="0" lang="en-US" altLang="zh-CN" sz="1200" b="1" i="1" dirty="0">
                <a:solidFill>
                  <a:srgbClr val="FF0000"/>
                </a:solidFill>
              </a:rPr>
              <a:t>A</a:t>
            </a:r>
            <a:r>
              <a:rPr kumimoji="0" lang="en-US" altLang="zh-CN" sz="1200" b="1" dirty="0">
                <a:solidFill>
                  <a:srgbClr val="FF0000"/>
                </a:solidFill>
              </a:rPr>
              <a:t>×</a:t>
            </a:r>
            <a:r>
              <a:rPr kumimoji="0" lang="en-US" altLang="zh-CN" sz="1200" b="1" i="1" dirty="0">
                <a:solidFill>
                  <a:srgbClr val="FF0000"/>
                </a:solidFill>
              </a:rPr>
              <a:t>B </a:t>
            </a:r>
            <a:r>
              <a:rPr kumimoji="0" lang="zh-CN" altLang="en-US" sz="1200" b="1" dirty="0">
                <a:solidFill>
                  <a:srgbClr val="FF0000"/>
                </a:solidFill>
              </a:rPr>
              <a:t>的子集有      个</a:t>
            </a:r>
            <a:r>
              <a:rPr kumimoji="0" lang="en-US" altLang="zh-CN" sz="1200" b="1" dirty="0">
                <a:solidFill>
                  <a:srgbClr val="FF0000"/>
                </a:solidFill>
              </a:rPr>
              <a:t>. </a:t>
            </a:r>
            <a:r>
              <a:rPr kumimoji="0" lang="zh-CN" altLang="en-US" sz="1200" b="1" dirty="0">
                <a:solidFill>
                  <a:srgbClr val="FF0000"/>
                </a:solidFill>
              </a:rPr>
              <a:t>所以从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有         个不同的二元关系</a:t>
            </a:r>
            <a:r>
              <a:rPr kumimoji="0" lang="en-US" altLang="zh-CN" sz="1200" b="1" dirty="0">
                <a:solidFill>
                  <a:srgbClr val="FF0000"/>
                </a:solidFill>
              </a:rPr>
              <a:t>. |</a:t>
            </a:r>
            <a:r>
              <a:rPr kumimoji="0" lang="en-US" altLang="zh-CN" sz="1200" b="1" i="1" dirty="0">
                <a:solidFill>
                  <a:srgbClr val="FF0000"/>
                </a:solidFill>
              </a:rPr>
              <a:t>A</a:t>
            </a:r>
            <a:r>
              <a:rPr kumimoji="0" lang="en-US" altLang="zh-CN" sz="1200" b="1" dirty="0">
                <a:solidFill>
                  <a:srgbClr val="FF0000"/>
                </a:solidFill>
              </a:rPr>
              <a:t>|=</a:t>
            </a:r>
            <a:r>
              <a:rPr kumimoji="0" lang="en-US" altLang="zh-CN" sz="1200" b="1" i="1" dirty="0">
                <a:solidFill>
                  <a:srgbClr val="FF0000"/>
                </a:solidFill>
              </a:rPr>
              <a:t>n</a:t>
            </a:r>
            <a:r>
              <a:rPr kumimoji="0" lang="en-US" altLang="zh-CN" sz="1200" b="1" dirty="0">
                <a:solidFill>
                  <a:srgbClr val="FF0000"/>
                </a:solidFill>
              </a:rPr>
              <a:t>, </a:t>
            </a:r>
            <a:r>
              <a:rPr kumimoji="0" lang="en-US" altLang="zh-CN" sz="1200" b="1" i="1" dirty="0">
                <a:solidFill>
                  <a:srgbClr val="FF0000"/>
                </a:solidFill>
              </a:rPr>
              <a:t>A</a:t>
            </a:r>
            <a:r>
              <a:rPr kumimoji="0" lang="zh-CN" altLang="en-US" sz="1200" b="1" dirty="0">
                <a:solidFill>
                  <a:srgbClr val="FF0000"/>
                </a:solidFill>
              </a:rPr>
              <a:t>上有       不同的二元关系</a:t>
            </a:r>
            <a:r>
              <a:rPr kumimoji="0" lang="en-US" altLang="zh-CN" sz="1200" b="1" dirty="0">
                <a:solidFill>
                  <a:srgbClr val="FF0000"/>
                </a:solidFill>
              </a:rPr>
              <a:t>. </a:t>
            </a:r>
          </a:p>
          <a:p>
            <a:pPr eaLnBrk="1" hangingPunct="1">
              <a:spcBef>
                <a:spcPct val="0"/>
              </a:spcBef>
              <a:buFontTx/>
              <a:buNone/>
            </a:pPr>
            <a:r>
              <a:rPr kumimoji="0" lang="zh-CN" altLang="en-US" sz="1200" b="1" dirty="0">
                <a:solidFill>
                  <a:srgbClr val="FF0000"/>
                </a:solidFill>
              </a:rPr>
              <a:t>例如 </a:t>
            </a:r>
            <a:r>
              <a:rPr kumimoji="0" lang="en-US" altLang="zh-CN" sz="1200" b="1" dirty="0">
                <a:solidFill>
                  <a:srgbClr val="FF0000"/>
                </a:solidFill>
              </a:rPr>
              <a:t>|</a:t>
            </a:r>
            <a:r>
              <a:rPr kumimoji="0" lang="en-US" altLang="zh-CN" sz="1200" b="1" i="1" dirty="0">
                <a:solidFill>
                  <a:srgbClr val="FF0000"/>
                </a:solidFill>
              </a:rPr>
              <a:t>A</a:t>
            </a:r>
            <a:r>
              <a:rPr kumimoji="0" lang="en-US" altLang="zh-CN" sz="1200" b="1" dirty="0">
                <a:solidFill>
                  <a:srgbClr val="FF0000"/>
                </a:solidFill>
              </a:rPr>
              <a:t>|=3, </a:t>
            </a:r>
            <a:r>
              <a:rPr kumimoji="0" lang="zh-CN" altLang="en-US" sz="1200" b="1" dirty="0">
                <a:solidFill>
                  <a:srgbClr val="FF0000"/>
                </a:solidFill>
              </a:rPr>
              <a:t>则 </a:t>
            </a:r>
            <a:r>
              <a:rPr kumimoji="0" lang="en-US" altLang="zh-CN" sz="1200" b="1" i="1" dirty="0">
                <a:solidFill>
                  <a:srgbClr val="FF0000"/>
                </a:solidFill>
              </a:rPr>
              <a:t>A</a:t>
            </a:r>
            <a:r>
              <a:rPr kumimoji="0" lang="zh-CN" altLang="en-US" sz="1200" b="1" dirty="0">
                <a:solidFill>
                  <a:srgbClr val="FF0000"/>
                </a:solidFill>
              </a:rPr>
              <a:t>上有</a:t>
            </a:r>
            <a:r>
              <a:rPr kumimoji="0" lang="en-US" altLang="zh-CN" sz="1200" b="1" dirty="0">
                <a:solidFill>
                  <a:srgbClr val="FF0000"/>
                </a:solidFill>
              </a:rPr>
              <a:t>512</a:t>
            </a:r>
            <a:r>
              <a:rPr kumimoji="0" lang="zh-CN" altLang="en-US" sz="1200" b="1" dirty="0">
                <a:solidFill>
                  <a:srgbClr val="FF0000"/>
                </a:solidFill>
              </a:rPr>
              <a:t>个不同的二元关系</a:t>
            </a:r>
            <a:r>
              <a:rPr kumimoji="0" lang="en-US" altLang="zh-CN" sz="1200" b="1" dirty="0">
                <a:solidFill>
                  <a:srgbClr val="FF0000"/>
                </a:solidFill>
              </a:rPr>
              <a:t>.</a:t>
            </a:r>
            <a:endParaRPr lang="en-US" altLang="zh-CN"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3464979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t>设</a:t>
            </a:r>
            <a:r>
              <a:rPr kumimoji="0" lang="en-US" altLang="zh-CN" sz="1200" b="1" i="1" dirty="0"/>
              <a:t>A</a:t>
            </a:r>
            <a:r>
              <a:rPr kumimoji="0" lang="zh-CN" altLang="en-US" sz="1200" b="1" dirty="0"/>
              <a:t>为任意集合，</a:t>
            </a:r>
          </a:p>
          <a:p>
            <a:pPr eaLnBrk="1" hangingPunct="1">
              <a:lnSpc>
                <a:spcPct val="120000"/>
              </a:lnSpc>
              <a:spcBef>
                <a:spcPct val="0"/>
              </a:spcBef>
              <a:buFontTx/>
              <a:buNone/>
            </a:pPr>
            <a:r>
              <a:rPr kumimoji="0" lang="zh-CN" altLang="en-US" sz="1200" b="1" dirty="0">
                <a:sym typeface="Symbol" panose="05050102010706020507" pitchFamily="18" charset="2"/>
              </a:rPr>
              <a:t></a:t>
            </a:r>
            <a:r>
              <a:rPr kumimoji="0" lang="zh-CN" altLang="en-US" sz="1200" b="1" dirty="0"/>
              <a:t>是</a:t>
            </a:r>
            <a:r>
              <a:rPr kumimoji="0" lang="en-US" altLang="zh-CN" sz="1200" b="1" i="1" dirty="0"/>
              <a:t>A</a:t>
            </a:r>
            <a:r>
              <a:rPr kumimoji="0" lang="zh-CN" altLang="en-US" sz="1200" b="1" dirty="0"/>
              <a:t>上的关系，称为</a:t>
            </a:r>
            <a:r>
              <a:rPr kumimoji="0" lang="zh-CN" altLang="en-US" sz="1200" b="1" dirty="0">
                <a:solidFill>
                  <a:srgbClr val="FF0000"/>
                </a:solidFill>
              </a:rPr>
              <a:t>空关系</a:t>
            </a:r>
          </a:p>
          <a:p>
            <a:pPr eaLnBrk="1" hangingPunct="1">
              <a:lnSpc>
                <a:spcPct val="120000"/>
              </a:lnSpc>
              <a:spcBef>
                <a:spcPct val="0"/>
              </a:spcBef>
              <a:buFontTx/>
              <a:buNone/>
            </a:pPr>
            <a:r>
              <a:rPr kumimoji="0" lang="zh-CN" altLang="en-US" sz="1200" b="1" dirty="0">
                <a:solidFill>
                  <a:srgbClr val="FF0000"/>
                </a:solidFill>
              </a:rPr>
              <a:t>定义 </a:t>
            </a:r>
            <a:r>
              <a:rPr kumimoji="0" lang="en-US" altLang="zh-CN" sz="1200" b="1" dirty="0">
                <a:solidFill>
                  <a:srgbClr val="FF0000"/>
                </a:solidFill>
              </a:rPr>
              <a:t>4.6</a:t>
            </a:r>
            <a:r>
              <a:rPr kumimoji="0" lang="en-US" altLang="zh-CN" sz="1200" b="1" i="1" dirty="0"/>
              <a:t>  E</a:t>
            </a:r>
            <a:r>
              <a:rPr kumimoji="0" lang="en-US" altLang="zh-CN" sz="1200" b="1" i="1" baseline="-25000" dirty="0"/>
              <a:t>A</a:t>
            </a:r>
            <a:r>
              <a:rPr kumimoji="0" lang="en-US" altLang="zh-CN" sz="1200" b="1" dirty="0"/>
              <a:t>, </a:t>
            </a:r>
            <a:r>
              <a:rPr kumimoji="0" lang="en-US" altLang="zh-CN" sz="1200" b="1" i="1" dirty="0"/>
              <a:t>I</a:t>
            </a:r>
            <a:r>
              <a:rPr kumimoji="0" lang="en-US" altLang="zh-CN" sz="1200" b="1" i="1" baseline="-25000" dirty="0"/>
              <a:t>A</a:t>
            </a:r>
            <a:r>
              <a:rPr kumimoji="0" lang="zh-CN" altLang="en-US" sz="1200" b="1" dirty="0"/>
              <a:t>分别称为</a:t>
            </a:r>
            <a:r>
              <a:rPr kumimoji="0" lang="zh-CN" altLang="en-US" sz="1200" b="1" dirty="0">
                <a:solidFill>
                  <a:srgbClr val="FF0000"/>
                </a:solidFill>
              </a:rPr>
              <a:t>全域关系</a:t>
            </a:r>
            <a:r>
              <a:rPr kumimoji="0" lang="zh-CN" altLang="en-US" sz="1200" b="1" dirty="0"/>
              <a:t>与</a:t>
            </a:r>
            <a:r>
              <a:rPr kumimoji="0" lang="zh-CN" altLang="en-US" sz="1200" b="1" dirty="0">
                <a:solidFill>
                  <a:srgbClr val="FF0000"/>
                </a:solidFill>
              </a:rPr>
              <a:t>恒等关系</a:t>
            </a:r>
            <a:r>
              <a:rPr kumimoji="0" lang="zh-CN" altLang="en-US" sz="1200" b="1" dirty="0"/>
              <a:t>，其中</a:t>
            </a:r>
          </a:p>
          <a:p>
            <a:pPr eaLnBrk="1" hangingPunct="1">
              <a:lnSpc>
                <a:spcPct val="120000"/>
              </a:lnSpc>
              <a:spcBef>
                <a:spcPct val="0"/>
              </a:spcBef>
              <a:buFontTx/>
              <a:buNone/>
            </a:pPr>
            <a:r>
              <a:rPr kumimoji="0" lang="zh-CN" altLang="en-US" sz="1200" b="1" dirty="0"/>
              <a:t> </a:t>
            </a:r>
            <a:r>
              <a:rPr kumimoji="0" lang="en-US" altLang="zh-CN" sz="1200" b="1" dirty="0"/>
              <a:t>      </a:t>
            </a:r>
            <a:r>
              <a:rPr kumimoji="0" lang="en-US" altLang="zh-CN" sz="1200" b="1" i="1" dirty="0"/>
              <a:t>E</a:t>
            </a:r>
            <a:r>
              <a:rPr kumimoji="0" lang="en-US" altLang="zh-CN" sz="1200" b="1" i="1" baseline="-25000" dirty="0"/>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 </a:t>
            </a:r>
            <a:r>
              <a:rPr kumimoji="0" lang="en-US" altLang="zh-CN" sz="1200" b="1" i="1" dirty="0" err="1"/>
              <a:t>x</a:t>
            </a:r>
            <a:r>
              <a:rPr kumimoji="0" lang="en-US" altLang="zh-CN" sz="1200" b="1" dirty="0" err="1"/>
              <a:t>∈</a:t>
            </a:r>
            <a:r>
              <a:rPr kumimoji="0" lang="en-US" altLang="zh-CN" sz="1200" b="1" i="1" dirty="0" err="1"/>
              <a:t>A</a:t>
            </a:r>
            <a:r>
              <a:rPr kumimoji="0" lang="en-US" altLang="zh-CN" sz="1200" b="1" i="1" dirty="0"/>
              <a:t> </a:t>
            </a:r>
            <a:r>
              <a:rPr kumimoji="0" lang="en-US" altLang="zh-CN" sz="1200" b="1" dirty="0">
                <a:sym typeface="Symbol" panose="05050102010706020507" pitchFamily="18" charset="2"/>
              </a:rPr>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a:t>
            </a:r>
            <a:r>
              <a:rPr kumimoji="0" lang="en-US" altLang="zh-CN" sz="1200" b="1" i="1" dirty="0"/>
              <a:t>A</a:t>
            </a:r>
            <a:r>
              <a:rPr kumimoji="0" lang="en-US" altLang="zh-CN" sz="1200" b="1" dirty="0"/>
              <a:t>×</a:t>
            </a:r>
            <a:r>
              <a:rPr kumimoji="0" lang="en-US" altLang="zh-CN" sz="1200" b="1" i="1" dirty="0"/>
              <a:t>A</a:t>
            </a:r>
            <a:br>
              <a:rPr kumimoji="0" lang="en-US" altLang="zh-CN" sz="1200" b="1" dirty="0"/>
            </a:br>
            <a:r>
              <a:rPr kumimoji="0" lang="en-US" altLang="zh-CN" sz="1200" b="1" dirty="0"/>
              <a:t>    </a:t>
            </a:r>
            <a:r>
              <a:rPr kumimoji="0" lang="en-US" altLang="zh-CN" sz="1200" b="1" i="1" dirty="0"/>
              <a:t>I</a:t>
            </a:r>
            <a:r>
              <a:rPr kumimoji="0" lang="en-US" altLang="zh-CN" sz="1200" b="1" i="1" baseline="-25000" dirty="0"/>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 | </a:t>
            </a:r>
            <a:r>
              <a:rPr kumimoji="0" lang="en-US" altLang="zh-CN" sz="1200" b="1" i="1" dirty="0" err="1"/>
              <a:t>x</a:t>
            </a:r>
            <a:r>
              <a:rPr kumimoji="0" lang="en-US" altLang="zh-CN" sz="1200" b="1" dirty="0" err="1"/>
              <a:t>∈</a:t>
            </a:r>
            <a:r>
              <a:rPr kumimoji="0" lang="en-US" altLang="zh-CN" sz="1200" b="1" i="1" dirty="0" err="1"/>
              <a:t>A</a:t>
            </a:r>
            <a:r>
              <a:rPr kumimoji="0" lang="en-US" altLang="zh-CN" sz="1200" b="1" dirty="0"/>
              <a:t>}</a:t>
            </a:r>
            <a:br>
              <a:rPr kumimoji="0" lang="en-US" altLang="zh-CN" sz="1200" b="1" dirty="0"/>
            </a:b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例如</a:t>
            </a:r>
            <a:r>
              <a:rPr lang="en-US" altLang="zh-CN" b="1" dirty="0">
                <a:solidFill>
                  <a:srgbClr val="000066"/>
                </a:solidFill>
              </a:rPr>
              <a:t> </a:t>
            </a:r>
            <a:r>
              <a:rPr kumimoji="0" lang="en-US" altLang="zh-CN" sz="1200" b="1" dirty="0">
                <a:solidFill>
                  <a:srgbClr val="000066"/>
                </a:solidFill>
              </a:rPr>
              <a:t> </a:t>
            </a:r>
            <a:r>
              <a:rPr kumimoji="0" lang="en-US" altLang="zh-CN" sz="1200" b="1" i="1" dirty="0"/>
              <a:t>A</a:t>
            </a:r>
            <a:r>
              <a:rPr kumimoji="0" lang="en-US" altLang="zh-CN" sz="1200" b="1" dirty="0"/>
              <a:t>={1,2}, </a:t>
            </a:r>
            <a:r>
              <a:rPr kumimoji="0" lang="zh-CN" altLang="en-US" sz="1200" b="1" dirty="0"/>
              <a:t>则</a:t>
            </a:r>
            <a:br>
              <a:rPr kumimoji="0" lang="zh-CN" altLang="en-US" sz="1200" b="1" dirty="0"/>
            </a:br>
            <a:r>
              <a:rPr kumimoji="0" lang="zh-CN" altLang="en-US" sz="1200" b="1" dirty="0"/>
              <a:t>      </a:t>
            </a:r>
            <a:r>
              <a:rPr kumimoji="0" lang="en-US" altLang="zh-CN" sz="1200" b="1" i="1" dirty="0"/>
              <a:t>E</a:t>
            </a:r>
            <a:r>
              <a:rPr kumimoji="0" lang="en-US" altLang="zh-CN" sz="1200" b="1" i="1" baseline="-25000" dirty="0"/>
              <a:t>A</a:t>
            </a:r>
            <a:r>
              <a:rPr kumimoji="0" lang="en-US" altLang="zh-CN" sz="1200" b="1" dirty="0"/>
              <a:t>={&lt;1,1&gt;,&lt;1,2&gt;,&lt;2,1&gt;,&lt;2,2&gt;}</a:t>
            </a:r>
            <a:br>
              <a:rPr kumimoji="0" lang="en-US" altLang="zh-CN" sz="1200" b="1" dirty="0"/>
            </a:br>
            <a:r>
              <a:rPr kumimoji="0" lang="en-US" altLang="zh-CN" sz="1200" b="1" dirty="0"/>
              <a:t>      </a:t>
            </a:r>
            <a:r>
              <a:rPr kumimoji="0" lang="en-US" altLang="zh-CN" sz="1200" b="1" i="1" dirty="0"/>
              <a:t>I</a:t>
            </a:r>
            <a:r>
              <a:rPr kumimoji="0" lang="en-US" altLang="zh-CN" sz="1200" b="1" i="1" baseline="-25000" dirty="0"/>
              <a:t>A</a:t>
            </a:r>
            <a:r>
              <a:rPr kumimoji="0" lang="en-US" altLang="zh-CN" sz="1200" b="1" dirty="0"/>
              <a:t>={&lt;1,1&gt;,&lt;2,2&gt;}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1047996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集合族是一些</a:t>
            </a:r>
            <a:r>
              <a:rPr lang="zh-CN" altLang="zh-CN" sz="1800" dirty="0">
                <a:effectLst/>
                <a:highlight>
                  <a:srgbClr val="FFFF00"/>
                </a:highlight>
                <a:ea typeface="等线" panose="02010600030101010101" pitchFamily="2" charset="-122"/>
                <a:cs typeface="Times New Roman" panose="02020603050405020304" pitchFamily="18" charset="0"/>
              </a:rPr>
              <a:t>集合的集合</a:t>
            </a:r>
            <a:r>
              <a:rPr lang="zh-CN" altLang="zh-CN" sz="1800" dirty="0">
                <a:effectLst/>
                <a:ea typeface="等线" panose="02010600030101010101" pitchFamily="2" charset="-122"/>
                <a:cs typeface="Times New Roman" panose="02020603050405020304" pitchFamily="18" charset="0"/>
              </a:rPr>
              <a:t>。换句话说，它是一个更高层次的集合，其元素本身都是集合。</a:t>
            </a:r>
            <a:endParaRPr lang="en-US" altLang="zh-CN" sz="1800" dirty="0">
              <a:effectLst/>
              <a:ea typeface="等线" panose="02010600030101010101" pitchFamily="2" charset="-122"/>
              <a:cs typeface="Times New Roman" panose="02020603050405020304" pitchFamily="18" charset="0"/>
            </a:endParaRPr>
          </a:p>
          <a:p>
            <a:pPr>
              <a:spcBef>
                <a:spcPct val="0"/>
              </a:spcBef>
              <a:buNone/>
            </a:pPr>
            <a:r>
              <a:rPr lang="zh-CN" altLang="en-US" b="1" dirty="0">
                <a:solidFill>
                  <a:srgbClr val="FF0000"/>
                </a:solidFill>
              </a:rPr>
              <a:t>定义</a:t>
            </a:r>
            <a:r>
              <a:rPr lang="en-US" altLang="zh-CN" b="1" dirty="0">
                <a:solidFill>
                  <a:srgbClr val="FF0000"/>
                </a:solidFill>
              </a:rPr>
              <a:t>4.7</a:t>
            </a:r>
            <a:r>
              <a:rPr lang="en-US" altLang="zh-CN" b="1" dirty="0"/>
              <a:t> </a:t>
            </a:r>
            <a:r>
              <a:rPr lang="zh-CN" altLang="en-US" b="1" dirty="0"/>
              <a:t>：</a:t>
            </a:r>
            <a:endParaRPr lang="en-US" altLang="zh-CN" b="1" dirty="0"/>
          </a:p>
          <a:p>
            <a:pPr eaLnBrk="1" hangingPunct="1">
              <a:spcBef>
                <a:spcPct val="0"/>
              </a:spcBef>
              <a:buFontTx/>
              <a:buNone/>
            </a:pPr>
            <a:r>
              <a:rPr kumimoji="0" lang="zh-CN" altLang="en-US" sz="1200" b="1" dirty="0">
                <a:solidFill>
                  <a:srgbClr val="FF0000"/>
                </a:solidFill>
              </a:rPr>
              <a:t>小于等于关系</a:t>
            </a:r>
            <a:r>
              <a:rPr kumimoji="0" lang="en-US" altLang="zh-CN" sz="1200" b="1" i="1" dirty="0"/>
              <a:t>L</a:t>
            </a:r>
            <a:r>
              <a:rPr kumimoji="0" lang="en-US" altLang="zh-CN" sz="1200" b="1" i="1" baseline="-25000" dirty="0"/>
              <a:t>A</a:t>
            </a:r>
            <a:r>
              <a:rPr kumimoji="0" lang="en-US" altLang="zh-CN" sz="1200" b="1" dirty="0"/>
              <a:t>, </a:t>
            </a:r>
            <a:r>
              <a:rPr kumimoji="0" lang="zh-CN" altLang="en-US" sz="1200" b="1" dirty="0">
                <a:solidFill>
                  <a:srgbClr val="FF0000"/>
                </a:solidFill>
              </a:rPr>
              <a:t>整除关系</a:t>
            </a:r>
            <a:r>
              <a:rPr kumimoji="0" lang="en-US" altLang="zh-CN" sz="1200" b="1" i="1" dirty="0"/>
              <a:t>D</a:t>
            </a:r>
            <a:r>
              <a:rPr kumimoji="0" lang="en-US" altLang="zh-CN" sz="1200" b="1" i="1" baseline="-25000" dirty="0"/>
              <a:t>A</a:t>
            </a:r>
            <a:r>
              <a:rPr kumimoji="0" lang="en-US" altLang="zh-CN" sz="1200" b="1" dirty="0"/>
              <a:t>, </a:t>
            </a:r>
            <a:r>
              <a:rPr kumimoji="0" lang="zh-CN" altLang="en-US" sz="1200" b="1" dirty="0">
                <a:solidFill>
                  <a:srgbClr val="FF0000"/>
                </a:solidFill>
              </a:rPr>
              <a:t>包含关系</a:t>
            </a:r>
            <a:r>
              <a:rPr kumimoji="0" lang="en-US" altLang="zh-CN" sz="1200" b="1" i="1" dirty="0"/>
              <a:t>R</a:t>
            </a:r>
            <a:r>
              <a:rPr kumimoji="0" lang="en-US" altLang="zh-CN" sz="1200" b="1" baseline="-25000" dirty="0">
                <a:sym typeface="Symbol" panose="05050102010706020507" pitchFamily="18" charset="2"/>
              </a:rPr>
              <a:t></a:t>
            </a:r>
            <a:r>
              <a:rPr kumimoji="0" lang="zh-CN" altLang="en-US" sz="1200" b="1" dirty="0"/>
              <a:t>定义如下：</a:t>
            </a:r>
          </a:p>
          <a:p>
            <a:pPr eaLnBrk="1" hangingPunct="1">
              <a:lnSpc>
                <a:spcPct val="150000"/>
              </a:lnSpc>
              <a:spcBef>
                <a:spcPct val="0"/>
              </a:spcBef>
              <a:buFontTx/>
              <a:buNone/>
            </a:pPr>
            <a:r>
              <a:rPr kumimoji="0" lang="en-US" altLang="zh-CN" sz="1200" b="1" i="1" dirty="0"/>
              <a:t>L</a:t>
            </a:r>
            <a:r>
              <a:rPr kumimoji="0" lang="en-US" altLang="zh-CN" sz="1200" b="1" i="1" baseline="-25000" dirty="0"/>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err="1"/>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 </a:t>
            </a:r>
            <a:r>
              <a:rPr kumimoji="0" lang="zh-CN" altLang="en-US" sz="1200" b="1" dirty="0"/>
              <a:t>这里</a:t>
            </a:r>
            <a:r>
              <a:rPr kumimoji="0" lang="en-US" altLang="zh-CN" sz="1200" b="1" i="1" dirty="0"/>
              <a:t>A</a:t>
            </a:r>
            <a:r>
              <a:rPr kumimoji="0" lang="en-US" altLang="zh-CN" sz="1200" b="1" dirty="0">
                <a:sym typeface="Symbol" panose="05050102010706020507" pitchFamily="18" charset="2"/>
              </a:rPr>
              <a:t></a:t>
            </a:r>
            <a:r>
              <a:rPr kumimoji="0" lang="en-US" altLang="zh-CN" sz="1200" b="1" dirty="0"/>
              <a:t>R, R</a:t>
            </a:r>
            <a:r>
              <a:rPr kumimoji="0" lang="zh-CN" altLang="en-US" sz="1200" b="1" dirty="0"/>
              <a:t>为实数集合 </a:t>
            </a:r>
          </a:p>
          <a:p>
            <a:pPr eaLnBrk="1" hangingPunct="1">
              <a:lnSpc>
                <a:spcPct val="150000"/>
              </a:lnSpc>
              <a:spcBef>
                <a:spcPct val="0"/>
              </a:spcBef>
              <a:buFontTx/>
              <a:buNone/>
            </a:pPr>
            <a:r>
              <a:rPr kumimoji="0" lang="en-US" altLang="zh-CN" sz="1200" b="1" i="1" dirty="0"/>
              <a:t>D</a:t>
            </a:r>
            <a:r>
              <a:rPr kumimoji="0" lang="en-US" altLang="zh-CN" sz="1200" b="1" i="1" baseline="-25000" dirty="0"/>
              <a:t>B</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B</a:t>
            </a:r>
            <a:r>
              <a:rPr kumimoji="0" lang="en-US" altLang="zh-CN" sz="1200" b="1" dirty="0" err="1"/>
              <a:t>∧</a:t>
            </a:r>
            <a:r>
              <a:rPr kumimoji="0" lang="en-US" altLang="zh-CN" sz="1200" b="1" i="1" dirty="0" err="1"/>
              <a:t>x</a:t>
            </a:r>
            <a:r>
              <a:rPr kumimoji="0" lang="zh-CN" altLang="en-US" sz="1200" b="1" dirty="0"/>
              <a:t>整除</a:t>
            </a:r>
            <a:r>
              <a:rPr kumimoji="0" lang="en-US" altLang="zh-CN" sz="1200" b="1" i="1" dirty="0"/>
              <a:t>y</a:t>
            </a:r>
            <a:r>
              <a:rPr kumimoji="0" lang="en-US" altLang="zh-CN" sz="1200" b="1" dirty="0"/>
              <a:t>},  </a:t>
            </a:r>
            <a:r>
              <a:rPr kumimoji="0" lang="en-US" altLang="zh-CN" sz="1200" b="1" i="1" dirty="0"/>
              <a:t>B</a:t>
            </a:r>
            <a:r>
              <a:rPr kumimoji="0" lang="en-US" altLang="zh-CN" sz="1200" b="1" dirty="0">
                <a:sym typeface="Symbol" panose="05050102010706020507" pitchFamily="18" charset="2"/>
              </a:rPr>
              <a:t></a:t>
            </a:r>
            <a:r>
              <a:rPr kumimoji="0" lang="en-US" altLang="zh-CN" sz="1200" b="1" dirty="0"/>
              <a:t>Z*, Z*</a:t>
            </a:r>
            <a:r>
              <a:rPr kumimoji="0" lang="zh-CN" altLang="en-US" sz="1200" b="1" dirty="0"/>
              <a:t>为非</a:t>
            </a:r>
            <a:r>
              <a:rPr kumimoji="0" lang="en-US" altLang="zh-CN" sz="1200" b="1" dirty="0"/>
              <a:t>0</a:t>
            </a:r>
            <a:r>
              <a:rPr kumimoji="0" lang="zh-CN" altLang="en-US" sz="1200" b="1" dirty="0"/>
              <a:t>整数集   </a:t>
            </a:r>
          </a:p>
          <a:p>
            <a:pPr eaLnBrk="1" hangingPunct="1">
              <a:lnSpc>
                <a:spcPct val="150000"/>
              </a:lnSpc>
              <a:spcBef>
                <a:spcPct val="0"/>
              </a:spcBef>
              <a:buFontTx/>
              <a:buNone/>
            </a:pPr>
            <a:r>
              <a:rPr kumimoji="0" lang="en-US" altLang="zh-CN" sz="1200" b="1" i="1" dirty="0"/>
              <a:t>R</a:t>
            </a:r>
            <a:r>
              <a:rPr kumimoji="0" lang="en-US" altLang="zh-CN" sz="1200" b="1" baseline="-25000" dirty="0">
                <a:sym typeface="Symbol" panose="05050102010706020507" pitchFamily="18" charset="2"/>
              </a:rPr>
              <a:t></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err="1"/>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 </a:t>
            </a:r>
            <a:r>
              <a:rPr kumimoji="0" lang="zh-CN" altLang="en-US" sz="1200" b="1" dirty="0"/>
              <a:t>这里</a:t>
            </a:r>
            <a:r>
              <a:rPr kumimoji="0" lang="en-US" altLang="zh-CN" sz="1200" b="1" i="1" dirty="0"/>
              <a:t>A</a:t>
            </a:r>
            <a:r>
              <a:rPr kumimoji="0" lang="zh-CN" altLang="en-US" sz="1200" b="1" dirty="0"/>
              <a:t>是集合族</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1192428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集合族是一些</a:t>
            </a:r>
            <a:r>
              <a:rPr lang="zh-CN" altLang="zh-CN" sz="1800" dirty="0">
                <a:effectLst/>
                <a:highlight>
                  <a:srgbClr val="FFFF00"/>
                </a:highlight>
                <a:ea typeface="等线" panose="02010600030101010101" pitchFamily="2" charset="-122"/>
                <a:cs typeface="Times New Roman" panose="02020603050405020304" pitchFamily="18" charset="0"/>
              </a:rPr>
              <a:t>集合的集合</a:t>
            </a:r>
            <a:r>
              <a:rPr lang="zh-CN" altLang="zh-CN" sz="1800" dirty="0">
                <a:effectLst/>
                <a:ea typeface="等线" panose="02010600030101010101" pitchFamily="2" charset="-122"/>
                <a:cs typeface="Times New Roman" panose="02020603050405020304" pitchFamily="18" charset="0"/>
              </a:rPr>
              <a:t>。换句话说，它是一个更高层次的集合，其元素本身都是集合。</a:t>
            </a:r>
            <a:endParaRPr lang="en-US" altLang="zh-CN" sz="1800" dirty="0">
              <a:effectLst/>
              <a:ea typeface="等线" panose="02010600030101010101" pitchFamily="2" charset="-122"/>
              <a:cs typeface="Times New Roman" panose="02020603050405020304" pitchFamily="18" charset="0"/>
            </a:endParaRPr>
          </a:p>
          <a:p>
            <a:pPr>
              <a:spcBef>
                <a:spcPct val="0"/>
              </a:spcBef>
              <a:buNone/>
            </a:pPr>
            <a:r>
              <a:rPr lang="zh-CN" altLang="en-US" b="1" dirty="0">
                <a:solidFill>
                  <a:srgbClr val="FF0000"/>
                </a:solidFill>
              </a:rPr>
              <a:t>定义</a:t>
            </a:r>
            <a:r>
              <a:rPr lang="en-US" altLang="zh-CN" b="1" dirty="0">
                <a:solidFill>
                  <a:srgbClr val="FF0000"/>
                </a:solidFill>
              </a:rPr>
              <a:t>4.7</a:t>
            </a:r>
            <a:r>
              <a:rPr lang="en-US" altLang="zh-CN" b="1" dirty="0"/>
              <a:t> </a:t>
            </a:r>
            <a:r>
              <a:rPr lang="zh-CN" altLang="en-US" b="1" dirty="0"/>
              <a:t>：</a:t>
            </a:r>
            <a:endParaRPr lang="en-US" altLang="zh-CN" b="1" dirty="0"/>
          </a:p>
          <a:p>
            <a:pPr eaLnBrk="1" hangingPunct="1">
              <a:spcBef>
                <a:spcPct val="0"/>
              </a:spcBef>
              <a:buFontTx/>
              <a:buNone/>
            </a:pPr>
            <a:r>
              <a:rPr kumimoji="0" lang="zh-CN" altLang="en-US" sz="1200" b="1" dirty="0">
                <a:solidFill>
                  <a:srgbClr val="FF0000"/>
                </a:solidFill>
              </a:rPr>
              <a:t>小于等于关系</a:t>
            </a:r>
            <a:r>
              <a:rPr kumimoji="0" lang="en-US" altLang="zh-CN" sz="1200" b="1" i="1" dirty="0"/>
              <a:t>L</a:t>
            </a:r>
            <a:r>
              <a:rPr kumimoji="0" lang="en-US" altLang="zh-CN" sz="1200" b="1" i="1" baseline="-25000" dirty="0"/>
              <a:t>A</a:t>
            </a:r>
            <a:r>
              <a:rPr kumimoji="0" lang="en-US" altLang="zh-CN" sz="1200" b="1" dirty="0"/>
              <a:t>, </a:t>
            </a:r>
            <a:r>
              <a:rPr kumimoji="0" lang="zh-CN" altLang="en-US" sz="1200" b="1" dirty="0">
                <a:solidFill>
                  <a:srgbClr val="FF0000"/>
                </a:solidFill>
              </a:rPr>
              <a:t>整除关系</a:t>
            </a:r>
            <a:r>
              <a:rPr kumimoji="0" lang="en-US" altLang="zh-CN" sz="1200" b="1" i="1" dirty="0"/>
              <a:t>D</a:t>
            </a:r>
            <a:r>
              <a:rPr kumimoji="0" lang="en-US" altLang="zh-CN" sz="1200" b="1" i="1" baseline="-25000" dirty="0"/>
              <a:t>A</a:t>
            </a:r>
            <a:r>
              <a:rPr kumimoji="0" lang="en-US" altLang="zh-CN" sz="1200" b="1" dirty="0"/>
              <a:t>, </a:t>
            </a:r>
            <a:r>
              <a:rPr kumimoji="0" lang="zh-CN" altLang="en-US" sz="1200" b="1" dirty="0">
                <a:solidFill>
                  <a:srgbClr val="FF0000"/>
                </a:solidFill>
              </a:rPr>
              <a:t>包含关系</a:t>
            </a:r>
            <a:r>
              <a:rPr kumimoji="0" lang="en-US" altLang="zh-CN" sz="1200" b="1" i="1" dirty="0"/>
              <a:t>R</a:t>
            </a:r>
            <a:r>
              <a:rPr kumimoji="0" lang="en-US" altLang="zh-CN" sz="1200" b="1" baseline="-25000" dirty="0">
                <a:sym typeface="Symbol" panose="05050102010706020507" pitchFamily="18" charset="2"/>
              </a:rPr>
              <a:t></a:t>
            </a:r>
            <a:r>
              <a:rPr kumimoji="0" lang="zh-CN" altLang="en-US" sz="1200" b="1" dirty="0"/>
              <a:t>定义如下：</a:t>
            </a:r>
          </a:p>
          <a:p>
            <a:pPr eaLnBrk="1" hangingPunct="1">
              <a:lnSpc>
                <a:spcPct val="150000"/>
              </a:lnSpc>
              <a:spcBef>
                <a:spcPct val="0"/>
              </a:spcBef>
              <a:buFontTx/>
              <a:buNone/>
            </a:pPr>
            <a:r>
              <a:rPr kumimoji="0" lang="en-US" altLang="zh-CN" sz="1200" b="1" i="1" dirty="0"/>
              <a:t>L</a:t>
            </a:r>
            <a:r>
              <a:rPr kumimoji="0" lang="en-US" altLang="zh-CN" sz="1200" b="1" i="1" baseline="-25000" dirty="0"/>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err="1"/>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 </a:t>
            </a:r>
            <a:r>
              <a:rPr kumimoji="0" lang="zh-CN" altLang="en-US" sz="1200" b="1" dirty="0"/>
              <a:t>这里</a:t>
            </a:r>
            <a:r>
              <a:rPr kumimoji="0" lang="en-US" altLang="zh-CN" sz="1200" b="1" i="1" dirty="0"/>
              <a:t>A</a:t>
            </a:r>
            <a:r>
              <a:rPr kumimoji="0" lang="en-US" altLang="zh-CN" sz="1200" b="1" dirty="0">
                <a:sym typeface="Symbol" panose="05050102010706020507" pitchFamily="18" charset="2"/>
              </a:rPr>
              <a:t></a:t>
            </a:r>
            <a:r>
              <a:rPr kumimoji="0" lang="en-US" altLang="zh-CN" sz="1200" b="1" dirty="0"/>
              <a:t>R, R</a:t>
            </a:r>
            <a:r>
              <a:rPr kumimoji="0" lang="zh-CN" altLang="en-US" sz="1200" b="1" dirty="0"/>
              <a:t>为实数集合 </a:t>
            </a:r>
          </a:p>
          <a:p>
            <a:pPr eaLnBrk="1" hangingPunct="1">
              <a:lnSpc>
                <a:spcPct val="150000"/>
              </a:lnSpc>
              <a:spcBef>
                <a:spcPct val="0"/>
              </a:spcBef>
              <a:buFontTx/>
              <a:buNone/>
            </a:pPr>
            <a:r>
              <a:rPr kumimoji="0" lang="en-US" altLang="zh-CN" sz="1200" b="1" i="1" dirty="0"/>
              <a:t>D</a:t>
            </a:r>
            <a:r>
              <a:rPr kumimoji="0" lang="en-US" altLang="zh-CN" sz="1200" b="1" i="1" baseline="-25000" dirty="0"/>
              <a:t>B</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B</a:t>
            </a:r>
            <a:r>
              <a:rPr kumimoji="0" lang="en-US" altLang="zh-CN" sz="1200" b="1" dirty="0" err="1"/>
              <a:t>∧</a:t>
            </a:r>
            <a:r>
              <a:rPr kumimoji="0" lang="en-US" altLang="zh-CN" sz="1200" b="1" i="1" dirty="0" err="1"/>
              <a:t>x</a:t>
            </a:r>
            <a:r>
              <a:rPr kumimoji="0" lang="zh-CN" altLang="en-US" sz="1200" b="1" dirty="0"/>
              <a:t>整除</a:t>
            </a:r>
            <a:r>
              <a:rPr kumimoji="0" lang="en-US" altLang="zh-CN" sz="1200" b="1" i="1" dirty="0"/>
              <a:t>y</a:t>
            </a:r>
            <a:r>
              <a:rPr kumimoji="0" lang="en-US" altLang="zh-CN" sz="1200" b="1" dirty="0"/>
              <a:t>},  </a:t>
            </a:r>
            <a:r>
              <a:rPr kumimoji="0" lang="en-US" altLang="zh-CN" sz="1200" b="1" i="1" dirty="0"/>
              <a:t>B</a:t>
            </a:r>
            <a:r>
              <a:rPr kumimoji="0" lang="en-US" altLang="zh-CN" sz="1200" b="1" dirty="0">
                <a:sym typeface="Symbol" panose="05050102010706020507" pitchFamily="18" charset="2"/>
              </a:rPr>
              <a:t></a:t>
            </a:r>
            <a:r>
              <a:rPr kumimoji="0" lang="en-US" altLang="zh-CN" sz="1200" b="1" dirty="0"/>
              <a:t>Z*, Z*</a:t>
            </a:r>
            <a:r>
              <a:rPr kumimoji="0" lang="zh-CN" altLang="en-US" sz="1200" b="1" dirty="0"/>
              <a:t>为非</a:t>
            </a:r>
            <a:r>
              <a:rPr kumimoji="0" lang="en-US" altLang="zh-CN" sz="1200" b="1" dirty="0"/>
              <a:t>0</a:t>
            </a:r>
            <a:r>
              <a:rPr kumimoji="0" lang="zh-CN" altLang="en-US" sz="1200" b="1" dirty="0"/>
              <a:t>整数集   </a:t>
            </a:r>
          </a:p>
          <a:p>
            <a:pPr eaLnBrk="1" hangingPunct="1">
              <a:lnSpc>
                <a:spcPct val="150000"/>
              </a:lnSpc>
              <a:spcBef>
                <a:spcPct val="0"/>
              </a:spcBef>
              <a:buFontTx/>
              <a:buNone/>
            </a:pPr>
            <a:r>
              <a:rPr kumimoji="0" lang="en-US" altLang="zh-CN" sz="1200" b="1" i="1" dirty="0"/>
              <a:t>R</a:t>
            </a:r>
            <a:r>
              <a:rPr kumimoji="0" lang="en-US" altLang="zh-CN" sz="1200" b="1" baseline="-25000" dirty="0">
                <a:sym typeface="Symbol" panose="05050102010706020507" pitchFamily="18" charset="2"/>
              </a:rPr>
              <a:t></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err="1"/>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 </a:t>
            </a:r>
            <a:r>
              <a:rPr kumimoji="0" lang="zh-CN" altLang="en-US" sz="1200" b="1" dirty="0"/>
              <a:t>这里</a:t>
            </a:r>
            <a:r>
              <a:rPr kumimoji="0" lang="en-US" altLang="zh-CN" sz="1200" b="1" i="1" dirty="0"/>
              <a:t>A</a:t>
            </a:r>
            <a:r>
              <a:rPr kumimoji="0" lang="zh-CN" altLang="en-US" sz="1200" b="1" dirty="0"/>
              <a:t>是集合族</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2169939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关系的表示方式</a:t>
            </a:r>
            <a:r>
              <a:rPr kumimoji="0" lang="zh-CN" altLang="en-US" sz="1200" b="1" dirty="0"/>
              <a:t>：关系的集合表达式、关系矩阵、关系图</a:t>
            </a:r>
            <a:r>
              <a:rPr kumimoji="0" lang="zh-CN" altLang="en-US" sz="1200" b="1" dirty="0">
                <a:solidFill>
                  <a:srgbClr val="FF0000"/>
                </a:solidFill>
              </a:rPr>
              <a:t> </a:t>
            </a:r>
          </a:p>
          <a:p>
            <a:pPr eaLnBrk="1" hangingPunct="1">
              <a:spcBef>
                <a:spcPct val="50000"/>
              </a:spcBef>
              <a:buFontTx/>
              <a:buNone/>
            </a:pPr>
            <a:r>
              <a:rPr kumimoji="0" lang="zh-CN" altLang="en-US" sz="1200" b="1" dirty="0">
                <a:solidFill>
                  <a:srgbClr val="FF0000"/>
                </a:solidFill>
              </a:rPr>
              <a:t>定义</a:t>
            </a:r>
            <a:r>
              <a:rPr kumimoji="0" lang="en-US" altLang="zh-CN" sz="1200" b="1" dirty="0">
                <a:solidFill>
                  <a:srgbClr val="FF0000"/>
                </a:solidFill>
              </a:rPr>
              <a:t>4.8  </a:t>
            </a:r>
            <a:r>
              <a:rPr kumimoji="0" lang="zh-CN" altLang="en-US" sz="1200" b="1" dirty="0">
                <a:solidFill>
                  <a:srgbClr val="FF0000"/>
                </a:solidFill>
              </a:rPr>
              <a:t>关系矩阵  </a:t>
            </a:r>
            <a:r>
              <a:rPr kumimoji="0" lang="zh-CN" altLang="en-US" sz="1200" b="1" dirty="0"/>
              <a:t>若</a:t>
            </a:r>
            <a:r>
              <a:rPr kumimoji="0" lang="en-US" altLang="zh-CN" sz="1200" b="1" i="1" dirty="0"/>
              <a:t>A</a:t>
            </a:r>
            <a:r>
              <a:rPr kumimoji="0" lang="en-US" altLang="zh-CN" sz="1200" b="1" dirty="0"/>
              <a:t>={</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m</a:t>
            </a:r>
            <a:r>
              <a:rPr kumimoji="0" lang="en-US" altLang="zh-CN" sz="1200" b="1" dirty="0"/>
              <a:t>}</a:t>
            </a:r>
            <a:r>
              <a:rPr kumimoji="0" lang="zh-CN" altLang="en-US" sz="1200" b="1" dirty="0"/>
              <a:t>，</a:t>
            </a:r>
            <a:r>
              <a:rPr kumimoji="0" lang="en-US" altLang="zh-CN" sz="1200" b="1" i="1" dirty="0"/>
              <a:t>B</a:t>
            </a:r>
            <a:r>
              <a:rPr kumimoji="0" lang="en-US" altLang="zh-CN" sz="1200" b="1" dirty="0"/>
              <a:t>={</a:t>
            </a:r>
            <a:r>
              <a:rPr kumimoji="0" lang="en-US" altLang="zh-CN" sz="1200" b="1" i="1" dirty="0"/>
              <a:t>y</a:t>
            </a:r>
            <a:r>
              <a:rPr kumimoji="0" lang="en-US" altLang="zh-CN" sz="1200" b="1" baseline="-25000" dirty="0"/>
              <a:t>1</a:t>
            </a:r>
            <a:r>
              <a:rPr kumimoji="0" lang="en-US" altLang="zh-CN" sz="1200" b="1" dirty="0"/>
              <a:t>, </a:t>
            </a:r>
            <a:r>
              <a:rPr kumimoji="0" lang="en-US" altLang="zh-CN" sz="1200" b="1" i="1" dirty="0"/>
              <a:t>y</a:t>
            </a:r>
            <a:r>
              <a:rPr kumimoji="0" lang="en-US" altLang="zh-CN" sz="1200" b="1" baseline="-25000" dirty="0"/>
              <a:t>2</a:t>
            </a:r>
            <a:r>
              <a:rPr kumimoji="0" lang="en-US" altLang="zh-CN" sz="1200" b="1" dirty="0"/>
              <a:t>, …, </a:t>
            </a:r>
            <a:r>
              <a:rPr kumimoji="0" lang="en-US" altLang="zh-CN" sz="1200" b="1" i="1" dirty="0" err="1"/>
              <a:t>y</a:t>
            </a:r>
            <a:r>
              <a:rPr kumimoji="0" lang="en-US" altLang="zh-CN" sz="1200" b="1" i="1" baseline="-25000" dirty="0" err="1"/>
              <a:t>n</a:t>
            </a:r>
            <a:r>
              <a:rPr kumimoji="0" lang="en-US" altLang="zh-CN" sz="1200" b="1" dirty="0"/>
              <a:t>}</a:t>
            </a:r>
            <a:r>
              <a:rPr kumimoji="0" lang="zh-CN" altLang="en-US" sz="1200" b="1" dirty="0"/>
              <a:t>，</a:t>
            </a:r>
            <a:r>
              <a:rPr kumimoji="0" lang="en-US" altLang="zh-CN" sz="1200" b="1" i="1" dirty="0"/>
              <a:t>R</a:t>
            </a:r>
            <a:r>
              <a:rPr kumimoji="0" lang="zh-CN" altLang="en-US" sz="1200" b="1" dirty="0"/>
              <a:t>是从</a:t>
            </a:r>
            <a:r>
              <a:rPr kumimoji="0" lang="en-US" altLang="zh-CN" sz="1200" b="1" i="1" dirty="0"/>
              <a:t>A</a:t>
            </a:r>
            <a:r>
              <a:rPr kumimoji="0" lang="zh-CN" altLang="en-US" sz="1200" b="1" dirty="0"/>
              <a:t>到</a:t>
            </a:r>
            <a:r>
              <a:rPr kumimoji="0" lang="en-US" altLang="zh-CN" sz="1200" b="1" i="1" dirty="0"/>
              <a:t>B</a:t>
            </a:r>
            <a:r>
              <a:rPr kumimoji="0" lang="zh-CN" altLang="en-US" sz="1200" b="1" dirty="0"/>
              <a:t>的关系，</a:t>
            </a:r>
            <a:r>
              <a:rPr kumimoji="0" lang="en-US" altLang="zh-CN" sz="1200" b="1" i="1" dirty="0"/>
              <a:t>R</a:t>
            </a:r>
            <a:r>
              <a:rPr kumimoji="0" lang="zh-CN" altLang="en-US" sz="1200" b="1" dirty="0"/>
              <a:t>的关系矩阵是布尔矩阵</a:t>
            </a:r>
            <a:r>
              <a:rPr kumimoji="0" lang="en-US" altLang="zh-CN" sz="1200" b="1" i="1" dirty="0"/>
              <a:t>M</a:t>
            </a:r>
            <a:r>
              <a:rPr kumimoji="0" lang="en-US" altLang="zh-CN" sz="1200" b="1" i="1" baseline="-25000" dirty="0"/>
              <a:t>R</a:t>
            </a:r>
            <a:r>
              <a:rPr kumimoji="0" lang="en-US" altLang="zh-CN" sz="1200" b="1" dirty="0"/>
              <a:t> = [ </a:t>
            </a:r>
            <a:r>
              <a:rPr kumimoji="0" lang="en-US" altLang="zh-CN" sz="1200" b="1" i="1" dirty="0" err="1"/>
              <a:t>r</a:t>
            </a:r>
            <a:r>
              <a:rPr kumimoji="0" lang="en-US" altLang="zh-CN" sz="1200" b="1" i="1" baseline="-25000" dirty="0" err="1"/>
              <a:t>ij</a:t>
            </a:r>
            <a:r>
              <a:rPr kumimoji="0" lang="en-US" altLang="zh-CN" sz="1200" b="1" dirty="0"/>
              <a:t> ] </a:t>
            </a:r>
            <a:r>
              <a:rPr kumimoji="0" lang="en-US" altLang="zh-CN" sz="1200" b="1" i="1" baseline="-25000" dirty="0" err="1"/>
              <a:t>m</a:t>
            </a:r>
            <a:r>
              <a:rPr kumimoji="0" lang="en-US" altLang="zh-CN" sz="1200" b="1" baseline="-25000" dirty="0" err="1">
                <a:sym typeface="Symbol" panose="05050102010706020507" pitchFamily="18" charset="2"/>
              </a:rPr>
              <a:t></a:t>
            </a:r>
            <a:r>
              <a:rPr kumimoji="0" lang="en-US" altLang="zh-CN" sz="1200" b="1" i="1" baseline="-25000" dirty="0" err="1"/>
              <a:t>n</a:t>
            </a:r>
            <a:r>
              <a:rPr kumimoji="0" lang="en-US" altLang="zh-CN" sz="1200" b="1" dirty="0"/>
              <a:t>, </a:t>
            </a:r>
            <a:r>
              <a:rPr kumimoji="0" lang="zh-CN" altLang="en-US" sz="1200" b="1" dirty="0"/>
              <a:t>其中  </a:t>
            </a:r>
            <a:r>
              <a:rPr kumimoji="0" lang="en-US" altLang="zh-CN" sz="1200" b="1" i="1" dirty="0" err="1"/>
              <a:t>r</a:t>
            </a:r>
            <a:r>
              <a:rPr kumimoji="0" lang="en-US" altLang="zh-CN" sz="1200" b="1" i="1" baseline="-25000" dirty="0" err="1"/>
              <a:t>ij</a:t>
            </a:r>
            <a:r>
              <a:rPr kumimoji="0" lang="en-US" altLang="zh-CN" sz="1200" b="1" baseline="-25000" dirty="0"/>
              <a:t> </a:t>
            </a:r>
            <a:r>
              <a:rPr kumimoji="0" lang="en-US" altLang="zh-CN" sz="1200" b="1" dirty="0"/>
              <a:t>= 1</a:t>
            </a:r>
            <a:r>
              <a:rPr kumimoji="0" lang="en-US" altLang="zh-CN" sz="1200" b="1" dirty="0">
                <a:sym typeface="Symbol" panose="05050102010706020507" pitchFamily="18" charset="2"/>
              </a:rPr>
              <a:t></a:t>
            </a:r>
            <a:r>
              <a:rPr kumimoji="0" lang="en-US" altLang="zh-CN" sz="1200" b="1" dirty="0"/>
              <a:t> &lt; </a:t>
            </a:r>
            <a:r>
              <a:rPr kumimoji="0" lang="en-US" altLang="zh-CN" sz="1200" b="1" i="1" dirty="0"/>
              <a:t>x</a:t>
            </a:r>
            <a:r>
              <a:rPr kumimoji="0" lang="en-US" altLang="zh-CN" sz="1200" b="1" i="1" baseline="-25000" dirty="0"/>
              <a:t>i</a:t>
            </a:r>
            <a:r>
              <a:rPr kumimoji="0" lang="en-US" altLang="zh-CN" sz="1200" b="1" dirty="0"/>
              <a:t>, </a:t>
            </a:r>
            <a:r>
              <a:rPr kumimoji="0" lang="en-US" altLang="zh-CN" sz="1200" b="1" i="1" dirty="0" err="1"/>
              <a:t>y</a:t>
            </a:r>
            <a:r>
              <a:rPr kumimoji="0" lang="en-US" altLang="zh-CN" sz="1200" b="1" i="1" baseline="-25000" dirty="0" err="1"/>
              <a:t>j</a:t>
            </a:r>
            <a:r>
              <a:rPr kumimoji="0" lang="en-US" altLang="zh-CN" sz="1200" b="1" dirty="0"/>
              <a:t>&gt; </a:t>
            </a:r>
            <a:r>
              <a:rPr kumimoji="0" lang="en-US" altLang="zh-CN" sz="1200" b="1" dirty="0">
                <a:sym typeface="Symbol" panose="05050102010706020507" pitchFamily="18" charset="2"/>
              </a:rPr>
              <a:t></a:t>
            </a:r>
            <a:r>
              <a:rPr kumimoji="0" lang="en-US" altLang="zh-CN" sz="1200" b="1" i="1" dirty="0"/>
              <a:t>R</a:t>
            </a:r>
            <a:r>
              <a:rPr kumimoji="0" lang="en-US" altLang="zh-CN" sz="1200" b="1" dirty="0"/>
              <a:t>. </a:t>
            </a:r>
          </a:p>
          <a:p>
            <a:pPr eaLnBrk="1" hangingPunct="1">
              <a:spcBef>
                <a:spcPct val="50000"/>
              </a:spcBef>
              <a:buFontTx/>
              <a:buNone/>
            </a:pPr>
            <a:r>
              <a:rPr kumimoji="0" lang="zh-CN" altLang="en-US" sz="1200" b="1" dirty="0">
                <a:solidFill>
                  <a:srgbClr val="FF0000"/>
                </a:solidFill>
              </a:rPr>
              <a:t>定义</a:t>
            </a:r>
            <a:r>
              <a:rPr kumimoji="0" lang="en-US" altLang="zh-CN" sz="1200" b="1" dirty="0">
                <a:solidFill>
                  <a:srgbClr val="FF0000"/>
                </a:solidFill>
              </a:rPr>
              <a:t>4.9 </a:t>
            </a:r>
            <a:r>
              <a:rPr kumimoji="0" lang="zh-CN" altLang="en-US" sz="1200" b="1" dirty="0">
                <a:solidFill>
                  <a:srgbClr val="FF0000"/>
                </a:solidFill>
              </a:rPr>
              <a:t>关系图  </a:t>
            </a:r>
            <a:r>
              <a:rPr kumimoji="0" lang="zh-CN" altLang="en-US" sz="1200" b="1" dirty="0"/>
              <a:t>若</a:t>
            </a:r>
            <a:r>
              <a:rPr kumimoji="0" lang="en-US" altLang="zh-CN" sz="1200" b="1" i="1" dirty="0"/>
              <a:t>A</a:t>
            </a:r>
            <a:r>
              <a:rPr kumimoji="0" lang="en-US" altLang="zh-CN" sz="1200" b="1" dirty="0"/>
              <a:t>= {</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m</a:t>
            </a:r>
            <a:r>
              <a:rPr kumimoji="0" lang="en-US" altLang="zh-CN" sz="1200" b="1" dirty="0"/>
              <a:t>}</a:t>
            </a:r>
            <a:r>
              <a:rPr kumimoji="0" lang="zh-CN" altLang="en-US" sz="1200" b="1" dirty="0"/>
              <a:t>，</a:t>
            </a:r>
            <a:r>
              <a:rPr kumimoji="0" lang="en-US" altLang="zh-CN" sz="1200" b="1" i="1" dirty="0"/>
              <a:t>R</a:t>
            </a:r>
            <a:r>
              <a:rPr kumimoji="0" lang="zh-CN" altLang="en-US" sz="1200" b="1" dirty="0"/>
              <a:t>是从</a:t>
            </a:r>
            <a:r>
              <a:rPr kumimoji="0" lang="en-US" altLang="zh-CN" sz="1200" b="1" i="1" dirty="0"/>
              <a:t>A</a:t>
            </a:r>
            <a:r>
              <a:rPr kumimoji="0" lang="zh-CN" altLang="en-US" sz="1200" b="1" dirty="0"/>
              <a:t>上的关系，</a:t>
            </a:r>
            <a:r>
              <a:rPr kumimoji="0" lang="en-US" altLang="zh-CN" sz="1200" b="1" i="1" dirty="0"/>
              <a:t>R</a:t>
            </a:r>
            <a:r>
              <a:rPr kumimoji="0" lang="zh-CN" altLang="en-US" sz="1200" b="1" dirty="0"/>
              <a:t>的关系图是</a:t>
            </a:r>
            <a:r>
              <a:rPr kumimoji="0" lang="en-US" altLang="zh-CN" sz="1200" b="1" i="1" dirty="0"/>
              <a:t>G</a:t>
            </a:r>
            <a:r>
              <a:rPr kumimoji="0" lang="en-US" altLang="zh-CN" sz="1200" b="1" i="1" baseline="-25000" dirty="0"/>
              <a:t>R</a:t>
            </a:r>
            <a:r>
              <a:rPr kumimoji="0" lang="en-US" altLang="zh-CN" sz="1200" b="1" dirty="0"/>
              <a:t>=&lt;</a:t>
            </a:r>
            <a:r>
              <a:rPr kumimoji="0" lang="en-US" altLang="zh-CN" sz="1200" b="1" i="1" dirty="0"/>
              <a:t>A</a:t>
            </a:r>
            <a:r>
              <a:rPr kumimoji="0" lang="en-US" altLang="zh-CN" sz="1200" b="1" dirty="0"/>
              <a:t>, </a:t>
            </a:r>
            <a:r>
              <a:rPr kumimoji="0" lang="en-US" altLang="zh-CN" sz="1200" b="1" i="1" dirty="0"/>
              <a:t>R</a:t>
            </a:r>
            <a:r>
              <a:rPr kumimoji="0" lang="en-US" altLang="zh-CN" sz="1200" b="1" dirty="0"/>
              <a:t>&gt;, </a:t>
            </a:r>
            <a:r>
              <a:rPr kumimoji="0" lang="zh-CN" altLang="en-US" sz="1200" b="1" dirty="0"/>
              <a:t>其中</a:t>
            </a:r>
            <a:r>
              <a:rPr kumimoji="0" lang="en-US" altLang="zh-CN" sz="1200" b="1" i="1" dirty="0"/>
              <a:t>A</a:t>
            </a:r>
            <a:r>
              <a:rPr kumimoji="0" lang="zh-CN" altLang="en-US" sz="1200" b="1" dirty="0"/>
              <a:t>为结点集，</a:t>
            </a:r>
            <a:r>
              <a:rPr kumimoji="0" lang="en-US" altLang="zh-CN" sz="1200" b="1" i="1" dirty="0"/>
              <a:t>R</a:t>
            </a:r>
            <a:r>
              <a:rPr kumimoji="0" lang="zh-CN" altLang="en-US" sz="1200" b="1" dirty="0"/>
              <a:t>为边集</a:t>
            </a:r>
            <a:r>
              <a:rPr kumimoji="0" lang="en-US" altLang="zh-CN" sz="1200" b="1" dirty="0"/>
              <a:t>.</a:t>
            </a:r>
            <a:r>
              <a:rPr kumimoji="0" lang="zh-CN" altLang="en-US" sz="1200" b="1" dirty="0"/>
              <a:t>如果</a:t>
            </a:r>
            <a:r>
              <a:rPr kumimoji="0" lang="en-US" altLang="zh-CN" sz="1200" b="1" dirty="0"/>
              <a:t>&lt;</a:t>
            </a:r>
            <a:r>
              <a:rPr kumimoji="0" lang="en-US" altLang="zh-CN" sz="1200" b="1" i="1" dirty="0" err="1"/>
              <a:t>x</a:t>
            </a:r>
            <a:r>
              <a:rPr kumimoji="0" lang="en-US" altLang="zh-CN" sz="1200" b="1" i="1" baseline="-25000" dirty="0" err="1"/>
              <a:t>i</a:t>
            </a:r>
            <a:r>
              <a:rPr kumimoji="0" lang="en-US" altLang="zh-CN" sz="1200" b="1" dirty="0" err="1"/>
              <a:t>,</a:t>
            </a:r>
            <a:r>
              <a:rPr kumimoji="0" lang="en-US" altLang="zh-CN" sz="1200" b="1" i="1" dirty="0" err="1"/>
              <a:t>x</a:t>
            </a:r>
            <a:r>
              <a:rPr kumimoji="0" lang="en-US" altLang="zh-CN" sz="1200" b="1" i="1" baseline="-25000" dirty="0" err="1"/>
              <a:t>j</a:t>
            </a:r>
            <a:r>
              <a:rPr kumimoji="0" lang="en-US" altLang="zh-CN" sz="1200" b="1" dirty="0"/>
              <a:t>&gt;</a:t>
            </a:r>
            <a:r>
              <a:rPr kumimoji="0" lang="zh-CN" altLang="en-US" sz="1200" b="1" dirty="0"/>
              <a:t>属于关系</a:t>
            </a:r>
            <a:r>
              <a:rPr kumimoji="0" lang="en-US" altLang="zh-CN" sz="1200" b="1" i="1" dirty="0"/>
              <a:t>R</a:t>
            </a:r>
            <a:r>
              <a:rPr kumimoji="0" lang="zh-CN" altLang="en-US" sz="1200" b="1" dirty="0"/>
              <a:t>，在图中就有一条从 </a:t>
            </a:r>
            <a:r>
              <a:rPr kumimoji="0" lang="en-US" altLang="zh-CN" sz="1200" b="1" i="1" dirty="0"/>
              <a:t>x</a:t>
            </a:r>
            <a:r>
              <a:rPr kumimoji="0" lang="en-US" altLang="zh-CN" sz="1200" b="1" i="1" baseline="-25000" dirty="0"/>
              <a:t>i</a:t>
            </a:r>
            <a:r>
              <a:rPr kumimoji="0" lang="en-US" altLang="zh-CN" sz="1200" b="1" i="1" dirty="0"/>
              <a:t> </a:t>
            </a:r>
            <a:r>
              <a:rPr kumimoji="0" lang="zh-CN" altLang="en-US" sz="1200" b="1" dirty="0"/>
              <a:t>到 </a:t>
            </a:r>
            <a:r>
              <a:rPr kumimoji="0" lang="en-US" altLang="zh-CN" sz="1200" b="1" i="1" dirty="0" err="1"/>
              <a:t>x</a:t>
            </a:r>
            <a:r>
              <a:rPr kumimoji="0" lang="en-US" altLang="zh-CN" sz="1200" b="1" i="1" baseline="-25000" dirty="0" err="1"/>
              <a:t>j</a:t>
            </a:r>
            <a:r>
              <a:rPr kumimoji="0" lang="en-US" altLang="zh-CN" sz="1200" b="1" i="1" baseline="-25000" dirty="0"/>
              <a:t> </a:t>
            </a:r>
            <a:r>
              <a:rPr kumimoji="0" lang="zh-CN" altLang="en-US" sz="1200" b="1" dirty="0"/>
              <a:t>的有向边</a:t>
            </a:r>
            <a:r>
              <a:rPr kumimoji="0" lang="en-US" altLang="zh-CN" sz="1200" b="1" dirty="0"/>
              <a:t>. </a:t>
            </a:r>
          </a:p>
          <a:p>
            <a:pPr eaLnBrk="1" hangingPunct="1">
              <a:spcBef>
                <a:spcPct val="50000"/>
              </a:spcBef>
              <a:buFontTx/>
              <a:buNone/>
            </a:pPr>
            <a:r>
              <a:rPr kumimoji="0" lang="zh-CN" altLang="en-US" sz="1200" b="1" dirty="0"/>
              <a:t>注意：设</a:t>
            </a:r>
            <a:r>
              <a:rPr kumimoji="0" lang="en-US" altLang="zh-CN" sz="1200" b="1" i="1" dirty="0"/>
              <a:t>A</a:t>
            </a:r>
            <a:r>
              <a:rPr kumimoji="0" lang="en-US" altLang="zh-CN" sz="1200" b="1" dirty="0"/>
              <a:t>, </a:t>
            </a:r>
            <a:r>
              <a:rPr kumimoji="0" lang="en-US" altLang="zh-CN" sz="1200" b="1" i="1" dirty="0"/>
              <a:t>B</a:t>
            </a:r>
            <a:r>
              <a:rPr kumimoji="0" lang="zh-CN" altLang="en-US" sz="1200" b="1" dirty="0"/>
              <a:t>为有穷集</a:t>
            </a:r>
          </a:p>
          <a:p>
            <a:pPr eaLnBrk="1" hangingPunct="1">
              <a:spcBef>
                <a:spcPct val="0"/>
              </a:spcBef>
              <a:buFontTx/>
              <a:buNone/>
            </a:pPr>
            <a:r>
              <a:rPr kumimoji="0" lang="zh-CN" altLang="en-US" sz="1200" b="1" dirty="0"/>
              <a:t>关系矩阵适合于表示从</a:t>
            </a:r>
            <a:r>
              <a:rPr kumimoji="0" lang="en-US" altLang="zh-CN" sz="1200" b="1" i="1" dirty="0"/>
              <a:t>A</a:t>
            </a:r>
            <a:r>
              <a:rPr kumimoji="0" lang="zh-CN" altLang="en-US" sz="1200" b="1" dirty="0"/>
              <a:t>到</a:t>
            </a:r>
            <a:r>
              <a:rPr kumimoji="0" lang="en-US" altLang="zh-CN" sz="1200" b="1" i="1" dirty="0"/>
              <a:t>B </a:t>
            </a:r>
            <a:r>
              <a:rPr kumimoji="0" lang="zh-CN" altLang="en-US" sz="1200" b="1" dirty="0"/>
              <a:t>的关系或者</a:t>
            </a:r>
            <a:r>
              <a:rPr kumimoji="0" lang="en-US" altLang="zh-CN" sz="1200" b="1" i="1" dirty="0"/>
              <a:t>A</a:t>
            </a:r>
            <a:r>
              <a:rPr kumimoji="0" lang="zh-CN" altLang="en-US" sz="1200" b="1" dirty="0"/>
              <a:t>上的关系</a:t>
            </a:r>
          </a:p>
          <a:p>
            <a:pPr eaLnBrk="1" hangingPunct="1">
              <a:spcBef>
                <a:spcPct val="0"/>
              </a:spcBef>
              <a:buFontTx/>
              <a:buNone/>
            </a:pPr>
            <a:r>
              <a:rPr kumimoji="0" lang="zh-CN" altLang="en-US" sz="1200" b="1" dirty="0"/>
              <a:t>关系图适合于表示</a:t>
            </a:r>
            <a:r>
              <a:rPr kumimoji="0" lang="en-US" altLang="zh-CN" sz="1200" b="1" i="1" dirty="0"/>
              <a:t>A</a:t>
            </a:r>
            <a:r>
              <a:rPr kumimoji="0" lang="zh-CN" altLang="en-US" sz="1200" b="1" dirty="0"/>
              <a:t>上的关系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2228903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关系的表示方式</a:t>
            </a:r>
            <a:r>
              <a:rPr kumimoji="0" lang="zh-CN" altLang="en-US" sz="1200" b="1" dirty="0"/>
              <a:t>：关系的集合表达式、关系矩阵、关系图</a:t>
            </a:r>
            <a:r>
              <a:rPr kumimoji="0" lang="zh-CN" altLang="en-US" sz="1200" b="1" dirty="0">
                <a:solidFill>
                  <a:srgbClr val="FF0000"/>
                </a:solidFill>
              </a:rPr>
              <a:t> </a:t>
            </a:r>
          </a:p>
          <a:p>
            <a:pPr eaLnBrk="1" hangingPunct="1">
              <a:spcBef>
                <a:spcPct val="50000"/>
              </a:spcBef>
              <a:buFontTx/>
              <a:buNone/>
            </a:pPr>
            <a:r>
              <a:rPr kumimoji="0" lang="zh-CN" altLang="en-US" sz="1200" b="1" dirty="0">
                <a:solidFill>
                  <a:srgbClr val="FF0000"/>
                </a:solidFill>
              </a:rPr>
              <a:t>定义</a:t>
            </a:r>
            <a:r>
              <a:rPr kumimoji="0" lang="en-US" altLang="zh-CN" sz="1200" b="1" dirty="0">
                <a:solidFill>
                  <a:srgbClr val="FF0000"/>
                </a:solidFill>
              </a:rPr>
              <a:t>4.8  </a:t>
            </a:r>
            <a:r>
              <a:rPr kumimoji="0" lang="zh-CN" altLang="en-US" sz="1200" b="1" dirty="0">
                <a:solidFill>
                  <a:srgbClr val="FF0000"/>
                </a:solidFill>
              </a:rPr>
              <a:t>关系矩阵  </a:t>
            </a:r>
            <a:r>
              <a:rPr kumimoji="0" lang="zh-CN" altLang="en-US" sz="1200" b="1" dirty="0"/>
              <a:t>若</a:t>
            </a:r>
            <a:r>
              <a:rPr kumimoji="0" lang="en-US" altLang="zh-CN" sz="1200" b="1" i="1" dirty="0"/>
              <a:t>A</a:t>
            </a:r>
            <a:r>
              <a:rPr kumimoji="0" lang="en-US" altLang="zh-CN" sz="1200" b="1" dirty="0"/>
              <a:t>={</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m</a:t>
            </a:r>
            <a:r>
              <a:rPr kumimoji="0" lang="en-US" altLang="zh-CN" sz="1200" b="1" dirty="0"/>
              <a:t>}</a:t>
            </a:r>
            <a:r>
              <a:rPr kumimoji="0" lang="zh-CN" altLang="en-US" sz="1200" b="1" dirty="0"/>
              <a:t>，</a:t>
            </a:r>
            <a:r>
              <a:rPr kumimoji="0" lang="en-US" altLang="zh-CN" sz="1200" b="1" i="1" dirty="0"/>
              <a:t>B</a:t>
            </a:r>
            <a:r>
              <a:rPr kumimoji="0" lang="en-US" altLang="zh-CN" sz="1200" b="1" dirty="0"/>
              <a:t>={</a:t>
            </a:r>
            <a:r>
              <a:rPr kumimoji="0" lang="en-US" altLang="zh-CN" sz="1200" b="1" i="1" dirty="0"/>
              <a:t>y</a:t>
            </a:r>
            <a:r>
              <a:rPr kumimoji="0" lang="en-US" altLang="zh-CN" sz="1200" b="1" baseline="-25000" dirty="0"/>
              <a:t>1</a:t>
            </a:r>
            <a:r>
              <a:rPr kumimoji="0" lang="en-US" altLang="zh-CN" sz="1200" b="1" dirty="0"/>
              <a:t>, </a:t>
            </a:r>
            <a:r>
              <a:rPr kumimoji="0" lang="en-US" altLang="zh-CN" sz="1200" b="1" i="1" dirty="0"/>
              <a:t>y</a:t>
            </a:r>
            <a:r>
              <a:rPr kumimoji="0" lang="en-US" altLang="zh-CN" sz="1200" b="1" baseline="-25000" dirty="0"/>
              <a:t>2</a:t>
            </a:r>
            <a:r>
              <a:rPr kumimoji="0" lang="en-US" altLang="zh-CN" sz="1200" b="1" dirty="0"/>
              <a:t>, …, </a:t>
            </a:r>
            <a:r>
              <a:rPr kumimoji="0" lang="en-US" altLang="zh-CN" sz="1200" b="1" i="1" dirty="0" err="1"/>
              <a:t>y</a:t>
            </a:r>
            <a:r>
              <a:rPr kumimoji="0" lang="en-US" altLang="zh-CN" sz="1200" b="1" i="1" baseline="-25000" dirty="0" err="1"/>
              <a:t>n</a:t>
            </a:r>
            <a:r>
              <a:rPr kumimoji="0" lang="en-US" altLang="zh-CN" sz="1200" b="1" dirty="0"/>
              <a:t>}</a:t>
            </a:r>
            <a:r>
              <a:rPr kumimoji="0" lang="zh-CN" altLang="en-US" sz="1200" b="1" dirty="0"/>
              <a:t>，</a:t>
            </a:r>
            <a:r>
              <a:rPr kumimoji="0" lang="en-US" altLang="zh-CN" sz="1200" b="1" i="1" dirty="0"/>
              <a:t>R</a:t>
            </a:r>
            <a:r>
              <a:rPr kumimoji="0" lang="zh-CN" altLang="en-US" sz="1200" b="1" dirty="0"/>
              <a:t>是从</a:t>
            </a:r>
            <a:r>
              <a:rPr kumimoji="0" lang="en-US" altLang="zh-CN" sz="1200" b="1" i="1" dirty="0"/>
              <a:t>A</a:t>
            </a:r>
            <a:r>
              <a:rPr kumimoji="0" lang="zh-CN" altLang="en-US" sz="1200" b="1" dirty="0"/>
              <a:t>到</a:t>
            </a:r>
            <a:r>
              <a:rPr kumimoji="0" lang="en-US" altLang="zh-CN" sz="1200" b="1" i="1" dirty="0"/>
              <a:t>B</a:t>
            </a:r>
            <a:r>
              <a:rPr kumimoji="0" lang="zh-CN" altLang="en-US" sz="1200" b="1" dirty="0"/>
              <a:t>的关系，</a:t>
            </a:r>
            <a:r>
              <a:rPr kumimoji="0" lang="en-US" altLang="zh-CN" sz="1200" b="1" i="1" dirty="0"/>
              <a:t>R</a:t>
            </a:r>
            <a:r>
              <a:rPr kumimoji="0" lang="zh-CN" altLang="en-US" sz="1200" b="1" dirty="0"/>
              <a:t>的关系矩阵是布尔矩阵</a:t>
            </a:r>
            <a:r>
              <a:rPr kumimoji="0" lang="en-US" altLang="zh-CN" sz="1200" b="1" i="1" dirty="0"/>
              <a:t>M</a:t>
            </a:r>
            <a:r>
              <a:rPr kumimoji="0" lang="en-US" altLang="zh-CN" sz="1200" b="1" i="1" baseline="-25000" dirty="0"/>
              <a:t>R</a:t>
            </a:r>
            <a:r>
              <a:rPr kumimoji="0" lang="en-US" altLang="zh-CN" sz="1200" b="1" dirty="0"/>
              <a:t> = [ </a:t>
            </a:r>
            <a:r>
              <a:rPr kumimoji="0" lang="en-US" altLang="zh-CN" sz="1200" b="1" i="1" dirty="0" err="1"/>
              <a:t>r</a:t>
            </a:r>
            <a:r>
              <a:rPr kumimoji="0" lang="en-US" altLang="zh-CN" sz="1200" b="1" i="1" baseline="-25000" dirty="0" err="1"/>
              <a:t>ij</a:t>
            </a:r>
            <a:r>
              <a:rPr kumimoji="0" lang="en-US" altLang="zh-CN" sz="1200" b="1" dirty="0"/>
              <a:t> ] </a:t>
            </a:r>
            <a:r>
              <a:rPr kumimoji="0" lang="en-US" altLang="zh-CN" sz="1200" b="1" i="1" baseline="-25000" dirty="0" err="1"/>
              <a:t>m</a:t>
            </a:r>
            <a:r>
              <a:rPr kumimoji="0" lang="en-US" altLang="zh-CN" sz="1200" b="1" baseline="-25000" dirty="0" err="1">
                <a:sym typeface="Symbol" panose="05050102010706020507" pitchFamily="18" charset="2"/>
              </a:rPr>
              <a:t></a:t>
            </a:r>
            <a:r>
              <a:rPr kumimoji="0" lang="en-US" altLang="zh-CN" sz="1200" b="1" i="1" baseline="-25000" dirty="0" err="1"/>
              <a:t>n</a:t>
            </a:r>
            <a:r>
              <a:rPr kumimoji="0" lang="en-US" altLang="zh-CN" sz="1200" b="1" dirty="0"/>
              <a:t>, </a:t>
            </a:r>
            <a:r>
              <a:rPr kumimoji="0" lang="zh-CN" altLang="en-US" sz="1200" b="1" dirty="0"/>
              <a:t>其中  </a:t>
            </a:r>
            <a:r>
              <a:rPr kumimoji="0" lang="en-US" altLang="zh-CN" sz="1200" b="1" i="1" dirty="0" err="1"/>
              <a:t>r</a:t>
            </a:r>
            <a:r>
              <a:rPr kumimoji="0" lang="en-US" altLang="zh-CN" sz="1200" b="1" i="1" baseline="-25000" dirty="0" err="1"/>
              <a:t>ij</a:t>
            </a:r>
            <a:r>
              <a:rPr kumimoji="0" lang="en-US" altLang="zh-CN" sz="1200" b="1" baseline="-25000" dirty="0"/>
              <a:t> </a:t>
            </a:r>
            <a:r>
              <a:rPr kumimoji="0" lang="en-US" altLang="zh-CN" sz="1200" b="1" dirty="0"/>
              <a:t>= 1</a:t>
            </a:r>
            <a:r>
              <a:rPr kumimoji="0" lang="en-US" altLang="zh-CN" sz="1200" b="1" dirty="0">
                <a:sym typeface="Symbol" panose="05050102010706020507" pitchFamily="18" charset="2"/>
              </a:rPr>
              <a:t></a:t>
            </a:r>
            <a:r>
              <a:rPr kumimoji="0" lang="en-US" altLang="zh-CN" sz="1200" b="1" dirty="0"/>
              <a:t> &lt; </a:t>
            </a:r>
            <a:r>
              <a:rPr kumimoji="0" lang="en-US" altLang="zh-CN" sz="1200" b="1" i="1" dirty="0"/>
              <a:t>x</a:t>
            </a:r>
            <a:r>
              <a:rPr kumimoji="0" lang="en-US" altLang="zh-CN" sz="1200" b="1" i="1" baseline="-25000" dirty="0"/>
              <a:t>i</a:t>
            </a:r>
            <a:r>
              <a:rPr kumimoji="0" lang="en-US" altLang="zh-CN" sz="1200" b="1" dirty="0"/>
              <a:t>, </a:t>
            </a:r>
            <a:r>
              <a:rPr kumimoji="0" lang="en-US" altLang="zh-CN" sz="1200" b="1" i="1" dirty="0" err="1"/>
              <a:t>y</a:t>
            </a:r>
            <a:r>
              <a:rPr kumimoji="0" lang="en-US" altLang="zh-CN" sz="1200" b="1" i="1" baseline="-25000" dirty="0" err="1"/>
              <a:t>j</a:t>
            </a:r>
            <a:r>
              <a:rPr kumimoji="0" lang="en-US" altLang="zh-CN" sz="1200" b="1" dirty="0"/>
              <a:t>&gt; </a:t>
            </a:r>
            <a:r>
              <a:rPr kumimoji="0" lang="en-US" altLang="zh-CN" sz="1200" b="1" dirty="0">
                <a:sym typeface="Symbol" panose="05050102010706020507" pitchFamily="18" charset="2"/>
              </a:rPr>
              <a:t></a:t>
            </a:r>
            <a:r>
              <a:rPr kumimoji="0" lang="en-US" altLang="zh-CN" sz="1200" b="1" i="1" dirty="0"/>
              <a:t>R</a:t>
            </a:r>
            <a:r>
              <a:rPr kumimoji="0" lang="en-US" altLang="zh-CN" sz="1200" b="1" dirty="0"/>
              <a:t>. </a:t>
            </a:r>
          </a:p>
          <a:p>
            <a:pPr eaLnBrk="1" hangingPunct="1">
              <a:spcBef>
                <a:spcPct val="50000"/>
              </a:spcBef>
              <a:buFontTx/>
              <a:buNone/>
            </a:pPr>
            <a:r>
              <a:rPr kumimoji="0" lang="zh-CN" altLang="en-US" sz="1200" b="1" dirty="0">
                <a:solidFill>
                  <a:srgbClr val="FF0000"/>
                </a:solidFill>
              </a:rPr>
              <a:t>定义</a:t>
            </a:r>
            <a:r>
              <a:rPr kumimoji="0" lang="en-US" altLang="zh-CN" sz="1200" b="1" dirty="0">
                <a:solidFill>
                  <a:srgbClr val="FF0000"/>
                </a:solidFill>
              </a:rPr>
              <a:t>4.9 </a:t>
            </a:r>
            <a:r>
              <a:rPr kumimoji="0" lang="zh-CN" altLang="en-US" sz="1200" b="1" dirty="0">
                <a:solidFill>
                  <a:srgbClr val="FF0000"/>
                </a:solidFill>
              </a:rPr>
              <a:t>关系图  </a:t>
            </a:r>
            <a:r>
              <a:rPr kumimoji="0" lang="zh-CN" altLang="en-US" sz="1200" b="1" dirty="0"/>
              <a:t>若</a:t>
            </a:r>
            <a:r>
              <a:rPr kumimoji="0" lang="en-US" altLang="zh-CN" sz="1200" b="1" i="1" dirty="0"/>
              <a:t>A</a:t>
            </a:r>
            <a:r>
              <a:rPr kumimoji="0" lang="en-US" altLang="zh-CN" sz="1200" b="1" dirty="0"/>
              <a:t>= {</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 …, </a:t>
            </a:r>
            <a:r>
              <a:rPr kumimoji="0" lang="en-US" altLang="zh-CN" sz="1200" b="1" i="1" dirty="0" err="1"/>
              <a:t>x</a:t>
            </a:r>
            <a:r>
              <a:rPr kumimoji="0" lang="en-US" altLang="zh-CN" sz="1200" b="1" i="1" baseline="-25000" dirty="0" err="1"/>
              <a:t>m</a:t>
            </a:r>
            <a:r>
              <a:rPr kumimoji="0" lang="en-US" altLang="zh-CN" sz="1200" b="1" dirty="0"/>
              <a:t>}</a:t>
            </a:r>
            <a:r>
              <a:rPr kumimoji="0" lang="zh-CN" altLang="en-US" sz="1200" b="1" dirty="0"/>
              <a:t>，</a:t>
            </a:r>
            <a:r>
              <a:rPr kumimoji="0" lang="en-US" altLang="zh-CN" sz="1200" b="1" i="1" dirty="0"/>
              <a:t>R</a:t>
            </a:r>
            <a:r>
              <a:rPr kumimoji="0" lang="zh-CN" altLang="en-US" sz="1200" b="1" dirty="0"/>
              <a:t>是从</a:t>
            </a:r>
            <a:r>
              <a:rPr kumimoji="0" lang="en-US" altLang="zh-CN" sz="1200" b="1" i="1" dirty="0"/>
              <a:t>A</a:t>
            </a:r>
            <a:r>
              <a:rPr kumimoji="0" lang="zh-CN" altLang="en-US" sz="1200" b="1" dirty="0"/>
              <a:t>上的关系，</a:t>
            </a:r>
            <a:r>
              <a:rPr kumimoji="0" lang="en-US" altLang="zh-CN" sz="1200" b="1" i="1" dirty="0"/>
              <a:t>R</a:t>
            </a:r>
            <a:r>
              <a:rPr kumimoji="0" lang="zh-CN" altLang="en-US" sz="1200" b="1" dirty="0"/>
              <a:t>的关系图是</a:t>
            </a:r>
            <a:r>
              <a:rPr kumimoji="0" lang="en-US" altLang="zh-CN" sz="1200" b="1" i="1" dirty="0"/>
              <a:t>G</a:t>
            </a:r>
            <a:r>
              <a:rPr kumimoji="0" lang="en-US" altLang="zh-CN" sz="1200" b="1" i="1" baseline="-25000" dirty="0"/>
              <a:t>R</a:t>
            </a:r>
            <a:r>
              <a:rPr kumimoji="0" lang="en-US" altLang="zh-CN" sz="1200" b="1" dirty="0"/>
              <a:t>=&lt;</a:t>
            </a:r>
            <a:r>
              <a:rPr kumimoji="0" lang="en-US" altLang="zh-CN" sz="1200" b="1" i="1" dirty="0"/>
              <a:t>A</a:t>
            </a:r>
            <a:r>
              <a:rPr kumimoji="0" lang="en-US" altLang="zh-CN" sz="1200" b="1" dirty="0"/>
              <a:t>, </a:t>
            </a:r>
            <a:r>
              <a:rPr kumimoji="0" lang="en-US" altLang="zh-CN" sz="1200" b="1" i="1" dirty="0"/>
              <a:t>R</a:t>
            </a:r>
            <a:r>
              <a:rPr kumimoji="0" lang="en-US" altLang="zh-CN" sz="1200" b="1" dirty="0"/>
              <a:t>&gt;, </a:t>
            </a:r>
            <a:r>
              <a:rPr kumimoji="0" lang="zh-CN" altLang="en-US" sz="1200" b="1" dirty="0"/>
              <a:t>其中</a:t>
            </a:r>
            <a:r>
              <a:rPr kumimoji="0" lang="en-US" altLang="zh-CN" sz="1200" b="1" i="1" dirty="0"/>
              <a:t>A</a:t>
            </a:r>
            <a:r>
              <a:rPr kumimoji="0" lang="zh-CN" altLang="en-US" sz="1200" b="1" dirty="0"/>
              <a:t>为结点集，</a:t>
            </a:r>
            <a:r>
              <a:rPr kumimoji="0" lang="en-US" altLang="zh-CN" sz="1200" b="1" i="1" dirty="0"/>
              <a:t>R</a:t>
            </a:r>
            <a:r>
              <a:rPr kumimoji="0" lang="zh-CN" altLang="en-US" sz="1200" b="1" dirty="0"/>
              <a:t>为边集</a:t>
            </a:r>
            <a:r>
              <a:rPr kumimoji="0" lang="en-US" altLang="zh-CN" sz="1200" b="1" dirty="0"/>
              <a:t>.</a:t>
            </a:r>
            <a:r>
              <a:rPr kumimoji="0" lang="zh-CN" altLang="en-US" sz="1200" b="1" dirty="0"/>
              <a:t>如果</a:t>
            </a:r>
            <a:r>
              <a:rPr kumimoji="0" lang="en-US" altLang="zh-CN" sz="1200" b="1" dirty="0"/>
              <a:t>&lt;</a:t>
            </a:r>
            <a:r>
              <a:rPr kumimoji="0" lang="en-US" altLang="zh-CN" sz="1200" b="1" i="1" dirty="0" err="1"/>
              <a:t>x</a:t>
            </a:r>
            <a:r>
              <a:rPr kumimoji="0" lang="en-US" altLang="zh-CN" sz="1200" b="1" i="1" baseline="-25000" dirty="0" err="1"/>
              <a:t>i</a:t>
            </a:r>
            <a:r>
              <a:rPr kumimoji="0" lang="en-US" altLang="zh-CN" sz="1200" b="1" dirty="0" err="1"/>
              <a:t>,</a:t>
            </a:r>
            <a:r>
              <a:rPr kumimoji="0" lang="en-US" altLang="zh-CN" sz="1200" b="1" i="1" dirty="0" err="1"/>
              <a:t>x</a:t>
            </a:r>
            <a:r>
              <a:rPr kumimoji="0" lang="en-US" altLang="zh-CN" sz="1200" b="1" i="1" baseline="-25000" dirty="0" err="1"/>
              <a:t>j</a:t>
            </a:r>
            <a:r>
              <a:rPr kumimoji="0" lang="en-US" altLang="zh-CN" sz="1200" b="1" dirty="0"/>
              <a:t>&gt;</a:t>
            </a:r>
            <a:r>
              <a:rPr kumimoji="0" lang="zh-CN" altLang="en-US" sz="1200" b="1" dirty="0"/>
              <a:t>属于关系</a:t>
            </a:r>
            <a:r>
              <a:rPr kumimoji="0" lang="en-US" altLang="zh-CN" sz="1200" b="1" i="1" dirty="0"/>
              <a:t>R</a:t>
            </a:r>
            <a:r>
              <a:rPr kumimoji="0" lang="zh-CN" altLang="en-US" sz="1200" b="1" dirty="0"/>
              <a:t>，在图中就有一条从 </a:t>
            </a:r>
            <a:r>
              <a:rPr kumimoji="0" lang="en-US" altLang="zh-CN" sz="1200" b="1" i="1" dirty="0"/>
              <a:t>x</a:t>
            </a:r>
            <a:r>
              <a:rPr kumimoji="0" lang="en-US" altLang="zh-CN" sz="1200" b="1" i="1" baseline="-25000" dirty="0"/>
              <a:t>i</a:t>
            </a:r>
            <a:r>
              <a:rPr kumimoji="0" lang="en-US" altLang="zh-CN" sz="1200" b="1" i="1" dirty="0"/>
              <a:t> </a:t>
            </a:r>
            <a:r>
              <a:rPr kumimoji="0" lang="zh-CN" altLang="en-US" sz="1200" b="1" dirty="0"/>
              <a:t>到 </a:t>
            </a:r>
            <a:r>
              <a:rPr kumimoji="0" lang="en-US" altLang="zh-CN" sz="1200" b="1" i="1" dirty="0" err="1"/>
              <a:t>x</a:t>
            </a:r>
            <a:r>
              <a:rPr kumimoji="0" lang="en-US" altLang="zh-CN" sz="1200" b="1" i="1" baseline="-25000" dirty="0" err="1"/>
              <a:t>j</a:t>
            </a:r>
            <a:r>
              <a:rPr kumimoji="0" lang="en-US" altLang="zh-CN" sz="1200" b="1" i="1" baseline="-25000" dirty="0"/>
              <a:t> </a:t>
            </a:r>
            <a:r>
              <a:rPr kumimoji="0" lang="zh-CN" altLang="en-US" sz="1200" b="1" dirty="0"/>
              <a:t>的有向边</a:t>
            </a:r>
            <a:r>
              <a:rPr kumimoji="0" lang="en-US" altLang="zh-CN" sz="1200" b="1" dirty="0"/>
              <a:t>. </a:t>
            </a:r>
          </a:p>
          <a:p>
            <a:pPr eaLnBrk="1" hangingPunct="1">
              <a:spcBef>
                <a:spcPct val="50000"/>
              </a:spcBef>
              <a:buFontTx/>
              <a:buNone/>
            </a:pPr>
            <a:r>
              <a:rPr kumimoji="0" lang="zh-CN" altLang="en-US" sz="1200" b="1" dirty="0"/>
              <a:t>注意：设</a:t>
            </a:r>
            <a:r>
              <a:rPr kumimoji="0" lang="en-US" altLang="zh-CN" sz="1200" b="1" i="1" dirty="0"/>
              <a:t>A</a:t>
            </a:r>
            <a:r>
              <a:rPr kumimoji="0" lang="en-US" altLang="zh-CN" sz="1200" b="1" dirty="0"/>
              <a:t>, </a:t>
            </a:r>
            <a:r>
              <a:rPr kumimoji="0" lang="en-US" altLang="zh-CN" sz="1200" b="1" i="1" dirty="0"/>
              <a:t>B</a:t>
            </a:r>
            <a:r>
              <a:rPr kumimoji="0" lang="zh-CN" altLang="en-US" sz="1200" b="1" dirty="0"/>
              <a:t>为有穷集</a:t>
            </a:r>
          </a:p>
          <a:p>
            <a:pPr eaLnBrk="1" hangingPunct="1">
              <a:spcBef>
                <a:spcPct val="0"/>
              </a:spcBef>
              <a:buFontTx/>
              <a:buNone/>
            </a:pPr>
            <a:r>
              <a:rPr kumimoji="0" lang="zh-CN" altLang="en-US" sz="1200" b="1" dirty="0"/>
              <a:t>关系矩阵适合于表示从</a:t>
            </a:r>
            <a:r>
              <a:rPr kumimoji="0" lang="en-US" altLang="zh-CN" sz="1200" b="1" i="1" dirty="0"/>
              <a:t>A</a:t>
            </a:r>
            <a:r>
              <a:rPr kumimoji="0" lang="zh-CN" altLang="en-US" sz="1200" b="1" dirty="0"/>
              <a:t>到</a:t>
            </a:r>
            <a:r>
              <a:rPr kumimoji="0" lang="en-US" altLang="zh-CN" sz="1200" b="1" i="1" dirty="0"/>
              <a:t>B </a:t>
            </a:r>
            <a:r>
              <a:rPr kumimoji="0" lang="zh-CN" altLang="en-US" sz="1200" b="1" dirty="0"/>
              <a:t>的关系或者</a:t>
            </a:r>
            <a:r>
              <a:rPr kumimoji="0" lang="en-US" altLang="zh-CN" sz="1200" b="1" i="1" dirty="0"/>
              <a:t>A</a:t>
            </a:r>
            <a:r>
              <a:rPr kumimoji="0" lang="zh-CN" altLang="en-US" sz="1200" b="1" dirty="0"/>
              <a:t>上的关系</a:t>
            </a:r>
          </a:p>
          <a:p>
            <a:pPr eaLnBrk="1" hangingPunct="1">
              <a:spcBef>
                <a:spcPct val="0"/>
              </a:spcBef>
              <a:buFontTx/>
              <a:buNone/>
            </a:pPr>
            <a:r>
              <a:rPr kumimoji="0" lang="zh-CN" altLang="en-US" sz="1200" b="1" dirty="0"/>
              <a:t>关系图适合于表示</a:t>
            </a:r>
            <a:r>
              <a:rPr kumimoji="0" lang="en-US" altLang="zh-CN" sz="1200" b="1" i="1" dirty="0"/>
              <a:t>A</a:t>
            </a:r>
            <a:r>
              <a:rPr kumimoji="0" lang="zh-CN" altLang="en-US" sz="1200" b="1" dirty="0"/>
              <a:t>上的关系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2891255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3050451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18</a:t>
            </a:fld>
            <a:endParaRPr lang="zh-CN" altLang="en-US"/>
          </a:p>
        </p:txBody>
      </p:sp>
    </p:spTree>
    <p:extLst>
      <p:ext uri="{BB962C8B-B14F-4D97-AF65-F5344CB8AC3E}">
        <p14:creationId xmlns:p14="http://schemas.microsoft.com/office/powerpoint/2010/main" val="563671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524000" eaLnBrk="1" hangingPunct="1">
              <a:spcBef>
                <a:spcPct val="50000"/>
              </a:spcBef>
              <a:buNone/>
            </a:pPr>
            <a:r>
              <a:rPr lang="en-US" altLang="zh-CN" b="1" dirty="0">
                <a:solidFill>
                  <a:srgbClr val="FF0000"/>
                </a:solidFill>
              </a:rPr>
              <a:t>4.1 </a:t>
            </a:r>
            <a:r>
              <a:rPr lang="zh-CN" altLang="en-US" b="1" dirty="0">
                <a:solidFill>
                  <a:srgbClr val="FF0000"/>
                </a:solidFill>
              </a:rPr>
              <a:t>关系的定义及其表示</a:t>
            </a:r>
            <a:endParaRPr lang="en-US" altLang="zh-CN" b="1" dirty="0">
              <a:solidFill>
                <a:srgbClr val="FF0000"/>
              </a:solidFill>
            </a:endParaRPr>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4.2 </a:t>
            </a:r>
            <a:r>
              <a:rPr lang="zh-CN" altLang="en-US" b="1" dirty="0"/>
              <a:t>关系运算</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4.3 </a:t>
            </a:r>
            <a:r>
              <a:rPr lang="zh-CN" altLang="en-US" b="1" dirty="0"/>
              <a:t>关系的性质</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4.4 </a:t>
            </a:r>
            <a:r>
              <a:rPr lang="zh-CN" altLang="en-US" b="1" dirty="0"/>
              <a:t>等价关系与偏序关系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1656249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None/>
            </a:pPr>
            <a:r>
              <a:rPr lang="en-US" altLang="zh-CN" b="1" dirty="0">
                <a:solidFill>
                  <a:srgbClr val="FF0000"/>
                </a:solidFill>
              </a:rPr>
              <a:t>4.2.1 </a:t>
            </a:r>
            <a:r>
              <a:rPr lang="zh-CN" altLang="en-US" b="1" dirty="0">
                <a:solidFill>
                  <a:srgbClr val="FF0000"/>
                </a:solidFill>
              </a:rPr>
              <a:t>关系的基本运算</a:t>
            </a:r>
          </a:p>
          <a:p>
            <a:pPr lvl="1" eaLnBrk="1" hangingPunct="1"/>
            <a:r>
              <a:rPr lang="zh-CN" altLang="en-US" b="1" dirty="0"/>
              <a:t>定义域、值域、域、逆、合成</a:t>
            </a:r>
          </a:p>
          <a:p>
            <a:pPr lvl="1" eaLnBrk="1" hangingPunct="1"/>
            <a:r>
              <a:rPr lang="zh-CN" altLang="en-US" b="1" dirty="0"/>
              <a:t>基本运算的性质</a:t>
            </a:r>
          </a:p>
          <a:p>
            <a:pPr marL="0" indent="0" eaLnBrk="1" hangingPunct="1">
              <a:spcBef>
                <a:spcPct val="50000"/>
              </a:spcBef>
              <a:buNone/>
            </a:pPr>
            <a:r>
              <a:rPr lang="en-US" altLang="zh-CN" b="1" dirty="0"/>
              <a:t>4.2.2 </a:t>
            </a:r>
            <a:r>
              <a:rPr lang="zh-CN" altLang="en-US" b="1" dirty="0"/>
              <a:t>关系的幂运算</a:t>
            </a:r>
          </a:p>
          <a:p>
            <a:pPr lvl="1" eaLnBrk="1" hangingPunct="1"/>
            <a:r>
              <a:rPr lang="zh-CN" altLang="en-US" b="1" dirty="0"/>
              <a:t>幂运算的定义</a:t>
            </a:r>
          </a:p>
          <a:p>
            <a:pPr lvl="1" eaLnBrk="1" hangingPunct="1"/>
            <a:r>
              <a:rPr lang="zh-CN" altLang="en-US" b="1" dirty="0"/>
              <a:t>幂运算的方法</a:t>
            </a:r>
          </a:p>
          <a:p>
            <a:pPr lvl="1" eaLnBrk="1" hangingPunct="1"/>
            <a:r>
              <a:rPr lang="zh-CN" altLang="en-US" b="1" dirty="0"/>
              <a:t>幂运算的性质</a:t>
            </a:r>
            <a:endParaRPr lang="en-US" altLang="zh-CN" sz="2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2426520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range</a:t>
            </a:r>
            <a:r>
              <a:rPr lang="en-US" altLang="zh-CN" dirty="0"/>
              <a:t> (or sometimes called the </a:t>
            </a:r>
            <a:r>
              <a:rPr lang="en-US" altLang="zh-CN" b="1" dirty="0"/>
              <a:t>codomain</a:t>
            </a:r>
            <a:r>
              <a:rPr lang="en-US" altLang="zh-CN" dirty="0"/>
              <a:t>) </a:t>
            </a:r>
          </a:p>
          <a:p>
            <a:r>
              <a:rPr lang="en-US" altLang="zh-CN" dirty="0"/>
              <a:t>In relational operations, the term </a:t>
            </a:r>
            <a:r>
              <a:rPr lang="en-US" altLang="zh-CN" b="1" dirty="0"/>
              <a:t>field</a:t>
            </a:r>
            <a:r>
              <a:rPr lang="en-US" altLang="zh-CN" dirty="0"/>
              <a:t> is typically not directly used in the context of relations themselves. However, in algebraic contexts, a </a:t>
            </a:r>
            <a:r>
              <a:rPr lang="en-US" altLang="zh-CN" b="1" dirty="0"/>
              <a:t>field</a:t>
            </a:r>
            <a:r>
              <a:rPr lang="en-US" altLang="zh-CN" dirty="0"/>
              <a:t> refers to an algebraic structure with operations of addition and multiplication that satisfy certain properties (such as closure, existence of additive and multiplicative inverses, etc.).</a:t>
            </a:r>
          </a:p>
          <a:p>
            <a:r>
              <a:rPr lang="zh-CN" altLang="en-US" dirty="0"/>
              <a:t>翻译英文：定义</a:t>
            </a:r>
            <a:r>
              <a:rPr lang="en-US" altLang="zh-CN" dirty="0"/>
              <a:t>4.10 </a:t>
            </a:r>
            <a:r>
              <a:rPr lang="zh-CN" altLang="en-US" dirty="0"/>
              <a:t>定义域、值域 和 域 </a:t>
            </a:r>
            <a:r>
              <a:rPr lang="en-US" dirty="0" err="1"/>
              <a:t>domR</a:t>
            </a:r>
            <a:r>
              <a:rPr lang="en-US" dirty="0"/>
              <a:t> = {x | y (&lt;</a:t>
            </a:r>
            <a:r>
              <a:rPr lang="en-US" dirty="0" err="1"/>
              <a:t>x,y</a:t>
            </a:r>
            <a:r>
              <a:rPr lang="en-US" dirty="0"/>
              <a:t>&gt;R) } </a:t>
            </a:r>
            <a:r>
              <a:rPr lang="en-US" dirty="0" err="1"/>
              <a:t>ranR</a:t>
            </a:r>
            <a:r>
              <a:rPr lang="en-US" dirty="0"/>
              <a:t> = {y | x (&lt;</a:t>
            </a:r>
            <a:r>
              <a:rPr lang="en-US" dirty="0" err="1"/>
              <a:t>x,y</a:t>
            </a:r>
            <a:r>
              <a:rPr lang="en-US" dirty="0"/>
              <a:t>&gt;R) } </a:t>
            </a:r>
            <a:r>
              <a:rPr lang="en-US" dirty="0" err="1"/>
              <a:t>fldR</a:t>
            </a:r>
            <a:r>
              <a:rPr lang="en-US" dirty="0"/>
              <a:t> = </a:t>
            </a:r>
            <a:r>
              <a:rPr lang="en-US" dirty="0" err="1"/>
              <a:t>domR</a:t>
            </a:r>
            <a:r>
              <a:rPr lang="en-US" dirty="0"/>
              <a:t>  </a:t>
            </a:r>
            <a:r>
              <a:rPr lang="en-US" dirty="0" err="1"/>
              <a:t>ranR</a:t>
            </a:r>
            <a:r>
              <a:rPr lang="en-US" dirty="0"/>
              <a:t>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137971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4.11</a:t>
            </a:r>
            <a:r>
              <a:rPr kumimoji="0" lang="zh-CN" altLang="en-US" sz="1200" b="1" dirty="0"/>
              <a:t>  </a:t>
            </a:r>
            <a:r>
              <a:rPr kumimoji="0" lang="en-US" altLang="zh-CN" sz="1200" b="1" i="1" dirty="0"/>
              <a:t>R </a:t>
            </a:r>
            <a:r>
              <a:rPr kumimoji="0" lang="zh-CN" altLang="en-US" sz="1200" b="1" dirty="0"/>
              <a:t>的</a:t>
            </a:r>
            <a:r>
              <a:rPr kumimoji="0" lang="zh-CN" altLang="en-US" sz="1200" b="1" dirty="0">
                <a:solidFill>
                  <a:srgbClr val="FF0000"/>
                </a:solidFill>
              </a:rPr>
              <a:t>逆</a:t>
            </a:r>
            <a:r>
              <a:rPr kumimoji="0" lang="zh-CN" altLang="en-US" sz="1200" b="1" dirty="0"/>
              <a:t> </a:t>
            </a:r>
          </a:p>
          <a:p>
            <a:pPr eaLnBrk="1" hangingPunct="1">
              <a:lnSpc>
                <a:spcPct val="130000"/>
              </a:lnSpc>
              <a:spcBef>
                <a:spcPct val="0"/>
              </a:spcBef>
              <a:buFontTx/>
              <a:buNone/>
            </a:pPr>
            <a:r>
              <a:rPr kumimoji="0" lang="zh-CN" altLang="en-US" sz="1200" b="1" dirty="0"/>
              <a:t>             </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r>
              <a:rPr kumimoji="0" lang="en-US" altLang="zh-CN" sz="1200" b="1" dirty="0"/>
              <a:t> = {&lt;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 |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a:t>
            </a:r>
          </a:p>
          <a:p>
            <a:pPr eaLnBrk="1" hangingPunct="1">
              <a:lnSpc>
                <a:spcPct val="13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4.12</a:t>
            </a:r>
            <a:r>
              <a:rPr kumimoji="0" lang="en-US" altLang="zh-CN" sz="1200" b="1" dirty="0"/>
              <a:t>  </a:t>
            </a:r>
            <a:r>
              <a:rPr kumimoji="0" lang="en-US" altLang="zh-CN" sz="1200" b="1" i="1" dirty="0"/>
              <a:t>R</a:t>
            </a:r>
            <a:r>
              <a:rPr kumimoji="0" lang="zh-CN" altLang="en-US" sz="1200" b="1" dirty="0"/>
              <a:t>与</a:t>
            </a:r>
            <a:r>
              <a:rPr kumimoji="0" lang="en-US" altLang="zh-CN" sz="1200" b="1" i="1" dirty="0"/>
              <a:t>S</a:t>
            </a:r>
            <a:r>
              <a:rPr kumimoji="0" lang="zh-CN" altLang="en-US" sz="1200" b="1" dirty="0"/>
              <a:t>的</a:t>
            </a:r>
            <a:r>
              <a:rPr kumimoji="0" lang="zh-CN" altLang="en-US" sz="1200" b="1" dirty="0">
                <a:solidFill>
                  <a:srgbClr val="FF0000"/>
                </a:solidFill>
              </a:rPr>
              <a:t>合成     </a:t>
            </a:r>
          </a:p>
          <a:p>
            <a:pPr eaLnBrk="1" hangingPunct="1">
              <a:lnSpc>
                <a:spcPct val="130000"/>
              </a:lnSpc>
              <a:spcBef>
                <a:spcPct val="0"/>
              </a:spcBef>
              <a:buFontTx/>
              <a:buNone/>
            </a:pPr>
            <a:r>
              <a:rPr kumimoji="0" lang="en-US" altLang="zh-CN" sz="1200" b="1" dirty="0">
                <a:solidFill>
                  <a:srgbClr val="FF0000"/>
                </a:solidFill>
              </a:rPr>
              <a:t>            </a:t>
            </a:r>
            <a:r>
              <a:rPr kumimoji="0" lang="en-US" altLang="zh-CN" sz="1200" b="1" i="1" dirty="0"/>
              <a:t>R</a:t>
            </a:r>
            <a:r>
              <a:rPr kumimoji="0" lang="en-US" altLang="zh-CN" sz="1200" b="1" dirty="0">
                <a:latin typeface="Lucida Sans Unicode" panose="020B0602030504020204" pitchFamily="34" charset="0"/>
                <a:cs typeface="Lucida Sans Unicode" panose="020B0602030504020204" pitchFamily="34" charset="0"/>
              </a:rPr>
              <a:t>∘</a:t>
            </a:r>
            <a:r>
              <a:rPr kumimoji="0" lang="en-US" altLang="zh-CN" sz="1200" b="1" i="1" dirty="0"/>
              <a:t>S</a:t>
            </a:r>
            <a:r>
              <a:rPr kumimoji="0" lang="en-US" altLang="zh-CN" sz="1200" b="1" dirty="0"/>
              <a:t> = |&lt;</a:t>
            </a:r>
            <a:r>
              <a:rPr kumimoji="0" lang="en-US" altLang="zh-CN" sz="1200" b="1" i="1" dirty="0" err="1"/>
              <a:t>x</a:t>
            </a:r>
            <a:r>
              <a:rPr kumimoji="0" lang="en-US" altLang="zh-CN" sz="1200" b="1" dirty="0" err="1"/>
              <a:t>,</a:t>
            </a:r>
            <a:r>
              <a:rPr kumimoji="0" lang="en-US" altLang="zh-CN" sz="1200" b="1" i="1" dirty="0" err="1"/>
              <a:t>z</a:t>
            </a:r>
            <a:r>
              <a:rPr kumimoji="0" lang="en-US" altLang="zh-CN" sz="1200" b="1" dirty="0"/>
              <a:t>&gt; | </a:t>
            </a:r>
            <a:r>
              <a:rPr kumimoji="0" lang="en-US" altLang="zh-CN" sz="1200" b="1" dirty="0">
                <a:sym typeface="Symbol" panose="05050102010706020507" pitchFamily="18" charset="2"/>
              </a:rPr>
              <a:t></a:t>
            </a:r>
            <a:r>
              <a:rPr kumimoji="0" lang="en-US" altLang="zh-CN" sz="1200" b="1" dirty="0"/>
              <a:t> </a:t>
            </a:r>
            <a:r>
              <a:rPr kumimoji="0" lang="en-US" altLang="zh-CN" sz="1200" b="1" i="1" dirty="0"/>
              <a:t>y</a:t>
            </a:r>
            <a:r>
              <a:rPr kumimoji="0" lang="en-US" altLang="zh-CN" sz="1200" b="1" dirty="0"/>
              <a:t>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sym typeface="Symbol" panose="05050102010706020507" pitchFamily="18" charset="2"/>
              </a:rPr>
              <a:t></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z</a:t>
            </a:r>
            <a:r>
              <a:rPr kumimoji="0" lang="en-US" altLang="zh-CN" sz="1200" b="1" dirty="0"/>
              <a:t>&gt;</a:t>
            </a:r>
            <a:r>
              <a:rPr kumimoji="0" lang="en-US" altLang="zh-CN" sz="1200" b="1" dirty="0">
                <a:sym typeface="Symbol" panose="05050102010706020507" pitchFamily="18" charset="2"/>
              </a:rPr>
              <a:t></a:t>
            </a:r>
            <a:r>
              <a:rPr kumimoji="0" lang="en-US" altLang="zh-CN" sz="1200" b="1" i="1" dirty="0"/>
              <a:t>S</a:t>
            </a:r>
            <a:r>
              <a:rPr kumimoji="0" lang="en-US" altLang="zh-CN" sz="1200" b="1" dirty="0"/>
              <a:t>)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3813287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利用图示（不是关系图）方法求合成</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11076566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en-US" altLang="zh-CN" sz="1200" b="1" dirty="0" err="1"/>
              <a:t>dom</a:t>
            </a:r>
            <a:r>
              <a:rPr kumimoji="0" lang="en-US" altLang="zh-CN" sz="1200" b="1" i="1" dirty="0" err="1"/>
              <a:t>R</a:t>
            </a:r>
            <a:r>
              <a:rPr kumimoji="0" lang="en-US" altLang="zh-CN" sz="1200" b="1" dirty="0"/>
              <a:t> = {</a:t>
            </a:r>
            <a:r>
              <a:rPr kumimoji="0" lang="en-US" altLang="zh-CN" sz="1200" b="1" i="1" dirty="0"/>
              <a:t>x</a:t>
            </a:r>
            <a:r>
              <a:rPr kumimoji="0" lang="en-US" altLang="zh-CN" sz="1200" b="1" dirty="0"/>
              <a:t> | </a:t>
            </a:r>
            <a:r>
              <a:rPr kumimoji="0" lang="en-US" altLang="zh-CN" sz="1200" b="1" dirty="0">
                <a:sym typeface="Symbol" panose="05050102010706020507" pitchFamily="18" charset="2"/>
              </a:rPr>
              <a:t></a:t>
            </a:r>
            <a:r>
              <a:rPr kumimoji="0" lang="en-US" altLang="zh-CN" sz="1200" b="1" i="1" dirty="0"/>
              <a:t>y</a:t>
            </a:r>
            <a:r>
              <a:rPr kumimoji="0" lang="en-US" altLang="zh-CN" sz="1200" b="1" dirty="0"/>
              <a:t>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p>
          <a:p>
            <a:pPr eaLnBrk="1" hangingPunct="1">
              <a:lnSpc>
                <a:spcPct val="130000"/>
              </a:lnSpc>
              <a:spcBef>
                <a:spcPct val="0"/>
              </a:spcBef>
              <a:buFontTx/>
              <a:buNone/>
            </a:pPr>
            <a:r>
              <a:rPr kumimoji="0" lang="en-US" altLang="zh-CN" sz="1200" b="1" dirty="0"/>
              <a:t> </a:t>
            </a:r>
            <a:r>
              <a:rPr kumimoji="0" lang="en-US" altLang="zh-CN" sz="1200" b="1" dirty="0" err="1"/>
              <a:t>ran</a:t>
            </a:r>
            <a:r>
              <a:rPr kumimoji="0" lang="en-US" altLang="zh-CN" sz="1200" b="1" i="1" dirty="0" err="1"/>
              <a:t>R</a:t>
            </a:r>
            <a:r>
              <a:rPr kumimoji="0" lang="en-US" altLang="zh-CN" sz="1200" b="1" dirty="0"/>
              <a:t> = {</a:t>
            </a:r>
            <a:r>
              <a:rPr kumimoji="0" lang="en-US" altLang="zh-CN" sz="1200" b="1" i="1" dirty="0"/>
              <a:t>y</a:t>
            </a:r>
            <a:r>
              <a:rPr kumimoji="0" lang="en-US" altLang="zh-CN" sz="1200" b="1" dirty="0"/>
              <a:t> | </a:t>
            </a:r>
            <a:r>
              <a:rPr kumimoji="0" lang="en-US" altLang="zh-CN" sz="1200" b="1" dirty="0">
                <a:sym typeface="Symbol" panose="05050102010706020507" pitchFamily="18" charset="2"/>
              </a:rPr>
              <a:t></a:t>
            </a:r>
            <a:r>
              <a:rPr kumimoji="0" lang="en-US" altLang="zh-CN" sz="1200" b="1" i="1" dirty="0"/>
              <a:t>x</a:t>
            </a:r>
            <a:r>
              <a:rPr kumimoji="0" lang="en-US" altLang="zh-CN" sz="1200" b="1" dirty="0"/>
              <a:t>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p>
          <a:p>
            <a:r>
              <a:rPr kumimoji="0" lang="zh-CN" altLang="en-US" sz="1200" b="1" dirty="0"/>
              <a:t> </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r>
              <a:rPr kumimoji="0" lang="en-US" altLang="zh-CN" sz="1200" b="1" dirty="0"/>
              <a:t> = {&lt;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 | &lt;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a:t>
            </a:r>
          </a:p>
          <a:p>
            <a:endParaRPr kumimoji="0" lang="en-US" altLang="zh-CN" sz="1200" b="1" dirty="0"/>
          </a:p>
          <a:p>
            <a:pPr eaLnBrk="1" hangingPunct="1">
              <a:spcBef>
                <a:spcPct val="0"/>
              </a:spcBef>
              <a:buFontTx/>
              <a:buNone/>
            </a:pPr>
            <a:r>
              <a:rPr kumimoji="0" lang="zh-CN" altLang="en-US" sz="1200" b="1" dirty="0">
                <a:solidFill>
                  <a:srgbClr val="FF0000"/>
                </a:solidFill>
              </a:rPr>
              <a:t>定理</a:t>
            </a:r>
            <a:r>
              <a:rPr kumimoji="0" lang="en-US" altLang="zh-CN" sz="1200" b="1" dirty="0">
                <a:solidFill>
                  <a:srgbClr val="FF0000"/>
                </a:solidFill>
              </a:rPr>
              <a:t>4.1</a:t>
            </a:r>
            <a:r>
              <a:rPr kumimoji="0" lang="en-US" altLang="zh-CN" sz="1200" b="1" dirty="0"/>
              <a:t>  </a:t>
            </a:r>
            <a:r>
              <a:rPr kumimoji="0" lang="zh-CN" altLang="en-US" sz="1200" b="1" dirty="0"/>
              <a:t>设</a:t>
            </a:r>
            <a:r>
              <a:rPr kumimoji="0" lang="en-US" altLang="zh-CN" sz="1200" b="1" i="1" dirty="0"/>
              <a:t>F</a:t>
            </a:r>
            <a:r>
              <a:rPr kumimoji="0" lang="zh-CN" altLang="en-US" sz="1200" b="1" dirty="0"/>
              <a:t>是任意的关系</a:t>
            </a:r>
            <a:r>
              <a:rPr kumimoji="0" lang="en-US" altLang="zh-CN" sz="1200" b="1" dirty="0"/>
              <a:t>, </a:t>
            </a:r>
            <a:r>
              <a:rPr kumimoji="0" lang="zh-CN" altLang="en-US" sz="1200" b="1" dirty="0"/>
              <a:t>则</a:t>
            </a:r>
          </a:p>
          <a:p>
            <a:pPr eaLnBrk="1" hangingPunct="1">
              <a:spcBef>
                <a:spcPct val="0"/>
              </a:spcBef>
              <a:buFontTx/>
              <a:buNone/>
            </a:pPr>
            <a:r>
              <a:rPr kumimoji="0" lang="zh-CN" altLang="en-US" sz="1200" b="1" dirty="0"/>
              <a:t>    </a:t>
            </a:r>
            <a:r>
              <a:rPr kumimoji="0" lang="en-US" altLang="zh-CN" sz="1200" b="1" dirty="0"/>
              <a:t>(1) </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i="1" dirty="0"/>
              <a:t>)</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i="1" dirty="0"/>
              <a:t>=F</a:t>
            </a:r>
            <a:endParaRPr kumimoji="0" lang="en-US" altLang="zh-CN" sz="1200" b="1" dirty="0"/>
          </a:p>
          <a:p>
            <a:pPr eaLnBrk="1" hangingPunct="1">
              <a:spcBef>
                <a:spcPct val="0"/>
              </a:spcBef>
              <a:buFontTx/>
              <a:buNone/>
            </a:pPr>
            <a:r>
              <a:rPr kumimoji="0" lang="en-US" altLang="zh-CN" sz="1200" b="1" dirty="0"/>
              <a:t>    (2) dom</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dirty="0" err="1"/>
              <a:t>ran</a:t>
            </a:r>
            <a:r>
              <a:rPr kumimoji="0" lang="en-US" altLang="zh-CN" sz="1200" b="1" i="1" dirty="0" err="1"/>
              <a:t>F</a:t>
            </a:r>
            <a:r>
              <a:rPr kumimoji="0" lang="en-US" altLang="zh-CN" sz="1200" b="1" dirty="0"/>
              <a:t>, ran</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dirty="0" err="1"/>
              <a:t>dom</a:t>
            </a:r>
            <a:r>
              <a:rPr kumimoji="0" lang="en-US" altLang="zh-CN" sz="1200" b="1" i="1" dirty="0" err="1"/>
              <a:t>F</a:t>
            </a:r>
            <a:endParaRPr kumimoji="0" lang="en-US" altLang="zh-CN" sz="1200" b="1" dirty="0"/>
          </a:p>
          <a:p>
            <a:pPr eaLnBrk="1" hangingPunct="1">
              <a:spcBef>
                <a:spcPct val="0"/>
              </a:spcBef>
              <a:buFontTx/>
              <a:buNone/>
            </a:pPr>
            <a:endParaRPr kumimoji="0" lang="en-US" altLang="zh-CN" sz="1200" b="1" dirty="0"/>
          </a:p>
          <a:p>
            <a:pPr eaLnBrk="1" hangingPunct="1">
              <a:spcBef>
                <a:spcPct val="0"/>
              </a:spcBef>
              <a:buFontTx/>
              <a:buNone/>
            </a:pPr>
            <a:r>
              <a:rPr kumimoji="0" lang="zh-CN" altLang="en-US" sz="1200" b="1" dirty="0"/>
              <a:t>证</a:t>
            </a:r>
            <a:endParaRPr kumimoji="0" lang="en-US" altLang="zh-CN" sz="1200" b="1" dirty="0"/>
          </a:p>
          <a:p>
            <a:pPr eaLnBrk="1" hangingPunct="1">
              <a:spcBef>
                <a:spcPct val="0"/>
              </a:spcBef>
              <a:buFontTx/>
              <a:buNone/>
            </a:pPr>
            <a:r>
              <a:rPr kumimoji="0" lang="en-US" altLang="zh-CN" sz="1200" b="1" dirty="0"/>
              <a:t>(1) </a:t>
            </a:r>
            <a:r>
              <a:rPr kumimoji="0" lang="zh-CN" altLang="en-US" sz="1200" b="1" dirty="0"/>
              <a:t>任取</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 </a:t>
            </a:r>
            <a:r>
              <a:rPr kumimoji="0" lang="zh-CN" altLang="en-US" sz="1200" b="1" dirty="0"/>
              <a:t>由逆的定义有</a:t>
            </a:r>
          </a:p>
          <a:p>
            <a:pPr eaLnBrk="1" hangingPunct="1">
              <a:spcBef>
                <a:spcPct val="0"/>
              </a:spcBef>
              <a:buFontTx/>
              <a:buNone/>
            </a:pPr>
            <a:r>
              <a:rPr kumimoji="0" lang="zh-CN" altLang="en-US" sz="1200" b="1" dirty="0"/>
              <a:t>          </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i="1" dirty="0"/>
              <a:t>F </a:t>
            </a:r>
            <a:r>
              <a:rPr kumimoji="0" lang="en-US" altLang="zh-CN" sz="1200" b="1" i="1" baseline="30000" dirty="0">
                <a:latin typeface="Arial" panose="020B0604020202020204" pitchFamily="34" charset="0"/>
                <a:sym typeface="Symbol" panose="05050102010706020507" pitchFamily="18" charset="2"/>
              </a:rPr>
              <a:t></a:t>
            </a:r>
            <a:r>
              <a:rPr kumimoji="0" lang="en-US" altLang="zh-CN" sz="1050" b="1" dirty="0">
                <a:latin typeface="Arial" panose="020B0604020202020204" pitchFamily="34" charset="0"/>
              </a:rPr>
              <a:t> </a:t>
            </a:r>
            <a:r>
              <a:rPr kumimoji="0" lang="en-US" altLang="zh-CN" sz="1200" b="1" baseline="30000" dirty="0"/>
              <a:t>1</a:t>
            </a:r>
            <a:r>
              <a:rPr kumimoji="0" lang="en-US" altLang="zh-CN" sz="1200" b="1" dirty="0"/>
              <a:t>)</a:t>
            </a:r>
            <a:r>
              <a:rPr kumimoji="0" lang="en-US" altLang="zh-CN" sz="1200" b="1" i="1" baseline="30000" dirty="0">
                <a:sym typeface="Symbol" panose="05050102010706020507" pitchFamily="18" charset="2"/>
              </a:rPr>
              <a:t></a:t>
            </a:r>
            <a:r>
              <a:rPr kumimoji="0" lang="en-US" altLang="zh-CN" sz="1200" b="1" baseline="30000" dirty="0"/>
              <a:t>1 </a:t>
            </a:r>
            <a:r>
              <a:rPr kumimoji="0" lang="en-US" altLang="zh-CN" sz="1200" b="1" dirty="0">
                <a:sym typeface="Symbol" panose="05050102010706020507" pitchFamily="18" charset="2"/>
              </a:rPr>
              <a:t> </a:t>
            </a:r>
            <a:r>
              <a:rPr kumimoji="0" lang="en-US" altLang="zh-CN" sz="1200" b="1" dirty="0"/>
              <a:t>&lt;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i="1" dirty="0"/>
              <a:t>F</a:t>
            </a:r>
            <a:endParaRPr kumimoji="0" lang="en-US" altLang="zh-CN" sz="1200" b="1" dirty="0"/>
          </a:p>
          <a:p>
            <a:pPr eaLnBrk="1" hangingPunct="1">
              <a:spcBef>
                <a:spcPct val="0"/>
              </a:spcBef>
              <a:buFontTx/>
              <a:buNone/>
            </a:pPr>
            <a:r>
              <a:rPr kumimoji="0" lang="zh-CN" altLang="en-US" sz="1200" b="1" dirty="0"/>
              <a:t>       所以有 </a:t>
            </a:r>
            <a:r>
              <a:rPr kumimoji="0" lang="en-US" altLang="zh-CN" sz="1200" b="1" dirty="0"/>
              <a:t>(</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i="1" dirty="0"/>
              <a:t>F</a:t>
            </a:r>
            <a:endParaRPr kumimoji="0" lang="en-US" altLang="zh-CN" sz="1200" b="1" dirty="0"/>
          </a:p>
          <a:p>
            <a:pPr eaLnBrk="1" hangingPunct="1">
              <a:spcBef>
                <a:spcPct val="0"/>
              </a:spcBef>
              <a:buFontTx/>
              <a:buNone/>
            </a:pPr>
            <a:endParaRPr kumimoji="0" lang="en-US" altLang="zh-CN" sz="1200" b="1" dirty="0"/>
          </a:p>
          <a:p>
            <a:pPr eaLnBrk="1" hangingPunct="1">
              <a:spcBef>
                <a:spcPct val="0"/>
              </a:spcBef>
              <a:buFontTx/>
              <a:buNone/>
            </a:pPr>
            <a:r>
              <a:rPr kumimoji="0" lang="en-US" altLang="zh-CN" sz="1200" b="1" dirty="0"/>
              <a:t>(2) </a:t>
            </a:r>
            <a:r>
              <a:rPr kumimoji="0" lang="zh-CN" altLang="en-US" sz="1200" b="1" dirty="0"/>
              <a:t>任取</a:t>
            </a:r>
            <a:r>
              <a:rPr kumimoji="0" lang="en-US" altLang="zh-CN" sz="1200" b="1" i="1" dirty="0"/>
              <a:t>x</a:t>
            </a:r>
            <a:r>
              <a:rPr kumimoji="0" lang="en-US" altLang="zh-CN" sz="1200" b="1" dirty="0"/>
              <a:t>,</a:t>
            </a:r>
            <a:endParaRPr kumimoji="0" lang="en-US" altLang="zh-CN" sz="1200" b="1" i="1" dirty="0"/>
          </a:p>
          <a:p>
            <a:pPr eaLnBrk="1" hangingPunct="1">
              <a:spcBef>
                <a:spcPct val="0"/>
              </a:spcBef>
              <a:buFontTx/>
              <a:buNone/>
            </a:pPr>
            <a:r>
              <a:rPr kumimoji="0" lang="en-US" altLang="zh-CN" sz="1200" b="1" i="1" dirty="0"/>
              <a:t>          x</a:t>
            </a:r>
            <a:r>
              <a:rPr kumimoji="0" lang="en-US" altLang="zh-CN" sz="1200" b="1" dirty="0"/>
              <a:t>∈dom</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 </a:t>
            </a:r>
            <a:r>
              <a:rPr kumimoji="0" lang="en-US" altLang="zh-CN" sz="1200" b="1" dirty="0">
                <a:sym typeface="Symbol" panose="05050102010706020507" pitchFamily="18" charset="2"/>
              </a:rPr>
              <a:t> </a:t>
            </a:r>
            <a:r>
              <a:rPr kumimoji="0" lang="en-US" altLang="zh-CN" sz="1200" b="1" i="1" dirty="0"/>
              <a:t>y</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 </a:t>
            </a:r>
            <a:endParaRPr kumimoji="0" lang="en-US" altLang="zh-CN" sz="1200" b="1" dirty="0">
              <a:sym typeface="Symbol" panose="05050102010706020507" pitchFamily="18" charset="2"/>
            </a:endParaRPr>
          </a:p>
          <a:p>
            <a:pPr eaLnBrk="1" hangingPunct="1">
              <a:spcBef>
                <a:spcPct val="0"/>
              </a:spcBef>
              <a:buFontTx/>
              <a:buNone/>
            </a:pPr>
            <a:r>
              <a:rPr kumimoji="0" lang="en-US" altLang="zh-CN" sz="1200" b="1" dirty="0">
                <a:sym typeface="Symbol" panose="05050102010706020507" pitchFamily="18" charset="2"/>
              </a:rPr>
              <a:t>            </a:t>
            </a:r>
            <a:r>
              <a:rPr kumimoji="0" lang="en-US" altLang="zh-CN" sz="1200" b="1" i="1" dirty="0"/>
              <a:t>y</a:t>
            </a:r>
            <a:r>
              <a:rPr kumimoji="0" lang="en-US" altLang="zh-CN" sz="1200" b="1" dirty="0"/>
              <a:t>(&lt;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i="1" dirty="0"/>
              <a:t>F</a:t>
            </a:r>
            <a:r>
              <a:rPr kumimoji="0" lang="en-US" altLang="zh-CN" sz="1200" b="1" dirty="0"/>
              <a:t>) </a:t>
            </a:r>
            <a:r>
              <a:rPr kumimoji="0" lang="en-US" altLang="zh-CN" sz="1200" b="1" dirty="0">
                <a:sym typeface="Symbol" panose="05050102010706020507" pitchFamily="18" charset="2"/>
              </a:rPr>
              <a:t></a:t>
            </a:r>
            <a:r>
              <a:rPr kumimoji="0" lang="en-US" altLang="zh-CN" sz="1200" b="1" dirty="0"/>
              <a:t> </a:t>
            </a:r>
            <a:r>
              <a:rPr kumimoji="0" lang="en-US" altLang="zh-CN" sz="1200" b="1" i="1" dirty="0" err="1"/>
              <a:t>x</a:t>
            </a:r>
            <a:r>
              <a:rPr kumimoji="0" lang="en-US" altLang="zh-CN" sz="1200" b="1" dirty="0" err="1"/>
              <a:t>∈ran</a:t>
            </a:r>
            <a:r>
              <a:rPr kumimoji="0" lang="en-US" altLang="zh-CN" sz="1200" b="1" i="1" dirty="0" err="1"/>
              <a:t>F</a:t>
            </a:r>
            <a:r>
              <a:rPr kumimoji="0" lang="en-US" altLang="zh-CN" sz="1200" b="1" dirty="0"/>
              <a:t> </a:t>
            </a:r>
            <a:br>
              <a:rPr kumimoji="0" lang="en-US" altLang="zh-CN" sz="1200" b="1" dirty="0"/>
            </a:br>
            <a:r>
              <a:rPr kumimoji="0" lang="zh-CN" altLang="en-US" sz="1200" b="1" dirty="0"/>
              <a:t>所以有</a:t>
            </a:r>
            <a:r>
              <a:rPr kumimoji="0" lang="en-US" altLang="zh-CN" sz="1200" b="1" dirty="0"/>
              <a:t>dom</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 </a:t>
            </a:r>
            <a:r>
              <a:rPr kumimoji="0" lang="en-US" altLang="zh-CN" sz="1200" b="1" dirty="0" err="1"/>
              <a:t>ran</a:t>
            </a:r>
            <a:r>
              <a:rPr kumimoji="0" lang="en-US" altLang="zh-CN" sz="1200" b="1" i="1" dirty="0" err="1"/>
              <a:t>F</a:t>
            </a:r>
            <a:r>
              <a:rPr kumimoji="0" lang="en-US" altLang="zh-CN" sz="1200" b="1" i="1" dirty="0"/>
              <a:t>.  </a:t>
            </a:r>
            <a:r>
              <a:rPr kumimoji="0" lang="zh-CN" altLang="en-US" sz="1200" b="1" dirty="0"/>
              <a:t>同理可证 </a:t>
            </a:r>
            <a:r>
              <a:rPr kumimoji="0" lang="en-US" altLang="zh-CN" sz="1200" b="1" dirty="0"/>
              <a:t>ran</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 = </a:t>
            </a:r>
            <a:r>
              <a:rPr kumimoji="0" lang="en-US" altLang="zh-CN" sz="1200" b="1" dirty="0" err="1"/>
              <a:t>dom</a:t>
            </a:r>
            <a:r>
              <a:rPr kumimoji="0" lang="en-US" altLang="zh-CN" sz="1200" b="1" i="1" dirty="0" err="1"/>
              <a:t>F</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41919176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定理</a:t>
            </a:r>
            <a:r>
              <a:rPr kumimoji="0" lang="en-US" altLang="zh-CN" sz="1200" b="1" dirty="0">
                <a:solidFill>
                  <a:srgbClr val="FF0000"/>
                </a:solidFill>
              </a:rPr>
              <a:t>4.2</a:t>
            </a:r>
            <a:r>
              <a:rPr kumimoji="0" lang="en-US" altLang="zh-CN" sz="1200" b="1" dirty="0"/>
              <a:t>   </a:t>
            </a:r>
            <a:r>
              <a:rPr kumimoji="0" lang="zh-CN" altLang="en-US" sz="1200" b="1" dirty="0"/>
              <a:t>设</a:t>
            </a:r>
            <a:r>
              <a:rPr kumimoji="0" lang="en-US" altLang="zh-CN" sz="1200" b="1" i="1" dirty="0"/>
              <a:t>F</a:t>
            </a:r>
            <a:r>
              <a:rPr kumimoji="0" lang="en-US" altLang="zh-CN" sz="1200" b="1" dirty="0"/>
              <a:t>, </a:t>
            </a:r>
            <a:r>
              <a:rPr kumimoji="0" lang="en-US" altLang="zh-CN" sz="1200" b="1" i="1" dirty="0"/>
              <a:t>G</a:t>
            </a:r>
            <a:r>
              <a:rPr kumimoji="0" lang="en-US" altLang="zh-CN" sz="1200" b="1" dirty="0"/>
              <a:t>, </a:t>
            </a:r>
            <a:r>
              <a:rPr kumimoji="0" lang="en-US" altLang="zh-CN" sz="1200" b="1" i="1" dirty="0"/>
              <a:t>H</a:t>
            </a:r>
            <a:r>
              <a:rPr kumimoji="0" lang="zh-CN" altLang="en-US" sz="1200" b="1" dirty="0"/>
              <a:t>是任意的关系</a:t>
            </a:r>
            <a:r>
              <a:rPr kumimoji="0" lang="en-US" altLang="zh-CN" sz="1200" b="1" dirty="0"/>
              <a:t>, </a:t>
            </a:r>
            <a:r>
              <a:rPr kumimoji="0" lang="zh-CN" altLang="en-US" sz="1200" b="1" dirty="0"/>
              <a:t>则  </a:t>
            </a:r>
          </a:p>
          <a:p>
            <a:pPr eaLnBrk="1" hangingPunct="1">
              <a:spcBef>
                <a:spcPct val="0"/>
              </a:spcBef>
              <a:buFontTx/>
              <a:buNone/>
            </a:pPr>
            <a:r>
              <a:rPr kumimoji="0" lang="zh-CN" altLang="en-US" sz="1200" b="1" dirty="0"/>
              <a:t>    </a:t>
            </a:r>
            <a:r>
              <a:rPr kumimoji="0" lang="en-US" altLang="zh-CN" sz="1200" b="1" dirty="0"/>
              <a:t>(1)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p>
          <a:p>
            <a:pPr eaLnBrk="1" hangingPunct="1">
              <a:spcBef>
                <a:spcPct val="0"/>
              </a:spcBef>
              <a:buFontTx/>
              <a:buNone/>
            </a:pPr>
            <a:r>
              <a:rPr kumimoji="0" lang="en-US" altLang="zh-CN" sz="1200" b="1" dirty="0"/>
              <a:t>    (2)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i="1" dirty="0"/>
              <a:t> G</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 </a:t>
            </a:r>
          </a:p>
          <a:p>
            <a:pPr eaLnBrk="1" hangingPunct="1">
              <a:spcBef>
                <a:spcPct val="0"/>
              </a:spcBef>
              <a:buFontTx/>
              <a:buNone/>
            </a:pPr>
            <a:endParaRPr kumimoji="0" lang="en-US" altLang="zh-CN" sz="1200" b="1" dirty="0"/>
          </a:p>
          <a:p>
            <a:pPr eaLnBrk="1" hangingPunct="1">
              <a:spcBef>
                <a:spcPct val="0"/>
              </a:spcBef>
              <a:buFontTx/>
              <a:buNone/>
            </a:pPr>
            <a:r>
              <a:rPr kumimoji="0" lang="zh-CN" altLang="en-US" sz="1200" b="1" dirty="0"/>
              <a:t>证 </a:t>
            </a:r>
            <a:r>
              <a:rPr kumimoji="0" lang="en-US" altLang="zh-CN" sz="1200" b="1" dirty="0"/>
              <a:t>(1) </a:t>
            </a:r>
            <a:r>
              <a:rPr kumimoji="0" lang="zh-CN" altLang="en-US" sz="1200" b="1" dirty="0"/>
              <a:t>任取</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p>
          <a:p>
            <a:pPr eaLnBrk="1" hangingPunct="1">
              <a:spcBef>
                <a:spcPct val="0"/>
              </a:spcBef>
              <a:buFontTx/>
              <a:buNone/>
            </a:pPr>
            <a:r>
              <a:rPr kumimoji="0" lang="en-US" altLang="zh-CN" sz="1200" b="1" dirty="0"/>
              <a:t>           &lt;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dirty="0">
                <a:sym typeface="Symbol" panose="05050102010706020507" pitchFamily="18" charset="2"/>
              </a:rPr>
              <a:t></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endParaRPr kumimoji="0" lang="en-US" altLang="zh-CN" sz="1200" b="1" dirty="0">
              <a:sym typeface="Symbol" panose="05050102010706020507" pitchFamily="18" charset="2"/>
            </a:endParaRPr>
          </a:p>
          <a:p>
            <a:pPr eaLnBrk="1" hangingPunct="1">
              <a:spcBef>
                <a:spcPct val="0"/>
              </a:spcBef>
              <a:buFontTx/>
              <a:buNone/>
            </a:pPr>
            <a:r>
              <a:rPr kumimoji="0" lang="en-US" altLang="zh-CN" sz="1200" b="1" dirty="0">
                <a:sym typeface="Symbol" panose="05050102010706020507" pitchFamily="18" charset="2"/>
              </a:rPr>
              <a:t>       </a:t>
            </a:r>
            <a:r>
              <a:rPr kumimoji="0" lang="en-US" altLang="zh-CN" sz="1200" b="1" i="1" dirty="0"/>
              <a:t>t </a:t>
            </a:r>
            <a:r>
              <a:rPr kumimoji="0" lang="en-US" altLang="zh-CN" sz="1200" b="1" dirty="0"/>
              <a:t>(&lt;</a:t>
            </a:r>
            <a:r>
              <a:rPr kumimoji="0" lang="en-US" altLang="zh-CN" sz="1200" b="1" i="1" dirty="0"/>
              <a:t>x</a:t>
            </a:r>
            <a:r>
              <a:rPr kumimoji="0" lang="en-US" altLang="zh-CN" sz="1200" b="1" dirty="0"/>
              <a:t>, </a:t>
            </a:r>
            <a:r>
              <a:rPr kumimoji="0" lang="en-US" altLang="zh-CN" sz="1200" b="1" i="1" dirty="0"/>
              <a:t>t</a:t>
            </a:r>
            <a:r>
              <a:rPr kumimoji="0" lang="en-US" altLang="zh-CN" sz="1200" b="1" dirty="0"/>
              <a:t>&gt;∈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y&gt;</a:t>
            </a:r>
            <a:r>
              <a:rPr kumimoji="0" lang="en-US" altLang="zh-CN" sz="1200" b="1" dirty="0"/>
              <a:t>∈</a:t>
            </a:r>
            <a:r>
              <a:rPr kumimoji="0" lang="en-US" altLang="zh-CN" sz="1200" b="1" i="1" dirty="0"/>
              <a:t>H</a:t>
            </a:r>
            <a:r>
              <a:rPr kumimoji="0" lang="en-US" altLang="zh-CN" sz="1200" b="1" dirty="0"/>
              <a:t>)</a:t>
            </a:r>
            <a:endParaRPr kumimoji="0" lang="en-US" altLang="zh-CN" sz="1200" b="1" dirty="0">
              <a:sym typeface="Symbol" panose="05050102010706020507" pitchFamily="18" charset="2"/>
            </a:endParaRPr>
          </a:p>
          <a:p>
            <a:pPr eaLnBrk="1" hangingPunct="1">
              <a:spcBef>
                <a:spcPct val="0"/>
              </a:spcBef>
              <a:buFontTx/>
              <a:buNone/>
            </a:pPr>
            <a:r>
              <a:rPr kumimoji="0" lang="en-US" altLang="zh-CN" sz="1200" b="1" dirty="0">
                <a:sym typeface="Symbol" panose="05050102010706020507" pitchFamily="18" charset="2"/>
              </a:rPr>
              <a:t>       </a:t>
            </a:r>
            <a:r>
              <a:rPr kumimoji="0" lang="en-US" altLang="zh-CN" sz="1200" b="1" i="1" dirty="0"/>
              <a:t>t </a:t>
            </a:r>
            <a:r>
              <a:rPr kumimoji="0" lang="en-US" altLang="zh-CN" sz="1200" b="1" dirty="0"/>
              <a:t>(</a:t>
            </a:r>
            <a:r>
              <a:rPr kumimoji="0" lang="en-US" altLang="zh-CN" sz="1200" b="1" dirty="0">
                <a:sym typeface="Symbol" panose="05050102010706020507" pitchFamily="18" charset="2"/>
              </a:rPr>
              <a:t></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t </a:t>
            </a:r>
            <a:r>
              <a:rPr kumimoji="0" lang="en-US" altLang="zh-CN" sz="1200" b="1" dirty="0">
                <a:sym typeface="Symbol" panose="05050102010706020507" pitchFamily="18" charset="2"/>
              </a:rPr>
              <a:t></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a:t>
            </a:r>
            <a:r>
              <a:rPr kumimoji="0" lang="en-US" altLang="zh-CN" sz="1200" b="1" dirty="0">
                <a:sym typeface="Symbol" panose="05050102010706020507" pitchFamily="18" charset="2"/>
              </a:rPr>
              <a:t></a:t>
            </a:r>
            <a:r>
              <a:rPr kumimoji="0" lang="en-US" altLang="zh-CN" sz="1200" b="1" i="1" dirty="0"/>
              <a:t>t </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y</a:t>
            </a:r>
            <a:r>
              <a:rPr kumimoji="0" lang="en-US" altLang="zh-CN" sz="1200" b="1" dirty="0"/>
              <a:t>&gt;∈</a:t>
            </a:r>
            <a:r>
              <a:rPr kumimoji="0" lang="en-US" altLang="zh-CN" sz="1200" b="1" i="1" dirty="0"/>
              <a:t>G</a:t>
            </a:r>
            <a:r>
              <a:rPr kumimoji="0" lang="en-US" altLang="zh-CN" sz="105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 </a:t>
            </a:r>
            <a:br>
              <a:rPr kumimoji="0" lang="en-US" altLang="zh-CN" sz="1200" b="1" dirty="0"/>
            </a:br>
            <a:r>
              <a:rPr kumimoji="0" lang="zh-CN" altLang="en-US" sz="1200" b="1" dirty="0"/>
              <a:t>所以 </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 </a:t>
            </a:r>
            <a:r>
              <a:rPr kumimoji="0" lang="en-US" altLang="zh-CN" sz="1200" b="1" dirty="0"/>
              <a:t>=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2453365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定理</a:t>
            </a:r>
            <a:r>
              <a:rPr kumimoji="0" lang="en-US" altLang="zh-CN" sz="1200" b="1" dirty="0">
                <a:solidFill>
                  <a:srgbClr val="FF0000"/>
                </a:solidFill>
              </a:rPr>
              <a:t>4.2</a:t>
            </a:r>
            <a:r>
              <a:rPr kumimoji="0" lang="en-US" altLang="zh-CN" sz="1200" b="1" dirty="0"/>
              <a:t>   </a:t>
            </a:r>
            <a:r>
              <a:rPr kumimoji="0" lang="zh-CN" altLang="en-US" sz="1200" b="1" dirty="0"/>
              <a:t>设</a:t>
            </a:r>
            <a:r>
              <a:rPr kumimoji="0" lang="en-US" altLang="zh-CN" sz="1200" b="1" i="1" dirty="0"/>
              <a:t>F</a:t>
            </a:r>
            <a:r>
              <a:rPr kumimoji="0" lang="en-US" altLang="zh-CN" sz="1200" b="1" dirty="0"/>
              <a:t>, </a:t>
            </a:r>
            <a:r>
              <a:rPr kumimoji="0" lang="en-US" altLang="zh-CN" sz="1200" b="1" i="1" dirty="0"/>
              <a:t>G</a:t>
            </a:r>
            <a:r>
              <a:rPr kumimoji="0" lang="en-US" altLang="zh-CN" sz="1200" b="1" dirty="0"/>
              <a:t>, </a:t>
            </a:r>
            <a:r>
              <a:rPr kumimoji="0" lang="en-US" altLang="zh-CN" sz="1200" b="1" i="1" dirty="0"/>
              <a:t>H</a:t>
            </a:r>
            <a:r>
              <a:rPr kumimoji="0" lang="zh-CN" altLang="en-US" sz="1200" b="1" dirty="0"/>
              <a:t>是任意的关系</a:t>
            </a:r>
            <a:r>
              <a:rPr kumimoji="0" lang="en-US" altLang="zh-CN" sz="1200" b="1" dirty="0"/>
              <a:t>, </a:t>
            </a:r>
            <a:r>
              <a:rPr kumimoji="0" lang="zh-CN" altLang="en-US" sz="1200" b="1" dirty="0"/>
              <a:t>则  </a:t>
            </a:r>
          </a:p>
          <a:p>
            <a:pPr eaLnBrk="1" hangingPunct="1">
              <a:spcBef>
                <a:spcPct val="0"/>
              </a:spcBef>
              <a:buFontTx/>
              <a:buNone/>
            </a:pPr>
            <a:r>
              <a:rPr kumimoji="0" lang="zh-CN" altLang="en-US" sz="1200" b="1" dirty="0"/>
              <a:t>    </a:t>
            </a:r>
            <a:r>
              <a:rPr kumimoji="0" lang="en-US" altLang="zh-CN" sz="1200" b="1" dirty="0"/>
              <a:t>(1)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p>
          <a:p>
            <a:pPr eaLnBrk="1" hangingPunct="1">
              <a:spcBef>
                <a:spcPct val="0"/>
              </a:spcBef>
              <a:buFontTx/>
              <a:buNone/>
            </a:pPr>
            <a:r>
              <a:rPr kumimoji="0" lang="en-US" altLang="zh-CN" sz="1200" b="1" dirty="0"/>
              <a:t>    (2)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t>=</a:t>
            </a:r>
            <a:r>
              <a:rPr kumimoji="0" lang="en-US" altLang="zh-CN" sz="1200" b="1" i="1" dirty="0"/>
              <a:t> G</a:t>
            </a:r>
            <a:r>
              <a:rPr kumimoji="0" lang="en-US" altLang="zh-CN" sz="1200" b="1" i="1" baseline="30000" dirty="0">
                <a:sym typeface="Symbol" panose="05050102010706020507" pitchFamily="18" charset="2"/>
              </a:rPr>
              <a:t></a:t>
            </a:r>
            <a:r>
              <a:rPr kumimoji="0" lang="en-US" altLang="zh-CN" sz="1200" b="1" baseline="30000" dirty="0"/>
              <a:t>1</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F</a:t>
            </a:r>
            <a:r>
              <a:rPr kumimoji="0" lang="en-US" altLang="zh-CN" sz="1200" b="1" i="1" baseline="30000" dirty="0">
                <a:sym typeface="Symbol" panose="05050102010706020507" pitchFamily="18" charset="2"/>
              </a:rPr>
              <a:t></a:t>
            </a:r>
            <a:r>
              <a:rPr kumimoji="0" lang="en-US" altLang="zh-CN" sz="1200" b="1" baseline="30000" dirty="0"/>
              <a:t>1 </a:t>
            </a:r>
          </a:p>
          <a:p>
            <a:pPr eaLnBrk="1" hangingPunct="1">
              <a:spcBef>
                <a:spcPct val="0"/>
              </a:spcBef>
              <a:buFontTx/>
              <a:buNone/>
            </a:pPr>
            <a:endParaRPr kumimoji="0" lang="en-US" altLang="zh-CN" sz="1200" b="1" dirty="0"/>
          </a:p>
          <a:p>
            <a:pPr eaLnBrk="1" hangingPunct="1">
              <a:spcBef>
                <a:spcPct val="0"/>
              </a:spcBef>
              <a:buFontTx/>
              <a:buNone/>
            </a:pPr>
            <a:r>
              <a:rPr kumimoji="0" lang="zh-CN" altLang="en-US" sz="1200" b="1" dirty="0"/>
              <a:t>证 </a:t>
            </a:r>
            <a:r>
              <a:rPr kumimoji="0" lang="en-US" altLang="zh-CN" sz="1200" b="1" dirty="0"/>
              <a:t>(1) </a:t>
            </a:r>
            <a:r>
              <a:rPr kumimoji="0" lang="zh-CN" altLang="en-US" sz="1200" b="1" dirty="0"/>
              <a:t>任取</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 </a:t>
            </a:r>
          </a:p>
          <a:p>
            <a:pPr eaLnBrk="1" hangingPunct="1">
              <a:spcBef>
                <a:spcPct val="0"/>
              </a:spcBef>
              <a:buFontTx/>
              <a:buNone/>
            </a:pPr>
            <a:r>
              <a:rPr kumimoji="0" lang="en-US" altLang="zh-CN" sz="1200" b="1" dirty="0"/>
              <a:t>           &lt;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dirty="0">
                <a:sym typeface="Symbol" panose="05050102010706020507" pitchFamily="18" charset="2"/>
              </a:rPr>
              <a:t></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endParaRPr kumimoji="0" lang="en-US" altLang="zh-CN" sz="1200" b="1" dirty="0">
              <a:sym typeface="Symbol" panose="05050102010706020507" pitchFamily="18" charset="2"/>
            </a:endParaRPr>
          </a:p>
          <a:p>
            <a:pPr eaLnBrk="1" hangingPunct="1">
              <a:spcBef>
                <a:spcPct val="0"/>
              </a:spcBef>
              <a:buFontTx/>
              <a:buNone/>
            </a:pPr>
            <a:r>
              <a:rPr kumimoji="0" lang="en-US" altLang="zh-CN" sz="1200" b="1" dirty="0">
                <a:sym typeface="Symbol" panose="05050102010706020507" pitchFamily="18" charset="2"/>
              </a:rPr>
              <a:t>       </a:t>
            </a:r>
            <a:r>
              <a:rPr kumimoji="0" lang="en-US" altLang="zh-CN" sz="1200" b="1" i="1" dirty="0"/>
              <a:t>t </a:t>
            </a:r>
            <a:r>
              <a:rPr kumimoji="0" lang="en-US" altLang="zh-CN" sz="1200" b="1" dirty="0"/>
              <a:t>(&lt;</a:t>
            </a:r>
            <a:r>
              <a:rPr kumimoji="0" lang="en-US" altLang="zh-CN" sz="1200" b="1" i="1" dirty="0"/>
              <a:t>x</a:t>
            </a:r>
            <a:r>
              <a:rPr kumimoji="0" lang="en-US" altLang="zh-CN" sz="1200" b="1" dirty="0"/>
              <a:t>, </a:t>
            </a:r>
            <a:r>
              <a:rPr kumimoji="0" lang="en-US" altLang="zh-CN" sz="1200" b="1" i="1" dirty="0"/>
              <a:t>t</a:t>
            </a:r>
            <a:r>
              <a:rPr kumimoji="0" lang="en-US" altLang="zh-CN" sz="1200" b="1" dirty="0"/>
              <a:t>&gt;∈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y&gt;</a:t>
            </a:r>
            <a:r>
              <a:rPr kumimoji="0" lang="en-US" altLang="zh-CN" sz="1200" b="1" dirty="0"/>
              <a:t>∈</a:t>
            </a:r>
            <a:r>
              <a:rPr kumimoji="0" lang="en-US" altLang="zh-CN" sz="1200" b="1" i="1" dirty="0"/>
              <a:t>H</a:t>
            </a:r>
            <a:r>
              <a:rPr kumimoji="0" lang="en-US" altLang="zh-CN" sz="1200" b="1" dirty="0"/>
              <a:t>)</a:t>
            </a:r>
            <a:endParaRPr kumimoji="0" lang="en-US" altLang="zh-CN" sz="1200" b="1" dirty="0">
              <a:sym typeface="Symbol" panose="05050102010706020507" pitchFamily="18" charset="2"/>
            </a:endParaRPr>
          </a:p>
          <a:p>
            <a:pPr eaLnBrk="1" hangingPunct="1">
              <a:spcBef>
                <a:spcPct val="0"/>
              </a:spcBef>
              <a:buFontTx/>
              <a:buNone/>
            </a:pPr>
            <a:r>
              <a:rPr kumimoji="0" lang="en-US" altLang="zh-CN" sz="1200" b="1" dirty="0">
                <a:sym typeface="Symbol" panose="05050102010706020507" pitchFamily="18" charset="2"/>
              </a:rPr>
              <a:t>       </a:t>
            </a:r>
            <a:r>
              <a:rPr kumimoji="0" lang="en-US" altLang="zh-CN" sz="1200" b="1" i="1" dirty="0"/>
              <a:t>t </a:t>
            </a:r>
            <a:r>
              <a:rPr kumimoji="0" lang="en-US" altLang="zh-CN" sz="1200" b="1" dirty="0"/>
              <a:t>(</a:t>
            </a:r>
            <a:r>
              <a:rPr kumimoji="0" lang="en-US" altLang="zh-CN" sz="1200" b="1" dirty="0">
                <a:sym typeface="Symbol" panose="05050102010706020507" pitchFamily="18" charset="2"/>
              </a:rPr>
              <a:t></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t </a:t>
            </a:r>
            <a:r>
              <a:rPr kumimoji="0" lang="en-US" altLang="zh-CN" sz="1200" b="1" dirty="0">
                <a:sym typeface="Symbol" panose="05050102010706020507" pitchFamily="18" charset="2"/>
              </a:rPr>
              <a:t></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a:t>
            </a:r>
            <a:r>
              <a:rPr kumimoji="0" lang="en-US" altLang="zh-CN" sz="1200" b="1" dirty="0">
                <a:sym typeface="Symbol" panose="05050102010706020507" pitchFamily="18" charset="2"/>
              </a:rPr>
              <a:t></a:t>
            </a:r>
            <a:r>
              <a:rPr kumimoji="0" lang="en-US" altLang="zh-CN" sz="1200" b="1" i="1" dirty="0"/>
              <a:t>t </a:t>
            </a:r>
            <a:r>
              <a:rPr kumimoji="0" lang="en-US" altLang="zh-CN" sz="1200" b="1" dirty="0"/>
              <a:t>(&lt;</a:t>
            </a:r>
            <a:r>
              <a:rPr kumimoji="0" lang="en-US" altLang="zh-CN" sz="1200" b="1" i="1" dirty="0"/>
              <a:t>s</a:t>
            </a:r>
            <a:r>
              <a:rPr kumimoji="0" lang="en-US" altLang="zh-CN" sz="1200" b="1" dirty="0"/>
              <a:t>, </a:t>
            </a:r>
            <a:r>
              <a:rPr kumimoji="0" lang="en-US" altLang="zh-CN" sz="1200" b="1" i="1" dirty="0"/>
              <a:t>t</a:t>
            </a:r>
            <a:r>
              <a:rPr kumimoji="0" lang="en-US" altLang="zh-CN" sz="1200" b="1" dirty="0"/>
              <a:t>&gt;∈</a:t>
            </a:r>
            <a:r>
              <a:rPr kumimoji="0" lang="en-US" altLang="zh-CN" sz="1200" b="1" i="1" dirty="0"/>
              <a:t>G</a:t>
            </a:r>
            <a:r>
              <a:rPr kumimoji="0" lang="en-US" altLang="zh-CN" sz="1200" b="1" dirty="0"/>
              <a:t>∧&lt;</a:t>
            </a:r>
            <a:r>
              <a:rPr kumimoji="0" lang="en-US" altLang="zh-CN" sz="1200" b="1" i="1" dirty="0"/>
              <a:t>t</a:t>
            </a:r>
            <a:r>
              <a:rPr kumimoji="0" lang="en-US" altLang="zh-CN" sz="1200" b="1" dirty="0"/>
              <a:t>, </a:t>
            </a:r>
            <a:r>
              <a:rPr kumimoji="0" lang="en-US" altLang="zh-CN" sz="1200" b="1" i="1" dirty="0"/>
              <a:t>y</a:t>
            </a:r>
            <a:r>
              <a:rPr kumimoji="0" lang="en-US" altLang="zh-CN" sz="1200" b="1" dirty="0"/>
              <a:t>&gt;∈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i="1" dirty="0"/>
              <a:t>s </a:t>
            </a:r>
            <a:r>
              <a:rPr kumimoji="0" lang="en-US" altLang="zh-CN" sz="1200" b="1" dirty="0"/>
              <a:t>(&lt;</a:t>
            </a:r>
            <a:r>
              <a:rPr kumimoji="0" lang="en-US" altLang="zh-CN" sz="1200" b="1" i="1" dirty="0"/>
              <a:t>x</a:t>
            </a:r>
            <a:r>
              <a:rPr kumimoji="0" lang="en-US" altLang="zh-CN" sz="1200" b="1" dirty="0"/>
              <a:t>, </a:t>
            </a:r>
            <a:r>
              <a:rPr kumimoji="0" lang="en-US" altLang="zh-CN" sz="1200" b="1" i="1" dirty="0"/>
              <a:t>s</a:t>
            </a:r>
            <a:r>
              <a:rPr kumimoji="0" lang="en-US" altLang="zh-CN" sz="1200" b="1" dirty="0"/>
              <a:t>&gt;∈</a:t>
            </a:r>
            <a:r>
              <a:rPr kumimoji="0" lang="en-US" altLang="zh-CN" sz="1200" b="1" i="1" dirty="0"/>
              <a:t>F</a:t>
            </a:r>
            <a:r>
              <a:rPr kumimoji="0" lang="en-US" altLang="zh-CN" sz="1200" b="1" dirty="0"/>
              <a:t>∧&lt;</a:t>
            </a:r>
            <a:r>
              <a:rPr kumimoji="0" lang="en-US" altLang="zh-CN" sz="1200" b="1" i="1" dirty="0"/>
              <a:t>s</a:t>
            </a:r>
            <a:r>
              <a:rPr kumimoji="0" lang="en-US" altLang="zh-CN" sz="1200" b="1" dirty="0"/>
              <a:t>, </a:t>
            </a:r>
            <a:r>
              <a:rPr kumimoji="0" lang="en-US" altLang="zh-CN" sz="1200" b="1" i="1" dirty="0"/>
              <a:t>y</a:t>
            </a:r>
            <a:r>
              <a:rPr kumimoji="0" lang="en-US" altLang="zh-CN" sz="1200" b="1" dirty="0"/>
              <a:t>&gt;∈</a:t>
            </a:r>
            <a:r>
              <a:rPr kumimoji="0" lang="en-US" altLang="zh-CN" sz="1200" b="1" i="1" dirty="0"/>
              <a:t>G</a:t>
            </a:r>
            <a:r>
              <a:rPr kumimoji="0" lang="en-US" altLang="zh-CN" sz="105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br>
              <a:rPr kumimoji="0" lang="en-US" altLang="zh-CN" sz="1200" b="1" dirty="0"/>
            </a:br>
            <a:r>
              <a:rPr kumimoji="0" lang="en-US" altLang="zh-CN" sz="1200" b="1" dirty="0"/>
              <a:t>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 </a:t>
            </a:r>
            <a:br>
              <a:rPr kumimoji="0" lang="en-US" altLang="zh-CN" sz="1200" b="1" dirty="0"/>
            </a:br>
            <a:r>
              <a:rPr kumimoji="0" lang="zh-CN" altLang="en-US" sz="1200" b="1" dirty="0"/>
              <a:t>所以 </a:t>
            </a:r>
            <a:r>
              <a:rPr kumimoji="0" lang="en-US" altLang="zh-CN" sz="1200" b="1" dirty="0"/>
              <a:t>(</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G</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 </a:t>
            </a:r>
            <a:r>
              <a:rPr kumimoji="0" lang="en-US" altLang="zh-CN" sz="1200" b="1" dirty="0"/>
              <a:t>= </a:t>
            </a:r>
            <a:r>
              <a:rPr kumimoji="0" lang="en-US" altLang="zh-CN" sz="1200" b="1" i="1" dirty="0"/>
              <a:t>F</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a:t>G</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H</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1239486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3300"/>
                </a:solidFill>
                <a:latin typeface="Times New Roman" panose="02020603050405020304" pitchFamily="18" charset="0"/>
              </a:rPr>
              <a:t>恒等关系 </a:t>
            </a:r>
            <a:r>
              <a:rPr lang="en-US" altLang="zh-CN" sz="1200" b="1" i="1" dirty="0">
                <a:latin typeface="Times New Roman" panose="02020603050405020304" pitchFamily="18" charset="0"/>
              </a:rPr>
              <a:t>I</a:t>
            </a:r>
            <a:r>
              <a:rPr lang="en-US" altLang="zh-CN" sz="1200" b="1" i="1" baseline="-25000" dirty="0">
                <a:latin typeface="Times New Roman" panose="02020603050405020304" pitchFamily="18" charset="0"/>
              </a:rPr>
              <a:t>A</a:t>
            </a:r>
            <a:r>
              <a:rPr lang="en-US" altLang="zh-CN" sz="1200" b="1" dirty="0">
                <a:latin typeface="Times New Roman" panose="02020603050405020304" pitchFamily="18" charset="0"/>
              </a:rPr>
              <a:t>={&lt;</a:t>
            </a:r>
            <a:r>
              <a:rPr lang="en-US" altLang="zh-CN" sz="1200" b="1" i="1" dirty="0" err="1">
                <a:latin typeface="Times New Roman" panose="02020603050405020304" pitchFamily="18" charset="0"/>
              </a:rPr>
              <a:t>x</a:t>
            </a:r>
            <a:r>
              <a:rPr lang="en-US" altLang="zh-CN" sz="1200" b="1" dirty="0" err="1">
                <a:latin typeface="Times New Roman" panose="02020603050405020304" pitchFamily="18" charset="0"/>
              </a:rPr>
              <a:t>,</a:t>
            </a:r>
            <a:r>
              <a:rPr lang="en-US" altLang="zh-CN" sz="1200" b="1" i="1" dirty="0" err="1">
                <a:latin typeface="Times New Roman" panose="02020603050405020304" pitchFamily="18" charset="0"/>
              </a:rPr>
              <a:t>x</a:t>
            </a:r>
            <a:r>
              <a:rPr lang="en-US" altLang="zh-CN" sz="1200" b="1" dirty="0">
                <a:latin typeface="Times New Roman" panose="02020603050405020304" pitchFamily="18" charset="0"/>
              </a:rPr>
              <a:t>&gt;|</a:t>
            </a:r>
            <a:r>
              <a:rPr lang="en-US" altLang="zh-CN" sz="1200" b="1" i="1" dirty="0" err="1">
                <a:latin typeface="Times New Roman" panose="02020603050405020304" pitchFamily="18" charset="0"/>
              </a:rPr>
              <a:t>x</a:t>
            </a:r>
            <a:r>
              <a:rPr lang="en-US" altLang="zh-CN" sz="1200" b="1" dirty="0" err="1">
                <a:latin typeface="Times New Roman" panose="02020603050405020304" pitchFamily="18" charset="0"/>
              </a:rPr>
              <a:t>∈</a:t>
            </a:r>
            <a:r>
              <a:rPr lang="en-US" altLang="zh-CN" sz="1200" b="1" i="1" dirty="0" err="1">
                <a:latin typeface="Times New Roman" panose="02020603050405020304" pitchFamily="18" charset="0"/>
              </a:rPr>
              <a:t>A</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与</a:t>
            </a:r>
            <a:r>
              <a:rPr lang="en-US" altLang="zh-CN" sz="1200" b="1" dirty="0">
                <a:latin typeface="Times New Roman" panose="02020603050405020304" pitchFamily="18" charset="0"/>
              </a:rPr>
              <a:t>R</a:t>
            </a:r>
            <a:r>
              <a:rPr lang="zh-CN" altLang="en-US" sz="1200" b="1" dirty="0">
                <a:latin typeface="Times New Roman" panose="02020603050405020304" pitchFamily="18" charset="0"/>
              </a:rPr>
              <a:t>的合成运算，</a:t>
            </a:r>
            <a:r>
              <a:rPr lang="zh-CN" altLang="zh-CN" sz="1800" dirty="0">
                <a:effectLst/>
                <a:highlight>
                  <a:srgbClr val="FFFF00"/>
                </a:highlight>
                <a:ea typeface="等线" panose="02010600030101010101" pitchFamily="2" charset="-122"/>
                <a:cs typeface="Times New Roman" panose="02020603050405020304" pitchFamily="18" charset="0"/>
              </a:rPr>
              <a:t>恒等关系在合成运算中起着</a:t>
            </a:r>
            <a:r>
              <a:rPr lang="en-US" altLang="zh-CN" sz="1800" dirty="0">
                <a:effectLst/>
                <a:highlight>
                  <a:srgbClr val="FFFF00"/>
                </a:highlight>
                <a:ea typeface="等线" panose="02010600030101010101" pitchFamily="2" charset="-122"/>
                <a:cs typeface="Times New Roman" panose="02020603050405020304" pitchFamily="18" charset="0"/>
              </a:rPr>
              <a:t>“</a:t>
            </a:r>
            <a:r>
              <a:rPr lang="zh-CN" altLang="zh-CN" sz="1800" dirty="0">
                <a:effectLst/>
                <a:highlight>
                  <a:srgbClr val="FFFF00"/>
                </a:highlight>
                <a:ea typeface="等线" panose="02010600030101010101" pitchFamily="2" charset="-122"/>
                <a:cs typeface="Times New Roman" panose="02020603050405020304" pitchFamily="18" charset="0"/>
              </a:rPr>
              <a:t>中性</a:t>
            </a:r>
            <a:r>
              <a:rPr lang="en-US" altLang="zh-CN" sz="1800" dirty="0">
                <a:effectLst/>
                <a:highlight>
                  <a:srgbClr val="FFFF00"/>
                </a:highlight>
                <a:ea typeface="等线" panose="02010600030101010101" pitchFamily="2" charset="-122"/>
                <a:cs typeface="Times New Roman" panose="02020603050405020304" pitchFamily="18" charset="0"/>
              </a:rPr>
              <a:t>”</a:t>
            </a:r>
            <a:r>
              <a:rPr lang="zh-CN" altLang="zh-CN" sz="1800" dirty="0">
                <a:effectLst/>
                <a:highlight>
                  <a:srgbClr val="FFFF00"/>
                </a:highlight>
                <a:ea typeface="等线" panose="02010600030101010101" pitchFamily="2" charset="-122"/>
                <a:cs typeface="Times New Roman" panose="02020603050405020304" pitchFamily="18" charset="0"/>
              </a:rPr>
              <a:t>或</a:t>
            </a:r>
            <a:r>
              <a:rPr lang="en-US" altLang="zh-CN" sz="1800" dirty="0">
                <a:effectLst/>
                <a:highlight>
                  <a:srgbClr val="FFFF00"/>
                </a:highlight>
                <a:ea typeface="等线" panose="02010600030101010101" pitchFamily="2" charset="-122"/>
                <a:cs typeface="Times New Roman" panose="02020603050405020304" pitchFamily="18" charset="0"/>
              </a:rPr>
              <a:t>“</a:t>
            </a:r>
            <a:r>
              <a:rPr lang="zh-CN" altLang="zh-CN" sz="1800" dirty="0">
                <a:effectLst/>
                <a:highlight>
                  <a:srgbClr val="FFFF00"/>
                </a:highlight>
                <a:ea typeface="等线" panose="02010600030101010101" pitchFamily="2" charset="-122"/>
                <a:cs typeface="Times New Roman" panose="02020603050405020304" pitchFamily="18" charset="0"/>
              </a:rPr>
              <a:t>不变</a:t>
            </a:r>
            <a:r>
              <a:rPr lang="en-US" altLang="zh-CN" sz="1800" dirty="0">
                <a:effectLst/>
                <a:highlight>
                  <a:srgbClr val="FFFF00"/>
                </a:highlight>
                <a:ea typeface="等线" panose="02010600030101010101" pitchFamily="2" charset="-122"/>
                <a:cs typeface="Times New Roman" panose="02020603050405020304" pitchFamily="18" charset="0"/>
              </a:rPr>
              <a:t>”</a:t>
            </a:r>
            <a:r>
              <a:rPr lang="zh-CN" altLang="zh-CN" sz="1800" dirty="0">
                <a:effectLst/>
                <a:highlight>
                  <a:srgbClr val="FFFF00"/>
                </a:highlight>
                <a:ea typeface="等线" panose="02010600030101010101" pitchFamily="2" charset="-122"/>
                <a:cs typeface="Times New Roman" panose="02020603050405020304" pitchFamily="18" charset="0"/>
              </a:rPr>
              <a:t>的作用</a:t>
            </a:r>
            <a:r>
              <a:rPr lang="zh-CN" altLang="en-US" sz="1800" dirty="0">
                <a:effectLst/>
                <a:highlight>
                  <a:srgbClr val="FFFF00"/>
                </a:highlight>
                <a:ea typeface="等线" panose="02010600030101010101" pitchFamily="2" charset="-122"/>
                <a:cs typeface="Times New Roman" panose="02020603050405020304" pitchFamily="18" charset="0"/>
              </a:rPr>
              <a:t>。</a:t>
            </a:r>
            <a:endParaRPr lang="en-US" altLang="zh-CN" sz="1800" dirty="0">
              <a:effectLst/>
              <a:highlight>
                <a:srgbClr val="FFFF00"/>
              </a:highlight>
              <a:ea typeface="等线" panose="02010600030101010101" pitchFamily="2" charset="-122"/>
              <a:cs typeface="Times New Roman" panose="02020603050405020304" pitchFamily="18" charset="0"/>
            </a:endParaRPr>
          </a:p>
          <a:p>
            <a:r>
              <a:rPr lang="zh-CN" altLang="zh-CN" sz="1800" dirty="0">
                <a:effectLst/>
                <a:ea typeface="等线" panose="02010600030101010101" pitchFamily="2" charset="-122"/>
                <a:cs typeface="Times New Roman" panose="02020603050405020304" pitchFamily="18" charset="0"/>
              </a:rPr>
              <a:t>对于任何</a:t>
            </a:r>
            <a:r>
              <a:rPr lang="en-US" altLang="zh-CN" sz="1800" dirty="0">
                <a:effectLst/>
                <a:ea typeface="等线" panose="02010600030101010101" pitchFamily="2" charset="-122"/>
                <a:cs typeface="Times New Roman" panose="02020603050405020304" pitchFamily="18" charset="0"/>
              </a:rPr>
              <a:t>a, b </a:t>
            </a:r>
            <a:r>
              <a:rPr lang="zh-CN" altLang="zh-CN" sz="1800" dirty="0">
                <a:effectLst/>
                <a:ea typeface="微软雅黑" panose="020B0503020204020204" pitchFamily="34" charset="-122"/>
                <a:cs typeface="微软雅黑" panose="020B0503020204020204" pitchFamily="34" charset="-122"/>
              </a:rPr>
              <a:t>∈</a:t>
            </a:r>
            <a:r>
              <a:rPr lang="en-US" altLang="zh-CN" sz="1800" dirty="0">
                <a:effectLst/>
                <a:latin typeface="等线" panose="02010600030101010101" pitchFamily="2" charset="-122"/>
                <a:cs typeface="Times New Roman" panose="02020603050405020304" pitchFamily="18" charset="0"/>
              </a:rPr>
              <a:t> A</a:t>
            </a:r>
            <a:r>
              <a:rPr lang="zh-CN" altLang="zh-CN" sz="1800" dirty="0">
                <a:effectLst/>
                <a:ea typeface="等线" panose="02010600030101010101" pitchFamily="2" charset="-122"/>
                <a:cs typeface="Times New Roman" panose="02020603050405020304" pitchFamily="18" charset="0"/>
              </a:rPr>
              <a:t>，如果</a:t>
            </a:r>
            <a:r>
              <a:rPr lang="en-US" altLang="zh-CN" sz="1800" dirty="0">
                <a:effectLst/>
                <a:ea typeface="等线" panose="02010600030101010101" pitchFamily="2" charset="-122"/>
                <a:cs typeface="Times New Roman" panose="02020603050405020304" pitchFamily="18" charset="0"/>
              </a:rPr>
              <a:t> (a, b) </a:t>
            </a:r>
            <a:r>
              <a:rPr lang="zh-CN" altLang="zh-CN" sz="1800" dirty="0">
                <a:effectLst/>
                <a:ea typeface="微软雅黑" panose="020B0503020204020204" pitchFamily="34" charset="-122"/>
                <a:cs typeface="微软雅黑" panose="020B0503020204020204" pitchFamily="34" charset="-122"/>
              </a:rPr>
              <a:t>∈</a:t>
            </a:r>
            <a:r>
              <a:rPr lang="en-US" altLang="zh-CN" sz="1800" dirty="0">
                <a:effectLst/>
                <a:latin typeface="等线" panose="02010600030101010101" pitchFamily="2" charset="-122"/>
                <a:cs typeface="Times New Roman" panose="02020603050405020304" pitchFamily="18" charset="0"/>
              </a:rPr>
              <a:t> R</a:t>
            </a:r>
            <a:r>
              <a:rPr lang="zh-CN" altLang="zh-CN" sz="1800" dirty="0">
                <a:effectLst/>
                <a:ea typeface="等线" panose="02010600030101010101" pitchFamily="2" charset="-122"/>
                <a:cs typeface="Times New Roman" panose="02020603050405020304" pitchFamily="18" charset="0"/>
              </a:rPr>
              <a:t>，则必须有</a:t>
            </a:r>
            <a:r>
              <a:rPr lang="en-US" altLang="zh-CN" sz="1800" dirty="0">
                <a:effectLst/>
                <a:ea typeface="等线" panose="02010600030101010101" pitchFamily="2" charset="-122"/>
                <a:cs typeface="Times New Roman" panose="02020603050405020304" pitchFamily="18" charset="0"/>
              </a:rPr>
              <a:t> (a, a) </a:t>
            </a:r>
            <a:r>
              <a:rPr lang="zh-CN" altLang="zh-CN" sz="1800" dirty="0">
                <a:effectLst/>
                <a:ea typeface="微软雅黑" panose="020B0503020204020204" pitchFamily="34" charset="-122"/>
                <a:cs typeface="微软雅黑" panose="020B0503020204020204" pitchFamily="34" charset="-122"/>
              </a:rPr>
              <a:t>∈</a:t>
            </a:r>
            <a:r>
              <a:rPr lang="en-US" altLang="zh-CN" sz="1800" dirty="0">
                <a:effectLst/>
                <a:latin typeface="等线" panose="02010600030101010101" pitchFamily="2" charset="-122"/>
                <a:cs typeface="Times New Roman" panose="02020603050405020304" pitchFamily="18" charset="0"/>
              </a:rPr>
              <a:t> </a:t>
            </a:r>
            <a:r>
              <a:rPr lang="en-US" altLang="zh-CN" sz="1800" b="1" i="1" dirty="0">
                <a:latin typeface="Times New Roman" panose="02020603050405020304" pitchFamily="18" charset="0"/>
              </a:rPr>
              <a:t>I</a:t>
            </a:r>
            <a:r>
              <a:rPr lang="en-US" altLang="zh-CN" sz="1800" b="1" i="1" baseline="-25000" dirty="0">
                <a:latin typeface="Times New Roman" panose="02020603050405020304" pitchFamily="18" charset="0"/>
              </a:rPr>
              <a:t>A</a:t>
            </a:r>
            <a:r>
              <a:rPr lang="en-US" altLang="zh-CN" sz="1800" dirty="0">
                <a:effectLst/>
                <a:latin typeface="等线" panose="02010600030101010101" pitchFamily="2" charset="-122"/>
                <a:cs typeface="Times New Roman" panose="02020603050405020304" pitchFamily="18" charset="0"/>
              </a:rPr>
              <a:t> </a:t>
            </a:r>
            <a:r>
              <a:rPr lang="zh-CN" altLang="zh-CN" sz="1800" dirty="0">
                <a:effectLst/>
                <a:ea typeface="等线" panose="02010600030101010101" pitchFamily="2" charset="-122"/>
                <a:cs typeface="Times New Roman" panose="02020603050405020304" pitchFamily="18" charset="0"/>
              </a:rPr>
              <a:t>且</a:t>
            </a:r>
            <a:r>
              <a:rPr lang="en-US" altLang="zh-CN" sz="1800" dirty="0">
                <a:effectLst/>
                <a:ea typeface="等线" panose="02010600030101010101" pitchFamily="2" charset="-122"/>
                <a:cs typeface="Times New Roman" panose="02020603050405020304" pitchFamily="18" charset="0"/>
              </a:rPr>
              <a:t> (a, b) </a:t>
            </a:r>
            <a:r>
              <a:rPr lang="zh-CN" altLang="zh-CN" sz="1800" dirty="0">
                <a:effectLst/>
                <a:ea typeface="微软雅黑" panose="020B0503020204020204" pitchFamily="34" charset="-122"/>
                <a:cs typeface="微软雅黑" panose="020B0503020204020204" pitchFamily="34" charset="-122"/>
              </a:rPr>
              <a:t>∈</a:t>
            </a:r>
            <a:r>
              <a:rPr lang="en-US" altLang="zh-CN" sz="1800" dirty="0">
                <a:effectLst/>
                <a:latin typeface="等线" panose="02010600030101010101" pitchFamily="2" charset="-122"/>
                <a:cs typeface="Times New Roman" panose="02020603050405020304" pitchFamily="18" charset="0"/>
              </a:rPr>
              <a:t> R</a:t>
            </a:r>
            <a:r>
              <a:rPr lang="zh-CN" altLang="zh-CN" sz="1800" dirty="0">
                <a:effectLst/>
                <a:ea typeface="等线" panose="02010600030101010101" pitchFamily="2" charset="-122"/>
                <a:cs typeface="Times New Roman" panose="02020603050405020304" pitchFamily="18" charset="0"/>
              </a:rPr>
              <a:t>，根据合成的定义，这将导致</a:t>
            </a:r>
            <a:r>
              <a:rPr lang="en-US" altLang="zh-CN" sz="1800" dirty="0">
                <a:effectLst/>
                <a:ea typeface="等线" panose="02010600030101010101" pitchFamily="2" charset="-122"/>
                <a:cs typeface="Times New Roman" panose="02020603050405020304" pitchFamily="18" charset="0"/>
              </a:rPr>
              <a:t> (a, b) </a:t>
            </a:r>
            <a:r>
              <a:rPr lang="zh-CN" altLang="zh-CN" sz="1800" dirty="0">
                <a:effectLst/>
                <a:ea typeface="微软雅黑" panose="020B0503020204020204" pitchFamily="34" charset="-122"/>
                <a:cs typeface="微软雅黑" panose="020B0503020204020204" pitchFamily="34" charset="-122"/>
              </a:rPr>
              <a:t>∈</a:t>
            </a:r>
            <a:r>
              <a:rPr lang="en-US" altLang="zh-CN" sz="1800" dirty="0">
                <a:effectLst/>
                <a:latin typeface="等线" panose="02010600030101010101" pitchFamily="2" charset="-122"/>
                <a:cs typeface="Times New Roman" panose="02020603050405020304" pitchFamily="18" charset="0"/>
              </a:rPr>
              <a:t> I </a:t>
            </a:r>
            <a:r>
              <a:rPr lang="zh-CN" altLang="zh-CN" sz="1800" dirty="0">
                <a:effectLst/>
                <a:ea typeface="MS Gothic" panose="020B0609070205080204" pitchFamily="49" charset="-128"/>
                <a:cs typeface="MS Gothic" panose="020B0609070205080204" pitchFamily="49" charset="-128"/>
              </a:rPr>
              <a:t>∘</a:t>
            </a:r>
            <a:r>
              <a:rPr lang="en-US" altLang="zh-CN" sz="1800" dirty="0">
                <a:effectLst/>
                <a:latin typeface="等线" panose="02010600030101010101" pitchFamily="2" charset="-122"/>
                <a:cs typeface="Times New Roman" panose="02020603050405020304" pitchFamily="18" charset="0"/>
              </a:rPr>
              <a:t> R</a:t>
            </a:r>
            <a:r>
              <a:rPr lang="zh-CN" altLang="zh-CN" sz="1800" dirty="0">
                <a:effectLst/>
                <a:ea typeface="等线" panose="02010600030101010101" pitchFamily="2" charset="-122"/>
                <a:cs typeface="Times New Roman" panose="02020603050405020304" pitchFamily="18" charset="0"/>
              </a:rPr>
              <a:t>，这证明了</a:t>
            </a:r>
            <a:r>
              <a:rPr lang="en-US" altLang="zh-CN" sz="1800" dirty="0">
                <a:effectLst/>
                <a:ea typeface="等线" panose="02010600030101010101" pitchFamily="2" charset="-122"/>
                <a:cs typeface="Times New Roman" panose="02020603050405020304" pitchFamily="18" charset="0"/>
              </a:rPr>
              <a:t> I </a:t>
            </a:r>
            <a:r>
              <a:rPr lang="zh-CN" altLang="zh-CN" sz="1800" dirty="0">
                <a:effectLst/>
                <a:ea typeface="MS Gothic" panose="020B0609070205080204" pitchFamily="49" charset="-128"/>
                <a:cs typeface="MS Gothic" panose="020B0609070205080204" pitchFamily="49" charset="-128"/>
              </a:rPr>
              <a:t>∘</a:t>
            </a:r>
            <a:r>
              <a:rPr lang="en-US" altLang="zh-CN" sz="1800" dirty="0">
                <a:effectLst/>
                <a:latin typeface="等线" panose="02010600030101010101" pitchFamily="2" charset="-122"/>
                <a:cs typeface="Times New Roman" panose="02020603050405020304" pitchFamily="18" charset="0"/>
              </a:rPr>
              <a:t> R = R</a:t>
            </a:r>
            <a:r>
              <a:rPr lang="zh-CN" altLang="zh-CN" sz="1800" dirty="0">
                <a:effectLst/>
                <a:ea typeface="等线" panose="02010600030101010101" pitchFamily="2" charset="-122"/>
                <a:cs typeface="Times New Roman" panose="02020603050405020304" pitchFamily="18" charset="0"/>
              </a:rPr>
              <a:t>。</a:t>
            </a:r>
            <a:br>
              <a:rPr lang="en-US" altLang="zh-CN" sz="1200" b="1" dirty="0">
                <a:latin typeface="Times New Roman" panose="02020603050405020304" pitchFamily="18" charset="0"/>
              </a:rPr>
            </a:b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21840972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递归定义法：因为它将一个更高次幂的关系定义为前一次幂的关系与原始关系的合成。</a:t>
            </a:r>
            <a:endParaRPr lang="en-US" altLang="zh-CN" dirty="0"/>
          </a:p>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4.13</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r>
              <a:rPr kumimoji="0" lang="en-US" altLang="zh-CN" sz="1200" b="1" i="1" dirty="0"/>
              <a:t>n</a:t>
            </a:r>
            <a:r>
              <a:rPr kumimoji="0" lang="zh-CN" altLang="en-US" sz="1200" b="1" dirty="0"/>
              <a:t>为自然数</a:t>
            </a:r>
            <a:r>
              <a:rPr kumimoji="0" lang="en-US" altLang="zh-CN" sz="1200" b="1" dirty="0"/>
              <a:t>, </a:t>
            </a:r>
            <a:r>
              <a:rPr kumimoji="0" lang="zh-CN" altLang="en-US" sz="1200" b="1" dirty="0"/>
              <a:t>则 </a:t>
            </a:r>
            <a:r>
              <a:rPr kumimoji="0" lang="en-US" altLang="zh-CN" sz="1200" b="1" i="1" dirty="0"/>
              <a:t>R </a:t>
            </a:r>
            <a:r>
              <a:rPr kumimoji="0" lang="zh-CN" altLang="en-US" sz="1200" b="1" dirty="0"/>
              <a:t>的 </a:t>
            </a:r>
            <a:r>
              <a:rPr kumimoji="0" lang="en-US" altLang="zh-CN" sz="1200" b="1" i="1" dirty="0">
                <a:solidFill>
                  <a:srgbClr val="FF0000"/>
                </a:solidFill>
              </a:rPr>
              <a:t>n</a:t>
            </a:r>
            <a:r>
              <a:rPr kumimoji="0" lang="zh-CN" altLang="en-US" sz="1200" b="1" dirty="0">
                <a:solidFill>
                  <a:srgbClr val="FF0000"/>
                </a:solidFill>
              </a:rPr>
              <a:t>次幂</a:t>
            </a:r>
            <a:r>
              <a:rPr kumimoji="0" lang="zh-CN" altLang="en-US" sz="1200" b="1" dirty="0"/>
              <a:t>是</a:t>
            </a:r>
          </a:p>
          <a:p>
            <a:pPr eaLnBrk="1" hangingPunct="1">
              <a:lnSpc>
                <a:spcPct val="120000"/>
              </a:lnSpc>
              <a:spcBef>
                <a:spcPct val="0"/>
              </a:spcBef>
              <a:buFontTx/>
              <a:buNone/>
            </a:pPr>
            <a:r>
              <a:rPr kumimoji="0" lang="zh-CN" altLang="en-US" sz="1200" b="1" dirty="0"/>
              <a:t>   </a:t>
            </a:r>
            <a:r>
              <a:rPr kumimoji="0" lang="en-US" altLang="zh-CN" sz="1200" b="1" dirty="0"/>
              <a:t>(1) </a:t>
            </a:r>
            <a:r>
              <a:rPr kumimoji="0" lang="en-US" altLang="zh-CN" sz="1200" b="1" i="1" dirty="0"/>
              <a:t>R</a:t>
            </a:r>
            <a:r>
              <a:rPr kumimoji="0" lang="en-US" altLang="zh-CN" sz="1200" b="1" baseline="30000" dirty="0"/>
              <a:t>0 </a:t>
            </a:r>
            <a:r>
              <a:rPr kumimoji="0" lang="en-US" altLang="zh-CN" sz="1200" b="1" dirty="0"/>
              <a:t>= {&lt;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 | </a:t>
            </a:r>
            <a:r>
              <a:rPr kumimoji="0" lang="en-US" altLang="zh-CN" sz="1200" b="1" i="1" dirty="0" err="1"/>
              <a:t>x</a:t>
            </a:r>
            <a:r>
              <a:rPr kumimoji="0" lang="en-US" altLang="zh-CN" sz="1200" b="1" dirty="0" err="1"/>
              <a:t>∈</a:t>
            </a:r>
            <a:r>
              <a:rPr kumimoji="0" lang="en-US" altLang="zh-CN" sz="1200" b="1" i="1" dirty="0" err="1"/>
              <a:t>A</a:t>
            </a:r>
            <a:r>
              <a:rPr kumimoji="0" lang="en-US" altLang="zh-CN" sz="1200" b="1" i="1" dirty="0"/>
              <a:t> </a:t>
            </a:r>
            <a:r>
              <a:rPr kumimoji="0" lang="en-US" altLang="zh-CN" sz="1200" b="1" dirty="0"/>
              <a:t>} = </a:t>
            </a:r>
            <a:r>
              <a:rPr kumimoji="0" lang="en-US" altLang="zh-CN" sz="1200" b="1" i="1" dirty="0"/>
              <a:t>I</a:t>
            </a:r>
            <a:r>
              <a:rPr kumimoji="0" lang="en-US" altLang="zh-CN" sz="1200" b="1" i="1" baseline="-25000" dirty="0"/>
              <a:t>A</a:t>
            </a:r>
          </a:p>
          <a:p>
            <a:pPr eaLnBrk="1" hangingPunct="1">
              <a:lnSpc>
                <a:spcPct val="120000"/>
              </a:lnSpc>
              <a:spcBef>
                <a:spcPct val="0"/>
              </a:spcBef>
              <a:buFontTx/>
              <a:buNone/>
            </a:pPr>
            <a:r>
              <a:rPr kumimoji="0" lang="en-US" altLang="zh-CN" sz="1200" b="1" i="1" dirty="0"/>
              <a:t> </a:t>
            </a:r>
            <a:r>
              <a:rPr kumimoji="0" lang="en-US" altLang="zh-CN" sz="1200" b="1" dirty="0"/>
              <a:t>  (2) </a:t>
            </a:r>
            <a:r>
              <a:rPr kumimoji="0" lang="en-US" altLang="zh-CN" sz="1200" b="1" i="1" dirty="0"/>
              <a:t>R</a:t>
            </a:r>
            <a:r>
              <a:rPr kumimoji="0" lang="en-US" altLang="zh-CN" sz="1200" b="1" i="1" baseline="30000" dirty="0"/>
              <a:t>n</a:t>
            </a:r>
            <a:r>
              <a:rPr kumimoji="0" lang="en-US" altLang="zh-CN" sz="1200" b="1" baseline="30000" dirty="0"/>
              <a:t>+1 </a:t>
            </a:r>
            <a:r>
              <a:rPr kumimoji="0" lang="en-US" altLang="zh-CN" sz="1200" b="1" dirty="0"/>
              <a:t>= </a:t>
            </a:r>
            <a:r>
              <a:rPr kumimoji="0" lang="en-US" altLang="zh-CN" sz="1200" b="1" i="1" dirty="0" err="1"/>
              <a:t>R</a:t>
            </a:r>
            <a:r>
              <a:rPr kumimoji="0" lang="en-US" altLang="zh-CN" sz="1200" b="1" i="1" baseline="30000" dirty="0" err="1"/>
              <a:t>n</a:t>
            </a:r>
            <a:r>
              <a:rPr kumimoji="0" lang="en-US" altLang="zh-CN" sz="1200" b="1" dirty="0" err="1">
                <a:latin typeface="Arial" panose="020B0604020202020204" pitchFamily="34" charset="0"/>
              </a:rPr>
              <a:t>∘</a:t>
            </a:r>
            <a:r>
              <a:rPr kumimoji="0" lang="en-US" altLang="zh-CN" sz="1200" b="1" i="1" dirty="0" err="1"/>
              <a:t>R</a:t>
            </a:r>
            <a:br>
              <a:rPr kumimoji="0" lang="en-US" altLang="zh-CN" sz="1200" b="1" dirty="0"/>
            </a:br>
            <a:endParaRPr kumimoji="0" lang="en-US" altLang="zh-CN" sz="1200" b="1" dirty="0"/>
          </a:p>
          <a:p>
            <a:pPr eaLnBrk="1" hangingPunct="1">
              <a:lnSpc>
                <a:spcPct val="120000"/>
              </a:lnSpc>
              <a:spcBef>
                <a:spcPct val="0"/>
              </a:spcBef>
              <a:buFontTx/>
              <a:buNone/>
            </a:pPr>
            <a:r>
              <a:rPr kumimoji="0" lang="en-US" altLang="zh-CN" sz="1200" b="1" dirty="0"/>
              <a:t> </a:t>
            </a:r>
            <a:r>
              <a:rPr kumimoji="0" lang="zh-CN" altLang="en-US" sz="1200" b="1" dirty="0"/>
              <a:t>注意：</a:t>
            </a:r>
          </a:p>
          <a:p>
            <a:pPr eaLnBrk="1" hangingPunct="1">
              <a:lnSpc>
                <a:spcPct val="120000"/>
              </a:lnSpc>
              <a:spcBef>
                <a:spcPct val="0"/>
              </a:spcBef>
              <a:buFontTx/>
              <a:buNone/>
            </a:pPr>
            <a:r>
              <a:rPr kumimoji="0" lang="zh-CN" altLang="en-US" sz="1200" b="1" dirty="0"/>
              <a:t>       对于</a:t>
            </a:r>
            <a:r>
              <a:rPr kumimoji="0" lang="en-US" altLang="zh-CN" sz="1200" b="1" i="1" dirty="0"/>
              <a:t>A</a:t>
            </a:r>
            <a:r>
              <a:rPr kumimoji="0" lang="zh-CN" altLang="en-US" sz="1200" b="1" dirty="0"/>
              <a:t>上的任何关系</a:t>
            </a:r>
            <a:r>
              <a:rPr kumimoji="0" lang="en-US" altLang="zh-CN" sz="1200" b="1" i="1" dirty="0"/>
              <a:t>R</a:t>
            </a:r>
            <a:r>
              <a:rPr kumimoji="0" lang="en-US" altLang="zh-CN" sz="1200" b="1" baseline="-25000" dirty="0"/>
              <a:t>1</a:t>
            </a:r>
            <a:r>
              <a:rPr kumimoji="0" lang="zh-CN" altLang="en-US" sz="1200" b="1" dirty="0"/>
              <a:t>和</a:t>
            </a:r>
            <a:r>
              <a:rPr kumimoji="0" lang="en-US" altLang="zh-CN" sz="1200" b="1" i="1" dirty="0"/>
              <a:t>R</a:t>
            </a:r>
            <a:r>
              <a:rPr kumimoji="0" lang="en-US" altLang="zh-CN" sz="1200" b="1" baseline="-25000" dirty="0"/>
              <a:t>2</a:t>
            </a:r>
            <a:r>
              <a:rPr kumimoji="0" lang="zh-CN" altLang="en-US" sz="1200" b="1" dirty="0"/>
              <a:t>都有 </a:t>
            </a:r>
          </a:p>
          <a:p>
            <a:pPr eaLnBrk="1" hangingPunct="1">
              <a:lnSpc>
                <a:spcPct val="120000"/>
              </a:lnSpc>
              <a:spcBef>
                <a:spcPct val="0"/>
              </a:spcBef>
              <a:buFontTx/>
              <a:buNone/>
            </a:pPr>
            <a:r>
              <a:rPr kumimoji="0" lang="zh-CN" altLang="en-US" sz="1200" b="1" dirty="0"/>
              <a:t>                 </a:t>
            </a:r>
            <a:r>
              <a:rPr kumimoji="0" lang="en-US" altLang="zh-CN" sz="1200" b="1" i="1" dirty="0"/>
              <a:t>R</a:t>
            </a:r>
            <a:r>
              <a:rPr kumimoji="0" lang="en-US" altLang="zh-CN" sz="1200" b="1" baseline="-25000" dirty="0"/>
              <a:t>1</a:t>
            </a:r>
            <a:r>
              <a:rPr kumimoji="0" lang="en-US" altLang="zh-CN" sz="1200" b="1" baseline="30000" dirty="0"/>
              <a:t>0 </a:t>
            </a:r>
            <a:r>
              <a:rPr kumimoji="0" lang="en-US" altLang="zh-CN" sz="1200" b="1" dirty="0"/>
              <a:t>= </a:t>
            </a:r>
            <a:r>
              <a:rPr kumimoji="0" lang="en-US" altLang="zh-CN" sz="1200" b="1" i="1" dirty="0"/>
              <a:t>R</a:t>
            </a:r>
            <a:r>
              <a:rPr kumimoji="0" lang="en-US" altLang="zh-CN" sz="1200" b="1" baseline="-25000" dirty="0"/>
              <a:t>2</a:t>
            </a:r>
            <a:r>
              <a:rPr kumimoji="0" lang="en-US" altLang="zh-CN" sz="1200" b="1" baseline="30000" dirty="0"/>
              <a:t>0 </a:t>
            </a:r>
            <a:r>
              <a:rPr kumimoji="0" lang="en-US" altLang="zh-CN" sz="1200" b="1" dirty="0"/>
              <a:t>= </a:t>
            </a:r>
            <a:r>
              <a:rPr kumimoji="0" lang="en-US" altLang="zh-CN" sz="1200" b="1" i="1" dirty="0"/>
              <a:t>I</a:t>
            </a:r>
            <a:r>
              <a:rPr kumimoji="0" lang="en-US" altLang="zh-CN" sz="1200" b="1" i="1" baseline="-25000" dirty="0"/>
              <a:t>A</a:t>
            </a:r>
            <a:r>
              <a:rPr kumimoji="0" lang="en-US" altLang="zh-CN" sz="1200" b="1" dirty="0"/>
              <a:t> </a:t>
            </a:r>
            <a:br>
              <a:rPr kumimoji="0" lang="en-US" altLang="zh-CN" sz="1200" b="1" dirty="0"/>
            </a:br>
            <a:r>
              <a:rPr kumimoji="0" lang="en-US" altLang="zh-CN" sz="1200" b="1" dirty="0"/>
              <a:t> </a:t>
            </a:r>
            <a:r>
              <a:rPr kumimoji="0" lang="zh-CN" altLang="en-US" sz="1200" b="1" dirty="0"/>
              <a:t>对于</a:t>
            </a:r>
            <a:r>
              <a:rPr kumimoji="0" lang="en-US" altLang="zh-CN" sz="1200" b="1" i="1" dirty="0"/>
              <a:t>A</a:t>
            </a:r>
            <a:r>
              <a:rPr kumimoji="0" lang="zh-CN" altLang="en-US" sz="1200" b="1" dirty="0"/>
              <a:t>上的任何关系 </a:t>
            </a:r>
            <a:r>
              <a:rPr kumimoji="0" lang="en-US" altLang="zh-CN" sz="1200" b="1" i="1" dirty="0"/>
              <a:t>R </a:t>
            </a:r>
            <a:r>
              <a:rPr kumimoji="0" lang="zh-CN" altLang="en-US" sz="1200" b="1" dirty="0"/>
              <a:t>都有 </a:t>
            </a:r>
          </a:p>
          <a:p>
            <a:pPr eaLnBrk="1" hangingPunct="1">
              <a:lnSpc>
                <a:spcPct val="120000"/>
              </a:lnSpc>
              <a:spcBef>
                <a:spcPct val="0"/>
              </a:spcBef>
              <a:buFontTx/>
              <a:buNone/>
            </a:pPr>
            <a:r>
              <a:rPr kumimoji="0" lang="zh-CN" altLang="en-US" sz="1200" b="1" dirty="0"/>
              <a:t>                 </a:t>
            </a:r>
            <a:r>
              <a:rPr kumimoji="0" lang="en-US" altLang="zh-CN" sz="1200" b="1" i="1" dirty="0"/>
              <a:t>R</a:t>
            </a:r>
            <a:r>
              <a:rPr kumimoji="0" lang="en-US" altLang="zh-CN" sz="1200" b="1" baseline="30000" dirty="0"/>
              <a:t>1 </a:t>
            </a:r>
            <a:r>
              <a:rPr kumimoji="0" lang="en-US" altLang="zh-CN" sz="1200" b="1" dirty="0"/>
              <a:t>= </a:t>
            </a:r>
            <a:r>
              <a:rPr kumimoji="0" lang="en-US" altLang="zh-CN" sz="1200" b="1" i="1" dirty="0"/>
              <a:t>R</a:t>
            </a:r>
            <a:endParaRPr kumimoji="0"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15939729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t>对于集合表示的关系</a:t>
            </a:r>
            <a:r>
              <a:rPr kumimoji="0" lang="en-US" altLang="zh-CN" sz="1200" b="1" i="1" dirty="0"/>
              <a:t>R</a:t>
            </a:r>
            <a:r>
              <a:rPr kumimoji="0" lang="zh-CN" altLang="en-US" sz="1200" b="1" dirty="0"/>
              <a:t>，计算</a:t>
            </a:r>
            <a:r>
              <a:rPr kumimoji="0" lang="en-US" altLang="zh-CN" sz="1200" b="1" i="1" dirty="0"/>
              <a:t>R</a:t>
            </a:r>
            <a:r>
              <a:rPr kumimoji="0" lang="en-US" altLang="zh-CN" sz="1200" b="1" i="1" baseline="30000" dirty="0"/>
              <a:t>n </a:t>
            </a:r>
            <a:r>
              <a:rPr kumimoji="0" lang="zh-CN" altLang="en-US" sz="1200" b="1" dirty="0"/>
              <a:t>就是 </a:t>
            </a:r>
            <a:r>
              <a:rPr kumimoji="0" lang="en-US" altLang="zh-CN" sz="1200" b="1" i="1" dirty="0"/>
              <a:t>n </a:t>
            </a:r>
            <a:r>
              <a:rPr kumimoji="0" lang="zh-CN" altLang="en-US" sz="1200" b="1" dirty="0"/>
              <a:t>个 </a:t>
            </a:r>
            <a:r>
              <a:rPr kumimoji="0" lang="en-US" altLang="zh-CN" sz="1200" b="1" i="1" dirty="0"/>
              <a:t>R </a:t>
            </a:r>
            <a:r>
              <a:rPr kumimoji="0" lang="zh-CN" altLang="en-US" sz="1200" b="1" dirty="0"/>
              <a:t>合成 </a:t>
            </a:r>
            <a:r>
              <a:rPr kumimoji="0" lang="en-US" altLang="zh-CN" sz="1200" b="1" dirty="0"/>
              <a:t>. </a:t>
            </a:r>
          </a:p>
          <a:p>
            <a:pPr eaLnBrk="1" hangingPunct="1">
              <a:spcBef>
                <a:spcPct val="0"/>
              </a:spcBef>
              <a:buFontTx/>
              <a:buNone/>
            </a:pPr>
            <a:r>
              <a:rPr lang="zh-CN" altLang="zh-CN" b="1" dirty="0"/>
              <a:t>关系的</a:t>
            </a:r>
            <a:r>
              <a:rPr lang="en-US" altLang="zh-CN" b="1" dirty="0"/>
              <a:t>n</a:t>
            </a:r>
            <a:r>
              <a:rPr lang="zh-CN" altLang="zh-CN" b="1" dirty="0"/>
              <a:t>次幂等于其矩阵表示的</a:t>
            </a:r>
            <a:r>
              <a:rPr lang="en-US" altLang="zh-CN" b="1" dirty="0"/>
              <a:t>n</a:t>
            </a:r>
            <a:r>
              <a:rPr lang="zh-CN" altLang="zh-CN" b="1" dirty="0"/>
              <a:t>次幂</a:t>
            </a:r>
            <a:endParaRPr lang="en-US" altLang="zh-CN" b="1" dirty="0"/>
          </a:p>
          <a:p>
            <a:pPr eaLnBrk="1" hangingPunct="1">
              <a:lnSpc>
                <a:spcPct val="120000"/>
              </a:lnSpc>
              <a:spcBef>
                <a:spcPct val="0"/>
              </a:spcBef>
              <a:buFontTx/>
              <a:buNone/>
            </a:pPr>
            <a:r>
              <a:rPr kumimoji="0" lang="zh-CN" altLang="en-US" sz="1200" b="1" dirty="0"/>
              <a:t>矩阵表示的关系就是矩阵相乘</a:t>
            </a:r>
            <a:r>
              <a:rPr kumimoji="0" lang="en-US" altLang="zh-CN" sz="1200" b="1" dirty="0"/>
              <a:t>, </a:t>
            </a:r>
            <a:r>
              <a:rPr kumimoji="0" lang="zh-CN" altLang="en-US" sz="1200" b="1" dirty="0"/>
              <a:t>其中相加采用逻辑加</a:t>
            </a:r>
            <a:r>
              <a:rPr kumimoji="0" lang="en-US" altLang="zh-CN" sz="1200" b="1" dirty="0"/>
              <a:t>. </a:t>
            </a:r>
          </a:p>
          <a:p>
            <a:pPr eaLnBrk="1" hangingPunct="1">
              <a:lnSpc>
                <a:spcPct val="120000"/>
              </a:lnSpc>
              <a:spcBef>
                <a:spcPct val="0"/>
              </a:spcBef>
              <a:buFontTx/>
              <a:buNone/>
            </a:pPr>
            <a:r>
              <a:rPr lang="en-US" altLang="zh-CN" sz="1000" dirty="0">
                <a:effectLst/>
                <a:ea typeface="等线" panose="02010600030101010101" pitchFamily="2" charset="-122"/>
                <a:cs typeface="Times New Roman" panose="02020603050405020304" pitchFamily="18" charset="0"/>
              </a:rPr>
              <a:t> </a:t>
            </a: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3  </a:t>
            </a:r>
            <a:r>
              <a:rPr kumimoji="0" lang="zh-CN" altLang="en-US" sz="1200" b="1" dirty="0"/>
              <a:t>设</a:t>
            </a:r>
            <a:r>
              <a:rPr kumimoji="0" lang="en-US" altLang="zh-CN" sz="1200" b="1" i="1" dirty="0"/>
              <a:t>A</a:t>
            </a:r>
            <a:r>
              <a:rPr kumimoji="0" lang="en-US" altLang="zh-CN" sz="1200" b="1" dirty="0"/>
              <a:t> = {</a:t>
            </a:r>
            <a:r>
              <a:rPr kumimoji="0" lang="en-US" altLang="zh-CN" sz="1200" b="1" i="1" dirty="0"/>
              <a:t>a</a:t>
            </a:r>
            <a:r>
              <a:rPr kumimoji="0" lang="en-US" altLang="zh-CN" sz="1200" b="1" dirty="0"/>
              <a:t>, </a:t>
            </a:r>
            <a:r>
              <a:rPr kumimoji="0" lang="en-US" altLang="zh-CN" sz="1200" b="1" i="1" dirty="0"/>
              <a:t>b</a:t>
            </a:r>
            <a:r>
              <a:rPr kumimoji="0" lang="en-US" altLang="zh-CN" sz="1200" b="1" dirty="0"/>
              <a:t>, </a:t>
            </a:r>
            <a:r>
              <a:rPr kumimoji="0" lang="en-US" altLang="zh-CN" sz="1200" b="1" i="1" dirty="0"/>
              <a:t>c</a:t>
            </a:r>
            <a:r>
              <a:rPr kumimoji="0" lang="en-US" altLang="zh-CN" sz="1200" b="1" dirty="0"/>
              <a:t>, </a:t>
            </a:r>
            <a:r>
              <a:rPr kumimoji="0" lang="en-US" altLang="zh-CN" sz="1200" b="1" i="1" dirty="0"/>
              <a:t>d</a:t>
            </a:r>
            <a:r>
              <a:rPr kumimoji="0" lang="en-US" altLang="zh-CN" sz="1200" b="1" dirty="0"/>
              <a:t>}, </a:t>
            </a:r>
            <a:r>
              <a:rPr kumimoji="0" lang="en-US" altLang="zh-CN" sz="1200" b="1" i="1" dirty="0"/>
              <a:t>R</a:t>
            </a:r>
            <a:r>
              <a:rPr kumimoji="0" lang="en-US" altLang="zh-CN" sz="1200" b="1" dirty="0"/>
              <a:t> = {&lt;</a:t>
            </a:r>
            <a:r>
              <a:rPr kumimoji="0" lang="en-US" altLang="zh-CN" sz="1200" b="1" i="1" dirty="0" err="1"/>
              <a:t>a</a:t>
            </a:r>
            <a:r>
              <a:rPr kumimoji="0" lang="en-US" altLang="zh-CN" sz="1200" b="1" dirty="0" err="1"/>
              <a:t>,</a:t>
            </a:r>
            <a:r>
              <a:rPr kumimoji="0" lang="en-US" altLang="zh-CN" sz="1200" b="1" i="1" dirty="0" err="1"/>
              <a:t>b</a:t>
            </a:r>
            <a:r>
              <a:rPr kumimoji="0" lang="en-US" altLang="zh-CN" sz="1200" b="1" dirty="0"/>
              <a:t>&gt;,&lt;</a:t>
            </a:r>
            <a:r>
              <a:rPr kumimoji="0" lang="en-US" altLang="zh-CN" sz="1200" b="1" i="1" dirty="0" err="1"/>
              <a:t>b</a:t>
            </a:r>
            <a:r>
              <a:rPr kumimoji="0" lang="en-US" altLang="zh-CN" sz="1200" b="1" dirty="0" err="1"/>
              <a:t>,</a:t>
            </a:r>
            <a:r>
              <a:rPr kumimoji="0" lang="en-US" altLang="zh-CN" sz="1200" b="1" i="1" dirty="0" err="1"/>
              <a:t>a</a:t>
            </a:r>
            <a:r>
              <a:rPr kumimoji="0" lang="en-US" altLang="zh-CN" sz="1200" b="1" dirty="0"/>
              <a:t>&gt;,&lt;</a:t>
            </a:r>
            <a:r>
              <a:rPr kumimoji="0" lang="en-US" altLang="zh-CN" sz="1200" b="1" i="1" dirty="0" err="1"/>
              <a:t>b</a:t>
            </a:r>
            <a:r>
              <a:rPr kumimoji="0" lang="en-US" altLang="zh-CN" sz="1200" b="1" dirty="0" err="1"/>
              <a:t>,</a:t>
            </a:r>
            <a:r>
              <a:rPr kumimoji="0" lang="en-US" altLang="zh-CN" sz="1200" b="1" i="1" dirty="0" err="1"/>
              <a:t>c</a:t>
            </a:r>
            <a:r>
              <a:rPr kumimoji="0" lang="en-US" altLang="zh-CN" sz="1200" b="1" dirty="0"/>
              <a:t>&gt;,&lt;</a:t>
            </a:r>
            <a:r>
              <a:rPr kumimoji="0" lang="en-US" altLang="zh-CN" sz="1200" b="1" i="1" dirty="0" err="1"/>
              <a:t>c</a:t>
            </a:r>
            <a:r>
              <a:rPr kumimoji="0" lang="en-US" altLang="zh-CN" sz="1200" b="1" dirty="0" err="1"/>
              <a:t>,</a:t>
            </a:r>
            <a:r>
              <a:rPr kumimoji="0" lang="en-US" altLang="zh-CN" sz="1200" b="1" i="1" dirty="0" err="1"/>
              <a:t>d</a:t>
            </a:r>
            <a:r>
              <a:rPr kumimoji="0" lang="en-US" altLang="zh-CN" sz="1200" b="1" dirty="0"/>
              <a:t>&gt;}, </a:t>
            </a:r>
          </a:p>
          <a:p>
            <a:pPr eaLnBrk="1" hangingPunct="1">
              <a:lnSpc>
                <a:spcPct val="120000"/>
              </a:lnSpc>
              <a:spcBef>
                <a:spcPct val="0"/>
              </a:spcBef>
              <a:buFontTx/>
              <a:buNone/>
            </a:pPr>
            <a:r>
              <a:rPr kumimoji="0" lang="zh-CN" altLang="en-US" sz="1200" b="1" dirty="0"/>
              <a:t>求</a:t>
            </a:r>
            <a:r>
              <a:rPr kumimoji="0" lang="en-US" altLang="zh-CN" sz="1200" b="1" i="1" dirty="0"/>
              <a:t>R</a:t>
            </a:r>
            <a:r>
              <a:rPr kumimoji="0" lang="zh-CN" altLang="en-US" sz="1200" b="1" dirty="0"/>
              <a:t>的各次幂</a:t>
            </a:r>
            <a:r>
              <a:rPr kumimoji="0" lang="en-US" altLang="zh-CN" sz="1200" b="1" dirty="0"/>
              <a:t>, </a:t>
            </a:r>
            <a:r>
              <a:rPr kumimoji="0" lang="zh-CN" altLang="en-US" sz="1200" b="1" dirty="0"/>
              <a:t>分别用矩阵和关系图表示</a:t>
            </a:r>
            <a:r>
              <a:rPr kumimoji="0" lang="en-US" altLang="zh-CN" sz="1200" b="1" dirty="0"/>
              <a:t>.</a:t>
            </a:r>
          </a:p>
          <a:p>
            <a:pPr eaLnBrk="1" hangingPunct="1">
              <a:lnSpc>
                <a:spcPct val="120000"/>
              </a:lnSpc>
              <a:spcBef>
                <a:spcPct val="0"/>
              </a:spcBef>
              <a:buFontTx/>
              <a:buNone/>
            </a:pPr>
            <a:r>
              <a:rPr kumimoji="0" lang="zh-CN" altLang="en-US" sz="1200" b="1" dirty="0">
                <a:solidFill>
                  <a:srgbClr val="00B0F0"/>
                </a:solidFill>
              </a:rPr>
              <a:t>解 </a:t>
            </a:r>
            <a:r>
              <a:rPr kumimoji="0" lang="zh-CN" altLang="en-US" sz="1200" b="1" dirty="0"/>
              <a:t> </a:t>
            </a:r>
            <a:r>
              <a:rPr kumimoji="0" lang="en-US" altLang="zh-CN" sz="1200" b="1" i="1" dirty="0"/>
              <a:t>R</a:t>
            </a:r>
            <a:r>
              <a:rPr kumimoji="0" lang="zh-CN" altLang="en-US" sz="1200" b="1" dirty="0"/>
              <a:t>与</a:t>
            </a:r>
            <a:r>
              <a:rPr kumimoji="0" lang="en-US" altLang="zh-CN" sz="1200" b="1" i="1" dirty="0"/>
              <a:t>R</a:t>
            </a:r>
            <a:r>
              <a:rPr kumimoji="0" lang="en-US" altLang="zh-CN" sz="1200" b="1" baseline="30000" dirty="0"/>
              <a:t>2</a:t>
            </a:r>
            <a:r>
              <a:rPr kumimoji="0" lang="zh-CN" altLang="en-US" sz="1200" b="1" dirty="0"/>
              <a:t>的关系矩阵分别为</a:t>
            </a:r>
            <a:endParaRPr kumimoji="0" lang="en-US" altLang="zh-CN" sz="1200"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en-US" altLang="zh-CN" sz="1200" b="1" dirty="0"/>
              <a:t>Why?</a:t>
            </a:r>
          </a:p>
          <a:p>
            <a:r>
              <a:rPr lang="en-US" dirty="0"/>
              <a:t>The reason R2=R4=R6=⋯R_2 = R_4 = R_6 = \cdotsR2​=R4​=R6​=⋯ and R3=R5=R7=⋯R_3 = R_5 = R_7 = \cdotsR3​=R5​=R7​=⋯ is because:</a:t>
            </a:r>
          </a:p>
          <a:p>
            <a:pPr>
              <a:buFont typeface="+mj-lt"/>
              <a:buAutoNum type="arabicPeriod"/>
            </a:pPr>
            <a:r>
              <a:rPr lang="en-US" dirty="0"/>
              <a:t>The transformation applied to go from Rn→Rn+1R_{n} \to R_{n+1}Rn​→Rn+1​ </a:t>
            </a:r>
            <a:r>
              <a:rPr lang="en-US" b="1" dirty="0"/>
              <a:t>alternates between two fixed processes</a:t>
            </a:r>
            <a:r>
              <a:rPr lang="en-US" dirty="0"/>
              <a:t> (e.g., composition and union).</a:t>
            </a:r>
          </a:p>
          <a:p>
            <a:pPr>
              <a:buFont typeface="+mj-lt"/>
              <a:buAutoNum type="arabicPeriod"/>
            </a:pPr>
            <a:r>
              <a:rPr lang="en-US" dirty="0"/>
              <a:t>These processes become </a:t>
            </a:r>
            <a:r>
              <a:rPr lang="en-US" b="1" dirty="0"/>
              <a:t>stable</a:t>
            </a:r>
            <a:r>
              <a:rPr lang="en-US" dirty="0"/>
              <a:t> after a certain point, meaning applying them again </a:t>
            </a:r>
            <a:r>
              <a:rPr lang="en-US" b="1" dirty="0"/>
              <a:t>does not change the relation</a:t>
            </a:r>
            <a:r>
              <a:rPr lang="en-US"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3272527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t>对于集合表示的关系</a:t>
            </a:r>
            <a:r>
              <a:rPr kumimoji="0" lang="en-US" altLang="zh-CN" sz="1200" b="1" i="1" dirty="0"/>
              <a:t>R</a:t>
            </a:r>
            <a:r>
              <a:rPr kumimoji="0" lang="zh-CN" altLang="en-US" sz="1200" b="1" dirty="0"/>
              <a:t>，计算</a:t>
            </a:r>
            <a:r>
              <a:rPr kumimoji="0" lang="en-US" altLang="zh-CN" sz="1200" b="1" i="1" dirty="0"/>
              <a:t>R</a:t>
            </a:r>
            <a:r>
              <a:rPr kumimoji="0" lang="en-US" altLang="zh-CN" sz="1200" b="1" i="1" baseline="30000" dirty="0"/>
              <a:t>n </a:t>
            </a:r>
            <a:r>
              <a:rPr kumimoji="0" lang="zh-CN" altLang="en-US" sz="1200" b="1" dirty="0"/>
              <a:t>就是 </a:t>
            </a:r>
            <a:r>
              <a:rPr kumimoji="0" lang="en-US" altLang="zh-CN" sz="1200" b="1" i="1" dirty="0"/>
              <a:t>n </a:t>
            </a:r>
            <a:r>
              <a:rPr kumimoji="0" lang="zh-CN" altLang="en-US" sz="1200" b="1" dirty="0"/>
              <a:t>个 </a:t>
            </a:r>
            <a:r>
              <a:rPr kumimoji="0" lang="en-US" altLang="zh-CN" sz="1200" b="1" i="1" dirty="0"/>
              <a:t>R </a:t>
            </a:r>
            <a:r>
              <a:rPr kumimoji="0" lang="zh-CN" altLang="en-US" sz="1200" b="1" dirty="0"/>
              <a:t>合成 </a:t>
            </a:r>
            <a:r>
              <a:rPr kumimoji="0" lang="en-US" altLang="zh-CN" sz="1200" b="1" dirty="0"/>
              <a:t>. </a:t>
            </a:r>
          </a:p>
          <a:p>
            <a:pPr eaLnBrk="1" hangingPunct="1">
              <a:spcBef>
                <a:spcPct val="0"/>
              </a:spcBef>
              <a:buFontTx/>
              <a:buNone/>
            </a:pPr>
            <a:r>
              <a:rPr lang="zh-CN" altLang="zh-CN" b="1" dirty="0"/>
              <a:t>关系的</a:t>
            </a:r>
            <a:r>
              <a:rPr lang="en-US" altLang="zh-CN" b="1" dirty="0"/>
              <a:t>n</a:t>
            </a:r>
            <a:r>
              <a:rPr lang="zh-CN" altLang="zh-CN" b="1" dirty="0"/>
              <a:t>次幂等于其矩阵表示的</a:t>
            </a:r>
            <a:r>
              <a:rPr lang="en-US" altLang="zh-CN" b="1" dirty="0"/>
              <a:t>n</a:t>
            </a:r>
            <a:r>
              <a:rPr lang="zh-CN" altLang="zh-CN" b="1" dirty="0"/>
              <a:t>次幂</a:t>
            </a:r>
            <a:endParaRPr lang="en-US" altLang="zh-CN" b="1" dirty="0"/>
          </a:p>
          <a:p>
            <a:pPr eaLnBrk="1" hangingPunct="1">
              <a:lnSpc>
                <a:spcPct val="120000"/>
              </a:lnSpc>
              <a:spcBef>
                <a:spcPct val="0"/>
              </a:spcBef>
              <a:buFontTx/>
              <a:buNone/>
            </a:pPr>
            <a:r>
              <a:rPr kumimoji="0" lang="zh-CN" altLang="en-US" sz="1200" b="1" dirty="0"/>
              <a:t>矩阵表示的关系就是矩阵相乘</a:t>
            </a:r>
            <a:r>
              <a:rPr kumimoji="0" lang="en-US" altLang="zh-CN" sz="1200" b="1" dirty="0"/>
              <a:t>, </a:t>
            </a:r>
            <a:r>
              <a:rPr kumimoji="0" lang="zh-CN" altLang="en-US" sz="1200" b="1" dirty="0"/>
              <a:t>其中相加采用逻辑加</a:t>
            </a:r>
            <a:r>
              <a:rPr kumimoji="0" lang="en-US" altLang="zh-CN" sz="1200" b="1" dirty="0"/>
              <a:t>. </a:t>
            </a:r>
          </a:p>
          <a:p>
            <a:pPr eaLnBrk="1" hangingPunct="1">
              <a:lnSpc>
                <a:spcPct val="120000"/>
              </a:lnSpc>
              <a:spcBef>
                <a:spcPct val="0"/>
              </a:spcBef>
              <a:buFontTx/>
              <a:buNone/>
            </a:pPr>
            <a:r>
              <a:rPr lang="en-US" altLang="zh-CN" sz="1000" dirty="0">
                <a:effectLst/>
                <a:ea typeface="等线" panose="02010600030101010101" pitchFamily="2" charset="-122"/>
                <a:cs typeface="Times New Roman" panose="02020603050405020304" pitchFamily="18" charset="0"/>
              </a:rPr>
              <a:t> </a:t>
            </a: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3  </a:t>
            </a:r>
            <a:r>
              <a:rPr kumimoji="0" lang="zh-CN" altLang="en-US" sz="1200" b="1" dirty="0"/>
              <a:t>设</a:t>
            </a:r>
            <a:r>
              <a:rPr kumimoji="0" lang="en-US" altLang="zh-CN" sz="1200" b="1" i="1" dirty="0"/>
              <a:t>A</a:t>
            </a:r>
            <a:r>
              <a:rPr kumimoji="0" lang="en-US" altLang="zh-CN" sz="1200" b="1" dirty="0"/>
              <a:t> = {</a:t>
            </a:r>
            <a:r>
              <a:rPr kumimoji="0" lang="en-US" altLang="zh-CN" sz="1200" b="1" i="1" dirty="0"/>
              <a:t>a</a:t>
            </a:r>
            <a:r>
              <a:rPr kumimoji="0" lang="en-US" altLang="zh-CN" sz="1200" b="1" dirty="0"/>
              <a:t>, </a:t>
            </a:r>
            <a:r>
              <a:rPr kumimoji="0" lang="en-US" altLang="zh-CN" sz="1200" b="1" i="1" dirty="0"/>
              <a:t>b</a:t>
            </a:r>
            <a:r>
              <a:rPr kumimoji="0" lang="en-US" altLang="zh-CN" sz="1200" b="1" dirty="0"/>
              <a:t>, </a:t>
            </a:r>
            <a:r>
              <a:rPr kumimoji="0" lang="en-US" altLang="zh-CN" sz="1200" b="1" i="1" dirty="0"/>
              <a:t>c</a:t>
            </a:r>
            <a:r>
              <a:rPr kumimoji="0" lang="en-US" altLang="zh-CN" sz="1200" b="1" dirty="0"/>
              <a:t>, </a:t>
            </a:r>
            <a:r>
              <a:rPr kumimoji="0" lang="en-US" altLang="zh-CN" sz="1200" b="1" i="1" dirty="0"/>
              <a:t>d</a:t>
            </a:r>
            <a:r>
              <a:rPr kumimoji="0" lang="en-US" altLang="zh-CN" sz="1200" b="1" dirty="0"/>
              <a:t>}, </a:t>
            </a:r>
            <a:r>
              <a:rPr kumimoji="0" lang="en-US" altLang="zh-CN" sz="1200" b="1" i="1" dirty="0"/>
              <a:t>R</a:t>
            </a:r>
            <a:r>
              <a:rPr kumimoji="0" lang="en-US" altLang="zh-CN" sz="1200" b="1" dirty="0"/>
              <a:t> = {&lt;</a:t>
            </a:r>
            <a:r>
              <a:rPr kumimoji="0" lang="en-US" altLang="zh-CN" sz="1200" b="1" i="1" dirty="0" err="1"/>
              <a:t>a</a:t>
            </a:r>
            <a:r>
              <a:rPr kumimoji="0" lang="en-US" altLang="zh-CN" sz="1200" b="1" dirty="0" err="1"/>
              <a:t>,</a:t>
            </a:r>
            <a:r>
              <a:rPr kumimoji="0" lang="en-US" altLang="zh-CN" sz="1200" b="1" i="1" dirty="0" err="1"/>
              <a:t>b</a:t>
            </a:r>
            <a:r>
              <a:rPr kumimoji="0" lang="en-US" altLang="zh-CN" sz="1200" b="1" dirty="0"/>
              <a:t>&gt;,&lt;</a:t>
            </a:r>
            <a:r>
              <a:rPr kumimoji="0" lang="en-US" altLang="zh-CN" sz="1200" b="1" i="1" dirty="0" err="1"/>
              <a:t>b</a:t>
            </a:r>
            <a:r>
              <a:rPr kumimoji="0" lang="en-US" altLang="zh-CN" sz="1200" b="1" dirty="0" err="1"/>
              <a:t>,</a:t>
            </a:r>
            <a:r>
              <a:rPr kumimoji="0" lang="en-US" altLang="zh-CN" sz="1200" b="1" i="1" dirty="0" err="1"/>
              <a:t>a</a:t>
            </a:r>
            <a:r>
              <a:rPr kumimoji="0" lang="en-US" altLang="zh-CN" sz="1200" b="1" dirty="0"/>
              <a:t>&gt;,&lt;</a:t>
            </a:r>
            <a:r>
              <a:rPr kumimoji="0" lang="en-US" altLang="zh-CN" sz="1200" b="1" i="1" dirty="0" err="1"/>
              <a:t>b</a:t>
            </a:r>
            <a:r>
              <a:rPr kumimoji="0" lang="en-US" altLang="zh-CN" sz="1200" b="1" dirty="0" err="1"/>
              <a:t>,</a:t>
            </a:r>
            <a:r>
              <a:rPr kumimoji="0" lang="en-US" altLang="zh-CN" sz="1200" b="1" i="1" dirty="0" err="1"/>
              <a:t>c</a:t>
            </a:r>
            <a:r>
              <a:rPr kumimoji="0" lang="en-US" altLang="zh-CN" sz="1200" b="1" dirty="0"/>
              <a:t>&gt;,&lt;</a:t>
            </a:r>
            <a:r>
              <a:rPr kumimoji="0" lang="en-US" altLang="zh-CN" sz="1200" b="1" i="1" dirty="0" err="1"/>
              <a:t>c</a:t>
            </a:r>
            <a:r>
              <a:rPr kumimoji="0" lang="en-US" altLang="zh-CN" sz="1200" b="1" dirty="0" err="1"/>
              <a:t>,</a:t>
            </a:r>
            <a:r>
              <a:rPr kumimoji="0" lang="en-US" altLang="zh-CN" sz="1200" b="1" i="1" dirty="0" err="1"/>
              <a:t>d</a:t>
            </a:r>
            <a:r>
              <a:rPr kumimoji="0" lang="en-US" altLang="zh-CN" sz="1200" b="1" dirty="0"/>
              <a:t>&gt;}, </a:t>
            </a:r>
          </a:p>
          <a:p>
            <a:pPr eaLnBrk="1" hangingPunct="1">
              <a:lnSpc>
                <a:spcPct val="120000"/>
              </a:lnSpc>
              <a:spcBef>
                <a:spcPct val="0"/>
              </a:spcBef>
              <a:buFontTx/>
              <a:buNone/>
            </a:pPr>
            <a:r>
              <a:rPr kumimoji="0" lang="zh-CN" altLang="en-US" sz="1200" b="1" dirty="0"/>
              <a:t>求</a:t>
            </a:r>
            <a:r>
              <a:rPr kumimoji="0" lang="en-US" altLang="zh-CN" sz="1200" b="1" i="1" dirty="0"/>
              <a:t>R</a:t>
            </a:r>
            <a:r>
              <a:rPr kumimoji="0" lang="zh-CN" altLang="en-US" sz="1200" b="1" dirty="0"/>
              <a:t>的各次幂</a:t>
            </a:r>
            <a:r>
              <a:rPr kumimoji="0" lang="en-US" altLang="zh-CN" sz="1200" b="1" dirty="0"/>
              <a:t>, </a:t>
            </a:r>
            <a:r>
              <a:rPr kumimoji="0" lang="zh-CN" altLang="en-US" sz="1200" b="1" dirty="0"/>
              <a:t>分别用矩阵和关系图表示</a:t>
            </a:r>
            <a:r>
              <a:rPr kumimoji="0" lang="en-US" altLang="zh-CN" sz="1200" b="1" dirty="0"/>
              <a:t>.</a:t>
            </a:r>
          </a:p>
          <a:p>
            <a:pPr eaLnBrk="1" hangingPunct="1">
              <a:lnSpc>
                <a:spcPct val="120000"/>
              </a:lnSpc>
              <a:spcBef>
                <a:spcPct val="0"/>
              </a:spcBef>
              <a:buFontTx/>
              <a:buNone/>
            </a:pPr>
            <a:r>
              <a:rPr kumimoji="0" lang="zh-CN" altLang="en-US" sz="1200" b="1" dirty="0">
                <a:solidFill>
                  <a:srgbClr val="00B0F0"/>
                </a:solidFill>
              </a:rPr>
              <a:t>解 </a:t>
            </a:r>
            <a:r>
              <a:rPr kumimoji="0" lang="zh-CN" altLang="en-US" sz="1200" b="1" dirty="0"/>
              <a:t> </a:t>
            </a:r>
            <a:r>
              <a:rPr kumimoji="0" lang="en-US" altLang="zh-CN" sz="1200" b="1" i="1" dirty="0"/>
              <a:t>R</a:t>
            </a:r>
            <a:r>
              <a:rPr kumimoji="0" lang="zh-CN" altLang="en-US" sz="1200" b="1" dirty="0"/>
              <a:t>与</a:t>
            </a:r>
            <a:r>
              <a:rPr kumimoji="0" lang="en-US" altLang="zh-CN" sz="1200" b="1" i="1" dirty="0"/>
              <a:t>R</a:t>
            </a:r>
            <a:r>
              <a:rPr kumimoji="0" lang="en-US" altLang="zh-CN" sz="1200" b="1" baseline="30000" dirty="0"/>
              <a:t>2</a:t>
            </a:r>
            <a:r>
              <a:rPr kumimoji="0" lang="zh-CN" altLang="en-US" sz="1200" b="1" dirty="0"/>
              <a:t>的关系矩阵分别为</a:t>
            </a:r>
            <a:endParaRPr kumimoji="0" lang="en-US" altLang="zh-CN" sz="1200" b="1" dirty="0"/>
          </a:p>
          <a:p>
            <a:r>
              <a:rPr lang="en-US" altLang="zh-CN" dirty="0"/>
              <a:t>Which condition can be formed as that?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23732942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t>用关系图的方法得到</a:t>
            </a:r>
            <a:r>
              <a:rPr kumimoji="0" lang="en-US" altLang="zh-CN" sz="1200" b="1" i="1" dirty="0"/>
              <a:t>R</a:t>
            </a:r>
            <a:r>
              <a:rPr kumimoji="0" lang="en-US" altLang="zh-CN" sz="1200" b="1" baseline="30000" dirty="0"/>
              <a:t>0</a:t>
            </a:r>
            <a:r>
              <a:rPr kumimoji="0" lang="en-US" altLang="zh-CN" sz="1200" b="1" dirty="0"/>
              <a:t>, </a:t>
            </a:r>
            <a:r>
              <a:rPr kumimoji="0" lang="en-US" altLang="zh-CN" sz="1200" b="1" i="1" dirty="0"/>
              <a:t>R</a:t>
            </a:r>
            <a:r>
              <a:rPr kumimoji="0" lang="en-US" altLang="zh-CN" sz="1200" b="1" baseline="30000" dirty="0"/>
              <a:t>1</a:t>
            </a:r>
            <a:r>
              <a:rPr kumimoji="0" lang="en-US" altLang="zh-CN" sz="1200" b="1" dirty="0"/>
              <a:t>, </a:t>
            </a:r>
            <a:r>
              <a:rPr kumimoji="0" lang="en-US" altLang="zh-CN" sz="1200" b="1" i="1" dirty="0"/>
              <a:t>R</a:t>
            </a:r>
            <a:r>
              <a:rPr kumimoji="0" lang="en-US" altLang="zh-CN" sz="1200" b="1" baseline="30000" dirty="0"/>
              <a:t>2</a:t>
            </a:r>
            <a:r>
              <a:rPr kumimoji="0" lang="en-US" altLang="zh-CN" sz="1200" b="1" dirty="0"/>
              <a:t>, </a:t>
            </a:r>
            <a:r>
              <a:rPr kumimoji="0" lang="en-US" altLang="zh-CN" sz="1200" b="1" i="1" dirty="0"/>
              <a:t>R</a:t>
            </a:r>
            <a:r>
              <a:rPr kumimoji="0" lang="en-US" altLang="zh-CN" sz="1200" b="1" baseline="30000" dirty="0"/>
              <a:t>3</a:t>
            </a:r>
            <a:r>
              <a:rPr kumimoji="0" lang="en-US" altLang="zh-CN" sz="1200" b="1" dirty="0"/>
              <a:t>,…</a:t>
            </a:r>
            <a:r>
              <a:rPr kumimoji="0" lang="zh-CN" altLang="en-US" sz="1200" b="1" dirty="0"/>
              <a:t>的关系图如下图所示</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1042470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solidFill>
                  <a:srgbClr val="FF0000"/>
                </a:solidFill>
              </a:rPr>
              <a:t>定理</a:t>
            </a:r>
            <a:r>
              <a:rPr kumimoji="0" lang="en-US" altLang="zh-CN" sz="1200" b="1" dirty="0">
                <a:solidFill>
                  <a:srgbClr val="FF0000"/>
                </a:solidFill>
              </a:rPr>
              <a:t>4.4</a:t>
            </a:r>
            <a:r>
              <a:rPr kumimoji="0" lang="en-US" altLang="zh-CN" sz="1200" b="1" dirty="0"/>
              <a:t>   </a:t>
            </a:r>
            <a:r>
              <a:rPr kumimoji="0" lang="zh-CN" altLang="en-US" sz="1200" b="1" dirty="0"/>
              <a:t>设 </a:t>
            </a:r>
            <a:r>
              <a:rPr kumimoji="0" lang="en-US" altLang="zh-CN" sz="1200" b="1" i="1" dirty="0"/>
              <a:t>A </a:t>
            </a:r>
            <a:r>
              <a:rPr kumimoji="0" lang="zh-CN" altLang="en-US" sz="1200" b="1" dirty="0"/>
              <a:t>为 </a:t>
            </a:r>
            <a:r>
              <a:rPr kumimoji="0" lang="en-US" altLang="zh-CN" sz="1200" b="1" i="1" dirty="0"/>
              <a:t>n </a:t>
            </a:r>
            <a:r>
              <a:rPr kumimoji="0" lang="zh-CN" altLang="en-US" sz="1200" b="1" dirty="0"/>
              <a:t>元集</a:t>
            </a:r>
            <a:r>
              <a:rPr kumimoji="0" lang="en-US" altLang="zh-CN" sz="1200" b="1" dirty="0"/>
              <a:t>, </a:t>
            </a:r>
            <a:r>
              <a:rPr kumimoji="0" lang="en-US" altLang="zh-CN" sz="1200" b="1" i="1" dirty="0"/>
              <a:t>R</a:t>
            </a:r>
            <a:r>
              <a:rPr kumimoji="0" lang="zh-CN" altLang="en-US" sz="1200" b="1" dirty="0"/>
              <a:t>是</a:t>
            </a:r>
            <a:r>
              <a:rPr kumimoji="0" lang="en-US" altLang="zh-CN" sz="1200" b="1" i="1" dirty="0"/>
              <a:t>A</a:t>
            </a:r>
            <a:r>
              <a:rPr kumimoji="0" lang="zh-CN" altLang="en-US" sz="1200" b="1" dirty="0"/>
              <a:t>上的关系</a:t>
            </a:r>
            <a:r>
              <a:rPr kumimoji="0" lang="en-US" altLang="zh-CN" sz="1200" b="1" dirty="0"/>
              <a:t>, </a:t>
            </a:r>
            <a:r>
              <a:rPr kumimoji="0" lang="zh-CN" altLang="en-US" sz="1200" b="1" dirty="0"/>
              <a:t>则存在自然数 </a:t>
            </a:r>
            <a:r>
              <a:rPr kumimoji="0" lang="en-US" altLang="zh-CN" sz="1200" b="1" i="1" dirty="0"/>
              <a:t>s </a:t>
            </a:r>
            <a:r>
              <a:rPr kumimoji="0" lang="zh-CN" altLang="en-US" sz="1200" b="1" dirty="0"/>
              <a:t>和 </a:t>
            </a:r>
            <a:r>
              <a:rPr kumimoji="0" lang="en-US" altLang="zh-CN" sz="1200" b="1" i="1" dirty="0"/>
              <a:t>t</a:t>
            </a:r>
            <a:r>
              <a:rPr kumimoji="0" lang="en-US" altLang="zh-CN" sz="1200" b="1" dirty="0"/>
              <a:t>, </a:t>
            </a:r>
            <a:r>
              <a:rPr kumimoji="0" lang="zh-CN" altLang="en-US" sz="1200" b="1" dirty="0"/>
              <a:t>使得 </a:t>
            </a:r>
            <a:r>
              <a:rPr kumimoji="0" lang="en-US" altLang="zh-CN" sz="1200" b="1" i="1" dirty="0"/>
              <a:t>R</a:t>
            </a:r>
            <a:r>
              <a:rPr kumimoji="0" lang="en-US" altLang="zh-CN" sz="1200" b="1" i="1" baseline="30000" dirty="0"/>
              <a:t>s </a:t>
            </a:r>
            <a:r>
              <a:rPr kumimoji="0" lang="en-US" altLang="zh-CN" sz="1200" b="1" dirty="0"/>
              <a:t>= </a:t>
            </a:r>
            <a:r>
              <a:rPr kumimoji="0" lang="en-US" altLang="zh-CN" sz="1200" b="1" i="1" dirty="0"/>
              <a:t>R</a:t>
            </a:r>
            <a:r>
              <a:rPr kumimoji="0" lang="en-US" altLang="zh-CN" sz="1200" b="1" i="1" baseline="30000" dirty="0"/>
              <a:t>t</a:t>
            </a:r>
            <a:r>
              <a:rPr kumimoji="0" lang="en-US" altLang="zh-CN" sz="1200" b="1" dirty="0"/>
              <a:t>.</a:t>
            </a:r>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zh-CN" altLang="en-US" sz="1200" b="1" dirty="0"/>
              <a:t>证  </a:t>
            </a:r>
            <a:r>
              <a:rPr kumimoji="0" lang="en-US" altLang="zh-CN" sz="1200" b="1" i="1" dirty="0"/>
              <a:t>R </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r>
              <a:rPr kumimoji="0" lang="zh-CN" altLang="en-US" sz="1200" b="1" dirty="0"/>
              <a:t>由于</a:t>
            </a:r>
            <a:r>
              <a:rPr kumimoji="0" lang="en-US" altLang="zh-CN" sz="1200" b="1" dirty="0"/>
              <a:t>|</a:t>
            </a:r>
            <a:r>
              <a:rPr kumimoji="0" lang="en-US" altLang="zh-CN" sz="1200" b="1" i="1" dirty="0"/>
              <a:t>A</a:t>
            </a:r>
            <a:r>
              <a:rPr kumimoji="0" lang="en-US" altLang="zh-CN" sz="1200" b="1" dirty="0"/>
              <a:t>| = </a:t>
            </a:r>
            <a:r>
              <a:rPr kumimoji="0" lang="en-US" altLang="zh-CN" sz="1200" b="1" i="1" dirty="0"/>
              <a:t>n</a:t>
            </a:r>
            <a:r>
              <a:rPr kumimoji="0" lang="en-US" altLang="zh-CN" sz="1200" b="1" dirty="0"/>
              <a:t>,  </a:t>
            </a:r>
            <a:r>
              <a:rPr kumimoji="0" lang="en-US" altLang="zh-CN" sz="1200" b="1" i="1" dirty="0"/>
              <a:t>A</a:t>
            </a:r>
            <a:r>
              <a:rPr kumimoji="0" lang="zh-CN" altLang="en-US" sz="1200" b="1" dirty="0"/>
              <a:t>上的不同关系只有      个</a:t>
            </a:r>
            <a:r>
              <a:rPr kumimoji="0" lang="en-US" altLang="zh-CN" sz="1200" b="1" dirty="0"/>
              <a:t>.  </a:t>
            </a:r>
            <a:r>
              <a:rPr kumimoji="0" lang="zh-CN" altLang="en-US" sz="1200" b="1" dirty="0"/>
              <a:t>当列出 </a:t>
            </a:r>
            <a:r>
              <a:rPr kumimoji="0" lang="en-US" altLang="zh-CN" sz="1200" b="1" i="1" dirty="0"/>
              <a:t>R </a:t>
            </a:r>
            <a:r>
              <a:rPr kumimoji="0" lang="zh-CN" altLang="en-US" sz="1200" b="1" dirty="0"/>
              <a:t>的各次幂</a:t>
            </a:r>
            <a:endParaRPr kumimoji="0" lang="zh-CN" altLang="en-US" sz="1200" b="1" i="1" dirty="0"/>
          </a:p>
          <a:p>
            <a:pPr eaLnBrk="1" hangingPunct="1">
              <a:lnSpc>
                <a:spcPct val="120000"/>
              </a:lnSpc>
              <a:spcBef>
                <a:spcPct val="0"/>
              </a:spcBef>
              <a:buFontTx/>
              <a:buNone/>
            </a:pPr>
            <a:r>
              <a:rPr kumimoji="0" lang="zh-CN" altLang="en-US" sz="1200" b="1" i="1" dirty="0"/>
              <a:t>          </a:t>
            </a:r>
            <a:r>
              <a:rPr kumimoji="0" lang="en-US" altLang="zh-CN" sz="1200" b="1" i="1" dirty="0"/>
              <a:t>R</a:t>
            </a:r>
            <a:r>
              <a:rPr kumimoji="0" lang="en-US" altLang="zh-CN" sz="1200" b="1" baseline="30000" dirty="0"/>
              <a:t>0</a:t>
            </a:r>
            <a:r>
              <a:rPr kumimoji="0" lang="en-US" altLang="zh-CN" sz="1200" b="1" dirty="0"/>
              <a:t>, </a:t>
            </a:r>
            <a:r>
              <a:rPr kumimoji="0" lang="en-US" altLang="zh-CN" sz="1200" b="1" i="1" dirty="0"/>
              <a:t>R</a:t>
            </a:r>
            <a:r>
              <a:rPr kumimoji="0" lang="en-US" altLang="zh-CN" sz="1200" b="1" baseline="30000" dirty="0"/>
              <a:t>1</a:t>
            </a:r>
            <a:r>
              <a:rPr kumimoji="0" lang="en-US" altLang="zh-CN" sz="1200" b="1" dirty="0"/>
              <a:t>, </a:t>
            </a:r>
            <a:r>
              <a:rPr kumimoji="0" lang="en-US" altLang="zh-CN" sz="1200" b="1" i="1" dirty="0"/>
              <a:t>R</a:t>
            </a:r>
            <a:r>
              <a:rPr kumimoji="0" lang="en-US" altLang="zh-CN" sz="1200" b="1" baseline="30000" dirty="0"/>
              <a:t>2</a:t>
            </a:r>
            <a:r>
              <a:rPr kumimoji="0" lang="en-US" altLang="zh-CN" sz="1200" b="1" dirty="0"/>
              <a:t>, …, , …, </a:t>
            </a:r>
          </a:p>
          <a:p>
            <a:pPr eaLnBrk="1" hangingPunct="1">
              <a:lnSpc>
                <a:spcPct val="120000"/>
              </a:lnSpc>
              <a:spcBef>
                <a:spcPct val="0"/>
              </a:spcBef>
              <a:buFontTx/>
              <a:buNone/>
            </a:pPr>
            <a:r>
              <a:rPr kumimoji="0" lang="zh-CN" altLang="en-US" sz="1200" b="1" dirty="0"/>
              <a:t>必存在自然数 </a:t>
            </a:r>
            <a:r>
              <a:rPr kumimoji="0" lang="en-US" altLang="zh-CN" sz="1200" b="1" i="1" dirty="0"/>
              <a:t>s </a:t>
            </a:r>
            <a:r>
              <a:rPr kumimoji="0" lang="zh-CN" altLang="en-US" sz="1200" b="1" dirty="0"/>
              <a:t>和 </a:t>
            </a:r>
            <a:r>
              <a:rPr kumimoji="0" lang="en-US" altLang="zh-CN" sz="1200" b="1" i="1" dirty="0"/>
              <a:t>t </a:t>
            </a:r>
            <a:r>
              <a:rPr kumimoji="0" lang="zh-CN" altLang="en-US" sz="1200" b="1" dirty="0"/>
              <a:t>使得  </a:t>
            </a:r>
            <a:r>
              <a:rPr kumimoji="0" lang="en-US" altLang="zh-CN" sz="1200" b="1" i="1" dirty="0"/>
              <a:t>R</a:t>
            </a:r>
            <a:r>
              <a:rPr kumimoji="0" lang="en-US" altLang="zh-CN" sz="1200" b="1" i="1" baseline="30000" dirty="0"/>
              <a:t>s </a:t>
            </a:r>
            <a:r>
              <a:rPr kumimoji="0" lang="en-US" altLang="zh-CN" sz="1200" b="1" dirty="0"/>
              <a:t>= </a:t>
            </a:r>
            <a:r>
              <a:rPr kumimoji="0" lang="en-US" altLang="zh-CN" sz="1200" b="1" i="1" dirty="0"/>
              <a:t>R</a:t>
            </a:r>
            <a:r>
              <a:rPr kumimoji="0" lang="en-US" altLang="zh-CN" sz="1200" b="1" i="1" baseline="30000" dirty="0"/>
              <a:t>t</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23460337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endParaRPr kumimoji="0" lang="en-US" altLang="zh-CN" sz="1200" b="1" dirty="0"/>
          </a:p>
          <a:p>
            <a:pPr eaLnBrk="1" hangingPunct="1">
              <a:spcBef>
                <a:spcPct val="0"/>
              </a:spcBef>
              <a:buFontTx/>
              <a:buNone/>
            </a:pPr>
            <a:r>
              <a:rPr kumimoji="0" lang="zh-CN" altLang="en-US" sz="1200" b="1" dirty="0">
                <a:solidFill>
                  <a:srgbClr val="FF0000"/>
                </a:solidFill>
              </a:rPr>
              <a:t>定理</a:t>
            </a:r>
            <a:r>
              <a:rPr kumimoji="0" lang="en-US" altLang="zh-CN" sz="1200" b="1" dirty="0">
                <a:solidFill>
                  <a:srgbClr val="FF0000"/>
                </a:solidFill>
              </a:rPr>
              <a:t>4.5</a:t>
            </a:r>
            <a:r>
              <a:rPr kumimoji="0" lang="en-US" altLang="zh-CN" sz="1200" b="1" dirty="0"/>
              <a:t>    </a:t>
            </a:r>
            <a:r>
              <a:rPr kumimoji="0" lang="zh-CN" altLang="en-US" sz="1200" b="1" dirty="0"/>
              <a:t>设 </a:t>
            </a:r>
            <a:r>
              <a:rPr kumimoji="0" lang="en-US" altLang="zh-CN" sz="1200" b="1" i="1" dirty="0"/>
              <a:t>R </a:t>
            </a:r>
            <a:r>
              <a:rPr kumimoji="0" lang="zh-CN" altLang="en-US" sz="1200" b="1" dirty="0"/>
              <a:t>是 </a:t>
            </a:r>
            <a:r>
              <a:rPr kumimoji="0" lang="en-US" altLang="zh-CN" sz="1200" b="1" i="1" dirty="0"/>
              <a:t>A </a:t>
            </a:r>
            <a:r>
              <a:rPr kumimoji="0" lang="zh-CN" altLang="en-US" sz="1200" b="1" dirty="0"/>
              <a:t>上的关系</a:t>
            </a:r>
            <a:r>
              <a:rPr kumimoji="0" lang="en-US" altLang="zh-CN" sz="1200" b="1" dirty="0"/>
              <a:t>, </a:t>
            </a:r>
            <a:r>
              <a:rPr kumimoji="0" lang="en-US" altLang="zh-CN" sz="1200" b="1" i="1" dirty="0"/>
              <a:t>m</a:t>
            </a:r>
            <a:r>
              <a:rPr kumimoji="0" lang="en-US" altLang="zh-CN" sz="1200" b="1" dirty="0"/>
              <a:t>, </a:t>
            </a:r>
            <a:r>
              <a:rPr kumimoji="0" lang="en-US" altLang="zh-CN" sz="1200" b="1" i="1" dirty="0" err="1"/>
              <a:t>n</a:t>
            </a:r>
            <a:r>
              <a:rPr kumimoji="0" lang="en-US" altLang="zh-CN" sz="1200" b="1" dirty="0" err="1"/>
              <a:t>∈N</a:t>
            </a:r>
            <a:r>
              <a:rPr kumimoji="0" lang="en-US" altLang="zh-CN" sz="1200" b="1" dirty="0"/>
              <a:t>, </a:t>
            </a:r>
            <a:r>
              <a:rPr kumimoji="0" lang="zh-CN" altLang="en-US" sz="1200" b="1" dirty="0"/>
              <a:t>则 </a:t>
            </a:r>
          </a:p>
          <a:p>
            <a:pPr eaLnBrk="1" hangingPunct="1">
              <a:spcBef>
                <a:spcPct val="0"/>
              </a:spcBef>
              <a:buFontTx/>
              <a:buNone/>
            </a:pPr>
            <a:r>
              <a:rPr kumimoji="0" lang="zh-CN" altLang="en-US" sz="1200" b="1" dirty="0"/>
              <a:t>     </a:t>
            </a:r>
            <a:r>
              <a:rPr kumimoji="0" lang="en-US" altLang="zh-CN" sz="1200" b="1" dirty="0"/>
              <a:t>(1)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br>
              <a:rPr kumimoji="0" lang="en-US" altLang="zh-CN" sz="1200" b="1" dirty="0"/>
            </a:br>
            <a:r>
              <a:rPr kumimoji="0" lang="en-US" altLang="zh-CN" sz="1200" b="1" dirty="0"/>
              <a:t>  (2)  (</a:t>
            </a:r>
            <a:r>
              <a:rPr kumimoji="0" lang="en-US" altLang="zh-CN" sz="1200" b="1" i="1" dirty="0"/>
              <a:t>R</a:t>
            </a:r>
            <a:r>
              <a:rPr kumimoji="0" lang="en-US" altLang="zh-CN" sz="1200" b="1" i="1" baseline="30000" dirty="0"/>
              <a:t>m</a:t>
            </a:r>
            <a:r>
              <a:rPr kumimoji="0" lang="en-US" altLang="zh-CN" sz="1200" b="1" dirty="0"/>
              <a:t>)</a:t>
            </a:r>
            <a:r>
              <a:rPr kumimoji="0" lang="en-US" altLang="zh-CN" sz="1200" b="1" i="1" baseline="30000" dirty="0"/>
              <a:t>n </a:t>
            </a:r>
            <a:r>
              <a:rPr kumimoji="0" lang="en-US" altLang="zh-CN" sz="1200" b="1" dirty="0"/>
              <a:t>= </a:t>
            </a:r>
            <a:r>
              <a:rPr kumimoji="0" lang="en-US" altLang="zh-CN" sz="1200" b="1" i="1" dirty="0" err="1"/>
              <a:t>R</a:t>
            </a:r>
            <a:r>
              <a:rPr kumimoji="0" lang="en-US" altLang="zh-CN" sz="1200" b="1" i="1" baseline="30000" dirty="0" err="1"/>
              <a:t>mn</a:t>
            </a:r>
            <a:r>
              <a:rPr kumimoji="0" lang="en-US" altLang="zh-CN" sz="1200" b="1" baseline="30000" dirty="0"/>
              <a:t>  </a:t>
            </a:r>
          </a:p>
          <a:p>
            <a:pPr eaLnBrk="1" hangingPunct="1">
              <a:spcBef>
                <a:spcPct val="0"/>
              </a:spcBef>
              <a:buFontTx/>
              <a:buNone/>
            </a:pPr>
            <a:endParaRPr kumimoji="0" lang="en-US" altLang="zh-CN" sz="1200" b="1" baseline="30000" dirty="0"/>
          </a:p>
          <a:p>
            <a:pPr eaLnBrk="1" hangingPunct="1">
              <a:lnSpc>
                <a:spcPct val="110000"/>
              </a:lnSpc>
              <a:spcBef>
                <a:spcPct val="0"/>
              </a:spcBef>
              <a:buFontTx/>
              <a:buNone/>
            </a:pPr>
            <a:r>
              <a:rPr kumimoji="0" lang="zh-CN" altLang="en-US" sz="1200" b="1" dirty="0"/>
              <a:t>证： 用归纳法  </a:t>
            </a:r>
            <a:br>
              <a:rPr kumimoji="0" lang="zh-CN" altLang="en-US" sz="1200" b="1" dirty="0"/>
            </a:br>
            <a:r>
              <a:rPr kumimoji="0" lang="zh-CN" altLang="en-US" sz="1200" b="1" dirty="0"/>
              <a:t>    </a:t>
            </a:r>
            <a:r>
              <a:rPr kumimoji="0" lang="en-US" altLang="zh-CN" sz="1200" b="1" dirty="0"/>
              <a:t>(1) </a:t>
            </a:r>
            <a:r>
              <a:rPr kumimoji="0" lang="zh-CN" altLang="en-US" sz="1200" b="1" dirty="0"/>
              <a:t>对于任意给定的 </a:t>
            </a:r>
            <a:r>
              <a:rPr kumimoji="0" lang="en-US" altLang="zh-CN" sz="1200" b="1" i="1" dirty="0" err="1"/>
              <a:t>m</a:t>
            </a:r>
            <a:r>
              <a:rPr kumimoji="0" lang="en-US" altLang="zh-CN" sz="1200" b="1" dirty="0" err="1"/>
              <a:t>∈N</a:t>
            </a:r>
            <a:r>
              <a:rPr kumimoji="0" lang="en-US" altLang="zh-CN" sz="1200" b="1" dirty="0"/>
              <a:t>,  </a:t>
            </a:r>
            <a:r>
              <a:rPr kumimoji="0" lang="zh-CN" altLang="en-US" sz="1200" b="1" dirty="0"/>
              <a:t>施归纳于 </a:t>
            </a:r>
            <a:r>
              <a:rPr kumimoji="0" lang="en-US" altLang="zh-CN" sz="1200" b="1" i="1" dirty="0"/>
              <a:t>n</a:t>
            </a:r>
            <a:r>
              <a:rPr kumimoji="0" lang="en-US" altLang="zh-CN" sz="1200" b="1" dirty="0"/>
              <a:t>.</a:t>
            </a:r>
            <a:br>
              <a:rPr kumimoji="0" lang="en-US" altLang="zh-CN" sz="1200" b="1" dirty="0"/>
            </a:br>
            <a:r>
              <a:rPr kumimoji="0" lang="en-US" altLang="zh-CN" sz="1200" b="1" dirty="0"/>
              <a:t>        </a:t>
            </a:r>
            <a:r>
              <a:rPr kumimoji="0" lang="zh-CN" altLang="en-US" sz="1200" b="1" dirty="0"/>
              <a:t>若</a:t>
            </a:r>
            <a:r>
              <a:rPr kumimoji="0" lang="en-US" altLang="zh-CN" sz="1200" b="1" i="1" dirty="0"/>
              <a:t>n</a:t>
            </a:r>
            <a:r>
              <a:rPr kumimoji="0" lang="en-US" altLang="zh-CN" sz="1200" b="1" dirty="0"/>
              <a:t>=0, </a:t>
            </a:r>
            <a:r>
              <a:rPr kumimoji="0" lang="zh-CN" altLang="en-US" sz="1200" b="1" dirty="0"/>
              <a:t>则有 </a:t>
            </a:r>
            <a:br>
              <a:rPr kumimoji="0" lang="zh-CN" altLang="en-US" sz="1200" b="1" dirty="0"/>
            </a:br>
            <a:r>
              <a:rPr kumimoji="0" lang="zh-CN" altLang="en-US"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baseline="30000" dirty="0"/>
              <a:t>0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I</a:t>
            </a:r>
            <a:r>
              <a:rPr kumimoji="0" lang="en-US" altLang="zh-CN" sz="1200" b="1" i="1" baseline="-25000" dirty="0" err="1"/>
              <a:t>A</a:t>
            </a:r>
            <a:r>
              <a:rPr kumimoji="0" lang="en-US" altLang="zh-CN" sz="1200" b="1" dirty="0"/>
              <a:t>= </a:t>
            </a:r>
            <a:r>
              <a:rPr kumimoji="0" lang="en-US" altLang="zh-CN" sz="1200" b="1" i="1" dirty="0"/>
              <a:t>R</a:t>
            </a:r>
            <a:r>
              <a:rPr kumimoji="0" lang="en-US" altLang="zh-CN" sz="1200" b="1" i="1" baseline="30000" dirty="0"/>
              <a:t>m </a:t>
            </a:r>
            <a:r>
              <a:rPr kumimoji="0" lang="en-US" altLang="zh-CN" sz="1200" b="1" dirty="0"/>
              <a:t>= </a:t>
            </a:r>
            <a:r>
              <a:rPr kumimoji="0" lang="en-US" altLang="zh-CN" sz="1200" b="1" i="1" dirty="0"/>
              <a:t>R</a:t>
            </a:r>
            <a:r>
              <a:rPr kumimoji="0" lang="en-US" altLang="zh-CN" sz="1200" b="1" i="1" baseline="30000" dirty="0"/>
              <a:t>m</a:t>
            </a:r>
            <a:r>
              <a:rPr kumimoji="0" lang="en-US" altLang="zh-CN" sz="1200" b="1" baseline="30000" dirty="0"/>
              <a:t>+0 </a:t>
            </a:r>
          </a:p>
          <a:p>
            <a:pPr eaLnBrk="1" hangingPunct="1">
              <a:lnSpc>
                <a:spcPct val="110000"/>
              </a:lnSpc>
              <a:spcBef>
                <a:spcPct val="0"/>
              </a:spcBef>
              <a:buFontTx/>
              <a:buNone/>
            </a:pPr>
            <a:r>
              <a:rPr kumimoji="0" lang="zh-CN" altLang="en-US" sz="1200" b="1" dirty="0"/>
              <a:t>           假设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r>
              <a:rPr kumimoji="0" lang="en-US" altLang="zh-CN" sz="1200" b="1" dirty="0"/>
              <a:t>, </a:t>
            </a:r>
            <a:r>
              <a:rPr kumimoji="0" lang="zh-CN" altLang="en-US" sz="1200" b="1" dirty="0"/>
              <a:t>则有</a:t>
            </a:r>
            <a:br>
              <a:rPr kumimoji="0" lang="zh-CN" altLang="en-US" sz="1200" b="1" dirty="0"/>
            </a:br>
            <a:r>
              <a:rPr kumimoji="0" lang="zh-CN" altLang="en-US"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i="1" baseline="30000" dirty="0"/>
              <a:t>n</a:t>
            </a:r>
            <a:r>
              <a:rPr kumimoji="0" lang="en-US" altLang="zh-CN" sz="1200" b="1" baseline="30000" dirty="0"/>
              <a:t>+1 </a:t>
            </a:r>
            <a:r>
              <a:rPr kumimoji="0" lang="en-US" altLang="zh-CN"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err="1"/>
              <a:t>R</a:t>
            </a:r>
            <a:r>
              <a:rPr kumimoji="0" lang="en-US" altLang="zh-CN" sz="1200" b="1" i="1" baseline="30000" dirty="0" err="1"/>
              <a:t>n</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dirty="0"/>
              <a:t>) =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 </a:t>
            </a:r>
            <a:r>
              <a:rPr kumimoji="0" lang="en-US" altLang="zh-CN" sz="1200" b="1" dirty="0"/>
              <a:t>= </a:t>
            </a:r>
            <a:r>
              <a:rPr kumimoji="0" lang="en-US" altLang="zh-CN" sz="1200" b="1" i="1" dirty="0"/>
              <a:t>R</a:t>
            </a:r>
            <a:r>
              <a:rPr kumimoji="0" lang="en-US" altLang="zh-CN" sz="1200" b="1" i="1" baseline="30000" dirty="0"/>
              <a:t>m</a:t>
            </a:r>
            <a:r>
              <a:rPr kumimoji="0" lang="en-US" altLang="zh-CN" sz="1200" b="1" baseline="30000" dirty="0"/>
              <a:t>+</a:t>
            </a:r>
            <a:r>
              <a:rPr kumimoji="0" lang="en-US" altLang="zh-CN" sz="1200" b="1" i="1" baseline="30000" dirty="0"/>
              <a:t>n</a:t>
            </a:r>
            <a:r>
              <a:rPr kumimoji="0" lang="en-US" altLang="zh-CN" sz="1200" b="1" baseline="30000" dirty="0"/>
              <a:t>+1</a:t>
            </a:r>
            <a:r>
              <a:rPr kumimoji="0" lang="en-US" altLang="zh-CN" sz="1200" b="1" dirty="0"/>
              <a:t> , </a:t>
            </a:r>
          </a:p>
          <a:p>
            <a:pPr eaLnBrk="1" hangingPunct="1">
              <a:lnSpc>
                <a:spcPct val="110000"/>
              </a:lnSpc>
              <a:spcBef>
                <a:spcPct val="0"/>
              </a:spcBef>
              <a:buFontTx/>
              <a:buNone/>
            </a:pPr>
            <a:r>
              <a:rPr kumimoji="0" lang="en-US" altLang="zh-CN" sz="1200" b="1" dirty="0"/>
              <a:t>           </a:t>
            </a:r>
            <a:r>
              <a:rPr kumimoji="0" lang="zh-CN" altLang="en-US" sz="1200" b="1" dirty="0"/>
              <a:t>所以对一切 </a:t>
            </a:r>
            <a:r>
              <a:rPr kumimoji="0" lang="en-US" altLang="zh-CN" sz="1200" b="1" i="1" dirty="0"/>
              <a:t>m</a:t>
            </a:r>
            <a:r>
              <a:rPr kumimoji="0" lang="en-US" altLang="zh-CN" sz="1200" b="1" dirty="0"/>
              <a:t>, </a:t>
            </a:r>
            <a:r>
              <a:rPr kumimoji="0" lang="en-US" altLang="zh-CN" sz="1200" b="1" i="1" dirty="0" err="1"/>
              <a:t>n</a:t>
            </a:r>
            <a:r>
              <a:rPr kumimoji="0" lang="en-US" altLang="zh-CN" sz="1200" b="1" dirty="0" err="1"/>
              <a:t>∈N</a:t>
            </a:r>
            <a:r>
              <a:rPr kumimoji="0" lang="en-US" altLang="zh-CN" sz="1200" b="1" i="1" dirty="0"/>
              <a:t> </a:t>
            </a:r>
            <a:r>
              <a:rPr kumimoji="0" lang="zh-CN" altLang="en-US" sz="1200" b="1" dirty="0"/>
              <a:t>有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r>
              <a:rPr kumimoji="0" lang="en-US" altLang="zh-CN" sz="1200" b="1" dirty="0"/>
              <a:t>. </a:t>
            </a:r>
            <a:endParaRPr kumimoji="0" lang="en-US" altLang="zh-CN" sz="1200" b="1" baseline="300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322702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endParaRPr kumimoji="0" lang="en-US" altLang="zh-CN" sz="1200" b="1" dirty="0"/>
          </a:p>
          <a:p>
            <a:pPr eaLnBrk="1" hangingPunct="1">
              <a:spcBef>
                <a:spcPct val="0"/>
              </a:spcBef>
              <a:buFontTx/>
              <a:buNone/>
            </a:pPr>
            <a:r>
              <a:rPr kumimoji="0" lang="zh-CN" altLang="en-US" sz="1200" b="1" dirty="0">
                <a:solidFill>
                  <a:srgbClr val="FF0000"/>
                </a:solidFill>
              </a:rPr>
              <a:t>定理</a:t>
            </a:r>
            <a:r>
              <a:rPr kumimoji="0" lang="en-US" altLang="zh-CN" sz="1200" b="1" dirty="0">
                <a:solidFill>
                  <a:srgbClr val="FF0000"/>
                </a:solidFill>
              </a:rPr>
              <a:t>4.5</a:t>
            </a:r>
            <a:r>
              <a:rPr kumimoji="0" lang="en-US" altLang="zh-CN" sz="1200" b="1" dirty="0"/>
              <a:t>    </a:t>
            </a:r>
            <a:r>
              <a:rPr kumimoji="0" lang="zh-CN" altLang="en-US" sz="1200" b="1" dirty="0"/>
              <a:t>设 </a:t>
            </a:r>
            <a:r>
              <a:rPr kumimoji="0" lang="en-US" altLang="zh-CN" sz="1200" b="1" i="1" dirty="0"/>
              <a:t>R </a:t>
            </a:r>
            <a:r>
              <a:rPr kumimoji="0" lang="zh-CN" altLang="en-US" sz="1200" b="1" dirty="0"/>
              <a:t>是 </a:t>
            </a:r>
            <a:r>
              <a:rPr kumimoji="0" lang="en-US" altLang="zh-CN" sz="1200" b="1" i="1" dirty="0"/>
              <a:t>A </a:t>
            </a:r>
            <a:r>
              <a:rPr kumimoji="0" lang="zh-CN" altLang="en-US" sz="1200" b="1" dirty="0"/>
              <a:t>上的关系</a:t>
            </a:r>
            <a:r>
              <a:rPr kumimoji="0" lang="en-US" altLang="zh-CN" sz="1200" b="1" dirty="0"/>
              <a:t>, </a:t>
            </a:r>
            <a:r>
              <a:rPr kumimoji="0" lang="en-US" altLang="zh-CN" sz="1200" b="1" i="1" dirty="0"/>
              <a:t>m</a:t>
            </a:r>
            <a:r>
              <a:rPr kumimoji="0" lang="en-US" altLang="zh-CN" sz="1200" b="1" dirty="0"/>
              <a:t>, </a:t>
            </a:r>
            <a:r>
              <a:rPr kumimoji="0" lang="en-US" altLang="zh-CN" sz="1200" b="1" i="1" dirty="0" err="1"/>
              <a:t>n</a:t>
            </a:r>
            <a:r>
              <a:rPr kumimoji="0" lang="en-US" altLang="zh-CN" sz="1200" b="1" dirty="0" err="1"/>
              <a:t>∈N</a:t>
            </a:r>
            <a:r>
              <a:rPr kumimoji="0" lang="en-US" altLang="zh-CN" sz="1200" b="1" dirty="0"/>
              <a:t>, </a:t>
            </a:r>
            <a:r>
              <a:rPr kumimoji="0" lang="zh-CN" altLang="en-US" sz="1200" b="1" dirty="0"/>
              <a:t>则 </a:t>
            </a:r>
          </a:p>
          <a:p>
            <a:pPr eaLnBrk="1" hangingPunct="1">
              <a:spcBef>
                <a:spcPct val="0"/>
              </a:spcBef>
              <a:buFontTx/>
              <a:buNone/>
            </a:pPr>
            <a:r>
              <a:rPr kumimoji="0" lang="zh-CN" altLang="en-US" sz="1200" b="1" dirty="0"/>
              <a:t>     </a:t>
            </a:r>
            <a:r>
              <a:rPr kumimoji="0" lang="en-US" altLang="zh-CN" sz="1200" b="1" dirty="0"/>
              <a:t>(1)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br>
              <a:rPr kumimoji="0" lang="en-US" altLang="zh-CN" sz="1200" b="1" dirty="0"/>
            </a:br>
            <a:r>
              <a:rPr kumimoji="0" lang="en-US" altLang="zh-CN" sz="1200" b="1" dirty="0"/>
              <a:t>  (2)  (</a:t>
            </a:r>
            <a:r>
              <a:rPr kumimoji="0" lang="en-US" altLang="zh-CN" sz="1200" b="1" i="1" dirty="0"/>
              <a:t>R</a:t>
            </a:r>
            <a:r>
              <a:rPr kumimoji="0" lang="en-US" altLang="zh-CN" sz="1200" b="1" i="1" baseline="30000" dirty="0"/>
              <a:t>m</a:t>
            </a:r>
            <a:r>
              <a:rPr kumimoji="0" lang="en-US" altLang="zh-CN" sz="1200" b="1" dirty="0"/>
              <a:t>)</a:t>
            </a:r>
            <a:r>
              <a:rPr kumimoji="0" lang="en-US" altLang="zh-CN" sz="1200" b="1" i="1" baseline="30000" dirty="0"/>
              <a:t>n </a:t>
            </a:r>
            <a:r>
              <a:rPr kumimoji="0" lang="en-US" altLang="zh-CN" sz="1200" b="1" dirty="0"/>
              <a:t>= </a:t>
            </a:r>
            <a:r>
              <a:rPr kumimoji="0" lang="en-US" altLang="zh-CN" sz="1200" b="1" i="1" dirty="0" err="1"/>
              <a:t>R</a:t>
            </a:r>
            <a:r>
              <a:rPr kumimoji="0" lang="en-US" altLang="zh-CN" sz="1200" b="1" i="1" baseline="30000" dirty="0" err="1"/>
              <a:t>mn</a:t>
            </a:r>
            <a:r>
              <a:rPr kumimoji="0" lang="en-US" altLang="zh-CN" sz="1200" b="1" baseline="30000" dirty="0"/>
              <a:t>  </a:t>
            </a:r>
          </a:p>
          <a:p>
            <a:pPr eaLnBrk="1" hangingPunct="1">
              <a:spcBef>
                <a:spcPct val="0"/>
              </a:spcBef>
              <a:buFontTx/>
              <a:buNone/>
            </a:pPr>
            <a:endParaRPr kumimoji="0" lang="en-US" altLang="zh-CN" sz="1200" b="1" baseline="30000" dirty="0"/>
          </a:p>
          <a:p>
            <a:pPr eaLnBrk="1" hangingPunct="1">
              <a:lnSpc>
                <a:spcPct val="110000"/>
              </a:lnSpc>
              <a:spcBef>
                <a:spcPct val="0"/>
              </a:spcBef>
              <a:buFontTx/>
              <a:buNone/>
            </a:pPr>
            <a:r>
              <a:rPr kumimoji="0" lang="zh-CN" altLang="en-US" sz="1200" b="1" dirty="0"/>
              <a:t>证： 用归纳法  </a:t>
            </a:r>
            <a:br>
              <a:rPr kumimoji="0" lang="zh-CN" altLang="en-US" sz="1200" b="1" dirty="0"/>
            </a:br>
            <a:r>
              <a:rPr kumimoji="0" lang="zh-CN" altLang="en-US" sz="1200" b="1" dirty="0"/>
              <a:t>    </a:t>
            </a:r>
            <a:r>
              <a:rPr kumimoji="0" lang="en-US" altLang="zh-CN" sz="1200" b="1" dirty="0"/>
              <a:t>(1) </a:t>
            </a:r>
            <a:r>
              <a:rPr kumimoji="0" lang="zh-CN" altLang="en-US" sz="1200" b="1" dirty="0"/>
              <a:t>对于任意给定的 </a:t>
            </a:r>
            <a:r>
              <a:rPr kumimoji="0" lang="en-US" altLang="zh-CN" sz="1200" b="1" i="1" dirty="0" err="1"/>
              <a:t>m</a:t>
            </a:r>
            <a:r>
              <a:rPr kumimoji="0" lang="en-US" altLang="zh-CN" sz="1200" b="1" dirty="0" err="1"/>
              <a:t>∈N</a:t>
            </a:r>
            <a:r>
              <a:rPr kumimoji="0" lang="en-US" altLang="zh-CN" sz="1200" b="1" dirty="0"/>
              <a:t>,  </a:t>
            </a:r>
            <a:r>
              <a:rPr kumimoji="0" lang="zh-CN" altLang="en-US" sz="1200" b="1" dirty="0"/>
              <a:t>施归纳于 </a:t>
            </a:r>
            <a:r>
              <a:rPr kumimoji="0" lang="en-US" altLang="zh-CN" sz="1200" b="1" i="1" dirty="0"/>
              <a:t>n</a:t>
            </a:r>
            <a:r>
              <a:rPr kumimoji="0" lang="en-US" altLang="zh-CN" sz="1200" b="1" dirty="0"/>
              <a:t>.</a:t>
            </a:r>
            <a:br>
              <a:rPr kumimoji="0" lang="en-US" altLang="zh-CN" sz="1200" b="1" dirty="0"/>
            </a:br>
            <a:r>
              <a:rPr kumimoji="0" lang="en-US" altLang="zh-CN" sz="1200" b="1" dirty="0"/>
              <a:t>        </a:t>
            </a:r>
            <a:r>
              <a:rPr kumimoji="0" lang="zh-CN" altLang="en-US" sz="1200" b="1" dirty="0"/>
              <a:t>若</a:t>
            </a:r>
            <a:r>
              <a:rPr kumimoji="0" lang="en-US" altLang="zh-CN" sz="1200" b="1" i="1" dirty="0"/>
              <a:t>n</a:t>
            </a:r>
            <a:r>
              <a:rPr kumimoji="0" lang="en-US" altLang="zh-CN" sz="1200" b="1" dirty="0"/>
              <a:t>=0, </a:t>
            </a:r>
            <a:r>
              <a:rPr kumimoji="0" lang="zh-CN" altLang="en-US" sz="1200" b="1" dirty="0"/>
              <a:t>则有 </a:t>
            </a:r>
            <a:br>
              <a:rPr kumimoji="0" lang="zh-CN" altLang="en-US" sz="1200" b="1" dirty="0"/>
            </a:br>
            <a:r>
              <a:rPr kumimoji="0" lang="zh-CN" altLang="en-US"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baseline="30000" dirty="0"/>
              <a:t>0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I</a:t>
            </a:r>
            <a:r>
              <a:rPr kumimoji="0" lang="en-US" altLang="zh-CN" sz="1200" b="1" i="1" baseline="-25000" dirty="0" err="1"/>
              <a:t>A</a:t>
            </a:r>
            <a:r>
              <a:rPr kumimoji="0" lang="en-US" altLang="zh-CN" sz="1200" b="1" dirty="0"/>
              <a:t>= </a:t>
            </a:r>
            <a:r>
              <a:rPr kumimoji="0" lang="en-US" altLang="zh-CN" sz="1200" b="1" i="1" dirty="0"/>
              <a:t>R</a:t>
            </a:r>
            <a:r>
              <a:rPr kumimoji="0" lang="en-US" altLang="zh-CN" sz="1200" b="1" i="1" baseline="30000" dirty="0"/>
              <a:t>m </a:t>
            </a:r>
            <a:r>
              <a:rPr kumimoji="0" lang="en-US" altLang="zh-CN" sz="1200" b="1" dirty="0"/>
              <a:t>= </a:t>
            </a:r>
            <a:r>
              <a:rPr kumimoji="0" lang="en-US" altLang="zh-CN" sz="1200" b="1" i="1" dirty="0"/>
              <a:t>R</a:t>
            </a:r>
            <a:r>
              <a:rPr kumimoji="0" lang="en-US" altLang="zh-CN" sz="1200" b="1" i="1" baseline="30000" dirty="0"/>
              <a:t>m</a:t>
            </a:r>
            <a:r>
              <a:rPr kumimoji="0" lang="en-US" altLang="zh-CN" sz="1200" b="1" baseline="30000" dirty="0"/>
              <a:t>+0 </a:t>
            </a:r>
          </a:p>
          <a:p>
            <a:pPr eaLnBrk="1" hangingPunct="1">
              <a:lnSpc>
                <a:spcPct val="110000"/>
              </a:lnSpc>
              <a:spcBef>
                <a:spcPct val="0"/>
              </a:spcBef>
              <a:buFontTx/>
              <a:buNone/>
            </a:pPr>
            <a:r>
              <a:rPr kumimoji="0" lang="zh-CN" altLang="en-US" sz="1200" b="1" dirty="0"/>
              <a:t>           假设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r>
              <a:rPr kumimoji="0" lang="en-US" altLang="zh-CN" sz="1200" b="1" dirty="0"/>
              <a:t>, </a:t>
            </a:r>
            <a:r>
              <a:rPr kumimoji="0" lang="zh-CN" altLang="en-US" sz="1200" b="1" dirty="0"/>
              <a:t>则有</a:t>
            </a:r>
            <a:br>
              <a:rPr kumimoji="0" lang="zh-CN" altLang="en-US" sz="1200" b="1" dirty="0"/>
            </a:br>
            <a:r>
              <a:rPr kumimoji="0" lang="zh-CN" altLang="en-US"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i="1" baseline="30000" dirty="0"/>
              <a:t>n</a:t>
            </a:r>
            <a:r>
              <a:rPr kumimoji="0" lang="en-US" altLang="zh-CN" sz="1200" b="1" baseline="30000" dirty="0"/>
              <a:t>+1 </a:t>
            </a:r>
            <a:r>
              <a:rPr kumimoji="0" lang="en-US" altLang="zh-CN" sz="1200" b="1" dirty="0"/>
              <a:t>= </a:t>
            </a:r>
            <a:r>
              <a:rPr kumimoji="0" lang="en-US" altLang="zh-CN" sz="1200" b="1" i="1" dirty="0"/>
              <a:t>R</a:t>
            </a:r>
            <a:r>
              <a:rPr kumimoji="0" lang="en-US" altLang="zh-CN" sz="1200" b="1" i="1" baseline="30000" dirty="0"/>
              <a:t>m</a:t>
            </a:r>
            <a:r>
              <a:rPr kumimoji="0" lang="en-US" altLang="zh-CN" sz="1200" b="1" dirty="0">
                <a:latin typeface="Arial" panose="020B0604020202020204" pitchFamily="34" charset="0"/>
                <a:ea typeface="华文行楷" panose="02010800040101010101" pitchFamily="2" charset="-122"/>
              </a:rPr>
              <a:t>∘</a:t>
            </a:r>
            <a:r>
              <a:rPr kumimoji="0" lang="en-US" altLang="zh-CN" sz="1200" b="1" dirty="0"/>
              <a:t>(</a:t>
            </a:r>
            <a:r>
              <a:rPr kumimoji="0" lang="en-US" altLang="zh-CN" sz="1200" b="1" i="1" dirty="0" err="1"/>
              <a:t>R</a:t>
            </a:r>
            <a:r>
              <a:rPr kumimoji="0" lang="en-US" altLang="zh-CN" sz="1200" b="1" i="1" baseline="30000" dirty="0" err="1"/>
              <a:t>n</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dirty="0"/>
              <a:t>) =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dirty="0"/>
              <a:t>)</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 </a:t>
            </a:r>
            <a:r>
              <a:rPr kumimoji="0" lang="en-US" altLang="zh-CN" sz="1200" b="1" dirty="0"/>
              <a:t>= </a:t>
            </a:r>
            <a:r>
              <a:rPr kumimoji="0" lang="en-US" altLang="zh-CN" sz="1200" b="1" i="1" dirty="0"/>
              <a:t>R</a:t>
            </a:r>
            <a:r>
              <a:rPr kumimoji="0" lang="en-US" altLang="zh-CN" sz="1200" b="1" i="1" baseline="30000" dirty="0"/>
              <a:t>m</a:t>
            </a:r>
            <a:r>
              <a:rPr kumimoji="0" lang="en-US" altLang="zh-CN" sz="1200" b="1" baseline="30000" dirty="0"/>
              <a:t>+</a:t>
            </a:r>
            <a:r>
              <a:rPr kumimoji="0" lang="en-US" altLang="zh-CN" sz="1200" b="1" i="1" baseline="30000" dirty="0"/>
              <a:t>n</a:t>
            </a:r>
            <a:r>
              <a:rPr kumimoji="0" lang="en-US" altLang="zh-CN" sz="1200" b="1" baseline="30000" dirty="0"/>
              <a:t>+1</a:t>
            </a:r>
            <a:r>
              <a:rPr kumimoji="0" lang="en-US" altLang="zh-CN" sz="1200" b="1" dirty="0"/>
              <a:t> , </a:t>
            </a:r>
          </a:p>
          <a:p>
            <a:pPr eaLnBrk="1" hangingPunct="1">
              <a:lnSpc>
                <a:spcPct val="110000"/>
              </a:lnSpc>
              <a:spcBef>
                <a:spcPct val="0"/>
              </a:spcBef>
              <a:buFontTx/>
              <a:buNone/>
            </a:pPr>
            <a:r>
              <a:rPr kumimoji="0" lang="en-US" altLang="zh-CN" sz="1200" b="1" dirty="0"/>
              <a:t>           </a:t>
            </a:r>
            <a:r>
              <a:rPr kumimoji="0" lang="zh-CN" altLang="en-US" sz="1200" b="1" dirty="0"/>
              <a:t>所以对一切 </a:t>
            </a:r>
            <a:r>
              <a:rPr kumimoji="0" lang="en-US" altLang="zh-CN" sz="1200" b="1" i="1" dirty="0"/>
              <a:t>m</a:t>
            </a:r>
            <a:r>
              <a:rPr kumimoji="0" lang="en-US" altLang="zh-CN" sz="1200" b="1" dirty="0"/>
              <a:t>, </a:t>
            </a:r>
            <a:r>
              <a:rPr kumimoji="0" lang="en-US" altLang="zh-CN" sz="1200" b="1" i="1" dirty="0" err="1"/>
              <a:t>n</a:t>
            </a:r>
            <a:r>
              <a:rPr kumimoji="0" lang="en-US" altLang="zh-CN" sz="1200" b="1" dirty="0" err="1"/>
              <a:t>∈N</a:t>
            </a:r>
            <a:r>
              <a:rPr kumimoji="0" lang="en-US" altLang="zh-CN" sz="1200" b="1" i="1" dirty="0"/>
              <a:t> </a:t>
            </a:r>
            <a:r>
              <a:rPr kumimoji="0" lang="zh-CN" altLang="en-US" sz="1200" b="1" dirty="0"/>
              <a:t>有 </a:t>
            </a:r>
            <a:r>
              <a:rPr kumimoji="0" lang="en-US" altLang="zh-CN" sz="1200" b="1" i="1" dirty="0" err="1"/>
              <a:t>R</a:t>
            </a:r>
            <a:r>
              <a:rPr kumimoji="0" lang="en-US" altLang="zh-CN" sz="1200" b="1" i="1" baseline="30000" dirty="0" err="1"/>
              <a:t>m</a:t>
            </a:r>
            <a:r>
              <a:rPr kumimoji="0" lang="en-US" altLang="zh-CN" sz="1200" b="1" dirty="0" err="1">
                <a:latin typeface="Arial" panose="020B0604020202020204" pitchFamily="34" charset="0"/>
                <a:ea typeface="华文行楷" panose="02010800040101010101" pitchFamily="2" charset="-122"/>
              </a:rPr>
              <a:t>∘</a:t>
            </a:r>
            <a:r>
              <a:rPr kumimoji="0" lang="en-US" altLang="zh-CN" sz="1200" b="1" i="1" dirty="0" err="1"/>
              <a:t>R</a:t>
            </a:r>
            <a:r>
              <a:rPr kumimoji="0" lang="en-US" altLang="zh-CN" sz="1200" b="1" i="1" baseline="30000" dirty="0" err="1"/>
              <a:t>n</a:t>
            </a:r>
            <a:r>
              <a:rPr kumimoji="0" lang="en-US" altLang="zh-CN" sz="1200" b="1" i="1" baseline="30000" dirty="0"/>
              <a:t> </a:t>
            </a:r>
            <a:r>
              <a:rPr kumimoji="0" lang="en-US" altLang="zh-CN" sz="1200" b="1" dirty="0"/>
              <a:t>= </a:t>
            </a:r>
            <a:r>
              <a:rPr kumimoji="0" lang="en-US" altLang="zh-CN" sz="1200" b="1" i="1" dirty="0" err="1"/>
              <a:t>R</a:t>
            </a:r>
            <a:r>
              <a:rPr kumimoji="0" lang="en-US" altLang="zh-CN" sz="1200" b="1" i="1" baseline="30000" dirty="0" err="1"/>
              <a:t>m</a:t>
            </a:r>
            <a:r>
              <a:rPr kumimoji="0" lang="en-US" altLang="zh-CN" sz="1200" b="1" baseline="30000" dirty="0" err="1"/>
              <a:t>+</a:t>
            </a:r>
            <a:r>
              <a:rPr kumimoji="0" lang="en-US" altLang="zh-CN" sz="1200" b="1" i="1" baseline="30000" dirty="0" err="1"/>
              <a:t>n</a:t>
            </a:r>
            <a:r>
              <a:rPr kumimoji="0" lang="en-US" altLang="zh-CN" sz="1200" b="1" dirty="0"/>
              <a:t>. </a:t>
            </a:r>
            <a:endParaRPr kumimoji="0" lang="en-US" altLang="zh-CN" sz="1200" b="1" baseline="300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2150388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80000"/>
              </a:lnSpc>
              <a:buFontTx/>
              <a:buNone/>
            </a:pPr>
            <a:r>
              <a:rPr lang="zh-CN" altLang="en-US" sz="1200" b="1" dirty="0">
                <a:solidFill>
                  <a:srgbClr val="FF0000"/>
                </a:solidFill>
              </a:rPr>
              <a:t>定理</a:t>
            </a:r>
            <a:r>
              <a:rPr lang="en-US" altLang="zh-CN" sz="1200" b="1" dirty="0">
                <a:solidFill>
                  <a:srgbClr val="FF0000"/>
                </a:solidFill>
              </a:rPr>
              <a:t>4.6</a:t>
            </a:r>
            <a:r>
              <a:rPr lang="en-US" altLang="zh-CN" sz="1200" b="1" dirty="0"/>
              <a:t>  </a:t>
            </a:r>
            <a:r>
              <a:rPr lang="zh-CN" altLang="en-US" sz="1200" b="1" dirty="0"/>
              <a:t>设</a:t>
            </a:r>
            <a:r>
              <a:rPr lang="en-US" altLang="zh-CN" sz="1200" b="1" i="1" dirty="0"/>
              <a:t>R</a:t>
            </a:r>
            <a:r>
              <a:rPr lang="en-US" altLang="zh-CN" sz="1200" b="1" dirty="0"/>
              <a:t> </a:t>
            </a:r>
            <a:r>
              <a:rPr lang="zh-CN" altLang="en-US" sz="1200" b="1" dirty="0"/>
              <a:t>是</a:t>
            </a:r>
            <a:r>
              <a:rPr lang="en-US" altLang="zh-CN" sz="1200" b="1" i="1" dirty="0"/>
              <a:t>A</a:t>
            </a:r>
            <a:r>
              <a:rPr lang="zh-CN" altLang="en-US" sz="1200" b="1" dirty="0"/>
              <a:t>上的关系</a:t>
            </a:r>
            <a:r>
              <a:rPr lang="en-US" altLang="zh-CN" sz="1200" b="1" dirty="0"/>
              <a:t>, </a:t>
            </a:r>
            <a:r>
              <a:rPr lang="zh-CN" altLang="en-US" sz="1200" b="1" dirty="0"/>
              <a:t>若存在自然数 </a:t>
            </a:r>
            <a:r>
              <a:rPr lang="en-US" altLang="zh-CN" sz="1200" b="1" i="1" dirty="0"/>
              <a:t>s</a:t>
            </a:r>
            <a:r>
              <a:rPr lang="en-US" altLang="zh-CN" sz="1200" b="1" dirty="0"/>
              <a:t>, </a:t>
            </a:r>
            <a:r>
              <a:rPr lang="en-US" altLang="zh-CN" sz="1200" b="1" i="1" dirty="0"/>
              <a:t>t </a:t>
            </a:r>
            <a:r>
              <a:rPr lang="en-US" altLang="zh-CN" sz="1200" b="1" dirty="0"/>
              <a:t>(</a:t>
            </a:r>
            <a:r>
              <a:rPr lang="en-US" altLang="zh-CN" sz="1200" b="1" i="1" dirty="0"/>
              <a:t>s</a:t>
            </a:r>
            <a:r>
              <a:rPr lang="en-US" altLang="zh-CN" sz="1200" b="1" dirty="0"/>
              <a:t>&lt;</a:t>
            </a:r>
            <a:r>
              <a:rPr lang="en-US" altLang="zh-CN" sz="1200" b="1" i="1" dirty="0"/>
              <a:t>t</a:t>
            </a:r>
            <a:r>
              <a:rPr lang="en-US" altLang="zh-CN" sz="1200" b="1" dirty="0"/>
              <a:t>) </a:t>
            </a:r>
            <a:r>
              <a:rPr lang="zh-CN" altLang="en-US" sz="1200" b="1" dirty="0"/>
              <a:t>使得</a:t>
            </a:r>
          </a:p>
          <a:p>
            <a:pPr eaLnBrk="1" hangingPunct="1">
              <a:lnSpc>
                <a:spcPct val="80000"/>
              </a:lnSpc>
              <a:buFontTx/>
              <a:buNone/>
            </a:pPr>
            <a:r>
              <a:rPr lang="en-US" altLang="zh-CN" sz="1200" b="1" i="1" dirty="0"/>
              <a:t> R</a:t>
            </a:r>
            <a:r>
              <a:rPr lang="en-US" altLang="zh-CN" sz="1200" b="1" i="1" baseline="30000" dirty="0"/>
              <a:t>s </a:t>
            </a:r>
            <a:r>
              <a:rPr lang="en-US" altLang="zh-CN" sz="1200" b="1" dirty="0"/>
              <a:t>= </a:t>
            </a:r>
            <a:r>
              <a:rPr lang="en-US" altLang="zh-CN" sz="1200" b="1" i="1" dirty="0"/>
              <a:t>R</a:t>
            </a:r>
            <a:r>
              <a:rPr lang="en-US" altLang="zh-CN" sz="1200" b="1" i="1" baseline="30000" dirty="0"/>
              <a:t>t</a:t>
            </a:r>
            <a:r>
              <a:rPr lang="en-US" altLang="zh-CN" sz="1200" b="1" dirty="0"/>
              <a:t>, </a:t>
            </a:r>
            <a:r>
              <a:rPr lang="zh-CN" altLang="en-US" sz="1200" b="1" dirty="0"/>
              <a:t>则</a:t>
            </a:r>
          </a:p>
          <a:p>
            <a:pPr eaLnBrk="1" hangingPunct="1">
              <a:lnSpc>
                <a:spcPct val="80000"/>
              </a:lnSpc>
              <a:buFontTx/>
              <a:buNone/>
            </a:pPr>
            <a:r>
              <a:rPr kumimoji="0" lang="en-US" altLang="zh-CN" sz="1200" b="1" dirty="0"/>
              <a:t>  (</a:t>
            </a:r>
            <a:r>
              <a:rPr lang="en-US" altLang="zh-CN" sz="1200" b="1" dirty="0"/>
              <a:t>1) </a:t>
            </a:r>
            <a:r>
              <a:rPr lang="zh-CN" altLang="en-US" sz="1200" b="1" dirty="0"/>
              <a:t>对任何 </a:t>
            </a:r>
            <a:r>
              <a:rPr lang="en-US" altLang="zh-CN" sz="1200" b="1" i="1" dirty="0" err="1"/>
              <a:t>k</a:t>
            </a:r>
            <a:r>
              <a:rPr lang="en-US" altLang="zh-CN" sz="1200" b="1" dirty="0" err="1"/>
              <a:t>∈N</a:t>
            </a:r>
            <a:r>
              <a:rPr lang="en-US" altLang="zh-CN" sz="1200" b="1" i="1" dirty="0"/>
              <a:t> </a:t>
            </a:r>
            <a:r>
              <a:rPr lang="zh-CN" altLang="en-US" sz="1200" b="1" dirty="0"/>
              <a:t>有 </a:t>
            </a:r>
            <a:r>
              <a:rPr lang="en-US" altLang="zh-CN" sz="1200" b="1" i="1" dirty="0" err="1"/>
              <a:t>R</a:t>
            </a:r>
            <a:r>
              <a:rPr lang="en-US" altLang="zh-CN" sz="1200" b="1" i="1" baseline="30000" dirty="0" err="1"/>
              <a:t>s</a:t>
            </a:r>
            <a:r>
              <a:rPr lang="en-US" altLang="zh-CN" sz="1200" b="1" baseline="30000" dirty="0" err="1"/>
              <a:t>+</a:t>
            </a:r>
            <a:r>
              <a:rPr lang="en-US" altLang="zh-CN" sz="1200" b="1" i="1" baseline="30000" dirty="0" err="1"/>
              <a:t>k</a:t>
            </a:r>
            <a:r>
              <a:rPr lang="en-US" altLang="zh-CN" sz="1200" b="1" i="1" baseline="30000" dirty="0"/>
              <a:t> </a:t>
            </a:r>
            <a:r>
              <a:rPr lang="en-US" altLang="zh-CN" sz="1200" b="1" dirty="0"/>
              <a:t>= </a:t>
            </a:r>
            <a:r>
              <a:rPr lang="en-US" altLang="zh-CN" sz="1200" b="1" i="1" dirty="0" err="1"/>
              <a:t>R</a:t>
            </a:r>
            <a:r>
              <a:rPr lang="en-US" altLang="zh-CN" sz="1200" b="1" i="1" baseline="30000" dirty="0" err="1"/>
              <a:t>t</a:t>
            </a:r>
            <a:r>
              <a:rPr lang="en-US" altLang="zh-CN" sz="1200" b="1" baseline="30000" dirty="0" err="1"/>
              <a:t>+</a:t>
            </a:r>
            <a:r>
              <a:rPr lang="en-US" altLang="zh-CN" sz="1200" b="1" i="1" baseline="30000" dirty="0" err="1"/>
              <a:t>k</a:t>
            </a:r>
            <a:r>
              <a:rPr lang="en-US" altLang="zh-CN" sz="1200" b="1" dirty="0"/>
              <a:t> </a:t>
            </a:r>
          </a:p>
          <a:p>
            <a:pPr indent="403225" eaLnBrk="1" hangingPunct="1">
              <a:lnSpc>
                <a:spcPct val="80000"/>
              </a:lnSpc>
              <a:buFontTx/>
              <a:buNone/>
            </a:pPr>
            <a:r>
              <a:rPr lang="zh-CN" altLang="en-US" sz="1200" b="1" dirty="0"/>
              <a:t>两个幂运算相等，在增加相同的幂次数时保持不变。</a:t>
            </a:r>
            <a:endParaRPr lang="en-US" altLang="zh-CN" sz="1200" b="1" dirty="0"/>
          </a:p>
          <a:p>
            <a:pPr indent="403225" eaLnBrk="1" hangingPunct="1">
              <a:lnSpc>
                <a:spcPct val="80000"/>
              </a:lnSpc>
              <a:buFontTx/>
              <a:buNone/>
            </a:pPr>
            <a:endParaRPr lang="en-US" altLang="zh-CN" sz="1200" b="1" dirty="0"/>
          </a:p>
          <a:p>
            <a:pPr eaLnBrk="1" hangingPunct="1">
              <a:lnSpc>
                <a:spcPct val="80000"/>
              </a:lnSpc>
              <a:buFontTx/>
              <a:buNone/>
            </a:pPr>
            <a:r>
              <a:rPr lang="en-US" altLang="zh-CN" sz="1200" b="1" dirty="0"/>
              <a:t>  (2) </a:t>
            </a:r>
            <a:r>
              <a:rPr lang="zh-CN" altLang="en-US" sz="1200" b="1" dirty="0"/>
              <a:t>对任何 </a:t>
            </a:r>
            <a:r>
              <a:rPr lang="en-US" altLang="zh-CN" sz="1200" b="1" i="1" dirty="0"/>
              <a:t>k</a:t>
            </a:r>
            <a:r>
              <a:rPr lang="en-US" altLang="zh-CN" sz="1200" b="1" dirty="0"/>
              <a:t>, </a:t>
            </a:r>
            <a:r>
              <a:rPr lang="en-US" altLang="zh-CN" sz="1200" b="1" i="1" dirty="0" err="1"/>
              <a:t>i</a:t>
            </a:r>
            <a:r>
              <a:rPr lang="en-US" altLang="zh-CN" sz="1200" b="1" dirty="0" err="1"/>
              <a:t>∈N</a:t>
            </a:r>
            <a:r>
              <a:rPr lang="en-US" altLang="zh-CN" sz="1200" b="1" i="1" dirty="0"/>
              <a:t> </a:t>
            </a:r>
            <a:r>
              <a:rPr lang="zh-CN" altLang="en-US" sz="1200" b="1" dirty="0"/>
              <a:t>有</a:t>
            </a:r>
            <a:r>
              <a:rPr lang="en-US" altLang="zh-CN" sz="1200" b="1" i="1" dirty="0" err="1"/>
              <a:t>R</a:t>
            </a:r>
            <a:r>
              <a:rPr lang="en-US" altLang="zh-CN" sz="1200" b="1" i="1" baseline="30000" dirty="0" err="1"/>
              <a:t>s</a:t>
            </a:r>
            <a:r>
              <a:rPr lang="en-US" altLang="zh-CN" sz="1200" b="1" baseline="30000" dirty="0" err="1"/>
              <a:t>+</a:t>
            </a:r>
            <a:r>
              <a:rPr lang="en-US" altLang="zh-CN" sz="1200" b="1" i="1" baseline="30000" dirty="0" err="1"/>
              <a:t>kp</a:t>
            </a:r>
            <a:r>
              <a:rPr lang="en-US" altLang="zh-CN" sz="1200" b="1" baseline="30000" dirty="0" err="1"/>
              <a:t>+</a:t>
            </a:r>
            <a:r>
              <a:rPr lang="en-US" altLang="zh-CN" sz="1200" b="1" i="1" baseline="30000" dirty="0" err="1"/>
              <a:t>i</a:t>
            </a:r>
            <a:r>
              <a:rPr lang="en-US" altLang="zh-CN" sz="1200" b="1" i="1" baseline="30000" dirty="0"/>
              <a:t> </a:t>
            </a:r>
            <a:r>
              <a:rPr lang="en-US" altLang="zh-CN" sz="1200" b="1" dirty="0"/>
              <a:t>= </a:t>
            </a:r>
            <a:r>
              <a:rPr lang="en-US" altLang="zh-CN" sz="1200" b="1" i="1" dirty="0" err="1"/>
              <a:t>R</a:t>
            </a:r>
            <a:r>
              <a:rPr lang="en-US" altLang="zh-CN" sz="1200" b="1" i="1" baseline="30000" dirty="0" err="1"/>
              <a:t>s</a:t>
            </a:r>
            <a:r>
              <a:rPr lang="en-US" altLang="zh-CN" sz="1200" b="1" baseline="30000" dirty="0" err="1"/>
              <a:t>+</a:t>
            </a:r>
            <a:r>
              <a:rPr lang="en-US" altLang="zh-CN" sz="1200" b="1" i="1" baseline="30000" dirty="0" err="1"/>
              <a:t>i</a:t>
            </a:r>
            <a:r>
              <a:rPr lang="en-US" altLang="zh-CN" sz="1200" b="1" dirty="0"/>
              <a:t>, </a:t>
            </a:r>
            <a:r>
              <a:rPr lang="zh-CN" altLang="en-US" sz="1200" b="1" dirty="0"/>
              <a:t>其中</a:t>
            </a:r>
            <a:r>
              <a:rPr lang="en-US" altLang="zh-CN" sz="1200" b="1" i="1" dirty="0"/>
              <a:t>p </a:t>
            </a:r>
            <a:r>
              <a:rPr lang="en-US" altLang="zh-CN" sz="1200" b="1" dirty="0"/>
              <a:t>= </a:t>
            </a:r>
            <a:r>
              <a:rPr lang="en-US" altLang="zh-CN" sz="1200" b="1" i="1" dirty="0" err="1"/>
              <a:t>t</a:t>
            </a:r>
            <a:r>
              <a:rPr lang="en-US" altLang="zh-CN" sz="1200" b="1" dirty="0" err="1">
                <a:sym typeface="Symbol" panose="05050102010706020507" pitchFamily="18" charset="2"/>
              </a:rPr>
              <a:t></a:t>
            </a:r>
            <a:r>
              <a:rPr lang="en-US" altLang="zh-CN" sz="1200" b="1" i="1" dirty="0" err="1"/>
              <a:t>s</a:t>
            </a:r>
            <a:endParaRPr lang="en-US" altLang="zh-CN" sz="1200" b="1" i="1" dirty="0"/>
          </a:p>
          <a:p>
            <a:pPr indent="403225">
              <a:lnSpc>
                <a:spcPct val="80000"/>
              </a:lnSpc>
              <a:buNone/>
            </a:pPr>
            <a:r>
              <a:rPr lang="zh-CN" altLang="en-US" b="1" dirty="0"/>
              <a:t>两个幂运算相等的周期为</a:t>
            </a:r>
            <a:r>
              <a:rPr lang="en-US" altLang="zh-CN" sz="1200" b="1" i="1" dirty="0"/>
              <a:t>p</a:t>
            </a:r>
            <a:endParaRPr lang="en-US" altLang="zh-CN" b="1" dirty="0"/>
          </a:p>
          <a:p>
            <a:pPr eaLnBrk="1" hangingPunct="1">
              <a:lnSpc>
                <a:spcPct val="80000"/>
              </a:lnSpc>
              <a:buFontTx/>
              <a:buNone/>
            </a:pPr>
            <a:endParaRPr lang="en-US" altLang="zh-CN" sz="1200" b="1" i="1" dirty="0"/>
          </a:p>
          <a:p>
            <a:pPr eaLnBrk="1" hangingPunct="1">
              <a:lnSpc>
                <a:spcPct val="80000"/>
              </a:lnSpc>
              <a:buFontTx/>
              <a:buNone/>
            </a:pPr>
            <a:r>
              <a:rPr lang="en-US" altLang="zh-CN" sz="1200" b="1" dirty="0"/>
              <a:t>  (3) </a:t>
            </a:r>
            <a:r>
              <a:rPr lang="zh-CN" altLang="en-US" sz="1200" b="1" dirty="0"/>
              <a:t>令</a:t>
            </a:r>
            <a:r>
              <a:rPr lang="en-US" altLang="zh-CN" sz="1200" b="1" i="1" dirty="0"/>
              <a:t>S</a:t>
            </a:r>
            <a:r>
              <a:rPr lang="en-US" altLang="zh-CN" sz="1200" b="1" dirty="0"/>
              <a:t>={</a:t>
            </a:r>
            <a:r>
              <a:rPr lang="en-US" altLang="zh-CN" sz="1200" b="1" i="1" dirty="0"/>
              <a:t>R</a:t>
            </a:r>
            <a:r>
              <a:rPr lang="en-US" altLang="zh-CN" sz="1200" b="1" baseline="30000" dirty="0"/>
              <a:t>0</a:t>
            </a:r>
            <a:r>
              <a:rPr lang="en-US" altLang="zh-CN" sz="1200" b="1" dirty="0"/>
              <a:t>,</a:t>
            </a:r>
            <a:r>
              <a:rPr lang="en-US" altLang="zh-CN" sz="1200" b="1" i="1" dirty="0"/>
              <a:t>R</a:t>
            </a:r>
            <a:r>
              <a:rPr lang="en-US" altLang="zh-CN" sz="1200" b="1" baseline="30000" dirty="0"/>
              <a:t>1</a:t>
            </a:r>
            <a:r>
              <a:rPr lang="en-US" altLang="zh-CN" sz="1200" b="1" dirty="0"/>
              <a:t>, …, </a:t>
            </a:r>
            <a:r>
              <a:rPr lang="en-US" altLang="zh-CN" sz="1200" b="1" i="1" dirty="0"/>
              <a:t>R</a:t>
            </a:r>
            <a:r>
              <a:rPr lang="en-US" altLang="zh-CN" sz="1200" b="1" i="1" baseline="30000" dirty="0"/>
              <a:t>t</a:t>
            </a:r>
            <a:r>
              <a:rPr lang="en-US" altLang="zh-CN" sz="1200" b="1" baseline="30000" dirty="0">
                <a:sym typeface="Symbol" panose="05050102010706020507" pitchFamily="18" charset="2"/>
              </a:rPr>
              <a:t></a:t>
            </a:r>
            <a:r>
              <a:rPr lang="en-US" altLang="zh-CN" sz="1200" b="1" baseline="30000" dirty="0"/>
              <a:t>1</a:t>
            </a:r>
            <a:r>
              <a:rPr lang="en-US" altLang="zh-CN" sz="1200" b="1" dirty="0"/>
              <a:t>}, </a:t>
            </a:r>
            <a:r>
              <a:rPr lang="zh-CN" altLang="en-US" sz="1200" b="1" dirty="0"/>
              <a:t>则对于任意的 </a:t>
            </a:r>
            <a:r>
              <a:rPr lang="en-US" altLang="zh-CN" sz="1200" b="1" i="1" dirty="0" err="1"/>
              <a:t>q</a:t>
            </a:r>
            <a:r>
              <a:rPr lang="en-US" altLang="zh-CN" sz="1200" b="1" dirty="0" err="1"/>
              <a:t>∈N</a:t>
            </a:r>
            <a:r>
              <a:rPr lang="zh-CN" altLang="en-US" sz="1200" b="1" dirty="0"/>
              <a:t>有 </a:t>
            </a:r>
            <a:r>
              <a:rPr lang="en-US" altLang="zh-CN" sz="1200" b="1" i="1" dirty="0" err="1"/>
              <a:t>R</a:t>
            </a:r>
            <a:r>
              <a:rPr lang="en-US" altLang="zh-CN" sz="1200" b="1" i="1" baseline="30000" dirty="0" err="1"/>
              <a:t>q</a:t>
            </a:r>
            <a:r>
              <a:rPr lang="en-US" altLang="zh-CN" sz="1200" b="1" dirty="0" err="1"/>
              <a:t>∈</a:t>
            </a:r>
            <a:r>
              <a:rPr lang="en-US" altLang="zh-CN" sz="1200" b="1" i="1" dirty="0" err="1"/>
              <a:t>S</a:t>
            </a:r>
            <a:endParaRPr lang="en-US" altLang="zh-CN" sz="1200" b="1" i="1" dirty="0"/>
          </a:p>
          <a:p>
            <a:pPr indent="403225">
              <a:lnSpc>
                <a:spcPct val="80000"/>
              </a:lnSpc>
              <a:buNone/>
            </a:pPr>
            <a:r>
              <a:rPr lang="zh-CN" altLang="en-US" b="1" dirty="0"/>
              <a:t>有限集合上关系</a:t>
            </a:r>
            <a:r>
              <a:rPr lang="en-US" altLang="zh-CN" b="1" dirty="0"/>
              <a:t>R</a:t>
            </a:r>
            <a:r>
              <a:rPr lang="zh-CN" altLang="en-US" b="1" dirty="0"/>
              <a:t>的自然数次幂一定有周期存在</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29813710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41949474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8726659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12030067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39</a:t>
            </a:fld>
            <a:endParaRPr lang="zh-CN" altLang="en-US"/>
          </a:p>
        </p:txBody>
      </p:sp>
    </p:spTree>
    <p:extLst>
      <p:ext uri="{BB962C8B-B14F-4D97-AF65-F5344CB8AC3E}">
        <p14:creationId xmlns:p14="http://schemas.microsoft.com/office/powerpoint/2010/main" val="30898811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524000" eaLnBrk="1" hangingPunct="1">
              <a:spcBef>
                <a:spcPct val="50000"/>
              </a:spcBef>
              <a:buNone/>
            </a:pPr>
            <a:r>
              <a:rPr lang="en-US" altLang="zh-CN" b="1" dirty="0">
                <a:solidFill>
                  <a:srgbClr val="FF0000"/>
                </a:solidFill>
              </a:rPr>
              <a:t>4.1 </a:t>
            </a:r>
            <a:r>
              <a:rPr lang="zh-CN" altLang="en-US" b="1" dirty="0">
                <a:solidFill>
                  <a:srgbClr val="FF0000"/>
                </a:solidFill>
              </a:rPr>
              <a:t>关系的定义及其表示</a:t>
            </a:r>
            <a:endParaRPr lang="en-US" altLang="zh-CN" b="1" dirty="0">
              <a:solidFill>
                <a:srgbClr val="FF0000"/>
              </a:solidFill>
            </a:endParaRPr>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4.2 </a:t>
            </a:r>
            <a:r>
              <a:rPr lang="zh-CN" altLang="en-US" b="1" dirty="0"/>
              <a:t>关系运算</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4.3 </a:t>
            </a:r>
            <a:r>
              <a:rPr lang="zh-CN" altLang="en-US" b="1" dirty="0"/>
              <a:t>关系的性质</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4.4 </a:t>
            </a:r>
            <a:r>
              <a:rPr lang="zh-CN" altLang="en-US" b="1" dirty="0"/>
              <a:t>等价关系与偏序关系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14271014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90000"/>
              </a:lnSpc>
              <a:buNone/>
            </a:pPr>
            <a:r>
              <a:rPr lang="en-US" altLang="zh-CN" b="1" dirty="0"/>
              <a:t>4.3.1</a:t>
            </a:r>
            <a:r>
              <a:rPr lang="zh-CN" altLang="en-US" b="1" dirty="0"/>
              <a:t>关系性质的定义和判别</a:t>
            </a:r>
          </a:p>
          <a:p>
            <a:pPr lvl="1" eaLnBrk="1" hangingPunct="1">
              <a:lnSpc>
                <a:spcPct val="90000"/>
              </a:lnSpc>
            </a:pPr>
            <a:r>
              <a:rPr lang="zh-CN" altLang="en-US" b="1" dirty="0"/>
              <a:t>自反性与反自反性</a:t>
            </a:r>
          </a:p>
          <a:p>
            <a:pPr lvl="1" eaLnBrk="1" hangingPunct="1">
              <a:lnSpc>
                <a:spcPct val="90000"/>
              </a:lnSpc>
            </a:pPr>
            <a:r>
              <a:rPr lang="zh-CN" altLang="en-US" b="1" dirty="0"/>
              <a:t>对称性与反对称性</a:t>
            </a:r>
          </a:p>
          <a:p>
            <a:pPr lvl="1" eaLnBrk="1" hangingPunct="1">
              <a:lnSpc>
                <a:spcPct val="90000"/>
              </a:lnSpc>
            </a:pPr>
            <a:r>
              <a:rPr lang="zh-CN" altLang="en-US" b="1" dirty="0"/>
              <a:t>传递性</a:t>
            </a:r>
            <a:endParaRPr lang="en-US" altLang="zh-CN" b="1" dirty="0"/>
          </a:p>
          <a:p>
            <a:pPr lvl="1" eaLnBrk="1" hangingPunct="1">
              <a:lnSpc>
                <a:spcPct val="90000"/>
              </a:lnSpc>
            </a:pPr>
            <a:endParaRPr lang="zh-CN" altLang="en-US" b="1" dirty="0"/>
          </a:p>
          <a:p>
            <a:pPr marL="0" indent="0" eaLnBrk="1" hangingPunct="1">
              <a:lnSpc>
                <a:spcPct val="90000"/>
              </a:lnSpc>
              <a:spcBef>
                <a:spcPct val="50000"/>
              </a:spcBef>
              <a:buNone/>
            </a:pPr>
            <a:r>
              <a:rPr lang="en-US" altLang="zh-CN" b="1" dirty="0"/>
              <a:t>4.3.2 </a:t>
            </a:r>
            <a:r>
              <a:rPr lang="zh-CN" altLang="en-US" b="1" dirty="0"/>
              <a:t>关系的闭包</a:t>
            </a:r>
          </a:p>
          <a:p>
            <a:pPr lvl="1" eaLnBrk="1" hangingPunct="1">
              <a:lnSpc>
                <a:spcPct val="90000"/>
              </a:lnSpc>
            </a:pPr>
            <a:r>
              <a:rPr lang="zh-CN" altLang="en-US" b="1" dirty="0"/>
              <a:t>闭包定义</a:t>
            </a:r>
          </a:p>
          <a:p>
            <a:pPr lvl="1" eaLnBrk="1" hangingPunct="1">
              <a:lnSpc>
                <a:spcPct val="90000"/>
              </a:lnSpc>
            </a:pPr>
            <a:r>
              <a:rPr lang="zh-CN" altLang="en-US" b="1" dirty="0"/>
              <a:t>闭包计算</a:t>
            </a:r>
          </a:p>
          <a:p>
            <a:pPr lvl="1" eaLnBrk="1" hangingPunct="1">
              <a:lnSpc>
                <a:spcPct val="90000"/>
              </a:lnSpc>
            </a:pPr>
            <a:r>
              <a:rPr lang="zh-CN" altLang="en-US" dirty="0"/>
              <a:t> </a:t>
            </a:r>
            <a:r>
              <a:rPr lang="en-US" altLang="zh-CN" b="1" dirty="0" err="1"/>
              <a:t>Warshall</a:t>
            </a:r>
            <a:r>
              <a:rPr lang="zh-CN" altLang="en-US" b="1" dirty="0"/>
              <a:t>算法</a:t>
            </a:r>
            <a:r>
              <a:rPr lang="zh-CN" altLang="en-US" dirty="0"/>
              <a:t> </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自反性的引入有助于描述那些元素与其自身保持某种特定关系的场景，反自反性用于描述那些元素不可能与自身保持特定关系的场景。</a:t>
            </a:r>
            <a:endParaRPr lang="en-US" altLang="zh-CN" dirty="0"/>
          </a:p>
          <a:p>
            <a:endParaRPr lang="en-US" altLang="zh-CN" dirty="0"/>
          </a:p>
          <a:p>
            <a:pPr eaLnBrk="1" hangingPunct="1">
              <a:spcBef>
                <a:spcPct val="0"/>
              </a:spcBef>
              <a:buFontTx/>
              <a:buNone/>
            </a:pPr>
            <a:r>
              <a:rPr kumimoji="0" lang="zh-CN" altLang="en-US" sz="1200" b="1" dirty="0">
                <a:solidFill>
                  <a:srgbClr val="FF0000"/>
                </a:solidFill>
              </a:rPr>
              <a:t>定义</a:t>
            </a:r>
            <a:r>
              <a:rPr kumimoji="0" lang="en-US" altLang="zh-CN" sz="1200" b="1" dirty="0">
                <a:solidFill>
                  <a:srgbClr val="FF0000"/>
                </a:solidFill>
              </a:rPr>
              <a:t>4.14</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br>
              <a:rPr kumimoji="0" lang="en-US" altLang="zh-CN" sz="1200" b="1" dirty="0"/>
            </a:br>
            <a:r>
              <a:rPr kumimoji="0" lang="en-US" altLang="zh-CN" sz="1200" b="1" dirty="0"/>
              <a:t>  (1) </a:t>
            </a:r>
            <a:r>
              <a:rPr kumimoji="0" lang="zh-CN" altLang="en-US" sz="1200" b="1" dirty="0"/>
              <a:t> 若</a:t>
            </a:r>
            <a:r>
              <a:rPr kumimoji="0" lang="zh-CN" altLang="en-US" sz="1200" b="1" dirty="0">
                <a:sym typeface="Symbol" panose="05050102010706020507" pitchFamily="18" charset="2"/>
              </a:rPr>
              <a:t></a:t>
            </a:r>
            <a:r>
              <a:rPr kumimoji="0" lang="en-US" altLang="zh-CN" sz="1200" b="1" i="1" dirty="0"/>
              <a:t>x</a:t>
            </a:r>
            <a:r>
              <a:rPr kumimoji="0" lang="en-US" altLang="zh-CN" sz="1200" b="1" dirty="0"/>
              <a:t>(</a:t>
            </a:r>
            <a:r>
              <a:rPr kumimoji="0" lang="en-US" altLang="zh-CN" sz="1200" b="1" i="1" dirty="0" err="1"/>
              <a:t>x</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在</a:t>
            </a:r>
            <a:r>
              <a:rPr kumimoji="0" lang="en-US" altLang="zh-CN" sz="1200" b="1" i="1" dirty="0"/>
              <a:t>A</a:t>
            </a:r>
            <a:r>
              <a:rPr kumimoji="0" lang="zh-CN" altLang="en-US" sz="1200" b="1" dirty="0"/>
              <a:t>上是</a:t>
            </a:r>
            <a:r>
              <a:rPr kumimoji="0" lang="zh-CN" altLang="en-US" sz="1200" b="1" dirty="0">
                <a:solidFill>
                  <a:srgbClr val="FF0000"/>
                </a:solidFill>
              </a:rPr>
              <a:t>自反</a:t>
            </a:r>
            <a:r>
              <a:rPr kumimoji="0" lang="zh-CN" altLang="en-US" sz="1200" b="1" dirty="0"/>
              <a:t>的</a:t>
            </a:r>
            <a:r>
              <a:rPr kumimoji="0" lang="en-US" altLang="zh-CN" sz="1200" b="1" dirty="0"/>
              <a:t>.</a:t>
            </a:r>
            <a:br>
              <a:rPr kumimoji="0" lang="en-US" altLang="zh-CN" sz="1200" b="1" dirty="0"/>
            </a:br>
            <a:r>
              <a:rPr kumimoji="0" lang="en-US" altLang="zh-CN" sz="1200" b="1" dirty="0"/>
              <a:t>  (2) </a:t>
            </a:r>
            <a:r>
              <a:rPr kumimoji="0" lang="zh-CN" altLang="en-US" sz="1200" b="1" dirty="0"/>
              <a:t> 若</a:t>
            </a:r>
            <a:r>
              <a:rPr kumimoji="0" lang="zh-CN" altLang="en-US" sz="1200" b="1" dirty="0">
                <a:sym typeface="Symbol" panose="05050102010706020507" pitchFamily="18" charset="2"/>
              </a:rPr>
              <a:t></a:t>
            </a:r>
            <a:r>
              <a:rPr kumimoji="0" lang="en-US" altLang="zh-CN" sz="1200" b="1" i="1" dirty="0"/>
              <a:t>x</a:t>
            </a:r>
            <a:r>
              <a:rPr kumimoji="0" lang="en-US" altLang="zh-CN" sz="1200" b="1" dirty="0"/>
              <a:t>(</a:t>
            </a:r>
            <a:r>
              <a:rPr kumimoji="0" lang="en-US" altLang="zh-CN" sz="1200" b="1" i="1" dirty="0" err="1"/>
              <a:t>x</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在</a:t>
            </a:r>
            <a:r>
              <a:rPr kumimoji="0" lang="en-US" altLang="zh-CN" sz="1200" b="1" i="1" dirty="0"/>
              <a:t>A</a:t>
            </a:r>
            <a:r>
              <a:rPr kumimoji="0" lang="zh-CN" altLang="en-US" sz="1200" b="1" dirty="0"/>
              <a:t>上是</a:t>
            </a:r>
            <a:r>
              <a:rPr kumimoji="0" lang="zh-CN" altLang="en-US" sz="1200" b="1" dirty="0">
                <a:solidFill>
                  <a:srgbClr val="FF0000"/>
                </a:solidFill>
              </a:rPr>
              <a:t>反自反</a:t>
            </a:r>
            <a:r>
              <a:rPr kumimoji="0" lang="zh-CN" altLang="en-US" sz="1200" b="1" dirty="0"/>
              <a:t>的</a:t>
            </a:r>
            <a:r>
              <a:rPr kumimoji="0" lang="en-US" altLang="zh-CN" sz="1200" b="1" dirty="0"/>
              <a:t>.</a:t>
            </a:r>
            <a:br>
              <a:rPr kumimoji="0" lang="en-US" altLang="zh-CN" sz="1200" b="1" dirty="0"/>
            </a:br>
            <a:endParaRPr kumimoji="0" lang="zh-CN" altLang="en-US" sz="1200" b="1" dirty="0"/>
          </a:p>
          <a:p>
            <a:pPr eaLnBrk="1" hangingPunct="1">
              <a:spcBef>
                <a:spcPct val="0"/>
              </a:spcBef>
              <a:buFontTx/>
              <a:buNone/>
            </a:pPr>
            <a:r>
              <a:rPr kumimoji="0" lang="zh-CN" altLang="en-US" sz="1200" b="1" dirty="0">
                <a:solidFill>
                  <a:srgbClr val="00B0F0"/>
                </a:solidFill>
              </a:rPr>
              <a:t>自反</a:t>
            </a:r>
            <a:r>
              <a:rPr kumimoji="0" lang="zh-CN" altLang="en-US" sz="1200" b="1" dirty="0"/>
              <a:t>：</a:t>
            </a:r>
            <a:r>
              <a:rPr kumimoji="0" lang="en-US" altLang="zh-CN" sz="1200" b="1" i="1" dirty="0"/>
              <a:t>A</a:t>
            </a:r>
            <a:r>
              <a:rPr kumimoji="0" lang="zh-CN" altLang="en-US" sz="1200" b="1" dirty="0"/>
              <a:t>上的全域关系</a:t>
            </a:r>
            <a:r>
              <a:rPr kumimoji="0" lang="en-US" altLang="zh-CN" sz="1200" b="1" i="1" dirty="0"/>
              <a:t>E</a:t>
            </a:r>
            <a:r>
              <a:rPr kumimoji="0" lang="en-US" altLang="zh-CN" sz="1200" b="1" i="1" baseline="-25000" dirty="0"/>
              <a:t>A</a:t>
            </a:r>
            <a:r>
              <a:rPr kumimoji="0" lang="en-US" altLang="zh-CN" sz="1200" b="1" dirty="0"/>
              <a:t>, </a:t>
            </a:r>
            <a:r>
              <a:rPr kumimoji="0" lang="zh-CN" altLang="en-US" sz="1200" b="1" dirty="0"/>
              <a:t>恒等关系</a:t>
            </a:r>
            <a:r>
              <a:rPr kumimoji="0" lang="en-US" altLang="zh-CN" sz="1200" b="1" i="1" dirty="0"/>
              <a:t>I</a:t>
            </a:r>
            <a:r>
              <a:rPr kumimoji="0" lang="en-US" altLang="zh-CN" sz="1200" b="1" i="1" baseline="-25000" dirty="0"/>
              <a:t>A</a:t>
            </a:r>
            <a:r>
              <a:rPr kumimoji="0" lang="en-US" altLang="zh-CN" sz="1200" b="1" dirty="0"/>
              <a:t>, </a:t>
            </a:r>
            <a:r>
              <a:rPr kumimoji="0" lang="zh-CN" altLang="en-US" sz="1200" b="1" dirty="0"/>
              <a:t>小于等于关系</a:t>
            </a:r>
            <a:r>
              <a:rPr kumimoji="0" lang="en-US" altLang="zh-CN" sz="1200" b="1" i="1" dirty="0"/>
              <a:t>L</a:t>
            </a:r>
            <a:r>
              <a:rPr kumimoji="0" lang="en-US" altLang="zh-CN" sz="1200" b="1" i="1" baseline="-25000" dirty="0"/>
              <a:t>A</a:t>
            </a:r>
            <a:r>
              <a:rPr kumimoji="0" lang="en-US" altLang="zh-CN" sz="1200" b="1" dirty="0"/>
              <a:t>, </a:t>
            </a:r>
          </a:p>
          <a:p>
            <a:pPr eaLnBrk="1" hangingPunct="1">
              <a:spcBef>
                <a:spcPct val="0"/>
              </a:spcBef>
              <a:buFontTx/>
              <a:buNone/>
            </a:pPr>
            <a:r>
              <a:rPr kumimoji="0" lang="zh-CN" altLang="en-US" sz="1200" b="1" dirty="0"/>
              <a:t>            整除关系</a:t>
            </a:r>
            <a:r>
              <a:rPr kumimoji="0" lang="en-US" altLang="zh-CN" sz="1200" b="1" i="1" dirty="0"/>
              <a:t>D</a:t>
            </a:r>
            <a:r>
              <a:rPr kumimoji="0" lang="en-US" altLang="zh-CN" sz="1200" b="1" i="1" baseline="-25000" dirty="0"/>
              <a:t>A</a:t>
            </a:r>
            <a:endParaRPr kumimoji="0" lang="en-US" altLang="zh-CN" sz="1200" b="1" baseline="-25000" dirty="0"/>
          </a:p>
          <a:p>
            <a:pPr eaLnBrk="1" hangingPunct="1">
              <a:spcBef>
                <a:spcPct val="0"/>
              </a:spcBef>
              <a:buFontTx/>
              <a:buNone/>
            </a:pPr>
            <a:r>
              <a:rPr kumimoji="0" lang="zh-CN" altLang="en-US" sz="1200" b="1" dirty="0">
                <a:solidFill>
                  <a:srgbClr val="00B0F0"/>
                </a:solidFill>
              </a:rPr>
              <a:t>反自反</a:t>
            </a:r>
            <a:r>
              <a:rPr kumimoji="0" lang="zh-CN" altLang="en-US" sz="1200" b="1" dirty="0"/>
              <a:t>：实数集上的小于关系、幂集上的真包含关系</a:t>
            </a:r>
            <a:r>
              <a:rPr kumimoji="0" lang="en-US" altLang="zh-CN" sz="1200" b="1" dirty="0"/>
              <a: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1" dirty="0"/>
              <a:t>R</a:t>
            </a:r>
            <a:r>
              <a:rPr kumimoji="0" lang="en-US" altLang="zh-CN" sz="1200" b="1" baseline="-25000" dirty="0"/>
              <a:t>2</a:t>
            </a:r>
            <a:r>
              <a:rPr kumimoji="0" lang="zh-CN" altLang="en-US" sz="1200" b="1" dirty="0"/>
              <a:t>自反</a:t>
            </a:r>
            <a:r>
              <a:rPr kumimoji="0" lang="en-US" altLang="zh-CN" sz="1200" b="1" dirty="0"/>
              <a:t>, </a:t>
            </a:r>
            <a:r>
              <a:rPr kumimoji="0" lang="en-US" altLang="zh-CN" sz="1200" b="1" i="1" dirty="0"/>
              <a:t>R</a:t>
            </a:r>
            <a:r>
              <a:rPr kumimoji="0" lang="en-US" altLang="zh-CN" sz="1200" b="1" baseline="-25000" dirty="0"/>
              <a:t>3</a:t>
            </a:r>
            <a:r>
              <a:rPr kumimoji="0" lang="en-US" altLang="zh-CN" sz="1200" b="1" dirty="0"/>
              <a:t> </a:t>
            </a:r>
            <a:r>
              <a:rPr kumimoji="0" lang="zh-CN" altLang="en-US" sz="1200" b="1" dirty="0"/>
              <a:t>反自反</a:t>
            </a:r>
            <a:r>
              <a:rPr kumimoji="0" lang="en-US" altLang="zh-CN" sz="1200" b="1" dirty="0"/>
              <a:t>,  </a:t>
            </a:r>
            <a:r>
              <a:rPr kumimoji="0" lang="en-US" altLang="zh-CN" sz="1200" b="1" i="1" dirty="0"/>
              <a:t>R</a:t>
            </a:r>
            <a:r>
              <a:rPr kumimoji="0" lang="en-US" altLang="zh-CN" sz="1200" b="1" baseline="-25000" dirty="0"/>
              <a:t>1</a:t>
            </a:r>
            <a:r>
              <a:rPr kumimoji="0" lang="zh-CN" altLang="en-US" sz="1200" b="1" dirty="0"/>
              <a:t>既不自反也不反自反</a:t>
            </a:r>
            <a:r>
              <a:rPr kumimoji="0" lang="en-US" altLang="zh-CN" sz="1200" b="1" dirty="0">
                <a:solidFill>
                  <a:srgbClr val="007A00"/>
                </a:solidFill>
              </a:rPr>
              <a:t>.</a:t>
            </a:r>
            <a:endParaRPr kumimoji="0" lang="zh-CN" altLang="en-US" sz="1200" b="1" dirty="0">
              <a:solidFill>
                <a:schemeClr val="accent2"/>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40014476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自反性的引入有助于描述那些元素与其自身保持某种特定关系的场景，反自反性用于描述那些元素不可能与自身保持特定关系的场景。</a:t>
            </a:r>
            <a:endParaRPr lang="en-US" altLang="zh-CN" dirty="0"/>
          </a:p>
          <a:p>
            <a:endParaRPr lang="en-US" altLang="zh-CN" dirty="0"/>
          </a:p>
          <a:p>
            <a:pPr eaLnBrk="1" hangingPunct="1">
              <a:spcBef>
                <a:spcPct val="0"/>
              </a:spcBef>
              <a:buFontTx/>
              <a:buNone/>
            </a:pPr>
            <a:r>
              <a:rPr kumimoji="0" lang="zh-CN" altLang="en-US" sz="1200" b="1" dirty="0">
                <a:solidFill>
                  <a:srgbClr val="FF0000"/>
                </a:solidFill>
              </a:rPr>
              <a:t>定义</a:t>
            </a:r>
            <a:r>
              <a:rPr kumimoji="0" lang="en-US" altLang="zh-CN" sz="1200" b="1" dirty="0">
                <a:solidFill>
                  <a:srgbClr val="FF0000"/>
                </a:solidFill>
              </a:rPr>
              <a:t>4.14</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br>
              <a:rPr kumimoji="0" lang="en-US" altLang="zh-CN" sz="1200" b="1" dirty="0"/>
            </a:br>
            <a:r>
              <a:rPr kumimoji="0" lang="en-US" altLang="zh-CN" sz="1200" b="1" dirty="0"/>
              <a:t>  (1) </a:t>
            </a:r>
            <a:r>
              <a:rPr kumimoji="0" lang="zh-CN" altLang="en-US" sz="1200" b="1" dirty="0"/>
              <a:t> 若</a:t>
            </a:r>
            <a:r>
              <a:rPr kumimoji="0" lang="zh-CN" altLang="en-US" sz="1200" b="1" dirty="0">
                <a:sym typeface="Symbol" panose="05050102010706020507" pitchFamily="18" charset="2"/>
              </a:rPr>
              <a:t></a:t>
            </a:r>
            <a:r>
              <a:rPr kumimoji="0" lang="en-US" altLang="zh-CN" sz="1200" b="1" i="1" dirty="0"/>
              <a:t>x</a:t>
            </a:r>
            <a:r>
              <a:rPr kumimoji="0" lang="en-US" altLang="zh-CN" sz="1200" b="1" dirty="0"/>
              <a:t>(</a:t>
            </a:r>
            <a:r>
              <a:rPr kumimoji="0" lang="en-US" altLang="zh-CN" sz="1200" b="1" i="1" dirty="0" err="1"/>
              <a:t>x</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在</a:t>
            </a:r>
            <a:r>
              <a:rPr kumimoji="0" lang="en-US" altLang="zh-CN" sz="1200" b="1" i="1" dirty="0"/>
              <a:t>A</a:t>
            </a:r>
            <a:r>
              <a:rPr kumimoji="0" lang="zh-CN" altLang="en-US" sz="1200" b="1" dirty="0"/>
              <a:t>上是</a:t>
            </a:r>
            <a:r>
              <a:rPr kumimoji="0" lang="zh-CN" altLang="en-US" sz="1200" b="1" dirty="0">
                <a:solidFill>
                  <a:srgbClr val="FF0000"/>
                </a:solidFill>
              </a:rPr>
              <a:t>自反</a:t>
            </a:r>
            <a:r>
              <a:rPr kumimoji="0" lang="zh-CN" altLang="en-US" sz="1200" b="1" dirty="0"/>
              <a:t>的</a:t>
            </a:r>
            <a:r>
              <a:rPr kumimoji="0" lang="en-US" altLang="zh-CN" sz="1200" b="1" dirty="0"/>
              <a:t>.</a:t>
            </a:r>
            <a:br>
              <a:rPr kumimoji="0" lang="en-US" altLang="zh-CN" sz="1200" b="1" dirty="0"/>
            </a:br>
            <a:r>
              <a:rPr kumimoji="0" lang="en-US" altLang="zh-CN" sz="1200" b="1" dirty="0"/>
              <a:t>  (2) </a:t>
            </a:r>
            <a:r>
              <a:rPr kumimoji="0" lang="zh-CN" altLang="en-US" sz="1200" b="1" dirty="0"/>
              <a:t> 若</a:t>
            </a:r>
            <a:r>
              <a:rPr kumimoji="0" lang="zh-CN" altLang="en-US" sz="1200" b="1" dirty="0">
                <a:sym typeface="Symbol" panose="05050102010706020507" pitchFamily="18" charset="2"/>
              </a:rPr>
              <a:t></a:t>
            </a:r>
            <a:r>
              <a:rPr kumimoji="0" lang="en-US" altLang="zh-CN" sz="1200" b="1" i="1" dirty="0"/>
              <a:t>x</a:t>
            </a:r>
            <a:r>
              <a:rPr kumimoji="0" lang="en-US" altLang="zh-CN" sz="1200" b="1" dirty="0"/>
              <a:t>(</a:t>
            </a:r>
            <a:r>
              <a:rPr kumimoji="0" lang="en-US" altLang="zh-CN" sz="1200" b="1" i="1" dirty="0" err="1"/>
              <a:t>x</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在</a:t>
            </a:r>
            <a:r>
              <a:rPr kumimoji="0" lang="en-US" altLang="zh-CN" sz="1200" b="1" i="1" dirty="0"/>
              <a:t>A</a:t>
            </a:r>
            <a:r>
              <a:rPr kumimoji="0" lang="zh-CN" altLang="en-US" sz="1200" b="1" dirty="0"/>
              <a:t>上是</a:t>
            </a:r>
            <a:r>
              <a:rPr kumimoji="0" lang="zh-CN" altLang="en-US" sz="1200" b="1" dirty="0">
                <a:solidFill>
                  <a:srgbClr val="FF0000"/>
                </a:solidFill>
              </a:rPr>
              <a:t>反自反</a:t>
            </a:r>
            <a:r>
              <a:rPr kumimoji="0" lang="zh-CN" altLang="en-US" sz="1200" b="1" dirty="0"/>
              <a:t>的</a:t>
            </a:r>
            <a:r>
              <a:rPr kumimoji="0" lang="en-US" altLang="zh-CN" sz="1200" b="1" dirty="0"/>
              <a:t>.</a:t>
            </a:r>
            <a:br>
              <a:rPr kumimoji="0" lang="en-US" altLang="zh-CN" sz="1200" b="1" dirty="0"/>
            </a:br>
            <a:endParaRPr kumimoji="0" lang="zh-CN" altLang="en-US" sz="1200" b="1" dirty="0"/>
          </a:p>
          <a:p>
            <a:pPr eaLnBrk="1" hangingPunct="1">
              <a:spcBef>
                <a:spcPct val="0"/>
              </a:spcBef>
              <a:buFontTx/>
              <a:buNone/>
            </a:pPr>
            <a:r>
              <a:rPr kumimoji="0" lang="zh-CN" altLang="en-US" sz="1200" b="1" dirty="0">
                <a:solidFill>
                  <a:srgbClr val="00B0F0"/>
                </a:solidFill>
              </a:rPr>
              <a:t>自反</a:t>
            </a:r>
            <a:r>
              <a:rPr kumimoji="0" lang="zh-CN" altLang="en-US" sz="1200" b="1" dirty="0"/>
              <a:t>：</a:t>
            </a:r>
            <a:r>
              <a:rPr kumimoji="0" lang="en-US" altLang="zh-CN" sz="1200" b="1" i="1" dirty="0"/>
              <a:t>A</a:t>
            </a:r>
            <a:r>
              <a:rPr kumimoji="0" lang="zh-CN" altLang="en-US" sz="1200" b="1" dirty="0"/>
              <a:t>上的全域关系</a:t>
            </a:r>
            <a:r>
              <a:rPr kumimoji="0" lang="en-US" altLang="zh-CN" sz="1200" b="1" i="1" dirty="0"/>
              <a:t>E</a:t>
            </a:r>
            <a:r>
              <a:rPr kumimoji="0" lang="en-US" altLang="zh-CN" sz="1200" b="1" i="1" baseline="-25000" dirty="0"/>
              <a:t>A</a:t>
            </a:r>
            <a:r>
              <a:rPr kumimoji="0" lang="en-US" altLang="zh-CN" sz="1200" b="1" dirty="0"/>
              <a:t>, </a:t>
            </a:r>
            <a:r>
              <a:rPr kumimoji="0" lang="zh-CN" altLang="en-US" sz="1200" b="1" dirty="0"/>
              <a:t>恒等关系</a:t>
            </a:r>
            <a:r>
              <a:rPr kumimoji="0" lang="en-US" altLang="zh-CN" sz="1200" b="1" i="1" dirty="0"/>
              <a:t>I</a:t>
            </a:r>
            <a:r>
              <a:rPr kumimoji="0" lang="en-US" altLang="zh-CN" sz="1200" b="1" i="1" baseline="-25000" dirty="0"/>
              <a:t>A</a:t>
            </a:r>
            <a:r>
              <a:rPr kumimoji="0" lang="en-US" altLang="zh-CN" sz="1200" b="1" dirty="0"/>
              <a:t>, </a:t>
            </a:r>
            <a:r>
              <a:rPr kumimoji="0" lang="zh-CN" altLang="en-US" sz="1200" b="1" dirty="0"/>
              <a:t>小于等于关系</a:t>
            </a:r>
            <a:r>
              <a:rPr kumimoji="0" lang="en-US" altLang="zh-CN" sz="1200" b="1" i="1" dirty="0"/>
              <a:t>L</a:t>
            </a:r>
            <a:r>
              <a:rPr kumimoji="0" lang="en-US" altLang="zh-CN" sz="1200" b="1" i="1" baseline="-25000" dirty="0"/>
              <a:t>A</a:t>
            </a:r>
            <a:r>
              <a:rPr kumimoji="0" lang="en-US" altLang="zh-CN" sz="1200" b="1" dirty="0"/>
              <a:t>, </a:t>
            </a:r>
          </a:p>
          <a:p>
            <a:pPr eaLnBrk="1" hangingPunct="1">
              <a:spcBef>
                <a:spcPct val="0"/>
              </a:spcBef>
              <a:buFontTx/>
              <a:buNone/>
            </a:pPr>
            <a:r>
              <a:rPr kumimoji="0" lang="zh-CN" altLang="en-US" sz="1200" b="1" dirty="0"/>
              <a:t>            整除关系</a:t>
            </a:r>
            <a:r>
              <a:rPr kumimoji="0" lang="en-US" altLang="zh-CN" sz="1200" b="1" i="1" dirty="0"/>
              <a:t>D</a:t>
            </a:r>
            <a:r>
              <a:rPr kumimoji="0" lang="en-US" altLang="zh-CN" sz="1200" b="1" i="1" baseline="-25000" dirty="0"/>
              <a:t>A</a:t>
            </a:r>
            <a:endParaRPr kumimoji="0" lang="en-US" altLang="zh-CN" sz="1200" b="1" baseline="-25000" dirty="0"/>
          </a:p>
          <a:p>
            <a:pPr eaLnBrk="1" hangingPunct="1">
              <a:spcBef>
                <a:spcPct val="0"/>
              </a:spcBef>
              <a:buFontTx/>
              <a:buNone/>
            </a:pPr>
            <a:r>
              <a:rPr kumimoji="0" lang="zh-CN" altLang="en-US" sz="1200" b="1" dirty="0">
                <a:solidFill>
                  <a:srgbClr val="00B0F0"/>
                </a:solidFill>
              </a:rPr>
              <a:t>反自反</a:t>
            </a:r>
            <a:r>
              <a:rPr kumimoji="0" lang="zh-CN" altLang="en-US" sz="1200" b="1" dirty="0"/>
              <a:t>：实数集上的小于关系、幂集上的真包含关系</a:t>
            </a:r>
            <a:r>
              <a:rPr kumimoji="0" lang="en-US" altLang="zh-CN" sz="1200" b="1" dirty="0"/>
              <a: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1" dirty="0"/>
              <a:t>R</a:t>
            </a:r>
            <a:r>
              <a:rPr kumimoji="0" lang="en-US" altLang="zh-CN" sz="1200" b="1" baseline="-25000" dirty="0"/>
              <a:t>2</a:t>
            </a:r>
            <a:r>
              <a:rPr kumimoji="0" lang="zh-CN" altLang="en-US" sz="1200" b="1" dirty="0"/>
              <a:t>自反</a:t>
            </a:r>
            <a:r>
              <a:rPr kumimoji="0" lang="en-US" altLang="zh-CN" sz="1200" b="1" dirty="0"/>
              <a:t>, </a:t>
            </a:r>
            <a:r>
              <a:rPr kumimoji="0" lang="en-US" altLang="zh-CN" sz="1200" b="1" i="1" dirty="0"/>
              <a:t>R</a:t>
            </a:r>
            <a:r>
              <a:rPr kumimoji="0" lang="en-US" altLang="zh-CN" sz="1200" b="1" baseline="-25000" dirty="0"/>
              <a:t>3</a:t>
            </a:r>
            <a:r>
              <a:rPr kumimoji="0" lang="en-US" altLang="zh-CN" sz="1200" b="1" dirty="0"/>
              <a:t> </a:t>
            </a:r>
            <a:r>
              <a:rPr kumimoji="0" lang="zh-CN" altLang="en-US" sz="1200" b="1" dirty="0"/>
              <a:t>反自反</a:t>
            </a:r>
            <a:r>
              <a:rPr kumimoji="0" lang="en-US" altLang="zh-CN" sz="1200" b="1" dirty="0"/>
              <a:t>,  </a:t>
            </a:r>
            <a:r>
              <a:rPr kumimoji="0" lang="en-US" altLang="zh-CN" sz="1200" b="1" i="1" dirty="0"/>
              <a:t>R</a:t>
            </a:r>
            <a:r>
              <a:rPr kumimoji="0" lang="en-US" altLang="zh-CN" sz="1200" b="1" baseline="-25000" dirty="0"/>
              <a:t>1</a:t>
            </a:r>
            <a:r>
              <a:rPr kumimoji="0" lang="zh-CN" altLang="en-US" sz="1200" b="1" dirty="0"/>
              <a:t>既不自反也不反自反</a:t>
            </a:r>
            <a:r>
              <a:rPr kumimoji="0" lang="en-US" altLang="zh-CN" sz="1200" b="1" dirty="0">
                <a:solidFill>
                  <a:srgbClr val="007A00"/>
                </a:solidFill>
              </a:rPr>
              <a:t>.</a:t>
            </a:r>
            <a:endParaRPr kumimoji="0" lang="zh-CN" altLang="en-US" sz="1200" b="1" dirty="0">
              <a:solidFill>
                <a:schemeClr val="accent2"/>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3691987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spcBef>
                <a:spcPct val="0"/>
              </a:spcBef>
              <a:buFontTx/>
              <a:buNone/>
            </a:pPr>
            <a:endParaRPr kumimoji="0" lang="en-US" altLang="zh-CN" sz="1200" b="1" dirty="0">
              <a:solidFill>
                <a:srgbClr val="FF0000"/>
              </a:solidFill>
            </a:endParaRPr>
          </a:p>
          <a:p>
            <a:pPr marL="0" marR="0" lvl="0" indent="0" algn="l" defTabSz="914400" rtl="0" eaLnBrk="1" fontAlgn="auto" latinLnBrk="0" hangingPunct="1">
              <a:lnSpc>
                <a:spcPct val="110000"/>
              </a:lnSpc>
              <a:spcBef>
                <a:spcPct val="0"/>
              </a:spcBef>
              <a:spcAft>
                <a:spcPts val="0"/>
              </a:spcAft>
              <a:buClrTx/>
              <a:buSzTx/>
              <a:buFontTx/>
              <a:buNone/>
              <a:tabLst/>
              <a:defRPr/>
            </a:pPr>
            <a:r>
              <a:rPr lang="zh-CN" altLang="en-US" dirty="0"/>
              <a:t>公式（</a:t>
            </a:r>
            <a:r>
              <a:rPr lang="en-US" altLang="zh-CN" dirty="0"/>
              <a:t>1</a:t>
            </a:r>
            <a:r>
              <a:rPr lang="zh-CN" altLang="en-US" dirty="0"/>
              <a:t>）需要针对</a:t>
            </a:r>
            <a:r>
              <a:rPr lang="zh-CN" altLang="en-US" b="1" dirty="0"/>
              <a:t>集合 </a:t>
            </a:r>
            <a:r>
              <a:rPr lang="en-US" altLang="zh-CN" b="1" dirty="0"/>
              <a:t>A </a:t>
            </a:r>
            <a:r>
              <a:rPr lang="zh-CN" altLang="en-US" b="1" dirty="0"/>
              <a:t>中的所有元素</a:t>
            </a:r>
            <a:r>
              <a:rPr lang="zh-CN" altLang="en-US" dirty="0"/>
              <a:t>进行检查，但它只对满足 （</a:t>
            </a:r>
            <a:r>
              <a:rPr lang="en-US" altLang="zh-CN" dirty="0" err="1"/>
              <a:t>x,y</a:t>
            </a:r>
            <a:r>
              <a:rPr lang="zh-CN" altLang="en-US" dirty="0"/>
              <a:t>）</a:t>
            </a:r>
            <a:r>
              <a:rPr lang="en-US" altLang="zh-CN" dirty="0"/>
              <a:t>∈R</a:t>
            </a:r>
            <a:r>
              <a:rPr lang="zh-CN" altLang="en-US"/>
              <a:t>的</a:t>
            </a:r>
            <a:r>
              <a:rPr lang="zh-CN" altLang="en-US" dirty="0"/>
              <a:t>元素对施加条件。</a:t>
            </a:r>
          </a:p>
          <a:p>
            <a:pPr eaLnBrk="1" hangingPunct="1">
              <a:lnSpc>
                <a:spcPct val="110000"/>
              </a:lnSpc>
              <a:spcBef>
                <a:spcPct val="0"/>
              </a:spcBef>
              <a:buFontTx/>
              <a:buNone/>
            </a:pPr>
            <a:endParaRPr kumimoji="0" lang="en-US" altLang="zh-CN" sz="1200" b="1" dirty="0">
              <a:solidFill>
                <a:srgbClr val="FF0000"/>
              </a:solidFill>
            </a:endParaRPr>
          </a:p>
          <a:p>
            <a:pPr eaLnBrk="1" hangingPunct="1">
              <a:lnSpc>
                <a:spcPct val="11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4.15</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br>
              <a:rPr kumimoji="0" lang="en-US" altLang="zh-CN" sz="1200" b="1" dirty="0"/>
            </a:br>
            <a:r>
              <a:rPr kumimoji="0" lang="en-US" altLang="zh-CN" sz="1200" b="1" dirty="0"/>
              <a:t>(1)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为</a:t>
            </a:r>
            <a:r>
              <a:rPr kumimoji="0" lang="en-US" altLang="zh-CN" sz="1200" b="1" i="1" dirty="0"/>
              <a:t>A</a:t>
            </a:r>
            <a:r>
              <a:rPr kumimoji="0" lang="zh-CN" altLang="en-US" sz="1200" b="1" dirty="0"/>
              <a:t>上</a:t>
            </a:r>
          </a:p>
          <a:p>
            <a:pPr eaLnBrk="1" hangingPunct="1">
              <a:lnSpc>
                <a:spcPct val="110000"/>
              </a:lnSpc>
              <a:spcBef>
                <a:spcPct val="0"/>
              </a:spcBef>
              <a:buFontTx/>
              <a:buNone/>
            </a:pPr>
            <a:r>
              <a:rPr kumimoji="0" lang="zh-CN" altLang="en-US" sz="1200" b="1" dirty="0"/>
              <a:t>       </a:t>
            </a:r>
            <a:r>
              <a:rPr kumimoji="0" lang="zh-CN" altLang="en-US" sz="1200" b="1" dirty="0">
                <a:solidFill>
                  <a:srgbClr val="FF0000"/>
                </a:solidFill>
              </a:rPr>
              <a:t>对称</a:t>
            </a:r>
            <a:r>
              <a:rPr kumimoji="0" lang="zh-CN" altLang="en-US" sz="1200" b="1" dirty="0"/>
              <a:t>的关系</a:t>
            </a:r>
            <a:r>
              <a:rPr kumimoji="0" lang="en-US" altLang="zh-CN" sz="1200" b="1" dirty="0"/>
              <a:t>.</a:t>
            </a:r>
            <a:br>
              <a:rPr kumimoji="0" lang="en-US" altLang="zh-CN" sz="1200" b="1" dirty="0"/>
            </a:br>
            <a:r>
              <a:rPr kumimoji="0" lang="en-US" altLang="zh-CN" sz="1200" b="1" dirty="0"/>
              <a:t>(2)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err="1"/>
              <a:t>R</a:t>
            </a:r>
            <a:r>
              <a:rPr kumimoji="0" lang="en-US" altLang="zh-CN" sz="1200" b="1" dirty="0" err="1"/>
              <a:t>→</a:t>
            </a:r>
            <a:r>
              <a:rPr kumimoji="0" lang="en-US" altLang="zh-CN" sz="1200" b="1" i="1" dirty="0" err="1"/>
              <a:t>x</a:t>
            </a:r>
            <a:r>
              <a:rPr kumimoji="0" lang="en-US" altLang="zh-CN" sz="1200" b="1" dirty="0"/>
              <a:t>=</a:t>
            </a:r>
            <a:r>
              <a:rPr kumimoji="0" lang="en-US" altLang="zh-CN" sz="1200" b="1" i="1" dirty="0"/>
              <a:t>y</a:t>
            </a:r>
            <a:r>
              <a:rPr kumimoji="0" lang="en-US" altLang="zh-CN" sz="1200" b="1" dirty="0"/>
              <a:t>),  </a:t>
            </a:r>
            <a:r>
              <a:rPr kumimoji="0" lang="zh-CN" altLang="en-US" sz="1200" b="1" dirty="0"/>
              <a:t>则称</a:t>
            </a:r>
            <a:r>
              <a:rPr kumimoji="0" lang="en-US" altLang="zh-CN" sz="1200" b="1" i="1" dirty="0"/>
              <a:t>R</a:t>
            </a:r>
          </a:p>
          <a:p>
            <a:pPr eaLnBrk="1" hangingPunct="1">
              <a:lnSpc>
                <a:spcPct val="110000"/>
              </a:lnSpc>
              <a:spcBef>
                <a:spcPct val="0"/>
              </a:spcBef>
              <a:buFontTx/>
              <a:buNone/>
            </a:pPr>
            <a:r>
              <a:rPr kumimoji="0" lang="zh-CN" altLang="en-US" sz="1200" b="1" i="1" dirty="0"/>
              <a:t>       </a:t>
            </a:r>
            <a:r>
              <a:rPr kumimoji="0" lang="zh-CN" altLang="en-US" sz="1200" b="1" dirty="0"/>
              <a:t>为</a:t>
            </a:r>
            <a:r>
              <a:rPr kumimoji="0" lang="en-US" altLang="zh-CN" sz="1200" b="1" i="1" dirty="0"/>
              <a:t>A</a:t>
            </a:r>
            <a:r>
              <a:rPr kumimoji="0" lang="zh-CN" altLang="en-US" sz="1200" b="1" dirty="0"/>
              <a:t>上的</a:t>
            </a:r>
            <a:r>
              <a:rPr kumimoji="0" lang="zh-CN" altLang="en-US" sz="1200" b="1" dirty="0">
                <a:solidFill>
                  <a:srgbClr val="FF0000"/>
                </a:solidFill>
              </a:rPr>
              <a:t>反对称</a:t>
            </a:r>
            <a:r>
              <a:rPr kumimoji="0" lang="zh-CN" altLang="en-US" sz="1200" b="1" dirty="0"/>
              <a:t>关系</a:t>
            </a:r>
            <a:r>
              <a:rPr kumimoji="0" lang="en-US" altLang="zh-CN" sz="1200" b="1" dirty="0"/>
              <a:t>.</a:t>
            </a:r>
            <a:br>
              <a:rPr kumimoji="0" lang="en-US" altLang="zh-CN" sz="1200" b="1" dirty="0"/>
            </a:br>
            <a:r>
              <a:rPr kumimoji="0" lang="zh-CN" altLang="en-US" sz="1200" b="1" dirty="0">
                <a:solidFill>
                  <a:srgbClr val="00B0F0"/>
                </a:solidFill>
              </a:rPr>
              <a:t>实例</a:t>
            </a:r>
            <a:r>
              <a:rPr kumimoji="0" lang="zh-CN" altLang="en-US" sz="1200" b="1" dirty="0">
                <a:solidFill>
                  <a:srgbClr val="000066"/>
                </a:solidFill>
              </a:rPr>
              <a:t>   对称：</a:t>
            </a:r>
            <a:r>
              <a:rPr kumimoji="0" lang="en-US" altLang="zh-CN" sz="1200" b="1" i="1" dirty="0">
                <a:solidFill>
                  <a:srgbClr val="000066"/>
                </a:solidFill>
              </a:rPr>
              <a:t>A</a:t>
            </a:r>
            <a:r>
              <a:rPr kumimoji="0" lang="zh-CN" altLang="en-US" sz="1200" b="1" dirty="0">
                <a:solidFill>
                  <a:srgbClr val="000066"/>
                </a:solidFill>
              </a:rPr>
              <a:t>上的全域关系</a:t>
            </a:r>
            <a:r>
              <a:rPr kumimoji="0" lang="en-US" altLang="zh-CN" sz="1200" b="1" i="1" dirty="0">
                <a:solidFill>
                  <a:srgbClr val="000066"/>
                </a:solidFill>
              </a:rPr>
              <a:t>E</a:t>
            </a:r>
            <a:r>
              <a:rPr kumimoji="0" lang="en-US" altLang="zh-CN" sz="1200" b="1" i="1" baseline="-25000" dirty="0">
                <a:solidFill>
                  <a:srgbClr val="000066"/>
                </a:solidFill>
              </a:rPr>
              <a:t>A</a:t>
            </a:r>
            <a:r>
              <a:rPr kumimoji="0" lang="en-US" altLang="zh-CN" sz="1200" b="1" dirty="0">
                <a:solidFill>
                  <a:srgbClr val="000066"/>
                </a:solidFill>
              </a:rPr>
              <a:t>, </a:t>
            </a:r>
            <a:r>
              <a:rPr kumimoji="0" lang="zh-CN" altLang="en-US" sz="1200" b="1" dirty="0">
                <a:solidFill>
                  <a:srgbClr val="000066"/>
                </a:solidFill>
              </a:rPr>
              <a:t>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dirty="0">
                <a:solidFill>
                  <a:srgbClr val="000066"/>
                </a:solidFill>
              </a:rPr>
              <a:t>和空关系</a:t>
            </a:r>
            <a:r>
              <a:rPr kumimoji="0" lang="zh-CN" altLang="en-US" sz="1200" b="1" dirty="0">
                <a:solidFill>
                  <a:srgbClr val="000066"/>
                </a:solidFill>
                <a:sym typeface="Symbol" panose="05050102010706020507" pitchFamily="18" charset="2"/>
              </a:rPr>
              <a:t></a:t>
            </a:r>
            <a:endParaRPr kumimoji="0" lang="zh-CN" altLang="en-US" sz="1200" b="1" dirty="0">
              <a:solidFill>
                <a:srgbClr val="000066"/>
              </a:solidFill>
            </a:endParaRPr>
          </a:p>
          <a:p>
            <a:pPr eaLnBrk="1" hangingPunct="1">
              <a:lnSpc>
                <a:spcPct val="110000"/>
              </a:lnSpc>
              <a:spcBef>
                <a:spcPct val="0"/>
              </a:spcBef>
              <a:buFontTx/>
              <a:buNone/>
            </a:pPr>
            <a:r>
              <a:rPr kumimoji="0" lang="zh-CN" altLang="en-US" sz="1200" b="1" dirty="0">
                <a:solidFill>
                  <a:srgbClr val="000066"/>
                </a:solidFill>
              </a:rPr>
              <a:t>           反对称：恒等关系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i="1" dirty="0">
                <a:solidFill>
                  <a:srgbClr val="000066"/>
                </a:solidFill>
              </a:rPr>
              <a:t>，</a:t>
            </a:r>
            <a:r>
              <a:rPr kumimoji="0" lang="zh-CN" altLang="en-US" sz="1200" b="1" dirty="0">
                <a:solidFill>
                  <a:srgbClr val="000066"/>
                </a:solidFill>
              </a:rPr>
              <a:t>空关系是</a:t>
            </a:r>
            <a:r>
              <a:rPr kumimoji="0" lang="en-US" altLang="zh-CN" sz="1200" b="1" i="1" dirty="0">
                <a:solidFill>
                  <a:srgbClr val="000066"/>
                </a:solidFill>
              </a:rPr>
              <a:t>A</a:t>
            </a:r>
            <a:r>
              <a:rPr kumimoji="0" lang="zh-CN" altLang="en-US" sz="1200" b="1" dirty="0">
                <a:solidFill>
                  <a:srgbClr val="000066"/>
                </a:solidFill>
              </a:rPr>
              <a:t>上的反对称关系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21808071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4.15</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br>
              <a:rPr kumimoji="0" lang="en-US" altLang="zh-CN" sz="1200" b="1" dirty="0"/>
            </a:br>
            <a:r>
              <a:rPr kumimoji="0" lang="en-US" altLang="zh-CN" sz="1200" b="1" dirty="0"/>
              <a:t>(1)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为</a:t>
            </a:r>
            <a:r>
              <a:rPr kumimoji="0" lang="en-US" altLang="zh-CN" sz="1200" b="1" i="1" dirty="0"/>
              <a:t>A</a:t>
            </a:r>
            <a:r>
              <a:rPr kumimoji="0" lang="zh-CN" altLang="en-US" sz="1200" b="1" dirty="0"/>
              <a:t>上</a:t>
            </a:r>
          </a:p>
          <a:p>
            <a:pPr eaLnBrk="1" hangingPunct="1">
              <a:lnSpc>
                <a:spcPct val="110000"/>
              </a:lnSpc>
              <a:spcBef>
                <a:spcPct val="0"/>
              </a:spcBef>
              <a:buFontTx/>
              <a:buNone/>
            </a:pPr>
            <a:r>
              <a:rPr kumimoji="0" lang="zh-CN" altLang="en-US" sz="1200" b="1" dirty="0"/>
              <a:t>       </a:t>
            </a:r>
            <a:r>
              <a:rPr kumimoji="0" lang="zh-CN" altLang="en-US" sz="1200" b="1" dirty="0">
                <a:solidFill>
                  <a:srgbClr val="FF0000"/>
                </a:solidFill>
              </a:rPr>
              <a:t>对称</a:t>
            </a:r>
            <a:r>
              <a:rPr kumimoji="0" lang="zh-CN" altLang="en-US" sz="1200" b="1" dirty="0"/>
              <a:t>的关系</a:t>
            </a:r>
            <a:r>
              <a:rPr kumimoji="0" lang="en-US" altLang="zh-CN" sz="1200" b="1" dirty="0"/>
              <a:t>.</a:t>
            </a:r>
            <a:br>
              <a:rPr kumimoji="0" lang="en-US" altLang="zh-CN" sz="1200" b="1" dirty="0"/>
            </a:br>
            <a:r>
              <a:rPr kumimoji="0" lang="en-US" altLang="zh-CN" sz="1200" b="1" dirty="0"/>
              <a:t>(2)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err="1"/>
              <a:t>R</a:t>
            </a:r>
            <a:r>
              <a:rPr kumimoji="0" lang="en-US" altLang="zh-CN" sz="1200" b="1" dirty="0" err="1"/>
              <a:t>→</a:t>
            </a:r>
            <a:r>
              <a:rPr kumimoji="0" lang="en-US" altLang="zh-CN" sz="1200" b="1" i="1" dirty="0" err="1"/>
              <a:t>x</a:t>
            </a:r>
            <a:r>
              <a:rPr kumimoji="0" lang="en-US" altLang="zh-CN" sz="1200" b="1" dirty="0"/>
              <a:t>=</a:t>
            </a:r>
            <a:r>
              <a:rPr kumimoji="0" lang="en-US" altLang="zh-CN" sz="1200" b="1" i="1" dirty="0"/>
              <a:t>y</a:t>
            </a:r>
            <a:r>
              <a:rPr kumimoji="0" lang="en-US" altLang="zh-CN" sz="1200" b="1" dirty="0"/>
              <a:t>),  </a:t>
            </a:r>
            <a:r>
              <a:rPr kumimoji="0" lang="zh-CN" altLang="en-US" sz="1200" b="1" dirty="0"/>
              <a:t>则称</a:t>
            </a:r>
            <a:r>
              <a:rPr kumimoji="0" lang="en-US" altLang="zh-CN" sz="1200" b="1" i="1" dirty="0"/>
              <a:t>R</a:t>
            </a:r>
          </a:p>
          <a:p>
            <a:pPr eaLnBrk="1" hangingPunct="1">
              <a:lnSpc>
                <a:spcPct val="110000"/>
              </a:lnSpc>
              <a:spcBef>
                <a:spcPct val="0"/>
              </a:spcBef>
              <a:buFontTx/>
              <a:buNone/>
            </a:pPr>
            <a:r>
              <a:rPr kumimoji="0" lang="zh-CN" altLang="en-US" sz="1200" b="1" i="1" dirty="0"/>
              <a:t>       </a:t>
            </a:r>
            <a:r>
              <a:rPr kumimoji="0" lang="zh-CN" altLang="en-US" sz="1200" b="1" dirty="0"/>
              <a:t>为</a:t>
            </a:r>
            <a:r>
              <a:rPr kumimoji="0" lang="en-US" altLang="zh-CN" sz="1200" b="1" i="1" dirty="0"/>
              <a:t>A</a:t>
            </a:r>
            <a:r>
              <a:rPr kumimoji="0" lang="zh-CN" altLang="en-US" sz="1200" b="1" dirty="0"/>
              <a:t>上的</a:t>
            </a:r>
            <a:r>
              <a:rPr kumimoji="0" lang="zh-CN" altLang="en-US" sz="1200" b="1" dirty="0">
                <a:solidFill>
                  <a:srgbClr val="FF0000"/>
                </a:solidFill>
              </a:rPr>
              <a:t>反对称</a:t>
            </a:r>
            <a:r>
              <a:rPr kumimoji="0" lang="zh-CN" altLang="en-US" sz="1200" b="1" dirty="0"/>
              <a:t>关系</a:t>
            </a:r>
            <a:r>
              <a:rPr kumimoji="0" lang="en-US" altLang="zh-CN" sz="1200" b="1" dirty="0"/>
              <a:t>.</a:t>
            </a:r>
            <a:br>
              <a:rPr kumimoji="0" lang="en-US" altLang="zh-CN" sz="1200" b="1" dirty="0"/>
            </a:br>
            <a:r>
              <a:rPr kumimoji="0" lang="zh-CN" altLang="en-US" sz="1200" b="1" dirty="0">
                <a:solidFill>
                  <a:srgbClr val="00B0F0"/>
                </a:solidFill>
              </a:rPr>
              <a:t>实例</a:t>
            </a:r>
            <a:r>
              <a:rPr kumimoji="0" lang="zh-CN" altLang="en-US" sz="1200" b="1" dirty="0">
                <a:solidFill>
                  <a:srgbClr val="000066"/>
                </a:solidFill>
              </a:rPr>
              <a:t>   对称：</a:t>
            </a:r>
            <a:r>
              <a:rPr kumimoji="0" lang="en-US" altLang="zh-CN" sz="1200" b="1" i="1" dirty="0">
                <a:solidFill>
                  <a:srgbClr val="000066"/>
                </a:solidFill>
              </a:rPr>
              <a:t>A</a:t>
            </a:r>
            <a:r>
              <a:rPr kumimoji="0" lang="zh-CN" altLang="en-US" sz="1200" b="1" dirty="0">
                <a:solidFill>
                  <a:srgbClr val="000066"/>
                </a:solidFill>
              </a:rPr>
              <a:t>上的全域关系</a:t>
            </a:r>
            <a:r>
              <a:rPr kumimoji="0" lang="en-US" altLang="zh-CN" sz="1200" b="1" i="1" dirty="0">
                <a:solidFill>
                  <a:srgbClr val="000066"/>
                </a:solidFill>
              </a:rPr>
              <a:t>E</a:t>
            </a:r>
            <a:r>
              <a:rPr kumimoji="0" lang="en-US" altLang="zh-CN" sz="1200" b="1" i="1" baseline="-25000" dirty="0">
                <a:solidFill>
                  <a:srgbClr val="000066"/>
                </a:solidFill>
              </a:rPr>
              <a:t>A</a:t>
            </a:r>
            <a:r>
              <a:rPr kumimoji="0" lang="en-US" altLang="zh-CN" sz="1200" b="1" dirty="0">
                <a:solidFill>
                  <a:srgbClr val="000066"/>
                </a:solidFill>
              </a:rPr>
              <a:t>, </a:t>
            </a:r>
            <a:r>
              <a:rPr kumimoji="0" lang="zh-CN" altLang="en-US" sz="1200" b="1" dirty="0">
                <a:solidFill>
                  <a:srgbClr val="000066"/>
                </a:solidFill>
              </a:rPr>
              <a:t>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dirty="0">
                <a:solidFill>
                  <a:srgbClr val="000066"/>
                </a:solidFill>
              </a:rPr>
              <a:t>和空关系</a:t>
            </a:r>
            <a:r>
              <a:rPr kumimoji="0" lang="zh-CN" altLang="en-US" sz="1200" b="1" dirty="0">
                <a:solidFill>
                  <a:srgbClr val="000066"/>
                </a:solidFill>
                <a:sym typeface="Symbol" panose="05050102010706020507" pitchFamily="18" charset="2"/>
              </a:rPr>
              <a:t></a:t>
            </a:r>
            <a:endParaRPr kumimoji="0" lang="zh-CN" altLang="en-US" sz="1200" b="1" dirty="0">
              <a:solidFill>
                <a:srgbClr val="000066"/>
              </a:solidFill>
            </a:endParaRPr>
          </a:p>
          <a:p>
            <a:pPr eaLnBrk="1" hangingPunct="1">
              <a:lnSpc>
                <a:spcPct val="110000"/>
              </a:lnSpc>
              <a:spcBef>
                <a:spcPct val="0"/>
              </a:spcBef>
              <a:buFontTx/>
              <a:buNone/>
            </a:pPr>
            <a:r>
              <a:rPr kumimoji="0" lang="zh-CN" altLang="en-US" sz="1200" b="1" dirty="0">
                <a:solidFill>
                  <a:srgbClr val="000066"/>
                </a:solidFill>
              </a:rPr>
              <a:t>           反对称：恒等关系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i="1" dirty="0">
                <a:solidFill>
                  <a:srgbClr val="000066"/>
                </a:solidFill>
              </a:rPr>
              <a:t>，</a:t>
            </a:r>
            <a:r>
              <a:rPr kumimoji="0" lang="zh-CN" altLang="en-US" sz="1200" b="1" dirty="0">
                <a:solidFill>
                  <a:srgbClr val="000066"/>
                </a:solidFill>
              </a:rPr>
              <a:t>空关系是</a:t>
            </a:r>
            <a:r>
              <a:rPr kumimoji="0" lang="en-US" altLang="zh-CN" sz="1200" b="1" i="1" dirty="0">
                <a:solidFill>
                  <a:srgbClr val="000066"/>
                </a:solidFill>
              </a:rPr>
              <a:t>A</a:t>
            </a:r>
            <a:r>
              <a:rPr kumimoji="0" lang="zh-CN" altLang="en-US" sz="1200" b="1" dirty="0">
                <a:solidFill>
                  <a:srgbClr val="000066"/>
                </a:solidFill>
              </a:rPr>
              <a:t>上的反对称关系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33800279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4.15</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br>
              <a:rPr kumimoji="0" lang="en-US" altLang="zh-CN" sz="1200" b="1" dirty="0"/>
            </a:br>
            <a:r>
              <a:rPr kumimoji="0" lang="en-US" altLang="zh-CN" sz="1200" b="1" dirty="0"/>
              <a:t>(1)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a:t>R</a:t>
            </a:r>
            <a:r>
              <a:rPr kumimoji="0" lang="en-US" altLang="zh-CN" sz="1200" b="1" dirty="0"/>
              <a:t>),  </a:t>
            </a:r>
            <a:r>
              <a:rPr kumimoji="0" lang="zh-CN" altLang="en-US" sz="1200" b="1" dirty="0"/>
              <a:t>则称</a:t>
            </a:r>
            <a:r>
              <a:rPr kumimoji="0" lang="en-US" altLang="zh-CN" sz="1200" b="1" i="1" dirty="0"/>
              <a:t>R</a:t>
            </a:r>
            <a:r>
              <a:rPr kumimoji="0" lang="zh-CN" altLang="en-US" sz="1200" b="1" dirty="0"/>
              <a:t>为</a:t>
            </a:r>
            <a:r>
              <a:rPr kumimoji="0" lang="en-US" altLang="zh-CN" sz="1200" b="1" i="1" dirty="0"/>
              <a:t>A</a:t>
            </a:r>
            <a:r>
              <a:rPr kumimoji="0" lang="zh-CN" altLang="en-US" sz="1200" b="1" dirty="0"/>
              <a:t>上</a:t>
            </a:r>
          </a:p>
          <a:p>
            <a:pPr eaLnBrk="1" hangingPunct="1">
              <a:lnSpc>
                <a:spcPct val="110000"/>
              </a:lnSpc>
              <a:spcBef>
                <a:spcPct val="0"/>
              </a:spcBef>
              <a:buFontTx/>
              <a:buNone/>
            </a:pPr>
            <a:r>
              <a:rPr kumimoji="0" lang="zh-CN" altLang="en-US" sz="1200" b="1" dirty="0"/>
              <a:t>       </a:t>
            </a:r>
            <a:r>
              <a:rPr kumimoji="0" lang="zh-CN" altLang="en-US" sz="1200" b="1" dirty="0">
                <a:solidFill>
                  <a:srgbClr val="FF0000"/>
                </a:solidFill>
              </a:rPr>
              <a:t>对称</a:t>
            </a:r>
            <a:r>
              <a:rPr kumimoji="0" lang="zh-CN" altLang="en-US" sz="1200" b="1" dirty="0"/>
              <a:t>的关系</a:t>
            </a:r>
            <a:r>
              <a:rPr kumimoji="0" lang="en-US" altLang="zh-CN" sz="1200" b="1" dirty="0"/>
              <a:t>.</a:t>
            </a:r>
            <a:br>
              <a:rPr kumimoji="0" lang="en-US" altLang="zh-CN" sz="1200" b="1" dirty="0"/>
            </a:br>
            <a:r>
              <a:rPr kumimoji="0" lang="en-US" altLang="zh-CN" sz="1200" b="1" dirty="0"/>
              <a:t>(2) </a:t>
            </a:r>
            <a:r>
              <a:rPr kumimoji="0" lang="zh-CN" altLang="en-US" sz="1200" b="1" dirty="0"/>
              <a:t> 若</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x</a:t>
            </a:r>
            <a:r>
              <a:rPr kumimoji="0" lang="en-US" altLang="zh-CN" sz="1200" b="1" dirty="0"/>
              <a:t>&gt;∈</a:t>
            </a:r>
            <a:r>
              <a:rPr kumimoji="0" lang="en-US" altLang="zh-CN" sz="1200" b="1" i="1" dirty="0" err="1"/>
              <a:t>R</a:t>
            </a:r>
            <a:r>
              <a:rPr kumimoji="0" lang="en-US" altLang="zh-CN" sz="1200" b="1" dirty="0" err="1"/>
              <a:t>→</a:t>
            </a:r>
            <a:r>
              <a:rPr kumimoji="0" lang="en-US" altLang="zh-CN" sz="1200" b="1" i="1" dirty="0" err="1"/>
              <a:t>x</a:t>
            </a:r>
            <a:r>
              <a:rPr kumimoji="0" lang="en-US" altLang="zh-CN" sz="1200" b="1" dirty="0"/>
              <a:t>=</a:t>
            </a:r>
            <a:r>
              <a:rPr kumimoji="0" lang="en-US" altLang="zh-CN" sz="1200" b="1" i="1" dirty="0"/>
              <a:t>y</a:t>
            </a:r>
            <a:r>
              <a:rPr kumimoji="0" lang="en-US" altLang="zh-CN" sz="1200" b="1" dirty="0"/>
              <a:t>),  </a:t>
            </a:r>
            <a:r>
              <a:rPr kumimoji="0" lang="zh-CN" altLang="en-US" sz="1200" b="1" dirty="0"/>
              <a:t>则称</a:t>
            </a:r>
            <a:r>
              <a:rPr kumimoji="0" lang="en-US" altLang="zh-CN" sz="1200" b="1" i="1" dirty="0"/>
              <a:t>R</a:t>
            </a:r>
          </a:p>
          <a:p>
            <a:pPr eaLnBrk="1" hangingPunct="1">
              <a:lnSpc>
                <a:spcPct val="110000"/>
              </a:lnSpc>
              <a:spcBef>
                <a:spcPct val="0"/>
              </a:spcBef>
              <a:buFontTx/>
              <a:buNone/>
            </a:pPr>
            <a:r>
              <a:rPr kumimoji="0" lang="zh-CN" altLang="en-US" sz="1200" b="1" i="1" dirty="0"/>
              <a:t>       </a:t>
            </a:r>
            <a:r>
              <a:rPr kumimoji="0" lang="zh-CN" altLang="en-US" sz="1200" b="1" dirty="0"/>
              <a:t>为</a:t>
            </a:r>
            <a:r>
              <a:rPr kumimoji="0" lang="en-US" altLang="zh-CN" sz="1200" b="1" i="1" dirty="0"/>
              <a:t>A</a:t>
            </a:r>
            <a:r>
              <a:rPr kumimoji="0" lang="zh-CN" altLang="en-US" sz="1200" b="1" dirty="0"/>
              <a:t>上的</a:t>
            </a:r>
            <a:r>
              <a:rPr kumimoji="0" lang="zh-CN" altLang="en-US" sz="1200" b="1" dirty="0">
                <a:solidFill>
                  <a:srgbClr val="FF0000"/>
                </a:solidFill>
              </a:rPr>
              <a:t>反对称</a:t>
            </a:r>
            <a:r>
              <a:rPr kumimoji="0" lang="zh-CN" altLang="en-US" sz="1200" b="1" dirty="0"/>
              <a:t>关系</a:t>
            </a:r>
            <a:r>
              <a:rPr kumimoji="0" lang="en-US" altLang="zh-CN" sz="1200" b="1" dirty="0"/>
              <a:t>.</a:t>
            </a:r>
            <a:br>
              <a:rPr kumimoji="0" lang="en-US" altLang="zh-CN" sz="1200" b="1" dirty="0"/>
            </a:br>
            <a:r>
              <a:rPr kumimoji="0" lang="zh-CN" altLang="en-US" sz="1200" b="1" dirty="0">
                <a:solidFill>
                  <a:srgbClr val="00B0F0"/>
                </a:solidFill>
              </a:rPr>
              <a:t>实例</a:t>
            </a:r>
            <a:r>
              <a:rPr kumimoji="0" lang="zh-CN" altLang="en-US" sz="1200" b="1" dirty="0">
                <a:solidFill>
                  <a:srgbClr val="000066"/>
                </a:solidFill>
              </a:rPr>
              <a:t>   对称：</a:t>
            </a:r>
            <a:r>
              <a:rPr kumimoji="0" lang="en-US" altLang="zh-CN" sz="1200" b="1" i="1" dirty="0">
                <a:solidFill>
                  <a:srgbClr val="000066"/>
                </a:solidFill>
              </a:rPr>
              <a:t>A</a:t>
            </a:r>
            <a:r>
              <a:rPr kumimoji="0" lang="zh-CN" altLang="en-US" sz="1200" b="1" dirty="0">
                <a:solidFill>
                  <a:srgbClr val="000066"/>
                </a:solidFill>
              </a:rPr>
              <a:t>上的全域关系</a:t>
            </a:r>
            <a:r>
              <a:rPr kumimoji="0" lang="en-US" altLang="zh-CN" sz="1200" b="1" i="1" dirty="0">
                <a:solidFill>
                  <a:srgbClr val="000066"/>
                </a:solidFill>
              </a:rPr>
              <a:t>E</a:t>
            </a:r>
            <a:r>
              <a:rPr kumimoji="0" lang="en-US" altLang="zh-CN" sz="1200" b="1" i="1" baseline="-25000" dirty="0">
                <a:solidFill>
                  <a:srgbClr val="000066"/>
                </a:solidFill>
              </a:rPr>
              <a:t>A</a:t>
            </a:r>
            <a:r>
              <a:rPr kumimoji="0" lang="en-US" altLang="zh-CN" sz="1200" b="1" dirty="0">
                <a:solidFill>
                  <a:srgbClr val="000066"/>
                </a:solidFill>
              </a:rPr>
              <a:t>, </a:t>
            </a:r>
            <a:r>
              <a:rPr kumimoji="0" lang="zh-CN" altLang="en-US" sz="1200" b="1" dirty="0">
                <a:solidFill>
                  <a:srgbClr val="000066"/>
                </a:solidFill>
              </a:rPr>
              <a:t>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dirty="0">
                <a:solidFill>
                  <a:srgbClr val="000066"/>
                </a:solidFill>
              </a:rPr>
              <a:t>和空关系</a:t>
            </a:r>
            <a:r>
              <a:rPr kumimoji="0" lang="zh-CN" altLang="en-US" sz="1200" b="1" dirty="0">
                <a:solidFill>
                  <a:srgbClr val="000066"/>
                </a:solidFill>
                <a:sym typeface="Symbol" panose="05050102010706020507" pitchFamily="18" charset="2"/>
              </a:rPr>
              <a:t></a:t>
            </a:r>
            <a:endParaRPr kumimoji="0" lang="zh-CN" altLang="en-US" sz="1200" b="1" dirty="0">
              <a:solidFill>
                <a:srgbClr val="000066"/>
              </a:solidFill>
            </a:endParaRPr>
          </a:p>
          <a:p>
            <a:pPr eaLnBrk="1" hangingPunct="1">
              <a:lnSpc>
                <a:spcPct val="110000"/>
              </a:lnSpc>
              <a:spcBef>
                <a:spcPct val="0"/>
              </a:spcBef>
              <a:buFontTx/>
              <a:buNone/>
            </a:pPr>
            <a:r>
              <a:rPr kumimoji="0" lang="zh-CN" altLang="en-US" sz="1200" b="1" dirty="0">
                <a:solidFill>
                  <a:srgbClr val="000066"/>
                </a:solidFill>
              </a:rPr>
              <a:t>           反对称：恒等关系</a:t>
            </a:r>
            <a:r>
              <a:rPr kumimoji="0" lang="en-US" altLang="zh-CN" sz="1200" b="1" i="1" dirty="0">
                <a:solidFill>
                  <a:srgbClr val="000066"/>
                </a:solidFill>
              </a:rPr>
              <a:t>I</a:t>
            </a:r>
            <a:r>
              <a:rPr kumimoji="0" lang="en-US" altLang="zh-CN" sz="1200" b="1" i="1" baseline="-25000" dirty="0">
                <a:solidFill>
                  <a:srgbClr val="000066"/>
                </a:solidFill>
              </a:rPr>
              <a:t>A</a:t>
            </a:r>
            <a:r>
              <a:rPr kumimoji="0" lang="zh-CN" altLang="en-US" sz="1200" b="1" i="1" dirty="0">
                <a:solidFill>
                  <a:srgbClr val="000066"/>
                </a:solidFill>
              </a:rPr>
              <a:t>，</a:t>
            </a:r>
            <a:r>
              <a:rPr kumimoji="0" lang="zh-CN" altLang="en-US" sz="1200" b="1" dirty="0">
                <a:solidFill>
                  <a:srgbClr val="000066"/>
                </a:solidFill>
              </a:rPr>
              <a:t>空关系是</a:t>
            </a:r>
            <a:r>
              <a:rPr kumimoji="0" lang="en-US" altLang="zh-CN" sz="1200" b="1" i="1" dirty="0">
                <a:solidFill>
                  <a:srgbClr val="000066"/>
                </a:solidFill>
              </a:rPr>
              <a:t>A</a:t>
            </a:r>
            <a:r>
              <a:rPr kumimoji="0" lang="zh-CN" altLang="en-US" sz="1200" b="1" dirty="0">
                <a:solidFill>
                  <a:srgbClr val="000066"/>
                </a:solidFill>
              </a:rPr>
              <a:t>上的反对称关系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40913481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50000"/>
              </a:spcBef>
              <a:buFontTx/>
              <a:buNone/>
            </a:pPr>
            <a:r>
              <a:rPr kumimoji="0" lang="zh-CN" altLang="en-US" sz="1200" b="1" dirty="0">
                <a:solidFill>
                  <a:srgbClr val="FF0000"/>
                </a:solidFill>
              </a:rPr>
              <a:t>定义</a:t>
            </a:r>
            <a:r>
              <a:rPr kumimoji="0" lang="en-US" altLang="zh-CN" sz="1200" b="1" dirty="0">
                <a:solidFill>
                  <a:srgbClr val="FF0000"/>
                </a:solidFill>
              </a:rPr>
              <a:t>4.16</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r>
              <a:rPr kumimoji="0" lang="zh-CN" altLang="en-US" sz="1200" b="1" dirty="0"/>
              <a:t>若</a:t>
            </a:r>
            <a:br>
              <a:rPr kumimoji="0" lang="zh-CN" altLang="en-US" sz="1200" b="1" dirty="0"/>
            </a:br>
            <a:r>
              <a:rPr kumimoji="0" lang="zh-CN" altLang="en-US" sz="1200" b="1" dirty="0"/>
              <a:t>     </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err="1">
                <a:sym typeface="Symbol" panose="05050102010706020507" pitchFamily="18" charset="2"/>
              </a:rPr>
              <a:t></a:t>
            </a:r>
            <a:r>
              <a:rPr kumimoji="0" lang="en-US" altLang="zh-CN" sz="1200" b="1" i="1" dirty="0" err="1"/>
              <a:t>z</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z</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z</a:t>
            </a:r>
            <a:r>
              <a:rPr kumimoji="0" lang="en-US" altLang="zh-CN" sz="1200" b="1" dirty="0"/>
              <a:t>&gt;∈</a:t>
            </a:r>
            <a:r>
              <a:rPr kumimoji="0" lang="en-US" altLang="zh-CN" sz="1200" b="1" i="1" dirty="0"/>
              <a:t>R</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z</a:t>
            </a:r>
            <a:r>
              <a:rPr kumimoji="0" lang="en-US" altLang="zh-CN" sz="1200" b="1" dirty="0"/>
              <a:t>&gt;∈</a:t>
            </a:r>
            <a:r>
              <a:rPr kumimoji="0" lang="en-US" altLang="zh-CN" sz="1200" b="1" i="1" dirty="0"/>
              <a:t>R</a:t>
            </a:r>
            <a:r>
              <a:rPr kumimoji="0" lang="en-US" altLang="zh-CN" sz="1200" b="1" dirty="0"/>
              <a:t>),</a:t>
            </a:r>
            <a:br>
              <a:rPr kumimoji="0" lang="en-US" altLang="zh-CN" sz="1200" b="1" dirty="0"/>
            </a:br>
            <a:r>
              <a:rPr kumimoji="0" lang="zh-CN" altLang="en-US" sz="1200" b="1" dirty="0"/>
              <a:t>则称</a:t>
            </a:r>
            <a:r>
              <a:rPr kumimoji="0" lang="en-US" altLang="zh-CN" sz="1200" b="1" i="1" dirty="0"/>
              <a:t>R</a:t>
            </a:r>
            <a:r>
              <a:rPr kumimoji="0" lang="zh-CN" altLang="en-US" sz="1200" b="1" dirty="0"/>
              <a:t>是</a:t>
            </a:r>
            <a:r>
              <a:rPr kumimoji="0" lang="en-US" altLang="zh-CN" sz="1200" b="1" i="1" dirty="0"/>
              <a:t>A</a:t>
            </a:r>
            <a:r>
              <a:rPr kumimoji="0" lang="zh-CN" altLang="en-US" sz="1200" b="1" dirty="0"/>
              <a:t>上的</a:t>
            </a:r>
            <a:r>
              <a:rPr kumimoji="0" lang="zh-CN" altLang="en-US" sz="1200" b="1" dirty="0">
                <a:solidFill>
                  <a:srgbClr val="FF0000"/>
                </a:solidFill>
              </a:rPr>
              <a:t>传递</a:t>
            </a:r>
            <a:r>
              <a:rPr kumimoji="0" lang="zh-CN" altLang="en-US" sz="1200" b="1" dirty="0"/>
              <a:t>关系</a:t>
            </a:r>
            <a:r>
              <a:rPr kumimoji="0" lang="en-US" altLang="zh-CN" sz="1200" b="1" dirty="0"/>
              <a:t>.</a:t>
            </a:r>
            <a:br>
              <a:rPr kumimoji="0" lang="en-US" altLang="zh-CN" sz="1200" b="1" dirty="0"/>
            </a:br>
            <a:r>
              <a:rPr kumimoji="0" lang="zh-CN" altLang="en-US" sz="1200" b="1" dirty="0">
                <a:solidFill>
                  <a:srgbClr val="00B0F0"/>
                </a:solidFill>
              </a:rPr>
              <a:t>实例：</a:t>
            </a:r>
            <a:r>
              <a:rPr kumimoji="0" lang="en-US" altLang="zh-CN" sz="1200" b="1" i="1" dirty="0"/>
              <a:t>A</a:t>
            </a:r>
            <a:r>
              <a:rPr kumimoji="0" lang="zh-CN" altLang="en-US" sz="1200" b="1" dirty="0"/>
              <a:t>上的全域关系 </a:t>
            </a:r>
            <a:r>
              <a:rPr kumimoji="0" lang="en-US" altLang="zh-CN" sz="1200" b="1" i="1" dirty="0"/>
              <a:t>E</a:t>
            </a:r>
            <a:r>
              <a:rPr kumimoji="0" lang="en-US" altLang="zh-CN" sz="1200" b="1" i="1" baseline="-25000" dirty="0"/>
              <a:t>A</a:t>
            </a:r>
            <a:r>
              <a:rPr kumimoji="0" lang="en-US" altLang="zh-CN" sz="1200" b="1" dirty="0"/>
              <a:t>, </a:t>
            </a:r>
            <a:r>
              <a:rPr kumimoji="0" lang="zh-CN" altLang="en-US" sz="1200" b="1" dirty="0"/>
              <a:t>恒等关系 </a:t>
            </a:r>
            <a:r>
              <a:rPr kumimoji="0" lang="en-US" altLang="zh-CN" sz="1200" b="1" i="1" dirty="0"/>
              <a:t>I</a:t>
            </a:r>
            <a:r>
              <a:rPr kumimoji="0" lang="en-US" altLang="zh-CN" sz="1200" b="1" i="1" baseline="-25000" dirty="0"/>
              <a:t>A </a:t>
            </a:r>
            <a:r>
              <a:rPr kumimoji="0" lang="zh-CN" altLang="en-US" sz="1200" b="1" dirty="0"/>
              <a:t>和空关系 </a:t>
            </a:r>
            <a:r>
              <a:rPr kumimoji="0" lang="zh-CN" altLang="en-US" sz="1200" b="1" dirty="0">
                <a:sym typeface="Symbol" panose="05050102010706020507" pitchFamily="18" charset="2"/>
              </a:rPr>
              <a:t></a:t>
            </a:r>
            <a:r>
              <a:rPr kumimoji="0" lang="en-US" altLang="zh-CN" sz="1200" b="1" dirty="0">
                <a:sym typeface="Symbol" panose="05050102010706020507" pitchFamily="18" charset="2"/>
              </a:rPr>
              <a:t>, </a:t>
            </a:r>
            <a:r>
              <a:rPr kumimoji="0" lang="zh-CN" altLang="en-US" sz="1200" b="1" dirty="0"/>
              <a:t>小</a:t>
            </a:r>
          </a:p>
          <a:p>
            <a:pPr eaLnBrk="1" hangingPunct="1">
              <a:lnSpc>
                <a:spcPct val="120000"/>
              </a:lnSpc>
              <a:spcBef>
                <a:spcPct val="0"/>
              </a:spcBef>
              <a:buFontTx/>
              <a:buNone/>
            </a:pPr>
            <a:r>
              <a:rPr kumimoji="0" lang="zh-CN" altLang="en-US" sz="1200" b="1" dirty="0"/>
              <a:t>于等于关系</a:t>
            </a:r>
            <a:r>
              <a:rPr kumimoji="0" lang="en-US" altLang="zh-CN" sz="1200" b="1" dirty="0"/>
              <a:t>, </a:t>
            </a:r>
            <a:r>
              <a:rPr kumimoji="0" lang="zh-CN" altLang="en-US" sz="1200" b="1" dirty="0"/>
              <a:t>小于关系</a:t>
            </a:r>
            <a:r>
              <a:rPr kumimoji="0" lang="en-US" altLang="zh-CN" sz="1200" b="1" dirty="0"/>
              <a:t>, </a:t>
            </a:r>
            <a:r>
              <a:rPr kumimoji="0" lang="zh-CN" altLang="en-US" sz="1200" b="1" dirty="0"/>
              <a:t>整除关系</a:t>
            </a:r>
            <a:r>
              <a:rPr kumimoji="0" lang="en-US" altLang="zh-CN" sz="1200" b="1" dirty="0"/>
              <a:t>, </a:t>
            </a:r>
            <a:r>
              <a:rPr kumimoji="0" lang="zh-CN" altLang="en-US" sz="1200" b="1" dirty="0"/>
              <a:t>包含关系</a:t>
            </a:r>
            <a:r>
              <a:rPr kumimoji="0" lang="en-US" altLang="zh-CN" sz="1200" b="1" dirty="0"/>
              <a:t>, </a:t>
            </a:r>
            <a:r>
              <a:rPr kumimoji="0" lang="zh-CN" altLang="en-US" sz="1200" b="1" dirty="0"/>
              <a:t>真包含关系</a:t>
            </a:r>
            <a:endParaRPr kumimoji="0" lang="en-US" altLang="zh-CN" sz="1200" b="1" dirty="0"/>
          </a:p>
          <a:p>
            <a:pPr eaLnBrk="1" hangingPunct="1">
              <a:lnSpc>
                <a:spcPct val="120000"/>
              </a:lnSpc>
              <a:spcBef>
                <a:spcPct val="0"/>
              </a:spcBef>
              <a:buFontTx/>
              <a:buNone/>
            </a:pPr>
            <a:endParaRPr kumimoji="0" lang="en-US" altLang="zh-CN" sz="1200" b="1" dirty="0"/>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1200" b="1" i="1" dirty="0"/>
              <a:t>R</a:t>
            </a:r>
            <a:r>
              <a:rPr kumimoji="0" lang="en-US" altLang="zh-CN" sz="1200" b="1" baseline="-25000" dirty="0"/>
              <a:t>1</a:t>
            </a:r>
            <a:r>
              <a:rPr kumimoji="0" lang="en-US" altLang="zh-CN" sz="1200" b="1" dirty="0"/>
              <a:t> </a:t>
            </a:r>
            <a:r>
              <a:rPr kumimoji="0" lang="zh-CN" altLang="en-US" sz="1200" b="1" dirty="0"/>
              <a:t>和 </a:t>
            </a:r>
            <a:r>
              <a:rPr kumimoji="0" lang="en-US" altLang="zh-CN" sz="1200" b="1" i="1" dirty="0"/>
              <a:t>R</a:t>
            </a:r>
            <a:r>
              <a:rPr kumimoji="0" lang="en-US" altLang="zh-CN" sz="1200" b="1" baseline="-25000" dirty="0"/>
              <a:t>3 </a:t>
            </a:r>
            <a:r>
              <a:rPr kumimoji="0" lang="zh-CN" altLang="en-US" sz="1200" b="1" dirty="0"/>
              <a:t>是</a:t>
            </a:r>
            <a:r>
              <a:rPr kumimoji="0" lang="en-US" altLang="zh-CN" sz="1200" b="1" i="1" dirty="0"/>
              <a:t>A</a:t>
            </a:r>
            <a:r>
              <a:rPr kumimoji="0" lang="zh-CN" altLang="en-US" sz="1200" b="1" dirty="0"/>
              <a:t>上的传递关系</a:t>
            </a:r>
            <a:r>
              <a:rPr kumimoji="0" lang="en-US" altLang="zh-CN" sz="1200" b="1" dirty="0"/>
              <a:t>, </a:t>
            </a:r>
            <a:r>
              <a:rPr kumimoji="0" lang="en-US" altLang="zh-CN" sz="1200" b="1" i="1" dirty="0"/>
              <a:t>R</a:t>
            </a:r>
            <a:r>
              <a:rPr kumimoji="0" lang="en-US" altLang="zh-CN" sz="1200" b="1" baseline="-25000" dirty="0"/>
              <a:t>2</a:t>
            </a:r>
            <a:r>
              <a:rPr kumimoji="0" lang="zh-CN" altLang="en-US" sz="1200" b="1" dirty="0"/>
              <a:t>不是</a:t>
            </a:r>
            <a:r>
              <a:rPr kumimoji="0" lang="en-US" altLang="zh-CN" sz="1200" b="1" i="1" dirty="0"/>
              <a:t>A</a:t>
            </a:r>
            <a:r>
              <a:rPr kumimoji="0" lang="zh-CN" altLang="en-US" sz="1200" b="1" dirty="0"/>
              <a:t>上的传递关系</a:t>
            </a:r>
            <a:r>
              <a:rPr kumimoji="0" lang="en-US" altLang="zh-CN" sz="1200" b="1" dirty="0"/>
              <a:t>.</a:t>
            </a:r>
          </a:p>
          <a:p>
            <a:pPr eaLnBrk="1" hangingPunct="1">
              <a:lnSpc>
                <a:spcPct val="120000"/>
              </a:lnSpc>
              <a:spcBef>
                <a:spcPct val="0"/>
              </a:spcBef>
              <a:buFontTx/>
              <a:buNone/>
            </a:pP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42707789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50000"/>
              </a:spcBef>
              <a:buFontTx/>
              <a:buNone/>
            </a:pPr>
            <a:r>
              <a:rPr kumimoji="0" lang="zh-CN" altLang="en-US" sz="1200" b="1" dirty="0">
                <a:solidFill>
                  <a:srgbClr val="FF0000"/>
                </a:solidFill>
              </a:rPr>
              <a:t>定义</a:t>
            </a:r>
            <a:r>
              <a:rPr kumimoji="0" lang="en-US" altLang="zh-CN" sz="1200" b="1" dirty="0">
                <a:solidFill>
                  <a:srgbClr val="FF0000"/>
                </a:solidFill>
              </a:rPr>
              <a:t>4.16</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r>
              <a:rPr kumimoji="0" lang="zh-CN" altLang="en-US" sz="1200" b="1" dirty="0"/>
              <a:t>若</a:t>
            </a:r>
            <a:br>
              <a:rPr kumimoji="0" lang="zh-CN" altLang="en-US" sz="1200" b="1" dirty="0"/>
            </a:br>
            <a:r>
              <a:rPr kumimoji="0" lang="zh-CN" altLang="en-US" sz="1200" b="1" dirty="0"/>
              <a:t>     </a:t>
            </a:r>
            <a:r>
              <a:rPr kumimoji="0" lang="zh-CN" altLang="en-US" sz="1200" b="1" dirty="0">
                <a:sym typeface="Symbol" panose="05050102010706020507" pitchFamily="18" charset="2"/>
              </a:rPr>
              <a:t></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y</a:t>
            </a:r>
            <a:r>
              <a:rPr kumimoji="0" lang="en-US" altLang="zh-CN" sz="1200" b="1" dirty="0" err="1">
                <a:sym typeface="Symbol" panose="05050102010706020507" pitchFamily="18" charset="2"/>
              </a:rPr>
              <a:t></a:t>
            </a:r>
            <a:r>
              <a:rPr kumimoji="0" lang="en-US" altLang="zh-CN" sz="1200" b="1" i="1" dirty="0" err="1"/>
              <a:t>z</a:t>
            </a:r>
            <a:r>
              <a:rPr kumimoji="0" lang="en-US" altLang="zh-CN" sz="1200" b="1" dirty="0"/>
              <a:t>(</a:t>
            </a:r>
            <a:r>
              <a:rPr kumimoji="0" lang="en-US" altLang="zh-CN" sz="1200" b="1" i="1" dirty="0" err="1"/>
              <a:t>x</a:t>
            </a:r>
            <a:r>
              <a:rPr kumimoji="0" lang="en-US" altLang="zh-CN" sz="1200" b="1" dirty="0" err="1"/>
              <a:t>,</a:t>
            </a:r>
            <a:r>
              <a:rPr kumimoji="0" lang="en-US" altLang="zh-CN" sz="1200" b="1" i="1" dirty="0" err="1"/>
              <a:t>y</a:t>
            </a:r>
            <a:r>
              <a:rPr kumimoji="0" lang="en-US" altLang="zh-CN" sz="1200" b="1" dirty="0" err="1"/>
              <a:t>,</a:t>
            </a:r>
            <a:r>
              <a:rPr kumimoji="0" lang="en-US" altLang="zh-CN" sz="1200" b="1" i="1" dirty="0" err="1"/>
              <a:t>z</a:t>
            </a:r>
            <a:r>
              <a:rPr kumimoji="0" lang="en-US" altLang="zh-CN" sz="1200" b="1" dirty="0" err="1"/>
              <a:t>∈</a:t>
            </a:r>
            <a:r>
              <a:rPr kumimoji="0" lang="en-US" altLang="zh-CN" sz="1200" b="1" i="1" dirty="0" err="1"/>
              <a:t>A</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∧&lt;</a:t>
            </a:r>
            <a:r>
              <a:rPr kumimoji="0" lang="en-US" altLang="zh-CN" sz="1200" b="1" i="1" dirty="0" err="1"/>
              <a:t>y</a:t>
            </a:r>
            <a:r>
              <a:rPr kumimoji="0" lang="en-US" altLang="zh-CN" sz="1200" b="1" dirty="0" err="1"/>
              <a:t>,</a:t>
            </a:r>
            <a:r>
              <a:rPr kumimoji="0" lang="en-US" altLang="zh-CN" sz="1200" b="1" i="1" dirty="0" err="1"/>
              <a:t>z</a:t>
            </a:r>
            <a:r>
              <a:rPr kumimoji="0" lang="en-US" altLang="zh-CN" sz="1200" b="1" dirty="0"/>
              <a:t>&gt;∈</a:t>
            </a:r>
            <a:r>
              <a:rPr kumimoji="0" lang="en-US" altLang="zh-CN" sz="1200" b="1" i="1" dirty="0"/>
              <a:t>R</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z</a:t>
            </a:r>
            <a:r>
              <a:rPr kumimoji="0" lang="en-US" altLang="zh-CN" sz="1200" b="1" dirty="0"/>
              <a:t>&gt;∈</a:t>
            </a:r>
            <a:r>
              <a:rPr kumimoji="0" lang="en-US" altLang="zh-CN" sz="1200" b="1" i="1" dirty="0"/>
              <a:t>R</a:t>
            </a:r>
            <a:r>
              <a:rPr kumimoji="0" lang="en-US" altLang="zh-CN" sz="1200" b="1" dirty="0"/>
              <a:t>),</a:t>
            </a:r>
            <a:br>
              <a:rPr kumimoji="0" lang="en-US" altLang="zh-CN" sz="1200" b="1" dirty="0"/>
            </a:br>
            <a:r>
              <a:rPr kumimoji="0" lang="zh-CN" altLang="en-US" sz="1200" b="1" dirty="0"/>
              <a:t>则称</a:t>
            </a:r>
            <a:r>
              <a:rPr kumimoji="0" lang="en-US" altLang="zh-CN" sz="1200" b="1" i="1" dirty="0"/>
              <a:t>R</a:t>
            </a:r>
            <a:r>
              <a:rPr kumimoji="0" lang="zh-CN" altLang="en-US" sz="1200" b="1" dirty="0"/>
              <a:t>是</a:t>
            </a:r>
            <a:r>
              <a:rPr kumimoji="0" lang="en-US" altLang="zh-CN" sz="1200" b="1" i="1" dirty="0"/>
              <a:t>A</a:t>
            </a:r>
            <a:r>
              <a:rPr kumimoji="0" lang="zh-CN" altLang="en-US" sz="1200" b="1" dirty="0"/>
              <a:t>上的</a:t>
            </a:r>
            <a:r>
              <a:rPr kumimoji="0" lang="zh-CN" altLang="en-US" sz="1200" b="1" dirty="0">
                <a:solidFill>
                  <a:srgbClr val="FF0000"/>
                </a:solidFill>
              </a:rPr>
              <a:t>传递</a:t>
            </a:r>
            <a:r>
              <a:rPr kumimoji="0" lang="zh-CN" altLang="en-US" sz="1200" b="1" dirty="0"/>
              <a:t>关系</a:t>
            </a:r>
            <a:r>
              <a:rPr kumimoji="0" lang="en-US" altLang="zh-CN" sz="1200" b="1" dirty="0"/>
              <a:t>.</a:t>
            </a:r>
            <a:br>
              <a:rPr kumimoji="0" lang="en-US" altLang="zh-CN" sz="1200" b="1" dirty="0"/>
            </a:br>
            <a:r>
              <a:rPr kumimoji="0" lang="zh-CN" altLang="en-US" sz="1200" b="1" dirty="0">
                <a:solidFill>
                  <a:srgbClr val="00B0F0"/>
                </a:solidFill>
              </a:rPr>
              <a:t>实例：</a:t>
            </a:r>
            <a:r>
              <a:rPr kumimoji="0" lang="en-US" altLang="zh-CN" sz="1200" b="1" i="1" dirty="0"/>
              <a:t>A</a:t>
            </a:r>
            <a:r>
              <a:rPr kumimoji="0" lang="zh-CN" altLang="en-US" sz="1200" b="1" dirty="0"/>
              <a:t>上的全域关系 </a:t>
            </a:r>
            <a:r>
              <a:rPr kumimoji="0" lang="en-US" altLang="zh-CN" sz="1200" b="1" i="1" dirty="0"/>
              <a:t>E</a:t>
            </a:r>
            <a:r>
              <a:rPr kumimoji="0" lang="en-US" altLang="zh-CN" sz="1200" b="1" i="1" baseline="-25000" dirty="0"/>
              <a:t>A</a:t>
            </a:r>
            <a:r>
              <a:rPr kumimoji="0" lang="en-US" altLang="zh-CN" sz="1200" b="1" dirty="0"/>
              <a:t>, </a:t>
            </a:r>
            <a:r>
              <a:rPr kumimoji="0" lang="zh-CN" altLang="en-US" sz="1200" b="1" dirty="0"/>
              <a:t>恒等关系 </a:t>
            </a:r>
            <a:r>
              <a:rPr kumimoji="0" lang="en-US" altLang="zh-CN" sz="1200" b="1" i="1" dirty="0"/>
              <a:t>I</a:t>
            </a:r>
            <a:r>
              <a:rPr kumimoji="0" lang="en-US" altLang="zh-CN" sz="1200" b="1" i="1" baseline="-25000" dirty="0"/>
              <a:t>A </a:t>
            </a:r>
            <a:r>
              <a:rPr kumimoji="0" lang="zh-CN" altLang="en-US" sz="1200" b="1" dirty="0"/>
              <a:t>和空关系 </a:t>
            </a:r>
            <a:r>
              <a:rPr kumimoji="0" lang="zh-CN" altLang="en-US" sz="1200" b="1" dirty="0">
                <a:sym typeface="Symbol" panose="05050102010706020507" pitchFamily="18" charset="2"/>
              </a:rPr>
              <a:t></a:t>
            </a:r>
            <a:r>
              <a:rPr kumimoji="0" lang="en-US" altLang="zh-CN" sz="1200" b="1" dirty="0">
                <a:sym typeface="Symbol" panose="05050102010706020507" pitchFamily="18" charset="2"/>
              </a:rPr>
              <a:t>, </a:t>
            </a:r>
            <a:r>
              <a:rPr kumimoji="0" lang="zh-CN" altLang="en-US" sz="1200" b="1" dirty="0"/>
              <a:t>小</a:t>
            </a:r>
          </a:p>
          <a:p>
            <a:pPr eaLnBrk="1" hangingPunct="1">
              <a:lnSpc>
                <a:spcPct val="120000"/>
              </a:lnSpc>
              <a:spcBef>
                <a:spcPct val="0"/>
              </a:spcBef>
              <a:buFontTx/>
              <a:buNone/>
            </a:pPr>
            <a:r>
              <a:rPr kumimoji="0" lang="zh-CN" altLang="en-US" sz="1200" b="1" dirty="0"/>
              <a:t>于等于关系</a:t>
            </a:r>
            <a:r>
              <a:rPr kumimoji="0" lang="en-US" altLang="zh-CN" sz="1200" b="1" dirty="0"/>
              <a:t>, </a:t>
            </a:r>
            <a:r>
              <a:rPr kumimoji="0" lang="zh-CN" altLang="en-US" sz="1200" b="1" dirty="0"/>
              <a:t>小于关系</a:t>
            </a:r>
            <a:r>
              <a:rPr kumimoji="0" lang="en-US" altLang="zh-CN" sz="1200" b="1" dirty="0"/>
              <a:t>, </a:t>
            </a:r>
            <a:r>
              <a:rPr kumimoji="0" lang="zh-CN" altLang="en-US" sz="1200" b="1" dirty="0"/>
              <a:t>整除关系</a:t>
            </a:r>
            <a:r>
              <a:rPr kumimoji="0" lang="en-US" altLang="zh-CN" sz="1200" b="1" dirty="0"/>
              <a:t>, </a:t>
            </a:r>
            <a:r>
              <a:rPr kumimoji="0" lang="zh-CN" altLang="en-US" sz="1200" b="1" dirty="0"/>
              <a:t>包含关系</a:t>
            </a:r>
            <a:r>
              <a:rPr kumimoji="0" lang="en-US" altLang="zh-CN" sz="1200" b="1" dirty="0"/>
              <a:t>, </a:t>
            </a:r>
            <a:r>
              <a:rPr kumimoji="0" lang="zh-CN" altLang="en-US" sz="1200" b="1" dirty="0"/>
              <a:t>真包含关系</a:t>
            </a:r>
            <a:endParaRPr kumimoji="0" lang="en-US" altLang="zh-CN" sz="1200" b="1" dirty="0"/>
          </a:p>
          <a:p>
            <a:pPr eaLnBrk="1" hangingPunct="1">
              <a:lnSpc>
                <a:spcPct val="120000"/>
              </a:lnSpc>
              <a:spcBef>
                <a:spcPct val="0"/>
              </a:spcBef>
              <a:buFontTx/>
              <a:buNone/>
            </a:pPr>
            <a:endParaRPr kumimoji="0" lang="en-US" altLang="zh-CN" sz="1200" b="1" dirty="0"/>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1200" b="1" i="1" dirty="0"/>
              <a:t>R</a:t>
            </a:r>
            <a:r>
              <a:rPr kumimoji="0" lang="en-US" altLang="zh-CN" sz="1200" b="1" baseline="-25000" dirty="0"/>
              <a:t>1</a:t>
            </a:r>
            <a:r>
              <a:rPr kumimoji="0" lang="en-US" altLang="zh-CN" sz="1200" b="1" dirty="0"/>
              <a:t> </a:t>
            </a:r>
            <a:r>
              <a:rPr kumimoji="0" lang="zh-CN" altLang="en-US" sz="1200" b="1" dirty="0"/>
              <a:t>和 </a:t>
            </a:r>
            <a:r>
              <a:rPr kumimoji="0" lang="en-US" altLang="zh-CN" sz="1200" b="1" i="1" dirty="0"/>
              <a:t>R</a:t>
            </a:r>
            <a:r>
              <a:rPr kumimoji="0" lang="en-US" altLang="zh-CN" sz="1200" b="1" baseline="-25000" dirty="0"/>
              <a:t>3 </a:t>
            </a:r>
            <a:r>
              <a:rPr kumimoji="0" lang="zh-CN" altLang="en-US" sz="1200" b="1" dirty="0"/>
              <a:t>是</a:t>
            </a:r>
            <a:r>
              <a:rPr kumimoji="0" lang="en-US" altLang="zh-CN" sz="1200" b="1" i="1" dirty="0"/>
              <a:t>A</a:t>
            </a:r>
            <a:r>
              <a:rPr kumimoji="0" lang="zh-CN" altLang="en-US" sz="1200" b="1" dirty="0"/>
              <a:t>上的传递关系</a:t>
            </a:r>
            <a:r>
              <a:rPr kumimoji="0" lang="en-US" altLang="zh-CN" sz="1200" b="1" dirty="0"/>
              <a:t>, </a:t>
            </a:r>
            <a:r>
              <a:rPr kumimoji="0" lang="en-US" altLang="zh-CN" sz="1200" b="1" i="1" dirty="0"/>
              <a:t>R</a:t>
            </a:r>
            <a:r>
              <a:rPr kumimoji="0" lang="en-US" altLang="zh-CN" sz="1200" b="1" baseline="-25000" dirty="0"/>
              <a:t>2</a:t>
            </a:r>
            <a:r>
              <a:rPr kumimoji="0" lang="zh-CN" altLang="en-US" sz="1200" b="1" dirty="0"/>
              <a:t>不是</a:t>
            </a:r>
            <a:r>
              <a:rPr kumimoji="0" lang="en-US" altLang="zh-CN" sz="1200" b="1" i="1" dirty="0"/>
              <a:t>A</a:t>
            </a:r>
            <a:r>
              <a:rPr kumimoji="0" lang="zh-CN" altLang="en-US" sz="1200" b="1" dirty="0"/>
              <a:t>上的传递关系</a:t>
            </a:r>
            <a:r>
              <a:rPr kumimoji="0" lang="en-US" altLang="zh-CN" sz="1200" b="1" dirty="0"/>
              <a:t>.</a:t>
            </a:r>
          </a:p>
          <a:p>
            <a:pPr eaLnBrk="1" hangingPunct="1">
              <a:lnSpc>
                <a:spcPct val="120000"/>
              </a:lnSpc>
              <a:spcBef>
                <a:spcPct val="0"/>
              </a:spcBef>
              <a:buFontTx/>
              <a:buNone/>
            </a:pP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3983769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200" b="1" dirty="0"/>
              <a:t>设 </a:t>
            </a:r>
            <a:r>
              <a:rPr kumimoji="0" lang="en-US" altLang="zh-CN" sz="1200" b="1" i="1" dirty="0"/>
              <a:t>R </a:t>
            </a:r>
            <a:r>
              <a:rPr kumimoji="0" lang="zh-CN" altLang="en-US" sz="1200" b="1" dirty="0"/>
              <a:t>为 </a:t>
            </a:r>
            <a:r>
              <a:rPr kumimoji="0" lang="en-US" altLang="zh-CN" sz="1200" b="1" i="1" dirty="0"/>
              <a:t>A </a:t>
            </a:r>
            <a:r>
              <a:rPr kumimoji="0" lang="zh-CN" altLang="en-US" sz="1200" b="1" dirty="0"/>
              <a:t>上的关系</a:t>
            </a:r>
            <a:r>
              <a:rPr kumimoji="0" lang="en-US" altLang="zh-CN" sz="1200" b="1" dirty="0"/>
              <a:t>, </a:t>
            </a:r>
            <a:r>
              <a:rPr kumimoji="0" lang="zh-CN" altLang="en-US" sz="1200" b="1" dirty="0"/>
              <a:t>则</a:t>
            </a:r>
            <a:br>
              <a:rPr kumimoji="0" lang="zh-CN" altLang="en-US" sz="1200" b="1" dirty="0"/>
            </a:br>
            <a:r>
              <a:rPr kumimoji="0" lang="zh-CN" altLang="en-US" sz="1200" b="1" dirty="0"/>
              <a:t>  </a:t>
            </a:r>
            <a:r>
              <a:rPr kumimoji="0" lang="en-US" altLang="zh-CN" sz="1200" b="1" dirty="0"/>
              <a:t>(1) </a:t>
            </a:r>
            <a:r>
              <a:rPr kumimoji="0" lang="zh-CN" altLang="en-US" sz="1200" b="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上自反当且仅当  </a:t>
            </a:r>
            <a:r>
              <a:rPr kumimoji="0" lang="en-US" altLang="zh-CN" sz="1200" b="1" i="1" dirty="0"/>
              <a:t>I</a:t>
            </a:r>
            <a:r>
              <a:rPr kumimoji="0" lang="en-US" altLang="zh-CN" sz="1200" b="1" i="1" baseline="-25000" dirty="0"/>
              <a:t>A </a:t>
            </a:r>
            <a:r>
              <a:rPr kumimoji="0" lang="en-US" altLang="zh-CN" sz="1200" b="1" dirty="0">
                <a:sym typeface="Symbol" panose="05050102010706020507" pitchFamily="18" charset="2"/>
              </a:rPr>
              <a:t></a:t>
            </a:r>
            <a:r>
              <a:rPr kumimoji="0" lang="en-US" altLang="zh-CN" sz="1200" b="1" i="1" dirty="0"/>
              <a:t>R</a:t>
            </a:r>
            <a:br>
              <a:rPr kumimoji="0" lang="en-US" altLang="zh-CN" sz="1200" b="1" dirty="0"/>
            </a:br>
            <a:r>
              <a:rPr kumimoji="0" lang="en-US" altLang="zh-CN" sz="1200" b="1" dirty="0"/>
              <a:t>  (2) </a:t>
            </a:r>
            <a:r>
              <a:rPr kumimoji="0" lang="zh-CN" altLang="en-US" sz="1200" b="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上反自反当且仅当 </a:t>
            </a:r>
            <a:r>
              <a:rPr kumimoji="0" lang="en-US" altLang="zh-CN" sz="1200" b="1" i="1" dirty="0"/>
              <a:t>R</a:t>
            </a:r>
            <a:r>
              <a:rPr kumimoji="0" lang="en-US" altLang="zh-CN" sz="1200" b="1" dirty="0"/>
              <a:t>∩</a:t>
            </a:r>
            <a:r>
              <a:rPr kumimoji="0" lang="en-US" altLang="zh-CN" sz="1200" b="1" i="1" dirty="0"/>
              <a:t>I</a:t>
            </a:r>
            <a:r>
              <a:rPr kumimoji="0" lang="en-US" altLang="zh-CN" sz="1200" b="1" i="1" baseline="-25000" dirty="0"/>
              <a:t>A</a:t>
            </a:r>
            <a:r>
              <a:rPr kumimoji="0" lang="en-US" altLang="zh-CN" sz="1200" b="1" dirty="0"/>
              <a:t>=</a:t>
            </a:r>
            <a:r>
              <a:rPr kumimoji="0" lang="en-US" altLang="zh-CN" sz="1200" b="1" dirty="0">
                <a:sym typeface="Symbol" panose="05050102010706020507" pitchFamily="18" charset="2"/>
              </a:rPr>
              <a:t></a:t>
            </a:r>
            <a:br>
              <a:rPr kumimoji="0" lang="en-US" altLang="zh-CN" sz="1200" b="1" dirty="0"/>
            </a:br>
            <a:r>
              <a:rPr kumimoji="0" lang="en-US" altLang="zh-CN" sz="1200" b="1" dirty="0"/>
              <a:t>  (3) </a:t>
            </a:r>
            <a:r>
              <a:rPr kumimoji="0" lang="zh-CN" altLang="en-US" sz="1200" b="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上对称当且仅当  </a:t>
            </a:r>
            <a:r>
              <a:rPr kumimoji="0" lang="en-US" altLang="zh-CN" sz="1200" b="1" i="1" dirty="0"/>
              <a:t>R</a:t>
            </a:r>
            <a:r>
              <a:rPr kumimoji="0" lang="en-US" altLang="zh-CN" sz="1200" b="1" dirty="0"/>
              <a:t>=</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br>
              <a:rPr kumimoji="0" lang="en-US" altLang="zh-CN" sz="1200" b="1" baseline="30000" dirty="0"/>
            </a:br>
            <a:r>
              <a:rPr kumimoji="0" lang="en-US" altLang="zh-CN" sz="1200" b="1" baseline="30000" dirty="0"/>
              <a:t>   </a:t>
            </a:r>
            <a:r>
              <a:rPr kumimoji="0" lang="en-US" altLang="zh-CN" sz="1200" b="1" dirty="0"/>
              <a:t>(4) </a:t>
            </a:r>
            <a:r>
              <a:rPr kumimoji="0" lang="zh-CN" altLang="en-US" sz="1200" b="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上反对称当且仅当  </a:t>
            </a:r>
            <a:r>
              <a:rPr kumimoji="0" lang="en-US" altLang="zh-CN" sz="1200" b="1" i="1" dirty="0"/>
              <a:t>R</a:t>
            </a:r>
            <a:r>
              <a:rPr kumimoji="0" lang="en-US" altLang="zh-CN" sz="1200" b="1" dirty="0"/>
              <a:t>∩</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r>
              <a:rPr kumimoji="0" lang="en-US" altLang="zh-CN" sz="1200" b="1" dirty="0">
                <a:sym typeface="Symbol" panose="05050102010706020507" pitchFamily="18" charset="2"/>
              </a:rPr>
              <a:t></a:t>
            </a:r>
            <a:r>
              <a:rPr kumimoji="0" lang="en-US" altLang="zh-CN" sz="1200" b="1" i="1" dirty="0"/>
              <a:t>I</a:t>
            </a:r>
            <a:r>
              <a:rPr kumimoji="0" lang="en-US" altLang="zh-CN" sz="1200" b="1" i="1" baseline="-25000" dirty="0"/>
              <a:t>A </a:t>
            </a:r>
            <a:br>
              <a:rPr kumimoji="0" lang="en-US" altLang="zh-CN" sz="1200" b="1" dirty="0"/>
            </a:br>
            <a:r>
              <a:rPr kumimoji="0" lang="en-US" altLang="zh-CN" sz="1200" b="1" dirty="0"/>
              <a:t>  (5) </a:t>
            </a:r>
            <a:r>
              <a:rPr kumimoji="0" lang="zh-CN" altLang="en-US" sz="1200" b="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上传递当且仅当  </a:t>
            </a:r>
            <a:r>
              <a:rPr kumimoji="0" lang="en-US" altLang="zh-CN" sz="1200" b="1" i="1" dirty="0"/>
              <a:t>R</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dirty="0">
                <a:sym typeface="Symbol" panose="05050102010706020507" pitchFamily="18" charset="2"/>
              </a:rPr>
              <a:t></a:t>
            </a:r>
            <a:r>
              <a:rPr kumimoji="0" lang="en-US" altLang="zh-CN" sz="1200" b="1" i="1" dirty="0"/>
              <a:t>R</a:t>
            </a:r>
            <a:r>
              <a:rPr kumimoji="0" lang="en-US" altLang="zh-CN" sz="1200" b="1" dirty="0"/>
              <a:t>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16744653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证明模式  </a:t>
            </a:r>
            <a:endParaRPr kumimoji="0" lang="en-US" altLang="zh-CN" sz="1200" b="1" dirty="0">
              <a:solidFill>
                <a:srgbClr val="FF0000"/>
              </a:solidFill>
            </a:endParaRPr>
          </a:p>
          <a:p>
            <a:pPr eaLnBrk="1" hangingPunct="1">
              <a:spcBef>
                <a:spcPct val="0"/>
              </a:spcBef>
              <a:buFontTx/>
              <a:buNone/>
            </a:pPr>
            <a:endParaRPr lang="en-US" altLang="zh-CN" b="1" dirty="0"/>
          </a:p>
          <a:p>
            <a:pPr eaLnBrk="1" hangingPunct="1">
              <a:spcBef>
                <a:spcPct val="0"/>
              </a:spcBef>
              <a:buFontTx/>
              <a:buNone/>
            </a:pPr>
            <a:r>
              <a:rPr kumimoji="0" lang="zh-CN" altLang="en-US" sz="1200" b="1" dirty="0"/>
              <a:t>证明 </a:t>
            </a:r>
            <a:r>
              <a:rPr kumimoji="0" lang="en-US" altLang="zh-CN" sz="1200" b="1" i="1" dirty="0"/>
              <a:t>R </a:t>
            </a:r>
            <a:r>
              <a:rPr kumimoji="0" lang="zh-CN" altLang="en-US" sz="1200" b="1" dirty="0"/>
              <a:t>在 </a:t>
            </a:r>
            <a:r>
              <a:rPr kumimoji="0" lang="en-US" altLang="zh-CN" sz="1200" b="1" i="1" dirty="0"/>
              <a:t>A </a:t>
            </a:r>
            <a:r>
              <a:rPr kumimoji="0" lang="zh-CN" altLang="en-US" sz="1200" b="1" dirty="0"/>
              <a:t>上自反 </a:t>
            </a:r>
            <a:endParaRPr kumimoji="0" lang="en-US" altLang="zh-CN" sz="1200" b="1" dirty="0"/>
          </a:p>
          <a:p>
            <a:pPr eaLnBrk="1" hangingPunct="1">
              <a:spcBef>
                <a:spcPct val="0"/>
              </a:spcBef>
              <a:buFontTx/>
              <a:buNone/>
            </a:pPr>
            <a:endParaRPr kumimoji="0" lang="zh-CN" altLang="en-US" sz="1200" b="1" dirty="0"/>
          </a:p>
          <a:p>
            <a:pPr eaLnBrk="1" hangingPunct="1">
              <a:spcBef>
                <a:spcPct val="0"/>
              </a:spcBef>
              <a:buFontTx/>
              <a:buNone/>
            </a:pPr>
            <a:r>
              <a:rPr kumimoji="0" lang="zh-CN" altLang="en-US" sz="1200" b="1" dirty="0"/>
              <a:t>    任取 </a:t>
            </a:r>
            <a:r>
              <a:rPr kumimoji="0" lang="en-US" altLang="zh-CN" sz="1200" b="1" i="1" dirty="0"/>
              <a:t>x</a:t>
            </a:r>
            <a:r>
              <a:rPr kumimoji="0" lang="en-US" altLang="zh-CN" sz="1200" b="1" dirty="0"/>
              <a:t>, </a:t>
            </a:r>
            <a:endParaRPr kumimoji="0" lang="en-US" altLang="zh-CN" sz="1200" b="1" i="1" dirty="0"/>
          </a:p>
          <a:p>
            <a:pPr eaLnBrk="1" hangingPunct="1">
              <a:spcBef>
                <a:spcPct val="0"/>
              </a:spcBef>
              <a:buFontTx/>
              <a:buNone/>
            </a:pPr>
            <a:r>
              <a:rPr kumimoji="0" lang="en-US" altLang="zh-CN" sz="1200" b="1" i="1" dirty="0"/>
              <a:t>     </a:t>
            </a:r>
            <a:r>
              <a:rPr kumimoji="0" lang="en-US" altLang="zh-CN" sz="1200" b="1" i="1" dirty="0" err="1"/>
              <a:t>x</a:t>
            </a:r>
            <a:r>
              <a:rPr kumimoji="0" lang="en-US" altLang="zh-CN" sz="1200" b="1" dirty="0" err="1">
                <a:sym typeface="Symbol" panose="05050102010706020507" pitchFamily="18" charset="2"/>
              </a:rPr>
              <a:t></a:t>
            </a:r>
            <a:r>
              <a:rPr kumimoji="0" lang="en-US" altLang="zh-CN" sz="1200" b="1" i="1" dirty="0" err="1"/>
              <a:t>A</a:t>
            </a:r>
            <a:r>
              <a:rPr kumimoji="0" lang="en-US" altLang="zh-CN" sz="1200" b="1" dirty="0"/>
              <a:t>  </a:t>
            </a:r>
            <a:r>
              <a:rPr kumimoji="0" lang="en-US" altLang="zh-CN" sz="1200" b="1" dirty="0">
                <a:sym typeface="Symbol" panose="05050102010706020507" pitchFamily="18" charset="2"/>
              </a:rPr>
              <a:t></a:t>
            </a:r>
            <a:r>
              <a:rPr kumimoji="0" lang="en-US" altLang="zh-CN" sz="1200" b="1" dirty="0"/>
              <a:t> ………   ………..….   ……. </a:t>
            </a:r>
            <a:r>
              <a:rPr kumimoji="0" lang="en-US" altLang="zh-CN" sz="1200" b="1" dirty="0">
                <a:sym typeface="Symbol" panose="05050102010706020507" pitchFamily="18" charset="2"/>
              </a:rPr>
              <a:t> </a:t>
            </a:r>
            <a:r>
              <a:rPr kumimoji="0" lang="en-US" altLang="zh-CN" sz="1200" b="1" dirty="0"/>
              <a:t> &lt;</a:t>
            </a:r>
            <a:r>
              <a:rPr kumimoji="0" lang="en-US" altLang="zh-CN" sz="1200" b="1" i="1" dirty="0"/>
              <a:t>x</a:t>
            </a:r>
            <a:r>
              <a:rPr kumimoji="0" lang="en-US" altLang="zh-CN" sz="1200" b="1" dirty="0"/>
              <a:t>, </a:t>
            </a:r>
            <a:r>
              <a:rPr kumimoji="0" lang="en-US" altLang="zh-CN" sz="1200" b="1" i="1" dirty="0"/>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endParaRPr kumimoji="0" lang="en-US" altLang="zh-CN" sz="1200" b="1" dirty="0"/>
          </a:p>
          <a:p>
            <a:pPr eaLnBrk="1" hangingPunct="1">
              <a:spcBef>
                <a:spcPct val="0"/>
              </a:spcBef>
              <a:buFontTx/>
              <a:buNone/>
            </a:pPr>
            <a:r>
              <a:rPr kumimoji="0" lang="en-US" altLang="zh-CN" sz="1200" b="1" dirty="0"/>
              <a:t>     </a:t>
            </a:r>
            <a:r>
              <a:rPr kumimoji="0" lang="zh-CN" altLang="en-US" sz="1200" b="1" dirty="0"/>
              <a:t>前提                      推理过程                         结论</a:t>
            </a:r>
          </a:p>
          <a:p>
            <a:pPr marL="0" indent="1252538" eaLnBrk="1" hangingPunct="1">
              <a:spcBef>
                <a:spcPct val="60000"/>
              </a:spcBef>
              <a:buNone/>
            </a:pPr>
            <a:endParaRPr lang="zh-CN" altLang="en-US" b="1" dirty="0"/>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4   </a:t>
            </a:r>
            <a:r>
              <a:rPr kumimoji="0" lang="zh-CN" altLang="en-US" sz="1200" b="1" dirty="0"/>
              <a:t>证明若 </a:t>
            </a:r>
            <a:r>
              <a:rPr kumimoji="0" lang="en-US" altLang="zh-CN" sz="1200" b="1" i="1" dirty="0"/>
              <a:t>I</a:t>
            </a:r>
            <a:r>
              <a:rPr kumimoji="0" lang="en-US" altLang="zh-CN" sz="1200" b="1" i="1" baseline="-25000" dirty="0"/>
              <a:t>A </a:t>
            </a:r>
            <a:r>
              <a:rPr kumimoji="0" lang="en-US" altLang="zh-CN" sz="1200" b="1" dirty="0">
                <a:sym typeface="Symbol" panose="05050102010706020507" pitchFamily="18" charset="2"/>
              </a:rPr>
              <a:t></a:t>
            </a:r>
            <a:r>
              <a:rPr kumimoji="0" lang="en-US" altLang="zh-CN" sz="1200" b="1" i="1" dirty="0"/>
              <a:t>R </a:t>
            </a:r>
            <a:r>
              <a:rPr kumimoji="0" lang="zh-CN" altLang="en-US" sz="1200" b="1" i="1" dirty="0"/>
              <a:t>，</a:t>
            </a:r>
            <a:r>
              <a:rPr kumimoji="0" lang="zh-CN" altLang="en-US" sz="1200" b="1" dirty="0"/>
              <a:t>则</a:t>
            </a:r>
            <a:r>
              <a:rPr kumimoji="0" lang="zh-CN" altLang="en-US" sz="1200" b="1" i="1" dirty="0"/>
              <a:t> </a:t>
            </a:r>
            <a:r>
              <a:rPr kumimoji="0" lang="en-US" altLang="zh-CN" sz="1200" b="1" i="1" dirty="0"/>
              <a:t>R </a:t>
            </a:r>
            <a:r>
              <a:rPr kumimoji="0" lang="zh-CN" altLang="en-US" sz="1200" b="1" dirty="0"/>
              <a:t>在 </a:t>
            </a:r>
            <a:r>
              <a:rPr kumimoji="0" lang="en-US" altLang="zh-CN" sz="1200" b="1" i="1" dirty="0"/>
              <a:t>A </a:t>
            </a:r>
            <a:r>
              <a:rPr kumimoji="0" lang="zh-CN" altLang="en-US" sz="1200" b="1" dirty="0"/>
              <a:t>上自反</a:t>
            </a:r>
            <a:r>
              <a:rPr kumimoji="0" lang="en-US" altLang="zh-CN" sz="1200" b="1" dirty="0"/>
              <a:t>. </a:t>
            </a:r>
          </a:p>
          <a:p>
            <a:pPr eaLnBrk="1" hangingPunct="1">
              <a:lnSpc>
                <a:spcPct val="120000"/>
              </a:lnSpc>
              <a:spcBef>
                <a:spcPct val="0"/>
              </a:spcBef>
              <a:buFontTx/>
              <a:buNone/>
            </a:pPr>
            <a:r>
              <a:rPr kumimoji="0" lang="zh-CN" altLang="en-US" sz="1200" b="1" dirty="0"/>
              <a:t>   证     任取</a:t>
            </a:r>
            <a:r>
              <a:rPr kumimoji="0" lang="en-US" altLang="zh-CN" sz="1200" b="1" i="1" dirty="0"/>
              <a:t>x</a:t>
            </a:r>
            <a:r>
              <a:rPr kumimoji="0" lang="en-US" altLang="zh-CN" sz="1200" b="1" dirty="0"/>
              <a:t>, </a:t>
            </a:r>
            <a:br>
              <a:rPr kumimoji="0" lang="en-US" altLang="zh-CN" sz="1200" b="1" dirty="0"/>
            </a:br>
            <a:r>
              <a:rPr kumimoji="0" lang="en-US" altLang="zh-CN" sz="1200" b="1" dirty="0"/>
              <a:t>          </a:t>
            </a:r>
            <a:r>
              <a:rPr kumimoji="0" lang="en-US" altLang="zh-CN" sz="1200" b="1" i="1" dirty="0" err="1"/>
              <a:t>x</a:t>
            </a:r>
            <a:r>
              <a:rPr kumimoji="0" lang="en-US" altLang="zh-CN" sz="1200" b="1" dirty="0" err="1">
                <a:latin typeface="Arial" panose="020B0604020202020204" pitchFamily="34" charset="0"/>
                <a:sym typeface="Symbol" panose="05050102010706020507" pitchFamily="18" charset="2"/>
              </a:rPr>
              <a:t></a:t>
            </a:r>
            <a:r>
              <a:rPr kumimoji="0" lang="en-US" altLang="zh-CN" sz="1200" b="1" i="1" dirty="0" err="1"/>
              <a:t>A</a:t>
            </a:r>
            <a:r>
              <a:rPr kumimoji="0" lang="en-US" altLang="zh-CN" sz="1200" b="1" i="1" dirty="0"/>
              <a:t>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x</a:t>
            </a:r>
            <a:r>
              <a:rPr kumimoji="0" lang="en-US" altLang="zh-CN" sz="1200" b="1" dirty="0"/>
              <a:t>&gt; </a:t>
            </a:r>
            <a:r>
              <a:rPr kumimoji="0" lang="en-US" altLang="zh-CN" sz="1200" b="1" dirty="0">
                <a:latin typeface="Arial" panose="020B0604020202020204" pitchFamily="34" charset="0"/>
                <a:sym typeface="Symbol" panose="05050102010706020507" pitchFamily="18" charset="2"/>
              </a:rPr>
              <a:t></a:t>
            </a:r>
            <a:r>
              <a:rPr kumimoji="0" lang="en-US" altLang="zh-CN" sz="1200" b="1" i="1" dirty="0"/>
              <a:t>I</a:t>
            </a:r>
            <a:r>
              <a:rPr kumimoji="0" lang="en-US" altLang="zh-CN" sz="1200" b="1" i="1" baseline="-25000" dirty="0"/>
              <a:t>A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x</a:t>
            </a:r>
            <a:r>
              <a:rPr kumimoji="0" lang="en-US" altLang="zh-CN" sz="1200" b="1" dirty="0"/>
              <a:t>&gt;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  </a:t>
            </a:r>
            <a:br>
              <a:rPr kumimoji="0" lang="en-US" altLang="zh-CN" sz="1200" b="1" dirty="0"/>
            </a:br>
            <a:r>
              <a:rPr kumimoji="0" lang="zh-CN" altLang="en-US" sz="1200" b="1" dirty="0"/>
              <a:t>因此 </a:t>
            </a:r>
            <a:r>
              <a:rPr kumimoji="0" lang="en-US" altLang="zh-CN" sz="1200" b="1" i="1" dirty="0"/>
              <a:t>R </a:t>
            </a:r>
            <a:r>
              <a:rPr kumimoji="0" lang="zh-CN" altLang="en-US" sz="1200" b="1" dirty="0"/>
              <a:t>在 </a:t>
            </a:r>
            <a:r>
              <a:rPr kumimoji="0" lang="en-US" altLang="zh-CN" sz="1200" b="1" i="1" dirty="0"/>
              <a:t>A </a:t>
            </a:r>
            <a:r>
              <a:rPr kumimoji="0" lang="zh-CN" altLang="en-US" sz="1200" b="1" dirty="0"/>
              <a:t>上是自反的</a:t>
            </a:r>
            <a:r>
              <a:rPr kumimoji="0" lang="en-US" altLang="zh-CN" sz="1200" b="1"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10193766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证明模式 </a:t>
            </a:r>
            <a:endParaRPr kumimoji="0" lang="en-US" altLang="zh-CN" sz="1200" b="1" dirty="0">
              <a:solidFill>
                <a:srgbClr val="FF0000"/>
              </a:solidFill>
            </a:endParaRPr>
          </a:p>
          <a:p>
            <a:pPr eaLnBrk="1" hangingPunct="1">
              <a:spcBef>
                <a:spcPct val="0"/>
              </a:spcBef>
              <a:buFontTx/>
              <a:buNone/>
            </a:pPr>
            <a:r>
              <a:rPr lang="en-US" altLang="zh-CN" b="1" dirty="0"/>
              <a:t>    </a:t>
            </a:r>
            <a:r>
              <a:rPr kumimoji="0" lang="zh-CN" altLang="en-US" sz="1200" b="1" dirty="0"/>
              <a:t> 证明 </a:t>
            </a:r>
            <a:r>
              <a:rPr kumimoji="0" lang="en-US" altLang="zh-CN" sz="1200" b="1" i="1" dirty="0"/>
              <a:t>R </a:t>
            </a:r>
            <a:r>
              <a:rPr kumimoji="0" lang="zh-CN" altLang="en-US" sz="1200" b="1" dirty="0"/>
              <a:t>在 </a:t>
            </a:r>
            <a:r>
              <a:rPr kumimoji="0" lang="en-US" altLang="zh-CN" sz="1200" b="1" i="1" dirty="0"/>
              <a:t>A </a:t>
            </a:r>
            <a:r>
              <a:rPr kumimoji="0" lang="zh-CN" altLang="en-US" sz="1200" b="1" dirty="0"/>
              <a:t>上对称 </a:t>
            </a:r>
          </a:p>
          <a:p>
            <a:pPr eaLnBrk="1" hangingPunct="1">
              <a:spcBef>
                <a:spcPct val="0"/>
              </a:spcBef>
              <a:buFontTx/>
              <a:buNone/>
            </a:pPr>
            <a:r>
              <a:rPr kumimoji="0" lang="zh-CN" altLang="en-US" sz="1200" b="1" dirty="0"/>
              <a:t>     任取</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 </a:t>
            </a:r>
            <a:endParaRPr kumimoji="0" lang="en-US" altLang="zh-CN" sz="1200" b="1" i="1" dirty="0"/>
          </a:p>
          <a:p>
            <a:pPr eaLnBrk="1" hangingPunct="1">
              <a:spcBef>
                <a:spcPct val="0"/>
              </a:spcBef>
              <a:buFontTx/>
              <a:buNone/>
            </a:pPr>
            <a:r>
              <a:rPr kumimoji="0" lang="en-US" altLang="zh-CN" sz="1200" b="1" i="1" dirty="0"/>
              <a:t>     &lt;x, y&gt;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en-US" altLang="zh-CN" sz="1200" b="1" dirty="0">
                <a:sym typeface="Symbol" panose="05050102010706020507" pitchFamily="18" charset="2"/>
              </a:rPr>
              <a:t></a:t>
            </a:r>
            <a:r>
              <a:rPr kumimoji="0" lang="en-US" altLang="zh-CN" sz="1200" b="1" dirty="0"/>
              <a:t>……   ………..….   ……. </a:t>
            </a:r>
            <a:r>
              <a:rPr kumimoji="0" lang="en-US" altLang="zh-CN" sz="1200" b="1" dirty="0">
                <a:sym typeface="Symbol" panose="05050102010706020507" pitchFamily="18" charset="2"/>
              </a:rPr>
              <a:t> </a:t>
            </a:r>
            <a:r>
              <a:rPr kumimoji="0" lang="en-US" altLang="zh-CN" sz="1200" b="1" dirty="0"/>
              <a:t> &lt;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endParaRPr kumimoji="0" lang="en-US" altLang="zh-CN" sz="1200" b="1" dirty="0"/>
          </a:p>
          <a:p>
            <a:pPr eaLnBrk="1" hangingPunct="1">
              <a:spcBef>
                <a:spcPct val="0"/>
              </a:spcBef>
              <a:buFontTx/>
              <a:buNone/>
            </a:pPr>
            <a:r>
              <a:rPr kumimoji="0" lang="en-US" altLang="zh-CN" sz="1200" b="1" dirty="0"/>
              <a:t>       </a:t>
            </a:r>
            <a:r>
              <a:rPr kumimoji="0" lang="zh-CN" altLang="en-US" sz="1200" b="1" dirty="0"/>
              <a:t>前提                      推理过程                          结论</a:t>
            </a:r>
          </a:p>
          <a:p>
            <a:pPr eaLnBrk="1" hangingPunct="1">
              <a:spcBef>
                <a:spcPct val="0"/>
              </a:spcBef>
              <a:buFontTx/>
              <a:buNone/>
            </a:pPr>
            <a:endParaRPr lang="en-US" altLang="zh-CN" b="1" dirty="0"/>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5   </a:t>
            </a:r>
            <a:r>
              <a:rPr kumimoji="0" lang="zh-CN" altLang="en-US" sz="1200" b="1" dirty="0"/>
              <a:t>证明若 </a:t>
            </a:r>
            <a:r>
              <a:rPr kumimoji="0" lang="en-US" altLang="zh-CN" sz="1200" b="1" i="1" dirty="0"/>
              <a:t>R</a:t>
            </a:r>
            <a:r>
              <a:rPr kumimoji="0" lang="en-US" altLang="zh-CN" sz="1200" b="1" dirty="0"/>
              <a:t>=</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r>
              <a:rPr kumimoji="0" lang="en-US" altLang="zh-CN" sz="1200" b="1" i="1" dirty="0"/>
              <a:t> , </a:t>
            </a:r>
            <a:r>
              <a:rPr kumimoji="0" lang="zh-CN" altLang="en-US" sz="1200" b="1" dirty="0"/>
              <a:t>则 </a:t>
            </a:r>
            <a:r>
              <a:rPr kumimoji="0" lang="en-US" altLang="zh-CN" sz="1200" b="1" i="1" dirty="0"/>
              <a:t>R </a:t>
            </a:r>
            <a:r>
              <a:rPr kumimoji="0" lang="zh-CN" altLang="en-US" sz="1200" b="1" dirty="0"/>
              <a:t>在</a:t>
            </a:r>
            <a:r>
              <a:rPr kumimoji="0" lang="en-US" altLang="zh-CN" sz="1200" b="1" i="1" dirty="0"/>
              <a:t>A</a:t>
            </a:r>
            <a:r>
              <a:rPr kumimoji="0" lang="zh-CN" altLang="en-US" sz="1200" b="1" dirty="0"/>
              <a:t>上对称</a:t>
            </a:r>
            <a:r>
              <a:rPr kumimoji="0" lang="en-US" altLang="zh-CN" sz="1200" b="1" dirty="0"/>
              <a:t>. </a:t>
            </a:r>
          </a:p>
          <a:p>
            <a:pPr eaLnBrk="1" hangingPunct="1">
              <a:lnSpc>
                <a:spcPct val="120000"/>
              </a:lnSpc>
              <a:spcBef>
                <a:spcPct val="0"/>
              </a:spcBef>
              <a:buFontTx/>
              <a:buNone/>
            </a:pPr>
            <a:r>
              <a:rPr kumimoji="0" lang="zh-CN" altLang="en-US" sz="1200" b="1" dirty="0"/>
              <a:t>   证     任取</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 </a:t>
            </a:r>
            <a:br>
              <a:rPr kumimoji="0" lang="en-US" altLang="zh-CN" sz="1200" b="1" dirty="0"/>
            </a:br>
            <a:r>
              <a:rPr kumimoji="0" lang="en-US" altLang="zh-CN" sz="1200" b="1" dirty="0"/>
              <a:t>          &lt;</a:t>
            </a:r>
            <a:r>
              <a:rPr kumimoji="0" lang="en-US" altLang="zh-CN" sz="1200" b="1" i="1" dirty="0"/>
              <a:t>x, y&gt;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 </a:t>
            </a:r>
            <a:r>
              <a:rPr kumimoji="0" lang="en-US" altLang="zh-CN" sz="1200" b="1" dirty="0">
                <a:sym typeface="Symbol" panose="05050102010706020507" pitchFamily="18" charset="2"/>
              </a:rPr>
              <a:t> </a:t>
            </a:r>
            <a:r>
              <a:rPr kumimoji="0" lang="en-US" altLang="zh-CN" sz="1200" b="1" dirty="0"/>
              <a:t>&lt;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a:t>
            </a:r>
            <a:r>
              <a:rPr kumimoji="0" lang="en-US" altLang="zh-CN" sz="1200" b="1" i="1" baseline="-25000" dirty="0"/>
              <a:t> </a:t>
            </a:r>
            <a:r>
              <a:rPr kumimoji="0" lang="en-US" altLang="zh-CN" sz="1200" b="1" baseline="30000" dirty="0">
                <a:latin typeface="Arial" panose="020B0604020202020204" pitchFamily="34" charset="0"/>
                <a:sym typeface="Symbol" panose="05050102010706020507" pitchFamily="18" charset="2"/>
              </a:rPr>
              <a:t></a:t>
            </a:r>
            <a:r>
              <a:rPr kumimoji="0" lang="en-US" altLang="zh-CN" sz="1200" b="1" baseline="30000" dirty="0">
                <a:latin typeface="Arial" panose="020B0604020202020204" pitchFamily="34" charset="0"/>
              </a:rPr>
              <a:t>1</a:t>
            </a:r>
            <a:r>
              <a:rPr kumimoji="0" lang="en-US" altLang="zh-CN" sz="1050" b="1" dirty="0">
                <a:latin typeface="Arial" panose="020B0604020202020204" pitchFamily="34" charset="0"/>
              </a:rPr>
              <a:t> </a:t>
            </a:r>
            <a:r>
              <a:rPr kumimoji="0" lang="en-US" altLang="zh-CN" sz="1200" b="1" dirty="0">
                <a:sym typeface="Symbol" panose="05050102010706020507" pitchFamily="18" charset="2"/>
              </a:rPr>
              <a:t> </a:t>
            </a:r>
            <a:r>
              <a:rPr kumimoji="0" lang="en-US" altLang="zh-CN" sz="1200" b="1" dirty="0"/>
              <a:t>&lt;</a:t>
            </a:r>
            <a:r>
              <a:rPr kumimoji="0" lang="en-US" altLang="zh-CN" sz="1200" b="1" i="1" dirty="0"/>
              <a:t>y</a:t>
            </a:r>
            <a:r>
              <a:rPr kumimoji="0" lang="en-US" altLang="zh-CN" sz="1200" b="1" dirty="0"/>
              <a:t>, </a:t>
            </a:r>
            <a:r>
              <a:rPr kumimoji="0" lang="en-US" altLang="zh-CN" sz="1200" b="1" i="1" dirty="0"/>
              <a:t>x</a:t>
            </a:r>
            <a:r>
              <a:rPr kumimoji="0" lang="en-US" altLang="zh-CN" sz="1200" b="1" dirty="0"/>
              <a:t>&gt;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    </a:t>
            </a:r>
            <a:br>
              <a:rPr kumimoji="0" lang="en-US" altLang="zh-CN" sz="1200" b="1" dirty="0"/>
            </a:br>
            <a:r>
              <a:rPr kumimoji="0" lang="zh-CN" altLang="en-US" sz="1200" b="1" dirty="0"/>
              <a:t>因此 </a:t>
            </a:r>
            <a:r>
              <a:rPr kumimoji="0" lang="en-US" altLang="zh-CN" sz="1200" b="1" i="1" dirty="0"/>
              <a:t>R </a:t>
            </a:r>
            <a:r>
              <a:rPr kumimoji="0" lang="zh-CN" altLang="en-US" sz="1200" b="1" dirty="0"/>
              <a:t>在 </a:t>
            </a:r>
            <a:r>
              <a:rPr kumimoji="0" lang="en-US" altLang="zh-CN" sz="1200" b="1" i="1" dirty="0"/>
              <a:t>A </a:t>
            </a:r>
            <a:r>
              <a:rPr kumimoji="0" lang="zh-CN" altLang="en-US" sz="1200" b="1" dirty="0"/>
              <a:t>上是对称的</a:t>
            </a:r>
            <a:r>
              <a:rPr kumimoji="0" lang="en-US" altLang="zh-CN" sz="1200" b="1"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41882111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2800" b="1" dirty="0">
                <a:solidFill>
                  <a:srgbClr val="FF0000"/>
                </a:solidFill>
              </a:rPr>
              <a:t>证明模式</a:t>
            </a:r>
            <a:endParaRPr kumimoji="0" lang="en-US" altLang="zh-CN" sz="2800" b="1" dirty="0">
              <a:solidFill>
                <a:srgbClr val="FF0000"/>
              </a:solidFill>
            </a:endParaRPr>
          </a:p>
          <a:p>
            <a:pPr eaLnBrk="1" hangingPunct="1">
              <a:spcBef>
                <a:spcPct val="0"/>
              </a:spcBef>
              <a:buFontTx/>
              <a:buNone/>
            </a:pPr>
            <a:r>
              <a:rPr kumimoji="0" lang="zh-CN" altLang="en-US" sz="2800" b="1" dirty="0"/>
              <a:t>  证明 </a:t>
            </a:r>
            <a:r>
              <a:rPr kumimoji="0" lang="en-US" altLang="zh-CN" sz="2800" b="1" i="1" dirty="0"/>
              <a:t>R </a:t>
            </a:r>
            <a:r>
              <a:rPr kumimoji="0" lang="zh-CN" altLang="en-US" sz="2800" b="1" dirty="0"/>
              <a:t>在 </a:t>
            </a:r>
            <a:r>
              <a:rPr kumimoji="0" lang="en-US" altLang="zh-CN" sz="2800" b="1" i="1" dirty="0"/>
              <a:t>A </a:t>
            </a:r>
            <a:r>
              <a:rPr kumimoji="0" lang="zh-CN" altLang="en-US" sz="2800" b="1" dirty="0"/>
              <a:t>上反对称 </a:t>
            </a:r>
          </a:p>
          <a:p>
            <a:pPr eaLnBrk="1" hangingPunct="1">
              <a:spcBef>
                <a:spcPct val="0"/>
              </a:spcBef>
              <a:buFontTx/>
              <a:buNone/>
            </a:pPr>
            <a:r>
              <a:rPr kumimoji="0" lang="zh-CN" altLang="en-US" sz="2800" b="1" dirty="0"/>
              <a:t>     任取</a:t>
            </a:r>
            <a:r>
              <a:rPr kumimoji="0" lang="en-US" altLang="zh-CN" sz="2800" b="1" dirty="0"/>
              <a:t>&lt;</a:t>
            </a:r>
            <a:r>
              <a:rPr kumimoji="0" lang="en-US" altLang="zh-CN" sz="2800" b="1" i="1" dirty="0"/>
              <a:t>x</a:t>
            </a:r>
            <a:r>
              <a:rPr kumimoji="0" lang="en-US" altLang="zh-CN" sz="2800" b="1" dirty="0"/>
              <a:t>, </a:t>
            </a:r>
            <a:r>
              <a:rPr kumimoji="0" lang="en-US" altLang="zh-CN" sz="2800" b="1" i="1" dirty="0"/>
              <a:t>y</a:t>
            </a:r>
            <a:r>
              <a:rPr kumimoji="0" lang="en-US" altLang="zh-CN" sz="2800" b="1" dirty="0"/>
              <a:t>&gt; </a:t>
            </a:r>
            <a:endParaRPr kumimoji="0" lang="en-US" altLang="zh-CN" sz="2800" b="1" i="1" dirty="0"/>
          </a:p>
          <a:p>
            <a:pPr eaLnBrk="1" hangingPunct="1">
              <a:spcBef>
                <a:spcPct val="0"/>
              </a:spcBef>
              <a:buFontTx/>
              <a:buNone/>
            </a:pPr>
            <a:r>
              <a:rPr kumimoji="0" lang="en-US" altLang="zh-CN" sz="2800" b="1" i="1" dirty="0"/>
              <a:t>     &lt;x, y&gt;</a:t>
            </a:r>
            <a:r>
              <a:rPr kumimoji="0" lang="en-US" altLang="zh-CN" sz="2800" b="1" dirty="0">
                <a:sym typeface="Symbol" panose="05050102010706020507" pitchFamily="18" charset="2"/>
              </a:rPr>
              <a:t></a:t>
            </a:r>
            <a:r>
              <a:rPr kumimoji="0" lang="en-US" altLang="zh-CN" sz="2800" b="1" i="1" dirty="0"/>
              <a:t>R</a:t>
            </a:r>
            <a:r>
              <a:rPr kumimoji="0" lang="en-US" altLang="zh-CN" sz="2800" b="1" dirty="0">
                <a:sym typeface="Symbol" panose="05050102010706020507" pitchFamily="18" charset="2"/>
              </a:rPr>
              <a:t></a:t>
            </a:r>
            <a:r>
              <a:rPr kumimoji="0" lang="en-US" altLang="zh-CN" sz="2800" b="1" dirty="0"/>
              <a:t>&lt;y, x&gt;</a:t>
            </a:r>
            <a:r>
              <a:rPr kumimoji="0" lang="en-US" altLang="zh-CN" sz="2800" b="1" dirty="0">
                <a:sym typeface="Symbol" panose="05050102010706020507" pitchFamily="18" charset="2"/>
              </a:rPr>
              <a:t></a:t>
            </a:r>
            <a:r>
              <a:rPr kumimoji="0" lang="en-US" altLang="zh-CN" sz="2800" b="1" i="1" dirty="0"/>
              <a:t>R</a:t>
            </a:r>
            <a:r>
              <a:rPr kumimoji="0" lang="en-US" altLang="zh-CN" sz="2000" b="1" dirty="0">
                <a:latin typeface="Arial" panose="020B0604020202020204" pitchFamily="34" charset="0"/>
              </a:rPr>
              <a:t> </a:t>
            </a:r>
            <a:r>
              <a:rPr kumimoji="0" lang="en-US" altLang="zh-CN" sz="2800" b="1" dirty="0">
                <a:sym typeface="Symbol" panose="05050102010706020507" pitchFamily="18" charset="2"/>
              </a:rPr>
              <a:t></a:t>
            </a:r>
            <a:r>
              <a:rPr kumimoji="0" lang="en-US" altLang="zh-CN" sz="2800" b="1" dirty="0"/>
              <a:t> ………..………. </a:t>
            </a:r>
            <a:r>
              <a:rPr kumimoji="0" lang="en-US" altLang="zh-CN" sz="2800" b="1" dirty="0">
                <a:sym typeface="Symbol" panose="05050102010706020507" pitchFamily="18" charset="2"/>
              </a:rPr>
              <a:t></a:t>
            </a:r>
            <a:r>
              <a:rPr kumimoji="0" lang="en-US" altLang="zh-CN" sz="2800" b="1" dirty="0"/>
              <a:t> </a:t>
            </a:r>
            <a:r>
              <a:rPr kumimoji="0" lang="en-US" altLang="zh-CN" sz="2800" b="1" i="1" dirty="0"/>
              <a:t>x=y </a:t>
            </a:r>
            <a:endParaRPr kumimoji="0" lang="en-US" altLang="zh-CN" sz="2800" b="1" dirty="0"/>
          </a:p>
          <a:p>
            <a:pPr eaLnBrk="1" hangingPunct="1">
              <a:spcBef>
                <a:spcPct val="0"/>
              </a:spcBef>
              <a:buFontTx/>
              <a:buNone/>
            </a:pPr>
            <a:r>
              <a:rPr kumimoji="0" lang="en-US" altLang="zh-CN" sz="2800" b="1" dirty="0"/>
              <a:t>                 </a:t>
            </a:r>
            <a:r>
              <a:rPr kumimoji="0" lang="zh-CN" altLang="en-US" sz="2800" b="1" dirty="0"/>
              <a:t>前提                      推理过程            结论</a:t>
            </a:r>
          </a:p>
          <a:p>
            <a:pPr marL="457200" lvl="1" indent="0">
              <a:buNone/>
            </a:pPr>
            <a:endParaRPr lang="en-US" altLang="zh-CN" sz="2800" b="1" dirty="0"/>
          </a:p>
          <a:p>
            <a:pPr eaLnBrk="1" hangingPunct="1">
              <a:lnSpc>
                <a:spcPct val="120000"/>
              </a:lnSpc>
              <a:spcBef>
                <a:spcPct val="0"/>
              </a:spcBef>
              <a:buFontTx/>
              <a:buNone/>
            </a:pPr>
            <a:r>
              <a:rPr kumimoji="0" lang="zh-CN" altLang="en-US" sz="2800" b="1" dirty="0">
                <a:solidFill>
                  <a:srgbClr val="00B0F0"/>
                </a:solidFill>
              </a:rPr>
              <a:t>例</a:t>
            </a:r>
            <a:r>
              <a:rPr kumimoji="0" lang="en-US" altLang="zh-CN" sz="2800" b="1" dirty="0">
                <a:solidFill>
                  <a:srgbClr val="00B0F0"/>
                </a:solidFill>
              </a:rPr>
              <a:t>6   </a:t>
            </a:r>
            <a:r>
              <a:rPr kumimoji="0" lang="zh-CN" altLang="en-US" sz="2800" b="1" dirty="0"/>
              <a:t>证明若 </a:t>
            </a:r>
            <a:r>
              <a:rPr kumimoji="0" lang="en-US" altLang="zh-CN" sz="2800" b="1" i="1" dirty="0"/>
              <a:t>R</a:t>
            </a:r>
            <a:r>
              <a:rPr kumimoji="0" lang="en-US" altLang="zh-CN" sz="2800" b="1" dirty="0"/>
              <a:t>∩</a:t>
            </a:r>
            <a:r>
              <a:rPr kumimoji="0" lang="en-US" altLang="zh-CN" sz="2800" b="1" i="1" dirty="0"/>
              <a:t>R</a:t>
            </a:r>
            <a:r>
              <a:rPr kumimoji="0" lang="en-US" altLang="zh-CN" sz="2800" b="1" baseline="30000" dirty="0">
                <a:sym typeface="Symbol" panose="05050102010706020507" pitchFamily="18" charset="2"/>
              </a:rPr>
              <a:t></a:t>
            </a:r>
            <a:r>
              <a:rPr kumimoji="0" lang="en-US" altLang="zh-CN" sz="2800" b="1" baseline="30000" dirty="0"/>
              <a:t>1</a:t>
            </a:r>
            <a:r>
              <a:rPr kumimoji="0" lang="en-US" altLang="zh-CN" sz="2800" b="1" dirty="0">
                <a:sym typeface="Symbol" panose="05050102010706020507" pitchFamily="18" charset="2"/>
              </a:rPr>
              <a:t></a:t>
            </a:r>
            <a:r>
              <a:rPr kumimoji="0" lang="en-US" altLang="zh-CN" sz="2800" b="1" i="1" dirty="0"/>
              <a:t>I</a:t>
            </a:r>
            <a:r>
              <a:rPr kumimoji="0" lang="en-US" altLang="zh-CN" sz="2800" b="1" i="1" baseline="-25000" dirty="0"/>
              <a:t>A </a:t>
            </a:r>
            <a:r>
              <a:rPr kumimoji="0" lang="en-US" altLang="zh-CN" sz="2800" b="1" dirty="0">
                <a:latin typeface="Arial" panose="020B0604020202020204" pitchFamily="34" charset="0"/>
              </a:rPr>
              <a:t>, </a:t>
            </a:r>
            <a:r>
              <a:rPr kumimoji="0" lang="en-US" altLang="zh-CN" sz="2800" b="1" i="1" dirty="0"/>
              <a:t> </a:t>
            </a:r>
            <a:r>
              <a:rPr kumimoji="0" lang="zh-CN" altLang="en-US" sz="2800" b="1" dirty="0"/>
              <a:t>则 </a:t>
            </a:r>
            <a:r>
              <a:rPr kumimoji="0" lang="en-US" altLang="zh-CN" sz="2800" b="1" i="1" dirty="0"/>
              <a:t>R </a:t>
            </a:r>
            <a:r>
              <a:rPr kumimoji="0" lang="zh-CN" altLang="en-US" sz="2800" b="1" dirty="0"/>
              <a:t>在 </a:t>
            </a:r>
            <a:r>
              <a:rPr kumimoji="0" lang="en-US" altLang="zh-CN" sz="2800" b="1" i="1" dirty="0"/>
              <a:t>A </a:t>
            </a:r>
            <a:r>
              <a:rPr kumimoji="0" lang="zh-CN" altLang="en-US" sz="2800" b="1" dirty="0"/>
              <a:t>上反对称</a:t>
            </a:r>
            <a:r>
              <a:rPr kumimoji="0" lang="en-US" altLang="zh-CN" sz="2800" b="1" dirty="0"/>
              <a:t>.   </a:t>
            </a:r>
          </a:p>
          <a:p>
            <a:pPr eaLnBrk="1" hangingPunct="1">
              <a:lnSpc>
                <a:spcPct val="120000"/>
              </a:lnSpc>
              <a:spcBef>
                <a:spcPct val="0"/>
              </a:spcBef>
              <a:buFontTx/>
              <a:buNone/>
            </a:pPr>
            <a:r>
              <a:rPr kumimoji="0" lang="zh-CN" altLang="en-US" sz="2800" b="1" dirty="0"/>
              <a:t>证     任取</a:t>
            </a:r>
            <a:r>
              <a:rPr kumimoji="0" lang="en-US" altLang="zh-CN" sz="2800" b="1" dirty="0"/>
              <a:t>&lt;</a:t>
            </a:r>
            <a:r>
              <a:rPr kumimoji="0" lang="en-US" altLang="zh-CN" sz="2800" b="1" i="1" dirty="0"/>
              <a:t>x</a:t>
            </a:r>
            <a:r>
              <a:rPr kumimoji="0" lang="en-US" altLang="zh-CN" sz="2800" b="1" dirty="0"/>
              <a:t>, </a:t>
            </a:r>
            <a:r>
              <a:rPr kumimoji="0" lang="en-US" altLang="zh-CN" sz="2800" b="1" i="1" dirty="0"/>
              <a:t>y</a:t>
            </a:r>
            <a:r>
              <a:rPr kumimoji="0" lang="en-US" altLang="zh-CN" sz="2800" b="1" dirty="0"/>
              <a:t>&gt; </a:t>
            </a:r>
            <a:br>
              <a:rPr kumimoji="0" lang="en-US" altLang="zh-CN" sz="2800" b="1" dirty="0"/>
            </a:br>
            <a:r>
              <a:rPr kumimoji="0" lang="en-US" altLang="zh-CN" sz="2800" b="1" dirty="0"/>
              <a:t>          &lt;</a:t>
            </a:r>
            <a:r>
              <a:rPr kumimoji="0" lang="en-US" altLang="zh-CN" sz="2800" b="1" i="1" dirty="0"/>
              <a:t>x, y&gt;</a:t>
            </a:r>
            <a:r>
              <a:rPr kumimoji="0" lang="en-US" altLang="zh-CN" sz="2800" b="1" dirty="0">
                <a:latin typeface="Arial" panose="020B0604020202020204" pitchFamily="34" charset="0"/>
                <a:sym typeface="Symbol" panose="05050102010706020507" pitchFamily="18" charset="2"/>
              </a:rPr>
              <a:t></a:t>
            </a:r>
            <a:r>
              <a:rPr kumimoji="0" lang="en-US" altLang="zh-CN" sz="2800" b="1" i="1" dirty="0"/>
              <a:t>R </a:t>
            </a:r>
            <a:r>
              <a:rPr kumimoji="0" lang="en-US" altLang="zh-CN" sz="2800" b="1" dirty="0">
                <a:sym typeface="Symbol" panose="05050102010706020507" pitchFamily="18" charset="2"/>
              </a:rPr>
              <a:t></a:t>
            </a:r>
            <a:r>
              <a:rPr kumimoji="0" lang="en-US" altLang="zh-CN" sz="2800" b="1" dirty="0"/>
              <a:t>&lt;</a:t>
            </a:r>
            <a:r>
              <a:rPr kumimoji="0" lang="en-US" altLang="zh-CN" sz="2800" b="1" i="1" dirty="0"/>
              <a:t>y, x</a:t>
            </a:r>
            <a:r>
              <a:rPr kumimoji="0" lang="en-US" altLang="zh-CN" sz="2800" b="1" dirty="0"/>
              <a:t>&gt;</a:t>
            </a:r>
            <a:r>
              <a:rPr kumimoji="0" lang="en-US" altLang="zh-CN" sz="2800" b="1" dirty="0">
                <a:sym typeface="Symbol" panose="05050102010706020507" pitchFamily="18" charset="2"/>
              </a:rPr>
              <a:t></a:t>
            </a:r>
            <a:r>
              <a:rPr kumimoji="0" lang="en-US" altLang="zh-CN" sz="2800" b="1" i="1" dirty="0"/>
              <a:t>R</a:t>
            </a:r>
            <a:r>
              <a:rPr kumimoji="0" lang="en-US" altLang="zh-CN" sz="2000" b="1" dirty="0">
                <a:latin typeface="Arial" panose="020B0604020202020204" pitchFamily="34" charset="0"/>
              </a:rPr>
              <a:t> </a:t>
            </a:r>
            <a:r>
              <a:rPr kumimoji="0" lang="en-US" altLang="zh-CN" sz="2800" b="1" dirty="0">
                <a:sym typeface="Symbol" panose="05050102010706020507" pitchFamily="18" charset="2"/>
              </a:rPr>
              <a:t> </a:t>
            </a:r>
            <a:r>
              <a:rPr kumimoji="0" lang="en-US" altLang="zh-CN" sz="2800" b="1" dirty="0"/>
              <a:t>&lt;</a:t>
            </a:r>
            <a:r>
              <a:rPr kumimoji="0" lang="en-US" altLang="zh-CN" sz="2800" b="1" i="1" dirty="0"/>
              <a:t>x, y&gt;</a:t>
            </a:r>
            <a:r>
              <a:rPr kumimoji="0" lang="en-US" altLang="zh-CN" sz="2800" b="1" dirty="0">
                <a:sym typeface="Symbol" panose="05050102010706020507" pitchFamily="18" charset="2"/>
              </a:rPr>
              <a:t></a:t>
            </a:r>
            <a:r>
              <a:rPr kumimoji="0" lang="en-US" altLang="zh-CN" sz="2800" b="1" i="1" dirty="0"/>
              <a:t>R </a:t>
            </a:r>
            <a:r>
              <a:rPr kumimoji="0" lang="en-US" altLang="zh-CN" sz="2800" b="1" dirty="0">
                <a:sym typeface="Symbol" panose="05050102010706020507" pitchFamily="18" charset="2"/>
              </a:rPr>
              <a:t></a:t>
            </a:r>
            <a:r>
              <a:rPr kumimoji="0" lang="en-US" altLang="zh-CN" sz="2800" b="1" dirty="0"/>
              <a:t>&lt;</a:t>
            </a:r>
            <a:r>
              <a:rPr kumimoji="0" lang="en-US" altLang="zh-CN" sz="2800" b="1" i="1" dirty="0"/>
              <a:t>x, y</a:t>
            </a:r>
            <a:r>
              <a:rPr kumimoji="0" lang="en-US" altLang="zh-CN" sz="2800" b="1" dirty="0"/>
              <a:t>&gt;</a:t>
            </a:r>
            <a:r>
              <a:rPr kumimoji="0" lang="en-US" altLang="zh-CN" sz="2800" b="1" dirty="0">
                <a:sym typeface="Symbol" panose="05050102010706020507" pitchFamily="18" charset="2"/>
              </a:rPr>
              <a:t></a:t>
            </a:r>
            <a:r>
              <a:rPr kumimoji="0" lang="en-US" altLang="zh-CN" sz="2800" b="1" i="1" dirty="0"/>
              <a:t>R</a:t>
            </a:r>
            <a:r>
              <a:rPr kumimoji="0" lang="en-US" altLang="zh-CN" sz="2800" b="1" dirty="0"/>
              <a:t> </a:t>
            </a:r>
            <a:r>
              <a:rPr kumimoji="0" lang="en-US" altLang="zh-CN" sz="2800" b="1" baseline="30000" dirty="0">
                <a:latin typeface="Arial" panose="020B0604020202020204" pitchFamily="34" charset="0"/>
                <a:sym typeface="Symbol" panose="05050102010706020507" pitchFamily="18" charset="2"/>
              </a:rPr>
              <a:t></a:t>
            </a:r>
            <a:r>
              <a:rPr kumimoji="0" lang="en-US" altLang="zh-CN" sz="2800" b="1" baseline="30000" dirty="0">
                <a:latin typeface="Arial" panose="020B0604020202020204" pitchFamily="34" charset="0"/>
              </a:rPr>
              <a:t>1</a:t>
            </a:r>
            <a:r>
              <a:rPr kumimoji="0" lang="en-US" altLang="zh-CN" sz="2000" b="1" dirty="0">
                <a:latin typeface="Arial" panose="020B0604020202020204" pitchFamily="34" charset="0"/>
              </a:rPr>
              <a:t> </a:t>
            </a:r>
          </a:p>
          <a:p>
            <a:pPr eaLnBrk="1" hangingPunct="1">
              <a:lnSpc>
                <a:spcPct val="120000"/>
              </a:lnSpc>
              <a:spcBef>
                <a:spcPct val="0"/>
              </a:spcBef>
              <a:buFontTx/>
              <a:buNone/>
            </a:pPr>
            <a:r>
              <a:rPr kumimoji="0" lang="en-US" altLang="zh-CN" sz="2000" b="1" dirty="0">
                <a:latin typeface="Arial" panose="020B0604020202020204" pitchFamily="34" charset="0"/>
              </a:rPr>
              <a:t>       </a:t>
            </a:r>
            <a:r>
              <a:rPr kumimoji="0" lang="en-US" altLang="zh-CN" sz="2800" b="1" dirty="0">
                <a:sym typeface="Symbol" panose="05050102010706020507" pitchFamily="18" charset="2"/>
              </a:rPr>
              <a:t> </a:t>
            </a:r>
            <a:r>
              <a:rPr kumimoji="0" lang="en-US" altLang="zh-CN" sz="2800" b="1" dirty="0"/>
              <a:t>&lt;</a:t>
            </a:r>
            <a:r>
              <a:rPr kumimoji="0" lang="en-US" altLang="zh-CN" sz="2800" b="1" i="1" dirty="0"/>
              <a:t>x</a:t>
            </a:r>
            <a:r>
              <a:rPr kumimoji="0" lang="en-US" altLang="zh-CN" sz="2800" b="1" dirty="0"/>
              <a:t>, </a:t>
            </a:r>
            <a:r>
              <a:rPr kumimoji="0" lang="en-US" altLang="zh-CN" sz="2800" b="1" i="1" dirty="0"/>
              <a:t>y</a:t>
            </a:r>
            <a:r>
              <a:rPr kumimoji="0" lang="en-US" altLang="zh-CN" sz="2800" b="1" dirty="0"/>
              <a:t>&gt;</a:t>
            </a:r>
            <a:r>
              <a:rPr kumimoji="0" lang="en-US" altLang="zh-CN" sz="2800" b="1" dirty="0">
                <a:sym typeface="Symbol" panose="05050102010706020507" pitchFamily="18" charset="2"/>
              </a:rPr>
              <a:t></a:t>
            </a:r>
            <a:r>
              <a:rPr kumimoji="0" lang="en-US" altLang="zh-CN" sz="2800" b="1" i="1" dirty="0"/>
              <a:t>R</a:t>
            </a:r>
            <a:r>
              <a:rPr kumimoji="0" lang="en-US" altLang="zh-CN" sz="2800" b="1" dirty="0"/>
              <a:t>∩</a:t>
            </a:r>
            <a:r>
              <a:rPr kumimoji="0" lang="en-US" altLang="zh-CN" sz="2800" b="1" i="1" dirty="0"/>
              <a:t>R</a:t>
            </a:r>
            <a:r>
              <a:rPr kumimoji="0" lang="en-US" altLang="zh-CN" sz="2800" b="1" i="1" baseline="-25000" dirty="0"/>
              <a:t> </a:t>
            </a:r>
            <a:r>
              <a:rPr kumimoji="0" lang="en-US" altLang="zh-CN" sz="2800" b="1" baseline="30000" dirty="0">
                <a:latin typeface="Arial" panose="020B0604020202020204" pitchFamily="34" charset="0"/>
                <a:sym typeface="Symbol" panose="05050102010706020507" pitchFamily="18" charset="2"/>
              </a:rPr>
              <a:t></a:t>
            </a:r>
            <a:r>
              <a:rPr kumimoji="0" lang="en-US" altLang="zh-CN" sz="2800" b="1" baseline="30000" dirty="0">
                <a:latin typeface="Arial" panose="020B0604020202020204" pitchFamily="34" charset="0"/>
              </a:rPr>
              <a:t>1</a:t>
            </a:r>
            <a:r>
              <a:rPr kumimoji="0" lang="en-US" altLang="zh-CN" sz="2000" b="1" dirty="0">
                <a:latin typeface="Arial" panose="020B0604020202020204" pitchFamily="34" charset="0"/>
              </a:rPr>
              <a:t> </a:t>
            </a:r>
            <a:r>
              <a:rPr kumimoji="0" lang="en-US" altLang="zh-CN" sz="2800" b="1" dirty="0">
                <a:sym typeface="Symbol" panose="05050102010706020507" pitchFamily="18" charset="2"/>
              </a:rPr>
              <a:t> </a:t>
            </a:r>
            <a:r>
              <a:rPr kumimoji="0" lang="en-US" altLang="zh-CN" sz="2800" b="1" dirty="0"/>
              <a:t>&lt;</a:t>
            </a:r>
            <a:r>
              <a:rPr kumimoji="0" lang="en-US" altLang="zh-CN" sz="2800" b="1" i="1" dirty="0"/>
              <a:t>x</a:t>
            </a:r>
            <a:r>
              <a:rPr kumimoji="0" lang="en-US" altLang="zh-CN" sz="2800" b="1" dirty="0"/>
              <a:t>, </a:t>
            </a:r>
            <a:r>
              <a:rPr kumimoji="0" lang="en-US" altLang="zh-CN" sz="2800" b="1" i="1" dirty="0"/>
              <a:t>y</a:t>
            </a:r>
            <a:r>
              <a:rPr kumimoji="0" lang="en-US" altLang="zh-CN" sz="2800" b="1" dirty="0"/>
              <a:t>&gt;</a:t>
            </a:r>
            <a:r>
              <a:rPr kumimoji="0" lang="en-US" altLang="zh-CN" sz="2800" b="1" dirty="0">
                <a:latin typeface="Arial" panose="020B0604020202020204" pitchFamily="34" charset="0"/>
                <a:sym typeface="Symbol" panose="05050102010706020507" pitchFamily="18" charset="2"/>
              </a:rPr>
              <a:t></a:t>
            </a:r>
            <a:r>
              <a:rPr kumimoji="0" lang="en-US" altLang="zh-CN" sz="2800" b="1" i="1" dirty="0"/>
              <a:t>I</a:t>
            </a:r>
            <a:r>
              <a:rPr kumimoji="0" lang="en-US" altLang="zh-CN" sz="2800" b="1" i="1" baseline="-25000" dirty="0"/>
              <a:t>A</a:t>
            </a:r>
            <a:r>
              <a:rPr kumimoji="0" lang="en-US" altLang="zh-CN" sz="2800" b="1" i="1" dirty="0"/>
              <a:t> </a:t>
            </a:r>
            <a:r>
              <a:rPr kumimoji="0" lang="en-US" altLang="zh-CN" sz="2800" b="1" dirty="0">
                <a:sym typeface="Symbol" panose="05050102010706020507" pitchFamily="18" charset="2"/>
              </a:rPr>
              <a:t></a:t>
            </a:r>
            <a:r>
              <a:rPr kumimoji="0" lang="en-US" altLang="zh-CN" sz="2800" b="1" dirty="0"/>
              <a:t> </a:t>
            </a:r>
            <a:r>
              <a:rPr kumimoji="0" lang="en-US" altLang="zh-CN" sz="2800" b="1" i="1" dirty="0"/>
              <a:t>x=y</a:t>
            </a:r>
            <a:r>
              <a:rPr kumimoji="0" lang="en-US" altLang="zh-CN" sz="2800" b="1" dirty="0"/>
              <a:t> </a:t>
            </a:r>
            <a:br>
              <a:rPr kumimoji="0" lang="en-US" altLang="zh-CN" sz="2800" b="1" dirty="0"/>
            </a:br>
            <a:r>
              <a:rPr kumimoji="0" lang="zh-CN" altLang="en-US" sz="2800" b="1" dirty="0"/>
              <a:t>因此 </a:t>
            </a:r>
            <a:r>
              <a:rPr kumimoji="0" lang="en-US" altLang="zh-CN" sz="2800" b="1" i="1" dirty="0"/>
              <a:t>R </a:t>
            </a:r>
            <a:r>
              <a:rPr kumimoji="0" lang="zh-CN" altLang="en-US" sz="2800" b="1" dirty="0"/>
              <a:t>在 </a:t>
            </a:r>
            <a:r>
              <a:rPr kumimoji="0" lang="en-US" altLang="zh-CN" sz="2800" b="1" i="1" dirty="0"/>
              <a:t>A </a:t>
            </a:r>
            <a:r>
              <a:rPr kumimoji="0" lang="zh-CN" altLang="en-US" sz="2800" b="1" dirty="0"/>
              <a:t>上是反对称的</a:t>
            </a:r>
            <a:r>
              <a:rPr kumimoji="0" lang="en-US" altLang="zh-CN" sz="2800" b="1"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11514513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证明模式</a:t>
            </a:r>
            <a:endParaRPr kumimoji="0" lang="en-US" altLang="zh-CN" sz="1200" b="1" dirty="0">
              <a:solidFill>
                <a:srgbClr val="FF0000"/>
              </a:solidFill>
            </a:endParaRPr>
          </a:p>
          <a:p>
            <a:pPr eaLnBrk="1" hangingPunct="1">
              <a:spcBef>
                <a:spcPct val="0"/>
              </a:spcBef>
              <a:buFontTx/>
              <a:buNone/>
            </a:pPr>
            <a:r>
              <a:rPr kumimoji="0" lang="zh-CN" altLang="en-US" sz="1200" b="1" dirty="0"/>
              <a:t>  证明 </a:t>
            </a:r>
            <a:r>
              <a:rPr kumimoji="0" lang="en-US" altLang="zh-CN" sz="1200" b="1" i="1" dirty="0"/>
              <a:t>R </a:t>
            </a:r>
            <a:r>
              <a:rPr kumimoji="0" lang="zh-CN" altLang="en-US" sz="1200" b="1" dirty="0"/>
              <a:t>在 </a:t>
            </a:r>
            <a:r>
              <a:rPr kumimoji="0" lang="en-US" altLang="zh-CN" sz="1200" b="1" i="1" dirty="0"/>
              <a:t>A</a:t>
            </a:r>
            <a:r>
              <a:rPr kumimoji="0" lang="zh-CN" altLang="en-US" sz="1200" b="1" dirty="0"/>
              <a:t>上传递 </a:t>
            </a:r>
          </a:p>
          <a:p>
            <a:pPr eaLnBrk="1" hangingPunct="1">
              <a:spcBef>
                <a:spcPct val="0"/>
              </a:spcBef>
              <a:buFontTx/>
              <a:buNone/>
            </a:pPr>
            <a:r>
              <a:rPr kumimoji="0" lang="zh-CN" altLang="en-US" sz="1200" b="1" dirty="0"/>
              <a:t>     任取</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zh-CN" altLang="en-US" sz="1200" b="1" dirty="0"/>
              <a:t>，</a:t>
            </a:r>
            <a:r>
              <a:rPr kumimoji="0" lang="en-US" altLang="zh-CN" sz="1200" b="1" dirty="0"/>
              <a:t>&lt;</a:t>
            </a:r>
            <a:r>
              <a:rPr kumimoji="0" lang="en-US" altLang="zh-CN" sz="1200" b="1" i="1" dirty="0"/>
              <a:t>y, z</a:t>
            </a:r>
            <a:r>
              <a:rPr kumimoji="0" lang="en-US" altLang="zh-CN" sz="1200" b="1" dirty="0"/>
              <a:t>&gt; </a:t>
            </a:r>
            <a:endParaRPr kumimoji="0" lang="en-US" altLang="zh-CN" sz="1200" b="1" i="1" dirty="0"/>
          </a:p>
          <a:p>
            <a:pPr eaLnBrk="1" hangingPunct="1">
              <a:spcBef>
                <a:spcPct val="0"/>
              </a:spcBef>
              <a:buFontTx/>
              <a:buNone/>
            </a:pPr>
            <a:r>
              <a:rPr kumimoji="0" lang="en-US" altLang="zh-CN" sz="1200" b="1" i="1" dirty="0"/>
              <a:t>     &lt;x, y&gt;</a:t>
            </a:r>
            <a:r>
              <a:rPr kumimoji="0" lang="en-US" altLang="zh-CN" sz="1200" b="1" dirty="0">
                <a:sym typeface="Symbol" panose="05050102010706020507" pitchFamily="18" charset="2"/>
              </a:rPr>
              <a:t></a:t>
            </a:r>
            <a:r>
              <a:rPr kumimoji="0" lang="en-US" altLang="zh-CN" sz="1200" b="1" i="1" dirty="0"/>
              <a:t>R</a:t>
            </a:r>
            <a:r>
              <a:rPr kumimoji="0" lang="en-US" altLang="zh-CN" sz="1200" b="1" dirty="0">
                <a:sym typeface="Symbol" panose="05050102010706020507" pitchFamily="18" charset="2"/>
              </a:rPr>
              <a:t></a:t>
            </a:r>
            <a:r>
              <a:rPr kumimoji="0" lang="en-US" altLang="zh-CN" sz="1200" b="1" dirty="0"/>
              <a:t>&lt;</a:t>
            </a:r>
            <a:r>
              <a:rPr kumimoji="0" lang="en-US" altLang="zh-CN" sz="1200" b="1" i="1" dirty="0"/>
              <a:t>y, z</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en-US" altLang="zh-CN" sz="1200" b="1" dirty="0">
                <a:sym typeface="Symbol" panose="05050102010706020507" pitchFamily="18" charset="2"/>
              </a:rPr>
              <a:t></a:t>
            </a:r>
            <a:r>
              <a:rPr kumimoji="0" lang="en-US" altLang="zh-CN" sz="1200" b="1" dirty="0"/>
              <a:t>…..………. </a:t>
            </a:r>
            <a:r>
              <a:rPr kumimoji="0" lang="en-US" altLang="zh-CN" sz="1200" b="1" dirty="0">
                <a:sym typeface="Symbol" panose="05050102010706020507" pitchFamily="18" charset="2"/>
              </a:rPr>
              <a:t> </a:t>
            </a:r>
            <a:r>
              <a:rPr kumimoji="0" lang="en-US" altLang="zh-CN" sz="1200" b="1" dirty="0"/>
              <a:t> &lt;</a:t>
            </a:r>
            <a:r>
              <a:rPr kumimoji="0" lang="en-US" altLang="zh-CN" sz="1200" b="1" i="1" dirty="0"/>
              <a:t>x</a:t>
            </a:r>
            <a:r>
              <a:rPr kumimoji="0" lang="en-US" altLang="zh-CN" sz="1200" b="1" dirty="0"/>
              <a:t>, </a:t>
            </a:r>
            <a:r>
              <a:rPr kumimoji="0" lang="en-US" altLang="zh-CN" sz="1200" b="1" i="1" dirty="0"/>
              <a:t>z</a:t>
            </a:r>
            <a:r>
              <a:rPr kumimoji="0" lang="en-US" altLang="zh-CN" sz="1200" b="1" dirty="0"/>
              <a:t>&gt;</a:t>
            </a:r>
            <a:r>
              <a:rPr kumimoji="0" lang="en-US" altLang="zh-CN" sz="1200" b="1" dirty="0">
                <a:sym typeface="Symbol" panose="05050102010706020507" pitchFamily="18" charset="2"/>
              </a:rPr>
              <a:t></a:t>
            </a:r>
            <a:r>
              <a:rPr kumimoji="0" lang="en-US" altLang="zh-CN" sz="1200" b="1" i="1" dirty="0"/>
              <a:t>R    </a:t>
            </a:r>
            <a:endParaRPr kumimoji="0" lang="en-US" altLang="zh-CN" sz="1200" b="1" dirty="0"/>
          </a:p>
          <a:p>
            <a:pPr eaLnBrk="1" hangingPunct="1">
              <a:spcBef>
                <a:spcPct val="0"/>
              </a:spcBef>
              <a:buFontTx/>
              <a:buNone/>
            </a:pPr>
            <a:r>
              <a:rPr kumimoji="0" lang="en-US" altLang="zh-CN" sz="1200" b="1" dirty="0"/>
              <a:t>                   </a:t>
            </a:r>
            <a:r>
              <a:rPr kumimoji="0" lang="zh-CN" altLang="en-US" sz="1200" b="1" dirty="0"/>
              <a:t>前提                  推理过程             结论</a:t>
            </a:r>
            <a:endParaRPr kumimoji="0" lang="en-US" altLang="zh-CN" sz="1200" b="1" dirty="0"/>
          </a:p>
          <a:p>
            <a:pPr eaLnBrk="1" hangingPunct="1">
              <a:spcBef>
                <a:spcPct val="0"/>
              </a:spcBef>
              <a:buFontTx/>
              <a:buNone/>
            </a:pPr>
            <a:endParaRPr lang="en-US" altLang="zh-CN" b="1" dirty="0"/>
          </a:p>
          <a:p>
            <a:pPr eaLnBrk="1" hangingPunct="1">
              <a:lnSpc>
                <a:spcPct val="120000"/>
              </a:lnSpc>
              <a:spcBef>
                <a:spcPct val="0"/>
              </a:spcBef>
              <a:buFontTx/>
              <a:buNone/>
            </a:pPr>
            <a:r>
              <a:rPr kumimoji="0" lang="zh-CN" altLang="en-US" sz="1200" b="1" dirty="0">
                <a:solidFill>
                  <a:srgbClr val="00B0F0"/>
                </a:solidFill>
              </a:rPr>
              <a:t>例</a:t>
            </a:r>
            <a:r>
              <a:rPr kumimoji="0" lang="en-US" altLang="zh-CN" sz="1200" b="1" dirty="0">
                <a:solidFill>
                  <a:srgbClr val="00B0F0"/>
                </a:solidFill>
              </a:rPr>
              <a:t>7   </a:t>
            </a:r>
            <a:r>
              <a:rPr kumimoji="0" lang="zh-CN" altLang="en-US" sz="1200" b="1" dirty="0"/>
              <a:t>证明若 </a:t>
            </a:r>
            <a:r>
              <a:rPr kumimoji="0" lang="en-US" altLang="zh-CN" sz="1200" b="1" i="1" dirty="0"/>
              <a:t>R</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200" b="1" dirty="0">
                <a:sym typeface="Symbol" panose="05050102010706020507" pitchFamily="18" charset="2"/>
              </a:rPr>
              <a:t></a:t>
            </a:r>
            <a:r>
              <a:rPr kumimoji="0" lang="en-US" altLang="zh-CN" sz="1200" b="1" i="1" dirty="0"/>
              <a:t>R</a:t>
            </a:r>
            <a:r>
              <a:rPr kumimoji="0" lang="en-US" altLang="zh-CN" sz="1200" b="1" dirty="0"/>
              <a:t> </a:t>
            </a:r>
            <a:r>
              <a:rPr kumimoji="0" lang="en-US" altLang="zh-CN" sz="1200" b="1" dirty="0">
                <a:latin typeface="Arial" panose="020B0604020202020204" pitchFamily="34" charset="0"/>
              </a:rPr>
              <a:t>, </a:t>
            </a:r>
            <a:r>
              <a:rPr kumimoji="0" lang="en-US" altLang="zh-CN" sz="1200" b="1" i="1" dirty="0"/>
              <a:t> </a:t>
            </a:r>
            <a:r>
              <a:rPr kumimoji="0" lang="zh-CN" altLang="en-US" sz="1200" b="1" dirty="0"/>
              <a:t>则 </a:t>
            </a:r>
            <a:r>
              <a:rPr kumimoji="0" lang="en-US" altLang="zh-CN" sz="1200" b="1" i="1" dirty="0"/>
              <a:t>R </a:t>
            </a:r>
            <a:r>
              <a:rPr kumimoji="0" lang="zh-CN" altLang="en-US" sz="1200" b="1" dirty="0"/>
              <a:t>在 </a:t>
            </a:r>
            <a:r>
              <a:rPr kumimoji="0" lang="en-US" altLang="zh-CN" sz="1200" b="1" i="1" dirty="0"/>
              <a:t>A </a:t>
            </a:r>
            <a:r>
              <a:rPr kumimoji="0" lang="zh-CN" altLang="en-US" sz="1200" b="1" dirty="0"/>
              <a:t>上传递</a:t>
            </a:r>
            <a:r>
              <a:rPr kumimoji="0" lang="en-US" altLang="zh-CN" sz="1200" b="1" dirty="0"/>
              <a:t>.   </a:t>
            </a:r>
          </a:p>
          <a:p>
            <a:pPr eaLnBrk="1" hangingPunct="1">
              <a:lnSpc>
                <a:spcPct val="120000"/>
              </a:lnSpc>
              <a:spcBef>
                <a:spcPct val="0"/>
              </a:spcBef>
              <a:buFontTx/>
              <a:buNone/>
            </a:pPr>
            <a:r>
              <a:rPr kumimoji="0" lang="zh-CN" altLang="en-US" sz="1200" b="1" dirty="0"/>
              <a:t>证     任取</a:t>
            </a:r>
            <a:r>
              <a:rPr kumimoji="0" lang="en-US" altLang="zh-CN" sz="1200" b="1" dirty="0"/>
              <a:t>&lt;</a:t>
            </a:r>
            <a:r>
              <a:rPr kumimoji="0" lang="en-US" altLang="zh-CN" sz="1200" b="1" i="1" dirty="0"/>
              <a:t>x</a:t>
            </a:r>
            <a:r>
              <a:rPr kumimoji="0" lang="en-US" altLang="zh-CN" sz="1200" b="1" dirty="0"/>
              <a:t>, </a:t>
            </a:r>
            <a:r>
              <a:rPr kumimoji="0" lang="en-US" altLang="zh-CN" sz="1200" b="1" i="1" dirty="0"/>
              <a:t>y</a:t>
            </a:r>
            <a:r>
              <a:rPr kumimoji="0" lang="en-US" altLang="zh-CN" sz="1200" b="1" dirty="0"/>
              <a:t>&gt;</a:t>
            </a:r>
            <a:r>
              <a:rPr kumimoji="0" lang="zh-CN" altLang="en-US" sz="1200" b="1" dirty="0"/>
              <a:t>，</a:t>
            </a:r>
            <a:r>
              <a:rPr kumimoji="0" lang="en-US" altLang="zh-CN" sz="1200" b="1" dirty="0"/>
              <a:t>&lt;</a:t>
            </a:r>
            <a:r>
              <a:rPr kumimoji="0" lang="en-US" altLang="zh-CN" sz="1200" b="1" i="1" dirty="0"/>
              <a:t>y, z</a:t>
            </a:r>
            <a:r>
              <a:rPr kumimoji="0" lang="en-US" altLang="zh-CN" sz="1200" b="1" dirty="0"/>
              <a:t>&gt; </a:t>
            </a:r>
            <a:endParaRPr kumimoji="0" lang="en-US" altLang="zh-CN" sz="1200" b="1" i="1" dirty="0"/>
          </a:p>
          <a:p>
            <a:pPr eaLnBrk="1" hangingPunct="1">
              <a:lnSpc>
                <a:spcPct val="120000"/>
              </a:lnSpc>
              <a:spcBef>
                <a:spcPct val="0"/>
              </a:spcBef>
              <a:buFontTx/>
              <a:buNone/>
            </a:pPr>
            <a:r>
              <a:rPr kumimoji="0" lang="en-US" altLang="zh-CN" sz="1200" b="1" dirty="0"/>
              <a:t>        &lt;</a:t>
            </a:r>
            <a:r>
              <a:rPr kumimoji="0" lang="en-US" altLang="zh-CN" sz="1200" b="1" i="1" dirty="0"/>
              <a:t>x, y&gt;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 </a:t>
            </a:r>
            <a:r>
              <a:rPr kumimoji="0" lang="en-US" altLang="zh-CN" sz="1200" b="1" dirty="0">
                <a:sym typeface="Symbol" panose="05050102010706020507" pitchFamily="18" charset="2"/>
              </a:rPr>
              <a:t></a:t>
            </a:r>
            <a:r>
              <a:rPr kumimoji="0" lang="en-US" altLang="zh-CN" sz="1200" b="1" dirty="0"/>
              <a:t>&lt;</a:t>
            </a:r>
            <a:r>
              <a:rPr kumimoji="0" lang="en-US" altLang="zh-CN" sz="1200" b="1" i="1" dirty="0"/>
              <a:t>y, z</a:t>
            </a:r>
            <a:r>
              <a:rPr kumimoji="0" lang="en-US" altLang="zh-CN" sz="1200" b="1" dirty="0"/>
              <a:t>&gt;</a:t>
            </a:r>
            <a:r>
              <a:rPr kumimoji="0" lang="en-US" altLang="zh-CN" sz="1200" b="1" dirty="0">
                <a:sym typeface="Symbol" panose="05050102010706020507" pitchFamily="18" charset="2"/>
              </a:rPr>
              <a:t></a:t>
            </a:r>
            <a:r>
              <a:rPr kumimoji="0" lang="en-US" altLang="zh-CN" sz="1200" b="1" i="1" dirty="0"/>
              <a:t>R</a:t>
            </a:r>
            <a:r>
              <a:rPr kumimoji="0" lang="en-US" altLang="zh-CN" sz="1050" b="1" dirty="0">
                <a:latin typeface="Arial" panose="020B0604020202020204" pitchFamily="34" charset="0"/>
              </a:rPr>
              <a:t>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z</a:t>
            </a:r>
            <a:r>
              <a:rPr kumimoji="0" lang="en-US" altLang="zh-CN" sz="1200" b="1" dirty="0"/>
              <a:t>&gt;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a:t>
            </a:r>
            <a:r>
              <a:rPr kumimoji="0" lang="en-US" altLang="zh-CN" sz="1200" b="1" dirty="0">
                <a:latin typeface="Arial" panose="020B0604020202020204" pitchFamily="34" charset="0"/>
                <a:ea typeface="华文行楷" panose="02010800040101010101" pitchFamily="2" charset="-122"/>
              </a:rPr>
              <a:t>∘</a:t>
            </a:r>
            <a:r>
              <a:rPr kumimoji="0" lang="en-US" altLang="zh-CN" sz="1200" b="1" i="1" dirty="0"/>
              <a:t>R</a:t>
            </a:r>
            <a:r>
              <a:rPr kumimoji="0" lang="en-US" altLang="zh-CN" sz="1050" b="1" dirty="0">
                <a:latin typeface="Arial" panose="020B0604020202020204" pitchFamily="34" charset="0"/>
              </a:rPr>
              <a:t> </a:t>
            </a:r>
            <a:r>
              <a:rPr kumimoji="0" lang="en-US" altLang="zh-CN" sz="1200" b="1" dirty="0">
                <a:sym typeface="Symbol" panose="05050102010706020507" pitchFamily="18" charset="2"/>
              </a:rPr>
              <a:t> </a:t>
            </a:r>
            <a:r>
              <a:rPr kumimoji="0" lang="en-US" altLang="zh-CN" sz="1200" b="1" dirty="0"/>
              <a:t>&lt;</a:t>
            </a:r>
            <a:r>
              <a:rPr kumimoji="0" lang="en-US" altLang="zh-CN" sz="1200" b="1" i="1" dirty="0"/>
              <a:t>x</a:t>
            </a:r>
            <a:r>
              <a:rPr kumimoji="0" lang="en-US" altLang="zh-CN" sz="1200" b="1" dirty="0"/>
              <a:t>, </a:t>
            </a:r>
            <a:r>
              <a:rPr kumimoji="0" lang="en-US" altLang="zh-CN" sz="1200" b="1" i="1" dirty="0"/>
              <a:t>z</a:t>
            </a:r>
            <a:r>
              <a:rPr kumimoji="0" lang="en-US" altLang="zh-CN" sz="1200" b="1" dirty="0"/>
              <a:t>&gt;</a:t>
            </a:r>
            <a:r>
              <a:rPr kumimoji="0" lang="en-US" altLang="zh-CN" sz="1200" b="1" dirty="0">
                <a:latin typeface="Arial" panose="020B0604020202020204" pitchFamily="34" charset="0"/>
                <a:sym typeface="Symbol" panose="05050102010706020507" pitchFamily="18" charset="2"/>
              </a:rPr>
              <a:t></a:t>
            </a:r>
            <a:r>
              <a:rPr kumimoji="0" lang="en-US" altLang="zh-CN" sz="1200" b="1" i="1" dirty="0"/>
              <a:t>R      </a:t>
            </a:r>
            <a:br>
              <a:rPr kumimoji="0" lang="en-US" altLang="zh-CN" sz="1200" b="1" dirty="0"/>
            </a:br>
            <a:r>
              <a:rPr kumimoji="0" lang="zh-CN" altLang="en-US" sz="1200" b="1" dirty="0"/>
              <a:t>因此 </a:t>
            </a:r>
            <a:r>
              <a:rPr kumimoji="0" lang="en-US" altLang="zh-CN" sz="1200" b="1" i="1" dirty="0"/>
              <a:t>R </a:t>
            </a:r>
            <a:r>
              <a:rPr kumimoji="0" lang="zh-CN" altLang="en-US" sz="1200" b="1" dirty="0"/>
              <a:t>在 </a:t>
            </a:r>
            <a:r>
              <a:rPr kumimoji="0" lang="en-US" altLang="zh-CN" sz="1200" b="1" i="1" dirty="0"/>
              <a:t>A </a:t>
            </a:r>
            <a:r>
              <a:rPr kumimoji="0" lang="zh-CN" altLang="en-US" sz="1200" b="1" dirty="0"/>
              <a:t>上是传递的</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53</a:t>
            </a:fld>
            <a:endParaRPr lang="zh-CN" altLang="en-US"/>
          </a:p>
        </p:txBody>
      </p:sp>
    </p:spTree>
    <p:extLst>
      <p:ext uri="{BB962C8B-B14F-4D97-AF65-F5344CB8AC3E}">
        <p14:creationId xmlns:p14="http://schemas.microsoft.com/office/powerpoint/2010/main" val="21415846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表示形式</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自反性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反</a:t>
            </a: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自反性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对称性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反对称性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传递性</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表达式</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1" u="none" strike="noStrike" kern="1200" baseline="0" dirty="0">
                <a:ln>
                  <a:noFill/>
                </a:ln>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3000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30000" dirty="0">
                <a:ln>
                  <a:noFill/>
                </a:ln>
                <a:solidFill>
                  <a:srgbClr val="000000"/>
                </a:solidFill>
                <a:effectLst/>
                <a:latin typeface="Calibri" panose="020F0502020204030204" pitchFamily="34" charset="0"/>
              </a:rPr>
              <a:t>1</a:t>
            </a:r>
            <a:r>
              <a:rPr kumimoji="1" lang="en-US" sz="1800" b="1" i="0" u="none" strike="noStrike" kern="1200" baseline="0" dirty="0">
                <a:ln>
                  <a:noFill/>
                </a:ln>
                <a:solidFill>
                  <a:srgbClr val="000000"/>
                </a:solidFill>
                <a:effectLst/>
                <a:latin typeface="Calibri" panose="020F0502020204030204" pitchFamily="34" charset="0"/>
              </a:rPr>
              <a:t> </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3000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30000" dirty="0">
                <a:ln>
                  <a:noFill/>
                </a:ln>
                <a:solidFill>
                  <a:srgbClr val="000000"/>
                </a:solidFill>
                <a:effectLst/>
                <a:latin typeface="Calibri" panose="020F0502020204030204" pitchFamily="34" charset="0"/>
              </a:rPr>
              <a:t>1</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0" dirty="0">
                <a:ln>
                  <a:noFill/>
                </a:ln>
                <a:solidFill>
                  <a:srgbClr val="000000"/>
                </a:solidFill>
                <a:effectLst/>
                <a:latin typeface="Calibri" panose="020F0502020204030204" pitchFamily="34" charset="0"/>
              </a:rPr>
              <a:t> </a:t>
            </a: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1" u="none" strike="noStrike" kern="1200" baseline="0" dirty="0">
                <a:ln>
                  <a:noFill/>
                </a:ln>
                <a:solidFill>
                  <a:srgbClr val="000000"/>
                </a:solidFill>
                <a:effectLst/>
                <a:latin typeface="Calibri" panose="020F0502020204030204" pitchFamily="34" charset="0"/>
              </a:rPr>
              <a:t> </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lang="en-US" sz="1800" b="1" i="0" u="none" strike="noStrike" kern="1200" dirty="0">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1" u="none" strike="noStrike" kern="1200" baseline="0" dirty="0">
                <a:ln>
                  <a:noFill/>
                </a:ln>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定义</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sym typeface="Symbol" panose="05050102010706020507" pitchFamily="18" charset="2"/>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A</a:t>
            </a:r>
            <a:r>
              <a:rPr lang="en-US"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有</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sym typeface="Symbol" panose="05050102010706020507" pitchFamily="18" charset="2"/>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A</a:t>
            </a:r>
            <a:r>
              <a:rPr lang="en-US"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有</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zh-CN" sz="1800" b="0"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0" u="none" strike="noStrike" kern="1200" dirty="0">
                <a:solidFill>
                  <a:srgbClr val="000000"/>
                </a:solidFill>
                <a:effectLst/>
                <a:latin typeface="Calibri" panose="020F0502020204030204" pitchFamily="34" charset="0"/>
              </a:rPr>
              <a:t>且</a:t>
            </a:r>
            <a:r>
              <a:rPr lang="en-US" sz="1800" b="1" i="1" u="none" strike="noStrike" kern="1200" dirty="0">
                <a:solidFill>
                  <a:srgbClr val="000000"/>
                </a:solidFill>
                <a:effectLst/>
                <a:latin typeface="Calibri" panose="020F0502020204030204" pitchFamily="34" charset="0"/>
              </a:rPr>
              <a:t>x</a:t>
            </a:r>
            <a:r>
              <a:rPr lang="zh-CN" sz="1800" b="1"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y</a:t>
            </a:r>
            <a:r>
              <a:rPr lang="zh-CN"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zh-CN" sz="1800" b="0"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0" u="none" strike="noStrike" kern="1200" dirty="0">
                <a:solidFill>
                  <a:srgbClr val="000000"/>
                </a:solidFill>
                <a:effectLst/>
                <a:latin typeface="Calibri" panose="020F0502020204030204" pitchFamily="34" charset="0"/>
              </a:rPr>
              <a:t>且</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z</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en-US" sz="1800" b="1" i="0"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z</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关系矩阵</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主对角线元素全是</a:t>
            </a:r>
            <a:r>
              <a:rPr kumimoji="1" lang="en-US" sz="1800" b="1" i="0" u="none" strike="noStrike" kern="1200" baseline="0" dirty="0">
                <a:ln>
                  <a:noFill/>
                </a:ln>
                <a:solidFill>
                  <a:srgbClr val="000000"/>
                </a:solidFill>
                <a:effectLst/>
                <a:latin typeface="Calibri" panose="020F0502020204030204" pitchFamily="34" charset="0"/>
              </a:rPr>
              <a:t>1</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主对角线元素全是</a:t>
            </a:r>
            <a:r>
              <a:rPr kumimoji="1" lang="en-US" sz="1800" b="1" i="0" u="none" strike="noStrike" kern="1200" baseline="0" dirty="0">
                <a:ln>
                  <a:noFill/>
                </a:ln>
                <a:solidFill>
                  <a:srgbClr val="000000"/>
                </a:solidFill>
                <a:effectLst/>
                <a:latin typeface="Calibri" panose="020F0502020204030204" pitchFamily="34" charset="0"/>
              </a:rPr>
              <a:t>0</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矩阵是对称矩阵</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若</a:t>
            </a:r>
            <a:r>
              <a:rPr kumimoji="1" lang="en-US" sz="1800" b="1" i="1" u="none" strike="noStrike" kern="1200" baseline="0" dirty="0" err="1">
                <a:ln>
                  <a:noFill/>
                </a:ln>
                <a:solidFill>
                  <a:srgbClr val="000000"/>
                </a:solidFill>
                <a:effectLst/>
                <a:latin typeface="Calibri" panose="020F0502020204030204" pitchFamily="34" charset="0"/>
              </a:rPr>
              <a:t>r</a:t>
            </a:r>
            <a:r>
              <a:rPr kumimoji="1" lang="en-US" sz="1800" b="1" i="1" u="none" strike="noStrike" kern="1200" baseline="-30000" dirty="0" err="1">
                <a:ln>
                  <a:noFill/>
                </a:ln>
                <a:solidFill>
                  <a:srgbClr val="000000"/>
                </a:solidFill>
                <a:effectLst/>
                <a:latin typeface="Calibri" panose="020F0502020204030204" pitchFamily="34" charset="0"/>
              </a:rPr>
              <a:t>ij</a:t>
            </a:r>
            <a:r>
              <a:rPr kumimoji="1" lang="zh-CN"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rPr>
              <a:t>1, </a:t>
            </a:r>
            <a:r>
              <a:rPr kumimoji="1" lang="zh-CN" sz="1800" b="1" i="0" u="none" strike="noStrike" kern="1200" baseline="0" dirty="0">
                <a:ln>
                  <a:noFill/>
                </a:ln>
                <a:solidFill>
                  <a:srgbClr val="000000"/>
                </a:solidFill>
                <a:effectLst/>
                <a:latin typeface="Calibri" panose="020F0502020204030204" pitchFamily="34" charset="0"/>
              </a:rPr>
              <a:t>且 </a:t>
            </a:r>
            <a:r>
              <a:rPr kumimoji="1" lang="en-US" sz="1800" b="1" i="1" u="none" strike="noStrike" kern="1200" baseline="0" dirty="0" err="1">
                <a:ln>
                  <a:noFill/>
                </a:ln>
                <a:solidFill>
                  <a:srgbClr val="000000"/>
                </a:solidFill>
                <a:effectLst/>
                <a:latin typeface="Calibri" panose="020F0502020204030204" pitchFamily="34" charset="0"/>
              </a:rPr>
              <a:t>i</a:t>
            </a:r>
            <a:r>
              <a:rPr kumimoji="1" lang="en-US" sz="1800" b="1" i="0" u="none" strike="noStrike" kern="1200" baseline="0" dirty="0" err="1">
                <a:ln>
                  <a:noFill/>
                </a:ln>
                <a:solidFill>
                  <a:srgbClr val="000000"/>
                </a:solidFill>
                <a:effectLst/>
                <a:latin typeface="Calibri" panose="020F0502020204030204" pitchFamily="34" charset="0"/>
              </a:rPr>
              <a:t>≠</a:t>
            </a:r>
            <a:r>
              <a:rPr kumimoji="1" lang="en-US" sz="1800" b="1" i="1" u="none" strike="noStrike" kern="1200" baseline="0" dirty="0" err="1">
                <a:ln>
                  <a:noFill/>
                </a:ln>
                <a:solidFill>
                  <a:srgbClr val="000000"/>
                </a:solidFill>
                <a:effectLst/>
                <a:latin typeface="Calibri" panose="020F0502020204030204" pitchFamily="34" charset="0"/>
              </a:rPr>
              <a:t>j</a:t>
            </a:r>
            <a:r>
              <a:rPr kumimoji="1" lang="en-US" sz="1800" b="1" i="0" u="none" strike="noStrike" kern="1200" baseline="0" dirty="0">
                <a:ln>
                  <a:noFill/>
                </a:ln>
                <a:solidFill>
                  <a:srgbClr val="000000"/>
                </a:solidFill>
                <a:effectLst/>
                <a:latin typeface="Calibri" panose="020F0502020204030204" pitchFamily="34" charset="0"/>
              </a:rPr>
              <a:t>, </a:t>
            </a:r>
            <a:r>
              <a:rPr kumimoji="1" lang="zh-CN" sz="1800" b="1" i="0" u="none" strike="noStrike" kern="1200" baseline="0" dirty="0">
                <a:ln>
                  <a:noFill/>
                </a:ln>
                <a:solidFill>
                  <a:srgbClr val="000000"/>
                </a:solidFill>
                <a:effectLst/>
                <a:latin typeface="Calibri" panose="020F0502020204030204" pitchFamily="34" charset="0"/>
              </a:rPr>
              <a:t>则</a:t>
            </a:r>
            <a:r>
              <a:rPr kumimoji="1" lang="en-US" sz="1800" b="1" i="1" u="none" strike="noStrike" kern="1200" baseline="0" dirty="0" err="1">
                <a:ln>
                  <a:noFill/>
                </a:ln>
                <a:solidFill>
                  <a:srgbClr val="000000"/>
                </a:solidFill>
                <a:effectLst/>
                <a:latin typeface="Calibri" panose="020F0502020204030204" pitchFamily="34" charset="0"/>
              </a:rPr>
              <a:t>r</a:t>
            </a:r>
            <a:r>
              <a:rPr kumimoji="1" lang="en-US" sz="1800" b="1" i="1" u="none" strike="noStrike" kern="1200" baseline="-30000" dirty="0" err="1">
                <a:ln>
                  <a:noFill/>
                </a:ln>
                <a:solidFill>
                  <a:srgbClr val="000000"/>
                </a:solidFill>
                <a:effectLst/>
                <a:latin typeface="Calibri" panose="020F0502020204030204" pitchFamily="34" charset="0"/>
              </a:rPr>
              <a:t>ji</a:t>
            </a:r>
            <a:r>
              <a:rPr kumimoji="1" lang="zh-CN"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rPr>
              <a:t>0</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对</a:t>
            </a:r>
            <a:r>
              <a:rPr kumimoji="1" lang="en-US" sz="1800" b="1" i="1" u="none" strike="noStrike" kern="1200" baseline="0" dirty="0">
                <a:ln>
                  <a:noFill/>
                </a:ln>
                <a:solidFill>
                  <a:srgbClr val="000000"/>
                </a:solidFill>
                <a:effectLst/>
                <a:latin typeface="Calibri" panose="020F0502020204030204" pitchFamily="34" charset="0"/>
              </a:rPr>
              <a:t>M</a:t>
            </a:r>
            <a:r>
              <a:rPr kumimoji="1" lang="en-US" sz="1800" b="1" i="0" u="none" strike="noStrike" kern="1200" baseline="30000" dirty="0">
                <a:ln>
                  <a:noFill/>
                </a:ln>
                <a:solidFill>
                  <a:srgbClr val="000000"/>
                </a:solidFill>
                <a:effectLst/>
                <a:latin typeface="Calibri" panose="020F0502020204030204" pitchFamily="34" charset="0"/>
              </a:rPr>
              <a:t>2</a:t>
            </a:r>
            <a:r>
              <a:rPr kumimoji="1" lang="zh-CN" sz="1800" b="1" i="0" u="none" strike="noStrike" kern="1200" baseline="0" dirty="0">
                <a:ln>
                  <a:noFill/>
                </a:ln>
                <a:solidFill>
                  <a:srgbClr val="000000"/>
                </a:solidFill>
                <a:effectLst/>
                <a:latin typeface="Calibri" panose="020F0502020204030204" pitchFamily="34" charset="0"/>
              </a:rPr>
              <a:t>中</a:t>
            </a:r>
            <a:r>
              <a:rPr kumimoji="1" lang="en-US" sz="1800" b="1" i="0" u="none" strike="noStrike" kern="1200" baseline="0" dirty="0">
                <a:ln>
                  <a:noFill/>
                </a:ln>
                <a:solidFill>
                  <a:srgbClr val="000000"/>
                </a:solidFill>
                <a:effectLst/>
                <a:latin typeface="Calibri" panose="020F0502020204030204" pitchFamily="34" charset="0"/>
              </a:rPr>
              <a:t>1</a:t>
            </a:r>
            <a:r>
              <a:rPr kumimoji="1" lang="zh-CN" sz="1800" b="1" i="0" u="none" strike="noStrike" kern="1200" baseline="0" dirty="0">
                <a:ln>
                  <a:noFill/>
                </a:ln>
                <a:solidFill>
                  <a:srgbClr val="000000"/>
                </a:solidFill>
                <a:effectLst/>
                <a:latin typeface="Calibri" panose="020F0502020204030204" pitchFamily="34" charset="0"/>
              </a:rPr>
              <a:t>所在位置</a:t>
            </a:r>
            <a:r>
              <a:rPr kumimoji="1" lang="en-US" sz="1800" b="1" i="0" u="none" strike="noStrike" kern="1200" baseline="0" dirty="0">
                <a:ln>
                  <a:noFill/>
                </a:ln>
                <a:solidFill>
                  <a:srgbClr val="000000"/>
                </a:solidFill>
                <a:effectLst/>
                <a:latin typeface="Calibri" panose="020F0502020204030204" pitchFamily="34" charset="0"/>
              </a:rPr>
              <a:t>, </a:t>
            </a:r>
            <a:r>
              <a:rPr kumimoji="1" lang="en-US" sz="1800" b="1" i="1" u="none" strike="noStrike" kern="1200" baseline="0" dirty="0">
                <a:ln>
                  <a:noFill/>
                </a:ln>
                <a:solidFill>
                  <a:srgbClr val="000000"/>
                </a:solidFill>
                <a:effectLst/>
                <a:latin typeface="Calibri" panose="020F0502020204030204" pitchFamily="34" charset="0"/>
              </a:rPr>
              <a:t>M</a:t>
            </a:r>
            <a:r>
              <a:rPr kumimoji="1" lang="zh-CN" sz="1800" b="1" i="0" u="none" strike="noStrike" kern="1200" baseline="0" dirty="0">
                <a:ln>
                  <a:noFill/>
                </a:ln>
                <a:solidFill>
                  <a:srgbClr val="000000"/>
                </a:solidFill>
                <a:effectLst/>
                <a:latin typeface="Calibri" panose="020F0502020204030204" pitchFamily="34" charset="0"/>
              </a:rPr>
              <a:t>中相位置都是</a:t>
            </a:r>
            <a:r>
              <a:rPr kumimoji="1" lang="en-US" sz="1800" b="1" i="0" u="none" strike="noStrike" kern="1200" baseline="0" dirty="0">
                <a:ln>
                  <a:noFill/>
                </a:ln>
                <a:solidFill>
                  <a:srgbClr val="000000"/>
                </a:solidFill>
                <a:effectLst/>
                <a:latin typeface="Calibri" panose="020F0502020204030204" pitchFamily="34" charset="0"/>
              </a:rPr>
              <a:t>1</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关系</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图</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每个顶点都有环</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每个顶点都没有环</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如果两个顶点之间有边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一定是一对方向相反的边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无单边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如果两点之间有边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一定是一条有向边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无双向边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如果顶点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a:ln>
                  <a:noFill/>
                </a:ln>
                <a:solidFill>
                  <a:srgbClr val="000000"/>
                </a:solidFill>
                <a:effectLst/>
                <a:latin typeface="Calibri" panose="020F0502020204030204" pitchFamily="34" charset="0"/>
                <a:ea typeface="宋体" panose="02010600030101010101" pitchFamily="2" charset="-122"/>
              </a:rPr>
              <a:t>i</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j</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j</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k</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则从</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a:ln>
                  <a:noFill/>
                </a:ln>
                <a:solidFill>
                  <a:srgbClr val="000000"/>
                </a:solidFill>
                <a:effectLst/>
                <a:latin typeface="Calibri" panose="020F0502020204030204" pitchFamily="34" charset="0"/>
                <a:ea typeface="宋体" panose="02010600030101010101" pitchFamily="2" charset="-122"/>
              </a:rPr>
              <a:t>i</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k</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也有边 </a:t>
            </a:r>
            <a:endParaRPr lang="en-US" sz="1800" b="0" i="0" u="none" strike="noStrike" dirty="0">
              <a:effectLst/>
              <a:latin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54</a:t>
            </a:fld>
            <a:endParaRPr lang="zh-CN" altLang="en-US"/>
          </a:p>
        </p:txBody>
      </p:sp>
    </p:spTree>
    <p:extLst>
      <p:ext uri="{BB962C8B-B14F-4D97-AF65-F5344CB8AC3E}">
        <p14:creationId xmlns:p14="http://schemas.microsoft.com/office/powerpoint/2010/main" val="22578193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表示形式</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自反性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反</a:t>
            </a: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自反性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对称性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反对称性</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传递性</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表达式</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1" u="none" strike="noStrike" kern="1200" baseline="0" dirty="0">
                <a:ln>
                  <a:noFill/>
                </a:ln>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3000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30000" dirty="0">
                <a:ln>
                  <a:noFill/>
                </a:ln>
                <a:solidFill>
                  <a:srgbClr val="000000"/>
                </a:solidFill>
                <a:effectLst/>
                <a:latin typeface="Calibri" panose="020F0502020204030204" pitchFamily="34" charset="0"/>
              </a:rPr>
              <a:t>1</a:t>
            </a:r>
            <a:r>
              <a:rPr kumimoji="1" lang="en-US" sz="1800" b="1" i="0" u="none" strike="noStrike" kern="1200" baseline="0" dirty="0">
                <a:ln>
                  <a:noFill/>
                </a:ln>
                <a:solidFill>
                  <a:srgbClr val="000000"/>
                </a:solidFill>
                <a:effectLst/>
                <a:latin typeface="Calibri" panose="020F0502020204030204" pitchFamily="34" charset="0"/>
              </a:rPr>
              <a:t> </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3000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30000" dirty="0">
                <a:ln>
                  <a:noFill/>
                </a:ln>
                <a:solidFill>
                  <a:srgbClr val="000000"/>
                </a:solidFill>
                <a:effectLst/>
                <a:latin typeface="Calibri" panose="020F0502020204030204" pitchFamily="34" charset="0"/>
              </a:rPr>
              <a:t>1</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0" u="none" strike="noStrike" kern="1200" baseline="0" dirty="0">
                <a:ln>
                  <a:noFill/>
                </a:ln>
                <a:solidFill>
                  <a:srgbClr val="000000"/>
                </a:solidFill>
                <a:effectLst/>
                <a:latin typeface="Calibri" panose="020F0502020204030204" pitchFamily="34" charset="0"/>
              </a:rPr>
              <a:t> </a:t>
            </a:r>
            <a:r>
              <a:rPr kumimoji="1" lang="en-US" sz="1800" b="1" i="1" u="none" strike="noStrike" kern="1200" baseline="0" dirty="0">
                <a:ln>
                  <a:noFill/>
                </a:ln>
                <a:solidFill>
                  <a:srgbClr val="000000"/>
                </a:solidFill>
                <a:effectLst/>
                <a:latin typeface="Calibri" panose="020F0502020204030204" pitchFamily="34" charset="0"/>
              </a:rPr>
              <a:t>I</a:t>
            </a:r>
            <a:r>
              <a:rPr kumimoji="1" lang="en-US" sz="1800" b="1" i="1" u="none" strike="noStrike" kern="1200" baseline="-30000" dirty="0">
                <a:ln>
                  <a:noFill/>
                </a:ln>
                <a:solidFill>
                  <a:srgbClr val="000000"/>
                </a:solidFill>
                <a:effectLst/>
                <a:latin typeface="Calibri" panose="020F0502020204030204" pitchFamily="34" charset="0"/>
              </a:rPr>
              <a:t>A</a:t>
            </a:r>
            <a:r>
              <a:rPr kumimoji="1" lang="en-US" sz="1800" b="1" i="1" u="none" strike="noStrike" kern="1200" baseline="0" dirty="0">
                <a:ln>
                  <a:noFill/>
                </a:ln>
                <a:solidFill>
                  <a:srgbClr val="000000"/>
                </a:solidFill>
                <a:effectLst/>
                <a:latin typeface="Calibri" panose="020F0502020204030204" pitchFamily="34" charset="0"/>
              </a:rPr>
              <a:t> </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en-US" sz="1800" b="1" i="1" u="none" strike="noStrike" kern="1200" baseline="0" dirty="0">
                <a:ln>
                  <a:noFill/>
                </a:ln>
                <a:solidFill>
                  <a:srgbClr val="000000"/>
                </a:solidFill>
                <a:effectLst/>
                <a:latin typeface="Calibri" panose="020F0502020204030204" pitchFamily="34" charset="0"/>
              </a:rPr>
              <a:t>R</a:t>
            </a:r>
            <a:r>
              <a:rPr lang="en-US" sz="1800" b="1" i="0" u="none" strike="noStrike" kern="1200" dirty="0">
                <a:solidFill>
                  <a:srgbClr val="000000"/>
                </a:solidFill>
                <a:effectLst/>
                <a:latin typeface="Calibri" panose="020F0502020204030204" pitchFamily="34" charset="0"/>
              </a:rPr>
              <a:t>∘</a:t>
            </a:r>
            <a:r>
              <a:rPr kumimoji="1" lang="en-US" sz="1800" b="1" i="1" u="none" strike="noStrike" kern="1200" baseline="0" dirty="0">
                <a:ln>
                  <a:noFill/>
                </a:ln>
                <a:solidFill>
                  <a:srgbClr val="000000"/>
                </a:solidFill>
                <a:effectLst/>
                <a:latin typeface="Calibri" panose="020F0502020204030204" pitchFamily="34" charset="0"/>
              </a:rPr>
              <a:t>R</a:t>
            </a:r>
            <a:r>
              <a:rPr kumimoji="1" lang="en-US" sz="1800" b="1" i="0" u="none" strike="noStrike" kern="1200" baseline="0" dirty="0">
                <a:ln>
                  <a:noFill/>
                </a:ln>
                <a:solidFill>
                  <a:srgbClr val="000000"/>
                </a:solidFill>
                <a:effectLst/>
                <a:latin typeface="Calibri" panose="020F0502020204030204" pitchFamily="34" charset="0"/>
                <a:sym typeface="Symbol" panose="05050102010706020507" pitchFamily="18" charset="2"/>
              </a:rPr>
              <a:t></a:t>
            </a:r>
            <a:r>
              <a:rPr kumimoji="1" lang="en-US" sz="1800" b="1" i="1" u="none" strike="noStrike" kern="1200" baseline="0" dirty="0">
                <a:ln>
                  <a:noFill/>
                </a:ln>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定义</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sym typeface="Symbol" panose="05050102010706020507" pitchFamily="18" charset="2"/>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A</a:t>
            </a:r>
            <a:r>
              <a:rPr lang="en-US"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有</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sym typeface="Symbol" panose="05050102010706020507" pitchFamily="18" charset="2"/>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A</a:t>
            </a:r>
            <a:r>
              <a:rPr lang="en-US"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有</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zh-CN" sz="1800" b="0"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0" u="none" strike="noStrike" kern="1200" dirty="0">
                <a:solidFill>
                  <a:srgbClr val="000000"/>
                </a:solidFill>
                <a:effectLst/>
                <a:latin typeface="Calibri" panose="020F0502020204030204" pitchFamily="34" charset="0"/>
              </a:rPr>
              <a:t>且</a:t>
            </a:r>
            <a:r>
              <a:rPr lang="en-US" sz="1800" b="1" i="1" u="none" strike="noStrike" kern="1200" dirty="0">
                <a:solidFill>
                  <a:srgbClr val="000000"/>
                </a:solidFill>
                <a:effectLst/>
                <a:latin typeface="Calibri" panose="020F0502020204030204" pitchFamily="34" charset="0"/>
              </a:rPr>
              <a:t>x</a:t>
            </a:r>
            <a:r>
              <a:rPr lang="zh-CN" sz="1800" b="1"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y</a:t>
            </a:r>
            <a:r>
              <a:rPr lang="zh-CN" sz="1800" b="1" i="1"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a:solidFill>
                  <a:srgbClr val="000000"/>
                </a:solidFill>
                <a:effectLst/>
                <a:latin typeface="Calibri" panose="020F0502020204030204" pitchFamily="34" charset="0"/>
              </a:rPr>
              <a:t>&gt;</a:t>
            </a:r>
            <a:r>
              <a:rPr lang="zh-CN" sz="1800" b="0" i="0" u="none" strike="noStrike" kern="1200" dirty="0">
                <a:solidFill>
                  <a:srgbClr val="000000"/>
                </a:solidFill>
                <a:effectLst/>
                <a:latin typeface="Calibri" panose="020F0502020204030204" pitchFamily="34" charset="0"/>
                <a:ea typeface="Calibri" panose="020F0502020204030204" pitchFamily="34" charset="0"/>
              </a:rPr>
              <a: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lang="zh-CN" sz="1800" b="1" i="0" u="none" strike="noStrike" kern="1200" dirty="0">
                <a:solidFill>
                  <a:srgbClr val="000000"/>
                </a:solidFill>
                <a:effectLst/>
                <a:latin typeface="Calibri" panose="020F0502020204030204" pitchFamily="34" charset="0"/>
              </a:rPr>
              <a:t>若</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zh-CN" sz="1800" b="1" i="0" u="none" strike="noStrike" kern="1200" dirty="0">
                <a:solidFill>
                  <a:srgbClr val="000000"/>
                </a:solidFill>
                <a:effectLst/>
                <a:latin typeface="Calibri" panose="020F0502020204030204" pitchFamily="34" charset="0"/>
              </a:rPr>
              <a:t>且</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y</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z</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r>
              <a:rPr lang="en-US" sz="1800" b="1" i="0" u="none" strike="noStrike" kern="1200" dirty="0">
                <a:solidFill>
                  <a:srgbClr val="000000"/>
                </a:solidFill>
                <a:effectLst/>
                <a:latin typeface="Calibri" panose="020F0502020204030204" pitchFamily="34" charset="0"/>
              </a:rPr>
              <a:t>,</a:t>
            </a:r>
            <a:r>
              <a:rPr lang="zh-CN" sz="1800" b="1" i="0" u="none" strike="noStrike" kern="1200" dirty="0">
                <a:solidFill>
                  <a:srgbClr val="000000"/>
                </a:solidFill>
                <a:effectLst/>
                <a:latin typeface="Calibri" panose="020F0502020204030204" pitchFamily="34" charset="0"/>
              </a:rPr>
              <a:t>则</a:t>
            </a:r>
            <a:r>
              <a:rPr lang="en-US" sz="1800" b="1" i="0" u="none" strike="noStrike" kern="1200" dirty="0">
                <a:solidFill>
                  <a:srgbClr val="000000"/>
                </a:solidFill>
                <a:effectLst/>
                <a:latin typeface="Calibri" panose="020F0502020204030204" pitchFamily="34" charset="0"/>
              </a:rPr>
              <a:t>&lt;</a:t>
            </a:r>
            <a:r>
              <a:rPr lang="en-US" sz="1800" b="1" i="1" u="none" strike="noStrike" kern="1200" dirty="0" err="1">
                <a:solidFill>
                  <a:srgbClr val="000000"/>
                </a:solidFill>
                <a:effectLst/>
                <a:latin typeface="Calibri" panose="020F0502020204030204" pitchFamily="34" charset="0"/>
              </a:rPr>
              <a:t>x</a:t>
            </a:r>
            <a:r>
              <a:rPr lang="en-US" sz="1800" b="1" i="0" u="none" strike="noStrike" kern="1200" dirty="0" err="1">
                <a:solidFill>
                  <a:srgbClr val="000000"/>
                </a:solidFill>
                <a:effectLst/>
                <a:latin typeface="Calibri" panose="020F0502020204030204" pitchFamily="34" charset="0"/>
              </a:rPr>
              <a:t>,</a:t>
            </a:r>
            <a:r>
              <a:rPr lang="en-US" sz="1800" b="1" i="1" u="none" strike="noStrike" kern="1200" dirty="0" err="1">
                <a:solidFill>
                  <a:srgbClr val="000000"/>
                </a:solidFill>
                <a:effectLst/>
                <a:latin typeface="Calibri" panose="020F0502020204030204" pitchFamily="34" charset="0"/>
              </a:rPr>
              <a:t>z</a:t>
            </a:r>
            <a:r>
              <a:rPr lang="en-US" sz="1800" b="1" i="0" u="none" strike="noStrike" kern="1200" dirty="0">
                <a:solidFill>
                  <a:srgbClr val="000000"/>
                </a:solidFill>
                <a:effectLst/>
                <a:latin typeface="Calibri" panose="020F0502020204030204" pitchFamily="34" charset="0"/>
              </a:rPr>
              <a:t>&gt;∈</a:t>
            </a:r>
            <a:r>
              <a:rPr lang="en-US" sz="1800" b="1" i="1" u="none" strike="noStrike" kern="1200" dirty="0">
                <a:solidFill>
                  <a:srgbClr val="000000"/>
                </a:solidFill>
                <a:effectLst/>
                <a:latin typeface="Calibri" panose="020F0502020204030204" pitchFamily="34" charset="0"/>
              </a:rPr>
              <a:t>R</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关系矩阵</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主对角线元素全是</a:t>
            </a:r>
            <a:r>
              <a:rPr kumimoji="1" lang="en-US" sz="1800" b="1" i="0" u="none" strike="noStrike" kern="1200" baseline="0" dirty="0">
                <a:ln>
                  <a:noFill/>
                </a:ln>
                <a:solidFill>
                  <a:srgbClr val="000000"/>
                </a:solidFill>
                <a:effectLst/>
                <a:latin typeface="Calibri" panose="020F0502020204030204" pitchFamily="34" charset="0"/>
              </a:rPr>
              <a:t>1</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主对角线元素全是</a:t>
            </a:r>
            <a:r>
              <a:rPr kumimoji="1" lang="en-US" sz="1800" b="1" i="0" u="none" strike="noStrike" kern="1200" baseline="0" dirty="0">
                <a:ln>
                  <a:noFill/>
                </a:ln>
                <a:solidFill>
                  <a:srgbClr val="000000"/>
                </a:solidFill>
                <a:effectLst/>
                <a:latin typeface="Calibri" panose="020F0502020204030204" pitchFamily="34" charset="0"/>
              </a:rPr>
              <a:t>0</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矩阵是对称矩阵</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若</a:t>
            </a:r>
            <a:r>
              <a:rPr kumimoji="1" lang="en-US" sz="1800" b="1" i="1" u="none" strike="noStrike" kern="1200" baseline="0" dirty="0" err="1">
                <a:ln>
                  <a:noFill/>
                </a:ln>
                <a:solidFill>
                  <a:srgbClr val="000000"/>
                </a:solidFill>
                <a:effectLst/>
                <a:latin typeface="Calibri" panose="020F0502020204030204" pitchFamily="34" charset="0"/>
              </a:rPr>
              <a:t>r</a:t>
            </a:r>
            <a:r>
              <a:rPr kumimoji="1" lang="en-US" sz="1800" b="1" i="1" u="none" strike="noStrike" kern="1200" baseline="-30000" dirty="0" err="1">
                <a:ln>
                  <a:noFill/>
                </a:ln>
                <a:solidFill>
                  <a:srgbClr val="000000"/>
                </a:solidFill>
                <a:effectLst/>
                <a:latin typeface="Calibri" panose="020F0502020204030204" pitchFamily="34" charset="0"/>
              </a:rPr>
              <a:t>ij</a:t>
            </a:r>
            <a:r>
              <a:rPr kumimoji="1" lang="zh-CN"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rPr>
              <a:t>1, </a:t>
            </a:r>
            <a:r>
              <a:rPr kumimoji="1" lang="zh-CN" sz="1800" b="1" i="0" u="none" strike="noStrike" kern="1200" baseline="0" dirty="0">
                <a:ln>
                  <a:noFill/>
                </a:ln>
                <a:solidFill>
                  <a:srgbClr val="000000"/>
                </a:solidFill>
                <a:effectLst/>
                <a:latin typeface="Calibri" panose="020F0502020204030204" pitchFamily="34" charset="0"/>
              </a:rPr>
              <a:t>且 </a:t>
            </a:r>
            <a:r>
              <a:rPr kumimoji="1" lang="en-US" sz="1800" b="1" i="1" u="none" strike="noStrike" kern="1200" baseline="0" dirty="0" err="1">
                <a:ln>
                  <a:noFill/>
                </a:ln>
                <a:solidFill>
                  <a:srgbClr val="000000"/>
                </a:solidFill>
                <a:effectLst/>
                <a:latin typeface="Calibri" panose="020F0502020204030204" pitchFamily="34" charset="0"/>
              </a:rPr>
              <a:t>i</a:t>
            </a:r>
            <a:r>
              <a:rPr kumimoji="1" lang="en-US" sz="1800" b="1" i="0" u="none" strike="noStrike" kern="1200" baseline="0" dirty="0" err="1">
                <a:ln>
                  <a:noFill/>
                </a:ln>
                <a:solidFill>
                  <a:srgbClr val="000000"/>
                </a:solidFill>
                <a:effectLst/>
                <a:latin typeface="Calibri" panose="020F0502020204030204" pitchFamily="34" charset="0"/>
              </a:rPr>
              <a:t>≠</a:t>
            </a:r>
            <a:r>
              <a:rPr kumimoji="1" lang="en-US" sz="1800" b="1" i="1" u="none" strike="noStrike" kern="1200" baseline="0" dirty="0" err="1">
                <a:ln>
                  <a:noFill/>
                </a:ln>
                <a:solidFill>
                  <a:srgbClr val="000000"/>
                </a:solidFill>
                <a:effectLst/>
                <a:latin typeface="Calibri" panose="020F0502020204030204" pitchFamily="34" charset="0"/>
              </a:rPr>
              <a:t>j</a:t>
            </a:r>
            <a:r>
              <a:rPr kumimoji="1" lang="en-US" sz="1800" b="1" i="0" u="none" strike="noStrike" kern="1200" baseline="0" dirty="0">
                <a:ln>
                  <a:noFill/>
                </a:ln>
                <a:solidFill>
                  <a:srgbClr val="000000"/>
                </a:solidFill>
                <a:effectLst/>
                <a:latin typeface="Calibri" panose="020F0502020204030204" pitchFamily="34" charset="0"/>
              </a:rPr>
              <a:t>, </a:t>
            </a:r>
            <a:r>
              <a:rPr kumimoji="1" lang="zh-CN" sz="1800" b="1" i="0" u="none" strike="noStrike" kern="1200" baseline="0" dirty="0">
                <a:ln>
                  <a:noFill/>
                </a:ln>
                <a:solidFill>
                  <a:srgbClr val="000000"/>
                </a:solidFill>
                <a:effectLst/>
                <a:latin typeface="Calibri" panose="020F0502020204030204" pitchFamily="34" charset="0"/>
              </a:rPr>
              <a:t>则</a:t>
            </a:r>
            <a:r>
              <a:rPr kumimoji="1" lang="en-US" sz="1800" b="1" i="1" u="none" strike="noStrike" kern="1200" baseline="0" dirty="0" err="1">
                <a:ln>
                  <a:noFill/>
                </a:ln>
                <a:solidFill>
                  <a:srgbClr val="000000"/>
                </a:solidFill>
                <a:effectLst/>
                <a:latin typeface="Calibri" panose="020F0502020204030204" pitchFamily="34" charset="0"/>
              </a:rPr>
              <a:t>r</a:t>
            </a:r>
            <a:r>
              <a:rPr kumimoji="1" lang="en-US" sz="1800" b="1" i="1" u="none" strike="noStrike" kern="1200" baseline="-30000" dirty="0" err="1">
                <a:ln>
                  <a:noFill/>
                </a:ln>
                <a:solidFill>
                  <a:srgbClr val="000000"/>
                </a:solidFill>
                <a:effectLst/>
                <a:latin typeface="Calibri" panose="020F0502020204030204" pitchFamily="34" charset="0"/>
              </a:rPr>
              <a:t>ji</a:t>
            </a:r>
            <a:r>
              <a:rPr kumimoji="1" lang="zh-CN" sz="1800" b="1" i="0" u="none" strike="noStrike" kern="1200" baseline="0" dirty="0">
                <a:ln>
                  <a:noFill/>
                </a:ln>
                <a:solidFill>
                  <a:srgbClr val="000000"/>
                </a:solidFill>
                <a:effectLst/>
                <a:latin typeface="Calibri" panose="020F0502020204030204" pitchFamily="34" charset="0"/>
              </a:rPr>
              <a:t>＝</a:t>
            </a:r>
            <a:r>
              <a:rPr kumimoji="1" lang="en-US" sz="1800" b="1" i="0" u="none" strike="noStrike" kern="1200" baseline="0" dirty="0">
                <a:ln>
                  <a:noFill/>
                </a:ln>
                <a:solidFill>
                  <a:srgbClr val="000000"/>
                </a:solidFill>
                <a:effectLst/>
                <a:latin typeface="Calibri" panose="020F0502020204030204" pitchFamily="34" charset="0"/>
              </a:rPr>
              <a:t>0</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rPr>
              <a:t>对</a:t>
            </a:r>
            <a:r>
              <a:rPr kumimoji="1" lang="en-US" sz="1800" b="1" i="1" u="none" strike="noStrike" kern="1200" baseline="0" dirty="0">
                <a:ln>
                  <a:noFill/>
                </a:ln>
                <a:solidFill>
                  <a:srgbClr val="000000"/>
                </a:solidFill>
                <a:effectLst/>
                <a:latin typeface="Calibri" panose="020F0502020204030204" pitchFamily="34" charset="0"/>
              </a:rPr>
              <a:t>M</a:t>
            </a:r>
            <a:r>
              <a:rPr kumimoji="1" lang="en-US" sz="1800" b="1" i="0" u="none" strike="noStrike" kern="1200" baseline="30000" dirty="0">
                <a:ln>
                  <a:noFill/>
                </a:ln>
                <a:solidFill>
                  <a:srgbClr val="000000"/>
                </a:solidFill>
                <a:effectLst/>
                <a:latin typeface="Calibri" panose="020F0502020204030204" pitchFamily="34" charset="0"/>
              </a:rPr>
              <a:t>2</a:t>
            </a:r>
            <a:r>
              <a:rPr kumimoji="1" lang="zh-CN" sz="1800" b="1" i="0" u="none" strike="noStrike" kern="1200" baseline="0" dirty="0">
                <a:ln>
                  <a:noFill/>
                </a:ln>
                <a:solidFill>
                  <a:srgbClr val="000000"/>
                </a:solidFill>
                <a:effectLst/>
                <a:latin typeface="Calibri" panose="020F0502020204030204" pitchFamily="34" charset="0"/>
              </a:rPr>
              <a:t>中</a:t>
            </a:r>
            <a:r>
              <a:rPr kumimoji="1" lang="en-US" sz="1800" b="1" i="0" u="none" strike="noStrike" kern="1200" baseline="0" dirty="0">
                <a:ln>
                  <a:noFill/>
                </a:ln>
                <a:solidFill>
                  <a:srgbClr val="000000"/>
                </a:solidFill>
                <a:effectLst/>
                <a:latin typeface="Calibri" panose="020F0502020204030204" pitchFamily="34" charset="0"/>
              </a:rPr>
              <a:t>1</a:t>
            </a:r>
            <a:r>
              <a:rPr kumimoji="1" lang="zh-CN" sz="1800" b="1" i="0" u="none" strike="noStrike" kern="1200" baseline="0" dirty="0">
                <a:ln>
                  <a:noFill/>
                </a:ln>
                <a:solidFill>
                  <a:srgbClr val="000000"/>
                </a:solidFill>
                <a:effectLst/>
                <a:latin typeface="Calibri" panose="020F0502020204030204" pitchFamily="34" charset="0"/>
              </a:rPr>
              <a:t>所在位置</a:t>
            </a:r>
            <a:r>
              <a:rPr kumimoji="1" lang="en-US" sz="1800" b="1" i="0" u="none" strike="noStrike" kern="1200" baseline="0" dirty="0">
                <a:ln>
                  <a:noFill/>
                </a:ln>
                <a:solidFill>
                  <a:srgbClr val="000000"/>
                </a:solidFill>
                <a:effectLst/>
                <a:latin typeface="Calibri" panose="020F0502020204030204" pitchFamily="34" charset="0"/>
              </a:rPr>
              <a:t>, </a:t>
            </a:r>
            <a:r>
              <a:rPr kumimoji="1" lang="en-US" sz="1800" b="1" i="1" u="none" strike="noStrike" kern="1200" baseline="0" dirty="0">
                <a:ln>
                  <a:noFill/>
                </a:ln>
                <a:solidFill>
                  <a:srgbClr val="000000"/>
                </a:solidFill>
                <a:effectLst/>
                <a:latin typeface="Calibri" panose="020F0502020204030204" pitchFamily="34" charset="0"/>
              </a:rPr>
              <a:t>M</a:t>
            </a:r>
            <a:r>
              <a:rPr kumimoji="1" lang="zh-CN" sz="1800" b="1" i="0" u="none" strike="noStrike" kern="1200" baseline="0" dirty="0">
                <a:ln>
                  <a:noFill/>
                </a:ln>
                <a:solidFill>
                  <a:srgbClr val="000000"/>
                </a:solidFill>
                <a:effectLst/>
                <a:latin typeface="Calibri" panose="020F0502020204030204" pitchFamily="34" charset="0"/>
              </a:rPr>
              <a:t>中相位置都是</a:t>
            </a:r>
            <a:r>
              <a:rPr kumimoji="1" lang="en-US" sz="1800" b="1" i="0" u="none" strike="noStrike" kern="1200" baseline="0" dirty="0">
                <a:ln>
                  <a:noFill/>
                </a:ln>
                <a:solidFill>
                  <a:srgbClr val="000000"/>
                </a:solidFill>
                <a:effectLst/>
                <a:latin typeface="Calibri" panose="020F0502020204030204" pitchFamily="34" charset="0"/>
              </a:rPr>
              <a:t>1</a:t>
            </a:r>
            <a:endParaRPr lang="en-US" sz="18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rPr>
              <a:t>关系</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图</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每个顶点都有环</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每个顶点都没有环</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如果两个顶点之间有边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一定是一对方向相反的边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无单边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如果两点之间有边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一定是一条有向边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无双向边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endParaRPr lang="en-US" sz="1800" b="0" i="0" u="none" strike="noStrike" dirty="0">
              <a:effectLst/>
              <a:latin typeface="Arial" panose="020B0604020202020204" pitchFamily="34" charset="0"/>
            </a:endParaRPr>
          </a:p>
          <a:p>
            <a:pPr marL="0" marR="0" indent="0"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如果顶点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a:ln>
                  <a:noFill/>
                </a:ln>
                <a:solidFill>
                  <a:srgbClr val="000000"/>
                </a:solidFill>
                <a:effectLst/>
                <a:latin typeface="Calibri" panose="020F0502020204030204" pitchFamily="34" charset="0"/>
                <a:ea typeface="宋体" panose="02010600030101010101" pitchFamily="2" charset="-122"/>
              </a:rPr>
              <a:t>i</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j</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 </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j</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k</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有边</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则从</a:t>
            </a:r>
            <a:r>
              <a:rPr kumimoji="1" lang="en-US" sz="1800" b="1" i="0" u="none" strike="noStrike" kern="1200" baseline="0" dirty="0">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a:ln>
                  <a:noFill/>
                </a:ln>
                <a:solidFill>
                  <a:srgbClr val="000000"/>
                </a:solidFill>
                <a:effectLst/>
                <a:latin typeface="Calibri" panose="020F0502020204030204" pitchFamily="34" charset="0"/>
                <a:ea typeface="宋体" panose="02010600030101010101" pitchFamily="2" charset="-122"/>
              </a:rPr>
              <a:t>i</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到</a:t>
            </a:r>
            <a:r>
              <a:rPr kumimoji="1" lang="en-US" sz="1800" b="1" i="0" u="none" strike="noStrike" kern="1200" baseline="0" dirty="0" err="1">
                <a:ln>
                  <a:noFill/>
                </a:ln>
                <a:solidFill>
                  <a:srgbClr val="000000"/>
                </a:solidFill>
                <a:effectLst/>
                <a:latin typeface="Calibri" panose="020F0502020204030204" pitchFamily="34" charset="0"/>
                <a:ea typeface="宋体" panose="02010600030101010101" pitchFamily="2" charset="-122"/>
              </a:rPr>
              <a:t>x</a:t>
            </a:r>
            <a:r>
              <a:rPr kumimoji="1" lang="en-US" sz="1800" b="1" i="1" u="none" strike="noStrike" kern="1200" baseline="-30000" dirty="0" err="1">
                <a:ln>
                  <a:noFill/>
                </a:ln>
                <a:solidFill>
                  <a:srgbClr val="000000"/>
                </a:solidFill>
                <a:effectLst/>
                <a:latin typeface="Calibri" panose="020F0502020204030204" pitchFamily="34" charset="0"/>
                <a:ea typeface="宋体" panose="02010600030101010101" pitchFamily="2" charset="-122"/>
              </a:rPr>
              <a:t>k</a:t>
            </a:r>
            <a:r>
              <a:rPr kumimoji="1" lang="zh-CN" sz="1800" b="1" i="0" u="none" strike="noStrike" kern="1200" baseline="0" dirty="0">
                <a:ln>
                  <a:noFill/>
                </a:ln>
                <a:solidFill>
                  <a:srgbClr val="000000"/>
                </a:solidFill>
                <a:effectLst/>
                <a:latin typeface="Calibri" panose="020F0502020204030204" pitchFamily="34" charset="0"/>
                <a:ea typeface="宋体" panose="02010600030101010101" pitchFamily="2" charset="-122"/>
              </a:rPr>
              <a:t>也有边 </a:t>
            </a:r>
            <a:endParaRPr lang="en-US" sz="1800" b="0" i="0" u="none" strike="noStrike" dirty="0">
              <a:effectLst/>
              <a:latin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55</a:t>
            </a:fld>
            <a:endParaRPr lang="zh-CN" altLang="en-US"/>
          </a:p>
        </p:txBody>
      </p:sp>
    </p:spTree>
    <p:extLst>
      <p:ext uri="{BB962C8B-B14F-4D97-AF65-F5344CB8AC3E}">
        <p14:creationId xmlns:p14="http://schemas.microsoft.com/office/powerpoint/2010/main" val="9770318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chemeClr val="tx1"/>
                </a:solidFill>
                <a:latin typeface="Times New Roman" panose="02020603050405020304" pitchFamily="18" charset="0"/>
              </a:rPr>
              <a:t>教材</a:t>
            </a:r>
            <a:r>
              <a:rPr lang="en-US" altLang="zh-CN" sz="1200" b="1" dirty="0">
                <a:solidFill>
                  <a:schemeClr val="tx1"/>
                </a:solidFill>
                <a:latin typeface="Times New Roman" panose="02020603050405020304" pitchFamily="18" charset="0"/>
              </a:rPr>
              <a:t>p87</a:t>
            </a:r>
            <a:r>
              <a:rPr lang="zh-CN" altLang="en-US" sz="1200" b="1" dirty="0">
                <a:solidFill>
                  <a:schemeClr val="tx1"/>
                </a:solidFill>
                <a:latin typeface="Times New Roman" panose="02020603050405020304" pitchFamily="18" charset="0"/>
              </a:rPr>
              <a:t>，例</a:t>
            </a:r>
            <a:r>
              <a:rPr lang="en-US" altLang="zh-CN" sz="1200" b="1" dirty="0">
                <a:solidFill>
                  <a:schemeClr val="tx1"/>
                </a:solidFill>
                <a:latin typeface="Times New Roman" panose="02020603050405020304" pitchFamily="18" charset="0"/>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Times New Roman" panose="02020603050405020304" pitchFamily="18" charset="0"/>
              </a:rPr>
              <a:t>(a)</a:t>
            </a:r>
            <a:r>
              <a:rPr lang="zh-CN" altLang="en-US" sz="1200" b="1" dirty="0">
                <a:solidFill>
                  <a:schemeClr val="tx1"/>
                </a:solidFill>
              </a:rPr>
              <a:t>不自反也不反自反；对称</a:t>
            </a:r>
            <a:r>
              <a:rPr lang="en-US" altLang="zh-CN" sz="1200" b="1" dirty="0">
                <a:solidFill>
                  <a:schemeClr val="tx1"/>
                </a:solidFill>
              </a:rPr>
              <a:t>, </a:t>
            </a:r>
            <a:r>
              <a:rPr lang="zh-CN" altLang="en-US" sz="1200" b="1" dirty="0">
                <a:solidFill>
                  <a:schemeClr val="tx1"/>
                </a:solidFill>
              </a:rPr>
              <a:t>不反对称；不传递</a:t>
            </a:r>
            <a:r>
              <a:rPr lang="en-US" altLang="zh-CN" sz="1200" b="1" dirty="0">
                <a:solidFill>
                  <a:schemeClr val="tx1"/>
                </a:solidFill>
              </a:rPr>
              <a:t>.</a:t>
            </a:r>
          </a:p>
          <a:p>
            <a:pPr eaLnBrk="1" hangingPunct="1"/>
            <a:r>
              <a:rPr lang="en-US" altLang="zh-CN" sz="1200" b="1" dirty="0">
                <a:solidFill>
                  <a:schemeClr val="tx1"/>
                </a:solidFill>
                <a:latin typeface="Times New Roman" panose="02020603050405020304" pitchFamily="18" charset="0"/>
              </a:rPr>
              <a:t>(b)</a:t>
            </a:r>
            <a:r>
              <a:rPr lang="zh-CN" altLang="en-US" sz="1200" b="1" dirty="0">
                <a:solidFill>
                  <a:schemeClr val="tx1"/>
                </a:solidFill>
                <a:latin typeface="Times New Roman" panose="02020603050405020304" pitchFamily="18" charset="0"/>
              </a:rPr>
              <a:t>反自反，不是自反的；反对称，不是对称的；</a:t>
            </a:r>
          </a:p>
          <a:p>
            <a:pPr eaLnBrk="1" hangingPunct="1"/>
            <a:r>
              <a:rPr lang="zh-CN" altLang="en-US" sz="1200" b="1" dirty="0">
                <a:solidFill>
                  <a:schemeClr val="tx1"/>
                </a:solidFill>
                <a:latin typeface="Times New Roman" panose="02020603050405020304" pitchFamily="18" charset="0"/>
              </a:rPr>
              <a:t>     是传递的</a:t>
            </a:r>
            <a:r>
              <a:rPr lang="en-US" altLang="zh-CN" sz="1200" b="1" dirty="0">
                <a:solidFill>
                  <a:schemeClr val="tx1"/>
                </a:solidFill>
                <a:latin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Times New Roman" panose="02020603050405020304" pitchFamily="18" charset="0"/>
              </a:rPr>
              <a:t>(c)</a:t>
            </a:r>
            <a:r>
              <a:rPr lang="zh-CN" altLang="en-US" sz="1200" b="1" dirty="0">
                <a:solidFill>
                  <a:schemeClr val="tx1"/>
                </a:solidFill>
              </a:rPr>
              <a:t>自反，不反自反；反对称，不是对称；不传递</a:t>
            </a:r>
            <a:r>
              <a:rPr lang="en-US" altLang="zh-CN" sz="1200" b="1" dirty="0">
                <a:solidFill>
                  <a:schemeClr val="tx1"/>
                </a:solidFill>
              </a:rPr>
              <a:t>. </a:t>
            </a:r>
            <a:endParaRPr lang="en-US" altLang="zh-CN" sz="1200" dirty="0">
              <a:solidFill>
                <a:schemeClr val="tx1"/>
              </a:solidFill>
            </a:endParaRPr>
          </a:p>
          <a:p>
            <a:pPr eaLnBrk="1" hangingPunct="1"/>
            <a:endParaRPr lang="en-US" altLang="zh-CN" sz="1200" b="1" dirty="0">
              <a:solidFill>
                <a:schemeClr val="tx1"/>
              </a:solidFill>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56</a:t>
            </a:fld>
            <a:endParaRPr lang="zh-CN" altLang="en-US"/>
          </a:p>
        </p:txBody>
      </p:sp>
    </p:spTree>
    <p:extLst>
      <p:ext uri="{BB962C8B-B14F-4D97-AF65-F5344CB8AC3E}">
        <p14:creationId xmlns:p14="http://schemas.microsoft.com/office/powerpoint/2010/main" val="11393107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差集 </a:t>
            </a:r>
            <a:r>
              <a:rPr lang="en-US" altLang="zh-CN" b="0" i="1" dirty="0">
                <a:solidFill>
                  <a:srgbClr val="374151"/>
                </a:solidFill>
                <a:effectLst/>
                <a:latin typeface="KaTeX_Math"/>
              </a:rPr>
              <a:t>R</a:t>
            </a:r>
            <a:r>
              <a:rPr lang="zh-CN" altLang="en-US" b="0" i="0" dirty="0">
                <a:solidFill>
                  <a:srgbClr val="374151"/>
                </a:solidFill>
                <a:effectLst/>
                <a:latin typeface="KaTeX_Main"/>
              </a:rPr>
              <a:t>−</a:t>
            </a:r>
            <a:r>
              <a:rPr lang="en-US" altLang="zh-CN" b="0" i="1" dirty="0">
                <a:solidFill>
                  <a:srgbClr val="374151"/>
                </a:solidFill>
                <a:effectLst/>
                <a:latin typeface="KaTeX_Math"/>
              </a:rPr>
              <a:t>S</a:t>
            </a:r>
            <a:r>
              <a:rPr lang="zh-CN" altLang="en-US" b="0" i="0" dirty="0">
                <a:solidFill>
                  <a:srgbClr val="374151"/>
                </a:solidFill>
                <a:effectLst/>
                <a:latin typeface="Söhne"/>
              </a:rPr>
              <a:t> 定义为包含所有那些在 </a:t>
            </a:r>
            <a:r>
              <a:rPr lang="en-US" altLang="zh-CN" b="0" i="1" dirty="0">
                <a:solidFill>
                  <a:srgbClr val="374151"/>
                </a:solidFill>
                <a:effectLst/>
                <a:latin typeface="KaTeX_Math"/>
              </a:rPr>
              <a:t>R</a:t>
            </a:r>
            <a:r>
              <a:rPr lang="zh-CN" altLang="en-US" b="0" i="0" dirty="0">
                <a:solidFill>
                  <a:srgbClr val="374151"/>
                </a:solidFill>
                <a:effectLst/>
                <a:latin typeface="Söhne"/>
              </a:rPr>
              <a:t> 中但不在 </a:t>
            </a:r>
            <a:r>
              <a:rPr lang="en-US" altLang="zh-CN" b="0" i="1" dirty="0">
                <a:solidFill>
                  <a:srgbClr val="374151"/>
                </a:solidFill>
                <a:effectLst/>
                <a:latin typeface="KaTeX_Math"/>
              </a:rPr>
              <a:t>S</a:t>
            </a:r>
            <a:r>
              <a:rPr lang="zh-CN" altLang="en-US" b="0" i="0" dirty="0">
                <a:solidFill>
                  <a:srgbClr val="374151"/>
                </a:solidFill>
                <a:effectLst/>
                <a:latin typeface="Söhne"/>
              </a:rPr>
              <a:t> 中的元素对的集合。</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57</a:t>
            </a:fld>
            <a:endParaRPr lang="zh-CN" altLang="en-US"/>
          </a:p>
        </p:txBody>
      </p:sp>
    </p:spTree>
    <p:extLst>
      <p:ext uri="{BB962C8B-B14F-4D97-AF65-F5344CB8AC3E}">
        <p14:creationId xmlns:p14="http://schemas.microsoft.com/office/powerpoint/2010/main" val="35875238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90000"/>
              </a:lnSpc>
              <a:buNone/>
            </a:pPr>
            <a:r>
              <a:rPr lang="en-US" altLang="zh-CN" b="1" dirty="0"/>
              <a:t>4.3.1</a:t>
            </a:r>
            <a:r>
              <a:rPr lang="zh-CN" altLang="en-US" b="1" dirty="0"/>
              <a:t>关系性质的定义和判别</a:t>
            </a:r>
          </a:p>
          <a:p>
            <a:pPr lvl="1" eaLnBrk="1" hangingPunct="1">
              <a:lnSpc>
                <a:spcPct val="90000"/>
              </a:lnSpc>
            </a:pPr>
            <a:r>
              <a:rPr lang="zh-CN" altLang="en-US" b="1" dirty="0"/>
              <a:t>自反性与反自反性</a:t>
            </a:r>
          </a:p>
          <a:p>
            <a:pPr lvl="1" eaLnBrk="1" hangingPunct="1">
              <a:lnSpc>
                <a:spcPct val="90000"/>
              </a:lnSpc>
            </a:pPr>
            <a:r>
              <a:rPr lang="zh-CN" altLang="en-US" b="1" dirty="0"/>
              <a:t>对称性与反对称性</a:t>
            </a:r>
          </a:p>
          <a:p>
            <a:pPr lvl="1" eaLnBrk="1" hangingPunct="1">
              <a:lnSpc>
                <a:spcPct val="90000"/>
              </a:lnSpc>
            </a:pPr>
            <a:r>
              <a:rPr lang="zh-CN" altLang="en-US" b="1" dirty="0"/>
              <a:t>传递性</a:t>
            </a:r>
            <a:endParaRPr lang="en-US" altLang="zh-CN" b="1" dirty="0"/>
          </a:p>
          <a:p>
            <a:pPr lvl="1" eaLnBrk="1" hangingPunct="1">
              <a:lnSpc>
                <a:spcPct val="90000"/>
              </a:lnSpc>
            </a:pPr>
            <a:endParaRPr lang="zh-CN" altLang="en-US" b="1" dirty="0"/>
          </a:p>
          <a:p>
            <a:pPr marL="0" indent="0" eaLnBrk="1" hangingPunct="1">
              <a:lnSpc>
                <a:spcPct val="90000"/>
              </a:lnSpc>
              <a:spcBef>
                <a:spcPct val="50000"/>
              </a:spcBef>
              <a:buNone/>
            </a:pPr>
            <a:r>
              <a:rPr lang="en-US" altLang="zh-CN" b="1" dirty="0"/>
              <a:t>4.3.2 </a:t>
            </a:r>
            <a:r>
              <a:rPr lang="zh-CN" altLang="en-US" b="1" dirty="0"/>
              <a:t>关系的闭包</a:t>
            </a:r>
          </a:p>
          <a:p>
            <a:pPr lvl="1" eaLnBrk="1" hangingPunct="1">
              <a:lnSpc>
                <a:spcPct val="90000"/>
              </a:lnSpc>
            </a:pPr>
            <a:r>
              <a:rPr lang="zh-CN" altLang="en-US" b="1" dirty="0"/>
              <a:t>闭包定义</a:t>
            </a:r>
          </a:p>
          <a:p>
            <a:pPr lvl="1" eaLnBrk="1" hangingPunct="1">
              <a:lnSpc>
                <a:spcPct val="90000"/>
              </a:lnSpc>
            </a:pPr>
            <a:r>
              <a:rPr lang="zh-CN" altLang="en-US" b="1" dirty="0"/>
              <a:t>闭包计算</a:t>
            </a:r>
          </a:p>
          <a:p>
            <a:pPr lvl="1" eaLnBrk="1" hangingPunct="1">
              <a:lnSpc>
                <a:spcPct val="90000"/>
              </a:lnSpc>
            </a:pPr>
            <a:r>
              <a:rPr lang="zh-CN" altLang="en-US" dirty="0"/>
              <a:t> </a:t>
            </a:r>
            <a:r>
              <a:rPr lang="en-US" altLang="zh-CN" b="1" dirty="0" err="1"/>
              <a:t>Warshall</a:t>
            </a:r>
            <a:r>
              <a:rPr lang="zh-CN" altLang="en-US" b="1" dirty="0"/>
              <a:t>算法</a:t>
            </a:r>
            <a:r>
              <a:rPr lang="zh-CN" altLang="en-US" dirty="0"/>
              <a:t> </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58</a:t>
            </a:fld>
            <a:endParaRPr lang="zh-CN" altLang="en-US"/>
          </a:p>
        </p:txBody>
      </p:sp>
    </p:spTree>
    <p:extLst>
      <p:ext uri="{BB962C8B-B14F-4D97-AF65-F5344CB8AC3E}">
        <p14:creationId xmlns:p14="http://schemas.microsoft.com/office/powerpoint/2010/main" val="8626194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buFontTx/>
              <a:buNone/>
            </a:pPr>
            <a:r>
              <a:rPr lang="zh-CN" altLang="en-US" sz="1200" b="1" dirty="0">
                <a:solidFill>
                  <a:srgbClr val="FF0000"/>
                </a:solidFill>
              </a:rPr>
              <a:t>定义</a:t>
            </a:r>
            <a:r>
              <a:rPr lang="en-US" altLang="zh-CN" sz="1200" b="1" dirty="0">
                <a:solidFill>
                  <a:srgbClr val="FF0000"/>
                </a:solidFill>
              </a:rPr>
              <a:t>4.17</a:t>
            </a:r>
            <a:r>
              <a:rPr lang="en-US" altLang="zh-CN" sz="1200" b="1" dirty="0"/>
              <a:t>  </a:t>
            </a:r>
            <a:r>
              <a:rPr lang="zh-CN" altLang="en-US" sz="1200" b="1" dirty="0"/>
              <a:t>设</a:t>
            </a:r>
            <a:r>
              <a:rPr lang="en-US" altLang="zh-CN" sz="1200" b="1" i="1" dirty="0"/>
              <a:t>R</a:t>
            </a:r>
            <a:r>
              <a:rPr lang="zh-CN" altLang="en-US" sz="1200" b="1" dirty="0"/>
              <a:t>是非空集合</a:t>
            </a:r>
            <a:r>
              <a:rPr lang="en-US" altLang="zh-CN" sz="1200" b="1" i="1" dirty="0"/>
              <a:t>A</a:t>
            </a:r>
            <a:r>
              <a:rPr lang="zh-CN" altLang="en-US" sz="1200" b="1" dirty="0"/>
              <a:t>上的关系</a:t>
            </a:r>
            <a:r>
              <a:rPr lang="en-US" altLang="zh-CN" sz="1200" b="1" dirty="0"/>
              <a:t>, </a:t>
            </a:r>
            <a:r>
              <a:rPr lang="en-US" altLang="zh-CN" sz="1200" b="1" i="1" dirty="0"/>
              <a:t>R </a:t>
            </a:r>
            <a:r>
              <a:rPr lang="zh-CN" altLang="en-US" sz="1200" b="1" dirty="0"/>
              <a:t>的</a:t>
            </a:r>
            <a:r>
              <a:rPr lang="zh-CN" altLang="en-US" sz="1200" b="1" dirty="0">
                <a:solidFill>
                  <a:srgbClr val="FF0000"/>
                </a:solidFill>
              </a:rPr>
              <a:t>自反 </a:t>
            </a:r>
            <a:r>
              <a:rPr lang="en-US" altLang="zh-CN" sz="1200" b="1" dirty="0"/>
              <a:t>(</a:t>
            </a:r>
            <a:r>
              <a:rPr lang="zh-CN" altLang="en-US" sz="1200" b="1" dirty="0">
                <a:solidFill>
                  <a:srgbClr val="FF0000"/>
                </a:solidFill>
              </a:rPr>
              <a:t>对称</a:t>
            </a:r>
            <a:r>
              <a:rPr lang="zh-CN" altLang="en-US" sz="1200" b="1" dirty="0"/>
              <a:t>或</a:t>
            </a:r>
            <a:r>
              <a:rPr lang="zh-CN" altLang="en-US" sz="1200" b="1" dirty="0">
                <a:solidFill>
                  <a:srgbClr val="FF0000"/>
                </a:solidFill>
              </a:rPr>
              <a:t>传</a:t>
            </a:r>
          </a:p>
          <a:p>
            <a:pPr eaLnBrk="1" hangingPunct="1">
              <a:lnSpc>
                <a:spcPct val="120000"/>
              </a:lnSpc>
              <a:buFontTx/>
              <a:buNone/>
            </a:pPr>
            <a:r>
              <a:rPr lang="zh-CN" altLang="en-US" sz="1200" b="1" dirty="0">
                <a:solidFill>
                  <a:srgbClr val="FF0000"/>
                </a:solidFill>
              </a:rPr>
              <a:t>递</a:t>
            </a:r>
            <a:r>
              <a:rPr lang="en-US" altLang="zh-CN" sz="1200" b="1" dirty="0"/>
              <a:t>) </a:t>
            </a:r>
            <a:r>
              <a:rPr lang="zh-CN" altLang="en-US" sz="1200" b="1" dirty="0">
                <a:solidFill>
                  <a:srgbClr val="FF0000"/>
                </a:solidFill>
              </a:rPr>
              <a:t>闭包 </a:t>
            </a:r>
            <a:r>
              <a:rPr lang="zh-CN" altLang="en-US" sz="1200" b="1" dirty="0"/>
              <a:t>是</a:t>
            </a:r>
            <a:r>
              <a:rPr lang="en-US" altLang="zh-CN" sz="1200" b="1" i="1" dirty="0"/>
              <a:t>A</a:t>
            </a:r>
            <a:r>
              <a:rPr lang="zh-CN" altLang="en-US" sz="1200" b="1" dirty="0"/>
              <a:t>上的关系</a:t>
            </a:r>
            <a:r>
              <a:rPr lang="en-US" altLang="zh-CN" sz="1200" b="1" i="1" dirty="0"/>
              <a:t>R</a:t>
            </a:r>
            <a:r>
              <a:rPr lang="en-US" altLang="zh-CN" sz="1200" b="1" i="1" dirty="0">
                <a:sym typeface="Symbol" panose="05050102010706020507" pitchFamily="18" charset="2"/>
              </a:rPr>
              <a:t></a:t>
            </a:r>
            <a:r>
              <a:rPr lang="en-US" altLang="zh-CN" sz="1200" b="1" dirty="0"/>
              <a:t>, </a:t>
            </a:r>
            <a:r>
              <a:rPr lang="zh-CN" altLang="en-US" sz="1200" b="1" dirty="0"/>
              <a:t>使得 </a:t>
            </a:r>
            <a:r>
              <a:rPr lang="en-US" altLang="zh-CN" sz="1200" b="1" i="1" dirty="0"/>
              <a:t>R</a:t>
            </a:r>
            <a:r>
              <a:rPr lang="en-US" altLang="zh-CN" sz="1200" b="1" dirty="0">
                <a:sym typeface="Symbol" panose="05050102010706020507" pitchFamily="18" charset="2"/>
              </a:rPr>
              <a:t></a:t>
            </a:r>
            <a:r>
              <a:rPr lang="zh-CN" altLang="en-US" sz="1200" b="1" dirty="0"/>
              <a:t>满足以下条件：</a:t>
            </a:r>
          </a:p>
          <a:p>
            <a:pPr eaLnBrk="1" hangingPunct="1">
              <a:lnSpc>
                <a:spcPct val="120000"/>
              </a:lnSpc>
              <a:buFontTx/>
              <a:buNone/>
            </a:pPr>
            <a:r>
              <a:rPr lang="zh-CN" altLang="en-US" sz="1200" b="1" dirty="0"/>
              <a:t>  </a:t>
            </a:r>
            <a:r>
              <a:rPr lang="en-US" altLang="zh-CN" sz="1200" b="1" dirty="0"/>
              <a:t>(1) </a:t>
            </a:r>
            <a:r>
              <a:rPr lang="en-US" altLang="zh-CN" sz="1200" b="1" i="1" dirty="0"/>
              <a:t>R</a:t>
            </a:r>
            <a:r>
              <a:rPr lang="en-US" altLang="zh-CN" sz="1200" b="1" dirty="0">
                <a:sym typeface="Symbol" panose="05050102010706020507" pitchFamily="18" charset="2"/>
              </a:rPr>
              <a:t></a:t>
            </a:r>
            <a:r>
              <a:rPr lang="zh-CN" altLang="en-US" sz="1200" b="1" dirty="0"/>
              <a:t>是自反的（对称的或传递的）</a:t>
            </a:r>
          </a:p>
          <a:p>
            <a:pPr eaLnBrk="1" hangingPunct="1">
              <a:lnSpc>
                <a:spcPct val="120000"/>
              </a:lnSpc>
              <a:buFontTx/>
              <a:buNone/>
            </a:pPr>
            <a:r>
              <a:rPr lang="en-US" altLang="zh-CN" sz="1200" b="1" dirty="0"/>
              <a:t>  (2) </a:t>
            </a:r>
            <a:r>
              <a:rPr lang="en-US" altLang="zh-CN" sz="1200" b="1" i="1" dirty="0"/>
              <a:t>R </a:t>
            </a:r>
            <a:r>
              <a:rPr lang="en-US" altLang="zh-CN" sz="1200" b="1" dirty="0">
                <a:sym typeface="Symbol" panose="05050102010706020507" pitchFamily="18" charset="2"/>
              </a:rPr>
              <a:t></a:t>
            </a:r>
            <a:r>
              <a:rPr lang="en-US" altLang="zh-CN" sz="1200" b="1" i="1" dirty="0"/>
              <a:t>R</a:t>
            </a:r>
            <a:r>
              <a:rPr lang="en-US" altLang="zh-CN" sz="1200" b="1" dirty="0">
                <a:sym typeface="Symbol" panose="05050102010706020507" pitchFamily="18" charset="2"/>
              </a:rPr>
              <a:t></a:t>
            </a:r>
          </a:p>
          <a:p>
            <a:pPr eaLnBrk="1" hangingPunct="1">
              <a:lnSpc>
                <a:spcPct val="120000"/>
              </a:lnSpc>
              <a:buFontTx/>
              <a:buNone/>
            </a:pPr>
            <a:r>
              <a:rPr lang="en-US" altLang="zh-CN" sz="1200" b="1" dirty="0">
                <a:sym typeface="Symbol" panose="05050102010706020507" pitchFamily="18" charset="2"/>
              </a:rPr>
              <a:t>  (</a:t>
            </a:r>
            <a:r>
              <a:rPr lang="en-US" altLang="zh-CN" sz="1200" b="1" dirty="0"/>
              <a:t>3) </a:t>
            </a:r>
            <a:r>
              <a:rPr lang="zh-CN" altLang="en-US" sz="1200" b="1" dirty="0"/>
              <a:t>对</a:t>
            </a:r>
            <a:r>
              <a:rPr lang="en-US" altLang="zh-CN" sz="1200" b="1" i="1" dirty="0"/>
              <a:t>A</a:t>
            </a:r>
            <a:r>
              <a:rPr lang="zh-CN" altLang="en-US" sz="1200" b="1" dirty="0"/>
              <a:t>上任何包含</a:t>
            </a:r>
            <a:r>
              <a:rPr lang="en-US" altLang="zh-CN" sz="1200" b="1" i="1" dirty="0"/>
              <a:t>R </a:t>
            </a:r>
            <a:r>
              <a:rPr lang="zh-CN" altLang="en-US" sz="1200" b="1" dirty="0"/>
              <a:t>的自反（对称或传递）关系</a:t>
            </a:r>
            <a:r>
              <a:rPr lang="en-US" altLang="zh-CN" sz="1200" b="1" i="1" dirty="0"/>
              <a:t>R</a:t>
            </a:r>
            <a:r>
              <a:rPr lang="en-US" altLang="zh-CN" sz="1200" b="1" dirty="0">
                <a:sym typeface="Symbol" panose="05050102010706020507" pitchFamily="18" charset="2"/>
              </a:rPr>
              <a:t></a:t>
            </a:r>
            <a:r>
              <a:rPr lang="en-US" altLang="zh-CN" sz="1200" b="1" dirty="0"/>
              <a:t> </a:t>
            </a:r>
            <a:r>
              <a:rPr lang="zh-CN" altLang="en-US" sz="1200" b="1" dirty="0"/>
              <a:t>有</a:t>
            </a:r>
          </a:p>
          <a:p>
            <a:pPr eaLnBrk="1" hangingPunct="1">
              <a:lnSpc>
                <a:spcPct val="120000"/>
              </a:lnSpc>
              <a:buFontTx/>
              <a:buNone/>
            </a:pPr>
            <a:r>
              <a:rPr lang="en-US" altLang="zh-CN" sz="1200" b="1" i="1" dirty="0"/>
              <a:t>        R</a:t>
            </a:r>
            <a:r>
              <a:rPr lang="en-US" altLang="zh-CN" sz="1200" b="1" dirty="0">
                <a:sym typeface="Symbol" panose="05050102010706020507" pitchFamily="18" charset="2"/>
              </a:rPr>
              <a:t></a:t>
            </a:r>
            <a:r>
              <a:rPr lang="en-US" altLang="zh-CN" sz="1200" b="1" i="1" dirty="0"/>
              <a:t>R</a:t>
            </a:r>
            <a:r>
              <a:rPr lang="en-US" altLang="zh-CN" sz="1200" b="1" dirty="0">
                <a:sym typeface="Symbol" panose="05050102010706020507" pitchFamily="18" charset="2"/>
              </a:rPr>
              <a:t></a:t>
            </a:r>
            <a:r>
              <a:rPr lang="en-US" altLang="zh-CN" sz="1200" b="1" dirty="0"/>
              <a:t>. </a:t>
            </a:r>
          </a:p>
          <a:p>
            <a:pPr eaLnBrk="1" hangingPunct="1">
              <a:lnSpc>
                <a:spcPct val="120000"/>
              </a:lnSpc>
              <a:buFontTx/>
              <a:buNone/>
            </a:pPr>
            <a:r>
              <a:rPr lang="zh-CN" altLang="en-US" sz="1200" b="1" dirty="0"/>
              <a:t>一般将 </a:t>
            </a:r>
            <a:r>
              <a:rPr lang="en-US" altLang="zh-CN" sz="1200" b="1" i="1" dirty="0"/>
              <a:t>R </a:t>
            </a:r>
            <a:r>
              <a:rPr lang="zh-CN" altLang="en-US" sz="1200" b="1" dirty="0"/>
              <a:t>的自反闭包记作 </a:t>
            </a:r>
            <a:r>
              <a:rPr lang="en-US" altLang="zh-CN" sz="1200" b="1" i="1" dirty="0">
                <a:solidFill>
                  <a:srgbClr val="FF0000"/>
                </a:solidFill>
              </a:rPr>
              <a:t>r</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对称闭包记作 </a:t>
            </a:r>
            <a:r>
              <a:rPr lang="en-US" altLang="zh-CN" sz="1200" b="1" i="1" dirty="0">
                <a:solidFill>
                  <a:srgbClr val="FF0000"/>
                </a:solidFill>
              </a:rPr>
              <a:t>s</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传递</a:t>
            </a:r>
          </a:p>
          <a:p>
            <a:pPr eaLnBrk="1" hangingPunct="1">
              <a:lnSpc>
                <a:spcPct val="120000"/>
              </a:lnSpc>
              <a:buFontTx/>
              <a:buNone/>
            </a:pPr>
            <a:r>
              <a:rPr lang="zh-CN" altLang="en-US" sz="1200" b="1" dirty="0"/>
              <a:t>闭包记作 </a:t>
            </a:r>
            <a:r>
              <a:rPr lang="en-US" altLang="zh-CN" sz="1200" b="1" i="1" dirty="0">
                <a:solidFill>
                  <a:srgbClr val="FF0000"/>
                </a:solidFill>
              </a:rPr>
              <a:t>t</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59</a:t>
            </a:fld>
            <a:endParaRPr lang="zh-CN" altLang="en-US"/>
          </a:p>
        </p:txBody>
      </p:sp>
    </p:spTree>
    <p:extLst>
      <p:ext uri="{BB962C8B-B14F-4D97-AF65-F5344CB8AC3E}">
        <p14:creationId xmlns:p14="http://schemas.microsoft.com/office/powerpoint/2010/main" val="29415631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buFont typeface="Wingdings" panose="05000000000000000000" pitchFamily="2" charset="2"/>
              <a:buChar char="l"/>
            </a:pPr>
            <a:r>
              <a:rPr lang="zh-CN" altLang="en-US" sz="1200" b="1" dirty="0"/>
              <a:t>对非空集合</a:t>
            </a:r>
            <a:r>
              <a:rPr lang="en-US" altLang="zh-CN" sz="1200" b="1" i="1" dirty="0"/>
              <a:t>A</a:t>
            </a:r>
            <a:r>
              <a:rPr lang="zh-CN" altLang="en-US" sz="1200" b="1" dirty="0"/>
              <a:t>上关系 </a:t>
            </a:r>
            <a:r>
              <a:rPr lang="en-US" altLang="zh-CN" sz="1200" b="1" i="1" dirty="0"/>
              <a:t>R </a:t>
            </a:r>
            <a:r>
              <a:rPr lang="zh-CN" altLang="en-US" sz="1200" b="1" dirty="0"/>
              <a:t>可构造自反闭包 </a:t>
            </a:r>
            <a:r>
              <a:rPr lang="en-US" altLang="zh-CN" sz="1200" b="1" i="1" dirty="0">
                <a:solidFill>
                  <a:srgbClr val="FF0000"/>
                </a:solidFill>
              </a:rPr>
              <a:t>r</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对称闭包 </a:t>
            </a:r>
            <a:r>
              <a:rPr lang="en-US" altLang="zh-CN" sz="1200" b="1" i="1" dirty="0">
                <a:solidFill>
                  <a:srgbClr val="FF0000"/>
                </a:solidFill>
              </a:rPr>
              <a:t>s</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传递闭包 </a:t>
            </a:r>
            <a:r>
              <a:rPr lang="en-US" altLang="zh-CN" sz="1200" b="1" i="1" dirty="0">
                <a:solidFill>
                  <a:srgbClr val="FF0000"/>
                </a:solidFill>
              </a:rPr>
              <a:t>t</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自反闭包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中添加了所有必要的元素对以确保自反性的关系，</a:t>
            </a:r>
            <a:r>
              <a:rPr lang="en-US" altLang="zh-CN" sz="1200" b="1" i="1" dirty="0"/>
              <a:t> </a:t>
            </a:r>
            <a:r>
              <a:rPr lang="zh-CN" altLang="en-US" sz="1200" b="1" dirty="0"/>
              <a:t>是一个最小超集。可以定义为： </a:t>
            </a:r>
            <a:r>
              <a:rPr lang="en-US" altLang="zh-CN" sz="1200" b="1" i="1" dirty="0">
                <a:solidFill>
                  <a:srgbClr val="374151"/>
                </a:solidFill>
              </a:rPr>
              <a:t>R</a:t>
            </a:r>
            <a:r>
              <a:rPr lang="en-US" altLang="zh-CN" sz="1200" b="1" dirty="0">
                <a:solidFill>
                  <a:srgbClr val="374151"/>
                </a:solidFill>
              </a:rPr>
              <a:t>′=</a:t>
            </a:r>
            <a:r>
              <a:rPr lang="en-US" altLang="zh-CN" sz="1200" b="1" i="1" dirty="0">
                <a:solidFill>
                  <a:srgbClr val="374151"/>
                </a:solidFill>
              </a:rPr>
              <a:t>R</a:t>
            </a:r>
            <a:r>
              <a:rPr lang="en-US" altLang="zh-CN" sz="1200" b="1" dirty="0">
                <a:solidFill>
                  <a:srgbClr val="374151"/>
                </a:solidFill>
              </a:rPr>
              <a:t>∪{(</a:t>
            </a:r>
            <a:r>
              <a:rPr lang="en-US" altLang="zh-CN" sz="1200" b="1" i="1" dirty="0" err="1">
                <a:solidFill>
                  <a:srgbClr val="374151"/>
                </a:solidFill>
              </a:rPr>
              <a:t>a</a:t>
            </a:r>
            <a:r>
              <a:rPr lang="en-US" altLang="zh-CN" sz="1200" b="1" dirty="0" err="1">
                <a:solidFill>
                  <a:srgbClr val="374151"/>
                </a:solidFill>
              </a:rPr>
              <a:t>,</a:t>
            </a:r>
            <a:r>
              <a:rPr lang="en-US" altLang="zh-CN" sz="1200" b="1" i="1" dirty="0" err="1">
                <a:solidFill>
                  <a:srgbClr val="374151"/>
                </a:solidFill>
              </a:rPr>
              <a:t>a</a:t>
            </a:r>
            <a:r>
              <a:rPr lang="en-US" altLang="zh-CN" sz="1200" b="1" dirty="0">
                <a:solidFill>
                  <a:srgbClr val="374151"/>
                </a:solidFill>
              </a:rPr>
              <a:t>)∣</a:t>
            </a:r>
            <a:r>
              <a:rPr lang="en-US" altLang="zh-CN" sz="1200" b="1" i="1" dirty="0" err="1">
                <a:solidFill>
                  <a:srgbClr val="374151"/>
                </a:solidFill>
              </a:rPr>
              <a:t>a</a:t>
            </a:r>
            <a:r>
              <a:rPr lang="en-US" altLang="zh-CN" sz="1200" b="1" dirty="0" err="1">
                <a:solidFill>
                  <a:srgbClr val="374151"/>
                </a:solidFill>
              </a:rPr>
              <a:t>∈</a:t>
            </a:r>
            <a:r>
              <a:rPr lang="en-US" altLang="zh-CN" sz="1200" b="1" i="1" dirty="0" err="1">
                <a:solidFill>
                  <a:srgbClr val="374151"/>
                </a:solidFill>
              </a:rPr>
              <a:t>A</a:t>
            </a:r>
            <a:r>
              <a:rPr lang="en-US" altLang="zh-CN" sz="1200" b="1" dirty="0">
                <a:solidFill>
                  <a:srgbClr val="374151"/>
                </a:solidFill>
              </a:rPr>
              <a:t>}</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对称闭包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中添加了所有必要的元素对确保</a:t>
            </a:r>
            <a:r>
              <a:rPr lang="zh-CN" altLang="en-US" sz="1200" b="1" dirty="0"/>
              <a:t>对称</a:t>
            </a:r>
            <a:r>
              <a:rPr lang="zh-CN" altLang="en-US" sz="1200" b="1" dirty="0">
                <a:sym typeface="Symbol" panose="05050102010706020507" pitchFamily="18" charset="2"/>
              </a:rPr>
              <a:t>性的关系，</a:t>
            </a:r>
            <a:r>
              <a:rPr lang="en-US" altLang="zh-CN" sz="1200" b="1" dirty="0"/>
              <a:t> </a:t>
            </a:r>
            <a:r>
              <a:rPr lang="zh-CN" altLang="en-US" sz="1200" b="1" dirty="0"/>
              <a:t>是一个最小超集。可以定义为：  </a:t>
            </a:r>
            <a:r>
              <a:rPr lang="en-US" altLang="zh-CN" sz="1200" b="1" i="1" dirty="0">
                <a:solidFill>
                  <a:srgbClr val="374151"/>
                </a:solidFill>
              </a:rPr>
              <a:t>R</a:t>
            </a:r>
            <a:r>
              <a:rPr lang="en-US" altLang="zh-CN" sz="1200" b="1" dirty="0">
                <a:solidFill>
                  <a:srgbClr val="374151"/>
                </a:solidFill>
              </a:rPr>
              <a:t>′=</a:t>
            </a:r>
            <a:r>
              <a:rPr lang="en-US" altLang="zh-CN" sz="1200" b="1" i="1" dirty="0">
                <a:effectLst/>
                <a:latin typeface="KaTeX_Math"/>
                <a:ea typeface="等线" panose="02010600030101010101" pitchFamily="2" charset="-122"/>
                <a:cs typeface="Times New Roman" panose="02020603050405020304" pitchFamily="18" charset="0"/>
              </a:rPr>
              <a:t>R</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dirty="0">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b</a:t>
            </a:r>
            <a:r>
              <a:rPr lang="en-US" altLang="zh-CN" sz="1200" b="1" dirty="0" err="1">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a</a:t>
            </a:r>
            <a:r>
              <a:rPr lang="en-US" altLang="zh-CN" sz="1200" b="1" dirty="0">
                <a:effectLst/>
                <a:latin typeface="Times New Roman" panose="02020603050405020304" pitchFamily="18" charset="0"/>
                <a:ea typeface="等线" panose="02010600030101010101" pitchFamily="2" charset="-122"/>
              </a:rPr>
              <a:t>)</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dirty="0">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a</a:t>
            </a:r>
            <a:r>
              <a:rPr lang="en-US" altLang="zh-CN" sz="1200" b="1" dirty="0" err="1">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b</a:t>
            </a:r>
            <a:r>
              <a:rPr lang="en-US" altLang="zh-CN" sz="1200" b="1" dirty="0">
                <a:effectLst/>
                <a:latin typeface="Times New Roman" panose="02020603050405020304" pitchFamily="18" charset="0"/>
                <a:ea typeface="等线" panose="02010600030101010101" pitchFamily="2" charset="-122"/>
              </a:rPr>
              <a:t>)</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dirty="0">
                <a:effectLst/>
                <a:latin typeface="KaTeX_Math"/>
                <a:ea typeface="等线" panose="02010600030101010101" pitchFamily="2" charset="-122"/>
                <a:cs typeface="Times New Roman" panose="02020603050405020304" pitchFamily="18" charset="0"/>
              </a:rPr>
              <a:t>R</a:t>
            </a:r>
            <a:r>
              <a:rPr lang="en-US" altLang="zh-CN" sz="1200" b="1" dirty="0">
                <a:effectLst/>
                <a:latin typeface="Times New Roman" panose="02020603050405020304" pitchFamily="18" charset="0"/>
                <a:ea typeface="等线" panose="02010600030101010101" pitchFamily="2" charset="-122"/>
              </a:rPr>
              <a:t>}</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传递闭包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中添加了所有必要的元素对确保</a:t>
            </a:r>
            <a:r>
              <a:rPr lang="zh-CN" altLang="en-US" sz="1200" b="1" dirty="0"/>
              <a:t>传递</a:t>
            </a:r>
            <a:r>
              <a:rPr lang="zh-CN" altLang="en-US" sz="1200" b="1" dirty="0">
                <a:sym typeface="Symbol" panose="05050102010706020507" pitchFamily="18" charset="2"/>
              </a:rPr>
              <a:t>性的关系，</a:t>
            </a:r>
            <a:r>
              <a:rPr lang="zh-CN" altLang="en-US" sz="1200" b="1" dirty="0"/>
              <a:t>是一个最小超集。可以定义为：</a:t>
            </a:r>
            <a:endParaRPr lang="en-US" altLang="zh-CN" sz="1200" b="1" dirty="0"/>
          </a:p>
          <a:p>
            <a:pPr marL="0" indent="0">
              <a:lnSpc>
                <a:spcPct val="120000"/>
              </a:lnSpc>
              <a:buNone/>
            </a:pPr>
            <a:r>
              <a:rPr lang="zh-CN" altLang="zh-CN" sz="1200" b="1" dirty="0"/>
              <a:t>对于</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A</a:t>
            </a:r>
            <a:r>
              <a:rPr lang="en-US" altLang="zh-CN" sz="1200" dirty="0">
                <a:effectLst/>
                <a:latin typeface="等线" panose="02010600030101010101" pitchFamily="2" charset="-122"/>
                <a:cs typeface="Times New Roman" panose="02020603050405020304" pitchFamily="18" charset="0"/>
              </a:rPr>
              <a:t> </a:t>
            </a:r>
            <a:r>
              <a:rPr lang="zh-CN" altLang="zh-CN" sz="1200" b="1" dirty="0"/>
              <a:t>中的每一对元素 </a:t>
            </a:r>
            <a:r>
              <a:rPr lang="en-US" altLang="zh-CN" sz="1200" b="1" i="1" dirty="0" err="1">
                <a:latin typeface="KaTeX_Math"/>
                <a:ea typeface="等线" panose="02010600030101010101" pitchFamily="2" charset="-122"/>
                <a:cs typeface="Times New Roman" panose="02020603050405020304" pitchFamily="18" charset="0"/>
              </a:rPr>
              <a:t>a,c</a:t>
            </a:r>
            <a:r>
              <a:rPr lang="zh-CN" altLang="zh-CN" sz="1200" dirty="0">
                <a:effectLst/>
                <a:ea typeface="等线" panose="02010600030101010101" pitchFamily="2" charset="-122"/>
                <a:cs typeface="Times New Roman" panose="02020603050405020304" pitchFamily="18" charset="0"/>
              </a:rPr>
              <a:t>，</a:t>
            </a:r>
            <a:r>
              <a:rPr lang="zh-CN" altLang="zh-CN" sz="1200" b="1" dirty="0"/>
              <a:t>如果存在一个或多个元素 </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2</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 </a:t>
            </a:r>
            <a:r>
              <a:rPr lang="zh-CN" altLang="zh-CN" sz="1200" b="1" dirty="0"/>
              <a:t>使得 </a:t>
            </a:r>
            <a:r>
              <a:rPr lang="en-US" altLang="zh-CN" sz="1200" b="1" i="1" dirty="0">
                <a:latin typeface="KaTeX_Math"/>
                <a:ea typeface="等线" panose="02010600030101010101" pitchFamily="2" charset="-122"/>
                <a:cs typeface="Times New Roman" panose="02020603050405020304" pitchFamily="18" charset="0"/>
              </a:rPr>
              <a:t>(a,b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2</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​,c)</a:t>
            </a:r>
            <a:r>
              <a:rPr lang="en-US" altLang="zh-CN" sz="1200" dirty="0">
                <a:effectLst/>
                <a:latin typeface="等线" panose="02010600030101010101" pitchFamily="2" charset="-122"/>
                <a:cs typeface="Times New Roman" panose="02020603050405020304" pitchFamily="18" charset="0"/>
              </a:rPr>
              <a:t> </a:t>
            </a:r>
            <a:r>
              <a:rPr lang="zh-CN" altLang="zh-CN" sz="1200" b="1" dirty="0"/>
              <a:t>都在</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R</a:t>
            </a:r>
            <a:r>
              <a:rPr lang="en-US" altLang="zh-CN" sz="1200" dirty="0">
                <a:effectLst/>
                <a:latin typeface="等线" panose="02010600030101010101" pitchFamily="2" charset="-122"/>
                <a:cs typeface="Times New Roman" panose="02020603050405020304" pitchFamily="18" charset="0"/>
              </a:rPr>
              <a:t> </a:t>
            </a:r>
            <a:r>
              <a:rPr lang="zh-CN" altLang="zh-CN" sz="1200" b="1" dirty="0"/>
              <a:t>中</a:t>
            </a:r>
            <a:r>
              <a:rPr lang="zh-CN" altLang="zh-CN" sz="1200" dirty="0">
                <a:effectLst/>
                <a:ea typeface="等线" panose="02010600030101010101" pitchFamily="2" charset="-122"/>
                <a:cs typeface="Times New Roman" panose="02020603050405020304" pitchFamily="18" charset="0"/>
              </a:rPr>
              <a:t>，</a:t>
            </a:r>
            <a:r>
              <a:rPr lang="zh-CN" altLang="zh-CN" sz="1200" b="1" dirty="0"/>
              <a:t>那么</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a:t>
            </a:r>
            <a:r>
              <a:rPr lang="en-US" altLang="zh-CN" sz="1200" b="1" i="1" dirty="0" err="1">
                <a:latin typeface="KaTeX_Math"/>
                <a:ea typeface="等线" panose="02010600030101010101" pitchFamily="2" charset="-122"/>
                <a:cs typeface="Times New Roman" panose="02020603050405020304" pitchFamily="18" charset="0"/>
              </a:rPr>
              <a:t>a,c</a:t>
            </a:r>
            <a:r>
              <a:rPr lang="en-US" altLang="zh-CN" sz="1200" b="1" i="1" dirty="0">
                <a:latin typeface="KaTeX_Math"/>
                <a:ea typeface="等线" panose="02010600030101010101" pitchFamily="2" charset="-122"/>
                <a:cs typeface="Times New Roman" panose="02020603050405020304" pitchFamily="18" charset="0"/>
              </a:rPr>
              <a:t>) </a:t>
            </a:r>
            <a:r>
              <a:rPr lang="zh-CN" altLang="zh-CN" sz="1200" b="1" dirty="0"/>
              <a:t>应该在</a:t>
            </a:r>
            <a:r>
              <a:rPr lang="en-US" altLang="zh-CN" sz="1200" b="1" i="1" dirty="0"/>
              <a:t>R</a:t>
            </a:r>
            <a:r>
              <a:rPr lang="en-US" altLang="zh-CN" sz="1200" b="1" dirty="0">
                <a:sym typeface="Symbol" panose="05050102010706020507" pitchFamily="18" charset="2"/>
              </a:rPr>
              <a:t></a:t>
            </a:r>
            <a:r>
              <a:rPr lang="zh-CN" altLang="zh-CN" sz="1200" b="1" dirty="0"/>
              <a:t> 中</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60</a:t>
            </a:fld>
            <a:endParaRPr lang="zh-CN" altLang="en-US"/>
          </a:p>
        </p:txBody>
      </p:sp>
    </p:spTree>
    <p:extLst>
      <p:ext uri="{BB962C8B-B14F-4D97-AF65-F5344CB8AC3E}">
        <p14:creationId xmlns:p14="http://schemas.microsoft.com/office/powerpoint/2010/main" val="37761056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buFont typeface="Wingdings" panose="05000000000000000000" pitchFamily="2" charset="2"/>
              <a:buChar char="l"/>
            </a:pPr>
            <a:r>
              <a:rPr lang="zh-CN" altLang="en-US" sz="1200" b="1" dirty="0"/>
              <a:t>对非空集合</a:t>
            </a:r>
            <a:r>
              <a:rPr lang="en-US" altLang="zh-CN" sz="1200" b="1" i="1" dirty="0"/>
              <a:t>A</a:t>
            </a:r>
            <a:r>
              <a:rPr lang="zh-CN" altLang="en-US" sz="1200" b="1" dirty="0"/>
              <a:t>上关系 </a:t>
            </a:r>
            <a:r>
              <a:rPr lang="en-US" altLang="zh-CN" sz="1200" b="1" i="1" dirty="0"/>
              <a:t>R </a:t>
            </a:r>
            <a:r>
              <a:rPr lang="zh-CN" altLang="en-US" sz="1200" b="1" dirty="0"/>
              <a:t>可构造自反闭包 </a:t>
            </a:r>
            <a:r>
              <a:rPr lang="en-US" altLang="zh-CN" sz="1200" b="1" i="1" dirty="0">
                <a:solidFill>
                  <a:srgbClr val="FF0000"/>
                </a:solidFill>
              </a:rPr>
              <a:t>r</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对称闭包 </a:t>
            </a:r>
            <a:r>
              <a:rPr lang="en-US" altLang="zh-CN" sz="1200" b="1" i="1" dirty="0">
                <a:solidFill>
                  <a:srgbClr val="FF0000"/>
                </a:solidFill>
              </a:rPr>
              <a:t>s</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r>
              <a:rPr lang="zh-CN" altLang="en-US" sz="1200" b="1" dirty="0"/>
              <a:t>传递闭包 </a:t>
            </a:r>
            <a:r>
              <a:rPr lang="en-US" altLang="zh-CN" sz="1200" b="1" i="1" dirty="0">
                <a:solidFill>
                  <a:srgbClr val="FF0000"/>
                </a:solidFill>
              </a:rPr>
              <a:t>t</a:t>
            </a:r>
            <a:r>
              <a:rPr lang="en-US" altLang="zh-CN" sz="1200" b="1" dirty="0">
                <a:solidFill>
                  <a:srgbClr val="FF0000"/>
                </a:solidFill>
              </a:rPr>
              <a:t>(</a:t>
            </a:r>
            <a:r>
              <a:rPr lang="en-US" altLang="zh-CN" sz="1200" b="1" i="1" dirty="0">
                <a:solidFill>
                  <a:srgbClr val="FF0000"/>
                </a:solidFill>
              </a:rPr>
              <a:t>R</a:t>
            </a:r>
            <a:r>
              <a:rPr lang="en-US" altLang="zh-CN" sz="1200" b="1" dirty="0">
                <a:solidFill>
                  <a:srgbClr val="FF0000"/>
                </a:solidFill>
              </a:rPr>
              <a:t>)</a:t>
            </a:r>
            <a:r>
              <a:rPr lang="en-US" altLang="zh-CN" sz="1200" b="1" dirty="0"/>
              <a:t>. </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自反闭包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中添加了所有必要的元素对以确保自反性的关系，</a:t>
            </a:r>
            <a:r>
              <a:rPr lang="en-US" altLang="zh-CN" sz="1200" b="1" i="1" dirty="0"/>
              <a:t> </a:t>
            </a:r>
            <a:r>
              <a:rPr lang="zh-CN" altLang="en-US" sz="1200" b="1" dirty="0"/>
              <a:t>是一个最小超集。可以定义为： </a:t>
            </a:r>
            <a:r>
              <a:rPr lang="en-US" altLang="zh-CN" sz="1200" b="1" i="1" dirty="0">
                <a:solidFill>
                  <a:srgbClr val="374151"/>
                </a:solidFill>
              </a:rPr>
              <a:t>R</a:t>
            </a:r>
            <a:r>
              <a:rPr lang="en-US" altLang="zh-CN" sz="1200" b="1" dirty="0">
                <a:solidFill>
                  <a:srgbClr val="374151"/>
                </a:solidFill>
              </a:rPr>
              <a:t>′=</a:t>
            </a:r>
            <a:r>
              <a:rPr lang="en-US" altLang="zh-CN" sz="1200" b="1" i="1" dirty="0">
                <a:solidFill>
                  <a:srgbClr val="374151"/>
                </a:solidFill>
              </a:rPr>
              <a:t>R</a:t>
            </a:r>
            <a:r>
              <a:rPr lang="en-US" altLang="zh-CN" sz="1200" b="1" dirty="0">
                <a:solidFill>
                  <a:srgbClr val="374151"/>
                </a:solidFill>
              </a:rPr>
              <a:t>∪{(</a:t>
            </a:r>
            <a:r>
              <a:rPr lang="en-US" altLang="zh-CN" sz="1200" b="1" i="1" dirty="0" err="1">
                <a:solidFill>
                  <a:srgbClr val="374151"/>
                </a:solidFill>
              </a:rPr>
              <a:t>a</a:t>
            </a:r>
            <a:r>
              <a:rPr lang="en-US" altLang="zh-CN" sz="1200" b="1" dirty="0" err="1">
                <a:solidFill>
                  <a:srgbClr val="374151"/>
                </a:solidFill>
              </a:rPr>
              <a:t>,</a:t>
            </a:r>
            <a:r>
              <a:rPr lang="en-US" altLang="zh-CN" sz="1200" b="1" i="1" dirty="0" err="1">
                <a:solidFill>
                  <a:srgbClr val="374151"/>
                </a:solidFill>
              </a:rPr>
              <a:t>a</a:t>
            </a:r>
            <a:r>
              <a:rPr lang="en-US" altLang="zh-CN" sz="1200" b="1" dirty="0">
                <a:solidFill>
                  <a:srgbClr val="374151"/>
                </a:solidFill>
              </a:rPr>
              <a:t>)∣</a:t>
            </a:r>
            <a:r>
              <a:rPr lang="en-US" altLang="zh-CN" sz="1200" b="1" i="1" dirty="0" err="1">
                <a:solidFill>
                  <a:srgbClr val="374151"/>
                </a:solidFill>
              </a:rPr>
              <a:t>a</a:t>
            </a:r>
            <a:r>
              <a:rPr lang="en-US" altLang="zh-CN" sz="1200" b="1" dirty="0" err="1">
                <a:solidFill>
                  <a:srgbClr val="374151"/>
                </a:solidFill>
              </a:rPr>
              <a:t>∈</a:t>
            </a:r>
            <a:r>
              <a:rPr lang="en-US" altLang="zh-CN" sz="1200" b="1" i="1" dirty="0" err="1">
                <a:solidFill>
                  <a:srgbClr val="374151"/>
                </a:solidFill>
              </a:rPr>
              <a:t>A</a:t>
            </a:r>
            <a:r>
              <a:rPr lang="en-US" altLang="zh-CN" sz="1200" b="1" dirty="0">
                <a:solidFill>
                  <a:srgbClr val="374151"/>
                </a:solidFill>
              </a:rPr>
              <a:t>}</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对称闭包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中添加了所有必要的元素对确保</a:t>
            </a:r>
            <a:r>
              <a:rPr lang="zh-CN" altLang="en-US" sz="1200" b="1" dirty="0"/>
              <a:t>对称</a:t>
            </a:r>
            <a:r>
              <a:rPr lang="zh-CN" altLang="en-US" sz="1200" b="1" dirty="0">
                <a:sym typeface="Symbol" panose="05050102010706020507" pitchFamily="18" charset="2"/>
              </a:rPr>
              <a:t>性的关系，</a:t>
            </a:r>
            <a:r>
              <a:rPr lang="en-US" altLang="zh-CN" sz="1200" b="1" dirty="0"/>
              <a:t> </a:t>
            </a:r>
            <a:r>
              <a:rPr lang="zh-CN" altLang="en-US" sz="1200" b="1" dirty="0"/>
              <a:t>是一个最小超集。可以定义为：  </a:t>
            </a:r>
            <a:r>
              <a:rPr lang="en-US" altLang="zh-CN" sz="1200" b="1" i="1" dirty="0">
                <a:solidFill>
                  <a:srgbClr val="374151"/>
                </a:solidFill>
              </a:rPr>
              <a:t>R</a:t>
            </a:r>
            <a:r>
              <a:rPr lang="en-US" altLang="zh-CN" sz="1200" b="1" dirty="0">
                <a:solidFill>
                  <a:srgbClr val="374151"/>
                </a:solidFill>
              </a:rPr>
              <a:t>′=</a:t>
            </a:r>
            <a:r>
              <a:rPr lang="en-US" altLang="zh-CN" sz="1200" b="1" i="1" dirty="0">
                <a:effectLst/>
                <a:latin typeface="KaTeX_Math"/>
                <a:ea typeface="等线" panose="02010600030101010101" pitchFamily="2" charset="-122"/>
                <a:cs typeface="Times New Roman" panose="02020603050405020304" pitchFamily="18" charset="0"/>
              </a:rPr>
              <a:t>R</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dirty="0">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b</a:t>
            </a:r>
            <a:r>
              <a:rPr lang="en-US" altLang="zh-CN" sz="1200" b="1" dirty="0" err="1">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a</a:t>
            </a:r>
            <a:r>
              <a:rPr lang="en-US" altLang="zh-CN" sz="1200" b="1" dirty="0">
                <a:effectLst/>
                <a:latin typeface="Times New Roman" panose="02020603050405020304" pitchFamily="18" charset="0"/>
                <a:ea typeface="等线" panose="02010600030101010101" pitchFamily="2" charset="-122"/>
              </a:rPr>
              <a:t>)</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dirty="0">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a</a:t>
            </a:r>
            <a:r>
              <a:rPr lang="en-US" altLang="zh-CN" sz="1200" b="1" dirty="0" err="1">
                <a:effectLst/>
                <a:latin typeface="Times New Roman" panose="02020603050405020304" pitchFamily="18" charset="0"/>
                <a:ea typeface="等线" panose="02010600030101010101" pitchFamily="2" charset="-122"/>
              </a:rPr>
              <a:t>,</a:t>
            </a:r>
            <a:r>
              <a:rPr lang="en-US" altLang="zh-CN" sz="1200" b="1" i="1" dirty="0" err="1">
                <a:effectLst/>
                <a:latin typeface="KaTeX_Math"/>
                <a:ea typeface="等线" panose="02010600030101010101" pitchFamily="2" charset="-122"/>
                <a:cs typeface="Times New Roman" panose="02020603050405020304" pitchFamily="18" charset="0"/>
              </a:rPr>
              <a:t>b</a:t>
            </a:r>
            <a:r>
              <a:rPr lang="en-US" altLang="zh-CN" sz="1200" b="1" dirty="0">
                <a:effectLst/>
                <a:latin typeface="Times New Roman" panose="02020603050405020304" pitchFamily="18" charset="0"/>
                <a:ea typeface="等线" panose="02010600030101010101" pitchFamily="2" charset="-122"/>
              </a:rPr>
              <a:t>)</a:t>
            </a:r>
            <a:r>
              <a:rPr lang="en-US" altLang="zh-CN" sz="1200" b="1"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dirty="0">
                <a:effectLst/>
                <a:latin typeface="KaTeX_Math"/>
                <a:ea typeface="等线" panose="02010600030101010101" pitchFamily="2" charset="-122"/>
                <a:cs typeface="Times New Roman" panose="02020603050405020304" pitchFamily="18" charset="0"/>
              </a:rPr>
              <a:t>R</a:t>
            </a:r>
            <a:r>
              <a:rPr lang="en-US" altLang="zh-CN" sz="1200" b="1" dirty="0">
                <a:effectLst/>
                <a:latin typeface="Times New Roman" panose="02020603050405020304" pitchFamily="18" charset="0"/>
                <a:ea typeface="等线" panose="02010600030101010101" pitchFamily="2" charset="-122"/>
              </a:rPr>
              <a:t>}</a:t>
            </a:r>
          </a:p>
          <a:p>
            <a:pPr>
              <a:lnSpc>
                <a:spcPct val="120000"/>
              </a:lnSpc>
              <a:buFont typeface="Wingdings" panose="05000000000000000000" pitchFamily="2" charset="2"/>
              <a:buChar char="l"/>
            </a:pPr>
            <a:r>
              <a:rPr lang="en-US" altLang="zh-CN" sz="1200" b="1" i="1" dirty="0"/>
              <a:t>R</a:t>
            </a:r>
            <a:r>
              <a:rPr lang="zh-CN" altLang="en-US" sz="1200" b="1" dirty="0"/>
              <a:t>的</a:t>
            </a:r>
            <a:r>
              <a:rPr lang="zh-CN" altLang="en-US" sz="1200" b="1" dirty="0">
                <a:solidFill>
                  <a:srgbClr val="FF0000"/>
                </a:solidFill>
              </a:rPr>
              <a:t>传递闭包</a:t>
            </a:r>
            <a:r>
              <a:rPr lang="en-US" altLang="zh-CN" sz="1200" b="1" i="1" dirty="0">
                <a:solidFill>
                  <a:srgbClr val="FF0000"/>
                </a:solidFill>
              </a:rPr>
              <a:t>R</a:t>
            </a:r>
            <a:r>
              <a:rPr lang="en-US" altLang="zh-CN" sz="1200" b="1" dirty="0">
                <a:solidFill>
                  <a:srgbClr val="FF0000"/>
                </a:solidFill>
                <a:sym typeface="Symbol" panose="05050102010706020507" pitchFamily="18" charset="2"/>
              </a:rPr>
              <a:t></a:t>
            </a:r>
            <a:r>
              <a:rPr lang="zh-CN" altLang="en-US" sz="1200" b="1" dirty="0">
                <a:sym typeface="Symbol" panose="05050102010706020507" pitchFamily="18" charset="2"/>
              </a:rPr>
              <a:t>是在</a:t>
            </a:r>
            <a:r>
              <a:rPr lang="en-US" altLang="zh-CN" sz="1200" b="1" i="1" dirty="0">
                <a:sym typeface="Symbol" panose="05050102010706020507" pitchFamily="18" charset="2"/>
              </a:rPr>
              <a:t>R</a:t>
            </a:r>
            <a:r>
              <a:rPr lang="zh-CN" altLang="en-US" sz="1200" b="1" dirty="0">
                <a:sym typeface="Symbol" panose="05050102010706020507" pitchFamily="18" charset="2"/>
              </a:rPr>
              <a:t>中添加了所有必要的元素对确保</a:t>
            </a:r>
            <a:r>
              <a:rPr lang="zh-CN" altLang="en-US" sz="1200" b="1" dirty="0"/>
              <a:t>传递</a:t>
            </a:r>
            <a:r>
              <a:rPr lang="zh-CN" altLang="en-US" sz="1200" b="1" dirty="0">
                <a:sym typeface="Symbol" panose="05050102010706020507" pitchFamily="18" charset="2"/>
              </a:rPr>
              <a:t>性的关系，</a:t>
            </a:r>
            <a:r>
              <a:rPr lang="zh-CN" altLang="en-US" sz="1200" b="1" dirty="0"/>
              <a:t>是一个最小超集。可以定义为：</a:t>
            </a:r>
            <a:endParaRPr lang="en-US" altLang="zh-CN" sz="1200" b="1" dirty="0"/>
          </a:p>
          <a:p>
            <a:pPr marL="0" indent="0">
              <a:lnSpc>
                <a:spcPct val="120000"/>
              </a:lnSpc>
              <a:buNone/>
            </a:pPr>
            <a:r>
              <a:rPr lang="zh-CN" altLang="zh-CN" sz="1200" b="1" dirty="0"/>
              <a:t>对于</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A</a:t>
            </a:r>
            <a:r>
              <a:rPr lang="en-US" altLang="zh-CN" sz="1200" dirty="0">
                <a:effectLst/>
                <a:latin typeface="等线" panose="02010600030101010101" pitchFamily="2" charset="-122"/>
                <a:cs typeface="Times New Roman" panose="02020603050405020304" pitchFamily="18" charset="0"/>
              </a:rPr>
              <a:t> </a:t>
            </a:r>
            <a:r>
              <a:rPr lang="zh-CN" altLang="zh-CN" sz="1200" b="1" dirty="0"/>
              <a:t>中的每一对元素 </a:t>
            </a:r>
            <a:r>
              <a:rPr lang="en-US" altLang="zh-CN" sz="1200" b="1" i="1" dirty="0" err="1">
                <a:latin typeface="KaTeX_Math"/>
                <a:ea typeface="等线" panose="02010600030101010101" pitchFamily="2" charset="-122"/>
                <a:cs typeface="Times New Roman" panose="02020603050405020304" pitchFamily="18" charset="0"/>
              </a:rPr>
              <a:t>a,c</a:t>
            </a:r>
            <a:r>
              <a:rPr lang="zh-CN" altLang="zh-CN" sz="1200" dirty="0">
                <a:effectLst/>
                <a:ea typeface="等线" panose="02010600030101010101" pitchFamily="2" charset="-122"/>
                <a:cs typeface="Times New Roman" panose="02020603050405020304" pitchFamily="18" charset="0"/>
              </a:rPr>
              <a:t>，</a:t>
            </a:r>
            <a:r>
              <a:rPr lang="zh-CN" altLang="zh-CN" sz="1200" b="1" dirty="0"/>
              <a:t>如果存在一个或多个元素 </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2</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 </a:t>
            </a:r>
            <a:r>
              <a:rPr lang="zh-CN" altLang="zh-CN" sz="1200" b="1" dirty="0"/>
              <a:t>使得 </a:t>
            </a:r>
            <a:r>
              <a:rPr lang="en-US" altLang="zh-CN" sz="1200" b="1" i="1" dirty="0">
                <a:latin typeface="KaTeX_Math"/>
                <a:ea typeface="等线" panose="02010600030101010101" pitchFamily="2" charset="-122"/>
                <a:cs typeface="Times New Roman" panose="02020603050405020304" pitchFamily="18" charset="0"/>
              </a:rPr>
              <a:t>(a,b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2</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n−1</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​),(b</a:t>
            </a:r>
            <a:r>
              <a:rPr kumimoji="1" lang="en-US" altLang="zh-CN" sz="1200" b="1" i="1" baseline="-30000" dirty="0"/>
              <a:t>n</a:t>
            </a:r>
            <a:r>
              <a:rPr lang="en-US" altLang="zh-CN" sz="1200" b="1" i="1" dirty="0">
                <a:latin typeface="KaTeX_Math"/>
                <a:ea typeface="等线" panose="02010600030101010101" pitchFamily="2" charset="-122"/>
                <a:cs typeface="Times New Roman" panose="02020603050405020304" pitchFamily="18" charset="0"/>
              </a:rPr>
              <a:t>​,c)</a:t>
            </a:r>
            <a:r>
              <a:rPr lang="en-US" altLang="zh-CN" sz="1200" dirty="0">
                <a:effectLst/>
                <a:latin typeface="等线" panose="02010600030101010101" pitchFamily="2" charset="-122"/>
                <a:cs typeface="Times New Roman" panose="02020603050405020304" pitchFamily="18" charset="0"/>
              </a:rPr>
              <a:t> </a:t>
            </a:r>
            <a:r>
              <a:rPr lang="zh-CN" altLang="zh-CN" sz="1200" b="1" dirty="0"/>
              <a:t>都在</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R</a:t>
            </a:r>
            <a:r>
              <a:rPr lang="en-US" altLang="zh-CN" sz="1200" dirty="0">
                <a:effectLst/>
                <a:latin typeface="等线" panose="02010600030101010101" pitchFamily="2" charset="-122"/>
                <a:cs typeface="Times New Roman" panose="02020603050405020304" pitchFamily="18" charset="0"/>
              </a:rPr>
              <a:t> </a:t>
            </a:r>
            <a:r>
              <a:rPr lang="zh-CN" altLang="zh-CN" sz="1200" b="1" dirty="0"/>
              <a:t>中</a:t>
            </a:r>
            <a:r>
              <a:rPr lang="zh-CN" altLang="zh-CN" sz="1200" dirty="0">
                <a:effectLst/>
                <a:ea typeface="等线" panose="02010600030101010101" pitchFamily="2" charset="-122"/>
                <a:cs typeface="Times New Roman" panose="02020603050405020304" pitchFamily="18" charset="0"/>
              </a:rPr>
              <a:t>，</a:t>
            </a:r>
            <a:r>
              <a:rPr lang="zh-CN" altLang="zh-CN" sz="1200" b="1" dirty="0"/>
              <a:t>那么</a:t>
            </a:r>
            <a:r>
              <a:rPr lang="zh-CN" altLang="zh-CN" sz="1200" dirty="0">
                <a:effectLst/>
                <a:ea typeface="等线" panose="02010600030101010101" pitchFamily="2" charset="-122"/>
                <a:cs typeface="Times New Roman" panose="02020603050405020304" pitchFamily="18" charset="0"/>
              </a:rPr>
              <a:t> </a:t>
            </a:r>
            <a:r>
              <a:rPr lang="en-US" altLang="zh-CN" sz="1200" b="1" i="1" dirty="0">
                <a:latin typeface="KaTeX_Math"/>
                <a:ea typeface="等线" panose="02010600030101010101" pitchFamily="2" charset="-122"/>
                <a:cs typeface="Times New Roman" panose="02020603050405020304" pitchFamily="18" charset="0"/>
              </a:rPr>
              <a:t>(</a:t>
            </a:r>
            <a:r>
              <a:rPr lang="en-US" altLang="zh-CN" sz="1200" b="1" i="1" dirty="0" err="1">
                <a:latin typeface="KaTeX_Math"/>
                <a:ea typeface="等线" panose="02010600030101010101" pitchFamily="2" charset="-122"/>
                <a:cs typeface="Times New Roman" panose="02020603050405020304" pitchFamily="18" charset="0"/>
              </a:rPr>
              <a:t>a,c</a:t>
            </a:r>
            <a:r>
              <a:rPr lang="en-US" altLang="zh-CN" sz="1200" b="1" i="1" dirty="0">
                <a:latin typeface="KaTeX_Math"/>
                <a:ea typeface="等线" panose="02010600030101010101" pitchFamily="2" charset="-122"/>
                <a:cs typeface="Times New Roman" panose="02020603050405020304" pitchFamily="18" charset="0"/>
              </a:rPr>
              <a:t>) </a:t>
            </a:r>
            <a:r>
              <a:rPr lang="zh-CN" altLang="zh-CN" sz="1200" b="1" dirty="0"/>
              <a:t>应该在</a:t>
            </a:r>
            <a:r>
              <a:rPr lang="en-US" altLang="zh-CN" sz="1200" b="1" i="1" dirty="0"/>
              <a:t>R</a:t>
            </a:r>
            <a:r>
              <a:rPr lang="en-US" altLang="zh-CN" sz="1200" b="1" dirty="0">
                <a:sym typeface="Symbol" panose="05050102010706020507" pitchFamily="18" charset="2"/>
              </a:rPr>
              <a:t></a:t>
            </a:r>
            <a:r>
              <a:rPr lang="zh-CN" altLang="zh-CN" sz="1200" b="1" dirty="0"/>
              <a:t> 中</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61</a:t>
            </a:fld>
            <a:endParaRPr lang="zh-CN" altLang="en-US"/>
          </a:p>
        </p:txBody>
      </p:sp>
    </p:spTree>
    <p:extLst>
      <p:ext uri="{BB962C8B-B14F-4D97-AF65-F5344CB8AC3E}">
        <p14:creationId xmlns:p14="http://schemas.microsoft.com/office/powerpoint/2010/main" val="21969344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虽然集合运算本身不是构造关系闭包的直接方法，但它们是在执行这些方法时必不可少的基础操作</a:t>
            </a:r>
            <a:r>
              <a:rPr lang="zh-CN" altLang="zh-CN" dirty="0">
                <a:effectLst/>
              </a:rPr>
              <a:t>。</a:t>
            </a:r>
            <a:endParaRPr lang="en-US" altLang="zh-CN" dirty="0">
              <a:effectLst/>
            </a:endParaRPr>
          </a:p>
          <a:p>
            <a:pPr eaLnBrk="1" hangingPunct="1">
              <a:lnSpc>
                <a:spcPct val="120000"/>
              </a:lnSpc>
              <a:spcBef>
                <a:spcPct val="0"/>
              </a:spcBef>
              <a:buFontTx/>
              <a:buNone/>
            </a:pPr>
            <a:r>
              <a:rPr kumimoji="0" lang="zh-CN" altLang="en-US" sz="1200" b="1" dirty="0">
                <a:solidFill>
                  <a:srgbClr val="FF0000"/>
                </a:solidFill>
              </a:rPr>
              <a:t>定理</a:t>
            </a:r>
            <a:r>
              <a:rPr kumimoji="0" lang="en-US" altLang="zh-CN" sz="1200" b="1" dirty="0">
                <a:solidFill>
                  <a:srgbClr val="FF0000"/>
                </a:solidFill>
              </a:rPr>
              <a:t>4.7</a:t>
            </a:r>
            <a:r>
              <a:rPr kumimoji="0" lang="en-US" altLang="zh-CN" sz="1200" b="1" dirty="0"/>
              <a:t>  </a:t>
            </a:r>
            <a:r>
              <a:rPr kumimoji="0" lang="zh-CN" altLang="en-US" sz="1200" b="1" dirty="0"/>
              <a:t>设</a:t>
            </a:r>
            <a:r>
              <a:rPr kumimoji="0" lang="en-US" altLang="zh-CN" sz="1200" b="1" i="1" dirty="0"/>
              <a:t>R</a:t>
            </a:r>
            <a:r>
              <a:rPr kumimoji="0" lang="zh-CN" altLang="en-US" sz="1200" b="1" dirty="0"/>
              <a:t>为</a:t>
            </a:r>
            <a:r>
              <a:rPr kumimoji="0" lang="en-US" altLang="zh-CN" sz="1200" b="1" i="1" dirty="0"/>
              <a:t>A</a:t>
            </a:r>
            <a:r>
              <a:rPr kumimoji="0" lang="zh-CN" altLang="en-US" sz="1200" b="1" dirty="0"/>
              <a:t>上的关系</a:t>
            </a:r>
            <a:r>
              <a:rPr kumimoji="0" lang="en-US" altLang="zh-CN" sz="1200" b="1" dirty="0"/>
              <a:t>, </a:t>
            </a:r>
            <a:r>
              <a:rPr kumimoji="0" lang="zh-CN" altLang="en-US" sz="1200" b="1" dirty="0"/>
              <a:t>则有      </a:t>
            </a:r>
            <a:br>
              <a:rPr kumimoji="0" lang="zh-CN" altLang="en-US" sz="1200" b="1" dirty="0"/>
            </a:br>
            <a:r>
              <a:rPr kumimoji="0" lang="zh-CN" altLang="en-US" sz="1200" b="1" dirty="0"/>
              <a:t>  </a:t>
            </a:r>
            <a:r>
              <a:rPr kumimoji="0" lang="en-US" altLang="zh-CN" sz="1200" b="1" dirty="0"/>
              <a:t>(1) </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baseline="30000" dirty="0"/>
              <a:t>0</a:t>
            </a:r>
            <a:br>
              <a:rPr kumimoji="0" lang="en-US" altLang="zh-CN" sz="1200" b="1" dirty="0"/>
            </a:br>
            <a:r>
              <a:rPr kumimoji="0" lang="en-US" altLang="zh-CN" sz="1200" b="1" dirty="0"/>
              <a:t>  (2) </a:t>
            </a:r>
            <a:r>
              <a:rPr kumimoji="0" lang="en-US" altLang="zh-CN" sz="1200" b="1" i="1" dirty="0"/>
              <a:t>s</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baseline="30000" dirty="0">
                <a:sym typeface="Symbol" panose="05050102010706020507" pitchFamily="18" charset="2"/>
              </a:rPr>
              <a:t></a:t>
            </a:r>
            <a:r>
              <a:rPr kumimoji="0" lang="en-US" altLang="zh-CN" sz="1200" b="1" baseline="30000" dirty="0"/>
              <a:t>1</a:t>
            </a:r>
            <a:br>
              <a:rPr kumimoji="0" lang="en-US" altLang="zh-CN" sz="1200" b="1" dirty="0"/>
            </a:br>
            <a:r>
              <a:rPr kumimoji="0" lang="en-US" altLang="zh-CN" sz="1200" b="1" dirty="0"/>
              <a:t>  (3) </a:t>
            </a:r>
            <a:r>
              <a:rPr kumimoji="0" lang="en-US" altLang="zh-CN" sz="1200" b="1" i="1" dirty="0"/>
              <a:t>t</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baseline="30000" dirty="0"/>
              <a:t>2</a:t>
            </a:r>
            <a:r>
              <a:rPr kumimoji="0" lang="en-US" altLang="zh-CN" sz="1200" b="1" dirty="0"/>
              <a:t>∪</a:t>
            </a:r>
            <a:r>
              <a:rPr kumimoji="0" lang="en-US" altLang="zh-CN" sz="1200" b="1" i="1" dirty="0"/>
              <a:t>R</a:t>
            </a:r>
            <a:r>
              <a:rPr kumimoji="0" lang="en-US" altLang="zh-CN" sz="1200" b="1" baseline="30000" dirty="0"/>
              <a:t>3</a:t>
            </a:r>
            <a:r>
              <a:rPr kumimoji="0" lang="en-US" altLang="zh-CN" sz="1200" b="1" dirty="0"/>
              <a:t>∪…</a:t>
            </a:r>
            <a:br>
              <a:rPr kumimoji="0" lang="en-US" altLang="zh-CN" sz="1200" b="1" dirty="0"/>
            </a:br>
            <a:endParaRPr kumimoji="0" lang="en-US" altLang="zh-CN" sz="1200" b="1" dirty="0"/>
          </a:p>
          <a:p>
            <a:pPr eaLnBrk="1" hangingPunct="1">
              <a:lnSpc>
                <a:spcPct val="120000"/>
              </a:lnSpc>
              <a:spcBef>
                <a:spcPct val="0"/>
              </a:spcBef>
              <a:buFontTx/>
              <a:buNone/>
            </a:pPr>
            <a:r>
              <a:rPr kumimoji="0" lang="zh-CN" altLang="en-US" sz="1200" b="1" dirty="0"/>
              <a:t>说明：</a:t>
            </a:r>
          </a:p>
          <a:p>
            <a:pPr eaLnBrk="1" hangingPunct="1">
              <a:lnSpc>
                <a:spcPct val="120000"/>
              </a:lnSpc>
              <a:spcBef>
                <a:spcPct val="0"/>
              </a:spcBef>
              <a:buFontTx/>
              <a:buNone/>
            </a:pPr>
            <a:r>
              <a:rPr kumimoji="0" lang="zh-CN" altLang="en-US" sz="1200" b="1" dirty="0"/>
              <a:t>对于有穷集合</a:t>
            </a:r>
            <a:r>
              <a:rPr kumimoji="0" lang="en-US" altLang="zh-CN" sz="1200" b="1" i="1" dirty="0"/>
              <a:t>A </a:t>
            </a:r>
            <a:r>
              <a:rPr kumimoji="0" lang="en-US" altLang="zh-CN" sz="1200" b="1" dirty="0"/>
              <a:t>(|</a:t>
            </a:r>
            <a:r>
              <a:rPr kumimoji="0" lang="en-US" altLang="zh-CN" sz="1200" b="1" i="1" dirty="0"/>
              <a:t>A</a:t>
            </a:r>
            <a:r>
              <a:rPr kumimoji="0" lang="en-US" altLang="zh-CN" sz="1200" b="1" dirty="0"/>
              <a:t>|=</a:t>
            </a:r>
            <a:r>
              <a:rPr kumimoji="0" lang="en-US" altLang="zh-CN" sz="1200" b="1" i="1" dirty="0"/>
              <a:t>n</a:t>
            </a:r>
            <a:r>
              <a:rPr kumimoji="0" lang="en-US" altLang="zh-CN" sz="1200" b="1" dirty="0"/>
              <a:t>) </a:t>
            </a:r>
            <a:r>
              <a:rPr kumimoji="0" lang="zh-CN" altLang="en-US" sz="1200" b="1" dirty="0"/>
              <a:t>上的关系</a:t>
            </a:r>
            <a:r>
              <a:rPr kumimoji="0" lang="en-US" altLang="zh-CN" sz="1200" b="1" dirty="0"/>
              <a:t>, (3)</a:t>
            </a:r>
            <a:r>
              <a:rPr kumimoji="0" lang="zh-CN" altLang="en-US" sz="1200" b="1" dirty="0"/>
              <a:t>中的并最多不超过</a:t>
            </a:r>
            <a:r>
              <a:rPr kumimoji="0" lang="en-US" altLang="zh-CN" sz="1200" b="1" i="1" dirty="0"/>
              <a:t>R</a:t>
            </a:r>
            <a:r>
              <a:rPr kumimoji="0" lang="en-US" altLang="zh-CN" sz="1200" b="1" i="1" baseline="30000" dirty="0"/>
              <a:t>n</a:t>
            </a:r>
            <a:r>
              <a:rPr kumimoji="0" lang="en-US" altLang="zh-CN" sz="1200" b="1" dirty="0"/>
              <a:t>.  ? why</a:t>
            </a:r>
          </a:p>
          <a:p>
            <a:pPr eaLnBrk="1" hangingPunct="1">
              <a:lnSpc>
                <a:spcPct val="120000"/>
              </a:lnSpc>
              <a:spcBef>
                <a:spcPct val="0"/>
              </a:spcBef>
              <a:buFontTx/>
              <a:buNone/>
            </a:pPr>
            <a:r>
              <a:rPr kumimoji="0" lang="zh-CN" altLang="en-US" sz="1200" b="1" dirty="0"/>
              <a:t>若</a:t>
            </a:r>
            <a:r>
              <a:rPr kumimoji="0" lang="en-US" altLang="zh-CN" sz="1200" b="1" i="1" dirty="0"/>
              <a:t>R </a:t>
            </a:r>
            <a:r>
              <a:rPr kumimoji="0" lang="zh-CN" altLang="en-US" sz="1200" b="1" dirty="0"/>
              <a:t>是自反的，则 </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 </a:t>
            </a:r>
            <a:r>
              <a:rPr kumimoji="0" lang="zh-CN" altLang="en-US" sz="1200" b="1" dirty="0"/>
              <a:t>若 </a:t>
            </a:r>
            <a:r>
              <a:rPr kumimoji="0" lang="en-US" altLang="zh-CN" sz="1200" b="1" i="1" dirty="0"/>
              <a:t>R </a:t>
            </a:r>
            <a:r>
              <a:rPr kumimoji="0" lang="zh-CN" altLang="en-US" sz="1200" b="1" dirty="0"/>
              <a:t>是对称的，则 </a:t>
            </a:r>
            <a:r>
              <a:rPr kumimoji="0" lang="en-US" altLang="zh-CN" sz="1200" b="1" i="1" dirty="0"/>
              <a:t>s</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zh-CN" altLang="en-US" sz="1200" b="1" dirty="0"/>
              <a:t>若</a:t>
            </a:r>
          </a:p>
          <a:p>
            <a:pPr eaLnBrk="1" hangingPunct="1">
              <a:lnSpc>
                <a:spcPct val="120000"/>
              </a:lnSpc>
              <a:spcBef>
                <a:spcPct val="0"/>
              </a:spcBef>
              <a:buFontTx/>
              <a:buNone/>
            </a:pPr>
            <a:r>
              <a:rPr kumimoji="0" lang="en-US" altLang="zh-CN" sz="1200" b="1" i="1" dirty="0"/>
              <a:t>R </a:t>
            </a:r>
            <a:r>
              <a:rPr kumimoji="0" lang="zh-CN" altLang="en-US" sz="1200" b="1" dirty="0"/>
              <a:t>是传递的，则 </a:t>
            </a:r>
            <a:r>
              <a:rPr kumimoji="0" lang="en-US" altLang="zh-CN" sz="1200" b="1" i="1" dirty="0"/>
              <a:t>t</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62</a:t>
            </a:fld>
            <a:endParaRPr lang="zh-CN" altLang="en-US"/>
          </a:p>
        </p:txBody>
      </p:sp>
    </p:spTree>
    <p:extLst>
      <p:ext uri="{BB962C8B-B14F-4D97-AF65-F5344CB8AC3E}">
        <p14:creationId xmlns:p14="http://schemas.microsoft.com/office/powerpoint/2010/main" val="5971634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spcBef>
                <a:spcPct val="0"/>
              </a:spcBef>
              <a:buNone/>
            </a:pPr>
            <a:r>
              <a:rPr lang="zh-CN" altLang="en-US" sz="1200" b="1" dirty="0">
                <a:solidFill>
                  <a:srgbClr val="FF0000"/>
                </a:solidFill>
              </a:rPr>
              <a:t>定理</a:t>
            </a:r>
            <a:r>
              <a:rPr lang="en-US" altLang="zh-CN" sz="1200" b="1" dirty="0">
                <a:solidFill>
                  <a:srgbClr val="FF0000"/>
                </a:solidFill>
              </a:rPr>
              <a:t>4.7</a:t>
            </a:r>
            <a:r>
              <a:rPr lang="zh-CN" altLang="en-US" sz="1200" b="1" dirty="0">
                <a:solidFill>
                  <a:srgbClr val="FF0000"/>
                </a:solidFill>
              </a:rPr>
              <a:t>的证明</a:t>
            </a:r>
            <a:r>
              <a:rPr lang="zh-CN" altLang="en-US" sz="1200" b="1" dirty="0">
                <a:solidFill>
                  <a:srgbClr val="A50021"/>
                </a:solidFill>
              </a:rPr>
              <a:t>（</a:t>
            </a:r>
            <a:r>
              <a:rPr lang="zh-CN" altLang="en-US" b="1" dirty="0">
                <a:latin typeface="宋体" panose="02010600030101010101" pitchFamily="2" charset="-122"/>
              </a:rPr>
              <a:t>只证 </a:t>
            </a:r>
            <a:r>
              <a:rPr lang="en-US" altLang="zh-CN" b="1" dirty="0"/>
              <a:t>(1) </a:t>
            </a:r>
            <a:r>
              <a:rPr lang="zh-CN" altLang="en-US" b="1" dirty="0"/>
              <a:t>和 </a:t>
            </a:r>
            <a:r>
              <a:rPr lang="en-US" altLang="zh-CN" b="1" dirty="0"/>
              <a:t>(3) </a:t>
            </a:r>
            <a:r>
              <a:rPr lang="zh-CN" altLang="en-US" sz="1200" b="1" dirty="0">
                <a:solidFill>
                  <a:srgbClr val="A50021"/>
                </a:solidFill>
              </a:rPr>
              <a:t>）</a:t>
            </a:r>
            <a:endParaRPr kumimoji="0" lang="en-US" altLang="zh-CN" sz="1200" b="1" dirty="0">
              <a:solidFill>
                <a:srgbClr val="FF0000"/>
              </a:solidFill>
              <a:latin typeface="+mn-ea"/>
            </a:endParaRPr>
          </a:p>
          <a:p>
            <a:pPr marL="609600" indent="-609600" eaLnBrk="1" hangingPunct="1">
              <a:buFontTx/>
              <a:buNone/>
            </a:pPr>
            <a:r>
              <a:rPr lang="zh-CN" altLang="en-US" sz="1200" b="1" dirty="0">
                <a:latin typeface="宋体" panose="02010600030101010101" pitchFamily="2" charset="-122"/>
              </a:rPr>
              <a:t>证 </a:t>
            </a:r>
            <a:r>
              <a:rPr lang="en-US" altLang="zh-CN" sz="1200" b="1" dirty="0"/>
              <a:t>(1)</a:t>
            </a:r>
            <a:r>
              <a:rPr lang="zh-CN" altLang="en-US" sz="1200" b="1" dirty="0">
                <a:latin typeface="宋体" panose="02010600030101010101" pitchFamily="2" charset="-122"/>
              </a:rPr>
              <a:t> </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dirty="0"/>
              <a:t>∪</a:t>
            </a:r>
            <a:r>
              <a:rPr kumimoji="0" lang="en-US" altLang="zh-CN" sz="1200" b="1" i="1" dirty="0"/>
              <a:t>R</a:t>
            </a:r>
            <a:r>
              <a:rPr kumimoji="0" lang="en-US" altLang="zh-CN" sz="1200" b="1" baseline="30000" dirty="0"/>
              <a:t>0  </a:t>
            </a:r>
            <a:r>
              <a:rPr kumimoji="0" lang="zh-CN" altLang="en-US" sz="1200" b="1" baseline="30000" dirty="0"/>
              <a:t>，</a:t>
            </a:r>
            <a:r>
              <a:rPr lang="zh-CN" altLang="en-US" sz="1200" b="1" dirty="0"/>
              <a:t>只需证明</a:t>
            </a:r>
            <a:r>
              <a:rPr lang="en-US" altLang="zh-CN" sz="1200" b="1" i="1" dirty="0"/>
              <a:t>R</a:t>
            </a:r>
            <a:r>
              <a:rPr lang="en-US" altLang="zh-CN" sz="1200" b="1" dirty="0"/>
              <a:t>∪</a:t>
            </a:r>
            <a:r>
              <a:rPr lang="en-US" altLang="zh-CN" sz="1200" b="1" i="1" dirty="0"/>
              <a:t>R</a:t>
            </a:r>
            <a:r>
              <a:rPr lang="en-US" altLang="zh-CN" sz="1200" b="1" baseline="30000" dirty="0"/>
              <a:t>0 </a:t>
            </a:r>
            <a:r>
              <a:rPr lang="zh-CN" altLang="en-US" sz="1200" b="1" dirty="0"/>
              <a:t>满足闭包定义</a:t>
            </a:r>
            <a:r>
              <a:rPr lang="en-US" altLang="zh-CN" sz="1200" b="1" dirty="0"/>
              <a:t>. </a:t>
            </a:r>
          </a:p>
          <a:p>
            <a:pPr marL="609600" indent="-609600" eaLnBrk="1" hangingPunct="1">
              <a:buFontTx/>
              <a:buNone/>
            </a:pPr>
            <a:endParaRPr lang="en-US" altLang="zh-CN" sz="1200" b="1" dirty="0"/>
          </a:p>
          <a:p>
            <a:pPr marL="609600" indent="-609600" eaLnBrk="1" hangingPunct="1">
              <a:buFontTx/>
              <a:buNone/>
            </a:pPr>
            <a:r>
              <a:rPr lang="zh-CN" altLang="en-US" sz="1200" b="1" dirty="0">
                <a:solidFill>
                  <a:srgbClr val="FF0000"/>
                </a:solidFill>
              </a:rPr>
              <a:t>证</a:t>
            </a:r>
            <a:r>
              <a:rPr lang="en-US" altLang="zh-CN" sz="1200" b="1" i="1" dirty="0">
                <a:solidFill>
                  <a:srgbClr val="FF0000"/>
                </a:solidFill>
              </a:rPr>
              <a:t>R</a:t>
            </a:r>
            <a:r>
              <a:rPr lang="en-US" altLang="zh-CN" sz="1200" b="1" dirty="0">
                <a:solidFill>
                  <a:srgbClr val="FF0000"/>
                </a:solidFill>
              </a:rPr>
              <a:t>∪</a:t>
            </a:r>
            <a:r>
              <a:rPr lang="en-US" altLang="zh-CN" sz="1200" b="1" i="1" dirty="0">
                <a:solidFill>
                  <a:srgbClr val="FF0000"/>
                </a:solidFill>
              </a:rPr>
              <a:t>R</a:t>
            </a:r>
            <a:r>
              <a:rPr lang="en-US" altLang="zh-CN" sz="1200" b="1" baseline="30000" dirty="0">
                <a:solidFill>
                  <a:srgbClr val="FF0000"/>
                </a:solidFill>
              </a:rPr>
              <a:t>0</a:t>
            </a:r>
            <a:r>
              <a:rPr lang="en-US" altLang="zh-CN" sz="1200" b="1" i="1" dirty="0">
                <a:solidFill>
                  <a:srgbClr val="FF0000"/>
                </a:solidFill>
              </a:rPr>
              <a:t> </a:t>
            </a:r>
            <a:r>
              <a:rPr lang="zh-CN" altLang="en-US" sz="1200" b="1" dirty="0">
                <a:solidFill>
                  <a:srgbClr val="FF0000"/>
                </a:solidFill>
              </a:rPr>
              <a:t>是自反关系</a:t>
            </a:r>
            <a:endParaRPr lang="en-US" altLang="zh-CN" sz="1200" b="1" dirty="0">
              <a:solidFill>
                <a:srgbClr val="FF0000"/>
              </a:solidFill>
            </a:endParaRPr>
          </a:p>
          <a:p>
            <a:pPr marL="609600" indent="-609600" eaLnBrk="1" hangingPunct="1">
              <a:buFontTx/>
              <a:buNone/>
            </a:pPr>
            <a:r>
              <a:rPr lang="en-US" altLang="zh-CN" sz="1200" b="1" i="1" dirty="0"/>
              <a:t>    R</a:t>
            </a:r>
            <a:r>
              <a:rPr lang="en-US" altLang="zh-CN" sz="1200" b="1" dirty="0"/>
              <a:t>∪</a:t>
            </a:r>
            <a:r>
              <a:rPr lang="en-US" altLang="zh-CN" sz="1200" b="1" i="1" dirty="0"/>
              <a:t>R</a:t>
            </a:r>
            <a:r>
              <a:rPr lang="en-US" altLang="zh-CN" sz="1200" b="1" baseline="30000" dirty="0"/>
              <a:t>0</a:t>
            </a:r>
            <a:r>
              <a:rPr lang="zh-CN" altLang="en-US" sz="1200" b="1" dirty="0"/>
              <a:t>包含了</a:t>
            </a:r>
            <a:r>
              <a:rPr lang="en-US" altLang="zh-CN" sz="1200" b="1" i="1" dirty="0"/>
              <a:t>R</a:t>
            </a:r>
            <a:r>
              <a:rPr lang="en-US" altLang="zh-CN" sz="1200" b="1" dirty="0"/>
              <a:t> </a:t>
            </a:r>
            <a:r>
              <a:rPr lang="zh-CN" altLang="en-US" sz="1200" b="1" dirty="0"/>
              <a:t>，由</a:t>
            </a:r>
            <a:r>
              <a:rPr lang="en-US" altLang="zh-CN" sz="1200" b="1" i="1" dirty="0"/>
              <a:t>I</a:t>
            </a:r>
            <a:r>
              <a:rPr lang="en-US" altLang="zh-CN" sz="1200" b="1" i="1" baseline="-25000" dirty="0"/>
              <a:t>A</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i="1" dirty="0"/>
              <a:t>R</a:t>
            </a:r>
            <a:r>
              <a:rPr lang="en-US" altLang="zh-CN" sz="1200" b="1" baseline="30000" dirty="0"/>
              <a:t>0</a:t>
            </a:r>
            <a:r>
              <a:rPr lang="zh-CN" altLang="en-US" sz="1200" b="1" dirty="0"/>
              <a:t>可知 </a:t>
            </a:r>
            <a:r>
              <a:rPr lang="en-US" altLang="zh-CN" sz="1200" b="1" i="1" dirty="0"/>
              <a:t>R</a:t>
            </a:r>
            <a:r>
              <a:rPr lang="en-US" altLang="zh-CN" sz="1200" b="1" dirty="0"/>
              <a:t>∪</a:t>
            </a:r>
            <a:r>
              <a:rPr lang="en-US" altLang="zh-CN" sz="1200" b="1" i="1" dirty="0"/>
              <a:t>R</a:t>
            </a:r>
            <a:r>
              <a:rPr lang="en-US" altLang="zh-CN" sz="1200" b="1" baseline="30000" dirty="0"/>
              <a:t>0 </a:t>
            </a:r>
            <a:r>
              <a:rPr lang="zh-CN" altLang="en-US" sz="1200" b="1" dirty="0"/>
              <a:t>在 </a:t>
            </a:r>
            <a:r>
              <a:rPr lang="en-US" altLang="zh-CN" sz="1200" b="1" i="1" dirty="0"/>
              <a:t>A</a:t>
            </a:r>
            <a:r>
              <a:rPr lang="zh-CN" altLang="en-US" sz="1200" b="1" dirty="0"/>
              <a:t>上是自反的</a:t>
            </a:r>
            <a:r>
              <a:rPr lang="en-US" altLang="zh-CN" sz="1200" b="1" dirty="0"/>
              <a:t>. </a:t>
            </a:r>
          </a:p>
          <a:p>
            <a:pPr marL="609600" indent="-609600" eaLnBrk="1" hangingPunct="1">
              <a:buFontTx/>
              <a:buNone/>
            </a:pPr>
            <a:endParaRPr lang="en-US" altLang="zh-CN" sz="1200" b="1" dirty="0"/>
          </a:p>
          <a:p>
            <a:pPr marL="609600" indent="-609600" eaLnBrk="1" hangingPunct="1">
              <a:buFontTx/>
              <a:buNone/>
            </a:pPr>
            <a:r>
              <a:rPr lang="zh-CN" altLang="en-US" sz="1200" b="1" dirty="0">
                <a:solidFill>
                  <a:srgbClr val="FF0000"/>
                </a:solidFill>
              </a:rPr>
              <a:t>证</a:t>
            </a:r>
            <a:r>
              <a:rPr lang="en-US" altLang="zh-CN" sz="1200" b="1" i="1" dirty="0">
                <a:solidFill>
                  <a:srgbClr val="FF0000"/>
                </a:solidFill>
              </a:rPr>
              <a:t>R</a:t>
            </a:r>
            <a:r>
              <a:rPr lang="en-US" altLang="zh-CN" sz="1200" b="1" dirty="0">
                <a:solidFill>
                  <a:srgbClr val="FF0000"/>
                </a:solidFill>
              </a:rPr>
              <a:t>∪</a:t>
            </a:r>
            <a:r>
              <a:rPr lang="en-US" altLang="zh-CN" sz="1200" b="1" i="1" dirty="0">
                <a:solidFill>
                  <a:srgbClr val="FF0000"/>
                </a:solidFill>
              </a:rPr>
              <a:t>R</a:t>
            </a:r>
            <a:r>
              <a:rPr lang="en-US" altLang="zh-CN" sz="1200" b="1" baseline="30000" dirty="0">
                <a:solidFill>
                  <a:srgbClr val="FF0000"/>
                </a:solidFill>
              </a:rPr>
              <a:t>0</a:t>
            </a:r>
            <a:r>
              <a:rPr lang="zh-CN" altLang="en-US" sz="1200" b="1" dirty="0">
                <a:solidFill>
                  <a:srgbClr val="FF0000"/>
                </a:solidFill>
              </a:rPr>
              <a:t>是包含</a:t>
            </a:r>
            <a:r>
              <a:rPr lang="en-US" altLang="zh-CN" sz="1200" b="1" i="1" dirty="0">
                <a:solidFill>
                  <a:srgbClr val="FF0000"/>
                </a:solidFill>
              </a:rPr>
              <a:t>R </a:t>
            </a:r>
            <a:r>
              <a:rPr lang="zh-CN" altLang="en-US" sz="1200" b="1" dirty="0">
                <a:solidFill>
                  <a:srgbClr val="FF0000"/>
                </a:solidFill>
              </a:rPr>
              <a:t>的最小的自反关系</a:t>
            </a:r>
            <a:endParaRPr lang="en-US" altLang="zh-CN" b="1" dirty="0">
              <a:solidFill>
                <a:srgbClr val="FF0000"/>
              </a:solidFill>
            </a:endParaRPr>
          </a:p>
          <a:p>
            <a:pPr marL="609600" indent="-609600" eaLnBrk="1" hangingPunct="1">
              <a:buFontTx/>
              <a:buNone/>
            </a:pPr>
            <a:r>
              <a:rPr lang="en-US" altLang="zh-CN" b="1" dirty="0"/>
              <a:t>    </a:t>
            </a:r>
            <a:r>
              <a:rPr lang="zh-CN" altLang="zh-CN" b="1" dirty="0"/>
              <a:t>需证明不存在比 </a:t>
            </a:r>
            <a:r>
              <a:rPr lang="en-US" altLang="zh-CN" sz="1200" b="1" i="1" dirty="0"/>
              <a:t>R</a:t>
            </a:r>
            <a:r>
              <a:rPr lang="en-US" altLang="zh-CN" sz="1200" b="1" dirty="0"/>
              <a:t>∪</a:t>
            </a:r>
            <a:r>
              <a:rPr lang="en-US" altLang="zh-CN" sz="1200" b="1" i="1" dirty="0"/>
              <a:t>R</a:t>
            </a:r>
            <a:r>
              <a:rPr lang="en-US" altLang="zh-CN" sz="1200" b="1" baseline="30000" dirty="0"/>
              <a:t>0 </a:t>
            </a:r>
            <a:r>
              <a:rPr lang="en-US" altLang="zh-CN" b="1" dirty="0" err="1"/>
              <a:t>更小的自反关系，该关系同时包含</a:t>
            </a:r>
            <a:r>
              <a:rPr lang="en-US" altLang="zh-CN" b="1" dirty="0"/>
              <a:t> </a:t>
            </a:r>
            <a:r>
              <a:rPr lang="en-US" altLang="zh-CN" sz="1200" b="1" i="1" dirty="0"/>
              <a:t>R</a:t>
            </a:r>
            <a:endParaRPr lang="en-US" altLang="zh-CN" b="1" dirty="0"/>
          </a:p>
          <a:p>
            <a:pPr marL="609600" indent="-609600" eaLnBrk="1" hangingPunct="1">
              <a:buFontTx/>
              <a:buNone/>
            </a:pPr>
            <a:r>
              <a:rPr lang="en-US" altLang="zh-CN" sz="1200" b="1" dirty="0"/>
              <a:t> </a:t>
            </a:r>
            <a:r>
              <a:rPr lang="zh-CN" altLang="en-US" sz="1200" b="1" dirty="0"/>
              <a:t>   假设</a:t>
            </a:r>
            <a:r>
              <a:rPr lang="en-US" altLang="zh-CN" sz="1200" b="1" i="1" dirty="0"/>
              <a:t>R</a:t>
            </a:r>
            <a:r>
              <a:rPr lang="en-US" altLang="zh-CN" sz="1200" b="1" dirty="0">
                <a:sym typeface="Symbol" panose="05050102010706020507" pitchFamily="18" charset="2"/>
              </a:rPr>
              <a:t></a:t>
            </a:r>
            <a:r>
              <a:rPr lang="zh-CN" altLang="en-US" sz="1200" b="1" dirty="0"/>
              <a:t>是包含</a:t>
            </a:r>
            <a:r>
              <a:rPr lang="en-US" altLang="zh-CN" sz="1200" b="1" i="1" dirty="0"/>
              <a:t>R </a:t>
            </a:r>
            <a:r>
              <a:rPr lang="zh-CN" altLang="en-US" sz="1200" b="1" i="1" dirty="0"/>
              <a:t>、</a:t>
            </a:r>
            <a:r>
              <a:rPr lang="zh-CN" altLang="zh-CN" b="1" dirty="0"/>
              <a:t>比 </a:t>
            </a:r>
            <a:r>
              <a:rPr lang="en-US" altLang="zh-CN" b="1" i="1" dirty="0"/>
              <a:t>R</a:t>
            </a:r>
            <a:r>
              <a:rPr lang="en-US" altLang="zh-CN" b="1" dirty="0"/>
              <a:t>∪</a:t>
            </a:r>
            <a:r>
              <a:rPr lang="en-US" altLang="zh-CN" b="1" i="1" dirty="0"/>
              <a:t>R</a:t>
            </a:r>
            <a:r>
              <a:rPr lang="en-US" altLang="zh-CN" b="1" baseline="30000" dirty="0"/>
              <a:t>0 </a:t>
            </a:r>
            <a:r>
              <a:rPr lang="en-US" altLang="zh-CN" b="1" dirty="0" err="1"/>
              <a:t>更小的自反关系</a:t>
            </a:r>
            <a:r>
              <a:rPr lang="en-US" altLang="zh-CN" b="1" dirty="0"/>
              <a:t> </a:t>
            </a:r>
            <a:r>
              <a:rPr lang="zh-CN" altLang="en-US" sz="1200" b="1" dirty="0"/>
              <a:t>，那么</a:t>
            </a:r>
            <a:r>
              <a:rPr lang="en-US" altLang="zh-CN" sz="1200" b="1" i="1" dirty="0"/>
              <a:t>I</a:t>
            </a:r>
            <a:r>
              <a:rPr lang="en-US" altLang="zh-CN" sz="1200" b="1" i="1" baseline="-25000" dirty="0"/>
              <a:t>A</a:t>
            </a:r>
            <a:r>
              <a:rPr lang="en-US" altLang="zh-CN" sz="1200" b="1" dirty="0">
                <a:sym typeface="Symbol" panose="05050102010706020507" pitchFamily="18" charset="2"/>
              </a:rPr>
              <a:t></a:t>
            </a:r>
            <a:r>
              <a:rPr lang="en-US" altLang="zh-CN" sz="1200" b="1" i="1" dirty="0"/>
              <a:t>R</a:t>
            </a:r>
            <a:r>
              <a:rPr lang="en-US" altLang="zh-CN" sz="1200" b="1" dirty="0">
                <a:sym typeface="Symbol" panose="05050102010706020507" pitchFamily="18" charset="2"/>
              </a:rPr>
              <a:t></a:t>
            </a:r>
            <a:r>
              <a:rPr lang="en-US" altLang="zh-CN" sz="1200" b="1" dirty="0"/>
              <a:t>, </a:t>
            </a:r>
            <a:r>
              <a:rPr lang="en-US" altLang="zh-CN" sz="1200" b="1" i="1" dirty="0"/>
              <a:t>R</a:t>
            </a:r>
            <a:r>
              <a:rPr lang="en-US" altLang="zh-CN" sz="1200" b="1" dirty="0">
                <a:sym typeface="Symbol" panose="05050102010706020507" pitchFamily="18" charset="2"/>
              </a:rPr>
              <a:t></a:t>
            </a:r>
            <a:r>
              <a:rPr lang="en-US" altLang="zh-CN" sz="1200" b="1" i="1" dirty="0"/>
              <a:t>R</a:t>
            </a:r>
            <a:r>
              <a:rPr lang="en-US" altLang="zh-CN" sz="1200" b="1" dirty="0">
                <a:sym typeface="Symbol" panose="05050102010706020507" pitchFamily="18" charset="2"/>
              </a:rPr>
              <a:t></a:t>
            </a:r>
            <a:r>
              <a:rPr lang="zh-CN" altLang="en-US" sz="1200" b="1" dirty="0"/>
              <a:t>，因此有 </a:t>
            </a:r>
            <a:r>
              <a:rPr lang="en-US" altLang="zh-CN" sz="1200" b="1" i="1" dirty="0"/>
              <a:t> R</a:t>
            </a:r>
            <a:r>
              <a:rPr lang="en-US" altLang="zh-CN" sz="1200" b="1" dirty="0"/>
              <a:t>∪</a:t>
            </a:r>
            <a:r>
              <a:rPr lang="en-US" altLang="zh-CN" sz="1200" b="1" i="1" dirty="0"/>
              <a:t>R</a:t>
            </a:r>
            <a:r>
              <a:rPr lang="en-US" altLang="zh-CN" sz="1200" b="1" baseline="30000" dirty="0"/>
              <a:t>0</a:t>
            </a:r>
            <a:r>
              <a:rPr lang="en-US" altLang="zh-CN" sz="1200" b="1" dirty="0"/>
              <a:t>=</a:t>
            </a:r>
            <a:r>
              <a:rPr lang="en-US" altLang="zh-CN" sz="1200" b="1" i="1" dirty="0"/>
              <a:t>I</a:t>
            </a:r>
            <a:r>
              <a:rPr lang="en-US" altLang="zh-CN" sz="1200" b="1" i="1" baseline="-25000" dirty="0"/>
              <a:t>A</a:t>
            </a:r>
            <a:r>
              <a:rPr lang="en-US" altLang="zh-CN" sz="1200" b="1" dirty="0">
                <a:sym typeface="Symbol" panose="05050102010706020507" pitchFamily="18" charset="2"/>
              </a:rPr>
              <a:t></a:t>
            </a:r>
            <a:r>
              <a:rPr lang="en-US" altLang="zh-CN" sz="1200" b="1" i="1" dirty="0"/>
              <a:t>R </a:t>
            </a:r>
            <a:r>
              <a:rPr lang="en-US" altLang="zh-CN" sz="1200" b="1" dirty="0">
                <a:sym typeface="Symbol" panose="05050102010706020507" pitchFamily="18" charset="2"/>
              </a:rPr>
              <a:t></a:t>
            </a:r>
            <a:r>
              <a:rPr lang="en-US" altLang="zh-CN" sz="1200" b="1" i="1" dirty="0"/>
              <a:t>R</a:t>
            </a:r>
            <a:r>
              <a:rPr lang="en-US" altLang="zh-CN" sz="1200" b="1" dirty="0">
                <a:sym typeface="Symbol" panose="05050102010706020507" pitchFamily="18" charset="2"/>
              </a:rPr>
              <a:t> </a:t>
            </a:r>
            <a:r>
              <a:rPr lang="zh-CN" altLang="en-US" sz="1200" b="1" dirty="0">
                <a:sym typeface="Symbol" panose="05050102010706020507" pitchFamily="18" charset="2"/>
              </a:rPr>
              <a:t>，</a:t>
            </a:r>
            <a:r>
              <a:rPr lang="zh-CN" altLang="zh-CN" b="1" dirty="0"/>
              <a:t>这与 </a:t>
            </a:r>
            <a:r>
              <a:rPr lang="en-US" altLang="zh-CN" sz="1200" b="1" i="1" dirty="0"/>
              <a:t>R</a:t>
            </a:r>
            <a:r>
              <a:rPr lang="en-US" altLang="zh-CN" sz="1200" b="1" dirty="0">
                <a:sym typeface="Symbol" panose="05050102010706020507" pitchFamily="18" charset="2"/>
              </a:rPr>
              <a:t></a:t>
            </a:r>
            <a:r>
              <a:rPr lang="zh-CN" altLang="zh-CN" b="1" dirty="0"/>
              <a:t> 比 </a:t>
            </a:r>
            <a:r>
              <a:rPr lang="en-US" altLang="zh-CN" b="1" i="1" dirty="0"/>
              <a:t>R</a:t>
            </a:r>
            <a:r>
              <a:rPr lang="en-US" altLang="zh-CN" b="1" dirty="0"/>
              <a:t>∪</a:t>
            </a:r>
            <a:r>
              <a:rPr lang="en-US" altLang="zh-CN" b="1" i="1" dirty="0"/>
              <a:t>R</a:t>
            </a:r>
            <a:r>
              <a:rPr lang="en-US" altLang="zh-CN" b="1" baseline="30000" dirty="0"/>
              <a:t>0 </a:t>
            </a:r>
            <a:r>
              <a:rPr lang="en-US" altLang="zh-CN" b="1" dirty="0" err="1"/>
              <a:t>小的假设矛盾</a:t>
            </a:r>
            <a:r>
              <a:rPr lang="en-US" altLang="zh-CN" b="1" dirty="0"/>
              <a:t>。</a:t>
            </a:r>
            <a:endParaRPr lang="zh-CN" altLang="en-US"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63</a:t>
            </a:fld>
            <a:endParaRPr lang="zh-CN" altLang="en-US"/>
          </a:p>
        </p:txBody>
      </p:sp>
    </p:spTree>
    <p:extLst>
      <p:ext uri="{BB962C8B-B14F-4D97-AF65-F5344CB8AC3E}">
        <p14:creationId xmlns:p14="http://schemas.microsoft.com/office/powerpoint/2010/main" val="38173326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kumimoji="0" lang="en-US" altLang="zh-CN" sz="1200" b="1" dirty="0">
                <a:solidFill>
                  <a:srgbClr val="FF0000"/>
                </a:solidFill>
                <a:latin typeface="+mj-lt"/>
              </a:rPr>
              <a:t> </a:t>
            </a:r>
            <a:r>
              <a:rPr kumimoji="0" lang="zh-CN" altLang="en-US" sz="1200" b="1" dirty="0">
                <a:solidFill>
                  <a:srgbClr val="FF0000"/>
                </a:solidFill>
                <a:latin typeface="+mj-lt"/>
              </a:rPr>
              <a:t>证</a:t>
            </a:r>
            <a:r>
              <a:rPr kumimoji="0" lang="en-US" altLang="zh-CN" sz="1200" b="1" dirty="0">
                <a:solidFill>
                  <a:srgbClr val="FF0000"/>
                </a:solidFill>
                <a:latin typeface="+mj-lt"/>
              </a:rPr>
              <a:t>(3)</a:t>
            </a:r>
            <a:r>
              <a:rPr kumimoji="0" lang="zh-CN" altLang="en-US" sz="1200" b="1" dirty="0">
                <a:solidFill>
                  <a:srgbClr val="FF0000"/>
                </a:solidFill>
                <a:latin typeface="+mj-lt"/>
              </a:rPr>
              <a:t>  </a:t>
            </a:r>
            <a:r>
              <a:rPr kumimoji="0" lang="en-US" altLang="zh-CN" sz="1200" b="1" i="1" dirty="0">
                <a:solidFill>
                  <a:srgbClr val="FF0000"/>
                </a:solidFill>
              </a:rPr>
              <a:t>t</a:t>
            </a:r>
            <a:r>
              <a:rPr kumimoji="0" lang="en-US" altLang="zh-CN" sz="1200" b="1" dirty="0">
                <a:solidFill>
                  <a:srgbClr val="FF0000"/>
                </a:solidFill>
              </a:rPr>
              <a:t>(</a:t>
            </a:r>
            <a:r>
              <a:rPr kumimoji="0" lang="en-US" altLang="zh-CN" sz="1200" b="1" i="1" dirty="0">
                <a:solidFill>
                  <a:srgbClr val="FF0000"/>
                </a:solidFill>
              </a:rPr>
              <a:t>R</a:t>
            </a:r>
            <a:r>
              <a:rPr kumimoji="0" lang="en-US" altLang="zh-CN" sz="1200" b="1" dirty="0">
                <a:solidFill>
                  <a:srgbClr val="FF0000"/>
                </a:solidFill>
              </a:rPr>
              <a:t>)=</a:t>
            </a:r>
            <a:r>
              <a:rPr kumimoji="0" lang="en-US" altLang="zh-CN" sz="1200" b="1" i="1" dirty="0">
                <a:solidFill>
                  <a:srgbClr val="FF0000"/>
                </a:solidFill>
              </a:rPr>
              <a:t>R</a:t>
            </a:r>
            <a:r>
              <a:rPr kumimoji="0" lang="en-US" altLang="zh-CN" sz="1200" b="1" dirty="0">
                <a:solidFill>
                  <a:srgbClr val="FF0000"/>
                </a:solidFill>
              </a:rPr>
              <a:t>∪</a:t>
            </a:r>
            <a:r>
              <a:rPr kumimoji="0" lang="en-US" altLang="zh-CN" sz="1200" b="1" i="1" dirty="0">
                <a:solidFill>
                  <a:srgbClr val="FF0000"/>
                </a:solidFill>
              </a:rPr>
              <a:t>R</a:t>
            </a:r>
            <a:r>
              <a:rPr kumimoji="0" lang="en-US" altLang="zh-CN" sz="1200" b="1" baseline="30000" dirty="0">
                <a:solidFill>
                  <a:srgbClr val="FF0000"/>
                </a:solidFill>
              </a:rPr>
              <a:t>2</a:t>
            </a:r>
            <a:r>
              <a:rPr kumimoji="0" lang="en-US" altLang="zh-CN" sz="1200" b="1" dirty="0">
                <a:solidFill>
                  <a:srgbClr val="FF0000"/>
                </a:solidFill>
              </a:rPr>
              <a:t>∪</a:t>
            </a:r>
            <a:r>
              <a:rPr kumimoji="0" lang="en-US" altLang="zh-CN" sz="1200" b="1" i="1" dirty="0">
                <a:solidFill>
                  <a:srgbClr val="FF0000"/>
                </a:solidFill>
              </a:rPr>
              <a:t>R</a:t>
            </a:r>
            <a:r>
              <a:rPr kumimoji="0" lang="en-US" altLang="zh-CN" sz="1200" b="1" baseline="30000" dirty="0">
                <a:solidFill>
                  <a:srgbClr val="FF0000"/>
                </a:solidFill>
              </a:rPr>
              <a:t>3</a:t>
            </a:r>
            <a:r>
              <a:rPr kumimoji="0" lang="en-US" altLang="zh-CN" sz="1200" b="1" dirty="0">
                <a:solidFill>
                  <a:srgbClr val="FF0000"/>
                </a:solidFill>
              </a:rPr>
              <a:t>∪…</a:t>
            </a:r>
            <a:br>
              <a:rPr kumimoji="0" lang="en-US" altLang="zh-CN" sz="1200" b="1" dirty="0"/>
            </a:br>
            <a:r>
              <a:rPr lang="zh-CN" altLang="en-US" sz="1200" b="1" dirty="0"/>
              <a:t>任取</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r>
              <a:rPr lang="zh-CN" altLang="en-US" sz="1200" b="1" dirty="0"/>
              <a:t>和</a:t>
            </a:r>
            <a:r>
              <a:rPr lang="en-US" altLang="zh-CN" sz="1200" b="1" dirty="0"/>
              <a:t>&lt;</a:t>
            </a:r>
            <a:r>
              <a:rPr lang="en-US" altLang="zh-CN" sz="1200" b="1" i="1" dirty="0" err="1"/>
              <a:t>y</a:t>
            </a:r>
            <a:r>
              <a:rPr lang="en-US" altLang="zh-CN" sz="1200" b="1" dirty="0" err="1"/>
              <a:t>,</a:t>
            </a:r>
            <a:r>
              <a:rPr lang="en-US" altLang="zh-CN" sz="1200" b="1" i="1" dirty="0" err="1"/>
              <a:t>z</a:t>
            </a:r>
            <a:r>
              <a:rPr lang="en-US" altLang="zh-CN" sz="1200" b="1" dirty="0"/>
              <a:t>&gt;</a:t>
            </a:r>
          </a:p>
          <a:p>
            <a:pPr eaLnBrk="1" hangingPunct="1">
              <a:buFontTx/>
              <a:buNone/>
            </a:pPr>
            <a:r>
              <a:rPr lang="en-US" altLang="zh-CN" sz="1200" b="1" dirty="0"/>
              <a:t>           &lt;</a:t>
            </a:r>
            <a:r>
              <a:rPr lang="en-US" altLang="zh-CN" sz="1200" b="1" i="1" dirty="0" err="1"/>
              <a:t>x</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 </a:t>
            </a:r>
            <a:r>
              <a:rPr lang="en-US" altLang="zh-CN" sz="1200" b="1" dirty="0">
                <a:sym typeface="Symbol" panose="05050102010706020507" pitchFamily="18" charset="2"/>
              </a:rPr>
              <a:t> </a:t>
            </a:r>
            <a:r>
              <a:rPr lang="en-US" altLang="zh-CN" sz="1200" b="1" dirty="0"/>
              <a:t>&lt;</a:t>
            </a:r>
            <a:r>
              <a:rPr lang="en-US" altLang="zh-CN" sz="1200" b="1" i="1" dirty="0" err="1"/>
              <a:t>y</a:t>
            </a:r>
            <a:r>
              <a:rPr lang="en-US" altLang="zh-CN" sz="1200" b="1" dirty="0" err="1"/>
              <a:t>,</a:t>
            </a:r>
            <a:r>
              <a:rPr lang="en-US" altLang="zh-CN" sz="1200" b="1" i="1" dirty="0" err="1"/>
              <a:t>z</a:t>
            </a:r>
            <a:r>
              <a:rPr lang="en-US" altLang="zh-CN" sz="1200" b="1" dirty="0"/>
              <a:t>&gt;</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a:t>
            </a:r>
            <a:endParaRPr lang="en-US" altLang="zh-CN" sz="1200" b="1" dirty="0">
              <a:sym typeface="Symbol" panose="05050102010706020507" pitchFamily="18" charset="2"/>
            </a:endParaRPr>
          </a:p>
          <a:p>
            <a:pPr eaLnBrk="1" hangingPunct="1">
              <a:buFontTx/>
              <a:buNone/>
            </a:pPr>
            <a:r>
              <a:rPr lang="en-US" altLang="zh-CN" sz="1200" b="1" dirty="0">
                <a:sym typeface="Symbol" panose="05050102010706020507" pitchFamily="18" charset="2"/>
              </a:rPr>
              <a:t>    </a:t>
            </a:r>
            <a:r>
              <a:rPr lang="en-US" altLang="zh-CN" sz="1200" b="1" dirty="0"/>
              <a:t> &lt;</a:t>
            </a:r>
            <a:r>
              <a:rPr lang="en-US" altLang="zh-CN" sz="1200" b="1" i="1" dirty="0" err="1"/>
              <a:t>x</a:t>
            </a:r>
            <a:r>
              <a:rPr lang="en-US" altLang="zh-CN" sz="1200" b="1" dirty="0" err="1"/>
              <a:t>,</a:t>
            </a:r>
            <a:r>
              <a:rPr lang="en-US" altLang="zh-CN" sz="1200" b="1" i="1" dirty="0" err="1"/>
              <a:t>z</a:t>
            </a:r>
            <a:r>
              <a:rPr lang="en-US" altLang="zh-CN" sz="1200" b="1" dirty="0"/>
              <a:t>&gt;</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a:t>
            </a:r>
          </a:p>
          <a:p>
            <a:pPr eaLnBrk="1" hangingPunct="1">
              <a:buFontTx/>
              <a:buNone/>
            </a:pPr>
            <a:r>
              <a:rPr lang="zh-CN" altLang="en-US" sz="1200" b="1" dirty="0"/>
              <a:t>于是，由</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a:t>
            </a:r>
            <a:r>
              <a:rPr lang="zh-CN" altLang="en-US" sz="1200" b="1" dirty="0"/>
              <a:t>的传递性得 </a:t>
            </a:r>
          </a:p>
          <a:p>
            <a:pPr eaLnBrk="1" hangingPunct="1">
              <a:buFontTx/>
              <a:buNone/>
            </a:pPr>
            <a:r>
              <a:rPr lang="en-US" altLang="zh-CN" sz="1200" b="1" dirty="0"/>
              <a:t>             </a:t>
            </a:r>
            <a:r>
              <a:rPr lang="en-US" altLang="zh-CN" sz="1200" b="1" i="1" dirty="0"/>
              <a:t>t</a:t>
            </a:r>
            <a:r>
              <a:rPr lang="en-US" altLang="zh-CN" sz="1200" b="1" dirty="0"/>
              <a:t>(</a:t>
            </a:r>
            <a:r>
              <a:rPr lang="en-US" altLang="zh-CN" sz="1200" b="1" i="1" dirty="0"/>
              <a:t>R</a:t>
            </a:r>
            <a:r>
              <a:rPr lang="en-US" altLang="zh-CN" sz="1200" b="1" dirty="0"/>
              <a:t>) </a:t>
            </a:r>
            <a:r>
              <a:rPr lang="en-US" altLang="zh-CN" sz="1200" b="1" dirty="0">
                <a:sym typeface="Symbol" panose="05050102010706020507" pitchFamily="18" charset="2"/>
              </a:rPr>
              <a:t></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   </a:t>
            </a:r>
          </a:p>
          <a:p>
            <a:pPr eaLnBrk="1" hangingPunct="1">
              <a:spcBef>
                <a:spcPct val="50000"/>
              </a:spcBef>
              <a:buFontTx/>
              <a:buNone/>
            </a:pPr>
            <a:r>
              <a:rPr lang="zh-CN" altLang="en-US" sz="1200" b="1" dirty="0"/>
              <a:t>对</a:t>
            </a:r>
            <a:r>
              <a:rPr lang="en-US" altLang="zh-CN" sz="1200" b="1" i="1" dirty="0"/>
              <a:t>n </a:t>
            </a:r>
            <a:r>
              <a:rPr lang="zh-CN" altLang="en-US" sz="1200" b="1" dirty="0"/>
              <a:t>进行归纳证明 </a:t>
            </a:r>
            <a:r>
              <a:rPr lang="en-US" altLang="zh-CN" sz="1200" b="1" i="1" dirty="0"/>
              <a:t>R</a:t>
            </a:r>
            <a:r>
              <a:rPr lang="en-US" altLang="zh-CN" sz="1200" b="1" i="1" baseline="30000" dirty="0"/>
              <a:t>n </a:t>
            </a:r>
            <a:r>
              <a:rPr lang="en-US" altLang="zh-CN" sz="1200" b="1" dirty="0">
                <a:sym typeface="Symbol" panose="05050102010706020507" pitchFamily="18" charset="2"/>
              </a:rPr>
              <a:t></a:t>
            </a:r>
            <a:r>
              <a:rPr lang="en-US" altLang="zh-CN" sz="1200" b="1" i="1" dirty="0"/>
              <a:t>t</a:t>
            </a:r>
            <a:r>
              <a:rPr lang="en-US" altLang="zh-CN" sz="1200" b="1" dirty="0"/>
              <a:t>(</a:t>
            </a:r>
            <a:r>
              <a:rPr lang="en-US" altLang="zh-CN" sz="1200" b="1" i="1" dirty="0"/>
              <a:t>R</a:t>
            </a:r>
            <a:r>
              <a:rPr lang="en-US" altLang="zh-CN" sz="1200" b="1" dirty="0"/>
              <a:t>).</a:t>
            </a:r>
            <a:endParaRPr lang="en-US" altLang="zh-CN" sz="1200" b="1" i="1" dirty="0"/>
          </a:p>
          <a:p>
            <a:pPr eaLnBrk="1" hangingPunct="1">
              <a:buFontTx/>
              <a:buNone/>
            </a:pPr>
            <a:r>
              <a:rPr lang="en-US" altLang="zh-CN" sz="1200" b="1" i="1" dirty="0"/>
              <a:t>n</a:t>
            </a:r>
            <a:r>
              <a:rPr lang="en-US" altLang="zh-CN" sz="1200" b="1" dirty="0"/>
              <a:t>=1</a:t>
            </a:r>
            <a:r>
              <a:rPr lang="zh-CN" altLang="en-US" sz="1200" b="1" dirty="0"/>
              <a:t>时显然为真</a:t>
            </a:r>
            <a:r>
              <a:rPr lang="en-US" altLang="zh-CN" sz="1200" b="1" dirty="0"/>
              <a:t>. </a:t>
            </a:r>
            <a:r>
              <a:rPr lang="zh-CN" altLang="en-US" sz="1200" b="1" dirty="0"/>
              <a:t>假设</a:t>
            </a:r>
            <a:r>
              <a:rPr lang="en-US" altLang="zh-CN" sz="1200" b="1" i="1" dirty="0"/>
              <a:t>n</a:t>
            </a:r>
            <a:r>
              <a:rPr lang="en-US" altLang="zh-CN" sz="1200" b="1" dirty="0"/>
              <a:t>=</a:t>
            </a:r>
            <a:r>
              <a:rPr lang="en-US" altLang="zh-CN" sz="1200" b="1" i="1" dirty="0"/>
              <a:t>k</a:t>
            </a:r>
            <a:r>
              <a:rPr lang="zh-CN" altLang="en-US" sz="1200" b="1" dirty="0"/>
              <a:t>时为真，那么对于任意</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p>
          <a:p>
            <a:pPr eaLnBrk="1" hangingPunct="1">
              <a:buFontTx/>
              <a:buNone/>
            </a:pP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a:t>R</a:t>
            </a:r>
            <a:r>
              <a:rPr lang="en-US" altLang="zh-CN" sz="1200" b="1" i="1" baseline="30000" dirty="0"/>
              <a:t>k</a:t>
            </a:r>
            <a:r>
              <a:rPr lang="en-US" altLang="zh-CN" sz="1200" b="1" baseline="30000" dirty="0"/>
              <a:t>+1</a:t>
            </a:r>
            <a:r>
              <a:rPr lang="en-US" altLang="zh-CN" sz="1200" b="1" dirty="0">
                <a:sym typeface="Symbol" panose="05050102010706020507" pitchFamily="18" charset="2"/>
              </a:rPr>
              <a:t></a:t>
            </a:r>
            <a:r>
              <a:rPr lang="en-US" altLang="zh-CN" sz="1200" b="1" dirty="0"/>
              <a:t> &lt;</a:t>
            </a:r>
            <a:r>
              <a:rPr lang="en-US" altLang="zh-CN" sz="1200" b="1" i="1" dirty="0" err="1"/>
              <a:t>x</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err="1"/>
              <a:t>R</a:t>
            </a:r>
            <a:r>
              <a:rPr lang="en-US" altLang="zh-CN" sz="1200" b="1" i="1" baseline="30000" dirty="0" err="1"/>
              <a:t>k</a:t>
            </a:r>
            <a:r>
              <a:rPr lang="en-US" altLang="zh-CN" sz="1200" b="1" dirty="0" err="1"/>
              <a:t>∘</a:t>
            </a:r>
            <a:r>
              <a:rPr lang="en-US" altLang="zh-CN" sz="1200" b="1" i="1" dirty="0" err="1"/>
              <a:t>R</a:t>
            </a:r>
            <a:r>
              <a:rPr lang="en-US" altLang="zh-CN" sz="1200" b="1" i="1" dirty="0"/>
              <a:t> </a:t>
            </a:r>
            <a:r>
              <a:rPr lang="en-US" altLang="zh-CN" sz="1200" b="1" dirty="0">
                <a:sym typeface="Symbol" panose="05050102010706020507" pitchFamily="18" charset="2"/>
              </a:rPr>
              <a:t></a:t>
            </a:r>
            <a:r>
              <a:rPr lang="en-US" altLang="zh-CN" sz="1200" b="1" i="1" dirty="0"/>
              <a:t>t </a:t>
            </a:r>
            <a:r>
              <a:rPr lang="en-US" altLang="zh-CN" sz="1200" b="1" dirty="0"/>
              <a:t>(&lt;</a:t>
            </a:r>
            <a:r>
              <a:rPr lang="en-US" altLang="zh-CN" sz="1200" b="1" i="1" dirty="0" err="1"/>
              <a:t>x</a:t>
            </a:r>
            <a:r>
              <a:rPr lang="en-US" altLang="zh-CN" sz="1200" b="1" dirty="0" err="1"/>
              <a:t>,</a:t>
            </a:r>
            <a:r>
              <a:rPr lang="en-US" altLang="zh-CN" sz="1200" b="1" i="1" dirty="0" err="1"/>
              <a:t>t</a:t>
            </a:r>
            <a:r>
              <a:rPr lang="en-US" altLang="zh-CN" sz="1200" b="1" dirty="0"/>
              <a:t>&gt;</a:t>
            </a:r>
            <a:r>
              <a:rPr lang="en-US" altLang="zh-CN" sz="1200" b="1" dirty="0">
                <a:sym typeface="Symbol" panose="05050102010706020507" pitchFamily="18" charset="2"/>
              </a:rPr>
              <a:t></a:t>
            </a:r>
            <a:r>
              <a:rPr lang="en-US" altLang="zh-CN" sz="1200" b="1" i="1" dirty="0" err="1"/>
              <a:t>R</a:t>
            </a:r>
            <a:r>
              <a:rPr lang="en-US" altLang="zh-CN" sz="1200" b="1" i="1" baseline="30000" dirty="0" err="1"/>
              <a:t>k</a:t>
            </a:r>
            <a:r>
              <a:rPr lang="en-US" altLang="zh-CN" sz="1200" b="1" i="1" baseline="30000" dirty="0"/>
              <a:t> </a:t>
            </a:r>
            <a:r>
              <a:rPr lang="en-US" altLang="zh-CN" sz="1200" b="1" dirty="0">
                <a:sym typeface="Symbol" panose="05050102010706020507" pitchFamily="18" charset="2"/>
              </a:rPr>
              <a:t></a:t>
            </a:r>
            <a:r>
              <a:rPr lang="en-US" altLang="zh-CN" sz="1200" b="1" dirty="0"/>
              <a:t>&lt;</a:t>
            </a:r>
            <a:r>
              <a:rPr lang="en-US" altLang="zh-CN" sz="1200" b="1" i="1" dirty="0" err="1"/>
              <a:t>t</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a:t>R</a:t>
            </a:r>
            <a:r>
              <a:rPr lang="en-US" altLang="zh-CN" sz="1200" b="1" dirty="0"/>
              <a:t>) </a:t>
            </a:r>
            <a:endParaRPr lang="en-US" altLang="zh-CN" sz="1200" b="1" dirty="0">
              <a:sym typeface="Symbol" panose="05050102010706020507" pitchFamily="18" charset="2"/>
            </a:endParaRPr>
          </a:p>
          <a:p>
            <a:pPr eaLnBrk="1" hangingPunct="1">
              <a:buFontTx/>
              <a:buNone/>
            </a:pPr>
            <a:r>
              <a:rPr lang="en-US" altLang="zh-CN" sz="1200" b="1" dirty="0">
                <a:sym typeface="Symbol" panose="05050102010706020507" pitchFamily="18" charset="2"/>
              </a:rPr>
              <a:t></a:t>
            </a:r>
            <a:r>
              <a:rPr lang="en-US" altLang="zh-CN" sz="1200" b="1" i="1" dirty="0"/>
              <a:t>t </a:t>
            </a:r>
            <a:r>
              <a:rPr lang="en-US" altLang="zh-CN" sz="1200" b="1" dirty="0"/>
              <a:t>(&lt;</a:t>
            </a:r>
            <a:r>
              <a:rPr lang="en-US" altLang="zh-CN" sz="1200" b="1" i="1" dirty="0" err="1"/>
              <a:t>x</a:t>
            </a:r>
            <a:r>
              <a:rPr lang="en-US" altLang="zh-CN" sz="1200" b="1" dirty="0" err="1"/>
              <a:t>,</a:t>
            </a:r>
            <a:r>
              <a:rPr lang="en-US" altLang="zh-CN" sz="1200" b="1" i="1" dirty="0" err="1"/>
              <a:t>t</a:t>
            </a:r>
            <a:r>
              <a:rPr lang="en-US" altLang="zh-CN" sz="1200" b="1" dirty="0"/>
              <a:t>&gt;</a:t>
            </a:r>
            <a:r>
              <a:rPr lang="en-US" altLang="zh-CN" sz="1200" b="1" dirty="0">
                <a:sym typeface="Symbol" panose="05050102010706020507" pitchFamily="18" charset="2"/>
              </a:rPr>
              <a:t></a:t>
            </a:r>
            <a:r>
              <a:rPr lang="en-US" altLang="zh-CN" sz="1200" b="1" i="1" dirty="0"/>
              <a:t>t</a:t>
            </a:r>
            <a:r>
              <a:rPr lang="en-US" altLang="zh-CN" sz="1200" b="1" dirty="0"/>
              <a:t>(</a:t>
            </a:r>
            <a:r>
              <a:rPr lang="en-US" altLang="zh-CN" sz="1200" b="1" i="1" dirty="0"/>
              <a:t>R</a:t>
            </a:r>
            <a:r>
              <a:rPr lang="en-US" altLang="zh-CN" sz="1200" b="1" dirty="0"/>
              <a:t>)</a:t>
            </a:r>
            <a:r>
              <a:rPr lang="en-US" altLang="zh-CN" sz="1200" b="1" dirty="0">
                <a:sym typeface="Symbol" panose="05050102010706020507" pitchFamily="18" charset="2"/>
              </a:rPr>
              <a:t></a:t>
            </a:r>
            <a:r>
              <a:rPr lang="en-US" altLang="zh-CN" sz="1200" b="1" dirty="0"/>
              <a:t>&lt;</a:t>
            </a:r>
            <a:r>
              <a:rPr lang="en-US" altLang="zh-CN" sz="1200" b="1" i="1" dirty="0" err="1"/>
              <a:t>t</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a:t>t</a:t>
            </a:r>
            <a:r>
              <a:rPr lang="en-US" altLang="zh-CN" sz="1200" b="1" dirty="0"/>
              <a:t>(</a:t>
            </a:r>
            <a:r>
              <a:rPr lang="en-US" altLang="zh-CN" sz="1200" b="1" i="1" dirty="0"/>
              <a:t>R</a:t>
            </a:r>
            <a:r>
              <a:rPr lang="en-US" altLang="zh-CN" sz="1200" b="1" dirty="0"/>
              <a:t>)) </a:t>
            </a:r>
            <a:r>
              <a:rPr lang="en-US" altLang="zh-CN" sz="1200" b="1" dirty="0">
                <a:sym typeface="Symbol" panose="05050102010706020507" pitchFamily="18" charset="2"/>
              </a:rPr>
              <a:t></a:t>
            </a:r>
            <a:r>
              <a:rPr lang="en-US" altLang="zh-CN" sz="1200" b="1" dirty="0"/>
              <a:t>&lt;</a:t>
            </a:r>
            <a:r>
              <a:rPr lang="en-US" altLang="zh-CN" sz="1200" b="1" i="1" dirty="0" err="1"/>
              <a:t>x</a:t>
            </a:r>
            <a:r>
              <a:rPr lang="en-US" altLang="zh-CN" sz="1200" b="1" dirty="0" err="1"/>
              <a:t>,</a:t>
            </a:r>
            <a:r>
              <a:rPr lang="en-US" altLang="zh-CN" sz="1200" b="1" i="1" dirty="0" err="1"/>
              <a:t>y</a:t>
            </a:r>
            <a:r>
              <a:rPr lang="en-US" altLang="zh-CN" sz="1200" b="1" dirty="0"/>
              <a:t>&gt;</a:t>
            </a:r>
            <a:r>
              <a:rPr lang="en-US" altLang="zh-CN" sz="1200" b="1" dirty="0">
                <a:sym typeface="Symbol" panose="05050102010706020507" pitchFamily="18" charset="2"/>
              </a:rPr>
              <a:t></a:t>
            </a:r>
            <a:r>
              <a:rPr lang="en-US" altLang="zh-CN" sz="1200" b="1" i="1" dirty="0"/>
              <a:t>t</a:t>
            </a:r>
            <a:r>
              <a:rPr lang="en-US" altLang="zh-CN" sz="1200" b="1" dirty="0"/>
              <a:t>(</a:t>
            </a:r>
            <a:r>
              <a:rPr lang="en-US" altLang="zh-CN" sz="1200" b="1" i="1" dirty="0"/>
              <a:t>R</a:t>
            </a:r>
            <a:r>
              <a:rPr lang="en-US" altLang="zh-CN" sz="1200" b="1" dirty="0"/>
              <a:t>) </a:t>
            </a:r>
            <a:r>
              <a:rPr lang="zh-CN" altLang="en-US" sz="1200" b="1" dirty="0"/>
              <a:t>（</a:t>
            </a:r>
            <a:r>
              <a:rPr lang="en-US" altLang="zh-CN" sz="1200" b="1" i="1" dirty="0"/>
              <a:t>t</a:t>
            </a:r>
            <a:r>
              <a:rPr lang="en-US" altLang="zh-CN" sz="1200" b="1" dirty="0"/>
              <a:t>(</a:t>
            </a:r>
            <a:r>
              <a:rPr lang="en-US" altLang="zh-CN" sz="1200" b="1" i="1" dirty="0"/>
              <a:t>R</a:t>
            </a:r>
            <a:r>
              <a:rPr lang="en-US" altLang="zh-CN" sz="1200" b="1" dirty="0"/>
              <a:t>)</a:t>
            </a:r>
            <a:r>
              <a:rPr lang="zh-CN" altLang="en-US" sz="1200" b="1" dirty="0"/>
              <a:t>传递） </a:t>
            </a:r>
          </a:p>
          <a:p>
            <a:pPr eaLnBrk="1" hangingPunct="1">
              <a:buFontTx/>
              <a:buNone/>
            </a:pPr>
            <a:r>
              <a:rPr lang="zh-CN" altLang="en-US" sz="1200" b="1" dirty="0"/>
              <a:t>于是，  </a:t>
            </a:r>
            <a:r>
              <a:rPr lang="en-US" altLang="zh-CN" sz="1200" b="1" i="1" dirty="0"/>
              <a:t>R</a:t>
            </a:r>
            <a:r>
              <a:rPr lang="en-US" altLang="zh-CN" sz="1200" b="1" dirty="0"/>
              <a:t>∪</a:t>
            </a:r>
            <a:r>
              <a:rPr lang="en-US" altLang="zh-CN" sz="1200" b="1" i="1" dirty="0"/>
              <a:t>R</a:t>
            </a:r>
            <a:r>
              <a:rPr lang="en-US" altLang="zh-CN" sz="1200" b="1" baseline="30000" dirty="0"/>
              <a:t>2</a:t>
            </a:r>
            <a:r>
              <a:rPr lang="en-US" altLang="zh-CN" sz="1200" b="1" dirty="0"/>
              <a:t>∪</a:t>
            </a:r>
            <a:r>
              <a:rPr lang="en-US" altLang="zh-CN" sz="1200" b="1" i="1" dirty="0"/>
              <a:t>R</a:t>
            </a:r>
            <a:r>
              <a:rPr lang="en-US" altLang="zh-CN" sz="1200" b="1" baseline="30000" dirty="0"/>
              <a:t>3</a:t>
            </a:r>
            <a:r>
              <a:rPr lang="en-US" altLang="zh-CN" sz="1200" b="1" dirty="0"/>
              <a:t>∪… </a:t>
            </a:r>
            <a:r>
              <a:rPr lang="en-US" altLang="zh-CN" sz="1200" b="1" dirty="0">
                <a:sym typeface="Symbol" panose="05050102010706020507" pitchFamily="18" charset="2"/>
              </a:rPr>
              <a:t> </a:t>
            </a:r>
            <a:r>
              <a:rPr lang="en-US" altLang="zh-CN" sz="1200" b="1" i="1" dirty="0"/>
              <a:t>t</a:t>
            </a:r>
            <a:r>
              <a:rPr lang="en-US" altLang="zh-CN" sz="1200" b="1" dirty="0"/>
              <a:t>(</a:t>
            </a:r>
            <a:r>
              <a:rPr lang="en-US" altLang="zh-CN" sz="1200" b="1" i="1" dirty="0"/>
              <a:t>R</a:t>
            </a:r>
            <a:r>
              <a:rPr lang="en-US" altLang="zh-CN" sz="1200" b="1" dirty="0"/>
              <a:t>)   </a:t>
            </a:r>
            <a:r>
              <a:rPr lang="zh-CN" altLang="en-US" sz="1200" b="1" dirty="0"/>
              <a:t>          </a:t>
            </a:r>
            <a:endParaRPr lang="zh-CN" altLang="en-US" b="1" dirty="0"/>
          </a:p>
          <a:p>
            <a:endParaRPr lang="en-US" altLang="zh-CN" dirty="0"/>
          </a:p>
          <a:p>
            <a:r>
              <a:rPr lang="zh-CN" altLang="en-US" dirty="0"/>
              <a:t>任意</a:t>
            </a:r>
            <a:r>
              <a:rPr lang="en-US" altLang="zh-CN" dirty="0"/>
              <a:t>R </a:t>
            </a:r>
            <a:r>
              <a:rPr lang="zh-CN" altLang="en-US" dirty="0"/>
              <a:t>属于</a:t>
            </a:r>
            <a:r>
              <a:rPr lang="en-US" altLang="zh-CN" dirty="0"/>
              <a:t>RN</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64</a:t>
            </a:fld>
            <a:endParaRPr lang="zh-CN" altLang="en-US"/>
          </a:p>
        </p:txBody>
      </p:sp>
    </p:spTree>
    <p:extLst>
      <p:ext uri="{BB962C8B-B14F-4D97-AF65-F5344CB8AC3E}">
        <p14:creationId xmlns:p14="http://schemas.microsoft.com/office/powerpoint/2010/main" val="11772337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zh-CN" altLang="en-US" sz="1200" b="1" dirty="0"/>
              <a:t>设关系</a:t>
            </a:r>
            <a:r>
              <a:rPr kumimoji="0" lang="en-US" altLang="zh-CN" sz="1200" b="1" i="1" dirty="0"/>
              <a:t>R</a:t>
            </a:r>
            <a:r>
              <a:rPr kumimoji="0" lang="en-US" altLang="zh-CN" sz="1200" b="1" dirty="0"/>
              <a:t>,  </a:t>
            </a:r>
            <a:r>
              <a:rPr kumimoji="0" lang="en-US" altLang="zh-CN" sz="1200" b="1" i="1" dirty="0"/>
              <a:t>r</a:t>
            </a:r>
            <a:r>
              <a:rPr kumimoji="0" lang="en-US" altLang="zh-CN" sz="1200" b="1" dirty="0"/>
              <a:t>(</a:t>
            </a:r>
            <a:r>
              <a:rPr kumimoji="0" lang="en-US" altLang="zh-CN" sz="1200" b="1" i="1" dirty="0"/>
              <a:t>R</a:t>
            </a:r>
            <a:r>
              <a:rPr kumimoji="0" lang="en-US" altLang="zh-CN" sz="1200" b="1" dirty="0"/>
              <a:t>),  </a:t>
            </a:r>
            <a:r>
              <a:rPr kumimoji="0" lang="en-US" altLang="zh-CN" sz="1200" b="1" i="1" dirty="0"/>
              <a:t>s</a:t>
            </a:r>
            <a:r>
              <a:rPr kumimoji="0" lang="en-US" altLang="zh-CN" sz="1200" b="1" dirty="0"/>
              <a:t>(</a:t>
            </a:r>
            <a:r>
              <a:rPr kumimoji="0" lang="en-US" altLang="zh-CN" sz="1200" b="1" i="1" dirty="0"/>
              <a:t>R</a:t>
            </a:r>
            <a:r>
              <a:rPr kumimoji="0" lang="en-US" altLang="zh-CN" sz="1200" b="1" dirty="0"/>
              <a:t>),  </a:t>
            </a:r>
            <a:r>
              <a:rPr kumimoji="0" lang="en-US" altLang="zh-CN" sz="1200" b="1" i="1" dirty="0"/>
              <a:t>t</a:t>
            </a:r>
            <a:r>
              <a:rPr kumimoji="0" lang="en-US" altLang="zh-CN" sz="1200" b="1" dirty="0"/>
              <a:t>(</a:t>
            </a:r>
            <a:r>
              <a:rPr kumimoji="0" lang="en-US" altLang="zh-CN" sz="1200" b="1" i="1" dirty="0"/>
              <a:t>R</a:t>
            </a:r>
            <a:r>
              <a:rPr kumimoji="0" lang="en-US" altLang="zh-CN" sz="1200" b="1" dirty="0"/>
              <a:t>)</a:t>
            </a:r>
            <a:r>
              <a:rPr kumimoji="0" lang="zh-CN" altLang="en-US" sz="1200" b="1" dirty="0"/>
              <a:t>的关系矩阵分别为</a:t>
            </a:r>
            <a:r>
              <a:rPr kumimoji="0" lang="en-US" altLang="zh-CN" sz="1200" b="1" i="1" dirty="0"/>
              <a:t>M</a:t>
            </a:r>
            <a:r>
              <a:rPr kumimoji="0" lang="en-US" altLang="zh-CN" sz="1200" b="1" dirty="0"/>
              <a:t>, </a:t>
            </a:r>
            <a:r>
              <a:rPr kumimoji="0" lang="en-US" altLang="zh-CN" sz="1200" b="1" i="1" dirty="0" err="1"/>
              <a:t>M</a:t>
            </a:r>
            <a:r>
              <a:rPr kumimoji="0" lang="en-US" altLang="zh-CN" sz="1200" b="1" i="1" baseline="-25000" dirty="0" err="1"/>
              <a:t>r</a:t>
            </a:r>
            <a:r>
              <a:rPr kumimoji="0" lang="en-US" altLang="zh-CN" sz="1200" b="1" dirty="0"/>
              <a:t>, </a:t>
            </a:r>
            <a:r>
              <a:rPr kumimoji="0" lang="en-US" altLang="zh-CN" sz="1200" b="1" i="1" dirty="0" err="1"/>
              <a:t>M</a:t>
            </a:r>
            <a:r>
              <a:rPr kumimoji="0" lang="en-US" altLang="zh-CN" sz="1200" b="1" i="1" baseline="-25000" dirty="0" err="1"/>
              <a:t>s</a:t>
            </a:r>
            <a:r>
              <a:rPr kumimoji="0" lang="en-US" altLang="zh-CN" sz="1200" b="1" i="1" baseline="-25000" dirty="0"/>
              <a:t> </a:t>
            </a:r>
          </a:p>
          <a:p>
            <a:pPr eaLnBrk="1" hangingPunct="1">
              <a:lnSpc>
                <a:spcPct val="130000"/>
              </a:lnSpc>
              <a:spcBef>
                <a:spcPct val="0"/>
              </a:spcBef>
              <a:buFontTx/>
              <a:buNone/>
            </a:pPr>
            <a:r>
              <a:rPr kumimoji="0" lang="zh-CN" altLang="en-US" sz="1200" b="1" dirty="0"/>
              <a:t>和 </a:t>
            </a:r>
            <a:r>
              <a:rPr kumimoji="0" lang="en-US" altLang="zh-CN" sz="1200" b="1" i="1" dirty="0"/>
              <a:t>M</a:t>
            </a:r>
            <a:r>
              <a:rPr kumimoji="0" lang="en-US" altLang="zh-CN" sz="1200" b="1" i="1" baseline="-25000" dirty="0"/>
              <a:t>t </a:t>
            </a:r>
            <a:r>
              <a:rPr kumimoji="0" lang="en-US" altLang="zh-CN" sz="1200" b="1" dirty="0"/>
              <a:t>, </a:t>
            </a:r>
            <a:r>
              <a:rPr kumimoji="0" lang="zh-CN" altLang="en-US" sz="1200" b="1" dirty="0"/>
              <a:t>则 </a:t>
            </a:r>
            <a:br>
              <a:rPr kumimoji="0" lang="zh-CN" altLang="en-US" sz="1200" b="1" dirty="0"/>
            </a:br>
            <a:r>
              <a:rPr kumimoji="0" lang="zh-CN" altLang="en-US" sz="1200" b="1" dirty="0"/>
              <a:t>          </a:t>
            </a:r>
            <a:r>
              <a:rPr kumimoji="0" lang="en-US" altLang="zh-CN" sz="1200" b="1" i="1" dirty="0" err="1"/>
              <a:t>M</a:t>
            </a:r>
            <a:r>
              <a:rPr kumimoji="0" lang="en-US" altLang="zh-CN" sz="1200" b="1" i="1" baseline="-25000" dirty="0" err="1"/>
              <a:t>r</a:t>
            </a:r>
            <a:r>
              <a:rPr kumimoji="0" lang="en-US" altLang="zh-CN" sz="1200" b="1" i="1" baseline="-25000" dirty="0"/>
              <a:t> </a:t>
            </a:r>
            <a:r>
              <a:rPr kumimoji="0" lang="en-US" altLang="zh-CN" sz="1200" b="1" dirty="0"/>
              <a:t>=</a:t>
            </a:r>
            <a:r>
              <a:rPr kumimoji="0" lang="en-US" altLang="zh-CN" sz="1200" b="1" i="1" dirty="0"/>
              <a:t>M</a:t>
            </a:r>
            <a:r>
              <a:rPr kumimoji="0" lang="en-US" altLang="zh-CN" sz="1200" b="1" dirty="0"/>
              <a:t>+</a:t>
            </a:r>
            <a:r>
              <a:rPr kumimoji="0" lang="en-US" altLang="zh-CN" sz="1200" b="1" i="1" dirty="0"/>
              <a:t>E    </a:t>
            </a:r>
          </a:p>
          <a:p>
            <a:pPr eaLnBrk="1" hangingPunct="1">
              <a:lnSpc>
                <a:spcPct val="130000"/>
              </a:lnSpc>
              <a:spcBef>
                <a:spcPct val="0"/>
              </a:spcBef>
              <a:buFontTx/>
              <a:buNone/>
            </a:pPr>
            <a:r>
              <a:rPr kumimoji="0" lang="en-US" altLang="zh-CN" sz="1200" b="1" i="1" dirty="0"/>
              <a:t>            </a:t>
            </a:r>
            <a:r>
              <a:rPr kumimoji="0" lang="en-US" altLang="zh-CN" sz="1200" b="1" i="1" dirty="0" err="1"/>
              <a:t>M</a:t>
            </a:r>
            <a:r>
              <a:rPr kumimoji="0" lang="en-US" altLang="zh-CN" sz="1200" b="1" i="1" baseline="-25000" dirty="0" err="1"/>
              <a:t>s</a:t>
            </a:r>
            <a:r>
              <a:rPr kumimoji="0" lang="en-US" altLang="zh-CN" sz="1200" b="1" i="1" baseline="-25000" dirty="0"/>
              <a:t> </a:t>
            </a:r>
            <a:r>
              <a:rPr kumimoji="0" lang="en-US" altLang="zh-CN" sz="1200" b="1" dirty="0"/>
              <a:t>=</a:t>
            </a:r>
            <a:r>
              <a:rPr kumimoji="0" lang="en-US" altLang="zh-CN" sz="1200" b="1" i="1" dirty="0"/>
              <a:t>M</a:t>
            </a:r>
            <a:r>
              <a:rPr kumimoji="0" lang="en-US" altLang="zh-CN" sz="1200" b="1" dirty="0"/>
              <a:t>+</a:t>
            </a:r>
            <a:r>
              <a:rPr kumimoji="0" lang="en-US" altLang="zh-CN" sz="1200" b="1" i="1" dirty="0"/>
              <a:t>M</a:t>
            </a:r>
            <a:r>
              <a:rPr kumimoji="0" lang="en-US" altLang="zh-CN" sz="1200" b="1" dirty="0"/>
              <a:t>’ </a:t>
            </a:r>
          </a:p>
          <a:p>
            <a:pPr eaLnBrk="1" hangingPunct="1">
              <a:lnSpc>
                <a:spcPct val="130000"/>
              </a:lnSpc>
              <a:spcBef>
                <a:spcPct val="0"/>
              </a:spcBef>
              <a:buFontTx/>
              <a:buNone/>
            </a:pPr>
            <a:r>
              <a:rPr kumimoji="0" lang="en-US" altLang="zh-CN" sz="1200" b="1" dirty="0"/>
              <a:t>            </a:t>
            </a:r>
            <a:r>
              <a:rPr kumimoji="0" lang="en-US" altLang="zh-CN" sz="1200" b="1" i="1" dirty="0"/>
              <a:t>M</a:t>
            </a:r>
            <a:r>
              <a:rPr kumimoji="0" lang="en-US" altLang="zh-CN" sz="1200" b="1" i="1" baseline="-25000" dirty="0"/>
              <a:t>t </a:t>
            </a:r>
            <a:r>
              <a:rPr kumimoji="0" lang="en-US" altLang="zh-CN" sz="1200" b="1" dirty="0"/>
              <a:t>=</a:t>
            </a:r>
            <a:r>
              <a:rPr kumimoji="0" lang="en-US" altLang="zh-CN" sz="1200" b="1" i="1" dirty="0"/>
              <a:t>M</a:t>
            </a:r>
            <a:r>
              <a:rPr kumimoji="0" lang="en-US" altLang="zh-CN" sz="1200" b="1" dirty="0"/>
              <a:t>+</a:t>
            </a:r>
            <a:r>
              <a:rPr kumimoji="0" lang="en-US" altLang="zh-CN" sz="1200" b="1" i="1" dirty="0"/>
              <a:t>M</a:t>
            </a:r>
            <a:r>
              <a:rPr kumimoji="0" lang="en-US" altLang="zh-CN" sz="1200" b="1" baseline="30000" dirty="0"/>
              <a:t>2</a:t>
            </a:r>
            <a:r>
              <a:rPr kumimoji="0" lang="en-US" altLang="zh-CN" sz="1200" b="1" dirty="0"/>
              <a:t>+</a:t>
            </a:r>
            <a:r>
              <a:rPr kumimoji="0" lang="en-US" altLang="zh-CN" sz="1200" b="1" i="1" dirty="0"/>
              <a:t>M</a:t>
            </a:r>
            <a:r>
              <a:rPr kumimoji="0" lang="en-US" altLang="zh-CN" sz="1200" b="1" baseline="30000" dirty="0"/>
              <a:t>3</a:t>
            </a:r>
            <a:r>
              <a:rPr kumimoji="0" lang="en-US" altLang="zh-CN" sz="1200" b="1" dirty="0"/>
              <a:t>+…</a:t>
            </a:r>
          </a:p>
          <a:p>
            <a:pPr eaLnBrk="1" hangingPunct="1">
              <a:lnSpc>
                <a:spcPct val="130000"/>
              </a:lnSpc>
              <a:spcBef>
                <a:spcPct val="0"/>
              </a:spcBef>
              <a:buFontTx/>
              <a:buNone/>
            </a:pPr>
            <a:r>
              <a:rPr kumimoji="0" lang="zh-CN" altLang="en-US" sz="1200" b="1" dirty="0"/>
              <a:t>其中</a:t>
            </a:r>
            <a:r>
              <a:rPr kumimoji="0" lang="en-US" altLang="zh-CN" sz="1200" b="1" i="1" dirty="0"/>
              <a:t>E </a:t>
            </a:r>
            <a:r>
              <a:rPr kumimoji="0" lang="zh-CN" altLang="en-US" sz="1200" b="1" dirty="0"/>
              <a:t>是和 </a:t>
            </a:r>
            <a:r>
              <a:rPr kumimoji="0" lang="en-US" altLang="zh-CN" sz="1200" b="1" i="1" dirty="0"/>
              <a:t>M </a:t>
            </a:r>
            <a:r>
              <a:rPr kumimoji="0" lang="zh-CN" altLang="en-US" sz="1200" b="1" dirty="0"/>
              <a:t>同阶的单位矩阵</a:t>
            </a:r>
            <a:r>
              <a:rPr kumimoji="0" lang="en-US" altLang="zh-CN" sz="1200" b="1" dirty="0"/>
              <a:t>, </a:t>
            </a:r>
            <a:r>
              <a:rPr kumimoji="0" lang="en-US" altLang="zh-CN" sz="1200" b="1" i="1" dirty="0"/>
              <a:t>M</a:t>
            </a:r>
            <a:r>
              <a:rPr kumimoji="0" lang="en-US" altLang="zh-CN" sz="1200" b="1" dirty="0"/>
              <a:t>’</a:t>
            </a:r>
            <a:r>
              <a:rPr kumimoji="0" lang="zh-CN" altLang="en-US" sz="1200" b="1" dirty="0"/>
              <a:t>是 </a:t>
            </a:r>
            <a:r>
              <a:rPr kumimoji="0" lang="en-US" altLang="zh-CN" sz="1200" b="1" i="1" dirty="0"/>
              <a:t>M </a:t>
            </a:r>
            <a:r>
              <a:rPr kumimoji="0" lang="zh-CN" altLang="en-US" sz="1200" b="1" dirty="0"/>
              <a:t>的转置矩阵</a:t>
            </a:r>
            <a:r>
              <a:rPr kumimoji="0" lang="en-US" altLang="zh-CN" sz="1200" b="1" dirty="0"/>
              <a:t>. </a:t>
            </a:r>
          </a:p>
          <a:p>
            <a:pPr eaLnBrk="1" hangingPunct="1">
              <a:lnSpc>
                <a:spcPct val="130000"/>
              </a:lnSpc>
              <a:spcBef>
                <a:spcPct val="0"/>
              </a:spcBef>
              <a:buFontTx/>
              <a:buNone/>
            </a:pPr>
            <a:r>
              <a:rPr kumimoji="0" lang="zh-CN" altLang="en-US" sz="1200" b="1" dirty="0"/>
              <a:t>注意：在上述等式中矩阵的元素相加时使用逻辑加</a:t>
            </a:r>
            <a:r>
              <a:rPr kumimoji="0"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65</a:t>
            </a:fld>
            <a:endParaRPr lang="zh-CN" altLang="en-US"/>
          </a:p>
        </p:txBody>
      </p:sp>
    </p:spTree>
    <p:extLst>
      <p:ext uri="{BB962C8B-B14F-4D97-AF65-F5344CB8AC3E}">
        <p14:creationId xmlns:p14="http://schemas.microsoft.com/office/powerpoint/2010/main" val="37864001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无论是计算传递闭包、自反闭包、对称闭包还是其他类型的闭包，操作过程中保持节点集不变是常见的做法。这样做的主要原因是保持闭包操作的概念清晰和数学上的严谨性。在特殊情况下，如果需要改变节点集（例如，添加虚拟节点以简化某些计算），这通常会在特定上下文中明确指出。</a:t>
            </a:r>
            <a:endParaRPr lang="en-US" altLang="zh-CN" b="0" i="0" dirty="0">
              <a:solidFill>
                <a:srgbClr val="374151"/>
              </a:solidFill>
              <a:effectLst/>
              <a:latin typeface="Söhne"/>
            </a:endParaRPr>
          </a:p>
          <a:p>
            <a:endParaRPr lang="en-US" altLang="zh-CN" b="0" i="0" dirty="0">
              <a:solidFill>
                <a:srgbClr val="374151"/>
              </a:solidFill>
              <a:effectLst/>
              <a:latin typeface="Söhne"/>
            </a:endParaRPr>
          </a:p>
          <a:p>
            <a:pPr marL="0" indent="358775" eaLnBrk="1" hangingPunct="1">
              <a:lnSpc>
                <a:spcPct val="120000"/>
              </a:lnSpc>
              <a:spcBef>
                <a:spcPct val="0"/>
              </a:spcBef>
              <a:buFontTx/>
              <a:buNone/>
            </a:pPr>
            <a:r>
              <a:rPr kumimoji="0" lang="zh-CN" altLang="en-US" sz="1200" b="1" dirty="0"/>
              <a:t>设关系</a:t>
            </a:r>
            <a:r>
              <a:rPr kumimoji="0" lang="en-US" altLang="zh-CN" sz="1200" b="1" i="1" dirty="0"/>
              <a:t>R</a:t>
            </a:r>
            <a:r>
              <a:rPr kumimoji="0" lang="en-US" altLang="zh-CN" sz="1200" b="1" dirty="0"/>
              <a:t>, </a:t>
            </a:r>
            <a:r>
              <a:rPr kumimoji="0" lang="en-US" altLang="zh-CN" sz="1200" b="1" i="1" dirty="0"/>
              <a:t>r</a:t>
            </a:r>
            <a:r>
              <a:rPr kumimoji="0" lang="en-US" altLang="zh-CN" sz="1200" b="1" dirty="0"/>
              <a:t>(</a:t>
            </a:r>
            <a:r>
              <a:rPr kumimoji="0" lang="en-US" altLang="zh-CN" sz="1200" b="1" i="1" dirty="0"/>
              <a:t>R</a:t>
            </a:r>
            <a:r>
              <a:rPr kumimoji="0" lang="en-US" altLang="zh-CN" sz="1200" b="1" dirty="0"/>
              <a:t>), </a:t>
            </a:r>
            <a:r>
              <a:rPr kumimoji="0" lang="en-US" altLang="zh-CN" sz="1200" b="1" i="1" dirty="0"/>
              <a:t>s</a:t>
            </a:r>
            <a:r>
              <a:rPr kumimoji="0" lang="en-US" altLang="zh-CN" sz="1200" b="1" dirty="0"/>
              <a:t>(</a:t>
            </a:r>
            <a:r>
              <a:rPr kumimoji="0" lang="en-US" altLang="zh-CN" sz="1200" b="1" i="1" dirty="0"/>
              <a:t>R</a:t>
            </a:r>
            <a:r>
              <a:rPr kumimoji="0" lang="en-US" altLang="zh-CN" sz="1200" b="1" dirty="0"/>
              <a:t>), </a:t>
            </a:r>
            <a:r>
              <a:rPr kumimoji="0" lang="en-US" altLang="zh-CN" sz="1200" b="1" i="1" dirty="0"/>
              <a:t>t</a:t>
            </a:r>
            <a:r>
              <a:rPr kumimoji="0" lang="en-US" altLang="zh-CN" sz="1200" b="1" dirty="0"/>
              <a:t>(</a:t>
            </a:r>
            <a:r>
              <a:rPr kumimoji="0" lang="en-US" altLang="zh-CN" sz="1200" b="1" i="1" dirty="0"/>
              <a:t>R</a:t>
            </a:r>
            <a:r>
              <a:rPr kumimoji="0" lang="en-US" altLang="zh-CN" sz="1200" b="1" dirty="0"/>
              <a:t>)</a:t>
            </a:r>
            <a:r>
              <a:rPr kumimoji="0" lang="zh-CN" altLang="en-US" sz="1200" b="1" dirty="0"/>
              <a:t>的关系图分别记为</a:t>
            </a:r>
            <a:r>
              <a:rPr kumimoji="0" lang="en-US" altLang="zh-CN" sz="1200" b="1" i="1" dirty="0"/>
              <a:t>G</a:t>
            </a:r>
            <a:r>
              <a:rPr kumimoji="0" lang="en-US" altLang="zh-CN" sz="1200" b="1" dirty="0"/>
              <a:t>, </a:t>
            </a:r>
            <a:r>
              <a:rPr kumimoji="0" lang="en-US" altLang="zh-CN" sz="1200" b="1" i="1" dirty="0"/>
              <a:t>G</a:t>
            </a:r>
            <a:r>
              <a:rPr kumimoji="0" lang="en-US" altLang="zh-CN" sz="1200" b="1" i="1" baseline="-25000" dirty="0"/>
              <a:t>r</a:t>
            </a:r>
            <a:r>
              <a:rPr kumimoji="0" lang="en-US" altLang="zh-CN" sz="1200" b="1" dirty="0"/>
              <a:t>, </a:t>
            </a:r>
            <a:r>
              <a:rPr kumimoji="0" lang="en-US" altLang="zh-CN" sz="1200" b="1" i="1" dirty="0" err="1"/>
              <a:t>G</a:t>
            </a:r>
            <a:r>
              <a:rPr kumimoji="0" lang="en-US" altLang="zh-CN" sz="1200" b="1" i="1" baseline="-25000" dirty="0" err="1"/>
              <a:t>s</a:t>
            </a:r>
            <a:r>
              <a:rPr kumimoji="0" lang="en-US" altLang="zh-CN" sz="1200" b="1" dirty="0"/>
              <a:t>, </a:t>
            </a:r>
            <a:r>
              <a:rPr kumimoji="0" lang="en-US" altLang="zh-CN" sz="1200" b="1" i="1" dirty="0"/>
              <a:t>G</a:t>
            </a:r>
            <a:r>
              <a:rPr kumimoji="0" lang="en-US" altLang="zh-CN" sz="1200" b="1" i="1" baseline="-25000" dirty="0"/>
              <a:t>t </a:t>
            </a:r>
            <a:r>
              <a:rPr kumimoji="0" lang="en-US" altLang="zh-CN" sz="1200" b="1" dirty="0"/>
              <a:t>, </a:t>
            </a:r>
            <a:r>
              <a:rPr kumimoji="0" lang="zh-CN" altLang="en-US" sz="1200" b="1" dirty="0"/>
              <a:t>则</a:t>
            </a:r>
            <a:r>
              <a:rPr kumimoji="0" lang="en-US" altLang="zh-CN" sz="1200" b="1" i="1" dirty="0"/>
              <a:t>G</a:t>
            </a:r>
            <a:r>
              <a:rPr kumimoji="0" lang="en-US" altLang="zh-CN" sz="1200" b="1" i="1" baseline="-25000" dirty="0"/>
              <a:t>r</a:t>
            </a:r>
            <a:r>
              <a:rPr kumimoji="0" lang="en-US" altLang="zh-CN" sz="1200" b="1" dirty="0"/>
              <a:t>, </a:t>
            </a:r>
            <a:r>
              <a:rPr kumimoji="0" lang="en-US" altLang="zh-CN" sz="1200" b="1" i="1" dirty="0" err="1"/>
              <a:t>G</a:t>
            </a:r>
            <a:r>
              <a:rPr kumimoji="0" lang="en-US" altLang="zh-CN" sz="1200" b="1" i="1" baseline="-25000" dirty="0" err="1"/>
              <a:t>s</a:t>
            </a:r>
            <a:r>
              <a:rPr kumimoji="0" lang="en-US" altLang="zh-CN" sz="1200" b="1" dirty="0"/>
              <a:t>, </a:t>
            </a:r>
            <a:r>
              <a:rPr kumimoji="0" lang="en-US" altLang="zh-CN" sz="1200" b="1" i="1" dirty="0"/>
              <a:t>G</a:t>
            </a:r>
            <a:r>
              <a:rPr kumimoji="0" lang="en-US" altLang="zh-CN" sz="1200" b="1" i="1" baseline="-25000" dirty="0"/>
              <a:t>t </a:t>
            </a:r>
            <a:r>
              <a:rPr kumimoji="0" lang="zh-CN" altLang="en-US" sz="1200" b="1" dirty="0"/>
              <a:t>的顶点集与</a:t>
            </a:r>
            <a:r>
              <a:rPr kumimoji="0" lang="en-US" altLang="zh-CN" sz="1200" b="1" i="1" dirty="0"/>
              <a:t>G </a:t>
            </a:r>
            <a:r>
              <a:rPr kumimoji="0" lang="zh-CN" altLang="en-US" sz="1200" b="1" dirty="0"/>
              <a:t>的顶点集相等</a:t>
            </a:r>
            <a:r>
              <a:rPr kumimoji="0" lang="en-US" altLang="zh-CN" sz="1200" b="1" dirty="0"/>
              <a:t>. </a:t>
            </a:r>
          </a:p>
          <a:p>
            <a:pPr marL="0" indent="358775" eaLnBrk="1" hangingPunct="1">
              <a:lnSpc>
                <a:spcPct val="120000"/>
              </a:lnSpc>
              <a:spcBef>
                <a:spcPct val="0"/>
              </a:spcBef>
              <a:buFontTx/>
              <a:buNone/>
            </a:pPr>
            <a:r>
              <a:rPr kumimoji="0" lang="zh-CN" altLang="en-US" sz="1200" b="1" dirty="0"/>
              <a:t>除了</a:t>
            </a:r>
            <a:r>
              <a:rPr kumimoji="0" lang="en-US" altLang="zh-CN" sz="1200" b="1" i="1" dirty="0"/>
              <a:t>G </a:t>
            </a:r>
            <a:r>
              <a:rPr kumimoji="0" lang="zh-CN" altLang="en-US" sz="1200" b="1" dirty="0"/>
              <a:t>的边以外</a:t>
            </a:r>
            <a:r>
              <a:rPr kumimoji="0" lang="en-US" altLang="zh-CN" sz="1200" b="1" dirty="0"/>
              <a:t>, </a:t>
            </a:r>
            <a:r>
              <a:rPr kumimoji="0" lang="zh-CN" altLang="en-US" sz="1200" b="1" dirty="0"/>
              <a:t>以下述方法添加新的边：</a:t>
            </a:r>
            <a:endParaRPr kumimoji="0" lang="en-US" altLang="zh-CN" sz="1200" b="1" dirty="0"/>
          </a:p>
          <a:p>
            <a:pPr marL="0" indent="358775" eaLnBrk="1" hangingPunct="1">
              <a:lnSpc>
                <a:spcPct val="120000"/>
              </a:lnSpc>
              <a:spcBef>
                <a:spcPct val="0"/>
              </a:spcBef>
              <a:buFontTx/>
              <a:buNone/>
            </a:pPr>
            <a:r>
              <a:rPr kumimoji="0" lang="en-US" altLang="zh-CN" sz="1200" b="1" dirty="0"/>
              <a:t> </a:t>
            </a:r>
          </a:p>
          <a:p>
            <a:pPr marL="0" indent="358775" eaLnBrk="1" hangingPunct="1">
              <a:lnSpc>
                <a:spcPct val="120000"/>
              </a:lnSpc>
              <a:spcBef>
                <a:spcPct val="0"/>
              </a:spcBef>
              <a:buFontTx/>
              <a:buNone/>
            </a:pPr>
            <a:r>
              <a:rPr lang="zh-CN" altLang="en-US" b="1" dirty="0"/>
              <a:t>考察</a:t>
            </a:r>
            <a:r>
              <a:rPr lang="en-US" altLang="zh-CN" b="1" dirty="0"/>
              <a:t>G </a:t>
            </a:r>
            <a:r>
              <a:rPr lang="zh-CN" altLang="en-US" b="1" dirty="0"/>
              <a:t>的每个顶点</a:t>
            </a:r>
            <a:r>
              <a:rPr lang="en-US" altLang="zh-CN" b="1" dirty="0"/>
              <a:t>, </a:t>
            </a:r>
            <a:r>
              <a:rPr lang="zh-CN" altLang="en-US" b="1" dirty="0"/>
              <a:t>如果没有环就加上一个环</a:t>
            </a:r>
            <a:r>
              <a:rPr lang="en-US" altLang="zh-CN" b="1" dirty="0"/>
              <a:t>. </a:t>
            </a:r>
            <a:r>
              <a:rPr lang="zh-CN" altLang="en-US" b="1" dirty="0"/>
              <a:t>最终得到的是</a:t>
            </a:r>
            <a:r>
              <a:rPr kumimoji="0" lang="en-US" altLang="zh-CN" sz="1200" b="1" i="1" dirty="0"/>
              <a:t>G</a:t>
            </a:r>
            <a:r>
              <a:rPr kumimoji="0" lang="en-US" altLang="zh-CN" sz="1200" b="1" i="1" baseline="-25000" dirty="0"/>
              <a:t>r</a:t>
            </a:r>
            <a:r>
              <a:rPr lang="en-US" altLang="zh-CN" b="1" dirty="0"/>
              <a:t>. </a:t>
            </a:r>
          </a:p>
          <a:p>
            <a:pPr marL="0" indent="358775" eaLnBrk="1" hangingPunct="1">
              <a:lnSpc>
                <a:spcPct val="120000"/>
              </a:lnSpc>
              <a:spcBef>
                <a:spcPct val="0"/>
              </a:spcBef>
              <a:buFontTx/>
              <a:buNone/>
            </a:pPr>
            <a:r>
              <a:rPr lang="zh-CN" altLang="en-US" b="1" dirty="0"/>
              <a:t>考察</a:t>
            </a:r>
            <a:r>
              <a:rPr lang="en-US" altLang="zh-CN" b="1" dirty="0"/>
              <a:t>G </a:t>
            </a:r>
            <a:r>
              <a:rPr lang="zh-CN" altLang="en-US" b="1" dirty="0"/>
              <a:t>的每一条边</a:t>
            </a:r>
            <a:r>
              <a:rPr lang="en-US" altLang="zh-CN" b="1" dirty="0"/>
              <a:t>, </a:t>
            </a:r>
            <a:r>
              <a:rPr lang="zh-CN" altLang="en-US" b="1" dirty="0"/>
              <a:t>如果有一条 </a:t>
            </a:r>
            <a:r>
              <a:rPr kumimoji="0" lang="en-US" altLang="zh-CN" sz="1200" b="1" i="1" dirty="0"/>
              <a:t>x</a:t>
            </a:r>
            <a:r>
              <a:rPr kumimoji="0" lang="en-US" altLang="zh-CN" sz="1200" b="1" i="1" baseline="-25000" dirty="0"/>
              <a:t>i</a:t>
            </a:r>
            <a:r>
              <a:rPr lang="en-US" altLang="zh-CN" b="1" dirty="0"/>
              <a:t> </a:t>
            </a:r>
            <a:r>
              <a:rPr lang="zh-CN" altLang="en-US" b="1" dirty="0"/>
              <a:t>到 </a:t>
            </a:r>
            <a:r>
              <a:rPr kumimoji="0" lang="en-US" altLang="zh-CN" sz="1200" b="1" i="1" dirty="0"/>
              <a:t>x</a:t>
            </a:r>
            <a:r>
              <a:rPr kumimoji="0" lang="en-US" altLang="zh-CN" sz="1200" b="1" i="1" baseline="-25000" dirty="0"/>
              <a:t>i</a:t>
            </a:r>
            <a:r>
              <a:rPr lang="zh-CN" altLang="en-US" b="1" dirty="0"/>
              <a:t>的单向边</a:t>
            </a:r>
            <a:r>
              <a:rPr lang="en-US" altLang="zh-CN" b="1" dirty="0"/>
              <a:t>, </a:t>
            </a:r>
            <a:r>
              <a:rPr lang="en-US" altLang="zh-CN" b="1" dirty="0" err="1"/>
              <a:t>i≠j</a:t>
            </a:r>
            <a:r>
              <a:rPr lang="en-US" altLang="zh-CN" b="1" dirty="0"/>
              <a:t>, </a:t>
            </a:r>
            <a:r>
              <a:rPr lang="zh-CN" altLang="en-US" b="1" dirty="0"/>
              <a:t>则在</a:t>
            </a:r>
            <a:r>
              <a:rPr lang="en-US" altLang="zh-CN" b="1" dirty="0"/>
              <a:t>G</a:t>
            </a:r>
            <a:r>
              <a:rPr lang="zh-CN" altLang="en-US" b="1" dirty="0"/>
              <a:t>中加一条 </a:t>
            </a:r>
            <a:r>
              <a:rPr kumimoji="0" lang="en-US" altLang="zh-CN" sz="1200" b="1" i="1" dirty="0"/>
              <a:t>x</a:t>
            </a:r>
            <a:r>
              <a:rPr kumimoji="0" lang="en-US" altLang="zh-CN" sz="1200" b="1" i="1" baseline="-25000" dirty="0"/>
              <a:t>i</a:t>
            </a:r>
            <a:r>
              <a:rPr lang="zh-CN" altLang="en-US" b="1" dirty="0"/>
              <a:t>到 </a:t>
            </a:r>
            <a:r>
              <a:rPr kumimoji="0" lang="en-US" altLang="zh-CN" sz="1200" b="1" i="1" dirty="0"/>
              <a:t>x</a:t>
            </a:r>
            <a:r>
              <a:rPr kumimoji="0" lang="en-US" altLang="zh-CN" sz="1200" b="1" i="1" baseline="-25000" dirty="0"/>
              <a:t>i</a:t>
            </a:r>
            <a:r>
              <a:rPr lang="en-US" altLang="zh-CN" b="1" dirty="0"/>
              <a:t> </a:t>
            </a:r>
            <a:r>
              <a:rPr lang="zh-CN" altLang="en-US" b="1" dirty="0"/>
              <a:t>的反方向边</a:t>
            </a:r>
            <a:r>
              <a:rPr lang="en-US" altLang="zh-CN" b="1" dirty="0"/>
              <a:t>. </a:t>
            </a:r>
            <a:r>
              <a:rPr lang="zh-CN" altLang="en-US" b="1" dirty="0"/>
              <a:t>最终得到</a:t>
            </a:r>
            <a:r>
              <a:rPr kumimoji="0" lang="en-US" altLang="zh-CN" sz="1200" b="1" i="1" dirty="0" err="1"/>
              <a:t>G</a:t>
            </a:r>
            <a:r>
              <a:rPr kumimoji="0" lang="en-US" altLang="zh-CN" sz="1200" b="1" i="1" baseline="-25000" dirty="0" err="1"/>
              <a:t>s</a:t>
            </a:r>
            <a:r>
              <a:rPr lang="en-US" altLang="zh-CN" b="1" dirty="0"/>
              <a:t>. </a:t>
            </a:r>
          </a:p>
          <a:p>
            <a:pPr marL="0" indent="403225" eaLnBrk="1" hangingPunct="1">
              <a:lnSpc>
                <a:spcPct val="120000"/>
              </a:lnSpc>
              <a:spcBef>
                <a:spcPct val="0"/>
              </a:spcBef>
              <a:buFontTx/>
              <a:buNone/>
            </a:pPr>
            <a:r>
              <a:rPr kumimoji="0" lang="zh-CN" altLang="en-US" sz="1200" b="1" dirty="0"/>
              <a:t>考察</a:t>
            </a:r>
            <a:r>
              <a:rPr kumimoji="0" lang="en-US" altLang="zh-CN" sz="1200" b="1" i="1" dirty="0"/>
              <a:t>G </a:t>
            </a:r>
            <a:r>
              <a:rPr kumimoji="0" lang="zh-CN" altLang="en-US" sz="1200" b="1" dirty="0"/>
              <a:t>的每个顶点 </a:t>
            </a:r>
            <a:r>
              <a:rPr kumimoji="0" lang="en-US" altLang="zh-CN" sz="1200" b="1" i="1" dirty="0"/>
              <a:t>x</a:t>
            </a:r>
            <a:r>
              <a:rPr kumimoji="0" lang="en-US" altLang="zh-CN" sz="1200" b="1" i="1" baseline="-25000" dirty="0"/>
              <a:t>i</a:t>
            </a:r>
            <a:r>
              <a:rPr kumimoji="0" lang="en-US" altLang="zh-CN" sz="1200" b="1" dirty="0"/>
              <a:t>, </a:t>
            </a:r>
            <a:r>
              <a:rPr kumimoji="0" lang="zh-CN" altLang="en-US" sz="1200" b="1" dirty="0"/>
              <a:t>找从 </a:t>
            </a:r>
            <a:r>
              <a:rPr kumimoji="0" lang="en-US" altLang="zh-CN" sz="1200" b="1" i="1" dirty="0"/>
              <a:t>x</a:t>
            </a:r>
            <a:r>
              <a:rPr kumimoji="0" lang="en-US" altLang="zh-CN" sz="1200" b="1" i="1" baseline="-25000" dirty="0"/>
              <a:t>i </a:t>
            </a:r>
            <a:r>
              <a:rPr kumimoji="0" lang="zh-CN" altLang="en-US" sz="1200" b="1" dirty="0"/>
              <a:t>出发的每一条路径，如果从 </a:t>
            </a:r>
            <a:r>
              <a:rPr kumimoji="0" lang="en-US" altLang="zh-CN" sz="1200" b="1" i="1" dirty="0"/>
              <a:t>x</a:t>
            </a:r>
            <a:r>
              <a:rPr kumimoji="0" lang="en-US" altLang="zh-CN" sz="1200" b="1" i="1" baseline="-25000" dirty="0"/>
              <a:t>i  </a:t>
            </a:r>
            <a:r>
              <a:rPr kumimoji="0" lang="zh-CN" altLang="en-US" sz="1200" b="1" dirty="0"/>
              <a:t>到路径中的任何结点 </a:t>
            </a:r>
            <a:r>
              <a:rPr kumimoji="0" lang="en-US" altLang="zh-CN" sz="1200" b="1" i="1" dirty="0" err="1"/>
              <a:t>x</a:t>
            </a:r>
            <a:r>
              <a:rPr kumimoji="0" lang="en-US" altLang="zh-CN" sz="1200" b="1" i="1" baseline="-25000" dirty="0" err="1"/>
              <a:t>j</a:t>
            </a:r>
            <a:r>
              <a:rPr kumimoji="0" lang="en-US" altLang="zh-CN" sz="1200" b="1" i="1" baseline="-25000" dirty="0"/>
              <a:t> </a:t>
            </a:r>
            <a:r>
              <a:rPr kumimoji="0" lang="zh-CN" altLang="en-US" sz="1200" b="1" dirty="0"/>
              <a:t>没有边，就加上这条边</a:t>
            </a:r>
            <a:r>
              <a:rPr kumimoji="0" lang="en-US" altLang="zh-CN" sz="1200" b="1" dirty="0"/>
              <a:t>. </a:t>
            </a:r>
            <a:r>
              <a:rPr kumimoji="0" lang="zh-CN" altLang="en-US" sz="1200" b="1" dirty="0"/>
              <a:t>当检查完所有的顶点后就得到图</a:t>
            </a:r>
            <a:r>
              <a:rPr kumimoji="0" lang="en-US" altLang="zh-CN" sz="1200" b="1" i="1" dirty="0"/>
              <a:t>G</a:t>
            </a:r>
            <a:r>
              <a:rPr kumimoji="0" lang="en-US" altLang="zh-CN" sz="1200" b="1" i="1" baseline="-25000" dirty="0"/>
              <a:t>t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66</a:t>
            </a:fld>
            <a:endParaRPr lang="zh-CN" altLang="en-US"/>
          </a:p>
        </p:txBody>
      </p:sp>
    </p:spTree>
    <p:extLst>
      <p:ext uri="{BB962C8B-B14F-4D97-AF65-F5344CB8AC3E}">
        <p14:creationId xmlns:p14="http://schemas.microsoft.com/office/powerpoint/2010/main" val="6587802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lang="en-US" dirty="0"/>
              <a:t>Example </a:t>
            </a:r>
            <a:r>
              <a:rPr kumimoji="0" lang="en-US" altLang="zh-CN" sz="1200" b="1" dirty="0">
                <a:solidFill>
                  <a:srgbClr val="00B0F0"/>
                </a:solidFill>
              </a:rPr>
              <a:t>1</a:t>
            </a:r>
            <a:r>
              <a:rPr kumimoji="0" lang="en-US" altLang="zh-CN" sz="1200" b="1" dirty="0"/>
              <a:t>  </a:t>
            </a:r>
            <a:r>
              <a:rPr kumimoji="0" lang="zh-CN" altLang="en-US" sz="1200" b="1" dirty="0"/>
              <a:t>设</a:t>
            </a:r>
            <a:r>
              <a:rPr kumimoji="0" lang="en-US" altLang="zh-CN" sz="1200" b="1" i="1" dirty="0"/>
              <a:t>A</a:t>
            </a:r>
            <a:r>
              <a:rPr kumimoji="0" lang="en-US" altLang="zh-CN" sz="1200" b="1" dirty="0"/>
              <a:t>={</a:t>
            </a:r>
            <a:r>
              <a:rPr kumimoji="0" lang="en-US" altLang="zh-CN" sz="1200" b="1" i="1" dirty="0" err="1"/>
              <a:t>a</a:t>
            </a:r>
            <a:r>
              <a:rPr kumimoji="0" lang="en-US" altLang="zh-CN" sz="1200" b="1" dirty="0" err="1"/>
              <a:t>,</a:t>
            </a:r>
            <a:r>
              <a:rPr kumimoji="0" lang="en-US" altLang="zh-CN" sz="1200" b="1" i="1" dirty="0" err="1"/>
              <a:t>b</a:t>
            </a:r>
            <a:r>
              <a:rPr kumimoji="0" lang="en-US" altLang="zh-CN" sz="1200" b="1" dirty="0" err="1"/>
              <a:t>,</a:t>
            </a:r>
            <a:r>
              <a:rPr kumimoji="0" lang="en-US" altLang="zh-CN" sz="1200" b="1" i="1" dirty="0" err="1"/>
              <a:t>c</a:t>
            </a:r>
            <a:r>
              <a:rPr kumimoji="0" lang="en-US" altLang="zh-CN" sz="1200" b="1" dirty="0" err="1"/>
              <a:t>,</a:t>
            </a:r>
            <a:r>
              <a:rPr kumimoji="0" lang="en-US" altLang="zh-CN" sz="1200" b="1" i="1" dirty="0" err="1"/>
              <a:t>d</a:t>
            </a:r>
            <a:r>
              <a:rPr kumimoji="0" lang="en-US" altLang="zh-CN" sz="1200" b="1" dirty="0"/>
              <a:t>}, </a:t>
            </a:r>
            <a:r>
              <a:rPr kumimoji="0" lang="en-US" altLang="zh-CN" sz="1200" b="1" i="1" dirty="0"/>
              <a:t>R</a:t>
            </a:r>
            <a:r>
              <a:rPr kumimoji="0" lang="en-US" altLang="zh-CN" sz="1200" b="1" dirty="0"/>
              <a:t>={&lt;</a:t>
            </a:r>
            <a:r>
              <a:rPr kumimoji="0" lang="en-US" altLang="zh-CN" sz="1200" b="1" i="1" dirty="0" err="1"/>
              <a:t>a</a:t>
            </a:r>
            <a:r>
              <a:rPr kumimoji="0" lang="en-US" altLang="zh-CN" sz="1200" b="1" dirty="0" err="1"/>
              <a:t>,</a:t>
            </a:r>
            <a:r>
              <a:rPr kumimoji="0" lang="en-US" altLang="zh-CN" sz="1200" b="1" i="1" dirty="0" err="1"/>
              <a:t>b</a:t>
            </a:r>
            <a:r>
              <a:rPr kumimoji="0" lang="en-US" altLang="zh-CN" sz="1200" b="1" dirty="0"/>
              <a:t>&gt;,&lt;</a:t>
            </a:r>
            <a:r>
              <a:rPr kumimoji="0" lang="en-US" altLang="zh-CN" sz="1200" b="1" i="1" dirty="0" err="1"/>
              <a:t>a</a:t>
            </a:r>
            <a:r>
              <a:rPr kumimoji="0" lang="en-US" altLang="zh-CN" sz="1200" b="1" dirty="0" err="1"/>
              <a:t>,</a:t>
            </a:r>
            <a:r>
              <a:rPr kumimoji="0" lang="en-US" altLang="zh-CN" sz="1200" b="1" i="1" dirty="0" err="1"/>
              <a:t>c</a:t>
            </a:r>
            <a:r>
              <a:rPr kumimoji="0" lang="en-US" altLang="zh-CN" sz="1200" b="1" dirty="0"/>
              <a:t>&gt;,&lt;</a:t>
            </a:r>
            <a:r>
              <a:rPr kumimoji="0" lang="en-US" altLang="zh-CN" sz="1200" b="1" i="1" dirty="0" err="1"/>
              <a:t>b</a:t>
            </a:r>
            <a:r>
              <a:rPr kumimoji="0" lang="en-US" altLang="zh-CN" sz="1200" b="1" dirty="0" err="1"/>
              <a:t>,</a:t>
            </a:r>
            <a:r>
              <a:rPr kumimoji="0" lang="en-US" altLang="zh-CN" sz="1200" b="1" i="1" dirty="0" err="1"/>
              <a:t>c</a:t>
            </a:r>
            <a:r>
              <a:rPr kumimoji="0" lang="en-US" altLang="zh-CN" sz="1200" b="1" dirty="0"/>
              <a:t>&gt;,&lt;</a:t>
            </a:r>
            <a:r>
              <a:rPr kumimoji="0" lang="en-US" altLang="zh-CN" sz="1200" b="1" i="1" dirty="0" err="1"/>
              <a:t>c</a:t>
            </a:r>
            <a:r>
              <a:rPr kumimoji="0" lang="en-US" altLang="zh-CN" sz="1200" b="1" dirty="0" err="1"/>
              <a:t>,</a:t>
            </a:r>
            <a:r>
              <a:rPr kumimoji="0" lang="en-US" altLang="zh-CN" sz="1200" b="1" i="1" dirty="0" err="1"/>
              <a:t>d</a:t>
            </a:r>
            <a:r>
              <a:rPr kumimoji="0" lang="en-US" altLang="zh-CN" sz="1200" b="1" dirty="0"/>
              <a:t>&gt;,&lt;</a:t>
            </a:r>
            <a:r>
              <a:rPr kumimoji="0" lang="en-US" altLang="zh-CN" sz="1200" b="1" i="1" dirty="0" err="1"/>
              <a:t>d</a:t>
            </a:r>
            <a:r>
              <a:rPr kumimoji="0" lang="en-US" altLang="zh-CN" sz="1200" b="1" dirty="0" err="1"/>
              <a:t>,</a:t>
            </a:r>
            <a:r>
              <a:rPr kumimoji="0" lang="en-US" altLang="zh-CN" sz="1200" b="1" i="1" dirty="0" err="1"/>
              <a:t>c</a:t>
            </a:r>
            <a:r>
              <a:rPr kumimoji="0" lang="en-US" altLang="zh-CN" sz="1200" b="1" dirty="0"/>
              <a:t>&gt;},</a:t>
            </a:r>
            <a:endParaRPr kumimoji="0" lang="en-US" altLang="zh-CN" sz="1200" b="1" i="1" dirty="0"/>
          </a:p>
          <a:p>
            <a:pPr eaLnBrk="1" hangingPunct="1">
              <a:lnSpc>
                <a:spcPct val="130000"/>
              </a:lnSpc>
              <a:spcBef>
                <a:spcPct val="0"/>
              </a:spcBef>
              <a:buFontTx/>
              <a:buNone/>
            </a:pPr>
            <a:r>
              <a:rPr kumimoji="0" lang="en-US" altLang="zh-CN" sz="1200" b="1" i="1" dirty="0"/>
              <a:t>R</a:t>
            </a:r>
            <a:r>
              <a:rPr kumimoji="0" lang="zh-CN" altLang="en-US" sz="1200" b="1" dirty="0"/>
              <a:t>和 </a:t>
            </a:r>
            <a:r>
              <a:rPr kumimoji="0" lang="en-US" altLang="zh-CN" sz="1200" b="1" i="1" dirty="0"/>
              <a:t>r</a:t>
            </a:r>
            <a:r>
              <a:rPr kumimoji="0" lang="en-US" altLang="zh-CN" sz="1200" b="1" dirty="0"/>
              <a:t>(</a:t>
            </a:r>
            <a:r>
              <a:rPr kumimoji="0" lang="en-US" altLang="zh-CN" sz="1200" b="1" i="1" dirty="0"/>
              <a:t>R</a:t>
            </a:r>
            <a:r>
              <a:rPr kumimoji="0" lang="en-US" altLang="zh-CN" sz="1200" b="1" dirty="0"/>
              <a:t>), </a:t>
            </a:r>
            <a:r>
              <a:rPr kumimoji="0" lang="en-US" altLang="zh-CN" sz="1200" b="1" i="1" dirty="0"/>
              <a:t>s</a:t>
            </a:r>
            <a:r>
              <a:rPr kumimoji="0" lang="en-US" altLang="zh-CN" sz="1200" b="1" dirty="0"/>
              <a:t>(</a:t>
            </a:r>
            <a:r>
              <a:rPr kumimoji="0" lang="en-US" altLang="zh-CN" sz="1200" b="1" i="1" dirty="0"/>
              <a:t>R</a:t>
            </a:r>
            <a:r>
              <a:rPr kumimoji="0" lang="en-US" altLang="zh-CN" sz="1200" b="1" dirty="0"/>
              <a:t>), </a:t>
            </a:r>
            <a:r>
              <a:rPr kumimoji="0" lang="en-US" altLang="zh-CN" sz="1200" b="1" i="1" dirty="0"/>
              <a:t>t</a:t>
            </a:r>
            <a:r>
              <a:rPr kumimoji="0" lang="en-US" altLang="zh-CN" sz="1200" b="1" dirty="0"/>
              <a:t>(</a:t>
            </a:r>
            <a:r>
              <a:rPr kumimoji="0" lang="en-US" altLang="zh-CN" sz="1200" b="1" i="1" dirty="0"/>
              <a:t>R</a:t>
            </a:r>
            <a:r>
              <a:rPr kumimoji="0" lang="en-US" altLang="zh-CN" sz="1200" b="1" dirty="0"/>
              <a:t>)</a:t>
            </a:r>
            <a:r>
              <a:rPr kumimoji="0" lang="zh-CN" altLang="en-US" sz="1200" b="1" dirty="0"/>
              <a:t>的关系图如下图所示</a:t>
            </a:r>
            <a:r>
              <a:rPr kumimoji="0"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67</a:t>
            </a:fld>
            <a:endParaRPr lang="zh-CN" altLang="en-US"/>
          </a:p>
        </p:txBody>
      </p:sp>
    </p:spTree>
    <p:extLst>
      <p:ext uri="{BB962C8B-B14F-4D97-AF65-F5344CB8AC3E}">
        <p14:creationId xmlns:p14="http://schemas.microsoft.com/office/powerpoint/2010/main" val="24934485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en-US" altLang="zh-CN" dirty="0"/>
              <a:t>Dynamic Programming </a:t>
            </a:r>
            <a:endParaRPr lang="en-US" altLang="zh-CN" sz="1200" b="1" dirty="0"/>
          </a:p>
          <a:p>
            <a:pPr eaLnBrk="1" hangingPunct="1">
              <a:buFontTx/>
              <a:buNone/>
            </a:pPr>
            <a:r>
              <a:rPr lang="zh-CN" altLang="en-US" sz="1200" b="1" dirty="0"/>
              <a:t>算法思路：</a:t>
            </a:r>
          </a:p>
          <a:p>
            <a:pPr eaLnBrk="1" hangingPunct="1">
              <a:buFontTx/>
              <a:buNone/>
            </a:pPr>
            <a:r>
              <a:rPr lang="zh-CN" altLang="en-US" sz="1200" b="1" dirty="0"/>
              <a:t>考虑 </a:t>
            </a:r>
            <a:r>
              <a:rPr lang="en-US" altLang="zh-CN" sz="1200" b="1" i="1" dirty="0"/>
              <a:t>n</a:t>
            </a:r>
            <a:r>
              <a:rPr lang="en-US" altLang="zh-CN" sz="1200" b="1" dirty="0"/>
              <a:t>+1</a:t>
            </a:r>
            <a:r>
              <a:rPr lang="zh-CN" altLang="en-US" sz="1200" b="1" dirty="0"/>
              <a:t>个矩阵的序列</a:t>
            </a:r>
            <a:r>
              <a:rPr lang="en-US" altLang="zh-CN" sz="1200" b="1" i="1" dirty="0"/>
              <a:t>M</a:t>
            </a:r>
            <a:r>
              <a:rPr lang="en-US" altLang="zh-CN" sz="1200" b="1" baseline="-25000" dirty="0"/>
              <a:t>0</a:t>
            </a:r>
            <a:r>
              <a:rPr lang="en-US" altLang="zh-CN" sz="1200" b="1" dirty="0"/>
              <a:t>, </a:t>
            </a:r>
            <a:r>
              <a:rPr lang="en-US" altLang="zh-CN" sz="1200" b="1" i="1" dirty="0"/>
              <a:t>M</a:t>
            </a:r>
            <a:r>
              <a:rPr lang="en-US" altLang="zh-CN" sz="1200" b="1" baseline="-25000" dirty="0"/>
              <a:t>1</a:t>
            </a:r>
            <a:r>
              <a:rPr lang="en-US" altLang="zh-CN" sz="1200" b="1" dirty="0"/>
              <a:t>, …, </a:t>
            </a:r>
            <a:r>
              <a:rPr lang="en-US" altLang="zh-CN" sz="1200" b="1" i="1" dirty="0"/>
              <a:t>M</a:t>
            </a:r>
            <a:r>
              <a:rPr lang="en-US" altLang="zh-CN" sz="1200" b="1" i="1" baseline="-25000" dirty="0"/>
              <a:t>n</a:t>
            </a:r>
            <a:r>
              <a:rPr lang="en-US" altLang="zh-CN" sz="1200" b="1" dirty="0"/>
              <a:t>, </a:t>
            </a:r>
            <a:r>
              <a:rPr lang="zh-CN" altLang="en-US" sz="1200" b="1" dirty="0"/>
              <a:t>将矩阵 </a:t>
            </a:r>
            <a:r>
              <a:rPr lang="en-US" altLang="zh-CN" sz="1200" b="1" i="1" dirty="0"/>
              <a:t>M</a:t>
            </a:r>
            <a:r>
              <a:rPr lang="en-US" altLang="zh-CN" sz="1200" b="1" i="1" baseline="-25000" dirty="0"/>
              <a:t>k </a:t>
            </a:r>
            <a:r>
              <a:rPr lang="zh-CN" altLang="en-US" sz="1200" b="1" dirty="0"/>
              <a:t>的 </a:t>
            </a:r>
            <a:r>
              <a:rPr lang="en-US" altLang="zh-CN" sz="1200" b="1" i="1" dirty="0" err="1"/>
              <a:t>i</a:t>
            </a:r>
            <a:r>
              <a:rPr lang="en-US" altLang="zh-CN" sz="1200" b="1" i="1" dirty="0"/>
              <a:t> </a:t>
            </a:r>
            <a:r>
              <a:rPr lang="zh-CN" altLang="en-US" sz="1200" b="1" dirty="0"/>
              <a:t>行 </a:t>
            </a:r>
            <a:r>
              <a:rPr lang="en-US" altLang="zh-CN" sz="1200" b="1" i="1" dirty="0"/>
              <a:t>j </a:t>
            </a:r>
          </a:p>
          <a:p>
            <a:pPr eaLnBrk="1" hangingPunct="1">
              <a:buFontTx/>
              <a:buNone/>
            </a:pPr>
            <a:r>
              <a:rPr lang="zh-CN" altLang="en-US" sz="1200" b="1" dirty="0"/>
              <a:t>列的元素记作</a:t>
            </a:r>
            <a:r>
              <a:rPr lang="en-US" altLang="zh-CN" sz="1200" b="1" i="1" dirty="0"/>
              <a:t>M</a:t>
            </a:r>
            <a:r>
              <a:rPr lang="en-US" altLang="zh-CN" sz="1200" b="1" i="1" baseline="-25000" dirty="0"/>
              <a:t>k</a:t>
            </a:r>
            <a:r>
              <a:rPr lang="en-US" altLang="zh-CN" sz="1200" b="1" dirty="0"/>
              <a:t>[</a:t>
            </a:r>
            <a:r>
              <a:rPr lang="en-US" altLang="zh-CN" sz="1200" b="1" i="1" dirty="0" err="1"/>
              <a:t>i</a:t>
            </a:r>
            <a:r>
              <a:rPr lang="en-US" altLang="zh-CN" sz="1200" b="1" dirty="0" err="1"/>
              <a:t>,</a:t>
            </a:r>
            <a:r>
              <a:rPr lang="en-US" altLang="zh-CN" sz="1200" b="1" i="1" dirty="0" err="1"/>
              <a:t>j</a:t>
            </a:r>
            <a:r>
              <a:rPr lang="en-US" altLang="zh-CN" sz="1200" b="1" dirty="0"/>
              <a:t>]. </a:t>
            </a:r>
            <a:r>
              <a:rPr lang="zh-CN" altLang="en-US" sz="1200" b="1" dirty="0"/>
              <a:t>对于</a:t>
            </a:r>
            <a:r>
              <a:rPr lang="en-US" altLang="zh-CN" sz="1200" b="1" i="1" dirty="0"/>
              <a:t>k</a:t>
            </a:r>
            <a:r>
              <a:rPr lang="en-US" altLang="zh-CN" sz="1200" b="1" dirty="0"/>
              <a:t>=0,1,…,</a:t>
            </a:r>
            <a:r>
              <a:rPr lang="en-US" altLang="zh-CN" sz="1200" b="1" i="1" dirty="0"/>
              <a:t>n</a:t>
            </a:r>
            <a:r>
              <a:rPr lang="en-US" altLang="zh-CN" sz="1200" b="1" dirty="0"/>
              <a:t>, </a:t>
            </a:r>
            <a:r>
              <a:rPr lang="en-US" altLang="zh-CN" sz="1200" b="1" i="1" dirty="0"/>
              <a:t>M</a:t>
            </a:r>
            <a:r>
              <a:rPr lang="en-US" altLang="zh-CN" sz="1200" b="1" i="1" baseline="-25000" dirty="0"/>
              <a:t>k</a:t>
            </a:r>
            <a:r>
              <a:rPr lang="en-US" altLang="zh-CN" sz="1200" b="1" dirty="0"/>
              <a:t>[</a:t>
            </a:r>
            <a:r>
              <a:rPr lang="en-US" altLang="zh-CN" sz="1200" b="1" i="1" dirty="0" err="1"/>
              <a:t>i</a:t>
            </a:r>
            <a:r>
              <a:rPr lang="en-US" altLang="zh-CN" sz="1200" b="1" dirty="0" err="1"/>
              <a:t>,</a:t>
            </a:r>
            <a:r>
              <a:rPr lang="en-US" altLang="zh-CN" sz="1200" b="1" i="1" dirty="0" err="1"/>
              <a:t>j</a:t>
            </a:r>
            <a:r>
              <a:rPr lang="en-US" altLang="zh-CN" sz="1200" b="1" dirty="0"/>
              <a:t>]=1</a:t>
            </a:r>
            <a:r>
              <a:rPr lang="zh-CN" altLang="en-US" sz="1200" b="1" dirty="0"/>
              <a:t>当且仅当在</a:t>
            </a:r>
          </a:p>
          <a:p>
            <a:pPr eaLnBrk="1" hangingPunct="1">
              <a:buFontTx/>
              <a:buNone/>
            </a:pPr>
            <a:r>
              <a:rPr lang="en-US" altLang="zh-CN" sz="1200" b="1" i="1" dirty="0"/>
              <a:t>R </a:t>
            </a:r>
            <a:r>
              <a:rPr lang="zh-CN" altLang="en-US" sz="1200" b="1" dirty="0"/>
              <a:t>的关系图中存在一条从 </a:t>
            </a:r>
            <a:r>
              <a:rPr lang="en-US" altLang="zh-CN" sz="1200" b="1" i="1" dirty="0"/>
              <a:t>x</a:t>
            </a:r>
            <a:r>
              <a:rPr lang="en-US" altLang="zh-CN" sz="1200" b="1" i="1" baseline="-25000" dirty="0"/>
              <a:t>i </a:t>
            </a:r>
            <a:r>
              <a:rPr lang="zh-CN" altLang="en-US" sz="1200" b="1" dirty="0"/>
              <a:t>到 </a:t>
            </a:r>
            <a:r>
              <a:rPr lang="en-US" altLang="zh-CN" sz="1200" b="1" i="1" dirty="0" err="1"/>
              <a:t>x</a:t>
            </a:r>
            <a:r>
              <a:rPr lang="en-US" altLang="zh-CN" sz="1200" b="1" i="1" baseline="-25000" dirty="0" err="1"/>
              <a:t>j</a:t>
            </a:r>
            <a:r>
              <a:rPr lang="en-US" altLang="zh-CN" sz="1200" b="1" i="1" baseline="-25000" dirty="0"/>
              <a:t> </a:t>
            </a:r>
            <a:r>
              <a:rPr lang="zh-CN" altLang="en-US" sz="1200" b="1" dirty="0"/>
              <a:t>的路径，并且这条路径</a:t>
            </a:r>
          </a:p>
          <a:p>
            <a:pPr eaLnBrk="1" hangingPunct="1">
              <a:buFontTx/>
              <a:buNone/>
            </a:pPr>
            <a:r>
              <a:rPr lang="zh-CN" altLang="en-US" sz="1200" b="1" dirty="0"/>
              <a:t>除端点外中间只经过</a:t>
            </a:r>
            <a:r>
              <a:rPr lang="en-US" altLang="zh-CN" sz="1200" b="1" dirty="0"/>
              <a:t>{</a:t>
            </a:r>
            <a:r>
              <a:rPr lang="en-US" altLang="zh-CN" sz="1200" b="1" i="1" dirty="0"/>
              <a:t>x</a:t>
            </a:r>
            <a:r>
              <a:rPr lang="en-US" altLang="zh-CN" sz="1200" b="1" baseline="-25000" dirty="0"/>
              <a:t>1</a:t>
            </a:r>
            <a:r>
              <a:rPr lang="en-US" altLang="zh-CN" sz="1200" b="1" dirty="0"/>
              <a:t>, </a:t>
            </a:r>
            <a:r>
              <a:rPr lang="en-US" altLang="zh-CN" sz="1200" b="1" i="1" dirty="0"/>
              <a:t>x</a:t>
            </a:r>
            <a:r>
              <a:rPr lang="en-US" altLang="zh-CN" sz="1200" b="1" baseline="-25000" dirty="0"/>
              <a:t>2</a:t>
            </a:r>
            <a:r>
              <a:rPr lang="en-US" altLang="zh-CN" sz="1200" b="1" dirty="0"/>
              <a:t>, …, </a:t>
            </a:r>
            <a:r>
              <a:rPr lang="en-US" altLang="zh-CN" sz="1200" b="1" i="1" dirty="0" err="1"/>
              <a:t>x</a:t>
            </a:r>
            <a:r>
              <a:rPr lang="en-US" altLang="zh-CN" sz="1200" b="1" i="1" baseline="-25000" dirty="0" err="1"/>
              <a:t>k</a:t>
            </a:r>
            <a:r>
              <a:rPr lang="en-US" altLang="zh-CN" sz="1200" b="1" dirty="0"/>
              <a:t>}</a:t>
            </a:r>
            <a:r>
              <a:rPr lang="zh-CN" altLang="en-US" sz="1200" b="1" dirty="0"/>
              <a:t>中的顶点</a:t>
            </a:r>
            <a:r>
              <a:rPr lang="en-US" altLang="zh-CN" sz="1200" b="1" dirty="0"/>
              <a:t>. </a:t>
            </a:r>
            <a:r>
              <a:rPr lang="zh-CN" altLang="en-US" sz="1200" b="1" dirty="0"/>
              <a:t>不难证明</a:t>
            </a:r>
            <a:r>
              <a:rPr lang="en-US" altLang="zh-CN" sz="1200" b="1" i="1" dirty="0"/>
              <a:t>M</a:t>
            </a:r>
            <a:r>
              <a:rPr lang="en-US" altLang="zh-CN" sz="1200" b="1" baseline="-25000" dirty="0"/>
              <a:t>0</a:t>
            </a:r>
          </a:p>
          <a:p>
            <a:pPr eaLnBrk="1" hangingPunct="1">
              <a:buFontTx/>
              <a:buNone/>
            </a:pPr>
            <a:r>
              <a:rPr lang="zh-CN" altLang="en-US" sz="1200" b="1" dirty="0"/>
              <a:t>就是</a:t>
            </a:r>
            <a:r>
              <a:rPr lang="en-US" altLang="zh-CN" sz="1200" b="1" i="1" dirty="0"/>
              <a:t>R </a:t>
            </a:r>
            <a:r>
              <a:rPr lang="zh-CN" altLang="en-US" sz="1200" b="1" dirty="0"/>
              <a:t>的关系矩阵，而 </a:t>
            </a:r>
            <a:r>
              <a:rPr lang="en-US" altLang="zh-CN" sz="1200" b="1" i="1" dirty="0"/>
              <a:t>M</a:t>
            </a:r>
            <a:r>
              <a:rPr lang="en-US" altLang="zh-CN" sz="1200" b="1" i="1" baseline="-25000" dirty="0"/>
              <a:t>n </a:t>
            </a:r>
            <a:r>
              <a:rPr lang="zh-CN" altLang="en-US" sz="1200" b="1" dirty="0"/>
              <a:t>就对应了</a:t>
            </a:r>
            <a:r>
              <a:rPr lang="en-US" altLang="zh-CN" sz="1200" b="1" i="1" dirty="0"/>
              <a:t>R </a:t>
            </a:r>
            <a:r>
              <a:rPr lang="zh-CN" altLang="en-US" sz="1200" b="1" dirty="0"/>
              <a:t>的传递闭包</a:t>
            </a:r>
            <a:r>
              <a:rPr lang="en-US" altLang="zh-CN" sz="1200" b="1" dirty="0"/>
              <a:t>. </a:t>
            </a:r>
          </a:p>
          <a:p>
            <a:pPr eaLnBrk="1" hangingPunct="1">
              <a:buFontTx/>
              <a:buNone/>
            </a:pPr>
            <a:endParaRPr lang="en-US" altLang="zh-CN" sz="1200" b="1" dirty="0">
              <a:solidFill>
                <a:srgbClr val="FF0000"/>
              </a:solidFill>
            </a:endParaRPr>
          </a:p>
          <a:p>
            <a:pPr eaLnBrk="1" hangingPunct="1">
              <a:buFontTx/>
              <a:buNone/>
            </a:pPr>
            <a:r>
              <a:rPr lang="en-US" altLang="zh-CN" sz="1200" b="1" dirty="0" err="1">
                <a:solidFill>
                  <a:srgbClr val="FF0000"/>
                </a:solidFill>
              </a:rPr>
              <a:t>Warshall</a:t>
            </a:r>
            <a:r>
              <a:rPr lang="zh-CN" altLang="en-US" sz="1200" b="1" dirty="0">
                <a:solidFill>
                  <a:srgbClr val="FF0000"/>
                </a:solidFill>
              </a:rPr>
              <a:t>算法</a:t>
            </a:r>
            <a:r>
              <a:rPr lang="zh-CN" altLang="en-US" sz="1200" b="1" dirty="0"/>
              <a:t>：</a:t>
            </a:r>
          </a:p>
          <a:p>
            <a:pPr eaLnBrk="1" hangingPunct="1">
              <a:buFontTx/>
              <a:buNone/>
            </a:pPr>
            <a:r>
              <a:rPr lang="zh-CN" altLang="en-US" sz="1200" b="1" dirty="0"/>
              <a:t>从</a:t>
            </a:r>
            <a:r>
              <a:rPr lang="en-US" altLang="zh-CN" sz="1200" b="1" i="1" dirty="0"/>
              <a:t>M</a:t>
            </a:r>
            <a:r>
              <a:rPr lang="en-US" altLang="zh-CN" sz="1200" b="1" baseline="-25000" dirty="0"/>
              <a:t>0</a:t>
            </a:r>
            <a:r>
              <a:rPr lang="zh-CN" altLang="en-US" sz="1200" b="1" dirty="0"/>
              <a:t>开始，顺序计算 </a:t>
            </a:r>
            <a:r>
              <a:rPr lang="en-US" altLang="zh-CN" sz="1200" b="1" i="1" dirty="0"/>
              <a:t>M</a:t>
            </a:r>
            <a:r>
              <a:rPr lang="en-US" altLang="zh-CN" sz="1200" b="1" baseline="-25000" dirty="0"/>
              <a:t>1</a:t>
            </a:r>
            <a:r>
              <a:rPr lang="en-US" altLang="zh-CN" sz="1200" b="1" dirty="0"/>
              <a:t>, </a:t>
            </a:r>
            <a:r>
              <a:rPr lang="en-US" altLang="zh-CN" sz="1200" b="1" i="1" dirty="0"/>
              <a:t>M</a:t>
            </a:r>
            <a:r>
              <a:rPr lang="en-US" altLang="zh-CN" sz="1200" b="1" baseline="-25000" dirty="0"/>
              <a:t>2</a:t>
            </a:r>
            <a:r>
              <a:rPr lang="en-US" altLang="zh-CN" sz="1200" b="1" dirty="0"/>
              <a:t>, …, </a:t>
            </a:r>
            <a:r>
              <a:rPr lang="zh-CN" altLang="en-US" sz="1200" b="1" dirty="0"/>
              <a:t>直到 </a:t>
            </a:r>
            <a:r>
              <a:rPr lang="en-US" altLang="zh-CN" sz="1200" b="1" i="1" dirty="0"/>
              <a:t>M</a:t>
            </a:r>
            <a:r>
              <a:rPr lang="en-US" altLang="zh-CN" sz="1200" b="1" i="1" baseline="-25000" dirty="0"/>
              <a:t>n </a:t>
            </a:r>
            <a:r>
              <a:rPr lang="zh-CN" altLang="en-US" sz="1200" b="1" dirty="0"/>
              <a:t>为止</a:t>
            </a:r>
            <a:r>
              <a:rPr lang="en-US" altLang="zh-CN" sz="1200" b="1" dirty="0"/>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68</a:t>
            </a:fld>
            <a:endParaRPr lang="zh-CN" altLang="en-US"/>
          </a:p>
        </p:txBody>
      </p:sp>
    </p:spTree>
    <p:extLst>
      <p:ext uri="{BB962C8B-B14F-4D97-AF65-F5344CB8AC3E}">
        <p14:creationId xmlns:p14="http://schemas.microsoft.com/office/powerpoint/2010/main" val="85810347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t>从 </a:t>
            </a:r>
            <a:r>
              <a:rPr lang="en-US" altLang="zh-CN" sz="1200" b="1" i="1" dirty="0"/>
              <a:t>M</a:t>
            </a:r>
            <a:r>
              <a:rPr lang="en-US" altLang="zh-CN" sz="1200" b="1" i="1" baseline="-25000" dirty="0"/>
              <a:t>k </a:t>
            </a:r>
            <a:r>
              <a:rPr lang="en-US" altLang="zh-CN" sz="1200" b="1" dirty="0"/>
              <a:t>[</a:t>
            </a:r>
            <a:r>
              <a:rPr lang="en-US" altLang="zh-CN" sz="1200" b="1" i="1" dirty="0" err="1"/>
              <a:t>i</a:t>
            </a:r>
            <a:r>
              <a:rPr lang="en-US" altLang="zh-CN" sz="1200" b="1" i="1" dirty="0"/>
              <a:t>, j</a:t>
            </a:r>
            <a:r>
              <a:rPr lang="en-US" altLang="zh-CN" sz="1200" b="1" dirty="0"/>
              <a:t>]</a:t>
            </a:r>
            <a:r>
              <a:rPr lang="en-US" altLang="zh-CN" sz="1200" b="1" i="1" dirty="0"/>
              <a:t> </a:t>
            </a:r>
            <a:r>
              <a:rPr lang="zh-CN" altLang="en-US" sz="1200" b="1" dirty="0"/>
              <a:t>计算 </a:t>
            </a:r>
            <a:r>
              <a:rPr lang="en-US" altLang="zh-CN" sz="1200" b="1" i="1" dirty="0"/>
              <a:t>M</a:t>
            </a:r>
            <a:r>
              <a:rPr lang="en-US" altLang="zh-CN" sz="1200" b="1" i="1" baseline="-25000" dirty="0"/>
              <a:t>k</a:t>
            </a:r>
            <a:r>
              <a:rPr lang="en-US" altLang="zh-CN" sz="1200" b="1" baseline="-25000" dirty="0"/>
              <a:t>+1</a:t>
            </a:r>
            <a:r>
              <a:rPr lang="en-US" altLang="zh-CN" sz="1200" b="1" dirty="0"/>
              <a:t>[</a:t>
            </a:r>
            <a:r>
              <a:rPr lang="en-US" altLang="zh-CN" sz="1200" b="1" i="1" dirty="0" err="1"/>
              <a:t>i</a:t>
            </a:r>
            <a:r>
              <a:rPr lang="en-US" altLang="zh-CN" sz="1200" b="1" dirty="0"/>
              <a:t>, </a:t>
            </a:r>
            <a:r>
              <a:rPr lang="en-US" altLang="zh-CN" sz="1200" b="1" i="1" dirty="0"/>
              <a:t>j</a:t>
            </a:r>
            <a:r>
              <a:rPr lang="en-US" altLang="zh-CN" sz="1200" b="1" dirty="0"/>
              <a:t>]:  </a:t>
            </a:r>
            <a:r>
              <a:rPr lang="en-US" altLang="zh-CN" sz="1200" b="1" i="1" dirty="0" err="1">
                <a:sym typeface="Symbol" panose="05050102010706020507" pitchFamily="18" charset="2"/>
              </a:rPr>
              <a:t>i</a:t>
            </a:r>
            <a:r>
              <a:rPr lang="en-US" altLang="zh-CN" sz="1200" b="1" dirty="0">
                <a:sym typeface="Symbol" panose="05050102010706020507" pitchFamily="18" charset="2"/>
              </a:rPr>
              <a:t>, </a:t>
            </a:r>
            <a:r>
              <a:rPr lang="en-US" altLang="zh-CN" sz="1200" b="1" i="1" dirty="0" err="1">
                <a:sym typeface="Symbol" panose="05050102010706020507" pitchFamily="18" charset="2"/>
              </a:rPr>
              <a:t>j</a:t>
            </a:r>
            <a:r>
              <a:rPr lang="en-US" altLang="zh-CN" sz="1200" b="1" dirty="0" err="1">
                <a:sym typeface="Symbol" panose="05050102010706020507" pitchFamily="18" charset="2"/>
              </a:rPr>
              <a:t></a:t>
            </a:r>
            <a:r>
              <a:rPr lang="en-US" altLang="zh-CN" sz="1200" b="1" i="1" dirty="0" err="1">
                <a:sym typeface="Symbol" panose="05050102010706020507" pitchFamily="18" charset="2"/>
              </a:rPr>
              <a:t>V</a:t>
            </a:r>
            <a:r>
              <a:rPr lang="en-US" altLang="zh-CN" sz="1200" b="1" dirty="0">
                <a:sym typeface="Symbol" panose="05050102010706020507" pitchFamily="18" charset="2"/>
              </a:rPr>
              <a:t>. </a:t>
            </a:r>
            <a:endParaRPr lang="en-US" altLang="zh-CN" sz="1200" b="1" dirty="0"/>
          </a:p>
          <a:p>
            <a:pPr eaLnBrk="1" hangingPunct="1">
              <a:buFontTx/>
              <a:buNone/>
            </a:pPr>
            <a:r>
              <a:rPr lang="zh-CN" altLang="en-US" sz="1200" b="1" dirty="0"/>
              <a:t>顶点集</a:t>
            </a:r>
            <a:r>
              <a:rPr lang="en-US" altLang="zh-CN" sz="1200" b="1" dirty="0"/>
              <a:t> </a:t>
            </a:r>
            <a:r>
              <a:rPr lang="en-US" altLang="zh-CN" sz="1200" b="1" i="1" dirty="0"/>
              <a:t>V</a:t>
            </a:r>
            <a:r>
              <a:rPr lang="en-US" altLang="zh-CN" sz="1200" b="1" baseline="-25000" dirty="0"/>
              <a:t>1</a:t>
            </a:r>
            <a:r>
              <a:rPr lang="en-US" altLang="zh-CN" sz="1200" b="1" dirty="0"/>
              <a:t>={1,2, …, </a:t>
            </a:r>
            <a:r>
              <a:rPr lang="en-US" altLang="zh-CN" sz="1200" b="1" i="1" dirty="0"/>
              <a:t>k</a:t>
            </a:r>
            <a:r>
              <a:rPr lang="en-US" altLang="zh-CN" sz="1200" b="1" dirty="0"/>
              <a:t>}, </a:t>
            </a:r>
            <a:r>
              <a:rPr lang="en-US" altLang="zh-CN" sz="1200" b="1" i="1" dirty="0"/>
              <a:t>V</a:t>
            </a:r>
            <a:r>
              <a:rPr lang="en-US" altLang="zh-CN" sz="1200" b="1" baseline="-25000" dirty="0"/>
              <a:t>2</a:t>
            </a:r>
            <a:r>
              <a:rPr lang="en-US" altLang="zh-CN" sz="1200" b="1" dirty="0"/>
              <a:t>={</a:t>
            </a:r>
            <a:r>
              <a:rPr lang="en-US" altLang="zh-CN" sz="1200" b="1" i="1" dirty="0"/>
              <a:t>k</a:t>
            </a:r>
            <a:r>
              <a:rPr lang="en-US" altLang="zh-CN" sz="1200" b="1" dirty="0"/>
              <a:t>+2, …, </a:t>
            </a:r>
            <a:r>
              <a:rPr lang="en-US" altLang="zh-CN" sz="1200" b="1" i="1" dirty="0"/>
              <a:t>n</a:t>
            </a:r>
            <a:r>
              <a:rPr lang="en-US" altLang="zh-CN" sz="1200" b="1" dirty="0"/>
              <a:t>},</a:t>
            </a:r>
            <a:r>
              <a:rPr lang="en-US" altLang="zh-CN" sz="1200" b="1" i="1" dirty="0"/>
              <a:t>V</a:t>
            </a:r>
            <a:r>
              <a:rPr lang="en-US" altLang="zh-CN" sz="1200" b="1" dirty="0"/>
              <a:t>=</a:t>
            </a:r>
            <a:r>
              <a:rPr lang="en-US" altLang="zh-CN" sz="1200" b="1" i="1" dirty="0"/>
              <a:t>V</a:t>
            </a:r>
            <a:r>
              <a:rPr lang="en-US" altLang="zh-CN" sz="1200" b="1" baseline="-25000" dirty="0"/>
              <a:t>1</a:t>
            </a:r>
            <a:r>
              <a:rPr lang="en-US" altLang="zh-CN" sz="1200" b="1" dirty="0">
                <a:sym typeface="Symbol" panose="05050102010706020507" pitchFamily="18" charset="2"/>
              </a:rPr>
              <a:t>{</a:t>
            </a:r>
            <a:r>
              <a:rPr lang="en-US" altLang="zh-CN" sz="1200" b="1" i="1" dirty="0">
                <a:sym typeface="Symbol" panose="05050102010706020507" pitchFamily="18" charset="2"/>
              </a:rPr>
              <a:t>k</a:t>
            </a:r>
            <a:r>
              <a:rPr lang="en-US" altLang="zh-CN" sz="1200" b="1" dirty="0">
                <a:sym typeface="Symbol" panose="05050102010706020507" pitchFamily="18" charset="2"/>
              </a:rPr>
              <a:t>+1}</a:t>
            </a:r>
            <a:r>
              <a:rPr lang="en-US" altLang="zh-CN" sz="1200" b="1" i="1" dirty="0">
                <a:sym typeface="Symbol" panose="05050102010706020507" pitchFamily="18" charset="2"/>
              </a:rPr>
              <a:t>V</a:t>
            </a:r>
            <a:r>
              <a:rPr lang="en-US" altLang="zh-CN" sz="1200" b="1" baseline="-25000" dirty="0">
                <a:sym typeface="Symbol" panose="05050102010706020507" pitchFamily="18" charset="2"/>
              </a:rPr>
              <a:t>2</a:t>
            </a:r>
            <a:r>
              <a:rPr lang="zh-CN" altLang="en-US" sz="1200" b="1" baseline="-25000" dirty="0">
                <a:sym typeface="Symbol" panose="05050102010706020507" pitchFamily="18" charset="2"/>
              </a:rPr>
              <a:t>，</a:t>
            </a:r>
          </a:p>
          <a:p>
            <a:pPr eaLnBrk="1" hangingPunct="1">
              <a:buFontTx/>
              <a:buNone/>
            </a:pPr>
            <a:r>
              <a:rPr lang="en-US" altLang="zh-CN" sz="1200" b="1" i="1" dirty="0"/>
              <a:t>M</a:t>
            </a:r>
            <a:r>
              <a:rPr lang="en-US" altLang="zh-CN" sz="1200" b="1" i="1" baseline="-25000" dirty="0"/>
              <a:t>k</a:t>
            </a:r>
            <a:r>
              <a:rPr lang="en-US" altLang="zh-CN" sz="1200" b="1" baseline="-25000" dirty="0"/>
              <a:t>+1</a:t>
            </a:r>
            <a:r>
              <a:rPr lang="en-US" altLang="zh-CN" sz="1200" b="1" dirty="0"/>
              <a:t>[</a:t>
            </a:r>
            <a:r>
              <a:rPr lang="en-US" altLang="zh-CN" sz="1200" b="1" i="1" dirty="0" err="1"/>
              <a:t>i,j</a:t>
            </a:r>
            <a:r>
              <a:rPr lang="en-US" altLang="zh-CN" sz="1200" b="1" dirty="0"/>
              <a:t>]=1</a:t>
            </a:r>
            <a:r>
              <a:rPr lang="en-US" altLang="zh-CN" sz="1200" b="1" dirty="0">
                <a:sym typeface="Symbol" panose="05050102010706020507" pitchFamily="18" charset="2"/>
              </a:rPr>
              <a:t></a:t>
            </a:r>
            <a:r>
              <a:rPr lang="en-US" altLang="zh-CN" sz="1200" b="1" dirty="0"/>
              <a:t> </a:t>
            </a:r>
            <a:r>
              <a:rPr lang="zh-CN" altLang="en-US" sz="1200" b="1" dirty="0"/>
              <a:t>存在从</a:t>
            </a:r>
            <a:r>
              <a:rPr lang="en-US" altLang="zh-CN" sz="1200" b="1" i="1" dirty="0" err="1"/>
              <a:t>i</a:t>
            </a:r>
            <a:r>
              <a:rPr lang="en-US" altLang="zh-CN" sz="1200" b="1" i="1" dirty="0"/>
              <a:t> </a:t>
            </a:r>
            <a:r>
              <a:rPr lang="zh-CN" altLang="en-US" sz="1200" b="1" dirty="0"/>
              <a:t>到 </a:t>
            </a:r>
            <a:r>
              <a:rPr lang="en-US" altLang="zh-CN" sz="1200" b="1" i="1" dirty="0"/>
              <a:t>j </a:t>
            </a:r>
            <a:r>
              <a:rPr lang="zh-CN" altLang="en-US" sz="1200" b="1" dirty="0"/>
              <a:t>中间只经过</a:t>
            </a:r>
            <a:r>
              <a:rPr lang="en-US" altLang="zh-CN" sz="1200" b="1" i="1" dirty="0"/>
              <a:t>V</a:t>
            </a:r>
            <a:r>
              <a:rPr lang="en-US" altLang="zh-CN" sz="1200" b="1" baseline="-25000" dirty="0"/>
              <a:t>1</a:t>
            </a:r>
            <a:r>
              <a:rPr lang="en-US" altLang="zh-CN" sz="1200" b="1" dirty="0">
                <a:sym typeface="Symbol" panose="05050102010706020507" pitchFamily="18" charset="2"/>
              </a:rPr>
              <a:t>{</a:t>
            </a:r>
            <a:r>
              <a:rPr lang="en-US" altLang="zh-CN" sz="1200" b="1" i="1" dirty="0">
                <a:sym typeface="Symbol" panose="05050102010706020507" pitchFamily="18" charset="2"/>
              </a:rPr>
              <a:t>k</a:t>
            </a:r>
            <a:r>
              <a:rPr lang="en-US" altLang="zh-CN" sz="1200" b="1" dirty="0">
                <a:sym typeface="Symbol" panose="05050102010706020507" pitchFamily="18" charset="2"/>
              </a:rPr>
              <a:t>+1}</a:t>
            </a:r>
            <a:r>
              <a:rPr lang="zh-CN" altLang="en-US" sz="1200" b="1" dirty="0">
                <a:sym typeface="Symbol" panose="05050102010706020507" pitchFamily="18" charset="2"/>
              </a:rPr>
              <a:t>中点的路径</a:t>
            </a:r>
            <a:endParaRPr lang="zh-CN" altLang="en-US" sz="1200" b="1" dirty="0"/>
          </a:p>
          <a:p>
            <a:pPr eaLnBrk="1" hangingPunct="1">
              <a:buFontTx/>
              <a:buNone/>
            </a:pPr>
            <a:endParaRPr lang="zh-CN" altLang="en-US" sz="1200" b="1" dirty="0"/>
          </a:p>
          <a:p>
            <a:pPr eaLnBrk="1" hangingPunct="1">
              <a:buFontTx/>
              <a:buNone/>
            </a:pPr>
            <a:r>
              <a:rPr lang="zh-CN" altLang="en-US" sz="1200" b="1" dirty="0"/>
              <a:t>这些路径分为两类：</a:t>
            </a:r>
          </a:p>
          <a:p>
            <a:pPr eaLnBrk="1" hangingPunct="1">
              <a:buFontTx/>
              <a:buNone/>
            </a:pPr>
            <a:r>
              <a:rPr lang="zh-CN" altLang="en-US" sz="1200" b="1" dirty="0"/>
              <a:t>第</a:t>
            </a:r>
            <a:r>
              <a:rPr lang="en-US" altLang="zh-CN" sz="1200" b="1" dirty="0"/>
              <a:t>1</a:t>
            </a:r>
            <a:r>
              <a:rPr lang="zh-CN" altLang="en-US" sz="1200" b="1" dirty="0"/>
              <a:t>类：只经过 </a:t>
            </a:r>
            <a:r>
              <a:rPr lang="en-US" altLang="zh-CN" sz="1200" b="1" i="1" dirty="0"/>
              <a:t>V</a:t>
            </a:r>
            <a:r>
              <a:rPr lang="en-US" altLang="zh-CN" sz="1200" b="1" baseline="-25000" dirty="0"/>
              <a:t>1</a:t>
            </a:r>
            <a:r>
              <a:rPr lang="zh-CN" altLang="en-US" sz="1200" b="1" dirty="0"/>
              <a:t>中点</a:t>
            </a:r>
          </a:p>
          <a:p>
            <a:pPr eaLnBrk="1" hangingPunct="1">
              <a:buFontTx/>
              <a:buNone/>
            </a:pPr>
            <a:r>
              <a:rPr lang="zh-CN" altLang="en-US" sz="1200" b="1" dirty="0"/>
              <a:t>第</a:t>
            </a:r>
            <a:r>
              <a:rPr lang="en-US" altLang="zh-CN" sz="1200" b="1" dirty="0"/>
              <a:t>2</a:t>
            </a:r>
            <a:r>
              <a:rPr lang="zh-CN" altLang="en-US" sz="1200" b="1" dirty="0"/>
              <a:t>类：经过 </a:t>
            </a:r>
            <a:r>
              <a:rPr lang="en-US" altLang="zh-CN" sz="1200" b="1" i="1" dirty="0"/>
              <a:t>k</a:t>
            </a:r>
            <a:r>
              <a:rPr lang="en-US" altLang="zh-CN" sz="1200" b="1" dirty="0"/>
              <a:t>+1</a:t>
            </a:r>
            <a:r>
              <a:rPr lang="zh-CN" altLang="en-US" sz="1200" b="1" dirty="0"/>
              <a:t>点</a:t>
            </a:r>
          </a:p>
          <a:p>
            <a:pPr eaLnBrk="1" hangingPunct="1">
              <a:buFontTx/>
              <a:buNone/>
            </a:pPr>
            <a:r>
              <a:rPr lang="zh-CN" altLang="en-US" sz="1200" b="1" dirty="0"/>
              <a:t>存在第</a:t>
            </a:r>
            <a:r>
              <a:rPr lang="en-US" altLang="zh-CN" sz="1200" b="1" dirty="0"/>
              <a:t>1</a:t>
            </a:r>
            <a:r>
              <a:rPr lang="zh-CN" altLang="en-US" sz="1200" b="1" dirty="0"/>
              <a:t>类路径：</a:t>
            </a:r>
            <a:r>
              <a:rPr lang="en-US" altLang="zh-CN" sz="1200" b="1" i="1" dirty="0"/>
              <a:t>M</a:t>
            </a:r>
            <a:r>
              <a:rPr lang="en-US" altLang="zh-CN" sz="1200" b="1" i="1" baseline="-25000" dirty="0"/>
              <a:t>k</a:t>
            </a:r>
            <a:r>
              <a:rPr lang="en-US" altLang="zh-CN" sz="1200" b="1" dirty="0"/>
              <a:t>[</a:t>
            </a:r>
            <a:r>
              <a:rPr lang="en-US" altLang="zh-CN" sz="1200" b="1" i="1" dirty="0" err="1"/>
              <a:t>i,j</a:t>
            </a:r>
            <a:r>
              <a:rPr lang="en-US" altLang="zh-CN" sz="1200" b="1" dirty="0"/>
              <a:t>]=1</a:t>
            </a:r>
          </a:p>
          <a:p>
            <a:pPr eaLnBrk="1" hangingPunct="1">
              <a:buFontTx/>
              <a:buNone/>
            </a:pPr>
            <a:r>
              <a:rPr lang="zh-CN" altLang="en-US" sz="1200" b="1" dirty="0"/>
              <a:t>存在第</a:t>
            </a:r>
            <a:r>
              <a:rPr lang="en-US" altLang="zh-CN" sz="1200" b="1" dirty="0"/>
              <a:t>2</a:t>
            </a:r>
            <a:r>
              <a:rPr lang="zh-CN" altLang="en-US" sz="1200" b="1" dirty="0"/>
              <a:t>类路径： </a:t>
            </a:r>
          </a:p>
          <a:p>
            <a:pPr eaLnBrk="1" hangingPunct="1">
              <a:buFontTx/>
              <a:buNone/>
            </a:pPr>
            <a:r>
              <a:rPr lang="en-US" altLang="zh-CN" sz="1200" b="1" i="1" dirty="0"/>
              <a:t>M</a:t>
            </a:r>
            <a:r>
              <a:rPr lang="en-US" altLang="zh-CN" sz="1200" b="1" i="1" baseline="-25000" dirty="0"/>
              <a:t>k</a:t>
            </a:r>
            <a:r>
              <a:rPr lang="en-US" altLang="zh-CN" sz="1200" b="1" dirty="0"/>
              <a:t>[</a:t>
            </a:r>
            <a:r>
              <a:rPr lang="en-US" altLang="zh-CN" sz="1200" b="1" i="1" dirty="0"/>
              <a:t>i,k</a:t>
            </a:r>
            <a:r>
              <a:rPr lang="en-US" altLang="zh-CN" sz="1200" b="1" dirty="0"/>
              <a:t>+1]=1</a:t>
            </a:r>
            <a:r>
              <a:rPr lang="en-US" altLang="zh-CN" sz="1200" b="1" dirty="0">
                <a:sym typeface="Symbol" panose="05050102010706020507" pitchFamily="18" charset="2"/>
              </a:rPr>
              <a:t></a:t>
            </a:r>
            <a:r>
              <a:rPr lang="en-US" altLang="zh-CN" sz="1200" b="1" i="1" dirty="0">
                <a:sym typeface="Symbol" panose="05050102010706020507" pitchFamily="18" charset="2"/>
              </a:rPr>
              <a:t>M</a:t>
            </a:r>
            <a:r>
              <a:rPr lang="en-US" altLang="zh-CN" sz="1200" b="1" i="1" baseline="-25000" dirty="0">
                <a:sym typeface="Symbol" panose="05050102010706020507" pitchFamily="18" charset="2"/>
              </a:rPr>
              <a:t>k</a:t>
            </a:r>
            <a:r>
              <a:rPr lang="en-US" altLang="zh-CN" sz="1200" b="1" dirty="0">
                <a:sym typeface="Symbol" panose="05050102010706020507" pitchFamily="18" charset="2"/>
              </a:rPr>
              <a:t>[</a:t>
            </a:r>
            <a:r>
              <a:rPr lang="en-US" altLang="zh-CN" sz="1200" b="1" i="1" dirty="0">
                <a:sym typeface="Symbol" panose="05050102010706020507" pitchFamily="18" charset="2"/>
              </a:rPr>
              <a:t>k</a:t>
            </a:r>
            <a:r>
              <a:rPr lang="en-US" altLang="zh-CN" sz="1200" b="1" dirty="0">
                <a:sym typeface="Symbol" panose="05050102010706020507" pitchFamily="18" charset="2"/>
              </a:rPr>
              <a:t>+1,</a:t>
            </a:r>
            <a:r>
              <a:rPr lang="en-US" altLang="zh-CN" sz="1200" b="1" i="1" dirty="0">
                <a:sym typeface="Symbol" panose="05050102010706020507" pitchFamily="18" charset="2"/>
              </a:rPr>
              <a:t>j</a:t>
            </a:r>
            <a:r>
              <a:rPr lang="en-US" altLang="zh-CN" sz="1200" b="1" dirty="0">
                <a:sym typeface="Symbol" panose="05050102010706020507" pitchFamily="18" charset="2"/>
              </a:rPr>
              <a:t>]=1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69</a:t>
            </a:fld>
            <a:endParaRPr lang="zh-CN" altLang="en-US"/>
          </a:p>
        </p:txBody>
      </p:sp>
    </p:spTree>
    <p:extLst>
      <p:ext uri="{BB962C8B-B14F-4D97-AF65-F5344CB8AC3E}">
        <p14:creationId xmlns:p14="http://schemas.microsoft.com/office/powerpoint/2010/main" val="35400744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FF0000"/>
                </a:solidFill>
              </a:rPr>
              <a:t>算法</a:t>
            </a:r>
            <a:r>
              <a:rPr lang="en-US" altLang="zh-CN" sz="1200" b="1" dirty="0">
                <a:solidFill>
                  <a:srgbClr val="FF0000"/>
                </a:solidFill>
              </a:rPr>
              <a:t>4.1</a:t>
            </a:r>
            <a:r>
              <a:rPr lang="en-US" altLang="zh-CN" sz="1200" b="1" dirty="0"/>
              <a:t>  </a:t>
            </a:r>
            <a:r>
              <a:rPr lang="en-US" altLang="zh-CN" sz="1200" b="1" dirty="0" err="1"/>
              <a:t>Warshall</a:t>
            </a:r>
            <a:r>
              <a:rPr lang="zh-CN" altLang="en-US" sz="1200" b="1" dirty="0"/>
              <a:t>算法 </a:t>
            </a:r>
          </a:p>
          <a:p>
            <a:pPr eaLnBrk="1" hangingPunct="1">
              <a:buFontTx/>
              <a:buNone/>
            </a:pPr>
            <a:r>
              <a:rPr lang="zh-CN" altLang="en-US" sz="1200" b="1" dirty="0"/>
              <a:t>输入：</a:t>
            </a:r>
            <a:r>
              <a:rPr lang="en-US" altLang="zh-CN" sz="1200" b="1" i="1" dirty="0"/>
              <a:t>M</a:t>
            </a:r>
            <a:r>
              <a:rPr lang="en-US" altLang="zh-CN" sz="1200" b="1" dirty="0"/>
              <a:t> </a:t>
            </a:r>
            <a:r>
              <a:rPr lang="zh-CN" altLang="en-US" sz="1200" b="1" dirty="0"/>
              <a:t>（</a:t>
            </a:r>
            <a:r>
              <a:rPr lang="en-US" altLang="zh-CN" sz="1200" b="1" i="1" dirty="0"/>
              <a:t>R </a:t>
            </a:r>
            <a:r>
              <a:rPr lang="zh-CN" altLang="en-US" sz="1200" b="1" dirty="0"/>
              <a:t>的关系矩阵）</a:t>
            </a:r>
          </a:p>
          <a:p>
            <a:pPr eaLnBrk="1" hangingPunct="1">
              <a:buFontTx/>
              <a:buNone/>
            </a:pPr>
            <a:r>
              <a:rPr lang="zh-CN" altLang="en-US" sz="1200" b="1" dirty="0"/>
              <a:t>输出：</a:t>
            </a:r>
            <a:r>
              <a:rPr lang="en-US" altLang="zh-CN" sz="1200" b="1" i="1" dirty="0"/>
              <a:t>M</a:t>
            </a:r>
            <a:r>
              <a:rPr lang="en-US" altLang="zh-CN" sz="1200" b="1" i="1" baseline="-25000" dirty="0"/>
              <a:t>t</a:t>
            </a:r>
            <a:r>
              <a:rPr lang="en-US" altLang="zh-CN" sz="1200" b="1" baseline="-25000" dirty="0"/>
              <a:t> </a:t>
            </a:r>
            <a:r>
              <a:rPr lang="zh-CN" altLang="en-US" sz="1200" b="1" dirty="0"/>
              <a:t>（</a:t>
            </a:r>
            <a:r>
              <a:rPr lang="en-US" altLang="zh-CN" sz="1200" b="1" i="1" dirty="0"/>
              <a:t>t</a:t>
            </a:r>
            <a:r>
              <a:rPr lang="en-US" altLang="zh-CN" sz="1200" b="1" dirty="0"/>
              <a:t>(</a:t>
            </a:r>
            <a:r>
              <a:rPr lang="en-US" altLang="zh-CN" sz="1200" b="1" i="1" dirty="0"/>
              <a:t>R</a:t>
            </a:r>
            <a:r>
              <a:rPr lang="en-US" altLang="zh-CN" sz="1200" b="1" dirty="0"/>
              <a:t>)</a:t>
            </a:r>
            <a:r>
              <a:rPr lang="zh-CN" altLang="en-US" sz="1200" b="1" dirty="0"/>
              <a:t>的关系矩阵） </a:t>
            </a:r>
          </a:p>
          <a:p>
            <a:pPr eaLnBrk="1" hangingPunct="1">
              <a:buFontTx/>
              <a:buNone/>
            </a:pPr>
            <a:r>
              <a:rPr lang="en-US" altLang="zh-CN" sz="1200" b="1" dirty="0"/>
              <a:t>1.  </a:t>
            </a:r>
            <a:r>
              <a:rPr lang="en-US" altLang="zh-CN" sz="1200" b="1" i="1" dirty="0" err="1"/>
              <a:t>M</a:t>
            </a:r>
            <a:r>
              <a:rPr lang="en-US" altLang="zh-CN" sz="1200" b="1" i="1" baseline="-25000" dirty="0" err="1"/>
              <a:t>t</a:t>
            </a:r>
            <a:r>
              <a:rPr lang="en-US" altLang="zh-CN" sz="1200" b="1" dirty="0" err="1">
                <a:sym typeface="Symbol" panose="05050102010706020507" pitchFamily="18" charset="2"/>
              </a:rPr>
              <a:t></a:t>
            </a:r>
            <a:r>
              <a:rPr lang="en-US" altLang="zh-CN" sz="1200" b="1" i="1" dirty="0" err="1"/>
              <a:t>M</a:t>
            </a:r>
            <a:endParaRPr lang="en-US" altLang="zh-CN" sz="1200" b="1" dirty="0"/>
          </a:p>
          <a:p>
            <a:pPr eaLnBrk="1" hangingPunct="1">
              <a:buFontTx/>
              <a:buNone/>
            </a:pPr>
            <a:r>
              <a:rPr lang="en-US" altLang="zh-CN" sz="1200" b="1" dirty="0"/>
              <a:t>2.  for </a:t>
            </a:r>
            <a:r>
              <a:rPr lang="en-US" altLang="zh-CN" sz="1200" b="1" i="1" dirty="0"/>
              <a:t>k</a:t>
            </a:r>
            <a:r>
              <a:rPr lang="en-US" altLang="zh-CN" sz="1200" b="1" dirty="0">
                <a:sym typeface="Symbol" panose="05050102010706020507" pitchFamily="18" charset="2"/>
              </a:rPr>
              <a:t></a:t>
            </a:r>
            <a:r>
              <a:rPr lang="en-US" altLang="zh-CN" sz="1200" b="1" dirty="0"/>
              <a:t>1 to </a:t>
            </a:r>
            <a:r>
              <a:rPr lang="en-US" altLang="zh-CN" sz="1200" b="1" i="1" dirty="0"/>
              <a:t>n</a:t>
            </a:r>
            <a:r>
              <a:rPr lang="en-US" altLang="zh-CN" sz="1200" b="1" dirty="0"/>
              <a:t> do</a:t>
            </a:r>
          </a:p>
          <a:p>
            <a:pPr eaLnBrk="1" hangingPunct="1">
              <a:buFontTx/>
              <a:buNone/>
            </a:pPr>
            <a:r>
              <a:rPr lang="en-US" altLang="zh-CN" sz="1200" b="1" dirty="0"/>
              <a:t>3.     for </a:t>
            </a:r>
            <a:r>
              <a:rPr lang="en-US" altLang="zh-CN" sz="1200" b="1" i="1" dirty="0"/>
              <a:t>i</a:t>
            </a:r>
            <a:r>
              <a:rPr lang="en-US" altLang="zh-CN" sz="1200" b="1" dirty="0">
                <a:sym typeface="Symbol" panose="05050102010706020507" pitchFamily="18" charset="2"/>
              </a:rPr>
              <a:t></a:t>
            </a:r>
            <a:r>
              <a:rPr lang="en-US" altLang="zh-CN" sz="1200" b="1" dirty="0"/>
              <a:t>1 to </a:t>
            </a:r>
            <a:r>
              <a:rPr lang="en-US" altLang="zh-CN" sz="1200" b="1" i="1" dirty="0"/>
              <a:t>n</a:t>
            </a:r>
            <a:r>
              <a:rPr lang="en-US" altLang="zh-CN" sz="1200" b="1" dirty="0"/>
              <a:t> do</a:t>
            </a:r>
          </a:p>
          <a:p>
            <a:pPr eaLnBrk="1" hangingPunct="1">
              <a:buFontTx/>
              <a:buNone/>
            </a:pPr>
            <a:r>
              <a:rPr lang="en-US" altLang="zh-CN" sz="1200" b="1" dirty="0"/>
              <a:t>4.</a:t>
            </a:r>
            <a:r>
              <a:rPr lang="zh-CN" altLang="en-US" sz="1200" b="1" dirty="0"/>
              <a:t>         </a:t>
            </a:r>
            <a:r>
              <a:rPr lang="en-US" altLang="zh-CN" sz="1200" b="1" dirty="0"/>
              <a:t>for </a:t>
            </a:r>
            <a:r>
              <a:rPr lang="en-US" altLang="zh-CN" sz="1200" b="1" i="1" dirty="0"/>
              <a:t>j</a:t>
            </a:r>
            <a:r>
              <a:rPr lang="en-US" altLang="zh-CN" sz="1200" b="1" dirty="0">
                <a:sym typeface="Symbol" panose="05050102010706020507" pitchFamily="18" charset="2"/>
              </a:rPr>
              <a:t></a:t>
            </a:r>
            <a:r>
              <a:rPr lang="en-US" altLang="zh-CN" sz="1200" b="1" dirty="0"/>
              <a:t>1 to </a:t>
            </a:r>
            <a:r>
              <a:rPr lang="en-US" altLang="zh-CN" sz="1200" b="1" i="1" dirty="0"/>
              <a:t>n</a:t>
            </a:r>
            <a:r>
              <a:rPr lang="en-US" altLang="zh-CN" sz="1200" b="1" dirty="0"/>
              <a:t> do</a:t>
            </a:r>
          </a:p>
          <a:p>
            <a:pPr marL="514350" indent="-514350" eaLnBrk="1" hangingPunct="1">
              <a:buFontTx/>
              <a:buAutoNum type="arabicPeriod" startAt="5"/>
            </a:pPr>
            <a:r>
              <a:rPr lang="en-US" altLang="zh-CN" sz="1200" b="1" i="1" dirty="0"/>
              <a:t>M</a:t>
            </a:r>
            <a:r>
              <a:rPr lang="en-US" altLang="zh-CN" sz="1200" b="1" i="1" baseline="-25000" dirty="0"/>
              <a:t>t</a:t>
            </a:r>
            <a:r>
              <a:rPr lang="en-US" altLang="zh-CN" sz="1200" b="1" dirty="0"/>
              <a:t>[</a:t>
            </a:r>
            <a:r>
              <a:rPr lang="en-US" altLang="zh-CN" sz="1200" b="1" i="1" dirty="0" err="1"/>
              <a:t>i</a:t>
            </a:r>
            <a:r>
              <a:rPr lang="en-US" altLang="zh-CN" sz="1200" b="1" dirty="0"/>
              <a:t>, </a:t>
            </a:r>
            <a:r>
              <a:rPr lang="en-US" altLang="zh-CN" sz="1200" b="1" i="1" dirty="0"/>
              <a:t>j</a:t>
            </a:r>
            <a:r>
              <a:rPr lang="en-US" altLang="zh-CN" sz="1200" b="1" dirty="0"/>
              <a:t>] </a:t>
            </a:r>
            <a:r>
              <a:rPr lang="en-US" altLang="zh-CN" sz="1200" b="1" dirty="0">
                <a:sym typeface="Symbol" panose="05050102010706020507" pitchFamily="18" charset="2"/>
              </a:rPr>
              <a:t></a:t>
            </a:r>
            <a:r>
              <a:rPr lang="en-US" altLang="zh-CN" sz="1200" b="1" i="1" dirty="0"/>
              <a:t>M</a:t>
            </a:r>
            <a:r>
              <a:rPr lang="en-US" altLang="zh-CN" sz="1200" b="1" i="1" baseline="-25000" dirty="0"/>
              <a:t>t</a:t>
            </a:r>
            <a:r>
              <a:rPr lang="en-US" altLang="zh-CN" sz="1200" b="1" dirty="0"/>
              <a:t>[</a:t>
            </a:r>
            <a:r>
              <a:rPr lang="en-US" altLang="zh-CN" sz="1200" b="1" i="1" dirty="0" err="1"/>
              <a:t>i</a:t>
            </a:r>
            <a:r>
              <a:rPr lang="en-US" altLang="zh-CN" sz="1200" b="1" dirty="0"/>
              <a:t>, </a:t>
            </a:r>
            <a:r>
              <a:rPr lang="en-US" altLang="zh-CN" sz="1200" b="1" i="1" dirty="0"/>
              <a:t>j</a:t>
            </a:r>
            <a:r>
              <a:rPr lang="en-US" altLang="zh-CN" sz="1200" b="1" dirty="0"/>
              <a:t>] + </a:t>
            </a:r>
            <a:r>
              <a:rPr lang="en-US" altLang="zh-CN" sz="1200" b="1" i="1" dirty="0"/>
              <a:t>M</a:t>
            </a:r>
            <a:r>
              <a:rPr lang="en-US" altLang="zh-CN" sz="1200" b="1" i="1" baseline="-25000" dirty="0"/>
              <a:t>t</a:t>
            </a:r>
            <a:r>
              <a:rPr lang="en-US" altLang="zh-CN" sz="1200" b="1" dirty="0"/>
              <a:t>[</a:t>
            </a:r>
            <a:r>
              <a:rPr lang="en-US" altLang="zh-CN" sz="1200" b="1" i="1" dirty="0" err="1"/>
              <a:t>i</a:t>
            </a:r>
            <a:r>
              <a:rPr lang="en-US" altLang="zh-CN" sz="1200" b="1" dirty="0"/>
              <a:t>, </a:t>
            </a:r>
            <a:r>
              <a:rPr lang="en-US" altLang="zh-CN" sz="1200" b="1" i="1" dirty="0"/>
              <a:t>k</a:t>
            </a:r>
            <a:r>
              <a:rPr lang="en-US" altLang="zh-CN" sz="1200" b="1" dirty="0"/>
              <a:t>]</a:t>
            </a:r>
            <a:r>
              <a:rPr lang="en-US" altLang="zh-CN" sz="1200" b="1" dirty="0">
                <a:sym typeface="Symbol" panose="05050102010706020507" pitchFamily="18" charset="2"/>
              </a:rPr>
              <a:t></a:t>
            </a:r>
            <a:r>
              <a:rPr lang="en-US" altLang="zh-CN" sz="1200" b="1" i="1" dirty="0"/>
              <a:t>M</a:t>
            </a:r>
            <a:r>
              <a:rPr lang="en-US" altLang="zh-CN" sz="1200" b="1" i="1" baseline="-25000" dirty="0"/>
              <a:t>t</a:t>
            </a:r>
            <a:r>
              <a:rPr lang="en-US" altLang="zh-CN" sz="1200" b="1" dirty="0"/>
              <a:t>[</a:t>
            </a:r>
            <a:r>
              <a:rPr lang="en-US" altLang="zh-CN" sz="1200" b="1" i="1" dirty="0"/>
              <a:t>k</a:t>
            </a:r>
            <a:r>
              <a:rPr lang="en-US" altLang="zh-CN" sz="1200" b="1" dirty="0"/>
              <a:t>, </a:t>
            </a:r>
            <a:r>
              <a:rPr lang="en-US" altLang="zh-CN" sz="1200" b="1" i="1" dirty="0"/>
              <a:t>j</a:t>
            </a:r>
            <a:r>
              <a:rPr lang="en-US" altLang="zh-CN" sz="1200" b="1" dirty="0"/>
              <a:t>]</a:t>
            </a:r>
          </a:p>
          <a:p>
            <a:pPr marL="0" indent="0" eaLnBrk="1" hangingPunct="1">
              <a:buNone/>
            </a:pPr>
            <a:endParaRPr lang="en-US" altLang="zh-CN" b="1" dirty="0"/>
          </a:p>
          <a:p>
            <a:pPr marL="0" indent="0">
              <a:buNone/>
            </a:pPr>
            <a:r>
              <a:rPr kumimoji="0" lang="zh-CN" altLang="en-US" sz="1200" b="1" dirty="0">
                <a:latin typeface="宋体" panose="02010600030101010101" pitchFamily="2" charset="-122"/>
              </a:rPr>
              <a:t>时间复杂度 </a:t>
            </a:r>
            <a:r>
              <a:rPr kumimoji="0" lang="zh-CN" altLang="en-US" sz="1200" b="1" i="1" dirty="0">
                <a:ea typeface="华文行楷" panose="02010800040101010101" pitchFamily="2" charset="-122"/>
              </a:rPr>
              <a:t>  </a:t>
            </a:r>
            <a:r>
              <a:rPr kumimoji="0" lang="en-US" altLang="zh-CN" sz="1200" b="1" i="1" dirty="0">
                <a:ea typeface="华文行楷" panose="02010800040101010101" pitchFamily="2" charset="-122"/>
              </a:rPr>
              <a:t>T</a:t>
            </a:r>
            <a:r>
              <a:rPr kumimoji="0" lang="en-US" altLang="zh-CN" sz="1200" b="1" dirty="0">
                <a:ea typeface="华文行楷" panose="02010800040101010101" pitchFamily="2" charset="-122"/>
              </a:rPr>
              <a:t>(</a:t>
            </a:r>
            <a:r>
              <a:rPr kumimoji="0" lang="en-US" altLang="zh-CN" sz="1200" b="1" i="1" dirty="0">
                <a:ea typeface="华文行楷" panose="02010800040101010101" pitchFamily="2" charset="-122"/>
              </a:rPr>
              <a:t>n</a:t>
            </a:r>
            <a:r>
              <a:rPr kumimoji="0" lang="en-US" altLang="zh-CN" sz="1200" b="1" dirty="0">
                <a:ea typeface="华文行楷" panose="02010800040101010101" pitchFamily="2" charset="-122"/>
              </a:rPr>
              <a:t>)</a:t>
            </a:r>
            <a:r>
              <a:rPr kumimoji="0" lang="en-US" altLang="zh-CN" sz="1200" b="1" i="1" dirty="0">
                <a:ea typeface="华文行楷" panose="02010800040101010101" pitchFamily="2" charset="-122"/>
              </a:rPr>
              <a:t>=O</a:t>
            </a:r>
            <a:r>
              <a:rPr kumimoji="0" lang="en-US" altLang="zh-CN" sz="1200" b="1" dirty="0">
                <a:ea typeface="华文行楷" panose="02010800040101010101" pitchFamily="2" charset="-122"/>
              </a:rPr>
              <a:t>(</a:t>
            </a:r>
            <a:r>
              <a:rPr kumimoji="0" lang="en-US" altLang="zh-CN" sz="1200" b="1" i="1" dirty="0">
                <a:ea typeface="华文行楷" panose="02010800040101010101" pitchFamily="2" charset="-122"/>
              </a:rPr>
              <a:t>n</a:t>
            </a:r>
            <a:r>
              <a:rPr kumimoji="0" lang="en-US" altLang="zh-CN" sz="1200" b="1" baseline="30000" dirty="0">
                <a:ea typeface="华文行楷" panose="02010800040101010101" pitchFamily="2" charset="-122"/>
              </a:rPr>
              <a:t>3</a:t>
            </a:r>
            <a:r>
              <a:rPr kumimoji="0" lang="en-US" altLang="zh-CN" sz="1200" b="1" dirty="0">
                <a:ea typeface="华文行楷" panose="02010800040101010101" pitchFamily="2" charset="-122"/>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70</a:t>
            </a:fld>
            <a:endParaRPr lang="zh-CN" altLang="en-US"/>
          </a:p>
        </p:txBody>
      </p:sp>
    </p:spTree>
    <p:extLst>
      <p:ext uri="{BB962C8B-B14F-4D97-AF65-F5344CB8AC3E}">
        <p14:creationId xmlns:p14="http://schemas.microsoft.com/office/powerpoint/2010/main" val="35567625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71</a:t>
            </a:fld>
            <a:endParaRPr lang="zh-CN" altLang="en-US"/>
          </a:p>
        </p:txBody>
      </p:sp>
    </p:spTree>
    <p:extLst>
      <p:ext uri="{BB962C8B-B14F-4D97-AF65-F5344CB8AC3E}">
        <p14:creationId xmlns:p14="http://schemas.microsoft.com/office/powerpoint/2010/main" val="31956714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72</a:t>
            </a:fld>
            <a:endParaRPr lang="zh-CN" altLang="en-US"/>
          </a:p>
        </p:txBody>
      </p:sp>
    </p:spTree>
    <p:extLst>
      <p:ext uri="{BB962C8B-B14F-4D97-AF65-F5344CB8AC3E}">
        <p14:creationId xmlns:p14="http://schemas.microsoft.com/office/powerpoint/2010/main" val="37659525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524000" eaLnBrk="1" hangingPunct="1">
              <a:spcBef>
                <a:spcPct val="50000"/>
              </a:spcBef>
              <a:buNone/>
            </a:pPr>
            <a:r>
              <a:rPr lang="en-US" altLang="zh-CN" b="1" dirty="0"/>
              <a:t>4.1 </a:t>
            </a:r>
            <a:r>
              <a:rPr lang="zh-CN" altLang="en-US" b="1" dirty="0"/>
              <a:t>关系的定义及其表示</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4.2 </a:t>
            </a:r>
            <a:r>
              <a:rPr lang="zh-CN" altLang="en-US" b="1" dirty="0"/>
              <a:t>关系运算</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t>4.3 </a:t>
            </a:r>
            <a:r>
              <a:rPr lang="zh-CN" altLang="en-US" b="1" dirty="0"/>
              <a:t>关系的性质</a:t>
            </a:r>
            <a:endParaRPr lang="en-US" altLang="zh-CN" b="1" dirty="0"/>
          </a:p>
          <a:p>
            <a:pPr marL="0" indent="1524000" eaLnBrk="1" hangingPunct="1">
              <a:spcBef>
                <a:spcPct val="50000"/>
              </a:spcBef>
              <a:buNone/>
            </a:pPr>
            <a:endParaRPr lang="zh-CN" altLang="en-US" b="1" dirty="0"/>
          </a:p>
          <a:p>
            <a:pPr marL="0" indent="1524000" eaLnBrk="1" hangingPunct="1">
              <a:spcBef>
                <a:spcPct val="50000"/>
              </a:spcBef>
              <a:buNone/>
            </a:pPr>
            <a:r>
              <a:rPr lang="en-US" altLang="zh-CN" b="1" dirty="0">
                <a:solidFill>
                  <a:srgbClr val="FF0000"/>
                </a:solidFill>
              </a:rPr>
              <a:t>4.4 </a:t>
            </a:r>
            <a:r>
              <a:rPr lang="zh-CN" altLang="en-US" b="1" dirty="0">
                <a:solidFill>
                  <a:srgbClr val="FF0000"/>
                </a:solidFill>
              </a:rPr>
              <a:t>等价关系与偏序关系</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165225" eaLnBrk="1" hangingPunct="1">
              <a:spcBef>
                <a:spcPct val="40000"/>
              </a:spcBef>
              <a:buNone/>
            </a:pPr>
            <a:endParaRPr lang="en-US" altLang="zh-CN" b="1" dirty="0"/>
          </a:p>
          <a:p>
            <a:pPr marL="0" indent="1165225" eaLnBrk="1" hangingPunct="1">
              <a:spcBef>
                <a:spcPct val="40000"/>
              </a:spcBef>
              <a:buNone/>
            </a:pPr>
            <a:r>
              <a:rPr lang="en-US" altLang="zh-CN" b="1" dirty="0">
                <a:solidFill>
                  <a:srgbClr val="FF0000"/>
                </a:solidFill>
              </a:rPr>
              <a:t>4.4.1 </a:t>
            </a:r>
            <a:r>
              <a:rPr lang="zh-CN" altLang="en-US" b="1" dirty="0">
                <a:solidFill>
                  <a:srgbClr val="FF0000"/>
                </a:solidFill>
              </a:rPr>
              <a:t>等价关系</a:t>
            </a:r>
            <a:endParaRPr lang="en-US" altLang="zh-CN" b="1" dirty="0">
              <a:solidFill>
                <a:srgbClr val="FF0000"/>
              </a:solidFill>
            </a:endParaRPr>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4.4.2 </a:t>
            </a:r>
            <a:r>
              <a:rPr lang="zh-CN" altLang="en-US" b="1" dirty="0"/>
              <a:t>等价类和商集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4.4.3 </a:t>
            </a:r>
            <a:r>
              <a:rPr lang="zh-CN" altLang="en-US" b="1" dirty="0"/>
              <a:t>集合的划分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4.4.4 </a:t>
            </a:r>
            <a:r>
              <a:rPr lang="zh-CN" altLang="en-US" b="1" dirty="0"/>
              <a:t>偏序关系</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4.4.5 </a:t>
            </a:r>
            <a:r>
              <a:rPr lang="zh-CN" altLang="en-US" b="1" dirty="0"/>
              <a:t>偏序集与哈斯图</a:t>
            </a:r>
            <a:endParaRPr lang="zh-CN" altLang="en-US" sz="2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74</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1,4,7</a:t>
            </a:r>
            <a:r>
              <a:rPr lang="zh-CN" altLang="en-US" dirty="0"/>
              <a:t> </a:t>
            </a:r>
            <a:r>
              <a:rPr lang="en-US" altLang="zh-CN" dirty="0"/>
              <a:t>2,5,8</a:t>
            </a:r>
            <a:r>
              <a:rPr lang="zh-CN" altLang="en-US" dirty="0"/>
              <a:t> </a:t>
            </a:r>
            <a:r>
              <a:rPr lang="en-US" altLang="zh-CN" dirty="0"/>
              <a:t>3,6</a:t>
            </a:r>
          </a:p>
          <a:p>
            <a:endParaRPr lang="en-US" altLang="zh-CN" dirty="0"/>
          </a:p>
          <a:p>
            <a:pPr>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4.18</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为非空集合上的关系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是自反的、对称的和传递的</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a:t>
            </a:r>
            <a:r>
              <a:rPr lang="zh-CN" altLang="en-US" sz="1200" b="1" dirty="0">
                <a:solidFill>
                  <a:srgbClr val="FF0000"/>
                </a:solidFill>
                <a:latin typeface="Times New Roman" panose="02020603050405020304" pitchFamily="18" charset="0"/>
                <a:ea typeface="宋体" panose="02010600030101010101" pitchFamily="2" charset="-122"/>
              </a:rPr>
              <a:t>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是一个等价关系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称 </a:t>
            </a:r>
            <a:r>
              <a:rPr lang="en-US" altLang="zh-CN" sz="1200" b="1" i="1" dirty="0">
                <a:solidFill>
                  <a:srgbClr val="FF0000"/>
                </a:solidFill>
                <a:latin typeface="Times New Roman" panose="02020603050405020304" pitchFamily="18" charset="0"/>
                <a:ea typeface="宋体" panose="02010600030101010101" pitchFamily="2" charset="-122"/>
              </a:rPr>
              <a:t>x</a:t>
            </a:r>
            <a:r>
              <a:rPr lang="zh-CN" altLang="en-US" sz="1200" b="1" dirty="0">
                <a:solidFill>
                  <a:srgbClr val="FF0000"/>
                </a:solidFill>
                <a:latin typeface="Times New Roman" panose="02020603050405020304" pitchFamily="18" charset="0"/>
                <a:ea typeface="宋体" panose="02010600030101010101" pitchFamily="2" charset="-122"/>
              </a:rPr>
              <a:t>等价于</a:t>
            </a:r>
            <a:r>
              <a:rPr lang="en-US" altLang="zh-CN" sz="1200" b="1" i="1" dirty="0">
                <a:solidFill>
                  <a:srgbClr val="FF0000"/>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记做</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={1, 2, …, 8}, </a:t>
            </a:r>
            <a:r>
              <a:rPr lang="zh-CN" altLang="en-US" sz="1200" b="1" dirty="0">
                <a:solidFill>
                  <a:schemeClr val="tx1"/>
                </a:solidFill>
                <a:latin typeface="Times New Roman" panose="02020603050405020304" pitchFamily="18" charset="0"/>
                <a:ea typeface="宋体" panose="02010600030101010101" pitchFamily="2" charset="-122"/>
              </a:rPr>
              <a:t>如下定义 </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上的关系</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(mod 3)}</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其中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叫做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rgbClr val="FF0000"/>
                </a:solidFill>
                <a:latin typeface="Times New Roman" panose="02020603050405020304" pitchFamily="18" charset="0"/>
                <a:ea typeface="宋体" panose="02010600030101010101" pitchFamily="2" charset="-122"/>
              </a:rPr>
              <a:t>模</a:t>
            </a:r>
            <a:r>
              <a:rPr lang="en-US" altLang="zh-CN" sz="1200" b="1" dirty="0">
                <a:solidFill>
                  <a:srgbClr val="FF0000"/>
                </a:solidFill>
                <a:latin typeface="Times New Roman" panose="02020603050405020304" pitchFamily="18" charset="0"/>
                <a:ea typeface="宋体" panose="02010600030101010101" pitchFamily="2" charset="-122"/>
              </a:rPr>
              <a:t>3</a:t>
            </a:r>
            <a:r>
              <a:rPr lang="zh-CN" altLang="en-US" sz="1200" b="1" dirty="0">
                <a:solidFill>
                  <a:srgbClr val="FF0000"/>
                </a:solidFill>
                <a:latin typeface="Times New Roman" panose="02020603050405020304" pitchFamily="18" charset="0"/>
                <a:ea typeface="宋体" panose="02010600030101010101" pitchFamily="2" charset="-122"/>
              </a:rPr>
              <a:t>相等</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即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除以</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的余数与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除以</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的余数相等</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buNone/>
            </a:pPr>
            <a:r>
              <a:rPr lang="zh-CN" altLang="en-US" sz="1200" b="1" dirty="0">
                <a:solidFill>
                  <a:schemeClr val="tx1"/>
                </a:solidFill>
                <a:latin typeface="Times New Roman" panose="02020603050405020304" pitchFamily="18" charset="0"/>
                <a:ea typeface="宋体" panose="02010600030101010101" pitchFamily="2" charset="-122"/>
              </a:rPr>
              <a:t>不难验证</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因为</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有</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（自反性）</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则有</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（对称性）</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(mod 3),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则有    </a:t>
            </a:r>
          </a:p>
          <a:p>
            <a:pPr>
              <a:lnSpc>
                <a:spcPct val="110000"/>
              </a:lnSpc>
              <a:buNone/>
            </a:pP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（传递性）</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75</a:t>
            </a:fld>
            <a:endParaRPr lang="zh-CN" altLang="en-US"/>
          </a:p>
        </p:txBody>
      </p:sp>
    </p:spTree>
    <p:extLst>
      <p:ext uri="{BB962C8B-B14F-4D97-AF65-F5344CB8AC3E}">
        <p14:creationId xmlns:p14="http://schemas.microsoft.com/office/powerpoint/2010/main" val="400144764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1,4,7</a:t>
            </a:r>
            <a:r>
              <a:rPr lang="zh-CN" altLang="en-US" dirty="0"/>
              <a:t> </a:t>
            </a:r>
            <a:r>
              <a:rPr lang="en-US" altLang="zh-CN" dirty="0"/>
              <a:t>2,5,8</a:t>
            </a:r>
            <a:r>
              <a:rPr lang="zh-CN" altLang="en-US" dirty="0"/>
              <a:t> </a:t>
            </a:r>
            <a:r>
              <a:rPr lang="en-US" altLang="zh-CN" dirty="0"/>
              <a:t>3,6</a:t>
            </a:r>
          </a:p>
          <a:p>
            <a:endParaRPr lang="en-US" altLang="zh-CN" dirty="0"/>
          </a:p>
          <a:p>
            <a:pPr>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4.18</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为非空集合上的关系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是自反的、对称的和传递的</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a:t>
            </a:r>
            <a:r>
              <a:rPr lang="zh-CN" altLang="en-US" sz="1200" b="1" dirty="0">
                <a:solidFill>
                  <a:srgbClr val="FF0000"/>
                </a:solidFill>
                <a:latin typeface="Times New Roman" panose="02020603050405020304" pitchFamily="18" charset="0"/>
                <a:ea typeface="宋体" panose="02010600030101010101" pitchFamily="2" charset="-122"/>
              </a:rPr>
              <a:t>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是一个等价关系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称 </a:t>
            </a:r>
            <a:r>
              <a:rPr lang="en-US" altLang="zh-CN" sz="1200" b="1" i="1" dirty="0">
                <a:solidFill>
                  <a:srgbClr val="FF0000"/>
                </a:solidFill>
                <a:latin typeface="Times New Roman" panose="02020603050405020304" pitchFamily="18" charset="0"/>
                <a:ea typeface="宋体" panose="02010600030101010101" pitchFamily="2" charset="-122"/>
              </a:rPr>
              <a:t>x</a:t>
            </a:r>
            <a:r>
              <a:rPr lang="zh-CN" altLang="en-US" sz="1200" b="1" dirty="0">
                <a:solidFill>
                  <a:srgbClr val="FF0000"/>
                </a:solidFill>
                <a:latin typeface="Times New Roman" panose="02020603050405020304" pitchFamily="18" charset="0"/>
                <a:ea typeface="宋体" panose="02010600030101010101" pitchFamily="2" charset="-122"/>
              </a:rPr>
              <a:t>等价于</a:t>
            </a:r>
            <a:r>
              <a:rPr lang="en-US" altLang="zh-CN" sz="1200" b="1" i="1" dirty="0">
                <a:solidFill>
                  <a:srgbClr val="FF0000"/>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记做</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={1, 2, …, 8}, </a:t>
            </a:r>
            <a:r>
              <a:rPr lang="zh-CN" altLang="en-US" sz="1200" b="1" dirty="0">
                <a:solidFill>
                  <a:schemeClr val="tx1"/>
                </a:solidFill>
                <a:latin typeface="Times New Roman" panose="02020603050405020304" pitchFamily="18" charset="0"/>
                <a:ea typeface="宋体" panose="02010600030101010101" pitchFamily="2" charset="-122"/>
              </a:rPr>
              <a:t>如下定义 </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上的关系</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(mod 3)}</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其中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叫做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rgbClr val="FF0000"/>
                </a:solidFill>
                <a:latin typeface="Times New Roman" panose="02020603050405020304" pitchFamily="18" charset="0"/>
                <a:ea typeface="宋体" panose="02010600030101010101" pitchFamily="2" charset="-122"/>
              </a:rPr>
              <a:t>模</a:t>
            </a:r>
            <a:r>
              <a:rPr lang="en-US" altLang="zh-CN" sz="1200" b="1" dirty="0">
                <a:solidFill>
                  <a:srgbClr val="FF0000"/>
                </a:solidFill>
                <a:latin typeface="Times New Roman" panose="02020603050405020304" pitchFamily="18" charset="0"/>
                <a:ea typeface="宋体" panose="02010600030101010101" pitchFamily="2" charset="-122"/>
              </a:rPr>
              <a:t>3</a:t>
            </a:r>
            <a:r>
              <a:rPr lang="zh-CN" altLang="en-US" sz="1200" b="1" dirty="0">
                <a:solidFill>
                  <a:srgbClr val="FF0000"/>
                </a:solidFill>
                <a:latin typeface="Times New Roman" panose="02020603050405020304" pitchFamily="18" charset="0"/>
                <a:ea typeface="宋体" panose="02010600030101010101" pitchFamily="2" charset="-122"/>
              </a:rPr>
              <a:t>相等</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即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除以</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的余数与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除以</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的余数相等</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buNone/>
            </a:pPr>
            <a:r>
              <a:rPr lang="zh-CN" altLang="en-US" sz="1200" b="1" dirty="0">
                <a:solidFill>
                  <a:schemeClr val="tx1"/>
                </a:solidFill>
                <a:latin typeface="Times New Roman" panose="02020603050405020304" pitchFamily="18" charset="0"/>
                <a:ea typeface="宋体" panose="02010600030101010101" pitchFamily="2" charset="-122"/>
              </a:rPr>
              <a:t>不难验证</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因为</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有</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（自反性）</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则有</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（对称性）</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(mod 3),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则有    </a:t>
            </a:r>
          </a:p>
          <a:p>
            <a:pPr>
              <a:lnSpc>
                <a:spcPct val="110000"/>
              </a:lnSpc>
              <a:buNone/>
            </a:pP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(mod 3)                                                      </a:t>
            </a:r>
            <a:r>
              <a:rPr lang="zh-CN" altLang="en-US" sz="1200" b="1" dirty="0">
                <a:solidFill>
                  <a:schemeClr val="tx1"/>
                </a:solidFill>
                <a:latin typeface="Times New Roman" panose="02020603050405020304" pitchFamily="18" charset="0"/>
                <a:ea typeface="宋体" panose="02010600030101010101" pitchFamily="2" charset="-122"/>
              </a:rPr>
              <a:t>（传递性）</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76</a:t>
            </a:fld>
            <a:endParaRPr lang="zh-CN" altLang="en-US"/>
          </a:p>
        </p:txBody>
      </p:sp>
    </p:spTree>
    <p:extLst>
      <p:ext uri="{BB962C8B-B14F-4D97-AF65-F5344CB8AC3E}">
        <p14:creationId xmlns:p14="http://schemas.microsoft.com/office/powerpoint/2010/main" val="88081476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buNone/>
            </a:pPr>
            <a:r>
              <a:rPr lang="en-US" altLang="zh-CN" sz="1200" b="1" dirty="0"/>
              <a:t>A</a:t>
            </a:r>
            <a:r>
              <a:rPr lang="zh-CN" altLang="en-US" sz="1200" b="1" dirty="0"/>
              <a:t>上模</a:t>
            </a:r>
            <a:r>
              <a:rPr lang="en-US" altLang="zh-CN" sz="1200" b="1" dirty="0"/>
              <a:t>3</a:t>
            </a:r>
            <a:r>
              <a:rPr lang="zh-CN" altLang="en-US" sz="1200" b="1" dirty="0"/>
              <a:t>等价关系的关系图</a:t>
            </a:r>
            <a:r>
              <a:rPr lang="en-US" altLang="zh-CN" sz="1200" b="1" dirty="0"/>
              <a:t> </a:t>
            </a:r>
            <a:endParaRPr lang="en-US" altLang="zh-CN" sz="1200" b="1" dirty="0">
              <a:latin typeface="Times New Roman" panose="02020603050405020304" pitchFamily="18" charset="0"/>
              <a:ea typeface="宋体" panose="02010600030101010101" pitchFamily="2" charset="-122"/>
            </a:endParaRPr>
          </a:p>
          <a:p>
            <a:pPr>
              <a:lnSpc>
                <a:spcPct val="120000"/>
              </a:lnSpc>
              <a:buNone/>
            </a:pPr>
            <a:r>
              <a:rPr lang="zh-CN" altLang="en-US" sz="1200" b="1" dirty="0">
                <a:latin typeface="Times New Roman" panose="02020603050405020304" pitchFamily="18" charset="0"/>
                <a:ea typeface="宋体" panose="02010600030101010101" pitchFamily="2" charset="-122"/>
              </a:rPr>
              <a:t>设  </a:t>
            </a:r>
            <a:r>
              <a:rPr lang="en-US" altLang="zh-CN" sz="1200" b="1" i="1" dirty="0">
                <a:latin typeface="Times New Roman" panose="02020603050405020304" pitchFamily="18" charset="0"/>
                <a:ea typeface="宋体" panose="02010600030101010101" pitchFamily="2" charset="-122"/>
              </a:rPr>
              <a:t>A</a:t>
            </a:r>
            <a:r>
              <a:rPr lang="en-US" altLang="zh-CN" sz="1200" b="1" dirty="0">
                <a:latin typeface="Times New Roman" panose="02020603050405020304" pitchFamily="18" charset="0"/>
                <a:ea typeface="宋体" panose="02010600030101010101" pitchFamily="2" charset="-122"/>
              </a:rPr>
              <a:t>={1, 2, …, 7}, </a:t>
            </a:r>
            <a:br>
              <a:rPr lang="en-US" altLang="zh-CN" sz="1200" b="1" dirty="0">
                <a:latin typeface="Times New Roman" panose="02020603050405020304" pitchFamily="18" charset="0"/>
                <a:ea typeface="宋体" panose="02010600030101010101" pitchFamily="2" charset="-122"/>
              </a:rPr>
            </a:br>
            <a:r>
              <a:rPr lang="en-US" altLang="zh-CN" sz="1200" b="1" dirty="0">
                <a:latin typeface="Times New Roman" panose="02020603050405020304" pitchFamily="18" charset="0"/>
                <a:ea typeface="宋体" panose="02010600030101010101" pitchFamily="2" charset="-122"/>
              </a:rPr>
              <a:t>      </a:t>
            </a:r>
            <a:r>
              <a:rPr lang="en-US" altLang="zh-CN" sz="1200" b="1" i="1" dirty="0">
                <a:latin typeface="Times New Roman" panose="02020603050405020304" pitchFamily="18" charset="0"/>
                <a:ea typeface="宋体" panose="02010600030101010101" pitchFamily="2" charset="-122"/>
              </a:rPr>
              <a:t>R</a:t>
            </a:r>
            <a:r>
              <a:rPr lang="en-US" altLang="zh-CN" sz="1200" b="1" dirty="0">
                <a:latin typeface="Times New Roman" panose="02020603050405020304" pitchFamily="18" charset="0"/>
                <a:ea typeface="宋体" panose="02010600030101010101" pitchFamily="2" charset="-122"/>
              </a:rPr>
              <a:t>={ &lt;</a:t>
            </a:r>
            <a:r>
              <a:rPr lang="en-US" altLang="zh-CN" sz="1200" b="1" i="1" dirty="0" err="1">
                <a:latin typeface="Times New Roman" panose="02020603050405020304" pitchFamily="18" charset="0"/>
                <a:ea typeface="宋体" panose="02010600030101010101" pitchFamily="2" charset="-122"/>
              </a:rPr>
              <a:t>x</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y</a:t>
            </a:r>
            <a:r>
              <a:rPr lang="en-US" altLang="zh-CN" sz="1200" b="1" dirty="0">
                <a:latin typeface="Times New Roman" panose="02020603050405020304" pitchFamily="18" charset="0"/>
                <a:ea typeface="宋体" panose="02010600030101010101" pitchFamily="2" charset="-122"/>
              </a:rPr>
              <a:t>&gt;| </a:t>
            </a:r>
            <a:r>
              <a:rPr lang="en-US" altLang="zh-CN" sz="1200" b="1" i="1" dirty="0" err="1">
                <a:latin typeface="Times New Roman" panose="02020603050405020304" pitchFamily="18" charset="0"/>
                <a:ea typeface="宋体" panose="02010600030101010101" pitchFamily="2" charset="-122"/>
              </a:rPr>
              <a:t>x</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y</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A</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x</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y</a:t>
            </a:r>
            <a:r>
              <a:rPr lang="en-US" altLang="zh-CN" sz="1200" b="1" i="1" dirty="0">
                <a:latin typeface="Times New Roman" panose="02020603050405020304" pitchFamily="18" charset="0"/>
                <a:ea typeface="宋体" panose="02010600030101010101" pitchFamily="2" charset="-122"/>
              </a:rPr>
              <a:t> </a:t>
            </a:r>
            <a:r>
              <a:rPr lang="en-US" altLang="zh-CN" sz="1200" b="1" dirty="0">
                <a:latin typeface="Times New Roman" panose="02020603050405020304" pitchFamily="18" charset="0"/>
                <a:ea typeface="宋体" panose="02010600030101010101" pitchFamily="2" charset="-122"/>
              </a:rPr>
              <a:t>(mod 3) }</a:t>
            </a:r>
          </a:p>
          <a:p>
            <a:pPr>
              <a:lnSpc>
                <a:spcPct val="120000"/>
              </a:lnSpc>
              <a:buNone/>
            </a:pPr>
            <a:r>
              <a:rPr lang="en-US" altLang="zh-CN" sz="1200" b="1" i="1" dirty="0">
                <a:latin typeface="Times New Roman" panose="02020603050405020304" pitchFamily="18" charset="0"/>
                <a:ea typeface="宋体" panose="02010600030101010101" pitchFamily="2" charset="-122"/>
              </a:rPr>
              <a:t>R </a:t>
            </a:r>
            <a:r>
              <a:rPr lang="zh-CN" altLang="en-US" sz="1200" b="1" dirty="0">
                <a:latin typeface="Times New Roman" panose="02020603050405020304" pitchFamily="18" charset="0"/>
                <a:ea typeface="宋体" panose="02010600030101010101" pitchFamily="2" charset="-122"/>
              </a:rPr>
              <a:t>的关系图如下</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77</a:t>
            </a:fld>
            <a:endParaRPr lang="zh-CN" altLang="en-US"/>
          </a:p>
        </p:txBody>
      </p:sp>
    </p:spTree>
    <p:extLst>
      <p:ext uri="{BB962C8B-B14F-4D97-AF65-F5344CB8AC3E}">
        <p14:creationId xmlns:p14="http://schemas.microsoft.com/office/powerpoint/2010/main" val="10951293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165225" eaLnBrk="1" hangingPunct="1">
              <a:spcBef>
                <a:spcPct val="40000"/>
              </a:spcBef>
              <a:buNone/>
            </a:pPr>
            <a:endParaRPr lang="en-US" altLang="zh-CN" b="1" dirty="0"/>
          </a:p>
          <a:p>
            <a:pPr marL="0" indent="1165225" eaLnBrk="1" hangingPunct="1">
              <a:spcBef>
                <a:spcPct val="40000"/>
              </a:spcBef>
              <a:buNone/>
            </a:pPr>
            <a:r>
              <a:rPr lang="en-US" altLang="zh-CN" b="1" dirty="0">
                <a:solidFill>
                  <a:srgbClr val="FF0000"/>
                </a:solidFill>
              </a:rPr>
              <a:t>4.4.1 </a:t>
            </a:r>
            <a:r>
              <a:rPr lang="zh-CN" altLang="en-US" b="1" dirty="0">
                <a:solidFill>
                  <a:srgbClr val="FF0000"/>
                </a:solidFill>
              </a:rPr>
              <a:t>等价关系</a:t>
            </a:r>
            <a:endParaRPr lang="en-US" altLang="zh-CN" b="1" dirty="0">
              <a:solidFill>
                <a:srgbClr val="FF0000"/>
              </a:solidFill>
            </a:endParaRPr>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4.4.2 </a:t>
            </a:r>
            <a:r>
              <a:rPr lang="zh-CN" altLang="en-US" b="1" dirty="0"/>
              <a:t>等价类和商集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4.4.3 </a:t>
            </a:r>
            <a:r>
              <a:rPr lang="zh-CN" altLang="en-US" b="1" dirty="0"/>
              <a:t>集合的划分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4.4.4 </a:t>
            </a:r>
            <a:r>
              <a:rPr lang="zh-CN" altLang="en-US" b="1" dirty="0"/>
              <a:t>偏序关系</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4.4.5 </a:t>
            </a:r>
            <a:r>
              <a:rPr lang="zh-CN" altLang="en-US" b="1" dirty="0"/>
              <a:t>偏序集与哈斯图</a:t>
            </a:r>
            <a:endParaRPr lang="zh-CN" altLang="en-US" sz="2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78</a:t>
            </a:fld>
            <a:endParaRPr lang="zh-CN" altLang="en-US"/>
          </a:p>
        </p:txBody>
      </p:sp>
    </p:spTree>
    <p:extLst>
      <p:ext uri="{BB962C8B-B14F-4D97-AF65-F5344CB8AC3E}">
        <p14:creationId xmlns:p14="http://schemas.microsoft.com/office/powerpoint/2010/main" val="39976588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等价类是集合 </a:t>
            </a:r>
            <a:r>
              <a:rPr lang="en-US" altLang="zh-CN" b="0" i="1" dirty="0">
                <a:solidFill>
                  <a:srgbClr val="374151"/>
                </a:solidFill>
                <a:effectLst/>
                <a:latin typeface="KaTeX_Math"/>
              </a:rPr>
              <a:t>A</a:t>
            </a:r>
            <a:r>
              <a:rPr lang="zh-CN" altLang="en-US" b="0" i="0" dirty="0">
                <a:solidFill>
                  <a:srgbClr val="374151"/>
                </a:solidFill>
                <a:effectLst/>
                <a:latin typeface="Söhne"/>
              </a:rPr>
              <a:t> 中所有与 </a:t>
            </a:r>
            <a:r>
              <a:rPr lang="en-US" altLang="zh-CN" b="0" i="1" dirty="0">
                <a:solidFill>
                  <a:srgbClr val="374151"/>
                </a:solidFill>
                <a:effectLst/>
                <a:latin typeface="KaTeX_Math"/>
              </a:rPr>
              <a:t>x</a:t>
            </a:r>
            <a:r>
              <a:rPr lang="zh-CN" altLang="en-US" b="0" i="0" dirty="0">
                <a:solidFill>
                  <a:srgbClr val="374151"/>
                </a:solidFill>
                <a:effectLst/>
                <a:latin typeface="Söhne"/>
              </a:rPr>
              <a:t> 相关（即在关系 </a:t>
            </a:r>
            <a:r>
              <a:rPr lang="en-US" altLang="zh-CN" b="0" i="1" dirty="0">
                <a:solidFill>
                  <a:srgbClr val="374151"/>
                </a:solidFill>
                <a:effectLst/>
                <a:latin typeface="KaTeX_Math"/>
              </a:rPr>
              <a:t>R</a:t>
            </a:r>
            <a:r>
              <a:rPr lang="zh-CN" altLang="en-US" b="0" i="0" dirty="0">
                <a:solidFill>
                  <a:srgbClr val="374151"/>
                </a:solidFill>
                <a:effectLst/>
                <a:latin typeface="Söhne"/>
              </a:rPr>
              <a:t> 下等价）的元素的集合。</a:t>
            </a:r>
            <a:r>
              <a:rPr kumimoji="0" lang="zh-CN" altLang="en-US" sz="1200" b="1" dirty="0"/>
              <a:t>如</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 </a:t>
            </a:r>
            <a:r>
              <a:rPr kumimoji="0" lang="zh-CN" altLang="en-US" sz="1200" b="1" dirty="0"/>
              <a:t>可记作 </a:t>
            </a:r>
            <a:r>
              <a:rPr kumimoji="0" lang="en-US" altLang="zh-CN" sz="1200" b="1" i="1" dirty="0" err="1"/>
              <a:t>xRy</a:t>
            </a:r>
            <a:r>
              <a:rPr kumimoji="0" lang="zh-CN" altLang="en-US" sz="1200" b="1" dirty="0"/>
              <a:t>；</a:t>
            </a:r>
            <a:endParaRPr lang="en-US" altLang="zh-CN" b="0" i="0" dirty="0">
              <a:solidFill>
                <a:srgbClr val="374151"/>
              </a:solidFill>
              <a:effectLst/>
              <a:latin typeface="Söhne"/>
            </a:endParaRPr>
          </a:p>
          <a:p>
            <a:pPr algn="just"/>
            <a:r>
              <a:rPr lang="zh-CN"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en-US"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y</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err="1">
                <a:effectLst/>
                <a:latin typeface="KaTeX_Math"/>
                <a:ea typeface="等线" panose="02010600030101010101" pitchFamily="2" charset="-122"/>
                <a:cs typeface="Times New Roman" panose="02020603050405020304" pitchFamily="18" charset="0"/>
              </a:rPr>
              <a:t>x</a:t>
            </a:r>
            <a:r>
              <a:rPr lang="en-US" altLang="zh-CN" sz="1800" kern="100" dirty="0" err="1">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err="1">
                <a:effectLst/>
                <a:latin typeface="KaTeX_Math"/>
                <a:ea typeface="等线" panose="02010600030101010101" pitchFamily="2" charset="-122"/>
                <a:cs typeface="Times New Roman" panose="02020603050405020304" pitchFamily="18" charset="0"/>
              </a:rPr>
              <a:t>y</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i="1" kern="100" dirty="0">
                <a:effectLst/>
                <a:latin typeface="KaTeX_Math"/>
                <a:ea typeface="等线" panose="02010600030101010101" pitchFamily="2" charset="-122"/>
                <a:cs typeface="Times New Roman" panose="02020603050405020304" pitchFamily="18" charset="0"/>
              </a:rPr>
              <a:t>R</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是集合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中所有与 </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在关系 </a:t>
            </a:r>
            <a:r>
              <a:rPr lang="en-US" altLang="zh-CN" sz="1800" i="1" kern="100" dirty="0">
                <a:effectLst/>
                <a:latin typeface="KaTeX_Math"/>
                <a:ea typeface="等线" panose="02010600030101010101" pitchFamily="2" charset="-122"/>
                <a:cs typeface="Times New Roman" panose="02020603050405020304" pitchFamily="18" charset="0"/>
              </a:rPr>
              <a:t>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下等价的元素的集合。</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0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0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{3,6}{3,6}</a:t>
            </a:r>
            <a:r>
              <a:rPr lang="zh-CN" altLang="en-US" b="0" i="0" dirty="0">
                <a:solidFill>
                  <a:srgbClr val="374151"/>
                </a:solidFill>
                <a:effectLst/>
                <a:latin typeface="Söhne"/>
              </a:rPr>
              <a:t>。</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1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1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{1,4,7}{1,4,7}</a:t>
            </a:r>
            <a:r>
              <a:rPr lang="zh-CN" altLang="en-US" b="0" i="0" dirty="0">
                <a:solidFill>
                  <a:srgbClr val="374151"/>
                </a:solidFill>
                <a:effectLst/>
                <a:latin typeface="Söhne"/>
              </a:rPr>
              <a:t>。</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2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2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{2,5,8}{2,5,8}</a:t>
            </a:r>
            <a:r>
              <a:rPr lang="zh-CN" altLang="en-US" b="0" i="0" dirty="0">
                <a:solidFill>
                  <a:srgbClr val="374151"/>
                </a:solidFill>
                <a:effectLst/>
                <a:latin typeface="Söhne"/>
              </a:rPr>
              <a:t>。</a:t>
            </a:r>
            <a:endParaRPr lang="en-US" altLang="zh-CN" b="0" i="0" dirty="0">
              <a:solidFill>
                <a:srgbClr val="374151"/>
              </a:solidFill>
              <a:effectLst/>
              <a:latin typeface="Söhne"/>
            </a:endParaRPr>
          </a:p>
          <a:p>
            <a:pPr algn="l">
              <a:buFont typeface="+mj-lt"/>
              <a:buAutoNum type="arabicPeriod"/>
            </a:pPr>
            <a:endParaRPr lang="en-US" altLang="zh-CN" b="0" i="0" dirty="0">
              <a:solidFill>
                <a:srgbClr val="374151"/>
              </a:solidFill>
              <a:effectLst/>
              <a:latin typeface="Söhne"/>
            </a:endParaRPr>
          </a:p>
          <a:p>
            <a:pPr eaLnBrk="1" hangingPunct="1">
              <a:lnSpc>
                <a:spcPct val="13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4.19</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，令</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xRy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p>
          <a:p>
            <a:pPr eaLnBrk="1" hangingPunct="1">
              <a:lnSpc>
                <a:spcPct val="130000"/>
              </a:lnSpc>
              <a:buNone/>
            </a:pPr>
            <a:r>
              <a:rPr lang="zh-CN" altLang="en-US" sz="1200" b="1" dirty="0">
                <a:solidFill>
                  <a:schemeClr val="tx1"/>
                </a:solidFill>
                <a:latin typeface="Times New Roman" panose="02020603050405020304" pitchFamily="18" charset="0"/>
                <a:ea typeface="宋体" panose="02010600030101010101" pitchFamily="2" charset="-122"/>
              </a:rPr>
              <a:t>称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关于</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等价类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简称为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的等价类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简记为</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p>
          <a:p>
            <a:pPr eaLnBrk="1" hangingPunct="1">
              <a:lnSpc>
                <a:spcPct val="130000"/>
              </a:lnSpc>
              <a:buNone/>
            </a:pPr>
            <a:endParaRPr lang="en-US" altLang="zh-CN" sz="1200" b="1" dirty="0"/>
          </a:p>
          <a:p>
            <a:pPr>
              <a:lnSpc>
                <a:spcPct val="130000"/>
              </a:lnSpc>
              <a:buNone/>
            </a:pPr>
            <a:r>
              <a:rPr lang="zh-CN" altLang="en-US" sz="1200" b="1" dirty="0">
                <a:solidFill>
                  <a:srgbClr val="00B0F0"/>
                </a:solidFill>
                <a:latin typeface="Times New Roman" panose="02020603050405020304" pitchFamily="18" charset="0"/>
                <a:ea typeface="宋体" panose="02010600030101010101" pitchFamily="2" charset="-122"/>
              </a:rPr>
              <a:t>注：</a:t>
            </a:r>
            <a:r>
              <a:rPr lang="en-US" altLang="zh-CN" sz="1200" b="1" dirty="0">
                <a:solidFill>
                  <a:srgbClr val="00B0F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a:t>
            </a:r>
            <a:r>
              <a:rPr lang="zh-CN" altLang="zh-CN" sz="1200" b="1" dirty="0"/>
              <a:t>是集合 </a:t>
            </a:r>
            <a:r>
              <a:rPr lang="en-US" altLang="zh-CN" sz="1200" b="1" i="1" dirty="0"/>
              <a:t>A </a:t>
            </a:r>
            <a:r>
              <a:rPr lang="zh-CN" altLang="zh-CN" sz="1200" b="1" dirty="0"/>
              <a:t>中所有与 </a:t>
            </a:r>
            <a:r>
              <a:rPr lang="en-US" altLang="zh-CN" sz="1200" b="1" dirty="0"/>
              <a:t>x </a:t>
            </a:r>
            <a:r>
              <a:rPr lang="zh-CN" altLang="zh-CN" sz="1200" b="1" dirty="0"/>
              <a:t>在关系 </a:t>
            </a:r>
            <a:r>
              <a:rPr lang="en-US" altLang="zh-CN" sz="1200" i="1" kern="100" dirty="0">
                <a:effectLst/>
                <a:latin typeface="KaTeX_Math"/>
                <a:ea typeface="等线" panose="02010600030101010101" pitchFamily="2" charset="-122"/>
                <a:cs typeface="Times New Roman" panose="02020603050405020304" pitchFamily="18" charset="0"/>
              </a:rPr>
              <a:t>R</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b="1" dirty="0"/>
              <a:t>下等价的元素的集合。</a:t>
            </a:r>
          </a:p>
          <a:p>
            <a:pPr eaLnBrk="1" hangingPunct="1">
              <a:lnSpc>
                <a:spcPct val="130000"/>
              </a:lnSpc>
              <a:buNone/>
            </a:pPr>
            <a:r>
              <a:rPr lang="en-US" altLang="zh-CN" sz="1200" b="1" kern="100" dirty="0">
                <a:ea typeface="等线" panose="02010600030101010101" pitchFamily="2" charset="-122"/>
                <a:cs typeface="Times New Roman" panose="02020603050405020304" pitchFamily="18" charset="0"/>
              </a:rPr>
              <a:t>   </a:t>
            </a:r>
            <a:r>
              <a:rPr lang="en-US" altLang="zh-CN" sz="1200" b="1" kern="100" dirty="0">
                <a:effectLst/>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a:effectLst/>
                <a:latin typeface="KaTeX_Math"/>
                <a:ea typeface="等线" panose="02010600030101010101" pitchFamily="2" charset="-122"/>
                <a:cs typeface="Times New Roman" panose="02020603050405020304" pitchFamily="18" charset="0"/>
              </a:rPr>
              <a:t>y</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kern="100" dirty="0">
                <a:effectLst/>
                <a:latin typeface="KaTeX_Math"/>
                <a:ea typeface="等线" panose="02010600030101010101" pitchFamily="2" charset="-122"/>
                <a:cs typeface="Times New Roman" panose="02020603050405020304" pitchFamily="18" charset="0"/>
              </a:rPr>
              <a:t>A</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err="1">
                <a:effectLst/>
                <a:latin typeface="KaTeX_Math"/>
                <a:ea typeface="等线" panose="02010600030101010101" pitchFamily="2" charset="-122"/>
                <a:cs typeface="Times New Roman" panose="02020603050405020304" pitchFamily="18" charset="0"/>
              </a:rPr>
              <a:t>x</a:t>
            </a:r>
            <a:r>
              <a:rPr lang="en-US" altLang="zh-CN" sz="1200" b="1" kern="100" dirty="0" err="1">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err="1">
                <a:effectLst/>
                <a:latin typeface="KaTeX_Math"/>
                <a:ea typeface="等线"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kern="100" dirty="0">
                <a:effectLst/>
                <a:latin typeface="KaTeX_Math"/>
                <a:ea typeface="等线"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00B0F0"/>
                </a:solidFill>
                <a:latin typeface="Times New Roman" panose="02020603050405020304" pitchFamily="18" charset="0"/>
                <a:ea typeface="宋体" panose="02010600030101010101" pitchFamily="2" charset="-122"/>
              </a:rPr>
              <a:t>实例 </a:t>
            </a:r>
            <a:r>
              <a:rPr lang="zh-CN" altLang="en-US" sz="1200" b="1" dirty="0">
                <a:latin typeface="Times New Roman" panose="02020603050405020304" pitchFamily="18" charset="0"/>
                <a:ea typeface="宋体" panose="02010600030101010101" pitchFamily="2" charset="-122"/>
              </a:rPr>
              <a:t>  </a:t>
            </a:r>
            <a:r>
              <a:rPr lang="en-US" altLang="zh-CN" sz="1200" b="1" dirty="0">
                <a:latin typeface="Times New Roman" panose="02020603050405020304" pitchFamily="18" charset="0"/>
                <a:ea typeface="宋体" panose="02010600030101010101" pitchFamily="2" charset="-122"/>
              </a:rPr>
              <a:t>A={ 1, 2, … , 8 }</a:t>
            </a:r>
            <a:r>
              <a:rPr lang="zh-CN" altLang="en-US" sz="1200" b="1" dirty="0">
                <a:latin typeface="Times New Roman" panose="02020603050405020304" pitchFamily="18" charset="0"/>
                <a:ea typeface="宋体" panose="02010600030101010101" pitchFamily="2" charset="-122"/>
              </a:rPr>
              <a:t>上模 </a:t>
            </a:r>
            <a:r>
              <a:rPr lang="en-US" altLang="zh-CN" sz="1200" b="1" dirty="0">
                <a:latin typeface="Times New Roman" panose="02020603050405020304" pitchFamily="18" charset="0"/>
                <a:ea typeface="宋体" panose="02010600030101010101" pitchFamily="2" charset="-122"/>
              </a:rPr>
              <a:t>3 </a:t>
            </a:r>
            <a:r>
              <a:rPr lang="zh-CN" altLang="en-US" sz="1200" b="1" dirty="0">
                <a:latin typeface="Times New Roman" panose="02020603050405020304" pitchFamily="18" charset="0"/>
                <a:ea typeface="宋体" panose="02010600030101010101" pitchFamily="2" charset="-122"/>
              </a:rPr>
              <a:t>等价关系的等价类：</a:t>
            </a:r>
            <a:br>
              <a:rPr lang="zh-CN" altLang="en-US" sz="1200" b="1" dirty="0">
                <a:latin typeface="Times New Roman" panose="02020603050405020304" pitchFamily="18" charset="0"/>
                <a:ea typeface="宋体" panose="02010600030101010101" pitchFamily="2" charset="-122"/>
              </a:rPr>
            </a:br>
            <a:r>
              <a:rPr lang="zh-CN" altLang="en-US" sz="1200" b="1" dirty="0">
                <a:latin typeface="Times New Roman" panose="02020603050405020304" pitchFamily="18" charset="0"/>
                <a:ea typeface="宋体" panose="02010600030101010101" pitchFamily="2" charset="-122"/>
              </a:rPr>
              <a:t>         </a:t>
            </a:r>
            <a:r>
              <a:rPr lang="en-US" altLang="zh-CN" sz="1200" b="1" dirty="0">
                <a:latin typeface="Times New Roman" panose="02020603050405020304" pitchFamily="18" charset="0"/>
                <a:ea typeface="宋体" panose="02010600030101010101" pitchFamily="2" charset="-122"/>
              </a:rPr>
              <a:t>[1]=[4]=[7]={1,4,7}</a:t>
            </a:r>
            <a:br>
              <a:rPr lang="en-US" altLang="zh-CN" sz="1200" b="1" dirty="0">
                <a:latin typeface="Times New Roman" panose="02020603050405020304" pitchFamily="18" charset="0"/>
                <a:ea typeface="宋体" panose="02010600030101010101" pitchFamily="2" charset="-122"/>
              </a:rPr>
            </a:br>
            <a:r>
              <a:rPr lang="en-US" altLang="zh-CN" sz="1200" b="1" dirty="0">
                <a:latin typeface="Times New Roman" panose="02020603050405020304" pitchFamily="18" charset="0"/>
                <a:ea typeface="宋体" panose="02010600030101010101" pitchFamily="2" charset="-122"/>
              </a:rPr>
              <a:t>         [2]=[5]=[8]={2,5,8}</a:t>
            </a:r>
            <a:br>
              <a:rPr lang="en-US" altLang="zh-CN" sz="1200" b="1" dirty="0">
                <a:latin typeface="Times New Roman" panose="02020603050405020304" pitchFamily="18" charset="0"/>
                <a:ea typeface="宋体" panose="02010600030101010101" pitchFamily="2" charset="-122"/>
              </a:rPr>
            </a:br>
            <a:r>
              <a:rPr lang="en-US" altLang="zh-CN" sz="1200" b="1" dirty="0">
                <a:latin typeface="Times New Roman" panose="02020603050405020304" pitchFamily="18" charset="0"/>
                <a:ea typeface="宋体" panose="02010600030101010101" pitchFamily="2" charset="-122"/>
              </a:rPr>
              <a:t>         [3]=[6]={3,6}</a:t>
            </a:r>
          </a:p>
          <a:p>
            <a:pPr eaLnBrk="1" hangingPunct="1">
              <a:lnSpc>
                <a:spcPct val="130000"/>
              </a:lnSpc>
              <a:buNone/>
            </a:pPr>
            <a:r>
              <a:rPr lang="zh-CN" altLang="en-US" sz="1200" b="1" dirty="0"/>
              <a:t>以上余数分别为</a:t>
            </a:r>
            <a:r>
              <a:rPr lang="en-US" altLang="zh-CN" sz="1200" b="1" dirty="0"/>
              <a:t>1,2,0</a:t>
            </a:r>
            <a:r>
              <a:rPr lang="zh-CN" altLang="en-US" sz="1200" b="1" dirty="0"/>
              <a:t>的三个等价类互不相交，并集为</a:t>
            </a:r>
            <a:r>
              <a:rPr lang="en-US" altLang="zh-CN" sz="1200" b="1" i="1" dirty="0"/>
              <a:t>A</a:t>
            </a:r>
            <a:endParaRPr lang="en-US" altLang="zh-CN" sz="1200" b="1" i="1" dirty="0">
              <a:latin typeface="Times New Roman" panose="02020603050405020304" pitchFamily="18" charset="0"/>
              <a:ea typeface="宋体" panose="02010600030101010101" pitchFamily="2" charset="-122"/>
            </a:endParaRPr>
          </a:p>
          <a:p>
            <a:pPr algn="l">
              <a:buFont typeface="+mj-lt"/>
              <a:buAutoNum type="arabicPeriod"/>
            </a:pPr>
            <a:endParaRPr lang="zh-CN" altLang="en-US" b="0" i="0" dirty="0">
              <a:solidFill>
                <a:srgbClr val="374151"/>
              </a:solidFill>
              <a:effectLst/>
              <a:latin typeface="Söhne"/>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79</a:t>
            </a:fld>
            <a:endParaRPr lang="zh-CN" altLang="en-US"/>
          </a:p>
        </p:txBody>
      </p:sp>
    </p:spTree>
    <p:extLst>
      <p:ext uri="{BB962C8B-B14F-4D97-AF65-F5344CB8AC3E}">
        <p14:creationId xmlns:p14="http://schemas.microsoft.com/office/powerpoint/2010/main" val="42761212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等价类是集合 </a:t>
            </a:r>
            <a:r>
              <a:rPr lang="en-US" altLang="zh-CN" b="0" i="1" dirty="0">
                <a:solidFill>
                  <a:srgbClr val="374151"/>
                </a:solidFill>
                <a:effectLst/>
                <a:latin typeface="KaTeX_Math"/>
              </a:rPr>
              <a:t>A</a:t>
            </a:r>
            <a:r>
              <a:rPr lang="zh-CN" altLang="en-US" b="0" i="0" dirty="0">
                <a:solidFill>
                  <a:srgbClr val="374151"/>
                </a:solidFill>
                <a:effectLst/>
                <a:latin typeface="Söhne"/>
              </a:rPr>
              <a:t> 中所有与 </a:t>
            </a:r>
            <a:r>
              <a:rPr lang="en-US" altLang="zh-CN" b="0" i="1" dirty="0">
                <a:solidFill>
                  <a:srgbClr val="374151"/>
                </a:solidFill>
                <a:effectLst/>
                <a:latin typeface="KaTeX_Math"/>
              </a:rPr>
              <a:t>x</a:t>
            </a:r>
            <a:r>
              <a:rPr lang="zh-CN" altLang="en-US" b="0" i="0" dirty="0">
                <a:solidFill>
                  <a:srgbClr val="374151"/>
                </a:solidFill>
                <a:effectLst/>
                <a:latin typeface="Söhne"/>
              </a:rPr>
              <a:t> 相关（即在关系 </a:t>
            </a:r>
            <a:r>
              <a:rPr lang="en-US" altLang="zh-CN" b="0" i="1" dirty="0">
                <a:solidFill>
                  <a:srgbClr val="374151"/>
                </a:solidFill>
                <a:effectLst/>
                <a:latin typeface="KaTeX_Math"/>
              </a:rPr>
              <a:t>R</a:t>
            </a:r>
            <a:r>
              <a:rPr lang="zh-CN" altLang="en-US" b="0" i="0" dirty="0">
                <a:solidFill>
                  <a:srgbClr val="374151"/>
                </a:solidFill>
                <a:effectLst/>
                <a:latin typeface="Söhne"/>
              </a:rPr>
              <a:t> 下等价）的元素的集合。</a:t>
            </a:r>
            <a:r>
              <a:rPr kumimoji="0" lang="zh-CN" altLang="en-US" sz="1200" b="1" dirty="0"/>
              <a:t>如</a:t>
            </a:r>
            <a:r>
              <a:rPr kumimoji="0" lang="en-US" altLang="zh-CN" sz="1200" b="1" dirty="0"/>
              <a:t>&lt;</a:t>
            </a:r>
            <a:r>
              <a:rPr kumimoji="0" lang="en-US" altLang="zh-CN" sz="1200" b="1" i="1" dirty="0" err="1"/>
              <a:t>x</a:t>
            </a:r>
            <a:r>
              <a:rPr kumimoji="0" lang="en-US" altLang="zh-CN" sz="1200" b="1" dirty="0" err="1"/>
              <a:t>,</a:t>
            </a:r>
            <a:r>
              <a:rPr kumimoji="0" lang="en-US" altLang="zh-CN" sz="1200" b="1" i="1" dirty="0" err="1"/>
              <a:t>y</a:t>
            </a:r>
            <a:r>
              <a:rPr kumimoji="0" lang="en-US" altLang="zh-CN" sz="1200" b="1" dirty="0"/>
              <a:t>&gt;∈</a:t>
            </a:r>
            <a:r>
              <a:rPr kumimoji="0" lang="en-US" altLang="zh-CN" sz="1200" b="1" i="1" dirty="0"/>
              <a:t>R</a:t>
            </a:r>
            <a:r>
              <a:rPr kumimoji="0" lang="en-US" altLang="zh-CN" sz="1200" b="1" dirty="0"/>
              <a:t>, </a:t>
            </a:r>
            <a:r>
              <a:rPr kumimoji="0" lang="zh-CN" altLang="en-US" sz="1200" b="1" dirty="0"/>
              <a:t>可记作 </a:t>
            </a:r>
            <a:r>
              <a:rPr kumimoji="0" lang="en-US" altLang="zh-CN" sz="1200" b="1" i="1" dirty="0" err="1"/>
              <a:t>xRy</a:t>
            </a:r>
            <a:r>
              <a:rPr kumimoji="0" lang="zh-CN" altLang="en-US" sz="1200" b="1" dirty="0"/>
              <a:t>；</a:t>
            </a:r>
            <a:endParaRPr lang="en-US" altLang="zh-CN" b="0" i="0" dirty="0">
              <a:solidFill>
                <a:srgbClr val="374151"/>
              </a:solidFill>
              <a:effectLst/>
              <a:latin typeface="Söhne"/>
            </a:endParaRPr>
          </a:p>
          <a:p>
            <a:pPr algn="just"/>
            <a:r>
              <a:rPr lang="zh-CN"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en-US"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y</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err="1">
                <a:effectLst/>
                <a:latin typeface="KaTeX_Math"/>
                <a:ea typeface="等线" panose="02010600030101010101" pitchFamily="2" charset="-122"/>
                <a:cs typeface="Times New Roman" panose="02020603050405020304" pitchFamily="18" charset="0"/>
              </a:rPr>
              <a:t>x</a:t>
            </a:r>
            <a:r>
              <a:rPr lang="en-US" altLang="zh-CN" sz="1800" kern="100" dirty="0" err="1">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err="1">
                <a:effectLst/>
                <a:latin typeface="KaTeX_Math"/>
                <a:ea typeface="等线" panose="02010600030101010101" pitchFamily="2" charset="-122"/>
                <a:cs typeface="Times New Roman" panose="02020603050405020304" pitchFamily="18" charset="0"/>
              </a:rPr>
              <a:t>y</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i="1" kern="100" dirty="0">
                <a:effectLst/>
                <a:latin typeface="KaTeX_Math"/>
                <a:ea typeface="等线" panose="02010600030101010101" pitchFamily="2" charset="-122"/>
                <a:cs typeface="Times New Roman" panose="02020603050405020304" pitchFamily="18" charset="0"/>
              </a:rPr>
              <a:t>R</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是集合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中所有与 </a:t>
            </a:r>
            <a:r>
              <a:rPr lang="en-US" altLang="zh-CN" sz="1800" i="1" kern="100" dirty="0">
                <a:effectLst/>
                <a:latin typeface="KaTeX_Math"/>
                <a:ea typeface="等线" panose="02010600030101010101" pitchFamily="2" charset="-122"/>
                <a:cs typeface="Times New Roman" panose="02020603050405020304" pitchFamily="18" charset="0"/>
              </a:rPr>
              <a:t>x</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在关系 </a:t>
            </a:r>
            <a:r>
              <a:rPr lang="en-US" altLang="zh-CN" sz="1800" i="1" kern="100" dirty="0">
                <a:effectLst/>
                <a:latin typeface="KaTeX_Math"/>
                <a:ea typeface="等线" panose="02010600030101010101" pitchFamily="2" charset="-122"/>
                <a:cs typeface="Times New Roman" panose="02020603050405020304" pitchFamily="18" charset="0"/>
              </a:rPr>
              <a:t>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下等价的元素的集合。</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0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0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{3,6}{3,6}</a:t>
            </a:r>
            <a:r>
              <a:rPr lang="zh-CN" altLang="en-US" b="0" i="0" dirty="0">
                <a:solidFill>
                  <a:srgbClr val="374151"/>
                </a:solidFill>
                <a:effectLst/>
                <a:latin typeface="Söhne"/>
              </a:rPr>
              <a:t>。</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1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1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{1,4,7}{1,4,7}</a:t>
            </a:r>
            <a:r>
              <a:rPr lang="zh-CN" altLang="en-US" b="0" i="0" dirty="0">
                <a:solidFill>
                  <a:srgbClr val="374151"/>
                </a:solidFill>
                <a:effectLst/>
                <a:latin typeface="Söhne"/>
              </a:rPr>
              <a:t>。</a:t>
            </a:r>
          </a:p>
          <a:p>
            <a:pPr algn="l">
              <a:buFont typeface="+mj-lt"/>
              <a:buAutoNum type="arabicPeriod"/>
            </a:pPr>
            <a:r>
              <a:rPr lang="zh-CN" altLang="en-US" b="0" i="0" dirty="0">
                <a:solidFill>
                  <a:srgbClr val="374151"/>
                </a:solidFill>
                <a:effectLst/>
                <a:latin typeface="Söhne"/>
              </a:rPr>
              <a:t>余数为 </a:t>
            </a:r>
            <a:r>
              <a:rPr lang="en-US" altLang="zh-CN" b="0" i="0" dirty="0">
                <a:solidFill>
                  <a:srgbClr val="374151"/>
                </a:solidFill>
                <a:effectLst/>
                <a:latin typeface="Söhne"/>
              </a:rPr>
              <a:t>2 </a:t>
            </a:r>
            <a:r>
              <a:rPr lang="zh-CN" altLang="en-US" b="0" i="0" dirty="0">
                <a:solidFill>
                  <a:srgbClr val="374151"/>
                </a:solidFill>
                <a:effectLst/>
                <a:latin typeface="Söhne"/>
              </a:rPr>
              <a:t>的等价类：包括所有除以 </a:t>
            </a:r>
            <a:r>
              <a:rPr lang="en-US" altLang="zh-CN" b="0" i="0" dirty="0">
                <a:solidFill>
                  <a:srgbClr val="374151"/>
                </a:solidFill>
                <a:effectLst/>
                <a:latin typeface="Söhne"/>
              </a:rPr>
              <a:t>3 </a:t>
            </a:r>
            <a:r>
              <a:rPr lang="zh-CN" altLang="en-US" b="0" i="0" dirty="0">
                <a:solidFill>
                  <a:srgbClr val="374151"/>
                </a:solidFill>
                <a:effectLst/>
                <a:latin typeface="Söhne"/>
              </a:rPr>
              <a:t>余数为 </a:t>
            </a:r>
            <a:r>
              <a:rPr lang="en-US" altLang="zh-CN" b="0" i="0" dirty="0">
                <a:solidFill>
                  <a:srgbClr val="374151"/>
                </a:solidFill>
                <a:effectLst/>
                <a:latin typeface="Söhne"/>
              </a:rPr>
              <a:t>2 </a:t>
            </a:r>
            <a:r>
              <a:rPr lang="zh-CN" altLang="en-US" b="0" i="0" dirty="0">
                <a:solidFill>
                  <a:srgbClr val="374151"/>
                </a:solidFill>
                <a:effectLst/>
                <a:latin typeface="Söhne"/>
              </a:rPr>
              <a:t>的数。在集合 </a:t>
            </a:r>
            <a:r>
              <a:rPr lang="en-US" altLang="zh-CN" b="0" i="1" dirty="0">
                <a:solidFill>
                  <a:srgbClr val="374151"/>
                </a:solidFill>
                <a:effectLst/>
                <a:latin typeface="KaTeX_Math"/>
              </a:rPr>
              <a:t>A</a:t>
            </a:r>
            <a:r>
              <a:rPr lang="zh-CN" altLang="en-US" b="0" i="0" dirty="0">
                <a:solidFill>
                  <a:srgbClr val="374151"/>
                </a:solidFill>
                <a:effectLst/>
                <a:latin typeface="Söhne"/>
              </a:rPr>
              <a:t> 中，这些数是 </a:t>
            </a:r>
            <a:r>
              <a:rPr lang="en-US" altLang="zh-CN" b="0" i="0" dirty="0">
                <a:solidFill>
                  <a:srgbClr val="374151"/>
                </a:solidFill>
                <a:effectLst/>
                <a:latin typeface="KaTeX_Main"/>
              </a:rPr>
              <a:t>{2,5,8}{2,5,8}</a:t>
            </a:r>
            <a:r>
              <a:rPr lang="zh-CN" altLang="en-US" b="0" i="0" dirty="0">
                <a:solidFill>
                  <a:srgbClr val="374151"/>
                </a:solidFill>
                <a:effectLst/>
                <a:latin typeface="Söhne"/>
              </a:rPr>
              <a:t>。</a:t>
            </a:r>
            <a:endParaRPr lang="en-US" altLang="zh-CN" b="0" i="0" dirty="0">
              <a:solidFill>
                <a:srgbClr val="374151"/>
              </a:solidFill>
              <a:effectLst/>
              <a:latin typeface="Söhne"/>
            </a:endParaRPr>
          </a:p>
          <a:p>
            <a:pPr algn="l">
              <a:buFont typeface="+mj-lt"/>
              <a:buAutoNum type="arabicPeriod"/>
            </a:pPr>
            <a:endParaRPr lang="en-US" altLang="zh-CN" b="0" i="0" dirty="0">
              <a:solidFill>
                <a:srgbClr val="374151"/>
              </a:solidFill>
              <a:effectLst/>
              <a:latin typeface="Söhne"/>
            </a:endParaRPr>
          </a:p>
          <a:p>
            <a:pPr eaLnBrk="1" hangingPunct="1">
              <a:lnSpc>
                <a:spcPct val="13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4.19</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，令</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xRy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p>
          <a:p>
            <a:pPr eaLnBrk="1" hangingPunct="1">
              <a:lnSpc>
                <a:spcPct val="130000"/>
              </a:lnSpc>
              <a:buNone/>
            </a:pPr>
            <a:r>
              <a:rPr lang="zh-CN" altLang="en-US" sz="1200" b="1" dirty="0">
                <a:solidFill>
                  <a:schemeClr val="tx1"/>
                </a:solidFill>
                <a:latin typeface="Times New Roman" panose="02020603050405020304" pitchFamily="18" charset="0"/>
                <a:ea typeface="宋体" panose="02010600030101010101" pitchFamily="2" charset="-122"/>
              </a:rPr>
              <a:t>称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关于</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等价类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简称为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的等价类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简记为</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p>
          <a:p>
            <a:pPr eaLnBrk="1" hangingPunct="1">
              <a:lnSpc>
                <a:spcPct val="130000"/>
              </a:lnSpc>
              <a:buNone/>
            </a:pPr>
            <a:endParaRPr lang="en-US" altLang="zh-CN" sz="1200" b="1" dirty="0"/>
          </a:p>
          <a:p>
            <a:pPr>
              <a:lnSpc>
                <a:spcPct val="130000"/>
              </a:lnSpc>
              <a:buNone/>
            </a:pPr>
            <a:r>
              <a:rPr lang="zh-CN" altLang="en-US" sz="1200" b="1" dirty="0">
                <a:solidFill>
                  <a:srgbClr val="00B0F0"/>
                </a:solidFill>
                <a:latin typeface="Times New Roman" panose="02020603050405020304" pitchFamily="18" charset="0"/>
                <a:ea typeface="宋体" panose="02010600030101010101" pitchFamily="2" charset="-122"/>
              </a:rPr>
              <a:t>注：</a:t>
            </a:r>
            <a:r>
              <a:rPr lang="en-US" altLang="zh-CN" sz="1200" b="1" dirty="0">
                <a:solidFill>
                  <a:srgbClr val="00B0F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a:t>
            </a:r>
            <a:r>
              <a:rPr lang="zh-CN" altLang="zh-CN" sz="1200" b="1" dirty="0"/>
              <a:t>是集合 </a:t>
            </a:r>
            <a:r>
              <a:rPr lang="en-US" altLang="zh-CN" sz="1200" b="1" i="1" dirty="0"/>
              <a:t>A </a:t>
            </a:r>
            <a:r>
              <a:rPr lang="zh-CN" altLang="zh-CN" sz="1200" b="1" dirty="0"/>
              <a:t>中所有与 </a:t>
            </a:r>
            <a:r>
              <a:rPr lang="en-US" altLang="zh-CN" sz="1200" b="1" dirty="0"/>
              <a:t>x </a:t>
            </a:r>
            <a:r>
              <a:rPr lang="zh-CN" altLang="zh-CN" sz="1200" b="1" dirty="0"/>
              <a:t>在关系 </a:t>
            </a:r>
            <a:r>
              <a:rPr lang="en-US" altLang="zh-CN" sz="1200" i="1" kern="100" dirty="0">
                <a:effectLst/>
                <a:latin typeface="KaTeX_Math"/>
                <a:ea typeface="等线" panose="02010600030101010101" pitchFamily="2" charset="-122"/>
                <a:cs typeface="Times New Roman" panose="02020603050405020304" pitchFamily="18" charset="0"/>
              </a:rPr>
              <a:t>R</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b="1" dirty="0"/>
              <a:t>下等价的元素的集合。</a:t>
            </a:r>
          </a:p>
          <a:p>
            <a:pPr eaLnBrk="1" hangingPunct="1">
              <a:lnSpc>
                <a:spcPct val="130000"/>
              </a:lnSpc>
              <a:buNone/>
            </a:pPr>
            <a:r>
              <a:rPr lang="en-US" altLang="zh-CN" sz="1200" b="1" kern="100" dirty="0">
                <a:ea typeface="等线" panose="02010600030101010101" pitchFamily="2" charset="-122"/>
                <a:cs typeface="Times New Roman" panose="02020603050405020304" pitchFamily="18" charset="0"/>
              </a:rPr>
              <a:t>   </a:t>
            </a:r>
            <a:r>
              <a:rPr lang="en-US" altLang="zh-CN" sz="1200" b="1" kern="100" dirty="0">
                <a:effectLst/>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 </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a:effectLst/>
                <a:latin typeface="KaTeX_Math"/>
                <a:ea typeface="等线" panose="02010600030101010101" pitchFamily="2" charset="-122"/>
                <a:cs typeface="Times New Roman" panose="02020603050405020304" pitchFamily="18" charset="0"/>
              </a:rPr>
              <a:t>y</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kern="100" dirty="0">
                <a:effectLst/>
                <a:latin typeface="KaTeX_Math"/>
                <a:ea typeface="等线" panose="02010600030101010101" pitchFamily="2" charset="-122"/>
                <a:cs typeface="Times New Roman" panose="02020603050405020304" pitchFamily="18" charset="0"/>
              </a:rPr>
              <a:t>A</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err="1">
                <a:effectLst/>
                <a:latin typeface="KaTeX_Math"/>
                <a:ea typeface="等线" panose="02010600030101010101" pitchFamily="2" charset="-122"/>
                <a:cs typeface="Times New Roman" panose="02020603050405020304" pitchFamily="18" charset="0"/>
              </a:rPr>
              <a:t>x</a:t>
            </a:r>
            <a:r>
              <a:rPr lang="en-US" altLang="zh-CN" sz="1200" b="1" kern="100" dirty="0" err="1">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200" b="1" i="1" kern="100" dirty="0" err="1">
                <a:effectLst/>
                <a:latin typeface="KaTeX_Math"/>
                <a:ea typeface="等线"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200" b="1"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200" b="1" i="1" kern="100" dirty="0">
                <a:effectLst/>
                <a:latin typeface="KaTeX_Math"/>
                <a:ea typeface="等线"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ea typeface="等线" panose="02010600030101010101" pitchFamily="2" charset="-122"/>
                <a:cs typeface="Times New Roman" panose="02020603050405020304" pitchFamily="18" charset="0"/>
              </a:rPr>
              <a:t>}</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00B0F0"/>
                </a:solidFill>
                <a:latin typeface="Times New Roman" panose="02020603050405020304" pitchFamily="18" charset="0"/>
                <a:ea typeface="宋体" panose="02010600030101010101" pitchFamily="2" charset="-122"/>
              </a:rPr>
              <a:t>实例 </a:t>
            </a:r>
            <a:r>
              <a:rPr lang="zh-CN" altLang="en-US" sz="1200" b="1" dirty="0">
                <a:latin typeface="Times New Roman" panose="02020603050405020304" pitchFamily="18" charset="0"/>
                <a:ea typeface="宋体" panose="02010600030101010101" pitchFamily="2" charset="-122"/>
              </a:rPr>
              <a:t>  </a:t>
            </a:r>
            <a:r>
              <a:rPr lang="en-US" altLang="zh-CN" sz="1200" b="1" dirty="0">
                <a:latin typeface="Times New Roman" panose="02020603050405020304" pitchFamily="18" charset="0"/>
                <a:ea typeface="宋体" panose="02010600030101010101" pitchFamily="2" charset="-122"/>
              </a:rPr>
              <a:t>A={ 1, 2, … , 8 }</a:t>
            </a:r>
            <a:r>
              <a:rPr lang="zh-CN" altLang="en-US" sz="1200" b="1" dirty="0">
                <a:latin typeface="Times New Roman" panose="02020603050405020304" pitchFamily="18" charset="0"/>
                <a:ea typeface="宋体" panose="02010600030101010101" pitchFamily="2" charset="-122"/>
              </a:rPr>
              <a:t>上模 </a:t>
            </a:r>
            <a:r>
              <a:rPr lang="en-US" altLang="zh-CN" sz="1200" b="1" dirty="0">
                <a:latin typeface="Times New Roman" panose="02020603050405020304" pitchFamily="18" charset="0"/>
                <a:ea typeface="宋体" panose="02010600030101010101" pitchFamily="2" charset="-122"/>
              </a:rPr>
              <a:t>3 </a:t>
            </a:r>
            <a:r>
              <a:rPr lang="zh-CN" altLang="en-US" sz="1200" b="1" dirty="0">
                <a:latin typeface="Times New Roman" panose="02020603050405020304" pitchFamily="18" charset="0"/>
                <a:ea typeface="宋体" panose="02010600030101010101" pitchFamily="2" charset="-122"/>
              </a:rPr>
              <a:t>等价关系的等价类：</a:t>
            </a:r>
            <a:br>
              <a:rPr lang="zh-CN" altLang="en-US" sz="1200" b="1" dirty="0">
                <a:latin typeface="Times New Roman" panose="02020603050405020304" pitchFamily="18" charset="0"/>
                <a:ea typeface="宋体" panose="02010600030101010101" pitchFamily="2" charset="-122"/>
              </a:rPr>
            </a:br>
            <a:r>
              <a:rPr lang="zh-CN" altLang="en-US" sz="1200" b="1" dirty="0">
                <a:latin typeface="Times New Roman" panose="02020603050405020304" pitchFamily="18" charset="0"/>
                <a:ea typeface="宋体" panose="02010600030101010101" pitchFamily="2" charset="-122"/>
              </a:rPr>
              <a:t>         </a:t>
            </a:r>
            <a:r>
              <a:rPr lang="en-US" altLang="zh-CN" sz="1200" b="1" dirty="0">
                <a:latin typeface="Times New Roman" panose="02020603050405020304" pitchFamily="18" charset="0"/>
                <a:ea typeface="宋体" panose="02010600030101010101" pitchFamily="2" charset="-122"/>
              </a:rPr>
              <a:t>[1]=[4]=[7]={1,4,7}</a:t>
            </a:r>
            <a:br>
              <a:rPr lang="en-US" altLang="zh-CN" sz="1200" b="1" dirty="0">
                <a:latin typeface="Times New Roman" panose="02020603050405020304" pitchFamily="18" charset="0"/>
                <a:ea typeface="宋体" panose="02010600030101010101" pitchFamily="2" charset="-122"/>
              </a:rPr>
            </a:br>
            <a:r>
              <a:rPr lang="en-US" altLang="zh-CN" sz="1200" b="1" dirty="0">
                <a:latin typeface="Times New Roman" panose="02020603050405020304" pitchFamily="18" charset="0"/>
                <a:ea typeface="宋体" panose="02010600030101010101" pitchFamily="2" charset="-122"/>
              </a:rPr>
              <a:t>         [2]=[5]=[8]={2,5,8}</a:t>
            </a:r>
            <a:br>
              <a:rPr lang="en-US" altLang="zh-CN" sz="1200" b="1" dirty="0">
                <a:latin typeface="Times New Roman" panose="02020603050405020304" pitchFamily="18" charset="0"/>
                <a:ea typeface="宋体" panose="02010600030101010101" pitchFamily="2" charset="-122"/>
              </a:rPr>
            </a:br>
            <a:r>
              <a:rPr lang="en-US" altLang="zh-CN" sz="1200" b="1" dirty="0">
                <a:latin typeface="Times New Roman" panose="02020603050405020304" pitchFamily="18" charset="0"/>
                <a:ea typeface="宋体" panose="02010600030101010101" pitchFamily="2" charset="-122"/>
              </a:rPr>
              <a:t>         [3]=[6]={3,6}</a:t>
            </a:r>
          </a:p>
          <a:p>
            <a:pPr eaLnBrk="1" hangingPunct="1">
              <a:lnSpc>
                <a:spcPct val="130000"/>
              </a:lnSpc>
              <a:buNone/>
            </a:pPr>
            <a:r>
              <a:rPr lang="zh-CN" altLang="en-US" sz="1200" b="1" dirty="0"/>
              <a:t>以上余数分别为</a:t>
            </a:r>
            <a:r>
              <a:rPr lang="en-US" altLang="zh-CN" sz="1200" b="1" dirty="0"/>
              <a:t>1,2,0</a:t>
            </a:r>
            <a:r>
              <a:rPr lang="zh-CN" altLang="en-US" sz="1200" b="1" dirty="0"/>
              <a:t>的三个等价类互不相交，并集为</a:t>
            </a:r>
            <a:r>
              <a:rPr lang="en-US" altLang="zh-CN" sz="1200" b="1" i="1" dirty="0"/>
              <a:t>A</a:t>
            </a:r>
            <a:endParaRPr lang="en-US" altLang="zh-CN" sz="1200" b="1" i="1" dirty="0">
              <a:latin typeface="Times New Roman" panose="02020603050405020304" pitchFamily="18" charset="0"/>
              <a:ea typeface="宋体" panose="02010600030101010101" pitchFamily="2" charset="-122"/>
            </a:endParaRPr>
          </a:p>
          <a:p>
            <a:pPr algn="l">
              <a:buFont typeface="+mj-lt"/>
              <a:buAutoNum type="arabicPeriod"/>
            </a:pPr>
            <a:endParaRPr lang="zh-CN" altLang="en-US" b="0" i="0" dirty="0">
              <a:solidFill>
                <a:srgbClr val="374151"/>
              </a:solidFill>
              <a:effectLst/>
              <a:latin typeface="Söhne"/>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80</a:t>
            </a:fld>
            <a:endParaRPr lang="zh-CN" altLang="en-US"/>
          </a:p>
        </p:txBody>
      </p:sp>
    </p:spTree>
    <p:extLst>
      <p:ext uri="{BB962C8B-B14F-4D97-AF65-F5344CB8AC3E}">
        <p14:creationId xmlns:p14="http://schemas.microsoft.com/office/powerpoint/2010/main" val="311336085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4.8</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是非空集合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如下结论成立</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(1)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的非空子集</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(2)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 </a:t>
            </a:r>
            <a:r>
              <a:rPr lang="en-US" altLang="zh-CN" sz="1200" b="1" i="1" dirty="0" err="1">
                <a:solidFill>
                  <a:schemeClr val="tx1"/>
                </a:solidFill>
                <a:latin typeface="Times New Roman" panose="02020603050405020304" pitchFamily="18" charset="0"/>
                <a:ea typeface="宋体" panose="02010600030101010101" pitchFamily="2" charset="-122"/>
              </a:rPr>
              <a:t>xRy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(3)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 </a:t>
            </a:r>
            <a:r>
              <a:rPr lang="en-US" altLang="zh-CN" sz="1200" b="1" i="1" dirty="0">
                <a:solidFill>
                  <a:schemeClr val="tx1"/>
                </a:solidFill>
                <a:latin typeface="Times New Roman" panose="02020603050405020304" pitchFamily="18" charset="0"/>
                <a:ea typeface="宋体" panose="02010600030101010101" pitchFamily="2" charset="-122"/>
              </a:rPr>
              <a:t>x    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不交</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(4)                      </a:t>
            </a:r>
            <a:r>
              <a:rPr lang="zh-CN" altLang="en-US" sz="1200" b="1" i="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即所有等价类的并集就是</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81</a:t>
            </a:fld>
            <a:endParaRPr lang="zh-CN" altLang="en-US"/>
          </a:p>
        </p:txBody>
      </p:sp>
    </p:spTree>
    <p:extLst>
      <p:ext uri="{BB962C8B-B14F-4D97-AF65-F5344CB8AC3E}">
        <p14:creationId xmlns:p14="http://schemas.microsoft.com/office/powerpoint/2010/main" val="26417886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4.8(1)</a:t>
            </a:r>
            <a:r>
              <a:rPr lang="zh-CN" altLang="en-US" sz="1200" b="1" dirty="0">
                <a:solidFill>
                  <a:srgbClr val="FF0000"/>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accent5"/>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accent5"/>
                </a:solidFill>
                <a:latin typeface="Times New Roman" panose="02020603050405020304" pitchFamily="18" charset="0"/>
                <a:ea typeface="宋体" panose="02010600030101010101" pitchFamily="2" charset="-122"/>
              </a:rPr>
              <a:t>x</a:t>
            </a:r>
            <a:r>
              <a:rPr lang="en-US" altLang="zh-CN" sz="1200" b="1" dirty="0" err="1">
                <a:solidFill>
                  <a:schemeClr val="accent5"/>
                </a:solidFill>
                <a:latin typeface="Times New Roman" panose="02020603050405020304" pitchFamily="18" charset="0"/>
                <a:ea typeface="宋体" panose="02010600030101010101" pitchFamily="2" charset="-122"/>
              </a:rPr>
              <a:t>∈</a:t>
            </a:r>
            <a:r>
              <a:rPr lang="en-US" altLang="zh-CN" sz="1200" b="1" i="1" dirty="0" err="1">
                <a:solidFill>
                  <a:schemeClr val="accent5"/>
                </a:solidFill>
                <a:latin typeface="Times New Roman" panose="02020603050405020304" pitchFamily="18" charset="0"/>
                <a:ea typeface="宋体" panose="02010600030101010101" pitchFamily="2" charset="-122"/>
              </a:rPr>
              <a:t>A</a:t>
            </a:r>
            <a:r>
              <a:rPr lang="en-US" altLang="zh-CN" sz="1200" b="1" dirty="0">
                <a:solidFill>
                  <a:schemeClr val="accent5"/>
                </a:solidFill>
                <a:latin typeface="Times New Roman" panose="02020603050405020304" pitchFamily="18" charset="0"/>
                <a:ea typeface="宋体" panose="02010600030101010101" pitchFamily="2" charset="-122"/>
              </a:rPr>
              <a:t>, [</a:t>
            </a:r>
            <a:r>
              <a:rPr lang="en-US" altLang="zh-CN" sz="1200" b="1" i="1" dirty="0">
                <a:solidFill>
                  <a:schemeClr val="accent5"/>
                </a:solidFill>
                <a:latin typeface="Times New Roman" panose="02020603050405020304" pitchFamily="18" charset="0"/>
                <a:ea typeface="宋体" panose="02010600030101010101" pitchFamily="2" charset="-122"/>
              </a:rPr>
              <a:t>x</a:t>
            </a:r>
            <a:r>
              <a:rPr lang="en-US" altLang="zh-CN" sz="1200" b="1" dirty="0">
                <a:solidFill>
                  <a:schemeClr val="accent5"/>
                </a:solidFill>
                <a:latin typeface="Times New Roman" panose="02020603050405020304" pitchFamily="18" charset="0"/>
                <a:ea typeface="宋体" panose="02010600030101010101" pitchFamily="2" charset="-122"/>
              </a:rPr>
              <a:t>] </a:t>
            </a:r>
            <a:r>
              <a:rPr lang="zh-CN" altLang="en-US" sz="1200" b="1" dirty="0">
                <a:solidFill>
                  <a:schemeClr val="accent5"/>
                </a:solidFill>
                <a:latin typeface="Times New Roman" panose="02020603050405020304" pitchFamily="18" charset="0"/>
                <a:ea typeface="宋体" panose="02010600030101010101" pitchFamily="2" charset="-122"/>
              </a:rPr>
              <a:t>是</a:t>
            </a:r>
            <a:r>
              <a:rPr lang="en-US" altLang="zh-CN" sz="1200" b="1" i="1" dirty="0">
                <a:solidFill>
                  <a:schemeClr val="accent5"/>
                </a:solidFill>
                <a:latin typeface="Times New Roman" panose="02020603050405020304" pitchFamily="18" charset="0"/>
                <a:ea typeface="宋体" panose="02010600030101010101" pitchFamily="2" charset="-122"/>
              </a:rPr>
              <a:t>A</a:t>
            </a:r>
            <a:r>
              <a:rPr lang="zh-CN" altLang="en-US" sz="1200" b="1" dirty="0">
                <a:solidFill>
                  <a:schemeClr val="accent5"/>
                </a:solidFill>
                <a:latin typeface="Times New Roman" panose="02020603050405020304" pitchFamily="18" charset="0"/>
                <a:ea typeface="宋体" panose="02010600030101010101" pitchFamily="2" charset="-122"/>
              </a:rPr>
              <a:t>的非空子集</a:t>
            </a:r>
            <a:endParaRPr lang="en-US" altLang="zh-CN" sz="1200" b="1" dirty="0">
              <a:solidFill>
                <a:schemeClr val="accent5"/>
              </a:solidFill>
              <a:latin typeface="Times New Roman" panose="02020603050405020304" pitchFamily="18" charset="0"/>
              <a:ea typeface="宋体" panose="02010600030101010101" pitchFamily="2" charset="-122"/>
            </a:endParaRPr>
          </a:p>
          <a:p>
            <a:pPr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由等价类定义可知</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有</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由自反性有</a:t>
            </a:r>
            <a:r>
              <a:rPr lang="en-US" altLang="zh-CN" sz="1200" b="1" i="1" dirty="0" err="1">
                <a:solidFill>
                  <a:schemeClr val="tx1"/>
                </a:solidFill>
                <a:latin typeface="Times New Roman" panose="02020603050405020304" pitchFamily="18" charset="0"/>
                <a:ea typeface="宋体" panose="02010600030101010101" pitchFamily="2" charset="-122"/>
              </a:rPr>
              <a:t>xRx</a:t>
            </a:r>
            <a:r>
              <a:rPr lang="zh-CN" altLang="en-US" sz="1200" b="1" i="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因此必有</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即</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非空</a:t>
            </a:r>
            <a:r>
              <a:rPr lang="en-US" altLang="zh-CN" sz="1200" b="1" dirty="0">
                <a:solidFill>
                  <a:schemeClr val="tx1"/>
                </a:solidFill>
                <a:latin typeface="Times New Roman" panose="02020603050405020304" pitchFamily="18" charset="0"/>
                <a:ea typeface="宋体" panose="02010600030101010101" pitchFamily="2" charset="-122"/>
              </a:rPr>
              <a:t>.</a:t>
            </a:r>
          </a:p>
          <a:p>
            <a:pPr algn="just">
              <a:buNone/>
            </a:pPr>
            <a:r>
              <a:rPr lang="zh-CN" altLang="zh-CN" sz="1200" b="1" kern="100" dirty="0">
                <a:effectLst/>
                <a:latin typeface="+mn-ea"/>
                <a:ea typeface="+mn-ea"/>
                <a:cs typeface="Times New Roman" panose="02020603050405020304" pitchFamily="18" charset="0"/>
              </a:rPr>
              <a:t>由于等价类</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zh-CN" sz="1200" b="1" kern="100" dirty="0">
                <a:effectLst/>
                <a:latin typeface="+mn-ea"/>
                <a:ea typeface="+mn-ea"/>
                <a:cs typeface="Times New Roman" panose="02020603050405020304" pitchFamily="18" charset="0"/>
              </a:rPr>
              <a:t>中的所有元素都是从集合</a:t>
            </a:r>
            <a:r>
              <a:rPr lang="en-US" altLang="zh-CN" sz="1200" b="1" i="1" kern="100" dirty="0">
                <a:solidFill>
                  <a:srgbClr val="374151"/>
                </a:solidFill>
                <a:effectLst/>
                <a:latin typeface="+mn-ea"/>
                <a:ea typeface="+mn-ea"/>
                <a:cs typeface="Times New Roman" panose="02020603050405020304" pitchFamily="18" charset="0"/>
              </a:rPr>
              <a:t>A</a:t>
            </a:r>
            <a:r>
              <a:rPr lang="zh-CN" altLang="zh-CN" sz="1200" b="1" kern="100" dirty="0">
                <a:effectLst/>
                <a:latin typeface="+mn-ea"/>
                <a:ea typeface="+mn-ea"/>
                <a:cs typeface="Times New Roman" panose="02020603050405020304" pitchFamily="18" charset="0"/>
              </a:rPr>
              <a:t>中选取的，因此</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zh-CN" sz="1200" b="1" kern="100" dirty="0">
                <a:effectLst/>
                <a:latin typeface="+mn-ea"/>
                <a:ea typeface="+mn-ea"/>
                <a:cs typeface="Times New Roman" panose="02020603050405020304" pitchFamily="18" charset="0"/>
              </a:rPr>
              <a:t>是集合</a:t>
            </a:r>
            <a:r>
              <a:rPr lang="en-US" altLang="zh-CN" sz="1200" b="1" i="1" kern="100" dirty="0">
                <a:solidFill>
                  <a:srgbClr val="374151"/>
                </a:solidFill>
                <a:effectLst/>
                <a:latin typeface="+mn-ea"/>
                <a:ea typeface="+mn-ea"/>
                <a:cs typeface="Times New Roman" panose="02020603050405020304" pitchFamily="18" charset="0"/>
              </a:rPr>
              <a:t>A</a:t>
            </a:r>
            <a:r>
              <a:rPr lang="zh-CN" altLang="zh-CN" sz="1200" b="1" kern="100" dirty="0">
                <a:effectLst/>
                <a:latin typeface="+mn-ea"/>
                <a:ea typeface="+mn-ea"/>
                <a:cs typeface="Times New Roman" panose="02020603050405020304" pitchFamily="18" charset="0"/>
              </a:rPr>
              <a:t> 的一个子集。</a:t>
            </a:r>
          </a:p>
          <a:p>
            <a:pPr>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4.8(2)</a:t>
            </a:r>
            <a:r>
              <a:rPr lang="zh-CN" altLang="en-US" sz="1200" b="1" dirty="0">
                <a:solidFill>
                  <a:srgbClr val="FF0000"/>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accent5"/>
                </a:solidFill>
                <a:sym typeface="Symbol" panose="05050102010706020507" pitchFamily="18" charset="2"/>
              </a:rPr>
              <a:t></a:t>
            </a:r>
            <a:r>
              <a:rPr lang="en-US" altLang="zh-CN" sz="1200" b="1" dirty="0">
                <a:solidFill>
                  <a:schemeClr val="accent5"/>
                </a:solidFill>
              </a:rPr>
              <a:t>x, </a:t>
            </a:r>
            <a:r>
              <a:rPr lang="en-US" altLang="zh-CN" sz="1200" b="1" dirty="0" err="1">
                <a:solidFill>
                  <a:schemeClr val="accent5"/>
                </a:solidFill>
              </a:rPr>
              <a:t>y∈A</a:t>
            </a:r>
            <a:r>
              <a:rPr lang="en-US" altLang="zh-CN" sz="1200" b="1" dirty="0">
                <a:solidFill>
                  <a:schemeClr val="accent5"/>
                </a:solidFill>
              </a:rPr>
              <a:t>, </a:t>
            </a:r>
            <a:r>
              <a:rPr lang="zh-CN" altLang="en-US" sz="1200" b="1" dirty="0">
                <a:solidFill>
                  <a:schemeClr val="accent5"/>
                </a:solidFill>
              </a:rPr>
              <a:t>如果 </a:t>
            </a:r>
            <a:r>
              <a:rPr lang="en-US" altLang="zh-CN" sz="1200" b="1" dirty="0" err="1">
                <a:solidFill>
                  <a:schemeClr val="accent5"/>
                </a:solidFill>
              </a:rPr>
              <a:t>xRy</a:t>
            </a:r>
            <a:r>
              <a:rPr lang="en-US" altLang="zh-CN" sz="1200" b="1" dirty="0">
                <a:solidFill>
                  <a:schemeClr val="accent5"/>
                </a:solidFill>
              </a:rPr>
              <a:t>, </a:t>
            </a:r>
            <a:r>
              <a:rPr lang="zh-CN" altLang="en-US" sz="1200" b="1" dirty="0">
                <a:solidFill>
                  <a:schemeClr val="accent5"/>
                </a:solidFill>
              </a:rPr>
              <a:t>则 </a:t>
            </a:r>
            <a:r>
              <a:rPr lang="en-US" altLang="zh-CN" sz="1200" b="1" dirty="0">
                <a:solidFill>
                  <a:schemeClr val="accent5"/>
                </a:solidFill>
              </a:rPr>
              <a:t>[x]=[y].</a:t>
            </a:r>
          </a:p>
          <a:p>
            <a:pPr>
              <a:lnSpc>
                <a:spcPct val="120000"/>
              </a:lnSpc>
              <a:buNone/>
            </a:pPr>
            <a:r>
              <a:rPr lang="zh-CN" altLang="zh-CN" sz="1200" b="1" kern="100" dirty="0">
                <a:effectLst/>
                <a:latin typeface="+mn-ea"/>
                <a:ea typeface="+mn-ea"/>
                <a:cs typeface="Times New Roman" panose="02020603050405020304" pitchFamily="18" charset="0"/>
              </a:rPr>
              <a:t>对于</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zh-CN" sz="1200" b="1" kern="100" dirty="0">
                <a:effectLst/>
                <a:latin typeface="+mn-ea"/>
                <a:ea typeface="+mn-ea"/>
                <a:cs typeface="Times New Roman" panose="02020603050405020304" pitchFamily="18" charset="0"/>
              </a:rPr>
              <a:t>中的任意元素</a:t>
            </a:r>
            <a:r>
              <a:rPr lang="en-US" altLang="zh-CN" sz="1200" b="1" i="1" dirty="0"/>
              <a:t>a</a:t>
            </a:r>
            <a:r>
              <a:rPr lang="zh-CN" altLang="zh-CN" sz="1200" b="1" kern="100" dirty="0">
                <a:effectLst/>
                <a:latin typeface="+mn-ea"/>
                <a:ea typeface="+mn-ea"/>
                <a:cs typeface="Times New Roman" panose="02020603050405020304" pitchFamily="18" charset="0"/>
              </a:rPr>
              <a:t>，</a:t>
            </a:r>
            <a:r>
              <a:rPr lang="zh-CN" altLang="en-US" sz="1200" b="1" kern="100" dirty="0">
                <a:effectLst/>
                <a:latin typeface="+mn-ea"/>
                <a:ea typeface="+mn-ea"/>
                <a:cs typeface="Times New Roman" panose="02020603050405020304" pitchFamily="18" charset="0"/>
              </a:rPr>
              <a:t>有</a:t>
            </a:r>
            <a:r>
              <a:rPr lang="en-US" altLang="zh-CN" sz="1200" b="1" dirty="0"/>
              <a:t>(</a:t>
            </a:r>
            <a:r>
              <a:rPr lang="en-US" altLang="zh-CN" sz="1200" b="1" i="1" dirty="0" err="1"/>
              <a:t>x,a</a:t>
            </a:r>
            <a:r>
              <a:rPr lang="en-US" altLang="zh-CN" sz="1200" b="1" dirty="0"/>
              <a:t>)</a:t>
            </a:r>
            <a:r>
              <a:rPr lang="zh-CN" altLang="zh-CN" sz="1200" b="1" dirty="0"/>
              <a:t>∈</a:t>
            </a:r>
            <a:r>
              <a:rPr lang="zh-CN" altLang="zh-CN" sz="1200" b="1" i="1" dirty="0"/>
              <a:t>R</a:t>
            </a:r>
            <a:r>
              <a:rPr lang="zh-CN" altLang="zh-CN" sz="1200" b="1" kern="100" dirty="0">
                <a:effectLst/>
                <a:latin typeface="+mn-ea"/>
                <a:ea typeface="+mn-ea"/>
                <a:cs typeface="Times New Roman" panose="02020603050405020304" pitchFamily="18" charset="0"/>
              </a:rPr>
              <a:t>。</a:t>
            </a:r>
            <a:r>
              <a:rPr lang="en-US" altLang="zh-CN" sz="1200" b="1" dirty="0"/>
              <a:t> (</a:t>
            </a:r>
            <a:r>
              <a:rPr lang="en-US" altLang="zh-CN" sz="1200" b="1" i="1" dirty="0" err="1"/>
              <a:t>x,y</a:t>
            </a:r>
            <a:r>
              <a:rPr lang="en-US" altLang="zh-CN" sz="1200" b="1" dirty="0"/>
              <a:t>)</a:t>
            </a:r>
            <a:r>
              <a:rPr lang="zh-CN" altLang="zh-CN" sz="1200" b="1" dirty="0"/>
              <a:t>∈</a:t>
            </a:r>
            <a:r>
              <a:rPr lang="zh-CN" altLang="zh-CN" sz="1200" b="1" i="1" dirty="0"/>
              <a:t>R</a:t>
            </a:r>
            <a:r>
              <a:rPr lang="zh-CN" altLang="zh-CN" sz="1200" b="1" kern="100" dirty="0">
                <a:effectLst/>
                <a:latin typeface="+mn-ea"/>
                <a:ea typeface="+mn-ea"/>
                <a:cs typeface="Times New Roman" panose="02020603050405020304" pitchFamily="18" charset="0"/>
              </a:rPr>
              <a:t> 并且</a:t>
            </a:r>
            <a:r>
              <a:rPr lang="zh-CN" altLang="zh-CN" sz="1200" b="1" i="1" dirty="0"/>
              <a:t>R</a:t>
            </a:r>
            <a:r>
              <a:rPr lang="zh-CN" altLang="zh-CN" sz="1200" b="1" kern="100" dirty="0">
                <a:effectLst/>
                <a:latin typeface="+mn-ea"/>
                <a:ea typeface="+mn-ea"/>
                <a:cs typeface="Times New Roman" panose="02020603050405020304" pitchFamily="18" charset="0"/>
              </a:rPr>
              <a:t>是传递的，可以得出 </a:t>
            </a:r>
            <a:r>
              <a:rPr lang="en-US" altLang="zh-CN" sz="1200" b="1" dirty="0"/>
              <a:t>(</a:t>
            </a:r>
            <a:r>
              <a:rPr lang="en-US" altLang="zh-CN" sz="1200" b="1" i="1" dirty="0" err="1"/>
              <a:t>y,a</a:t>
            </a:r>
            <a:r>
              <a:rPr lang="en-US" altLang="zh-CN" sz="1200" b="1" dirty="0"/>
              <a:t>)</a:t>
            </a:r>
            <a:r>
              <a:rPr lang="zh-CN" altLang="zh-CN" sz="1200" b="1" dirty="0"/>
              <a:t>∈</a:t>
            </a:r>
            <a:r>
              <a:rPr lang="zh-CN" altLang="zh-CN" sz="1200" b="1" i="1" dirty="0"/>
              <a:t>R </a:t>
            </a:r>
            <a:r>
              <a:rPr lang="zh-CN" altLang="en-US" sz="1200" b="1" kern="100" dirty="0">
                <a:latin typeface="+mn-ea"/>
                <a:ea typeface="+mn-ea"/>
                <a:cs typeface="Times New Roman" panose="02020603050405020304" pitchFamily="18" charset="0"/>
              </a:rPr>
              <a:t>，即</a:t>
            </a:r>
            <a:r>
              <a:rPr lang="en-US" altLang="zh-CN" sz="1200" b="1" i="1" dirty="0"/>
              <a:t>a</a:t>
            </a:r>
            <a:r>
              <a:rPr lang="zh-CN" altLang="zh-CN" sz="1200" b="1" kern="100" dirty="0">
                <a:effectLst/>
                <a:latin typeface="+mn-ea"/>
                <a:ea typeface="+mn-ea"/>
                <a:cs typeface="Times New Roman" panose="02020603050405020304" pitchFamily="18" charset="0"/>
              </a:rPr>
              <a:t>也属于</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zh-CN" sz="1200" b="1" kern="100" dirty="0">
                <a:effectLst/>
                <a:latin typeface="+mn-ea"/>
                <a:ea typeface="+mn-ea"/>
                <a:cs typeface="Times New Roman" panose="02020603050405020304" pitchFamily="18" charset="0"/>
              </a:rPr>
              <a:t>。这证明了 </a:t>
            </a:r>
            <a:r>
              <a:rPr lang="en-US" altLang="zh-CN" sz="1200" b="1" dirty="0"/>
              <a:t>[x]⊆</a:t>
            </a:r>
            <a:r>
              <a:rPr lang="zh-CN" altLang="zh-CN" sz="1200" b="1" dirty="0"/>
              <a:t>[</a:t>
            </a:r>
            <a:r>
              <a:rPr lang="en-US" altLang="zh-CN" sz="1200" b="1" dirty="0"/>
              <a:t>y]</a:t>
            </a:r>
            <a:r>
              <a:rPr lang="zh-CN" altLang="zh-CN" sz="1200" b="1" kern="100" dirty="0">
                <a:effectLst/>
                <a:latin typeface="+mn-ea"/>
                <a:ea typeface="+mn-ea"/>
                <a:cs typeface="Times New Roman" panose="02020603050405020304" pitchFamily="18" charset="0"/>
              </a:rPr>
              <a:t>。</a:t>
            </a:r>
          </a:p>
          <a:p>
            <a:pPr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同理可证</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这就得到了</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82</a:t>
            </a:fld>
            <a:endParaRPr lang="zh-CN" altLang="en-US"/>
          </a:p>
        </p:txBody>
      </p:sp>
    </p:spTree>
    <p:extLst>
      <p:ext uri="{BB962C8B-B14F-4D97-AF65-F5344CB8AC3E}">
        <p14:creationId xmlns:p14="http://schemas.microsoft.com/office/powerpoint/2010/main" val="226856948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buNone/>
            </a:pPr>
            <a:r>
              <a:rPr lang="zh-CN" altLang="en-US" sz="1100" b="1" dirty="0">
                <a:solidFill>
                  <a:srgbClr val="FF0000"/>
                </a:solidFill>
                <a:latin typeface="Times New Roman" panose="02020603050405020304" pitchFamily="18" charset="0"/>
                <a:ea typeface="宋体" panose="02010600030101010101" pitchFamily="2" charset="-122"/>
              </a:rPr>
              <a:t>定理</a:t>
            </a:r>
            <a:r>
              <a:rPr lang="en-US" altLang="zh-CN" sz="1100" b="1" dirty="0">
                <a:solidFill>
                  <a:srgbClr val="FF0000"/>
                </a:solidFill>
                <a:latin typeface="Times New Roman" panose="02020603050405020304" pitchFamily="18" charset="0"/>
                <a:ea typeface="宋体" panose="02010600030101010101" pitchFamily="2" charset="-122"/>
              </a:rPr>
              <a:t>4.8(3)</a:t>
            </a:r>
            <a:r>
              <a:rPr lang="zh-CN" altLang="en-US" sz="1100" b="1" dirty="0">
                <a:solidFill>
                  <a:srgbClr val="FF0000"/>
                </a:solidFill>
                <a:latin typeface="Times New Roman" panose="02020603050405020304" pitchFamily="18" charset="0"/>
                <a:ea typeface="宋体" panose="02010600030101010101" pitchFamily="2" charset="-122"/>
              </a:rPr>
              <a:t>：</a:t>
            </a:r>
            <a:r>
              <a:rPr lang="zh-CN" altLang="en-US" sz="1200" b="1" dirty="0">
                <a:solidFill>
                  <a:schemeClr val="accent5"/>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accent5"/>
                </a:solidFill>
                <a:latin typeface="Times New Roman" panose="02020603050405020304" pitchFamily="18" charset="0"/>
                <a:ea typeface="宋体" panose="02010600030101010101" pitchFamily="2" charset="-122"/>
              </a:rPr>
              <a:t>x</a:t>
            </a:r>
            <a:r>
              <a:rPr lang="en-US" altLang="zh-CN" sz="1200" b="1" dirty="0">
                <a:solidFill>
                  <a:schemeClr val="accent5"/>
                </a:solidFill>
                <a:latin typeface="Times New Roman" panose="02020603050405020304" pitchFamily="18" charset="0"/>
                <a:ea typeface="宋体" panose="02010600030101010101" pitchFamily="2" charset="-122"/>
              </a:rPr>
              <a:t>, </a:t>
            </a:r>
            <a:r>
              <a:rPr lang="en-US" altLang="zh-CN" sz="1200" b="1" i="1" dirty="0" err="1">
                <a:solidFill>
                  <a:schemeClr val="accent5"/>
                </a:solidFill>
                <a:latin typeface="Times New Roman" panose="02020603050405020304" pitchFamily="18" charset="0"/>
                <a:ea typeface="宋体" panose="02010600030101010101" pitchFamily="2" charset="-122"/>
              </a:rPr>
              <a:t>y</a:t>
            </a:r>
            <a:r>
              <a:rPr lang="en-US" altLang="zh-CN" sz="1200" b="1" dirty="0" err="1">
                <a:solidFill>
                  <a:schemeClr val="accent5"/>
                </a:solidFill>
                <a:latin typeface="Times New Roman" panose="02020603050405020304" pitchFamily="18" charset="0"/>
                <a:ea typeface="宋体" panose="02010600030101010101" pitchFamily="2" charset="-122"/>
              </a:rPr>
              <a:t>∈</a:t>
            </a:r>
            <a:r>
              <a:rPr lang="en-US" altLang="zh-CN" sz="1200" b="1" i="1" dirty="0" err="1">
                <a:solidFill>
                  <a:schemeClr val="accent5"/>
                </a:solidFill>
                <a:latin typeface="Times New Roman" panose="02020603050405020304" pitchFamily="18" charset="0"/>
                <a:ea typeface="宋体" panose="02010600030101010101" pitchFamily="2" charset="-122"/>
              </a:rPr>
              <a:t>A</a:t>
            </a:r>
            <a:r>
              <a:rPr lang="en-US" altLang="zh-CN" sz="1200" b="1" dirty="0">
                <a:solidFill>
                  <a:schemeClr val="accent5"/>
                </a:solidFill>
                <a:latin typeface="Times New Roman" panose="02020603050405020304" pitchFamily="18" charset="0"/>
                <a:ea typeface="宋体" panose="02010600030101010101" pitchFamily="2" charset="-122"/>
              </a:rPr>
              <a:t>, </a:t>
            </a:r>
            <a:r>
              <a:rPr lang="zh-CN" altLang="en-US" sz="1200" b="1" dirty="0">
                <a:solidFill>
                  <a:schemeClr val="accent5"/>
                </a:solidFill>
                <a:latin typeface="Times New Roman" panose="02020603050405020304" pitchFamily="18" charset="0"/>
                <a:ea typeface="宋体" panose="02010600030101010101" pitchFamily="2" charset="-122"/>
              </a:rPr>
              <a:t>如果 </a:t>
            </a:r>
            <a:r>
              <a:rPr lang="en-US" altLang="zh-CN" sz="1200" b="1" i="1" dirty="0">
                <a:solidFill>
                  <a:schemeClr val="accent5"/>
                </a:solidFill>
                <a:latin typeface="Times New Roman" panose="02020603050405020304" pitchFamily="18" charset="0"/>
                <a:ea typeface="宋体" panose="02010600030101010101" pitchFamily="2" charset="-122"/>
              </a:rPr>
              <a:t>x    y</a:t>
            </a:r>
            <a:r>
              <a:rPr lang="en-US" altLang="zh-CN" sz="1200" b="1" dirty="0">
                <a:solidFill>
                  <a:schemeClr val="accent5"/>
                </a:solidFill>
                <a:latin typeface="Times New Roman" panose="02020603050405020304" pitchFamily="18" charset="0"/>
                <a:ea typeface="宋体" panose="02010600030101010101" pitchFamily="2" charset="-122"/>
              </a:rPr>
              <a:t>, </a:t>
            </a:r>
            <a:r>
              <a:rPr lang="zh-CN" altLang="en-US" sz="1200" b="1" dirty="0">
                <a:solidFill>
                  <a:schemeClr val="accent5"/>
                </a:solidFill>
                <a:latin typeface="Times New Roman" panose="02020603050405020304" pitchFamily="18" charset="0"/>
                <a:ea typeface="宋体" panose="02010600030101010101" pitchFamily="2" charset="-122"/>
              </a:rPr>
              <a:t>则 </a:t>
            </a:r>
            <a:r>
              <a:rPr lang="en-US" altLang="zh-CN" sz="1200" b="1" dirty="0">
                <a:solidFill>
                  <a:schemeClr val="accent5"/>
                </a:solidFill>
                <a:latin typeface="Times New Roman" panose="02020603050405020304" pitchFamily="18" charset="0"/>
                <a:ea typeface="宋体" panose="02010600030101010101" pitchFamily="2" charset="-122"/>
              </a:rPr>
              <a:t>[</a:t>
            </a:r>
            <a:r>
              <a:rPr lang="en-US" altLang="zh-CN" sz="1200" b="1" i="1" dirty="0">
                <a:solidFill>
                  <a:schemeClr val="accent5"/>
                </a:solidFill>
                <a:latin typeface="Times New Roman" panose="02020603050405020304" pitchFamily="18" charset="0"/>
                <a:ea typeface="宋体" panose="02010600030101010101" pitchFamily="2" charset="-122"/>
              </a:rPr>
              <a:t>x</a:t>
            </a:r>
            <a:r>
              <a:rPr lang="en-US" altLang="zh-CN" sz="1200" b="1" dirty="0">
                <a:solidFill>
                  <a:schemeClr val="accent5"/>
                </a:solidFill>
                <a:latin typeface="Times New Roman" panose="02020603050405020304" pitchFamily="18" charset="0"/>
                <a:ea typeface="宋体" panose="02010600030101010101" pitchFamily="2" charset="-122"/>
              </a:rPr>
              <a:t>]</a:t>
            </a:r>
            <a:r>
              <a:rPr lang="zh-CN" altLang="en-US" sz="1200" b="1" dirty="0">
                <a:solidFill>
                  <a:schemeClr val="accent5"/>
                </a:solidFill>
                <a:latin typeface="Times New Roman" panose="02020603050405020304" pitchFamily="18" charset="0"/>
                <a:ea typeface="宋体" panose="02010600030101010101" pitchFamily="2" charset="-122"/>
              </a:rPr>
              <a:t>与</a:t>
            </a:r>
            <a:r>
              <a:rPr lang="en-US" altLang="zh-CN" sz="1200" b="1" dirty="0">
                <a:solidFill>
                  <a:schemeClr val="accent5"/>
                </a:solidFill>
                <a:latin typeface="Times New Roman" panose="02020603050405020304" pitchFamily="18" charset="0"/>
                <a:ea typeface="宋体" panose="02010600030101010101" pitchFamily="2" charset="-122"/>
              </a:rPr>
              <a:t>[</a:t>
            </a:r>
            <a:r>
              <a:rPr lang="en-US" altLang="zh-CN" sz="1200" b="1" i="1" dirty="0">
                <a:solidFill>
                  <a:schemeClr val="accent5"/>
                </a:solidFill>
                <a:latin typeface="Times New Roman" panose="02020603050405020304" pitchFamily="18" charset="0"/>
                <a:ea typeface="宋体" panose="02010600030101010101" pitchFamily="2" charset="-122"/>
              </a:rPr>
              <a:t>y</a:t>
            </a:r>
            <a:r>
              <a:rPr lang="en-US" altLang="zh-CN" sz="1200" b="1" dirty="0">
                <a:solidFill>
                  <a:schemeClr val="accent5"/>
                </a:solidFill>
                <a:latin typeface="Times New Roman" panose="02020603050405020304" pitchFamily="18" charset="0"/>
                <a:ea typeface="宋体" panose="02010600030101010101" pitchFamily="2" charset="-122"/>
              </a:rPr>
              <a:t>]</a:t>
            </a:r>
            <a:r>
              <a:rPr lang="zh-CN" altLang="en-US" sz="1200" b="1" dirty="0">
                <a:solidFill>
                  <a:schemeClr val="accent5"/>
                </a:solidFill>
                <a:latin typeface="Times New Roman" panose="02020603050405020304" pitchFamily="18" charset="0"/>
                <a:ea typeface="宋体" panose="02010600030101010101" pitchFamily="2" charset="-122"/>
              </a:rPr>
              <a:t>不交</a:t>
            </a:r>
            <a:r>
              <a:rPr lang="en-US" altLang="zh-CN" sz="1100" b="1" dirty="0">
                <a:solidFill>
                  <a:schemeClr val="accent5"/>
                </a:solidFill>
                <a:latin typeface="Times New Roman" panose="02020603050405020304" pitchFamily="18" charset="0"/>
                <a:ea typeface="宋体" panose="02010600030101010101" pitchFamily="2" charset="-122"/>
              </a:rPr>
              <a:t>.</a:t>
            </a:r>
            <a:br>
              <a:rPr lang="en-US" altLang="zh-CN" sz="1100" b="1" dirty="0">
                <a:solidFill>
                  <a:schemeClr val="accent5"/>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假设</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则存在</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从而有</a:t>
            </a:r>
          </a:p>
          <a:p>
            <a:pPr eaLnBrk="1" hangingPunct="1">
              <a:lnSpc>
                <a:spcPct val="120000"/>
              </a:lnSpc>
              <a:buNone/>
            </a:pP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即</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&gt;∈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&gt;∈</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p>
          <a:p>
            <a:pPr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根据</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的对称性和传递性必有</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x   y</a:t>
            </a:r>
            <a:r>
              <a:rPr lang="zh-CN" altLang="en-US" sz="1200" b="1" dirty="0">
                <a:solidFill>
                  <a:schemeClr val="tx1"/>
                </a:solidFill>
                <a:latin typeface="Times New Roman" panose="02020603050405020304" pitchFamily="18" charset="0"/>
                <a:ea typeface="宋体" panose="02010600030101010101" pitchFamily="2" charset="-122"/>
              </a:rPr>
              <a:t>矛盾</a:t>
            </a:r>
            <a:endParaRPr lang="en-US" altLang="zh-CN" sz="1200" b="1" dirty="0">
              <a:solidFill>
                <a:schemeClr val="tx1"/>
              </a:solidFill>
              <a:latin typeface="Times New Roman" panose="02020603050405020304" pitchFamily="18" charset="0"/>
              <a:ea typeface="宋体" panose="02010600030101010101" pitchFamily="2" charset="-122"/>
            </a:endParaRPr>
          </a:p>
          <a:p>
            <a:pPr eaLnBrk="1" hangingPunct="1">
              <a:lnSpc>
                <a:spcPct val="120000"/>
              </a:lnSpc>
              <a:buNone/>
            </a:pP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83</a:t>
            </a:fld>
            <a:endParaRPr lang="zh-CN" altLang="en-US"/>
          </a:p>
        </p:txBody>
      </p:sp>
    </p:spTree>
    <p:extLst>
      <p:ext uri="{BB962C8B-B14F-4D97-AF65-F5344CB8AC3E}">
        <p14:creationId xmlns:p14="http://schemas.microsoft.com/office/powerpoint/2010/main" val="138424283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4.8(4)</a:t>
            </a:r>
            <a:r>
              <a:rPr lang="zh-CN" altLang="en-US" sz="1200" b="1" dirty="0">
                <a:solidFill>
                  <a:srgbClr val="FF000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即所有等价类的并集就是</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endParaRPr lang="zh-CN" altLang="en-US" sz="1200" b="1" dirty="0"/>
          </a:p>
          <a:p>
            <a:pPr>
              <a:lnSpc>
                <a:spcPct val="150000"/>
              </a:lnSpc>
            </a:pPr>
            <a:endParaRPr lang="en-US" altLang="zh-CN" sz="1200" b="1" dirty="0">
              <a:solidFill>
                <a:schemeClr val="tx1"/>
              </a:solidFill>
              <a:latin typeface="Times New Roman" panose="02020603050405020304" pitchFamily="18" charset="0"/>
              <a:ea typeface="宋体" panose="02010600030101010101" pitchFamily="2" charset="-122"/>
            </a:endParaRPr>
          </a:p>
          <a:p>
            <a:pPr>
              <a:lnSpc>
                <a:spcPct val="150000"/>
              </a:lnSpc>
            </a:pPr>
            <a:r>
              <a:rPr lang="zh-CN" altLang="en-US" sz="1200" b="1" dirty="0">
                <a:solidFill>
                  <a:schemeClr val="tx1"/>
                </a:solidFill>
                <a:latin typeface="Times New Roman" panose="02020603050405020304" pitchFamily="18" charset="0"/>
                <a:ea typeface="宋体" panose="02010600030101010101" pitchFamily="2" charset="-122"/>
              </a:rPr>
              <a:t>先证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任取</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endParaRPr lang="en-US" altLang="zh-CN" sz="1200" b="1" i="1" dirty="0">
              <a:solidFill>
                <a:schemeClr val="tx1"/>
              </a:solidFill>
              <a:latin typeface="Times New Roman" panose="02020603050405020304" pitchFamily="18" charset="0"/>
              <a:ea typeface="宋体" panose="02010600030101010101" pitchFamily="2" charset="-122"/>
            </a:endParaRPr>
          </a:p>
          <a:p>
            <a:pPr>
              <a:lnSpc>
                <a:spcPct val="150000"/>
              </a:lnSpc>
            </a:pPr>
            <a:r>
              <a:rPr lang="en-US" altLang="zh-CN" sz="1200" b="1" i="1" dirty="0">
                <a:solidFill>
                  <a:schemeClr val="tx1"/>
                </a:solidFill>
                <a:latin typeface="Times New Roman" panose="02020603050405020304" pitchFamily="18" charset="0"/>
                <a:ea typeface="宋体" panose="02010600030101010101" pitchFamily="2" charset="-122"/>
              </a:rPr>
              <a:t>        y</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50000"/>
              </a:lnSpc>
            </a:pP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A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p>
          <a:p>
            <a:pPr>
              <a:lnSpc>
                <a:spcPct val="150000"/>
              </a:lnSpc>
            </a:pPr>
            <a:r>
              <a:rPr lang="zh-CN" altLang="en-US" sz="1200" b="1" dirty="0">
                <a:solidFill>
                  <a:schemeClr val="tx1"/>
                </a:solidFill>
                <a:latin typeface="Times New Roman" panose="02020603050405020304" pitchFamily="18" charset="0"/>
                <a:ea typeface="宋体" panose="02010600030101010101" pitchFamily="2" charset="-122"/>
              </a:rPr>
              <a:t>从而有                    </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50000"/>
              </a:lnSpc>
            </a:pPr>
            <a:r>
              <a:rPr lang="zh-CN" altLang="en-US" sz="1200" b="1" dirty="0">
                <a:solidFill>
                  <a:schemeClr val="tx1"/>
                </a:solidFill>
                <a:latin typeface="Times New Roman" panose="02020603050405020304" pitchFamily="18" charset="0"/>
                <a:ea typeface="宋体" panose="02010600030101010101" pitchFamily="2" charset="-122"/>
              </a:rPr>
              <a:t>再证</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任取</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endParaRPr lang="en-US" altLang="zh-CN" sz="1200" b="1" i="1" dirty="0">
              <a:solidFill>
                <a:schemeClr val="tx1"/>
              </a:solidFill>
              <a:latin typeface="Times New Roman" panose="02020603050405020304" pitchFamily="18" charset="0"/>
              <a:ea typeface="宋体" panose="02010600030101010101" pitchFamily="2" charset="-122"/>
            </a:endParaRPr>
          </a:p>
          <a:p>
            <a:pPr>
              <a:lnSpc>
                <a:spcPct val="150000"/>
              </a:lnSpc>
            </a:pP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50000"/>
              </a:lnSpc>
            </a:pPr>
            <a:r>
              <a:rPr lang="zh-CN" altLang="en-US" sz="1200" b="1" dirty="0">
                <a:solidFill>
                  <a:schemeClr val="tx1"/>
                </a:solidFill>
                <a:latin typeface="Times New Roman" panose="02020603050405020304" pitchFamily="18" charset="0"/>
                <a:ea typeface="宋体" panose="02010600030101010101" pitchFamily="2" charset="-122"/>
              </a:rPr>
              <a:t>从而有</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综上所述得            </a:t>
            </a:r>
            <a:r>
              <a:rPr lang="en-US" altLang="zh-CN" b="1" i="1" dirty="0">
                <a:solidFill>
                  <a:schemeClr val="tx1"/>
                </a:solidFill>
                <a:latin typeface="Times New Roman" panose="02020603050405020304" pitchFamily="18" charset="0"/>
                <a:ea typeface="宋体" panose="02010600030101010101" pitchFamily="2" charset="-122"/>
              </a:rPr>
              <a:t>= A</a:t>
            </a:r>
            <a:endParaRPr lang="zh-CN" altLang="en-US" b="1" i="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84</a:t>
            </a:fld>
            <a:endParaRPr lang="zh-CN" altLang="en-US"/>
          </a:p>
        </p:txBody>
      </p:sp>
    </p:spTree>
    <p:extLst>
      <p:ext uri="{BB962C8B-B14F-4D97-AF65-F5344CB8AC3E}">
        <p14:creationId xmlns:p14="http://schemas.microsoft.com/office/powerpoint/2010/main" val="135079225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全域关系下的商集只包含一个元素，即原始集合 </a:t>
            </a:r>
            <a:r>
              <a:rPr lang="en-US" altLang="zh-CN" sz="1800" i="1" dirty="0">
                <a:effectLst/>
                <a:latin typeface="KaTeX_Math"/>
                <a:ea typeface="等线" panose="02010600030101010101" pitchFamily="2" charset="-122"/>
                <a:cs typeface="Times New Roman" panose="02020603050405020304" pitchFamily="18" charset="0"/>
              </a:rPr>
              <a:t>A</a:t>
            </a:r>
            <a:r>
              <a:rPr lang="en-US" altLang="zh-CN" sz="1800" dirty="0">
                <a:effectLst/>
                <a:latin typeface="等线" panose="02010600030101010101" pitchFamily="2" charset="-122"/>
                <a:cs typeface="Times New Roman" panose="02020603050405020304" pitchFamily="18" charset="0"/>
              </a:rPr>
              <a:t> </a:t>
            </a:r>
            <a:r>
              <a:rPr lang="zh-CN" altLang="zh-CN" sz="1800" dirty="0">
                <a:effectLst/>
                <a:ea typeface="等线" panose="02010600030101010101" pitchFamily="2" charset="-122"/>
                <a:cs typeface="Times New Roman" panose="02020603050405020304" pitchFamily="18" charset="0"/>
              </a:rPr>
              <a:t>自身</a:t>
            </a:r>
            <a:endParaRPr lang="en-US" altLang="zh-CN" sz="1800" dirty="0">
              <a:effectLst/>
              <a:ea typeface="等线" panose="02010600030101010101" pitchFamily="2" charset="-122"/>
              <a:cs typeface="Times New Roman" panose="02020603050405020304" pitchFamily="18" charset="0"/>
            </a:endParaRPr>
          </a:p>
          <a:p>
            <a:pPr marL="0" indent="0" eaLnBrk="1" hangingPunct="1">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4.20</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以</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的所有等价类作为元素的集合称为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关于</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商集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记做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eaLnBrk="1" hangingPunct="1">
              <a:lnSpc>
                <a:spcPct val="120000"/>
              </a:lnSpc>
              <a:buNone/>
            </a:pP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 </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baseline="-25000" dirty="0">
                <a:solidFill>
                  <a:schemeClr val="tx1"/>
                </a:solidFill>
                <a:latin typeface="Times New Roman" panose="02020603050405020304" pitchFamily="18" charset="0"/>
                <a:ea typeface="宋体" panose="02010600030101010101" pitchFamily="2" charset="-122"/>
              </a:rPr>
              <a:t>R</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eaLnBrk="1" hangingPunct="1">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2</a:t>
            </a:r>
          </a:p>
          <a:p>
            <a:pPr marL="0" indent="0"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令</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={1, 2, …, 8}</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关于模 </a:t>
            </a:r>
            <a:r>
              <a:rPr lang="en-US" altLang="zh-CN" sz="1200" b="1" dirty="0">
                <a:solidFill>
                  <a:schemeClr val="tx1"/>
                </a:solidFill>
                <a:latin typeface="Times New Roman" panose="02020603050405020304" pitchFamily="18" charset="0"/>
                <a:ea typeface="宋体" panose="02010600030101010101" pitchFamily="2" charset="-122"/>
              </a:rPr>
              <a:t>3 </a:t>
            </a:r>
            <a:r>
              <a:rPr lang="zh-CN" altLang="en-US" sz="1200" b="1" dirty="0">
                <a:solidFill>
                  <a:schemeClr val="tx1"/>
                </a:solidFill>
                <a:latin typeface="Times New Roman" panose="02020603050405020304" pitchFamily="18" charset="0"/>
                <a:ea typeface="宋体" panose="02010600030101010101" pitchFamily="2" charset="-122"/>
              </a:rPr>
              <a:t>等价关系</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的商集为</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A/R </a:t>
            </a:r>
            <a:r>
              <a:rPr lang="en-US" altLang="zh-CN" sz="1200" b="1" dirty="0">
                <a:solidFill>
                  <a:schemeClr val="tx1"/>
                </a:solidFill>
                <a:latin typeface="Times New Roman" panose="02020603050405020304" pitchFamily="18" charset="0"/>
                <a:ea typeface="宋体" panose="02010600030101010101" pitchFamily="2" charset="-122"/>
              </a:rPr>
              <a:t>= { {1, 4,7}, {2, 5, 8}, {3, 6} }</a:t>
            </a:r>
          </a:p>
          <a:p>
            <a:pPr marL="0" indent="0" eaLnBrk="1" hangingPunct="1">
              <a:lnSpc>
                <a:spcPct val="120000"/>
              </a:lnSpc>
              <a:buNone/>
            </a:pPr>
            <a:r>
              <a:rPr lang="en-US" altLang="zh-CN" sz="1200" b="1" i="1" dirty="0">
                <a:solidFill>
                  <a:schemeClr val="tx1"/>
                </a:solidFill>
                <a:latin typeface="Times New Roman" panose="02020603050405020304" pitchFamily="18" charset="0"/>
                <a:ea typeface="宋体" panose="02010600030101010101" pitchFamily="2" charset="-122"/>
              </a:rPr>
              <a:t> A</a:t>
            </a:r>
            <a:r>
              <a:rPr lang="zh-CN" altLang="en-US" sz="1200" b="1" dirty="0">
                <a:solidFill>
                  <a:schemeClr val="tx1"/>
                </a:solidFill>
                <a:latin typeface="Times New Roman" panose="02020603050405020304" pitchFamily="18" charset="0"/>
                <a:ea typeface="宋体" panose="02010600030101010101" pitchFamily="2" charset="-122"/>
              </a:rPr>
              <a:t>关于恒等关系和全域关系的商集为：</a:t>
            </a:r>
          </a:p>
          <a:p>
            <a:pPr marL="0" indent="0"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A/I</a:t>
            </a:r>
            <a:r>
              <a:rPr lang="en-US" altLang="zh-CN" sz="1200" b="1" i="1" baseline="-25000" dirty="0">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 {1},{2}, … ,{8}}</a:t>
            </a:r>
          </a:p>
          <a:p>
            <a:pPr marL="0" indent="0" eaLnBrk="1" hangingPunct="1">
              <a:lnSpc>
                <a:spcPct val="120000"/>
              </a:lnSpc>
              <a:buNone/>
            </a:pP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A/E</a:t>
            </a:r>
            <a:r>
              <a:rPr lang="en-US" altLang="zh-CN" sz="1200" b="1" i="1" baseline="-25000" dirty="0">
                <a:solidFill>
                  <a:schemeClr val="tx1"/>
                </a:solidFill>
                <a:latin typeface="Times New Roman" panose="02020603050405020304" pitchFamily="18" charset="0"/>
                <a:ea typeface="宋体" panose="02010600030101010101" pitchFamily="2" charset="-122"/>
              </a:rPr>
              <a:t>A</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 {1, 2, … ,8} }</a:t>
            </a:r>
            <a:endParaRPr kumimoji="0" lang="en-US" altLang="zh-CN" sz="12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85</a:t>
            </a:fld>
            <a:endParaRPr lang="zh-CN" altLang="en-US"/>
          </a:p>
        </p:txBody>
      </p:sp>
    </p:spTree>
    <p:extLst>
      <p:ext uri="{BB962C8B-B14F-4D97-AF65-F5344CB8AC3E}">
        <p14:creationId xmlns:p14="http://schemas.microsoft.com/office/powerpoint/2010/main" val="14022547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165225" eaLnBrk="1" hangingPunct="1">
              <a:spcBef>
                <a:spcPct val="40000"/>
              </a:spcBef>
              <a:buNone/>
            </a:pPr>
            <a:endParaRPr lang="en-US" altLang="zh-CN" b="1" dirty="0"/>
          </a:p>
          <a:p>
            <a:pPr marL="0" indent="1165225" eaLnBrk="1" hangingPunct="1">
              <a:spcBef>
                <a:spcPct val="40000"/>
              </a:spcBef>
              <a:buNone/>
            </a:pPr>
            <a:r>
              <a:rPr lang="en-US" altLang="zh-CN" b="1" dirty="0">
                <a:solidFill>
                  <a:srgbClr val="FF0000"/>
                </a:solidFill>
              </a:rPr>
              <a:t>4.4.1 </a:t>
            </a:r>
            <a:r>
              <a:rPr lang="zh-CN" altLang="en-US" b="1" dirty="0">
                <a:solidFill>
                  <a:srgbClr val="FF0000"/>
                </a:solidFill>
              </a:rPr>
              <a:t>等价关系</a:t>
            </a:r>
            <a:endParaRPr lang="en-US" altLang="zh-CN" b="1" dirty="0">
              <a:solidFill>
                <a:srgbClr val="FF0000"/>
              </a:solidFill>
            </a:endParaRPr>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4.4.2 </a:t>
            </a:r>
            <a:r>
              <a:rPr lang="zh-CN" altLang="en-US" b="1" dirty="0"/>
              <a:t>等价类和商集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4.4.3 </a:t>
            </a:r>
            <a:r>
              <a:rPr lang="zh-CN" altLang="en-US" b="1" dirty="0"/>
              <a:t>集合的划分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4.4.4 </a:t>
            </a:r>
            <a:r>
              <a:rPr lang="zh-CN" altLang="en-US" b="1" dirty="0"/>
              <a:t>偏序关系</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4.4.5 </a:t>
            </a:r>
            <a:r>
              <a:rPr lang="zh-CN" altLang="en-US" b="1" dirty="0"/>
              <a:t>偏序集与哈斯图</a:t>
            </a:r>
            <a:endParaRPr lang="zh-CN" altLang="en-US" sz="2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86</a:t>
            </a:fld>
            <a:endParaRPr lang="zh-CN" altLang="en-US"/>
          </a:p>
        </p:txBody>
      </p:sp>
    </p:spTree>
    <p:extLst>
      <p:ext uri="{BB962C8B-B14F-4D97-AF65-F5344CB8AC3E}">
        <p14:creationId xmlns:p14="http://schemas.microsoft.com/office/powerpoint/2010/main" val="30256180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等价关系的划分块可以表示为等价类，</a:t>
            </a:r>
            <a:r>
              <a:rPr lang="zh-CN" altLang="en-US" sz="1800" dirty="0"/>
              <a:t>划分</a:t>
            </a:r>
            <a:r>
              <a:rPr lang="zh-CN" altLang="zh-CN" sz="1800" dirty="0">
                <a:effectLst/>
                <a:ea typeface="等线" panose="02010600030101010101" pitchFamily="2" charset="-122"/>
                <a:cs typeface="Times New Roman" panose="02020603050405020304" pitchFamily="18" charset="0"/>
              </a:rPr>
              <a:t>提供了一种</a:t>
            </a:r>
            <a:r>
              <a:rPr lang="zh-CN" altLang="zh-CN" sz="1800" dirty="0">
                <a:effectLst/>
                <a:highlight>
                  <a:srgbClr val="FFFF00"/>
                </a:highlight>
                <a:ea typeface="等线" panose="02010600030101010101" pitchFamily="2" charset="-122"/>
                <a:cs typeface="Times New Roman" panose="02020603050405020304" pitchFamily="18" charset="0"/>
              </a:rPr>
              <a:t>将复杂问题分解为更简单部分</a:t>
            </a:r>
            <a:r>
              <a:rPr lang="en-US" altLang="zh-CN" sz="1800" dirty="0">
                <a:effectLst/>
                <a:highlight>
                  <a:srgbClr val="FFFF00"/>
                </a:highlight>
                <a:ea typeface="等线" panose="02010600030101010101" pitchFamily="2" charset="-122"/>
                <a:cs typeface="Times New Roman" panose="02020603050405020304" pitchFamily="18" charset="0"/>
              </a:rPr>
              <a:t>x</a:t>
            </a:r>
            <a:r>
              <a:rPr lang="zh-CN" altLang="zh-CN" sz="1800" dirty="0">
                <a:effectLst/>
                <a:highlight>
                  <a:srgbClr val="FFFF00"/>
                </a:highlight>
                <a:ea typeface="等线" panose="02010600030101010101" pitchFamily="2" charset="-122"/>
                <a:cs typeface="Times New Roman" panose="02020603050405020304" pitchFamily="18" charset="0"/>
              </a:rPr>
              <a:t>的方法</a:t>
            </a:r>
            <a:r>
              <a:rPr lang="zh-CN" altLang="en-US" sz="1800" dirty="0">
                <a:effectLst/>
                <a:highlight>
                  <a:srgbClr val="FFFF00"/>
                </a:highlight>
                <a:ea typeface="等线" panose="02010600030101010101" pitchFamily="2" charset="-122"/>
                <a:cs typeface="Times New Roman" panose="02020603050405020304" pitchFamily="18" charset="0"/>
              </a:rPr>
              <a:t>。 </a:t>
            </a:r>
            <a:r>
              <a:rPr lang="en-US" altLang="zh-CN" sz="1800" dirty="0">
                <a:effectLst/>
                <a:highlight>
                  <a:srgbClr val="FFFF00"/>
                </a:highlight>
                <a:ea typeface="等线" panose="02010600030101010101" pitchFamily="2" charset="-122"/>
                <a:cs typeface="Times New Roman" panose="02020603050405020304" pitchFamily="18" charset="0"/>
              </a:rPr>
              <a:t>X</a:t>
            </a:r>
            <a:r>
              <a:rPr lang="zh-CN" altLang="en-US" sz="1800" dirty="0">
                <a:effectLst/>
                <a:highlight>
                  <a:srgbClr val="FFFF00"/>
                </a:highlight>
                <a:ea typeface="等线" panose="02010600030101010101" pitchFamily="2" charset="-122"/>
                <a:cs typeface="Times New Roman" panose="02020603050405020304" pitchFamily="18" charset="0"/>
              </a:rPr>
              <a:t>和</a:t>
            </a:r>
            <a:r>
              <a:rPr lang="en-US" altLang="zh-CN" sz="1800" dirty="0">
                <a:effectLst/>
                <a:highlight>
                  <a:srgbClr val="FFFF00"/>
                </a:highlight>
                <a:ea typeface="等线" panose="02010600030101010101" pitchFamily="2" charset="-122"/>
                <a:cs typeface="Times New Roman" panose="02020603050405020304" pitchFamily="18" charset="0"/>
              </a:rPr>
              <a:t>y</a:t>
            </a:r>
            <a:r>
              <a:rPr lang="zh-CN" altLang="en-US" sz="1800" dirty="0">
                <a:effectLst/>
                <a:highlight>
                  <a:srgbClr val="FFFF00"/>
                </a:highlight>
                <a:ea typeface="等线" panose="02010600030101010101" pitchFamily="2" charset="-122"/>
                <a:cs typeface="Times New Roman" panose="02020603050405020304" pitchFamily="18" charset="0"/>
              </a:rPr>
              <a:t>是划分快</a:t>
            </a:r>
            <a:endParaRPr lang="en-US" altLang="zh-CN" sz="1800" dirty="0">
              <a:effectLst/>
              <a:highlight>
                <a:srgbClr val="FFFF00"/>
              </a:highlight>
              <a:ea typeface="等线" panose="02010600030101010101" pitchFamily="2" charset="-122"/>
              <a:cs typeface="Times New Roman" panose="02020603050405020304" pitchFamily="18" charset="0"/>
            </a:endParaRPr>
          </a:p>
          <a:p>
            <a:endParaRPr lang="en-US" altLang="zh-CN" sz="1800" dirty="0">
              <a:effectLst/>
              <a:highlight>
                <a:srgbClr val="FFFF00"/>
              </a:highlight>
              <a:ea typeface="等线" panose="02010600030101010101" pitchFamily="2" charset="-122"/>
              <a:cs typeface="Times New Roman" panose="02020603050405020304" pitchFamily="18" charset="0"/>
            </a:endParaRPr>
          </a:p>
          <a:p>
            <a:pPr marL="0" indent="0">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4.21  </a:t>
            </a:r>
            <a:r>
              <a:rPr lang="en-US" altLang="zh-CN" sz="1200" b="1" dirty="0">
                <a:solidFill>
                  <a:schemeClr val="tx2"/>
                </a:solidFill>
                <a:latin typeface="Times New Roman" panose="02020603050405020304" pitchFamily="18" charset="0"/>
                <a:ea typeface="宋体" panose="02010600030101010101" pitchFamily="2" charset="-122"/>
              </a:rPr>
              <a:t> </a:t>
            </a:r>
            <a:r>
              <a:rPr lang="zh-CN" altLang="en-US" sz="1200" b="1" dirty="0">
                <a:solidFill>
                  <a:schemeClr val="tx2"/>
                </a:solidFill>
                <a:latin typeface="Times New Roman" panose="02020603050405020304" pitchFamily="18" charset="0"/>
                <a:ea typeface="宋体" panose="02010600030101010101" pitchFamily="2" charset="-122"/>
              </a:rPr>
              <a:t>设</a:t>
            </a:r>
            <a:r>
              <a:rPr lang="en-US" altLang="zh-CN" sz="1200" b="1" i="1" dirty="0">
                <a:solidFill>
                  <a:schemeClr val="tx2"/>
                </a:solidFill>
                <a:latin typeface="Times New Roman" panose="02020603050405020304" pitchFamily="18" charset="0"/>
                <a:ea typeface="宋体" panose="02010600030101010101" pitchFamily="2" charset="-122"/>
              </a:rPr>
              <a:t>A</a:t>
            </a:r>
            <a:r>
              <a:rPr lang="zh-CN" altLang="en-US" sz="1200" b="1" dirty="0">
                <a:solidFill>
                  <a:schemeClr val="tx2"/>
                </a:solidFill>
                <a:latin typeface="Times New Roman" panose="02020603050405020304" pitchFamily="18" charset="0"/>
                <a:ea typeface="宋体" panose="02010600030101010101" pitchFamily="2" charset="-122"/>
              </a:rPr>
              <a:t>为非空集合</a:t>
            </a:r>
            <a:r>
              <a:rPr lang="en-US" altLang="zh-CN" sz="1200" b="1" dirty="0">
                <a:solidFill>
                  <a:schemeClr val="tx2"/>
                </a:solidFill>
                <a:latin typeface="Times New Roman" panose="02020603050405020304" pitchFamily="18" charset="0"/>
                <a:ea typeface="宋体" panose="02010600030101010101" pitchFamily="2" charset="-122"/>
              </a:rPr>
              <a:t>, </a:t>
            </a:r>
            <a:r>
              <a:rPr lang="zh-CN" altLang="en-US" sz="1200" b="1" dirty="0">
                <a:solidFill>
                  <a:schemeClr val="tx2"/>
                </a:solidFill>
                <a:latin typeface="Times New Roman" panose="02020603050405020304" pitchFamily="18" charset="0"/>
                <a:ea typeface="宋体" panose="02010600030101010101" pitchFamily="2" charset="-122"/>
              </a:rPr>
              <a:t>若</a:t>
            </a:r>
            <a:r>
              <a:rPr lang="en-US" altLang="zh-CN" sz="1200" b="1" i="1" dirty="0">
                <a:solidFill>
                  <a:schemeClr val="tx2"/>
                </a:solidFill>
                <a:latin typeface="Times New Roman" panose="02020603050405020304" pitchFamily="18" charset="0"/>
                <a:ea typeface="宋体" panose="02010600030101010101" pitchFamily="2" charset="-122"/>
              </a:rPr>
              <a:t>A</a:t>
            </a:r>
            <a:r>
              <a:rPr lang="zh-CN" altLang="en-US" sz="1200" b="1" dirty="0">
                <a:solidFill>
                  <a:schemeClr val="tx2"/>
                </a:solidFill>
                <a:latin typeface="Times New Roman" panose="02020603050405020304" pitchFamily="18" charset="0"/>
                <a:ea typeface="宋体" panose="02010600030101010101" pitchFamily="2" charset="-122"/>
              </a:rPr>
              <a:t>的子集族</a:t>
            </a:r>
            <a:r>
              <a:rPr lang="zh-CN" altLang="en-US" sz="1200" b="1" i="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2"/>
                </a:solidFill>
                <a:latin typeface="Times New Roman" panose="02020603050405020304" pitchFamily="18" charset="0"/>
                <a:ea typeface="宋体" panose="02010600030101010101" pitchFamily="2" charset="-122"/>
              </a:rPr>
              <a:t> </a:t>
            </a:r>
            <a:r>
              <a:rPr lang="en-US" altLang="zh-CN" sz="1200" b="1" dirty="0">
                <a:solidFill>
                  <a:schemeClr val="tx2"/>
                </a:solidFill>
                <a:latin typeface="Times New Roman" panose="02020603050405020304" pitchFamily="18" charset="0"/>
                <a:ea typeface="宋体" panose="02010600030101010101" pitchFamily="2" charset="-122"/>
              </a:rPr>
              <a:t>(</a:t>
            </a:r>
            <a:r>
              <a:rPr lang="zh-CN" altLang="en-US" sz="1200" b="1" i="1" dirty="0">
                <a:solidFill>
                  <a:schemeClr val="tx2"/>
                </a:solidFill>
                <a:sym typeface="Symbol" panose="05050102010706020507" pitchFamily="18" charset="2"/>
              </a:rPr>
              <a:t></a:t>
            </a:r>
            <a:r>
              <a:rPr lang="en-US" altLang="zh-CN" dirty="0"/>
              <a:t> </a:t>
            </a:r>
            <a:r>
              <a:rPr lang="en-US" altLang="zh-CN" sz="12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2"/>
                </a:solidFill>
                <a:latin typeface="Times New Roman" panose="02020603050405020304" pitchFamily="18" charset="0"/>
                <a:ea typeface="宋体" panose="02010600030101010101" pitchFamily="2" charset="-122"/>
              </a:rPr>
              <a:t>P</a:t>
            </a:r>
            <a:r>
              <a:rPr lang="en-US" altLang="zh-CN" sz="1200" b="1" dirty="0">
                <a:solidFill>
                  <a:schemeClr val="tx2"/>
                </a:solidFill>
                <a:latin typeface="Times New Roman" panose="02020603050405020304" pitchFamily="18" charset="0"/>
                <a:ea typeface="宋体" panose="02010600030101010101" pitchFamily="2" charset="-122"/>
              </a:rPr>
              <a:t>(</a:t>
            </a:r>
            <a:r>
              <a:rPr lang="en-US" altLang="zh-CN" sz="1200" b="1" i="1" dirty="0">
                <a:solidFill>
                  <a:schemeClr val="tx2"/>
                </a:solidFill>
                <a:latin typeface="Times New Roman" panose="02020603050405020304" pitchFamily="18" charset="0"/>
                <a:ea typeface="宋体" panose="02010600030101010101" pitchFamily="2" charset="-122"/>
              </a:rPr>
              <a:t>A</a:t>
            </a:r>
            <a:r>
              <a:rPr lang="en-US" altLang="zh-CN" sz="1200" b="1" dirty="0">
                <a:solidFill>
                  <a:schemeClr val="tx2"/>
                </a:solidFill>
                <a:latin typeface="Times New Roman" panose="02020603050405020304" pitchFamily="18" charset="0"/>
                <a:ea typeface="宋体" panose="02010600030101010101" pitchFamily="2" charset="-122"/>
              </a:rPr>
              <a:t>)) </a:t>
            </a:r>
            <a:r>
              <a:rPr lang="zh-CN" altLang="en-US" sz="1200" b="1" dirty="0">
                <a:solidFill>
                  <a:schemeClr val="tx2"/>
                </a:solidFill>
                <a:latin typeface="Times New Roman" panose="02020603050405020304" pitchFamily="18" charset="0"/>
                <a:ea typeface="宋体" panose="02010600030101010101" pitchFamily="2" charset="-122"/>
              </a:rPr>
              <a:t>满足下面条件：</a:t>
            </a:r>
          </a:p>
          <a:p>
            <a:pPr marL="0" indent="0">
              <a:lnSpc>
                <a:spcPct val="120000"/>
              </a:lnSpc>
              <a:buNone/>
            </a:pPr>
            <a:r>
              <a:rPr lang="zh-CN" altLang="en-US" sz="1200" b="1" dirty="0">
                <a:solidFill>
                  <a:schemeClr val="tx2"/>
                </a:solidFill>
                <a:latin typeface="Times New Roman" panose="02020603050405020304" pitchFamily="18" charset="0"/>
                <a:ea typeface="宋体" panose="02010600030101010101" pitchFamily="2" charset="-122"/>
              </a:rPr>
              <a:t>  </a:t>
            </a:r>
            <a:r>
              <a:rPr lang="en-US" altLang="zh-CN" sz="1200" b="1" dirty="0">
                <a:solidFill>
                  <a:schemeClr val="tx2"/>
                </a:solidFill>
                <a:latin typeface="Times New Roman" panose="02020603050405020304" pitchFamily="18" charset="0"/>
                <a:ea typeface="宋体" panose="02010600030101010101" pitchFamily="2" charset="-122"/>
              </a:rPr>
              <a:t>(1) </a:t>
            </a:r>
            <a:r>
              <a:rPr lang="zh-CN" altLang="en-US" sz="12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i="1" dirty="0">
                <a:solidFill>
                  <a:schemeClr val="tx2"/>
                </a:solidFill>
                <a:sym typeface="Symbol" panose="05050102010706020507" pitchFamily="18" charset="2"/>
              </a:rPr>
              <a:t></a:t>
            </a:r>
            <a:r>
              <a:rPr lang="zh-CN" altLang="en-US" dirty="0">
                <a:sym typeface="Symbol" panose="05050102010706020507" pitchFamily="18" charset="2"/>
              </a:rPr>
              <a:t> </a:t>
            </a:r>
            <a:r>
              <a:rPr lang="en-US" altLang="zh-CN" sz="1200" b="1" i="1" dirty="0">
                <a:solidFill>
                  <a:schemeClr val="tx2"/>
                </a:solidFill>
                <a:latin typeface="Times New Roman" panose="02020603050405020304" pitchFamily="18" charset="0"/>
                <a:ea typeface="宋体" panose="02010600030101010101" pitchFamily="2" charset="-122"/>
              </a:rPr>
              <a:t> </a:t>
            </a:r>
            <a:endParaRPr lang="en-US" altLang="zh-CN" sz="1200" b="1" dirty="0">
              <a:solidFill>
                <a:schemeClr val="tx2"/>
              </a:solidFill>
              <a:latin typeface="Times New Roman" panose="02020603050405020304" pitchFamily="18" charset="0"/>
              <a:ea typeface="宋体" panose="02010600030101010101" pitchFamily="2" charset="-122"/>
            </a:endParaRPr>
          </a:p>
          <a:p>
            <a:pPr marL="0" indent="0">
              <a:lnSpc>
                <a:spcPct val="120000"/>
              </a:lnSpc>
              <a:buNone/>
            </a:pPr>
            <a:r>
              <a:rPr lang="en-US" altLang="zh-CN" sz="1200" b="1" dirty="0">
                <a:solidFill>
                  <a:schemeClr val="tx2"/>
                </a:solidFill>
                <a:latin typeface="Times New Roman" panose="02020603050405020304" pitchFamily="18" charset="0"/>
                <a:ea typeface="宋体" panose="02010600030101010101" pitchFamily="2" charset="-122"/>
              </a:rPr>
              <a:t>  (2) </a:t>
            </a:r>
            <a:r>
              <a:rPr lang="zh-CN" altLang="en-US" sz="12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2"/>
                </a:solidFill>
                <a:latin typeface="Times New Roman" panose="02020603050405020304" pitchFamily="18" charset="0"/>
                <a:ea typeface="宋体" panose="02010600030101010101" pitchFamily="2" charset="-122"/>
              </a:rPr>
              <a:t>x</a:t>
            </a:r>
            <a:r>
              <a:rPr lang="en-US" altLang="zh-CN" sz="1200" b="1" dirty="0" err="1">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2"/>
                </a:solidFill>
                <a:latin typeface="Times New Roman" panose="02020603050405020304" pitchFamily="18" charset="0"/>
                <a:ea typeface="宋体" panose="02010600030101010101" pitchFamily="2" charset="-122"/>
              </a:rPr>
              <a:t>y</a:t>
            </a:r>
            <a:r>
              <a:rPr lang="en-US" altLang="zh-CN" sz="1200" b="1" i="1" dirty="0">
                <a:solidFill>
                  <a:schemeClr val="tx2"/>
                </a:solidFill>
                <a:latin typeface="Times New Roman" panose="02020603050405020304" pitchFamily="18" charset="0"/>
                <a:ea typeface="宋体" panose="02010600030101010101" pitchFamily="2" charset="-122"/>
              </a:rPr>
              <a:t> </a:t>
            </a:r>
            <a:r>
              <a:rPr lang="en-US" altLang="zh-CN" sz="1200" b="1" dirty="0">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x</a:t>
            </a:r>
            <a:r>
              <a:rPr lang="en-US" altLang="zh-CN" sz="1200" b="1" dirty="0" err="1">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y</a:t>
            </a:r>
            <a:r>
              <a:rPr lang="en-US" altLang="zh-CN" sz="1200" b="1" dirty="0">
                <a:solidFill>
                  <a:schemeClr val="tx2"/>
                </a:solidFill>
                <a:latin typeface="Times New Roman" panose="02020603050405020304" pitchFamily="18" charset="0"/>
                <a:ea typeface="宋体" panose="02010600030101010101" pitchFamily="2" charset="-122"/>
              </a:rPr>
              <a:t>∈</a:t>
            </a:r>
            <a:r>
              <a:rPr lang="zh-CN" altLang="en-US" sz="1200" b="1" i="1" dirty="0">
                <a:solidFill>
                  <a:schemeClr val="tx2"/>
                </a:solidFill>
                <a:sym typeface="Symbol" panose="05050102010706020507" pitchFamily="18" charset="2"/>
              </a:rPr>
              <a:t></a:t>
            </a:r>
            <a:r>
              <a:rPr lang="en-US" altLang="zh-CN" sz="1200" b="1" dirty="0">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x</a:t>
            </a:r>
            <a:r>
              <a:rPr lang="en-US" altLang="zh-CN" sz="1200" b="1" dirty="0" err="1">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y</a:t>
            </a:r>
            <a:r>
              <a:rPr lang="en-US" altLang="zh-CN" sz="1200" b="1" dirty="0" err="1">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x</a:t>
            </a:r>
            <a:r>
              <a:rPr lang="en-US" altLang="zh-CN" sz="1200" b="1" dirty="0" err="1">
                <a:solidFill>
                  <a:schemeClr val="tx2"/>
                </a:solidFill>
                <a:latin typeface="Times New Roman" panose="02020603050405020304" pitchFamily="18" charset="0"/>
                <a:ea typeface="宋体" panose="02010600030101010101" pitchFamily="2" charset="-122"/>
              </a:rPr>
              <a:t>∩</a:t>
            </a:r>
            <a:r>
              <a:rPr lang="en-US" altLang="zh-CN" sz="1200" b="1" i="1" dirty="0" err="1">
                <a:solidFill>
                  <a:schemeClr val="tx2"/>
                </a:solidFill>
                <a:latin typeface="Times New Roman" panose="02020603050405020304" pitchFamily="18" charset="0"/>
                <a:ea typeface="宋体" panose="02010600030101010101" pitchFamily="2" charset="-122"/>
              </a:rPr>
              <a:t>y</a:t>
            </a:r>
            <a:r>
              <a:rPr lang="en-US" altLang="zh-CN" sz="1200" b="1" dirty="0">
                <a:solidFill>
                  <a:schemeClr val="tx2"/>
                </a:solidFill>
                <a:latin typeface="Times New Roman" panose="02020603050405020304" pitchFamily="18" charset="0"/>
                <a:ea typeface="宋体" panose="02010600030101010101" pitchFamily="2" charset="-122"/>
              </a:rPr>
              <a:t>=</a:t>
            </a:r>
            <a:r>
              <a:rPr lang="en-US" altLang="zh-CN" sz="12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2"/>
                </a:solidFill>
                <a:latin typeface="Times New Roman" panose="02020603050405020304" pitchFamily="18" charset="0"/>
                <a:ea typeface="宋体" panose="02010600030101010101" pitchFamily="2" charset="-122"/>
              </a:rPr>
              <a:t>)</a:t>
            </a:r>
            <a:br>
              <a:rPr lang="en-US" altLang="zh-CN" sz="1200" b="1" dirty="0">
                <a:solidFill>
                  <a:schemeClr val="tx2"/>
                </a:solidFill>
                <a:latin typeface="Times New Roman" panose="02020603050405020304" pitchFamily="18" charset="0"/>
                <a:ea typeface="宋体" panose="02010600030101010101" pitchFamily="2" charset="-122"/>
              </a:rPr>
            </a:br>
            <a:r>
              <a:rPr lang="en-US" altLang="zh-CN" sz="1200" b="1" dirty="0">
                <a:solidFill>
                  <a:schemeClr val="tx2"/>
                </a:solidFill>
                <a:latin typeface="Times New Roman" panose="02020603050405020304" pitchFamily="18" charset="0"/>
                <a:ea typeface="宋体" panose="02010600030101010101" pitchFamily="2" charset="-122"/>
              </a:rPr>
              <a:t>  (3) </a:t>
            </a:r>
            <a:r>
              <a:rPr lang="zh-CN" altLang="en-US" sz="1200" b="1" dirty="0">
                <a:solidFill>
                  <a:schemeClr val="tx2"/>
                </a:solidFill>
                <a:latin typeface="Times New Roman" panose="02020603050405020304" pitchFamily="18" charset="0"/>
                <a:ea typeface="宋体" panose="02010600030101010101" pitchFamily="2" charset="-122"/>
              </a:rPr>
              <a:t>∪</a:t>
            </a:r>
            <a:r>
              <a:rPr lang="zh-CN" altLang="en-US" sz="1200" b="1" i="1" dirty="0">
                <a:solidFill>
                  <a:schemeClr val="tx2"/>
                </a:solidFill>
                <a:sym typeface="Symbol" panose="05050102010706020507" pitchFamily="18" charset="2"/>
              </a:rPr>
              <a:t></a:t>
            </a:r>
            <a:r>
              <a:rPr lang="zh-CN" altLang="en-US" sz="1200" dirty="0"/>
              <a:t> </a:t>
            </a:r>
            <a:r>
              <a:rPr lang="en-US" altLang="zh-CN" sz="1200" b="1" dirty="0">
                <a:solidFill>
                  <a:schemeClr val="tx2"/>
                </a:solidFill>
                <a:latin typeface="Times New Roman" panose="02020603050405020304" pitchFamily="18" charset="0"/>
                <a:ea typeface="宋体" panose="02010600030101010101" pitchFamily="2" charset="-122"/>
              </a:rPr>
              <a:t>=</a:t>
            </a:r>
            <a:r>
              <a:rPr lang="en-US" altLang="zh-CN" sz="1200" b="1" i="1" dirty="0">
                <a:solidFill>
                  <a:schemeClr val="tx2"/>
                </a:solidFill>
                <a:latin typeface="Times New Roman" panose="02020603050405020304" pitchFamily="18" charset="0"/>
                <a:ea typeface="宋体" panose="02010600030101010101" pitchFamily="2" charset="-122"/>
              </a:rPr>
              <a:t>A </a:t>
            </a:r>
            <a:br>
              <a:rPr lang="en-US" altLang="zh-CN" sz="1200" b="1" dirty="0">
                <a:solidFill>
                  <a:schemeClr val="tx2"/>
                </a:solidFill>
                <a:latin typeface="Times New Roman" panose="02020603050405020304" pitchFamily="18" charset="0"/>
                <a:ea typeface="宋体" panose="02010600030101010101" pitchFamily="2" charset="-122"/>
              </a:rPr>
            </a:br>
            <a:r>
              <a:rPr lang="zh-CN" altLang="en-US" sz="1200" b="1" dirty="0">
                <a:solidFill>
                  <a:schemeClr val="tx2"/>
                </a:solidFill>
                <a:latin typeface="Times New Roman" panose="02020603050405020304" pitchFamily="18" charset="0"/>
                <a:ea typeface="宋体" panose="02010600030101010101" pitchFamily="2" charset="-122"/>
              </a:rPr>
              <a:t>则称</a:t>
            </a:r>
            <a:r>
              <a:rPr lang="zh-CN" altLang="en-US" sz="1200" b="1" i="1" dirty="0">
                <a:solidFill>
                  <a:schemeClr val="tx2"/>
                </a:solidFill>
                <a:sym typeface="Symbol" panose="05050102010706020507" pitchFamily="18" charset="2"/>
              </a:rPr>
              <a:t></a:t>
            </a:r>
            <a:r>
              <a:rPr lang="zh-CN" altLang="en-US" sz="1200" b="1" dirty="0">
                <a:solidFill>
                  <a:schemeClr val="tx2"/>
                </a:solidFill>
                <a:latin typeface="Times New Roman" panose="02020603050405020304" pitchFamily="18" charset="0"/>
                <a:ea typeface="宋体" panose="02010600030101010101" pitchFamily="2" charset="-122"/>
              </a:rPr>
              <a:t>是</a:t>
            </a:r>
            <a:r>
              <a:rPr lang="en-US" altLang="zh-CN" sz="1200" b="1" i="1" dirty="0">
                <a:solidFill>
                  <a:schemeClr val="tx2"/>
                </a:solidFill>
                <a:latin typeface="Times New Roman" panose="02020603050405020304" pitchFamily="18" charset="0"/>
                <a:ea typeface="宋体" panose="02010600030101010101" pitchFamily="2" charset="-122"/>
              </a:rPr>
              <a:t>A</a:t>
            </a:r>
            <a:r>
              <a:rPr lang="zh-CN" altLang="en-US" sz="1200" b="1" dirty="0">
                <a:solidFill>
                  <a:schemeClr val="tx2"/>
                </a:solidFill>
                <a:latin typeface="Times New Roman" panose="02020603050405020304" pitchFamily="18" charset="0"/>
                <a:ea typeface="宋体" panose="02010600030101010101" pitchFamily="2" charset="-122"/>
              </a:rPr>
              <a:t>的一个</a:t>
            </a:r>
            <a:r>
              <a:rPr lang="zh-CN" altLang="en-US" sz="1200" b="1" dirty="0">
                <a:solidFill>
                  <a:srgbClr val="FF0000"/>
                </a:solidFill>
                <a:latin typeface="Times New Roman" panose="02020603050405020304" pitchFamily="18" charset="0"/>
                <a:ea typeface="宋体" panose="02010600030101010101" pitchFamily="2" charset="-122"/>
              </a:rPr>
              <a:t>划分</a:t>
            </a:r>
            <a:r>
              <a:rPr lang="en-US" altLang="zh-CN" sz="1200" b="1" dirty="0">
                <a:solidFill>
                  <a:schemeClr val="tx2"/>
                </a:solidFill>
                <a:latin typeface="Times New Roman" panose="02020603050405020304" pitchFamily="18" charset="0"/>
                <a:ea typeface="宋体" panose="02010600030101010101" pitchFamily="2" charset="-122"/>
              </a:rPr>
              <a:t>, </a:t>
            </a:r>
            <a:r>
              <a:rPr lang="zh-CN" altLang="en-US" sz="1200" b="1" dirty="0">
                <a:solidFill>
                  <a:schemeClr val="tx2"/>
                </a:solidFill>
                <a:latin typeface="Times New Roman" panose="02020603050405020304" pitchFamily="18" charset="0"/>
                <a:ea typeface="宋体" panose="02010600030101010101" pitchFamily="2" charset="-122"/>
              </a:rPr>
              <a:t>称</a:t>
            </a:r>
            <a:r>
              <a:rPr lang="zh-CN" altLang="en-US" sz="1200" b="1" i="1" dirty="0">
                <a:solidFill>
                  <a:schemeClr val="tx2"/>
                </a:solidFill>
                <a:sym typeface="Symbol" panose="05050102010706020507" pitchFamily="18" charset="2"/>
              </a:rPr>
              <a:t></a:t>
            </a:r>
            <a:r>
              <a:rPr lang="zh-CN" altLang="en-US" sz="1200" dirty="0"/>
              <a:t> </a:t>
            </a:r>
            <a:r>
              <a:rPr lang="zh-CN" altLang="en-US" sz="1200" b="1" dirty="0">
                <a:solidFill>
                  <a:schemeClr val="tx2"/>
                </a:solidFill>
                <a:latin typeface="Times New Roman" panose="02020603050405020304" pitchFamily="18" charset="0"/>
                <a:ea typeface="宋体" panose="02010600030101010101" pitchFamily="2" charset="-122"/>
              </a:rPr>
              <a:t>中的元素为</a:t>
            </a:r>
            <a:r>
              <a:rPr lang="en-US" altLang="zh-CN" sz="1200" b="1" i="1" dirty="0">
                <a:solidFill>
                  <a:schemeClr val="tx2"/>
                </a:solidFill>
                <a:latin typeface="Times New Roman" panose="02020603050405020304" pitchFamily="18" charset="0"/>
                <a:ea typeface="宋体" panose="02010600030101010101" pitchFamily="2" charset="-122"/>
              </a:rPr>
              <a:t>A</a:t>
            </a:r>
            <a:r>
              <a:rPr lang="zh-CN" altLang="en-US" sz="1200" b="1" dirty="0">
                <a:solidFill>
                  <a:schemeClr val="tx2"/>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划分块</a:t>
            </a:r>
            <a:r>
              <a:rPr lang="en-US" altLang="zh-CN" sz="1200" b="1" dirty="0">
                <a:solidFill>
                  <a:schemeClr val="tx2"/>
                </a:solidFill>
                <a:latin typeface="Times New Roman" panose="02020603050405020304" pitchFamily="18" charset="0"/>
                <a:ea typeface="宋体" panose="02010600030101010101" pitchFamily="2" charset="-122"/>
              </a:rPr>
              <a:t>.</a:t>
            </a:r>
            <a:br>
              <a:rPr lang="en-US" altLang="zh-CN" sz="1200" b="1" dirty="0">
                <a:solidFill>
                  <a:schemeClr val="tx2"/>
                </a:solidFill>
                <a:latin typeface="Times New Roman" panose="02020603050405020304" pitchFamily="18" charset="0"/>
                <a:ea typeface="宋体" panose="02010600030101010101" pitchFamily="2" charset="-122"/>
              </a:rPr>
            </a:b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3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给定</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3</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4</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5</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6</a:t>
            </a:r>
            <a:r>
              <a:rPr lang="zh-CN" altLang="en-US" sz="1200" b="1" dirty="0">
                <a:solidFill>
                  <a:schemeClr val="tx1"/>
                </a:solidFill>
                <a:latin typeface="Times New Roman" panose="02020603050405020304" pitchFamily="18" charset="0"/>
                <a:ea typeface="宋体" panose="02010600030101010101" pitchFamily="2" charset="-122"/>
              </a:rPr>
              <a:t>如下：     </a:t>
            </a: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lnSpc>
                <a:spcPct val="120000"/>
              </a:lnSpc>
              <a:buNone/>
            </a:pP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3</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4</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5</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6</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a:t>
            </a:r>
            <a:r>
              <a:rPr lang="zh-CN" altLang="en-US" sz="1200" b="1" i="1" dirty="0">
                <a:solidFill>
                  <a:schemeClr val="tx2"/>
                </a:solidFill>
                <a:sym typeface="Symbol" panose="05050102010706020507" pitchFamily="18" charset="2"/>
              </a:rPr>
              <a:t></a:t>
            </a:r>
            <a:r>
              <a:rPr lang="en-US" altLang="zh-CN" dirty="0"/>
              <a:t> </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和</a:t>
            </a:r>
            <a:r>
              <a:rPr lang="zh-CN" altLang="en-US" sz="1200" b="1" i="1" dirty="0">
                <a:solidFill>
                  <a:schemeClr val="tx2"/>
                </a:solidFill>
                <a:sym typeface="Symbol" panose="05050102010706020507" pitchFamily="18" charset="2"/>
              </a:rPr>
              <a:t></a:t>
            </a:r>
            <a:r>
              <a:rPr lang="en-US" altLang="zh-CN" sz="1200" dirty="0"/>
              <a:t> </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的划分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其他都不是</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的划分</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87</a:t>
            </a:fld>
            <a:endParaRPr lang="zh-CN" altLang="en-US"/>
          </a:p>
        </p:txBody>
      </p:sp>
    </p:spTree>
    <p:extLst>
      <p:ext uri="{BB962C8B-B14F-4D97-AF65-F5344CB8AC3E}">
        <p14:creationId xmlns:p14="http://schemas.microsoft.com/office/powerpoint/2010/main" val="8623843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商集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就是</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的一个划分 </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不同的商集对应于不同的划分 </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任给</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的一个划分</a:t>
            </a:r>
            <a:r>
              <a:rPr lang="zh-CN" altLang="en-US" sz="1200" b="1" i="1" dirty="0">
                <a:solidFill>
                  <a:schemeClr val="tx2"/>
                </a:solidFill>
                <a:sym typeface="Symbol" panose="05050102010706020507" pitchFamily="18" charset="2"/>
              </a:rPr>
              <a:t></a:t>
            </a:r>
            <a:r>
              <a:rPr lang="zh-CN" altLang="en-US" dirty="0"/>
              <a:t>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如下定义</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上的关系 </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R </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 |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与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在</a:t>
            </a:r>
            <a:r>
              <a:rPr lang="zh-CN" altLang="en-US" sz="1200" b="1" i="1" dirty="0">
                <a:solidFill>
                  <a:schemeClr val="tx2"/>
                </a:solidFill>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的同一划分块中 </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则</a:t>
            </a:r>
            <a:r>
              <a:rPr lang="en-US" altLang="zh-CN" sz="1200" b="1" i="1" dirty="0">
                <a:solidFill>
                  <a:schemeClr val="tx1"/>
                </a:solidFill>
                <a:latin typeface="Times New Roman" panose="02020603050405020304" pitchFamily="18" charset="0"/>
                <a:ea typeface="宋体" panose="02010600030101010101" pitchFamily="2" charset="-122"/>
              </a:rPr>
              <a:t>R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上的等价关系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且该等价关系确定的商集就是</a:t>
            </a:r>
            <a:r>
              <a:rPr lang="zh-CN" altLang="en-US" sz="1200" b="1" i="1" dirty="0">
                <a:solidFill>
                  <a:schemeClr val="tx2"/>
                </a:solidFill>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lnSpc>
                <a:spcPct val="120000"/>
              </a:lnSpc>
              <a:buNone/>
            </a:pP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eaLnBrk="1" hangingPunct="1">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4  </a:t>
            </a:r>
            <a:r>
              <a:rPr lang="zh-CN" altLang="en-US" sz="1200" b="1" dirty="0">
                <a:solidFill>
                  <a:schemeClr val="tx1"/>
                </a:solidFill>
                <a:latin typeface="Times New Roman" panose="02020603050405020304" pitchFamily="18" charset="0"/>
                <a:ea typeface="宋体" panose="02010600030101010101" pitchFamily="2" charset="-122"/>
              </a:rPr>
              <a:t>给出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{1,2,3}</a:t>
            </a:r>
            <a:r>
              <a:rPr lang="zh-CN" altLang="en-US" sz="1200" b="1" dirty="0">
                <a:solidFill>
                  <a:schemeClr val="tx1"/>
                </a:solidFill>
                <a:latin typeface="Times New Roman" panose="02020603050405020304" pitchFamily="18" charset="0"/>
                <a:ea typeface="宋体" panose="02010600030101010101" pitchFamily="2" charset="-122"/>
              </a:rPr>
              <a:t>上所有的等价关系</a:t>
            </a:r>
          </a:p>
          <a:p>
            <a:pPr marL="0" indent="0"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求解思路：先做出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的所有划分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然后根据划分写出 </a:t>
            </a:r>
          </a:p>
          <a:p>
            <a:pPr marL="0" indent="0" eaLnBrk="1" hangingPunct="1">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对应的等价关系</a:t>
            </a:r>
            <a:r>
              <a:rPr lang="en-US" altLang="zh-CN" sz="1200" b="1" dirty="0">
                <a:solidFill>
                  <a:schemeClr val="tx1"/>
                </a:solidFill>
                <a:latin typeface="Times New Roman" panose="02020603050405020304" pitchFamily="18" charset="0"/>
                <a:ea typeface="宋体" panose="02010600030101010101" pitchFamily="2" charset="-122"/>
              </a:rPr>
              <a:t>. </a:t>
            </a:r>
            <a:endParaRPr lang="en-US" altLang="zh-CN" sz="1200" b="1" dirty="0">
              <a:solidFill>
                <a:schemeClr val="tx1"/>
              </a:solidFill>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88</a:t>
            </a:fld>
            <a:endParaRPr lang="zh-CN" altLang="en-US"/>
          </a:p>
        </p:txBody>
      </p:sp>
    </p:spTree>
    <p:extLst>
      <p:ext uri="{BB962C8B-B14F-4D97-AF65-F5344CB8AC3E}">
        <p14:creationId xmlns:p14="http://schemas.microsoft.com/office/powerpoint/2010/main" val="322590702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latin typeface="Times New Roman" panose="02020603050405020304" pitchFamily="18" charset="0"/>
              </a:rPr>
              <a:t>π</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对应于全域关系 </a:t>
            </a:r>
            <a:r>
              <a:rPr lang="en-US" altLang="zh-CN" sz="1200" b="1" i="1" dirty="0">
                <a:latin typeface="Times New Roman" panose="02020603050405020304" pitchFamily="18" charset="0"/>
              </a:rPr>
              <a:t>E</a:t>
            </a:r>
            <a:r>
              <a:rPr lang="en-US" altLang="zh-CN" sz="1200" b="1" i="1" baseline="-25000" dirty="0">
                <a:latin typeface="Times New Roman" panose="02020603050405020304" pitchFamily="18" charset="0"/>
              </a:rPr>
              <a:t>A</a:t>
            </a:r>
            <a:r>
              <a:rPr lang="zh-CN" altLang="en-US" sz="1200" b="1" i="1" dirty="0">
                <a:latin typeface="Times New Roman" panose="02020603050405020304" pitchFamily="18" charset="0"/>
              </a:rPr>
              <a:t>，</a:t>
            </a:r>
            <a:r>
              <a:rPr lang="en-US" altLang="zh-CN" sz="1200" b="1" i="1" dirty="0">
                <a:latin typeface="Times New Roman" panose="02020603050405020304" pitchFamily="18" charset="0"/>
              </a:rPr>
              <a:t>π</a:t>
            </a:r>
            <a:r>
              <a:rPr lang="en-US" altLang="zh-CN" sz="1200" b="1" baseline="-25000" dirty="0">
                <a:latin typeface="Times New Roman" panose="02020603050405020304" pitchFamily="18" charset="0"/>
              </a:rPr>
              <a:t>5  </a:t>
            </a:r>
            <a:r>
              <a:rPr lang="zh-CN" altLang="en-US" sz="1200" b="1" dirty="0">
                <a:latin typeface="Times New Roman" panose="02020603050405020304" pitchFamily="18" charset="0"/>
              </a:rPr>
              <a:t>对应于恒等关系 </a:t>
            </a:r>
            <a:r>
              <a:rPr lang="en-US" altLang="zh-CN" sz="1200" b="1" i="1" dirty="0">
                <a:latin typeface="Times New Roman" panose="02020603050405020304" pitchFamily="18" charset="0"/>
              </a:rPr>
              <a:t>I</a:t>
            </a:r>
            <a:r>
              <a:rPr lang="en-US" altLang="zh-CN" sz="1200" b="1" i="1" baseline="-25000" dirty="0">
                <a:latin typeface="Times New Roman" panose="02020603050405020304" pitchFamily="18" charset="0"/>
              </a:rPr>
              <a:t>A</a:t>
            </a:r>
            <a:endParaRPr lang="en-US" altLang="zh-CN" sz="1200" b="1"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latin typeface="Times New Roman" panose="02020603050405020304" pitchFamily="18" charset="0"/>
              </a:rPr>
              <a:t>π</a:t>
            </a:r>
            <a:r>
              <a:rPr lang="en-US" altLang="zh-CN" sz="1200" b="1" baseline="-25000" dirty="0">
                <a:latin typeface="Times New Roman" panose="02020603050405020304" pitchFamily="18" charset="0"/>
              </a:rPr>
              <a:t>2</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π</a:t>
            </a:r>
            <a:r>
              <a:rPr lang="en-US" altLang="zh-CN" sz="1200" b="1" baseline="-25000" dirty="0">
                <a:latin typeface="Times New Roman" panose="02020603050405020304" pitchFamily="18" charset="0"/>
              </a:rPr>
              <a:t>3</a:t>
            </a:r>
            <a:r>
              <a:rPr lang="zh-CN" altLang="en-US" sz="1200" b="1" dirty="0">
                <a:latin typeface="Times New Roman" panose="02020603050405020304" pitchFamily="18" charset="0"/>
              </a:rPr>
              <a:t>和</a:t>
            </a:r>
            <a:r>
              <a:rPr lang="en-US" altLang="zh-CN" sz="1200" b="1" i="1" dirty="0">
                <a:latin typeface="Times New Roman" panose="02020603050405020304" pitchFamily="18" charset="0"/>
              </a:rPr>
              <a:t>π</a:t>
            </a:r>
            <a:r>
              <a:rPr lang="en-US" altLang="zh-CN" sz="1200" b="1" baseline="-25000" dirty="0">
                <a:latin typeface="Times New Roman" panose="02020603050405020304" pitchFamily="18" charset="0"/>
              </a:rPr>
              <a:t>3</a:t>
            </a:r>
            <a:r>
              <a:rPr lang="zh-CN" altLang="en-US" sz="1200" b="1" dirty="0">
                <a:latin typeface="Times New Roman" panose="02020603050405020304" pitchFamily="18" charset="0"/>
              </a:rPr>
              <a:t>分别对应等价关系 </a:t>
            </a:r>
            <a:r>
              <a:rPr lang="en-US" altLang="zh-CN" sz="1200" b="1" i="1" dirty="0">
                <a:latin typeface="Times New Roman" panose="02020603050405020304" pitchFamily="18" charset="0"/>
              </a:rPr>
              <a:t>R</a:t>
            </a:r>
            <a:r>
              <a:rPr lang="en-US" altLang="zh-CN" sz="1200" b="1" baseline="-25000" dirty="0">
                <a:latin typeface="Times New Roman" panose="02020603050405020304" pitchFamily="18" charset="0"/>
              </a:rPr>
              <a:t>2</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R</a:t>
            </a:r>
            <a:r>
              <a:rPr lang="en-US" altLang="zh-CN" sz="1200" b="1" baseline="-25000" dirty="0">
                <a:latin typeface="Times New Roman" panose="02020603050405020304" pitchFamily="18" charset="0"/>
              </a:rPr>
              <a:t>3 </a:t>
            </a:r>
            <a:r>
              <a:rPr lang="zh-CN" altLang="en-US" sz="1200" b="1" dirty="0">
                <a:latin typeface="Times New Roman" panose="02020603050405020304" pitchFamily="18" charset="0"/>
              </a:rPr>
              <a:t>和 </a:t>
            </a:r>
            <a:r>
              <a:rPr lang="en-US" altLang="zh-CN" sz="1200" b="1" i="1" dirty="0">
                <a:latin typeface="Times New Roman" panose="02020603050405020304" pitchFamily="18" charset="0"/>
              </a:rPr>
              <a:t>R</a:t>
            </a:r>
            <a:r>
              <a:rPr lang="en-US" altLang="zh-CN" sz="1200" b="1" baseline="-25000" dirty="0">
                <a:latin typeface="Times New Roman" panose="02020603050405020304" pitchFamily="18" charset="0"/>
              </a:rPr>
              <a:t>4</a:t>
            </a:r>
            <a:r>
              <a:rPr lang="en-US" altLang="zh-CN" sz="1200" b="1" dirty="0">
                <a:latin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89</a:t>
            </a:fld>
            <a:endParaRPr lang="zh-CN" altLang="en-US"/>
          </a:p>
        </p:txBody>
      </p:sp>
    </p:spTree>
    <p:extLst>
      <p:ext uri="{BB962C8B-B14F-4D97-AF65-F5344CB8AC3E}">
        <p14:creationId xmlns:p14="http://schemas.microsoft.com/office/powerpoint/2010/main" val="232007191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=2,3,4,5,6,7,8 </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90</a:t>
            </a:fld>
            <a:endParaRPr lang="zh-CN" altLang="en-US"/>
          </a:p>
        </p:txBody>
      </p:sp>
    </p:spTree>
    <p:extLst>
      <p:ext uri="{BB962C8B-B14F-4D97-AF65-F5344CB8AC3E}">
        <p14:creationId xmlns:p14="http://schemas.microsoft.com/office/powerpoint/2010/main" val="264550107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165225" eaLnBrk="1" hangingPunct="1">
              <a:spcBef>
                <a:spcPct val="40000"/>
              </a:spcBef>
              <a:buNone/>
            </a:pPr>
            <a:endParaRPr lang="en-US" altLang="zh-CN" b="1" dirty="0"/>
          </a:p>
          <a:p>
            <a:pPr marL="0" indent="1165225" eaLnBrk="1" hangingPunct="1">
              <a:spcBef>
                <a:spcPct val="40000"/>
              </a:spcBef>
              <a:buNone/>
            </a:pPr>
            <a:r>
              <a:rPr lang="en-US" altLang="zh-CN" b="1" dirty="0">
                <a:solidFill>
                  <a:srgbClr val="FF0000"/>
                </a:solidFill>
              </a:rPr>
              <a:t>4.4.1 </a:t>
            </a:r>
            <a:r>
              <a:rPr lang="zh-CN" altLang="en-US" b="1" dirty="0">
                <a:solidFill>
                  <a:srgbClr val="FF0000"/>
                </a:solidFill>
              </a:rPr>
              <a:t>等价关系</a:t>
            </a:r>
            <a:endParaRPr lang="en-US" altLang="zh-CN" b="1" dirty="0">
              <a:solidFill>
                <a:srgbClr val="FF0000"/>
              </a:solidFill>
            </a:endParaRPr>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4.4.2 </a:t>
            </a:r>
            <a:r>
              <a:rPr lang="zh-CN" altLang="en-US" b="1" dirty="0"/>
              <a:t>等价类和商集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4.4.3 </a:t>
            </a:r>
            <a:r>
              <a:rPr lang="zh-CN" altLang="en-US" b="1" dirty="0"/>
              <a:t>集合的划分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4.4.4 </a:t>
            </a:r>
            <a:r>
              <a:rPr lang="zh-CN" altLang="en-US" b="1" dirty="0"/>
              <a:t>偏序关系</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4.4.5 </a:t>
            </a:r>
            <a:r>
              <a:rPr lang="zh-CN" altLang="en-US" b="1" dirty="0"/>
              <a:t>偏序集与哈斯图</a:t>
            </a:r>
            <a:endParaRPr lang="zh-CN" altLang="en-US" sz="2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91</a:t>
            </a:fld>
            <a:endParaRPr lang="zh-CN" altLang="en-US"/>
          </a:p>
        </p:txBody>
      </p:sp>
    </p:spTree>
    <p:extLst>
      <p:ext uri="{BB962C8B-B14F-4D97-AF65-F5344CB8AC3E}">
        <p14:creationId xmlns:p14="http://schemas.microsoft.com/office/powerpoint/2010/main" val="29864083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Why </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不仅仅是小于等于关系</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4.22</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上的自反、</a:t>
            </a:r>
            <a:r>
              <a:rPr lang="zh-CN" altLang="en-US" sz="1200" b="1" dirty="0">
                <a:solidFill>
                  <a:schemeClr val="tx1"/>
                </a:solidFill>
                <a:highlight>
                  <a:srgbClr val="FFFF00"/>
                </a:highlight>
                <a:latin typeface="Times New Roman" panose="02020603050405020304" pitchFamily="18" charset="0"/>
                <a:ea typeface="宋体" panose="02010600030101010101" pitchFamily="2" charset="-122"/>
              </a:rPr>
              <a:t>反对称</a:t>
            </a:r>
            <a:r>
              <a:rPr lang="zh-CN" altLang="en-US" sz="1200" b="1" dirty="0">
                <a:solidFill>
                  <a:schemeClr val="tx1"/>
                </a:solidFill>
                <a:latin typeface="Times New Roman" panose="02020603050405020304" pitchFamily="18" charset="0"/>
                <a:ea typeface="宋体" panose="02010600030101010101" pitchFamily="2" charset="-122"/>
              </a:rPr>
              <a:t>和传递的关系，称为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a:t>
            </a:r>
            <a:r>
              <a:rPr lang="zh-CN" altLang="en-US" sz="1200" b="1" dirty="0">
                <a:solidFill>
                  <a:srgbClr val="FF0000"/>
                </a:solidFill>
                <a:latin typeface="Times New Roman" panose="02020603050405020304" pitchFamily="18" charset="0"/>
                <a:ea typeface="宋体" panose="02010600030101010101" pitchFamily="2" charset="-122"/>
              </a:rPr>
              <a:t>偏序关系</a:t>
            </a:r>
            <a:r>
              <a:rPr lang="zh-CN" altLang="en-US" sz="1200" b="1" dirty="0">
                <a:solidFill>
                  <a:schemeClr val="tx1"/>
                </a:solidFill>
                <a:latin typeface="Times New Roman" panose="02020603050405020304" pitchFamily="18" charset="0"/>
                <a:ea typeface="宋体" panose="02010600030101010101" pitchFamily="2" charset="-122"/>
              </a:rPr>
              <a:t>，记作≼</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设≼为偏序关系</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a:t>
            </a:r>
          </a:p>
          <a:p>
            <a:pPr marL="0" indent="0">
              <a:lnSpc>
                <a:spcPct val="120000"/>
              </a:lnSpc>
              <a:buNone/>
            </a:pP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则记作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读作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小于或等于”</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rPr>
              <a:t>实例</a:t>
            </a:r>
          </a:p>
          <a:p>
            <a:pPr marL="0" indent="0">
              <a:lnSpc>
                <a:spcPct val="120000"/>
              </a:lnSpc>
              <a:buNone/>
            </a:pPr>
            <a:r>
              <a:rPr lang="zh-CN" altLang="en-US" sz="1200" b="1" dirty="0">
                <a:latin typeface="Times New Roman" panose="02020603050405020304" pitchFamily="18" charset="0"/>
                <a:ea typeface="宋体" panose="02010600030101010101" pitchFamily="2" charset="-122"/>
              </a:rPr>
              <a:t>    集合</a:t>
            </a:r>
            <a:r>
              <a:rPr lang="en-US" altLang="zh-CN" sz="1200" b="1" i="1" dirty="0">
                <a:latin typeface="Times New Roman" panose="02020603050405020304" pitchFamily="18" charset="0"/>
                <a:ea typeface="宋体" panose="02010600030101010101" pitchFamily="2" charset="-122"/>
              </a:rPr>
              <a:t>A</a:t>
            </a:r>
            <a:r>
              <a:rPr lang="zh-CN" altLang="en-US" sz="1200" b="1" dirty="0">
                <a:latin typeface="Times New Roman" panose="02020603050405020304" pitchFamily="18" charset="0"/>
                <a:ea typeface="宋体" panose="02010600030101010101" pitchFamily="2" charset="-122"/>
              </a:rPr>
              <a:t>上的恒等关系 </a:t>
            </a:r>
            <a:r>
              <a:rPr lang="en-US" altLang="zh-CN" sz="1200" b="1" i="1" dirty="0">
                <a:latin typeface="Times New Roman" panose="02020603050405020304" pitchFamily="18" charset="0"/>
                <a:ea typeface="宋体" panose="02010600030101010101" pitchFamily="2" charset="-122"/>
              </a:rPr>
              <a:t>I</a:t>
            </a:r>
            <a:r>
              <a:rPr lang="en-US" altLang="zh-CN" sz="1200" b="1" i="1" baseline="-25000" dirty="0">
                <a:latin typeface="Times New Roman" panose="02020603050405020304" pitchFamily="18" charset="0"/>
                <a:ea typeface="宋体" panose="02010600030101010101" pitchFamily="2" charset="-122"/>
              </a:rPr>
              <a:t>A </a:t>
            </a:r>
            <a:r>
              <a:rPr lang="zh-CN" altLang="en-US" sz="1200" b="1" dirty="0">
                <a:latin typeface="Times New Roman" panose="02020603050405020304" pitchFamily="18" charset="0"/>
                <a:ea typeface="宋体" panose="02010600030101010101" pitchFamily="2" charset="-122"/>
              </a:rPr>
              <a:t>是</a:t>
            </a:r>
            <a:r>
              <a:rPr lang="en-US" altLang="zh-CN" sz="1200" b="1" i="1" dirty="0">
                <a:latin typeface="Times New Roman" panose="02020603050405020304" pitchFamily="18" charset="0"/>
                <a:ea typeface="宋体" panose="02010600030101010101" pitchFamily="2" charset="-122"/>
              </a:rPr>
              <a:t>A</a:t>
            </a:r>
            <a:r>
              <a:rPr lang="zh-CN" altLang="en-US" sz="1200" b="1" dirty="0">
                <a:latin typeface="Times New Roman" panose="02020603050405020304" pitchFamily="18" charset="0"/>
                <a:ea typeface="宋体" panose="02010600030101010101" pitchFamily="2" charset="-122"/>
              </a:rPr>
              <a:t>上的偏序关系</a:t>
            </a:r>
            <a:r>
              <a:rPr lang="en-US" altLang="zh-CN" sz="1200" b="1" dirty="0">
                <a:latin typeface="Times New Roman" panose="02020603050405020304" pitchFamily="18" charset="0"/>
                <a:ea typeface="宋体" panose="02010600030101010101" pitchFamily="2" charset="-122"/>
              </a:rPr>
              <a:t>. </a:t>
            </a:r>
          </a:p>
          <a:p>
            <a:pPr marL="0" indent="0">
              <a:lnSpc>
                <a:spcPct val="120000"/>
              </a:lnSpc>
              <a:buNone/>
            </a:pPr>
            <a:r>
              <a:rPr lang="en-US" altLang="zh-CN"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rPr>
              <a:t>小于或等于关系</a:t>
            </a:r>
            <a:r>
              <a:rPr lang="en-US" altLang="zh-CN"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rPr>
              <a:t>整除关系和包含关系也是相应集合上的偏序关系</a:t>
            </a:r>
            <a:r>
              <a:rPr lang="en-US" altLang="zh-CN" sz="1200" b="1" dirty="0">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92</a:t>
            </a:fld>
            <a:endParaRPr lang="zh-CN" altLang="en-US"/>
          </a:p>
        </p:txBody>
      </p:sp>
    </p:spTree>
    <p:extLst>
      <p:ext uri="{BB962C8B-B14F-4D97-AF65-F5344CB8AC3E}">
        <p14:creationId xmlns:p14="http://schemas.microsoft.com/office/powerpoint/2010/main" val="92482672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3,9</a:t>
            </a:r>
            <a:r>
              <a:rPr lang="zh-CN" altLang="en-US" dirty="0"/>
              <a:t> </a:t>
            </a:r>
            <a:r>
              <a:rPr lang="en-US" altLang="zh-CN" dirty="0"/>
              <a:t>5,7</a:t>
            </a:r>
            <a:r>
              <a:rPr lang="zh-CN" altLang="en-US" dirty="0"/>
              <a:t> 每对元素都可比 称为全序 </a:t>
            </a:r>
            <a:r>
              <a:rPr lang="en-US" altLang="zh-CN" dirty="0"/>
              <a:t>&lt;</a:t>
            </a:r>
            <a:r>
              <a:rPr lang="zh-CN" altLang="en-US" dirty="0"/>
              <a:t>不相等</a:t>
            </a:r>
            <a:endParaRPr lang="en-US" altLang="zh-CN" dirty="0"/>
          </a:p>
          <a:p>
            <a:endParaRPr lang="en-US" altLang="zh-CN" dirty="0"/>
          </a:p>
          <a:p>
            <a:pPr marL="0" indent="0">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4.23</a:t>
            </a:r>
            <a:r>
              <a:rPr lang="en-US" altLang="zh-CN" sz="1200" b="1" i="1" dirty="0">
                <a:solidFill>
                  <a:srgbClr val="FF0000"/>
                </a:solidFill>
                <a:latin typeface="Times New Roman" panose="02020603050405020304" pitchFamily="18" charset="0"/>
                <a:ea typeface="宋体" panose="02010600030101010101" pitchFamily="2" charset="-122"/>
              </a:rPr>
              <a:t>  x</a:t>
            </a:r>
            <a:r>
              <a:rPr lang="zh-CN" altLang="en-US" sz="1200" b="1" dirty="0">
                <a:solidFill>
                  <a:srgbClr val="FF0000"/>
                </a:solidFill>
                <a:latin typeface="Times New Roman" panose="02020603050405020304" pitchFamily="18" charset="0"/>
                <a:ea typeface="宋体" panose="02010600030101010101" pitchFamily="2" charset="-122"/>
              </a:rPr>
              <a:t>与</a:t>
            </a:r>
            <a:r>
              <a:rPr lang="en-US" altLang="zh-CN" sz="1200" b="1" i="1" dirty="0">
                <a:solidFill>
                  <a:srgbClr val="FF0000"/>
                </a:solidFill>
                <a:latin typeface="Times New Roman" panose="02020603050405020304" pitchFamily="18" charset="0"/>
                <a:ea typeface="宋体" panose="02010600030101010101" pitchFamily="2" charset="-122"/>
              </a:rPr>
              <a:t>y</a:t>
            </a:r>
            <a:r>
              <a:rPr lang="zh-CN" altLang="en-US" sz="1200" b="1" dirty="0">
                <a:solidFill>
                  <a:srgbClr val="FF0000"/>
                </a:solidFill>
                <a:latin typeface="Times New Roman" panose="02020603050405020304" pitchFamily="18" charset="0"/>
                <a:ea typeface="宋体" panose="02010600030101010101" pitchFamily="2" charset="-122"/>
              </a:rPr>
              <a:t>可比</a:t>
            </a:r>
            <a:r>
              <a:rPr lang="zh-CN" altLang="en-US" sz="1200" b="1" dirty="0">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上的偏序关系</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可比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lnSpc>
                <a:spcPct val="110000"/>
              </a:lnSpc>
              <a:buNone/>
            </a:pP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b="1" dirty="0">
                <a:latin typeface="Times New Roman" panose="02020603050405020304" pitchFamily="18" charset="0"/>
                <a:ea typeface="宋体" panose="02010600030101010101" pitchFamily="2" charset="-122"/>
              </a:rPr>
              <a:t> </a:t>
            </a:r>
            <a:r>
              <a:rPr lang="zh-CN" altLang="zh-CN" b="1" dirty="0">
                <a:latin typeface="Times New Roman" panose="02020603050405020304" pitchFamily="18" charset="0"/>
                <a:ea typeface="宋体" panose="02010600030101010101" pitchFamily="2" charset="-122"/>
              </a:rPr>
              <a:t>不可比的条件</a:t>
            </a:r>
            <a:r>
              <a:rPr lang="zh-CN" altLang="en-US" sz="1600" b="1" dirty="0">
                <a:effectLst/>
                <a:latin typeface="+mn-ea"/>
                <a:cs typeface="Times New Roman" panose="02020603050405020304" pitchFamily="18" charset="0"/>
              </a:rPr>
              <a:t>：</a:t>
            </a:r>
            <a:r>
              <a:rPr lang="zh-CN" altLang="zh-CN" b="1" dirty="0">
                <a:latin typeface="Times New Roman" panose="02020603050405020304" pitchFamily="18" charset="0"/>
                <a:ea typeface="宋体" panose="02010600030101010101" pitchFamily="2" charset="-122"/>
              </a:rPr>
              <a:t>不存在任何偏序关系将它们联系起来</a:t>
            </a:r>
            <a:endParaRPr lang="en-US" altLang="zh-CN" b="1" dirty="0">
              <a:latin typeface="Times New Roman" panose="02020603050405020304" pitchFamily="18" charset="0"/>
              <a:ea typeface="宋体" panose="02010600030101010101" pitchFamily="2" charset="-122"/>
            </a:endParaRPr>
          </a:p>
          <a:p>
            <a:pPr marL="0" indent="0">
              <a:lnSpc>
                <a:spcPct val="110000"/>
              </a:lnSpc>
              <a:buNone/>
            </a:pP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4.25</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rgbClr val="FF0000"/>
                </a:solidFill>
                <a:latin typeface="Times New Roman" panose="02020603050405020304" pitchFamily="18" charset="0"/>
                <a:ea typeface="宋体" panose="02010600030101010101" pitchFamily="2" charset="-122"/>
              </a:rPr>
              <a:t>全序 </a:t>
            </a: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都可比，则称</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为全序</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4.26  </a:t>
            </a:r>
            <a:r>
              <a:rPr lang="zh-CN" altLang="en-US" sz="1200" b="1" dirty="0">
                <a:solidFill>
                  <a:srgbClr val="FF0000"/>
                </a:solidFill>
                <a:latin typeface="Times New Roman" panose="02020603050405020304" pitchFamily="18" charset="0"/>
                <a:ea typeface="宋体" panose="02010600030101010101" pitchFamily="2" charset="-122"/>
              </a:rPr>
              <a:t>覆盖</a:t>
            </a:r>
            <a:r>
              <a:rPr lang="zh-CN" altLang="en-US" sz="1200" b="1" dirty="0">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且不存在 </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使得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覆盖</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lnSpc>
                <a:spcPct val="110000"/>
              </a:lnSpc>
              <a:spcBef>
                <a:spcPct val="50000"/>
              </a:spcBef>
              <a:buNone/>
            </a:pPr>
            <a:r>
              <a:rPr lang="zh-CN" altLang="en-US" sz="1200" b="1" dirty="0">
                <a:solidFill>
                  <a:srgbClr val="00B0F0"/>
                </a:solidFill>
                <a:latin typeface="Times New Roman" panose="02020603050405020304" pitchFamily="18" charset="0"/>
                <a:ea typeface="宋体" panose="02010600030101010101" pitchFamily="2" charset="-122"/>
              </a:rPr>
              <a:t>实例：</a:t>
            </a:r>
            <a:r>
              <a:rPr lang="zh-CN" altLang="en-US" sz="1200" b="1" dirty="0">
                <a:latin typeface="Times New Roman" panose="02020603050405020304" pitchFamily="18" charset="0"/>
                <a:ea typeface="宋体" panose="02010600030101010101" pitchFamily="2" charset="-122"/>
              </a:rPr>
              <a:t>数集</a:t>
            </a:r>
            <a:r>
              <a:rPr lang="en-US" altLang="zh-CN" b="1" dirty="0">
                <a:latin typeface="Times New Roman" panose="02020603050405020304" pitchFamily="18" charset="0"/>
                <a:ea typeface="宋体" panose="02010600030101010101" pitchFamily="2" charset="-122"/>
              </a:rPr>
              <a:t>(</a:t>
            </a:r>
            <a:r>
              <a:rPr lang="zh-CN" altLang="zh-CN" b="1" dirty="0">
                <a:latin typeface="Times New Roman" panose="02020603050405020304" pitchFamily="18" charset="0"/>
                <a:ea typeface="宋体" panose="02010600030101010101" pitchFamily="2" charset="-122"/>
              </a:rPr>
              <a:t>如实数集、整数集等</a:t>
            </a:r>
            <a:r>
              <a:rPr lang="en-US" altLang="zh-CN"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上的小于或等于关系是全序关系</a:t>
            </a:r>
          </a:p>
          <a:p>
            <a:pPr marL="0" indent="0">
              <a:lnSpc>
                <a:spcPct val="110000"/>
              </a:lnSpc>
              <a:buNone/>
            </a:pPr>
            <a:r>
              <a:rPr lang="zh-CN" altLang="en-US" sz="1200" b="1" dirty="0">
                <a:latin typeface="Times New Roman" panose="02020603050405020304" pitchFamily="18" charset="0"/>
                <a:ea typeface="宋体" panose="02010600030101010101" pitchFamily="2" charset="-122"/>
              </a:rPr>
              <a:t>    整除关系不是正整数集合上的全序关系</a:t>
            </a:r>
          </a:p>
          <a:p>
            <a:pPr marL="0" indent="0">
              <a:lnSpc>
                <a:spcPct val="110000"/>
              </a:lnSpc>
              <a:buNone/>
            </a:pPr>
            <a:r>
              <a:rPr lang="en-US" altLang="zh-CN" sz="1200" b="1" dirty="0">
                <a:latin typeface="Times New Roman" panose="02020603050405020304" pitchFamily="18" charset="0"/>
                <a:ea typeface="宋体" panose="02010600030101010101" pitchFamily="2" charset="-122"/>
              </a:rPr>
              <a:t>   {1, 2, 4, 6}</a:t>
            </a:r>
            <a:r>
              <a:rPr lang="zh-CN" altLang="en-US" sz="1200" b="1" dirty="0">
                <a:latin typeface="Times New Roman" panose="02020603050405020304" pitchFamily="18" charset="0"/>
                <a:ea typeface="宋体" panose="02010600030101010101" pitchFamily="2" charset="-122"/>
              </a:rPr>
              <a:t>集合上的整除关系</a:t>
            </a:r>
            <a:r>
              <a:rPr lang="en-US" altLang="zh-CN" sz="1200" b="1" dirty="0">
                <a:latin typeface="Times New Roman" panose="02020603050405020304" pitchFamily="18" charset="0"/>
                <a:ea typeface="宋体" panose="02010600030101010101" pitchFamily="2" charset="-122"/>
              </a:rPr>
              <a:t>, 2</a:t>
            </a:r>
            <a:r>
              <a:rPr lang="zh-CN" altLang="en-US" sz="1200" b="1" dirty="0">
                <a:latin typeface="Times New Roman" panose="02020603050405020304" pitchFamily="18" charset="0"/>
                <a:ea typeface="宋体" panose="02010600030101010101" pitchFamily="2" charset="-122"/>
              </a:rPr>
              <a:t>覆盖</a:t>
            </a:r>
            <a:r>
              <a:rPr lang="en-US" altLang="zh-CN" sz="1200" b="1" dirty="0">
                <a:latin typeface="Times New Roman" panose="02020603050405020304" pitchFamily="18" charset="0"/>
                <a:ea typeface="宋体" panose="02010600030101010101" pitchFamily="2" charset="-122"/>
              </a:rPr>
              <a:t>1, 4 </a:t>
            </a:r>
            <a:r>
              <a:rPr lang="zh-CN" altLang="en-US" sz="1200" b="1" dirty="0">
                <a:latin typeface="Times New Roman" panose="02020603050405020304" pitchFamily="18" charset="0"/>
                <a:ea typeface="宋体" panose="02010600030101010101" pitchFamily="2" charset="-122"/>
              </a:rPr>
              <a:t>和 </a:t>
            </a:r>
            <a:r>
              <a:rPr lang="en-US" altLang="zh-CN" sz="1200" b="1" dirty="0">
                <a:latin typeface="Times New Roman" panose="02020603050405020304" pitchFamily="18" charset="0"/>
                <a:ea typeface="宋体" panose="02010600030101010101" pitchFamily="2" charset="-122"/>
              </a:rPr>
              <a:t>6 </a:t>
            </a:r>
            <a:r>
              <a:rPr lang="zh-CN" altLang="en-US" sz="1200" b="1" dirty="0">
                <a:latin typeface="Times New Roman" panose="02020603050405020304" pitchFamily="18" charset="0"/>
                <a:ea typeface="宋体" panose="02010600030101010101" pitchFamily="2" charset="-122"/>
              </a:rPr>
              <a:t>覆盖</a:t>
            </a:r>
            <a:r>
              <a:rPr lang="en-US" altLang="zh-CN" sz="1200" b="1" dirty="0">
                <a:latin typeface="Times New Roman" panose="02020603050405020304" pitchFamily="18" charset="0"/>
                <a:ea typeface="宋体" panose="02010600030101010101" pitchFamily="2" charset="-122"/>
              </a:rPr>
              <a:t>2. </a:t>
            </a:r>
          </a:p>
          <a:p>
            <a:pPr marL="0" indent="0">
              <a:lnSpc>
                <a:spcPct val="110000"/>
              </a:lnSpc>
              <a:buNone/>
            </a:pPr>
            <a:r>
              <a:rPr lang="zh-CN" altLang="en-US" sz="1200" b="1" dirty="0">
                <a:latin typeface="Times New Roman" panose="02020603050405020304" pitchFamily="18" charset="0"/>
                <a:ea typeface="宋体" panose="02010600030101010101" pitchFamily="2" charset="-122"/>
              </a:rPr>
              <a:t>    但</a:t>
            </a:r>
            <a:r>
              <a:rPr lang="en-US" altLang="zh-CN" sz="1200" b="1" dirty="0">
                <a:latin typeface="Times New Roman" panose="02020603050405020304" pitchFamily="18" charset="0"/>
                <a:ea typeface="宋体" panose="02010600030101010101" pitchFamily="2" charset="-122"/>
              </a:rPr>
              <a:t>4</a:t>
            </a:r>
            <a:r>
              <a:rPr lang="zh-CN" altLang="en-US" sz="1200" b="1" dirty="0">
                <a:latin typeface="Times New Roman" panose="02020603050405020304" pitchFamily="18" charset="0"/>
                <a:ea typeface="宋体" panose="02010600030101010101" pitchFamily="2" charset="-122"/>
              </a:rPr>
              <a:t>不覆盖</a:t>
            </a:r>
            <a:r>
              <a:rPr lang="en-US" altLang="zh-CN" sz="1200" b="1" dirty="0">
                <a:latin typeface="Times New Roman" panose="02020603050405020304" pitchFamily="18" charset="0"/>
                <a:ea typeface="宋体" panose="02010600030101010101" pitchFamily="2" charset="-122"/>
              </a:rPr>
              <a:t>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93</a:t>
            </a:fld>
            <a:endParaRPr lang="zh-CN" altLang="en-US"/>
          </a:p>
        </p:txBody>
      </p:sp>
    </p:spTree>
    <p:extLst>
      <p:ext uri="{BB962C8B-B14F-4D97-AF65-F5344CB8AC3E}">
        <p14:creationId xmlns:p14="http://schemas.microsoft.com/office/powerpoint/2010/main" val="39885452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3,9</a:t>
            </a:r>
            <a:r>
              <a:rPr lang="zh-CN" altLang="en-US" dirty="0"/>
              <a:t> </a:t>
            </a:r>
            <a:r>
              <a:rPr lang="en-US" altLang="zh-CN" dirty="0"/>
              <a:t>5,7</a:t>
            </a:r>
            <a:r>
              <a:rPr lang="zh-CN" altLang="en-US" dirty="0"/>
              <a:t> 每对元素都可比 称为全序 </a:t>
            </a:r>
            <a:r>
              <a:rPr lang="en-US" altLang="zh-CN" dirty="0"/>
              <a:t>&lt;</a:t>
            </a:r>
            <a:r>
              <a:rPr lang="zh-CN" altLang="en-US" dirty="0"/>
              <a:t>不相等</a:t>
            </a:r>
            <a:endParaRPr lang="en-US" altLang="zh-CN" dirty="0"/>
          </a:p>
          <a:p>
            <a:endParaRPr lang="en-US" altLang="zh-CN" dirty="0"/>
          </a:p>
          <a:p>
            <a:pPr marL="0" indent="0">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4.23</a:t>
            </a:r>
            <a:r>
              <a:rPr lang="en-US" altLang="zh-CN" sz="1200" b="1" i="1" dirty="0">
                <a:solidFill>
                  <a:srgbClr val="FF0000"/>
                </a:solidFill>
                <a:latin typeface="Times New Roman" panose="02020603050405020304" pitchFamily="18" charset="0"/>
                <a:ea typeface="宋体" panose="02010600030101010101" pitchFamily="2" charset="-122"/>
              </a:rPr>
              <a:t>  x</a:t>
            </a:r>
            <a:r>
              <a:rPr lang="zh-CN" altLang="en-US" sz="1200" b="1" dirty="0">
                <a:solidFill>
                  <a:srgbClr val="FF0000"/>
                </a:solidFill>
                <a:latin typeface="Times New Roman" panose="02020603050405020304" pitchFamily="18" charset="0"/>
                <a:ea typeface="宋体" panose="02010600030101010101" pitchFamily="2" charset="-122"/>
              </a:rPr>
              <a:t>与</a:t>
            </a:r>
            <a:r>
              <a:rPr lang="en-US" altLang="zh-CN" sz="1200" b="1" i="1" dirty="0">
                <a:solidFill>
                  <a:srgbClr val="FF0000"/>
                </a:solidFill>
                <a:latin typeface="Times New Roman" panose="02020603050405020304" pitchFamily="18" charset="0"/>
                <a:ea typeface="宋体" panose="02010600030101010101" pitchFamily="2" charset="-122"/>
              </a:rPr>
              <a:t>y</a:t>
            </a:r>
            <a:r>
              <a:rPr lang="zh-CN" altLang="en-US" sz="1200" b="1" dirty="0">
                <a:solidFill>
                  <a:srgbClr val="FF0000"/>
                </a:solidFill>
                <a:latin typeface="Times New Roman" panose="02020603050405020304" pitchFamily="18" charset="0"/>
                <a:ea typeface="宋体" panose="02010600030101010101" pitchFamily="2" charset="-122"/>
              </a:rPr>
              <a:t>可比</a:t>
            </a:r>
            <a:r>
              <a:rPr lang="zh-CN" altLang="en-US" sz="1200" b="1" dirty="0">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上的偏序关系</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可比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lnSpc>
                <a:spcPct val="110000"/>
              </a:lnSpc>
              <a:buNone/>
            </a:pP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b="1" dirty="0">
                <a:latin typeface="Times New Roman" panose="02020603050405020304" pitchFamily="18" charset="0"/>
                <a:ea typeface="宋体" panose="02010600030101010101" pitchFamily="2" charset="-122"/>
              </a:rPr>
              <a:t> </a:t>
            </a:r>
            <a:r>
              <a:rPr lang="zh-CN" altLang="zh-CN" b="1" dirty="0">
                <a:latin typeface="Times New Roman" panose="02020603050405020304" pitchFamily="18" charset="0"/>
                <a:ea typeface="宋体" panose="02010600030101010101" pitchFamily="2" charset="-122"/>
              </a:rPr>
              <a:t>不可比的条件</a:t>
            </a:r>
            <a:r>
              <a:rPr lang="zh-CN" altLang="en-US" sz="1600" b="1" dirty="0">
                <a:effectLst/>
                <a:latin typeface="+mn-ea"/>
                <a:cs typeface="Times New Roman" panose="02020603050405020304" pitchFamily="18" charset="0"/>
              </a:rPr>
              <a:t>：</a:t>
            </a:r>
            <a:r>
              <a:rPr lang="zh-CN" altLang="zh-CN" b="1" dirty="0">
                <a:latin typeface="Times New Roman" panose="02020603050405020304" pitchFamily="18" charset="0"/>
                <a:ea typeface="宋体" panose="02010600030101010101" pitchFamily="2" charset="-122"/>
              </a:rPr>
              <a:t>不存在任何偏序关系将它们联系起来</a:t>
            </a:r>
            <a:endParaRPr lang="en-US" altLang="zh-CN" b="1" dirty="0">
              <a:latin typeface="Times New Roman" panose="02020603050405020304" pitchFamily="18" charset="0"/>
              <a:ea typeface="宋体" panose="02010600030101010101" pitchFamily="2" charset="-122"/>
            </a:endParaRPr>
          </a:p>
          <a:p>
            <a:pPr marL="0" indent="0">
              <a:lnSpc>
                <a:spcPct val="110000"/>
              </a:lnSpc>
              <a:buNone/>
            </a:pP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4.25</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rgbClr val="FF0000"/>
                </a:solidFill>
                <a:latin typeface="Times New Roman" panose="02020603050405020304" pitchFamily="18" charset="0"/>
                <a:ea typeface="宋体" panose="02010600030101010101" pitchFamily="2" charset="-122"/>
              </a:rPr>
              <a:t>全序 </a:t>
            </a: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都可比，则称</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为全序</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a:lnSpc>
                <a:spcPct val="11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4.26  </a:t>
            </a:r>
            <a:r>
              <a:rPr lang="zh-CN" altLang="en-US" sz="1200" b="1" dirty="0">
                <a:solidFill>
                  <a:srgbClr val="FF0000"/>
                </a:solidFill>
                <a:latin typeface="Times New Roman" panose="02020603050405020304" pitchFamily="18" charset="0"/>
                <a:ea typeface="宋体" panose="02010600030101010101" pitchFamily="2" charset="-122"/>
              </a:rPr>
              <a:t>覆盖</a:t>
            </a:r>
            <a:r>
              <a:rPr lang="zh-CN" altLang="en-US" sz="1200" b="1" dirty="0">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且不存在 </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使得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覆盖</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lnSpc>
                <a:spcPct val="110000"/>
              </a:lnSpc>
              <a:spcBef>
                <a:spcPct val="50000"/>
              </a:spcBef>
              <a:buNone/>
            </a:pPr>
            <a:r>
              <a:rPr lang="zh-CN" altLang="en-US" sz="1200" b="1" dirty="0">
                <a:solidFill>
                  <a:srgbClr val="00B0F0"/>
                </a:solidFill>
                <a:latin typeface="Times New Roman" panose="02020603050405020304" pitchFamily="18" charset="0"/>
                <a:ea typeface="宋体" panose="02010600030101010101" pitchFamily="2" charset="-122"/>
              </a:rPr>
              <a:t>实例：</a:t>
            </a:r>
            <a:r>
              <a:rPr lang="zh-CN" altLang="en-US" sz="1200" b="1" dirty="0">
                <a:latin typeface="Times New Roman" panose="02020603050405020304" pitchFamily="18" charset="0"/>
                <a:ea typeface="宋体" panose="02010600030101010101" pitchFamily="2" charset="-122"/>
              </a:rPr>
              <a:t>数集</a:t>
            </a:r>
            <a:r>
              <a:rPr lang="en-US" altLang="zh-CN" b="1" dirty="0">
                <a:latin typeface="Times New Roman" panose="02020603050405020304" pitchFamily="18" charset="0"/>
                <a:ea typeface="宋体" panose="02010600030101010101" pitchFamily="2" charset="-122"/>
              </a:rPr>
              <a:t>(</a:t>
            </a:r>
            <a:r>
              <a:rPr lang="zh-CN" altLang="zh-CN" b="1" dirty="0">
                <a:latin typeface="Times New Roman" panose="02020603050405020304" pitchFamily="18" charset="0"/>
                <a:ea typeface="宋体" panose="02010600030101010101" pitchFamily="2" charset="-122"/>
              </a:rPr>
              <a:t>如实数集、整数集等</a:t>
            </a:r>
            <a:r>
              <a:rPr lang="en-US" altLang="zh-CN"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上的小于或等于关系是全序关系</a:t>
            </a:r>
          </a:p>
          <a:p>
            <a:pPr marL="0" indent="0">
              <a:lnSpc>
                <a:spcPct val="110000"/>
              </a:lnSpc>
              <a:buNone/>
            </a:pPr>
            <a:r>
              <a:rPr lang="zh-CN" altLang="en-US" sz="1200" b="1" dirty="0">
                <a:latin typeface="Times New Roman" panose="02020603050405020304" pitchFamily="18" charset="0"/>
                <a:ea typeface="宋体" panose="02010600030101010101" pitchFamily="2" charset="-122"/>
              </a:rPr>
              <a:t>    整除关系不是正整数集合上的全序关系</a:t>
            </a:r>
          </a:p>
          <a:p>
            <a:pPr marL="0" indent="0">
              <a:lnSpc>
                <a:spcPct val="110000"/>
              </a:lnSpc>
              <a:buNone/>
            </a:pPr>
            <a:r>
              <a:rPr lang="en-US" altLang="zh-CN" sz="1200" b="1" dirty="0">
                <a:latin typeface="Times New Roman" panose="02020603050405020304" pitchFamily="18" charset="0"/>
                <a:ea typeface="宋体" panose="02010600030101010101" pitchFamily="2" charset="-122"/>
              </a:rPr>
              <a:t>   {1, 2, 4, 6}</a:t>
            </a:r>
            <a:r>
              <a:rPr lang="zh-CN" altLang="en-US" sz="1200" b="1" dirty="0">
                <a:latin typeface="Times New Roman" panose="02020603050405020304" pitchFamily="18" charset="0"/>
                <a:ea typeface="宋体" panose="02010600030101010101" pitchFamily="2" charset="-122"/>
              </a:rPr>
              <a:t>集合上的整除关系</a:t>
            </a:r>
            <a:r>
              <a:rPr lang="en-US" altLang="zh-CN" sz="1200" b="1" dirty="0">
                <a:latin typeface="Times New Roman" panose="02020603050405020304" pitchFamily="18" charset="0"/>
                <a:ea typeface="宋体" panose="02010600030101010101" pitchFamily="2" charset="-122"/>
              </a:rPr>
              <a:t>, 2</a:t>
            </a:r>
            <a:r>
              <a:rPr lang="zh-CN" altLang="en-US" sz="1200" b="1" dirty="0">
                <a:latin typeface="Times New Roman" panose="02020603050405020304" pitchFamily="18" charset="0"/>
                <a:ea typeface="宋体" panose="02010600030101010101" pitchFamily="2" charset="-122"/>
              </a:rPr>
              <a:t>覆盖</a:t>
            </a:r>
            <a:r>
              <a:rPr lang="en-US" altLang="zh-CN" sz="1200" b="1" dirty="0">
                <a:latin typeface="Times New Roman" panose="02020603050405020304" pitchFamily="18" charset="0"/>
                <a:ea typeface="宋体" panose="02010600030101010101" pitchFamily="2" charset="-122"/>
              </a:rPr>
              <a:t>1, 4 </a:t>
            </a:r>
            <a:r>
              <a:rPr lang="zh-CN" altLang="en-US" sz="1200" b="1" dirty="0">
                <a:latin typeface="Times New Roman" panose="02020603050405020304" pitchFamily="18" charset="0"/>
                <a:ea typeface="宋体" panose="02010600030101010101" pitchFamily="2" charset="-122"/>
              </a:rPr>
              <a:t>和 </a:t>
            </a:r>
            <a:r>
              <a:rPr lang="en-US" altLang="zh-CN" sz="1200" b="1" dirty="0">
                <a:latin typeface="Times New Roman" panose="02020603050405020304" pitchFamily="18" charset="0"/>
                <a:ea typeface="宋体" panose="02010600030101010101" pitchFamily="2" charset="-122"/>
              </a:rPr>
              <a:t>6 </a:t>
            </a:r>
            <a:r>
              <a:rPr lang="zh-CN" altLang="en-US" sz="1200" b="1" dirty="0">
                <a:latin typeface="Times New Roman" panose="02020603050405020304" pitchFamily="18" charset="0"/>
                <a:ea typeface="宋体" panose="02010600030101010101" pitchFamily="2" charset="-122"/>
              </a:rPr>
              <a:t>覆盖</a:t>
            </a:r>
            <a:r>
              <a:rPr lang="en-US" altLang="zh-CN" sz="1200" b="1" dirty="0">
                <a:latin typeface="Times New Roman" panose="02020603050405020304" pitchFamily="18" charset="0"/>
                <a:ea typeface="宋体" panose="02010600030101010101" pitchFamily="2" charset="-122"/>
              </a:rPr>
              <a:t>2. </a:t>
            </a:r>
          </a:p>
          <a:p>
            <a:pPr marL="0" indent="0">
              <a:lnSpc>
                <a:spcPct val="110000"/>
              </a:lnSpc>
              <a:buNone/>
            </a:pPr>
            <a:r>
              <a:rPr lang="zh-CN" altLang="en-US" sz="1200" b="1" dirty="0">
                <a:latin typeface="Times New Roman" panose="02020603050405020304" pitchFamily="18" charset="0"/>
                <a:ea typeface="宋体" panose="02010600030101010101" pitchFamily="2" charset="-122"/>
              </a:rPr>
              <a:t>    但</a:t>
            </a:r>
            <a:r>
              <a:rPr lang="en-US" altLang="zh-CN" sz="1200" b="1" dirty="0">
                <a:latin typeface="Times New Roman" panose="02020603050405020304" pitchFamily="18" charset="0"/>
                <a:ea typeface="宋体" panose="02010600030101010101" pitchFamily="2" charset="-122"/>
              </a:rPr>
              <a:t>4</a:t>
            </a:r>
            <a:r>
              <a:rPr lang="zh-CN" altLang="en-US" sz="1200" b="1" dirty="0">
                <a:latin typeface="Times New Roman" panose="02020603050405020304" pitchFamily="18" charset="0"/>
                <a:ea typeface="宋体" panose="02010600030101010101" pitchFamily="2" charset="-122"/>
              </a:rPr>
              <a:t>不覆盖</a:t>
            </a:r>
            <a:r>
              <a:rPr lang="en-US" altLang="zh-CN" sz="1200" b="1" dirty="0">
                <a:latin typeface="Times New Roman" panose="02020603050405020304" pitchFamily="18" charset="0"/>
                <a:ea typeface="宋体" panose="02010600030101010101" pitchFamily="2" charset="-122"/>
              </a:rPr>
              <a:t>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94</a:t>
            </a:fld>
            <a:endParaRPr lang="zh-CN" altLang="en-US"/>
          </a:p>
        </p:txBody>
      </p:sp>
    </p:spTree>
    <p:extLst>
      <p:ext uri="{BB962C8B-B14F-4D97-AF65-F5344CB8AC3E}">
        <p14:creationId xmlns:p14="http://schemas.microsoft.com/office/powerpoint/2010/main" val="172880924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165225" eaLnBrk="1" hangingPunct="1">
              <a:spcBef>
                <a:spcPct val="40000"/>
              </a:spcBef>
              <a:buNone/>
            </a:pPr>
            <a:endParaRPr lang="en-US" altLang="zh-CN" b="1" dirty="0"/>
          </a:p>
          <a:p>
            <a:pPr marL="0" indent="1165225" eaLnBrk="1" hangingPunct="1">
              <a:spcBef>
                <a:spcPct val="40000"/>
              </a:spcBef>
              <a:buNone/>
            </a:pPr>
            <a:r>
              <a:rPr lang="en-US" altLang="zh-CN" b="1" dirty="0">
                <a:solidFill>
                  <a:srgbClr val="FF0000"/>
                </a:solidFill>
              </a:rPr>
              <a:t>4.4.1 </a:t>
            </a:r>
            <a:r>
              <a:rPr lang="zh-CN" altLang="en-US" b="1" dirty="0">
                <a:solidFill>
                  <a:srgbClr val="FF0000"/>
                </a:solidFill>
              </a:rPr>
              <a:t>等价关系</a:t>
            </a:r>
            <a:endParaRPr lang="en-US" altLang="zh-CN" b="1" dirty="0">
              <a:solidFill>
                <a:srgbClr val="FF0000"/>
              </a:solidFill>
            </a:endParaRPr>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4.4.2 </a:t>
            </a:r>
            <a:r>
              <a:rPr lang="zh-CN" altLang="en-US" b="1" dirty="0"/>
              <a:t>等价类和商集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4.4.3 </a:t>
            </a:r>
            <a:r>
              <a:rPr lang="zh-CN" altLang="en-US" b="1" dirty="0"/>
              <a:t>集合的划分</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4.4.4 </a:t>
            </a:r>
            <a:r>
              <a:rPr lang="zh-CN" altLang="en-US" b="1" dirty="0"/>
              <a:t>偏序关系</a:t>
            </a:r>
            <a:endParaRPr lang="en-US" altLang="zh-CN" b="1" dirty="0"/>
          </a:p>
          <a:p>
            <a:pPr marL="0" indent="1165225" eaLnBrk="1" hangingPunct="1">
              <a:spcBef>
                <a:spcPct val="40000"/>
              </a:spcBef>
              <a:buNone/>
            </a:pPr>
            <a:endParaRPr lang="zh-CN" altLang="en-US" b="1" dirty="0"/>
          </a:p>
          <a:p>
            <a:pPr marL="0" indent="1165225" eaLnBrk="1" hangingPunct="1">
              <a:spcBef>
                <a:spcPct val="40000"/>
              </a:spcBef>
              <a:buNone/>
            </a:pPr>
            <a:r>
              <a:rPr lang="en-US" altLang="zh-CN" b="1" dirty="0"/>
              <a:t>4.4.5 </a:t>
            </a:r>
            <a:r>
              <a:rPr lang="zh-CN" altLang="en-US" b="1" dirty="0"/>
              <a:t>偏序集与哈斯图</a:t>
            </a:r>
            <a:endParaRPr lang="zh-CN" altLang="en-US" sz="2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95</a:t>
            </a:fld>
            <a:endParaRPr lang="zh-CN" altLang="en-US"/>
          </a:p>
        </p:txBody>
      </p:sp>
    </p:spTree>
    <p:extLst>
      <p:ext uri="{BB962C8B-B14F-4D97-AF65-F5344CB8AC3E}">
        <p14:creationId xmlns:p14="http://schemas.microsoft.com/office/powerpoint/2010/main" val="25952243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哈斯图（</a:t>
            </a:r>
            <a:r>
              <a:rPr lang="en-US" altLang="zh-CN" sz="1800" dirty="0" err="1">
                <a:effectLst/>
                <a:ea typeface="等线" panose="02010600030101010101" pitchFamily="2" charset="-122"/>
                <a:cs typeface="Times New Roman" panose="02020603050405020304" pitchFamily="18" charset="0"/>
              </a:rPr>
              <a:t>Hasse</a:t>
            </a:r>
            <a:r>
              <a:rPr lang="en-US" altLang="zh-CN" sz="1800" dirty="0">
                <a:effectLst/>
                <a:ea typeface="等线" panose="02010600030101010101" pitchFamily="2" charset="-122"/>
                <a:cs typeface="Times New Roman" panose="02020603050405020304" pitchFamily="18" charset="0"/>
              </a:rPr>
              <a:t> diagram</a:t>
            </a:r>
            <a:r>
              <a:rPr lang="zh-CN" altLang="zh-CN" sz="1800" dirty="0">
                <a:effectLst/>
                <a:ea typeface="等线" panose="02010600030101010101" pitchFamily="2" charset="-122"/>
                <a:cs typeface="Times New Roman" panose="02020603050405020304" pitchFamily="18" charset="0"/>
              </a:rPr>
              <a:t>）的主要目的是为了提供一种清晰且</a:t>
            </a:r>
            <a:r>
              <a:rPr lang="zh-CN" altLang="zh-CN" sz="1800" dirty="0">
                <a:effectLst/>
                <a:highlight>
                  <a:srgbClr val="FFFF00"/>
                </a:highlight>
                <a:ea typeface="等线" panose="02010600030101010101" pitchFamily="2" charset="-122"/>
                <a:cs typeface="Times New Roman" panose="02020603050405020304" pitchFamily="18" charset="0"/>
              </a:rPr>
              <a:t>简洁的方式来可视化偏序集的结构</a:t>
            </a:r>
            <a:r>
              <a:rPr lang="zh-CN" altLang="zh-CN" sz="1800" dirty="0">
                <a:effectLst/>
                <a:ea typeface="等线" panose="02010600030101010101" pitchFamily="2" charset="-122"/>
                <a:cs typeface="Times New Roman" panose="02020603050405020304" pitchFamily="18" charset="0"/>
              </a:rPr>
              <a:t>，特别是展示集合中元素之间的偏序关系。</a:t>
            </a:r>
            <a:endParaRPr lang="en-US" altLang="zh-CN" sz="1800" dirty="0">
              <a:effectLst/>
              <a:ea typeface="等线" panose="02010600030101010101" pitchFamily="2" charset="-122"/>
              <a:cs typeface="Times New Roman" panose="02020603050405020304" pitchFamily="18" charset="0"/>
            </a:endParaRPr>
          </a:p>
          <a:p>
            <a:r>
              <a:rPr lang="zh-CN" altLang="en-US" b="1" i="0" dirty="0">
                <a:solidFill>
                  <a:srgbClr val="202122"/>
                </a:solidFill>
                <a:effectLst/>
                <a:latin typeface="Arial" panose="020B0604020202020204" pitchFamily="34" charset="0"/>
              </a:rPr>
              <a:t>幂集</a:t>
            </a:r>
            <a:r>
              <a:rPr lang="zh-CN" altLang="en-US" b="0" i="0" dirty="0">
                <a:solidFill>
                  <a:srgbClr val="202122"/>
                </a:solidFill>
                <a:effectLst/>
                <a:latin typeface="Arial" panose="020B0604020202020204" pitchFamily="34" charset="0"/>
              </a:rPr>
              <a:t>（英语：</a:t>
            </a:r>
            <a:r>
              <a:rPr lang="en-US" altLang="zh-CN" b="0" i="0" dirty="0">
                <a:solidFill>
                  <a:srgbClr val="202122"/>
                </a:solidFill>
                <a:effectLst/>
                <a:latin typeface="Arial" panose="020B0604020202020204" pitchFamily="34" charset="0"/>
              </a:rPr>
              <a:t>power set</a:t>
            </a:r>
            <a:r>
              <a:rPr lang="zh-CN" altLang="en-US" b="0" i="0" dirty="0">
                <a:solidFill>
                  <a:srgbClr val="202122"/>
                </a:solidFill>
                <a:effectLst/>
                <a:latin typeface="Arial" panose="020B0604020202020204" pitchFamily="34" charset="0"/>
              </a:rPr>
              <a:t>），定义为由该集合全部</a:t>
            </a:r>
            <a:r>
              <a:rPr lang="zh-CN" altLang="en-US" b="0" i="0" u="none" strike="noStrike" dirty="0">
                <a:solidFill>
                  <a:srgbClr val="3366CC"/>
                </a:solidFill>
                <a:effectLst/>
                <a:latin typeface="Arial" panose="020B0604020202020204" pitchFamily="34" charset="0"/>
                <a:hlinkClick r:id="rId3" tooltip="子集"/>
              </a:rPr>
              <a:t>子集</a:t>
            </a:r>
            <a:r>
              <a:rPr lang="zh-CN" altLang="en-US" b="0" i="0" dirty="0">
                <a:solidFill>
                  <a:srgbClr val="202122"/>
                </a:solidFill>
                <a:effectLst/>
                <a:latin typeface="Arial" panose="020B0604020202020204" pitchFamily="34" charset="0"/>
              </a:rPr>
              <a:t>为元素构成的集合。</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r>
              <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1.</a:t>
            </a:r>
            <a:r>
              <a:rPr lang="zh-CN" altLang="en-US"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自反</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r>
              <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2.</a:t>
            </a:r>
            <a:r>
              <a:rPr lang="zh-CN" altLang="en-US"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移走所有传递性的边</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pPr marL="0" indent="0">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4.27   </a:t>
            </a:r>
            <a:r>
              <a:rPr lang="zh-CN" altLang="en-US" sz="1200" b="1" dirty="0">
                <a:solidFill>
                  <a:schemeClr val="tx1"/>
                </a:solidFill>
                <a:latin typeface="Times New Roman" panose="02020603050405020304" pitchFamily="18" charset="0"/>
                <a:ea typeface="宋体" panose="02010600030101010101" pitchFamily="2" charset="-122"/>
              </a:rPr>
              <a:t>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和</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上的偏序关系≼一起叫做</a:t>
            </a:r>
            <a:r>
              <a:rPr lang="zh-CN" altLang="en-US" sz="1200" b="1" dirty="0">
                <a:solidFill>
                  <a:srgbClr val="FF0000"/>
                </a:solidFill>
                <a:latin typeface="Times New Roman" panose="02020603050405020304" pitchFamily="18" charset="0"/>
                <a:ea typeface="宋体" panose="02010600030101010101" pitchFamily="2" charset="-122"/>
              </a:rPr>
              <a:t>偏序集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记作</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00B0F0"/>
                </a:solidFill>
                <a:latin typeface="Times New Roman" panose="02020603050405020304" pitchFamily="18" charset="0"/>
                <a:ea typeface="宋体" panose="02010600030101010101" pitchFamily="2" charset="-122"/>
              </a:rPr>
              <a:t>实例：</a:t>
            </a:r>
            <a:r>
              <a:rPr lang="zh-CN" altLang="en-US" sz="1200" b="1" dirty="0">
                <a:solidFill>
                  <a:schemeClr val="tx1"/>
                </a:solidFill>
                <a:latin typeface="Times New Roman" panose="02020603050405020304" pitchFamily="18" charset="0"/>
                <a:ea typeface="宋体" panose="02010600030101010101" pitchFamily="2" charset="-122"/>
              </a:rPr>
              <a:t>整数集和数的小于等于关系构成偏序集</a:t>
            </a:r>
            <a:r>
              <a:rPr lang="en-US" altLang="zh-CN" sz="1200" b="1" dirty="0">
                <a:solidFill>
                  <a:schemeClr val="tx1"/>
                </a:solidFill>
                <a:latin typeface="Times New Roman" panose="02020603050405020304" pitchFamily="18" charset="0"/>
                <a:ea typeface="宋体" panose="02010600030101010101" pitchFamily="2" charset="-122"/>
              </a:rPr>
              <a:t>&lt;Z,≤&gt;</a:t>
            </a:r>
          </a:p>
          <a:p>
            <a:pPr marL="0" indent="0">
              <a:lnSpc>
                <a:spcPct val="120000"/>
              </a:lnSpc>
              <a:buNone/>
            </a:pP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幂集</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和包含关系构成偏序集</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&gt;. </a:t>
            </a:r>
          </a:p>
          <a:p>
            <a:pPr marL="0" indent="0">
              <a:lnSpc>
                <a:spcPct val="120000"/>
              </a:lnSpc>
              <a:spcBef>
                <a:spcPct val="50000"/>
              </a:spcBef>
              <a:buNone/>
            </a:pPr>
            <a:r>
              <a:rPr lang="zh-CN" altLang="en-US" sz="1200" b="1" dirty="0">
                <a:solidFill>
                  <a:srgbClr val="FF0000"/>
                </a:solidFill>
                <a:latin typeface="Times New Roman" panose="02020603050405020304" pitchFamily="18" charset="0"/>
                <a:ea typeface="宋体" panose="02010600030101010101" pitchFamily="2" charset="-122"/>
              </a:rPr>
              <a:t>哈斯图</a:t>
            </a:r>
            <a:r>
              <a:rPr lang="zh-CN" altLang="en-US" sz="1200" b="1" dirty="0">
                <a:solidFill>
                  <a:schemeClr val="tx1"/>
                </a:solidFill>
                <a:latin typeface="Times New Roman" panose="02020603050405020304" pitchFamily="18" charset="0"/>
                <a:ea typeface="宋体" panose="02010600030101010101" pitchFamily="2" charset="-122"/>
              </a:rPr>
              <a:t>：利用偏序自反、反对称、传递性简化的关系图</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特点：</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每个结点没有环</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两个连通的结点之间的序关系通过结点位置的高低</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表示，位置低的元素的顺序在前</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具有覆盖关系的两个结点之间连边</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96</a:t>
            </a:fld>
            <a:endParaRPr lang="zh-CN" altLang="en-US"/>
          </a:p>
        </p:txBody>
      </p:sp>
    </p:spTree>
    <p:extLst>
      <p:ext uri="{BB962C8B-B14F-4D97-AF65-F5344CB8AC3E}">
        <p14:creationId xmlns:p14="http://schemas.microsoft.com/office/powerpoint/2010/main" val="425823074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哈斯图（</a:t>
            </a:r>
            <a:r>
              <a:rPr lang="en-US" altLang="zh-CN" sz="1800" dirty="0" err="1">
                <a:effectLst/>
                <a:ea typeface="等线" panose="02010600030101010101" pitchFamily="2" charset="-122"/>
                <a:cs typeface="Times New Roman" panose="02020603050405020304" pitchFamily="18" charset="0"/>
              </a:rPr>
              <a:t>Hasse</a:t>
            </a:r>
            <a:r>
              <a:rPr lang="en-US" altLang="zh-CN" sz="1800" dirty="0">
                <a:effectLst/>
                <a:ea typeface="等线" panose="02010600030101010101" pitchFamily="2" charset="-122"/>
                <a:cs typeface="Times New Roman" panose="02020603050405020304" pitchFamily="18" charset="0"/>
              </a:rPr>
              <a:t> diagram</a:t>
            </a:r>
            <a:r>
              <a:rPr lang="zh-CN" altLang="zh-CN" sz="1800" dirty="0">
                <a:effectLst/>
                <a:ea typeface="等线" panose="02010600030101010101" pitchFamily="2" charset="-122"/>
                <a:cs typeface="Times New Roman" panose="02020603050405020304" pitchFamily="18" charset="0"/>
              </a:rPr>
              <a:t>）的主要目的是为了提供一种清晰且</a:t>
            </a:r>
            <a:r>
              <a:rPr lang="zh-CN" altLang="zh-CN" sz="1800" dirty="0">
                <a:effectLst/>
                <a:highlight>
                  <a:srgbClr val="FFFF00"/>
                </a:highlight>
                <a:ea typeface="等线" panose="02010600030101010101" pitchFamily="2" charset="-122"/>
                <a:cs typeface="Times New Roman" panose="02020603050405020304" pitchFamily="18" charset="0"/>
              </a:rPr>
              <a:t>简洁的方式来可视化偏序集的结构</a:t>
            </a:r>
            <a:r>
              <a:rPr lang="zh-CN" altLang="zh-CN" sz="1800" dirty="0">
                <a:effectLst/>
                <a:ea typeface="等线" panose="02010600030101010101" pitchFamily="2" charset="-122"/>
                <a:cs typeface="Times New Roman" panose="02020603050405020304" pitchFamily="18" charset="0"/>
              </a:rPr>
              <a:t>，特别是展示集合中元素之间的偏序关系。</a:t>
            </a:r>
            <a:endParaRPr lang="en-US" altLang="zh-CN" sz="1800" dirty="0">
              <a:effectLst/>
              <a:ea typeface="等线" panose="02010600030101010101" pitchFamily="2" charset="-122"/>
              <a:cs typeface="Times New Roman" panose="02020603050405020304" pitchFamily="18" charset="0"/>
            </a:endParaRPr>
          </a:p>
          <a:p>
            <a:r>
              <a:rPr lang="zh-CN" altLang="en-US" b="1" i="0" dirty="0">
                <a:solidFill>
                  <a:srgbClr val="202122"/>
                </a:solidFill>
                <a:effectLst/>
                <a:latin typeface="Arial" panose="020B0604020202020204" pitchFamily="34" charset="0"/>
              </a:rPr>
              <a:t>幂集</a:t>
            </a:r>
            <a:r>
              <a:rPr lang="zh-CN" altLang="en-US" b="0" i="0" dirty="0">
                <a:solidFill>
                  <a:srgbClr val="202122"/>
                </a:solidFill>
                <a:effectLst/>
                <a:latin typeface="Arial" panose="020B0604020202020204" pitchFamily="34" charset="0"/>
              </a:rPr>
              <a:t>（英语：</a:t>
            </a:r>
            <a:r>
              <a:rPr lang="en-US" altLang="zh-CN" b="0" i="0" dirty="0">
                <a:solidFill>
                  <a:srgbClr val="202122"/>
                </a:solidFill>
                <a:effectLst/>
                <a:latin typeface="Arial" panose="020B0604020202020204" pitchFamily="34" charset="0"/>
              </a:rPr>
              <a:t>power set</a:t>
            </a:r>
            <a:r>
              <a:rPr lang="zh-CN" altLang="en-US" b="0" i="0" dirty="0">
                <a:solidFill>
                  <a:srgbClr val="202122"/>
                </a:solidFill>
                <a:effectLst/>
                <a:latin typeface="Arial" panose="020B0604020202020204" pitchFamily="34" charset="0"/>
              </a:rPr>
              <a:t>），定义为由该集合全部</a:t>
            </a:r>
            <a:r>
              <a:rPr lang="zh-CN" altLang="en-US" b="0" i="0" u="none" strike="noStrike" dirty="0">
                <a:solidFill>
                  <a:srgbClr val="3366CC"/>
                </a:solidFill>
                <a:effectLst/>
                <a:latin typeface="Arial" panose="020B0604020202020204" pitchFamily="34" charset="0"/>
                <a:hlinkClick r:id="rId3" tooltip="子集"/>
              </a:rPr>
              <a:t>子集</a:t>
            </a:r>
            <a:r>
              <a:rPr lang="zh-CN" altLang="en-US" b="0" i="0" dirty="0">
                <a:solidFill>
                  <a:srgbClr val="202122"/>
                </a:solidFill>
                <a:effectLst/>
                <a:latin typeface="Arial" panose="020B0604020202020204" pitchFamily="34" charset="0"/>
              </a:rPr>
              <a:t>为元素构成的集合。</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r>
              <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1.</a:t>
            </a:r>
            <a:r>
              <a:rPr lang="zh-CN" altLang="en-US"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自反</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r>
              <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2.</a:t>
            </a:r>
            <a:r>
              <a:rPr lang="zh-CN" altLang="en-US"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rPr>
              <a:t>移走所有传递性的边</a:t>
            </a:r>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endParaRPr lang="en-US" altLang="zh-CN" sz="1800" b="0" i="0" dirty="0">
              <a:solidFill>
                <a:srgbClr val="202122"/>
              </a:solidFill>
              <a:effectLst/>
              <a:latin typeface="Arial" panose="020B0604020202020204" pitchFamily="34" charset="0"/>
              <a:ea typeface="等线" panose="02010600030101010101" pitchFamily="2" charset="-122"/>
              <a:cs typeface="Times New Roman" panose="02020603050405020304" pitchFamily="18" charset="0"/>
            </a:endParaRPr>
          </a:p>
          <a:p>
            <a:pPr marL="0" indent="0">
              <a:lnSpc>
                <a:spcPct val="120000"/>
              </a:lnSpc>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4.27   </a:t>
            </a:r>
            <a:r>
              <a:rPr lang="zh-CN" altLang="en-US" sz="1200" b="1" dirty="0">
                <a:solidFill>
                  <a:schemeClr val="tx1"/>
                </a:solidFill>
                <a:latin typeface="Times New Roman" panose="02020603050405020304" pitchFamily="18" charset="0"/>
                <a:ea typeface="宋体" panose="02010600030101010101" pitchFamily="2" charset="-122"/>
              </a:rPr>
              <a:t>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和</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上的偏序关系≼一起叫做</a:t>
            </a:r>
            <a:r>
              <a:rPr lang="zh-CN" altLang="en-US" sz="1200" b="1" dirty="0">
                <a:solidFill>
                  <a:srgbClr val="FF0000"/>
                </a:solidFill>
                <a:latin typeface="Times New Roman" panose="02020603050405020304" pitchFamily="18" charset="0"/>
                <a:ea typeface="宋体" panose="02010600030101010101" pitchFamily="2" charset="-122"/>
              </a:rPr>
              <a:t>偏序集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记作</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br>
              <a:rPr lang="en-US" altLang="zh-CN" sz="1200" b="1" dirty="0">
                <a:solidFill>
                  <a:schemeClr val="tx1"/>
                </a:solidFill>
                <a:latin typeface="Times New Roman" panose="02020603050405020304" pitchFamily="18" charset="0"/>
                <a:ea typeface="宋体" panose="02010600030101010101" pitchFamily="2" charset="-122"/>
              </a:rPr>
            </a:br>
            <a:r>
              <a:rPr lang="zh-CN" altLang="en-US" sz="1200" b="1" dirty="0">
                <a:solidFill>
                  <a:srgbClr val="00B0F0"/>
                </a:solidFill>
                <a:latin typeface="Times New Roman" panose="02020603050405020304" pitchFamily="18" charset="0"/>
                <a:ea typeface="宋体" panose="02010600030101010101" pitchFamily="2" charset="-122"/>
              </a:rPr>
              <a:t>实例：</a:t>
            </a:r>
            <a:r>
              <a:rPr lang="zh-CN" altLang="en-US" sz="1200" b="1" dirty="0">
                <a:solidFill>
                  <a:schemeClr val="tx1"/>
                </a:solidFill>
                <a:latin typeface="Times New Roman" panose="02020603050405020304" pitchFamily="18" charset="0"/>
                <a:ea typeface="宋体" panose="02010600030101010101" pitchFamily="2" charset="-122"/>
              </a:rPr>
              <a:t>整数集和数的小于等于关系构成偏序集</a:t>
            </a:r>
            <a:r>
              <a:rPr lang="en-US" altLang="zh-CN" sz="1200" b="1" dirty="0">
                <a:solidFill>
                  <a:schemeClr val="tx1"/>
                </a:solidFill>
                <a:latin typeface="Times New Roman" panose="02020603050405020304" pitchFamily="18" charset="0"/>
                <a:ea typeface="宋体" panose="02010600030101010101" pitchFamily="2" charset="-122"/>
              </a:rPr>
              <a:t>&lt;Z,≤&gt;</a:t>
            </a:r>
          </a:p>
          <a:p>
            <a:pPr marL="0" indent="0">
              <a:lnSpc>
                <a:spcPct val="120000"/>
              </a:lnSpc>
              <a:buNone/>
            </a:pP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幂集</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和包含关系构成偏序集</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&gt;. </a:t>
            </a:r>
          </a:p>
          <a:p>
            <a:pPr marL="0" indent="0">
              <a:lnSpc>
                <a:spcPct val="120000"/>
              </a:lnSpc>
              <a:spcBef>
                <a:spcPct val="50000"/>
              </a:spcBef>
              <a:buNone/>
            </a:pPr>
            <a:r>
              <a:rPr lang="zh-CN" altLang="en-US" sz="1200" b="1" dirty="0">
                <a:solidFill>
                  <a:srgbClr val="FF0000"/>
                </a:solidFill>
                <a:latin typeface="Times New Roman" panose="02020603050405020304" pitchFamily="18" charset="0"/>
                <a:ea typeface="宋体" panose="02010600030101010101" pitchFamily="2" charset="-122"/>
              </a:rPr>
              <a:t>哈斯图</a:t>
            </a:r>
            <a:r>
              <a:rPr lang="zh-CN" altLang="en-US" sz="1200" b="1" dirty="0">
                <a:solidFill>
                  <a:schemeClr val="tx1"/>
                </a:solidFill>
                <a:latin typeface="Times New Roman" panose="02020603050405020304" pitchFamily="18" charset="0"/>
                <a:ea typeface="宋体" panose="02010600030101010101" pitchFamily="2" charset="-122"/>
              </a:rPr>
              <a:t>：利用偏序自反、反对称、传递性简化的关系图</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特点：</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每个结点没有环</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两个连通的结点之间的序关系通过结点位置的高低</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表示，位置低的元素的顺序在前</a:t>
            </a:r>
          </a:p>
          <a:p>
            <a:pPr marL="0" indent="0">
              <a:lnSpc>
                <a:spcPct val="120000"/>
              </a:lnSpc>
              <a:buNone/>
            </a:pPr>
            <a:r>
              <a:rPr lang="zh-CN" altLang="en-US" sz="1200" b="1" dirty="0">
                <a:solidFill>
                  <a:schemeClr val="tx1"/>
                </a:solidFill>
                <a:latin typeface="Times New Roman" panose="02020603050405020304" pitchFamily="18" charset="0"/>
                <a:ea typeface="宋体" panose="02010600030101010101" pitchFamily="2" charset="-122"/>
              </a:rPr>
              <a:t>         具有覆盖关系的两个结点之间连边</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97</a:t>
            </a:fld>
            <a:endParaRPr lang="zh-CN" altLang="en-US"/>
          </a:p>
        </p:txBody>
      </p:sp>
    </p:spTree>
    <p:extLst>
      <p:ext uri="{BB962C8B-B14F-4D97-AF65-F5344CB8AC3E}">
        <p14:creationId xmlns:p14="http://schemas.microsoft.com/office/powerpoint/2010/main" val="288624264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98</a:t>
            </a:fld>
            <a:endParaRPr lang="zh-CN" altLang="en-US"/>
          </a:p>
        </p:txBody>
      </p:sp>
    </p:spTree>
    <p:extLst>
      <p:ext uri="{BB962C8B-B14F-4D97-AF65-F5344CB8AC3E}">
        <p14:creationId xmlns:p14="http://schemas.microsoft.com/office/powerpoint/2010/main" val="195687725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b="1" dirty="0">
                <a:solidFill>
                  <a:srgbClr val="00B0F0"/>
                </a:solidFill>
                <a:ea typeface="宋体" panose="02010600030101010101" pitchFamily="2" charset="-122"/>
              </a:rPr>
              <a:t> </a:t>
            </a: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7 </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已知偏序集</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R</a:t>
            </a:r>
            <a:r>
              <a:rPr lang="en-US" altLang="zh-CN" sz="1200" b="1" dirty="0">
                <a:solidFill>
                  <a:schemeClr val="tx1"/>
                </a:solidFill>
                <a:latin typeface="Times New Roman" panose="02020603050405020304" pitchFamily="18" charset="0"/>
                <a:ea typeface="宋体" panose="02010600030101010101" pitchFamily="2" charset="-122"/>
              </a:rPr>
              <a:t>&gt;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的哈斯图如下图所示</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试求出集合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和关系</a:t>
            </a:r>
          </a:p>
          <a:p>
            <a:pPr>
              <a:lnSpc>
                <a:spcPct val="120000"/>
              </a:lnSpc>
            </a:pP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的表达式</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99</a:t>
            </a:fld>
            <a:endParaRPr lang="zh-CN" altLang="en-US"/>
          </a:p>
        </p:txBody>
      </p:sp>
    </p:spTree>
    <p:extLst>
      <p:ext uri="{BB962C8B-B14F-4D97-AF65-F5344CB8AC3E}">
        <p14:creationId xmlns:p14="http://schemas.microsoft.com/office/powerpoint/2010/main" val="81899138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4.28</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为偏序集</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(1) </a:t>
            </a:r>
            <a:r>
              <a:rPr lang="zh-CN" altLang="en-US" sz="1200" b="1" dirty="0">
                <a:solidFill>
                  <a:schemeClr val="tx1"/>
                </a:solidFill>
                <a:latin typeface="Times New Roman" panose="02020603050405020304" pitchFamily="18" charset="0"/>
                <a:ea typeface="宋体" panose="02010600030101010101" pitchFamily="2" charset="-122"/>
              </a:rPr>
              <a:t>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最小元</a:t>
            </a:r>
            <a:r>
              <a:rPr lang="en-US" altLang="zh-CN" sz="1200" b="1" dirty="0">
                <a:solidFill>
                  <a:schemeClr val="tx1"/>
                </a:solidFill>
                <a:latin typeface="Times New Roman" panose="02020603050405020304" pitchFamily="18" charset="0"/>
                <a:ea typeface="宋体" panose="02010600030101010101" pitchFamily="2" charset="-122"/>
              </a:rPr>
              <a:t>.</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(2) </a:t>
            </a:r>
            <a:r>
              <a:rPr lang="zh-CN" altLang="en-US" sz="1200" b="1" dirty="0">
                <a:solidFill>
                  <a:schemeClr val="tx1"/>
                </a:solidFill>
                <a:latin typeface="Times New Roman" panose="02020603050405020304" pitchFamily="18" charset="0"/>
                <a:ea typeface="宋体" panose="02010600030101010101" pitchFamily="2" charset="-122"/>
              </a:rPr>
              <a:t>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最大元</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(3) </a:t>
            </a:r>
            <a:r>
              <a:rPr lang="zh-CN" altLang="en-US" sz="1200" b="1" dirty="0">
                <a:solidFill>
                  <a:schemeClr val="tx1"/>
                </a:solidFill>
                <a:latin typeface="Times New Roman" panose="02020603050405020304" pitchFamily="18" charset="0"/>
                <a:ea typeface="宋体" panose="02010600030101010101" pitchFamily="2" charset="-122"/>
              </a:rPr>
              <a:t>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极小元</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(4) </a:t>
            </a:r>
            <a:r>
              <a:rPr lang="zh-CN" altLang="en-US" sz="1200" b="1" dirty="0">
                <a:solidFill>
                  <a:schemeClr val="tx1"/>
                </a:solidFill>
                <a:latin typeface="Times New Roman" panose="02020603050405020304" pitchFamily="18" charset="0"/>
                <a:ea typeface="宋体" panose="02010600030101010101" pitchFamily="2" charset="-122"/>
              </a:rPr>
              <a:t>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极大元</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endParaRPr lang="en-US" altLang="zh-CN" sz="1200" b="1" dirty="0">
              <a:solidFill>
                <a:schemeClr val="tx1"/>
              </a:solidFill>
              <a:latin typeface="Times New Roman" panose="02020603050405020304" pitchFamily="18" charset="0"/>
              <a:ea typeface="宋体" panose="02010600030101010101" pitchFamily="2" charset="-122"/>
            </a:endParaRP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性质：</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对于有穷集，极小元和极大元必存在，可能存在多个</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最小元和最大元不一定存在，如果存在一定</a:t>
            </a:r>
            <a:r>
              <a:rPr lang="zh-CN" altLang="en-US" b="1" dirty="0">
                <a:latin typeface="Times New Roman" panose="02020603050405020304" pitchFamily="18" charset="0"/>
                <a:ea typeface="宋体" panose="02010600030101010101" pitchFamily="2" charset="-122"/>
              </a:rPr>
              <a:t>唯</a:t>
            </a:r>
            <a:r>
              <a:rPr lang="zh-CN" altLang="en-US" sz="1200" b="1" dirty="0">
                <a:solidFill>
                  <a:schemeClr val="tx1"/>
                </a:solidFill>
                <a:latin typeface="Times New Roman" panose="02020603050405020304" pitchFamily="18" charset="0"/>
                <a:ea typeface="宋体" panose="02010600030101010101" pitchFamily="2" charset="-122"/>
              </a:rPr>
              <a:t>一</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最小元一定是极小元；最大元一定是极大元</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孤立结点既是极小元，也是极大元</a:t>
            </a:r>
            <a:r>
              <a:rPr lang="en-US" altLang="zh-CN" sz="1200" b="1" dirty="0">
                <a:solidFill>
                  <a:schemeClr val="tx1"/>
                </a:solidFill>
                <a:latin typeface="Times New Roman" panose="02020603050405020304" pitchFamily="18" charset="0"/>
                <a:ea typeface="宋体" panose="02010600030101010101" pitchFamily="2" charset="-122"/>
              </a:rPr>
              <a:t>. </a:t>
            </a:r>
            <a:endParaRPr lang="en-US" altLang="zh-CN" sz="1200" b="1" dirty="0">
              <a:solidFill>
                <a:srgbClr val="000066"/>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100</a:t>
            </a:fld>
            <a:endParaRPr lang="zh-CN" altLang="en-US"/>
          </a:p>
        </p:txBody>
      </p:sp>
    </p:spTree>
    <p:extLst>
      <p:ext uri="{BB962C8B-B14F-4D97-AF65-F5344CB8AC3E}">
        <p14:creationId xmlns:p14="http://schemas.microsoft.com/office/powerpoint/2010/main" val="334404416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大小元</a:t>
            </a:r>
            <a:r>
              <a:rPr lang="en-US" altLang="zh-CN" sz="1200" b="1" dirty="0" err="1">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B</a:t>
            </a:r>
            <a:r>
              <a:rPr lang="zh-CN" altLang="en-US" b="0" i="0" dirty="0">
                <a:solidFill>
                  <a:srgbClr val="0D0D0D"/>
                </a:solidFill>
                <a:effectLst/>
                <a:latin typeface="Söhne"/>
              </a:rPr>
              <a:t>所以，如果一个集合有最小元，那这个最小元就是它的下确界，因为没有比这个最小元还要小的元素能够成为下确界；同理，如果一个集合有最大元，那这个最大元就是它的上确界。但是，有些集合的上确界或下确界可能不存在于集合之内，这种情况下，上确界或下确界不是集合的元素。</a:t>
            </a:r>
          </a:p>
          <a:p>
            <a:r>
              <a:rPr lang="zh-CN" altLang="en-US" dirty="0">
                <a:effectLst/>
              </a:rPr>
              <a:t>举个例子，考虑实数集合</a:t>
            </a:r>
            <a:r>
              <a:rPr lang="en-US" altLang="zh-CN" dirty="0">
                <a:effectLst/>
              </a:rPr>
              <a:t>[0,1)</a:t>
            </a:r>
            <a:r>
              <a:rPr lang="zh-CN" altLang="en-US" dirty="0">
                <a:effectLst/>
              </a:rPr>
              <a:t>（包括</a:t>
            </a:r>
            <a:r>
              <a:rPr lang="en-US" altLang="zh-CN" dirty="0">
                <a:effectLst/>
              </a:rPr>
              <a:t>0</a:t>
            </a:r>
            <a:r>
              <a:rPr lang="zh-CN" altLang="en-US" dirty="0">
                <a:effectLst/>
              </a:rPr>
              <a:t>但不包括</a:t>
            </a:r>
            <a:r>
              <a:rPr lang="en-US" altLang="zh-CN" dirty="0">
                <a:effectLst/>
              </a:rPr>
              <a:t>1</a:t>
            </a:r>
            <a:r>
              <a:rPr lang="zh-CN" altLang="en-US" dirty="0">
                <a:effectLst/>
              </a:rPr>
              <a:t>的所有实数），它的下确界是</a:t>
            </a:r>
            <a:r>
              <a:rPr lang="en-US" altLang="zh-CN" dirty="0">
                <a:effectLst/>
              </a:rPr>
              <a:t>0</a:t>
            </a:r>
            <a:r>
              <a:rPr lang="zh-CN" altLang="en-US" dirty="0">
                <a:effectLst/>
              </a:rPr>
              <a:t>，因为</a:t>
            </a:r>
            <a:r>
              <a:rPr lang="en-US" altLang="zh-CN" dirty="0">
                <a:effectLst/>
              </a:rPr>
              <a:t>0</a:t>
            </a:r>
            <a:r>
              <a:rPr lang="zh-CN" altLang="en-US" dirty="0">
                <a:effectLst/>
              </a:rPr>
              <a:t>是集合中的最小元素。但它的上确界是</a:t>
            </a:r>
            <a:r>
              <a:rPr lang="en-US" altLang="zh-CN" dirty="0">
                <a:effectLst/>
              </a:rPr>
              <a:t>1</a:t>
            </a:r>
            <a:r>
              <a:rPr lang="zh-CN" altLang="en-US" dirty="0">
                <a:effectLst/>
              </a:rPr>
              <a:t>，尽管</a:t>
            </a:r>
            <a:r>
              <a:rPr lang="en-US" altLang="zh-CN" dirty="0">
                <a:effectLst/>
              </a:rPr>
              <a:t>1</a:t>
            </a:r>
            <a:r>
              <a:rPr lang="zh-CN" altLang="en-US" dirty="0">
                <a:effectLst/>
              </a:rPr>
              <a:t>不属于集合</a:t>
            </a:r>
            <a:r>
              <a:rPr lang="en-US" altLang="zh-CN" dirty="0">
                <a:effectLst/>
              </a:rPr>
              <a:t>[0,1)</a:t>
            </a:r>
            <a:r>
              <a:rPr lang="zh-CN" altLang="en-US" dirty="0">
                <a:effectLst/>
              </a:rPr>
              <a:t>。这个例子说明了，即使集合的上确界或下确界是集合的界限，它们也不一定是集合的元素。</a:t>
            </a:r>
            <a:endParaRPr lang="en-US" altLang="zh-CN" dirty="0">
              <a:effectLst/>
            </a:endParaRPr>
          </a:p>
          <a:p>
            <a:endParaRPr lang="en-US" altLang="zh-CN" dirty="0">
              <a:effectLst/>
            </a:endParaRPr>
          </a:p>
          <a:p>
            <a:pPr marL="0" indent="0">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4.29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≼&gt;</a:t>
            </a:r>
            <a:r>
              <a:rPr lang="zh-CN" altLang="en-US" sz="1200" b="1" dirty="0">
                <a:solidFill>
                  <a:schemeClr val="tx1"/>
                </a:solidFill>
                <a:latin typeface="Times New Roman" panose="02020603050405020304" pitchFamily="18" charset="0"/>
                <a:ea typeface="宋体" panose="02010600030101010101" pitchFamily="2" charset="-122"/>
              </a:rPr>
              <a:t>为偏序集</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 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上界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 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下界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 令</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的上界</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的最小元为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最小上界 </a:t>
            </a:r>
            <a:r>
              <a:rPr lang="zh-CN" altLang="en-US" sz="1200" b="1" dirty="0">
                <a:solidFill>
                  <a:schemeClr val="tx1"/>
                </a:solidFill>
                <a:latin typeface="Times New Roman" panose="02020603050405020304" pitchFamily="18" charset="0"/>
                <a:ea typeface="宋体" panose="02010600030101010101" pitchFamily="2" charset="-122"/>
              </a:rPr>
              <a:t>或</a:t>
            </a:r>
            <a:r>
              <a:rPr lang="zh-CN" altLang="en-US" sz="1200" b="1" dirty="0">
                <a:solidFill>
                  <a:srgbClr val="FF0000"/>
                </a:solidFill>
                <a:latin typeface="Times New Roman" panose="02020603050405020304" pitchFamily="18" charset="0"/>
                <a:ea typeface="宋体" panose="02010600030101010101" pitchFamily="2" charset="-122"/>
              </a:rPr>
              <a:t>上确界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4</a:t>
            </a:r>
            <a:r>
              <a:rPr lang="zh-CN" altLang="en-US" sz="1200" b="1" dirty="0">
                <a:solidFill>
                  <a:schemeClr val="tx1"/>
                </a:solidFill>
                <a:latin typeface="Times New Roman" panose="02020603050405020304" pitchFamily="18" charset="0"/>
                <a:ea typeface="宋体" panose="02010600030101010101" pitchFamily="2" charset="-122"/>
              </a:rPr>
              <a:t>） 令</a:t>
            </a:r>
            <a:r>
              <a:rPr lang="en-US" altLang="zh-CN" sz="1200" b="1" i="1" dirty="0">
                <a:solidFill>
                  <a:schemeClr val="tx1"/>
                </a:solidFill>
                <a:latin typeface="Times New Roman" panose="02020603050405020304" pitchFamily="18" charset="0"/>
                <a:ea typeface="宋体" panose="02010600030101010101" pitchFamily="2" charset="-122"/>
              </a:rPr>
              <a:t>D</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的下界</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D</a:t>
            </a:r>
            <a:r>
              <a:rPr lang="zh-CN" altLang="en-US" sz="1200" b="1" dirty="0">
                <a:solidFill>
                  <a:schemeClr val="tx1"/>
                </a:solidFill>
                <a:latin typeface="Times New Roman" panose="02020603050405020304" pitchFamily="18" charset="0"/>
                <a:ea typeface="宋体" panose="02010600030101010101" pitchFamily="2" charset="-122"/>
              </a:rPr>
              <a:t>的最大元为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最大下界 </a:t>
            </a:r>
            <a:r>
              <a:rPr lang="zh-CN" altLang="en-US" sz="1200" b="1" dirty="0">
                <a:solidFill>
                  <a:schemeClr val="tx1"/>
                </a:solidFill>
                <a:latin typeface="Times New Roman" panose="02020603050405020304" pitchFamily="18" charset="0"/>
                <a:ea typeface="宋体" panose="02010600030101010101" pitchFamily="2" charset="-122"/>
              </a:rPr>
              <a:t>或</a:t>
            </a:r>
            <a:r>
              <a:rPr lang="zh-CN" altLang="en-US" sz="1200" b="1" dirty="0">
                <a:solidFill>
                  <a:srgbClr val="FF0000"/>
                </a:solidFill>
                <a:latin typeface="Times New Roman" panose="02020603050405020304" pitchFamily="18" charset="0"/>
                <a:ea typeface="宋体" panose="02010600030101010101" pitchFamily="2" charset="-122"/>
              </a:rPr>
              <a:t>下确界</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性质：</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下界、上界、下确界、上确界不一定存在</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下界、上界存在不一定惟一</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下确界、上确界如果存在，则惟一</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集合的最小元就是它的下确界，最大元就是它的上确界；反之不对</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effectLst/>
            </a:endParaRPr>
          </a:p>
          <a:p>
            <a:br>
              <a:rPr lang="zh-CN" altLang="en-US" dirty="0">
                <a:effectLst/>
              </a:rPr>
            </a:br>
            <a:br>
              <a:rPr lang="zh-CN" altLang="en-US" dirty="0"/>
            </a:b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101</a:t>
            </a:fld>
            <a:endParaRPr lang="zh-CN" altLang="en-US"/>
          </a:p>
        </p:txBody>
      </p:sp>
    </p:spTree>
    <p:extLst>
      <p:ext uri="{BB962C8B-B14F-4D97-AF65-F5344CB8AC3E}">
        <p14:creationId xmlns:p14="http://schemas.microsoft.com/office/powerpoint/2010/main" val="3809520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大小元</a:t>
            </a:r>
            <a:r>
              <a:rPr lang="en-US" altLang="zh-CN" sz="1200" b="1" dirty="0" err="1">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B</a:t>
            </a:r>
            <a:r>
              <a:rPr lang="zh-CN" altLang="en-US" b="0" i="0" dirty="0">
                <a:solidFill>
                  <a:srgbClr val="0D0D0D"/>
                </a:solidFill>
                <a:effectLst/>
                <a:latin typeface="Söhne"/>
              </a:rPr>
              <a:t>所以，如果一个集合有最小元，那这个最小元就是它的下确界，因为没有比这个最小元还要小的元素能够成为下确界；同理，如果一个集合有最大元，那这个最大元就是它的上确界。但是，有些集合的上确界或下确界可能不存在于集合之内，这种情况下，上确界或下确界不是集合的元素。</a:t>
            </a:r>
          </a:p>
          <a:p>
            <a:r>
              <a:rPr lang="zh-CN" altLang="en-US" dirty="0">
                <a:effectLst/>
              </a:rPr>
              <a:t>举个例子，考虑实数集合</a:t>
            </a:r>
            <a:r>
              <a:rPr lang="en-US" altLang="zh-CN" dirty="0">
                <a:effectLst/>
              </a:rPr>
              <a:t>[0,1)</a:t>
            </a:r>
            <a:r>
              <a:rPr lang="zh-CN" altLang="en-US" dirty="0">
                <a:effectLst/>
              </a:rPr>
              <a:t>（包括</a:t>
            </a:r>
            <a:r>
              <a:rPr lang="en-US" altLang="zh-CN" dirty="0">
                <a:effectLst/>
              </a:rPr>
              <a:t>0</a:t>
            </a:r>
            <a:r>
              <a:rPr lang="zh-CN" altLang="en-US" dirty="0">
                <a:effectLst/>
              </a:rPr>
              <a:t>但不包括</a:t>
            </a:r>
            <a:r>
              <a:rPr lang="en-US" altLang="zh-CN" dirty="0">
                <a:effectLst/>
              </a:rPr>
              <a:t>1</a:t>
            </a:r>
            <a:r>
              <a:rPr lang="zh-CN" altLang="en-US" dirty="0">
                <a:effectLst/>
              </a:rPr>
              <a:t>的所有实数），它的下确界是</a:t>
            </a:r>
            <a:r>
              <a:rPr lang="en-US" altLang="zh-CN" dirty="0">
                <a:effectLst/>
              </a:rPr>
              <a:t>0</a:t>
            </a:r>
            <a:r>
              <a:rPr lang="zh-CN" altLang="en-US" dirty="0">
                <a:effectLst/>
              </a:rPr>
              <a:t>，因为</a:t>
            </a:r>
            <a:r>
              <a:rPr lang="en-US" altLang="zh-CN" dirty="0">
                <a:effectLst/>
              </a:rPr>
              <a:t>0</a:t>
            </a:r>
            <a:r>
              <a:rPr lang="zh-CN" altLang="en-US" dirty="0">
                <a:effectLst/>
              </a:rPr>
              <a:t>是集合中的最小元素。但它的上确界是</a:t>
            </a:r>
            <a:r>
              <a:rPr lang="en-US" altLang="zh-CN" dirty="0">
                <a:effectLst/>
              </a:rPr>
              <a:t>1</a:t>
            </a:r>
            <a:r>
              <a:rPr lang="zh-CN" altLang="en-US" dirty="0">
                <a:effectLst/>
              </a:rPr>
              <a:t>，尽管</a:t>
            </a:r>
            <a:r>
              <a:rPr lang="en-US" altLang="zh-CN" dirty="0">
                <a:effectLst/>
              </a:rPr>
              <a:t>1</a:t>
            </a:r>
            <a:r>
              <a:rPr lang="zh-CN" altLang="en-US" dirty="0">
                <a:effectLst/>
              </a:rPr>
              <a:t>不属于集合</a:t>
            </a:r>
            <a:r>
              <a:rPr lang="en-US" altLang="zh-CN" dirty="0">
                <a:effectLst/>
              </a:rPr>
              <a:t>[0,1)</a:t>
            </a:r>
            <a:r>
              <a:rPr lang="zh-CN" altLang="en-US" dirty="0">
                <a:effectLst/>
              </a:rPr>
              <a:t>。这个例子说明了，即使集合的上确界或下确界是集合的界限，它们也不一定是集合的元素。</a:t>
            </a:r>
            <a:endParaRPr lang="en-US" altLang="zh-CN" dirty="0">
              <a:effectLst/>
            </a:endParaRPr>
          </a:p>
          <a:p>
            <a:endParaRPr lang="en-US" altLang="zh-CN" dirty="0">
              <a:effectLst/>
            </a:endParaRPr>
          </a:p>
          <a:p>
            <a:pPr marL="0" indent="0">
              <a:buNone/>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4.29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≼&gt;</a:t>
            </a:r>
            <a:r>
              <a:rPr lang="zh-CN" altLang="en-US" sz="1200" b="1" dirty="0">
                <a:solidFill>
                  <a:schemeClr val="tx1"/>
                </a:solidFill>
                <a:latin typeface="Times New Roman" panose="02020603050405020304" pitchFamily="18" charset="0"/>
                <a:ea typeface="宋体" panose="02010600030101010101" pitchFamily="2" charset="-122"/>
              </a:rPr>
              <a:t>为偏序集</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 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上界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 若</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B</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成立</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下界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3</a:t>
            </a:r>
            <a:r>
              <a:rPr lang="zh-CN" altLang="en-US" sz="1200" b="1" dirty="0">
                <a:solidFill>
                  <a:schemeClr val="tx1"/>
                </a:solidFill>
                <a:latin typeface="Times New Roman" panose="02020603050405020304" pitchFamily="18" charset="0"/>
                <a:ea typeface="宋体" panose="02010600030101010101" pitchFamily="2" charset="-122"/>
              </a:rPr>
              <a:t>） 令</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的上界</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的最小元为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最小上界 </a:t>
            </a:r>
            <a:r>
              <a:rPr lang="zh-CN" altLang="en-US" sz="1200" b="1" dirty="0">
                <a:solidFill>
                  <a:schemeClr val="tx1"/>
                </a:solidFill>
                <a:latin typeface="Times New Roman" panose="02020603050405020304" pitchFamily="18" charset="0"/>
                <a:ea typeface="宋体" panose="02010600030101010101" pitchFamily="2" charset="-122"/>
              </a:rPr>
              <a:t>或</a:t>
            </a:r>
            <a:r>
              <a:rPr lang="zh-CN" altLang="en-US" sz="1200" b="1" dirty="0">
                <a:solidFill>
                  <a:srgbClr val="FF0000"/>
                </a:solidFill>
                <a:latin typeface="Times New Roman" panose="02020603050405020304" pitchFamily="18" charset="0"/>
                <a:ea typeface="宋体" panose="02010600030101010101" pitchFamily="2" charset="-122"/>
              </a:rPr>
              <a:t>上确界</a:t>
            </a:r>
            <a:r>
              <a:rPr lang="en-US" altLang="zh-CN" sz="1200" b="1" dirty="0">
                <a:solidFill>
                  <a:schemeClr val="tx1"/>
                </a:solidFill>
                <a:latin typeface="Times New Roman" panose="02020603050405020304" pitchFamily="18" charset="0"/>
                <a:ea typeface="宋体" panose="02010600030101010101" pitchFamily="2" charset="-122"/>
              </a:rPr>
              <a:t>. </a:t>
            </a:r>
            <a:br>
              <a:rPr lang="en-US" altLang="zh-CN" sz="1200" b="1" dirty="0">
                <a:solidFill>
                  <a:schemeClr val="tx1"/>
                </a:solidFill>
                <a:latin typeface="Times New Roman" panose="02020603050405020304" pitchFamily="18" charset="0"/>
                <a:ea typeface="宋体" panose="02010600030101010101" pitchFamily="2" charset="-122"/>
              </a:rPr>
            </a:b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4</a:t>
            </a:r>
            <a:r>
              <a:rPr lang="zh-CN" altLang="en-US" sz="1200" b="1" dirty="0">
                <a:solidFill>
                  <a:schemeClr val="tx1"/>
                </a:solidFill>
                <a:latin typeface="Times New Roman" panose="02020603050405020304" pitchFamily="18" charset="0"/>
                <a:ea typeface="宋体" panose="02010600030101010101" pitchFamily="2" charset="-122"/>
              </a:rPr>
              <a:t>） 令</a:t>
            </a:r>
            <a:r>
              <a:rPr lang="en-US" altLang="zh-CN" sz="1200" b="1" i="1" dirty="0">
                <a:solidFill>
                  <a:schemeClr val="tx1"/>
                </a:solidFill>
                <a:latin typeface="Times New Roman" panose="02020603050405020304" pitchFamily="18" charset="0"/>
                <a:ea typeface="宋体" panose="02010600030101010101" pitchFamily="2" charset="-122"/>
              </a:rPr>
              <a:t>D</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的下界</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a:t>
            </a:r>
            <a:r>
              <a:rPr lang="en-US" altLang="zh-CN" sz="1200" b="1" i="1" dirty="0">
                <a:solidFill>
                  <a:schemeClr val="tx1"/>
                </a:solidFill>
                <a:latin typeface="Times New Roman" panose="02020603050405020304" pitchFamily="18" charset="0"/>
                <a:ea typeface="宋体" panose="02010600030101010101" pitchFamily="2" charset="-122"/>
              </a:rPr>
              <a:t>D</a:t>
            </a:r>
            <a:r>
              <a:rPr lang="zh-CN" altLang="en-US" sz="1200" b="1" dirty="0">
                <a:solidFill>
                  <a:schemeClr val="tx1"/>
                </a:solidFill>
                <a:latin typeface="Times New Roman" panose="02020603050405020304" pitchFamily="18" charset="0"/>
                <a:ea typeface="宋体" panose="02010600030101010101" pitchFamily="2" charset="-122"/>
              </a:rPr>
              <a:t>的最大元为</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最大下界 </a:t>
            </a:r>
            <a:r>
              <a:rPr lang="zh-CN" altLang="en-US" sz="1200" b="1" dirty="0">
                <a:solidFill>
                  <a:schemeClr val="tx1"/>
                </a:solidFill>
                <a:latin typeface="Times New Roman" panose="02020603050405020304" pitchFamily="18" charset="0"/>
                <a:ea typeface="宋体" panose="02010600030101010101" pitchFamily="2" charset="-122"/>
              </a:rPr>
              <a:t>或</a:t>
            </a:r>
            <a:r>
              <a:rPr lang="zh-CN" altLang="en-US" sz="1200" b="1" dirty="0">
                <a:solidFill>
                  <a:srgbClr val="FF0000"/>
                </a:solidFill>
                <a:latin typeface="Times New Roman" panose="02020603050405020304" pitchFamily="18" charset="0"/>
                <a:ea typeface="宋体" panose="02010600030101010101" pitchFamily="2" charset="-122"/>
              </a:rPr>
              <a:t>下确界</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性质：</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下界、上界、下确界、上确界不一定存在</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下界、上界存在不一定惟一</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下确界、上确界如果存在，则惟一</a:t>
            </a:r>
          </a:p>
          <a:p>
            <a:pPr marL="0" indent="0">
              <a:buNone/>
            </a:pPr>
            <a:r>
              <a:rPr lang="zh-CN" altLang="en-US" sz="1200" b="1" dirty="0">
                <a:solidFill>
                  <a:schemeClr val="tx1"/>
                </a:solidFill>
                <a:latin typeface="Times New Roman" panose="02020603050405020304" pitchFamily="18" charset="0"/>
                <a:ea typeface="宋体" panose="02010600030101010101" pitchFamily="2" charset="-122"/>
              </a:rPr>
              <a:t>    集合的最小元就是它的下确界，最大元就是它的上确界；反之不对</a:t>
            </a:r>
            <a:r>
              <a:rPr lang="en-US" altLang="zh-CN" sz="1200" b="1" dirty="0">
                <a:solidFill>
                  <a:schemeClr val="tx1"/>
                </a:solidFill>
                <a:latin typeface="Times New Roman" panose="02020603050405020304" pitchFamily="18" charset="0"/>
                <a:ea typeface="宋体" panose="02010600030101010101" pitchFamily="2" charset="-122"/>
              </a:rPr>
              <a:t>.  why</a:t>
            </a:r>
          </a:p>
          <a:p>
            <a:endParaRPr lang="zh-CN" altLang="en-US" dirty="0">
              <a:effectLst/>
            </a:endParaRPr>
          </a:p>
          <a:p>
            <a:br>
              <a:rPr lang="zh-CN" altLang="en-US" dirty="0">
                <a:effectLst/>
              </a:rPr>
            </a:br>
            <a:br>
              <a:rPr lang="zh-CN" altLang="en-US" dirty="0"/>
            </a:b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102</a:t>
            </a:fld>
            <a:endParaRPr lang="zh-CN" altLang="en-US"/>
          </a:p>
        </p:txBody>
      </p:sp>
    </p:spTree>
    <p:extLst>
      <p:ext uri="{BB962C8B-B14F-4D97-AF65-F5344CB8AC3E}">
        <p14:creationId xmlns:p14="http://schemas.microsoft.com/office/powerpoint/2010/main" val="426456435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8  </a:t>
            </a:r>
            <a:r>
              <a:rPr lang="zh-CN" altLang="en-US" sz="1200" b="1" dirty="0">
                <a:solidFill>
                  <a:schemeClr val="tx1"/>
                </a:solidFill>
                <a:latin typeface="Times New Roman" panose="02020603050405020304" pitchFamily="18" charset="0"/>
                <a:ea typeface="宋体" panose="02010600030101010101" pitchFamily="2" charset="-122"/>
              </a:rPr>
              <a:t>设偏序集</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如下图所示，求</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的极小元、最小元、</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极大元、最大元</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求</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的下界、上界、下</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确界、上确界</a:t>
            </a:r>
            <a:r>
              <a:rPr lang="en-US" altLang="zh-CN" sz="1200" b="1" dirty="0">
                <a:solidFill>
                  <a:schemeClr val="tx1"/>
                </a:solidFill>
                <a:latin typeface="Times New Roman" panose="02020603050405020304" pitchFamily="18" charset="0"/>
                <a:ea typeface="宋体" panose="02010600030101010101" pitchFamily="2" charset="-122"/>
              </a:rPr>
              <a:t>. </a:t>
            </a:r>
          </a:p>
          <a:p>
            <a:endParaRPr lang="en-US" altLang="zh-CN" dirty="0"/>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解：</a:t>
            </a:r>
            <a:r>
              <a:rPr lang="zh-CN" altLang="en-US" sz="1200" b="1" dirty="0">
                <a:solidFill>
                  <a:schemeClr val="tx1"/>
                </a:solidFill>
                <a:latin typeface="Times New Roman" panose="02020603050405020304" pitchFamily="18" charset="0"/>
                <a:ea typeface="宋体" panose="02010600030101010101" pitchFamily="2" charset="-122"/>
              </a:rPr>
              <a:t>极小元：</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极大元：</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zh-CN" altLang="en-US" sz="1200" b="1" dirty="0">
                <a:solidFill>
                  <a:schemeClr val="tx1"/>
                </a:solidFill>
                <a:latin typeface="Times New Roman" panose="02020603050405020304" pitchFamily="18" charset="0"/>
                <a:ea typeface="宋体" panose="02010600030101010101" pitchFamily="2" charset="-12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没有最小元与最大元</a:t>
            </a:r>
            <a:r>
              <a:rPr lang="en-US" altLang="zh-CN" sz="1200" b="1" dirty="0">
                <a:solidFill>
                  <a:schemeClr val="tx1"/>
                </a:solidFill>
                <a:latin typeface="Times New Roman" panose="02020603050405020304" pitchFamily="18" charset="0"/>
                <a:ea typeface="宋体" panose="02010600030101010101" pitchFamily="2" charset="-122"/>
              </a:rPr>
              <a:t>.</a:t>
            </a:r>
            <a:endParaRPr lang="en-US" altLang="zh-CN" sz="1200" b="1" i="1" dirty="0">
              <a:solidFill>
                <a:schemeClr val="tx1"/>
              </a:solidFill>
              <a:latin typeface="Times New Roman" panose="02020603050405020304" pitchFamily="18" charset="0"/>
              <a:ea typeface="宋体" panose="02010600030101010101" pitchFamily="2" charset="-122"/>
            </a:endParaRPr>
          </a:p>
          <a:p>
            <a:pPr>
              <a:lnSpc>
                <a:spcPct val="120000"/>
              </a:lnSpc>
            </a:pP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的下界和最大下界不存在</a:t>
            </a:r>
            <a:r>
              <a:rPr lang="en-US" altLang="zh-CN" sz="1200" b="1" dirty="0">
                <a:solidFill>
                  <a:schemeClr val="tx1"/>
                </a:solidFill>
                <a:latin typeface="Times New Roman" panose="02020603050405020304" pitchFamily="18" charset="0"/>
                <a:ea typeface="宋体" panose="02010600030101010101" pitchFamily="2" charset="-122"/>
              </a:rPr>
              <a:t>,</a:t>
            </a:r>
            <a:endParaRPr lang="zh-CN" altLang="en-US" sz="1200" b="1" dirty="0">
              <a:solidFill>
                <a:schemeClr val="tx1"/>
              </a:solidFill>
              <a:latin typeface="Times New Roman" panose="02020603050405020304" pitchFamily="18" charset="0"/>
              <a:ea typeface="宋体" panose="02010600030101010101" pitchFamily="2" charset="-122"/>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上界有</a:t>
            </a:r>
            <a:r>
              <a:rPr lang="en-US" altLang="zh-CN" sz="1200" b="1" i="1" dirty="0">
                <a:solidFill>
                  <a:schemeClr val="tx1"/>
                </a:solidFill>
                <a:latin typeface="Times New Roman" panose="02020603050405020304" pitchFamily="18" charset="0"/>
                <a:ea typeface="宋体" panose="02010600030101010101" pitchFamily="2" charset="-122"/>
              </a:rPr>
              <a:t>d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最小上界为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103</a:t>
            </a:fld>
            <a:endParaRPr lang="zh-CN" altLang="en-US"/>
          </a:p>
        </p:txBody>
      </p:sp>
    </p:spTree>
    <p:extLst>
      <p:ext uri="{BB962C8B-B14F-4D97-AF65-F5344CB8AC3E}">
        <p14:creationId xmlns:p14="http://schemas.microsoft.com/office/powerpoint/2010/main" val="55518904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8  </a:t>
            </a:r>
            <a:r>
              <a:rPr lang="zh-CN" altLang="en-US" sz="1200" b="1" dirty="0">
                <a:solidFill>
                  <a:schemeClr val="tx1"/>
                </a:solidFill>
                <a:latin typeface="Times New Roman" panose="02020603050405020304" pitchFamily="18" charset="0"/>
                <a:ea typeface="宋体" panose="02010600030101010101" pitchFamily="2" charset="-122"/>
              </a:rPr>
              <a:t>设偏序集</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如下图所示，求</a:t>
            </a:r>
            <a:r>
              <a:rPr lang="en-US" altLang="zh-CN" sz="1200" b="1" i="1" dirty="0">
                <a:solidFill>
                  <a:schemeClr val="tx1"/>
                </a:solidFill>
                <a:latin typeface="Times New Roman" panose="02020603050405020304" pitchFamily="18" charset="0"/>
                <a:ea typeface="宋体" panose="02010600030101010101" pitchFamily="2" charset="-122"/>
              </a:rPr>
              <a:t>A </a:t>
            </a:r>
            <a:r>
              <a:rPr lang="zh-CN" altLang="en-US" sz="1200" b="1" dirty="0">
                <a:solidFill>
                  <a:schemeClr val="tx1"/>
                </a:solidFill>
                <a:latin typeface="Times New Roman" panose="02020603050405020304" pitchFamily="18" charset="0"/>
                <a:ea typeface="宋体" panose="02010600030101010101" pitchFamily="2" charset="-122"/>
              </a:rPr>
              <a:t>的极小元、最小元、</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极大元、最大元</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d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求</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的下界、上界、下</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确界、上确界</a:t>
            </a:r>
            <a:r>
              <a:rPr lang="en-US" altLang="zh-CN" sz="1200" b="1" dirty="0">
                <a:solidFill>
                  <a:schemeClr val="tx1"/>
                </a:solidFill>
                <a:latin typeface="Times New Roman" panose="02020603050405020304" pitchFamily="18" charset="0"/>
                <a:ea typeface="宋体" panose="02010600030101010101" pitchFamily="2" charset="-122"/>
              </a:rPr>
              <a:t>. </a:t>
            </a:r>
          </a:p>
          <a:p>
            <a:endParaRPr lang="en-US" altLang="zh-CN" dirty="0"/>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解：</a:t>
            </a:r>
            <a:r>
              <a:rPr lang="zh-CN" altLang="en-US" sz="1200" b="1" dirty="0">
                <a:solidFill>
                  <a:schemeClr val="tx1"/>
                </a:solidFill>
                <a:latin typeface="Times New Roman" panose="02020603050405020304" pitchFamily="18" charset="0"/>
                <a:ea typeface="宋体" panose="02010600030101010101" pitchFamily="2" charset="-122"/>
              </a:rPr>
              <a:t>极小元：</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极大元：</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zh-CN" altLang="en-US" sz="1200" b="1" dirty="0">
                <a:solidFill>
                  <a:schemeClr val="tx1"/>
                </a:solidFill>
                <a:latin typeface="Times New Roman" panose="02020603050405020304" pitchFamily="18" charset="0"/>
                <a:ea typeface="宋体" panose="02010600030101010101" pitchFamily="2" charset="-12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没有最小元与最大元</a:t>
            </a:r>
            <a:r>
              <a:rPr lang="en-US" altLang="zh-CN" sz="1200" b="1" dirty="0">
                <a:solidFill>
                  <a:schemeClr val="tx1"/>
                </a:solidFill>
                <a:latin typeface="Times New Roman" panose="02020603050405020304" pitchFamily="18" charset="0"/>
                <a:ea typeface="宋体" panose="02010600030101010101" pitchFamily="2" charset="-122"/>
              </a:rPr>
              <a:t>.</a:t>
            </a:r>
            <a:endParaRPr lang="en-US" altLang="zh-CN" sz="1200" b="1" i="1" dirty="0">
              <a:solidFill>
                <a:schemeClr val="tx1"/>
              </a:solidFill>
              <a:latin typeface="Times New Roman" panose="02020603050405020304" pitchFamily="18" charset="0"/>
              <a:ea typeface="宋体" panose="02010600030101010101" pitchFamily="2" charset="-122"/>
            </a:endParaRPr>
          </a:p>
          <a:p>
            <a:pPr>
              <a:lnSpc>
                <a:spcPct val="120000"/>
              </a:lnSpc>
            </a:pP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的下界和最大下界不存在</a:t>
            </a:r>
            <a:r>
              <a:rPr lang="en-US" altLang="zh-CN" sz="1200" b="1" dirty="0">
                <a:solidFill>
                  <a:schemeClr val="tx1"/>
                </a:solidFill>
                <a:latin typeface="Times New Roman" panose="02020603050405020304" pitchFamily="18" charset="0"/>
                <a:ea typeface="宋体" panose="02010600030101010101" pitchFamily="2" charset="-122"/>
              </a:rPr>
              <a:t>,</a:t>
            </a:r>
            <a:endParaRPr lang="zh-CN" altLang="en-US" sz="1200" b="1" dirty="0">
              <a:solidFill>
                <a:schemeClr val="tx1"/>
              </a:solidFill>
              <a:latin typeface="Times New Roman" panose="02020603050405020304" pitchFamily="18" charset="0"/>
              <a:ea typeface="宋体" panose="02010600030101010101" pitchFamily="2" charset="-122"/>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上界有</a:t>
            </a:r>
            <a:r>
              <a:rPr lang="en-US" altLang="zh-CN" sz="1200" b="1" i="1" dirty="0">
                <a:solidFill>
                  <a:schemeClr val="tx1"/>
                </a:solidFill>
                <a:latin typeface="Times New Roman" panose="02020603050405020304" pitchFamily="18" charset="0"/>
                <a:ea typeface="宋体" panose="02010600030101010101" pitchFamily="2" charset="-122"/>
              </a:rPr>
              <a:t>d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最小上界为 </a:t>
            </a:r>
            <a:r>
              <a:rPr lang="en-US" altLang="zh-CN" sz="1200" b="1" i="1" dirty="0">
                <a:solidFill>
                  <a:schemeClr val="tx1"/>
                </a:solidFill>
                <a:latin typeface="Times New Roman" panose="02020603050405020304" pitchFamily="18" charset="0"/>
                <a:ea typeface="宋体" panose="02010600030101010101" pitchFamily="2" charset="-122"/>
              </a:rPr>
              <a:t>d</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104</a:t>
            </a:fld>
            <a:endParaRPr lang="zh-CN" altLang="en-US"/>
          </a:p>
        </p:txBody>
      </p:sp>
    </p:spTree>
    <p:extLst>
      <p:ext uri="{BB962C8B-B14F-4D97-AF65-F5344CB8AC3E}">
        <p14:creationId xmlns:p14="http://schemas.microsoft.com/office/powerpoint/2010/main" val="274231114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buFontTx/>
              <a:buNone/>
            </a:pPr>
            <a:r>
              <a:rPr lang="zh-CN" altLang="en-US" sz="1200" b="1" dirty="0">
                <a:solidFill>
                  <a:srgbClr val="FF0000"/>
                </a:solidFill>
              </a:rPr>
              <a:t>定义</a:t>
            </a:r>
            <a:r>
              <a:rPr lang="en-US" altLang="zh-CN" sz="1200" b="1" dirty="0">
                <a:solidFill>
                  <a:srgbClr val="FF0000"/>
                </a:solidFill>
              </a:rPr>
              <a:t>4.30</a:t>
            </a:r>
            <a:r>
              <a:rPr lang="en-US" altLang="zh-CN" sz="1200" b="1" dirty="0"/>
              <a:t>  </a:t>
            </a:r>
            <a:r>
              <a:rPr lang="zh-CN" altLang="en-US" sz="1200" b="1" dirty="0"/>
              <a:t>设</a:t>
            </a:r>
            <a:r>
              <a:rPr lang="en-US" altLang="zh-CN" sz="1200" b="1" dirty="0"/>
              <a:t>&lt;</a:t>
            </a:r>
            <a:r>
              <a:rPr lang="en-US" altLang="zh-CN" sz="1200" b="1" i="1" dirty="0"/>
              <a:t>A</a:t>
            </a:r>
            <a:r>
              <a:rPr lang="en-US" altLang="zh-CN" sz="1200" b="1" dirty="0"/>
              <a:t>,≼&gt;</a:t>
            </a:r>
            <a:r>
              <a:rPr lang="zh-CN" altLang="en-US" sz="1200" b="1" dirty="0"/>
              <a:t>为偏序集</a:t>
            </a:r>
            <a:r>
              <a:rPr lang="en-US" altLang="zh-CN" sz="1200" b="1" dirty="0"/>
              <a:t>, </a:t>
            </a:r>
            <a:r>
              <a:rPr lang="en-US" altLang="zh-CN" sz="1200" b="1" i="1" dirty="0"/>
              <a:t>B</a:t>
            </a:r>
            <a:r>
              <a:rPr lang="en-US" altLang="zh-CN" sz="1200" b="1" dirty="0">
                <a:sym typeface="Symbol" panose="05050102010706020507" pitchFamily="18" charset="2"/>
              </a:rPr>
              <a:t></a:t>
            </a:r>
            <a:r>
              <a:rPr lang="en-US" altLang="zh-CN" sz="1200" b="1" i="1" dirty="0"/>
              <a:t>A</a:t>
            </a:r>
            <a:r>
              <a:rPr lang="en-US" altLang="zh-CN" sz="1200" b="1" dirty="0"/>
              <a:t>.</a:t>
            </a:r>
          </a:p>
          <a:p>
            <a:pPr eaLnBrk="1" hangingPunct="1">
              <a:lnSpc>
                <a:spcPct val="120000"/>
              </a:lnSpc>
              <a:buFontTx/>
              <a:buNone/>
            </a:pPr>
            <a:r>
              <a:rPr lang="en-US" altLang="zh-CN" sz="1200" b="1" dirty="0"/>
              <a:t> (1) </a:t>
            </a:r>
            <a:r>
              <a:rPr lang="zh-CN" altLang="en-US" sz="1200" b="1" dirty="0"/>
              <a:t>如果</a:t>
            </a:r>
            <a:r>
              <a:rPr lang="zh-CN" altLang="en-US" sz="1200" b="1" dirty="0">
                <a:sym typeface="Symbol" panose="05050102010706020507" pitchFamily="18" charset="2"/>
              </a:rPr>
              <a:t></a:t>
            </a:r>
            <a:r>
              <a:rPr lang="en-US" altLang="zh-CN" sz="1200" b="1" i="1" dirty="0" err="1"/>
              <a:t>x</a:t>
            </a:r>
            <a:r>
              <a:rPr lang="en-US" altLang="zh-CN" sz="1200" b="1" dirty="0" err="1"/>
              <a:t>,</a:t>
            </a:r>
            <a:r>
              <a:rPr lang="en-US" altLang="zh-CN" sz="1200" b="1" i="1" dirty="0" err="1"/>
              <a:t>y</a:t>
            </a:r>
            <a:r>
              <a:rPr lang="en-US" altLang="zh-CN" sz="1200" b="1" dirty="0" err="1">
                <a:sym typeface="Symbol" panose="05050102010706020507" pitchFamily="18" charset="2"/>
              </a:rPr>
              <a:t></a:t>
            </a:r>
            <a:r>
              <a:rPr lang="en-US" altLang="zh-CN" sz="1200" b="1" i="1" dirty="0" err="1"/>
              <a:t>B</a:t>
            </a:r>
            <a:r>
              <a:rPr lang="zh-CN" altLang="en-US" sz="1200" b="1" dirty="0"/>
              <a:t>，</a:t>
            </a:r>
            <a:r>
              <a:rPr lang="en-US" altLang="zh-CN" sz="1200" b="1" i="1" dirty="0"/>
              <a:t>x</a:t>
            </a:r>
            <a:r>
              <a:rPr lang="zh-CN" altLang="en-US" sz="1200" b="1" dirty="0"/>
              <a:t>与</a:t>
            </a:r>
            <a:r>
              <a:rPr lang="en-US" altLang="zh-CN" sz="1200" b="1" i="1" dirty="0"/>
              <a:t>y</a:t>
            </a:r>
            <a:r>
              <a:rPr lang="zh-CN" altLang="en-US" sz="1200" b="1" dirty="0"/>
              <a:t>都是可比的，则称</a:t>
            </a:r>
            <a:r>
              <a:rPr lang="en-US" altLang="zh-CN" sz="1200" b="1" i="1" dirty="0"/>
              <a:t>B</a:t>
            </a:r>
            <a:r>
              <a:rPr lang="zh-CN" altLang="en-US" sz="1200" b="1" dirty="0"/>
              <a:t>是</a:t>
            </a:r>
            <a:r>
              <a:rPr lang="en-US" altLang="zh-CN" sz="1200" b="1" i="1" dirty="0"/>
              <a:t>A</a:t>
            </a:r>
            <a:r>
              <a:rPr lang="zh-CN" altLang="en-US" sz="1200" b="1" dirty="0"/>
              <a:t>中的一条</a:t>
            </a:r>
          </a:p>
          <a:p>
            <a:pPr eaLnBrk="1" hangingPunct="1">
              <a:lnSpc>
                <a:spcPct val="120000"/>
              </a:lnSpc>
              <a:buFontTx/>
              <a:buNone/>
            </a:pPr>
            <a:r>
              <a:rPr lang="zh-CN" altLang="en-US" sz="1200" b="1" dirty="0">
                <a:solidFill>
                  <a:srgbClr val="FF0000"/>
                </a:solidFill>
              </a:rPr>
              <a:t>链</a:t>
            </a:r>
            <a:r>
              <a:rPr lang="zh-CN" altLang="en-US" sz="1200" b="1" dirty="0"/>
              <a:t>，</a:t>
            </a:r>
            <a:r>
              <a:rPr lang="en-US" altLang="zh-CN" sz="1200" b="1" i="1" dirty="0"/>
              <a:t>B</a:t>
            </a:r>
            <a:r>
              <a:rPr lang="zh-CN" altLang="en-US" sz="1200" b="1" dirty="0"/>
              <a:t>中的元素个数称为</a:t>
            </a:r>
            <a:r>
              <a:rPr lang="zh-CN" altLang="en-US" sz="1200" b="1" dirty="0">
                <a:solidFill>
                  <a:srgbClr val="FF0000"/>
                </a:solidFill>
              </a:rPr>
              <a:t>链的长度</a:t>
            </a:r>
            <a:r>
              <a:rPr lang="zh-CN" altLang="en-US" sz="1200" b="1" dirty="0"/>
              <a:t>；</a:t>
            </a:r>
          </a:p>
          <a:p>
            <a:pPr eaLnBrk="1" hangingPunct="1">
              <a:lnSpc>
                <a:spcPct val="120000"/>
              </a:lnSpc>
              <a:buFontTx/>
              <a:buNone/>
            </a:pPr>
            <a:r>
              <a:rPr lang="en-US" altLang="zh-CN" sz="1200" b="1" dirty="0"/>
              <a:t> (2) </a:t>
            </a:r>
            <a:r>
              <a:rPr lang="zh-CN" altLang="en-US" sz="1200" b="1" dirty="0"/>
              <a:t>如果</a:t>
            </a:r>
            <a:r>
              <a:rPr lang="zh-CN" altLang="en-US" sz="1200" b="1" dirty="0">
                <a:sym typeface="Symbol" panose="05050102010706020507" pitchFamily="18" charset="2"/>
              </a:rPr>
              <a:t></a:t>
            </a:r>
            <a:r>
              <a:rPr lang="en-US" altLang="zh-CN" sz="1200" b="1" i="1" dirty="0" err="1"/>
              <a:t>x</a:t>
            </a:r>
            <a:r>
              <a:rPr lang="en-US" altLang="zh-CN" sz="1200" b="1" dirty="0" err="1"/>
              <a:t>,</a:t>
            </a:r>
            <a:r>
              <a:rPr lang="en-US" altLang="zh-CN" sz="1200" b="1" i="1" dirty="0" err="1"/>
              <a:t>y</a:t>
            </a:r>
            <a:r>
              <a:rPr lang="en-US" altLang="zh-CN" sz="1200" b="1" dirty="0" err="1">
                <a:sym typeface="Symbol" panose="05050102010706020507" pitchFamily="18" charset="2"/>
              </a:rPr>
              <a:t></a:t>
            </a:r>
            <a:r>
              <a:rPr lang="en-US" altLang="zh-CN" sz="1200" b="1" i="1" dirty="0" err="1"/>
              <a:t>B</a:t>
            </a:r>
            <a:r>
              <a:rPr lang="zh-CN" altLang="en-US" sz="1200" b="1" dirty="0"/>
              <a:t>，</a:t>
            </a:r>
            <a:r>
              <a:rPr lang="en-US" altLang="zh-CN" sz="1200" b="1" i="1" dirty="0" err="1"/>
              <a:t>x</a:t>
            </a:r>
            <a:r>
              <a:rPr lang="en-US" altLang="zh-CN" sz="1200" b="1" dirty="0" err="1">
                <a:sym typeface="Symbol" panose="05050102010706020507" pitchFamily="18" charset="2"/>
              </a:rPr>
              <a:t></a:t>
            </a:r>
            <a:r>
              <a:rPr lang="en-US" altLang="zh-CN" sz="1200" b="1" i="1" dirty="0" err="1"/>
              <a:t>y</a:t>
            </a:r>
            <a:r>
              <a:rPr lang="zh-CN" altLang="en-US" sz="1200" b="1" dirty="0"/>
              <a:t>，</a:t>
            </a:r>
            <a:r>
              <a:rPr lang="en-US" altLang="zh-CN" sz="1200" b="1" i="1" dirty="0"/>
              <a:t>x</a:t>
            </a:r>
            <a:r>
              <a:rPr lang="zh-CN" altLang="en-US" sz="1200" b="1" dirty="0"/>
              <a:t>与</a:t>
            </a:r>
            <a:r>
              <a:rPr lang="en-US" altLang="zh-CN" sz="1200" b="1" i="1" dirty="0"/>
              <a:t>y</a:t>
            </a:r>
            <a:r>
              <a:rPr lang="zh-CN" altLang="en-US" sz="1200" b="1" dirty="0"/>
              <a:t>都是不可比的，则称</a:t>
            </a:r>
            <a:r>
              <a:rPr lang="en-US" altLang="zh-CN" sz="1200" b="1" i="1" dirty="0"/>
              <a:t>B</a:t>
            </a:r>
            <a:r>
              <a:rPr lang="zh-CN" altLang="en-US" sz="1200" b="1" dirty="0"/>
              <a:t>是</a:t>
            </a:r>
            <a:r>
              <a:rPr lang="en-US" altLang="zh-CN" sz="1200" b="1" i="1" dirty="0"/>
              <a:t>A</a:t>
            </a:r>
          </a:p>
          <a:p>
            <a:pPr eaLnBrk="1" hangingPunct="1">
              <a:lnSpc>
                <a:spcPct val="120000"/>
              </a:lnSpc>
              <a:buFontTx/>
              <a:buNone/>
            </a:pPr>
            <a:r>
              <a:rPr lang="zh-CN" altLang="en-US" sz="1200" b="1" dirty="0"/>
              <a:t>中的一条</a:t>
            </a:r>
            <a:r>
              <a:rPr lang="zh-CN" altLang="en-US" sz="1200" b="1" dirty="0">
                <a:solidFill>
                  <a:srgbClr val="FF0000"/>
                </a:solidFill>
              </a:rPr>
              <a:t>反链</a:t>
            </a:r>
            <a:r>
              <a:rPr lang="zh-CN" altLang="en-US" sz="1200" b="1" dirty="0"/>
              <a:t>，</a:t>
            </a:r>
            <a:r>
              <a:rPr lang="en-US" altLang="zh-CN" sz="1200" b="1" i="1" dirty="0"/>
              <a:t>B</a:t>
            </a:r>
            <a:r>
              <a:rPr lang="zh-CN" altLang="en-US" sz="1200" b="1" dirty="0"/>
              <a:t>中的元素个数称为</a:t>
            </a:r>
            <a:r>
              <a:rPr lang="zh-CN" altLang="en-US" sz="1200" b="1" dirty="0">
                <a:solidFill>
                  <a:srgbClr val="FF0000"/>
                </a:solidFill>
              </a:rPr>
              <a:t>反链的长度</a:t>
            </a:r>
            <a:r>
              <a:rPr lang="en-US" altLang="zh-CN" sz="1200" b="1" dirty="0"/>
              <a:t>.</a:t>
            </a:r>
          </a:p>
          <a:p>
            <a:pPr eaLnBrk="1" hangingPunct="1">
              <a:lnSpc>
                <a:spcPct val="120000"/>
              </a:lnSpc>
              <a:spcBef>
                <a:spcPct val="50000"/>
              </a:spcBef>
              <a:buFontTx/>
              <a:buNone/>
            </a:pPr>
            <a:r>
              <a:rPr lang="zh-CN" altLang="en-US" sz="1200" b="1" dirty="0">
                <a:solidFill>
                  <a:srgbClr val="00B0F0"/>
                </a:solidFill>
              </a:rPr>
              <a:t>实例：</a:t>
            </a:r>
            <a:r>
              <a:rPr lang="zh-CN" altLang="en-US" sz="1200" b="1" dirty="0"/>
              <a:t>在偏序集</a:t>
            </a:r>
            <a:r>
              <a:rPr lang="en-US" altLang="zh-CN" sz="1200" b="1" dirty="0"/>
              <a:t>&lt;{1,2,…,9},</a:t>
            </a:r>
            <a:r>
              <a:rPr lang="en-US" altLang="zh-CN" sz="1200" b="1" dirty="0">
                <a:latin typeface="Arial" panose="020B0604020202020204" pitchFamily="34" charset="0"/>
              </a:rPr>
              <a:t>|</a:t>
            </a:r>
            <a:r>
              <a:rPr lang="en-US" altLang="zh-CN" sz="1200" b="1" dirty="0"/>
              <a:t>&gt;</a:t>
            </a:r>
            <a:r>
              <a:rPr lang="zh-CN" altLang="en-US" sz="1200" b="1" dirty="0"/>
              <a:t>中，</a:t>
            </a:r>
            <a:r>
              <a:rPr lang="en-US" altLang="zh-CN" sz="1200" b="1" dirty="0"/>
              <a:t>{1,2,4,8}</a:t>
            </a:r>
            <a:r>
              <a:rPr lang="zh-CN" altLang="en-US" sz="1200" b="1" dirty="0"/>
              <a:t>是长为</a:t>
            </a:r>
            <a:r>
              <a:rPr lang="en-US" altLang="zh-CN" sz="1200" b="1" dirty="0"/>
              <a:t>4</a:t>
            </a:r>
            <a:r>
              <a:rPr lang="zh-CN" altLang="en-US" sz="1200" b="1" dirty="0"/>
              <a:t>的</a:t>
            </a:r>
          </a:p>
          <a:p>
            <a:pPr eaLnBrk="1" hangingPunct="1">
              <a:lnSpc>
                <a:spcPct val="120000"/>
              </a:lnSpc>
              <a:buFontTx/>
              <a:buNone/>
            </a:pPr>
            <a:r>
              <a:rPr lang="zh-CN" altLang="en-US" sz="1200" b="1" dirty="0"/>
              <a:t>链，</a:t>
            </a:r>
            <a:r>
              <a:rPr lang="en-US" altLang="zh-CN" sz="1200" b="1" dirty="0"/>
              <a:t>{1,4}</a:t>
            </a:r>
            <a:r>
              <a:rPr lang="zh-CN" altLang="en-US" sz="1200" b="1" dirty="0"/>
              <a:t>是长为</a:t>
            </a:r>
            <a:r>
              <a:rPr lang="en-US" altLang="zh-CN" sz="1200" b="1" dirty="0"/>
              <a:t>2</a:t>
            </a:r>
            <a:r>
              <a:rPr lang="zh-CN" altLang="en-US" sz="1200" b="1" dirty="0"/>
              <a:t>的链，</a:t>
            </a:r>
            <a:r>
              <a:rPr lang="en-US" altLang="zh-CN" sz="1200" b="1" dirty="0"/>
              <a:t>{2,3}</a:t>
            </a:r>
            <a:r>
              <a:rPr lang="zh-CN" altLang="en-US" sz="1200" b="1" dirty="0"/>
              <a:t>是长为</a:t>
            </a:r>
            <a:r>
              <a:rPr lang="en-US" altLang="zh-CN" sz="1200" b="1" dirty="0"/>
              <a:t>2</a:t>
            </a:r>
            <a:r>
              <a:rPr lang="zh-CN" altLang="en-US" sz="1200" b="1" dirty="0"/>
              <a:t>的反链</a:t>
            </a:r>
            <a:r>
              <a:rPr lang="en-US" altLang="zh-CN" sz="1200" b="1" dirty="0"/>
              <a:t>. </a:t>
            </a:r>
            <a:r>
              <a:rPr lang="zh-CN" altLang="en-US" sz="1200" b="1" dirty="0"/>
              <a:t>对于单元</a:t>
            </a:r>
          </a:p>
          <a:p>
            <a:pPr eaLnBrk="1" hangingPunct="1">
              <a:lnSpc>
                <a:spcPct val="120000"/>
              </a:lnSpc>
              <a:buFontTx/>
              <a:buNone/>
            </a:pPr>
            <a:r>
              <a:rPr lang="zh-CN" altLang="en-US" sz="1200" b="1" dirty="0"/>
              <a:t>集</a:t>
            </a:r>
            <a:r>
              <a:rPr lang="en-US" altLang="zh-CN" sz="1200" b="1" dirty="0"/>
              <a:t>{2}</a:t>
            </a:r>
            <a:r>
              <a:rPr lang="zh-CN" altLang="en-US" sz="1200" b="1" dirty="0"/>
              <a:t>，它的长度是</a:t>
            </a:r>
            <a:r>
              <a:rPr lang="en-US" altLang="zh-CN" sz="1200" b="1" dirty="0"/>
              <a:t>1</a:t>
            </a:r>
            <a:r>
              <a:rPr lang="zh-CN" altLang="en-US" sz="1200" b="1" dirty="0"/>
              <a:t>，既是链也是反链</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105</a:t>
            </a:fld>
            <a:endParaRPr lang="zh-CN" altLang="en-US"/>
          </a:p>
        </p:txBody>
      </p:sp>
    </p:spTree>
    <p:extLst>
      <p:ext uri="{BB962C8B-B14F-4D97-AF65-F5344CB8AC3E}">
        <p14:creationId xmlns:p14="http://schemas.microsoft.com/office/powerpoint/2010/main" val="238973847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4.9</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为偏序集，如果</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中最长的链长度为</a:t>
            </a:r>
            <a:r>
              <a:rPr lang="en-US" altLang="zh-CN" sz="1200" b="1" i="1"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则该偏序集可以分解为 </a:t>
            </a:r>
            <a:r>
              <a:rPr lang="en-US" altLang="zh-CN" sz="1200" b="1" i="1" dirty="0">
                <a:solidFill>
                  <a:schemeClr val="tx1"/>
                </a:solidFill>
                <a:latin typeface="Times New Roman" panose="02020603050405020304" pitchFamily="18" charset="0"/>
                <a:ea typeface="宋体" panose="02010600030101010101" pitchFamily="2" charset="-122"/>
              </a:rPr>
              <a:t>n </a:t>
            </a:r>
            <a:r>
              <a:rPr lang="zh-CN" altLang="en-US" sz="1200" b="1" dirty="0">
                <a:solidFill>
                  <a:schemeClr val="tx1"/>
                </a:solidFill>
                <a:latin typeface="Times New Roman" panose="02020603050405020304" pitchFamily="18" charset="0"/>
                <a:ea typeface="宋体" panose="02010600030101010101" pitchFamily="2" charset="-122"/>
              </a:rPr>
              <a:t>条不相交的反链</a:t>
            </a:r>
            <a:r>
              <a:rPr lang="en-US" altLang="zh-CN" sz="1200" b="1" dirty="0">
                <a:solidFill>
                  <a:schemeClr val="tx1"/>
                </a:solidFill>
                <a:latin typeface="Times New Roman" panose="02020603050405020304" pitchFamily="18" charset="0"/>
                <a:ea typeface="宋体" panose="02010600030101010101" pitchFamily="2" charset="-122"/>
              </a:rPr>
              <a:t>.</a:t>
            </a:r>
          </a:p>
          <a:p>
            <a:pPr marL="0" indent="0">
              <a:buNone/>
            </a:pPr>
            <a:endParaRPr lang="en-US" altLang="zh-CN" sz="1200" b="1" dirty="0">
              <a:solidFill>
                <a:schemeClr val="tx1"/>
              </a:solidFill>
              <a:latin typeface="Times New Roman" panose="02020603050405020304" pitchFamily="18" charset="0"/>
              <a:ea typeface="宋体" panose="02010600030101010101" pitchFamily="2" charset="-122"/>
            </a:endParaRPr>
          </a:p>
          <a:p>
            <a:pPr eaLnBrk="1" hangingPunct="1">
              <a:spcBef>
                <a:spcPct val="0"/>
              </a:spcBef>
              <a:buFontTx/>
              <a:buNone/>
            </a:pPr>
            <a:r>
              <a:rPr lang="zh-CN" altLang="en-US" sz="1200" b="1" dirty="0">
                <a:solidFill>
                  <a:srgbClr val="FF0000"/>
                </a:solidFill>
              </a:rPr>
              <a:t>算法</a:t>
            </a:r>
            <a:r>
              <a:rPr lang="en-US" altLang="zh-CN" sz="1200" b="1" dirty="0">
                <a:solidFill>
                  <a:srgbClr val="FF0000"/>
                </a:solidFill>
              </a:rPr>
              <a:t>4.2  </a:t>
            </a:r>
            <a:r>
              <a:rPr lang="zh-CN" altLang="en-US" sz="1200" b="1" dirty="0"/>
              <a:t>偏序集反链分解算法</a:t>
            </a:r>
          </a:p>
          <a:p>
            <a:pPr eaLnBrk="1" hangingPunct="1">
              <a:buFontTx/>
              <a:buNone/>
            </a:pPr>
            <a:r>
              <a:rPr lang="zh-CN" altLang="en-US" sz="1200" b="1" dirty="0"/>
              <a:t>输入：偏序集</a:t>
            </a:r>
            <a:r>
              <a:rPr lang="en-US" altLang="zh-CN" sz="1200" b="1" i="1" dirty="0"/>
              <a:t>A</a:t>
            </a:r>
            <a:endParaRPr lang="en-US" altLang="zh-CN" sz="1200" b="1" dirty="0"/>
          </a:p>
          <a:p>
            <a:pPr eaLnBrk="1" hangingPunct="1">
              <a:buFontTx/>
              <a:buNone/>
            </a:pPr>
            <a:r>
              <a:rPr lang="zh-CN" altLang="en-US" sz="1200" b="1" dirty="0"/>
              <a:t>输出：</a:t>
            </a:r>
            <a:r>
              <a:rPr lang="en-US" altLang="zh-CN" sz="1200" b="1" i="1" dirty="0"/>
              <a:t>A</a:t>
            </a:r>
            <a:r>
              <a:rPr lang="zh-CN" altLang="en-US" sz="1200" b="1" dirty="0"/>
              <a:t>中的反链</a:t>
            </a:r>
            <a:r>
              <a:rPr lang="en-US" altLang="zh-CN" sz="1200" b="1" i="1" dirty="0"/>
              <a:t>B</a:t>
            </a:r>
            <a:r>
              <a:rPr lang="en-US" altLang="zh-CN" sz="1200" b="1" baseline="-25000" dirty="0"/>
              <a:t>1</a:t>
            </a:r>
            <a:r>
              <a:rPr lang="en-US" altLang="zh-CN" sz="1200" b="1" dirty="0"/>
              <a:t>, </a:t>
            </a:r>
            <a:r>
              <a:rPr lang="en-US" altLang="zh-CN" sz="1200" b="1" i="1" dirty="0"/>
              <a:t>B</a:t>
            </a:r>
            <a:r>
              <a:rPr lang="en-US" altLang="zh-CN" sz="1200" b="1" baseline="-25000" dirty="0"/>
              <a:t>2</a:t>
            </a:r>
            <a:r>
              <a:rPr lang="en-US" altLang="zh-CN" sz="1200" b="1" dirty="0"/>
              <a:t>, … </a:t>
            </a:r>
          </a:p>
          <a:p>
            <a:pPr eaLnBrk="1" hangingPunct="1">
              <a:buFontTx/>
              <a:buNone/>
            </a:pPr>
            <a:r>
              <a:rPr lang="en-US" altLang="zh-CN" sz="1200" b="1" dirty="0"/>
              <a:t>1</a:t>
            </a:r>
            <a:r>
              <a:rPr lang="zh-CN" altLang="en-US" sz="1200" b="1" dirty="0"/>
              <a:t>．</a:t>
            </a:r>
            <a:r>
              <a:rPr lang="en-US" altLang="zh-CN" sz="1200" b="1" i="1" dirty="0"/>
              <a:t>i</a:t>
            </a:r>
            <a:r>
              <a:rPr lang="en-US" altLang="zh-CN" sz="1200" b="1" dirty="0">
                <a:sym typeface="Symbol" panose="05050102010706020507" pitchFamily="18" charset="2"/>
              </a:rPr>
              <a:t></a:t>
            </a:r>
            <a:r>
              <a:rPr lang="en-US" altLang="zh-CN" sz="1200" b="1" dirty="0"/>
              <a:t>1</a:t>
            </a:r>
          </a:p>
          <a:p>
            <a:pPr eaLnBrk="1" hangingPunct="1">
              <a:buFontTx/>
              <a:buNone/>
            </a:pPr>
            <a:r>
              <a:rPr lang="en-US" altLang="zh-CN" sz="1200" b="1" dirty="0"/>
              <a:t>2</a:t>
            </a:r>
            <a:r>
              <a:rPr lang="zh-CN" altLang="en-US" sz="1200" b="1" dirty="0"/>
              <a:t>．</a:t>
            </a:r>
            <a:r>
              <a:rPr lang="en-US" altLang="zh-CN" sz="1200" b="1" i="1" dirty="0" err="1"/>
              <a:t>B</a:t>
            </a:r>
            <a:r>
              <a:rPr lang="en-US" altLang="zh-CN" sz="1200" b="1" i="1" baseline="-25000" dirty="0" err="1"/>
              <a:t>i</a:t>
            </a:r>
            <a:r>
              <a:rPr lang="en-US" altLang="zh-CN" sz="1200" b="1" dirty="0" err="1">
                <a:sym typeface="Symbol" panose="05050102010706020507" pitchFamily="18" charset="2"/>
              </a:rPr>
              <a:t></a:t>
            </a:r>
            <a:r>
              <a:rPr lang="en-US" altLang="zh-CN" sz="1200" b="1" i="1" dirty="0" err="1"/>
              <a:t>A</a:t>
            </a:r>
            <a:r>
              <a:rPr lang="en-US" altLang="zh-CN" sz="1200" b="1" i="1" dirty="0"/>
              <a:t> </a:t>
            </a:r>
            <a:r>
              <a:rPr lang="zh-CN" altLang="en-US" sz="1200" b="1" dirty="0"/>
              <a:t>的所有极大元的集合（显然</a:t>
            </a:r>
            <a:r>
              <a:rPr lang="en-US" altLang="zh-CN" sz="1200" b="1" i="1" dirty="0"/>
              <a:t>B</a:t>
            </a:r>
            <a:r>
              <a:rPr lang="en-US" altLang="zh-CN" sz="1200" b="1" i="1" baseline="-25000" dirty="0"/>
              <a:t>i</a:t>
            </a:r>
            <a:r>
              <a:rPr lang="zh-CN" altLang="en-US" sz="1200" b="1" dirty="0"/>
              <a:t>是一条反链）</a:t>
            </a:r>
          </a:p>
          <a:p>
            <a:pPr eaLnBrk="1" hangingPunct="1">
              <a:buFontTx/>
              <a:buNone/>
            </a:pPr>
            <a:r>
              <a:rPr lang="en-US" altLang="zh-CN" sz="1200" b="1" dirty="0"/>
              <a:t>3</a:t>
            </a:r>
            <a:r>
              <a:rPr lang="zh-CN" altLang="en-US" sz="1200" b="1" dirty="0"/>
              <a:t>．令</a:t>
            </a:r>
            <a:r>
              <a:rPr lang="en-US" altLang="zh-CN" sz="1200" b="1" i="1" dirty="0" err="1"/>
              <a:t>A</a:t>
            </a:r>
            <a:r>
              <a:rPr lang="en-US" altLang="zh-CN" sz="1200" b="1" dirty="0" err="1">
                <a:sym typeface="Symbol" panose="05050102010706020507" pitchFamily="18" charset="2"/>
              </a:rPr>
              <a:t></a:t>
            </a:r>
            <a:r>
              <a:rPr lang="en-US" altLang="zh-CN" sz="1200" b="1" i="1" dirty="0" err="1"/>
              <a:t>A</a:t>
            </a:r>
            <a:r>
              <a:rPr lang="en-US" altLang="zh-CN" sz="1200" b="1" dirty="0" err="1">
                <a:sym typeface="Symbol" panose="05050102010706020507" pitchFamily="18" charset="2"/>
              </a:rPr>
              <a:t></a:t>
            </a:r>
            <a:r>
              <a:rPr lang="en-US" altLang="zh-CN" sz="1200" b="1" i="1" dirty="0" err="1"/>
              <a:t>B</a:t>
            </a:r>
            <a:r>
              <a:rPr lang="en-US" altLang="zh-CN" sz="1200" b="1" i="1" baseline="-25000" dirty="0" err="1"/>
              <a:t>i</a:t>
            </a:r>
            <a:endParaRPr lang="en-US" altLang="zh-CN" sz="1200" b="1" baseline="-25000" dirty="0"/>
          </a:p>
          <a:p>
            <a:pPr eaLnBrk="1" hangingPunct="1">
              <a:buFontTx/>
              <a:buNone/>
            </a:pPr>
            <a:r>
              <a:rPr lang="en-US" altLang="zh-CN" sz="1200" b="1" dirty="0"/>
              <a:t>4</a:t>
            </a:r>
            <a:r>
              <a:rPr lang="zh-CN" altLang="en-US" sz="1200" b="1" dirty="0"/>
              <a:t>．</a:t>
            </a:r>
            <a:r>
              <a:rPr lang="en-US" altLang="zh-CN" sz="1200" b="1" dirty="0"/>
              <a:t>if </a:t>
            </a:r>
            <a:r>
              <a:rPr lang="en-US" altLang="zh-CN" sz="1200" b="1" i="1" dirty="0"/>
              <a:t>A</a:t>
            </a:r>
            <a:r>
              <a:rPr lang="en-US" altLang="zh-CN" sz="1200" b="1" dirty="0">
                <a:sym typeface="Symbol" panose="05050102010706020507" pitchFamily="18" charset="2"/>
              </a:rPr>
              <a:t></a:t>
            </a:r>
            <a:r>
              <a:rPr lang="en-US" altLang="zh-CN" sz="1200" b="1" i="1" dirty="0"/>
              <a:t> </a:t>
            </a:r>
            <a:endParaRPr lang="en-US" altLang="zh-CN" sz="1200" b="1" dirty="0"/>
          </a:p>
          <a:p>
            <a:pPr eaLnBrk="1" hangingPunct="1">
              <a:buFontTx/>
              <a:buNone/>
            </a:pPr>
            <a:r>
              <a:rPr lang="en-US" altLang="zh-CN" sz="1200" b="1" dirty="0"/>
              <a:t>5</a:t>
            </a:r>
            <a:r>
              <a:rPr lang="zh-CN" altLang="en-US" sz="1200" b="1" dirty="0"/>
              <a:t>．   </a:t>
            </a:r>
            <a:r>
              <a:rPr lang="en-US" altLang="zh-CN" sz="1200" b="1" i="1" dirty="0"/>
              <a:t>i</a:t>
            </a:r>
            <a:r>
              <a:rPr lang="en-US" altLang="zh-CN" sz="1200" b="1" dirty="0">
                <a:sym typeface="Symbol" panose="05050102010706020507" pitchFamily="18" charset="2"/>
              </a:rPr>
              <a:t></a:t>
            </a:r>
            <a:r>
              <a:rPr lang="en-US" altLang="zh-CN" sz="1200" b="1" i="1" dirty="0"/>
              <a:t>i</a:t>
            </a:r>
            <a:r>
              <a:rPr lang="en-US" altLang="zh-CN" sz="1200" b="1" dirty="0"/>
              <a:t>+1</a:t>
            </a:r>
          </a:p>
          <a:p>
            <a:pPr eaLnBrk="1" hangingPunct="1">
              <a:buFontTx/>
              <a:buNone/>
            </a:pPr>
            <a:r>
              <a:rPr lang="en-US" altLang="zh-CN" sz="1200" b="1" dirty="0"/>
              <a:t>6</a:t>
            </a:r>
            <a:r>
              <a:rPr lang="zh-CN" altLang="en-US" sz="1200" b="1" dirty="0"/>
              <a:t>．   转</a:t>
            </a:r>
            <a:r>
              <a:rPr lang="en-US" altLang="zh-CN" sz="1200" b="1" dirty="0"/>
              <a:t>2</a:t>
            </a:r>
            <a:r>
              <a:rPr lang="en-US" altLang="zh-CN" sz="1200" b="1" dirty="0">
                <a:solidFill>
                  <a:schemeClr val="tx1"/>
                </a:solidFill>
                <a:latin typeface="Times New Roman" panose="02020603050405020304" pitchFamily="18" charset="0"/>
                <a:ea typeface="宋体" panose="02010600030101010101" pitchFamily="2" charset="-122"/>
              </a:rPr>
              <a:t> </a:t>
            </a:r>
            <a:endParaRPr lang="zh-CN" altLang="en-US" sz="1200" dirty="0">
              <a:latin typeface="Times New Roman" panose="02020603050405020304" pitchFamily="18" charset="0"/>
              <a:ea typeface="宋体" panose="02010600030101010101" pitchFamily="2" charset="-122"/>
            </a:endParaRPr>
          </a:p>
          <a:p>
            <a:pPr eaLnBrk="1" hangingPunct="1">
              <a:lnSpc>
                <a:spcPct val="120000"/>
              </a:lnSpc>
              <a:buFontTx/>
              <a:buNone/>
            </a:pPr>
            <a:r>
              <a:rPr lang="en-US" altLang="zh-CN" sz="1200" b="1" dirty="0"/>
              <a:t> </a:t>
            </a:r>
            <a:endParaRPr lang="zh-CN" altLang="en-US" sz="1200" b="1" dirty="0">
              <a:solidFill>
                <a:srgbClr val="000066"/>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106</a:t>
            </a:fld>
            <a:endParaRPr lang="zh-CN" altLang="en-US"/>
          </a:p>
        </p:txBody>
      </p:sp>
    </p:spTree>
    <p:extLst>
      <p:ext uri="{BB962C8B-B14F-4D97-AF65-F5344CB8AC3E}">
        <p14:creationId xmlns:p14="http://schemas.microsoft.com/office/powerpoint/2010/main" val="5298134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为非空集合</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上的偏序</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zh-CN" altLang="en-US" sz="1200" b="1" dirty="0">
                <a:solidFill>
                  <a:schemeClr val="tx1"/>
                </a:solidFill>
                <a:latin typeface="Times New Roman" panose="02020603050405020304" pitchFamily="18" charset="0"/>
                <a:ea typeface="宋体" panose="02010600030101010101" pitchFamily="2" charset="-122"/>
              </a:rPr>
              <a:t>与</a:t>
            </a:r>
            <a:r>
              <a:rPr lang="en-US" altLang="zh-CN" sz="1200" b="1" i="1" dirty="0">
                <a:solidFill>
                  <a:schemeClr val="tx1"/>
                </a:solidFill>
                <a:latin typeface="Times New Roman" panose="02020603050405020304" pitchFamily="18" charset="0"/>
                <a:ea typeface="宋体" panose="02010600030101010101" pitchFamily="2" charset="-122"/>
              </a:rPr>
              <a:t>y </a:t>
            </a:r>
            <a:r>
              <a:rPr lang="zh-CN" altLang="en-US" sz="1200" b="1" dirty="0">
                <a:solidFill>
                  <a:schemeClr val="tx1"/>
                </a:solidFill>
                <a:latin typeface="Times New Roman" panose="02020603050405020304" pitchFamily="18" charset="0"/>
                <a:ea typeface="宋体" panose="02010600030101010101" pitchFamily="2" charset="-122"/>
              </a:rPr>
              <a:t>都可比，则称</a:t>
            </a:r>
            <a:r>
              <a:rPr lang="en-US" altLang="zh-CN" sz="1200" b="1" i="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为全序</a:t>
            </a:r>
            <a:r>
              <a:rPr lang="en-US" altLang="zh-CN" sz="1200" b="1" dirty="0">
                <a:solidFill>
                  <a:schemeClr val="tx1"/>
                </a:solidFill>
                <a:latin typeface="Times New Roman" panose="02020603050405020304" pitchFamily="18" charset="0"/>
                <a:ea typeface="宋体" panose="02010600030101010101" pitchFamily="2" charset="-122"/>
              </a:rPr>
              <a:t>. </a:t>
            </a:r>
          </a:p>
          <a:p>
            <a:pPr marL="0" indent="0">
              <a:spcBef>
                <a:spcPct val="20000"/>
              </a:spcBef>
              <a:buNone/>
            </a:pPr>
            <a:r>
              <a:rPr lang="zh-CN" altLang="en-US" sz="1200" b="1" dirty="0">
                <a:solidFill>
                  <a:schemeClr val="tx1"/>
                </a:solidFill>
                <a:latin typeface="宋体" panose="02010600030101010101" pitchFamily="2" charset="-122"/>
                <a:ea typeface="宋体" panose="02010600030101010101" pitchFamily="2" charset="-122"/>
              </a:rPr>
              <a:t>把偏序集扩张成一个全序集，称为</a:t>
            </a:r>
            <a:r>
              <a:rPr lang="zh-CN" altLang="en-US" sz="1200" b="1" dirty="0">
                <a:solidFill>
                  <a:srgbClr val="FF0000"/>
                </a:solidFill>
                <a:latin typeface="宋体" panose="02010600030101010101" pitchFamily="2" charset="-122"/>
                <a:ea typeface="宋体" panose="02010600030101010101" pitchFamily="2" charset="-122"/>
              </a:rPr>
              <a:t>拓扑排序</a:t>
            </a:r>
            <a:r>
              <a:rPr lang="en-US" altLang="zh-CN" sz="1200" b="1" dirty="0">
                <a:solidFill>
                  <a:schemeClr val="tx1"/>
                </a:solidFill>
                <a:latin typeface="宋体" panose="02010600030101010101" pitchFamily="2" charset="-122"/>
                <a:ea typeface="宋体" panose="02010600030101010101" pitchFamily="2" charset="-122"/>
              </a:rPr>
              <a:t>.</a:t>
            </a:r>
          </a:p>
          <a:p>
            <a:pPr eaLnBrk="1" hangingPunct="1">
              <a:buFontTx/>
              <a:buNone/>
            </a:pPr>
            <a:endParaRPr lang="en-US" altLang="zh-CN" sz="1200" b="1" dirty="0">
              <a:solidFill>
                <a:srgbClr val="FF0000"/>
              </a:solidFill>
            </a:endParaRPr>
          </a:p>
          <a:p>
            <a:pPr eaLnBrk="1" hangingPunct="1">
              <a:buFontTx/>
              <a:buNone/>
            </a:pPr>
            <a:r>
              <a:rPr lang="zh-CN" altLang="en-US" sz="1200" b="1" dirty="0">
                <a:solidFill>
                  <a:srgbClr val="FF0000"/>
                </a:solidFill>
              </a:rPr>
              <a:t>算法</a:t>
            </a:r>
            <a:r>
              <a:rPr lang="en-US" altLang="zh-CN" sz="1200" b="1" dirty="0">
                <a:solidFill>
                  <a:srgbClr val="FF0000"/>
                </a:solidFill>
              </a:rPr>
              <a:t>4.3</a:t>
            </a:r>
            <a:r>
              <a:rPr lang="en-US" altLang="zh-CN" sz="1200" b="1" dirty="0"/>
              <a:t> </a:t>
            </a:r>
            <a:r>
              <a:rPr lang="zh-CN" altLang="en-US" sz="1200" b="1" dirty="0"/>
              <a:t>拓扑排序</a:t>
            </a:r>
          </a:p>
          <a:p>
            <a:pPr eaLnBrk="1" hangingPunct="1">
              <a:buFontTx/>
              <a:buNone/>
            </a:pPr>
            <a:r>
              <a:rPr lang="zh-CN" altLang="en-US" sz="1200" b="1" dirty="0"/>
              <a:t>输入：偏序集</a:t>
            </a:r>
            <a:r>
              <a:rPr lang="en-US" altLang="zh-CN" sz="1200" b="1" i="1" dirty="0"/>
              <a:t>A</a:t>
            </a:r>
            <a:endParaRPr lang="en-US" altLang="zh-CN" sz="1200" b="1" dirty="0"/>
          </a:p>
          <a:p>
            <a:pPr eaLnBrk="1" hangingPunct="1">
              <a:buFontTx/>
              <a:buNone/>
            </a:pPr>
            <a:r>
              <a:rPr lang="zh-CN" altLang="en-US" sz="1200" b="1" dirty="0"/>
              <a:t>输出：</a:t>
            </a:r>
            <a:r>
              <a:rPr lang="en-US" altLang="zh-CN" sz="1200" b="1" i="1" dirty="0"/>
              <a:t>A</a:t>
            </a:r>
            <a:r>
              <a:rPr lang="zh-CN" altLang="en-US" sz="1200" b="1" dirty="0"/>
              <a:t>中元素的排序</a:t>
            </a:r>
            <a:endParaRPr lang="zh-CN" altLang="en-US" sz="1200" b="1" i="1" dirty="0"/>
          </a:p>
          <a:p>
            <a:pPr eaLnBrk="1" hangingPunct="1">
              <a:buFontTx/>
              <a:buNone/>
            </a:pPr>
            <a:r>
              <a:rPr lang="en-US" altLang="zh-CN" sz="1200" b="1" dirty="0"/>
              <a:t>1.</a:t>
            </a:r>
            <a:r>
              <a:rPr lang="en-US" altLang="zh-CN" sz="1200" b="1" i="1" dirty="0"/>
              <a:t>   i</a:t>
            </a:r>
            <a:r>
              <a:rPr lang="en-US" altLang="zh-CN" sz="1200" b="1" dirty="0">
                <a:sym typeface="Symbol" panose="05050102010706020507" pitchFamily="18" charset="2"/>
              </a:rPr>
              <a:t></a:t>
            </a:r>
            <a:r>
              <a:rPr lang="en-US" altLang="zh-CN" sz="1200" b="1" dirty="0"/>
              <a:t>1</a:t>
            </a:r>
          </a:p>
          <a:p>
            <a:pPr eaLnBrk="1" hangingPunct="1">
              <a:buFontTx/>
              <a:buNone/>
            </a:pPr>
            <a:r>
              <a:rPr lang="en-US" altLang="zh-CN" sz="1200" b="1" dirty="0"/>
              <a:t>2.   </a:t>
            </a:r>
            <a:r>
              <a:rPr lang="zh-CN" altLang="en-US" sz="1200" b="1" dirty="0"/>
              <a:t>从</a:t>
            </a:r>
            <a:r>
              <a:rPr lang="en-US" altLang="zh-CN" sz="1200" b="1" i="1" dirty="0"/>
              <a:t>A</a:t>
            </a:r>
            <a:r>
              <a:rPr lang="zh-CN" altLang="en-US" sz="1200" b="1" dirty="0"/>
              <a:t>中选择一个极小元 </a:t>
            </a:r>
            <a:r>
              <a:rPr lang="en-US" altLang="zh-CN" sz="1200" b="1" i="1" dirty="0"/>
              <a:t>a</a:t>
            </a:r>
            <a:r>
              <a:rPr lang="en-US" altLang="zh-CN" sz="1200" b="1" i="1" baseline="-25000" dirty="0"/>
              <a:t>i </a:t>
            </a:r>
            <a:r>
              <a:rPr lang="zh-CN" altLang="en-US" sz="1200" b="1" dirty="0"/>
              <a:t>作为最小元</a:t>
            </a:r>
          </a:p>
          <a:p>
            <a:pPr eaLnBrk="1" hangingPunct="1">
              <a:buFontTx/>
              <a:buNone/>
            </a:pPr>
            <a:r>
              <a:rPr lang="en-US" altLang="zh-CN" sz="1200" b="1" dirty="0"/>
              <a:t>3</a:t>
            </a:r>
            <a:r>
              <a:rPr lang="zh-CN" altLang="en-US" sz="1200" b="1" dirty="0"/>
              <a:t>．</a:t>
            </a:r>
            <a:r>
              <a:rPr lang="en-US" altLang="zh-CN" sz="1200" b="1" i="1" dirty="0"/>
              <a:t>A</a:t>
            </a:r>
            <a:r>
              <a:rPr lang="en-US" altLang="zh-CN" sz="1200" b="1" dirty="0">
                <a:sym typeface="Symbol" panose="05050102010706020507" pitchFamily="18" charset="2"/>
              </a:rPr>
              <a:t></a:t>
            </a:r>
            <a:r>
              <a:rPr lang="en-US" altLang="zh-CN" sz="1200" b="1" i="1" dirty="0"/>
              <a:t>A</a:t>
            </a:r>
            <a:r>
              <a:rPr lang="en-US" altLang="zh-CN" sz="1200" b="1" dirty="0">
                <a:sym typeface="Symbol" panose="05050102010706020507" pitchFamily="18" charset="2"/>
              </a:rPr>
              <a:t></a:t>
            </a:r>
            <a:r>
              <a:rPr lang="en-US" altLang="zh-CN" sz="1200" b="1" dirty="0"/>
              <a:t>{</a:t>
            </a:r>
            <a:r>
              <a:rPr lang="en-US" altLang="zh-CN" sz="1200" b="1" i="1" dirty="0"/>
              <a:t>a</a:t>
            </a:r>
            <a:r>
              <a:rPr lang="en-US" altLang="zh-CN" sz="1200" b="1" i="1" baseline="-25000" dirty="0"/>
              <a:t>i</a:t>
            </a:r>
            <a:r>
              <a:rPr lang="en-US" altLang="zh-CN" sz="1200" b="1" dirty="0"/>
              <a:t>}</a:t>
            </a:r>
          </a:p>
          <a:p>
            <a:pPr eaLnBrk="1" hangingPunct="1">
              <a:buFontTx/>
              <a:buNone/>
            </a:pPr>
            <a:r>
              <a:rPr lang="en-US" altLang="zh-CN" sz="1200" b="1" dirty="0"/>
              <a:t>4</a:t>
            </a:r>
            <a:r>
              <a:rPr lang="zh-CN" altLang="en-US" sz="1200" b="1" dirty="0"/>
              <a:t>．</a:t>
            </a:r>
            <a:r>
              <a:rPr lang="en-US" altLang="zh-CN" sz="1200" b="1" dirty="0"/>
              <a:t>if </a:t>
            </a:r>
            <a:r>
              <a:rPr lang="en-US" altLang="zh-CN" sz="1200" b="1" i="1" dirty="0"/>
              <a:t>A</a:t>
            </a:r>
            <a:r>
              <a:rPr lang="en-US" altLang="zh-CN" sz="1200" b="1" dirty="0">
                <a:sym typeface="Symbol" panose="05050102010706020507" pitchFamily="18" charset="2"/>
              </a:rPr>
              <a:t></a:t>
            </a:r>
            <a:endParaRPr lang="en-US" altLang="zh-CN" sz="1200" b="1" dirty="0"/>
          </a:p>
          <a:p>
            <a:pPr eaLnBrk="1" hangingPunct="1">
              <a:buFontTx/>
              <a:buNone/>
            </a:pPr>
            <a:r>
              <a:rPr lang="en-US" altLang="zh-CN" sz="1200" b="1" dirty="0"/>
              <a:t>5</a:t>
            </a:r>
            <a:r>
              <a:rPr lang="zh-CN" altLang="en-US" sz="1200" b="1" dirty="0"/>
              <a:t>．    </a:t>
            </a:r>
            <a:r>
              <a:rPr lang="en-US" altLang="zh-CN" sz="1200" b="1" i="1" dirty="0"/>
              <a:t>i</a:t>
            </a:r>
            <a:r>
              <a:rPr lang="en-US" altLang="zh-CN" sz="1200" b="1" dirty="0">
                <a:sym typeface="Symbol" panose="05050102010706020507" pitchFamily="18" charset="2"/>
              </a:rPr>
              <a:t></a:t>
            </a:r>
            <a:r>
              <a:rPr lang="en-US" altLang="zh-CN" sz="1200" b="1" i="1" dirty="0"/>
              <a:t>i</a:t>
            </a:r>
            <a:r>
              <a:rPr lang="en-US" altLang="zh-CN" sz="1200" b="1" dirty="0"/>
              <a:t>+1</a:t>
            </a:r>
          </a:p>
          <a:p>
            <a:pPr eaLnBrk="1" hangingPunct="1">
              <a:buFontTx/>
              <a:buNone/>
            </a:pPr>
            <a:r>
              <a:rPr lang="en-US" altLang="zh-CN" sz="1200" b="1" dirty="0"/>
              <a:t>6</a:t>
            </a:r>
            <a:r>
              <a:rPr lang="zh-CN" altLang="en-US" sz="1200" b="1" dirty="0"/>
              <a:t>．    转</a:t>
            </a:r>
            <a:r>
              <a:rPr lang="en-US" altLang="zh-CN" sz="1200" b="1" dirty="0"/>
              <a:t>2</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107</a:t>
            </a:fld>
            <a:endParaRPr lang="zh-CN" altLang="en-US"/>
          </a:p>
        </p:txBody>
      </p:sp>
    </p:spTree>
    <p:extLst>
      <p:ext uri="{BB962C8B-B14F-4D97-AF65-F5344CB8AC3E}">
        <p14:creationId xmlns:p14="http://schemas.microsoft.com/office/powerpoint/2010/main" val="262147299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108</a:t>
            </a:fld>
            <a:endParaRPr lang="zh-CN" altLang="en-US"/>
          </a:p>
        </p:txBody>
      </p:sp>
    </p:spTree>
    <p:extLst>
      <p:ext uri="{BB962C8B-B14F-4D97-AF65-F5344CB8AC3E}">
        <p14:creationId xmlns:p14="http://schemas.microsoft.com/office/powerpoint/2010/main" val="90477571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109</a:t>
            </a:fld>
            <a:endParaRPr lang="zh-CN" altLang="en-US"/>
          </a:p>
        </p:txBody>
      </p:sp>
    </p:spTree>
    <p:extLst>
      <p:ext uri="{BB962C8B-B14F-4D97-AF65-F5344CB8AC3E}">
        <p14:creationId xmlns:p14="http://schemas.microsoft.com/office/powerpoint/2010/main" val="1125199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hyperlink" Target="https://kejiwei.github.io/" TargetMode="External"/><Relationship Id="rId4" Type="http://schemas.openxmlformats.org/officeDocument/2006/relationships/hyperlink" Target="mailto:kejiwei@tongji.edu.c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package" Target="../embeddings/Microsoft_Visio_Drawing.vsdx"/><Relationship Id="rId5" Type="http://schemas.openxmlformats.org/officeDocument/2006/relationships/image" Target="../media/image7.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package" Target="../embeddings/Microsoft_Visio_Drawing.vsdx"/><Relationship Id="rId5" Type="http://schemas.openxmlformats.org/officeDocument/2006/relationships/image" Target="../media/image9.png"/><Relationship Id="rId10" Type="http://schemas.openxmlformats.org/officeDocument/2006/relationships/image" Target="../media/image3.png"/><Relationship Id="rId9"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hyperlink" Target="https://kejiwei.github.io/" TargetMode="External"/><Relationship Id="rId4" Type="http://schemas.openxmlformats.org/officeDocument/2006/relationships/hyperlink" Target="mailto:kejiwei@tongji.edu.c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package" Target="../embeddings/Microsoft_Visio_Drawing1.vsdx"/><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0.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hyperlink" Target="https://kejiwei.github.io/" TargetMode="External"/><Relationship Id="rId4" Type="http://schemas.openxmlformats.org/officeDocument/2006/relationships/hyperlink" Target="mailto:kejiwei@tongji.edu.cn"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8.emf"/><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package" Target="../embeddings/Microsoft_Visio_Drawing2.vsdx"/><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package" Target="../embeddings/Microsoft_Visio_Drawing3.vsdx"/><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package" Target="../embeddings/Microsoft_Visio_Drawing4.vsdx"/><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package" Target="../embeddings/Microsoft_Visio_Drawing5.vsdx"/><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oleObject" Target="../embeddings/oleObject2.bin"/><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image" Target="../media/image30.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34.png"/><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35.png"/><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35.png"/><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35.png"/><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36.png"/><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Söhne"/>
              </a:rPr>
              <a:t>（</a:t>
            </a:r>
            <a:r>
              <a:rPr lang="en-US" altLang="zh-CN" dirty="0">
                <a:solidFill>
                  <a:schemeClr val="bg1"/>
                </a:solidFill>
                <a:latin typeface="Trebuchet MS" panose="020B0603020202020204" pitchFamily="34" charset="0"/>
              </a:rPr>
              <a:t>011122</a:t>
            </a:r>
            <a:r>
              <a:rPr lang="zh-CN" altLang="en-US" dirty="0">
                <a:solidFill>
                  <a:schemeClr val="bg1"/>
                </a:solidFill>
                <a:latin typeface="Söhne"/>
              </a:rPr>
              <a:t>）</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732119" y="5774634"/>
            <a:ext cx="7262777" cy="997196"/>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hlinkClick r:id="rId4"/>
              </a:rPr>
              <a:t>kejiwei@tongji.edu.cn</a:t>
            </a:r>
            <a:endParaRPr lang="en-US" altLang="zh-CN" sz="2800" b="1" dirty="0">
              <a:latin typeface="Trebuchet MS" panose="020B0603020202020204" pitchFamily="34" charset="0"/>
              <a:cs typeface="Times New Roman" panose="02020603050405020304" pitchFamily="18" charset="0"/>
            </a:endParaRPr>
          </a:p>
          <a:p>
            <a:pPr algn="ctr" fontAlgn="base">
              <a:spcBef>
                <a:spcPct val="10000"/>
              </a:spcBef>
              <a:spcAft>
                <a:spcPct val="0"/>
              </a:spcAft>
              <a:buClr>
                <a:srgbClr val="39BBF0"/>
              </a:buClr>
              <a:buSzPct val="60000"/>
            </a:pPr>
            <a:r>
              <a:rPr lang="en-US" altLang="zh-CN" sz="2800" dirty="0">
                <a:latin typeface="Trebuchet MS" panose="020B0603020202020204" pitchFamily="34" charset="0"/>
                <a:ea typeface="微软雅黑" pitchFamily="34" charset="-122"/>
                <a:cs typeface="Times New Roman" panose="02020603050405020304" pitchFamily="18" charset="0"/>
              </a:rPr>
              <a:t>		</a:t>
            </a:r>
            <a:r>
              <a:rPr lang="en-US" altLang="zh-CN" sz="2800" dirty="0">
                <a:latin typeface="Trebuchet MS" panose="020B0603020202020204" pitchFamily="34" charset="0"/>
                <a:ea typeface="微软雅黑" pitchFamily="34" charset="-122"/>
                <a:cs typeface="Times New Roman" panose="02020603050405020304" pitchFamily="18" charset="0"/>
                <a:hlinkClick r:id="rId5"/>
              </a:rPr>
              <a:t>https://kejiwei.github.io/</a:t>
            </a: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7"/>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4</a:t>
            </a:r>
            <a:r>
              <a:rPr lang="zh-CN" altLang="en-US" sz="2400" b="1" dirty="0">
                <a:latin typeface="Trebuchet MS" panose="020B0603020202020204" pitchFamily="34" charset="0"/>
              </a:rPr>
              <a:t>：</a:t>
            </a:r>
            <a:r>
              <a:rPr lang="en-US" altLang="zh-CN" sz="2400" b="0" i="0" dirty="0">
                <a:solidFill>
                  <a:schemeClr val="bg1"/>
                </a:solidFill>
                <a:effectLst/>
                <a:latin typeface="Trebuchet MS" panose="020B0603020202020204" pitchFamily="34" charset="0"/>
              </a:rPr>
              <a:t>Relations</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66A181A1-6A67-4B3D-BFFB-0EC0FBCF63A0}"/>
              </a:ext>
            </a:extLst>
          </p:cNvPr>
          <p:cNvSpPr txBox="1"/>
          <p:nvPr/>
        </p:nvSpPr>
        <p:spPr>
          <a:xfrm>
            <a:off x="1084792" y="1058684"/>
            <a:ext cx="7830608" cy="3030715"/>
          </a:xfrm>
          <a:prstGeom prst="rect">
            <a:avLst/>
          </a:prstGeom>
          <a:noFill/>
        </p:spPr>
        <p:txBody>
          <a:bodyPr wrap="square">
            <a:noAutofit/>
          </a:bodyPr>
          <a:lstStyle/>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4.1 Definition and Representation of Relations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4.2 Relational Operations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4.3 Properties of Relations</a:t>
            </a:r>
          </a:p>
          <a:p>
            <a:pPr marL="342900" indent="-342900">
              <a:lnSpc>
                <a:spcPct val="150000"/>
              </a:lnSpc>
              <a:buClr>
                <a:srgbClr val="0B61FF"/>
              </a:buClr>
              <a:buSzPct val="80000"/>
              <a:buFont typeface="Wingdings" panose="05000000000000000000" pitchFamily="2" charset="2"/>
              <a:buChar char="n"/>
            </a:pPr>
            <a:r>
              <a:rPr lang="en-US" sz="2400" b="1" i="0" dirty="0">
                <a:solidFill>
                  <a:srgbClr val="0D0D0D"/>
                </a:solidFill>
                <a:effectLst/>
                <a:latin typeface="Trebuchet MS" panose="020B0603020202020204" pitchFamily="34" charset="0"/>
              </a:rPr>
              <a:t>4.4 Equivalence Relations and Partial Order Relations</a:t>
            </a:r>
            <a:endParaRPr lang="en-US" sz="2400" b="1" dirty="0">
              <a:latin typeface="Trebuchet MS" panose="020B0603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4.1 Definition and Representation of Relations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696855" y="1124586"/>
            <a:ext cx="8798289" cy="3784599"/>
          </a:xfrm>
          <a:prstGeom prst="rect">
            <a:avLst/>
          </a:prstGeom>
          <a:noFill/>
        </p:spPr>
        <p:txBody>
          <a:bodyPr wrap="square">
            <a:noAutofit/>
          </a:bodyPr>
          <a:lstStyle>
            <a:defPPr>
              <a:defRPr lang="zh-CN"/>
            </a:defPPr>
            <a:lvl1pPr marL="342900" indent="-342900">
              <a:lnSpc>
                <a:spcPct val="150000"/>
              </a:lnSpc>
              <a:buClr>
                <a:srgbClr val="0B61FF"/>
              </a:buClr>
              <a:buSzPct val="80000"/>
              <a:buFont typeface="Wingdings" panose="05000000000000000000" pitchFamily="2" charset="2"/>
              <a:buChar char="n"/>
              <a:defRPr sz="2400" b="1">
                <a:latin typeface="Trebuchet MS" panose="020B0603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B5BFF"/>
                </a:solidFill>
              </a:rPr>
              <a:t>4.1.1 Ordered Pairs and Cartesian Product</a:t>
            </a:r>
          </a:p>
          <a:p>
            <a:r>
              <a:rPr lang="en-US" dirty="0"/>
              <a:t>4.1.2 Definition of Binary Relations</a:t>
            </a:r>
          </a:p>
          <a:p>
            <a:r>
              <a:rPr lang="en-US" dirty="0"/>
              <a:t>4.1.3 Representation of Binary Relations</a:t>
            </a:r>
            <a:endParaRPr lang="zh-CN" altLang="en-US" dirty="0"/>
          </a:p>
        </p:txBody>
      </p:sp>
    </p:spTree>
    <p:extLst>
      <p:ext uri="{BB962C8B-B14F-4D97-AF65-F5344CB8AC3E}">
        <p14:creationId xmlns:p14="http://schemas.microsoft.com/office/powerpoint/2010/main" val="428878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ea typeface="宋体" panose="02010600030101010101" pitchFamily="2" charset="-122"/>
                <a:cs typeface="Times New Roman" panose="02020603050405020304" pitchFamily="18" charset="0"/>
              </a:rPr>
              <a:t>4.1 Definition and Representation of Relations</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4.1.1 Ordered Pairs and Cartesian Product</a:t>
            </a:r>
            <a:endParaRPr lang="zh-CN" altLang="en-US" sz="2400"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904876"/>
            <a:ext cx="8798289" cy="54197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4.1-</a:t>
            </a:r>
            <a:r>
              <a:rPr lang="en-US" altLang="zh-CN" sz="2400" dirty="0">
                <a:latin typeface="Trebuchet MS" panose="020B0603020202020204" pitchFamily="34" charset="0"/>
              </a:rPr>
              <a:t> </a:t>
            </a:r>
            <a:r>
              <a:rPr lang="en-US" altLang="zh-CN" sz="2400" b="1" dirty="0">
                <a:latin typeface="Trebuchet MS" panose="020B0603020202020204" pitchFamily="34" charset="0"/>
              </a:rPr>
              <a:t>Ordered Pairs </a:t>
            </a:r>
            <a:br>
              <a:rPr lang="en-US" sz="2400" dirty="0">
                <a:latin typeface="Trebuchet MS" panose="020B0603020202020204" pitchFamily="34" charset="0"/>
              </a:rPr>
            </a:br>
            <a:r>
              <a:rPr lang="en-US" sz="2400" dirty="0">
                <a:latin typeface="Trebuchet MS" panose="020B0603020202020204" pitchFamily="34" charset="0"/>
              </a:rPr>
              <a:t>A pair of elements </a:t>
            </a:r>
            <a:r>
              <a:rPr lang="en-US" sz="2400" b="1" i="1" dirty="0">
                <a:latin typeface="Trebuchet MS" panose="020B0603020202020204" pitchFamily="34" charset="0"/>
              </a:rPr>
              <a:t>x</a:t>
            </a:r>
            <a:r>
              <a:rPr lang="en-US" sz="2400" dirty="0">
                <a:latin typeface="Trebuchet MS" panose="020B0603020202020204" pitchFamily="34" charset="0"/>
              </a:rPr>
              <a:t> and </a:t>
            </a:r>
            <a:r>
              <a:rPr lang="en-US" sz="2400" b="1" i="1" dirty="0">
                <a:latin typeface="Trebuchet MS" panose="020B0603020202020204" pitchFamily="34" charset="0"/>
              </a:rPr>
              <a:t>y</a:t>
            </a:r>
            <a:r>
              <a:rPr lang="en-US" sz="2400" dirty="0">
                <a:latin typeface="Trebuchet MS" panose="020B0603020202020204" pitchFamily="34" charset="0"/>
              </a:rPr>
              <a:t> arranged in a specific order is called an </a:t>
            </a:r>
            <a:r>
              <a:rPr lang="en-US" sz="2400" b="1" i="1" dirty="0">
                <a:latin typeface="Trebuchet MS" panose="020B0603020202020204" pitchFamily="34" charset="0"/>
              </a:rPr>
              <a:t>ordered pair </a:t>
            </a:r>
            <a:r>
              <a:rPr lang="en-US" sz="2400" dirty="0">
                <a:latin typeface="Trebuchet MS" panose="020B0603020202020204" pitchFamily="34" charset="0"/>
              </a:rPr>
              <a:t>(or sequence), denoted as </a:t>
            </a:r>
            <a:r>
              <a:rPr lang="en-US" sz="2400" b="1" dirty="0">
                <a:latin typeface="Trebuchet MS" panose="020B0603020202020204" pitchFamily="34" charset="0"/>
              </a:rPr>
              <a:t>⟨</a:t>
            </a:r>
            <a:r>
              <a:rPr lang="en-US" sz="2400" b="1" i="1" dirty="0" err="1">
                <a:latin typeface="Trebuchet MS" panose="020B0603020202020204" pitchFamily="34" charset="0"/>
              </a:rPr>
              <a:t>x</a:t>
            </a:r>
            <a:r>
              <a:rPr lang="en-US" sz="2400" b="1" dirty="0" err="1">
                <a:latin typeface="Trebuchet MS" panose="020B0603020202020204" pitchFamily="34" charset="0"/>
              </a:rPr>
              <a:t>,</a:t>
            </a:r>
            <a:r>
              <a:rPr lang="en-US" sz="2400" b="1" i="1" dirty="0" err="1">
                <a:latin typeface="Trebuchet MS" panose="020B0603020202020204" pitchFamily="34" charset="0"/>
              </a:rPr>
              <a:t>y</a:t>
            </a:r>
            <a:r>
              <a:rPr lang="en-US" sz="2400" b="1" dirty="0">
                <a:latin typeface="Trebuchet MS" panose="020B0603020202020204" pitchFamily="34" charset="0"/>
              </a:rPr>
              <a:t>⟩</a:t>
            </a:r>
          </a:p>
          <a:p>
            <a:pPr marL="711200" indent="-711200" eaLnBrk="1" hangingPunct="1">
              <a:buFontTx/>
              <a:buNone/>
            </a:pPr>
            <a:r>
              <a:rPr lang="en-US" sz="2400" b="1" dirty="0">
                <a:latin typeface="Trebuchet MS" panose="020B0603020202020204" pitchFamily="34" charset="0"/>
              </a:rPr>
              <a:t>    Example</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The Cartesian coordinates of a point: (3,−4)</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Properties of Ordered Pairs</a:t>
            </a:r>
          </a:p>
          <a:p>
            <a:pPr marL="533400" indent="-177800" eaLnBrk="1" hangingPunct="1">
              <a:buClr>
                <a:srgbClr val="0B61FF"/>
              </a:buClr>
              <a:buSzPct val="120000"/>
            </a:pPr>
            <a:r>
              <a:rPr lang="en-US" altLang="zh-CN" sz="2400" b="1" dirty="0">
                <a:latin typeface="Trebuchet MS" panose="020B0603020202020204" pitchFamily="34" charset="0"/>
              </a:rPr>
              <a:t>Order &lt;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y,x</a:t>
            </a:r>
            <a:r>
              <a:rPr lang="en-US" altLang="zh-CN" sz="2400" b="1" dirty="0">
                <a:latin typeface="Trebuchet MS" panose="020B0603020202020204" pitchFamily="34" charset="0"/>
              </a:rPr>
              <a:t>&gt; </a:t>
            </a:r>
            <a:r>
              <a:rPr lang="zh-CN" altLang="en-US" sz="2400" b="1" dirty="0">
                <a:latin typeface="Trebuchet MS" panose="020B0603020202020204" pitchFamily="34" charset="0"/>
              </a:rPr>
              <a:t>（</a:t>
            </a:r>
            <a:r>
              <a:rPr lang="en-US" altLang="zh-CN" sz="2400" b="1" dirty="0">
                <a:latin typeface="Trebuchet MS" panose="020B0603020202020204" pitchFamily="34" charset="0"/>
              </a:rPr>
              <a:t>when </a:t>
            </a:r>
            <a:r>
              <a:rPr lang="en-US" altLang="zh-CN" sz="2400" b="1" i="1" dirty="0">
                <a:latin typeface="Trebuchet MS" panose="020B0603020202020204" pitchFamily="34" charset="0"/>
              </a:rPr>
              <a:t>x</a:t>
            </a:r>
            <a:r>
              <a:rPr lang="en-US" altLang="zh-CN" sz="2400" b="1" i="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a:t>
            </a:r>
            <a:r>
              <a:rPr lang="zh-CN" altLang="en-US" sz="2400" b="1" dirty="0">
                <a:latin typeface="Trebuchet MS" panose="020B0603020202020204" pitchFamily="34" charset="0"/>
              </a:rPr>
              <a:t>）  </a:t>
            </a:r>
          </a:p>
          <a:p>
            <a:pPr marL="533400" indent="-177800" eaLnBrk="1" hangingPunct="1">
              <a:buClr>
                <a:srgbClr val="0B61FF"/>
              </a:buClr>
              <a:buSzPct val="120000"/>
            </a:pPr>
            <a:r>
              <a:rPr lang="en-US" sz="2400" dirty="0">
                <a:latin typeface="Trebuchet MS" panose="020B0603020202020204" pitchFamily="34" charset="0"/>
              </a:rPr>
              <a:t>The necessary and sufficient condition for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x,y</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u,v</a:t>
            </a:r>
            <a:r>
              <a:rPr lang="en-US" altLang="zh-CN" sz="2400" b="1" dirty="0">
                <a:latin typeface="Trebuchet MS" panose="020B0603020202020204" pitchFamily="34" charset="0"/>
              </a:rPr>
              <a:t>&gt; is </a:t>
            </a:r>
            <a:r>
              <a:rPr lang="zh-CN" altLang="en-US" sz="2400" b="1" dirty="0">
                <a:latin typeface="Trebuchet MS" panose="020B0603020202020204" pitchFamily="34" charset="0"/>
              </a:rPr>
              <a:t>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x,y</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u,v</a:t>
            </a:r>
            <a:r>
              <a:rPr lang="en-US" altLang="zh-CN" sz="2400" b="1" dirty="0">
                <a:latin typeface="Trebuchet MS" panose="020B0603020202020204" pitchFamily="34" charset="0"/>
              </a:rPr>
              <a:t>&gt;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x=u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y=v</a:t>
            </a:r>
          </a:p>
          <a:p>
            <a:pPr marL="711200" indent="-711200" eaLnBrk="1" hangingPunct="1">
              <a:spcBef>
                <a:spcPct val="60000"/>
              </a:spcBef>
              <a:buFontTx/>
              <a:buNone/>
            </a:pPr>
            <a:r>
              <a:rPr lang="en-US" altLang="zh-CN" sz="2400" b="1" dirty="0">
                <a:latin typeface="Trebuchet MS" panose="020B0603020202020204" pitchFamily="34" charset="0"/>
              </a:rPr>
              <a:t>      Example</a:t>
            </a:r>
            <a:r>
              <a:rPr lang="zh-CN" altLang="en-US" sz="2400" b="1" dirty="0">
                <a:latin typeface="Trebuchet MS" panose="020B0603020202020204" pitchFamily="34" charset="0"/>
              </a:rPr>
              <a:t>：</a:t>
            </a:r>
            <a:r>
              <a:rPr lang="en-US" altLang="zh-CN" sz="2400" b="1" dirty="0">
                <a:latin typeface="Trebuchet MS" panose="020B0603020202020204" pitchFamily="34" charset="0"/>
              </a:rPr>
              <a:t> &lt;2,</a:t>
            </a:r>
            <a:r>
              <a:rPr lang="en-US" altLang="zh-CN" sz="2400" b="1" i="1" dirty="0">
                <a:latin typeface="Trebuchet MS" panose="020B0603020202020204" pitchFamily="34" charset="0"/>
              </a:rPr>
              <a:t>x</a:t>
            </a:r>
            <a:r>
              <a:rPr lang="en-US" altLang="zh-CN" sz="2400" b="1" dirty="0">
                <a:latin typeface="Trebuchet MS" panose="020B0603020202020204" pitchFamily="34" charset="0"/>
              </a:rPr>
              <a:t>+5&gt;=&lt;3</a:t>
            </a:r>
            <a:r>
              <a:rPr lang="en-US" altLang="zh-CN" sz="2400" b="1" i="1" dirty="0">
                <a:latin typeface="Trebuchet MS" panose="020B0603020202020204" pitchFamily="34" charset="0"/>
              </a:rPr>
              <a:t>y</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4,</a:t>
            </a:r>
            <a:r>
              <a:rPr lang="en-US" altLang="zh-CN" sz="2400" b="1" i="1" dirty="0">
                <a:latin typeface="Trebuchet MS" panose="020B0603020202020204" pitchFamily="34" charset="0"/>
              </a:rPr>
              <a:t>y</a:t>
            </a:r>
            <a:r>
              <a:rPr lang="en-US" altLang="zh-CN" sz="2400" b="1" dirty="0">
                <a:latin typeface="Trebuchet MS" panose="020B0603020202020204" pitchFamily="34" charset="0"/>
              </a:rPr>
              <a:t>&gt;</a:t>
            </a:r>
            <a:r>
              <a:rPr lang="zh-CN" altLang="en-US" sz="2400" b="1" dirty="0">
                <a:latin typeface="Trebuchet MS" panose="020B0603020202020204" pitchFamily="34" charset="0"/>
              </a:rPr>
              <a:t>，</a:t>
            </a:r>
            <a:r>
              <a:rPr lang="en-US" altLang="zh-CN" sz="2400" b="1" dirty="0">
                <a:latin typeface="Trebuchet MS" panose="020B0603020202020204" pitchFamily="34" charset="0"/>
              </a:rPr>
              <a:t>solve</a:t>
            </a:r>
            <a:r>
              <a:rPr lang="zh-CN" altLang="en-US" sz="2400" b="1" dirty="0">
                <a:latin typeface="Trebuchet MS" panose="020B0603020202020204" pitchFamily="34" charset="0"/>
              </a:rPr>
              <a:t> </a:t>
            </a:r>
            <a:r>
              <a:rPr lang="en-US" altLang="zh-CN" sz="2400" b="1" i="1" dirty="0">
                <a:latin typeface="Trebuchet MS" panose="020B0603020202020204" pitchFamily="34" charset="0"/>
              </a:rPr>
              <a:t>x, y</a:t>
            </a:r>
            <a:r>
              <a:rPr lang="en-US" altLang="zh-CN" sz="2400" b="1" dirty="0">
                <a:latin typeface="Trebuchet MS" panose="020B0603020202020204" pitchFamily="34" charset="0"/>
              </a:rPr>
              <a:t>. </a:t>
            </a:r>
          </a:p>
          <a:p>
            <a:pPr marL="711200" indent="-711200" eaLnBrk="1" hangingPunct="1">
              <a:buFontTx/>
              <a:buNone/>
            </a:pPr>
            <a:r>
              <a:rPr lang="en-US" altLang="zh-CN" sz="2400" b="1" dirty="0">
                <a:latin typeface="Trebuchet MS" panose="020B0603020202020204" pitchFamily="34" charset="0"/>
              </a:rPr>
              <a:t>      Solve</a:t>
            </a:r>
            <a:r>
              <a:rPr lang="zh-CN" altLang="en-US" sz="2400" b="1" dirty="0">
                <a:latin typeface="Trebuchet MS" panose="020B0603020202020204" pitchFamily="34" charset="0"/>
              </a:rPr>
              <a:t>：</a:t>
            </a:r>
            <a:r>
              <a:rPr lang="en-US" altLang="zh-CN" sz="2400" b="1" dirty="0">
                <a:latin typeface="Trebuchet MS" panose="020B0603020202020204" pitchFamily="34" charset="0"/>
              </a:rPr>
              <a:t>3</a:t>
            </a:r>
            <a:r>
              <a:rPr lang="en-US" altLang="zh-CN" sz="2400" b="1" i="1" dirty="0">
                <a:latin typeface="Trebuchet MS" panose="020B0603020202020204" pitchFamily="34" charset="0"/>
              </a:rPr>
              <a:t>y</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4=2, </a:t>
            </a:r>
            <a:r>
              <a:rPr lang="en-US" altLang="zh-CN" sz="2400" b="1" i="1" dirty="0">
                <a:latin typeface="Trebuchet MS" panose="020B0603020202020204" pitchFamily="34" charset="0"/>
              </a:rPr>
              <a:t>x</a:t>
            </a:r>
            <a:r>
              <a:rPr lang="en-US" altLang="zh-CN" sz="2400" b="1" dirty="0">
                <a:latin typeface="Trebuchet MS" panose="020B0603020202020204" pitchFamily="34" charset="0"/>
              </a:rPr>
              <a:t>+5=</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y</a:t>
            </a:r>
            <a:r>
              <a:rPr lang="en-US" altLang="zh-CN" sz="2400" b="1" dirty="0">
                <a:latin typeface="Trebuchet MS" panose="020B0603020202020204" pitchFamily="34" charset="0"/>
                <a:sym typeface="Symbol" panose="05050102010706020507" pitchFamily="18" charset="2"/>
              </a:rPr>
              <a:t>=2, </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 3 </a:t>
            </a:r>
            <a:r>
              <a:rPr lang="en-US" altLang="zh-CN" sz="2400" b="1" dirty="0">
                <a:latin typeface="Trebuchet MS" panose="020B0603020202020204" pitchFamily="34" charset="0"/>
              </a:rPr>
              <a:t> </a:t>
            </a:r>
            <a:endParaRPr lang="zh-CN" altLang="en-US" b="1" dirty="0">
              <a:latin typeface="Trebuchet MS" panose="020B0603020202020204" pitchFamily="34" charset="0"/>
            </a:endParaRPr>
          </a:p>
        </p:txBody>
      </p:sp>
      <p:pic>
        <p:nvPicPr>
          <p:cNvPr id="4" name="图片 3">
            <a:extLst>
              <a:ext uri="{FF2B5EF4-FFF2-40B4-BE49-F238E27FC236}">
                <a16:creationId xmlns:a16="http://schemas.microsoft.com/office/drawing/2014/main" id="{8CBECE4B-5908-4827-B26C-7921AF7F7F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8506" y="2449251"/>
            <a:ext cx="576355" cy="257697"/>
          </a:xfrm>
          <a:prstGeom prst="rect">
            <a:avLst/>
          </a:prstGeom>
        </p:spPr>
      </p:pic>
      <p:pic>
        <p:nvPicPr>
          <p:cNvPr id="10" name="图片 9">
            <a:extLst>
              <a:ext uri="{FF2B5EF4-FFF2-40B4-BE49-F238E27FC236}">
                <a16:creationId xmlns:a16="http://schemas.microsoft.com/office/drawing/2014/main" id="{3A669966-3352-4DDF-B894-8112C84680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706" y="5243251"/>
            <a:ext cx="576355" cy="257697"/>
          </a:xfrm>
          <a:prstGeom prst="rect">
            <a:avLst/>
          </a:prstGeom>
        </p:spPr>
      </p:pic>
    </p:spTree>
    <p:extLst>
      <p:ext uri="{BB962C8B-B14F-4D97-AF65-F5344CB8AC3E}">
        <p14:creationId xmlns:p14="http://schemas.microsoft.com/office/powerpoint/2010/main" val="528481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1000"/>
                                        <p:tgtEl>
                                          <p:spTgt spid="8">
                                            <p:txEl>
                                              <p:pRg st="2" end="2"/>
                                            </p:txEl>
                                          </p:spTgt>
                                        </p:tgtEl>
                                      </p:cBhvr>
                                    </p:animEffect>
                                    <p:anim calcmode="lin" valueType="num">
                                      <p:cBhvr>
                                        <p:cTn id="1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fade">
                                      <p:cBhvr>
                                        <p:cTn id="38" dur="1000"/>
                                        <p:tgtEl>
                                          <p:spTgt spid="8">
                                            <p:txEl>
                                              <p:pRg st="5" end="5"/>
                                            </p:txEl>
                                          </p:spTgt>
                                        </p:tgtEl>
                                      </p:cBhvr>
                                    </p:animEffect>
                                    <p:anim calcmode="lin" valueType="num">
                                      <p:cBhvr>
                                        <p:cTn id="3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Effect transition="in" filter="fade">
                                      <p:cBhvr>
                                        <p:cTn id="43" dur="1000"/>
                                        <p:tgtEl>
                                          <p:spTgt spid="8">
                                            <p:txEl>
                                              <p:pRg st="6" end="6"/>
                                            </p:txEl>
                                          </p:spTgt>
                                        </p:tgtEl>
                                      </p:cBhvr>
                                    </p:animEffect>
                                    <p:anim calcmode="lin" valueType="num">
                                      <p:cBhvr>
                                        <p:cTn id="4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dirty="0">
                <a:latin typeface="Trebuchet MS" panose="020B0603020202020204" pitchFamily="34" charset="0"/>
                <a:ea typeface="宋体" panose="02010600030101010101" pitchFamily="2" charset="-122"/>
                <a:cs typeface="Times New Roman" panose="02020603050405020304" pitchFamily="18" charset="0"/>
              </a:rPr>
              <a:t>              4.1 Definition and Representation of Relations</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4.1.1 Ordered Pairs and Cartesian Product</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 Cartesian Product</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25853" y="1057276"/>
            <a:ext cx="8798289" cy="50133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4.2-</a:t>
            </a:r>
            <a:r>
              <a:rPr lang="en-US" altLang="zh-CN" sz="2400" dirty="0">
                <a:latin typeface="Trebuchet MS" panose="020B0603020202020204" pitchFamily="34" charset="0"/>
              </a:rPr>
              <a:t> </a:t>
            </a:r>
            <a:r>
              <a:rPr lang="en-US" altLang="zh-CN" sz="2400" b="1" dirty="0">
                <a:latin typeface="Trebuchet MS" panose="020B0603020202020204" pitchFamily="34" charset="0"/>
              </a:rPr>
              <a:t>Cartesian product </a:t>
            </a:r>
            <a:endParaRPr lang="en-US" sz="2400" b="1" dirty="0">
              <a:latin typeface="Trebuchet MS" panose="020B0603020202020204" pitchFamily="34" charset="0"/>
            </a:endParaRPr>
          </a:p>
          <a:p>
            <a:pPr marL="0" indent="0" eaLnBrk="1" hangingPunct="1">
              <a:lnSpc>
                <a:spcPct val="130000"/>
              </a:lnSpc>
              <a:spcBef>
                <a:spcPts val="300"/>
              </a:spcBef>
              <a:buFontTx/>
              <a:buNone/>
            </a:pPr>
            <a:r>
              <a:rPr lang="en-US" sz="2400" dirty="0">
                <a:latin typeface="Trebuchet MS" panose="020B0603020202020204" pitchFamily="34" charset="0"/>
              </a:rPr>
              <a:t>Let A and B be sets, the Cartesian product of A and B is denoted as A×B,</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marL="0" indent="0" eaLnBrk="1" hangingPunct="1">
              <a:lnSpc>
                <a:spcPct val="130000"/>
              </a:lnSpc>
              <a:spcBef>
                <a:spcPts val="300"/>
              </a:spcBef>
              <a:buFontTx/>
              <a:buNone/>
            </a:pP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 </a:t>
            </a:r>
            <a:r>
              <a:rPr kumimoji="0" lang="en-US" altLang="zh-CN" sz="2400" b="1" dirty="0">
                <a:latin typeface="Trebuchet MS" panose="020B0603020202020204" pitchFamily="34" charset="0"/>
              </a:rPr>
              <a:t>= {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 |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A</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B</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a:t>
            </a:r>
          </a:p>
          <a:p>
            <a:pPr eaLnBrk="1" hangingPunct="1">
              <a:lnSpc>
                <a:spcPct val="130000"/>
              </a:lnSpc>
              <a:spcBef>
                <a:spcPts val="300"/>
              </a:spcBef>
              <a:buFontTx/>
              <a:buNone/>
            </a:pPr>
            <a:endParaRPr kumimoji="0" lang="zh-CN" altLang="en-US" sz="2400" b="1" dirty="0">
              <a:solidFill>
                <a:srgbClr val="800000"/>
              </a:solidFill>
              <a:latin typeface="Trebuchet MS" panose="020B0603020202020204" pitchFamily="34" charset="0"/>
            </a:endParaRPr>
          </a:p>
          <a:p>
            <a:pPr eaLnBrk="1" hangingPunct="1">
              <a:lnSpc>
                <a:spcPct val="130000"/>
              </a:lnSpc>
              <a:spcBef>
                <a:spcPts val="300"/>
              </a:spcBef>
              <a:buFontTx/>
              <a:buNone/>
            </a:pPr>
            <a:r>
              <a:rPr kumimoji="0" lang="en-US" altLang="zh-CN" sz="2400" b="1" dirty="0">
                <a:solidFill>
                  <a:srgbClr val="00B0F0"/>
                </a:solidFill>
                <a:latin typeface="Trebuchet MS" panose="020B0603020202020204" pitchFamily="34" charset="0"/>
              </a:rPr>
              <a:t>      </a:t>
            </a: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a:t>
            </a:r>
            <a:r>
              <a:rPr kumimoji="0" lang="en-US" altLang="zh-CN" sz="2400" b="1" dirty="0">
                <a:solidFill>
                  <a:srgbClr val="00B0F0"/>
                </a:solidFill>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 1},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p>
          <a:p>
            <a:pPr eaLnBrk="1" hangingPunct="1">
              <a:lnSpc>
                <a:spcPct val="130000"/>
              </a:lnSpc>
              <a:spcBef>
                <a:spcPts val="3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{&lt;0,</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&gt;,&lt;0,</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&gt;,&lt;0,</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&gt;,&lt;1,</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&gt;,&lt;1,</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&gt;,&lt;1,</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&gt;} </a:t>
            </a:r>
          </a:p>
          <a:p>
            <a:pPr eaLnBrk="1" hangingPunct="1">
              <a:lnSpc>
                <a:spcPct val="130000"/>
              </a:lnSpc>
              <a:spcBef>
                <a:spcPts val="3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,0&gt;,&lt;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,0&gt;,&lt;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,0&gt;,&lt;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,1&gt;,&lt;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,1&gt;,&lt;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,1&gt;}</a:t>
            </a:r>
            <a:r>
              <a:rPr kumimoji="0" lang="en-US" altLang="zh-CN" sz="2400" b="1" dirty="0">
                <a:solidFill>
                  <a:srgbClr val="FF0000"/>
                </a:solidFill>
                <a:latin typeface="Trebuchet MS" panose="020B0603020202020204" pitchFamily="34" charset="0"/>
              </a:rPr>
              <a:t>     </a:t>
            </a:r>
            <a:endParaRPr lang="zh-CN" altLang="en-US" sz="2400" b="1" dirty="0">
              <a:latin typeface="Trebuchet MS" panose="020B0603020202020204" pitchFamily="34" charset="0"/>
            </a:endParaRPr>
          </a:p>
          <a:p>
            <a:pPr lvl="1">
              <a:lnSpc>
                <a:spcPct val="130000"/>
              </a:lnSpc>
              <a:spcBef>
                <a:spcPts val="300"/>
              </a:spcBef>
            </a:pPr>
            <a:endParaRPr lang="zh-CN" altLang="en-US" b="1" dirty="0">
              <a:latin typeface="Trebuchet MS" panose="020B0603020202020204" pitchFamily="34" charset="0"/>
            </a:endParaRPr>
          </a:p>
        </p:txBody>
      </p:sp>
      <p:pic>
        <p:nvPicPr>
          <p:cNvPr id="9" name="图片 8">
            <a:extLst>
              <a:ext uri="{FF2B5EF4-FFF2-40B4-BE49-F238E27FC236}">
                <a16:creationId xmlns:a16="http://schemas.microsoft.com/office/drawing/2014/main" id="{80961969-E006-4789-BA77-B1943CD2DB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7106" y="3833551"/>
            <a:ext cx="576355" cy="257697"/>
          </a:xfrm>
          <a:prstGeom prst="rect">
            <a:avLst/>
          </a:prstGeom>
        </p:spPr>
      </p:pic>
    </p:spTree>
    <p:extLst>
      <p:ext uri="{BB962C8B-B14F-4D97-AF65-F5344CB8AC3E}">
        <p14:creationId xmlns:p14="http://schemas.microsoft.com/office/powerpoint/2010/main" val="17877364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1000"/>
                                        <p:tgtEl>
                                          <p:spTgt spid="8">
                                            <p:txEl>
                                              <p:pRg st="6" end="6"/>
                                            </p:txEl>
                                          </p:spTgt>
                                        </p:tgtEl>
                                      </p:cBhvr>
                                    </p:animEffect>
                                    <p:anim calcmode="lin" valueType="num">
                                      <p:cBhvr>
                                        <p:cTn id="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600" dirty="0">
                <a:latin typeface="Trebuchet MS" panose="020B0603020202020204" pitchFamily="34" charset="0"/>
              </a:rPr>
              <a:t>                </a:t>
            </a:r>
            <a:r>
              <a:rPr lang="en-US" altLang="zh-CN" sz="2000" b="1" dirty="0">
                <a:latin typeface="Trebuchet MS" panose="020B0603020202020204" pitchFamily="34" charset="0"/>
              </a:rPr>
              <a:t>4.1.1 Ordered Pairs and Cartesian Product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Properties of the Cartesian Product</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822925"/>
            <a:ext cx="9339482" cy="55393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Empty Set Interaction</a:t>
            </a:r>
            <a:r>
              <a:rPr lang="zh-CN" altLang="en-US" sz="2400" dirty="0">
                <a:latin typeface="Trebuchet MS" panose="020B0603020202020204" pitchFamily="34" charset="0"/>
              </a:rPr>
              <a:t>：</a:t>
            </a:r>
            <a:r>
              <a:rPr lang="en-US" altLang="zh-CN" sz="2400" dirty="0">
                <a:latin typeface="Trebuchet MS" panose="020B0603020202020204" pitchFamily="34" charset="0"/>
              </a:rPr>
              <a:t>If either A or B is an empty set, then A×B is the empty set</a:t>
            </a:r>
            <a:r>
              <a:rPr lang="en-US" altLang="zh-CN" sz="2400" b="1" dirty="0">
                <a:latin typeface="Trebuchet MS" panose="020B0603020202020204" pitchFamily="34" charset="0"/>
              </a:rPr>
              <a:t>.</a:t>
            </a:r>
            <a:r>
              <a:rPr kumimoji="0" lang="en-US" altLang="zh-CN" sz="2400" b="1" i="1" dirty="0">
                <a:latin typeface="Trebuchet MS" panose="020B0603020202020204" pitchFamily="34" charset="0"/>
              </a:rPr>
              <a:t>       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p>
          <a:p>
            <a:pPr>
              <a:lnSpc>
                <a:spcPct val="100000"/>
              </a:lnSpc>
              <a:spcBef>
                <a:spcPts val="2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Not suitable for the commutative property</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marL="0" indent="0">
              <a:lnSpc>
                <a:spcPct val="100000"/>
              </a:lnSpc>
              <a:spcBef>
                <a:spcPts val="200"/>
              </a:spcBef>
              <a:buClr>
                <a:srgbClr val="0B61FF"/>
              </a:buClr>
              <a:buSzPct val="80000"/>
              <a:buNone/>
            </a:pPr>
            <a:r>
              <a:rPr kumimoji="0" lang="zh-CN" altLang="en-US" sz="2400"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i="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p>
          <a:p>
            <a:pPr>
              <a:lnSpc>
                <a:spcPct val="100000"/>
              </a:lnSpc>
              <a:spcBef>
                <a:spcPts val="2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Not suitable for the associative property</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marL="0" indent="0">
              <a:lnSpc>
                <a:spcPct val="100000"/>
              </a:lnSpc>
              <a:spcBef>
                <a:spcPts val="200"/>
              </a:spcBef>
              <a:buClr>
                <a:srgbClr val="0B61FF"/>
              </a:buClr>
              <a:buSzPct val="80000"/>
              <a:buNone/>
            </a:pPr>
            <a:r>
              <a:rPr kumimoji="0" lang="zh-CN" altLang="en-US" sz="2400" b="1" dirty="0">
                <a:solidFill>
                  <a:srgbClr val="FF0000"/>
                </a:solidFill>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sym typeface="Symbol" panose="05050102010706020507" pitchFamily="18" charset="2"/>
              </a:rPr>
              <a:t>C</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p>
          <a:p>
            <a:pPr>
              <a:lnSpc>
                <a:spcPct val="100000"/>
              </a:lnSpc>
              <a:spcBef>
                <a:spcPts val="2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The union and intersection operations satisfy the distributive property.</a:t>
            </a:r>
          </a:p>
          <a:p>
            <a:pPr>
              <a:lnSpc>
                <a:spcPct val="100000"/>
              </a:lnSpc>
              <a:spcBef>
                <a:spcPts val="200"/>
              </a:spcBef>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p>
          <a:p>
            <a:pPr eaLnBrk="1" hangingPunct="1">
              <a:lnSpc>
                <a:spcPct val="100000"/>
              </a:lnSpc>
              <a:spcBef>
                <a:spcPts val="2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p>
          <a:p>
            <a:pPr eaLnBrk="1" hangingPunct="1">
              <a:lnSpc>
                <a:spcPct val="100000"/>
              </a:lnSpc>
              <a:spcBef>
                <a:spcPts val="2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p>
          <a:p>
            <a:pPr eaLnBrk="1" hangingPunct="1">
              <a:lnSpc>
                <a:spcPct val="100000"/>
              </a:lnSpc>
              <a:spcBef>
                <a:spcPts val="2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p>
          <a:p>
            <a:pPr>
              <a:lnSpc>
                <a:spcPct val="100000"/>
              </a:lnSpc>
              <a:spcBef>
                <a:spcPts val="2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‌Cardinality Multiplication Property</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marL="0" indent="0">
              <a:lnSpc>
                <a:spcPct val="100000"/>
              </a:lnSpc>
              <a:spcBef>
                <a:spcPts val="200"/>
              </a:spcBef>
              <a:buClr>
                <a:srgbClr val="0B61FF"/>
              </a:buClr>
              <a:buSzPct val="80000"/>
              <a:buNone/>
            </a:pPr>
            <a:r>
              <a:rPr lang="en-US" altLang="zh-CN" sz="2400" dirty="0">
                <a:latin typeface="Trebuchet MS" panose="020B0603020202020204" pitchFamily="34" charset="0"/>
              </a:rPr>
              <a:t>       If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r>
              <a:rPr lang="en-US" altLang="zh-CN" sz="2400" b="1" i="1" dirty="0">
                <a:latin typeface="Trebuchet MS" panose="020B0603020202020204" pitchFamily="34" charset="0"/>
              </a:rPr>
              <a:t>m</a:t>
            </a:r>
            <a:r>
              <a:rPr lang="en-US" altLang="zh-CN" sz="2400" dirty="0">
                <a:latin typeface="Trebuchet MS" panose="020B0603020202020204" pitchFamily="34" charset="0"/>
              </a:rPr>
              <a:t>, |</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r>
              <a:rPr lang="en-US" altLang="zh-CN" sz="2400" b="1" i="1" dirty="0">
                <a:latin typeface="Trebuchet MS" panose="020B0603020202020204" pitchFamily="34" charset="0"/>
              </a:rPr>
              <a:t>n</a:t>
            </a:r>
            <a:r>
              <a:rPr lang="en-US" altLang="zh-CN" sz="2400" dirty="0">
                <a:latin typeface="Trebuchet MS" panose="020B0603020202020204" pitchFamily="34" charset="0"/>
              </a:rPr>
              <a:t>, then</a:t>
            </a:r>
            <a:r>
              <a:rPr lang="zh-CN" altLang="en-US" sz="2400" dirty="0">
                <a:latin typeface="Trebuchet MS" panose="020B0603020202020204" pitchFamily="34" charset="0"/>
              </a:rPr>
              <a:t> </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r>
              <a:rPr lang="en-US" altLang="zh-CN" sz="2400" b="1" i="1" dirty="0" err="1">
                <a:latin typeface="Trebuchet MS" panose="020B0603020202020204" pitchFamily="34" charset="0"/>
              </a:rPr>
              <a:t>mn</a:t>
            </a:r>
            <a:endParaRPr lang="zh-CN" altLang="en-US" b="1" i="1" dirty="0">
              <a:latin typeface="Trebuchet MS" panose="020B0603020202020204" pitchFamily="34" charset="0"/>
            </a:endParaRPr>
          </a:p>
        </p:txBody>
      </p:sp>
    </p:spTree>
    <p:extLst>
      <p:ext uri="{BB962C8B-B14F-4D97-AF65-F5344CB8AC3E}">
        <p14:creationId xmlns:p14="http://schemas.microsoft.com/office/powerpoint/2010/main" val="2036915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animEffect transition="in" filter="fade">
                                      <p:cBhvr>
                                        <p:cTn id="41" dur="1000"/>
                                        <p:tgtEl>
                                          <p:spTgt spid="8">
                                            <p:txEl>
                                              <p:pRg st="7" end="7"/>
                                            </p:txEl>
                                          </p:spTgt>
                                        </p:tgtEl>
                                      </p:cBhvr>
                                    </p:animEffect>
                                    <p:anim calcmode="lin" valueType="num">
                                      <p:cBhvr>
                                        <p:cTn id="4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8">
                                            <p:txEl>
                                              <p:pRg st="8" end="8"/>
                                            </p:txEl>
                                          </p:spTgt>
                                        </p:tgtEl>
                                        <p:attrNameLst>
                                          <p:attrName>style.visibility</p:attrName>
                                        </p:attrNameLst>
                                      </p:cBhvr>
                                      <p:to>
                                        <p:strVal val="visible"/>
                                      </p:to>
                                    </p:set>
                                    <p:animEffect transition="in" filter="fade">
                                      <p:cBhvr>
                                        <p:cTn id="46" dur="1000"/>
                                        <p:tgtEl>
                                          <p:spTgt spid="8">
                                            <p:txEl>
                                              <p:pRg st="8" end="8"/>
                                            </p:txEl>
                                          </p:spTgt>
                                        </p:tgtEl>
                                      </p:cBhvr>
                                    </p:animEffect>
                                    <p:anim calcmode="lin" valueType="num">
                                      <p:cBhvr>
                                        <p:cTn id="4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8">
                                            <p:txEl>
                                              <p:pRg st="9" end="9"/>
                                            </p:txEl>
                                          </p:spTgt>
                                        </p:tgtEl>
                                        <p:attrNameLst>
                                          <p:attrName>style.visibility</p:attrName>
                                        </p:attrNameLst>
                                      </p:cBhvr>
                                      <p:to>
                                        <p:strVal val="visible"/>
                                      </p:to>
                                    </p:set>
                                    <p:animEffect transition="in" filter="fade">
                                      <p:cBhvr>
                                        <p:cTn id="51" dur="1000"/>
                                        <p:tgtEl>
                                          <p:spTgt spid="8">
                                            <p:txEl>
                                              <p:pRg st="9" end="9"/>
                                            </p:txEl>
                                          </p:spTgt>
                                        </p:tgtEl>
                                      </p:cBhvr>
                                    </p:animEffect>
                                    <p:anim calcmode="lin" valueType="num">
                                      <p:cBhvr>
                                        <p:cTn id="52"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3"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8">
                                            <p:txEl>
                                              <p:pRg st="10" end="10"/>
                                            </p:txEl>
                                          </p:spTgt>
                                        </p:tgtEl>
                                        <p:attrNameLst>
                                          <p:attrName>style.visibility</p:attrName>
                                        </p:attrNameLst>
                                      </p:cBhvr>
                                      <p:to>
                                        <p:strVal val="visible"/>
                                      </p:to>
                                    </p:set>
                                    <p:animEffect transition="in" filter="fade">
                                      <p:cBhvr>
                                        <p:cTn id="58" dur="1000"/>
                                        <p:tgtEl>
                                          <p:spTgt spid="8">
                                            <p:txEl>
                                              <p:pRg st="10" end="10"/>
                                            </p:txEl>
                                          </p:spTgt>
                                        </p:tgtEl>
                                      </p:cBhvr>
                                    </p:animEffect>
                                    <p:anim calcmode="lin" valueType="num">
                                      <p:cBhvr>
                                        <p:cTn id="59"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60"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8">
                                            <p:txEl>
                                              <p:pRg st="11" end="11"/>
                                            </p:txEl>
                                          </p:spTgt>
                                        </p:tgtEl>
                                        <p:attrNameLst>
                                          <p:attrName>style.visibility</p:attrName>
                                        </p:attrNameLst>
                                      </p:cBhvr>
                                      <p:to>
                                        <p:strVal val="visible"/>
                                      </p:to>
                                    </p:set>
                                    <p:animEffect transition="in" filter="fade">
                                      <p:cBhvr>
                                        <p:cTn id="65" dur="1000"/>
                                        <p:tgtEl>
                                          <p:spTgt spid="8">
                                            <p:txEl>
                                              <p:pRg st="11" end="11"/>
                                            </p:txEl>
                                          </p:spTgt>
                                        </p:tgtEl>
                                      </p:cBhvr>
                                    </p:animEffect>
                                    <p:anim calcmode="lin" valueType="num">
                                      <p:cBhvr>
                                        <p:cTn id="66"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67"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4.1.1 Ordered Pairs and Cartesian Product</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n-dimensional Cartesian product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765175"/>
            <a:ext cx="8622845" cy="45383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4.3</a:t>
            </a:r>
            <a:r>
              <a:rPr lang="zh-CN" altLang="en-US" sz="2400" b="1" dirty="0">
                <a:latin typeface="Trebuchet MS" panose="020B0603020202020204" pitchFamily="34" charset="0"/>
              </a:rPr>
              <a:t>：</a:t>
            </a:r>
            <a:r>
              <a:rPr lang="en-US" altLang="zh-CN" sz="2400" dirty="0">
                <a:latin typeface="Trebuchet MS" panose="020B0603020202020204" pitchFamily="34" charset="0"/>
              </a:rPr>
              <a:t>n-dimensional Cartesian product</a:t>
            </a:r>
            <a:br>
              <a:rPr lang="en-US" sz="2400" dirty="0">
                <a:latin typeface="Trebuchet MS" panose="020B0603020202020204" pitchFamily="34" charset="0"/>
              </a:rPr>
            </a:br>
            <a:r>
              <a:rPr lang="en-US" sz="2400" dirty="0">
                <a:solidFill>
                  <a:srgbClr val="0B5BFF"/>
                </a:solidFill>
                <a:latin typeface="Trebuchet MS" panose="020B0603020202020204" pitchFamily="34" charset="0"/>
              </a:rPr>
              <a:t>(1) </a:t>
            </a:r>
            <a:r>
              <a:rPr lang="en-US" sz="2400" dirty="0">
                <a:latin typeface="Trebuchet MS" panose="020B0603020202020204" pitchFamily="34" charset="0"/>
              </a:rPr>
              <a:t>An ordered n-tuple is formed by arranging n elements </a:t>
            </a:r>
            <a:r>
              <a:rPr lang="en-US" sz="2400" b="1" i="1" dirty="0">
                <a:latin typeface="Trebuchet MS" panose="020B0603020202020204" pitchFamily="34" charset="0"/>
              </a:rPr>
              <a:t>x</a:t>
            </a:r>
            <a:r>
              <a:rPr lang="en-US" sz="2400" b="1" baseline="-25000" dirty="0">
                <a:latin typeface="Trebuchet MS" panose="020B0603020202020204" pitchFamily="34" charset="0"/>
              </a:rPr>
              <a:t>1</a:t>
            </a:r>
            <a:r>
              <a:rPr lang="en-US" sz="2400" b="1" dirty="0">
                <a:latin typeface="Trebuchet MS" panose="020B0603020202020204" pitchFamily="34" charset="0"/>
              </a:rPr>
              <a:t>,</a:t>
            </a:r>
            <a:r>
              <a:rPr lang="en-US" sz="2400" b="1" i="1" dirty="0">
                <a:latin typeface="Trebuchet MS" panose="020B0603020202020204" pitchFamily="34" charset="0"/>
              </a:rPr>
              <a:t>x</a:t>
            </a:r>
            <a:r>
              <a:rPr lang="en-US" sz="2400" b="1" baseline="-25000" dirty="0">
                <a:latin typeface="Trebuchet MS" panose="020B0603020202020204" pitchFamily="34" charset="0"/>
              </a:rPr>
              <a:t>2</a:t>
            </a:r>
            <a:r>
              <a:rPr lang="en-US" sz="2400" dirty="0">
                <a:latin typeface="Trebuchet MS" panose="020B0603020202020204" pitchFamily="34" charset="0"/>
              </a:rPr>
              <a:t>,…, ​ in a specific order, denoted as </a:t>
            </a:r>
            <a:r>
              <a:rPr lang="en-US"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sz="2400" b="1" i="1" dirty="0" err="1">
                <a:latin typeface="Trebuchet MS" panose="020B0603020202020204" pitchFamily="34" charset="0"/>
              </a:rPr>
              <a:t>x</a:t>
            </a:r>
            <a:r>
              <a:rPr lang="en-US" sz="2400" b="1" baseline="-25000" dirty="0" err="1">
                <a:latin typeface="Trebuchet MS" panose="020B0603020202020204" pitchFamily="34" charset="0"/>
              </a:rPr>
              <a:t>n</a:t>
            </a:r>
            <a:r>
              <a:rPr lang="en-US" sz="2400" b="1" dirty="0">
                <a:latin typeface="Trebuchet MS" panose="020B0603020202020204" pitchFamily="34" charset="0"/>
              </a:rPr>
              <a:t>⟩</a:t>
            </a:r>
            <a:br>
              <a:rPr lang="en-US" sz="2400" b="1" dirty="0">
                <a:latin typeface="Trebuchet MS" panose="020B0603020202020204" pitchFamily="34" charset="0"/>
              </a:rPr>
            </a:br>
            <a:r>
              <a:rPr lang="en-US" sz="2400" dirty="0">
                <a:solidFill>
                  <a:srgbClr val="0B5BFF"/>
                </a:solidFill>
                <a:latin typeface="Trebuchet MS" panose="020B0603020202020204" pitchFamily="34" charset="0"/>
              </a:rPr>
              <a:t>(2) </a:t>
            </a:r>
            <a:r>
              <a:rPr lang="en-US" sz="2400" dirty="0">
                <a:latin typeface="Trebuchet MS" panose="020B0603020202020204" pitchFamily="34" charset="0"/>
              </a:rPr>
              <a:t>Let </a:t>
            </a:r>
            <a:r>
              <a:rPr lang="en-US" sz="2400" b="1" i="1" dirty="0">
                <a:latin typeface="Trebuchet MS" panose="020B0603020202020204" pitchFamily="34" charset="0"/>
              </a:rPr>
              <a:t>A</a:t>
            </a:r>
            <a:r>
              <a:rPr lang="en-US" sz="2400" b="1" baseline="-25000" dirty="0">
                <a:latin typeface="Trebuchet MS" panose="020B0603020202020204" pitchFamily="34" charset="0"/>
              </a:rPr>
              <a:t>1</a:t>
            </a:r>
            <a:r>
              <a:rPr lang="en-US" sz="2400" dirty="0">
                <a:latin typeface="Trebuchet MS" panose="020B0603020202020204" pitchFamily="34" charset="0"/>
              </a:rPr>
              <a:t>,</a:t>
            </a:r>
            <a:r>
              <a:rPr lang="en-US" sz="2400" b="1" i="1" dirty="0">
                <a:latin typeface="Trebuchet MS" panose="020B0603020202020204" pitchFamily="34" charset="0"/>
              </a:rPr>
              <a:t>A</a:t>
            </a:r>
            <a:r>
              <a:rPr lang="en-US" sz="2400" b="1" baseline="-25000" dirty="0">
                <a:latin typeface="Trebuchet MS" panose="020B0603020202020204" pitchFamily="34" charset="0"/>
              </a:rPr>
              <a:t>2</a:t>
            </a:r>
            <a:r>
              <a:rPr lang="en-US" sz="2400" dirty="0">
                <a:latin typeface="Trebuchet MS" panose="020B0603020202020204" pitchFamily="34" charset="0"/>
              </a:rPr>
              <a:t>,…,</a:t>
            </a:r>
            <a:r>
              <a:rPr lang="en-US" altLang="zh-CN" sz="1600" dirty="0"/>
              <a:t> </a:t>
            </a:r>
            <a:r>
              <a:rPr lang="en-US" altLang="zh-CN" sz="2400" dirty="0">
                <a:latin typeface="Trebuchet MS" panose="020B0603020202020204" pitchFamily="34" charset="0"/>
              </a:rPr>
              <a:t>be sets.</a:t>
            </a:r>
            <a:r>
              <a:rPr lang="en-US" sz="2400" dirty="0">
                <a:latin typeface="Trebuchet MS" panose="020B0603020202020204" pitchFamily="34" charset="0"/>
              </a:rPr>
              <a:t>, </a:t>
            </a:r>
            <a:r>
              <a:rPr lang="en-US" altLang="zh-CN" sz="2400" dirty="0">
                <a:latin typeface="Trebuchet MS" panose="020B0603020202020204" pitchFamily="34" charset="0"/>
              </a:rPr>
              <a:t>Then the Cartesian product</a:t>
            </a:r>
            <a:br>
              <a:rPr lang="en-US" sz="2400" dirty="0">
                <a:latin typeface="Trebuchet MS" panose="020B0603020202020204" pitchFamily="34" charset="0"/>
              </a:rPr>
            </a:br>
            <a:r>
              <a:rPr lang="en-US" sz="2400" b="1" i="1" dirty="0">
                <a:latin typeface="Trebuchet MS" panose="020B0603020202020204" pitchFamily="34" charset="0"/>
              </a:rPr>
              <a:t>A</a:t>
            </a:r>
            <a:r>
              <a:rPr lang="en-US" sz="2400" b="1" baseline="-25000" dirty="0">
                <a:latin typeface="Trebuchet MS" panose="020B0603020202020204" pitchFamily="34" charset="0"/>
              </a:rPr>
              <a:t>1</a:t>
            </a:r>
            <a:r>
              <a:rPr lang="en-US" sz="2400" dirty="0">
                <a:latin typeface="Trebuchet MS" panose="020B0603020202020204" pitchFamily="34" charset="0"/>
              </a:rPr>
              <a:t>×</a:t>
            </a:r>
            <a:r>
              <a:rPr lang="en-US" sz="2400" b="1" i="1" dirty="0">
                <a:latin typeface="Trebuchet MS" panose="020B0603020202020204" pitchFamily="34" charset="0"/>
              </a:rPr>
              <a:t>A</a:t>
            </a:r>
            <a:r>
              <a:rPr lang="en-US" sz="2400" b="1" baseline="-25000" dirty="0">
                <a:latin typeface="Trebuchet MS" panose="020B0603020202020204" pitchFamily="34" charset="0"/>
              </a:rPr>
              <a:t>2</a:t>
            </a:r>
            <a:r>
              <a:rPr lang="en-US" sz="2400" dirty="0">
                <a:latin typeface="Trebuchet MS" panose="020B0603020202020204" pitchFamily="34" charset="0"/>
              </a:rPr>
              <a:t>×⋯×</a:t>
            </a:r>
            <a:r>
              <a:rPr lang="en-US" sz="2400" b="1" i="1" dirty="0">
                <a:latin typeface="Trebuchet MS" panose="020B0603020202020204" pitchFamily="34" charset="0"/>
              </a:rPr>
              <a:t>A</a:t>
            </a:r>
            <a:r>
              <a:rPr lang="en-US" sz="2400" b="1" baseline="-25000" dirty="0">
                <a:latin typeface="Trebuchet MS" panose="020B0603020202020204" pitchFamily="34" charset="0"/>
              </a:rPr>
              <a:t>n</a:t>
            </a:r>
            <a:r>
              <a:rPr lang="en-US" sz="2400" dirty="0">
                <a:latin typeface="Trebuchet MS" panose="020B0603020202020204" pitchFamily="34" charset="0"/>
              </a:rPr>
              <a:t>={⟨</a:t>
            </a:r>
            <a:r>
              <a:rPr lang="en-US" sz="2400" b="1" i="1" dirty="0">
                <a:latin typeface="Trebuchet MS" panose="020B0603020202020204" pitchFamily="34" charset="0"/>
              </a:rPr>
              <a:t>x</a:t>
            </a:r>
            <a:r>
              <a:rPr lang="en-US" sz="2400" b="1" baseline="-25000" dirty="0">
                <a:latin typeface="Trebuchet MS" panose="020B0603020202020204" pitchFamily="34" charset="0"/>
              </a:rPr>
              <a:t>1</a:t>
            </a:r>
            <a:r>
              <a:rPr lang="en-US" sz="2400" dirty="0">
                <a:latin typeface="Trebuchet MS" panose="020B0603020202020204" pitchFamily="34" charset="0"/>
              </a:rPr>
              <a:t>,</a:t>
            </a:r>
            <a:r>
              <a:rPr lang="en-US" sz="2400" b="1" i="1" dirty="0">
                <a:latin typeface="Trebuchet MS" panose="020B0603020202020204" pitchFamily="34" charset="0"/>
              </a:rPr>
              <a:t>x</a:t>
            </a:r>
            <a:r>
              <a:rPr lang="en-US" sz="2400" b="1" baseline="-25000" dirty="0">
                <a:latin typeface="Trebuchet MS" panose="020B0603020202020204" pitchFamily="34" charset="0"/>
              </a:rPr>
              <a:t>2</a:t>
            </a:r>
            <a:r>
              <a:rPr lang="en-US" sz="2400" dirty="0">
                <a:latin typeface="Trebuchet MS" panose="020B0603020202020204" pitchFamily="34" charset="0"/>
              </a:rPr>
              <a:t>,…,</a:t>
            </a:r>
            <a:r>
              <a:rPr lang="en-US" sz="2400" b="1" i="1" dirty="0" err="1">
                <a:latin typeface="Trebuchet MS" panose="020B0603020202020204" pitchFamily="34" charset="0"/>
              </a:rPr>
              <a:t>x</a:t>
            </a:r>
            <a:r>
              <a:rPr lang="en-US" sz="2400" b="1" baseline="-25000" dirty="0" err="1">
                <a:latin typeface="Trebuchet MS" panose="020B0603020202020204" pitchFamily="34" charset="0"/>
              </a:rPr>
              <a:t>n</a:t>
            </a:r>
            <a:r>
              <a:rPr lang="en-US" sz="2400" dirty="0">
                <a:latin typeface="Trebuchet MS" panose="020B0603020202020204" pitchFamily="34" charset="0"/>
              </a:rPr>
              <a:t>⟩∣</a:t>
            </a:r>
            <a:r>
              <a:rPr lang="en-US" sz="2400" b="1" i="1" dirty="0" err="1">
                <a:latin typeface="Trebuchet MS" panose="020B0603020202020204" pitchFamily="34" charset="0"/>
              </a:rPr>
              <a:t>x</a:t>
            </a:r>
            <a:r>
              <a:rPr lang="en-US" sz="2400" b="1" baseline="-25000" dirty="0" err="1">
                <a:latin typeface="Trebuchet MS" panose="020B0603020202020204" pitchFamily="34" charset="0"/>
              </a:rPr>
              <a:t>i</a:t>
            </a:r>
            <a:r>
              <a:rPr lang="en-US" sz="2400" dirty="0" err="1">
                <a:latin typeface="Trebuchet MS" panose="020B0603020202020204" pitchFamily="34" charset="0"/>
              </a:rPr>
              <a:t>∈</a:t>
            </a:r>
            <a:r>
              <a:rPr lang="en-US" sz="2400" b="1" i="1" dirty="0" err="1">
                <a:latin typeface="Trebuchet MS" panose="020B0603020202020204" pitchFamily="34" charset="0"/>
              </a:rPr>
              <a:t>A</a:t>
            </a:r>
            <a:r>
              <a:rPr lang="en-US" sz="2400" b="1" baseline="-25000" dirty="0" err="1">
                <a:latin typeface="Trebuchet MS" panose="020B0603020202020204" pitchFamily="34" charset="0"/>
              </a:rPr>
              <a:t>i</a:t>
            </a:r>
            <a:r>
              <a:rPr lang="en-US" sz="2400" dirty="0" err="1">
                <a:latin typeface="Trebuchet MS" panose="020B0603020202020204" pitchFamily="34" charset="0"/>
              </a:rPr>
              <a:t>,</a:t>
            </a:r>
            <a:r>
              <a:rPr lang="en-US" sz="2400" b="1" baseline="-25000" dirty="0" err="1">
                <a:latin typeface="Trebuchet MS" panose="020B0603020202020204" pitchFamily="34" charset="0"/>
              </a:rPr>
              <a:t>i</a:t>
            </a:r>
            <a:r>
              <a:rPr lang="en-US" sz="2400" dirty="0">
                <a:latin typeface="Trebuchet MS" panose="020B0603020202020204" pitchFamily="34" charset="0"/>
              </a:rPr>
              <a:t>=1,2,…,</a:t>
            </a:r>
            <a:r>
              <a:rPr lang="en-US" sz="2400" b="1" i="1" dirty="0">
                <a:latin typeface="Trebuchet MS" panose="020B0603020202020204" pitchFamily="34" charset="0"/>
              </a:rPr>
              <a:t>n</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is called the </a:t>
            </a:r>
            <a:r>
              <a:rPr lang="en-US" sz="2400" b="1" i="1" dirty="0">
                <a:latin typeface="Trebuchet MS" panose="020B0603020202020204" pitchFamily="34" charset="0"/>
              </a:rPr>
              <a:t>n-dimensional</a:t>
            </a:r>
            <a:r>
              <a:rPr lang="zh-CN" altLang="en-US" sz="2400" dirty="0">
                <a:latin typeface="Trebuchet MS" panose="020B0603020202020204" pitchFamily="34" charset="0"/>
              </a:rPr>
              <a:t>（</a:t>
            </a:r>
            <a:r>
              <a:rPr lang="en-US" altLang="zh-CN" sz="2400" dirty="0"/>
              <a:t>n-</a:t>
            </a:r>
            <a:r>
              <a:rPr lang="en-US" altLang="zh-CN" sz="2400" dirty="0" err="1"/>
              <a:t>ary</a:t>
            </a:r>
            <a:r>
              <a:rPr lang="zh-CN" altLang="en-US" sz="2400" b="1" dirty="0">
                <a:latin typeface="Trebuchet MS" panose="020B0603020202020204" pitchFamily="34" charset="0"/>
              </a:rPr>
              <a:t>）</a:t>
            </a:r>
            <a:r>
              <a:rPr lang="en-US" sz="2400" b="1" i="1" dirty="0">
                <a:latin typeface="Trebuchet MS" panose="020B0603020202020204" pitchFamily="34" charset="0"/>
              </a:rPr>
              <a:t> Cartesian product</a:t>
            </a:r>
            <a:r>
              <a:rPr lang="en-US" sz="2400" dirty="0">
                <a:latin typeface="Trebuchet MS" panose="020B0603020202020204" pitchFamily="34" charset="0"/>
              </a:rPr>
              <a:t>.</a:t>
            </a:r>
          </a:p>
          <a:p>
            <a:pPr marL="0" indent="0">
              <a:lnSpc>
                <a:spcPct val="120000"/>
              </a:lnSpc>
              <a:spcBef>
                <a:spcPts val="300"/>
              </a:spcBef>
              <a:buNone/>
            </a:pPr>
            <a:r>
              <a:rPr lang="en-US" sz="2400" b="1" dirty="0">
                <a:latin typeface="Trebuchet MS" panose="020B0603020202020204" pitchFamily="34" charset="0"/>
              </a:rPr>
              <a:t>      Example</a:t>
            </a:r>
            <a:r>
              <a:rPr lang="zh-CN" altLang="en-US" sz="2400" b="1"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(1,1,0) is the Cartesian coordinate of a point in space, (1,1,0)∈</a:t>
            </a:r>
            <a:r>
              <a:rPr lang="en-US" sz="2400" b="1" i="1" dirty="0">
                <a:latin typeface="Trebuchet MS" panose="020B0603020202020204" pitchFamily="34" charset="0"/>
              </a:rPr>
              <a:t>R</a:t>
            </a:r>
            <a:r>
              <a:rPr lang="en-US" sz="2400" dirty="0">
                <a:latin typeface="Trebuchet MS" panose="020B0603020202020204" pitchFamily="34" charset="0"/>
              </a:rPr>
              <a:t>×</a:t>
            </a:r>
            <a:r>
              <a:rPr lang="en-US" sz="2400" b="1" i="1" dirty="0">
                <a:latin typeface="Trebuchet MS" panose="020B0603020202020204" pitchFamily="34" charset="0"/>
              </a:rPr>
              <a:t>R</a:t>
            </a:r>
            <a:r>
              <a:rPr lang="en-US" sz="2400" dirty="0">
                <a:latin typeface="Trebuchet MS" panose="020B0603020202020204" pitchFamily="34" charset="0"/>
              </a:rPr>
              <a:t>×</a:t>
            </a:r>
            <a:r>
              <a:rPr lang="en-US" sz="2400" b="1" i="1" dirty="0">
                <a:latin typeface="Trebuchet MS" panose="020B0603020202020204" pitchFamily="34" charset="0"/>
              </a:rPr>
              <a:t>R</a:t>
            </a:r>
            <a:r>
              <a:rPr lang="en-US" sz="2400" dirty="0">
                <a:latin typeface="Trebuchet MS" panose="020B0603020202020204" pitchFamily="34" charset="0"/>
              </a:rPr>
              <a:t>(1, 1, 0).</a:t>
            </a:r>
          </a:p>
        </p:txBody>
      </p:sp>
      <p:pic>
        <p:nvPicPr>
          <p:cNvPr id="9" name="图片 8">
            <a:extLst>
              <a:ext uri="{FF2B5EF4-FFF2-40B4-BE49-F238E27FC236}">
                <a16:creationId xmlns:a16="http://schemas.microsoft.com/office/drawing/2014/main" id="{074D4161-47AC-4525-B5C9-5703D1580F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7106" y="3583295"/>
            <a:ext cx="576355" cy="257697"/>
          </a:xfrm>
          <a:prstGeom prst="rect">
            <a:avLst/>
          </a:prstGeom>
        </p:spPr>
      </p:pic>
      <p:pic>
        <p:nvPicPr>
          <p:cNvPr id="10" name="图片 9" descr="微信图片_20220318113523">
            <a:extLst>
              <a:ext uri="{FF2B5EF4-FFF2-40B4-BE49-F238E27FC236}">
                <a16:creationId xmlns:a16="http://schemas.microsoft.com/office/drawing/2014/main" id="{F21B13F5-5405-421D-AAB5-0DC7B91EF7EB}"/>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27786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1000"/>
                                        <p:tgtEl>
                                          <p:spTgt spid="14">
                                            <p:txEl>
                                              <p:pRg st="1" end="1"/>
                                            </p:txEl>
                                          </p:spTgt>
                                        </p:tgtEl>
                                      </p:cBhvr>
                                    </p:animEffect>
                                    <p:anim calcmode="lin" valueType="num">
                                      <p:cBhvr>
                                        <p:cTn id="1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rebuchet MS" panose="020B0603020202020204" pitchFamily="34" charset="0"/>
                <a:ea typeface="宋体" panose="02010600030101010101" pitchFamily="2" charset="-122"/>
                <a:cs typeface="Times New Roman" panose="02020603050405020304" pitchFamily="18" charset="0"/>
              </a:rPr>
              <a:t>4.1 Definition and Representation of Relations</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4.1.2 </a:t>
            </a:r>
            <a:r>
              <a:rPr lang="en-US" altLang="zh-CN" sz="2400" b="1" dirty="0"/>
              <a:t>Definition of Binary Relations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6" y="819605"/>
            <a:ext cx="9412997"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4.4-</a:t>
            </a:r>
            <a:r>
              <a:rPr lang="en-US" altLang="zh-CN" sz="2400" b="1" dirty="0"/>
              <a:t> Binary Relations</a:t>
            </a:r>
            <a:br>
              <a:rPr lang="en-US" sz="2400" dirty="0">
                <a:latin typeface="Trebuchet MS" panose="020B0603020202020204" pitchFamily="34" charset="0"/>
              </a:rPr>
            </a:br>
            <a:r>
              <a:rPr lang="en-US" sz="2400" dirty="0">
                <a:latin typeface="Trebuchet MS" panose="020B0603020202020204" pitchFamily="34" charset="0"/>
              </a:rPr>
              <a:t>A set is called a </a:t>
            </a:r>
            <a:r>
              <a:rPr lang="en-US" sz="2400" b="1" i="1" dirty="0">
                <a:latin typeface="Trebuchet MS" panose="020B0603020202020204" pitchFamily="34" charset="0"/>
              </a:rPr>
              <a:t>binary relation</a:t>
            </a:r>
            <a:r>
              <a:rPr lang="en-US" sz="2400" dirty="0">
                <a:latin typeface="Trebuchet MS" panose="020B0603020202020204" pitchFamily="34" charset="0"/>
              </a:rPr>
              <a:t>, denoted as </a:t>
            </a:r>
            <a:r>
              <a:rPr lang="en-US" sz="2400" b="1" i="1" dirty="0">
                <a:latin typeface="Trebuchet MS" panose="020B0603020202020204" pitchFamily="34" charset="0"/>
              </a:rPr>
              <a:t>R</a:t>
            </a:r>
            <a:r>
              <a:rPr lang="en-US" sz="2400" dirty="0">
                <a:latin typeface="Trebuchet MS" panose="020B0603020202020204" pitchFamily="34" charset="0"/>
              </a:rPr>
              <a:t>, if it satisfies one of the following conditions:</a:t>
            </a:r>
            <a:br>
              <a:rPr lang="en-US" sz="2400" dirty="0">
                <a:latin typeface="Trebuchet MS" panose="020B0603020202020204" pitchFamily="34" charset="0"/>
              </a:rPr>
            </a:br>
            <a:r>
              <a:rPr lang="en-US" sz="2400" dirty="0">
                <a:solidFill>
                  <a:srgbClr val="0B5BFF"/>
                </a:solidFill>
                <a:latin typeface="Trebuchet MS" panose="020B0603020202020204" pitchFamily="34" charset="0"/>
              </a:rPr>
              <a:t>(1) </a:t>
            </a:r>
            <a:r>
              <a:rPr lang="en-US" sz="2400" dirty="0">
                <a:latin typeface="Trebuchet MS" panose="020B0603020202020204" pitchFamily="34" charset="0"/>
              </a:rPr>
              <a:t>The set is non-empty, and its elements are ordered pairs.</a:t>
            </a:r>
            <a:br>
              <a:rPr lang="en-US" sz="2400" dirty="0">
                <a:latin typeface="Trebuchet MS" panose="020B0603020202020204" pitchFamily="34" charset="0"/>
              </a:rPr>
            </a:br>
            <a:r>
              <a:rPr lang="en-US" sz="2400" dirty="0">
                <a:solidFill>
                  <a:srgbClr val="0B5BFF"/>
                </a:solidFill>
                <a:latin typeface="Trebuchet MS" panose="020B0603020202020204" pitchFamily="34" charset="0"/>
              </a:rPr>
              <a:t>(2) </a:t>
            </a:r>
            <a:r>
              <a:rPr lang="en-US" sz="2400" dirty="0">
                <a:latin typeface="Trebuchet MS" panose="020B0603020202020204" pitchFamily="34" charset="0"/>
              </a:rPr>
              <a:t>The set is empty.</a:t>
            </a:r>
          </a:p>
          <a:p>
            <a:pPr marL="714375" indent="-93663">
              <a:lnSpc>
                <a:spcPct val="120000"/>
              </a:lnSpc>
              <a:spcBef>
                <a:spcPts val="300"/>
              </a:spcBef>
              <a:buClr>
                <a:srgbClr val="0B5BFF"/>
              </a:buClr>
              <a:buSzPct val="120000"/>
            </a:pPr>
            <a:r>
              <a:rPr lang="en-US" sz="2400" dirty="0">
                <a:latin typeface="Trebuchet MS" panose="020B0603020202020204" pitchFamily="34" charset="0"/>
              </a:rPr>
              <a:t> For example, if ⟨</a:t>
            </a:r>
            <a:r>
              <a:rPr lang="en-US" sz="2400" i="1" dirty="0" err="1">
                <a:latin typeface="Trebuchet MS" panose="020B0603020202020204" pitchFamily="34" charset="0"/>
              </a:rPr>
              <a:t>x</a:t>
            </a:r>
            <a:r>
              <a:rPr lang="en-US" sz="2400" dirty="0" err="1">
                <a:latin typeface="Trebuchet MS" panose="020B0603020202020204" pitchFamily="34" charset="0"/>
              </a:rPr>
              <a:t>,</a:t>
            </a:r>
            <a:r>
              <a:rPr lang="en-US" sz="2400" i="1" dirty="0" err="1">
                <a:latin typeface="Trebuchet MS" panose="020B0603020202020204" pitchFamily="34" charset="0"/>
              </a:rPr>
              <a:t>y</a:t>
            </a:r>
            <a:r>
              <a:rPr lang="en-US" sz="2400" dirty="0">
                <a:latin typeface="Trebuchet MS" panose="020B0603020202020204" pitchFamily="34" charset="0"/>
              </a:rPr>
              <a:t>⟩∈</a:t>
            </a:r>
            <a:r>
              <a:rPr lang="en-US" sz="2400" i="1" dirty="0">
                <a:latin typeface="Trebuchet MS" panose="020B0603020202020204" pitchFamily="34" charset="0"/>
              </a:rPr>
              <a:t>R</a:t>
            </a:r>
            <a:r>
              <a:rPr lang="en-US" sz="2400" dirty="0">
                <a:latin typeface="Trebuchet MS" panose="020B0603020202020204" pitchFamily="34" charset="0"/>
              </a:rPr>
              <a:t>, it can be written as </a:t>
            </a:r>
            <a:r>
              <a:rPr lang="en-US" sz="2400" b="1" i="1" dirty="0">
                <a:latin typeface="Trebuchet MS" panose="020B0603020202020204" pitchFamily="34" charset="0"/>
              </a:rPr>
              <a:t>x R y</a:t>
            </a:r>
            <a:r>
              <a:rPr lang="en-US" sz="2400" dirty="0">
                <a:latin typeface="Trebuchet MS" panose="020B0603020202020204" pitchFamily="34" charset="0"/>
              </a:rPr>
              <a:t>; if ⟨</a:t>
            </a:r>
            <a:r>
              <a:rPr lang="en-US" sz="2400" dirty="0" err="1">
                <a:latin typeface="Trebuchet MS" panose="020B0603020202020204" pitchFamily="34" charset="0"/>
              </a:rPr>
              <a:t>x,y</a:t>
            </a:r>
            <a:r>
              <a:rPr lang="en-US" sz="2400" dirty="0">
                <a:latin typeface="Trebuchet MS" panose="020B0603020202020204" pitchFamily="34" charset="0"/>
              </a:rPr>
              <a:t>⟩∉R, it can be written as </a:t>
            </a:r>
            <a:r>
              <a:rPr lang="en-US" sz="2400" b="1" dirty="0">
                <a:latin typeface="Trebuchet MS" panose="020B0603020202020204" pitchFamily="34" charset="0"/>
              </a:rPr>
              <a:t>x   y </a:t>
            </a:r>
            <a:endParaRPr kumimoji="0" lang="en-US" altLang="zh-CN" sz="2400" b="1" dirty="0">
              <a:latin typeface="Trebuchet MS" panose="020B0603020202020204" pitchFamily="34" charset="0"/>
            </a:endParaRPr>
          </a:p>
          <a:p>
            <a:pPr marL="0" indent="0">
              <a:lnSpc>
                <a:spcPct val="120000"/>
              </a:lnSpc>
              <a:spcBef>
                <a:spcPts val="300"/>
              </a:spcBef>
              <a:buNone/>
            </a:pPr>
            <a:r>
              <a:rPr lang="en-US" sz="2400" b="1" dirty="0">
                <a:latin typeface="Trebuchet MS" panose="020B0603020202020204" pitchFamily="34" charset="0"/>
              </a:rPr>
              <a:t>       Example</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      </a:t>
            </a:r>
            <a:r>
              <a:rPr lang="en-US" sz="2400" b="1" i="1" dirty="0">
                <a:latin typeface="Trebuchet MS" panose="020B0603020202020204" pitchFamily="34" charset="0"/>
              </a:rPr>
              <a:t>R</a:t>
            </a:r>
            <a:r>
              <a:rPr lang="en-US" sz="2400" dirty="0">
                <a:latin typeface="Trebuchet MS" panose="020B0603020202020204" pitchFamily="34" charset="0"/>
              </a:rPr>
              <a:t>={⟨1,2⟩,⟨</a:t>
            </a:r>
            <a:r>
              <a:rPr lang="en-US" sz="2400" i="1" dirty="0" err="1">
                <a:latin typeface="Trebuchet MS" panose="020B0603020202020204" pitchFamily="34" charset="0"/>
              </a:rPr>
              <a:t>a</a:t>
            </a:r>
            <a:r>
              <a:rPr lang="en-US" sz="2400" dirty="0" err="1">
                <a:latin typeface="Trebuchet MS" panose="020B0603020202020204" pitchFamily="34" charset="0"/>
              </a:rPr>
              <a:t>,</a:t>
            </a:r>
            <a:r>
              <a:rPr lang="en-US" sz="2400" i="1" dirty="0" err="1">
                <a:latin typeface="Trebuchet MS" panose="020B0603020202020204" pitchFamily="34" charset="0"/>
              </a:rPr>
              <a:t>b</a:t>
            </a:r>
            <a:r>
              <a:rPr lang="en-US" sz="2400" dirty="0">
                <a:latin typeface="Trebuchet MS" panose="020B0603020202020204" pitchFamily="34" charset="0"/>
              </a:rPr>
              <a:t>⟩}, </a:t>
            </a:r>
            <a:r>
              <a:rPr lang="en-US" sz="2400" b="1" i="1" dirty="0">
                <a:latin typeface="Trebuchet MS" panose="020B0603020202020204" pitchFamily="34" charset="0"/>
              </a:rPr>
              <a:t>S</a:t>
            </a:r>
            <a:r>
              <a:rPr lang="en-US" sz="2400" dirty="0">
                <a:latin typeface="Trebuchet MS" panose="020B0603020202020204" pitchFamily="34" charset="0"/>
              </a:rPr>
              <a:t>={⟨1,2⟩,</a:t>
            </a:r>
            <a:r>
              <a:rPr lang="en-US" sz="2400" i="1" dirty="0">
                <a:latin typeface="Trebuchet MS" panose="020B0603020202020204" pitchFamily="34" charset="0"/>
              </a:rPr>
              <a:t>a</a:t>
            </a:r>
            <a:r>
              <a:rPr lang="en-US" sz="2400" dirty="0">
                <a:latin typeface="Trebuchet MS" panose="020B0603020202020204" pitchFamily="34" charset="0"/>
              </a:rPr>
              <a:t>,</a:t>
            </a:r>
            <a:r>
              <a:rPr lang="en-US" sz="2400" i="1" dirty="0">
                <a:latin typeface="Trebuchet MS" panose="020B0603020202020204" pitchFamily="34" charset="0"/>
              </a:rPr>
              <a:t>b</a:t>
            </a:r>
            <a:r>
              <a:rPr lang="en-US" sz="2400" dirty="0">
                <a:latin typeface="Trebuchet MS" panose="020B0603020202020204" pitchFamily="34" charset="0"/>
              </a:rPr>
              <a:t>} </a:t>
            </a:r>
            <a:endParaRPr lang="en-US" altLang="zh-CN" sz="2400" dirty="0">
              <a:latin typeface="Trebuchet MS" panose="020B0603020202020204" pitchFamily="34" charset="0"/>
            </a:endParaRPr>
          </a:p>
          <a:p>
            <a:pPr marL="536575" indent="93663">
              <a:lnSpc>
                <a:spcPct val="120000"/>
              </a:lnSpc>
              <a:spcBef>
                <a:spcPts val="300"/>
              </a:spcBef>
              <a:buClr>
                <a:srgbClr val="0B5BFF"/>
              </a:buClr>
              <a:buSzPct val="120000"/>
            </a:pPr>
            <a:r>
              <a:rPr lang="en-US" sz="2400" b="1" i="1" dirty="0">
                <a:latin typeface="Trebuchet MS" panose="020B0603020202020204" pitchFamily="34" charset="0"/>
              </a:rPr>
              <a:t> R</a:t>
            </a:r>
            <a:r>
              <a:rPr lang="en-US" sz="2400" dirty="0">
                <a:latin typeface="Trebuchet MS" panose="020B0603020202020204" pitchFamily="34" charset="0"/>
              </a:rPr>
              <a:t> is a binary relation, but </a:t>
            </a:r>
            <a:r>
              <a:rPr lang="en-US" sz="2400" b="1" i="1" dirty="0">
                <a:latin typeface="Trebuchet MS" panose="020B0603020202020204" pitchFamily="34" charset="0"/>
              </a:rPr>
              <a:t>S</a:t>
            </a:r>
            <a:r>
              <a:rPr lang="en-US" sz="2400" dirty="0">
                <a:latin typeface="Trebuchet MS" panose="020B0603020202020204" pitchFamily="34" charset="0"/>
              </a:rPr>
              <a:t> is not a binary relation because </a:t>
            </a:r>
            <a:r>
              <a:rPr lang="en-US" sz="2400" i="1" dirty="0">
                <a:latin typeface="Trebuchet MS" panose="020B0603020202020204" pitchFamily="34" charset="0"/>
              </a:rPr>
              <a:t>a</a:t>
            </a:r>
            <a:r>
              <a:rPr lang="en-US" sz="2400" dirty="0">
                <a:latin typeface="Trebuchet MS" panose="020B0603020202020204" pitchFamily="34" charset="0"/>
              </a:rPr>
              <a:t> and </a:t>
            </a:r>
            <a:r>
              <a:rPr lang="en-US" sz="2400" i="1" dirty="0">
                <a:latin typeface="Trebuchet MS" panose="020B0603020202020204" pitchFamily="34" charset="0"/>
              </a:rPr>
              <a:t>b</a:t>
            </a:r>
            <a:r>
              <a:rPr lang="en-US" sz="2400" dirty="0">
                <a:latin typeface="Trebuchet MS" panose="020B0603020202020204" pitchFamily="34" charset="0"/>
              </a:rPr>
              <a:t> are not ordered pairs.</a:t>
            </a:r>
          </a:p>
          <a:p>
            <a:pPr marL="536575" indent="0">
              <a:lnSpc>
                <a:spcPct val="120000"/>
              </a:lnSpc>
              <a:spcBef>
                <a:spcPts val="300"/>
              </a:spcBef>
              <a:buClr>
                <a:srgbClr val="0B5BFF"/>
              </a:buClr>
              <a:buSzPct val="120000"/>
            </a:pPr>
            <a:r>
              <a:rPr lang="en-US" altLang="zh-CN" sz="2400" dirty="0">
                <a:latin typeface="Trebuchet MS" panose="020B0603020202020204" pitchFamily="34" charset="0"/>
              </a:rPr>
              <a:t> Using the above notation, we can write 1</a:t>
            </a:r>
            <a:r>
              <a:rPr lang="en-US" altLang="zh-CN" sz="2400" b="1" i="1" dirty="0">
                <a:latin typeface="Trebuchet MS" panose="020B0603020202020204" pitchFamily="34" charset="0"/>
              </a:rPr>
              <a:t>R</a:t>
            </a:r>
            <a:r>
              <a:rPr lang="en-US" altLang="zh-CN" sz="2400" dirty="0">
                <a:latin typeface="Trebuchet MS" panose="020B0603020202020204" pitchFamily="34" charset="0"/>
              </a:rPr>
              <a:t>2, </a:t>
            </a:r>
            <a:r>
              <a:rPr lang="en-US" altLang="zh-CN" sz="2400" i="1" dirty="0" err="1">
                <a:latin typeface="Trebuchet MS" panose="020B0603020202020204" pitchFamily="34" charset="0"/>
              </a:rPr>
              <a:t>a</a:t>
            </a:r>
            <a:r>
              <a:rPr lang="en-US" altLang="zh-CN" sz="2400" b="1" i="1" dirty="0" err="1">
                <a:latin typeface="Trebuchet MS" panose="020B0603020202020204" pitchFamily="34" charset="0"/>
              </a:rPr>
              <a:t>R</a:t>
            </a:r>
            <a:r>
              <a:rPr lang="en-US" altLang="zh-CN" sz="2400" i="1" dirty="0" err="1">
                <a:latin typeface="Trebuchet MS" panose="020B0603020202020204" pitchFamily="34" charset="0"/>
              </a:rPr>
              <a:t>b</a:t>
            </a:r>
            <a:r>
              <a:rPr lang="en-US" altLang="zh-CN" sz="2400" dirty="0">
                <a:latin typeface="Trebuchet MS" panose="020B0603020202020204" pitchFamily="34" charset="0"/>
              </a:rPr>
              <a:t>, </a:t>
            </a:r>
            <a:r>
              <a:rPr lang="en-US" altLang="zh-CN" sz="2400" i="1" dirty="0">
                <a:latin typeface="Trebuchet MS" panose="020B0603020202020204" pitchFamily="34" charset="0"/>
              </a:rPr>
              <a:t>a   c</a:t>
            </a:r>
            <a:r>
              <a:rPr lang="en-US" altLang="zh-CN" sz="2400" dirty="0">
                <a:latin typeface="Trebuchet MS" panose="020B0603020202020204" pitchFamily="34" charset="0"/>
              </a:rPr>
              <a:t>, etc.</a:t>
            </a:r>
          </a:p>
          <a:p>
            <a:pPr eaLnBrk="1" hangingPunct="1">
              <a:lnSpc>
                <a:spcPct val="120000"/>
              </a:lnSpc>
              <a:spcBef>
                <a:spcPct val="0"/>
              </a:spcBef>
              <a:buFontTx/>
              <a:buNone/>
            </a:pPr>
            <a:endParaRPr lang="zh-CN" altLang="en-US" sz="2800" b="1" dirty="0"/>
          </a:p>
        </p:txBody>
      </p:sp>
      <p:pic>
        <p:nvPicPr>
          <p:cNvPr id="11" name="Picture 11" descr="图形2">
            <a:extLst>
              <a:ext uri="{FF2B5EF4-FFF2-40B4-BE49-F238E27FC236}">
                <a16:creationId xmlns:a16="http://schemas.microsoft.com/office/drawing/2014/main" id="{B085D352-109D-455F-9D10-8297E40E02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76076" y="3672103"/>
            <a:ext cx="165966" cy="258330"/>
          </a:xfrm>
          <a:prstGeom prst="rect">
            <a:avLst/>
          </a:prstGeom>
          <a:solidFill>
            <a:schemeClr val="accent3">
              <a:lumMod val="20000"/>
              <a:lumOff val="80000"/>
            </a:schemeClr>
          </a:solidFill>
          <a:ln>
            <a:noFill/>
          </a:ln>
        </p:spPr>
      </p:pic>
      <p:pic>
        <p:nvPicPr>
          <p:cNvPr id="10" name="Picture 11" descr="图形2">
            <a:extLst>
              <a:ext uri="{FF2B5EF4-FFF2-40B4-BE49-F238E27FC236}">
                <a16:creationId xmlns:a16="http://schemas.microsoft.com/office/drawing/2014/main" id="{FF60FF66-A223-43D9-8CF7-012F0230209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38844" y="5896313"/>
            <a:ext cx="182563" cy="284163"/>
          </a:xfrm>
          <a:prstGeom prst="rect">
            <a:avLst/>
          </a:prstGeom>
          <a:solidFill>
            <a:schemeClr val="accent3">
              <a:lumMod val="20000"/>
              <a:lumOff val="80000"/>
            </a:schemeClr>
          </a:solidFill>
          <a:ln>
            <a:noFill/>
          </a:ln>
        </p:spPr>
      </p:pic>
      <p:pic>
        <p:nvPicPr>
          <p:cNvPr id="12" name="图片 11">
            <a:extLst>
              <a:ext uri="{FF2B5EF4-FFF2-40B4-BE49-F238E27FC236}">
                <a16:creationId xmlns:a16="http://schemas.microsoft.com/office/drawing/2014/main" id="{C7E246D5-9E21-42CD-AB5C-C59673A891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7106" y="4108812"/>
            <a:ext cx="576355" cy="257697"/>
          </a:xfrm>
          <a:prstGeom prst="rect">
            <a:avLst/>
          </a:prstGeom>
        </p:spPr>
      </p:pic>
      <p:pic>
        <p:nvPicPr>
          <p:cNvPr id="15" name="图片 14" descr="微信图片_20220318113523">
            <a:extLst>
              <a:ext uri="{FF2B5EF4-FFF2-40B4-BE49-F238E27FC236}">
                <a16:creationId xmlns:a16="http://schemas.microsoft.com/office/drawing/2014/main" id="{9830E0E5-9754-4CDC-97D4-59110EE0B96A}"/>
              </a:ext>
            </a:extLst>
          </p:cNvPr>
          <p:cNvPicPr>
            <a:picLocks noChangeAspect="1"/>
          </p:cNvPicPr>
          <p:nvPr/>
        </p:nvPicPr>
        <p:blipFill>
          <a:blip r:embed="rId7"/>
          <a:stretch>
            <a:fillRect/>
          </a:stretch>
        </p:blipFill>
        <p:spPr>
          <a:xfrm>
            <a:off x="9368078" y="6387191"/>
            <a:ext cx="2244725" cy="361315"/>
          </a:xfrm>
          <a:prstGeom prst="rect">
            <a:avLst/>
          </a:prstGeom>
        </p:spPr>
      </p:pic>
    </p:spTree>
    <p:extLst>
      <p:ext uri="{BB962C8B-B14F-4D97-AF65-F5344CB8AC3E}">
        <p14:creationId xmlns:p14="http://schemas.microsoft.com/office/powerpoint/2010/main" val="1437425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4">
                                            <p:txEl>
                                              <p:pRg st="2" end="2"/>
                                            </p:txEl>
                                          </p:spTgt>
                                        </p:tgtEl>
                                        <p:attrNameLst>
                                          <p:attrName>style.visibility</p:attrName>
                                        </p:attrNameLst>
                                      </p:cBhvr>
                                      <p:to>
                                        <p:strVal val="visible"/>
                                      </p:to>
                                    </p:set>
                                    <p:animEffect transition="in" filter="fade">
                                      <p:cBhvr>
                                        <p:cTn id="16" dur="1000"/>
                                        <p:tgtEl>
                                          <p:spTgt spid="14">
                                            <p:txEl>
                                              <p:pRg st="2" end="2"/>
                                            </p:txEl>
                                          </p:spTgt>
                                        </p:tgtEl>
                                      </p:cBhvr>
                                    </p:animEffect>
                                    <p:anim calcmode="lin" valueType="num">
                                      <p:cBhvr>
                                        <p:cTn id="17"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animEffect transition="in" filter="fade">
                                      <p:cBhvr>
                                        <p:cTn id="23" dur="1000"/>
                                        <p:tgtEl>
                                          <p:spTgt spid="14">
                                            <p:txEl>
                                              <p:pRg st="3" end="3"/>
                                            </p:txEl>
                                          </p:spTgt>
                                        </p:tgtEl>
                                      </p:cBhvr>
                                    </p:animEffect>
                                    <p:anim calcmode="lin" valueType="num">
                                      <p:cBhvr>
                                        <p:cTn id="24"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ea typeface="宋体" panose="02010600030101010101" pitchFamily="2" charset="-122"/>
                <a:cs typeface="Times New Roman" panose="02020603050405020304" pitchFamily="18" charset="0"/>
              </a:rPr>
              <a:t>4.1 Definition and Representation of Relations</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dirty="0">
                <a:latin typeface="Trebuchet MS" panose="020B0603020202020204" pitchFamily="34" charset="0"/>
              </a:rPr>
              <a:t>4.1.2 </a:t>
            </a:r>
            <a:r>
              <a:rPr lang="en-US" altLang="zh-CN" sz="2800" b="1" dirty="0"/>
              <a:t>Definition of Binary Relations</a:t>
            </a:r>
            <a:r>
              <a:rPr lang="zh-CN" altLang="en-US" sz="2800" b="1" dirty="0"/>
              <a:t>（</a:t>
            </a:r>
            <a:r>
              <a:rPr lang="en-US" altLang="zh-CN" sz="2800" b="1" dirty="0">
                <a:solidFill>
                  <a:schemeClr val="accent2"/>
                </a:solidFill>
              </a:rPr>
              <a:t>e.g.</a:t>
            </a:r>
            <a:r>
              <a:rPr lang="zh-CN" altLang="en-US" sz="2800" b="1" dirty="0"/>
              <a:t>）</a:t>
            </a:r>
            <a:endParaRPr lang="zh-CN" altLang="en-US" sz="28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r>
              <a:rPr lang="en-US" altLang="zh-CN" sz="2800" b="1" dirty="0">
                <a:solidFill>
                  <a:srgbClr val="FF0000"/>
                </a:solidFill>
              </a:rPr>
              <a:t>   </a:t>
            </a:r>
            <a:r>
              <a:rPr lang="zh-CN" altLang="en-US" b="1" dirty="0"/>
              <a:t> </a:t>
            </a:r>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223242" y="840090"/>
            <a:ext cx="9472161" cy="55037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FontTx/>
              <a:buNone/>
            </a:pPr>
            <a:r>
              <a:rPr lang="en-US" altLang="zh-CN" sz="2400" b="1" dirty="0">
                <a:latin typeface="Trebuchet MS" panose="020B0603020202020204" pitchFamily="34" charset="0"/>
              </a:rPr>
              <a:t>  Example</a:t>
            </a:r>
            <a:r>
              <a:rPr lang="en-US" altLang="zh-CN" sz="2400" dirty="0">
                <a:latin typeface="Trebuchet MS" panose="020B0603020202020204" pitchFamily="34" charset="0"/>
              </a:rPr>
              <a:t>:</a:t>
            </a:r>
            <a:endParaRPr lang="en-US" altLang="zh-CN" sz="2400" b="1" dirty="0">
              <a:solidFill>
                <a:srgbClr val="800000"/>
              </a:solidFill>
              <a:latin typeface="Trebuchet MS" panose="020B0603020202020204" pitchFamily="34" charset="0"/>
            </a:endParaRPr>
          </a:p>
          <a:p>
            <a:pPr eaLnBrk="1" hangingPunct="1">
              <a:lnSpc>
                <a:spcPct val="120000"/>
              </a:lnSpc>
              <a:spcBef>
                <a:spcPts val="0"/>
              </a:spcBef>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(1) </a:t>
            </a:r>
            <a:r>
              <a:rPr lang="en-US" altLang="zh-CN" sz="2400" b="1" i="1" dirty="0">
                <a:latin typeface="Trebuchet MS" panose="020B0603020202020204" pitchFamily="34" charset="0"/>
              </a:rPr>
              <a:t>R</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 |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sym typeface="Symbol" panose="05050102010706020507" pitchFamily="18" charset="2"/>
              </a:rPr>
              <a:t></a:t>
            </a:r>
            <a:r>
              <a:rPr lang="en-US" altLang="zh-CN" sz="2400" b="1" dirty="0" err="1">
                <a:latin typeface="Trebuchet MS" panose="020B0603020202020204" pitchFamily="34" charset="0"/>
              </a:rPr>
              <a:t>N</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&lt;3}</a:t>
            </a:r>
            <a:endParaRPr lang="zh-CN" altLang="en-US" sz="2400" b="1" dirty="0">
              <a:latin typeface="Trebuchet MS" panose="020B0603020202020204" pitchFamily="34" charset="0"/>
            </a:endParaRPr>
          </a:p>
          <a:p>
            <a:pPr eaLnBrk="1" hangingPunct="1">
              <a:lnSpc>
                <a:spcPct val="120000"/>
              </a:lnSpc>
              <a:spcBef>
                <a:spcPts val="0"/>
              </a:spcBef>
              <a:buFontTx/>
              <a:buNone/>
            </a:pPr>
            <a:r>
              <a:rPr lang="en-US" altLang="zh-CN" sz="2400" b="1" i="1" dirty="0">
                <a:latin typeface="Trebuchet MS" panose="020B0603020202020204" pitchFamily="34" charset="0"/>
              </a:rPr>
              <a:t>             </a:t>
            </a:r>
            <a:r>
              <a:rPr lang="en-US" altLang="zh-CN" sz="2400" b="1" dirty="0">
                <a:latin typeface="Trebuchet MS" panose="020B0603020202020204" pitchFamily="34" charset="0"/>
              </a:rPr>
              <a:t>={&lt;0,0&gt;, &lt;0,1&gt;, &lt;0,2&gt;, &lt;1,0&gt;, &lt;1,1&gt;, &lt;2,0&gt;}</a:t>
            </a:r>
          </a:p>
          <a:p>
            <a:pPr eaLnBrk="1" hangingPunct="1">
              <a:lnSpc>
                <a:spcPct val="120000"/>
              </a:lnSpc>
              <a:spcBef>
                <a:spcPts val="0"/>
              </a:spcBef>
              <a:buFontTx/>
              <a:buNone/>
            </a:pPr>
            <a:endParaRPr lang="en-US" altLang="zh-CN" sz="2400" b="1" dirty="0">
              <a:latin typeface="Trebuchet MS" panose="020B0603020202020204" pitchFamily="34" charset="0"/>
            </a:endParaRPr>
          </a:p>
          <a:p>
            <a:pPr eaLnBrk="1" hangingPunct="1">
              <a:lnSpc>
                <a:spcPct val="120000"/>
              </a:lnSpc>
              <a:spcBef>
                <a:spcPts val="0"/>
              </a:spcBef>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C</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 |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=1}</a:t>
            </a:r>
            <a:r>
              <a:rPr lang="zh-CN" altLang="en-US" sz="2400" b="1" dirty="0">
                <a:latin typeface="Trebuchet MS" panose="020B0603020202020204" pitchFamily="34" charset="0"/>
              </a:rPr>
              <a:t>，</a:t>
            </a:r>
            <a:r>
              <a:rPr lang="en-US" sz="2400" dirty="0">
                <a:latin typeface="Trebuchet MS" panose="020B0603020202020204" pitchFamily="34" charset="0"/>
              </a:rPr>
              <a:t> </a:t>
            </a:r>
          </a:p>
          <a:p>
            <a:pPr eaLnBrk="1" hangingPunct="1">
              <a:lnSpc>
                <a:spcPct val="120000"/>
              </a:lnSpc>
              <a:spcBef>
                <a:spcPts val="0"/>
              </a:spcBef>
              <a:buFontTx/>
              <a:buNone/>
            </a:pPr>
            <a:r>
              <a:rPr lang="en-US" sz="2400" dirty="0">
                <a:latin typeface="Trebuchet MS" panose="020B0603020202020204" pitchFamily="34" charset="0"/>
              </a:rPr>
              <a:t>Where </a:t>
            </a:r>
            <a:r>
              <a:rPr lang="en-US" sz="2400" b="1" i="1" dirty="0">
                <a:latin typeface="Trebuchet MS" panose="020B0603020202020204" pitchFamily="34" charset="0"/>
              </a:rPr>
              <a:t>R</a:t>
            </a:r>
            <a:r>
              <a:rPr lang="en-US" sz="2400" dirty="0">
                <a:latin typeface="Trebuchet MS" panose="020B0603020202020204" pitchFamily="34" charset="0"/>
              </a:rPr>
              <a:t> represents the set of real numbers, </a:t>
            </a:r>
            <a:r>
              <a:rPr lang="en-US" sz="2400" b="1" i="1" dirty="0">
                <a:latin typeface="Trebuchet MS" panose="020B0603020202020204" pitchFamily="34" charset="0"/>
              </a:rPr>
              <a:t>C</a:t>
            </a:r>
            <a:r>
              <a:rPr lang="en-US" sz="2400" dirty="0">
                <a:latin typeface="Trebuchet MS" panose="020B0603020202020204" pitchFamily="34" charset="0"/>
              </a:rPr>
              <a:t> is the relation between the horizontal and vertical coordinates of points in the Cartesian coordinate plane, and all points in </a:t>
            </a:r>
            <a:r>
              <a:rPr lang="en-US" sz="2400" b="1" i="1" dirty="0">
                <a:latin typeface="Trebuchet MS" panose="020B0603020202020204" pitchFamily="34" charset="0"/>
              </a:rPr>
              <a:t>C</a:t>
            </a:r>
            <a:r>
              <a:rPr lang="en-US" sz="2400" dirty="0">
                <a:latin typeface="Trebuchet MS" panose="020B0603020202020204" pitchFamily="34" charset="0"/>
              </a:rPr>
              <a:t> exactly form the unit circle in the coordinate plane.</a:t>
            </a:r>
          </a:p>
          <a:p>
            <a:pPr eaLnBrk="1" hangingPunct="1">
              <a:lnSpc>
                <a:spcPct val="120000"/>
              </a:lnSpc>
              <a:spcBef>
                <a:spcPts val="0"/>
              </a:spcBef>
              <a:buFontTx/>
              <a:buNone/>
            </a:pPr>
            <a:endParaRPr lang="en-US" altLang="zh-CN" sz="2400" b="1" dirty="0">
              <a:latin typeface="Trebuchet MS" panose="020B0603020202020204" pitchFamily="34" charset="0"/>
            </a:endParaRPr>
          </a:p>
          <a:p>
            <a:pPr eaLnBrk="1" hangingPunct="1">
              <a:lnSpc>
                <a:spcPct val="120000"/>
              </a:lnSpc>
              <a:spcBef>
                <a:spcPts val="0"/>
              </a:spcBef>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(3)</a:t>
            </a:r>
            <a:r>
              <a:rPr lang="en-US" altLang="zh-CN" sz="2400" b="1" i="1" dirty="0">
                <a:latin typeface="Trebuchet MS" panose="020B0603020202020204" pitchFamily="34" charset="0"/>
              </a:rPr>
              <a:t>  R</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z</a:t>
            </a:r>
            <a:r>
              <a:rPr lang="en-US" altLang="zh-CN" sz="2400" b="1" dirty="0">
                <a:latin typeface="Trebuchet MS" panose="020B0603020202020204" pitchFamily="34" charset="0"/>
              </a:rPr>
              <a:t>&gt; |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z</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+2</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=3}</a:t>
            </a:r>
            <a:r>
              <a:rPr lang="zh-CN" altLang="en-US" sz="2400" b="1" dirty="0">
                <a:latin typeface="Trebuchet MS" panose="020B0603020202020204" pitchFamily="34" charset="0"/>
              </a:rPr>
              <a:t>，</a:t>
            </a:r>
          </a:p>
          <a:p>
            <a:pPr eaLnBrk="1" hangingPunct="1">
              <a:lnSpc>
                <a:spcPct val="120000"/>
              </a:lnSpc>
              <a:spcBef>
                <a:spcPts val="0"/>
              </a:spcBef>
              <a:buFontTx/>
              <a:buNone/>
            </a:pPr>
            <a:r>
              <a:rPr lang="en-US" sz="2400" dirty="0">
                <a:latin typeface="Trebuchet MS" panose="020B0603020202020204" pitchFamily="34" charset="0"/>
              </a:rPr>
              <a:t>     </a:t>
            </a:r>
            <a:r>
              <a:rPr lang="en-US" sz="2400" b="1" i="1" dirty="0">
                <a:latin typeface="Trebuchet MS" panose="020B0603020202020204" pitchFamily="34" charset="0"/>
              </a:rPr>
              <a:t>R</a:t>
            </a:r>
            <a:r>
              <a:rPr lang="en-US" sz="2400" dirty="0">
                <a:latin typeface="Trebuchet MS" panose="020B0603020202020204" pitchFamily="34" charset="0"/>
              </a:rPr>
              <a:t> represents a plane in the 3D Cartesian coordinate system.</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990AA5DE-8B96-4286-A5EF-B151FFE615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7615" y="980011"/>
            <a:ext cx="576355" cy="257697"/>
          </a:xfrm>
          <a:prstGeom prst="rect">
            <a:avLst/>
          </a:prstGeom>
        </p:spPr>
      </p:pic>
      <p:pic>
        <p:nvPicPr>
          <p:cNvPr id="10" name="图片 9" descr="微信图片_20220318113523">
            <a:extLst>
              <a:ext uri="{FF2B5EF4-FFF2-40B4-BE49-F238E27FC236}">
                <a16:creationId xmlns:a16="http://schemas.microsoft.com/office/drawing/2014/main" id="{DC506A49-99C4-41EA-B8C6-A58499C357C5}"/>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520031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ea typeface="宋体" panose="02010600030101010101" pitchFamily="2" charset="-122"/>
                <a:cs typeface="Times New Roman" panose="02020603050405020304" pitchFamily="18" charset="0"/>
              </a:rPr>
              <a:t>4.1 Definition and Representation of Relations</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dirty="0">
                <a:latin typeface="Trebuchet MS" panose="020B0603020202020204" pitchFamily="34" charset="0"/>
              </a:rPr>
              <a:t>4.1.2 </a:t>
            </a:r>
            <a:r>
              <a:rPr lang="en-US" altLang="zh-CN" sz="2800" b="1" dirty="0"/>
              <a:t>Definition of Binary Relations</a:t>
            </a:r>
            <a:r>
              <a:rPr lang="zh-CN" altLang="en-US" sz="2800" b="1" dirty="0"/>
              <a:t>（</a:t>
            </a:r>
            <a:r>
              <a:rPr lang="en-US" altLang="zh-CN" sz="2800" b="1" dirty="0">
                <a:solidFill>
                  <a:schemeClr val="accent2"/>
                </a:solidFill>
              </a:rPr>
              <a:t>e.g.</a:t>
            </a:r>
            <a:r>
              <a:rPr lang="zh-CN" altLang="en-US" sz="2800" b="1" dirty="0"/>
              <a:t>）</a:t>
            </a:r>
            <a:endParaRPr lang="zh-CN" altLang="en-US" sz="28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973249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765175"/>
            <a:ext cx="9554720"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None/>
            </a:pPr>
            <a:endParaRPr lang="en-US" sz="2400" dirty="0">
              <a:latin typeface="Trebuchet MS" panose="020B0603020202020204" pitchFamily="34" charset="0"/>
            </a:endParaRPr>
          </a:p>
          <a:p>
            <a:pPr indent="36513">
              <a:lnSpc>
                <a:spcPct val="120000"/>
              </a:lnSpc>
              <a:spcBef>
                <a:spcPts val="300"/>
              </a:spcBef>
              <a:buNone/>
            </a:pPr>
            <a:r>
              <a:rPr lang="en-US" sz="2400" dirty="0">
                <a:latin typeface="Trebuchet MS" panose="020B0603020202020204" pitchFamily="34" charset="0"/>
              </a:rPr>
              <a:t>The employee payroll (relation) is a set of </a:t>
            </a:r>
            <a:r>
              <a:rPr lang="en-US" sz="2400" b="1" i="1" dirty="0">
                <a:latin typeface="Trebuchet MS" panose="020B0603020202020204" pitchFamily="34" charset="0"/>
              </a:rPr>
              <a:t>5-tuples representing </a:t>
            </a:r>
          </a:p>
          <a:p>
            <a:pPr indent="36513">
              <a:lnSpc>
                <a:spcPct val="120000"/>
              </a:lnSpc>
              <a:spcBef>
                <a:spcPts val="300"/>
              </a:spcBef>
              <a:buNone/>
            </a:pPr>
            <a:r>
              <a:rPr lang="en-US" sz="2400" dirty="0">
                <a:latin typeface="Trebuchet MS" panose="020B0603020202020204" pitchFamily="34" charset="0"/>
              </a:rPr>
              <a:t>employees:</a:t>
            </a:r>
            <a:r>
              <a:rPr kumimoji="0" lang="en-US" altLang="zh-CN" sz="2400" b="1" dirty="0">
                <a:latin typeface="Trebuchet MS" panose="020B0603020202020204" pitchFamily="34" charset="0"/>
              </a:rPr>
              <a:t>&lt;301,B,25,</a:t>
            </a:r>
            <a:r>
              <a:rPr lang="en-US" altLang="zh-CN" sz="2400" b="1" dirty="0">
                <a:latin typeface="Trebuchet MS" panose="020B0603020202020204" pitchFamily="34" charset="0"/>
              </a:rPr>
              <a:t>M</a:t>
            </a:r>
            <a:r>
              <a:rPr kumimoji="0" lang="en-US" altLang="zh-CN" sz="2400" b="1" dirty="0">
                <a:latin typeface="Trebuchet MS" panose="020B0603020202020204" pitchFamily="34" charset="0"/>
              </a:rPr>
              <a:t>,19000&gt;</a:t>
            </a:r>
            <a:r>
              <a:rPr lang="en-US" altLang="zh-CN" sz="2400" b="1" dirty="0">
                <a:latin typeface="Trebuchet MS" panose="020B0603020202020204" pitchFamily="34" charset="0"/>
              </a:rPr>
              <a:t>,</a:t>
            </a:r>
            <a:r>
              <a:rPr kumimoji="0" lang="en-US" altLang="zh-CN" sz="2400" b="1" dirty="0">
                <a:latin typeface="Trebuchet MS" panose="020B0603020202020204" pitchFamily="34" charset="0"/>
              </a:rPr>
              <a:t>&lt;302,O,23,</a:t>
            </a:r>
            <a:r>
              <a:rPr lang="en-US" altLang="zh-CN" sz="2400" b="1" dirty="0">
                <a:latin typeface="Trebuchet MS" panose="020B0603020202020204" pitchFamily="34" charset="0"/>
              </a:rPr>
              <a:t>F</a:t>
            </a:r>
            <a:r>
              <a:rPr kumimoji="0" lang="en-US" altLang="zh-CN" sz="2400" b="1" dirty="0">
                <a:latin typeface="Trebuchet MS" panose="020B0603020202020204" pitchFamily="34" charset="0"/>
              </a:rPr>
              <a:t>,18500&gt;</a:t>
            </a:r>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90000"/>
              </a:lnSpc>
              <a:buFontTx/>
              <a:buNone/>
            </a:pPr>
            <a:endParaRPr lang="en-US" altLang="zh-CN" sz="2800" b="1" dirty="0">
              <a:solidFill>
                <a:srgbClr val="800000"/>
              </a:solidFill>
            </a:endParaRPr>
          </a:p>
        </p:txBody>
      </p:sp>
      <p:graphicFrame>
        <p:nvGraphicFramePr>
          <p:cNvPr id="9" name="Group 44">
            <a:extLst>
              <a:ext uri="{FF2B5EF4-FFF2-40B4-BE49-F238E27FC236}">
                <a16:creationId xmlns:a16="http://schemas.microsoft.com/office/drawing/2014/main" id="{60C822B4-BF32-4225-BEE2-5FDF9EACFA63}"/>
              </a:ext>
            </a:extLst>
          </p:cNvPr>
          <p:cNvGraphicFramePr>
            <a:graphicFrameLocks/>
          </p:cNvGraphicFramePr>
          <p:nvPr>
            <p:extLst>
              <p:ext uri="{D42A27DB-BD31-4B8C-83A1-F6EECF244321}">
                <p14:modId xmlns:p14="http://schemas.microsoft.com/office/powerpoint/2010/main" val="1464061463"/>
              </p:ext>
            </p:extLst>
          </p:nvPr>
        </p:nvGraphicFramePr>
        <p:xfrm>
          <a:off x="1472818" y="2390382"/>
          <a:ext cx="7199313" cy="3167511"/>
        </p:xfrm>
        <a:graphic>
          <a:graphicData uri="http://schemas.openxmlformats.org/drawingml/2006/table">
            <a:tbl>
              <a:tblPr/>
              <a:tblGrid>
                <a:gridCol w="1439863">
                  <a:extLst>
                    <a:ext uri="{9D8B030D-6E8A-4147-A177-3AD203B41FA5}">
                      <a16:colId xmlns:a16="http://schemas.microsoft.com/office/drawing/2014/main" val="20000"/>
                    </a:ext>
                  </a:extLst>
                </a:gridCol>
                <a:gridCol w="1439862">
                  <a:extLst>
                    <a:ext uri="{9D8B030D-6E8A-4147-A177-3AD203B41FA5}">
                      <a16:colId xmlns:a16="http://schemas.microsoft.com/office/drawing/2014/main" val="20001"/>
                    </a:ext>
                  </a:extLst>
                </a:gridCol>
                <a:gridCol w="1439863">
                  <a:extLst>
                    <a:ext uri="{9D8B030D-6E8A-4147-A177-3AD203B41FA5}">
                      <a16:colId xmlns:a16="http://schemas.microsoft.com/office/drawing/2014/main" val="20002"/>
                    </a:ext>
                  </a:extLst>
                </a:gridCol>
                <a:gridCol w="1439862">
                  <a:extLst>
                    <a:ext uri="{9D8B030D-6E8A-4147-A177-3AD203B41FA5}">
                      <a16:colId xmlns:a16="http://schemas.microsoft.com/office/drawing/2014/main" val="20003"/>
                    </a:ext>
                  </a:extLst>
                </a:gridCol>
                <a:gridCol w="1439863">
                  <a:extLst>
                    <a:ext uri="{9D8B030D-6E8A-4147-A177-3AD203B41FA5}">
                      <a16:colId xmlns:a16="http://schemas.microsoft.com/office/drawing/2014/main" val="20004"/>
                    </a:ext>
                  </a:extLst>
                </a:gridCol>
              </a:tblGrid>
              <a:tr h="58419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ID No.</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Name</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Age</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Gender</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Salary</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5833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301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302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303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304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 </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dirty="0"/>
                        <a:t>B</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dirty="0"/>
                        <a:t>O</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Y</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M</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 </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25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23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37</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31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 </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M</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F</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M</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M</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 </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19000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18500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25000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22000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 </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pic>
        <p:nvPicPr>
          <p:cNvPr id="10" name="图片 9" descr="微信图片_20220318113523">
            <a:extLst>
              <a:ext uri="{FF2B5EF4-FFF2-40B4-BE49-F238E27FC236}">
                <a16:creationId xmlns:a16="http://schemas.microsoft.com/office/drawing/2014/main" id="{69F02119-7E8D-4742-9378-947B79A6DAE3}"/>
              </a:ext>
            </a:extLst>
          </p:cNvPr>
          <p:cNvPicPr>
            <a:picLocks noChangeAspect="1"/>
          </p:cNvPicPr>
          <p:nvPr/>
        </p:nvPicPr>
        <p:blipFill>
          <a:blip r:embed="rId4"/>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890253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dirty="0">
                <a:latin typeface="Trebuchet MS" panose="020B0603020202020204" pitchFamily="34" charset="0"/>
              </a:rPr>
              <a:t>             4.1.2 </a:t>
            </a:r>
            <a:r>
              <a:rPr lang="en-US" altLang="zh-CN" sz="2000" b="1" dirty="0"/>
              <a:t>Definition of Binary Relations</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latin typeface="Trebuchet MS" panose="020B0603020202020204" pitchFamily="34" charset="0"/>
              </a:rPr>
              <a:t>Binary relation from A to B </a:t>
            </a:r>
            <a:r>
              <a:rPr lang="en-US" altLang="zh-CN" sz="2800" b="1" dirty="0">
                <a:solidFill>
                  <a:srgbClr val="CFA57C"/>
                </a:solidFill>
                <a:ea typeface="Cambria Math" panose="02040503050406030204" pitchFamily="18" charset="0"/>
                <a:cs typeface="Times New Roman" panose="02020603050405020304" pitchFamily="18" charset="0"/>
              </a:rPr>
              <a:t>&amp;</a:t>
            </a:r>
            <a:r>
              <a:rPr lang="en-US" altLang="zh-CN" sz="2800" dirty="0"/>
              <a:t> </a:t>
            </a:r>
            <a:r>
              <a:rPr lang="en-US" altLang="zh-CN" sz="2800" b="1" dirty="0">
                <a:latin typeface="Trebuchet MS" panose="020B0603020202020204" pitchFamily="34" charset="0"/>
              </a:rPr>
              <a:t>Binary relation on A</a:t>
            </a:r>
            <a:endParaRPr lang="zh-CN" altLang="en-US" sz="28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914400" y="831277"/>
            <a:ext cx="10838985" cy="5193473"/>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4.5</a:t>
            </a:r>
            <a:br>
              <a:rPr lang="en-US" sz="2400" dirty="0">
                <a:latin typeface="Trebuchet MS" panose="020B0603020202020204" pitchFamily="34" charset="0"/>
              </a:rPr>
            </a:br>
            <a:r>
              <a:rPr lang="en-US" sz="2400" dirty="0">
                <a:latin typeface="Trebuchet MS" panose="020B0603020202020204" pitchFamily="34" charset="0"/>
              </a:rPr>
              <a:t>Let </a:t>
            </a:r>
            <a:r>
              <a:rPr lang="en-US" sz="2400" b="1" i="1" dirty="0">
                <a:latin typeface="Trebuchet MS" panose="020B0603020202020204" pitchFamily="34" charset="0"/>
              </a:rPr>
              <a:t>A</a:t>
            </a:r>
            <a:r>
              <a:rPr lang="en-US" sz="2400" dirty="0">
                <a:latin typeface="Trebuchet MS" panose="020B0603020202020204" pitchFamily="34" charset="0"/>
              </a:rPr>
              <a:t> and </a:t>
            </a:r>
            <a:r>
              <a:rPr lang="en-US" sz="2400" b="1" i="1" dirty="0">
                <a:latin typeface="Trebuchet MS" panose="020B0603020202020204" pitchFamily="34" charset="0"/>
              </a:rPr>
              <a:t>B</a:t>
            </a:r>
            <a:r>
              <a:rPr lang="en-US" sz="2400" dirty="0">
                <a:latin typeface="Trebuchet MS" panose="020B0603020202020204" pitchFamily="34" charset="0"/>
              </a:rPr>
              <a:t> be sets. Any subset of </a:t>
            </a:r>
            <a:r>
              <a:rPr lang="en-US" sz="2400" b="1" i="1" dirty="0">
                <a:latin typeface="Trebuchet MS" panose="020B0603020202020204" pitchFamily="34" charset="0"/>
              </a:rPr>
              <a:t>A</a:t>
            </a:r>
            <a:r>
              <a:rPr lang="en-US" sz="2400" b="1" dirty="0">
                <a:latin typeface="Trebuchet MS" panose="020B0603020202020204" pitchFamily="34" charset="0"/>
              </a:rPr>
              <a:t>×</a:t>
            </a:r>
            <a:r>
              <a:rPr lang="en-US" sz="2400" b="1" i="1" dirty="0">
                <a:latin typeface="Trebuchet MS" panose="020B0603020202020204" pitchFamily="34" charset="0"/>
              </a:rPr>
              <a:t>B</a:t>
            </a:r>
            <a:r>
              <a:rPr lang="en-US" sz="2400" dirty="0">
                <a:latin typeface="Trebuchet MS" panose="020B0603020202020204" pitchFamily="34" charset="0"/>
              </a:rPr>
              <a:t> that defines a binary relation is called a </a:t>
            </a:r>
            <a:r>
              <a:rPr lang="en-US" sz="2400" b="1" i="1" dirty="0">
                <a:latin typeface="Trebuchet MS" panose="020B0603020202020204" pitchFamily="34" charset="0"/>
              </a:rPr>
              <a:t>binary relation from A to B</a:t>
            </a:r>
            <a:r>
              <a:rPr lang="en-US" sz="2400" dirty="0">
                <a:latin typeface="Trebuchet MS" panose="020B0603020202020204" pitchFamily="34" charset="0"/>
              </a:rPr>
              <a:t>. When </a:t>
            </a:r>
            <a:r>
              <a:rPr lang="en-US" sz="2400" b="1" i="1" dirty="0">
                <a:latin typeface="Trebuchet MS" panose="020B0603020202020204" pitchFamily="34" charset="0"/>
              </a:rPr>
              <a:t>A</a:t>
            </a:r>
            <a:r>
              <a:rPr lang="en-US" sz="2400" dirty="0">
                <a:latin typeface="Trebuchet MS" panose="020B0603020202020204" pitchFamily="34" charset="0"/>
              </a:rPr>
              <a:t>=</a:t>
            </a:r>
            <a:r>
              <a:rPr lang="en-US" sz="2400" b="1" i="1" dirty="0">
                <a:latin typeface="Trebuchet MS" panose="020B0603020202020204" pitchFamily="34" charset="0"/>
              </a:rPr>
              <a:t>B</a:t>
            </a:r>
            <a:r>
              <a:rPr lang="en-US" sz="2400" dirty="0">
                <a:latin typeface="Trebuchet MS" panose="020B0603020202020204" pitchFamily="34" charset="0"/>
              </a:rPr>
              <a:t>, it is called a </a:t>
            </a:r>
            <a:r>
              <a:rPr lang="en-US" sz="2400" b="1" i="1" dirty="0">
                <a:latin typeface="Trebuchet MS" panose="020B0603020202020204" pitchFamily="34" charset="0"/>
              </a:rPr>
              <a:t>binary relation on A.</a:t>
            </a:r>
          </a:p>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Counting:</a:t>
            </a:r>
          </a:p>
          <a:p>
            <a:pPr indent="39688">
              <a:lnSpc>
                <a:spcPct val="120000"/>
              </a:lnSpc>
              <a:spcBef>
                <a:spcPts val="300"/>
              </a:spcBef>
              <a:buClr>
                <a:srgbClr val="0B5BFF"/>
              </a:buClr>
              <a:buSzPct val="120000"/>
            </a:pPr>
            <a:r>
              <a:rPr lang="en-US" sz="2400" dirty="0">
                <a:latin typeface="Trebuchet MS" panose="020B0603020202020204" pitchFamily="34" charset="0"/>
              </a:rPr>
              <a:t>∣</a:t>
            </a:r>
            <a:r>
              <a:rPr lang="en-US" sz="2400" b="1" i="1" dirty="0">
                <a:latin typeface="Trebuchet MS" panose="020B0603020202020204" pitchFamily="34" charset="0"/>
              </a:rPr>
              <a:t>A</a:t>
            </a:r>
            <a:r>
              <a:rPr lang="en-US" sz="2400" dirty="0">
                <a:latin typeface="Trebuchet MS" panose="020B0603020202020204" pitchFamily="34" charset="0"/>
              </a:rPr>
              <a:t>∣=</a:t>
            </a:r>
            <a:r>
              <a:rPr lang="en-US" sz="2400" i="1" dirty="0" err="1">
                <a:latin typeface="Trebuchet MS" panose="020B0603020202020204" pitchFamily="34" charset="0"/>
              </a:rPr>
              <a:t>n</a:t>
            </a:r>
            <a:r>
              <a:rPr lang="en-US" sz="2400" dirty="0" err="1">
                <a:latin typeface="Trebuchet MS" panose="020B0603020202020204" pitchFamily="34" charset="0"/>
              </a:rPr>
              <a:t>,∣</a:t>
            </a:r>
            <a:r>
              <a:rPr lang="en-US" sz="2400" b="1" dirty="0" err="1">
                <a:latin typeface="Trebuchet MS" panose="020B0603020202020204" pitchFamily="34" charset="0"/>
              </a:rPr>
              <a:t>B</a:t>
            </a:r>
            <a:r>
              <a:rPr lang="en-US" sz="2400" dirty="0">
                <a:latin typeface="Trebuchet MS" panose="020B0603020202020204" pitchFamily="34" charset="0"/>
              </a:rPr>
              <a:t>∣=</a:t>
            </a:r>
            <a:r>
              <a:rPr lang="en-US" sz="2400" i="1" dirty="0" err="1">
                <a:latin typeface="Trebuchet MS" panose="020B0603020202020204" pitchFamily="34" charset="0"/>
              </a:rPr>
              <a:t>m</a:t>
            </a:r>
            <a:r>
              <a:rPr lang="en-US" sz="2400" dirty="0" err="1">
                <a:latin typeface="Trebuchet MS" panose="020B0603020202020204" pitchFamily="34" charset="0"/>
              </a:rPr>
              <a:t>,∣</a:t>
            </a:r>
            <a:r>
              <a:rPr lang="en-US" sz="2400" b="1" i="1" dirty="0" err="1">
                <a:latin typeface="Trebuchet MS" panose="020B0603020202020204" pitchFamily="34" charset="0"/>
              </a:rPr>
              <a:t>A</a:t>
            </a:r>
            <a:r>
              <a:rPr lang="en-US" sz="2400" dirty="0" err="1">
                <a:latin typeface="Trebuchet MS" panose="020B0603020202020204" pitchFamily="34" charset="0"/>
              </a:rPr>
              <a:t>×</a:t>
            </a:r>
            <a:r>
              <a:rPr lang="en-US" sz="2400" b="1" i="1" dirty="0" err="1">
                <a:latin typeface="Trebuchet MS" panose="020B0603020202020204" pitchFamily="34" charset="0"/>
              </a:rPr>
              <a:t>B</a:t>
            </a:r>
            <a:r>
              <a:rPr lang="en-US" sz="2400" dirty="0">
                <a:latin typeface="Trebuchet MS" panose="020B0603020202020204" pitchFamily="34" charset="0"/>
              </a:rPr>
              <a:t>∣=</a:t>
            </a:r>
            <a:r>
              <a:rPr lang="en-US" sz="2400" b="1" i="1" dirty="0">
                <a:latin typeface="Trebuchet MS" panose="020B0603020202020204" pitchFamily="34" charset="0"/>
              </a:rPr>
              <a:t>nm</a:t>
            </a:r>
            <a:r>
              <a:rPr lang="en-US" sz="2400" dirty="0">
                <a:latin typeface="Trebuchet MS" panose="020B0603020202020204" pitchFamily="34" charset="0"/>
              </a:rPr>
              <a:t>,</a:t>
            </a:r>
            <a:r>
              <a:rPr lang="zh-CN" altLang="en-US" sz="2400" dirty="0">
                <a:latin typeface="Trebuchet MS" panose="020B0603020202020204" pitchFamily="34" charset="0"/>
              </a:rPr>
              <a:t> </a:t>
            </a:r>
            <a:r>
              <a:rPr lang="en-US" sz="2400" dirty="0">
                <a:latin typeface="Trebuchet MS" panose="020B0603020202020204" pitchFamily="34" charset="0"/>
              </a:rPr>
              <a:t>and there are </a:t>
            </a:r>
            <a:r>
              <a:rPr lang="en-US" sz="2400" b="1" dirty="0">
                <a:latin typeface="Trebuchet MS" panose="020B0603020202020204" pitchFamily="34" charset="0"/>
              </a:rPr>
              <a:t>2</a:t>
            </a:r>
            <a:r>
              <a:rPr lang="en-US" sz="2400" b="1" i="1" baseline="30000" dirty="0">
                <a:latin typeface="Trebuchet MS" panose="020B0603020202020204" pitchFamily="34" charset="0"/>
              </a:rPr>
              <a:t>nm</a:t>
            </a:r>
            <a:r>
              <a:rPr lang="en-US" sz="2400" dirty="0">
                <a:latin typeface="Trebuchet MS" panose="020B0603020202020204" pitchFamily="34" charset="0"/>
              </a:rPr>
              <a:t>  subsets of </a:t>
            </a:r>
            <a:r>
              <a:rPr lang="en-US" sz="2400" b="1" i="1" dirty="0">
                <a:latin typeface="Trebuchet MS" panose="020B0603020202020204" pitchFamily="34" charset="0"/>
              </a:rPr>
              <a:t>A</a:t>
            </a:r>
            <a:r>
              <a:rPr lang="en-US" sz="2400" b="1" dirty="0">
                <a:latin typeface="Trebuchet MS" panose="020B0603020202020204" pitchFamily="34" charset="0"/>
              </a:rPr>
              <a:t>×</a:t>
            </a:r>
            <a:r>
              <a:rPr lang="en-US" sz="2400" b="1" i="1" dirty="0">
                <a:latin typeface="Trebuchet MS" panose="020B0603020202020204" pitchFamily="34" charset="0"/>
              </a:rPr>
              <a:t>B</a:t>
            </a:r>
            <a:r>
              <a:rPr lang="en-US" sz="2400" dirty="0">
                <a:latin typeface="Trebuchet MS" panose="020B0603020202020204" pitchFamily="34" charset="0"/>
              </a:rPr>
              <a:t>. Therefore, there are </a:t>
            </a:r>
            <a:r>
              <a:rPr lang="en-US" altLang="zh-CN" sz="2400" b="1" dirty="0">
                <a:latin typeface="Trebuchet MS" panose="020B0603020202020204" pitchFamily="34" charset="0"/>
              </a:rPr>
              <a:t>2</a:t>
            </a:r>
            <a:r>
              <a:rPr lang="en-US" altLang="zh-CN" sz="2400" b="1" baseline="30000" dirty="0">
                <a:latin typeface="Trebuchet MS" panose="020B0603020202020204" pitchFamily="34" charset="0"/>
              </a:rPr>
              <a:t>nm</a:t>
            </a:r>
            <a:r>
              <a:rPr lang="en-US" sz="2400" dirty="0">
                <a:latin typeface="Trebuchet MS" panose="020B0603020202020204" pitchFamily="34" charset="0"/>
              </a:rPr>
              <a:t>   different binary relations from </a:t>
            </a:r>
            <a:r>
              <a:rPr lang="en-US" sz="2400" b="1" i="1" dirty="0">
                <a:latin typeface="Trebuchet MS" panose="020B0603020202020204" pitchFamily="34" charset="0"/>
              </a:rPr>
              <a:t>A</a:t>
            </a:r>
            <a:r>
              <a:rPr lang="en-US" sz="2400" dirty="0">
                <a:latin typeface="Trebuchet MS" panose="020B0603020202020204" pitchFamily="34" charset="0"/>
              </a:rPr>
              <a:t> to </a:t>
            </a:r>
            <a:r>
              <a:rPr lang="en-US" sz="2400" b="1" i="1" dirty="0">
                <a:latin typeface="Trebuchet MS" panose="020B0603020202020204" pitchFamily="34" charset="0"/>
              </a:rPr>
              <a:t>B</a:t>
            </a:r>
            <a:r>
              <a:rPr lang="en-US" sz="2400" dirty="0">
                <a:latin typeface="Trebuchet MS" panose="020B0603020202020204" pitchFamily="34" charset="0"/>
              </a:rPr>
              <a:t>.</a:t>
            </a:r>
          </a:p>
          <a:p>
            <a:pPr indent="39688">
              <a:lnSpc>
                <a:spcPct val="120000"/>
              </a:lnSpc>
              <a:spcBef>
                <a:spcPts val="300"/>
              </a:spcBef>
              <a:buClr>
                <a:srgbClr val="0B5BFF"/>
              </a:buClr>
              <a:buSzPct val="120000"/>
            </a:pPr>
            <a:r>
              <a:rPr lang="en-US" sz="2400" dirty="0">
                <a:latin typeface="Trebuchet MS" panose="020B0603020202020204" pitchFamily="34" charset="0"/>
              </a:rPr>
              <a:t> If ∣</a:t>
            </a:r>
            <a:r>
              <a:rPr lang="en-US" sz="2400" b="1" i="1" dirty="0">
                <a:latin typeface="Trebuchet MS" panose="020B0603020202020204" pitchFamily="34" charset="0"/>
              </a:rPr>
              <a:t>A</a:t>
            </a:r>
            <a:r>
              <a:rPr lang="en-US" sz="2400" dirty="0">
                <a:latin typeface="Trebuchet MS" panose="020B0603020202020204" pitchFamily="34" charset="0"/>
              </a:rPr>
              <a:t>∣=</a:t>
            </a:r>
            <a:r>
              <a:rPr lang="en-US" sz="2400" b="1" i="1" dirty="0">
                <a:latin typeface="Trebuchet MS" panose="020B0603020202020204" pitchFamily="34" charset="0"/>
              </a:rPr>
              <a:t>n</a:t>
            </a:r>
            <a:r>
              <a:rPr lang="en-US" sz="2400" dirty="0">
                <a:latin typeface="Trebuchet MS" panose="020B0603020202020204" pitchFamily="34" charset="0"/>
              </a:rPr>
              <a:t>, there are      different binary relations on </a:t>
            </a:r>
            <a:r>
              <a:rPr lang="en-US" sz="2400" b="1" i="1" dirty="0">
                <a:latin typeface="Trebuchet MS" panose="020B0603020202020204" pitchFamily="34" charset="0"/>
              </a:rPr>
              <a:t>A</a:t>
            </a:r>
            <a:r>
              <a:rPr lang="en-US" sz="2400" dirty="0">
                <a:latin typeface="Trebuchet MS" panose="020B0603020202020204" pitchFamily="34" charset="0"/>
              </a:rPr>
              <a:t>.   </a:t>
            </a:r>
          </a:p>
          <a:p>
            <a:pPr indent="39688">
              <a:lnSpc>
                <a:spcPct val="120000"/>
              </a:lnSpc>
              <a:spcBef>
                <a:spcPts val="300"/>
              </a:spcBef>
              <a:buClr>
                <a:srgbClr val="0B5BFF"/>
              </a:buClr>
              <a:buSzPct val="120000"/>
            </a:pPr>
            <a:r>
              <a:rPr lang="en-US" sz="2400" dirty="0">
                <a:latin typeface="Trebuchet MS" panose="020B0603020202020204" pitchFamily="34" charset="0"/>
              </a:rPr>
              <a:t>For example, if ∣</a:t>
            </a:r>
            <a:r>
              <a:rPr lang="en-US" sz="2400" b="1" i="1" dirty="0">
                <a:latin typeface="Trebuchet MS" panose="020B0603020202020204" pitchFamily="34" charset="0"/>
              </a:rPr>
              <a:t>A</a:t>
            </a:r>
            <a:r>
              <a:rPr lang="en-US" sz="2400" dirty="0">
                <a:latin typeface="Trebuchet MS" panose="020B0603020202020204" pitchFamily="34" charset="0"/>
              </a:rPr>
              <a:t>∣=3, then there are 512 different binary relations on </a:t>
            </a:r>
            <a:r>
              <a:rPr lang="en-US" sz="2400" b="1" i="1" dirty="0">
                <a:latin typeface="Trebuchet MS" panose="020B0603020202020204" pitchFamily="34" charset="0"/>
              </a:rPr>
              <a:t>A</a:t>
            </a:r>
            <a:r>
              <a:rPr lang="en-US" sz="2400" dirty="0">
                <a:latin typeface="Trebuchet MS" panose="020B0603020202020204" pitchFamily="34" charset="0"/>
              </a:rPr>
              <a:t>.</a:t>
            </a:r>
          </a:p>
          <a:p>
            <a:pPr indent="0">
              <a:lnSpc>
                <a:spcPct val="120000"/>
              </a:lnSpc>
              <a:spcBef>
                <a:spcPts val="300"/>
              </a:spcBef>
              <a:buClr>
                <a:srgbClr val="0B5BFF"/>
              </a:buClr>
              <a:buSzPct val="120000"/>
              <a:buNone/>
            </a:pPr>
            <a:r>
              <a:rPr lang="en-US" altLang="zh-CN" sz="2800" b="1" dirty="0"/>
              <a:t> Note: </a:t>
            </a:r>
            <a:r>
              <a:rPr lang="en-US" altLang="zh-CN" sz="2400" b="1" dirty="0">
                <a:latin typeface="Trebuchet MS" panose="020B0603020202020204" pitchFamily="34" charset="0"/>
              </a:rPr>
              <a:t>Sets are the ‌static carriers‌ of relations, while relations are the ‌dynamic interaction rules‌ between sets.</a:t>
            </a:r>
          </a:p>
        </p:txBody>
      </p:sp>
      <p:graphicFrame>
        <p:nvGraphicFramePr>
          <p:cNvPr id="5" name="对象 4">
            <a:extLst>
              <a:ext uri="{FF2B5EF4-FFF2-40B4-BE49-F238E27FC236}">
                <a16:creationId xmlns:a16="http://schemas.microsoft.com/office/drawing/2014/main" id="{42A251D4-8922-43C1-A63D-C590CE51F310}"/>
              </a:ext>
            </a:extLst>
          </p:cNvPr>
          <p:cNvGraphicFramePr>
            <a:graphicFrameLocks noChangeAspect="1"/>
          </p:cNvGraphicFramePr>
          <p:nvPr>
            <p:extLst>
              <p:ext uri="{D42A27DB-BD31-4B8C-83A1-F6EECF244321}">
                <p14:modId xmlns:p14="http://schemas.microsoft.com/office/powerpoint/2010/main" val="1360506833"/>
              </p:ext>
            </p:extLst>
          </p:nvPr>
        </p:nvGraphicFramePr>
        <p:xfrm>
          <a:off x="3959885" y="4022045"/>
          <a:ext cx="508000" cy="450850"/>
        </p:xfrm>
        <a:graphic>
          <a:graphicData uri="http://schemas.openxmlformats.org/presentationml/2006/ole">
            <mc:AlternateContent xmlns:mc="http://schemas.openxmlformats.org/markup-compatibility/2006">
              <mc:Choice xmlns:v="urn:schemas-microsoft-com:vml" Requires="v">
                <p:oleObj name="Equation" r:id="rId4" imgW="508128" imgH="450888" progId="Equation.DSMT4">
                  <p:embed/>
                </p:oleObj>
              </mc:Choice>
              <mc:Fallback>
                <p:oleObj name="Equation" r:id="rId4" imgW="508128" imgH="450888" progId="Equation.DSMT4">
                  <p:embed/>
                  <p:pic>
                    <p:nvPicPr>
                      <p:cNvPr id="0" name=""/>
                      <p:cNvPicPr/>
                      <p:nvPr/>
                    </p:nvPicPr>
                    <p:blipFill>
                      <a:blip r:embed="rId5"/>
                      <a:stretch>
                        <a:fillRect/>
                      </a:stretch>
                    </p:blipFill>
                    <p:spPr>
                      <a:xfrm>
                        <a:off x="3959885" y="4022045"/>
                        <a:ext cx="508000" cy="450850"/>
                      </a:xfrm>
                      <a:prstGeom prst="rect">
                        <a:avLst/>
                      </a:prstGeom>
                    </p:spPr>
                  </p:pic>
                </p:oleObj>
              </mc:Fallback>
            </mc:AlternateContent>
          </a:graphicData>
        </a:graphic>
      </p:graphicFrame>
      <p:sp>
        <p:nvSpPr>
          <p:cNvPr id="6" name="Rectangle 146">
            <a:extLst>
              <a:ext uri="{FF2B5EF4-FFF2-40B4-BE49-F238E27FC236}">
                <a16:creationId xmlns:a16="http://schemas.microsoft.com/office/drawing/2014/main" id="{BA186FEB-91B0-4ED4-B612-954D92A927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6EEEA1EE-285C-4252-A653-FD23BA9170D2}"/>
              </a:ext>
            </a:extLst>
          </p:cNvPr>
          <p:cNvGraphicFramePr>
            <a:graphicFrameLocks noChangeAspect="1"/>
          </p:cNvGraphicFramePr>
          <p:nvPr>
            <p:extLst>
              <p:ext uri="{D42A27DB-BD31-4B8C-83A1-F6EECF244321}">
                <p14:modId xmlns:p14="http://schemas.microsoft.com/office/powerpoint/2010/main" val="3832528118"/>
              </p:ext>
            </p:extLst>
          </p:nvPr>
        </p:nvGraphicFramePr>
        <p:xfrm>
          <a:off x="970159" y="5096106"/>
          <a:ext cx="311150" cy="374650"/>
        </p:xfrm>
        <a:graphic>
          <a:graphicData uri="http://schemas.openxmlformats.org/presentationml/2006/ole">
            <mc:AlternateContent xmlns:mc="http://schemas.openxmlformats.org/markup-compatibility/2006">
              <mc:Choice xmlns:v="urn:schemas-microsoft-com:vml" Requires="v">
                <p:oleObj name="Visio" r:id="rId6" imgW="584296" imgH="698595" progId="Visio.Drawing.15">
                  <p:embed/>
                </p:oleObj>
              </mc:Choice>
              <mc:Fallback>
                <p:oleObj name="Visio" r:id="rId6" imgW="584296" imgH="698595" progId="Visio.Drawing.15">
                  <p:embed/>
                  <p:pic>
                    <p:nvPicPr>
                      <p:cNvPr id="0" name="Object 1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0159" y="5096106"/>
                        <a:ext cx="3111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descr="微信图片_20220318113523">
            <a:extLst>
              <a:ext uri="{FF2B5EF4-FFF2-40B4-BE49-F238E27FC236}">
                <a16:creationId xmlns:a16="http://schemas.microsoft.com/office/drawing/2014/main" id="{D021B5DE-B9CD-4DDD-BF23-DEB4A127725E}"/>
              </a:ext>
            </a:extLst>
          </p:cNvPr>
          <p:cNvPicPr>
            <a:picLocks noChangeAspect="1"/>
          </p:cNvPicPr>
          <p:nvPr/>
        </p:nvPicPr>
        <p:blipFill>
          <a:blip r:embed="rId8"/>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3163172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1000"/>
                                        <p:tgtEl>
                                          <p:spTgt spid="14">
                                            <p:txEl>
                                              <p:pRg st="2" end="2"/>
                                            </p:txEl>
                                          </p:spTgt>
                                        </p:tgtEl>
                                      </p:cBhvr>
                                    </p:animEffect>
                                    <p:anim calcmode="lin" valueType="num">
                                      <p:cBhvr>
                                        <p:cTn id="13"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fade">
                                      <p:cBhvr>
                                        <p:cTn id="19" dur="1000"/>
                                        <p:tgtEl>
                                          <p:spTgt spid="14">
                                            <p:txEl>
                                              <p:pRg st="3" end="3"/>
                                            </p:txEl>
                                          </p:spTgt>
                                        </p:tgtEl>
                                      </p:cBhvr>
                                    </p:animEffect>
                                    <p:anim calcmode="lin" valueType="num">
                                      <p:cBhvr>
                                        <p:cTn id="20"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Effect transition="in" filter="fade">
                                      <p:cBhvr>
                                        <p:cTn id="31" dur="1000"/>
                                        <p:tgtEl>
                                          <p:spTgt spid="14">
                                            <p:txEl>
                                              <p:pRg st="4" end="4"/>
                                            </p:txEl>
                                          </p:spTgt>
                                        </p:tgtEl>
                                      </p:cBhvr>
                                    </p:animEffect>
                                    <p:anim calcmode="lin" valueType="num">
                                      <p:cBhvr>
                                        <p:cTn id="3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fade">
                                      <p:cBhvr>
                                        <p:cTn id="38" dur="1000"/>
                                        <p:tgtEl>
                                          <p:spTgt spid="14">
                                            <p:txEl>
                                              <p:pRg st="5" end="5"/>
                                            </p:txEl>
                                          </p:spTgt>
                                        </p:tgtEl>
                                      </p:cBhvr>
                                    </p:animEffect>
                                    <p:anim calcmode="lin" valueType="num">
                                      <p:cBhvr>
                                        <p:cTn id="39"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4.1.2 </a:t>
            </a:r>
            <a:r>
              <a:rPr lang="en-US" altLang="zh-CN" sz="2000" b="1" dirty="0"/>
              <a:t>Definition of Binary Relations</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rgbClr val="CFA57C"/>
                </a:solidFill>
                <a:effectLst/>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chemeClr val="bg1"/>
                </a:solidFill>
                <a:latin typeface="Trebuchet MS" panose="020B0603020202020204" pitchFamily="34" charset="0"/>
              </a:rPr>
              <a:t>universal </a:t>
            </a:r>
            <a:r>
              <a:rPr lang="en-US" altLang="zh-CN" sz="2400" b="1" i="0" dirty="0">
                <a:solidFill>
                  <a:schemeClr val="bg1"/>
                </a:solidFill>
                <a:effectLst/>
                <a:latin typeface="Trebuchet MS" panose="020B0603020202020204" pitchFamily="34" charset="0"/>
              </a:rPr>
              <a:t>relation(</a:t>
            </a:r>
            <a:r>
              <a:rPr kumimoji="0" lang="en-US" altLang="zh-CN" sz="2400" b="1" i="1" dirty="0"/>
              <a:t>E</a:t>
            </a:r>
            <a:r>
              <a:rPr kumimoji="0" lang="en-US" altLang="zh-CN" sz="2400" b="1" i="1" baseline="-25000" dirty="0"/>
              <a:t>A</a:t>
            </a:r>
            <a:r>
              <a:rPr lang="en-US" altLang="zh-CN" sz="2400" b="1" i="0" dirty="0">
                <a:solidFill>
                  <a:schemeClr val="bg1"/>
                </a:solidFill>
                <a:effectLst/>
                <a:latin typeface="Trebuchet MS" panose="020B0603020202020204" pitchFamily="34" charset="0"/>
              </a:rPr>
              <a:t>)</a:t>
            </a:r>
            <a:r>
              <a:rPr lang="en-US" altLang="zh-CN" sz="2400" b="1" dirty="0">
                <a:solidFill>
                  <a:schemeClr val="bg1"/>
                </a:solidFill>
                <a:latin typeface="Trebuchet MS" panose="020B0603020202020204" pitchFamily="34" charset="0"/>
              </a:rPr>
              <a:t> </a:t>
            </a:r>
            <a:r>
              <a:rPr lang="en-US" altLang="zh-CN" sz="2400" b="1" dirty="0">
                <a:solidFill>
                  <a:schemeClr val="bg1"/>
                </a:solidFill>
                <a:ea typeface="Cambria Math" panose="02040503050406030204" pitchFamily="18" charset="0"/>
                <a:cs typeface="Times New Roman" panose="02020603050405020304" pitchFamily="18" charset="0"/>
              </a:rPr>
              <a:t>&amp;</a:t>
            </a:r>
            <a:r>
              <a:rPr lang="en-US" altLang="zh-CN" sz="2400" b="1" dirty="0">
                <a:solidFill>
                  <a:schemeClr val="bg1"/>
                </a:solidFill>
                <a:latin typeface="Trebuchet MS" panose="020B0603020202020204" pitchFamily="34" charset="0"/>
              </a:rPr>
              <a:t> </a:t>
            </a:r>
            <a:r>
              <a:rPr lang="en-US" altLang="zh-CN" sz="2400" b="1" i="0" dirty="0">
                <a:solidFill>
                  <a:schemeClr val="bg1"/>
                </a:solidFill>
                <a:effectLst/>
                <a:latin typeface="Trebuchet MS" panose="020B0603020202020204" pitchFamily="34" charset="0"/>
              </a:rPr>
              <a:t>identity relation (</a:t>
            </a:r>
            <a:r>
              <a:rPr kumimoji="0" lang="en-US" altLang="zh-CN" sz="2400" b="1" i="1" dirty="0"/>
              <a:t>I</a:t>
            </a:r>
            <a:r>
              <a:rPr kumimoji="0" lang="en-US" altLang="zh-CN" sz="2400" b="1" i="1" baseline="-25000" dirty="0"/>
              <a:t>A</a:t>
            </a:r>
            <a:r>
              <a:rPr lang="en-US" altLang="zh-CN" sz="2400" b="1" i="0" dirty="0">
                <a:solidFill>
                  <a:schemeClr val="bg1"/>
                </a:solidFill>
                <a:effectLst/>
                <a:latin typeface="Trebuchet MS" panose="020B0603020202020204" pitchFamily="34" charset="0"/>
              </a:rPr>
              <a:t>)</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5053" y="889426"/>
            <a:ext cx="9765545" cy="5675913"/>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b="0" i="0" dirty="0">
                <a:solidFill>
                  <a:srgbClr val="0C0D0E"/>
                </a:solidFill>
                <a:effectLst/>
                <a:latin typeface="Trebuchet MS" panose="020B0603020202020204" pitchFamily="34" charset="0"/>
              </a:rPr>
              <a:t>Let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be any </a:t>
            </a:r>
            <a:r>
              <a:rPr lang="en-US" sz="2400" b="0" i="0" dirty="0" err="1">
                <a:solidFill>
                  <a:srgbClr val="0C0D0E"/>
                </a:solidFill>
                <a:effectLst/>
                <a:latin typeface="Trebuchet MS" panose="020B0603020202020204" pitchFamily="34" charset="0"/>
              </a:rPr>
              <a:t>set.The</a:t>
            </a:r>
            <a:r>
              <a:rPr lang="en-US" sz="2400" b="0" i="0" dirty="0">
                <a:solidFill>
                  <a:srgbClr val="0C0D0E"/>
                </a:solidFill>
                <a:effectLst/>
                <a:latin typeface="Trebuchet MS" panose="020B0603020202020204" pitchFamily="34" charset="0"/>
              </a:rPr>
              <a:t> empty set </a:t>
            </a:r>
            <a:r>
              <a:rPr lang="en-US" sz="2400" b="1" dirty="0">
                <a:solidFill>
                  <a:srgbClr val="0C0D0E"/>
                </a:solidFill>
                <a:effectLst/>
                <a:latin typeface="Trebuchet MS" panose="020B0603020202020204" pitchFamily="34" charset="0"/>
              </a:rPr>
              <a:t>∅</a:t>
            </a:r>
            <a:r>
              <a:rPr lang="en-US" sz="2400" b="0" i="0" dirty="0">
                <a:solidFill>
                  <a:srgbClr val="0C0D0E"/>
                </a:solidFill>
                <a:effectLst/>
                <a:latin typeface="Trebuchet MS" panose="020B0603020202020204" pitchFamily="34" charset="0"/>
              </a:rPr>
              <a:t> is considered as the </a:t>
            </a:r>
            <a:r>
              <a:rPr lang="en-US" sz="2400" b="1" i="1" dirty="0">
                <a:solidFill>
                  <a:srgbClr val="0C0D0E"/>
                </a:solidFill>
                <a:effectLst/>
                <a:latin typeface="Trebuchet MS" panose="020B0603020202020204" pitchFamily="34" charset="0"/>
              </a:rPr>
              <a:t>empty relation </a:t>
            </a:r>
            <a:r>
              <a:rPr lang="en-US" sz="2400" b="0" i="0" dirty="0">
                <a:solidFill>
                  <a:srgbClr val="0C0D0E"/>
                </a:solidFill>
                <a:effectLst/>
                <a:latin typeface="Trebuchet MS" panose="020B0603020202020204" pitchFamily="34" charset="0"/>
              </a:rPr>
              <a:t>on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a:t>
            </a:r>
          </a:p>
          <a:p>
            <a:pPr algn="l">
              <a:lnSpc>
                <a:spcPct val="120000"/>
              </a:lnSpc>
              <a:spcBef>
                <a:spcPts val="300"/>
              </a:spcBef>
              <a:buClr>
                <a:srgbClr val="0B5B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4.6:</a:t>
            </a:r>
            <a:endParaRPr lang="en-US" sz="2400" b="0" i="0" dirty="0">
              <a:solidFill>
                <a:srgbClr val="0C0D0E"/>
              </a:solidFill>
              <a:effectLst/>
              <a:latin typeface="Trebuchet MS" panose="020B0603020202020204" pitchFamily="34" charset="0"/>
            </a:endParaRPr>
          </a:p>
          <a:p>
            <a:pPr indent="36513" algn="l">
              <a:lnSpc>
                <a:spcPct val="120000"/>
              </a:lnSpc>
              <a:spcBef>
                <a:spcPts val="300"/>
              </a:spcBef>
              <a:buClr>
                <a:srgbClr val="0B5BFF"/>
              </a:buClr>
              <a:buSzPct val="120000"/>
            </a:pPr>
            <a:r>
              <a:rPr kumimoji="0" lang="en-US" altLang="zh-CN" sz="2400" b="1" i="1" dirty="0">
                <a:latin typeface="Trebuchet MS" panose="020B0603020202020204" pitchFamily="34" charset="0"/>
              </a:rPr>
              <a:t> E</a:t>
            </a:r>
            <a:r>
              <a:rPr kumimoji="0" lang="en-US" altLang="zh-CN" sz="2400" b="1" i="1" baseline="-25000" dirty="0">
                <a:latin typeface="Trebuchet MS" panose="020B0603020202020204" pitchFamily="34" charset="0"/>
              </a:rPr>
              <a:t>A</a:t>
            </a:r>
            <a:r>
              <a:rPr lang="en-US" sz="2400" b="0" i="0" dirty="0">
                <a:solidFill>
                  <a:srgbClr val="0C0D0E"/>
                </a:solidFill>
                <a:effectLst/>
                <a:latin typeface="Trebuchet MS" panose="020B0603020202020204" pitchFamily="34" charset="0"/>
              </a:rPr>
              <a:t> is called the </a:t>
            </a:r>
            <a:r>
              <a:rPr lang="en-US" sz="2400" b="1" i="1" dirty="0">
                <a:solidFill>
                  <a:srgbClr val="0C0D0E"/>
                </a:solidFill>
                <a:effectLst/>
                <a:latin typeface="Trebuchet MS" panose="020B0603020202020204" pitchFamily="34" charset="0"/>
              </a:rPr>
              <a:t>universal relation </a:t>
            </a:r>
            <a:r>
              <a:rPr lang="en-US" sz="2400" b="0" i="0" dirty="0">
                <a:solidFill>
                  <a:srgbClr val="0C0D0E"/>
                </a:solidFill>
                <a:effectLst/>
                <a:latin typeface="Trebuchet MS" panose="020B0603020202020204" pitchFamily="34" charset="0"/>
              </a:rPr>
              <a:t>on</a:t>
            </a:r>
            <a:r>
              <a:rPr lang="en-US" sz="2400" b="1" i="1" dirty="0">
                <a:solidFill>
                  <a:srgbClr val="0C0D0E"/>
                </a:solidFill>
                <a:effectLst/>
                <a:latin typeface="Trebuchet MS" panose="020B0603020202020204" pitchFamily="34" charset="0"/>
              </a:rPr>
              <a:t> A</a:t>
            </a:r>
            <a:r>
              <a:rPr lang="en-US" sz="2400" b="0" i="0" dirty="0">
                <a:solidFill>
                  <a:srgbClr val="0C0D0E"/>
                </a:solidFill>
                <a:effectLst/>
                <a:latin typeface="Trebuchet MS" panose="020B0603020202020204" pitchFamily="34" charset="0"/>
              </a:rPr>
              <a:t>, where</a:t>
            </a: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E</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 |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endParaRPr kumimoji="0" lang="en-US" altLang="zh-CN" sz="2400" b="1" dirty="0">
              <a:latin typeface="Trebuchet MS" panose="020B0603020202020204" pitchFamily="34" charset="0"/>
            </a:endParaRPr>
          </a:p>
          <a:p>
            <a:pPr marL="452438" indent="-187325" eaLnBrk="1" hangingPunct="1">
              <a:lnSpc>
                <a:spcPct val="120000"/>
              </a:lnSpc>
              <a:spcBef>
                <a:spcPts val="300"/>
              </a:spcBef>
              <a:buClr>
                <a:srgbClr val="0B5BFF"/>
              </a:buClr>
              <a:buSzPct val="120000"/>
            </a:pPr>
            <a:r>
              <a:rPr kumimoji="0" lang="en-US" altLang="zh-CN" sz="2400" b="1" i="1" dirty="0">
                <a:latin typeface="Trebuchet MS" panose="020B0603020202020204" pitchFamily="34" charset="0"/>
              </a:rPr>
              <a:t> I</a:t>
            </a:r>
            <a:r>
              <a:rPr kumimoji="0" lang="en-US" altLang="zh-CN" sz="2400" b="1" i="1" baseline="-25000" dirty="0">
                <a:latin typeface="Trebuchet MS" panose="020B0603020202020204" pitchFamily="34" charset="0"/>
              </a:rPr>
              <a:t>A </a:t>
            </a:r>
            <a:r>
              <a:rPr lang="en-US" sz="2400" b="0" i="0" dirty="0">
                <a:solidFill>
                  <a:srgbClr val="0C0D0E"/>
                </a:solidFill>
                <a:effectLst/>
                <a:latin typeface="Trebuchet MS" panose="020B0603020202020204" pitchFamily="34" charset="0"/>
              </a:rPr>
              <a:t>is called the </a:t>
            </a:r>
            <a:r>
              <a:rPr lang="en-US" sz="2400" b="1" i="1" dirty="0">
                <a:solidFill>
                  <a:srgbClr val="0C0D0E"/>
                </a:solidFill>
                <a:effectLst/>
                <a:latin typeface="Trebuchet MS" panose="020B0603020202020204" pitchFamily="34" charset="0"/>
              </a:rPr>
              <a:t>identity relation </a:t>
            </a:r>
            <a:r>
              <a:rPr lang="en-US" sz="2400" b="0" i="0" dirty="0">
                <a:solidFill>
                  <a:srgbClr val="0C0D0E"/>
                </a:solidFill>
                <a:effectLst/>
                <a:latin typeface="Trebuchet MS" panose="020B0603020202020204" pitchFamily="34" charset="0"/>
              </a:rPr>
              <a:t>on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where</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 |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endParaRPr kumimoji="0" lang="en-US" altLang="zh-CN" sz="2400" b="1" dirty="0">
              <a:latin typeface="Trebuchet MS" panose="020B0603020202020204" pitchFamily="34" charset="0"/>
            </a:endParaRPr>
          </a:p>
          <a:p>
            <a:pPr eaLnBrk="1" hangingPunct="1">
              <a:lnSpc>
                <a:spcPct val="120000"/>
              </a:lnSpc>
              <a:spcBef>
                <a:spcPts val="300"/>
              </a:spcBef>
              <a:buFontTx/>
              <a:buNone/>
            </a:pPr>
            <a:r>
              <a:rPr kumimoji="0" lang="en-US" altLang="zh-CN" sz="2400" b="1" dirty="0">
                <a:latin typeface="Trebuchet MS" panose="020B0603020202020204" pitchFamily="34" charset="0"/>
              </a:rPr>
              <a:t>     Example:</a:t>
            </a:r>
            <a:r>
              <a:rPr lang="en-US" altLang="zh-CN" sz="2400" b="1"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={1,2}, </a:t>
            </a:r>
            <a:r>
              <a:rPr lang="en-US" altLang="zh-CN" sz="2400" b="1" dirty="0">
                <a:latin typeface="Trebuchet MS" panose="020B0603020202020204" pitchFamily="34" charset="0"/>
              </a:rPr>
              <a:t>then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E</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={&lt;1,1&gt;,&lt;1,2&gt;,&lt;2,1&gt;,&lt;2,2&gt;}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={&lt;1,1&gt;,&lt;2,2&gt;}</a:t>
            </a:r>
          </a:p>
          <a:p>
            <a:pPr eaLnBrk="1" hangingPunct="1">
              <a:lnSpc>
                <a:spcPct val="90000"/>
              </a:lnSpc>
              <a:buFontTx/>
              <a:buNone/>
            </a:pPr>
            <a:endParaRPr lang="en-US" altLang="zh-CN" sz="2800" b="1" dirty="0">
              <a:solidFill>
                <a:srgbClr val="800000"/>
              </a:solidFill>
            </a:endParaRPr>
          </a:p>
        </p:txBody>
      </p:sp>
      <p:pic>
        <p:nvPicPr>
          <p:cNvPr id="9" name="图片 8">
            <a:extLst>
              <a:ext uri="{FF2B5EF4-FFF2-40B4-BE49-F238E27FC236}">
                <a16:creationId xmlns:a16="http://schemas.microsoft.com/office/drawing/2014/main" id="{8472E55A-624C-48E6-B6A0-1C25173513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125" y="4747782"/>
            <a:ext cx="576355" cy="257697"/>
          </a:xfrm>
          <a:prstGeom prst="rect">
            <a:avLst/>
          </a:prstGeom>
        </p:spPr>
      </p:pic>
      <p:pic>
        <p:nvPicPr>
          <p:cNvPr id="10" name="图片 9" descr="微信图片_20220318113523">
            <a:extLst>
              <a:ext uri="{FF2B5EF4-FFF2-40B4-BE49-F238E27FC236}">
                <a16:creationId xmlns:a16="http://schemas.microsoft.com/office/drawing/2014/main" id="{67A3C411-D872-4F4C-8F1C-35F112BB1BD2}"/>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2311462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1000"/>
                                        <p:tgtEl>
                                          <p:spTgt spid="14">
                                            <p:txEl>
                                              <p:pRg st="2" end="2"/>
                                            </p:txEl>
                                          </p:spTgt>
                                        </p:tgtEl>
                                      </p:cBhvr>
                                    </p:animEffect>
                                    <p:anim calcmode="lin" valueType="num">
                                      <p:cBhvr>
                                        <p:cTn id="13"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animEffect transition="in" filter="fade">
                                      <p:cBhvr>
                                        <p:cTn id="17" dur="1000"/>
                                        <p:tgtEl>
                                          <p:spTgt spid="14">
                                            <p:txEl>
                                              <p:pRg st="3" end="3"/>
                                            </p:txEl>
                                          </p:spTgt>
                                        </p:tgtEl>
                                      </p:cBhvr>
                                    </p:animEffect>
                                    <p:anim calcmode="lin" valueType="num">
                                      <p:cBhvr>
                                        <p:cTn id="18"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fade">
                                      <p:cBhvr>
                                        <p:cTn id="22" dur="1000"/>
                                        <p:tgtEl>
                                          <p:spTgt spid="14">
                                            <p:txEl>
                                              <p:pRg st="4" end="4"/>
                                            </p:txEl>
                                          </p:spTgt>
                                        </p:tgtEl>
                                      </p:cBhvr>
                                    </p:animEffect>
                                    <p:anim calcmode="lin" valueType="num">
                                      <p:cBhvr>
                                        <p:cTn id="23"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4">
                                            <p:txEl>
                                              <p:pRg st="5" end="5"/>
                                            </p:txEl>
                                          </p:spTgt>
                                        </p:tgtEl>
                                        <p:attrNameLst>
                                          <p:attrName>style.visibility</p:attrName>
                                        </p:attrNameLst>
                                      </p:cBhvr>
                                      <p:to>
                                        <p:strVal val="visible"/>
                                      </p:to>
                                    </p:set>
                                    <p:animEffect transition="in" filter="fade">
                                      <p:cBhvr>
                                        <p:cTn id="29" dur="1000"/>
                                        <p:tgtEl>
                                          <p:spTgt spid="14">
                                            <p:txEl>
                                              <p:pRg st="5" end="5"/>
                                            </p:txEl>
                                          </p:spTgt>
                                        </p:tgtEl>
                                      </p:cBhvr>
                                    </p:animEffect>
                                    <p:anim calcmode="lin" valueType="num">
                                      <p:cBhvr>
                                        <p:cTn id="30"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rebuchet MS" panose="020B0603020202020204" pitchFamily="34" charset="0"/>
              </a:rPr>
              <a:t>4.1.2 </a:t>
            </a:r>
            <a:r>
              <a:rPr lang="en-US" altLang="zh-CN" sz="1800" b="1" dirty="0"/>
              <a:t>Definition of Binary Relations</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Trebuchet MS" panose="020B0603020202020204" pitchFamily="34" charset="0"/>
              </a:rPr>
              <a:t>Less than or equal to relation(</a:t>
            </a:r>
            <a:r>
              <a:rPr kumimoji="0" lang="en-US" altLang="zh-CN" sz="2400" b="1" i="1" dirty="0">
                <a:solidFill>
                  <a:schemeClr val="bg1"/>
                </a:solidFill>
                <a:latin typeface="Trebuchet MS" panose="020B0603020202020204" pitchFamily="34" charset="0"/>
              </a:rPr>
              <a:t>L</a:t>
            </a:r>
            <a:r>
              <a:rPr kumimoji="0" lang="en-US" altLang="zh-CN" sz="2400" b="1" i="1" baseline="-25000" dirty="0">
                <a:solidFill>
                  <a:schemeClr val="bg1"/>
                </a:solidFill>
                <a:latin typeface="Trebuchet MS" panose="020B0603020202020204" pitchFamily="34" charset="0"/>
              </a:rPr>
              <a:t>A</a:t>
            </a:r>
            <a:r>
              <a:rPr lang="en-US" altLang="zh-CN" sz="2400" b="1" i="0" dirty="0">
                <a:solidFill>
                  <a:schemeClr val="bg1"/>
                </a:solidFill>
                <a:effectLst/>
                <a:latin typeface="Trebuchet MS" panose="020B0603020202020204" pitchFamily="34" charset="0"/>
              </a:rPr>
              <a:t>)</a:t>
            </a:r>
            <a:r>
              <a:rPr lang="en-US" altLang="zh-CN" sz="2400" b="1" dirty="0">
                <a:solidFill>
                  <a:schemeClr val="bg1"/>
                </a:solidFill>
                <a:latin typeface="Trebuchet MS" panose="020B0603020202020204" pitchFamily="34" charset="0"/>
              </a:rPr>
              <a:t> </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rPr>
              <a:t> </a:t>
            </a:r>
          </a:p>
          <a:p>
            <a:r>
              <a:rPr lang="en-US" altLang="zh-CN" sz="2000" b="1" i="0" dirty="0">
                <a:solidFill>
                  <a:schemeClr val="bg1"/>
                </a:solidFill>
                <a:effectLst/>
                <a:latin typeface="Trebuchet MS" panose="020B0603020202020204" pitchFamily="34" charset="0"/>
              </a:rPr>
              <a:t>                          </a:t>
            </a:r>
            <a:r>
              <a:rPr lang="en-US" altLang="zh-CN" sz="2400" b="1" i="0" dirty="0">
                <a:solidFill>
                  <a:schemeClr val="bg1"/>
                </a:solidFill>
                <a:effectLst/>
                <a:latin typeface="Trebuchet MS" panose="020B0603020202020204" pitchFamily="34" charset="0"/>
              </a:rPr>
              <a:t>Divides relation(</a:t>
            </a:r>
            <a:r>
              <a:rPr kumimoji="0" lang="en-US" altLang="zh-CN" sz="2400" b="1" i="1" dirty="0">
                <a:latin typeface="Trebuchet MS" panose="020B0603020202020204" pitchFamily="34" charset="0"/>
              </a:rPr>
              <a:t>D</a:t>
            </a:r>
            <a:r>
              <a:rPr kumimoji="0" lang="en-US" altLang="zh-CN" sz="2400" b="1" i="1" baseline="-25000" dirty="0">
                <a:latin typeface="Trebuchet MS" panose="020B0603020202020204" pitchFamily="34" charset="0"/>
              </a:rPr>
              <a:t>B</a:t>
            </a:r>
            <a:r>
              <a:rPr lang="en-US" altLang="zh-CN" sz="2400" b="1" i="0" dirty="0">
                <a:solidFill>
                  <a:schemeClr val="bg1"/>
                </a:solidFill>
                <a:effectLst/>
                <a:latin typeface="Trebuchet MS" panose="020B0603020202020204" pitchFamily="34" charset="0"/>
              </a:rPr>
              <a:t>),Containment relation(</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sym typeface="Symbol" panose="05050102010706020507" pitchFamily="18" charset="2"/>
              </a:rPr>
              <a:t></a:t>
            </a:r>
            <a:r>
              <a:rPr lang="en-US" altLang="zh-CN" sz="2400" b="1" i="0" dirty="0">
                <a:solidFill>
                  <a:schemeClr val="bg1"/>
                </a:solidFill>
                <a:effectLst/>
                <a:latin typeface="Trebuchet MS" panose="020B0603020202020204" pitchFamily="34" charset="0"/>
              </a:rPr>
              <a:t>)</a:t>
            </a:r>
            <a:r>
              <a:rPr lang="en-US" altLang="zh-CN" sz="2400" b="0" i="0" dirty="0">
                <a:solidFill>
                  <a:schemeClr val="bg1"/>
                </a:solidFill>
                <a:effectLst/>
                <a:latin typeface="Trebuchet MS" panose="020B0603020202020204" pitchFamily="34" charset="0"/>
              </a:rPr>
              <a:t> </a:t>
            </a:r>
            <a:r>
              <a:rPr kumimoji="0" lang="en-US" altLang="zh-CN" sz="2400" b="1" i="1" dirty="0">
                <a:solidFill>
                  <a:schemeClr val="bg1"/>
                </a:solidFill>
                <a:latin typeface="Trebuchet MS" panose="020B0603020202020204" pitchFamily="34" charset="0"/>
              </a:rPr>
              <a:t>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74201"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841376"/>
            <a:ext cx="10040620" cy="5158207"/>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spcBef>
                <a:spcPts val="300"/>
              </a:spcBef>
              <a:buClr>
                <a:srgbClr val="0B5B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Definition 4.7:</a:t>
            </a:r>
            <a:endParaRPr lang="en-US" sz="2400" b="0" i="0" dirty="0">
              <a:solidFill>
                <a:srgbClr val="0C0D0E"/>
              </a:solidFill>
              <a:effectLst/>
              <a:latin typeface="Trebuchet MS" panose="020B0603020202020204" pitchFamily="34" charset="0"/>
            </a:endParaRPr>
          </a:p>
          <a:p>
            <a:pPr marL="271463" indent="0" algn="l">
              <a:lnSpc>
                <a:spcPct val="120000"/>
              </a:lnSpc>
              <a:spcBef>
                <a:spcPts val="300"/>
              </a:spcBef>
              <a:buNone/>
            </a:pPr>
            <a:r>
              <a:rPr lang="en-US" sz="2400" b="1" i="1" dirty="0">
                <a:solidFill>
                  <a:srgbClr val="0C0D0E"/>
                </a:solidFill>
                <a:effectLst/>
                <a:latin typeface="Trebuchet MS" panose="020B0603020202020204" pitchFamily="34" charset="0"/>
              </a:rPr>
              <a:t>The less than or equal to relation </a:t>
            </a:r>
            <a:r>
              <a:rPr kumimoji="0" lang="en-US" altLang="zh-CN" sz="2400" b="1" i="1" dirty="0">
                <a:latin typeface="Trebuchet MS" panose="020B0603020202020204" pitchFamily="34" charset="0"/>
              </a:rPr>
              <a:t> L</a:t>
            </a:r>
            <a:r>
              <a:rPr kumimoji="0" lang="en-US" altLang="zh-CN" sz="2400" b="1" i="1" baseline="-25000" dirty="0">
                <a:latin typeface="Trebuchet MS" panose="020B0603020202020204" pitchFamily="34" charset="0"/>
              </a:rPr>
              <a:t>A</a:t>
            </a:r>
            <a:r>
              <a:rPr lang="en-US" sz="2400" b="0" i="0" dirty="0">
                <a:solidFill>
                  <a:srgbClr val="0C0D0E"/>
                </a:solidFill>
                <a:effectLst/>
                <a:latin typeface="Trebuchet MS" panose="020B0603020202020204" pitchFamily="34" charset="0"/>
              </a:rPr>
              <a:t>, the </a:t>
            </a:r>
            <a:r>
              <a:rPr lang="en-US" sz="2400" b="1" i="1" dirty="0">
                <a:solidFill>
                  <a:srgbClr val="0C0D0E"/>
                </a:solidFill>
                <a:effectLst/>
                <a:latin typeface="Trebuchet MS" panose="020B0603020202020204" pitchFamily="34" charset="0"/>
              </a:rPr>
              <a:t>divides relation </a:t>
            </a:r>
            <a:r>
              <a:rPr kumimoji="0" lang="en-US" altLang="zh-CN" sz="2400" b="1" i="1" dirty="0">
                <a:latin typeface="Trebuchet MS" panose="020B0603020202020204" pitchFamily="34" charset="0"/>
              </a:rPr>
              <a:t> D</a:t>
            </a:r>
            <a:r>
              <a:rPr kumimoji="0" lang="en-US" altLang="zh-CN" sz="2400" b="1" i="1" baseline="-25000" dirty="0">
                <a:latin typeface="Trebuchet MS" panose="020B0603020202020204" pitchFamily="34" charset="0"/>
              </a:rPr>
              <a:t>B</a:t>
            </a:r>
            <a:r>
              <a:rPr lang="en-US" sz="2400" b="0" i="0" dirty="0">
                <a:solidFill>
                  <a:srgbClr val="0C0D0E"/>
                </a:solidFill>
                <a:effectLst/>
                <a:latin typeface="Trebuchet MS" panose="020B0603020202020204" pitchFamily="34" charset="0"/>
              </a:rPr>
              <a:t>, and the </a:t>
            </a:r>
            <a:r>
              <a:rPr lang="en-US" sz="2400" b="1" i="1" dirty="0">
                <a:solidFill>
                  <a:srgbClr val="0C0D0E"/>
                </a:solidFill>
                <a:effectLst/>
                <a:latin typeface="Trebuchet MS" panose="020B0603020202020204" pitchFamily="34" charset="0"/>
              </a:rPr>
              <a:t>containment relation </a:t>
            </a:r>
            <a:r>
              <a:rPr kumimoji="0" lang="en-US" altLang="zh-CN" sz="2400" b="1" i="1" dirty="0">
                <a:latin typeface="Trebuchet MS" panose="020B0603020202020204" pitchFamily="34" charset="0"/>
              </a:rPr>
              <a:t> R</a:t>
            </a:r>
            <a:r>
              <a:rPr kumimoji="0" lang="en-US" altLang="zh-CN" sz="2400" b="1" baseline="-25000" dirty="0">
                <a:latin typeface="Trebuchet MS" panose="020B0603020202020204" pitchFamily="34" charset="0"/>
                <a:sym typeface="Symbol" panose="05050102010706020507" pitchFamily="18" charset="2"/>
              </a:rPr>
              <a:t> </a:t>
            </a:r>
            <a:r>
              <a:rPr lang="en-US" sz="2400" b="0" i="0" dirty="0">
                <a:solidFill>
                  <a:srgbClr val="0C0D0E"/>
                </a:solidFill>
                <a:effectLst/>
                <a:latin typeface="Trebuchet MS" panose="020B0603020202020204" pitchFamily="34" charset="0"/>
              </a:rPr>
              <a:t>are defined as follows:</a:t>
            </a:r>
          </a:p>
          <a:p>
            <a:pPr marL="358775" indent="-87313">
              <a:lnSpc>
                <a:spcPct val="120000"/>
              </a:lnSpc>
              <a:spcBef>
                <a:spcPts val="300"/>
              </a:spcBef>
              <a:buClr>
                <a:srgbClr val="0B5BFF"/>
              </a:buClr>
              <a:buSzPct val="120000"/>
            </a:pPr>
            <a:r>
              <a:rPr lang="en-US" altLang="zh-CN" sz="2400" b="1" i="1" dirty="0">
                <a:latin typeface="Trebuchet MS" panose="020B0603020202020204" pitchFamily="34" charset="0"/>
              </a:rPr>
              <a:t> </a:t>
            </a:r>
            <a:r>
              <a:rPr kumimoji="0" lang="en-US" altLang="zh-CN" sz="2400" b="1" i="1" dirty="0">
                <a:latin typeface="Trebuchet MS" panose="020B0603020202020204" pitchFamily="34" charset="0"/>
              </a:rPr>
              <a:t>L</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 </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R, R i</a:t>
            </a:r>
            <a:r>
              <a:rPr lang="en-US" sz="2400" b="0" i="0" dirty="0">
                <a:solidFill>
                  <a:srgbClr val="0C0D0E"/>
                </a:solidFill>
                <a:effectLst/>
                <a:latin typeface="Trebuchet MS" panose="020B0603020202020204" pitchFamily="34" charset="0"/>
              </a:rPr>
              <a:t>s the set of real numbers.</a:t>
            </a:r>
          </a:p>
          <a:p>
            <a:pPr marL="358775" indent="-87313">
              <a:lnSpc>
                <a:spcPct val="120000"/>
              </a:lnSpc>
              <a:spcBef>
                <a:spcPts val="300"/>
              </a:spcBef>
              <a:buClr>
                <a:srgbClr val="0B5BFF"/>
              </a:buClr>
              <a:buSzPct val="120000"/>
            </a:pPr>
            <a:r>
              <a:rPr kumimoji="0" lang="en-US" altLang="zh-CN" sz="2400" b="1" i="1" dirty="0">
                <a:solidFill>
                  <a:srgbClr val="0C0D0E"/>
                </a:solidFill>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i="1" baseline="-25000" dirty="0">
                <a:latin typeface="Trebuchet MS" panose="020B0603020202020204" pitchFamily="34" charset="0"/>
              </a:rPr>
              <a:t>B</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i="1" dirty="0">
                <a:latin typeface="Trebuchet MS" panose="020B0603020202020204" pitchFamily="34" charset="0"/>
              </a:rPr>
              <a:t> </a:t>
            </a:r>
            <a:r>
              <a:rPr lang="en-US" sz="2400" b="0" i="0" dirty="0">
                <a:solidFill>
                  <a:srgbClr val="0C0D0E"/>
                </a:solidFill>
                <a:effectLst/>
                <a:latin typeface="Trebuchet MS" panose="020B0603020202020204" pitchFamily="34" charset="0"/>
              </a:rPr>
              <a:t>divides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Z*, Z* </a:t>
            </a:r>
            <a:r>
              <a:rPr lang="en-US" sz="2400" b="0" i="0" dirty="0">
                <a:solidFill>
                  <a:srgbClr val="0C0D0E"/>
                </a:solidFill>
                <a:effectLst/>
                <a:latin typeface="Trebuchet MS" panose="020B0603020202020204" pitchFamily="34" charset="0"/>
              </a:rPr>
              <a:t>is the set of non-zero integers.</a:t>
            </a:r>
          </a:p>
          <a:p>
            <a:pPr marL="358775" indent="-87313">
              <a:lnSpc>
                <a:spcPct val="120000"/>
              </a:lnSpc>
              <a:spcBef>
                <a:spcPts val="300"/>
              </a:spcBef>
              <a:buClr>
                <a:srgbClr val="0B5BFF"/>
              </a:buClr>
              <a:buSzPct val="120000"/>
            </a:pPr>
            <a:r>
              <a:rPr kumimoji="0" lang="en-US" altLang="zh-CN" sz="2400" b="1" i="1" dirty="0">
                <a:latin typeface="Trebuchet MS" panose="020B0603020202020204" pitchFamily="34" charset="0"/>
              </a:rPr>
              <a:t> R</a:t>
            </a:r>
            <a:r>
              <a:rPr kumimoji="0" lang="en-US" altLang="zh-CN" sz="2400" b="1" baseline="-25000"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where </a:t>
            </a:r>
            <a:r>
              <a:rPr lang="en-US" sz="2400" b="0"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a family of sets.</a:t>
            </a:r>
            <a:endParaRPr kumimoji="0" lang="en-US" altLang="zh-CN" sz="2400" b="1" dirty="0">
              <a:latin typeface="Trebuchet MS" panose="020B0603020202020204" pitchFamily="34" charset="0"/>
            </a:endParaRPr>
          </a:p>
          <a:p>
            <a:pPr eaLnBrk="1" hangingPunct="1">
              <a:lnSpc>
                <a:spcPct val="120000"/>
              </a:lnSpc>
              <a:spcBef>
                <a:spcPts val="300"/>
              </a:spcBef>
              <a:buFontTx/>
              <a:buNone/>
            </a:pPr>
            <a:endParaRPr kumimoji="0" lang="en-US" altLang="zh-CN" sz="2400" b="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Example:</a:t>
            </a:r>
            <a:r>
              <a:rPr kumimoji="0" lang="zh-CN" altLang="en-US" sz="2400" b="1" dirty="0">
                <a:solidFill>
                  <a:srgbClr val="000066"/>
                </a:solidFill>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={1,2,3},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L</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={&lt;1,1&gt;,&lt;1,2&gt;,&lt;1,3&gt;,&lt;2,2&gt;,&lt;2,3&gt;,&lt;3,3&gt;}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={&lt;1,1&gt;,&lt;1,2&gt;,&lt;1,3&gt;,&lt;2,2&gt;,&lt;3,3&gt;}</a:t>
            </a:r>
            <a:endParaRPr lang="en-US" altLang="zh-CN" sz="2400" b="1" dirty="0">
              <a:solidFill>
                <a:srgbClr val="800000"/>
              </a:solidFill>
              <a:latin typeface="Trebuchet MS" panose="020B0603020202020204" pitchFamily="34" charset="0"/>
            </a:endParaRPr>
          </a:p>
        </p:txBody>
      </p:sp>
      <p:pic>
        <p:nvPicPr>
          <p:cNvPr id="9" name="图片 8">
            <a:extLst>
              <a:ext uri="{FF2B5EF4-FFF2-40B4-BE49-F238E27FC236}">
                <a16:creationId xmlns:a16="http://schemas.microsoft.com/office/drawing/2014/main" id="{5E0DC134-27C8-4FE9-8F36-77E4755F02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643" y="4747782"/>
            <a:ext cx="576355" cy="257697"/>
          </a:xfrm>
          <a:prstGeom prst="rect">
            <a:avLst/>
          </a:prstGeom>
        </p:spPr>
      </p:pic>
      <p:pic>
        <p:nvPicPr>
          <p:cNvPr id="10" name="图片 9" descr="微信图片_20220318113523">
            <a:extLst>
              <a:ext uri="{FF2B5EF4-FFF2-40B4-BE49-F238E27FC236}">
                <a16:creationId xmlns:a16="http://schemas.microsoft.com/office/drawing/2014/main" id="{E85C0EEE-9A48-4D39-9DFA-C87DEB887BD0}"/>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3040286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6" end="6"/>
                                            </p:txEl>
                                          </p:spTgt>
                                        </p:tgtEl>
                                        <p:attrNameLst>
                                          <p:attrName>style.visibility</p:attrName>
                                        </p:attrNameLst>
                                      </p:cBhvr>
                                      <p:to>
                                        <p:strVal val="visible"/>
                                      </p:to>
                                    </p:set>
                                    <p:animEffect transition="in" filter="fade">
                                      <p:cBhvr>
                                        <p:cTn id="12" dur="1000"/>
                                        <p:tgtEl>
                                          <p:spTgt spid="14">
                                            <p:txEl>
                                              <p:pRg st="6" end="6"/>
                                            </p:txEl>
                                          </p:spTgt>
                                        </p:tgtEl>
                                      </p:cBhvr>
                                    </p:animEffect>
                                    <p:anim calcmode="lin" valueType="num">
                                      <p:cBhvr>
                                        <p:cTn id="13"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4.1.2 </a:t>
            </a:r>
            <a:r>
              <a:rPr lang="en-US" altLang="zh-CN" sz="2000" b="1" dirty="0"/>
              <a:t>Definition of Binary Relations</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i="0" dirty="0">
                <a:solidFill>
                  <a:schemeClr val="bg1"/>
                </a:solidFill>
                <a:effectLst/>
                <a:latin typeface="Trebuchet MS" panose="020B0603020202020204" pitchFamily="34" charset="0"/>
              </a:rPr>
              <a:t>Less than or equal to relation(</a:t>
            </a:r>
            <a:r>
              <a:rPr kumimoji="0" lang="en-US" altLang="zh-CN" sz="2400" b="1" i="1" dirty="0">
                <a:solidFill>
                  <a:schemeClr val="bg1"/>
                </a:solidFill>
                <a:latin typeface="Trebuchet MS" panose="020B0603020202020204" pitchFamily="34" charset="0"/>
              </a:rPr>
              <a:t>L</a:t>
            </a:r>
            <a:r>
              <a:rPr kumimoji="0" lang="en-US" altLang="zh-CN" sz="2400" b="1" i="1" baseline="-25000" dirty="0">
                <a:solidFill>
                  <a:schemeClr val="bg1"/>
                </a:solidFill>
                <a:latin typeface="Trebuchet MS" panose="020B0603020202020204" pitchFamily="34" charset="0"/>
              </a:rPr>
              <a:t>A</a:t>
            </a:r>
            <a:r>
              <a:rPr lang="en-US" altLang="zh-CN" sz="2400" b="1" i="0" dirty="0">
                <a:solidFill>
                  <a:schemeClr val="bg1"/>
                </a:solidFill>
                <a:effectLst/>
                <a:latin typeface="Trebuchet MS" panose="020B0603020202020204" pitchFamily="34" charset="0"/>
              </a:rPr>
              <a:t>)</a:t>
            </a:r>
            <a:r>
              <a:rPr lang="en-US" altLang="zh-CN" sz="2400" b="1" dirty="0">
                <a:solidFill>
                  <a:schemeClr val="bg1"/>
                </a:solidFill>
                <a:latin typeface="Trebuchet MS" panose="020B0603020202020204" pitchFamily="34" charset="0"/>
              </a:rPr>
              <a:t> </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rPr>
              <a:t> </a:t>
            </a:r>
          </a:p>
          <a:p>
            <a:r>
              <a:rPr lang="en-US" altLang="zh-CN" sz="2000" b="1" i="0" dirty="0">
                <a:solidFill>
                  <a:schemeClr val="bg1"/>
                </a:solidFill>
                <a:effectLst/>
                <a:latin typeface="Trebuchet MS" panose="020B0603020202020204" pitchFamily="34" charset="0"/>
              </a:rPr>
              <a:t>                          </a:t>
            </a:r>
            <a:r>
              <a:rPr lang="en-US" altLang="zh-CN" sz="2400" b="1" i="0" dirty="0">
                <a:solidFill>
                  <a:schemeClr val="bg1"/>
                </a:solidFill>
                <a:effectLst/>
                <a:latin typeface="Trebuchet MS" panose="020B0603020202020204" pitchFamily="34" charset="0"/>
              </a:rPr>
              <a:t>Divides relation(</a:t>
            </a:r>
            <a:r>
              <a:rPr kumimoji="0" lang="en-US" altLang="zh-CN" sz="2400" b="1" i="1" dirty="0">
                <a:latin typeface="Trebuchet MS" panose="020B0603020202020204" pitchFamily="34" charset="0"/>
              </a:rPr>
              <a:t>D</a:t>
            </a:r>
            <a:r>
              <a:rPr kumimoji="0" lang="en-US" altLang="zh-CN" sz="2400" b="1" i="1" baseline="-25000" dirty="0">
                <a:latin typeface="Trebuchet MS" panose="020B0603020202020204" pitchFamily="34" charset="0"/>
              </a:rPr>
              <a:t>B</a:t>
            </a:r>
            <a:r>
              <a:rPr lang="en-US" altLang="zh-CN" sz="2400" b="1" i="0" dirty="0">
                <a:solidFill>
                  <a:schemeClr val="bg1"/>
                </a:solidFill>
                <a:effectLst/>
                <a:latin typeface="Trebuchet MS" panose="020B0603020202020204" pitchFamily="34" charset="0"/>
              </a:rPr>
              <a:t>),Containment relation(</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sym typeface="Symbol" panose="05050102010706020507" pitchFamily="18" charset="2"/>
              </a:rPr>
              <a:t></a:t>
            </a:r>
            <a:r>
              <a:rPr lang="en-US" altLang="zh-CN" sz="2400" b="1" i="0" dirty="0">
                <a:solidFill>
                  <a:schemeClr val="bg1"/>
                </a:solidFill>
                <a:effectLst/>
                <a:latin typeface="Trebuchet MS" panose="020B0603020202020204" pitchFamily="34" charset="0"/>
              </a:rPr>
              <a:t>)</a:t>
            </a:r>
            <a:r>
              <a:rPr lang="en-US" altLang="zh-CN" sz="2400" b="0" i="0" dirty="0">
                <a:solidFill>
                  <a:schemeClr val="bg1"/>
                </a:solidFill>
                <a:effectLst/>
                <a:latin typeface="Trebuchet MS" panose="020B0603020202020204" pitchFamily="34" charset="0"/>
              </a:rPr>
              <a:t> </a:t>
            </a:r>
            <a:r>
              <a:rPr kumimoji="0" lang="en-US" altLang="zh-CN" sz="2400" b="1" i="1" dirty="0">
                <a:solidFill>
                  <a:schemeClr val="bg1"/>
                </a:solidFill>
                <a:latin typeface="Trebuchet MS" panose="020B0603020202020204" pitchFamily="34" charset="0"/>
              </a:rPr>
              <a:t>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74201"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841376"/>
            <a:ext cx="10040620" cy="4079450"/>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buNone/>
            </a:pPr>
            <a:r>
              <a:rPr lang="en-US" altLang="zh-CN" sz="2400" b="1" dirty="0">
                <a:latin typeface="Trebuchet MS" panose="020B0603020202020204" pitchFamily="34" charset="0"/>
              </a:rPr>
              <a:t>      Example:</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a:t>
            </a:r>
          </a:p>
          <a:p>
            <a:pPr>
              <a:lnSpc>
                <a:spcPct val="120000"/>
              </a:lnSpc>
              <a:spcBef>
                <a:spcPct val="0"/>
              </a:spcBef>
              <a:buNone/>
            </a:pPr>
            <a:r>
              <a:rPr lang="en-US" altLang="zh-CN" sz="2400" b="1" dirty="0">
                <a:latin typeface="Trebuchet MS" panose="020B0603020202020204" pitchFamily="34" charset="0"/>
              </a:rPr>
              <a:t>     then </a:t>
            </a:r>
            <a:r>
              <a:rPr lang="en-US" altLang="zh-CN" sz="2400" dirty="0">
                <a:latin typeface="Trebuchet MS" panose="020B0603020202020204" pitchFamily="34" charset="0"/>
              </a:rPr>
              <a:t> the </a:t>
            </a:r>
            <a:r>
              <a:rPr lang="en-US" altLang="zh-CN" sz="2400" b="1" i="1" dirty="0">
                <a:latin typeface="Trebuchet MS" panose="020B0603020202020204" pitchFamily="34" charset="0"/>
              </a:rPr>
              <a:t>inclusion relation on A </a:t>
            </a:r>
            <a:r>
              <a:rPr lang="en-US" altLang="zh-CN" sz="2400" dirty="0">
                <a:latin typeface="Trebuchet MS" panose="020B0603020202020204" pitchFamily="34" charset="0"/>
              </a:rPr>
              <a:t>is :</a:t>
            </a:r>
            <a:r>
              <a:rPr lang="zh-CN" alt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={&lt;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&gt;,&lt;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}&gt;,&lt;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}&gt;,&lt;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}&gt;,&lt;{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 </a:t>
            </a:r>
          </a:p>
          <a:p>
            <a:pPr>
              <a:lnSpc>
                <a:spcPct val="120000"/>
              </a:lnSpc>
              <a:spcBef>
                <a:spcPct val="0"/>
              </a:spcBef>
              <a:buNone/>
            </a:pPr>
            <a:r>
              <a:rPr lang="en-US" altLang="zh-CN" sz="2400" b="1" dirty="0">
                <a:latin typeface="Trebuchet MS" panose="020B0603020202020204" pitchFamily="34" charset="0"/>
              </a:rPr>
              <a:t>              &lt;{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}&gt;,&lt;{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}&gt;,&lt;{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}&gt;}</a:t>
            </a:r>
          </a:p>
          <a:p>
            <a:pPr>
              <a:lnSpc>
                <a:spcPct val="120000"/>
              </a:lnSpc>
              <a:spcBef>
                <a:spcPct val="0"/>
              </a:spcBef>
              <a:buNone/>
            </a:pPr>
            <a:endParaRPr lang="en-US" altLang="zh-CN" sz="2400" b="1" dirty="0">
              <a:latin typeface="Trebuchet MS" panose="020B0603020202020204" pitchFamily="34" charset="0"/>
            </a:endParaRPr>
          </a:p>
          <a:p>
            <a:pPr indent="42863">
              <a:lnSpc>
                <a:spcPct val="120000"/>
              </a:lnSpc>
              <a:spcBef>
                <a:spcPct val="0"/>
              </a:spcBef>
              <a:buNone/>
            </a:pPr>
            <a:r>
              <a:rPr lang="en-US" altLang="en-US" sz="2400" dirty="0">
                <a:latin typeface="Trebuchet MS" panose="020B0603020202020204" pitchFamily="34" charset="0"/>
              </a:rPr>
              <a:t>Similarly, greater than or equal to relations, less than relations, greater than relations, proper inclusion relations, etc., can also be defined.</a:t>
            </a:r>
            <a:endParaRPr lang="en-US" altLang="zh-CN" sz="2400" b="1" dirty="0">
              <a:latin typeface="Trebuchet MS" panose="020B0603020202020204" pitchFamily="34" charset="0"/>
            </a:endParaRPr>
          </a:p>
          <a:p>
            <a:pPr>
              <a:lnSpc>
                <a:spcPct val="120000"/>
              </a:lnSpc>
              <a:spcBef>
                <a:spcPts val="300"/>
              </a:spcBef>
              <a:buNone/>
            </a:pPr>
            <a:endParaRPr lang="en-US" altLang="zh-CN" sz="2400" b="1" dirty="0">
              <a:solidFill>
                <a:srgbClr val="800000"/>
              </a:solidFill>
              <a:latin typeface="Trebuchet MS" panose="020B0603020202020204" pitchFamily="34" charset="0"/>
            </a:endParaRPr>
          </a:p>
        </p:txBody>
      </p:sp>
      <p:pic>
        <p:nvPicPr>
          <p:cNvPr id="9" name="图片 8">
            <a:extLst>
              <a:ext uri="{FF2B5EF4-FFF2-40B4-BE49-F238E27FC236}">
                <a16:creationId xmlns:a16="http://schemas.microsoft.com/office/drawing/2014/main" id="{5E0DC134-27C8-4FE9-8F36-77E4755F02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643" y="1003098"/>
            <a:ext cx="576355" cy="257697"/>
          </a:xfrm>
          <a:prstGeom prst="rect">
            <a:avLst/>
          </a:prstGeom>
        </p:spPr>
      </p:pic>
      <p:pic>
        <p:nvPicPr>
          <p:cNvPr id="10" name="图片 9" descr="微信图片_20220318113523">
            <a:extLst>
              <a:ext uri="{FF2B5EF4-FFF2-40B4-BE49-F238E27FC236}">
                <a16:creationId xmlns:a16="http://schemas.microsoft.com/office/drawing/2014/main" id="{8CDD30B5-43A9-4B4E-9CED-785C782A3D28}"/>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769626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1000"/>
                                        <p:tgtEl>
                                          <p:spTgt spid="14">
                                            <p:txEl>
                                              <p:pRg st="2" end="2"/>
                                            </p:txEl>
                                          </p:spTgt>
                                        </p:tgtEl>
                                      </p:cBhvr>
                                    </p:animEffect>
                                    <p:anim calcmode="lin" valueType="num">
                                      <p:cBhvr>
                                        <p:cTn id="13"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animEffect transition="in" filter="fade">
                                      <p:cBhvr>
                                        <p:cTn id="19" dur="1000"/>
                                        <p:tgtEl>
                                          <p:spTgt spid="14">
                                            <p:txEl>
                                              <p:pRg st="4" end="4"/>
                                            </p:txEl>
                                          </p:spTgt>
                                        </p:tgtEl>
                                      </p:cBhvr>
                                    </p:animEffect>
                                    <p:anim calcmode="lin" valueType="num">
                                      <p:cBhvr>
                                        <p:cTn id="2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4.1.3 </a:t>
            </a:r>
            <a:r>
              <a:rPr lang="en-US" altLang="zh-CN" sz="2000" dirty="0">
                <a:latin typeface="Trebuchet MS" panose="020B0603020202020204" pitchFamily="34" charset="0"/>
              </a:rPr>
              <a:t>Representation of Binary Relations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Relational Matrix </a:t>
            </a:r>
            <a:r>
              <a:rPr lang="en-US" altLang="zh-CN" sz="2400" b="1" dirty="0">
                <a:ea typeface="宋体" panose="02010600030101010101" pitchFamily="2" charset="-122"/>
                <a:cs typeface="Times New Roman" panose="02020603050405020304" pitchFamily="18" charset="0"/>
              </a:rPr>
              <a:t>&amp;</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Relational Graph</a:t>
            </a:r>
            <a:r>
              <a:rPr kumimoji="0" lang="zh-CN" altLang="en-US" sz="2400" b="1" dirty="0">
                <a:highlight>
                  <a:srgbClr val="FF0000"/>
                </a:highlight>
                <a:latin typeface="Trebuchet MS" panose="020B0603020202020204" pitchFamily="34" charset="0"/>
              </a:rPr>
              <a:t>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825951" y="765175"/>
            <a:ext cx="10495190" cy="516744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300"/>
              </a:spcBef>
              <a:buClr>
                <a:srgbClr val="0B5BFF"/>
              </a:buClr>
              <a:buSzPct val="80000"/>
              <a:buFont typeface="Wingdings" panose="05000000000000000000" pitchFamily="2" charset="2"/>
              <a:buChar char="n"/>
            </a:pPr>
            <a:r>
              <a:rPr lang="en-US" sz="2400" b="1" i="0" dirty="0">
                <a:solidFill>
                  <a:srgbClr val="0C0D0E"/>
                </a:solidFill>
                <a:effectLst/>
                <a:latin typeface="Trebuchet MS" panose="020B0603020202020204" pitchFamily="34" charset="0"/>
              </a:rPr>
              <a:t>Ways to Represent Relations:</a:t>
            </a:r>
            <a:endParaRPr lang="en-US" sz="2400" b="0" i="0" dirty="0">
              <a:solidFill>
                <a:srgbClr val="0C0D0E"/>
              </a:solidFill>
              <a:effectLst/>
              <a:latin typeface="Trebuchet MS" panose="020B0603020202020204" pitchFamily="34" charset="0"/>
            </a:endParaRPr>
          </a:p>
          <a:p>
            <a:pPr marL="0" indent="0" algn="l">
              <a:lnSpc>
                <a:spcPct val="110000"/>
              </a:lnSpc>
              <a:spcBef>
                <a:spcPts val="300"/>
              </a:spcBef>
              <a:buNone/>
            </a:pPr>
            <a:r>
              <a:rPr lang="en-US" sz="2400" b="1" i="0" dirty="0">
                <a:solidFill>
                  <a:srgbClr val="0C0D0E"/>
                </a:solidFill>
                <a:effectLst/>
                <a:latin typeface="Trebuchet MS" panose="020B0603020202020204" pitchFamily="34" charset="0"/>
              </a:rPr>
              <a:t>   </a:t>
            </a:r>
            <a:r>
              <a:rPr lang="en-US" sz="2400" i="0" dirty="0">
                <a:solidFill>
                  <a:srgbClr val="0C0D0E"/>
                </a:solidFill>
                <a:effectLst/>
                <a:latin typeface="Trebuchet MS" panose="020B0603020202020204" pitchFamily="34" charset="0"/>
              </a:rPr>
              <a:t>Set-theoretic expression of relations; Relational matrix; Relational graph</a:t>
            </a:r>
          </a:p>
          <a:p>
            <a:pPr>
              <a:lnSpc>
                <a:spcPct val="110000"/>
              </a:lnSpc>
              <a:spcBef>
                <a:spcPts val="300"/>
              </a:spcBef>
              <a:buClr>
                <a:srgbClr val="0B5BFF"/>
              </a:buClr>
              <a:buSzPct val="80000"/>
              <a:buFont typeface="Wingdings" panose="05000000000000000000" pitchFamily="2" charset="2"/>
              <a:buChar char="n"/>
            </a:pPr>
            <a:r>
              <a:rPr lang="en-US" sz="2400" b="1" dirty="0">
                <a:solidFill>
                  <a:srgbClr val="0C0D0E"/>
                </a:solidFill>
                <a:latin typeface="Trebuchet MS" panose="020B0603020202020204" pitchFamily="34" charset="0"/>
              </a:rPr>
              <a:t>Definition 4.8: Relational Matrix</a:t>
            </a:r>
          </a:p>
          <a:p>
            <a:pPr marL="358775" indent="0" algn="l">
              <a:lnSpc>
                <a:spcPct val="110000"/>
              </a:lnSpc>
              <a:spcBef>
                <a:spcPts val="300"/>
              </a:spcBef>
              <a:buNone/>
            </a:pPr>
            <a:r>
              <a:rPr lang="en-US" sz="2400" b="0" i="0" dirty="0">
                <a:solidFill>
                  <a:srgbClr val="0C0D0E"/>
                </a:solidFill>
                <a:effectLst/>
                <a:latin typeface="Trebuchet MS" panose="020B0603020202020204" pitchFamily="34" charset="0"/>
              </a:rPr>
              <a:t>If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 </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m</a:t>
            </a:r>
            <a:r>
              <a:rPr kumimoji="0" lang="en-US" altLang="zh-CN"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and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 </a:t>
            </a:r>
            <a:r>
              <a:rPr kumimoji="0" lang="en-US" altLang="zh-CN" sz="2400" b="1" i="1" dirty="0" err="1">
                <a:latin typeface="Trebuchet MS" panose="020B0603020202020204" pitchFamily="34" charset="0"/>
              </a:rPr>
              <a:t>y</a:t>
            </a:r>
            <a:r>
              <a:rPr kumimoji="0" lang="en-US" altLang="zh-CN" sz="2400" b="1" i="1" baseline="-25000" dirty="0" err="1">
                <a:latin typeface="Trebuchet MS" panose="020B0603020202020204" pitchFamily="34" charset="0"/>
              </a:rPr>
              <a:t>n</a:t>
            </a:r>
            <a:r>
              <a:rPr kumimoji="0" lang="en-US" altLang="zh-CN" sz="2400" b="1" dirty="0">
                <a:latin typeface="Trebuchet MS" panose="020B0603020202020204" pitchFamily="34" charset="0"/>
              </a:rPr>
              <a:t>} </a:t>
            </a:r>
            <a:r>
              <a:rPr lang="en-US" sz="2400" b="0" i="0" dirty="0">
                <a:solidFill>
                  <a:srgbClr val="0C0D0E"/>
                </a:solidFill>
                <a:effectLst/>
                <a:latin typeface="Trebuchet MS" panose="020B0603020202020204" pitchFamily="34" charset="0"/>
              </a:rPr>
              <a:t>and </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is a relation from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to</a:t>
            </a:r>
            <a:r>
              <a:rPr lang="en-US" sz="2400" b="1" i="1" dirty="0">
                <a:solidFill>
                  <a:srgbClr val="0C0D0E"/>
                </a:solidFill>
                <a:effectLst/>
                <a:latin typeface="Trebuchet MS" panose="020B0603020202020204" pitchFamily="34" charset="0"/>
              </a:rPr>
              <a:t> B</a:t>
            </a:r>
            <a:r>
              <a:rPr lang="en-US" sz="2400" b="0" i="0" dirty="0">
                <a:solidFill>
                  <a:srgbClr val="0C0D0E"/>
                </a:solidFill>
                <a:effectLst/>
                <a:latin typeface="Trebuchet MS" panose="020B0603020202020204" pitchFamily="34" charset="0"/>
              </a:rPr>
              <a:t>, then the </a:t>
            </a:r>
            <a:r>
              <a:rPr lang="en-US" sz="2400" b="1" i="1" dirty="0">
                <a:solidFill>
                  <a:srgbClr val="0C0D0E"/>
                </a:solidFill>
                <a:effectLst/>
                <a:latin typeface="Trebuchet MS" panose="020B0603020202020204" pitchFamily="34" charset="0"/>
              </a:rPr>
              <a:t>relational matrix </a:t>
            </a:r>
            <a:r>
              <a:rPr lang="en-US" sz="2400" b="0" i="0" dirty="0">
                <a:solidFill>
                  <a:srgbClr val="0C0D0E"/>
                </a:solidFill>
                <a:effectLst/>
                <a:latin typeface="Trebuchet MS" panose="020B0603020202020204" pitchFamily="34" charset="0"/>
              </a:rPr>
              <a:t>of </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is the Boolean matrix </a:t>
            </a:r>
            <a:r>
              <a:rPr kumimoji="0" lang="en-US" altLang="zh-CN" sz="2400" b="1" i="1" dirty="0">
                <a:latin typeface="Trebuchet MS" panose="020B0603020202020204" pitchFamily="34" charset="0"/>
              </a:rPr>
              <a:t>M</a:t>
            </a:r>
            <a:r>
              <a:rPr kumimoji="0" lang="en-US" altLang="zh-CN" sz="2400" b="1" i="1" baseline="-25000" dirty="0">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i="1" dirty="0" err="1">
                <a:latin typeface="Trebuchet MS" panose="020B0603020202020204" pitchFamily="34" charset="0"/>
              </a:rPr>
              <a:t>r</a:t>
            </a:r>
            <a:r>
              <a:rPr kumimoji="0" lang="en-US" altLang="zh-CN" sz="2400" b="1" i="1" baseline="-25000" dirty="0" err="1">
                <a:latin typeface="Trebuchet MS" panose="020B0603020202020204" pitchFamily="34" charset="0"/>
              </a:rPr>
              <a:t>ij</a:t>
            </a:r>
            <a:r>
              <a:rPr kumimoji="0" lang="en-US" altLang="zh-CN" sz="2400" b="1" dirty="0">
                <a:latin typeface="Trebuchet MS" panose="020B0603020202020204" pitchFamily="34" charset="0"/>
              </a:rPr>
              <a:t>]</a:t>
            </a:r>
            <a:r>
              <a:rPr kumimoji="0" lang="en-US" altLang="zh-CN" sz="2400" b="1" baseline="-25000" dirty="0">
                <a:latin typeface="Trebuchet MS" panose="020B0603020202020204" pitchFamily="34" charset="0"/>
              </a:rPr>
              <a:t>m</a:t>
            </a:r>
            <a:r>
              <a:rPr kumimoji="0" lang="en-US" altLang="zh-CN" sz="2400" b="1" i="1" baseline="-25000" dirty="0">
                <a:latin typeface="Trebuchet MS" panose="020B0603020202020204" pitchFamily="34" charset="0"/>
                <a:sym typeface="Symbol" panose="05050102010706020507" pitchFamily="18" charset="2"/>
              </a:rPr>
              <a:t> </a:t>
            </a:r>
            <a:r>
              <a:rPr kumimoji="0" lang="en-US" altLang="zh-CN" sz="2400" b="1" baseline="-25000" dirty="0">
                <a:latin typeface="Trebuchet MS" panose="020B0603020202020204" pitchFamily="34" charset="0"/>
              </a:rPr>
              <a:t>n </a:t>
            </a:r>
            <a:r>
              <a:rPr lang="en-US" altLang="zh-CN" sz="2400" dirty="0">
                <a:solidFill>
                  <a:srgbClr val="0C0D0E"/>
                </a:solidFill>
                <a:latin typeface="Trebuchet MS" panose="020B0603020202020204" pitchFamily="34" charset="0"/>
              </a:rPr>
              <a:t>, </a:t>
            </a:r>
            <a:r>
              <a:rPr lang="en-US" sz="2400" b="0" i="0" dirty="0">
                <a:solidFill>
                  <a:srgbClr val="0C0D0E"/>
                </a:solidFill>
                <a:effectLst/>
                <a:latin typeface="Trebuchet MS" panose="020B0603020202020204" pitchFamily="34" charset="0"/>
              </a:rPr>
              <a:t>where </a:t>
            </a:r>
          </a:p>
          <a:p>
            <a:pPr marL="358775" indent="0">
              <a:lnSpc>
                <a:spcPct val="110000"/>
              </a:lnSpc>
              <a:spcBef>
                <a:spcPts val="300"/>
              </a:spcBef>
              <a:buNone/>
            </a:pPr>
            <a:r>
              <a:rPr kumimoji="0" lang="en-US" altLang="zh-CN" sz="2400" b="1" i="1" dirty="0" err="1">
                <a:latin typeface="Trebuchet MS" panose="020B0603020202020204" pitchFamily="34" charset="0"/>
              </a:rPr>
              <a:t>r</a:t>
            </a:r>
            <a:r>
              <a:rPr kumimoji="0" lang="en-US" altLang="zh-CN" sz="2400" b="1" i="1" baseline="-25000" dirty="0" err="1">
                <a:latin typeface="Trebuchet MS" panose="020B0603020202020204" pitchFamily="34" charset="0"/>
              </a:rPr>
              <a:t>ij</a:t>
            </a:r>
            <a:r>
              <a:rPr kumimoji="0" lang="en-US" altLang="zh-CN" sz="2400" b="1" baseline="-25000" dirty="0">
                <a:latin typeface="Trebuchet MS" panose="020B0603020202020204" pitchFamily="34" charset="0"/>
              </a:rPr>
              <a:t> </a:t>
            </a:r>
            <a:r>
              <a:rPr kumimoji="0" lang="en-US" altLang="zh-CN" sz="2400" b="1" dirty="0">
                <a:latin typeface="Trebuchet MS" panose="020B0603020202020204" pitchFamily="34" charset="0"/>
              </a:rPr>
              <a:t>= 1</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&lt;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y</a:t>
            </a:r>
            <a:r>
              <a:rPr kumimoji="0" lang="en-US" altLang="zh-CN" sz="2400" b="1" i="1" baseline="-25000" dirty="0" err="1">
                <a:latin typeface="Trebuchet MS" panose="020B0603020202020204" pitchFamily="34" charset="0"/>
              </a:rPr>
              <a:t>j</a:t>
            </a:r>
            <a:r>
              <a:rPr kumimoji="0" lang="en-US" altLang="zh-CN" sz="2400" b="1" dirty="0">
                <a:latin typeface="Trebuchet MS" panose="020B0603020202020204" pitchFamily="34" charset="0"/>
              </a:rPr>
              <a:t>&gt;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endParaRPr lang="en-US" sz="2400" b="0" i="0" dirty="0">
              <a:solidFill>
                <a:srgbClr val="0C0D0E"/>
              </a:solidFill>
              <a:effectLst/>
              <a:latin typeface="Trebuchet MS" panose="020B0603020202020204" pitchFamily="34" charset="0"/>
            </a:endParaRPr>
          </a:p>
          <a:p>
            <a:pPr>
              <a:lnSpc>
                <a:spcPct val="110000"/>
              </a:lnSpc>
              <a:spcBef>
                <a:spcPts val="300"/>
              </a:spcBef>
              <a:buClr>
                <a:srgbClr val="0B5BFF"/>
              </a:buClr>
              <a:buSzPct val="80000"/>
              <a:buFont typeface="Wingdings" panose="05000000000000000000" pitchFamily="2" charset="2"/>
              <a:buChar char="n"/>
            </a:pPr>
            <a:r>
              <a:rPr lang="en-US" sz="2400" b="1" dirty="0">
                <a:solidFill>
                  <a:srgbClr val="0C0D0E"/>
                </a:solidFill>
                <a:latin typeface="Trebuchet MS" panose="020B0603020202020204" pitchFamily="34" charset="0"/>
              </a:rPr>
              <a:t>Definition 4.9: Relational Graph</a:t>
            </a:r>
          </a:p>
          <a:p>
            <a:pPr marL="358775" indent="0">
              <a:lnSpc>
                <a:spcPct val="110000"/>
              </a:lnSpc>
              <a:spcBef>
                <a:spcPts val="300"/>
              </a:spcBef>
              <a:buNone/>
              <a:tabLst>
                <a:tab pos="358775" algn="l"/>
              </a:tabLst>
            </a:pPr>
            <a:r>
              <a:rPr lang="en-US" sz="2400" b="1" dirty="0">
                <a:latin typeface="Trebuchet MS" panose="020B0603020202020204" pitchFamily="34" charset="0"/>
              </a:rPr>
              <a:t>If</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 </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m</a:t>
            </a:r>
            <a:r>
              <a:rPr kumimoji="0" lang="en-US" altLang="zh-CN" sz="2400" b="1" dirty="0">
                <a:latin typeface="Trebuchet MS" panose="020B0603020202020204" pitchFamily="34" charset="0"/>
              </a:rPr>
              <a:t>}</a:t>
            </a:r>
            <a:r>
              <a:rPr kumimoji="0" lang="zh-CN" altLang="en-US" sz="2400" b="1" dirty="0">
                <a:latin typeface="Trebuchet MS" panose="020B0603020202020204" pitchFamily="34" charset="0"/>
              </a:rPr>
              <a:t>，</a:t>
            </a:r>
            <a:r>
              <a:rPr lang="en-US" sz="2400" b="0" i="0" dirty="0">
                <a:solidFill>
                  <a:srgbClr val="0C0D0E"/>
                </a:solidFill>
                <a:effectLst/>
                <a:latin typeface="Trebuchet MS" panose="020B0603020202020204" pitchFamily="34" charset="0"/>
              </a:rPr>
              <a:t>and </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is a relation on </a:t>
            </a:r>
            <a:r>
              <a:rPr lang="en-US" sz="2400" b="1" i="1" dirty="0">
                <a:solidFill>
                  <a:srgbClr val="0C0D0E"/>
                </a:solidFill>
                <a:effectLst/>
                <a:latin typeface="Trebuchet MS" panose="020B0603020202020204" pitchFamily="34" charset="0"/>
              </a:rPr>
              <a:t>A</a:t>
            </a:r>
            <a:r>
              <a:rPr kumimoji="0" lang="zh-CN" altLang="en-US" sz="2400" b="1" dirty="0">
                <a:latin typeface="Trebuchet MS" panose="020B0603020202020204" pitchFamily="34" charset="0"/>
              </a:rPr>
              <a:t>，</a:t>
            </a:r>
            <a:r>
              <a:rPr lang="en-US" sz="2400" b="1" i="1" dirty="0">
                <a:solidFill>
                  <a:srgbClr val="0C0D0E"/>
                </a:solidFill>
                <a:effectLst/>
                <a:latin typeface="Trebuchet MS" panose="020B0603020202020204" pitchFamily="34" charset="0"/>
              </a:rPr>
              <a:t>the relational graph </a:t>
            </a:r>
            <a:r>
              <a:rPr lang="en-US" sz="2400" b="0" i="0" dirty="0">
                <a:solidFill>
                  <a:srgbClr val="0C0D0E"/>
                </a:solidFill>
                <a:effectLst/>
                <a:latin typeface="Trebuchet MS" panose="020B0603020202020204" pitchFamily="34" charset="0"/>
              </a:rPr>
              <a:t>of </a:t>
            </a:r>
            <a:r>
              <a:rPr kumimoji="0" lang="en-US" altLang="zh-CN" sz="2400" b="1" i="1" dirty="0">
                <a:latin typeface="Trebuchet MS" panose="020B0603020202020204" pitchFamily="34" charset="0"/>
              </a:rPr>
              <a:t>R is G</a:t>
            </a:r>
            <a:r>
              <a:rPr kumimoji="0" lang="en-US" altLang="zh-CN" sz="2400" b="1" i="1" baseline="-25000"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&gt;, </a:t>
            </a:r>
            <a:r>
              <a:rPr lang="en-US" sz="2400" b="0" i="0" dirty="0">
                <a:solidFill>
                  <a:srgbClr val="0C0D0E"/>
                </a:solidFill>
                <a:effectLst/>
                <a:latin typeface="Trebuchet MS" panose="020B0603020202020204" pitchFamily="34" charset="0"/>
              </a:rPr>
              <a:t>where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is the set of vertices and </a:t>
            </a:r>
            <a:r>
              <a:rPr lang="en-US" sz="2400" b="1" i="1" dirty="0">
                <a:solidFill>
                  <a:srgbClr val="0C0D0E"/>
                </a:solidFill>
                <a:effectLst/>
                <a:latin typeface="Trebuchet MS" panose="020B0603020202020204" pitchFamily="34" charset="0"/>
              </a:rPr>
              <a:t>R</a:t>
            </a:r>
            <a:r>
              <a:rPr lang="en-US" sz="2400" b="0" i="0" dirty="0">
                <a:solidFill>
                  <a:srgbClr val="0C0D0E"/>
                </a:solidFill>
                <a:effectLst/>
                <a:latin typeface="Trebuchet MS" panose="020B0603020202020204" pitchFamily="34" charset="0"/>
              </a:rPr>
              <a:t> is the set of edges</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If</a:t>
            </a:r>
            <a:r>
              <a:rPr lang="zh-CN" altLang="en-US" sz="2400" b="1" dirty="0">
                <a:latin typeface="Trebuchet MS" panose="020B0603020202020204" pitchFamily="34" charset="0"/>
              </a:rPr>
              <a:t> </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i</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j</a:t>
            </a:r>
            <a:r>
              <a:rPr kumimoji="0" lang="en-US" altLang="zh-CN" sz="2400" b="1" dirty="0">
                <a:latin typeface="Trebuchet MS" panose="020B0603020202020204" pitchFamily="34" charset="0"/>
              </a:rPr>
              <a:t>&gt;</a:t>
            </a:r>
            <a:r>
              <a:rPr lang="zh-CN" altLang="en-US" sz="2400" b="1" dirty="0">
                <a:latin typeface="Trebuchet MS" panose="020B0603020202020204" pitchFamily="34" charset="0"/>
              </a:rPr>
              <a:t> </a:t>
            </a:r>
            <a:r>
              <a:rPr lang="en-US" altLang="zh-CN" sz="2400" b="1" dirty="0">
                <a:latin typeface="Trebuchet MS" panose="020B0603020202020204" pitchFamily="34" charset="0"/>
              </a:rPr>
              <a:t>belongs to </a:t>
            </a:r>
            <a:r>
              <a:rPr kumimoji="0" lang="en-US" altLang="zh-CN" sz="2400" b="1" i="1" dirty="0">
                <a:latin typeface="Trebuchet MS" panose="020B0603020202020204" pitchFamily="34" charset="0"/>
              </a:rPr>
              <a:t>R</a:t>
            </a:r>
            <a:r>
              <a:rPr kumimoji="0" lang="zh-CN" altLang="en-US" sz="2400" b="1" dirty="0">
                <a:latin typeface="Trebuchet MS" panose="020B0603020202020204" pitchFamily="34" charset="0"/>
              </a:rPr>
              <a:t>，</a:t>
            </a:r>
            <a:r>
              <a:rPr lang="en-US" sz="2400" b="0" i="0" dirty="0">
                <a:solidFill>
                  <a:srgbClr val="0C0D0E"/>
                </a:solidFill>
                <a:effectLst/>
                <a:latin typeface="Trebuchet MS" panose="020B0603020202020204" pitchFamily="34" charset="0"/>
              </a:rPr>
              <a:t>there is a directed edge from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 </a:t>
            </a:r>
            <a:r>
              <a:rPr lang="en-US" sz="2400" b="0" i="0" dirty="0">
                <a:solidFill>
                  <a:srgbClr val="0C0D0E"/>
                </a:solidFill>
                <a:effectLst/>
                <a:latin typeface="Trebuchet MS" panose="020B0603020202020204" pitchFamily="34" charset="0"/>
              </a:rPr>
              <a:t>to </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j</a:t>
            </a:r>
            <a:r>
              <a:rPr kumimoji="0" lang="en-US" altLang="zh-CN" sz="2400" b="1" i="1" baseline="-25000" dirty="0">
                <a:latin typeface="Trebuchet MS" panose="020B0603020202020204" pitchFamily="34" charset="0"/>
              </a:rPr>
              <a:t> </a:t>
            </a:r>
            <a:r>
              <a:rPr lang="en-US" sz="2400" b="0" i="0" dirty="0">
                <a:solidFill>
                  <a:srgbClr val="0C0D0E"/>
                </a:solidFill>
                <a:effectLst/>
                <a:latin typeface="Trebuchet MS" panose="020B0603020202020204" pitchFamily="34" charset="0"/>
              </a:rPr>
              <a:t> in the graph</a:t>
            </a:r>
            <a:r>
              <a:rPr kumimoji="0" lang="en-US" altLang="zh-CN" sz="2400" b="1" dirty="0">
                <a:latin typeface="Trebuchet MS" panose="020B0603020202020204" pitchFamily="34" charset="0"/>
              </a:rPr>
              <a:t>. </a:t>
            </a:r>
          </a:p>
        </p:txBody>
      </p:sp>
      <p:pic>
        <p:nvPicPr>
          <p:cNvPr id="10" name="图片 9" descr="微信图片_20220318113523">
            <a:extLst>
              <a:ext uri="{FF2B5EF4-FFF2-40B4-BE49-F238E27FC236}">
                <a16:creationId xmlns:a16="http://schemas.microsoft.com/office/drawing/2014/main" id="{9C70FD78-B6EE-4A2F-9102-29154CA5E239}"/>
              </a:ext>
            </a:extLst>
          </p:cNvPr>
          <p:cNvPicPr>
            <a:picLocks noChangeAspect="1"/>
          </p:cNvPicPr>
          <p:nvPr/>
        </p:nvPicPr>
        <p:blipFill>
          <a:blip r:embed="rId4"/>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451112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3" end="3"/>
                                            </p:txEl>
                                          </p:spTgt>
                                        </p:tgtEl>
                                        <p:attrNameLst>
                                          <p:attrName>style.visibility</p:attrName>
                                        </p:attrNameLst>
                                      </p:cBhvr>
                                      <p:to>
                                        <p:strVal val="visible"/>
                                      </p:to>
                                    </p:set>
                                    <p:animEffect transition="in" filter="fade">
                                      <p:cBhvr>
                                        <p:cTn id="12" dur="1000"/>
                                        <p:tgtEl>
                                          <p:spTgt spid="14">
                                            <p:txEl>
                                              <p:pRg st="3" end="3"/>
                                            </p:txEl>
                                          </p:spTgt>
                                        </p:tgtEl>
                                      </p:cBhvr>
                                    </p:animEffect>
                                    <p:anim calcmode="lin" valueType="num">
                                      <p:cBhvr>
                                        <p:cTn id="13"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fade">
                                      <p:cBhvr>
                                        <p:cTn id="17" dur="1000"/>
                                        <p:tgtEl>
                                          <p:spTgt spid="14">
                                            <p:txEl>
                                              <p:pRg st="4" end="4"/>
                                            </p:txEl>
                                          </p:spTgt>
                                        </p:tgtEl>
                                      </p:cBhvr>
                                    </p:animEffect>
                                    <p:anim calcmode="lin" valueType="num">
                                      <p:cBhvr>
                                        <p:cTn id="18"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
                                            <p:txEl>
                                              <p:pRg st="5" end="5"/>
                                            </p:txEl>
                                          </p:spTgt>
                                        </p:tgtEl>
                                        <p:attrNameLst>
                                          <p:attrName>style.visibility</p:attrName>
                                        </p:attrNameLst>
                                      </p:cBhvr>
                                      <p:to>
                                        <p:strVal val="visible"/>
                                      </p:to>
                                    </p:set>
                                    <p:animEffect transition="in" filter="fade">
                                      <p:cBhvr>
                                        <p:cTn id="24" dur="1000"/>
                                        <p:tgtEl>
                                          <p:spTgt spid="14">
                                            <p:txEl>
                                              <p:pRg st="5" end="5"/>
                                            </p:txEl>
                                          </p:spTgt>
                                        </p:tgtEl>
                                      </p:cBhvr>
                                    </p:animEffect>
                                    <p:anim calcmode="lin" valueType="num">
                                      <p:cBhvr>
                                        <p:cTn id="25"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4">
                                            <p:txEl>
                                              <p:pRg st="6" end="6"/>
                                            </p:txEl>
                                          </p:spTgt>
                                        </p:tgtEl>
                                        <p:attrNameLst>
                                          <p:attrName>style.visibility</p:attrName>
                                        </p:attrNameLst>
                                      </p:cBhvr>
                                      <p:to>
                                        <p:strVal val="visible"/>
                                      </p:to>
                                    </p:set>
                                    <p:animEffect transition="in" filter="fade">
                                      <p:cBhvr>
                                        <p:cTn id="29" dur="1000"/>
                                        <p:tgtEl>
                                          <p:spTgt spid="14">
                                            <p:txEl>
                                              <p:pRg st="6" end="6"/>
                                            </p:txEl>
                                          </p:spTgt>
                                        </p:tgtEl>
                                      </p:cBhvr>
                                    </p:animEffect>
                                    <p:anim calcmode="lin" valueType="num">
                                      <p:cBhvr>
                                        <p:cTn id="3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4.1.3 </a:t>
            </a:r>
            <a:r>
              <a:rPr lang="en-US" altLang="zh-CN" sz="2000" dirty="0">
                <a:latin typeface="Trebuchet MS" panose="020B0603020202020204" pitchFamily="34" charset="0"/>
              </a:rPr>
              <a:t>Representation of Binary Relations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Relational Matrix </a:t>
            </a:r>
            <a:r>
              <a:rPr lang="en-US" altLang="zh-CN" sz="2400" b="1" dirty="0">
                <a:ea typeface="宋体" panose="02010600030101010101" pitchFamily="2" charset="-122"/>
                <a:cs typeface="Times New Roman" panose="02020603050405020304" pitchFamily="18" charset="0"/>
              </a:rPr>
              <a:t>&amp;</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Relational Graph</a:t>
            </a:r>
            <a:r>
              <a:rPr kumimoji="0" lang="zh-CN" altLang="en-US" sz="2400" b="1" dirty="0">
                <a:highlight>
                  <a:srgbClr val="FF0000"/>
                </a:highlight>
                <a:latin typeface="Trebuchet MS" panose="020B0603020202020204" pitchFamily="34" charset="0"/>
              </a:rPr>
              <a:t>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eaLnBrk="1" hangingPunct="1">
              <a:buFontTx/>
              <a:buNone/>
            </a:pPr>
            <a:endParaRPr lang="en-US" altLang="zh-CN" sz="2800" b="1" dirty="0">
              <a:solidFill>
                <a:srgbClr val="FF0000"/>
              </a:solidFill>
            </a:endParaRPr>
          </a:p>
          <a:p>
            <a:pPr marL="0" indent="1252538" eaLnBrk="1" hangingPunct="1">
              <a:spcBef>
                <a:spcPct val="60000"/>
              </a:spcBef>
              <a:buNone/>
            </a:pPr>
            <a:endParaRPr lang="zh-CN" altLang="en-US" b="1" dirty="0"/>
          </a:p>
          <a:p>
            <a:pPr lvl="1"/>
            <a:endParaRPr lang="zh-CN" altLang="en-US" sz="2800" b="1" dirty="0"/>
          </a:p>
        </p:txBody>
      </p:sp>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6" y="765175"/>
                <a:ext cx="10386331" cy="5061257"/>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10000"/>
                  </a:lnSpc>
                  <a:spcBef>
                    <a:spcPts val="300"/>
                  </a:spcBef>
                  <a:buClr>
                    <a:srgbClr val="0B5BFF"/>
                  </a:buClr>
                  <a:buSzPct val="80000"/>
                  <a:buNone/>
                </a:pPr>
                <a:r>
                  <a:rPr lang="en-US" sz="2400" b="1" i="0" dirty="0">
                    <a:solidFill>
                      <a:srgbClr val="0C0D0E"/>
                    </a:solidFill>
                    <a:effectLst/>
                    <a:latin typeface="Trebuchet MS" panose="020B0603020202020204" pitchFamily="34" charset="0"/>
                  </a:rPr>
                  <a:t>    Note:</a:t>
                </a:r>
                <a:r>
                  <a:rPr lang="en-US" sz="2400" b="0" i="0" dirty="0">
                    <a:solidFill>
                      <a:srgbClr val="0C0D0E"/>
                    </a:solidFill>
                    <a:effectLst/>
                    <a:latin typeface="Trebuchet MS" panose="020B0603020202020204" pitchFamily="34" charset="0"/>
                  </a:rPr>
                  <a:t> Let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and </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be finite sets.</a:t>
                </a:r>
              </a:p>
              <a:p>
                <a:pPr algn="l">
                  <a:lnSpc>
                    <a:spcPct val="110000"/>
                  </a:lnSpc>
                  <a:spcBef>
                    <a:spcPts val="300"/>
                  </a:spcBef>
                  <a:buClr>
                    <a:srgbClr val="0B5BFF"/>
                  </a:buClr>
                  <a:buSzPct val="120000"/>
                  <a:buFont typeface="Arial" panose="020B0604020202020204" pitchFamily="34" charset="0"/>
                  <a:buChar char="•"/>
                </a:pPr>
                <a:r>
                  <a:rPr lang="en-US" sz="2400" b="1" i="0" dirty="0">
                    <a:solidFill>
                      <a:srgbClr val="0C0D0E"/>
                    </a:solidFill>
                    <a:effectLst/>
                    <a:latin typeface="Trebuchet MS" panose="020B0603020202020204" pitchFamily="34" charset="0"/>
                  </a:rPr>
                  <a:t>Relational matrices</a:t>
                </a:r>
                <a:r>
                  <a:rPr lang="en-US" sz="2400" b="0" i="0" dirty="0">
                    <a:solidFill>
                      <a:srgbClr val="0C0D0E"/>
                    </a:solidFill>
                    <a:effectLst/>
                    <a:latin typeface="Trebuchet MS" panose="020B0603020202020204" pitchFamily="34" charset="0"/>
                  </a:rPr>
                  <a:t> are suitable for representing relations from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 to </a:t>
                </a:r>
                <a:r>
                  <a:rPr lang="en-US" sz="2400" b="1" i="1" dirty="0">
                    <a:solidFill>
                      <a:srgbClr val="0C0D0E"/>
                    </a:solidFill>
                    <a:effectLst/>
                    <a:latin typeface="Trebuchet MS" panose="020B0603020202020204" pitchFamily="34" charset="0"/>
                  </a:rPr>
                  <a:t>B</a:t>
                </a:r>
                <a:r>
                  <a:rPr lang="en-US" sz="2400" b="0" i="0" dirty="0">
                    <a:solidFill>
                      <a:srgbClr val="0C0D0E"/>
                    </a:solidFill>
                    <a:effectLst/>
                    <a:latin typeface="Trebuchet MS" panose="020B0603020202020204" pitchFamily="34" charset="0"/>
                  </a:rPr>
                  <a:t> or relations on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a:t>
                </a:r>
              </a:p>
              <a:p>
                <a:pPr algn="l">
                  <a:lnSpc>
                    <a:spcPct val="110000"/>
                  </a:lnSpc>
                  <a:spcBef>
                    <a:spcPts val="300"/>
                  </a:spcBef>
                  <a:buClr>
                    <a:srgbClr val="0B5BFF"/>
                  </a:buClr>
                  <a:buSzPct val="120000"/>
                  <a:buFont typeface="Arial" panose="020B0604020202020204" pitchFamily="34" charset="0"/>
                  <a:buChar char="•"/>
                </a:pPr>
                <a:r>
                  <a:rPr lang="en-US" sz="2400" b="1" i="0" dirty="0">
                    <a:solidFill>
                      <a:srgbClr val="0C0D0E"/>
                    </a:solidFill>
                    <a:effectLst/>
                    <a:latin typeface="Trebuchet MS" panose="020B0603020202020204" pitchFamily="34" charset="0"/>
                  </a:rPr>
                  <a:t>Relational graphs</a:t>
                </a:r>
                <a:r>
                  <a:rPr lang="en-US" sz="2400" b="0" i="0" dirty="0">
                    <a:solidFill>
                      <a:srgbClr val="0C0D0E"/>
                    </a:solidFill>
                    <a:effectLst/>
                    <a:latin typeface="Trebuchet MS" panose="020B0603020202020204" pitchFamily="34" charset="0"/>
                  </a:rPr>
                  <a:t> are suitable for representing relations on </a:t>
                </a:r>
                <a:r>
                  <a:rPr lang="en-US" sz="2400" b="1" i="1" dirty="0">
                    <a:solidFill>
                      <a:srgbClr val="0C0D0E"/>
                    </a:solidFill>
                    <a:effectLst/>
                    <a:latin typeface="Trebuchet MS" panose="020B0603020202020204" pitchFamily="34" charset="0"/>
                  </a:rPr>
                  <a:t>A</a:t>
                </a:r>
                <a:r>
                  <a:rPr lang="en-US" sz="2400" b="0" i="0" dirty="0">
                    <a:solidFill>
                      <a:srgbClr val="0C0D0E"/>
                    </a:solidFill>
                    <a:effectLst/>
                    <a:latin typeface="Trebuchet MS" panose="020B0603020202020204" pitchFamily="34" charset="0"/>
                  </a:rPr>
                  <a:t>.</a:t>
                </a:r>
              </a:p>
              <a:p>
                <a:pPr algn="l">
                  <a:lnSpc>
                    <a:spcPct val="110000"/>
                  </a:lnSpc>
                  <a:spcBef>
                    <a:spcPts val="300"/>
                  </a:spcBef>
                  <a:buClr>
                    <a:srgbClr val="0B5BFF"/>
                  </a:buClr>
                  <a:buSzPct val="120000"/>
                  <a:buFont typeface="Arial" panose="020B0604020202020204" pitchFamily="34" charset="0"/>
                  <a:buChar char="•"/>
                </a:pPr>
                <a:endParaRPr lang="en-US" altLang="zh-CN" sz="2400" dirty="0">
                  <a:solidFill>
                    <a:srgbClr val="0C0D0E"/>
                  </a:solidFill>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Example</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  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a:t>
                </a:r>
                <a:endParaRPr kumimoji="0" lang="en-US" altLang="zh-CN" sz="2400" b="1" i="1" dirty="0">
                  <a:latin typeface="Trebuchet MS" panose="020B0603020202020204" pitchFamily="34" charset="0"/>
                </a:endParaRPr>
              </a:p>
              <a:p>
                <a:pPr eaLnBrk="1" hangingPunct="1">
                  <a:lnSpc>
                    <a:spcPct val="120000"/>
                  </a:lnSpc>
                  <a:spcBef>
                    <a:spcPct val="0"/>
                  </a:spcBef>
                  <a:buFontTx/>
                  <a:buNone/>
                </a:pPr>
                <a:r>
                  <a:rPr lang="en-US" altLang="zh-CN" sz="2400" dirty="0">
                    <a:latin typeface="Trebuchet MS" panose="020B0603020202020204" pitchFamily="34" charset="0"/>
                  </a:rPr>
                  <a:t>The relationship matrix </a:t>
                </a:r>
                <a:r>
                  <a:rPr kumimoji="0" lang="en-US" altLang="zh-CN" sz="2400" b="1" i="1" dirty="0">
                    <a:latin typeface="Trebuchet MS" panose="020B0603020202020204" pitchFamily="34" charset="0"/>
                  </a:rPr>
                  <a:t>M</a:t>
                </a:r>
                <a:r>
                  <a:rPr kumimoji="0" lang="en-US" altLang="zh-CN" sz="2400" b="1" i="1" baseline="-25000" dirty="0">
                    <a:latin typeface="Trebuchet MS" panose="020B0603020202020204" pitchFamily="34" charset="0"/>
                  </a:rPr>
                  <a:t>R </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and </a:t>
                </a:r>
                <a:r>
                  <a:rPr lang="en-US" altLang="zh-CN" sz="2400" dirty="0">
                    <a:latin typeface="Trebuchet MS" panose="020B0603020202020204" pitchFamily="34" charset="0"/>
                  </a:rPr>
                  <a:t>the relationship graph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R </a:t>
                </a:r>
              </a:p>
              <a:p>
                <a:pPr eaLnBrk="1" hangingPunct="1">
                  <a:lnSpc>
                    <a:spcPct val="120000"/>
                  </a:lnSpc>
                  <a:spcBef>
                    <a:spcPct val="0"/>
                  </a:spcBef>
                  <a:buFontTx/>
                  <a:buNone/>
                </a:pPr>
                <a:endParaRPr lang="en-US" altLang="zh-CN" sz="2400" b="1" i="1" baseline="-25000" dirty="0">
                  <a:latin typeface="Trebuchet MS" panose="020B0603020202020204" pitchFamily="34" charset="0"/>
                </a:endParaRPr>
              </a:p>
              <a:p>
                <a:pPr eaLnBrk="1" hangingPunct="1">
                  <a:lnSpc>
                    <a:spcPct val="120000"/>
                  </a:lnSpc>
                  <a:spcBef>
                    <a:spcPct val="0"/>
                  </a:spcBef>
                  <a:buFontTx/>
                  <a:buNone/>
                </a:pP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𝑴</m:t>
                        </m:r>
                      </m:e>
                      <m:sub>
                        <m:r>
                          <a:rPr lang="en-US" altLang="zh-CN" sz="2400" b="1" i="1" smtClean="0">
                            <a:latin typeface="Cambria Math" panose="02040503050406030204" pitchFamily="18" charset="0"/>
                          </a:rPr>
                          <m:t>𝑹</m:t>
                        </m:r>
                      </m:sub>
                    </m:sSub>
                    <m:r>
                      <a:rPr lang="en-US" altLang="zh-CN" sz="2400" b="1" i="1" smtClean="0">
                        <a:latin typeface="Cambria Math" panose="02040503050406030204" pitchFamily="18" charset="0"/>
                        <a:ea typeface="Cambria Math" panose="02040503050406030204" pitchFamily="18" charset="0"/>
                      </a:rPr>
                      <m:t>=</m:t>
                    </m:r>
                    <m:d>
                      <m:dPr>
                        <m:begChr m:val="["/>
                        <m:endChr m:val="]"/>
                        <m:ctrlPr>
                          <a:rPr lang="en-US" altLang="zh-CN" sz="2400" b="1" i="1" smtClean="0">
                            <a:latin typeface="Cambria Math" panose="02040503050406030204" pitchFamily="18" charset="0"/>
                            <a:ea typeface="Cambria Math" panose="02040503050406030204" pitchFamily="18" charset="0"/>
                          </a:rPr>
                        </m:ctrlPr>
                      </m:dPr>
                      <m:e>
                        <m:m>
                          <m:mPr>
                            <m:mcs>
                              <m:mc>
                                <m:mcPr>
                                  <m:count m:val="4"/>
                                  <m:mcJc m:val="center"/>
                                </m:mcPr>
                              </m:mc>
                            </m:mcs>
                            <m:ctrlPr>
                              <a:rPr lang="en-US" altLang="zh-CN" sz="2400" b="1" i="1" smtClean="0">
                                <a:latin typeface="Cambria Math" panose="02040503050406030204" pitchFamily="18" charset="0"/>
                                <a:ea typeface="Cambria Math" panose="02040503050406030204" pitchFamily="18" charset="0"/>
                              </a:rPr>
                            </m:ctrlPr>
                          </m:mPr>
                          <m:mr>
                            <m:e>
                              <m:r>
                                <m:rPr>
                                  <m:brk m:alnAt="7"/>
                                </m:rPr>
                                <a:rPr lang="en-US" altLang="zh-CN" sz="2400" b="1" i="1" smtClean="0">
                                  <a:latin typeface="Cambria Math" panose="02040503050406030204" pitchFamily="18" charset="0"/>
                                  <a:ea typeface="Cambria Math" panose="02040503050406030204" pitchFamily="18" charset="0"/>
                                </a:rPr>
                                <m:t>𝟏</m:t>
                              </m:r>
                            </m:e>
                            <m:e>
                              <m:r>
                                <a:rPr lang="en-US" altLang="zh-CN" sz="2400" b="1" i="1" smtClean="0">
                                  <a:latin typeface="Cambria Math" panose="02040503050406030204" pitchFamily="18" charset="0"/>
                                  <a:ea typeface="Cambria Math" panose="02040503050406030204" pitchFamily="18" charset="0"/>
                                </a:rPr>
                                <m:t>𝟏</m:t>
                              </m:r>
                            </m:e>
                            <m:e>
                              <m:r>
                                <a:rPr lang="en-US" altLang="zh-CN" sz="2400" b="1" i="1" smtClean="0">
                                  <a:latin typeface="Cambria Math" panose="02040503050406030204" pitchFamily="18" charset="0"/>
                                  <a:ea typeface="Cambria Math" panose="02040503050406030204" pitchFamily="18" charset="0"/>
                                </a:rPr>
                                <m:t>𝟏</m:t>
                              </m:r>
                            </m:e>
                            <m:e>
                              <m:r>
                                <a:rPr lang="en-US" altLang="zh-CN" sz="2400" b="1" i="1" smtClean="0">
                                  <a:latin typeface="Cambria Math" panose="02040503050406030204" pitchFamily="18" charset="0"/>
                                  <a:ea typeface="Cambria Math" panose="02040503050406030204" pitchFamily="18" charset="0"/>
                                </a:rPr>
                                <m:t>𝟎</m:t>
                              </m:r>
                            </m:e>
                          </m:mr>
                          <m:mr>
                            <m:e>
                              <m:r>
                                <a:rPr lang="en-US" altLang="zh-CN" sz="2400" b="1" i="1" smtClean="0">
                                  <a:latin typeface="Cambria Math" panose="02040503050406030204" pitchFamily="18" charset="0"/>
                                  <a:ea typeface="Cambria Math" panose="02040503050406030204" pitchFamily="18" charset="0"/>
                                </a:rPr>
                                <m:t>𝟏</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mr>
                          <m:mr>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mr>
                          <m:mr>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𝟎</m:t>
                              </m:r>
                            </m:e>
                            <m:e>
                              <m:r>
                                <a:rPr lang="en-US" altLang="zh-CN" sz="2400" b="1" i="1" smtClean="0">
                                  <a:latin typeface="Cambria Math" panose="02040503050406030204" pitchFamily="18" charset="0"/>
                                  <a:ea typeface="Cambria Math" panose="02040503050406030204" pitchFamily="18" charset="0"/>
                                </a:rPr>
                                <m:t>𝟏</m:t>
                              </m:r>
                            </m:e>
                          </m:mr>
                        </m:m>
                      </m:e>
                    </m:d>
                  </m:oMath>
                </a14:m>
                <a:r>
                  <a:rPr lang="en-US" altLang="zh-CN" sz="2400" b="1" dirty="0"/>
                  <a:t>   </a:t>
                </a:r>
              </a:p>
            </p:txBody>
          </p:sp>
        </mc:Choice>
        <mc:Fallback xmlns="">
          <p:sp>
            <p:nvSpPr>
              <p:cNvPr id="14" name="Rectangle 3">
                <a:extLst>
                  <a:ext uri="{FF2B5EF4-FFF2-40B4-BE49-F238E27FC236}">
                    <a16:creationId xmlns:a16="http://schemas.microsoft.com/office/drawing/2014/main" id="{0417FEEE-15E0-4DA9-8A58-DA48D362B9EB}"/>
                  </a:ext>
                </a:extLst>
              </p:cNvPr>
              <p:cNvSpPr txBox="1">
                <a:spLocks noRot="1" noChangeAspect="1" noMove="1" noResize="1" noEditPoints="1" noAdjustHandles="1" noChangeArrowheads="1" noChangeShapeType="1" noTextEdit="1"/>
              </p:cNvSpPr>
              <p:nvPr/>
            </p:nvSpPr>
            <p:spPr>
              <a:xfrm>
                <a:off x="1076326" y="765175"/>
                <a:ext cx="10386331" cy="5061257"/>
              </a:xfrm>
              <a:prstGeom prst="rect">
                <a:avLst/>
              </a:prstGeom>
              <a:blipFill>
                <a:blip r:embed="rId5"/>
                <a:stretch>
                  <a:fillRect l="-1116" t="-843"/>
                </a:stretch>
              </a:blipFill>
            </p:spPr>
            <p:txBody>
              <a:bodyPr/>
              <a:lstStyle/>
              <a:p>
                <a:r>
                  <a:rPr lang="en-US">
                    <a:noFill/>
                  </a:rPr>
                  <a:t> </a:t>
                </a:r>
              </a:p>
            </p:txBody>
          </p:sp>
        </mc:Fallback>
      </mc:AlternateContent>
      <p:graphicFrame>
        <p:nvGraphicFramePr>
          <p:cNvPr id="9" name="对象 8">
            <a:extLst>
              <a:ext uri="{FF2B5EF4-FFF2-40B4-BE49-F238E27FC236}">
                <a16:creationId xmlns:a16="http://schemas.microsoft.com/office/drawing/2014/main" id="{B11DCA50-C4DD-4FC5-99D0-11E7D7CFDB6C}"/>
              </a:ext>
            </a:extLst>
          </p:cNvPr>
          <p:cNvGraphicFramePr>
            <a:graphicFrameLocks noChangeAspect="1"/>
          </p:cNvGraphicFramePr>
          <p:nvPr>
            <p:extLst>
              <p:ext uri="{D42A27DB-BD31-4B8C-83A1-F6EECF244321}">
                <p14:modId xmlns:p14="http://schemas.microsoft.com/office/powerpoint/2010/main" val="1173068219"/>
              </p:ext>
            </p:extLst>
          </p:nvPr>
        </p:nvGraphicFramePr>
        <p:xfrm>
          <a:off x="1231420" y="822012"/>
          <a:ext cx="311150" cy="374650"/>
        </p:xfrm>
        <a:graphic>
          <a:graphicData uri="http://schemas.openxmlformats.org/presentationml/2006/ole">
            <mc:AlternateContent xmlns:mc="http://schemas.openxmlformats.org/markup-compatibility/2006">
              <mc:Choice xmlns:v="urn:schemas-microsoft-com:vml" Requires="v">
                <p:oleObj name="Visio" r:id="rId6" imgW="584296" imgH="698595" progId="Visio.Drawing.15">
                  <p:embed/>
                </p:oleObj>
              </mc:Choice>
              <mc:Fallback>
                <p:oleObj name="Visio" r:id="rId6" imgW="584296" imgH="698595" progId="Visio.Drawing.15">
                  <p:embed/>
                  <p:pic>
                    <p:nvPicPr>
                      <p:cNvPr id="9" name="对象 8">
                        <a:extLst>
                          <a:ext uri="{FF2B5EF4-FFF2-40B4-BE49-F238E27FC236}">
                            <a16:creationId xmlns:a16="http://schemas.microsoft.com/office/drawing/2014/main" id="{B11DCA50-C4DD-4FC5-99D0-11E7D7CFDB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1420" y="822012"/>
                        <a:ext cx="3111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图片 11">
            <a:extLst>
              <a:ext uri="{FF2B5EF4-FFF2-40B4-BE49-F238E27FC236}">
                <a16:creationId xmlns:a16="http://schemas.microsoft.com/office/drawing/2014/main" id="{6F8AFA3C-33E2-4040-96B3-9BA05268DE3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41643" y="3016953"/>
            <a:ext cx="576355" cy="257697"/>
          </a:xfrm>
          <a:prstGeom prst="rect">
            <a:avLst/>
          </a:prstGeom>
        </p:spPr>
      </p:pic>
      <p:pic>
        <p:nvPicPr>
          <p:cNvPr id="5" name="图片 4">
            <a:extLst>
              <a:ext uri="{FF2B5EF4-FFF2-40B4-BE49-F238E27FC236}">
                <a16:creationId xmlns:a16="http://schemas.microsoft.com/office/drawing/2014/main" id="{867336C0-758F-4B5D-BF44-D4E92A36C092}"/>
              </a:ext>
            </a:extLst>
          </p:cNvPr>
          <p:cNvPicPr>
            <a:picLocks noChangeAspect="1"/>
          </p:cNvPicPr>
          <p:nvPr/>
        </p:nvPicPr>
        <p:blipFill>
          <a:blip r:embed="rId9"/>
          <a:stretch>
            <a:fillRect/>
          </a:stretch>
        </p:blipFill>
        <p:spPr>
          <a:xfrm>
            <a:off x="6095999" y="4195737"/>
            <a:ext cx="2188029" cy="2192513"/>
          </a:xfrm>
          <a:prstGeom prst="rect">
            <a:avLst/>
          </a:prstGeom>
        </p:spPr>
      </p:pic>
      <p:pic>
        <p:nvPicPr>
          <p:cNvPr id="17" name="图片 16" descr="微信图片_20220318113523">
            <a:extLst>
              <a:ext uri="{FF2B5EF4-FFF2-40B4-BE49-F238E27FC236}">
                <a16:creationId xmlns:a16="http://schemas.microsoft.com/office/drawing/2014/main" id="{6B77A171-5097-4270-A2C2-D75FFDBE9277}"/>
              </a:ext>
            </a:extLst>
          </p:cNvPr>
          <p:cNvPicPr>
            <a:picLocks noChangeAspect="1"/>
          </p:cNvPicPr>
          <p:nvPr/>
        </p:nvPicPr>
        <p:blipFill>
          <a:blip r:embed="rId10"/>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997989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4.1 Definition and Representation of Relations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mj-lt"/>
                <a:ea typeface="Cambria Math" panose="02040503050406030204" pitchFamily="18" charset="0"/>
                <a:cs typeface="Times New Roman" panose="02020603050405020304" pitchFamily="18" charset="0"/>
              </a:rPr>
              <a:t> </a:t>
            </a:r>
            <a:r>
              <a:rPr lang="en-US" altLang="zh-CN" sz="2400" b="1" dirty="0">
                <a:latin typeface="+mj-lt"/>
                <a:cs typeface="Times New Roman" panose="02020603050405020304" pitchFamily="18" charset="0"/>
              </a:rPr>
              <a:t>Brief summary</a:t>
            </a:r>
            <a:endParaRPr lang="zh-CN" altLang="en-US" sz="2400" b="1" dirty="0">
              <a:latin typeface="+mj-lt"/>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06887879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Söhne"/>
              </a:rPr>
              <a:t>（</a:t>
            </a:r>
            <a:r>
              <a:rPr lang="en-US" altLang="zh-CN" dirty="0">
                <a:solidFill>
                  <a:schemeClr val="bg1"/>
                </a:solidFill>
                <a:latin typeface="Trebuchet MS" panose="020B0603020202020204" pitchFamily="34" charset="0"/>
              </a:rPr>
              <a:t>011122</a:t>
            </a:r>
            <a:r>
              <a:rPr lang="zh-CN" altLang="en-US" dirty="0">
                <a:solidFill>
                  <a:schemeClr val="bg1"/>
                </a:solidFill>
                <a:latin typeface="Söhne"/>
              </a:rPr>
              <a:t>）</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732119" y="5774634"/>
            <a:ext cx="7262777" cy="997196"/>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hlinkClick r:id="rId4"/>
              </a:rPr>
              <a:t>kejiwei@tongji.edu.cn</a:t>
            </a:r>
            <a:endParaRPr lang="en-US" altLang="zh-CN" sz="2800" b="1" dirty="0">
              <a:latin typeface="Trebuchet MS" panose="020B0603020202020204" pitchFamily="34" charset="0"/>
              <a:cs typeface="Times New Roman" panose="02020603050405020304" pitchFamily="18" charset="0"/>
            </a:endParaRPr>
          </a:p>
          <a:p>
            <a:pPr algn="ctr" fontAlgn="base">
              <a:spcBef>
                <a:spcPct val="10000"/>
              </a:spcBef>
              <a:spcAft>
                <a:spcPct val="0"/>
              </a:spcAft>
              <a:buClr>
                <a:srgbClr val="39BBF0"/>
              </a:buClr>
              <a:buSzPct val="60000"/>
            </a:pPr>
            <a:r>
              <a:rPr lang="en-US" altLang="zh-CN" sz="2800" dirty="0">
                <a:latin typeface="Trebuchet MS" panose="020B0603020202020204" pitchFamily="34" charset="0"/>
                <a:ea typeface="微软雅黑" pitchFamily="34" charset="-122"/>
                <a:cs typeface="Times New Roman" panose="02020603050405020304" pitchFamily="18" charset="0"/>
              </a:rPr>
              <a:t>		</a:t>
            </a:r>
            <a:r>
              <a:rPr lang="en-US" altLang="zh-CN" sz="2800" dirty="0">
                <a:latin typeface="Trebuchet MS" panose="020B0603020202020204" pitchFamily="34" charset="0"/>
                <a:ea typeface="微软雅黑" pitchFamily="34" charset="-122"/>
                <a:cs typeface="Times New Roman" panose="02020603050405020304" pitchFamily="18" charset="0"/>
                <a:hlinkClick r:id="rId5"/>
              </a:rPr>
              <a:t>https://kejiwei.github.io/</a:t>
            </a: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7"/>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12685878"/>
      </p:ext>
    </p:extLst>
  </p:cSld>
  <p:clrMapOvr>
    <a:masterClrMapping/>
  </p:clrMapOvr>
  <mc:AlternateContent xmlns:mc="http://schemas.openxmlformats.org/markup-compatibility/2006" xmlns:p14="http://schemas.microsoft.com/office/powerpoint/2010/main">
    <mc:Choice Requires="p14">
      <p:transition p14:dur="5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4</a:t>
            </a:r>
            <a:r>
              <a:rPr lang="zh-CN" altLang="en-US" sz="2400" b="1" dirty="0">
                <a:latin typeface="Trebuchet MS" panose="020B0603020202020204" pitchFamily="34" charset="0"/>
              </a:rPr>
              <a:t>：</a:t>
            </a:r>
            <a:r>
              <a:rPr lang="en-US" altLang="zh-CN" sz="2400" b="0" i="0" dirty="0">
                <a:solidFill>
                  <a:schemeClr val="bg1"/>
                </a:solidFill>
                <a:effectLst/>
                <a:latin typeface="Trebuchet MS" panose="020B0603020202020204" pitchFamily="34" charset="0"/>
              </a:rPr>
              <a:t>Relations</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66A181A1-6A67-4B3D-BFFB-0EC0FBCF63A0}"/>
              </a:ext>
            </a:extLst>
          </p:cNvPr>
          <p:cNvSpPr txBox="1"/>
          <p:nvPr/>
        </p:nvSpPr>
        <p:spPr>
          <a:xfrm>
            <a:off x="1084792" y="1058684"/>
            <a:ext cx="7830608" cy="3030715"/>
          </a:xfrm>
          <a:prstGeom prst="rect">
            <a:avLst/>
          </a:prstGeom>
          <a:noFill/>
        </p:spPr>
        <p:txBody>
          <a:bodyPr wrap="square">
            <a:noAutofit/>
          </a:bodyPr>
          <a:lstStyle/>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4.1 Definition and Representation of Relations</a:t>
            </a:r>
          </a:p>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4.2 Relational Operations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4.3 Properties of Relations</a:t>
            </a:r>
          </a:p>
          <a:p>
            <a:pPr marL="342900" indent="-342900">
              <a:lnSpc>
                <a:spcPct val="150000"/>
              </a:lnSpc>
              <a:buClr>
                <a:srgbClr val="0B61FF"/>
              </a:buClr>
              <a:buSzPct val="80000"/>
              <a:buFont typeface="Wingdings" panose="05000000000000000000" pitchFamily="2" charset="2"/>
              <a:buChar char="n"/>
            </a:pPr>
            <a:r>
              <a:rPr lang="en-US" sz="2400" b="1" i="0" dirty="0">
                <a:solidFill>
                  <a:srgbClr val="0D0D0D"/>
                </a:solidFill>
                <a:effectLst/>
                <a:latin typeface="Trebuchet MS" panose="020B0603020202020204" pitchFamily="34" charset="0"/>
              </a:rPr>
              <a:t>4.4 Equivalence Relations and Partial Order Relations</a:t>
            </a:r>
            <a:endParaRPr lang="en-US" sz="2400" b="1" dirty="0">
              <a:latin typeface="Trebuchet MS" panose="020B0603020202020204" pitchFamily="34" charset="0"/>
            </a:endParaRPr>
          </a:p>
        </p:txBody>
      </p:sp>
    </p:spTree>
    <p:extLst>
      <p:ext uri="{BB962C8B-B14F-4D97-AF65-F5344CB8AC3E}">
        <p14:creationId xmlns:p14="http://schemas.microsoft.com/office/powerpoint/2010/main" val="19673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4.2 Relational Operation</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08104" y="1040600"/>
            <a:ext cx="8798289" cy="3643049"/>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3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4.2.1 Basic Operations of Relations</a:t>
            </a:r>
            <a:endParaRPr lang="en-US" sz="2400" dirty="0">
              <a:solidFill>
                <a:srgbClr val="0B5BFF"/>
              </a:solidFill>
              <a:latin typeface="Trebuchet MS" panose="020B0603020202020204" pitchFamily="34" charset="0"/>
            </a:endParaRPr>
          </a:p>
          <a:p>
            <a:pPr indent="36513">
              <a:lnSpc>
                <a:spcPct val="13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 Domain, range, domain (again), inverse, composition</a:t>
            </a:r>
          </a:p>
          <a:p>
            <a:pPr indent="36513">
              <a:lnSpc>
                <a:spcPct val="13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 Properties of basic operations</a:t>
            </a:r>
          </a:p>
          <a:p>
            <a:pPr>
              <a:lnSpc>
                <a:spcPct val="13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4.2.2 Power Operations of Relations</a:t>
            </a:r>
          </a:p>
          <a:p>
            <a:pPr indent="36513">
              <a:lnSpc>
                <a:spcPct val="130000"/>
              </a:lnSpc>
              <a:spcBef>
                <a:spcPts val="300"/>
              </a:spcBef>
              <a:buClr>
                <a:srgbClr val="0B5BFF"/>
              </a:buClr>
              <a:buSzPct val="120000"/>
            </a:pPr>
            <a:r>
              <a:rPr lang="en-US" sz="2400" dirty="0">
                <a:latin typeface="Trebuchet MS" panose="020B0603020202020204" pitchFamily="34" charset="0"/>
              </a:rPr>
              <a:t>Definition of power operations</a:t>
            </a:r>
          </a:p>
          <a:p>
            <a:pPr indent="36513">
              <a:lnSpc>
                <a:spcPct val="130000"/>
              </a:lnSpc>
              <a:spcBef>
                <a:spcPts val="300"/>
              </a:spcBef>
              <a:buClr>
                <a:srgbClr val="0B5BFF"/>
              </a:buClr>
              <a:buSzPct val="120000"/>
            </a:pPr>
            <a:r>
              <a:rPr lang="en-US" sz="2400" dirty="0">
                <a:latin typeface="Trebuchet MS" panose="020B0603020202020204" pitchFamily="34" charset="0"/>
              </a:rPr>
              <a:t>Methods of power operations</a:t>
            </a:r>
          </a:p>
          <a:p>
            <a:pPr indent="36513">
              <a:lnSpc>
                <a:spcPct val="130000"/>
              </a:lnSpc>
              <a:spcBef>
                <a:spcPts val="300"/>
              </a:spcBef>
              <a:buClr>
                <a:srgbClr val="0B5BFF"/>
              </a:buClr>
              <a:buSzPct val="120000"/>
            </a:pPr>
            <a:r>
              <a:rPr lang="en-US" sz="2400" dirty="0">
                <a:latin typeface="Trebuchet MS" panose="020B0603020202020204" pitchFamily="34" charset="0"/>
              </a:rPr>
              <a:t>Properties of power operations</a:t>
            </a:r>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765175"/>
            <a:ext cx="919109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90000"/>
              </a:lnSpc>
              <a:buFontTx/>
              <a:buNone/>
            </a:pPr>
            <a:endParaRPr lang="en-US" altLang="zh-CN" sz="2800" b="1" dirty="0">
              <a:solidFill>
                <a:srgbClr val="800000"/>
              </a:solidFill>
            </a:endParaRPr>
          </a:p>
        </p:txBody>
      </p:sp>
      <p:pic>
        <p:nvPicPr>
          <p:cNvPr id="9" name="图片 8" descr="微信图片_20220318113523">
            <a:extLst>
              <a:ext uri="{FF2B5EF4-FFF2-40B4-BE49-F238E27FC236}">
                <a16:creationId xmlns:a16="http://schemas.microsoft.com/office/drawing/2014/main" id="{2B458D8B-CE86-4091-8137-E2A64D23ABE2}"/>
              </a:ext>
            </a:extLst>
          </p:cNvPr>
          <p:cNvPicPr>
            <a:picLocks noChangeAspect="1"/>
          </p:cNvPicPr>
          <p:nvPr/>
        </p:nvPicPr>
        <p:blipFill>
          <a:blip r:embed="rId4"/>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684853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buFont typeface="Wingdings" panose="05000000000000000000" pitchFamily="2" charset="2"/>
              <a:buChar char="n"/>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4.2.1 Basic Operations of Relations</a:t>
            </a:r>
            <a:endParaRPr lang="en-US" altLang="zh-CN" sz="2000" dirty="0">
              <a:latin typeface="Trebuchet MS" panose="020B0603020202020204" pitchFamily="34"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dirty="0"/>
              <a:t> </a:t>
            </a:r>
            <a:r>
              <a:rPr lang="en-US" altLang="zh-CN" sz="2400" dirty="0">
                <a:latin typeface="Trebuchet MS" panose="020B0603020202020204" pitchFamily="34" charset="0"/>
              </a:rPr>
              <a:t>Domain, Range, and Field</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FontTx/>
              <a:buNone/>
            </a:pPr>
            <a:endParaRPr kumimoji="0" lang="en-US" altLang="zh-CN" sz="2800" b="1" dirty="0">
              <a:solidFill>
                <a:srgbClr val="800000"/>
              </a:solidFill>
            </a:endParaRPr>
          </a:p>
          <a:p>
            <a:pPr marL="0" indent="1252538" eaLnBrk="1" hangingPunct="1">
              <a:spcBef>
                <a:spcPct val="60000"/>
              </a:spcBef>
              <a:buNone/>
            </a:pPr>
            <a:endParaRPr lang="zh-CN" altLang="en-US" b="1" dirty="0"/>
          </a:p>
          <a:p>
            <a:pPr lvl="1"/>
            <a:endParaRPr lang="zh-CN" altLang="en-US" sz="2800" b="1" dirty="0"/>
          </a:p>
        </p:txBody>
      </p:sp>
      <p:sp>
        <p:nvSpPr>
          <p:cNvPr id="14" name="Rectangle 3">
            <a:extLst>
              <a:ext uri="{FF2B5EF4-FFF2-40B4-BE49-F238E27FC236}">
                <a16:creationId xmlns:a16="http://schemas.microsoft.com/office/drawing/2014/main" id="{0417FEEE-15E0-4DA9-8A58-DA48D362B9EB}"/>
              </a:ext>
            </a:extLst>
          </p:cNvPr>
          <p:cNvSpPr txBox="1">
            <a:spLocks noChangeArrowheads="1"/>
          </p:cNvSpPr>
          <p:nvPr/>
        </p:nvSpPr>
        <p:spPr>
          <a:xfrm>
            <a:off x="1076327" y="765175"/>
            <a:ext cx="919109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90000"/>
              </a:lnSpc>
              <a:buFontTx/>
              <a:buNone/>
            </a:pPr>
            <a:endParaRPr lang="en-US" altLang="zh-CN" sz="2800" b="1" dirty="0">
              <a:solidFill>
                <a:srgbClr val="800000"/>
              </a:solidFill>
            </a:endParaRPr>
          </a:p>
        </p:txBody>
      </p:sp>
      <p:sp>
        <p:nvSpPr>
          <p:cNvPr id="10" name="Text Box 3">
            <a:extLst>
              <a:ext uri="{FF2B5EF4-FFF2-40B4-BE49-F238E27FC236}">
                <a16:creationId xmlns:a16="http://schemas.microsoft.com/office/drawing/2014/main" id="{2FB6E383-A842-4AB1-BEED-52896B8760EE}"/>
              </a:ext>
            </a:extLst>
          </p:cNvPr>
          <p:cNvSpPr txBox="1">
            <a:spLocks noChangeArrowheads="1"/>
          </p:cNvSpPr>
          <p:nvPr/>
        </p:nvSpPr>
        <p:spPr bwMode="auto">
          <a:xfrm>
            <a:off x="1308816" y="1147989"/>
            <a:ext cx="7272337" cy="1824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4.10:</a:t>
            </a:r>
            <a:r>
              <a:rPr lang="en-US" sz="2400" dirty="0">
                <a:latin typeface="Trebuchet MS" panose="020B0603020202020204" pitchFamily="34" charset="0"/>
              </a:rPr>
              <a:t> Domain, Range, and Field</a:t>
            </a:r>
            <a:br>
              <a:rPr lang="en-US" sz="2400" dirty="0">
                <a:latin typeface="Trebuchet MS" panose="020B0603020202020204" pitchFamily="34" charset="0"/>
              </a:rPr>
            </a:br>
            <a:r>
              <a:rPr lang="en-US" sz="2400" dirty="0">
                <a:latin typeface="Trebuchet MS" panose="020B0603020202020204" pitchFamily="34" charset="0"/>
              </a:rPr>
              <a:t>  </a:t>
            </a:r>
            <a:r>
              <a:rPr kumimoji="0" lang="en-US" altLang="zh-CN" sz="2400" b="1" dirty="0" err="1">
                <a:latin typeface="Trebuchet MS" panose="020B0603020202020204" pitchFamily="34" charset="0"/>
              </a:rPr>
              <a:t>dom</a:t>
            </a:r>
            <a:r>
              <a:rPr kumimoji="0" lang="en-US" altLang="zh-CN" sz="2400" b="1" i="1" dirty="0" err="1">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fld</a:t>
            </a:r>
            <a:r>
              <a:rPr kumimoji="0" lang="en-US" altLang="zh-CN" sz="2400" b="1" i="1" dirty="0" err="1">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dirty="0" err="1">
                <a:latin typeface="Trebuchet MS" panose="020B0603020202020204" pitchFamily="34" charset="0"/>
              </a:rPr>
              <a:t>dom</a:t>
            </a:r>
            <a:r>
              <a:rPr kumimoji="0" lang="en-US" altLang="zh-CN" sz="2400" b="1" i="1" dirty="0" err="1">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R</a:t>
            </a:r>
            <a:r>
              <a:rPr kumimoji="0" lang="en-US" altLang="zh-CN" sz="2400" b="1" i="1" dirty="0">
                <a:latin typeface="Trebuchet MS" panose="020B0603020202020204" pitchFamily="34" charset="0"/>
              </a:rPr>
              <a:t> </a:t>
            </a:r>
            <a:endParaRPr kumimoji="0" lang="en-US" altLang="zh-CN" sz="2400" b="1" dirty="0">
              <a:latin typeface="Trebuchet MS" panose="020B0603020202020204" pitchFamily="34" charset="0"/>
            </a:endParaRPr>
          </a:p>
        </p:txBody>
      </p:sp>
      <p:sp>
        <p:nvSpPr>
          <p:cNvPr id="11" name="Text Box 4">
            <a:extLst>
              <a:ext uri="{FF2B5EF4-FFF2-40B4-BE49-F238E27FC236}">
                <a16:creationId xmlns:a16="http://schemas.microsoft.com/office/drawing/2014/main" id="{FF3EE68C-362C-4324-A70C-A2A465DD868F}"/>
              </a:ext>
            </a:extLst>
          </p:cNvPr>
          <p:cNvSpPr txBox="1">
            <a:spLocks noChangeArrowheads="1"/>
          </p:cNvSpPr>
          <p:nvPr/>
        </p:nvSpPr>
        <p:spPr bwMode="auto">
          <a:xfrm>
            <a:off x="1207093" y="3222126"/>
            <a:ext cx="8101013"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kumimoji="0" lang="en-US" altLang="zh-CN" sz="2400" b="1" dirty="0">
                <a:solidFill>
                  <a:srgbClr val="00B0F0"/>
                </a:solidFill>
                <a:latin typeface="Trebuchet MS" panose="020B0603020202020204" pitchFamily="34" charset="0"/>
              </a:rPr>
              <a:t>      </a:t>
            </a:r>
            <a:r>
              <a:rPr lang="en-US" altLang="zh-CN" sz="2400" b="1" dirty="0">
                <a:latin typeface="Trebuchet MS" panose="020B0603020202020204" pitchFamily="34" charset="0"/>
              </a:rPr>
              <a:t>Example</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 </a:t>
            </a:r>
            <a:endParaRPr kumimoji="0" lang="en-US" altLang="zh-CN" sz="2400" b="1" dirty="0">
              <a:solidFill>
                <a:srgbClr val="800000"/>
              </a:solidFill>
              <a:latin typeface="Trebuchet MS" panose="020B0603020202020204" pitchFamily="34" charset="0"/>
            </a:endParaRPr>
          </a:p>
          <a:p>
            <a:pPr eaLnBrk="1" hangingPunct="1">
              <a:lnSpc>
                <a:spcPct val="130000"/>
              </a:lnSpc>
              <a:spcBef>
                <a:spcPct val="0"/>
              </a:spcBef>
              <a:buFontTx/>
              <a:buNone/>
            </a:pPr>
            <a:r>
              <a:rPr kumimoji="0" lang="en-US" altLang="zh-CN" sz="2400" b="1" dirty="0">
                <a:solidFill>
                  <a:srgbClr val="800000"/>
                </a:solidFill>
                <a:latin typeface="Trebuchet MS" panose="020B0603020202020204" pitchFamily="34" charset="0"/>
              </a:rPr>
              <a:t>     </a:t>
            </a:r>
            <a:r>
              <a:rPr kumimoji="0" lang="en-US" altLang="zh-CN" sz="2400" b="1" i="1" dirty="0">
                <a:latin typeface="Trebuchet MS" panose="020B0603020202020204" pitchFamily="34" charset="0"/>
              </a:rPr>
              <a:t>         R</a:t>
            </a: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c</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d</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}&gt;}, then</a:t>
            </a:r>
            <a:endParaRPr kumimoji="0" lang="zh-CN" altLang="en-US" sz="2400" b="1" dirty="0">
              <a:latin typeface="Trebuchet MS" panose="020B0603020202020204" pitchFamily="34" charset="0"/>
            </a:endParaRP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dom</a:t>
            </a:r>
            <a:r>
              <a:rPr kumimoji="0" lang="en-US" altLang="zh-CN" sz="2400" b="1" i="1" dirty="0" err="1">
                <a:latin typeface="Trebuchet MS" panose="020B0603020202020204" pitchFamily="34" charset="0"/>
              </a:rPr>
              <a:t>R</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R</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fld</a:t>
            </a:r>
            <a:r>
              <a:rPr kumimoji="0" lang="en-US" altLang="zh-CN" sz="2400" b="1" i="1" dirty="0" err="1">
                <a:latin typeface="Trebuchet MS" panose="020B0603020202020204" pitchFamily="34" charset="0"/>
              </a:rPr>
              <a:t>R</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 </a:t>
            </a:r>
          </a:p>
        </p:txBody>
      </p:sp>
      <p:sp>
        <p:nvSpPr>
          <p:cNvPr id="12" name="Text Box 5">
            <a:extLst>
              <a:ext uri="{FF2B5EF4-FFF2-40B4-BE49-F238E27FC236}">
                <a16:creationId xmlns:a16="http://schemas.microsoft.com/office/drawing/2014/main" id="{9877791F-644E-4DD4-811E-B74F6DF09156}"/>
              </a:ext>
            </a:extLst>
          </p:cNvPr>
          <p:cNvSpPr txBox="1">
            <a:spLocks noChangeArrowheads="1"/>
          </p:cNvSpPr>
          <p:nvPr/>
        </p:nvSpPr>
        <p:spPr bwMode="auto">
          <a:xfrm>
            <a:off x="2883894" y="5075056"/>
            <a:ext cx="52562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a:t>
            </a:r>
            <a:r>
              <a:rPr kumimoji="0" lang="en-US" altLang="zh-CN" sz="2400" dirty="0">
                <a:latin typeface="Trebuchet MS" panose="020B0603020202020204" pitchFamily="34" charset="0"/>
              </a:rPr>
              <a:t> </a:t>
            </a:r>
            <a:endParaRPr kumimoji="0" lang="zh-CN" altLang="en-US" sz="2400" dirty="0">
              <a:solidFill>
                <a:schemeClr val="accent2"/>
              </a:solidFill>
              <a:latin typeface="Trebuchet MS" panose="020B0603020202020204" pitchFamily="34" charset="0"/>
            </a:endParaRPr>
          </a:p>
        </p:txBody>
      </p:sp>
      <p:sp>
        <p:nvSpPr>
          <p:cNvPr id="15" name="Text Box 6">
            <a:extLst>
              <a:ext uri="{FF2B5EF4-FFF2-40B4-BE49-F238E27FC236}">
                <a16:creationId xmlns:a16="http://schemas.microsoft.com/office/drawing/2014/main" id="{44B869B4-516C-40C9-A7CB-3D442390ABED}"/>
              </a:ext>
            </a:extLst>
          </p:cNvPr>
          <p:cNvSpPr txBox="1">
            <a:spLocks noChangeArrowheads="1"/>
          </p:cNvSpPr>
          <p:nvPr/>
        </p:nvSpPr>
        <p:spPr bwMode="auto">
          <a:xfrm>
            <a:off x="2883894" y="4172177"/>
            <a:ext cx="2316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a</a:t>
            </a: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c</a:t>
            </a: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a</a:t>
            </a: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d </a:t>
            </a:r>
            <a:r>
              <a:rPr kumimoji="0" lang="en-US" altLang="zh-CN" sz="2400" b="1" dirty="0">
                <a:latin typeface="Trebuchet MS" panose="020B0603020202020204" pitchFamily="34" charset="0"/>
                <a:ea typeface="华文行楷" panose="02010800040101010101" pitchFamily="2" charset="-122"/>
              </a:rPr>
              <a:t>} </a:t>
            </a:r>
            <a:endParaRPr kumimoji="0" lang="zh-CN" altLang="en-US" sz="2400" dirty="0">
              <a:solidFill>
                <a:schemeClr val="accent2"/>
              </a:solidFill>
              <a:latin typeface="Trebuchet MS" panose="020B0603020202020204" pitchFamily="34" charset="0"/>
              <a:ea typeface="华文行楷" panose="02010800040101010101" pitchFamily="2" charset="-122"/>
            </a:endParaRPr>
          </a:p>
        </p:txBody>
      </p:sp>
      <p:sp>
        <p:nvSpPr>
          <p:cNvPr id="16" name="Text Box 7">
            <a:extLst>
              <a:ext uri="{FF2B5EF4-FFF2-40B4-BE49-F238E27FC236}">
                <a16:creationId xmlns:a16="http://schemas.microsoft.com/office/drawing/2014/main" id="{529033A3-0D2A-4C64-85A7-4E1081AF69DD}"/>
              </a:ext>
            </a:extLst>
          </p:cNvPr>
          <p:cNvSpPr txBox="1">
            <a:spLocks noChangeArrowheads="1"/>
          </p:cNvSpPr>
          <p:nvPr/>
        </p:nvSpPr>
        <p:spPr bwMode="auto">
          <a:xfrm>
            <a:off x="2883894" y="4603977"/>
            <a:ext cx="1944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ea typeface="华文行楷" panose="02010800040101010101" pitchFamily="2" charset="-122"/>
              </a:rPr>
              <a:t>b</a:t>
            </a: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d</a:t>
            </a:r>
            <a:r>
              <a:rPr kumimoji="0" lang="en-US" altLang="zh-CN" sz="2400" b="1" dirty="0">
                <a:latin typeface="Trebuchet MS" panose="020B0603020202020204" pitchFamily="34" charset="0"/>
                <a:ea typeface="华文行楷" panose="02010800040101010101" pitchFamily="2" charset="-122"/>
              </a:rPr>
              <a:t>, {</a:t>
            </a:r>
            <a:r>
              <a:rPr kumimoji="0" lang="en-US" altLang="zh-CN" sz="2400" b="1" i="1" dirty="0">
                <a:latin typeface="Trebuchet MS" panose="020B0603020202020204" pitchFamily="34" charset="0"/>
                <a:ea typeface="华文行楷" panose="02010800040101010101" pitchFamily="2" charset="-122"/>
              </a:rPr>
              <a:t>d</a:t>
            </a:r>
            <a:r>
              <a:rPr kumimoji="0" lang="en-US" altLang="zh-CN" sz="2400" b="1" dirty="0">
                <a:latin typeface="Trebuchet MS" panose="020B0603020202020204" pitchFamily="34" charset="0"/>
                <a:ea typeface="华文行楷" panose="02010800040101010101" pitchFamily="2" charset="-122"/>
              </a:rPr>
              <a:t>}}</a:t>
            </a:r>
            <a:endParaRPr kumimoji="0" lang="zh-CN" altLang="en-US" sz="1800" dirty="0">
              <a:solidFill>
                <a:schemeClr val="accent2"/>
              </a:solidFill>
              <a:latin typeface="Trebuchet MS" panose="020B0603020202020204" pitchFamily="34" charset="0"/>
              <a:ea typeface="华文行楷" panose="02010800040101010101" pitchFamily="2" charset="-122"/>
            </a:endParaRPr>
          </a:p>
        </p:txBody>
      </p:sp>
      <p:pic>
        <p:nvPicPr>
          <p:cNvPr id="17" name="图片 16">
            <a:extLst>
              <a:ext uri="{FF2B5EF4-FFF2-40B4-BE49-F238E27FC236}">
                <a16:creationId xmlns:a16="http://schemas.microsoft.com/office/drawing/2014/main" id="{43785BF1-8E03-44EA-888E-885B149A6F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1813" y="3347461"/>
            <a:ext cx="576355" cy="257697"/>
          </a:xfrm>
          <a:prstGeom prst="rect">
            <a:avLst/>
          </a:prstGeom>
        </p:spPr>
      </p:pic>
      <p:pic>
        <p:nvPicPr>
          <p:cNvPr id="19" name="图片 18" descr="微信图片_20220318113523">
            <a:extLst>
              <a:ext uri="{FF2B5EF4-FFF2-40B4-BE49-F238E27FC236}">
                <a16:creationId xmlns:a16="http://schemas.microsoft.com/office/drawing/2014/main" id="{064DB08F-C019-49FC-9698-56930A8673E4}"/>
              </a:ext>
            </a:extLst>
          </p:cNvPr>
          <p:cNvPicPr>
            <a:picLocks noChangeAspect="1"/>
          </p:cNvPicPr>
          <p:nvPr/>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3838267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1000"/>
                                        <p:tgtEl>
                                          <p:spTgt spid="11">
                                            <p:txEl>
                                              <p:pRg st="1" end="1"/>
                                            </p:txEl>
                                          </p:spTgt>
                                        </p:tgtEl>
                                      </p:cBhvr>
                                    </p:animEffect>
                                    <p:anim calcmode="lin" valueType="num">
                                      <p:cBhvr>
                                        <p:cTn id="13"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1000"/>
                                        <p:tgtEl>
                                          <p:spTgt spid="11">
                                            <p:txEl>
                                              <p:pRg st="2" end="2"/>
                                            </p:txEl>
                                          </p:spTgt>
                                        </p:tgtEl>
                                      </p:cBhvr>
                                    </p:animEffect>
                                    <p:anim calcmode="lin" valueType="num">
                                      <p:cBhvr>
                                        <p:cTn id="2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fade">
                                      <p:cBhvr>
                                        <p:cTn id="27" dur="1000"/>
                                        <p:tgtEl>
                                          <p:spTgt spid="11">
                                            <p:txEl>
                                              <p:pRg st="3" end="3"/>
                                            </p:txEl>
                                          </p:spTgt>
                                        </p:tgtEl>
                                      </p:cBhvr>
                                    </p:animEffect>
                                    <p:anim calcmode="lin" valueType="num">
                                      <p:cBhvr>
                                        <p:cTn id="2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Effect transition="in" filter="fade">
                                      <p:cBhvr>
                                        <p:cTn id="32" dur="1000"/>
                                        <p:tgtEl>
                                          <p:spTgt spid="11">
                                            <p:txEl>
                                              <p:pRg st="4" end="4"/>
                                            </p:txEl>
                                          </p:spTgt>
                                        </p:tgtEl>
                                      </p:cBhvr>
                                    </p:animEffect>
                                    <p:anim calcmode="lin" valueType="num">
                                      <p:cBhvr>
                                        <p:cTn id="33"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1+#ppt_w/2"/>
                                          </p:val>
                                        </p:tav>
                                        <p:tav tm="100000">
                                          <p:val>
                                            <p:strVal val="#ppt_x"/>
                                          </p:val>
                                        </p:tav>
                                      </p:tavLst>
                                    </p:anim>
                                    <p:anim calcmode="lin" valueType="num">
                                      <p:cBhvr additive="base">
                                        <p:cTn id="5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4.2.1 Basic Operations of Relations</a:t>
            </a:r>
            <a:endParaRPr lang="en-US" altLang="zh-CN" sz="18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dirty="0"/>
              <a:t> </a:t>
            </a:r>
            <a:r>
              <a:rPr lang="en-US" altLang="zh-CN" sz="2400" dirty="0">
                <a:latin typeface="Trebuchet MS" panose="020B0603020202020204" pitchFamily="34" charset="0"/>
              </a:rPr>
              <a:t>Inverse and Composition of Relations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52263"/>
            <a:ext cx="862284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sz="2800" b="1" dirty="0"/>
          </a:p>
        </p:txBody>
      </p:sp>
      <p:sp>
        <p:nvSpPr>
          <p:cNvPr id="15" name="Text Box 3">
            <a:extLst>
              <a:ext uri="{FF2B5EF4-FFF2-40B4-BE49-F238E27FC236}">
                <a16:creationId xmlns:a16="http://schemas.microsoft.com/office/drawing/2014/main" id="{A904818D-1A2B-43D2-B308-888C8F029077}"/>
              </a:ext>
            </a:extLst>
          </p:cNvPr>
          <p:cNvSpPr txBox="1">
            <a:spLocks noChangeArrowheads="1"/>
          </p:cNvSpPr>
          <p:nvPr/>
        </p:nvSpPr>
        <p:spPr bwMode="auto">
          <a:xfrm>
            <a:off x="1082222" y="938213"/>
            <a:ext cx="7920038" cy="196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3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4.11:</a:t>
            </a:r>
            <a:r>
              <a:rPr lang="en-US" sz="2400" dirty="0">
                <a:latin typeface="Trebuchet MS" panose="020B0603020202020204" pitchFamily="34" charset="0"/>
              </a:rPr>
              <a:t> The </a:t>
            </a:r>
            <a:r>
              <a:rPr lang="en-US" sz="2400" b="1" i="1" dirty="0">
                <a:latin typeface="Trebuchet MS" panose="020B0603020202020204" pitchFamily="34" charset="0"/>
              </a:rPr>
              <a:t>inverse</a:t>
            </a:r>
            <a:r>
              <a:rPr lang="en-US" sz="2400" dirty="0">
                <a:latin typeface="Trebuchet MS" panose="020B0603020202020204" pitchFamily="34" charset="0"/>
              </a:rPr>
              <a:t> of </a:t>
            </a:r>
            <a:r>
              <a:rPr lang="en-US" sz="2400" b="1" dirty="0">
                <a:latin typeface="Trebuchet MS" panose="020B0603020202020204" pitchFamily="34" charset="0"/>
              </a:rPr>
              <a:t>R</a:t>
            </a:r>
          </a:p>
          <a:p>
            <a:pPr eaLnBrk="1" hangingPunct="1">
              <a:lnSpc>
                <a:spcPct val="130000"/>
              </a:lnSpc>
              <a:spcBef>
                <a:spcPct val="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 {&lt;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 |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p>
          <a:p>
            <a:pPr marL="342900" indent="-342900">
              <a:lnSpc>
                <a:spcPct val="13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4.12: </a:t>
            </a:r>
            <a:r>
              <a:rPr lang="en-US" sz="2400" b="1" i="1" dirty="0">
                <a:latin typeface="Trebuchet MS" panose="020B0603020202020204" pitchFamily="34" charset="0"/>
              </a:rPr>
              <a:t>Composition</a:t>
            </a:r>
            <a:r>
              <a:rPr lang="en-US" sz="2400" b="1" dirty="0">
                <a:latin typeface="Trebuchet MS" panose="020B0603020202020204" pitchFamily="34" charset="0"/>
              </a:rPr>
              <a:t> of </a:t>
            </a:r>
            <a:r>
              <a:rPr lang="en-US" sz="2400" b="1" i="1" dirty="0">
                <a:latin typeface="Trebuchet MS" panose="020B0603020202020204" pitchFamily="34" charset="0"/>
              </a:rPr>
              <a:t>R</a:t>
            </a:r>
            <a:r>
              <a:rPr lang="en-US" sz="2400" b="1" dirty="0">
                <a:latin typeface="Trebuchet MS" panose="020B0603020202020204" pitchFamily="34" charset="0"/>
              </a:rPr>
              <a:t> and </a:t>
            </a:r>
            <a:r>
              <a:rPr lang="en-US" sz="2400" b="1" i="1" dirty="0">
                <a:latin typeface="Trebuchet MS" panose="020B0603020202020204" pitchFamily="34" charset="0"/>
              </a:rPr>
              <a:t>S</a:t>
            </a:r>
          </a:p>
          <a:p>
            <a:pPr eaLnBrk="1" hangingPunct="1">
              <a:lnSpc>
                <a:spcPct val="130000"/>
              </a:lnSpc>
              <a:spcBef>
                <a:spcPct val="0"/>
              </a:spcBef>
              <a:buFontTx/>
              <a:buNone/>
            </a:pPr>
            <a:r>
              <a:rPr kumimoji="0" lang="en-US" altLang="zh-CN" sz="2400" b="1" dirty="0">
                <a:solidFill>
                  <a:srgbClr val="FF0000"/>
                </a:solidFill>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cs typeface="Lucida Sans Unicode" panose="020B0602030504020204" pitchFamily="34" charset="0"/>
              </a:rPr>
              <a: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z</a:t>
            </a:r>
            <a:r>
              <a:rPr kumimoji="0" lang="en-US" altLang="zh-CN" sz="2400" b="1" dirty="0">
                <a:latin typeface="Trebuchet MS" panose="020B0603020202020204" pitchFamily="34" charset="0"/>
              </a:rPr>
              <a:t>&gt; |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 </a:t>
            </a:r>
          </a:p>
        </p:txBody>
      </p:sp>
      <p:sp>
        <p:nvSpPr>
          <p:cNvPr id="16" name="Text Box 4">
            <a:extLst>
              <a:ext uri="{FF2B5EF4-FFF2-40B4-BE49-F238E27FC236}">
                <a16:creationId xmlns:a16="http://schemas.microsoft.com/office/drawing/2014/main" id="{B868AE34-114A-4773-9BC4-11382C1EA371}"/>
              </a:ext>
            </a:extLst>
          </p:cNvPr>
          <p:cNvSpPr txBox="1">
            <a:spLocks noChangeArrowheads="1"/>
          </p:cNvSpPr>
          <p:nvPr/>
        </p:nvSpPr>
        <p:spPr bwMode="auto">
          <a:xfrm>
            <a:off x="1164546" y="3155044"/>
            <a:ext cx="7705725"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kumimoji="0" lang="en-US" altLang="zh-CN" sz="2400" b="1" dirty="0">
                <a:solidFill>
                  <a:srgbClr val="800000"/>
                </a:solidFill>
                <a:latin typeface="Trebuchet MS" panose="020B0603020202020204" pitchFamily="34" charset="0"/>
              </a:rPr>
              <a:t>      </a:t>
            </a: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={&lt;1,2&gt;, &lt;2,3&gt;, &lt;1,4&gt;, &lt;2,2&gt;}</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={&lt;1,1&gt;, &lt;1,3&gt;, &lt;2,3&gt;, &lt;3,2&gt;, &lt;3,3&gt;} </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rPr>
              <a:t>= </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S </a:t>
            </a:r>
            <a:r>
              <a:rPr kumimoji="0" lang="en-US" altLang="zh-CN" sz="2400" b="1" dirty="0">
                <a:latin typeface="Trebuchet MS" panose="020B0603020202020204" pitchFamily="34" charset="0"/>
              </a:rPr>
              <a:t>= </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endParaRPr kumimoji="0" lang="zh-CN" altLang="en-US" sz="2400" b="1" dirty="0">
              <a:latin typeface="Trebuchet MS" panose="020B0603020202020204" pitchFamily="34" charset="0"/>
            </a:endParaRPr>
          </a:p>
        </p:txBody>
      </p:sp>
      <p:sp>
        <p:nvSpPr>
          <p:cNvPr id="17" name="Rectangle 5">
            <a:extLst>
              <a:ext uri="{FF2B5EF4-FFF2-40B4-BE49-F238E27FC236}">
                <a16:creationId xmlns:a16="http://schemas.microsoft.com/office/drawing/2014/main" id="{8718C2CE-41D0-4637-A421-B47ABAD7D693}"/>
              </a:ext>
            </a:extLst>
          </p:cNvPr>
          <p:cNvSpPr>
            <a:spLocks noChangeArrowheads="1"/>
          </p:cNvSpPr>
          <p:nvPr/>
        </p:nvSpPr>
        <p:spPr bwMode="auto">
          <a:xfrm>
            <a:off x="2750080" y="4641916"/>
            <a:ext cx="5545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b="1" dirty="0">
                <a:latin typeface="Trebuchet MS" panose="020B0603020202020204" pitchFamily="34" charset="0"/>
                <a:ea typeface="华文行楷" panose="02010800040101010101" pitchFamily="2" charset="-122"/>
              </a:rPr>
              <a:t>{&lt;1,3&gt;, &lt;2,2&gt;, &lt;2,3&gt; }</a:t>
            </a:r>
            <a:r>
              <a:rPr kumimoji="0" lang="en-US" altLang="zh-CN" sz="2400" dirty="0">
                <a:latin typeface="Trebuchet MS" panose="020B0603020202020204" pitchFamily="34" charset="0"/>
                <a:ea typeface="华文行楷" panose="02010800040101010101" pitchFamily="2" charset="-122"/>
              </a:rPr>
              <a:t> </a:t>
            </a:r>
          </a:p>
        </p:txBody>
      </p:sp>
      <p:sp>
        <p:nvSpPr>
          <p:cNvPr id="19" name="Rectangle 6">
            <a:extLst>
              <a:ext uri="{FF2B5EF4-FFF2-40B4-BE49-F238E27FC236}">
                <a16:creationId xmlns:a16="http://schemas.microsoft.com/office/drawing/2014/main" id="{5B5B0253-2A88-4D3A-9A9E-7C93726828F7}"/>
              </a:ext>
            </a:extLst>
          </p:cNvPr>
          <p:cNvSpPr>
            <a:spLocks noChangeArrowheads="1"/>
          </p:cNvSpPr>
          <p:nvPr/>
        </p:nvSpPr>
        <p:spPr bwMode="auto">
          <a:xfrm>
            <a:off x="2750080" y="4159138"/>
            <a:ext cx="461115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b="1" dirty="0">
                <a:latin typeface="Trebuchet MS" panose="020B0603020202020204" pitchFamily="34" charset="0"/>
                <a:ea typeface="华文行楷" panose="02010800040101010101" pitchFamily="2" charset="-122"/>
              </a:rPr>
              <a:t>{&lt;2,1&gt;, &lt;3,2&gt;, &lt;4,1&gt;,&lt;2,2&gt;}</a:t>
            </a:r>
          </a:p>
        </p:txBody>
      </p:sp>
      <p:sp>
        <p:nvSpPr>
          <p:cNvPr id="21" name="Rectangle 7">
            <a:extLst>
              <a:ext uri="{FF2B5EF4-FFF2-40B4-BE49-F238E27FC236}">
                <a16:creationId xmlns:a16="http://schemas.microsoft.com/office/drawing/2014/main" id="{09D3894D-6D0A-4E7D-AF54-4E294A4F1CD0}"/>
              </a:ext>
            </a:extLst>
          </p:cNvPr>
          <p:cNvSpPr>
            <a:spLocks noChangeArrowheads="1"/>
          </p:cNvSpPr>
          <p:nvPr/>
        </p:nvSpPr>
        <p:spPr bwMode="auto">
          <a:xfrm>
            <a:off x="2750080" y="5060281"/>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b="1" dirty="0">
                <a:latin typeface="Trebuchet MS" panose="020B0603020202020204" pitchFamily="34" charset="0"/>
                <a:ea typeface="华文行楷" panose="02010800040101010101" pitchFamily="2" charset="-122"/>
              </a:rPr>
              <a:t>{&lt;1,2&gt;, &lt;1,4&gt;, &lt;3,2&gt;, &lt;3,3&gt;}</a:t>
            </a:r>
            <a:endParaRPr kumimoji="0" lang="zh-CN" altLang="en-US" sz="2400" b="1" dirty="0">
              <a:latin typeface="Trebuchet MS" panose="020B0603020202020204" pitchFamily="34" charset="0"/>
              <a:ea typeface="华文行楷" panose="02010800040101010101" pitchFamily="2" charset="-122"/>
            </a:endParaRPr>
          </a:p>
        </p:txBody>
      </p:sp>
      <p:pic>
        <p:nvPicPr>
          <p:cNvPr id="12" name="图片 11">
            <a:extLst>
              <a:ext uri="{FF2B5EF4-FFF2-40B4-BE49-F238E27FC236}">
                <a16:creationId xmlns:a16="http://schemas.microsoft.com/office/drawing/2014/main" id="{DF132F03-55C6-43A6-A0E3-2670226FB5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1813" y="3347461"/>
            <a:ext cx="576355" cy="257697"/>
          </a:xfrm>
          <a:prstGeom prst="rect">
            <a:avLst/>
          </a:prstGeom>
        </p:spPr>
      </p:pic>
    </p:spTree>
    <p:extLst>
      <p:ext uri="{BB962C8B-B14F-4D97-AF65-F5344CB8AC3E}">
        <p14:creationId xmlns:p14="http://schemas.microsoft.com/office/powerpoint/2010/main" val="13644989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animEffect transition="in" filter="fade">
                                      <p:cBhvr>
                                        <p:cTn id="12" dur="1000"/>
                                        <p:tgtEl>
                                          <p:spTgt spid="15">
                                            <p:txEl>
                                              <p:pRg st="3" end="3"/>
                                            </p:txEl>
                                          </p:spTgt>
                                        </p:tgtEl>
                                      </p:cBhvr>
                                    </p:animEffect>
                                    <p:anim calcmode="lin" valueType="num">
                                      <p:cBhvr>
                                        <p:cTn id="13"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1+#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1+#ppt_w/2"/>
                                          </p:val>
                                        </p:tav>
                                        <p:tav tm="100000">
                                          <p:val>
                                            <p:strVal val="#ppt_x"/>
                                          </p:val>
                                        </p:tav>
                                      </p:tavLst>
                                    </p:anim>
                                    <p:anim calcmode="lin" valueType="num">
                                      <p:cBhvr additive="base">
                                        <p:cTn id="3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1+#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4.2.1 Basic Operations of Relations</a:t>
            </a:r>
            <a:endParaRPr lang="en-US" altLang="zh-CN" sz="2000" dirty="0">
              <a:latin typeface="Trebuchet MS" panose="020B0603020202020204" pitchFamily="34"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dirty="0"/>
              <a:t> </a:t>
            </a:r>
            <a:r>
              <a:rPr lang="en-US" altLang="zh-CN" sz="2800" dirty="0"/>
              <a:t>Find the composition using a diagram</a:t>
            </a:r>
            <a:endParaRPr lang="en-US" altLang="zh-CN"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0" fontAlgn="base" latinLnBrk="0" hangingPunct="0">
              <a:lnSpc>
                <a:spcPct val="120000"/>
              </a:lnSpc>
              <a:spcBef>
                <a:spcPts val="3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rebuchet MS" panose="020B0603020202020204" pitchFamily="34" charset="0"/>
              </a:rPr>
              <a:t>Use the diagrammatic (not relational diagram) method to find the composition.</a:t>
            </a:r>
          </a:p>
          <a:p>
            <a:pPr eaLnBrk="1" hangingPunct="1">
              <a:lnSpc>
                <a:spcPct val="130000"/>
              </a:lnSpc>
              <a:spcBef>
                <a:spcPct val="0"/>
              </a:spcBef>
              <a:buFontTx/>
              <a:buNone/>
            </a:pP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={&lt;1,2&gt;, &lt;2,3&gt;, &lt;1,4&gt;, &lt;2,2&gt;}</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={&lt;1,1&gt;, &lt;1,3&gt;, &lt;2,3&gt;, &lt;3,2&gt;, &lt;3,3&gt;} </a:t>
            </a:r>
          </a:p>
          <a:p>
            <a:pPr eaLnBrk="1" hangingPunct="1">
              <a:lnSpc>
                <a:spcPct val="120000"/>
              </a:lnSpc>
              <a:spcBef>
                <a:spcPct val="0"/>
              </a:spcBef>
              <a:buFontTx/>
              <a:buNone/>
            </a:pPr>
            <a:endParaRPr kumimoji="0" lang="en-US" altLang="zh-CN" sz="2800" b="1" dirty="0"/>
          </a:p>
        </p:txBody>
      </p:sp>
      <p:pic>
        <p:nvPicPr>
          <p:cNvPr id="9" name="Picture 6" descr="4-2">
            <a:extLst>
              <a:ext uri="{FF2B5EF4-FFF2-40B4-BE49-F238E27FC236}">
                <a16:creationId xmlns:a16="http://schemas.microsoft.com/office/drawing/2014/main" id="{5ECF27B7-69A3-4A3B-85BA-616ACDC69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521" t="-6186" r="-3120" b="-9720"/>
          <a:stretch>
            <a:fillRect/>
          </a:stretch>
        </p:blipFill>
        <p:spPr bwMode="auto">
          <a:xfrm>
            <a:off x="1442584" y="2537957"/>
            <a:ext cx="6551612"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1F89FA11-5A26-4F2B-9AA1-E9E0BD71473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66757" y="1834344"/>
            <a:ext cx="576355" cy="257697"/>
          </a:xfrm>
          <a:prstGeom prst="rect">
            <a:avLst/>
          </a:prstGeom>
        </p:spPr>
      </p:pic>
      <p:sp>
        <p:nvSpPr>
          <p:cNvPr id="11" name="文本框 10">
            <a:extLst>
              <a:ext uri="{FF2B5EF4-FFF2-40B4-BE49-F238E27FC236}">
                <a16:creationId xmlns:a16="http://schemas.microsoft.com/office/drawing/2014/main" id="{26CD3CBC-D07D-4FB1-83B9-086EB3EEC3B9}"/>
              </a:ext>
            </a:extLst>
          </p:cNvPr>
          <p:cNvSpPr txBox="1"/>
          <p:nvPr/>
        </p:nvSpPr>
        <p:spPr>
          <a:xfrm>
            <a:off x="2095280" y="5310501"/>
            <a:ext cx="6101442" cy="985206"/>
          </a:xfrm>
          <a:prstGeom prst="rect">
            <a:avLst/>
          </a:prstGeom>
          <a:noFill/>
        </p:spPr>
        <p:txBody>
          <a:bodyPr wrap="square">
            <a:spAutoFit/>
          </a:bodyPr>
          <a:lstStyle/>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={&lt;1,3&gt;, &lt;2,2&gt;, &lt;2,3&gt;}</a:t>
            </a:r>
          </a:p>
          <a:p>
            <a:pPr eaLnBrk="1" hangingPunct="1">
              <a:lnSpc>
                <a:spcPct val="120000"/>
              </a:lnSpc>
              <a:spcBef>
                <a:spcPts val="300"/>
              </a:spcBef>
              <a:buFontTx/>
              <a:buNone/>
            </a:pPr>
            <a:r>
              <a:rPr kumimoji="0" lang="en-US" altLang="zh-CN" sz="2400" b="1" i="1" dirty="0">
                <a:latin typeface="Trebuchet MS" panose="020B0603020202020204" pitchFamily="34" charset="0"/>
              </a:rPr>
              <a:t> S</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={&lt;1,2&gt;, &lt;1,4&gt;, &lt;3,2&gt;, &lt;3,3&gt;}</a:t>
            </a:r>
            <a:endParaRPr lang="zh-CN" altLang="en-US" sz="2400" dirty="0">
              <a:latin typeface="Trebuchet MS" panose="020B0603020202020204" pitchFamily="34" charset="0"/>
            </a:endParaRPr>
          </a:p>
        </p:txBody>
      </p:sp>
    </p:spTree>
    <p:extLst>
      <p:ext uri="{BB962C8B-B14F-4D97-AF65-F5344CB8AC3E}">
        <p14:creationId xmlns:p14="http://schemas.microsoft.com/office/powerpoint/2010/main" val="338641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Effect transition="in" filter="fade">
                                      <p:cBhvr>
                                        <p:cTn id="14" dur="1000"/>
                                        <p:tgtEl>
                                          <p:spTgt spid="11">
                                            <p:txEl>
                                              <p:pRg st="0" end="0"/>
                                            </p:txEl>
                                          </p:spTgt>
                                        </p:tgtEl>
                                      </p:cBhvr>
                                    </p:animEffect>
                                    <p:anim calcmode="lin" valueType="num">
                                      <p:cBhvr>
                                        <p:cTn id="15"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Effect transition="in" filter="fade">
                                      <p:cBhvr>
                                        <p:cTn id="19" dur="1000"/>
                                        <p:tgtEl>
                                          <p:spTgt spid="11">
                                            <p:txEl>
                                              <p:pRg st="1" end="1"/>
                                            </p:txEl>
                                          </p:spTgt>
                                        </p:tgtEl>
                                      </p:cBhvr>
                                    </p:animEffect>
                                    <p:anim calcmode="lin" valueType="num">
                                      <p:cBhvr>
                                        <p:cTn id="20"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en-US" altLang="zh-CN" sz="1800" b="1" dirty="0">
                <a:latin typeface="Trebuchet MS" panose="020B0603020202020204" pitchFamily="34" charset="0"/>
              </a:rPr>
              <a:t>              4.2.1 Basic Operations of Relations</a:t>
            </a:r>
            <a:endParaRPr lang="en-US" altLang="zh-CN" sz="18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dirty="0"/>
              <a:t> </a:t>
            </a:r>
            <a:r>
              <a:rPr lang="en-US" altLang="zh-CN" sz="2400" dirty="0">
                <a:latin typeface="Trebuchet MS" panose="020B0603020202020204" pitchFamily="34" charset="0"/>
              </a:rPr>
              <a:t>Properties of Inverse Operations</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5370573"/>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4.1</a:t>
            </a:r>
            <a:r>
              <a:rPr lang="zh-CN" altLang="en-US" sz="2400" b="1" dirty="0">
                <a:latin typeface="Trebuchet MS" panose="020B0603020202020204" pitchFamily="34" charset="0"/>
              </a:rPr>
              <a:t>：</a:t>
            </a:r>
            <a:r>
              <a:rPr lang="en-US" sz="2400" dirty="0">
                <a:latin typeface="Trebuchet MS" panose="020B0603020202020204" pitchFamily="34" charset="0"/>
              </a:rPr>
              <a:t>Let </a:t>
            </a:r>
            <a:r>
              <a:rPr kumimoji="0" lang="en-US" altLang="zh-CN" sz="2400" b="1" i="1" dirty="0">
                <a:latin typeface="Trebuchet MS" panose="020B0603020202020204" pitchFamily="34" charset="0"/>
              </a:rPr>
              <a:t>F</a:t>
            </a:r>
            <a:r>
              <a:rPr lang="en-US" sz="2400" dirty="0">
                <a:latin typeface="Trebuchet MS" panose="020B0603020202020204" pitchFamily="34" charset="0"/>
              </a:rPr>
              <a:t> be an arbitrary relation, then:</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i="1" dirty="0">
                <a:latin typeface="Trebuchet MS" panose="020B0603020202020204" pitchFamily="34" charset="0"/>
              </a:rPr>
              <a:t>)</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i="1" dirty="0">
                <a:latin typeface="Trebuchet MS" panose="020B0603020202020204" pitchFamily="34" charset="0"/>
              </a:rPr>
              <a:t>=F</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kumimoji="0"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F</a:t>
            </a:r>
            <a:r>
              <a:rPr kumimoji="0" lang="en-US" altLang="zh-CN" sz="2400" b="1" dirty="0">
                <a:latin typeface="Trebuchet MS" panose="020B0603020202020204" pitchFamily="34" charset="0"/>
              </a:rPr>
              <a:t>, ran</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dirty="0" err="1">
                <a:latin typeface="Trebuchet MS" panose="020B0603020202020204" pitchFamily="34" charset="0"/>
              </a:rPr>
              <a:t>dom</a:t>
            </a:r>
            <a:r>
              <a:rPr kumimoji="0" lang="en-US" altLang="zh-CN" sz="2400" b="1" i="1" dirty="0" err="1">
                <a:latin typeface="Trebuchet MS" panose="020B0603020202020204" pitchFamily="34" charset="0"/>
              </a:rPr>
              <a:t>F</a:t>
            </a:r>
            <a:endParaRPr kumimoji="0" lang="en-US" altLang="zh-CN" sz="2400" b="1" dirty="0">
              <a:latin typeface="Trebuchet MS" panose="020B0603020202020204" pitchFamily="34" charset="0"/>
            </a:endParaRPr>
          </a:p>
          <a:p>
            <a:pPr eaLnBrk="1" hangingPunct="1">
              <a:lnSpc>
                <a:spcPct val="120000"/>
              </a:lnSpc>
              <a:spcBef>
                <a:spcPct val="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r>
              <a:rPr lang="zh-CN" altLang="en-US" sz="2400" b="1" dirty="0">
                <a:latin typeface="Trebuchet MS" panose="020B0603020202020204" pitchFamily="34" charset="0"/>
              </a:rPr>
              <a:t>：</a:t>
            </a:r>
            <a:endParaRPr kumimoji="0" lang="en-US" altLang="zh-CN" sz="2400" b="1" dirty="0">
              <a:latin typeface="Trebuchet MS" panose="020B0603020202020204" pitchFamily="34" charset="0"/>
            </a:endParaRPr>
          </a:p>
          <a:p>
            <a:pPr marL="457200" indent="-457200" eaLnBrk="1" hangingPunct="1">
              <a:lnSpc>
                <a:spcPct val="120000"/>
              </a:lnSpc>
              <a:spcBef>
                <a:spcPct val="0"/>
              </a:spcBef>
              <a:buFontTx/>
              <a:buAutoNum type="arabicParenBoth"/>
            </a:pPr>
            <a:r>
              <a:rPr lang="en-US" altLang="zh-CN" sz="2400" b="1" dirty="0">
                <a:latin typeface="Trebuchet MS" panose="020B0603020202020204" pitchFamily="34" charset="0"/>
              </a:rPr>
              <a:t>For any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 </a:t>
            </a:r>
            <a:r>
              <a:rPr lang="en-US" sz="2400" dirty="0">
                <a:latin typeface="Trebuchet MS" panose="020B0603020202020204" pitchFamily="34" charset="0"/>
              </a:rPr>
              <a:t>by the definition of inverse, we have</a:t>
            </a:r>
          </a:p>
          <a:p>
            <a:pPr marL="0" indent="0" eaLnBrk="1" hangingPunct="1">
              <a:lnSpc>
                <a:spcPct val="120000"/>
              </a:lnSpc>
              <a:spcBef>
                <a:spcPct val="0"/>
              </a:spcBef>
              <a:buNone/>
            </a:pPr>
            <a:r>
              <a:rPr lang="en-US" altLang="zh-CN" sz="2400" b="1" dirty="0">
                <a:latin typeface="Trebuchet MS" panose="020B0603020202020204" pitchFamily="34" charset="0"/>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 </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Thus,</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lang="en-US" altLang="zh-CN" sz="2400" b="1" dirty="0">
                <a:solidFill>
                  <a:srgbClr val="0B5BFF"/>
                </a:solidFill>
                <a:latin typeface="Trebuchet MS" panose="020B0603020202020204" pitchFamily="34" charset="0"/>
              </a:rPr>
              <a:t>(2) </a:t>
            </a: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endParaRPr kumimoji="0" lang="en-US" altLang="zh-CN" sz="2400" b="1" i="1" dirty="0">
              <a:latin typeface="Trebuchet MS" panose="020B0603020202020204" pitchFamily="34" charset="0"/>
            </a:endParaRPr>
          </a:p>
          <a:p>
            <a:pPr eaLnBrk="1" hangingPunct="1">
              <a:lnSpc>
                <a:spcPct val="120000"/>
              </a:lnSpc>
              <a:spcBef>
                <a:spcPct val="0"/>
              </a:spcBef>
              <a:buFontTx/>
              <a:buNone/>
            </a:pPr>
            <a:r>
              <a:rPr kumimoji="0" lang="en-US" altLang="zh-CN" sz="2400" b="1" i="1" dirty="0">
                <a:latin typeface="Trebuchet MS" panose="020B0603020202020204" pitchFamily="34" charset="0"/>
              </a:rPr>
              <a:t>          x</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endParaRPr kumimoji="0" lang="en-US" altLang="zh-CN" sz="2400" b="1" dirty="0">
              <a:latin typeface="Trebuchet MS" panose="020B0603020202020204" pitchFamily="34" charset="0"/>
              <a:sym typeface="Symbol" panose="05050102010706020507" pitchFamily="18" charset="2"/>
            </a:endParaRPr>
          </a:p>
          <a:p>
            <a:pPr eaLnBrk="1" hangingPunct="1">
              <a:lnSpc>
                <a:spcPct val="120000"/>
              </a:lnSpc>
              <a:spcBef>
                <a:spcPct val="0"/>
              </a:spcBef>
              <a:buFontTx/>
              <a:buNone/>
            </a:pPr>
            <a:r>
              <a:rPr kumimoji="0" lang="en-US" altLang="zh-CN" sz="2400" b="1" dirty="0">
                <a:latin typeface="Trebuchet MS" panose="020B0603020202020204" pitchFamily="34" charset="0"/>
                <a:sym typeface="Symbol" panose="05050102010706020507" pitchFamily="18" charset="2"/>
              </a:rPr>
              <a:t>           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F</a:t>
            </a:r>
            <a:r>
              <a:rPr kumimoji="0" lang="en-US" altLang="zh-CN" sz="2400" b="1" dirty="0">
                <a:latin typeface="Trebuchet MS" panose="020B0603020202020204" pitchFamily="34" charset="0"/>
              </a:rPr>
              <a:t> </a:t>
            </a:r>
            <a:br>
              <a:rPr kumimoji="0" lang="en-US" altLang="zh-CN" sz="2400" b="1" dirty="0">
                <a:latin typeface="Trebuchet MS" panose="020B0603020202020204" pitchFamily="34" charset="0"/>
              </a:rPr>
            </a:br>
            <a:r>
              <a:rPr lang="en-US" altLang="zh-CN" sz="2400" b="1" dirty="0">
                <a:latin typeface="Trebuchet MS" panose="020B0603020202020204" pitchFamily="34" charset="0"/>
              </a:rPr>
              <a:t>Thus,</a:t>
            </a:r>
            <a:r>
              <a:rPr lang="zh-CN" altLang="en-US" sz="2400" b="1" dirty="0">
                <a:latin typeface="Trebuchet MS" panose="020B0603020202020204" pitchFamily="34" charset="0"/>
              </a:rPr>
              <a:t> </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dirty="0" err="1">
                <a:latin typeface="Trebuchet MS" panose="020B0603020202020204" pitchFamily="34" charset="0"/>
              </a:rPr>
              <a:t>ran</a:t>
            </a:r>
            <a:r>
              <a:rPr kumimoji="0" lang="en-US" altLang="zh-CN" sz="2400" b="1" i="1" dirty="0" err="1">
                <a:latin typeface="Trebuchet MS" panose="020B0603020202020204" pitchFamily="34" charset="0"/>
              </a:rPr>
              <a:t>F</a:t>
            </a:r>
            <a:r>
              <a:rPr kumimoji="0" lang="en-US" altLang="zh-CN" sz="2400" b="1" i="1" dirty="0">
                <a:latin typeface="Trebuchet MS" panose="020B0603020202020204" pitchFamily="34" charset="0"/>
              </a:rPr>
              <a:t>. </a:t>
            </a:r>
          </a:p>
          <a:p>
            <a:pPr eaLnBrk="1" hangingPunct="1">
              <a:lnSpc>
                <a:spcPct val="120000"/>
              </a:lnSpc>
              <a:spcBef>
                <a:spcPct val="0"/>
              </a:spcBef>
              <a:buFontTx/>
              <a:buNone/>
            </a:pPr>
            <a:r>
              <a:rPr lang="en-US" sz="2400" b="1" i="1" dirty="0">
                <a:latin typeface="Trebuchet MS" panose="020B0603020202020204" pitchFamily="34" charset="0"/>
              </a:rPr>
              <a:t>   </a:t>
            </a:r>
            <a:r>
              <a:rPr lang="en-US" sz="2400" dirty="0">
                <a:latin typeface="Trebuchet MS" panose="020B0603020202020204" pitchFamily="34" charset="0"/>
              </a:rPr>
              <a:t>Similarly, we can prove</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ran</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 </a:t>
            </a:r>
            <a:r>
              <a:rPr kumimoji="0" lang="en-US" altLang="zh-CN" sz="2400" b="1" dirty="0" err="1">
                <a:latin typeface="Trebuchet MS" panose="020B0603020202020204" pitchFamily="34" charset="0"/>
              </a:rPr>
              <a:t>dom</a:t>
            </a:r>
            <a:r>
              <a:rPr kumimoji="0" lang="en-US" altLang="zh-CN" sz="2400" b="1" i="1" dirty="0" err="1">
                <a:latin typeface="Trebuchet MS" panose="020B0603020202020204" pitchFamily="34" charset="0"/>
              </a:rPr>
              <a:t>F</a:t>
            </a:r>
            <a:r>
              <a:rPr kumimoji="0" lang="en-US" altLang="zh-CN" sz="2400" b="1" dirty="0">
                <a:latin typeface="Trebuchet MS" panose="020B0603020202020204" pitchFamily="34" charset="0"/>
              </a:rPr>
              <a:t>.</a:t>
            </a:r>
          </a:p>
        </p:txBody>
      </p:sp>
    </p:spTree>
    <p:extLst>
      <p:ext uri="{BB962C8B-B14F-4D97-AF65-F5344CB8AC3E}">
        <p14:creationId xmlns:p14="http://schemas.microsoft.com/office/powerpoint/2010/main" val="662700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5" end="5"/>
                                            </p:txEl>
                                          </p:spTgt>
                                        </p:tgtEl>
                                        <p:attrNameLst>
                                          <p:attrName>style.visibility</p:attrName>
                                        </p:attrNameLst>
                                      </p:cBhvr>
                                      <p:to>
                                        <p:strVal val="visible"/>
                                      </p:to>
                                    </p:set>
                                    <p:animEffect transition="in" filter="fade">
                                      <p:cBhvr>
                                        <p:cTn id="14" dur="1000"/>
                                        <p:tgtEl>
                                          <p:spTgt spid="8">
                                            <p:txEl>
                                              <p:pRg st="5" end="5"/>
                                            </p:txEl>
                                          </p:spTgt>
                                        </p:tgtEl>
                                      </p:cBhvr>
                                    </p:animEffect>
                                    <p:anim calcmode="lin" valueType="num">
                                      <p:cBhvr>
                                        <p:cTn id="1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Effect transition="in" filter="fade">
                                      <p:cBhvr>
                                        <p:cTn id="19" dur="1000"/>
                                        <p:tgtEl>
                                          <p:spTgt spid="8">
                                            <p:txEl>
                                              <p:pRg st="6" end="6"/>
                                            </p:txEl>
                                          </p:spTgt>
                                        </p:tgtEl>
                                      </p:cBhvr>
                                    </p:animEffect>
                                    <p:anim calcmode="lin" valueType="num">
                                      <p:cBhvr>
                                        <p:cTn id="2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7" end="7"/>
                                            </p:txEl>
                                          </p:spTgt>
                                        </p:tgtEl>
                                        <p:attrNameLst>
                                          <p:attrName>style.visibility</p:attrName>
                                        </p:attrNameLst>
                                      </p:cBhvr>
                                      <p:to>
                                        <p:strVal val="visible"/>
                                      </p:to>
                                    </p:set>
                                    <p:animEffect transition="in" filter="fade">
                                      <p:cBhvr>
                                        <p:cTn id="26" dur="1000"/>
                                        <p:tgtEl>
                                          <p:spTgt spid="8">
                                            <p:txEl>
                                              <p:pRg st="7" end="7"/>
                                            </p:txEl>
                                          </p:spTgt>
                                        </p:tgtEl>
                                      </p:cBhvr>
                                    </p:animEffect>
                                    <p:anim calcmode="lin" valueType="num">
                                      <p:cBhvr>
                                        <p:cTn id="2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7" end="7"/>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animEffect transition="in" filter="fade">
                                      <p:cBhvr>
                                        <p:cTn id="31" dur="1000"/>
                                        <p:tgtEl>
                                          <p:spTgt spid="8">
                                            <p:txEl>
                                              <p:pRg st="8" end="8"/>
                                            </p:txEl>
                                          </p:spTgt>
                                        </p:tgtEl>
                                      </p:cBhvr>
                                    </p:animEffect>
                                    <p:anim calcmode="lin" valueType="num">
                                      <p:cBhvr>
                                        <p:cTn id="32"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9" end="9"/>
                                            </p:txEl>
                                          </p:spTgt>
                                        </p:tgtEl>
                                        <p:attrNameLst>
                                          <p:attrName>style.visibility</p:attrName>
                                        </p:attrNameLst>
                                      </p:cBhvr>
                                      <p:to>
                                        <p:strVal val="visible"/>
                                      </p:to>
                                    </p:set>
                                    <p:animEffect transition="in" filter="fade">
                                      <p:cBhvr>
                                        <p:cTn id="36" dur="1000"/>
                                        <p:tgtEl>
                                          <p:spTgt spid="8">
                                            <p:txEl>
                                              <p:pRg st="9" end="9"/>
                                            </p:txEl>
                                          </p:spTgt>
                                        </p:tgtEl>
                                      </p:cBhvr>
                                    </p:animEffect>
                                    <p:anim calcmode="lin" valueType="num">
                                      <p:cBhvr>
                                        <p:cTn id="37"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8">
                                            <p:txEl>
                                              <p:pRg st="10" end="10"/>
                                            </p:txEl>
                                          </p:spTgt>
                                        </p:tgtEl>
                                        <p:attrNameLst>
                                          <p:attrName>style.visibility</p:attrName>
                                        </p:attrNameLst>
                                      </p:cBhvr>
                                      <p:to>
                                        <p:strVal val="visible"/>
                                      </p:to>
                                    </p:set>
                                    <p:animEffect transition="in" filter="fade">
                                      <p:cBhvr>
                                        <p:cTn id="43" dur="1000"/>
                                        <p:tgtEl>
                                          <p:spTgt spid="8">
                                            <p:txEl>
                                              <p:pRg st="10" end="10"/>
                                            </p:txEl>
                                          </p:spTgt>
                                        </p:tgtEl>
                                      </p:cBhvr>
                                    </p:animEffect>
                                    <p:anim calcmode="lin" valueType="num">
                                      <p:cBhvr>
                                        <p:cTn id="44"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4.2.1 Basic Operations of Relations</a:t>
            </a:r>
            <a:endParaRPr lang="en-US" altLang="zh-CN" sz="18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dirty="0"/>
              <a:t> </a:t>
            </a:r>
            <a:r>
              <a:rPr lang="en-US" altLang="zh-CN" sz="2400" b="1" dirty="0">
                <a:latin typeface="Trebuchet MS" panose="020B0603020202020204" pitchFamily="34" charset="0"/>
              </a:rPr>
              <a:t>Associativity and Inverse Operations of Relational Composition</a:t>
            </a:r>
            <a:r>
              <a:rPr lang="zh-CN" altLang="zh-CN" sz="2400" b="1" dirty="0">
                <a:solidFill>
                  <a:srgbClr val="374151"/>
                </a:solidFill>
                <a:effectLst/>
                <a:latin typeface="Trebuchet MS" panose="020B0603020202020204" pitchFamily="34" charset="0"/>
                <a:ea typeface="等线" panose="02010600030101010101" pitchFamily="2" charset="-122"/>
                <a:cs typeface="Segoe UI" panose="020B0502040204020203" pitchFamily="34" charset="0"/>
              </a:rPr>
              <a:t>结合律</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561338"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6047681"/>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4.2</a:t>
            </a:r>
            <a:r>
              <a:rPr lang="zh-CN" altLang="en-US" sz="2400" b="1"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Let F, G, and H be arbitrary relations, then:</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10000"/>
              </a:lnSpc>
              <a:spcBef>
                <a:spcPct val="0"/>
              </a:spcBef>
              <a:buFontTx/>
              <a:buNone/>
            </a:pPr>
            <a:r>
              <a:rPr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           </a:t>
            </a:r>
          </a:p>
          <a:p>
            <a:pPr eaLnBrk="1" hangingPunct="1">
              <a:lnSpc>
                <a:spcPct val="110000"/>
              </a:lnSpc>
              <a:spcBef>
                <a:spcPct val="0"/>
              </a:spcBef>
              <a:buFontTx/>
              <a:buNone/>
            </a:pPr>
            <a:r>
              <a:rPr kumimoji="0"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 G</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p>
          <a:p>
            <a:pPr eaLnBrk="1" hangingPunct="1">
              <a:lnSpc>
                <a:spcPct val="110000"/>
              </a:lnSpc>
              <a:spcBef>
                <a:spcPct val="0"/>
              </a:spcBef>
              <a:buFontTx/>
              <a:buNone/>
            </a:pPr>
            <a:endParaRPr kumimoji="0" lang="en-US" altLang="zh-CN" sz="2400" b="1" baseline="30000" dirty="0">
              <a:latin typeface="Trebuchet MS" panose="020B0603020202020204" pitchFamily="34" charset="0"/>
            </a:endParaRPr>
          </a:p>
          <a:p>
            <a:pPr eaLnBrk="1" hangingPunct="1">
              <a:lnSpc>
                <a:spcPct val="110000"/>
              </a:lnSpc>
              <a:spcBef>
                <a:spcPct val="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r>
              <a:rPr lang="zh-CN" altLang="en-US"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(1)</a:t>
            </a:r>
            <a:r>
              <a:rPr lang="en-US" altLang="zh-CN" sz="2400" b="1" dirty="0">
                <a:latin typeface="Trebuchet MS" panose="020B0603020202020204" pitchFamily="34" charset="0"/>
              </a:rPr>
              <a:t> </a:t>
            </a:r>
            <a:r>
              <a:rPr lang="zh-CN" altLang="en-US" sz="2400" b="1" dirty="0">
                <a:latin typeface="Trebuchet MS" panose="020B0603020202020204" pitchFamily="34" charset="0"/>
              </a:rPr>
              <a:t>：</a:t>
            </a: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lang="en-US" altLang="zh-CN" sz="2400" b="1" dirty="0">
                <a:latin typeface="Trebuchet MS" panose="020B0603020202020204" pitchFamily="34" charset="0"/>
              </a:rPr>
              <a:t>&lt;</a:t>
            </a:r>
            <a:r>
              <a:rPr lang="en-US" altLang="zh-CN" sz="2400" b="1" dirty="0" err="1">
                <a:latin typeface="Trebuchet MS" panose="020B0603020202020204" pitchFamily="34" charset="0"/>
              </a:rPr>
              <a:t>x,y</a:t>
            </a:r>
            <a:r>
              <a:rPr lang="en-US" altLang="zh-CN" sz="2400" b="1" dirty="0">
                <a:latin typeface="Trebuchet MS" panose="020B0603020202020204" pitchFamily="34" charset="0"/>
              </a:rPr>
              <a:t>&gt;, </a:t>
            </a:r>
          </a:p>
          <a:p>
            <a:pPr eaLnBrk="1" hangingPunct="1">
              <a:lnSpc>
                <a:spcPct val="110000"/>
              </a:lnSpc>
              <a:spcBef>
                <a:spcPct val="0"/>
              </a:spcBef>
              <a:buFontTx/>
              <a:buNone/>
            </a:pP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endParaRPr kumimoji="0" lang="en-US" altLang="zh-CN" sz="2400" b="1" dirty="0">
              <a:latin typeface="Trebuchet MS" panose="020B0603020202020204" pitchFamily="34" charset="0"/>
              <a:sym typeface="Symbol" panose="05050102010706020507" pitchFamily="18" charset="2"/>
            </a:endParaRPr>
          </a:p>
          <a:p>
            <a:pPr eaLnBrk="1" hangingPunct="1">
              <a:lnSpc>
                <a:spcPct val="110000"/>
              </a:lnSpc>
              <a:spcBef>
                <a:spcPct val="0"/>
              </a:spcBef>
              <a:buFontTx/>
              <a:buNone/>
            </a:pPr>
            <a:r>
              <a:rPr kumimoji="0" lang="en-US" altLang="zh-CN" sz="2400" b="1" dirty="0">
                <a:latin typeface="Trebuchet MS" panose="020B0603020202020204" pitchFamily="34" charset="0"/>
                <a:sym typeface="Symbol" panose="05050102010706020507" pitchFamily="18" charset="2"/>
              </a:rPr>
              <a:t>         </a:t>
            </a:r>
            <a:r>
              <a:rPr kumimoji="0" lang="en-US" altLang="zh-CN" sz="2400" b="1" i="1" dirty="0">
                <a:latin typeface="Trebuchet MS" panose="020B0603020202020204" pitchFamily="34" charset="0"/>
              </a:rPr>
              <a:t>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y&gt;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endParaRPr kumimoji="0" lang="en-US" altLang="zh-CN" sz="2400" b="1" dirty="0">
              <a:latin typeface="Trebuchet MS" panose="020B0603020202020204" pitchFamily="34" charset="0"/>
              <a:sym typeface="Symbol" panose="05050102010706020507" pitchFamily="18" charset="2"/>
            </a:endParaRPr>
          </a:p>
          <a:p>
            <a:pPr eaLnBrk="1" hangingPunct="1">
              <a:lnSpc>
                <a:spcPct val="110000"/>
              </a:lnSpc>
              <a:spcBef>
                <a:spcPct val="0"/>
              </a:spcBef>
              <a:buFontTx/>
              <a:buNone/>
            </a:pPr>
            <a:r>
              <a:rPr kumimoji="0" lang="en-US" altLang="zh-CN" sz="2400" b="1" dirty="0">
                <a:latin typeface="Trebuchet MS" panose="020B0603020202020204" pitchFamily="34" charset="0"/>
                <a:sym typeface="Symbol" panose="05050102010706020507" pitchFamily="18" charset="2"/>
              </a:rPr>
              <a:t>         </a:t>
            </a:r>
            <a:r>
              <a:rPr kumimoji="0" lang="en-US" altLang="zh-CN" sz="2400" b="1" i="1" dirty="0">
                <a:latin typeface="Trebuchet MS" panose="020B0603020202020204" pitchFamily="34" charset="0"/>
              </a:rPr>
              <a:t>t </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s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s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s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s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 </a:t>
            </a:r>
            <a:br>
              <a:rPr kumimoji="0" lang="en-US" altLang="zh-CN" sz="2400" b="1" dirty="0">
                <a:latin typeface="Trebuchet MS" panose="020B0603020202020204" pitchFamily="34" charset="0"/>
              </a:rPr>
            </a:br>
            <a:r>
              <a:rPr lang="en-US" altLang="zh-CN" sz="2400" b="1" dirty="0">
                <a:latin typeface="Trebuchet MS" panose="020B0603020202020204" pitchFamily="34" charset="0"/>
              </a:rPr>
              <a:t>Thus,</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p>
          <a:p>
            <a:pPr eaLnBrk="1" hangingPunct="1">
              <a:lnSpc>
                <a:spcPct val="120000"/>
              </a:lnSpc>
              <a:spcBef>
                <a:spcPct val="0"/>
              </a:spcBef>
              <a:buFontTx/>
              <a:buNone/>
            </a:pPr>
            <a:endParaRPr kumimoji="0" lang="en-US" altLang="zh-CN" sz="2400" b="1" dirty="0">
              <a:latin typeface="Trebuchet MS" panose="020B0603020202020204" pitchFamily="34" charset="0"/>
            </a:endParaRPr>
          </a:p>
        </p:txBody>
      </p:sp>
    </p:spTree>
    <p:extLst>
      <p:ext uri="{BB962C8B-B14F-4D97-AF65-F5344CB8AC3E}">
        <p14:creationId xmlns:p14="http://schemas.microsoft.com/office/powerpoint/2010/main" val="1215024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fade">
                                      <p:cBhvr>
                                        <p:cTn id="12" dur="1000"/>
                                        <p:tgtEl>
                                          <p:spTgt spid="8">
                                            <p:txEl>
                                              <p:pRg st="5" end="5"/>
                                            </p:txEl>
                                          </p:spTgt>
                                        </p:tgtEl>
                                      </p:cBhvr>
                                    </p:animEffect>
                                    <p:anim calcmode="lin" valueType="num">
                                      <p:cBhvr>
                                        <p:cTn id="1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Effect transition="in" filter="fade">
                                      <p:cBhvr>
                                        <p:cTn id="19" dur="1000"/>
                                        <p:tgtEl>
                                          <p:spTgt spid="8">
                                            <p:txEl>
                                              <p:pRg st="6" end="6"/>
                                            </p:txEl>
                                          </p:spTgt>
                                        </p:tgtEl>
                                      </p:cBhvr>
                                    </p:animEffect>
                                    <p:anim calcmode="lin" valueType="num">
                                      <p:cBhvr>
                                        <p:cTn id="2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7" end="7"/>
                                            </p:txEl>
                                          </p:spTgt>
                                        </p:tgtEl>
                                        <p:attrNameLst>
                                          <p:attrName>style.visibility</p:attrName>
                                        </p:attrNameLst>
                                      </p:cBhvr>
                                      <p:to>
                                        <p:strVal val="visible"/>
                                      </p:to>
                                    </p:set>
                                    <p:animEffect transition="in" filter="fade">
                                      <p:cBhvr>
                                        <p:cTn id="24" dur="1000"/>
                                        <p:tgtEl>
                                          <p:spTgt spid="8">
                                            <p:txEl>
                                              <p:pRg st="7" end="7"/>
                                            </p:txEl>
                                          </p:spTgt>
                                        </p:tgtEl>
                                      </p:cBhvr>
                                    </p:animEffect>
                                    <p:anim calcmode="lin" valueType="num">
                                      <p:cBhvr>
                                        <p:cTn id="2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en-US" altLang="zh-CN" sz="1800" b="1" dirty="0">
                <a:latin typeface="Trebuchet MS" panose="020B0603020202020204" pitchFamily="34" charset="0"/>
              </a:rPr>
              <a:t>             4.2.1 Basic Operations of Relations</a:t>
            </a:r>
            <a:endParaRPr lang="en-US" altLang="zh-CN" sz="18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dirty="0"/>
              <a:t> </a:t>
            </a:r>
            <a:r>
              <a:rPr lang="en-US" altLang="zh-CN" sz="2400" b="1" dirty="0">
                <a:latin typeface="Trebuchet MS" panose="020B0603020202020204" pitchFamily="34" charset="0"/>
              </a:rPr>
              <a:t>Associativity and Inverse Operations of Relational Composition</a:t>
            </a:r>
            <a:r>
              <a:rPr lang="zh-CN" altLang="zh-CN" sz="2400" b="1" dirty="0">
                <a:solidFill>
                  <a:srgbClr val="374151"/>
                </a:solidFill>
                <a:effectLst/>
                <a:latin typeface="Trebuchet MS" panose="020B0603020202020204" pitchFamily="34" charset="0"/>
                <a:ea typeface="等线" panose="02010600030101010101" pitchFamily="2" charset="-122"/>
                <a:cs typeface="Segoe UI" panose="020B0502040204020203" pitchFamily="34" charset="0"/>
              </a:rPr>
              <a:t>结合律</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561338"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5493683"/>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4.2</a:t>
            </a:r>
            <a:r>
              <a:rPr lang="zh-CN" altLang="en-US" sz="2400" b="1"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Let F, G, and H be arbitrary relations, then:</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10000"/>
              </a:lnSpc>
              <a:spcBef>
                <a:spcPct val="0"/>
              </a:spcBef>
              <a:buFontTx/>
              <a:buNone/>
            </a:pPr>
            <a:r>
              <a:rPr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H</a:t>
            </a:r>
            <a:r>
              <a:rPr kumimoji="0" lang="en-US" altLang="zh-CN" sz="2400" b="1" dirty="0">
                <a:latin typeface="Trebuchet MS" panose="020B0603020202020204" pitchFamily="34" charset="0"/>
              </a:rPr>
              <a:t>)           </a:t>
            </a:r>
          </a:p>
          <a:p>
            <a:pPr eaLnBrk="1" hangingPunct="1">
              <a:lnSpc>
                <a:spcPct val="110000"/>
              </a:lnSpc>
              <a:spcBef>
                <a:spcPct val="0"/>
              </a:spcBef>
              <a:buFontTx/>
              <a:buNone/>
            </a:pPr>
            <a:r>
              <a:rPr kumimoji="0"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 G</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F</a:t>
            </a:r>
            <a:r>
              <a:rPr kumimoji="0" lang="en-US" altLang="zh-CN" sz="2400" b="1" i="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 </a:t>
            </a:r>
          </a:p>
          <a:p>
            <a:pPr eaLnBrk="1" hangingPunct="1">
              <a:lnSpc>
                <a:spcPct val="110000"/>
              </a:lnSpc>
              <a:spcBef>
                <a:spcPct val="0"/>
              </a:spcBef>
              <a:buFontTx/>
              <a:buNone/>
            </a:pPr>
            <a:endParaRPr kumimoji="0" lang="en-US" altLang="zh-CN" sz="2400" b="1" baseline="30000" dirty="0">
              <a:latin typeface="Trebuchet MS" panose="020B0603020202020204" pitchFamily="34" charset="0"/>
            </a:endParaRPr>
          </a:p>
          <a:p>
            <a:pPr>
              <a:lnSpc>
                <a:spcPct val="120000"/>
              </a:lnSpc>
              <a:spcBef>
                <a:spcPct val="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r>
              <a:rPr lang="zh-CN" altLang="en-US"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b="1" dirty="0"/>
              <a:t>For</a:t>
            </a:r>
            <a:r>
              <a:rPr lang="zh-CN" altLang="en-US" sz="2400" b="1" dirty="0"/>
              <a:t> </a:t>
            </a:r>
            <a:r>
              <a:rPr lang="en-US" altLang="zh-CN" sz="2400" b="1" dirty="0"/>
              <a:t>any</a:t>
            </a:r>
            <a:r>
              <a:rPr lang="zh-CN" altLang="en-US" sz="2400" b="1" dirty="0"/>
              <a:t> </a:t>
            </a:r>
            <a:r>
              <a:rPr lang="en-US" altLang="zh-CN" sz="2400" b="1" dirty="0"/>
              <a:t>&lt;</a:t>
            </a:r>
            <a:r>
              <a:rPr lang="en-US" altLang="zh-CN" sz="2400" b="1" i="1" dirty="0"/>
              <a:t>x</a:t>
            </a:r>
            <a:r>
              <a:rPr lang="en-US" altLang="zh-CN" sz="2400" b="1" dirty="0"/>
              <a:t>, </a:t>
            </a:r>
            <a:r>
              <a:rPr lang="en-US" altLang="zh-CN" sz="2400" b="1" i="1" dirty="0"/>
              <a:t>y</a:t>
            </a:r>
            <a:r>
              <a:rPr lang="en-US" altLang="zh-CN" sz="2400" b="1" dirty="0"/>
              <a:t>&gt;, </a:t>
            </a:r>
          </a:p>
          <a:p>
            <a:pPr>
              <a:lnSpc>
                <a:spcPct val="120000"/>
              </a:lnSpc>
              <a:spcBef>
                <a:spcPct val="0"/>
              </a:spcBef>
              <a:buNone/>
            </a:pPr>
            <a:r>
              <a:rPr lang="en-US" altLang="zh-CN" sz="2400" b="1" dirty="0"/>
              <a:t>              &lt;</a:t>
            </a:r>
            <a:r>
              <a:rPr lang="en-US" altLang="zh-CN" sz="2400" b="1" i="1" dirty="0"/>
              <a:t>x</a:t>
            </a:r>
            <a:r>
              <a:rPr lang="en-US" altLang="zh-CN" sz="2400" b="1" dirty="0"/>
              <a:t>, </a:t>
            </a:r>
            <a:r>
              <a:rPr lang="en-US" altLang="zh-CN" sz="2400" b="1" i="1" dirty="0"/>
              <a:t>y</a:t>
            </a:r>
            <a:r>
              <a:rPr lang="en-US" altLang="zh-CN" sz="2400" b="1" dirty="0"/>
              <a:t>&gt;∈(</a:t>
            </a:r>
            <a:r>
              <a:rPr lang="en-US" altLang="zh-CN" sz="2400" b="1" i="1" dirty="0"/>
              <a:t>F</a:t>
            </a:r>
            <a:r>
              <a:rPr lang="en-US" altLang="zh-CN" sz="1800" b="1" dirty="0">
                <a:latin typeface="Arial" panose="020B0604020202020204" pitchFamily="34" charset="0"/>
                <a:ea typeface="华文行楷" panose="02010800040101010101" pitchFamily="2" charset="-122"/>
              </a:rPr>
              <a:t>∘</a:t>
            </a:r>
            <a:r>
              <a:rPr lang="en-US" altLang="zh-CN" sz="2400" b="1" i="1" dirty="0"/>
              <a:t>G</a:t>
            </a:r>
            <a:r>
              <a:rPr lang="en-US" altLang="zh-CN" sz="2400" b="1" dirty="0"/>
              <a:t>)</a:t>
            </a:r>
            <a:r>
              <a:rPr lang="en-US" altLang="zh-CN" sz="2400" b="1" i="1" baseline="30000" dirty="0">
                <a:sym typeface="Symbol" panose="05050102010706020507" pitchFamily="18" charset="2"/>
              </a:rPr>
              <a:t></a:t>
            </a:r>
            <a:r>
              <a:rPr lang="en-US" altLang="zh-CN" sz="2400" b="1" baseline="30000" dirty="0"/>
              <a:t>1</a:t>
            </a:r>
            <a:r>
              <a:rPr lang="en-US" altLang="zh-CN" sz="2400" b="1" dirty="0"/>
              <a:t> </a:t>
            </a:r>
            <a:br>
              <a:rPr lang="en-US" altLang="zh-CN" sz="2400" b="1" dirty="0"/>
            </a:br>
            <a:r>
              <a:rPr lang="en-US" altLang="zh-CN" sz="2400" b="1" dirty="0"/>
              <a:t>         </a:t>
            </a:r>
            <a:r>
              <a:rPr lang="en-US" altLang="zh-CN" sz="2400" b="1" dirty="0">
                <a:sym typeface="Symbol" panose="05050102010706020507" pitchFamily="18" charset="2"/>
              </a:rPr>
              <a:t> </a:t>
            </a:r>
            <a:r>
              <a:rPr lang="en-US" altLang="zh-CN" sz="2400" b="1" dirty="0"/>
              <a:t>&lt;</a:t>
            </a:r>
            <a:r>
              <a:rPr lang="en-US" altLang="zh-CN" sz="2400" b="1" i="1" dirty="0"/>
              <a:t>y</a:t>
            </a:r>
            <a:r>
              <a:rPr lang="en-US" altLang="zh-CN" sz="2400" b="1" dirty="0"/>
              <a:t>, </a:t>
            </a:r>
            <a:r>
              <a:rPr lang="en-US" altLang="zh-CN" sz="2400" b="1" i="1" dirty="0"/>
              <a:t>x</a:t>
            </a:r>
            <a:r>
              <a:rPr lang="en-US" altLang="zh-CN" sz="2400" b="1" dirty="0"/>
              <a:t>&gt;∈</a:t>
            </a:r>
            <a:r>
              <a:rPr lang="en-US" altLang="zh-CN" sz="2400" b="1" i="1" dirty="0"/>
              <a:t>F</a:t>
            </a:r>
            <a:r>
              <a:rPr lang="en-US" altLang="zh-CN" sz="1800" b="1" dirty="0">
                <a:latin typeface="Arial" panose="020B0604020202020204" pitchFamily="34" charset="0"/>
                <a:ea typeface="华文行楷" panose="02010800040101010101" pitchFamily="2" charset="-122"/>
              </a:rPr>
              <a:t>∘</a:t>
            </a:r>
            <a:r>
              <a:rPr lang="en-US" altLang="zh-CN" sz="2400" b="1" i="1" dirty="0"/>
              <a:t>G</a:t>
            </a:r>
            <a:br>
              <a:rPr lang="en-US" altLang="zh-CN" sz="2400" b="1" dirty="0"/>
            </a:br>
            <a:r>
              <a:rPr lang="en-US" altLang="zh-CN" sz="2400" b="1" dirty="0"/>
              <a:t>         </a:t>
            </a:r>
            <a:r>
              <a:rPr lang="en-US" altLang="zh-CN" sz="2400" b="1" dirty="0">
                <a:sym typeface="Symbol" panose="05050102010706020507" pitchFamily="18" charset="2"/>
              </a:rPr>
              <a:t> </a:t>
            </a:r>
            <a:r>
              <a:rPr lang="en-US" altLang="zh-CN" sz="2400" b="1" i="1" dirty="0"/>
              <a:t>t </a:t>
            </a:r>
            <a:r>
              <a:rPr lang="en-US" altLang="zh-CN" sz="2400" b="1" dirty="0"/>
              <a:t>(&lt;</a:t>
            </a:r>
            <a:r>
              <a:rPr lang="en-US" altLang="zh-CN" sz="2400" b="1" i="1" dirty="0"/>
              <a:t>y</a:t>
            </a:r>
            <a:r>
              <a:rPr lang="en-US" altLang="zh-CN" sz="2400" b="1" dirty="0"/>
              <a:t>, </a:t>
            </a:r>
            <a:r>
              <a:rPr lang="en-US" altLang="zh-CN" sz="2400" b="1" i="1" dirty="0"/>
              <a:t>t</a:t>
            </a:r>
            <a:r>
              <a:rPr lang="en-US" altLang="zh-CN" sz="2400" b="1" dirty="0"/>
              <a:t>&gt;∈</a:t>
            </a:r>
            <a:r>
              <a:rPr lang="en-US" altLang="zh-CN" sz="2400" b="1" i="1" dirty="0"/>
              <a:t>F</a:t>
            </a:r>
            <a:r>
              <a:rPr lang="en-US" altLang="zh-CN" sz="2400" b="1" dirty="0"/>
              <a:t>∧(</a:t>
            </a:r>
            <a:r>
              <a:rPr lang="en-US" altLang="zh-CN" sz="2400" b="1" i="1" dirty="0"/>
              <a:t>t</a:t>
            </a:r>
            <a:r>
              <a:rPr lang="en-US" altLang="zh-CN" sz="2400" b="1" dirty="0"/>
              <a:t>, </a:t>
            </a:r>
            <a:r>
              <a:rPr lang="en-US" altLang="zh-CN" sz="2400" b="1" i="1" dirty="0"/>
              <a:t>x</a:t>
            </a:r>
            <a:r>
              <a:rPr lang="en-US" altLang="zh-CN" sz="2400" b="1" dirty="0"/>
              <a:t>)∈</a:t>
            </a:r>
            <a:r>
              <a:rPr lang="en-US" altLang="zh-CN" sz="2400" b="1" i="1" dirty="0"/>
              <a:t>G</a:t>
            </a:r>
            <a:r>
              <a:rPr lang="en-US" altLang="zh-CN" sz="2400" b="1" dirty="0"/>
              <a:t>)</a:t>
            </a:r>
            <a:br>
              <a:rPr lang="en-US" altLang="zh-CN" sz="2400" b="1" dirty="0"/>
            </a:br>
            <a:r>
              <a:rPr lang="en-US" altLang="zh-CN" sz="2400" b="1" dirty="0"/>
              <a:t>         </a:t>
            </a:r>
            <a:r>
              <a:rPr lang="en-US" altLang="zh-CN" sz="2400" b="1" dirty="0">
                <a:sym typeface="Symbol" panose="05050102010706020507" pitchFamily="18" charset="2"/>
              </a:rPr>
              <a:t> </a:t>
            </a:r>
            <a:r>
              <a:rPr lang="en-US" altLang="zh-CN" sz="2400" b="1" i="1" dirty="0"/>
              <a:t>t </a:t>
            </a:r>
            <a:r>
              <a:rPr lang="en-US" altLang="zh-CN" sz="2400" b="1" dirty="0"/>
              <a:t>(&lt;</a:t>
            </a:r>
            <a:r>
              <a:rPr lang="en-US" altLang="zh-CN" sz="2400" b="1" i="1" dirty="0"/>
              <a:t>x</a:t>
            </a:r>
            <a:r>
              <a:rPr lang="en-US" altLang="zh-CN" sz="2400" b="1" dirty="0"/>
              <a:t>, </a:t>
            </a:r>
            <a:r>
              <a:rPr lang="en-US" altLang="zh-CN" sz="2400" b="1" i="1" dirty="0"/>
              <a:t>t</a:t>
            </a:r>
            <a:r>
              <a:rPr lang="en-US" altLang="zh-CN" sz="2400" b="1" dirty="0"/>
              <a:t>&gt;∈</a:t>
            </a:r>
            <a:r>
              <a:rPr lang="en-US" altLang="zh-CN" sz="2400" b="1" i="1" dirty="0"/>
              <a:t>G</a:t>
            </a:r>
            <a:r>
              <a:rPr lang="en-US" altLang="zh-CN" sz="2400" b="1" i="1" baseline="30000" dirty="0">
                <a:sym typeface="Symbol" panose="05050102010706020507" pitchFamily="18" charset="2"/>
              </a:rPr>
              <a:t></a:t>
            </a:r>
            <a:r>
              <a:rPr lang="en-US" altLang="zh-CN" sz="2400" b="1" baseline="30000" dirty="0"/>
              <a:t>1</a:t>
            </a:r>
            <a:r>
              <a:rPr lang="en-US" altLang="zh-CN" sz="2400" b="1" dirty="0"/>
              <a:t>∧(</a:t>
            </a:r>
            <a:r>
              <a:rPr lang="en-US" altLang="zh-CN" sz="2400" b="1" i="1" dirty="0"/>
              <a:t>t</a:t>
            </a:r>
            <a:r>
              <a:rPr lang="en-US" altLang="zh-CN" sz="2400" b="1" dirty="0"/>
              <a:t>, </a:t>
            </a:r>
            <a:r>
              <a:rPr lang="en-US" altLang="zh-CN" sz="2400" b="1" i="1" dirty="0"/>
              <a:t>y</a:t>
            </a:r>
            <a:r>
              <a:rPr lang="en-US" altLang="zh-CN" sz="2400" b="1" dirty="0"/>
              <a:t>)∈</a:t>
            </a:r>
            <a:r>
              <a:rPr lang="en-US" altLang="zh-CN" sz="2400" b="1" i="1" dirty="0"/>
              <a:t>F</a:t>
            </a:r>
            <a:r>
              <a:rPr lang="en-US" altLang="zh-CN" sz="2400" b="1" i="1" baseline="30000" dirty="0">
                <a:sym typeface="Symbol" panose="05050102010706020507" pitchFamily="18" charset="2"/>
              </a:rPr>
              <a:t></a:t>
            </a:r>
            <a:r>
              <a:rPr lang="en-US" altLang="zh-CN" sz="2400" b="1" baseline="30000" dirty="0"/>
              <a:t>1</a:t>
            </a:r>
            <a:r>
              <a:rPr lang="en-US" altLang="zh-CN" sz="2400" b="1" dirty="0"/>
              <a:t>)</a:t>
            </a:r>
            <a:br>
              <a:rPr lang="en-US" altLang="zh-CN" sz="2400" b="1" dirty="0"/>
            </a:br>
            <a:r>
              <a:rPr lang="en-US" altLang="zh-CN" sz="2400" b="1" dirty="0"/>
              <a:t>         </a:t>
            </a:r>
            <a:r>
              <a:rPr lang="en-US" altLang="zh-CN" sz="2400" b="1" dirty="0">
                <a:sym typeface="Symbol" panose="05050102010706020507" pitchFamily="18" charset="2"/>
              </a:rPr>
              <a:t> </a:t>
            </a:r>
            <a:r>
              <a:rPr lang="en-US" altLang="zh-CN" sz="2400" b="1" dirty="0"/>
              <a:t>&lt;</a:t>
            </a:r>
            <a:r>
              <a:rPr lang="en-US" altLang="zh-CN" sz="2400" b="1" i="1" dirty="0"/>
              <a:t>x</a:t>
            </a:r>
            <a:r>
              <a:rPr lang="en-US" altLang="zh-CN" sz="2400" b="1" dirty="0"/>
              <a:t>, </a:t>
            </a:r>
            <a:r>
              <a:rPr lang="en-US" altLang="zh-CN" sz="2400" b="1" i="1" dirty="0"/>
              <a:t>y</a:t>
            </a:r>
            <a:r>
              <a:rPr lang="en-US" altLang="zh-CN" sz="2400" b="1" dirty="0"/>
              <a:t>&gt;∈</a:t>
            </a:r>
            <a:r>
              <a:rPr lang="en-US" altLang="zh-CN" sz="2400" b="1" i="1" dirty="0"/>
              <a:t>G</a:t>
            </a:r>
            <a:r>
              <a:rPr lang="en-US" altLang="zh-CN" sz="2400" b="1" i="1" baseline="30000" dirty="0">
                <a:sym typeface="Symbol" panose="05050102010706020507" pitchFamily="18" charset="2"/>
              </a:rPr>
              <a:t></a:t>
            </a:r>
            <a:r>
              <a:rPr lang="en-US" altLang="zh-CN" sz="2400" b="1" baseline="30000" dirty="0"/>
              <a:t>1</a:t>
            </a:r>
            <a:r>
              <a:rPr lang="en-US" altLang="zh-CN" sz="2400" b="1" dirty="0">
                <a:latin typeface="Arial" panose="020B0604020202020204" pitchFamily="34" charset="0"/>
                <a:ea typeface="华文行楷" panose="02010800040101010101" pitchFamily="2" charset="-122"/>
              </a:rPr>
              <a:t>∘</a:t>
            </a:r>
            <a:r>
              <a:rPr lang="en-US" altLang="zh-CN" sz="2400" b="1" i="1" dirty="0"/>
              <a:t>F</a:t>
            </a:r>
            <a:r>
              <a:rPr lang="en-US" altLang="zh-CN" sz="2400" b="1" i="1" baseline="30000" dirty="0">
                <a:sym typeface="Symbol" panose="05050102010706020507" pitchFamily="18" charset="2"/>
              </a:rPr>
              <a:t></a:t>
            </a:r>
            <a:r>
              <a:rPr lang="en-US" altLang="zh-CN" sz="2400" b="1" baseline="30000" dirty="0"/>
              <a:t>1</a:t>
            </a:r>
          </a:p>
          <a:p>
            <a:pPr>
              <a:lnSpc>
                <a:spcPct val="120000"/>
              </a:lnSpc>
              <a:spcBef>
                <a:spcPct val="0"/>
              </a:spcBef>
              <a:buNone/>
            </a:pPr>
            <a:r>
              <a:rPr lang="en-US" altLang="zh-CN" sz="2400" b="1" dirty="0"/>
              <a:t>     Thus</a:t>
            </a:r>
            <a:r>
              <a:rPr lang="zh-CN" altLang="en-US" sz="2400" b="1" dirty="0"/>
              <a:t> </a:t>
            </a:r>
            <a:r>
              <a:rPr lang="en-US" altLang="zh-CN" sz="2400" b="1" dirty="0"/>
              <a:t>(</a:t>
            </a:r>
            <a:r>
              <a:rPr lang="en-US" altLang="zh-CN" sz="2400" b="1" i="1" dirty="0"/>
              <a:t>F</a:t>
            </a:r>
            <a:r>
              <a:rPr lang="en-US" altLang="zh-CN" sz="2400" b="1" dirty="0">
                <a:latin typeface="Arial" panose="020B0604020202020204" pitchFamily="34" charset="0"/>
                <a:ea typeface="华文行楷" panose="02010800040101010101" pitchFamily="2" charset="-122"/>
              </a:rPr>
              <a:t>∘</a:t>
            </a:r>
            <a:r>
              <a:rPr lang="en-US" altLang="zh-CN" sz="2400" b="1" i="1" dirty="0"/>
              <a:t>G</a:t>
            </a:r>
            <a:r>
              <a:rPr lang="en-US" altLang="zh-CN" sz="2400" b="1" dirty="0"/>
              <a:t>)</a:t>
            </a:r>
            <a:r>
              <a:rPr lang="en-US" altLang="zh-CN" sz="2400" b="1" i="1" baseline="30000" dirty="0">
                <a:sym typeface="Symbol" panose="05050102010706020507" pitchFamily="18" charset="2"/>
              </a:rPr>
              <a:t></a:t>
            </a:r>
            <a:r>
              <a:rPr lang="en-US" altLang="zh-CN" sz="2400" b="1" baseline="30000" dirty="0"/>
              <a:t>1</a:t>
            </a:r>
            <a:r>
              <a:rPr lang="en-US" altLang="zh-CN" sz="2400" b="1" dirty="0"/>
              <a:t> =</a:t>
            </a:r>
            <a:r>
              <a:rPr lang="en-US" altLang="zh-CN" sz="2400" b="1" i="1" dirty="0"/>
              <a:t> G</a:t>
            </a:r>
            <a:r>
              <a:rPr lang="en-US" altLang="zh-CN" sz="2400" b="1" i="1" baseline="30000" dirty="0">
                <a:sym typeface="Symbol" panose="05050102010706020507" pitchFamily="18" charset="2"/>
              </a:rPr>
              <a:t></a:t>
            </a:r>
            <a:r>
              <a:rPr lang="en-US" altLang="zh-CN" sz="2400" b="1" baseline="30000" dirty="0"/>
              <a:t>1</a:t>
            </a:r>
            <a:r>
              <a:rPr lang="en-US" altLang="zh-CN" sz="2400" b="1" dirty="0">
                <a:latin typeface="Arial" panose="020B0604020202020204" pitchFamily="34" charset="0"/>
                <a:ea typeface="华文行楷" panose="02010800040101010101" pitchFamily="2" charset="-122"/>
              </a:rPr>
              <a:t>∘</a:t>
            </a:r>
            <a:r>
              <a:rPr lang="en-US" altLang="zh-CN" sz="2400" b="1" i="1" dirty="0"/>
              <a:t>F</a:t>
            </a:r>
            <a:r>
              <a:rPr lang="en-US" altLang="zh-CN" sz="2400" b="1" i="1" baseline="30000" dirty="0">
                <a:sym typeface="Symbol" panose="05050102010706020507" pitchFamily="18" charset="2"/>
              </a:rPr>
              <a:t></a:t>
            </a:r>
            <a:r>
              <a:rPr lang="en-US" altLang="zh-CN" sz="2400" b="1" baseline="30000" dirty="0"/>
              <a:t>1</a:t>
            </a:r>
            <a:r>
              <a:rPr lang="zh-CN" altLang="en-US" sz="2400" b="1" dirty="0"/>
              <a:t>    </a:t>
            </a:r>
            <a:endParaRPr lang="en-US" altLang="zh-CN" sz="2400" b="1" dirty="0"/>
          </a:p>
          <a:p>
            <a:pPr eaLnBrk="1" hangingPunct="1">
              <a:lnSpc>
                <a:spcPct val="120000"/>
              </a:lnSpc>
              <a:spcBef>
                <a:spcPct val="0"/>
              </a:spcBef>
              <a:buFontTx/>
              <a:buNone/>
            </a:pPr>
            <a:endParaRPr kumimoji="0" lang="en-US" altLang="zh-CN" sz="2400" b="1" dirty="0">
              <a:latin typeface="Trebuchet MS" panose="020B0603020202020204" pitchFamily="34" charset="0"/>
            </a:endParaRPr>
          </a:p>
        </p:txBody>
      </p:sp>
    </p:spTree>
    <p:extLst>
      <p:ext uri="{BB962C8B-B14F-4D97-AF65-F5344CB8AC3E}">
        <p14:creationId xmlns:p14="http://schemas.microsoft.com/office/powerpoint/2010/main" val="1836240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1000"/>
                                        <p:tgtEl>
                                          <p:spTgt spid="8">
                                            <p:txEl>
                                              <p:pRg st="4" end="4"/>
                                            </p:txEl>
                                          </p:spTgt>
                                        </p:tgtEl>
                                      </p:cBhvr>
                                    </p:animEffect>
                                    <p:anim calcmode="lin" valueType="num">
                                      <p:cBhvr>
                                        <p:cTn id="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5" end="5"/>
                                            </p:txEl>
                                          </p:spTgt>
                                        </p:tgtEl>
                                        <p:attrNameLst>
                                          <p:attrName>style.visibility</p:attrName>
                                        </p:attrNameLst>
                                      </p:cBhvr>
                                      <p:to>
                                        <p:strVal val="visible"/>
                                      </p:to>
                                    </p:set>
                                    <p:animEffect transition="in" filter="fade">
                                      <p:cBhvr>
                                        <p:cTn id="14" dur="1000"/>
                                        <p:tgtEl>
                                          <p:spTgt spid="8">
                                            <p:txEl>
                                              <p:pRg st="5" end="5"/>
                                            </p:txEl>
                                          </p:spTgt>
                                        </p:tgtEl>
                                      </p:cBhvr>
                                    </p:animEffect>
                                    <p:anim calcmode="lin" valueType="num">
                                      <p:cBhvr>
                                        <p:cTn id="1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Effect transition="in" filter="fade">
                                      <p:cBhvr>
                                        <p:cTn id="19" dur="1000"/>
                                        <p:tgtEl>
                                          <p:spTgt spid="8">
                                            <p:txEl>
                                              <p:pRg st="6" end="6"/>
                                            </p:txEl>
                                          </p:spTgt>
                                        </p:tgtEl>
                                      </p:cBhvr>
                                    </p:animEffect>
                                    <p:anim calcmode="lin" valueType="num">
                                      <p:cBhvr>
                                        <p:cTn id="2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spcBef>
                <a:spcPts val="300"/>
              </a:spcBef>
              <a:buClr>
                <a:srgbClr val="0B5BFF"/>
              </a:buClr>
              <a:buSzPct val="80000"/>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4.2.1 Basic Operations of Relations</a:t>
            </a:r>
            <a:endParaRPr lang="en-US" altLang="zh-CN" sz="2000" dirty="0">
              <a:latin typeface="Trebuchet MS" panose="020B0603020202020204" pitchFamily="34"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Relational Composition of the Identity Relation</a:t>
            </a:r>
            <a:r>
              <a:rPr lang="fr-FR" altLang="zh-CN" sz="2400" b="1" i="1" dirty="0"/>
              <a:t> I</a:t>
            </a:r>
            <a:r>
              <a:rPr lang="fr-FR" altLang="zh-CN" sz="2400" b="1" i="1" baseline="-25000" dirty="0"/>
              <a:t>A</a:t>
            </a:r>
            <a:endParaRPr lang="en-US" altLang="zh-CN"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4.3</a:t>
            </a:r>
            <a:r>
              <a:rPr lang="zh-CN" altLang="en-US" sz="2400" b="1" dirty="0">
                <a:latin typeface="Trebuchet MS" panose="020B0603020202020204" pitchFamily="34" charset="0"/>
              </a:rPr>
              <a:t>：</a:t>
            </a:r>
            <a:r>
              <a:rPr lang="en-US" altLang="zh-CN" sz="2400" dirty="0"/>
              <a:t> Composition of the Identity Relation</a:t>
            </a:r>
            <a:r>
              <a:rPr lang="fr-FR" altLang="zh-CN" sz="2400" b="1" i="1" dirty="0"/>
              <a:t> I</a:t>
            </a:r>
            <a:r>
              <a:rPr lang="fr-FR" altLang="zh-CN" sz="2400" b="1" i="1" baseline="-25000" dirty="0"/>
              <a:t>A</a:t>
            </a:r>
            <a:br>
              <a:rPr lang="en-US" sz="2400" dirty="0">
                <a:latin typeface="Trebuchet MS" panose="020B0603020202020204" pitchFamily="34" charset="0"/>
              </a:rPr>
            </a:br>
            <a:r>
              <a:rPr lang="en-US" sz="2400" dirty="0">
                <a:latin typeface="Trebuchet MS" panose="020B0603020202020204" pitchFamily="34" charset="0"/>
              </a:rPr>
              <a:t>Let </a:t>
            </a:r>
            <a:r>
              <a:rPr lang="en-US" sz="2400" b="1" i="1" dirty="0">
                <a:latin typeface="Trebuchet MS" panose="020B0603020202020204" pitchFamily="34" charset="0"/>
              </a:rPr>
              <a:t>R</a:t>
            </a:r>
            <a:r>
              <a:rPr lang="en-US" sz="2400" dirty="0">
                <a:latin typeface="Trebuchet MS" panose="020B0603020202020204" pitchFamily="34" charset="0"/>
              </a:rPr>
              <a:t> be a relation on </a:t>
            </a:r>
            <a:r>
              <a:rPr lang="en-US" sz="2400" b="1" i="1" dirty="0">
                <a:latin typeface="Trebuchet MS" panose="020B0603020202020204" pitchFamily="34" charset="0"/>
              </a:rPr>
              <a:t>A</a:t>
            </a:r>
            <a:r>
              <a:rPr lang="en-US" sz="2400" dirty="0">
                <a:latin typeface="Trebuchet MS" panose="020B0603020202020204" pitchFamily="34" charset="0"/>
              </a:rPr>
              <a:t>,</a:t>
            </a:r>
            <a:r>
              <a:rPr lang="en-US" altLang="zh-CN" sz="1600" dirty="0"/>
              <a:t>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i="1" dirty="0">
                <a:latin typeface="Trebuchet MS" panose="020B0603020202020204" pitchFamily="34" charset="0"/>
              </a:rPr>
              <a:t>​</a:t>
            </a:r>
            <a:r>
              <a:rPr lang="en-US" altLang="zh-CN" sz="2400" dirty="0">
                <a:latin typeface="Trebuchet MS" panose="020B0603020202020204" pitchFamily="34" charset="0"/>
              </a:rPr>
              <a:t> is the Identity Relation on Set </a:t>
            </a:r>
            <a:r>
              <a:rPr lang="en-US" altLang="zh-CN" sz="2400" b="1" i="1" dirty="0">
                <a:latin typeface="Trebuchet MS" panose="020B0603020202020204" pitchFamily="34" charset="0"/>
              </a:rPr>
              <a:t>A</a:t>
            </a:r>
            <a:r>
              <a:rPr lang="en-US" sz="2400" dirty="0">
                <a:latin typeface="Trebuchet MS" panose="020B0603020202020204" pitchFamily="34" charset="0"/>
              </a:rPr>
              <a:t> then</a:t>
            </a:r>
            <a:r>
              <a:rPr lang="en-US" sz="2400" b="1" dirty="0">
                <a:latin typeface="Trebuchet MS" panose="020B0603020202020204" pitchFamily="34" charset="0"/>
              </a:rPr>
              <a:t>   </a:t>
            </a:r>
            <a:r>
              <a:rPr lang="fr-FR"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r>
              <a:rPr lang="fr-FR" altLang="zh-CN" sz="2400" b="1" dirty="0">
                <a:latin typeface="Trebuchet MS" panose="020B0603020202020204" pitchFamily="34" charset="0"/>
              </a:rPr>
              <a:t>= </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a:t>
            </a:r>
            <a:r>
              <a:rPr lang="fr-FR" altLang="zh-CN" sz="2400" b="1" i="1" dirty="0">
                <a:latin typeface="Trebuchet MS" panose="020B0603020202020204" pitchFamily="34" charset="0"/>
              </a:rPr>
              <a:t>R </a:t>
            </a:r>
            <a:r>
              <a:rPr lang="fr-FR" altLang="zh-CN" sz="2400" b="1" dirty="0">
                <a:latin typeface="Trebuchet MS" panose="020B0603020202020204" pitchFamily="34" charset="0"/>
              </a:rPr>
              <a:t>= </a:t>
            </a:r>
            <a:r>
              <a:rPr lang="fr-FR" altLang="zh-CN" sz="2400" b="1" i="1" dirty="0">
                <a:latin typeface="Trebuchet MS" panose="020B0603020202020204" pitchFamily="34" charset="0"/>
              </a:rPr>
              <a:t>R</a:t>
            </a:r>
          </a:p>
          <a:p>
            <a:pPr eaLnBrk="1" hangingPunct="1">
              <a:lnSpc>
                <a:spcPct val="120000"/>
              </a:lnSpc>
              <a:spcBef>
                <a:spcPts val="300"/>
              </a:spcBef>
              <a:buFontTx/>
              <a:buNone/>
            </a:pPr>
            <a:r>
              <a:rPr lang="fr-FR" altLang="zh-CN" sz="2400" b="1" i="1" dirty="0">
                <a:latin typeface="Trebuchet MS" panose="020B0603020202020204" pitchFamily="34" charset="0"/>
              </a:rPr>
              <a:t> </a:t>
            </a:r>
          </a:p>
          <a:p>
            <a:pPr eaLnBrk="1" hangingPunct="1">
              <a:lnSpc>
                <a:spcPct val="120000"/>
              </a:lnSpc>
              <a:spcBef>
                <a:spcPts val="30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r>
              <a:rPr lang="zh-CN" altLang="en-US" sz="2400" b="1" dirty="0">
                <a:latin typeface="Trebuchet MS" panose="020B0603020202020204" pitchFamily="34" charset="0"/>
              </a:rPr>
              <a:t>  </a:t>
            </a:r>
            <a:r>
              <a:rPr lang="en-US" altLang="zh-CN" sz="2400" b="1" dirty="0">
                <a:latin typeface="Trebuchet MS" panose="020B0603020202020204" pitchFamily="34" charset="0"/>
              </a:rPr>
              <a:t>For any pair </a:t>
            </a:r>
            <a:r>
              <a:rPr lang="fr-FR" altLang="zh-CN" sz="2400" b="1" dirty="0">
                <a:latin typeface="Trebuchet MS" panose="020B0603020202020204" pitchFamily="34" charset="0"/>
              </a:rPr>
              <a:t>&lt;</a:t>
            </a:r>
            <a:r>
              <a:rPr lang="fr-FR" altLang="zh-CN" sz="2400" b="1" i="1" dirty="0">
                <a:latin typeface="Trebuchet MS" panose="020B0603020202020204" pitchFamily="34" charset="0"/>
              </a:rPr>
              <a:t>x</a:t>
            </a:r>
            <a:r>
              <a:rPr lang="fr-FR" altLang="zh-CN" sz="2400" b="1" dirty="0">
                <a:latin typeface="Trebuchet MS" panose="020B0603020202020204" pitchFamily="34" charset="0"/>
              </a:rPr>
              <a:t>, </a:t>
            </a:r>
            <a:r>
              <a:rPr lang="fr-FR" altLang="zh-CN" sz="2400" b="1" i="1" dirty="0">
                <a:latin typeface="Trebuchet MS" panose="020B0603020202020204" pitchFamily="34" charset="0"/>
              </a:rPr>
              <a:t>y</a:t>
            </a:r>
            <a:r>
              <a:rPr lang="fr-FR" altLang="zh-CN" sz="2400" b="1" dirty="0">
                <a:latin typeface="Trebuchet MS" panose="020B0603020202020204" pitchFamily="34" charset="0"/>
              </a:rPr>
              <a:t>&gt;</a:t>
            </a:r>
            <a:br>
              <a:rPr lang="fr-FR" altLang="zh-CN" sz="2400" b="1" dirty="0">
                <a:latin typeface="Trebuchet MS" panose="020B0603020202020204" pitchFamily="34" charset="0"/>
              </a:rPr>
            </a:br>
            <a:r>
              <a:rPr lang="en-US" altLang="zh-CN" sz="2400" b="1" dirty="0">
                <a:latin typeface="Trebuchet MS" panose="020B0603020202020204" pitchFamily="34" charset="0"/>
              </a:rPr>
              <a:t>        </a:t>
            </a:r>
            <a:r>
              <a:rPr lang="fr-FR" altLang="zh-CN" sz="2400" b="1" dirty="0">
                <a:latin typeface="Trebuchet MS" panose="020B0603020202020204" pitchFamily="34" charset="0"/>
              </a:rPr>
              <a:t> &lt;</a:t>
            </a:r>
            <a:r>
              <a:rPr lang="fr-FR" altLang="zh-CN" sz="2400" b="1" i="1" dirty="0">
                <a:latin typeface="Trebuchet MS" panose="020B0603020202020204" pitchFamily="34" charset="0"/>
              </a:rPr>
              <a:t>x</a:t>
            </a:r>
            <a:r>
              <a:rPr lang="fr-FR" altLang="zh-CN" sz="2400" b="1" dirty="0">
                <a:latin typeface="Trebuchet MS" panose="020B0603020202020204" pitchFamily="34" charset="0"/>
              </a:rPr>
              <a:t>, </a:t>
            </a:r>
            <a:r>
              <a:rPr lang="fr-FR" altLang="zh-CN" sz="2400" b="1" i="1" dirty="0">
                <a:latin typeface="Trebuchet MS" panose="020B0603020202020204" pitchFamily="34" charset="0"/>
              </a:rPr>
              <a:t>y</a:t>
            </a:r>
            <a:r>
              <a:rPr lang="fr-FR" altLang="zh-CN" sz="2400" b="1" dirty="0">
                <a:latin typeface="Trebuchet MS" panose="020B0603020202020204" pitchFamily="34" charset="0"/>
              </a:rPr>
              <a:t>&gt;∈</a:t>
            </a:r>
            <a:r>
              <a:rPr lang="fr-FR"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br>
              <a:rPr lang="fr-FR" altLang="zh-CN" sz="2400" b="1" dirty="0">
                <a:latin typeface="Trebuchet MS" panose="020B0603020202020204" pitchFamily="34" charset="0"/>
              </a:rPr>
            </a:br>
            <a:r>
              <a:rPr lang="fr-FR"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fr-FR" altLang="zh-CN" sz="2400" b="1" i="1" dirty="0">
                <a:latin typeface="Trebuchet MS" panose="020B0603020202020204" pitchFamily="34" charset="0"/>
              </a:rPr>
              <a:t>t </a:t>
            </a:r>
            <a:r>
              <a:rPr lang="fr-FR" altLang="zh-CN" sz="2400" b="1" dirty="0">
                <a:latin typeface="Trebuchet MS" panose="020B0603020202020204" pitchFamily="34" charset="0"/>
              </a:rPr>
              <a:t>(&lt;</a:t>
            </a:r>
            <a:r>
              <a:rPr lang="fr-FR" altLang="zh-CN" sz="2400" b="1" i="1" dirty="0">
                <a:latin typeface="Trebuchet MS" panose="020B0603020202020204" pitchFamily="34" charset="0"/>
              </a:rPr>
              <a:t>x</a:t>
            </a:r>
            <a:r>
              <a:rPr lang="fr-FR" altLang="zh-CN" sz="2400" b="1" dirty="0">
                <a:latin typeface="Trebuchet MS" panose="020B0603020202020204" pitchFamily="34" charset="0"/>
              </a:rPr>
              <a:t>, </a:t>
            </a:r>
            <a:r>
              <a:rPr lang="fr-FR" altLang="zh-CN" sz="2400" b="1" i="1" dirty="0">
                <a:latin typeface="Trebuchet MS" panose="020B0603020202020204" pitchFamily="34" charset="0"/>
              </a:rPr>
              <a:t>t</a:t>
            </a:r>
            <a:r>
              <a:rPr lang="fr-FR" altLang="zh-CN" sz="2400" b="1" dirty="0">
                <a:latin typeface="Trebuchet MS" panose="020B0603020202020204" pitchFamily="34" charset="0"/>
              </a:rPr>
              <a:t>&gt;∈</a:t>
            </a:r>
            <a:r>
              <a:rPr lang="fr-FR" altLang="zh-CN" sz="2400" b="1" i="1" dirty="0">
                <a:latin typeface="Trebuchet MS" panose="020B0603020202020204" pitchFamily="34" charset="0"/>
              </a:rPr>
              <a:t>R</a:t>
            </a:r>
            <a:r>
              <a:rPr lang="fr-FR" altLang="zh-CN" sz="2400" b="1" dirty="0">
                <a:latin typeface="Trebuchet MS" panose="020B0603020202020204" pitchFamily="34" charset="0"/>
              </a:rPr>
              <a:t>∧&lt;</a:t>
            </a:r>
            <a:r>
              <a:rPr lang="fr-FR" altLang="zh-CN" sz="2400" b="1" i="1" dirty="0">
                <a:latin typeface="Trebuchet MS" panose="020B0603020202020204" pitchFamily="34" charset="0"/>
              </a:rPr>
              <a:t>t</a:t>
            </a:r>
            <a:r>
              <a:rPr lang="fr-FR" altLang="zh-CN" sz="2400" b="1" dirty="0">
                <a:latin typeface="Trebuchet MS" panose="020B0603020202020204" pitchFamily="34" charset="0"/>
              </a:rPr>
              <a:t>, </a:t>
            </a:r>
            <a:r>
              <a:rPr lang="fr-FR" altLang="zh-CN" sz="2400" b="1" i="1" dirty="0">
                <a:latin typeface="Trebuchet MS" panose="020B0603020202020204" pitchFamily="34" charset="0"/>
              </a:rPr>
              <a:t>y</a:t>
            </a:r>
            <a:r>
              <a:rPr lang="fr-FR" altLang="zh-CN" sz="2400" b="1" dirty="0">
                <a:latin typeface="Trebuchet MS" panose="020B0603020202020204" pitchFamily="34" charset="0"/>
              </a:rPr>
              <a:t>&gt;∈</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r>
              <a:rPr lang="fr-FR" altLang="zh-CN" sz="2400" b="1" dirty="0">
                <a:latin typeface="Trebuchet MS" panose="020B0603020202020204" pitchFamily="34" charset="0"/>
              </a:rPr>
              <a:t>) </a:t>
            </a:r>
            <a:endParaRPr lang="en-US" altLang="zh-CN" sz="2400" b="1" dirty="0">
              <a:latin typeface="Trebuchet MS" panose="020B0603020202020204" pitchFamily="34" charset="0"/>
              <a:sym typeface="Symbol" panose="05050102010706020507" pitchFamily="18" charset="2"/>
            </a:endParaRPr>
          </a:p>
          <a:p>
            <a:pPr eaLnBrk="1" hangingPunct="1">
              <a:lnSpc>
                <a:spcPct val="120000"/>
              </a:lnSpc>
              <a:spcBef>
                <a:spcPts val="300"/>
              </a:spcBef>
              <a:buFontTx/>
              <a:buNone/>
            </a:pP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rPr>
              <a:t>t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a:latin typeface="Trebuchet MS" panose="020B0603020202020204" pitchFamily="34" charset="0"/>
              </a:rPr>
              <a:t>t</a:t>
            </a:r>
            <a:r>
              <a:rPr lang="en-US" altLang="zh-CN" sz="2400" b="1" dirty="0">
                <a:latin typeface="Trebuchet MS" panose="020B0603020202020204" pitchFamily="34" charset="0"/>
              </a:rPr>
              <a:t>&gt;∈</a:t>
            </a:r>
            <a:r>
              <a:rPr lang="en-US" altLang="zh-CN" sz="2400" b="1" i="1" dirty="0" err="1">
                <a:latin typeface="Trebuchet MS" panose="020B0603020202020204" pitchFamily="34" charset="0"/>
              </a:rPr>
              <a:t>R</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a:latin typeface="Trebuchet MS" panose="020B0603020202020204" pitchFamily="34" charset="0"/>
              </a:rPr>
              <a:t>)   </a:t>
            </a:r>
            <a:endParaRPr lang="en-US" altLang="zh-CN" sz="2400" b="1" dirty="0">
              <a:latin typeface="Trebuchet MS" panose="020B0603020202020204" pitchFamily="34" charset="0"/>
              <a:sym typeface="Symbol" panose="05050102010706020507" pitchFamily="18" charset="2"/>
            </a:endParaRPr>
          </a:p>
          <a:p>
            <a:pPr eaLnBrk="1" hangingPunct="1">
              <a:lnSpc>
                <a:spcPct val="120000"/>
              </a:lnSpc>
              <a:spcBef>
                <a:spcPts val="300"/>
              </a:spcBef>
              <a:buFontTx/>
              <a:buNone/>
            </a:pPr>
            <a:r>
              <a:rPr lang="en-US" altLang="zh-CN" sz="2400" b="1" dirty="0">
                <a:latin typeface="Trebuchet MS" panose="020B0603020202020204" pitchFamily="34" charset="0"/>
                <a:sym typeface="Symbol" panose="05050102010706020507" pitchFamily="18" charset="2"/>
              </a:rPr>
              <a:t>         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&gt;∈</a:t>
            </a:r>
            <a:r>
              <a:rPr lang="en-US" altLang="zh-CN" sz="2400" b="1" i="1" dirty="0">
                <a:latin typeface="Trebuchet MS" panose="020B0603020202020204" pitchFamily="34" charset="0"/>
              </a:rPr>
              <a:t>R</a:t>
            </a:r>
            <a:endParaRPr lang="en-US" altLang="zh-CN" sz="2400" b="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Thus, </a:t>
            </a:r>
            <a:r>
              <a:rPr lang="fr-FR"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r>
              <a:rPr lang="fr-FR" altLang="zh-CN" sz="2400" b="1" dirty="0">
                <a:latin typeface="Trebuchet MS" panose="020B0603020202020204" pitchFamily="34" charset="0"/>
              </a:rPr>
              <a:t>=R. </a:t>
            </a:r>
          </a:p>
          <a:p>
            <a:pPr eaLnBrk="1" hangingPunct="1">
              <a:lnSpc>
                <a:spcPct val="120000"/>
              </a:lnSpc>
              <a:spcBef>
                <a:spcPts val="300"/>
              </a:spcBef>
              <a:buFontTx/>
              <a:buNone/>
            </a:pPr>
            <a:r>
              <a:rPr lang="en-US" sz="2400" dirty="0">
                <a:latin typeface="Trebuchet MS" panose="020B0603020202020204" pitchFamily="34" charset="0"/>
              </a:rPr>
              <a:t>   Similarly, we can prove that </a:t>
            </a:r>
            <a:r>
              <a:rPr lang="fr-FR" altLang="zh-CN" sz="2400" b="1" i="1" dirty="0">
                <a:latin typeface="Trebuchet MS" panose="020B0603020202020204" pitchFamily="34" charset="0"/>
              </a:rPr>
              <a:t>I</a:t>
            </a:r>
            <a:r>
              <a:rPr lang="fr-FR"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a:t>
            </a:r>
            <a:r>
              <a:rPr lang="fr-FR" altLang="zh-CN" sz="2400" b="1" i="1" dirty="0">
                <a:latin typeface="Trebuchet MS" panose="020B0603020202020204" pitchFamily="34" charset="0"/>
              </a:rPr>
              <a:t>R</a:t>
            </a:r>
            <a:r>
              <a:rPr lang="fr-FR" altLang="zh-CN" sz="2400" b="1" dirty="0">
                <a:latin typeface="Trebuchet MS" panose="020B0603020202020204" pitchFamily="34" charset="0"/>
              </a:rPr>
              <a:t>=</a:t>
            </a:r>
            <a:r>
              <a:rPr lang="fr-FR" altLang="zh-CN" sz="2400" b="1" i="1" dirty="0">
                <a:latin typeface="Trebuchet MS" panose="020B0603020202020204" pitchFamily="34" charset="0"/>
              </a:rPr>
              <a:t>R.</a:t>
            </a:r>
            <a:endParaRPr kumimoji="0" lang="en-US" altLang="zh-CN" sz="2400" b="1" dirty="0">
              <a:latin typeface="Trebuchet MS" panose="020B0603020202020204" pitchFamily="34" charset="0"/>
            </a:endParaRPr>
          </a:p>
        </p:txBody>
      </p:sp>
    </p:spTree>
    <p:extLst>
      <p:ext uri="{BB962C8B-B14F-4D97-AF65-F5344CB8AC3E}">
        <p14:creationId xmlns:p14="http://schemas.microsoft.com/office/powerpoint/2010/main" val="2433053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fade">
                                      <p:cBhvr>
                                        <p:cTn id="31" dur="1000"/>
                                        <p:tgtEl>
                                          <p:spTgt spid="8">
                                            <p:txEl>
                                              <p:pRg st="6" end="6"/>
                                            </p:txEl>
                                          </p:spTgt>
                                        </p:tgtEl>
                                      </p:cBhvr>
                                    </p:animEffect>
                                    <p:anim calcmode="lin" valueType="num">
                                      <p:cBhvr>
                                        <p:cTn id="32"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Power Operations of Relations</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 n-</a:t>
            </a:r>
            <a:r>
              <a:rPr lang="en-US" altLang="zh-CN" sz="2400" b="1" dirty="0" err="1"/>
              <a:t>th</a:t>
            </a:r>
            <a:r>
              <a:rPr lang="en-US" altLang="zh-CN" sz="2400" b="1" dirty="0"/>
              <a:t> power of R</a:t>
            </a:r>
            <a:r>
              <a:rPr lang="zh-CN" altLang="en-US" sz="2400" b="1" dirty="0"/>
              <a:t>（</a:t>
            </a:r>
            <a:r>
              <a:rPr lang="en-US" altLang="zh-CN" sz="2400" b="1" i="1" dirty="0"/>
              <a:t>R</a:t>
            </a:r>
            <a:r>
              <a:rPr lang="en-US" altLang="zh-CN" sz="2400" b="1" i="1" baseline="30000" dirty="0"/>
              <a:t>n</a:t>
            </a:r>
            <a:r>
              <a:rPr lang="zh-CN" altLang="en-US" sz="2400" b="1" dirty="0"/>
              <a:t>）</a:t>
            </a:r>
            <a:endParaRPr lang="en-US" altLang="zh-CN"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8622845" cy="48845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4.13</a:t>
            </a:r>
            <a:r>
              <a:rPr lang="zh-CN" altLang="en-US" sz="2400" b="1" dirty="0">
                <a:latin typeface="Trebuchet MS" panose="020B0603020202020204" pitchFamily="34" charset="0"/>
              </a:rPr>
              <a:t>：</a:t>
            </a:r>
            <a:r>
              <a:rPr lang="en-US" altLang="zh-CN" sz="2400" b="1" i="1" dirty="0"/>
              <a:t> R</a:t>
            </a:r>
            <a:r>
              <a:rPr lang="en-US" altLang="zh-CN" sz="2400" b="1" i="1" baseline="30000" dirty="0"/>
              <a:t>n</a:t>
            </a:r>
            <a:br>
              <a:rPr lang="en-US" sz="2400" dirty="0">
                <a:latin typeface="Trebuchet MS" panose="020B0603020202020204" pitchFamily="34" charset="0"/>
              </a:rPr>
            </a:br>
            <a:r>
              <a:rPr lang="en-US" sz="2400" dirty="0">
                <a:latin typeface="Trebuchet MS" panose="020B0603020202020204" pitchFamily="34" charset="0"/>
              </a:rPr>
              <a:t>Let </a:t>
            </a:r>
            <a:r>
              <a:rPr lang="en-US" sz="2400" b="1" i="1" dirty="0">
                <a:latin typeface="Trebuchet MS" panose="020B0603020202020204" pitchFamily="34" charset="0"/>
              </a:rPr>
              <a:t>R</a:t>
            </a:r>
            <a:r>
              <a:rPr lang="en-US" sz="2400" dirty="0">
                <a:latin typeface="Trebuchet MS" panose="020B0603020202020204" pitchFamily="34" charset="0"/>
              </a:rPr>
              <a:t> be a relation on </a:t>
            </a:r>
            <a:r>
              <a:rPr lang="en-US" sz="2400" b="1" i="1" dirty="0">
                <a:latin typeface="Trebuchet MS" panose="020B0603020202020204" pitchFamily="34" charset="0"/>
              </a:rPr>
              <a:t>A</a:t>
            </a:r>
            <a:r>
              <a:rPr lang="en-US" sz="2400" dirty="0">
                <a:latin typeface="Trebuchet MS" panose="020B0603020202020204" pitchFamily="34" charset="0"/>
              </a:rPr>
              <a:t>, and </a:t>
            </a:r>
            <a:r>
              <a:rPr lang="en-US" sz="2400" b="1" i="1" dirty="0">
                <a:latin typeface="Trebuchet MS" panose="020B0603020202020204" pitchFamily="34" charset="0"/>
              </a:rPr>
              <a:t>n</a:t>
            </a:r>
            <a:r>
              <a:rPr lang="en-US" sz="2400" dirty="0">
                <a:latin typeface="Trebuchet MS" panose="020B0603020202020204" pitchFamily="34" charset="0"/>
              </a:rPr>
              <a:t> be a natural number. The </a:t>
            </a:r>
            <a:r>
              <a:rPr lang="en-US" sz="2400" b="1" i="1" dirty="0">
                <a:latin typeface="Trebuchet MS" panose="020B0603020202020204" pitchFamily="34" charset="0"/>
              </a:rPr>
              <a:t>n-</a:t>
            </a:r>
            <a:r>
              <a:rPr lang="en-US" sz="2400" b="1" i="1" dirty="0" err="1">
                <a:latin typeface="Trebuchet MS" panose="020B0603020202020204" pitchFamily="34" charset="0"/>
              </a:rPr>
              <a:t>th</a:t>
            </a:r>
            <a:r>
              <a:rPr lang="en-US" sz="2400" b="1" i="1" dirty="0">
                <a:latin typeface="Trebuchet MS" panose="020B0603020202020204" pitchFamily="34" charset="0"/>
              </a:rPr>
              <a:t> power of R </a:t>
            </a:r>
            <a:r>
              <a:rPr lang="en-US" sz="2400" dirty="0">
                <a:latin typeface="Trebuchet MS" panose="020B0603020202020204" pitchFamily="34" charset="0"/>
              </a:rPr>
              <a:t>is defined as:</a:t>
            </a: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 |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p>
          <a:p>
            <a:pPr eaLnBrk="1" hangingPunct="1">
              <a:lnSpc>
                <a:spcPct val="120000"/>
              </a:lnSpc>
              <a:spcBef>
                <a:spcPct val="0"/>
              </a:spcBef>
              <a:buFontTx/>
              <a:buNone/>
            </a:pP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n</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R</a:t>
            </a:r>
            <a:br>
              <a:rPr kumimoji="0" lang="en-US" altLang="zh-CN" sz="2400" b="1" dirty="0">
                <a:latin typeface="Trebuchet MS" panose="020B0603020202020204" pitchFamily="34" charset="0"/>
              </a:rPr>
            </a:br>
            <a:endParaRPr kumimoji="0" lang="en-US" altLang="zh-CN" sz="2400" b="1" dirty="0">
              <a:latin typeface="Trebuchet MS" panose="020B0603020202020204" pitchFamily="34" charset="0"/>
            </a:endParaRPr>
          </a:p>
          <a:p>
            <a:pPr eaLnBrk="1" hangingPunct="1">
              <a:lnSpc>
                <a:spcPct val="120000"/>
              </a:lnSpc>
              <a:spcBef>
                <a:spcPct val="0"/>
              </a:spcBef>
              <a:buFontTx/>
              <a:buNone/>
            </a:pPr>
            <a:r>
              <a:rPr kumimoji="0" lang="en-US" altLang="zh-CN" sz="2400" b="1" dirty="0">
                <a:latin typeface="Trebuchet MS" panose="020B0603020202020204" pitchFamily="34" charset="0"/>
              </a:rPr>
              <a:t>    Note:</a:t>
            </a:r>
            <a:endParaRPr kumimoji="0" lang="zh-CN" altLang="en-US" sz="2400" b="1" dirty="0">
              <a:latin typeface="Trebuchet MS" panose="020B0603020202020204" pitchFamily="34" charset="0"/>
            </a:endParaRPr>
          </a:p>
          <a:p>
            <a:pPr marL="446088" indent="0" eaLnBrk="1" hangingPunct="1">
              <a:lnSpc>
                <a:spcPct val="120000"/>
              </a:lnSpc>
              <a:spcBef>
                <a:spcPct val="0"/>
              </a:spcBef>
              <a:buClr>
                <a:srgbClr val="0B5BFF"/>
              </a:buClr>
              <a:buSzPct val="120000"/>
            </a:pPr>
            <a:r>
              <a:rPr lang="en-US" altLang="zh-CN" sz="2400" dirty="0">
                <a:latin typeface="Trebuchet MS" panose="020B0603020202020204" pitchFamily="34" charset="0"/>
              </a:rPr>
              <a:t> For</a:t>
            </a:r>
            <a:r>
              <a:rPr lang="zh-CN" altLang="en-US" sz="2400" dirty="0">
                <a:latin typeface="Trebuchet MS" panose="020B0603020202020204" pitchFamily="34" charset="0"/>
              </a:rPr>
              <a:t> </a:t>
            </a:r>
            <a:r>
              <a:rPr lang="en-US" altLang="zh-CN" sz="2400" dirty="0">
                <a:latin typeface="Trebuchet MS" panose="020B0603020202020204" pitchFamily="34" charset="0"/>
              </a:rPr>
              <a:t>any</a:t>
            </a:r>
            <a:r>
              <a:rPr lang="zh-CN" altLang="en-US" sz="2400" dirty="0">
                <a:latin typeface="Trebuchet MS" panose="020B0603020202020204" pitchFamily="34" charset="0"/>
              </a:rPr>
              <a:t> </a:t>
            </a:r>
            <a:r>
              <a:rPr lang="en-US" altLang="zh-CN" sz="2400" dirty="0">
                <a:latin typeface="Trebuchet MS" panose="020B0603020202020204" pitchFamily="34" charset="0"/>
              </a:rPr>
              <a:t>relations</a:t>
            </a:r>
            <a:r>
              <a:rPr lang="zh-CN" altLang="en-US" sz="2400" dirty="0">
                <a:latin typeface="Trebuchet MS" panose="020B0603020202020204" pitchFamily="34" charset="0"/>
              </a:rPr>
              <a:t> </a:t>
            </a:r>
            <a:r>
              <a:rPr lang="en-US" altLang="zh-CN" sz="2400" b="1" i="1" dirty="0">
                <a:latin typeface="Trebuchet MS" panose="020B0603020202020204" pitchFamily="34" charset="0"/>
              </a:rPr>
              <a:t>R</a:t>
            </a:r>
            <a:r>
              <a:rPr lang="en-US" altLang="zh-CN" sz="2400" baseline="-25000" dirty="0">
                <a:latin typeface="Trebuchet MS" panose="020B0603020202020204" pitchFamily="34" charset="0"/>
              </a:rPr>
              <a:t>1</a:t>
            </a:r>
            <a:r>
              <a:rPr lang="zh-CN" altLang="en-US" sz="2400" dirty="0">
                <a:latin typeface="Trebuchet MS" panose="020B0603020202020204" pitchFamily="34" charset="0"/>
              </a:rPr>
              <a:t> </a:t>
            </a:r>
            <a:r>
              <a:rPr lang="en-US" altLang="zh-CN" sz="2400" dirty="0">
                <a:latin typeface="Trebuchet MS" panose="020B0603020202020204" pitchFamily="34" charset="0"/>
              </a:rPr>
              <a:t>and</a:t>
            </a:r>
            <a:r>
              <a:rPr lang="zh-CN" altLang="en-US" sz="2400" dirty="0">
                <a:latin typeface="Trebuchet MS" panose="020B0603020202020204" pitchFamily="34" charset="0"/>
              </a:rPr>
              <a:t> </a:t>
            </a:r>
            <a:r>
              <a:rPr lang="en-US" altLang="zh-CN" sz="2400" b="1" i="1" dirty="0">
                <a:latin typeface="Trebuchet MS" panose="020B0603020202020204" pitchFamily="34" charset="0"/>
              </a:rPr>
              <a:t>R</a:t>
            </a:r>
            <a:r>
              <a:rPr lang="en-US" altLang="zh-CN" sz="2400" baseline="-25000" dirty="0">
                <a:latin typeface="Trebuchet MS" panose="020B0603020202020204" pitchFamily="34" charset="0"/>
              </a:rPr>
              <a:t>2</a:t>
            </a:r>
            <a:r>
              <a:rPr lang="en-US" altLang="zh-CN" sz="2400" dirty="0">
                <a:latin typeface="Trebuchet MS" panose="020B0603020202020204" pitchFamily="34" charset="0"/>
              </a:rPr>
              <a:t> on </a:t>
            </a:r>
            <a:r>
              <a:rPr lang="en-US" altLang="zh-CN" sz="2400" b="1" i="1" dirty="0">
                <a:latin typeface="Trebuchet MS" panose="020B0603020202020204" pitchFamily="34" charset="0"/>
              </a:rPr>
              <a:t>A</a:t>
            </a:r>
            <a:r>
              <a:rPr lang="en-US" altLang="zh-CN" sz="2400" dirty="0">
                <a:latin typeface="Trebuchet MS" panose="020B0603020202020204" pitchFamily="34" charset="0"/>
              </a:rPr>
              <a:t>, we have,</a:t>
            </a:r>
            <a:r>
              <a:rPr lang="zh-CN" altLang="en-US" sz="2400" dirty="0">
                <a:latin typeface="Trebuchet MS" panose="020B0603020202020204" pitchFamily="34" charset="0"/>
              </a:rPr>
              <a:t> </a:t>
            </a:r>
          </a:p>
          <a:p>
            <a:pPr marL="0" indent="0" eaLnBrk="1" hangingPunct="1">
              <a:lnSpc>
                <a:spcPct val="120000"/>
              </a:lnSpc>
              <a:spcBef>
                <a:spcPct val="0"/>
              </a:spcBef>
              <a:buClr>
                <a:srgbClr val="0B5BFF"/>
              </a:buClr>
              <a:buSzPct val="120000"/>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 </a:t>
            </a:r>
          </a:p>
          <a:p>
            <a:pPr marL="446088" indent="0">
              <a:lnSpc>
                <a:spcPct val="120000"/>
              </a:lnSpc>
              <a:spcBef>
                <a:spcPct val="0"/>
              </a:spcBef>
              <a:buClr>
                <a:srgbClr val="0B5BFF"/>
              </a:buClr>
              <a:buSzPct val="120000"/>
            </a:pPr>
            <a:r>
              <a:rPr lang="en-US" altLang="zh-CN" sz="2400" dirty="0">
                <a:latin typeface="Trebuchet MS" panose="020B0603020202020204" pitchFamily="34" charset="0"/>
              </a:rPr>
              <a:t> F</a:t>
            </a:r>
            <a:r>
              <a:rPr lang="en-US" sz="2400" dirty="0">
                <a:latin typeface="Trebuchet MS" panose="020B0603020202020204" pitchFamily="34" charset="0"/>
              </a:rPr>
              <a:t>or any relation </a:t>
            </a:r>
            <a:r>
              <a:rPr lang="en-US" sz="2400" b="1" i="1" dirty="0">
                <a:latin typeface="Trebuchet MS" panose="020B0603020202020204" pitchFamily="34" charset="0"/>
              </a:rPr>
              <a:t>R</a:t>
            </a:r>
            <a:r>
              <a:rPr lang="en-US" sz="2400" dirty="0">
                <a:latin typeface="Trebuchet MS" panose="020B0603020202020204" pitchFamily="34" charset="0"/>
              </a:rPr>
              <a:t> on </a:t>
            </a:r>
            <a:r>
              <a:rPr lang="en-US" sz="2400" b="1" i="1" dirty="0">
                <a:latin typeface="Trebuchet MS" panose="020B0603020202020204" pitchFamily="34" charset="0"/>
              </a:rPr>
              <a:t>A</a:t>
            </a:r>
            <a:r>
              <a:rPr lang="en-US" sz="2400" dirty="0">
                <a:latin typeface="Trebuchet MS" panose="020B0603020202020204" pitchFamily="34" charset="0"/>
              </a:rPr>
              <a:t>, we have:</a:t>
            </a:r>
            <a:r>
              <a:rPr lang="zh-CN" altLang="en-US" sz="2400" dirty="0">
                <a:latin typeface="Trebuchet MS" panose="020B0603020202020204" pitchFamily="34" charset="0"/>
              </a:rPr>
              <a:t> </a:t>
            </a:r>
            <a:r>
              <a:rPr lang="en-US" altLang="zh-CN" sz="2400" b="1" i="1" dirty="0">
                <a:latin typeface="Trebuchet MS" panose="020B0603020202020204" pitchFamily="34" charset="0"/>
              </a:rPr>
              <a:t>R</a:t>
            </a:r>
            <a:r>
              <a:rPr lang="en-US" altLang="zh-CN" sz="2400" baseline="30000" dirty="0">
                <a:latin typeface="Trebuchet MS" panose="020B0603020202020204" pitchFamily="34" charset="0"/>
              </a:rPr>
              <a:t>1</a:t>
            </a:r>
            <a:r>
              <a:rPr lang="en-US" altLang="zh-CN" sz="2400" dirty="0">
                <a:latin typeface="Trebuchet MS" panose="020B0603020202020204" pitchFamily="34" charset="0"/>
              </a:rPr>
              <a:t> = </a:t>
            </a:r>
            <a:r>
              <a:rPr lang="en-US" altLang="zh-CN" sz="2400" b="1" i="1" dirty="0">
                <a:latin typeface="Trebuchet MS" panose="020B0603020202020204" pitchFamily="34" charset="0"/>
              </a:rPr>
              <a:t>R</a:t>
            </a:r>
            <a:endParaRPr lang="en-US" altLang="zh-CN" sz="2400" dirty="0">
              <a:latin typeface="Trebuchet MS" panose="020B0603020202020204" pitchFamily="34" charset="0"/>
            </a:endParaRPr>
          </a:p>
        </p:txBody>
      </p:sp>
      <p:sp>
        <p:nvSpPr>
          <p:cNvPr id="4" name="Rectangle 2">
            <a:extLst>
              <a:ext uri="{FF2B5EF4-FFF2-40B4-BE49-F238E27FC236}">
                <a16:creationId xmlns:a16="http://schemas.microsoft.com/office/drawing/2014/main" id="{A36A0931-26B8-4F47-8BF7-CD184461529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9E46F0EF-50E3-4A9B-9170-F217BBDA26CC}"/>
              </a:ext>
            </a:extLst>
          </p:cNvPr>
          <p:cNvGraphicFramePr>
            <a:graphicFrameLocks noChangeAspect="1"/>
          </p:cNvGraphicFramePr>
          <p:nvPr>
            <p:extLst>
              <p:ext uri="{D42A27DB-BD31-4B8C-83A1-F6EECF244321}">
                <p14:modId xmlns:p14="http://schemas.microsoft.com/office/powerpoint/2010/main" val="4020153914"/>
              </p:ext>
            </p:extLst>
          </p:nvPr>
        </p:nvGraphicFramePr>
        <p:xfrm>
          <a:off x="1197434" y="3439883"/>
          <a:ext cx="311150" cy="374650"/>
        </p:xfrm>
        <a:graphic>
          <a:graphicData uri="http://schemas.openxmlformats.org/presentationml/2006/ole">
            <mc:AlternateContent xmlns:mc="http://schemas.openxmlformats.org/markup-compatibility/2006">
              <mc:Choice xmlns:v="urn:schemas-microsoft-com:vml" Requires="v">
                <p:oleObj name="Visio" r:id="rId5" imgW="584296" imgH="698595" progId="Visio.Drawing.15">
                  <p:embed/>
                </p:oleObj>
              </mc:Choice>
              <mc:Fallback>
                <p:oleObj name="Visio" r:id="rId5" imgW="584296" imgH="698595"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7434" y="3439883"/>
                        <a:ext cx="3111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54468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1000"/>
                                        <p:tgtEl>
                                          <p:spTgt spid="8">
                                            <p:txEl>
                                              <p:pRg st="6" end="6"/>
                                            </p:txEl>
                                          </p:spTgt>
                                        </p:tgtEl>
                                      </p:cBhvr>
                                    </p:animEffect>
                                    <p:anim calcmode="lin" valueType="num">
                                      <p:cBhvr>
                                        <p:cTn id="3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4.2.2 Power Operations of Relations</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t> </a:t>
            </a:r>
            <a:r>
              <a:rPr lang="en-US" altLang="zh-CN" sz="2400" b="1" dirty="0">
                <a:latin typeface="Trebuchet MS" panose="020B0603020202020204" pitchFamily="34" charset="0"/>
              </a:rPr>
              <a:t>Methods of power operations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matrix multiplication</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6" y="852262"/>
            <a:ext cx="10223046" cy="5515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110000"/>
              </a:lnSpc>
              <a:spcBef>
                <a:spcPct val="0"/>
              </a:spcBef>
              <a:buClr>
                <a:srgbClr val="0B5BFF"/>
              </a:buClr>
              <a:buSzPct val="80000"/>
              <a:buFont typeface="Wingdings" panose="05000000000000000000" pitchFamily="2" charset="2"/>
              <a:buChar char="n"/>
              <a:tabLst>
                <a:tab pos="0" algn="l"/>
              </a:tabLst>
            </a:pPr>
            <a:r>
              <a:rPr lang="en-US" sz="2400" dirty="0">
                <a:latin typeface="Trebuchet MS" panose="020B0603020202020204" pitchFamily="34" charset="0"/>
              </a:rPr>
              <a:t>For a relation </a:t>
            </a:r>
            <a:r>
              <a:rPr lang="en-US" sz="2400" b="1" i="1" dirty="0">
                <a:latin typeface="Trebuchet MS" panose="020B0603020202020204" pitchFamily="34" charset="0"/>
              </a:rPr>
              <a:t>R</a:t>
            </a:r>
            <a:r>
              <a:rPr lang="en-US" sz="2400" dirty="0">
                <a:latin typeface="Trebuchet MS" panose="020B0603020202020204" pitchFamily="34" charset="0"/>
              </a:rPr>
              <a:t> represented by a set, computing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n </a:t>
            </a:r>
            <a:r>
              <a:rPr lang="en-US" sz="2400" dirty="0">
                <a:latin typeface="Trebuchet MS" panose="020B0603020202020204" pitchFamily="34" charset="0"/>
              </a:rPr>
              <a:t>means the composition of </a:t>
            </a:r>
            <a:r>
              <a:rPr lang="en-US" sz="2400" b="1" i="1" dirty="0">
                <a:latin typeface="Trebuchet MS" panose="020B0603020202020204" pitchFamily="34" charset="0"/>
              </a:rPr>
              <a:t>R</a:t>
            </a:r>
            <a:r>
              <a:rPr lang="en-US" sz="2400" dirty="0">
                <a:latin typeface="Trebuchet MS" panose="020B0603020202020204" pitchFamily="34" charset="0"/>
              </a:rPr>
              <a:t> with itself </a:t>
            </a:r>
            <a:r>
              <a:rPr lang="en-US" sz="2400" b="1" i="1" dirty="0">
                <a:latin typeface="Trebuchet MS" panose="020B0603020202020204" pitchFamily="34" charset="0"/>
              </a:rPr>
              <a:t>n </a:t>
            </a:r>
            <a:r>
              <a:rPr lang="en-US" sz="2400" dirty="0">
                <a:latin typeface="Trebuchet MS" panose="020B0603020202020204" pitchFamily="34" charset="0"/>
              </a:rPr>
              <a:t>times.</a:t>
            </a:r>
          </a:p>
          <a:p>
            <a:pPr marL="0" indent="0" eaLnBrk="1" hangingPunct="1">
              <a:lnSpc>
                <a:spcPct val="110000"/>
              </a:lnSpc>
              <a:spcBef>
                <a:spcPct val="0"/>
              </a:spcBef>
              <a:buClr>
                <a:srgbClr val="0B5BFF"/>
              </a:buClr>
              <a:buSzPct val="80000"/>
              <a:buFont typeface="Wingdings" panose="05000000000000000000" pitchFamily="2" charset="2"/>
              <a:buChar char="n"/>
              <a:tabLst>
                <a:tab pos="0" algn="l"/>
              </a:tabLst>
            </a:pPr>
            <a:r>
              <a:rPr lang="en-US" sz="2400" dirty="0">
                <a:latin typeface="Trebuchet MS" panose="020B0603020202020204" pitchFamily="34" charset="0"/>
              </a:rPr>
              <a:t>The n-</a:t>
            </a:r>
            <a:r>
              <a:rPr lang="en-US" sz="2400" dirty="0" err="1">
                <a:latin typeface="Trebuchet MS" panose="020B0603020202020204" pitchFamily="34" charset="0"/>
              </a:rPr>
              <a:t>th</a:t>
            </a:r>
            <a:r>
              <a:rPr lang="en-US" sz="2400" dirty="0">
                <a:latin typeface="Trebuchet MS" panose="020B0603020202020204" pitchFamily="34" charset="0"/>
              </a:rPr>
              <a:t> power of a relation is equal to the n-</a:t>
            </a:r>
            <a:r>
              <a:rPr lang="en-US" sz="2400" dirty="0" err="1">
                <a:latin typeface="Trebuchet MS" panose="020B0603020202020204" pitchFamily="34" charset="0"/>
              </a:rPr>
              <a:t>th</a:t>
            </a:r>
            <a:r>
              <a:rPr lang="en-US" sz="2400" dirty="0">
                <a:latin typeface="Trebuchet MS" panose="020B0603020202020204" pitchFamily="34" charset="0"/>
              </a:rPr>
              <a:t> power of its matrix representation.</a:t>
            </a:r>
          </a:p>
          <a:p>
            <a:pPr marL="0" indent="0" eaLnBrk="1" hangingPunct="1">
              <a:lnSpc>
                <a:spcPct val="110000"/>
              </a:lnSpc>
              <a:spcBef>
                <a:spcPct val="0"/>
              </a:spcBef>
              <a:buClr>
                <a:srgbClr val="0B5BFF"/>
              </a:buClr>
              <a:buSzPct val="80000"/>
              <a:buFont typeface="Wingdings" panose="05000000000000000000" pitchFamily="2" charset="2"/>
              <a:buChar char="n"/>
              <a:tabLst>
                <a:tab pos="0" algn="l"/>
              </a:tabLst>
            </a:pPr>
            <a:r>
              <a:rPr lang="en-US" sz="2400" dirty="0">
                <a:latin typeface="Trebuchet MS" panose="020B0603020202020204" pitchFamily="34" charset="0"/>
              </a:rPr>
              <a:t>The matrix representation of a relation is obtained by matrix multiplication, where addition is performed using logical addition</a:t>
            </a:r>
            <a:r>
              <a:rPr lang="en-US" sz="2400" dirty="0">
                <a:latin typeface="Trebuchet MS" panose="020B0603020202020204" pitchFamily="34" charset="0"/>
                <a:ea typeface="等线" panose="02010600030101010101" pitchFamily="2" charset="-122"/>
                <a:cs typeface="Times New Roman" panose="02020603050405020304" pitchFamily="18" charset="0"/>
              </a:rPr>
              <a:t>.</a:t>
            </a:r>
            <a:endParaRPr kumimoji="0" lang="en-US" altLang="zh-CN" sz="2400" b="1" dirty="0">
              <a:latin typeface="Trebuchet MS" panose="020B0603020202020204" pitchFamily="34" charset="0"/>
            </a:endParaRPr>
          </a:p>
          <a:p>
            <a:pPr eaLnBrk="1" hangingPunct="1">
              <a:lnSpc>
                <a:spcPct val="110000"/>
              </a:lnSpc>
              <a:spcBef>
                <a:spcPct val="0"/>
              </a:spcBef>
              <a:buFontTx/>
              <a:buNone/>
            </a:pPr>
            <a:r>
              <a:rPr lang="en-US" altLang="zh-CN" sz="2400" b="1" dirty="0">
                <a:latin typeface="Trebuchet MS" panose="020B0603020202020204" pitchFamily="34" charset="0"/>
              </a:rPr>
              <a:t>       Example</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Let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 {&lt;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c</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d</a:t>
            </a:r>
            <a:r>
              <a:rPr kumimoji="0" lang="en-US" altLang="zh-CN" sz="2400" b="1" dirty="0">
                <a:latin typeface="Trebuchet MS" panose="020B0603020202020204" pitchFamily="34" charset="0"/>
              </a:rPr>
              <a:t>&gt;}, </a:t>
            </a:r>
          </a:p>
          <a:p>
            <a:pPr marL="631825" indent="0" eaLnBrk="1" hangingPunct="1">
              <a:lnSpc>
                <a:spcPct val="110000"/>
              </a:lnSpc>
              <a:spcBef>
                <a:spcPct val="0"/>
              </a:spcBef>
              <a:buFontTx/>
              <a:buNone/>
            </a:pPr>
            <a:r>
              <a:rPr lang="en-US" sz="2400" dirty="0">
                <a:latin typeface="Trebuchet MS" panose="020B0603020202020204" pitchFamily="34" charset="0"/>
              </a:rPr>
              <a:t>Find the powers of </a:t>
            </a:r>
            <a:r>
              <a:rPr lang="en-US" sz="2400" b="1" i="1" dirty="0">
                <a:latin typeface="Trebuchet MS" panose="020B0603020202020204" pitchFamily="34" charset="0"/>
              </a:rPr>
              <a:t>R</a:t>
            </a:r>
            <a:r>
              <a:rPr lang="en-US" sz="2400" dirty="0">
                <a:latin typeface="Trebuchet MS" panose="020B0603020202020204" pitchFamily="34" charset="0"/>
              </a:rPr>
              <a:t>, and represent them using both a matrix and a relation diagram.</a:t>
            </a:r>
          </a:p>
          <a:p>
            <a:pPr eaLnBrk="1" hangingPunct="1">
              <a:lnSpc>
                <a:spcPct val="110000"/>
              </a:lnSpc>
              <a:spcBef>
                <a:spcPct val="0"/>
              </a:spcBef>
              <a:buFontTx/>
              <a:buNone/>
            </a:pPr>
            <a:r>
              <a:rPr lang="en-US" sz="2400" b="1" dirty="0">
                <a:latin typeface="Trebuchet MS" panose="020B0603020202020204" pitchFamily="34" charset="0"/>
              </a:rPr>
              <a:t>Solution</a:t>
            </a:r>
            <a:r>
              <a:rPr lang="en-US" sz="2400" dirty="0">
                <a:latin typeface="Trebuchet MS" panose="020B0603020202020204" pitchFamily="34" charset="0"/>
              </a:rPr>
              <a:t>: The relation matrix for </a:t>
            </a:r>
            <a:r>
              <a:rPr kumimoji="0" lang="en-US" altLang="zh-CN" sz="2400" b="1" i="1" dirty="0">
                <a:latin typeface="Trebuchet MS" panose="020B0603020202020204" pitchFamily="34" charset="0"/>
              </a:rPr>
              <a:t>R</a:t>
            </a:r>
            <a:r>
              <a:rPr lang="en-US" sz="2400" dirty="0">
                <a:latin typeface="Trebuchet MS" panose="020B0603020202020204" pitchFamily="34" charset="0"/>
              </a:rPr>
              <a:t> and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2 </a:t>
            </a:r>
            <a:r>
              <a:rPr lang="en-US" sz="2400" dirty="0">
                <a:latin typeface="Trebuchet MS" panose="020B0603020202020204" pitchFamily="34" charset="0"/>
              </a:rPr>
              <a:t>are as follows:</a:t>
            </a:r>
            <a:endParaRPr kumimoji="0" lang="zh-CN" altLang="en-US" sz="2400" b="1" dirty="0">
              <a:latin typeface="Trebuchet MS" panose="020B0603020202020204" pitchFamily="34" charset="0"/>
            </a:endParaRPr>
          </a:p>
        </p:txBody>
      </p:sp>
      <mc:AlternateContent xmlns:mc="http://schemas.openxmlformats.org/markup-compatibility/2006" xmlns:a14="http://schemas.microsoft.com/office/drawing/2010/main">
        <mc:Choice Requires="a14">
          <p:sp>
            <p:nvSpPr>
              <p:cNvPr id="9" name="Object 5">
                <a:extLst>
                  <a:ext uri="{FF2B5EF4-FFF2-40B4-BE49-F238E27FC236}">
                    <a16:creationId xmlns:a16="http://schemas.microsoft.com/office/drawing/2014/main" id="{88925853-0319-4477-A5CE-8A06D02518DE}"/>
                  </a:ext>
                </a:extLst>
              </p:cNvPr>
              <p:cNvSpPr txBox="1"/>
              <p:nvPr/>
            </p:nvSpPr>
            <p:spPr bwMode="auto">
              <a:xfrm>
                <a:off x="1385207" y="4867728"/>
                <a:ext cx="2244725" cy="1576613"/>
              </a:xfrm>
              <a:prstGeom prst="rect">
                <a:avLst/>
              </a:prstGeom>
              <a:noFill/>
              <a:ln w="9525">
                <a:solidFill>
                  <a:schemeClr val="bg1"/>
                </a:solidFill>
                <a:miter lim="800000"/>
                <a:headEnd/>
                <a:tailEnd/>
              </a:ln>
            </p:spPr>
            <p:txBody>
              <a:bodyPr>
                <a:noAutofit/>
              </a:bodyPr>
              <a:lstStyle/>
              <a:p>
                <a:endParaRPr lang="en-US" altLang="zh-CN" b="1"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b="1" i="1" smtClean="0">
                          <a:solidFill>
                            <a:srgbClr val="000000"/>
                          </a:solidFill>
                          <a:latin typeface="Cambria Math" panose="02040503050406030204" pitchFamily="18" charset="0"/>
                        </a:rPr>
                        <m:t>𝑴</m:t>
                      </m:r>
                      <m:r>
                        <a:rPr lang="zh-CN" altLang="en-US" b="1" i="1" smtClean="0">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𝟏</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mr>
                            <m:mr>
                              <m:e>
                                <m:r>
                                  <a:rPr lang="zh-CN" altLang="en-US" b="1" i="1" smtClean="0">
                                    <a:solidFill>
                                      <a:srgbClr val="000000"/>
                                    </a:solidFill>
                                    <a:latin typeface="Cambria Math" panose="02040503050406030204" pitchFamily="18" charset="0"/>
                                  </a:rPr>
                                  <m:t>𝟏</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𝟏</m:t>
                                </m:r>
                              </m:e>
                              <m:e>
                                <m:r>
                                  <a:rPr lang="zh-CN" altLang="en-US" b="1" i="1" smtClean="0">
                                    <a:solidFill>
                                      <a:srgbClr val="000000"/>
                                    </a:solidFill>
                                    <a:latin typeface="Cambria Math" panose="02040503050406030204" pitchFamily="18" charset="0"/>
                                  </a:rPr>
                                  <m:t>𝟎</m:t>
                                </m:r>
                              </m:e>
                            </m:mr>
                            <m:mr>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𝟏</m:t>
                                </m:r>
                              </m:e>
                            </m:mr>
                            <m:mr>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e>
                                <m:r>
                                  <a:rPr lang="zh-CN" altLang="en-US" b="1" i="1" smtClean="0">
                                    <a:solidFill>
                                      <a:srgbClr val="000000"/>
                                    </a:solidFill>
                                    <a:latin typeface="Cambria Math" panose="02040503050406030204" pitchFamily="18" charset="0"/>
                                  </a:rPr>
                                  <m:t>𝟎</m:t>
                                </m:r>
                              </m:e>
                            </m:mr>
                          </m:m>
                        </m:e>
                      </m:d>
                    </m:oMath>
                  </m:oMathPara>
                </a14:m>
                <a:endParaRPr lang="zh-CN" altLang="en-US" b="1" dirty="0"/>
              </a:p>
            </p:txBody>
          </p:sp>
        </mc:Choice>
        <mc:Fallback xmlns="">
          <p:sp>
            <p:nvSpPr>
              <p:cNvPr id="9" name="Object 5">
                <a:extLst>
                  <a:ext uri="{FF2B5EF4-FFF2-40B4-BE49-F238E27FC236}">
                    <a16:creationId xmlns:a16="http://schemas.microsoft.com/office/drawing/2014/main" id="{88925853-0319-4477-A5CE-8A06D02518DE}"/>
                  </a:ext>
                </a:extLst>
              </p:cNvPr>
              <p:cNvSpPr txBox="1">
                <a:spLocks noRot="1" noChangeAspect="1" noMove="1" noResize="1" noEditPoints="1" noAdjustHandles="1" noChangeArrowheads="1" noChangeShapeType="1" noTextEdit="1"/>
              </p:cNvSpPr>
              <p:nvPr/>
            </p:nvSpPr>
            <p:spPr bwMode="auto">
              <a:xfrm>
                <a:off x="1385207" y="4867728"/>
                <a:ext cx="2244725" cy="1576613"/>
              </a:xfrm>
              <a:prstGeom prst="rect">
                <a:avLst/>
              </a:prstGeom>
              <a:blipFill>
                <a:blip r:embed="rId5"/>
                <a:stretch>
                  <a:fillRect/>
                </a:stretch>
              </a:blipFill>
              <a:ln w="9525">
                <a:solidFill>
                  <a:schemeClr val="bg1"/>
                </a:solid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6">
                <a:extLst>
                  <a:ext uri="{FF2B5EF4-FFF2-40B4-BE49-F238E27FC236}">
                    <a16:creationId xmlns:a16="http://schemas.microsoft.com/office/drawing/2014/main" id="{FB2E0DFB-CB1B-4742-93AA-46EEEE27226F}"/>
                  </a:ext>
                </a:extLst>
              </p:cNvPr>
              <p:cNvSpPr txBox="1"/>
              <p:nvPr/>
            </p:nvSpPr>
            <p:spPr bwMode="auto">
              <a:xfrm>
                <a:off x="3699668" y="5117424"/>
                <a:ext cx="5592209" cy="125072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𝑴</m:t>
                          </m:r>
                        </m:e>
                        <m:sup>
                          <m:r>
                            <a:rPr lang="zh-CN" altLang="en-US" b="1" i="1">
                              <a:solidFill>
                                <a:srgbClr val="000000"/>
                              </a:solidFill>
                              <a:latin typeface="Cambria Math" panose="02040503050406030204" pitchFamily="18" charset="0"/>
                            </a:rPr>
                            <m:t>𝟐</m:t>
                          </m:r>
                        </m:sup>
                      </m:sSup>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
                        </m:e>
                      </m:d>
                      <m:r>
                        <a:rPr lang="zh-CN" altLang="en-US" b="1" i="1">
                          <a:solidFill>
                            <a:srgbClr val="000000"/>
                          </a:solidFill>
                          <a:latin typeface="Cambria Math" panose="02040503050406030204" pitchFamily="18" charset="0"/>
                        </a:rPr>
                        <m:t>  </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
                        </m:e>
                      </m:d>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
                        </m:e>
                      </m:d>
                    </m:oMath>
                  </m:oMathPara>
                </a14:m>
                <a:endParaRPr lang="zh-CN" altLang="en-US" b="1" dirty="0">
                  <a:latin typeface="Trebuchet MS" panose="020B0603020202020204" pitchFamily="34" charset="0"/>
                </a:endParaRPr>
              </a:p>
            </p:txBody>
          </p:sp>
        </mc:Choice>
        <mc:Fallback xmlns="">
          <p:sp>
            <p:nvSpPr>
              <p:cNvPr id="10" name="Object 6">
                <a:extLst>
                  <a:ext uri="{FF2B5EF4-FFF2-40B4-BE49-F238E27FC236}">
                    <a16:creationId xmlns:a16="http://schemas.microsoft.com/office/drawing/2014/main" id="{FB2E0DFB-CB1B-4742-93AA-46EEEE27226F}"/>
                  </a:ext>
                </a:extLst>
              </p:cNvPr>
              <p:cNvSpPr txBox="1">
                <a:spLocks noRot="1" noChangeAspect="1" noMove="1" noResize="1" noEditPoints="1" noAdjustHandles="1" noChangeArrowheads="1" noChangeShapeType="1" noTextEdit="1"/>
              </p:cNvSpPr>
              <p:nvPr/>
            </p:nvSpPr>
            <p:spPr bwMode="auto">
              <a:xfrm>
                <a:off x="3699668" y="5117424"/>
                <a:ext cx="5592209" cy="1250722"/>
              </a:xfrm>
              <a:prstGeom prst="rect">
                <a:avLst/>
              </a:prstGeom>
              <a:blipFill>
                <a:blip r:embed="rId6"/>
                <a:stretch>
                  <a:fillRect/>
                </a:stretch>
              </a:blipFill>
              <a:ln>
                <a:noFill/>
              </a:ln>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2D44FDF7-9F3A-43A8-AD48-A3CDE0AFB8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6757" y="3369230"/>
            <a:ext cx="576355" cy="257697"/>
          </a:xfrm>
          <a:prstGeom prst="rect">
            <a:avLst/>
          </a:prstGeom>
        </p:spPr>
      </p:pic>
    </p:spTree>
    <p:extLst>
      <p:ext uri="{BB962C8B-B14F-4D97-AF65-F5344CB8AC3E}">
        <p14:creationId xmlns:p14="http://schemas.microsoft.com/office/powerpoint/2010/main" val="3997776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5" end="5"/>
                                            </p:txEl>
                                          </p:spTgt>
                                        </p:tgtEl>
                                        <p:attrNameLst>
                                          <p:attrName>style.visibility</p:attrName>
                                        </p:attrNameLst>
                                      </p:cBhvr>
                                      <p:to>
                                        <p:strVal val="visible"/>
                                      </p:to>
                                    </p:set>
                                    <p:animEffect transition="in" filter="fade">
                                      <p:cBhvr>
                                        <p:cTn id="38" dur="1000"/>
                                        <p:tgtEl>
                                          <p:spTgt spid="8">
                                            <p:txEl>
                                              <p:pRg st="5" end="5"/>
                                            </p:txEl>
                                          </p:spTgt>
                                        </p:tgtEl>
                                      </p:cBhvr>
                                    </p:animEffect>
                                    <p:anim calcmode="lin" valueType="num">
                                      <p:cBhvr>
                                        <p:cTn id="3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4.2.2 Power Operations of Relations</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t> </a:t>
            </a:r>
            <a:r>
              <a:rPr lang="en-US" altLang="zh-CN" sz="2400" b="1" dirty="0">
                <a:latin typeface="Trebuchet MS" panose="020B0603020202020204" pitchFamily="34" charset="0"/>
              </a:rPr>
              <a:t>Methods of power operations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t> </a:t>
            </a:r>
            <a:r>
              <a:rPr lang="en-US" altLang="zh-CN" sz="2400" b="1" dirty="0">
                <a:latin typeface="Trebuchet MS" panose="020B0603020202020204" pitchFamily="34" charset="0"/>
              </a:rPr>
              <a:t>matrix multiplication</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6" y="852262"/>
            <a:ext cx="10223046" cy="5515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110000"/>
              </a:lnSpc>
              <a:spcBef>
                <a:spcPct val="0"/>
              </a:spcBef>
              <a:buClr>
                <a:srgbClr val="0B5BFF"/>
              </a:buClr>
              <a:buSzPct val="80000"/>
              <a:buNone/>
              <a:tabLst>
                <a:tab pos="0" algn="l"/>
              </a:tabLst>
            </a:pPr>
            <a:r>
              <a:rPr lang="en-US" altLang="zh-CN" sz="2400" b="1" dirty="0">
                <a:latin typeface="Trebuchet MS" panose="020B0603020202020204" pitchFamily="34" charset="0"/>
              </a:rPr>
              <a:t>       Example</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L</a:t>
            </a:r>
            <a:r>
              <a:rPr kumimoji="0" lang="en-US" altLang="zh-CN" sz="2400" b="1" dirty="0">
                <a:latin typeface="Trebuchet MS" panose="020B0603020202020204" pitchFamily="34" charset="0"/>
              </a:rPr>
              <a:t>et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 {&lt;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c</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d</a:t>
            </a:r>
            <a:r>
              <a:rPr kumimoji="0" lang="en-US" altLang="zh-CN" sz="2400" b="1" dirty="0">
                <a:latin typeface="Trebuchet MS" panose="020B0603020202020204" pitchFamily="34" charset="0"/>
              </a:rPr>
              <a:t>&gt;}, </a:t>
            </a:r>
          </a:p>
          <a:p>
            <a:pPr marL="631825" indent="0" eaLnBrk="1" hangingPunct="1">
              <a:lnSpc>
                <a:spcPct val="110000"/>
              </a:lnSpc>
              <a:spcBef>
                <a:spcPct val="0"/>
              </a:spcBef>
              <a:buFontTx/>
              <a:buNone/>
            </a:pPr>
            <a:r>
              <a:rPr lang="en-US" sz="2400" dirty="0">
                <a:latin typeface="Trebuchet MS" panose="020B0603020202020204" pitchFamily="34" charset="0"/>
              </a:rPr>
              <a:t>Find the powers of </a:t>
            </a:r>
            <a:r>
              <a:rPr lang="en-US" sz="2400" b="1" i="1" dirty="0">
                <a:latin typeface="Trebuchet MS" panose="020B0603020202020204" pitchFamily="34" charset="0"/>
              </a:rPr>
              <a:t>R</a:t>
            </a:r>
            <a:r>
              <a:rPr lang="en-US" sz="2400" dirty="0">
                <a:latin typeface="Trebuchet MS" panose="020B0603020202020204" pitchFamily="34" charset="0"/>
              </a:rPr>
              <a:t>, and represent them using both a matrix and a relation diagram.</a:t>
            </a:r>
          </a:p>
          <a:p>
            <a:pPr>
              <a:lnSpc>
                <a:spcPct val="110000"/>
              </a:lnSpc>
              <a:spcBef>
                <a:spcPct val="0"/>
              </a:spcBef>
              <a:buNone/>
            </a:pPr>
            <a:r>
              <a:rPr lang="en-US" sz="2400" b="1" dirty="0">
                <a:latin typeface="Trebuchet MS" panose="020B0603020202020204" pitchFamily="34" charset="0"/>
              </a:rPr>
              <a:t>Solution</a:t>
            </a:r>
            <a:r>
              <a:rPr lang="en-US" sz="2400" dirty="0">
                <a:latin typeface="Trebuchet MS" panose="020B0603020202020204" pitchFamily="34" charset="0"/>
              </a:rPr>
              <a:t>: The relation matrix for </a:t>
            </a:r>
            <a:r>
              <a:rPr lang="en-US" altLang="zh-CN" sz="2400" b="1" i="1" dirty="0"/>
              <a:t>R</a:t>
            </a:r>
            <a:r>
              <a:rPr lang="en-US" altLang="zh-CN" sz="2400" b="1" baseline="30000" dirty="0"/>
              <a:t>3</a:t>
            </a:r>
            <a:r>
              <a:rPr lang="en-US" sz="2400" dirty="0">
                <a:latin typeface="Trebuchet MS" panose="020B0603020202020204" pitchFamily="34" charset="0"/>
              </a:rPr>
              <a:t> and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4 </a:t>
            </a:r>
            <a:r>
              <a:rPr lang="en-US" sz="2400" dirty="0">
                <a:latin typeface="Trebuchet MS" panose="020B0603020202020204" pitchFamily="34" charset="0"/>
              </a:rPr>
              <a:t>are as follows:</a:t>
            </a:r>
          </a:p>
          <a:p>
            <a:pPr>
              <a:lnSpc>
                <a:spcPct val="110000"/>
              </a:lnSpc>
              <a:spcBef>
                <a:spcPct val="0"/>
              </a:spcBef>
              <a:buNone/>
            </a:pPr>
            <a:endParaRPr lang="en-US" sz="2400" dirty="0">
              <a:latin typeface="Trebuchet MS" panose="020B0603020202020204" pitchFamily="34" charset="0"/>
            </a:endParaRPr>
          </a:p>
          <a:p>
            <a:pPr>
              <a:lnSpc>
                <a:spcPct val="110000"/>
              </a:lnSpc>
              <a:spcBef>
                <a:spcPct val="0"/>
              </a:spcBef>
              <a:buNone/>
            </a:pPr>
            <a:endParaRPr lang="en-US" sz="2400" dirty="0">
              <a:latin typeface="Trebuchet MS" panose="020B0603020202020204" pitchFamily="34" charset="0"/>
            </a:endParaRPr>
          </a:p>
          <a:p>
            <a:pPr>
              <a:lnSpc>
                <a:spcPct val="110000"/>
              </a:lnSpc>
              <a:spcBef>
                <a:spcPct val="0"/>
              </a:spcBef>
              <a:buNone/>
            </a:pPr>
            <a:endParaRPr lang="en-US" sz="2400" dirty="0">
              <a:latin typeface="Trebuchet MS" panose="020B0603020202020204" pitchFamily="34" charset="0"/>
            </a:endParaRPr>
          </a:p>
          <a:p>
            <a:pPr>
              <a:lnSpc>
                <a:spcPct val="110000"/>
              </a:lnSpc>
              <a:spcBef>
                <a:spcPct val="0"/>
              </a:spcBef>
              <a:buNone/>
            </a:pPr>
            <a:endParaRPr lang="en-US" altLang="zh-CN" sz="2400" b="1" i="1" dirty="0">
              <a:latin typeface="Trebuchet MS" panose="020B0603020202020204" pitchFamily="34" charset="0"/>
            </a:endParaRPr>
          </a:p>
          <a:p>
            <a:pPr>
              <a:lnSpc>
                <a:spcPct val="110000"/>
              </a:lnSpc>
              <a:spcBef>
                <a:spcPct val="0"/>
              </a:spcBef>
              <a:buNone/>
            </a:pPr>
            <a:r>
              <a:rPr lang="en-US" altLang="zh-CN" sz="2400" b="1" i="1" dirty="0">
                <a:latin typeface="Trebuchet MS" panose="020B0603020202020204" pitchFamily="34" charset="0"/>
              </a:rPr>
              <a:t>Thus:</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baseline="30000" dirty="0">
                <a:latin typeface="Trebuchet MS" panose="020B0603020202020204" pitchFamily="34" charset="0"/>
              </a:rPr>
              <a:t>4 </a:t>
            </a:r>
            <a:r>
              <a:rPr lang="en-US" altLang="zh-CN" sz="2400" b="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4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 Then</a:t>
            </a:r>
            <a:r>
              <a:rPr lang="zh-CN" altLang="en-US" sz="2400" b="1" dirty="0">
                <a:latin typeface="Trebuchet MS" panose="020B0603020202020204" pitchFamily="34" charset="0"/>
              </a:rPr>
              <a:t> </a:t>
            </a:r>
            <a:r>
              <a:rPr lang="en-US" altLang="zh-CN" sz="2400" b="1" dirty="0">
                <a:latin typeface="Trebuchet MS" panose="020B0603020202020204" pitchFamily="34" charset="0"/>
              </a:rPr>
              <a:t>we</a:t>
            </a:r>
            <a:r>
              <a:rPr lang="zh-CN" altLang="en-US" sz="2400" b="1" dirty="0">
                <a:latin typeface="Trebuchet MS" panose="020B0603020202020204" pitchFamily="34" charset="0"/>
              </a:rPr>
              <a:t> </a:t>
            </a:r>
            <a:r>
              <a:rPr lang="en-US" altLang="zh-CN" sz="2400" b="1" dirty="0">
                <a:latin typeface="Trebuchet MS" panose="020B0603020202020204" pitchFamily="34" charset="0"/>
              </a:rPr>
              <a:t>can</a:t>
            </a:r>
            <a:r>
              <a:rPr lang="zh-CN" altLang="en-US" sz="2400" b="1" dirty="0">
                <a:latin typeface="Trebuchet MS" panose="020B0603020202020204" pitchFamily="34" charset="0"/>
              </a:rPr>
              <a:t> </a:t>
            </a:r>
            <a:r>
              <a:rPr lang="en-US" altLang="zh-CN" sz="2400" b="1" dirty="0">
                <a:latin typeface="Trebuchet MS" panose="020B0603020202020204" pitchFamily="34" charset="0"/>
              </a:rPr>
              <a:t>find</a:t>
            </a:r>
            <a:br>
              <a:rPr lang="zh-CN" altLang="en-US" sz="2400" b="1" dirty="0">
                <a:latin typeface="Trebuchet MS" panose="020B0603020202020204" pitchFamily="34" charset="0"/>
              </a:rPr>
            </a:br>
            <a:r>
              <a:rPr lang="zh-CN" alt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4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6 </a:t>
            </a:r>
            <a:r>
              <a:rPr lang="en-US" altLang="zh-CN" sz="2400" b="1" dirty="0">
                <a:latin typeface="Trebuchet MS" panose="020B0603020202020204" pitchFamily="34" charset="0"/>
              </a:rPr>
              <a:t>= …,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5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7 </a:t>
            </a:r>
            <a:r>
              <a:rPr lang="en-US" altLang="zh-CN" sz="2400" b="1" dirty="0">
                <a:latin typeface="Trebuchet MS" panose="020B0603020202020204" pitchFamily="34" charset="0"/>
              </a:rPr>
              <a:t>= …</a:t>
            </a:r>
            <a:br>
              <a:rPr lang="en-US" altLang="zh-CN" sz="2400" b="1" dirty="0">
                <a:latin typeface="Trebuchet MS" panose="020B0603020202020204" pitchFamily="34" charset="0"/>
              </a:rPr>
            </a:br>
            <a:r>
              <a:rPr lang="en-US" altLang="zh-CN" sz="2400" b="1" dirty="0">
                <a:latin typeface="Trebuchet MS" panose="020B0603020202020204" pitchFamily="34" charset="0"/>
              </a:rPr>
              <a:t>       </a:t>
            </a:r>
          </a:p>
          <a:p>
            <a:pPr>
              <a:lnSpc>
                <a:spcPct val="110000"/>
              </a:lnSpc>
              <a:spcBef>
                <a:spcPct val="0"/>
              </a:spcBef>
              <a:buNone/>
            </a:pPr>
            <a:r>
              <a:rPr lang="en-US" altLang="zh-CN" sz="2400" b="1" i="1" dirty="0">
                <a:latin typeface="Trebuchet MS" panose="020B0603020202020204" pitchFamily="34" charset="0"/>
              </a:rPr>
              <a:t>           R</a:t>
            </a:r>
            <a:r>
              <a:rPr lang="en-US" altLang="zh-CN" sz="2400" b="1" baseline="30000" dirty="0">
                <a:latin typeface="Trebuchet MS" panose="020B0603020202020204" pitchFamily="34" charset="0"/>
              </a:rPr>
              <a:t>0 </a:t>
            </a:r>
            <a:r>
              <a:rPr lang="en-US" altLang="zh-CN" sz="2400" b="1" dirty="0">
                <a:latin typeface="Trebuchet MS" panose="020B0603020202020204" pitchFamily="34" charset="0"/>
              </a:rPr>
              <a:t>=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dirty="0">
                <a:latin typeface="Trebuchet MS" panose="020B0603020202020204" pitchFamily="34" charset="0"/>
              </a:rPr>
              <a:t> relation matrix :</a:t>
            </a:r>
            <a:endParaRPr lang="zh-CN" altLang="en-US" sz="2400" b="1" dirty="0">
              <a:latin typeface="Trebuchet MS" panose="020B0603020202020204" pitchFamily="34" charset="0"/>
            </a:endParaRPr>
          </a:p>
          <a:p>
            <a:pPr>
              <a:lnSpc>
                <a:spcPct val="110000"/>
              </a:lnSpc>
              <a:spcBef>
                <a:spcPct val="0"/>
              </a:spcBef>
              <a:buNone/>
            </a:pPr>
            <a:endParaRPr lang="en-US" sz="2400" dirty="0">
              <a:latin typeface="Trebuchet MS" panose="020B0603020202020204" pitchFamily="34" charset="0"/>
            </a:endParaRPr>
          </a:p>
          <a:p>
            <a:pPr eaLnBrk="1" hangingPunct="1">
              <a:lnSpc>
                <a:spcPct val="110000"/>
              </a:lnSpc>
              <a:spcBef>
                <a:spcPct val="0"/>
              </a:spcBef>
              <a:buFontTx/>
              <a:buNone/>
            </a:pPr>
            <a:endParaRPr kumimoji="0" lang="zh-CN" altLang="en-US" sz="2400" b="1" dirty="0">
              <a:latin typeface="Trebuchet MS" panose="020B0603020202020204" pitchFamily="34" charset="0"/>
            </a:endParaRPr>
          </a:p>
        </p:txBody>
      </p:sp>
      <p:pic>
        <p:nvPicPr>
          <p:cNvPr id="11" name="图片 10">
            <a:extLst>
              <a:ext uri="{FF2B5EF4-FFF2-40B4-BE49-F238E27FC236}">
                <a16:creationId xmlns:a16="http://schemas.microsoft.com/office/drawing/2014/main" id="{2D44FDF7-9F3A-43A8-AD48-A3CDE0AFB8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757" y="963484"/>
            <a:ext cx="576355" cy="257697"/>
          </a:xfrm>
          <a:prstGeom prst="rect">
            <a:avLst/>
          </a:prstGeom>
        </p:spPr>
      </p:pic>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0D39A5DC-6FBB-4314-A733-29C19469A4E1}"/>
                  </a:ext>
                </a:extLst>
              </p:cNvPr>
              <p:cNvSpPr txBox="1"/>
              <p:nvPr/>
            </p:nvSpPr>
            <p:spPr>
              <a:xfrm>
                <a:off x="2757259" y="2520271"/>
                <a:ext cx="5069569" cy="1422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𝑴</m:t>
                          </m:r>
                        </m:e>
                        <m:sup>
                          <m:r>
                            <a:rPr lang="zh-CN" altLang="en-US" b="1" i="1">
                              <a:solidFill>
                                <a:srgbClr val="000000"/>
                              </a:solidFill>
                              <a:latin typeface="Cambria Math" panose="02040503050406030204" pitchFamily="18" charset="0"/>
                            </a:rPr>
                            <m:t>𝟑</m:t>
                          </m:r>
                        </m:sup>
                      </m:sSup>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
                        </m:e>
                      </m:d>
                      <m:r>
                        <a:rPr lang="zh-CN" altLang="en-US" b="1" i="1">
                          <a:solidFill>
                            <a:srgbClr val="000000"/>
                          </a:solidFill>
                          <a:latin typeface="Cambria Math" panose="02040503050406030204" pitchFamily="18" charset="0"/>
                        </a:rPr>
                        <m:t>, </m:t>
                      </m:r>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𝑴</m:t>
                          </m:r>
                        </m:e>
                        <m:sup>
                          <m:r>
                            <a:rPr lang="zh-CN" altLang="en-US" b="1" i="1">
                              <a:solidFill>
                                <a:srgbClr val="000000"/>
                              </a:solidFill>
                              <a:latin typeface="Cambria Math" panose="02040503050406030204" pitchFamily="18" charset="0"/>
                            </a:rPr>
                            <m:t>𝟒</m:t>
                          </m:r>
                        </m:sup>
                      </m:sSup>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
                        </m:e>
                      </m:d>
                    </m:oMath>
                  </m:oMathPara>
                </a14:m>
                <a:endParaRPr lang="zh-CN" altLang="en-US" b="1" dirty="0"/>
              </a:p>
            </p:txBody>
          </p:sp>
        </mc:Choice>
        <mc:Fallback xmlns="">
          <p:sp>
            <p:nvSpPr>
              <p:cNvPr id="12" name="对象 11">
                <a:extLst>
                  <a:ext uri="{FF2B5EF4-FFF2-40B4-BE49-F238E27FC236}">
                    <a16:creationId xmlns:a16="http://schemas.microsoft.com/office/drawing/2014/main" id="{0D39A5DC-6FBB-4314-A733-29C19469A4E1}"/>
                  </a:ext>
                </a:extLst>
              </p:cNvPr>
              <p:cNvSpPr txBox="1">
                <a:spLocks noRot="1" noChangeAspect="1" noMove="1" noResize="1" noEditPoints="1" noAdjustHandles="1" noChangeArrowheads="1" noChangeShapeType="1" noTextEdit="1"/>
              </p:cNvSpPr>
              <p:nvPr/>
            </p:nvSpPr>
            <p:spPr>
              <a:xfrm>
                <a:off x="2757259" y="2520271"/>
                <a:ext cx="5069569" cy="14224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对象 15">
                <a:extLst>
                  <a:ext uri="{FF2B5EF4-FFF2-40B4-BE49-F238E27FC236}">
                    <a16:creationId xmlns:a16="http://schemas.microsoft.com/office/drawing/2014/main" id="{FF7B2443-87C1-4E8F-A425-E68D4A0FA07B}"/>
                  </a:ext>
                </a:extLst>
              </p:cNvPr>
              <p:cNvSpPr txBox="1"/>
              <p:nvPr/>
            </p:nvSpPr>
            <p:spPr>
              <a:xfrm>
                <a:off x="5292043" y="4981937"/>
                <a:ext cx="3066143" cy="129381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𝑴</m:t>
                          </m:r>
                        </m:e>
                        <m:sup>
                          <m:r>
                            <a:rPr lang="zh-CN" altLang="en-US" b="1" i="1">
                              <a:solidFill>
                                <a:srgbClr val="000000"/>
                              </a:solidFill>
                              <a:latin typeface="Cambria Math" panose="02040503050406030204" pitchFamily="18" charset="0"/>
                            </a:rPr>
                            <m:t>𝟎</m:t>
                          </m:r>
                        </m:sup>
                      </m:sSup>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4"/>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𝟏</m:t>
                                </m:r>
                              </m:e>
                            </m:mr>
                          </m:m>
                        </m:e>
                      </m:d>
                    </m:oMath>
                  </m:oMathPara>
                </a14:m>
                <a:endParaRPr lang="zh-CN" altLang="en-US" b="1" dirty="0"/>
              </a:p>
            </p:txBody>
          </p:sp>
        </mc:Choice>
        <mc:Fallback xmlns="">
          <p:sp>
            <p:nvSpPr>
              <p:cNvPr id="16" name="对象 15">
                <a:extLst>
                  <a:ext uri="{FF2B5EF4-FFF2-40B4-BE49-F238E27FC236}">
                    <a16:creationId xmlns:a16="http://schemas.microsoft.com/office/drawing/2014/main" id="{FF7B2443-87C1-4E8F-A425-E68D4A0FA07B}"/>
                  </a:ext>
                </a:extLst>
              </p:cNvPr>
              <p:cNvSpPr txBox="1">
                <a:spLocks noRot="1" noChangeAspect="1" noMove="1" noResize="1" noEditPoints="1" noAdjustHandles="1" noChangeArrowheads="1" noChangeShapeType="1" noTextEdit="1"/>
              </p:cNvSpPr>
              <p:nvPr/>
            </p:nvSpPr>
            <p:spPr>
              <a:xfrm>
                <a:off x="5292043" y="4981937"/>
                <a:ext cx="3066143" cy="1293814"/>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93426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xEl>
                                              <p:pRg st="7" end="7"/>
                                            </p:txEl>
                                          </p:spTgt>
                                        </p:tgtEl>
                                        <p:attrNameLst>
                                          <p:attrName>style.visibility</p:attrName>
                                        </p:attrNameLst>
                                      </p:cBhvr>
                                      <p:to>
                                        <p:strVal val="visible"/>
                                      </p:to>
                                    </p:set>
                                    <p:anim calcmode="lin" valueType="num">
                                      <p:cBhvr additive="base">
                                        <p:cTn id="14"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8">
                                            <p:txEl>
                                              <p:pRg st="8" end="8"/>
                                            </p:txEl>
                                          </p:spTgt>
                                        </p:tgtEl>
                                        <p:attrNameLst>
                                          <p:attrName>style.visibility</p:attrName>
                                        </p:attrNameLst>
                                      </p:cBhvr>
                                      <p:to>
                                        <p:strVal val="visible"/>
                                      </p:to>
                                    </p:set>
                                    <p:animEffect transition="in" filter="fade">
                                      <p:cBhvr>
                                        <p:cTn id="20" dur="1000"/>
                                        <p:tgtEl>
                                          <p:spTgt spid="8">
                                            <p:txEl>
                                              <p:pRg st="8" end="8"/>
                                            </p:txEl>
                                          </p:spTgt>
                                        </p:tgtEl>
                                      </p:cBhvr>
                                    </p:animEffect>
                                    <p:anim calcmode="lin" valueType="num">
                                      <p:cBhvr>
                                        <p:cTn id="21"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2"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1+#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Power Operations of Relations</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Methods of power operations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 </a:t>
            </a:r>
            <a:r>
              <a:rPr lang="en-US" altLang="zh-CN" sz="2400" b="1" dirty="0">
                <a:latin typeface="Trebuchet MS" panose="020B0603020202020204" pitchFamily="34" charset="0"/>
              </a:rPr>
              <a:t>relation diagram </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6" y="765175"/>
            <a:ext cx="8736542" cy="5026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53975" eaLnBrk="1" hangingPunct="1">
              <a:lnSpc>
                <a:spcPct val="120000"/>
              </a:lnSpc>
              <a:spcBef>
                <a:spcPct val="0"/>
              </a:spcBef>
              <a:buFontTx/>
              <a:buNone/>
            </a:pPr>
            <a:r>
              <a:rPr lang="en-US" altLang="zh-CN" sz="2400" dirty="0">
                <a:latin typeface="Trebuchet MS" panose="020B0603020202020204" pitchFamily="34" charset="0"/>
              </a:rPr>
              <a:t>Let </a:t>
            </a:r>
            <a:r>
              <a:rPr lang="en-US" altLang="zh-CN" sz="2400" b="1" i="1" dirty="0">
                <a:latin typeface="Trebuchet MS" panose="020B0603020202020204" pitchFamily="34" charset="0"/>
              </a:rPr>
              <a:t>R</a:t>
            </a:r>
            <a:r>
              <a:rPr lang="en-US" altLang="zh-CN" sz="2400" dirty="0">
                <a:latin typeface="Trebuchet MS" panose="020B0603020202020204" pitchFamily="34" charset="0"/>
              </a:rPr>
              <a:t> be a relation on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d</a:t>
            </a:r>
            <a:r>
              <a:rPr lang="en-US" altLang="zh-CN" sz="2400" b="1" dirty="0">
                <a:latin typeface="Trebuchet MS" panose="020B0603020202020204" pitchFamily="34" charset="0"/>
              </a:rPr>
              <a:t>},</a:t>
            </a:r>
          </a:p>
          <a:p>
            <a:pPr indent="-53975" eaLnBrk="1" hangingPunct="1">
              <a:lnSpc>
                <a:spcPct val="120000"/>
              </a:lnSpc>
              <a:spcBef>
                <a:spcPct val="0"/>
              </a:spcBef>
              <a:buFontTx/>
              <a:buNone/>
            </a:pPr>
            <a:r>
              <a:rPr lang="en-US" altLang="zh-CN" sz="2400" b="1" i="1" dirty="0">
                <a:latin typeface="Trebuchet MS" panose="020B0603020202020204" pitchFamily="34" charset="0"/>
              </a:rPr>
              <a:t>R</a:t>
            </a:r>
            <a:r>
              <a:rPr lang="en-US" altLang="zh-CN" sz="2400" b="1" dirty="0">
                <a:latin typeface="Trebuchet MS" panose="020B0603020202020204" pitchFamily="34" charset="0"/>
              </a:rPr>
              <a:t> = {&lt;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b</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b</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c</a:t>
            </a:r>
            <a:r>
              <a:rPr lang="en-US" altLang="zh-CN" sz="2400" b="1" dirty="0">
                <a:latin typeface="Trebuchet MS" panose="020B0603020202020204" pitchFamily="34" charset="0"/>
              </a:rPr>
              <a:t>&gt;,&lt;</a:t>
            </a:r>
            <a:r>
              <a:rPr lang="en-US" altLang="zh-CN" sz="2400" b="1" i="1" dirty="0" err="1">
                <a:latin typeface="Trebuchet MS" panose="020B0603020202020204" pitchFamily="34" charset="0"/>
              </a:rPr>
              <a:t>c</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d</a:t>
            </a:r>
            <a:r>
              <a:rPr lang="en-US" altLang="zh-CN" sz="2400" b="1" dirty="0">
                <a:latin typeface="Trebuchet MS" panose="020B0603020202020204" pitchFamily="34" charset="0"/>
              </a:rPr>
              <a:t>&gt;},</a:t>
            </a:r>
          </a:p>
          <a:p>
            <a:pPr indent="-53975" eaLnBrk="1" hangingPunct="1">
              <a:lnSpc>
                <a:spcPct val="120000"/>
              </a:lnSpc>
              <a:spcBef>
                <a:spcPct val="0"/>
              </a:spcBef>
              <a:buFontTx/>
              <a:buNone/>
            </a:pPr>
            <a:r>
              <a:rPr lang="en-US" sz="2400" dirty="0">
                <a:latin typeface="Trebuchet MS" panose="020B0603020202020204" pitchFamily="34" charset="0"/>
              </a:rPr>
              <a:t>Using the relation diagram method, the relation diagrams for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3</a:t>
            </a:r>
            <a:endParaRPr lang="en-US" altLang="zh-CN" sz="2400" b="1" dirty="0">
              <a:latin typeface="Trebuchet MS" panose="020B0603020202020204" pitchFamily="34" charset="0"/>
            </a:endParaRPr>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120000"/>
              </a:lnSpc>
              <a:spcBef>
                <a:spcPct val="0"/>
              </a:spcBef>
              <a:buFontTx/>
              <a:buNone/>
            </a:pPr>
            <a:endParaRPr kumimoji="0" lang="zh-CN" altLang="en-US" sz="2000" b="1" dirty="0">
              <a:latin typeface="Arial" panose="020B0604020202020204" pitchFamily="34" charset="0"/>
            </a:endParaRPr>
          </a:p>
        </p:txBody>
      </p:sp>
      <p:pic>
        <p:nvPicPr>
          <p:cNvPr id="10" name="Picture 6" descr="7-3">
            <a:extLst>
              <a:ext uri="{FF2B5EF4-FFF2-40B4-BE49-F238E27FC236}">
                <a16:creationId xmlns:a16="http://schemas.microsoft.com/office/drawing/2014/main" id="{732988DE-733B-4FD8-BEF7-8E18F36BDF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9571" y="2654300"/>
            <a:ext cx="7056438"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423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The properties of a power operations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1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latin typeface="Trebuchet MS" panose="020B0603020202020204" pitchFamily="34"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periodicity or eventual stability</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13738"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6"/>
                <a:ext cx="9741669" cy="52774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4.4</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The periodicity or eventual stability of a power operation under finite exponents</a:t>
                </a:r>
                <a:r>
                  <a:rPr lang="en-US" altLang="zh-CN" sz="2400" b="1"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A </a:t>
                </a:r>
                <a:r>
                  <a:rPr lang="en-US" sz="2400" dirty="0">
                    <a:latin typeface="Trebuchet MS" panose="020B0603020202020204" pitchFamily="34" charset="0"/>
                  </a:rPr>
                  <a:t> be a set with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n </a:t>
                </a:r>
                <a:r>
                  <a:rPr lang="en-US" sz="2400" dirty="0">
                    <a:latin typeface="Trebuchet MS" panose="020B0603020202020204" pitchFamily="34" charset="0"/>
                  </a:rPr>
                  <a:t> elements, and 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a:t>
                </a:r>
                <a:r>
                  <a:rPr lang="en-US" sz="2400" dirty="0">
                    <a:latin typeface="Trebuchet MS" panose="020B0603020202020204" pitchFamily="34" charset="0"/>
                  </a:rPr>
                  <a:t>. Then, there exist natural numbers </a:t>
                </a:r>
                <a:r>
                  <a:rPr kumimoji="0" lang="en-US" altLang="zh-CN" sz="2400" b="1" i="1" dirty="0">
                    <a:latin typeface="Trebuchet MS" panose="020B0603020202020204" pitchFamily="34" charset="0"/>
                  </a:rPr>
                  <a:t>s </a:t>
                </a:r>
                <a:r>
                  <a:rPr lang="en-US" sz="2400" dirty="0">
                    <a:latin typeface="Trebuchet MS" panose="020B0603020202020204" pitchFamily="34" charset="0"/>
                  </a:rPr>
                  <a:t>and </a:t>
                </a:r>
                <a:r>
                  <a:rPr kumimoji="0" lang="en-US" altLang="zh-CN" sz="2400" b="1" i="1" dirty="0">
                    <a:latin typeface="Trebuchet MS" panose="020B0603020202020204" pitchFamily="34" charset="0"/>
                  </a:rPr>
                  <a:t>t</a:t>
                </a:r>
                <a:r>
                  <a:rPr lang="en-US" sz="2400" dirty="0">
                    <a:latin typeface="Trebuchet MS" panose="020B0603020202020204" pitchFamily="34" charset="0"/>
                  </a:rPr>
                  <a:t> such that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s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t</a:t>
                </a:r>
                <a:r>
                  <a:rPr kumimoji="0" lang="en-US" altLang="zh-CN" sz="2400" b="1" dirty="0">
                    <a:latin typeface="Trebuchet MS" panose="020B0603020202020204" pitchFamily="34" charset="0"/>
                  </a:rPr>
                  <a:t>.</a:t>
                </a:r>
              </a:p>
              <a:p>
                <a:pPr>
                  <a:buClr>
                    <a:srgbClr val="0B5BFF"/>
                  </a:buClr>
                  <a:buSzPct val="80000"/>
                  <a:buFont typeface="Wingdings" panose="05000000000000000000" pitchFamily="2" charset="2"/>
                  <a:buChar char="n"/>
                </a:pPr>
                <a:r>
                  <a:rPr lang="en-US" sz="2400" b="1" dirty="0">
                    <a:latin typeface="Trebuchet MS" panose="020B0603020202020204" pitchFamily="34" charset="0"/>
                  </a:rPr>
                  <a:t>Proof </a:t>
                </a:r>
                <a:r>
                  <a:rPr lang="en-US" altLang="zh-CN" sz="2400" b="1" dirty="0">
                    <a:latin typeface="Trebuchet MS" panose="020B0603020202020204" pitchFamily="34" charset="0"/>
                  </a:rPr>
                  <a:t>Outline:</a:t>
                </a:r>
              </a:p>
              <a:p>
                <a:pPr marL="0" indent="0">
                  <a:buClr>
                    <a:srgbClr val="0B5BFF"/>
                  </a:buClr>
                  <a:buSzPct val="80000"/>
                  <a:buNone/>
                </a:pPr>
                <a:r>
                  <a:rPr lang="en-US" altLang="zh-CN" sz="2400" dirty="0">
                    <a:solidFill>
                      <a:srgbClr val="0B5BFF"/>
                    </a:solidFill>
                    <a:latin typeface="Trebuchet MS" panose="020B0603020202020204" pitchFamily="34" charset="0"/>
                  </a:rPr>
                  <a:t>(1) </a:t>
                </a:r>
                <a:r>
                  <a:rPr lang="en-US" altLang="zh-CN" sz="2400" dirty="0">
                    <a:latin typeface="Trebuchet MS" panose="020B0603020202020204" pitchFamily="34" charset="0"/>
                  </a:rPr>
                  <a:t>A relation </a:t>
                </a:r>
                <a:r>
                  <a:rPr lang="en-US" altLang="zh-CN" sz="2400" b="1" i="1" dirty="0">
                    <a:latin typeface="Trebuchet MS" panose="020B0603020202020204" pitchFamily="34" charset="0"/>
                  </a:rPr>
                  <a:t>R</a:t>
                </a:r>
                <a:r>
                  <a:rPr lang="en-US" altLang="zh-CN" sz="2400" dirty="0">
                    <a:latin typeface="Trebuchet MS" panose="020B0603020202020204" pitchFamily="34" charset="0"/>
                  </a:rPr>
                  <a:t> on </a:t>
                </a:r>
                <a:r>
                  <a:rPr lang="en-US" altLang="zh-CN" sz="2400" b="1" i="1" dirty="0">
                    <a:latin typeface="Trebuchet MS" panose="020B0603020202020204" pitchFamily="34" charset="0"/>
                  </a:rPr>
                  <a:t>A</a:t>
                </a:r>
                <a:r>
                  <a:rPr lang="en-US" altLang="zh-CN" sz="2400" dirty="0">
                    <a:latin typeface="Trebuchet MS" panose="020B0603020202020204" pitchFamily="34" charset="0"/>
                  </a:rPr>
                  <a:t> is a subset of </a:t>
                </a:r>
                <a:r>
                  <a:rPr lang="en-US" altLang="zh-CN" sz="2400" b="1" i="1" dirty="0">
                    <a:latin typeface="Trebuchet MS" panose="020B0603020202020204" pitchFamily="34" charset="0"/>
                  </a:rPr>
                  <a:t>A </a:t>
                </a:r>
                <a:r>
                  <a:rPr lang="en-US" altLang="zh-CN" sz="2400" dirty="0">
                    <a:latin typeface="Trebuchet MS" panose="020B0603020202020204" pitchFamily="34" charset="0"/>
                  </a:rPr>
                  <a:t>×</a:t>
                </a:r>
                <a:r>
                  <a:rPr lang="en-US" altLang="zh-CN" sz="2400" b="1" i="1" dirty="0">
                    <a:latin typeface="Trebuchet MS" panose="020B0603020202020204" pitchFamily="34" charset="0"/>
                  </a:rPr>
                  <a:t> A</a:t>
                </a:r>
                <a:r>
                  <a:rPr lang="en-US" altLang="zh-CN" sz="2400" dirty="0">
                    <a:latin typeface="Trebuchet MS" panose="020B0603020202020204" pitchFamily="34" charset="0"/>
                  </a:rPr>
                  <a:t>, which contains </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𝟐</m:t>
                        </m:r>
                      </m:e>
                      <m:sup>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𝒏</m:t>
                            </m:r>
                          </m:e>
                          <m:sup>
                            <m:r>
                              <a:rPr lang="en-US" altLang="zh-CN" sz="2400" b="1" i="1" smtClean="0">
                                <a:latin typeface="Cambria Math" panose="02040503050406030204" pitchFamily="18" charset="0"/>
                              </a:rPr>
                              <m:t>𝟐</m:t>
                            </m:r>
                          </m:sup>
                        </m:sSup>
                      </m:sup>
                    </m:sSup>
                  </m:oMath>
                </a14:m>
                <a:r>
                  <a:rPr lang="en-US" altLang="zh-CN" sz="2400" dirty="0">
                    <a:latin typeface="Trebuchet MS" panose="020B0603020202020204" pitchFamily="34" charset="0"/>
                  </a:rPr>
                  <a:t> at most pairs.</a:t>
                </a:r>
              </a:p>
              <a:p>
                <a:pPr marL="0" indent="0">
                  <a:buClr>
                    <a:srgbClr val="0B5BFF"/>
                  </a:buClr>
                  <a:buSzPct val="80000"/>
                  <a:buNone/>
                </a:pPr>
                <a:r>
                  <a:rPr lang="en-US" altLang="zh-CN" sz="2400" dirty="0">
                    <a:solidFill>
                      <a:srgbClr val="0B5BFF"/>
                    </a:solidFill>
                    <a:latin typeface="Trebuchet MS" panose="020B0603020202020204" pitchFamily="34" charset="0"/>
                  </a:rPr>
                  <a:t>(2) </a:t>
                </a:r>
                <a:r>
                  <a:rPr lang="en-US" altLang="zh-CN" sz="2400" dirty="0">
                    <a:latin typeface="Trebuchet MS" panose="020B0603020202020204" pitchFamily="34" charset="0"/>
                  </a:rPr>
                  <a:t>Since each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s</a:t>
                </a:r>
                <a:r>
                  <a:rPr lang="en-US" altLang="zh-CN" sz="2400" dirty="0">
                    <a:latin typeface="Trebuchet MS" panose="020B0603020202020204" pitchFamily="34" charset="0"/>
                  </a:rPr>
                  <a:t> is a subset of </a:t>
                </a:r>
                <a:r>
                  <a:rPr lang="en-US" altLang="zh-CN" sz="2400" b="1" i="1" dirty="0">
                    <a:latin typeface="Trebuchet MS" panose="020B0603020202020204" pitchFamily="34" charset="0"/>
                  </a:rPr>
                  <a:t>A </a:t>
                </a:r>
                <a:r>
                  <a:rPr lang="en-US" altLang="zh-CN" sz="2400" dirty="0">
                    <a:latin typeface="Trebuchet MS" panose="020B0603020202020204" pitchFamily="34" charset="0"/>
                  </a:rPr>
                  <a:t>×</a:t>
                </a:r>
                <a:r>
                  <a:rPr lang="en-US" altLang="zh-CN" sz="2400" b="1" i="1" dirty="0">
                    <a:latin typeface="Trebuchet MS" panose="020B0603020202020204" pitchFamily="34" charset="0"/>
                  </a:rPr>
                  <a:t> A</a:t>
                </a:r>
                <a:r>
                  <a:rPr lang="en-US" altLang="zh-CN" sz="2400" dirty="0">
                    <a:latin typeface="Trebuchet MS" panose="020B0603020202020204" pitchFamily="34" charset="0"/>
                  </a:rPr>
                  <a:t>, there are at most </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𝟐</m:t>
                        </m:r>
                      </m:e>
                      <m:sup>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𝒏</m:t>
                            </m:r>
                          </m:e>
                          <m:sup>
                            <m:r>
                              <a:rPr lang="en-US" altLang="zh-CN" sz="2400" b="1" i="1" smtClean="0">
                                <a:latin typeface="Cambria Math" panose="02040503050406030204" pitchFamily="18" charset="0"/>
                              </a:rPr>
                              <m:t>𝟐</m:t>
                            </m:r>
                          </m:sup>
                        </m:sSup>
                      </m:sup>
                    </m:sSup>
                    <m:r>
                      <a:rPr lang="en-US" altLang="zh-CN" sz="2400" b="1" i="1" smtClean="0">
                        <a:latin typeface="Cambria Math" panose="02040503050406030204" pitchFamily="18" charset="0"/>
                      </a:rPr>
                      <m:t> </m:t>
                    </m:r>
                  </m:oMath>
                </a14:m>
                <a:r>
                  <a:rPr lang="en-US" altLang="zh-CN" sz="2400" dirty="0">
                    <a:latin typeface="Trebuchet MS" panose="020B0603020202020204" pitchFamily="34" charset="0"/>
                  </a:rPr>
                  <a:t>distinct possible relations.</a:t>
                </a:r>
              </a:p>
              <a:p>
                <a:pPr marL="0" indent="0">
                  <a:buClr>
                    <a:srgbClr val="0B5BFF"/>
                  </a:buClr>
                  <a:buSzPct val="80000"/>
                  <a:buNone/>
                </a:pPr>
                <a:r>
                  <a:rPr lang="en-US" altLang="zh-CN" sz="2400" dirty="0">
                    <a:solidFill>
                      <a:srgbClr val="0B5BFF"/>
                    </a:solidFill>
                    <a:latin typeface="Trebuchet MS" panose="020B0603020202020204" pitchFamily="34" charset="0"/>
                  </a:rPr>
                  <a:t>(3) </a:t>
                </a:r>
                <a:r>
                  <a:rPr lang="en-US" altLang="zh-CN" sz="2400" dirty="0">
                    <a:latin typeface="Trebuchet MS" panose="020B0603020202020204" pitchFamily="34" charset="0"/>
                  </a:rPr>
                  <a:t>The sequence </a:t>
                </a:r>
                <a:r>
                  <a:rPr lang="en-US" altLang="zh-CN" sz="2400" b="1" i="1" dirty="0">
                    <a:latin typeface="Trebuchet MS" panose="020B0603020202020204" pitchFamily="34" charset="0"/>
                  </a:rPr>
                  <a:t>R: R</a:t>
                </a:r>
                <a:r>
                  <a:rPr lang="en-US" altLang="zh-CN" sz="2400" b="1" baseline="30000" dirty="0">
                    <a:latin typeface="Trebuchet MS" panose="020B0603020202020204" pitchFamily="34" charset="0"/>
                  </a:rPr>
                  <a:t>0</a:t>
                </a:r>
                <a:r>
                  <a:rPr lang="en-US" altLang="zh-CN" sz="2400" b="1" i="1" dirty="0">
                    <a:latin typeface="Trebuchet MS" panose="020B0603020202020204" pitchFamily="34" charset="0"/>
                  </a:rPr>
                  <a:t>, R</a:t>
                </a:r>
                <a:r>
                  <a:rPr lang="en-US" altLang="zh-CN" sz="2400" b="1" baseline="30000" dirty="0">
                    <a:latin typeface="Trebuchet MS" panose="020B0603020202020204" pitchFamily="34" charset="0"/>
                  </a:rPr>
                  <a:t>1</a:t>
                </a:r>
                <a:r>
                  <a:rPr lang="en-US" altLang="zh-CN" sz="2400" b="1" i="1" dirty="0">
                    <a:latin typeface="Trebuchet MS" panose="020B0603020202020204" pitchFamily="34" charset="0"/>
                  </a:rPr>
                  <a:t>,</a:t>
                </a:r>
                <a:r>
                  <a:rPr lang="en-US" altLang="zh-CN" sz="2400" b="1" baseline="30000"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i="1" dirty="0">
                    <a:latin typeface="Trebuchet MS" panose="020B0603020202020204" pitchFamily="34" charset="0"/>
                  </a:rPr>
                  <a:t>,…</a:t>
                </a:r>
                <a:r>
                  <a:rPr lang="en-US" altLang="zh-CN" sz="2400" dirty="0">
                    <a:latin typeface="Trebuchet MS" panose="020B0603020202020204" pitchFamily="34" charset="0"/>
                  </a:rPr>
                  <a:t>   has infinitely many indices but only finitely many distinct relations </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𝟐</m:t>
                        </m:r>
                      </m:e>
                      <m:sup>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𝒏</m:t>
                            </m:r>
                          </m:e>
                          <m:sup>
                            <m:r>
                              <a:rPr lang="en-US" altLang="zh-CN" sz="2400" b="1" i="1" smtClean="0">
                                <a:latin typeface="Cambria Math" panose="02040503050406030204" pitchFamily="18" charset="0"/>
                              </a:rPr>
                              <m:t>𝟐</m:t>
                            </m:r>
                          </m:sup>
                        </m:sSup>
                      </m:sup>
                    </m:sSup>
                  </m:oMath>
                </a14:m>
                <a:r>
                  <a:rPr lang="en-US" altLang="zh-CN" sz="2400" dirty="0">
                    <a:latin typeface="Trebuchet MS" panose="020B0603020202020204" pitchFamily="34" charset="0"/>
                  </a:rPr>
                  <a:t>, so by the pigeonhole principle, there exist </a:t>
                </a:r>
                <a:r>
                  <a:rPr lang="en-US" altLang="zh-CN" sz="2400" dirty="0" err="1">
                    <a:latin typeface="Trebuchet MS" panose="020B0603020202020204" pitchFamily="34" charset="0"/>
                  </a:rPr>
                  <a:t>s≠t</a:t>
                </a:r>
                <a:r>
                  <a:rPr lang="en-US" altLang="zh-CN" sz="2400" dirty="0">
                    <a:latin typeface="Trebuchet MS" panose="020B0603020202020204" pitchFamily="34" charset="0"/>
                  </a:rPr>
                  <a:t> such that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s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t</a:t>
                </a:r>
                <a:r>
                  <a:rPr lang="en-US" altLang="zh-CN" sz="2400" dirty="0">
                    <a:latin typeface="Trebuchet MS" panose="020B0603020202020204" pitchFamily="34" charset="0"/>
                  </a:rPr>
                  <a:t>.</a:t>
                </a:r>
                <a:endParaRPr kumimoji="0" lang="zh-CN" altLang="en-US" sz="2400" b="1" dirty="0">
                  <a:latin typeface="Arial" panose="020B0604020202020204" pitchFamily="34" charset="0"/>
                </a:endParaRPr>
              </a:p>
            </p:txBody>
          </p:sp>
        </mc:Choice>
        <mc:Fallback xmlns="">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1000125" y="765176"/>
                <a:ext cx="9741669" cy="5277460"/>
              </a:xfrm>
              <a:prstGeom prst="rect">
                <a:avLst/>
              </a:prstGeom>
              <a:blipFill>
                <a:blip r:embed="rId5"/>
                <a:stretch>
                  <a:fillRect l="-939" t="-694" r="-1377" b="-462"/>
                </a:stretch>
              </a:blipFill>
            </p:spPr>
            <p:txBody>
              <a:bodyPr/>
              <a:lstStyle/>
              <a:p>
                <a:r>
                  <a:rPr lang="en-US">
                    <a:noFill/>
                  </a:rPr>
                  <a:t> </a:t>
                </a:r>
              </a:p>
            </p:txBody>
          </p:sp>
        </mc:Fallback>
      </mc:AlternateContent>
    </p:spTree>
    <p:extLst>
      <p:ext uri="{BB962C8B-B14F-4D97-AF65-F5344CB8AC3E}">
        <p14:creationId xmlns:p14="http://schemas.microsoft.com/office/powerpoint/2010/main" val="4237075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1800" b="1" dirty="0">
                <a:latin typeface="Trebuchet MS" panose="020B0603020202020204" pitchFamily="34" charset="0"/>
              </a:rPr>
              <a:t>The properties of a power operations </a:t>
            </a:r>
            <a:endParaRPr lang="en-US" altLang="zh-CN" sz="18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Composition of Powers and Power of a Power properties</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10191750"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5BFF"/>
              </a:buClr>
              <a:buSzPct val="80000"/>
              <a:buFont typeface="Wingdings" panose="05000000000000000000" pitchFamily="2" charset="2"/>
              <a:buChar char="n"/>
            </a:pPr>
            <a:r>
              <a:rPr lang="en-US" sz="2400" dirty="0">
                <a:latin typeface="Trebuchet MS" panose="020B0603020202020204" pitchFamily="34" charset="0"/>
              </a:rPr>
              <a:t>Theorem 4.5: </a:t>
            </a:r>
            <a:r>
              <a:rPr lang="en-US" altLang="zh-CN" sz="2400" b="1" i="1" dirty="0">
                <a:latin typeface="Trebuchet MS" panose="020B0603020202020204" pitchFamily="34" charset="0"/>
              </a:rPr>
              <a:t>Composition of Powers </a:t>
            </a:r>
            <a:r>
              <a:rPr lang="en-US" altLang="zh-CN" sz="2400" dirty="0">
                <a:latin typeface="Trebuchet MS" panose="020B0603020202020204" pitchFamily="34" charset="0"/>
              </a:rPr>
              <a:t>and </a:t>
            </a:r>
            <a:r>
              <a:rPr lang="en-US" altLang="zh-CN" sz="2400" b="1" i="1" dirty="0">
                <a:latin typeface="Trebuchet MS" panose="020B0603020202020204" pitchFamily="34" charset="0"/>
              </a:rPr>
              <a:t>Power of a Power </a:t>
            </a:r>
            <a:r>
              <a:rPr lang="en-US" altLang="zh-CN" sz="2400" dirty="0">
                <a:latin typeface="Trebuchet MS" panose="020B0603020202020204" pitchFamily="34" charset="0"/>
              </a:rPr>
              <a:t>properties.</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 </a:t>
            </a:r>
            <a:r>
              <a:rPr lang="en-US" sz="2400" dirty="0">
                <a:latin typeface="Trebuchet MS" panose="020B0603020202020204" pitchFamily="34" charset="0"/>
              </a:rPr>
              <a:t>, and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n </a:t>
            </a:r>
            <a:r>
              <a:rPr kumimoji="0" lang="en-US" altLang="zh-CN" sz="2400" b="1" dirty="0">
                <a:latin typeface="Trebuchet MS" panose="020B0603020202020204" pitchFamily="34" charset="0"/>
              </a:rPr>
              <a:t>∈ N</a:t>
            </a:r>
            <a:r>
              <a:rPr lang="en-US" sz="2400" dirty="0">
                <a:latin typeface="Trebuchet MS" panose="020B0603020202020204" pitchFamily="34" charset="0"/>
              </a:rPr>
              <a:t>, Then</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baseline="30000" dirty="0" err="1">
                <a:latin typeface="Trebuchet MS" panose="020B0603020202020204" pitchFamily="34" charset="0"/>
              </a:rPr>
              <a:t>+</a:t>
            </a:r>
            <a:r>
              <a:rPr kumimoji="0" lang="en-US" altLang="zh-CN" sz="2400" b="1" i="1" baseline="30000" dirty="0" err="1">
                <a:latin typeface="Trebuchet MS" panose="020B0603020202020204" pitchFamily="34" charset="0"/>
              </a:rPr>
              <a:t>n</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rPr>
              <a:t>n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baseline="30000" dirty="0">
                <a:latin typeface="Trebuchet MS" panose="020B0603020202020204" pitchFamily="34" charset="0"/>
              </a:rPr>
              <a:t>  </a:t>
            </a:r>
          </a:p>
          <a:p>
            <a:pPr eaLnBrk="1" hangingPunct="1">
              <a:lnSpc>
                <a:spcPct val="120000"/>
              </a:lnSpc>
              <a:spcBef>
                <a:spcPct val="0"/>
              </a:spcBef>
              <a:buFontTx/>
              <a:buNone/>
            </a:pPr>
            <a:endParaRPr kumimoji="0" lang="en-US" altLang="zh-CN" sz="2400" b="1" baseline="30000" dirty="0">
              <a:latin typeface="Trebuchet MS" panose="020B0603020202020204" pitchFamily="34" charset="0"/>
            </a:endParaRPr>
          </a:p>
          <a:p>
            <a:pPr eaLnBrk="1" hangingPunct="1">
              <a:lnSpc>
                <a:spcPct val="12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Proof:</a:t>
            </a:r>
            <a:r>
              <a:rPr lang="en-US" sz="2400" dirty="0">
                <a:latin typeface="Trebuchet MS" panose="020B0603020202020204" pitchFamily="34" charset="0"/>
              </a:rPr>
              <a:t> By induction.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lang="en-US" sz="2400" b="1" dirty="0">
                <a:solidFill>
                  <a:srgbClr val="0B5BFF"/>
                </a:solidFill>
                <a:latin typeface="Trebuchet MS" panose="020B0603020202020204" pitchFamily="34" charset="0"/>
              </a:rPr>
              <a:t>(1) </a:t>
            </a:r>
            <a:r>
              <a:rPr lang="en-US" sz="2400" dirty="0">
                <a:latin typeface="Trebuchet MS" panose="020B0603020202020204" pitchFamily="34" charset="0"/>
              </a:rPr>
              <a:t>For any given </a:t>
            </a:r>
            <a:r>
              <a:rPr kumimoji="0" lang="en-US" altLang="zh-CN" sz="2400" b="1" i="1" dirty="0" err="1">
                <a:latin typeface="Trebuchet MS" panose="020B0603020202020204" pitchFamily="34" charset="0"/>
              </a:rPr>
              <a:t>m</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N</a:t>
            </a:r>
            <a:r>
              <a:rPr kumimoji="0" lang="en-US" altLang="zh-CN" sz="2400" b="1" dirty="0">
                <a:latin typeface="Trebuchet MS" panose="020B0603020202020204" pitchFamily="34" charset="0"/>
              </a:rPr>
              <a:t>, </a:t>
            </a:r>
            <a:r>
              <a:rPr lang="en-US" sz="2400" dirty="0">
                <a:latin typeface="Trebuchet MS" panose="020B0603020202020204" pitchFamily="34" charset="0"/>
              </a:rPr>
              <a:t>, we induct on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lang="en-US" altLang="zh-CN" sz="2400" b="1" dirty="0">
                <a:latin typeface="Trebuchet MS" panose="020B0603020202020204" pitchFamily="34" charset="0"/>
              </a:rPr>
              <a:t>		If</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=0, </a:t>
            </a:r>
            <a:r>
              <a:rPr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I</a:t>
            </a:r>
            <a:r>
              <a:rPr kumimoji="0" lang="en-US" altLang="zh-CN" sz="2400" b="1" i="1" baseline="-25000" dirty="0" err="1">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baseline="30000" dirty="0">
                <a:latin typeface="Trebuchet MS" panose="020B0603020202020204" pitchFamily="34" charset="0"/>
              </a:rPr>
              <a:t>+0 </a:t>
            </a:r>
          </a:p>
          <a:p>
            <a:pPr eaLnBrk="1" hangingPunct="1">
              <a:lnSpc>
                <a:spcPct val="120000"/>
              </a:lnSpc>
              <a:spcBef>
                <a:spcPct val="0"/>
              </a:spcBef>
              <a:buFontTx/>
              <a:buNone/>
            </a:pPr>
            <a:r>
              <a:rPr kumimoji="0" lang="zh-CN" altLang="en-US" sz="2400" b="1" dirty="0">
                <a:latin typeface="Trebuchet MS" panose="020B0603020202020204" pitchFamily="34" charset="0"/>
              </a:rPr>
              <a:t>           </a:t>
            </a:r>
            <a:r>
              <a:rPr lang="en-US" sz="2400" dirty="0">
                <a:latin typeface="Trebuchet MS" panose="020B0603020202020204" pitchFamily="34" charset="0"/>
              </a:rPr>
              <a:t>Assume </a:t>
            </a:r>
            <a:r>
              <a:rPr kumimoji="0" lang="zh-CN" altLang="en-US"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baseline="30000" dirty="0" err="1">
                <a:latin typeface="Trebuchet MS" panose="020B0603020202020204" pitchFamily="34" charset="0"/>
              </a:rPr>
              <a:t>+</a:t>
            </a:r>
            <a:r>
              <a:rPr kumimoji="0" lang="en-US" altLang="zh-CN" sz="2400" b="1" i="1" baseline="30000" dirty="0" err="1">
                <a:latin typeface="Trebuchet MS" panose="020B0603020202020204" pitchFamily="34" charset="0"/>
              </a:rPr>
              <a:t>n</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n</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ea typeface="华文行楷" panose="02010800040101010101" pitchFamily="2" charset="-122"/>
              </a:rPr>
              <a:t>∘</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baseline="30000" dirty="0">
                <a:latin typeface="Trebuchet MS" panose="020B0603020202020204" pitchFamily="34" charset="0"/>
              </a:rPr>
              <a:t>+</a:t>
            </a:r>
            <a:r>
              <a:rPr kumimoji="0" lang="en-US" altLang="zh-CN" sz="2400" b="1" i="1" baseline="30000" dirty="0">
                <a:latin typeface="Trebuchet MS" panose="020B0603020202020204" pitchFamily="34" charset="0"/>
              </a:rPr>
              <a:t>n</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 </a:t>
            </a:r>
          </a:p>
          <a:p>
            <a:pPr eaLnBrk="1" hangingPunct="1">
              <a:lnSpc>
                <a:spcPct val="120000"/>
              </a:lnSpc>
              <a:spcBef>
                <a:spcPct val="0"/>
              </a:spcBef>
              <a:buFontTx/>
              <a:buNone/>
            </a:pP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Thus, for all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n</a:t>
            </a:r>
            <a:r>
              <a:rPr kumimoji="0" lang="en-US" altLang="zh-CN" sz="2400" b="1" dirty="0" err="1">
                <a:latin typeface="Trebuchet MS" panose="020B0603020202020204" pitchFamily="34" charset="0"/>
              </a:rPr>
              <a:t>∈N</a:t>
            </a:r>
            <a:r>
              <a:rPr kumimoji="0" lang="en-US" altLang="zh-CN" sz="2400" b="1" i="1" dirty="0">
                <a:latin typeface="Trebuchet MS" panose="020B0603020202020204" pitchFamily="34" charset="0"/>
              </a:rPr>
              <a:t> </a:t>
            </a:r>
            <a:r>
              <a:rPr lang="en-US" altLang="zh-CN" sz="2400" b="1" dirty="0">
                <a:latin typeface="Trebuchet MS" panose="020B0603020202020204" pitchFamily="34" charset="0"/>
              </a:rPr>
              <a:t>we have</a:t>
            </a:r>
            <a:r>
              <a:rPr kumimoji="0" lang="zh-CN" altLang="en-US"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baseline="30000" dirty="0" err="1">
                <a:latin typeface="Trebuchet MS" panose="020B0603020202020204" pitchFamily="34" charset="0"/>
              </a:rPr>
              <a:t>+</a:t>
            </a:r>
            <a:r>
              <a:rPr kumimoji="0" lang="en-US" altLang="zh-CN" sz="2400" b="1" i="1" baseline="30000" dirty="0" err="1">
                <a:latin typeface="Trebuchet MS" panose="020B0603020202020204" pitchFamily="34" charset="0"/>
              </a:rPr>
              <a:t>n</a:t>
            </a:r>
            <a:r>
              <a:rPr kumimoji="0" lang="en-US" altLang="zh-CN" sz="2400" b="1" dirty="0">
                <a:latin typeface="Trebuchet MS" panose="020B0603020202020204" pitchFamily="34" charset="0"/>
              </a:rPr>
              <a:t>. </a:t>
            </a:r>
            <a:endParaRPr kumimoji="0" lang="en-US" altLang="zh-CN" sz="2400" b="1" baseline="30000" dirty="0">
              <a:latin typeface="Trebuchet MS" panose="020B0603020202020204" pitchFamily="34" charset="0"/>
            </a:endParaRPr>
          </a:p>
          <a:p>
            <a:pPr eaLnBrk="1" hangingPunct="1">
              <a:lnSpc>
                <a:spcPct val="120000"/>
              </a:lnSpc>
              <a:spcBef>
                <a:spcPct val="0"/>
              </a:spcBef>
              <a:buFontTx/>
              <a:buNone/>
            </a:pPr>
            <a:endParaRPr kumimoji="0" lang="en-US" altLang="zh-CN" sz="2800" b="1" dirty="0"/>
          </a:p>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120000"/>
              </a:lnSpc>
              <a:spcBef>
                <a:spcPct val="0"/>
              </a:spcBef>
              <a:buFontTx/>
              <a:buNone/>
            </a:pPr>
            <a:endParaRPr kumimoji="0" lang="zh-CN" altLang="en-US" sz="2000" b="1" dirty="0">
              <a:latin typeface="Arial" panose="020B0604020202020204" pitchFamily="34" charset="0"/>
            </a:endParaRPr>
          </a:p>
        </p:txBody>
      </p:sp>
    </p:spTree>
    <p:extLst>
      <p:ext uri="{BB962C8B-B14F-4D97-AF65-F5344CB8AC3E}">
        <p14:creationId xmlns:p14="http://schemas.microsoft.com/office/powerpoint/2010/main" val="3275341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1000"/>
                                        <p:tgtEl>
                                          <p:spTgt spid="8">
                                            <p:txEl>
                                              <p:pRg st="6" end="6"/>
                                            </p:txEl>
                                          </p:spTgt>
                                        </p:tgtEl>
                                      </p:cBhvr>
                                    </p:animEffect>
                                    <p:anim calcmode="lin" valueType="num">
                                      <p:cBhvr>
                                        <p:cTn id="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1800" b="1" dirty="0">
                <a:latin typeface="Trebuchet MS" panose="020B0603020202020204" pitchFamily="34" charset="0"/>
              </a:rPr>
              <a:t>The properties of a power operations </a:t>
            </a:r>
            <a:endParaRPr lang="en-US" altLang="zh-CN" sz="18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Composition of Powers and Power of a Power properties</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5175"/>
            <a:ext cx="10191750"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5BFF"/>
              </a:buClr>
              <a:buSzPct val="80000"/>
              <a:buFont typeface="Wingdings" panose="05000000000000000000" pitchFamily="2" charset="2"/>
              <a:buChar char="n"/>
            </a:pPr>
            <a:r>
              <a:rPr lang="en-US" sz="2400" dirty="0">
                <a:latin typeface="Trebuchet MS" panose="020B0603020202020204" pitchFamily="34" charset="0"/>
              </a:rPr>
              <a:t>Theorem 4.5: </a:t>
            </a:r>
            <a:r>
              <a:rPr lang="en-US" altLang="zh-CN" sz="2400" b="1" i="1" dirty="0">
                <a:latin typeface="Trebuchet MS" panose="020B0603020202020204" pitchFamily="34" charset="0"/>
              </a:rPr>
              <a:t>Composition of Powers </a:t>
            </a:r>
            <a:r>
              <a:rPr lang="en-US" altLang="zh-CN" sz="2400" dirty="0">
                <a:latin typeface="Trebuchet MS" panose="020B0603020202020204" pitchFamily="34" charset="0"/>
              </a:rPr>
              <a:t>and </a:t>
            </a:r>
            <a:r>
              <a:rPr lang="en-US" altLang="zh-CN" sz="2400" b="1" i="1" dirty="0">
                <a:latin typeface="Trebuchet MS" panose="020B0603020202020204" pitchFamily="34" charset="0"/>
              </a:rPr>
              <a:t>Power of a Power </a:t>
            </a:r>
            <a:r>
              <a:rPr lang="en-US" altLang="zh-CN" sz="2400" dirty="0">
                <a:latin typeface="Trebuchet MS" panose="020B0603020202020204" pitchFamily="34" charset="0"/>
              </a:rPr>
              <a:t>properties.</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 </a:t>
            </a:r>
            <a:r>
              <a:rPr lang="en-US" sz="2400" dirty="0">
                <a:latin typeface="Trebuchet MS" panose="020B0603020202020204" pitchFamily="34" charset="0"/>
              </a:rPr>
              <a:t>, and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n</a:t>
            </a:r>
            <a:r>
              <a:rPr kumimoji="0" lang="en-US" altLang="zh-CN" sz="2400" b="1" dirty="0" err="1">
                <a:latin typeface="Trebuchet MS" panose="020B0603020202020204" pitchFamily="34" charset="0"/>
              </a:rPr>
              <a:t>∈N</a:t>
            </a:r>
            <a:r>
              <a:rPr lang="en-US" sz="2400" dirty="0">
                <a:latin typeface="Trebuchet MS" panose="020B0603020202020204" pitchFamily="34" charset="0"/>
              </a:rPr>
              <a:t>, Then</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n</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baseline="30000" dirty="0" err="1">
                <a:latin typeface="Trebuchet MS" panose="020B0603020202020204" pitchFamily="34" charset="0"/>
              </a:rPr>
              <a:t>+</a:t>
            </a:r>
            <a:r>
              <a:rPr kumimoji="0" lang="en-US" altLang="zh-CN" sz="2400" b="1" i="1" baseline="30000" dirty="0" err="1">
                <a:latin typeface="Trebuchet MS" panose="020B0603020202020204" pitchFamily="34" charset="0"/>
              </a:rPr>
              <a:t>n</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rPr>
              <a:t>n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baseline="30000" dirty="0">
                <a:latin typeface="Trebuchet MS" panose="020B0603020202020204" pitchFamily="34" charset="0"/>
              </a:rPr>
              <a:t>  </a:t>
            </a:r>
          </a:p>
          <a:p>
            <a:pPr eaLnBrk="1" hangingPunct="1">
              <a:lnSpc>
                <a:spcPct val="120000"/>
              </a:lnSpc>
              <a:spcBef>
                <a:spcPct val="0"/>
              </a:spcBef>
              <a:buFontTx/>
              <a:buNone/>
            </a:pPr>
            <a:endParaRPr kumimoji="0" lang="en-US" altLang="zh-CN" sz="2400" b="1" baseline="30000" dirty="0">
              <a:latin typeface="Trebuchet MS" panose="020B0603020202020204" pitchFamily="34" charset="0"/>
            </a:endParaRPr>
          </a:p>
          <a:p>
            <a:pPr marL="271463" indent="-271463" eaLnBrk="1" hangingPunct="1">
              <a:lnSpc>
                <a:spcPct val="120000"/>
              </a:lnSpc>
              <a:spcBef>
                <a:spcPct val="0"/>
              </a:spcBef>
              <a:buClr>
                <a:srgbClr val="0B5BFF"/>
              </a:buClr>
              <a:buSzPct val="80000"/>
              <a:buFont typeface="Wingdings" panose="05000000000000000000" pitchFamily="2" charset="2"/>
              <a:buChar char="n"/>
              <a:tabLst>
                <a:tab pos="271463" algn="l"/>
              </a:tabLst>
            </a:pPr>
            <a:r>
              <a:rPr lang="en-US" sz="2400" b="1" dirty="0">
                <a:latin typeface="Trebuchet MS" panose="020B0603020202020204" pitchFamily="34" charset="0"/>
              </a:rPr>
              <a:t>Proof:</a:t>
            </a:r>
            <a:r>
              <a:rPr lang="en-US" sz="2400" dirty="0">
                <a:latin typeface="Trebuchet MS" panose="020B0603020202020204" pitchFamily="34" charset="0"/>
              </a:rPr>
              <a:t> By induction.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lang="en-US" sz="2400" b="1" dirty="0">
                <a:solidFill>
                  <a:srgbClr val="0B5BFF"/>
                </a:solidFill>
                <a:latin typeface="Trebuchet MS" panose="020B0603020202020204" pitchFamily="34" charset="0"/>
              </a:rPr>
              <a:t>(2) </a:t>
            </a:r>
            <a:r>
              <a:rPr lang="en-US" altLang="zh-CN" sz="2400" dirty="0">
                <a:latin typeface="Trebuchet MS" panose="020B0603020202020204" pitchFamily="34" charset="0"/>
              </a:rPr>
              <a:t>For any given </a:t>
            </a:r>
            <a:r>
              <a:rPr kumimoji="0" lang="en-US" altLang="zh-CN" sz="2400" b="1" i="1" dirty="0" err="1">
                <a:latin typeface="Trebuchet MS" panose="020B0603020202020204" pitchFamily="34" charset="0"/>
              </a:rPr>
              <a:t>m</a:t>
            </a:r>
            <a:r>
              <a:rPr kumimoji="0" lang="en-US" altLang="zh-CN" sz="2400" b="1" dirty="0" err="1">
                <a:latin typeface="Trebuchet MS" panose="020B0603020202020204" pitchFamily="34" charset="0"/>
              </a:rPr>
              <a:t>∈N</a:t>
            </a:r>
            <a:r>
              <a:rPr kumimoji="0" lang="en-US" altLang="zh-CN" sz="2400" b="1" dirty="0">
                <a:latin typeface="Trebuchet MS" panose="020B0603020202020204" pitchFamily="34" charset="0"/>
              </a:rPr>
              <a:t>, </a:t>
            </a:r>
            <a:r>
              <a:rPr lang="en-US" altLang="zh-CN" sz="2400" dirty="0">
                <a:latin typeface="Trebuchet MS" panose="020B0603020202020204" pitchFamily="34" charset="0"/>
              </a:rPr>
              <a:t>we induct on </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p>
          <a:p>
            <a:pPr indent="217488"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	If</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n </a:t>
            </a:r>
            <a:r>
              <a:rPr kumimoji="0" lang="en-US" altLang="zh-CN" sz="2400" b="1" dirty="0">
                <a:latin typeface="Trebuchet MS" panose="020B0603020202020204" pitchFamily="34" charset="0"/>
              </a:rPr>
              <a:t>= 0, </a:t>
            </a:r>
            <a:r>
              <a:rPr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p>
          <a:p>
            <a:pPr indent="217488"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baseline="30000" dirty="0">
                <a:latin typeface="Trebuchet MS" panose="020B0603020202020204" pitchFamily="34" charset="0"/>
              </a:rPr>
              <a:t>×0</a:t>
            </a:r>
            <a:r>
              <a:rPr kumimoji="0" lang="en-US" altLang="zh-CN" sz="2400" b="1" dirty="0">
                <a:latin typeface="Trebuchet MS" panose="020B0603020202020204" pitchFamily="34" charset="0"/>
              </a:rPr>
              <a:t> </a:t>
            </a:r>
          </a:p>
          <a:p>
            <a:pPr indent="217488" eaLnBrk="1" hangingPunct="1">
              <a:lnSpc>
                <a:spcPct val="120000"/>
              </a:lnSpc>
              <a:spcBef>
                <a:spcPct val="0"/>
              </a:spcBef>
              <a:buFontTx/>
              <a:buNone/>
            </a:pPr>
            <a:r>
              <a:rPr lang="en-US" altLang="zh-CN" sz="2400" b="1" dirty="0">
                <a:latin typeface="Trebuchet MS" panose="020B0603020202020204" pitchFamily="34" charset="0"/>
              </a:rPr>
              <a:t>     Assume</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rPr>
              <a:t>n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endParaRPr kumimoji="0" lang="zh-CN" altLang="en-US" sz="2400" b="1" dirty="0">
              <a:latin typeface="Trebuchet MS" panose="020B0603020202020204" pitchFamily="34" charset="0"/>
            </a:endParaRPr>
          </a:p>
          <a:p>
            <a:pPr indent="217488"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rPr>
              <a:t>n</a:t>
            </a:r>
            <a:r>
              <a:rPr kumimoji="0" lang="en-US" altLang="zh-CN" sz="2400" b="1" baseline="30000" dirty="0">
                <a:latin typeface="Trebuchet MS" panose="020B0603020202020204" pitchFamily="34" charset="0"/>
              </a:rPr>
              <a:t>+1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err="1">
                <a:latin typeface="Trebuchet MS" panose="020B0603020202020204" pitchFamily="34" charset="0"/>
              </a:rPr>
              <a:t>n</a:t>
            </a:r>
            <a:r>
              <a:rPr kumimoji="0" lang="en-US" altLang="zh-CN" sz="2400" b="1" dirty="0" err="1">
                <a:latin typeface="Trebuchet MS" panose="020B0603020202020204" pitchFamily="34" charset="0"/>
                <a:ea typeface="华文行楷" panose="02010800040101010101" pitchFamily="2" charset="-122"/>
              </a:rPr>
              <a:t>∘</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baseline="30000" dirty="0" err="1">
                <a:latin typeface="Trebuchet MS" panose="020B0603020202020204" pitchFamily="34" charset="0"/>
              </a:rPr>
              <a:t>+</a:t>
            </a:r>
            <a:r>
              <a:rPr kumimoji="0" lang="en-US" altLang="zh-CN" sz="2400" b="1" i="1" baseline="30000" dirty="0" err="1">
                <a:latin typeface="Trebuchet MS" panose="020B0603020202020204" pitchFamily="34" charset="0"/>
              </a:rPr>
              <a:t>m</a:t>
            </a:r>
            <a:r>
              <a:rPr kumimoji="0" lang="en-US" altLang="zh-CN" sz="2400" b="1" i="1" baseline="30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baseline="30000" dirty="0">
                <a:latin typeface="Trebuchet MS" panose="020B0603020202020204" pitchFamily="34" charset="0"/>
              </a:rPr>
              <a:t>(</a:t>
            </a:r>
            <a:r>
              <a:rPr kumimoji="0" lang="en-US" altLang="zh-CN" sz="2400" b="1" i="1" baseline="30000" dirty="0">
                <a:latin typeface="Trebuchet MS" panose="020B0603020202020204" pitchFamily="34" charset="0"/>
              </a:rPr>
              <a:t>n</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p>
          <a:p>
            <a:pPr indent="217488" eaLnBrk="1" hangingPunct="1">
              <a:lnSpc>
                <a:spcPct val="120000"/>
              </a:lnSpc>
              <a:spcBef>
                <a:spcPct val="0"/>
              </a:spcBef>
              <a:buFontTx/>
              <a:buNone/>
            </a:pPr>
            <a:r>
              <a:rPr kumimoji="0" lang="en-US" altLang="zh-CN" sz="2400" b="1" dirty="0">
                <a:latin typeface="Trebuchet MS" panose="020B0603020202020204" pitchFamily="34" charset="0"/>
              </a:rPr>
              <a:t>    Thus, for any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n</a:t>
            </a:r>
            <a:r>
              <a:rPr kumimoji="0" lang="en-US" altLang="zh-CN" sz="2400" b="1" dirty="0" err="1">
                <a:latin typeface="Trebuchet MS" panose="020B0603020202020204" pitchFamily="34" charset="0"/>
              </a:rPr>
              <a:t>∈N</a:t>
            </a:r>
            <a:r>
              <a:rPr kumimoji="0" lang="en-US" altLang="zh-CN" sz="2400" b="1" i="1" dirty="0">
                <a:latin typeface="Trebuchet MS" panose="020B0603020202020204" pitchFamily="34" charset="0"/>
              </a:rPr>
              <a:t> </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baseline="30000" dirty="0">
                <a:latin typeface="Trebuchet MS" panose="020B0603020202020204" pitchFamily="34" charset="0"/>
              </a:rPr>
              <a:t>n </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R</a:t>
            </a:r>
            <a:r>
              <a:rPr kumimoji="0" lang="en-US" altLang="zh-CN" sz="2400" b="1" i="1" baseline="30000" dirty="0" err="1">
                <a:latin typeface="Trebuchet MS" panose="020B0603020202020204" pitchFamily="34" charset="0"/>
              </a:rPr>
              <a:t>mn</a:t>
            </a:r>
            <a:r>
              <a:rPr kumimoji="0" lang="en-US" altLang="zh-CN" sz="2400" b="1" dirty="0">
                <a:latin typeface="Trebuchet MS" panose="020B0603020202020204" pitchFamily="34" charset="0"/>
              </a:rPr>
              <a:t>. </a:t>
            </a:r>
          </a:p>
          <a:p>
            <a:pPr eaLnBrk="1" hangingPunct="1">
              <a:lnSpc>
                <a:spcPct val="120000"/>
              </a:lnSpc>
              <a:spcBef>
                <a:spcPct val="0"/>
              </a:spcBef>
              <a:buFontTx/>
              <a:buNone/>
            </a:pPr>
            <a:endParaRPr kumimoji="0" lang="en-US" altLang="zh-CN" sz="2800" b="1" dirty="0"/>
          </a:p>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120000"/>
              </a:lnSpc>
              <a:spcBef>
                <a:spcPct val="0"/>
              </a:spcBef>
              <a:buFontTx/>
              <a:buNone/>
            </a:pPr>
            <a:endParaRPr kumimoji="0" lang="zh-CN" altLang="en-US" sz="2000" b="1" dirty="0">
              <a:latin typeface="Arial" panose="020B0604020202020204" pitchFamily="34" charset="0"/>
            </a:endParaRPr>
          </a:p>
        </p:txBody>
      </p:sp>
    </p:spTree>
    <p:extLst>
      <p:ext uri="{BB962C8B-B14F-4D97-AF65-F5344CB8AC3E}">
        <p14:creationId xmlns:p14="http://schemas.microsoft.com/office/powerpoint/2010/main" val="3625340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1000"/>
                                        <p:tgtEl>
                                          <p:spTgt spid="8">
                                            <p:txEl>
                                              <p:pRg st="6" end="6"/>
                                            </p:txEl>
                                          </p:spTgt>
                                        </p:tgtEl>
                                      </p:cBhvr>
                                    </p:animEffect>
                                    <p:anim calcmode="lin" valueType="num">
                                      <p:cBhvr>
                                        <p:cTn id="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1000"/>
                                        <p:tgtEl>
                                          <p:spTgt spid="8">
                                            <p:txEl>
                                              <p:pRg st="7" end="7"/>
                                            </p:txEl>
                                          </p:spTgt>
                                        </p:tgtEl>
                                      </p:cBhvr>
                                    </p:animEffect>
                                    <p:anim calcmode="lin" valueType="num">
                                      <p:cBhvr>
                                        <p:cTn id="2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1000"/>
                                        <p:tgtEl>
                                          <p:spTgt spid="8">
                                            <p:txEl>
                                              <p:pRg st="8" end="8"/>
                                            </p:txEl>
                                          </p:spTgt>
                                        </p:tgtEl>
                                      </p:cBhvr>
                                    </p:animEffect>
                                    <p:anim calcmode="lin" valueType="num">
                                      <p:cBhvr>
                                        <p:cTn id="3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The properties of a power operations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Stabilization, Periodicity and Finite State Constraint </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56697"/>
            <a:ext cx="10979840" cy="4560223"/>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Clr>
                <a:srgbClr val="0B5BFF"/>
              </a:buClr>
              <a:buSzPct val="80000"/>
              <a:buFont typeface="Wingdings" panose="05000000000000000000" pitchFamily="2" charset="2"/>
              <a:buChar char="n"/>
            </a:pPr>
            <a:r>
              <a:rPr lang="en-US" sz="2400" b="1" dirty="0">
                <a:latin typeface="Trebuchet MS" panose="020B0603020202020204" pitchFamily="34" charset="0"/>
              </a:rPr>
              <a:t>Theorem 4.6:</a:t>
            </a:r>
            <a:r>
              <a:rPr lang="en-US" altLang="zh-CN" sz="2400" dirty="0"/>
              <a:t>, Stabilization, Periodicity and Finite State Constraint in the Powers of a Relation</a:t>
            </a:r>
            <a:br>
              <a:rPr lang="en-US" sz="2400" dirty="0">
                <a:latin typeface="Trebuchet MS" panose="020B0603020202020204" pitchFamily="34" charset="0"/>
              </a:rPr>
            </a:br>
            <a:r>
              <a:rPr lang="en-US" sz="2400" dirty="0">
                <a:latin typeface="Trebuchet MS" panose="020B0603020202020204" pitchFamily="34" charset="0"/>
              </a:rPr>
              <a:t>Let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sz="2400" dirty="0">
                <a:latin typeface="Trebuchet MS" panose="020B0603020202020204" pitchFamily="34" charset="0"/>
              </a:rPr>
              <a:t> be a relation on </a:t>
            </a:r>
            <a:r>
              <a:rPr lang="en-US" altLang="zh-CN" sz="2400" b="1" i="1" dirty="0">
                <a:latin typeface="Trebuchet MS" panose="020B0603020202020204" pitchFamily="34" charset="0"/>
              </a:rPr>
              <a:t>A</a:t>
            </a:r>
            <a:r>
              <a:rPr lang="en-US" sz="2400" dirty="0">
                <a:latin typeface="Trebuchet MS" panose="020B0603020202020204" pitchFamily="34" charset="0"/>
              </a:rPr>
              <a:t>. If there exist natural numbers </a:t>
            </a:r>
            <a:r>
              <a:rPr lang="en-US" altLang="zh-CN" sz="2400" b="1" i="1" dirty="0">
                <a:latin typeface="Trebuchet MS" panose="020B0603020202020204" pitchFamily="34" charset="0"/>
              </a:rPr>
              <a:t>s</a:t>
            </a:r>
            <a:r>
              <a:rPr lang="en-US" altLang="zh-CN" sz="2400" b="1" dirty="0">
                <a:latin typeface="Trebuchet MS" panose="020B0603020202020204" pitchFamily="34" charset="0"/>
              </a:rPr>
              <a:t>, </a:t>
            </a:r>
            <a:r>
              <a:rPr lang="en-US" altLang="zh-CN" sz="2400" b="1" i="1" dirty="0">
                <a:latin typeface="Trebuchet MS" panose="020B0603020202020204" pitchFamily="34" charset="0"/>
              </a:rPr>
              <a:t>t </a:t>
            </a:r>
            <a:r>
              <a:rPr lang="en-US" altLang="zh-CN" sz="2400" b="1" dirty="0">
                <a:latin typeface="Trebuchet MS" panose="020B0603020202020204" pitchFamily="34" charset="0"/>
              </a:rPr>
              <a:t>(</a:t>
            </a:r>
            <a:r>
              <a:rPr lang="en-US" altLang="zh-CN" sz="2400" b="1" i="1" dirty="0">
                <a:latin typeface="Trebuchet MS" panose="020B0603020202020204" pitchFamily="34" charset="0"/>
              </a:rPr>
              <a:t>s</a:t>
            </a:r>
            <a:r>
              <a:rPr lang="en-US" altLang="zh-CN" sz="2400" b="1" dirty="0">
                <a:latin typeface="Trebuchet MS" panose="020B0603020202020204" pitchFamily="34" charset="0"/>
              </a:rPr>
              <a:t>&lt;</a:t>
            </a:r>
            <a:r>
              <a:rPr lang="en-US" altLang="zh-CN" sz="2400" b="1" i="1" dirty="0">
                <a:latin typeface="Trebuchet MS" panose="020B0603020202020204" pitchFamily="34" charset="0"/>
              </a:rPr>
              <a:t>t</a:t>
            </a:r>
            <a:r>
              <a:rPr lang="en-US" altLang="zh-CN" sz="2400" b="1" dirty="0">
                <a:latin typeface="Trebuchet MS" panose="020B0603020202020204" pitchFamily="34" charset="0"/>
              </a:rPr>
              <a:t>) </a:t>
            </a:r>
            <a:r>
              <a:rPr lang="en-US" sz="2400" dirty="0">
                <a:latin typeface="Trebuchet MS" panose="020B0603020202020204" pitchFamily="34" charset="0"/>
              </a:rPr>
              <a:t>such that</a:t>
            </a:r>
            <a:r>
              <a:rPr lang="en-US" altLang="zh-CN" sz="2400" b="1" i="1" dirty="0">
                <a:latin typeface="Trebuchet MS" panose="020B0603020202020204" pitchFamily="34" charset="0"/>
              </a:rPr>
              <a:t> R</a:t>
            </a:r>
            <a:r>
              <a:rPr lang="en-US" altLang="zh-CN" sz="2400" b="1" i="1" baseline="30000" dirty="0">
                <a:latin typeface="Trebuchet MS" panose="020B0603020202020204" pitchFamily="34" charset="0"/>
              </a:rPr>
              <a:t>s </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t</a:t>
            </a:r>
            <a:r>
              <a:rPr lang="en-US" altLang="zh-CN" sz="2400" b="1" dirty="0">
                <a:latin typeface="Trebuchet MS" panose="020B0603020202020204" pitchFamily="34" charset="0"/>
              </a:rPr>
              <a:t>, then</a:t>
            </a:r>
            <a:endParaRPr lang="zh-CN" altLang="en-US" sz="2400" b="1" dirty="0">
              <a:latin typeface="Trebuchet MS" panose="020B0603020202020204" pitchFamily="34" charset="0"/>
            </a:endParaRPr>
          </a:p>
          <a:p>
            <a:pPr eaLnBrk="1" hangingPunct="1">
              <a:lnSpc>
                <a:spcPct val="80000"/>
              </a:lnSpc>
              <a:buFontTx/>
              <a:buNone/>
            </a:pP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a:t>
            </a:r>
            <a:r>
              <a:rPr lang="en-US" altLang="zh-CN" sz="2400" b="1" dirty="0">
                <a:solidFill>
                  <a:srgbClr val="0B5BFF"/>
                </a:solidFill>
                <a:latin typeface="Trebuchet MS" panose="020B0603020202020204" pitchFamily="34" charset="0"/>
              </a:rPr>
              <a:t>1) </a:t>
            </a: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k</a:t>
            </a:r>
            <a:r>
              <a:rPr lang="en-US" altLang="zh-CN" sz="2400" b="1" dirty="0" err="1">
                <a:latin typeface="Trebuchet MS" panose="020B0603020202020204" pitchFamily="34" charset="0"/>
              </a:rPr>
              <a:t>∈N</a:t>
            </a:r>
            <a:r>
              <a:rPr lang="en-US" altLang="zh-CN" sz="2400" b="1" dirty="0">
                <a:latin typeface="Trebuchet MS" panose="020B0603020202020204" pitchFamily="34" charset="0"/>
              </a:rPr>
              <a:t>,</a:t>
            </a:r>
            <a:r>
              <a:rPr lang="en-US" altLang="zh-CN" sz="2400" b="1" i="1" dirty="0">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t</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a:t>
            </a:r>
            <a:r>
              <a:rPr lang="en-US" altLang="zh-CN" sz="2400" b="1" dirty="0">
                <a:latin typeface="Trebuchet MS" panose="020B0603020202020204" pitchFamily="34" charset="0"/>
              </a:rPr>
              <a:t>  </a:t>
            </a:r>
            <a:r>
              <a:rPr lang="en-US" altLang="zh-CN" sz="2000" b="1" dirty="0">
                <a:latin typeface="Trebuchet MS" panose="020B0603020202020204" pitchFamily="34" charset="0"/>
              </a:rPr>
              <a:t>(</a:t>
            </a:r>
            <a:r>
              <a:rPr lang="en-US" altLang="zh-CN" sz="2000" b="1" i="1" dirty="0">
                <a:solidFill>
                  <a:srgbClr val="0B5BFF"/>
                </a:solidFill>
                <a:latin typeface="Trebuchet MS" panose="020B0603020202020204" pitchFamily="34" charset="0"/>
              </a:rPr>
              <a:t>Stabilization Property</a:t>
            </a:r>
            <a:r>
              <a:rPr lang="en-US" altLang="zh-CN" sz="2000" dirty="0"/>
              <a:t>)</a:t>
            </a:r>
            <a:endParaRPr lang="en-US" altLang="zh-CN" sz="2000" b="1" dirty="0">
              <a:latin typeface="Trebuchet MS" panose="020B0603020202020204" pitchFamily="34" charset="0"/>
            </a:endParaRPr>
          </a:p>
          <a:p>
            <a:pPr marL="631825" indent="0">
              <a:lnSpc>
                <a:spcPct val="110000"/>
              </a:lnSpc>
              <a:spcBef>
                <a:spcPts val="300"/>
              </a:spcBef>
              <a:buNone/>
            </a:pPr>
            <a:r>
              <a:rPr lang="en-US" sz="2400" dirty="0">
                <a:latin typeface="Trebuchet MS" panose="020B0603020202020204" pitchFamily="34" charset="0"/>
              </a:rPr>
              <a:t>The two powers are equal and remain unchanged when the same power is added.</a:t>
            </a:r>
            <a:endParaRPr lang="en-US" altLang="zh-CN" sz="2400" dirty="0">
              <a:latin typeface="Trebuchet MS" panose="020B0603020202020204" pitchFamily="34" charset="0"/>
            </a:endParaRPr>
          </a:p>
          <a:p>
            <a:pPr>
              <a:lnSpc>
                <a:spcPct val="80000"/>
              </a:lnSpc>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lang="en-US" altLang="zh-CN" sz="2400" b="1" i="1" dirty="0">
                <a:latin typeface="Trebuchet MS" panose="020B0603020202020204" pitchFamily="34" charset="0"/>
              </a:rPr>
              <a:t>k</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i</a:t>
            </a:r>
            <a:r>
              <a:rPr lang="en-US" altLang="zh-CN" sz="2400" b="1" dirty="0" err="1">
                <a:latin typeface="Trebuchet MS" panose="020B0603020202020204" pitchFamily="34" charset="0"/>
              </a:rPr>
              <a:t>∈N</a:t>
            </a:r>
            <a:r>
              <a:rPr lang="en-US" altLang="zh-CN" sz="2400" b="1" i="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dirty="0">
                <a:latin typeface="Trebuchet MS" panose="020B0603020202020204" pitchFamily="34" charset="0"/>
              </a:rPr>
              <a:t>, where</a:t>
            </a:r>
            <a:r>
              <a:rPr lang="zh-CN" altLang="en-US" sz="2400" b="1" dirty="0">
                <a:latin typeface="Trebuchet MS" panose="020B0603020202020204" pitchFamily="34" charset="0"/>
              </a:rPr>
              <a:t> </a:t>
            </a:r>
            <a:r>
              <a:rPr lang="en-US" altLang="zh-CN" sz="2400" b="1" i="1" dirty="0">
                <a:latin typeface="Trebuchet MS" panose="020B0603020202020204" pitchFamily="34" charset="0"/>
              </a:rPr>
              <a:t>p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t</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s</a:t>
            </a:r>
            <a:r>
              <a:rPr lang="en-US" altLang="zh-CN" sz="2400" b="1" i="1" dirty="0">
                <a:latin typeface="Trebuchet MS" panose="020B0603020202020204" pitchFamily="34" charset="0"/>
              </a:rPr>
              <a:t>  </a:t>
            </a:r>
            <a:r>
              <a:rPr lang="en-US" altLang="zh-CN" sz="2000" dirty="0">
                <a:latin typeface="Trebuchet MS" panose="020B0603020202020204" pitchFamily="34" charset="0"/>
              </a:rPr>
              <a:t>(</a:t>
            </a:r>
            <a:r>
              <a:rPr lang="en-US" altLang="zh-CN" sz="2000" b="1" i="1" dirty="0">
                <a:solidFill>
                  <a:srgbClr val="0B5BFF"/>
                </a:solidFill>
                <a:latin typeface="Trebuchet MS" panose="020B0603020202020204" pitchFamily="34" charset="0"/>
              </a:rPr>
              <a:t>Periodicity Property</a:t>
            </a:r>
            <a:r>
              <a:rPr lang="en-US" altLang="zh-CN" sz="2000" dirty="0">
                <a:latin typeface="Trebuchet MS" panose="020B0603020202020204" pitchFamily="34" charset="0"/>
              </a:rPr>
              <a:t>)</a:t>
            </a:r>
          </a:p>
          <a:p>
            <a:pPr indent="403225">
              <a:lnSpc>
                <a:spcPct val="110000"/>
              </a:lnSpc>
              <a:spcBef>
                <a:spcPts val="300"/>
              </a:spcBef>
              <a:buNone/>
            </a:pPr>
            <a:r>
              <a:rPr lang="en-US" sz="2400" dirty="0">
                <a:latin typeface="Trebuchet MS" panose="020B0603020202020204" pitchFamily="34" charset="0"/>
              </a:rPr>
              <a:t>The period for the equality of the two powers is </a:t>
            </a:r>
            <a:r>
              <a:rPr lang="en-US" altLang="zh-CN" sz="2400" b="1" i="1" dirty="0">
                <a:latin typeface="Trebuchet MS" panose="020B0603020202020204" pitchFamily="34" charset="0"/>
              </a:rPr>
              <a:t>p</a:t>
            </a:r>
          </a:p>
          <a:p>
            <a:pPr eaLnBrk="1" hangingPunct="1">
              <a:lnSpc>
                <a:spcPct val="80000"/>
              </a:lnSpc>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(3) </a:t>
            </a:r>
            <a:r>
              <a:rPr lang="en-US" altLang="zh-CN" sz="2400" b="1" dirty="0">
                <a:latin typeface="Trebuchet MS" panose="020B0603020202020204" pitchFamily="34" charset="0"/>
              </a:rPr>
              <a:t>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S</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t</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then for any </a:t>
            </a:r>
            <a:r>
              <a:rPr lang="en-US" altLang="zh-CN" sz="2400" b="1" i="1" dirty="0" err="1">
                <a:latin typeface="Trebuchet MS" panose="020B0603020202020204" pitchFamily="34" charset="0"/>
              </a:rPr>
              <a:t>q</a:t>
            </a:r>
            <a:r>
              <a:rPr lang="en-US" altLang="zh-CN" sz="2400" b="1" dirty="0" err="1">
                <a:latin typeface="Trebuchet MS" panose="020B0603020202020204" pitchFamily="34" charset="0"/>
              </a:rPr>
              <a:t>∈N</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q</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S</a:t>
            </a:r>
            <a:r>
              <a:rPr lang="en-US" altLang="zh-CN" sz="2400" b="1" i="1" dirty="0">
                <a:latin typeface="Trebuchet MS" panose="020B0603020202020204" pitchFamily="34" charset="0"/>
              </a:rPr>
              <a:t>  </a:t>
            </a:r>
            <a:r>
              <a:rPr lang="en-US" altLang="zh-CN" sz="2400" dirty="0">
                <a:latin typeface="Trebuchet MS" panose="020B0603020202020204" pitchFamily="34" charset="0"/>
              </a:rPr>
              <a:t>(</a:t>
            </a:r>
            <a:r>
              <a:rPr lang="en-US" altLang="zh-CN" sz="2000" b="1" i="1" dirty="0">
                <a:solidFill>
                  <a:srgbClr val="0B5BFF"/>
                </a:solidFill>
                <a:latin typeface="Trebuchet MS" panose="020B0603020202020204" pitchFamily="34" charset="0"/>
              </a:rPr>
              <a:t>Finite State Constraint </a:t>
            </a:r>
            <a:r>
              <a:rPr lang="en-US" altLang="zh-CN" sz="2400" dirty="0">
                <a:latin typeface="Trebuchet MS" panose="020B0603020202020204" pitchFamily="34" charset="0"/>
              </a:rPr>
              <a:t>)</a:t>
            </a:r>
            <a:endParaRPr lang="en-US" altLang="zh-CN" sz="2400" b="1" i="1" dirty="0">
              <a:latin typeface="Trebuchet MS" panose="020B0603020202020204" pitchFamily="34" charset="0"/>
            </a:endParaRPr>
          </a:p>
          <a:p>
            <a:pPr indent="403225">
              <a:lnSpc>
                <a:spcPct val="80000"/>
              </a:lnSpc>
              <a:buNone/>
            </a:pPr>
            <a:r>
              <a:rPr lang="en-US" sz="2400" dirty="0">
                <a:latin typeface="Trebuchet MS" panose="020B0603020202020204" pitchFamily="34" charset="0"/>
              </a:rPr>
              <a:t>The natural number powers of a relation </a:t>
            </a:r>
            <a:r>
              <a:rPr lang="en-US" sz="2400" b="1" i="1" dirty="0">
                <a:latin typeface="Trebuchet MS" panose="020B0603020202020204" pitchFamily="34" charset="0"/>
              </a:rPr>
              <a:t>R</a:t>
            </a:r>
            <a:r>
              <a:rPr lang="en-US" sz="2400" dirty="0">
                <a:latin typeface="Trebuchet MS" panose="020B0603020202020204" pitchFamily="34" charset="0"/>
              </a:rPr>
              <a:t> on a finite set always have a period.</a:t>
            </a:r>
            <a:endParaRPr kumimoji="0" lang="zh-CN" altLang="en-US" sz="2400" b="1" dirty="0">
              <a:latin typeface="Trebuchet MS" panose="020B0603020202020204" pitchFamily="34" charset="0"/>
            </a:endParaRPr>
          </a:p>
        </p:txBody>
      </p:sp>
    </p:spTree>
    <p:extLst>
      <p:ext uri="{BB962C8B-B14F-4D97-AF65-F5344CB8AC3E}">
        <p14:creationId xmlns:p14="http://schemas.microsoft.com/office/powerpoint/2010/main" val="4218368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The properties of a power operations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Stabilization, Periodicity and Finite State Constraint </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74034"/>
            <a:ext cx="9047389" cy="4785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p>
          <a:p>
            <a:pPr eaLnBrk="1" hangingPunct="1">
              <a:lnSpc>
                <a:spcPct val="110000"/>
              </a:lnSpc>
              <a:buFontTx/>
              <a:buNone/>
            </a:pPr>
            <a:r>
              <a:rPr lang="zh-CN" altLang="en-US" sz="2400" b="1" dirty="0">
                <a:solidFill>
                  <a:srgbClr val="0B5BFF"/>
                </a:solidFill>
                <a:latin typeface="Trebuchet MS" panose="020B0603020202020204" pitchFamily="34" charset="0"/>
              </a:rPr>
              <a:t> </a:t>
            </a:r>
            <a:r>
              <a:rPr lang="en-US" altLang="zh-CN" sz="2400" b="1" dirty="0">
                <a:solidFill>
                  <a:srgbClr val="0B5BFF"/>
                </a:solidFill>
                <a:latin typeface="Trebuchet MS" panose="020B0603020202020204" pitchFamily="34" charset="0"/>
              </a:rPr>
              <a:t>(1)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kumimoji="0"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k</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t</a:t>
            </a:r>
            <a:r>
              <a:rPr kumimoji="0"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k</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t</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a:t>
            </a:r>
            <a:r>
              <a:rPr lang="en-US" altLang="zh-CN" sz="2400" b="1" dirty="0">
                <a:latin typeface="Trebuchet MS" panose="020B0603020202020204" pitchFamily="34" charset="0"/>
              </a:rPr>
              <a:t>   </a:t>
            </a:r>
          </a:p>
          <a:p>
            <a:pPr eaLnBrk="1" hangingPunct="1">
              <a:lnSpc>
                <a:spcPct val="110000"/>
              </a:lnSpc>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lang="en-US" altLang="zh-CN" sz="2400" dirty="0">
                <a:latin typeface="Trebuchet MS" panose="020B0603020202020204" pitchFamily="34" charset="0"/>
              </a:rPr>
              <a:t>Induct</a:t>
            </a:r>
            <a:r>
              <a:rPr lang="zh-CN" altLang="en-US" sz="2400" dirty="0">
                <a:latin typeface="Trebuchet MS" panose="020B0603020202020204" pitchFamily="34" charset="0"/>
              </a:rPr>
              <a:t> </a:t>
            </a:r>
            <a:r>
              <a:rPr lang="en-US" altLang="zh-CN" sz="2400" dirty="0">
                <a:latin typeface="Trebuchet MS" panose="020B0603020202020204" pitchFamily="34" charset="0"/>
              </a:rPr>
              <a:t>on</a:t>
            </a:r>
            <a:r>
              <a:rPr lang="zh-CN" altLang="en-US" sz="2400" dirty="0">
                <a:latin typeface="Trebuchet MS" panose="020B0603020202020204" pitchFamily="34" charset="0"/>
              </a:rPr>
              <a:t>  </a:t>
            </a:r>
            <a:r>
              <a:rPr lang="en-US" altLang="zh-CN" sz="2400" b="1" i="1" dirty="0">
                <a:latin typeface="Trebuchet MS" panose="020B0603020202020204" pitchFamily="34" charset="0"/>
              </a:rPr>
              <a:t>k </a:t>
            </a:r>
            <a:r>
              <a:rPr lang="en-US" altLang="zh-CN" sz="2400" b="1" dirty="0">
                <a:latin typeface="Trebuchet MS" panose="020B0603020202020204" pitchFamily="34" charset="0"/>
              </a:rPr>
              <a:t>. </a:t>
            </a:r>
            <a:r>
              <a:rPr lang="en-US" altLang="zh-CN" sz="2400" dirty="0">
                <a:latin typeface="Trebuchet MS" panose="020B0603020202020204" pitchFamily="34" charset="0"/>
              </a:rPr>
              <a:t>If </a:t>
            </a:r>
            <a:r>
              <a:rPr lang="en-US" altLang="zh-CN" sz="2400" b="1" i="1" dirty="0">
                <a:latin typeface="Trebuchet MS" panose="020B0603020202020204" pitchFamily="34" charset="0"/>
              </a:rPr>
              <a:t>k</a:t>
            </a:r>
            <a:r>
              <a:rPr lang="en-US" altLang="zh-CN" sz="2400" b="1" dirty="0">
                <a:latin typeface="Trebuchet MS" panose="020B0603020202020204" pitchFamily="34" charset="0"/>
              </a:rPr>
              <a:t>=0, </a:t>
            </a:r>
            <a:r>
              <a:rPr lang="en-US" altLang="zh-CN" sz="2400" dirty="0">
                <a:latin typeface="Trebuchet MS" panose="020B0603020202020204" pitchFamily="34" charset="0"/>
              </a:rPr>
              <a:t>then</a:t>
            </a:r>
            <a:r>
              <a:rPr lang="zh-CN" altLang="en-US" sz="2400" dirty="0">
                <a:latin typeface="Trebuchet MS" panose="020B0603020202020204" pitchFamily="34" charset="0"/>
              </a:rPr>
              <a:t> </a:t>
            </a:r>
            <a:r>
              <a:rPr lang="en-US" altLang="zh-CN" sz="2400" dirty="0">
                <a:latin typeface="Trebuchet MS" panose="020B0603020202020204" pitchFamily="34" charset="0"/>
              </a:rPr>
              <a:t>we</a:t>
            </a:r>
            <a:r>
              <a:rPr lang="zh-CN" altLang="en-US" sz="2400" dirty="0">
                <a:latin typeface="Trebuchet MS" panose="020B0603020202020204" pitchFamily="34" charset="0"/>
              </a:rPr>
              <a:t> </a:t>
            </a:r>
            <a:r>
              <a:rPr lang="en-US" altLang="zh-CN" sz="2400" dirty="0">
                <a:latin typeface="Trebuchet MS" panose="020B0603020202020204" pitchFamily="34" charset="0"/>
              </a:rPr>
              <a:t>have</a:t>
            </a:r>
            <a:r>
              <a:rPr lang="zh-CN" altLang="en-US" sz="2400" dirty="0">
                <a:latin typeface="Trebuchet MS" panose="020B0603020202020204" pitchFamily="34" charset="0"/>
              </a:rPr>
              <a:t> </a:t>
            </a:r>
          </a:p>
          <a:p>
            <a:pPr eaLnBrk="1" hangingPunct="1">
              <a:lnSpc>
                <a:spcPct val="110000"/>
              </a:lnSpc>
              <a:buFontTx/>
              <a:buNone/>
            </a:pPr>
            <a:r>
              <a:rPr lang="zh-CN" alt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s</a:t>
            </a:r>
            <a:r>
              <a:rPr lang="en-US" altLang="zh-CN" sz="2400" b="1" baseline="30000" dirty="0">
                <a:latin typeface="Trebuchet MS" panose="020B0603020202020204" pitchFamily="34" charset="0"/>
              </a:rPr>
              <a:t>+0</a:t>
            </a:r>
            <a:r>
              <a:rPr lang="en-US" altLang="zh-CN" sz="2400" b="1" i="1" baseline="30000" dirty="0">
                <a:latin typeface="Trebuchet MS" panose="020B0603020202020204" pitchFamily="34" charset="0"/>
              </a:rPr>
              <a:t>p</a:t>
            </a:r>
            <a:r>
              <a:rPr lang="en-US" altLang="zh-CN" sz="2400" b="1" baseline="30000" dirty="0">
                <a:latin typeface="Trebuchet MS" panose="020B0603020202020204" pitchFamily="34" charset="0"/>
              </a:rPr>
              <a:t>+</a:t>
            </a:r>
            <a:r>
              <a:rPr lang="en-US" altLang="zh-CN" sz="2400" b="1" i="1" baseline="30000" dirty="0">
                <a:latin typeface="Trebuchet MS" panose="020B0603020202020204" pitchFamily="34" charset="0"/>
              </a:rPr>
              <a:t>i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endParaRPr lang="en-US" altLang="zh-CN" sz="2400" b="1" baseline="30000" dirty="0">
              <a:latin typeface="Trebuchet MS" panose="020B0603020202020204" pitchFamily="34" charset="0"/>
            </a:endParaRPr>
          </a:p>
          <a:p>
            <a:pPr eaLnBrk="1" hangingPunct="1">
              <a:lnSpc>
                <a:spcPct val="110000"/>
              </a:lnSpc>
              <a:buFontTx/>
              <a:buNone/>
            </a:pPr>
            <a:r>
              <a:rPr lang="en-US" altLang="zh-CN" sz="2400" b="1" dirty="0">
                <a:latin typeface="Trebuchet MS" panose="020B0603020202020204" pitchFamily="34" charset="0"/>
              </a:rPr>
              <a:t>      </a:t>
            </a:r>
            <a:r>
              <a:rPr lang="en-US" altLang="zh-CN" sz="2400" dirty="0">
                <a:latin typeface="Trebuchet MS" panose="020B0603020202020204" pitchFamily="34" charset="0"/>
              </a:rPr>
              <a:t>Assume </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dirty="0">
                <a:latin typeface="Trebuchet MS" panose="020B0603020202020204" pitchFamily="34" charset="0"/>
              </a:rPr>
              <a:t>, </a:t>
            </a:r>
            <a:r>
              <a:rPr lang="en-US" altLang="zh-CN" sz="2400" dirty="0">
                <a:latin typeface="Trebuchet MS" panose="020B0603020202020204" pitchFamily="34" charset="0"/>
              </a:rPr>
              <a:t>where</a:t>
            </a:r>
            <a:r>
              <a:rPr lang="zh-CN" altLang="en-US" sz="2400" b="1" dirty="0">
                <a:latin typeface="Trebuchet MS" panose="020B0603020202020204" pitchFamily="34" charset="0"/>
              </a:rPr>
              <a:t> </a:t>
            </a:r>
            <a:r>
              <a:rPr lang="en-US" altLang="zh-CN" sz="2400" b="1" i="1" dirty="0">
                <a:latin typeface="Trebuchet MS" panose="020B0603020202020204" pitchFamily="34" charset="0"/>
              </a:rPr>
              <a:t>p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t</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s</a:t>
            </a:r>
            <a:r>
              <a:rPr lang="en-US" altLang="zh-CN" sz="2400" b="1" dirty="0">
                <a:latin typeface="Trebuchet MS" panose="020B0603020202020204" pitchFamily="34" charset="0"/>
              </a:rPr>
              <a:t>, </a:t>
            </a:r>
            <a:r>
              <a:rPr lang="en-US" altLang="zh-CN" sz="2400" dirty="0">
                <a:latin typeface="Trebuchet MS" panose="020B0603020202020204" pitchFamily="34" charset="0"/>
              </a:rPr>
              <a:t>then</a:t>
            </a:r>
            <a:endParaRPr lang="zh-CN" altLang="en-US" sz="2400" dirty="0">
              <a:latin typeface="Trebuchet MS" panose="020B0603020202020204" pitchFamily="34" charset="0"/>
            </a:endParaRPr>
          </a:p>
          <a:p>
            <a:pPr eaLnBrk="1" hangingPunct="1">
              <a:lnSpc>
                <a:spcPct val="110000"/>
              </a:lnSpc>
              <a:buFontTx/>
              <a:buNone/>
            </a:pPr>
            <a:r>
              <a:rPr lang="zh-CN" alt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s</a:t>
            </a:r>
            <a:r>
              <a:rPr lang="en-US" altLang="zh-CN" sz="2400" b="1" baseline="30000" dirty="0">
                <a:latin typeface="Trebuchet MS" panose="020B0603020202020204" pitchFamily="34" charset="0"/>
              </a:rPr>
              <a:t>+(</a:t>
            </a:r>
            <a:r>
              <a:rPr lang="en-US" altLang="zh-CN" sz="2400" b="1" i="1" baseline="30000" dirty="0">
                <a:latin typeface="Trebuchet MS" panose="020B0603020202020204" pitchFamily="34" charset="0"/>
              </a:rPr>
              <a:t>k</a:t>
            </a:r>
            <a:r>
              <a:rPr lang="en-US" altLang="zh-CN" sz="2400" b="1" baseline="30000" dirty="0">
                <a:latin typeface="Trebuchet MS" panose="020B0603020202020204" pitchFamily="34" charset="0"/>
              </a:rPr>
              <a:t>+1)</a:t>
            </a:r>
            <a:r>
              <a:rPr lang="en-US" altLang="zh-CN" sz="2400" b="1" i="1" baseline="30000" dirty="0" err="1">
                <a:latin typeface="Trebuchet MS" panose="020B0603020202020204" pitchFamily="34" charset="0"/>
              </a:rPr>
              <a:t>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p</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kumimoji="0"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p</a:t>
            </a:r>
            <a:endParaRPr lang="en-US" altLang="zh-CN" sz="2400" b="1" i="1" baseline="30000" dirty="0">
              <a:latin typeface="Trebuchet MS" panose="020B0603020202020204" pitchFamily="34" charset="0"/>
            </a:endParaRPr>
          </a:p>
          <a:p>
            <a:pPr eaLnBrk="1" hangingPunct="1">
              <a:lnSpc>
                <a:spcPct val="110000"/>
              </a:lnSpc>
              <a:buFontTx/>
              <a:buNone/>
            </a:pP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kumimoji="0"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p</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t</a:t>
            </a:r>
            <a:r>
              <a:rPr lang="en-US" altLang="zh-CN" sz="2400" b="1" baseline="30000" dirty="0" err="1">
                <a:latin typeface="Trebuchet MS" panose="020B0603020202020204" pitchFamily="34" charset="0"/>
                <a:sym typeface="Symbol" panose="05050102010706020507" pitchFamily="18" charset="2"/>
              </a:rPr>
              <a:t></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t</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baseline="30000" dirty="0">
                <a:latin typeface="Trebuchet MS" panose="020B0603020202020204" pitchFamily="34" charset="0"/>
              </a:rPr>
              <a:t> </a:t>
            </a:r>
          </a:p>
          <a:p>
            <a:pPr indent="-53975" eaLnBrk="1" hangingPunct="1">
              <a:lnSpc>
                <a:spcPct val="110000"/>
              </a:lnSpc>
              <a:buFontTx/>
              <a:buNone/>
            </a:pPr>
            <a:r>
              <a:rPr lang="en-US" sz="2400" dirty="0">
                <a:latin typeface="Trebuchet MS" panose="020B0603020202020204" pitchFamily="34" charset="0"/>
              </a:rPr>
              <a:t>By the principle of mathematical induction, the proposition is proven.</a:t>
            </a:r>
            <a:r>
              <a:rPr kumimoji="0" lang="zh-CN" altLang="en-US" sz="2400" b="1" dirty="0">
                <a:latin typeface="Trebuchet MS" panose="020B0603020202020204" pitchFamily="34" charset="0"/>
              </a:rPr>
              <a:t> </a:t>
            </a:r>
            <a:endParaRPr kumimoji="0" lang="en-US" altLang="zh-CN" sz="2800" b="1" dirty="0"/>
          </a:p>
          <a:p>
            <a:pPr eaLnBrk="1" hangingPunct="1">
              <a:spcBef>
                <a:spcPct val="0"/>
              </a:spcBef>
              <a:buFontTx/>
              <a:buNone/>
            </a:pPr>
            <a:endParaRPr kumimoji="0" lang="en-US" altLang="zh-CN" sz="2800" b="1" dirty="0"/>
          </a:p>
          <a:p>
            <a:pPr eaLnBrk="1" hangingPunct="1">
              <a:spcBef>
                <a:spcPct val="0"/>
              </a:spcBef>
              <a:buFontTx/>
              <a:buNone/>
            </a:pPr>
            <a:endParaRPr lang="en-US" altLang="zh-CN" b="1" dirty="0"/>
          </a:p>
          <a:p>
            <a:pPr eaLnBrk="1" hangingPunct="1">
              <a:spcBef>
                <a:spcPct val="0"/>
              </a:spcBef>
              <a:buFontTx/>
              <a:buNone/>
            </a:pPr>
            <a:endParaRPr lang="en-US" altLang="zh-CN" b="1" dirty="0"/>
          </a:p>
          <a:p>
            <a:pPr eaLnBrk="1" hangingPunct="1">
              <a:spcBef>
                <a:spcPct val="0"/>
              </a:spcBef>
              <a:buFontTx/>
              <a:buNone/>
            </a:pPr>
            <a:endParaRPr kumimoji="0" lang="en-US" altLang="zh-CN" sz="2800" b="1" dirty="0"/>
          </a:p>
          <a:p>
            <a:pPr eaLnBrk="1" hangingPunct="1">
              <a:lnSpc>
                <a:spcPct val="120000"/>
              </a:lnSpc>
              <a:spcBef>
                <a:spcPct val="0"/>
              </a:spcBef>
              <a:buFontTx/>
              <a:buNone/>
            </a:pPr>
            <a:endParaRPr kumimoji="0" lang="zh-CN" altLang="en-US" sz="2000" b="1" dirty="0">
              <a:latin typeface="Arial" panose="020B0604020202020204" pitchFamily="34" charset="0"/>
            </a:endParaRPr>
          </a:p>
        </p:txBody>
      </p:sp>
    </p:spTree>
    <p:extLst>
      <p:ext uri="{BB962C8B-B14F-4D97-AF65-F5344CB8AC3E}">
        <p14:creationId xmlns:p14="http://schemas.microsoft.com/office/powerpoint/2010/main" val="1571949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anim calcmode="lin" valueType="num">
                                      <p:cBhvr>
                                        <p:cTn id="1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1000"/>
                                        <p:tgtEl>
                                          <p:spTgt spid="8">
                                            <p:txEl>
                                              <p:pRg st="5" end="5"/>
                                            </p:txEl>
                                          </p:spTgt>
                                        </p:tgtEl>
                                      </p:cBhvr>
                                    </p:animEffect>
                                    <p:anim calcmode="lin" valueType="num">
                                      <p:cBhvr>
                                        <p:cTn id="2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1000"/>
                                        <p:tgtEl>
                                          <p:spTgt spid="8">
                                            <p:txEl>
                                              <p:pRg st="6" end="6"/>
                                            </p:txEl>
                                          </p:spTgt>
                                        </p:tgtEl>
                                      </p:cBhvr>
                                    </p:animEffect>
                                    <p:anim calcmode="lin" valueType="num">
                                      <p:cBhvr>
                                        <p:cTn id="2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1000"/>
                                        <p:tgtEl>
                                          <p:spTgt spid="8">
                                            <p:txEl>
                                              <p:pRg st="7" end="7"/>
                                            </p:txEl>
                                          </p:spTgt>
                                        </p:tgtEl>
                                      </p:cBhvr>
                                    </p:animEffect>
                                    <p:anim calcmode="lin" valueType="num">
                                      <p:cBhvr>
                                        <p:cTn id="3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4.2.2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Power Operations of Relations</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The properties of a power operations </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Stabilization, Periodicity and Finite State Constraint </a:t>
            </a:r>
            <a:endParaRPr lang="en-US" altLang="zh-CN" sz="2400" b="1" dirty="0">
              <a:highlight>
                <a:srgbClr val="FF0000"/>
              </a:highlight>
              <a:latin typeface="Trebuchet MS" panose="020B060302020202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74034"/>
            <a:ext cx="9047389" cy="42081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Clr>
                <a:srgbClr val="0B5BFF"/>
              </a:buClr>
              <a:buSzPct val="80000"/>
              <a:buFont typeface="Wingdings" panose="05000000000000000000" pitchFamily="2" charset="2"/>
              <a:buChar char="n"/>
            </a:pPr>
            <a:r>
              <a:rPr lang="en-US" altLang="zh-CN" sz="2400" b="1" dirty="0">
                <a:latin typeface="Trebuchet MS" panose="020B0603020202020204" pitchFamily="34" charset="0"/>
              </a:rPr>
              <a:t>Proof:</a:t>
            </a:r>
          </a:p>
          <a:p>
            <a:pPr>
              <a:lnSpc>
                <a:spcPct val="120000"/>
              </a:lnSpc>
              <a:spcBef>
                <a:spcPts val="300"/>
              </a:spcBef>
              <a:buNone/>
            </a:pPr>
            <a:r>
              <a:rPr lang="zh-CN" altLang="en-US" sz="2400" b="1" dirty="0">
                <a:solidFill>
                  <a:srgbClr val="0B5BFF"/>
                </a:solidFill>
                <a:latin typeface="Trebuchet MS" panose="020B0603020202020204" pitchFamily="34" charset="0"/>
              </a:rPr>
              <a:t> </a:t>
            </a:r>
            <a:r>
              <a:rPr lang="en-US" altLang="zh-CN" sz="2400" b="1" dirty="0">
                <a:solidFill>
                  <a:srgbClr val="0B5BFF"/>
                </a:solidFill>
                <a:latin typeface="Trebuchet MS" panose="020B0603020202020204" pitchFamily="34" charset="0"/>
              </a:rPr>
              <a:t>(3) </a:t>
            </a:r>
            <a:r>
              <a:rPr lang="en-US" altLang="zh-CN" sz="2400" dirty="0">
                <a:latin typeface="Trebuchet MS" panose="020B0603020202020204" pitchFamily="34" charset="0"/>
              </a:rPr>
              <a:t>For</a:t>
            </a:r>
            <a:r>
              <a:rPr lang="zh-CN" altLang="en-US" sz="2400" dirty="0">
                <a:latin typeface="Trebuchet MS" panose="020B0603020202020204" pitchFamily="34" charset="0"/>
              </a:rPr>
              <a:t> </a:t>
            </a:r>
            <a:r>
              <a:rPr lang="en-US" altLang="zh-CN" sz="2400" dirty="0">
                <a:latin typeface="Trebuchet MS" panose="020B0603020202020204" pitchFamily="34" charset="0"/>
              </a:rPr>
              <a:t>any</a:t>
            </a:r>
            <a:r>
              <a:rPr lang="zh-CN" altLang="en-US" sz="2400" dirty="0">
                <a:latin typeface="Trebuchet MS" panose="020B0603020202020204" pitchFamily="34" charset="0"/>
              </a:rPr>
              <a:t>  </a:t>
            </a:r>
            <a:r>
              <a:rPr lang="en-US" altLang="zh-CN" sz="2400" b="1" i="1" dirty="0" err="1">
                <a:latin typeface="Trebuchet MS" panose="020B0603020202020204" pitchFamily="34" charset="0"/>
              </a:rPr>
              <a:t>q</a:t>
            </a:r>
            <a:r>
              <a:rPr lang="en-US" altLang="zh-CN" sz="2400" b="1" dirty="0" err="1">
                <a:latin typeface="Trebuchet MS" panose="020B0603020202020204" pitchFamily="34" charset="0"/>
              </a:rPr>
              <a:t>∈N</a:t>
            </a:r>
            <a:r>
              <a:rPr lang="en-US" altLang="zh-CN" sz="2400" b="1" dirty="0">
                <a:latin typeface="Trebuchet MS" panose="020B0603020202020204" pitchFamily="34" charset="0"/>
              </a:rPr>
              <a:t>, </a:t>
            </a:r>
            <a:r>
              <a:rPr lang="en-US" altLang="zh-CN" sz="2400" dirty="0">
                <a:latin typeface="Trebuchet MS" panose="020B0603020202020204" pitchFamily="34" charset="0"/>
              </a:rPr>
              <a:t>if</a:t>
            </a:r>
            <a:r>
              <a:rPr lang="zh-CN" altLang="en-US" sz="2400" b="1" dirty="0">
                <a:latin typeface="Trebuchet MS" panose="020B0603020202020204" pitchFamily="34" charset="0"/>
              </a:rPr>
              <a:t> </a:t>
            </a:r>
            <a:r>
              <a:rPr lang="en-US" altLang="zh-CN" sz="2400" b="1" i="1" dirty="0">
                <a:latin typeface="Trebuchet MS" panose="020B0603020202020204" pitchFamily="34" charset="0"/>
              </a:rPr>
              <a:t>q</a:t>
            </a:r>
            <a:r>
              <a:rPr lang="en-US" altLang="zh-CN" sz="2400" b="1" dirty="0">
                <a:latin typeface="Trebuchet MS" panose="020B0603020202020204" pitchFamily="34" charset="0"/>
              </a:rPr>
              <a:t>&lt;</a:t>
            </a:r>
            <a:r>
              <a:rPr lang="en-US" altLang="zh-CN" sz="2400" b="1" i="1" dirty="0">
                <a:latin typeface="Trebuchet MS" panose="020B0603020202020204" pitchFamily="34" charset="0"/>
              </a:rPr>
              <a:t>t</a:t>
            </a:r>
            <a:r>
              <a:rPr lang="en-US" altLang="zh-CN" sz="2400" dirty="0">
                <a:latin typeface="Trebuchet MS" panose="020B0603020202020204" pitchFamily="34" charset="0"/>
              </a:rPr>
              <a:t>, it</a:t>
            </a:r>
            <a:r>
              <a:rPr lang="zh-CN" altLang="en-US" sz="2400" dirty="0">
                <a:latin typeface="Trebuchet MS" panose="020B0603020202020204" pitchFamily="34" charset="0"/>
              </a:rPr>
              <a:t> </a:t>
            </a:r>
            <a:r>
              <a:rPr lang="en-US" altLang="zh-CN" sz="2400" dirty="0">
                <a:latin typeface="Trebuchet MS" panose="020B0603020202020204" pitchFamily="34" charset="0"/>
              </a:rPr>
              <a:t>is</a:t>
            </a:r>
            <a:r>
              <a:rPr lang="zh-CN" altLang="en-US" sz="2400" dirty="0">
                <a:latin typeface="Trebuchet MS" panose="020B0603020202020204" pitchFamily="34" charset="0"/>
              </a:rPr>
              <a:t> </a:t>
            </a:r>
            <a:r>
              <a:rPr lang="en-US" altLang="zh-CN" sz="2400" dirty="0">
                <a:latin typeface="Trebuchet MS" panose="020B0603020202020204" pitchFamily="34" charset="0"/>
              </a:rPr>
              <a:t>obvious</a:t>
            </a:r>
            <a:r>
              <a:rPr lang="zh-CN" altLang="en-US" sz="2400" dirty="0">
                <a:latin typeface="Trebuchet MS" panose="020B0603020202020204" pitchFamily="34" charset="0"/>
              </a:rPr>
              <a:t> </a:t>
            </a:r>
            <a:r>
              <a:rPr lang="en-US" altLang="zh-CN" sz="2400" dirty="0">
                <a:latin typeface="Trebuchet MS" panose="020B0603020202020204" pitchFamily="34" charset="0"/>
              </a:rPr>
              <a:t>that</a:t>
            </a:r>
            <a:r>
              <a:rPr lang="zh-CN" altLang="en-US" sz="2400"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q</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S</a:t>
            </a:r>
            <a:r>
              <a:rPr lang="en-US" altLang="zh-CN" sz="2400" b="1" dirty="0">
                <a:latin typeface="Trebuchet MS" panose="020B0603020202020204" pitchFamily="34" charset="0"/>
              </a:rPr>
              <a:t>. </a:t>
            </a:r>
          </a:p>
          <a:p>
            <a:pPr indent="223838">
              <a:lnSpc>
                <a:spcPct val="120000"/>
              </a:lnSpc>
              <a:spcBef>
                <a:spcPts val="300"/>
              </a:spcBef>
              <a:buNone/>
            </a:pPr>
            <a:r>
              <a:rPr lang="en-US" altLang="zh-CN" sz="2400" dirty="0">
                <a:latin typeface="Trebuchet MS" panose="020B0603020202020204" pitchFamily="34" charset="0"/>
              </a:rPr>
              <a:t>If</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q</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t</a:t>
            </a:r>
            <a:r>
              <a:rPr lang="en-US" altLang="zh-CN" sz="2400" b="1" dirty="0">
                <a:latin typeface="Trebuchet MS" panose="020B0603020202020204" pitchFamily="34" charset="0"/>
              </a:rPr>
              <a:t>, </a:t>
            </a:r>
            <a:r>
              <a:rPr lang="en-US" altLang="zh-CN" sz="2400" dirty="0">
                <a:latin typeface="Trebuchet MS" panose="020B0603020202020204" pitchFamily="34" charset="0"/>
              </a:rPr>
              <a:t>then there exist natural numbers </a:t>
            </a:r>
            <a:r>
              <a:rPr lang="en-US" altLang="zh-CN" sz="2400" b="1" i="1" dirty="0">
                <a:latin typeface="Trebuchet MS" panose="020B0603020202020204" pitchFamily="34" charset="0"/>
              </a:rPr>
              <a:t>k </a:t>
            </a:r>
            <a:r>
              <a:rPr lang="en-US" altLang="zh-CN" sz="2400" i="1" dirty="0">
                <a:latin typeface="Trebuchet MS" panose="020B0603020202020204" pitchFamily="34" charset="0"/>
              </a:rPr>
              <a:t>and</a:t>
            </a:r>
            <a:r>
              <a:rPr lang="zh-CN" altLang="en-US" sz="2400" b="1" i="1" dirty="0">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i</a:t>
            </a:r>
            <a:r>
              <a:rPr lang="en-US" altLang="zh-CN" sz="2400" b="1" i="1" dirty="0">
                <a:latin typeface="Trebuchet MS" panose="020B0603020202020204" pitchFamily="34" charset="0"/>
              </a:rPr>
              <a:t> </a:t>
            </a:r>
            <a:r>
              <a:rPr lang="en-US" altLang="zh-CN" sz="2400" i="1" dirty="0">
                <a:latin typeface="Trebuchet MS" panose="020B0603020202020204" pitchFamily="34" charset="0"/>
              </a:rPr>
              <a:t>such</a:t>
            </a:r>
            <a:r>
              <a:rPr lang="zh-CN" altLang="en-US" sz="2400" i="1" dirty="0">
                <a:latin typeface="Trebuchet MS" panose="020B0603020202020204" pitchFamily="34" charset="0"/>
              </a:rPr>
              <a:t> </a:t>
            </a:r>
            <a:r>
              <a:rPr lang="en-US" altLang="zh-CN" sz="2400" i="1" dirty="0">
                <a:latin typeface="Trebuchet MS" panose="020B0603020202020204" pitchFamily="34" charset="0"/>
              </a:rPr>
              <a:t>that</a:t>
            </a:r>
            <a:r>
              <a:rPr lang="zh-CN" altLang="en-US" sz="2400" i="1" dirty="0">
                <a:latin typeface="Trebuchet MS" panose="020B0603020202020204" pitchFamily="34" charset="0"/>
              </a:rPr>
              <a:t> </a:t>
            </a:r>
            <a:endParaRPr lang="zh-CN" altLang="en-US" sz="2400" dirty="0">
              <a:latin typeface="Trebuchet MS" panose="020B0603020202020204" pitchFamily="34" charset="0"/>
            </a:endParaRPr>
          </a:p>
          <a:p>
            <a:pPr indent="223838">
              <a:lnSpc>
                <a:spcPct val="120000"/>
              </a:lnSpc>
              <a:spcBef>
                <a:spcPts val="300"/>
              </a:spcBef>
              <a:buNone/>
            </a:pPr>
            <a:r>
              <a:rPr lang="zh-CN" altLang="en-US" sz="2400" b="1" dirty="0">
                <a:latin typeface="Trebuchet MS" panose="020B0603020202020204" pitchFamily="34" charset="0"/>
              </a:rPr>
              <a:t>               </a:t>
            </a:r>
            <a:r>
              <a:rPr lang="en-US" altLang="zh-CN" sz="2400" b="1" i="1" dirty="0">
                <a:latin typeface="Trebuchet MS" panose="020B0603020202020204" pitchFamily="34" charset="0"/>
              </a:rPr>
              <a:t>q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s</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kp</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i</a:t>
            </a:r>
            <a:r>
              <a:rPr lang="zh-CN" altLang="en-US" sz="2400" b="1" dirty="0">
                <a:latin typeface="Trebuchet MS" panose="020B0603020202020204" pitchFamily="34" charset="0"/>
              </a:rPr>
              <a:t>，</a:t>
            </a:r>
            <a:r>
              <a:rPr lang="en-US" altLang="zh-CN" sz="2400" b="1" dirty="0">
                <a:latin typeface="Trebuchet MS" panose="020B0603020202020204" pitchFamily="34" charset="0"/>
              </a:rPr>
              <a:t>where</a:t>
            </a:r>
            <a:r>
              <a:rPr lang="zh-CN" altLang="en-US" sz="2400" b="1" dirty="0">
                <a:latin typeface="Trebuchet MS" panose="020B0603020202020204" pitchFamily="34" charset="0"/>
              </a:rPr>
              <a:t> </a:t>
            </a:r>
            <a:r>
              <a:rPr lang="en-US" altLang="zh-CN" sz="2400" b="1" dirty="0">
                <a:latin typeface="Trebuchet MS" panose="020B0603020202020204" pitchFamily="34" charset="0"/>
              </a:rPr>
              <a:t>0≤</a:t>
            </a:r>
            <a:r>
              <a:rPr lang="en-US" altLang="zh-CN" sz="2400" b="1" i="1" dirty="0">
                <a:latin typeface="Trebuchet MS" panose="020B0603020202020204" pitchFamily="34" charset="0"/>
              </a:rPr>
              <a:t>i</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a:t>
            </a:r>
          </a:p>
          <a:p>
            <a:pPr indent="223838">
              <a:lnSpc>
                <a:spcPct val="120000"/>
              </a:lnSpc>
              <a:spcBef>
                <a:spcPts val="300"/>
              </a:spcBef>
              <a:buNone/>
            </a:pPr>
            <a:r>
              <a:rPr lang="en-US" altLang="zh-CN" sz="2400" dirty="0">
                <a:latin typeface="Trebuchet MS" panose="020B0603020202020204" pitchFamily="34" charset="0"/>
              </a:rPr>
              <a:t>Thus</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a:p>
            <a:pPr indent="223838">
              <a:lnSpc>
                <a:spcPct val="120000"/>
              </a:lnSpc>
              <a:spcBef>
                <a:spcPts val="300"/>
              </a:spcBef>
              <a:buNone/>
            </a:pPr>
            <a:r>
              <a:rPr lang="zh-CN" altLang="en-US"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q</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kp</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s</a:t>
            </a:r>
            <a:r>
              <a:rPr lang="en-US" altLang="zh-CN" sz="2400" b="1" baseline="30000" dirty="0" err="1">
                <a:latin typeface="Trebuchet MS" panose="020B0603020202020204" pitchFamily="34" charset="0"/>
              </a:rPr>
              <a:t>+</a:t>
            </a:r>
            <a:r>
              <a:rPr lang="en-US" altLang="zh-CN" sz="2400" b="1" i="1" baseline="30000" dirty="0" err="1">
                <a:latin typeface="Trebuchet MS" panose="020B0603020202020204" pitchFamily="34" charset="0"/>
              </a:rPr>
              <a:t>i</a:t>
            </a:r>
            <a:r>
              <a:rPr lang="en-US" altLang="zh-CN" sz="2400" b="1" baseline="30000" dirty="0">
                <a:latin typeface="Trebuchet MS" panose="020B0603020202020204" pitchFamily="34" charset="0"/>
              </a:rPr>
              <a:t> </a:t>
            </a:r>
          </a:p>
          <a:p>
            <a:pPr indent="223838">
              <a:lnSpc>
                <a:spcPct val="120000"/>
              </a:lnSpc>
              <a:spcBef>
                <a:spcPts val="300"/>
              </a:spcBef>
              <a:buNone/>
            </a:pPr>
            <a:r>
              <a:rPr lang="en-US" altLang="zh-CN" sz="2400" dirty="0">
                <a:latin typeface="Trebuchet MS" panose="020B0603020202020204" pitchFamily="34" charset="0"/>
              </a:rPr>
              <a:t>Since</a:t>
            </a:r>
            <a:r>
              <a:rPr lang="zh-CN" altLang="en-US" sz="2400" dirty="0">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err="1">
                <a:latin typeface="Trebuchet MS" panose="020B0603020202020204" pitchFamily="34" charset="0"/>
              </a:rPr>
              <a:t>s</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i</a:t>
            </a:r>
            <a:r>
              <a:rPr lang="en-US" altLang="zh-CN" sz="2400" b="1" i="1"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s</a:t>
            </a:r>
            <a:r>
              <a:rPr lang="en-US" altLang="zh-CN" sz="2400" b="1" dirty="0">
                <a:latin typeface="Trebuchet MS" panose="020B0603020202020204" pitchFamily="34" charset="0"/>
              </a:rPr>
              <a:t>+</a:t>
            </a:r>
            <a:r>
              <a:rPr lang="en-US" altLang="zh-CN" sz="2400" b="1" i="1" dirty="0">
                <a:latin typeface="Trebuchet MS" panose="020B0603020202020204" pitchFamily="34" charset="0"/>
              </a:rPr>
              <a:t>p</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 </a:t>
            </a:r>
            <a:r>
              <a:rPr lang="en-US" altLang="zh-CN" sz="2400" b="1" i="1" dirty="0">
                <a:latin typeface="Trebuchet MS" panose="020B0603020202020204" pitchFamily="34" charset="0"/>
              </a:rPr>
              <a:t>s</a:t>
            </a:r>
            <a:r>
              <a:rPr lang="en-US" altLang="zh-CN" sz="2400" b="1" dirty="0">
                <a:latin typeface="Trebuchet MS" panose="020B0603020202020204" pitchFamily="34" charset="0"/>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s</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 </a:t>
            </a:r>
            <a:r>
              <a:rPr lang="en-US" altLang="zh-CN" sz="2400" b="1" i="1" dirty="0">
                <a:latin typeface="Trebuchet MS" panose="020B0603020202020204" pitchFamily="34" charset="0"/>
              </a:rPr>
              <a:t>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a:t>
            </a:r>
          </a:p>
          <a:p>
            <a:pPr indent="223838">
              <a:lnSpc>
                <a:spcPct val="120000"/>
              </a:lnSpc>
              <a:spcBef>
                <a:spcPts val="300"/>
              </a:spcBef>
              <a:buNone/>
            </a:pPr>
            <a:r>
              <a:rPr lang="en-US" altLang="zh-CN" sz="2400" b="1" dirty="0">
                <a:latin typeface="Trebuchet MS" panose="020B0603020202020204" pitchFamily="34" charset="0"/>
              </a:rPr>
              <a:t> </a:t>
            </a:r>
            <a:r>
              <a:rPr lang="en-US" altLang="zh-CN" sz="2400" dirty="0">
                <a:latin typeface="Trebuchet MS" panose="020B0603020202020204" pitchFamily="34" charset="0"/>
              </a:rPr>
              <a:t>this</a:t>
            </a:r>
            <a:r>
              <a:rPr lang="zh-CN" altLang="en-US" sz="2400" dirty="0">
                <a:latin typeface="Trebuchet MS" panose="020B0603020202020204" pitchFamily="34" charset="0"/>
              </a:rPr>
              <a:t> </a:t>
            </a:r>
            <a:r>
              <a:rPr lang="en-US" altLang="zh-CN" sz="2400" dirty="0">
                <a:latin typeface="Trebuchet MS" panose="020B0603020202020204" pitchFamily="34" charset="0"/>
              </a:rPr>
              <a:t>proves</a:t>
            </a:r>
            <a:r>
              <a:rPr lang="zh-CN" altLang="en-US" sz="2400" dirty="0">
                <a:latin typeface="Trebuchet MS" panose="020B0603020202020204" pitchFamily="34" charset="0"/>
              </a:rPr>
              <a:t> </a:t>
            </a:r>
            <a:r>
              <a:rPr lang="en-US" altLang="zh-CN" sz="2400" dirty="0">
                <a:latin typeface="Trebuchet MS" panose="020B0603020202020204" pitchFamily="34" charset="0"/>
              </a:rPr>
              <a:t>that</a:t>
            </a:r>
            <a:r>
              <a:rPr lang="zh-CN" altLang="en-US" sz="2400" dirty="0">
                <a:latin typeface="Trebuchet MS" panose="020B0603020202020204" pitchFamily="34" charset="0"/>
              </a:rPr>
              <a:t> </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q</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S</a:t>
            </a:r>
            <a:r>
              <a:rPr lang="en-US" altLang="zh-CN" sz="2400" b="1" dirty="0">
                <a:latin typeface="Trebuchet MS" panose="020B0603020202020204" pitchFamily="34" charset="0"/>
              </a:rPr>
              <a:t>.</a:t>
            </a:r>
            <a:endParaRPr lang="en-US" altLang="zh-CN" b="1" dirty="0"/>
          </a:p>
          <a:p>
            <a:pPr eaLnBrk="1" hangingPunct="1">
              <a:spcBef>
                <a:spcPct val="0"/>
              </a:spcBef>
              <a:buFontTx/>
              <a:buNone/>
            </a:pPr>
            <a:endParaRPr kumimoji="0" lang="en-US" altLang="zh-CN" sz="2800" b="1" dirty="0"/>
          </a:p>
          <a:p>
            <a:pPr eaLnBrk="1" hangingPunct="1">
              <a:lnSpc>
                <a:spcPct val="120000"/>
              </a:lnSpc>
              <a:spcBef>
                <a:spcPct val="0"/>
              </a:spcBef>
              <a:buFontTx/>
              <a:buNone/>
            </a:pPr>
            <a:endParaRPr kumimoji="0" lang="zh-CN" altLang="en-US" sz="2000" b="1" dirty="0">
              <a:latin typeface="Arial" panose="020B0604020202020204" pitchFamily="34" charset="0"/>
            </a:endParaRPr>
          </a:p>
        </p:txBody>
      </p:sp>
    </p:spTree>
    <p:extLst>
      <p:ext uri="{BB962C8B-B14F-4D97-AF65-F5344CB8AC3E}">
        <p14:creationId xmlns:p14="http://schemas.microsoft.com/office/powerpoint/2010/main" val="812199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4.</a:t>
            </a:r>
            <a:r>
              <a:rPr lang="en-US" altLang="zh-CN" sz="2400" b="1" dirty="0">
                <a:latin typeface="Trebuchet MS" panose="020B0603020202020204" pitchFamily="34" charset="0"/>
              </a:rPr>
              <a:t>2 Relational Operation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1084446373"/>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zh-CN" altLang="zh-CN" dirty="0">
                <a:solidFill>
                  <a:schemeClr val="bg1"/>
                </a:solidFill>
                <a:latin typeface="Söhne"/>
              </a:rPr>
              <a:t>离散数学</a:t>
            </a:r>
            <a:r>
              <a:rPr lang="zh-CN" altLang="en-US" dirty="0">
                <a:solidFill>
                  <a:schemeClr val="bg1"/>
                </a:solidFill>
                <a:latin typeface="Söhne"/>
              </a:rPr>
              <a:t>（</a:t>
            </a:r>
            <a:r>
              <a:rPr lang="en-US" altLang="zh-CN" dirty="0">
                <a:solidFill>
                  <a:schemeClr val="bg1"/>
                </a:solidFill>
                <a:latin typeface="Trebuchet MS" panose="020B0603020202020204" pitchFamily="34" charset="0"/>
              </a:rPr>
              <a:t>011122</a:t>
            </a:r>
            <a:r>
              <a:rPr lang="zh-CN" altLang="en-US" dirty="0">
                <a:solidFill>
                  <a:schemeClr val="bg1"/>
                </a:solidFill>
                <a:latin typeface="Söhne"/>
              </a:rPr>
              <a:t>）</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732119" y="5774634"/>
            <a:ext cx="7262777" cy="997196"/>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Trebuchet MS" panose="020B0603020202020204" pitchFamily="34" charset="0"/>
                <a:cs typeface="Times New Roman" panose="02020603050405020304" pitchFamily="18" charset="0"/>
                <a:hlinkClick r:id="rId4"/>
              </a:rPr>
              <a:t>kejiwei@tongji.edu.cn</a:t>
            </a:r>
            <a:endParaRPr lang="en-US" altLang="zh-CN" sz="2800" b="1" dirty="0">
              <a:latin typeface="Trebuchet MS" panose="020B0603020202020204" pitchFamily="34" charset="0"/>
              <a:cs typeface="Times New Roman" panose="02020603050405020304" pitchFamily="18" charset="0"/>
            </a:endParaRPr>
          </a:p>
          <a:p>
            <a:pPr algn="ctr" fontAlgn="base">
              <a:spcBef>
                <a:spcPct val="10000"/>
              </a:spcBef>
              <a:spcAft>
                <a:spcPct val="0"/>
              </a:spcAft>
              <a:buClr>
                <a:srgbClr val="39BBF0"/>
              </a:buClr>
              <a:buSzPct val="60000"/>
            </a:pPr>
            <a:r>
              <a:rPr lang="en-US" altLang="zh-CN" sz="2800" dirty="0">
                <a:latin typeface="Trebuchet MS" panose="020B0603020202020204" pitchFamily="34" charset="0"/>
                <a:ea typeface="微软雅黑" pitchFamily="34" charset="-122"/>
                <a:cs typeface="Times New Roman" panose="02020603050405020304" pitchFamily="18" charset="0"/>
              </a:rPr>
              <a:t>		</a:t>
            </a:r>
            <a:r>
              <a:rPr lang="en-US" altLang="zh-CN" sz="2800" dirty="0">
                <a:latin typeface="Trebuchet MS" panose="020B0603020202020204" pitchFamily="34" charset="0"/>
                <a:ea typeface="微软雅黑" pitchFamily="34" charset="-122"/>
                <a:cs typeface="Times New Roman" panose="02020603050405020304" pitchFamily="18" charset="0"/>
                <a:hlinkClick r:id="rId5"/>
              </a:rPr>
              <a:t>https://kejiwei.github.io/</a:t>
            </a: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7"/>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3432764100"/>
      </p:ext>
    </p:extLst>
  </p:cSld>
  <p:clrMapOvr>
    <a:masterClrMapping/>
  </p:clrMapOvr>
  <mc:AlternateContent xmlns:mc="http://schemas.openxmlformats.org/markup-compatibility/2006" xmlns:p14="http://schemas.microsoft.com/office/powerpoint/2010/main">
    <mc:Choice Requires="p14">
      <p:transition p14:dur="5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4</a:t>
            </a:r>
            <a:r>
              <a:rPr lang="zh-CN" altLang="en-US" sz="2400" b="1" dirty="0">
                <a:latin typeface="Trebuchet MS" panose="020B0603020202020204" pitchFamily="34" charset="0"/>
              </a:rPr>
              <a:t>：</a:t>
            </a:r>
            <a:r>
              <a:rPr lang="en-US" altLang="zh-CN" sz="2400" b="0" i="0" dirty="0">
                <a:solidFill>
                  <a:schemeClr val="bg1"/>
                </a:solidFill>
                <a:effectLst/>
                <a:latin typeface="Trebuchet MS" panose="020B0603020202020204" pitchFamily="34" charset="0"/>
              </a:rPr>
              <a:t>Relations</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66A181A1-6A67-4B3D-BFFB-0EC0FBCF63A0}"/>
              </a:ext>
            </a:extLst>
          </p:cNvPr>
          <p:cNvSpPr txBox="1"/>
          <p:nvPr/>
        </p:nvSpPr>
        <p:spPr>
          <a:xfrm>
            <a:off x="1084792" y="1058684"/>
            <a:ext cx="7830608" cy="3030715"/>
          </a:xfrm>
          <a:prstGeom prst="rect">
            <a:avLst/>
          </a:prstGeom>
          <a:noFill/>
        </p:spPr>
        <p:txBody>
          <a:bodyPr wrap="square">
            <a:noAutofit/>
          </a:bodyPr>
          <a:lstStyle/>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4.1 Definition and Representation of Relations</a:t>
            </a:r>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4.2 Relational Operations</a:t>
            </a:r>
          </a:p>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4.3 Properties of Relations</a:t>
            </a:r>
          </a:p>
          <a:p>
            <a:pPr marL="342900" indent="-342900">
              <a:lnSpc>
                <a:spcPct val="150000"/>
              </a:lnSpc>
              <a:buClr>
                <a:srgbClr val="0B61FF"/>
              </a:buClr>
              <a:buSzPct val="80000"/>
              <a:buFont typeface="Wingdings" panose="05000000000000000000" pitchFamily="2" charset="2"/>
              <a:buChar char="n"/>
            </a:pPr>
            <a:r>
              <a:rPr lang="en-US" sz="2400" b="1" i="0" dirty="0">
                <a:solidFill>
                  <a:srgbClr val="0D0D0D"/>
                </a:solidFill>
                <a:effectLst/>
                <a:latin typeface="Trebuchet MS" panose="020B0603020202020204" pitchFamily="34" charset="0"/>
              </a:rPr>
              <a:t>4.4 Equivalence Relations and Partial Order Relations</a:t>
            </a:r>
            <a:endParaRPr lang="en-US" sz="2400" b="1" dirty="0">
              <a:latin typeface="Trebuchet MS" panose="020B0603020202020204" pitchFamily="34" charset="0"/>
            </a:endParaRPr>
          </a:p>
        </p:txBody>
      </p:sp>
    </p:spTree>
    <p:extLst>
      <p:ext uri="{BB962C8B-B14F-4D97-AF65-F5344CB8AC3E}">
        <p14:creationId xmlns:p14="http://schemas.microsoft.com/office/powerpoint/2010/main" val="3212189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5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4.3 Properties of Relations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57943"/>
            <a:ext cx="8798289"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4.3.1 Definition and Determination of Relation Properties</a:t>
            </a:r>
          </a:p>
          <a:p>
            <a:pPr marL="990600" indent="0">
              <a:lnSpc>
                <a:spcPct val="12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Reflexivity and </a:t>
            </a:r>
            <a:r>
              <a:rPr lang="en-US" sz="2400" dirty="0" err="1">
                <a:latin typeface="Trebuchet MS" panose="020B0603020202020204" pitchFamily="34" charset="0"/>
              </a:rPr>
              <a:t>Irreflexivity</a:t>
            </a:r>
            <a:endParaRPr lang="en-US" sz="2400" dirty="0">
              <a:latin typeface="Trebuchet MS" panose="020B0603020202020204" pitchFamily="34" charset="0"/>
            </a:endParaRPr>
          </a:p>
          <a:p>
            <a:pPr marL="990600" indent="0">
              <a:lnSpc>
                <a:spcPct val="12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Symmetry and </a:t>
            </a:r>
            <a:r>
              <a:rPr lang="en-US" sz="2400" dirty="0" err="1">
                <a:latin typeface="Trebuchet MS" panose="020B0603020202020204" pitchFamily="34" charset="0"/>
              </a:rPr>
              <a:t>Antisymmetry</a:t>
            </a:r>
            <a:endParaRPr lang="en-US" sz="2400" dirty="0">
              <a:latin typeface="Trebuchet MS" panose="020B0603020202020204" pitchFamily="34" charset="0"/>
            </a:endParaRPr>
          </a:p>
          <a:p>
            <a:pPr marL="990600" indent="0">
              <a:lnSpc>
                <a:spcPct val="12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Transitivity</a:t>
            </a:r>
          </a:p>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4.3.2 Closure of Relations</a:t>
            </a:r>
          </a:p>
          <a:p>
            <a:pPr marL="990600" indent="0">
              <a:lnSpc>
                <a:spcPct val="120000"/>
              </a:lnSpc>
              <a:spcBef>
                <a:spcPts val="300"/>
              </a:spcBef>
              <a:buClr>
                <a:srgbClr val="0B5BFF"/>
              </a:buClr>
              <a:buSzPct val="120000"/>
            </a:pPr>
            <a:r>
              <a:rPr lang="en-US" sz="2400" dirty="0">
                <a:latin typeface="Trebuchet MS" panose="020B0603020202020204" pitchFamily="34" charset="0"/>
              </a:rPr>
              <a:t>Definition of Closure</a:t>
            </a:r>
          </a:p>
          <a:p>
            <a:pPr marL="990600" indent="0">
              <a:lnSpc>
                <a:spcPct val="120000"/>
              </a:lnSpc>
              <a:spcBef>
                <a:spcPts val="300"/>
              </a:spcBef>
              <a:buClr>
                <a:srgbClr val="0B5BFF"/>
              </a:buClr>
              <a:buSzPct val="120000"/>
            </a:pPr>
            <a:r>
              <a:rPr lang="en-US" sz="2400" dirty="0">
                <a:latin typeface="Trebuchet MS" panose="020B0603020202020204" pitchFamily="34" charset="0"/>
              </a:rPr>
              <a:t>Closure Calculation</a:t>
            </a:r>
          </a:p>
          <a:p>
            <a:pPr marL="990600" indent="0">
              <a:lnSpc>
                <a:spcPct val="120000"/>
              </a:lnSpc>
              <a:spcBef>
                <a:spcPts val="300"/>
              </a:spcBef>
              <a:buClr>
                <a:srgbClr val="0B5BFF"/>
              </a:buClr>
              <a:buSzPct val="120000"/>
            </a:pPr>
            <a:r>
              <a:rPr lang="en-US" sz="2400" dirty="0" err="1">
                <a:latin typeface="Trebuchet MS" panose="020B0603020202020204" pitchFamily="34" charset="0"/>
              </a:rPr>
              <a:t>Warshall's</a:t>
            </a:r>
            <a:r>
              <a:rPr lang="en-US" sz="2400" dirty="0">
                <a:latin typeface="Trebuchet MS" panose="020B0603020202020204" pitchFamily="34" charset="0"/>
              </a:rPr>
              <a:t> Algorithm</a:t>
            </a:r>
            <a:endParaRPr lang="zh-CN" altLang="en-US" sz="2800" b="1" dirty="0"/>
          </a:p>
        </p:txBody>
      </p:sp>
    </p:spTree>
    <p:extLst>
      <p:ext uri="{BB962C8B-B14F-4D97-AF65-F5344CB8AC3E}">
        <p14:creationId xmlns:p14="http://schemas.microsoft.com/office/powerpoint/2010/main" val="3701700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dirty="0">
                <a:latin typeface="Trebuchet MS" panose="020B0603020202020204" pitchFamily="34" charset="0"/>
              </a:rPr>
              <a:t>             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Reflexivity and </a:t>
            </a:r>
            <a:r>
              <a:rPr lang="en-US" altLang="zh-CN" sz="2400" b="1" dirty="0" err="1">
                <a:latin typeface="Trebuchet MS" panose="020B0603020202020204" pitchFamily="34" charset="0"/>
              </a:rPr>
              <a:t>Irreflexivity</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991280"/>
            <a:ext cx="9302750" cy="436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30000"/>
              </a:lnSpc>
              <a:spcBef>
                <a:spcPct val="0"/>
              </a:spcBef>
              <a:buClr>
                <a:srgbClr val="0B5BFF"/>
              </a:buClr>
              <a:buSzPct val="80000"/>
              <a:buFont typeface="Wingdings" panose="05000000000000000000" pitchFamily="2" charset="2"/>
              <a:buChar char="n"/>
            </a:pPr>
            <a:r>
              <a:rPr lang="en-US" sz="2400" dirty="0">
                <a:latin typeface="Trebuchet MS" panose="020B0603020202020204" pitchFamily="34" charset="0"/>
              </a:rPr>
              <a:t>Definition 4.14</a:t>
            </a:r>
            <a:r>
              <a:rPr lang="en-US" altLang="zh-CN" sz="2400" b="1" dirty="0">
                <a:latin typeface="Trebuchet MS" panose="020B0603020202020204" pitchFamily="34" charset="0"/>
              </a:rPr>
              <a:t>: Reflexivity and </a:t>
            </a:r>
            <a:r>
              <a:rPr lang="en-US" altLang="zh-CN" sz="2400" b="1" dirty="0" err="1">
                <a:latin typeface="Trebuchet MS" panose="020B0603020202020204" pitchFamily="34" charset="0"/>
              </a:rPr>
              <a:t>irreflexivity</a:t>
            </a:r>
            <a:r>
              <a:rPr lang="en-US" altLang="zh-CN" sz="2400" b="1" dirty="0">
                <a:latin typeface="Trebuchet MS" panose="020B0603020202020204" pitchFamily="34" charset="0"/>
              </a:rPr>
              <a:t> of Relations</a:t>
            </a:r>
          </a:p>
          <a:p>
            <a:pPr marL="271463">
              <a:lnSpc>
                <a:spcPct val="130000"/>
              </a:lnSpc>
              <a:spcBef>
                <a:spcPct val="0"/>
              </a:spcBef>
              <a:buClr>
                <a:srgbClr val="0B5BFF"/>
              </a:buClr>
              <a:buSzPct val="80000"/>
              <a:buNone/>
            </a:pPr>
            <a:r>
              <a:rPr lang="en-US" sz="2400" dirty="0">
                <a:latin typeface="Trebuchet MS" panose="020B0603020202020204" pitchFamily="34" charset="0"/>
              </a:rPr>
              <a:t> 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a:t>
            </a:r>
            <a:r>
              <a:rPr lang="en-US" sz="2400"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zh-CN" altLang="en-US" sz="2400" b="1" dirty="0">
                <a:solidFill>
                  <a:srgbClr val="0B5BFF"/>
                </a:solidFill>
                <a:latin typeface="Trebuchet MS" panose="020B0603020202020204" pitchFamily="34" charset="0"/>
              </a:rPr>
              <a:t> </a:t>
            </a:r>
            <a:r>
              <a:rPr kumimoji="0" lang="en-US" altLang="zh-CN" sz="2400" b="1" dirty="0">
                <a:latin typeface="Trebuchet MS" panose="020B0603020202020204" pitchFamily="34" charset="0"/>
              </a:rPr>
              <a:t>If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then </a:t>
            </a:r>
            <a:r>
              <a:rPr kumimoji="0" lang="en-US" altLang="zh-CN" sz="2400" b="1" i="1" dirty="0">
                <a:latin typeface="Trebuchet MS" panose="020B0603020202020204" pitchFamily="34" charset="0"/>
              </a:rPr>
              <a:t>R</a:t>
            </a:r>
            <a:r>
              <a:rPr kumimoji="0" lang="zh-CN" altLang="en-US" sz="2400" b="1" i="1" dirty="0">
                <a:latin typeface="Trebuchet MS" panose="020B0603020202020204" pitchFamily="34" charset="0"/>
              </a:rPr>
              <a:t> </a:t>
            </a:r>
            <a:r>
              <a:rPr kumimoji="0" lang="en-US" sz="2400" b="1" dirty="0">
                <a:latin typeface="Trebuchet MS" panose="020B0603020202020204" pitchFamily="34" charset="0"/>
              </a:rPr>
              <a:t>is called </a:t>
            </a:r>
            <a:r>
              <a:rPr kumimoji="0" lang="en-US" sz="2400" b="1" i="1" dirty="0">
                <a:latin typeface="Trebuchet MS" panose="020B0603020202020204" pitchFamily="34" charset="0"/>
              </a:rPr>
              <a:t>reflexive</a:t>
            </a:r>
            <a:r>
              <a:rPr kumimoji="0" lang="en-US" sz="2400" b="1" dirty="0">
                <a:latin typeface="Trebuchet MS" panose="020B0603020202020204" pitchFamily="34" charset="0"/>
              </a:rPr>
              <a:t> on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zh-CN" altLang="en-US" sz="2400" b="1" dirty="0">
                <a:solidFill>
                  <a:srgbClr val="0B5BFF"/>
                </a:solidFill>
                <a:latin typeface="Trebuchet MS" panose="020B0603020202020204" pitchFamily="34" charset="0"/>
              </a:rPr>
              <a:t> </a:t>
            </a:r>
            <a:r>
              <a:rPr kumimoji="0" lang="en-US" altLang="zh-CN" sz="2400" b="1" dirty="0">
                <a:latin typeface="Trebuchet MS" panose="020B0603020202020204" pitchFamily="34" charset="0"/>
              </a:rPr>
              <a:t>If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zh-CN" altLang="en-US" sz="2400" b="1" i="1" dirty="0">
                <a:latin typeface="Trebuchet MS" panose="020B0603020202020204" pitchFamily="34" charset="0"/>
              </a:rPr>
              <a:t> </a:t>
            </a:r>
            <a:r>
              <a:rPr kumimoji="0" lang="en-US" sz="2400" b="1" dirty="0">
                <a:latin typeface="Trebuchet MS" panose="020B0603020202020204" pitchFamily="34" charset="0"/>
              </a:rPr>
              <a:t>is called </a:t>
            </a:r>
            <a:r>
              <a:rPr kumimoji="0" lang="en-US" sz="2400" b="1" i="1" dirty="0">
                <a:latin typeface="Trebuchet MS" panose="020B0603020202020204" pitchFamily="34" charset="0"/>
              </a:rPr>
              <a:t>irreflexive</a:t>
            </a:r>
            <a:r>
              <a:rPr kumimoji="0" lang="en-US" sz="2400" b="1" dirty="0">
                <a:latin typeface="Trebuchet MS" panose="020B0603020202020204" pitchFamily="34" charset="0"/>
              </a:rPr>
              <a:t> 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p>
          <a:p>
            <a:pPr marL="342900" indent="-342900">
              <a:lnSpc>
                <a:spcPct val="13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Reflexive:</a:t>
            </a:r>
            <a:r>
              <a:rPr lang="en-US" sz="2400" dirty="0">
                <a:latin typeface="Trebuchet MS" panose="020B0603020202020204" pitchFamily="34" charset="0"/>
              </a:rPr>
              <a:t> The universal relation </a:t>
            </a:r>
            <a:r>
              <a:rPr kumimoji="0" lang="en-US" altLang="zh-CN" sz="2400" b="1" i="1" dirty="0">
                <a:latin typeface="Trebuchet MS" panose="020B0603020202020204" pitchFamily="34" charset="0"/>
              </a:rPr>
              <a:t>E</a:t>
            </a:r>
            <a:r>
              <a:rPr kumimoji="0" lang="en-US" altLang="zh-CN" sz="2400" b="1" i="1" baseline="-25000" dirty="0">
                <a:latin typeface="Trebuchet MS" panose="020B0603020202020204" pitchFamily="34" charset="0"/>
              </a:rPr>
              <a:t>A</a:t>
            </a:r>
            <a:r>
              <a:rPr lang="en-US" sz="2400" dirty="0">
                <a:latin typeface="Trebuchet MS" panose="020B0603020202020204" pitchFamily="34" charset="0"/>
              </a:rPr>
              <a:t>​ on </a:t>
            </a:r>
            <a:r>
              <a:rPr kumimoji="0" lang="en-US" altLang="zh-CN" sz="2400" b="1" i="1" dirty="0">
                <a:latin typeface="Trebuchet MS" panose="020B0603020202020204" pitchFamily="34" charset="0"/>
              </a:rPr>
              <a:t>A</a:t>
            </a:r>
            <a:r>
              <a:rPr lang="en-US" sz="2400" dirty="0">
                <a:latin typeface="Trebuchet MS" panose="020B0603020202020204" pitchFamily="34" charset="0"/>
              </a:rPr>
              <a:t> , the identity relation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lang="en-US" sz="2400" dirty="0">
                <a:latin typeface="Trebuchet MS" panose="020B0603020202020204" pitchFamily="34" charset="0"/>
              </a:rPr>
              <a:t>​, the less-than-or-equal relation </a:t>
            </a:r>
            <a:r>
              <a:rPr kumimoji="0" lang="en-US" altLang="zh-CN" sz="2400" b="1" i="1" dirty="0">
                <a:latin typeface="Trebuchet MS" panose="020B0603020202020204" pitchFamily="34" charset="0"/>
              </a:rPr>
              <a:t>L</a:t>
            </a:r>
            <a:r>
              <a:rPr kumimoji="0" lang="en-US" altLang="zh-CN" sz="2400" b="1" i="1" baseline="-25000" dirty="0">
                <a:latin typeface="Trebuchet MS" panose="020B0603020202020204" pitchFamily="34" charset="0"/>
              </a:rPr>
              <a:t>A</a:t>
            </a:r>
            <a:r>
              <a:rPr lang="en-US" sz="2400" dirty="0">
                <a:latin typeface="Trebuchet MS" panose="020B0603020202020204" pitchFamily="34" charset="0"/>
              </a:rPr>
              <a:t>​, and the divisibility relation </a:t>
            </a:r>
            <a:r>
              <a:rPr kumimoji="0" lang="en-US" altLang="zh-CN" sz="2400" b="1" i="1" dirty="0">
                <a:latin typeface="Trebuchet MS" panose="020B0603020202020204" pitchFamily="34" charset="0"/>
              </a:rPr>
              <a:t>D</a:t>
            </a:r>
            <a:r>
              <a:rPr kumimoji="0" lang="en-US" altLang="zh-CN" sz="2400" b="1" i="1" baseline="-25000" dirty="0">
                <a:latin typeface="Trebuchet MS" panose="020B0603020202020204" pitchFamily="34" charset="0"/>
              </a:rPr>
              <a:t>A</a:t>
            </a:r>
            <a:r>
              <a:rPr lang="en-US" sz="2400" dirty="0">
                <a:latin typeface="Trebuchet MS" panose="020B0603020202020204" pitchFamily="34" charset="0"/>
              </a:rPr>
              <a:t>​.</a:t>
            </a:r>
          </a:p>
          <a:p>
            <a:pPr marL="342900" indent="-342900">
              <a:lnSpc>
                <a:spcPct val="130000"/>
              </a:lnSpc>
              <a:spcBef>
                <a:spcPct val="0"/>
              </a:spcBef>
              <a:buClr>
                <a:srgbClr val="0B5BFF"/>
              </a:buClr>
              <a:buSzPct val="80000"/>
              <a:buFont typeface="Wingdings" panose="05000000000000000000" pitchFamily="2" charset="2"/>
              <a:buChar char="n"/>
            </a:pPr>
            <a:r>
              <a:rPr lang="en-US" sz="2400" b="1" dirty="0">
                <a:latin typeface="Trebuchet MS" panose="020B0603020202020204" pitchFamily="34" charset="0"/>
              </a:rPr>
              <a:t>Irreflexive:</a:t>
            </a:r>
            <a:r>
              <a:rPr lang="en-US" sz="2400" dirty="0">
                <a:latin typeface="Trebuchet MS" panose="020B0603020202020204" pitchFamily="34" charset="0"/>
              </a:rPr>
              <a:t> The less-than relation</a:t>
            </a:r>
            <a:r>
              <a:rPr lang="en-US" sz="2400" b="1" dirty="0">
                <a:latin typeface="Trebuchet MS" panose="020B0603020202020204" pitchFamily="34" charset="0"/>
              </a:rPr>
              <a:t>(</a:t>
            </a:r>
            <a:r>
              <a:rPr lang="en-US" altLang="zh-CN" sz="1800" b="1" dirty="0">
                <a:effectLst/>
                <a:latin typeface="Times New Roman" panose="02020603050405020304" pitchFamily="18" charset="0"/>
                <a:ea typeface="宋体" panose="02010600030101010101" pitchFamily="2" charset="-122"/>
              </a:rPr>
              <a:t>&lt;</a:t>
            </a:r>
            <a:r>
              <a:rPr lang="en-US" sz="2400" b="1" dirty="0">
                <a:latin typeface="Trebuchet MS" panose="020B0603020202020204" pitchFamily="34" charset="0"/>
              </a:rPr>
              <a:t>)</a:t>
            </a:r>
            <a:r>
              <a:rPr lang="en-US" sz="2400" dirty="0">
                <a:latin typeface="Trebuchet MS" panose="020B0603020202020204" pitchFamily="34" charset="0"/>
              </a:rPr>
              <a:t> on the real number set and the strict inclusion relation</a:t>
            </a:r>
            <a:r>
              <a:rPr lang="en-US" sz="2400" b="1" dirty="0">
                <a:latin typeface="Trebuchet MS" panose="020B0603020202020204" pitchFamily="34" charset="0"/>
              </a:rPr>
              <a:t> (</a:t>
            </a:r>
            <a:r>
              <a:rPr lang="zh-CN" altLang="en-US" sz="2400" b="1" dirty="0">
                <a:latin typeface="Trebuchet MS" panose="020B0603020202020204" pitchFamily="34" charset="0"/>
              </a:rPr>
              <a:t>⊊</a:t>
            </a:r>
            <a:r>
              <a:rPr lang="en-US" altLang="zh-CN" sz="2400" b="1" dirty="0">
                <a:latin typeface="Trebuchet MS" panose="020B0603020202020204" pitchFamily="34" charset="0"/>
              </a:rPr>
              <a:t>)</a:t>
            </a:r>
            <a:r>
              <a:rPr lang="en-US" altLang="zh-CN" sz="2400" dirty="0"/>
              <a:t> </a:t>
            </a:r>
            <a:r>
              <a:rPr lang="en-US" sz="2400" dirty="0">
                <a:latin typeface="Trebuchet MS" panose="020B0603020202020204" pitchFamily="34" charset="0"/>
              </a:rPr>
              <a:t>on the power set.</a:t>
            </a:r>
            <a:endParaRPr kumimoji="0" lang="zh-CN" altLang="en-US" sz="2400" b="1" dirty="0">
              <a:latin typeface="Trebuchet MS" panose="020B0603020202020204" pitchFamily="34" charset="0"/>
            </a:endParaRPr>
          </a:p>
        </p:txBody>
      </p:sp>
    </p:spTree>
    <p:extLst>
      <p:ext uri="{BB962C8B-B14F-4D97-AF65-F5344CB8AC3E}">
        <p14:creationId xmlns:p14="http://schemas.microsoft.com/office/powerpoint/2010/main" val="3651183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3" end="3"/>
                                            </p:txEl>
                                          </p:spTgt>
                                        </p:tgtEl>
                                        <p:attrNameLst>
                                          <p:attrName>style.visibility</p:attrName>
                                        </p:attrNameLst>
                                      </p:cBhvr>
                                      <p:to>
                                        <p:strVal val="visible"/>
                                      </p:to>
                                    </p:set>
                                    <p:animEffect transition="in" filter="fade">
                                      <p:cBhvr>
                                        <p:cTn id="14" dur="1000"/>
                                        <p:tgtEl>
                                          <p:spTgt spid="15">
                                            <p:txEl>
                                              <p:pRg st="3" end="3"/>
                                            </p:txEl>
                                          </p:spTgt>
                                        </p:tgtEl>
                                      </p:cBhvr>
                                    </p:animEffect>
                                    <p:anim calcmode="lin" valueType="num">
                                      <p:cBhvr>
                                        <p:cTn id="15"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dirty="0">
                <a:latin typeface="Trebuchet MS" panose="020B0603020202020204" pitchFamily="34" charset="0"/>
              </a:rPr>
              <a:t>             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Reflexivity and </a:t>
            </a:r>
            <a:r>
              <a:rPr lang="en-US" altLang="zh-CN" sz="2400" b="1" dirty="0" err="1">
                <a:latin typeface="Trebuchet MS" panose="020B0603020202020204" pitchFamily="34" charset="0"/>
              </a:rPr>
              <a:t>Irreflexivity</a:t>
            </a:r>
            <a:r>
              <a:rPr lang="en-US" altLang="zh-CN" sz="2400" b="1" dirty="0">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3" y="991279"/>
            <a:ext cx="10358666" cy="5485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0"/>
              </a:spcBef>
              <a:buNone/>
            </a:pPr>
            <a:r>
              <a:rPr kumimoji="0" lang="en-US" altLang="zh-CN" sz="2400" b="1" dirty="0">
                <a:latin typeface="Trebuchet MS" panose="020B0603020202020204" pitchFamily="34" charset="0"/>
              </a:rPr>
              <a:t>      Example:</a:t>
            </a:r>
            <a:r>
              <a:rPr kumimoji="0" lang="en-US" altLang="zh-CN" sz="2400" b="1" dirty="0">
                <a:solidFill>
                  <a:srgbClr val="00B0F0"/>
                </a:solidFill>
                <a:latin typeface="Trebuchet MS" panose="020B0603020202020204" pitchFamily="34" charset="0"/>
              </a:rPr>
              <a:t> </a:t>
            </a:r>
            <a:r>
              <a:rPr kumimoji="0" lang="en-US" altLang="zh-CN" sz="2400" b="1" i="1" dirty="0">
                <a:latin typeface="Trebuchet MS" panose="020B0603020202020204" pitchFamily="34" charset="0"/>
              </a:rPr>
              <a:t>A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a:t>
            </a:r>
            <a:r>
              <a:rPr kumimoji="0" lang="en-US" altLang="zh-CN" sz="2400" dirty="0">
                <a:latin typeface="Trebuchet MS" panose="020B0603020202020204" pitchFamily="34" charset="0"/>
              </a:rPr>
              <a:t>is the relation on</a:t>
            </a:r>
            <a:r>
              <a:rPr kumimoji="0" lang="zh-CN" altLang="en-US" sz="2400"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dirty="0">
                <a:latin typeface="Trebuchet MS" panose="020B0603020202020204" pitchFamily="34" charset="0"/>
              </a:rPr>
              <a:t>where</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i="1" dirty="0">
                <a:latin typeface="Trebuchet MS" panose="020B0603020202020204" pitchFamily="34" charset="0"/>
              </a:rPr>
              <a:t>R</a:t>
            </a:r>
            <a:r>
              <a:rPr kumimoji="0" lang="en-US" altLang="zh-CN" sz="2400" baseline="-25000" dirty="0">
                <a:latin typeface="Trebuchet MS" panose="020B0603020202020204" pitchFamily="34" charset="0"/>
              </a:rPr>
              <a:t>1</a:t>
            </a:r>
            <a:r>
              <a:rPr kumimoji="0" lang="zh-CN" altLang="en-US" sz="2400" dirty="0">
                <a:latin typeface="Trebuchet MS" panose="020B0603020202020204" pitchFamily="34" charset="0"/>
              </a:rPr>
              <a:t> </a:t>
            </a:r>
            <a:r>
              <a:rPr kumimoji="0" lang="en-US" altLang="zh-CN" sz="2400" dirty="0">
                <a:latin typeface="Trebuchet MS" panose="020B0603020202020204" pitchFamily="34" charset="0"/>
              </a:rPr>
              <a:t>= {&lt;</a:t>
            </a:r>
            <a:r>
              <a:rPr kumimoji="0" lang="en-US" altLang="zh-CN" sz="2400" i="1" dirty="0" err="1">
                <a:latin typeface="Trebuchet MS" panose="020B0603020202020204" pitchFamily="34" charset="0"/>
              </a:rPr>
              <a:t>a</a:t>
            </a:r>
            <a:r>
              <a:rPr kumimoji="0" lang="en-US" altLang="zh-CN" sz="2400" dirty="0" err="1">
                <a:latin typeface="Trebuchet MS" panose="020B0603020202020204" pitchFamily="34" charset="0"/>
              </a:rPr>
              <a:t>,</a:t>
            </a:r>
            <a:r>
              <a:rPr kumimoji="0" lang="en-US" altLang="zh-CN" sz="2400" i="1" dirty="0" err="1">
                <a:latin typeface="Trebuchet MS" panose="020B0603020202020204" pitchFamily="34" charset="0"/>
              </a:rPr>
              <a:t>a</a:t>
            </a:r>
            <a:r>
              <a:rPr kumimoji="0" lang="en-US" altLang="zh-CN" sz="2400" dirty="0">
                <a:latin typeface="Trebuchet MS" panose="020B0603020202020204" pitchFamily="34" charset="0"/>
              </a:rPr>
              <a:t>&gt;,&lt;</a:t>
            </a:r>
            <a:r>
              <a:rPr kumimoji="0" lang="en-US" altLang="zh-CN" sz="2400" i="1" dirty="0" err="1">
                <a:latin typeface="Trebuchet MS" panose="020B0603020202020204" pitchFamily="34" charset="0"/>
              </a:rPr>
              <a:t>b</a:t>
            </a:r>
            <a:r>
              <a:rPr kumimoji="0" lang="en-US" altLang="zh-CN" sz="2400" dirty="0" err="1">
                <a:latin typeface="Trebuchet MS" panose="020B0603020202020204" pitchFamily="34" charset="0"/>
              </a:rPr>
              <a:t>,</a:t>
            </a:r>
            <a:r>
              <a:rPr kumimoji="0" lang="en-US" altLang="zh-CN" sz="2400" i="1" dirty="0" err="1">
                <a:latin typeface="Trebuchet MS" panose="020B0603020202020204" pitchFamily="34" charset="0"/>
              </a:rPr>
              <a:t>b</a:t>
            </a:r>
            <a:r>
              <a:rPr kumimoji="0" lang="en-US" altLang="zh-CN" sz="2400" dirty="0">
                <a:latin typeface="Trebuchet MS" panose="020B0603020202020204" pitchFamily="34" charset="0"/>
              </a:rPr>
              <a:t>&gt;} , </a:t>
            </a:r>
            <a:r>
              <a:rPr kumimoji="0" lang="en-US" altLang="zh-CN" sz="2400" i="1" dirty="0">
                <a:latin typeface="Trebuchet MS" panose="020B0603020202020204" pitchFamily="34" charset="0"/>
              </a:rPr>
              <a:t>R</a:t>
            </a:r>
            <a:r>
              <a:rPr kumimoji="0" lang="en-US" altLang="zh-CN" sz="2400" baseline="-25000" dirty="0">
                <a:latin typeface="Trebuchet MS" panose="020B0603020202020204" pitchFamily="34" charset="0"/>
              </a:rPr>
              <a:t>2</a:t>
            </a:r>
            <a:r>
              <a:rPr kumimoji="0" lang="zh-CN" altLang="en-US" sz="2400" baseline="-25000" dirty="0">
                <a:latin typeface="Trebuchet MS" panose="020B0603020202020204" pitchFamily="34" charset="0"/>
              </a:rPr>
              <a:t> </a:t>
            </a:r>
            <a:r>
              <a:rPr kumimoji="0" lang="en-US" altLang="zh-CN" sz="2400" dirty="0">
                <a:latin typeface="Trebuchet MS" panose="020B0603020202020204" pitchFamily="34" charset="0"/>
              </a:rPr>
              <a:t>= {&lt;</a:t>
            </a:r>
            <a:r>
              <a:rPr kumimoji="0" lang="en-US" altLang="zh-CN" sz="2400" i="1" dirty="0" err="1">
                <a:latin typeface="Trebuchet MS" panose="020B0603020202020204" pitchFamily="34" charset="0"/>
              </a:rPr>
              <a:t>a</a:t>
            </a:r>
            <a:r>
              <a:rPr kumimoji="0" lang="en-US" altLang="zh-CN" sz="2400" dirty="0" err="1">
                <a:latin typeface="Trebuchet MS" panose="020B0603020202020204" pitchFamily="34" charset="0"/>
              </a:rPr>
              <a:t>,</a:t>
            </a:r>
            <a:r>
              <a:rPr kumimoji="0" lang="en-US" altLang="zh-CN" sz="2400" i="1" dirty="0" err="1">
                <a:latin typeface="Trebuchet MS" panose="020B0603020202020204" pitchFamily="34" charset="0"/>
              </a:rPr>
              <a:t>a</a:t>
            </a:r>
            <a:r>
              <a:rPr kumimoji="0" lang="en-US" altLang="zh-CN" sz="2400" dirty="0">
                <a:latin typeface="Trebuchet MS" panose="020B0603020202020204" pitchFamily="34" charset="0"/>
              </a:rPr>
              <a:t>&gt;,&lt;</a:t>
            </a:r>
            <a:r>
              <a:rPr kumimoji="0" lang="en-US" altLang="zh-CN" sz="2400" i="1" dirty="0" err="1">
                <a:latin typeface="Trebuchet MS" panose="020B0603020202020204" pitchFamily="34" charset="0"/>
              </a:rPr>
              <a:t>b,b</a:t>
            </a:r>
            <a:r>
              <a:rPr kumimoji="0" lang="en-US" altLang="zh-CN" sz="2400" dirty="0">
                <a:latin typeface="Trebuchet MS" panose="020B0603020202020204" pitchFamily="34" charset="0"/>
              </a:rPr>
              <a:t>&gt;,&lt;</a:t>
            </a:r>
            <a:r>
              <a:rPr kumimoji="0" lang="en-US" altLang="zh-CN" sz="2400" i="1" dirty="0" err="1">
                <a:latin typeface="Trebuchet MS" panose="020B0603020202020204" pitchFamily="34" charset="0"/>
              </a:rPr>
              <a:t>c,c</a:t>
            </a:r>
            <a:r>
              <a:rPr kumimoji="0" lang="en-US" altLang="zh-CN" sz="2400" dirty="0">
                <a:latin typeface="Trebuchet MS" panose="020B0603020202020204" pitchFamily="34" charset="0"/>
              </a:rPr>
              <a:t>&gt;,&lt;</a:t>
            </a:r>
            <a:r>
              <a:rPr kumimoji="0" lang="en-US" altLang="zh-CN" sz="2400" i="1" dirty="0" err="1">
                <a:latin typeface="Trebuchet MS" panose="020B0603020202020204" pitchFamily="34" charset="0"/>
              </a:rPr>
              <a:t>a,b</a:t>
            </a:r>
            <a:r>
              <a:rPr kumimoji="0" lang="en-US" altLang="zh-CN" sz="2400" dirty="0">
                <a:latin typeface="Trebuchet MS" panose="020B0603020202020204" pitchFamily="34" charset="0"/>
              </a:rPr>
              <a:t>&gt;}, </a:t>
            </a:r>
            <a:r>
              <a:rPr kumimoji="0" lang="en-US" altLang="zh-CN" sz="2400" i="1" dirty="0">
                <a:latin typeface="Trebuchet MS" panose="020B0603020202020204" pitchFamily="34" charset="0"/>
              </a:rPr>
              <a:t>R</a:t>
            </a:r>
            <a:r>
              <a:rPr kumimoji="0" lang="en-US" altLang="zh-CN" sz="2400" baseline="-25000" dirty="0">
                <a:latin typeface="Trebuchet MS" panose="020B0603020202020204" pitchFamily="34" charset="0"/>
              </a:rPr>
              <a:t>3</a:t>
            </a:r>
            <a:r>
              <a:rPr kumimoji="0" lang="zh-CN" altLang="en-US" sz="2400" baseline="-25000" dirty="0">
                <a:latin typeface="Trebuchet MS" panose="020B0603020202020204" pitchFamily="34" charset="0"/>
              </a:rPr>
              <a:t> </a:t>
            </a:r>
            <a:r>
              <a:rPr kumimoji="0" lang="en-US" altLang="zh-CN" sz="2400" dirty="0">
                <a:latin typeface="Trebuchet MS" panose="020B0603020202020204" pitchFamily="34" charset="0"/>
              </a:rPr>
              <a:t>= {&lt;</a:t>
            </a:r>
            <a:r>
              <a:rPr kumimoji="0" lang="en-US" altLang="zh-CN" sz="2400" i="1" dirty="0" err="1">
                <a:latin typeface="Trebuchet MS" panose="020B0603020202020204" pitchFamily="34" charset="0"/>
              </a:rPr>
              <a:t>a,c</a:t>
            </a:r>
            <a:r>
              <a:rPr kumimoji="0" lang="en-US" altLang="zh-CN" sz="2400" dirty="0">
                <a:latin typeface="Trebuchet MS" panose="020B0603020202020204" pitchFamily="34" charset="0"/>
              </a:rPr>
              <a:t>&gt;}</a:t>
            </a:r>
          </a:p>
          <a:p>
            <a:pPr>
              <a:lnSpc>
                <a:spcPct val="110000"/>
              </a:lnSpc>
              <a:spcBef>
                <a:spcPct val="0"/>
              </a:spcBef>
              <a:buNone/>
            </a:pPr>
            <a:r>
              <a:rPr lang="pt-BR" altLang="zh-CN" sz="2400" dirty="0">
                <a:latin typeface="Trebuchet MS" panose="020B0603020202020204" pitchFamily="34" charset="0"/>
              </a:rPr>
              <a:t>To determine whether the relations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a:t>
            </a:r>
            <a:r>
              <a:rPr lang="pt-BR" altLang="zh-CN" sz="2400" dirty="0">
                <a:latin typeface="Trebuchet MS" panose="020B0603020202020204" pitchFamily="34" charset="0"/>
              </a:rPr>
              <a:t>​ are reflexive or irreflexive.</a:t>
            </a:r>
          </a:p>
          <a:p>
            <a:pPr marL="342900" indent="-342900">
              <a:lnSpc>
                <a:spcPct val="110000"/>
              </a:lnSpc>
              <a:spcBef>
                <a:spcPct val="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Reflexivity check:</a:t>
            </a:r>
          </a:p>
          <a:p>
            <a:pPr marL="533400" indent="-261938">
              <a:lnSpc>
                <a:spcPct val="110000"/>
              </a:lnSpc>
              <a:spcBef>
                <a:spcPct val="0"/>
              </a:spcBef>
              <a:buClr>
                <a:srgbClr val="0B5BFF"/>
              </a:buClr>
              <a:buSzPct val="120000"/>
              <a:buFont typeface="Arial" panose="020B0604020202020204" pitchFamily="34" charset="0"/>
              <a:buChar char="•"/>
            </a:pPr>
            <a:r>
              <a:rPr lang="en-US" altLang="zh-CN" sz="2000" dirty="0">
                <a:latin typeface="Trebuchet MS" panose="020B0603020202020204" pitchFamily="34" charset="0"/>
              </a:rPr>
              <a:t>Since (</a:t>
            </a:r>
            <a:r>
              <a:rPr lang="en-US" altLang="zh-CN" sz="2000" dirty="0" err="1">
                <a:latin typeface="Trebuchet MS" panose="020B0603020202020204" pitchFamily="34" charset="0"/>
              </a:rPr>
              <a:t>c,c</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1</a:t>
            </a:r>
            <a:r>
              <a:rPr lang="en-US" altLang="zh-CN" sz="2000" dirty="0">
                <a:latin typeface="Trebuchet MS" panose="020B0603020202020204" pitchFamily="34" charset="0"/>
              </a:rPr>
              <a:t>(</a:t>
            </a:r>
            <a:r>
              <a:rPr lang="en-US" altLang="zh-CN" sz="2000" dirty="0" err="1">
                <a:latin typeface="Trebuchet MS" panose="020B0603020202020204" pitchFamily="34" charset="0"/>
              </a:rPr>
              <a:t>c,c</a:t>
            </a:r>
            <a:r>
              <a:rPr lang="en-US" altLang="zh-CN" sz="2000" dirty="0">
                <a:latin typeface="Trebuchet MS" panose="020B0603020202020204" pitchFamily="34" charset="0"/>
              </a:rPr>
              <a:t>) ​,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1</a:t>
            </a:r>
            <a:r>
              <a:rPr lang="en-US" altLang="zh-CN" sz="2000" dirty="0">
                <a:latin typeface="Trebuchet MS" panose="020B0603020202020204" pitchFamily="34" charset="0"/>
              </a:rPr>
              <a:t> is </a:t>
            </a:r>
            <a:r>
              <a:rPr lang="en-US" altLang="zh-CN" sz="2000" b="1" dirty="0">
                <a:latin typeface="Trebuchet MS" panose="020B0603020202020204" pitchFamily="34" charset="0"/>
              </a:rPr>
              <a:t>not reflexive.</a:t>
            </a:r>
          </a:p>
          <a:p>
            <a:pPr marL="533400" indent="-261938">
              <a:lnSpc>
                <a:spcPct val="110000"/>
              </a:lnSpc>
              <a:spcBef>
                <a:spcPct val="0"/>
              </a:spcBef>
              <a:buClr>
                <a:srgbClr val="0B5BFF"/>
              </a:buClr>
              <a:buSzPct val="120000"/>
              <a:buFont typeface="Arial" panose="020B0604020202020204" pitchFamily="34" charset="0"/>
              <a:buChar char="•"/>
            </a:pPr>
            <a:r>
              <a:rPr lang="en-US" altLang="zh-CN" sz="2000" dirty="0">
                <a:latin typeface="Trebuchet MS" panose="020B0603020202020204" pitchFamily="34" charset="0"/>
              </a:rPr>
              <a:t>All of </a:t>
            </a:r>
            <a:r>
              <a:rPr lang="pt-BR" altLang="zh-CN" sz="2000" dirty="0">
                <a:latin typeface="Trebuchet MS" panose="020B0603020202020204" pitchFamily="34" charset="0"/>
              </a:rPr>
              <a:t>(a,a),(b,b),(c,c) </a:t>
            </a:r>
            <a:r>
              <a:rPr lang="en-US" altLang="zh-CN" sz="2000" dirty="0">
                <a:latin typeface="Trebuchet MS" panose="020B0603020202020204" pitchFamily="34" charset="0"/>
              </a:rPr>
              <a:t>are in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2 </a:t>
            </a:r>
            <a:r>
              <a:rPr lang="en-US" altLang="zh-CN" sz="2000" dirty="0">
                <a:latin typeface="Trebuchet MS" panose="020B0603020202020204" pitchFamily="34" charset="0"/>
              </a:rPr>
              <a:t>,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2</a:t>
            </a:r>
            <a:r>
              <a:rPr lang="en-US" altLang="zh-CN" sz="2000" dirty="0">
                <a:latin typeface="Trebuchet MS" panose="020B0603020202020204" pitchFamily="34" charset="0"/>
              </a:rPr>
              <a:t> is </a:t>
            </a:r>
            <a:r>
              <a:rPr lang="en-US" altLang="zh-CN" sz="2000" b="1" dirty="0">
                <a:latin typeface="Trebuchet MS" panose="020B0603020202020204" pitchFamily="34" charset="0"/>
              </a:rPr>
              <a:t>reflexive.</a:t>
            </a:r>
          </a:p>
          <a:p>
            <a:pPr marL="533400" indent="-261938">
              <a:lnSpc>
                <a:spcPct val="110000"/>
              </a:lnSpc>
              <a:spcBef>
                <a:spcPct val="0"/>
              </a:spcBef>
              <a:buClr>
                <a:srgbClr val="0B5BFF"/>
              </a:buClr>
              <a:buSzPct val="120000"/>
              <a:buFont typeface="Arial" panose="020B0604020202020204" pitchFamily="34" charset="0"/>
              <a:buChar char="•"/>
            </a:pPr>
            <a:r>
              <a:rPr kumimoji="0" lang="en-US" altLang="zh-CN" sz="2000" dirty="0">
                <a:latin typeface="Trebuchet MS" panose="020B0603020202020204" pitchFamily="34" charset="0"/>
              </a:rPr>
              <a:t>None of (</a:t>
            </a:r>
            <a:r>
              <a:rPr kumimoji="0" lang="en-US" altLang="zh-CN" sz="2000" dirty="0" err="1">
                <a:latin typeface="Trebuchet MS" panose="020B0603020202020204" pitchFamily="34" charset="0"/>
              </a:rPr>
              <a:t>a,a</a:t>
            </a:r>
            <a:r>
              <a:rPr kumimoji="0" lang="en-US" altLang="zh-CN" sz="2000" dirty="0">
                <a:latin typeface="Trebuchet MS" panose="020B0603020202020204" pitchFamily="34" charset="0"/>
              </a:rPr>
              <a:t>),(</a:t>
            </a:r>
            <a:r>
              <a:rPr kumimoji="0" lang="en-US" altLang="zh-CN" sz="2000" dirty="0" err="1">
                <a:latin typeface="Trebuchet MS" panose="020B0603020202020204" pitchFamily="34" charset="0"/>
              </a:rPr>
              <a:t>b,b</a:t>
            </a:r>
            <a:r>
              <a:rPr kumimoji="0" lang="en-US" altLang="zh-CN" sz="2000" dirty="0">
                <a:latin typeface="Trebuchet MS" panose="020B0603020202020204" pitchFamily="34" charset="0"/>
              </a:rPr>
              <a:t>),(</a:t>
            </a:r>
            <a:r>
              <a:rPr kumimoji="0" lang="en-US" altLang="zh-CN" sz="2000" dirty="0" err="1">
                <a:latin typeface="Trebuchet MS" panose="020B0603020202020204" pitchFamily="34" charset="0"/>
              </a:rPr>
              <a:t>c,c</a:t>
            </a:r>
            <a:r>
              <a:rPr kumimoji="0" lang="en-US" altLang="zh-CN" sz="2000" dirty="0">
                <a:latin typeface="Trebuchet MS" panose="020B0603020202020204" pitchFamily="34" charset="0"/>
              </a:rPr>
              <a:t>) are present,</a:t>
            </a:r>
            <a:r>
              <a:rPr lang="en-US" altLang="zh-CN" sz="2000" b="1" i="1" dirty="0">
                <a:latin typeface="Trebuchet MS" panose="020B0603020202020204" pitchFamily="34" charset="0"/>
              </a:rPr>
              <a:t> R</a:t>
            </a:r>
            <a:r>
              <a:rPr lang="en-US" altLang="zh-CN" sz="2000" baseline="-25000" dirty="0">
                <a:latin typeface="Trebuchet MS" panose="020B0603020202020204" pitchFamily="34" charset="0"/>
              </a:rPr>
              <a:t>3</a:t>
            </a:r>
            <a:r>
              <a:rPr kumimoji="0" lang="en-US" altLang="zh-CN" sz="2000" dirty="0">
                <a:latin typeface="Trebuchet MS" panose="020B0603020202020204" pitchFamily="34" charset="0"/>
              </a:rPr>
              <a:t> is </a:t>
            </a:r>
            <a:r>
              <a:rPr kumimoji="0" lang="en-US" altLang="zh-CN" sz="2000" b="1" dirty="0">
                <a:latin typeface="Trebuchet MS" panose="020B0603020202020204" pitchFamily="34" charset="0"/>
              </a:rPr>
              <a:t>not reflexive</a:t>
            </a:r>
            <a:r>
              <a:rPr kumimoji="0" lang="en-US" altLang="zh-CN" sz="2000" dirty="0">
                <a:latin typeface="Trebuchet MS" panose="020B0603020202020204" pitchFamily="34" charset="0"/>
              </a:rPr>
              <a:t>.</a:t>
            </a:r>
          </a:p>
          <a:p>
            <a:pPr marL="342900" indent="-342900">
              <a:lnSpc>
                <a:spcPct val="110000"/>
              </a:lnSpc>
              <a:spcBef>
                <a:spcPct val="0"/>
              </a:spcBef>
              <a:buClr>
                <a:srgbClr val="0B5BFF"/>
              </a:buClr>
              <a:buSzPct val="80000"/>
              <a:buFont typeface="Wingdings" panose="05000000000000000000" pitchFamily="2" charset="2"/>
              <a:buChar char="n"/>
            </a:pPr>
            <a:r>
              <a:rPr lang="en-US" altLang="zh-CN" sz="2400" b="1" dirty="0" err="1">
                <a:latin typeface="Trebuchet MS" panose="020B0603020202020204" pitchFamily="34" charset="0"/>
              </a:rPr>
              <a:t>Irreflexivity</a:t>
            </a:r>
            <a:r>
              <a:rPr lang="en-US" altLang="zh-CN" sz="2400" b="1" dirty="0">
                <a:latin typeface="Trebuchet MS" panose="020B0603020202020204" pitchFamily="34" charset="0"/>
              </a:rPr>
              <a:t> check: </a:t>
            </a:r>
            <a:r>
              <a:rPr lang="en-US" sz="2400" b="1" dirty="0">
                <a:latin typeface="Trebuchet MS" panose="020B0603020202020204" pitchFamily="34" charset="0"/>
              </a:rPr>
              <a:t> </a:t>
            </a:r>
          </a:p>
          <a:p>
            <a:pPr marL="533400" indent="-261938">
              <a:lnSpc>
                <a:spcPct val="110000"/>
              </a:lnSpc>
              <a:spcBef>
                <a:spcPct val="0"/>
              </a:spcBef>
              <a:buClr>
                <a:srgbClr val="0B5BFF"/>
              </a:buClr>
              <a:buSzPct val="120000"/>
              <a:buFont typeface="Arial" panose="020B0604020202020204" pitchFamily="34" charset="0"/>
              <a:buChar char="•"/>
            </a:pP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1</a:t>
            </a:r>
            <a:r>
              <a:rPr lang="en-US" altLang="zh-CN" sz="2000" dirty="0">
                <a:latin typeface="Trebuchet MS" panose="020B0603020202020204" pitchFamily="34" charset="0"/>
              </a:rPr>
              <a:t> contains (</a:t>
            </a:r>
            <a:r>
              <a:rPr lang="en-US" altLang="zh-CN" sz="2000" dirty="0" err="1">
                <a:latin typeface="Trebuchet MS" panose="020B0603020202020204" pitchFamily="34" charset="0"/>
              </a:rPr>
              <a:t>a,a</a:t>
            </a:r>
            <a:r>
              <a:rPr lang="en-US" altLang="zh-CN" sz="2000" dirty="0">
                <a:latin typeface="Trebuchet MS" panose="020B0603020202020204" pitchFamily="34" charset="0"/>
              </a:rPr>
              <a:t>) and (</a:t>
            </a:r>
            <a:r>
              <a:rPr lang="en-US" altLang="zh-CN" sz="2000" dirty="0" err="1">
                <a:latin typeface="Trebuchet MS" panose="020B0603020202020204" pitchFamily="34" charset="0"/>
              </a:rPr>
              <a:t>b,b</a:t>
            </a:r>
            <a:r>
              <a:rPr lang="en-US" altLang="zh-CN" sz="2000" dirty="0">
                <a:latin typeface="Trebuchet MS" panose="020B0603020202020204" pitchFamily="34" charset="0"/>
              </a:rPr>
              <a:t>) ,meaning some elements have self-loops,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1</a:t>
            </a:r>
            <a:r>
              <a:rPr lang="en-US" altLang="zh-CN" sz="2000" dirty="0">
                <a:latin typeface="Trebuchet MS" panose="020B0603020202020204" pitchFamily="34" charset="0"/>
              </a:rPr>
              <a:t> is </a:t>
            </a:r>
            <a:r>
              <a:rPr lang="en-US" altLang="zh-CN" sz="2000" b="1" dirty="0">
                <a:latin typeface="Trebuchet MS" panose="020B0603020202020204" pitchFamily="34" charset="0"/>
              </a:rPr>
              <a:t>not irreflexive.</a:t>
            </a:r>
          </a:p>
          <a:p>
            <a:pPr marL="533400" indent="-261938">
              <a:lnSpc>
                <a:spcPct val="110000"/>
              </a:lnSpc>
              <a:spcBef>
                <a:spcPct val="0"/>
              </a:spcBef>
              <a:buClr>
                <a:srgbClr val="0B5BFF"/>
              </a:buClr>
              <a:buSzPct val="120000"/>
              <a:buFont typeface="Arial" panose="020B0604020202020204" pitchFamily="34" charset="0"/>
              <a:buChar char="•"/>
            </a:pPr>
            <a:r>
              <a:rPr lang="en-US" altLang="zh-CN" sz="2000" dirty="0">
                <a:latin typeface="Trebuchet MS" panose="020B0603020202020204" pitchFamily="34" charset="0"/>
              </a:rPr>
              <a:t>Since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2</a:t>
            </a:r>
            <a:r>
              <a:rPr lang="en-US" altLang="zh-CN" sz="2000" dirty="0">
                <a:latin typeface="Trebuchet MS" panose="020B0603020202020204" pitchFamily="34" charset="0"/>
              </a:rPr>
              <a:t> contains self-loops ((</a:t>
            </a:r>
            <a:r>
              <a:rPr lang="en-US" altLang="zh-CN" sz="2000" dirty="0" err="1">
                <a:latin typeface="Trebuchet MS" panose="020B0603020202020204" pitchFamily="34" charset="0"/>
              </a:rPr>
              <a:t>a,a</a:t>
            </a:r>
            <a:r>
              <a:rPr lang="en-US" altLang="zh-CN" sz="2000" dirty="0">
                <a:latin typeface="Trebuchet MS" panose="020B0603020202020204" pitchFamily="34" charset="0"/>
              </a:rPr>
              <a:t>),(</a:t>
            </a:r>
            <a:r>
              <a:rPr lang="en-US" altLang="zh-CN" sz="2000" dirty="0" err="1">
                <a:latin typeface="Trebuchet MS" panose="020B0603020202020204" pitchFamily="34" charset="0"/>
              </a:rPr>
              <a:t>b,b</a:t>
            </a:r>
            <a:r>
              <a:rPr lang="en-US" altLang="zh-CN" sz="2000" dirty="0">
                <a:latin typeface="Trebuchet MS" panose="020B0603020202020204" pitchFamily="34" charset="0"/>
              </a:rPr>
              <a:t>),(</a:t>
            </a:r>
            <a:r>
              <a:rPr lang="en-US" altLang="zh-CN" sz="2000" dirty="0" err="1">
                <a:latin typeface="Trebuchet MS" panose="020B0603020202020204" pitchFamily="34" charset="0"/>
              </a:rPr>
              <a:t>c,c</a:t>
            </a:r>
            <a:r>
              <a:rPr lang="en-US" altLang="zh-CN" sz="2000" dirty="0">
                <a:latin typeface="Trebuchet MS" panose="020B0603020202020204" pitchFamily="34" charset="0"/>
              </a:rPr>
              <a:t>)), </a:t>
            </a: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2</a:t>
            </a:r>
            <a:r>
              <a:rPr lang="en-US" altLang="zh-CN" sz="2000" dirty="0">
                <a:latin typeface="Trebuchet MS" panose="020B0603020202020204" pitchFamily="34" charset="0"/>
              </a:rPr>
              <a:t> is </a:t>
            </a:r>
            <a:r>
              <a:rPr lang="en-US" altLang="zh-CN" sz="2000" b="1" dirty="0">
                <a:latin typeface="Trebuchet MS" panose="020B0603020202020204" pitchFamily="34" charset="0"/>
              </a:rPr>
              <a:t>not irreflexive</a:t>
            </a:r>
            <a:r>
              <a:rPr lang="en-US" altLang="zh-CN" sz="2000" dirty="0">
                <a:latin typeface="Trebuchet MS" panose="020B0603020202020204" pitchFamily="34" charset="0"/>
              </a:rPr>
              <a:t>.</a:t>
            </a:r>
          </a:p>
          <a:p>
            <a:pPr marL="533400" indent="-261938">
              <a:lnSpc>
                <a:spcPct val="110000"/>
              </a:lnSpc>
              <a:spcBef>
                <a:spcPct val="0"/>
              </a:spcBef>
              <a:buClr>
                <a:srgbClr val="0B5BFF"/>
              </a:buClr>
              <a:buSzPct val="120000"/>
              <a:buFont typeface="Arial" panose="020B0604020202020204" pitchFamily="34" charset="0"/>
              <a:buChar char="•"/>
            </a:pPr>
            <a:r>
              <a:rPr lang="en-US" altLang="zh-CN" sz="2000" b="1" i="1" dirty="0">
                <a:latin typeface="Trebuchet MS" panose="020B0603020202020204" pitchFamily="34" charset="0"/>
              </a:rPr>
              <a:t>R</a:t>
            </a:r>
            <a:r>
              <a:rPr lang="en-US" altLang="zh-CN" sz="2000" baseline="-25000" dirty="0">
                <a:latin typeface="Trebuchet MS" panose="020B0603020202020204" pitchFamily="34" charset="0"/>
              </a:rPr>
              <a:t>3 </a:t>
            </a:r>
            <a:r>
              <a:rPr lang="en-US" altLang="zh-CN" sz="2000" dirty="0">
                <a:latin typeface="Trebuchet MS" panose="020B0603020202020204" pitchFamily="34" charset="0"/>
              </a:rPr>
              <a:t>​ does not contain any self-loops ((x, x)),</a:t>
            </a:r>
            <a:r>
              <a:rPr lang="en-US" altLang="zh-CN" sz="2000" b="1" i="1" dirty="0">
                <a:latin typeface="Trebuchet MS" panose="020B0603020202020204" pitchFamily="34" charset="0"/>
              </a:rPr>
              <a:t> R</a:t>
            </a:r>
            <a:r>
              <a:rPr lang="en-US" altLang="zh-CN" sz="2000" baseline="-25000" dirty="0">
                <a:latin typeface="Trebuchet MS" panose="020B0603020202020204" pitchFamily="34" charset="0"/>
              </a:rPr>
              <a:t>2 </a:t>
            </a:r>
            <a:r>
              <a:rPr lang="en-US" altLang="zh-CN" sz="2000" dirty="0">
                <a:latin typeface="Trebuchet MS" panose="020B0603020202020204" pitchFamily="34" charset="0"/>
              </a:rPr>
              <a:t>​ is </a:t>
            </a:r>
            <a:r>
              <a:rPr lang="en-US" altLang="zh-CN" sz="2000" b="1" dirty="0">
                <a:latin typeface="Trebuchet MS" panose="020B0603020202020204" pitchFamily="34" charset="0"/>
              </a:rPr>
              <a:t>irreflexive</a:t>
            </a:r>
            <a:r>
              <a:rPr lang="en-US" altLang="zh-CN" sz="2000" dirty="0">
                <a:latin typeface="Trebuchet MS" panose="020B0603020202020204" pitchFamily="34" charset="0"/>
              </a:rPr>
              <a:t>.</a:t>
            </a:r>
          </a:p>
          <a:p>
            <a:pPr marL="342900" indent="-342900">
              <a:lnSpc>
                <a:spcPct val="110000"/>
              </a:lnSpc>
              <a:spcBef>
                <a:spcPct val="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Final Summary: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 </a:t>
            </a:r>
            <a:r>
              <a:rPr lang="zh-CN" altLang="en-US" sz="2400" dirty="0">
                <a:latin typeface="Trebuchet MS" panose="020B0603020202020204" pitchFamily="34" charset="0"/>
              </a:rPr>
              <a:t>：</a:t>
            </a:r>
            <a:r>
              <a:rPr lang="en-US" altLang="zh-CN" sz="2400" dirty="0">
                <a:latin typeface="Trebuchet MS" panose="020B0603020202020204" pitchFamily="34" charset="0"/>
              </a:rPr>
              <a:t>Neither reflexive nor irreflexive;</a:t>
            </a:r>
            <a:r>
              <a:rPr kumimoji="0" lang="en-US" altLang="zh-CN" sz="2400" b="1" i="1" dirty="0">
                <a:latin typeface="Trebuchet MS" panose="020B0603020202020204" pitchFamily="34" charset="0"/>
              </a:rPr>
              <a:t> R</a:t>
            </a:r>
            <a:r>
              <a:rPr kumimoji="0" lang="en-US" altLang="zh-CN" sz="2400" b="1" baseline="-25000" dirty="0">
                <a:latin typeface="Trebuchet MS" panose="020B0603020202020204" pitchFamily="34" charset="0"/>
              </a:rPr>
              <a:t>2 </a:t>
            </a:r>
            <a:r>
              <a:rPr lang="en-US" altLang="zh-CN" sz="2400" dirty="0">
                <a:latin typeface="Trebuchet MS" panose="020B0603020202020204" pitchFamily="34" charset="0"/>
              </a:rPr>
              <a:t>​: Reflexive;</a:t>
            </a:r>
            <a:r>
              <a:rPr kumimoji="0" lang="en-US" altLang="zh-CN" sz="2400" b="1" i="1" dirty="0">
                <a:latin typeface="Trebuchet MS" panose="020B0603020202020204" pitchFamily="34" charset="0"/>
              </a:rPr>
              <a:t> R</a:t>
            </a:r>
            <a:r>
              <a:rPr kumimoji="0" lang="en-US" altLang="zh-CN" sz="2400" b="1" baseline="-25000" dirty="0">
                <a:latin typeface="Trebuchet MS" panose="020B0603020202020204" pitchFamily="34" charset="0"/>
              </a:rPr>
              <a:t>3 </a:t>
            </a:r>
            <a:r>
              <a:rPr lang="en-US" altLang="zh-CN" sz="2400" dirty="0">
                <a:latin typeface="Trebuchet MS" panose="020B0603020202020204" pitchFamily="34" charset="0"/>
              </a:rPr>
              <a:t>​: Irreflexive</a:t>
            </a:r>
            <a:endParaRPr lang="zh-CN" altLang="en-US" sz="2400" dirty="0">
              <a:latin typeface="Trebuchet MS" panose="020B0603020202020204" pitchFamily="34" charset="0"/>
            </a:endParaRPr>
          </a:p>
        </p:txBody>
      </p:sp>
      <p:pic>
        <p:nvPicPr>
          <p:cNvPr id="9" name="图片 8">
            <a:extLst>
              <a:ext uri="{FF2B5EF4-FFF2-40B4-BE49-F238E27FC236}">
                <a16:creationId xmlns:a16="http://schemas.microsoft.com/office/drawing/2014/main" id="{C8812568-32FE-44E2-BB65-B15C924EB8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757" y="1137661"/>
            <a:ext cx="576355" cy="257697"/>
          </a:xfrm>
          <a:prstGeom prst="rect">
            <a:avLst/>
          </a:prstGeom>
        </p:spPr>
      </p:pic>
    </p:spTree>
    <p:extLst>
      <p:ext uri="{BB962C8B-B14F-4D97-AF65-F5344CB8AC3E}">
        <p14:creationId xmlns:p14="http://schemas.microsoft.com/office/powerpoint/2010/main" val="2476373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animEffect transition="in" filter="fade">
                                      <p:cBhvr>
                                        <p:cTn id="12" dur="1000"/>
                                        <p:tgtEl>
                                          <p:spTgt spid="15">
                                            <p:txEl>
                                              <p:pRg st="3" end="3"/>
                                            </p:txEl>
                                          </p:spTgt>
                                        </p:tgtEl>
                                      </p:cBhvr>
                                    </p:animEffect>
                                    <p:anim calcmode="lin" valueType="num">
                                      <p:cBhvr>
                                        <p:cTn id="13"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1000"/>
                                        <p:tgtEl>
                                          <p:spTgt spid="15">
                                            <p:txEl>
                                              <p:pRg st="4" end="4"/>
                                            </p:txEl>
                                          </p:spTgt>
                                        </p:tgtEl>
                                      </p:cBhvr>
                                    </p:animEffect>
                                    <p:anim calcmode="lin" valueType="num">
                                      <p:cBhvr>
                                        <p:cTn id="18"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5">
                                            <p:txEl>
                                              <p:pRg st="5" end="5"/>
                                            </p:txEl>
                                          </p:spTgt>
                                        </p:tgtEl>
                                        <p:attrNameLst>
                                          <p:attrName>style.visibility</p:attrName>
                                        </p:attrNameLst>
                                      </p:cBhvr>
                                      <p:to>
                                        <p:strVal val="visible"/>
                                      </p:to>
                                    </p:set>
                                    <p:animEffect transition="in" filter="fade">
                                      <p:cBhvr>
                                        <p:cTn id="22" dur="1000"/>
                                        <p:tgtEl>
                                          <p:spTgt spid="15">
                                            <p:txEl>
                                              <p:pRg st="5" end="5"/>
                                            </p:txEl>
                                          </p:spTgt>
                                        </p:tgtEl>
                                      </p:cBhvr>
                                    </p:animEffect>
                                    <p:anim calcmode="lin" valueType="num">
                                      <p:cBhvr>
                                        <p:cTn id="23"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5">
                                            <p:txEl>
                                              <p:pRg st="6" end="6"/>
                                            </p:txEl>
                                          </p:spTgt>
                                        </p:tgtEl>
                                        <p:attrNameLst>
                                          <p:attrName>style.visibility</p:attrName>
                                        </p:attrNameLst>
                                      </p:cBhvr>
                                      <p:to>
                                        <p:strVal val="visible"/>
                                      </p:to>
                                    </p:set>
                                    <p:animEffect transition="in" filter="fade">
                                      <p:cBhvr>
                                        <p:cTn id="29" dur="1000"/>
                                        <p:tgtEl>
                                          <p:spTgt spid="15">
                                            <p:txEl>
                                              <p:pRg st="6" end="6"/>
                                            </p:txEl>
                                          </p:spTgt>
                                        </p:tgtEl>
                                      </p:cBhvr>
                                    </p:animEffect>
                                    <p:anim calcmode="lin" valueType="num">
                                      <p:cBhvr>
                                        <p:cTn id="30"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15">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xEl>
                                              <p:pRg st="7" end="7"/>
                                            </p:txEl>
                                          </p:spTgt>
                                        </p:tgtEl>
                                        <p:attrNameLst>
                                          <p:attrName>style.visibility</p:attrName>
                                        </p:attrNameLst>
                                      </p:cBhvr>
                                      <p:to>
                                        <p:strVal val="visible"/>
                                      </p:to>
                                    </p:set>
                                    <p:animEffect transition="in" filter="fade">
                                      <p:cBhvr>
                                        <p:cTn id="34" dur="1000"/>
                                        <p:tgtEl>
                                          <p:spTgt spid="15">
                                            <p:txEl>
                                              <p:pRg st="7" end="7"/>
                                            </p:txEl>
                                          </p:spTgt>
                                        </p:tgtEl>
                                      </p:cBhvr>
                                    </p:animEffect>
                                    <p:anim calcmode="lin" valueType="num">
                                      <p:cBhvr>
                                        <p:cTn id="35"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15">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5">
                                            <p:txEl>
                                              <p:pRg st="8" end="8"/>
                                            </p:txEl>
                                          </p:spTgt>
                                        </p:tgtEl>
                                        <p:attrNameLst>
                                          <p:attrName>style.visibility</p:attrName>
                                        </p:attrNameLst>
                                      </p:cBhvr>
                                      <p:to>
                                        <p:strVal val="visible"/>
                                      </p:to>
                                    </p:set>
                                    <p:animEffect transition="in" filter="fade">
                                      <p:cBhvr>
                                        <p:cTn id="39" dur="1000"/>
                                        <p:tgtEl>
                                          <p:spTgt spid="15">
                                            <p:txEl>
                                              <p:pRg st="8" end="8"/>
                                            </p:txEl>
                                          </p:spTgt>
                                        </p:tgtEl>
                                      </p:cBhvr>
                                    </p:animEffect>
                                    <p:anim calcmode="lin" valueType="num">
                                      <p:cBhvr>
                                        <p:cTn id="40" dur="1000" fill="hold"/>
                                        <p:tgtEl>
                                          <p:spTgt spid="15">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15">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5">
                                            <p:txEl>
                                              <p:pRg st="9" end="9"/>
                                            </p:txEl>
                                          </p:spTgt>
                                        </p:tgtEl>
                                        <p:attrNameLst>
                                          <p:attrName>style.visibility</p:attrName>
                                        </p:attrNameLst>
                                      </p:cBhvr>
                                      <p:to>
                                        <p:strVal val="visible"/>
                                      </p:to>
                                    </p:set>
                                    <p:animEffect transition="in" filter="fade">
                                      <p:cBhvr>
                                        <p:cTn id="44" dur="1000"/>
                                        <p:tgtEl>
                                          <p:spTgt spid="15">
                                            <p:txEl>
                                              <p:pRg st="9" end="9"/>
                                            </p:txEl>
                                          </p:spTgt>
                                        </p:tgtEl>
                                      </p:cBhvr>
                                    </p:animEffect>
                                    <p:anim calcmode="lin" valueType="num">
                                      <p:cBhvr>
                                        <p:cTn id="45" dur="1000" fill="hold"/>
                                        <p:tgtEl>
                                          <p:spTgt spid="15">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1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5">
                                            <p:txEl>
                                              <p:pRg st="10" end="10"/>
                                            </p:txEl>
                                          </p:spTgt>
                                        </p:tgtEl>
                                        <p:attrNameLst>
                                          <p:attrName>style.visibility</p:attrName>
                                        </p:attrNameLst>
                                      </p:cBhvr>
                                      <p:to>
                                        <p:strVal val="visible"/>
                                      </p:to>
                                    </p:set>
                                    <p:animEffect transition="in" filter="fade">
                                      <p:cBhvr>
                                        <p:cTn id="51" dur="1000"/>
                                        <p:tgtEl>
                                          <p:spTgt spid="15">
                                            <p:txEl>
                                              <p:pRg st="10" end="10"/>
                                            </p:txEl>
                                          </p:spTgt>
                                        </p:tgtEl>
                                      </p:cBhvr>
                                    </p:animEffect>
                                    <p:anim calcmode="lin" valueType="num">
                                      <p:cBhvr>
                                        <p:cTn id="52" dur="1000" fill="hold"/>
                                        <p:tgtEl>
                                          <p:spTgt spid="15">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1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Symmetric </a:t>
            </a:r>
            <a:r>
              <a:rPr lang="en-US" altLang="zh-CN" sz="2400" b="1" dirty="0"/>
              <a:t>&amp;</a:t>
            </a:r>
            <a:r>
              <a:rPr lang="en-US" altLang="zh-CN" sz="2400" b="1" dirty="0">
                <a:latin typeface="Trebuchet MS" panose="020B0603020202020204" pitchFamily="34" charset="0"/>
              </a:rPr>
              <a:t> Antisymmetric</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0" name="Rectangle 4">
            <a:extLst>
              <a:ext uri="{FF2B5EF4-FFF2-40B4-BE49-F238E27FC236}">
                <a16:creationId xmlns:a16="http://schemas.microsoft.com/office/drawing/2014/main" id="{9F46A6B1-3747-4676-A079-28FF86B06B37}"/>
              </a:ext>
            </a:extLst>
          </p:cNvPr>
          <p:cNvSpPr>
            <a:spLocks noChangeArrowheads="1"/>
          </p:cNvSpPr>
          <p:nvPr/>
        </p:nvSpPr>
        <p:spPr bwMode="auto">
          <a:xfrm>
            <a:off x="1076101" y="855118"/>
            <a:ext cx="10300960" cy="5344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10000"/>
              </a:lnSpc>
              <a:spcBef>
                <a:spcPct val="0"/>
              </a:spcBef>
              <a:buClr>
                <a:srgbClr val="0B5BFF"/>
              </a:buClr>
              <a:buSzPct val="80000"/>
              <a:buFont typeface="Wingdings" panose="05000000000000000000" pitchFamily="2" charset="2"/>
              <a:buChar char="n"/>
            </a:pPr>
            <a:r>
              <a:rPr kumimoji="0" lang="en-US" altLang="zh-CN" sz="2400" dirty="0">
                <a:latin typeface="Trebuchet MS" panose="020B0603020202020204" pitchFamily="34" charset="0"/>
              </a:rPr>
              <a:t>Definition 4.15: </a:t>
            </a:r>
            <a:r>
              <a:rPr lang="en-US" altLang="zh-CN" sz="2400" b="1" dirty="0">
                <a:latin typeface="Trebuchet MS" panose="020B0603020202020204" pitchFamily="34" charset="0"/>
              </a:rPr>
              <a:t>Symmetric </a:t>
            </a:r>
            <a:r>
              <a:rPr lang="en-US" altLang="zh-CN" sz="2400" b="1" dirty="0"/>
              <a:t>and </a:t>
            </a:r>
            <a:r>
              <a:rPr lang="en-US" altLang="zh-CN" sz="2400" b="1" dirty="0">
                <a:latin typeface="Trebuchet MS" panose="020B0603020202020204" pitchFamily="34" charset="0"/>
              </a:rPr>
              <a:t> Antisymmetric of Relations.</a:t>
            </a:r>
            <a:endParaRPr kumimoji="0" lang="en-US" altLang="zh-CN" sz="2400" b="1" dirty="0">
              <a:latin typeface="Trebuchet MS" panose="020B0603020202020204" pitchFamily="34" charset="0"/>
            </a:endParaRPr>
          </a:p>
          <a:p>
            <a:pPr marL="358775" eaLnBrk="1" hangingPunct="1">
              <a:lnSpc>
                <a:spcPct val="110000"/>
              </a:lnSpc>
              <a:spcBef>
                <a:spcPct val="0"/>
              </a:spcBef>
              <a:buClr>
                <a:srgbClr val="0B5BFF"/>
              </a:buClr>
              <a:buSzPct val="80000"/>
              <a:buNone/>
            </a:pPr>
            <a:r>
              <a:rPr kumimoji="0" lang="en-US" altLang="zh-CN" sz="2400" b="1" dirty="0">
                <a:latin typeface="Trebuchet MS" panose="020B0603020202020204" pitchFamily="34" charset="0"/>
              </a:rPr>
              <a:t>Let </a:t>
            </a:r>
            <a:r>
              <a:rPr kumimoji="0" lang="en-US" altLang="zh-CN" sz="2400" b="1" i="1" dirty="0">
                <a:latin typeface="Trebuchet MS" panose="020B0603020202020204" pitchFamily="34" charset="0"/>
              </a:rPr>
              <a:t>R be a relation on A</a:t>
            </a:r>
            <a:r>
              <a:rPr kumimoji="0" lang="en-US" altLang="zh-CN" sz="2400" b="1" dirty="0">
                <a:latin typeface="Trebuchet MS" panose="020B0603020202020204" pitchFamily="34" charset="0"/>
              </a:rPr>
              <a:t>, </a:t>
            </a:r>
            <a:br>
              <a:rPr kumimoji="0" lang="en-US" altLang="zh-CN" sz="2400" b="1" dirty="0">
                <a:latin typeface="Trebuchet MS" panose="020B0603020202020204" pitchFamily="34" charset="0"/>
              </a:rPr>
            </a:br>
            <a:r>
              <a:rPr kumimoji="0" lang="en-US" altLang="zh-CN" sz="2400" b="1" dirty="0">
                <a:solidFill>
                  <a:srgbClr val="0B5BFF"/>
                </a:solidFill>
                <a:latin typeface="Trebuchet MS" panose="020B0603020202020204" pitchFamily="34" charset="0"/>
              </a:rPr>
              <a:t>(1) </a:t>
            </a:r>
            <a:r>
              <a:rPr kumimoji="0" lang="zh-CN" altLang="en-US" sz="2400" b="1" dirty="0">
                <a:solidFill>
                  <a:srgbClr val="0B5BFF"/>
                </a:solidFill>
                <a:latin typeface="Trebuchet MS" panose="020B0603020202020204" pitchFamily="34" charset="0"/>
              </a:rPr>
              <a:t> </a:t>
            </a:r>
            <a:r>
              <a:rPr kumimoji="0" lang="en-US" altLang="zh-CN" sz="2400" b="1" dirty="0">
                <a:latin typeface="Trebuchet MS" panose="020B0603020202020204" pitchFamily="34" charset="0"/>
              </a:rPr>
              <a:t>If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dirty="0" err="1">
                <a:latin typeface="Trebuchet MS" panose="020B0603020202020204" pitchFamily="34" charset="0"/>
              </a:rPr>
              <a:t>x,y</a:t>
            </a:r>
            <a:r>
              <a:rPr kumimoji="0" lang="en-US" altLang="zh-CN" sz="2400" b="1" dirty="0">
                <a:latin typeface="Trebuchet MS" panose="020B0603020202020204" pitchFamily="34" charset="0"/>
              </a:rPr>
              <a:t>&gt;∈R→&lt;</a:t>
            </a:r>
            <a:r>
              <a:rPr kumimoji="0" lang="en-US" altLang="zh-CN" sz="2400" b="1" dirty="0" err="1">
                <a:latin typeface="Trebuchet MS" panose="020B0603020202020204" pitchFamily="34" charset="0"/>
              </a:rPr>
              <a:t>y,x</a:t>
            </a:r>
            <a:r>
              <a:rPr kumimoji="0" lang="en-US" altLang="zh-CN" sz="2400" b="1" dirty="0">
                <a:latin typeface="Trebuchet MS" panose="020B0603020202020204" pitchFamily="34" charset="0"/>
              </a:rPr>
              <a:t>&gt;∈R),  then</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R </a:t>
            </a:r>
            <a:r>
              <a:rPr kumimoji="0" lang="en-US" sz="2400" b="1" dirty="0">
                <a:latin typeface="Trebuchet MS" panose="020B0603020202020204" pitchFamily="34" charset="0"/>
              </a:rPr>
              <a:t>is called a </a:t>
            </a:r>
            <a:r>
              <a:rPr kumimoji="0" lang="en-US" sz="2400" b="1" i="1" dirty="0">
                <a:latin typeface="Trebuchet MS" panose="020B0603020202020204" pitchFamily="34" charset="0"/>
              </a:rPr>
              <a:t>symmetric relation </a:t>
            </a:r>
            <a:r>
              <a:rPr kumimoji="0" lang="en-US" sz="2400" b="1" dirty="0">
                <a:latin typeface="Trebuchet MS" panose="020B0603020202020204" pitchFamily="34" charset="0"/>
              </a:rPr>
              <a:t>on </a:t>
            </a:r>
            <a:r>
              <a:rPr kumimoji="0" lang="en-US" altLang="zh-CN" sz="2400" b="1" dirty="0">
                <a:latin typeface="Trebuchet MS" panose="020B0603020202020204" pitchFamily="34" charset="0"/>
              </a:rPr>
              <a:t>A.</a:t>
            </a:r>
            <a:br>
              <a:rPr kumimoji="0" lang="en-US" altLang="zh-CN" sz="2400" b="1" dirty="0">
                <a:latin typeface="Trebuchet MS" panose="020B0603020202020204" pitchFamily="34" charset="0"/>
              </a:rPr>
            </a:br>
            <a:r>
              <a:rPr kumimoji="0" lang="en-US" altLang="zh-CN" sz="2400" b="1" dirty="0">
                <a:solidFill>
                  <a:srgbClr val="0B5BFF"/>
                </a:solidFill>
                <a:latin typeface="Trebuchet MS" panose="020B0603020202020204" pitchFamily="34" charset="0"/>
              </a:rPr>
              <a:t>(2) </a:t>
            </a:r>
            <a:r>
              <a:rPr kumimoji="0" lang="zh-CN" altLang="en-US" sz="2400" b="1" dirty="0">
                <a:solidFill>
                  <a:srgbClr val="0B5BFF"/>
                </a:solidFill>
                <a:latin typeface="Trebuchet MS" panose="020B0603020202020204" pitchFamily="34" charset="0"/>
              </a:rPr>
              <a:t> </a:t>
            </a:r>
            <a:r>
              <a:rPr kumimoji="0" lang="en-US" altLang="zh-CN" sz="2400" b="1" dirty="0">
                <a:latin typeface="Trebuchet MS" panose="020B0603020202020204" pitchFamily="34" charset="0"/>
              </a:rPr>
              <a:t>If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i="1" dirty="0" err="1">
                <a:latin typeface="Trebuchet MS" panose="020B0603020202020204" pitchFamily="34" charset="0"/>
              </a:rPr>
              <a:t>R</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then </a:t>
            </a:r>
            <a:r>
              <a:rPr kumimoji="0" lang="en-US" altLang="zh-CN" sz="2400" b="1" i="1" dirty="0">
                <a:latin typeface="Trebuchet MS" panose="020B0603020202020204" pitchFamily="34" charset="0"/>
              </a:rPr>
              <a:t>R</a:t>
            </a:r>
            <a:r>
              <a:rPr lang="en-US" sz="2400" dirty="0">
                <a:latin typeface="Trebuchet MS" panose="020B0603020202020204" pitchFamily="34" charset="0"/>
              </a:rPr>
              <a:t> </a:t>
            </a:r>
            <a:r>
              <a:rPr kumimoji="0" lang="en-US" sz="2400" b="1" dirty="0">
                <a:latin typeface="Trebuchet MS" panose="020B0603020202020204" pitchFamily="34" charset="0"/>
              </a:rPr>
              <a:t>is called an </a:t>
            </a:r>
            <a:r>
              <a:rPr kumimoji="0" lang="en-US" sz="2400" b="1" i="1" dirty="0">
                <a:latin typeface="Trebuchet MS" panose="020B0603020202020204" pitchFamily="34" charset="0"/>
              </a:rPr>
              <a:t>antisymmetric relation </a:t>
            </a:r>
            <a:r>
              <a:rPr kumimoji="0" lang="en-US" sz="2400" b="1" dirty="0">
                <a:latin typeface="Trebuchet MS" panose="020B0603020202020204" pitchFamily="34" charset="0"/>
              </a:rPr>
              <a:t>on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p>
          <a:p>
            <a:pPr marL="342900" indent="-342900" eaLnBrk="1" hangingPunct="1">
              <a:lnSpc>
                <a:spcPct val="110000"/>
              </a:lnSpc>
              <a:spcBef>
                <a:spcPct val="0"/>
              </a:spcBef>
              <a:buClr>
                <a:srgbClr val="0B5BFF"/>
              </a:buClr>
              <a:buSzPct val="80000"/>
              <a:buFont typeface="Wingdings" panose="05000000000000000000" pitchFamily="2" charset="2"/>
              <a:buChar char="n"/>
            </a:pPr>
            <a:r>
              <a:rPr lang="en-US" altLang="zh-CN" sz="2400" b="1" dirty="0"/>
              <a:t>Such as</a:t>
            </a:r>
            <a:r>
              <a:rPr lang="en-US" sz="2400" b="1" dirty="0">
                <a:latin typeface="Trebuchet MS" panose="020B0603020202020204" pitchFamily="34" charset="0"/>
              </a:rPr>
              <a:t>:</a:t>
            </a:r>
          </a:p>
          <a:p>
            <a:pPr marL="358775" eaLnBrk="1" hangingPunct="1">
              <a:lnSpc>
                <a:spcPct val="110000"/>
              </a:lnSpc>
              <a:spcBef>
                <a:spcPct val="0"/>
              </a:spcBef>
              <a:buClr>
                <a:srgbClr val="0B5BFF"/>
              </a:buClr>
              <a:buSzPct val="80000"/>
              <a:buNone/>
            </a:pPr>
            <a:r>
              <a:rPr lang="en-US" sz="2400" b="1" dirty="0">
                <a:latin typeface="Trebuchet MS" panose="020B0603020202020204" pitchFamily="34" charset="0"/>
              </a:rPr>
              <a:t>Symmetric: </a:t>
            </a:r>
            <a:r>
              <a:rPr lang="en-US" sz="2400" dirty="0">
                <a:latin typeface="Trebuchet MS" panose="020B0603020202020204" pitchFamily="34" charset="0"/>
              </a:rPr>
              <a:t>The universal </a:t>
            </a:r>
            <a:r>
              <a:rPr kumimoji="0" lang="en-US" altLang="zh-CN" sz="2400" b="1" i="1" dirty="0">
                <a:latin typeface="Trebuchet MS" panose="020B0603020202020204" pitchFamily="34" charset="0"/>
              </a:rPr>
              <a:t>E</a:t>
            </a:r>
            <a:r>
              <a:rPr kumimoji="0" lang="en-US" altLang="zh-CN" sz="2400" b="1" i="1" baseline="-25000" dirty="0">
                <a:latin typeface="Trebuchet MS" panose="020B0603020202020204" pitchFamily="34" charset="0"/>
              </a:rPr>
              <a:t>A </a:t>
            </a:r>
            <a:r>
              <a:rPr lang="en-US" sz="2400" dirty="0">
                <a:latin typeface="Trebuchet MS" panose="020B0603020202020204" pitchFamily="34" charset="0"/>
              </a:rPr>
              <a:t>​ on </a:t>
            </a:r>
            <a:r>
              <a:rPr kumimoji="0" lang="en-US" altLang="zh-CN" sz="2400" b="1" i="1" dirty="0">
                <a:latin typeface="Trebuchet MS" panose="020B0603020202020204" pitchFamily="34" charset="0"/>
              </a:rPr>
              <a:t>A</a:t>
            </a:r>
            <a:r>
              <a:rPr lang="en-US" sz="2400" dirty="0">
                <a:latin typeface="Trebuchet MS" panose="020B0603020202020204" pitchFamily="34" charset="0"/>
              </a:rPr>
              <a:t>, the identity relation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lang="en-US" sz="2400" dirty="0">
                <a:latin typeface="Trebuchet MS" panose="020B0603020202020204" pitchFamily="34" charset="0"/>
              </a:rPr>
              <a:t>​, and the empty relation ∅.</a:t>
            </a:r>
          </a:p>
          <a:p>
            <a:pPr marL="358775" indent="-87313" eaLnBrk="1" hangingPunct="1">
              <a:lnSpc>
                <a:spcPct val="110000"/>
              </a:lnSpc>
              <a:spcBef>
                <a:spcPct val="0"/>
              </a:spcBef>
              <a:buClr>
                <a:srgbClr val="0B5BFF"/>
              </a:buClr>
              <a:buSzPct val="80000"/>
              <a:buNone/>
            </a:pPr>
            <a:r>
              <a:rPr lang="en-US" sz="2400" b="1" dirty="0">
                <a:latin typeface="Trebuchet MS" panose="020B0603020202020204" pitchFamily="34" charset="0"/>
              </a:rPr>
              <a:t>Antisymmetric: </a:t>
            </a:r>
            <a:r>
              <a:rPr lang="en-US" sz="2400" dirty="0">
                <a:latin typeface="Trebuchet MS" panose="020B0603020202020204" pitchFamily="34" charset="0"/>
              </a:rPr>
              <a:t>The identity relation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lang="en-US" sz="2400" dirty="0">
                <a:latin typeface="Trebuchet MS" panose="020B0603020202020204" pitchFamily="34" charset="0"/>
              </a:rPr>
              <a:t>and the empty relation ∅ are antisymmetric relations on </a:t>
            </a:r>
            <a:r>
              <a:rPr kumimoji="0" lang="en-US" altLang="zh-CN" sz="2400" b="1" i="1" dirty="0">
                <a:latin typeface="Trebuchet MS" panose="020B0603020202020204" pitchFamily="34" charset="0"/>
              </a:rPr>
              <a:t>A</a:t>
            </a:r>
            <a:r>
              <a:rPr lang="en-US" sz="2400" dirty="0">
                <a:latin typeface="Trebuchet MS" panose="020B0603020202020204" pitchFamily="34" charset="0"/>
              </a:rPr>
              <a:t>.</a:t>
            </a:r>
          </a:p>
          <a:p>
            <a:pPr marL="358775" indent="-87313">
              <a:lnSpc>
                <a:spcPct val="110000"/>
              </a:lnSpc>
              <a:spcBef>
                <a:spcPct val="0"/>
              </a:spcBef>
              <a:buClr>
                <a:srgbClr val="0B5BFF"/>
              </a:buClr>
              <a:buSzPct val="80000"/>
              <a:buNone/>
            </a:pPr>
            <a:r>
              <a:rPr lang="en-US" altLang="zh-CN" sz="2400" b="1" dirty="0">
                <a:latin typeface="Trebuchet MS" panose="020B0603020202020204" pitchFamily="34" charset="0"/>
              </a:rPr>
              <a:t>Note: </a:t>
            </a:r>
            <a:r>
              <a:rPr lang="en-US" altLang="zh-CN" sz="2400" dirty="0">
                <a:latin typeface="Trebuchet MS" panose="020B0603020202020204" pitchFamily="34" charset="0"/>
              </a:rPr>
              <a:t>The formulas (1) and (2) iterates over all elements </a:t>
            </a:r>
            <a:r>
              <a:rPr lang="en-US" altLang="zh-CN" sz="2400" dirty="0" err="1">
                <a:latin typeface="Trebuchet MS" panose="020B0603020202020204" pitchFamily="34" charset="0"/>
              </a:rPr>
              <a:t>x,y</a:t>
            </a:r>
            <a:r>
              <a:rPr lang="en-US" altLang="zh-CN" sz="2400" dirty="0">
                <a:latin typeface="Trebuchet MS" panose="020B0603020202020204" pitchFamily="34" charset="0"/>
              </a:rPr>
              <a:t> in </a:t>
            </a:r>
            <a:r>
              <a:rPr lang="en-US" altLang="zh-CN" sz="2400" b="1" i="1" dirty="0">
                <a:latin typeface="Trebuchet MS" panose="020B0603020202020204" pitchFamily="34" charset="0"/>
              </a:rPr>
              <a:t>A</a:t>
            </a:r>
            <a:r>
              <a:rPr lang="en-US" altLang="zh-CN" sz="2400" dirty="0">
                <a:latin typeface="Trebuchet MS" panose="020B0603020202020204" pitchFamily="34" charset="0"/>
              </a:rPr>
              <a:t>, but the actual constraint applies only to the elements in </a:t>
            </a:r>
            <a:r>
              <a:rPr lang="en-US" altLang="zh-CN" sz="2400" b="1" i="1" dirty="0">
                <a:latin typeface="Trebuchet MS" panose="020B0603020202020204" pitchFamily="34" charset="0"/>
              </a:rPr>
              <a:t>R</a:t>
            </a:r>
            <a:r>
              <a:rPr lang="en-US" altLang="zh-CN" sz="2400" dirty="0">
                <a:latin typeface="Trebuchet MS" panose="020B0603020202020204" pitchFamily="34" charset="0"/>
              </a:rPr>
              <a:t>.</a:t>
            </a:r>
          </a:p>
        </p:txBody>
      </p:sp>
      <p:sp>
        <p:nvSpPr>
          <p:cNvPr id="4" name="Rectangle 2">
            <a:extLst>
              <a:ext uri="{FF2B5EF4-FFF2-40B4-BE49-F238E27FC236}">
                <a16:creationId xmlns:a16="http://schemas.microsoft.com/office/drawing/2014/main" id="{EC9E3425-CEA6-4525-8FFF-33BD23A13CB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F9774FFF-C89A-4346-8DD6-C30CDB3DCE25}"/>
              </a:ext>
            </a:extLst>
          </p:cNvPr>
          <p:cNvGraphicFramePr>
            <a:graphicFrameLocks noChangeAspect="1"/>
          </p:cNvGraphicFramePr>
          <p:nvPr>
            <p:extLst>
              <p:ext uri="{D42A27DB-BD31-4B8C-83A1-F6EECF244321}">
                <p14:modId xmlns:p14="http://schemas.microsoft.com/office/powerpoint/2010/main" val="1740325470"/>
              </p:ext>
            </p:extLst>
          </p:nvPr>
        </p:nvGraphicFramePr>
        <p:xfrm>
          <a:off x="1200150" y="5360670"/>
          <a:ext cx="234950" cy="285750"/>
        </p:xfrm>
        <a:graphic>
          <a:graphicData uri="http://schemas.openxmlformats.org/presentationml/2006/ole">
            <mc:AlternateContent xmlns:mc="http://schemas.openxmlformats.org/markup-compatibility/2006">
              <mc:Choice xmlns:v="urn:schemas-microsoft-com:vml" Requires="v">
                <p:oleObj name="Visio" r:id="rId6" imgW="584296" imgH="698595" progId="Visio.Drawing.15">
                  <p:embed/>
                </p:oleObj>
              </mc:Choice>
              <mc:Fallback>
                <p:oleObj name="Visio" r:id="rId6" imgW="584296" imgH="698595"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150" y="5360670"/>
                        <a:ext cx="234950"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982994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1000"/>
                                        <p:tgtEl>
                                          <p:spTgt spid="10">
                                            <p:txEl>
                                              <p:pRg st="3" end="3"/>
                                            </p:txEl>
                                          </p:spTgt>
                                        </p:tgtEl>
                                      </p:cBhvr>
                                    </p:animEffect>
                                    <p:anim calcmode="lin" valueType="num">
                                      <p:cBhvr>
                                        <p:cTn id="1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1000"/>
                                        <p:tgtEl>
                                          <p:spTgt spid="10">
                                            <p:txEl>
                                              <p:pRg st="4" end="4"/>
                                            </p:txEl>
                                          </p:spTgt>
                                        </p:tgtEl>
                                      </p:cBhvr>
                                    </p:animEffect>
                                    <p:anim calcmode="lin" valueType="num">
                                      <p:cBhvr>
                                        <p:cTn id="2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5" end="5"/>
                                            </p:txEl>
                                          </p:spTgt>
                                        </p:tgtEl>
                                        <p:attrNameLst>
                                          <p:attrName>style.visibility</p:attrName>
                                        </p:attrNameLst>
                                      </p:cBhvr>
                                      <p:to>
                                        <p:strVal val="visible"/>
                                      </p:to>
                                    </p:set>
                                    <p:animEffect transition="in" filter="fade">
                                      <p:cBhvr>
                                        <p:cTn id="26" dur="1000"/>
                                        <p:tgtEl>
                                          <p:spTgt spid="10">
                                            <p:txEl>
                                              <p:pRg st="5" end="5"/>
                                            </p:txEl>
                                          </p:spTgt>
                                        </p:tgtEl>
                                      </p:cBhvr>
                                    </p:animEffect>
                                    <p:anim calcmode="lin" valueType="num">
                                      <p:cBhvr>
                                        <p:cTn id="2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Symmetric </a:t>
            </a:r>
            <a:r>
              <a:rPr lang="en-US" altLang="zh-CN" sz="2400" b="1" dirty="0"/>
              <a:t>&amp;</a:t>
            </a:r>
            <a:r>
              <a:rPr lang="en-US" altLang="zh-CN" sz="2400" b="1" dirty="0">
                <a:latin typeface="Trebuchet MS" panose="020B0603020202020204" pitchFamily="34" charset="0"/>
              </a:rPr>
              <a:t> Antisymmetric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0" name="Rectangle 4">
            <a:extLst>
              <a:ext uri="{FF2B5EF4-FFF2-40B4-BE49-F238E27FC236}">
                <a16:creationId xmlns:a16="http://schemas.microsoft.com/office/drawing/2014/main" id="{9F46A6B1-3747-4676-A079-28FF86B06B37}"/>
              </a:ext>
            </a:extLst>
          </p:cNvPr>
          <p:cNvSpPr>
            <a:spLocks noChangeArrowheads="1"/>
          </p:cNvSpPr>
          <p:nvPr/>
        </p:nvSpPr>
        <p:spPr bwMode="auto">
          <a:xfrm>
            <a:off x="1076101" y="809398"/>
            <a:ext cx="10300960" cy="2093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0"/>
              </a:spcBef>
              <a:buNone/>
            </a:pPr>
            <a:r>
              <a:rPr lang="pt-BR" altLang="zh-CN" sz="2400" dirty="0"/>
              <a:t>      Example 2: Let A={a,b,c}, and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a:t>
            </a:r>
            <a:r>
              <a:rPr lang="pt-BR" altLang="zh-CN" sz="2400" dirty="0"/>
              <a:t>and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4</a:t>
            </a:r>
            <a:r>
              <a:rPr kumimoji="0" lang="en-US" altLang="zh-CN" sz="2400" b="1" dirty="0">
                <a:latin typeface="Trebuchet MS" panose="020B0603020202020204" pitchFamily="34" charset="0"/>
              </a:rPr>
              <a:t> </a:t>
            </a:r>
            <a:r>
              <a:rPr lang="pt-BR" altLang="zh-CN" sz="2400" dirty="0"/>
              <a:t>are relations on A, where...</a:t>
            </a:r>
            <a:br>
              <a:rPr kumimoji="0" lang="zh-CN" altLang="en-US" sz="2400" b="1" dirty="0"/>
            </a:br>
            <a:r>
              <a:rPr kumimoji="0" lang="zh-CN" altLang="en-US" sz="2400" b="1" dirty="0"/>
              <a:t>         </a:t>
            </a:r>
            <a:r>
              <a:rPr kumimoji="0" lang="en-US" altLang="zh-CN" sz="2400" b="1" i="1" dirty="0"/>
              <a:t>R</a:t>
            </a:r>
            <a:r>
              <a:rPr kumimoji="0" lang="en-US" altLang="zh-CN" sz="2400" b="1" baseline="-25000" dirty="0"/>
              <a:t>1</a:t>
            </a:r>
            <a:r>
              <a:rPr kumimoji="0" lang="zh-CN" altLang="en-US" sz="2400" b="1" dirty="0"/>
              <a:t>＝</a:t>
            </a:r>
            <a:r>
              <a:rPr kumimoji="0" lang="en-US" altLang="zh-CN" sz="2400" b="1" dirty="0"/>
              <a:t>{&lt;</a:t>
            </a:r>
            <a:r>
              <a:rPr kumimoji="0" lang="en-US" altLang="zh-CN" sz="2400" b="1" i="1" dirty="0" err="1"/>
              <a:t>a,a</a:t>
            </a:r>
            <a:r>
              <a:rPr kumimoji="0" lang="en-US" altLang="zh-CN" sz="2400" b="1" dirty="0"/>
              <a:t>&gt;,&lt;</a:t>
            </a:r>
            <a:r>
              <a:rPr kumimoji="0" lang="en-US" altLang="zh-CN" sz="2400" b="1" i="1" dirty="0" err="1"/>
              <a:t>b,b</a:t>
            </a:r>
            <a:r>
              <a:rPr kumimoji="0" lang="en-US" altLang="zh-CN" sz="2400" b="1" dirty="0"/>
              <a:t>&gt;}</a:t>
            </a:r>
            <a:r>
              <a:rPr kumimoji="0" lang="zh-CN" altLang="en-US" sz="2400" b="1" dirty="0"/>
              <a:t>，  </a:t>
            </a:r>
            <a:r>
              <a:rPr kumimoji="0" lang="en-US" altLang="zh-CN" sz="2400" b="1" i="1" dirty="0"/>
              <a:t>R</a:t>
            </a:r>
            <a:r>
              <a:rPr kumimoji="0" lang="en-US" altLang="zh-CN" sz="2400" b="1" baseline="-25000" dirty="0"/>
              <a:t>2</a:t>
            </a:r>
            <a:r>
              <a:rPr kumimoji="0" lang="zh-CN" altLang="en-US" sz="2400" b="1" dirty="0"/>
              <a:t>＝</a:t>
            </a:r>
            <a:r>
              <a:rPr kumimoji="0" lang="en-US" altLang="zh-CN" sz="2400" b="1" dirty="0"/>
              <a:t>{&lt;</a:t>
            </a:r>
            <a:r>
              <a:rPr kumimoji="0" lang="en-US" altLang="zh-CN" sz="2400" b="1" i="1" dirty="0" err="1"/>
              <a:t>a,a</a:t>
            </a:r>
            <a:r>
              <a:rPr kumimoji="0" lang="en-US" altLang="zh-CN" sz="2400" b="1" dirty="0"/>
              <a:t>&gt;,&lt;</a:t>
            </a:r>
            <a:r>
              <a:rPr kumimoji="0" lang="en-US" altLang="zh-CN" sz="2400" b="1" i="1" dirty="0" err="1"/>
              <a:t>a,b</a:t>
            </a:r>
            <a:r>
              <a:rPr kumimoji="0" lang="en-US" altLang="zh-CN" sz="2400" b="1" dirty="0"/>
              <a:t>&gt;,&lt;</a:t>
            </a:r>
            <a:r>
              <a:rPr kumimoji="0" lang="en-US" altLang="zh-CN" sz="2400" b="1" i="1" dirty="0" err="1"/>
              <a:t>b,a</a:t>
            </a:r>
            <a:r>
              <a:rPr kumimoji="0" lang="en-US" altLang="zh-CN" sz="2400" b="1" dirty="0"/>
              <a:t>&gt;}</a:t>
            </a:r>
            <a:br>
              <a:rPr kumimoji="0" lang="en-US" altLang="zh-CN" sz="2400" b="1" dirty="0"/>
            </a:br>
            <a:r>
              <a:rPr kumimoji="0" lang="en-US" altLang="zh-CN" sz="2400" b="1" dirty="0"/>
              <a:t>         </a:t>
            </a:r>
            <a:r>
              <a:rPr kumimoji="0" lang="en-US" altLang="zh-CN" sz="2400" b="1" i="1" dirty="0"/>
              <a:t>R</a:t>
            </a:r>
            <a:r>
              <a:rPr kumimoji="0" lang="en-US" altLang="zh-CN" sz="2400" b="1" baseline="-25000" dirty="0"/>
              <a:t>3</a:t>
            </a:r>
            <a:r>
              <a:rPr kumimoji="0" lang="zh-CN" altLang="en-US" sz="2400" b="1" dirty="0"/>
              <a:t>＝</a:t>
            </a:r>
            <a:r>
              <a:rPr kumimoji="0" lang="en-US" altLang="zh-CN" sz="2400" b="1" dirty="0"/>
              <a:t>{&lt;</a:t>
            </a:r>
            <a:r>
              <a:rPr kumimoji="0" lang="en-US" altLang="zh-CN" sz="2400" b="1" i="1" dirty="0" err="1"/>
              <a:t>a,b</a:t>
            </a:r>
            <a:r>
              <a:rPr kumimoji="0" lang="en-US" altLang="zh-CN" sz="2400" b="1" dirty="0"/>
              <a:t>&gt;,&lt;</a:t>
            </a:r>
            <a:r>
              <a:rPr kumimoji="0" lang="en-US" altLang="zh-CN" sz="2400" b="1" i="1" dirty="0" err="1"/>
              <a:t>a,c</a:t>
            </a:r>
            <a:r>
              <a:rPr kumimoji="0" lang="en-US" altLang="zh-CN" sz="2400" b="1" dirty="0"/>
              <a:t>&gt;}</a:t>
            </a:r>
            <a:r>
              <a:rPr kumimoji="0" lang="zh-CN" altLang="en-US" sz="2400" b="1" dirty="0"/>
              <a:t>，  </a:t>
            </a:r>
            <a:r>
              <a:rPr kumimoji="0" lang="en-US" altLang="zh-CN" sz="2400" b="1" i="1" dirty="0"/>
              <a:t>R</a:t>
            </a:r>
            <a:r>
              <a:rPr kumimoji="0" lang="en-US" altLang="zh-CN" sz="2400" b="1" baseline="-25000" dirty="0"/>
              <a:t>4</a:t>
            </a:r>
            <a:r>
              <a:rPr kumimoji="0" lang="zh-CN" altLang="en-US" sz="2400" b="1" dirty="0"/>
              <a:t>＝</a:t>
            </a:r>
            <a:r>
              <a:rPr kumimoji="0" lang="en-US" altLang="zh-CN" sz="2400" b="1" dirty="0"/>
              <a:t>{&lt;</a:t>
            </a:r>
            <a:r>
              <a:rPr kumimoji="0" lang="en-US" altLang="zh-CN" sz="2400" b="1" i="1" dirty="0" err="1"/>
              <a:t>a,b</a:t>
            </a:r>
            <a:r>
              <a:rPr kumimoji="0" lang="en-US" altLang="zh-CN" sz="2400" b="1" dirty="0"/>
              <a:t>&gt;,&lt;</a:t>
            </a:r>
            <a:r>
              <a:rPr kumimoji="0" lang="en-US" altLang="zh-CN" sz="2400" b="1" i="1" dirty="0" err="1"/>
              <a:t>b,a</a:t>
            </a:r>
            <a:r>
              <a:rPr kumimoji="0" lang="en-US" altLang="zh-CN" sz="2400" b="1" dirty="0"/>
              <a:t>&gt;,&lt;</a:t>
            </a:r>
            <a:r>
              <a:rPr kumimoji="0" lang="en-US" altLang="zh-CN" sz="2400" b="1" i="1" dirty="0" err="1"/>
              <a:t>a,c</a:t>
            </a:r>
            <a:r>
              <a:rPr kumimoji="0" lang="en-US" altLang="zh-CN" sz="2400" b="1" dirty="0"/>
              <a:t>&gt;}</a:t>
            </a:r>
          </a:p>
          <a:p>
            <a:pPr>
              <a:lnSpc>
                <a:spcPct val="110000"/>
              </a:lnSpc>
              <a:spcBef>
                <a:spcPct val="0"/>
              </a:spcBef>
              <a:buNone/>
            </a:pPr>
            <a:r>
              <a:rPr lang="pt-BR" altLang="zh-CN" sz="2400" dirty="0">
                <a:latin typeface="Trebuchet MS" panose="020B0603020202020204" pitchFamily="34" charset="0"/>
              </a:rPr>
              <a:t>To determine whether the relations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4</a:t>
            </a:r>
            <a:r>
              <a:rPr kumimoji="0" lang="en-US" altLang="zh-CN" sz="2400" b="1" dirty="0">
                <a:latin typeface="Trebuchet MS" panose="020B0603020202020204" pitchFamily="34" charset="0"/>
              </a:rPr>
              <a:t> </a:t>
            </a:r>
            <a:r>
              <a:rPr lang="pt-BR" altLang="zh-CN" sz="2400" dirty="0">
                <a:latin typeface="Trebuchet MS" panose="020B0603020202020204" pitchFamily="34" charset="0"/>
              </a:rPr>
              <a:t>​ are </a:t>
            </a:r>
            <a:r>
              <a:rPr lang="en-US" altLang="zh-CN" sz="2400" dirty="0">
                <a:latin typeface="Trebuchet MS" panose="020B0603020202020204" pitchFamily="34" charset="0"/>
              </a:rPr>
              <a:t>Symmetric</a:t>
            </a:r>
            <a:r>
              <a:rPr lang="pt-BR" altLang="zh-CN" sz="2400" dirty="0">
                <a:latin typeface="Trebuchet MS" panose="020B0603020202020204" pitchFamily="34" charset="0"/>
              </a:rPr>
              <a:t> or </a:t>
            </a:r>
            <a:r>
              <a:rPr lang="en-US" altLang="zh-CN" sz="2400" dirty="0">
                <a:latin typeface="Trebuchet MS" panose="020B0603020202020204" pitchFamily="34" charset="0"/>
              </a:rPr>
              <a:t>Antisymmetric</a:t>
            </a:r>
            <a:r>
              <a:rPr lang="pt-BR" altLang="zh-CN" sz="2400" dirty="0">
                <a:latin typeface="Trebuchet MS" panose="020B0603020202020204" pitchFamily="34" charset="0"/>
              </a:rPr>
              <a:t>.</a:t>
            </a:r>
            <a:r>
              <a:rPr lang="en-US" altLang="zh-CN" sz="2400" dirty="0">
                <a:latin typeface="Trebuchet MS" panose="020B0603020202020204" pitchFamily="34" charset="0"/>
              </a:rPr>
              <a:t> </a:t>
            </a:r>
            <a:endParaRPr kumimoji="0" lang="en-US" altLang="zh-CN" sz="2400" dirty="0"/>
          </a:p>
        </p:txBody>
      </p:sp>
      <p:pic>
        <p:nvPicPr>
          <p:cNvPr id="9" name="图片 8">
            <a:extLst>
              <a:ext uri="{FF2B5EF4-FFF2-40B4-BE49-F238E27FC236}">
                <a16:creationId xmlns:a16="http://schemas.microsoft.com/office/drawing/2014/main" id="{860D16AC-678D-4E45-A8EC-3AEEFC4DBC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757" y="897087"/>
            <a:ext cx="576355" cy="257697"/>
          </a:xfrm>
          <a:prstGeom prst="rect">
            <a:avLst/>
          </a:prstGeom>
        </p:spPr>
      </p:pic>
      <p:graphicFrame>
        <p:nvGraphicFramePr>
          <p:cNvPr id="3" name="表格 3">
            <a:extLst>
              <a:ext uri="{FF2B5EF4-FFF2-40B4-BE49-F238E27FC236}">
                <a16:creationId xmlns:a16="http://schemas.microsoft.com/office/drawing/2014/main" id="{C7430833-FADB-4286-938D-EF9B0C6B45EC}"/>
              </a:ext>
            </a:extLst>
          </p:cNvPr>
          <p:cNvGraphicFramePr>
            <a:graphicFrameLocks noGrp="1"/>
          </p:cNvGraphicFramePr>
          <p:nvPr>
            <p:extLst>
              <p:ext uri="{D42A27DB-BD31-4B8C-83A1-F6EECF244321}">
                <p14:modId xmlns:p14="http://schemas.microsoft.com/office/powerpoint/2010/main" val="2799856585"/>
              </p:ext>
            </p:extLst>
          </p:nvPr>
        </p:nvGraphicFramePr>
        <p:xfrm>
          <a:off x="1208483" y="2834789"/>
          <a:ext cx="9295687" cy="3576628"/>
        </p:xfrm>
        <a:graphic>
          <a:graphicData uri="http://schemas.openxmlformats.org/drawingml/2006/table">
            <a:tbl>
              <a:tblPr firstRow="1" bandRow="1">
                <a:tableStyleId>{5940675A-B579-460E-94D1-54222C63F5DA}</a:tableStyleId>
              </a:tblPr>
              <a:tblGrid>
                <a:gridCol w="537453">
                  <a:extLst>
                    <a:ext uri="{9D8B030D-6E8A-4147-A177-3AD203B41FA5}">
                      <a16:colId xmlns:a16="http://schemas.microsoft.com/office/drawing/2014/main" val="1643111080"/>
                    </a:ext>
                  </a:extLst>
                </a:gridCol>
                <a:gridCol w="3060534">
                  <a:extLst>
                    <a:ext uri="{9D8B030D-6E8A-4147-A177-3AD203B41FA5}">
                      <a16:colId xmlns:a16="http://schemas.microsoft.com/office/drawing/2014/main" val="3128506556"/>
                    </a:ext>
                  </a:extLst>
                </a:gridCol>
                <a:gridCol w="3224879">
                  <a:extLst>
                    <a:ext uri="{9D8B030D-6E8A-4147-A177-3AD203B41FA5}">
                      <a16:colId xmlns:a16="http://schemas.microsoft.com/office/drawing/2014/main" val="838320348"/>
                    </a:ext>
                  </a:extLst>
                </a:gridCol>
                <a:gridCol w="2472821">
                  <a:extLst>
                    <a:ext uri="{9D8B030D-6E8A-4147-A177-3AD203B41FA5}">
                      <a16:colId xmlns:a16="http://schemas.microsoft.com/office/drawing/2014/main" val="2751716052"/>
                    </a:ext>
                  </a:extLst>
                </a:gridCol>
              </a:tblGrid>
              <a:tr h="1151053">
                <a:tc>
                  <a:txBody>
                    <a:bodyPr/>
                    <a:lstStyle/>
                    <a:p>
                      <a:endParaRPr lang="zh-CN" altLang="en-US" dirty="0"/>
                    </a:p>
                  </a:txBody>
                  <a:tcPr/>
                </a:tc>
                <a:tc>
                  <a:txBody>
                    <a:bodyPr/>
                    <a:lstStyle/>
                    <a:p>
                      <a:pPr algn="l"/>
                      <a:r>
                        <a:rPr lang="en-US" altLang="zh-CN" sz="2400" dirty="0">
                          <a:latin typeface="Trebuchet MS" panose="020B0603020202020204" pitchFamily="34" charset="0"/>
                        </a:rPr>
                        <a:t>Symmetric check:</a:t>
                      </a:r>
                    </a:p>
                    <a:p>
                      <a:pPr algn="l"/>
                      <a:r>
                        <a:rPr kumimoji="0" lang="zh-CN" altLang="en-US" sz="2400" b="1" dirty="0">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A</a:t>
                      </a:r>
                      <a:r>
                        <a:rPr kumimoji="0" lang="en-US" altLang="zh-CN" sz="2400" b="1" dirty="0">
                          <a:solidFill>
                            <a:srgbClr val="0B5BFF"/>
                          </a:solidFill>
                          <a:latin typeface="Trebuchet MS" panose="020B0603020202020204" pitchFamily="34" charset="0"/>
                        </a:rPr>
                        <a:t>∧&lt;</a:t>
                      </a:r>
                      <a:r>
                        <a:rPr kumimoji="0" lang="en-US" altLang="zh-CN" sz="2400" b="1" dirty="0" err="1">
                          <a:solidFill>
                            <a:srgbClr val="0B5BFF"/>
                          </a:solidFill>
                          <a:latin typeface="Trebuchet MS" panose="020B0603020202020204" pitchFamily="34" charset="0"/>
                        </a:rPr>
                        <a:t>x,y</a:t>
                      </a:r>
                      <a:r>
                        <a:rPr kumimoji="0" lang="en-US" altLang="zh-CN" sz="2400" b="1" dirty="0">
                          <a:solidFill>
                            <a:srgbClr val="0B5BFF"/>
                          </a:solidFill>
                          <a:latin typeface="Trebuchet MS" panose="020B0603020202020204" pitchFamily="34" charset="0"/>
                        </a:rPr>
                        <a:t>&gt;∈R→&lt;</a:t>
                      </a:r>
                      <a:r>
                        <a:rPr kumimoji="0" lang="en-US" altLang="zh-CN" sz="2400" b="1" dirty="0" err="1">
                          <a:solidFill>
                            <a:srgbClr val="0B5BFF"/>
                          </a:solidFill>
                          <a:latin typeface="Trebuchet MS" panose="020B0603020202020204" pitchFamily="34" charset="0"/>
                        </a:rPr>
                        <a:t>y,x</a:t>
                      </a:r>
                      <a:r>
                        <a:rPr kumimoji="0" lang="en-US" altLang="zh-CN" sz="2400" b="1" dirty="0">
                          <a:solidFill>
                            <a:srgbClr val="0B5BFF"/>
                          </a:solidFill>
                          <a:latin typeface="Trebuchet MS" panose="020B0603020202020204" pitchFamily="34" charset="0"/>
                        </a:rPr>
                        <a:t>&gt;∈R)</a:t>
                      </a:r>
                      <a:endParaRPr lang="zh-CN" altLang="en-US" sz="2400" b="1" dirty="0">
                        <a:solidFill>
                          <a:srgbClr val="0B5BFF"/>
                        </a:solidFill>
                        <a:latin typeface="Trebuchet MS" panose="020B0603020202020204" pitchFamily="34" charset="0"/>
                      </a:endParaRPr>
                    </a:p>
                  </a:txBody>
                  <a:tcPr/>
                </a:tc>
                <a:tc>
                  <a:txBody>
                    <a:bodyPr/>
                    <a:lstStyle/>
                    <a:p>
                      <a:pPr algn="l"/>
                      <a:r>
                        <a:rPr lang="en-US" altLang="zh-CN" sz="2400" dirty="0">
                          <a:latin typeface="Trebuchet MS" panose="020B0603020202020204" pitchFamily="34" charset="0"/>
                        </a:rPr>
                        <a:t>Antisymmetric check:</a:t>
                      </a:r>
                    </a:p>
                    <a:p>
                      <a:pPr algn="l"/>
                      <a:r>
                        <a:rPr kumimoji="0" lang="zh-CN" altLang="en-US" sz="2400" b="1" dirty="0">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A</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&gt;∈</a:t>
                      </a:r>
                      <a:r>
                        <a:rPr kumimoji="0" lang="en-US" altLang="zh-CN" sz="2400" b="1" i="1" dirty="0">
                          <a:solidFill>
                            <a:srgbClr val="0B5BFF"/>
                          </a:solidFill>
                          <a:latin typeface="Trebuchet MS" panose="020B0603020202020204" pitchFamily="34" charset="0"/>
                        </a:rPr>
                        <a:t>R</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a:solidFill>
                            <a:srgbClr val="0B5BFF"/>
                          </a:solidFill>
                          <a:latin typeface="Trebuchet MS" panose="020B0603020202020204" pitchFamily="34" charset="0"/>
                        </a:rPr>
                        <a:t>&gt;∈</a:t>
                      </a:r>
                      <a:r>
                        <a:rPr kumimoji="0" lang="en-US" altLang="zh-CN" sz="2400" b="1" i="1" dirty="0" err="1">
                          <a:solidFill>
                            <a:srgbClr val="0B5BFF"/>
                          </a:solidFill>
                          <a:latin typeface="Trebuchet MS" panose="020B0603020202020204" pitchFamily="34" charset="0"/>
                        </a:rPr>
                        <a:t>R</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a:solidFill>
                            <a:srgbClr val="0B5BFF"/>
                          </a:solidFill>
                          <a:latin typeface="Trebuchet MS" panose="020B0603020202020204" pitchFamily="34" charset="0"/>
                        </a:rPr>
                        <a:t>=</a:t>
                      </a:r>
                      <a:r>
                        <a:rPr kumimoji="0" lang="en-US" altLang="zh-CN" sz="2400" b="1" i="1" dirty="0">
                          <a:solidFill>
                            <a:srgbClr val="0B5BFF"/>
                          </a:solidFill>
                          <a:latin typeface="Trebuchet MS" panose="020B0603020202020204" pitchFamily="34" charset="0"/>
                        </a:rPr>
                        <a:t>y</a:t>
                      </a:r>
                      <a:endParaRPr lang="zh-CN" altLang="en-US" sz="2400" b="1" dirty="0">
                        <a:solidFill>
                          <a:srgbClr val="0B5BFF"/>
                        </a:solidFill>
                        <a:latin typeface="Trebuchet MS" panose="020B0603020202020204" pitchFamily="34" charset="0"/>
                      </a:endParaRPr>
                    </a:p>
                  </a:txBody>
                  <a:tcPr/>
                </a:tc>
                <a:tc>
                  <a:txBody>
                    <a:bodyPr/>
                    <a:lstStyle/>
                    <a:p>
                      <a:pPr algn="l"/>
                      <a:r>
                        <a:rPr lang="en-US" altLang="zh-CN" sz="2400" dirty="0">
                          <a:latin typeface="Trebuchet MS" panose="020B0603020202020204" pitchFamily="34" charset="0"/>
                        </a:rPr>
                        <a:t>Conclusion</a:t>
                      </a:r>
                      <a:endParaRPr lang="zh-CN" altLang="en-US" sz="2400" dirty="0">
                        <a:latin typeface="Trebuchet MS" panose="020B0603020202020204" pitchFamily="34" charset="0"/>
                      </a:endParaRPr>
                    </a:p>
                  </a:txBody>
                  <a:tcPr/>
                </a:tc>
                <a:extLst>
                  <a:ext uri="{0D108BD9-81ED-4DB2-BD59-A6C34878D82A}">
                    <a16:rowId xmlns:a16="http://schemas.microsoft.com/office/drawing/2014/main" val="4258177008"/>
                  </a:ext>
                </a:extLst>
              </a:tr>
              <a:tr h="1269110">
                <a:tc>
                  <a:txBody>
                    <a:bodyPr/>
                    <a:lstStyle/>
                    <a:p>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endParaRPr lang="zh-CN" altLang="en-US" sz="2400" dirty="0">
                        <a:latin typeface="Trebuchet MS" panose="020B0603020202020204" pitchFamily="34" charset="0"/>
                      </a:endParaRPr>
                    </a:p>
                  </a:txBody>
                  <a:tcPr/>
                </a:tc>
                <a:tc>
                  <a:txBody>
                    <a:bodyPr/>
                    <a:lstStyle/>
                    <a:p>
                      <a:pPr marL="0" indent="0">
                        <a:buClr>
                          <a:srgbClr val="0B5BFF"/>
                        </a:buClr>
                        <a:buFont typeface="Arial" panose="020B0604020202020204" pitchFamily="34" charset="0"/>
                        <a:buNone/>
                      </a:pP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1</a:t>
                      </a:r>
                      <a:r>
                        <a:rPr lang="en-US" altLang="zh-CN" sz="2000" dirty="0">
                          <a:latin typeface="Trebuchet MS" panose="020B0603020202020204" pitchFamily="34" charset="0"/>
                        </a:rPr>
                        <a:t> only contains (</a:t>
                      </a:r>
                      <a:r>
                        <a:rPr lang="en-US" altLang="zh-CN" sz="2000" dirty="0" err="1">
                          <a:latin typeface="Trebuchet MS" panose="020B0603020202020204" pitchFamily="34" charset="0"/>
                        </a:rPr>
                        <a:t>a,a</a:t>
                      </a:r>
                      <a:r>
                        <a:rPr lang="en-US" altLang="zh-CN" sz="2000" dirty="0">
                          <a:latin typeface="Trebuchet MS" panose="020B0603020202020204" pitchFamily="34" charset="0"/>
                        </a:rPr>
                        <a:t>) and (</a:t>
                      </a:r>
                      <a:r>
                        <a:rPr lang="en-US" altLang="zh-CN" sz="2000" dirty="0" err="1">
                          <a:latin typeface="Trebuchet MS" panose="020B0603020202020204" pitchFamily="34" charset="0"/>
                        </a:rPr>
                        <a:t>b,b</a:t>
                      </a:r>
                      <a:r>
                        <a:rPr lang="en-US" altLang="zh-CN" sz="2000" dirty="0">
                          <a:latin typeface="Trebuchet MS" panose="020B0603020202020204" pitchFamily="34"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Trebuchet MS" panose="020B0603020202020204" pitchFamily="34" charset="0"/>
                        </a:rPr>
                        <a:t>Only contains reflexive elements (</a:t>
                      </a:r>
                      <a:r>
                        <a:rPr lang="en-US" altLang="zh-CN" sz="2000" dirty="0" err="1">
                          <a:latin typeface="Trebuchet MS" panose="020B0603020202020204" pitchFamily="34" charset="0"/>
                        </a:rPr>
                        <a:t>x,x</a:t>
                      </a:r>
                      <a:r>
                        <a:rPr lang="en-US" altLang="zh-CN" sz="2000" dirty="0">
                          <a:latin typeface="Trebuchet MS" panose="020B0603020202020204" pitchFamily="34" charset="0"/>
                        </a:rPr>
                        <a:t>) and does not include any (</a:t>
                      </a:r>
                      <a:r>
                        <a:rPr lang="en-US" altLang="zh-CN" sz="2000" dirty="0" err="1">
                          <a:latin typeface="Trebuchet MS" panose="020B0603020202020204" pitchFamily="34" charset="0"/>
                        </a:rPr>
                        <a:t>x,y</a:t>
                      </a:r>
                      <a:r>
                        <a:rPr lang="en-US" altLang="zh-CN" sz="2000" dirty="0">
                          <a:latin typeface="Trebuchet MS" panose="020B0603020202020204" pitchFamily="34" charset="0"/>
                        </a:rPr>
                        <a:t>) such that </a:t>
                      </a:r>
                      <a:r>
                        <a:rPr lang="en-US" altLang="zh-CN" sz="2000" dirty="0" err="1">
                          <a:latin typeface="Trebuchet MS" panose="020B0603020202020204" pitchFamily="34" charset="0"/>
                        </a:rPr>
                        <a:t>x≠y</a:t>
                      </a:r>
                      <a:r>
                        <a:rPr lang="en-US" altLang="zh-CN" sz="2000" dirty="0">
                          <a:latin typeface="Trebuchet MS" panose="020B0603020202020204" pitchFamily="34" charset="0"/>
                        </a:rPr>
                        <a:t>.</a:t>
                      </a:r>
                      <a:endParaRPr lang="es-ES" altLang="zh-CN" sz="2000" dirty="0">
                        <a:latin typeface="Trebuchet MS" panose="020B0603020202020204" pitchFamily="34" charset="0"/>
                      </a:endParaRPr>
                    </a:p>
                  </a:txBody>
                  <a:tcPr/>
                </a:tc>
                <a:tc>
                  <a:txBody>
                    <a:bodyPr/>
                    <a:lstStyle/>
                    <a:p>
                      <a:r>
                        <a:rPr lang="en-US" altLang="zh-CN" sz="2000" b="1" dirty="0">
                          <a:latin typeface="Trebuchet MS" panose="020B0603020202020204" pitchFamily="34" charset="0"/>
                        </a:rPr>
                        <a:t>Symmetric:</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p>
                    <a:p>
                      <a:r>
                        <a:rPr lang="en-US" altLang="zh-CN" sz="2000" dirty="0">
                          <a:latin typeface="Trebuchet MS" panose="020B0603020202020204" pitchFamily="34" charset="0"/>
                        </a:rPr>
                        <a:t>Antisymmetric</a:t>
                      </a:r>
                      <a:r>
                        <a:rPr lang="en-US" altLang="zh-CN" sz="2000" b="1" dirty="0">
                          <a:latin typeface="Trebuchet MS" panose="020B0603020202020204" pitchFamily="34" charset="0"/>
                        </a:rPr>
                        <a:t>:</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endParaRPr lang="zh-CN" altLang="en-US" sz="2000" dirty="0">
                        <a:latin typeface="Trebuchet MS" panose="020B0603020202020204" pitchFamily="34" charset="0"/>
                      </a:endParaRPr>
                    </a:p>
                  </a:txBody>
                  <a:tcPr/>
                </a:tc>
                <a:extLst>
                  <a:ext uri="{0D108BD9-81ED-4DB2-BD59-A6C34878D82A}">
                    <a16:rowId xmlns:a16="http://schemas.microsoft.com/office/drawing/2014/main" val="2986210801"/>
                  </a:ext>
                </a:extLst>
              </a:tr>
              <a:tr h="1077268">
                <a:tc>
                  <a:txBody>
                    <a:bodyPr/>
                    <a:lstStyle/>
                    <a:p>
                      <a:r>
                        <a:rPr kumimoji="0" lang="en-US" altLang="zh-CN" sz="2400" b="1" i="1" dirty="0">
                          <a:latin typeface="Trebuchet MS" panose="020B0603020202020204" pitchFamily="34" charset="0"/>
                        </a:rPr>
                        <a:t>R</a:t>
                      </a:r>
                      <a:r>
                        <a:rPr kumimoji="0" lang="en-US" altLang="zh-CN" sz="2400" b="1" i="1" baseline="-25000" dirty="0">
                          <a:latin typeface="Trebuchet MS" panose="020B0603020202020204" pitchFamily="34" charset="0"/>
                        </a:rPr>
                        <a:t>2</a:t>
                      </a:r>
                      <a:endParaRPr lang="zh-CN" altLang="en-US" sz="2400" dirty="0">
                        <a:latin typeface="Trebuchet MS" panose="020B0603020202020204" pitchFamily="34" charset="0"/>
                      </a:endParaRPr>
                    </a:p>
                  </a:txBody>
                  <a:tcPr/>
                </a:tc>
                <a:tc>
                  <a:txBody>
                    <a:bodyPr/>
                    <a:lstStyle/>
                    <a:p>
                      <a:r>
                        <a:rPr lang="en-US" altLang="zh-CN" sz="2000" dirty="0">
                          <a:latin typeface="Trebuchet MS" panose="020B0603020202020204" pitchFamily="34" charset="0"/>
                        </a:rPr>
                        <a:t>Every (</a:t>
                      </a:r>
                      <a:r>
                        <a:rPr lang="en-US" altLang="zh-CN" sz="2000" dirty="0" err="1">
                          <a:latin typeface="Trebuchet MS" panose="020B0603020202020204" pitchFamily="34" charset="0"/>
                        </a:rPr>
                        <a:t>x,y</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2</a:t>
                      </a:r>
                      <a:r>
                        <a:rPr lang="en-US" altLang="zh-CN" sz="2000" dirty="0">
                          <a:latin typeface="Trebuchet MS" panose="020B0603020202020204" pitchFamily="34" charset="0"/>
                        </a:rPr>
                        <a:t>​, the corresponding (</a:t>
                      </a:r>
                      <a:r>
                        <a:rPr lang="en-US" altLang="zh-CN" sz="2000" dirty="0" err="1">
                          <a:latin typeface="Trebuchet MS" panose="020B0603020202020204" pitchFamily="34" charset="0"/>
                        </a:rPr>
                        <a:t>y,x</a:t>
                      </a:r>
                      <a:r>
                        <a:rPr lang="en-US" altLang="zh-CN" sz="2000" dirty="0">
                          <a:latin typeface="Trebuchet MS" panose="020B0603020202020204" pitchFamily="34" charset="0"/>
                        </a:rPr>
                        <a:t>) is also in </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2</a:t>
                      </a:r>
                      <a:r>
                        <a:rPr lang="en-US" altLang="zh-CN" sz="2000" dirty="0">
                          <a:latin typeface="Trebuchet MS" panose="020B0603020202020204" pitchFamily="34" charset="0"/>
                        </a:rPr>
                        <a:t>.​</a:t>
                      </a:r>
                      <a:endParaRPr lang="zh-CN" altLang="en-US" sz="2000" dirty="0">
                        <a:latin typeface="Trebuchet MS" panose="020B0603020202020204" pitchFamily="34" charset="0"/>
                      </a:endParaRPr>
                    </a:p>
                  </a:txBody>
                  <a:tcPr/>
                </a:tc>
                <a:tc>
                  <a:txBody>
                    <a:bodyPr/>
                    <a:lstStyle/>
                    <a:p>
                      <a:r>
                        <a:rPr lang="en-US" altLang="zh-CN" sz="2000" dirty="0">
                          <a:latin typeface="Trebuchet MS" panose="020B0603020202020204" pitchFamily="34" charset="0"/>
                        </a:rPr>
                        <a:t>Contains  and (</a:t>
                      </a:r>
                      <a:r>
                        <a:rPr lang="en-US" altLang="zh-CN" sz="2000" dirty="0" err="1">
                          <a:latin typeface="Trebuchet MS" panose="020B0603020202020204" pitchFamily="34" charset="0"/>
                        </a:rPr>
                        <a:t>b,a</a:t>
                      </a:r>
                      <a:r>
                        <a:rPr lang="en-US" altLang="zh-CN" sz="2000" dirty="0">
                          <a:latin typeface="Trebuchet MS" panose="020B0603020202020204" pitchFamily="34" charset="0"/>
                        </a:rPr>
                        <a:t>), but </a:t>
                      </a:r>
                      <a:r>
                        <a:rPr lang="en-US" altLang="zh-CN" sz="2000" dirty="0" err="1">
                          <a:latin typeface="Trebuchet MS" panose="020B0603020202020204" pitchFamily="34" charset="0"/>
                        </a:rPr>
                        <a:t>a≠b</a:t>
                      </a:r>
                      <a:r>
                        <a:rPr lang="en-US" altLang="zh-CN" sz="2000" dirty="0">
                          <a:latin typeface="Trebuchet MS" panose="020B0603020202020204" pitchFamily="34" charset="0"/>
                        </a:rPr>
                        <a:t>, which violates the requirement that x=y.</a:t>
                      </a:r>
                      <a:endParaRPr lang="zh-CN" altLang="en-US" sz="2000" dirty="0">
                        <a:latin typeface="Trebuchet MS" panose="020B0603020202020204" pitchFamily="34" charset="0"/>
                      </a:endParaRPr>
                    </a:p>
                  </a:txBody>
                  <a:tcPr/>
                </a:tc>
                <a:tc>
                  <a:txBody>
                    <a:bodyPr/>
                    <a:lstStyle/>
                    <a:p>
                      <a:r>
                        <a:rPr lang="en-US" altLang="zh-CN" sz="2000" b="1" dirty="0">
                          <a:latin typeface="Trebuchet MS" panose="020B0603020202020204" pitchFamily="34" charset="0"/>
                        </a:rPr>
                        <a:t>Symmetric:</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p>
                    <a:p>
                      <a:r>
                        <a:rPr lang="en-US" altLang="zh-CN" sz="2000" dirty="0">
                          <a:latin typeface="Trebuchet MS" panose="020B0603020202020204" pitchFamily="34" charset="0"/>
                        </a:rPr>
                        <a:t>Antisymmetric</a:t>
                      </a:r>
                      <a:r>
                        <a:rPr lang="en-US" altLang="zh-CN" sz="2000" b="1" dirty="0">
                          <a:latin typeface="Trebuchet MS" panose="020B0603020202020204" pitchFamily="34" charset="0"/>
                        </a:rPr>
                        <a:t>:</a:t>
                      </a:r>
                      <a:r>
                        <a:rPr lang="zh-CN" altLang="en-US" sz="2000" dirty="0">
                          <a:latin typeface="Trebuchet MS" panose="020B0603020202020204" pitchFamily="34" charset="0"/>
                        </a:rPr>
                        <a:t>❌ </a:t>
                      </a:r>
                      <a:r>
                        <a:rPr lang="en-US" altLang="zh-CN" sz="2000" dirty="0">
                          <a:latin typeface="Trebuchet MS" panose="020B0603020202020204" pitchFamily="34" charset="0"/>
                        </a:rPr>
                        <a:t>No</a:t>
                      </a:r>
                      <a:endParaRPr lang="zh-CN" altLang="en-US" sz="2000" dirty="0">
                        <a:latin typeface="Trebuchet MS" panose="020B0603020202020204" pitchFamily="34" charset="0"/>
                      </a:endParaRPr>
                    </a:p>
                  </a:txBody>
                  <a:tcPr/>
                </a:tc>
                <a:extLst>
                  <a:ext uri="{0D108BD9-81ED-4DB2-BD59-A6C34878D82A}">
                    <a16:rowId xmlns:a16="http://schemas.microsoft.com/office/drawing/2014/main" val="299291432"/>
                  </a:ext>
                </a:extLst>
              </a:tr>
            </a:tbl>
          </a:graphicData>
        </a:graphic>
      </p:graphicFrame>
    </p:spTree>
    <p:extLst>
      <p:ext uri="{BB962C8B-B14F-4D97-AF65-F5344CB8AC3E}">
        <p14:creationId xmlns:p14="http://schemas.microsoft.com/office/powerpoint/2010/main" val="3661031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Symmetric </a:t>
            </a:r>
            <a:r>
              <a:rPr lang="en-US" altLang="zh-CN" sz="2400" b="1" dirty="0"/>
              <a:t>&amp;</a:t>
            </a:r>
            <a:r>
              <a:rPr lang="en-US" altLang="zh-CN" sz="2400" b="1" dirty="0">
                <a:latin typeface="Trebuchet MS" panose="020B0603020202020204" pitchFamily="34" charset="0"/>
              </a:rPr>
              <a:t> Antisymmetric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0" name="Rectangle 4">
            <a:extLst>
              <a:ext uri="{FF2B5EF4-FFF2-40B4-BE49-F238E27FC236}">
                <a16:creationId xmlns:a16="http://schemas.microsoft.com/office/drawing/2014/main" id="{9F46A6B1-3747-4676-A079-28FF86B06B37}"/>
              </a:ext>
            </a:extLst>
          </p:cNvPr>
          <p:cNvSpPr>
            <a:spLocks noChangeArrowheads="1"/>
          </p:cNvSpPr>
          <p:nvPr/>
        </p:nvSpPr>
        <p:spPr bwMode="auto">
          <a:xfrm>
            <a:off x="1076101" y="832258"/>
            <a:ext cx="10300960" cy="2093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0"/>
              </a:spcBef>
              <a:buNone/>
            </a:pPr>
            <a:r>
              <a:rPr lang="pt-BR" altLang="zh-CN" sz="2400" dirty="0"/>
              <a:t>      </a:t>
            </a:r>
            <a:r>
              <a:rPr lang="pt-BR" altLang="zh-CN" sz="2400" b="1" dirty="0"/>
              <a:t>Example: </a:t>
            </a:r>
            <a:r>
              <a:rPr lang="pt-BR" altLang="zh-CN" sz="2400" dirty="0"/>
              <a:t>Let A={a,b,c}, and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a:t>
            </a:r>
            <a:r>
              <a:rPr lang="pt-BR" altLang="zh-CN" sz="2400" dirty="0"/>
              <a:t>and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4</a:t>
            </a:r>
            <a:r>
              <a:rPr lang="pt-BR" altLang="zh-CN" sz="2400" dirty="0"/>
              <a:t> are relations on A, where...</a:t>
            </a:r>
            <a:br>
              <a:rPr kumimoji="0" lang="zh-CN" altLang="en-US" sz="2400" b="1" dirty="0"/>
            </a:br>
            <a:r>
              <a:rPr kumimoji="0" lang="zh-CN" altLang="en-US" sz="2400" b="1" dirty="0"/>
              <a:t>         </a:t>
            </a:r>
            <a:r>
              <a:rPr kumimoji="0" lang="en-US" altLang="zh-CN" sz="2400" b="1" i="1" dirty="0"/>
              <a:t>R</a:t>
            </a:r>
            <a:r>
              <a:rPr kumimoji="0" lang="en-US" altLang="zh-CN" sz="2400" b="1" baseline="-25000" dirty="0"/>
              <a:t>1</a:t>
            </a:r>
            <a:r>
              <a:rPr kumimoji="0" lang="zh-CN" altLang="en-US" sz="2400" b="1" dirty="0"/>
              <a:t>＝</a:t>
            </a:r>
            <a:r>
              <a:rPr kumimoji="0" lang="en-US" altLang="zh-CN" sz="2400" b="1" dirty="0"/>
              <a:t>{&lt;</a:t>
            </a:r>
            <a:r>
              <a:rPr kumimoji="0" lang="en-US" altLang="zh-CN" sz="2400" b="1" i="1" dirty="0" err="1"/>
              <a:t>a,a</a:t>
            </a:r>
            <a:r>
              <a:rPr kumimoji="0" lang="en-US" altLang="zh-CN" sz="2400" b="1" dirty="0"/>
              <a:t>&gt;,&lt;</a:t>
            </a:r>
            <a:r>
              <a:rPr kumimoji="0" lang="en-US" altLang="zh-CN" sz="2400" b="1" i="1" dirty="0" err="1"/>
              <a:t>b,b</a:t>
            </a:r>
            <a:r>
              <a:rPr kumimoji="0" lang="en-US" altLang="zh-CN" sz="2400" b="1" dirty="0"/>
              <a:t>&gt;}</a:t>
            </a:r>
            <a:r>
              <a:rPr kumimoji="0" lang="zh-CN" altLang="en-US" sz="2400" b="1" dirty="0"/>
              <a:t>，  </a:t>
            </a:r>
            <a:r>
              <a:rPr kumimoji="0" lang="en-US" altLang="zh-CN" sz="2400" b="1" i="1" dirty="0"/>
              <a:t>R</a:t>
            </a:r>
            <a:r>
              <a:rPr kumimoji="0" lang="en-US" altLang="zh-CN" sz="2400" b="1" baseline="-25000" dirty="0"/>
              <a:t>2</a:t>
            </a:r>
            <a:r>
              <a:rPr kumimoji="0" lang="zh-CN" altLang="en-US" sz="2400" b="1" dirty="0"/>
              <a:t>＝</a:t>
            </a:r>
            <a:r>
              <a:rPr kumimoji="0" lang="en-US" altLang="zh-CN" sz="2400" b="1" dirty="0"/>
              <a:t>{&lt;</a:t>
            </a:r>
            <a:r>
              <a:rPr kumimoji="0" lang="en-US" altLang="zh-CN" sz="2400" b="1" i="1" dirty="0" err="1"/>
              <a:t>a,a</a:t>
            </a:r>
            <a:r>
              <a:rPr kumimoji="0" lang="en-US" altLang="zh-CN" sz="2400" b="1" dirty="0"/>
              <a:t>&gt;,&lt;</a:t>
            </a:r>
            <a:r>
              <a:rPr kumimoji="0" lang="en-US" altLang="zh-CN" sz="2400" b="1" i="1" dirty="0" err="1"/>
              <a:t>a,b</a:t>
            </a:r>
            <a:r>
              <a:rPr kumimoji="0" lang="en-US" altLang="zh-CN" sz="2400" b="1" dirty="0"/>
              <a:t>&gt;,&lt;</a:t>
            </a:r>
            <a:r>
              <a:rPr kumimoji="0" lang="en-US" altLang="zh-CN" sz="2400" b="1" i="1" dirty="0" err="1"/>
              <a:t>b,a</a:t>
            </a:r>
            <a:r>
              <a:rPr kumimoji="0" lang="en-US" altLang="zh-CN" sz="2400" b="1" dirty="0"/>
              <a:t>&gt;}</a:t>
            </a:r>
            <a:br>
              <a:rPr kumimoji="0" lang="en-US" altLang="zh-CN" sz="2400" b="1" dirty="0"/>
            </a:br>
            <a:r>
              <a:rPr kumimoji="0" lang="en-US" altLang="zh-CN" sz="2400" b="1" dirty="0"/>
              <a:t>         </a:t>
            </a:r>
            <a:r>
              <a:rPr kumimoji="0" lang="en-US" altLang="zh-CN" sz="2400" b="1" i="1" dirty="0"/>
              <a:t>R</a:t>
            </a:r>
            <a:r>
              <a:rPr kumimoji="0" lang="en-US" altLang="zh-CN" sz="2400" b="1" baseline="-25000" dirty="0"/>
              <a:t>3</a:t>
            </a:r>
            <a:r>
              <a:rPr kumimoji="0" lang="zh-CN" altLang="en-US" sz="2400" b="1" dirty="0"/>
              <a:t>＝</a:t>
            </a:r>
            <a:r>
              <a:rPr kumimoji="0" lang="en-US" altLang="zh-CN" sz="2400" b="1" dirty="0"/>
              <a:t>{&lt;</a:t>
            </a:r>
            <a:r>
              <a:rPr kumimoji="0" lang="en-US" altLang="zh-CN" sz="2400" b="1" i="1" dirty="0" err="1"/>
              <a:t>a,b</a:t>
            </a:r>
            <a:r>
              <a:rPr kumimoji="0" lang="en-US" altLang="zh-CN" sz="2400" b="1" dirty="0"/>
              <a:t>&gt;,&lt;</a:t>
            </a:r>
            <a:r>
              <a:rPr kumimoji="0" lang="en-US" altLang="zh-CN" sz="2400" b="1" i="1" dirty="0" err="1"/>
              <a:t>a,c</a:t>
            </a:r>
            <a:r>
              <a:rPr kumimoji="0" lang="en-US" altLang="zh-CN" sz="2400" b="1" dirty="0"/>
              <a:t>&gt;}</a:t>
            </a:r>
            <a:r>
              <a:rPr kumimoji="0" lang="zh-CN" altLang="en-US" sz="2400" b="1" dirty="0"/>
              <a:t>，  </a:t>
            </a:r>
            <a:r>
              <a:rPr kumimoji="0" lang="en-US" altLang="zh-CN" sz="2400" b="1" i="1" dirty="0"/>
              <a:t>R</a:t>
            </a:r>
            <a:r>
              <a:rPr kumimoji="0" lang="en-US" altLang="zh-CN" sz="2400" b="1" baseline="-25000" dirty="0"/>
              <a:t>4</a:t>
            </a:r>
            <a:r>
              <a:rPr kumimoji="0" lang="zh-CN" altLang="en-US" sz="2400" b="1" dirty="0"/>
              <a:t>＝</a:t>
            </a:r>
            <a:r>
              <a:rPr kumimoji="0" lang="en-US" altLang="zh-CN" sz="2400" b="1" dirty="0"/>
              <a:t>{&lt;</a:t>
            </a:r>
            <a:r>
              <a:rPr kumimoji="0" lang="en-US" altLang="zh-CN" sz="2400" b="1" i="1" dirty="0" err="1"/>
              <a:t>a,b</a:t>
            </a:r>
            <a:r>
              <a:rPr kumimoji="0" lang="en-US" altLang="zh-CN" sz="2400" b="1" dirty="0"/>
              <a:t>&gt;,&lt;</a:t>
            </a:r>
            <a:r>
              <a:rPr kumimoji="0" lang="en-US" altLang="zh-CN" sz="2400" b="1" i="1" dirty="0" err="1"/>
              <a:t>b,a</a:t>
            </a:r>
            <a:r>
              <a:rPr kumimoji="0" lang="en-US" altLang="zh-CN" sz="2400" b="1" dirty="0"/>
              <a:t>&gt;,&lt;</a:t>
            </a:r>
            <a:r>
              <a:rPr kumimoji="0" lang="en-US" altLang="zh-CN" sz="2400" b="1" i="1" dirty="0" err="1"/>
              <a:t>a,c</a:t>
            </a:r>
            <a:r>
              <a:rPr kumimoji="0" lang="en-US" altLang="zh-CN" sz="2400" b="1" dirty="0"/>
              <a:t>&gt;}</a:t>
            </a:r>
          </a:p>
          <a:p>
            <a:pPr>
              <a:lnSpc>
                <a:spcPct val="110000"/>
              </a:lnSpc>
              <a:spcBef>
                <a:spcPct val="0"/>
              </a:spcBef>
              <a:buNone/>
            </a:pPr>
            <a:r>
              <a:rPr lang="pt-BR" altLang="zh-CN" sz="2400" dirty="0">
                <a:latin typeface="Trebuchet MS" panose="020B0603020202020204" pitchFamily="34" charset="0"/>
              </a:rPr>
              <a:t>To determine whether the relations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4</a:t>
            </a:r>
            <a:r>
              <a:rPr kumimoji="0" lang="en-US" altLang="zh-CN" sz="2400" b="1" dirty="0">
                <a:latin typeface="Trebuchet MS" panose="020B0603020202020204" pitchFamily="34" charset="0"/>
              </a:rPr>
              <a:t> </a:t>
            </a:r>
            <a:r>
              <a:rPr lang="pt-BR" altLang="zh-CN" sz="2400" dirty="0">
                <a:latin typeface="Trebuchet MS" panose="020B0603020202020204" pitchFamily="34" charset="0"/>
              </a:rPr>
              <a:t>​ are </a:t>
            </a:r>
            <a:r>
              <a:rPr lang="en-US" altLang="zh-CN" sz="2400" dirty="0">
                <a:latin typeface="Trebuchet MS" panose="020B0603020202020204" pitchFamily="34" charset="0"/>
              </a:rPr>
              <a:t>Symmetric</a:t>
            </a:r>
            <a:r>
              <a:rPr lang="pt-BR" altLang="zh-CN" sz="2400" dirty="0">
                <a:latin typeface="Trebuchet MS" panose="020B0603020202020204" pitchFamily="34" charset="0"/>
              </a:rPr>
              <a:t> or </a:t>
            </a:r>
            <a:r>
              <a:rPr lang="en-US" altLang="zh-CN" sz="2400" dirty="0">
                <a:latin typeface="Trebuchet MS" panose="020B0603020202020204" pitchFamily="34" charset="0"/>
              </a:rPr>
              <a:t>Antisymmetric</a:t>
            </a:r>
            <a:r>
              <a:rPr lang="pt-BR" altLang="zh-CN" sz="2400" dirty="0">
                <a:latin typeface="Trebuchet MS" panose="020B0603020202020204" pitchFamily="34" charset="0"/>
              </a:rPr>
              <a:t>.</a:t>
            </a:r>
            <a:r>
              <a:rPr lang="en-US" altLang="zh-CN" sz="2400" dirty="0">
                <a:latin typeface="Trebuchet MS" panose="020B0603020202020204" pitchFamily="34" charset="0"/>
              </a:rPr>
              <a:t> </a:t>
            </a:r>
            <a:endParaRPr kumimoji="0" lang="en-US" altLang="zh-CN" sz="2400" dirty="0"/>
          </a:p>
        </p:txBody>
      </p:sp>
      <p:pic>
        <p:nvPicPr>
          <p:cNvPr id="9" name="图片 8">
            <a:extLst>
              <a:ext uri="{FF2B5EF4-FFF2-40B4-BE49-F238E27FC236}">
                <a16:creationId xmlns:a16="http://schemas.microsoft.com/office/drawing/2014/main" id="{860D16AC-678D-4E45-A8EC-3AEEFC4DBC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757" y="954237"/>
            <a:ext cx="576355" cy="257697"/>
          </a:xfrm>
          <a:prstGeom prst="rect">
            <a:avLst/>
          </a:prstGeom>
        </p:spPr>
      </p:pic>
      <p:graphicFrame>
        <p:nvGraphicFramePr>
          <p:cNvPr id="3" name="表格 3">
            <a:extLst>
              <a:ext uri="{FF2B5EF4-FFF2-40B4-BE49-F238E27FC236}">
                <a16:creationId xmlns:a16="http://schemas.microsoft.com/office/drawing/2014/main" id="{C7430833-FADB-4286-938D-EF9B0C6B45EC}"/>
              </a:ext>
            </a:extLst>
          </p:cNvPr>
          <p:cNvGraphicFramePr>
            <a:graphicFrameLocks noGrp="1"/>
          </p:cNvGraphicFramePr>
          <p:nvPr>
            <p:extLst>
              <p:ext uri="{D42A27DB-BD31-4B8C-83A1-F6EECF244321}">
                <p14:modId xmlns:p14="http://schemas.microsoft.com/office/powerpoint/2010/main" val="500317572"/>
              </p:ext>
            </p:extLst>
          </p:nvPr>
        </p:nvGraphicFramePr>
        <p:xfrm>
          <a:off x="1185623" y="2903369"/>
          <a:ext cx="9261398" cy="3200400"/>
        </p:xfrm>
        <a:graphic>
          <a:graphicData uri="http://schemas.openxmlformats.org/drawingml/2006/table">
            <a:tbl>
              <a:tblPr firstRow="1" bandRow="1">
                <a:tableStyleId>{5940675A-B579-460E-94D1-54222C63F5DA}</a:tableStyleId>
              </a:tblPr>
              <a:tblGrid>
                <a:gridCol w="535471">
                  <a:extLst>
                    <a:ext uri="{9D8B030D-6E8A-4147-A177-3AD203B41FA5}">
                      <a16:colId xmlns:a16="http://schemas.microsoft.com/office/drawing/2014/main" val="1643111080"/>
                    </a:ext>
                  </a:extLst>
                </a:gridCol>
                <a:gridCol w="3049244">
                  <a:extLst>
                    <a:ext uri="{9D8B030D-6E8A-4147-A177-3AD203B41FA5}">
                      <a16:colId xmlns:a16="http://schemas.microsoft.com/office/drawing/2014/main" val="3128506556"/>
                    </a:ext>
                  </a:extLst>
                </a:gridCol>
                <a:gridCol w="3212983">
                  <a:extLst>
                    <a:ext uri="{9D8B030D-6E8A-4147-A177-3AD203B41FA5}">
                      <a16:colId xmlns:a16="http://schemas.microsoft.com/office/drawing/2014/main" val="838320348"/>
                    </a:ext>
                  </a:extLst>
                </a:gridCol>
                <a:gridCol w="2463700">
                  <a:extLst>
                    <a:ext uri="{9D8B030D-6E8A-4147-A177-3AD203B41FA5}">
                      <a16:colId xmlns:a16="http://schemas.microsoft.com/office/drawing/2014/main" val="2751716052"/>
                    </a:ext>
                  </a:extLst>
                </a:gridCol>
              </a:tblGrid>
              <a:tr h="1101723">
                <a:tc>
                  <a:txBody>
                    <a:bodyPr/>
                    <a:lstStyle/>
                    <a:p>
                      <a:endParaRPr lang="zh-CN" altLang="en-US" dirty="0"/>
                    </a:p>
                  </a:txBody>
                  <a:tcPr/>
                </a:tc>
                <a:tc>
                  <a:txBody>
                    <a:bodyPr/>
                    <a:lstStyle/>
                    <a:p>
                      <a:pPr algn="ctr"/>
                      <a:r>
                        <a:rPr lang="en-US" altLang="zh-CN" sz="2400" b="1" dirty="0">
                          <a:latin typeface="Trebuchet MS" panose="020B0603020202020204" pitchFamily="34" charset="0"/>
                        </a:rPr>
                        <a:t>Symmetric check:</a:t>
                      </a:r>
                    </a:p>
                    <a:p>
                      <a:r>
                        <a:rPr kumimoji="0" lang="zh-CN" altLang="en-US" sz="2400" b="1" dirty="0">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A</a:t>
                      </a:r>
                      <a:r>
                        <a:rPr kumimoji="0" lang="en-US" altLang="zh-CN" sz="2400" b="1" dirty="0">
                          <a:solidFill>
                            <a:srgbClr val="0B5BFF"/>
                          </a:solidFill>
                          <a:latin typeface="Trebuchet MS" panose="020B0603020202020204" pitchFamily="34" charset="0"/>
                        </a:rPr>
                        <a:t>∧&lt;</a:t>
                      </a:r>
                      <a:r>
                        <a:rPr kumimoji="0" lang="en-US" altLang="zh-CN" sz="2400" b="1" dirty="0" err="1">
                          <a:solidFill>
                            <a:srgbClr val="0B5BFF"/>
                          </a:solidFill>
                          <a:latin typeface="Trebuchet MS" panose="020B0603020202020204" pitchFamily="34" charset="0"/>
                        </a:rPr>
                        <a:t>x,y</a:t>
                      </a:r>
                      <a:r>
                        <a:rPr kumimoji="0" lang="en-US" altLang="zh-CN" sz="2400" b="1" dirty="0">
                          <a:solidFill>
                            <a:srgbClr val="0B5BFF"/>
                          </a:solidFill>
                          <a:latin typeface="Trebuchet MS" panose="020B0603020202020204" pitchFamily="34" charset="0"/>
                        </a:rPr>
                        <a:t>&gt;∈R→&lt;</a:t>
                      </a:r>
                      <a:r>
                        <a:rPr kumimoji="0" lang="en-US" altLang="zh-CN" sz="2400" b="1" dirty="0" err="1">
                          <a:solidFill>
                            <a:srgbClr val="0B5BFF"/>
                          </a:solidFill>
                          <a:latin typeface="Trebuchet MS" panose="020B0603020202020204" pitchFamily="34" charset="0"/>
                        </a:rPr>
                        <a:t>y,x</a:t>
                      </a:r>
                      <a:r>
                        <a:rPr kumimoji="0" lang="en-US" altLang="zh-CN" sz="2400" b="1" dirty="0">
                          <a:solidFill>
                            <a:srgbClr val="0B5BFF"/>
                          </a:solidFill>
                          <a:latin typeface="Trebuchet MS" panose="020B0603020202020204" pitchFamily="34" charset="0"/>
                        </a:rPr>
                        <a:t>&gt;∈R)</a:t>
                      </a:r>
                      <a:endParaRPr lang="zh-CN" altLang="en-US" sz="2400" dirty="0">
                        <a:solidFill>
                          <a:srgbClr val="0B5BFF"/>
                        </a:solidFill>
                        <a:latin typeface="Trebuchet MS" panose="020B0603020202020204" pitchFamily="34" charset="0"/>
                      </a:endParaRPr>
                    </a:p>
                  </a:txBody>
                  <a:tcPr/>
                </a:tc>
                <a:tc>
                  <a:txBody>
                    <a:bodyPr/>
                    <a:lstStyle/>
                    <a:p>
                      <a:pPr algn="ctr"/>
                      <a:r>
                        <a:rPr lang="en-US" altLang="zh-CN" sz="2400" b="1" dirty="0">
                          <a:latin typeface="Trebuchet MS" panose="020B0603020202020204" pitchFamily="34" charset="0"/>
                        </a:rPr>
                        <a:t>Antisymmetric check:</a:t>
                      </a:r>
                    </a:p>
                    <a:p>
                      <a:r>
                        <a:rPr kumimoji="0" lang="zh-CN" altLang="en-US" sz="2400" b="1" dirty="0">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A</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&gt;∈</a:t>
                      </a:r>
                      <a:r>
                        <a:rPr kumimoji="0" lang="en-US" altLang="zh-CN" sz="2400" b="1" i="1" dirty="0">
                          <a:solidFill>
                            <a:srgbClr val="0B5BFF"/>
                          </a:solidFill>
                          <a:latin typeface="Trebuchet MS" panose="020B0603020202020204" pitchFamily="34" charset="0"/>
                        </a:rPr>
                        <a:t>R</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a:solidFill>
                            <a:srgbClr val="0B5BFF"/>
                          </a:solidFill>
                          <a:latin typeface="Trebuchet MS" panose="020B0603020202020204" pitchFamily="34" charset="0"/>
                        </a:rPr>
                        <a:t>&gt;∈</a:t>
                      </a:r>
                      <a:r>
                        <a:rPr kumimoji="0" lang="en-US" altLang="zh-CN" sz="2400" b="1" i="1" dirty="0" err="1">
                          <a:solidFill>
                            <a:srgbClr val="0B5BFF"/>
                          </a:solidFill>
                          <a:latin typeface="Trebuchet MS" panose="020B0603020202020204" pitchFamily="34" charset="0"/>
                        </a:rPr>
                        <a:t>R</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a:solidFill>
                            <a:srgbClr val="0B5BFF"/>
                          </a:solidFill>
                          <a:latin typeface="Trebuchet MS" panose="020B0603020202020204" pitchFamily="34" charset="0"/>
                        </a:rPr>
                        <a:t>=</a:t>
                      </a:r>
                      <a:r>
                        <a:rPr kumimoji="0" lang="en-US" altLang="zh-CN" sz="2400" b="1" i="1" dirty="0">
                          <a:solidFill>
                            <a:srgbClr val="0B5BFF"/>
                          </a:solidFill>
                          <a:latin typeface="Trebuchet MS" panose="020B0603020202020204" pitchFamily="34" charset="0"/>
                        </a:rPr>
                        <a:t>y</a:t>
                      </a:r>
                      <a:endParaRPr lang="zh-CN" altLang="en-US" sz="2400" dirty="0">
                        <a:solidFill>
                          <a:srgbClr val="0B5BFF"/>
                        </a:solidFill>
                        <a:latin typeface="Trebuchet MS" panose="020B0603020202020204" pitchFamily="34" charset="0"/>
                      </a:endParaRPr>
                    </a:p>
                  </a:txBody>
                  <a:tcPr/>
                </a:tc>
                <a:tc>
                  <a:txBody>
                    <a:bodyPr/>
                    <a:lstStyle/>
                    <a:p>
                      <a:pPr algn="ctr"/>
                      <a:r>
                        <a:rPr lang="en-US" altLang="zh-CN" sz="2400" b="1" dirty="0">
                          <a:latin typeface="Trebuchet MS" panose="020B0603020202020204" pitchFamily="34" charset="0"/>
                        </a:rPr>
                        <a:t>Conclusion</a:t>
                      </a:r>
                      <a:endParaRPr lang="zh-CN" altLang="en-US" sz="2400" b="1" dirty="0">
                        <a:latin typeface="Trebuchet MS" panose="020B0603020202020204" pitchFamily="34" charset="0"/>
                      </a:endParaRPr>
                    </a:p>
                  </a:txBody>
                  <a:tcPr/>
                </a:tc>
                <a:extLst>
                  <a:ext uri="{0D108BD9-81ED-4DB2-BD59-A6C34878D82A}">
                    <a16:rowId xmlns:a16="http://schemas.microsoft.com/office/drawing/2014/main" val="4258177008"/>
                  </a:ext>
                </a:extLst>
              </a:tr>
              <a:tr h="932227">
                <a:tc>
                  <a:txBody>
                    <a:bodyPr/>
                    <a:lstStyle/>
                    <a:p>
                      <a:r>
                        <a:rPr kumimoji="0" lang="en-US" altLang="zh-CN" sz="2400" b="1" i="1" dirty="0">
                          <a:latin typeface="Trebuchet MS" panose="020B0603020202020204" pitchFamily="34" charset="0"/>
                        </a:rPr>
                        <a:t>R</a:t>
                      </a:r>
                      <a:r>
                        <a:rPr kumimoji="0" lang="en-US" altLang="zh-CN" sz="2400" b="1" i="1" baseline="-25000" dirty="0">
                          <a:latin typeface="Trebuchet MS" panose="020B0603020202020204" pitchFamily="34" charset="0"/>
                        </a:rPr>
                        <a:t>3</a:t>
                      </a:r>
                      <a:endParaRPr lang="zh-CN" altLang="en-US" sz="2400" dirty="0">
                        <a:latin typeface="Trebuchet MS" panose="020B0603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Trebuchet MS" panose="020B0603020202020204" pitchFamily="34" charset="0"/>
                        </a:rPr>
                        <a:t>(</a:t>
                      </a:r>
                      <a:r>
                        <a:rPr lang="en-US" altLang="zh-CN" sz="2000" dirty="0" err="1">
                          <a:latin typeface="Trebuchet MS" panose="020B0603020202020204" pitchFamily="34" charset="0"/>
                        </a:rPr>
                        <a:t>a,b</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3</a:t>
                      </a:r>
                      <a:r>
                        <a:rPr lang="en-US" altLang="zh-CN" sz="2000" dirty="0">
                          <a:latin typeface="Trebuchet MS" panose="020B0603020202020204" pitchFamily="34" charset="0"/>
                        </a:rPr>
                        <a:t> but (</a:t>
                      </a:r>
                      <a:r>
                        <a:rPr lang="en-US" altLang="zh-CN" sz="2000" dirty="0" err="1">
                          <a:latin typeface="Trebuchet MS" panose="020B0603020202020204" pitchFamily="34" charset="0"/>
                        </a:rPr>
                        <a:t>b,a</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3</a:t>
                      </a:r>
                      <a:r>
                        <a:rPr lang="en-US" altLang="zh-CN" sz="2000" dirty="0">
                          <a:latin typeface="Trebuchet MS" panose="020B0603020202020204" pitchFamily="34" charset="0"/>
                        </a:rPr>
                        <a:t>, and (</a:t>
                      </a:r>
                      <a:r>
                        <a:rPr lang="en-US" altLang="zh-CN" sz="2000" dirty="0" err="1">
                          <a:latin typeface="Trebuchet MS" panose="020B0603020202020204" pitchFamily="34" charset="0"/>
                        </a:rPr>
                        <a:t>a,c</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3</a:t>
                      </a:r>
                      <a:r>
                        <a:rPr lang="en-US" altLang="zh-CN" sz="2000" dirty="0">
                          <a:latin typeface="Trebuchet MS" panose="020B0603020202020204" pitchFamily="34" charset="0"/>
                        </a:rPr>
                        <a:t>​ but (</a:t>
                      </a:r>
                      <a:r>
                        <a:rPr lang="en-US" altLang="zh-CN" sz="2000" dirty="0" err="1">
                          <a:latin typeface="Trebuchet MS" panose="020B0603020202020204" pitchFamily="34" charset="0"/>
                        </a:rPr>
                        <a:t>c,a</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3</a:t>
                      </a:r>
                      <a:endParaRPr lang="es-ES" altLang="zh-CN" sz="2000" dirty="0">
                        <a:latin typeface="Trebuchet MS" panose="020B0603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Trebuchet MS" panose="020B0603020202020204" pitchFamily="34" charset="0"/>
                        </a:rPr>
                        <a:t>no pairs (</a:t>
                      </a:r>
                      <a:r>
                        <a:rPr lang="en-US" altLang="zh-CN" sz="2000" dirty="0" err="1">
                          <a:latin typeface="Trebuchet MS" panose="020B0603020202020204" pitchFamily="34" charset="0"/>
                        </a:rPr>
                        <a:t>x,y</a:t>
                      </a:r>
                      <a:r>
                        <a:rPr lang="en-US" altLang="zh-CN" sz="2000" dirty="0">
                          <a:latin typeface="Trebuchet MS" panose="020B0603020202020204" pitchFamily="34" charset="0"/>
                        </a:rPr>
                        <a:t>) and (</a:t>
                      </a:r>
                      <a:r>
                        <a:rPr lang="en-US" altLang="zh-CN" sz="2000" dirty="0" err="1">
                          <a:latin typeface="Trebuchet MS" panose="020B0603020202020204" pitchFamily="34" charset="0"/>
                        </a:rPr>
                        <a:t>y,x</a:t>
                      </a:r>
                      <a:r>
                        <a:rPr lang="en-US" altLang="zh-CN" sz="2000" dirty="0">
                          <a:latin typeface="Trebuchet MS" panose="020B0603020202020204" pitchFamily="34" charset="0"/>
                        </a:rPr>
                        <a:t>) in </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3</a:t>
                      </a:r>
                      <a:r>
                        <a:rPr lang="en-US" altLang="zh-CN" sz="2000" dirty="0">
                          <a:latin typeface="Trebuchet MS" panose="020B0603020202020204" pitchFamily="34" charset="0"/>
                        </a:rPr>
                        <a:t>​ for </a:t>
                      </a:r>
                      <a:r>
                        <a:rPr lang="en-US" altLang="zh-CN" sz="2000" dirty="0" err="1">
                          <a:latin typeface="Trebuchet MS" panose="020B0603020202020204" pitchFamily="34" charset="0"/>
                        </a:rPr>
                        <a:t>x≠y</a:t>
                      </a:r>
                      <a:r>
                        <a:rPr lang="en-US" altLang="zh-CN" sz="2000" dirty="0">
                          <a:latin typeface="Trebuchet MS" panose="020B0603020202020204" pitchFamily="34" charset="0"/>
                        </a:rPr>
                        <a:t>, making the condition trivially true.</a:t>
                      </a:r>
                      <a:endParaRPr lang="es-ES" altLang="zh-CN" sz="2000" dirty="0">
                        <a:latin typeface="Trebuchet MS" panose="020B0603020202020204" pitchFamily="34" charset="0"/>
                      </a:endParaRPr>
                    </a:p>
                  </a:txBody>
                  <a:tcPr/>
                </a:tc>
                <a:tc>
                  <a:txBody>
                    <a:bodyPr/>
                    <a:lstStyle/>
                    <a:p>
                      <a:r>
                        <a:rPr lang="en-US" altLang="zh-CN" sz="2000" b="1" dirty="0">
                          <a:latin typeface="Trebuchet MS" panose="020B0603020202020204" pitchFamily="34" charset="0"/>
                        </a:rPr>
                        <a:t>Symmetric:</a:t>
                      </a:r>
                      <a:r>
                        <a:rPr lang="zh-CN" altLang="en-US" sz="2000" dirty="0">
                          <a:latin typeface="Trebuchet MS" panose="020B0603020202020204" pitchFamily="34" charset="0"/>
                        </a:rPr>
                        <a:t>❌ </a:t>
                      </a:r>
                      <a:r>
                        <a:rPr lang="en-US" altLang="zh-CN" sz="2000" dirty="0">
                          <a:latin typeface="Trebuchet MS" panose="020B0603020202020204" pitchFamily="34" charset="0"/>
                        </a:rPr>
                        <a:t>No</a:t>
                      </a:r>
                      <a:endParaRPr lang="en-US" altLang="zh-CN" sz="2000" b="1" dirty="0">
                        <a:latin typeface="Trebuchet MS" panose="020B0603020202020204" pitchFamily="34" charset="0"/>
                      </a:endParaRPr>
                    </a:p>
                    <a:p>
                      <a:r>
                        <a:rPr lang="en-US" altLang="zh-CN" sz="2000" dirty="0">
                          <a:latin typeface="Trebuchet MS" panose="020B0603020202020204" pitchFamily="34" charset="0"/>
                        </a:rPr>
                        <a:t>Antisymmetric</a:t>
                      </a:r>
                      <a:r>
                        <a:rPr lang="en-US" altLang="zh-CN" sz="2000" b="1" dirty="0">
                          <a:latin typeface="Trebuchet MS" panose="020B0603020202020204" pitchFamily="34" charset="0"/>
                        </a:rPr>
                        <a:t>:</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endParaRPr lang="zh-CN" altLang="en-US" sz="2000" dirty="0">
                        <a:latin typeface="Trebuchet MS" panose="020B0603020202020204" pitchFamily="34" charset="0"/>
                      </a:endParaRPr>
                    </a:p>
                  </a:txBody>
                  <a:tcPr/>
                </a:tc>
                <a:extLst>
                  <a:ext uri="{0D108BD9-81ED-4DB2-BD59-A6C34878D82A}">
                    <a16:rowId xmlns:a16="http://schemas.microsoft.com/office/drawing/2014/main" val="2986210801"/>
                  </a:ext>
                </a:extLst>
              </a:tr>
              <a:tr h="930081">
                <a:tc>
                  <a:txBody>
                    <a:bodyPr/>
                    <a:lstStyle/>
                    <a:p>
                      <a:r>
                        <a:rPr kumimoji="0" lang="en-US" altLang="zh-CN" sz="2400" b="1" i="1" dirty="0">
                          <a:latin typeface="Trebuchet MS" panose="020B0603020202020204" pitchFamily="34" charset="0"/>
                        </a:rPr>
                        <a:t>R</a:t>
                      </a:r>
                      <a:r>
                        <a:rPr kumimoji="0" lang="en-US" altLang="zh-CN" sz="2400" b="1" i="1" baseline="-25000" dirty="0">
                          <a:latin typeface="Trebuchet MS" panose="020B0603020202020204" pitchFamily="34" charset="0"/>
                        </a:rPr>
                        <a:t>4</a:t>
                      </a:r>
                    </a:p>
                  </a:txBody>
                  <a:tcPr/>
                </a:tc>
                <a:tc>
                  <a:txBody>
                    <a:bodyPr/>
                    <a:lstStyle/>
                    <a:p>
                      <a:r>
                        <a:rPr lang="en-US" altLang="zh-CN" sz="2000" dirty="0">
                          <a:latin typeface="Trebuchet MS" panose="020B0603020202020204" pitchFamily="34" charset="0"/>
                        </a:rPr>
                        <a:t>(</a:t>
                      </a:r>
                      <a:r>
                        <a:rPr lang="en-US" altLang="zh-CN" sz="2000" dirty="0" err="1">
                          <a:latin typeface="Trebuchet MS" panose="020B0603020202020204" pitchFamily="34" charset="0"/>
                        </a:rPr>
                        <a:t>a,c</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4</a:t>
                      </a:r>
                      <a:r>
                        <a:rPr lang="en-US" altLang="zh-CN" sz="2000" dirty="0">
                          <a:latin typeface="Trebuchet MS" panose="020B0603020202020204" pitchFamily="34" charset="0"/>
                        </a:rPr>
                        <a:t> but (</a:t>
                      </a:r>
                      <a:r>
                        <a:rPr lang="en-US" altLang="zh-CN" sz="2000" dirty="0" err="1">
                          <a:latin typeface="Trebuchet MS" panose="020B0603020202020204" pitchFamily="34" charset="0"/>
                        </a:rPr>
                        <a:t>c,a</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4</a:t>
                      </a:r>
                      <a:endParaRPr lang="zh-CN" altLang="en-US" sz="2000" dirty="0">
                        <a:latin typeface="Trebuchet MS" panose="020B0603020202020204" pitchFamily="34" charset="0"/>
                      </a:endParaRPr>
                    </a:p>
                  </a:txBody>
                  <a:tcPr/>
                </a:tc>
                <a:tc>
                  <a:txBody>
                    <a:bodyPr/>
                    <a:lstStyle/>
                    <a:p>
                      <a:r>
                        <a:rPr lang="en-US" altLang="zh-CN" sz="2000" dirty="0">
                          <a:latin typeface="Trebuchet MS" panose="020B0603020202020204" pitchFamily="34" charset="0"/>
                        </a:rPr>
                        <a:t>(</a:t>
                      </a:r>
                      <a:r>
                        <a:rPr lang="en-US" altLang="zh-CN" sz="2000" dirty="0" err="1">
                          <a:latin typeface="Trebuchet MS" panose="020B0603020202020204" pitchFamily="34" charset="0"/>
                        </a:rPr>
                        <a:t>a,b</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4</a:t>
                      </a:r>
                      <a:r>
                        <a:rPr lang="en-US" altLang="zh-CN" sz="2000" dirty="0">
                          <a:latin typeface="Trebuchet MS" panose="020B0603020202020204" pitchFamily="34" charset="0"/>
                        </a:rPr>
                        <a:t> ​ and (</a:t>
                      </a:r>
                      <a:r>
                        <a:rPr lang="en-US" altLang="zh-CN" sz="2000" dirty="0" err="1">
                          <a:latin typeface="Trebuchet MS" panose="020B0603020202020204" pitchFamily="34" charset="0"/>
                        </a:rPr>
                        <a:t>b,a</a:t>
                      </a:r>
                      <a:r>
                        <a:rPr lang="en-US" altLang="zh-CN" sz="2000" dirty="0">
                          <a:latin typeface="Trebuchet MS" panose="020B0603020202020204" pitchFamily="34" charset="0"/>
                        </a:rPr>
                        <a:t>)∈</a:t>
                      </a:r>
                      <a:r>
                        <a:rPr lang="en-US" altLang="zh-CN" sz="2000" b="1" i="1" dirty="0">
                          <a:latin typeface="Trebuchet MS" panose="020B0603020202020204" pitchFamily="34" charset="0"/>
                        </a:rPr>
                        <a:t>R</a:t>
                      </a:r>
                      <a:r>
                        <a:rPr lang="en-US" altLang="zh-CN" sz="2000" b="1" i="0" baseline="-25000" dirty="0">
                          <a:latin typeface="Trebuchet MS" panose="020B0603020202020204" pitchFamily="34" charset="0"/>
                        </a:rPr>
                        <a:t>4</a:t>
                      </a:r>
                      <a:r>
                        <a:rPr lang="en-US" altLang="zh-CN" sz="2000" dirty="0">
                          <a:latin typeface="Trebuchet MS" panose="020B0603020202020204" pitchFamily="34" charset="0"/>
                        </a:rPr>
                        <a:t>​, but </a:t>
                      </a:r>
                      <a:r>
                        <a:rPr lang="en-US" altLang="zh-CN" sz="2000" dirty="0" err="1">
                          <a:latin typeface="Trebuchet MS" panose="020B0603020202020204" pitchFamily="34" charset="0"/>
                        </a:rPr>
                        <a:t>a≠b</a:t>
                      </a:r>
                      <a:r>
                        <a:rPr lang="en-US" altLang="zh-CN" sz="2000" dirty="0">
                          <a:latin typeface="Trebuchet MS" panose="020B0603020202020204" pitchFamily="34" charset="0"/>
                        </a:rPr>
                        <a:t> </a:t>
                      </a:r>
                      <a:endParaRPr lang="zh-CN" altLang="en-US" sz="2000" dirty="0">
                        <a:latin typeface="Trebuchet MS" panose="020B0603020202020204" pitchFamily="34" charset="0"/>
                      </a:endParaRPr>
                    </a:p>
                  </a:txBody>
                  <a:tcPr/>
                </a:tc>
                <a:tc>
                  <a:txBody>
                    <a:bodyPr/>
                    <a:lstStyle/>
                    <a:p>
                      <a:r>
                        <a:rPr lang="en-US" altLang="zh-CN" sz="2000" b="1" dirty="0">
                          <a:latin typeface="Trebuchet MS" panose="020B0603020202020204" pitchFamily="34" charset="0"/>
                        </a:rPr>
                        <a:t>Symmetric:</a:t>
                      </a:r>
                      <a:r>
                        <a:rPr lang="zh-CN" altLang="en-US" sz="2000" dirty="0">
                          <a:latin typeface="Trebuchet MS" panose="020B0603020202020204" pitchFamily="34" charset="0"/>
                        </a:rPr>
                        <a:t>❌ </a:t>
                      </a:r>
                      <a:r>
                        <a:rPr lang="en-US" altLang="zh-CN" sz="2000" dirty="0">
                          <a:latin typeface="Trebuchet MS" panose="020B0603020202020204" pitchFamily="34" charset="0"/>
                        </a:rPr>
                        <a:t>No</a:t>
                      </a:r>
                      <a:endParaRPr lang="en-US" altLang="zh-CN" sz="2000" b="1" dirty="0">
                        <a:latin typeface="Trebuchet MS" panose="020B0603020202020204" pitchFamily="34" charset="0"/>
                      </a:endParaRPr>
                    </a:p>
                    <a:p>
                      <a:r>
                        <a:rPr lang="en-US" altLang="zh-CN" sz="2000" dirty="0">
                          <a:latin typeface="Trebuchet MS" panose="020B0603020202020204" pitchFamily="34" charset="0"/>
                        </a:rPr>
                        <a:t>Antisymmetric</a:t>
                      </a:r>
                      <a:r>
                        <a:rPr lang="en-US" altLang="zh-CN" sz="2000" b="1" dirty="0">
                          <a:latin typeface="Trebuchet MS" panose="020B0603020202020204" pitchFamily="34" charset="0"/>
                        </a:rPr>
                        <a:t>:</a:t>
                      </a:r>
                      <a:r>
                        <a:rPr lang="zh-CN" altLang="en-US" sz="2000" dirty="0">
                          <a:latin typeface="Trebuchet MS" panose="020B0603020202020204" pitchFamily="34" charset="0"/>
                        </a:rPr>
                        <a:t>❌ </a:t>
                      </a:r>
                      <a:r>
                        <a:rPr lang="en-US" altLang="zh-CN" sz="2000" dirty="0">
                          <a:latin typeface="Trebuchet MS" panose="020B0603020202020204" pitchFamily="34" charset="0"/>
                        </a:rPr>
                        <a:t>No</a:t>
                      </a:r>
                      <a:endParaRPr lang="zh-CN" altLang="en-US" sz="2000" dirty="0">
                        <a:latin typeface="Trebuchet MS" panose="020B0603020202020204" pitchFamily="34" charset="0"/>
                      </a:endParaRPr>
                    </a:p>
                  </a:txBody>
                  <a:tcPr/>
                </a:tc>
                <a:extLst>
                  <a:ext uri="{0D108BD9-81ED-4DB2-BD59-A6C34878D82A}">
                    <a16:rowId xmlns:a16="http://schemas.microsoft.com/office/drawing/2014/main" val="299291432"/>
                  </a:ext>
                </a:extLst>
              </a:tr>
            </a:tbl>
          </a:graphicData>
        </a:graphic>
      </p:graphicFrame>
    </p:spTree>
    <p:extLst>
      <p:ext uri="{BB962C8B-B14F-4D97-AF65-F5344CB8AC3E}">
        <p14:creationId xmlns:p14="http://schemas.microsoft.com/office/powerpoint/2010/main" val="156248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T</a:t>
            </a:r>
            <a:r>
              <a:rPr lang="en-US" altLang="zh-CN" sz="2400" b="1" dirty="0">
                <a:latin typeface="Trebuchet MS" panose="020B0603020202020204" pitchFamily="34" charset="0"/>
              </a:rPr>
              <a:t>ransitive relation </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Rectangle 4">
            <a:extLst>
              <a:ext uri="{FF2B5EF4-FFF2-40B4-BE49-F238E27FC236}">
                <a16:creationId xmlns:a16="http://schemas.microsoft.com/office/drawing/2014/main" id="{9C44799E-88E2-48C9-8D78-2FF93AEECA80}"/>
              </a:ext>
            </a:extLst>
          </p:cNvPr>
          <p:cNvSpPr>
            <a:spLocks noChangeArrowheads="1"/>
          </p:cNvSpPr>
          <p:nvPr/>
        </p:nvSpPr>
        <p:spPr bwMode="auto">
          <a:xfrm>
            <a:off x="1147536" y="1125356"/>
            <a:ext cx="9722394" cy="4156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Definition 4.16:</a:t>
            </a:r>
            <a:r>
              <a:rPr lang="en-US" altLang="zh-CN" sz="2400" b="1" i="1" dirty="0">
                <a:latin typeface="Trebuchet MS" panose="020B0603020202020204" pitchFamily="34" charset="0"/>
              </a:rPr>
              <a:t> </a:t>
            </a:r>
            <a:r>
              <a:rPr lang="en-US" altLang="zh-CN" sz="2400" dirty="0">
                <a:latin typeface="Trebuchet MS" panose="020B0603020202020204" pitchFamily="34" charset="0"/>
              </a:rPr>
              <a:t>transitive relation on</a:t>
            </a:r>
            <a:r>
              <a:rPr kumimoji="0" lang="zh-CN" altLang="en-US" sz="2400"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dirty="0">
                <a:latin typeface="Trebuchet MS" panose="020B0603020202020204" pitchFamily="34" charset="0"/>
              </a:rPr>
              <a:t>.</a:t>
            </a:r>
            <a:endParaRPr lang="en-US" sz="2400" dirty="0">
              <a:latin typeface="Trebuchet MS" panose="020B0603020202020204" pitchFamily="34" charset="0"/>
            </a:endParaRPr>
          </a:p>
          <a:p>
            <a:pPr>
              <a:lnSpc>
                <a:spcPct val="120000"/>
              </a:lnSpc>
              <a:spcBef>
                <a:spcPts val="300"/>
              </a:spcBef>
              <a:buClr>
                <a:srgbClr val="0B5BFF"/>
              </a:buClr>
              <a:buSzPct val="80000"/>
              <a:buNone/>
            </a:pPr>
            <a:r>
              <a:rPr lang="en-US" sz="2400" dirty="0">
                <a:latin typeface="Trebuchet MS" panose="020B0603020202020204" pitchFamily="34" charset="0"/>
              </a:rPr>
              <a:t>     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a:t>
            </a:r>
            <a:r>
              <a:rPr lang="en-US" sz="2400" dirty="0">
                <a:latin typeface="Trebuchet MS" panose="020B0603020202020204" pitchFamily="34" charset="0"/>
              </a:rPr>
              <a:t>. If</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z</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z</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y</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then </a:t>
            </a:r>
            <a:r>
              <a:rPr kumimoji="0" lang="en-US" altLang="zh-CN" sz="2400" b="1" i="1" dirty="0">
                <a:latin typeface="Trebuchet MS" panose="020B0603020202020204" pitchFamily="34" charset="0"/>
              </a:rPr>
              <a:t>R</a:t>
            </a:r>
            <a:r>
              <a:rPr kumimoji="0" lang="zh-CN" altLang="en-US" sz="2400" b="1" i="1" dirty="0">
                <a:latin typeface="Trebuchet MS" panose="020B0603020202020204" pitchFamily="34" charset="0"/>
              </a:rPr>
              <a:t> </a:t>
            </a:r>
            <a:r>
              <a:rPr kumimoji="0" lang="en-US" altLang="zh-CN" sz="2400" b="1" i="1" dirty="0">
                <a:latin typeface="Trebuchet MS" panose="020B0603020202020204" pitchFamily="34" charset="0"/>
              </a:rPr>
              <a:t>is</a:t>
            </a:r>
            <a:r>
              <a:rPr lang="en-US" sz="2400" dirty="0">
                <a:latin typeface="Trebuchet MS" panose="020B0603020202020204" pitchFamily="34" charset="0"/>
              </a:rPr>
              <a:t> called a </a:t>
            </a:r>
            <a:r>
              <a:rPr lang="en-US" sz="2400" b="1" i="1" dirty="0">
                <a:latin typeface="Trebuchet MS" panose="020B0603020202020204" pitchFamily="34" charset="0"/>
              </a:rPr>
              <a:t>transitive relation </a:t>
            </a:r>
            <a:r>
              <a:rPr lang="en-US" sz="2400" dirty="0">
                <a:latin typeface="Trebuchet MS" panose="020B0603020202020204" pitchFamily="34" charset="0"/>
              </a:rPr>
              <a:t>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p>
          <a:p>
            <a:pPr>
              <a:lnSpc>
                <a:spcPct val="120000"/>
              </a:lnSpc>
              <a:spcBef>
                <a:spcPts val="300"/>
              </a:spcBef>
              <a:buClr>
                <a:srgbClr val="0B5BFF"/>
              </a:buClr>
              <a:buSzPct val="80000"/>
              <a:buNone/>
            </a:pPr>
            <a:endParaRPr kumimoji="0" lang="en-US" altLang="zh-CN" sz="2400" b="1" dirty="0">
              <a:latin typeface="Trebuchet MS" panose="020B0603020202020204" pitchFamily="34" charset="0"/>
            </a:endParaRPr>
          </a:p>
          <a:p>
            <a:pPr marL="342900" indent="-342900">
              <a:lnSpc>
                <a:spcPct val="120000"/>
              </a:lnSpc>
              <a:spcBef>
                <a:spcPts val="300"/>
              </a:spcBef>
              <a:buClr>
                <a:srgbClr val="0B5BFF"/>
              </a:buClr>
              <a:buSzPct val="80000"/>
              <a:buFont typeface="Wingdings" panose="05000000000000000000" pitchFamily="2" charset="2"/>
              <a:buChar char="n"/>
            </a:pPr>
            <a:r>
              <a:rPr lang="en-US" altLang="zh-CN" sz="2400" b="1" dirty="0"/>
              <a:t>Such as</a:t>
            </a:r>
            <a:r>
              <a:rPr lang="en-US" altLang="zh-CN" sz="2400" b="1" dirty="0">
                <a:latin typeface="Trebuchet MS" panose="020B0603020202020204" pitchFamily="34" charset="0"/>
              </a:rPr>
              <a:t>: </a:t>
            </a:r>
            <a:r>
              <a:rPr lang="en-US" sz="2400" dirty="0">
                <a:latin typeface="Trebuchet MS" panose="020B0603020202020204" pitchFamily="34" charset="0"/>
              </a:rPr>
              <a:t>The universal relation </a:t>
            </a:r>
            <a:r>
              <a:rPr kumimoji="0" lang="en-US" altLang="zh-CN" sz="2400" b="1" i="1" dirty="0">
                <a:latin typeface="Trebuchet MS" panose="020B0603020202020204" pitchFamily="34" charset="0"/>
              </a:rPr>
              <a:t>E</a:t>
            </a:r>
            <a:r>
              <a:rPr kumimoji="0" lang="en-US" altLang="zh-CN" sz="2400" b="1" i="1" baseline="-25000" dirty="0">
                <a:latin typeface="Trebuchet MS" panose="020B0603020202020204" pitchFamily="34" charset="0"/>
              </a:rPr>
              <a:t>A</a:t>
            </a:r>
            <a:r>
              <a:rPr lang="en-US" sz="2400" dirty="0">
                <a:latin typeface="Trebuchet MS" panose="020B0603020202020204" pitchFamily="34" charset="0"/>
              </a:rPr>
              <a:t>​ on </a:t>
            </a:r>
            <a:r>
              <a:rPr kumimoji="0" lang="en-US" altLang="zh-CN" sz="2400" b="1" i="1" dirty="0">
                <a:latin typeface="Trebuchet MS" panose="020B0603020202020204" pitchFamily="34" charset="0"/>
              </a:rPr>
              <a:t>A</a:t>
            </a:r>
            <a:r>
              <a:rPr lang="en-US" sz="2400" dirty="0">
                <a:latin typeface="Trebuchet MS" panose="020B0603020202020204" pitchFamily="34" charset="0"/>
              </a:rPr>
              <a:t>, the identity relation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lang="en-US" sz="2400" dirty="0">
                <a:latin typeface="Trebuchet MS" panose="020B0603020202020204" pitchFamily="34" charset="0"/>
              </a:rPr>
              <a:t>​, the empty relation </a:t>
            </a:r>
            <a:r>
              <a:rPr lang="en-US" sz="2400" b="1" dirty="0">
                <a:latin typeface="Trebuchet MS" panose="020B0603020202020204" pitchFamily="34" charset="0"/>
              </a:rPr>
              <a:t>∅</a:t>
            </a:r>
            <a:r>
              <a:rPr lang="en-US" sz="2400" dirty="0">
                <a:latin typeface="Trebuchet MS" panose="020B0603020202020204" pitchFamily="34" charset="0"/>
              </a:rPr>
              <a:t>, the less-than-or-equal relation, the less-than relation, the divisibility relation, the inclusion relation, and the strict inclusion relation.</a:t>
            </a:r>
            <a:endParaRPr kumimoji="0" lang="zh-CN" altLang="en-US" sz="2400" b="1" dirty="0">
              <a:latin typeface="Trebuchet MS" panose="020B0603020202020204" pitchFamily="34" charset="0"/>
            </a:endParaRPr>
          </a:p>
        </p:txBody>
      </p:sp>
    </p:spTree>
    <p:extLst>
      <p:ext uri="{BB962C8B-B14F-4D97-AF65-F5344CB8AC3E}">
        <p14:creationId xmlns:p14="http://schemas.microsoft.com/office/powerpoint/2010/main" val="1890659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1000"/>
                                        <p:tgtEl>
                                          <p:spTgt spid="15">
                                            <p:txEl>
                                              <p:pRg st="3" end="3"/>
                                            </p:txEl>
                                          </p:spTgt>
                                        </p:tgtEl>
                                      </p:cBhvr>
                                    </p:animEffect>
                                    <p:anim calcmode="lin" valueType="num">
                                      <p:cBhvr>
                                        <p:cTn id="8"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T</a:t>
            </a:r>
            <a:r>
              <a:rPr lang="en-US" altLang="zh-CN" sz="2400" b="1" dirty="0">
                <a:latin typeface="Trebuchet MS" panose="020B0603020202020204" pitchFamily="34" charset="0"/>
              </a:rPr>
              <a:t>ransitive relation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4" name="Text Box 3">
            <a:extLst>
              <a:ext uri="{FF2B5EF4-FFF2-40B4-BE49-F238E27FC236}">
                <a16:creationId xmlns:a16="http://schemas.microsoft.com/office/drawing/2014/main" id="{CB0982BF-D80C-4E64-95AA-9A6271EE0C66}"/>
              </a:ext>
            </a:extLst>
          </p:cNvPr>
          <p:cNvSpPr txBox="1">
            <a:spLocks noChangeArrowheads="1"/>
          </p:cNvSpPr>
          <p:nvPr/>
        </p:nvSpPr>
        <p:spPr bwMode="auto">
          <a:xfrm>
            <a:off x="851406" y="824818"/>
            <a:ext cx="9416017" cy="16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Tx/>
              <a:buNone/>
            </a:pPr>
            <a:r>
              <a:rPr kumimoji="0" lang="en-US" altLang="zh-CN" sz="2400" b="1" dirty="0">
                <a:latin typeface="Trebuchet MS" panose="020B0603020202020204" pitchFamily="34" charset="0"/>
              </a:rPr>
              <a:t>    Example:  Let </a:t>
            </a:r>
            <a:r>
              <a:rPr kumimoji="0" lang="en-US" altLang="zh-CN" sz="2400" b="1" i="1" dirty="0">
                <a:latin typeface="Trebuchet MS" panose="020B0603020202020204" pitchFamily="34" charset="0"/>
              </a:rPr>
              <a:t>A</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 b, c</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relation on A, </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where</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a,a</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b,b</a:t>
            </a:r>
            <a:r>
              <a:rPr kumimoji="0" lang="en-US" altLang="zh-CN" sz="2400" b="1" dirty="0">
                <a:latin typeface="Trebuchet MS" panose="020B0603020202020204" pitchFamily="34" charset="0"/>
              </a:rPr>
              <a:t>&gt;};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a,b</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b,c</a:t>
            </a:r>
            <a:r>
              <a:rPr kumimoji="0" lang="en-US" altLang="zh-CN" sz="2400" b="1" dirty="0">
                <a:latin typeface="Trebuchet MS" panose="020B0603020202020204" pitchFamily="34" charset="0"/>
              </a:rPr>
              <a:t>&gt;};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a,c</a:t>
            </a:r>
            <a:r>
              <a:rPr kumimoji="0" lang="en-US" altLang="zh-CN" sz="2400" b="1" dirty="0">
                <a:latin typeface="Trebuchet MS" panose="020B0603020202020204" pitchFamily="34" charset="0"/>
              </a:rPr>
              <a:t>&gt;}</a:t>
            </a:r>
          </a:p>
          <a:p>
            <a:pPr marL="354013">
              <a:lnSpc>
                <a:spcPct val="110000"/>
              </a:lnSpc>
              <a:spcBef>
                <a:spcPct val="0"/>
              </a:spcBef>
              <a:buNone/>
            </a:pPr>
            <a:r>
              <a:rPr lang="pt-BR" altLang="zh-CN" sz="2400" dirty="0">
                <a:latin typeface="Trebuchet MS" panose="020B0603020202020204" pitchFamily="34" charset="0"/>
              </a:rPr>
              <a:t>To determine whether the relations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 </a:t>
            </a:r>
            <a:r>
              <a:rPr lang="pt-BR" altLang="zh-CN" sz="2400" dirty="0">
                <a:latin typeface="Trebuchet MS" panose="020B0603020202020204" pitchFamily="34" charset="0"/>
              </a:rPr>
              <a:t>​ are </a:t>
            </a:r>
            <a:r>
              <a:rPr lang="en-US" altLang="zh-CN" sz="2400" dirty="0">
                <a:latin typeface="Trebuchet MS" panose="020B0603020202020204" pitchFamily="34" charset="0"/>
                <a:ea typeface="Cambria Math" panose="02040503050406030204" pitchFamily="18" charset="0"/>
                <a:cs typeface="Times New Roman" panose="02020603050405020304" pitchFamily="18" charset="0"/>
              </a:rPr>
              <a:t>T</a:t>
            </a:r>
            <a:r>
              <a:rPr lang="en-US" altLang="zh-CN" sz="2400" dirty="0">
                <a:latin typeface="Trebuchet MS" panose="020B0603020202020204" pitchFamily="34" charset="0"/>
              </a:rPr>
              <a:t>ransitive    relation </a:t>
            </a:r>
            <a:r>
              <a:rPr kumimoji="0" lang="en-US" altLang="zh-CN" sz="2400" dirty="0">
                <a:latin typeface="Trebuchet MS" panose="020B0603020202020204" pitchFamily="34" charset="0"/>
              </a:rPr>
              <a:t>on </a:t>
            </a:r>
            <a:r>
              <a:rPr kumimoji="0" lang="en-US" altLang="zh-CN" sz="2400" i="1" dirty="0">
                <a:latin typeface="Trebuchet MS" panose="020B0603020202020204" pitchFamily="34" charset="0"/>
              </a:rPr>
              <a:t>A</a:t>
            </a:r>
            <a:r>
              <a:rPr lang="pt-BR" altLang="zh-CN" sz="2400" dirty="0">
                <a:latin typeface="Trebuchet MS" panose="020B0603020202020204" pitchFamily="34" charset="0"/>
              </a:rPr>
              <a:t>.</a:t>
            </a:r>
            <a:r>
              <a:rPr lang="en-US" altLang="zh-CN" sz="2400" dirty="0">
                <a:latin typeface="Trebuchet MS" panose="020B0603020202020204" pitchFamily="34" charset="0"/>
              </a:rPr>
              <a:t> </a:t>
            </a:r>
            <a:endParaRPr kumimoji="0" lang="en-US" altLang="zh-CN" sz="1800" dirty="0">
              <a:latin typeface="Trebuchet MS" panose="020B0603020202020204" pitchFamily="34" charset="0"/>
            </a:endParaRPr>
          </a:p>
        </p:txBody>
      </p:sp>
      <p:pic>
        <p:nvPicPr>
          <p:cNvPr id="11" name="图片 10">
            <a:extLst>
              <a:ext uri="{FF2B5EF4-FFF2-40B4-BE49-F238E27FC236}">
                <a16:creationId xmlns:a16="http://schemas.microsoft.com/office/drawing/2014/main" id="{E8B9E5B1-E31E-45F7-AE1F-E5DFC738CD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3803" y="927213"/>
            <a:ext cx="576355" cy="257697"/>
          </a:xfrm>
          <a:prstGeom prst="rect">
            <a:avLst/>
          </a:prstGeom>
        </p:spPr>
      </p:pic>
      <p:graphicFrame>
        <p:nvGraphicFramePr>
          <p:cNvPr id="3" name="表格 3">
            <a:extLst>
              <a:ext uri="{FF2B5EF4-FFF2-40B4-BE49-F238E27FC236}">
                <a16:creationId xmlns:a16="http://schemas.microsoft.com/office/drawing/2014/main" id="{370374AA-742D-438D-84DC-9DAB7903D8D0}"/>
              </a:ext>
            </a:extLst>
          </p:cNvPr>
          <p:cNvGraphicFramePr>
            <a:graphicFrameLocks noGrp="1"/>
          </p:cNvGraphicFramePr>
          <p:nvPr>
            <p:extLst>
              <p:ext uri="{D42A27DB-BD31-4B8C-83A1-F6EECF244321}">
                <p14:modId xmlns:p14="http://schemas.microsoft.com/office/powerpoint/2010/main" val="1502248796"/>
              </p:ext>
            </p:extLst>
          </p:nvPr>
        </p:nvGraphicFramePr>
        <p:xfrm>
          <a:off x="1609090" y="2628476"/>
          <a:ext cx="8127999" cy="2926080"/>
        </p:xfrm>
        <a:graphic>
          <a:graphicData uri="http://schemas.openxmlformats.org/drawingml/2006/table">
            <a:tbl>
              <a:tblPr firstRow="1" bandRow="1">
                <a:tableStyleId>{5940675A-B579-460E-94D1-54222C63F5DA}</a:tableStyleId>
              </a:tblPr>
              <a:tblGrid>
                <a:gridCol w="665480">
                  <a:extLst>
                    <a:ext uri="{9D8B030D-6E8A-4147-A177-3AD203B41FA5}">
                      <a16:colId xmlns:a16="http://schemas.microsoft.com/office/drawing/2014/main" val="1611068028"/>
                    </a:ext>
                  </a:extLst>
                </a:gridCol>
                <a:gridCol w="5269230">
                  <a:extLst>
                    <a:ext uri="{9D8B030D-6E8A-4147-A177-3AD203B41FA5}">
                      <a16:colId xmlns:a16="http://schemas.microsoft.com/office/drawing/2014/main" val="1395512060"/>
                    </a:ext>
                  </a:extLst>
                </a:gridCol>
                <a:gridCol w="2193289">
                  <a:extLst>
                    <a:ext uri="{9D8B030D-6E8A-4147-A177-3AD203B41FA5}">
                      <a16:colId xmlns:a16="http://schemas.microsoft.com/office/drawing/2014/main" val="3438957090"/>
                    </a:ext>
                  </a:extLst>
                </a:gridCol>
              </a:tblGrid>
              <a:tr h="370840">
                <a:tc>
                  <a:txBody>
                    <a:bodyPr/>
                    <a:lstStyle/>
                    <a:p>
                      <a:endParaRPr lang="zh-CN" altLang="en-US" sz="2000" dirty="0">
                        <a:latin typeface="Trebuchet MS" panose="020B0603020202020204" pitchFamily="34" charset="0"/>
                      </a:endParaRPr>
                    </a:p>
                  </a:txBody>
                  <a:tcPr/>
                </a:tc>
                <a:tc>
                  <a:txBody>
                    <a:bodyPr/>
                    <a:lstStyle/>
                    <a:p>
                      <a:r>
                        <a:rPr kumimoji="0" lang="zh-CN" altLang="en-US" sz="2400" b="1" dirty="0">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sym typeface="Symbol" panose="05050102010706020507" pitchFamily="18" charset="2"/>
                        </a:rPr>
                        <a:t></a:t>
                      </a:r>
                      <a:r>
                        <a:rPr kumimoji="0" lang="en-US" altLang="zh-CN" sz="2400" b="1" i="1" dirty="0" err="1">
                          <a:solidFill>
                            <a:srgbClr val="0B5BFF"/>
                          </a:solidFill>
                          <a:latin typeface="Trebuchet MS" panose="020B0603020202020204" pitchFamily="34" charset="0"/>
                        </a:rPr>
                        <a:t>z</a:t>
                      </a:r>
                      <a:r>
                        <a:rPr kumimoji="0" lang="en-US" altLang="zh-CN" sz="2400" b="1" dirty="0">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z</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A</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y</a:t>
                      </a:r>
                      <a:r>
                        <a:rPr kumimoji="0" lang="en-US" altLang="zh-CN" sz="2400" b="1" dirty="0">
                          <a:solidFill>
                            <a:srgbClr val="0B5BFF"/>
                          </a:solidFill>
                          <a:latin typeface="Trebuchet MS" panose="020B0603020202020204" pitchFamily="34" charset="0"/>
                        </a:rPr>
                        <a:t>&gt;∈</a:t>
                      </a:r>
                      <a:r>
                        <a:rPr kumimoji="0" lang="en-US" altLang="zh-CN" sz="2400" b="1" i="1" dirty="0">
                          <a:solidFill>
                            <a:srgbClr val="0B5BFF"/>
                          </a:solidFill>
                          <a:latin typeface="Trebuchet MS" panose="020B0603020202020204" pitchFamily="34" charset="0"/>
                        </a:rPr>
                        <a:t>R</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y</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z</a:t>
                      </a:r>
                      <a:r>
                        <a:rPr kumimoji="0" lang="en-US" altLang="zh-CN" sz="2400" b="1" dirty="0">
                          <a:solidFill>
                            <a:srgbClr val="0B5BFF"/>
                          </a:solidFill>
                          <a:latin typeface="Trebuchet MS" panose="020B0603020202020204" pitchFamily="34" charset="0"/>
                        </a:rPr>
                        <a:t>&gt;∈</a:t>
                      </a:r>
                      <a:r>
                        <a:rPr kumimoji="0" lang="en-US" altLang="zh-CN" sz="2400" b="1" i="1" dirty="0">
                          <a:solidFill>
                            <a:srgbClr val="0B5BFF"/>
                          </a:solidFill>
                          <a:latin typeface="Trebuchet MS" panose="020B0603020202020204" pitchFamily="34" charset="0"/>
                        </a:rPr>
                        <a:t>R</a:t>
                      </a:r>
                      <a:r>
                        <a:rPr kumimoji="0" lang="en-US" altLang="zh-CN" sz="2400" b="1" dirty="0">
                          <a:solidFill>
                            <a:srgbClr val="0B5BFF"/>
                          </a:solidFill>
                          <a:latin typeface="Trebuchet MS" panose="020B0603020202020204" pitchFamily="34" charset="0"/>
                        </a:rPr>
                        <a:t>→&lt;</a:t>
                      </a:r>
                      <a:r>
                        <a:rPr kumimoji="0" lang="en-US" altLang="zh-CN" sz="2400" b="1" i="1" dirty="0" err="1">
                          <a:solidFill>
                            <a:srgbClr val="0B5BFF"/>
                          </a:solidFill>
                          <a:latin typeface="Trebuchet MS" panose="020B0603020202020204" pitchFamily="34" charset="0"/>
                        </a:rPr>
                        <a:t>x</a:t>
                      </a:r>
                      <a:r>
                        <a:rPr kumimoji="0" lang="en-US" altLang="zh-CN" sz="2400" b="1" dirty="0" err="1">
                          <a:solidFill>
                            <a:srgbClr val="0B5BFF"/>
                          </a:solidFill>
                          <a:latin typeface="Trebuchet MS" panose="020B0603020202020204" pitchFamily="34" charset="0"/>
                        </a:rPr>
                        <a:t>,</a:t>
                      </a:r>
                      <a:r>
                        <a:rPr kumimoji="0" lang="en-US" altLang="zh-CN" sz="2400" b="1" i="1" dirty="0" err="1">
                          <a:solidFill>
                            <a:srgbClr val="0B5BFF"/>
                          </a:solidFill>
                          <a:latin typeface="Trebuchet MS" panose="020B0603020202020204" pitchFamily="34" charset="0"/>
                        </a:rPr>
                        <a:t>z</a:t>
                      </a:r>
                      <a:r>
                        <a:rPr kumimoji="0" lang="en-US" altLang="zh-CN" sz="2400" b="1" dirty="0">
                          <a:solidFill>
                            <a:srgbClr val="0B5BFF"/>
                          </a:solidFill>
                          <a:latin typeface="Trebuchet MS" panose="020B0603020202020204" pitchFamily="34" charset="0"/>
                        </a:rPr>
                        <a:t>&gt;∈</a:t>
                      </a:r>
                      <a:r>
                        <a:rPr kumimoji="0" lang="en-US" altLang="zh-CN" sz="2400" b="1" i="1" dirty="0">
                          <a:solidFill>
                            <a:srgbClr val="0B5BFF"/>
                          </a:solidFill>
                          <a:latin typeface="Trebuchet MS" panose="020B0603020202020204" pitchFamily="34" charset="0"/>
                        </a:rPr>
                        <a:t>R</a:t>
                      </a:r>
                      <a:r>
                        <a:rPr kumimoji="0" lang="en-US" altLang="zh-CN" sz="2400" b="1" dirty="0">
                          <a:solidFill>
                            <a:srgbClr val="0B5BFF"/>
                          </a:solidFill>
                          <a:latin typeface="Trebuchet MS" panose="020B0603020202020204" pitchFamily="34" charset="0"/>
                        </a:rPr>
                        <a:t>)</a:t>
                      </a:r>
                      <a:endParaRPr lang="zh-CN" altLang="en-US" sz="2400" dirty="0">
                        <a:solidFill>
                          <a:srgbClr val="0B5BFF"/>
                        </a:solidFill>
                        <a:latin typeface="Trebuchet MS" panose="020B0603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dirty="0">
                          <a:latin typeface="Trebuchet MS" panose="020B0603020202020204" pitchFamily="34" charset="0"/>
                        </a:rPr>
                        <a:t>Conclusion</a:t>
                      </a:r>
                      <a:endParaRPr lang="zh-CN" altLang="en-US" sz="2400" b="1" dirty="0">
                        <a:latin typeface="Trebuchet MS" panose="020B0603020202020204" pitchFamily="34" charset="0"/>
                      </a:endParaRPr>
                    </a:p>
                  </a:txBody>
                  <a:tcPr/>
                </a:tc>
                <a:extLst>
                  <a:ext uri="{0D108BD9-81ED-4DB2-BD59-A6C34878D82A}">
                    <a16:rowId xmlns:a16="http://schemas.microsoft.com/office/drawing/2014/main" val="4127183191"/>
                  </a:ext>
                </a:extLst>
              </a:tr>
              <a:tr h="370840">
                <a:tc>
                  <a:txBody>
                    <a:bodyPr/>
                    <a:lstStyle/>
                    <a:p>
                      <a:pPr algn="ct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1</a:t>
                      </a:r>
                      <a:endParaRPr lang="zh-CN" altLang="en-US" sz="2400" dirty="0">
                        <a:latin typeface="Trebuchet MS" panose="020B0603020202020204" pitchFamily="34" charset="0"/>
                      </a:endParaRPr>
                    </a:p>
                  </a:txBody>
                  <a:tcPr/>
                </a:tc>
                <a:tc>
                  <a:txBody>
                    <a:bodyPr/>
                    <a:lstStyle/>
                    <a:p>
                      <a:r>
                        <a:rPr lang="en-US" altLang="zh-CN" sz="2000" dirty="0"/>
                        <a:t>only contains reflexive elements and has no pairs that could violate transitivity.</a:t>
                      </a:r>
                      <a:endParaRPr lang="zh-CN" altLang="en-US" sz="2000" dirty="0">
                        <a:latin typeface="Trebuchet MS" panose="020B0603020202020204" pitchFamily="34" charset="0"/>
                      </a:endParaRPr>
                    </a:p>
                  </a:txBody>
                  <a:tcPr/>
                </a:tc>
                <a:tc>
                  <a:txBody>
                    <a:bodyPr/>
                    <a:lstStyle/>
                    <a:p>
                      <a:r>
                        <a:rPr lang="en-US" altLang="zh-CN" sz="2000" dirty="0">
                          <a:latin typeface="Trebuchet MS" panose="020B0603020202020204" pitchFamily="34" charset="0"/>
                          <a:ea typeface="Cambria Math" panose="02040503050406030204" pitchFamily="18" charset="0"/>
                          <a:cs typeface="Times New Roman" panose="02020603050405020304" pitchFamily="18" charset="0"/>
                        </a:rPr>
                        <a:t>T</a:t>
                      </a:r>
                      <a:r>
                        <a:rPr lang="en-US" altLang="zh-CN" sz="2000" dirty="0">
                          <a:latin typeface="Trebuchet MS" panose="020B0603020202020204" pitchFamily="34" charset="0"/>
                        </a:rPr>
                        <a:t>ransitive relation </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endParaRPr lang="zh-CN" altLang="en-US" sz="2000" dirty="0">
                        <a:latin typeface="Trebuchet MS" panose="020B0603020202020204" pitchFamily="34" charset="0"/>
                      </a:endParaRPr>
                    </a:p>
                  </a:txBody>
                  <a:tcPr/>
                </a:tc>
                <a:extLst>
                  <a:ext uri="{0D108BD9-81ED-4DB2-BD59-A6C34878D82A}">
                    <a16:rowId xmlns:a16="http://schemas.microsoft.com/office/drawing/2014/main" val="312154582"/>
                  </a:ext>
                </a:extLst>
              </a:tr>
              <a:tr h="370840">
                <a:tc>
                  <a:txBody>
                    <a:bodyPr/>
                    <a:lstStyle/>
                    <a:p>
                      <a:pPr algn="ct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2</a:t>
                      </a:r>
                      <a:endParaRPr lang="zh-CN" altLang="en-US" sz="2400" dirty="0">
                        <a:latin typeface="Trebuchet MS" panose="020B0603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t>because (</a:t>
                      </a:r>
                      <a:r>
                        <a:rPr lang="en-US" altLang="zh-CN" sz="2000" dirty="0" err="1"/>
                        <a:t>a,b</a:t>
                      </a:r>
                      <a:r>
                        <a:rPr lang="en-US" altLang="zh-CN" sz="2000" dirty="0"/>
                        <a:t>)∈</a:t>
                      </a:r>
                      <a:r>
                        <a:rPr kumimoji="0" lang="en-US" altLang="zh-CN" sz="2000" b="1" i="1" dirty="0">
                          <a:latin typeface="Trebuchet MS" panose="020B0603020202020204" pitchFamily="34" charset="0"/>
                        </a:rPr>
                        <a:t>R</a:t>
                      </a:r>
                      <a:r>
                        <a:rPr kumimoji="0" lang="en-US" altLang="zh-CN" sz="2000" b="1" baseline="-25000" dirty="0">
                          <a:latin typeface="Trebuchet MS" panose="020B0603020202020204" pitchFamily="34" charset="0"/>
                        </a:rPr>
                        <a:t>2</a:t>
                      </a:r>
                      <a:r>
                        <a:rPr lang="en-US" altLang="zh-CN" sz="2000" dirty="0"/>
                        <a:t>​ and (</a:t>
                      </a:r>
                      <a:r>
                        <a:rPr lang="en-US" altLang="zh-CN" sz="2000" dirty="0" err="1"/>
                        <a:t>b,c</a:t>
                      </a:r>
                      <a:r>
                        <a:rPr lang="en-US" altLang="zh-CN" sz="2000" dirty="0"/>
                        <a:t>)∈</a:t>
                      </a:r>
                      <a:r>
                        <a:rPr kumimoji="0" lang="en-US" altLang="zh-CN" sz="2000" b="1" i="1" dirty="0">
                          <a:latin typeface="Trebuchet MS" panose="020B0603020202020204" pitchFamily="34" charset="0"/>
                        </a:rPr>
                        <a:t>R</a:t>
                      </a:r>
                      <a:r>
                        <a:rPr kumimoji="0" lang="en-US" altLang="zh-CN" sz="2000" b="1" baseline="-25000" dirty="0">
                          <a:latin typeface="Trebuchet MS" panose="020B0603020202020204" pitchFamily="34" charset="0"/>
                        </a:rPr>
                        <a:t>2</a:t>
                      </a:r>
                      <a:r>
                        <a:rPr lang="en-US" altLang="zh-CN" sz="2000" dirty="0"/>
                        <a:t>​, but (</a:t>
                      </a:r>
                      <a:r>
                        <a:rPr lang="en-US" altLang="zh-CN" sz="2000" dirty="0" err="1"/>
                        <a:t>a,c</a:t>
                      </a:r>
                      <a:r>
                        <a:rPr lang="en-US" altLang="zh-CN" sz="2000" dirty="0"/>
                        <a:t>)∉</a:t>
                      </a:r>
                      <a:r>
                        <a:rPr kumimoji="0" lang="en-US" altLang="zh-CN" sz="2000" b="1" i="1" dirty="0">
                          <a:latin typeface="Trebuchet MS" panose="020B0603020202020204" pitchFamily="34" charset="0"/>
                        </a:rPr>
                        <a:t>R</a:t>
                      </a:r>
                      <a:r>
                        <a:rPr kumimoji="0" lang="en-US" altLang="zh-CN" sz="2000" b="1" baseline="-25000" dirty="0">
                          <a:latin typeface="Trebuchet MS" panose="020B0603020202020204" pitchFamily="34" charset="0"/>
                        </a:rPr>
                        <a:t>2</a:t>
                      </a:r>
                      <a:endParaRPr lang="zh-CN" altLang="en-US" sz="2000" dirty="0">
                        <a:latin typeface="Trebuchet MS" panose="020B0603020202020204" pitchFamily="34" charset="0"/>
                      </a:endParaRPr>
                    </a:p>
                  </a:txBody>
                  <a:tcPr/>
                </a:tc>
                <a:tc>
                  <a:txBody>
                    <a:bodyPr/>
                    <a:lstStyle/>
                    <a:p>
                      <a:r>
                        <a:rPr lang="en-US" altLang="zh-CN" sz="2000" dirty="0">
                          <a:latin typeface="Trebuchet MS" panose="020B0603020202020204" pitchFamily="34" charset="0"/>
                          <a:ea typeface="Cambria Math" panose="02040503050406030204" pitchFamily="18" charset="0"/>
                          <a:cs typeface="Times New Roman" panose="02020603050405020304" pitchFamily="18" charset="0"/>
                        </a:rPr>
                        <a:t>T</a:t>
                      </a:r>
                      <a:r>
                        <a:rPr lang="en-US" altLang="zh-CN" sz="2000" dirty="0">
                          <a:latin typeface="Trebuchet MS" panose="020B0603020202020204" pitchFamily="34" charset="0"/>
                        </a:rPr>
                        <a:t>ransitive relation </a:t>
                      </a:r>
                      <a:r>
                        <a:rPr lang="zh-CN" altLang="en-US" sz="2000" dirty="0">
                          <a:latin typeface="Trebuchet MS" panose="020B0603020202020204" pitchFamily="34" charset="0"/>
                        </a:rPr>
                        <a:t>❌ </a:t>
                      </a:r>
                      <a:r>
                        <a:rPr lang="en-US" altLang="zh-CN" sz="2000" dirty="0">
                          <a:latin typeface="Trebuchet MS" panose="020B0603020202020204" pitchFamily="34" charset="0"/>
                        </a:rPr>
                        <a:t>No</a:t>
                      </a:r>
                      <a:endParaRPr lang="zh-CN" altLang="en-US" sz="2000" dirty="0">
                        <a:latin typeface="Trebuchet MS" panose="020B0603020202020204" pitchFamily="34" charset="0"/>
                      </a:endParaRPr>
                    </a:p>
                  </a:txBody>
                  <a:tcPr/>
                </a:tc>
                <a:extLst>
                  <a:ext uri="{0D108BD9-81ED-4DB2-BD59-A6C34878D82A}">
                    <a16:rowId xmlns:a16="http://schemas.microsoft.com/office/drawing/2014/main" val="2102721329"/>
                  </a:ext>
                </a:extLst>
              </a:tr>
              <a:tr h="370840">
                <a:tc>
                  <a:txBody>
                    <a:bodyPr/>
                    <a:lstStyle/>
                    <a:p>
                      <a:pPr algn="ctr"/>
                      <a:r>
                        <a:rPr kumimoji="0" lang="en-US" altLang="zh-CN" sz="2400" b="1" i="1" dirty="0">
                          <a:latin typeface="Trebuchet MS" panose="020B0603020202020204" pitchFamily="34" charset="0"/>
                        </a:rPr>
                        <a:t>R</a:t>
                      </a:r>
                      <a:r>
                        <a:rPr kumimoji="0" lang="en-US" altLang="zh-CN" sz="2400" b="1" baseline="-25000" dirty="0">
                          <a:latin typeface="Trebuchet MS" panose="020B0603020202020204" pitchFamily="34" charset="0"/>
                        </a:rPr>
                        <a:t>3</a:t>
                      </a:r>
                      <a:endParaRPr lang="zh-CN" altLang="en-US" sz="2400" dirty="0">
                        <a:latin typeface="Trebuchet MS" panose="020B0603020202020204" pitchFamily="34" charset="0"/>
                      </a:endParaRPr>
                    </a:p>
                  </a:txBody>
                  <a:tcPr/>
                </a:tc>
                <a:tc>
                  <a:txBody>
                    <a:bodyPr/>
                    <a:lstStyle/>
                    <a:p>
                      <a:r>
                        <a:rPr lang="en-US" altLang="zh-CN" sz="2000" dirty="0"/>
                        <a:t>contains only a single pair and has no chains to check for transitivity violations.</a:t>
                      </a:r>
                      <a:endParaRPr lang="zh-CN" altLang="en-US" sz="2000" dirty="0">
                        <a:latin typeface="Trebuchet MS" panose="020B0603020202020204" pitchFamily="34" charset="0"/>
                      </a:endParaRPr>
                    </a:p>
                  </a:txBody>
                  <a:tcPr/>
                </a:tc>
                <a:tc>
                  <a:txBody>
                    <a:bodyPr/>
                    <a:lstStyle/>
                    <a:p>
                      <a:r>
                        <a:rPr lang="en-US" altLang="zh-CN" sz="2000" dirty="0">
                          <a:latin typeface="Trebuchet MS" panose="020B0603020202020204" pitchFamily="34" charset="0"/>
                          <a:ea typeface="Cambria Math" panose="02040503050406030204" pitchFamily="18" charset="0"/>
                          <a:cs typeface="Times New Roman" panose="02020603050405020304" pitchFamily="18" charset="0"/>
                        </a:rPr>
                        <a:t>T</a:t>
                      </a:r>
                      <a:r>
                        <a:rPr lang="en-US" altLang="zh-CN" sz="2000" dirty="0">
                          <a:latin typeface="Trebuchet MS" panose="020B0603020202020204" pitchFamily="34" charset="0"/>
                        </a:rPr>
                        <a:t>ransitive relation </a:t>
                      </a:r>
                      <a:r>
                        <a:rPr lang="zh-CN" altLang="en-US" sz="2000" dirty="0">
                          <a:latin typeface="Trebuchet MS" panose="020B0603020202020204" pitchFamily="34" charset="0"/>
                        </a:rPr>
                        <a:t>✅</a:t>
                      </a:r>
                      <a:r>
                        <a:rPr lang="en-US" altLang="zh-CN" sz="2000" b="1" dirty="0">
                          <a:latin typeface="Trebuchet MS" panose="020B0603020202020204" pitchFamily="34" charset="0"/>
                        </a:rPr>
                        <a:t>Yes</a:t>
                      </a:r>
                      <a:endParaRPr lang="zh-CN" altLang="en-US" sz="2000" dirty="0">
                        <a:latin typeface="Trebuchet MS" panose="020B0603020202020204" pitchFamily="34" charset="0"/>
                      </a:endParaRPr>
                    </a:p>
                  </a:txBody>
                  <a:tcPr/>
                </a:tc>
                <a:extLst>
                  <a:ext uri="{0D108BD9-81ED-4DB2-BD59-A6C34878D82A}">
                    <a16:rowId xmlns:a16="http://schemas.microsoft.com/office/drawing/2014/main" val="900903205"/>
                  </a:ext>
                </a:extLst>
              </a:tr>
            </a:tbl>
          </a:graphicData>
        </a:graphic>
      </p:graphicFrame>
    </p:spTree>
    <p:extLst>
      <p:ext uri="{BB962C8B-B14F-4D97-AF65-F5344CB8AC3E}">
        <p14:creationId xmlns:p14="http://schemas.microsoft.com/office/powerpoint/2010/main" val="2232561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Mathematical definitions of </a:t>
            </a:r>
            <a:r>
              <a:rPr lang="en-US" altLang="zh-CN" sz="2400" b="1" i="1" dirty="0">
                <a:latin typeface="Trebuchet MS" panose="020B0603020202020204" pitchFamily="34" charset="0"/>
              </a:rPr>
              <a:t>R</a:t>
            </a:r>
            <a:r>
              <a:rPr lang="en-US" altLang="zh-CN" sz="2400" b="1" dirty="0">
                <a:latin typeface="Trebuchet MS" panose="020B0603020202020204" pitchFamily="34" charset="0"/>
              </a:rPr>
              <a:t>'s basic properties on A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936625"/>
            <a:ext cx="9589137" cy="5539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038" eaLnBrk="1" hangingPunct="1">
              <a:lnSpc>
                <a:spcPct val="130000"/>
              </a:lnSpc>
              <a:spcBef>
                <a:spcPct val="0"/>
              </a:spcBef>
              <a:buFontTx/>
              <a:buNone/>
            </a:pPr>
            <a:r>
              <a:rPr lang="en-US" altLang="zh-CN" sz="2400" dirty="0">
                <a:latin typeface="Trebuchet MS" panose="020B0603020202020204" pitchFamily="34" charset="0"/>
              </a:rPr>
              <a:t>Mathematical definitions of the basic properties of the relation </a:t>
            </a:r>
            <a:r>
              <a:rPr lang="en-US" altLang="zh-CN" sz="2400" b="1" i="1" dirty="0">
                <a:latin typeface="Trebuchet MS" panose="020B0603020202020204" pitchFamily="34" charset="0"/>
              </a:rPr>
              <a:t>R</a:t>
            </a:r>
            <a:r>
              <a:rPr lang="en-US" altLang="zh-CN" sz="2400" dirty="0">
                <a:latin typeface="Trebuchet MS" panose="020B0603020202020204" pitchFamily="34" charset="0"/>
              </a:rPr>
              <a:t> on the set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endParaRPr kumimoji="0" lang="en-US" altLang="zh-CN" sz="2400" b="1" dirty="0">
              <a:latin typeface="Trebuchet MS" panose="020B0603020202020204" pitchFamily="34" charset="0"/>
            </a:endParaRPr>
          </a:p>
          <a:p>
            <a:pPr indent="-46038" eaLnBrk="1" hangingPunct="1">
              <a:lnSpc>
                <a:spcPct val="130000"/>
              </a:lnSpc>
              <a:spcBef>
                <a:spcPct val="0"/>
              </a:spcBef>
              <a:buFontTx/>
              <a:buNone/>
            </a:pPr>
            <a:r>
              <a:rPr kumimoji="0" lang="en-US" altLang="zh-CN" sz="2400" dirty="0">
                <a:latin typeface="Trebuchet MS" panose="020B0603020202020204" pitchFamily="34" charset="0"/>
              </a:rPr>
              <a:t>Let </a:t>
            </a:r>
            <a:r>
              <a:rPr kumimoji="0" lang="zh-CN" altLang="en-US" sz="2400"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i="1" dirty="0">
                <a:latin typeface="Trebuchet MS" panose="020B0603020202020204" pitchFamily="34" charset="0"/>
              </a:rPr>
              <a:t> </a:t>
            </a:r>
            <a:r>
              <a:rPr lang="en-US" altLang="zh-CN" sz="2400" i="1" dirty="0">
                <a:latin typeface="Trebuchet MS" panose="020B0603020202020204" pitchFamily="34" charset="0"/>
              </a:rPr>
              <a:t> </a:t>
            </a:r>
            <a:r>
              <a:rPr lang="en-US" altLang="zh-CN" sz="2400" dirty="0">
                <a:latin typeface="Trebuchet MS" panose="020B0603020202020204" pitchFamily="34" charset="0"/>
              </a:rPr>
              <a:t>be a relation on</a:t>
            </a:r>
            <a:r>
              <a:rPr kumimoji="0" lang="zh-CN" altLang="en-US" sz="2400"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dirty="0">
                <a:latin typeface="Trebuchet MS" panose="020B0603020202020204" pitchFamily="34" charset="0"/>
              </a:rPr>
              <a:t>, </a:t>
            </a:r>
            <a:r>
              <a:rPr lang="en-US" altLang="zh-CN" sz="2400" dirty="0">
                <a:latin typeface="Trebuchet MS" panose="020B0603020202020204" pitchFamily="34" charset="0"/>
              </a:rPr>
              <a:t>then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zh-CN" altLang="en-US" sz="2400" b="1" dirty="0">
                <a:solidFill>
                  <a:srgbClr val="0B5BFF"/>
                </a:solidFill>
                <a:latin typeface="Trebuchet MS" panose="020B0603020202020204" pitchFamily="34" charset="0"/>
              </a:rPr>
              <a:t> </a:t>
            </a:r>
            <a:r>
              <a:rPr kumimoji="0" lang="en-US" altLang="zh-CN" sz="2400" b="1" i="1" dirty="0">
                <a:latin typeface="Trebuchet MS" panose="020B0603020202020204" pitchFamily="34" charset="0"/>
              </a:rPr>
              <a:t>R </a:t>
            </a:r>
            <a:r>
              <a:rPr lang="en-US" altLang="zh-CN" sz="2400" dirty="0">
                <a:latin typeface="Trebuchet MS" panose="020B0603020202020204" pitchFamily="34" charset="0"/>
              </a:rPr>
              <a:t>is</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reflexive</a:t>
            </a:r>
            <a:r>
              <a:rPr lang="zh-CN" altLang="en-US" sz="2400" b="1" i="1" dirty="0">
                <a:latin typeface="Trebuchet MS" panose="020B0603020202020204" pitchFamily="34" charset="0"/>
              </a:rPr>
              <a:t> </a:t>
            </a:r>
            <a:r>
              <a:rPr lang="en-US" altLang="zh-CN" sz="2400" dirty="0">
                <a:latin typeface="Trebuchet MS" panose="020B0603020202020204" pitchFamily="34" charset="0"/>
              </a:rPr>
              <a:t>on</a:t>
            </a:r>
            <a:r>
              <a:rPr lang="zh-CN" altLang="en-US" sz="2400" b="1" i="1" dirty="0">
                <a:latin typeface="Trebuchet MS" panose="020B0603020202020204" pitchFamily="34" charset="0"/>
              </a:rPr>
              <a: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a:t>
            </a:r>
            <a:r>
              <a:rPr lang="en-US" altLang="zh-CN" sz="2400" b="1" i="1" dirty="0">
                <a:latin typeface="Trebuchet MS" panose="020B0603020202020204" pitchFamily="34" charset="0"/>
              </a:rPr>
              <a:t>if</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and</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only</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if</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p>
          <a:p>
            <a:pPr indent="-46038" eaLnBrk="1" hangingPunct="1">
              <a:lnSpc>
                <a:spcPct val="130000"/>
              </a:lnSpc>
              <a:spcBef>
                <a:spcPct val="0"/>
              </a:spcBef>
              <a:buFontTx/>
              <a:buNone/>
            </a:pPr>
            <a:r>
              <a:rPr lang="en-US" altLang="zh-CN" sz="2000" dirty="0">
                <a:latin typeface="Trebuchet MS" panose="020B0603020202020204" pitchFamily="34" charset="0"/>
              </a:rPr>
              <a:t>         </a:t>
            </a:r>
            <a:r>
              <a:rPr lang="en-US" altLang="zh-CN" sz="2000" i="1" dirty="0">
                <a:latin typeface="Trebuchet MS" panose="020B0603020202020204" pitchFamily="34" charset="0"/>
              </a:rPr>
              <a:t>R </a:t>
            </a:r>
            <a:r>
              <a:rPr lang="en-US" altLang="zh-CN" sz="2000" dirty="0">
                <a:latin typeface="Trebuchet MS" panose="020B0603020202020204" pitchFamily="34" charset="0"/>
              </a:rPr>
              <a:t>at least contains all reflexive pairs (</a:t>
            </a:r>
            <a:r>
              <a:rPr lang="en-US" altLang="zh-CN" sz="2000" dirty="0" err="1">
                <a:latin typeface="Trebuchet MS" panose="020B0603020202020204" pitchFamily="34" charset="0"/>
              </a:rPr>
              <a:t>x,x</a:t>
            </a:r>
            <a:r>
              <a:rPr lang="en-US" altLang="zh-CN" sz="2000" dirty="0">
                <a:latin typeface="Trebuchet MS" panose="020B0603020202020204" pitchFamily="34" charset="0"/>
              </a:rPr>
              <a:t>)</a:t>
            </a:r>
          </a:p>
          <a:p>
            <a:pPr indent="-46038"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zh-CN" altLang="en-US" sz="2400" b="1" dirty="0">
                <a:solidFill>
                  <a:srgbClr val="0B5BFF"/>
                </a:solidFill>
                <a:latin typeface="Trebuchet MS" panose="020B0603020202020204" pitchFamily="34" charset="0"/>
              </a:rPr>
              <a:t> </a:t>
            </a:r>
            <a:r>
              <a:rPr kumimoji="0" lang="en-US" altLang="zh-CN" sz="2400" b="1" i="1" dirty="0">
                <a:latin typeface="Trebuchet MS" panose="020B0603020202020204" pitchFamily="34" charset="0"/>
              </a:rPr>
              <a:t>R </a:t>
            </a:r>
            <a:r>
              <a:rPr lang="en-US" altLang="zh-CN" sz="2400" dirty="0">
                <a:latin typeface="Trebuchet MS" panose="020B0603020202020204" pitchFamily="34" charset="0"/>
              </a:rPr>
              <a:t>is</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irreflexive</a:t>
            </a:r>
            <a:r>
              <a:rPr lang="zh-CN" altLang="en-US" sz="2400" b="1" i="1" dirty="0">
                <a:latin typeface="Trebuchet MS" panose="020B0603020202020204" pitchFamily="34" charset="0"/>
              </a:rPr>
              <a:t> </a:t>
            </a:r>
            <a:r>
              <a:rPr lang="en-US" altLang="zh-CN" sz="2400" dirty="0">
                <a:latin typeface="Trebuchet MS" panose="020B0603020202020204" pitchFamily="34" charset="0"/>
              </a:rPr>
              <a:t>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if and only if</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p>
          <a:p>
            <a:pPr indent="-46038" eaLnBrk="1" hangingPunct="1">
              <a:lnSpc>
                <a:spcPct val="130000"/>
              </a:lnSpc>
              <a:spcBef>
                <a:spcPct val="0"/>
              </a:spcBef>
              <a:buFontTx/>
              <a:buNone/>
            </a:pPr>
            <a:r>
              <a:rPr lang="en-US" altLang="zh-CN" sz="2000" dirty="0">
                <a:latin typeface="Trebuchet MS" panose="020B0603020202020204" pitchFamily="34" charset="0"/>
              </a:rPr>
              <a:t>         R does not contain any (</a:t>
            </a:r>
            <a:r>
              <a:rPr lang="en-US" altLang="zh-CN" sz="2000" dirty="0" err="1">
                <a:latin typeface="Trebuchet MS" panose="020B0603020202020204" pitchFamily="34" charset="0"/>
              </a:rPr>
              <a:t>x,x</a:t>
            </a:r>
            <a:r>
              <a:rPr lang="en-US" altLang="zh-CN" sz="2000" dirty="0">
                <a:latin typeface="Trebuchet MS" panose="020B0603020202020204" pitchFamily="34" charset="0"/>
              </a:rPr>
              <a:t>)</a:t>
            </a:r>
          </a:p>
          <a:p>
            <a:pPr indent="-46038"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 (3) </a:t>
            </a:r>
            <a:r>
              <a:rPr kumimoji="0" lang="zh-CN" altLang="en-US" sz="2400" b="1" dirty="0">
                <a:solidFill>
                  <a:srgbClr val="0B5BFF"/>
                </a:solidFill>
                <a:latin typeface="Trebuchet MS" panose="020B0603020202020204" pitchFamily="34" charset="0"/>
              </a:rPr>
              <a:t> </a:t>
            </a:r>
            <a:r>
              <a:rPr kumimoji="0" lang="en-US" altLang="zh-CN" sz="2400" b="1" i="1" dirty="0">
                <a:latin typeface="Trebuchet MS" panose="020B0603020202020204" pitchFamily="34" charset="0"/>
              </a:rPr>
              <a:t>R </a:t>
            </a:r>
            <a:r>
              <a:rPr lang="en-US" altLang="zh-CN" sz="2400" dirty="0">
                <a:latin typeface="Trebuchet MS" panose="020B0603020202020204" pitchFamily="34" charset="0"/>
              </a:rPr>
              <a:t>is</a:t>
            </a:r>
            <a:r>
              <a:rPr lang="zh-CN" altLang="en-US" sz="2400" b="1" i="1" dirty="0">
                <a:latin typeface="Trebuchet MS" panose="020B0603020202020204" pitchFamily="34" charset="0"/>
              </a:rPr>
              <a:t> </a:t>
            </a:r>
            <a:r>
              <a:rPr lang="en-US" sz="2400" b="1" i="1" dirty="0">
                <a:latin typeface="Trebuchet MS" panose="020B0603020202020204" pitchFamily="34" charset="0"/>
              </a:rPr>
              <a:t>symmetric</a:t>
            </a:r>
            <a:r>
              <a:rPr lang="en-US" sz="2400" dirty="0">
                <a:latin typeface="Trebuchet MS" panose="020B0603020202020204" pitchFamily="34" charset="0"/>
              </a:rPr>
              <a:t> 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a:t>
            </a:r>
            <a:r>
              <a:rPr lang="en-US" altLang="zh-CN" sz="2400" b="1" i="1" dirty="0">
                <a:latin typeface="Trebuchet MS" panose="020B0603020202020204" pitchFamily="34" charset="0"/>
              </a:rPr>
              <a:t>if</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and</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only</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if</a:t>
            </a:r>
            <a:r>
              <a:rPr lang="zh-CN" altLang="en-US" sz="2400" b="1" i="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p>
          <a:p>
            <a:pPr indent="-46038" eaLnBrk="1" hangingPunct="1">
              <a:lnSpc>
                <a:spcPct val="130000"/>
              </a:lnSpc>
              <a:spcBef>
                <a:spcPct val="0"/>
              </a:spcBef>
              <a:buFontTx/>
              <a:buNone/>
            </a:pPr>
            <a:r>
              <a:rPr kumimoji="0" lang="en-US" altLang="zh-CN" sz="2400" b="1" baseline="30000"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(4) </a:t>
            </a:r>
            <a:r>
              <a:rPr kumimoji="0" lang="zh-CN" altLang="en-US" sz="2400" b="1" dirty="0">
                <a:solidFill>
                  <a:srgbClr val="0B5BFF"/>
                </a:solidFill>
                <a:latin typeface="Trebuchet MS" panose="020B0603020202020204" pitchFamily="34" charset="0"/>
              </a:rPr>
              <a:t> </a:t>
            </a:r>
            <a:r>
              <a:rPr kumimoji="0" lang="en-US" altLang="zh-CN" sz="2400" b="1" i="1" dirty="0">
                <a:latin typeface="Trebuchet MS" panose="020B0603020202020204" pitchFamily="34" charset="0"/>
              </a:rPr>
              <a:t>R </a:t>
            </a:r>
            <a:r>
              <a:rPr lang="en-US" sz="2400" dirty="0">
                <a:latin typeface="Trebuchet MS" panose="020B0603020202020204" pitchFamily="34" charset="0"/>
              </a:rPr>
              <a:t>is </a:t>
            </a:r>
            <a:r>
              <a:rPr lang="en-US" sz="2400" b="1" i="1" dirty="0">
                <a:latin typeface="Trebuchet MS" panose="020B0603020202020204" pitchFamily="34" charset="0"/>
              </a:rPr>
              <a:t>antisymmetric</a:t>
            </a:r>
            <a:r>
              <a:rPr lang="en-US" sz="2400" dirty="0">
                <a:latin typeface="Trebuchet MS" panose="020B0603020202020204" pitchFamily="34" charset="0"/>
              </a:rPr>
              <a:t> on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a:t>
            </a:r>
            <a:r>
              <a:rPr lang="en-US" sz="2400" b="1" i="1" dirty="0">
                <a:latin typeface="Trebuchet MS" panose="020B0603020202020204" pitchFamily="34" charset="0"/>
              </a:rPr>
              <a:t>if</a:t>
            </a:r>
            <a:r>
              <a:rPr lang="en-US" sz="2400" dirty="0">
                <a:latin typeface="Trebuchet MS" panose="020B0603020202020204" pitchFamily="34" charset="0"/>
              </a:rPr>
              <a:t> </a:t>
            </a:r>
            <a:r>
              <a:rPr lang="en-US" sz="2400" b="1" i="1" dirty="0">
                <a:latin typeface="Trebuchet MS" panose="020B0603020202020204" pitchFamily="34" charset="0"/>
              </a:rPr>
              <a:t>and only if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p>
          <a:p>
            <a:pPr indent="-46038" eaLnBrk="1" hangingPunct="1">
              <a:lnSpc>
                <a:spcPct val="130000"/>
              </a:lnSpc>
              <a:spcBef>
                <a:spcPct val="0"/>
              </a:spcBef>
              <a:buFontTx/>
              <a:buNone/>
            </a:pPr>
            <a:r>
              <a:rPr lang="en-US" altLang="zh-CN" sz="2000" dirty="0">
                <a:latin typeface="Trebuchet MS" panose="020B0603020202020204" pitchFamily="34" charset="0"/>
              </a:rPr>
              <a:t>         R and its inverse relation contains only reflexive pairs ⟨</a:t>
            </a:r>
            <a:r>
              <a:rPr lang="en-US" altLang="zh-CN" sz="2000" dirty="0" err="1">
                <a:latin typeface="Trebuchet MS" panose="020B0603020202020204" pitchFamily="34" charset="0"/>
              </a:rPr>
              <a:t>x,x</a:t>
            </a:r>
            <a:r>
              <a:rPr lang="en-US" altLang="zh-CN" sz="2000" dirty="0">
                <a:latin typeface="Trebuchet MS" panose="020B0603020202020204" pitchFamily="34" charset="0"/>
              </a:rPr>
              <a:t>⟩</a:t>
            </a:r>
          </a:p>
          <a:p>
            <a:pPr indent="-46038"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 (5) </a:t>
            </a:r>
            <a:r>
              <a:rPr kumimoji="0" lang="zh-CN" altLang="en-US" sz="2400" b="1" dirty="0">
                <a:solidFill>
                  <a:srgbClr val="0B5BFF"/>
                </a:solidFill>
                <a:latin typeface="Trebuchet MS" panose="020B0603020202020204" pitchFamily="34" charset="0"/>
              </a:rPr>
              <a:t> </a:t>
            </a:r>
            <a:r>
              <a:rPr kumimoji="0" lang="en-US" altLang="zh-CN" sz="2400" b="1" i="1" dirty="0">
                <a:latin typeface="Trebuchet MS" panose="020B0603020202020204" pitchFamily="34" charset="0"/>
              </a:rPr>
              <a:t>R </a:t>
            </a:r>
            <a:r>
              <a:rPr lang="en-US" sz="2400" dirty="0">
                <a:latin typeface="Trebuchet MS" panose="020B0603020202020204" pitchFamily="34" charset="0"/>
              </a:rPr>
              <a:t>is </a:t>
            </a:r>
            <a:r>
              <a:rPr lang="en-US" sz="2400" b="1" i="1" dirty="0">
                <a:latin typeface="Trebuchet MS" panose="020B0603020202020204" pitchFamily="34" charset="0"/>
              </a:rPr>
              <a:t>transitive</a:t>
            </a:r>
            <a:r>
              <a:rPr lang="en-US" sz="2400" dirty="0">
                <a:latin typeface="Trebuchet MS" panose="020B0603020202020204" pitchFamily="34" charset="0"/>
              </a:rPr>
              <a:t> 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a:t>
            </a:r>
            <a:r>
              <a:rPr lang="en-US" sz="2400" b="1" i="1" dirty="0">
                <a:latin typeface="Trebuchet MS" panose="020B0603020202020204" pitchFamily="34" charset="0"/>
              </a:rPr>
              <a:t>if and only if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endParaRPr lang="zh-CN" altLang="en-US" sz="2800" b="1" dirty="0"/>
          </a:p>
        </p:txBody>
      </p:sp>
    </p:spTree>
    <p:extLst>
      <p:ext uri="{BB962C8B-B14F-4D97-AF65-F5344CB8AC3E}">
        <p14:creationId xmlns:p14="http://schemas.microsoft.com/office/powerpoint/2010/main" val="3740729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Effect transition="in" filter="fade">
                                      <p:cBhvr>
                                        <p:cTn id="31" dur="1000"/>
                                        <p:tgtEl>
                                          <p:spTgt spid="8">
                                            <p:txEl>
                                              <p:pRg st="7" end="7"/>
                                            </p:txEl>
                                          </p:spTgt>
                                        </p:tgtEl>
                                      </p:cBhvr>
                                    </p:animEffect>
                                    <p:anim calcmode="lin" valueType="num">
                                      <p:cBhvr>
                                        <p:cTn id="3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fade">
                                      <p:cBhvr>
                                        <p:cTn id="38" dur="1000"/>
                                        <p:tgtEl>
                                          <p:spTgt spid="8">
                                            <p:txEl>
                                              <p:pRg st="8" end="8"/>
                                            </p:txEl>
                                          </p:spTgt>
                                        </p:tgtEl>
                                      </p:cBhvr>
                                    </p:animEffect>
                                    <p:anim calcmode="lin" valueType="num">
                                      <p:cBhvr>
                                        <p:cTn id="39"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Reflexivity of </a:t>
            </a:r>
            <a:r>
              <a:rPr lang="en-US" altLang="zh-CN" sz="2400" b="1" i="1" dirty="0"/>
              <a:t>R</a:t>
            </a:r>
            <a:r>
              <a:rPr lang="en-US" altLang="zh-CN" sz="2400" b="1" dirty="0"/>
              <a:t> on </a:t>
            </a:r>
            <a:r>
              <a:rPr lang="en-US" altLang="zh-CN" sz="2400" b="1" i="1" dirty="0"/>
              <a:t>A</a:t>
            </a:r>
            <a:endParaRPr lang="zh-CN" altLang="en-US" sz="2400" b="1" i="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971550"/>
            <a:ext cx="8798289" cy="4479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0B5BFF"/>
              </a:buClr>
              <a:buSzPct val="80000"/>
              <a:buFont typeface="Wingdings" panose="05000000000000000000" pitchFamily="2" charset="2"/>
              <a:buChar char="n"/>
            </a:pPr>
            <a:r>
              <a:rPr lang="en-US" sz="2400" dirty="0">
                <a:latin typeface="Trebuchet MS" panose="020B0603020202020204" pitchFamily="34" charset="0"/>
              </a:rPr>
              <a:t>To prove that </a:t>
            </a:r>
            <a:r>
              <a:rPr lang="en-US" sz="2400" b="1" i="1" dirty="0">
                <a:latin typeface="Trebuchet MS" panose="020B0603020202020204" pitchFamily="34" charset="0"/>
              </a:rPr>
              <a:t>R</a:t>
            </a:r>
            <a:r>
              <a:rPr lang="en-US" sz="2400" dirty="0">
                <a:latin typeface="Trebuchet MS" panose="020B0603020202020204" pitchFamily="34" charset="0"/>
              </a:rPr>
              <a:t> is reflexive on </a:t>
            </a:r>
            <a:r>
              <a:rPr lang="en-US" sz="2400" b="1" i="1" dirty="0">
                <a:latin typeface="Trebuchet MS" panose="020B0603020202020204" pitchFamily="34" charset="0"/>
              </a:rPr>
              <a:t>A</a:t>
            </a:r>
            <a:r>
              <a:rPr lang="en-US" sz="2400" dirty="0">
                <a:latin typeface="Trebuchet MS" panose="020B0603020202020204" pitchFamily="34" charset="0"/>
              </a:rPr>
              <a:t>:  </a:t>
            </a:r>
          </a:p>
          <a:p>
            <a:pPr indent="34925">
              <a:spcBef>
                <a:spcPct val="0"/>
              </a:spcBef>
              <a:buClr>
                <a:srgbClr val="0B5BFF"/>
              </a:buClr>
              <a:buSzPct val="120000"/>
            </a:pPr>
            <a:r>
              <a:rPr lang="en-US" altLang="zh-CN" sz="2400" b="1" dirty="0">
                <a:latin typeface="Trebuchet MS" panose="020B0603020202020204" pitchFamily="34" charset="0"/>
              </a:rPr>
              <a:t> Proof Pattern:</a:t>
            </a:r>
            <a:endParaRPr kumimoji="0" lang="zh-CN" altLang="en-US" sz="2400" b="1" dirty="0">
              <a:latin typeface="Trebuchet MS" panose="020B0603020202020204" pitchFamily="34" charset="0"/>
            </a:endParaRPr>
          </a:p>
          <a:p>
            <a:pPr indent="-46038" eaLnBrk="1" hangingPunct="1">
              <a:spcBef>
                <a:spcPct val="0"/>
              </a:spcBef>
              <a:buFontTx/>
              <a:buNone/>
            </a:pPr>
            <a:r>
              <a:rPr kumimoji="0" lang="zh-CN" altLang="en-US" sz="2400" b="1" dirty="0">
                <a:latin typeface="Trebuchet MS" panose="020B0603020202020204" pitchFamily="34" charset="0"/>
              </a:rPr>
              <a:t>    </a:t>
            </a:r>
            <a:r>
              <a:rPr lang="en-US" altLang="zh-CN" sz="2400" b="1" dirty="0">
                <a:latin typeface="Trebuchet MS" panose="020B0603020202020204" pitchFamily="34" charset="0"/>
              </a:rPr>
              <a:t>For any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endParaRPr kumimoji="0" lang="en-US" altLang="zh-CN" sz="2400" b="1" i="1" dirty="0">
              <a:latin typeface="Trebuchet MS" panose="020B0603020202020204" pitchFamily="34" charset="0"/>
            </a:endParaRPr>
          </a:p>
          <a:p>
            <a:pPr indent="-46038" eaLnBrk="1" hangingPunct="1">
              <a:spcBef>
                <a:spcPct val="0"/>
              </a:spcBef>
              <a:buFontTx/>
              <a:buNone/>
            </a:pPr>
            <a:r>
              <a:rPr kumimoji="0" lang="en-US" altLang="zh-CN" sz="2400" b="1" i="1" dirty="0">
                <a:latin typeface="Trebuchet MS" panose="020B0603020202020204" pitchFamily="34" charset="0"/>
              </a:rPr>
              <a: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   ………..….   …….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endParaRPr kumimoji="0" lang="en-US" altLang="zh-CN" sz="2400" b="1" dirty="0">
              <a:latin typeface="Trebuchet MS" panose="020B0603020202020204" pitchFamily="34" charset="0"/>
            </a:endParaRPr>
          </a:p>
          <a:p>
            <a:pPr indent="-46038" eaLnBrk="1" hangingPunct="1">
              <a:spcBef>
                <a:spcPct val="0"/>
              </a:spcBef>
              <a:buFontTx/>
              <a:buNone/>
            </a:pP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Assume</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r</a:t>
            </a:r>
            <a:r>
              <a:rPr lang="en-US" sz="2400" dirty="0">
                <a:latin typeface="Trebuchet MS" panose="020B0603020202020204" pitchFamily="34" charset="0"/>
              </a:rPr>
              <a:t>easoning process </a:t>
            </a:r>
            <a:r>
              <a:rPr kumimoji="0" lang="zh-CN" altLang="en-US" sz="2400" b="1" dirty="0">
                <a:latin typeface="Trebuchet MS" panose="020B0603020202020204" pitchFamily="34" charset="0"/>
              </a:rPr>
              <a:t>    </a:t>
            </a:r>
            <a:r>
              <a:rPr lang="en-US" sz="2400" dirty="0">
                <a:latin typeface="Trebuchet MS" panose="020B0603020202020204" pitchFamily="34" charset="0"/>
              </a:rPr>
              <a:t>Conclusion</a:t>
            </a:r>
            <a:endParaRPr kumimoji="0" lang="zh-CN" altLang="en-US" sz="2400" b="1" dirty="0">
              <a:latin typeface="Trebuchet MS" panose="020B0603020202020204" pitchFamily="34" charset="0"/>
            </a:endParaRPr>
          </a:p>
          <a:p>
            <a:pPr marL="0" indent="1252538" eaLnBrk="1" hangingPunct="1">
              <a:spcBef>
                <a:spcPct val="60000"/>
              </a:spcBef>
              <a:buNone/>
            </a:pPr>
            <a:endParaRPr lang="zh-CN" altLang="en-US" sz="2400" b="1" dirty="0">
              <a:latin typeface="Trebuchet MS" panose="020B0603020202020204" pitchFamily="34" charset="0"/>
            </a:endParaRPr>
          </a:p>
          <a:p>
            <a:pPr eaLnBrk="1" hangingPunct="1">
              <a:lnSpc>
                <a:spcPct val="120000"/>
              </a:lnSpc>
              <a:spcBef>
                <a:spcPct val="0"/>
              </a:spcBef>
              <a:buFontTx/>
              <a:buNone/>
            </a:pPr>
            <a:r>
              <a:rPr lang="en-US" sz="2400" b="1" dirty="0">
                <a:latin typeface="Trebuchet MS" panose="020B0603020202020204" pitchFamily="34" charset="0"/>
              </a:rPr>
              <a:t>     Example</a:t>
            </a:r>
            <a:r>
              <a:rPr lang="en-US" sz="2400" dirty="0">
                <a:latin typeface="Trebuchet MS" panose="020B0603020202020204" pitchFamily="34" charset="0"/>
              </a:rPr>
              <a:t>: Prove that if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r>
              <a:rPr kumimoji="0" lang="zh-CN" altLang="en-US" sz="2400" b="1" i="1" dirty="0">
                <a:latin typeface="Trebuchet MS" panose="020B0603020202020204" pitchFamily="34" charset="0"/>
              </a:rPr>
              <a:t>，</a:t>
            </a:r>
            <a:r>
              <a:rPr kumimoji="0" lang="en-US" altLang="zh-CN" sz="2400" dirty="0">
                <a:latin typeface="Trebuchet MS" panose="020B0603020202020204" pitchFamily="34" charset="0"/>
              </a:rPr>
              <a:t>t</a:t>
            </a:r>
            <a:r>
              <a:rPr lang="en-US" sz="2400" dirty="0">
                <a:latin typeface="Trebuchet MS" panose="020B0603020202020204" pitchFamily="34" charset="0"/>
              </a:rPr>
              <a:t>hen </a:t>
            </a:r>
            <a:r>
              <a:rPr lang="en-US" sz="2400" b="1" i="1" dirty="0">
                <a:latin typeface="Trebuchet MS" panose="020B0603020202020204" pitchFamily="34" charset="0"/>
              </a:rPr>
              <a:t>R</a:t>
            </a:r>
            <a:r>
              <a:rPr lang="en-US" sz="2400" dirty="0">
                <a:latin typeface="Trebuchet MS" panose="020B0603020202020204" pitchFamily="34" charset="0"/>
              </a:rPr>
              <a:t> is reflexive on </a:t>
            </a:r>
            <a:r>
              <a:rPr lang="en-US" sz="2400" b="1" i="1" dirty="0">
                <a:latin typeface="Trebuchet MS" panose="020B0603020202020204" pitchFamily="34" charset="0"/>
              </a:rPr>
              <a:t>A</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Proof</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For any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x</a:t>
            </a:r>
            <a:r>
              <a:rPr kumimoji="0" lang="en-US" altLang="zh-CN" sz="2400" b="1" dirty="0" err="1">
                <a:latin typeface="Trebuchet MS" panose="020B0603020202020204" pitchFamily="34" charset="0"/>
                <a:sym typeface="Symbol" panose="05050102010706020507" pitchFamily="18" charset="2"/>
              </a:rPr>
              <a:t></a:t>
            </a:r>
            <a:r>
              <a:rPr kumimoji="0" lang="en-US" altLang="zh-CN" sz="2400" b="1" i="1" dirty="0" err="1">
                <a:latin typeface="Trebuchet MS" panose="020B0603020202020204" pitchFamily="34" charset="0"/>
              </a:rPr>
              <a:t>A</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br>
              <a:rPr kumimoji="0" lang="en-US" altLang="zh-CN" sz="2400" b="1" dirty="0">
                <a:latin typeface="Trebuchet MS" panose="020B0603020202020204" pitchFamily="34" charset="0"/>
              </a:rPr>
            </a:br>
            <a:r>
              <a:rPr lang="en-US" sz="2400" dirty="0">
                <a:latin typeface="Trebuchet MS" panose="020B0603020202020204" pitchFamily="34" charset="0"/>
              </a:rPr>
              <a:t>Therefore, </a:t>
            </a:r>
            <a:r>
              <a:rPr lang="en-US" sz="2400" b="1" i="1" dirty="0">
                <a:latin typeface="Trebuchet MS" panose="020B0603020202020204" pitchFamily="34" charset="0"/>
              </a:rPr>
              <a:t>R</a:t>
            </a:r>
            <a:r>
              <a:rPr lang="en-US" sz="2400" dirty="0">
                <a:latin typeface="Trebuchet MS" panose="020B0603020202020204" pitchFamily="34" charset="0"/>
              </a:rPr>
              <a:t> is reflexive on </a:t>
            </a:r>
            <a:r>
              <a:rPr lang="en-US" sz="2400" b="1" i="1" dirty="0">
                <a:latin typeface="Trebuchet MS" panose="020B0603020202020204" pitchFamily="34" charset="0"/>
              </a:rPr>
              <a:t>A</a:t>
            </a:r>
            <a:r>
              <a:rPr lang="en-US" sz="2400" dirty="0">
                <a:latin typeface="Trebuchet MS" panose="020B0603020202020204" pitchFamily="34" charset="0"/>
              </a:rPr>
              <a:t>.</a:t>
            </a:r>
            <a:endParaRPr kumimoji="0" lang="en-US" altLang="zh-CN" sz="2400" b="1" dirty="0">
              <a:latin typeface="Trebuchet MS" panose="020B0603020202020204" pitchFamily="34" charset="0"/>
            </a:endParaRPr>
          </a:p>
          <a:p>
            <a:pPr marL="457200" lvl="1" indent="0">
              <a:buNone/>
            </a:pPr>
            <a:endParaRPr lang="zh-CN" altLang="en-US" sz="2800" b="1" dirty="0"/>
          </a:p>
        </p:txBody>
      </p:sp>
      <p:pic>
        <p:nvPicPr>
          <p:cNvPr id="9" name="图片 8">
            <a:extLst>
              <a:ext uri="{FF2B5EF4-FFF2-40B4-BE49-F238E27FC236}">
                <a16:creationId xmlns:a16="http://schemas.microsoft.com/office/drawing/2014/main" id="{66F2AAA6-52B6-4F84-8075-8F44265237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0993" y="3281793"/>
            <a:ext cx="576355" cy="257697"/>
          </a:xfrm>
          <a:prstGeom prst="rect">
            <a:avLst/>
          </a:prstGeom>
        </p:spPr>
      </p:pic>
    </p:spTree>
    <p:extLst>
      <p:ext uri="{BB962C8B-B14F-4D97-AF65-F5344CB8AC3E}">
        <p14:creationId xmlns:p14="http://schemas.microsoft.com/office/powerpoint/2010/main" val="715006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7" end="7"/>
                                            </p:txEl>
                                          </p:spTgt>
                                        </p:tgtEl>
                                        <p:attrNameLst>
                                          <p:attrName>style.visibility</p:attrName>
                                        </p:attrNameLst>
                                      </p:cBhvr>
                                      <p:to>
                                        <p:strVal val="visible"/>
                                      </p:to>
                                    </p:set>
                                    <p:animEffect transition="in" filter="fade">
                                      <p:cBhvr>
                                        <p:cTn id="12" dur="1000"/>
                                        <p:tgtEl>
                                          <p:spTgt spid="8">
                                            <p:txEl>
                                              <p:pRg st="7" end="7"/>
                                            </p:txEl>
                                          </p:spTgt>
                                        </p:tgtEl>
                                      </p:cBhvr>
                                    </p:animEffect>
                                    <p:anim calcmode="lin" valueType="num">
                                      <p:cBhvr>
                                        <p:cTn id="1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symmetric</a:t>
            </a:r>
            <a:r>
              <a:rPr lang="en-US" altLang="zh-CN" sz="2400" dirty="0"/>
              <a:t> </a:t>
            </a:r>
            <a:r>
              <a:rPr lang="en-US" altLang="zh-CN" sz="2400" b="1" dirty="0"/>
              <a:t>of </a:t>
            </a:r>
            <a:r>
              <a:rPr lang="en-US" altLang="zh-CN" sz="2400" b="1" i="1" dirty="0"/>
              <a:t>R</a:t>
            </a:r>
            <a:r>
              <a:rPr lang="en-US" altLang="zh-CN" sz="2400" b="1" dirty="0"/>
              <a:t> on </a:t>
            </a:r>
            <a:r>
              <a:rPr lang="en-US" altLang="zh-CN" sz="2400" b="1" i="1" dirty="0"/>
              <a:t>A</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994410"/>
            <a:ext cx="9074787"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0B5BFF"/>
              </a:buClr>
              <a:buSzPct val="80000"/>
              <a:buFont typeface="Wingdings" panose="05000000000000000000" pitchFamily="2" charset="2"/>
              <a:buChar char="n"/>
            </a:pPr>
            <a:r>
              <a:rPr lang="en-US" altLang="zh-CN" sz="2400" dirty="0">
                <a:latin typeface="Trebuchet MS" panose="020B0603020202020204" pitchFamily="34" charset="0"/>
              </a:rPr>
              <a:t>To prove that R is symmetric on A:</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indent="34925">
              <a:spcBef>
                <a:spcPct val="0"/>
              </a:spcBef>
              <a:buClr>
                <a:srgbClr val="0B5BFF"/>
              </a:buClr>
              <a:buSzPct val="120000"/>
            </a:pPr>
            <a:r>
              <a:rPr lang="en-US" altLang="zh-CN" sz="2400" b="1" dirty="0">
                <a:latin typeface="Trebuchet MS" panose="020B0603020202020204" pitchFamily="34" charset="0"/>
              </a:rPr>
              <a:t> Proof Pattern:</a:t>
            </a:r>
            <a:endParaRPr lang="zh-CN" altLang="en-US" sz="2400" b="1" dirty="0">
              <a:latin typeface="Trebuchet MS" panose="020B0603020202020204" pitchFamily="34" charset="0"/>
            </a:endParaRPr>
          </a:p>
          <a:p>
            <a:pPr indent="217488" eaLnBrk="1" hangingPunct="1">
              <a:spcBef>
                <a:spcPct val="0"/>
              </a:spcBef>
              <a:buFontTx/>
              <a:buNone/>
            </a:pP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 </a:t>
            </a:r>
            <a:endParaRPr kumimoji="0" lang="en-US" altLang="zh-CN" sz="2400" b="1" i="1" dirty="0">
              <a:latin typeface="Trebuchet MS" panose="020B0603020202020204" pitchFamily="34" charset="0"/>
            </a:endParaRPr>
          </a:p>
          <a:p>
            <a:pPr indent="217488">
              <a:spcBef>
                <a:spcPct val="0"/>
              </a:spcBef>
              <a:buNone/>
            </a:pPr>
            <a:r>
              <a:rPr kumimoji="0" lang="en-US" altLang="zh-CN" sz="2400" b="1" i="1" dirty="0">
                <a:latin typeface="Trebuchet MS" panose="020B0603020202020204" pitchFamily="34" charset="0"/>
              </a:rPr>
              <a:t>     &lt;x,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 ……  </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endParaRPr kumimoji="0" lang="en-US" altLang="zh-CN" sz="2400" b="1" dirty="0">
              <a:latin typeface="Trebuchet MS" panose="020B0603020202020204" pitchFamily="34" charset="0"/>
            </a:endParaRPr>
          </a:p>
          <a:p>
            <a:pPr indent="217488" eaLnBrk="1" hangingPunct="1">
              <a:spcBef>
                <a:spcPct val="0"/>
              </a:spcBef>
              <a:buFontTx/>
              <a:buNone/>
            </a:pPr>
            <a:r>
              <a:rPr kumimoji="0" lang="en-US" altLang="zh-CN" sz="2400" b="1" dirty="0">
                <a:latin typeface="Trebuchet MS" panose="020B0603020202020204" pitchFamily="34" charset="0"/>
              </a:rPr>
              <a:t>      Assumption</a:t>
            </a:r>
            <a:r>
              <a:rPr kumimoji="0" lang="zh-CN" altLang="en-US" sz="2400" b="1" dirty="0">
                <a:latin typeface="Trebuchet MS" panose="020B0603020202020204" pitchFamily="34" charset="0"/>
              </a:rPr>
              <a:t>  </a:t>
            </a:r>
            <a:r>
              <a:rPr lang="en-US" sz="2400" dirty="0">
                <a:latin typeface="Trebuchet MS" panose="020B0603020202020204" pitchFamily="34" charset="0"/>
              </a:rPr>
              <a:t>Reasoning process    Conclusion</a:t>
            </a:r>
            <a:endParaRPr kumimoji="0" lang="zh-CN" altLang="en-US" sz="2400" b="1" dirty="0">
              <a:latin typeface="Trebuchet MS" panose="020B0603020202020204" pitchFamily="34" charset="0"/>
            </a:endParaRPr>
          </a:p>
          <a:p>
            <a:pPr eaLnBrk="1" hangingPunct="1">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Example:</a:t>
            </a:r>
            <a:r>
              <a:rPr kumimoji="0" lang="en-US" altLang="zh-CN" sz="2400" b="1" dirty="0">
                <a:latin typeface="Trebuchet MS" panose="020B0603020202020204" pitchFamily="34" charset="0"/>
              </a:rPr>
              <a:t>   Prove that if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i="1" dirty="0">
                <a:latin typeface="Trebuchet MS" panose="020B0603020202020204" pitchFamily="34" charset="0"/>
              </a:rPr>
              <a:t> , </a:t>
            </a:r>
            <a:r>
              <a:rPr lang="en-US" sz="2400" dirty="0">
                <a:latin typeface="Trebuchet MS" panose="020B0603020202020204" pitchFamily="34" charset="0"/>
              </a:rPr>
              <a:t>then </a:t>
            </a:r>
            <a:r>
              <a:rPr lang="en-US" sz="2400" b="1" i="1" dirty="0">
                <a:latin typeface="Trebuchet MS" panose="020B0603020202020204" pitchFamily="34" charset="0"/>
              </a:rPr>
              <a:t>R</a:t>
            </a:r>
            <a:r>
              <a:rPr lang="en-US" sz="2400" dirty="0">
                <a:latin typeface="Trebuchet MS" panose="020B0603020202020204" pitchFamily="34" charset="0"/>
              </a:rPr>
              <a:t> is symmetric on </a:t>
            </a:r>
            <a:r>
              <a:rPr lang="en-US" sz="2400" b="1" i="1" dirty="0">
                <a:latin typeface="Trebuchet MS" panose="020B0603020202020204" pitchFamily="34" charset="0"/>
              </a:rPr>
              <a:t>A</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Proof</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Let&lt;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i="1" baseline="-25000" dirty="0">
                <a:latin typeface="Trebuchet MS" panose="020B0603020202020204" pitchFamily="34" charset="0"/>
              </a:rPr>
              <a:t> </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br>
              <a:rPr kumimoji="0" lang="en-US" altLang="zh-CN" sz="2400" b="1" dirty="0">
                <a:latin typeface="Trebuchet MS" panose="020B0603020202020204" pitchFamily="34" charset="0"/>
              </a:rPr>
            </a:br>
            <a:r>
              <a:rPr lang="en-US" sz="2400" dirty="0">
                <a:latin typeface="Trebuchet MS" panose="020B0603020202020204" pitchFamily="34" charset="0"/>
              </a:rPr>
              <a:t>Therefore, </a:t>
            </a:r>
            <a:r>
              <a:rPr lang="en-US" sz="2400" b="1" i="1" dirty="0">
                <a:latin typeface="Trebuchet MS" panose="020B0603020202020204" pitchFamily="34" charset="0"/>
              </a:rPr>
              <a:t>R </a:t>
            </a:r>
            <a:r>
              <a:rPr lang="en-US" sz="2400" dirty="0">
                <a:latin typeface="Trebuchet MS" panose="020B0603020202020204" pitchFamily="34" charset="0"/>
              </a:rPr>
              <a:t>is symmetric on </a:t>
            </a:r>
            <a:r>
              <a:rPr lang="en-US" sz="2400" b="1" i="1" dirty="0">
                <a:latin typeface="Trebuchet MS" panose="020B0603020202020204" pitchFamily="34" charset="0"/>
              </a:rPr>
              <a:t>A</a:t>
            </a:r>
            <a:r>
              <a:rPr kumimoji="0" lang="en-US" altLang="zh-CN" sz="2400" b="1" dirty="0">
                <a:latin typeface="Trebuchet MS" panose="020B0603020202020204" pitchFamily="34" charset="0"/>
              </a:rPr>
              <a:t>.</a:t>
            </a:r>
            <a:endParaRPr lang="zh-CN" altLang="en-US" sz="2800" b="1" dirty="0"/>
          </a:p>
        </p:txBody>
      </p:sp>
      <p:pic>
        <p:nvPicPr>
          <p:cNvPr id="9" name="图片 8">
            <a:extLst>
              <a:ext uri="{FF2B5EF4-FFF2-40B4-BE49-F238E27FC236}">
                <a16:creationId xmlns:a16="http://schemas.microsoft.com/office/drawing/2014/main" id="{58EDCF6B-7438-4294-941B-657866B490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8143" y="3133203"/>
            <a:ext cx="576355" cy="257697"/>
          </a:xfrm>
          <a:prstGeom prst="rect">
            <a:avLst/>
          </a:prstGeom>
        </p:spPr>
      </p:pic>
    </p:spTree>
    <p:extLst>
      <p:ext uri="{BB962C8B-B14F-4D97-AF65-F5344CB8AC3E}">
        <p14:creationId xmlns:p14="http://schemas.microsoft.com/office/powerpoint/2010/main" val="4151813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1000"/>
                                        <p:tgtEl>
                                          <p:spTgt spid="8">
                                            <p:txEl>
                                              <p:pRg st="6" end="6"/>
                                            </p:txEl>
                                          </p:spTgt>
                                        </p:tgtEl>
                                      </p:cBhvr>
                                    </p:animEffect>
                                    <p:anim calcmode="lin" valueType="num">
                                      <p:cBhvr>
                                        <p:cTn id="1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Effect transition="in" filter="fade">
                                      <p:cBhvr>
                                        <p:cTn id="17" dur="1000"/>
                                        <p:tgtEl>
                                          <p:spTgt spid="8">
                                            <p:txEl>
                                              <p:pRg st="7" end="7"/>
                                            </p:txEl>
                                          </p:spTgt>
                                        </p:tgtEl>
                                      </p:cBhvr>
                                    </p:animEffect>
                                    <p:anim calcmode="lin" valueType="num">
                                      <p:cBhvr>
                                        <p:cTn id="1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antisymmetric</a:t>
            </a:r>
            <a:r>
              <a:rPr lang="en-US" altLang="zh-CN" sz="2400" dirty="0"/>
              <a:t> </a:t>
            </a:r>
            <a:r>
              <a:rPr lang="en-US" altLang="zh-CN" sz="2400" b="1" dirty="0"/>
              <a:t>of </a:t>
            </a:r>
            <a:r>
              <a:rPr lang="en-US" altLang="zh-CN" sz="2400" b="1" i="1" dirty="0"/>
              <a:t>R</a:t>
            </a:r>
            <a:r>
              <a:rPr lang="en-US" altLang="zh-CN" sz="2400" b="1" dirty="0"/>
              <a:t> on </a:t>
            </a:r>
            <a:r>
              <a:rPr lang="en-US" altLang="zh-CN" sz="2400" b="1" i="1" dirty="0"/>
              <a:t>A</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868732"/>
            <a:ext cx="9280527" cy="5173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B5BFF"/>
              </a:buClr>
              <a:buSzPct val="80000"/>
              <a:buFont typeface="Wingdings" panose="05000000000000000000" pitchFamily="2" charset="2"/>
              <a:buChar char="n"/>
            </a:pPr>
            <a:r>
              <a:rPr lang="en-US" sz="2400" dirty="0">
                <a:latin typeface="Trebuchet MS" panose="020B0603020202020204" pitchFamily="34" charset="0"/>
              </a:rPr>
              <a:t>To prove that R is antisymmetric on A:</a:t>
            </a:r>
          </a:p>
          <a:p>
            <a:pPr indent="34925">
              <a:spcBef>
                <a:spcPct val="0"/>
              </a:spcBef>
              <a:buClr>
                <a:srgbClr val="0B5BFF"/>
              </a:buClr>
              <a:buSzPct val="120000"/>
            </a:pPr>
            <a:r>
              <a:rPr lang="en-US" altLang="zh-CN" sz="2400" b="1" dirty="0">
                <a:latin typeface="Trebuchet MS" panose="020B0603020202020204" pitchFamily="34" charset="0"/>
              </a:rPr>
              <a:t> Proof Pattern:</a:t>
            </a:r>
            <a:endParaRPr lang="zh-CN" altLang="en-US" sz="2400" b="1" dirty="0">
              <a:latin typeface="Trebuchet MS" panose="020B0603020202020204" pitchFamily="34" charset="0"/>
            </a:endParaRPr>
          </a:p>
          <a:p>
            <a:pPr eaLnBrk="1" hangingPunct="1">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For any &lt;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 </a:t>
            </a:r>
            <a:endParaRPr kumimoji="0" lang="en-US" altLang="zh-CN" sz="2400" b="1" i="1" dirty="0">
              <a:latin typeface="Trebuchet MS" panose="020B0603020202020204" pitchFamily="34" charset="0"/>
            </a:endParaRPr>
          </a:p>
          <a:p>
            <a:pPr eaLnBrk="1" hangingPunct="1">
              <a:spcBef>
                <a:spcPct val="0"/>
              </a:spcBef>
              <a:buFontTx/>
              <a:buNone/>
            </a:pPr>
            <a:r>
              <a:rPr kumimoji="0" lang="en-US" altLang="zh-CN" sz="2400" b="1" i="1" dirty="0">
                <a:latin typeface="Trebuchet MS" panose="020B0603020202020204" pitchFamily="34" charset="0"/>
              </a:rPr>
              <a:t>     &lt;x,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&lt;y, x&gt;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  </a:t>
            </a:r>
            <a:r>
              <a:rPr lang="en-US" altLang="zh-CN" sz="2400" b="1" dirty="0">
                <a:latin typeface="Trebuchet MS" panose="020B0603020202020204" pitchFamily="34" charset="0"/>
              </a:rPr>
              <a:t>…… ……  </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x=y </a:t>
            </a:r>
            <a:endParaRPr kumimoji="0" lang="en-US" altLang="zh-CN" sz="2400" b="1" dirty="0">
              <a:latin typeface="Trebuchet MS" panose="020B0603020202020204" pitchFamily="34" charset="0"/>
            </a:endParaRPr>
          </a:p>
          <a:p>
            <a:pPr eaLnBrk="1" hangingPunct="1">
              <a:spcBef>
                <a:spcPct val="0"/>
              </a:spcBef>
              <a:buFontTx/>
              <a:buNone/>
            </a:pP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    </a:t>
            </a:r>
            <a:r>
              <a:rPr lang="en-US" sz="2400" dirty="0">
                <a:latin typeface="Trebuchet MS" panose="020B0603020202020204" pitchFamily="34" charset="0"/>
              </a:rPr>
              <a:t>Assumption</a:t>
            </a:r>
            <a:r>
              <a:rPr kumimoji="0" lang="zh-CN" altLang="en-US" sz="2400" b="1" dirty="0">
                <a:latin typeface="Trebuchet MS" panose="020B0603020202020204" pitchFamily="34" charset="0"/>
              </a:rPr>
              <a:t>                   </a:t>
            </a:r>
            <a:r>
              <a:rPr lang="en-US" sz="2400" dirty="0">
                <a:latin typeface="Trebuchet MS" panose="020B0603020202020204" pitchFamily="34" charset="0"/>
              </a:rPr>
              <a:t>Reasoning process     </a:t>
            </a:r>
            <a:r>
              <a:rPr kumimoji="0" lang="zh-CN" altLang="en-US" sz="2400" b="1" dirty="0">
                <a:latin typeface="Trebuchet MS" panose="020B0603020202020204" pitchFamily="34" charset="0"/>
              </a:rPr>
              <a:t> </a:t>
            </a:r>
            <a:r>
              <a:rPr lang="en-US" sz="2400" dirty="0">
                <a:latin typeface="Trebuchet MS" panose="020B0603020202020204" pitchFamily="34" charset="0"/>
              </a:rPr>
              <a:t>Conclusion</a:t>
            </a:r>
            <a:endParaRPr kumimoji="0" lang="zh-CN" altLang="en-US" sz="2400" b="1" dirty="0">
              <a:latin typeface="Trebuchet MS" panose="020B0603020202020204" pitchFamily="34" charset="0"/>
            </a:endParaRPr>
          </a:p>
          <a:p>
            <a:pPr marL="457200" lvl="1" indent="0">
              <a:buNone/>
            </a:pPr>
            <a:endParaRPr lang="en-US" altLang="zh-CN" b="1" dirty="0">
              <a:latin typeface="Trebuchet MS" panose="020B0603020202020204" pitchFamily="34" charset="0"/>
            </a:endParaRPr>
          </a:p>
          <a:p>
            <a:pPr eaLnBrk="1" hangingPunct="1">
              <a:lnSpc>
                <a:spcPct val="120000"/>
              </a:lnSpc>
              <a:spcBef>
                <a:spcPct val="0"/>
              </a:spcBef>
              <a:buFontTx/>
              <a:buNone/>
            </a:pPr>
            <a:r>
              <a:rPr lang="en-US" altLang="zh-CN" sz="2400" b="1" dirty="0">
                <a:latin typeface="Trebuchet MS" panose="020B0603020202020204" pitchFamily="34" charset="0"/>
              </a:rPr>
              <a:t>      Example:  Prove</a:t>
            </a:r>
            <a:r>
              <a:rPr lang="zh-CN" altLang="en-US" sz="2400" b="1" dirty="0">
                <a:latin typeface="Trebuchet MS" panose="020B0603020202020204" pitchFamily="34" charset="0"/>
              </a:rPr>
              <a:t> </a:t>
            </a:r>
            <a:r>
              <a:rPr lang="en-US" altLang="zh-CN" sz="2400" b="1" dirty="0">
                <a:latin typeface="Trebuchet MS" panose="020B0603020202020204" pitchFamily="34" charset="0"/>
              </a:rPr>
              <a:t>that</a:t>
            </a:r>
            <a:r>
              <a:rPr lang="zh-CN" altLang="en-US" sz="2400" b="1" dirty="0">
                <a:latin typeface="Trebuchet MS" panose="020B0603020202020204" pitchFamily="34" charset="0"/>
              </a:rPr>
              <a:t> </a:t>
            </a:r>
            <a:r>
              <a:rPr lang="en-US" altLang="zh-CN" sz="2400" b="1" dirty="0">
                <a:latin typeface="Trebuchet MS" panose="020B0603020202020204" pitchFamily="34" charset="0"/>
              </a:rPr>
              <a:t>if</a:t>
            </a:r>
            <a:r>
              <a:rPr lang="zh-CN" altLang="en-US" sz="2400" b="1" dirty="0">
                <a:latin typeface="Trebuchet MS" panose="020B0603020202020204" pitchFamily="34" charset="0"/>
              </a:rPr>
              <a: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 </a:t>
            </a:r>
            <a:r>
              <a:rPr lang="en-US" altLang="zh-CN" sz="2400" b="1" i="1"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 is </a:t>
            </a:r>
            <a:r>
              <a:rPr lang="en-US" sz="2400" dirty="0">
                <a:latin typeface="Trebuchet MS" panose="020B0603020202020204" pitchFamily="34" charset="0"/>
              </a:rPr>
              <a:t>antisymmetric on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lang="en-US" altLang="zh-CN" sz="2400" b="1" dirty="0">
                <a:latin typeface="Trebuchet MS" panose="020B0603020202020204" pitchFamily="34" charset="0"/>
              </a:rPr>
              <a:t>    Proof</a:t>
            </a:r>
            <a:r>
              <a:rPr lang="zh-CN" altLang="en-US" sz="2400" b="1"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For any &lt;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 x</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 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i="1" baseline="-25000" dirty="0">
                <a:latin typeface="Trebuchet MS" panose="020B0603020202020204" pitchFamily="34" charset="0"/>
              </a:rPr>
              <a:t> </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x=y</a:t>
            </a:r>
            <a:r>
              <a:rPr kumimoji="0" lang="en-US" altLang="zh-CN" sz="2400" b="1" dirty="0">
                <a:latin typeface="Trebuchet MS" panose="020B0603020202020204" pitchFamily="34" charset="0"/>
              </a:rPr>
              <a:t> </a:t>
            </a:r>
            <a:br>
              <a:rPr kumimoji="0" lang="en-US" altLang="zh-CN" sz="2400" b="1" dirty="0">
                <a:latin typeface="Trebuchet MS" panose="020B0603020202020204" pitchFamily="34" charset="0"/>
              </a:rPr>
            </a:br>
            <a:r>
              <a:rPr lang="en-US" sz="2400" dirty="0">
                <a:latin typeface="Trebuchet MS" panose="020B0603020202020204" pitchFamily="34" charset="0"/>
              </a:rPr>
              <a:t>Therefore, </a:t>
            </a:r>
            <a:r>
              <a:rPr lang="en-US" sz="2400" b="1" i="1" dirty="0">
                <a:latin typeface="Trebuchet MS" panose="020B0603020202020204" pitchFamily="34" charset="0"/>
              </a:rPr>
              <a:t>R</a:t>
            </a:r>
            <a:r>
              <a:rPr lang="en-US" sz="2400" dirty="0">
                <a:latin typeface="Trebuchet MS" panose="020B0603020202020204" pitchFamily="34" charset="0"/>
              </a:rPr>
              <a:t> is antisymmetric on </a:t>
            </a:r>
            <a:r>
              <a:rPr lang="en-US" sz="2400" b="1" i="1" dirty="0">
                <a:latin typeface="Trebuchet MS" panose="020B0603020202020204" pitchFamily="34" charset="0"/>
              </a:rPr>
              <a:t>A</a:t>
            </a:r>
            <a:r>
              <a:rPr lang="en-US" sz="2400" dirty="0">
                <a:latin typeface="Trebuchet MS" panose="020B0603020202020204" pitchFamily="34" charset="0"/>
              </a:rPr>
              <a:t>.</a:t>
            </a:r>
            <a:endParaRPr kumimoji="0" lang="en-US" altLang="zh-CN" sz="2400" b="1" dirty="0">
              <a:latin typeface="Trebuchet MS" panose="020B0603020202020204" pitchFamily="34" charset="0"/>
            </a:endParaRPr>
          </a:p>
          <a:p>
            <a:pPr marL="457200" lvl="1" indent="0">
              <a:buNone/>
            </a:pPr>
            <a:endParaRPr lang="zh-CN" altLang="en-US" b="1" dirty="0">
              <a:latin typeface="Trebuchet MS" panose="020B0603020202020204" pitchFamily="34" charset="0"/>
            </a:endParaRPr>
          </a:p>
        </p:txBody>
      </p:sp>
      <p:pic>
        <p:nvPicPr>
          <p:cNvPr id="9" name="图片 8">
            <a:extLst>
              <a:ext uri="{FF2B5EF4-FFF2-40B4-BE49-F238E27FC236}">
                <a16:creationId xmlns:a16="http://schemas.microsoft.com/office/drawing/2014/main" id="{48033281-AF85-473C-860D-FCB37C99C4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8143" y="3064623"/>
            <a:ext cx="576355" cy="257697"/>
          </a:xfrm>
          <a:prstGeom prst="rect">
            <a:avLst/>
          </a:prstGeom>
        </p:spPr>
      </p:pic>
    </p:spTree>
    <p:extLst>
      <p:ext uri="{BB962C8B-B14F-4D97-AF65-F5344CB8AC3E}">
        <p14:creationId xmlns:p14="http://schemas.microsoft.com/office/powerpoint/2010/main" val="1165716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1000"/>
                                        <p:tgtEl>
                                          <p:spTgt spid="8">
                                            <p:txEl>
                                              <p:pRg st="6" end="6"/>
                                            </p:txEl>
                                          </p:spTgt>
                                        </p:tgtEl>
                                      </p:cBhvr>
                                    </p:animEffect>
                                    <p:anim calcmode="lin" valueType="num">
                                      <p:cBhvr>
                                        <p:cTn id="1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Effect transition="in" filter="fade">
                                      <p:cBhvr>
                                        <p:cTn id="17" dur="1000"/>
                                        <p:tgtEl>
                                          <p:spTgt spid="8">
                                            <p:txEl>
                                              <p:pRg st="7" end="7"/>
                                            </p:txEl>
                                          </p:spTgt>
                                        </p:tgtEl>
                                      </p:cBhvr>
                                    </p:animEffect>
                                    <p:anim calcmode="lin" valueType="num">
                                      <p:cBhvr>
                                        <p:cTn id="1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8" end="8"/>
                                            </p:txEl>
                                          </p:spTgt>
                                        </p:tgtEl>
                                        <p:attrNameLst>
                                          <p:attrName>style.visibility</p:attrName>
                                        </p:attrNameLst>
                                      </p:cBhvr>
                                      <p:to>
                                        <p:strVal val="visible"/>
                                      </p:to>
                                    </p:set>
                                    <p:animEffect transition="in" filter="fade">
                                      <p:cBhvr>
                                        <p:cTn id="22" dur="1000"/>
                                        <p:tgtEl>
                                          <p:spTgt spid="8">
                                            <p:txEl>
                                              <p:pRg st="8" end="8"/>
                                            </p:txEl>
                                          </p:spTgt>
                                        </p:tgtEl>
                                      </p:cBhvr>
                                    </p:animEffect>
                                    <p:anim calcmode="lin" valueType="num">
                                      <p:cBhvr>
                                        <p:cTn id="23"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a:t>
            </a:r>
            <a:r>
              <a:rPr lang="en-US" altLang="zh-CN" sz="2400" b="1" dirty="0">
                <a:latin typeface="Trebuchet MS" panose="020B0603020202020204" pitchFamily="34" charset="0"/>
              </a:rPr>
              <a:t>transitive </a:t>
            </a:r>
            <a:r>
              <a:rPr lang="en-US" altLang="zh-CN" sz="2400" b="1" dirty="0"/>
              <a:t>of </a:t>
            </a:r>
            <a:r>
              <a:rPr lang="en-US" altLang="zh-CN" sz="2400" b="1" i="1" dirty="0"/>
              <a:t>R</a:t>
            </a:r>
            <a:r>
              <a:rPr lang="en-US" altLang="zh-CN" sz="2400" b="1" dirty="0"/>
              <a:t> on </a:t>
            </a:r>
            <a:r>
              <a:rPr lang="en-US" altLang="zh-CN" sz="2400" b="1" i="1" dirty="0"/>
              <a:t>A</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822326"/>
            <a:ext cx="9440547" cy="46640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altLang="zh-CN" sz="2400" dirty="0">
                <a:latin typeface="Trebuchet MS" panose="020B0603020202020204" pitchFamily="34" charset="0"/>
              </a:rPr>
              <a:t>To prove that </a:t>
            </a:r>
            <a:r>
              <a:rPr lang="en-US" altLang="zh-CN" sz="2400" b="1" dirty="0">
                <a:latin typeface="Trebuchet MS" panose="020B0603020202020204" pitchFamily="34" charset="0"/>
              </a:rPr>
              <a:t>R</a:t>
            </a:r>
            <a:r>
              <a:rPr lang="en-US" altLang="zh-CN" sz="2400" dirty="0">
                <a:latin typeface="Trebuchet MS" panose="020B0603020202020204" pitchFamily="34" charset="0"/>
              </a:rPr>
              <a:t> is transitive on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indent="34925">
              <a:spcBef>
                <a:spcPct val="0"/>
              </a:spcBef>
              <a:buClr>
                <a:srgbClr val="0B5BFF"/>
              </a:buClr>
              <a:buSzPct val="120000"/>
            </a:pPr>
            <a:r>
              <a:rPr lang="en-US" altLang="zh-CN" sz="2400" b="1" dirty="0">
                <a:latin typeface="Trebuchet MS" panose="020B0603020202020204" pitchFamily="34" charset="0"/>
              </a:rPr>
              <a:t> Proof Pattern:</a:t>
            </a:r>
            <a:endParaRPr lang="zh-CN" altLang="en-US" sz="2400" b="1" dirty="0">
              <a:latin typeface="Trebuchet MS" panose="020B0603020202020204" pitchFamily="34" charset="0"/>
            </a:endParaRPr>
          </a:p>
          <a:p>
            <a:pPr indent="217488" eaLnBrk="1" hangingPunct="1">
              <a:lnSpc>
                <a:spcPct val="120000"/>
              </a:lnSpc>
              <a:spcBef>
                <a:spcPts val="300"/>
              </a:spcBef>
              <a:buFontTx/>
              <a:buNone/>
            </a:pPr>
            <a:r>
              <a:rPr lang="en-US" altLang="zh-CN" sz="2400" b="1" dirty="0">
                <a:latin typeface="Trebuchet MS" panose="020B0603020202020204" pitchFamily="34" charset="0"/>
              </a:rPr>
              <a:t>For</a:t>
            </a:r>
            <a:r>
              <a:rPr lang="zh-CN" altLang="en-US" sz="2400" b="1" dirty="0">
                <a:latin typeface="Trebuchet MS" panose="020B0603020202020204" pitchFamily="34" charset="0"/>
              </a:rPr>
              <a:t> </a:t>
            </a:r>
            <a:r>
              <a:rPr lang="en-US" altLang="zh-CN" sz="2400" b="1" dirty="0">
                <a:latin typeface="Trebuchet MS" panose="020B0603020202020204" pitchFamily="34" charset="0"/>
              </a:rPr>
              <a:t>any</a:t>
            </a:r>
            <a:r>
              <a:rPr lang="zh-CN" altLang="en-US" sz="2400" b="1" dirty="0">
                <a:latin typeface="Trebuchet MS" panose="020B0603020202020204" pitchFamily="34" charset="0"/>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 z</a:t>
            </a:r>
            <a:r>
              <a:rPr kumimoji="0" lang="en-US" altLang="zh-CN" sz="2400" b="1" dirty="0">
                <a:latin typeface="Trebuchet MS" panose="020B0603020202020204" pitchFamily="34" charset="0"/>
              </a:rPr>
              <a:t>&gt; </a:t>
            </a:r>
            <a:endParaRPr kumimoji="0" lang="en-US" altLang="zh-CN" sz="2400" b="1" i="1" dirty="0">
              <a:latin typeface="Trebuchet MS" panose="020B0603020202020204" pitchFamily="34" charset="0"/>
            </a:endParaRPr>
          </a:p>
          <a:p>
            <a:pPr indent="217488" eaLnBrk="1" hangingPunct="1">
              <a:lnSpc>
                <a:spcPct val="120000"/>
              </a:lnSpc>
              <a:spcBef>
                <a:spcPts val="300"/>
              </a:spcBef>
              <a:buFontTx/>
              <a:buNone/>
            </a:pPr>
            <a:r>
              <a:rPr kumimoji="0" lang="en-US" altLang="zh-CN" sz="2400" b="1" i="1" dirty="0">
                <a:latin typeface="Trebuchet MS" panose="020B0603020202020204" pitchFamily="34" charset="0"/>
              </a:rPr>
              <a:t>     &lt;x,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 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endParaRPr kumimoji="0" lang="en-US" altLang="zh-CN" sz="2400" b="1" dirty="0">
              <a:latin typeface="Trebuchet MS" panose="020B0603020202020204" pitchFamily="34" charset="0"/>
            </a:endParaRPr>
          </a:p>
          <a:p>
            <a:pPr indent="217488" eaLnBrk="1" hangingPunct="1">
              <a:lnSpc>
                <a:spcPct val="120000"/>
              </a:lnSpc>
              <a:spcBef>
                <a:spcPts val="300"/>
              </a:spcBef>
              <a:buFontTx/>
              <a:buNone/>
            </a:pPr>
            <a:r>
              <a:rPr kumimoji="0" lang="en-US" altLang="zh-CN" sz="2400" b="1" dirty="0">
                <a:latin typeface="Trebuchet MS" panose="020B0603020202020204" pitchFamily="34" charset="0"/>
              </a:rPr>
              <a:t> 		</a:t>
            </a:r>
            <a:r>
              <a:rPr lang="en-US" sz="2400" dirty="0">
                <a:latin typeface="Trebuchet MS" panose="020B0603020202020204" pitchFamily="34" charset="0"/>
              </a:rPr>
              <a:t>Assumption</a:t>
            </a:r>
            <a:r>
              <a:rPr kumimoji="0" lang="zh-CN" altLang="en-US" sz="2400" b="1" dirty="0">
                <a:latin typeface="Trebuchet MS" panose="020B0603020202020204" pitchFamily="34" charset="0"/>
              </a:rPr>
              <a:t>  </a:t>
            </a:r>
            <a:r>
              <a:rPr lang="en-US" sz="2400" dirty="0">
                <a:latin typeface="Trebuchet MS" panose="020B0603020202020204" pitchFamily="34" charset="0"/>
              </a:rPr>
              <a:t>Reasoning process</a:t>
            </a:r>
            <a:r>
              <a:rPr kumimoji="0" lang="zh-CN" altLang="en-US" sz="2400" b="1" dirty="0">
                <a:latin typeface="Trebuchet MS" panose="020B0603020202020204" pitchFamily="34" charset="0"/>
              </a:rPr>
              <a:t> </a:t>
            </a:r>
            <a:r>
              <a:rPr lang="en-US" sz="2400" dirty="0">
                <a:latin typeface="Trebuchet MS" panose="020B0603020202020204" pitchFamily="34" charset="0"/>
              </a:rPr>
              <a:t>Conclusion</a:t>
            </a:r>
          </a:p>
          <a:p>
            <a:pPr indent="217488" eaLnBrk="1" hangingPunct="1">
              <a:lnSpc>
                <a:spcPct val="120000"/>
              </a:lnSpc>
              <a:spcBef>
                <a:spcPts val="300"/>
              </a:spcBef>
              <a:buFontTx/>
              <a:buNone/>
            </a:pPr>
            <a:endParaRPr kumimoji="0" lang="en-US" altLang="zh-CN" sz="2400" b="1" dirty="0">
              <a:latin typeface="Trebuchet MS" panose="020B0603020202020204" pitchFamily="34" charset="0"/>
            </a:endParaRPr>
          </a:p>
          <a:p>
            <a:pPr eaLnBrk="1" hangingPunct="1">
              <a:lnSpc>
                <a:spcPct val="120000"/>
              </a:lnSpc>
              <a:spcBef>
                <a:spcPts val="300"/>
              </a:spcBef>
              <a:buFontTx/>
              <a:buNone/>
            </a:pPr>
            <a:r>
              <a:rPr lang="en-US" sz="2400" b="1" dirty="0">
                <a:latin typeface="Trebuchet MS" panose="020B0603020202020204" pitchFamily="34" charset="0"/>
              </a:rPr>
              <a:t>       Example 7</a:t>
            </a:r>
            <a:r>
              <a:rPr lang="en-US" sz="2400" dirty="0">
                <a:latin typeface="Trebuchet MS" panose="020B0603020202020204" pitchFamily="34" charset="0"/>
              </a:rPr>
              <a:t>: Prove that if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 </a:t>
            </a:r>
            <a:r>
              <a:rPr lang="en-US" sz="2400" dirty="0">
                <a:latin typeface="Trebuchet MS" panose="020B0603020202020204" pitchFamily="34" charset="0"/>
              </a:rPr>
              <a:t>is transitive on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p>
          <a:p>
            <a:pPr indent="400050" eaLnBrk="1" hangingPunct="1">
              <a:lnSpc>
                <a:spcPct val="120000"/>
              </a:lnSpc>
              <a:spcBef>
                <a:spcPts val="300"/>
              </a:spcBef>
              <a:buFontTx/>
              <a:buNone/>
            </a:pPr>
            <a:r>
              <a:rPr lang="en-US" sz="2400" b="1" dirty="0">
                <a:latin typeface="Trebuchet MS" panose="020B0603020202020204" pitchFamily="34" charset="0"/>
              </a:rPr>
              <a:t>Proof</a:t>
            </a:r>
            <a:r>
              <a:rPr lang="en-US" sz="2400"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Let&lt;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&gt;</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 z</a:t>
            </a:r>
            <a:r>
              <a:rPr kumimoji="0" lang="en-US" altLang="zh-CN" sz="2400" b="1" dirty="0">
                <a:latin typeface="Trebuchet MS" panose="020B0603020202020204" pitchFamily="34" charset="0"/>
              </a:rPr>
              <a:t>&gt; </a:t>
            </a:r>
            <a:endParaRPr kumimoji="0" lang="en-US" altLang="zh-CN" sz="2400" b="1" i="1" dirty="0">
              <a:latin typeface="Trebuchet MS" panose="020B0603020202020204" pitchFamily="34" charset="0"/>
            </a:endParaRPr>
          </a:p>
          <a:p>
            <a:pPr eaLnBrk="1" hangingPunct="1">
              <a:lnSpc>
                <a:spcPct val="120000"/>
              </a:lnSpc>
              <a:spcBef>
                <a:spcPts val="300"/>
              </a:spcBef>
              <a:buFontTx/>
              <a:buNone/>
            </a:pPr>
            <a:r>
              <a:rPr kumimoji="0" lang="en-US" altLang="zh-CN" sz="2400" b="1" dirty="0">
                <a:latin typeface="Trebuchet MS" panose="020B0603020202020204" pitchFamily="34" charset="0"/>
              </a:rPr>
              <a:t>        &lt;</a:t>
            </a:r>
            <a:r>
              <a:rPr kumimoji="0" lang="en-US" altLang="zh-CN" sz="2400" b="1" i="1" dirty="0">
                <a:latin typeface="Trebuchet MS" panose="020B0603020202020204" pitchFamily="34" charset="0"/>
              </a:rPr>
              <a:t>x, y&gt;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y, 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z</a:t>
            </a:r>
            <a:r>
              <a:rPr kumimoji="0" lang="en-US" altLang="zh-CN" sz="2400" b="1" dirty="0">
                <a:latin typeface="Trebuchet MS" panose="020B0603020202020204" pitchFamily="34" charset="0"/>
              </a:rPr>
              <a:t>&gt;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R   </a:t>
            </a:r>
          </a:p>
          <a:p>
            <a:pPr eaLnBrk="1" hangingPunct="1">
              <a:lnSpc>
                <a:spcPct val="120000"/>
              </a:lnSpc>
              <a:spcBef>
                <a:spcPts val="300"/>
              </a:spcBef>
              <a:buFontTx/>
              <a:buNone/>
            </a:pPr>
            <a:r>
              <a:rPr lang="en-US" sz="2400" b="1" i="1" dirty="0">
                <a:latin typeface="Trebuchet MS" panose="020B0603020202020204" pitchFamily="34" charset="0"/>
              </a:rPr>
              <a:t>      </a:t>
            </a:r>
            <a:r>
              <a:rPr lang="en-US" sz="2400" dirty="0">
                <a:latin typeface="Trebuchet MS" panose="020B0603020202020204" pitchFamily="34" charset="0"/>
              </a:rPr>
              <a:t>Therefore, </a:t>
            </a:r>
            <a:r>
              <a:rPr lang="en-US" sz="2400" b="1" i="1" dirty="0">
                <a:latin typeface="Trebuchet MS" panose="020B0603020202020204" pitchFamily="34" charset="0"/>
              </a:rPr>
              <a:t>R</a:t>
            </a:r>
            <a:r>
              <a:rPr lang="en-US" sz="2400" dirty="0">
                <a:latin typeface="Trebuchet MS" panose="020B0603020202020204" pitchFamily="34" charset="0"/>
              </a:rPr>
              <a:t> is transitive on </a:t>
            </a:r>
            <a:r>
              <a:rPr lang="en-US" sz="2400" b="1" i="1" dirty="0">
                <a:latin typeface="Trebuchet MS" panose="020B0603020202020204" pitchFamily="34" charset="0"/>
              </a:rPr>
              <a:t>A</a:t>
            </a:r>
            <a:r>
              <a:rPr lang="en-US" sz="2400" dirty="0">
                <a:latin typeface="Trebuchet MS" panose="020B0603020202020204" pitchFamily="34" charset="0"/>
              </a:rPr>
              <a:t>.</a:t>
            </a:r>
            <a:br>
              <a:rPr kumimoji="0" lang="en-US" altLang="zh-CN" sz="2400" b="1" dirty="0">
                <a:latin typeface="Trebuchet MS" panose="020B0603020202020204" pitchFamily="34" charset="0"/>
              </a:rPr>
            </a:br>
            <a:endParaRPr kumimoji="0" lang="en-US" altLang="zh-CN" sz="2400" b="1" dirty="0">
              <a:latin typeface="Trebuchet MS" panose="020B0603020202020204" pitchFamily="34" charset="0"/>
            </a:endParaRPr>
          </a:p>
          <a:p>
            <a:pPr eaLnBrk="1" hangingPunct="1">
              <a:spcBef>
                <a:spcPct val="0"/>
              </a:spcBef>
              <a:buFontTx/>
              <a:buNone/>
            </a:pPr>
            <a:endParaRPr kumimoji="0" lang="zh-CN" altLang="en-US" sz="2800" b="1" dirty="0"/>
          </a:p>
          <a:p>
            <a:pPr eaLnBrk="1" hangingPunct="1">
              <a:spcBef>
                <a:spcPct val="0"/>
              </a:spcBef>
              <a:buFontTx/>
              <a:buNone/>
            </a:pPr>
            <a:r>
              <a:rPr kumimoji="0" lang="en-US" altLang="zh-CN" sz="2800" b="1" i="1" dirty="0"/>
              <a:t>     </a:t>
            </a:r>
            <a:endParaRPr lang="zh-CN" altLang="en-US" sz="2800" b="1" dirty="0"/>
          </a:p>
        </p:txBody>
      </p:sp>
      <p:pic>
        <p:nvPicPr>
          <p:cNvPr id="9" name="图片 8">
            <a:extLst>
              <a:ext uri="{FF2B5EF4-FFF2-40B4-BE49-F238E27FC236}">
                <a16:creationId xmlns:a16="http://schemas.microsoft.com/office/drawing/2014/main" id="{C84071E0-4A65-4D0E-8A10-C5B124F2AC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98153" y="3670413"/>
            <a:ext cx="576355" cy="257697"/>
          </a:xfrm>
          <a:prstGeom prst="rect">
            <a:avLst/>
          </a:prstGeom>
        </p:spPr>
      </p:pic>
    </p:spTree>
    <p:extLst>
      <p:ext uri="{BB962C8B-B14F-4D97-AF65-F5344CB8AC3E}">
        <p14:creationId xmlns:p14="http://schemas.microsoft.com/office/powerpoint/2010/main" val="2102565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1000"/>
                                        <p:tgtEl>
                                          <p:spTgt spid="8">
                                            <p:txEl>
                                              <p:pRg st="6" end="6"/>
                                            </p:txEl>
                                          </p:spTgt>
                                        </p:tgtEl>
                                      </p:cBhvr>
                                    </p:animEffect>
                                    <p:anim calcmode="lin" valueType="num">
                                      <p:cBhvr>
                                        <p:cTn id="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7" end="7"/>
                                            </p:txEl>
                                          </p:spTgt>
                                        </p:tgtEl>
                                        <p:attrNameLst>
                                          <p:attrName>style.visibility</p:attrName>
                                        </p:attrNameLst>
                                      </p:cBhvr>
                                      <p:to>
                                        <p:strVal val="visible"/>
                                      </p:to>
                                    </p:set>
                                    <p:animEffect transition="in" filter="fade">
                                      <p:cBhvr>
                                        <p:cTn id="12" dur="1000"/>
                                        <p:tgtEl>
                                          <p:spTgt spid="8">
                                            <p:txEl>
                                              <p:pRg st="7" end="7"/>
                                            </p:txEl>
                                          </p:spTgt>
                                        </p:tgtEl>
                                      </p:cBhvr>
                                    </p:animEffect>
                                    <p:anim calcmode="lin" valueType="num">
                                      <p:cBhvr>
                                        <p:cTn id="1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8" end="8"/>
                                            </p:txEl>
                                          </p:spTgt>
                                        </p:tgtEl>
                                        <p:attrNameLst>
                                          <p:attrName>style.visibility</p:attrName>
                                        </p:attrNameLst>
                                      </p:cBhvr>
                                      <p:to>
                                        <p:strVal val="visible"/>
                                      </p:to>
                                    </p:set>
                                    <p:animEffect transition="in" filter="fade">
                                      <p:cBhvr>
                                        <p:cTn id="17" dur="1000"/>
                                        <p:tgtEl>
                                          <p:spTgt spid="8">
                                            <p:txEl>
                                              <p:pRg st="8" end="8"/>
                                            </p:txEl>
                                          </p:spTgt>
                                        </p:tgtEl>
                                      </p:cBhvr>
                                    </p:animEffect>
                                    <p:anim calcmode="lin" valueType="num">
                                      <p:cBhvr>
                                        <p:cTn id="18"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8" end="8"/>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9" end="9"/>
                                            </p:txEl>
                                          </p:spTgt>
                                        </p:tgtEl>
                                        <p:attrNameLst>
                                          <p:attrName>style.visibility</p:attrName>
                                        </p:attrNameLst>
                                      </p:cBhvr>
                                      <p:to>
                                        <p:strVal val="visible"/>
                                      </p:to>
                                    </p:set>
                                    <p:animEffect transition="in" filter="fade">
                                      <p:cBhvr>
                                        <p:cTn id="22" dur="1000"/>
                                        <p:tgtEl>
                                          <p:spTgt spid="8">
                                            <p:txEl>
                                              <p:pRg st="9" end="9"/>
                                            </p:txEl>
                                          </p:spTgt>
                                        </p:tgtEl>
                                      </p:cBhvr>
                                    </p:animEffect>
                                    <p:anim calcmode="lin" valueType="num">
                                      <p:cBhvr>
                                        <p:cTn id="23"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9" end="9"/>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Comparison Table of Properties of Relation </a:t>
            </a:r>
            <a:r>
              <a:rPr lang="en-US" altLang="zh-CN" sz="2400" b="1" i="1" dirty="0">
                <a:latin typeface="Trebuchet MS" panose="020B0603020202020204" pitchFamily="34" charset="0"/>
              </a:rPr>
              <a:t>R</a:t>
            </a:r>
            <a:endParaRPr lang="zh-CN" altLang="en-US" sz="2400" b="1" i="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Group 63">
            <a:extLst>
              <a:ext uri="{FF2B5EF4-FFF2-40B4-BE49-F238E27FC236}">
                <a16:creationId xmlns:a16="http://schemas.microsoft.com/office/drawing/2014/main" id="{25BEE3C9-9048-4298-83F9-9FC96D8AC9E3}"/>
              </a:ext>
            </a:extLst>
          </p:cNvPr>
          <p:cNvGraphicFramePr>
            <a:graphicFrameLocks noGrp="1"/>
          </p:cNvGraphicFramePr>
          <p:nvPr>
            <p:ph idx="1"/>
            <p:extLst>
              <p:ext uri="{D42A27DB-BD31-4B8C-83A1-F6EECF244321}">
                <p14:modId xmlns:p14="http://schemas.microsoft.com/office/powerpoint/2010/main" val="501104937"/>
              </p:ext>
            </p:extLst>
          </p:nvPr>
        </p:nvGraphicFramePr>
        <p:xfrm>
          <a:off x="912403" y="1169026"/>
          <a:ext cx="10709912" cy="4587646"/>
        </p:xfrm>
        <a:graphic>
          <a:graphicData uri="http://schemas.openxmlformats.org/drawingml/2006/table">
            <a:tbl>
              <a:tblPr>
                <a:tableStyleId>{E8B1032C-EA38-4F05-BA0D-38AFFFC7BED3}</a:tableStyleId>
              </a:tblPr>
              <a:tblGrid>
                <a:gridCol w="1565910">
                  <a:extLst>
                    <a:ext uri="{9D8B030D-6E8A-4147-A177-3AD203B41FA5}">
                      <a16:colId xmlns:a16="http://schemas.microsoft.com/office/drawing/2014/main" val="20000"/>
                    </a:ext>
                  </a:extLst>
                </a:gridCol>
                <a:gridCol w="1120140">
                  <a:extLst>
                    <a:ext uri="{9D8B030D-6E8A-4147-A177-3AD203B41FA5}">
                      <a16:colId xmlns:a16="http://schemas.microsoft.com/office/drawing/2014/main" val="20001"/>
                    </a:ext>
                  </a:extLst>
                </a:gridCol>
                <a:gridCol w="261747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983232">
                  <a:extLst>
                    <a:ext uri="{9D8B030D-6E8A-4147-A177-3AD203B41FA5}">
                      <a16:colId xmlns:a16="http://schemas.microsoft.com/office/drawing/2014/main" val="20004"/>
                    </a:ext>
                  </a:extLst>
                </a:gridCol>
              </a:tblGrid>
              <a:tr h="9515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000" b="1" dirty="0">
                          <a:latin typeface="Trebuchet MS" panose="020B0603020202020204" pitchFamily="34" charset="0"/>
                        </a:rPr>
                        <a:t>Relation Properties</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Expression</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Definition</a:t>
                      </a:r>
                      <a:endParaRPr kumimoji="1" lang="zh-CN" altLang="en-US" sz="2000" b="1" i="0"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Relation Matrix</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Relation Diagram</a:t>
                      </a:r>
                    </a:p>
                  </a:txBody>
                  <a:tcPr marL="91444" marR="91444" marT="45700" marB="45700" anchor="ctr" anchorCtr="1" horzOverflow="overflow">
                    <a:solidFill>
                      <a:srgbClr val="DEDAF8"/>
                    </a:solidFill>
                  </a:tcPr>
                </a:tc>
                <a:extLst>
                  <a:ext uri="{0D108BD9-81ED-4DB2-BD59-A6C34878D82A}">
                    <a16:rowId xmlns:a16="http://schemas.microsoft.com/office/drawing/2014/main" val="10000"/>
                  </a:ext>
                </a:extLst>
              </a:tr>
              <a:tr h="8688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dirty="0">
                          <a:latin typeface="Trebuchet MS" panose="020B0603020202020204" pitchFamily="34" charset="0"/>
                        </a:rPr>
                        <a:t>Reflexivity</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chemeClr val="accent2">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cap="none" normalizeH="0" baseline="0" dirty="0">
                          <a:ln>
                            <a:noFill/>
                          </a:ln>
                          <a:effectLst/>
                          <a:latin typeface="Trebuchet MS" panose="020B0603020202020204" pitchFamily="34" charset="0"/>
                        </a:rPr>
                        <a:t>I</a:t>
                      </a:r>
                      <a:r>
                        <a:rPr kumimoji="1" lang="en-US" altLang="zh-CN" sz="2000" b="1" i="1" u="none" strike="noStrike" cap="none" normalizeH="0" baseline="-30000" dirty="0">
                          <a:ln>
                            <a:noFill/>
                          </a:ln>
                          <a:effectLst/>
                          <a:latin typeface="Trebuchet MS" panose="020B0603020202020204" pitchFamily="34" charset="0"/>
                        </a:rPr>
                        <a:t>A</a:t>
                      </a:r>
                      <a:r>
                        <a:rPr kumimoji="1" lang="en-US" altLang="zh-CN" sz="2000" b="1" u="none" strike="noStrike" cap="none" normalizeH="0" baseline="0" dirty="0">
                          <a:ln>
                            <a:noFill/>
                          </a:ln>
                          <a:effectLst/>
                          <a:latin typeface="Trebuchet MS" panose="020B0603020202020204" pitchFamily="34" charset="0"/>
                          <a:sym typeface="Symbol" pitchFamily="18" charset="2"/>
                        </a:rPr>
                        <a:t></a:t>
                      </a:r>
                      <a:r>
                        <a:rPr kumimoji="1" lang="en-US" altLang="zh-CN" sz="2000" b="1" i="1" u="none" strike="noStrike" cap="none" normalizeH="0" baseline="0" dirty="0">
                          <a:ln>
                            <a:noFill/>
                          </a:ln>
                          <a:effectLst/>
                          <a:latin typeface="Trebuchet MS" panose="020B0603020202020204" pitchFamily="34" charset="0"/>
                        </a:rPr>
                        <a:t>R</a:t>
                      </a:r>
                      <a:endParaRPr kumimoji="1" lang="en-US" altLang="zh-CN" sz="2000" b="1" i="1" u="none" strike="noStrike" cap="none" normalizeH="0" baseline="0" dirty="0">
                        <a:ln>
                          <a:noFill/>
                        </a:ln>
                        <a:solidFill>
                          <a:srgbClr val="000000"/>
                        </a:solidFill>
                        <a:effectLst/>
                        <a:latin typeface="Trebuchet MS" panose="020B0603020202020204" pitchFamily="34" charset="0"/>
                        <a:ea typeface="华文中宋" pitchFamily="2" charset="-122"/>
                        <a:cs typeface="Times New Roman" pitchFamily="18" charset="0"/>
                        <a:sym typeface="Symbol" pitchFamily="18" charset="2"/>
                      </a:endParaRPr>
                    </a:p>
                  </a:txBody>
                  <a:tcPr marL="91444" marR="91444" marT="45700" marB="45700" anchor="ctr" anchorCtr="1" horzOverflow="overflow">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000" b="1" dirty="0">
                          <a:latin typeface="Trebuchet MS" panose="020B0603020202020204" pitchFamily="34" charset="0"/>
                          <a:sym typeface="Symbol" panose="05050102010706020507" pitchFamily="18" charset="2"/>
                        </a:rPr>
                        <a:t></a:t>
                      </a:r>
                      <a:r>
                        <a:rPr kumimoji="0" lang="en-US" altLang="zh-CN" sz="2000" b="1" i="1" dirty="0" err="1">
                          <a:latin typeface="Trebuchet MS" panose="020B0603020202020204" pitchFamily="34" charset="0"/>
                        </a:rPr>
                        <a:t>x</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A</a:t>
                      </a:r>
                      <a:r>
                        <a:rPr kumimoji="0" lang="en-US" altLang="zh-CN" sz="2000" b="1" i="1" dirty="0">
                          <a:latin typeface="Trebuchet MS" panose="020B0603020202020204" pitchFamily="34" charset="0"/>
                        </a:rPr>
                        <a:t>,</a:t>
                      </a:r>
                      <a:r>
                        <a:rPr lang="en-US" altLang="zh-CN" sz="2000" b="1" dirty="0">
                          <a:latin typeface="Trebuchet MS" panose="020B0603020202020204" pitchFamily="34" charset="0"/>
                        </a:rPr>
                        <a:t> ∃</a:t>
                      </a:r>
                      <a:r>
                        <a:rPr kumimoji="0" lang="en-US" altLang="zh-CN" sz="2000" b="1" dirty="0">
                          <a:latin typeface="Trebuchet MS" panose="020B0603020202020204" pitchFamily="34" charset="0"/>
                        </a:rPr>
                        <a:t>&lt;</a:t>
                      </a:r>
                      <a:r>
                        <a:rPr kumimoji="0" lang="en-US" altLang="zh-CN" sz="2000" b="1" i="1" dirty="0" err="1">
                          <a:latin typeface="Trebuchet MS" panose="020B0603020202020204" pitchFamily="34" charset="0"/>
                        </a:rPr>
                        <a:t>x</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x</a:t>
                      </a:r>
                      <a:r>
                        <a:rPr kumimoji="0" lang="en-US" altLang="zh-CN" sz="2000" b="1" dirty="0">
                          <a:latin typeface="Trebuchet MS" panose="020B0603020202020204" pitchFamily="34" charset="0"/>
                        </a:rPr>
                        <a:t>&gt;∈</a:t>
                      </a:r>
                      <a:r>
                        <a:rPr kumimoji="0" lang="en-US" altLang="zh-CN" sz="2000" b="1" i="1" dirty="0">
                          <a:latin typeface="Trebuchet MS" panose="020B0603020202020204" pitchFamily="34" charset="0"/>
                        </a:rPr>
                        <a:t>R</a:t>
                      </a:r>
                      <a:endParaRPr kumimoji="1" lang="en-US" altLang="zh-CN" sz="2000" b="1" i="0" u="none" strike="noStrike" cap="none" normalizeH="0" baseline="0" dirty="0">
                        <a:ln>
                          <a:noFill/>
                        </a:ln>
                        <a:solidFill>
                          <a:srgbClr val="000000"/>
                        </a:solidFill>
                        <a:effectLst/>
                        <a:latin typeface="Trebuchet MS" panose="020B0603020202020204" pitchFamily="34" charset="0"/>
                        <a:ea typeface="华文中宋" pitchFamily="2" charset="-122"/>
                        <a:cs typeface="Times New Roman" pitchFamily="18" charset="0"/>
                        <a:sym typeface="Symbol" pitchFamily="18" charset="2"/>
                      </a:endParaRPr>
                    </a:p>
                  </a:txBody>
                  <a:tcPr marL="91444" marR="91444" marT="45700" marB="45700" anchor="ctr" anchorCtr="1" horzOverflow="overflow">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dirty="0">
                          <a:latin typeface="Trebuchet MS" panose="020B0603020202020204" pitchFamily="34" charset="0"/>
                        </a:rPr>
                        <a:t>Main diagonal elements are 1</a:t>
                      </a:r>
                      <a:endParaRPr kumimoji="1" lang="en-US" altLang="zh-CN" sz="2000" b="1" i="0"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lang="en-US" altLang="zh-CN" sz="2000" dirty="0">
                          <a:latin typeface="Trebuchet MS" panose="020B0603020202020204" pitchFamily="34" charset="0"/>
                        </a:rPr>
                        <a:t>Every vertex has a loop</a:t>
                      </a:r>
                    </a:p>
                  </a:txBody>
                  <a:tcPr marL="91444" marR="91444" marT="45700" marB="45700" anchor="ctr" anchorCtr="1" horzOverflow="overflow">
                    <a:noFill/>
                  </a:tcPr>
                </a:tc>
                <a:extLst>
                  <a:ext uri="{0D108BD9-81ED-4DB2-BD59-A6C34878D82A}">
                    <a16:rowId xmlns:a16="http://schemas.microsoft.com/office/drawing/2014/main" val="10001"/>
                  </a:ext>
                </a:extLst>
              </a:tr>
              <a:tr h="1151885">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1200" dirty="0" err="1">
                          <a:solidFill>
                            <a:schemeClr val="tx1"/>
                          </a:solidFill>
                          <a:latin typeface="Trebuchet MS" panose="020B0603020202020204" pitchFamily="34" charset="0"/>
                          <a:ea typeface="+mn-ea"/>
                          <a:cs typeface="+mn-cs"/>
                        </a:rPr>
                        <a:t>Irreflexivity</a:t>
                      </a:r>
                      <a:endParaRPr lang="zh-CN" altLang="en-US" sz="2000" kern="1200" dirty="0">
                        <a:solidFill>
                          <a:schemeClr val="tx1"/>
                        </a:solidFill>
                        <a:latin typeface="Trebuchet MS" panose="020B0603020202020204" pitchFamily="34" charset="0"/>
                        <a:ea typeface="+mn-ea"/>
                        <a:cs typeface="+mn-cs"/>
                      </a:endParaRPr>
                    </a:p>
                  </a:txBody>
                  <a:tcPr marL="91444" marR="91444" marT="45700" marB="45700" anchor="ctr" anchorCtr="1" horzOverflow="overflow">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cap="none" normalizeH="0" baseline="0" dirty="0">
                          <a:ln>
                            <a:noFill/>
                          </a:ln>
                          <a:effectLst/>
                          <a:latin typeface="Trebuchet MS" panose="020B0603020202020204" pitchFamily="34" charset="0"/>
                        </a:rPr>
                        <a:t>R</a:t>
                      </a:r>
                      <a:r>
                        <a:rPr kumimoji="1" lang="en-US" altLang="zh-CN" sz="2000" b="1" u="none" strike="noStrike" cap="none" normalizeH="0" baseline="0" dirty="0">
                          <a:ln>
                            <a:noFill/>
                          </a:ln>
                          <a:effectLst/>
                          <a:latin typeface="Trebuchet MS" panose="020B0603020202020204" pitchFamily="34" charset="0"/>
                        </a:rPr>
                        <a:t>∩</a:t>
                      </a:r>
                      <a:r>
                        <a:rPr kumimoji="1" lang="en-US" altLang="zh-CN" sz="2000" b="1" i="1" u="none" strike="noStrike" cap="none" normalizeH="0" baseline="0" dirty="0">
                          <a:ln>
                            <a:noFill/>
                          </a:ln>
                          <a:effectLst/>
                          <a:latin typeface="Trebuchet MS" panose="020B0603020202020204" pitchFamily="34" charset="0"/>
                        </a:rPr>
                        <a:t>I</a:t>
                      </a:r>
                      <a:r>
                        <a:rPr kumimoji="1" lang="en-US" altLang="zh-CN" sz="2000" b="1" i="1" u="none" strike="noStrike" cap="none" normalizeH="0" baseline="-30000" dirty="0">
                          <a:ln>
                            <a:noFill/>
                          </a:ln>
                          <a:effectLst/>
                          <a:latin typeface="Trebuchet MS" panose="020B0603020202020204" pitchFamily="34" charset="0"/>
                        </a:rPr>
                        <a:t>A</a:t>
                      </a:r>
                      <a:r>
                        <a:rPr kumimoji="1" lang="en-US" altLang="zh-CN" sz="2000" b="1" u="none" strike="noStrike" cap="none" normalizeH="0" baseline="0" dirty="0">
                          <a:ln>
                            <a:noFill/>
                          </a:ln>
                          <a:effectLst/>
                          <a:latin typeface="Trebuchet MS" panose="020B0603020202020204" pitchFamily="34" charset="0"/>
                        </a:rPr>
                        <a:t>=</a:t>
                      </a:r>
                      <a:r>
                        <a:rPr kumimoji="1" lang="en-US" altLang="zh-CN" sz="2000" b="1" u="none" strike="noStrike" cap="none" normalizeH="0" baseline="0" dirty="0">
                          <a:ln>
                            <a:noFill/>
                          </a:ln>
                          <a:effectLst/>
                          <a:latin typeface="Trebuchet MS" panose="020B0603020202020204" pitchFamily="34" charset="0"/>
                          <a:sym typeface="Symbol" pitchFamily="18" charset="2"/>
                        </a:rPr>
                        <a:t></a:t>
                      </a:r>
                      <a:endParaRPr kumimoji="1" lang="en-US" altLang="zh-CN" sz="2000" b="1" i="1" u="none" strike="noStrike" cap="none" normalizeH="0" baseline="0" dirty="0">
                        <a:ln>
                          <a:noFill/>
                        </a:ln>
                        <a:solidFill>
                          <a:srgbClr val="000000"/>
                        </a:solidFill>
                        <a:effectLst/>
                        <a:latin typeface="Trebuchet MS" panose="020B0603020202020204" pitchFamily="34" charset="0"/>
                        <a:ea typeface="华文中宋" pitchFamily="2" charset="-122"/>
                        <a:cs typeface="Times New Roman" pitchFamily="18" charset="0"/>
                        <a:sym typeface="Symbol" pitchFamily="18" charset="2"/>
                      </a:endParaRPr>
                    </a:p>
                  </a:txBody>
                  <a:tcPr marL="91444" marR="91444" marT="45700" marB="45700" anchor="ctr" anchorCtr="1" horzOverflow="overflow">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dirty="0">
                          <a:latin typeface="Trebuchet MS" panose="020B0603020202020204" pitchFamily="34" charset="0"/>
                          <a:sym typeface="Symbol" panose="05050102010706020507" pitchFamily="18" charset="2"/>
                        </a:rPr>
                        <a:t></a:t>
                      </a:r>
                      <a:r>
                        <a:rPr kumimoji="0" lang="en-US" altLang="zh-CN" sz="2000" b="1" i="1" dirty="0" err="1">
                          <a:latin typeface="Trebuchet MS" panose="020B0603020202020204" pitchFamily="34" charset="0"/>
                        </a:rPr>
                        <a:t>x</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A</a:t>
                      </a:r>
                      <a:r>
                        <a:rPr kumimoji="0" lang="en-US" altLang="zh-CN" sz="2000" b="1" i="1" dirty="0">
                          <a:latin typeface="Trebuchet MS" panose="020B0603020202020204" pitchFamily="34" charset="0"/>
                        </a:rPr>
                        <a:t>,</a:t>
                      </a:r>
                      <a:r>
                        <a:rPr lang="en-US" altLang="zh-CN" sz="2000" b="1" dirty="0">
                          <a:latin typeface="Trebuchet MS" panose="020B0603020202020204" pitchFamily="34" charset="0"/>
                        </a:rPr>
                        <a:t> ∃</a:t>
                      </a:r>
                      <a:r>
                        <a:rPr kumimoji="0" lang="en-US" altLang="zh-CN" sz="2000" b="1" dirty="0">
                          <a:latin typeface="Trebuchet MS" panose="020B0603020202020204" pitchFamily="34" charset="0"/>
                        </a:rPr>
                        <a:t>&lt;</a:t>
                      </a:r>
                      <a:r>
                        <a:rPr kumimoji="0" lang="en-US" altLang="zh-CN" sz="2000" b="1" i="1" dirty="0" err="1">
                          <a:latin typeface="Trebuchet MS" panose="020B0603020202020204" pitchFamily="34" charset="0"/>
                        </a:rPr>
                        <a:t>x</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x</a:t>
                      </a:r>
                      <a:r>
                        <a:rPr kumimoji="0" lang="en-US" altLang="zh-CN" sz="2000" b="1" dirty="0">
                          <a:latin typeface="Trebuchet MS" panose="020B0603020202020204" pitchFamily="34" charset="0"/>
                        </a:rPr>
                        <a:t>&gt;</a:t>
                      </a:r>
                      <a:r>
                        <a:rPr lang="zh-CN" altLang="en-US" sz="2000" b="1" i="0" kern="1200" dirty="0">
                          <a:solidFill>
                            <a:schemeClr val="tx1"/>
                          </a:solidFill>
                          <a:effectLst/>
                          <a:latin typeface="Trebuchet MS" panose="020B0603020202020204" pitchFamily="34" charset="0"/>
                          <a:ea typeface="+mn-ea"/>
                          <a:cs typeface="+mn-cs"/>
                        </a:rPr>
                        <a:t>∉</a:t>
                      </a:r>
                      <a:r>
                        <a:rPr kumimoji="0" lang="en-US" altLang="zh-CN" sz="2000" b="1" i="1" dirty="0">
                          <a:latin typeface="Trebuchet MS" panose="020B0603020202020204" pitchFamily="34" charset="0"/>
                        </a:rPr>
                        <a:t>R</a:t>
                      </a:r>
                      <a:endParaRPr kumimoji="1" lang="en-US" altLang="zh-CN" sz="2000" b="1" i="0" u="none" strike="noStrike" cap="none" normalizeH="0" baseline="0" dirty="0">
                        <a:ln>
                          <a:noFill/>
                        </a:ln>
                        <a:solidFill>
                          <a:srgbClr val="000000"/>
                        </a:solidFill>
                        <a:effectLst/>
                        <a:latin typeface="Trebuchet MS" panose="020B0603020202020204" pitchFamily="34" charset="0"/>
                        <a:ea typeface="华文中宋" pitchFamily="2" charset="-122"/>
                        <a:cs typeface="Times New Roman" pitchFamily="18" charset="0"/>
                        <a:sym typeface="Symbol" pitchFamily="18" charset="2"/>
                      </a:endParaRPr>
                    </a:p>
                  </a:txBody>
                  <a:tcPr marL="91444" marR="91444" marT="45700" marB="45700" anchor="ctr" anchorCtr="1" horzOverflow="overflow">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kern="1200" dirty="0">
                          <a:solidFill>
                            <a:schemeClr val="tx1"/>
                          </a:solidFill>
                          <a:latin typeface="Trebuchet MS" panose="020B0603020202020204" pitchFamily="34" charset="0"/>
                          <a:ea typeface="+mn-ea"/>
                          <a:cs typeface="+mn-cs"/>
                        </a:rPr>
                        <a:t>Main diagonal elements are 0</a:t>
                      </a:r>
                    </a:p>
                  </a:txBody>
                  <a:tcPr marL="91444" marR="91444" marT="45700" marB="45700" anchor="ctr" anchorCtr="1" horzOverflow="overflow">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kern="1200" dirty="0">
                          <a:solidFill>
                            <a:schemeClr val="tx1"/>
                          </a:solidFill>
                          <a:latin typeface="Trebuchet MS" panose="020B0603020202020204" pitchFamily="34" charset="0"/>
                          <a:ea typeface="+mn-ea"/>
                          <a:cs typeface="+mn-cs"/>
                        </a:rPr>
                        <a:t>No loops at any vertex</a:t>
                      </a:r>
                    </a:p>
                  </a:txBody>
                  <a:tcPr marL="91444" marR="91444" marT="45700" marB="45700" anchor="ctr" anchorCtr="1" horzOverflow="overflow">
                    <a:noFill/>
                  </a:tcPr>
                </a:tc>
                <a:extLst>
                  <a:ext uri="{0D108BD9-81ED-4DB2-BD59-A6C34878D82A}">
                    <a16:rowId xmlns:a16="http://schemas.microsoft.com/office/drawing/2014/main" val="2981277725"/>
                  </a:ext>
                </a:extLst>
              </a:tr>
              <a:tr h="1613544">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1200" dirty="0">
                          <a:solidFill>
                            <a:schemeClr val="tx1"/>
                          </a:solidFill>
                          <a:latin typeface="Trebuchet MS" panose="020B0603020202020204" pitchFamily="34" charset="0"/>
                          <a:ea typeface="+mn-ea"/>
                          <a:cs typeface="+mn-cs"/>
                        </a:rPr>
                        <a:t>Symmetry</a:t>
                      </a:r>
                      <a:endParaRPr lang="zh-CN" altLang="en-US" sz="2000" kern="1200" dirty="0">
                        <a:solidFill>
                          <a:schemeClr val="tx1"/>
                        </a:solidFill>
                        <a:latin typeface="Trebuchet MS" panose="020B0603020202020204" pitchFamily="34" charset="0"/>
                        <a:ea typeface="+mn-ea"/>
                        <a:cs typeface="+mn-cs"/>
                      </a:endParaRPr>
                    </a:p>
                  </a:txBody>
                  <a:tcPr marL="91444" marR="91444" marT="45700" marB="45700" anchor="ctr" anchorCtr="1" horzOverflow="overflow">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effectLst/>
                          <a:latin typeface="Trebuchet MS" panose="020B0603020202020204" pitchFamily="34" charset="0"/>
                        </a:rPr>
                        <a:t>R</a:t>
                      </a:r>
                      <a:r>
                        <a:rPr kumimoji="1" lang="en-US" altLang="zh-CN" sz="2000" b="1" u="none" strike="noStrike" cap="none" normalizeH="0" baseline="0" dirty="0">
                          <a:ln>
                            <a:noFill/>
                          </a:ln>
                          <a:effectLst/>
                          <a:latin typeface="Trebuchet MS" panose="020B0603020202020204" pitchFamily="34" charset="0"/>
                        </a:rPr>
                        <a:t>=</a:t>
                      </a:r>
                      <a:r>
                        <a:rPr kumimoji="1" lang="en-US" altLang="zh-CN" sz="2000" b="1" i="1" u="none" strike="noStrike" cap="none" normalizeH="0" baseline="0" dirty="0">
                          <a:ln>
                            <a:noFill/>
                          </a:ln>
                          <a:effectLst/>
                          <a:latin typeface="Trebuchet MS" panose="020B0603020202020204" pitchFamily="34" charset="0"/>
                        </a:rPr>
                        <a:t>R</a:t>
                      </a:r>
                      <a:r>
                        <a:rPr kumimoji="1" lang="en-US" altLang="zh-CN" sz="2000" b="1" u="none" strike="noStrike" cap="none" normalizeH="0" baseline="30000" dirty="0">
                          <a:ln>
                            <a:noFill/>
                          </a:ln>
                          <a:effectLst/>
                          <a:latin typeface="Trebuchet MS" panose="020B0603020202020204" pitchFamily="34" charset="0"/>
                          <a:sym typeface="Symbol" pitchFamily="18" charset="2"/>
                        </a:rPr>
                        <a:t></a:t>
                      </a:r>
                      <a:r>
                        <a:rPr kumimoji="1" lang="en-US" altLang="zh-CN" sz="2000" b="1" u="none" strike="noStrike" cap="none" normalizeH="0" baseline="30000" dirty="0">
                          <a:ln>
                            <a:noFill/>
                          </a:ln>
                          <a:effectLst/>
                          <a:latin typeface="Trebuchet MS" panose="020B0603020202020204" pitchFamily="34" charset="0"/>
                        </a:rPr>
                        <a:t>1</a:t>
                      </a:r>
                      <a:endParaRPr kumimoji="1" lang="en-US" altLang="zh-CN" sz="2000" b="1" i="0"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dirty="0">
                          <a:latin typeface="Trebuchet MS" panose="020B0603020202020204" pitchFamily="34" charset="0"/>
                        </a:rPr>
                        <a:t>If&lt;</a:t>
                      </a:r>
                      <a:r>
                        <a:rPr kumimoji="0" lang="en-US" altLang="zh-CN" sz="2000" b="1" i="1" dirty="0" err="1">
                          <a:latin typeface="Trebuchet MS" panose="020B0603020202020204" pitchFamily="34" charset="0"/>
                        </a:rPr>
                        <a:t>x</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y</a:t>
                      </a:r>
                      <a:r>
                        <a:rPr kumimoji="0" lang="en-US" altLang="zh-CN" sz="2000" b="1" dirty="0">
                          <a:latin typeface="Trebuchet MS" panose="020B0603020202020204" pitchFamily="34" charset="0"/>
                        </a:rPr>
                        <a:t>&gt;∈</a:t>
                      </a:r>
                      <a:r>
                        <a:rPr kumimoji="0" lang="en-US" altLang="zh-CN" sz="2000" b="1" i="1" dirty="0">
                          <a:latin typeface="Trebuchet MS" panose="020B0603020202020204" pitchFamily="34" charset="0"/>
                        </a:rPr>
                        <a:t>R</a:t>
                      </a:r>
                      <a:r>
                        <a:rPr kumimoji="0" lang="zh-CN" altLang="en-US" sz="2000" b="1" i="1" dirty="0">
                          <a:latin typeface="Trebuchet MS" panose="020B0603020202020204" pitchFamily="34" charset="0"/>
                        </a:rPr>
                        <a:t>，</a:t>
                      </a:r>
                      <a:r>
                        <a:rPr kumimoji="0" lang="en-US" altLang="zh-CN" sz="2000" b="1" i="0" dirty="0">
                          <a:latin typeface="Trebuchet MS" panose="020B0603020202020204" pitchFamily="34" charset="0"/>
                        </a:rPr>
                        <a:t>then</a:t>
                      </a:r>
                      <a:r>
                        <a:rPr kumimoji="0" lang="en-US" altLang="zh-CN" sz="2000" b="1" dirty="0">
                          <a:latin typeface="Trebuchet MS" panose="020B0603020202020204" pitchFamily="34" charset="0"/>
                        </a:rPr>
                        <a:t>&lt;</a:t>
                      </a:r>
                      <a:r>
                        <a:rPr kumimoji="0" lang="en-US" altLang="zh-CN" sz="2000" b="1" i="1" dirty="0" err="1">
                          <a:latin typeface="Trebuchet MS" panose="020B0603020202020204" pitchFamily="34" charset="0"/>
                        </a:rPr>
                        <a:t>y</a:t>
                      </a:r>
                      <a:r>
                        <a:rPr kumimoji="0" lang="en-US" altLang="zh-CN" sz="2000" b="1" dirty="0" err="1">
                          <a:latin typeface="Trebuchet MS" panose="020B0603020202020204" pitchFamily="34" charset="0"/>
                        </a:rPr>
                        <a:t>,</a:t>
                      </a:r>
                      <a:r>
                        <a:rPr kumimoji="0" lang="en-US" altLang="zh-CN" sz="2000" b="1" i="1" dirty="0" err="1">
                          <a:latin typeface="Trebuchet MS" panose="020B0603020202020204" pitchFamily="34" charset="0"/>
                        </a:rPr>
                        <a:t>x</a:t>
                      </a:r>
                      <a:r>
                        <a:rPr kumimoji="0" lang="en-US" altLang="zh-CN" sz="2000" b="1" dirty="0">
                          <a:latin typeface="Trebuchet MS" panose="020B0603020202020204" pitchFamily="34" charset="0"/>
                        </a:rPr>
                        <a:t>&gt;∈</a:t>
                      </a:r>
                      <a:r>
                        <a:rPr kumimoji="0" lang="en-US" altLang="zh-CN" sz="2000" b="1" i="1" dirty="0">
                          <a:latin typeface="Trebuchet MS" panose="020B0603020202020204" pitchFamily="34" charset="0"/>
                        </a:rPr>
                        <a:t>R</a:t>
                      </a:r>
                      <a:endParaRPr lang="en-US" sz="2000" dirty="0">
                        <a:latin typeface="Trebuchet MS" panose="020B0603020202020204" pitchFamily="34" charset="0"/>
                      </a:endParaRPr>
                    </a:p>
                  </a:txBody>
                  <a:tcPr anchor="c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dirty="0">
                          <a:latin typeface="Trebuchet MS" panose="020B0603020202020204" pitchFamily="34" charset="0"/>
                        </a:rPr>
                        <a:t>The matrix is a symmetric matrix</a:t>
                      </a:r>
                      <a:endParaRPr kumimoji="1" lang="zh-CN" altLang="en-US" sz="2000" b="1" u="none" strike="noStrike" kern="1200" cap="none" normalizeH="0" baseline="0" dirty="0">
                        <a:ln>
                          <a:noFill/>
                        </a:ln>
                        <a:solidFill>
                          <a:schemeClr val="tx1"/>
                        </a:solidFill>
                        <a:effectLst/>
                        <a:latin typeface="Trebuchet MS" panose="020B0603020202020204" pitchFamily="34" charset="0"/>
                        <a:ea typeface="+mn-ea"/>
                        <a:cs typeface="+mn-cs"/>
                      </a:endParaRPr>
                    </a:p>
                  </a:txBody>
                  <a:tcPr marL="91444" marR="91444" marT="45700" marB="45700" anchor="ctr" anchorCtr="1" horzOverflow="overflow">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dirty="0">
                          <a:latin typeface="Trebuchet MS" panose="020B0603020202020204" pitchFamily="34" charset="0"/>
                        </a:rPr>
                        <a:t>If there is an edge between two vertices, it must be a directed edge (no undirected edge)</a:t>
                      </a:r>
                    </a:p>
                  </a:txBody>
                  <a:tcPr marL="91444" marR="91444" marT="45700" marB="45700" anchor="ctr" anchorCtr="1" horzOverflow="overflow">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22160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Comparison Table of Properties of Relation </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altLang="zh-CN" b="1" dirty="0"/>
              <a:t>(</a:t>
            </a:r>
            <a:r>
              <a:rPr lang="en-US" altLang="zh-CN" b="1" dirty="0">
                <a:solidFill>
                  <a:schemeClr val="accent2"/>
                </a:solidFill>
              </a:rPr>
              <a:t>cont</a:t>
            </a:r>
            <a:r>
              <a:rPr lang="en-US" altLang="zh-CN" dirty="0">
                <a:solidFill>
                  <a:schemeClr val="accent2"/>
                </a:solidFill>
              </a:rPr>
              <a:t>.</a:t>
            </a:r>
            <a:r>
              <a:rPr lang="en-US" altLang="zh-CN" dirty="0"/>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Group 63">
            <a:extLst>
              <a:ext uri="{FF2B5EF4-FFF2-40B4-BE49-F238E27FC236}">
                <a16:creationId xmlns:a16="http://schemas.microsoft.com/office/drawing/2014/main" id="{25BEE3C9-9048-4298-83F9-9FC96D8AC9E3}"/>
              </a:ext>
            </a:extLst>
          </p:cNvPr>
          <p:cNvGraphicFramePr>
            <a:graphicFrameLocks noGrp="1"/>
          </p:cNvGraphicFramePr>
          <p:nvPr>
            <p:ph idx="1"/>
            <p:extLst>
              <p:ext uri="{D42A27DB-BD31-4B8C-83A1-F6EECF244321}">
                <p14:modId xmlns:p14="http://schemas.microsoft.com/office/powerpoint/2010/main" val="3195403984"/>
              </p:ext>
            </p:extLst>
          </p:nvPr>
        </p:nvGraphicFramePr>
        <p:xfrm>
          <a:off x="912403" y="1169026"/>
          <a:ext cx="10709912" cy="3603235"/>
        </p:xfrm>
        <a:graphic>
          <a:graphicData uri="http://schemas.openxmlformats.org/drawingml/2006/table">
            <a:tbl>
              <a:tblPr>
                <a:tableStyleId>{E8B1032C-EA38-4F05-BA0D-38AFFFC7BED3}</a:tableStyleId>
              </a:tblPr>
              <a:tblGrid>
                <a:gridCol w="1565910">
                  <a:extLst>
                    <a:ext uri="{9D8B030D-6E8A-4147-A177-3AD203B41FA5}">
                      <a16:colId xmlns:a16="http://schemas.microsoft.com/office/drawing/2014/main" val="20000"/>
                    </a:ext>
                  </a:extLst>
                </a:gridCol>
                <a:gridCol w="1120140">
                  <a:extLst>
                    <a:ext uri="{9D8B030D-6E8A-4147-A177-3AD203B41FA5}">
                      <a16:colId xmlns:a16="http://schemas.microsoft.com/office/drawing/2014/main" val="20001"/>
                    </a:ext>
                  </a:extLst>
                </a:gridCol>
                <a:gridCol w="261747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983232">
                  <a:extLst>
                    <a:ext uri="{9D8B030D-6E8A-4147-A177-3AD203B41FA5}">
                      <a16:colId xmlns:a16="http://schemas.microsoft.com/office/drawing/2014/main" val="20004"/>
                    </a:ext>
                  </a:extLst>
                </a:gridCol>
              </a:tblGrid>
              <a:tr h="9515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000" b="1" dirty="0">
                          <a:latin typeface="Trebuchet MS" panose="020B0603020202020204" pitchFamily="34" charset="0"/>
                        </a:rPr>
                        <a:t>Relation Properties</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Expression</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Definition</a:t>
                      </a:r>
                      <a:endParaRPr kumimoji="1" lang="zh-CN" altLang="en-US" sz="2000" b="1" i="0"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Relation Matrix</a:t>
                      </a:r>
                      <a:endParaRPr kumimoji="1" lang="zh-CN" altLang="en-US" sz="2000" b="1" i="0" u="none" strike="noStrike" kern="1200"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marL="91444" marR="91444" marT="45700" marB="45700" anchor="ctr" anchorCtr="1" horzOverflow="overflow">
                    <a:solidFill>
                      <a:srgbClr val="DEDA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latin typeface="Trebuchet MS" panose="020B0603020202020204" pitchFamily="34" charset="0"/>
                        </a:rPr>
                        <a:t>Relation Diagram</a:t>
                      </a:r>
                    </a:p>
                  </a:txBody>
                  <a:tcPr marL="91444" marR="91444" marT="45700" marB="45700" anchor="ctr" anchorCtr="1" horzOverflow="overflow">
                    <a:solidFill>
                      <a:srgbClr val="DEDAF8"/>
                    </a:solidFill>
                  </a:tcPr>
                </a:tc>
                <a:extLst>
                  <a:ext uri="{0D108BD9-81ED-4DB2-BD59-A6C34878D82A}">
                    <a16:rowId xmlns:a16="http://schemas.microsoft.com/office/drawing/2014/main" val="10000"/>
                  </a:ext>
                </a:extLst>
              </a:tr>
              <a:tr h="868806">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1200" dirty="0" err="1">
                          <a:solidFill>
                            <a:schemeClr val="tx1"/>
                          </a:solidFill>
                          <a:latin typeface="Trebuchet MS" panose="020B0603020202020204" pitchFamily="34" charset="0"/>
                          <a:ea typeface="+mn-ea"/>
                          <a:cs typeface="+mn-cs"/>
                        </a:rPr>
                        <a:t>Antisymmetry</a:t>
                      </a:r>
                      <a:endParaRPr lang="zh-CN" altLang="en-US" sz="2000" kern="1200" dirty="0">
                        <a:solidFill>
                          <a:schemeClr val="tx1"/>
                        </a:solidFill>
                        <a:latin typeface="Trebuchet MS" panose="020B0603020202020204" pitchFamily="34" charset="0"/>
                        <a:ea typeface="+mn-ea"/>
                        <a:cs typeface="+mn-cs"/>
                      </a:endParaRPr>
                    </a:p>
                  </a:txBody>
                  <a:tcPr marL="91444" marR="91444" marT="45700" marB="45700" anchor="ctr" anchorCtr="1" horzOverflow="overflow">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u="none" strike="noStrike" cap="none" normalizeH="0" baseline="0" dirty="0">
                          <a:ln>
                            <a:noFill/>
                          </a:ln>
                          <a:effectLst/>
                          <a:latin typeface="Trebuchet MS" panose="020B0603020202020204" pitchFamily="34" charset="0"/>
                        </a:rPr>
                        <a:t>R</a:t>
                      </a:r>
                      <a:r>
                        <a:rPr kumimoji="1" lang="en-US" altLang="zh-CN" sz="1800" b="1" u="none" strike="noStrike" cap="none" normalizeH="0" baseline="0" dirty="0">
                          <a:ln>
                            <a:noFill/>
                          </a:ln>
                          <a:effectLst/>
                          <a:latin typeface="Trebuchet MS" panose="020B0603020202020204" pitchFamily="34" charset="0"/>
                        </a:rPr>
                        <a:t>∩</a:t>
                      </a:r>
                      <a:r>
                        <a:rPr kumimoji="1" lang="en-US" altLang="zh-CN" sz="1800" b="1" i="1" u="none" strike="noStrike" cap="none" normalizeH="0" baseline="0" dirty="0">
                          <a:ln>
                            <a:noFill/>
                          </a:ln>
                          <a:effectLst/>
                          <a:latin typeface="Trebuchet MS" panose="020B0603020202020204" pitchFamily="34" charset="0"/>
                        </a:rPr>
                        <a:t>R</a:t>
                      </a:r>
                      <a:r>
                        <a:rPr kumimoji="1" lang="en-US" altLang="zh-CN" sz="1800" b="1" u="none" strike="noStrike" cap="none" normalizeH="0" baseline="30000" dirty="0">
                          <a:ln>
                            <a:noFill/>
                          </a:ln>
                          <a:effectLst/>
                          <a:latin typeface="Trebuchet MS" panose="020B0603020202020204" pitchFamily="34" charset="0"/>
                          <a:sym typeface="Symbol" pitchFamily="18" charset="2"/>
                        </a:rPr>
                        <a:t></a:t>
                      </a:r>
                      <a:r>
                        <a:rPr kumimoji="1" lang="en-US" altLang="zh-CN" sz="1800" b="1" u="none" strike="noStrike" cap="none" normalizeH="0" baseline="30000" dirty="0">
                          <a:ln>
                            <a:noFill/>
                          </a:ln>
                          <a:effectLst/>
                          <a:latin typeface="Trebuchet MS" panose="020B0603020202020204" pitchFamily="34" charset="0"/>
                        </a:rPr>
                        <a:t>1</a:t>
                      </a:r>
                      <a:r>
                        <a:rPr kumimoji="1" lang="en-US" altLang="zh-CN" sz="1800" b="1" u="none" strike="noStrike" cap="none" normalizeH="0" baseline="0" dirty="0">
                          <a:ln>
                            <a:noFill/>
                          </a:ln>
                          <a:effectLst/>
                          <a:latin typeface="Trebuchet MS" panose="020B0603020202020204" pitchFamily="34" charset="0"/>
                          <a:sym typeface="Symbol" pitchFamily="18" charset="2"/>
                        </a:rPr>
                        <a:t></a:t>
                      </a:r>
                      <a:r>
                        <a:rPr kumimoji="1" lang="en-US" altLang="zh-CN" sz="1800" b="1" u="none" strike="noStrike" cap="none" normalizeH="0" baseline="0" dirty="0">
                          <a:ln>
                            <a:noFill/>
                          </a:ln>
                          <a:effectLst/>
                          <a:latin typeface="Trebuchet MS" panose="020B0603020202020204" pitchFamily="34" charset="0"/>
                        </a:rPr>
                        <a:t> </a:t>
                      </a:r>
                      <a:r>
                        <a:rPr kumimoji="1" lang="en-US" altLang="zh-CN" sz="1800" b="1" i="1" u="none" strike="noStrike" cap="none" normalizeH="0" baseline="0" dirty="0">
                          <a:ln>
                            <a:noFill/>
                          </a:ln>
                          <a:effectLst/>
                          <a:latin typeface="Trebuchet MS" panose="020B0603020202020204" pitchFamily="34" charset="0"/>
                          <a:sym typeface="Symbol" pitchFamily="18" charset="2"/>
                        </a:rPr>
                        <a:t>I</a:t>
                      </a:r>
                      <a:r>
                        <a:rPr kumimoji="1" lang="en-US" altLang="zh-CN" sz="1800" b="1" i="1" u="none" strike="noStrike" cap="none" normalizeH="0" baseline="-30000" dirty="0">
                          <a:ln>
                            <a:noFill/>
                          </a:ln>
                          <a:effectLst/>
                          <a:latin typeface="Trebuchet MS" panose="020B0603020202020204" pitchFamily="34" charset="0"/>
                          <a:sym typeface="Symbol" pitchFamily="18" charset="2"/>
                        </a:rPr>
                        <a:t>A</a:t>
                      </a:r>
                      <a:r>
                        <a:rPr kumimoji="1" lang="en-US" altLang="zh-CN" sz="1800" b="1" i="1" u="none" strike="noStrike" cap="none" normalizeH="0" baseline="0" dirty="0">
                          <a:ln>
                            <a:noFill/>
                          </a:ln>
                          <a:effectLst/>
                          <a:latin typeface="Trebuchet MS" panose="020B0603020202020204" pitchFamily="34" charset="0"/>
                          <a:sym typeface="Symbol" pitchFamily="18" charset="2"/>
                        </a:rPr>
                        <a:t> </a:t>
                      </a:r>
                      <a:endParaRPr lang="en-US" sz="1800" dirty="0">
                        <a:latin typeface="Trebuchet MS" panose="020B0603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dirty="0">
                          <a:solidFill>
                            <a:srgbClr val="0D0D0D"/>
                          </a:solidFill>
                          <a:effectLst/>
                          <a:latin typeface="Trebuchet MS" panose="020B0603020202020204" pitchFamily="34" charset="0"/>
                        </a:rPr>
                        <a:t>If</a:t>
                      </a:r>
                      <a:r>
                        <a:rPr kumimoji="0" lang="zh-CN" altLang="en-US" sz="1800" b="1" i="0" dirty="0">
                          <a:solidFill>
                            <a:srgbClr val="0D0D0D"/>
                          </a:solidFill>
                          <a:effectLst/>
                          <a:latin typeface="Trebuchet MS" panose="020B0603020202020204" pitchFamily="34" charset="0"/>
                        </a:rPr>
                        <a:t> </a:t>
                      </a:r>
                      <a:r>
                        <a:rPr lang="en-US" altLang="zh-CN" sz="1800" b="1" i="0" dirty="0">
                          <a:solidFill>
                            <a:srgbClr val="0D0D0D"/>
                          </a:solidFill>
                          <a:effectLst/>
                          <a:latin typeface="Trebuchet MS" panose="020B0603020202020204" pitchFamily="34" charset="0"/>
                        </a:rPr>
                        <a:t>Expression</a:t>
                      </a:r>
                      <a:r>
                        <a:rPr kumimoji="0" lang="en-US" altLang="zh-CN" sz="1800" b="1" dirty="0">
                          <a:latin typeface="Trebuchet MS" panose="020B0603020202020204" pitchFamily="34" charset="0"/>
                        </a:rPr>
                        <a:t>&lt;</a:t>
                      </a:r>
                      <a:r>
                        <a:rPr kumimoji="0" lang="en-US" altLang="zh-CN" sz="1800" b="1" i="1" dirty="0" err="1">
                          <a:latin typeface="Trebuchet MS" panose="020B0603020202020204" pitchFamily="34" charset="0"/>
                        </a:rPr>
                        <a:t>x</a:t>
                      </a:r>
                      <a:r>
                        <a:rPr kumimoji="0" lang="en-US" altLang="zh-CN" sz="1800" b="1" dirty="0" err="1">
                          <a:latin typeface="Trebuchet MS" panose="020B0603020202020204" pitchFamily="34" charset="0"/>
                        </a:rPr>
                        <a:t>,</a:t>
                      </a:r>
                      <a:r>
                        <a:rPr kumimoji="0" lang="en-US" altLang="zh-CN" sz="1800" b="1" i="1" dirty="0" err="1">
                          <a:latin typeface="Trebuchet MS" panose="020B0603020202020204" pitchFamily="34" charset="0"/>
                        </a:rPr>
                        <a:t>y</a:t>
                      </a:r>
                      <a:r>
                        <a:rPr kumimoji="0" lang="en-US" altLang="zh-CN" sz="1800" b="1" dirty="0">
                          <a:latin typeface="Trebuchet MS" panose="020B0603020202020204" pitchFamily="34" charset="0"/>
                        </a:rPr>
                        <a:t>&gt;∈</a:t>
                      </a:r>
                      <a:r>
                        <a:rPr kumimoji="0" lang="en-US" altLang="zh-CN" sz="1800" b="1" i="1" dirty="0">
                          <a:latin typeface="Trebuchet MS" panose="020B0603020202020204" pitchFamily="34" charset="0"/>
                        </a:rPr>
                        <a:t>R</a:t>
                      </a:r>
                      <a:r>
                        <a:rPr kumimoji="0" lang="zh-CN" altLang="en-US" sz="1800" b="1" i="0" dirty="0">
                          <a:latin typeface="Trebuchet MS" panose="020B0603020202020204" pitchFamily="34" charset="0"/>
                        </a:rPr>
                        <a:t> </a:t>
                      </a:r>
                      <a:r>
                        <a:rPr kumimoji="0" lang="en-US" altLang="zh-CN" sz="1800" b="1" i="0" dirty="0">
                          <a:latin typeface="Trebuchet MS" panose="020B0603020202020204" pitchFamily="34" charset="0"/>
                        </a:rPr>
                        <a:t>and </a:t>
                      </a:r>
                      <a:r>
                        <a:rPr kumimoji="0" lang="en-US" altLang="zh-CN" sz="1800" b="1" i="1" dirty="0">
                          <a:latin typeface="Trebuchet MS" panose="020B0603020202020204" pitchFamily="34" charset="0"/>
                        </a:rPr>
                        <a:t>x</a:t>
                      </a:r>
                      <a:r>
                        <a:rPr lang="zh-CN" altLang="en-US" sz="1800" b="1" i="0" kern="1200" dirty="0">
                          <a:solidFill>
                            <a:schemeClr val="tx1"/>
                          </a:solidFill>
                          <a:effectLst/>
                          <a:latin typeface="Trebuchet MS" panose="020B0603020202020204" pitchFamily="34" charset="0"/>
                          <a:ea typeface="+mn-ea"/>
                          <a:cs typeface="+mn-cs"/>
                        </a:rPr>
                        <a:t>≠</a:t>
                      </a:r>
                      <a:r>
                        <a:rPr kumimoji="0" lang="en-US" altLang="zh-CN" sz="1800" b="1" i="1" dirty="0">
                          <a:latin typeface="Trebuchet MS" panose="020B0603020202020204" pitchFamily="34" charset="0"/>
                        </a:rPr>
                        <a:t>y</a:t>
                      </a:r>
                      <a:r>
                        <a:rPr kumimoji="0" lang="zh-CN" altLang="en-US" sz="1800" b="1" i="1" dirty="0">
                          <a:latin typeface="Trebuchet MS" panose="020B0603020202020204" pitchFamily="34" charset="0"/>
                        </a:rPr>
                        <a:t>，</a:t>
                      </a:r>
                      <a:r>
                        <a:rPr kumimoji="0" lang="en-US" altLang="zh-CN" sz="1800" b="1" i="0" dirty="0">
                          <a:latin typeface="Trebuchet MS" panose="020B0603020202020204" pitchFamily="34" charset="0"/>
                        </a:rPr>
                        <a:t>then</a:t>
                      </a:r>
                      <a:r>
                        <a:rPr kumimoji="0" lang="zh-CN" altLang="en-US" sz="1800" b="1" i="0" dirty="0">
                          <a:latin typeface="Trebuchet MS" panose="020B0603020202020204" pitchFamily="34" charset="0"/>
                        </a:rPr>
                        <a:t> </a:t>
                      </a:r>
                      <a:r>
                        <a:rPr kumimoji="0" lang="en-US" altLang="zh-CN" sz="1800" b="1" dirty="0">
                          <a:latin typeface="Trebuchet MS" panose="020B0603020202020204" pitchFamily="34" charset="0"/>
                        </a:rPr>
                        <a:t>&lt;</a:t>
                      </a:r>
                      <a:r>
                        <a:rPr kumimoji="0" lang="en-US" altLang="zh-CN" sz="1800" b="1" i="1" dirty="0" err="1">
                          <a:latin typeface="Trebuchet MS" panose="020B0603020202020204" pitchFamily="34" charset="0"/>
                        </a:rPr>
                        <a:t>y</a:t>
                      </a:r>
                      <a:r>
                        <a:rPr kumimoji="0" lang="en-US" altLang="zh-CN" sz="1800" b="1" dirty="0" err="1">
                          <a:latin typeface="Trebuchet MS" panose="020B0603020202020204" pitchFamily="34" charset="0"/>
                        </a:rPr>
                        <a:t>,</a:t>
                      </a:r>
                      <a:r>
                        <a:rPr kumimoji="0" lang="en-US" altLang="zh-CN" sz="1800" b="1" i="1" dirty="0" err="1">
                          <a:latin typeface="Trebuchet MS" panose="020B0603020202020204" pitchFamily="34" charset="0"/>
                        </a:rPr>
                        <a:t>x</a:t>
                      </a:r>
                      <a:r>
                        <a:rPr kumimoji="0" lang="en-US" altLang="zh-CN" sz="1800" b="1" dirty="0">
                          <a:latin typeface="Trebuchet MS" panose="020B0603020202020204" pitchFamily="34" charset="0"/>
                        </a:rPr>
                        <a:t>&gt;</a:t>
                      </a:r>
                      <a:r>
                        <a:rPr lang="zh-CN" altLang="en-US" sz="1800" b="0" i="0" kern="1200" dirty="0">
                          <a:solidFill>
                            <a:schemeClr val="tx1"/>
                          </a:solidFill>
                          <a:effectLst/>
                          <a:latin typeface="Trebuchet MS" panose="020B0603020202020204" pitchFamily="34" charset="0"/>
                          <a:ea typeface="+mn-ea"/>
                          <a:cs typeface="+mn-cs"/>
                        </a:rPr>
                        <a:t>∉</a:t>
                      </a:r>
                      <a:r>
                        <a:rPr kumimoji="0" lang="en-US" altLang="zh-CN" sz="1800" b="1" i="1" dirty="0">
                          <a:latin typeface="Trebuchet MS" panose="020B0603020202020204" pitchFamily="34" charset="0"/>
                        </a:rPr>
                        <a:t>R</a:t>
                      </a:r>
                      <a:endParaRPr lang="en-US" sz="1800" dirty="0">
                        <a:latin typeface="Trebuchet MS" panose="020B0603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1" i="1" u="none" strike="noStrike" cap="none" normalizeH="0" baseline="0" dirty="0">
                          <a:ln>
                            <a:noFill/>
                          </a:ln>
                          <a:effectLst/>
                          <a:latin typeface="Trebuchet MS" panose="020B0603020202020204" pitchFamily="34" charset="0"/>
                        </a:rPr>
                        <a:t>If </a:t>
                      </a:r>
                      <a:r>
                        <a:rPr kumimoji="1" lang="en-US" altLang="zh-CN" sz="1800" b="1" i="1" u="none" strike="noStrike" cap="none" normalizeH="0" baseline="0" dirty="0" err="1">
                          <a:ln>
                            <a:noFill/>
                          </a:ln>
                          <a:effectLst/>
                          <a:latin typeface="Trebuchet MS" panose="020B0603020202020204" pitchFamily="34" charset="0"/>
                        </a:rPr>
                        <a:t>r</a:t>
                      </a:r>
                      <a:r>
                        <a:rPr kumimoji="1" lang="en-US" altLang="zh-CN" sz="1800" b="1" i="1" u="none" strike="noStrike" cap="none" normalizeH="0" baseline="-30000" dirty="0" err="1">
                          <a:ln>
                            <a:noFill/>
                          </a:ln>
                          <a:effectLst/>
                          <a:latin typeface="Trebuchet MS" panose="020B0603020202020204" pitchFamily="34" charset="0"/>
                        </a:rPr>
                        <a:t>ij</a:t>
                      </a:r>
                      <a:r>
                        <a:rPr kumimoji="1" lang="zh-CN" altLang="en-US" sz="1800" b="1" u="none" strike="noStrike" cap="none" normalizeH="0" baseline="0" dirty="0">
                          <a:ln>
                            <a:noFill/>
                          </a:ln>
                          <a:effectLst/>
                          <a:latin typeface="Trebuchet MS" panose="020B0603020202020204" pitchFamily="34" charset="0"/>
                        </a:rPr>
                        <a:t>＝</a:t>
                      </a:r>
                      <a:r>
                        <a:rPr kumimoji="1" lang="en-US" altLang="zh-CN" sz="1800" b="1" u="none" strike="noStrike" cap="none" normalizeH="0" baseline="0" dirty="0">
                          <a:ln>
                            <a:noFill/>
                          </a:ln>
                          <a:effectLst/>
                          <a:latin typeface="Trebuchet MS" panose="020B0603020202020204" pitchFamily="34" charset="0"/>
                        </a:rPr>
                        <a:t>1, and</a:t>
                      </a:r>
                      <a:r>
                        <a:rPr kumimoji="1" lang="zh-CN" altLang="en-US" sz="1800" b="1" u="none" strike="noStrike" cap="none" normalizeH="0" baseline="0" dirty="0">
                          <a:ln>
                            <a:noFill/>
                          </a:ln>
                          <a:effectLst/>
                          <a:latin typeface="Trebuchet MS" panose="020B0603020202020204" pitchFamily="34" charset="0"/>
                        </a:rPr>
                        <a:t> </a:t>
                      </a:r>
                      <a:r>
                        <a:rPr kumimoji="1" lang="en-US" altLang="zh-CN" sz="1800" b="1" i="1" u="none" strike="noStrike" cap="none" normalizeH="0" baseline="0" dirty="0" err="1">
                          <a:ln>
                            <a:noFill/>
                          </a:ln>
                          <a:effectLst/>
                          <a:latin typeface="Trebuchet MS" panose="020B0603020202020204" pitchFamily="34" charset="0"/>
                        </a:rPr>
                        <a:t>i</a:t>
                      </a:r>
                      <a:r>
                        <a:rPr kumimoji="1" lang="en-US" altLang="zh-CN" sz="1800" b="1" u="none" strike="noStrike" cap="none" normalizeH="0" baseline="0" dirty="0" err="1">
                          <a:ln>
                            <a:noFill/>
                          </a:ln>
                          <a:effectLst/>
                          <a:latin typeface="Trebuchet MS" panose="020B0603020202020204" pitchFamily="34" charset="0"/>
                        </a:rPr>
                        <a:t>≠</a:t>
                      </a:r>
                      <a:r>
                        <a:rPr kumimoji="1" lang="en-US" altLang="zh-CN" sz="1800" b="1" i="1" u="none" strike="noStrike" cap="none" normalizeH="0" baseline="0" dirty="0" err="1">
                          <a:ln>
                            <a:noFill/>
                          </a:ln>
                          <a:effectLst/>
                          <a:latin typeface="Trebuchet MS" panose="020B0603020202020204" pitchFamily="34" charset="0"/>
                        </a:rPr>
                        <a:t>j</a:t>
                      </a:r>
                      <a:r>
                        <a:rPr kumimoji="1" lang="en-US" altLang="zh-CN" sz="1800" b="1" u="none" strike="noStrike" cap="none" normalizeH="0" baseline="0" dirty="0">
                          <a:ln>
                            <a:noFill/>
                          </a:ln>
                          <a:effectLst/>
                          <a:latin typeface="Trebuchet MS" panose="020B0603020202020204" pitchFamily="34" charset="0"/>
                        </a:rPr>
                        <a:t>, Then</a:t>
                      </a:r>
                      <a:r>
                        <a:rPr kumimoji="1" lang="zh-CN" altLang="en-US" sz="1800" b="1" u="none" strike="noStrike" cap="none" normalizeH="0" baseline="0" dirty="0">
                          <a:ln>
                            <a:noFill/>
                          </a:ln>
                          <a:effectLst/>
                          <a:latin typeface="Trebuchet MS" panose="020B0603020202020204" pitchFamily="34" charset="0"/>
                        </a:rPr>
                        <a:t> </a:t>
                      </a:r>
                      <a:r>
                        <a:rPr kumimoji="1" lang="en-US" altLang="zh-CN" sz="1800" b="1" i="1" u="none" strike="noStrike" cap="none" normalizeH="0" baseline="0" dirty="0" err="1">
                          <a:ln>
                            <a:noFill/>
                          </a:ln>
                          <a:effectLst/>
                          <a:latin typeface="Trebuchet MS" panose="020B0603020202020204" pitchFamily="34" charset="0"/>
                        </a:rPr>
                        <a:t>r</a:t>
                      </a:r>
                      <a:r>
                        <a:rPr kumimoji="1" lang="en-US" altLang="zh-CN" sz="1800" b="1" i="1" u="none" strike="noStrike" cap="none" normalizeH="0" baseline="-30000" dirty="0" err="1">
                          <a:ln>
                            <a:noFill/>
                          </a:ln>
                          <a:effectLst/>
                          <a:latin typeface="Trebuchet MS" panose="020B0603020202020204" pitchFamily="34" charset="0"/>
                        </a:rPr>
                        <a:t>ji</a:t>
                      </a:r>
                      <a:r>
                        <a:rPr kumimoji="1" lang="zh-CN" altLang="en-US" sz="1800" b="1" u="none" strike="noStrike" cap="none" normalizeH="0" baseline="0" dirty="0">
                          <a:ln>
                            <a:noFill/>
                          </a:ln>
                          <a:effectLst/>
                          <a:latin typeface="Trebuchet MS" panose="020B0603020202020204" pitchFamily="34" charset="0"/>
                        </a:rPr>
                        <a:t>＝</a:t>
                      </a:r>
                      <a:r>
                        <a:rPr kumimoji="1" lang="en-US" altLang="zh-CN" sz="1800" b="1" u="none" strike="noStrike" cap="none" normalizeH="0" baseline="0" dirty="0">
                          <a:ln>
                            <a:noFill/>
                          </a:ln>
                          <a:effectLst/>
                          <a:latin typeface="Trebuchet MS" panose="020B0603020202020204" pitchFamily="34" charset="0"/>
                        </a:rPr>
                        <a:t>0</a:t>
                      </a:r>
                      <a:endParaRPr kumimoji="1" lang="en-US" altLang="zh-CN" sz="1800" b="1" i="0"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anchor="c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800" dirty="0">
                          <a:latin typeface="Trebuchet MS" panose="020B0603020202020204" pitchFamily="34" charset="0"/>
                        </a:rPr>
                        <a:t>If there is an edge between two points, it must be a directed edge (no bidirectional edges)</a:t>
                      </a:r>
                      <a:endParaRPr kumimoji="1" lang="en-US" altLang="zh-CN" sz="1800" b="1" u="none" strike="noStrike" kern="1200" cap="none" normalizeH="0" baseline="0" dirty="0">
                        <a:ln>
                          <a:noFill/>
                        </a:ln>
                        <a:solidFill>
                          <a:schemeClr val="tx1"/>
                        </a:solidFill>
                        <a:effectLst/>
                        <a:latin typeface="Trebuchet MS" panose="020B0603020202020204" pitchFamily="34" charset="0"/>
                        <a:ea typeface="+mn-ea"/>
                        <a:cs typeface="+mn-cs"/>
                      </a:endParaRPr>
                    </a:p>
                  </a:txBody>
                  <a:tcPr marL="91444" marR="91444" marT="45700" marB="45700" anchor="ctr" anchorCtr="1" horzOverflow="overflow">
                    <a:noFill/>
                  </a:tcPr>
                </a:tc>
                <a:extLst>
                  <a:ext uri="{0D108BD9-81ED-4DB2-BD59-A6C34878D82A}">
                    <a16:rowId xmlns:a16="http://schemas.microsoft.com/office/drawing/2014/main" val="10001"/>
                  </a:ext>
                </a:extLst>
              </a:tr>
              <a:tr h="1151885">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1200" dirty="0">
                          <a:solidFill>
                            <a:schemeClr val="tx1"/>
                          </a:solidFill>
                          <a:latin typeface="Trebuchet MS" panose="020B0603020202020204" pitchFamily="34" charset="0"/>
                          <a:ea typeface="+mn-ea"/>
                          <a:cs typeface="+mn-cs"/>
                        </a:rPr>
                        <a:t>Transitivity</a:t>
                      </a:r>
                      <a:endParaRPr lang="zh-CN" altLang="en-US" sz="2000" kern="1200" dirty="0">
                        <a:solidFill>
                          <a:schemeClr val="tx1"/>
                        </a:solidFill>
                        <a:latin typeface="Trebuchet MS" panose="020B0603020202020204" pitchFamily="34" charset="0"/>
                        <a:ea typeface="+mn-ea"/>
                        <a:cs typeface="+mn-cs"/>
                      </a:endParaRPr>
                    </a:p>
                  </a:txBody>
                  <a:tcPr marL="91444" marR="91444" marT="45700" marB="45700" anchor="ctr" anchorCtr="1" horzOverflow="overflow">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u="none" strike="noStrike" cap="none" normalizeH="0" baseline="0" dirty="0">
                          <a:ln>
                            <a:noFill/>
                          </a:ln>
                          <a:effectLst/>
                          <a:latin typeface="Trebuchet MS" panose="020B0603020202020204" pitchFamily="34" charset="0"/>
                        </a:rPr>
                        <a:t>R</a:t>
                      </a:r>
                      <a:r>
                        <a:rPr lang="en-US" altLang="zh-CN" sz="1800" b="1" dirty="0">
                          <a:latin typeface="Trebuchet MS" panose="020B0603020202020204" pitchFamily="34" charset="0"/>
                        </a:rPr>
                        <a:t>∘</a:t>
                      </a:r>
                      <a:r>
                        <a:rPr kumimoji="1" lang="en-US" altLang="zh-CN" sz="1800" b="1" i="1" u="none" strike="noStrike" cap="none" normalizeH="0" baseline="0" dirty="0">
                          <a:ln>
                            <a:noFill/>
                          </a:ln>
                          <a:effectLst/>
                          <a:latin typeface="Trebuchet MS" panose="020B0603020202020204" pitchFamily="34" charset="0"/>
                        </a:rPr>
                        <a:t>R</a:t>
                      </a:r>
                      <a:r>
                        <a:rPr kumimoji="1" lang="en-US" altLang="zh-CN" sz="1800" b="1" u="none" strike="noStrike" cap="none" normalizeH="0" baseline="0" dirty="0">
                          <a:ln>
                            <a:noFill/>
                          </a:ln>
                          <a:effectLst/>
                          <a:latin typeface="Trebuchet MS" panose="020B0603020202020204" pitchFamily="34" charset="0"/>
                          <a:sym typeface="Symbol" pitchFamily="18" charset="2"/>
                        </a:rPr>
                        <a:t></a:t>
                      </a:r>
                      <a:r>
                        <a:rPr kumimoji="1" lang="en-US" altLang="zh-CN" sz="1800" b="1" i="1" u="none" strike="noStrike" cap="none" normalizeH="0" baseline="0" dirty="0">
                          <a:ln>
                            <a:noFill/>
                          </a:ln>
                          <a:effectLst/>
                          <a:latin typeface="Trebuchet MS" panose="020B0603020202020204" pitchFamily="34" charset="0"/>
                        </a:rPr>
                        <a:t>R</a:t>
                      </a:r>
                      <a:endParaRPr lang="en-US" sz="1800" dirty="0">
                        <a:latin typeface="Trebuchet MS" panose="020B0603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dirty="0">
                          <a:latin typeface="Trebuchet MS" panose="020B0603020202020204" pitchFamily="34" charset="0"/>
                        </a:rPr>
                        <a:t>If &lt;</a:t>
                      </a:r>
                      <a:r>
                        <a:rPr kumimoji="0" lang="en-US" altLang="zh-CN" sz="1800" b="1" i="1" dirty="0" err="1">
                          <a:latin typeface="Trebuchet MS" panose="020B0603020202020204" pitchFamily="34" charset="0"/>
                        </a:rPr>
                        <a:t>x</a:t>
                      </a:r>
                      <a:r>
                        <a:rPr kumimoji="0" lang="en-US" altLang="zh-CN" sz="1800" b="1" dirty="0" err="1">
                          <a:latin typeface="Trebuchet MS" panose="020B0603020202020204" pitchFamily="34" charset="0"/>
                        </a:rPr>
                        <a:t>,</a:t>
                      </a:r>
                      <a:r>
                        <a:rPr kumimoji="0" lang="en-US" altLang="zh-CN" sz="1800" b="1" i="1" dirty="0" err="1">
                          <a:latin typeface="Trebuchet MS" panose="020B0603020202020204" pitchFamily="34" charset="0"/>
                        </a:rPr>
                        <a:t>y</a:t>
                      </a:r>
                      <a:r>
                        <a:rPr kumimoji="0" lang="en-US" altLang="zh-CN" sz="1800" b="1" dirty="0">
                          <a:latin typeface="Trebuchet MS" panose="020B0603020202020204" pitchFamily="34" charset="0"/>
                        </a:rPr>
                        <a:t>&gt;∈</a:t>
                      </a:r>
                      <a:r>
                        <a:rPr kumimoji="0" lang="en-US" altLang="zh-CN" sz="1800" b="1" i="1" dirty="0">
                          <a:latin typeface="Trebuchet MS" panose="020B0603020202020204" pitchFamily="34" charset="0"/>
                        </a:rPr>
                        <a:t>R</a:t>
                      </a:r>
                      <a:r>
                        <a:rPr kumimoji="0" lang="en-US" altLang="zh-CN" sz="1800" b="1" i="0" dirty="0">
                          <a:latin typeface="Trebuchet MS" panose="020B0603020202020204" pitchFamily="34" charset="0"/>
                        </a:rPr>
                        <a:t>and</a:t>
                      </a:r>
                      <a:r>
                        <a:rPr kumimoji="0" lang="en-US" altLang="zh-CN" sz="1800" b="1" dirty="0">
                          <a:latin typeface="Trebuchet MS" panose="020B0603020202020204" pitchFamily="34" charset="0"/>
                        </a:rPr>
                        <a:t>&lt;</a:t>
                      </a:r>
                      <a:r>
                        <a:rPr kumimoji="0" lang="en-US" altLang="zh-CN" sz="1800" b="1" i="1" dirty="0" err="1">
                          <a:latin typeface="Trebuchet MS" panose="020B0603020202020204" pitchFamily="34" charset="0"/>
                        </a:rPr>
                        <a:t>y</a:t>
                      </a:r>
                      <a:r>
                        <a:rPr kumimoji="0" lang="en-US" altLang="zh-CN" sz="1800" b="1" dirty="0" err="1">
                          <a:latin typeface="Trebuchet MS" panose="020B0603020202020204" pitchFamily="34" charset="0"/>
                        </a:rPr>
                        <a:t>,</a:t>
                      </a:r>
                      <a:r>
                        <a:rPr kumimoji="0" lang="en-US" altLang="zh-CN" sz="1800" b="1" i="1" dirty="0" err="1">
                          <a:latin typeface="Trebuchet MS" panose="020B0603020202020204" pitchFamily="34" charset="0"/>
                        </a:rPr>
                        <a:t>z</a:t>
                      </a:r>
                      <a:r>
                        <a:rPr kumimoji="0" lang="en-US" altLang="zh-CN" sz="1800" b="1" dirty="0">
                          <a:latin typeface="Trebuchet MS" panose="020B0603020202020204" pitchFamily="34" charset="0"/>
                        </a:rPr>
                        <a:t>&gt;∈</a:t>
                      </a:r>
                      <a:r>
                        <a:rPr kumimoji="0" lang="en-US" altLang="zh-CN" sz="1800" b="1" i="1" dirty="0">
                          <a:latin typeface="Trebuchet MS" panose="020B0603020202020204" pitchFamily="34" charset="0"/>
                        </a:rPr>
                        <a:t>R</a:t>
                      </a:r>
                      <a:r>
                        <a:rPr kumimoji="0" lang="en-US" altLang="zh-CN" sz="1800" b="1" i="0" dirty="0">
                          <a:latin typeface="Trebuchet MS" panose="020B0603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dirty="0">
                          <a:latin typeface="Trebuchet MS" panose="020B0603020202020204" pitchFamily="34" charset="0"/>
                        </a:rPr>
                        <a:t>then</a:t>
                      </a:r>
                      <a:r>
                        <a:rPr kumimoji="0" lang="en-US" altLang="zh-CN" sz="1800" b="1" dirty="0">
                          <a:latin typeface="Trebuchet MS" panose="020B0603020202020204" pitchFamily="34" charset="0"/>
                        </a:rPr>
                        <a:t>&lt;</a:t>
                      </a:r>
                      <a:r>
                        <a:rPr kumimoji="0" lang="en-US" altLang="zh-CN" sz="1800" b="1" i="1" dirty="0" err="1">
                          <a:latin typeface="Trebuchet MS" panose="020B0603020202020204" pitchFamily="34" charset="0"/>
                        </a:rPr>
                        <a:t>x</a:t>
                      </a:r>
                      <a:r>
                        <a:rPr kumimoji="0" lang="en-US" altLang="zh-CN" sz="1800" b="1" dirty="0" err="1">
                          <a:latin typeface="Trebuchet MS" panose="020B0603020202020204" pitchFamily="34" charset="0"/>
                        </a:rPr>
                        <a:t>,</a:t>
                      </a:r>
                      <a:r>
                        <a:rPr kumimoji="0" lang="en-US" altLang="zh-CN" sz="1800" b="1" i="1" dirty="0" err="1">
                          <a:latin typeface="Trebuchet MS" panose="020B0603020202020204" pitchFamily="34" charset="0"/>
                        </a:rPr>
                        <a:t>z</a:t>
                      </a:r>
                      <a:r>
                        <a:rPr kumimoji="0" lang="en-US" altLang="zh-CN" sz="1800" b="1" dirty="0">
                          <a:latin typeface="Trebuchet MS" panose="020B0603020202020204" pitchFamily="34" charset="0"/>
                        </a:rPr>
                        <a:t>&gt;∈</a:t>
                      </a:r>
                      <a:r>
                        <a:rPr kumimoji="0" lang="en-US" altLang="zh-CN" sz="1800" b="1" i="1" dirty="0">
                          <a:latin typeface="Trebuchet MS" panose="020B0603020202020204" pitchFamily="34" charset="0"/>
                        </a:rPr>
                        <a:t>R</a:t>
                      </a:r>
                      <a:endParaRPr lang="en-US" sz="1800" dirty="0">
                        <a:latin typeface="Trebuchet MS" panose="020B0603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1" i="1" u="none" strike="noStrike" cap="none" normalizeH="0" baseline="0" dirty="0">
                          <a:ln>
                            <a:noFill/>
                          </a:ln>
                          <a:effectLst/>
                        </a:rPr>
                        <a:t>If M</a:t>
                      </a:r>
                      <a:r>
                        <a:rPr kumimoji="1" lang="en-US" altLang="zh-CN" sz="1800" b="1" i="1" u="none" strike="noStrike" cap="none" normalizeH="0" baseline="-30000" dirty="0">
                          <a:ln>
                            <a:noFill/>
                          </a:ln>
                          <a:effectLst/>
                          <a:latin typeface="Trebuchet MS" panose="020B0603020202020204" pitchFamily="34" charset="0"/>
                        </a:rPr>
                        <a:t>ij</a:t>
                      </a:r>
                      <a:r>
                        <a:rPr kumimoji="1" lang="en-US" altLang="zh-CN" sz="1800" b="1" u="none" strike="noStrike" cap="none" normalizeH="0" baseline="30000" dirty="0">
                          <a:ln>
                            <a:noFill/>
                          </a:ln>
                          <a:effectLst/>
                        </a:rPr>
                        <a:t>2</a:t>
                      </a:r>
                      <a:r>
                        <a:rPr kumimoji="1" lang="en-US" altLang="zh-CN" sz="1800" b="1" u="none" strike="noStrike" cap="none" normalizeH="0" baseline="0" dirty="0">
                          <a:ln>
                            <a:noFill/>
                          </a:ln>
                          <a:effectLst/>
                        </a:rPr>
                        <a:t>=1, </a:t>
                      </a:r>
                      <a:r>
                        <a:rPr kumimoji="1" lang="en-US" altLang="zh-CN" sz="1800" b="1" i="1" u="none" strike="noStrike" cap="none" normalizeH="0" baseline="0" dirty="0" err="1">
                          <a:ln>
                            <a:noFill/>
                          </a:ln>
                          <a:effectLst/>
                        </a:rPr>
                        <a:t>M</a:t>
                      </a:r>
                      <a:r>
                        <a:rPr kumimoji="1" lang="en-US" altLang="zh-CN" sz="1800" b="1" i="1" u="none" strike="noStrike" cap="none" normalizeH="0" baseline="-30000" dirty="0" err="1">
                          <a:ln>
                            <a:noFill/>
                          </a:ln>
                          <a:effectLst/>
                          <a:latin typeface="Trebuchet MS" panose="020B0603020202020204" pitchFamily="34" charset="0"/>
                        </a:rPr>
                        <a:t>ij</a:t>
                      </a:r>
                      <a:r>
                        <a:rPr kumimoji="1" lang="en-US" altLang="zh-CN" sz="1800" b="1" u="none" strike="noStrike" cap="none" normalizeH="0" baseline="0" dirty="0">
                          <a:ln>
                            <a:noFill/>
                          </a:ln>
                          <a:effectLst/>
                        </a:rPr>
                        <a:t>=1</a:t>
                      </a:r>
                      <a:endParaRPr kumimoji="1" lang="en-US" altLang="zh-CN" sz="1800" b="1" i="0" u="none" strike="noStrike" cap="none" normalizeH="0" baseline="0" dirty="0">
                        <a:ln>
                          <a:noFill/>
                        </a:ln>
                        <a:solidFill>
                          <a:schemeClr val="tx1"/>
                        </a:solidFill>
                        <a:effectLst/>
                        <a:latin typeface="Times New Roman" pitchFamily="18" charset="0"/>
                        <a:ea typeface="华文中宋" pitchFamily="2" charset="-122"/>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800" b="1" i="1" u="none" strike="noStrike" cap="none" normalizeH="0" baseline="0" dirty="0">
                        <a:ln>
                          <a:noFill/>
                        </a:ln>
                        <a:solidFill>
                          <a:schemeClr val="tx1"/>
                        </a:solidFill>
                        <a:effectLst/>
                        <a:latin typeface="Trebuchet MS" panose="020B0603020202020204" pitchFamily="34" charset="0"/>
                        <a:ea typeface="华文中宋" pitchFamily="2" charset="-122"/>
                        <a:cs typeface="Times New Roman" pitchFamily="18" charset="0"/>
                      </a:endParaRPr>
                    </a:p>
                  </a:txBody>
                  <a:tcPr anchor="c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800" dirty="0">
                          <a:latin typeface="Trebuchet MS" panose="020B0603020202020204" pitchFamily="34" charset="0"/>
                        </a:rPr>
                        <a:t>If there is an edge from vertex </a:t>
                      </a:r>
                      <a:r>
                        <a:rPr kumimoji="1" lang="en-US" altLang="zh-CN" sz="1800" b="1" i="0" u="none" strike="noStrike" kern="1200" baseline="0" dirty="0">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a:ln>
                            <a:noFill/>
                          </a:ln>
                          <a:solidFill>
                            <a:srgbClr val="000000"/>
                          </a:solidFill>
                          <a:effectLst/>
                          <a:latin typeface="Trebuchet MS" panose="020B0603020202020204" pitchFamily="34" charset="0"/>
                          <a:ea typeface="宋体" panose="02010600030101010101" pitchFamily="2" charset="-122"/>
                        </a:rPr>
                        <a:t>i</a:t>
                      </a:r>
                      <a:r>
                        <a:rPr lang="en-US" altLang="zh-CN" sz="1800" dirty="0">
                          <a:latin typeface="Trebuchet MS" panose="020B0603020202020204" pitchFamily="34" charset="0"/>
                        </a:rPr>
                        <a:t> ​ to </a:t>
                      </a:r>
                      <a:r>
                        <a:rPr kumimoji="1" lang="en-US" altLang="zh-CN" sz="1800" b="1" i="0" u="none" strike="noStrike" kern="1200" baseline="0" dirty="0" err="1">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err="1">
                          <a:ln>
                            <a:noFill/>
                          </a:ln>
                          <a:solidFill>
                            <a:srgbClr val="000000"/>
                          </a:solidFill>
                          <a:effectLst/>
                          <a:latin typeface="Trebuchet MS" panose="020B0603020202020204" pitchFamily="34" charset="0"/>
                          <a:ea typeface="宋体" panose="02010600030101010101" pitchFamily="2" charset="-122"/>
                        </a:rPr>
                        <a:t>j</a:t>
                      </a:r>
                      <a:r>
                        <a:rPr lang="en-US" altLang="zh-CN" sz="1800" dirty="0">
                          <a:latin typeface="Trebuchet MS" panose="020B0603020202020204" pitchFamily="34" charset="0"/>
                        </a:rPr>
                        <a:t>​, and an edge from </a:t>
                      </a:r>
                      <a:r>
                        <a:rPr kumimoji="1" lang="en-US" altLang="zh-CN" sz="1800" b="1" i="0" u="none" strike="noStrike" kern="1200" baseline="0" dirty="0" err="1">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err="1">
                          <a:ln>
                            <a:noFill/>
                          </a:ln>
                          <a:solidFill>
                            <a:srgbClr val="000000"/>
                          </a:solidFill>
                          <a:effectLst/>
                          <a:latin typeface="Trebuchet MS" panose="020B0603020202020204" pitchFamily="34" charset="0"/>
                          <a:ea typeface="宋体" panose="02010600030101010101" pitchFamily="2" charset="-122"/>
                        </a:rPr>
                        <a:t>j</a:t>
                      </a:r>
                      <a:r>
                        <a:rPr lang="en-US" altLang="zh-CN" sz="1800" dirty="0">
                          <a:latin typeface="Trebuchet MS" panose="020B0603020202020204" pitchFamily="34" charset="0"/>
                        </a:rPr>
                        <a:t> to </a:t>
                      </a:r>
                      <a:r>
                        <a:rPr kumimoji="1" lang="en-US" altLang="zh-CN" sz="1800" b="1" i="0" u="none" strike="noStrike" kern="1200" baseline="0" dirty="0" err="1">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err="1">
                          <a:ln>
                            <a:noFill/>
                          </a:ln>
                          <a:solidFill>
                            <a:srgbClr val="000000"/>
                          </a:solidFill>
                          <a:effectLst/>
                          <a:latin typeface="Trebuchet MS" panose="020B0603020202020204" pitchFamily="34" charset="0"/>
                          <a:ea typeface="宋体" panose="02010600030101010101" pitchFamily="2" charset="-122"/>
                        </a:rPr>
                        <a:t>k</a:t>
                      </a:r>
                      <a:r>
                        <a:rPr lang="en-US" altLang="zh-CN" sz="1800" dirty="0">
                          <a:latin typeface="Trebuchet MS" panose="020B0603020202020204" pitchFamily="34" charset="0"/>
                        </a:rPr>
                        <a:t>, then there is also an edge from </a:t>
                      </a:r>
                      <a:r>
                        <a:rPr kumimoji="1" lang="en-US" altLang="zh-CN" sz="1800" b="1" i="0" u="none" strike="noStrike" kern="1200" baseline="0" dirty="0">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a:ln>
                            <a:noFill/>
                          </a:ln>
                          <a:solidFill>
                            <a:srgbClr val="000000"/>
                          </a:solidFill>
                          <a:effectLst/>
                          <a:latin typeface="Trebuchet MS" panose="020B0603020202020204" pitchFamily="34" charset="0"/>
                          <a:ea typeface="宋体" panose="02010600030101010101" pitchFamily="2" charset="-122"/>
                        </a:rPr>
                        <a:t>i</a:t>
                      </a:r>
                      <a:r>
                        <a:rPr lang="en-US" altLang="zh-CN" sz="1800" dirty="0">
                          <a:latin typeface="Trebuchet MS" panose="020B0603020202020204" pitchFamily="34" charset="0"/>
                        </a:rPr>
                        <a:t>​ to </a:t>
                      </a:r>
                      <a:r>
                        <a:rPr kumimoji="1" lang="en-US" altLang="zh-CN" sz="1800" b="1" i="0" u="none" strike="noStrike" kern="1200" baseline="0" dirty="0" err="1">
                          <a:ln>
                            <a:noFill/>
                          </a:ln>
                          <a:solidFill>
                            <a:srgbClr val="000000"/>
                          </a:solidFill>
                          <a:effectLst/>
                          <a:latin typeface="Trebuchet MS" panose="020B0603020202020204" pitchFamily="34" charset="0"/>
                          <a:ea typeface="宋体" panose="02010600030101010101" pitchFamily="2" charset="-122"/>
                        </a:rPr>
                        <a:t>x</a:t>
                      </a:r>
                      <a:r>
                        <a:rPr kumimoji="1" lang="en-US" altLang="zh-CN" sz="1800" b="1" i="1" u="none" strike="noStrike" kern="1200" baseline="-30000" dirty="0" err="1">
                          <a:ln>
                            <a:noFill/>
                          </a:ln>
                          <a:solidFill>
                            <a:srgbClr val="000000"/>
                          </a:solidFill>
                          <a:effectLst/>
                          <a:latin typeface="Trebuchet MS" panose="020B0603020202020204" pitchFamily="34" charset="0"/>
                          <a:ea typeface="宋体" panose="02010600030101010101" pitchFamily="2" charset="-122"/>
                        </a:rPr>
                        <a:t>k</a:t>
                      </a:r>
                      <a:r>
                        <a:rPr lang="en-US" altLang="zh-CN" sz="1800" dirty="0">
                          <a:latin typeface="Trebuchet MS" panose="020B0603020202020204" pitchFamily="34" charset="0"/>
                        </a:rPr>
                        <a:t>​.</a:t>
                      </a:r>
                      <a:endParaRPr kumimoji="1" lang="zh-CN" altLang="en-US" sz="1800" b="1" u="none" strike="noStrike" kern="1200" cap="none" normalizeH="0" baseline="0" dirty="0">
                        <a:ln>
                          <a:noFill/>
                        </a:ln>
                        <a:solidFill>
                          <a:schemeClr val="tx1"/>
                        </a:solidFill>
                        <a:effectLst/>
                        <a:latin typeface="Trebuchet MS" panose="020B0603020202020204" pitchFamily="34" charset="0"/>
                        <a:ea typeface="+mn-ea"/>
                        <a:cs typeface="+mn-cs"/>
                      </a:endParaRPr>
                    </a:p>
                  </a:txBody>
                  <a:tcPr marL="91444" marR="91444" marT="45700" marB="45700" anchor="ctr" anchorCtr="1" horzOverflow="overflow">
                    <a:noFill/>
                  </a:tcPr>
                </a:tc>
                <a:extLst>
                  <a:ext uri="{0D108BD9-81ED-4DB2-BD59-A6C34878D82A}">
                    <a16:rowId xmlns:a16="http://schemas.microsoft.com/office/drawing/2014/main" val="2981277725"/>
                  </a:ext>
                </a:extLst>
              </a:tr>
            </a:tbl>
          </a:graphicData>
        </a:graphic>
      </p:graphicFrame>
    </p:spTree>
    <p:extLst>
      <p:ext uri="{BB962C8B-B14F-4D97-AF65-F5344CB8AC3E}">
        <p14:creationId xmlns:p14="http://schemas.microsoft.com/office/powerpoint/2010/main" val="1085760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Determine the Relation Based on the Relation Diagram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898326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66443" y="917574"/>
            <a:ext cx="10376718" cy="5349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zh-CN" altLang="en-US" sz="2800" b="1" dirty="0"/>
          </a:p>
          <a:p>
            <a:pPr eaLnBrk="1" hangingPunct="1">
              <a:spcBef>
                <a:spcPct val="0"/>
              </a:spcBef>
              <a:buFontTx/>
              <a:buNone/>
            </a:pPr>
            <a:r>
              <a:rPr kumimoji="0" lang="en-US" altLang="zh-CN" sz="2800" b="1" i="1" dirty="0"/>
              <a:t>     </a:t>
            </a:r>
            <a:endParaRPr lang="zh-CN" altLang="en-US" sz="2800" b="1" dirty="0"/>
          </a:p>
        </p:txBody>
      </p:sp>
      <p:sp>
        <p:nvSpPr>
          <p:cNvPr id="11" name="Text Box 3">
            <a:extLst>
              <a:ext uri="{FF2B5EF4-FFF2-40B4-BE49-F238E27FC236}">
                <a16:creationId xmlns:a16="http://schemas.microsoft.com/office/drawing/2014/main" id="{9E699B99-C7E5-4718-8BA2-8185D9AB051D}"/>
              </a:ext>
            </a:extLst>
          </p:cNvPr>
          <p:cNvSpPr txBox="1">
            <a:spLocks noChangeArrowheads="1"/>
          </p:cNvSpPr>
          <p:nvPr/>
        </p:nvSpPr>
        <p:spPr bwMode="auto">
          <a:xfrm>
            <a:off x="1106306" y="791393"/>
            <a:ext cx="10121686" cy="7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sz="2400" dirty="0">
                <a:latin typeface="Trebuchet MS" panose="020B0603020202020204" pitchFamily="34" charset="0"/>
              </a:rPr>
              <a:t>     </a:t>
            </a:r>
            <a:r>
              <a:rPr lang="en-US" sz="2400" b="1" dirty="0">
                <a:latin typeface="Trebuchet MS" panose="020B0603020202020204" pitchFamily="34" charset="0"/>
              </a:rPr>
              <a:t>Example 8: </a:t>
            </a:r>
            <a:r>
              <a:rPr lang="en-US" sz="2400" dirty="0">
                <a:latin typeface="Trebuchet MS" panose="020B0603020202020204" pitchFamily="34" charset="0"/>
              </a:rPr>
              <a:t>Determine the properties of the relationship in the figure</a:t>
            </a:r>
          </a:p>
          <a:p>
            <a:pPr eaLnBrk="1" hangingPunct="1">
              <a:spcBef>
                <a:spcPct val="0"/>
              </a:spcBef>
              <a:buFontTx/>
              <a:buNone/>
            </a:pPr>
            <a:r>
              <a:rPr lang="en-US" sz="2400" dirty="0">
                <a:latin typeface="Trebuchet MS" panose="020B0603020202020204" pitchFamily="34" charset="0"/>
              </a:rPr>
              <a:t>                       below and explain the reasoning.</a:t>
            </a:r>
            <a:endParaRPr kumimoji="0" lang="zh-CN" altLang="en-US" sz="2400" b="1" dirty="0">
              <a:latin typeface="Trebuchet MS" panose="020B0603020202020204" pitchFamily="34" charset="0"/>
            </a:endParaRPr>
          </a:p>
        </p:txBody>
      </p:sp>
      <p:pic>
        <p:nvPicPr>
          <p:cNvPr id="24" name="Picture 9" descr="4T5">
            <a:extLst>
              <a:ext uri="{FF2B5EF4-FFF2-40B4-BE49-F238E27FC236}">
                <a16:creationId xmlns:a16="http://schemas.microsoft.com/office/drawing/2014/main" id="{E7F931E3-C93D-43C1-B785-633F87EBF0E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66412" y="1639633"/>
            <a:ext cx="5736816" cy="239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4">
            <a:extLst>
              <a:ext uri="{FF2B5EF4-FFF2-40B4-BE49-F238E27FC236}">
                <a16:creationId xmlns:a16="http://schemas.microsoft.com/office/drawing/2014/main" id="{2458C8FE-57B2-468C-8EC5-BD149B9DE2FD}"/>
              </a:ext>
            </a:extLst>
          </p:cNvPr>
          <p:cNvSpPr txBox="1">
            <a:spLocks noChangeArrowheads="1"/>
          </p:cNvSpPr>
          <p:nvPr/>
        </p:nvSpPr>
        <p:spPr bwMode="auto">
          <a:xfrm>
            <a:off x="1106306" y="4708844"/>
            <a:ext cx="9771924" cy="75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rgbClr val="000099"/>
                </a:solidFill>
                <a:latin typeface="Arial" panose="020B0604020202020204" pitchFamily="34" charset="0"/>
                <a:ea typeface="宋体" panose="02010600030101010101" pitchFamily="2" charset="-122"/>
              </a:defRPr>
            </a:lvl1pPr>
            <a:lvl2pPr marL="742950" indent="-285750" eaLnBrk="0" hangingPunct="0">
              <a:defRPr>
                <a:solidFill>
                  <a:srgbClr val="000099"/>
                </a:solidFill>
                <a:latin typeface="Arial" panose="020B0604020202020204" pitchFamily="34" charset="0"/>
                <a:ea typeface="宋体" panose="02010600030101010101" pitchFamily="2" charset="-122"/>
              </a:defRPr>
            </a:lvl2pPr>
            <a:lvl3pPr marL="1143000" indent="-228600" eaLnBrk="0" hangingPunct="0">
              <a:defRPr>
                <a:solidFill>
                  <a:srgbClr val="000099"/>
                </a:solidFill>
                <a:latin typeface="Arial" panose="020B0604020202020204" pitchFamily="34" charset="0"/>
                <a:ea typeface="宋体" panose="02010600030101010101" pitchFamily="2" charset="-122"/>
              </a:defRPr>
            </a:lvl3pPr>
            <a:lvl4pPr marL="1600200" indent="-228600" eaLnBrk="0" hangingPunct="0">
              <a:defRPr>
                <a:solidFill>
                  <a:srgbClr val="000099"/>
                </a:solidFill>
                <a:latin typeface="Arial" panose="020B0604020202020204" pitchFamily="34" charset="0"/>
                <a:ea typeface="宋体" panose="02010600030101010101" pitchFamily="2" charset="-122"/>
              </a:defRPr>
            </a:lvl4pPr>
            <a:lvl5pPr marL="2057400" indent="-228600" eaLnBrk="0" hangingPunct="0">
              <a:defRPr>
                <a:solidFill>
                  <a:srgbClr val="0000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9pPr>
          </a:lstStyle>
          <a:p>
            <a:pPr marL="720725" lvl="0" indent="-538163" eaLnBrk="1" fontAlgn="base" hangingPunct="1">
              <a:spcBef>
                <a:spcPct val="0"/>
              </a:spcBef>
              <a:spcAft>
                <a:spcPct val="0"/>
              </a:spcAft>
            </a:pPr>
            <a:r>
              <a:rPr lang="en-US" altLang="en-US" sz="2400" dirty="0">
                <a:solidFill>
                  <a:schemeClr val="tx1"/>
                </a:solidFill>
                <a:latin typeface="Trebuchet MS" panose="020B0603020202020204" pitchFamily="34" charset="0"/>
              </a:rPr>
              <a:t>(b) Antireflexive, not reflexive; antisymmetric, not symmetric; transitive.</a:t>
            </a:r>
          </a:p>
        </p:txBody>
      </p:sp>
      <p:sp>
        <p:nvSpPr>
          <p:cNvPr id="26" name="Text Box 6">
            <a:extLst>
              <a:ext uri="{FF2B5EF4-FFF2-40B4-BE49-F238E27FC236}">
                <a16:creationId xmlns:a16="http://schemas.microsoft.com/office/drawing/2014/main" id="{39EC10C7-FBAB-4293-AEA1-AD41415C5A9C}"/>
              </a:ext>
            </a:extLst>
          </p:cNvPr>
          <p:cNvSpPr txBox="1">
            <a:spLocks noChangeArrowheads="1"/>
          </p:cNvSpPr>
          <p:nvPr/>
        </p:nvSpPr>
        <p:spPr bwMode="auto">
          <a:xfrm>
            <a:off x="1106306" y="3952181"/>
            <a:ext cx="10084266" cy="7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rgbClr val="000099"/>
                </a:solidFill>
                <a:latin typeface="Arial" panose="020B0604020202020204" pitchFamily="34" charset="0"/>
                <a:ea typeface="宋体" panose="02010600030101010101" pitchFamily="2" charset="-122"/>
              </a:defRPr>
            </a:lvl1pPr>
            <a:lvl2pPr marL="742950" indent="-285750" eaLnBrk="0" hangingPunct="0">
              <a:defRPr>
                <a:solidFill>
                  <a:srgbClr val="000099"/>
                </a:solidFill>
                <a:latin typeface="Arial" panose="020B0604020202020204" pitchFamily="34" charset="0"/>
                <a:ea typeface="宋体" panose="02010600030101010101" pitchFamily="2" charset="-122"/>
              </a:defRPr>
            </a:lvl2pPr>
            <a:lvl3pPr marL="1143000" indent="-228600" eaLnBrk="0" hangingPunct="0">
              <a:defRPr>
                <a:solidFill>
                  <a:srgbClr val="000099"/>
                </a:solidFill>
                <a:latin typeface="Arial" panose="020B0604020202020204" pitchFamily="34" charset="0"/>
                <a:ea typeface="宋体" panose="02010600030101010101" pitchFamily="2" charset="-122"/>
              </a:defRPr>
            </a:lvl3pPr>
            <a:lvl4pPr marL="1600200" indent="-228600" eaLnBrk="0" hangingPunct="0">
              <a:defRPr>
                <a:solidFill>
                  <a:srgbClr val="000099"/>
                </a:solidFill>
                <a:latin typeface="Arial" panose="020B0604020202020204" pitchFamily="34" charset="0"/>
                <a:ea typeface="宋体" panose="02010600030101010101" pitchFamily="2" charset="-122"/>
              </a:defRPr>
            </a:lvl4pPr>
            <a:lvl5pPr marL="2057400" indent="-228600" eaLnBrk="0" hangingPunct="0">
              <a:defRPr>
                <a:solidFill>
                  <a:srgbClr val="0000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9pPr>
          </a:lstStyle>
          <a:p>
            <a:pPr marL="720725" indent="-538163" eaLnBrk="1" hangingPunct="1"/>
            <a:r>
              <a:rPr lang="en-US" altLang="en-US" sz="2400" dirty="0">
                <a:solidFill>
                  <a:schemeClr val="tx1"/>
                </a:solidFill>
                <a:latin typeface="Trebuchet MS" panose="020B0603020202020204" pitchFamily="34" charset="0"/>
              </a:rPr>
              <a:t>(a) Neither reflexive nor antireflexive; symmetric, not antisymmetric; not transitive.</a:t>
            </a:r>
          </a:p>
          <a:p>
            <a:pPr eaLnBrk="1" hangingPunct="1"/>
            <a:endParaRPr lang="en-US" altLang="zh-CN" sz="2400" dirty="0">
              <a:solidFill>
                <a:schemeClr val="tx1"/>
              </a:solidFill>
              <a:latin typeface="Trebuchet MS" panose="020B0603020202020204" pitchFamily="34" charset="0"/>
            </a:endParaRPr>
          </a:p>
        </p:txBody>
      </p:sp>
      <p:sp>
        <p:nvSpPr>
          <p:cNvPr id="27" name="Text Box 7">
            <a:extLst>
              <a:ext uri="{FF2B5EF4-FFF2-40B4-BE49-F238E27FC236}">
                <a16:creationId xmlns:a16="http://schemas.microsoft.com/office/drawing/2014/main" id="{62D318B9-6E3E-4D32-A2FF-AEB5F8096B92}"/>
              </a:ext>
            </a:extLst>
          </p:cNvPr>
          <p:cNvSpPr txBox="1">
            <a:spLocks noChangeArrowheads="1"/>
          </p:cNvSpPr>
          <p:nvPr/>
        </p:nvSpPr>
        <p:spPr bwMode="auto">
          <a:xfrm>
            <a:off x="1143726" y="5439729"/>
            <a:ext cx="9897654" cy="77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rgbClr val="000099"/>
                </a:solidFill>
                <a:latin typeface="Arial" panose="020B0604020202020204" pitchFamily="34" charset="0"/>
                <a:ea typeface="宋体" panose="02010600030101010101" pitchFamily="2" charset="-122"/>
              </a:defRPr>
            </a:lvl1pPr>
            <a:lvl2pPr marL="742950" indent="-285750" eaLnBrk="0" hangingPunct="0">
              <a:defRPr>
                <a:solidFill>
                  <a:srgbClr val="000099"/>
                </a:solidFill>
                <a:latin typeface="Arial" panose="020B0604020202020204" pitchFamily="34" charset="0"/>
                <a:ea typeface="宋体" panose="02010600030101010101" pitchFamily="2" charset="-122"/>
              </a:defRPr>
            </a:lvl2pPr>
            <a:lvl3pPr marL="1143000" indent="-228600" eaLnBrk="0" hangingPunct="0">
              <a:defRPr>
                <a:solidFill>
                  <a:srgbClr val="000099"/>
                </a:solidFill>
                <a:latin typeface="Arial" panose="020B0604020202020204" pitchFamily="34" charset="0"/>
                <a:ea typeface="宋体" panose="02010600030101010101" pitchFamily="2" charset="-122"/>
              </a:defRPr>
            </a:lvl3pPr>
            <a:lvl4pPr marL="1600200" indent="-228600" eaLnBrk="0" hangingPunct="0">
              <a:defRPr>
                <a:solidFill>
                  <a:srgbClr val="000099"/>
                </a:solidFill>
                <a:latin typeface="Arial" panose="020B0604020202020204" pitchFamily="34" charset="0"/>
                <a:ea typeface="宋体" panose="02010600030101010101" pitchFamily="2" charset="-122"/>
              </a:defRPr>
            </a:lvl4pPr>
            <a:lvl5pPr marL="2057400" indent="-228600" eaLnBrk="0" hangingPunct="0">
              <a:defRPr>
                <a:solidFill>
                  <a:srgbClr val="000099"/>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rgbClr val="000099"/>
                </a:solidFill>
                <a:latin typeface="Arial" panose="020B0604020202020204" pitchFamily="34" charset="0"/>
                <a:ea typeface="宋体" panose="02010600030101010101" pitchFamily="2" charset="-122"/>
              </a:defRPr>
            </a:lvl9pPr>
          </a:lstStyle>
          <a:p>
            <a:pPr marL="720725" indent="-538163" eaLnBrk="1" fontAlgn="base" hangingPunct="1">
              <a:spcBef>
                <a:spcPct val="0"/>
              </a:spcBef>
              <a:spcAft>
                <a:spcPct val="0"/>
              </a:spcAft>
            </a:pPr>
            <a:r>
              <a:rPr lang="en-US" sz="2400" dirty="0">
                <a:solidFill>
                  <a:schemeClr val="tx1"/>
                </a:solidFill>
                <a:latin typeface="Trebuchet MS" panose="020B0603020202020204" pitchFamily="34" charset="0"/>
              </a:rPr>
              <a:t>(c) Reflexive, not antireflexive; antisymmetric, not symmetric; not transitive.</a:t>
            </a:r>
            <a:endParaRPr lang="en-US" altLang="zh-CN" sz="2400" dirty="0">
              <a:solidFill>
                <a:schemeClr val="tx1"/>
              </a:solidFill>
              <a:latin typeface="Trebuchet MS" panose="020B0603020202020204" pitchFamily="34" charset="0"/>
            </a:endParaRPr>
          </a:p>
        </p:txBody>
      </p:sp>
      <p:pic>
        <p:nvPicPr>
          <p:cNvPr id="14" name="图片 13">
            <a:extLst>
              <a:ext uri="{FF2B5EF4-FFF2-40B4-BE49-F238E27FC236}">
                <a16:creationId xmlns:a16="http://schemas.microsoft.com/office/drawing/2014/main" id="{9D1D1B41-DE77-4618-A744-E895D2D290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2423" y="915783"/>
            <a:ext cx="576355" cy="257697"/>
          </a:xfrm>
          <a:prstGeom prst="rect">
            <a:avLst/>
          </a:prstGeom>
        </p:spPr>
      </p:pic>
    </p:spTree>
    <p:extLst>
      <p:ext uri="{BB962C8B-B14F-4D97-AF65-F5344CB8AC3E}">
        <p14:creationId xmlns:p14="http://schemas.microsoft.com/office/powerpoint/2010/main" val="3824946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1+#ppt_w/2"/>
                                          </p:val>
                                        </p:tav>
                                        <p:tav tm="100000">
                                          <p:val>
                                            <p:strVal val="#ppt_x"/>
                                          </p:val>
                                        </p:tav>
                                      </p:tavLst>
                                    </p:anim>
                                    <p:anim calcmode="lin" valueType="num">
                                      <p:cBhvr additive="base">
                                        <p:cTn id="1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1+#ppt_w/2"/>
                                          </p:val>
                                        </p:tav>
                                        <p:tav tm="100000">
                                          <p:val>
                                            <p:strVal val="#ppt_x"/>
                                          </p:val>
                                        </p:tav>
                                      </p:tavLst>
                                    </p:anim>
                                    <p:anim calcmode="lin" valueType="num">
                                      <p:cBhvr additive="base">
                                        <p:cTn id="21"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additive="base">
                                        <p:cTn id="26" dur="500" fill="hold"/>
                                        <p:tgtEl>
                                          <p:spTgt spid="27"/>
                                        </p:tgtEl>
                                        <p:attrNameLst>
                                          <p:attrName>ppt_x</p:attrName>
                                        </p:attrNameLst>
                                      </p:cBhvr>
                                      <p:tavLst>
                                        <p:tav tm="0">
                                          <p:val>
                                            <p:strVal val="1+#ppt_w/2"/>
                                          </p:val>
                                        </p:tav>
                                        <p:tav tm="100000">
                                          <p:val>
                                            <p:strVal val="#ppt_x"/>
                                          </p:val>
                                        </p:tav>
                                      </p:tavLst>
                                    </p:anim>
                                    <p:anim calcmode="lin" valueType="num">
                                      <p:cBhvr additive="base">
                                        <p:cTn id="27"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87D1351-071F-0BCB-8D37-BB63001A0726}"/>
              </a:ext>
            </a:extLst>
          </p:cNvPr>
          <p:cNvPicPr>
            <a:picLocks noChangeAspect="1"/>
          </p:cNvPicPr>
          <p:nvPr/>
        </p:nvPicPr>
        <p:blipFill>
          <a:blip r:embed="rId3"/>
          <a:stretch>
            <a:fillRect/>
          </a:stretch>
        </p:blipFill>
        <p:spPr>
          <a:xfrm>
            <a:off x="2646115" y="2333980"/>
            <a:ext cx="8646725" cy="2386769"/>
          </a:xfrm>
          <a:prstGeom prst="rect">
            <a:avLst/>
          </a:prstGeom>
        </p:spPr>
      </p:pic>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rebuchet MS" panose="020B0603020202020204" pitchFamily="34" charset="0"/>
              </a:rPr>
              <a:t>4.3.1 Definition and Determination of Relation Properties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Relation Between Operations and Properties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75053" y="917574"/>
            <a:ext cx="10376718" cy="5349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zh-CN" altLang="en-US" sz="2800" b="1" dirty="0"/>
          </a:p>
          <a:p>
            <a:pPr eaLnBrk="1" hangingPunct="1">
              <a:spcBef>
                <a:spcPct val="0"/>
              </a:spcBef>
              <a:buFontTx/>
              <a:buNone/>
            </a:pPr>
            <a:r>
              <a:rPr kumimoji="0" lang="en-US" altLang="zh-CN" sz="2800" b="1" i="1" dirty="0"/>
              <a:t>     </a:t>
            </a:r>
            <a:endParaRPr lang="zh-CN" altLang="en-US" sz="2800" b="1" dirty="0"/>
          </a:p>
        </p:txBody>
      </p:sp>
      <p:graphicFrame>
        <p:nvGraphicFramePr>
          <p:cNvPr id="26" name="Group 59">
            <a:extLst>
              <a:ext uri="{FF2B5EF4-FFF2-40B4-BE49-F238E27FC236}">
                <a16:creationId xmlns:a16="http://schemas.microsoft.com/office/drawing/2014/main" id="{B61B649B-D876-43DE-A10B-02DC73669F01}"/>
              </a:ext>
            </a:extLst>
          </p:cNvPr>
          <p:cNvGraphicFramePr>
            <a:graphicFrameLocks noGrp="1"/>
          </p:cNvGraphicFramePr>
          <p:nvPr>
            <p:ph idx="1"/>
            <p:extLst>
              <p:ext uri="{D42A27DB-BD31-4B8C-83A1-F6EECF244321}">
                <p14:modId xmlns:p14="http://schemas.microsoft.com/office/powerpoint/2010/main" val="4074250222"/>
              </p:ext>
            </p:extLst>
          </p:nvPr>
        </p:nvGraphicFramePr>
        <p:xfrm>
          <a:off x="1075053" y="1305479"/>
          <a:ext cx="9967595" cy="2792413"/>
        </p:xfrm>
        <a:graphic>
          <a:graphicData uri="http://schemas.openxmlformats.org/drawingml/2006/table">
            <a:tbl>
              <a:tblPr/>
              <a:tblGrid>
                <a:gridCol w="1300992">
                  <a:extLst>
                    <a:ext uri="{9D8B030D-6E8A-4147-A177-3AD203B41FA5}">
                      <a16:colId xmlns:a16="http://schemas.microsoft.com/office/drawing/2014/main" val="20000"/>
                    </a:ext>
                  </a:extLst>
                </a:gridCol>
                <a:gridCol w="1605883">
                  <a:extLst>
                    <a:ext uri="{9D8B030D-6E8A-4147-A177-3AD203B41FA5}">
                      <a16:colId xmlns:a16="http://schemas.microsoft.com/office/drawing/2014/main" val="20001"/>
                    </a:ext>
                  </a:extLst>
                </a:gridCol>
                <a:gridCol w="1886072">
                  <a:extLst>
                    <a:ext uri="{9D8B030D-6E8A-4147-A177-3AD203B41FA5}">
                      <a16:colId xmlns:a16="http://schemas.microsoft.com/office/drawing/2014/main" val="20002"/>
                    </a:ext>
                  </a:extLst>
                </a:gridCol>
                <a:gridCol w="1600866">
                  <a:extLst>
                    <a:ext uri="{9D8B030D-6E8A-4147-A177-3AD203B41FA5}">
                      <a16:colId xmlns:a16="http://schemas.microsoft.com/office/drawing/2014/main" val="20003"/>
                    </a:ext>
                  </a:extLst>
                </a:gridCol>
                <a:gridCol w="2034018">
                  <a:extLst>
                    <a:ext uri="{9D8B030D-6E8A-4147-A177-3AD203B41FA5}">
                      <a16:colId xmlns:a16="http://schemas.microsoft.com/office/drawing/2014/main" val="20004"/>
                    </a:ext>
                  </a:extLst>
                </a:gridCol>
                <a:gridCol w="1539764">
                  <a:extLst>
                    <a:ext uri="{9D8B030D-6E8A-4147-A177-3AD203B41FA5}">
                      <a16:colId xmlns:a16="http://schemas.microsoft.com/office/drawing/2014/main" val="20005"/>
                    </a:ext>
                  </a:extLst>
                </a:gridCol>
              </a:tblGrid>
              <a:tr h="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Reflexivity</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err="1">
                          <a:latin typeface="Trebuchet MS" panose="020B0603020202020204" pitchFamily="34" charset="0"/>
                        </a:rPr>
                        <a:t>Irreflexivity</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Symmetry</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err="1">
                          <a:latin typeface="Trebuchet MS" panose="020B0603020202020204" pitchFamily="34" charset="0"/>
                        </a:rPr>
                        <a:t>Antisymmetry</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Transitivity</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EDAF8"/>
                    </a:solidFill>
                  </a:tcPr>
                </a:tc>
                <a:extLst>
                  <a:ext uri="{0D108BD9-81ED-4DB2-BD59-A6C34878D82A}">
                    <a16:rowId xmlns:a16="http://schemas.microsoft.com/office/drawing/2014/main" val="10000"/>
                  </a:ext>
                </a:extLst>
              </a:tr>
              <a:tr h="4603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rPr>
                        <a:t></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rPr>
                        <a:t> </a:t>
                      </a:r>
                      <a:endPar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7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a:t>
                      </a: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2</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 </a:t>
                      </a:r>
                      <a:endParaRPr kumimoji="1" lang="en-US" altLang="zh-CN"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7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a:t>
                      </a: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2</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 </a:t>
                      </a:r>
                      <a:endParaRPr kumimoji="1" lang="en-US" altLang="zh-CN"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7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rPr>
                        <a:t></a:t>
                      </a: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rPr>
                        <a:t>2</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sym typeface="Symbol" pitchFamily="18" charset="2"/>
                        </a:rPr>
                        <a:t> </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7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1</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Lucida Sans Unicode" pitchFamily="34" charset="0"/>
                        </a:rPr>
                        <a:t>∘</a:t>
                      </a:r>
                      <a:r>
                        <a:rPr kumimoji="1" lang="en-US" altLang="zh-CN" sz="2000" b="1" i="1"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R</a:t>
                      </a:r>
                      <a:r>
                        <a:rPr kumimoji="1" lang="en-US" altLang="zh-CN" sz="2000" b="1" i="0" u="none" strike="noStrike" cap="none" normalizeH="0" baseline="-30000" dirty="0">
                          <a:ln>
                            <a:noFill/>
                          </a:ln>
                          <a:solidFill>
                            <a:srgbClr val="000000"/>
                          </a:solidFill>
                          <a:effectLst/>
                          <a:latin typeface="Trebuchet MS" panose="020B0603020202020204" pitchFamily="34" charset="0"/>
                          <a:ea typeface="宋体" pitchFamily="2" charset="-122"/>
                          <a:cs typeface="Times New Roman" pitchFamily="18" charset="0"/>
                        </a:rPr>
                        <a:t>2</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itchFamily="2" charset="-122"/>
                          <a:cs typeface="Times New Roman" pitchFamily="18" charset="0"/>
                        </a:rPr>
                        <a:t> </a:t>
                      </a:r>
                      <a:endParaRPr kumimoji="1" lang="en-US" altLang="zh-CN" sz="2000" b="1" i="0" u="none" strike="noStrike" cap="none" normalizeH="0" baseline="0" dirty="0">
                        <a:ln>
                          <a:noFill/>
                        </a:ln>
                        <a:solidFill>
                          <a:schemeClr val="tx1"/>
                        </a:solidFill>
                        <a:effectLst/>
                        <a:latin typeface="Trebuchet MS" panose="020B0603020202020204" pitchFamily="34"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BDD7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6" name="图片 5">
            <a:extLst>
              <a:ext uri="{FF2B5EF4-FFF2-40B4-BE49-F238E27FC236}">
                <a16:creationId xmlns:a16="http://schemas.microsoft.com/office/drawing/2014/main" id="{D7991566-41EF-D336-2B70-20ADDCDE2BC0}"/>
              </a:ext>
            </a:extLst>
          </p:cNvPr>
          <p:cNvPicPr>
            <a:picLocks noChangeAspect="1"/>
          </p:cNvPicPr>
          <p:nvPr/>
        </p:nvPicPr>
        <p:blipFill>
          <a:blip r:embed="rId6"/>
          <a:stretch>
            <a:fillRect/>
          </a:stretch>
        </p:blipFill>
        <p:spPr>
          <a:xfrm>
            <a:off x="2314000" y="1686189"/>
            <a:ext cx="8646725" cy="2513911"/>
          </a:xfrm>
          <a:prstGeom prst="rect">
            <a:avLst/>
          </a:prstGeom>
        </p:spPr>
      </p:pic>
      <p:pic>
        <p:nvPicPr>
          <p:cNvPr id="9" name="图片 8">
            <a:extLst>
              <a:ext uri="{FF2B5EF4-FFF2-40B4-BE49-F238E27FC236}">
                <a16:creationId xmlns:a16="http://schemas.microsoft.com/office/drawing/2014/main" id="{D2EA4052-15DD-F144-B9BB-5E08E718CF9E}"/>
              </a:ext>
            </a:extLst>
          </p:cNvPr>
          <p:cNvPicPr>
            <a:picLocks noChangeAspect="1"/>
          </p:cNvPicPr>
          <p:nvPr/>
        </p:nvPicPr>
        <p:blipFill>
          <a:blip r:embed="rId7"/>
          <a:stretch>
            <a:fillRect/>
          </a:stretch>
        </p:blipFill>
        <p:spPr>
          <a:xfrm>
            <a:off x="2358076" y="1697008"/>
            <a:ext cx="8802947" cy="2386761"/>
          </a:xfrm>
          <a:prstGeom prst="rect">
            <a:avLst/>
          </a:prstGeom>
        </p:spPr>
      </p:pic>
    </p:spTree>
    <p:extLst>
      <p:ext uri="{BB962C8B-B14F-4D97-AF65-F5344CB8AC3E}">
        <p14:creationId xmlns:p14="http://schemas.microsoft.com/office/powerpoint/2010/main" val="462977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5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4.3 Properties of Relations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57943"/>
            <a:ext cx="8798289"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4.3.1 Definition and Determination of Relation Properties</a:t>
            </a:r>
          </a:p>
          <a:p>
            <a:pPr marL="990600" indent="0">
              <a:lnSpc>
                <a:spcPct val="120000"/>
              </a:lnSpc>
              <a:spcBef>
                <a:spcPts val="300"/>
              </a:spcBef>
              <a:buClr>
                <a:srgbClr val="0B5BFF"/>
              </a:buClr>
              <a:buSzPct val="120000"/>
              <a:buFont typeface="Arial" panose="020B0604020202020204" pitchFamily="34" charset="0"/>
              <a:buChar char="•"/>
            </a:pPr>
            <a:r>
              <a:rPr lang="en-US" sz="2400" dirty="0">
                <a:solidFill>
                  <a:schemeClr val="bg2">
                    <a:lumMod val="50000"/>
                  </a:schemeClr>
                </a:solidFill>
                <a:latin typeface="Trebuchet MS" panose="020B0603020202020204" pitchFamily="34" charset="0"/>
              </a:rPr>
              <a:t>Reflexivity and </a:t>
            </a:r>
            <a:r>
              <a:rPr lang="en-US" sz="2400" dirty="0" err="1">
                <a:solidFill>
                  <a:schemeClr val="bg2">
                    <a:lumMod val="50000"/>
                  </a:schemeClr>
                </a:solidFill>
                <a:latin typeface="Trebuchet MS" panose="020B0603020202020204" pitchFamily="34" charset="0"/>
              </a:rPr>
              <a:t>Irreflexivity</a:t>
            </a:r>
            <a:endParaRPr lang="en-US" sz="2400" dirty="0">
              <a:solidFill>
                <a:schemeClr val="bg2">
                  <a:lumMod val="50000"/>
                </a:schemeClr>
              </a:solidFill>
              <a:latin typeface="Trebuchet MS" panose="020B0603020202020204" pitchFamily="34" charset="0"/>
            </a:endParaRPr>
          </a:p>
          <a:p>
            <a:pPr marL="990600" indent="0">
              <a:lnSpc>
                <a:spcPct val="120000"/>
              </a:lnSpc>
              <a:spcBef>
                <a:spcPts val="300"/>
              </a:spcBef>
              <a:buClr>
                <a:srgbClr val="0B5BFF"/>
              </a:buClr>
              <a:buSzPct val="120000"/>
              <a:buFont typeface="Arial" panose="020B0604020202020204" pitchFamily="34" charset="0"/>
              <a:buChar char="•"/>
            </a:pPr>
            <a:r>
              <a:rPr lang="en-US" sz="2400" dirty="0">
                <a:solidFill>
                  <a:schemeClr val="bg2">
                    <a:lumMod val="50000"/>
                  </a:schemeClr>
                </a:solidFill>
                <a:latin typeface="Trebuchet MS" panose="020B0603020202020204" pitchFamily="34" charset="0"/>
              </a:rPr>
              <a:t>Symmetry and </a:t>
            </a:r>
            <a:r>
              <a:rPr lang="en-US" sz="2400" dirty="0" err="1">
                <a:solidFill>
                  <a:schemeClr val="bg2">
                    <a:lumMod val="50000"/>
                  </a:schemeClr>
                </a:solidFill>
                <a:latin typeface="Trebuchet MS" panose="020B0603020202020204" pitchFamily="34" charset="0"/>
              </a:rPr>
              <a:t>Antisymmetry</a:t>
            </a:r>
            <a:endParaRPr lang="en-US" sz="2400" dirty="0">
              <a:solidFill>
                <a:schemeClr val="bg2">
                  <a:lumMod val="50000"/>
                </a:schemeClr>
              </a:solidFill>
              <a:latin typeface="Trebuchet MS" panose="020B0603020202020204" pitchFamily="34" charset="0"/>
            </a:endParaRPr>
          </a:p>
          <a:p>
            <a:pPr marL="990600" indent="0">
              <a:lnSpc>
                <a:spcPct val="120000"/>
              </a:lnSpc>
              <a:spcBef>
                <a:spcPts val="300"/>
              </a:spcBef>
              <a:buClr>
                <a:srgbClr val="0B5BFF"/>
              </a:buClr>
              <a:buSzPct val="120000"/>
              <a:buFont typeface="Arial" panose="020B0604020202020204" pitchFamily="34" charset="0"/>
              <a:buChar char="•"/>
            </a:pPr>
            <a:r>
              <a:rPr lang="en-US" sz="2400" dirty="0">
                <a:solidFill>
                  <a:schemeClr val="bg2">
                    <a:lumMod val="50000"/>
                  </a:schemeClr>
                </a:solidFill>
                <a:latin typeface="Trebuchet MS" panose="020B0603020202020204" pitchFamily="34" charset="0"/>
              </a:rPr>
              <a:t>Transitivity</a:t>
            </a:r>
          </a:p>
          <a:p>
            <a:pPr>
              <a:lnSpc>
                <a:spcPct val="120000"/>
              </a:lnSpc>
              <a:spcBef>
                <a:spcPts val="3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4.3.2 Closure of Relations</a:t>
            </a:r>
          </a:p>
          <a:p>
            <a:pPr marL="990600" indent="0">
              <a:lnSpc>
                <a:spcPct val="120000"/>
              </a:lnSpc>
              <a:spcBef>
                <a:spcPts val="300"/>
              </a:spcBef>
              <a:buClr>
                <a:srgbClr val="0B5BFF"/>
              </a:buClr>
              <a:buSzPct val="120000"/>
            </a:pPr>
            <a:r>
              <a:rPr lang="en-US" sz="2400" dirty="0">
                <a:latin typeface="Trebuchet MS" panose="020B0603020202020204" pitchFamily="34" charset="0"/>
              </a:rPr>
              <a:t>Definition of Closure</a:t>
            </a:r>
          </a:p>
          <a:p>
            <a:pPr marL="990600" indent="0">
              <a:lnSpc>
                <a:spcPct val="120000"/>
              </a:lnSpc>
              <a:spcBef>
                <a:spcPts val="300"/>
              </a:spcBef>
              <a:buClr>
                <a:srgbClr val="0B5BFF"/>
              </a:buClr>
              <a:buSzPct val="120000"/>
            </a:pPr>
            <a:r>
              <a:rPr lang="en-US" sz="2400" dirty="0">
                <a:latin typeface="Trebuchet MS" panose="020B0603020202020204" pitchFamily="34" charset="0"/>
              </a:rPr>
              <a:t>Closure Calculation</a:t>
            </a:r>
          </a:p>
          <a:p>
            <a:pPr marL="990600" indent="0">
              <a:lnSpc>
                <a:spcPct val="120000"/>
              </a:lnSpc>
              <a:spcBef>
                <a:spcPts val="300"/>
              </a:spcBef>
              <a:buClr>
                <a:srgbClr val="0B5BFF"/>
              </a:buClr>
              <a:buSzPct val="120000"/>
            </a:pPr>
            <a:r>
              <a:rPr lang="en-US" sz="2400" dirty="0" err="1">
                <a:latin typeface="Trebuchet MS" panose="020B0603020202020204" pitchFamily="34" charset="0"/>
              </a:rPr>
              <a:t>Warshall's</a:t>
            </a:r>
            <a:r>
              <a:rPr lang="en-US" sz="2400" dirty="0">
                <a:latin typeface="Trebuchet MS" panose="020B0603020202020204" pitchFamily="34" charset="0"/>
              </a:rPr>
              <a:t> Algorithm</a:t>
            </a:r>
            <a:endParaRPr lang="zh-CN" altLang="en-US" sz="2800" b="1" dirty="0"/>
          </a:p>
        </p:txBody>
      </p:sp>
    </p:spTree>
    <p:extLst>
      <p:ext uri="{BB962C8B-B14F-4D97-AF65-F5344CB8AC3E}">
        <p14:creationId xmlns:p14="http://schemas.microsoft.com/office/powerpoint/2010/main" val="1993345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pt-BR" altLang="zh-CN" sz="2400" b="1" dirty="0">
                <a:latin typeface="Trebuchet MS" panose="020B0603020202020204" pitchFamily="34" charset="0"/>
              </a:rPr>
              <a:t>Definition of </a:t>
            </a:r>
            <a:r>
              <a:rPr lang="pt-BR" altLang="zh-CN" sz="2400" b="1" i="1" dirty="0">
                <a:latin typeface="Trebuchet MS" panose="020B0603020202020204" pitchFamily="34" charset="0"/>
              </a:rPr>
              <a:t>r</a:t>
            </a:r>
            <a:r>
              <a:rPr lang="pt-BR" altLang="zh-CN" sz="2400" b="1" dirty="0">
                <a:latin typeface="Trebuchet MS" panose="020B0603020202020204" pitchFamily="34" charset="0"/>
              </a:rPr>
              <a:t>(</a:t>
            </a:r>
            <a:r>
              <a:rPr lang="pt-BR" altLang="zh-CN" sz="2400" b="1" i="1" dirty="0">
                <a:latin typeface="Trebuchet MS" panose="020B0603020202020204" pitchFamily="34" charset="0"/>
              </a:rPr>
              <a:t>R</a:t>
            </a:r>
            <a:r>
              <a:rPr lang="pt-BR" altLang="zh-CN" sz="2400" b="1" dirty="0">
                <a:latin typeface="Trebuchet MS" panose="020B0603020202020204" pitchFamily="34" charset="0"/>
              </a:rPr>
              <a:t>), </a:t>
            </a:r>
            <a:r>
              <a:rPr lang="pt-BR" altLang="zh-CN" sz="2400" b="1" i="1" dirty="0">
                <a:latin typeface="Trebuchet MS" panose="020B0603020202020204" pitchFamily="34" charset="0"/>
              </a:rPr>
              <a:t>s</a:t>
            </a:r>
            <a:r>
              <a:rPr lang="pt-BR" altLang="zh-CN" sz="2400" b="1" dirty="0">
                <a:latin typeface="Trebuchet MS" panose="020B0603020202020204" pitchFamily="34" charset="0"/>
              </a:rPr>
              <a:t>(</a:t>
            </a:r>
            <a:r>
              <a:rPr lang="pt-BR" altLang="zh-CN" sz="2400" b="1" i="1" dirty="0">
                <a:latin typeface="Trebuchet MS" panose="020B0603020202020204" pitchFamily="34" charset="0"/>
              </a:rPr>
              <a:t>R</a:t>
            </a:r>
            <a:r>
              <a:rPr lang="pt-BR" altLang="zh-CN" sz="2400" b="1" dirty="0">
                <a:latin typeface="Trebuchet MS" panose="020B0603020202020204" pitchFamily="34" charset="0"/>
              </a:rPr>
              <a:t>) and </a:t>
            </a:r>
            <a:r>
              <a:rPr lang="pt-BR" altLang="zh-CN" sz="2400" b="1" i="1" dirty="0">
                <a:latin typeface="Trebuchet MS" panose="020B0603020202020204" pitchFamily="34" charset="0"/>
              </a:rPr>
              <a:t>t</a:t>
            </a:r>
            <a:r>
              <a:rPr lang="pt-BR" altLang="zh-CN" sz="2400" b="1" dirty="0">
                <a:latin typeface="Trebuchet MS" panose="020B0603020202020204" pitchFamily="34" charset="0"/>
              </a:rPr>
              <a:t>(</a:t>
            </a:r>
            <a:r>
              <a:rPr lang="pt-BR" altLang="zh-CN" sz="2400" b="1" i="1" dirty="0">
                <a:latin typeface="Trebuchet MS" panose="020B0603020202020204" pitchFamily="34" charset="0"/>
              </a:rPr>
              <a:t>R</a:t>
            </a:r>
            <a:r>
              <a:rPr lang="pt-BR"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62001"/>
            <a:ext cx="9006479" cy="53498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3" y="841377"/>
            <a:ext cx="9277261" cy="53498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4.17: </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 s</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 and </a:t>
            </a:r>
            <a:r>
              <a:rPr lang="en-US" altLang="zh-CN" sz="2400" b="1" i="1" dirty="0">
                <a:solidFill>
                  <a:srgbClr val="FF0000"/>
                </a:solidFill>
                <a:latin typeface="Trebuchet MS" panose="020B0603020202020204" pitchFamily="34" charset="0"/>
              </a:rPr>
              <a:t>t</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endParaRPr lang="en-US" sz="2400" b="1" dirty="0">
              <a:latin typeface="Trebuchet MS" panose="020B0603020202020204" pitchFamily="34" charset="0"/>
            </a:endParaRPr>
          </a:p>
          <a:p>
            <a:pPr indent="34925" eaLnBrk="1" hangingPunct="1">
              <a:lnSpc>
                <a:spcPct val="120000"/>
              </a:lnSpc>
              <a:spcBef>
                <a:spcPts val="300"/>
              </a:spcBef>
              <a:buFontTx/>
              <a:buNone/>
            </a:pPr>
            <a:r>
              <a:rPr lang="en-US" sz="2400" dirty="0">
                <a:latin typeface="Trebuchet MS" panose="020B0603020202020204" pitchFamily="34" charset="0"/>
              </a:rPr>
              <a:t> Let </a:t>
            </a:r>
            <a:r>
              <a:rPr lang="en-US" altLang="zh-CN" sz="2400" b="1" i="1" dirty="0">
                <a:latin typeface="Trebuchet MS" panose="020B0603020202020204" pitchFamily="34" charset="0"/>
              </a:rPr>
              <a:t>R </a:t>
            </a:r>
            <a:r>
              <a:rPr lang="en-US" sz="2400" dirty="0">
                <a:latin typeface="Trebuchet MS" panose="020B0603020202020204" pitchFamily="34" charset="0"/>
              </a:rPr>
              <a:t>be a relation on a non-empty set </a:t>
            </a:r>
            <a:r>
              <a:rPr lang="en-US" altLang="zh-CN" sz="2400" b="1" i="1" dirty="0">
                <a:latin typeface="Trebuchet MS" panose="020B0603020202020204" pitchFamily="34" charset="0"/>
              </a:rPr>
              <a:t>A.</a:t>
            </a:r>
            <a:r>
              <a:rPr lang="zh-CN" altLang="en-US" sz="2400" b="1" i="1" dirty="0">
                <a:latin typeface="Trebuchet MS" panose="020B0603020202020204" pitchFamily="34" charset="0"/>
              </a:rPr>
              <a:t> </a:t>
            </a:r>
            <a:r>
              <a:rPr lang="en-US" sz="2400" dirty="0">
                <a:latin typeface="Trebuchet MS" panose="020B0603020202020204" pitchFamily="34" charset="0"/>
              </a:rPr>
              <a:t>The </a:t>
            </a:r>
            <a:r>
              <a:rPr lang="en-US" sz="2400" b="1" dirty="0">
                <a:latin typeface="Trebuchet MS" panose="020B0603020202020204" pitchFamily="34" charset="0"/>
              </a:rPr>
              <a:t>reflexive (symmetric or transitive) closure</a:t>
            </a:r>
            <a:r>
              <a:rPr lang="en-US" sz="2400" dirty="0">
                <a:latin typeface="Trebuchet MS" panose="020B0603020202020204" pitchFamily="34" charset="0"/>
              </a:rPr>
              <a:t> of </a:t>
            </a:r>
            <a:r>
              <a:rPr lang="en-US" altLang="zh-CN" sz="2400" b="1" i="1" dirty="0">
                <a:latin typeface="Trebuchet MS" panose="020B0603020202020204" pitchFamily="34" charset="0"/>
              </a:rPr>
              <a:t>R </a:t>
            </a:r>
            <a:r>
              <a:rPr lang="en-US" sz="2400" dirty="0">
                <a:latin typeface="Trebuchet MS" panose="020B0603020202020204" pitchFamily="34" charset="0"/>
              </a:rPr>
              <a:t>is a relation </a:t>
            </a:r>
            <a:r>
              <a:rPr lang="en-US" altLang="zh-CN" sz="2400" b="1" i="1" dirty="0">
                <a:latin typeface="Trebuchet MS" panose="020B0603020202020204" pitchFamily="34" charset="0"/>
              </a:rPr>
              <a:t>R</a:t>
            </a:r>
            <a:r>
              <a:rPr lang="en-US" altLang="zh-CN" sz="2400" b="1" i="1" dirty="0">
                <a:latin typeface="Trebuchet MS" panose="020B0603020202020204" pitchFamily="34" charset="0"/>
                <a:sym typeface="Symbol" panose="05050102010706020507" pitchFamily="18" charset="2"/>
              </a:rPr>
              <a:t>  on </a:t>
            </a:r>
            <a:r>
              <a:rPr lang="en-US" altLang="zh-CN" sz="2400" b="1" i="1" dirty="0">
                <a:latin typeface="Trebuchet MS" panose="020B0603020202020204" pitchFamily="34" charset="0"/>
              </a:rPr>
              <a:t>A, such that </a:t>
            </a:r>
            <a:r>
              <a:rPr lang="en-US" altLang="zh-CN" sz="2400" b="1" i="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R</a:t>
            </a:r>
            <a:r>
              <a:rPr lang="en-US" altLang="zh-CN" sz="2400" b="1" i="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satisfies the following conditions:</a:t>
            </a:r>
          </a:p>
          <a:p>
            <a:pPr marL="354013" indent="274638">
              <a:lnSpc>
                <a:spcPct val="120000"/>
              </a:lnSpc>
              <a:spcBef>
                <a:spcPts val="300"/>
              </a:spcBef>
              <a:buClr>
                <a:srgbClr val="0B5BFF"/>
              </a:buClr>
              <a:buSzPct val="120000"/>
            </a:pPr>
            <a:r>
              <a:rPr lang="en-US" altLang="zh-CN" sz="2400" b="1" i="1" dirty="0">
                <a:latin typeface="Trebuchet MS" panose="020B0603020202020204" pitchFamily="34" charset="0"/>
              </a:rPr>
              <a:t>R</a:t>
            </a:r>
            <a:r>
              <a:rPr lang="en-US" altLang="zh-CN" sz="2400" b="1" i="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reflexive (symmetric or transitive).</a:t>
            </a:r>
          </a:p>
          <a:p>
            <a:pPr marL="354013" indent="274638">
              <a:lnSpc>
                <a:spcPct val="120000"/>
              </a:lnSpc>
              <a:spcBef>
                <a:spcPts val="300"/>
              </a:spcBef>
              <a:buClr>
                <a:srgbClr val="0B5BFF"/>
              </a:buClr>
              <a:buSzPct val="120000"/>
            </a:pP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p>
          <a:p>
            <a:pPr marL="354013" indent="274638">
              <a:lnSpc>
                <a:spcPct val="120000"/>
              </a:lnSpc>
              <a:spcBef>
                <a:spcPts val="300"/>
              </a:spcBef>
              <a:buClr>
                <a:srgbClr val="0B5BFF"/>
              </a:buClr>
              <a:buSzPct val="120000"/>
            </a:pPr>
            <a:r>
              <a:rPr lang="en-US" sz="2400" dirty="0">
                <a:latin typeface="Trebuchet MS" panose="020B0603020202020204" pitchFamily="34" charset="0"/>
              </a:rPr>
              <a:t>For any reflexive (symmetric or transitive) relation</a:t>
            </a:r>
            <a:r>
              <a:rPr lang="en-US" altLang="zh-CN" sz="2400" b="1" i="1" dirty="0">
                <a:latin typeface="Trebuchet MS" panose="020B0603020202020204" pitchFamily="34" charset="0"/>
              </a:rPr>
              <a:t> R</a:t>
            </a:r>
            <a:r>
              <a:rPr lang="en-US" altLang="zh-CN" sz="2400" b="1" dirty="0">
                <a:latin typeface="Trebuchet MS" panose="020B0603020202020204" pitchFamily="34" charset="0"/>
                <a:sym typeface="Symbol" panose="05050102010706020507" pitchFamily="18" charset="2"/>
              </a:rPr>
              <a:t></a:t>
            </a:r>
            <a:r>
              <a:rPr lang="en-US" sz="2400" b="1" dirty="0">
                <a:latin typeface="Trebuchet MS" panose="020B0603020202020204" pitchFamily="34" charset="0"/>
                <a:sym typeface="Symbol" panose="05050102010706020507" pitchFamily="18" charset="2"/>
              </a:rPr>
              <a:t> on A that contains </a:t>
            </a:r>
            <a:r>
              <a:rPr lang="en-US" sz="2400" b="1" i="1" dirty="0">
                <a:latin typeface="Trebuchet MS" panose="020B0603020202020204" pitchFamily="34" charset="0"/>
                <a:sym typeface="Symbol" panose="05050102010706020507" pitchFamily="18" charset="2"/>
              </a:rPr>
              <a:t>R</a:t>
            </a:r>
            <a:r>
              <a:rPr lang="en-US" sz="2400" b="1" dirty="0">
                <a:latin typeface="Trebuchet MS" panose="020B0603020202020204" pitchFamily="34" charset="0"/>
                <a:sym typeface="Symbol" panose="05050102010706020507" pitchFamily="18" charset="2"/>
              </a:rPr>
              <a:t>, we have </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 R</a:t>
            </a:r>
            <a:r>
              <a:rPr lang="en-US" altLang="zh-CN" sz="2400" b="1" dirty="0">
                <a:latin typeface="Trebuchet MS" panose="020B0603020202020204" pitchFamily="34" charset="0"/>
                <a:sym typeface="Symbol" panose="05050102010706020507" pitchFamily="18" charset="2"/>
              </a:rPr>
              <a:t> .</a:t>
            </a:r>
          </a:p>
          <a:p>
            <a:pPr marL="354013" indent="274638">
              <a:lnSpc>
                <a:spcPct val="120000"/>
              </a:lnSpc>
              <a:spcBef>
                <a:spcPts val="300"/>
              </a:spcBef>
              <a:buClr>
                <a:srgbClr val="0B5BFF"/>
              </a:buClr>
              <a:buSzPct val="120000"/>
            </a:pPr>
            <a:endParaRPr lang="en-US" altLang="zh-CN" sz="2400" b="1" dirty="0">
              <a:latin typeface="Trebuchet MS" panose="020B0603020202020204" pitchFamily="34" charset="0"/>
              <a:sym typeface="Symbol" panose="05050102010706020507" pitchFamily="18" charset="2"/>
            </a:endParaRPr>
          </a:p>
          <a:p>
            <a:pPr indent="125413" eaLnBrk="1" hangingPunct="1">
              <a:lnSpc>
                <a:spcPct val="120000"/>
              </a:lnSpc>
              <a:spcBef>
                <a:spcPts val="300"/>
              </a:spcBef>
              <a:buFontTx/>
              <a:buNone/>
            </a:pPr>
            <a:r>
              <a:rPr lang="en-US" sz="2400" dirty="0">
                <a:latin typeface="Trebuchet MS" panose="020B0603020202020204" pitchFamily="34" charset="0"/>
              </a:rPr>
              <a:t>The reflexive closure of </a:t>
            </a:r>
            <a:r>
              <a:rPr lang="en-US" sz="2400" b="1" i="1" dirty="0">
                <a:latin typeface="Trebuchet MS" panose="020B0603020202020204" pitchFamily="34" charset="0"/>
              </a:rPr>
              <a:t>R</a:t>
            </a:r>
            <a:r>
              <a:rPr lang="en-US" sz="2400" dirty="0">
                <a:latin typeface="Trebuchet MS" panose="020B0603020202020204" pitchFamily="34" charset="0"/>
              </a:rPr>
              <a:t> is usually denoted by </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dirty="0">
                <a:latin typeface="Trebuchet MS" panose="020B0603020202020204" pitchFamily="34" charset="0"/>
              </a:rPr>
              <a:t>, </a:t>
            </a:r>
            <a:r>
              <a:rPr lang="en-US" sz="2400" dirty="0">
                <a:latin typeface="Trebuchet MS" panose="020B0603020202020204" pitchFamily="34" charset="0"/>
              </a:rPr>
              <a:t>the symmetric closure by </a:t>
            </a:r>
            <a:r>
              <a:rPr lang="en-US" altLang="zh-CN" sz="2400" b="1" i="1" dirty="0">
                <a:solidFill>
                  <a:srgbClr val="FF0000"/>
                </a:solidFill>
                <a:latin typeface="Trebuchet MS" panose="020B0603020202020204" pitchFamily="34" charset="0"/>
              </a:rPr>
              <a:t>s</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dirty="0">
                <a:latin typeface="Trebuchet MS" panose="020B0603020202020204" pitchFamily="34" charset="0"/>
              </a:rPr>
              <a:t>, </a:t>
            </a:r>
            <a:r>
              <a:rPr lang="en-US" sz="2400" dirty="0">
                <a:latin typeface="Trebuchet MS" panose="020B0603020202020204" pitchFamily="34" charset="0"/>
              </a:rPr>
              <a:t>and the transitive closure by </a:t>
            </a:r>
            <a:r>
              <a:rPr lang="en-US" altLang="zh-CN" sz="2400" b="1" i="1" dirty="0">
                <a:solidFill>
                  <a:srgbClr val="FF0000"/>
                </a:solidFill>
                <a:latin typeface="Trebuchet MS" panose="020B0603020202020204" pitchFamily="34" charset="0"/>
              </a:rPr>
              <a:t>t</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dirty="0">
                <a:latin typeface="Trebuchet MS" panose="020B0603020202020204" pitchFamily="34" charset="0"/>
              </a:rPr>
              <a:t>. </a:t>
            </a:r>
          </a:p>
        </p:txBody>
      </p:sp>
    </p:spTree>
    <p:extLst>
      <p:ext uri="{BB962C8B-B14F-4D97-AF65-F5344CB8AC3E}">
        <p14:creationId xmlns:p14="http://schemas.microsoft.com/office/powerpoint/2010/main" val="2933443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1000"/>
                                        <p:tgtEl>
                                          <p:spTgt spid="9">
                                            <p:txEl>
                                              <p:pRg st="4" end="4"/>
                                            </p:txEl>
                                          </p:spTgt>
                                        </p:tgtEl>
                                      </p:cBhvr>
                                    </p:animEffect>
                                    <p:anim calcmode="lin" valueType="num">
                                      <p:cBhvr>
                                        <p:cTn id="18"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9">
                                            <p:txEl>
                                              <p:pRg st="6" end="6"/>
                                            </p:txEl>
                                          </p:spTgt>
                                        </p:tgtEl>
                                        <p:attrNameLst>
                                          <p:attrName>style.visibility</p:attrName>
                                        </p:attrNameLst>
                                      </p:cBhvr>
                                      <p:to>
                                        <p:strVal val="visible"/>
                                      </p:to>
                                    </p:set>
                                    <p:animEffect transition="in" filter="fade">
                                      <p:cBhvr>
                                        <p:cTn id="24" dur="1000"/>
                                        <p:tgtEl>
                                          <p:spTgt spid="9">
                                            <p:txEl>
                                              <p:pRg st="6" end="6"/>
                                            </p:txEl>
                                          </p:spTgt>
                                        </p:tgtEl>
                                      </p:cBhvr>
                                    </p:animEffect>
                                    <p:anim calcmode="lin" valueType="num">
                                      <p:cBhvr>
                                        <p:cTn id="25"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bg1"/>
                </a:solidFill>
                <a:latin typeface="Trebuchet MS" panose="020B0603020202020204" pitchFamily="34" charset="0"/>
              </a:rPr>
              <a:t>4.3.2 Closure of Relations</a:t>
            </a:r>
            <a:endParaRPr lang="en-US" altLang="zh-CN" sz="1800" dirty="0">
              <a:solidFill>
                <a:schemeClr val="bg1"/>
              </a:solidFill>
              <a:latin typeface="Trebuchet MS" panose="020B0603020202020204" pitchFamily="34" charset="0"/>
            </a:endParaRPr>
          </a:p>
          <a:p>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Construction of the Transitive Closure of Relation </a:t>
            </a:r>
            <a:r>
              <a:rPr lang="en-US" altLang="zh-CN" sz="2400" b="1" i="1" dirty="0">
                <a:latin typeface="Trebuchet MS" panose="020B0603020202020204" pitchFamily="34" charset="0"/>
              </a:rPr>
              <a:t>R</a:t>
            </a:r>
            <a:endParaRPr lang="zh-CN" altLang="en-US" sz="2400" b="1" i="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3" y="841377"/>
            <a:ext cx="9948182" cy="48990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600"/>
              </a:spcBef>
              <a:buClr>
                <a:srgbClr val="0B5BFF"/>
              </a:buClr>
              <a:buSzPct val="80000"/>
              <a:buFont typeface="Wingdings" panose="05000000000000000000" pitchFamily="2" charset="2"/>
              <a:buChar char="n"/>
            </a:pPr>
            <a:r>
              <a:rPr lang="en-US" sz="2400" dirty="0">
                <a:latin typeface="Trebuchet MS" panose="020B0603020202020204" pitchFamily="34" charset="0"/>
              </a:rPr>
              <a:t>For a relation </a:t>
            </a:r>
            <a:r>
              <a:rPr lang="en-US" altLang="zh-CN" sz="2400" b="1" i="1" dirty="0">
                <a:latin typeface="Trebuchet MS" panose="020B0603020202020204" pitchFamily="34" charset="0"/>
              </a:rPr>
              <a:t>R</a:t>
            </a:r>
            <a:r>
              <a:rPr lang="en-US" altLang="zh-CN" sz="2400" i="1" dirty="0">
                <a:latin typeface="Trebuchet MS" panose="020B0603020202020204" pitchFamily="34" charset="0"/>
              </a:rPr>
              <a:t> </a:t>
            </a:r>
            <a:r>
              <a:rPr lang="en-US" sz="2400" dirty="0">
                <a:latin typeface="Trebuchet MS" panose="020B0603020202020204" pitchFamily="34" charset="0"/>
              </a:rPr>
              <a:t> on a non-empty set </a:t>
            </a:r>
            <a:r>
              <a:rPr lang="en-US" altLang="zh-CN" sz="2400" b="1" i="1" dirty="0">
                <a:latin typeface="Trebuchet MS" panose="020B0603020202020204" pitchFamily="34" charset="0"/>
              </a:rPr>
              <a:t>A</a:t>
            </a:r>
            <a:r>
              <a:rPr lang="en-US" sz="2400" dirty="0">
                <a:latin typeface="Trebuchet MS" panose="020B0603020202020204" pitchFamily="34" charset="0"/>
              </a:rPr>
              <a:t>, the reflexive closure </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symmetric closure </a:t>
            </a:r>
            <a:r>
              <a:rPr lang="en-US" altLang="zh-CN" sz="2400" b="1" i="1" dirty="0">
                <a:solidFill>
                  <a:srgbClr val="FF0000"/>
                </a:solidFill>
                <a:latin typeface="Trebuchet MS" panose="020B0603020202020204" pitchFamily="34" charset="0"/>
              </a:rPr>
              <a:t>s</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and transitive closure </a:t>
            </a:r>
            <a:r>
              <a:rPr lang="en-US" altLang="zh-CN" sz="2400" b="1" i="1" dirty="0">
                <a:solidFill>
                  <a:srgbClr val="FF0000"/>
                </a:solidFill>
                <a:latin typeface="Trebuchet MS" panose="020B0603020202020204" pitchFamily="34" charset="0"/>
              </a:rPr>
              <a:t>t</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R</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can be constructed.</a:t>
            </a:r>
          </a:p>
          <a:p>
            <a:pPr>
              <a:lnSpc>
                <a:spcPct val="130000"/>
              </a:lnSpc>
              <a:spcBef>
                <a:spcPts val="600"/>
              </a:spcBef>
              <a:buClr>
                <a:srgbClr val="0B5B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latin typeface="Trebuchet MS" panose="020B0603020202020204" pitchFamily="34" charset="0"/>
              </a:rPr>
              <a:t>reflexive closure</a:t>
            </a:r>
            <a:r>
              <a:rPr lang="en-US" sz="2400" i="1" dirty="0">
                <a:latin typeface="Trebuchet MS" panose="020B0603020202020204" pitchFamily="34" charset="0"/>
              </a:rPr>
              <a:t> </a:t>
            </a:r>
            <a:r>
              <a:rPr lang="en-US" sz="2400" b="1" i="1" dirty="0">
                <a:latin typeface="Trebuchet MS" panose="020B0603020202020204" pitchFamily="34" charset="0"/>
              </a:rPr>
              <a:t>R′ </a:t>
            </a:r>
            <a:r>
              <a:rPr lang="en-US" sz="2400" dirty="0">
                <a:latin typeface="Trebuchet MS" panose="020B0603020202020204" pitchFamily="34" charset="0"/>
              </a:rPr>
              <a:t>of </a:t>
            </a:r>
            <a:r>
              <a:rPr lang="en-US" sz="2400" i="1" dirty="0">
                <a:latin typeface="Trebuchet MS" panose="020B0603020202020204" pitchFamily="34" charset="0"/>
              </a:rPr>
              <a:t>R</a:t>
            </a:r>
            <a:r>
              <a:rPr lang="en-US" sz="2400" dirty="0">
                <a:latin typeface="Trebuchet MS" panose="020B0603020202020204" pitchFamily="34" charset="0"/>
              </a:rPr>
              <a:t> is a relation obtained by adding all necessary pairs to ensure reflexivity, and it is the smallest superset. It can be defined as: </a:t>
            </a:r>
            <a:r>
              <a:rPr lang="en-US" altLang="zh-CN" sz="2400" b="1" i="1" dirty="0">
                <a:solidFill>
                  <a:srgbClr val="374151"/>
                </a:solidFill>
                <a:latin typeface="Trebuchet MS" panose="020B0603020202020204" pitchFamily="34" charset="0"/>
              </a:rPr>
              <a:t>R</a:t>
            </a:r>
            <a:r>
              <a:rPr lang="en-US" altLang="zh-CN" sz="2400" b="1" dirty="0">
                <a:solidFill>
                  <a:srgbClr val="374151"/>
                </a:solidFill>
                <a:latin typeface="Trebuchet MS" panose="020B0603020202020204" pitchFamily="34" charset="0"/>
              </a:rPr>
              <a:t>′=</a:t>
            </a:r>
            <a:r>
              <a:rPr lang="en-US" altLang="zh-CN" sz="2400" b="1" i="1" dirty="0">
                <a:solidFill>
                  <a:srgbClr val="374151"/>
                </a:solidFill>
                <a:latin typeface="Trebuchet MS" panose="020B0603020202020204" pitchFamily="34" charset="0"/>
              </a:rPr>
              <a:t>R</a:t>
            </a:r>
            <a:r>
              <a:rPr lang="en-US" altLang="zh-CN" sz="2400" b="1" dirty="0">
                <a:solidFill>
                  <a:srgbClr val="374151"/>
                </a:solidFill>
                <a:latin typeface="Trebuchet MS" panose="020B0603020202020204" pitchFamily="34" charset="0"/>
              </a:rPr>
              <a:t>∪{(</a:t>
            </a:r>
            <a:r>
              <a:rPr lang="en-US" altLang="zh-CN" sz="2400" b="1" i="1" dirty="0" err="1">
                <a:solidFill>
                  <a:srgbClr val="374151"/>
                </a:solidFill>
                <a:latin typeface="Trebuchet MS" panose="020B0603020202020204" pitchFamily="34" charset="0"/>
              </a:rPr>
              <a:t>a</a:t>
            </a:r>
            <a:r>
              <a:rPr lang="en-US" altLang="zh-CN" sz="2400" b="1" dirty="0" err="1">
                <a:solidFill>
                  <a:srgbClr val="374151"/>
                </a:solidFill>
                <a:latin typeface="Trebuchet MS" panose="020B0603020202020204" pitchFamily="34" charset="0"/>
              </a:rPr>
              <a:t>,</a:t>
            </a:r>
            <a:r>
              <a:rPr lang="en-US" altLang="zh-CN" sz="2400" b="1" i="1" dirty="0" err="1">
                <a:solidFill>
                  <a:srgbClr val="374151"/>
                </a:solidFill>
                <a:latin typeface="Trebuchet MS" panose="020B0603020202020204" pitchFamily="34" charset="0"/>
              </a:rPr>
              <a:t>a</a:t>
            </a:r>
            <a:r>
              <a:rPr lang="en-US" altLang="zh-CN" sz="2400" b="1" dirty="0">
                <a:solidFill>
                  <a:srgbClr val="374151"/>
                </a:solidFill>
                <a:latin typeface="Trebuchet MS" panose="020B0603020202020204" pitchFamily="34" charset="0"/>
              </a:rPr>
              <a:t>)∣</a:t>
            </a:r>
            <a:r>
              <a:rPr lang="en-US" altLang="zh-CN" sz="2400" b="1" i="1" dirty="0" err="1">
                <a:solidFill>
                  <a:srgbClr val="374151"/>
                </a:solidFill>
                <a:latin typeface="Trebuchet MS" panose="020B0603020202020204" pitchFamily="34" charset="0"/>
              </a:rPr>
              <a:t>a</a:t>
            </a:r>
            <a:r>
              <a:rPr lang="en-US" altLang="zh-CN" sz="2400" b="1" dirty="0" err="1">
                <a:solidFill>
                  <a:srgbClr val="374151"/>
                </a:solidFill>
                <a:latin typeface="Trebuchet MS" panose="020B0603020202020204" pitchFamily="34" charset="0"/>
              </a:rPr>
              <a:t>∈</a:t>
            </a:r>
            <a:r>
              <a:rPr lang="en-US" altLang="zh-CN" sz="2400" b="1" i="1" dirty="0" err="1">
                <a:solidFill>
                  <a:srgbClr val="374151"/>
                </a:solidFill>
                <a:latin typeface="Trebuchet MS" panose="020B0603020202020204" pitchFamily="34" charset="0"/>
              </a:rPr>
              <a:t>A</a:t>
            </a:r>
            <a:r>
              <a:rPr lang="en-US" altLang="zh-CN" sz="2400" b="1" dirty="0">
                <a:solidFill>
                  <a:srgbClr val="374151"/>
                </a:solidFill>
                <a:latin typeface="Trebuchet MS" panose="020B0603020202020204" pitchFamily="34" charset="0"/>
              </a:rPr>
              <a:t>}</a:t>
            </a:r>
          </a:p>
          <a:p>
            <a:pPr>
              <a:lnSpc>
                <a:spcPct val="130000"/>
              </a:lnSpc>
              <a:spcBef>
                <a:spcPts val="600"/>
              </a:spcBef>
              <a:buClr>
                <a:srgbClr val="0B5B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latin typeface="Trebuchet MS" panose="020B0603020202020204" pitchFamily="34" charset="0"/>
              </a:rPr>
              <a:t>symmetric closure</a:t>
            </a:r>
            <a:r>
              <a:rPr lang="en-US" sz="2400" i="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of </a:t>
            </a:r>
            <a:r>
              <a:rPr lang="en-US" altLang="zh-CN" sz="2400" b="1" i="1" dirty="0">
                <a:latin typeface="Trebuchet MS" panose="020B0603020202020204" pitchFamily="34" charset="0"/>
                <a:sym typeface="Symbol" panose="05050102010706020507" pitchFamily="18" charset="2"/>
              </a:rPr>
              <a:t>R</a:t>
            </a:r>
            <a:r>
              <a:rPr lang="en-US" sz="2400" dirty="0">
                <a:latin typeface="Trebuchet MS" panose="020B0603020202020204" pitchFamily="34" charset="0"/>
              </a:rPr>
              <a:t> is a relation obtained by adding all necessary pairs to ensure symmetry, and it is the smallest superset. It can be defined as:</a:t>
            </a:r>
            <a:r>
              <a:rPr lang="zh-CN" altLang="en-US" sz="2400" b="1" dirty="0">
                <a:latin typeface="Trebuchet MS" panose="020B0603020202020204" pitchFamily="34" charset="0"/>
              </a:rPr>
              <a:t>  </a:t>
            </a:r>
            <a:r>
              <a:rPr lang="en-US" altLang="zh-CN" sz="2400" b="1" i="1" dirty="0">
                <a:solidFill>
                  <a:srgbClr val="374151"/>
                </a:solidFill>
                <a:latin typeface="Trebuchet MS" panose="020B0603020202020204" pitchFamily="34" charset="0"/>
              </a:rPr>
              <a:t>R</a:t>
            </a:r>
            <a:r>
              <a:rPr lang="en-US" altLang="zh-CN" sz="2400" b="1" dirty="0">
                <a:solidFill>
                  <a:srgbClr val="374151"/>
                </a:solidFill>
                <a:latin typeface="Trebuchet MS" panose="020B0603020202020204" pitchFamily="34" charset="0"/>
              </a:rPr>
              <a:t>′=</a:t>
            </a:r>
            <a:r>
              <a:rPr lang="en-US" altLang="zh-CN" sz="2400" b="1" i="1" dirty="0">
                <a:effectLst/>
                <a:latin typeface="Trebuchet MS" panose="020B0603020202020204" pitchFamily="34" charset="0"/>
                <a:ea typeface="等线" panose="02010600030101010101" pitchFamily="2" charset="-122"/>
                <a:cs typeface="Times New Roman" panose="02020603050405020304" pitchFamily="18" charset="0"/>
              </a:rPr>
              <a:t>R</a:t>
            </a:r>
            <a:r>
              <a:rPr lang="en-US" altLang="zh-CN" sz="2400" b="1"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dirty="0">
                <a:effectLst/>
                <a:latin typeface="Trebuchet MS" panose="020B0603020202020204" pitchFamily="34" charset="0"/>
                <a:ea typeface="等线" panose="02010600030101010101" pitchFamily="2" charset="-122"/>
              </a:rPr>
              <a:t>{(</a:t>
            </a:r>
            <a:r>
              <a:rPr lang="en-US" altLang="zh-CN" sz="2400" b="1" i="1" dirty="0" err="1">
                <a:effectLst/>
                <a:latin typeface="Trebuchet MS" panose="020B0603020202020204" pitchFamily="34" charset="0"/>
                <a:ea typeface="等线" panose="02010600030101010101" pitchFamily="2" charset="-122"/>
                <a:cs typeface="Times New Roman" panose="02020603050405020304" pitchFamily="18" charset="0"/>
              </a:rPr>
              <a:t>b</a:t>
            </a:r>
            <a:r>
              <a:rPr lang="en-US" altLang="zh-CN" sz="2400" b="1" dirty="0" err="1">
                <a:effectLst/>
                <a:latin typeface="Trebuchet MS" panose="020B0603020202020204" pitchFamily="34" charset="0"/>
                <a:ea typeface="等线" panose="02010600030101010101" pitchFamily="2" charset="-122"/>
              </a:rPr>
              <a:t>,</a:t>
            </a:r>
            <a:r>
              <a:rPr lang="en-US" altLang="zh-CN" sz="2400" b="1" i="1" dirty="0" err="1">
                <a:effectLst/>
                <a:latin typeface="Trebuchet MS" panose="020B0603020202020204" pitchFamily="34" charset="0"/>
                <a:ea typeface="等线" panose="02010600030101010101" pitchFamily="2" charset="-122"/>
                <a:cs typeface="Times New Roman" panose="02020603050405020304" pitchFamily="18" charset="0"/>
              </a:rPr>
              <a:t>a</a:t>
            </a:r>
            <a:r>
              <a:rPr lang="en-US" altLang="zh-CN" sz="2400" b="1" dirty="0">
                <a:effectLst/>
                <a:latin typeface="Trebuchet MS" panose="020B0603020202020204" pitchFamily="34" charset="0"/>
                <a:ea typeface="等线" panose="02010600030101010101" pitchFamily="2" charset="-122"/>
              </a:rPr>
              <a:t>)</a:t>
            </a:r>
            <a:r>
              <a:rPr lang="en-US" altLang="zh-CN" sz="2400" b="1"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dirty="0">
                <a:effectLst/>
                <a:latin typeface="Trebuchet MS" panose="020B0603020202020204" pitchFamily="34" charset="0"/>
                <a:ea typeface="等线" panose="02010600030101010101" pitchFamily="2" charset="-122"/>
              </a:rPr>
              <a:t>(</a:t>
            </a:r>
            <a:r>
              <a:rPr lang="en-US" altLang="zh-CN" sz="2400" b="1" i="1" dirty="0" err="1">
                <a:effectLst/>
                <a:latin typeface="Trebuchet MS" panose="020B0603020202020204" pitchFamily="34" charset="0"/>
                <a:ea typeface="等线" panose="02010600030101010101" pitchFamily="2" charset="-122"/>
                <a:cs typeface="Times New Roman" panose="02020603050405020304" pitchFamily="18" charset="0"/>
              </a:rPr>
              <a:t>a</a:t>
            </a:r>
            <a:r>
              <a:rPr lang="en-US" altLang="zh-CN" sz="2400" b="1" dirty="0" err="1">
                <a:effectLst/>
                <a:latin typeface="Trebuchet MS" panose="020B0603020202020204" pitchFamily="34" charset="0"/>
                <a:ea typeface="等线" panose="02010600030101010101" pitchFamily="2" charset="-122"/>
              </a:rPr>
              <a:t>,</a:t>
            </a:r>
            <a:r>
              <a:rPr lang="en-US" altLang="zh-CN" sz="2400" b="1" i="1" dirty="0" err="1">
                <a:effectLst/>
                <a:latin typeface="Trebuchet MS" panose="020B0603020202020204" pitchFamily="34" charset="0"/>
                <a:ea typeface="等线" panose="02010600030101010101" pitchFamily="2" charset="-122"/>
                <a:cs typeface="Times New Roman" panose="02020603050405020304" pitchFamily="18" charset="0"/>
              </a:rPr>
              <a:t>b</a:t>
            </a:r>
            <a:r>
              <a:rPr lang="en-US" altLang="zh-CN" sz="2400" b="1" dirty="0">
                <a:effectLst/>
                <a:latin typeface="Trebuchet MS" panose="020B0603020202020204" pitchFamily="34" charset="0"/>
                <a:ea typeface="等线" panose="02010600030101010101" pitchFamily="2" charset="-122"/>
              </a:rPr>
              <a:t>)</a:t>
            </a:r>
            <a:r>
              <a:rPr lang="en-US" altLang="zh-CN" sz="2400" b="1"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i="1" dirty="0">
                <a:effectLst/>
                <a:latin typeface="Trebuchet MS" panose="020B0603020202020204" pitchFamily="34" charset="0"/>
                <a:ea typeface="等线" panose="02010600030101010101" pitchFamily="2" charset="-122"/>
                <a:cs typeface="Times New Roman" panose="02020603050405020304" pitchFamily="18" charset="0"/>
              </a:rPr>
              <a:t>R</a:t>
            </a:r>
            <a:r>
              <a:rPr lang="en-US" altLang="zh-CN" sz="2400" b="1" dirty="0">
                <a:effectLst/>
                <a:latin typeface="Trebuchet MS" panose="020B0603020202020204" pitchFamily="34" charset="0"/>
                <a:ea typeface="等线" panose="02010600030101010101" pitchFamily="2" charset="-122"/>
              </a:rPr>
              <a:t>}</a:t>
            </a:r>
          </a:p>
          <a:p>
            <a:pPr marL="457200" lvl="1" indent="0">
              <a:spcBef>
                <a:spcPts val="300"/>
              </a:spcBef>
              <a:buNone/>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798110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bg1"/>
                </a:solidFill>
                <a:latin typeface="Trebuchet MS" panose="020B0603020202020204" pitchFamily="34" charset="0"/>
              </a:rPr>
              <a:t>4.3.2 Closure of Relations</a:t>
            </a:r>
            <a:endParaRPr lang="en-US" altLang="zh-CN" sz="1800" dirty="0">
              <a:solidFill>
                <a:schemeClr val="bg1"/>
              </a:solidFill>
              <a:latin typeface="Trebuchet MS" panose="020B0603020202020204" pitchFamily="34" charset="0"/>
            </a:endParaRPr>
          </a:p>
          <a:p>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Construction of the Transitive Closure of Relation </a:t>
            </a:r>
            <a:r>
              <a:rPr lang="en-US" altLang="zh-CN" sz="2400" b="1" i="1" dirty="0">
                <a:latin typeface="Trebuchet MS" panose="020B0603020202020204" pitchFamily="34" charset="0"/>
              </a:rPr>
              <a:t>R</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39882" y="1233639"/>
            <a:ext cx="9600567" cy="40506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600"/>
              </a:spcBef>
              <a:buClr>
                <a:srgbClr val="0B5B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latin typeface="Trebuchet MS" panose="020B0603020202020204" pitchFamily="34" charset="0"/>
              </a:rPr>
              <a:t>transitive closure </a:t>
            </a:r>
            <a:r>
              <a:rPr lang="en-US" altLang="zh-CN" sz="2400" b="1" i="1" dirty="0">
                <a:latin typeface="Trebuchet MS" panose="020B0603020202020204" pitchFamily="34" charset="0"/>
              </a:rPr>
              <a:t>R</a:t>
            </a:r>
            <a:r>
              <a:rPr lang="en-US" altLang="zh-CN" sz="2400" b="1" i="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of </a:t>
            </a:r>
            <a:r>
              <a:rPr lang="en-US" altLang="zh-CN" sz="2400" b="1" i="1" dirty="0">
                <a:latin typeface="Trebuchet MS" panose="020B0603020202020204" pitchFamily="34" charset="0"/>
                <a:sym typeface="Symbol" panose="05050102010706020507" pitchFamily="18" charset="2"/>
              </a:rPr>
              <a:t>R</a:t>
            </a:r>
            <a:r>
              <a:rPr lang="en-US" sz="2400" dirty="0">
                <a:latin typeface="Trebuchet MS" panose="020B0603020202020204" pitchFamily="34" charset="0"/>
              </a:rPr>
              <a:t> is a relation obtained by adding all necessary pairs to ensure transitivity, and it is the smallest superset. It can be defined as:</a:t>
            </a:r>
          </a:p>
          <a:p>
            <a:pPr>
              <a:lnSpc>
                <a:spcPct val="130000"/>
              </a:lnSpc>
              <a:spcBef>
                <a:spcPts val="600"/>
              </a:spcBef>
              <a:buClr>
                <a:srgbClr val="0B5BFF"/>
              </a:buClr>
              <a:buSzPct val="80000"/>
              <a:buFont typeface="Wingdings" panose="05000000000000000000" pitchFamily="2" charset="2"/>
              <a:buChar char="n"/>
            </a:pPr>
            <a:endParaRPr lang="en-US" sz="2400" dirty="0">
              <a:latin typeface="Trebuchet MS" panose="020B0603020202020204" pitchFamily="34" charset="0"/>
            </a:endParaRPr>
          </a:p>
          <a:p>
            <a:pPr marL="182563" indent="0">
              <a:lnSpc>
                <a:spcPct val="130000"/>
              </a:lnSpc>
              <a:spcBef>
                <a:spcPts val="600"/>
              </a:spcBef>
              <a:buClr>
                <a:srgbClr val="0B5BFF"/>
              </a:buClr>
              <a:buSzPct val="80000"/>
              <a:buNone/>
            </a:pPr>
            <a:r>
              <a:rPr lang="en-US" sz="2400" dirty="0">
                <a:latin typeface="Trebuchet MS" panose="020B0603020202020204" pitchFamily="34" charset="0"/>
              </a:rPr>
              <a:t>For each pair of elements </a:t>
            </a:r>
            <a:r>
              <a:rPr lang="en-US" sz="2400" dirty="0" err="1">
                <a:latin typeface="Trebuchet MS" panose="020B0603020202020204" pitchFamily="34" charset="0"/>
              </a:rPr>
              <a:t>a,c∈A</a:t>
            </a:r>
            <a:r>
              <a:rPr lang="en-US" sz="2400" dirty="0">
                <a:latin typeface="Trebuchet MS" panose="020B0603020202020204" pitchFamily="34" charset="0"/>
              </a:rPr>
              <a:t>, if there exist one or more elements </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1</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2</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n</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  </a:t>
            </a:r>
            <a:r>
              <a:rPr lang="en-US" altLang="zh-CN" sz="2400" dirty="0">
                <a:latin typeface="Trebuchet MS" panose="020B0603020202020204" pitchFamily="34" charset="0"/>
              </a:rPr>
              <a:t>such that </a:t>
            </a:r>
            <a:r>
              <a:rPr lang="zh-CN" altLang="zh-CN" sz="2400" b="1" dirty="0">
                <a:latin typeface="Trebuchet MS" panose="020B0603020202020204" pitchFamily="34" charset="0"/>
              </a:rPr>
              <a:t> </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(a,b</a:t>
            </a:r>
            <a:r>
              <a:rPr kumimoji="1" lang="en-US" altLang="zh-CN" sz="2400" b="1" i="1" baseline="-30000" dirty="0">
                <a:latin typeface="Trebuchet MS" panose="020B0603020202020204" pitchFamily="34" charset="0"/>
              </a:rPr>
              <a:t>1</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1</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2</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n−1</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n</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​),(b</a:t>
            </a:r>
            <a:r>
              <a:rPr kumimoji="1" lang="en-US" altLang="zh-CN" sz="2400" b="1" i="1" baseline="-30000" dirty="0">
                <a:latin typeface="Trebuchet MS" panose="020B0603020202020204" pitchFamily="34" charset="0"/>
              </a:rPr>
              <a:t>n</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​,c)</a:t>
            </a:r>
            <a:r>
              <a:rPr lang="en-US" altLang="zh-CN" sz="2400" dirty="0">
                <a:effectLst/>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are all in</a:t>
            </a:r>
            <a:r>
              <a:rPr lang="zh-CN" altLang="zh-CN" sz="2400" dirty="0">
                <a:effectLst/>
                <a:latin typeface="Trebuchet MS" panose="020B0603020202020204" pitchFamily="34" charset="0"/>
                <a:ea typeface="等线"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等线" panose="02010600030101010101" pitchFamily="2" charset="-122"/>
                <a:cs typeface="Times New Roman" panose="02020603050405020304" pitchFamily="18" charset="0"/>
              </a:rPr>
              <a:t>R</a:t>
            </a:r>
            <a:r>
              <a:rPr lang="en-US" altLang="zh-CN" sz="2400" dirty="0">
                <a:effectLst/>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 then (</a:t>
            </a:r>
            <a:r>
              <a:rPr lang="en-US" altLang="zh-CN" sz="2400" dirty="0" err="1">
                <a:latin typeface="Trebuchet MS" panose="020B0603020202020204" pitchFamily="34" charset="0"/>
              </a:rPr>
              <a:t>a,c</a:t>
            </a:r>
            <a:r>
              <a:rPr lang="en-US" altLang="zh-CN" sz="2400" dirty="0">
                <a:latin typeface="Trebuchet MS" panose="020B0603020202020204" pitchFamily="34" charset="0"/>
              </a:rPr>
              <a:t>) should be in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dirty="0">
                <a:latin typeface="Trebuchet MS" panose="020B0603020202020204" pitchFamily="34" charset="0"/>
              </a:rPr>
              <a:t>.</a:t>
            </a: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2039086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chemeClr val="bg1"/>
                </a:solidFill>
                <a:latin typeface="Trebuchet MS" panose="020B0603020202020204" pitchFamily="34" charset="0"/>
              </a:rPr>
              <a:t>4.3.2 Closure of Relations</a:t>
            </a:r>
            <a:endParaRPr lang="en-US" altLang="zh-CN" sz="1600" dirty="0">
              <a:solidFill>
                <a:schemeClr val="bg1"/>
              </a:solidFill>
              <a:latin typeface="Trebuchet MS" panose="020B0603020202020204" pitchFamily="34" charset="0"/>
            </a:endParaRPr>
          </a:p>
          <a:p>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Closure Theorem of Relations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3" y="765175"/>
            <a:ext cx="9006479" cy="52762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4.7: </a:t>
            </a:r>
            <a:r>
              <a:rPr lang="en-US" altLang="zh-CN" sz="2400" dirty="0">
                <a:latin typeface="Trebuchet MS" panose="020B0603020202020204" pitchFamily="34" charset="0"/>
              </a:rPr>
              <a:t>Closure Theorem of Relations.</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 relation on </a:t>
            </a:r>
            <a:r>
              <a:rPr kumimoji="0" lang="en-US" altLang="zh-CN" sz="2400" b="1" i="1" dirty="0">
                <a:latin typeface="Trebuchet MS" panose="020B0603020202020204" pitchFamily="34" charset="0"/>
              </a:rPr>
              <a:t>A</a:t>
            </a:r>
            <a:r>
              <a:rPr lang="en-US" sz="2400" dirty="0">
                <a:latin typeface="Trebuchet MS" panose="020B0603020202020204" pitchFamily="34" charset="0"/>
              </a:rPr>
              <a:t>, then we have:</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(1)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a:t>
            </a:r>
          </a:p>
          <a:p>
            <a:pPr marL="0" indent="0" eaLnBrk="1" hangingPunct="1">
              <a:lnSpc>
                <a:spcPct val="120000"/>
              </a:lnSpc>
              <a:spcBef>
                <a:spcPts val="300"/>
              </a:spcBef>
              <a:buClr>
                <a:srgbClr val="0B5BFF"/>
              </a:buClr>
              <a:buSzPct val="80000"/>
              <a:buNone/>
            </a:pPr>
            <a:r>
              <a:rPr lang="en-US" altLang="zh-CN" sz="2400" b="1" baseline="30000" dirty="0">
                <a:latin typeface="Trebuchet MS" panose="020B0603020202020204" pitchFamily="34" charset="0"/>
              </a:rPr>
              <a:t> </a:t>
            </a:r>
            <a:r>
              <a:rPr lang="en-US" altLang="zh-CN" sz="2400" b="1"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(2)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baseline="30000" dirty="0">
                <a:latin typeface="Trebuchet MS" panose="020B0603020202020204" pitchFamily="34" charset="0"/>
              </a:rPr>
              <a:t>1</a:t>
            </a:r>
          </a:p>
          <a:p>
            <a:pPr marL="0" indent="0" eaLnBrk="1" hangingPunct="1">
              <a:lnSpc>
                <a:spcPct val="120000"/>
              </a:lnSpc>
              <a:spcBef>
                <a:spcPts val="300"/>
              </a:spcBef>
              <a:buClr>
                <a:srgbClr val="0B5BFF"/>
              </a:buClr>
              <a:buSzPct val="80000"/>
              <a:buNone/>
            </a:pPr>
            <a:r>
              <a:rPr lang="en-US" altLang="zh-CN" sz="2400" b="1" baseline="30000" dirty="0">
                <a:latin typeface="Trebuchet MS" panose="020B0603020202020204" pitchFamily="34" charset="0"/>
              </a:rPr>
              <a:t> </a:t>
            </a:r>
            <a:r>
              <a:rPr lang="en-US" altLang="zh-CN" sz="2400" b="1"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dirty="0">
                <a:solidFill>
                  <a:srgbClr val="0B5BFF"/>
                </a:solidFill>
                <a:latin typeface="Trebuchet MS" panose="020B0603020202020204" pitchFamily="34" charset="0"/>
              </a:rPr>
              <a:t>(3)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3</a:t>
            </a:r>
            <a:r>
              <a:rPr kumimoji="0" lang="en-US" altLang="zh-CN" sz="2400" b="1" dirty="0">
                <a:latin typeface="Trebuchet MS" panose="020B0603020202020204" pitchFamily="34" charset="0"/>
              </a:rPr>
              <a:t>∪…</a:t>
            </a:r>
            <a:br>
              <a:rPr kumimoji="0" lang="en-US" altLang="zh-CN" sz="2400" b="1" dirty="0">
                <a:latin typeface="Trebuchet MS" panose="020B0603020202020204" pitchFamily="34" charset="0"/>
              </a:rPr>
            </a:br>
            <a:endParaRPr kumimoji="0" lang="en-US" altLang="zh-CN" sz="2400" b="1" dirty="0">
              <a:latin typeface="Trebuchet MS" panose="020B0603020202020204" pitchFamily="34" charset="0"/>
            </a:endParaRPr>
          </a:p>
          <a:p>
            <a:pPr eaLnBrk="1" hangingPunct="1">
              <a:lnSpc>
                <a:spcPct val="120000"/>
              </a:lnSpc>
              <a:spcBef>
                <a:spcPts val="300"/>
              </a:spcBef>
              <a:buFontTx/>
              <a:buNone/>
            </a:pPr>
            <a:r>
              <a:rPr lang="en-US" sz="2400" b="1" dirty="0">
                <a:latin typeface="Trebuchet MS" panose="020B0603020202020204" pitchFamily="34" charset="0"/>
              </a:rPr>
              <a:t>    Explanation</a:t>
            </a:r>
            <a:r>
              <a:rPr lang="en-US" sz="2400" dirty="0">
                <a:latin typeface="Trebuchet MS" panose="020B0603020202020204" pitchFamily="34" charset="0"/>
              </a:rPr>
              <a:t>: </a:t>
            </a:r>
          </a:p>
          <a:p>
            <a:pPr marL="792163" indent="-342900" eaLnBrk="1" hangingPunct="1">
              <a:lnSpc>
                <a:spcPct val="120000"/>
              </a:lnSpc>
              <a:spcBef>
                <a:spcPts val="300"/>
              </a:spcBef>
              <a:buClr>
                <a:srgbClr val="0B5BFF"/>
              </a:buClr>
              <a:buSzPct val="120000"/>
            </a:pPr>
            <a:r>
              <a:rPr lang="en-US" sz="2400" dirty="0">
                <a:latin typeface="Trebuchet MS" panose="020B0603020202020204" pitchFamily="34" charset="0"/>
              </a:rPr>
              <a:t>For a finite set </a:t>
            </a:r>
            <a:r>
              <a:rPr kumimoji="0" lang="en-US" altLang="zh-CN" sz="2400" b="1" i="1" dirty="0">
                <a:latin typeface="Trebuchet MS" panose="020B0603020202020204" pitchFamily="34" charset="0"/>
              </a:rPr>
              <a:t>A </a:t>
            </a:r>
            <a:r>
              <a:rPr kumimoji="0" lang="en-US" altLang="zh-CN" sz="2400" b="1" dirty="0">
                <a:latin typeface="Trebuchet MS" panose="020B0603020202020204" pitchFamily="34" charset="0"/>
              </a:rPr>
              <a:t>(where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t>
            </a:r>
            <a:r>
              <a:rPr lang="en-US" sz="2400" dirty="0">
                <a:latin typeface="Trebuchet MS" panose="020B0603020202020204" pitchFamily="34" charset="0"/>
              </a:rPr>
              <a:t>, the union in </a:t>
            </a:r>
            <a:r>
              <a:rPr lang="en-US" sz="2400" b="1" dirty="0">
                <a:solidFill>
                  <a:srgbClr val="0B5BFF"/>
                </a:solidFill>
                <a:latin typeface="Trebuchet MS" panose="020B0603020202020204" pitchFamily="34" charset="0"/>
              </a:rPr>
              <a:t>(3)</a:t>
            </a:r>
            <a:r>
              <a:rPr lang="en-US" sz="2400" dirty="0">
                <a:latin typeface="Trebuchet MS" panose="020B0603020202020204" pitchFamily="34" charset="0"/>
              </a:rPr>
              <a:t> will have at most </a:t>
            </a:r>
            <a:r>
              <a:rPr kumimoji="0" lang="en-US" altLang="zh-CN" sz="2400" b="1" i="1" dirty="0">
                <a:latin typeface="Trebuchet MS" panose="020B0603020202020204" pitchFamily="34" charset="0"/>
              </a:rPr>
              <a:t>R</a:t>
            </a:r>
            <a:r>
              <a:rPr kumimoji="0" lang="en-US" altLang="zh-CN" sz="2400" b="1" i="1" baseline="30000" dirty="0">
                <a:latin typeface="Trebuchet MS" panose="020B0603020202020204" pitchFamily="34" charset="0"/>
              </a:rPr>
              <a:t>n</a:t>
            </a:r>
            <a:r>
              <a:rPr kumimoji="0" lang="en-US" altLang="zh-CN" sz="2400" b="1" dirty="0">
                <a:latin typeface="Trebuchet MS" panose="020B0603020202020204" pitchFamily="34" charset="0"/>
              </a:rPr>
              <a:t>.  </a:t>
            </a:r>
          </a:p>
          <a:p>
            <a:pPr marL="792163" indent="-342900" eaLnBrk="1" hangingPunct="1">
              <a:lnSpc>
                <a:spcPct val="120000"/>
              </a:lnSpc>
              <a:spcBef>
                <a:spcPts val="300"/>
              </a:spcBef>
              <a:buClr>
                <a:srgbClr val="0B5BFF"/>
              </a:buClr>
              <a:buSzPct val="120000"/>
            </a:pPr>
            <a:r>
              <a:rPr kumimoji="0" lang="en-US" altLang="zh-CN" sz="2400" b="1" i="1" dirty="0">
                <a:latin typeface="Trebuchet MS" panose="020B0603020202020204" pitchFamily="34" charset="0"/>
              </a:rPr>
              <a:t>If R </a:t>
            </a:r>
            <a:r>
              <a:rPr lang="en-US" sz="2400" dirty="0">
                <a:latin typeface="Trebuchet MS" panose="020B0603020202020204" pitchFamily="34" charset="0"/>
              </a:rPr>
              <a:t>is reflexive, then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If</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 </a:t>
            </a:r>
            <a:r>
              <a:rPr lang="en-US" sz="2400" dirty="0">
                <a:latin typeface="Trebuchet MS" panose="020B0603020202020204" pitchFamily="34" charset="0"/>
              </a:rPr>
              <a:t>is symmetric, then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lang="en-US" altLang="zh-CN" sz="2400" b="1" dirty="0">
                <a:latin typeface="Trebuchet MS" panose="020B0603020202020204" pitchFamily="34" charset="0"/>
              </a:rPr>
              <a:t> If  </a:t>
            </a:r>
            <a:r>
              <a:rPr kumimoji="0" lang="en-US" altLang="zh-CN" sz="2400" b="1" i="1" dirty="0">
                <a:latin typeface="Trebuchet MS" panose="020B0603020202020204" pitchFamily="34" charset="0"/>
              </a:rPr>
              <a:t>R </a:t>
            </a:r>
            <a:r>
              <a:rPr lang="en-US" sz="2400" dirty="0">
                <a:latin typeface="Trebuchet MS" panose="020B0603020202020204" pitchFamily="34" charset="0"/>
              </a:rPr>
              <a:t>is transitive, then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p>
          <a:p>
            <a:pPr marL="0" indent="1252538" eaLnBrk="1" hangingPunct="1">
              <a:lnSpc>
                <a:spcPct val="120000"/>
              </a:lnSpc>
              <a:spcBef>
                <a:spcPts val="300"/>
              </a:spcBef>
              <a:buNone/>
            </a:pPr>
            <a:endParaRPr lang="zh-CN" altLang="en-US" sz="2400" b="1" dirty="0">
              <a:latin typeface="Trebuchet MS" panose="020B0603020202020204" pitchFamily="34" charset="0"/>
            </a:endParaRPr>
          </a:p>
          <a:p>
            <a:pPr lvl="1">
              <a:lnSpc>
                <a:spcPct val="120000"/>
              </a:lnSpc>
              <a:spcBef>
                <a:spcPts val="300"/>
              </a:spcBef>
            </a:pPr>
            <a:endParaRPr lang="zh-CN" altLang="en-US" b="1" dirty="0">
              <a:latin typeface="Trebuchet MS" panose="020B0603020202020204" pitchFamily="34" charset="0"/>
            </a:endParaRPr>
          </a:p>
        </p:txBody>
      </p:sp>
      <p:sp>
        <p:nvSpPr>
          <p:cNvPr id="4" name="Rectangle 2">
            <a:extLst>
              <a:ext uri="{FF2B5EF4-FFF2-40B4-BE49-F238E27FC236}">
                <a16:creationId xmlns:a16="http://schemas.microsoft.com/office/drawing/2014/main" id="{47C0ADFE-C750-4A9B-A601-E9BFF6AFFC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C9BA8745-51DE-485D-8E41-75A7FCEEB579}"/>
              </a:ext>
            </a:extLst>
          </p:cNvPr>
          <p:cNvGraphicFramePr>
            <a:graphicFrameLocks noChangeAspect="1"/>
          </p:cNvGraphicFramePr>
          <p:nvPr>
            <p:extLst>
              <p:ext uri="{D42A27DB-BD31-4B8C-83A1-F6EECF244321}">
                <p14:modId xmlns:p14="http://schemas.microsoft.com/office/powerpoint/2010/main" val="1230518535"/>
              </p:ext>
            </p:extLst>
          </p:nvPr>
        </p:nvGraphicFramePr>
        <p:xfrm>
          <a:off x="1212518" y="3615638"/>
          <a:ext cx="335518" cy="335518"/>
        </p:xfrm>
        <a:graphic>
          <a:graphicData uri="http://schemas.openxmlformats.org/presentationml/2006/ole">
            <mc:AlternateContent xmlns:mc="http://schemas.openxmlformats.org/markup-compatibility/2006">
              <mc:Choice xmlns:v="urn:schemas-microsoft-com:vml" Requires="v">
                <p:oleObj name="Visio" r:id="rId5" imgW="292148" imgH="292233" progId="Visio.Drawing.15">
                  <p:embed/>
                </p:oleObj>
              </mc:Choice>
              <mc:Fallback>
                <p:oleObj name="Visio" r:id="rId5" imgW="292148" imgH="292233"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2518" y="3615638"/>
                        <a:ext cx="335518" cy="335518"/>
                      </a:xfrm>
                      <a:prstGeom prst="rect">
                        <a:avLst/>
                      </a:prstGeom>
                      <a:noFill/>
                    </p:spPr>
                  </p:pic>
                </p:oleObj>
              </mc:Fallback>
            </mc:AlternateContent>
          </a:graphicData>
        </a:graphic>
      </p:graphicFrame>
    </p:spTree>
    <p:extLst>
      <p:ext uri="{BB962C8B-B14F-4D97-AF65-F5344CB8AC3E}">
        <p14:creationId xmlns:p14="http://schemas.microsoft.com/office/powerpoint/2010/main" val="308467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1000"/>
                                        <p:tgtEl>
                                          <p:spTgt spid="9">
                                            <p:txEl>
                                              <p:pRg st="3" end="3"/>
                                            </p:txEl>
                                          </p:spTgt>
                                        </p:tgtEl>
                                      </p:cBhvr>
                                    </p:animEffect>
                                    <p:anim calcmode="lin" valueType="num">
                                      <p:cBhvr>
                                        <p:cTn id="22"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fade">
                                      <p:cBhvr>
                                        <p:cTn id="26" dur="1000"/>
                                        <p:tgtEl>
                                          <p:spTgt spid="9">
                                            <p:txEl>
                                              <p:pRg st="4" end="4"/>
                                            </p:txEl>
                                          </p:spTgt>
                                        </p:tgtEl>
                                      </p:cBhvr>
                                    </p:animEffect>
                                    <p:anim calcmode="lin" valueType="num">
                                      <p:cBhvr>
                                        <p:cTn id="27"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9">
                                            <p:txEl>
                                              <p:pRg st="5" end="5"/>
                                            </p:txEl>
                                          </p:spTgt>
                                        </p:tgtEl>
                                        <p:attrNameLst>
                                          <p:attrName>style.visibility</p:attrName>
                                        </p:attrNameLst>
                                      </p:cBhvr>
                                      <p:to>
                                        <p:strVal val="visible"/>
                                      </p:to>
                                    </p:set>
                                    <p:animEffect transition="in" filter="fade">
                                      <p:cBhvr>
                                        <p:cTn id="38" dur="1000"/>
                                        <p:tgtEl>
                                          <p:spTgt spid="9">
                                            <p:txEl>
                                              <p:pRg st="5" end="5"/>
                                            </p:txEl>
                                          </p:spTgt>
                                        </p:tgtEl>
                                      </p:cBhvr>
                                    </p:animEffect>
                                    <p:anim calcmode="lin" valueType="num">
                                      <p:cBhvr>
                                        <p:cTn id="39"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1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Proof of Closure Theorem</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Clr>
                <a:srgbClr val="0B5BFF"/>
              </a:buClr>
              <a:buSzPct val="90000"/>
              <a:buFont typeface="Wingdings" panose="05000000000000000000" pitchFamily="2" charset="2"/>
              <a:buChar char="n"/>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2" y="856616"/>
            <a:ext cx="10720707" cy="54870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Proof of Theorem 4.7</a:t>
            </a:r>
            <a:r>
              <a:rPr lang="en-US" sz="2400" dirty="0">
                <a:latin typeface="Trebuchet MS" panose="020B0603020202020204" pitchFamily="34" charset="0"/>
              </a:rPr>
              <a:t> (Proving </a:t>
            </a:r>
            <a:r>
              <a:rPr lang="en-US" sz="2400" b="1" dirty="0">
                <a:solidFill>
                  <a:srgbClr val="0B5BFF"/>
                </a:solidFill>
                <a:latin typeface="Trebuchet MS" panose="020B0603020202020204" pitchFamily="34" charset="0"/>
              </a:rPr>
              <a:t>(1)</a:t>
            </a:r>
            <a:r>
              <a:rPr lang="en-US" sz="2400" dirty="0">
                <a:latin typeface="Trebuchet MS" panose="020B0603020202020204" pitchFamily="34" charset="0"/>
              </a:rPr>
              <a:t>).</a:t>
            </a:r>
          </a:p>
          <a:p>
            <a:pPr marL="446088" indent="-217488">
              <a:lnSpc>
                <a:spcPct val="110000"/>
              </a:lnSpc>
              <a:spcBef>
                <a:spcPts val="600"/>
              </a:spcBef>
              <a:buClr>
                <a:srgbClr val="0B5BFF"/>
              </a:buClr>
              <a:buSzPct val="120000"/>
            </a:pPr>
            <a:r>
              <a:rPr lang="en-US" sz="2400" dirty="0">
                <a:latin typeface="Trebuchet MS" panose="020B0603020202020204" pitchFamily="34" charset="0"/>
              </a:rPr>
              <a:t>Proof of</a:t>
            </a:r>
            <a:r>
              <a:rPr lang="zh-CN" altLang="en-US" sz="2400" b="1" dirty="0">
                <a:latin typeface="Trebuchet MS" panose="020B0603020202020204" pitchFamily="34" charset="0"/>
              </a:rPr>
              <a:t> </a:t>
            </a:r>
            <a:r>
              <a:rPr lang="en-US" altLang="zh-CN" sz="2400" b="1" dirty="0">
                <a:latin typeface="Trebuchet MS" panose="020B0603020202020204" pitchFamily="34" charset="0"/>
              </a:rPr>
              <a:t>(1)</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0  </a:t>
            </a:r>
            <a:r>
              <a:rPr kumimoji="0" lang="zh-CN" altLang="en-US" sz="2400" b="1" baseline="30000" dirty="0">
                <a:latin typeface="Trebuchet MS" panose="020B0603020202020204" pitchFamily="34" charset="0"/>
              </a:rPr>
              <a:t>，</a:t>
            </a:r>
            <a:r>
              <a:rPr lang="en-US" sz="2400" dirty="0">
                <a:latin typeface="Trebuchet MS" panose="020B0603020202020204" pitchFamily="34" charset="0"/>
              </a:rPr>
              <a:t>It is sufficient to show that 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r>
              <a:rPr lang="en-US" sz="2400" dirty="0">
                <a:latin typeface="Trebuchet MS" panose="020B0603020202020204" pitchFamily="34" charset="0"/>
              </a:rPr>
              <a:t>satisfies the closure definition.</a:t>
            </a:r>
            <a:r>
              <a:rPr lang="en-US" altLang="zh-CN" sz="2400" b="1" dirty="0">
                <a:latin typeface="Trebuchet MS" panose="020B0603020202020204" pitchFamily="34" charset="0"/>
              </a:rPr>
              <a:t> </a:t>
            </a:r>
          </a:p>
          <a:p>
            <a:pPr marL="446088" indent="-217488">
              <a:lnSpc>
                <a:spcPct val="110000"/>
              </a:lnSpc>
              <a:spcBef>
                <a:spcPts val="600"/>
              </a:spcBef>
              <a:buClr>
                <a:srgbClr val="0B5BFF"/>
              </a:buClr>
              <a:buSzPct val="120000"/>
            </a:pPr>
            <a:r>
              <a:rPr lang="en-US" sz="2400" dirty="0">
                <a:latin typeface="Trebuchet MS" panose="020B0603020202020204" pitchFamily="34" charset="0"/>
              </a:rPr>
              <a:t>Proof that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a:t>
            </a:r>
            <a:r>
              <a:rPr lang="en-US" altLang="zh-CN" sz="2400" b="1" i="1" dirty="0">
                <a:latin typeface="Trebuchet MS" panose="020B0603020202020204" pitchFamily="34" charset="0"/>
              </a:rPr>
              <a:t>  </a:t>
            </a:r>
            <a:r>
              <a:rPr lang="en-US" sz="2400" dirty="0">
                <a:latin typeface="Trebuchet MS" panose="020B0603020202020204" pitchFamily="34" charset="0"/>
              </a:rPr>
              <a:t>is a reflexive relation</a:t>
            </a:r>
          </a:p>
          <a:p>
            <a:pPr marL="446088" indent="0">
              <a:lnSpc>
                <a:spcPct val="110000"/>
              </a:lnSpc>
              <a:spcBef>
                <a:spcPts val="600"/>
              </a:spcBef>
              <a:buClr>
                <a:srgbClr val="0B5BFF"/>
              </a:buClr>
              <a:buSzPct val="120000"/>
              <a:buNone/>
            </a:pPr>
            <a:r>
              <a:rPr lang="en-US" sz="2400" dirty="0">
                <a:latin typeface="Trebuchet MS" panose="020B0603020202020204" pitchFamily="34" charset="0"/>
              </a:rPr>
              <a:t>Since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a:t>
            </a:r>
            <a:r>
              <a:rPr lang="en-US" sz="2400" dirty="0">
                <a:latin typeface="Trebuchet MS" panose="020B0603020202020204" pitchFamily="34" charset="0"/>
              </a:rPr>
              <a:t>contains </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zh-CN" altLang="en-US" sz="2400" b="1" dirty="0">
                <a:latin typeface="Trebuchet MS" panose="020B0603020202020204" pitchFamily="34" charset="0"/>
              </a:rPr>
              <a:t>，</a:t>
            </a:r>
            <a:r>
              <a:rPr lang="en-US" altLang="zh-CN" sz="2400" b="1" dirty="0">
                <a:latin typeface="Trebuchet MS" panose="020B0603020202020204" pitchFamily="34" charset="0"/>
              </a:rPr>
              <a:t>and by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a:t>
            </a:r>
            <a:r>
              <a:rPr lang="en-US" altLang="zh-CN" sz="2400" b="1" dirty="0">
                <a:latin typeface="Trebuchet MS" panose="020B0603020202020204" pitchFamily="34" charset="0"/>
              </a:rPr>
              <a:t>,</a:t>
            </a:r>
            <a:r>
              <a:rPr lang="en-US" sz="2400" dirty="0">
                <a:latin typeface="Trebuchet MS" panose="020B0603020202020204" pitchFamily="34" charset="0"/>
              </a:rPr>
              <a:t> we can conclude that</a:t>
            </a:r>
            <a:r>
              <a:rPr lang="zh-CN" alt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r>
              <a:rPr lang="en-US" sz="2400" dirty="0">
                <a:latin typeface="Trebuchet MS" panose="020B0603020202020204" pitchFamily="34" charset="0"/>
              </a:rPr>
              <a:t>is reflexive on </a:t>
            </a:r>
            <a:r>
              <a:rPr lang="zh-CN" altLang="en-US"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p>
          <a:p>
            <a:pPr marL="446088" indent="-217488">
              <a:lnSpc>
                <a:spcPct val="110000"/>
              </a:lnSpc>
              <a:spcBef>
                <a:spcPts val="600"/>
              </a:spcBef>
              <a:buClr>
                <a:srgbClr val="0B5BFF"/>
              </a:buClr>
              <a:buSzPct val="120000"/>
            </a:pPr>
            <a:r>
              <a:rPr lang="en-US" sz="2400" dirty="0">
                <a:latin typeface="Trebuchet MS" panose="020B0603020202020204" pitchFamily="34" charset="0"/>
              </a:rPr>
              <a:t>Proof that</a:t>
            </a:r>
            <a:r>
              <a:rPr lang="zh-CN" altLang="en-US" sz="2400" b="1" dirty="0">
                <a:solidFill>
                  <a:srgbClr val="FF0000"/>
                </a:solidFill>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r>
              <a:rPr lang="en-US" sz="2400" dirty="0">
                <a:latin typeface="Trebuchet MS" panose="020B0603020202020204" pitchFamily="34" charset="0"/>
              </a:rPr>
              <a:t> is the smallest reflexive relation containing </a:t>
            </a:r>
            <a:r>
              <a:rPr lang="en-US" altLang="zh-CN" sz="2400" b="1" i="1" dirty="0">
                <a:latin typeface="Trebuchet MS" panose="020B0603020202020204" pitchFamily="34" charset="0"/>
              </a:rPr>
              <a:t>R</a:t>
            </a:r>
            <a:r>
              <a:rPr lang="en-US" altLang="zh-CN" sz="2400" b="1" i="1" dirty="0">
                <a:solidFill>
                  <a:srgbClr val="FF0000"/>
                </a:solidFill>
                <a:latin typeface="Trebuchet MS" panose="020B0603020202020204" pitchFamily="34" charset="0"/>
              </a:rPr>
              <a:t> </a:t>
            </a:r>
            <a:r>
              <a:rPr lang="en-US" altLang="zh-CN" sz="2400" b="1" i="1" dirty="0">
                <a:latin typeface="Trebuchet MS" panose="020B0603020202020204" pitchFamily="34" charset="0"/>
              </a:rPr>
              <a:t>.</a:t>
            </a:r>
          </a:p>
          <a:p>
            <a:pPr marL="446088" indent="-92075" eaLnBrk="1" hangingPunct="1">
              <a:lnSpc>
                <a:spcPct val="110000"/>
              </a:lnSpc>
              <a:spcBef>
                <a:spcPts val="600"/>
              </a:spcBef>
              <a:buFontTx/>
              <a:buNone/>
            </a:pPr>
            <a:r>
              <a:rPr lang="en-US" altLang="zh-CN" sz="2400" b="1" dirty="0">
                <a:latin typeface="Trebuchet MS" panose="020B0603020202020204" pitchFamily="34" charset="0"/>
              </a:rPr>
              <a:t> </a:t>
            </a:r>
            <a:r>
              <a:rPr lang="en-US" sz="2400" dirty="0">
                <a:latin typeface="Trebuchet MS" panose="020B0603020202020204" pitchFamily="34" charset="0"/>
              </a:rPr>
              <a:t>We need to show that no reflexive relation smaller than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r>
              <a:rPr lang="en-US" sz="2400" dirty="0">
                <a:latin typeface="Trebuchet MS" panose="020B0603020202020204" pitchFamily="34" charset="0"/>
              </a:rPr>
              <a:t>exists that contains </a:t>
            </a:r>
            <a:r>
              <a:rPr lang="en-US" altLang="zh-CN" sz="2400" b="1" i="1" dirty="0">
                <a:latin typeface="Trebuchet MS" panose="020B0603020202020204" pitchFamily="34" charset="0"/>
              </a:rPr>
              <a:t>R.</a:t>
            </a:r>
            <a:endParaRPr lang="en-US" altLang="zh-CN" sz="2400" b="1" dirty="0">
              <a:latin typeface="Trebuchet MS" panose="020B0603020202020204" pitchFamily="34" charset="0"/>
            </a:endParaRPr>
          </a:p>
          <a:p>
            <a:pPr marL="446088" indent="0" eaLnBrk="1" hangingPunct="1">
              <a:lnSpc>
                <a:spcPct val="110000"/>
              </a:lnSpc>
              <a:spcBef>
                <a:spcPts val="600"/>
              </a:spcBef>
              <a:buFontTx/>
              <a:buNone/>
            </a:pPr>
            <a:r>
              <a:rPr lang="en-US" sz="2400" dirty="0">
                <a:latin typeface="Trebuchet MS" panose="020B0603020202020204" pitchFamily="34" charset="0"/>
              </a:rPr>
              <a:t>Assume </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i</a:t>
            </a:r>
            <a:r>
              <a:rPr lang="en-US" sz="2400" dirty="0">
                <a:latin typeface="Trebuchet MS" panose="020B0603020202020204" pitchFamily="34" charset="0"/>
              </a:rPr>
              <a:t>s a reflexive relation that contains </a:t>
            </a:r>
            <a:r>
              <a:rPr lang="en-US" altLang="zh-CN" sz="2400" b="1" i="1" dirty="0">
                <a:latin typeface="Trebuchet MS" panose="020B0603020202020204" pitchFamily="34" charset="0"/>
              </a:rPr>
              <a:t>R </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and</a:t>
            </a:r>
            <a:r>
              <a:rPr lang="zh-CN" altLang="en-US" sz="2400" b="1" i="1" dirty="0">
                <a:latin typeface="Trebuchet MS" panose="020B0603020202020204" pitchFamily="34" charset="0"/>
              </a:rPr>
              <a:t> </a:t>
            </a:r>
            <a:r>
              <a:rPr lang="en-US" sz="2400" dirty="0">
                <a:latin typeface="Trebuchet MS" panose="020B0603020202020204" pitchFamily="34" charset="0"/>
              </a:rPr>
              <a:t>and is smaller than</a:t>
            </a:r>
            <a:r>
              <a:rPr lang="zh-CN"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rPr>
              <a:t>，</a:t>
            </a:r>
            <a:r>
              <a:rPr lang="en-US" sz="2400" dirty="0">
                <a:latin typeface="Trebuchet MS" panose="020B0603020202020204" pitchFamily="34" charset="0"/>
              </a:rPr>
              <a:t>Therefore, we have</a:t>
            </a:r>
            <a:r>
              <a:rPr lang="zh-CN" altLang="en-US" sz="2400" b="1" dirty="0">
                <a:latin typeface="Trebuchet MS" panose="020B0603020202020204" pitchFamily="34" charset="0"/>
              </a:rPr>
              <a:t> </a:t>
            </a:r>
            <a:r>
              <a:rPr lang="en-US" altLang="zh-CN" sz="2400" b="1" i="1" dirty="0">
                <a:latin typeface="Trebuchet MS" panose="020B0603020202020204" pitchFamily="34" charset="0"/>
              </a:rPr>
              <a:t> 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a:t>
            </a:r>
            <a:r>
              <a:rPr lang="en-US" altLang="zh-CN" sz="2400" b="1" dirty="0">
                <a:latin typeface="Trebuchet MS" panose="020B0603020202020204" pitchFamily="34" charset="0"/>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sz="2400" dirty="0">
                <a:latin typeface="Trebuchet MS" panose="020B0603020202020204" pitchFamily="34" charset="0"/>
              </a:rPr>
              <a:t>which contradicts the assumption that</a:t>
            </a:r>
            <a:r>
              <a:rPr lang="en-US"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smaller than</a:t>
            </a:r>
            <a:r>
              <a:rPr lang="en-US" altLang="zh-CN" sz="2400" b="1" i="1" dirty="0">
                <a:latin typeface="Trebuchet MS" panose="020B0603020202020204" pitchFamily="34" charset="0"/>
              </a:rPr>
              <a:t> 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0 .</a:t>
            </a: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3555246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fade">
                                      <p:cBhvr>
                                        <p:cTn id="33" dur="1000"/>
                                        <p:tgtEl>
                                          <p:spTgt spid="9">
                                            <p:txEl>
                                              <p:pRg st="6" end="6"/>
                                            </p:txEl>
                                          </p:spTgt>
                                        </p:tgtEl>
                                      </p:cBhvr>
                                    </p:animEffect>
                                    <p:anim calcmode="lin" valueType="num">
                                      <p:cBhvr>
                                        <p:cTn id="34"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1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Proof of Closure Theorem</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r>
              <a:rPr lang="en-US" altLang="zh-CN" sz="1800"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835022" y="819606"/>
            <a:ext cx="10108569" cy="57304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Proof of </a:t>
            </a:r>
            <a:r>
              <a:rPr lang="en-US" sz="2400" b="1" dirty="0">
                <a:solidFill>
                  <a:srgbClr val="0B5BFF"/>
                </a:solidFill>
                <a:latin typeface="Trebuchet MS" panose="020B0603020202020204" pitchFamily="34" charset="0"/>
              </a:rPr>
              <a:t>(3)</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baseline="30000" dirty="0">
                <a:latin typeface="Trebuchet MS" panose="020B0603020202020204" pitchFamily="34" charset="0"/>
              </a:rPr>
              <a:t>3</a:t>
            </a:r>
            <a:r>
              <a:rPr kumimoji="0" lang="en-US" altLang="zh-CN" sz="2400" b="1" dirty="0">
                <a:latin typeface="Trebuchet MS" panose="020B0603020202020204" pitchFamily="34" charset="0"/>
              </a:rPr>
              <a:t>∪…</a:t>
            </a:r>
          </a:p>
          <a:p>
            <a:pPr indent="217488" eaLnBrk="1" hangingPunct="1">
              <a:lnSpc>
                <a:spcPct val="110000"/>
              </a:lnSpc>
              <a:spcBef>
                <a:spcPts val="600"/>
              </a:spcBef>
              <a:buClr>
                <a:srgbClr val="0B5BFF"/>
              </a:buClr>
              <a:buSzPct val="120000"/>
            </a:pPr>
            <a:r>
              <a:rPr lang="en-US" sz="2400" dirty="0">
                <a:latin typeface="Trebuchet MS" panose="020B0603020202020204" pitchFamily="34" charset="0"/>
              </a:rPr>
              <a:t>Consider arbitrary pairs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 and &lt;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z</a:t>
            </a:r>
            <a:r>
              <a:rPr lang="en-US" altLang="zh-CN" sz="2400" b="1" dirty="0">
                <a:latin typeface="Trebuchet MS" panose="020B0603020202020204" pitchFamily="34" charset="0"/>
              </a:rPr>
              <a:t>&gt;</a:t>
            </a:r>
          </a:p>
          <a:p>
            <a:pPr eaLnBrk="1" hangingPunct="1">
              <a:lnSpc>
                <a:spcPct val="110000"/>
              </a:lnSpc>
              <a:spcBef>
                <a:spcPts val="600"/>
              </a:spcBef>
              <a:buFontTx/>
              <a:buNone/>
            </a:pPr>
            <a:r>
              <a:rPr lang="en-US" altLang="zh-CN" sz="2400" b="1" dirty="0">
                <a:latin typeface="Trebuchet MS" panose="020B0603020202020204" pitchFamily="34" charset="0"/>
              </a:rPr>
              <a:t>           &lt;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z</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a:t>
            </a:r>
            <a:endParaRPr lang="en-US" altLang="zh-CN" sz="2400" b="1" dirty="0">
              <a:latin typeface="Trebuchet MS" panose="020B0603020202020204" pitchFamily="34" charset="0"/>
              <a:sym typeface="Symbol" panose="05050102010706020507" pitchFamily="18" charset="2"/>
            </a:endParaRPr>
          </a:p>
          <a:p>
            <a:pPr eaLnBrk="1" hangingPunct="1">
              <a:lnSpc>
                <a:spcPct val="110000"/>
              </a:lnSpc>
              <a:spcBef>
                <a:spcPts val="600"/>
              </a:spcBef>
              <a:buFontTx/>
              <a:buNone/>
            </a:pP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 &lt;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z</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a:t>
            </a:r>
          </a:p>
          <a:p>
            <a:pPr indent="217488" eaLnBrk="1" hangingPunct="1">
              <a:lnSpc>
                <a:spcPct val="110000"/>
              </a:lnSpc>
              <a:spcBef>
                <a:spcPts val="600"/>
              </a:spcBef>
              <a:buFontTx/>
              <a:buNone/>
            </a:pPr>
            <a:r>
              <a:rPr lang="en-US" sz="2400" dirty="0">
                <a:latin typeface="Trebuchet MS" panose="020B0603020202020204" pitchFamily="34" charset="0"/>
              </a:rPr>
              <a:t>Therefore, by the transitivity of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 We have</a:t>
            </a:r>
            <a:endParaRPr lang="zh-CN" altLang="en-US" sz="2400" b="1" dirty="0">
              <a:latin typeface="Trebuchet MS" panose="020B0603020202020204" pitchFamily="34" charset="0"/>
            </a:endParaRPr>
          </a:p>
          <a:p>
            <a:pPr eaLnBrk="1" hangingPunct="1">
              <a:lnSpc>
                <a:spcPct val="110000"/>
              </a:lnSpc>
              <a:spcBef>
                <a:spcPts val="600"/>
              </a:spcBef>
              <a:buFontTx/>
              <a:buNone/>
            </a:pPr>
            <a:r>
              <a:rPr lang="en-US" altLang="zh-CN" sz="2400" b="1" dirty="0">
                <a:latin typeface="Trebuchet MS" panose="020B0603020202020204" pitchFamily="34" charset="0"/>
              </a:rPr>
              <a:t>             </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   </a:t>
            </a:r>
          </a:p>
          <a:p>
            <a:pPr indent="-46038" eaLnBrk="1" hangingPunct="1">
              <a:lnSpc>
                <a:spcPct val="110000"/>
              </a:lnSpc>
              <a:spcBef>
                <a:spcPts val="600"/>
              </a:spcBef>
              <a:buClr>
                <a:srgbClr val="0B5BFF"/>
              </a:buClr>
              <a:buSzPct val="120000"/>
            </a:pPr>
            <a:r>
              <a:rPr lang="en-US" sz="2400" b="1" dirty="0">
                <a:latin typeface="Trebuchet MS" panose="020B0603020202020204" pitchFamily="34" charset="0"/>
              </a:rPr>
              <a:t> </a:t>
            </a:r>
            <a:r>
              <a:rPr lang="en-US" sz="2400" dirty="0">
                <a:latin typeface="Trebuchet MS" panose="020B0603020202020204" pitchFamily="34" charset="0"/>
              </a:rPr>
              <a:t>Next, we prove by induction that </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n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endParaRPr lang="en-US" altLang="zh-CN" sz="2400" b="1" i="1" dirty="0">
              <a:latin typeface="Trebuchet MS" panose="020B0603020202020204" pitchFamily="34" charset="0"/>
            </a:endParaRPr>
          </a:p>
          <a:p>
            <a:pPr marL="446088" indent="0" eaLnBrk="1" hangingPunct="1">
              <a:lnSpc>
                <a:spcPct val="110000"/>
              </a:lnSpc>
              <a:spcBef>
                <a:spcPts val="600"/>
              </a:spcBef>
              <a:buFontTx/>
              <a:buNone/>
            </a:pPr>
            <a:r>
              <a:rPr lang="en-US" altLang="zh-CN" sz="2400" b="1" i="1" dirty="0">
                <a:latin typeface="Trebuchet MS" panose="020B0603020202020204" pitchFamily="34" charset="0"/>
              </a:rPr>
              <a:t>For n</a:t>
            </a:r>
            <a:r>
              <a:rPr lang="en-US" altLang="zh-CN" sz="2400" b="1" dirty="0">
                <a:latin typeface="Trebuchet MS" panose="020B0603020202020204" pitchFamily="34" charset="0"/>
              </a:rPr>
              <a:t>=1,</a:t>
            </a:r>
            <a:r>
              <a:rPr lang="zh-CN" altLang="en-US" sz="2400" b="1" dirty="0">
                <a:latin typeface="Trebuchet MS" panose="020B0603020202020204" pitchFamily="34" charset="0"/>
              </a:rPr>
              <a:t> </a:t>
            </a:r>
            <a:r>
              <a:rPr lang="en-US" altLang="zh-CN" sz="2400" b="1" dirty="0">
                <a:latin typeface="Trebuchet MS" panose="020B0603020202020204" pitchFamily="34" charset="0"/>
              </a:rPr>
              <a:t>th</a:t>
            </a:r>
            <a:r>
              <a:rPr lang="en-US" sz="2400" dirty="0">
                <a:latin typeface="Trebuchet MS" panose="020B0603020202020204" pitchFamily="34" charset="0"/>
              </a:rPr>
              <a:t>e statement is obviously true.</a:t>
            </a:r>
            <a:r>
              <a:rPr lang="en-US" sz="2400" b="1" dirty="0">
                <a:latin typeface="Trebuchet MS" panose="020B0603020202020204" pitchFamily="34" charset="0"/>
              </a:rPr>
              <a:t> </a:t>
            </a:r>
            <a:r>
              <a:rPr lang="en-US" sz="2400" dirty="0">
                <a:latin typeface="Trebuchet MS" panose="020B0603020202020204" pitchFamily="34" charset="0"/>
              </a:rPr>
              <a:t>Assume it holds for</a:t>
            </a:r>
            <a:r>
              <a:rPr lang="zh-CN" altLang="en-US" sz="2400" b="1" dirty="0">
                <a:latin typeface="Trebuchet MS" panose="020B0603020202020204" pitchFamily="34" charset="0"/>
              </a:rPr>
              <a:t> </a:t>
            </a:r>
            <a:r>
              <a:rPr lang="en-US" altLang="zh-CN" sz="2400" b="1" i="1" dirty="0">
                <a:latin typeface="Trebuchet MS" panose="020B0603020202020204" pitchFamily="34" charset="0"/>
              </a:rPr>
              <a:t>n</a:t>
            </a:r>
            <a:r>
              <a:rPr lang="en-US" altLang="zh-CN" sz="2400" b="1" dirty="0">
                <a:latin typeface="Trebuchet MS" panose="020B0603020202020204" pitchFamily="34" charset="0"/>
              </a:rPr>
              <a:t>=</a:t>
            </a:r>
            <a:r>
              <a:rPr lang="en-US" altLang="zh-CN" sz="2400" b="1" i="1" dirty="0">
                <a:latin typeface="Trebuchet MS" panose="020B0603020202020204" pitchFamily="34" charset="0"/>
              </a:rPr>
              <a:t>k. For any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 we have</a:t>
            </a:r>
          </a:p>
          <a:p>
            <a:pPr indent="125413" eaLnBrk="1" hangingPunct="1">
              <a:lnSpc>
                <a:spcPct val="110000"/>
              </a:lnSpc>
              <a:spcBef>
                <a:spcPts val="600"/>
              </a:spcBef>
              <a:buFontTx/>
              <a:buNone/>
            </a:pP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i="1" baseline="30000" dirty="0">
                <a:latin typeface="Trebuchet MS" panose="020B0603020202020204" pitchFamily="34" charset="0"/>
              </a:rPr>
              <a:t>k</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k</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R</a:t>
            </a:r>
            <a:r>
              <a:rPr lang="en-US" altLang="zh-CN" sz="2400" b="1" i="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t</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R</a:t>
            </a:r>
            <a:r>
              <a:rPr lang="en-US" altLang="zh-CN" sz="2400" b="1" i="1" baseline="30000" dirty="0" err="1">
                <a:latin typeface="Trebuchet MS" panose="020B0603020202020204" pitchFamily="34" charset="0"/>
              </a:rPr>
              <a:t>k</a:t>
            </a:r>
            <a:r>
              <a:rPr lang="en-US" altLang="zh-CN" sz="2400" b="1" i="1" baseline="30000"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t</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endParaRPr lang="en-US" altLang="zh-CN" sz="2400" b="1" dirty="0">
              <a:latin typeface="Trebuchet MS" panose="020B0603020202020204" pitchFamily="34" charset="0"/>
              <a:sym typeface="Symbol" panose="05050102010706020507" pitchFamily="18" charset="2"/>
            </a:endParaRPr>
          </a:p>
          <a:p>
            <a:pPr indent="125413" eaLnBrk="1" hangingPunct="1">
              <a:lnSpc>
                <a:spcPct val="110000"/>
              </a:lnSpc>
              <a:spcBef>
                <a:spcPts val="600"/>
              </a:spcBef>
              <a:buFontTx/>
              <a:buNone/>
            </a:pP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t</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t</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zh-CN" altLang="en-US" sz="2400" b="1" dirty="0">
                <a:latin typeface="Trebuchet MS" panose="020B0603020202020204" pitchFamily="34" charset="0"/>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sz="2400" dirty="0">
                <a:latin typeface="Trebuchet MS" panose="020B0603020202020204" pitchFamily="34" charset="0"/>
              </a:rPr>
              <a:t> transitive</a:t>
            </a:r>
            <a:r>
              <a:rPr lang="zh-CN" altLang="en-US" sz="2400" b="1" dirty="0">
                <a:latin typeface="Trebuchet MS" panose="020B0603020202020204" pitchFamily="34" charset="0"/>
              </a:rPr>
              <a:t>） </a:t>
            </a:r>
          </a:p>
          <a:p>
            <a:pPr indent="125413" eaLnBrk="1" hangingPunct="1">
              <a:lnSpc>
                <a:spcPct val="110000"/>
              </a:lnSpc>
              <a:spcBef>
                <a:spcPts val="600"/>
              </a:spcBef>
              <a:buFontTx/>
              <a:buNone/>
            </a:pPr>
            <a:r>
              <a:rPr lang="en-US" sz="2400" dirty="0">
                <a:latin typeface="Trebuchet MS" panose="020B0603020202020204" pitchFamily="34" charset="0"/>
              </a:rPr>
              <a:t>Thus</a:t>
            </a:r>
            <a:r>
              <a:rPr lang="zh-CN" altLang="en-US"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r>
              <a:rPr lang="zh-CN" altLang="en-US" sz="2400" b="1" dirty="0">
                <a:latin typeface="Trebuchet MS" panose="020B0603020202020204" pitchFamily="34" charset="0"/>
              </a:rPr>
              <a:t>          </a:t>
            </a:r>
          </a:p>
          <a:p>
            <a:pPr lvl="1">
              <a:lnSpc>
                <a:spcPct val="110000"/>
              </a:lnSpc>
              <a:spcBef>
                <a:spcPts val="600"/>
              </a:spcBef>
            </a:pP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358719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fade">
                                      <p:cBhvr>
                                        <p:cTn id="7" dur="1000"/>
                                        <p:tgtEl>
                                          <p:spTgt spid="9">
                                            <p:txEl>
                                              <p:pRg st="4" end="4"/>
                                            </p:txEl>
                                          </p:spTgt>
                                        </p:tgtEl>
                                      </p:cBhvr>
                                    </p:animEffect>
                                    <p:anim calcmode="lin" valueType="num">
                                      <p:cBhvr>
                                        <p:cTn id="8"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5" end="5"/>
                                            </p:txEl>
                                          </p:spTgt>
                                        </p:tgtEl>
                                        <p:attrNameLst>
                                          <p:attrName>style.visibility</p:attrName>
                                        </p:attrNameLst>
                                      </p:cBhvr>
                                      <p:to>
                                        <p:strVal val="visible"/>
                                      </p:to>
                                    </p:set>
                                    <p:animEffect transition="in" filter="fade">
                                      <p:cBhvr>
                                        <p:cTn id="12" dur="1000"/>
                                        <p:tgtEl>
                                          <p:spTgt spid="9">
                                            <p:txEl>
                                              <p:pRg st="5" end="5"/>
                                            </p:txEl>
                                          </p:spTgt>
                                        </p:tgtEl>
                                      </p:cBhvr>
                                    </p:animEffect>
                                    <p:anim calcmode="lin" valueType="num">
                                      <p:cBhvr>
                                        <p:cTn id="13"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Effect transition="in" filter="fade">
                                      <p:cBhvr>
                                        <p:cTn id="19" dur="1000"/>
                                        <p:tgtEl>
                                          <p:spTgt spid="9">
                                            <p:txEl>
                                              <p:pRg st="6" end="6"/>
                                            </p:txEl>
                                          </p:spTgt>
                                        </p:tgtEl>
                                      </p:cBhvr>
                                    </p:animEffect>
                                    <p:anim calcmode="lin" valueType="num">
                                      <p:cBhvr>
                                        <p:cTn id="2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7" end="7"/>
                                            </p:txEl>
                                          </p:spTgt>
                                        </p:tgtEl>
                                        <p:attrNameLst>
                                          <p:attrName>style.visibility</p:attrName>
                                        </p:attrNameLst>
                                      </p:cBhvr>
                                      <p:to>
                                        <p:strVal val="visible"/>
                                      </p:to>
                                    </p:set>
                                    <p:animEffect transition="in" filter="fade">
                                      <p:cBhvr>
                                        <p:cTn id="24" dur="1000"/>
                                        <p:tgtEl>
                                          <p:spTgt spid="9">
                                            <p:txEl>
                                              <p:pRg st="7" end="7"/>
                                            </p:txEl>
                                          </p:spTgt>
                                        </p:tgtEl>
                                      </p:cBhvr>
                                    </p:animEffect>
                                    <p:anim calcmode="lin" valueType="num">
                                      <p:cBhvr>
                                        <p:cTn id="25"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1000"/>
                                        <p:tgtEl>
                                          <p:spTgt spid="9">
                                            <p:txEl>
                                              <p:pRg st="8" end="8"/>
                                            </p:txEl>
                                          </p:spTgt>
                                        </p:tgtEl>
                                      </p:cBhvr>
                                    </p:animEffect>
                                    <p:anim calcmode="lin" valueType="num">
                                      <p:cBhvr>
                                        <p:cTn id="32"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fade">
                                      <p:cBhvr>
                                        <p:cTn id="36" dur="1000"/>
                                        <p:tgtEl>
                                          <p:spTgt spid="9">
                                            <p:txEl>
                                              <p:pRg st="9" end="9"/>
                                            </p:txEl>
                                          </p:spTgt>
                                        </p:tgtEl>
                                      </p:cBhvr>
                                    </p:animEffect>
                                    <p:anim calcmode="lin" valueType="num">
                                      <p:cBhvr>
                                        <p:cTn id="37"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Effect transition="in" filter="fade">
                                      <p:cBhvr>
                                        <p:cTn id="43" dur="1000"/>
                                        <p:tgtEl>
                                          <p:spTgt spid="9">
                                            <p:txEl>
                                              <p:pRg st="10" end="10"/>
                                            </p:txEl>
                                          </p:spTgt>
                                        </p:tgtEl>
                                      </p:cBhvr>
                                    </p:animEffect>
                                    <p:anim calcmode="lin" valueType="num">
                                      <p:cBhvr>
                                        <p:cTn id="44"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45"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1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8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Closure </a:t>
            </a:r>
            <a:r>
              <a:rPr lang="en-US" altLang="zh-CN" sz="2400" dirty="0"/>
              <a:t> </a:t>
            </a:r>
            <a:r>
              <a:rPr lang="en-US" altLang="zh-CN" sz="2400" b="1" dirty="0">
                <a:latin typeface="Trebuchet MS" panose="020B0603020202020204" pitchFamily="34" charset="0"/>
              </a:rPr>
              <a:t>Matrix Representation</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08378" y="927689"/>
            <a:ext cx="9778004" cy="46158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Let the relation matrices of </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be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M</a:t>
            </a:r>
            <a:r>
              <a:rPr kumimoji="0" lang="en-US" altLang="zh-CN" sz="2400" b="1" i="1" baseline="-25000" dirty="0" err="1">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err="1">
                <a:latin typeface="Trebuchet MS" panose="020B0603020202020204" pitchFamily="34" charset="0"/>
              </a:rPr>
              <a:t>M</a:t>
            </a:r>
            <a:r>
              <a:rPr kumimoji="0" lang="en-US" altLang="zh-CN" sz="2400" b="1" i="1" baseline="-25000" dirty="0" err="1">
                <a:latin typeface="Trebuchet MS" panose="020B0603020202020204" pitchFamily="34" charset="0"/>
              </a:rPr>
              <a:t>s</a:t>
            </a:r>
            <a:r>
              <a:rPr kumimoji="0" lang="en-US" altLang="zh-CN" sz="2400" b="1" i="1" baseline="-25000" dirty="0">
                <a:latin typeface="Trebuchet MS" panose="020B0603020202020204" pitchFamily="34" charset="0"/>
              </a:rPr>
              <a:t> </a:t>
            </a:r>
          </a:p>
          <a:p>
            <a:pPr indent="34925" eaLnBrk="1" hangingPunct="1">
              <a:lnSpc>
                <a:spcPct val="120000"/>
              </a:lnSpc>
              <a:spcBef>
                <a:spcPts val="300"/>
              </a:spcBef>
              <a:buFontTx/>
              <a:buNone/>
            </a:pPr>
            <a:r>
              <a:rPr kumimoji="0" lang="en-US" altLang="zh-CN" sz="2400" b="1" dirty="0">
                <a:latin typeface="Trebuchet MS" panose="020B0603020202020204" pitchFamily="34" charset="0"/>
              </a:rPr>
              <a:t>and</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M</a:t>
            </a:r>
            <a:r>
              <a:rPr kumimoji="0" lang="en-US" altLang="zh-CN" sz="2400" b="1" i="1" baseline="-25000" dirty="0">
                <a:latin typeface="Trebuchet MS" panose="020B0603020202020204" pitchFamily="34" charset="0"/>
              </a:rPr>
              <a:t>t </a:t>
            </a:r>
            <a:r>
              <a:rPr kumimoji="0" lang="en-US" altLang="zh-CN" sz="2400" b="1" dirty="0">
                <a:latin typeface="Trebuchet MS" panose="020B0603020202020204" pitchFamily="34" charset="0"/>
              </a:rPr>
              <a:t>, </a:t>
            </a:r>
            <a:r>
              <a:rPr lang="en-US" sz="2400" dirty="0">
                <a:latin typeface="Trebuchet MS" panose="020B0603020202020204" pitchFamily="34" charset="0"/>
              </a:rPr>
              <a:t>respectively. Then, we have:</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indent="34925"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i="1" dirty="0" err="1">
                <a:latin typeface="Trebuchet MS" panose="020B0603020202020204" pitchFamily="34" charset="0"/>
              </a:rPr>
              <a:t>M</a:t>
            </a:r>
            <a:r>
              <a:rPr kumimoji="0" lang="en-US" altLang="zh-CN" sz="2400" b="1" i="1" baseline="-25000" dirty="0" err="1">
                <a:latin typeface="Trebuchet MS" panose="020B0603020202020204" pitchFamily="34" charset="0"/>
              </a:rPr>
              <a:t>r</a:t>
            </a:r>
            <a:r>
              <a:rPr kumimoji="0" lang="en-US" altLang="zh-CN" sz="2400" b="1" i="1" baseline="-25000"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E    </a:t>
            </a:r>
          </a:p>
          <a:p>
            <a:pPr eaLnBrk="1" hangingPunct="1">
              <a:lnSpc>
                <a:spcPct val="120000"/>
              </a:lnSpc>
              <a:spcBef>
                <a:spcPts val="300"/>
              </a:spcBef>
              <a:buFontTx/>
              <a:buNone/>
            </a:pPr>
            <a:r>
              <a:rPr kumimoji="0" lang="en-US" altLang="zh-CN" sz="2400" b="1" i="1" dirty="0">
                <a:latin typeface="Trebuchet MS" panose="020B0603020202020204" pitchFamily="34" charset="0"/>
              </a:rPr>
              <a:t>            </a:t>
            </a:r>
            <a:r>
              <a:rPr kumimoji="0" lang="en-US" altLang="zh-CN" sz="2400" b="1" i="1" dirty="0" err="1">
                <a:latin typeface="Trebuchet MS" panose="020B0603020202020204" pitchFamily="34" charset="0"/>
              </a:rPr>
              <a:t>M</a:t>
            </a:r>
            <a:r>
              <a:rPr kumimoji="0" lang="en-US" altLang="zh-CN" sz="2400" b="1" i="1" baseline="-25000" dirty="0" err="1">
                <a:latin typeface="Trebuchet MS" panose="020B0603020202020204" pitchFamily="34" charset="0"/>
              </a:rPr>
              <a:t>s</a:t>
            </a:r>
            <a:r>
              <a:rPr kumimoji="0" lang="en-US" altLang="zh-CN" sz="2400" b="1" i="1" baseline="-25000" dirty="0">
                <a:latin typeface="Trebuchet MS" panose="020B0603020202020204" pitchFamily="34" charset="0"/>
              </a:rPr>
              <a: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baseline="30000" dirty="0">
                <a:latin typeface="Trebuchet MS" panose="020B0603020202020204" pitchFamily="34" charset="0"/>
              </a:rPr>
              <a:t>’</a:t>
            </a:r>
            <a:r>
              <a:rPr kumimoji="0" lang="en-US" altLang="zh-CN" sz="2400" b="1" dirty="0">
                <a:latin typeface="Trebuchet MS" panose="020B0603020202020204" pitchFamily="34" charset="0"/>
              </a:rPr>
              <a:t> </a:t>
            </a:r>
          </a:p>
          <a:p>
            <a:pPr eaLnBrk="1" hangingPunct="1">
              <a:lnSpc>
                <a:spcPct val="120000"/>
              </a:lnSpc>
              <a:spcBef>
                <a:spcPts val="3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M</a:t>
            </a:r>
            <a:r>
              <a:rPr kumimoji="0" lang="en-US" altLang="zh-CN" sz="2400" b="1" i="1" baseline="-25000" dirty="0">
                <a:latin typeface="Trebuchet MS" panose="020B0603020202020204" pitchFamily="34" charset="0"/>
              </a:rPr>
              <a:t>t </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baseline="30000" dirty="0">
                <a:latin typeface="Trebuchet MS" panose="020B0603020202020204" pitchFamily="34" charset="0"/>
              </a:rPr>
              <a:t>3</a:t>
            </a:r>
            <a:r>
              <a:rPr kumimoji="0" lang="en-US" altLang="zh-CN" sz="2400" b="1" dirty="0">
                <a:latin typeface="Trebuchet MS" panose="020B0603020202020204" pitchFamily="34" charset="0"/>
              </a:rPr>
              <a:t>+…</a:t>
            </a:r>
          </a:p>
          <a:p>
            <a:pPr>
              <a:lnSpc>
                <a:spcPct val="12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where </a:t>
            </a:r>
            <a:r>
              <a:rPr kumimoji="0" lang="en-US" altLang="zh-CN" sz="2400" b="1" i="1" dirty="0">
                <a:latin typeface="Trebuchet MS" panose="020B0603020202020204" pitchFamily="34" charset="0"/>
              </a:rPr>
              <a:t>E </a:t>
            </a:r>
            <a:r>
              <a:rPr lang="en-US" sz="2400" dirty="0">
                <a:latin typeface="Trebuchet MS" panose="020B0603020202020204" pitchFamily="34" charset="0"/>
              </a:rPr>
              <a:t>is the identity matrix of the same order as </a:t>
            </a:r>
            <a:r>
              <a:rPr kumimoji="0" lang="en-US" altLang="zh-CN" sz="2400" b="1" i="1" dirty="0">
                <a:latin typeface="Trebuchet MS" panose="020B0603020202020204" pitchFamily="34" charset="0"/>
              </a:rPr>
              <a:t>M</a:t>
            </a:r>
            <a:r>
              <a:rPr lang="en-US" sz="2400" dirty="0">
                <a:latin typeface="Trebuchet MS" panose="020B0603020202020204" pitchFamily="34" charset="0"/>
              </a:rPr>
              <a:t>, and </a:t>
            </a:r>
            <a:r>
              <a:rPr lang="en-US" altLang="zh-CN" sz="2400" b="1" i="1" dirty="0">
                <a:latin typeface="Trebuchet MS" panose="020B0603020202020204" pitchFamily="34" charset="0"/>
              </a:rPr>
              <a:t>M</a:t>
            </a:r>
            <a:r>
              <a:rPr lang="en-US" altLang="zh-CN" sz="2400" b="1" baseline="30000" dirty="0">
                <a:latin typeface="Trebuchet MS" panose="020B0603020202020204" pitchFamily="34" charset="0"/>
              </a:rPr>
              <a:t>’</a:t>
            </a:r>
            <a:r>
              <a:rPr kumimoji="0" lang="en-US" altLang="zh-CN" sz="2400" b="1" i="1" dirty="0">
                <a:latin typeface="Trebuchet MS" panose="020B0603020202020204" pitchFamily="34" charset="0"/>
              </a:rPr>
              <a:t> </a:t>
            </a:r>
            <a:r>
              <a:rPr lang="en-US" sz="2400" dirty="0">
                <a:latin typeface="Trebuchet MS" panose="020B0603020202020204" pitchFamily="34" charset="0"/>
              </a:rPr>
              <a:t>is the transpose of </a:t>
            </a:r>
            <a:r>
              <a:rPr kumimoji="0" lang="en-US" altLang="zh-CN" sz="2400" b="1" i="1" dirty="0">
                <a:latin typeface="Trebuchet MS" panose="020B0603020202020204" pitchFamily="34" charset="0"/>
              </a:rPr>
              <a:t>M</a:t>
            </a:r>
            <a:r>
              <a:rPr lang="en-US" sz="2400" dirty="0">
                <a:latin typeface="Trebuchet MS" panose="020B0603020202020204" pitchFamily="34" charset="0"/>
              </a:rPr>
              <a:t>.</a:t>
            </a:r>
          </a:p>
          <a:p>
            <a:pPr marL="0" indent="0">
              <a:lnSpc>
                <a:spcPct val="120000"/>
              </a:lnSpc>
              <a:spcBef>
                <a:spcPts val="300"/>
              </a:spcBef>
              <a:buNone/>
            </a:pPr>
            <a:r>
              <a:rPr lang="en-US" sz="2400" dirty="0">
                <a:latin typeface="Trebuchet MS" panose="020B0603020202020204" pitchFamily="34" charset="0"/>
              </a:rPr>
              <a:t>    </a:t>
            </a:r>
            <a:r>
              <a:rPr lang="en-US" sz="2400" b="1" dirty="0">
                <a:latin typeface="Trebuchet MS" panose="020B0603020202020204" pitchFamily="34" charset="0"/>
              </a:rPr>
              <a:t>Note:</a:t>
            </a:r>
            <a:r>
              <a:rPr lang="en-US" sz="2400" dirty="0">
                <a:latin typeface="Trebuchet MS" panose="020B0603020202020204" pitchFamily="34" charset="0"/>
              </a:rPr>
              <a:t> In the above equations, the matrix elements are added using logical addition.</a:t>
            </a:r>
          </a:p>
          <a:p>
            <a:pPr lvl="1">
              <a:lnSpc>
                <a:spcPct val="120000"/>
              </a:lnSpc>
              <a:spcBef>
                <a:spcPts val="300"/>
              </a:spcBef>
            </a:pPr>
            <a:endParaRPr lang="zh-CN" altLang="en-US" b="1" dirty="0">
              <a:latin typeface="Trebuchet MS" panose="020B0603020202020204" pitchFamily="34" charset="0"/>
            </a:endParaRPr>
          </a:p>
        </p:txBody>
      </p:sp>
      <p:sp>
        <p:nvSpPr>
          <p:cNvPr id="4" name="Rectangle 2">
            <a:extLst>
              <a:ext uri="{FF2B5EF4-FFF2-40B4-BE49-F238E27FC236}">
                <a16:creationId xmlns:a16="http://schemas.microsoft.com/office/drawing/2014/main" id="{44E7476E-D078-48E6-A814-135C415BC7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7507B080-5443-4BBE-9FFF-15F81090681D}"/>
              </a:ext>
            </a:extLst>
          </p:cNvPr>
          <p:cNvGraphicFramePr>
            <a:graphicFrameLocks noChangeAspect="1"/>
          </p:cNvGraphicFramePr>
          <p:nvPr>
            <p:extLst>
              <p:ext uri="{D42A27DB-BD31-4B8C-83A1-F6EECF244321}">
                <p14:modId xmlns:p14="http://schemas.microsoft.com/office/powerpoint/2010/main" val="2466762951"/>
              </p:ext>
            </p:extLst>
          </p:nvPr>
        </p:nvGraphicFramePr>
        <p:xfrm>
          <a:off x="1062990" y="4194809"/>
          <a:ext cx="411480" cy="500449"/>
        </p:xfrm>
        <a:graphic>
          <a:graphicData uri="http://schemas.openxmlformats.org/presentationml/2006/ole">
            <mc:AlternateContent xmlns:mc="http://schemas.openxmlformats.org/markup-compatibility/2006">
              <mc:Choice xmlns:v="urn:schemas-microsoft-com:vml" Requires="v">
                <p:oleObj name="Visio" r:id="rId5" imgW="584296" imgH="698595" progId="Visio.Drawing.15">
                  <p:embed/>
                </p:oleObj>
              </mc:Choice>
              <mc:Fallback>
                <p:oleObj name="Visio" r:id="rId5" imgW="584296" imgH="698595"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2990" y="4194809"/>
                        <a:ext cx="411480" cy="500449"/>
                      </a:xfrm>
                      <a:prstGeom prst="rect">
                        <a:avLst/>
                      </a:prstGeom>
                      <a:noFill/>
                    </p:spPr>
                  </p:pic>
                </p:oleObj>
              </mc:Fallback>
            </mc:AlternateContent>
          </a:graphicData>
        </a:graphic>
      </p:graphicFrame>
    </p:spTree>
    <p:extLst>
      <p:ext uri="{BB962C8B-B14F-4D97-AF65-F5344CB8AC3E}">
        <p14:creationId xmlns:p14="http://schemas.microsoft.com/office/powerpoint/2010/main" val="1745656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1000"/>
                                        <p:tgtEl>
                                          <p:spTgt spid="9">
                                            <p:txEl>
                                              <p:pRg st="4" end="4"/>
                                            </p:txEl>
                                          </p:spTgt>
                                        </p:tgtEl>
                                      </p:cBhvr>
                                    </p:animEffect>
                                    <p:anim calcmode="lin" valueType="num">
                                      <p:cBhvr>
                                        <p:cTn id="18"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1000"/>
                                        <p:tgtEl>
                                          <p:spTgt spid="9">
                                            <p:txEl>
                                              <p:pRg st="5" end="5"/>
                                            </p:txEl>
                                          </p:spTgt>
                                        </p:tgtEl>
                                      </p:cBhvr>
                                    </p:animEffect>
                                    <p:anim calcmode="lin" valueType="num">
                                      <p:cBhvr>
                                        <p:cTn id="2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fade">
                                      <p:cBhvr>
                                        <p:cTn id="31" dur="1000"/>
                                        <p:tgtEl>
                                          <p:spTgt spid="9">
                                            <p:txEl>
                                              <p:pRg st="6" end="6"/>
                                            </p:txEl>
                                          </p:spTgt>
                                        </p:tgtEl>
                                      </p:cBhvr>
                                    </p:animEffect>
                                    <p:anim calcmode="lin" valueType="num">
                                      <p:cBhvr>
                                        <p:cTn id="32"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anim calcmode="lin" valueType="num">
                                      <p:cBhvr>
                                        <p:cTn id="37" dur="1000" fill="hold"/>
                                        <p:tgtEl>
                                          <p:spTgt spid="5"/>
                                        </p:tgtEl>
                                        <p:attrNameLst>
                                          <p:attrName>ppt_x</p:attrName>
                                        </p:attrNameLst>
                                      </p:cBhvr>
                                      <p:tavLst>
                                        <p:tav tm="0">
                                          <p:val>
                                            <p:strVal val="#ppt_x"/>
                                          </p:val>
                                        </p:tav>
                                        <p:tav tm="100000">
                                          <p:val>
                                            <p:strVal val="#ppt_x"/>
                                          </p:val>
                                        </p:tav>
                                      </p:tavLst>
                                    </p:anim>
                                    <p:anim calcmode="lin" valueType="num">
                                      <p:cBhvr>
                                        <p:cTn id="3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bg1"/>
                </a:solidFill>
                <a:latin typeface="Trebuchet MS" panose="020B0603020202020204" pitchFamily="34" charset="0"/>
              </a:rPr>
              <a:t>4.3.2 Closure of Relations</a:t>
            </a:r>
            <a:endParaRPr lang="en-US" altLang="zh-CN" sz="1800" dirty="0">
              <a:solidFill>
                <a:schemeClr val="bg1"/>
              </a:solidFill>
              <a:latin typeface="Trebuchet MS" panose="020B0603020202020204" pitchFamily="34" charset="0"/>
            </a:endParaRPr>
          </a:p>
          <a:p>
            <a:r>
              <a:rPr lang="en-US" altLang="zh-CN" sz="16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16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Closure Operations on Relation Graphs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917384" y="927688"/>
            <a:ext cx="10619218" cy="52762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Let the relation graphs of</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sz="2400" dirty="0">
                <a:latin typeface="Trebuchet MS" panose="020B0603020202020204" pitchFamily="34" charset="0"/>
              </a:rPr>
              <a:t>be denoted by</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t </a:t>
            </a:r>
            <a:r>
              <a:rPr kumimoji="0" lang="en-US" altLang="zh-CN" sz="2400" b="1" dirty="0">
                <a:latin typeface="Trebuchet MS" panose="020B0603020202020204" pitchFamily="34" charset="0"/>
              </a:rPr>
              <a:t>, </a:t>
            </a:r>
            <a:r>
              <a:rPr lang="en-US" sz="2400" dirty="0">
                <a:latin typeface="Trebuchet MS" panose="020B0603020202020204" pitchFamily="34" charset="0"/>
              </a:rPr>
              <a:t>respectively. </a:t>
            </a:r>
          </a:p>
          <a:p>
            <a:pPr marL="0" indent="0" eaLnBrk="1" hangingPunct="1">
              <a:lnSpc>
                <a:spcPct val="110000"/>
              </a:lnSpc>
              <a:spcBef>
                <a:spcPts val="300"/>
              </a:spcBef>
              <a:buClr>
                <a:srgbClr val="0B5BFF"/>
              </a:buClr>
              <a:buSzPct val="80000"/>
              <a:buNone/>
            </a:pPr>
            <a:r>
              <a:rPr lang="en-US" sz="2400" dirty="0">
                <a:latin typeface="Trebuchet MS" panose="020B0603020202020204" pitchFamily="34" charset="0"/>
              </a:rPr>
              <a:t>   </a:t>
            </a:r>
            <a:r>
              <a:rPr lang="en-US" sz="2400" b="1" dirty="0">
                <a:latin typeface="Trebuchet MS" panose="020B0603020202020204" pitchFamily="34" charset="0"/>
              </a:rPr>
              <a:t>Then</a:t>
            </a:r>
            <a:r>
              <a:rPr lang="en-US" sz="2400" dirty="0">
                <a:latin typeface="Trebuchet MS" panose="020B0603020202020204" pitchFamily="34" charset="0"/>
              </a:rPr>
              <a:t>, the vertex sets of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s</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t </a:t>
            </a:r>
            <a:r>
              <a:rPr lang="zh-CN" altLang="en-US" sz="2400" b="1" i="1" baseline="-25000" dirty="0">
                <a:latin typeface="Trebuchet MS" panose="020B0603020202020204" pitchFamily="34" charset="0"/>
              </a:rPr>
              <a:t> </a:t>
            </a:r>
            <a:r>
              <a:rPr lang="en-US" sz="2400" dirty="0">
                <a:latin typeface="Trebuchet MS" panose="020B0603020202020204" pitchFamily="34" charset="0"/>
              </a:rPr>
              <a:t>are the same as the vertex set of</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 </a:t>
            </a:r>
          </a:p>
          <a:p>
            <a:pPr eaLnBrk="1" hangingPunct="1">
              <a:lnSpc>
                <a:spcPct val="11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In addition to the edges of</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G </a:t>
            </a:r>
            <a:r>
              <a:rPr kumimoji="0" lang="en-US" altLang="zh-CN" sz="2400" b="1" dirty="0">
                <a:latin typeface="Trebuchet MS" panose="020B0603020202020204" pitchFamily="34" charset="0"/>
              </a:rPr>
              <a:t>, </a:t>
            </a:r>
            <a:r>
              <a:rPr lang="en-US" sz="2400" dirty="0">
                <a:latin typeface="Trebuchet MS" panose="020B0603020202020204" pitchFamily="34" charset="0"/>
              </a:rPr>
              <a:t>new edges are added in the following ways</a:t>
            </a:r>
            <a:r>
              <a:rPr kumimoji="0" lang="zh-CN" altLang="en-US" sz="2400" b="1" dirty="0">
                <a:latin typeface="Trebuchet MS" panose="020B0603020202020204" pitchFamily="34" charset="0"/>
              </a:rPr>
              <a:t>：</a:t>
            </a:r>
            <a:r>
              <a:rPr kumimoji="0" lang="en-US" altLang="zh-CN" sz="2400" b="1" dirty="0">
                <a:latin typeface="Trebuchet MS" panose="020B0603020202020204" pitchFamily="34" charset="0"/>
              </a:rPr>
              <a:t> </a:t>
            </a:r>
          </a:p>
          <a:p>
            <a:pPr indent="34925" eaLnBrk="1" hangingPunct="1">
              <a:lnSpc>
                <a:spcPct val="110000"/>
              </a:lnSpc>
              <a:spcBef>
                <a:spcPts val="300"/>
              </a:spcBef>
              <a:buClr>
                <a:srgbClr val="0B5BFF"/>
              </a:buClr>
              <a:buSzPct val="120000"/>
            </a:pPr>
            <a:r>
              <a:rPr lang="en-US" sz="2400" dirty="0">
                <a:latin typeface="Trebuchet MS" panose="020B0603020202020204" pitchFamily="34" charset="0"/>
              </a:rPr>
              <a:t> For each vertex in </a:t>
            </a:r>
            <a:r>
              <a:rPr lang="en-US" altLang="zh-CN" sz="2400" b="1" i="1" dirty="0">
                <a:latin typeface="Trebuchet MS" panose="020B0603020202020204" pitchFamily="34" charset="0"/>
              </a:rPr>
              <a:t>G</a:t>
            </a:r>
            <a:r>
              <a:rPr lang="en-US" altLang="zh-CN" sz="2400" b="1" dirty="0">
                <a:latin typeface="Trebuchet MS" panose="020B0603020202020204" pitchFamily="34" charset="0"/>
              </a:rPr>
              <a:t>, </a:t>
            </a:r>
            <a:r>
              <a:rPr lang="en-US" sz="2400" dirty="0">
                <a:latin typeface="Trebuchet MS" panose="020B0603020202020204" pitchFamily="34" charset="0"/>
              </a:rPr>
              <a:t>if there is no cycle, add a cycle. The resulting graph is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r</a:t>
            </a:r>
            <a:r>
              <a:rPr lang="en-US" altLang="zh-CN" sz="2400" b="1" dirty="0">
                <a:latin typeface="Trebuchet MS" panose="020B0603020202020204" pitchFamily="34" charset="0"/>
              </a:rPr>
              <a:t>. </a:t>
            </a:r>
          </a:p>
          <a:p>
            <a:pPr indent="34925" eaLnBrk="1" hangingPunct="1">
              <a:lnSpc>
                <a:spcPct val="110000"/>
              </a:lnSpc>
              <a:spcBef>
                <a:spcPts val="300"/>
              </a:spcBef>
              <a:buClr>
                <a:srgbClr val="0B5BFF"/>
              </a:buClr>
              <a:buSzPct val="120000"/>
            </a:pPr>
            <a:r>
              <a:rPr lang="en-US" sz="2400" dirty="0">
                <a:latin typeface="Trebuchet MS" panose="020B0603020202020204" pitchFamily="34" charset="0"/>
              </a:rPr>
              <a:t> For each directed edge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a:t>
            </a:r>
            <a:r>
              <a:rPr lang="en-US" altLang="zh-CN" sz="2400" b="1" dirty="0">
                <a:latin typeface="Trebuchet MS" panose="020B0603020202020204" pitchFamily="34" charset="0"/>
              </a:rPr>
              <a:t> </a:t>
            </a:r>
            <a:r>
              <a:rPr lang="en-US" sz="2400" dirty="0">
                <a:latin typeface="Trebuchet MS" panose="020B0603020202020204" pitchFamily="34" charset="0"/>
              </a:rPr>
              <a:t>→</a:t>
            </a:r>
            <a:r>
              <a:rPr lang="zh-CN" altLang="en-US" sz="2400" b="1" dirty="0">
                <a:latin typeface="Trebuchet MS" panose="020B0603020202020204" pitchFamily="34" charset="0"/>
              </a:rPr>
              <a:t> </a:t>
            </a:r>
            <a:r>
              <a:rPr kumimoji="0" lang="en-US" altLang="zh-CN" sz="2400" b="1" i="1" dirty="0" err="1">
                <a:latin typeface="Trebuchet MS" panose="020B0603020202020204" pitchFamily="34" charset="0"/>
              </a:rPr>
              <a:t>x</a:t>
            </a:r>
            <a:r>
              <a:rPr lang="en-US" altLang="zh-CN" sz="2400" b="1" i="1" baseline="-25000" dirty="0" err="1">
                <a:latin typeface="Trebuchet MS" panose="020B0603020202020204" pitchFamily="34" charset="0"/>
              </a:rPr>
              <a:t>j</a:t>
            </a:r>
            <a:r>
              <a:rPr lang="en-US" altLang="zh-CN" sz="2400" b="1" dirty="0">
                <a:latin typeface="Trebuchet MS" panose="020B0603020202020204" pitchFamily="34" charset="0"/>
              </a:rPr>
              <a:t>, (with </a:t>
            </a:r>
            <a:r>
              <a:rPr lang="en-US" altLang="zh-CN" sz="2400" b="1" i="1" dirty="0" err="1">
                <a:latin typeface="Trebuchet MS" panose="020B0603020202020204" pitchFamily="34" charset="0"/>
              </a:rPr>
              <a:t>i</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j</a:t>
            </a:r>
            <a:r>
              <a:rPr lang="en-US" altLang="zh-CN" sz="2400" b="1" dirty="0">
                <a:latin typeface="Trebuchet MS" panose="020B0603020202020204" pitchFamily="34" charset="0"/>
              </a:rPr>
              <a:t>), </a:t>
            </a:r>
            <a:r>
              <a:rPr lang="en-US" sz="2400" dirty="0">
                <a:latin typeface="Trebuchet MS" panose="020B0603020202020204" pitchFamily="34" charset="0"/>
              </a:rPr>
              <a:t>add a reverse edge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a:t>
            </a:r>
            <a:r>
              <a:rPr lang="en-US" sz="2400" dirty="0">
                <a:latin typeface="Trebuchet MS" panose="020B0603020202020204" pitchFamily="34" charset="0"/>
              </a:rPr>
              <a:t> →</a:t>
            </a:r>
            <a:r>
              <a:rPr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a:t>
            </a:r>
            <a:r>
              <a:rPr lang="en-US" altLang="zh-CN" sz="2400" b="1" dirty="0">
                <a:latin typeface="Trebuchet MS" panose="020B0603020202020204" pitchFamily="34" charset="0"/>
              </a:rPr>
              <a:t> . </a:t>
            </a:r>
            <a:r>
              <a:rPr lang="en-US" sz="2400" dirty="0">
                <a:latin typeface="Trebuchet MS" panose="020B0603020202020204" pitchFamily="34" charset="0"/>
              </a:rPr>
              <a:t>The resulting graph is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s</a:t>
            </a:r>
            <a:r>
              <a:rPr lang="en-US" altLang="zh-CN" sz="2400" b="1" dirty="0">
                <a:latin typeface="Trebuchet MS" panose="020B0603020202020204" pitchFamily="34" charset="0"/>
              </a:rPr>
              <a:t>. </a:t>
            </a:r>
          </a:p>
          <a:p>
            <a:pPr indent="34925" eaLnBrk="1" hangingPunct="1">
              <a:lnSpc>
                <a:spcPct val="110000"/>
              </a:lnSpc>
              <a:spcBef>
                <a:spcPts val="300"/>
              </a:spcBef>
              <a:buClr>
                <a:srgbClr val="0B5BFF"/>
              </a:buClr>
              <a:buSzPct val="120000"/>
            </a:pPr>
            <a:r>
              <a:rPr lang="en-US" sz="2400" b="1" dirty="0">
                <a:latin typeface="Trebuchet MS" panose="020B0603020202020204" pitchFamily="34" charset="0"/>
              </a:rPr>
              <a:t> </a:t>
            </a:r>
            <a:r>
              <a:rPr lang="en-US" sz="2400" dirty="0">
                <a:latin typeface="Trebuchet MS" panose="020B0603020202020204" pitchFamily="34" charset="0"/>
              </a:rPr>
              <a:t>For each vertex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 </a:t>
            </a:r>
            <a:r>
              <a:rPr kumimoji="0" lang="en-US" altLang="zh-CN" sz="2400" b="1" dirty="0">
                <a:latin typeface="Trebuchet MS" panose="020B0603020202020204" pitchFamily="34" charset="0"/>
              </a:rPr>
              <a:t>in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 </a:t>
            </a:r>
            <a:r>
              <a:rPr lang="en-US" sz="2400" dirty="0">
                <a:latin typeface="Trebuchet MS" panose="020B0603020202020204" pitchFamily="34" charset="0"/>
              </a:rPr>
              <a:t>examine all paths starting from</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 </a:t>
            </a:r>
            <a:r>
              <a:rPr lang="zh-CN" altLang="en-US" sz="2400" b="1" dirty="0">
                <a:latin typeface="Trebuchet MS" panose="020B0603020202020204" pitchFamily="34" charset="0"/>
              </a:rPr>
              <a:t> ，</a:t>
            </a:r>
            <a:r>
              <a:rPr lang="en-US" altLang="zh-CN" sz="2400" dirty="0">
                <a:latin typeface="Trebuchet MS" panose="020B0603020202020204" pitchFamily="34" charset="0"/>
              </a:rPr>
              <a:t>i</a:t>
            </a:r>
            <a:r>
              <a:rPr lang="en-US" sz="2400" dirty="0">
                <a:latin typeface="Trebuchet MS" panose="020B0603020202020204" pitchFamily="34" charset="0"/>
              </a:rPr>
              <a:t>f there is no edge from</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i="1" baseline="-25000" dirty="0">
                <a:latin typeface="Trebuchet MS" panose="020B0603020202020204" pitchFamily="34" charset="0"/>
              </a:rPr>
              <a:t>i </a:t>
            </a:r>
            <a:r>
              <a:rPr lang="en-US" sz="2400" dirty="0">
                <a:latin typeface="Trebuchet MS" panose="020B0603020202020204" pitchFamily="34" charset="0"/>
              </a:rPr>
              <a:t>to any node </a:t>
            </a:r>
            <a:r>
              <a:rPr kumimoji="0" lang="en-US" altLang="zh-CN" sz="2400" b="1" i="1" dirty="0" err="1">
                <a:latin typeface="Trebuchet MS" panose="020B0603020202020204" pitchFamily="34" charset="0"/>
              </a:rPr>
              <a:t>x</a:t>
            </a:r>
            <a:r>
              <a:rPr kumimoji="0" lang="en-US" altLang="zh-CN" sz="2400" b="1" i="1" baseline="-25000" dirty="0" err="1">
                <a:latin typeface="Trebuchet MS" panose="020B0603020202020204" pitchFamily="34" charset="0"/>
              </a:rPr>
              <a:t>j</a:t>
            </a:r>
            <a:r>
              <a:rPr kumimoji="0" lang="en-US" altLang="zh-CN" sz="2400" b="1" i="1" baseline="-25000" dirty="0">
                <a:latin typeface="Trebuchet MS" panose="020B0603020202020204" pitchFamily="34" charset="0"/>
              </a:rPr>
              <a:t> </a:t>
            </a:r>
            <a:r>
              <a:rPr lang="en-US" sz="2400" dirty="0">
                <a:latin typeface="Trebuchet MS" panose="020B0603020202020204" pitchFamily="34" charset="0"/>
              </a:rPr>
              <a:t>in the path, add the corresponding edge. After checking all vertices, the resulting graph is </a:t>
            </a:r>
            <a:r>
              <a:rPr kumimoji="0" lang="en-US" altLang="zh-CN" sz="2400" b="1" i="1" dirty="0">
                <a:latin typeface="Trebuchet MS" panose="020B0603020202020204" pitchFamily="34" charset="0"/>
              </a:rPr>
              <a:t>G</a:t>
            </a:r>
            <a:r>
              <a:rPr kumimoji="0" lang="en-US" altLang="zh-CN" sz="2400" b="1" i="1" baseline="-25000" dirty="0">
                <a:latin typeface="Trebuchet MS" panose="020B0603020202020204" pitchFamily="34" charset="0"/>
              </a:rPr>
              <a:t>t </a:t>
            </a:r>
            <a:r>
              <a:rPr kumimoji="0" lang="en-US" altLang="zh-CN" sz="2400" b="1" dirty="0">
                <a:latin typeface="Trebuchet MS" panose="020B0603020202020204" pitchFamily="34" charset="0"/>
              </a:rPr>
              <a:t>.  </a:t>
            </a:r>
            <a:endParaRPr lang="zh-CN" altLang="en-US" b="1" dirty="0">
              <a:latin typeface="Trebuchet MS" panose="020B0603020202020204" pitchFamily="34" charset="0"/>
            </a:endParaRPr>
          </a:p>
        </p:txBody>
      </p:sp>
    </p:spTree>
    <p:extLst>
      <p:ext uri="{BB962C8B-B14F-4D97-AF65-F5344CB8AC3E}">
        <p14:creationId xmlns:p14="http://schemas.microsoft.com/office/powerpoint/2010/main" val="1777775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1000"/>
                                        <p:tgtEl>
                                          <p:spTgt spid="9">
                                            <p:txEl>
                                              <p:pRg st="4" end="4"/>
                                            </p:txEl>
                                          </p:spTgt>
                                        </p:tgtEl>
                                      </p:cBhvr>
                                    </p:animEffect>
                                    <p:anim calcmode="lin" valueType="num">
                                      <p:cBhvr>
                                        <p:cTn id="2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5" end="5"/>
                                            </p:txEl>
                                          </p:spTgt>
                                        </p:tgtEl>
                                        <p:attrNameLst>
                                          <p:attrName>style.visibility</p:attrName>
                                        </p:attrNameLst>
                                      </p:cBhvr>
                                      <p:to>
                                        <p:strVal val="visible"/>
                                      </p:to>
                                    </p:set>
                                    <p:animEffect transition="in" filter="fade">
                                      <p:cBhvr>
                                        <p:cTn id="28" dur="1000"/>
                                        <p:tgtEl>
                                          <p:spTgt spid="9">
                                            <p:txEl>
                                              <p:pRg st="5" end="5"/>
                                            </p:txEl>
                                          </p:spTgt>
                                        </p:tgtEl>
                                      </p:cBhvr>
                                    </p:animEffect>
                                    <p:anim calcmode="lin" valueType="num">
                                      <p:cBhvr>
                                        <p:cTn id="29"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Closure Operations on Relation Graphs</a:t>
            </a:r>
            <a:r>
              <a:rPr lang="en-US" altLang="zh-CN" b="1" dirty="0">
                <a:latin typeface="Trebuchet MS" panose="020B0603020202020204" pitchFamily="34" charset="0"/>
              </a:rPr>
              <a:t> (</a:t>
            </a:r>
            <a:r>
              <a:rPr lang="en-US" altLang="zh-CN" sz="2000" b="1" dirty="0">
                <a:solidFill>
                  <a:schemeClr val="accent2"/>
                </a:solidFill>
                <a:latin typeface="Trebuchet MS" panose="020B0603020202020204" pitchFamily="34" charset="0"/>
              </a:rPr>
              <a:t>e.g</a:t>
            </a:r>
            <a:r>
              <a:rPr lang="en-US" altLang="zh-CN" b="1" dirty="0">
                <a:solidFill>
                  <a:schemeClr val="accent2"/>
                </a:solidFill>
                <a:latin typeface="Trebuchet MS" panose="020B0603020202020204" pitchFamily="34" charset="0"/>
              </a:rPr>
              <a:t>.</a:t>
            </a:r>
            <a:r>
              <a:rPr lang="en-US" altLang="zh-CN" b="1" dirty="0">
                <a:latin typeface="Trebuchet MS" panose="020B0603020202020204" pitchFamily="34" charset="0"/>
              </a:rPr>
              <a:t>)</a:t>
            </a:r>
            <a:endParaRPr lang="zh-CN" altLang="en-US" sz="2400" b="1" dirty="0">
              <a:solidFill>
                <a:schemeClr val="accent2"/>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006479" cy="4712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2" y="765175"/>
            <a:ext cx="1026786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r>
              <a:rPr lang="en-US" sz="2400" b="1" dirty="0">
                <a:latin typeface="Trebuchet MS" panose="020B0603020202020204" pitchFamily="34" charset="0"/>
              </a:rPr>
              <a:t>        Example:</a:t>
            </a:r>
            <a:r>
              <a:rPr kumimoji="0" lang="en-US" altLang="zh-CN" sz="2400" b="1" dirty="0">
                <a:latin typeface="Trebuchet MS" panose="020B0603020202020204" pitchFamily="34" charset="0"/>
              </a:rPr>
              <a:t> </a:t>
            </a:r>
            <a:r>
              <a:rPr lang="en-US" altLang="zh-CN" sz="2400" dirty="0">
                <a:latin typeface="Trebuchet MS" panose="020B0603020202020204" pitchFamily="34" charset="0"/>
              </a:rPr>
              <a:t>Let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d</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={&lt;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b</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a</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b</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c</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d</a:t>
            </a:r>
            <a:r>
              <a:rPr kumimoji="0" lang="en-US" altLang="zh-CN" sz="2400" b="1" dirty="0">
                <a:latin typeface="Trebuchet MS" panose="020B0603020202020204" pitchFamily="34" charset="0"/>
              </a:rPr>
              <a:t>&gt;,&lt;</a:t>
            </a:r>
            <a:r>
              <a:rPr kumimoji="0" lang="en-US" altLang="zh-CN" sz="2400" b="1" i="1" dirty="0" err="1">
                <a:latin typeface="Trebuchet MS" panose="020B0603020202020204" pitchFamily="34" charset="0"/>
              </a:rPr>
              <a:t>d</a:t>
            </a:r>
            <a:r>
              <a:rPr kumimoji="0" lang="en-US" altLang="zh-CN" sz="2400" b="1" dirty="0" err="1">
                <a:latin typeface="Trebuchet MS" panose="020B0603020202020204" pitchFamily="34" charset="0"/>
              </a:rPr>
              <a:t>,</a:t>
            </a:r>
            <a:r>
              <a:rPr kumimoji="0" lang="en-US" altLang="zh-CN" sz="2400" b="1" i="1" dirty="0" err="1">
                <a:latin typeface="Trebuchet MS" panose="020B0603020202020204" pitchFamily="34" charset="0"/>
              </a:rPr>
              <a:t>c</a:t>
            </a:r>
            <a:r>
              <a:rPr kumimoji="0" lang="en-US" altLang="zh-CN" sz="2400" b="1" dirty="0">
                <a:latin typeface="Trebuchet MS" panose="020B0603020202020204" pitchFamily="34" charset="0"/>
              </a:rPr>
              <a:t>&gt;},</a:t>
            </a:r>
            <a:endParaRPr kumimoji="0" lang="en-US" altLang="zh-CN" sz="2400" b="1" i="1" dirty="0">
              <a:latin typeface="Trebuchet MS" panose="020B0603020202020204" pitchFamily="34" charset="0"/>
            </a:endParaRPr>
          </a:p>
          <a:p>
            <a:pPr eaLnBrk="1" hangingPunct="1">
              <a:lnSpc>
                <a:spcPct val="130000"/>
              </a:lnSpc>
              <a:spcBef>
                <a:spcPct val="0"/>
              </a:spcBef>
              <a:buFontTx/>
              <a:buNone/>
            </a:pPr>
            <a:r>
              <a:rPr kumimoji="0" lang="en-US" altLang="zh-CN" sz="2400" b="1" i="1" dirty="0">
                <a:latin typeface="Trebuchet MS" panose="020B0603020202020204" pitchFamily="34" charset="0"/>
              </a:rPr>
              <a:t>R</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and</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s</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t</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kumimoji="0" lang="en-US" altLang="zh-CN" sz="2400" b="1"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t</a:t>
            </a:r>
            <a:r>
              <a:rPr lang="en-US" sz="2400" dirty="0">
                <a:latin typeface="Trebuchet MS" panose="020B0603020202020204" pitchFamily="34" charset="0"/>
              </a:rPr>
              <a:t>he relation graph is shown</a:t>
            </a:r>
            <a:r>
              <a:rPr kumimoji="0" lang="en-US" altLang="zh-CN" sz="2400" b="1" dirty="0">
                <a:latin typeface="Trebuchet MS" panose="020B0603020202020204" pitchFamily="34" charset="0"/>
              </a:rPr>
              <a:t>. </a:t>
            </a:r>
          </a:p>
          <a:p>
            <a:pPr marL="0" indent="358775" eaLnBrk="1" hangingPunct="1">
              <a:lnSpc>
                <a:spcPct val="120000"/>
              </a:lnSpc>
              <a:spcBef>
                <a:spcPct val="0"/>
              </a:spcBef>
              <a:buFontTx/>
              <a:buNone/>
            </a:pPr>
            <a:r>
              <a:rPr kumimoji="0"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p:pic>
        <p:nvPicPr>
          <p:cNvPr id="10" name="Picture 9" descr="4">
            <a:extLst>
              <a:ext uri="{FF2B5EF4-FFF2-40B4-BE49-F238E27FC236}">
                <a16:creationId xmlns:a16="http://schemas.microsoft.com/office/drawing/2014/main" id="{87F32FD3-90AF-4C64-A85F-9442039E2C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110" y="1899748"/>
            <a:ext cx="6831013"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781E38FA-EA86-4742-9A02-8652E9DD1A15}"/>
              </a:ext>
            </a:extLst>
          </p:cNvPr>
          <p:cNvPicPr/>
          <p:nvPr/>
        </p:nvPicPr>
        <p:blipFill>
          <a:blip r:embed="rId6"/>
          <a:stretch>
            <a:fillRect/>
          </a:stretch>
        </p:blipFill>
        <p:spPr>
          <a:xfrm>
            <a:off x="1360805" y="965200"/>
            <a:ext cx="577850" cy="241300"/>
          </a:xfrm>
          <a:prstGeom prst="rect">
            <a:avLst/>
          </a:prstGeom>
        </p:spPr>
      </p:pic>
    </p:spTree>
    <p:extLst>
      <p:ext uri="{BB962C8B-B14F-4D97-AF65-F5344CB8AC3E}">
        <p14:creationId xmlns:p14="http://schemas.microsoft.com/office/powerpoint/2010/main" val="761974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err="1">
                <a:latin typeface="Trebuchet MS" panose="020B0603020202020204" pitchFamily="34" charset="0"/>
              </a:rPr>
              <a:t>Warshall's</a:t>
            </a:r>
            <a:r>
              <a:rPr lang="en-US" altLang="zh-CN" sz="2400" b="1" dirty="0">
                <a:latin typeface="Trebuchet MS" panose="020B0603020202020204" pitchFamily="34" charset="0"/>
              </a:rPr>
              <a:t> Algorithm for Transitive Closure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08378" y="904287"/>
            <a:ext cx="10267861" cy="54279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Algorithm Idea:</a:t>
            </a:r>
            <a:r>
              <a:rPr lang="en-US" sz="2400" dirty="0">
                <a:latin typeface="Trebuchet MS" panose="020B0603020202020204" pitchFamily="34" charset="0"/>
              </a:rPr>
              <a:t> Consider a sequence of matrices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0</a:t>
            </a:r>
            <a:r>
              <a:rPr lang="en-US" altLang="zh-CN" sz="2400" b="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n </a:t>
            </a:r>
            <a:r>
              <a:rPr lang="en-US" sz="2400" dirty="0">
                <a:latin typeface="Trebuchet MS" panose="020B0603020202020204" pitchFamily="34" charset="0"/>
              </a:rPr>
              <a:t>of size </a:t>
            </a:r>
            <a:r>
              <a:rPr lang="zh-CN" altLang="en-US" sz="2400" b="1" dirty="0">
                <a:latin typeface="Trebuchet MS" panose="020B0603020202020204" pitchFamily="34" charset="0"/>
              </a:rPr>
              <a:t> </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sz="2400" dirty="0">
                <a:latin typeface="Trebuchet MS" panose="020B0603020202020204" pitchFamily="34" charset="0"/>
              </a:rPr>
              <a:t>, where the element in the </a:t>
            </a:r>
            <a:r>
              <a:rPr lang="en-US" sz="2400" dirty="0" err="1">
                <a:latin typeface="Trebuchet MS" panose="020B0603020202020204" pitchFamily="34" charset="0"/>
              </a:rPr>
              <a:t>i-th</a:t>
            </a:r>
            <a:r>
              <a:rPr lang="en-US" sz="2400" dirty="0">
                <a:latin typeface="Trebuchet MS" panose="020B0603020202020204" pitchFamily="34" charset="0"/>
              </a:rPr>
              <a:t> row and j-</a:t>
            </a:r>
            <a:r>
              <a:rPr lang="en-US" sz="2400" dirty="0" err="1">
                <a:latin typeface="Trebuchet MS" panose="020B0603020202020204" pitchFamily="34" charset="0"/>
              </a:rPr>
              <a:t>th</a:t>
            </a:r>
            <a:r>
              <a:rPr lang="en-US" sz="2400" dirty="0">
                <a:latin typeface="Trebuchet MS" panose="020B0603020202020204" pitchFamily="34" charset="0"/>
              </a:rPr>
              <a:t> column of matrix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 </a:t>
            </a:r>
            <a:r>
              <a:rPr lang="en-US" sz="2400" dirty="0">
                <a:latin typeface="Trebuchet MS" panose="020B0603020202020204" pitchFamily="34" charset="0"/>
              </a:rPr>
              <a:t>is denoted as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j</a:t>
            </a:r>
            <a:r>
              <a:rPr lang="en-US" altLang="zh-CN" sz="2400" b="1" dirty="0">
                <a:latin typeface="Trebuchet MS" panose="020B0603020202020204" pitchFamily="34" charset="0"/>
              </a:rPr>
              <a:t>]. </a:t>
            </a:r>
            <a:r>
              <a:rPr lang="en-US" sz="2400" dirty="0">
                <a:latin typeface="Trebuchet MS" panose="020B0603020202020204" pitchFamily="34" charset="0"/>
              </a:rPr>
              <a:t>For k=0,1,…,n,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j</a:t>
            </a:r>
            <a:r>
              <a:rPr lang="en-US" altLang="zh-CN" sz="2400" b="1" dirty="0">
                <a:latin typeface="Trebuchet MS" panose="020B0603020202020204" pitchFamily="34" charset="0"/>
              </a:rPr>
              <a:t>]=1</a:t>
            </a:r>
            <a:r>
              <a:rPr lang="en-US" sz="2400" dirty="0">
                <a:latin typeface="Trebuchet MS" panose="020B0603020202020204" pitchFamily="34" charset="0"/>
              </a:rPr>
              <a:t> if and only if there exists a path from </a:t>
            </a:r>
            <a:r>
              <a:rPr lang="en-US" altLang="zh-CN" sz="2400" b="1" i="1" dirty="0">
                <a:latin typeface="Trebuchet MS" panose="020B0603020202020204" pitchFamily="34" charset="0"/>
              </a:rPr>
              <a:t>x</a:t>
            </a:r>
            <a:r>
              <a:rPr lang="en-US" altLang="zh-CN" sz="2400" b="1" i="1" baseline="-25000" dirty="0">
                <a:latin typeface="Trebuchet MS" panose="020B0603020202020204" pitchFamily="34" charset="0"/>
              </a:rPr>
              <a:t>i </a:t>
            </a:r>
            <a:r>
              <a:rPr lang="en-US" sz="2400" dirty="0">
                <a:latin typeface="Trebuchet MS" panose="020B0603020202020204" pitchFamily="34" charset="0"/>
              </a:rPr>
              <a:t>to </a:t>
            </a:r>
            <a:r>
              <a:rPr lang="en-US" altLang="zh-CN" sz="2400" b="1" i="1" dirty="0" err="1">
                <a:latin typeface="Trebuchet MS" panose="020B0603020202020204" pitchFamily="34" charset="0"/>
              </a:rPr>
              <a:t>x</a:t>
            </a:r>
            <a:r>
              <a:rPr lang="en-US" altLang="zh-CN" sz="2400" b="1" i="1" baseline="-25000" dirty="0" err="1">
                <a:latin typeface="Trebuchet MS" panose="020B0603020202020204" pitchFamily="34" charset="0"/>
              </a:rPr>
              <a:t>j</a:t>
            </a:r>
            <a:r>
              <a:rPr lang="en-US" altLang="zh-CN" sz="2400" b="1" i="1" baseline="-25000" dirty="0">
                <a:latin typeface="Trebuchet MS" panose="020B0603020202020204" pitchFamily="34" charset="0"/>
              </a:rPr>
              <a:t> </a:t>
            </a:r>
            <a:r>
              <a:rPr lang="en-US" sz="2400" dirty="0">
                <a:latin typeface="Trebuchet MS" panose="020B0603020202020204" pitchFamily="34" charset="0"/>
              </a:rPr>
              <a:t>in the relation graph of </a:t>
            </a:r>
            <a:r>
              <a:rPr lang="en-US" altLang="zh-CN" sz="2400" b="1" i="1" dirty="0">
                <a:latin typeface="Trebuchet MS" panose="020B0603020202020204" pitchFamily="34" charset="0"/>
              </a:rPr>
              <a:t>R </a:t>
            </a:r>
            <a:r>
              <a:rPr lang="en-US" sz="2400" dirty="0">
                <a:latin typeface="Trebuchet MS" panose="020B0603020202020204" pitchFamily="34" charset="0"/>
              </a:rPr>
              <a:t>, and this path passes through only the vertices in </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 </a:t>
            </a:r>
            <a:r>
              <a:rPr lang="en-US" altLang="zh-CN" sz="2400" b="1" i="1" dirty="0" err="1">
                <a:latin typeface="Trebuchet MS" panose="020B0603020202020204" pitchFamily="34" charset="0"/>
              </a:rPr>
              <a:t>x</a:t>
            </a:r>
            <a:r>
              <a:rPr lang="en-US" altLang="zh-CN" sz="2400" b="1" i="1" baseline="-25000" dirty="0" err="1">
                <a:latin typeface="Trebuchet MS" panose="020B0603020202020204" pitchFamily="34" charset="0"/>
              </a:rPr>
              <a:t>k</a:t>
            </a:r>
            <a:r>
              <a:rPr lang="en-US" altLang="zh-CN" sz="2400" b="1" dirty="0">
                <a:latin typeface="Trebuchet MS" panose="020B0603020202020204" pitchFamily="34" charset="0"/>
              </a:rPr>
              <a:t>} </a:t>
            </a:r>
            <a:r>
              <a:rPr lang="en-US" sz="2400" dirty="0">
                <a:latin typeface="Trebuchet MS" panose="020B0603020202020204" pitchFamily="34" charset="0"/>
              </a:rPr>
              <a:t>except for the endpoints. It is easy to prove that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0 </a:t>
            </a:r>
            <a:r>
              <a:rPr lang="en-US" sz="2400" dirty="0">
                <a:latin typeface="Trebuchet MS" panose="020B0603020202020204" pitchFamily="34" charset="0"/>
              </a:rPr>
              <a:t>is the relation matrix of </a:t>
            </a:r>
            <a:r>
              <a:rPr lang="en-US" altLang="zh-CN" sz="2400" b="1" i="1" dirty="0">
                <a:latin typeface="Trebuchet MS" panose="020B0603020202020204" pitchFamily="34" charset="0"/>
              </a:rPr>
              <a:t>R </a:t>
            </a:r>
            <a:r>
              <a:rPr lang="en-US" sz="2400" dirty="0">
                <a:latin typeface="Trebuchet MS" panose="020B0603020202020204" pitchFamily="34" charset="0"/>
              </a:rPr>
              <a:t>, and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n</a:t>
            </a:r>
            <a:r>
              <a:rPr lang="en-US" sz="2400" dirty="0">
                <a:latin typeface="Trebuchet MS" panose="020B0603020202020204" pitchFamily="34" charset="0"/>
              </a:rPr>
              <a:t>​ corresponds to the transitive closure of </a:t>
            </a:r>
            <a:r>
              <a:rPr lang="en-US" altLang="zh-CN" sz="2400" b="1" i="1" dirty="0">
                <a:latin typeface="Trebuchet MS" panose="020B0603020202020204" pitchFamily="34" charset="0"/>
              </a:rPr>
              <a:t>R </a:t>
            </a:r>
            <a:r>
              <a:rPr lang="en-US" sz="2400" dirty="0">
                <a:latin typeface="Trebuchet MS" panose="020B0603020202020204" pitchFamily="34" charset="0"/>
              </a:rPr>
              <a:t>.</a:t>
            </a:r>
          </a:p>
          <a:p>
            <a:pPr eaLnBrk="1" hangingPunct="1">
              <a:lnSpc>
                <a:spcPct val="120000"/>
              </a:lnSpc>
              <a:spcBef>
                <a:spcPts val="300"/>
              </a:spcBef>
              <a:buClr>
                <a:srgbClr val="0B5BFF"/>
              </a:buClr>
              <a:buSzPct val="80000"/>
              <a:buFont typeface="Wingdings" panose="05000000000000000000" pitchFamily="2" charset="2"/>
              <a:buChar char="n"/>
            </a:pPr>
            <a:r>
              <a:rPr lang="en-US" sz="2400" b="1" dirty="0" err="1">
                <a:latin typeface="Trebuchet MS" panose="020B0603020202020204" pitchFamily="34" charset="0"/>
              </a:rPr>
              <a:t>Warshall</a:t>
            </a:r>
            <a:r>
              <a:rPr lang="en-US" sz="2400" b="1" dirty="0">
                <a:latin typeface="Trebuchet MS" panose="020B0603020202020204" pitchFamily="34" charset="0"/>
              </a:rPr>
              <a:t> Algorithm:</a:t>
            </a:r>
            <a:r>
              <a:rPr lang="en-US" sz="2400" dirty="0">
                <a:latin typeface="Trebuchet MS" panose="020B0603020202020204" pitchFamily="34" charset="0"/>
              </a:rPr>
              <a:t> Starting from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0</a:t>
            </a:r>
            <a:r>
              <a:rPr lang="en-US" sz="2400" dirty="0">
                <a:latin typeface="Trebuchet MS" panose="020B0603020202020204" pitchFamily="34" charset="0"/>
              </a:rPr>
              <a:t>​, calculate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 </a:t>
            </a:r>
            <a:r>
              <a:rPr lang="en-US" sz="2400" dirty="0">
                <a:latin typeface="Trebuchet MS" panose="020B0603020202020204" pitchFamily="34" charset="0"/>
              </a:rPr>
              <a:t>until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n </a:t>
            </a:r>
            <a:r>
              <a:rPr lang="en-US" sz="2400" dirty="0">
                <a:latin typeface="Trebuchet MS" panose="020B0603020202020204" pitchFamily="34" charset="0"/>
              </a:rPr>
              <a:t>​.</a:t>
            </a:r>
          </a:p>
          <a:p>
            <a:pPr eaLnBrk="1" hangingPunct="1">
              <a:lnSpc>
                <a:spcPct val="120000"/>
              </a:lnSpc>
              <a:spcBef>
                <a:spcPts val="300"/>
              </a:spcBef>
              <a:buFontTx/>
              <a:buNone/>
            </a:pPr>
            <a:r>
              <a:rPr lang="en-US" altLang="zh-CN" sz="2400" b="1" dirty="0">
                <a:latin typeface="Trebuchet MS" panose="020B0603020202020204" pitchFamily="34" charset="0"/>
              </a:rPr>
              <a:t>   From</a:t>
            </a:r>
            <a:r>
              <a:rPr lang="zh-CN" altLang="en-US" sz="2400" b="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i="1" dirty="0">
                <a:latin typeface="Trebuchet MS" panose="020B0603020202020204" pitchFamily="34" charset="0"/>
              </a:rPr>
              <a:t>, j</a:t>
            </a:r>
            <a:r>
              <a:rPr lang="en-US" altLang="zh-CN" sz="2400" b="1" dirty="0">
                <a:latin typeface="Trebuchet MS" panose="020B0603020202020204" pitchFamily="34" charset="0"/>
              </a:rPr>
              <a:t>]</a:t>
            </a:r>
            <a:r>
              <a:rPr lang="en-US" altLang="zh-CN" sz="2400" b="1" i="1" dirty="0">
                <a:latin typeface="Trebuchet MS" panose="020B0603020202020204" pitchFamily="34" charset="0"/>
              </a:rPr>
              <a:t> to</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compute</a:t>
            </a:r>
            <a:r>
              <a:rPr lang="zh-CN" altLang="en-US" sz="2400" b="1" dirty="0">
                <a:latin typeface="Trebuchet MS" panose="020B0603020202020204" pitchFamily="34" charset="0"/>
              </a:rPr>
              <a:t>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a:latin typeface="Trebuchet MS" panose="020B0603020202020204" pitchFamily="34" charset="0"/>
              </a:rPr>
              <a:t>, </a:t>
            </a:r>
            <a:r>
              <a:rPr lang="en-US" altLang="zh-CN" sz="2400" b="1" i="1" dirty="0">
                <a:latin typeface="Trebuchet MS" panose="020B0603020202020204" pitchFamily="34" charset="0"/>
              </a:rPr>
              <a:t>j</a:t>
            </a:r>
            <a:r>
              <a:rPr lang="en-US" altLang="zh-CN" sz="2400" b="1" dirty="0">
                <a:latin typeface="Trebuchet MS" panose="020B0603020202020204" pitchFamily="34" charset="0"/>
              </a:rPr>
              <a:t>]:  </a:t>
            </a:r>
            <a:r>
              <a:rPr lang="en-US" altLang="zh-CN" sz="2400" b="1" i="1" dirty="0" err="1">
                <a:latin typeface="Trebuchet MS" panose="020B0603020202020204" pitchFamily="34" charset="0"/>
                <a:sym typeface="Symbol" panose="05050102010706020507" pitchFamily="18" charset="2"/>
              </a:rPr>
              <a:t>i</a:t>
            </a:r>
            <a:r>
              <a:rPr lang="en-US" altLang="zh-CN" sz="2400" b="1" dirty="0">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sym typeface="Symbol" panose="05050102010706020507" pitchFamily="18" charset="2"/>
              </a:rPr>
              <a:t>j</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V</a:t>
            </a:r>
            <a:r>
              <a:rPr lang="en-US" altLang="zh-CN" sz="2400" b="1" dirty="0">
                <a:latin typeface="Trebuchet MS" panose="020B0603020202020204" pitchFamily="34" charset="0"/>
                <a:sym typeface="Symbol" panose="05050102010706020507" pitchFamily="18" charset="2"/>
              </a:rPr>
              <a:t>. </a:t>
            </a:r>
            <a:endParaRPr lang="en-US" altLang="zh-CN" sz="2400" b="1" dirty="0">
              <a:latin typeface="Trebuchet MS" panose="020B0603020202020204" pitchFamily="34" charset="0"/>
            </a:endParaRPr>
          </a:p>
          <a:p>
            <a:pPr eaLnBrk="1" hangingPunct="1">
              <a:lnSpc>
                <a:spcPct val="120000"/>
              </a:lnSpc>
              <a:spcBef>
                <a:spcPts val="300"/>
              </a:spcBef>
              <a:buFontTx/>
              <a:buNone/>
            </a:pPr>
            <a:r>
              <a:rPr lang="en-US" altLang="zh-CN" sz="2400" b="1" dirty="0">
                <a:latin typeface="Trebuchet MS" panose="020B0603020202020204" pitchFamily="34" charset="0"/>
              </a:rPr>
              <a:t>   The</a:t>
            </a:r>
            <a:r>
              <a:rPr lang="zh-CN" altLang="en-US" sz="2400" b="1" dirty="0">
                <a:latin typeface="Trebuchet MS" panose="020B0603020202020204" pitchFamily="34" charset="0"/>
              </a:rPr>
              <a:t> </a:t>
            </a:r>
            <a:r>
              <a:rPr lang="en-US" altLang="zh-CN" sz="2400" b="1" dirty="0">
                <a:latin typeface="Trebuchet MS" panose="020B0603020202020204" pitchFamily="34" charset="0"/>
              </a:rPr>
              <a:t>vertex</a:t>
            </a:r>
            <a:r>
              <a:rPr lang="zh-CN" altLang="en-US" sz="2400" b="1" dirty="0">
                <a:latin typeface="Trebuchet MS" panose="020B0603020202020204" pitchFamily="34" charset="0"/>
              </a:rPr>
              <a:t> </a:t>
            </a:r>
            <a:r>
              <a:rPr lang="en-US" altLang="zh-CN" sz="2400" b="1" dirty="0">
                <a:latin typeface="Trebuchet MS" panose="020B0603020202020204" pitchFamily="34" charset="0"/>
              </a:rPr>
              <a:t>set</a:t>
            </a:r>
            <a:r>
              <a:rPr lang="zh-CN" altLang="en-US" sz="2400" b="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={1,2, …, </a:t>
            </a:r>
            <a:r>
              <a:rPr lang="en-US" altLang="zh-CN" sz="2400" b="1" i="1" dirty="0">
                <a:latin typeface="Trebuchet MS" panose="020B0603020202020204" pitchFamily="34" charset="0"/>
              </a:rPr>
              <a:t>k</a:t>
            </a:r>
            <a:r>
              <a:rPr lang="en-US" altLang="zh-CN" sz="2400" b="1" dirty="0">
                <a:latin typeface="Trebuchet MS" panose="020B0603020202020204" pitchFamily="34" charset="0"/>
              </a:rPr>
              <a:t>},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k</a:t>
            </a:r>
            <a:r>
              <a:rPr lang="en-US" altLang="zh-CN" sz="2400" b="1" dirty="0">
                <a:latin typeface="Trebuchet MS" panose="020B0603020202020204" pitchFamily="34" charset="0"/>
              </a:rPr>
              <a:t>+2, …, </a:t>
            </a:r>
            <a:r>
              <a:rPr lang="en-US" altLang="zh-CN" sz="2400" b="1" i="1" dirty="0">
                <a:latin typeface="Trebuchet MS" panose="020B0603020202020204" pitchFamily="34" charset="0"/>
              </a:rPr>
              <a:t>n</a:t>
            </a:r>
            <a:r>
              <a:rPr lang="en-US" altLang="zh-CN" sz="2400" b="1" dirty="0">
                <a:latin typeface="Trebuchet MS" panose="020B0603020202020204" pitchFamily="34" charset="0"/>
              </a:rPr>
              <a:t>},</a:t>
            </a:r>
            <a:r>
              <a:rPr lang="en-US" altLang="zh-CN" sz="2400" b="1" i="1" dirty="0">
                <a:latin typeface="Trebuchet MS" panose="020B0603020202020204" pitchFamily="34" charset="0"/>
              </a:rPr>
              <a:t>V</a:t>
            </a:r>
            <a:r>
              <a:rPr lang="en-US" altLang="zh-CN" sz="2400" b="1" dirty="0">
                <a:latin typeface="Trebuchet MS" panose="020B0603020202020204" pitchFamily="34" charset="0"/>
              </a:rPr>
              <a:t>=</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k</a:t>
            </a:r>
            <a:r>
              <a:rPr lang="en-US" altLang="zh-CN" sz="2400" b="1" dirty="0">
                <a:latin typeface="Trebuchet MS" panose="020B0603020202020204" pitchFamily="34" charset="0"/>
                <a:sym typeface="Symbol" panose="05050102010706020507" pitchFamily="18" charset="2"/>
              </a:rPr>
              <a:t>+1}</a:t>
            </a:r>
            <a:r>
              <a:rPr lang="en-US" altLang="zh-CN" sz="2400" b="1" i="1" dirty="0">
                <a:latin typeface="Trebuchet MS" panose="020B0603020202020204" pitchFamily="34" charset="0"/>
                <a:sym typeface="Symbol" panose="05050102010706020507" pitchFamily="18" charset="2"/>
              </a:rPr>
              <a:t>V</a:t>
            </a:r>
            <a:r>
              <a:rPr lang="en-US" altLang="zh-CN" sz="2400" b="1" baseline="-25000" dirty="0">
                <a:latin typeface="Trebuchet MS" panose="020B0603020202020204" pitchFamily="34" charset="0"/>
                <a:sym typeface="Symbol" panose="05050102010706020507" pitchFamily="18" charset="2"/>
              </a:rPr>
              <a:t>2</a:t>
            </a:r>
            <a:r>
              <a:rPr lang="zh-CN" altLang="en-US" sz="2400" b="1" baseline="-25000" dirty="0">
                <a:latin typeface="Trebuchet MS" panose="020B0603020202020204" pitchFamily="34" charset="0"/>
                <a:sym typeface="Symbol" panose="05050102010706020507" pitchFamily="18" charset="2"/>
              </a:rPr>
              <a:t>，</a:t>
            </a:r>
          </a:p>
          <a:p>
            <a:pPr eaLnBrk="1" hangingPunct="1">
              <a:lnSpc>
                <a:spcPct val="120000"/>
              </a:lnSpc>
              <a:spcBef>
                <a:spcPts val="300"/>
              </a:spcBef>
              <a:buFontTx/>
              <a:buNone/>
            </a:pPr>
            <a:r>
              <a:rPr lang="en-US" altLang="zh-CN" sz="2400" b="1" i="1" dirty="0">
                <a:latin typeface="Trebuchet MS" panose="020B0603020202020204" pitchFamily="34" charset="0"/>
              </a:rPr>
              <a:t>   M</a:t>
            </a:r>
            <a:r>
              <a:rPr lang="en-US" altLang="zh-CN" sz="2400" b="1" i="1" baseline="-25000" dirty="0">
                <a:latin typeface="Trebuchet MS" panose="020B0603020202020204" pitchFamily="34" charset="0"/>
              </a:rPr>
              <a:t>k</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i,j</a:t>
            </a:r>
            <a:r>
              <a:rPr lang="en-US" altLang="zh-CN" sz="2400" b="1"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There</a:t>
            </a:r>
            <a:r>
              <a:rPr lang="zh-CN" altLang="en-US" sz="2400" b="1" dirty="0">
                <a:latin typeface="Trebuchet MS" panose="020B0603020202020204" pitchFamily="34" charset="0"/>
              </a:rPr>
              <a:t> </a:t>
            </a:r>
            <a:r>
              <a:rPr lang="en-US" altLang="zh-CN" sz="2400" b="1" dirty="0">
                <a:latin typeface="Trebuchet MS" panose="020B0603020202020204" pitchFamily="34" charset="0"/>
              </a:rPr>
              <a:t>exists</a:t>
            </a:r>
            <a:r>
              <a:rPr lang="zh-CN" altLang="en-US" sz="2400" b="1" dirty="0">
                <a:latin typeface="Trebuchet MS" panose="020B0603020202020204" pitchFamily="34" charset="0"/>
              </a:rPr>
              <a:t> </a:t>
            </a:r>
            <a:r>
              <a:rPr lang="en-US" altLang="zh-CN" sz="2400" b="1" dirty="0">
                <a:latin typeface="Trebuchet MS" panose="020B0603020202020204" pitchFamily="34" charset="0"/>
              </a:rPr>
              <a:t>a</a:t>
            </a:r>
            <a:r>
              <a:rPr lang="zh-CN" altLang="en-US" sz="2400" b="1" dirty="0">
                <a:latin typeface="Trebuchet MS" panose="020B0603020202020204" pitchFamily="34" charset="0"/>
              </a:rPr>
              <a:t> </a:t>
            </a:r>
            <a:r>
              <a:rPr lang="en-US" altLang="zh-CN" sz="2400" b="1" dirty="0">
                <a:latin typeface="Trebuchet MS" panose="020B0603020202020204" pitchFamily="34" charset="0"/>
              </a:rPr>
              <a:t>path </a:t>
            </a:r>
            <a:r>
              <a:rPr lang="en-US" altLang="zh-CN" sz="2400" b="1" i="1" dirty="0" err="1">
                <a:latin typeface="Trebuchet MS" panose="020B0603020202020204" pitchFamily="34" charset="0"/>
              </a:rPr>
              <a:t>i</a:t>
            </a:r>
            <a:r>
              <a:rPr lang="en-US" altLang="zh-CN" sz="2400" b="1" i="1" dirty="0">
                <a:latin typeface="Trebuchet MS" panose="020B0603020202020204" pitchFamily="34" charset="0"/>
              </a:rPr>
              <a:t> to</a:t>
            </a:r>
            <a:r>
              <a:rPr lang="zh-CN" altLang="en-US" sz="2400" b="1" dirty="0">
                <a:latin typeface="Trebuchet MS" panose="020B0603020202020204" pitchFamily="34" charset="0"/>
              </a:rPr>
              <a:t> </a:t>
            </a:r>
            <a:r>
              <a:rPr lang="en-US" altLang="zh-CN" sz="2400" b="1" i="1" dirty="0">
                <a:latin typeface="Trebuchet MS" panose="020B0603020202020204" pitchFamily="34" charset="0"/>
              </a:rPr>
              <a:t>j .</a:t>
            </a:r>
          </a:p>
          <a:p>
            <a:pPr eaLnBrk="1" hangingPunct="1">
              <a:lnSpc>
                <a:spcPct val="120000"/>
              </a:lnSpc>
              <a:spcBef>
                <a:spcPts val="300"/>
              </a:spcBef>
              <a:buFontTx/>
              <a:buNone/>
            </a:pPr>
            <a:r>
              <a:rPr lang="en-US" altLang="zh-CN" sz="2400" b="1" i="1" dirty="0">
                <a:latin typeface="Trebuchet MS" panose="020B0603020202020204" pitchFamily="34" charset="0"/>
              </a:rPr>
              <a:t>  </a:t>
            </a:r>
            <a:r>
              <a:rPr lang="zh-CN" altLang="en-US" sz="2400" b="1" i="1" dirty="0">
                <a:latin typeface="Trebuchet MS" panose="020B0603020202020204" pitchFamily="34" charset="0"/>
              </a:rPr>
              <a:t> </a:t>
            </a:r>
            <a:r>
              <a:rPr lang="en-US" altLang="zh-CN" sz="2400" dirty="0">
                <a:latin typeface="Trebuchet MS" panose="020B0603020202020204" pitchFamily="34" charset="0"/>
              </a:rPr>
              <a:t>that only passes through the points in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k</a:t>
            </a:r>
            <a:r>
              <a:rPr lang="en-US" altLang="zh-CN" sz="2400" b="1" dirty="0">
                <a:latin typeface="Trebuchet MS" panose="020B0603020202020204" pitchFamily="34" charset="0"/>
                <a:sym typeface="Symbol" panose="05050102010706020507" pitchFamily="18" charset="2"/>
              </a:rPr>
              <a:t>+1}.</a:t>
            </a:r>
            <a:endParaRPr lang="zh-CN" altLang="en-US" sz="2400" b="1" dirty="0">
              <a:latin typeface="Trebuchet MS" panose="020B0603020202020204" pitchFamily="34" charset="0"/>
            </a:endParaRPr>
          </a:p>
          <a:p>
            <a:pPr eaLnBrk="1" hangingPunct="1">
              <a:lnSpc>
                <a:spcPct val="120000"/>
              </a:lnSpc>
              <a:spcBef>
                <a:spcPts val="600"/>
              </a:spcBef>
              <a:buClr>
                <a:srgbClr val="0B5BFF"/>
              </a:buClr>
              <a:buSzPct val="80000"/>
              <a:buFont typeface="Wingdings" panose="05000000000000000000" pitchFamily="2" charset="2"/>
              <a:buChar char="n"/>
            </a:pPr>
            <a:endParaRPr lang="en-US" sz="2400" dirty="0">
              <a:latin typeface="Trebuchet MS" panose="020B0603020202020204" pitchFamily="34" charset="0"/>
            </a:endParaRPr>
          </a:p>
          <a:p>
            <a:pPr marL="0" indent="358775" eaLnBrk="1" hangingPunct="1">
              <a:lnSpc>
                <a:spcPct val="120000"/>
              </a:lnSpc>
              <a:spcBef>
                <a:spcPts val="600"/>
              </a:spcBef>
              <a:buFontTx/>
              <a:buNone/>
            </a:pPr>
            <a:r>
              <a:rPr kumimoji="0"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42097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1000"/>
                                        <p:tgtEl>
                                          <p:spTgt spid="9">
                                            <p:txEl>
                                              <p:pRg st="3" end="3"/>
                                            </p:txEl>
                                          </p:spTgt>
                                        </p:tgtEl>
                                      </p:cBhvr>
                                    </p:animEffect>
                                    <p:anim calcmode="lin" valueType="num">
                                      <p:cBhvr>
                                        <p:cTn id="22"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fade">
                                      <p:cBhvr>
                                        <p:cTn id="26" dur="1000"/>
                                        <p:tgtEl>
                                          <p:spTgt spid="9">
                                            <p:txEl>
                                              <p:pRg st="4" end="4"/>
                                            </p:txEl>
                                          </p:spTgt>
                                        </p:tgtEl>
                                      </p:cBhvr>
                                    </p:animEffect>
                                    <p:anim calcmode="lin" valueType="num">
                                      <p:cBhvr>
                                        <p:cTn id="27"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1000"/>
                                        <p:tgtEl>
                                          <p:spTgt spid="9">
                                            <p:txEl>
                                              <p:pRg st="5" end="5"/>
                                            </p:txEl>
                                          </p:spTgt>
                                        </p:tgtEl>
                                      </p:cBhvr>
                                    </p:animEffect>
                                    <p:anim calcmode="lin" valueType="num">
                                      <p:cBhvr>
                                        <p:cTn id="34"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4.3.2 Closure of Relations</a:t>
            </a:r>
            <a:endParaRPr lang="en-US" altLang="zh-CN" sz="2000" dirty="0">
              <a:solidFill>
                <a:schemeClr val="bg1"/>
              </a:solidFill>
              <a:latin typeface="Trebuchet MS" panose="020B0603020202020204" pitchFamily="34" charset="0"/>
            </a:endParaRP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err="1">
                <a:latin typeface="Trebuchet MS" panose="020B0603020202020204" pitchFamily="34" charset="0"/>
              </a:rPr>
              <a:t>Warshall's</a:t>
            </a:r>
            <a:r>
              <a:rPr lang="en-US" altLang="zh-CN" sz="2400" b="1" dirty="0">
                <a:latin typeface="Trebuchet MS" panose="020B0603020202020204" pitchFamily="34" charset="0"/>
              </a:rPr>
              <a:t> Algorithm for Transitive Closure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cont</a:t>
            </a:r>
            <a:r>
              <a:rPr lang="en-US" altLang="zh-CN" sz="2400"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575802" cy="51663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2" y="902335"/>
            <a:ext cx="10267861" cy="50259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These paths are divided into two categories:</a:t>
            </a:r>
          </a:p>
          <a:p>
            <a:pPr indent="34925" eaLnBrk="1" hangingPunct="1">
              <a:lnSpc>
                <a:spcPct val="120000"/>
              </a:lnSpc>
              <a:spcBef>
                <a:spcPts val="300"/>
              </a:spcBef>
              <a:buClr>
                <a:srgbClr val="0B5BFF"/>
              </a:buClr>
              <a:buSzPct val="120000"/>
            </a:pPr>
            <a:r>
              <a:rPr lang="en-US" sz="2400" b="1" dirty="0">
                <a:latin typeface="Trebuchet MS" panose="020B0603020202020204" pitchFamily="34" charset="0"/>
              </a:rPr>
              <a:t>Category 1:</a:t>
            </a:r>
            <a:r>
              <a:rPr lang="en-US" sz="2400" dirty="0">
                <a:latin typeface="Trebuchet MS" panose="020B0603020202020204" pitchFamily="34" charset="0"/>
              </a:rPr>
              <a:t> Paths that only pass through the points in</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1</a:t>
            </a:r>
            <a:r>
              <a:rPr lang="zh-CN" altLang="en-US" sz="2400" b="1" dirty="0">
                <a:latin typeface="Trebuchet MS" panose="020B0603020202020204" pitchFamily="34" charset="0"/>
              </a:rPr>
              <a:t> </a:t>
            </a:r>
          </a:p>
          <a:p>
            <a:pPr indent="34925" eaLnBrk="1" hangingPunct="1">
              <a:lnSpc>
                <a:spcPct val="120000"/>
              </a:lnSpc>
              <a:spcBef>
                <a:spcPts val="300"/>
              </a:spcBef>
              <a:buClr>
                <a:srgbClr val="0B5BFF"/>
              </a:buClr>
              <a:buSzPct val="120000"/>
            </a:pPr>
            <a:r>
              <a:rPr lang="en-US" sz="2400" b="1" dirty="0">
                <a:latin typeface="Trebuchet MS" panose="020B0603020202020204" pitchFamily="34" charset="0"/>
              </a:rPr>
              <a:t>Category 2:</a:t>
            </a:r>
            <a:r>
              <a:rPr lang="zh-CN" altLang="en-US" sz="2400" b="1" dirty="0">
                <a:latin typeface="Trebuchet MS" panose="020B0603020202020204" pitchFamily="34" charset="0"/>
              </a:rPr>
              <a:t> </a:t>
            </a:r>
            <a:r>
              <a:rPr lang="en-US" sz="2400" dirty="0">
                <a:latin typeface="Trebuchet MS" panose="020B0603020202020204" pitchFamily="34" charset="0"/>
              </a:rPr>
              <a:t>Paths that pass through point </a:t>
            </a:r>
            <a:r>
              <a:rPr lang="zh-CN" altLang="en-US" sz="2400" b="1" dirty="0">
                <a:latin typeface="Trebuchet MS" panose="020B0603020202020204" pitchFamily="34" charset="0"/>
              </a:rPr>
              <a:t> </a:t>
            </a:r>
            <a:r>
              <a:rPr lang="en-US" altLang="zh-CN" sz="2400" b="1" i="1" dirty="0">
                <a:latin typeface="Trebuchet MS" panose="020B0603020202020204" pitchFamily="34" charset="0"/>
              </a:rPr>
              <a:t>k</a:t>
            </a:r>
            <a:r>
              <a:rPr lang="en-US" altLang="zh-CN" sz="2400" b="1" dirty="0">
                <a:latin typeface="Trebuchet MS" panose="020B0603020202020204" pitchFamily="34" charset="0"/>
              </a:rPr>
              <a:t>+1</a:t>
            </a:r>
            <a:endParaRPr lang="zh-CN" altLang="en-US" sz="2400" b="1" dirty="0">
              <a:latin typeface="Trebuchet MS" panose="020B0603020202020204" pitchFamily="34" charset="0"/>
            </a:endParaRPr>
          </a:p>
          <a:p>
            <a:pPr indent="217488" eaLnBrk="1" hangingPunct="1">
              <a:lnSpc>
                <a:spcPct val="120000"/>
              </a:lnSpc>
              <a:spcBef>
                <a:spcPts val="300"/>
              </a:spcBef>
              <a:buFontTx/>
              <a:buNone/>
            </a:pPr>
            <a:r>
              <a:rPr lang="en-US" sz="2400" dirty="0">
                <a:latin typeface="Trebuchet MS" panose="020B0603020202020204" pitchFamily="34" charset="0"/>
              </a:rPr>
              <a:t>For </a:t>
            </a:r>
            <a:r>
              <a:rPr lang="en-US" sz="2400" b="1" dirty="0">
                <a:latin typeface="Trebuchet MS" panose="020B0603020202020204" pitchFamily="34" charset="0"/>
              </a:rPr>
              <a:t>Category 1</a:t>
            </a:r>
            <a:r>
              <a:rPr lang="en-US" sz="2400" dirty="0">
                <a:latin typeface="Trebuchet MS" panose="020B0603020202020204" pitchFamily="34" charset="0"/>
              </a:rPr>
              <a:t> paths</a:t>
            </a:r>
            <a:r>
              <a:rPr lang="zh-CN" altLang="en-US"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i,j</a:t>
            </a:r>
            <a:r>
              <a:rPr lang="en-US" altLang="zh-CN" sz="2400" b="1" dirty="0">
                <a:latin typeface="Trebuchet MS" panose="020B0603020202020204" pitchFamily="34" charset="0"/>
              </a:rPr>
              <a:t>]=1</a:t>
            </a:r>
          </a:p>
          <a:p>
            <a:pPr indent="217488" eaLnBrk="1" hangingPunct="1">
              <a:lnSpc>
                <a:spcPct val="120000"/>
              </a:lnSpc>
              <a:spcBef>
                <a:spcPts val="300"/>
              </a:spcBef>
              <a:buFontTx/>
              <a:buNone/>
            </a:pPr>
            <a:r>
              <a:rPr lang="en-US" sz="2400" dirty="0">
                <a:latin typeface="Trebuchet MS" panose="020B0603020202020204" pitchFamily="34" charset="0"/>
              </a:rPr>
              <a:t>For </a:t>
            </a:r>
            <a:r>
              <a:rPr lang="en-US" sz="2400" b="1" dirty="0">
                <a:latin typeface="Trebuchet MS" panose="020B0603020202020204" pitchFamily="34" charset="0"/>
              </a:rPr>
              <a:t>Category 2</a:t>
            </a:r>
            <a:r>
              <a:rPr lang="en-US" sz="2400" dirty="0">
                <a:latin typeface="Trebuchet MS" panose="020B0603020202020204" pitchFamily="34" charset="0"/>
              </a:rPr>
              <a:t> paths:</a:t>
            </a:r>
            <a:endParaRPr lang="zh-CN" altLang="en-US" sz="2400" b="1" dirty="0">
              <a:latin typeface="Trebuchet MS" panose="020B0603020202020204" pitchFamily="34" charset="0"/>
            </a:endParaRPr>
          </a:p>
          <a:p>
            <a:pPr indent="663575" eaLnBrk="1" hangingPunct="1">
              <a:lnSpc>
                <a:spcPct val="120000"/>
              </a:lnSpc>
              <a:spcBef>
                <a:spcPts val="300"/>
              </a:spcBef>
              <a:buFontTx/>
              <a:buNone/>
            </a:pP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k</a:t>
            </a:r>
            <a:r>
              <a:rPr lang="en-US" altLang="zh-CN" sz="2400" b="1" dirty="0">
                <a:latin typeface="Trebuchet MS" panose="020B0603020202020204" pitchFamily="34" charset="0"/>
              </a:rPr>
              <a:t>[</a:t>
            </a:r>
            <a:r>
              <a:rPr lang="en-US" altLang="zh-CN" sz="2400" b="1" i="1" dirty="0">
                <a:latin typeface="Trebuchet MS" panose="020B0603020202020204" pitchFamily="34" charset="0"/>
              </a:rPr>
              <a:t>i,k</a:t>
            </a:r>
            <a:r>
              <a:rPr lang="en-US" altLang="zh-CN" sz="2400" b="1" dirty="0">
                <a:latin typeface="Trebuchet MS" panose="020B0603020202020204" pitchFamily="34" charset="0"/>
              </a:rPr>
              <a:t>+1]=1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M</a:t>
            </a:r>
            <a:r>
              <a:rPr lang="en-US" altLang="zh-CN" sz="2400" b="1" i="1" baseline="-25000" dirty="0">
                <a:latin typeface="Trebuchet MS" panose="020B0603020202020204" pitchFamily="34" charset="0"/>
                <a:sym typeface="Symbol" panose="05050102010706020507" pitchFamily="18" charset="2"/>
              </a:rPr>
              <a:t>k</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k</a:t>
            </a:r>
            <a:r>
              <a:rPr lang="en-US" altLang="zh-CN" sz="2400" b="1" dirty="0">
                <a:latin typeface="Trebuchet MS" panose="020B0603020202020204" pitchFamily="34" charset="0"/>
                <a:sym typeface="Symbol" panose="05050102010706020507" pitchFamily="18" charset="2"/>
              </a:rPr>
              <a:t>+1,</a:t>
            </a:r>
            <a:r>
              <a:rPr lang="en-US" altLang="zh-CN" sz="2400" b="1" i="1" dirty="0">
                <a:latin typeface="Trebuchet MS" panose="020B0603020202020204" pitchFamily="34" charset="0"/>
                <a:sym typeface="Symbol" panose="05050102010706020507" pitchFamily="18" charset="2"/>
              </a:rPr>
              <a:t>j</a:t>
            </a:r>
            <a:r>
              <a:rPr lang="en-US" altLang="zh-CN" sz="2400" b="1" dirty="0">
                <a:latin typeface="Trebuchet MS" panose="020B0603020202020204" pitchFamily="34" charset="0"/>
                <a:sym typeface="Symbol" panose="05050102010706020507" pitchFamily="18" charset="2"/>
              </a:rPr>
              <a:t>]=1</a:t>
            </a:r>
          </a:p>
          <a:p>
            <a:pPr marL="0" indent="358775" eaLnBrk="1" hangingPunct="1">
              <a:lnSpc>
                <a:spcPct val="110000"/>
              </a:lnSpc>
              <a:spcBef>
                <a:spcPts val="300"/>
              </a:spcBef>
              <a:buFontTx/>
              <a:buNone/>
            </a:pPr>
            <a:r>
              <a:rPr kumimoji="0"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p:pic>
        <p:nvPicPr>
          <p:cNvPr id="10" name="Picture 4" descr="4">
            <a:extLst>
              <a:ext uri="{FF2B5EF4-FFF2-40B4-BE49-F238E27FC236}">
                <a16:creationId xmlns:a16="http://schemas.microsoft.com/office/drawing/2014/main" id="{CC250864-0128-47B3-8C20-2F643D360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4857" y="2917370"/>
            <a:ext cx="3816350"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536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1000"/>
                                        <p:tgtEl>
                                          <p:spTgt spid="9">
                                            <p:txEl>
                                              <p:pRg st="4" end="4"/>
                                            </p:txEl>
                                          </p:spTgt>
                                        </p:tgtEl>
                                      </p:cBhvr>
                                    </p:animEffect>
                                    <p:anim calcmode="lin" valueType="num">
                                      <p:cBhvr>
                                        <p:cTn id="2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solidFill>
                  <a:schemeClr val="bg1"/>
                </a:solidFill>
                <a:latin typeface="Trebuchet MS" panose="020B0603020202020204" pitchFamily="34" charset="0"/>
              </a:rPr>
              <a:t>              4.3.2 Closure of Relations</a:t>
            </a:r>
            <a:endParaRPr lang="en-US" altLang="zh-CN" sz="2000" dirty="0">
              <a:solidFill>
                <a:schemeClr val="bg1"/>
              </a:solidFill>
              <a:latin typeface="Trebuchet MS" panose="020B0603020202020204" pitchFamily="34" charset="0"/>
            </a:endParaRP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err="1">
                <a:latin typeface="Trebuchet MS" panose="020B0603020202020204" pitchFamily="34" charset="0"/>
              </a:rPr>
              <a:t>Warshall's</a:t>
            </a:r>
            <a:r>
              <a:rPr lang="en-US" altLang="zh-CN" sz="2400" b="1" dirty="0">
                <a:latin typeface="Trebuchet MS" panose="020B0603020202020204" pitchFamily="34" charset="0"/>
              </a:rPr>
              <a:t> Algorithm for Transitive Closure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cont</a:t>
            </a:r>
            <a:r>
              <a:rPr lang="en-US" altLang="zh-CN" sz="2400"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kern="100" dirty="0">
                <a:effectLst/>
                <a:latin typeface="Trebuchet MS" panose="020B0603020202020204" pitchFamily="34" charset="0"/>
                <a:ea typeface="宋体" panose="02010600030101010101" pitchFamily="2" charset="-122"/>
                <a:cs typeface="Times New Roman" panose="02020603050405020304" pitchFamily="18"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9" name="Rectangle 3">
            <a:extLst>
              <a:ext uri="{FF2B5EF4-FFF2-40B4-BE49-F238E27FC236}">
                <a16:creationId xmlns:a16="http://schemas.microsoft.com/office/drawing/2014/main" id="{C1A65FCB-F0C5-4A1E-B0A7-1B7E52CB2658}"/>
              </a:ext>
            </a:extLst>
          </p:cNvPr>
          <p:cNvSpPr txBox="1">
            <a:spLocks noChangeArrowheads="1"/>
          </p:cNvSpPr>
          <p:nvPr/>
        </p:nvSpPr>
        <p:spPr>
          <a:xfrm>
            <a:off x="1075052" y="845186"/>
            <a:ext cx="10267861" cy="52698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Algorithm </a:t>
            </a:r>
            <a:r>
              <a:rPr lang="en-US" altLang="zh-CN" sz="2400" b="1" dirty="0">
                <a:latin typeface="Trebuchet MS" panose="020B0603020202020204" pitchFamily="34" charset="0"/>
              </a:rPr>
              <a:t>4.1:  </a:t>
            </a:r>
            <a:r>
              <a:rPr lang="en-US" altLang="zh-CN" sz="2400" b="1" dirty="0" err="1">
                <a:latin typeface="Trebuchet MS" panose="020B0603020202020204" pitchFamily="34" charset="0"/>
              </a:rPr>
              <a:t>Warshall</a:t>
            </a:r>
            <a:r>
              <a:rPr lang="en-US" altLang="zh-CN" sz="2400" b="1" dirty="0">
                <a:latin typeface="Trebuchet MS" panose="020B0603020202020204" pitchFamily="34" charset="0"/>
              </a:rPr>
              <a:t> </a:t>
            </a:r>
            <a:r>
              <a:rPr lang="en-US" sz="2400" dirty="0">
                <a:latin typeface="Trebuchet MS" panose="020B0603020202020204" pitchFamily="34" charset="0"/>
              </a:rPr>
              <a:t>Algorithm</a:t>
            </a:r>
            <a:r>
              <a:rPr lang="zh-CN" altLang="en-US" sz="2400" b="1" dirty="0">
                <a:latin typeface="Trebuchet MS" panose="020B0603020202020204" pitchFamily="34" charset="0"/>
              </a:rPr>
              <a:t> </a:t>
            </a:r>
          </a:p>
          <a:p>
            <a:pPr eaLnBrk="1" hangingPunct="1">
              <a:lnSpc>
                <a:spcPct val="120000"/>
              </a:lnSpc>
              <a:spcBef>
                <a:spcPts val="600"/>
              </a:spcBef>
              <a:buFontTx/>
              <a:buNone/>
            </a:pPr>
            <a:r>
              <a:rPr lang="en-US" sz="2400" dirty="0">
                <a:latin typeface="Trebuchet MS" panose="020B0603020202020204" pitchFamily="34" charset="0"/>
              </a:rPr>
              <a:t>Input</a:t>
            </a:r>
            <a:r>
              <a:rPr lang="zh-CN" altLang="en-US"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dirty="0">
                <a:latin typeface="Trebuchet MS" panose="020B0603020202020204" pitchFamily="34" charset="0"/>
              </a:rPr>
              <a:t> </a:t>
            </a:r>
            <a:r>
              <a:rPr lang="zh-CN" altLang="en-US" sz="2400" b="1" dirty="0">
                <a:latin typeface="Trebuchet MS" panose="020B0603020202020204" pitchFamily="34" charset="0"/>
              </a:rPr>
              <a:t>（</a:t>
            </a:r>
            <a:r>
              <a:rPr lang="en-US" sz="2400" dirty="0">
                <a:latin typeface="Trebuchet MS" panose="020B0603020202020204" pitchFamily="34" charset="0"/>
              </a:rPr>
              <a:t>relation matrix of </a:t>
            </a:r>
            <a:r>
              <a:rPr lang="en-US" altLang="zh-CN" sz="2400" b="1" i="1" dirty="0">
                <a:latin typeface="Trebuchet MS" panose="020B0603020202020204" pitchFamily="34" charset="0"/>
              </a:rPr>
              <a:t>R </a:t>
            </a:r>
            <a:r>
              <a:rPr lang="zh-CN" altLang="en-US" sz="2400" b="1" dirty="0">
                <a:latin typeface="Trebuchet MS" panose="020B0603020202020204" pitchFamily="34" charset="0"/>
              </a:rPr>
              <a:t>）</a:t>
            </a:r>
          </a:p>
          <a:p>
            <a:pPr eaLnBrk="1" hangingPunct="1">
              <a:lnSpc>
                <a:spcPct val="120000"/>
              </a:lnSpc>
              <a:spcBef>
                <a:spcPts val="600"/>
              </a:spcBef>
              <a:buFontTx/>
              <a:buNone/>
            </a:pPr>
            <a:r>
              <a:rPr lang="en-US" sz="2400" dirty="0">
                <a:latin typeface="Trebuchet MS" panose="020B0603020202020204" pitchFamily="34" charset="0"/>
              </a:rPr>
              <a:t>Output</a:t>
            </a:r>
            <a:r>
              <a:rPr lang="zh-CN" altLang="en-US"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t</a:t>
            </a:r>
            <a:r>
              <a:rPr lang="en-US" altLang="zh-CN" sz="2400" b="1" baseline="-25000" dirty="0">
                <a:latin typeface="Trebuchet MS" panose="020B0603020202020204" pitchFamily="34" charset="0"/>
              </a:rPr>
              <a:t> </a:t>
            </a:r>
            <a:r>
              <a:rPr lang="zh-CN" altLang="en-US" sz="2400" b="1" dirty="0">
                <a:latin typeface="Trebuchet MS" panose="020B0603020202020204" pitchFamily="34" charset="0"/>
              </a:rPr>
              <a:t>（</a:t>
            </a:r>
            <a:r>
              <a:rPr lang="en-US" sz="2400" dirty="0">
                <a:latin typeface="Trebuchet MS" panose="020B0603020202020204" pitchFamily="34" charset="0"/>
              </a:rPr>
              <a:t>relation matrix of </a:t>
            </a:r>
            <a:r>
              <a:rPr lang="en-US" altLang="zh-CN" sz="2400" b="1" i="1"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p>
          <a:p>
            <a:pPr eaLnBrk="1" hangingPunct="1">
              <a:lnSpc>
                <a:spcPct val="120000"/>
              </a:lnSpc>
              <a:spcBef>
                <a:spcPts val="600"/>
              </a:spcBef>
              <a:buFontTx/>
              <a:buNone/>
            </a:pPr>
            <a:r>
              <a:rPr lang="en-US" altLang="zh-CN" sz="2400" b="1" dirty="0">
                <a:latin typeface="Trebuchet MS" panose="020B0603020202020204" pitchFamily="34" charset="0"/>
              </a:rPr>
              <a:t>1.  </a:t>
            </a:r>
            <a:r>
              <a:rPr lang="en-US" altLang="zh-CN" sz="2400" b="1" i="1" dirty="0" err="1">
                <a:latin typeface="Trebuchet MS" panose="020B0603020202020204" pitchFamily="34" charset="0"/>
              </a:rPr>
              <a:t>M</a:t>
            </a:r>
            <a:r>
              <a:rPr lang="en-US" altLang="zh-CN" sz="2400" b="1" i="1" baseline="-25000" dirty="0" err="1">
                <a:latin typeface="Trebuchet MS" panose="020B0603020202020204" pitchFamily="34" charset="0"/>
              </a:rPr>
              <a:t>t</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M</a:t>
            </a:r>
            <a:endParaRPr lang="en-US" altLang="zh-CN" sz="2400" b="1" dirty="0">
              <a:latin typeface="Trebuchet MS" panose="020B0603020202020204" pitchFamily="34" charset="0"/>
            </a:endParaRPr>
          </a:p>
          <a:p>
            <a:pPr eaLnBrk="1" hangingPunct="1">
              <a:lnSpc>
                <a:spcPct val="120000"/>
              </a:lnSpc>
              <a:spcBef>
                <a:spcPts val="600"/>
              </a:spcBef>
              <a:buFontTx/>
              <a:buNone/>
            </a:pPr>
            <a:r>
              <a:rPr lang="en-US" altLang="zh-CN" sz="2400" b="1" dirty="0">
                <a:latin typeface="Trebuchet MS" panose="020B0603020202020204" pitchFamily="34" charset="0"/>
              </a:rPr>
              <a:t>2.  for </a:t>
            </a:r>
            <a:r>
              <a:rPr lang="en-US" altLang="zh-CN" sz="2400" b="1" i="1" dirty="0">
                <a:latin typeface="Trebuchet MS" panose="020B0603020202020204" pitchFamily="34" charset="0"/>
              </a:rPr>
              <a:t>k</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to </a:t>
            </a:r>
            <a:r>
              <a:rPr lang="en-US" altLang="zh-CN" sz="2400" b="1" i="1" dirty="0">
                <a:latin typeface="Trebuchet MS" panose="020B0603020202020204" pitchFamily="34" charset="0"/>
              </a:rPr>
              <a:t>n</a:t>
            </a:r>
            <a:r>
              <a:rPr lang="en-US" altLang="zh-CN" sz="2400" b="1" dirty="0">
                <a:latin typeface="Trebuchet MS" panose="020B0603020202020204" pitchFamily="34" charset="0"/>
              </a:rPr>
              <a:t> do</a:t>
            </a:r>
          </a:p>
          <a:p>
            <a:pPr eaLnBrk="1" hangingPunct="1">
              <a:lnSpc>
                <a:spcPct val="120000"/>
              </a:lnSpc>
              <a:spcBef>
                <a:spcPts val="600"/>
              </a:spcBef>
              <a:buFontTx/>
              <a:buNone/>
            </a:pPr>
            <a:r>
              <a:rPr lang="en-US" altLang="zh-CN" sz="2400" b="1" dirty="0">
                <a:latin typeface="Trebuchet MS" panose="020B0603020202020204" pitchFamily="34" charset="0"/>
              </a:rPr>
              <a:t>3.     for </a:t>
            </a:r>
            <a:r>
              <a:rPr lang="en-US" altLang="zh-CN" sz="2400" b="1" i="1"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to </a:t>
            </a:r>
            <a:r>
              <a:rPr lang="en-US" altLang="zh-CN" sz="2400" b="1" i="1" dirty="0">
                <a:latin typeface="Trebuchet MS" panose="020B0603020202020204" pitchFamily="34" charset="0"/>
              </a:rPr>
              <a:t>n</a:t>
            </a:r>
            <a:r>
              <a:rPr lang="en-US" altLang="zh-CN" sz="2400" b="1" dirty="0">
                <a:latin typeface="Trebuchet MS" panose="020B0603020202020204" pitchFamily="34" charset="0"/>
              </a:rPr>
              <a:t> do</a:t>
            </a:r>
          </a:p>
          <a:p>
            <a:pPr eaLnBrk="1" hangingPunct="1">
              <a:lnSpc>
                <a:spcPct val="120000"/>
              </a:lnSpc>
              <a:spcBef>
                <a:spcPts val="600"/>
              </a:spcBef>
              <a:buFontTx/>
              <a:buNone/>
            </a:pPr>
            <a:r>
              <a:rPr lang="en-US" altLang="zh-CN" sz="2400" b="1" dirty="0">
                <a:latin typeface="Trebuchet MS" panose="020B0603020202020204" pitchFamily="34" charset="0"/>
              </a:rPr>
              <a:t>4.</a:t>
            </a:r>
            <a:r>
              <a:rPr lang="zh-CN" altLang="en-US" sz="2400" b="1" dirty="0">
                <a:latin typeface="Trebuchet MS" panose="020B0603020202020204" pitchFamily="34" charset="0"/>
              </a:rPr>
              <a:t>         </a:t>
            </a:r>
            <a:r>
              <a:rPr lang="en-US" altLang="zh-CN" sz="2400" b="1" dirty="0">
                <a:latin typeface="Trebuchet MS" panose="020B0603020202020204" pitchFamily="34" charset="0"/>
              </a:rPr>
              <a:t>for </a:t>
            </a:r>
            <a:r>
              <a:rPr lang="en-US" altLang="zh-CN" sz="2400" b="1" i="1" dirty="0">
                <a:latin typeface="Trebuchet MS" panose="020B0603020202020204" pitchFamily="34" charset="0"/>
              </a:rPr>
              <a:t>j</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to </a:t>
            </a:r>
            <a:r>
              <a:rPr lang="en-US" altLang="zh-CN" sz="2400" b="1" i="1" dirty="0">
                <a:latin typeface="Trebuchet MS" panose="020B0603020202020204" pitchFamily="34" charset="0"/>
              </a:rPr>
              <a:t>n</a:t>
            </a:r>
            <a:r>
              <a:rPr lang="en-US" altLang="zh-CN" sz="2400" b="1" dirty="0">
                <a:latin typeface="Trebuchet MS" panose="020B0603020202020204" pitchFamily="34" charset="0"/>
              </a:rPr>
              <a:t> do</a:t>
            </a:r>
          </a:p>
          <a:p>
            <a:pPr marL="514350" indent="-514350" eaLnBrk="1" hangingPunct="1">
              <a:lnSpc>
                <a:spcPct val="120000"/>
              </a:lnSpc>
              <a:spcBef>
                <a:spcPts val="600"/>
              </a:spcBef>
              <a:buFontTx/>
              <a:buAutoNum type="arabicPeriod" startAt="5"/>
            </a:pP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a:latin typeface="Trebuchet MS" panose="020B0603020202020204" pitchFamily="34" charset="0"/>
              </a:rPr>
              <a:t>, </a:t>
            </a:r>
            <a:r>
              <a:rPr lang="en-US" altLang="zh-CN" sz="2400" b="1" i="1" dirty="0">
                <a:latin typeface="Trebuchet MS" panose="020B0603020202020204" pitchFamily="34" charset="0"/>
              </a:rPr>
              <a:t>j</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a:latin typeface="Trebuchet MS" panose="020B0603020202020204" pitchFamily="34" charset="0"/>
              </a:rPr>
              <a:t>, </a:t>
            </a:r>
            <a:r>
              <a:rPr lang="en-US" altLang="zh-CN" sz="2400" b="1" i="1">
                <a:latin typeface="Trebuchet MS" panose="020B0603020202020204" pitchFamily="34" charset="0"/>
              </a:rPr>
              <a:t>j</a:t>
            </a:r>
            <a:r>
              <a:rPr lang="en-US" altLang="zh-CN" sz="2400" b="1">
                <a:latin typeface="Trebuchet MS" panose="020B0603020202020204" pitchFamily="34" charset="0"/>
              </a:rPr>
              <a:t>] or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i</a:t>
            </a:r>
            <a:r>
              <a:rPr lang="en-US" altLang="zh-CN" sz="2400" b="1" dirty="0">
                <a:latin typeface="Trebuchet MS" panose="020B0603020202020204" pitchFamily="34" charset="0"/>
              </a:rPr>
              <a:t>, </a:t>
            </a:r>
            <a:r>
              <a:rPr lang="en-US" altLang="zh-CN" sz="2400" b="1" i="1" dirty="0">
                <a:latin typeface="Trebuchet MS" panose="020B0603020202020204" pitchFamily="34" charset="0"/>
              </a:rPr>
              <a:t>k</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t</a:t>
            </a:r>
            <a:r>
              <a:rPr lang="en-US" altLang="zh-CN" sz="2400" b="1" dirty="0">
                <a:latin typeface="Trebuchet MS" panose="020B0603020202020204" pitchFamily="34" charset="0"/>
              </a:rPr>
              <a:t>[</a:t>
            </a:r>
            <a:r>
              <a:rPr lang="en-US" altLang="zh-CN" sz="2400" b="1" i="1" dirty="0">
                <a:latin typeface="Trebuchet MS" panose="020B0603020202020204" pitchFamily="34" charset="0"/>
              </a:rPr>
              <a:t>k</a:t>
            </a:r>
            <a:r>
              <a:rPr lang="en-US" altLang="zh-CN" sz="2400" b="1" dirty="0">
                <a:latin typeface="Trebuchet MS" panose="020B0603020202020204" pitchFamily="34" charset="0"/>
              </a:rPr>
              <a:t>, </a:t>
            </a:r>
            <a:r>
              <a:rPr lang="en-US" altLang="zh-CN" sz="2400" b="1" i="1" dirty="0">
                <a:latin typeface="Trebuchet MS" panose="020B0603020202020204" pitchFamily="34" charset="0"/>
              </a:rPr>
              <a:t>j</a:t>
            </a:r>
            <a:r>
              <a:rPr lang="en-US" altLang="zh-CN" sz="2400" b="1" dirty="0">
                <a:latin typeface="Trebuchet MS" panose="020B0603020202020204" pitchFamily="34" charset="0"/>
              </a:rPr>
              <a:t>]</a:t>
            </a:r>
          </a:p>
          <a:p>
            <a:pPr marL="0" indent="0" eaLnBrk="1" hangingPunct="1">
              <a:lnSpc>
                <a:spcPct val="120000"/>
              </a:lnSpc>
              <a:spcBef>
                <a:spcPts val="600"/>
              </a:spcBef>
              <a:buNone/>
            </a:pPr>
            <a:endParaRPr lang="en-US" altLang="zh-CN" sz="2400" b="1" dirty="0">
              <a:latin typeface="Trebuchet MS" panose="020B0603020202020204" pitchFamily="34" charset="0"/>
            </a:endParaRPr>
          </a:p>
          <a:p>
            <a:pPr marL="0" indent="0">
              <a:lnSpc>
                <a:spcPct val="120000"/>
              </a:lnSpc>
              <a:spcBef>
                <a:spcPts val="600"/>
              </a:spcBef>
              <a:buNone/>
            </a:pPr>
            <a:r>
              <a:rPr lang="pt-BR" sz="2400" b="1" dirty="0">
                <a:latin typeface="Trebuchet MS" panose="020B0603020202020204" pitchFamily="34" charset="0"/>
              </a:rPr>
              <a:t>Time Complexity:</a:t>
            </a:r>
            <a:r>
              <a:rPr lang="pt-BR" sz="2400" dirty="0">
                <a:latin typeface="Trebuchet MS" panose="020B0603020202020204" pitchFamily="34" charset="0"/>
              </a:rPr>
              <a:t> T</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ea typeface="华文行楷" panose="02010800040101010101" pitchFamily="2" charset="-122"/>
              </a:rPr>
              <a:t>n</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ea typeface="华文行楷" panose="02010800040101010101" pitchFamily="2" charset="-122"/>
              </a:rPr>
              <a:t>=O</a:t>
            </a:r>
            <a:r>
              <a:rPr kumimoji="0" lang="en-US" altLang="zh-CN" sz="2400" b="1" dirty="0">
                <a:latin typeface="Trebuchet MS" panose="020B0603020202020204" pitchFamily="34" charset="0"/>
                <a:ea typeface="华文行楷" panose="02010800040101010101" pitchFamily="2" charset="-122"/>
              </a:rPr>
              <a:t>(</a:t>
            </a:r>
            <a:r>
              <a:rPr kumimoji="0" lang="en-US" altLang="zh-CN" sz="2400" b="1" i="1" dirty="0">
                <a:latin typeface="Trebuchet MS" panose="020B0603020202020204" pitchFamily="34" charset="0"/>
                <a:ea typeface="华文行楷" panose="02010800040101010101" pitchFamily="2" charset="-122"/>
              </a:rPr>
              <a:t>n</a:t>
            </a:r>
            <a:r>
              <a:rPr kumimoji="0" lang="en-US" altLang="zh-CN" sz="2400" b="1" baseline="30000" dirty="0">
                <a:latin typeface="Trebuchet MS" panose="020B0603020202020204" pitchFamily="34" charset="0"/>
                <a:ea typeface="华文行楷" panose="02010800040101010101" pitchFamily="2" charset="-122"/>
              </a:rPr>
              <a:t>3</a:t>
            </a:r>
            <a:r>
              <a:rPr kumimoji="0" lang="en-US" altLang="zh-CN" sz="2400" b="1" dirty="0">
                <a:latin typeface="Trebuchet MS" panose="020B0603020202020204" pitchFamily="34" charset="0"/>
                <a:ea typeface="华文行楷" panose="02010800040101010101" pitchFamily="2" charset="-122"/>
              </a:rPr>
              <a:t>)</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188443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1000"/>
                                        <p:tgtEl>
                                          <p:spTgt spid="9">
                                            <p:txEl>
                                              <p:pRg st="4" end="4"/>
                                            </p:txEl>
                                          </p:spTgt>
                                        </p:tgtEl>
                                      </p:cBhvr>
                                    </p:animEffect>
                                    <p:anim calcmode="lin" valueType="num">
                                      <p:cBhvr>
                                        <p:cTn id="1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animEffect transition="in" filter="fade">
                                      <p:cBhvr>
                                        <p:cTn id="17" dur="1000"/>
                                        <p:tgtEl>
                                          <p:spTgt spid="9">
                                            <p:txEl>
                                              <p:pRg st="5" end="5"/>
                                            </p:txEl>
                                          </p:spTgt>
                                        </p:tgtEl>
                                      </p:cBhvr>
                                    </p:animEffect>
                                    <p:anim calcmode="lin" valueType="num">
                                      <p:cBhvr>
                                        <p:cTn id="1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1000"/>
                                        <p:tgtEl>
                                          <p:spTgt spid="9">
                                            <p:txEl>
                                              <p:pRg st="6" end="6"/>
                                            </p:txEl>
                                          </p:spTgt>
                                        </p:tgtEl>
                                      </p:cBhvr>
                                    </p:animEffect>
                                    <p:anim calcmode="lin" valueType="num">
                                      <p:cBhvr>
                                        <p:cTn id="2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1000"/>
                                        <p:tgtEl>
                                          <p:spTgt spid="9">
                                            <p:txEl>
                                              <p:pRg st="7" end="7"/>
                                            </p:txEl>
                                          </p:spTgt>
                                        </p:tgtEl>
                                      </p:cBhvr>
                                    </p:animEffect>
                                    <p:anim calcmode="lin" valueType="num">
                                      <p:cBhvr>
                                        <p:cTn id="28"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9">
                                            <p:txEl>
                                              <p:pRg st="9" end="9"/>
                                            </p:txEl>
                                          </p:spTgt>
                                        </p:tgtEl>
                                        <p:attrNameLst>
                                          <p:attrName>style.visibility</p:attrName>
                                        </p:attrNameLst>
                                      </p:cBhvr>
                                      <p:to>
                                        <p:strVal val="visible"/>
                                      </p:to>
                                    </p:set>
                                    <p:animEffect transition="in" filter="fade">
                                      <p:cBhvr>
                                        <p:cTn id="34" dur="1000"/>
                                        <p:tgtEl>
                                          <p:spTgt spid="9">
                                            <p:txEl>
                                              <p:pRg st="9" end="9"/>
                                            </p:txEl>
                                          </p:spTgt>
                                        </p:tgtEl>
                                      </p:cBhvr>
                                    </p:animEffect>
                                    <p:anim calcmode="lin" valueType="num">
                                      <p:cBhvr>
                                        <p:cTn id="35"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4.3 Properties of Relations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955039"/>
            <a:ext cx="8583131" cy="4919981"/>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latin typeface="Trebuchet MS" panose="020B0603020202020204" pitchFamily="34" charset="0"/>
              </a:rPr>
              <a:t>Objective :</a:t>
            </a: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None/>
            </a:pPr>
            <a:r>
              <a:rPr lang="en-US" altLang="zh-CN" sz="2400" b="1" dirty="0">
                <a:latin typeface="Trebuchet MS" panose="020B0603020202020204" pitchFamily="34" charset="0"/>
              </a:rPr>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350311105"/>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824554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Chapter 4</a:t>
            </a:r>
            <a:r>
              <a:rPr lang="zh-CN" altLang="en-US" sz="2400" b="1" dirty="0">
                <a:latin typeface="Trebuchet MS" panose="020B0603020202020204" pitchFamily="34" charset="0"/>
              </a:rPr>
              <a:t>：</a:t>
            </a:r>
            <a:r>
              <a:rPr lang="en-US" altLang="zh-CN" sz="2400" b="1" i="0" dirty="0">
                <a:solidFill>
                  <a:schemeClr val="bg1"/>
                </a:solidFill>
                <a:effectLst/>
                <a:latin typeface="Trebuchet MS" panose="020B0603020202020204" pitchFamily="34" charset="0"/>
              </a:rPr>
              <a:t>Relations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213302" y="876351"/>
            <a:ext cx="8467196" cy="35553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4.1 Definition and Representation of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4.2 Operations on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4.3 Properties of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 Equivalence Relations and Partial Order Relations</a:t>
            </a:r>
            <a:endParaRPr lang="zh-CN" altLang="en-US" sz="2400" b="1" dirty="0">
              <a:latin typeface="Trebuchet MS" panose="020B0603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4.4 Equivalence Relations and Partial Order Relations</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899918" y="864871"/>
            <a:ext cx="8798289" cy="3981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endParaRPr lang="en-US" altLang="zh-CN" sz="2400" b="1" dirty="0">
              <a:latin typeface="Trebuchet MS" panose="020B0603020202020204" pitchFamily="34" charset="0"/>
            </a:endParaRP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4.4.1 Equivalence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4.4.2 Equivalence Classes and Quotient Sets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4.4.3 Partition of a Set</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4.4.4 Partial Order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4.4.5 Partially Ordered Sets and </a:t>
            </a:r>
            <a:r>
              <a:rPr lang="en-US" sz="2400" b="1" dirty="0" err="1">
                <a:latin typeface="Trebuchet MS" panose="020B0603020202020204" pitchFamily="34" charset="0"/>
              </a:rPr>
              <a:t>Hasse</a:t>
            </a:r>
            <a:r>
              <a:rPr lang="en-US" sz="2400" b="1" dirty="0">
                <a:latin typeface="Trebuchet MS" panose="020B0603020202020204" pitchFamily="34" charset="0"/>
              </a:rPr>
              <a:t> Diagrams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073775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20000"/>
              </a:lnSpc>
              <a:spcBef>
                <a:spcPts val="600"/>
              </a:spcBef>
              <a:buClr>
                <a:srgbClr val="0B5BFF"/>
              </a:buClr>
              <a:buSzPct val="80000"/>
            </a:pPr>
            <a:r>
              <a:rPr lang="en-US" altLang="zh-CN" sz="2000" b="1" dirty="0">
                <a:solidFill>
                  <a:schemeClr val="bg1"/>
                </a:solidFill>
                <a:latin typeface="Trebuchet MS" panose="020B0603020202020204" pitchFamily="34" charset="0"/>
              </a:rPr>
              <a:t>             4.4.1 Equivalence Relations</a:t>
            </a:r>
          </a:p>
          <a:p>
            <a:pPr eaLnBrk="1" hangingPunct="1">
              <a:lnSpc>
                <a:spcPct val="120000"/>
              </a:lnSpc>
              <a:spcBef>
                <a:spcPts val="600"/>
              </a:spcBef>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Equivalence relation </a:t>
            </a:r>
            <a:r>
              <a:rPr lang="zh-CN" altLang="en-US" sz="2400" b="1" dirty="0">
                <a:solidFill>
                  <a:schemeClr val="bg1"/>
                </a:solidFill>
                <a:latin typeface="Trebuchet MS" panose="020B0603020202020204" pitchFamily="34" charset="0"/>
              </a:rPr>
              <a:t>～</a:t>
            </a:r>
            <a:endParaRPr lang="en-US" altLang="zh-CN"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744206" y="1133881"/>
            <a:ext cx="10181681" cy="5337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4.18: let</a:t>
            </a:r>
            <a:r>
              <a:rPr lang="zh-CN" altLang="en-US" sz="2400" b="1" dirty="0">
                <a:latin typeface="Trebuchet MS" panose="020B0603020202020204" pitchFamily="34" charset="0"/>
              </a:rPr>
              <a:t> </a:t>
            </a:r>
            <a:r>
              <a:rPr lang="en-US" altLang="zh-CN" sz="2400" b="1" i="1" dirty="0">
                <a:solidFill>
                  <a:schemeClr val="tx1"/>
                </a:solidFill>
                <a:latin typeface="Trebuchet MS" panose="020B0603020202020204" pitchFamily="34" charset="0"/>
              </a:rPr>
              <a:t>R</a:t>
            </a:r>
            <a:r>
              <a:rPr lang="zh-CN" altLang="en-US" sz="2400" b="1" i="1" dirty="0">
                <a:latin typeface="Trebuchet MS" panose="020B0603020202020204" pitchFamily="34" charset="0"/>
              </a:rPr>
              <a:t> </a:t>
            </a:r>
            <a:r>
              <a:rPr lang="en-US" sz="2400" dirty="0">
                <a:latin typeface="Trebuchet MS" panose="020B0603020202020204" pitchFamily="34" charset="0"/>
              </a:rPr>
              <a:t>be a relation on a non-empty set.</a:t>
            </a:r>
            <a:r>
              <a:rPr lang="zh-CN" altLang="en-US" sz="2400" b="1" dirty="0">
                <a:latin typeface="Trebuchet MS" panose="020B0603020202020204" pitchFamily="34" charset="0"/>
              </a:rPr>
              <a:t>  </a:t>
            </a:r>
            <a:r>
              <a:rPr lang="en-US" altLang="zh-CN" sz="2400" b="1" dirty="0">
                <a:latin typeface="Trebuchet MS" panose="020B0603020202020204" pitchFamily="34" charset="0"/>
              </a:rPr>
              <a:t>If</a:t>
            </a:r>
            <a:r>
              <a:rPr lang="zh-CN" altLang="en-US" sz="2400" b="1" dirty="0">
                <a:latin typeface="Trebuchet MS" panose="020B0603020202020204" pitchFamily="34" charset="0"/>
              </a:rPr>
              <a:t> </a:t>
            </a:r>
            <a:r>
              <a:rPr lang="en-US" altLang="zh-CN" sz="2400" b="1" i="1" dirty="0">
                <a:solidFill>
                  <a:schemeClr val="tx1"/>
                </a:solidFill>
                <a:latin typeface="Trebuchet MS" panose="020B0603020202020204" pitchFamily="34" charset="0"/>
              </a:rPr>
              <a:t>R </a:t>
            </a:r>
            <a:r>
              <a:rPr lang="en-US" sz="2400" dirty="0">
                <a:latin typeface="Trebuchet MS" panose="020B0603020202020204" pitchFamily="34" charset="0"/>
              </a:rPr>
              <a:t>is reflexive, symmetric, and transitive, then </a:t>
            </a:r>
            <a:r>
              <a:rPr lang="en-US" altLang="zh-CN" sz="2400" b="1" i="1" dirty="0">
                <a:solidFill>
                  <a:schemeClr val="tx1"/>
                </a:solidFill>
                <a:latin typeface="Trebuchet MS" panose="020B0603020202020204" pitchFamily="34" charset="0"/>
              </a:rPr>
              <a:t>R</a:t>
            </a:r>
            <a:r>
              <a:rPr lang="zh-CN" altLang="en-US" sz="2400" b="1" i="1" dirty="0">
                <a:latin typeface="Trebuchet MS" panose="020B0603020202020204" pitchFamily="34" charset="0"/>
              </a:rPr>
              <a:t> </a:t>
            </a:r>
            <a:r>
              <a:rPr lang="en-US" sz="2400" dirty="0">
                <a:latin typeface="Trebuchet MS" panose="020B0603020202020204" pitchFamily="34" charset="0"/>
              </a:rPr>
              <a:t>is called an </a:t>
            </a:r>
            <a:r>
              <a:rPr lang="en-US" sz="2400" b="1" i="1" dirty="0">
                <a:latin typeface="Trebuchet MS" panose="020B0603020202020204" pitchFamily="34" charset="0"/>
              </a:rPr>
              <a:t>equivalence relation </a:t>
            </a:r>
            <a:r>
              <a:rPr lang="en-US" sz="2400" dirty="0">
                <a:latin typeface="Trebuchet MS" panose="020B0603020202020204" pitchFamily="34" charset="0"/>
              </a:rPr>
              <a:t>on</a:t>
            </a:r>
            <a:r>
              <a:rPr lang="zh-CN" altLang="en-US" sz="2400" b="1" dirty="0">
                <a:latin typeface="Trebuchet MS" panose="020B0603020202020204" pitchFamily="34" charset="0"/>
              </a:rPr>
              <a:t>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If </a:t>
            </a:r>
            <a:r>
              <a:rPr lang="en-US" altLang="zh-CN" sz="2400" b="1" i="1" dirty="0">
                <a:solidFill>
                  <a:schemeClr val="tx1"/>
                </a:solidFill>
                <a:latin typeface="Trebuchet MS" panose="020B0603020202020204" pitchFamily="34" charset="0"/>
              </a:rPr>
              <a:t>R</a:t>
            </a:r>
            <a:r>
              <a:rPr lang="en-US" sz="2400" dirty="0">
                <a:latin typeface="Trebuchet MS" panose="020B0603020202020204" pitchFamily="34" charset="0"/>
              </a:rPr>
              <a:t> is an equivalence relation and </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&gt;∈</a:t>
            </a: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 </a:t>
            </a:r>
            <a:r>
              <a:rPr lang="zh-CN" altLang="en-US" sz="2400" b="1" dirty="0">
                <a:latin typeface="Trebuchet MS" panose="020B0603020202020204" pitchFamily="34" charset="0"/>
              </a:rPr>
              <a:t> </a:t>
            </a:r>
            <a:r>
              <a:rPr lang="en-US" altLang="zh-CN" sz="2400" b="1" dirty="0">
                <a:latin typeface="Trebuchet MS" panose="020B0603020202020204" pitchFamily="34" charset="0"/>
              </a:rPr>
              <a:t>we</a:t>
            </a:r>
            <a:r>
              <a:rPr lang="zh-CN" altLang="en-US" sz="2400" b="1" dirty="0">
                <a:latin typeface="Trebuchet MS" panose="020B0603020202020204" pitchFamily="34" charset="0"/>
              </a:rPr>
              <a:t> </a:t>
            </a:r>
            <a:r>
              <a:rPr lang="en-US" altLang="zh-CN" sz="2400" b="1" dirty="0">
                <a:latin typeface="Trebuchet MS" panose="020B0603020202020204" pitchFamily="34" charset="0"/>
              </a:rPr>
              <a:t>say</a:t>
            </a:r>
            <a:r>
              <a:rPr lang="zh-CN" altLang="en-US" sz="2400" b="1" dirty="0">
                <a:latin typeface="Trebuchet MS" panose="020B0603020202020204" pitchFamily="34" charset="0"/>
              </a:rPr>
              <a:t> </a:t>
            </a:r>
            <a:r>
              <a:rPr lang="en-US" altLang="zh-CN" sz="2400" b="1" dirty="0">
                <a:latin typeface="Trebuchet MS" panose="020B0603020202020204" pitchFamily="34" charset="0"/>
              </a:rPr>
              <a:t>that</a:t>
            </a:r>
            <a:r>
              <a:rPr lang="zh-CN" altLang="en-US" sz="2400" b="1" dirty="0">
                <a:latin typeface="Trebuchet MS" panose="020B0603020202020204" pitchFamily="34" charset="0"/>
              </a:rPr>
              <a:t> </a:t>
            </a:r>
            <a:r>
              <a:rPr lang="en-US" altLang="zh-CN" sz="2400" b="1" i="1" dirty="0">
                <a:latin typeface="Trebuchet MS" panose="020B0603020202020204" pitchFamily="34" charset="0"/>
              </a:rPr>
              <a:t>x</a:t>
            </a:r>
            <a:r>
              <a:rPr lang="en-US" sz="2400" dirty="0">
                <a:latin typeface="Trebuchet MS" panose="020B0603020202020204" pitchFamily="34" charset="0"/>
              </a:rPr>
              <a:t> is equivalent to </a:t>
            </a:r>
            <a:r>
              <a:rPr lang="en-US" altLang="zh-CN" sz="2400" b="1" i="1" dirty="0">
                <a:latin typeface="Trebuchet MS" panose="020B0603020202020204" pitchFamily="34" charset="0"/>
              </a:rPr>
              <a:t>y</a:t>
            </a:r>
            <a:r>
              <a:rPr lang="en-US" altLang="zh-CN" sz="2400" b="1" dirty="0">
                <a:solidFill>
                  <a:schemeClr val="tx1"/>
                </a:solidFill>
                <a:latin typeface="Trebuchet MS" panose="020B0603020202020204" pitchFamily="34" charset="0"/>
              </a:rPr>
              <a:t>, </a:t>
            </a:r>
            <a:r>
              <a:rPr lang="en-US" altLang="zh-CN" sz="2400" b="1" dirty="0">
                <a:latin typeface="Trebuchet MS" panose="020B0603020202020204" pitchFamily="34" charset="0"/>
              </a:rPr>
              <a:t>denoted</a:t>
            </a:r>
            <a:r>
              <a:rPr lang="zh-CN" altLang="en-US" sz="2400" b="1" dirty="0">
                <a:latin typeface="Trebuchet MS" panose="020B0603020202020204" pitchFamily="34" charset="0"/>
              </a:rPr>
              <a:t> </a:t>
            </a:r>
            <a:r>
              <a:rPr lang="en-US" altLang="zh-CN" sz="2400" b="1" dirty="0">
                <a:latin typeface="Trebuchet MS" panose="020B0603020202020204" pitchFamily="34" charset="0"/>
              </a:rPr>
              <a:t>as</a:t>
            </a:r>
            <a:r>
              <a:rPr lang="zh-CN" altLang="en-US" sz="2400" b="1" dirty="0">
                <a:latin typeface="Trebuchet MS" panose="020B0603020202020204" pitchFamily="34" charset="0"/>
              </a:rPr>
              <a:t> </a:t>
            </a:r>
            <a:r>
              <a:rPr lang="en-US" altLang="zh-CN" sz="2400" b="1" i="1" dirty="0">
                <a:solidFill>
                  <a:schemeClr val="tx1"/>
                </a:solidFill>
                <a:latin typeface="Trebuchet MS" panose="020B0603020202020204" pitchFamily="34" charset="0"/>
              </a:rPr>
              <a:t>x</a:t>
            </a:r>
            <a:r>
              <a:rPr lang="zh-CN" altLang="en-US"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p>
          <a:p>
            <a:pPr marL="342900" indent="-342900">
              <a:lnSpc>
                <a:spcPct val="120000"/>
              </a:lnSpc>
              <a:spcBef>
                <a:spcPts val="300"/>
              </a:spcBef>
              <a:buClr>
                <a:srgbClr val="0B5B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ndParaRPr>
          </a:p>
          <a:p>
            <a:pPr marL="354013" indent="-354013">
              <a:lnSpc>
                <a:spcPct val="120000"/>
              </a:lnSpc>
              <a:spcBef>
                <a:spcPts val="300"/>
              </a:spcBef>
              <a:buNone/>
            </a:pPr>
            <a:r>
              <a:rPr lang="en-US" sz="2400" dirty="0">
                <a:latin typeface="Trebuchet MS" panose="020B0603020202020204" pitchFamily="34" charset="0"/>
              </a:rPr>
              <a:t>    </a:t>
            </a:r>
            <a:r>
              <a:rPr lang="en-US" sz="2400" b="1" dirty="0">
                <a:latin typeface="Trebuchet MS" panose="020B0603020202020204" pitchFamily="34" charset="0"/>
              </a:rPr>
              <a:t>Example: </a:t>
            </a:r>
            <a:r>
              <a:rPr lang="en-US" altLang="zh-CN" sz="2400" dirty="0">
                <a:latin typeface="Trebuchet MS" panose="020B0603020202020204" pitchFamily="34" charset="0"/>
              </a:rPr>
              <a:t>Verify that </a:t>
            </a:r>
            <a:r>
              <a:rPr lang="en-US" altLang="zh-CN" sz="2400" b="1" i="1" dirty="0">
                <a:latin typeface="Trebuchet MS" panose="020B0603020202020204" pitchFamily="34" charset="0"/>
              </a:rPr>
              <a:t>R</a:t>
            </a:r>
            <a:r>
              <a:rPr lang="en-US" altLang="zh-CN" sz="2400" dirty="0">
                <a:latin typeface="Trebuchet MS" panose="020B0603020202020204" pitchFamily="34" charset="0"/>
              </a:rPr>
              <a:t> is an equivalence relation on </a:t>
            </a:r>
            <a:r>
              <a:rPr lang="en-US" altLang="zh-CN" sz="2400" b="1" i="1" dirty="0">
                <a:latin typeface="Trebuchet MS" panose="020B0603020202020204" pitchFamily="34" charset="0"/>
              </a:rPr>
              <a:t>A.</a:t>
            </a:r>
            <a:endParaRPr lang="en-US" sz="2400" b="1" dirty="0">
              <a:latin typeface="Trebuchet MS" panose="020B0603020202020204" pitchFamily="34" charset="0"/>
            </a:endParaRPr>
          </a:p>
          <a:p>
            <a:pPr marL="446088" indent="-92075">
              <a:lnSpc>
                <a:spcPct val="120000"/>
              </a:lnSpc>
              <a:spcBef>
                <a:spcPts val="300"/>
              </a:spcBef>
              <a:buNone/>
            </a:pPr>
            <a:r>
              <a:rPr lang="en-US" sz="2400" b="1" dirty="0">
                <a:latin typeface="Trebuchet MS" panose="020B0603020202020204" pitchFamily="34" charset="0"/>
              </a:rPr>
              <a:t> </a:t>
            </a:r>
            <a:r>
              <a:rPr lang="en-US" altLang="zh-CN" sz="2400" b="1" dirty="0">
                <a:latin typeface="Trebuchet MS" panose="020B0603020202020204" pitchFamily="34" charset="0"/>
              </a:rPr>
              <a:t>Let</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={1, 2, …, 8}</a:t>
            </a:r>
            <a:r>
              <a:rPr lang="en-US" sz="2400" dirty="0">
                <a:latin typeface="Trebuchet MS" panose="020B0603020202020204" pitchFamily="34" charset="0"/>
              </a:rPr>
              <a:t> , and define the relation </a:t>
            </a:r>
            <a:r>
              <a:rPr lang="en-US" altLang="zh-CN" sz="2400" b="1" i="1" dirty="0">
                <a:solidFill>
                  <a:schemeClr val="tx1"/>
                </a:solidFill>
                <a:latin typeface="Trebuchet MS" panose="020B0603020202020204" pitchFamily="34" charset="0"/>
              </a:rPr>
              <a:t>R on A as follows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&gt;|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(mod 3)}</a:t>
            </a:r>
          </a:p>
          <a:p>
            <a:pPr marL="446088">
              <a:lnSpc>
                <a:spcPct val="120000"/>
              </a:lnSpc>
              <a:spcBef>
                <a:spcPts val="300"/>
              </a:spcBef>
              <a:buNone/>
            </a:pPr>
            <a:r>
              <a:rPr lang="en-US" altLang="zh-CN" sz="2400" b="1" dirty="0">
                <a:latin typeface="Trebuchet MS" panose="020B0603020202020204" pitchFamily="34" charset="0"/>
              </a:rPr>
              <a:t>where</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(mod 3) </a:t>
            </a:r>
            <a:r>
              <a:rPr lang="en-US" sz="2400" dirty="0">
                <a:latin typeface="Trebuchet MS" panose="020B0603020202020204" pitchFamily="34" charset="0"/>
              </a:rPr>
              <a:t>means that</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x</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and</a:t>
            </a:r>
            <a:r>
              <a:rPr lang="zh-CN" altLang="en-US" sz="2400" b="1" i="1" dirty="0">
                <a:latin typeface="Trebuchet MS" panose="020B0603020202020204" pitchFamily="34" charset="0"/>
              </a:rPr>
              <a:t> </a:t>
            </a:r>
            <a:r>
              <a:rPr lang="en-US" altLang="zh-CN" sz="2400" b="1" i="1" dirty="0">
                <a:solidFill>
                  <a:schemeClr val="tx1"/>
                </a:solidFill>
                <a:latin typeface="Trebuchet MS" panose="020B0603020202020204" pitchFamily="34" charset="0"/>
              </a:rPr>
              <a:t>y </a:t>
            </a:r>
            <a:r>
              <a:rPr lang="en-US" sz="2400" dirty="0">
                <a:latin typeface="Trebuchet MS" panose="020B0603020202020204" pitchFamily="34" charset="0"/>
              </a:rPr>
              <a:t>are congruent modulo 3</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i.e., the remainder when </a:t>
            </a:r>
            <a:r>
              <a:rPr lang="en-US" sz="2400" b="1" dirty="0">
                <a:latin typeface="Trebuchet MS" panose="020B0603020202020204" pitchFamily="34" charset="0"/>
              </a:rPr>
              <a:t>x</a:t>
            </a:r>
            <a:r>
              <a:rPr lang="en-US" sz="2400" dirty="0">
                <a:latin typeface="Trebuchet MS" panose="020B0603020202020204" pitchFamily="34" charset="0"/>
              </a:rPr>
              <a:t> is divided by </a:t>
            </a:r>
            <a:r>
              <a:rPr lang="en-US" sz="2400" b="1" dirty="0">
                <a:latin typeface="Trebuchet MS" panose="020B0603020202020204" pitchFamily="34" charset="0"/>
              </a:rPr>
              <a:t>3</a:t>
            </a:r>
            <a:r>
              <a:rPr lang="en-US" sz="2400" dirty="0">
                <a:latin typeface="Trebuchet MS" panose="020B0603020202020204" pitchFamily="34" charset="0"/>
              </a:rPr>
              <a:t> is equal to the remainder when </a:t>
            </a:r>
            <a:r>
              <a:rPr lang="en-US" sz="2400" b="1" i="1" dirty="0">
                <a:latin typeface="Trebuchet MS" panose="020B0603020202020204" pitchFamily="34" charset="0"/>
              </a:rPr>
              <a:t>y</a:t>
            </a:r>
            <a:r>
              <a:rPr lang="en-US" sz="2400" dirty="0">
                <a:latin typeface="Trebuchet MS" panose="020B0603020202020204" pitchFamily="34" charset="0"/>
              </a:rPr>
              <a:t> is divided by </a:t>
            </a:r>
            <a:r>
              <a:rPr lang="en-US" sz="2400" b="1" dirty="0">
                <a:latin typeface="Trebuchet MS" panose="020B0603020202020204" pitchFamily="34" charset="0"/>
              </a:rPr>
              <a:t>3</a:t>
            </a:r>
            <a:r>
              <a:rPr lang="en-US" sz="2400" dirty="0">
                <a:latin typeface="Trebuchet MS" panose="020B0603020202020204" pitchFamily="34" charset="0"/>
              </a:rPr>
              <a:t>.</a:t>
            </a:r>
          </a:p>
        </p:txBody>
      </p:sp>
      <p:pic>
        <p:nvPicPr>
          <p:cNvPr id="9" name="图片 8">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655398" y="3550639"/>
            <a:ext cx="577850" cy="241300"/>
          </a:xfrm>
          <a:prstGeom prst="rect">
            <a:avLst/>
          </a:prstGeom>
        </p:spPr>
      </p:pic>
    </p:spTree>
    <p:extLst>
      <p:ext uri="{BB962C8B-B14F-4D97-AF65-F5344CB8AC3E}">
        <p14:creationId xmlns:p14="http://schemas.microsoft.com/office/powerpoint/2010/main" val="6160690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animEffect transition="in" filter="fade">
                                      <p:cBhvr>
                                        <p:cTn id="19" dur="1000"/>
                                        <p:tgtEl>
                                          <p:spTgt spid="15">
                                            <p:txEl>
                                              <p:pRg st="3" end="3"/>
                                            </p:txEl>
                                          </p:spTgt>
                                        </p:tgtEl>
                                      </p:cBhvr>
                                    </p:animEffect>
                                    <p:anim calcmode="lin" valueType="num">
                                      <p:cBhvr>
                                        <p:cTn id="20"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xEl>
                                              <p:pRg st="4" end="4"/>
                                            </p:txEl>
                                          </p:spTgt>
                                        </p:tgtEl>
                                        <p:attrNameLst>
                                          <p:attrName>style.visibility</p:attrName>
                                        </p:attrNameLst>
                                      </p:cBhvr>
                                      <p:to>
                                        <p:strVal val="visible"/>
                                      </p:to>
                                    </p:set>
                                    <p:animEffect transition="in" filter="fade">
                                      <p:cBhvr>
                                        <p:cTn id="26" dur="1000"/>
                                        <p:tgtEl>
                                          <p:spTgt spid="15">
                                            <p:txEl>
                                              <p:pRg st="4" end="4"/>
                                            </p:txEl>
                                          </p:spTgt>
                                        </p:tgtEl>
                                      </p:cBhvr>
                                    </p:animEffect>
                                    <p:anim calcmode="lin" valueType="num">
                                      <p:cBhvr>
                                        <p:cTn id="27"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20000"/>
              </a:lnSpc>
              <a:buClr>
                <a:srgbClr val="0B5BFF"/>
              </a:buClr>
              <a:buSzPct val="80000"/>
            </a:pPr>
            <a:r>
              <a:rPr lang="en-US" altLang="zh-CN" sz="2000" b="1" dirty="0">
                <a:solidFill>
                  <a:schemeClr val="bg1"/>
                </a:solidFill>
                <a:latin typeface="Trebuchet MS" panose="020B0603020202020204" pitchFamily="34" charset="0"/>
              </a:rPr>
              <a:t>             4.4.1 Equivalence Relations</a:t>
            </a:r>
          </a:p>
          <a:p>
            <a:pPr eaLnBrk="1" hangingPunct="1">
              <a:lnSpc>
                <a:spcPct val="12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Equivalence relation </a:t>
            </a:r>
            <a:r>
              <a:rPr lang="zh-CN" altLang="en-US" sz="2400" b="1" dirty="0">
                <a:solidFill>
                  <a:schemeClr val="bg1"/>
                </a:solidFill>
                <a:latin typeface="Trebuchet MS" panose="020B0603020202020204" pitchFamily="34" charset="0"/>
              </a:rPr>
              <a:t>～</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e.g.</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endParaRPr lang="en-US" altLang="zh-CN"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868731"/>
            <a:ext cx="9553122" cy="489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300"/>
              </a:spcBef>
              <a:buClr>
                <a:srgbClr val="0B5BFF"/>
              </a:buClr>
              <a:buSzPct val="80000"/>
              <a:buNone/>
            </a:pPr>
            <a:r>
              <a:rPr lang="en-US" sz="2400" b="1" dirty="0">
                <a:latin typeface="Trebuchet MS" panose="020B0603020202020204" pitchFamily="34" charset="0"/>
              </a:rPr>
              <a:t>    Example: </a:t>
            </a:r>
            <a:r>
              <a:rPr lang="en-US" altLang="zh-CN" sz="2400" b="1" dirty="0">
                <a:latin typeface="Trebuchet MS" panose="020B0603020202020204" pitchFamily="34" charset="0"/>
              </a:rPr>
              <a:t>Let</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={1, 2, …, 8}</a:t>
            </a:r>
            <a:r>
              <a:rPr lang="en-US" sz="2400" dirty="0">
                <a:latin typeface="Trebuchet MS" panose="020B0603020202020204" pitchFamily="34" charset="0"/>
              </a:rPr>
              <a:t> , and define the relation </a:t>
            </a:r>
            <a:r>
              <a:rPr lang="en-US" altLang="zh-CN" sz="2400" b="1" i="1" dirty="0">
                <a:solidFill>
                  <a:schemeClr val="tx1"/>
                </a:solidFill>
                <a:latin typeface="Trebuchet MS" panose="020B0603020202020204" pitchFamily="34" charset="0"/>
              </a:rPr>
              <a:t>R on A as follows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&gt;|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(mod 3)}</a:t>
            </a:r>
            <a:br>
              <a:rPr lang="en-US" altLang="zh-CN" sz="2400" b="1" dirty="0">
                <a:solidFill>
                  <a:schemeClr val="tx1"/>
                </a:solidFill>
                <a:latin typeface="Trebuchet MS" panose="020B0603020202020204" pitchFamily="34" charset="0"/>
              </a:rPr>
            </a:br>
            <a:r>
              <a:rPr lang="en-US" altLang="zh-CN" sz="2400" b="1" dirty="0">
                <a:latin typeface="Trebuchet MS" panose="020B0603020202020204" pitchFamily="34" charset="0"/>
              </a:rPr>
              <a:t>where</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(mod 3) </a:t>
            </a:r>
            <a:r>
              <a:rPr lang="en-US" sz="2400" dirty="0">
                <a:latin typeface="Trebuchet MS" panose="020B0603020202020204" pitchFamily="34" charset="0"/>
              </a:rPr>
              <a:t>means that</a:t>
            </a:r>
            <a:r>
              <a:rPr lang="zh-CN" altLang="en-US" sz="2400" b="1" dirty="0">
                <a:latin typeface="Trebuchet MS" panose="020B0603020202020204" pitchFamily="34" charset="0"/>
              </a:rPr>
              <a:t> </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x</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and</a:t>
            </a:r>
            <a:r>
              <a:rPr lang="zh-CN" altLang="en-US" sz="2400" b="1" i="1" dirty="0">
                <a:latin typeface="Trebuchet MS" panose="020B0603020202020204" pitchFamily="34" charset="0"/>
              </a:rPr>
              <a:t> </a:t>
            </a:r>
            <a:r>
              <a:rPr lang="en-US" altLang="zh-CN" sz="2400" b="1" i="1" dirty="0">
                <a:solidFill>
                  <a:schemeClr val="tx1"/>
                </a:solidFill>
                <a:latin typeface="Trebuchet MS" panose="020B0603020202020204" pitchFamily="34" charset="0"/>
              </a:rPr>
              <a:t>y </a:t>
            </a:r>
            <a:r>
              <a:rPr lang="en-US" sz="2400" dirty="0">
                <a:latin typeface="Trebuchet MS" panose="020B0603020202020204" pitchFamily="34" charset="0"/>
              </a:rPr>
              <a:t>are congruent modulo 3</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i.e., the remainder when </a:t>
            </a:r>
            <a:r>
              <a:rPr lang="en-US" sz="2400" b="1" dirty="0">
                <a:latin typeface="Trebuchet MS" panose="020B0603020202020204" pitchFamily="34" charset="0"/>
              </a:rPr>
              <a:t>x</a:t>
            </a:r>
            <a:r>
              <a:rPr lang="en-US" sz="2400" dirty="0">
                <a:latin typeface="Trebuchet MS" panose="020B0603020202020204" pitchFamily="34" charset="0"/>
              </a:rPr>
              <a:t> is divided by </a:t>
            </a:r>
            <a:r>
              <a:rPr lang="en-US" sz="2400" b="1" dirty="0">
                <a:latin typeface="Trebuchet MS" panose="020B0603020202020204" pitchFamily="34" charset="0"/>
              </a:rPr>
              <a:t>3</a:t>
            </a:r>
            <a:r>
              <a:rPr lang="en-US" sz="2400" dirty="0">
                <a:latin typeface="Trebuchet MS" panose="020B0603020202020204" pitchFamily="34" charset="0"/>
              </a:rPr>
              <a:t> is equal to the remainder when </a:t>
            </a:r>
            <a:r>
              <a:rPr lang="en-US" sz="2400" b="1" i="1" dirty="0">
                <a:latin typeface="Trebuchet MS" panose="020B0603020202020204" pitchFamily="34" charset="0"/>
              </a:rPr>
              <a:t>y</a:t>
            </a:r>
            <a:r>
              <a:rPr lang="en-US" sz="2400" dirty="0">
                <a:latin typeface="Trebuchet MS" panose="020B0603020202020204" pitchFamily="34" charset="0"/>
              </a:rPr>
              <a:t> is divided by </a:t>
            </a:r>
            <a:r>
              <a:rPr lang="en-US" sz="2400" b="1" dirty="0">
                <a:latin typeface="Trebuchet MS" panose="020B0603020202020204" pitchFamily="34" charset="0"/>
              </a:rPr>
              <a:t>3</a:t>
            </a:r>
            <a:r>
              <a:rPr lang="en-US" sz="2400" dirty="0">
                <a:latin typeface="Trebuchet MS" panose="020B0603020202020204" pitchFamily="34" charset="0"/>
              </a:rPr>
              <a:t>.</a:t>
            </a:r>
            <a:endParaRPr lang="en-US" altLang="zh-CN" sz="2400" b="1" dirty="0">
              <a:solidFill>
                <a:schemeClr val="tx1"/>
              </a:solidFill>
              <a:latin typeface="Trebuchet MS" panose="020B0603020202020204" pitchFamily="34" charset="0"/>
            </a:endParaRPr>
          </a:p>
          <a:p>
            <a:pPr>
              <a:lnSpc>
                <a:spcPct val="120000"/>
              </a:lnSpc>
              <a:spcBef>
                <a:spcPts val="300"/>
              </a:spcBef>
              <a:buNone/>
            </a:pPr>
            <a:r>
              <a:rPr lang="en-US" sz="2400" dirty="0">
                <a:latin typeface="Trebuchet MS" panose="020B0603020202020204" pitchFamily="34" charset="0"/>
              </a:rPr>
              <a:t>It is easy to verify that </a:t>
            </a:r>
            <a:r>
              <a:rPr lang="en-US" sz="2400" b="1" i="1" dirty="0">
                <a:latin typeface="Trebuchet MS" panose="020B0603020202020204" pitchFamily="34" charset="0"/>
              </a:rPr>
              <a:t>R</a:t>
            </a:r>
            <a:r>
              <a:rPr lang="en-US" sz="2400" dirty="0">
                <a:latin typeface="Trebuchet MS" panose="020B0603020202020204" pitchFamily="34" charset="0"/>
              </a:rPr>
              <a:t> is an equivalence relation on </a:t>
            </a:r>
            <a:r>
              <a:rPr lang="en-US" sz="2400" b="1" i="1" dirty="0">
                <a:latin typeface="Trebuchet MS" panose="020B0603020202020204" pitchFamily="34" charset="0"/>
              </a:rPr>
              <a:t>A</a:t>
            </a:r>
            <a:r>
              <a:rPr lang="en-US" sz="2400" dirty="0">
                <a:latin typeface="Trebuchet MS" panose="020B0603020202020204" pitchFamily="34" charset="0"/>
              </a:rPr>
              <a:t>, because:</a:t>
            </a:r>
          </a:p>
          <a:p>
            <a:pPr marL="354013">
              <a:lnSpc>
                <a:spcPct val="120000"/>
              </a:lnSpc>
              <a:spcBef>
                <a:spcPts val="300"/>
              </a:spcBef>
              <a:buNone/>
            </a:pP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if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(mod 3)                                    </a:t>
            </a:r>
            <a:r>
              <a:rPr lang="zh-CN" altLang="en-US" sz="2400" b="1" dirty="0">
                <a:solidFill>
                  <a:schemeClr val="tx1"/>
                </a:solidFill>
                <a:latin typeface="Trebuchet MS" panose="020B0603020202020204" pitchFamily="34" charset="0"/>
              </a:rPr>
              <a:t>（</a:t>
            </a:r>
            <a:r>
              <a:rPr lang="en-US" sz="2400" dirty="0">
                <a:solidFill>
                  <a:srgbClr val="0B5BFF"/>
                </a:solidFill>
                <a:latin typeface="Trebuchet MS" panose="020B0603020202020204" pitchFamily="34" charset="0"/>
              </a:rPr>
              <a:t>reflexivity</a:t>
            </a:r>
            <a:r>
              <a:rPr lang="zh-CN" altLang="en-US" sz="2400" b="1"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ndParaRPr>
          </a:p>
          <a:p>
            <a:pPr marL="354013">
              <a:lnSpc>
                <a:spcPct val="120000"/>
              </a:lnSpc>
              <a:spcBef>
                <a:spcPts val="300"/>
              </a:spcBef>
              <a:buNone/>
            </a:pP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if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(mod 3), then </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(mod 3)     </a:t>
            </a:r>
            <a:r>
              <a:rPr lang="zh-CN" altLang="en-US" sz="2400" b="1" dirty="0">
                <a:solidFill>
                  <a:schemeClr val="tx1"/>
                </a:solidFill>
                <a:latin typeface="Trebuchet MS" panose="020B0603020202020204" pitchFamily="34" charset="0"/>
              </a:rPr>
              <a:t>（</a:t>
            </a:r>
            <a:r>
              <a:rPr lang="en-US" sz="2400" dirty="0">
                <a:solidFill>
                  <a:srgbClr val="0B5BFF"/>
                </a:solidFill>
                <a:latin typeface="Trebuchet MS" panose="020B0603020202020204" pitchFamily="34" charset="0"/>
              </a:rPr>
              <a:t>symmetry</a:t>
            </a:r>
            <a:r>
              <a:rPr lang="zh-CN" altLang="en-US" sz="2400" b="1"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ndParaRPr>
          </a:p>
          <a:p>
            <a:pPr marL="354013">
              <a:lnSpc>
                <a:spcPct val="120000"/>
              </a:lnSpc>
              <a:spcBef>
                <a:spcPts val="300"/>
              </a:spcBef>
              <a:buNone/>
            </a:pP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z</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if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(mod 3), </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(mod 3), then</a:t>
            </a:r>
            <a:r>
              <a:rPr lang="zh-CN" altLang="en-US" sz="2400" b="1" dirty="0">
                <a:solidFill>
                  <a:schemeClr val="tx1"/>
                </a:solidFill>
                <a:latin typeface="Trebuchet MS" panose="020B0603020202020204" pitchFamily="34" charset="0"/>
              </a:rPr>
              <a:t>    </a:t>
            </a:r>
          </a:p>
          <a:p>
            <a:pPr>
              <a:lnSpc>
                <a:spcPct val="120000"/>
              </a:lnSpc>
              <a:spcBef>
                <a:spcPts val="300"/>
              </a:spcBef>
              <a:buNone/>
            </a:pPr>
            <a:r>
              <a:rPr lang="zh-CN" altLang="en-US"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(mod 3)                                        </a:t>
            </a:r>
            <a:r>
              <a:rPr lang="zh-CN" altLang="en-US" sz="2400" b="1" dirty="0">
                <a:solidFill>
                  <a:schemeClr val="tx1"/>
                </a:solidFill>
                <a:latin typeface="Trebuchet MS" panose="020B0603020202020204" pitchFamily="34" charset="0"/>
              </a:rPr>
              <a:t>（</a:t>
            </a:r>
            <a:r>
              <a:rPr lang="en-US" sz="2400" dirty="0">
                <a:solidFill>
                  <a:srgbClr val="0B5BFF"/>
                </a:solidFill>
                <a:latin typeface="Trebuchet MS" panose="020B0603020202020204" pitchFamily="34" charset="0"/>
              </a:rPr>
              <a:t>transitivity</a:t>
            </a:r>
            <a:r>
              <a:rPr lang="zh-CN" altLang="en-US" sz="2400" b="1" dirty="0">
                <a:solidFill>
                  <a:schemeClr val="tx1"/>
                </a:solidFill>
                <a:latin typeface="Trebuchet MS" panose="020B0603020202020204" pitchFamily="34" charset="0"/>
              </a:rPr>
              <a:t>）</a:t>
            </a:r>
          </a:p>
          <a:p>
            <a:pPr>
              <a:lnSpc>
                <a:spcPct val="110000"/>
              </a:lnSpc>
              <a:spcBef>
                <a:spcPts val="300"/>
              </a:spcBef>
              <a:buNone/>
            </a:pPr>
            <a:endParaRPr lang="en-US" altLang="zh-CN" sz="2400" b="1" dirty="0">
              <a:solidFill>
                <a:schemeClr val="tx1"/>
              </a:solidFill>
              <a:latin typeface="Trebuchet MS" panose="020B0603020202020204" pitchFamily="34" charset="0"/>
            </a:endParaRPr>
          </a:p>
        </p:txBody>
      </p:sp>
      <p:pic>
        <p:nvPicPr>
          <p:cNvPr id="9" name="图片 8">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960755" y="1010920"/>
            <a:ext cx="577850" cy="241300"/>
          </a:xfrm>
          <a:prstGeom prst="rect">
            <a:avLst/>
          </a:prstGeom>
        </p:spPr>
      </p:pic>
    </p:spTree>
    <p:extLst>
      <p:ext uri="{BB962C8B-B14F-4D97-AF65-F5344CB8AC3E}">
        <p14:creationId xmlns:p14="http://schemas.microsoft.com/office/powerpoint/2010/main" val="3034220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3" end="3"/>
                                            </p:txEl>
                                          </p:spTgt>
                                        </p:tgtEl>
                                        <p:attrNameLst>
                                          <p:attrName>style.visibility</p:attrName>
                                        </p:attrNameLst>
                                      </p:cBhvr>
                                      <p:to>
                                        <p:strVal val="visible"/>
                                      </p:to>
                                    </p:set>
                                    <p:animEffect transition="in" filter="fade">
                                      <p:cBhvr>
                                        <p:cTn id="14" dur="1000"/>
                                        <p:tgtEl>
                                          <p:spTgt spid="15">
                                            <p:txEl>
                                              <p:pRg st="3" end="3"/>
                                            </p:txEl>
                                          </p:spTgt>
                                        </p:tgtEl>
                                      </p:cBhvr>
                                    </p:animEffect>
                                    <p:anim calcmode="lin" valueType="num">
                                      <p:cBhvr>
                                        <p:cTn id="15"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animEffect transition="in" filter="fade">
                                      <p:cBhvr>
                                        <p:cTn id="21" dur="1000"/>
                                        <p:tgtEl>
                                          <p:spTgt spid="15">
                                            <p:txEl>
                                              <p:pRg st="4" end="4"/>
                                            </p:txEl>
                                          </p:spTgt>
                                        </p:tgtEl>
                                      </p:cBhvr>
                                    </p:animEffect>
                                    <p:anim calcmode="lin" valueType="num">
                                      <p:cBhvr>
                                        <p:cTn id="22"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5">
                                            <p:txEl>
                                              <p:pRg st="5" end="5"/>
                                            </p:txEl>
                                          </p:spTgt>
                                        </p:tgtEl>
                                        <p:attrNameLst>
                                          <p:attrName>style.visibility</p:attrName>
                                        </p:attrNameLst>
                                      </p:cBhvr>
                                      <p:to>
                                        <p:strVal val="visible"/>
                                      </p:to>
                                    </p:set>
                                    <p:animEffect transition="in" filter="fade">
                                      <p:cBhvr>
                                        <p:cTn id="26" dur="1000"/>
                                        <p:tgtEl>
                                          <p:spTgt spid="15">
                                            <p:txEl>
                                              <p:pRg st="5" end="5"/>
                                            </p:txEl>
                                          </p:spTgt>
                                        </p:tgtEl>
                                      </p:cBhvr>
                                    </p:animEffect>
                                    <p:anim calcmode="lin" valueType="num">
                                      <p:cBhvr>
                                        <p:cTn id="27"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4.4.1 Equivalence Relations</a:t>
            </a:r>
          </a:p>
          <a:p>
            <a:pPr eaLnBrk="1" hangingPunct="1">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Equivalence relation graph</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e.g.</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endParaRPr lang="en-US" altLang="zh-CN"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006479" cy="48615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991280"/>
            <a:ext cx="9553122" cy="206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buClr>
                <a:srgbClr val="0B5BFF"/>
              </a:buClr>
              <a:buSzPct val="80000"/>
              <a:buFont typeface="Wingdings" panose="05000000000000000000" pitchFamily="2" charset="2"/>
              <a:buChar char="n"/>
            </a:pPr>
            <a:r>
              <a:rPr lang="en-US" sz="2400" dirty="0">
                <a:latin typeface="Trebuchet MS" panose="020B0603020202020204" pitchFamily="34" charset="0"/>
              </a:rPr>
              <a:t>Relation Graph of the Modulo 3 Equivalence Relation on A</a:t>
            </a:r>
          </a:p>
          <a:p>
            <a:pPr indent="354013">
              <a:lnSpc>
                <a:spcPct val="120000"/>
              </a:lnSpc>
              <a:buNone/>
            </a:pPr>
            <a:r>
              <a:rPr lang="en-US" sz="2400" dirty="0">
                <a:latin typeface="Trebuchet MS" panose="020B0603020202020204" pitchFamily="34" charset="0"/>
              </a:rPr>
              <a:t>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={1, 2, …, 7}, </a:t>
            </a:r>
            <a:br>
              <a:rPr lang="en-US" altLang="zh-CN" sz="2400" b="1" dirty="0">
                <a:latin typeface="Trebuchet MS" panose="020B0603020202020204" pitchFamily="34" charset="0"/>
              </a:rPr>
            </a:b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 &lt;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&gt;|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i="1" dirty="0">
                <a:latin typeface="Trebuchet MS" panose="020B0603020202020204" pitchFamily="34" charset="0"/>
              </a:rPr>
              <a:t> </a:t>
            </a:r>
            <a:r>
              <a:rPr lang="en-US" altLang="zh-CN" sz="2400" b="1" dirty="0">
                <a:latin typeface="Trebuchet MS" panose="020B0603020202020204" pitchFamily="34" charset="0"/>
              </a:rPr>
              <a:t>(mod 3) }</a:t>
            </a:r>
          </a:p>
          <a:p>
            <a:pPr indent="354013">
              <a:lnSpc>
                <a:spcPct val="120000"/>
              </a:lnSpc>
              <a:buNone/>
            </a:pPr>
            <a:r>
              <a:rPr lang="en-US" sz="2400" dirty="0">
                <a:latin typeface="Trebuchet MS" panose="020B0603020202020204" pitchFamily="34" charset="0"/>
              </a:rPr>
              <a:t>The relation graph of </a:t>
            </a:r>
            <a:r>
              <a:rPr lang="en-US" sz="2400" b="1" i="1" dirty="0">
                <a:latin typeface="Trebuchet MS" panose="020B0603020202020204" pitchFamily="34" charset="0"/>
              </a:rPr>
              <a:t>R</a:t>
            </a:r>
            <a:r>
              <a:rPr lang="en-US" sz="2400" dirty="0">
                <a:latin typeface="Trebuchet MS" panose="020B0603020202020204" pitchFamily="34" charset="0"/>
              </a:rPr>
              <a:t> is shown below </a:t>
            </a:r>
            <a:r>
              <a:rPr lang="zh-CN" altLang="en-US" sz="2400" b="1" dirty="0">
                <a:latin typeface="Trebuchet MS" panose="020B0603020202020204" pitchFamily="34" charset="0"/>
              </a:rPr>
              <a:t>：</a:t>
            </a:r>
          </a:p>
        </p:txBody>
      </p:sp>
      <p:pic>
        <p:nvPicPr>
          <p:cNvPr id="9" name="Picture 7" descr="4">
            <a:extLst>
              <a:ext uri="{FF2B5EF4-FFF2-40B4-BE49-F238E27FC236}">
                <a16:creationId xmlns:a16="http://schemas.microsoft.com/office/drawing/2014/main" id="{E6AE78BF-4D88-4772-862F-C4FB52AAD4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6501" y="3438072"/>
            <a:ext cx="64262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24189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4.4 Equivalence Relations and Partial Order Relations</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899918" y="864871"/>
            <a:ext cx="8798289" cy="3981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endParaRPr lang="en-US" altLang="zh-CN" sz="2400" b="1" dirty="0">
              <a:latin typeface="Trebuchet MS" panose="020B0603020202020204" pitchFamily="34" charset="0"/>
            </a:endParaRP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4.4.1 Equivalence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4.4.2 Equivalence Classes and Quotient Sets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4.4.3 Partition of a Set</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4.4.4 Partial Order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4.4.5 Partially Ordered Sets and </a:t>
            </a:r>
            <a:r>
              <a:rPr lang="en-US" sz="2400" b="1" dirty="0" err="1">
                <a:latin typeface="Trebuchet MS" panose="020B0603020202020204" pitchFamily="34" charset="0"/>
              </a:rPr>
              <a:t>Hasse</a:t>
            </a:r>
            <a:r>
              <a:rPr lang="en-US" sz="2400" b="1" dirty="0">
                <a:latin typeface="Trebuchet MS" panose="020B0603020202020204" pitchFamily="34" charset="0"/>
              </a:rPr>
              <a:t> Diagrams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1128852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eaLnBrk="1" hangingPunct="1">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Equivalence Classes</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864280"/>
            <a:ext cx="9553122" cy="374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4.19: let</a:t>
            </a:r>
            <a:r>
              <a:rPr lang="zh-CN" altLang="en-US" sz="2400" b="1" dirty="0">
                <a:latin typeface="Trebuchet MS" panose="020B0603020202020204" pitchFamily="34" charset="0"/>
              </a:rPr>
              <a:t> </a:t>
            </a:r>
            <a:r>
              <a:rPr lang="en-US" altLang="zh-CN" sz="2400" b="1" i="1" dirty="0">
                <a:solidFill>
                  <a:schemeClr val="tx1"/>
                </a:solidFill>
                <a:latin typeface="Trebuchet MS" panose="020B0603020202020204" pitchFamily="34" charset="0"/>
              </a:rPr>
              <a:t>R </a:t>
            </a:r>
            <a:r>
              <a:rPr lang="en-US" sz="2400" dirty="0">
                <a:latin typeface="Trebuchet MS" panose="020B0603020202020204" pitchFamily="34" charset="0"/>
              </a:rPr>
              <a:t>be an equivalence relation on a non-empty set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zh-CN" altLang="en-US" sz="2400" b="1" dirty="0">
                <a:solidFill>
                  <a:schemeClr val="tx1"/>
                </a:solidFill>
                <a:latin typeface="Trebuchet MS" panose="020B0603020202020204" pitchFamily="34" charset="0"/>
              </a:rPr>
              <a:t>，</a:t>
            </a:r>
            <a:r>
              <a:rPr lang="en-US" sz="2400" dirty="0">
                <a:latin typeface="Trebuchet MS" panose="020B0603020202020204" pitchFamily="34" charset="0"/>
              </a:rPr>
              <a:t>define</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baseline="-25000" dirty="0">
                <a:solidFill>
                  <a:schemeClr val="tx1"/>
                </a:solidFill>
                <a:latin typeface="Trebuchet MS" panose="020B0603020202020204" pitchFamily="34" charset="0"/>
              </a:rPr>
              <a:t>R </a:t>
            </a:r>
            <a:r>
              <a:rPr lang="en-US" altLang="zh-CN" sz="2400" b="1" dirty="0">
                <a:solidFill>
                  <a:schemeClr val="tx1"/>
                </a:solidFill>
                <a:latin typeface="Trebuchet MS" panose="020B0603020202020204" pitchFamily="34" charset="0"/>
              </a:rPr>
              <a:t>= { </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xRy</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p>
          <a:p>
            <a:pPr marL="354013" eaLnBrk="1" hangingPunct="1">
              <a:lnSpc>
                <a:spcPct val="120000"/>
              </a:lnSpc>
              <a:spcBef>
                <a:spcPts val="300"/>
              </a:spcBef>
              <a:buNone/>
            </a:pPr>
            <a:r>
              <a:rPr lang="en-US" sz="2400" dirty="0">
                <a:latin typeface="Trebuchet MS" panose="020B0603020202020204" pitchFamily="34" charset="0"/>
              </a:rPr>
              <a:t>We call </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baseline="-25000" dirty="0">
                <a:solidFill>
                  <a:schemeClr val="tx1"/>
                </a:solidFill>
                <a:latin typeface="Trebuchet MS" panose="020B0603020202020204" pitchFamily="34" charset="0"/>
              </a:rPr>
              <a:t>R </a:t>
            </a:r>
            <a:r>
              <a:rPr lang="en-US" sz="2400" dirty="0">
                <a:latin typeface="Trebuchet MS" panose="020B0603020202020204" pitchFamily="34" charset="0"/>
              </a:rPr>
              <a:t>the </a:t>
            </a:r>
            <a:r>
              <a:rPr lang="en-US" sz="2400" b="1" i="1" dirty="0">
                <a:latin typeface="Trebuchet MS" panose="020B0603020202020204" pitchFamily="34" charset="0"/>
              </a:rPr>
              <a:t>equivalence class </a:t>
            </a:r>
            <a:r>
              <a:rPr lang="en-US" sz="2400" dirty="0">
                <a:latin typeface="Trebuchet MS" panose="020B0603020202020204" pitchFamily="34" charset="0"/>
              </a:rPr>
              <a:t>of </a:t>
            </a:r>
            <a:r>
              <a:rPr lang="en-US" altLang="zh-CN" sz="2400" b="1" i="1" dirty="0">
                <a:solidFill>
                  <a:schemeClr val="tx1"/>
                </a:solidFill>
                <a:latin typeface="Trebuchet MS" panose="020B0603020202020204" pitchFamily="34" charset="0"/>
              </a:rPr>
              <a:t>x </a:t>
            </a:r>
            <a:r>
              <a:rPr lang="en-US" altLang="zh-CN" sz="2400" b="1" i="1" dirty="0">
                <a:latin typeface="Trebuchet MS" panose="020B0603020202020204" pitchFamily="34" charset="0"/>
              </a:rPr>
              <a:t>under </a:t>
            </a:r>
            <a:r>
              <a:rPr lang="en-US" altLang="zh-CN" sz="2400" b="1" i="1" dirty="0">
                <a:solidFill>
                  <a:schemeClr val="tx1"/>
                </a:solidFill>
                <a:latin typeface="Trebuchet MS" panose="020B0603020202020204" pitchFamily="34" charset="0"/>
              </a:rPr>
              <a:t>R</a:t>
            </a:r>
            <a:r>
              <a:rPr lang="en-US" sz="2400" dirty="0">
                <a:latin typeface="Trebuchet MS" panose="020B0603020202020204" pitchFamily="34" charset="0"/>
              </a:rPr>
              <a:t>, or simply the equivalence class of </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denoted as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p>
          <a:p>
            <a:pPr marL="354013" eaLnBrk="1" hangingPunct="1">
              <a:lnSpc>
                <a:spcPct val="120000"/>
              </a:lnSpc>
              <a:spcBef>
                <a:spcPts val="300"/>
              </a:spcBef>
              <a:buNone/>
            </a:pPr>
            <a:endParaRPr lang="en-US" altLang="zh-CN" sz="2400" b="1" dirty="0">
              <a:solidFill>
                <a:schemeClr val="tx1"/>
              </a:solidFill>
              <a:latin typeface="Trebuchet MS" panose="020B0603020202020204" pitchFamily="34" charset="0"/>
            </a:endParaRPr>
          </a:p>
          <a:p>
            <a:pPr>
              <a:lnSpc>
                <a:spcPct val="120000"/>
              </a:lnSpc>
              <a:spcBef>
                <a:spcPts val="300"/>
              </a:spcBef>
              <a:buNone/>
            </a:pPr>
            <a:r>
              <a:rPr lang="en-US" sz="2400" b="1" dirty="0">
                <a:latin typeface="Trebuchet MS" panose="020B0603020202020204" pitchFamily="34" charset="0"/>
              </a:rPr>
              <a:t>    Note: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baseline="-25000" dirty="0">
                <a:solidFill>
                  <a:schemeClr val="tx1"/>
                </a:solidFill>
                <a:latin typeface="Trebuchet MS" panose="020B0603020202020204" pitchFamily="34" charset="0"/>
              </a:rPr>
              <a:t>R </a:t>
            </a:r>
            <a:r>
              <a:rPr lang="en-US" sz="2400" dirty="0">
                <a:latin typeface="Trebuchet MS" panose="020B0603020202020204" pitchFamily="34" charset="0"/>
              </a:rPr>
              <a:t>is the set of all elements in</a:t>
            </a:r>
            <a:r>
              <a:rPr lang="zh-CN" altLang="zh-CN" sz="2400" b="1" dirty="0">
                <a:latin typeface="Trebuchet MS" panose="020B0603020202020204" pitchFamily="34" charset="0"/>
              </a:rPr>
              <a:t> </a:t>
            </a:r>
            <a:r>
              <a:rPr lang="en-US" altLang="zh-CN" sz="2400" b="1" i="1" dirty="0">
                <a:latin typeface="Trebuchet MS" panose="020B0603020202020204" pitchFamily="34" charset="0"/>
              </a:rPr>
              <a:t>A </a:t>
            </a:r>
            <a:r>
              <a:rPr lang="en-US" sz="2400" dirty="0">
                <a:latin typeface="Trebuchet MS" panose="020B0603020202020204" pitchFamily="34" charset="0"/>
              </a:rPr>
              <a:t>that are equivalent to</a:t>
            </a:r>
            <a:r>
              <a:rPr lang="zh-CN" altLang="zh-CN" sz="2400" b="1" dirty="0">
                <a:latin typeface="Trebuchet MS" panose="020B0603020202020204" pitchFamily="34" charset="0"/>
              </a:rPr>
              <a:t> </a:t>
            </a:r>
            <a:r>
              <a:rPr lang="en-US" altLang="zh-CN" sz="2400" b="1" dirty="0">
                <a:latin typeface="Trebuchet MS" panose="020B0603020202020204" pitchFamily="34" charset="0"/>
              </a:rPr>
              <a:t>x </a:t>
            </a:r>
            <a:r>
              <a:rPr lang="en-US" sz="2400" dirty="0">
                <a:latin typeface="Trebuchet MS" panose="020B0603020202020204" pitchFamily="34" charset="0"/>
              </a:rPr>
              <a:t>under the relation</a:t>
            </a:r>
            <a:r>
              <a:rPr lang="zh-CN" altLang="zh-CN" sz="2400" b="1" dirty="0">
                <a:latin typeface="Trebuchet MS" panose="020B0603020202020204" pitchFamily="34" charset="0"/>
              </a:rPr>
              <a:t> </a:t>
            </a:r>
            <a:r>
              <a:rPr lang="en-US" altLang="zh-CN" sz="2400" b="1" i="1" kern="100" dirty="0">
                <a:effectLst/>
                <a:latin typeface="Trebuchet MS" panose="020B0603020202020204" pitchFamily="34" charset="0"/>
                <a:ea typeface="等线" panose="02010600030101010101" pitchFamily="2" charset="-122"/>
                <a:cs typeface="Times New Roman" panose="02020603050405020304" pitchFamily="18" charset="0"/>
              </a:rPr>
              <a:t>R</a:t>
            </a:r>
            <a:r>
              <a:rPr lang="en-US" altLang="zh-CN" sz="2400" i="1" kern="100" dirty="0">
                <a:latin typeface="Trebuchet MS" panose="020B0603020202020204" pitchFamily="34" charset="0"/>
                <a:ea typeface="等线" panose="02010600030101010101" pitchFamily="2" charset="-122"/>
                <a:cs typeface="Times New Roman" panose="02020603050405020304" pitchFamily="18" charset="0"/>
              </a:rPr>
              <a:t>.</a:t>
            </a:r>
            <a:endParaRPr lang="zh-CN" altLang="zh-CN" sz="2400" b="1" dirty="0">
              <a:latin typeface="Trebuchet MS" panose="020B0603020202020204" pitchFamily="34" charset="0"/>
            </a:endParaRPr>
          </a:p>
          <a:p>
            <a:pPr eaLnBrk="1" hangingPunct="1">
              <a:lnSpc>
                <a:spcPct val="120000"/>
              </a:lnSpc>
              <a:spcBef>
                <a:spcPts val="300"/>
              </a:spcBef>
              <a:buNone/>
            </a:pPr>
            <a:r>
              <a:rPr lang="en-US" altLang="zh-CN" sz="2400" b="1" kern="100" dirty="0">
                <a:latin typeface="Trebuchet MS" panose="020B0603020202020204" pitchFamily="34" charset="0"/>
                <a:ea typeface="等线" panose="02010600030101010101" pitchFamily="2" charset="-122"/>
                <a:cs typeface="Times New Roman" panose="02020603050405020304" pitchFamily="18" charset="0"/>
              </a:rPr>
              <a:t>   </a:t>
            </a:r>
            <a:r>
              <a:rPr lang="en-US" altLang="zh-CN" sz="2400" b="1" kern="100" dirty="0">
                <a:effectLst/>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baseline="-25000" dirty="0">
                <a:solidFill>
                  <a:schemeClr val="tx1"/>
                </a:solidFill>
                <a:latin typeface="Trebuchet MS" panose="020B0603020202020204" pitchFamily="34" charset="0"/>
              </a:rPr>
              <a:t>R </a:t>
            </a:r>
            <a:r>
              <a:rPr lang="en-US" altLang="zh-CN" sz="2400" b="1" kern="100" dirty="0">
                <a:effectLst/>
                <a:latin typeface="Trebuchet MS" panose="020B0603020202020204" pitchFamily="34" charset="0"/>
                <a:ea typeface="等线"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等线" panose="02010600030101010101" pitchFamily="2" charset="-122"/>
                <a:cs typeface="Times New Roman" panose="02020603050405020304" pitchFamily="18" charset="0"/>
              </a:rPr>
              <a:t>y</a:t>
            </a:r>
            <a:r>
              <a:rPr lang="zh-CN" altLang="zh-CN" sz="2400" b="1" kern="100"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i="1" kern="100" dirty="0">
                <a:effectLst/>
                <a:latin typeface="Trebuchet MS" panose="020B0603020202020204" pitchFamily="34" charset="0"/>
                <a:ea typeface="等线" panose="02010600030101010101" pitchFamily="2" charset="-122"/>
                <a:cs typeface="Times New Roman" panose="02020603050405020304" pitchFamily="18" charset="0"/>
              </a:rPr>
              <a:t>A</a:t>
            </a:r>
            <a:r>
              <a:rPr lang="zh-CN" altLang="zh-CN" sz="2400" b="1" kern="100"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kern="100" dirty="0">
                <a:effectLst/>
                <a:latin typeface="Trebuchet MS" panose="020B0603020202020204" pitchFamily="34" charset="0"/>
                <a:ea typeface="等线"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等线" panose="02010600030101010101" pitchFamily="2" charset="-122"/>
                <a:cs typeface="Times New Roman" panose="02020603050405020304" pitchFamily="18" charset="0"/>
              </a:rPr>
              <a:t>x</a:t>
            </a:r>
            <a:r>
              <a:rPr lang="en-US" altLang="zh-CN" sz="2400" b="1" kern="100" dirty="0" err="1">
                <a:effectLst/>
                <a:latin typeface="Trebuchet MS" panose="020B0603020202020204" pitchFamily="34" charset="0"/>
                <a:ea typeface="等线"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等线" panose="02010600030101010101" pitchFamily="2" charset="-122"/>
                <a:cs typeface="Times New Roman" panose="02020603050405020304" pitchFamily="18" charset="0"/>
              </a:rPr>
              <a:t>y</a:t>
            </a:r>
            <a:r>
              <a:rPr lang="en-US" altLang="zh-CN" sz="2400" b="1" kern="100" dirty="0">
                <a:effectLst/>
                <a:latin typeface="Trebuchet MS" panose="020B0603020202020204" pitchFamily="34" charset="0"/>
                <a:ea typeface="等线" panose="02010600030101010101" pitchFamily="2" charset="-122"/>
                <a:cs typeface="Times New Roman" panose="02020603050405020304" pitchFamily="18" charset="0"/>
              </a:rPr>
              <a:t>)</a:t>
            </a:r>
            <a:r>
              <a:rPr lang="zh-CN" altLang="zh-CN" sz="2400" b="1" kern="100" dirty="0">
                <a:effectLst/>
                <a:latin typeface="Trebuchet MS" panose="020B0603020202020204" pitchFamily="34" charset="0"/>
                <a:ea typeface="等线" panose="02010600030101010101" pitchFamily="2" charset="-122"/>
                <a:cs typeface="宋体" panose="02010600030101010101" pitchFamily="2" charset="-122"/>
              </a:rPr>
              <a:t>∈</a:t>
            </a:r>
            <a:r>
              <a:rPr lang="en-US" altLang="zh-CN" sz="2400" b="1" i="1" kern="100" dirty="0">
                <a:effectLst/>
                <a:latin typeface="Trebuchet MS" panose="020B0603020202020204" pitchFamily="34" charset="0"/>
                <a:ea typeface="等线" panose="02010600030101010101" pitchFamily="2" charset="-122"/>
                <a:cs typeface="Times New Roman" panose="02020603050405020304" pitchFamily="18" charset="0"/>
              </a:rPr>
              <a:t>R</a:t>
            </a:r>
            <a:r>
              <a:rPr lang="en-US" altLang="zh-CN" sz="2400" b="1" kern="100" dirty="0">
                <a:effectLst/>
                <a:latin typeface="Trebuchet MS" panose="020B0603020202020204" pitchFamily="34" charset="0"/>
                <a:ea typeface="等线" panose="02010600030101010101" pitchFamily="2" charset="-122"/>
                <a:cs typeface="Times New Roman" panose="02020603050405020304" pitchFamily="18" charset="0"/>
              </a:rPr>
              <a:t>}</a:t>
            </a:r>
            <a:br>
              <a:rPr lang="en-US" altLang="zh-CN" sz="2400" b="1" dirty="0">
                <a:solidFill>
                  <a:schemeClr val="tx1"/>
                </a:solidFill>
                <a:latin typeface="Trebuchet MS" panose="020B0603020202020204" pitchFamily="34" charset="0"/>
              </a:rPr>
            </a:br>
            <a:endParaRPr lang="en-US" sz="2400" dirty="0">
              <a:latin typeface="Trebuchet MS" panose="020B0603020202020204" pitchFamily="34" charset="0"/>
            </a:endParaRPr>
          </a:p>
        </p:txBody>
      </p:sp>
      <p:sp>
        <p:nvSpPr>
          <p:cNvPr id="4" name="Rectangle 2">
            <a:extLst>
              <a:ext uri="{FF2B5EF4-FFF2-40B4-BE49-F238E27FC236}">
                <a16:creationId xmlns:a16="http://schemas.microsoft.com/office/drawing/2014/main" id="{761B9768-BA4C-46DF-8267-B9FEC8F4EB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7D3435D1-7BE8-4B93-A1C9-DF67032F0459}"/>
              </a:ext>
            </a:extLst>
          </p:cNvPr>
          <p:cNvGraphicFramePr>
            <a:graphicFrameLocks noChangeAspect="1"/>
          </p:cNvGraphicFramePr>
          <p:nvPr/>
        </p:nvGraphicFramePr>
        <p:xfrm>
          <a:off x="1154430" y="3177540"/>
          <a:ext cx="412024" cy="501110"/>
        </p:xfrm>
        <a:graphic>
          <a:graphicData uri="http://schemas.openxmlformats.org/presentationml/2006/ole">
            <mc:AlternateContent xmlns:mc="http://schemas.openxmlformats.org/markup-compatibility/2006">
              <mc:Choice xmlns:v="urn:schemas-microsoft-com:vml" Requires="v">
                <p:oleObj name="Visio" r:id="rId5" imgW="584296" imgH="698595" progId="Visio.Drawing.15">
                  <p:embed/>
                </p:oleObj>
              </mc:Choice>
              <mc:Fallback>
                <p:oleObj name="Visio" r:id="rId5" imgW="584296" imgH="698595" progId="Visio.Drawing.15">
                  <p:embed/>
                  <p:pic>
                    <p:nvPicPr>
                      <p:cNvPr id="5" name="对象 4">
                        <a:extLst>
                          <a:ext uri="{FF2B5EF4-FFF2-40B4-BE49-F238E27FC236}">
                            <a16:creationId xmlns:a16="http://schemas.microsoft.com/office/drawing/2014/main" id="{7D3435D1-7BE8-4B93-A1C9-DF67032F04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4430" y="3177540"/>
                        <a:ext cx="412024" cy="501110"/>
                      </a:xfrm>
                      <a:prstGeom prst="rect">
                        <a:avLst/>
                      </a:prstGeom>
                      <a:noFill/>
                    </p:spPr>
                  </p:pic>
                </p:oleObj>
              </mc:Fallback>
            </mc:AlternateContent>
          </a:graphicData>
        </a:graphic>
      </p:graphicFrame>
    </p:spTree>
    <p:extLst>
      <p:ext uri="{BB962C8B-B14F-4D97-AF65-F5344CB8AC3E}">
        <p14:creationId xmlns:p14="http://schemas.microsoft.com/office/powerpoint/2010/main" val="366066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1000"/>
                                        <p:tgtEl>
                                          <p:spTgt spid="15">
                                            <p:txEl>
                                              <p:pRg st="3" end="3"/>
                                            </p:txEl>
                                          </p:spTgt>
                                        </p:tgtEl>
                                      </p:cBhvr>
                                    </p:animEffect>
                                    <p:anim calcmode="lin" valueType="num">
                                      <p:cBhvr>
                                        <p:cTn id="8"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4" end="4"/>
                                            </p:txEl>
                                          </p:spTgt>
                                        </p:tgtEl>
                                        <p:attrNameLst>
                                          <p:attrName>style.visibility</p:attrName>
                                        </p:attrNameLst>
                                      </p:cBhvr>
                                      <p:to>
                                        <p:strVal val="visible"/>
                                      </p:to>
                                    </p:set>
                                    <p:animEffect transition="in" filter="fade">
                                      <p:cBhvr>
                                        <p:cTn id="12" dur="1000"/>
                                        <p:tgtEl>
                                          <p:spTgt spid="15">
                                            <p:txEl>
                                              <p:pRg st="4" end="4"/>
                                            </p:txEl>
                                          </p:spTgt>
                                        </p:tgtEl>
                                      </p:cBhvr>
                                    </p:animEffect>
                                    <p:anim calcmode="lin" valueType="num">
                                      <p:cBhvr>
                                        <p:cTn id="13"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eaLnBrk="1" hangingPunct="1">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Equivalence Classes</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solidFill>
                  <a:schemeClr val="accent2"/>
                </a:solidFill>
                <a:effectLst/>
                <a:latin typeface="Trebuchet MS" panose="020B0603020202020204" pitchFamily="34" charset="0"/>
                <a:ea typeface="宋体" panose="02010600030101010101" pitchFamily="2" charset="-122"/>
                <a:cs typeface="Times New Roman" panose="02020603050405020304" pitchFamily="18" charset="0"/>
              </a:rPr>
              <a:t>e.g.</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864280"/>
            <a:ext cx="9553122" cy="431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ts val="300"/>
              </a:spcBef>
              <a:buClr>
                <a:srgbClr val="0B5BFF"/>
              </a:buClr>
              <a:buSzPct val="80000"/>
              <a:buNone/>
            </a:pPr>
            <a:r>
              <a:rPr lang="en-US" sz="2400" b="1" dirty="0">
                <a:latin typeface="Trebuchet MS" panose="020B0603020202020204" pitchFamily="34" charset="0"/>
              </a:rPr>
              <a:t>       Example:</a:t>
            </a:r>
            <a:r>
              <a:rPr lang="zh-CN" altLang="en-US" sz="2400" b="1" dirty="0">
                <a:solidFill>
                  <a:srgbClr val="00B0F0"/>
                </a:solidFill>
                <a:latin typeface="Trebuchet MS" panose="020B0603020202020204" pitchFamily="34" charset="0"/>
              </a:rPr>
              <a:t> </a:t>
            </a:r>
            <a:r>
              <a:rPr lang="zh-CN" altLang="en-US" sz="2400" b="1" dirty="0">
                <a:latin typeface="Trebuchet MS" panose="020B0603020202020204" pitchFamily="34" charset="0"/>
              </a:rPr>
              <a:t>  </a:t>
            </a:r>
            <a:r>
              <a:rPr lang="en-US" sz="2400" dirty="0">
                <a:latin typeface="Trebuchet MS" panose="020B0603020202020204" pitchFamily="34" charset="0"/>
              </a:rPr>
              <a:t>Equivalence classes of the modulo 3 equivalence relation on </a:t>
            </a:r>
            <a:r>
              <a:rPr lang="en-US" altLang="zh-CN" sz="2400" b="1" dirty="0">
                <a:latin typeface="Trebuchet MS" panose="020B0603020202020204" pitchFamily="34" charset="0"/>
              </a:rPr>
              <a:t>A={1, 2, … , 8}</a:t>
            </a:r>
            <a:r>
              <a:rPr lang="zh-CN" altLang="en-US" sz="2400" b="1" dirty="0">
                <a:latin typeface="Trebuchet MS" panose="020B0603020202020204" pitchFamily="34" charset="0"/>
              </a:rPr>
              <a:t> ：</a:t>
            </a:r>
            <a:br>
              <a:rPr lang="zh-CN" altLang="en-US" sz="2400" b="1" dirty="0">
                <a:latin typeface="Trebuchet MS" panose="020B0603020202020204" pitchFamily="34" charset="0"/>
              </a:rPr>
            </a:br>
            <a:r>
              <a:rPr lang="zh-CN" altLang="en-US" sz="2400" b="1" dirty="0">
                <a:latin typeface="Trebuchet MS" panose="020B0603020202020204" pitchFamily="34" charset="0"/>
              </a:rPr>
              <a:t>         </a:t>
            </a:r>
            <a:r>
              <a:rPr lang="en-US" altLang="zh-CN" sz="2400" b="1" dirty="0">
                <a:latin typeface="Trebuchet MS" panose="020B0603020202020204" pitchFamily="34" charset="0"/>
              </a:rPr>
              <a:t>[1]=[4]=[7]={1,4,7}</a:t>
            </a:r>
            <a:br>
              <a:rPr lang="en-US" altLang="zh-CN" sz="2400" b="1" dirty="0">
                <a:latin typeface="Trebuchet MS" panose="020B0603020202020204" pitchFamily="34" charset="0"/>
              </a:rPr>
            </a:br>
            <a:r>
              <a:rPr lang="en-US" altLang="zh-CN" sz="2400" b="1" dirty="0">
                <a:latin typeface="Trebuchet MS" panose="020B0603020202020204" pitchFamily="34" charset="0"/>
              </a:rPr>
              <a:t>         [2]=[5]=[8]={2,5,8}</a:t>
            </a:r>
            <a:br>
              <a:rPr lang="en-US" altLang="zh-CN" sz="2400" b="1" dirty="0">
                <a:latin typeface="Trebuchet MS" panose="020B0603020202020204" pitchFamily="34" charset="0"/>
              </a:rPr>
            </a:br>
            <a:r>
              <a:rPr lang="en-US" altLang="zh-CN" sz="2400" b="1" dirty="0">
                <a:latin typeface="Trebuchet MS" panose="020B0603020202020204" pitchFamily="34" charset="0"/>
              </a:rPr>
              <a:t>         [3]=[6]={3,6}</a:t>
            </a:r>
          </a:p>
          <a:p>
            <a:pPr eaLnBrk="1" hangingPunct="1">
              <a:lnSpc>
                <a:spcPct val="110000"/>
              </a:lnSpc>
              <a:spcBef>
                <a:spcPts val="300"/>
              </a:spcBef>
              <a:buClr>
                <a:srgbClr val="0B5BFF"/>
              </a:buClr>
              <a:buSzPct val="80000"/>
              <a:buNone/>
            </a:pPr>
            <a:endParaRPr lang="en-US" altLang="zh-CN" sz="2400" b="1" dirty="0">
              <a:latin typeface="Trebuchet MS" panose="020B0603020202020204" pitchFamily="34" charset="0"/>
            </a:endParaRPr>
          </a:p>
          <a:p>
            <a:pPr>
              <a:lnSpc>
                <a:spcPct val="110000"/>
              </a:lnSpc>
              <a:spcBef>
                <a:spcPts val="300"/>
              </a:spcBef>
              <a:buClr>
                <a:srgbClr val="0B5BFF"/>
              </a:buClr>
              <a:buSzPct val="120000"/>
            </a:pPr>
            <a:r>
              <a:rPr lang="en-US" sz="2400" dirty="0">
                <a:latin typeface="Trebuchet MS" panose="020B0603020202020204" pitchFamily="34" charset="0"/>
              </a:rPr>
              <a:t>The three equivalence classes with remainders 1, 2, and 0 are disjoint, and their union is </a:t>
            </a:r>
            <a:r>
              <a:rPr lang="en-US" altLang="zh-CN" sz="2400" b="1" i="1" dirty="0">
                <a:solidFill>
                  <a:schemeClr val="tx1"/>
                </a:solidFill>
                <a:latin typeface="Trebuchet MS" panose="020B0603020202020204" pitchFamily="34" charset="0"/>
              </a:rPr>
              <a:t>A</a:t>
            </a:r>
            <a:r>
              <a:rPr lang="en-US" sz="2400" dirty="0">
                <a:latin typeface="Trebuchet MS" panose="020B0603020202020204" pitchFamily="34" charset="0"/>
              </a:rPr>
              <a:t>.</a:t>
            </a:r>
          </a:p>
        </p:txBody>
      </p:sp>
      <p:sp>
        <p:nvSpPr>
          <p:cNvPr id="4" name="Rectangle 2">
            <a:extLst>
              <a:ext uri="{FF2B5EF4-FFF2-40B4-BE49-F238E27FC236}">
                <a16:creationId xmlns:a16="http://schemas.microsoft.com/office/drawing/2014/main" id="{761B9768-BA4C-46DF-8267-B9FEC8F4EB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 name="图片 10">
            <a:extLst>
              <a:ext uri="{FF2B5EF4-FFF2-40B4-BE49-F238E27FC236}">
                <a16:creationId xmlns:a16="http://schemas.microsoft.com/office/drawing/2014/main" id="{DEC2B65C-0D9F-4FE7-8224-DA24E2C38E16}"/>
              </a:ext>
            </a:extLst>
          </p:cNvPr>
          <p:cNvPicPr/>
          <p:nvPr/>
        </p:nvPicPr>
        <p:blipFill>
          <a:blip r:embed="rId5"/>
          <a:stretch>
            <a:fillRect/>
          </a:stretch>
        </p:blipFill>
        <p:spPr>
          <a:xfrm>
            <a:off x="1200785" y="1010920"/>
            <a:ext cx="577850" cy="241300"/>
          </a:xfrm>
          <a:prstGeom prst="rect">
            <a:avLst/>
          </a:prstGeom>
        </p:spPr>
      </p:pic>
    </p:spTree>
    <p:extLst>
      <p:ext uri="{BB962C8B-B14F-4D97-AF65-F5344CB8AC3E}">
        <p14:creationId xmlns:p14="http://schemas.microsoft.com/office/powerpoint/2010/main" val="2565377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eaLnBrk="1" hangingPunct="1">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Partition Theorem of Equivalence Classes</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991280"/>
            <a:ext cx="10134058" cy="4472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rPr>
              <a:t>4.8: </a:t>
            </a:r>
            <a:r>
              <a:rPr lang="en-US" altLang="zh-CN" sz="2400" dirty="0">
                <a:latin typeface="Trebuchet MS" panose="020B0603020202020204" pitchFamily="34" charset="0"/>
              </a:rPr>
              <a:t>Partition Theorem of Equivalence Classes.</a:t>
            </a:r>
            <a:endParaRPr lang="en-US" altLang="zh-CN" sz="2400" b="1" dirty="0">
              <a:latin typeface="Trebuchet MS" panose="020B0603020202020204" pitchFamily="34" charset="0"/>
            </a:endParaRPr>
          </a:p>
          <a:p>
            <a:pPr marL="354013" eaLnBrk="1" hangingPunct="1">
              <a:lnSpc>
                <a:spcPct val="130000"/>
              </a:lnSpc>
              <a:spcBef>
                <a:spcPts val="600"/>
              </a:spcBef>
              <a:buClr>
                <a:srgbClr val="0B5BFF"/>
              </a:buClr>
              <a:buSzPct val="80000"/>
              <a:buNone/>
            </a:pP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rPr>
              <a:t>R</a:t>
            </a:r>
            <a:r>
              <a:rPr lang="en-US" sz="2400" dirty="0">
                <a:latin typeface="Trebuchet MS" panose="020B0603020202020204" pitchFamily="34" charset="0"/>
              </a:rPr>
              <a:t> be an equivalence relation on a non-empty set </a:t>
            </a:r>
            <a:r>
              <a:rPr lang="en-US" altLang="zh-CN" sz="2400" b="1" i="1" dirty="0">
                <a:solidFill>
                  <a:schemeClr val="tx1"/>
                </a:solidFill>
                <a:latin typeface="Trebuchet MS" panose="020B0603020202020204" pitchFamily="34" charset="0"/>
              </a:rPr>
              <a:t>A</a:t>
            </a:r>
            <a:r>
              <a:rPr lang="en-US" sz="2400" dirty="0">
                <a:latin typeface="Trebuchet MS" panose="020B0603020202020204" pitchFamily="34" charset="0"/>
              </a:rPr>
              <a:t> </a:t>
            </a:r>
          </a:p>
          <a:p>
            <a:pPr marL="354013" eaLnBrk="1" hangingPunct="1">
              <a:lnSpc>
                <a:spcPct val="130000"/>
              </a:lnSpc>
              <a:spcBef>
                <a:spcPts val="600"/>
              </a:spcBef>
              <a:buClr>
                <a:srgbClr val="0B5BFF"/>
              </a:buClr>
              <a:buSzPct val="80000"/>
              <a:buNone/>
            </a:pPr>
            <a:r>
              <a:rPr lang="en-US" sz="2400" dirty="0">
                <a:latin typeface="Trebuchet MS" panose="020B0603020202020204" pitchFamily="34" charset="0"/>
              </a:rPr>
              <a:t>The following conclusions hold:</a:t>
            </a:r>
          </a:p>
          <a:p>
            <a:pPr eaLnBrk="1" hangingPunct="1">
              <a:lnSpc>
                <a:spcPct val="130000"/>
              </a:lnSpc>
              <a:spcBef>
                <a:spcPts val="600"/>
              </a:spcBef>
              <a:buNone/>
            </a:pPr>
            <a:r>
              <a:rPr lang="zh-CN" altLang="en-US" sz="2400" b="1" dirty="0">
                <a:solidFill>
                  <a:schemeClr val="tx1"/>
                </a:solidFill>
                <a:latin typeface="Trebuchet MS" panose="020B0603020202020204" pitchFamily="34" charset="0"/>
              </a:rPr>
              <a:t>  </a:t>
            </a:r>
            <a:r>
              <a:rPr lang="en-US" altLang="zh-CN" sz="2400" b="1" dirty="0">
                <a:solidFill>
                  <a:srgbClr val="0B5BFF"/>
                </a:solidFill>
                <a:latin typeface="Trebuchet MS" panose="020B0603020202020204" pitchFamily="34" charset="0"/>
              </a:rPr>
              <a:t>(1)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i</a:t>
            </a:r>
            <a:r>
              <a:rPr lang="en-US" sz="2400" dirty="0">
                <a:latin typeface="Trebuchet MS" panose="020B0603020202020204" pitchFamily="34" charset="0"/>
              </a:rPr>
              <a:t>s a non-empty subset of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a:t>
            </a:r>
          </a:p>
          <a:p>
            <a:pPr eaLnBrk="1" hangingPunct="1">
              <a:lnSpc>
                <a:spcPct val="130000"/>
              </a:lnSpc>
              <a:spcBef>
                <a:spcPts val="600"/>
              </a:spcBef>
              <a:buNone/>
            </a:pPr>
            <a:r>
              <a:rPr lang="en-US" altLang="zh-CN" sz="2400" b="1" dirty="0">
                <a:solidFill>
                  <a:schemeClr val="tx1"/>
                </a:solidFill>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if</a:t>
            </a:r>
            <a:r>
              <a:rPr lang="zh-CN" altLang="en-US"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xRy</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then</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a:t>
            </a:r>
          </a:p>
          <a:p>
            <a:pPr eaLnBrk="1" hangingPunct="1">
              <a:lnSpc>
                <a:spcPct val="130000"/>
              </a:lnSpc>
              <a:spcBef>
                <a:spcPts val="600"/>
              </a:spcBef>
              <a:buNone/>
            </a:pPr>
            <a:r>
              <a:rPr lang="en-US" altLang="zh-CN" sz="2400" b="1" dirty="0">
                <a:solidFill>
                  <a:schemeClr val="tx1"/>
                </a:solidFill>
                <a:latin typeface="Trebuchet MS" panose="020B0603020202020204" pitchFamily="34" charset="0"/>
              </a:rPr>
              <a:t>  </a:t>
            </a:r>
            <a:r>
              <a:rPr lang="en-US" altLang="zh-CN" sz="2400" b="1" dirty="0">
                <a:solidFill>
                  <a:srgbClr val="0B5BFF"/>
                </a:solidFill>
                <a:latin typeface="Trebuchet MS" panose="020B0603020202020204" pitchFamily="34" charset="0"/>
              </a:rPr>
              <a:t>(3)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if</a:t>
            </a:r>
            <a:r>
              <a:rPr lang="zh-CN" altLang="en-US"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x    y</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then</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and</a:t>
            </a:r>
            <a:r>
              <a:rPr lang="zh-CN" altLang="en-US" sz="2400" b="1" dirty="0">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a:t>
            </a:r>
            <a:r>
              <a:rPr lang="en-US" sz="2400" dirty="0">
                <a:latin typeface="Trebuchet MS" panose="020B0603020202020204" pitchFamily="34" charset="0"/>
              </a:rPr>
              <a:t> are disjoint.</a:t>
            </a:r>
            <a:endParaRPr lang="en-US" altLang="zh-CN" sz="2400" b="1" dirty="0">
              <a:solidFill>
                <a:schemeClr val="tx1"/>
              </a:solidFill>
              <a:latin typeface="Trebuchet MS" panose="020B0603020202020204" pitchFamily="34" charset="0"/>
            </a:endParaRPr>
          </a:p>
          <a:p>
            <a:pPr eaLnBrk="1" hangingPunct="1">
              <a:lnSpc>
                <a:spcPct val="130000"/>
              </a:lnSpc>
              <a:spcBef>
                <a:spcPts val="600"/>
              </a:spcBef>
              <a:buNone/>
            </a:pPr>
            <a:r>
              <a:rPr lang="en-US" altLang="zh-CN" sz="2400" b="1" dirty="0">
                <a:solidFill>
                  <a:schemeClr val="tx1"/>
                </a:solidFill>
                <a:latin typeface="Trebuchet MS" panose="020B0603020202020204" pitchFamily="34" charset="0"/>
              </a:rPr>
              <a:t>  </a:t>
            </a:r>
            <a:r>
              <a:rPr lang="en-US" altLang="zh-CN" sz="2400" b="1" dirty="0">
                <a:solidFill>
                  <a:srgbClr val="0B5BFF"/>
                </a:solidFill>
                <a:latin typeface="Trebuchet MS" panose="020B0603020202020204" pitchFamily="34" charset="0"/>
              </a:rPr>
              <a:t>(4) </a:t>
            </a:r>
            <a:r>
              <a:rPr lang="en-US" altLang="zh-CN" sz="2400" b="1" dirty="0">
                <a:solidFill>
                  <a:schemeClr val="tx1"/>
                </a:solidFill>
                <a:latin typeface="Trebuchet MS" panose="020B0603020202020204" pitchFamily="34" charset="0"/>
              </a:rPr>
              <a:t>                 </a:t>
            </a:r>
            <a:r>
              <a:rPr lang="en-US" altLang="zh-CN" sz="2400" b="1" i="1" dirty="0">
                <a:latin typeface="Trebuchet MS" panose="020B0603020202020204" pitchFamily="34" charset="0"/>
              </a:rPr>
              <a:t>, </a:t>
            </a:r>
            <a:r>
              <a:rPr lang="en-US" altLang="zh-CN" sz="2400" dirty="0">
                <a:latin typeface="Trebuchet MS" panose="020B0603020202020204" pitchFamily="34" charset="0"/>
              </a:rPr>
              <a:t>t</a:t>
            </a:r>
            <a:r>
              <a:rPr lang="en-US" sz="2400" dirty="0">
                <a:latin typeface="Trebuchet MS" panose="020B0603020202020204" pitchFamily="34" charset="0"/>
              </a:rPr>
              <a:t>he union of all equivalence classes is equal to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 </a:t>
            </a:r>
            <a:br>
              <a:rPr lang="en-US" altLang="zh-CN" sz="2400" b="1" dirty="0">
                <a:solidFill>
                  <a:schemeClr val="tx1"/>
                </a:solidFill>
                <a:latin typeface="Trebuchet MS" panose="020B0603020202020204" pitchFamily="34" charset="0"/>
              </a:rPr>
            </a:br>
            <a:endParaRPr lang="en-US" altLang="zh-CN" sz="2400" b="1" dirty="0">
              <a:solidFill>
                <a:schemeClr val="tx1"/>
              </a:solidFill>
              <a:latin typeface="Trebuchet MS" panose="020B0603020202020204" pitchFamily="34" charset="0"/>
            </a:endParaRPr>
          </a:p>
        </p:txBody>
      </p:sp>
      <p:graphicFrame>
        <p:nvGraphicFramePr>
          <p:cNvPr id="3" name="对象 2">
            <a:extLst>
              <a:ext uri="{FF2B5EF4-FFF2-40B4-BE49-F238E27FC236}">
                <a16:creationId xmlns:a16="http://schemas.microsoft.com/office/drawing/2014/main" id="{17111B94-09B7-4AB3-ACA3-A67F10C2965E}"/>
              </a:ext>
            </a:extLst>
          </p:cNvPr>
          <p:cNvGraphicFramePr>
            <a:graphicFrameLocks noChangeAspect="1"/>
          </p:cNvGraphicFramePr>
          <p:nvPr/>
        </p:nvGraphicFramePr>
        <p:xfrm>
          <a:off x="1891394" y="4299899"/>
          <a:ext cx="1485900" cy="495300"/>
        </p:xfrm>
        <a:graphic>
          <a:graphicData uri="http://schemas.openxmlformats.org/presentationml/2006/ole">
            <mc:AlternateContent xmlns:mc="http://schemas.openxmlformats.org/markup-compatibility/2006">
              <mc:Choice xmlns:v="urn:schemas-microsoft-com:vml" Requires="v">
                <p:oleObj name="Equation" r:id="rId5" imgW="1486044" imgH="495414" progId="Equation.DSMT4">
                  <p:embed/>
                </p:oleObj>
              </mc:Choice>
              <mc:Fallback>
                <p:oleObj name="Equation" r:id="rId5" imgW="1486044" imgH="495414" progId="Equation.DSMT4">
                  <p:embed/>
                  <p:pic>
                    <p:nvPicPr>
                      <p:cNvPr id="3" name="对象 2">
                        <a:extLst>
                          <a:ext uri="{FF2B5EF4-FFF2-40B4-BE49-F238E27FC236}">
                            <a16:creationId xmlns:a16="http://schemas.microsoft.com/office/drawing/2014/main" id="{17111B94-09B7-4AB3-ACA3-A67F10C2965E}"/>
                          </a:ext>
                        </a:extLst>
                      </p:cNvPr>
                      <p:cNvPicPr/>
                      <p:nvPr/>
                    </p:nvPicPr>
                    <p:blipFill>
                      <a:blip r:embed="rId6"/>
                      <a:stretch>
                        <a:fillRect/>
                      </a:stretch>
                    </p:blipFill>
                    <p:spPr>
                      <a:xfrm>
                        <a:off x="1891394" y="4299899"/>
                        <a:ext cx="1485900" cy="495300"/>
                      </a:xfrm>
                      <a:prstGeom prst="rect">
                        <a:avLst/>
                      </a:prstGeom>
                    </p:spPr>
                  </p:pic>
                </p:oleObj>
              </mc:Fallback>
            </mc:AlternateContent>
          </a:graphicData>
        </a:graphic>
      </p:graphicFrame>
      <p:pic>
        <p:nvPicPr>
          <p:cNvPr id="10" name="Picture 9" descr="图形2">
            <a:extLst>
              <a:ext uri="{FF2B5EF4-FFF2-40B4-BE49-F238E27FC236}">
                <a16:creationId xmlns:a16="http://schemas.microsoft.com/office/drawing/2014/main" id="{0FD672BE-CE5B-413D-8A7D-08F117F21E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7336" y="3798107"/>
            <a:ext cx="230187"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8468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4" end="4"/>
                                            </p:txEl>
                                          </p:spTgt>
                                        </p:tgtEl>
                                        <p:attrNameLst>
                                          <p:attrName>style.visibility</p:attrName>
                                        </p:attrNameLst>
                                      </p:cBhvr>
                                      <p:to>
                                        <p:strVal val="visible"/>
                                      </p:to>
                                    </p:set>
                                    <p:animEffect transition="in" filter="fade">
                                      <p:cBhvr>
                                        <p:cTn id="7" dur="1000"/>
                                        <p:tgtEl>
                                          <p:spTgt spid="15">
                                            <p:txEl>
                                              <p:pRg st="4" end="4"/>
                                            </p:txEl>
                                          </p:spTgt>
                                        </p:tgtEl>
                                      </p:cBhvr>
                                    </p:animEffect>
                                    <p:anim calcmode="lin" valueType="num">
                                      <p:cBhvr>
                                        <p:cTn id="8"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5" end="5"/>
                                            </p:txEl>
                                          </p:spTgt>
                                        </p:tgtEl>
                                        <p:attrNameLst>
                                          <p:attrName>style.visibility</p:attrName>
                                        </p:attrNameLst>
                                      </p:cBhvr>
                                      <p:to>
                                        <p:strVal val="visible"/>
                                      </p:to>
                                    </p:set>
                                    <p:animEffect transition="in" filter="fade">
                                      <p:cBhvr>
                                        <p:cTn id="14" dur="1000"/>
                                        <p:tgtEl>
                                          <p:spTgt spid="15">
                                            <p:txEl>
                                              <p:pRg st="5" end="5"/>
                                            </p:txEl>
                                          </p:spTgt>
                                        </p:tgtEl>
                                      </p:cBhvr>
                                    </p:animEffect>
                                    <p:anim calcmode="lin" valueType="num">
                                      <p:cBhvr>
                                        <p:cTn id="15"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5" end="5"/>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xEl>
                                              <p:pRg st="6" end="6"/>
                                            </p:txEl>
                                          </p:spTgt>
                                        </p:tgtEl>
                                        <p:attrNameLst>
                                          <p:attrName>style.visibility</p:attrName>
                                        </p:attrNameLst>
                                      </p:cBhvr>
                                      <p:to>
                                        <p:strVal val="visible"/>
                                      </p:to>
                                    </p:set>
                                    <p:animEffect transition="in" filter="fade">
                                      <p:cBhvr>
                                        <p:cTn id="26" dur="1000"/>
                                        <p:tgtEl>
                                          <p:spTgt spid="15">
                                            <p:txEl>
                                              <p:pRg st="6" end="6"/>
                                            </p:txEl>
                                          </p:spTgt>
                                        </p:tgtEl>
                                      </p:cBhvr>
                                    </p:animEffect>
                                    <p:anim calcmode="lin" valueType="num">
                                      <p:cBhvr>
                                        <p:cTn id="27"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15">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2000" b="1" dirty="0">
                <a:solidFill>
                  <a:schemeClr val="bg1"/>
                </a:solidFill>
                <a:latin typeface="Trebuchet MS" panose="020B0603020202020204" pitchFamily="34" charset="0"/>
              </a:rPr>
              <a:t>             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eaLnBrk="1" hangingPunct="1">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Proof of the Partition Theorem of Equivalence Classes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3" y="849762"/>
            <a:ext cx="9973671" cy="4968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buClr>
                <a:srgbClr val="0B5B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rPr>
              <a:t>4.8</a:t>
            </a:r>
            <a:r>
              <a:rPr lang="en-US" altLang="zh-CN" sz="2400" b="1" dirty="0">
                <a:solidFill>
                  <a:srgbClr val="0B5BFF"/>
                </a:solidFill>
                <a:latin typeface="Trebuchet MS" panose="020B0603020202020204" pitchFamily="34" charset="0"/>
              </a:rPr>
              <a:t>(1)</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dirty="0">
                <a:latin typeface="Trebuchet MS" panose="020B0603020202020204" pitchFamily="34" charset="0"/>
              </a:rPr>
              <a:t>i</a:t>
            </a:r>
            <a:r>
              <a:rPr lang="en-US" sz="2400" dirty="0">
                <a:latin typeface="Trebuchet MS" panose="020B0603020202020204" pitchFamily="34" charset="0"/>
              </a:rPr>
              <a:t>s a non-empty subset of </a:t>
            </a:r>
            <a:r>
              <a:rPr lang="en-US" altLang="zh-CN" sz="2400" b="1" i="1" dirty="0">
                <a:latin typeface="Trebuchet MS" panose="020B0603020202020204" pitchFamily="34" charset="0"/>
              </a:rPr>
              <a:t>A.</a:t>
            </a:r>
          </a:p>
          <a:p>
            <a:pPr marL="354013">
              <a:lnSpc>
                <a:spcPct val="120000"/>
              </a:lnSpc>
              <a:buClr>
                <a:srgbClr val="0B5BFF"/>
              </a:buClr>
              <a:buSzPct val="80000"/>
              <a:buNone/>
            </a:pPr>
            <a:r>
              <a:rPr lang="en-US" altLang="zh-CN" sz="2400" b="1" dirty="0"/>
              <a:t>Proof</a:t>
            </a:r>
            <a:r>
              <a:rPr lang="en-US" altLang="zh-CN" sz="2400" b="1" i="1" dirty="0">
                <a:latin typeface="Trebuchet MS" panose="020B0603020202020204" pitchFamily="34" charset="0"/>
              </a:rPr>
              <a:t>: </a:t>
            </a:r>
            <a:r>
              <a:rPr lang="en-US" sz="2400" dirty="0">
                <a:latin typeface="Trebuchet MS" panose="020B0603020202020204" pitchFamily="34" charset="0"/>
              </a:rPr>
              <a:t>From the definition of equivalence classes,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A</a:t>
            </a:r>
            <a:r>
              <a:rPr lang="en-US" altLang="zh-CN" sz="2400" b="1" i="1" dirty="0">
                <a:solidFill>
                  <a:schemeClr val="tx1"/>
                </a:solidFill>
                <a:latin typeface="Trebuchet MS" panose="020B0603020202020204" pitchFamily="34" charset="0"/>
              </a:rPr>
              <a:t>,</a:t>
            </a:r>
            <a:r>
              <a:rPr lang="en-US" altLang="zh-CN" sz="2400" dirty="0">
                <a:latin typeface="Trebuchet MS" panose="020B0603020202020204" pitchFamily="34" charset="0"/>
              </a:rPr>
              <a:t> we have</a:t>
            </a:r>
            <a:r>
              <a:rPr lang="en-US" altLang="zh-CN" sz="2400" b="1" i="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By reflexivity, </a:t>
            </a:r>
            <a:r>
              <a:rPr lang="en-US" altLang="zh-CN" sz="2400" b="1" i="1" dirty="0" err="1">
                <a:solidFill>
                  <a:schemeClr val="tx1"/>
                </a:solidFill>
                <a:latin typeface="Trebuchet MS" panose="020B0603020202020204" pitchFamily="34" charset="0"/>
              </a:rPr>
              <a:t>xRx</a:t>
            </a:r>
            <a:r>
              <a:rPr lang="zh-CN" altLang="en-US" sz="2400" b="1" i="1" dirty="0">
                <a:solidFill>
                  <a:schemeClr val="tx1"/>
                </a:solidFill>
                <a:latin typeface="Trebuchet MS" panose="020B0603020202020204" pitchFamily="34" charset="0"/>
              </a:rPr>
              <a:t>，</a:t>
            </a:r>
            <a:r>
              <a:rPr lang="en-US" altLang="zh-CN" sz="2400" b="1" dirty="0">
                <a:solidFill>
                  <a:schemeClr val="tx1"/>
                </a:solidFill>
                <a:latin typeface="Trebuchet MS" panose="020B0603020202020204" pitchFamily="34" charset="0"/>
              </a:rPr>
              <a:t>so </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which </a:t>
            </a:r>
            <a:r>
              <a:rPr lang="en-US" altLang="zh-CN" sz="2400" dirty="0">
                <a:latin typeface="Trebuchet MS" panose="020B0603020202020204" pitchFamily="34" charset="0"/>
              </a:rPr>
              <a:t>implies that</a:t>
            </a:r>
            <a:r>
              <a:rPr lang="zh-CN" altLang="en-US" sz="2400" b="1" dirty="0">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is non-empty. </a:t>
            </a:r>
            <a:r>
              <a:rPr lang="en-US" sz="2400" dirty="0">
                <a:latin typeface="Trebuchet MS" panose="020B0603020202020204" pitchFamily="34" charset="0"/>
              </a:rPr>
              <a:t>Since all elements in the equivalence class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sz="2400" dirty="0">
                <a:latin typeface="Trebuchet MS" panose="020B0603020202020204" pitchFamily="34" charset="0"/>
              </a:rPr>
              <a:t> are selected from the set </a:t>
            </a:r>
            <a:r>
              <a:rPr lang="en-US" altLang="zh-CN" sz="2400" b="1" i="1" kern="100" dirty="0">
                <a:solidFill>
                  <a:srgbClr val="374151"/>
                </a:solidFill>
                <a:effectLst/>
                <a:latin typeface="Trebuchet MS" panose="020B0603020202020204" pitchFamily="34" charset="0"/>
                <a:ea typeface="+mn-ea"/>
                <a:cs typeface="Times New Roman" panose="02020603050405020304" pitchFamily="18" charset="0"/>
              </a:rPr>
              <a:t>A</a:t>
            </a:r>
            <a:r>
              <a:rPr lang="zh-CN" altLang="zh-CN" sz="2400" b="1" kern="100" dirty="0">
                <a:effectLst/>
                <a:latin typeface="Trebuchet MS" panose="020B0603020202020204" pitchFamily="34" charset="0"/>
                <a:ea typeface="+mn-ea"/>
                <a:cs typeface="Times New Roman" panose="02020603050405020304" pitchFamily="18" charset="0"/>
              </a:rPr>
              <a:t>，</a:t>
            </a:r>
            <a:r>
              <a:rPr lang="en-US" altLang="zh-CN" sz="2400" dirty="0">
                <a:latin typeface="Trebuchet MS" panose="020B0603020202020204" pitchFamily="34" charset="0"/>
              </a:rPr>
              <a:t> it follows that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sz="2400" dirty="0">
                <a:latin typeface="Trebuchet MS" panose="020B0603020202020204" pitchFamily="34" charset="0"/>
              </a:rPr>
              <a:t> is a subset of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p>
          <a:p>
            <a:pPr marL="342900" indent="-342900">
              <a:lnSpc>
                <a:spcPct val="120000"/>
              </a:lnSpc>
              <a:buClr>
                <a:srgbClr val="0B5B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rPr>
              <a:t>4.8</a:t>
            </a:r>
            <a:r>
              <a:rPr lang="en-US" altLang="zh-CN" sz="2400" b="1" dirty="0">
                <a:solidFill>
                  <a:srgbClr val="0B5BFF"/>
                </a:solidFill>
                <a:latin typeface="Trebuchet MS" panose="020B0603020202020204" pitchFamily="34" charset="0"/>
              </a:rPr>
              <a:t>(2):</a:t>
            </a:r>
            <a:r>
              <a:rPr lang="zh-CN" altLang="en-US" sz="2400" b="1" dirty="0">
                <a:solidFill>
                  <a:srgbClr val="0B5BFF"/>
                </a:solidFill>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x, </a:t>
            </a:r>
            <a:r>
              <a:rPr lang="en-US" altLang="zh-CN" sz="2400" b="1" dirty="0" err="1">
                <a:latin typeface="Trebuchet MS" panose="020B0603020202020204" pitchFamily="34" charset="0"/>
              </a:rPr>
              <a:t>y∈A</a:t>
            </a:r>
            <a:r>
              <a:rPr lang="en-US" altLang="zh-CN" sz="2400" b="1" dirty="0">
                <a:latin typeface="Trebuchet MS" panose="020B0603020202020204" pitchFamily="34" charset="0"/>
              </a:rPr>
              <a:t>, </a:t>
            </a:r>
            <a:r>
              <a:rPr lang="en-US" sz="2400" dirty="0">
                <a:latin typeface="Trebuchet MS" panose="020B0603020202020204" pitchFamily="34" charset="0"/>
              </a:rPr>
              <a:t>if </a:t>
            </a:r>
            <a:r>
              <a:rPr lang="zh-CN" altLang="en-US" sz="2400" b="1" dirty="0">
                <a:latin typeface="Trebuchet MS" panose="020B0603020202020204" pitchFamily="34" charset="0"/>
              </a:rPr>
              <a:t> </a:t>
            </a:r>
            <a:r>
              <a:rPr lang="en-US" altLang="zh-CN" sz="2400" b="1" dirty="0" err="1">
                <a:latin typeface="Trebuchet MS" panose="020B0603020202020204" pitchFamily="34" charset="0"/>
              </a:rPr>
              <a:t>xRy</a:t>
            </a:r>
            <a:r>
              <a:rPr lang="en-US" altLang="zh-CN" sz="2400" b="1" dirty="0">
                <a:latin typeface="Trebuchet MS" panose="020B0603020202020204" pitchFamily="34" charset="0"/>
              </a:rPr>
              <a:t>, </a:t>
            </a:r>
            <a:r>
              <a:rPr lang="en-US" sz="2400" dirty="0">
                <a:latin typeface="Trebuchet MS" panose="020B0603020202020204" pitchFamily="34" charset="0"/>
              </a:rPr>
              <a:t>then</a:t>
            </a:r>
            <a:r>
              <a:rPr lang="zh-CN" altLang="en-US" sz="2400" b="1" dirty="0">
                <a:latin typeface="Trebuchet MS" panose="020B0603020202020204" pitchFamily="34" charset="0"/>
              </a:rPr>
              <a:t> </a:t>
            </a:r>
            <a:r>
              <a:rPr lang="en-US" altLang="zh-CN" sz="2400" b="1" dirty="0">
                <a:latin typeface="Trebuchet MS" panose="020B0603020202020204" pitchFamily="34" charset="0"/>
              </a:rPr>
              <a:t>[x]=[y].</a:t>
            </a:r>
          </a:p>
          <a:p>
            <a:pPr marL="354013">
              <a:lnSpc>
                <a:spcPct val="120000"/>
              </a:lnSpc>
              <a:buNone/>
            </a:pPr>
            <a:r>
              <a:rPr lang="en-US" altLang="zh-CN" sz="2400" b="1" dirty="0"/>
              <a:t>Proof</a:t>
            </a:r>
            <a:r>
              <a:rPr lang="en-US" altLang="zh-CN" sz="2400" b="1" i="1" dirty="0">
                <a:latin typeface="Trebuchet MS" panose="020B0603020202020204" pitchFamily="34" charset="0"/>
              </a:rPr>
              <a:t>: </a:t>
            </a:r>
            <a:r>
              <a:rPr lang="en-US" sz="2400" kern="100" dirty="0">
                <a:latin typeface="Trebuchet MS" panose="020B0603020202020204" pitchFamily="34" charset="0"/>
                <a:ea typeface="+mn-ea"/>
                <a:cs typeface="Times New Roman" panose="02020603050405020304" pitchFamily="18" charset="0"/>
              </a:rPr>
              <a:t>For any element </a:t>
            </a:r>
            <a:r>
              <a:rPr lang="en-US" altLang="zh-CN" sz="2400" kern="100" dirty="0">
                <a:latin typeface="Trebuchet MS" panose="020B0603020202020204" pitchFamily="34" charset="0"/>
                <a:ea typeface="+mn-ea"/>
                <a:cs typeface="Times New Roman" panose="02020603050405020304" pitchFamily="18" charset="0"/>
              </a:rPr>
              <a:t>a</a:t>
            </a:r>
            <a:r>
              <a:rPr lang="en-US" sz="2400" kern="100" dirty="0">
                <a:latin typeface="Trebuchet MS" panose="020B0603020202020204" pitchFamily="34" charset="0"/>
                <a:ea typeface="+mn-ea"/>
                <a:cs typeface="Times New Roman" panose="02020603050405020304" pitchFamily="18" charset="0"/>
              </a:rPr>
              <a:t> in </a:t>
            </a:r>
            <a:r>
              <a:rPr lang="en-US" altLang="zh-CN" sz="2400" b="1" kern="100" dirty="0">
                <a:latin typeface="Trebuchet MS" panose="020B0603020202020204" pitchFamily="34" charset="0"/>
                <a:ea typeface="+mn-ea"/>
                <a:cs typeface="Times New Roman" panose="02020603050405020304" pitchFamily="18" charset="0"/>
              </a:rPr>
              <a:t>[</a:t>
            </a:r>
            <a:r>
              <a:rPr lang="en-US" altLang="zh-CN" sz="2400" b="1" i="1" kern="100" dirty="0">
                <a:latin typeface="Trebuchet MS" panose="020B0603020202020204" pitchFamily="34" charset="0"/>
                <a:ea typeface="+mn-ea"/>
                <a:cs typeface="Times New Roman" panose="02020603050405020304" pitchFamily="18" charset="0"/>
              </a:rPr>
              <a:t>x</a:t>
            </a:r>
            <a:r>
              <a:rPr lang="en-US" altLang="zh-CN" sz="2400" b="1" kern="100" dirty="0">
                <a:latin typeface="Trebuchet MS" panose="020B0603020202020204" pitchFamily="34" charset="0"/>
                <a:ea typeface="+mn-ea"/>
                <a:cs typeface="Times New Roman" panose="02020603050405020304" pitchFamily="18" charset="0"/>
              </a:rPr>
              <a:t>]</a:t>
            </a:r>
            <a:r>
              <a:rPr lang="zh-CN" altLang="zh-CN" sz="2400" b="1" kern="100" dirty="0">
                <a:latin typeface="Trebuchet MS" panose="020B0603020202020204" pitchFamily="34" charset="0"/>
                <a:ea typeface="+mn-ea"/>
                <a:cs typeface="Times New Roman" panose="02020603050405020304" pitchFamily="18" charset="0"/>
              </a:rPr>
              <a:t>，</a:t>
            </a:r>
            <a:r>
              <a:rPr lang="en-US" altLang="zh-CN" sz="2400" b="1" kern="100" dirty="0">
                <a:latin typeface="Trebuchet MS" panose="020B0603020202020204" pitchFamily="34" charset="0"/>
                <a:ea typeface="+mn-ea"/>
                <a:cs typeface="Times New Roman" panose="02020603050405020304" pitchFamily="18" charset="0"/>
              </a:rPr>
              <a:t>(</a:t>
            </a:r>
            <a:r>
              <a:rPr lang="en-US" altLang="zh-CN" sz="2400" b="1" i="1" kern="100" dirty="0" err="1">
                <a:latin typeface="Trebuchet MS" panose="020B0603020202020204" pitchFamily="34" charset="0"/>
                <a:ea typeface="+mn-ea"/>
                <a:cs typeface="Times New Roman" panose="02020603050405020304" pitchFamily="18" charset="0"/>
              </a:rPr>
              <a:t>x</a:t>
            </a:r>
            <a:r>
              <a:rPr lang="en-US" altLang="zh-CN" sz="2400" b="1" kern="100" dirty="0" err="1">
                <a:latin typeface="Trebuchet MS" panose="020B0603020202020204" pitchFamily="34" charset="0"/>
                <a:ea typeface="+mn-ea"/>
                <a:cs typeface="Times New Roman" panose="02020603050405020304" pitchFamily="18" charset="0"/>
              </a:rPr>
              <a:t>,</a:t>
            </a:r>
            <a:r>
              <a:rPr lang="en-US" altLang="zh-CN" sz="2400" b="1" i="1" kern="100" dirty="0" err="1">
                <a:latin typeface="Trebuchet MS" panose="020B0603020202020204" pitchFamily="34" charset="0"/>
                <a:ea typeface="+mn-ea"/>
                <a:cs typeface="Times New Roman" panose="02020603050405020304" pitchFamily="18" charset="0"/>
              </a:rPr>
              <a:t>a</a:t>
            </a:r>
            <a:r>
              <a:rPr lang="en-US" altLang="zh-CN" sz="2400" b="1" kern="100" dirty="0">
                <a:latin typeface="Trebuchet MS" panose="020B0603020202020204" pitchFamily="34" charset="0"/>
                <a:ea typeface="+mn-ea"/>
                <a:cs typeface="Times New Roman" panose="02020603050405020304" pitchFamily="18" charset="0"/>
              </a:rPr>
              <a:t>)</a:t>
            </a:r>
            <a:r>
              <a:rPr lang="zh-CN" altLang="zh-CN" sz="2400" b="1" kern="100" dirty="0">
                <a:latin typeface="Trebuchet MS" panose="020B0603020202020204" pitchFamily="34" charset="0"/>
                <a:ea typeface="+mn-ea"/>
                <a:cs typeface="Times New Roman" panose="02020603050405020304" pitchFamily="18" charset="0"/>
              </a:rPr>
              <a:t>∈</a:t>
            </a:r>
            <a:r>
              <a:rPr lang="zh-CN" altLang="zh-CN" sz="2400" b="1" i="1" kern="100" dirty="0">
                <a:latin typeface="Trebuchet MS" panose="020B0603020202020204" pitchFamily="34" charset="0"/>
                <a:ea typeface="+mn-ea"/>
                <a:cs typeface="Times New Roman" panose="02020603050405020304" pitchFamily="18" charset="0"/>
              </a:rPr>
              <a:t>R</a:t>
            </a:r>
            <a:r>
              <a:rPr lang="en-US" altLang="zh-CN" sz="2400" b="1" kern="100" dirty="0">
                <a:latin typeface="Trebuchet MS" panose="020B0603020202020204" pitchFamily="34" charset="0"/>
                <a:ea typeface="+mn-ea"/>
                <a:cs typeface="Times New Roman" panose="02020603050405020304" pitchFamily="18" charset="0"/>
              </a:rPr>
              <a:t>. </a:t>
            </a:r>
            <a:r>
              <a:rPr lang="en-US" sz="2400" dirty="0">
                <a:latin typeface="Trebuchet MS" panose="020B0603020202020204" pitchFamily="34" charset="0"/>
              </a:rPr>
              <a:t>Since </a:t>
            </a:r>
            <a:r>
              <a:rPr lang="en-US" altLang="zh-CN" sz="2400" b="1" kern="100" dirty="0">
                <a:latin typeface="Trebuchet MS" panose="020B0603020202020204" pitchFamily="34" charset="0"/>
                <a:ea typeface="+mn-ea"/>
                <a:cs typeface="Times New Roman" panose="02020603050405020304" pitchFamily="18" charset="0"/>
              </a:rPr>
              <a:t>(</a:t>
            </a:r>
            <a:r>
              <a:rPr lang="en-US" altLang="zh-CN" sz="2400" b="1" kern="100" dirty="0" err="1">
                <a:latin typeface="Trebuchet MS" panose="020B0603020202020204" pitchFamily="34" charset="0"/>
                <a:ea typeface="+mn-ea"/>
                <a:cs typeface="Times New Roman" panose="02020603050405020304" pitchFamily="18" charset="0"/>
              </a:rPr>
              <a:t>x,y</a:t>
            </a:r>
            <a:r>
              <a:rPr lang="en-US" altLang="zh-CN" sz="2400" b="1" kern="100" dirty="0">
                <a:latin typeface="Trebuchet MS" panose="020B0603020202020204" pitchFamily="34" charset="0"/>
                <a:ea typeface="+mn-ea"/>
                <a:cs typeface="Times New Roman" panose="02020603050405020304" pitchFamily="18" charset="0"/>
              </a:rPr>
              <a:t>)</a:t>
            </a:r>
            <a:r>
              <a:rPr lang="zh-CN" altLang="zh-CN" sz="2400" b="1" kern="100" dirty="0">
                <a:latin typeface="Trebuchet MS" panose="020B0603020202020204" pitchFamily="34" charset="0"/>
                <a:ea typeface="+mn-ea"/>
                <a:cs typeface="Times New Roman" panose="02020603050405020304" pitchFamily="18" charset="0"/>
              </a:rPr>
              <a:t>∈R </a:t>
            </a:r>
            <a:r>
              <a:rPr lang="en-US" altLang="zh-CN" sz="2400" b="1" kern="100" dirty="0">
                <a:latin typeface="Trebuchet MS" panose="020B0603020202020204" pitchFamily="34" charset="0"/>
                <a:ea typeface="+mn-ea"/>
                <a:cs typeface="Times New Roman" panose="02020603050405020304" pitchFamily="18" charset="0"/>
              </a:rPr>
              <a:t>and </a:t>
            </a:r>
            <a:r>
              <a:rPr lang="zh-CN" altLang="zh-CN" sz="2400" b="1" kern="100" dirty="0">
                <a:latin typeface="Trebuchet MS" panose="020B0603020202020204" pitchFamily="34" charset="0"/>
                <a:ea typeface="+mn-ea"/>
                <a:cs typeface="Times New Roman" panose="02020603050405020304" pitchFamily="18" charset="0"/>
              </a:rPr>
              <a:t>R</a:t>
            </a:r>
            <a:r>
              <a:rPr lang="en-US" sz="2400" dirty="0">
                <a:latin typeface="Trebuchet MS" panose="020B0603020202020204" pitchFamily="34" charset="0"/>
              </a:rPr>
              <a:t> is transitive, we can conclude that </a:t>
            </a:r>
            <a:r>
              <a:rPr lang="en-US" altLang="zh-CN" sz="2400" b="1" kern="100" dirty="0">
                <a:latin typeface="Trebuchet MS" panose="020B0603020202020204" pitchFamily="34" charset="0"/>
                <a:ea typeface="+mn-ea"/>
                <a:cs typeface="Times New Roman" panose="02020603050405020304" pitchFamily="18" charset="0"/>
              </a:rPr>
              <a:t>(</a:t>
            </a:r>
            <a:r>
              <a:rPr lang="en-US" altLang="zh-CN" sz="2400" b="1" i="1" kern="100" dirty="0" err="1">
                <a:latin typeface="Trebuchet MS" panose="020B0603020202020204" pitchFamily="34" charset="0"/>
                <a:ea typeface="+mn-ea"/>
                <a:cs typeface="Times New Roman" panose="02020603050405020304" pitchFamily="18" charset="0"/>
              </a:rPr>
              <a:t>y</a:t>
            </a:r>
            <a:r>
              <a:rPr lang="en-US" altLang="zh-CN" sz="2400" b="1" kern="100" dirty="0" err="1">
                <a:latin typeface="Trebuchet MS" panose="020B0603020202020204" pitchFamily="34" charset="0"/>
                <a:ea typeface="+mn-ea"/>
                <a:cs typeface="Times New Roman" panose="02020603050405020304" pitchFamily="18" charset="0"/>
              </a:rPr>
              <a:t>,</a:t>
            </a:r>
            <a:r>
              <a:rPr lang="en-US" altLang="zh-CN" sz="2400" b="1" i="1" kern="100" dirty="0" err="1">
                <a:latin typeface="Trebuchet MS" panose="020B0603020202020204" pitchFamily="34" charset="0"/>
                <a:ea typeface="+mn-ea"/>
                <a:cs typeface="Times New Roman" panose="02020603050405020304" pitchFamily="18" charset="0"/>
              </a:rPr>
              <a:t>a</a:t>
            </a:r>
            <a:r>
              <a:rPr lang="en-US" altLang="zh-CN" sz="2400" b="1" kern="100" dirty="0">
                <a:latin typeface="Trebuchet MS" panose="020B0603020202020204" pitchFamily="34" charset="0"/>
                <a:ea typeface="+mn-ea"/>
                <a:cs typeface="Times New Roman" panose="02020603050405020304" pitchFamily="18" charset="0"/>
              </a:rPr>
              <a:t>)</a:t>
            </a:r>
            <a:r>
              <a:rPr lang="zh-CN" altLang="zh-CN" sz="2400" b="1" kern="100" dirty="0">
                <a:latin typeface="Trebuchet MS" panose="020B0603020202020204" pitchFamily="34" charset="0"/>
                <a:ea typeface="+mn-ea"/>
                <a:cs typeface="Times New Roman" panose="02020603050405020304" pitchFamily="18" charset="0"/>
              </a:rPr>
              <a:t>∈</a:t>
            </a:r>
            <a:r>
              <a:rPr lang="zh-CN" altLang="zh-CN" sz="2400" b="1" i="1" kern="100" dirty="0">
                <a:latin typeface="Trebuchet MS" panose="020B0603020202020204" pitchFamily="34" charset="0"/>
                <a:ea typeface="+mn-ea"/>
                <a:cs typeface="Times New Roman" panose="02020603050405020304" pitchFamily="18" charset="0"/>
              </a:rPr>
              <a:t>R</a:t>
            </a:r>
            <a:r>
              <a:rPr lang="zh-CN" altLang="zh-CN" sz="2400" b="1" kern="100" dirty="0">
                <a:latin typeface="Trebuchet MS" panose="020B0603020202020204" pitchFamily="34" charset="0"/>
                <a:ea typeface="+mn-ea"/>
                <a:cs typeface="Times New Roman" panose="02020603050405020304" pitchFamily="18" charset="0"/>
              </a:rPr>
              <a:t> </a:t>
            </a:r>
            <a:r>
              <a:rPr lang="en-US" altLang="zh-CN" sz="2400" b="1" kern="100" dirty="0">
                <a:latin typeface="Trebuchet MS" panose="020B0603020202020204" pitchFamily="34" charset="0"/>
                <a:ea typeface="+mn-ea"/>
                <a:cs typeface="Times New Roman" panose="02020603050405020304" pitchFamily="18" charset="0"/>
              </a:rPr>
              <a:t>, </a:t>
            </a:r>
            <a:r>
              <a:rPr lang="en-US" altLang="zh-CN" sz="2400" kern="100" dirty="0">
                <a:latin typeface="Trebuchet MS" panose="020B0603020202020204" pitchFamily="34" charset="0"/>
                <a:ea typeface="+mn-ea"/>
                <a:cs typeface="Times New Roman" panose="02020603050405020304" pitchFamily="18" charset="0"/>
              </a:rPr>
              <a:t>so</a:t>
            </a:r>
            <a:r>
              <a:rPr lang="en-US" altLang="zh-CN" sz="2400" b="1" kern="100" dirty="0">
                <a:latin typeface="Trebuchet MS" panose="020B0603020202020204" pitchFamily="34" charset="0"/>
                <a:ea typeface="+mn-ea"/>
                <a:cs typeface="Times New Roman" panose="02020603050405020304" pitchFamily="18" charset="0"/>
              </a:rPr>
              <a:t> </a:t>
            </a:r>
            <a:r>
              <a:rPr lang="en-US" altLang="zh-CN" sz="2400" b="1" i="1" kern="100" dirty="0">
                <a:latin typeface="Trebuchet MS" panose="020B0603020202020204" pitchFamily="34" charset="0"/>
                <a:ea typeface="+mn-ea"/>
                <a:cs typeface="Times New Roman" panose="02020603050405020304" pitchFamily="18" charset="0"/>
              </a:rPr>
              <a:t>a</a:t>
            </a:r>
            <a:r>
              <a:rPr lang="en-US" sz="2400" dirty="0">
                <a:latin typeface="Trebuchet MS" panose="020B0603020202020204" pitchFamily="34" charset="0"/>
              </a:rPr>
              <a:t> ∈</a:t>
            </a:r>
            <a:r>
              <a:rPr lang="en-US" altLang="zh-CN" sz="2400" b="1" kern="100" dirty="0">
                <a:latin typeface="Trebuchet MS" panose="020B0603020202020204" pitchFamily="34" charset="0"/>
                <a:ea typeface="+mn-ea"/>
                <a:cs typeface="Times New Roman" panose="02020603050405020304" pitchFamily="18" charset="0"/>
              </a:rPr>
              <a:t>[</a:t>
            </a:r>
            <a:r>
              <a:rPr lang="en-US" altLang="zh-CN" sz="2400" b="1" i="1" kern="100" dirty="0">
                <a:latin typeface="Trebuchet MS" panose="020B0603020202020204" pitchFamily="34" charset="0"/>
                <a:ea typeface="+mn-ea"/>
                <a:cs typeface="Times New Roman" panose="02020603050405020304" pitchFamily="18" charset="0"/>
              </a:rPr>
              <a:t>y</a:t>
            </a:r>
            <a:r>
              <a:rPr lang="en-US" altLang="zh-CN" sz="2400" b="1" kern="100" dirty="0">
                <a:latin typeface="Trebuchet MS" panose="020B0603020202020204" pitchFamily="34" charset="0"/>
                <a:ea typeface="+mn-ea"/>
                <a:cs typeface="Times New Roman" panose="02020603050405020304" pitchFamily="18" charset="0"/>
              </a:rPr>
              <a:t>].</a:t>
            </a:r>
            <a:r>
              <a:rPr lang="en-US" sz="2400" dirty="0">
                <a:latin typeface="Trebuchet MS" panose="020B0603020202020204" pitchFamily="34" charset="0"/>
              </a:rPr>
              <a:t> This proves that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zh-CN"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kern="100" dirty="0">
                <a:effectLst/>
                <a:latin typeface="Trebuchet MS" panose="020B0603020202020204" pitchFamily="34" charset="0"/>
                <a:ea typeface="+mn-ea"/>
                <a:cs typeface="Times New Roman" panose="02020603050405020304" pitchFamily="18" charset="0"/>
              </a:rPr>
              <a:t>.</a:t>
            </a:r>
            <a:endParaRPr lang="zh-CN" altLang="zh-CN" sz="2400" b="1" kern="100" dirty="0">
              <a:effectLst/>
              <a:latin typeface="Trebuchet MS" panose="020B0603020202020204" pitchFamily="34" charset="0"/>
              <a:ea typeface="+mn-ea"/>
              <a:cs typeface="Times New Roman" panose="02020603050405020304" pitchFamily="18" charset="0"/>
            </a:endParaRPr>
          </a:p>
          <a:p>
            <a:pPr indent="354013" eaLnBrk="1" hangingPunct="1">
              <a:lnSpc>
                <a:spcPct val="120000"/>
              </a:lnSpc>
              <a:buNone/>
            </a:pPr>
            <a:r>
              <a:rPr lang="en-US" sz="2400" dirty="0">
                <a:latin typeface="Trebuchet MS" panose="020B0603020202020204" pitchFamily="34" charset="0"/>
              </a:rPr>
              <a:t>Similarly, we can prove that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 </a:t>
            </a:r>
            <a:r>
              <a:rPr lang="en-US" sz="2400" dirty="0">
                <a:latin typeface="Trebuchet MS" panose="020B0603020202020204" pitchFamily="34" charset="0"/>
              </a:rPr>
              <a:t>Therefore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p>
          <a:p>
            <a:pPr>
              <a:lnSpc>
                <a:spcPct val="120000"/>
              </a:lnSpc>
              <a:buNone/>
            </a:pPr>
            <a:endParaRPr lang="zh-CN" altLang="en-US" sz="24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1064131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anim calcmode="lin" valueType="num">
                                      <p:cBhvr>
                                        <p:cTn id="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fade">
                                      <p:cBhvr>
                                        <p:cTn id="21" dur="1000"/>
                                        <p:tgtEl>
                                          <p:spTgt spid="15">
                                            <p:txEl>
                                              <p:pRg st="3" end="3"/>
                                            </p:txEl>
                                          </p:spTgt>
                                        </p:tgtEl>
                                      </p:cBhvr>
                                    </p:animEffect>
                                    <p:anim calcmode="lin" valueType="num">
                                      <p:cBhvr>
                                        <p:cTn id="22"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4" end="4"/>
                                            </p:txEl>
                                          </p:spTgt>
                                        </p:tgtEl>
                                        <p:attrNameLst>
                                          <p:attrName>style.visibility</p:attrName>
                                        </p:attrNameLst>
                                      </p:cBhvr>
                                      <p:to>
                                        <p:strVal val="visible"/>
                                      </p:to>
                                    </p:set>
                                    <p:animEffect transition="in" filter="fade">
                                      <p:cBhvr>
                                        <p:cTn id="28" dur="1000"/>
                                        <p:tgtEl>
                                          <p:spTgt spid="15">
                                            <p:txEl>
                                              <p:pRg st="4" end="4"/>
                                            </p:txEl>
                                          </p:spTgt>
                                        </p:tgtEl>
                                      </p:cBhvr>
                                    </p:animEffect>
                                    <p:anim calcmode="lin" valueType="num">
                                      <p:cBhvr>
                                        <p:cTn id="29"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the Partition Theorem of Equivalence Classes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r>
              <a:rPr lang="en-US" altLang="zh-CN" sz="1800"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3" y="849762"/>
            <a:ext cx="9683207" cy="3996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buClr>
                <a:srgbClr val="0B5BFF"/>
              </a:buClr>
              <a:buSzPct val="80000"/>
              <a:buFont typeface="Wingdings" panose="05000000000000000000" pitchFamily="2" charset="2"/>
              <a:buChar char="n"/>
            </a:pPr>
            <a:r>
              <a:rPr lang="en-US" sz="2400" b="1" i="0" dirty="0">
                <a:effectLst/>
                <a:latin typeface="Trebuchet MS" panose="020B0603020202020204" pitchFamily="34" charset="0"/>
              </a:rPr>
              <a:t>Theorem </a:t>
            </a:r>
            <a:r>
              <a:rPr lang="en-US" altLang="zh-CN" sz="2400" b="1" dirty="0">
                <a:latin typeface="Trebuchet MS" panose="020B0603020202020204" pitchFamily="34" charset="0"/>
              </a:rPr>
              <a:t>4.8</a:t>
            </a:r>
            <a:r>
              <a:rPr lang="en-US" altLang="zh-CN" sz="2400" b="1" dirty="0">
                <a:solidFill>
                  <a:srgbClr val="0B5BFF"/>
                </a:solidFill>
                <a:latin typeface="Trebuchet MS" panose="020B0603020202020204" pitchFamily="34" charset="0"/>
              </a:rPr>
              <a:t>(3)</a:t>
            </a:r>
            <a:r>
              <a:rPr lang="en-US" altLang="zh-CN" sz="2400" b="1" dirty="0">
                <a:latin typeface="Trebuchet MS" panose="020B0603020202020204" pitchFamily="34" charset="0"/>
              </a:rPr>
              <a:t>:</a:t>
            </a:r>
            <a:r>
              <a:rPr lang="en-US" altLang="zh-CN" sz="2400" b="1" dirty="0">
                <a:solidFill>
                  <a:srgbClr val="FF0000"/>
                </a:solidFill>
                <a:latin typeface="Trebuchet MS" panose="020B0603020202020204" pitchFamily="34" charset="0"/>
              </a:rPr>
              <a:t>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a:latin typeface="Trebuchet MS" panose="020B0603020202020204" pitchFamily="34" charset="0"/>
              </a:rPr>
              <a:t>, if</a:t>
            </a:r>
            <a:r>
              <a:rPr lang="zh-CN" altLang="en-US" sz="2400" b="1" dirty="0">
                <a:latin typeface="Trebuchet MS" panose="020B0603020202020204" pitchFamily="34" charset="0"/>
              </a:rPr>
              <a:t> </a:t>
            </a:r>
            <a:r>
              <a:rPr lang="en-US" altLang="zh-CN" sz="2400" b="1" i="1" dirty="0">
                <a:latin typeface="Trebuchet MS" panose="020B0603020202020204" pitchFamily="34" charset="0"/>
              </a:rPr>
              <a:t>x    y</a:t>
            </a:r>
            <a:r>
              <a:rPr lang="en-US" altLang="zh-CN" sz="2400" b="1" dirty="0">
                <a:latin typeface="Trebuchet MS" panose="020B0603020202020204" pitchFamily="34" charset="0"/>
              </a:rPr>
              <a:t>, then</a:t>
            </a:r>
            <a:r>
              <a:rPr lang="zh-CN" altLang="en-US" sz="2400" b="1"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sz="2400" b="0" i="0" dirty="0">
                <a:effectLst/>
                <a:latin typeface="Trebuchet MS" panose="020B0603020202020204" pitchFamily="34" charset="0"/>
              </a:rPr>
              <a:t> and </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sz="2400" b="0" i="0" dirty="0">
                <a:effectLst/>
                <a:latin typeface="Trebuchet MS" panose="020B0603020202020204" pitchFamily="34" charset="0"/>
              </a:rPr>
              <a:t> are disjoint</a:t>
            </a:r>
            <a:r>
              <a:rPr lang="en-US" altLang="zh-CN" sz="2400" b="1" dirty="0">
                <a:latin typeface="Trebuchet MS" panose="020B0603020202020204" pitchFamily="34" charset="0"/>
              </a:rPr>
              <a:t>.</a:t>
            </a:r>
          </a:p>
          <a:p>
            <a:pPr marL="354013">
              <a:lnSpc>
                <a:spcPct val="120000"/>
              </a:lnSpc>
              <a:buClr>
                <a:srgbClr val="0B5BFF"/>
              </a:buClr>
              <a:buSzPct val="80000"/>
              <a:buNone/>
            </a:pPr>
            <a:r>
              <a:rPr lang="en-US" sz="2400" b="1" i="0" dirty="0">
                <a:solidFill>
                  <a:srgbClr val="0C0D0E"/>
                </a:solidFill>
                <a:effectLst/>
                <a:latin typeface="Trebuchet MS" panose="020B0603020202020204" pitchFamily="34" charset="0"/>
              </a:rPr>
              <a:t>Proof: </a:t>
            </a:r>
          </a:p>
          <a:p>
            <a:pPr marL="354013">
              <a:lnSpc>
                <a:spcPct val="120000"/>
              </a:lnSpc>
              <a:buClr>
                <a:srgbClr val="0B5BFF"/>
              </a:buClr>
              <a:buSzPct val="80000"/>
              <a:buNone/>
            </a:pPr>
            <a:r>
              <a:rPr lang="en-US" sz="2400" b="0" i="0" dirty="0">
                <a:solidFill>
                  <a:srgbClr val="0C0D0E"/>
                </a:solidFill>
                <a:effectLst/>
                <a:latin typeface="Trebuchet MS" panose="020B0603020202020204" pitchFamily="34" charset="0"/>
              </a:rPr>
              <a:t>Suppose </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rPr>
              <a:t>, </a:t>
            </a:r>
            <a:r>
              <a:rPr lang="en-US" altLang="zh-CN" sz="2400" dirty="0">
                <a:solidFill>
                  <a:srgbClr val="0C0D0E"/>
                </a:solidFill>
                <a:latin typeface="Trebuchet MS" panose="020B0603020202020204" pitchFamily="34" charset="0"/>
              </a:rPr>
              <a:t>t</a:t>
            </a:r>
            <a:r>
              <a:rPr lang="en-US" sz="2400" b="0" i="0" dirty="0">
                <a:solidFill>
                  <a:srgbClr val="0C0D0E"/>
                </a:solidFill>
                <a:effectLst/>
                <a:latin typeface="Trebuchet MS" panose="020B0603020202020204" pitchFamily="34" charset="0"/>
              </a:rPr>
              <a:t>hen there exists an element</a:t>
            </a:r>
            <a:r>
              <a:rPr lang="zh-CN" altLang="en-US" sz="2400" b="1" i="0" dirty="0">
                <a:effectLst/>
                <a:latin typeface="Trebuchet MS" panose="020B0603020202020204" pitchFamily="34" charset="0"/>
              </a:rPr>
              <a:t> </a:t>
            </a:r>
            <a:r>
              <a:rPr lang="en-US" altLang="zh-CN" sz="2400" b="1" i="1" dirty="0">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r>
              <a:rPr lang="en-US" sz="2400" b="0" i="0" dirty="0">
                <a:solidFill>
                  <a:srgbClr val="0C0D0E"/>
                </a:solidFill>
                <a:effectLst/>
                <a:latin typeface="Trebuchet MS" panose="020B0603020202020204" pitchFamily="34" charset="0"/>
              </a:rPr>
              <a:t>which implies  </a:t>
            </a:r>
            <a:r>
              <a:rPr lang="en-US" altLang="zh-CN" sz="2400" b="1" i="1" dirty="0">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 </a:t>
            </a:r>
            <a:r>
              <a:rPr lang="en-US" altLang="zh-CN" sz="2400" b="1" dirty="0">
                <a:latin typeface="Trebuchet MS" panose="020B0603020202020204" pitchFamily="34" charset="0"/>
              </a:rPr>
              <a:t>then</a:t>
            </a:r>
            <a:r>
              <a:rPr lang="zh-CN" altLang="en-US" sz="2400" b="1" dirty="0">
                <a:latin typeface="Trebuchet MS" panose="020B0603020202020204" pitchFamily="34" charset="0"/>
              </a:rPr>
              <a:t> </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&gt;∈</a:t>
            </a: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y</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z</a:t>
            </a:r>
            <a:r>
              <a:rPr lang="en-US" altLang="zh-CN" sz="2400" b="1" dirty="0">
                <a:solidFill>
                  <a:schemeClr val="tx1"/>
                </a:solidFill>
                <a:latin typeface="Trebuchet MS" panose="020B0603020202020204" pitchFamily="34" charset="0"/>
              </a:rPr>
              <a:t>&gt;∈</a:t>
            </a:r>
            <a:r>
              <a:rPr lang="en-US" altLang="zh-CN" sz="2400" b="1" i="1" dirty="0">
                <a:solidFill>
                  <a:schemeClr val="tx1"/>
                </a:solidFill>
                <a:latin typeface="Trebuchet MS" panose="020B0603020202020204" pitchFamily="34" charset="0"/>
              </a:rPr>
              <a:t>R </a:t>
            </a:r>
            <a:r>
              <a:rPr lang="en-US" altLang="zh-CN" sz="2400" b="1" i="1" dirty="0">
                <a:latin typeface="Trebuchet MS" panose="020B0603020202020204" pitchFamily="34" charset="0"/>
              </a:rPr>
              <a:t>holds</a:t>
            </a:r>
            <a:r>
              <a:rPr lang="en-US" altLang="zh-CN" sz="2400" b="1" dirty="0">
                <a:solidFill>
                  <a:schemeClr val="tx1"/>
                </a:solidFill>
                <a:latin typeface="Trebuchet MS" panose="020B0603020202020204" pitchFamily="34" charset="0"/>
              </a:rPr>
              <a:t>. </a:t>
            </a:r>
          </a:p>
          <a:p>
            <a:pPr marL="982663" indent="-628650" eaLnBrk="1" hangingPunct="1">
              <a:lnSpc>
                <a:spcPct val="120000"/>
              </a:lnSpc>
              <a:buNone/>
            </a:pPr>
            <a:r>
              <a:rPr lang="en-US" sz="2400" b="0" i="0" dirty="0">
                <a:solidFill>
                  <a:srgbClr val="0C0D0E"/>
                </a:solidFill>
                <a:effectLst/>
                <a:latin typeface="Trebuchet MS" panose="020B0603020202020204" pitchFamily="34" charset="0"/>
              </a:rPr>
              <a:t>By the </a:t>
            </a:r>
            <a:r>
              <a:rPr lang="en-US" sz="2400" b="1" i="0" dirty="0">
                <a:solidFill>
                  <a:srgbClr val="0C0D0E"/>
                </a:solidFill>
                <a:effectLst/>
                <a:latin typeface="Trebuchet MS" panose="020B0603020202020204" pitchFamily="34" charset="0"/>
              </a:rPr>
              <a:t>transitivity</a:t>
            </a:r>
            <a:r>
              <a:rPr lang="en-US" sz="2400" b="0" i="0" dirty="0">
                <a:solidFill>
                  <a:srgbClr val="0C0D0E"/>
                </a:solidFill>
                <a:effectLst/>
                <a:latin typeface="Trebuchet MS" panose="020B0603020202020204" pitchFamily="34" charset="0"/>
              </a:rPr>
              <a:t> and </a:t>
            </a:r>
            <a:r>
              <a:rPr lang="en-US" sz="2400" b="1" i="0" dirty="0">
                <a:solidFill>
                  <a:srgbClr val="0C0D0E"/>
                </a:solidFill>
                <a:effectLst/>
                <a:latin typeface="Trebuchet MS" panose="020B0603020202020204" pitchFamily="34" charset="0"/>
              </a:rPr>
              <a:t>symmetry</a:t>
            </a:r>
            <a:r>
              <a:rPr lang="en-US" sz="2400" b="0" i="0" dirty="0">
                <a:solidFill>
                  <a:srgbClr val="0C0D0E"/>
                </a:solidFill>
                <a:effectLst/>
                <a:latin typeface="Trebuchet MS" panose="020B0603020202020204" pitchFamily="34" charset="0"/>
              </a:rPr>
              <a:t> of </a:t>
            </a:r>
            <a:r>
              <a:rPr lang="en-US" altLang="zh-CN" sz="2400" b="1" i="1" dirty="0">
                <a:solidFill>
                  <a:schemeClr val="tx1"/>
                </a:solidFill>
                <a:latin typeface="Trebuchet MS" panose="020B0603020202020204" pitchFamily="34" charset="0"/>
              </a:rPr>
              <a:t>R, then </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y</a:t>
            </a:r>
            <a:r>
              <a:rPr lang="en-US" altLang="zh-CN" sz="2400" b="1" dirty="0">
                <a:solidFill>
                  <a:schemeClr val="tx1"/>
                </a:solidFill>
                <a:latin typeface="Trebuchet MS" panose="020B0603020202020204" pitchFamily="34" charset="0"/>
              </a:rPr>
              <a:t>&gt;∈</a:t>
            </a: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 </a:t>
            </a:r>
            <a:r>
              <a:rPr lang="en-US" altLang="zh-CN" sz="2400" b="1" dirty="0">
                <a:latin typeface="Trebuchet MS" panose="020B0603020202020204" pitchFamily="34" charset="0"/>
              </a:rPr>
              <a:t>contradicted to </a:t>
            </a:r>
            <a:r>
              <a:rPr lang="en-US" altLang="zh-CN" sz="2400" b="1" i="1" dirty="0">
                <a:solidFill>
                  <a:schemeClr val="tx1"/>
                </a:solidFill>
                <a:latin typeface="Trebuchet MS" panose="020B0603020202020204" pitchFamily="34" charset="0"/>
              </a:rPr>
              <a:t>x   y.</a:t>
            </a:r>
          </a:p>
          <a:p>
            <a:pPr marL="982663" indent="-628650" eaLnBrk="1" hangingPunct="1">
              <a:lnSpc>
                <a:spcPct val="120000"/>
              </a:lnSpc>
              <a:buNone/>
            </a:pPr>
            <a:endParaRPr lang="en-US" altLang="zh-CN" sz="2400" b="1" dirty="0">
              <a:solidFill>
                <a:schemeClr val="tx1"/>
              </a:solidFill>
              <a:latin typeface="Trebuchet MS" panose="020B0603020202020204" pitchFamily="34" charset="0"/>
            </a:endParaRPr>
          </a:p>
          <a:p>
            <a:pPr eaLnBrk="1" hangingPunct="1">
              <a:lnSpc>
                <a:spcPct val="120000"/>
              </a:lnSpc>
              <a:buNone/>
            </a:pPr>
            <a:endParaRPr lang="en-US" altLang="zh-CN" sz="2400" b="1" dirty="0">
              <a:latin typeface="Trebuchet MS" panose="020B0603020202020204" pitchFamily="34" charset="0"/>
            </a:endParaRPr>
          </a:p>
          <a:p>
            <a:pPr eaLnBrk="1" hangingPunct="1">
              <a:lnSpc>
                <a:spcPct val="120000"/>
              </a:lnSpc>
              <a:buNone/>
            </a:pPr>
            <a:endParaRPr lang="zh-CN" altLang="en-US" sz="2400" b="1" dirty="0">
              <a:solidFill>
                <a:schemeClr val="tx1"/>
              </a:solidFill>
              <a:latin typeface="Trebuchet MS" panose="020B0603020202020204" pitchFamily="34" charset="0"/>
            </a:endParaRPr>
          </a:p>
        </p:txBody>
      </p:sp>
      <p:pic>
        <p:nvPicPr>
          <p:cNvPr id="25" name="Picture 9" descr="图形2">
            <a:extLst>
              <a:ext uri="{FF2B5EF4-FFF2-40B4-BE49-F238E27FC236}">
                <a16:creationId xmlns:a16="http://schemas.microsoft.com/office/drawing/2014/main" id="{AE7867A7-151A-456A-942F-6886D3A4037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27174" y="965254"/>
            <a:ext cx="196436" cy="304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图形2">
            <a:extLst>
              <a:ext uri="{FF2B5EF4-FFF2-40B4-BE49-F238E27FC236}">
                <a16:creationId xmlns:a16="http://schemas.microsoft.com/office/drawing/2014/main" id="{CA15EFD8-9AD9-4FA3-A498-356D5772CFF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23349" y="3384297"/>
            <a:ext cx="200111" cy="31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3179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1000"/>
                                        <p:tgtEl>
                                          <p:spTgt spid="15">
                                            <p:txEl>
                                              <p:pRg st="3" end="3"/>
                                            </p:txEl>
                                          </p:spTgt>
                                        </p:tgtEl>
                                      </p:cBhvr>
                                    </p:animEffect>
                                    <p:anim calcmode="lin" valueType="num">
                                      <p:cBhvr>
                                        <p:cTn id="8"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Proof of the Partition Theorem of Equivalence Classes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cont</a:t>
            </a:r>
            <a:r>
              <a:rPr lang="en-US" altLang="zh-CN" sz="1800" kern="100" dirty="0">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68732"/>
                <a:ext cx="9006479" cy="50596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369888">
                  <a:lnSpc>
                    <a:spcPct val="120000"/>
                  </a:lnSpc>
                  <a:buClr>
                    <a:srgbClr val="0B5BFF"/>
                  </a:buClr>
                  <a:buSzPct val="80000"/>
                  <a:buFont typeface="Wingdings" panose="05000000000000000000" pitchFamily="2" charset="2"/>
                  <a:buChar char="n"/>
                </a:pPr>
                <a:r>
                  <a:rPr lang="en-US" altLang="zh-CN" sz="2400" b="1" i="0" dirty="0">
                    <a:effectLst/>
                    <a:latin typeface="Trebuchet MS" panose="020B0603020202020204" pitchFamily="34" charset="0"/>
                  </a:rPr>
                  <a:t>Theorem </a:t>
                </a:r>
                <a:r>
                  <a:rPr lang="en-US" altLang="zh-CN" b="1" dirty="0">
                    <a:latin typeface="Trebuchet MS" panose="020B0603020202020204" pitchFamily="34" charset="0"/>
                    <a:ea typeface="宋体" panose="02010600030101010101" pitchFamily="2" charset="-122"/>
                  </a:rPr>
                  <a:t>4.8</a:t>
                </a:r>
                <a:r>
                  <a:rPr lang="en-US" altLang="zh-CN" b="1" dirty="0">
                    <a:solidFill>
                      <a:srgbClr val="0B5BFF"/>
                    </a:solidFill>
                    <a:latin typeface="Trebuchet MS" panose="020B0603020202020204" pitchFamily="34" charset="0"/>
                    <a:ea typeface="宋体" panose="02010600030101010101" pitchFamily="2" charset="-122"/>
                  </a:rPr>
                  <a:t>(4)</a:t>
                </a:r>
                <a:r>
                  <a:rPr lang="en-US" altLang="zh-CN" b="1" dirty="0">
                    <a:latin typeface="Trebuchet MS" panose="020B0603020202020204" pitchFamily="34" charset="0"/>
                    <a:ea typeface="宋体" panose="02010600030101010101" pitchFamily="2" charset="-122"/>
                  </a:rPr>
                  <a:t>:</a:t>
                </a:r>
              </a:p>
              <a:p>
                <a:pPr marL="87312" lvl="1" indent="0">
                  <a:lnSpc>
                    <a:spcPct val="120000"/>
                  </a:lnSpc>
                  <a:buClr>
                    <a:srgbClr val="0B5BFF"/>
                  </a:buClr>
                  <a:buSzPct val="80000"/>
                  <a:buNone/>
                </a:pPr>
                <a:r>
                  <a:rPr lang="en-US" altLang="zh-CN" b="1" dirty="0">
                    <a:latin typeface="Trebuchet MS" panose="020B0603020202020204" pitchFamily="34" charset="0"/>
                    <a:ea typeface="宋体" panose="02010600030101010101" pitchFamily="2" charset="-122"/>
                  </a:rPr>
                  <a:t>               , </a:t>
                </a:r>
                <a:r>
                  <a:rPr lang="en-US" altLang="zh-CN" dirty="0">
                    <a:latin typeface="Trebuchet MS" panose="020B0603020202020204" pitchFamily="34" charset="0"/>
                  </a:rPr>
                  <a:t>the union of all equivalence classes is </a:t>
                </a:r>
                <a:r>
                  <a:rPr lang="en-US" altLang="zh-CN" b="1" i="1" dirty="0">
                    <a:latin typeface="Trebuchet MS" panose="020B0603020202020204" pitchFamily="34" charset="0"/>
                  </a:rPr>
                  <a:t>A</a:t>
                </a:r>
                <a:r>
                  <a:rPr lang="en-US" altLang="zh-CN" b="1" dirty="0">
                    <a:latin typeface="Trebuchet MS" panose="020B0603020202020204" pitchFamily="34" charset="0"/>
                  </a:rPr>
                  <a:t>.</a:t>
                </a:r>
              </a:p>
              <a:p>
                <a:pPr marL="428625" lvl="1" indent="-73025">
                  <a:lnSpc>
                    <a:spcPct val="120000"/>
                  </a:lnSpc>
                  <a:buClr>
                    <a:srgbClr val="0B5BFF"/>
                  </a:buClr>
                  <a:buSzPct val="120000"/>
                </a:pPr>
                <a:r>
                  <a:rPr lang="en-US" altLang="zh-CN" b="1" dirty="0">
                    <a:latin typeface="Trebuchet MS" panose="020B0603020202020204" pitchFamily="34" charset="0"/>
                  </a:rPr>
                  <a:t> Proof1: </a:t>
                </a:r>
                <a14:m>
                  <m:oMath xmlns:m="http://schemas.openxmlformats.org/officeDocument/2006/math">
                    <m:nary>
                      <m:naryPr>
                        <m:chr m:val="⋃"/>
                        <m:supHide m:val="on"/>
                        <m:ctrlPr>
                          <a:rPr lang="zh-CN" altLang="en-US" sz="2400" b="1" i="1" smtClean="0">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d>
                          <m:dPr>
                            <m:begChr m:val="["/>
                            <m:endChr m:val="]"/>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𝒙</m:t>
                            </m:r>
                          </m:e>
                        </m:d>
                        <m:r>
                          <a:rPr lang="zh-CN" altLang="en-US"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𝑨</m:t>
                        </m:r>
                        <m:r>
                          <a:rPr lang="en-US" altLang="zh-CN" sz="2400" b="1" i="1" smtClean="0">
                            <a:solidFill>
                              <a:srgbClr val="000000"/>
                            </a:solidFill>
                            <a:latin typeface="Cambria Math" panose="02040503050406030204" pitchFamily="18" charset="0"/>
                          </a:rPr>
                          <m:t> ,</m:t>
                        </m:r>
                        <m:r>
                          <m:rPr>
                            <m:nor/>
                          </m:rPr>
                          <a:rPr lang="en-US" altLang="zh-CN" dirty="0">
                            <a:latin typeface="Trebuchet MS" panose="020B0603020202020204" pitchFamily="34" charset="0"/>
                          </a:rPr>
                          <m:t>For</m:t>
                        </m:r>
                        <m:r>
                          <m:rPr>
                            <m:nor/>
                          </m:rPr>
                          <a:rPr lang="zh-CN" altLang="en-US" dirty="0">
                            <a:latin typeface="Trebuchet MS" panose="020B0603020202020204" pitchFamily="34" charset="0"/>
                          </a:rPr>
                          <m:t> </m:t>
                        </m:r>
                        <m:r>
                          <m:rPr>
                            <m:nor/>
                          </m:rPr>
                          <a:rPr lang="en-US" altLang="zh-CN" dirty="0">
                            <a:latin typeface="Trebuchet MS" panose="020B0603020202020204" pitchFamily="34" charset="0"/>
                          </a:rPr>
                          <m:t>any</m:t>
                        </m:r>
                        <m:r>
                          <m:rPr>
                            <m:nor/>
                          </m:rPr>
                          <a:rPr lang="zh-CN" altLang="en-US" dirty="0">
                            <a:latin typeface="Trebuchet MS" panose="020B0603020202020204" pitchFamily="34" charset="0"/>
                          </a:rPr>
                          <m:t> </m:t>
                        </m:r>
                        <m:r>
                          <m:rPr>
                            <m:nor/>
                          </m:rPr>
                          <a:rPr lang="en-US" altLang="zh-CN" b="1" i="1" dirty="0">
                            <a:latin typeface="Trebuchet MS" panose="020B0603020202020204" pitchFamily="34" charset="0"/>
                          </a:rPr>
                          <m:t>y</m:t>
                        </m:r>
                        <m:r>
                          <m:rPr>
                            <m:nor/>
                          </m:rPr>
                          <a:rPr lang="en-US" altLang="zh-CN" b="1" i="1" dirty="0" smtClean="0">
                            <a:latin typeface="Trebuchet MS" panose="020B0603020202020204" pitchFamily="34" charset="0"/>
                          </a:rPr>
                          <m:t>.</m:t>
                        </m:r>
                      </m:e>
                    </m:nary>
                  </m:oMath>
                </a14:m>
                <a:endParaRPr lang="en-US" altLang="zh-CN" b="1" dirty="0">
                  <a:latin typeface="Trebuchet MS" panose="020B0603020202020204" pitchFamily="34" charset="0"/>
                  <a:ea typeface="宋体" panose="02010600030101010101" pitchFamily="2" charset="-122"/>
                </a:endParaRPr>
              </a:p>
              <a:p>
                <a:pPr marL="428625" lvl="1" indent="-73025">
                  <a:lnSpc>
                    <a:spcPct val="120000"/>
                  </a:lnSpc>
                  <a:buClr>
                    <a:srgbClr val="0B5BFF"/>
                  </a:buClr>
                  <a:buSzPct val="120000"/>
                </a:pPr>
                <a:endParaRPr lang="en-US" altLang="zh-CN" b="1" dirty="0">
                  <a:latin typeface="Trebuchet MS" panose="020B0603020202020204" pitchFamily="34" charset="0"/>
                  <a:ea typeface="宋体" panose="02010600030101010101" pitchFamily="2" charset="-122"/>
                </a:endParaRPr>
              </a:p>
              <a:p>
                <a:pPr marL="457200" lvl="1" indent="-369888">
                  <a:buNone/>
                </a:pPr>
                <a:endParaRPr lang="en-US" altLang="zh-CN" b="1" dirty="0">
                  <a:latin typeface="Trebuchet MS" panose="020B0603020202020204" pitchFamily="34" charset="0"/>
                  <a:ea typeface="宋体" panose="02010600030101010101" pitchFamily="2" charset="-122"/>
                </a:endParaRPr>
              </a:p>
              <a:p>
                <a:pPr marL="457200" lvl="1" indent="-369888">
                  <a:buNone/>
                </a:pPr>
                <a:r>
                  <a:rPr lang="en-US" altLang="zh-CN" b="1" dirty="0">
                    <a:latin typeface="Trebuchet MS" panose="020B0603020202020204" pitchFamily="34" charset="0"/>
                    <a:ea typeface="宋体" panose="02010600030101010101" pitchFamily="2" charset="-122"/>
                  </a:rPr>
                  <a:t>                                              </a:t>
                </a:r>
              </a:p>
              <a:p>
                <a:pPr marL="457200" lvl="1" indent="-101600">
                  <a:buClr>
                    <a:srgbClr val="0B5BFF"/>
                  </a:buClr>
                  <a:buSzPct val="120000"/>
                </a:pPr>
                <a:r>
                  <a:rPr lang="en-US" altLang="zh-CN" b="1" dirty="0">
                    <a:latin typeface="Trebuchet MS" panose="020B0603020202020204" pitchFamily="34" charset="0"/>
                  </a:rPr>
                  <a:t> Proof2: </a:t>
                </a:r>
                <a14:m>
                  <m:oMath xmlns:m="http://schemas.openxmlformats.org/officeDocument/2006/math">
                    <m:r>
                      <a:rPr lang="en-US" altLang="zh-CN" sz="2400" b="1" i="1" smtClean="0">
                        <a:solidFill>
                          <a:srgbClr val="000000"/>
                        </a:solidFill>
                        <a:latin typeface="Cambria Math" panose="02040503050406030204" pitchFamily="18" charset="0"/>
                      </a:rPr>
                      <m:t>𝑨</m:t>
                    </m:r>
                    <m:r>
                      <a:rPr lang="en-US" altLang="zh-CN" sz="2400" b="1" i="1" smtClean="0">
                        <a:solidFill>
                          <a:srgbClr val="000000"/>
                        </a:solidFill>
                        <a:latin typeface="Cambria Math" panose="02040503050406030204" pitchFamily="18" charset="0"/>
                        <a:ea typeface="Cambria Math" panose="02040503050406030204" pitchFamily="18" charset="0"/>
                      </a:rPr>
                      <m:t>∈</m:t>
                    </m:r>
                    <m:nary>
                      <m:naryPr>
                        <m:chr m:val="⋃"/>
                        <m:supHide m:val="on"/>
                        <m:ctrlPr>
                          <a:rPr lang="zh-CN" altLang="en-US" sz="2400" b="1" i="1" smtClean="0">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d>
                          <m:dPr>
                            <m:begChr m:val="["/>
                            <m:endChr m:val="]"/>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𝒙</m:t>
                            </m:r>
                          </m:e>
                        </m:d>
                        <m:r>
                          <a:rPr lang="en-US" altLang="zh-CN" sz="2400" b="1" i="1" smtClean="0">
                            <a:solidFill>
                              <a:srgbClr val="000000"/>
                            </a:solidFill>
                            <a:latin typeface="Cambria Math" panose="02040503050406030204" pitchFamily="18" charset="0"/>
                          </a:rPr>
                          <m:t>  ,</m:t>
                        </m:r>
                        <m:r>
                          <m:rPr>
                            <m:nor/>
                          </m:rPr>
                          <a:rPr lang="en-US" altLang="zh-CN" dirty="0">
                            <a:latin typeface="Trebuchet MS" panose="020B0603020202020204" pitchFamily="34" charset="0"/>
                          </a:rPr>
                          <m:t>For</m:t>
                        </m:r>
                        <m:r>
                          <m:rPr>
                            <m:nor/>
                          </m:rPr>
                          <a:rPr lang="zh-CN" altLang="en-US" dirty="0">
                            <a:latin typeface="Trebuchet MS" panose="020B0603020202020204" pitchFamily="34" charset="0"/>
                          </a:rPr>
                          <m:t> </m:t>
                        </m:r>
                        <m:r>
                          <m:rPr>
                            <m:nor/>
                          </m:rPr>
                          <a:rPr lang="en-US" altLang="zh-CN" dirty="0">
                            <a:latin typeface="Trebuchet MS" panose="020B0603020202020204" pitchFamily="34" charset="0"/>
                          </a:rPr>
                          <m:t>any</m:t>
                        </m:r>
                        <m:r>
                          <m:rPr>
                            <m:nor/>
                          </m:rPr>
                          <a:rPr lang="zh-CN" altLang="en-US" dirty="0">
                            <a:latin typeface="Trebuchet MS" panose="020B0603020202020204" pitchFamily="34" charset="0"/>
                          </a:rPr>
                          <m:t> </m:t>
                        </m:r>
                        <m:r>
                          <m:rPr>
                            <m:nor/>
                          </m:rPr>
                          <a:rPr lang="en-US" altLang="zh-CN" b="1" i="1" dirty="0">
                            <a:latin typeface="Trebuchet MS" panose="020B0603020202020204" pitchFamily="34" charset="0"/>
                          </a:rPr>
                          <m:t>y</m:t>
                        </m:r>
                        <m:r>
                          <m:rPr>
                            <m:nor/>
                          </m:rPr>
                          <a:rPr lang="en-US" altLang="zh-CN" b="1" i="1" dirty="0" smtClean="0">
                            <a:latin typeface="Trebuchet MS" panose="020B0603020202020204" pitchFamily="34" charset="0"/>
                          </a:rPr>
                          <m:t>.</m:t>
                        </m:r>
                      </m:e>
                    </m:nary>
                  </m:oMath>
                </a14:m>
                <a:endParaRPr lang="en-US" altLang="zh-CN" sz="2400" b="1" i="1" dirty="0">
                  <a:solidFill>
                    <a:schemeClr val="tx1"/>
                  </a:solidFill>
                  <a:latin typeface="Trebuchet MS" panose="020B0603020202020204" pitchFamily="34" charset="0"/>
                  <a:ea typeface="宋体" panose="02010600030101010101" pitchFamily="2" charset="-122"/>
                </a:endParaRPr>
              </a:p>
              <a:p>
                <a:pPr marL="355600" lvl="1" indent="0">
                  <a:buClr>
                    <a:srgbClr val="0B5BFF"/>
                  </a:buClr>
                  <a:buSzPct val="120000"/>
                  <a:buNone/>
                </a:pPr>
                <a:endParaRPr lang="en-US" altLang="zh-CN" sz="2400" b="1" i="1" dirty="0">
                  <a:solidFill>
                    <a:schemeClr val="tx1"/>
                  </a:solidFill>
                  <a:latin typeface="Trebuchet MS" panose="020B0603020202020204" pitchFamily="34" charset="0"/>
                  <a:ea typeface="宋体" panose="02010600030101010101" pitchFamily="2" charset="-122"/>
                </a:endParaRPr>
              </a:p>
            </p:txBody>
          </p:sp>
        </mc:Choice>
        <mc:Fallback xmlns="">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1000125" y="868732"/>
                <a:ext cx="9006479" cy="5059602"/>
              </a:xfrm>
              <a:prstGeom prst="rect">
                <a:avLst/>
              </a:prstGeom>
              <a:blipFill>
                <a:blip r:embed="rId5"/>
                <a:stretch>
                  <a:fillRect t="-3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B43F9A37-C35D-4008-BBA8-E93AABC6C340}"/>
                  </a:ext>
                </a:extLst>
              </p:cNvPr>
              <p:cNvSpPr txBox="1"/>
              <p:nvPr/>
            </p:nvSpPr>
            <p:spPr>
              <a:xfrm>
                <a:off x="1549335" y="1309036"/>
                <a:ext cx="1255615" cy="683393"/>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lang="zh-CN" altLang="en-US" sz="1600" b="1" i="1" smtClean="0">
                              <a:solidFill>
                                <a:srgbClr val="000000"/>
                              </a:solidFill>
                              <a:latin typeface="Cambria Math" panose="02040503050406030204" pitchFamily="18" charset="0"/>
                            </a:rPr>
                          </m:ctrlPr>
                        </m:naryPr>
                        <m:sub>
                          <m:r>
                            <a:rPr lang="zh-CN" altLang="en-US" sz="1600" b="1" i="1">
                              <a:solidFill>
                                <a:srgbClr val="000000"/>
                              </a:solidFill>
                              <a:latin typeface="Cambria Math" panose="02040503050406030204" pitchFamily="18" charset="0"/>
                            </a:rPr>
                            <m:t>𝒙</m:t>
                          </m:r>
                          <m:r>
                            <a:rPr lang="zh-CN" altLang="en-US" sz="1600" b="1" i="1">
                              <a:solidFill>
                                <a:srgbClr val="000000"/>
                              </a:solidFill>
                              <a:latin typeface="Cambria Math" panose="02040503050406030204" pitchFamily="18" charset="0"/>
                            </a:rPr>
                            <m:t>∈</m:t>
                          </m:r>
                          <m:r>
                            <a:rPr lang="zh-CN" altLang="en-US" sz="1600" b="1" i="1">
                              <a:solidFill>
                                <a:srgbClr val="000000"/>
                              </a:solidFill>
                              <a:latin typeface="Cambria Math" panose="02040503050406030204" pitchFamily="18" charset="0"/>
                            </a:rPr>
                            <m:t>𝑨</m:t>
                          </m:r>
                        </m:sub>
                        <m:sup/>
                        <m:e>
                          <m:d>
                            <m:dPr>
                              <m:begChr m:val="["/>
                              <m:endChr m:val="]"/>
                              <m:ctrlPr>
                                <a:rPr lang="zh-CN" altLang="en-US" sz="1600" b="1" i="1">
                                  <a:solidFill>
                                    <a:srgbClr val="000000"/>
                                  </a:solidFill>
                                  <a:latin typeface="Cambria Math" panose="02040503050406030204" pitchFamily="18" charset="0"/>
                                </a:rPr>
                              </m:ctrlPr>
                            </m:dPr>
                            <m:e>
                              <m:r>
                                <a:rPr lang="zh-CN" altLang="en-US" sz="1600" b="1" i="1">
                                  <a:solidFill>
                                    <a:srgbClr val="000000"/>
                                  </a:solidFill>
                                  <a:latin typeface="Cambria Math" panose="02040503050406030204" pitchFamily="18" charset="0"/>
                                </a:rPr>
                                <m:t>𝒙</m:t>
                              </m:r>
                            </m:e>
                          </m:d>
                          <m:r>
                            <a:rPr lang="en-US" altLang="zh-CN" sz="1600" b="1" i="1">
                              <a:solidFill>
                                <a:srgbClr val="000000"/>
                              </a:solidFill>
                              <a:latin typeface="Cambria Math" panose="02040503050406030204" pitchFamily="18" charset="0"/>
                            </a:rPr>
                            <m:t>=</m:t>
                          </m:r>
                          <m:r>
                            <a:rPr lang="en-US" altLang="zh-CN" sz="1600" b="1" i="1" smtClean="0">
                              <a:solidFill>
                                <a:srgbClr val="000000"/>
                              </a:solidFill>
                              <a:latin typeface="Cambria Math" panose="02040503050406030204" pitchFamily="18" charset="0"/>
                            </a:rPr>
                            <m:t>𝑨</m:t>
                          </m:r>
                        </m:e>
                      </m:nary>
                    </m:oMath>
                  </m:oMathPara>
                </a14:m>
                <a:endParaRPr lang="zh-CN" altLang="en-US" sz="1600" b="1" dirty="0">
                  <a:latin typeface="Trebuchet MS" panose="020B0603020202020204" pitchFamily="34" charset="0"/>
                </a:endParaRPr>
              </a:p>
            </p:txBody>
          </p:sp>
        </mc:Choice>
        <mc:Fallback xmlns="">
          <p:sp>
            <p:nvSpPr>
              <p:cNvPr id="3" name="对象 2">
                <a:extLst>
                  <a:ext uri="{FF2B5EF4-FFF2-40B4-BE49-F238E27FC236}">
                    <a16:creationId xmlns:a16="http://schemas.microsoft.com/office/drawing/2014/main" id="{B43F9A37-C35D-4008-BBA8-E93AABC6C340}"/>
                  </a:ext>
                </a:extLst>
              </p:cNvPr>
              <p:cNvSpPr txBox="1">
                <a:spLocks noRot="1" noChangeAspect="1" noMove="1" noResize="1" noEditPoints="1" noAdjustHandles="1" noChangeArrowheads="1" noChangeShapeType="1" noTextEdit="1"/>
              </p:cNvSpPr>
              <p:nvPr/>
            </p:nvSpPr>
            <p:spPr>
              <a:xfrm>
                <a:off x="1549335" y="1309036"/>
                <a:ext cx="1255615" cy="68339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7">
                <a:extLst>
                  <a:ext uri="{FF2B5EF4-FFF2-40B4-BE49-F238E27FC236}">
                    <a16:creationId xmlns:a16="http://schemas.microsoft.com/office/drawing/2014/main" id="{67229400-F09A-45F6-ABE4-0E6BA9A63FD0}"/>
                  </a:ext>
                </a:extLst>
              </p:cNvPr>
              <p:cNvSpPr txBox="1"/>
              <p:nvPr/>
            </p:nvSpPr>
            <p:spPr bwMode="auto">
              <a:xfrm>
                <a:off x="2772140" y="2370358"/>
                <a:ext cx="4791712" cy="562719"/>
              </a:xfrm>
              <a:prstGeom prst="rect">
                <a:avLst/>
              </a:prstGeom>
              <a:noFill/>
              <a:ln>
                <a:noFill/>
              </a:ln>
            </p:spPr>
            <p:txBody>
              <a:bodyPr>
                <a:noAutofit/>
              </a:bodyPr>
              <a:lstStyle/>
              <a:p>
                <a14:m>
                  <m:oMath xmlns:m="http://schemas.openxmlformats.org/officeDocument/2006/math">
                    <m:r>
                      <a:rPr lang="en-US" altLang="zh-CN" sz="2400" b="1" i="1" smtClean="0">
                        <a:solidFill>
                          <a:srgbClr val="000000"/>
                        </a:solidFill>
                        <a:latin typeface="Cambria Math" panose="02040503050406030204" pitchFamily="18" charset="0"/>
                      </a:rPr>
                      <m:t>𝒚</m:t>
                    </m:r>
                    <m:r>
                      <a:rPr lang="en-US" altLang="zh-CN" sz="2400" b="1" i="1" smtClean="0">
                        <a:solidFill>
                          <a:srgbClr val="000000"/>
                        </a:solidFill>
                        <a:latin typeface="Cambria Math" panose="02040503050406030204" pitchFamily="18" charset="0"/>
                        <a:ea typeface="Cambria Math" panose="02040503050406030204" pitchFamily="18" charset="0"/>
                      </a:rPr>
                      <m:t>∈</m:t>
                    </m:r>
                    <m:nary>
                      <m:naryPr>
                        <m:chr m:val="⋃"/>
                        <m:supHide m:val="on"/>
                        <m:ctrlPr>
                          <a:rPr lang="zh-CN" altLang="en-US" sz="2400" b="1" i="1">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e>
                    </m:nary>
                  </m:oMath>
                </a14:m>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rPr>
                  <a:t>x </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26" name="Object 7">
                <a:extLst>
                  <a:ext uri="{FF2B5EF4-FFF2-40B4-BE49-F238E27FC236}">
                    <a16:creationId xmlns:a16="http://schemas.microsoft.com/office/drawing/2014/main" id="{67229400-F09A-45F6-ABE4-0E6BA9A63FD0}"/>
                  </a:ext>
                </a:extLst>
              </p:cNvPr>
              <p:cNvSpPr txBox="1">
                <a:spLocks noRot="1" noChangeAspect="1" noMove="1" noResize="1" noEditPoints="1" noAdjustHandles="1" noChangeArrowheads="1" noChangeShapeType="1" noTextEdit="1"/>
              </p:cNvSpPr>
              <p:nvPr/>
            </p:nvSpPr>
            <p:spPr bwMode="auto">
              <a:xfrm>
                <a:off x="2772140" y="2370358"/>
                <a:ext cx="4791712" cy="562719"/>
              </a:xfrm>
              <a:prstGeom prst="rect">
                <a:avLst/>
              </a:prstGeom>
              <a:blipFill>
                <a:blip r:embed="rId7"/>
                <a:stretch>
                  <a:fillRect l="-509" t="-76087" r="-2163" b="-106522"/>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7">
                <a:extLst>
                  <a:ext uri="{FF2B5EF4-FFF2-40B4-BE49-F238E27FC236}">
                    <a16:creationId xmlns:a16="http://schemas.microsoft.com/office/drawing/2014/main" id="{54D0DEC1-4745-490B-9C81-F98AC4CB5352}"/>
                  </a:ext>
                </a:extLst>
              </p:cNvPr>
              <p:cNvSpPr txBox="1"/>
              <p:nvPr/>
            </p:nvSpPr>
            <p:spPr bwMode="auto">
              <a:xfrm>
                <a:off x="2708941" y="2783576"/>
                <a:ext cx="4791712" cy="482233"/>
              </a:xfrm>
              <a:prstGeom prst="rect">
                <a:avLst/>
              </a:prstGeom>
              <a:noFill/>
              <a:ln>
                <a:noFill/>
              </a:ln>
            </p:spPr>
            <p:txBody>
              <a:bodyPr>
                <a:noAutofit/>
              </a:bodyPr>
              <a:lstStyle/>
              <a:p>
                <a14:m>
                  <m:oMath xmlns:m="http://schemas.openxmlformats.org/officeDocument/2006/math">
                    <m:r>
                      <a:rPr lang="en-US" altLang="zh-CN" sz="2400" b="1" i="1" smtClean="0">
                        <a:solidFill>
                          <a:srgbClr val="000000"/>
                        </a:solidFill>
                        <a:latin typeface="Cambria Math" panose="02040503050406030204" pitchFamily="18" charset="0"/>
                      </a:rPr>
                      <m:t> </m:t>
                    </m:r>
                  </m:oMath>
                </a14:m>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A</a:t>
                </a:r>
                <a:r>
                  <a:rPr lang="en-US" altLang="zh-CN" sz="2400" b="1" i="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27" name="Object 7">
                <a:extLst>
                  <a:ext uri="{FF2B5EF4-FFF2-40B4-BE49-F238E27FC236}">
                    <a16:creationId xmlns:a16="http://schemas.microsoft.com/office/drawing/2014/main" id="{54D0DEC1-4745-490B-9C81-F98AC4CB5352}"/>
                  </a:ext>
                </a:extLst>
              </p:cNvPr>
              <p:cNvSpPr txBox="1">
                <a:spLocks noRot="1" noChangeAspect="1" noMove="1" noResize="1" noEditPoints="1" noAdjustHandles="1" noChangeArrowheads="1" noChangeShapeType="1" noTextEdit="1"/>
              </p:cNvSpPr>
              <p:nvPr/>
            </p:nvSpPr>
            <p:spPr bwMode="auto">
              <a:xfrm>
                <a:off x="2708941" y="2783576"/>
                <a:ext cx="4791712" cy="482233"/>
              </a:xfrm>
              <a:prstGeom prst="rect">
                <a:avLst/>
              </a:prstGeom>
              <a:blipFill>
                <a:blip r:embed="rId8"/>
                <a:stretch>
                  <a:fillRect l="-509" t="-11392" b="-2405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7">
                <a:extLst>
                  <a:ext uri="{FF2B5EF4-FFF2-40B4-BE49-F238E27FC236}">
                    <a16:creationId xmlns:a16="http://schemas.microsoft.com/office/drawing/2014/main" id="{3C23432E-D1FA-43C2-83D2-31CA1330E860}"/>
                  </a:ext>
                </a:extLst>
              </p:cNvPr>
              <p:cNvSpPr txBox="1"/>
              <p:nvPr/>
            </p:nvSpPr>
            <p:spPr bwMode="auto">
              <a:xfrm>
                <a:off x="2708941" y="3208018"/>
                <a:ext cx="3261296" cy="531297"/>
              </a:xfrm>
              <a:prstGeom prst="rect">
                <a:avLst/>
              </a:prstGeom>
              <a:noFill/>
              <a:ln>
                <a:noFill/>
              </a:ln>
            </p:spPr>
            <p:txBody>
              <a:bodyPr>
                <a:noAutofit/>
              </a:bodyPr>
              <a:lstStyle/>
              <a:p>
                <a14:m>
                  <m:oMath xmlns:m="http://schemas.openxmlformats.org/officeDocument/2006/math">
                    <m:r>
                      <a:rPr lang="en-US" altLang="zh-CN" sz="2400" b="1" i="1" smtClean="0">
                        <a:solidFill>
                          <a:srgbClr val="000000"/>
                        </a:solidFill>
                        <a:latin typeface="Cambria Math" panose="02040503050406030204" pitchFamily="18" charset="0"/>
                      </a:rPr>
                      <m:t>𝑻𝒉𝒆𝒏</m:t>
                    </m:r>
                    <m:r>
                      <a:rPr lang="en-US" altLang="zh-CN" sz="2400" b="1" i="1" smtClean="0">
                        <a:solidFill>
                          <a:srgbClr val="000000"/>
                        </a:solidFill>
                        <a:latin typeface="Cambria Math" panose="02040503050406030204" pitchFamily="18" charset="0"/>
                      </a:rPr>
                      <m:t> </m:t>
                    </m:r>
                    <m:nary>
                      <m:naryPr>
                        <m:chr m:val="⋃"/>
                        <m:supHide m:val="on"/>
                        <m:ctrlPr>
                          <a:rPr lang="zh-CN" altLang="en-US" sz="2400" b="1" i="1">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e>
                    </m:nary>
                  </m:oMath>
                </a14:m>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28" name="Object 7">
                <a:extLst>
                  <a:ext uri="{FF2B5EF4-FFF2-40B4-BE49-F238E27FC236}">
                    <a16:creationId xmlns:a16="http://schemas.microsoft.com/office/drawing/2014/main" id="{3C23432E-D1FA-43C2-83D2-31CA1330E860}"/>
                  </a:ext>
                </a:extLst>
              </p:cNvPr>
              <p:cNvSpPr txBox="1">
                <a:spLocks noRot="1" noChangeAspect="1" noMove="1" noResize="1" noEditPoints="1" noAdjustHandles="1" noChangeArrowheads="1" noChangeShapeType="1" noTextEdit="1"/>
              </p:cNvSpPr>
              <p:nvPr/>
            </p:nvSpPr>
            <p:spPr bwMode="auto">
              <a:xfrm>
                <a:off x="2708941" y="3208018"/>
                <a:ext cx="3261296" cy="531297"/>
              </a:xfrm>
              <a:prstGeom prst="rect">
                <a:avLst/>
              </a:prstGeom>
              <a:blipFill>
                <a:blip r:embed="rId9"/>
                <a:stretch>
                  <a:fillRect l="-561" t="-80460" b="-11839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7">
                <a:extLst>
                  <a:ext uri="{FF2B5EF4-FFF2-40B4-BE49-F238E27FC236}">
                    <a16:creationId xmlns:a16="http://schemas.microsoft.com/office/drawing/2014/main" id="{AF688A1D-95A8-4E6F-9659-B856C221F5A8}"/>
                  </a:ext>
                </a:extLst>
              </p:cNvPr>
              <p:cNvSpPr txBox="1"/>
              <p:nvPr/>
            </p:nvSpPr>
            <p:spPr bwMode="auto">
              <a:xfrm>
                <a:off x="2772140" y="4103469"/>
                <a:ext cx="5284205" cy="431821"/>
              </a:xfrm>
              <a:prstGeom prst="rect">
                <a:avLst/>
              </a:prstGeom>
              <a:noFill/>
              <a:ln>
                <a:noFill/>
              </a:ln>
            </p:spPr>
            <p:txBody>
              <a:bodyPr>
                <a:noAutofit/>
              </a:bodyPr>
              <a:lstStyle/>
              <a:p>
                <a14:m>
                  <m:oMath xmlns:m="http://schemas.openxmlformats.org/officeDocument/2006/math">
                    <m:r>
                      <m:rPr>
                        <m:nor/>
                      </m:rPr>
                      <a:rPr lang="en-US" altLang="zh-CN" sz="2400" b="1" i="1" dirty="0">
                        <a:latin typeface="Trebuchet MS" panose="020B0603020202020204" pitchFamily="34" charset="0"/>
                      </a:rPr>
                      <m:t>y</m:t>
                    </m:r>
                    <m:r>
                      <m:rPr>
                        <m:nor/>
                      </m:rPr>
                      <a:rPr lang="en-US" altLang="zh-CN" sz="2400" b="1" dirty="0">
                        <a:latin typeface="Trebuchet MS" panose="020B0603020202020204" pitchFamily="34" charset="0"/>
                      </a:rPr>
                      <m:t>∈</m:t>
                    </m:r>
                    <m:r>
                      <m:rPr>
                        <m:nor/>
                      </m:rPr>
                      <a:rPr lang="en-US" altLang="zh-CN" sz="2400" b="1" i="1" dirty="0">
                        <a:latin typeface="Trebuchet MS" panose="020B0603020202020204" pitchFamily="34" charset="0"/>
                      </a:rPr>
                      <m:t>A</m:t>
                    </m:r>
                    <m:r>
                      <m:rPr>
                        <m:nor/>
                      </m:rPr>
                      <a:rPr lang="en-US" altLang="zh-CN" sz="2400" b="1" i="1" dirty="0">
                        <a:latin typeface="Trebuchet MS" panose="020B0603020202020204" pitchFamily="34" charset="0"/>
                      </a:rPr>
                      <m:t> </m:t>
                    </m:r>
                    <m:r>
                      <m:rPr>
                        <m:nor/>
                      </m:rPr>
                      <a:rPr lang="en-US" altLang="zh-CN" sz="2400" b="1" dirty="0">
                        <a:latin typeface="Trebuchet MS" panose="020B0603020202020204" pitchFamily="34" charset="0"/>
                        <a:sym typeface="Symbol" panose="05050102010706020507" pitchFamily="18" charset="2"/>
                      </a:rPr>
                      <m:t></m:t>
                    </m:r>
                    <m:r>
                      <m:rPr>
                        <m:nor/>
                      </m:rPr>
                      <a:rPr lang="en-US" altLang="zh-CN" sz="2400" b="1" dirty="0">
                        <a:latin typeface="Trebuchet MS" panose="020B0603020202020204" pitchFamily="34" charset="0"/>
                      </a:rPr>
                      <m:t> </m:t>
                    </m:r>
                    <m:r>
                      <m:rPr>
                        <m:nor/>
                      </m:rPr>
                      <a:rPr lang="en-US" altLang="zh-CN" sz="2400" b="1" i="1" dirty="0">
                        <a:latin typeface="Trebuchet MS" panose="020B0603020202020204" pitchFamily="34" charset="0"/>
                      </a:rPr>
                      <m:t>y</m:t>
                    </m:r>
                    <m:r>
                      <m:rPr>
                        <m:nor/>
                      </m:rPr>
                      <a:rPr lang="en-US" altLang="zh-CN" sz="2400" b="1" dirty="0">
                        <a:latin typeface="Trebuchet MS" panose="020B0603020202020204" pitchFamily="34" charset="0"/>
                      </a:rPr>
                      <m:t>∈[</m:t>
                    </m:r>
                    <m:r>
                      <m:rPr>
                        <m:nor/>
                      </m:rPr>
                      <a:rPr lang="en-US" altLang="zh-CN" sz="2400" b="1" i="1" dirty="0">
                        <a:latin typeface="Trebuchet MS" panose="020B0603020202020204" pitchFamily="34" charset="0"/>
                      </a:rPr>
                      <m:t>y</m:t>
                    </m:r>
                    <m:r>
                      <m:rPr>
                        <m:nor/>
                      </m:rPr>
                      <a:rPr lang="en-US" altLang="zh-CN" sz="2400" b="1" dirty="0">
                        <a:latin typeface="Trebuchet MS" panose="020B0603020202020204" pitchFamily="34" charset="0"/>
                      </a:rPr>
                      <m:t>]∧</m:t>
                    </m:r>
                    <m:r>
                      <m:rPr>
                        <m:nor/>
                      </m:rPr>
                      <a:rPr lang="en-US" altLang="zh-CN" sz="2400" b="1" i="1" dirty="0">
                        <a:latin typeface="Trebuchet MS" panose="020B0603020202020204" pitchFamily="34" charset="0"/>
                      </a:rPr>
                      <m:t>y</m:t>
                    </m:r>
                    <m:r>
                      <m:rPr>
                        <m:nor/>
                      </m:rPr>
                      <a:rPr lang="en-US" altLang="zh-CN" sz="2400" b="1" dirty="0">
                        <a:latin typeface="Trebuchet MS" panose="020B0603020202020204" pitchFamily="34" charset="0"/>
                      </a:rPr>
                      <m:t>∈</m:t>
                    </m:r>
                    <m:r>
                      <m:rPr>
                        <m:nor/>
                      </m:rPr>
                      <a:rPr lang="en-US" altLang="zh-CN" sz="2400" b="1" i="1" dirty="0">
                        <a:latin typeface="Trebuchet MS" panose="020B0603020202020204" pitchFamily="34" charset="0"/>
                      </a:rPr>
                      <m:t>A</m:t>
                    </m:r>
                    <m:r>
                      <m:rPr>
                        <m:nor/>
                      </m:rPr>
                      <a:rPr lang="en-US" altLang="zh-CN" sz="2400" b="1" i="1" dirty="0">
                        <a:latin typeface="Trebuchet MS" panose="020B0603020202020204" pitchFamily="34" charset="0"/>
                      </a:rPr>
                      <m:t> </m:t>
                    </m:r>
                    <m:r>
                      <m:rPr>
                        <m:nor/>
                      </m:rPr>
                      <a:rPr lang="en-US" altLang="zh-CN" sz="2400" b="1" dirty="0">
                        <a:latin typeface="Trebuchet MS" panose="020B0603020202020204" pitchFamily="34" charset="0"/>
                        <a:sym typeface="Symbol" panose="05050102010706020507" pitchFamily="18" charset="2"/>
                      </a:rPr>
                      <m:t></m:t>
                    </m:r>
                    <m:r>
                      <m:rPr>
                        <m:nor/>
                      </m:rPr>
                      <a:rPr lang="en-US" altLang="zh-CN" sz="2400" b="1" dirty="0">
                        <a:latin typeface="Trebuchet MS" panose="020B0603020202020204" pitchFamily="34" charset="0"/>
                      </a:rPr>
                      <m:t> </m:t>
                    </m:r>
                    <m:r>
                      <m:rPr>
                        <m:nor/>
                      </m:rPr>
                      <a:rPr lang="en-US" altLang="zh-CN" sz="2400" b="1" i="1" dirty="0">
                        <a:latin typeface="Trebuchet MS" panose="020B0603020202020204" pitchFamily="34" charset="0"/>
                      </a:rPr>
                      <m:t>y</m:t>
                    </m:r>
                    <m:r>
                      <m:rPr>
                        <m:nor/>
                      </m:rPr>
                      <a:rPr lang="en-US" altLang="zh-CN" sz="2400" b="1" dirty="0">
                        <a:latin typeface="Trebuchet MS" panose="020B0603020202020204" pitchFamily="34" charset="0"/>
                      </a:rPr>
                      <m:t>∈</m:t>
                    </m:r>
                    <m:nary>
                      <m:naryPr>
                        <m:chr m:val="⋃"/>
                        <m:supHide m:val="on"/>
                        <m:ctrlPr>
                          <a:rPr lang="zh-CN" altLang="en-US" sz="2400" b="1" i="1">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e>
                    </m:nary>
                  </m:oMath>
                </a14:m>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29" name="Object 7">
                <a:extLst>
                  <a:ext uri="{FF2B5EF4-FFF2-40B4-BE49-F238E27FC236}">
                    <a16:creationId xmlns:a16="http://schemas.microsoft.com/office/drawing/2014/main" id="{AF688A1D-95A8-4E6F-9659-B856C221F5A8}"/>
                  </a:ext>
                </a:extLst>
              </p:cNvPr>
              <p:cNvSpPr txBox="1">
                <a:spLocks noRot="1" noChangeAspect="1" noMove="1" noResize="1" noEditPoints="1" noAdjustHandles="1" noChangeArrowheads="1" noChangeShapeType="1" noTextEdit="1"/>
              </p:cNvSpPr>
              <p:nvPr/>
            </p:nvSpPr>
            <p:spPr bwMode="auto">
              <a:xfrm>
                <a:off x="2772140" y="4103469"/>
                <a:ext cx="5284205" cy="431821"/>
              </a:xfrm>
              <a:prstGeom prst="rect">
                <a:avLst/>
              </a:prstGeom>
              <a:blipFill>
                <a:blip r:embed="rId10"/>
                <a:stretch>
                  <a:fillRect l="-461" t="-98592" b="-1676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7">
                <a:extLst>
                  <a:ext uri="{FF2B5EF4-FFF2-40B4-BE49-F238E27FC236}">
                    <a16:creationId xmlns:a16="http://schemas.microsoft.com/office/drawing/2014/main" id="{CE207377-12A2-4C1F-9BF4-4736737179B6}"/>
                  </a:ext>
                </a:extLst>
              </p:cNvPr>
              <p:cNvSpPr txBox="1"/>
              <p:nvPr/>
            </p:nvSpPr>
            <p:spPr bwMode="auto">
              <a:xfrm>
                <a:off x="2789791" y="4467623"/>
                <a:ext cx="3611012" cy="431821"/>
              </a:xfrm>
              <a:prstGeom prst="rect">
                <a:avLst/>
              </a:prstGeom>
              <a:noFill/>
              <a:ln>
                <a:noFill/>
              </a:ln>
            </p:spPr>
            <p:txBody>
              <a:bodyPr>
                <a:noAutofit/>
              </a:bodyPr>
              <a:lstStyle/>
              <a:p>
                <a14:m>
                  <m:oMath xmlns:m="http://schemas.openxmlformats.org/officeDocument/2006/math">
                    <m:r>
                      <m:rPr>
                        <m:nor/>
                      </m:rPr>
                      <a:rPr lang="en-US" altLang="zh-CN" sz="2400" b="1" dirty="0" smtClean="0">
                        <a:latin typeface="Trebuchet MS" panose="020B0603020202020204" pitchFamily="34" charset="0"/>
                      </a:rPr>
                      <m:t>Hence</m:t>
                    </m:r>
                    <m:r>
                      <m:rPr>
                        <m:nor/>
                      </m:rPr>
                      <a:rPr lang="en-US" altLang="zh-CN" sz="2400" b="1" i="1" dirty="0" smtClean="0">
                        <a:latin typeface="Trebuchet MS" panose="020B0603020202020204" pitchFamily="34" charset="0"/>
                      </a:rPr>
                      <m:t> </m:t>
                    </m:r>
                    <m:r>
                      <m:rPr>
                        <m:nor/>
                      </m:rPr>
                      <a:rPr lang="en-US" altLang="zh-CN" sz="2400" b="1" i="1" dirty="0" smtClean="0">
                        <a:latin typeface="Trebuchet MS" panose="020B0603020202020204" pitchFamily="34" charset="0"/>
                      </a:rPr>
                      <m:t>A</m:t>
                    </m:r>
                    <m:r>
                      <m:rPr>
                        <m:nor/>
                      </m:rPr>
                      <a:rPr lang="en-US" altLang="zh-CN" sz="2400" b="1" i="0" dirty="0" smtClean="0">
                        <a:latin typeface="Trebuchet MS" panose="020B0603020202020204" pitchFamily="34" charset="0"/>
                      </a:rPr>
                      <m:t> </m:t>
                    </m:r>
                    <m:r>
                      <m:rPr>
                        <m:nor/>
                      </m:rPr>
                      <a:rPr lang="en-US" altLang="zh-CN" sz="2400" b="1" dirty="0" smtClean="0">
                        <a:latin typeface="Trebuchet MS" panose="020B0603020202020204" pitchFamily="34" charset="0"/>
                        <a:sym typeface="Symbol" panose="05050102010706020507" pitchFamily="18" charset="2"/>
                      </a:rPr>
                      <m:t></m:t>
                    </m:r>
                    <m:nary>
                      <m:naryPr>
                        <m:chr m:val="⋃"/>
                        <m:supHide m:val="on"/>
                        <m:ctrlPr>
                          <a:rPr lang="zh-CN" altLang="en-US" sz="2400" b="1" i="1">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d>
                          <m:dPr>
                            <m:begChr m:val="["/>
                            <m:endChr m:val="]"/>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𝒙</m:t>
                            </m:r>
                          </m:e>
                        </m:d>
                        <m:r>
                          <a:rPr lang="en-US" altLang="zh-CN" sz="2400" b="1" i="1" smtClean="0">
                            <a:solidFill>
                              <a:srgbClr val="000000"/>
                            </a:solidFill>
                            <a:latin typeface="Cambria Math" panose="02040503050406030204" pitchFamily="18" charset="0"/>
                          </a:rPr>
                          <m:t> </m:t>
                        </m:r>
                        <m:r>
                          <a:rPr lang="en-US" altLang="zh-CN" sz="2400" b="1" i="0" smtClean="0">
                            <a:solidFill>
                              <a:srgbClr val="000000"/>
                            </a:solidFill>
                            <a:latin typeface="Cambria Math" panose="02040503050406030204" pitchFamily="18" charset="0"/>
                          </a:rPr>
                          <m:t>𝐡𝐨𝐬𝐭</m:t>
                        </m:r>
                        <m:r>
                          <a:rPr lang="en-US" altLang="zh-CN" sz="2400" b="1" i="1" smtClean="0">
                            <a:solidFill>
                              <a:srgbClr val="000000"/>
                            </a:solidFill>
                            <a:latin typeface="Cambria Math" panose="02040503050406030204" pitchFamily="18" charset="0"/>
                          </a:rPr>
                          <m:t>.</m:t>
                        </m:r>
                      </m:e>
                    </m:nary>
                  </m:oMath>
                </a14:m>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30" name="Object 7">
                <a:extLst>
                  <a:ext uri="{FF2B5EF4-FFF2-40B4-BE49-F238E27FC236}">
                    <a16:creationId xmlns:a16="http://schemas.microsoft.com/office/drawing/2014/main" id="{CE207377-12A2-4C1F-9BF4-4736737179B6}"/>
                  </a:ext>
                </a:extLst>
              </p:cNvPr>
              <p:cNvSpPr txBox="1">
                <a:spLocks noRot="1" noChangeAspect="1" noMove="1" noResize="1" noEditPoints="1" noAdjustHandles="1" noChangeArrowheads="1" noChangeShapeType="1" noTextEdit="1"/>
              </p:cNvSpPr>
              <p:nvPr/>
            </p:nvSpPr>
            <p:spPr bwMode="auto">
              <a:xfrm>
                <a:off x="2789791" y="4467623"/>
                <a:ext cx="3611012" cy="431821"/>
              </a:xfrm>
              <a:prstGeom prst="rect">
                <a:avLst/>
              </a:prstGeom>
              <a:blipFill>
                <a:blip r:embed="rId11"/>
                <a:stretch>
                  <a:fillRect l="-676" t="-98592" b="-1676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Object 7">
                <a:extLst>
                  <a:ext uri="{FF2B5EF4-FFF2-40B4-BE49-F238E27FC236}">
                    <a16:creationId xmlns:a16="http://schemas.microsoft.com/office/drawing/2014/main" id="{38E5C661-D261-4B9B-92D9-4D7869036726}"/>
                  </a:ext>
                </a:extLst>
              </p:cNvPr>
              <p:cNvSpPr txBox="1"/>
              <p:nvPr/>
            </p:nvSpPr>
            <p:spPr bwMode="auto">
              <a:xfrm>
                <a:off x="1392520" y="4966533"/>
                <a:ext cx="6047805" cy="431821"/>
              </a:xfrm>
              <a:prstGeom prst="rect">
                <a:avLst/>
              </a:prstGeom>
              <a:noFill/>
              <a:ln>
                <a:noFill/>
              </a:ln>
            </p:spPr>
            <p:txBody>
              <a:bodyPr>
                <a:noAutofit/>
              </a:bodyPr>
              <a:lstStyle/>
              <a:p>
                <a:pPr marL="182563" indent="-182563">
                  <a:buClr>
                    <a:srgbClr val="0B5BFF"/>
                  </a:buClr>
                  <a:buSzPct val="120000"/>
                  <a:buFont typeface="Arial" panose="020B0604020202020204" pitchFamily="34" charset="0"/>
                  <a:buChar char="•"/>
                </a:pPr>
                <a:r>
                  <a:rPr lang="en-US" altLang="zh-CN" sz="2400" b="1" dirty="0">
                    <a:solidFill>
                      <a:srgbClr val="000000"/>
                    </a:solidFill>
                    <a:latin typeface="Trebuchet MS" panose="020B0603020202020204" pitchFamily="34" charset="0"/>
                  </a:rPr>
                  <a:t>Thus, we conclude that: </a:t>
                </a:r>
                <a14:m>
                  <m:oMath xmlns:m="http://schemas.openxmlformats.org/officeDocument/2006/math">
                    <m:nary>
                      <m:naryPr>
                        <m:chr m:val="⋃"/>
                        <m:supHide m:val="on"/>
                        <m:ctrlPr>
                          <a:rPr lang="zh-CN" altLang="en-US" sz="2400" b="1" i="1">
                            <a:solidFill>
                              <a:srgbClr val="000000"/>
                            </a:solidFill>
                            <a:latin typeface="Cambria Math" panose="02040503050406030204" pitchFamily="18" charset="0"/>
                          </a:rPr>
                        </m:ctrlPr>
                      </m:naryPr>
                      <m:sub>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𝑨</m:t>
                        </m:r>
                      </m:sub>
                      <m:sup/>
                      <m:e>
                        <m:d>
                          <m:dPr>
                            <m:begChr m:val="["/>
                            <m:endChr m:val="]"/>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𝒙</m:t>
                            </m:r>
                          </m:e>
                        </m:d>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𝑨</m:t>
                        </m:r>
                        <m:r>
                          <a:rPr lang="en-US" altLang="zh-CN" sz="2400" b="1" i="1" smtClean="0">
                            <a:solidFill>
                              <a:srgbClr val="000000"/>
                            </a:solidFill>
                            <a:latin typeface="Cambria Math" panose="02040503050406030204" pitchFamily="18" charset="0"/>
                          </a:rPr>
                          <m:t>.</m:t>
                        </m:r>
                      </m:e>
                    </m:nary>
                  </m:oMath>
                </a14:m>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 </a:t>
                </a:r>
                <a:endParaRPr lang="zh-CN" altLang="en-US" sz="2400" b="1" dirty="0">
                  <a:latin typeface="Trebuchet MS" panose="020B0603020202020204" pitchFamily="34" charset="0"/>
                </a:endParaRPr>
              </a:p>
            </p:txBody>
          </p:sp>
        </mc:Choice>
        <mc:Fallback xmlns="">
          <p:sp>
            <p:nvSpPr>
              <p:cNvPr id="33" name="Object 7">
                <a:extLst>
                  <a:ext uri="{FF2B5EF4-FFF2-40B4-BE49-F238E27FC236}">
                    <a16:creationId xmlns:a16="http://schemas.microsoft.com/office/drawing/2014/main" id="{38E5C661-D261-4B9B-92D9-4D7869036726}"/>
                  </a:ext>
                </a:extLst>
              </p:cNvPr>
              <p:cNvSpPr txBox="1">
                <a:spLocks noRot="1" noChangeAspect="1" noMove="1" noResize="1" noEditPoints="1" noAdjustHandles="1" noChangeArrowheads="1" noChangeShapeType="1" noTextEdit="1"/>
              </p:cNvSpPr>
              <p:nvPr/>
            </p:nvSpPr>
            <p:spPr bwMode="auto">
              <a:xfrm>
                <a:off x="1392520" y="4966533"/>
                <a:ext cx="6047805" cy="431821"/>
              </a:xfrm>
              <a:prstGeom prst="rect">
                <a:avLst/>
              </a:prstGeom>
              <a:blipFill>
                <a:blip r:embed="rId12"/>
                <a:stretch>
                  <a:fillRect l="-1913" t="-98592" b="-167606"/>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4144690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1000"/>
                                        <p:tgtEl>
                                          <p:spTgt spid="30"/>
                                        </p:tgtEl>
                                      </p:cBhvr>
                                    </p:animEffect>
                                    <p:anim calcmode="lin" valueType="num">
                                      <p:cBhvr>
                                        <p:cTn id="50" dur="1000" fill="hold"/>
                                        <p:tgtEl>
                                          <p:spTgt spid="30"/>
                                        </p:tgtEl>
                                        <p:attrNameLst>
                                          <p:attrName>ppt_x</p:attrName>
                                        </p:attrNameLst>
                                      </p:cBhvr>
                                      <p:tavLst>
                                        <p:tav tm="0">
                                          <p:val>
                                            <p:strVal val="#ppt_x"/>
                                          </p:val>
                                        </p:tav>
                                        <p:tav tm="100000">
                                          <p:val>
                                            <p:strVal val="#ppt_x"/>
                                          </p:val>
                                        </p:tav>
                                      </p:tavLst>
                                    </p:anim>
                                    <p:anim calcmode="lin" valueType="num">
                                      <p:cBhvr>
                                        <p:cTn id="5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1000"/>
                                        <p:tgtEl>
                                          <p:spTgt spid="33"/>
                                        </p:tgtEl>
                                      </p:cBhvr>
                                    </p:animEffect>
                                    <p:anim calcmode="lin" valueType="num">
                                      <p:cBhvr>
                                        <p:cTn id="57" dur="1000" fill="hold"/>
                                        <p:tgtEl>
                                          <p:spTgt spid="33"/>
                                        </p:tgtEl>
                                        <p:attrNameLst>
                                          <p:attrName>ppt_x</p:attrName>
                                        </p:attrNameLst>
                                      </p:cBhvr>
                                      <p:tavLst>
                                        <p:tav tm="0">
                                          <p:val>
                                            <p:strVal val="#ppt_x"/>
                                          </p:val>
                                        </p:tav>
                                        <p:tav tm="100000">
                                          <p:val>
                                            <p:strVal val="#ppt_x"/>
                                          </p:val>
                                        </p:tav>
                                      </p:tavLst>
                                    </p:anim>
                                    <p:anim calcmode="lin" valueType="num">
                                      <p:cBhvr>
                                        <p:cTn id="5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40632" y="82687"/>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4.4.2 </a:t>
            </a:r>
            <a:r>
              <a:rPr lang="en-US" altLang="zh-CN" sz="2000" b="1" dirty="0">
                <a:latin typeface="Trebuchet MS" panose="020B0603020202020204" pitchFamily="34" charset="0"/>
              </a:rPr>
              <a:t>Equivalence Classes and Quotient Sets</a:t>
            </a:r>
            <a:endParaRPr lang="en-US" altLang="zh-CN" sz="2000" b="1" dirty="0">
              <a:solidFill>
                <a:schemeClr val="bg1"/>
              </a:solidFill>
              <a:latin typeface="Trebuchet MS" panose="020B0603020202020204" pitchFamily="34" charset="0"/>
            </a:endParaRP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Quotient Sets</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8992270" cy="51826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4.20:  </a:t>
            </a: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be an equivalence relation on a non-empty set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The set of equivalence classes of </a:t>
            </a:r>
            <a:r>
              <a:rPr lang="en-US" sz="2400" b="1" i="1" dirty="0">
                <a:latin typeface="Trebuchet MS" panose="020B0603020202020204" pitchFamily="34" charset="0"/>
              </a:rPr>
              <a:t>R</a:t>
            </a:r>
            <a:r>
              <a:rPr lang="en-US" sz="2400" dirty="0">
                <a:latin typeface="Trebuchet MS" panose="020B0603020202020204" pitchFamily="34" charset="0"/>
              </a:rPr>
              <a:t> is called the </a:t>
            </a:r>
            <a:r>
              <a:rPr lang="en-US" sz="2400" b="1" i="1" dirty="0">
                <a:latin typeface="Trebuchet MS" panose="020B0603020202020204" pitchFamily="34" charset="0"/>
              </a:rPr>
              <a:t>quotient set </a:t>
            </a:r>
            <a:r>
              <a:rPr lang="en-US" sz="2400" dirty="0">
                <a:latin typeface="Trebuchet MS" panose="020B0603020202020204" pitchFamily="34" charset="0"/>
              </a:rPr>
              <a:t>of </a:t>
            </a:r>
            <a:r>
              <a:rPr lang="en-US" altLang="zh-CN" sz="2400" b="1" i="1" dirty="0">
                <a:solidFill>
                  <a:schemeClr val="tx1"/>
                </a:solidFill>
                <a:latin typeface="Trebuchet MS" panose="020B0603020202020204" pitchFamily="34" charset="0"/>
                <a:ea typeface="宋体" panose="02010600030101010101" pitchFamily="2" charset="-122"/>
              </a:rPr>
              <a:t>A </a:t>
            </a:r>
            <a:r>
              <a:rPr lang="en-US" sz="2400" dirty="0">
                <a:latin typeface="Trebuchet MS" panose="020B0603020202020204" pitchFamily="34" charset="0"/>
              </a:rPr>
              <a:t>with respect to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denoted by</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R</a:t>
            </a:r>
            <a:r>
              <a:rPr lang="en-US" altLang="zh-CN" sz="2400" b="1" dirty="0">
                <a:solidFill>
                  <a:schemeClr val="tx1"/>
                </a:solidFill>
                <a:latin typeface="Trebuchet MS" panose="020B0603020202020204" pitchFamily="34" charset="0"/>
                <a:ea typeface="宋体" panose="02010600030101010101" pitchFamily="2" charset="-122"/>
              </a:rPr>
              <a:t>, </a:t>
            </a:r>
          </a:p>
          <a:p>
            <a:pPr marL="0" indent="0" eaLnBrk="1" hangingPunct="1">
              <a:lnSpc>
                <a:spcPct val="120000"/>
              </a:lnSpc>
              <a:spcBef>
                <a:spcPts val="300"/>
              </a:spcBef>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R </a:t>
            </a:r>
            <a:r>
              <a:rPr lang="en-US" altLang="zh-CN" sz="2400" b="1" dirty="0">
                <a:solidFill>
                  <a:schemeClr val="tx1"/>
                </a:solidFill>
                <a:latin typeface="Trebuchet MS" panose="020B0603020202020204" pitchFamily="34" charset="0"/>
                <a:ea typeface="宋体" panose="02010600030101010101" pitchFamily="2" charset="-122"/>
              </a:rPr>
              <a:t>= { [</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baseline="-25000" dirty="0">
                <a:solidFill>
                  <a:schemeClr val="tx1"/>
                </a:solidFill>
                <a:latin typeface="Trebuchet MS" panose="020B0603020202020204" pitchFamily="34" charset="0"/>
                <a:ea typeface="宋体" panose="02010600030101010101" pitchFamily="2" charset="-122"/>
              </a:rPr>
              <a:t>R</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a:t>
            </a:r>
          </a:p>
          <a:p>
            <a:pPr marL="452438" indent="-452438" eaLnBrk="1" hangingPunct="1">
              <a:lnSpc>
                <a:spcPct val="120000"/>
              </a:lnSpc>
              <a:spcBef>
                <a:spcPts val="300"/>
              </a:spcBef>
              <a:buNone/>
            </a:pPr>
            <a:r>
              <a:rPr lang="en-US" altLang="zh-CN" sz="2400" b="1" dirty="0">
                <a:latin typeface="Trebuchet MS" panose="020B0603020202020204" pitchFamily="34" charset="0"/>
                <a:ea typeface="宋体" panose="02010600030101010101" pitchFamily="2" charset="-122"/>
              </a:rPr>
              <a:t>     Example: </a:t>
            </a:r>
            <a:r>
              <a:rPr lang="en-US" altLang="zh-CN" sz="2400" b="1" i="1" dirty="0">
                <a:latin typeface="Trebuchet MS" panose="020B0603020202020204" pitchFamily="34" charset="0"/>
                <a:ea typeface="宋体" panose="02010600030101010101" pitchFamily="2" charset="-122"/>
              </a:rPr>
              <a:t>Let</a:t>
            </a:r>
            <a:r>
              <a:rPr lang="zh-CN" altLang="en-US" sz="2400" b="1" i="1" dirty="0">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={1, 2, …, 8}</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dirty="0">
                <a:latin typeface="Trebuchet MS" panose="020B0603020202020204" pitchFamily="34" charset="0"/>
              </a:rPr>
              <a:t>t</a:t>
            </a:r>
            <a:r>
              <a:rPr lang="en-US" sz="2400" dirty="0">
                <a:latin typeface="Trebuchet MS" panose="020B0603020202020204" pitchFamily="34" charset="0"/>
              </a:rPr>
              <a:t>he quotient set of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with respect to the equivalence relation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modulo 3 is:</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A/R </a:t>
            </a:r>
            <a:r>
              <a:rPr lang="en-US" altLang="zh-CN" sz="2400" b="1" dirty="0">
                <a:solidFill>
                  <a:schemeClr val="tx1"/>
                </a:solidFill>
                <a:latin typeface="Trebuchet MS" panose="020B0603020202020204" pitchFamily="34" charset="0"/>
                <a:ea typeface="宋体" panose="02010600030101010101" pitchFamily="2" charset="-122"/>
              </a:rPr>
              <a:t>= { {1, 4,7}, {2, 5, 8}, {3, 6} }</a:t>
            </a:r>
          </a:p>
          <a:p>
            <a:pPr eaLnBrk="1" hangingPunct="1">
              <a:lnSpc>
                <a:spcPct val="120000"/>
              </a:lnSpc>
              <a:spcBef>
                <a:spcPts val="300"/>
              </a:spcBef>
              <a:buClr>
                <a:srgbClr val="0B5BFF"/>
              </a:buClr>
              <a:buSzPct val="80000"/>
              <a:buFont typeface="Wingdings" panose="05000000000000000000" pitchFamily="2" charset="2"/>
              <a:buChar char="n"/>
            </a:pPr>
            <a:r>
              <a:rPr lang="en-US" sz="2400" dirty="0">
                <a:latin typeface="Trebuchet MS" panose="020B0603020202020204" pitchFamily="34" charset="0"/>
              </a:rPr>
              <a:t>The quotient sets of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with respect to the identity relation and the universal relation are:</a:t>
            </a:r>
          </a:p>
          <a:p>
            <a:pPr marL="0" indent="0" eaLnBrk="1" hangingPunct="1">
              <a:lnSpc>
                <a:spcPct val="120000"/>
              </a:lnSpc>
              <a:spcBef>
                <a:spcPts val="300"/>
              </a:spcBef>
              <a:buNone/>
            </a:pP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A/I</a:t>
            </a:r>
            <a:r>
              <a:rPr lang="en-US" altLang="zh-CN" sz="2400" b="1" i="1" baseline="-25000" dirty="0">
                <a:solidFill>
                  <a:schemeClr val="tx1"/>
                </a:solidFill>
                <a:latin typeface="Trebuchet MS" panose="020B0603020202020204" pitchFamily="34" charset="0"/>
                <a:ea typeface="宋体" panose="02010600030101010101" pitchFamily="2" charset="-122"/>
              </a:rPr>
              <a:t>A</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 {1},{2}, … ,{8}}</a:t>
            </a:r>
          </a:p>
          <a:p>
            <a:pPr marL="0" indent="0" eaLnBrk="1" hangingPunct="1">
              <a:lnSpc>
                <a:spcPct val="120000"/>
              </a:lnSpc>
              <a:spcBef>
                <a:spcPts val="300"/>
              </a:spcBef>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A/E</a:t>
            </a:r>
            <a:r>
              <a:rPr lang="en-US" altLang="zh-CN" sz="2400" b="1" i="1" baseline="-25000" dirty="0">
                <a:solidFill>
                  <a:schemeClr val="tx1"/>
                </a:solidFill>
                <a:latin typeface="Trebuchet MS" panose="020B0603020202020204" pitchFamily="34" charset="0"/>
                <a:ea typeface="宋体" panose="02010600030101010101" pitchFamily="2" charset="-122"/>
              </a:rPr>
              <a:t>A</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 {1, 2, … ,8} }</a:t>
            </a:r>
            <a:endParaRPr lang="zh-CN" altLang="en-US" b="1" dirty="0">
              <a:latin typeface="Trebuchet MS" panose="020B0603020202020204" pitchFamily="34" charset="0"/>
            </a:endParaRPr>
          </a:p>
        </p:txBody>
      </p:sp>
      <p:pic>
        <p:nvPicPr>
          <p:cNvPr id="9" name="图片 8">
            <a:extLst>
              <a:ext uri="{FF2B5EF4-FFF2-40B4-BE49-F238E27FC236}">
                <a16:creationId xmlns:a16="http://schemas.microsoft.com/office/drawing/2014/main" id="{4DE99D40-8FC0-4D4D-8701-6D59940428D4}"/>
              </a:ext>
            </a:extLst>
          </p:cNvPr>
          <p:cNvPicPr/>
          <p:nvPr/>
        </p:nvPicPr>
        <p:blipFill>
          <a:blip r:embed="rId5"/>
          <a:stretch>
            <a:fillRect/>
          </a:stretch>
        </p:blipFill>
        <p:spPr>
          <a:xfrm>
            <a:off x="1017907" y="2839720"/>
            <a:ext cx="577850" cy="241300"/>
          </a:xfrm>
          <a:prstGeom prst="rect">
            <a:avLst/>
          </a:prstGeom>
        </p:spPr>
      </p:pic>
    </p:spTree>
    <p:extLst>
      <p:ext uri="{BB962C8B-B14F-4D97-AF65-F5344CB8AC3E}">
        <p14:creationId xmlns:p14="http://schemas.microsoft.com/office/powerpoint/2010/main" val="3216779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4.4 Equivalence Relations and Partial Order Relations</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899918" y="864871"/>
            <a:ext cx="8798289" cy="3981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endParaRPr lang="en-US" altLang="zh-CN" sz="2400" b="1" dirty="0">
              <a:latin typeface="Trebuchet MS" panose="020B0603020202020204" pitchFamily="34" charset="0"/>
            </a:endParaRP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4.4.1 Equivalence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4.4.2 Equivalence Classes and Quotient Sets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4.4.3 Partition of a Set</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4.4.4 Partial Order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4.4.5 Partially Ordered Sets and </a:t>
            </a:r>
            <a:r>
              <a:rPr lang="en-US" sz="2400" b="1" dirty="0" err="1">
                <a:latin typeface="Trebuchet MS" panose="020B0603020202020204" pitchFamily="34" charset="0"/>
              </a:rPr>
              <a:t>Hasse</a:t>
            </a:r>
            <a:r>
              <a:rPr lang="en-US" sz="2400" b="1" dirty="0">
                <a:latin typeface="Trebuchet MS" panose="020B0603020202020204" pitchFamily="34" charset="0"/>
              </a:rPr>
              <a:t> Diagrams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255340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4.4.3 Partition of a Set</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Quotient Sets</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3"/>
            <a:ext cx="9409251" cy="50683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4.21:  </a:t>
            </a:r>
            <a:r>
              <a:rPr lang="en-US"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rPr>
              <a:t>A </a:t>
            </a:r>
            <a:r>
              <a:rPr lang="en-US" sz="2400" dirty="0">
                <a:latin typeface="Trebuchet MS" panose="020B0603020202020204" pitchFamily="34" charset="0"/>
              </a:rPr>
              <a:t>be a non-empty set</a:t>
            </a:r>
            <a:r>
              <a:rPr lang="en-US" altLang="zh-CN" sz="2400" b="1" dirty="0">
                <a:latin typeface="Trebuchet MS" panose="020B0603020202020204" pitchFamily="34" charset="0"/>
                <a:ea typeface="宋体" panose="02010600030101010101" pitchFamily="2" charset="-122"/>
              </a:rPr>
              <a:t>, </a:t>
            </a:r>
            <a:r>
              <a:rPr lang="en-US" sz="2400" b="1" i="1" dirty="0">
                <a:latin typeface="Trebuchet MS" panose="020B0603020202020204" pitchFamily="34" charset="0"/>
              </a:rPr>
              <a:t>A</a:t>
            </a:r>
            <a:r>
              <a:rPr lang="en-US" sz="2400" dirty="0">
                <a:latin typeface="Trebuchet MS" panose="020B0603020202020204" pitchFamily="34" charset="0"/>
              </a:rPr>
              <a:t> family of subset </a:t>
            </a:r>
            <a:r>
              <a:rPr lang="zh-CN" altLang="en-US" sz="2400" b="1" i="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a:t>
            </a:r>
            <a:r>
              <a:rPr lang="zh-CN" altLang="en-US" sz="2400" b="1" i="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P</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if it satisfies the following conditions</a:t>
            </a:r>
            <a:r>
              <a:rPr lang="zh-CN" altLang="en-US" sz="2400" b="1" dirty="0">
                <a:latin typeface="Trebuchet MS" panose="020B0603020202020204" pitchFamily="34" charset="0"/>
                <a:ea typeface="宋体" panose="02010600030101010101" pitchFamily="2" charset="-122"/>
              </a:rPr>
              <a:t>：</a:t>
            </a:r>
          </a:p>
          <a:p>
            <a:pPr marL="0" indent="0">
              <a:lnSpc>
                <a:spcPct val="120000"/>
              </a:lnSpc>
              <a:spcBef>
                <a:spcPts val="600"/>
              </a:spcBef>
              <a:buNone/>
            </a:pPr>
            <a:r>
              <a:rPr lang="zh-CN" altLang="en-US" sz="2400" b="1" dirty="0">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(1)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zh-CN" altLang="en-US" sz="2400" b="1" i="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(2)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y</a:t>
            </a:r>
            <a:r>
              <a:rPr lang="en-US" altLang="zh-CN" sz="2400" b="1" i="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a:t>
            </a:r>
            <a:r>
              <a:rPr lang="zh-CN" altLang="en-US"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y</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(3) </a:t>
            </a:r>
            <a:r>
              <a:rPr lang="zh-CN" altLang="en-US" sz="2400" b="1" dirty="0">
                <a:latin typeface="Trebuchet MS" panose="020B0603020202020204" pitchFamily="34" charset="0"/>
                <a:ea typeface="宋体" panose="02010600030101010101" pitchFamily="2" charset="-122"/>
              </a:rPr>
              <a:t>∪</a:t>
            </a:r>
            <a:r>
              <a:rPr lang="zh-CN" altLang="en-US" sz="2400" b="1" i="1" dirty="0">
                <a:latin typeface="Trebuchet MS" panose="020B0603020202020204" pitchFamily="34" charset="0"/>
                <a:sym typeface="Symbol" panose="05050102010706020507" pitchFamily="18" charset="2"/>
              </a:rPr>
              <a:t></a:t>
            </a:r>
            <a:r>
              <a:rPr lang="zh-CN" altLang="en-US"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A </a:t>
            </a:r>
          </a:p>
          <a:p>
            <a:pPr marL="182563" indent="0">
              <a:lnSpc>
                <a:spcPct val="120000"/>
              </a:lnSpc>
              <a:spcBef>
                <a:spcPts val="600"/>
              </a:spcBef>
              <a:buNone/>
            </a:pPr>
            <a:r>
              <a:rPr lang="en-US" altLang="zh-CN" sz="2400" dirty="0">
                <a:latin typeface="Trebuchet MS" panose="020B0603020202020204" pitchFamily="34" charset="0"/>
                <a:ea typeface="宋体" panose="02010600030101010101" pitchFamily="2" charset="-122"/>
              </a:rPr>
              <a:t>Then</a:t>
            </a:r>
            <a:r>
              <a:rPr lang="en-US" altLang="zh-CN" sz="2400" b="1" dirty="0">
                <a:latin typeface="Trebuchet MS" panose="020B0603020202020204" pitchFamily="34" charset="0"/>
                <a:ea typeface="宋体" panose="02010600030101010101" pitchFamily="2" charset="-122"/>
              </a:rPr>
              <a:t> </a:t>
            </a:r>
            <a:r>
              <a:rPr lang="zh-CN" altLang="en-US" sz="2400" b="1" i="1" dirty="0">
                <a:latin typeface="Trebuchet MS" panose="020B0603020202020204" pitchFamily="34" charset="0"/>
                <a:sym typeface="Symbol" panose="05050102010706020507" pitchFamily="18" charset="2"/>
              </a:rPr>
              <a:t></a:t>
            </a:r>
            <a:r>
              <a:rPr lang="zh-CN" altLang="en-US" sz="2400" b="1" i="1" dirty="0">
                <a:latin typeface="Trebuchet MS" panose="020B0603020202020204" pitchFamily="34" charset="0"/>
                <a:ea typeface="宋体" panose="02010600030101010101" pitchFamily="2" charset="-122"/>
                <a:sym typeface="Symbol" panose="05050102010706020507" pitchFamily="18" charset="2"/>
              </a:rPr>
              <a:t> </a:t>
            </a:r>
            <a:r>
              <a:rPr lang="en-US" altLang="zh-CN" sz="2400" dirty="0">
                <a:latin typeface="Trebuchet MS" panose="020B0603020202020204" pitchFamily="34" charset="0"/>
                <a:ea typeface="宋体" panose="02010600030101010101" pitchFamily="2" charset="-122"/>
                <a:sym typeface="Symbol" panose="05050102010706020507" pitchFamily="18" charset="2"/>
              </a:rPr>
              <a:t>is called a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partition of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and the element of </a:t>
            </a:r>
            <a:r>
              <a:rPr lang="zh-CN" altLang="en-US" sz="2400" b="1" i="1" dirty="0">
                <a:latin typeface="Trebuchet MS" panose="020B0603020202020204" pitchFamily="34" charset="0"/>
                <a:sym typeface="Symbol" panose="05050102010706020507" pitchFamily="18" charset="2"/>
              </a:rPr>
              <a:t></a:t>
            </a:r>
            <a:r>
              <a:rPr lang="zh-CN" altLang="en-US" sz="2400" dirty="0">
                <a:latin typeface="Trebuchet MS" panose="020B0603020202020204" pitchFamily="34" charset="0"/>
              </a:rPr>
              <a:t>  </a:t>
            </a:r>
            <a:r>
              <a:rPr lang="en-US" altLang="zh-CN" sz="2400" dirty="0">
                <a:latin typeface="Trebuchet MS" panose="020B0603020202020204" pitchFamily="34" charset="0"/>
              </a:rPr>
              <a:t>are called blocks of the partition of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a:t>
            </a:r>
          </a:p>
          <a:p>
            <a:pPr marL="452438" indent="0">
              <a:lnSpc>
                <a:spcPct val="120000"/>
              </a:lnSpc>
              <a:spcBef>
                <a:spcPts val="600"/>
              </a:spcBef>
              <a:buNone/>
            </a:pPr>
            <a:r>
              <a:rPr lang="en-US" altLang="zh-CN" sz="2400" b="1" dirty="0">
                <a:latin typeface="Trebuchet MS" panose="020B0603020202020204" pitchFamily="34" charset="0"/>
                <a:ea typeface="宋体" panose="02010600030101010101" pitchFamily="2" charset="-122"/>
              </a:rPr>
              <a:t>Example: </a:t>
            </a:r>
            <a:r>
              <a:rPr lang="en-US" altLang="zh-CN" sz="2400" dirty="0">
                <a:latin typeface="Trebuchet MS" panose="020B0603020202020204" pitchFamily="34" charset="0"/>
                <a:ea typeface="宋体" panose="02010600030101010101" pitchFamily="2" charset="-122"/>
              </a:rPr>
              <a:t>Let</a:t>
            </a:r>
            <a:r>
              <a:rPr lang="en-US" altLang="zh-CN" sz="2400" b="1" dirty="0">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ea typeface="宋体" panose="02010600030101010101" pitchFamily="2" charset="-122"/>
              </a:rPr>
              <a:t>given the partitions: </a:t>
            </a:r>
            <a:endParaRPr lang="en-US" altLang="zh-CN" sz="2400" b="1" i="1" dirty="0">
              <a:solidFill>
                <a:schemeClr val="tx2"/>
              </a:solidFill>
              <a:latin typeface="Trebuchet MS" panose="020B0603020202020204" pitchFamily="34" charset="0"/>
              <a:sym typeface="Symbol" panose="05050102010706020507" pitchFamily="18" charset="2"/>
            </a:endParaRPr>
          </a:p>
          <a:p>
            <a:pPr marL="0" indent="0">
              <a:lnSpc>
                <a:spcPct val="120000"/>
              </a:lnSpc>
              <a:spcBef>
                <a:spcPts val="600"/>
              </a:spcBef>
              <a:buNone/>
            </a:pP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a:t>
            </a:r>
            <a:r>
              <a:rPr lang="zh-CN" altLang="en-US" sz="2400" b="1" dirty="0">
                <a:solidFill>
                  <a:schemeClr val="tx1"/>
                </a:solidFill>
                <a:latin typeface="Trebuchet MS" panose="020B0603020202020204" pitchFamily="34" charset="0"/>
                <a:ea typeface="宋体" panose="02010600030101010101" pitchFamily="2" charset="-12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a:t>
            </a:r>
            <a:br>
              <a:rPr lang="en-US" altLang="zh-CN" sz="2400" b="1" dirty="0">
                <a:solidFill>
                  <a:schemeClr val="tx1"/>
                </a:solidFill>
                <a:latin typeface="Trebuchet MS" panose="020B0603020202020204" pitchFamily="34" charset="0"/>
                <a:ea typeface="宋体" panose="02010600030101010101" pitchFamily="2" charset="-122"/>
              </a:rPr>
            </a:br>
            <a:r>
              <a:rPr lang="en-US" altLang="zh-CN" sz="2400" b="1" dirty="0">
                <a:solidFill>
                  <a:schemeClr val="tx1"/>
                </a:solidFill>
                <a:latin typeface="Trebuchet MS" panose="020B0603020202020204" pitchFamily="34" charset="0"/>
                <a:ea typeface="宋体" panose="02010600030101010101" pitchFamily="2" charset="-12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3</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a:t>
            </a:r>
            <a:r>
              <a:rPr lang="zh-CN" altLang="en-US" sz="2400" b="1" dirty="0">
                <a:solidFill>
                  <a:schemeClr val="tx1"/>
                </a:solidFill>
                <a:latin typeface="Trebuchet MS" panose="020B0603020202020204" pitchFamily="34" charset="0"/>
                <a:ea typeface="宋体" panose="02010600030101010101" pitchFamily="2" charset="-12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4</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a:t>
            </a:r>
            <a:br>
              <a:rPr lang="en-US" altLang="zh-CN" sz="2400" b="1" dirty="0">
                <a:solidFill>
                  <a:schemeClr val="tx1"/>
                </a:solidFill>
                <a:latin typeface="Trebuchet MS" panose="020B0603020202020204" pitchFamily="34" charset="0"/>
                <a:ea typeface="宋体" panose="02010600030101010101" pitchFamily="2" charset="-122"/>
              </a:rPr>
            </a:br>
            <a:r>
              <a:rPr lang="en-US" altLang="zh-CN" sz="2400" b="1" dirty="0">
                <a:solidFill>
                  <a:schemeClr val="tx1"/>
                </a:solidFill>
                <a:latin typeface="Trebuchet MS" panose="020B0603020202020204" pitchFamily="34" charset="0"/>
                <a:ea typeface="宋体" panose="02010600030101010101" pitchFamily="2" charset="-12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5</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a:t>
            </a:r>
            <a:r>
              <a:rPr lang="zh-CN" altLang="en-US" sz="2400" b="1" dirty="0">
                <a:solidFill>
                  <a:schemeClr val="tx1"/>
                </a:solidFill>
                <a:latin typeface="Trebuchet MS" panose="020B0603020202020204" pitchFamily="34" charset="0"/>
                <a:ea typeface="宋体" panose="02010600030101010101" pitchFamily="2" charset="-122"/>
              </a:rPr>
              <a:t>，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baseline="-25000" dirty="0">
                <a:solidFill>
                  <a:schemeClr val="tx1"/>
                </a:solidFill>
                <a:latin typeface="Trebuchet MS" panose="020B0603020202020204" pitchFamily="34" charset="0"/>
                <a:ea typeface="宋体" panose="02010600030101010101" pitchFamily="2" charset="-122"/>
              </a:rPr>
              <a:t>6</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a:t>
            </a:r>
          </a:p>
          <a:p>
            <a:pPr marL="0" indent="0">
              <a:lnSpc>
                <a:spcPct val="120000"/>
              </a:lnSpc>
              <a:spcBef>
                <a:spcPts val="600"/>
              </a:spcBef>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Then</a:t>
            </a:r>
            <a:r>
              <a:rPr lang="zh-CN" altLang="en-US" sz="2400" b="1" dirty="0">
                <a:latin typeface="Trebuchet MS" panose="020B0603020202020204" pitchFamily="34" charset="0"/>
                <a:ea typeface="宋体" panose="02010600030101010101" pitchFamily="2" charset="-122"/>
              </a:rPr>
              <a:t> </a:t>
            </a:r>
            <a:r>
              <a:rPr lang="zh-CN" altLang="en-US"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baseline="-25000" dirty="0">
                <a:latin typeface="Trebuchet MS" panose="020B0603020202020204" pitchFamily="34" charset="0"/>
                <a:ea typeface="宋体" panose="02010600030101010101" pitchFamily="2" charset="-122"/>
              </a:rPr>
              <a:t>1,</a:t>
            </a:r>
            <a:r>
              <a:rPr lang="zh-CN" altLang="en-US" sz="2400" b="1" baseline="-25000" dirty="0">
                <a:latin typeface="Trebuchet MS" panose="020B0603020202020204" pitchFamily="34" charset="0"/>
                <a:ea typeface="宋体" panose="02010600030101010101" pitchFamily="2" charset="-122"/>
              </a:rPr>
              <a:t> </a:t>
            </a:r>
            <a:r>
              <a:rPr lang="zh-CN" altLang="en-US"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baseline="-25000" dirty="0">
                <a:latin typeface="Trebuchet MS" panose="020B0603020202020204" pitchFamily="34" charset="0"/>
                <a:ea typeface="宋体" panose="02010600030101010101" pitchFamily="2" charset="-122"/>
              </a:rPr>
              <a:t>2</a:t>
            </a:r>
            <a:r>
              <a:rPr lang="zh-CN" altLang="en-US" sz="2400" b="1" baseline="-25000"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are</a:t>
            </a:r>
            <a:r>
              <a:rPr lang="zh-CN" altLang="en-US" sz="2400" b="1" i="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partitions</a:t>
            </a:r>
            <a:r>
              <a:rPr lang="zh-CN" altLang="en-US" sz="2400" b="1" i="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of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i="1" dirty="0">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while the others are not.</a:t>
            </a:r>
            <a:endParaRPr lang="zh-CN" altLang="en-US" b="1" dirty="0">
              <a:latin typeface="Trebuchet MS" panose="020B0603020202020204" pitchFamily="34" charset="0"/>
            </a:endParaRPr>
          </a:p>
        </p:txBody>
      </p:sp>
      <p:pic>
        <p:nvPicPr>
          <p:cNvPr id="9" name="图片 8">
            <a:extLst>
              <a:ext uri="{FF2B5EF4-FFF2-40B4-BE49-F238E27FC236}">
                <a16:creationId xmlns:a16="http://schemas.microsoft.com/office/drawing/2014/main" id="{1AF96B40-FBB4-4846-8591-D2F7CDCB20BF}"/>
              </a:ext>
            </a:extLst>
          </p:cNvPr>
          <p:cNvPicPr/>
          <p:nvPr/>
        </p:nvPicPr>
        <p:blipFill>
          <a:blip r:embed="rId5"/>
          <a:stretch>
            <a:fillRect/>
          </a:stretch>
        </p:blipFill>
        <p:spPr>
          <a:xfrm>
            <a:off x="1017907" y="3422049"/>
            <a:ext cx="577850" cy="241300"/>
          </a:xfrm>
          <a:prstGeom prst="rect">
            <a:avLst/>
          </a:prstGeom>
        </p:spPr>
      </p:pic>
    </p:spTree>
    <p:extLst>
      <p:ext uri="{BB962C8B-B14F-4D97-AF65-F5344CB8AC3E}">
        <p14:creationId xmlns:p14="http://schemas.microsoft.com/office/powerpoint/2010/main" val="271934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anim calcmode="lin" valueType="num">
                                      <p:cBhvr>
                                        <p:cTn id="1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2000" b="1" dirty="0">
                <a:solidFill>
                  <a:schemeClr val="bg1"/>
                </a:solidFill>
                <a:latin typeface="Trebuchet MS" panose="020B0603020202020204" pitchFamily="34" charset="0"/>
              </a:rPr>
              <a:t>            4.4.3 Partition of a Set</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Correspondence Between Partitions and Equivalence Relations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10227312" cy="54379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5BFF"/>
              </a:buClr>
              <a:buSzPct val="80000"/>
              <a:buFont typeface="Wingdings" panose="05000000000000000000" pitchFamily="2" charset="2"/>
              <a:buChar char="n"/>
            </a:pPr>
            <a:r>
              <a:rPr lang="en-US" altLang="zh-CN" sz="2400" dirty="0">
                <a:latin typeface="Trebuchet MS" panose="020B0603020202020204" pitchFamily="34" charset="0"/>
                <a:ea typeface="宋体" panose="02010600030101010101" pitchFamily="2" charset="-122"/>
              </a:rPr>
              <a:t>The</a:t>
            </a:r>
            <a:r>
              <a:rPr lang="zh-CN" altLang="en-US" sz="2400"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quotient</a:t>
            </a:r>
            <a:r>
              <a:rPr lang="zh-CN" altLang="en-US" sz="2400"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set</a:t>
            </a:r>
            <a:r>
              <a:rPr lang="zh-CN" altLang="en-US" sz="2400"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R</a:t>
            </a:r>
            <a:r>
              <a:rPr lang="en-US" altLang="zh-CN" sz="2400" i="1" dirty="0">
                <a:solidFill>
                  <a:schemeClr val="tx1"/>
                </a:solidFill>
                <a:latin typeface="Trebuchet MS" panose="020B0603020202020204" pitchFamily="34" charset="0"/>
                <a:ea typeface="宋体" panose="02010600030101010101" pitchFamily="2" charset="-122"/>
              </a:rPr>
              <a:t> is a partition of</a:t>
            </a:r>
            <a:r>
              <a:rPr lang="en-US" altLang="zh-CN" sz="2400" b="1" i="1" dirty="0">
                <a:solidFill>
                  <a:schemeClr val="tx1"/>
                </a:solidFill>
                <a:latin typeface="Trebuchet MS" panose="020B0603020202020204" pitchFamily="34" charset="0"/>
                <a:ea typeface="宋体" panose="02010600030101010101" pitchFamily="2" charset="-122"/>
              </a:rPr>
              <a:t> A</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a:t>
            </a:r>
          </a:p>
          <a:p>
            <a:pPr>
              <a:lnSpc>
                <a:spcPct val="120000"/>
              </a:lnSpc>
              <a:spcBef>
                <a:spcPts val="600"/>
              </a:spcBef>
              <a:buClr>
                <a:srgbClr val="0B5BFF"/>
              </a:buClr>
              <a:buSzPct val="80000"/>
              <a:buFont typeface="Wingdings" panose="05000000000000000000" pitchFamily="2" charset="2"/>
              <a:buChar char="n"/>
            </a:pPr>
            <a:r>
              <a:rPr lang="en-US" sz="2400" dirty="0">
                <a:latin typeface="Trebuchet MS" panose="020B0603020202020204" pitchFamily="34" charset="0"/>
              </a:rPr>
              <a:t>Different quotient sets correspond to different partitions.</a:t>
            </a:r>
          </a:p>
          <a:p>
            <a:pPr>
              <a:lnSpc>
                <a:spcPct val="120000"/>
              </a:lnSpc>
              <a:spcBef>
                <a:spcPts val="600"/>
              </a:spcBef>
              <a:buClr>
                <a:srgbClr val="0B5BFF"/>
              </a:buClr>
              <a:buSzPct val="80000"/>
              <a:buFont typeface="Wingdings" panose="05000000000000000000" pitchFamily="2" charset="2"/>
              <a:buChar char="n"/>
            </a:pPr>
            <a:r>
              <a:rPr lang="en-US" altLang="zh-CN" sz="2400" b="1" i="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Given any partition </a:t>
            </a:r>
            <a:r>
              <a:rPr lang="zh-CN" altLang="en-US" sz="2400"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sym typeface="Symbol" panose="05050102010706020507" pitchFamily="18" charset="2"/>
              </a:rPr>
              <a:t>of </a:t>
            </a:r>
            <a:r>
              <a:rPr lang="en-US" altLang="zh-CN" sz="2400" dirty="0">
                <a:latin typeface="Trebuchet MS" panose="020B0603020202020204" pitchFamily="34" charset="0"/>
              </a:rPr>
              <a:t>A</a:t>
            </a:r>
            <a:r>
              <a:rPr lang="zh-CN" altLang="en-US" sz="2400" dirty="0">
                <a:latin typeface="Trebuchet MS" panose="020B0603020202020204" pitchFamily="34" charset="0"/>
              </a:rPr>
              <a:t> </a:t>
            </a:r>
            <a:r>
              <a:rPr lang="en-US" altLang="zh-CN" sz="2400" dirty="0">
                <a:latin typeface="Trebuchet MS" panose="020B0603020202020204" pitchFamily="34" charset="0"/>
              </a:rPr>
              <a:t>, </a:t>
            </a:r>
            <a:r>
              <a:rPr lang="en-US" altLang="zh-CN" sz="2400" dirty="0">
                <a:solidFill>
                  <a:schemeClr val="tx1"/>
                </a:solidFill>
                <a:latin typeface="Trebuchet MS" panose="020B0603020202020204" pitchFamily="34" charset="0"/>
                <a:ea typeface="宋体" panose="02010600030101010101" pitchFamily="2" charset="-122"/>
              </a:rPr>
              <a:t>we define a relation</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R </a:t>
            </a:r>
            <a:r>
              <a:rPr lang="en-US" altLang="zh-CN" sz="2400" b="1" i="1" dirty="0">
                <a:latin typeface="Trebuchet MS" panose="020B0603020202020204" pitchFamily="34" charset="0"/>
                <a:ea typeface="宋体" panose="02010600030101010101" pitchFamily="2" charset="-122"/>
              </a:rPr>
              <a:t>on</a:t>
            </a:r>
            <a:r>
              <a:rPr lang="zh-CN" altLang="en-US" sz="2400" b="1" i="1" dirty="0">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A </a:t>
            </a:r>
            <a:r>
              <a:rPr lang="en-US" altLang="zh-CN" sz="2400" dirty="0">
                <a:solidFill>
                  <a:schemeClr val="tx1"/>
                </a:solidFill>
                <a:latin typeface="Trebuchet MS" panose="020B0603020202020204" pitchFamily="34" charset="0"/>
                <a:ea typeface="宋体" panose="02010600030101010101" pitchFamily="2" charset="-122"/>
              </a:rPr>
              <a:t>as follows</a:t>
            </a:r>
            <a:r>
              <a:rPr lang="zh-CN" altLang="en-US" sz="2400" b="1" dirty="0">
                <a:solidFill>
                  <a:schemeClr val="tx1"/>
                </a:solidFill>
                <a:latin typeface="Trebuchet MS" panose="020B0603020202020204" pitchFamily="34" charset="0"/>
                <a:ea typeface="宋体" panose="02010600030101010101" pitchFamily="2" charset="-122"/>
              </a:rPr>
              <a:t>：</a:t>
            </a:r>
            <a:br>
              <a:rPr lang="zh-CN" altLang="en-US" sz="2400" b="1" dirty="0">
                <a:solidFill>
                  <a:schemeClr val="tx1"/>
                </a:solidFill>
                <a:latin typeface="Trebuchet MS" panose="020B0603020202020204" pitchFamily="34" charset="0"/>
                <a:ea typeface="宋体" panose="02010600030101010101" pitchFamily="2" charset="-122"/>
              </a:rPr>
            </a:b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R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&gt; | </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i="1" dirty="0">
                <a:latin typeface="Trebuchet MS" panose="020B0603020202020204" pitchFamily="34" charset="0"/>
                <a:ea typeface="宋体" panose="02010600030101010101" pitchFamily="2" charset="-122"/>
              </a:rPr>
              <a:t> and </a:t>
            </a:r>
            <a:r>
              <a:rPr lang="en-US" altLang="zh-CN" sz="2400" dirty="0">
                <a:latin typeface="Trebuchet MS" panose="020B0603020202020204" pitchFamily="34" charset="0"/>
              </a:rPr>
              <a:t>[</a:t>
            </a:r>
            <a:r>
              <a:rPr lang="en-US" altLang="zh-CN" sz="2400" b="1" i="1" dirty="0">
                <a:latin typeface="Trebuchet MS" panose="020B0603020202020204" pitchFamily="34" charset="0"/>
              </a:rPr>
              <a:t>x</a:t>
            </a:r>
            <a:r>
              <a:rPr lang="en-US" altLang="zh-CN" sz="2400" dirty="0">
                <a:latin typeface="Trebuchet MS" panose="020B0603020202020204" pitchFamily="34" charset="0"/>
              </a:rPr>
              <a:t>]</a:t>
            </a:r>
            <a:r>
              <a:rPr lang="el-GR" altLang="zh-CN" sz="2400" b="1" i="1" baseline="-25000" dirty="0">
                <a:latin typeface="Trebuchet MS" panose="020B0603020202020204" pitchFamily="34" charset="0"/>
              </a:rPr>
              <a:t>π</a:t>
            </a:r>
            <a:r>
              <a:rPr lang="el-GR" altLang="zh-CN" sz="2400" dirty="0">
                <a:latin typeface="Trebuchet MS" panose="020B0603020202020204" pitchFamily="34" charset="0"/>
              </a:rPr>
              <a:t>​=[</a:t>
            </a:r>
            <a:r>
              <a:rPr lang="en-US" altLang="zh-CN" sz="2400" b="1" i="1" dirty="0">
                <a:latin typeface="Trebuchet MS" panose="020B0603020202020204" pitchFamily="34" charset="0"/>
              </a:rPr>
              <a:t>y</a:t>
            </a:r>
            <a:r>
              <a:rPr lang="en-US" altLang="zh-CN" sz="2400" dirty="0">
                <a:latin typeface="Trebuchet MS" panose="020B0603020202020204" pitchFamily="34" charset="0"/>
              </a:rPr>
              <a:t>]</a:t>
            </a:r>
            <a:r>
              <a:rPr lang="el-GR" altLang="zh-CN" sz="2400" b="1" i="1" baseline="-25000" dirty="0">
                <a:latin typeface="Trebuchet MS" panose="020B0603020202020204" pitchFamily="34" charset="0"/>
              </a:rPr>
              <a:t>π</a:t>
            </a:r>
            <a:r>
              <a:rPr lang="el-GR" altLang="zh-CN" sz="1600" dirty="0"/>
              <a:t>​</a:t>
            </a:r>
            <a:r>
              <a:rPr lang="en-US" altLang="zh-CN" sz="2400" b="1" dirty="0">
                <a:solidFill>
                  <a:schemeClr val="tx1"/>
                </a:solidFill>
                <a:latin typeface="Trebuchet MS" panose="020B0603020202020204" pitchFamily="34" charset="0"/>
                <a:ea typeface="宋体" panose="02010600030101010101" pitchFamily="2" charset="-122"/>
              </a:rPr>
              <a:t>}</a:t>
            </a:r>
          </a:p>
          <a:p>
            <a:pPr marL="0" indent="1349375">
              <a:lnSpc>
                <a:spcPct val="120000"/>
              </a:lnSpc>
              <a:spcBef>
                <a:spcPts val="600"/>
              </a:spcBef>
              <a:buNone/>
            </a:pPr>
            <a:r>
              <a:rPr lang="en-US" altLang="zh-CN" sz="2000" dirty="0">
                <a:latin typeface="Trebuchet MS" panose="020B0603020202020204" pitchFamily="34" charset="0"/>
              </a:rPr>
              <a:t>([</a:t>
            </a:r>
            <a:r>
              <a:rPr lang="en-US" altLang="zh-CN" sz="2000" b="1" i="1" dirty="0">
                <a:latin typeface="Trebuchet MS" panose="020B0603020202020204" pitchFamily="34" charset="0"/>
              </a:rPr>
              <a:t>x</a:t>
            </a:r>
            <a:r>
              <a:rPr lang="en-US" altLang="zh-CN" sz="2000" dirty="0">
                <a:latin typeface="Trebuchet MS" panose="020B0603020202020204" pitchFamily="34" charset="0"/>
              </a:rPr>
              <a:t>]</a:t>
            </a:r>
            <a:r>
              <a:rPr lang="el-GR" altLang="zh-CN" sz="2000" b="1" i="1" baseline="-25000" dirty="0">
                <a:latin typeface="Trebuchet MS" panose="020B0603020202020204" pitchFamily="34" charset="0"/>
              </a:rPr>
              <a:t>π</a:t>
            </a:r>
            <a:r>
              <a:rPr lang="el-GR" altLang="zh-CN" sz="2000" dirty="0">
                <a:latin typeface="Trebuchet MS" panose="020B0603020202020204" pitchFamily="34" charset="0"/>
              </a:rPr>
              <a:t>​=[</a:t>
            </a:r>
            <a:r>
              <a:rPr lang="en-US" altLang="zh-CN" sz="2000" b="1" i="1" dirty="0">
                <a:latin typeface="Trebuchet MS" panose="020B0603020202020204" pitchFamily="34" charset="0"/>
              </a:rPr>
              <a:t>y</a:t>
            </a:r>
            <a:r>
              <a:rPr lang="en-US" altLang="zh-CN" sz="2000" dirty="0">
                <a:latin typeface="Trebuchet MS" panose="020B0603020202020204" pitchFamily="34" charset="0"/>
              </a:rPr>
              <a:t>]</a:t>
            </a:r>
            <a:r>
              <a:rPr lang="el-GR" altLang="zh-CN" sz="2000" b="1" i="1" baseline="-25000" dirty="0">
                <a:latin typeface="Trebuchet MS" panose="020B0603020202020204" pitchFamily="34" charset="0"/>
              </a:rPr>
              <a:t>π </a:t>
            </a:r>
            <a:r>
              <a:rPr lang="en-US" altLang="zh-CN" sz="2000" dirty="0">
                <a:latin typeface="Trebuchet MS" panose="020B0603020202020204" pitchFamily="34" charset="0"/>
              </a:rPr>
              <a:t>: </a:t>
            </a:r>
            <a:r>
              <a:rPr lang="en-US" altLang="zh-CN" sz="2000" b="1" i="1" dirty="0">
                <a:latin typeface="Trebuchet MS" panose="020B0603020202020204" pitchFamily="34" charset="0"/>
              </a:rPr>
              <a:t>x </a:t>
            </a:r>
            <a:r>
              <a:rPr lang="en-US" altLang="zh-CN" sz="2000" dirty="0">
                <a:latin typeface="Trebuchet MS" panose="020B0603020202020204" pitchFamily="34" charset="0"/>
              </a:rPr>
              <a:t>and </a:t>
            </a:r>
            <a:r>
              <a:rPr lang="en-US" altLang="zh-CN" sz="2000" b="1" i="1" dirty="0">
                <a:latin typeface="Trebuchet MS" panose="020B0603020202020204" pitchFamily="34" charset="0"/>
              </a:rPr>
              <a:t>y</a:t>
            </a:r>
            <a:r>
              <a:rPr lang="en-US" altLang="zh-CN" sz="2000" dirty="0">
                <a:latin typeface="Trebuchet MS" panose="020B0603020202020204" pitchFamily="34" charset="0"/>
              </a:rPr>
              <a:t> are in the same partition block of </a:t>
            </a:r>
            <a:r>
              <a:rPr lang="en-US" altLang="zh-CN" sz="2000" b="1" i="1" dirty="0">
                <a:latin typeface="Trebuchet MS" panose="020B0603020202020204" pitchFamily="34" charset="0"/>
              </a:rPr>
              <a:t>π</a:t>
            </a:r>
            <a:r>
              <a:rPr lang="en-US" altLang="zh-CN" sz="2000" dirty="0">
                <a:latin typeface="Trebuchet MS" panose="020B0603020202020204" pitchFamily="34" charset="0"/>
              </a:rPr>
              <a:t> </a:t>
            </a:r>
            <a:r>
              <a:rPr lang="en-US" altLang="zh-CN" sz="2000" b="1" dirty="0">
                <a:solidFill>
                  <a:schemeClr val="tx1"/>
                </a:solidFill>
                <a:latin typeface="Trebuchet MS" panose="020B0603020202020204" pitchFamily="34" charset="0"/>
                <a:ea typeface="宋体" panose="02010600030101010101" pitchFamily="2" charset="-122"/>
              </a:rPr>
              <a:t>)</a:t>
            </a:r>
          </a:p>
          <a:p>
            <a:pPr marL="811213" indent="0">
              <a:lnSpc>
                <a:spcPct val="120000"/>
              </a:lnSpc>
              <a:spcBef>
                <a:spcPts val="600"/>
              </a:spcBef>
              <a:buNone/>
            </a:pPr>
            <a:r>
              <a:rPr lang="en-US" altLang="zh-CN" sz="2400" dirty="0">
                <a:solidFill>
                  <a:schemeClr val="tx1"/>
                </a:solidFill>
                <a:latin typeface="Trebuchet MS" panose="020B0603020202020204" pitchFamily="34" charset="0"/>
                <a:ea typeface="宋体" panose="02010600030101010101" pitchFamily="2" charset="-122"/>
              </a:rPr>
              <a:t>Then, </a:t>
            </a:r>
            <a:r>
              <a:rPr lang="en-US" altLang="zh-CN" sz="2400" b="1" i="1" dirty="0">
                <a:solidFill>
                  <a:schemeClr val="tx1"/>
                </a:solidFill>
                <a:latin typeface="Trebuchet MS" panose="020B0603020202020204" pitchFamily="34" charset="0"/>
                <a:ea typeface="宋体" panose="02010600030101010101" pitchFamily="2" charset="-122"/>
              </a:rPr>
              <a:t>R </a:t>
            </a:r>
            <a:r>
              <a:rPr lang="en-US" sz="2400" dirty="0">
                <a:latin typeface="Trebuchet MS" panose="020B0603020202020204" pitchFamily="34" charset="0"/>
              </a:rPr>
              <a:t>is an equivalence relation on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and the quotient set determined by this equivalence relation is exactly </a:t>
            </a:r>
            <a:r>
              <a:rPr lang="zh-CN" altLang="en-US" sz="2400" b="1" i="1" dirty="0">
                <a:solidFill>
                  <a:schemeClr val="tx2"/>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p>
          <a:p>
            <a:pPr marL="0" indent="0" eaLnBrk="1" hangingPunct="1">
              <a:lnSpc>
                <a:spcPct val="120000"/>
              </a:lnSpc>
              <a:spcBef>
                <a:spcPts val="600"/>
              </a:spcBef>
              <a:buNone/>
            </a:pPr>
            <a:r>
              <a:rPr lang="en-US" altLang="zh-CN" sz="2400" b="1" dirty="0">
                <a:latin typeface="Trebuchet MS" panose="020B0603020202020204" pitchFamily="34" charset="0"/>
                <a:ea typeface="宋体" panose="02010600030101010101" pitchFamily="2" charset="-122"/>
              </a:rPr>
              <a:t>     Example: </a:t>
            </a:r>
            <a:r>
              <a:rPr lang="en-US" sz="2400" dirty="0">
                <a:latin typeface="Trebuchet MS" panose="020B0603020202020204" pitchFamily="34" charset="0"/>
              </a:rPr>
              <a:t>List all equivalence relations on </a:t>
            </a:r>
            <a:r>
              <a:rPr lang="en-US" altLang="zh-CN" sz="2400" b="1" i="1" dirty="0">
                <a:solidFill>
                  <a:schemeClr val="tx1"/>
                </a:solidFill>
                <a:latin typeface="Trebuchet MS" panose="020B0603020202020204" pitchFamily="34" charset="0"/>
                <a:ea typeface="宋体" panose="02010600030101010101" pitchFamily="2" charset="-122"/>
              </a:rPr>
              <a:t>A</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{1,2,3}</a:t>
            </a:r>
            <a:endParaRPr lang="zh-CN" altLang="en-US" sz="2400" b="1" dirty="0">
              <a:solidFill>
                <a:schemeClr val="tx1"/>
              </a:solidFill>
              <a:latin typeface="Trebuchet MS" panose="020B0603020202020204" pitchFamily="34" charset="0"/>
              <a:ea typeface="宋体" panose="02010600030101010101" pitchFamily="2" charset="-122"/>
            </a:endParaRPr>
          </a:p>
          <a:p>
            <a:pPr marL="0" indent="446088" eaLnBrk="1" hangingPunct="1">
              <a:lnSpc>
                <a:spcPct val="120000"/>
              </a:lnSpc>
              <a:spcBef>
                <a:spcPts val="600"/>
              </a:spcBef>
              <a:buNone/>
            </a:pPr>
            <a:r>
              <a:rPr lang="en-US" sz="2400" b="1" dirty="0">
                <a:latin typeface="Trebuchet MS" panose="020B0603020202020204" pitchFamily="34" charset="0"/>
              </a:rPr>
              <a:t>Solution approach</a:t>
            </a:r>
            <a:r>
              <a:rPr lang="en-US" sz="2400" dirty="0">
                <a:latin typeface="Trebuchet MS" panose="020B0603020202020204" pitchFamily="34" charset="0"/>
              </a:rPr>
              <a:t>:</a:t>
            </a:r>
          </a:p>
          <a:p>
            <a:pPr marL="446088" indent="0" eaLnBrk="1" hangingPunct="1">
              <a:lnSpc>
                <a:spcPct val="120000"/>
              </a:lnSpc>
              <a:spcBef>
                <a:spcPts val="600"/>
              </a:spcBef>
              <a:buNone/>
            </a:pPr>
            <a:r>
              <a:rPr lang="en-US" sz="2400" dirty="0">
                <a:latin typeface="Trebuchet MS" panose="020B0603020202020204" pitchFamily="34" charset="0"/>
              </a:rPr>
              <a:t>First, determine all partitions of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and then write out the corresponding equivalence relations based on these partitions.</a:t>
            </a:r>
            <a:r>
              <a:rPr lang="en-US" altLang="zh-CN" sz="2400" b="1" dirty="0">
                <a:solidFill>
                  <a:schemeClr val="tx1"/>
                </a:solidFill>
                <a:latin typeface="Trebuchet MS" panose="020B0603020202020204" pitchFamily="34" charset="0"/>
                <a:ea typeface="宋体" panose="02010600030101010101" pitchFamily="2" charset="-122"/>
              </a:rPr>
              <a:t> </a:t>
            </a:r>
          </a:p>
        </p:txBody>
      </p:sp>
      <p:pic>
        <p:nvPicPr>
          <p:cNvPr id="9" name="图片 8">
            <a:extLst>
              <a:ext uri="{FF2B5EF4-FFF2-40B4-BE49-F238E27FC236}">
                <a16:creationId xmlns:a16="http://schemas.microsoft.com/office/drawing/2014/main" id="{9AA77A80-5085-4D18-AD18-C152044005B6}"/>
              </a:ext>
            </a:extLst>
          </p:cNvPr>
          <p:cNvPicPr/>
          <p:nvPr/>
        </p:nvPicPr>
        <p:blipFill>
          <a:blip r:embed="rId5"/>
          <a:stretch>
            <a:fillRect/>
          </a:stretch>
        </p:blipFill>
        <p:spPr>
          <a:xfrm>
            <a:off x="1017907" y="4393599"/>
            <a:ext cx="577850" cy="241300"/>
          </a:xfrm>
          <a:prstGeom prst="rect">
            <a:avLst/>
          </a:prstGeom>
        </p:spPr>
      </p:pic>
    </p:spTree>
    <p:extLst>
      <p:ext uri="{BB962C8B-B14F-4D97-AF65-F5344CB8AC3E}">
        <p14:creationId xmlns:p14="http://schemas.microsoft.com/office/powerpoint/2010/main" val="1311812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Effect transition="in" filter="fade">
                                      <p:cBhvr>
                                        <p:cTn id="43" dur="1000"/>
                                        <p:tgtEl>
                                          <p:spTgt spid="8">
                                            <p:txEl>
                                              <p:pRg st="6" end="6"/>
                                            </p:txEl>
                                          </p:spTgt>
                                        </p:tgtEl>
                                      </p:cBhvr>
                                    </p:animEffect>
                                    <p:anim calcmode="lin" valueType="num">
                                      <p:cBhvr>
                                        <p:cTn id="4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8">
                                            <p:txEl>
                                              <p:pRg st="7" end="7"/>
                                            </p:txEl>
                                          </p:spTgt>
                                        </p:tgtEl>
                                        <p:attrNameLst>
                                          <p:attrName>style.visibility</p:attrName>
                                        </p:attrNameLst>
                                      </p:cBhvr>
                                      <p:to>
                                        <p:strVal val="visible"/>
                                      </p:to>
                                    </p:set>
                                    <p:animEffect transition="in" filter="fade">
                                      <p:cBhvr>
                                        <p:cTn id="50" dur="1000"/>
                                        <p:tgtEl>
                                          <p:spTgt spid="8">
                                            <p:txEl>
                                              <p:pRg st="7" end="7"/>
                                            </p:txEl>
                                          </p:spTgt>
                                        </p:tgtEl>
                                      </p:cBhvr>
                                    </p:animEffect>
                                    <p:anim calcmode="lin" valueType="num">
                                      <p:cBhvr>
                                        <p:cTn id="51"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bg1"/>
                </a:solidFill>
                <a:latin typeface="Trebuchet MS" panose="020B0603020202020204" pitchFamily="34" charset="0"/>
              </a:rPr>
              <a:t>4.4.3 Partition of a Set</a:t>
            </a:r>
          </a:p>
          <a:p>
            <a:pPr>
              <a:lnSpc>
                <a:spcPct val="110000"/>
              </a:lnSpc>
              <a:buClr>
                <a:srgbClr val="0B5BFF"/>
              </a:buClr>
              <a:buSzPct val="80000"/>
            </a:pP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Set </a:t>
            </a:r>
            <a:r>
              <a:rPr lang="en-US" altLang="zh-CN" sz="2400" b="1" dirty="0">
                <a:latin typeface="Trebuchet MS" panose="020B0603020202020204" pitchFamily="34" charset="0"/>
              </a:rPr>
              <a:t>Partitions and Equivalence Relation(</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9409251"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dirty="0">
                <a:latin typeface="Trebuchet MS" panose="020B0603020202020204" pitchFamily="34" charset="0"/>
              </a:rPr>
              <a:t>Determine all partitions of </a:t>
            </a:r>
            <a:r>
              <a:rPr lang="en-US" altLang="zh-CN" sz="2400" b="1" i="1" dirty="0">
                <a:solidFill>
                  <a:schemeClr val="tx1"/>
                </a:solidFill>
                <a:latin typeface="Trebuchet MS" panose="020B0603020202020204" pitchFamily="34" charset="0"/>
                <a:ea typeface="宋体" panose="02010600030101010101" pitchFamily="2" charset="-122"/>
              </a:rPr>
              <a:t>A</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{1,2,3}</a:t>
            </a:r>
            <a:endParaRPr lang="zh-CN" altLang="en-US" sz="2400" b="1" dirty="0">
              <a:solidFill>
                <a:schemeClr val="tx1"/>
              </a:solidFill>
              <a:latin typeface="Trebuchet MS" panose="020B0603020202020204" pitchFamily="34" charset="0"/>
              <a:ea typeface="宋体" panose="02010600030101010101" pitchFamily="2" charset="-122"/>
            </a:endParaRPr>
          </a:p>
          <a:p>
            <a:pPr marL="0" indent="0">
              <a:lnSpc>
                <a:spcPct val="120000"/>
              </a:lnSpc>
              <a:buNone/>
            </a:pPr>
            <a:r>
              <a:rPr lang="en-US" altLang="zh-CN" sz="2400" b="1" dirty="0">
                <a:solidFill>
                  <a:srgbClr val="00B0F0"/>
                </a:solidFill>
                <a:latin typeface="Trebuchet MS" panose="020B0603020202020204" pitchFamily="34" charset="0"/>
              </a:rPr>
              <a:t> </a:t>
            </a:r>
            <a:endParaRPr lang="en-US" altLang="zh-CN" sz="2400" b="1" dirty="0">
              <a:solidFill>
                <a:schemeClr val="tx1"/>
              </a:solidFill>
              <a:latin typeface="Trebuchet MS" panose="020B0603020202020204" pitchFamily="34" charset="0"/>
              <a:ea typeface="宋体" panose="02010600030101010101" pitchFamily="2" charset="-122"/>
            </a:endParaRPr>
          </a:p>
        </p:txBody>
      </p:sp>
      <p:grpSp>
        <p:nvGrpSpPr>
          <p:cNvPr id="23" name="Group 91">
            <a:extLst>
              <a:ext uri="{FF2B5EF4-FFF2-40B4-BE49-F238E27FC236}">
                <a16:creationId xmlns:a16="http://schemas.microsoft.com/office/drawing/2014/main" id="{F8D7B290-165C-4EEA-AC52-3749BB01E3C8}"/>
              </a:ext>
            </a:extLst>
          </p:cNvPr>
          <p:cNvGrpSpPr>
            <a:grpSpLocks/>
          </p:cNvGrpSpPr>
          <p:nvPr/>
        </p:nvGrpSpPr>
        <p:grpSpPr bwMode="auto">
          <a:xfrm>
            <a:off x="2171700" y="1459431"/>
            <a:ext cx="7848600" cy="1671637"/>
            <a:chOff x="249" y="1561"/>
            <a:chExt cx="5307" cy="1189"/>
          </a:xfrm>
        </p:grpSpPr>
        <p:grpSp>
          <p:nvGrpSpPr>
            <p:cNvPr id="24" name="Group 83">
              <a:extLst>
                <a:ext uri="{FF2B5EF4-FFF2-40B4-BE49-F238E27FC236}">
                  <a16:creationId xmlns:a16="http://schemas.microsoft.com/office/drawing/2014/main" id="{B12EB953-1544-4E05-BAD1-98183913E1B7}"/>
                </a:ext>
              </a:extLst>
            </p:cNvPr>
            <p:cNvGrpSpPr>
              <a:grpSpLocks/>
            </p:cNvGrpSpPr>
            <p:nvPr/>
          </p:nvGrpSpPr>
          <p:grpSpPr bwMode="auto">
            <a:xfrm>
              <a:off x="249" y="1561"/>
              <a:ext cx="907" cy="1189"/>
              <a:chOff x="521" y="1661"/>
              <a:chExt cx="907" cy="1189"/>
            </a:xfrm>
          </p:grpSpPr>
          <p:grpSp>
            <p:nvGrpSpPr>
              <p:cNvPr id="63" name="Group 46">
                <a:extLst>
                  <a:ext uri="{FF2B5EF4-FFF2-40B4-BE49-F238E27FC236}">
                    <a16:creationId xmlns:a16="http://schemas.microsoft.com/office/drawing/2014/main" id="{5EBB315A-CA49-407A-828A-963E5D42123D}"/>
                  </a:ext>
                </a:extLst>
              </p:cNvPr>
              <p:cNvGrpSpPr>
                <a:grpSpLocks/>
              </p:cNvGrpSpPr>
              <p:nvPr/>
            </p:nvGrpSpPr>
            <p:grpSpPr bwMode="auto">
              <a:xfrm>
                <a:off x="521" y="1661"/>
                <a:ext cx="907" cy="907"/>
                <a:chOff x="612" y="2296"/>
                <a:chExt cx="907" cy="907"/>
              </a:xfrm>
            </p:grpSpPr>
            <p:sp>
              <p:nvSpPr>
                <p:cNvPr id="65" name="Oval 38">
                  <a:extLst>
                    <a:ext uri="{FF2B5EF4-FFF2-40B4-BE49-F238E27FC236}">
                      <a16:creationId xmlns:a16="http://schemas.microsoft.com/office/drawing/2014/main" id="{F869CC91-04AA-48CF-98DE-63AABC3B7ACB}"/>
                    </a:ext>
                  </a:extLst>
                </p:cNvPr>
                <p:cNvSpPr>
                  <a:spLocks noChangeArrowheads="1"/>
                </p:cNvSpPr>
                <p:nvPr/>
              </p:nvSpPr>
              <p:spPr bwMode="auto">
                <a:xfrm>
                  <a:off x="612" y="2296"/>
                  <a:ext cx="907" cy="90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sp>
              <p:nvSpPr>
                <p:cNvPr id="66" name="Oval 39">
                  <a:extLst>
                    <a:ext uri="{FF2B5EF4-FFF2-40B4-BE49-F238E27FC236}">
                      <a16:creationId xmlns:a16="http://schemas.microsoft.com/office/drawing/2014/main" id="{A4502FE7-B8D9-415B-B87F-13C73AA7B6D0}"/>
                    </a:ext>
                  </a:extLst>
                </p:cNvPr>
                <p:cNvSpPr>
                  <a:spLocks noChangeArrowheads="1"/>
                </p:cNvSpPr>
                <p:nvPr/>
              </p:nvSpPr>
              <p:spPr bwMode="auto">
                <a:xfrm>
                  <a:off x="975" y="2432"/>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67" name="Oval 44">
                  <a:extLst>
                    <a:ext uri="{FF2B5EF4-FFF2-40B4-BE49-F238E27FC236}">
                      <a16:creationId xmlns:a16="http://schemas.microsoft.com/office/drawing/2014/main" id="{C61B7014-4199-4114-A774-C73E82941BF8}"/>
                    </a:ext>
                  </a:extLst>
                </p:cNvPr>
                <p:cNvSpPr>
                  <a:spLocks noChangeArrowheads="1"/>
                </p:cNvSpPr>
                <p:nvPr/>
              </p:nvSpPr>
              <p:spPr bwMode="auto">
                <a:xfrm>
                  <a:off x="793"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ea typeface="Arial Unicode MS" panose="020B0604020202020204" pitchFamily="34" charset="-122"/>
                      <a:cs typeface="Arial Unicode MS" panose="020B0604020202020204" pitchFamily="34" charset="-122"/>
                    </a:rPr>
                    <a:t>1</a:t>
                  </a:r>
                </a:p>
              </p:txBody>
            </p:sp>
            <p:sp>
              <p:nvSpPr>
                <p:cNvPr id="68" name="Oval 45">
                  <a:extLst>
                    <a:ext uri="{FF2B5EF4-FFF2-40B4-BE49-F238E27FC236}">
                      <a16:creationId xmlns:a16="http://schemas.microsoft.com/office/drawing/2014/main" id="{92935F77-06EE-43B0-8F2E-44306F1D291D}"/>
                    </a:ext>
                  </a:extLst>
                </p:cNvPr>
                <p:cNvSpPr>
                  <a:spLocks noChangeArrowheads="1"/>
                </p:cNvSpPr>
                <p:nvPr/>
              </p:nvSpPr>
              <p:spPr bwMode="auto">
                <a:xfrm>
                  <a:off x="1179"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Arial Unicode MS" panose="020B0604020202020204" pitchFamily="34" charset="-122"/>
                      <a:ea typeface="Arial Unicode MS" panose="020B0604020202020204" pitchFamily="34" charset="-122"/>
                      <a:cs typeface="Arial Unicode MS" panose="020B0604020202020204" pitchFamily="34" charset="-122"/>
                    </a:rPr>
                    <a:t>3</a:t>
                  </a:r>
                </a:p>
              </p:txBody>
            </p:sp>
          </p:grpSp>
          <p:sp>
            <p:nvSpPr>
              <p:cNvPr id="64" name="Rectangle 78">
                <a:extLst>
                  <a:ext uri="{FF2B5EF4-FFF2-40B4-BE49-F238E27FC236}">
                    <a16:creationId xmlns:a16="http://schemas.microsoft.com/office/drawing/2014/main" id="{87EE9553-F10A-4B09-959D-2AD7343F5442}"/>
                  </a:ext>
                </a:extLst>
              </p:cNvPr>
              <p:cNvSpPr>
                <a:spLocks noChangeArrowheads="1"/>
              </p:cNvSpPr>
              <p:nvPr/>
            </p:nvSpPr>
            <p:spPr bwMode="auto">
              <a:xfrm>
                <a:off x="881" y="2523"/>
                <a:ext cx="3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ym typeface="Symbol" panose="05050102010706020507" pitchFamily="18" charset="2"/>
                  </a:rPr>
                  <a:t></a:t>
                </a:r>
                <a:r>
                  <a:rPr lang="en-US" altLang="zh-CN" sz="2400" baseline="-25000"/>
                  <a:t>1</a:t>
                </a:r>
                <a:r>
                  <a:rPr lang="en-US" altLang="zh-CN" sz="2400" b="1" baseline="-25000">
                    <a:sym typeface="Symbol" panose="05050102010706020507" pitchFamily="18" charset="2"/>
                  </a:rPr>
                  <a:t> </a:t>
                </a:r>
              </a:p>
            </p:txBody>
          </p:sp>
        </p:grpSp>
        <p:grpSp>
          <p:nvGrpSpPr>
            <p:cNvPr id="25" name="Group 87">
              <a:extLst>
                <a:ext uri="{FF2B5EF4-FFF2-40B4-BE49-F238E27FC236}">
                  <a16:creationId xmlns:a16="http://schemas.microsoft.com/office/drawing/2014/main" id="{0DC9CA3A-7855-4F58-8BE4-AE7E7DA6748D}"/>
                </a:ext>
              </a:extLst>
            </p:cNvPr>
            <p:cNvGrpSpPr>
              <a:grpSpLocks/>
            </p:cNvGrpSpPr>
            <p:nvPr/>
          </p:nvGrpSpPr>
          <p:grpSpPr bwMode="auto">
            <a:xfrm>
              <a:off x="4649" y="1561"/>
              <a:ext cx="907" cy="1189"/>
              <a:chOff x="3152" y="2931"/>
              <a:chExt cx="907" cy="1189"/>
            </a:xfrm>
          </p:grpSpPr>
          <p:grpSp>
            <p:nvGrpSpPr>
              <p:cNvPr id="53" name="Group 76">
                <a:extLst>
                  <a:ext uri="{FF2B5EF4-FFF2-40B4-BE49-F238E27FC236}">
                    <a16:creationId xmlns:a16="http://schemas.microsoft.com/office/drawing/2014/main" id="{2CEAE74A-A009-4093-AF66-8EBDFB8261FC}"/>
                  </a:ext>
                </a:extLst>
              </p:cNvPr>
              <p:cNvGrpSpPr>
                <a:grpSpLocks/>
              </p:cNvGrpSpPr>
              <p:nvPr/>
            </p:nvGrpSpPr>
            <p:grpSpPr bwMode="auto">
              <a:xfrm>
                <a:off x="3152" y="2931"/>
                <a:ext cx="907" cy="907"/>
                <a:chOff x="3152" y="3022"/>
                <a:chExt cx="907" cy="907"/>
              </a:xfrm>
            </p:grpSpPr>
            <p:grpSp>
              <p:nvGrpSpPr>
                <p:cNvPr id="55" name="Group 57">
                  <a:extLst>
                    <a:ext uri="{FF2B5EF4-FFF2-40B4-BE49-F238E27FC236}">
                      <a16:creationId xmlns:a16="http://schemas.microsoft.com/office/drawing/2014/main" id="{841AE890-3798-4B6E-8940-72B44362CA33}"/>
                    </a:ext>
                  </a:extLst>
                </p:cNvPr>
                <p:cNvGrpSpPr>
                  <a:grpSpLocks/>
                </p:cNvGrpSpPr>
                <p:nvPr/>
              </p:nvGrpSpPr>
              <p:grpSpPr bwMode="auto">
                <a:xfrm>
                  <a:off x="3152" y="3022"/>
                  <a:ext cx="907" cy="907"/>
                  <a:chOff x="612" y="2296"/>
                  <a:chExt cx="907" cy="907"/>
                </a:xfrm>
              </p:grpSpPr>
              <p:sp>
                <p:nvSpPr>
                  <p:cNvPr id="59" name="Oval 58">
                    <a:extLst>
                      <a:ext uri="{FF2B5EF4-FFF2-40B4-BE49-F238E27FC236}">
                        <a16:creationId xmlns:a16="http://schemas.microsoft.com/office/drawing/2014/main" id="{21B0EF9F-1747-4313-9094-ABA00119278C}"/>
                      </a:ext>
                    </a:extLst>
                  </p:cNvPr>
                  <p:cNvSpPr>
                    <a:spLocks noChangeArrowheads="1"/>
                  </p:cNvSpPr>
                  <p:nvPr/>
                </p:nvSpPr>
                <p:spPr bwMode="auto">
                  <a:xfrm>
                    <a:off x="612" y="2296"/>
                    <a:ext cx="907" cy="90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sp>
                <p:nvSpPr>
                  <p:cNvPr id="60" name="Oval 59">
                    <a:extLst>
                      <a:ext uri="{FF2B5EF4-FFF2-40B4-BE49-F238E27FC236}">
                        <a16:creationId xmlns:a16="http://schemas.microsoft.com/office/drawing/2014/main" id="{C9D934A8-B2CA-482A-8992-BBE063BABEBD}"/>
                      </a:ext>
                    </a:extLst>
                  </p:cNvPr>
                  <p:cNvSpPr>
                    <a:spLocks noChangeArrowheads="1"/>
                  </p:cNvSpPr>
                  <p:nvPr/>
                </p:nvSpPr>
                <p:spPr bwMode="auto">
                  <a:xfrm>
                    <a:off x="975" y="2432"/>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61" name="Oval 60">
                    <a:extLst>
                      <a:ext uri="{FF2B5EF4-FFF2-40B4-BE49-F238E27FC236}">
                        <a16:creationId xmlns:a16="http://schemas.microsoft.com/office/drawing/2014/main" id="{18D7A02C-3E88-492E-BCBA-388EFABC2FD9}"/>
                      </a:ext>
                    </a:extLst>
                  </p:cNvPr>
                  <p:cNvSpPr>
                    <a:spLocks noChangeArrowheads="1"/>
                  </p:cNvSpPr>
                  <p:nvPr/>
                </p:nvSpPr>
                <p:spPr bwMode="auto">
                  <a:xfrm>
                    <a:off x="793"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ea typeface="Arial Unicode MS" panose="020B0604020202020204" pitchFamily="34" charset="-122"/>
                        <a:cs typeface="Arial Unicode MS" panose="020B0604020202020204" pitchFamily="34" charset="-122"/>
                      </a:rPr>
                      <a:t>1</a:t>
                    </a:r>
                  </a:p>
                </p:txBody>
              </p:sp>
              <p:sp>
                <p:nvSpPr>
                  <p:cNvPr id="62" name="Oval 61">
                    <a:extLst>
                      <a:ext uri="{FF2B5EF4-FFF2-40B4-BE49-F238E27FC236}">
                        <a16:creationId xmlns:a16="http://schemas.microsoft.com/office/drawing/2014/main" id="{6998E727-E881-485A-BD44-A890530F97C5}"/>
                      </a:ext>
                    </a:extLst>
                  </p:cNvPr>
                  <p:cNvSpPr>
                    <a:spLocks noChangeArrowheads="1"/>
                  </p:cNvSpPr>
                  <p:nvPr/>
                </p:nvSpPr>
                <p:spPr bwMode="auto">
                  <a:xfrm>
                    <a:off x="1179"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3</a:t>
                    </a:r>
                  </a:p>
                </p:txBody>
              </p:sp>
            </p:grpSp>
            <p:sp>
              <p:nvSpPr>
                <p:cNvPr id="56" name="Line 70">
                  <a:extLst>
                    <a:ext uri="{FF2B5EF4-FFF2-40B4-BE49-F238E27FC236}">
                      <a16:creationId xmlns:a16="http://schemas.microsoft.com/office/drawing/2014/main" id="{0DDABA41-16D7-48B3-B85F-69028A3C0BF9}"/>
                    </a:ext>
                  </a:extLst>
                </p:cNvPr>
                <p:cNvSpPr>
                  <a:spLocks noChangeShapeType="1"/>
                </p:cNvSpPr>
                <p:nvPr/>
              </p:nvSpPr>
              <p:spPr bwMode="auto">
                <a:xfrm>
                  <a:off x="3243" y="3203"/>
                  <a:ext cx="363"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57" name="Line 71">
                  <a:extLst>
                    <a:ext uri="{FF2B5EF4-FFF2-40B4-BE49-F238E27FC236}">
                      <a16:creationId xmlns:a16="http://schemas.microsoft.com/office/drawing/2014/main" id="{177DAB06-5713-42D9-A8CB-DAD2591420DD}"/>
                    </a:ext>
                  </a:extLst>
                </p:cNvPr>
                <p:cNvSpPr>
                  <a:spLocks noChangeShapeType="1"/>
                </p:cNvSpPr>
                <p:nvPr/>
              </p:nvSpPr>
              <p:spPr bwMode="auto">
                <a:xfrm flipV="1">
                  <a:off x="3606" y="3294"/>
                  <a:ext cx="408"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58" name="Line 72">
                  <a:extLst>
                    <a:ext uri="{FF2B5EF4-FFF2-40B4-BE49-F238E27FC236}">
                      <a16:creationId xmlns:a16="http://schemas.microsoft.com/office/drawing/2014/main" id="{50C4E96C-BB8C-47D0-984D-FC0E68518120}"/>
                    </a:ext>
                  </a:extLst>
                </p:cNvPr>
                <p:cNvSpPr>
                  <a:spLocks noChangeShapeType="1"/>
                </p:cNvSpPr>
                <p:nvPr/>
              </p:nvSpPr>
              <p:spPr bwMode="auto">
                <a:xfrm>
                  <a:off x="3606" y="3521"/>
                  <a:ext cx="0" cy="4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grpSp>
          <p:sp>
            <p:nvSpPr>
              <p:cNvPr id="54" name="Rectangle 79">
                <a:extLst>
                  <a:ext uri="{FF2B5EF4-FFF2-40B4-BE49-F238E27FC236}">
                    <a16:creationId xmlns:a16="http://schemas.microsoft.com/office/drawing/2014/main" id="{FD934E87-1586-4791-9F1C-C4864E828EA4}"/>
                  </a:ext>
                </a:extLst>
              </p:cNvPr>
              <p:cNvSpPr>
                <a:spLocks noChangeArrowheads="1"/>
              </p:cNvSpPr>
              <p:nvPr/>
            </p:nvSpPr>
            <p:spPr bwMode="auto">
              <a:xfrm>
                <a:off x="3509" y="3793"/>
                <a:ext cx="3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ym typeface="Symbol" panose="05050102010706020507" pitchFamily="18" charset="2"/>
                  </a:rPr>
                  <a:t></a:t>
                </a:r>
                <a:r>
                  <a:rPr lang="en-US" altLang="zh-CN" sz="2400" baseline="-25000" dirty="0">
                    <a:sym typeface="Symbol" panose="05050102010706020507" pitchFamily="18" charset="2"/>
                  </a:rPr>
                  <a:t>5</a:t>
                </a:r>
                <a:endParaRPr lang="en-US" altLang="zh-CN" sz="2400" baseline="-25000" dirty="0"/>
              </a:p>
            </p:txBody>
          </p:sp>
        </p:grpSp>
        <p:grpSp>
          <p:nvGrpSpPr>
            <p:cNvPr id="26" name="Group 84">
              <a:extLst>
                <a:ext uri="{FF2B5EF4-FFF2-40B4-BE49-F238E27FC236}">
                  <a16:creationId xmlns:a16="http://schemas.microsoft.com/office/drawing/2014/main" id="{469923A6-A090-4202-BB40-CC06DD4E20D6}"/>
                </a:ext>
              </a:extLst>
            </p:cNvPr>
            <p:cNvGrpSpPr>
              <a:grpSpLocks/>
            </p:cNvGrpSpPr>
            <p:nvPr/>
          </p:nvGrpSpPr>
          <p:grpSpPr bwMode="auto">
            <a:xfrm>
              <a:off x="1338" y="1570"/>
              <a:ext cx="907" cy="1180"/>
              <a:chOff x="2154" y="1706"/>
              <a:chExt cx="907" cy="1180"/>
            </a:xfrm>
          </p:grpSpPr>
          <p:grpSp>
            <p:nvGrpSpPr>
              <p:cNvPr id="45" name="Group 73">
                <a:extLst>
                  <a:ext uri="{FF2B5EF4-FFF2-40B4-BE49-F238E27FC236}">
                    <a16:creationId xmlns:a16="http://schemas.microsoft.com/office/drawing/2014/main" id="{9E9B472C-7271-4894-A775-547752C2A958}"/>
                  </a:ext>
                </a:extLst>
              </p:cNvPr>
              <p:cNvGrpSpPr>
                <a:grpSpLocks/>
              </p:cNvGrpSpPr>
              <p:nvPr/>
            </p:nvGrpSpPr>
            <p:grpSpPr bwMode="auto">
              <a:xfrm>
                <a:off x="2154" y="1706"/>
                <a:ext cx="907" cy="907"/>
                <a:chOff x="2154" y="1797"/>
                <a:chExt cx="907" cy="907"/>
              </a:xfrm>
            </p:grpSpPr>
            <p:grpSp>
              <p:nvGrpSpPr>
                <p:cNvPr id="47" name="Group 47">
                  <a:extLst>
                    <a:ext uri="{FF2B5EF4-FFF2-40B4-BE49-F238E27FC236}">
                      <a16:creationId xmlns:a16="http://schemas.microsoft.com/office/drawing/2014/main" id="{9D5BC23C-F44C-45D7-B0FA-E28430B77E86}"/>
                    </a:ext>
                  </a:extLst>
                </p:cNvPr>
                <p:cNvGrpSpPr>
                  <a:grpSpLocks/>
                </p:cNvGrpSpPr>
                <p:nvPr/>
              </p:nvGrpSpPr>
              <p:grpSpPr bwMode="auto">
                <a:xfrm>
                  <a:off x="2154" y="1797"/>
                  <a:ext cx="907" cy="907"/>
                  <a:chOff x="612" y="2296"/>
                  <a:chExt cx="907" cy="907"/>
                </a:xfrm>
              </p:grpSpPr>
              <p:sp>
                <p:nvSpPr>
                  <p:cNvPr id="49" name="Oval 48">
                    <a:extLst>
                      <a:ext uri="{FF2B5EF4-FFF2-40B4-BE49-F238E27FC236}">
                        <a16:creationId xmlns:a16="http://schemas.microsoft.com/office/drawing/2014/main" id="{B133F1E4-8A64-4AF6-9BBD-574FD16460E5}"/>
                      </a:ext>
                    </a:extLst>
                  </p:cNvPr>
                  <p:cNvSpPr>
                    <a:spLocks noChangeArrowheads="1"/>
                  </p:cNvSpPr>
                  <p:nvPr/>
                </p:nvSpPr>
                <p:spPr bwMode="auto">
                  <a:xfrm>
                    <a:off x="612" y="2296"/>
                    <a:ext cx="907" cy="90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sp>
                <p:nvSpPr>
                  <p:cNvPr id="50" name="Oval 49">
                    <a:extLst>
                      <a:ext uri="{FF2B5EF4-FFF2-40B4-BE49-F238E27FC236}">
                        <a16:creationId xmlns:a16="http://schemas.microsoft.com/office/drawing/2014/main" id="{DC0F4CCB-732D-4E19-BF55-40EC05CC7672}"/>
                      </a:ext>
                    </a:extLst>
                  </p:cNvPr>
                  <p:cNvSpPr>
                    <a:spLocks noChangeArrowheads="1"/>
                  </p:cNvSpPr>
                  <p:nvPr/>
                </p:nvSpPr>
                <p:spPr bwMode="auto">
                  <a:xfrm>
                    <a:off x="975" y="2432"/>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51" name="Oval 50">
                    <a:extLst>
                      <a:ext uri="{FF2B5EF4-FFF2-40B4-BE49-F238E27FC236}">
                        <a16:creationId xmlns:a16="http://schemas.microsoft.com/office/drawing/2014/main" id="{84E9A3C2-A39E-4823-80A7-034486F927DA}"/>
                      </a:ext>
                    </a:extLst>
                  </p:cNvPr>
                  <p:cNvSpPr>
                    <a:spLocks noChangeArrowheads="1"/>
                  </p:cNvSpPr>
                  <p:nvPr/>
                </p:nvSpPr>
                <p:spPr bwMode="auto">
                  <a:xfrm>
                    <a:off x="793"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ea typeface="Arial Unicode MS" panose="020B0604020202020204" pitchFamily="34" charset="-122"/>
                        <a:cs typeface="Arial Unicode MS" panose="020B0604020202020204" pitchFamily="34" charset="-122"/>
                      </a:rPr>
                      <a:t>1</a:t>
                    </a:r>
                  </a:p>
                </p:txBody>
              </p:sp>
              <p:sp>
                <p:nvSpPr>
                  <p:cNvPr id="52" name="Oval 51">
                    <a:extLst>
                      <a:ext uri="{FF2B5EF4-FFF2-40B4-BE49-F238E27FC236}">
                        <a16:creationId xmlns:a16="http://schemas.microsoft.com/office/drawing/2014/main" id="{94B8530E-9885-4EEA-BCC9-B36633B679BD}"/>
                      </a:ext>
                    </a:extLst>
                  </p:cNvPr>
                  <p:cNvSpPr>
                    <a:spLocks noChangeArrowheads="1"/>
                  </p:cNvSpPr>
                  <p:nvPr/>
                </p:nvSpPr>
                <p:spPr bwMode="auto">
                  <a:xfrm>
                    <a:off x="1179"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Arial Unicode MS" panose="020B0604020202020204" pitchFamily="34" charset="-122"/>
                        <a:ea typeface="Arial Unicode MS" panose="020B0604020202020204" pitchFamily="34" charset="-122"/>
                        <a:cs typeface="Arial Unicode MS" panose="020B0604020202020204" pitchFamily="34" charset="-122"/>
                      </a:rPr>
                      <a:t>3</a:t>
                    </a:r>
                  </a:p>
                </p:txBody>
              </p:sp>
            </p:grpSp>
            <p:sp>
              <p:nvSpPr>
                <p:cNvPr id="48" name="Line 67">
                  <a:extLst>
                    <a:ext uri="{FF2B5EF4-FFF2-40B4-BE49-F238E27FC236}">
                      <a16:creationId xmlns:a16="http://schemas.microsoft.com/office/drawing/2014/main" id="{DD8D1380-043F-4DF3-A0BA-6DBAEE5E6EC9}"/>
                    </a:ext>
                  </a:extLst>
                </p:cNvPr>
                <p:cNvSpPr>
                  <a:spLocks noChangeShapeType="1"/>
                </p:cNvSpPr>
                <p:nvPr/>
              </p:nvSpPr>
              <p:spPr bwMode="auto">
                <a:xfrm>
                  <a:off x="2331" y="1942"/>
                  <a:ext cx="487" cy="7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grpSp>
          <p:sp>
            <p:nvSpPr>
              <p:cNvPr id="46" name="Rectangle 80">
                <a:extLst>
                  <a:ext uri="{FF2B5EF4-FFF2-40B4-BE49-F238E27FC236}">
                    <a16:creationId xmlns:a16="http://schemas.microsoft.com/office/drawing/2014/main" id="{6BF0DC1E-550A-4C6B-8C00-F481600EB60D}"/>
                  </a:ext>
                </a:extLst>
              </p:cNvPr>
              <p:cNvSpPr>
                <a:spLocks noChangeArrowheads="1"/>
              </p:cNvSpPr>
              <p:nvPr/>
            </p:nvSpPr>
            <p:spPr bwMode="auto">
              <a:xfrm>
                <a:off x="2511" y="2559"/>
                <a:ext cx="3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ym typeface="Symbol" panose="05050102010706020507" pitchFamily="18" charset="2"/>
                  </a:rPr>
                  <a:t></a:t>
                </a:r>
                <a:r>
                  <a:rPr lang="en-US" altLang="zh-CN" sz="2400" baseline="-25000"/>
                  <a:t>2</a:t>
                </a:r>
              </a:p>
            </p:txBody>
          </p:sp>
        </p:grpSp>
        <p:grpSp>
          <p:nvGrpSpPr>
            <p:cNvPr id="27" name="Group 86">
              <a:extLst>
                <a:ext uri="{FF2B5EF4-FFF2-40B4-BE49-F238E27FC236}">
                  <a16:creationId xmlns:a16="http://schemas.microsoft.com/office/drawing/2014/main" id="{D04CFA43-47DA-49CA-BB1F-D12D050F35D1}"/>
                </a:ext>
              </a:extLst>
            </p:cNvPr>
            <p:cNvGrpSpPr>
              <a:grpSpLocks/>
            </p:cNvGrpSpPr>
            <p:nvPr/>
          </p:nvGrpSpPr>
          <p:grpSpPr bwMode="auto">
            <a:xfrm>
              <a:off x="3560" y="1561"/>
              <a:ext cx="907" cy="1189"/>
              <a:chOff x="1383" y="2931"/>
              <a:chExt cx="907" cy="1189"/>
            </a:xfrm>
          </p:grpSpPr>
          <p:grpSp>
            <p:nvGrpSpPr>
              <p:cNvPr id="37" name="Group 75">
                <a:extLst>
                  <a:ext uri="{FF2B5EF4-FFF2-40B4-BE49-F238E27FC236}">
                    <a16:creationId xmlns:a16="http://schemas.microsoft.com/office/drawing/2014/main" id="{DB31C505-A6C6-4F96-BB1E-BC89E1A45547}"/>
                  </a:ext>
                </a:extLst>
              </p:cNvPr>
              <p:cNvGrpSpPr>
                <a:grpSpLocks/>
              </p:cNvGrpSpPr>
              <p:nvPr/>
            </p:nvGrpSpPr>
            <p:grpSpPr bwMode="auto">
              <a:xfrm>
                <a:off x="1383" y="2931"/>
                <a:ext cx="907" cy="907"/>
                <a:chOff x="1383" y="3022"/>
                <a:chExt cx="907" cy="907"/>
              </a:xfrm>
            </p:grpSpPr>
            <p:grpSp>
              <p:nvGrpSpPr>
                <p:cNvPr id="39" name="Group 52">
                  <a:extLst>
                    <a:ext uri="{FF2B5EF4-FFF2-40B4-BE49-F238E27FC236}">
                      <a16:creationId xmlns:a16="http://schemas.microsoft.com/office/drawing/2014/main" id="{D61C8089-11AC-4D5A-BE11-4371C8003F73}"/>
                    </a:ext>
                  </a:extLst>
                </p:cNvPr>
                <p:cNvGrpSpPr>
                  <a:grpSpLocks/>
                </p:cNvGrpSpPr>
                <p:nvPr/>
              </p:nvGrpSpPr>
              <p:grpSpPr bwMode="auto">
                <a:xfrm>
                  <a:off x="1383" y="3022"/>
                  <a:ext cx="907" cy="907"/>
                  <a:chOff x="612" y="2296"/>
                  <a:chExt cx="907" cy="907"/>
                </a:xfrm>
              </p:grpSpPr>
              <p:sp>
                <p:nvSpPr>
                  <p:cNvPr id="41" name="Oval 53">
                    <a:extLst>
                      <a:ext uri="{FF2B5EF4-FFF2-40B4-BE49-F238E27FC236}">
                        <a16:creationId xmlns:a16="http://schemas.microsoft.com/office/drawing/2014/main" id="{111A3F02-6869-4DB2-9FF0-958F1635C360}"/>
                      </a:ext>
                    </a:extLst>
                  </p:cNvPr>
                  <p:cNvSpPr>
                    <a:spLocks noChangeArrowheads="1"/>
                  </p:cNvSpPr>
                  <p:nvPr/>
                </p:nvSpPr>
                <p:spPr bwMode="auto">
                  <a:xfrm>
                    <a:off x="612" y="2296"/>
                    <a:ext cx="907" cy="90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sp>
                <p:nvSpPr>
                  <p:cNvPr id="42" name="Oval 54">
                    <a:extLst>
                      <a:ext uri="{FF2B5EF4-FFF2-40B4-BE49-F238E27FC236}">
                        <a16:creationId xmlns:a16="http://schemas.microsoft.com/office/drawing/2014/main" id="{1E80F7C3-237D-409E-860B-28D85F8CB8C8}"/>
                      </a:ext>
                    </a:extLst>
                  </p:cNvPr>
                  <p:cNvSpPr>
                    <a:spLocks noChangeArrowheads="1"/>
                  </p:cNvSpPr>
                  <p:nvPr/>
                </p:nvSpPr>
                <p:spPr bwMode="auto">
                  <a:xfrm>
                    <a:off x="975" y="2432"/>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43" name="Oval 55">
                    <a:extLst>
                      <a:ext uri="{FF2B5EF4-FFF2-40B4-BE49-F238E27FC236}">
                        <a16:creationId xmlns:a16="http://schemas.microsoft.com/office/drawing/2014/main" id="{D9DE023B-79DD-4B73-97A8-6103A1F303B7}"/>
                      </a:ext>
                    </a:extLst>
                  </p:cNvPr>
                  <p:cNvSpPr>
                    <a:spLocks noChangeArrowheads="1"/>
                  </p:cNvSpPr>
                  <p:nvPr/>
                </p:nvSpPr>
                <p:spPr bwMode="auto">
                  <a:xfrm>
                    <a:off x="793"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ea typeface="Arial Unicode MS" panose="020B0604020202020204" pitchFamily="34" charset="-122"/>
                        <a:cs typeface="Arial Unicode MS" panose="020B0604020202020204" pitchFamily="34" charset="-122"/>
                      </a:rPr>
                      <a:t>1</a:t>
                    </a:r>
                  </a:p>
                </p:txBody>
              </p:sp>
              <p:sp>
                <p:nvSpPr>
                  <p:cNvPr id="44" name="Oval 56">
                    <a:extLst>
                      <a:ext uri="{FF2B5EF4-FFF2-40B4-BE49-F238E27FC236}">
                        <a16:creationId xmlns:a16="http://schemas.microsoft.com/office/drawing/2014/main" id="{17AF8108-7179-4B3F-A36C-4470484FA2AA}"/>
                      </a:ext>
                    </a:extLst>
                  </p:cNvPr>
                  <p:cNvSpPr>
                    <a:spLocks noChangeArrowheads="1"/>
                  </p:cNvSpPr>
                  <p:nvPr/>
                </p:nvSpPr>
                <p:spPr bwMode="auto">
                  <a:xfrm>
                    <a:off x="1179"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3</a:t>
                    </a:r>
                  </a:p>
                </p:txBody>
              </p:sp>
            </p:grpSp>
            <p:sp>
              <p:nvSpPr>
                <p:cNvPr id="40" name="Line 69">
                  <a:extLst>
                    <a:ext uri="{FF2B5EF4-FFF2-40B4-BE49-F238E27FC236}">
                      <a16:creationId xmlns:a16="http://schemas.microsoft.com/office/drawing/2014/main" id="{270396D5-10BA-43EC-AEB8-485FD7078A4E}"/>
                    </a:ext>
                  </a:extLst>
                </p:cNvPr>
                <p:cNvSpPr>
                  <a:spLocks noChangeShapeType="1"/>
                </p:cNvSpPr>
                <p:nvPr/>
              </p:nvSpPr>
              <p:spPr bwMode="auto">
                <a:xfrm flipH="1">
                  <a:off x="1701" y="3113"/>
                  <a:ext cx="363" cy="7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grpSp>
          <p:sp>
            <p:nvSpPr>
              <p:cNvPr id="38" name="Rectangle 81">
                <a:extLst>
                  <a:ext uri="{FF2B5EF4-FFF2-40B4-BE49-F238E27FC236}">
                    <a16:creationId xmlns:a16="http://schemas.microsoft.com/office/drawing/2014/main" id="{8DDE8542-AFAF-42AF-9AF1-BA0FDC23E7AB}"/>
                  </a:ext>
                </a:extLst>
              </p:cNvPr>
              <p:cNvSpPr>
                <a:spLocks noChangeArrowheads="1"/>
              </p:cNvSpPr>
              <p:nvPr/>
            </p:nvSpPr>
            <p:spPr bwMode="auto">
              <a:xfrm>
                <a:off x="1746" y="3793"/>
                <a:ext cx="3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ym typeface="Symbol" panose="05050102010706020507" pitchFamily="18" charset="2"/>
                  </a:rPr>
                  <a:t></a:t>
                </a:r>
                <a:r>
                  <a:rPr lang="en-US" altLang="zh-CN" sz="2400" baseline="-25000">
                    <a:sym typeface="Symbol" panose="05050102010706020507" pitchFamily="18" charset="2"/>
                  </a:rPr>
                  <a:t>4</a:t>
                </a:r>
                <a:endParaRPr lang="en-US" altLang="zh-CN" sz="2400" baseline="-25000"/>
              </a:p>
            </p:txBody>
          </p:sp>
        </p:grpSp>
        <p:grpSp>
          <p:nvGrpSpPr>
            <p:cNvPr id="28" name="Group 85">
              <a:extLst>
                <a:ext uri="{FF2B5EF4-FFF2-40B4-BE49-F238E27FC236}">
                  <a16:creationId xmlns:a16="http://schemas.microsoft.com/office/drawing/2014/main" id="{E814A547-4A10-4365-B381-E522BDA7E835}"/>
                </a:ext>
              </a:extLst>
            </p:cNvPr>
            <p:cNvGrpSpPr>
              <a:grpSpLocks/>
            </p:cNvGrpSpPr>
            <p:nvPr/>
          </p:nvGrpSpPr>
          <p:grpSpPr bwMode="auto">
            <a:xfrm>
              <a:off x="2426" y="1570"/>
              <a:ext cx="907" cy="1180"/>
              <a:chOff x="3923" y="1706"/>
              <a:chExt cx="907" cy="1180"/>
            </a:xfrm>
          </p:grpSpPr>
          <p:grpSp>
            <p:nvGrpSpPr>
              <p:cNvPr id="29" name="Group 74">
                <a:extLst>
                  <a:ext uri="{FF2B5EF4-FFF2-40B4-BE49-F238E27FC236}">
                    <a16:creationId xmlns:a16="http://schemas.microsoft.com/office/drawing/2014/main" id="{05E1894F-FC25-4946-8463-8428C056CFFD}"/>
                  </a:ext>
                </a:extLst>
              </p:cNvPr>
              <p:cNvGrpSpPr>
                <a:grpSpLocks/>
              </p:cNvGrpSpPr>
              <p:nvPr/>
            </p:nvGrpSpPr>
            <p:grpSpPr bwMode="auto">
              <a:xfrm>
                <a:off x="3923" y="1706"/>
                <a:ext cx="907" cy="907"/>
                <a:chOff x="3923" y="1752"/>
                <a:chExt cx="907" cy="907"/>
              </a:xfrm>
            </p:grpSpPr>
            <p:grpSp>
              <p:nvGrpSpPr>
                <p:cNvPr id="31" name="Group 62">
                  <a:extLst>
                    <a:ext uri="{FF2B5EF4-FFF2-40B4-BE49-F238E27FC236}">
                      <a16:creationId xmlns:a16="http://schemas.microsoft.com/office/drawing/2014/main" id="{3B918C85-421E-454E-BEB3-1DF937AF27E8}"/>
                    </a:ext>
                  </a:extLst>
                </p:cNvPr>
                <p:cNvGrpSpPr>
                  <a:grpSpLocks/>
                </p:cNvGrpSpPr>
                <p:nvPr/>
              </p:nvGrpSpPr>
              <p:grpSpPr bwMode="auto">
                <a:xfrm>
                  <a:off x="3923" y="1752"/>
                  <a:ext cx="907" cy="907"/>
                  <a:chOff x="612" y="2296"/>
                  <a:chExt cx="907" cy="907"/>
                </a:xfrm>
              </p:grpSpPr>
              <p:sp>
                <p:nvSpPr>
                  <p:cNvPr id="33" name="Oval 63">
                    <a:extLst>
                      <a:ext uri="{FF2B5EF4-FFF2-40B4-BE49-F238E27FC236}">
                        <a16:creationId xmlns:a16="http://schemas.microsoft.com/office/drawing/2014/main" id="{7A125ADC-BE0A-43AE-95E1-D0FA7ADB97AE}"/>
                      </a:ext>
                    </a:extLst>
                  </p:cNvPr>
                  <p:cNvSpPr>
                    <a:spLocks noChangeArrowheads="1"/>
                  </p:cNvSpPr>
                  <p:nvPr/>
                </p:nvSpPr>
                <p:spPr bwMode="auto">
                  <a:xfrm>
                    <a:off x="612" y="2296"/>
                    <a:ext cx="907" cy="90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sp>
                <p:nvSpPr>
                  <p:cNvPr id="34" name="Oval 64">
                    <a:extLst>
                      <a:ext uri="{FF2B5EF4-FFF2-40B4-BE49-F238E27FC236}">
                        <a16:creationId xmlns:a16="http://schemas.microsoft.com/office/drawing/2014/main" id="{440AAB22-262B-408D-8689-B9EB8114F367}"/>
                      </a:ext>
                    </a:extLst>
                  </p:cNvPr>
                  <p:cNvSpPr>
                    <a:spLocks noChangeArrowheads="1"/>
                  </p:cNvSpPr>
                  <p:nvPr/>
                </p:nvSpPr>
                <p:spPr bwMode="auto">
                  <a:xfrm>
                    <a:off x="975" y="2432"/>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35" name="Oval 65">
                    <a:extLst>
                      <a:ext uri="{FF2B5EF4-FFF2-40B4-BE49-F238E27FC236}">
                        <a16:creationId xmlns:a16="http://schemas.microsoft.com/office/drawing/2014/main" id="{B33AB6A3-2C70-4EF1-8A9A-26CBF0FA5208}"/>
                      </a:ext>
                    </a:extLst>
                  </p:cNvPr>
                  <p:cNvSpPr>
                    <a:spLocks noChangeArrowheads="1"/>
                  </p:cNvSpPr>
                  <p:nvPr/>
                </p:nvSpPr>
                <p:spPr bwMode="auto">
                  <a:xfrm>
                    <a:off x="793"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ea typeface="Arial Unicode MS" panose="020B0604020202020204" pitchFamily="34" charset="-122"/>
                        <a:cs typeface="Arial Unicode MS" panose="020B0604020202020204" pitchFamily="34" charset="-122"/>
                      </a:rPr>
                      <a:t>1</a:t>
                    </a:r>
                  </a:p>
                </p:txBody>
              </p:sp>
              <p:sp>
                <p:nvSpPr>
                  <p:cNvPr id="36" name="Oval 66">
                    <a:extLst>
                      <a:ext uri="{FF2B5EF4-FFF2-40B4-BE49-F238E27FC236}">
                        <a16:creationId xmlns:a16="http://schemas.microsoft.com/office/drawing/2014/main" id="{45766B4E-9A88-4485-A63E-A314B4A68AD1}"/>
                      </a:ext>
                    </a:extLst>
                  </p:cNvPr>
                  <p:cNvSpPr>
                    <a:spLocks noChangeArrowheads="1"/>
                  </p:cNvSpPr>
                  <p:nvPr/>
                </p:nvSpPr>
                <p:spPr bwMode="auto">
                  <a:xfrm>
                    <a:off x="1179" y="2817"/>
                    <a:ext cx="159" cy="159"/>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Arial Unicode MS" panose="020B0604020202020204" pitchFamily="34" charset="-122"/>
                        <a:ea typeface="Arial Unicode MS" panose="020B0604020202020204" pitchFamily="34" charset="-122"/>
                        <a:cs typeface="Arial Unicode MS" panose="020B0604020202020204" pitchFamily="34" charset="-122"/>
                      </a:rPr>
                      <a:t>3</a:t>
                    </a:r>
                  </a:p>
                </p:txBody>
              </p:sp>
            </p:grpSp>
            <p:sp>
              <p:nvSpPr>
                <p:cNvPr id="32" name="Line 68">
                  <a:extLst>
                    <a:ext uri="{FF2B5EF4-FFF2-40B4-BE49-F238E27FC236}">
                      <a16:creationId xmlns:a16="http://schemas.microsoft.com/office/drawing/2014/main" id="{DA4F6CEA-3074-4E3F-807B-87C064A6DD78}"/>
                    </a:ext>
                  </a:extLst>
                </p:cNvPr>
                <p:cNvSpPr>
                  <a:spLocks noChangeShapeType="1"/>
                </p:cNvSpPr>
                <p:nvPr/>
              </p:nvSpPr>
              <p:spPr bwMode="auto">
                <a:xfrm>
                  <a:off x="3937" y="2153"/>
                  <a:ext cx="8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grpSp>
          <p:sp>
            <p:nvSpPr>
              <p:cNvPr id="30" name="Rectangle 82">
                <a:extLst>
                  <a:ext uri="{FF2B5EF4-FFF2-40B4-BE49-F238E27FC236}">
                    <a16:creationId xmlns:a16="http://schemas.microsoft.com/office/drawing/2014/main" id="{4D8754C3-0BDC-4362-A656-C6E04D7D1196}"/>
                  </a:ext>
                </a:extLst>
              </p:cNvPr>
              <p:cNvSpPr>
                <a:spLocks noChangeArrowheads="1"/>
              </p:cNvSpPr>
              <p:nvPr/>
            </p:nvSpPr>
            <p:spPr bwMode="auto">
              <a:xfrm>
                <a:off x="4286" y="2559"/>
                <a:ext cx="3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ym typeface="Symbol" panose="05050102010706020507" pitchFamily="18" charset="2"/>
                  </a:rPr>
                  <a:t></a:t>
                </a:r>
                <a:r>
                  <a:rPr lang="en-US" altLang="zh-CN" sz="2400" baseline="-25000">
                    <a:sym typeface="Symbol" panose="05050102010706020507" pitchFamily="18" charset="2"/>
                  </a:rPr>
                  <a:t>3</a:t>
                </a:r>
                <a:endParaRPr lang="en-US" altLang="zh-CN" sz="2400" baseline="-25000"/>
              </a:p>
            </p:txBody>
          </p:sp>
        </p:grpSp>
      </p:grpSp>
      <p:sp>
        <p:nvSpPr>
          <p:cNvPr id="71" name="Text Box 5">
            <a:extLst>
              <a:ext uri="{FF2B5EF4-FFF2-40B4-BE49-F238E27FC236}">
                <a16:creationId xmlns:a16="http://schemas.microsoft.com/office/drawing/2014/main" id="{A5610887-D870-41D5-B6FB-8F5F87278BBF}"/>
              </a:ext>
            </a:extLst>
          </p:cNvPr>
          <p:cNvSpPr txBox="1">
            <a:spLocks noChangeArrowheads="1"/>
          </p:cNvSpPr>
          <p:nvPr/>
        </p:nvSpPr>
        <p:spPr bwMode="auto">
          <a:xfrm>
            <a:off x="1457949" y="3439371"/>
            <a:ext cx="8794017" cy="271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400" b="1" i="1" dirty="0">
                <a:latin typeface="Trebuchet MS" panose="020B0603020202020204" pitchFamily="34" charset="0"/>
              </a:rPr>
              <a:t>π</a:t>
            </a:r>
            <a:r>
              <a:rPr lang="en-US" altLang="zh-CN" sz="2400" b="1" baseline="-25000" dirty="0">
                <a:latin typeface="Trebuchet MS" panose="020B0603020202020204" pitchFamily="34" charset="0"/>
              </a:rPr>
              <a:t>1  </a:t>
            </a:r>
            <a:r>
              <a:rPr lang="en-US" sz="2400" dirty="0">
                <a:latin typeface="Trebuchet MS" panose="020B0603020202020204" pitchFamily="34" charset="0"/>
              </a:rPr>
              <a:t>corresponds to the universal relation </a:t>
            </a:r>
            <a:r>
              <a:rPr lang="en-US" altLang="zh-CN" sz="2400" b="1" i="1" dirty="0">
                <a:latin typeface="Trebuchet MS" panose="020B0603020202020204" pitchFamily="34" charset="0"/>
              </a:rPr>
              <a:t>E</a:t>
            </a:r>
            <a:r>
              <a:rPr lang="en-US" altLang="zh-CN" sz="2400" b="1" i="1" baseline="-25000" dirty="0">
                <a:latin typeface="Trebuchet MS" panose="020B0603020202020204" pitchFamily="34" charset="0"/>
              </a:rPr>
              <a:t>A</a:t>
            </a:r>
            <a:r>
              <a:rPr lang="zh-CN" altLang="en-US" sz="2400" b="1" i="1" baseline="-25000" dirty="0">
                <a:latin typeface="Trebuchet MS" panose="020B0603020202020204" pitchFamily="34" charset="0"/>
              </a:rPr>
              <a:t>  </a:t>
            </a:r>
            <a:endParaRPr lang="en-US" altLang="zh-CN" sz="2400" b="1" i="1" baseline="-25000" dirty="0">
              <a:latin typeface="Trebuchet MS" panose="020B0603020202020204" pitchFamily="34" charset="0"/>
            </a:endParaRPr>
          </a:p>
          <a:p>
            <a:pPr eaLnBrk="1" hangingPunct="1">
              <a:lnSpc>
                <a:spcPct val="120000"/>
              </a:lnSpc>
            </a:pPr>
            <a:r>
              <a:rPr lang="en-US" altLang="zh-CN" sz="2400" b="1" i="1" dirty="0">
                <a:latin typeface="Trebuchet MS" panose="020B0603020202020204" pitchFamily="34" charset="0"/>
              </a:rPr>
              <a:t>π</a:t>
            </a:r>
            <a:r>
              <a:rPr lang="en-US" altLang="zh-CN" sz="2400" b="1" baseline="-25000" dirty="0">
                <a:latin typeface="Trebuchet MS" panose="020B0603020202020204" pitchFamily="34" charset="0"/>
              </a:rPr>
              <a:t>5  </a:t>
            </a:r>
            <a:r>
              <a:rPr lang="en-US" sz="2400" dirty="0">
                <a:latin typeface="Trebuchet MS" panose="020B0603020202020204" pitchFamily="34" charset="0"/>
              </a:rPr>
              <a:t>corresponds to the identity relation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p>
          <a:p>
            <a:pPr eaLnBrk="1" hangingPunct="1">
              <a:lnSpc>
                <a:spcPct val="120000"/>
              </a:lnSpc>
            </a:pPr>
            <a:r>
              <a:rPr lang="en-US" altLang="zh-CN" sz="2400" b="1" i="1" dirty="0">
                <a:latin typeface="Trebuchet MS" panose="020B0603020202020204" pitchFamily="34" charset="0"/>
              </a:rPr>
              <a:t>π</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π</a:t>
            </a:r>
            <a:r>
              <a:rPr lang="en-US" altLang="zh-CN" sz="2400" b="1" baseline="-25000" dirty="0">
                <a:latin typeface="Trebuchet MS" panose="020B0603020202020204" pitchFamily="34" charset="0"/>
              </a:rPr>
              <a:t>3 </a:t>
            </a:r>
            <a:r>
              <a:rPr lang="en-US" altLang="zh-CN" sz="2400" b="1" i="1" dirty="0">
                <a:latin typeface="Trebuchet MS" panose="020B0603020202020204" pitchFamily="34" charset="0"/>
              </a:rPr>
              <a:t>π</a:t>
            </a:r>
            <a:r>
              <a:rPr lang="en-US" altLang="zh-CN" sz="2400" b="1" baseline="-25000" dirty="0">
                <a:latin typeface="Trebuchet MS" panose="020B0603020202020204" pitchFamily="34" charset="0"/>
              </a:rPr>
              <a:t>3</a:t>
            </a:r>
            <a:r>
              <a:rPr lang="en-US" altLang="zh-CN" sz="2400" dirty="0">
                <a:latin typeface="Trebuchet MS" panose="020B0603020202020204" pitchFamily="34" charset="0"/>
              </a:rPr>
              <a:t>correspond to the equivalence relations </a:t>
            </a: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3 </a:t>
            </a:r>
            <a:r>
              <a:rPr lang="zh-CN" altLang="en-US" sz="2400" b="1" dirty="0">
                <a:latin typeface="Trebuchet MS" panose="020B0603020202020204" pitchFamily="34" charset="0"/>
              </a:rPr>
              <a:t>和 </a:t>
            </a: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4</a:t>
            </a:r>
            <a:r>
              <a:rPr lang="en-US" altLang="zh-CN" sz="2400" b="1" dirty="0">
                <a:latin typeface="Trebuchet MS" panose="020B0603020202020204" pitchFamily="34" charset="0"/>
              </a:rPr>
              <a:t>.</a:t>
            </a:r>
          </a:p>
          <a:p>
            <a:pPr indent="446088" eaLnBrk="1" hangingPunct="1">
              <a:lnSpc>
                <a:spcPct val="120000"/>
              </a:lnSpc>
            </a:pP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={&lt;2,3&gt;,&lt;3,2&gt;}∪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endParaRPr lang="en-US" altLang="zh-CN" sz="2400" b="1" i="1" dirty="0">
              <a:latin typeface="Trebuchet MS" panose="020B0603020202020204" pitchFamily="34" charset="0"/>
            </a:endParaRPr>
          </a:p>
          <a:p>
            <a:pPr indent="446088" eaLnBrk="1" hangingPunct="1">
              <a:lnSpc>
                <a:spcPct val="120000"/>
              </a:lnSpc>
            </a:pP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3</a:t>
            </a:r>
            <a:r>
              <a:rPr lang="en-US" altLang="zh-CN" sz="2400" b="1" dirty="0">
                <a:latin typeface="Trebuchet MS" panose="020B0603020202020204" pitchFamily="34" charset="0"/>
              </a:rPr>
              <a:t>={&lt;1,3&gt;,&lt;3,1&gt;}∪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p>
          <a:p>
            <a:pPr indent="446088" eaLnBrk="1" hangingPunct="1">
              <a:lnSpc>
                <a:spcPct val="120000"/>
              </a:lnSpc>
            </a:pPr>
            <a:r>
              <a:rPr lang="en-US" altLang="zh-CN" sz="2400" b="1" i="1" dirty="0">
                <a:latin typeface="Trebuchet MS" panose="020B0603020202020204" pitchFamily="34" charset="0"/>
              </a:rPr>
              <a:t>R</a:t>
            </a:r>
            <a:r>
              <a:rPr lang="en-US" altLang="zh-CN" sz="2400" b="1" baseline="-25000" dirty="0">
                <a:latin typeface="Trebuchet MS" panose="020B0603020202020204" pitchFamily="34" charset="0"/>
              </a:rPr>
              <a:t>4</a:t>
            </a:r>
            <a:r>
              <a:rPr lang="en-US" altLang="zh-CN" sz="2400" b="1" dirty="0">
                <a:latin typeface="Trebuchet MS" panose="020B0603020202020204" pitchFamily="34" charset="0"/>
              </a:rPr>
              <a:t>={&lt;1,2&gt;,&lt;2,1&gt;}∪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rPr>
              <a:t> </a:t>
            </a:r>
          </a:p>
        </p:txBody>
      </p:sp>
    </p:spTree>
    <p:extLst>
      <p:ext uri="{BB962C8B-B14F-4D97-AF65-F5344CB8AC3E}">
        <p14:creationId xmlns:p14="http://schemas.microsoft.com/office/powerpoint/2010/main" val="3590234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1">
                                            <p:txEl>
                                              <p:pRg st="0" end="0"/>
                                            </p:txEl>
                                          </p:spTgt>
                                        </p:tgtEl>
                                        <p:attrNameLst>
                                          <p:attrName>style.visibility</p:attrName>
                                        </p:attrNameLst>
                                      </p:cBhvr>
                                      <p:to>
                                        <p:strVal val="visible"/>
                                      </p:to>
                                    </p:set>
                                    <p:animEffect transition="in" filter="fade">
                                      <p:cBhvr>
                                        <p:cTn id="14" dur="1000"/>
                                        <p:tgtEl>
                                          <p:spTgt spid="71">
                                            <p:txEl>
                                              <p:pRg st="0" end="0"/>
                                            </p:txEl>
                                          </p:spTgt>
                                        </p:tgtEl>
                                      </p:cBhvr>
                                    </p:animEffect>
                                    <p:anim calcmode="lin" valueType="num">
                                      <p:cBhvr>
                                        <p:cTn id="15" dur="1000" fill="hold"/>
                                        <p:tgtEl>
                                          <p:spTgt spid="7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1">
                                            <p:txEl>
                                              <p:pRg st="1" end="1"/>
                                            </p:txEl>
                                          </p:spTgt>
                                        </p:tgtEl>
                                        <p:attrNameLst>
                                          <p:attrName>style.visibility</p:attrName>
                                        </p:attrNameLst>
                                      </p:cBhvr>
                                      <p:to>
                                        <p:strVal val="visible"/>
                                      </p:to>
                                    </p:set>
                                    <p:animEffect transition="in" filter="fade">
                                      <p:cBhvr>
                                        <p:cTn id="21" dur="1000"/>
                                        <p:tgtEl>
                                          <p:spTgt spid="71">
                                            <p:txEl>
                                              <p:pRg st="1" end="1"/>
                                            </p:txEl>
                                          </p:spTgt>
                                        </p:tgtEl>
                                      </p:cBhvr>
                                    </p:animEffect>
                                    <p:anim calcmode="lin" valueType="num">
                                      <p:cBhvr>
                                        <p:cTn id="22" dur="1000" fill="hold"/>
                                        <p:tgtEl>
                                          <p:spTgt spid="71">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1">
                                            <p:txEl>
                                              <p:pRg st="2" end="2"/>
                                            </p:txEl>
                                          </p:spTgt>
                                        </p:tgtEl>
                                        <p:attrNameLst>
                                          <p:attrName>style.visibility</p:attrName>
                                        </p:attrNameLst>
                                      </p:cBhvr>
                                      <p:to>
                                        <p:strVal val="visible"/>
                                      </p:to>
                                    </p:set>
                                    <p:animEffect transition="in" filter="fade">
                                      <p:cBhvr>
                                        <p:cTn id="28" dur="1000"/>
                                        <p:tgtEl>
                                          <p:spTgt spid="71">
                                            <p:txEl>
                                              <p:pRg st="2" end="2"/>
                                            </p:txEl>
                                          </p:spTgt>
                                        </p:tgtEl>
                                      </p:cBhvr>
                                    </p:animEffect>
                                    <p:anim calcmode="lin" valueType="num">
                                      <p:cBhvr>
                                        <p:cTn id="29" dur="1000" fill="hold"/>
                                        <p:tgtEl>
                                          <p:spTgt spid="71">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1">
                                            <p:txEl>
                                              <p:pRg st="2" end="2"/>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71">
                                            <p:txEl>
                                              <p:pRg st="3" end="3"/>
                                            </p:txEl>
                                          </p:spTgt>
                                        </p:tgtEl>
                                        <p:attrNameLst>
                                          <p:attrName>style.visibility</p:attrName>
                                        </p:attrNameLst>
                                      </p:cBhvr>
                                      <p:to>
                                        <p:strVal val="visible"/>
                                      </p:to>
                                    </p:set>
                                    <p:animEffect transition="in" filter="fade">
                                      <p:cBhvr>
                                        <p:cTn id="33" dur="1000"/>
                                        <p:tgtEl>
                                          <p:spTgt spid="71">
                                            <p:txEl>
                                              <p:pRg st="3" end="3"/>
                                            </p:txEl>
                                          </p:spTgt>
                                        </p:tgtEl>
                                      </p:cBhvr>
                                    </p:animEffect>
                                    <p:anim calcmode="lin" valueType="num">
                                      <p:cBhvr>
                                        <p:cTn id="34" dur="1000" fill="hold"/>
                                        <p:tgtEl>
                                          <p:spTgt spid="71">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1">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71">
                                            <p:txEl>
                                              <p:pRg st="4" end="4"/>
                                            </p:txEl>
                                          </p:spTgt>
                                        </p:tgtEl>
                                        <p:attrNameLst>
                                          <p:attrName>style.visibility</p:attrName>
                                        </p:attrNameLst>
                                      </p:cBhvr>
                                      <p:to>
                                        <p:strVal val="visible"/>
                                      </p:to>
                                    </p:set>
                                    <p:animEffect transition="in" filter="fade">
                                      <p:cBhvr>
                                        <p:cTn id="38" dur="1000"/>
                                        <p:tgtEl>
                                          <p:spTgt spid="71">
                                            <p:txEl>
                                              <p:pRg st="4" end="4"/>
                                            </p:txEl>
                                          </p:spTgt>
                                        </p:tgtEl>
                                      </p:cBhvr>
                                    </p:animEffect>
                                    <p:anim calcmode="lin" valueType="num">
                                      <p:cBhvr>
                                        <p:cTn id="39" dur="1000" fill="hold"/>
                                        <p:tgtEl>
                                          <p:spTgt spid="71">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1">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71">
                                            <p:txEl>
                                              <p:pRg st="5" end="5"/>
                                            </p:txEl>
                                          </p:spTgt>
                                        </p:tgtEl>
                                        <p:attrNameLst>
                                          <p:attrName>style.visibility</p:attrName>
                                        </p:attrNameLst>
                                      </p:cBhvr>
                                      <p:to>
                                        <p:strVal val="visible"/>
                                      </p:to>
                                    </p:set>
                                    <p:animEffect transition="in" filter="fade">
                                      <p:cBhvr>
                                        <p:cTn id="43" dur="1000"/>
                                        <p:tgtEl>
                                          <p:spTgt spid="71">
                                            <p:txEl>
                                              <p:pRg st="5" end="5"/>
                                            </p:txEl>
                                          </p:spTgt>
                                        </p:tgtEl>
                                      </p:cBhvr>
                                    </p:animEffect>
                                    <p:anim calcmode="lin" valueType="num">
                                      <p:cBhvr>
                                        <p:cTn id="44" dur="1000" fill="hold"/>
                                        <p:tgtEl>
                                          <p:spTgt spid="71">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2000" b="1" dirty="0"/>
              <a:t>                 </a:t>
            </a:r>
            <a:r>
              <a:rPr lang="en-US" altLang="zh-CN" sz="2000" b="1" dirty="0">
                <a:solidFill>
                  <a:schemeClr val="bg1"/>
                </a:solidFill>
                <a:latin typeface="Trebuchet MS" panose="020B0603020202020204" pitchFamily="34" charset="0"/>
              </a:rPr>
              <a:t>4.4.3 Partition of a Set</a:t>
            </a:r>
          </a:p>
          <a:p>
            <a:pPr>
              <a:lnSpc>
                <a:spcPct val="110000"/>
              </a:lnSpc>
              <a:buClr>
                <a:srgbClr val="0B5BFF"/>
              </a:buClr>
              <a:buSzPct val="80000"/>
            </a:pPr>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Set </a:t>
            </a:r>
            <a:r>
              <a:rPr lang="en-US" altLang="zh-CN" sz="2400" b="1" dirty="0">
                <a:latin typeface="Trebuchet MS" panose="020B0603020202020204" pitchFamily="34" charset="0"/>
              </a:rPr>
              <a:t>Partitions and Equivalence Relation(</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9409251"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24" name="Text Box 4">
            <a:extLst>
              <a:ext uri="{FF2B5EF4-FFF2-40B4-BE49-F238E27FC236}">
                <a16:creationId xmlns:a16="http://schemas.microsoft.com/office/drawing/2014/main" id="{5111AFFF-B4B2-441A-95A8-9F96F3D76686}"/>
              </a:ext>
            </a:extLst>
          </p:cNvPr>
          <p:cNvSpPr txBox="1">
            <a:spLocks noChangeArrowheads="1"/>
          </p:cNvSpPr>
          <p:nvPr/>
        </p:nvSpPr>
        <p:spPr bwMode="auto">
          <a:xfrm>
            <a:off x="1158422" y="1050017"/>
            <a:ext cx="10378180" cy="502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lnSpc>
                <a:spcPct val="120000"/>
              </a:lnSpc>
              <a:spcBef>
                <a:spcPts val="600"/>
              </a:spcBef>
            </a:pPr>
            <a:r>
              <a:rPr lang="en-US" altLang="zh-CN" sz="2400" b="1" dirty="0">
                <a:latin typeface="Trebuchet MS" panose="020B0603020202020204" pitchFamily="34" charset="0"/>
                <a:ea typeface="宋体" panose="02010600030101010101" pitchFamily="2" charset="-122"/>
              </a:rPr>
              <a:t>    Example: </a:t>
            </a:r>
            <a:r>
              <a:rPr lang="en-US" altLang="zh-CN" sz="2400" dirty="0">
                <a:latin typeface="Trebuchet MS" panose="020B0603020202020204" pitchFamily="34" charset="0"/>
                <a:ea typeface="宋体" panose="02010600030101010101" pitchFamily="2" charset="-122"/>
              </a:rPr>
              <a:t>Let</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={1,2,3,4}</a:t>
            </a:r>
          </a:p>
          <a:p>
            <a:pPr marL="342900" indent="-342900">
              <a:lnSpc>
                <a:spcPct val="120000"/>
              </a:lnSpc>
              <a:spcBef>
                <a:spcPts val="600"/>
              </a:spcBef>
              <a:buClr>
                <a:srgbClr val="0B5BFF"/>
              </a:buClr>
              <a:buSzPct val="80000"/>
              <a:buFont typeface="Wingdings" panose="05000000000000000000" pitchFamily="2" charset="2"/>
              <a:buChar char="n"/>
            </a:pPr>
            <a:r>
              <a:rPr lang="en-US" altLang="zh-CN" sz="2400" dirty="0">
                <a:latin typeface="Trebuchet MS" panose="020B0603020202020204" pitchFamily="34" charset="0"/>
                <a:ea typeface="宋体" panose="02010600030101010101" pitchFamily="2" charset="-122"/>
              </a:rPr>
              <a:t>Define a binary relation</a:t>
            </a:r>
            <a:r>
              <a:rPr lang="en-US" altLang="zh-CN" sz="2400" i="1" dirty="0">
                <a:latin typeface="Trebuchet MS" panose="020B0603020202020204" pitchFamily="34" charset="0"/>
              </a:rPr>
              <a:t> </a:t>
            </a:r>
            <a:r>
              <a:rPr lang="en-US" altLang="zh-CN" sz="2400" b="1" i="1" dirty="0">
                <a:latin typeface="Trebuchet MS" panose="020B0603020202020204" pitchFamily="34" charset="0"/>
              </a:rPr>
              <a:t>R </a:t>
            </a:r>
            <a:r>
              <a:rPr lang="en-US" altLang="zh-CN" sz="2400" dirty="0">
                <a:latin typeface="Trebuchet MS" panose="020B0603020202020204" pitchFamily="34" charset="0"/>
              </a:rPr>
              <a:t>on</a:t>
            </a:r>
            <a:r>
              <a:rPr lang="en-US" altLang="zh-CN" sz="2400" b="1" i="1" dirty="0">
                <a:latin typeface="Trebuchet MS" panose="020B0603020202020204" pitchFamily="34" charset="0"/>
              </a:rPr>
              <a:t>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A</a:t>
            </a:r>
            <a:r>
              <a:rPr lang="zh-CN" altLang="en-US" sz="2400" b="1" dirty="0">
                <a:latin typeface="Trebuchet MS" panose="020B0603020202020204" pitchFamily="34" charset="0"/>
                <a:ea typeface="宋体" panose="02010600030101010101" pitchFamily="2" charset="-122"/>
              </a:rPr>
              <a:t>：</a:t>
            </a:r>
            <a:endParaRPr lang="en-US" altLang="zh-CN" sz="2400" b="1" dirty="0">
              <a:latin typeface="Trebuchet MS" panose="020B0603020202020204" pitchFamily="34" charset="0"/>
              <a:ea typeface="宋体" panose="02010600030101010101" pitchFamily="2" charset="-122"/>
            </a:endParaRPr>
          </a:p>
          <a:p>
            <a:pPr>
              <a:lnSpc>
                <a:spcPct val="120000"/>
              </a:lnSpc>
              <a:spcBef>
                <a:spcPts val="600"/>
              </a:spcBef>
            </a:pP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&lt;&lt;</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&gt;,&lt;</a:t>
            </a:r>
            <a:r>
              <a:rPr lang="en-US" altLang="zh-CN" sz="2400" b="1" i="1" dirty="0">
                <a:latin typeface="Trebuchet MS" panose="020B0603020202020204" pitchFamily="34" charset="0"/>
                <a:ea typeface="宋体" panose="02010600030101010101" pitchFamily="2" charset="-122"/>
              </a:rPr>
              <a:t>u</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v</a:t>
            </a:r>
            <a:r>
              <a:rPr lang="en-US" altLang="zh-CN" sz="2400" b="1" dirty="0">
                <a:latin typeface="Trebuchet MS" panose="020B0603020202020204" pitchFamily="34" charset="0"/>
                <a:ea typeface="宋体" panose="02010600030101010101" pitchFamily="2" charset="-122"/>
              </a:rPr>
              <a:t>&gt;&gt;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R </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latin typeface="Trebuchet MS" panose="020B0603020202020204" pitchFamily="34" charset="0"/>
                <a:ea typeface="宋体" panose="02010600030101010101" pitchFamily="2" charset="-122"/>
              </a:rPr>
              <a:t>x+y</a:t>
            </a:r>
            <a:r>
              <a:rPr lang="en-US" altLang="zh-CN" sz="2400" b="1" dirty="0">
                <a:latin typeface="Trebuchet MS" panose="020B0603020202020204" pitchFamily="34" charset="0"/>
                <a:ea typeface="宋体" panose="02010600030101010101" pitchFamily="2" charset="-122"/>
              </a:rPr>
              <a:t> = </a:t>
            </a:r>
            <a:r>
              <a:rPr lang="en-US" altLang="zh-CN" sz="2400" b="1" i="1" dirty="0" err="1">
                <a:latin typeface="Trebuchet MS" panose="020B0603020202020204" pitchFamily="34" charset="0"/>
                <a:ea typeface="宋体" panose="02010600030101010101" pitchFamily="2" charset="-122"/>
              </a:rPr>
              <a:t>u+v</a:t>
            </a:r>
            <a:r>
              <a:rPr lang="en-US" altLang="zh-CN"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f</a:t>
            </a:r>
            <a:r>
              <a:rPr lang="en-US" sz="2400" dirty="0">
                <a:latin typeface="Trebuchet MS" panose="020B0603020202020204" pitchFamily="34" charset="0"/>
              </a:rPr>
              <a:t>ind the partition induced by </a:t>
            </a:r>
            <a:r>
              <a:rPr lang="en-US" altLang="zh-CN" sz="2400" b="1" i="1" dirty="0">
                <a:latin typeface="Trebuchet MS" panose="020B0603020202020204" pitchFamily="34" charset="0"/>
                <a:ea typeface="宋体" panose="02010600030101010101" pitchFamily="2" charset="-122"/>
              </a:rPr>
              <a:t>R</a:t>
            </a:r>
            <a:r>
              <a:rPr lang="en-US" altLang="zh-CN" sz="2400" b="1" dirty="0">
                <a:latin typeface="Trebuchet MS" panose="020B0603020202020204" pitchFamily="34" charset="0"/>
                <a:ea typeface="宋体" panose="02010600030101010101" pitchFamily="2" charset="-122"/>
              </a:rPr>
              <a:t>. </a:t>
            </a:r>
          </a:p>
          <a:p>
            <a:pPr indent="263525">
              <a:lnSpc>
                <a:spcPct val="120000"/>
              </a:lnSpc>
              <a:spcBef>
                <a:spcPts val="600"/>
              </a:spcBef>
            </a:pPr>
            <a:r>
              <a:rPr lang="en-US" altLang="zh-CN" sz="2400" b="1" dirty="0">
                <a:latin typeface="Trebuchet MS" panose="020B0603020202020204" pitchFamily="34" charset="0"/>
              </a:rPr>
              <a:t>Solution:</a:t>
            </a:r>
            <a:r>
              <a:rPr lang="zh-CN" altLang="en-US"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={&lt;1,1&gt;, &lt;1,2&gt;, &lt;1,3&gt;, &lt;1,4&gt;, &lt;2,1&gt;, &lt;2,2&gt;, &lt;2,3&gt;, &lt;2,4&gt;,&lt;3,1&gt;, &lt;3,2&gt;, &lt;3,3&gt;, &lt;3,4&gt;, &lt;4,1&gt;, &lt;4,2&gt;,&lt;4,3&gt;, &lt;4,4&gt;}</a:t>
            </a:r>
          </a:p>
          <a:p>
            <a:pPr marL="342900" indent="-342900">
              <a:lnSpc>
                <a:spcPct val="120000"/>
              </a:lnSpc>
              <a:spcBef>
                <a:spcPts val="600"/>
              </a:spcBef>
              <a:buClr>
                <a:srgbClr val="0B5BFF"/>
              </a:buClr>
              <a:buSzPct val="80000"/>
              <a:buFont typeface="Wingdings" panose="05000000000000000000" pitchFamily="2" charset="2"/>
              <a:buChar char="n"/>
            </a:pPr>
            <a:r>
              <a:rPr lang="en-US" altLang="zh-CN" sz="2400" dirty="0">
                <a:latin typeface="Trebuchet MS" panose="020B0603020202020204" pitchFamily="34" charset="0"/>
              </a:rPr>
              <a:t>According to the sum condition </a:t>
            </a:r>
            <a:r>
              <a:rPr lang="en-US" altLang="zh-CN" sz="2400" b="1" dirty="0">
                <a:latin typeface="Trebuchet MS" panose="020B0603020202020204" pitchFamily="34" charset="0"/>
              </a:rPr>
              <a:t>&lt;</a:t>
            </a:r>
            <a:r>
              <a:rPr lang="en-US" altLang="zh-CN" sz="2400" b="1" i="1" dirty="0" err="1">
                <a:latin typeface="Trebuchet MS" panose="020B0603020202020204" pitchFamily="34" charset="0"/>
              </a:rPr>
              <a:t>x,y</a:t>
            </a:r>
            <a:r>
              <a:rPr lang="en-US" altLang="zh-CN" sz="2400" b="1" dirty="0">
                <a:latin typeface="Trebuchet MS" panose="020B0603020202020204" pitchFamily="34" charset="0"/>
              </a:rPr>
              <a:t>&gt; and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=2,3,4,5,6,7,8 </a:t>
            </a:r>
            <a:r>
              <a:rPr lang="en-US" altLang="zh-CN" sz="2400" dirty="0">
                <a:latin typeface="Trebuchet MS" panose="020B0603020202020204" pitchFamily="34" charset="0"/>
              </a:rPr>
              <a:t>which partition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into 7 equivalence classes:</a:t>
            </a:r>
          </a:p>
          <a:p>
            <a:pPr indent="263525">
              <a:lnSpc>
                <a:spcPct val="120000"/>
              </a:lnSpc>
              <a:spcBef>
                <a:spcPts val="600"/>
              </a:spcBef>
            </a:pP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={{&lt;1,1&gt;}, {&lt;1,2&gt;,&lt;2,1&gt;}, {&lt;1,3&gt;, &lt;2,2&gt;, &lt;3,1&gt;}, </a:t>
            </a:r>
          </a:p>
          <a:p>
            <a:pPr indent="1257300">
              <a:lnSpc>
                <a:spcPct val="120000"/>
              </a:lnSpc>
              <a:spcBef>
                <a:spcPts val="600"/>
              </a:spcBef>
            </a:pPr>
            <a:r>
              <a:rPr lang="en-US" altLang="zh-CN" sz="2400" b="1" dirty="0">
                <a:latin typeface="Trebuchet MS" panose="020B0603020202020204" pitchFamily="34" charset="0"/>
              </a:rPr>
              <a:t>    {&lt;1,4&gt;, &lt;2,3&gt;, &lt;3,2&gt;, &lt;4,1&gt;}, {&lt;2,4&gt;, &lt;3,3&gt;, &lt;4,2&gt;},</a:t>
            </a:r>
          </a:p>
          <a:p>
            <a:pPr>
              <a:lnSpc>
                <a:spcPct val="120000"/>
              </a:lnSpc>
              <a:spcBef>
                <a:spcPts val="600"/>
              </a:spcBef>
            </a:pPr>
            <a:r>
              <a:rPr lang="en-US" altLang="zh-CN" sz="2400" b="1" dirty="0">
                <a:latin typeface="Trebuchet MS" panose="020B0603020202020204" pitchFamily="34" charset="0"/>
              </a:rPr>
              <a:t>                  {&lt;3,4&gt;, &lt;4,3&gt;}, {&lt;4,4&gt;}} </a:t>
            </a:r>
          </a:p>
        </p:txBody>
      </p:sp>
      <p:pic>
        <p:nvPicPr>
          <p:cNvPr id="11" name="图片 10">
            <a:extLst>
              <a:ext uri="{FF2B5EF4-FFF2-40B4-BE49-F238E27FC236}">
                <a16:creationId xmlns:a16="http://schemas.microsoft.com/office/drawing/2014/main" id="{1A5B9D4F-97E4-48FF-A784-5BD3E6C91479}"/>
              </a:ext>
            </a:extLst>
          </p:cNvPr>
          <p:cNvPicPr/>
          <p:nvPr/>
        </p:nvPicPr>
        <p:blipFill>
          <a:blip r:embed="rId5"/>
          <a:stretch>
            <a:fillRect/>
          </a:stretch>
        </p:blipFill>
        <p:spPr>
          <a:xfrm>
            <a:off x="1017907" y="1170339"/>
            <a:ext cx="577850" cy="241300"/>
          </a:xfrm>
          <a:prstGeom prst="rect">
            <a:avLst/>
          </a:prstGeom>
        </p:spPr>
      </p:pic>
    </p:spTree>
    <p:extLst>
      <p:ext uri="{BB962C8B-B14F-4D97-AF65-F5344CB8AC3E}">
        <p14:creationId xmlns:p14="http://schemas.microsoft.com/office/powerpoint/2010/main" val="228496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3" end="3"/>
                                            </p:txEl>
                                          </p:spTgt>
                                        </p:tgtEl>
                                        <p:attrNameLst>
                                          <p:attrName>style.visibility</p:attrName>
                                        </p:attrNameLst>
                                      </p:cBhvr>
                                      <p:to>
                                        <p:strVal val="visible"/>
                                      </p:to>
                                    </p:set>
                                    <p:animEffect transition="in" filter="fade">
                                      <p:cBhvr>
                                        <p:cTn id="7" dur="1000"/>
                                        <p:tgtEl>
                                          <p:spTgt spid="24">
                                            <p:txEl>
                                              <p:pRg st="3" end="3"/>
                                            </p:txEl>
                                          </p:spTgt>
                                        </p:tgtEl>
                                      </p:cBhvr>
                                    </p:animEffect>
                                    <p:anim calcmode="lin" valueType="num">
                                      <p:cBhvr>
                                        <p:cTn id="8" dur="1000" fill="hold"/>
                                        <p:tgtEl>
                                          <p:spTgt spid="2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4" end="4"/>
                                            </p:txEl>
                                          </p:spTgt>
                                        </p:tgtEl>
                                        <p:attrNameLst>
                                          <p:attrName>style.visibility</p:attrName>
                                        </p:attrNameLst>
                                      </p:cBhvr>
                                      <p:to>
                                        <p:strVal val="visible"/>
                                      </p:to>
                                    </p:set>
                                    <p:animEffect transition="in" filter="fade">
                                      <p:cBhvr>
                                        <p:cTn id="14" dur="1000"/>
                                        <p:tgtEl>
                                          <p:spTgt spid="24">
                                            <p:txEl>
                                              <p:pRg st="4" end="4"/>
                                            </p:txEl>
                                          </p:spTgt>
                                        </p:tgtEl>
                                      </p:cBhvr>
                                    </p:animEffect>
                                    <p:anim calcmode="lin" valueType="num">
                                      <p:cBhvr>
                                        <p:cTn id="15" dur="1000" fill="hold"/>
                                        <p:tgtEl>
                                          <p:spTgt spid="2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1000"/>
                                        <p:tgtEl>
                                          <p:spTgt spid="24">
                                            <p:txEl>
                                              <p:pRg st="5" end="5"/>
                                            </p:txEl>
                                          </p:spTgt>
                                        </p:tgtEl>
                                      </p:cBhvr>
                                    </p:animEffect>
                                    <p:anim calcmode="lin" valueType="num">
                                      <p:cBhvr>
                                        <p:cTn id="22" dur="1000" fill="hold"/>
                                        <p:tgtEl>
                                          <p:spTgt spid="2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24">
                                            <p:txEl>
                                              <p:pRg st="5" end="5"/>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4">
                                            <p:txEl>
                                              <p:pRg st="6" end="6"/>
                                            </p:txEl>
                                          </p:spTgt>
                                        </p:tgtEl>
                                        <p:attrNameLst>
                                          <p:attrName>style.visibility</p:attrName>
                                        </p:attrNameLst>
                                      </p:cBhvr>
                                      <p:to>
                                        <p:strVal val="visible"/>
                                      </p:to>
                                    </p:set>
                                    <p:animEffect transition="in" filter="fade">
                                      <p:cBhvr>
                                        <p:cTn id="26" dur="1000"/>
                                        <p:tgtEl>
                                          <p:spTgt spid="24">
                                            <p:txEl>
                                              <p:pRg st="6" end="6"/>
                                            </p:txEl>
                                          </p:spTgt>
                                        </p:tgtEl>
                                      </p:cBhvr>
                                    </p:animEffect>
                                    <p:anim calcmode="lin" valueType="num">
                                      <p:cBhvr>
                                        <p:cTn id="27" dur="1000" fill="hold"/>
                                        <p:tgtEl>
                                          <p:spTgt spid="24">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24">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4">
                                            <p:txEl>
                                              <p:pRg st="7" end="7"/>
                                            </p:txEl>
                                          </p:spTgt>
                                        </p:tgtEl>
                                        <p:attrNameLst>
                                          <p:attrName>style.visibility</p:attrName>
                                        </p:attrNameLst>
                                      </p:cBhvr>
                                      <p:to>
                                        <p:strVal val="visible"/>
                                      </p:to>
                                    </p:set>
                                    <p:animEffect transition="in" filter="fade">
                                      <p:cBhvr>
                                        <p:cTn id="31" dur="1000"/>
                                        <p:tgtEl>
                                          <p:spTgt spid="24">
                                            <p:txEl>
                                              <p:pRg st="7" end="7"/>
                                            </p:txEl>
                                          </p:spTgt>
                                        </p:tgtEl>
                                      </p:cBhvr>
                                    </p:animEffect>
                                    <p:anim calcmode="lin" valueType="num">
                                      <p:cBhvr>
                                        <p:cTn id="32" dur="1000" fill="hold"/>
                                        <p:tgtEl>
                                          <p:spTgt spid="24">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2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4.4 Equivalence Relations and Partial Order Relations</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899918" y="864871"/>
            <a:ext cx="8798289" cy="3981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endParaRPr lang="en-US" altLang="zh-CN" sz="2400" b="1" dirty="0">
              <a:latin typeface="Trebuchet MS" panose="020B0603020202020204" pitchFamily="34" charset="0"/>
            </a:endParaRP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4.4.1 Equivalence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4.4.2 Equivalence Classes and Quotient Sets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4.4.3 Partition of a Set</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4.4.4 Partial Order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4.4.5 Partially Ordered Sets and </a:t>
            </a:r>
            <a:r>
              <a:rPr lang="en-US" sz="2400" b="1" dirty="0" err="1">
                <a:latin typeface="Trebuchet MS" panose="020B0603020202020204" pitchFamily="34" charset="0"/>
              </a:rPr>
              <a:t>Hasse</a:t>
            </a:r>
            <a:r>
              <a:rPr lang="en-US" sz="2400" b="1" dirty="0">
                <a:latin typeface="Trebuchet MS" panose="020B0603020202020204" pitchFamily="34" charset="0"/>
              </a:rPr>
              <a:t> Diagrams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687919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t> </a:t>
            </a:r>
            <a:r>
              <a:rPr lang="en-US" altLang="zh-CN" sz="2000" b="1" dirty="0">
                <a:solidFill>
                  <a:schemeClr val="bg1"/>
                </a:solidFill>
                <a:latin typeface="Trebuchet MS" panose="020B0603020202020204" pitchFamily="34" charset="0"/>
              </a:rPr>
              <a:t>4.4.4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 Order Relations</a:t>
            </a:r>
          </a:p>
          <a:p>
            <a:pPr>
              <a:lnSpc>
                <a:spcPct val="110000"/>
              </a:lnSpc>
              <a:buClr>
                <a:srgbClr val="0B5BFF"/>
              </a:buClr>
              <a:buSzPct val="80000"/>
            </a:pP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i="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P</a:t>
            </a:r>
            <a:r>
              <a:rPr lang="en-US" altLang="zh-CN" sz="2400" b="1" i="1" dirty="0">
                <a:solidFill>
                  <a:schemeClr val="bg1"/>
                </a:solidFill>
                <a:latin typeface="Trebuchet MS" panose="020B0603020202020204" pitchFamily="34" charset="0"/>
              </a:rPr>
              <a:t>artial Order Relation </a:t>
            </a:r>
            <a:r>
              <a:rPr lang="en-US" altLang="zh-CN" sz="2400" b="1" dirty="0">
                <a:solidFill>
                  <a:schemeClr val="bg1"/>
                </a:solidFill>
                <a:latin typeface="Trebuchet MS" panose="020B0603020202020204" pitchFamily="34" charset="0"/>
              </a:rPr>
              <a:t>on Set </a:t>
            </a:r>
            <a:r>
              <a:rPr lang="en-US" altLang="zh-CN" sz="2400" b="1" i="1" dirty="0">
                <a:solidFill>
                  <a:schemeClr val="bg1"/>
                </a:solidFill>
                <a:latin typeface="Trebuchet MS" panose="020B0603020202020204" pitchFamily="34" charset="0"/>
                <a:ea typeface="宋体" panose="02010600030101010101" pitchFamily="2" charset="-122"/>
              </a:rPr>
              <a:t>A</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9643788"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4.22</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A relation on a non-empty set that is </a:t>
            </a:r>
            <a:r>
              <a:rPr lang="en-US" sz="2400" b="1" dirty="0">
                <a:latin typeface="Trebuchet MS" panose="020B0603020202020204" pitchFamily="34" charset="0"/>
              </a:rPr>
              <a:t>reflexive, antisymmetric, and transitive</a:t>
            </a:r>
            <a:r>
              <a:rPr lang="en-US" sz="2400" dirty="0">
                <a:latin typeface="Trebuchet MS" panose="020B0603020202020204" pitchFamily="34" charset="0"/>
              </a:rPr>
              <a:t> is called a </a:t>
            </a:r>
            <a:r>
              <a:rPr lang="en-US" sz="2400" b="1" i="1" dirty="0">
                <a:latin typeface="Trebuchet MS" panose="020B0603020202020204" pitchFamily="34" charset="0"/>
              </a:rPr>
              <a:t>partial order relation</a:t>
            </a:r>
            <a:r>
              <a:rPr lang="en-US" sz="2400" i="1" dirty="0">
                <a:latin typeface="Trebuchet MS" panose="020B0603020202020204" pitchFamily="34" charset="0"/>
              </a:rPr>
              <a:t> </a:t>
            </a:r>
            <a:r>
              <a:rPr lang="en-US" sz="2400" dirty="0">
                <a:latin typeface="Trebuchet MS" panose="020B0603020202020204" pitchFamily="34" charset="0"/>
              </a:rPr>
              <a:t>on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i="1" dirty="0">
                <a:latin typeface="Trebuchet MS" panose="020B0603020202020204" pitchFamily="34" charset="0"/>
                <a:ea typeface="宋体" panose="02010600030101010101" pitchFamily="2" charset="-122"/>
              </a:rPr>
              <a:t>,</a:t>
            </a:r>
            <a:r>
              <a:rPr lang="zh-CN" altLang="en-US" sz="2400" b="1" i="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denoted</a:t>
            </a:r>
            <a:r>
              <a:rPr lang="en-US" altLang="zh-CN" sz="2400" b="1" i="1" dirty="0">
                <a:latin typeface="Trebuchet MS" panose="020B0603020202020204" pitchFamily="34" charset="0"/>
                <a:ea typeface="宋体" panose="02010600030101010101" pitchFamily="2" charset="-122"/>
              </a:rPr>
              <a:t> by </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If</a:t>
            </a:r>
            <a:r>
              <a:rPr lang="zh-CN" altLang="en-US" sz="2400" b="1" dirty="0">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&gt;∈≼, </a:t>
            </a:r>
            <a:r>
              <a:rPr lang="en-US" altLang="zh-CN" sz="2400" dirty="0">
                <a:latin typeface="Trebuchet MS" panose="020B0603020202020204" pitchFamily="34" charset="0"/>
              </a:rPr>
              <a:t>then we write it as  </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which is read as </a:t>
            </a:r>
            <a:r>
              <a:rPr lang="en-US" altLang="zh-CN" sz="2400" b="1" i="1" dirty="0">
                <a:solidFill>
                  <a:schemeClr val="tx1"/>
                </a:solidFill>
                <a:latin typeface="Trebuchet MS" panose="020B0603020202020204" pitchFamily="34" charset="0"/>
                <a:ea typeface="宋体" panose="02010600030101010101" pitchFamily="2" charset="-122"/>
              </a:rPr>
              <a:t>x </a:t>
            </a:r>
            <a:r>
              <a:rPr lang="en-US" altLang="zh-CN"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less than or equal” </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br>
              <a:rPr lang="en-US" altLang="zh-CN" sz="2400" b="1" dirty="0">
                <a:solidFill>
                  <a:schemeClr val="tx1"/>
                </a:solidFill>
                <a:latin typeface="Trebuchet MS" panose="020B0603020202020204" pitchFamily="34" charset="0"/>
                <a:ea typeface="宋体" panose="02010600030101010101" pitchFamily="2" charset="-122"/>
              </a:rPr>
            </a:br>
            <a:endParaRPr lang="en-US" altLang="zh-CN" sz="2400" b="1" dirty="0">
              <a:solidFill>
                <a:schemeClr val="tx1"/>
              </a:solidFill>
              <a:latin typeface="Trebuchet MS" panose="020B0603020202020204" pitchFamily="34" charset="0"/>
              <a:ea typeface="宋体" panose="02010600030101010101" pitchFamily="2" charset="-122"/>
            </a:endParaRPr>
          </a:p>
          <a:p>
            <a:pPr marL="0" indent="0">
              <a:lnSpc>
                <a:spcPct val="120000"/>
              </a:lnSpc>
              <a:spcBef>
                <a:spcPts val="600"/>
              </a:spcBef>
              <a:buNone/>
            </a:pPr>
            <a:r>
              <a:rPr lang="en-US" sz="2400" b="1" dirty="0">
                <a:latin typeface="Trebuchet MS" panose="020B0603020202020204" pitchFamily="34" charset="0"/>
              </a:rPr>
              <a:t>     Examples</a:t>
            </a:r>
            <a:r>
              <a:rPr lang="en-US" sz="2400" dirty="0">
                <a:latin typeface="Trebuchet MS" panose="020B0603020202020204" pitchFamily="34" charset="0"/>
              </a:rPr>
              <a:t>:</a:t>
            </a:r>
          </a:p>
          <a:p>
            <a:pPr>
              <a:lnSpc>
                <a:spcPct val="120000"/>
              </a:lnSpc>
              <a:spcBef>
                <a:spcPts val="600"/>
              </a:spcBef>
              <a:buClr>
                <a:srgbClr val="0B5BFF"/>
              </a:buClr>
              <a:buSzPct val="120000"/>
            </a:pPr>
            <a:r>
              <a:rPr lang="en-US" sz="2400" dirty="0">
                <a:latin typeface="Trebuchet MS" panose="020B0603020202020204" pitchFamily="34" charset="0"/>
              </a:rPr>
              <a:t>The </a:t>
            </a:r>
            <a:r>
              <a:rPr lang="en-US" sz="2400" b="1" dirty="0">
                <a:latin typeface="Trebuchet MS" panose="020B0603020202020204" pitchFamily="34" charset="0"/>
              </a:rPr>
              <a:t>identity relation </a:t>
            </a:r>
            <a:r>
              <a:rPr lang="en-US" altLang="zh-CN" sz="2400" b="1" i="1" dirty="0">
                <a:latin typeface="Trebuchet MS" panose="020B0603020202020204" pitchFamily="34" charset="0"/>
                <a:ea typeface="宋体" panose="02010600030101010101" pitchFamily="2" charset="-122"/>
              </a:rPr>
              <a:t>I</a:t>
            </a:r>
            <a:r>
              <a:rPr lang="en-US" altLang="zh-CN" sz="2400" b="1" i="1" baseline="-25000" dirty="0">
                <a:latin typeface="Trebuchet MS" panose="020B0603020202020204" pitchFamily="34" charset="0"/>
                <a:ea typeface="宋体" panose="02010600030101010101" pitchFamily="2" charset="-122"/>
              </a:rPr>
              <a:t>A </a:t>
            </a:r>
            <a:r>
              <a:rPr lang="en-US" altLang="zh-CN" sz="2400" b="1" dirty="0">
                <a:latin typeface="Trebuchet MS" panose="020B0603020202020204" pitchFamily="34" charset="0"/>
                <a:ea typeface="宋体" panose="02010600030101010101" pitchFamily="2" charset="-122"/>
              </a:rPr>
              <a:t>on set </a:t>
            </a:r>
            <a:r>
              <a:rPr lang="en-US" altLang="zh-CN" sz="2400" b="1" i="1" dirty="0">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is a partial order relation on </a:t>
            </a:r>
            <a:r>
              <a:rPr lang="en-US" altLang="zh-CN" sz="2400" b="1" i="1" dirty="0">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rPr>
              <a:t>. </a:t>
            </a:r>
          </a:p>
          <a:p>
            <a:pPr>
              <a:lnSpc>
                <a:spcPct val="120000"/>
              </a:lnSpc>
              <a:spcBef>
                <a:spcPts val="600"/>
              </a:spcBef>
              <a:buClr>
                <a:srgbClr val="0B5BFF"/>
              </a:buClr>
              <a:buSzPct val="120000"/>
            </a:pPr>
            <a:r>
              <a:rPr lang="en-US" sz="2400" dirty="0">
                <a:latin typeface="Trebuchet MS" panose="020B0603020202020204" pitchFamily="34" charset="0"/>
              </a:rPr>
              <a:t>The </a:t>
            </a:r>
            <a:r>
              <a:rPr lang="en-US" sz="2400" b="1" dirty="0">
                <a:latin typeface="Trebuchet MS" panose="020B0603020202020204" pitchFamily="34" charset="0"/>
              </a:rPr>
              <a:t>less than or equal to</a:t>
            </a:r>
            <a:r>
              <a:rPr lang="en-US" sz="2400" dirty="0">
                <a:latin typeface="Trebuchet MS" panose="020B0603020202020204" pitchFamily="34" charset="0"/>
              </a:rPr>
              <a:t> relation, </a:t>
            </a:r>
            <a:r>
              <a:rPr lang="en-US" sz="2400" b="1" dirty="0">
                <a:latin typeface="Trebuchet MS" panose="020B0603020202020204" pitchFamily="34" charset="0"/>
              </a:rPr>
              <a:t>divisibility</a:t>
            </a:r>
            <a:r>
              <a:rPr lang="en-US" sz="2400" dirty="0">
                <a:latin typeface="Trebuchet MS" panose="020B0603020202020204" pitchFamily="34" charset="0"/>
              </a:rPr>
              <a:t> relation, and </a:t>
            </a:r>
            <a:r>
              <a:rPr lang="en-US" sz="2400" b="1" dirty="0">
                <a:latin typeface="Trebuchet MS" panose="020B0603020202020204" pitchFamily="34" charset="0"/>
              </a:rPr>
              <a:t>subset inclusion</a:t>
            </a:r>
            <a:r>
              <a:rPr lang="en-US" sz="2400" dirty="0">
                <a:latin typeface="Trebuchet MS" panose="020B0603020202020204" pitchFamily="34" charset="0"/>
              </a:rPr>
              <a:t> relation are also partial order relations on their respective sets.</a:t>
            </a:r>
            <a:endParaRPr lang="en-US" altLang="zh-CN" sz="2400" b="1" dirty="0">
              <a:latin typeface="Trebuchet MS" panose="020B0603020202020204" pitchFamily="34" charset="0"/>
              <a:ea typeface="宋体" panose="02010600030101010101" pitchFamily="2" charset="-122"/>
            </a:endParaRPr>
          </a:p>
        </p:txBody>
      </p:sp>
      <p:pic>
        <p:nvPicPr>
          <p:cNvPr id="11" name="图片 10">
            <a:extLst>
              <a:ext uri="{FF2B5EF4-FFF2-40B4-BE49-F238E27FC236}">
                <a16:creationId xmlns:a16="http://schemas.microsoft.com/office/drawing/2014/main" id="{73004877-63D0-4F05-864F-BE4EA32F1EE7}"/>
              </a:ext>
            </a:extLst>
          </p:cNvPr>
          <p:cNvPicPr/>
          <p:nvPr/>
        </p:nvPicPr>
        <p:blipFill>
          <a:blip r:embed="rId5"/>
          <a:stretch>
            <a:fillRect/>
          </a:stretch>
        </p:blipFill>
        <p:spPr>
          <a:xfrm>
            <a:off x="1017907" y="3676029"/>
            <a:ext cx="577850" cy="241300"/>
          </a:xfrm>
          <a:prstGeom prst="rect">
            <a:avLst/>
          </a:prstGeom>
        </p:spPr>
      </p:pic>
    </p:spTree>
    <p:extLst>
      <p:ext uri="{BB962C8B-B14F-4D97-AF65-F5344CB8AC3E}">
        <p14:creationId xmlns:p14="http://schemas.microsoft.com/office/powerpoint/2010/main" val="1684510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fade">
                                      <p:cBhvr>
                                        <p:cTn id="24" dur="1000"/>
                                        <p:tgtEl>
                                          <p:spTgt spid="8">
                                            <p:txEl>
                                              <p:pRg st="3" end="3"/>
                                            </p:txEl>
                                          </p:spTgt>
                                        </p:tgtEl>
                                      </p:cBhvr>
                                    </p:animEffect>
                                    <p:anim calcmode="lin" valueType="num">
                                      <p:cBhvr>
                                        <p:cTn id="2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4.4.4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 Order Relations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Characteristics of Partial Order </a:t>
            </a:r>
            <a:r>
              <a:rPr lang="en-US" altLang="zh-CN" sz="2400" dirty="0">
                <a:latin typeface="Trebuchet MS" panose="020B0603020202020204" pitchFamily="34" charset="0"/>
              </a:rPr>
              <a:t>- </a:t>
            </a:r>
            <a:r>
              <a:rPr lang="en-US" altLang="zh-CN" sz="2400" b="1" dirty="0">
                <a:latin typeface="Trebuchet MS" panose="020B0603020202020204" pitchFamily="34" charset="0"/>
              </a:rPr>
              <a:t>Comparability and Total Order</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48093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4.23: Comparability</a:t>
            </a:r>
          </a:p>
          <a:p>
            <a:pPr marL="0" indent="0">
              <a:lnSpc>
                <a:spcPct val="120000"/>
              </a:lnSpc>
              <a:spcBef>
                <a:spcPts val="600"/>
              </a:spcBef>
              <a:buClr>
                <a:srgbClr val="0B5BFF"/>
              </a:buClr>
              <a:buSzPct val="80000"/>
              <a:buNone/>
            </a:pPr>
            <a:r>
              <a:rPr 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ea typeface="宋体" panose="02010600030101010101" pitchFamily="2" charset="-122"/>
              </a:rPr>
              <a:t>Let</a:t>
            </a:r>
            <a:r>
              <a:rPr lang="zh-CN" altLang="en-US" sz="2400" b="1" dirty="0">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R </a:t>
            </a:r>
            <a:r>
              <a:rPr lang="en-US" sz="2400" dirty="0">
                <a:latin typeface="Trebuchet MS" panose="020B0603020202020204" pitchFamily="34" charset="0"/>
              </a:rPr>
              <a:t>be a </a:t>
            </a:r>
            <a:r>
              <a:rPr lang="en-US" sz="2400" b="1" dirty="0">
                <a:latin typeface="Trebuchet MS" panose="020B0603020202020204" pitchFamily="34" charset="0"/>
              </a:rPr>
              <a:t>partial order relation</a:t>
            </a:r>
            <a:r>
              <a:rPr lang="en-US" sz="2400" dirty="0">
                <a:latin typeface="Trebuchet MS" panose="020B0603020202020204" pitchFamily="34" charset="0"/>
              </a:rPr>
              <a:t> on a non-empty set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p>
          <a:p>
            <a:pPr marL="536575" indent="-182563">
              <a:lnSpc>
                <a:spcPct val="120000"/>
              </a:lnSpc>
              <a:spcBef>
                <a:spcPts val="600"/>
              </a:spcBef>
              <a:buClr>
                <a:srgbClr val="0B5BFF"/>
              </a:buClr>
              <a:buSzPct val="120000"/>
            </a:pPr>
            <a:r>
              <a:rPr lang="en-US" altLang="zh-CN" sz="2400" b="1" dirty="0">
                <a:solidFill>
                  <a:schemeClr val="tx1"/>
                </a:solidFill>
                <a:latin typeface="Trebuchet MS" panose="020B0603020202020204" pitchFamily="34" charset="0"/>
                <a:ea typeface="宋体" panose="02010600030101010101" pitchFamily="2" charset="-122"/>
              </a:rPr>
              <a:t>For </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we say that  </a:t>
            </a:r>
            <a:r>
              <a:rPr lang="en-US" altLang="zh-CN" sz="2400" b="1" i="1" dirty="0">
                <a:solidFill>
                  <a:schemeClr val="tx1"/>
                </a:solidFill>
                <a:latin typeface="Trebuchet MS" panose="020B0603020202020204" pitchFamily="34" charset="0"/>
                <a:ea typeface="宋体" panose="02010600030101010101" pitchFamily="2" charset="-122"/>
              </a:rPr>
              <a:t>x </a:t>
            </a:r>
            <a:r>
              <a:rPr lang="en-US" altLang="zh-CN" sz="2400" b="1" i="1" dirty="0">
                <a:latin typeface="Trebuchet MS" panose="020B0603020202020204" pitchFamily="34" charset="0"/>
                <a:ea typeface="宋体" panose="02010600030101010101" pitchFamily="2" charset="-122"/>
              </a:rPr>
              <a:t>and</a:t>
            </a:r>
            <a:r>
              <a:rPr lang="zh-CN" altLang="en-US" sz="2400" b="1" i="1" dirty="0">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 </a:t>
            </a:r>
            <a:r>
              <a:rPr lang="en-US" sz="2400" dirty="0">
                <a:latin typeface="Trebuchet MS" panose="020B0603020202020204" pitchFamily="34" charset="0"/>
              </a:rPr>
              <a:t>are</a:t>
            </a:r>
            <a:r>
              <a:rPr lang="en-US" sz="2400" b="1" dirty="0">
                <a:latin typeface="Trebuchet MS" panose="020B0603020202020204" pitchFamily="34" charset="0"/>
              </a:rPr>
              <a:t> </a:t>
            </a:r>
            <a:r>
              <a:rPr lang="en-US" sz="2400" b="1" i="1" dirty="0">
                <a:latin typeface="Trebuchet MS" panose="020B0603020202020204" pitchFamily="34" charset="0"/>
              </a:rPr>
              <a:t>comparable</a:t>
            </a:r>
            <a:r>
              <a:rPr lang="en-US" sz="2400" b="1" dirty="0">
                <a:latin typeface="Trebuchet MS" panose="020B0603020202020204" pitchFamily="34" charset="0"/>
              </a:rPr>
              <a:t> </a:t>
            </a:r>
            <a:r>
              <a:rPr lang="en-US" altLang="zh-CN" sz="2400" dirty="0">
                <a:latin typeface="Trebuchet MS" panose="020B0603020202020204" pitchFamily="34" charset="0"/>
              </a:rPr>
              <a:t>if and only if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 or </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x</a:t>
            </a:r>
            <a:r>
              <a:rPr lang="en-US" altLang="zh-CN" sz="2400" dirty="0">
                <a:latin typeface="Trebuchet MS" panose="020B0603020202020204" pitchFamily="34" charset="0"/>
              </a:rPr>
              <a:t>.</a:t>
            </a:r>
          </a:p>
          <a:p>
            <a:pPr marL="536575" indent="-182563">
              <a:lnSpc>
                <a:spcPct val="120000"/>
              </a:lnSpc>
              <a:spcBef>
                <a:spcPts val="600"/>
              </a:spcBef>
              <a:buClr>
                <a:srgbClr val="0B5BFF"/>
              </a:buClr>
              <a:buSzPct val="120000"/>
            </a:pPr>
            <a:r>
              <a:rPr lang="en-US" sz="2400" b="1" dirty="0">
                <a:latin typeface="Trebuchet MS" panose="020B0603020202020204" pitchFamily="34" charset="0"/>
              </a:rPr>
              <a:t>Condition for incomparability</a:t>
            </a:r>
            <a:r>
              <a:rPr lang="en-US" sz="2400" dirty="0">
                <a:latin typeface="Trebuchet MS" panose="020B0603020202020204" pitchFamily="34" charset="0"/>
              </a:rPr>
              <a:t>: If no partial order relation relates </a:t>
            </a:r>
            <a:r>
              <a:rPr lang="en-US" altLang="zh-CN" sz="2400" b="1" i="1" dirty="0">
                <a:solidFill>
                  <a:schemeClr val="tx1"/>
                </a:solidFill>
                <a:latin typeface="Trebuchet MS" panose="020B0603020202020204" pitchFamily="34" charset="0"/>
                <a:ea typeface="宋体" panose="02010600030101010101" pitchFamily="2" charset="-122"/>
              </a:rPr>
              <a:t>x</a:t>
            </a:r>
            <a:r>
              <a:rPr lang="en-US" sz="2400" dirty="0">
                <a:latin typeface="Trebuchet MS" panose="020B0603020202020204" pitchFamily="34" charset="0"/>
              </a:rPr>
              <a:t> and </a:t>
            </a:r>
            <a:r>
              <a:rPr lang="en-US" altLang="zh-CN" sz="2400" b="1" i="1" dirty="0">
                <a:solidFill>
                  <a:schemeClr val="tx1"/>
                </a:solidFill>
                <a:latin typeface="Trebuchet MS" panose="020B0603020202020204" pitchFamily="34" charset="0"/>
                <a:ea typeface="宋体" panose="02010600030101010101" pitchFamily="2" charset="-122"/>
              </a:rPr>
              <a:t>y</a:t>
            </a:r>
            <a:r>
              <a:rPr lang="en-US" sz="2400" dirty="0">
                <a:latin typeface="Trebuchet MS" panose="020B0603020202020204" pitchFamily="34" charset="0"/>
              </a:rPr>
              <a:t>, then they are </a:t>
            </a:r>
            <a:r>
              <a:rPr lang="en-US" sz="2400" b="1" dirty="0">
                <a:latin typeface="Trebuchet MS" panose="020B0603020202020204" pitchFamily="34" charset="0"/>
              </a:rPr>
              <a:t>not comparable</a:t>
            </a:r>
            <a:r>
              <a:rPr lang="en-US" sz="2400" dirty="0">
                <a:latin typeface="Trebuchet MS" panose="020B0603020202020204" pitchFamily="34" charset="0"/>
              </a:rPr>
              <a:t>.</a:t>
            </a:r>
          </a:p>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4.24: Total Order </a:t>
            </a:r>
          </a:p>
          <a:p>
            <a:pPr marL="536575" indent="-182563">
              <a:lnSpc>
                <a:spcPct val="120000"/>
              </a:lnSpc>
              <a:spcBef>
                <a:spcPts val="600"/>
              </a:spcBef>
              <a:buClr>
                <a:srgbClr val="0B5BFF"/>
              </a:buClr>
              <a:buSzPct val="120000"/>
            </a:pPr>
            <a:r>
              <a:rPr lang="en-US" sz="2400" dirty="0">
                <a:latin typeface="Trebuchet MS" panose="020B0603020202020204" pitchFamily="34" charset="0"/>
              </a:rPr>
              <a:t> If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is a partial order on a non-empty set </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x </a:t>
            </a:r>
            <a:r>
              <a:rPr lang="en-US" altLang="zh-CN" sz="2400" b="1" i="1" dirty="0">
                <a:latin typeface="Trebuchet MS" panose="020B0603020202020204" pitchFamily="34" charset="0"/>
                <a:ea typeface="宋体" panose="02010600030101010101" pitchFamily="2" charset="-122"/>
              </a:rPr>
              <a:t>and </a:t>
            </a:r>
            <a:r>
              <a:rPr lang="en-US" altLang="zh-CN" sz="2400" b="1" i="1" dirty="0">
                <a:solidFill>
                  <a:schemeClr val="tx1"/>
                </a:solidFill>
                <a:latin typeface="Trebuchet MS" panose="020B0603020202020204" pitchFamily="34" charset="0"/>
                <a:ea typeface="宋体" panose="02010600030101010101" pitchFamily="2" charset="-122"/>
              </a:rPr>
              <a:t>y </a:t>
            </a:r>
            <a:r>
              <a:rPr lang="en-US" sz="2400" dirty="0">
                <a:latin typeface="Trebuchet MS" panose="020B0603020202020204" pitchFamily="34" charset="0"/>
              </a:rPr>
              <a:t>are always comparable,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is called a </a:t>
            </a:r>
            <a:r>
              <a:rPr lang="en-US" sz="2400" b="1" i="1" dirty="0">
                <a:latin typeface="Trebuchet MS" panose="020B0603020202020204" pitchFamily="34" charset="0"/>
              </a:rPr>
              <a:t>total order</a:t>
            </a:r>
            <a:r>
              <a:rPr lang="en-US" sz="2400" dirty="0">
                <a:latin typeface="Trebuchet MS" panose="020B0603020202020204" pitchFamily="34" charset="0"/>
              </a:rPr>
              <a:t>.</a:t>
            </a:r>
            <a:endParaRPr lang="en-US" altLang="zh-CN" sz="2400" b="1"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224274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4" end="4"/>
                                            </p:txEl>
                                          </p:spTgt>
                                        </p:tgtEl>
                                        <p:attrNameLst>
                                          <p:attrName>style.visibility</p:attrName>
                                        </p:attrNameLst>
                                      </p:cBhvr>
                                      <p:to>
                                        <p:strVal val="visible"/>
                                      </p:to>
                                    </p:set>
                                    <p:animEffect transition="in" filter="fade">
                                      <p:cBhvr>
                                        <p:cTn id="14" dur="1000"/>
                                        <p:tgtEl>
                                          <p:spTgt spid="8">
                                            <p:txEl>
                                              <p:pRg st="4" end="4"/>
                                            </p:txEl>
                                          </p:spTgt>
                                        </p:tgtEl>
                                      </p:cBhvr>
                                    </p:animEffect>
                                    <p:anim calcmode="lin" valueType="num">
                                      <p:cBhvr>
                                        <p:cTn id="1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4.4.4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 Order Relations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latin typeface="Trebuchet MS" panose="020B0603020202020204" pitchFamily="34" charset="0"/>
              </a:rPr>
              <a:t>Characteristics of Partial Order - </a:t>
            </a:r>
            <a:r>
              <a:rPr lang="en-US" altLang="zh-CN" sz="2400" b="1" dirty="0">
                <a:latin typeface="Trebuchet MS" panose="020B0603020202020204" pitchFamily="34" charset="0"/>
              </a:rPr>
              <a:t>Covering</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91259" y="927688"/>
            <a:ext cx="9343936"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buNone/>
            </a:pPr>
            <a:r>
              <a:rPr lang="en-US" sz="2400" b="1" dirty="0">
                <a:latin typeface="Trebuchet MS" panose="020B0603020202020204" pitchFamily="34" charset="0"/>
              </a:rPr>
              <a:t>     Examples</a:t>
            </a:r>
            <a:r>
              <a:rPr lang="en-US" sz="2400" dirty="0">
                <a:latin typeface="Trebuchet MS" panose="020B0603020202020204" pitchFamily="34" charset="0"/>
              </a:rPr>
              <a:t>:</a:t>
            </a:r>
          </a:p>
          <a:p>
            <a:pPr>
              <a:lnSpc>
                <a:spcPct val="120000"/>
              </a:lnSpc>
              <a:spcBef>
                <a:spcPts val="600"/>
              </a:spcBef>
              <a:buClr>
                <a:srgbClr val="0B5BFF"/>
              </a:buClr>
              <a:buSzPct val="120000"/>
            </a:pPr>
            <a:r>
              <a:rPr lang="en-US" sz="2400" dirty="0">
                <a:latin typeface="Trebuchet MS" panose="020B0603020202020204" pitchFamily="34" charset="0"/>
              </a:rPr>
              <a:t>The </a:t>
            </a:r>
            <a:r>
              <a:rPr lang="en-US" sz="2400" b="1" dirty="0">
                <a:latin typeface="Trebuchet MS" panose="020B0603020202020204" pitchFamily="34" charset="0"/>
              </a:rPr>
              <a:t>"less than or equal to"</a:t>
            </a:r>
            <a:r>
              <a:rPr lang="en-US" sz="2400" dirty="0">
                <a:latin typeface="Trebuchet MS" panose="020B0603020202020204" pitchFamily="34" charset="0"/>
              </a:rPr>
              <a:t> relation on numerical sets (such as real numbers and integers) is a </a:t>
            </a:r>
            <a:r>
              <a:rPr lang="en-US" sz="2400" b="1" dirty="0">
                <a:latin typeface="Trebuchet MS" panose="020B0603020202020204" pitchFamily="34" charset="0"/>
              </a:rPr>
              <a:t>total order</a:t>
            </a:r>
            <a:r>
              <a:rPr lang="en-US" sz="2400" dirty="0">
                <a:latin typeface="Trebuchet MS" panose="020B0603020202020204" pitchFamily="34" charset="0"/>
              </a:rPr>
              <a:t>.’</a:t>
            </a:r>
          </a:p>
          <a:p>
            <a:pPr>
              <a:lnSpc>
                <a:spcPct val="120000"/>
              </a:lnSpc>
              <a:spcBef>
                <a:spcPts val="600"/>
              </a:spcBef>
              <a:buClr>
                <a:srgbClr val="0B5BFF"/>
              </a:buClr>
              <a:buSzPct val="120000"/>
            </a:pPr>
            <a:r>
              <a:rPr lang="en-US" sz="2400" dirty="0">
                <a:latin typeface="Trebuchet MS" panose="020B0603020202020204" pitchFamily="34" charset="0"/>
              </a:rPr>
              <a:t>The </a:t>
            </a:r>
            <a:r>
              <a:rPr lang="en-US" sz="2400" b="1" dirty="0">
                <a:latin typeface="Trebuchet MS" panose="020B0603020202020204" pitchFamily="34" charset="0"/>
              </a:rPr>
              <a:t>divisibility relation</a:t>
            </a:r>
            <a:r>
              <a:rPr lang="en-US" sz="2400" dirty="0">
                <a:latin typeface="Trebuchet MS" panose="020B0603020202020204" pitchFamily="34" charset="0"/>
              </a:rPr>
              <a:t> is </a:t>
            </a:r>
            <a:r>
              <a:rPr lang="en-US" sz="2400" b="1" dirty="0">
                <a:latin typeface="Trebuchet MS" panose="020B0603020202020204" pitchFamily="34" charset="0"/>
              </a:rPr>
              <a:t>not</a:t>
            </a:r>
            <a:r>
              <a:rPr lang="en-US" sz="2400" dirty="0">
                <a:latin typeface="Trebuchet MS" panose="020B0603020202020204" pitchFamily="34" charset="0"/>
              </a:rPr>
              <a:t> </a:t>
            </a:r>
            <a:r>
              <a:rPr lang="en-US" sz="2400" b="1" dirty="0">
                <a:latin typeface="Trebuchet MS" panose="020B0603020202020204" pitchFamily="34" charset="0"/>
              </a:rPr>
              <a:t>a total order </a:t>
            </a:r>
            <a:r>
              <a:rPr lang="en-US" sz="2400" dirty="0">
                <a:latin typeface="Trebuchet MS" panose="020B0603020202020204" pitchFamily="34" charset="0"/>
              </a:rPr>
              <a:t>on the set of positive integers.</a:t>
            </a:r>
          </a:p>
          <a:p>
            <a:pPr>
              <a:lnSpc>
                <a:spcPct val="120000"/>
              </a:lnSpc>
              <a:spcBef>
                <a:spcPts val="60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Definition 4.25: </a:t>
            </a:r>
            <a:r>
              <a:rPr lang="en-US" altLang="zh-CN" sz="2400" dirty="0">
                <a:latin typeface="Trebuchet MS" panose="020B0603020202020204" pitchFamily="34" charset="0"/>
              </a:rPr>
              <a:t>Covering </a:t>
            </a:r>
          </a:p>
          <a:p>
            <a:pPr marL="536575" indent="0">
              <a:lnSpc>
                <a:spcPct val="110000"/>
              </a:lnSpc>
              <a:buNone/>
            </a:pP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if</a:t>
            </a:r>
            <a:r>
              <a:rPr lang="zh-CN" altLang="en-US" sz="2400" b="1" dirty="0">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dirty="0">
                <a:latin typeface="Trebuchet MS" panose="020B0603020202020204" pitchFamily="34" charset="0"/>
              </a:rPr>
              <a:t> and there is no</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z</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such</a:t>
            </a:r>
            <a:r>
              <a:rPr lang="zh-CN" altLang="en-US" sz="2400" b="1" i="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that</a:t>
            </a:r>
            <a:r>
              <a:rPr lang="zh-CN" altLang="en-US" sz="2400" b="1" i="1" dirty="0">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z</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then we say that</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i="1" dirty="0">
                <a:latin typeface="Trebuchet MS" panose="020B0603020202020204" pitchFamily="34" charset="0"/>
                <a:ea typeface="宋体" panose="02010600030101010101" pitchFamily="2" charset="-122"/>
              </a:rPr>
              <a:t> covers </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endParaRPr lang="en-US" sz="2400" dirty="0">
              <a:latin typeface="Trebuchet MS" panose="020B0603020202020204" pitchFamily="34" charset="0"/>
            </a:endParaRPr>
          </a:p>
          <a:p>
            <a:pPr>
              <a:lnSpc>
                <a:spcPct val="120000"/>
              </a:lnSpc>
              <a:spcBef>
                <a:spcPts val="600"/>
              </a:spcBef>
              <a:buClr>
                <a:srgbClr val="0B5BFF"/>
              </a:buClr>
              <a:buSzPct val="120000"/>
            </a:pPr>
            <a:r>
              <a:rPr lang="en-US" altLang="zh-CN" sz="2400" b="1" dirty="0">
                <a:latin typeface="Trebuchet MS" panose="020B0603020202020204" pitchFamily="34" charset="0"/>
                <a:ea typeface="宋体" panose="02010600030101010101" pitchFamily="2" charset="-122"/>
              </a:rPr>
              <a:t> Such as: </a:t>
            </a:r>
            <a:r>
              <a:rPr lang="en-US" sz="2400" dirty="0">
                <a:latin typeface="Trebuchet MS" panose="020B0603020202020204" pitchFamily="34" charset="0"/>
              </a:rPr>
              <a:t>On the set </a:t>
            </a:r>
            <a:r>
              <a:rPr lang="en-US" altLang="zh-CN" sz="2400" b="1" dirty="0">
                <a:latin typeface="Trebuchet MS" panose="020B0603020202020204" pitchFamily="34" charset="0"/>
                <a:ea typeface="宋体" panose="02010600030101010101" pitchFamily="2" charset="-122"/>
              </a:rPr>
              <a:t>{1, 2, 4, 6}</a:t>
            </a:r>
            <a:r>
              <a:rPr lang="en-US" sz="2400" dirty="0">
                <a:latin typeface="Trebuchet MS" panose="020B0603020202020204" pitchFamily="34" charset="0"/>
              </a:rPr>
              <a:t> with the divisibility relation: </a:t>
            </a:r>
          </a:p>
          <a:p>
            <a:pPr marL="0" indent="811213">
              <a:lnSpc>
                <a:spcPct val="120000"/>
              </a:lnSpc>
              <a:spcBef>
                <a:spcPts val="600"/>
              </a:spcBef>
              <a:buClr>
                <a:srgbClr val="0B5BFF"/>
              </a:buClr>
              <a:buSzPct val="120000"/>
              <a:buNone/>
            </a:pPr>
            <a:r>
              <a:rPr lang="en-US" altLang="zh-CN" sz="2400" b="1" dirty="0">
                <a:latin typeface="Trebuchet MS" panose="020B0603020202020204" pitchFamily="34" charset="0"/>
                <a:ea typeface="宋体" panose="02010600030101010101" pitchFamily="2" charset="-122"/>
              </a:rPr>
              <a:t>2 covers1, 4 and </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6 covers2. </a:t>
            </a:r>
          </a:p>
          <a:p>
            <a:pPr marL="0" indent="0">
              <a:lnSpc>
                <a:spcPct val="120000"/>
              </a:lnSpc>
              <a:spcBef>
                <a:spcPts val="600"/>
              </a:spcBef>
              <a:buNone/>
            </a:pPr>
            <a:r>
              <a:rPr lang="en-US" altLang="zh-CN" sz="2400" b="1" dirty="0">
                <a:latin typeface="Trebuchet MS" panose="020B0603020202020204" pitchFamily="34" charset="0"/>
                <a:ea typeface="宋体" panose="02010600030101010101" pitchFamily="2" charset="-122"/>
              </a:rPr>
              <a:t>    </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4 doesn’t</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cover</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1.</a:t>
            </a:r>
          </a:p>
        </p:txBody>
      </p:sp>
      <p:pic>
        <p:nvPicPr>
          <p:cNvPr id="9" name="图片 8">
            <a:extLst>
              <a:ext uri="{FF2B5EF4-FFF2-40B4-BE49-F238E27FC236}">
                <a16:creationId xmlns:a16="http://schemas.microsoft.com/office/drawing/2014/main" id="{39DD026A-BF8F-4A68-90A8-749963F83003}"/>
              </a:ext>
            </a:extLst>
          </p:cNvPr>
          <p:cNvPicPr/>
          <p:nvPr/>
        </p:nvPicPr>
        <p:blipFill>
          <a:blip r:embed="rId5"/>
          <a:stretch>
            <a:fillRect/>
          </a:stretch>
        </p:blipFill>
        <p:spPr>
          <a:xfrm>
            <a:off x="1155067" y="1047129"/>
            <a:ext cx="577850" cy="241300"/>
          </a:xfrm>
          <a:prstGeom prst="rect">
            <a:avLst/>
          </a:prstGeom>
        </p:spPr>
      </p:pic>
    </p:spTree>
    <p:extLst>
      <p:ext uri="{BB962C8B-B14F-4D97-AF65-F5344CB8AC3E}">
        <p14:creationId xmlns:p14="http://schemas.microsoft.com/office/powerpoint/2010/main" val="3507611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1000"/>
                                        <p:tgtEl>
                                          <p:spTgt spid="8">
                                            <p:txEl>
                                              <p:pRg st="5" end="5"/>
                                            </p:txEl>
                                          </p:spTgt>
                                        </p:tgtEl>
                                      </p:cBhvr>
                                    </p:animEffect>
                                    <p:anim calcmode="lin" valueType="num">
                                      <p:cBhvr>
                                        <p:cTn id="2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animEffect transition="in" filter="fade">
                                      <p:cBhvr>
                                        <p:cTn id="29" dur="1000"/>
                                        <p:tgtEl>
                                          <p:spTgt spid="8">
                                            <p:txEl>
                                              <p:pRg st="7" end="7"/>
                                            </p:txEl>
                                          </p:spTgt>
                                        </p:tgtEl>
                                      </p:cBhvr>
                                    </p:animEffect>
                                    <p:anim calcmode="lin" valueType="num">
                                      <p:cBhvr>
                                        <p:cTn id="3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4.4 Equivalence Relations and Partial Order Relations</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899918" y="864871"/>
            <a:ext cx="8798289" cy="3981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ts val="600"/>
              </a:spcBef>
              <a:buClr>
                <a:srgbClr val="0B5BFF"/>
              </a:buClr>
              <a:buSzPct val="80000"/>
              <a:buFont typeface="Wingdings" panose="05000000000000000000" pitchFamily="2" charset="2"/>
              <a:buChar char="n"/>
            </a:pPr>
            <a:endParaRPr lang="en-US" altLang="zh-CN" sz="2400" b="1" dirty="0">
              <a:latin typeface="Trebuchet MS" panose="020B0603020202020204" pitchFamily="34" charset="0"/>
            </a:endParaRP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4.4.1 Equivalence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4.4.2 Equivalence Classes and Quotient Sets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4.4.3 Partition of a Set</a:t>
            </a:r>
          </a:p>
          <a:p>
            <a:pPr>
              <a:lnSpc>
                <a:spcPct val="130000"/>
              </a:lnSpc>
              <a:spcBef>
                <a:spcPts val="600"/>
              </a:spcBef>
              <a:buClr>
                <a:srgbClr val="0B5B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4.4.4 Partial Order Relations</a:t>
            </a:r>
          </a:p>
          <a:p>
            <a:pPr eaLnBrk="1" hangingPunct="1">
              <a:lnSpc>
                <a:spcPct val="130000"/>
              </a:lnSpc>
              <a:spcBef>
                <a:spcPts val="600"/>
              </a:spcBef>
              <a:buClr>
                <a:srgbClr val="0B5B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4.4.5 Partially Ordered Sets and </a:t>
            </a:r>
            <a:r>
              <a:rPr lang="en-US" sz="2400" b="1" dirty="0" err="1">
                <a:solidFill>
                  <a:srgbClr val="0B5BFF"/>
                </a:solidFill>
                <a:latin typeface="Trebuchet MS" panose="020B0603020202020204" pitchFamily="34" charset="0"/>
              </a:rPr>
              <a:t>Hasse</a:t>
            </a:r>
            <a:r>
              <a:rPr lang="en-US" sz="2400" b="1" dirty="0">
                <a:solidFill>
                  <a:srgbClr val="0B5BFF"/>
                </a:solidFill>
                <a:latin typeface="Trebuchet MS" panose="020B0603020202020204" pitchFamily="34" charset="0"/>
              </a:rPr>
              <a:t> Diagrams</a:t>
            </a:r>
            <a:endParaRPr lang="zh-CN" altLang="en-US" sz="2400" b="1" dirty="0">
              <a:solidFill>
                <a:srgbClr val="0B5BFF"/>
              </a:solidFill>
              <a:latin typeface="Trebuchet MS" panose="020B0603020202020204" pitchFamily="34" charset="0"/>
            </a:endParaRPr>
          </a:p>
        </p:txBody>
      </p:sp>
    </p:spTree>
    <p:extLst>
      <p:ext uri="{BB962C8B-B14F-4D97-AF65-F5344CB8AC3E}">
        <p14:creationId xmlns:p14="http://schemas.microsoft.com/office/powerpoint/2010/main" val="4267753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Partially Ordered Set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42149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4.26</a:t>
            </a:r>
            <a:r>
              <a:rPr lang="zh-CN" altLang="en-US" sz="2400" b="1" dirty="0">
                <a:latin typeface="Trebuchet MS" panose="020B0603020202020204" pitchFamily="34" charset="0"/>
              </a:rPr>
              <a:t>：</a:t>
            </a:r>
            <a:r>
              <a:rPr lang="en-US" altLang="zh-CN" sz="2400" b="1" i="1" dirty="0">
                <a:latin typeface="Trebuchet MS" panose="020B0603020202020204" pitchFamily="34" charset="0"/>
              </a:rPr>
              <a:t> </a:t>
            </a:r>
            <a:r>
              <a:rPr lang="en-US" altLang="zh-CN" sz="2400" b="1" dirty="0">
                <a:latin typeface="Trebuchet MS" panose="020B0603020202020204" pitchFamily="34" charset="0"/>
              </a:rPr>
              <a:t>Partially ordered set.</a:t>
            </a:r>
            <a:br>
              <a:rPr lang="en-US" sz="2400" dirty="0">
                <a:latin typeface="Trebuchet MS" panose="020B0603020202020204" pitchFamily="34" charset="0"/>
              </a:rPr>
            </a:br>
            <a:r>
              <a:rPr lang="en-US" sz="2400" dirty="0">
                <a:latin typeface="Trebuchet MS" panose="020B0603020202020204" pitchFamily="34" charset="0"/>
              </a:rPr>
              <a:t>A </a:t>
            </a:r>
            <a:r>
              <a:rPr lang="en-US" sz="2400" b="1" i="1" dirty="0">
                <a:latin typeface="Trebuchet MS" panose="020B0603020202020204" pitchFamily="34" charset="0"/>
              </a:rPr>
              <a:t>partially ordered set </a:t>
            </a:r>
            <a:r>
              <a:rPr lang="en-US" sz="2400" b="1" dirty="0">
                <a:latin typeface="Trebuchet MS" panose="020B0603020202020204" pitchFamily="34" charset="0"/>
              </a:rPr>
              <a:t>(</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sz="2400" dirty="0">
                <a:latin typeface="Trebuchet MS" panose="020B0603020202020204" pitchFamily="34" charset="0"/>
              </a:rPr>
              <a:t> consists of a set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together with a partial order relation</a:t>
            </a:r>
            <a:r>
              <a:rPr lang="en-US" altLang="zh-CN" sz="2400"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a:t>
            </a:r>
            <a:r>
              <a:rPr lang="en-US" sz="2400" b="1" dirty="0">
                <a:latin typeface="Trebuchet MS" panose="020B0603020202020204" pitchFamily="34" charset="0"/>
              </a:rPr>
              <a:t> </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denoted as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,≼&gt;.</a:t>
            </a:r>
          </a:p>
          <a:p>
            <a:pPr>
              <a:lnSpc>
                <a:spcPct val="120000"/>
              </a:lnSpc>
              <a:spcBef>
                <a:spcPts val="600"/>
              </a:spcBef>
              <a:buClr>
                <a:srgbClr val="0B5BFF"/>
              </a:buClr>
              <a:buSzPct val="80000"/>
              <a:buFont typeface="Wingdings" panose="05000000000000000000" pitchFamily="2" charset="2"/>
              <a:buChar char="n"/>
            </a:pPr>
            <a:r>
              <a:rPr lang="en-US" sz="2400" b="1" dirty="0">
                <a:latin typeface="Trebuchet MS" panose="020B0603020202020204" pitchFamily="34" charset="0"/>
              </a:rPr>
              <a:t>Such as</a:t>
            </a:r>
            <a:r>
              <a:rPr lang="zh-CN" altLang="en-US" sz="2400" b="1" dirty="0">
                <a:latin typeface="Trebuchet MS" panose="020B0603020202020204" pitchFamily="34" charset="0"/>
                <a:ea typeface="宋体" panose="02010600030101010101" pitchFamily="2" charset="-122"/>
              </a:rPr>
              <a:t>：</a:t>
            </a:r>
            <a:r>
              <a:rPr lang="en-US" sz="2400" b="1" dirty="0">
                <a:latin typeface="Trebuchet MS" panose="020B0603020202020204" pitchFamily="34" charset="0"/>
              </a:rPr>
              <a:t> </a:t>
            </a:r>
          </a:p>
          <a:p>
            <a:pPr indent="34925">
              <a:lnSpc>
                <a:spcPct val="120000"/>
              </a:lnSpc>
              <a:spcBef>
                <a:spcPts val="600"/>
              </a:spcBef>
              <a:buClr>
                <a:srgbClr val="0B5BFF"/>
              </a:buClr>
              <a:buSzPct val="120000"/>
            </a:pPr>
            <a:r>
              <a:rPr lang="en-US" sz="2400" dirty="0">
                <a:latin typeface="Trebuchet MS" panose="020B0603020202020204" pitchFamily="34" charset="0"/>
              </a:rPr>
              <a:t> The set of integers with the "less than or equal to" relation forms a </a:t>
            </a:r>
            <a:r>
              <a:rPr lang="en-US" sz="2400" dirty="0" err="1">
                <a:latin typeface="Trebuchet MS" panose="020B0603020202020204" pitchFamily="34" charset="0"/>
              </a:rPr>
              <a:t>poset</a:t>
            </a:r>
            <a:r>
              <a:rPr lang="en-US" sz="2400" dirty="0">
                <a:latin typeface="Trebuchet MS" panose="020B0603020202020204" pitchFamily="34" charset="0"/>
              </a:rPr>
              <a:t> </a:t>
            </a:r>
            <a:r>
              <a:rPr lang="en-US" altLang="zh-CN" sz="2400" b="1" dirty="0">
                <a:solidFill>
                  <a:schemeClr val="tx1"/>
                </a:solidFill>
                <a:latin typeface="Trebuchet MS" panose="020B0603020202020204" pitchFamily="34" charset="0"/>
                <a:ea typeface="宋体" panose="02010600030101010101" pitchFamily="2" charset="-122"/>
              </a:rPr>
              <a:t>&lt;Z,≤&gt;.</a:t>
            </a:r>
          </a:p>
          <a:p>
            <a:pPr indent="34925">
              <a:lnSpc>
                <a:spcPct val="120000"/>
              </a:lnSpc>
              <a:spcBef>
                <a:spcPts val="600"/>
              </a:spcBef>
              <a:buClr>
                <a:srgbClr val="0B5BFF"/>
              </a:buClr>
              <a:buSzPct val="120000"/>
            </a:pPr>
            <a:r>
              <a:rPr lang="en-US" altLang="zh-CN" sz="2400" b="1" i="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 power set  </a:t>
            </a:r>
            <a:r>
              <a:rPr lang="en-US" altLang="zh-CN" sz="2400" b="1" i="1" dirty="0">
                <a:solidFill>
                  <a:schemeClr val="tx1"/>
                </a:solidFill>
                <a:latin typeface="Trebuchet MS" panose="020B0603020202020204" pitchFamily="34" charset="0"/>
                <a:ea typeface="宋体" panose="02010600030101010101" pitchFamily="2" charset="-122"/>
              </a:rPr>
              <a:t>P</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 with the subset inclusion relation forms a </a:t>
            </a:r>
            <a:r>
              <a:rPr lang="en-US" sz="2400" dirty="0" err="1">
                <a:latin typeface="Trebuchet MS" panose="020B0603020202020204" pitchFamily="34" charset="0"/>
              </a:rPr>
              <a:t>poset</a:t>
            </a:r>
            <a:r>
              <a:rPr lang="en-US" sz="2400" dirty="0">
                <a:latin typeface="Trebuchet MS" panose="020B0603020202020204" pitchFamily="34" charset="0"/>
              </a:rPr>
              <a:t>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P</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R</a:t>
            </a:r>
            <a:r>
              <a:rPr lang="en-US" altLang="zh-CN" sz="2400" b="1" baseline="-25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&gt;. </a:t>
            </a:r>
            <a:br>
              <a:rPr lang="en-US" altLang="zh-CN" sz="2400" b="1" dirty="0">
                <a:solidFill>
                  <a:schemeClr val="tx1"/>
                </a:solidFill>
                <a:latin typeface="Trebuchet MS" panose="020B0603020202020204" pitchFamily="34" charset="0"/>
                <a:ea typeface="宋体" panose="02010600030101010101" pitchFamily="2" charset="-122"/>
              </a:rPr>
            </a:br>
            <a:endParaRPr lang="en-US" altLang="zh-CN" sz="2400" b="1" dirty="0">
              <a:solidFill>
                <a:srgbClr val="000066"/>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2096941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Simplified representation of a </a:t>
            </a:r>
            <a:r>
              <a:rPr lang="en-US" altLang="zh-CN" sz="2400" b="1" dirty="0" err="1"/>
              <a:t>poset</a:t>
            </a:r>
            <a:r>
              <a:rPr lang="en-US" altLang="zh-CN" sz="2400" b="1" dirty="0"/>
              <a:t> - </a:t>
            </a:r>
            <a:r>
              <a:rPr lang="en-US" altLang="zh-CN" sz="2400" b="1" dirty="0" err="1"/>
              <a:t>Hasse</a:t>
            </a:r>
            <a:r>
              <a:rPr lang="en-US" altLang="zh-CN" sz="2400" b="1" dirty="0"/>
              <a:t> diagram</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3"/>
            <a:ext cx="9975851" cy="57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500"/>
              </a:spcBef>
              <a:buClr>
                <a:srgbClr val="0B5BFF"/>
              </a:buClr>
              <a:buSzPct val="80000"/>
              <a:buFont typeface="Wingdings" panose="05000000000000000000" pitchFamily="2" charset="2"/>
              <a:buChar char="n"/>
            </a:pPr>
            <a:r>
              <a:rPr lang="en-US" sz="2400" b="1" dirty="0">
                <a:latin typeface="Trebuchet MS" panose="020B0603020202020204" pitchFamily="34" charset="0"/>
              </a:rPr>
              <a:t>Hesse Diagram:  </a:t>
            </a:r>
            <a:r>
              <a:rPr lang="en-US" sz="2400" dirty="0">
                <a:latin typeface="Trebuchet MS" panose="020B0603020202020204" pitchFamily="34" charset="0"/>
              </a:rPr>
              <a:t>A simplified graphical representation of a partial order that eliminates reflexivity, </a:t>
            </a:r>
            <a:r>
              <a:rPr lang="en-US" sz="2400" dirty="0" err="1">
                <a:latin typeface="Trebuchet MS" panose="020B0603020202020204" pitchFamily="34" charset="0"/>
              </a:rPr>
              <a:t>antisymmetry</a:t>
            </a:r>
            <a:r>
              <a:rPr lang="en-US" sz="2400" dirty="0">
                <a:latin typeface="Trebuchet MS" panose="020B0603020202020204" pitchFamily="34" charset="0"/>
              </a:rPr>
              <a:t>, and transitivity in the diagram.</a:t>
            </a:r>
          </a:p>
          <a:p>
            <a:pPr>
              <a:lnSpc>
                <a:spcPct val="120000"/>
              </a:lnSpc>
              <a:spcBef>
                <a:spcPts val="500"/>
              </a:spcBef>
              <a:buClr>
                <a:srgbClr val="0B5BFF"/>
              </a:buClr>
              <a:buSzPct val="80000"/>
              <a:buFont typeface="Wingdings" panose="05000000000000000000" pitchFamily="2" charset="2"/>
              <a:buChar char="n"/>
            </a:pPr>
            <a:r>
              <a:rPr lang="en-US" sz="2400" b="1" dirty="0">
                <a:latin typeface="Trebuchet MS" panose="020B0603020202020204" pitchFamily="34" charset="0"/>
              </a:rPr>
              <a:t>Characteristics</a:t>
            </a:r>
            <a:r>
              <a:rPr lang="en-US" sz="2400" dirty="0">
                <a:latin typeface="Trebuchet MS" panose="020B0603020202020204" pitchFamily="34" charset="0"/>
              </a:rPr>
              <a:t>:</a:t>
            </a:r>
          </a:p>
          <a:p>
            <a:pPr indent="34925">
              <a:lnSpc>
                <a:spcPct val="120000"/>
              </a:lnSpc>
              <a:spcBef>
                <a:spcPts val="500"/>
              </a:spcBef>
              <a:buClr>
                <a:srgbClr val="0B5BFF"/>
              </a:buClr>
              <a:buSzPct val="120000"/>
              <a:buFont typeface="Arial" panose="020B0604020202020204" pitchFamily="34" charset="0"/>
              <a:buChar char="•"/>
            </a:pPr>
            <a:r>
              <a:rPr lang="en-US" sz="2400" dirty="0">
                <a:latin typeface="Trebuchet MS" panose="020B0603020202020204" pitchFamily="34" charset="0"/>
              </a:rPr>
              <a:t>Each node has no self-loops.</a:t>
            </a:r>
          </a:p>
          <a:p>
            <a:pPr indent="34925">
              <a:lnSpc>
                <a:spcPct val="120000"/>
              </a:lnSpc>
              <a:spcBef>
                <a:spcPts val="500"/>
              </a:spcBef>
              <a:buClr>
                <a:srgbClr val="0B5BFF"/>
              </a:buClr>
              <a:buSzPct val="120000"/>
              <a:buFont typeface="Arial" panose="020B0604020202020204" pitchFamily="34" charset="0"/>
              <a:buChar char="•"/>
            </a:pPr>
            <a:r>
              <a:rPr lang="en-US" sz="2400" dirty="0">
                <a:latin typeface="Trebuchet MS" panose="020B0603020202020204" pitchFamily="34" charset="0"/>
              </a:rPr>
              <a:t>The order between two connected nodes is represented by their relative position: </a:t>
            </a:r>
            <a:r>
              <a:rPr lang="en-US" sz="2400" b="1" dirty="0">
                <a:latin typeface="Trebuchet MS" panose="020B0603020202020204" pitchFamily="34" charset="0"/>
              </a:rPr>
              <a:t>Lower-positioned elements come earlier in the order</a:t>
            </a:r>
            <a:r>
              <a:rPr lang="en-US" sz="2400" dirty="0">
                <a:latin typeface="Trebuchet MS" panose="020B0603020202020204" pitchFamily="34" charset="0"/>
              </a:rPr>
              <a:t>.</a:t>
            </a:r>
          </a:p>
          <a:p>
            <a:pPr indent="34925">
              <a:lnSpc>
                <a:spcPct val="120000"/>
              </a:lnSpc>
              <a:spcBef>
                <a:spcPts val="500"/>
              </a:spcBef>
              <a:buClr>
                <a:srgbClr val="0B5BFF"/>
              </a:buClr>
              <a:buSzPct val="120000"/>
            </a:pPr>
            <a:r>
              <a:rPr lang="en-US" sz="2400" dirty="0">
                <a:latin typeface="Trebuchet MS" panose="020B0603020202020204" pitchFamily="34" charset="0"/>
              </a:rPr>
              <a:t>There is an edge between two nodes </a:t>
            </a:r>
            <a:r>
              <a:rPr lang="en-US" sz="2400" b="1" dirty="0">
                <a:latin typeface="Trebuchet MS" panose="020B0603020202020204" pitchFamily="34" charset="0"/>
              </a:rPr>
              <a:t>if and only if </a:t>
            </a:r>
            <a:r>
              <a:rPr lang="en-US" sz="2400" dirty="0">
                <a:latin typeface="Trebuchet MS" panose="020B0603020202020204" pitchFamily="34" charset="0"/>
              </a:rPr>
              <a:t>they have a covering relation.</a:t>
            </a:r>
          </a:p>
          <a:p>
            <a:pPr marL="263525" indent="-263525">
              <a:lnSpc>
                <a:spcPct val="120000"/>
              </a:lnSpc>
              <a:spcBef>
                <a:spcPts val="500"/>
              </a:spcBef>
              <a:buClr>
                <a:srgbClr val="0B5B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dirty="0" err="1">
                <a:latin typeface="Trebuchet MS" panose="020B0603020202020204" pitchFamily="34" charset="0"/>
              </a:rPr>
              <a:t>Hasse</a:t>
            </a:r>
            <a:r>
              <a:rPr lang="en-US" altLang="zh-CN" sz="2400" dirty="0">
                <a:latin typeface="Trebuchet MS" panose="020B0603020202020204" pitchFamily="34" charset="0"/>
              </a:rPr>
              <a:t> diagram is a special type of relational graph for </a:t>
            </a:r>
            <a:r>
              <a:rPr lang="en-US" altLang="zh-CN" sz="2400" dirty="0" err="1">
                <a:latin typeface="Trebuchet MS" panose="020B0603020202020204" pitchFamily="34" charset="0"/>
              </a:rPr>
              <a:t>posets</a:t>
            </a:r>
            <a:r>
              <a:rPr lang="en-US" altLang="zh-CN" sz="2400" dirty="0">
                <a:latin typeface="Trebuchet MS" panose="020B0603020202020204" pitchFamily="34" charset="0"/>
              </a:rPr>
              <a:t>, with transitive edges removed and implicit direction.</a:t>
            </a:r>
            <a:br>
              <a:rPr lang="en-US" altLang="zh-CN" sz="2400" b="1" dirty="0">
                <a:solidFill>
                  <a:schemeClr val="tx1"/>
                </a:solidFill>
                <a:latin typeface="Trebuchet MS" panose="020B0603020202020204" pitchFamily="34" charset="0"/>
                <a:ea typeface="宋体" panose="02010600030101010101" pitchFamily="2" charset="-122"/>
              </a:rPr>
            </a:br>
            <a:endParaRPr lang="en-US" altLang="zh-CN" sz="2400" b="1" dirty="0">
              <a:solidFill>
                <a:srgbClr val="000066"/>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191470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Simplified representation of a </a:t>
            </a:r>
            <a:r>
              <a:rPr lang="en-US" altLang="zh-CN" sz="2400" b="1" dirty="0" err="1"/>
              <a:t>poset</a:t>
            </a:r>
            <a:r>
              <a:rPr lang="en-US" altLang="zh-CN" sz="2400" b="1" dirty="0"/>
              <a:t> - </a:t>
            </a:r>
            <a:r>
              <a:rPr lang="en-US" altLang="zh-CN" sz="2400" b="1" dirty="0" err="1"/>
              <a:t>Hasse</a:t>
            </a:r>
            <a:r>
              <a:rPr lang="en-US" altLang="zh-CN" sz="2400" b="1" dirty="0"/>
              <a:t> diagram(</a:t>
            </a:r>
            <a:r>
              <a:rPr lang="en-US" altLang="zh-CN" sz="2400" b="1" dirty="0">
                <a:solidFill>
                  <a:schemeClr val="accent2"/>
                </a:solidFill>
              </a:rPr>
              <a:t>e.g.</a:t>
            </a:r>
            <a:r>
              <a:rPr lang="en-US" altLang="zh-CN" sz="2400" b="1" dirty="0"/>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47064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buNone/>
            </a:pPr>
            <a:r>
              <a:rPr lang="en-US" altLang="zh-CN" sz="2400" b="1" dirty="0">
                <a:latin typeface="Trebuchet MS" panose="020B0603020202020204" pitchFamily="34" charset="0"/>
                <a:ea typeface="宋体" panose="02010600030101010101" pitchFamily="2" charset="-122"/>
              </a:rPr>
              <a:t>         Example :   &lt;{ 1, 2, 3, 4, 5, 6, 7, 8, 9 }, </a:t>
            </a:r>
            <a:r>
              <a:rPr lang="en-US" altLang="zh-CN" sz="2400" b="1" i="1" dirty="0" err="1">
                <a:latin typeface="Trebuchet MS" panose="020B0603020202020204" pitchFamily="34" charset="0"/>
                <a:ea typeface="宋体" panose="02010600030101010101" pitchFamily="2" charset="-122"/>
              </a:rPr>
              <a:t>R</a:t>
            </a:r>
            <a:r>
              <a:rPr lang="en-US" altLang="zh-CN" sz="2400" b="1" i="1" baseline="-25000" dirty="0" err="1">
                <a:latin typeface="Trebuchet MS" panose="020B0603020202020204" pitchFamily="34" charset="0"/>
                <a:ea typeface="宋体" panose="02010600030101010101" pitchFamily="2" charset="-122"/>
              </a:rPr>
              <a:t>Div</a:t>
            </a:r>
            <a:r>
              <a:rPr lang="en-US" altLang="zh-CN" sz="2400" b="1" dirty="0">
                <a:latin typeface="Trebuchet MS" panose="020B0603020202020204" pitchFamily="34" charset="0"/>
                <a:ea typeface="宋体" panose="02010600030101010101" pitchFamily="2" charset="-122"/>
              </a:rPr>
              <a:t>&gt;</a:t>
            </a:r>
          </a:p>
          <a:p>
            <a:pPr marL="0" indent="0">
              <a:lnSpc>
                <a:spcPct val="120000"/>
              </a:lnSpc>
              <a:spcBef>
                <a:spcPts val="600"/>
              </a:spcBef>
              <a:buNone/>
            </a:pPr>
            <a:r>
              <a:rPr lang="en-US" altLang="zh-CN" sz="2400" b="1" dirty="0">
                <a:latin typeface="Trebuchet MS" panose="020B0603020202020204" pitchFamily="34" charset="0"/>
                <a:ea typeface="宋体" panose="02010600030101010101" pitchFamily="2" charset="-122"/>
              </a:rPr>
              <a:t>                   &lt;</a:t>
            </a:r>
            <a:r>
              <a:rPr lang="en-US" altLang="zh-CN" sz="2400" b="1" i="1" dirty="0">
                <a:latin typeface="Trebuchet MS" panose="020B0603020202020204" pitchFamily="34" charset="0"/>
                <a:ea typeface="宋体" panose="02010600030101010101" pitchFamily="2" charset="-122"/>
              </a:rPr>
              <a:t>P</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b</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c</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R</a:t>
            </a:r>
            <a:r>
              <a:rPr lang="en-US" altLang="zh-CN" sz="2400" b="1" baseline="-25000"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&gt;</a:t>
            </a:r>
          </a:p>
          <a:p>
            <a:pPr marL="0" indent="0">
              <a:lnSpc>
                <a:spcPct val="120000"/>
              </a:lnSpc>
              <a:buNone/>
            </a:pPr>
            <a:endParaRPr lang="en-US" altLang="zh-CN" sz="2800" b="1" dirty="0">
              <a:solidFill>
                <a:srgbClr val="000066"/>
              </a:solidFill>
              <a:latin typeface="Times New Roman" panose="02020603050405020304" pitchFamily="18" charset="0"/>
              <a:ea typeface="宋体" panose="02010600030101010101" pitchFamily="2" charset="-122"/>
            </a:endParaRPr>
          </a:p>
        </p:txBody>
      </p:sp>
      <p:pic>
        <p:nvPicPr>
          <p:cNvPr id="10" name="Picture 5" descr="4">
            <a:extLst>
              <a:ext uri="{FF2B5EF4-FFF2-40B4-BE49-F238E27FC236}">
                <a16:creationId xmlns:a16="http://schemas.microsoft.com/office/drawing/2014/main" id="{D18CB331-E9EB-4F4B-BC3C-B7BE5F0472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4936" y="2162356"/>
            <a:ext cx="6149975" cy="383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A886ED47-6D58-493D-A035-1AADE766DCD1}"/>
              </a:ext>
            </a:extLst>
          </p:cNvPr>
          <p:cNvPicPr/>
          <p:nvPr/>
        </p:nvPicPr>
        <p:blipFill>
          <a:blip r:embed="rId6"/>
          <a:stretch>
            <a:fillRect/>
          </a:stretch>
        </p:blipFill>
        <p:spPr>
          <a:xfrm>
            <a:off x="1349377" y="1024269"/>
            <a:ext cx="577850" cy="241300"/>
          </a:xfrm>
          <a:prstGeom prst="rect">
            <a:avLst/>
          </a:prstGeom>
        </p:spPr>
      </p:pic>
    </p:spTree>
    <p:extLst>
      <p:ext uri="{BB962C8B-B14F-4D97-AF65-F5344CB8AC3E}">
        <p14:creationId xmlns:p14="http://schemas.microsoft.com/office/powerpoint/2010/main" val="2619851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2000" b="1" dirty="0">
                <a:solidFill>
                  <a:schemeClr val="bg1"/>
                </a:solidFill>
                <a:latin typeface="Trebuchet MS" panose="020B0603020202020204" pitchFamily="34" charset="0"/>
              </a:rPr>
              <a:t>             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t>Simplified representation of a </a:t>
            </a:r>
            <a:r>
              <a:rPr lang="en-US" altLang="zh-CN" sz="2400" b="1" dirty="0" err="1"/>
              <a:t>poset</a:t>
            </a:r>
            <a:r>
              <a:rPr lang="en-US" altLang="zh-CN" sz="2400" b="1" dirty="0"/>
              <a:t> - </a:t>
            </a:r>
            <a:r>
              <a:rPr lang="en-US" altLang="zh-CN" sz="2400" b="1" dirty="0" err="1"/>
              <a:t>Hasse</a:t>
            </a:r>
            <a:r>
              <a:rPr lang="en-US" altLang="zh-CN" sz="2400" b="1" dirty="0"/>
              <a:t> diagram(</a:t>
            </a:r>
            <a:r>
              <a:rPr lang="en-US" altLang="zh-CN" sz="2400" b="1" dirty="0">
                <a:solidFill>
                  <a:schemeClr val="accent2"/>
                </a:solidFill>
              </a:rPr>
              <a:t>e.g.</a:t>
            </a:r>
            <a:r>
              <a:rPr lang="en-US" altLang="zh-CN" sz="2400" b="1" dirty="0"/>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br>
              <a:rPr lang="en-US" altLang="zh-CN" sz="2800" b="1" dirty="0">
                <a:solidFill>
                  <a:schemeClr val="tx1"/>
                </a:solidFill>
                <a:latin typeface="Times New Roman" panose="02020603050405020304" pitchFamily="18" charset="0"/>
                <a:ea typeface="宋体" panose="02010600030101010101" pitchFamily="2" charset="-122"/>
              </a:rPr>
            </a:br>
            <a:endParaRPr lang="en-US" altLang="zh-CN" sz="2800" b="1" dirty="0">
              <a:solidFill>
                <a:srgbClr val="000066"/>
              </a:solidFill>
              <a:latin typeface="Times New Roman" panose="02020603050405020304" pitchFamily="18" charset="0"/>
              <a:ea typeface="宋体" panose="02010600030101010101" pitchFamily="2" charset="-122"/>
            </a:endParaRPr>
          </a:p>
        </p:txBody>
      </p:sp>
      <p:sp>
        <p:nvSpPr>
          <p:cNvPr id="11" name="Text Box 2">
            <a:extLst>
              <a:ext uri="{FF2B5EF4-FFF2-40B4-BE49-F238E27FC236}">
                <a16:creationId xmlns:a16="http://schemas.microsoft.com/office/drawing/2014/main" id="{BF65B265-A15F-467D-80D6-86D62153B1BB}"/>
              </a:ext>
            </a:extLst>
          </p:cNvPr>
          <p:cNvSpPr txBox="1">
            <a:spLocks noChangeArrowheads="1"/>
          </p:cNvSpPr>
          <p:nvPr/>
        </p:nvSpPr>
        <p:spPr bwMode="auto">
          <a:xfrm>
            <a:off x="1082218" y="1143227"/>
            <a:ext cx="7591247" cy="3052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20000"/>
              </a:lnSpc>
              <a:spcBef>
                <a:spcPts val="600"/>
              </a:spcBef>
            </a:pPr>
            <a:r>
              <a:rPr lang="en-US" sz="2400" b="1" dirty="0">
                <a:latin typeface="Trebuchet MS" panose="020B0603020202020204" pitchFamily="34" charset="0"/>
              </a:rPr>
              <a:t>      Example : </a:t>
            </a:r>
            <a:r>
              <a:rPr lang="en-US" sz="2400" dirty="0">
                <a:latin typeface="Trebuchet MS" panose="020B0603020202020204" pitchFamily="34" charset="0"/>
              </a:rPr>
              <a:t>Given the </a:t>
            </a:r>
            <a:r>
              <a:rPr lang="en-US" sz="2400" dirty="0" err="1">
                <a:latin typeface="Trebuchet MS" panose="020B0603020202020204" pitchFamily="34" charset="0"/>
              </a:rPr>
              <a:t>Hasse</a:t>
            </a:r>
            <a:r>
              <a:rPr lang="en-US" sz="2400" dirty="0">
                <a:latin typeface="Trebuchet MS" panose="020B0603020202020204" pitchFamily="34" charset="0"/>
              </a:rPr>
              <a:t> diagram of the </a:t>
            </a:r>
            <a:r>
              <a:rPr lang="en-US" sz="2400" b="1" dirty="0">
                <a:latin typeface="Trebuchet MS" panose="020B0603020202020204" pitchFamily="34" charset="0"/>
              </a:rPr>
              <a:t>partially ordered set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R</a:t>
            </a:r>
            <a:r>
              <a:rPr lang="en-US" altLang="zh-CN" sz="2400" b="1" dirty="0">
                <a:solidFill>
                  <a:schemeClr val="tx1"/>
                </a:solidFill>
                <a:latin typeface="Trebuchet MS" panose="020B0603020202020204" pitchFamily="34" charset="0"/>
                <a:ea typeface="宋体" panose="02010600030101010101" pitchFamily="2" charset="-122"/>
              </a:rPr>
              <a:t>&gt; </a:t>
            </a:r>
            <a:r>
              <a:rPr lang="en-US" sz="2400" dirty="0">
                <a:latin typeface="Trebuchet MS" panose="020B0603020202020204" pitchFamily="34" charset="0"/>
              </a:rPr>
              <a:t>shown below, find the expression for the </a:t>
            </a:r>
            <a:r>
              <a:rPr lang="en-US" sz="2400" b="1" dirty="0">
                <a:latin typeface="Trebuchet MS" panose="020B0603020202020204" pitchFamily="34" charset="0"/>
              </a:rPr>
              <a:t>set </a:t>
            </a:r>
            <a:r>
              <a:rPr lang="en-US" altLang="zh-CN" sz="2400" b="1" i="1" dirty="0">
                <a:solidFill>
                  <a:schemeClr val="tx1"/>
                </a:solidFill>
                <a:latin typeface="Trebuchet MS" panose="020B0603020202020204" pitchFamily="34" charset="0"/>
                <a:ea typeface="宋体" panose="02010600030101010101" pitchFamily="2" charset="-122"/>
              </a:rPr>
              <a:t>A</a:t>
            </a:r>
            <a:r>
              <a:rPr lang="en-US" sz="2400" dirty="0">
                <a:latin typeface="Trebuchet MS" panose="020B0603020202020204" pitchFamily="34" charset="0"/>
              </a:rPr>
              <a:t> </a:t>
            </a:r>
            <a:r>
              <a:rPr lang="en-US" sz="2400" b="1" dirty="0">
                <a:latin typeface="Trebuchet MS" panose="020B0603020202020204" pitchFamily="34" charset="0"/>
              </a:rPr>
              <a:t>and the relation </a:t>
            </a:r>
            <a:r>
              <a:rPr lang="en-US" altLang="zh-CN" sz="2400" b="1" i="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a:t>
            </a:r>
          </a:p>
          <a:p>
            <a:pPr marL="342900" indent="-342900">
              <a:lnSpc>
                <a:spcPct val="120000"/>
              </a:lnSpc>
              <a:spcBef>
                <a:spcPts val="600"/>
              </a:spcBef>
              <a:buClr>
                <a:srgbClr val="0B5BFF"/>
              </a:buClr>
              <a:buSzPct val="80000"/>
              <a:buFont typeface="Wingdings" panose="05000000000000000000" pitchFamily="2" charset="2"/>
              <a:buChar char="n"/>
            </a:pPr>
            <a:r>
              <a:rPr lang="en-US" altLang="zh-CN" sz="2400" b="1" dirty="0">
                <a:latin typeface="Trebuchet MS" panose="020B0603020202020204" pitchFamily="34" charset="0"/>
              </a:rPr>
              <a:t>Solution</a:t>
            </a:r>
            <a:r>
              <a:rPr 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①Identify the Elements in </a:t>
            </a:r>
            <a:r>
              <a:rPr lang="en-US" altLang="zh-CN" sz="2400" b="1" i="1" dirty="0">
                <a:latin typeface="Trebuchet MS" panose="020B0603020202020204" pitchFamily="34" charset="0"/>
              </a:rPr>
              <a:t>A</a:t>
            </a:r>
            <a:r>
              <a:rPr lang="en-US" altLang="zh-CN" sz="2400" dirty="0">
                <a:latin typeface="Trebuchet MS" panose="020B0603020202020204" pitchFamily="34" charset="0"/>
              </a:rPr>
              <a:t>;②Extract the Covering Relations;③Complete transitive and reflexive relations.</a:t>
            </a:r>
            <a:endParaRPr lang="en-US" sz="2400" dirty="0">
              <a:latin typeface="Trebuchet MS" panose="020B0603020202020204" pitchFamily="34" charset="0"/>
            </a:endParaRPr>
          </a:p>
          <a:p>
            <a:pPr>
              <a:lnSpc>
                <a:spcPct val="120000"/>
              </a:lnSpc>
              <a:spcBef>
                <a:spcPts val="600"/>
              </a:spcBef>
            </a:pPr>
            <a:endParaRPr lang="en-US" altLang="zh-CN" sz="2400" b="1" dirty="0">
              <a:solidFill>
                <a:schemeClr val="tx1"/>
              </a:solidFill>
              <a:latin typeface="Trebuchet MS" panose="020B0603020202020204" pitchFamily="34" charset="0"/>
              <a:ea typeface="宋体" panose="02010600030101010101" pitchFamily="2" charset="-122"/>
            </a:endParaRPr>
          </a:p>
        </p:txBody>
      </p:sp>
      <p:sp>
        <p:nvSpPr>
          <p:cNvPr id="12" name="Rectangle 5">
            <a:extLst>
              <a:ext uri="{FF2B5EF4-FFF2-40B4-BE49-F238E27FC236}">
                <a16:creationId xmlns:a16="http://schemas.microsoft.com/office/drawing/2014/main" id="{C5E692C5-AB6E-4182-B5A0-6A518599D828}"/>
              </a:ext>
            </a:extLst>
          </p:cNvPr>
          <p:cNvSpPr>
            <a:spLocks noChangeArrowheads="1"/>
          </p:cNvSpPr>
          <p:nvPr/>
        </p:nvSpPr>
        <p:spPr bwMode="auto">
          <a:xfrm>
            <a:off x="1238549" y="4240439"/>
            <a:ext cx="9113766" cy="10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p>
            <a:pPr>
              <a:lnSpc>
                <a:spcPct val="130000"/>
              </a:lnSpc>
            </a:pP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c</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d</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e</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f</a:t>
            </a:r>
            <a:r>
              <a:rPr lang="en-US" altLang="zh-CN" sz="2400" b="1" dirty="0">
                <a:solidFill>
                  <a:schemeClr val="tx1"/>
                </a:solidFill>
                <a:latin typeface="Trebuchet MS" panose="020B0603020202020204" pitchFamily="34" charset="0"/>
              </a:rPr>
              <a:t>} </a:t>
            </a:r>
            <a:br>
              <a:rPr lang="en-US" altLang="zh-CN" sz="2400" b="1" dirty="0">
                <a:solidFill>
                  <a:schemeClr val="tx1"/>
                </a:solidFill>
                <a:latin typeface="Trebuchet MS" panose="020B0603020202020204" pitchFamily="34" charset="0"/>
              </a:rPr>
            </a:br>
            <a:r>
              <a:rPr lang="en-US" altLang="zh-CN" sz="2400" b="1" i="1" dirty="0">
                <a:solidFill>
                  <a:schemeClr val="tx1"/>
                </a:solidFill>
                <a:latin typeface="Trebuchet MS" panose="020B0603020202020204" pitchFamily="34" charset="0"/>
              </a:rPr>
              <a:t>R</a:t>
            </a:r>
            <a:r>
              <a:rPr lang="en-US" altLang="zh-CN" sz="2400" b="1" dirty="0">
                <a:solidFill>
                  <a:schemeClr val="tx1"/>
                </a:solidFill>
                <a:latin typeface="Trebuchet MS" panose="020B0603020202020204" pitchFamily="34" charset="0"/>
              </a:rPr>
              <a:t>={&lt;</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d</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e</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f</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c</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d</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c</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e</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c</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f</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d</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f</a:t>
            </a:r>
            <a:r>
              <a:rPr lang="en-US" altLang="zh-CN" sz="2400" b="1" dirty="0">
                <a:solidFill>
                  <a:schemeClr val="tx1"/>
                </a:solidFill>
                <a:latin typeface="Trebuchet MS" panose="020B0603020202020204" pitchFamily="34" charset="0"/>
              </a:rPr>
              <a:t>&gt;,&lt;</a:t>
            </a:r>
            <a:r>
              <a:rPr lang="en-US" altLang="zh-CN" sz="2400" b="1" i="1" dirty="0" err="1">
                <a:solidFill>
                  <a:schemeClr val="tx1"/>
                </a:solidFill>
                <a:latin typeface="Trebuchet MS" panose="020B0603020202020204" pitchFamily="34" charset="0"/>
              </a:rPr>
              <a:t>e</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f</a:t>
            </a:r>
            <a:r>
              <a:rPr lang="en-US" altLang="zh-CN" sz="2400" b="1" dirty="0">
                <a:solidFill>
                  <a:schemeClr val="tx1"/>
                </a:solidFill>
                <a:latin typeface="Trebuchet MS" panose="020B0603020202020204" pitchFamily="34" charset="0"/>
              </a:rPr>
              <a:t>&gt;}∪</a:t>
            </a:r>
            <a:r>
              <a:rPr lang="en-US" altLang="zh-CN" sz="2400" b="1" i="1" dirty="0">
                <a:solidFill>
                  <a:schemeClr val="tx1"/>
                </a:solidFill>
                <a:latin typeface="Trebuchet MS" panose="020B0603020202020204" pitchFamily="34" charset="0"/>
              </a:rPr>
              <a:t>I</a:t>
            </a:r>
            <a:r>
              <a:rPr lang="en-US" altLang="zh-CN" sz="2400" b="1" i="1" baseline="-25000" dirty="0">
                <a:solidFill>
                  <a:schemeClr val="tx1"/>
                </a:solidFill>
                <a:latin typeface="Trebuchet MS" panose="020B0603020202020204" pitchFamily="34" charset="0"/>
              </a:rPr>
              <a:t>A</a:t>
            </a:r>
            <a:r>
              <a:rPr lang="en-US" altLang="zh-CN" sz="2400" dirty="0">
                <a:latin typeface="Trebuchet MS" panose="020B0603020202020204" pitchFamily="34" charset="0"/>
              </a:rPr>
              <a:t> </a:t>
            </a:r>
            <a:endParaRPr lang="en-US" altLang="zh-CN" sz="2400" b="1" dirty="0">
              <a:solidFill>
                <a:schemeClr val="tx1"/>
              </a:solidFill>
              <a:latin typeface="Trebuchet MS" panose="020B0603020202020204" pitchFamily="34" charset="0"/>
            </a:endParaRPr>
          </a:p>
        </p:txBody>
      </p:sp>
      <p:pic>
        <p:nvPicPr>
          <p:cNvPr id="14" name="Picture 6" descr="7-8">
            <a:extLst>
              <a:ext uri="{FF2B5EF4-FFF2-40B4-BE49-F238E27FC236}">
                <a16:creationId xmlns:a16="http://schemas.microsoft.com/office/drawing/2014/main" id="{D47A0205-198F-41B3-BBD3-52B0D67066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9290" r="46552" b="16397"/>
          <a:stretch>
            <a:fillRect/>
          </a:stretch>
        </p:blipFill>
        <p:spPr bwMode="auto">
          <a:xfrm>
            <a:off x="8673465" y="1527381"/>
            <a:ext cx="2305050" cy="298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a:extLst>
              <a:ext uri="{FF2B5EF4-FFF2-40B4-BE49-F238E27FC236}">
                <a16:creationId xmlns:a16="http://schemas.microsoft.com/office/drawing/2014/main" id="{EF799BEB-FA2E-4268-88C4-B67F9AD228B1}"/>
              </a:ext>
            </a:extLst>
          </p:cNvPr>
          <p:cNvPicPr/>
          <p:nvPr/>
        </p:nvPicPr>
        <p:blipFill>
          <a:blip r:embed="rId6"/>
          <a:stretch>
            <a:fillRect/>
          </a:stretch>
        </p:blipFill>
        <p:spPr>
          <a:xfrm>
            <a:off x="1166497" y="1275729"/>
            <a:ext cx="577850" cy="241300"/>
          </a:xfrm>
          <a:prstGeom prst="rect">
            <a:avLst/>
          </a:prstGeom>
        </p:spPr>
      </p:pic>
    </p:spTree>
    <p:extLst>
      <p:ext uri="{BB962C8B-B14F-4D97-AF65-F5344CB8AC3E}">
        <p14:creationId xmlns:p14="http://schemas.microsoft.com/office/powerpoint/2010/main" val="1775772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Key elements of a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and their properties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34058" y="758215"/>
            <a:ext cx="10787382" cy="57181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4.27:   </a:t>
            </a:r>
            <a:r>
              <a:rPr lang="en-US" sz="2400" dirty="0">
                <a:latin typeface="Trebuchet MS" panose="020B0603020202020204" pitchFamily="34" charset="0"/>
              </a:rPr>
              <a:t>Let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,≼&gt; </a:t>
            </a:r>
            <a:r>
              <a:rPr lang="en-US" sz="2400" dirty="0">
                <a:latin typeface="Trebuchet MS" panose="020B0603020202020204" pitchFamily="34" charset="0"/>
              </a:rPr>
              <a:t>be a </a:t>
            </a:r>
            <a:r>
              <a:rPr lang="en-US" sz="2400" b="1" dirty="0">
                <a:latin typeface="Trebuchet MS" panose="020B0603020202020204" pitchFamily="34" charset="0"/>
              </a:rPr>
              <a:t>partially ordered set (</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endParaRPr lang="en-US" altLang="zh-CN" sz="2400" b="1" dirty="0">
              <a:latin typeface="Trebuchet MS" panose="020B0603020202020204" pitchFamily="34" charset="0"/>
              <a:ea typeface="宋体" panose="02010600030101010101" pitchFamily="2" charset="-122"/>
            </a:endParaRPr>
          </a:p>
          <a:p>
            <a:pPr marL="0" indent="0">
              <a:lnSpc>
                <a:spcPct val="110000"/>
              </a:lnSpc>
              <a:spcBef>
                <a:spcPts val="300"/>
              </a:spcBef>
              <a:buClr>
                <a:srgbClr val="0B5BFF"/>
              </a:buClr>
              <a:buSzPct val="80000"/>
              <a:buNone/>
            </a:pPr>
            <a:r>
              <a:rPr lang="en-US" altLang="zh-CN" sz="2400" b="1" dirty="0">
                <a:solidFill>
                  <a:srgbClr val="0B5BFF"/>
                </a:solidFill>
                <a:latin typeface="Trebuchet MS" panose="020B0603020202020204" pitchFamily="34" charset="0"/>
                <a:ea typeface="宋体" panose="02010600030101010101" pitchFamily="2" charset="-122"/>
              </a:rPr>
              <a:t> (1) </a:t>
            </a:r>
            <a:r>
              <a:rPr lang="en-US" altLang="zh-CN" sz="2400" b="1" dirty="0">
                <a:latin typeface="Trebuchet MS" panose="020B0603020202020204" pitchFamily="34" charset="0"/>
                <a:ea typeface="宋体" panose="02010600030101010101" pitchFamily="2" charset="-122"/>
              </a:rPr>
              <a:t>if</a:t>
            </a:r>
            <a:r>
              <a:rPr lang="zh-CN" altLang="en-US" sz="2400" b="1" dirty="0">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then y is called the </a:t>
            </a:r>
            <a:r>
              <a:rPr lang="en-US" sz="2400" b="1" i="1" dirty="0">
                <a:latin typeface="Trebuchet MS" panose="020B0603020202020204" pitchFamily="34" charset="0"/>
              </a:rPr>
              <a:t>least element </a:t>
            </a:r>
            <a:r>
              <a:rPr lang="en-US" sz="2400" dirty="0">
                <a:latin typeface="Trebuchet MS" panose="020B0603020202020204" pitchFamily="34" charset="0"/>
              </a:rPr>
              <a:t>of </a:t>
            </a:r>
            <a:r>
              <a:rPr lang="en-US" sz="2400" b="1" i="1" dirty="0">
                <a:latin typeface="Trebuchet MS" panose="020B0603020202020204" pitchFamily="34" charset="0"/>
              </a:rPr>
              <a:t>B</a:t>
            </a:r>
            <a:r>
              <a:rPr lang="en-US" sz="2400" dirty="0">
                <a:latin typeface="Trebuchet MS" panose="020B0603020202020204" pitchFamily="34" charset="0"/>
              </a:rPr>
              <a:t>.</a:t>
            </a:r>
          </a:p>
          <a:p>
            <a:pPr marL="0" indent="0">
              <a:lnSpc>
                <a:spcPct val="110000"/>
              </a:lnSpc>
              <a:spcBef>
                <a:spcPts val="300"/>
              </a:spcBef>
              <a:buClr>
                <a:srgbClr val="0B5BFF"/>
              </a:buClr>
              <a:buSzPct val="80000"/>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(2) </a:t>
            </a:r>
            <a:r>
              <a:rPr lang="en-US" altLang="zh-CN" sz="2400" b="1" dirty="0">
                <a:latin typeface="Trebuchet MS" panose="020B0603020202020204" pitchFamily="34" charset="0"/>
                <a:ea typeface="宋体" panose="02010600030101010101" pitchFamily="2" charset="-122"/>
              </a:rPr>
              <a:t>if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then y is called the </a:t>
            </a:r>
            <a:r>
              <a:rPr lang="en-US" sz="2400" b="1" i="1" dirty="0">
                <a:latin typeface="Trebuchet MS" panose="020B0603020202020204" pitchFamily="34" charset="0"/>
              </a:rPr>
              <a:t>greatest element </a:t>
            </a:r>
            <a:r>
              <a:rPr lang="en-US" sz="2400" dirty="0">
                <a:latin typeface="Trebuchet MS" panose="020B0603020202020204" pitchFamily="34" charset="0"/>
              </a:rPr>
              <a:t>of </a:t>
            </a:r>
            <a:r>
              <a:rPr lang="en-US" sz="2400" b="1" i="1" dirty="0">
                <a:latin typeface="Trebuchet MS" panose="020B0603020202020204" pitchFamily="34" charset="0"/>
              </a:rPr>
              <a:t>B</a:t>
            </a:r>
            <a:r>
              <a:rPr lang="en-US" sz="2400" dirty="0">
                <a:latin typeface="Trebuchet MS" panose="020B0603020202020204" pitchFamily="34" charset="0"/>
              </a:rPr>
              <a:t>.</a:t>
            </a:r>
          </a:p>
          <a:p>
            <a:pPr marL="0" indent="0">
              <a:lnSpc>
                <a:spcPct val="110000"/>
              </a:lnSpc>
              <a:spcBef>
                <a:spcPts val="300"/>
              </a:spcBef>
              <a:buClr>
                <a:srgbClr val="0B5BFF"/>
              </a:buClr>
              <a:buSzPct val="80000"/>
              <a:buNone/>
            </a:pPr>
            <a:r>
              <a:rPr lang="en-US" altLang="zh-CN" sz="2400" b="1" dirty="0">
                <a:solidFill>
                  <a:srgbClr val="0B5BFF"/>
                </a:solidFill>
                <a:latin typeface="Trebuchet MS" panose="020B0603020202020204" pitchFamily="34" charset="0"/>
                <a:ea typeface="宋体" panose="02010600030101010101" pitchFamily="2" charset="-122"/>
              </a:rPr>
              <a:t> (3) </a:t>
            </a:r>
            <a:r>
              <a:rPr lang="en-US" altLang="zh-CN" sz="2400" b="1" dirty="0">
                <a:latin typeface="Trebuchet MS" panose="020B0603020202020204" pitchFamily="34" charset="0"/>
                <a:ea typeface="宋体" panose="02010600030101010101" pitchFamily="2" charset="-122"/>
              </a:rPr>
              <a:t>If</a:t>
            </a:r>
            <a:r>
              <a:rPr lang="zh-CN" altLang="en-US" sz="2400" b="1" dirty="0">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then y is called a </a:t>
            </a:r>
            <a:r>
              <a:rPr lang="en-US" sz="2400" b="1" i="1" dirty="0">
                <a:latin typeface="Trebuchet MS" panose="020B0603020202020204" pitchFamily="34" charset="0"/>
              </a:rPr>
              <a:t>minimal element </a:t>
            </a:r>
            <a:r>
              <a:rPr lang="en-US" sz="2400" dirty="0">
                <a:latin typeface="Trebuchet MS" panose="020B0603020202020204" pitchFamily="34" charset="0"/>
              </a:rPr>
              <a:t>of </a:t>
            </a:r>
            <a:r>
              <a:rPr lang="en-US" sz="2400" b="1" i="1" dirty="0">
                <a:latin typeface="Trebuchet MS" panose="020B0603020202020204" pitchFamily="34" charset="0"/>
              </a:rPr>
              <a:t>B</a:t>
            </a:r>
            <a:r>
              <a:rPr lang="en-US" altLang="zh-CN" sz="2400" b="1" dirty="0">
                <a:solidFill>
                  <a:schemeClr val="tx1"/>
                </a:solidFill>
                <a:latin typeface="Trebuchet MS" panose="020B0603020202020204" pitchFamily="34" charset="0"/>
                <a:ea typeface="宋体" panose="02010600030101010101" pitchFamily="2" charset="-122"/>
              </a:rPr>
              <a:t>. </a:t>
            </a:r>
          </a:p>
          <a:p>
            <a:pPr marL="0" indent="0">
              <a:lnSpc>
                <a:spcPct val="110000"/>
              </a:lnSpc>
              <a:spcBef>
                <a:spcPts val="300"/>
              </a:spcBef>
              <a:buClr>
                <a:srgbClr val="0B5BFF"/>
              </a:buClr>
              <a:buSzPct val="80000"/>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(4) </a:t>
            </a:r>
            <a:r>
              <a:rPr lang="en-US" altLang="zh-CN" sz="2400" b="1" dirty="0">
                <a:latin typeface="Trebuchet MS" panose="020B0603020202020204" pitchFamily="34" charset="0"/>
                <a:ea typeface="宋体" panose="02010600030101010101" pitchFamily="2" charset="-122"/>
              </a:rPr>
              <a:t>If</a:t>
            </a:r>
            <a:r>
              <a:rPr lang="zh-CN" altLang="en-US" sz="2400" b="1" dirty="0">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then y is called a </a:t>
            </a:r>
            <a:r>
              <a:rPr lang="en-US" sz="2400" b="1" i="1" dirty="0">
                <a:latin typeface="Trebuchet MS" panose="020B0603020202020204" pitchFamily="34" charset="0"/>
              </a:rPr>
              <a:t>maximal element of B.</a:t>
            </a:r>
          </a:p>
          <a:p>
            <a:pPr>
              <a:lnSpc>
                <a:spcPct val="11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Properties:</a:t>
            </a:r>
          </a:p>
          <a:p>
            <a:pPr marL="536575" indent="-273050">
              <a:lnSpc>
                <a:spcPct val="11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In a </a:t>
            </a:r>
            <a:r>
              <a:rPr lang="en-US" sz="2400" b="1" dirty="0">
                <a:latin typeface="Trebuchet MS" panose="020B0603020202020204" pitchFamily="34" charset="0"/>
              </a:rPr>
              <a:t>finite set</a:t>
            </a:r>
            <a:r>
              <a:rPr lang="en-US" sz="2400" dirty="0">
                <a:latin typeface="Trebuchet MS" panose="020B0603020202020204" pitchFamily="34" charset="0"/>
              </a:rPr>
              <a:t>, minimal and maximal elements </a:t>
            </a:r>
            <a:r>
              <a:rPr lang="en-US" sz="2400" b="1" dirty="0">
                <a:latin typeface="Trebuchet MS" panose="020B0603020202020204" pitchFamily="34" charset="0"/>
              </a:rPr>
              <a:t>always exist</a:t>
            </a:r>
            <a:r>
              <a:rPr lang="en-US" sz="2400" dirty="0">
                <a:latin typeface="Trebuchet MS" panose="020B0603020202020204" pitchFamily="34" charset="0"/>
              </a:rPr>
              <a:t> and </a:t>
            </a:r>
            <a:r>
              <a:rPr lang="en-US" sz="2400" b="1" dirty="0">
                <a:latin typeface="Trebuchet MS" panose="020B0603020202020204" pitchFamily="34" charset="0"/>
              </a:rPr>
              <a:t>may not be unique</a:t>
            </a:r>
            <a:r>
              <a:rPr lang="en-US" sz="2400" dirty="0">
                <a:latin typeface="Trebuchet MS" panose="020B0603020202020204" pitchFamily="34" charset="0"/>
              </a:rPr>
              <a:t>.</a:t>
            </a:r>
          </a:p>
          <a:p>
            <a:pPr marL="536575" indent="-273050">
              <a:lnSpc>
                <a:spcPct val="110000"/>
              </a:lnSpc>
              <a:spcBef>
                <a:spcPts val="300"/>
              </a:spcBef>
              <a:buClr>
                <a:srgbClr val="0B5BFF"/>
              </a:buClr>
              <a:buSzPct val="120000"/>
            </a:pPr>
            <a:r>
              <a:rPr lang="en-US" sz="2400" b="1" dirty="0">
                <a:latin typeface="Trebuchet MS" panose="020B0603020202020204" pitchFamily="34" charset="0"/>
              </a:rPr>
              <a:t>Least and greatest elements are not guaranteed to exist</a:t>
            </a:r>
            <a:r>
              <a:rPr lang="en-US" sz="2400" dirty="0">
                <a:latin typeface="Trebuchet MS" panose="020B0603020202020204" pitchFamily="34" charset="0"/>
              </a:rPr>
              <a:t>, but if they do, they are unique.</a:t>
            </a:r>
          </a:p>
          <a:p>
            <a:pPr indent="34925">
              <a:lnSpc>
                <a:spcPct val="11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 The </a:t>
            </a:r>
            <a:r>
              <a:rPr lang="en-US" sz="2400" b="1" dirty="0">
                <a:latin typeface="Trebuchet MS" panose="020B0603020202020204" pitchFamily="34" charset="0"/>
              </a:rPr>
              <a:t>least element</a:t>
            </a:r>
            <a:r>
              <a:rPr lang="en-US" sz="2400" dirty="0">
                <a:latin typeface="Trebuchet MS" panose="020B0603020202020204" pitchFamily="34" charset="0"/>
              </a:rPr>
              <a:t> is always a </a:t>
            </a:r>
            <a:r>
              <a:rPr lang="en-US" sz="2400" b="1" dirty="0">
                <a:latin typeface="Trebuchet MS" panose="020B0603020202020204" pitchFamily="34" charset="0"/>
              </a:rPr>
              <a:t>minimal element</a:t>
            </a:r>
            <a:r>
              <a:rPr lang="en-US" sz="2400" dirty="0">
                <a:latin typeface="Trebuchet MS" panose="020B0603020202020204" pitchFamily="34" charset="0"/>
              </a:rPr>
              <a:t>.</a:t>
            </a:r>
          </a:p>
          <a:p>
            <a:pPr indent="34925">
              <a:lnSpc>
                <a:spcPct val="110000"/>
              </a:lnSpc>
              <a:spcBef>
                <a:spcPts val="300"/>
              </a:spcBef>
              <a:buClr>
                <a:srgbClr val="0B5BFF"/>
              </a:buClr>
              <a:buSzPct val="120000"/>
              <a:buFont typeface="Arial" panose="020B0604020202020204" pitchFamily="34" charset="0"/>
              <a:buChar char="•"/>
            </a:pPr>
            <a:r>
              <a:rPr lang="en-US" sz="2400" dirty="0">
                <a:latin typeface="Trebuchet MS" panose="020B0603020202020204" pitchFamily="34" charset="0"/>
              </a:rPr>
              <a:t> The </a:t>
            </a:r>
            <a:r>
              <a:rPr lang="en-US" sz="2400" b="1" dirty="0">
                <a:latin typeface="Trebuchet MS" panose="020B0603020202020204" pitchFamily="34" charset="0"/>
              </a:rPr>
              <a:t>greatest element</a:t>
            </a:r>
            <a:r>
              <a:rPr lang="en-US" sz="2400" dirty="0">
                <a:latin typeface="Trebuchet MS" panose="020B0603020202020204" pitchFamily="34" charset="0"/>
              </a:rPr>
              <a:t> is always a </a:t>
            </a:r>
            <a:r>
              <a:rPr lang="en-US" sz="2400" b="1" dirty="0">
                <a:latin typeface="Trebuchet MS" panose="020B0603020202020204" pitchFamily="34" charset="0"/>
              </a:rPr>
              <a:t>maximal element</a:t>
            </a:r>
            <a:r>
              <a:rPr lang="en-US" sz="2400" dirty="0">
                <a:latin typeface="Trebuchet MS" panose="020B0603020202020204" pitchFamily="34" charset="0"/>
              </a:rPr>
              <a:t>.</a:t>
            </a:r>
          </a:p>
          <a:p>
            <a:pPr indent="34925">
              <a:lnSpc>
                <a:spcPct val="110000"/>
              </a:lnSpc>
              <a:spcBef>
                <a:spcPts val="300"/>
              </a:spcBef>
              <a:buClr>
                <a:srgbClr val="0B5BFF"/>
              </a:buClr>
              <a:buSzPct val="120000"/>
              <a:buFont typeface="Arial" panose="020B0604020202020204" pitchFamily="34" charset="0"/>
              <a:buChar char="•"/>
            </a:pPr>
            <a:r>
              <a:rPr lang="en-US" sz="2400" b="1" dirty="0">
                <a:latin typeface="Trebuchet MS" panose="020B0603020202020204" pitchFamily="34" charset="0"/>
              </a:rPr>
              <a:t> Isolated nodes</a:t>
            </a:r>
            <a:r>
              <a:rPr lang="en-US" sz="2400" dirty="0">
                <a:latin typeface="Trebuchet MS" panose="020B0603020202020204" pitchFamily="34" charset="0"/>
              </a:rPr>
              <a:t> are </a:t>
            </a:r>
            <a:r>
              <a:rPr lang="en-US" sz="2400" b="1" dirty="0">
                <a:latin typeface="Trebuchet MS" panose="020B0603020202020204" pitchFamily="34" charset="0"/>
              </a:rPr>
              <a:t>both minimal and maximal elements.</a:t>
            </a:r>
            <a:endParaRPr lang="en-US" sz="2400" dirty="0">
              <a:latin typeface="Trebuchet MS" panose="020B0603020202020204" pitchFamily="34" charset="0"/>
            </a:endParaRPr>
          </a:p>
        </p:txBody>
      </p:sp>
    </p:spTree>
    <p:extLst>
      <p:ext uri="{BB962C8B-B14F-4D97-AF65-F5344CB8AC3E}">
        <p14:creationId xmlns:p14="http://schemas.microsoft.com/office/powerpoint/2010/main" val="404335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fade">
                                      <p:cBhvr>
                                        <p:cTn id="47" dur="1000"/>
                                        <p:tgtEl>
                                          <p:spTgt spid="8">
                                            <p:txEl>
                                              <p:pRg st="7" end="7"/>
                                            </p:txEl>
                                          </p:spTgt>
                                        </p:tgtEl>
                                      </p:cBhvr>
                                    </p:animEffect>
                                    <p:anim calcmode="lin" valueType="num">
                                      <p:cBhvr>
                                        <p:cTn id="4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8">
                                            <p:txEl>
                                              <p:pRg st="8" end="8"/>
                                            </p:txEl>
                                          </p:spTgt>
                                        </p:tgtEl>
                                        <p:attrNameLst>
                                          <p:attrName>style.visibility</p:attrName>
                                        </p:attrNameLst>
                                      </p:cBhvr>
                                      <p:to>
                                        <p:strVal val="visible"/>
                                      </p:to>
                                    </p:set>
                                    <p:animEffect transition="in" filter="fade">
                                      <p:cBhvr>
                                        <p:cTn id="54" dur="1000"/>
                                        <p:tgtEl>
                                          <p:spTgt spid="8">
                                            <p:txEl>
                                              <p:pRg st="8" end="8"/>
                                            </p:txEl>
                                          </p:spTgt>
                                        </p:tgtEl>
                                      </p:cBhvr>
                                    </p:animEffect>
                                    <p:anim calcmode="lin" valueType="num">
                                      <p:cBhvr>
                                        <p:cTn id="55"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8">
                                            <p:txEl>
                                              <p:pRg st="9" end="9"/>
                                            </p:txEl>
                                          </p:spTgt>
                                        </p:tgtEl>
                                        <p:attrNameLst>
                                          <p:attrName>style.visibility</p:attrName>
                                        </p:attrNameLst>
                                      </p:cBhvr>
                                      <p:to>
                                        <p:strVal val="visible"/>
                                      </p:to>
                                    </p:set>
                                    <p:animEffect transition="in" filter="fade">
                                      <p:cBhvr>
                                        <p:cTn id="59" dur="1000"/>
                                        <p:tgtEl>
                                          <p:spTgt spid="8">
                                            <p:txEl>
                                              <p:pRg st="9" end="9"/>
                                            </p:txEl>
                                          </p:spTgt>
                                        </p:tgtEl>
                                      </p:cBhvr>
                                    </p:animEffect>
                                    <p:anim calcmode="lin" valueType="num">
                                      <p:cBhvr>
                                        <p:cTn id="60"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8">
                                            <p:txEl>
                                              <p:pRg st="10" end="10"/>
                                            </p:txEl>
                                          </p:spTgt>
                                        </p:tgtEl>
                                        <p:attrNameLst>
                                          <p:attrName>style.visibility</p:attrName>
                                        </p:attrNameLst>
                                      </p:cBhvr>
                                      <p:to>
                                        <p:strVal val="visible"/>
                                      </p:to>
                                    </p:set>
                                    <p:animEffect transition="in" filter="fade">
                                      <p:cBhvr>
                                        <p:cTn id="66" dur="1000"/>
                                        <p:tgtEl>
                                          <p:spTgt spid="8">
                                            <p:txEl>
                                              <p:pRg st="10" end="10"/>
                                            </p:txEl>
                                          </p:spTgt>
                                        </p:tgtEl>
                                      </p:cBhvr>
                                    </p:animEffect>
                                    <p:anim calcmode="lin" valueType="num">
                                      <p:cBhvr>
                                        <p:cTn id="67"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Upper/lower bounds, supremum, infimum of a </a:t>
            </a:r>
            <a:r>
              <a:rPr lang="en-US" altLang="zh-CN" sz="2400" b="1" dirty="0" err="1">
                <a:latin typeface="Trebuchet MS" panose="020B0603020202020204" pitchFamily="34" charset="0"/>
              </a:rPr>
              <a:t>poset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rgbClr val="0B5B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4.28:   Let</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≼&gt; </a:t>
            </a:r>
            <a:r>
              <a:rPr lang="en-US" sz="2400" dirty="0">
                <a:latin typeface="Trebuchet MS" panose="020B0603020202020204" pitchFamily="34" charset="0"/>
              </a:rPr>
              <a:t>be a </a:t>
            </a:r>
            <a:r>
              <a:rPr lang="en-US" sz="2400" b="1" dirty="0">
                <a:latin typeface="Trebuchet MS" panose="020B0603020202020204" pitchFamily="34" charset="0"/>
              </a:rPr>
              <a:t>partially ordered set (</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sz="2400" dirty="0">
                <a:latin typeface="Trebuchet MS" panose="020B0603020202020204" pitchFamily="34" charset="0"/>
              </a:rPr>
              <a:t>, and let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a:t>
            </a:r>
          </a:p>
          <a:p>
            <a:pPr marL="0" indent="0">
              <a:lnSpc>
                <a:spcPct val="120000"/>
              </a:lnSpc>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(1)</a:t>
            </a:r>
            <a:r>
              <a:rPr lang="zh-CN" altLang="en-US" sz="2400" b="1" dirty="0">
                <a:solidFill>
                  <a:srgbClr val="0B5BFF"/>
                </a:solidFill>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If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 </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 </a:t>
            </a:r>
            <a:r>
              <a:rPr lang="en-US" sz="2400" dirty="0">
                <a:latin typeface="Trebuchet MS" panose="020B0603020202020204" pitchFamily="34" charset="0"/>
              </a:rPr>
              <a:t>then </a:t>
            </a:r>
            <a:r>
              <a:rPr lang="en-US" sz="2400" b="1" i="1" dirty="0">
                <a:latin typeface="Trebuchet MS" panose="020B0603020202020204" pitchFamily="34" charset="0"/>
              </a:rPr>
              <a:t>y</a:t>
            </a:r>
            <a:r>
              <a:rPr lang="en-US" sz="2400" dirty="0">
                <a:latin typeface="Trebuchet MS" panose="020B0603020202020204" pitchFamily="34" charset="0"/>
              </a:rPr>
              <a:t> is called an </a:t>
            </a:r>
            <a:r>
              <a:rPr lang="en-US" sz="2400" b="1" dirty="0">
                <a:latin typeface="Trebuchet MS" panose="020B0603020202020204" pitchFamily="34" charset="0"/>
              </a:rPr>
              <a:t>upper bound</a:t>
            </a:r>
            <a:r>
              <a:rPr lang="en-US" sz="2400" dirty="0">
                <a:latin typeface="Trebuchet MS" panose="020B0603020202020204" pitchFamily="34" charset="0"/>
              </a:rPr>
              <a:t> of </a:t>
            </a:r>
            <a:r>
              <a:rPr lang="en-US" sz="2400" b="1" i="1" dirty="0">
                <a:latin typeface="Trebuchet MS" panose="020B0603020202020204" pitchFamily="34" charset="0"/>
              </a:rPr>
              <a:t>B</a:t>
            </a:r>
            <a:r>
              <a:rPr lang="en-US" sz="2400" dirty="0">
                <a:latin typeface="Trebuchet MS" panose="020B0603020202020204" pitchFamily="34" charset="0"/>
              </a:rPr>
              <a:t>.</a:t>
            </a:r>
          </a:p>
          <a:p>
            <a:pPr marL="0" indent="0">
              <a:lnSpc>
                <a:spcPct val="120000"/>
              </a:lnSpc>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(2) </a:t>
            </a:r>
            <a:r>
              <a:rPr lang="en-US" altLang="zh-CN" sz="2400" b="1" dirty="0">
                <a:solidFill>
                  <a:schemeClr val="tx1"/>
                </a:solidFill>
                <a:latin typeface="Trebuchet MS" panose="020B0603020202020204" pitchFamily="34" charset="0"/>
                <a:ea typeface="宋体" panose="02010600030101010101" pitchFamily="2" charset="-122"/>
              </a:rPr>
              <a:t>If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 </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y</a:t>
            </a:r>
            <a:r>
              <a:rPr lang="en-US" altLang="zh-CN" sz="2400" b="1" dirty="0" err="1">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 </a:t>
            </a:r>
            <a:r>
              <a:rPr lang="en-US" sz="2400" dirty="0">
                <a:latin typeface="Trebuchet MS" panose="020B0603020202020204" pitchFamily="34" charset="0"/>
              </a:rPr>
              <a:t>then </a:t>
            </a:r>
            <a:r>
              <a:rPr lang="en-US" sz="2400" b="1" i="1" dirty="0">
                <a:latin typeface="Trebuchet MS" panose="020B0603020202020204" pitchFamily="34" charset="0"/>
              </a:rPr>
              <a:t>y</a:t>
            </a:r>
            <a:r>
              <a:rPr lang="en-US" sz="2400" dirty="0">
                <a:latin typeface="Trebuchet MS" panose="020B0603020202020204" pitchFamily="34" charset="0"/>
              </a:rPr>
              <a:t> is called a </a:t>
            </a:r>
            <a:r>
              <a:rPr lang="en-US" sz="2400" b="1" dirty="0">
                <a:latin typeface="Trebuchet MS" panose="020B0603020202020204" pitchFamily="34" charset="0"/>
              </a:rPr>
              <a:t>lower bound</a:t>
            </a:r>
            <a:r>
              <a:rPr lang="en-US" sz="2400" dirty="0">
                <a:latin typeface="Trebuchet MS" panose="020B0603020202020204" pitchFamily="34" charset="0"/>
              </a:rPr>
              <a:t> of </a:t>
            </a:r>
            <a:r>
              <a:rPr lang="en-US" altLang="zh-CN" sz="2400" b="1" i="1" dirty="0">
                <a:latin typeface="Trebuchet MS" panose="020B0603020202020204" pitchFamily="34" charset="0"/>
              </a:rPr>
              <a:t>B</a:t>
            </a:r>
            <a:r>
              <a:rPr lang="en-US" sz="2400" dirty="0">
                <a:latin typeface="Trebuchet MS" panose="020B0603020202020204" pitchFamily="34" charset="0"/>
              </a:rPr>
              <a:t>.</a:t>
            </a:r>
          </a:p>
          <a:p>
            <a:pPr marL="628650" indent="-536575">
              <a:lnSpc>
                <a:spcPct val="120000"/>
              </a:lnSpc>
              <a:buNone/>
              <a:tabLst>
                <a:tab pos="628650" algn="l"/>
              </a:tabLst>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(3) </a:t>
            </a:r>
            <a:r>
              <a:rPr lang="en-US" altLang="zh-CN" sz="2400" b="1" dirty="0">
                <a:latin typeface="Trebuchet MS" panose="020B0603020202020204" pitchFamily="34" charset="0"/>
                <a:ea typeface="宋体" panose="02010600030101010101" pitchFamily="2" charset="-122"/>
              </a:rPr>
              <a:t>Let </a:t>
            </a:r>
            <a:r>
              <a:rPr lang="en-US" altLang="zh-CN" sz="2400" b="1" i="1" dirty="0">
                <a:solidFill>
                  <a:schemeClr val="tx1"/>
                </a:solidFill>
                <a:latin typeface="Trebuchet MS" panose="020B0603020202020204" pitchFamily="34" charset="0"/>
                <a:ea typeface="宋体" panose="02010600030101010101" pitchFamily="2" charset="-122"/>
              </a:rPr>
              <a:t>C</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y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 </a:t>
            </a:r>
            <a:r>
              <a:rPr lang="en-US" sz="2400" dirty="0">
                <a:latin typeface="Trebuchet MS" panose="020B0603020202020204" pitchFamily="34" charset="0"/>
              </a:rPr>
              <a:t>is an upper bound of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t</a:t>
            </a:r>
            <a:r>
              <a:rPr lang="en-US" sz="2400" dirty="0">
                <a:latin typeface="Trebuchet MS" panose="020B0603020202020204" pitchFamily="34" charset="0"/>
              </a:rPr>
              <a:t>he </a:t>
            </a:r>
            <a:r>
              <a:rPr lang="en-US" sz="2400" b="1" dirty="0">
                <a:latin typeface="Trebuchet MS" panose="020B0603020202020204" pitchFamily="34" charset="0"/>
              </a:rPr>
              <a:t>least element</a:t>
            </a:r>
            <a:r>
              <a:rPr lang="en-US" sz="2400" dirty="0">
                <a:latin typeface="Trebuchet MS" panose="020B0603020202020204" pitchFamily="34" charset="0"/>
              </a:rPr>
              <a:t> of </a:t>
            </a:r>
            <a:r>
              <a:rPr lang="en-US" sz="2400" b="1" i="1" dirty="0">
                <a:latin typeface="Trebuchet MS" panose="020B0603020202020204" pitchFamily="34" charset="0"/>
              </a:rPr>
              <a:t>C</a:t>
            </a:r>
            <a:r>
              <a:rPr lang="en-US" sz="2400" dirty="0">
                <a:latin typeface="Trebuchet MS" panose="020B0603020202020204" pitchFamily="34" charset="0"/>
              </a:rPr>
              <a:t>, if it exists, is called the </a:t>
            </a:r>
            <a:r>
              <a:rPr lang="en-US" sz="2400" b="1" dirty="0">
                <a:latin typeface="Trebuchet MS" panose="020B0603020202020204" pitchFamily="34" charset="0"/>
              </a:rPr>
              <a:t>least upper bound (supremum) of </a:t>
            </a:r>
            <a:r>
              <a:rPr lang="en-US" altLang="zh-CN" sz="2400" b="1" i="1" dirty="0">
                <a:latin typeface="Trebuchet MS" panose="020B0603020202020204" pitchFamily="34" charset="0"/>
              </a:rPr>
              <a:t>B</a:t>
            </a:r>
            <a:r>
              <a:rPr lang="en-US" sz="2400" dirty="0">
                <a:latin typeface="Trebuchet MS" panose="020B0603020202020204" pitchFamily="34" charset="0"/>
              </a:rPr>
              <a:t> or the </a:t>
            </a:r>
            <a:r>
              <a:rPr lang="en-US" sz="2400" b="1" dirty="0">
                <a:latin typeface="Trebuchet MS" panose="020B0603020202020204" pitchFamily="34" charset="0"/>
              </a:rPr>
              <a:t>supremum</a:t>
            </a:r>
            <a:r>
              <a:rPr lang="en-US" sz="2400" dirty="0">
                <a:latin typeface="Trebuchet MS" panose="020B0603020202020204" pitchFamily="34" charset="0"/>
              </a:rPr>
              <a:t>.</a:t>
            </a:r>
            <a:r>
              <a:rPr lang="en-US" altLang="zh-CN" sz="2400" b="1" dirty="0">
                <a:solidFill>
                  <a:schemeClr val="tx1"/>
                </a:solidFill>
                <a:latin typeface="Trebuchet MS" panose="020B0603020202020204" pitchFamily="34" charset="0"/>
                <a:ea typeface="宋体" panose="02010600030101010101" pitchFamily="2" charset="-122"/>
              </a:rPr>
              <a:t>  </a:t>
            </a:r>
          </a:p>
          <a:p>
            <a:pPr marL="628650" indent="-628650">
              <a:lnSpc>
                <a:spcPct val="120000"/>
              </a:lnSpc>
              <a:buNone/>
            </a:pP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5BFF"/>
                </a:solidFill>
                <a:latin typeface="Trebuchet MS" panose="020B0603020202020204" pitchFamily="34" charset="0"/>
                <a:ea typeface="宋体" panose="02010600030101010101" pitchFamily="2" charset="-122"/>
              </a:rPr>
              <a:t>(4) </a:t>
            </a:r>
            <a:r>
              <a:rPr lang="en-US" altLang="zh-CN" sz="2400" b="1" dirty="0">
                <a:latin typeface="Trebuchet MS" panose="020B0603020202020204" pitchFamily="34" charset="0"/>
                <a:ea typeface="宋体" panose="02010600030101010101" pitchFamily="2" charset="-122"/>
              </a:rPr>
              <a:t>Let </a:t>
            </a:r>
            <a:r>
              <a:rPr lang="en-US" altLang="zh-CN" sz="2400" b="1" i="1" dirty="0">
                <a:solidFill>
                  <a:schemeClr val="tx1"/>
                </a:solidFill>
                <a:latin typeface="Trebuchet MS" panose="020B0603020202020204" pitchFamily="34" charset="0"/>
                <a:ea typeface="宋体" panose="02010600030101010101" pitchFamily="2" charset="-122"/>
              </a:rPr>
              <a:t>D</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y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 </a:t>
            </a:r>
            <a:r>
              <a:rPr lang="en-US" sz="2400" dirty="0">
                <a:latin typeface="Trebuchet MS" panose="020B0603020202020204" pitchFamily="34" charset="0"/>
              </a:rPr>
              <a:t>is a lower bound of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The </a:t>
            </a:r>
            <a:r>
              <a:rPr lang="en-US" sz="2400" b="1" dirty="0">
                <a:latin typeface="Trebuchet MS" panose="020B0603020202020204" pitchFamily="34" charset="0"/>
              </a:rPr>
              <a:t>greatest element</a:t>
            </a:r>
            <a:r>
              <a:rPr lang="en-US" sz="2400" dirty="0">
                <a:latin typeface="Trebuchet MS" panose="020B0603020202020204" pitchFamily="34" charset="0"/>
              </a:rPr>
              <a:t> of </a:t>
            </a:r>
            <a:r>
              <a:rPr lang="en-US" sz="2400" b="1" i="1" dirty="0">
                <a:latin typeface="Trebuchet MS" panose="020B0603020202020204" pitchFamily="34" charset="0"/>
              </a:rPr>
              <a:t>D</a:t>
            </a:r>
            <a:r>
              <a:rPr lang="en-US" sz="2400" dirty="0">
                <a:latin typeface="Trebuchet MS" panose="020B0603020202020204" pitchFamily="34" charset="0"/>
              </a:rPr>
              <a:t>, if it exists, is called the </a:t>
            </a:r>
            <a:r>
              <a:rPr lang="en-US" sz="2400" b="1" dirty="0">
                <a:latin typeface="Trebuchet MS" panose="020B0603020202020204" pitchFamily="34" charset="0"/>
              </a:rPr>
              <a:t>greatest lower bound (infimum) of </a:t>
            </a:r>
            <a:r>
              <a:rPr lang="en-US" sz="2400" b="1" i="1" dirty="0">
                <a:latin typeface="Trebuchet MS" panose="020B0603020202020204" pitchFamily="34" charset="0"/>
              </a:rPr>
              <a:t>B</a:t>
            </a:r>
            <a:r>
              <a:rPr lang="en-US" sz="2400" dirty="0">
                <a:latin typeface="Trebuchet MS" panose="020B0603020202020204" pitchFamily="34" charset="0"/>
              </a:rPr>
              <a:t> or the </a:t>
            </a:r>
            <a:r>
              <a:rPr lang="en-US" sz="2400" b="1" dirty="0">
                <a:latin typeface="Trebuchet MS" panose="020B0603020202020204" pitchFamily="34" charset="0"/>
              </a:rPr>
              <a:t>infimum</a:t>
            </a:r>
            <a:r>
              <a:rPr lang="en-US" sz="2400" dirty="0">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314154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Mathematical properties of </a:t>
            </a:r>
            <a:r>
              <a:rPr lang="en-US" altLang="zh-CN" sz="2400" b="1" dirty="0" err="1">
                <a:latin typeface="Trebuchet MS" panose="020B0603020202020204" pitchFamily="34" charset="0"/>
              </a:rPr>
              <a:t>bounds,supremum,and</a:t>
            </a:r>
            <a:r>
              <a:rPr lang="en-US" altLang="zh-CN" sz="2400" b="1" dirty="0">
                <a:latin typeface="Trebuchet MS" panose="020B0603020202020204" pitchFamily="34" charset="0"/>
              </a:rPr>
              <a:t> infimum in a </a:t>
            </a:r>
            <a:r>
              <a:rPr lang="en-US" altLang="zh-CN" sz="2400" b="1" dirty="0" err="1">
                <a:latin typeface="Trebuchet MS" panose="020B0603020202020204" pitchFamily="34" charset="0"/>
              </a:rPr>
              <a:t>poset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10528223"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rgbClr val="0B5BFF"/>
              </a:buClr>
              <a:buSzPct val="80000"/>
              <a:buFont typeface="Wingdings" panose="05000000000000000000" pitchFamily="2" charset="2"/>
              <a:buChar char="n"/>
            </a:pPr>
            <a:r>
              <a:rPr lang="en-US" sz="2400" b="1" dirty="0">
                <a:latin typeface="Trebuchet MS" panose="020B0603020202020204" pitchFamily="34" charset="0"/>
              </a:rPr>
              <a:t>Properties:</a:t>
            </a:r>
          </a:p>
          <a:p>
            <a:pPr marL="446088" indent="-182563">
              <a:lnSpc>
                <a:spcPct val="120000"/>
              </a:lnSpc>
              <a:buClr>
                <a:srgbClr val="0B5BFF"/>
              </a:buClr>
              <a:buSzPct val="120000"/>
              <a:buFont typeface="Arial" panose="020B0604020202020204" pitchFamily="34" charset="0"/>
              <a:buChar char="•"/>
            </a:pPr>
            <a:r>
              <a:rPr lang="en-US" sz="2400" dirty="0">
                <a:latin typeface="Trebuchet MS" panose="020B0603020202020204" pitchFamily="34" charset="0"/>
              </a:rPr>
              <a:t>Lower bounds, upper bounds, infimum, and supremum are </a:t>
            </a:r>
            <a:r>
              <a:rPr lang="en-US" sz="2400" b="1" dirty="0">
                <a:latin typeface="Trebuchet MS" panose="020B0603020202020204" pitchFamily="34" charset="0"/>
              </a:rPr>
              <a:t>not always guaranteed to exist</a:t>
            </a:r>
            <a:r>
              <a:rPr lang="en-US" sz="2400" dirty="0">
                <a:latin typeface="Trebuchet MS" panose="020B0603020202020204" pitchFamily="34" charset="0"/>
              </a:rPr>
              <a:t>.</a:t>
            </a:r>
          </a:p>
          <a:p>
            <a:pPr marL="446088" indent="-182563">
              <a:lnSpc>
                <a:spcPct val="120000"/>
              </a:lnSpc>
              <a:buClr>
                <a:srgbClr val="0B5BFF"/>
              </a:buClr>
              <a:buSzPct val="120000"/>
              <a:buFont typeface="Arial" panose="020B0604020202020204" pitchFamily="34" charset="0"/>
              <a:buChar char="•"/>
            </a:pPr>
            <a:r>
              <a:rPr lang="en-US" sz="2400" dirty="0">
                <a:latin typeface="Trebuchet MS" panose="020B0603020202020204" pitchFamily="34" charset="0"/>
              </a:rPr>
              <a:t>Lower bounds and upper bounds, if they exist</a:t>
            </a:r>
            <a:r>
              <a:rPr lang="en-US" sz="2400" b="1" dirty="0">
                <a:latin typeface="Trebuchet MS" panose="020B0603020202020204" pitchFamily="34" charset="0"/>
              </a:rPr>
              <a:t>, may not be unique</a:t>
            </a:r>
            <a:r>
              <a:rPr lang="en-US" sz="2400" dirty="0">
                <a:latin typeface="Trebuchet MS" panose="020B0603020202020204" pitchFamily="34" charset="0"/>
              </a:rPr>
              <a:t>.</a:t>
            </a:r>
          </a:p>
          <a:p>
            <a:pPr marL="446088" indent="-182563">
              <a:lnSpc>
                <a:spcPct val="120000"/>
              </a:lnSpc>
              <a:buClr>
                <a:srgbClr val="0B5BFF"/>
              </a:buClr>
              <a:buSzPct val="120000"/>
              <a:buFont typeface="Arial" panose="020B0604020202020204" pitchFamily="34" charset="0"/>
              <a:buChar char="•"/>
            </a:pPr>
            <a:r>
              <a:rPr lang="en-US" sz="2400" dirty="0">
                <a:latin typeface="Trebuchet MS" panose="020B0603020202020204" pitchFamily="34" charset="0"/>
              </a:rPr>
              <a:t>The infimum and supremum</a:t>
            </a:r>
            <a:r>
              <a:rPr lang="en-US" sz="2400" b="1" dirty="0">
                <a:latin typeface="Trebuchet MS" panose="020B0603020202020204" pitchFamily="34" charset="0"/>
              </a:rPr>
              <a:t>, </a:t>
            </a:r>
            <a:r>
              <a:rPr lang="en-US" sz="2400" dirty="0">
                <a:latin typeface="Trebuchet MS" panose="020B0603020202020204" pitchFamily="34" charset="0"/>
              </a:rPr>
              <a:t>if they exist, are unique.</a:t>
            </a:r>
          </a:p>
          <a:p>
            <a:pPr marL="446088" indent="-182563">
              <a:lnSpc>
                <a:spcPct val="120000"/>
              </a:lnSpc>
              <a:buClr>
                <a:srgbClr val="0B5BFF"/>
              </a:buClr>
              <a:buSzPct val="120000"/>
              <a:buFont typeface="Arial" panose="020B0604020202020204" pitchFamily="34" charset="0"/>
              <a:buChar char="•"/>
            </a:pPr>
            <a:r>
              <a:rPr lang="en-US" sz="2400" dirty="0">
                <a:latin typeface="Trebuchet MS" panose="020B0603020202020204" pitchFamily="34" charset="0"/>
              </a:rPr>
              <a:t>The least element of a set is its infimum, and the greatest element is its supremum, however, the </a:t>
            </a:r>
            <a:r>
              <a:rPr lang="en-US" sz="2400" b="1" dirty="0">
                <a:latin typeface="Trebuchet MS" panose="020B0603020202020204" pitchFamily="34" charset="0"/>
              </a:rPr>
              <a:t>reverse is not always true</a:t>
            </a:r>
            <a:r>
              <a:rPr lang="en-US" sz="2400" dirty="0">
                <a:latin typeface="Trebuchet MS" panose="020B0603020202020204" pitchFamily="34" charset="0"/>
              </a:rPr>
              <a:t>.</a:t>
            </a:r>
          </a:p>
        </p:txBody>
      </p:sp>
    </p:spTree>
    <p:extLst>
      <p:ext uri="{BB962C8B-B14F-4D97-AF65-F5344CB8AC3E}">
        <p14:creationId xmlns:p14="http://schemas.microsoft.com/office/powerpoint/2010/main" val="1816866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1800" b="1" dirty="0">
                <a:solidFill>
                  <a:schemeClr val="bg1"/>
                </a:solidFill>
                <a:latin typeface="Trebuchet MS" panose="020B0603020202020204" pitchFamily="34" charset="0"/>
              </a:rPr>
              <a:t>              4.4.5 </a:t>
            </a:r>
            <a:r>
              <a:rPr lang="en-US" altLang="zh-CN" sz="1800" b="1" dirty="0">
                <a:solidFill>
                  <a:srgbClr val="0B5BFF"/>
                </a:solidFill>
                <a:latin typeface="Trebuchet MS" panose="020B0603020202020204" pitchFamily="34" charset="0"/>
              </a:rPr>
              <a:t> </a:t>
            </a:r>
            <a:r>
              <a:rPr lang="en-US" altLang="zh-CN" sz="1800" b="1" dirty="0">
                <a:solidFill>
                  <a:schemeClr val="bg1"/>
                </a:solidFill>
                <a:latin typeface="Trebuchet MS" panose="020B0603020202020204" pitchFamily="34" charset="0"/>
              </a:rPr>
              <a:t>Partially Ordered Sets and </a:t>
            </a:r>
            <a:r>
              <a:rPr lang="en-US" altLang="zh-CN" sz="1800" b="1" dirty="0" err="1">
                <a:solidFill>
                  <a:schemeClr val="bg1"/>
                </a:solidFill>
                <a:latin typeface="Trebuchet MS" panose="020B0603020202020204" pitchFamily="34" charset="0"/>
              </a:rPr>
              <a:t>Hasse</a:t>
            </a:r>
            <a:r>
              <a:rPr lang="en-US" altLang="zh-CN" sz="18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Upper/lower bounds, supremum, infimum of a </a:t>
            </a:r>
            <a:r>
              <a:rPr lang="en-US" altLang="zh-CN" sz="2400" b="1" dirty="0" err="1">
                <a:latin typeface="Trebuchet MS" panose="020B0603020202020204" pitchFamily="34" charset="0"/>
              </a:rPr>
              <a:t>poset</a:t>
            </a:r>
            <a:r>
              <a:rPr lang="zh-CN" altLang="en-US" sz="2400" b="1" dirty="0">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zh-CN" altLang="en-US"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0449"/>
            <a:ext cx="9343936"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9" name="Text Box 3">
            <a:extLst>
              <a:ext uri="{FF2B5EF4-FFF2-40B4-BE49-F238E27FC236}">
                <a16:creationId xmlns:a16="http://schemas.microsoft.com/office/drawing/2014/main" id="{8DFDD15B-6126-40E6-AEE8-C10DBD474450}"/>
              </a:ext>
            </a:extLst>
          </p:cNvPr>
          <p:cNvSpPr txBox="1">
            <a:spLocks noChangeArrowheads="1"/>
          </p:cNvSpPr>
          <p:nvPr/>
        </p:nvSpPr>
        <p:spPr bwMode="auto">
          <a:xfrm>
            <a:off x="1008379" y="794337"/>
            <a:ext cx="10573846" cy="589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10000"/>
              </a:lnSpc>
            </a:pPr>
            <a:r>
              <a:rPr lang="en-US" sz="2400" b="1" dirty="0">
                <a:latin typeface="Trebuchet MS" panose="020B0603020202020204" pitchFamily="34" charset="0"/>
              </a:rPr>
              <a:t>    Example:</a:t>
            </a:r>
            <a:r>
              <a:rPr lang="en-US" altLang="zh-CN" sz="2400" b="1" dirty="0">
                <a:solidFill>
                  <a:srgbClr val="00B0F0"/>
                </a:solidFill>
                <a:latin typeface="Trebuchet MS" panose="020B0603020202020204" pitchFamily="34" charset="0"/>
                <a:ea typeface="宋体" panose="02010600030101010101" pitchFamily="2" charset="-122"/>
              </a:rPr>
              <a:t>  </a:t>
            </a:r>
          </a:p>
          <a:p>
            <a:pPr>
              <a:lnSpc>
                <a:spcPct val="110000"/>
              </a:lnSpc>
              <a:buClr>
                <a:srgbClr val="0B5BFF"/>
              </a:buClr>
              <a:buSzPct val="80000"/>
            </a:pPr>
            <a:r>
              <a:rPr lang="en-US" sz="2400" dirty="0">
                <a:solidFill>
                  <a:srgbClr val="0B5BFF"/>
                </a:solidFill>
                <a:latin typeface="Trebuchet MS" panose="020B0603020202020204" pitchFamily="34" charset="0"/>
              </a:rPr>
              <a:t>(1) </a:t>
            </a:r>
            <a:r>
              <a:rPr lang="en-US" sz="2400" dirty="0">
                <a:latin typeface="Trebuchet MS" panose="020B0603020202020204" pitchFamily="34" charset="0"/>
              </a:rPr>
              <a:t>Given the </a:t>
            </a:r>
            <a:r>
              <a:rPr lang="en-US" sz="2400" b="1" dirty="0">
                <a:latin typeface="Trebuchet MS" panose="020B0603020202020204" pitchFamily="34" charset="0"/>
              </a:rPr>
              <a:t>partially ordered set</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,≼&gt; </a:t>
            </a:r>
            <a:r>
              <a:rPr lang="en-US" altLang="zh-CN" sz="2400" dirty="0">
                <a:latin typeface="Trebuchet MS" panose="020B0603020202020204" pitchFamily="34" charset="0"/>
              </a:rPr>
              <a:t>as shown in the diagram</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find the minimal elements, least element, maximal elements, and greatest element of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p>
          <a:p>
            <a:pPr>
              <a:lnSpc>
                <a:spcPct val="110000"/>
              </a:lnSpc>
              <a:buClr>
                <a:srgbClr val="0B5BFF"/>
              </a:buClr>
              <a:buSzPct val="80000"/>
            </a:pPr>
            <a:r>
              <a:rPr lang="en-US" sz="2400" dirty="0">
                <a:solidFill>
                  <a:srgbClr val="0B5BFF"/>
                </a:solidFill>
                <a:latin typeface="Trebuchet MS" panose="020B0603020202020204" pitchFamily="34" charset="0"/>
              </a:rPr>
              <a:t>(2) </a:t>
            </a: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rPr>
              <a:t>B</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find </a:t>
            </a:r>
            <a:r>
              <a:rPr lang="en-US" sz="2400" dirty="0">
                <a:latin typeface="Trebuchet MS" panose="020B0603020202020204" pitchFamily="34" charset="0"/>
              </a:rPr>
              <a:t>the </a:t>
            </a:r>
            <a:r>
              <a:rPr lang="en-US" sz="2400" b="1" dirty="0">
                <a:latin typeface="Trebuchet MS" panose="020B0603020202020204" pitchFamily="34" charset="0"/>
              </a:rPr>
              <a:t>lower bounds</a:t>
            </a:r>
            <a:r>
              <a:rPr lang="en-US" sz="2400" dirty="0">
                <a:latin typeface="Trebuchet MS" panose="020B0603020202020204" pitchFamily="34" charset="0"/>
              </a:rPr>
              <a:t>, </a:t>
            </a:r>
            <a:r>
              <a:rPr lang="en-US" sz="2400" b="1" dirty="0">
                <a:latin typeface="Trebuchet MS" panose="020B0603020202020204" pitchFamily="34" charset="0"/>
              </a:rPr>
              <a:t>upper bounds</a:t>
            </a:r>
            <a:r>
              <a:rPr lang="en-US" sz="2400" dirty="0">
                <a:latin typeface="Trebuchet MS" panose="020B0603020202020204" pitchFamily="34" charset="0"/>
              </a:rPr>
              <a:t>, </a:t>
            </a:r>
            <a:r>
              <a:rPr lang="en-US" sz="2400" b="1" dirty="0">
                <a:latin typeface="Trebuchet MS" panose="020B0603020202020204" pitchFamily="34" charset="0"/>
              </a:rPr>
              <a:t>infimum (greatest lower bound)</a:t>
            </a:r>
            <a:r>
              <a:rPr lang="en-US" sz="2400" dirty="0">
                <a:latin typeface="Trebuchet MS" panose="020B0603020202020204" pitchFamily="34" charset="0"/>
              </a:rPr>
              <a:t>, and </a:t>
            </a:r>
            <a:r>
              <a:rPr lang="en-US" sz="2400" b="1" dirty="0">
                <a:latin typeface="Trebuchet MS" panose="020B0603020202020204" pitchFamily="34" charset="0"/>
              </a:rPr>
              <a:t>supremum (least upper bound)</a:t>
            </a:r>
            <a:r>
              <a:rPr lang="en-US" sz="2400" dirty="0">
                <a:latin typeface="Trebuchet MS" panose="020B0603020202020204" pitchFamily="34" charset="0"/>
              </a:rPr>
              <a:t> of </a:t>
            </a:r>
            <a:r>
              <a:rPr lang="en-US" sz="2400" b="1" i="1" dirty="0">
                <a:latin typeface="Trebuchet MS" panose="020B0603020202020204" pitchFamily="34" charset="0"/>
              </a:rPr>
              <a:t>B</a:t>
            </a:r>
            <a:r>
              <a:rPr lang="en-US" sz="2400" dirty="0">
                <a:latin typeface="Trebuchet MS" panose="020B0603020202020204" pitchFamily="34" charset="0"/>
              </a:rPr>
              <a:t>.</a:t>
            </a:r>
          </a:p>
          <a:p>
            <a:pPr>
              <a:lnSpc>
                <a:spcPct val="110000"/>
              </a:lnSpc>
              <a:buClr>
                <a:srgbClr val="0B5BFF"/>
              </a:buClr>
              <a:buSzPct val="80000"/>
            </a:pPr>
            <a:endParaRPr lang="en-US" sz="2400" dirty="0">
              <a:latin typeface="Trebuchet MS" panose="020B0603020202020204" pitchFamily="34" charset="0"/>
            </a:endParaRPr>
          </a:p>
          <a:p>
            <a:pPr>
              <a:lnSpc>
                <a:spcPct val="110000"/>
              </a:lnSpc>
            </a:pPr>
            <a:r>
              <a:rPr lang="en-US" altLang="zh-CN" sz="2400" b="1" dirty="0">
                <a:latin typeface="Trebuchet MS" panose="020B0603020202020204" pitchFamily="34" charset="0"/>
              </a:rPr>
              <a:t>Solution</a:t>
            </a:r>
            <a:r>
              <a:rPr lang="en-US" altLang="zh-CN" sz="2400" b="1" dirty="0">
                <a:solidFill>
                  <a:srgbClr val="0B5BFF"/>
                </a:solidFill>
                <a:latin typeface="Trebuchet MS" panose="020B0603020202020204" pitchFamily="34" charset="0"/>
              </a:rPr>
              <a:t> (1) </a:t>
            </a:r>
            <a:r>
              <a:rPr lang="zh-CN" altLang="en-US" sz="2400" b="1" dirty="0">
                <a:latin typeface="Trebuchet MS" panose="020B0603020202020204" pitchFamily="34" charset="0"/>
              </a:rPr>
              <a:t>：</a:t>
            </a:r>
            <a:r>
              <a:rPr lang="en-US" altLang="zh-CN" sz="2400" dirty="0">
                <a:latin typeface="Trebuchet MS" panose="020B0603020202020204" pitchFamily="34" charset="0"/>
              </a:rPr>
              <a:t>Minimal elements</a:t>
            </a:r>
            <a:r>
              <a:rPr lang="en-US" altLang="zh-CN" sz="2400" b="1" dirty="0">
                <a:latin typeface="Trebuchet MS" panose="020B0603020202020204" pitchFamily="34" charset="0"/>
              </a:rPr>
              <a:t>:</a:t>
            </a:r>
            <a:r>
              <a:rPr lang="en-US" altLang="zh-CN" sz="2400"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a:t>
            </a:r>
            <a:r>
              <a:rPr lang="zh-CN" altLang="en-US" sz="2400" b="1" dirty="0">
                <a:latin typeface="Trebuchet MS" panose="020B0603020202020204" pitchFamily="34" charset="0"/>
              </a:rPr>
              <a:t>；</a:t>
            </a:r>
          </a:p>
          <a:p>
            <a:pPr>
              <a:lnSpc>
                <a:spcPct val="110000"/>
              </a:lnSpc>
            </a:pPr>
            <a:r>
              <a:rPr lang="en-US" altLang="zh-CN" sz="2400" dirty="0">
                <a:latin typeface="Trebuchet MS" panose="020B0603020202020204" pitchFamily="34" charset="0"/>
              </a:rPr>
              <a:t>Maximal elements</a:t>
            </a:r>
            <a:r>
              <a:rPr lang="zh-CN" altLang="en-US"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zh-CN" altLang="en-US" sz="2400" b="1" dirty="0">
                <a:latin typeface="Trebuchet MS" panose="020B0603020202020204" pitchFamily="34" charset="0"/>
              </a:rPr>
              <a:t>；</a:t>
            </a:r>
          </a:p>
          <a:p>
            <a:pPr>
              <a:lnSpc>
                <a:spcPct val="110000"/>
              </a:lnSpc>
            </a:pPr>
            <a:r>
              <a:rPr lang="en-US" altLang="zh-CN" sz="2400" dirty="0">
                <a:latin typeface="Trebuchet MS" panose="020B0603020202020204" pitchFamily="34" charset="0"/>
              </a:rPr>
              <a:t>No least element or greatest element</a:t>
            </a:r>
            <a:r>
              <a:rPr lang="en-US" altLang="zh-CN" sz="2400" b="1" dirty="0">
                <a:latin typeface="Trebuchet MS" panose="020B0603020202020204" pitchFamily="34" charset="0"/>
              </a:rPr>
              <a:t>.</a:t>
            </a:r>
          </a:p>
          <a:p>
            <a:pPr>
              <a:lnSpc>
                <a:spcPct val="110000"/>
              </a:lnSpc>
            </a:pPr>
            <a:r>
              <a:rPr lang="en-US" altLang="zh-CN" sz="2400" b="1" dirty="0">
                <a:latin typeface="Trebuchet MS" panose="020B0603020202020204" pitchFamily="34" charset="0"/>
              </a:rPr>
              <a:t>Solution</a:t>
            </a:r>
            <a:r>
              <a:rPr lang="en-US" altLang="zh-CN" sz="2400" b="1" dirty="0">
                <a:solidFill>
                  <a:srgbClr val="0B5BFF"/>
                </a:solidFill>
                <a:latin typeface="Trebuchet MS" panose="020B0603020202020204" pitchFamily="34" charset="0"/>
              </a:rPr>
              <a:t> (2) </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a:lnSpc>
                <a:spcPct val="110000"/>
              </a:lnSpc>
            </a:pPr>
            <a:r>
              <a:rPr lang="en-US" altLang="zh-CN" sz="2400" b="1" dirty="0">
                <a:latin typeface="Trebuchet MS" panose="020B0603020202020204" pitchFamily="34" charset="0"/>
              </a:rPr>
              <a:t>Lower bounds and greatest lower bound do not exist.</a:t>
            </a:r>
          </a:p>
          <a:p>
            <a:pPr>
              <a:lnSpc>
                <a:spcPct val="110000"/>
              </a:lnSpc>
            </a:pPr>
            <a:r>
              <a:rPr lang="en-US" altLang="zh-CN" sz="2400" b="1" dirty="0">
                <a:latin typeface="Trebuchet MS" panose="020B0603020202020204" pitchFamily="34" charset="0"/>
              </a:rPr>
              <a:t>Upper bounds: d, f</a:t>
            </a:r>
          </a:p>
          <a:p>
            <a:pPr>
              <a:lnSpc>
                <a:spcPct val="110000"/>
              </a:lnSpc>
            </a:pPr>
            <a:r>
              <a:rPr lang="en-US" altLang="zh-CN" sz="2400" b="1" dirty="0">
                <a:latin typeface="Trebuchet MS" panose="020B0603020202020204" pitchFamily="34" charset="0"/>
              </a:rPr>
              <a:t>Least upper bound (supremum): d</a:t>
            </a:r>
          </a:p>
          <a:p>
            <a:pPr>
              <a:buClr>
                <a:srgbClr val="0B5BFF"/>
              </a:buClr>
              <a:buSzPct val="80000"/>
            </a:pPr>
            <a:endParaRPr lang="en-US" sz="2400" dirty="0">
              <a:latin typeface="Trebuchet MS" panose="020B0603020202020204" pitchFamily="34" charset="0"/>
            </a:endParaRPr>
          </a:p>
          <a:p>
            <a:pPr>
              <a:buClr>
                <a:srgbClr val="0B5BFF"/>
              </a:buClr>
              <a:buSzPct val="80000"/>
            </a:pPr>
            <a:endParaRPr lang="en-US" altLang="zh-CN" sz="2400" b="1" dirty="0">
              <a:solidFill>
                <a:schemeClr val="tx1"/>
              </a:solidFill>
              <a:latin typeface="Trebuchet MS" panose="020B0603020202020204" pitchFamily="34" charset="0"/>
              <a:ea typeface="宋体" panose="02010600030101010101" pitchFamily="2" charset="-122"/>
            </a:endParaRPr>
          </a:p>
        </p:txBody>
      </p:sp>
      <p:pic>
        <p:nvPicPr>
          <p:cNvPr id="11" name="Picture 6" descr="7-8">
            <a:extLst>
              <a:ext uri="{FF2B5EF4-FFF2-40B4-BE49-F238E27FC236}">
                <a16:creationId xmlns:a16="http://schemas.microsoft.com/office/drawing/2014/main" id="{FF57A0BA-2EC3-44DF-A125-E88694665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9290" r="46552" b="16397"/>
          <a:stretch>
            <a:fillRect/>
          </a:stretch>
        </p:blipFill>
        <p:spPr bwMode="auto">
          <a:xfrm>
            <a:off x="8503801" y="3076084"/>
            <a:ext cx="1953286" cy="2528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a:extLst>
              <a:ext uri="{FF2B5EF4-FFF2-40B4-BE49-F238E27FC236}">
                <a16:creationId xmlns:a16="http://schemas.microsoft.com/office/drawing/2014/main" id="{3ADDC104-2655-4CBE-86BB-06F4BD6DC109}"/>
              </a:ext>
            </a:extLst>
          </p:cNvPr>
          <p:cNvPicPr/>
          <p:nvPr/>
        </p:nvPicPr>
        <p:blipFill>
          <a:blip r:embed="rId6"/>
          <a:stretch>
            <a:fillRect/>
          </a:stretch>
        </p:blipFill>
        <p:spPr>
          <a:xfrm>
            <a:off x="903607" y="909969"/>
            <a:ext cx="577850" cy="241300"/>
          </a:xfrm>
          <a:prstGeom prst="rect">
            <a:avLst/>
          </a:prstGeom>
        </p:spPr>
      </p:pic>
    </p:spTree>
    <p:extLst>
      <p:ext uri="{BB962C8B-B14F-4D97-AF65-F5344CB8AC3E}">
        <p14:creationId xmlns:p14="http://schemas.microsoft.com/office/powerpoint/2010/main" val="2966580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4" end="4"/>
                                            </p:txEl>
                                          </p:spTgt>
                                        </p:tgtEl>
                                        <p:attrNameLst>
                                          <p:attrName>style.visibility</p:attrName>
                                        </p:attrNameLst>
                                      </p:cBhvr>
                                      <p:to>
                                        <p:strVal val="visible"/>
                                      </p:to>
                                    </p:set>
                                    <p:animEffect transition="in" filter="fade">
                                      <p:cBhvr>
                                        <p:cTn id="14" dur="1000"/>
                                        <p:tgtEl>
                                          <p:spTgt spid="9">
                                            <p:txEl>
                                              <p:pRg st="4" end="4"/>
                                            </p:txEl>
                                          </p:spTgt>
                                        </p:tgtEl>
                                      </p:cBhvr>
                                    </p:animEffect>
                                    <p:anim calcmode="lin" valueType="num">
                                      <p:cBhvr>
                                        <p:cTn id="1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Effect transition="in" filter="fade">
                                      <p:cBhvr>
                                        <p:cTn id="19" dur="1000"/>
                                        <p:tgtEl>
                                          <p:spTgt spid="9">
                                            <p:txEl>
                                              <p:pRg st="5" end="5"/>
                                            </p:txEl>
                                          </p:spTgt>
                                        </p:tgtEl>
                                      </p:cBhvr>
                                    </p:animEffect>
                                    <p:anim calcmode="lin" valueType="num">
                                      <p:cBhvr>
                                        <p:cTn id="2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6" end="6"/>
                                            </p:txEl>
                                          </p:spTgt>
                                        </p:tgtEl>
                                        <p:attrNameLst>
                                          <p:attrName>style.visibility</p:attrName>
                                        </p:attrNameLst>
                                      </p:cBhvr>
                                      <p:to>
                                        <p:strVal val="visible"/>
                                      </p:to>
                                    </p:set>
                                    <p:animEffect transition="in" filter="fade">
                                      <p:cBhvr>
                                        <p:cTn id="24" dur="1000"/>
                                        <p:tgtEl>
                                          <p:spTgt spid="9">
                                            <p:txEl>
                                              <p:pRg st="6" end="6"/>
                                            </p:txEl>
                                          </p:spTgt>
                                        </p:tgtEl>
                                      </p:cBhvr>
                                    </p:animEffect>
                                    <p:anim calcmode="lin" valueType="num">
                                      <p:cBhvr>
                                        <p:cTn id="25"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1000"/>
                                        <p:tgtEl>
                                          <p:spTgt spid="9">
                                            <p:txEl>
                                              <p:pRg st="8" end="8"/>
                                            </p:txEl>
                                          </p:spTgt>
                                        </p:tgtEl>
                                      </p:cBhvr>
                                    </p:animEffect>
                                    <p:anim calcmode="lin" valueType="num">
                                      <p:cBhvr>
                                        <p:cTn id="32"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fade">
                                      <p:cBhvr>
                                        <p:cTn id="36" dur="1000"/>
                                        <p:tgtEl>
                                          <p:spTgt spid="9">
                                            <p:txEl>
                                              <p:pRg st="9" end="9"/>
                                            </p:txEl>
                                          </p:spTgt>
                                        </p:tgtEl>
                                      </p:cBhvr>
                                    </p:animEffect>
                                    <p:anim calcmode="lin" valueType="num">
                                      <p:cBhvr>
                                        <p:cTn id="37"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9" end="9"/>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fade">
                                      <p:cBhvr>
                                        <p:cTn id="41" dur="1000"/>
                                        <p:tgtEl>
                                          <p:spTgt spid="9">
                                            <p:txEl>
                                              <p:pRg st="10" end="10"/>
                                            </p:txEl>
                                          </p:spTgt>
                                        </p:tgtEl>
                                      </p:cBhvr>
                                    </p:animEffect>
                                    <p:anim calcmode="lin" valueType="num">
                                      <p:cBhvr>
                                        <p:cTn id="42"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10" end="10"/>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animEffect transition="in" filter="fade">
                                      <p:cBhvr>
                                        <p:cTn id="46" dur="1000"/>
                                        <p:tgtEl>
                                          <p:spTgt spid="9">
                                            <p:txEl>
                                              <p:pRg st="7" end="7"/>
                                            </p:txEl>
                                          </p:spTgt>
                                        </p:tgtEl>
                                      </p:cBhvr>
                                    </p:animEffect>
                                    <p:anim calcmode="lin" valueType="num">
                                      <p:cBhvr>
                                        <p:cTn id="4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en-US" altLang="zh-CN" sz="1800" b="1" dirty="0">
                <a:solidFill>
                  <a:schemeClr val="bg1"/>
                </a:solidFill>
                <a:latin typeface="Trebuchet MS" panose="020B0603020202020204" pitchFamily="34" charset="0"/>
              </a:rPr>
              <a:t>              4.4.5 </a:t>
            </a:r>
            <a:r>
              <a:rPr lang="en-US" altLang="zh-CN" sz="1800" b="1" dirty="0">
                <a:solidFill>
                  <a:srgbClr val="0B5BFF"/>
                </a:solidFill>
                <a:latin typeface="Trebuchet MS" panose="020B0603020202020204" pitchFamily="34" charset="0"/>
              </a:rPr>
              <a:t> </a:t>
            </a:r>
            <a:r>
              <a:rPr lang="en-US" altLang="zh-CN" sz="1800" b="1" dirty="0">
                <a:solidFill>
                  <a:schemeClr val="bg1"/>
                </a:solidFill>
                <a:latin typeface="Trebuchet MS" panose="020B0603020202020204" pitchFamily="34" charset="0"/>
              </a:rPr>
              <a:t>Partially Ordered Sets and </a:t>
            </a:r>
            <a:r>
              <a:rPr lang="en-US" altLang="zh-CN" sz="1800" b="1" dirty="0" err="1">
                <a:solidFill>
                  <a:schemeClr val="bg1"/>
                </a:solidFill>
                <a:latin typeface="Trebuchet MS" panose="020B0603020202020204" pitchFamily="34" charset="0"/>
              </a:rPr>
              <a:t>Hasse</a:t>
            </a:r>
            <a:r>
              <a:rPr lang="en-US" altLang="zh-CN" sz="18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Upper/lower bounds, supremum, infimum of a </a:t>
            </a:r>
            <a:r>
              <a:rPr lang="en-US" altLang="zh-CN" sz="2400" b="1" dirty="0" err="1">
                <a:latin typeface="Trebuchet MS" panose="020B0603020202020204" pitchFamily="34" charset="0"/>
              </a:rPr>
              <a:t>poset</a:t>
            </a:r>
            <a:r>
              <a:rPr lang="zh-CN" altLang="en-US" sz="2400" b="1" dirty="0">
                <a:latin typeface="Trebuchet MS" panose="020B0603020202020204" pitchFamily="34" charset="0"/>
              </a:rPr>
              <a:t>（</a:t>
            </a:r>
            <a:r>
              <a:rPr lang="en-US" altLang="zh-CN" sz="2400" b="1" dirty="0">
                <a:solidFill>
                  <a:schemeClr val="accent2"/>
                </a:solidFill>
                <a:latin typeface="Trebuchet MS" panose="020B0603020202020204" pitchFamily="34" charset="0"/>
              </a:rPr>
              <a:t>e.g.</a:t>
            </a:r>
            <a:r>
              <a:rPr lang="zh-CN" altLang="en-US"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0449"/>
            <a:ext cx="9343936"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9" name="Text Box 3">
            <a:extLst>
              <a:ext uri="{FF2B5EF4-FFF2-40B4-BE49-F238E27FC236}">
                <a16:creationId xmlns:a16="http://schemas.microsoft.com/office/drawing/2014/main" id="{8DFDD15B-6126-40E6-AEE8-C10DBD474450}"/>
              </a:ext>
            </a:extLst>
          </p:cNvPr>
          <p:cNvSpPr txBox="1">
            <a:spLocks noChangeArrowheads="1"/>
          </p:cNvSpPr>
          <p:nvPr/>
        </p:nvSpPr>
        <p:spPr bwMode="auto">
          <a:xfrm>
            <a:off x="1008379" y="794337"/>
            <a:ext cx="10573846" cy="589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10000"/>
              </a:lnSpc>
            </a:pPr>
            <a:r>
              <a:rPr lang="en-US" sz="2400" b="1" dirty="0">
                <a:latin typeface="Trebuchet MS" panose="020B0603020202020204" pitchFamily="34" charset="0"/>
              </a:rPr>
              <a:t>    Example:</a:t>
            </a:r>
            <a:r>
              <a:rPr lang="en-US" altLang="zh-CN" sz="2400" b="1" dirty="0">
                <a:solidFill>
                  <a:srgbClr val="00B0F0"/>
                </a:solidFill>
                <a:latin typeface="Trebuchet MS" panose="020B0603020202020204" pitchFamily="34" charset="0"/>
                <a:ea typeface="宋体" panose="02010600030101010101" pitchFamily="2" charset="-122"/>
              </a:rPr>
              <a:t>  </a:t>
            </a:r>
          </a:p>
          <a:p>
            <a:pPr>
              <a:lnSpc>
                <a:spcPct val="110000"/>
              </a:lnSpc>
              <a:buClr>
                <a:srgbClr val="0B5BFF"/>
              </a:buClr>
              <a:buSzPct val="80000"/>
            </a:pPr>
            <a:r>
              <a:rPr lang="en-US" sz="2400" dirty="0">
                <a:solidFill>
                  <a:srgbClr val="0B5BFF"/>
                </a:solidFill>
                <a:latin typeface="Trebuchet MS" panose="020B0603020202020204" pitchFamily="34" charset="0"/>
              </a:rPr>
              <a:t>(1) </a:t>
            </a:r>
            <a:r>
              <a:rPr lang="en-US" sz="2400" dirty="0">
                <a:latin typeface="Trebuchet MS" panose="020B0603020202020204" pitchFamily="34" charset="0"/>
              </a:rPr>
              <a:t>Given the </a:t>
            </a:r>
            <a:r>
              <a:rPr lang="en-US" sz="2400" b="1" dirty="0">
                <a:latin typeface="Trebuchet MS" panose="020B0603020202020204" pitchFamily="34" charset="0"/>
              </a:rPr>
              <a:t>partially ordered set</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,≼&gt; </a:t>
            </a:r>
            <a:r>
              <a:rPr lang="en-US" altLang="zh-CN" sz="2400" dirty="0">
                <a:latin typeface="Trebuchet MS" panose="020B0603020202020204" pitchFamily="34" charset="0"/>
              </a:rPr>
              <a:t>as shown in the diagram</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find the minimal elements, least element, maximal elements, and greatest element of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p>
          <a:p>
            <a:pPr>
              <a:lnSpc>
                <a:spcPct val="110000"/>
              </a:lnSpc>
              <a:buClr>
                <a:srgbClr val="0B5BFF"/>
              </a:buClr>
              <a:buSzPct val="80000"/>
            </a:pPr>
            <a:r>
              <a:rPr lang="en-US" sz="2400" dirty="0">
                <a:solidFill>
                  <a:srgbClr val="0B5BFF"/>
                </a:solidFill>
                <a:latin typeface="Trebuchet MS" panose="020B0603020202020204" pitchFamily="34" charset="0"/>
              </a:rPr>
              <a:t>(2) </a:t>
            </a: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rPr>
              <a:t>B</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d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find </a:t>
            </a:r>
            <a:r>
              <a:rPr lang="en-US" sz="2400" dirty="0">
                <a:latin typeface="Trebuchet MS" panose="020B0603020202020204" pitchFamily="34" charset="0"/>
              </a:rPr>
              <a:t>the </a:t>
            </a:r>
            <a:r>
              <a:rPr lang="en-US" sz="2400" b="1" dirty="0">
                <a:latin typeface="Trebuchet MS" panose="020B0603020202020204" pitchFamily="34" charset="0"/>
              </a:rPr>
              <a:t>lower bounds</a:t>
            </a:r>
            <a:r>
              <a:rPr lang="en-US" sz="2400" dirty="0">
                <a:latin typeface="Trebuchet MS" panose="020B0603020202020204" pitchFamily="34" charset="0"/>
              </a:rPr>
              <a:t>, </a:t>
            </a:r>
            <a:r>
              <a:rPr lang="en-US" sz="2400" b="1" dirty="0">
                <a:latin typeface="Trebuchet MS" panose="020B0603020202020204" pitchFamily="34" charset="0"/>
              </a:rPr>
              <a:t>upper bounds</a:t>
            </a:r>
            <a:r>
              <a:rPr lang="en-US" sz="2400" dirty="0">
                <a:latin typeface="Trebuchet MS" panose="020B0603020202020204" pitchFamily="34" charset="0"/>
              </a:rPr>
              <a:t>, </a:t>
            </a:r>
            <a:r>
              <a:rPr lang="en-US" sz="2400" b="1" dirty="0">
                <a:latin typeface="Trebuchet MS" panose="020B0603020202020204" pitchFamily="34" charset="0"/>
              </a:rPr>
              <a:t>infimum (greatest lower bound)</a:t>
            </a:r>
            <a:r>
              <a:rPr lang="en-US" sz="2400" dirty="0">
                <a:latin typeface="Trebuchet MS" panose="020B0603020202020204" pitchFamily="34" charset="0"/>
              </a:rPr>
              <a:t>, and </a:t>
            </a:r>
            <a:r>
              <a:rPr lang="en-US" sz="2400" b="1" dirty="0">
                <a:latin typeface="Trebuchet MS" panose="020B0603020202020204" pitchFamily="34" charset="0"/>
              </a:rPr>
              <a:t>supremum (least upper bound)</a:t>
            </a:r>
            <a:r>
              <a:rPr lang="en-US" sz="2400" dirty="0">
                <a:latin typeface="Trebuchet MS" panose="020B0603020202020204" pitchFamily="34" charset="0"/>
              </a:rPr>
              <a:t> of </a:t>
            </a:r>
            <a:r>
              <a:rPr lang="en-US" sz="2400" b="1" i="1" dirty="0">
                <a:latin typeface="Trebuchet MS" panose="020B0603020202020204" pitchFamily="34" charset="0"/>
              </a:rPr>
              <a:t>B</a:t>
            </a:r>
            <a:r>
              <a:rPr lang="en-US" sz="2400" dirty="0">
                <a:latin typeface="Trebuchet MS" panose="020B0603020202020204" pitchFamily="34" charset="0"/>
              </a:rPr>
              <a:t>.</a:t>
            </a:r>
          </a:p>
          <a:p>
            <a:pPr>
              <a:lnSpc>
                <a:spcPct val="110000"/>
              </a:lnSpc>
              <a:buClr>
                <a:srgbClr val="0B5BFF"/>
              </a:buClr>
              <a:buSzPct val="80000"/>
            </a:pPr>
            <a:endParaRPr lang="en-US" sz="2400" dirty="0">
              <a:latin typeface="Trebuchet MS" panose="020B0603020202020204" pitchFamily="34" charset="0"/>
            </a:endParaRPr>
          </a:p>
          <a:p>
            <a:pPr>
              <a:lnSpc>
                <a:spcPct val="110000"/>
              </a:lnSpc>
            </a:pPr>
            <a:r>
              <a:rPr lang="en-US" altLang="zh-CN" sz="2400" b="1" dirty="0">
                <a:latin typeface="Trebuchet MS" panose="020B0603020202020204" pitchFamily="34" charset="0"/>
              </a:rPr>
              <a:t>Solution</a:t>
            </a:r>
            <a:r>
              <a:rPr lang="en-US" altLang="zh-CN" sz="2400" b="1" dirty="0">
                <a:solidFill>
                  <a:srgbClr val="0B5BFF"/>
                </a:solidFill>
                <a:latin typeface="Trebuchet MS" panose="020B0603020202020204" pitchFamily="34" charset="0"/>
              </a:rPr>
              <a:t> (1) </a:t>
            </a:r>
            <a:r>
              <a:rPr lang="zh-CN" altLang="en-US" sz="2400" b="1" dirty="0">
                <a:latin typeface="Trebuchet MS" panose="020B0603020202020204" pitchFamily="34" charset="0"/>
              </a:rPr>
              <a:t>：</a:t>
            </a:r>
            <a:r>
              <a:rPr lang="en-US" altLang="zh-CN" sz="2400" dirty="0">
                <a:latin typeface="Trebuchet MS" panose="020B0603020202020204" pitchFamily="34" charset="0"/>
              </a:rPr>
              <a:t>Minimal elements</a:t>
            </a:r>
            <a:r>
              <a:rPr lang="en-US" altLang="zh-CN" sz="2400" b="1" dirty="0">
                <a:latin typeface="Trebuchet MS" panose="020B0603020202020204" pitchFamily="34" charset="0"/>
              </a:rPr>
              <a:t>:</a:t>
            </a:r>
            <a:r>
              <a:rPr lang="en-US" altLang="zh-CN" sz="2400"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a:t>
            </a:r>
            <a:r>
              <a:rPr lang="zh-CN" altLang="en-US" sz="2400" b="1" dirty="0">
                <a:latin typeface="Trebuchet MS" panose="020B0603020202020204" pitchFamily="34" charset="0"/>
              </a:rPr>
              <a:t>；</a:t>
            </a:r>
          </a:p>
          <a:p>
            <a:pPr>
              <a:lnSpc>
                <a:spcPct val="110000"/>
              </a:lnSpc>
            </a:pPr>
            <a:r>
              <a:rPr lang="en-US" altLang="zh-CN" sz="2400" dirty="0">
                <a:latin typeface="Trebuchet MS" panose="020B0603020202020204" pitchFamily="34" charset="0"/>
              </a:rPr>
              <a:t>Maximal elements</a:t>
            </a:r>
            <a:r>
              <a:rPr lang="zh-CN" altLang="en-US"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zh-CN" altLang="en-US" sz="2400" b="1" dirty="0">
                <a:latin typeface="Trebuchet MS" panose="020B0603020202020204" pitchFamily="34" charset="0"/>
              </a:rPr>
              <a:t>；</a:t>
            </a:r>
          </a:p>
          <a:p>
            <a:pPr>
              <a:lnSpc>
                <a:spcPct val="110000"/>
              </a:lnSpc>
            </a:pPr>
            <a:r>
              <a:rPr lang="en-US" altLang="zh-CN" sz="2400" dirty="0">
                <a:latin typeface="Trebuchet MS" panose="020B0603020202020204" pitchFamily="34" charset="0"/>
              </a:rPr>
              <a:t>No least element or greatest element</a:t>
            </a:r>
            <a:r>
              <a:rPr lang="en-US" altLang="zh-CN" sz="2400" b="1" dirty="0">
                <a:latin typeface="Trebuchet MS" panose="020B0603020202020204" pitchFamily="34" charset="0"/>
              </a:rPr>
              <a:t>.</a:t>
            </a:r>
          </a:p>
          <a:p>
            <a:pPr>
              <a:lnSpc>
                <a:spcPct val="110000"/>
              </a:lnSpc>
            </a:pPr>
            <a:r>
              <a:rPr lang="en-US" altLang="zh-CN" sz="2400" b="1" dirty="0">
                <a:latin typeface="Trebuchet MS" panose="020B0603020202020204" pitchFamily="34" charset="0"/>
              </a:rPr>
              <a:t>Solution</a:t>
            </a:r>
            <a:r>
              <a:rPr lang="en-US" altLang="zh-CN" sz="2400" b="1" dirty="0">
                <a:solidFill>
                  <a:srgbClr val="0B5BFF"/>
                </a:solidFill>
                <a:latin typeface="Trebuchet MS" panose="020B0603020202020204" pitchFamily="34" charset="0"/>
              </a:rPr>
              <a:t> (2) </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a:lnSpc>
                <a:spcPct val="110000"/>
              </a:lnSpc>
            </a:pPr>
            <a:r>
              <a:rPr lang="en-US" altLang="zh-CN" sz="2400" dirty="0">
                <a:latin typeface="Trebuchet MS" panose="020B0603020202020204" pitchFamily="34" charset="0"/>
              </a:rPr>
              <a:t>Lower bounds and greatest lower bound do not exist.</a:t>
            </a:r>
          </a:p>
          <a:p>
            <a:pPr>
              <a:lnSpc>
                <a:spcPct val="110000"/>
              </a:lnSpc>
            </a:pPr>
            <a:r>
              <a:rPr lang="en-US" altLang="zh-CN" sz="2400" dirty="0">
                <a:highlight>
                  <a:srgbClr val="FFFF00"/>
                </a:highlight>
                <a:latin typeface="Trebuchet MS" panose="020B0603020202020204" pitchFamily="34" charset="0"/>
              </a:rPr>
              <a:t>Upper bounds: </a:t>
            </a:r>
            <a:r>
              <a:rPr lang="en-US" altLang="zh-CN" sz="2400" b="1" i="1" dirty="0">
                <a:highlight>
                  <a:srgbClr val="FFFF00"/>
                </a:highlight>
                <a:latin typeface="Trebuchet MS" panose="020B0603020202020204" pitchFamily="34" charset="0"/>
              </a:rPr>
              <a:t>d </a:t>
            </a:r>
            <a:r>
              <a:rPr lang="en-US" altLang="zh-CN" sz="2400" dirty="0">
                <a:highlight>
                  <a:srgbClr val="FFFF00"/>
                </a:highlight>
                <a:latin typeface="Trebuchet MS" panose="020B0603020202020204" pitchFamily="34" charset="0"/>
              </a:rPr>
              <a:t>and </a:t>
            </a:r>
            <a:r>
              <a:rPr lang="en-US" altLang="zh-CN" sz="2400" b="1" i="1" dirty="0">
                <a:highlight>
                  <a:srgbClr val="FFFF00"/>
                </a:highlight>
                <a:latin typeface="Trebuchet MS" panose="020B0603020202020204" pitchFamily="34" charset="0"/>
              </a:rPr>
              <a:t>f</a:t>
            </a:r>
          </a:p>
          <a:p>
            <a:pPr>
              <a:lnSpc>
                <a:spcPct val="110000"/>
              </a:lnSpc>
            </a:pPr>
            <a:r>
              <a:rPr lang="en-US" altLang="zh-CN" sz="2400" dirty="0">
                <a:highlight>
                  <a:srgbClr val="FFFF00"/>
                </a:highlight>
                <a:latin typeface="Trebuchet MS" panose="020B0603020202020204" pitchFamily="34" charset="0"/>
              </a:rPr>
              <a:t>Least upper bound (supremum): </a:t>
            </a:r>
            <a:r>
              <a:rPr lang="en-US" altLang="zh-CN" sz="2400" b="1" i="1" dirty="0">
                <a:highlight>
                  <a:srgbClr val="FFFF00"/>
                </a:highlight>
                <a:latin typeface="Trebuchet MS" panose="020B0603020202020204" pitchFamily="34" charset="0"/>
              </a:rPr>
              <a:t>d</a:t>
            </a:r>
          </a:p>
          <a:p>
            <a:pPr>
              <a:buClr>
                <a:srgbClr val="0B5BFF"/>
              </a:buClr>
              <a:buSzPct val="80000"/>
            </a:pPr>
            <a:endParaRPr lang="en-US" sz="2400" dirty="0">
              <a:latin typeface="Trebuchet MS" panose="020B0603020202020204" pitchFamily="34" charset="0"/>
            </a:endParaRPr>
          </a:p>
          <a:p>
            <a:pPr>
              <a:buClr>
                <a:srgbClr val="0B5BFF"/>
              </a:buClr>
              <a:buSzPct val="80000"/>
            </a:pPr>
            <a:endParaRPr lang="en-US" altLang="zh-CN" sz="2400" b="1" dirty="0">
              <a:solidFill>
                <a:schemeClr val="tx1"/>
              </a:solidFill>
              <a:latin typeface="Trebuchet MS" panose="020B0603020202020204" pitchFamily="34" charset="0"/>
              <a:ea typeface="宋体" panose="02010600030101010101" pitchFamily="2" charset="-122"/>
            </a:endParaRPr>
          </a:p>
        </p:txBody>
      </p:sp>
      <p:pic>
        <p:nvPicPr>
          <p:cNvPr id="11" name="Picture 6" descr="7-8">
            <a:extLst>
              <a:ext uri="{FF2B5EF4-FFF2-40B4-BE49-F238E27FC236}">
                <a16:creationId xmlns:a16="http://schemas.microsoft.com/office/drawing/2014/main" id="{FF57A0BA-2EC3-44DF-A125-E88694665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9290" r="46552" b="16397"/>
          <a:stretch>
            <a:fillRect/>
          </a:stretch>
        </p:blipFill>
        <p:spPr bwMode="auto">
          <a:xfrm>
            <a:off x="8503801" y="3076084"/>
            <a:ext cx="1953286" cy="2528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a:extLst>
              <a:ext uri="{FF2B5EF4-FFF2-40B4-BE49-F238E27FC236}">
                <a16:creationId xmlns:a16="http://schemas.microsoft.com/office/drawing/2014/main" id="{3ADDC104-2655-4CBE-86BB-06F4BD6DC109}"/>
              </a:ext>
            </a:extLst>
          </p:cNvPr>
          <p:cNvPicPr/>
          <p:nvPr/>
        </p:nvPicPr>
        <p:blipFill>
          <a:blip r:embed="rId6"/>
          <a:stretch>
            <a:fillRect/>
          </a:stretch>
        </p:blipFill>
        <p:spPr>
          <a:xfrm>
            <a:off x="903607" y="909969"/>
            <a:ext cx="577850" cy="241300"/>
          </a:xfrm>
          <a:prstGeom prst="rect">
            <a:avLst/>
          </a:prstGeom>
        </p:spPr>
      </p:pic>
    </p:spTree>
    <p:extLst>
      <p:ext uri="{BB962C8B-B14F-4D97-AF65-F5344CB8AC3E}">
        <p14:creationId xmlns:p14="http://schemas.microsoft.com/office/powerpoint/2010/main" val="4574590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4" end="4"/>
                                            </p:txEl>
                                          </p:spTgt>
                                        </p:tgtEl>
                                        <p:attrNameLst>
                                          <p:attrName>style.visibility</p:attrName>
                                        </p:attrNameLst>
                                      </p:cBhvr>
                                      <p:to>
                                        <p:strVal val="visible"/>
                                      </p:to>
                                    </p:set>
                                    <p:animEffect transition="in" filter="fade">
                                      <p:cBhvr>
                                        <p:cTn id="14" dur="1000"/>
                                        <p:tgtEl>
                                          <p:spTgt spid="9">
                                            <p:txEl>
                                              <p:pRg st="4" end="4"/>
                                            </p:txEl>
                                          </p:spTgt>
                                        </p:tgtEl>
                                      </p:cBhvr>
                                    </p:animEffect>
                                    <p:anim calcmode="lin" valueType="num">
                                      <p:cBhvr>
                                        <p:cTn id="1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Effect transition="in" filter="fade">
                                      <p:cBhvr>
                                        <p:cTn id="19" dur="1000"/>
                                        <p:tgtEl>
                                          <p:spTgt spid="9">
                                            <p:txEl>
                                              <p:pRg st="5" end="5"/>
                                            </p:txEl>
                                          </p:spTgt>
                                        </p:tgtEl>
                                      </p:cBhvr>
                                    </p:animEffect>
                                    <p:anim calcmode="lin" valueType="num">
                                      <p:cBhvr>
                                        <p:cTn id="2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6" end="6"/>
                                            </p:txEl>
                                          </p:spTgt>
                                        </p:tgtEl>
                                        <p:attrNameLst>
                                          <p:attrName>style.visibility</p:attrName>
                                        </p:attrNameLst>
                                      </p:cBhvr>
                                      <p:to>
                                        <p:strVal val="visible"/>
                                      </p:to>
                                    </p:set>
                                    <p:animEffect transition="in" filter="fade">
                                      <p:cBhvr>
                                        <p:cTn id="24" dur="1000"/>
                                        <p:tgtEl>
                                          <p:spTgt spid="9">
                                            <p:txEl>
                                              <p:pRg st="6" end="6"/>
                                            </p:txEl>
                                          </p:spTgt>
                                        </p:tgtEl>
                                      </p:cBhvr>
                                    </p:animEffect>
                                    <p:anim calcmode="lin" valueType="num">
                                      <p:cBhvr>
                                        <p:cTn id="25"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animEffect transition="in" filter="fade">
                                      <p:cBhvr>
                                        <p:cTn id="31" dur="1000"/>
                                        <p:tgtEl>
                                          <p:spTgt spid="9">
                                            <p:txEl>
                                              <p:pRg st="8" end="8"/>
                                            </p:txEl>
                                          </p:spTgt>
                                        </p:tgtEl>
                                      </p:cBhvr>
                                    </p:animEffect>
                                    <p:anim calcmode="lin" valueType="num">
                                      <p:cBhvr>
                                        <p:cTn id="32"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9" end="9"/>
                                            </p:txEl>
                                          </p:spTgt>
                                        </p:tgtEl>
                                        <p:attrNameLst>
                                          <p:attrName>style.visibility</p:attrName>
                                        </p:attrNameLst>
                                      </p:cBhvr>
                                      <p:to>
                                        <p:strVal val="visible"/>
                                      </p:to>
                                    </p:set>
                                    <p:animEffect transition="in" filter="fade">
                                      <p:cBhvr>
                                        <p:cTn id="36" dur="1000"/>
                                        <p:tgtEl>
                                          <p:spTgt spid="9">
                                            <p:txEl>
                                              <p:pRg st="9" end="9"/>
                                            </p:txEl>
                                          </p:spTgt>
                                        </p:tgtEl>
                                      </p:cBhvr>
                                    </p:animEffect>
                                    <p:anim calcmode="lin" valueType="num">
                                      <p:cBhvr>
                                        <p:cTn id="37"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9" end="9"/>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fade">
                                      <p:cBhvr>
                                        <p:cTn id="41" dur="1000"/>
                                        <p:tgtEl>
                                          <p:spTgt spid="9">
                                            <p:txEl>
                                              <p:pRg st="10" end="10"/>
                                            </p:txEl>
                                          </p:spTgt>
                                        </p:tgtEl>
                                      </p:cBhvr>
                                    </p:animEffect>
                                    <p:anim calcmode="lin" valueType="num">
                                      <p:cBhvr>
                                        <p:cTn id="42"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10" end="10"/>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animEffect transition="in" filter="fade">
                                      <p:cBhvr>
                                        <p:cTn id="46" dur="1000"/>
                                        <p:tgtEl>
                                          <p:spTgt spid="9">
                                            <p:txEl>
                                              <p:pRg st="7" end="7"/>
                                            </p:txEl>
                                          </p:spTgt>
                                        </p:tgtEl>
                                      </p:cBhvr>
                                    </p:animEffect>
                                    <p:anim calcmode="lin" valueType="num">
                                      <p:cBhvr>
                                        <p:cTn id="4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 </a:t>
            </a:r>
            <a:r>
              <a:rPr lang="en-US" altLang="zh-CN" sz="2400" b="1" dirty="0">
                <a:latin typeface="Trebuchet MS" panose="020B0603020202020204" pitchFamily="34" charset="0"/>
              </a:rPr>
              <a:t>Special Subsets of a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Chains and Antichains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9930131"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Clr>
                <a:srgbClr val="0B5B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rPr>
              <a:t>4.29</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sz="2400" dirty="0">
                <a:latin typeface="Trebuchet MS" panose="020B0603020202020204" pitchFamily="34" charset="0"/>
              </a:rPr>
              <a:t>Let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a:t>
            </a:r>
            <a:r>
              <a:rPr lang="en-US" sz="2400" dirty="0">
                <a:latin typeface="Trebuchet MS" panose="020B0603020202020204" pitchFamily="34" charset="0"/>
              </a:rPr>
              <a:t>be a </a:t>
            </a:r>
            <a:r>
              <a:rPr lang="en-US" sz="2400" b="1" dirty="0">
                <a:latin typeface="Trebuchet MS" panose="020B0603020202020204" pitchFamily="34" charset="0"/>
              </a:rPr>
              <a:t>partially ordered set (</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sz="2400" dirty="0">
                <a:latin typeface="Trebuchet MS" panose="020B0603020202020204" pitchFamily="34" charset="0"/>
              </a:rPr>
              <a:t>, and </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p>
          <a:p>
            <a:pPr eaLnBrk="1" hangingPunct="1">
              <a:lnSpc>
                <a:spcPct val="110000"/>
              </a:lnSpc>
              <a:spcBef>
                <a:spcPts val="300"/>
              </a:spcBef>
              <a:buFontTx/>
              <a:buNone/>
            </a:pPr>
            <a:r>
              <a:rPr lang="en-US" altLang="zh-CN" sz="2400" b="1" dirty="0">
                <a:solidFill>
                  <a:srgbClr val="0B5BFF"/>
                </a:solidFill>
                <a:latin typeface="Trebuchet MS" panose="020B0603020202020204" pitchFamily="34" charset="0"/>
              </a:rPr>
              <a:t> (1) </a:t>
            </a:r>
            <a:r>
              <a:rPr lang="en-US" sz="2400" dirty="0">
                <a:latin typeface="Trebuchet MS" panose="020B0603020202020204" pitchFamily="34" charset="0"/>
              </a:rPr>
              <a:t>If for all</a:t>
            </a:r>
            <a:r>
              <a:rPr lang="zh-CN" altLang="en-US" sz="2400" b="1" dirty="0">
                <a:latin typeface="Trebuchet MS" panose="020B0603020202020204" pitchFamily="34" charset="0"/>
              </a:rPr>
              <a:t> </a:t>
            </a:r>
            <a:r>
              <a:rPr lang="zh-CN" altLang="en-US"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zh-CN" altLang="en-US" sz="2400" b="1" dirty="0">
                <a:latin typeface="Trebuchet MS" panose="020B0603020202020204" pitchFamily="34" charset="0"/>
              </a:rPr>
              <a:t>，</a:t>
            </a:r>
            <a:r>
              <a:rPr lang="en-US" altLang="zh-CN" sz="2400" b="1" i="1" dirty="0">
                <a:latin typeface="Trebuchet MS" panose="020B0603020202020204" pitchFamily="34" charset="0"/>
              </a:rPr>
              <a:t>x </a:t>
            </a:r>
            <a:r>
              <a:rPr lang="en-US" sz="2400" dirty="0">
                <a:latin typeface="Trebuchet MS" panose="020B0603020202020204" pitchFamily="34" charset="0"/>
              </a:rPr>
              <a:t>and </a:t>
            </a:r>
            <a:r>
              <a:rPr lang="en-US" altLang="zh-CN" sz="2400" b="1" i="1" dirty="0">
                <a:latin typeface="Trebuchet MS" panose="020B0603020202020204" pitchFamily="34" charset="0"/>
              </a:rPr>
              <a:t>y </a:t>
            </a:r>
            <a:r>
              <a:rPr lang="en-US" sz="2400" dirty="0">
                <a:latin typeface="Trebuchet MS" panose="020B0603020202020204" pitchFamily="34" charset="0"/>
              </a:rPr>
              <a:t>are </a:t>
            </a:r>
            <a:r>
              <a:rPr lang="en-US" sz="2400" b="1" dirty="0">
                <a:latin typeface="Trebuchet MS" panose="020B0603020202020204" pitchFamily="34" charset="0"/>
              </a:rPr>
              <a:t>comparable</a:t>
            </a:r>
            <a:r>
              <a:rPr lang="en-US" sz="2400" dirty="0">
                <a:latin typeface="Trebuchet MS" panose="020B0603020202020204" pitchFamily="34" charset="0"/>
              </a:rPr>
              <a:t>, then </a:t>
            </a:r>
            <a:r>
              <a:rPr lang="en-US" altLang="zh-CN" sz="2400" b="1" i="1" dirty="0">
                <a:latin typeface="Trebuchet MS" panose="020B0603020202020204" pitchFamily="34" charset="0"/>
              </a:rPr>
              <a:t>B </a:t>
            </a:r>
            <a:r>
              <a:rPr lang="en-US" sz="2400" dirty="0">
                <a:latin typeface="Trebuchet MS" panose="020B0603020202020204" pitchFamily="34" charset="0"/>
              </a:rPr>
              <a:t>is called a </a:t>
            </a:r>
            <a:r>
              <a:rPr lang="en-US" sz="2400" b="1" i="1" dirty="0">
                <a:latin typeface="Trebuchet MS" panose="020B0603020202020204" pitchFamily="34" charset="0"/>
              </a:rPr>
              <a:t>chain</a:t>
            </a:r>
            <a:r>
              <a:rPr lang="en-US" sz="2400" dirty="0">
                <a:latin typeface="Trebuchet MS" panose="020B0603020202020204" pitchFamily="34" charset="0"/>
              </a:rPr>
              <a:t> in  </a:t>
            </a:r>
            <a:r>
              <a:rPr lang="en-US" altLang="zh-CN" sz="2400" b="1" i="1" dirty="0">
                <a:latin typeface="Trebuchet MS" panose="020B0603020202020204" pitchFamily="34" charset="0"/>
              </a:rPr>
              <a:t>A</a:t>
            </a:r>
            <a:r>
              <a:rPr lang="zh-CN" altLang="en-US" sz="2400" b="1" dirty="0">
                <a:latin typeface="Trebuchet MS" panose="020B0603020202020204" pitchFamily="34" charset="0"/>
              </a:rPr>
              <a:t>，</a:t>
            </a:r>
            <a:r>
              <a:rPr lang="en-US" sz="2400" dirty="0">
                <a:latin typeface="Trebuchet MS" panose="020B0603020202020204" pitchFamily="34" charset="0"/>
              </a:rPr>
              <a:t>The number of elements in </a:t>
            </a:r>
            <a:r>
              <a:rPr lang="en-US" sz="2400" b="1" i="1" dirty="0">
                <a:latin typeface="Trebuchet MS" panose="020B0603020202020204" pitchFamily="34" charset="0"/>
              </a:rPr>
              <a:t>B</a:t>
            </a:r>
            <a:r>
              <a:rPr lang="en-US" sz="2400" dirty="0">
                <a:latin typeface="Trebuchet MS" panose="020B0603020202020204" pitchFamily="34" charset="0"/>
              </a:rPr>
              <a:t> is called the </a:t>
            </a:r>
            <a:r>
              <a:rPr lang="en-US" sz="2400" b="1" dirty="0">
                <a:latin typeface="Trebuchet MS" panose="020B0603020202020204" pitchFamily="34" charset="0"/>
              </a:rPr>
              <a:t>length of the chain</a:t>
            </a:r>
            <a:r>
              <a:rPr lang="en-US" sz="2400" dirty="0">
                <a:latin typeface="Trebuchet MS" panose="020B0603020202020204" pitchFamily="34" charset="0"/>
              </a:rPr>
              <a:t>.</a:t>
            </a:r>
          </a:p>
          <a:p>
            <a:pPr eaLnBrk="1" hangingPunct="1">
              <a:lnSpc>
                <a:spcPct val="110000"/>
              </a:lnSpc>
              <a:buFontTx/>
              <a:buNone/>
            </a:pPr>
            <a:r>
              <a:rPr lang="en-US" altLang="zh-CN" sz="2400" b="1" dirty="0">
                <a:latin typeface="Trebuchet MS" panose="020B0603020202020204" pitchFamily="34" charset="0"/>
              </a:rPr>
              <a:t> </a:t>
            </a:r>
            <a:r>
              <a:rPr lang="en-US" altLang="zh-CN" sz="2400" b="1" dirty="0">
                <a:solidFill>
                  <a:srgbClr val="0B5BFF"/>
                </a:solidFill>
                <a:latin typeface="Trebuchet MS" panose="020B0603020202020204" pitchFamily="34" charset="0"/>
              </a:rPr>
              <a:t>(2) </a:t>
            </a:r>
            <a:r>
              <a:rPr lang="en-US" sz="2400" dirty="0">
                <a:latin typeface="Trebuchet MS" panose="020B0603020202020204" pitchFamily="34" charset="0"/>
              </a:rPr>
              <a:t>If for all </a:t>
            </a:r>
            <a:r>
              <a:rPr lang="zh-CN" altLang="en-US"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y</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zh-CN" altLang="en-US" sz="2400" b="1" dirty="0">
                <a:latin typeface="Trebuchet MS" panose="020B0603020202020204" pitchFamily="34" charset="0"/>
              </a:rPr>
              <a: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y</a:t>
            </a:r>
            <a:r>
              <a:rPr lang="zh-CN" altLang="en-US" sz="2400" b="1" dirty="0">
                <a:latin typeface="Trebuchet MS" panose="020B0603020202020204" pitchFamily="34" charset="0"/>
              </a:rPr>
              <a:t>，</a:t>
            </a:r>
            <a:r>
              <a:rPr lang="en-US" sz="2400" b="1" i="1" dirty="0">
                <a:latin typeface="Trebuchet MS" panose="020B0603020202020204" pitchFamily="34" charset="0"/>
              </a:rPr>
              <a:t>x </a:t>
            </a:r>
            <a:r>
              <a:rPr lang="en-US" sz="2400" dirty="0">
                <a:latin typeface="Trebuchet MS" panose="020B0603020202020204" pitchFamily="34" charset="0"/>
              </a:rPr>
              <a:t>and </a:t>
            </a:r>
            <a:r>
              <a:rPr lang="en-US" sz="2400" b="1" i="1" dirty="0">
                <a:latin typeface="Trebuchet MS" panose="020B0603020202020204" pitchFamily="34" charset="0"/>
              </a:rPr>
              <a:t>y </a:t>
            </a:r>
            <a:r>
              <a:rPr lang="en-US" sz="2400" dirty="0">
                <a:latin typeface="Trebuchet MS" panose="020B0603020202020204" pitchFamily="34" charset="0"/>
              </a:rPr>
              <a:t>are </a:t>
            </a:r>
            <a:r>
              <a:rPr lang="en-US" sz="2400" b="1" dirty="0">
                <a:latin typeface="Trebuchet MS" panose="020B0603020202020204" pitchFamily="34" charset="0"/>
              </a:rPr>
              <a:t>not comparable, </a:t>
            </a:r>
            <a:r>
              <a:rPr lang="en-US" sz="2400" dirty="0">
                <a:latin typeface="Trebuchet MS" panose="020B0603020202020204" pitchFamily="34" charset="0"/>
              </a:rPr>
              <a:t>then </a:t>
            </a:r>
            <a:r>
              <a:rPr lang="en-US" sz="2400" b="1" i="1" dirty="0">
                <a:latin typeface="Trebuchet MS" panose="020B0603020202020204" pitchFamily="34" charset="0"/>
              </a:rPr>
              <a:t>B</a:t>
            </a:r>
            <a:r>
              <a:rPr lang="en-US" sz="2400" dirty="0">
                <a:latin typeface="Trebuchet MS" panose="020B0603020202020204" pitchFamily="34" charset="0"/>
              </a:rPr>
              <a:t> is called an </a:t>
            </a:r>
            <a:r>
              <a:rPr lang="en-US" sz="2400" b="1" i="1" dirty="0">
                <a:latin typeface="Trebuchet MS" panose="020B0603020202020204" pitchFamily="34" charset="0"/>
              </a:rPr>
              <a:t>antichain</a:t>
            </a:r>
            <a:r>
              <a:rPr lang="en-US" sz="2400" dirty="0">
                <a:latin typeface="Trebuchet MS" panose="020B0603020202020204" pitchFamily="34" charset="0"/>
              </a:rPr>
              <a:t> in </a:t>
            </a:r>
            <a:r>
              <a:rPr lang="en-US" sz="2400" b="1" i="1" dirty="0">
                <a:latin typeface="Trebuchet MS" panose="020B0603020202020204" pitchFamily="34" charset="0"/>
              </a:rPr>
              <a:t>A</a:t>
            </a:r>
            <a:r>
              <a:rPr lang="zh-CN" altLang="en-US" sz="2400" b="1" dirty="0">
                <a:latin typeface="Trebuchet MS" panose="020B0603020202020204" pitchFamily="34" charset="0"/>
              </a:rPr>
              <a:t>，</a:t>
            </a:r>
            <a:r>
              <a:rPr lang="en-US" sz="2400" dirty="0">
                <a:latin typeface="Trebuchet MS" panose="020B0603020202020204" pitchFamily="34" charset="0"/>
              </a:rPr>
              <a:t>The number of elements in B is called the </a:t>
            </a:r>
            <a:r>
              <a:rPr lang="en-US" sz="2400" b="1" dirty="0">
                <a:latin typeface="Trebuchet MS" panose="020B0603020202020204" pitchFamily="34" charset="0"/>
              </a:rPr>
              <a:t>length of the antichain</a:t>
            </a:r>
            <a:r>
              <a:rPr lang="en-US" sz="2400" dirty="0">
                <a:latin typeface="Trebuchet MS" panose="020B0603020202020204" pitchFamily="34" charset="0"/>
              </a:rPr>
              <a:t>.</a:t>
            </a:r>
            <a:r>
              <a:rPr lang="en-US" altLang="zh-CN" sz="2400" b="1" dirty="0">
                <a:latin typeface="Trebuchet MS" panose="020B0603020202020204" pitchFamily="34" charset="0"/>
              </a:rPr>
              <a:t>.</a:t>
            </a:r>
          </a:p>
          <a:p>
            <a:pPr eaLnBrk="1" hangingPunct="1">
              <a:lnSpc>
                <a:spcPct val="110000"/>
              </a:lnSpc>
              <a:spcBef>
                <a:spcPct val="50000"/>
              </a:spcBef>
              <a:buFontTx/>
              <a:buNone/>
            </a:pPr>
            <a:r>
              <a:rPr lang="en-US" sz="2400" b="1" dirty="0">
                <a:latin typeface="Trebuchet MS" panose="020B0603020202020204" pitchFamily="34" charset="0"/>
              </a:rPr>
              <a:t>      Examples</a:t>
            </a:r>
            <a:r>
              <a:rPr lang="zh-CN" altLang="en-US" sz="2400" b="1" dirty="0">
                <a:latin typeface="Trebuchet MS" panose="020B0603020202020204" pitchFamily="34" charset="0"/>
              </a:rPr>
              <a:t>：</a:t>
            </a:r>
            <a:r>
              <a:rPr lang="en-US" sz="2400" dirty="0">
                <a:latin typeface="Trebuchet MS" panose="020B0603020202020204" pitchFamily="34" charset="0"/>
              </a:rPr>
              <a:t>In the </a:t>
            </a:r>
            <a:r>
              <a:rPr lang="en-US" sz="2400" dirty="0" err="1">
                <a:latin typeface="Trebuchet MS" panose="020B0603020202020204" pitchFamily="34" charset="0"/>
              </a:rPr>
              <a:t>poset</a:t>
            </a:r>
            <a:r>
              <a:rPr lang="en-US" sz="2400" dirty="0">
                <a:latin typeface="Trebuchet MS" panose="020B0603020202020204" pitchFamily="34" charset="0"/>
              </a:rPr>
              <a:t> </a:t>
            </a:r>
            <a:r>
              <a:rPr lang="en-US" altLang="zh-CN" sz="2400" b="1" dirty="0">
                <a:latin typeface="Trebuchet MS" panose="020B0603020202020204" pitchFamily="34" charset="0"/>
              </a:rPr>
              <a:t>&lt;{1,2,…,9},|&gt;</a:t>
            </a:r>
            <a:r>
              <a:rPr lang="zh-CN" altLang="en-US" sz="2400" b="1" dirty="0">
                <a:latin typeface="Trebuchet MS" panose="020B0603020202020204" pitchFamily="34" charset="0"/>
              </a:rPr>
              <a:t>，</a:t>
            </a:r>
            <a:r>
              <a:rPr lang="en-US" altLang="zh-CN" sz="2400" b="1" dirty="0">
                <a:latin typeface="Trebuchet MS" panose="020B0603020202020204" pitchFamily="34" charset="0"/>
              </a:rPr>
              <a:t>{1,2,4,8}</a:t>
            </a:r>
            <a:r>
              <a:rPr lang="en-US" sz="2400" dirty="0">
                <a:latin typeface="Trebuchet MS" panose="020B0603020202020204" pitchFamily="34" charset="0"/>
              </a:rPr>
              <a:t> is a </a:t>
            </a:r>
            <a:r>
              <a:rPr lang="en-US" sz="2400" b="1" dirty="0">
                <a:latin typeface="Trebuchet MS" panose="020B0603020202020204" pitchFamily="34" charset="0"/>
              </a:rPr>
              <a:t>chain</a:t>
            </a:r>
            <a:r>
              <a:rPr lang="en-US" sz="2400" dirty="0">
                <a:latin typeface="Trebuchet MS" panose="020B0603020202020204" pitchFamily="34" charset="0"/>
              </a:rPr>
              <a:t> of length </a:t>
            </a:r>
            <a:r>
              <a:rPr lang="en-US" altLang="zh-CN" sz="2400" b="1" dirty="0">
                <a:latin typeface="Trebuchet MS" panose="020B0603020202020204" pitchFamily="34" charset="0"/>
              </a:rPr>
              <a:t>4</a:t>
            </a:r>
            <a:r>
              <a:rPr lang="zh-CN" altLang="en-US" sz="2400" b="1" dirty="0">
                <a:latin typeface="Trebuchet MS" panose="020B0603020202020204" pitchFamily="34" charset="0"/>
              </a:rPr>
              <a:t>，</a:t>
            </a:r>
            <a:r>
              <a:rPr lang="en-US" altLang="zh-CN" sz="2400" b="1" dirty="0">
                <a:latin typeface="Trebuchet MS" panose="020B0603020202020204" pitchFamily="34" charset="0"/>
              </a:rPr>
              <a:t>{1,4}</a:t>
            </a:r>
            <a:r>
              <a:rPr lang="en-US" sz="2400" dirty="0">
                <a:latin typeface="Trebuchet MS" panose="020B0603020202020204" pitchFamily="34" charset="0"/>
              </a:rPr>
              <a:t> is a </a:t>
            </a:r>
            <a:r>
              <a:rPr lang="en-US" sz="2400" b="1" dirty="0">
                <a:latin typeface="Trebuchet MS" panose="020B0603020202020204" pitchFamily="34" charset="0"/>
              </a:rPr>
              <a:t>chain</a:t>
            </a:r>
            <a:r>
              <a:rPr lang="en-US" sz="2400" dirty="0">
                <a:latin typeface="Trebuchet MS" panose="020B0603020202020204" pitchFamily="34" charset="0"/>
              </a:rPr>
              <a:t> of length </a:t>
            </a:r>
            <a:r>
              <a:rPr lang="en-US" sz="2400" b="1" dirty="0">
                <a:latin typeface="Trebuchet MS" panose="020B0603020202020204" pitchFamily="34" charset="0"/>
              </a:rPr>
              <a:t>2</a:t>
            </a:r>
            <a:r>
              <a:rPr lang="zh-CN" altLang="en-US" sz="2400" b="1" dirty="0">
                <a:latin typeface="Trebuchet MS" panose="020B0603020202020204" pitchFamily="34" charset="0"/>
              </a:rPr>
              <a:t>，</a:t>
            </a:r>
            <a:r>
              <a:rPr lang="en-US" altLang="zh-CN" sz="2400" b="1" dirty="0">
                <a:latin typeface="Trebuchet MS" panose="020B0603020202020204" pitchFamily="34" charset="0"/>
              </a:rPr>
              <a:t>{2,3}</a:t>
            </a:r>
            <a:r>
              <a:rPr lang="en-US" sz="2400" dirty="0">
                <a:latin typeface="Trebuchet MS" panose="020B0603020202020204" pitchFamily="34" charset="0"/>
              </a:rPr>
              <a:t> is an </a:t>
            </a:r>
            <a:r>
              <a:rPr lang="en-US" sz="2400" b="1" dirty="0">
                <a:latin typeface="Trebuchet MS" panose="020B0603020202020204" pitchFamily="34" charset="0"/>
              </a:rPr>
              <a:t>antichain</a:t>
            </a:r>
            <a:r>
              <a:rPr lang="en-US" sz="2400" dirty="0">
                <a:latin typeface="Trebuchet MS" panose="020B0603020202020204" pitchFamily="34" charset="0"/>
              </a:rPr>
              <a:t> of length </a:t>
            </a:r>
            <a:r>
              <a:rPr lang="en-US" sz="2400" b="1" dirty="0">
                <a:latin typeface="Trebuchet MS" panose="020B0603020202020204" pitchFamily="34" charset="0"/>
              </a:rPr>
              <a:t>2</a:t>
            </a:r>
            <a:r>
              <a:rPr lang="en-US" altLang="zh-CN" sz="2400" b="1" dirty="0">
                <a:latin typeface="Trebuchet MS" panose="020B0603020202020204" pitchFamily="34" charset="0"/>
              </a:rPr>
              <a:t>. </a:t>
            </a:r>
            <a:r>
              <a:rPr lang="en-US" sz="2400" dirty="0">
                <a:latin typeface="Trebuchet MS" panose="020B0603020202020204" pitchFamily="34" charset="0"/>
              </a:rPr>
              <a:t>The </a:t>
            </a:r>
            <a:r>
              <a:rPr lang="en-US" sz="2400" b="1" dirty="0">
                <a:latin typeface="Trebuchet MS" panose="020B0603020202020204" pitchFamily="34" charset="0"/>
              </a:rPr>
              <a:t>singleton set</a:t>
            </a:r>
            <a:r>
              <a:rPr lang="en-US" sz="2400" dirty="0">
                <a:latin typeface="Trebuchet MS" panose="020B0603020202020204" pitchFamily="34" charset="0"/>
              </a:rPr>
              <a:t> {2 has length </a:t>
            </a:r>
            <a:r>
              <a:rPr lang="en-US" sz="2400" b="1" dirty="0">
                <a:latin typeface="Trebuchet MS" panose="020B0603020202020204" pitchFamily="34" charset="0"/>
              </a:rPr>
              <a:t>1</a:t>
            </a:r>
            <a:r>
              <a:rPr lang="en-US" sz="2400" dirty="0">
                <a:latin typeface="Trebuchet MS" panose="020B0603020202020204" pitchFamily="34" charset="0"/>
              </a:rPr>
              <a:t> and is </a:t>
            </a:r>
            <a:r>
              <a:rPr lang="en-US" sz="2400" b="1" dirty="0">
                <a:latin typeface="Trebuchet MS" panose="020B0603020202020204" pitchFamily="34" charset="0"/>
              </a:rPr>
              <a:t>both a chain and an antichain</a:t>
            </a:r>
            <a:r>
              <a:rPr lang="en-US" sz="2400" dirty="0">
                <a:latin typeface="Trebuchet MS" panose="020B0603020202020204" pitchFamily="34" charset="0"/>
              </a:rPr>
              <a:t>.</a:t>
            </a:r>
            <a:endParaRPr lang="zh-CN" altLang="en-US" sz="2400" b="1" dirty="0">
              <a:latin typeface="Trebuchet MS" panose="020B0603020202020204" pitchFamily="34" charset="0"/>
            </a:endParaRPr>
          </a:p>
        </p:txBody>
      </p:sp>
      <p:pic>
        <p:nvPicPr>
          <p:cNvPr id="9" name="图片 8">
            <a:extLst>
              <a:ext uri="{FF2B5EF4-FFF2-40B4-BE49-F238E27FC236}">
                <a16:creationId xmlns:a16="http://schemas.microsoft.com/office/drawing/2014/main" id="{781E38FA-EA86-4742-9A02-8652E9DD1A15}"/>
              </a:ext>
            </a:extLst>
          </p:cNvPr>
          <p:cNvPicPr/>
          <p:nvPr/>
        </p:nvPicPr>
        <p:blipFill>
          <a:blip r:embed="rId5"/>
          <a:stretch>
            <a:fillRect/>
          </a:stretch>
        </p:blipFill>
        <p:spPr>
          <a:xfrm>
            <a:off x="1063625" y="4542790"/>
            <a:ext cx="577850" cy="241300"/>
          </a:xfrm>
          <a:prstGeom prst="rect">
            <a:avLst/>
          </a:prstGeom>
        </p:spPr>
      </p:pic>
    </p:spTree>
    <p:extLst>
      <p:ext uri="{BB962C8B-B14F-4D97-AF65-F5344CB8AC3E}">
        <p14:creationId xmlns:p14="http://schemas.microsoft.com/office/powerpoint/2010/main" val="4016536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 </a:t>
            </a:r>
            <a:r>
              <a:rPr lang="en-US" altLang="zh-CN" sz="2400" b="1" dirty="0">
                <a:latin typeface="Trebuchet MS" panose="020B0603020202020204" pitchFamily="34" charset="0"/>
              </a:rPr>
              <a:t>Antichain Decomposition Algorithm for </a:t>
            </a:r>
            <a:r>
              <a:rPr lang="en-US" altLang="zh-CN" sz="2400" b="1" dirty="0" err="1">
                <a:latin typeface="Trebuchet MS" panose="020B0603020202020204" pitchFamily="34" charset="0"/>
              </a:rPr>
              <a:t>Poset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10055861" cy="52550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ea typeface="宋体" panose="02010600030101010101" pitchFamily="2" charset="-122"/>
              </a:rPr>
              <a:t>4.9</a:t>
            </a:r>
            <a:r>
              <a:rPr lang="zh-CN" altLang="en-US" sz="2400" b="1" dirty="0">
                <a:latin typeface="Trebuchet MS" panose="020B0603020202020204" pitchFamily="34" charset="0"/>
                <a:ea typeface="宋体" panose="02010600030101010101" pitchFamily="2" charset="-122"/>
              </a:rPr>
              <a:t>：</a:t>
            </a:r>
            <a:r>
              <a:rPr lang="en-US" altLang="zh-CN" sz="2400" dirty="0">
                <a:solidFill>
                  <a:schemeClr val="tx1"/>
                </a:solidFill>
                <a:latin typeface="Trebuchet MS" panose="020B0603020202020204" pitchFamily="34" charset="0"/>
                <a:ea typeface="宋体" panose="02010600030101010101" pitchFamily="2" charset="-122"/>
              </a:rPr>
              <a:t>Let</a:t>
            </a:r>
            <a:r>
              <a:rPr lang="en-US" altLang="zh-CN" sz="2400" b="1" dirty="0">
                <a:solidFill>
                  <a:schemeClr val="tx1"/>
                </a:solidFill>
                <a:latin typeface="Trebuchet MS" panose="020B0603020202020204" pitchFamily="34" charset="0"/>
                <a:ea typeface="宋体" panose="02010600030101010101" pitchFamily="2" charset="-122"/>
              </a:rPr>
              <a:t> &lt;</a:t>
            </a:r>
            <a:r>
              <a:rPr lang="en-US" altLang="zh-CN" sz="2400" b="1" i="1" dirty="0">
                <a:solidFill>
                  <a:schemeClr val="tx1"/>
                </a:solidFill>
                <a:latin typeface="Trebuchet MS" panose="020B0603020202020204" pitchFamily="34" charset="0"/>
                <a:ea typeface="宋体" panose="02010600030101010101" pitchFamily="2" charset="-122"/>
              </a:rPr>
              <a:t>A</a:t>
            </a:r>
            <a:r>
              <a:rPr lang="en-US" altLang="zh-CN" sz="2400" b="1" dirty="0">
                <a:solidFill>
                  <a:schemeClr val="tx1"/>
                </a:solidFill>
                <a:latin typeface="Trebuchet MS" panose="020B0603020202020204" pitchFamily="34" charset="0"/>
                <a:ea typeface="宋体" panose="02010600030101010101" pitchFamily="2" charset="-122"/>
              </a:rPr>
              <a:t>,≼&gt; </a:t>
            </a:r>
            <a:r>
              <a:rPr lang="en-US" sz="2400" dirty="0">
                <a:latin typeface="Trebuchet MS" panose="020B0603020202020204" pitchFamily="34" charset="0"/>
              </a:rPr>
              <a:t>be a </a:t>
            </a:r>
            <a:r>
              <a:rPr lang="en-US" sz="2400" b="1" dirty="0">
                <a:latin typeface="Trebuchet MS" panose="020B0603020202020204" pitchFamily="34" charset="0"/>
              </a:rPr>
              <a:t>partially ordered set (</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sz="2400" dirty="0">
                <a:latin typeface="Trebuchet MS" panose="020B0603020202020204" pitchFamily="34" charset="0"/>
              </a:rPr>
              <a:t>. If the length of the longest chain in </a:t>
            </a:r>
            <a:r>
              <a:rPr lang="en-US" sz="2400" b="1" i="1" dirty="0">
                <a:latin typeface="Trebuchet MS" panose="020B0603020202020204" pitchFamily="34" charset="0"/>
              </a:rPr>
              <a:t>A</a:t>
            </a:r>
            <a:r>
              <a:rPr lang="en-US" sz="2400" dirty="0">
                <a:latin typeface="Trebuchet MS" panose="020B0603020202020204" pitchFamily="34" charset="0"/>
              </a:rPr>
              <a:t> is </a:t>
            </a:r>
            <a:r>
              <a:rPr lang="en-US" sz="2400" b="1" i="1" dirty="0">
                <a:latin typeface="Trebuchet MS" panose="020B0603020202020204" pitchFamily="34" charset="0"/>
              </a:rPr>
              <a:t>n</a:t>
            </a:r>
            <a:r>
              <a:rPr lang="en-US" sz="2400" dirty="0">
                <a:latin typeface="Trebuchet MS" panose="020B0603020202020204" pitchFamily="34" charset="0"/>
              </a:rPr>
              <a:t>, then the </a:t>
            </a:r>
            <a:r>
              <a:rPr lang="en-US" sz="2400" dirty="0" err="1">
                <a:latin typeface="Trebuchet MS" panose="020B0603020202020204" pitchFamily="34" charset="0"/>
              </a:rPr>
              <a:t>poset</a:t>
            </a:r>
            <a:r>
              <a:rPr lang="en-US" sz="2400" dirty="0">
                <a:latin typeface="Trebuchet MS" panose="020B0603020202020204" pitchFamily="34" charset="0"/>
              </a:rPr>
              <a:t> can be decomposed into </a:t>
            </a:r>
            <a:r>
              <a:rPr lang="en-US" sz="2400" b="1" i="1">
                <a:latin typeface="Trebuchet MS" panose="020B0603020202020204" pitchFamily="34" charset="0"/>
              </a:rPr>
              <a:t>n</a:t>
            </a:r>
            <a:r>
              <a:rPr lang="en-US" sz="2400" b="1">
                <a:latin typeface="Trebuchet MS" panose="020B0603020202020204" pitchFamily="34" charset="0"/>
              </a:rPr>
              <a:t> </a:t>
            </a:r>
            <a:r>
              <a:rPr lang="en-US" sz="2400" b="1" i="1">
                <a:latin typeface="Trebuchet MS" panose="020B0603020202020204" pitchFamily="34" charset="0"/>
              </a:rPr>
              <a:t>disjoint </a:t>
            </a:r>
            <a:r>
              <a:rPr lang="en-US" sz="2400" b="1" i="1" dirty="0">
                <a:latin typeface="Trebuchet MS" panose="020B0603020202020204" pitchFamily="34" charset="0"/>
              </a:rPr>
              <a:t>antichains</a:t>
            </a:r>
            <a:r>
              <a:rPr lang="en-US" sz="2400" dirty="0">
                <a:latin typeface="Trebuchet MS" panose="020B0603020202020204" pitchFamily="34" charset="0"/>
              </a:rPr>
              <a:t>. </a:t>
            </a:r>
            <a:endParaRPr lang="en-US" altLang="zh-CN" sz="2400" b="1" dirty="0">
              <a:solidFill>
                <a:schemeClr val="tx1"/>
              </a:solidFill>
              <a:latin typeface="Trebuchet MS" panose="020B0603020202020204" pitchFamily="34" charset="0"/>
              <a:ea typeface="宋体" panose="02010600030101010101" pitchFamily="2" charset="-122"/>
            </a:endParaRPr>
          </a:p>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Algorithm 4.2: Antichain Decomposition Algorithm for </a:t>
            </a:r>
            <a:r>
              <a:rPr lang="en-US" sz="2400" b="1" dirty="0" err="1">
                <a:latin typeface="Trebuchet MS" panose="020B0603020202020204" pitchFamily="34" charset="0"/>
              </a:rPr>
              <a:t>Posets</a:t>
            </a:r>
            <a:r>
              <a:rPr lang="en-US" sz="2400" b="1" dirty="0">
                <a:latin typeface="Trebuchet MS" panose="020B0603020202020204" pitchFamily="34" charset="0"/>
              </a:rPr>
              <a:t>.</a:t>
            </a:r>
            <a:endParaRPr lang="en-US" sz="2400" dirty="0">
              <a:latin typeface="Trebuchet MS" panose="020B0603020202020204" pitchFamily="34" charset="0"/>
            </a:endParaRPr>
          </a:p>
          <a:p>
            <a:pPr indent="125413" eaLnBrk="1" hangingPunct="1">
              <a:lnSpc>
                <a:spcPct val="120000"/>
              </a:lnSpc>
              <a:spcBef>
                <a:spcPts val="300"/>
              </a:spcBef>
              <a:buFontTx/>
              <a:buNone/>
            </a:pPr>
            <a:r>
              <a:rPr lang="en-US" sz="2400" b="1" dirty="0">
                <a:latin typeface="Trebuchet MS" panose="020B0603020202020204" pitchFamily="34" charset="0"/>
              </a:rPr>
              <a:t>Input</a:t>
            </a:r>
            <a:r>
              <a:rPr lang="en-US" sz="2400" dirty="0">
                <a:latin typeface="Trebuchet MS" panose="020B0603020202020204" pitchFamily="34" charset="0"/>
              </a:rPr>
              <a:t>: A partially ordered set </a:t>
            </a:r>
            <a:r>
              <a:rPr lang="en-US" altLang="zh-CN" sz="2400" i="1" dirty="0">
                <a:latin typeface="Trebuchet MS" panose="020B0603020202020204" pitchFamily="34" charset="0"/>
              </a:rPr>
              <a:t>A</a:t>
            </a:r>
            <a:endParaRPr lang="en-US" altLang="zh-CN" sz="2400" dirty="0">
              <a:latin typeface="Trebuchet MS" panose="020B0603020202020204" pitchFamily="34" charset="0"/>
            </a:endParaRPr>
          </a:p>
          <a:p>
            <a:pPr indent="125413" eaLnBrk="1" hangingPunct="1">
              <a:lnSpc>
                <a:spcPct val="120000"/>
              </a:lnSpc>
              <a:spcBef>
                <a:spcPts val="300"/>
              </a:spcBef>
              <a:buFontTx/>
              <a:buNone/>
            </a:pPr>
            <a:r>
              <a:rPr lang="en-US" sz="2400" b="1" dirty="0">
                <a:latin typeface="Trebuchet MS" panose="020B0603020202020204" pitchFamily="34" charset="0"/>
              </a:rPr>
              <a:t>Output</a:t>
            </a:r>
            <a:r>
              <a:rPr lang="en-US" sz="2400" dirty="0">
                <a:latin typeface="Trebuchet MS" panose="020B0603020202020204" pitchFamily="34" charset="0"/>
              </a:rPr>
              <a:t>: Antichains </a:t>
            </a:r>
            <a:r>
              <a:rPr lang="en-US" sz="2400" i="1" dirty="0">
                <a:latin typeface="Trebuchet MS" panose="020B0603020202020204" pitchFamily="34" charset="0"/>
              </a:rPr>
              <a:t>B</a:t>
            </a:r>
            <a:r>
              <a:rPr lang="en-US" sz="2400" baseline="-25000" dirty="0">
                <a:latin typeface="Trebuchet MS" panose="020B0603020202020204" pitchFamily="34" charset="0"/>
              </a:rPr>
              <a:t>1</a:t>
            </a:r>
            <a:r>
              <a:rPr lang="en-US" sz="2400" dirty="0">
                <a:latin typeface="Trebuchet MS" panose="020B0603020202020204" pitchFamily="34" charset="0"/>
              </a:rPr>
              <a:t>,</a:t>
            </a:r>
            <a:r>
              <a:rPr lang="en-US" altLang="zh-CN" sz="2400" i="1" dirty="0">
                <a:latin typeface="Trebuchet MS" panose="020B0603020202020204" pitchFamily="34" charset="0"/>
              </a:rPr>
              <a:t> B</a:t>
            </a:r>
            <a:r>
              <a:rPr lang="en-US" altLang="zh-CN" sz="2400" baseline="-25000" dirty="0">
                <a:latin typeface="Trebuchet MS" panose="020B0603020202020204" pitchFamily="34" charset="0"/>
              </a:rPr>
              <a:t>2</a:t>
            </a:r>
            <a:r>
              <a:rPr lang="en-US" sz="2400" dirty="0">
                <a:latin typeface="Trebuchet MS" panose="020B0603020202020204" pitchFamily="34" charset="0"/>
              </a:rPr>
              <a:t>, …</a:t>
            </a:r>
          </a:p>
          <a:p>
            <a:pPr indent="125413" eaLnBrk="1" hangingPunct="1">
              <a:lnSpc>
                <a:spcPct val="100000"/>
              </a:lnSpc>
              <a:spcBef>
                <a:spcPts val="300"/>
              </a:spcBef>
              <a:buFontTx/>
              <a:buNone/>
            </a:pPr>
            <a:r>
              <a:rPr lang="en-US" altLang="zh-CN" sz="2400" b="1" dirty="0">
                <a:latin typeface="Trebuchet MS" panose="020B0603020202020204" pitchFamily="34" charset="0"/>
              </a:rPr>
              <a:t>1</a:t>
            </a:r>
            <a:r>
              <a:rPr lang="zh-CN" altLang="en-US" sz="2400" b="1" dirty="0">
                <a:latin typeface="Trebuchet MS" panose="020B0603020202020204" pitchFamily="34" charset="0"/>
              </a:rPr>
              <a:t>．</a:t>
            </a:r>
            <a:r>
              <a:rPr lang="en-US" altLang="zh-CN" sz="2400" b="1" i="1"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a:t>
            </a:r>
          </a:p>
          <a:p>
            <a:pPr indent="125413" eaLnBrk="1" hangingPunct="1">
              <a:lnSpc>
                <a:spcPct val="100000"/>
              </a:lnSpc>
              <a:spcBef>
                <a:spcPts val="300"/>
              </a:spcBef>
              <a:buFontTx/>
              <a:buNone/>
            </a:pPr>
            <a:r>
              <a:rPr lang="en-US" altLang="zh-CN" sz="2400" b="1" dirty="0">
                <a:latin typeface="Trebuchet MS" panose="020B0603020202020204" pitchFamily="34" charset="0"/>
              </a:rPr>
              <a:t>2</a:t>
            </a:r>
            <a:r>
              <a:rPr lang="zh-CN" altLang="en-US" sz="2400" b="1" dirty="0">
                <a:latin typeface="Trebuchet MS" panose="020B0603020202020204" pitchFamily="34" charset="0"/>
              </a:rPr>
              <a:t>．</a:t>
            </a:r>
            <a:r>
              <a:rPr lang="en-US" altLang="zh-CN" sz="2400" b="1" i="1" dirty="0" err="1">
                <a:latin typeface="Trebuchet MS" panose="020B0603020202020204" pitchFamily="34" charset="0"/>
              </a:rPr>
              <a:t>B</a:t>
            </a:r>
            <a:r>
              <a:rPr lang="en-US" altLang="zh-CN" sz="2400" b="1" i="1" baseline="-25000" dirty="0" err="1">
                <a:latin typeface="Trebuchet MS" panose="020B0603020202020204" pitchFamily="34" charset="0"/>
              </a:rPr>
              <a:t>i</a:t>
            </a:r>
            <a:r>
              <a:rPr lang="en-US" altLang="zh-CN" sz="2400" b="1" dirty="0" err="1">
                <a:latin typeface="Trebuchet MS" panose="020B0603020202020204" pitchFamily="34" charset="0"/>
                <a:sym typeface="Symbol" panose="05050102010706020507" pitchFamily="18" charset="2"/>
              </a:rPr>
              <a:t></a:t>
            </a:r>
            <a:r>
              <a:rPr lang="en-US" sz="2400" dirty="0" err="1">
                <a:latin typeface="Trebuchet MS" panose="020B0603020202020204" pitchFamily="34" charset="0"/>
              </a:rPr>
              <a:t>the</a:t>
            </a:r>
            <a:r>
              <a:rPr lang="en-US" sz="2400" dirty="0">
                <a:latin typeface="Trebuchet MS" panose="020B0603020202020204" pitchFamily="34" charset="0"/>
              </a:rPr>
              <a:t> set of all </a:t>
            </a:r>
            <a:r>
              <a:rPr lang="en-US" sz="2400" b="1" dirty="0">
                <a:latin typeface="Trebuchet MS" panose="020B0603020202020204" pitchFamily="34" charset="0"/>
              </a:rPr>
              <a:t>maximal elements</a:t>
            </a:r>
            <a:r>
              <a:rPr lang="en-US" sz="2400" dirty="0">
                <a:latin typeface="Trebuchet MS" panose="020B0603020202020204" pitchFamily="34" charset="0"/>
              </a:rPr>
              <a:t> in A (which is an antichain)</a:t>
            </a:r>
          </a:p>
          <a:p>
            <a:pPr indent="125413" eaLnBrk="1" hangingPunct="1">
              <a:lnSpc>
                <a:spcPct val="100000"/>
              </a:lnSpc>
              <a:spcBef>
                <a:spcPts val="300"/>
              </a:spcBef>
              <a:buFontTx/>
              <a:buNone/>
            </a:pPr>
            <a:r>
              <a:rPr lang="en-US" altLang="zh-CN" sz="2400" b="1" dirty="0">
                <a:latin typeface="Trebuchet MS" panose="020B0603020202020204" pitchFamily="34" charset="0"/>
              </a:rPr>
              <a:t>3</a:t>
            </a:r>
            <a:r>
              <a:rPr lang="zh-CN" altLang="en-US"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i="1" baseline="-25000" dirty="0" err="1">
                <a:latin typeface="Trebuchet MS" panose="020B0603020202020204" pitchFamily="34" charset="0"/>
              </a:rPr>
              <a:t>i</a:t>
            </a:r>
            <a:endParaRPr lang="en-US" altLang="zh-CN" sz="2400" b="1" baseline="-25000" dirty="0">
              <a:latin typeface="Trebuchet MS" panose="020B0603020202020204" pitchFamily="34" charset="0"/>
            </a:endParaRPr>
          </a:p>
          <a:p>
            <a:pPr indent="125413" eaLnBrk="1" hangingPunct="1">
              <a:lnSpc>
                <a:spcPct val="100000"/>
              </a:lnSpc>
              <a:spcBef>
                <a:spcPts val="300"/>
              </a:spcBef>
              <a:buFontTx/>
              <a:buNone/>
            </a:pPr>
            <a:r>
              <a:rPr lang="en-US" altLang="zh-CN" sz="2400" b="1" dirty="0">
                <a:latin typeface="Trebuchet MS" panose="020B0603020202020204" pitchFamily="34" charset="0"/>
              </a:rPr>
              <a:t>4</a:t>
            </a:r>
            <a:r>
              <a:rPr lang="zh-CN" altLang="en-US" sz="2400" b="1" dirty="0">
                <a:latin typeface="Trebuchet MS" panose="020B0603020202020204" pitchFamily="34" charset="0"/>
              </a:rPr>
              <a:t>．</a:t>
            </a:r>
            <a:r>
              <a:rPr lang="en-US" altLang="zh-CN" sz="2400" b="1" dirty="0">
                <a:latin typeface="Trebuchet MS" panose="020B0603020202020204" pitchFamily="34" charset="0"/>
              </a:rPr>
              <a:t>if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 </a:t>
            </a:r>
            <a:endParaRPr lang="en-US" altLang="zh-CN" sz="2400" b="1" dirty="0">
              <a:latin typeface="Trebuchet MS" panose="020B0603020202020204" pitchFamily="34" charset="0"/>
            </a:endParaRPr>
          </a:p>
          <a:p>
            <a:pPr indent="125413" eaLnBrk="1" hangingPunct="1">
              <a:lnSpc>
                <a:spcPct val="100000"/>
              </a:lnSpc>
              <a:spcBef>
                <a:spcPts val="300"/>
              </a:spcBef>
              <a:buFontTx/>
              <a:buNone/>
            </a:pPr>
            <a:r>
              <a:rPr lang="en-US" altLang="zh-CN" sz="2400" b="1" dirty="0">
                <a:latin typeface="Trebuchet MS" panose="020B0603020202020204" pitchFamily="34" charset="0"/>
              </a:rPr>
              <a:t>5</a:t>
            </a:r>
            <a:r>
              <a:rPr lang="zh-CN" altLang="en-US" sz="2400" b="1" dirty="0">
                <a:latin typeface="Trebuchet MS" panose="020B0603020202020204" pitchFamily="34" charset="0"/>
              </a:rPr>
              <a:t>．   </a:t>
            </a:r>
            <a:r>
              <a:rPr lang="en-US" altLang="zh-CN" sz="2400" b="1" i="1"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dirty="0">
                <a:latin typeface="Trebuchet MS" panose="020B0603020202020204" pitchFamily="34" charset="0"/>
              </a:rPr>
              <a:t>+1</a:t>
            </a:r>
          </a:p>
          <a:p>
            <a:pPr indent="125413" eaLnBrk="1" hangingPunct="1">
              <a:lnSpc>
                <a:spcPct val="100000"/>
              </a:lnSpc>
              <a:spcBef>
                <a:spcPts val="300"/>
              </a:spcBef>
              <a:buFontTx/>
              <a:buNone/>
            </a:pPr>
            <a:r>
              <a:rPr lang="en-US" altLang="zh-CN" sz="2400" b="1" dirty="0">
                <a:latin typeface="Trebuchet MS" panose="020B0603020202020204" pitchFamily="34" charset="0"/>
              </a:rPr>
              <a:t>6</a:t>
            </a:r>
            <a:r>
              <a:rPr lang="zh-CN" altLang="en-US" sz="2400" b="1" dirty="0">
                <a:latin typeface="Trebuchet MS" panose="020B0603020202020204" pitchFamily="34" charset="0"/>
              </a:rPr>
              <a:t>．   </a:t>
            </a:r>
            <a:r>
              <a:rPr lang="en-US" altLang="zh-CN" sz="2400" b="1" dirty="0">
                <a:latin typeface="Trebuchet MS" panose="020B0603020202020204" pitchFamily="34" charset="0"/>
              </a:rPr>
              <a:t>Go to 2</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rPr>
              <a:t> </a:t>
            </a:r>
            <a:endParaRPr lang="zh-CN" altLang="en-US" sz="2400" b="1" dirty="0">
              <a:solidFill>
                <a:srgbClr val="000066"/>
              </a:solidFill>
              <a:latin typeface="Trebuchet MS" panose="020B0603020202020204" pitchFamily="34" charset="0"/>
            </a:endParaRPr>
          </a:p>
        </p:txBody>
      </p:sp>
    </p:spTree>
    <p:extLst>
      <p:ext uri="{BB962C8B-B14F-4D97-AF65-F5344CB8AC3E}">
        <p14:creationId xmlns:p14="http://schemas.microsoft.com/office/powerpoint/2010/main" val="21421926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8">
                                            <p:txEl>
                                              <p:pRg st="8" end="8"/>
                                            </p:txEl>
                                          </p:spTgt>
                                        </p:tgtEl>
                                        <p:attrNameLst>
                                          <p:attrName>style.visibility</p:attrName>
                                        </p:attrNameLst>
                                      </p:cBhvr>
                                      <p:to>
                                        <p:strVal val="visible"/>
                                      </p:to>
                                    </p:set>
                                    <p:animEffect transition="in" filter="fade">
                                      <p:cBhvr>
                                        <p:cTn id="48" dur="1000"/>
                                        <p:tgtEl>
                                          <p:spTgt spid="8">
                                            <p:txEl>
                                              <p:pRg st="8" end="8"/>
                                            </p:txEl>
                                          </p:spTgt>
                                        </p:tgtEl>
                                      </p:cBhvr>
                                    </p:animEffect>
                                    <p:anim calcmode="lin" valueType="num">
                                      <p:cBhvr>
                                        <p:cTn id="49"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8">
                                            <p:txEl>
                                              <p:pRg st="9" end="9"/>
                                            </p:txEl>
                                          </p:spTgt>
                                        </p:tgtEl>
                                        <p:attrNameLst>
                                          <p:attrName>style.visibility</p:attrName>
                                        </p:attrNameLst>
                                      </p:cBhvr>
                                      <p:to>
                                        <p:strVal val="visible"/>
                                      </p:to>
                                    </p:set>
                                    <p:animEffect transition="in" filter="fade">
                                      <p:cBhvr>
                                        <p:cTn id="53" dur="1000"/>
                                        <p:tgtEl>
                                          <p:spTgt spid="8">
                                            <p:txEl>
                                              <p:pRg st="9" end="9"/>
                                            </p:txEl>
                                          </p:spTgt>
                                        </p:tgtEl>
                                      </p:cBhvr>
                                    </p:animEffect>
                                    <p:anim calcmode="lin" valueType="num">
                                      <p:cBhvr>
                                        <p:cTn id="54"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 </a:t>
            </a:r>
            <a:r>
              <a:rPr lang="en-US" altLang="zh-CN" sz="2400" b="1" dirty="0">
                <a:latin typeface="Trebuchet MS" panose="020B0603020202020204" pitchFamily="34" charset="0"/>
              </a:rPr>
              <a:t>Topological Sorting - Extending a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to a Total Order</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9" y="859974"/>
            <a:ext cx="9343936" cy="5497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Topological Sorting: </a:t>
            </a:r>
            <a:r>
              <a:rPr lang="en-US" sz="2400" dirty="0">
                <a:latin typeface="Trebuchet MS" panose="020B0603020202020204" pitchFamily="34" charset="0"/>
              </a:rPr>
              <a:t>Expanding a </a:t>
            </a:r>
            <a:r>
              <a:rPr lang="en-US" sz="2400" b="1" dirty="0">
                <a:latin typeface="Trebuchet MS" panose="020B0603020202020204" pitchFamily="34" charset="0"/>
              </a:rPr>
              <a:t>partially ordered set (</a:t>
            </a:r>
            <a:r>
              <a:rPr lang="en-US" sz="2400" b="1" dirty="0" err="1">
                <a:latin typeface="Trebuchet MS" panose="020B0603020202020204" pitchFamily="34" charset="0"/>
              </a:rPr>
              <a:t>poset</a:t>
            </a:r>
            <a:r>
              <a:rPr lang="en-US" sz="2400" b="1" dirty="0">
                <a:latin typeface="Trebuchet MS" panose="020B0603020202020204" pitchFamily="34" charset="0"/>
              </a:rPr>
              <a:t>)</a:t>
            </a:r>
            <a:r>
              <a:rPr lang="en-US" sz="2400" dirty="0">
                <a:latin typeface="Trebuchet MS" panose="020B0603020202020204" pitchFamily="34" charset="0"/>
              </a:rPr>
              <a:t> into a </a:t>
            </a:r>
            <a:r>
              <a:rPr lang="en-US" sz="2400" b="1" dirty="0">
                <a:latin typeface="Trebuchet MS" panose="020B0603020202020204" pitchFamily="34" charset="0"/>
              </a:rPr>
              <a:t>totally ordered set</a:t>
            </a:r>
            <a:r>
              <a:rPr lang="en-US" sz="2400" dirty="0">
                <a:latin typeface="Trebuchet MS" panose="020B0603020202020204" pitchFamily="34" charset="0"/>
              </a:rPr>
              <a:t> is called </a:t>
            </a:r>
            <a:r>
              <a:rPr lang="en-US" sz="2400" b="1" i="1" dirty="0">
                <a:latin typeface="Trebuchet MS" panose="020B0603020202020204" pitchFamily="34" charset="0"/>
              </a:rPr>
              <a:t>topological sorting</a:t>
            </a:r>
            <a:r>
              <a:rPr lang="en-US" sz="2400" dirty="0">
                <a:latin typeface="Trebuchet MS" panose="020B0603020202020204" pitchFamily="34" charset="0"/>
              </a:rPr>
              <a:t>.</a:t>
            </a:r>
          </a:p>
          <a:p>
            <a:pPr>
              <a:lnSpc>
                <a:spcPct val="120000"/>
              </a:lnSpc>
              <a:spcBef>
                <a:spcPts val="300"/>
              </a:spcBef>
              <a:buClr>
                <a:srgbClr val="0B5BFF"/>
              </a:buClr>
              <a:buSzPct val="80000"/>
              <a:buFont typeface="Wingdings" panose="05000000000000000000" pitchFamily="2" charset="2"/>
              <a:buChar char="n"/>
            </a:pPr>
            <a:r>
              <a:rPr lang="en-US" sz="2400" b="1" dirty="0">
                <a:latin typeface="Trebuchet MS" panose="020B0603020202020204" pitchFamily="34" charset="0"/>
              </a:rPr>
              <a:t>Algorithm 4.3: Topological Sorting</a:t>
            </a:r>
            <a:endParaRPr lang="en-US" sz="2400" dirty="0">
              <a:latin typeface="Trebuchet MS" panose="020B0603020202020204" pitchFamily="34" charset="0"/>
            </a:endParaRPr>
          </a:p>
          <a:p>
            <a:pPr indent="34925" eaLnBrk="1" hangingPunct="1">
              <a:lnSpc>
                <a:spcPct val="120000"/>
              </a:lnSpc>
              <a:spcBef>
                <a:spcPts val="300"/>
              </a:spcBef>
              <a:buFontTx/>
              <a:buNone/>
            </a:pPr>
            <a:r>
              <a:rPr lang="en-US" sz="2400" b="1" dirty="0">
                <a:latin typeface="Trebuchet MS" panose="020B0603020202020204" pitchFamily="34" charset="0"/>
              </a:rPr>
              <a:t>Input</a:t>
            </a:r>
            <a:r>
              <a:rPr lang="en-US" sz="2400" dirty="0">
                <a:latin typeface="Trebuchet MS" panose="020B0603020202020204" pitchFamily="34" charset="0"/>
              </a:rPr>
              <a:t>: A partially ordered set </a:t>
            </a:r>
            <a:r>
              <a:rPr lang="en-US" sz="2400" b="1" i="1" dirty="0">
                <a:latin typeface="Trebuchet MS" panose="020B0603020202020204" pitchFamily="34" charset="0"/>
              </a:rPr>
              <a:t>A</a:t>
            </a:r>
            <a:br>
              <a:rPr lang="en-US" sz="2400" dirty="0">
                <a:latin typeface="Trebuchet MS" panose="020B0603020202020204" pitchFamily="34" charset="0"/>
              </a:rPr>
            </a:br>
            <a:r>
              <a:rPr lang="en-US" sz="2400" b="1" dirty="0">
                <a:latin typeface="Trebuchet MS" panose="020B0603020202020204" pitchFamily="34" charset="0"/>
              </a:rPr>
              <a:t>Output</a:t>
            </a:r>
            <a:r>
              <a:rPr lang="en-US" sz="2400" dirty="0">
                <a:latin typeface="Trebuchet MS" panose="020B0603020202020204" pitchFamily="34" charset="0"/>
              </a:rPr>
              <a:t>: A sorted order of elements in </a:t>
            </a:r>
            <a:r>
              <a:rPr lang="en-US" sz="2400" b="1" i="1" dirty="0">
                <a:latin typeface="Trebuchet MS" panose="020B0603020202020204" pitchFamily="34" charset="0"/>
              </a:rPr>
              <a:t>A</a:t>
            </a:r>
          </a:p>
          <a:p>
            <a:pPr eaLnBrk="1" hangingPunct="1">
              <a:lnSpc>
                <a:spcPct val="100000"/>
              </a:lnSpc>
              <a:spcBef>
                <a:spcPts val="300"/>
              </a:spcBef>
              <a:buFontTx/>
              <a:buNone/>
            </a:pPr>
            <a:r>
              <a:rPr lang="en-US" altLang="zh-CN" sz="2400" b="1" dirty="0">
                <a:latin typeface="Trebuchet MS" panose="020B0603020202020204" pitchFamily="34" charset="0"/>
              </a:rPr>
              <a:t>1.</a:t>
            </a:r>
            <a:r>
              <a:rPr lang="en-US" altLang="zh-CN" sz="2400" b="1" i="1" dirty="0">
                <a:latin typeface="Trebuchet MS" panose="020B0603020202020204" pitchFamily="34" charset="0"/>
              </a:rPr>
              <a:t>   i</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a:t>
            </a:r>
          </a:p>
          <a:p>
            <a:pPr marL="446088" indent="-446088" eaLnBrk="1" hangingPunct="1">
              <a:lnSpc>
                <a:spcPct val="100000"/>
              </a:lnSpc>
              <a:spcBef>
                <a:spcPts val="300"/>
              </a:spcBef>
              <a:buFontTx/>
              <a:buNone/>
              <a:tabLst>
                <a:tab pos="446088" algn="l"/>
              </a:tabLst>
            </a:pPr>
            <a:r>
              <a:rPr lang="en-US" altLang="zh-CN" sz="2400" b="1" dirty="0">
                <a:latin typeface="Trebuchet MS" panose="020B0603020202020204" pitchFamily="34" charset="0"/>
              </a:rPr>
              <a:t>2. </a:t>
            </a:r>
            <a:r>
              <a:rPr lang="en-US" sz="2400" dirty="0">
                <a:latin typeface="Trebuchet MS" panose="020B0603020202020204" pitchFamily="34" charset="0"/>
              </a:rPr>
              <a:t>Select a </a:t>
            </a:r>
            <a:r>
              <a:rPr lang="en-US" sz="2400" b="1" dirty="0">
                <a:latin typeface="Trebuchet MS" panose="020B0603020202020204" pitchFamily="34" charset="0"/>
              </a:rPr>
              <a:t>minimal element</a:t>
            </a:r>
            <a:r>
              <a:rPr lang="en-US" sz="2400"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i="1" baseline="-25000" dirty="0">
                <a:latin typeface="Trebuchet MS" panose="020B0603020202020204" pitchFamily="34" charset="0"/>
              </a:rPr>
              <a:t>i </a:t>
            </a:r>
            <a:r>
              <a:rPr lang="en-US" sz="2400" dirty="0">
                <a:latin typeface="Trebuchet MS" panose="020B0603020202020204" pitchFamily="34" charset="0"/>
              </a:rPr>
              <a:t>from A and consider it the</a:t>
            </a:r>
          </a:p>
          <a:p>
            <a:pPr marL="446088" indent="-446088" eaLnBrk="1" hangingPunct="1">
              <a:lnSpc>
                <a:spcPct val="100000"/>
              </a:lnSpc>
              <a:spcBef>
                <a:spcPts val="300"/>
              </a:spcBef>
              <a:buFontTx/>
              <a:buNone/>
              <a:tabLst>
                <a:tab pos="446088" algn="l"/>
              </a:tabLst>
            </a:pPr>
            <a:r>
              <a:rPr lang="en-US" sz="2400" b="1" dirty="0">
                <a:latin typeface="Trebuchet MS" panose="020B0603020202020204" pitchFamily="34" charset="0"/>
              </a:rPr>
              <a:t>    smallest element</a:t>
            </a:r>
          </a:p>
          <a:p>
            <a:pPr eaLnBrk="1" hangingPunct="1">
              <a:lnSpc>
                <a:spcPct val="100000"/>
              </a:lnSpc>
              <a:spcBef>
                <a:spcPts val="300"/>
              </a:spcBef>
              <a:buFontTx/>
              <a:buNone/>
            </a:pPr>
            <a:r>
              <a:rPr lang="en-US" altLang="zh-CN" sz="2400" b="1" dirty="0">
                <a:latin typeface="Trebuchet MS" panose="020B0603020202020204" pitchFamily="34" charset="0"/>
              </a:rPr>
              <a:t>3</a:t>
            </a:r>
            <a:r>
              <a:rPr lang="zh-CN" altLang="en-US"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25000" dirty="0">
                <a:latin typeface="Trebuchet MS" panose="020B0603020202020204" pitchFamily="34" charset="0"/>
              </a:rPr>
              <a:t>i</a:t>
            </a:r>
            <a:r>
              <a:rPr lang="en-US" altLang="zh-CN" sz="2400" b="1" dirty="0">
                <a:latin typeface="Trebuchet MS" panose="020B0603020202020204" pitchFamily="34" charset="0"/>
              </a:rPr>
              <a:t>}</a:t>
            </a:r>
          </a:p>
          <a:p>
            <a:pPr eaLnBrk="1" hangingPunct="1">
              <a:lnSpc>
                <a:spcPct val="100000"/>
              </a:lnSpc>
              <a:spcBef>
                <a:spcPts val="300"/>
              </a:spcBef>
              <a:buFontTx/>
              <a:buNone/>
            </a:pPr>
            <a:r>
              <a:rPr lang="en-US" altLang="zh-CN" sz="2400" b="1" dirty="0">
                <a:latin typeface="Trebuchet MS" panose="020B0603020202020204" pitchFamily="34" charset="0"/>
              </a:rPr>
              <a:t>4</a:t>
            </a:r>
            <a:r>
              <a:rPr lang="zh-CN" altLang="en-US" sz="2400" b="1" dirty="0">
                <a:latin typeface="Trebuchet MS" panose="020B0603020202020204" pitchFamily="34" charset="0"/>
              </a:rPr>
              <a:t>．</a:t>
            </a:r>
            <a:r>
              <a:rPr lang="en-US" altLang="zh-CN" sz="2400" b="1" dirty="0">
                <a:latin typeface="Trebuchet MS" panose="020B0603020202020204" pitchFamily="34" charset="0"/>
              </a:rPr>
              <a:t>if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endParaRPr lang="en-US" altLang="zh-CN" sz="2400" b="1" dirty="0">
              <a:latin typeface="Trebuchet MS" panose="020B0603020202020204" pitchFamily="34" charset="0"/>
            </a:endParaRPr>
          </a:p>
          <a:p>
            <a:pPr eaLnBrk="1" hangingPunct="1">
              <a:lnSpc>
                <a:spcPct val="100000"/>
              </a:lnSpc>
              <a:spcBef>
                <a:spcPts val="300"/>
              </a:spcBef>
              <a:buFontTx/>
              <a:buNone/>
            </a:pPr>
            <a:r>
              <a:rPr lang="en-US" altLang="zh-CN" sz="2400" b="1" dirty="0">
                <a:latin typeface="Trebuchet MS" panose="020B0603020202020204" pitchFamily="34" charset="0"/>
              </a:rPr>
              <a:t>5</a:t>
            </a:r>
            <a:r>
              <a:rPr lang="zh-CN" altLang="en-US" sz="2400" b="1" dirty="0">
                <a:latin typeface="Trebuchet MS" panose="020B0603020202020204" pitchFamily="34" charset="0"/>
              </a:rPr>
              <a:t>．    </a:t>
            </a:r>
            <a:r>
              <a:rPr lang="en-US" altLang="zh-CN" sz="2400" b="1" i="1" dirty="0">
                <a:latin typeface="Trebuchet MS" panose="020B0603020202020204" pitchFamily="34" charset="0"/>
              </a:rPr>
              <a:t>i</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dirty="0">
                <a:latin typeface="Trebuchet MS" panose="020B0603020202020204" pitchFamily="34" charset="0"/>
              </a:rPr>
              <a:t>+1</a:t>
            </a:r>
          </a:p>
          <a:p>
            <a:pPr eaLnBrk="1" hangingPunct="1">
              <a:lnSpc>
                <a:spcPct val="100000"/>
              </a:lnSpc>
              <a:spcBef>
                <a:spcPts val="300"/>
              </a:spcBef>
              <a:buFontTx/>
              <a:buNone/>
            </a:pPr>
            <a:r>
              <a:rPr lang="en-US" altLang="zh-CN" sz="2400" b="1" dirty="0">
                <a:latin typeface="Trebuchet MS" panose="020B0603020202020204" pitchFamily="34" charset="0"/>
              </a:rPr>
              <a:t>6</a:t>
            </a:r>
            <a:r>
              <a:rPr lang="zh-CN" altLang="en-US" sz="2400" b="1" dirty="0">
                <a:latin typeface="Trebuchet MS" panose="020B0603020202020204" pitchFamily="34" charset="0"/>
              </a:rPr>
              <a:t>．    </a:t>
            </a:r>
            <a:r>
              <a:rPr lang="en-US" altLang="zh-CN" sz="2400" b="1" dirty="0">
                <a:latin typeface="Trebuchet MS" panose="020B0603020202020204" pitchFamily="34" charset="0"/>
              </a:rPr>
              <a:t>Go to 2</a:t>
            </a:r>
            <a:endParaRPr lang="zh-CN" altLang="en-US" sz="2400" b="1" dirty="0">
              <a:latin typeface="Trebuchet MS" panose="020B0603020202020204" pitchFamily="34" charset="0"/>
            </a:endParaRPr>
          </a:p>
          <a:p>
            <a:pPr marL="0" indent="0">
              <a:lnSpc>
                <a:spcPct val="120000"/>
              </a:lnSpc>
              <a:spcBef>
                <a:spcPts val="300"/>
              </a:spcBef>
              <a:buNone/>
            </a:pPr>
            <a:r>
              <a:rPr lang="en-US" altLang="zh-CN" sz="2400" b="1" dirty="0">
                <a:latin typeface="Trebuchet MS" panose="020B0603020202020204" pitchFamily="34" charset="0"/>
                <a:ea typeface="宋体" panose="02010600030101010101" pitchFamily="2" charset="-122"/>
              </a:rPr>
              <a:t> </a:t>
            </a:r>
            <a:endParaRPr lang="zh-CN" altLang="en-US" sz="2400" b="1" dirty="0">
              <a:latin typeface="Trebuchet MS" panose="020B0603020202020204" pitchFamily="34" charset="0"/>
              <a:ea typeface="宋体" panose="02010600030101010101" pitchFamily="2" charset="-122"/>
            </a:endParaRPr>
          </a:p>
          <a:p>
            <a:pPr marL="0" indent="0">
              <a:lnSpc>
                <a:spcPct val="120000"/>
              </a:lnSpc>
              <a:spcBef>
                <a:spcPts val="300"/>
              </a:spcBef>
              <a:buNone/>
            </a:pPr>
            <a:endParaRPr lang="en-US" altLang="zh-CN" sz="2400" b="1" dirty="0">
              <a:solidFill>
                <a:schemeClr val="tx1"/>
              </a:solidFill>
              <a:latin typeface="Trebuchet MS" panose="020B0603020202020204" pitchFamily="34" charset="0"/>
              <a:ea typeface="宋体" panose="02010600030101010101" pitchFamily="2" charset="-122"/>
            </a:endParaRPr>
          </a:p>
          <a:p>
            <a:pPr eaLnBrk="1" hangingPunct="1">
              <a:lnSpc>
                <a:spcPct val="120000"/>
              </a:lnSpc>
              <a:spcBef>
                <a:spcPts val="300"/>
              </a:spcBef>
              <a:buFontTx/>
              <a:buNone/>
            </a:pPr>
            <a:endParaRPr lang="zh-CN" altLang="en-US" sz="2400" b="1" dirty="0">
              <a:solidFill>
                <a:srgbClr val="000066"/>
              </a:solidFill>
              <a:latin typeface="Trebuchet MS" panose="020B0603020202020204" pitchFamily="34" charset="0"/>
            </a:endParaRPr>
          </a:p>
        </p:txBody>
      </p:sp>
    </p:spTree>
    <p:extLst>
      <p:ext uri="{BB962C8B-B14F-4D97-AF65-F5344CB8AC3E}">
        <p14:creationId xmlns:p14="http://schemas.microsoft.com/office/powerpoint/2010/main" val="1079582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8">
                                            <p:txEl>
                                              <p:pRg st="8" end="8"/>
                                            </p:txEl>
                                          </p:spTgt>
                                        </p:tgtEl>
                                        <p:attrNameLst>
                                          <p:attrName>style.visibility</p:attrName>
                                        </p:attrNameLst>
                                      </p:cBhvr>
                                      <p:to>
                                        <p:strVal val="visible"/>
                                      </p:to>
                                    </p:set>
                                    <p:animEffect transition="in" filter="fade">
                                      <p:cBhvr>
                                        <p:cTn id="48" dur="1000"/>
                                        <p:tgtEl>
                                          <p:spTgt spid="8">
                                            <p:txEl>
                                              <p:pRg st="8" end="8"/>
                                            </p:txEl>
                                          </p:spTgt>
                                        </p:tgtEl>
                                      </p:cBhvr>
                                    </p:animEffect>
                                    <p:anim calcmode="lin" valueType="num">
                                      <p:cBhvr>
                                        <p:cTn id="49"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8">
                                            <p:txEl>
                                              <p:pRg st="9" end="9"/>
                                            </p:txEl>
                                          </p:spTgt>
                                        </p:tgtEl>
                                        <p:attrNameLst>
                                          <p:attrName>style.visibility</p:attrName>
                                        </p:attrNameLst>
                                      </p:cBhvr>
                                      <p:to>
                                        <p:strVal val="visible"/>
                                      </p:to>
                                    </p:set>
                                    <p:animEffect transition="in" filter="fade">
                                      <p:cBhvr>
                                        <p:cTn id="53" dur="1000"/>
                                        <p:tgtEl>
                                          <p:spTgt spid="8">
                                            <p:txEl>
                                              <p:pRg st="9" end="9"/>
                                            </p:txEl>
                                          </p:spTgt>
                                        </p:tgtEl>
                                      </p:cBhvr>
                                    </p:animEffect>
                                    <p:anim calcmode="lin" valueType="num">
                                      <p:cBhvr>
                                        <p:cTn id="54"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eaLnBrk="1" hangingPunct="1">
              <a:lnSpc>
                <a:spcPct val="110000"/>
              </a:lnSpc>
              <a:buClr>
                <a:srgbClr val="0B5B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4.4.5 </a:t>
            </a:r>
            <a:r>
              <a:rPr lang="en-US" altLang="zh-CN" sz="2000" b="1" dirty="0">
                <a:solidFill>
                  <a:srgbClr val="0B5BFF"/>
                </a:solidFill>
                <a:latin typeface="Trebuchet MS" panose="020B0603020202020204" pitchFamily="34" charset="0"/>
              </a:rPr>
              <a:t> </a:t>
            </a:r>
            <a:r>
              <a:rPr lang="en-US" altLang="zh-CN" sz="2000" b="1" dirty="0">
                <a:solidFill>
                  <a:schemeClr val="bg1"/>
                </a:solidFill>
                <a:latin typeface="Trebuchet MS" panose="020B0603020202020204" pitchFamily="34" charset="0"/>
              </a:rPr>
              <a:t>Partially Ordered Sets and </a:t>
            </a:r>
            <a:r>
              <a:rPr lang="en-US" altLang="zh-CN" sz="2000" b="1" dirty="0" err="1">
                <a:solidFill>
                  <a:schemeClr val="bg1"/>
                </a:solidFill>
                <a:latin typeface="Trebuchet MS" panose="020B0603020202020204" pitchFamily="34" charset="0"/>
              </a:rPr>
              <a:t>Hasse</a:t>
            </a:r>
            <a:r>
              <a:rPr lang="en-US" altLang="zh-CN" sz="2000" b="1" dirty="0">
                <a:solidFill>
                  <a:schemeClr val="bg1"/>
                </a:solidFill>
                <a:latin typeface="Trebuchet MS" panose="020B0603020202020204" pitchFamily="34" charset="0"/>
              </a:rPr>
              <a:t> Diagrams</a:t>
            </a:r>
          </a:p>
          <a:p>
            <a:pPr>
              <a:lnSpc>
                <a:spcPct val="110000"/>
              </a:lnSpc>
              <a:buClr>
                <a:srgbClr val="0B5BFF"/>
              </a:buClr>
              <a:buSzPct val="80000"/>
            </a:pP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800" b="1" dirty="0">
                <a:latin typeface="Trebuchet MS" panose="020B0603020202020204" pitchFamily="34" charset="0"/>
              </a:rPr>
              <a:t> </a:t>
            </a:r>
            <a:r>
              <a:rPr lang="en-US" altLang="zh-CN" sz="2400" b="1" dirty="0">
                <a:latin typeface="Trebuchet MS" panose="020B0603020202020204" pitchFamily="34" charset="0"/>
              </a:rPr>
              <a:t>Topological Sorting - Extending a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to a Total Order(</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59974"/>
            <a:ext cx="10444481" cy="549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800" b="1" dirty="0">
              <a:solidFill>
                <a:schemeClr val="tx1"/>
              </a:solidFill>
              <a:latin typeface="Times New Roman" panose="02020603050405020304" pitchFamily="18" charset="0"/>
              <a:ea typeface="宋体" panose="02010600030101010101" pitchFamily="2" charset="-122"/>
            </a:endParaRPr>
          </a:p>
          <a:p>
            <a:pPr eaLnBrk="1" hangingPunct="1">
              <a:spcBef>
                <a:spcPct val="0"/>
              </a:spcBef>
              <a:buFontTx/>
              <a:buNone/>
            </a:pPr>
            <a:endParaRPr lang="zh-CN" altLang="en-US" sz="2800" b="1" dirty="0">
              <a:solidFill>
                <a:srgbClr val="000066"/>
              </a:solidFill>
            </a:endParaRPr>
          </a:p>
        </p:txBody>
      </p:sp>
      <p:pic>
        <p:nvPicPr>
          <p:cNvPr id="10" name="Picture 4" descr="4">
            <a:extLst>
              <a:ext uri="{FF2B5EF4-FFF2-40B4-BE49-F238E27FC236}">
                <a16:creationId xmlns:a16="http://schemas.microsoft.com/office/drawing/2014/main" id="{CD9C2385-8997-4AC0-9550-6430F3F451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5088" r="1755"/>
          <a:stretch>
            <a:fillRect/>
          </a:stretch>
        </p:blipFill>
        <p:spPr>
          <a:xfrm>
            <a:off x="8239535" y="1016793"/>
            <a:ext cx="3040062" cy="4824413"/>
          </a:xfrm>
          <a:prstGeom prst="rect">
            <a:avLst/>
          </a:prstGeom>
        </p:spPr>
      </p:pic>
      <p:sp>
        <p:nvSpPr>
          <p:cNvPr id="11" name="Text Box 5">
            <a:extLst>
              <a:ext uri="{FF2B5EF4-FFF2-40B4-BE49-F238E27FC236}">
                <a16:creationId xmlns:a16="http://schemas.microsoft.com/office/drawing/2014/main" id="{27DFEEBA-1A60-4A06-BD2D-74265C71D36C}"/>
              </a:ext>
            </a:extLst>
          </p:cNvPr>
          <p:cNvSpPr txBox="1">
            <a:spLocks noChangeArrowheads="1"/>
          </p:cNvSpPr>
          <p:nvPr/>
        </p:nvSpPr>
        <p:spPr bwMode="auto">
          <a:xfrm>
            <a:off x="1000125" y="992231"/>
            <a:ext cx="6978015" cy="448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p>
            <a:pPr>
              <a:lnSpc>
                <a:spcPct val="110000"/>
              </a:lnSpc>
            </a:pPr>
            <a:r>
              <a:rPr kumimoji="0" lang="en-US" altLang="zh-CN" sz="2400" b="1" i="0" u="none" strike="noStrike" cap="none" normalizeH="0" baseline="0" dirty="0">
                <a:ln>
                  <a:noFill/>
                </a:ln>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2400" b="1" i="0" u="none" strike="noStrike" cap="none" normalizeH="0" baseline="0" dirty="0" err="1">
                <a:ln>
                  <a:noFill/>
                </a:ln>
                <a:effectLst/>
                <a:latin typeface="Trebuchet MS" panose="020B0603020202020204" pitchFamily="34" charset="0"/>
                <a:ea typeface="宋体" panose="02010600030101010101" pitchFamily="2" charset="-122"/>
                <a:cs typeface="Times New Roman" panose="02020603050405020304" pitchFamily="18" charset="0"/>
              </a:rPr>
              <a:t>Examle</a:t>
            </a:r>
            <a:r>
              <a:rPr kumimoji="0" lang="zh-CN" altLang="en-US" sz="2400" b="1" i="0" u="none" strike="noStrike" cap="none" normalizeH="0" baseline="0" dirty="0">
                <a:ln>
                  <a:noFill/>
                </a:ln>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A set of tasks </a:t>
            </a:r>
            <a:r>
              <a:rPr lang="en-US" altLang="zh-CN" sz="2400" b="1" i="1" dirty="0">
                <a:latin typeface="Trebuchet MS" panose="020B0603020202020204" pitchFamily="34" charset="0"/>
              </a:rPr>
              <a:t>A</a:t>
            </a:r>
            <a:r>
              <a:rPr lang="en-US" altLang="zh-CN" sz="2400" dirty="0">
                <a:latin typeface="Trebuchet MS" panose="020B0603020202020204" pitchFamily="34" charset="0"/>
              </a:rPr>
              <a:t> is given with partial order constraints, and its </a:t>
            </a:r>
            <a:r>
              <a:rPr lang="en-US" altLang="zh-CN" sz="2400" dirty="0" err="1">
                <a:latin typeface="Trebuchet MS" panose="020B0603020202020204" pitchFamily="34" charset="0"/>
              </a:rPr>
              <a:t>Hasse</a:t>
            </a:r>
            <a:r>
              <a:rPr lang="en-US" altLang="zh-CN" sz="2400" dirty="0">
                <a:latin typeface="Trebuchet MS" panose="020B0603020202020204" pitchFamily="34" charset="0"/>
              </a:rPr>
              <a:t> diagram is shown in the figure.</a:t>
            </a:r>
          </a:p>
          <a:p>
            <a:pPr>
              <a:lnSpc>
                <a:spcPct val="110000"/>
              </a:lnSpc>
            </a:pPr>
            <a:r>
              <a:rPr lang="en-US" altLang="zh-CN" sz="2400" b="1" i="1" dirty="0">
                <a:solidFill>
                  <a:schemeClr val="tx1"/>
                </a:solidFill>
                <a:latin typeface="Trebuchet MS" panose="020B0603020202020204" pitchFamily="34" charset="0"/>
                <a:ea typeface="宋体" panose="02010600030101010101" pitchFamily="2" charset="-122"/>
              </a:rPr>
              <a:t>A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3</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4</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5</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6</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9</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10</a:t>
            </a:r>
            <a:r>
              <a:rPr lang="en-US" altLang="zh-CN" sz="2400" b="1" dirty="0">
                <a:solidFill>
                  <a:schemeClr val="tx1"/>
                </a:solidFill>
                <a:latin typeface="Trebuchet MS" panose="020B0603020202020204" pitchFamily="34" charset="0"/>
                <a:ea typeface="宋体" panose="02010600030101010101" pitchFamily="2" charset="-122"/>
              </a:rPr>
              <a:t>}</a:t>
            </a:r>
          </a:p>
          <a:p>
            <a:pPr>
              <a:lnSpc>
                <a:spcPct val="110000"/>
              </a:lnSpc>
            </a:pPr>
            <a:endParaRPr lang="en-US" altLang="zh-CN" sz="2400" dirty="0">
              <a:latin typeface="Trebuchet MS" panose="020B0603020202020204" pitchFamily="34" charset="0"/>
            </a:endParaRPr>
          </a:p>
          <a:p>
            <a:pPr>
              <a:lnSpc>
                <a:spcPct val="110000"/>
              </a:lnSpc>
            </a:pPr>
            <a:r>
              <a:rPr lang="en-US" altLang="zh-CN" sz="2400" b="1" dirty="0">
                <a:latin typeface="Trebuchet MS" panose="020B0603020202020204" pitchFamily="34" charset="0"/>
              </a:rPr>
              <a:t>Check whether the following topological order is valid</a:t>
            </a:r>
            <a:r>
              <a:rPr lang="en-US" altLang="zh-CN" sz="2400" dirty="0">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endParaRPr>
          </a:p>
          <a:p>
            <a:pPr>
              <a:lnSpc>
                <a:spcPct val="110000"/>
              </a:lnSpc>
            </a:pPr>
            <a:r>
              <a:rPr kumimoji="0" lang="en-US" altLang="en-US" sz="2400" b="1" i="0" u="none" strike="noStrike" cap="none" normalizeH="0" baseline="0" dirty="0">
                <a:ln>
                  <a:noFill/>
                </a:ln>
                <a:solidFill>
                  <a:schemeClr val="tx1"/>
                </a:solidFill>
                <a:effectLst/>
                <a:latin typeface="Trebuchet MS" panose="020B0603020202020204" pitchFamily="34" charset="0"/>
              </a:rPr>
              <a:t>such as:</a:t>
            </a:r>
            <a:endParaRPr lang="en-US" altLang="zh-CN" sz="2400" b="1" dirty="0">
              <a:solidFill>
                <a:schemeClr val="tx1"/>
              </a:solidFill>
              <a:latin typeface="Trebuchet MS" panose="020B0603020202020204" pitchFamily="34" charset="0"/>
              <a:ea typeface="宋体" panose="02010600030101010101" pitchFamily="2" charset="-122"/>
            </a:endParaRPr>
          </a:p>
          <a:p>
            <a:pPr>
              <a:lnSpc>
                <a:spcPct val="110000"/>
              </a:lnSpc>
            </a:pP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3</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4</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5</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6</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9</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T</a:t>
            </a:r>
            <a:r>
              <a:rPr lang="en-US" altLang="zh-CN" sz="2400" b="1" baseline="-25000" dirty="0">
                <a:solidFill>
                  <a:schemeClr val="tx1"/>
                </a:solidFill>
                <a:latin typeface="Trebuchet MS" panose="020B0603020202020204" pitchFamily="34" charset="0"/>
                <a:ea typeface="宋体" panose="02010600030101010101" pitchFamily="2" charset="-122"/>
              </a:rPr>
              <a:t>10</a:t>
            </a:r>
            <a:r>
              <a:rPr lang="zh-CN" altLang="en-US" sz="2400" b="1" dirty="0">
                <a:solidFill>
                  <a:schemeClr val="tx1"/>
                </a:solidFill>
                <a:latin typeface="Trebuchet MS" panose="020B0603020202020204" pitchFamily="34" charset="0"/>
                <a:ea typeface="宋体" panose="02010600030101010101" pitchFamily="2" charset="-122"/>
              </a:rPr>
              <a:t>；</a:t>
            </a:r>
          </a:p>
          <a:p>
            <a:pPr>
              <a:lnSpc>
                <a:spcPct val="110000"/>
              </a:lnSpc>
            </a:pP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1</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2</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3</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4</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S</a:t>
            </a:r>
            <a:r>
              <a:rPr lang="en-US" altLang="zh-CN" sz="2400" b="1" baseline="-25000" dirty="0">
                <a:solidFill>
                  <a:schemeClr val="tx1"/>
                </a:solidFill>
                <a:latin typeface="Trebuchet MS" panose="020B0603020202020204" pitchFamily="34" charset="0"/>
              </a:rPr>
              <a:t>1</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6</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S</a:t>
            </a:r>
            <a:r>
              <a:rPr lang="en-US" altLang="zh-CN" sz="2400" b="1" baseline="-25000" dirty="0">
                <a:solidFill>
                  <a:schemeClr val="tx1"/>
                </a:solidFill>
                <a:latin typeface="Trebuchet MS" panose="020B0603020202020204" pitchFamily="34" charset="0"/>
              </a:rPr>
              <a:t>2</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9</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5</a:t>
            </a:r>
            <a:r>
              <a:rPr lang="en-US" altLang="zh-CN" sz="2400" b="1"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T</a:t>
            </a:r>
            <a:r>
              <a:rPr lang="en-US" altLang="zh-CN" sz="2400" b="1" baseline="-25000" dirty="0">
                <a:solidFill>
                  <a:schemeClr val="tx1"/>
                </a:solidFill>
                <a:latin typeface="Trebuchet MS" panose="020B0603020202020204" pitchFamily="34" charset="0"/>
              </a:rPr>
              <a:t>10</a:t>
            </a:r>
            <a:r>
              <a:rPr lang="en-US" altLang="zh-CN" sz="2400" b="1" dirty="0">
                <a:solidFill>
                  <a:schemeClr val="tx1"/>
                </a:solidFill>
                <a:latin typeface="Trebuchet MS" panose="020B0603020202020204" pitchFamily="34" charset="0"/>
              </a:rPr>
              <a:t>;</a:t>
            </a:r>
            <a:endParaRPr lang="zh-CN" altLang="en-US" sz="2400" b="1" dirty="0">
              <a:solidFill>
                <a:schemeClr val="tx1"/>
              </a:solidFill>
              <a:latin typeface="Trebuchet MS" panose="020B0603020202020204" pitchFamily="34" charset="0"/>
              <a:ea typeface="宋体" panose="02010600030101010101" pitchFamily="2" charset="-122"/>
            </a:endParaRPr>
          </a:p>
        </p:txBody>
      </p:sp>
      <p:sp>
        <p:nvSpPr>
          <p:cNvPr id="4" name="Rectangle 2">
            <a:extLst>
              <a:ext uri="{FF2B5EF4-FFF2-40B4-BE49-F238E27FC236}">
                <a16:creationId xmlns:a16="http://schemas.microsoft.com/office/drawing/2014/main" id="{64EB5C6B-6110-496B-9E38-40BBF48E47A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3313" name="图片 10">
            <a:extLst>
              <a:ext uri="{FF2B5EF4-FFF2-40B4-BE49-F238E27FC236}">
                <a16:creationId xmlns:a16="http://schemas.microsoft.com/office/drawing/2014/main" id="{4A4FE903-A255-40ED-950D-B9D33C9D88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403" y="1103921"/>
            <a:ext cx="577850" cy="24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564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animEffect transition="in" filter="fade">
                                      <p:cBhvr>
                                        <p:cTn id="7" dur="1000"/>
                                        <p:tgtEl>
                                          <p:spTgt spid="11">
                                            <p:txEl>
                                              <p:pRg st="3" end="3"/>
                                            </p:txEl>
                                          </p:spTgt>
                                        </p:tgtEl>
                                      </p:cBhvr>
                                    </p:animEffect>
                                    <p:anim calcmode="lin" valueType="num">
                                      <p:cBhvr>
                                        <p:cTn id="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fade">
                                      <p:cBhvr>
                                        <p:cTn id="12" dur="1000"/>
                                        <p:tgtEl>
                                          <p:spTgt spid="11">
                                            <p:txEl>
                                              <p:pRg st="4" end="4"/>
                                            </p:txEl>
                                          </p:spTgt>
                                        </p:tgtEl>
                                      </p:cBhvr>
                                    </p:animEffect>
                                    <p:anim calcmode="lin" valueType="num">
                                      <p:cBhvr>
                                        <p:cTn id="13"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animEffect transition="in" filter="fade">
                                      <p:cBhvr>
                                        <p:cTn id="17" dur="1000"/>
                                        <p:tgtEl>
                                          <p:spTgt spid="11">
                                            <p:txEl>
                                              <p:pRg st="5" end="5"/>
                                            </p:txEl>
                                          </p:spTgt>
                                        </p:tgtEl>
                                      </p:cBhvr>
                                    </p:animEffect>
                                    <p:anim calcmode="lin" valueType="num">
                                      <p:cBhvr>
                                        <p:cTn id="18"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fade">
                                      <p:cBhvr>
                                        <p:cTn id="22" dur="1000"/>
                                        <p:tgtEl>
                                          <p:spTgt spid="11">
                                            <p:txEl>
                                              <p:pRg st="6" end="6"/>
                                            </p:txEl>
                                          </p:spTgt>
                                        </p:tgtEl>
                                      </p:cBhvr>
                                    </p:animEffect>
                                    <p:anim calcmode="lin" valueType="num">
                                      <p:cBhvr>
                                        <p:cTn id="23"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4.4 </a:t>
            </a:r>
            <a:r>
              <a:rPr lang="en-US" altLang="zh-CN" sz="2400" b="1" dirty="0">
                <a:latin typeface="Trebuchet MS" panose="020B0603020202020204" pitchFamily="34" charset="0"/>
              </a:rPr>
              <a:t>Equivalence Relations and Partial Order </a:t>
            </a:r>
            <a:r>
              <a:rPr lang="en-US" altLang="zh-CN" sz="2400" b="1" dirty="0" err="1">
                <a:latin typeface="Trebuchet MS" panose="020B0603020202020204" pitchFamily="34" charset="0"/>
              </a:rPr>
              <a:t>Relations</a:t>
            </a:r>
            <a:r>
              <a:rPr lang="en-US" altLang="zh-CN" sz="2400" b="1" dirty="0" err="1">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err="1">
                <a:latin typeface="Trebuchet MS" panose="020B0603020202020204" pitchFamily="34" charset="0"/>
                <a:cs typeface="Times New Roman" panose="02020603050405020304" pitchFamily="18" charset="0"/>
              </a:rPr>
              <a:t>Brief</a:t>
            </a:r>
            <a:r>
              <a:rPr lang="en-US" altLang="zh-CN" sz="2400" b="1" dirty="0">
                <a:latin typeface="Trebuchet MS" panose="020B0603020202020204" pitchFamily="34" charset="0"/>
                <a:cs typeface="Times New Roman" panose="02020603050405020304" pitchFamily="18" charset="0"/>
              </a:rPr>
              <a:t>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955039"/>
            <a:ext cx="8583131" cy="4919981"/>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latin typeface="Trebuchet MS" panose="020B0603020202020204" pitchFamily="34" charset="0"/>
              </a:rPr>
              <a:t>Objective :</a:t>
            </a: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Font typeface="Wingdings" panose="05000000000000000000" pitchFamily="2" charset="2"/>
              <a:buNone/>
            </a:pPr>
            <a:endParaRPr lang="en-US" altLang="zh-CN" sz="2400" b="1" dirty="0">
              <a:latin typeface="Trebuchet MS" panose="020B0603020202020204" pitchFamily="34" charset="0"/>
            </a:endParaRPr>
          </a:p>
          <a:p>
            <a:pPr>
              <a:lnSpc>
                <a:spcPct val="150000"/>
              </a:lnSpc>
              <a:buNone/>
            </a:pPr>
            <a:r>
              <a:rPr lang="en-US" altLang="zh-CN" sz="2400" b="1" dirty="0">
                <a:latin typeface="Trebuchet MS" panose="020B0603020202020204" pitchFamily="34" charset="0"/>
              </a:rPr>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2643180581"/>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14843</TotalTime>
  <Words>26203</Words>
  <Application>Microsoft Office PowerPoint</Application>
  <PresentationFormat>宽屏</PresentationFormat>
  <Paragraphs>1943</Paragraphs>
  <Slides>109</Slides>
  <Notes>109</Notes>
  <HiddenSlides>1</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2</vt:i4>
      </vt:variant>
      <vt:variant>
        <vt:lpstr>幻灯片标题</vt:lpstr>
      </vt:variant>
      <vt:variant>
        <vt:i4>109</vt:i4>
      </vt:variant>
    </vt:vector>
  </HeadingPairs>
  <TitlesOfParts>
    <vt:vector size="133" baseType="lpstr">
      <vt:lpstr>-apple-system</vt:lpstr>
      <vt:lpstr>Arial Unicode MS</vt:lpstr>
      <vt:lpstr>等线</vt:lpstr>
      <vt:lpstr>KaTeX_AMS</vt:lpstr>
      <vt:lpstr>KaTeX_Main</vt:lpstr>
      <vt:lpstr>KaTeX_Math</vt:lpstr>
      <vt:lpstr>微软雅黑</vt:lpstr>
      <vt:lpstr>MS Gothic</vt:lpstr>
      <vt:lpstr>宋体</vt:lpstr>
      <vt:lpstr>Söhne</vt:lpstr>
      <vt:lpstr>华文行楷</vt:lpstr>
      <vt:lpstr>Arial</vt:lpstr>
      <vt:lpstr>Calibri</vt:lpstr>
      <vt:lpstr>Calibri Light</vt:lpstr>
      <vt:lpstr>Cambria Math</vt:lpstr>
      <vt:lpstr>Lucida Sans Unicode</vt:lpstr>
      <vt:lpstr>Segoe UI</vt:lpstr>
      <vt:lpstr>Symbol</vt:lpstr>
      <vt:lpstr>Times New Roman</vt:lpstr>
      <vt:lpstr>Trebuchet MS</vt:lpstr>
      <vt:lpstr>Wingdings</vt:lpstr>
      <vt:lpstr>Office 主题</vt:lpstr>
      <vt:lpstr>Equation</vt:lpstr>
      <vt:lpstr>Visio</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离散数学（011122）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kejiw</dc:creator>
  <cp:keywords>2025</cp:keywords>
  <cp:lastModifiedBy>可佶 魏</cp:lastModifiedBy>
  <cp:revision>1139</cp:revision>
  <dcterms:created xsi:type="dcterms:W3CDTF">2017-07-24T02:14:00Z</dcterms:created>
  <dcterms:modified xsi:type="dcterms:W3CDTF">2025-04-09T08:43:01Z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