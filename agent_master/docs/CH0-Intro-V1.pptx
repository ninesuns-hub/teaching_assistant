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29" r:id="rId2"/>
    <p:sldId id="476" r:id="rId3"/>
    <p:sldId id="478" r:id="rId4"/>
    <p:sldId id="265" r:id="rId5"/>
    <p:sldId id="463" r:id="rId6"/>
    <p:sldId id="467" r:id="rId7"/>
    <p:sldId id="466" r:id="rId8"/>
    <p:sldId id="469" r:id="rId9"/>
    <p:sldId id="465" r:id="rId10"/>
    <p:sldId id="470" r:id="rId11"/>
    <p:sldId id="472" r:id="rId12"/>
    <p:sldId id="480" r:id="rId13"/>
    <p:sldId id="481" r:id="rId14"/>
    <p:sldId id="471" r:id="rId15"/>
    <p:sldId id="474" r:id="rId16"/>
    <p:sldId id="475" r:id="rId17"/>
    <p:sldId id="484" r:id="rId18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2">
          <p15:clr>
            <a:srgbClr val="A4A3A4"/>
          </p15:clr>
        </p15:guide>
        <p15:guide id="2" pos="37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AF8"/>
    <a:srgbClr val="FFFFFF"/>
    <a:srgbClr val="0B61FF"/>
    <a:srgbClr val="CFA57C"/>
    <a:srgbClr val="FBE5D6"/>
    <a:srgbClr val="FBDBD6"/>
    <a:srgbClr val="BDD7EE"/>
    <a:srgbClr val="E6E6E6"/>
    <a:srgbClr val="FFFF80"/>
    <a:srgbClr val="002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79733" autoAdjust="0"/>
  </p:normalViewPr>
  <p:slideViewPr>
    <p:cSldViewPr snapToGrid="0" showGuides="1">
      <p:cViewPr varScale="1">
        <p:scale>
          <a:sx n="88" d="100"/>
          <a:sy n="88" d="100"/>
        </p:scale>
        <p:origin x="1530" y="84"/>
      </p:cViewPr>
      <p:guideLst>
        <p:guide orient="horz" pos="2032"/>
        <p:guide pos="3798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E485D-0A46-47F7-A37C-0200B173D2B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E74B6-F93C-4D90-BE1A-7EFEDB35C0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E31D6-3452-3913-29CD-6FB3406E7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8F6BB0-FA0E-6B4A-12FF-89469431F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F88804-7519-0154-3847-6AAA1B349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FEEB99-FB3E-A59B-27D1-647BEAD73C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259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E31D6-3452-3913-29CD-6FB3406E7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8F6BB0-FA0E-6B4A-12FF-89469431F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F88804-7519-0154-3847-6AAA1B349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FEEB99-FB3E-A59B-27D1-647BEAD73C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588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763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776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895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542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030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72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320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874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695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388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46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410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FE74B6-F93C-4D90-BE1A-7EFEDB35C0D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096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03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0" y="3075709"/>
            <a:ext cx="12192000" cy="1328016"/>
          </a:xfrm>
          <a:prstGeom prst="rect">
            <a:avLst/>
          </a:prstGeom>
          <a:solidFill>
            <a:schemeClr val="accent1">
              <a:lumMod val="75000"/>
              <a:alpha val="74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851024" y="2809284"/>
            <a:ext cx="7855511" cy="55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851024" y="2110693"/>
            <a:ext cx="7855511" cy="69859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8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1851024" y="4572592"/>
            <a:ext cx="7855511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9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1851024" y="4868863"/>
            <a:ext cx="7855511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hyperlink" Target="https://kejiwei.github.io/teaching/courses/dismath/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ejiwei.github.io/teaching/courses/dismath/" TargetMode="External"/><Relationship Id="rId5" Type="http://schemas.openxmlformats.org/officeDocument/2006/relationships/hyperlink" Target="LIST%20OF%20SYMBOLS.pdf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8" b="-5557"/>
          <a:stretch>
            <a:fillRect/>
          </a:stretch>
        </p:blipFill>
        <p:spPr>
          <a:xfrm>
            <a:off x="0" y="0"/>
            <a:ext cx="12192000" cy="5105399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1"/>
          </p:nvPr>
        </p:nvSpPr>
        <p:spPr>
          <a:xfrm>
            <a:off x="0" y="4379558"/>
            <a:ext cx="12192000" cy="1191229"/>
          </a:xfrm>
          <a:solidFill>
            <a:srgbClr val="002060"/>
          </a:solidFill>
        </p:spPr>
        <p:txBody>
          <a:bodyPr/>
          <a:lstStyle/>
          <a:p>
            <a:endParaRPr lang="zh-CN" altLang="en-US" dirty="0">
              <a:solidFill>
                <a:srgbClr val="0070C0">
                  <a:alpha val="0"/>
                </a:srgbClr>
              </a:solidFill>
            </a:endParaRPr>
          </a:p>
        </p:txBody>
      </p:sp>
      <p:sp>
        <p:nvSpPr>
          <p:cNvPr id="21" name="标题 3"/>
          <p:cNvSpPr>
            <a:spLocks noGrp="1"/>
          </p:cNvSpPr>
          <p:nvPr>
            <p:ph type="ctrTitle"/>
          </p:nvPr>
        </p:nvSpPr>
        <p:spPr>
          <a:xfrm>
            <a:off x="357734" y="4571653"/>
            <a:ext cx="9955189" cy="949255"/>
          </a:xfrm>
        </p:spPr>
        <p:txBody>
          <a:bodyPr>
            <a:noAutofit/>
          </a:bodyPr>
          <a:lstStyle/>
          <a:p>
            <a:b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bg1"/>
                </a:solidFill>
              </a:rPr>
              <a:t>Discrete Mathematics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2025 Spring</a:t>
            </a:r>
            <a:b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5135" y="5797109"/>
            <a:ext cx="7262777" cy="99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10000"/>
              </a:spcBef>
              <a:spcAft>
                <a:spcPct val="0"/>
              </a:spcAft>
              <a:buClr>
                <a:srgbClr val="39BBF0"/>
              </a:buClr>
              <a:buSzPct val="60000"/>
            </a:pPr>
            <a:r>
              <a:rPr kumimoji="1"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魏可佶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dirty="0">
                <a:cs typeface="Times New Roman" panose="02020603050405020304" pitchFamily="18" charset="0"/>
              </a:rPr>
              <a:t>kejiwei@tongji.edu.cn</a:t>
            </a:r>
            <a:endParaRPr lang="en-US" altLang="zh-CN" sz="2800" dirty="0">
              <a:ea typeface="微软雅黑" pitchFamily="34" charset="-122"/>
              <a:cs typeface="Times New Roman" panose="02020603050405020304" pitchFamily="18" charset="0"/>
            </a:endParaRPr>
          </a:p>
          <a:p>
            <a:pPr algn="ctr" eaLnBrk="1" fontAlgn="base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39BBF0"/>
              </a:buClr>
              <a:buSzPct val="60000"/>
              <a:buFont typeface="Wingdings" pitchFamily="2" charset="2"/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		 https://kejiwei.github.io/</a:t>
            </a:r>
          </a:p>
        </p:txBody>
      </p:sp>
      <p:pic>
        <p:nvPicPr>
          <p:cNvPr id="13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847" y="4691952"/>
            <a:ext cx="1696528" cy="56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微信图片_2022031811352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D58F2-6C47-CBEF-FAE2-54C32229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A90D4C4-0B4B-CB08-20EE-FECCECD9E337}"/>
              </a:ext>
            </a:extLst>
          </p:cNvPr>
          <p:cNvSpPr/>
          <p:nvPr/>
        </p:nvSpPr>
        <p:spPr>
          <a:xfrm>
            <a:off x="0" y="53365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latin typeface="+mj-lt"/>
              </a:rPr>
              <a:t>                 Keji Wei: Academic and Professional Journey</a:t>
            </a:r>
          </a:p>
        </p:txBody>
      </p:sp>
      <p:pic>
        <p:nvPicPr>
          <p:cNvPr id="22" name="Picture 6" descr="D:\MBA工作\LOGO\同济经管LOGO反白.png">
            <a:extLst>
              <a:ext uri="{FF2B5EF4-FFF2-40B4-BE49-F238E27FC236}">
                <a16:creationId xmlns:a16="http://schemas.microsoft.com/office/drawing/2014/main" id="{E6A85CDB-4077-12D2-B6FF-2B85121B6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>
            <a:extLst>
              <a:ext uri="{FF2B5EF4-FFF2-40B4-BE49-F238E27FC236}">
                <a16:creationId xmlns:a16="http://schemas.microsoft.com/office/drawing/2014/main" id="{1CBB673D-3C40-8E43-A153-DD308FADC9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A9777160-31C1-8244-E134-4C75B6D94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815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E751A3D-BEE3-8E48-3B94-215D34CB281E}"/>
              </a:ext>
            </a:extLst>
          </p:cNvPr>
          <p:cNvSpPr txBox="1">
            <a:spLocks noChangeArrowheads="1"/>
          </p:cNvSpPr>
          <p:nvPr/>
        </p:nvSpPr>
        <p:spPr>
          <a:xfrm>
            <a:off x="1045968" y="1028519"/>
            <a:ext cx="10266466" cy="48009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/>
              <a:t>     Academic Background:</a:t>
            </a:r>
          </a:p>
          <a:p>
            <a:pPr>
              <a:lnSpc>
                <a:spcPct val="120000"/>
              </a:lnSpc>
              <a:buClr>
                <a:srgbClr val="0B61FF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b="1" dirty="0"/>
              <a:t>Xi’an </a:t>
            </a:r>
            <a:r>
              <a:rPr lang="en-US" altLang="zh-CN" b="1" dirty="0" err="1"/>
              <a:t>Jiaotong</a:t>
            </a:r>
            <a:r>
              <a:rPr lang="en-US" altLang="zh-CN" b="1" dirty="0"/>
              <a:t> University</a:t>
            </a:r>
            <a:br>
              <a:rPr lang="en-US" altLang="zh-CN" dirty="0"/>
            </a:br>
            <a:r>
              <a:rPr lang="en-US" altLang="zh-CN" i="1" dirty="0"/>
              <a:t>Undergraduate in Automation</a:t>
            </a:r>
          </a:p>
          <a:p>
            <a:pPr>
              <a:lnSpc>
                <a:spcPct val="120000"/>
              </a:lnSpc>
              <a:buClr>
                <a:srgbClr val="0B61FF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b="1" dirty="0"/>
              <a:t>Dartmouth College</a:t>
            </a:r>
            <a:br>
              <a:rPr lang="en-US" altLang="zh-CN" dirty="0"/>
            </a:br>
            <a:r>
              <a:rPr lang="en-US" altLang="zh-CN" dirty="0" err="1"/>
              <a:t>Ph.D</a:t>
            </a:r>
            <a:r>
              <a:rPr lang="en-US" altLang="zh-CN" dirty="0"/>
              <a:t> </a:t>
            </a:r>
            <a:r>
              <a:rPr lang="en-US" altLang="zh-CN" i="1" dirty="0"/>
              <a:t>Operations Research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-Advanced studies in optimization and decision-making processes.</a:t>
            </a:r>
          </a:p>
          <a:p>
            <a:pPr marL="0" indent="0">
              <a:buNone/>
            </a:pPr>
            <a:r>
              <a:rPr lang="en-US" altLang="zh-CN" b="1" dirty="0"/>
              <a:t>    Professional Experience:</a:t>
            </a:r>
          </a:p>
          <a:p>
            <a:pPr>
              <a:buClr>
                <a:srgbClr val="0B61FF"/>
              </a:buClr>
              <a:buSzPct val="120000"/>
            </a:pPr>
            <a:r>
              <a:rPr lang="en-US" altLang="zh-CN" b="1" dirty="0"/>
              <a:t>Sabre</a:t>
            </a:r>
            <a:br>
              <a:rPr lang="en-US" altLang="zh-CN" dirty="0"/>
            </a:br>
            <a:r>
              <a:rPr lang="en-US" altLang="zh-CN" i="1" dirty="0"/>
              <a:t>Research Scientist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-Leading research in operations research and its applications in the airline industry.</a:t>
            </a:r>
          </a:p>
          <a:p>
            <a:pPr>
              <a:lnSpc>
                <a:spcPct val="120000"/>
              </a:lnSpc>
              <a:buClr>
                <a:srgbClr val="0B61FF"/>
              </a:buClr>
              <a:buSzPct val="120000"/>
            </a:pPr>
            <a:r>
              <a:rPr lang="en-US" altLang="zh-CN" b="1" dirty="0"/>
              <a:t>Tongji University</a:t>
            </a:r>
            <a:br>
              <a:rPr lang="en-US" altLang="zh-CN" dirty="0"/>
            </a:br>
            <a:r>
              <a:rPr lang="en-US" altLang="zh-CN" sz="2500" dirty="0"/>
              <a:t>Tenured Associate Professor,</a:t>
            </a:r>
            <a:r>
              <a:rPr lang="zh-CN" altLang="en-US" sz="2500"/>
              <a:t> </a:t>
            </a:r>
            <a:r>
              <a:rPr lang="en-US" altLang="zh-CN" sz="2500"/>
              <a:t>Institute </a:t>
            </a:r>
            <a:r>
              <a:rPr lang="en-US" altLang="zh-CN" sz="2500" dirty="0"/>
              <a:t>of Operations Research and Intelligent Decision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DFF75B-80A2-4687-9A12-729A92E43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68" y="1028518"/>
            <a:ext cx="400777" cy="2317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5CB691B-B4DD-4D4F-A1B7-AA00957EAB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968" y="3322352"/>
            <a:ext cx="263525" cy="23177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29A9158-22D3-4EED-8435-54E8E68F7913}"/>
              </a:ext>
            </a:extLst>
          </p:cNvPr>
          <p:cNvSpPr/>
          <p:nvPr/>
        </p:nvSpPr>
        <p:spPr>
          <a:xfrm>
            <a:off x="969063" y="13475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85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D58F2-6C47-CBEF-FAE2-54C32229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A90D4C4-0B4B-CB08-20EE-FECCECD9E337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                 Policy</a:t>
            </a:r>
            <a:endParaRPr lang="zh-CN" altLang="en-US" sz="24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BB4628-D59A-39D1-3921-8FDE6B003A5B}"/>
              </a:ext>
            </a:extLst>
          </p:cNvPr>
          <p:cNvSpPr/>
          <p:nvPr/>
        </p:nvSpPr>
        <p:spPr>
          <a:xfrm>
            <a:off x="824682" y="67375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>
            <a:extLst>
              <a:ext uri="{FF2B5EF4-FFF2-40B4-BE49-F238E27FC236}">
                <a16:creationId xmlns:a16="http://schemas.microsoft.com/office/drawing/2014/main" id="{E6A85CDB-4077-12D2-B6FF-2B85121B6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>
            <a:extLst>
              <a:ext uri="{FF2B5EF4-FFF2-40B4-BE49-F238E27FC236}">
                <a16:creationId xmlns:a16="http://schemas.microsoft.com/office/drawing/2014/main" id="{1CBB673D-3C40-8E43-A153-DD308FADC9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A9777160-31C1-8244-E134-4C75B6D94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815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E751A3D-BEE3-8E48-3B94-215D34CB281E}"/>
              </a:ext>
            </a:extLst>
          </p:cNvPr>
          <p:cNvSpPr txBox="1">
            <a:spLocks noChangeArrowheads="1"/>
          </p:cNvSpPr>
          <p:nvPr/>
        </p:nvSpPr>
        <p:spPr>
          <a:xfrm>
            <a:off x="543667" y="890576"/>
            <a:ext cx="8844636" cy="179487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4572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 2" panose="05020102010507070707" pitchFamily="18" charset="2"/>
              <a:buChar char="R"/>
            </a:pPr>
            <a:r>
              <a:rPr lang="en-US" altLang="zh-CN" sz="2600" b="1" dirty="0"/>
              <a:t>No Laptop, No cell phones </a:t>
            </a:r>
          </a:p>
          <a:p>
            <a:pPr marL="685800" indent="-4572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 2" panose="05020102010507070707" pitchFamily="18" charset="2"/>
              <a:buChar char="R"/>
            </a:pPr>
            <a:r>
              <a:rPr lang="en-US" altLang="zh-CN" sz="2600" b="1" dirty="0"/>
              <a:t>English or Chinese is okay</a:t>
            </a:r>
          </a:p>
          <a:p>
            <a:pPr marL="685800" indent="-4572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 2" panose="05020102010507070707" pitchFamily="18" charset="2"/>
              <a:buChar char="R"/>
            </a:pPr>
            <a:r>
              <a:rPr lang="en-US" altLang="zh-CN" sz="2600" b="1" dirty="0"/>
              <a:t>Attend all classes on time</a:t>
            </a:r>
          </a:p>
          <a:p>
            <a:pPr marL="685800" indent="-4572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 2" panose="05020102010507070707" pitchFamily="18" charset="2"/>
              <a:buChar char="R"/>
            </a:pPr>
            <a:r>
              <a:rPr lang="en-US" altLang="zh-CN" sz="2600" b="1" dirty="0"/>
              <a:t>Answer questions actively</a:t>
            </a:r>
          </a:p>
          <a:p>
            <a:pPr marL="685800" indent="-4572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 2" panose="05020102010507070707" pitchFamily="18" charset="2"/>
              <a:buChar char="R"/>
            </a:pPr>
            <a:r>
              <a:rPr lang="en-US" altLang="zh-CN" sz="2600" b="1" dirty="0"/>
              <a:t>Solve everything before final </a:t>
            </a:r>
            <a:r>
              <a:rPr lang="en-US" altLang="zh-CN" sz="2600" b="1"/>
              <a:t>exam </a:t>
            </a:r>
            <a:endParaRPr lang="en-US" altLang="zh-CN" sz="2600" b="1" dirty="0"/>
          </a:p>
          <a:p>
            <a:pPr marL="685800" indent="-4572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 2" panose="05020102010507070707" pitchFamily="18" charset="2"/>
              <a:buChar char="R"/>
            </a:pPr>
            <a:endParaRPr lang="en-US" altLang="zh-CN" sz="2600" b="1" dirty="0"/>
          </a:p>
          <a:p>
            <a:pPr indent="0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b="1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E248D53E-966D-48DF-A6C6-0213032DB432}"/>
              </a:ext>
            </a:extLst>
          </p:cNvPr>
          <p:cNvSpPr txBox="1">
            <a:spLocks noChangeArrowheads="1"/>
          </p:cNvSpPr>
          <p:nvPr/>
        </p:nvSpPr>
        <p:spPr>
          <a:xfrm>
            <a:off x="582168" y="2954770"/>
            <a:ext cx="8844636" cy="216827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None/>
            </a:pPr>
            <a:endParaRPr lang="en-US" altLang="zh-CN" sz="2600" b="1" dirty="0"/>
          </a:p>
          <a:p>
            <a:pPr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Comic Sans MS" panose="030F0702030302020204" pitchFamily="66" charset="0"/>
              </a:rPr>
              <a:t>    Course Web Site:</a:t>
            </a:r>
          </a:p>
          <a:p>
            <a:pPr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b="1" dirty="0">
                <a:hlinkClick r:id="rId5"/>
              </a:rPr>
              <a:t>https://kejiwei.github.io/teaching/courses/dismath/</a:t>
            </a:r>
            <a:endParaRPr lang="en-US" altLang="zh-CN" b="1" dirty="0"/>
          </a:p>
          <a:p>
            <a:pPr indent="0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b="1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2EF35FF-ACB7-44D5-9E82-46400FFD7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732" y="4232798"/>
            <a:ext cx="361950" cy="225425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ED7BFBDF-52CA-4E72-85ED-96627884E2A2}"/>
              </a:ext>
            </a:extLst>
          </p:cNvPr>
          <p:cNvSpPr txBox="1">
            <a:spLocks noChangeArrowheads="1"/>
          </p:cNvSpPr>
          <p:nvPr/>
        </p:nvSpPr>
        <p:spPr>
          <a:xfrm>
            <a:off x="543667" y="5101159"/>
            <a:ext cx="8844636" cy="216827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None/>
            </a:pPr>
            <a:r>
              <a:rPr lang="en-US" altLang="zh-CN" sz="3600" b="1" dirty="0"/>
              <a:t>This is a English teaching class…</a:t>
            </a:r>
          </a:p>
          <a:p>
            <a:pPr indent="0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2169244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/>
              <a:t>	 </a:t>
            </a:r>
            <a:r>
              <a:rPr lang="en-US" altLang="zh-CN" sz="2400" b="1" dirty="0">
                <a:latin typeface="+mj-lt"/>
              </a:rPr>
              <a:t>Chapter 0: Introduction</a:t>
            </a:r>
            <a:endParaRPr lang="en-US" altLang="zh-CN" sz="2400" dirty="0">
              <a:latin typeface="+mj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66675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E217C615-1D49-4D07-B850-D36106D7A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815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7FE539D-A089-4EB0-B2B3-8401B3A4FF70}"/>
              </a:ext>
            </a:extLst>
          </p:cNvPr>
          <p:cNvSpPr txBox="1">
            <a:spLocks noChangeArrowheads="1"/>
          </p:cNvSpPr>
          <p:nvPr/>
        </p:nvSpPr>
        <p:spPr>
          <a:xfrm>
            <a:off x="1000125" y="1104673"/>
            <a:ext cx="8766044" cy="48009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6038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b="1" dirty="0"/>
              <a:t>Discrete mathematic is the part of mathematics devoted to study of discrete objects.</a:t>
            </a:r>
          </a:p>
          <a:p>
            <a:pPr indent="663575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 </a:t>
            </a:r>
          </a:p>
          <a:p>
            <a:pPr marL="571500" indent="-3429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120000"/>
            </a:pPr>
            <a:r>
              <a:rPr lang="en-US" altLang="zh-CN" sz="2400" dirty="0"/>
              <a:t>What is the probability of winning a lottery?</a:t>
            </a:r>
          </a:p>
          <a:p>
            <a:pPr marL="571500" indent="-3429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</a:pPr>
            <a:r>
              <a:rPr lang="en-US" altLang="zh-CN" sz="2400" dirty="0"/>
              <a:t>What is the shortest path between two cites using a transportation system?</a:t>
            </a:r>
          </a:p>
          <a:p>
            <a:pPr marL="571500" indent="-3429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</a:pPr>
            <a:r>
              <a:rPr lang="en-US" altLang="zh-CN" sz="2400" dirty="0"/>
              <a:t>How can a list of integers be sorted so that the integers are in increasing orders?</a:t>
            </a:r>
          </a:p>
          <a:p>
            <a:pPr marL="571500" indent="-342900">
              <a:lnSpc>
                <a:spcPct val="130000"/>
              </a:lnSpc>
              <a:spcBef>
                <a:spcPct val="0"/>
              </a:spcBef>
            </a:pPr>
            <a:endParaRPr lang="en-US" altLang="zh-CN" sz="2400" b="1" dirty="0"/>
          </a:p>
          <a:p>
            <a:pPr indent="663575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cs typeface="Times New Roman" panose="02020603050405020304" pitchFamily="18" charset="0"/>
              </a:rPr>
              <a:t>               </a:t>
            </a:r>
            <a:r>
              <a:rPr lang="en-US" altLang="zh-CN" sz="2400" b="1" dirty="0">
                <a:latin typeface="+mj-lt"/>
              </a:rPr>
              <a:t>0.1 Discrete Mathematics: Objective and Content</a:t>
            </a:r>
            <a:endParaRPr lang="zh-CN" altLang="en-US" sz="2400" b="1" dirty="0">
              <a:latin typeface="+mj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66675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E217C615-1D49-4D07-B850-D36106D7A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815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7F08C45-3D15-45C1-A5A3-D1EB58DC91FE}"/>
              </a:ext>
            </a:extLst>
          </p:cNvPr>
          <p:cNvSpPr txBox="1">
            <a:spLocks noChangeArrowheads="1"/>
          </p:cNvSpPr>
          <p:nvPr/>
        </p:nvSpPr>
        <p:spPr>
          <a:xfrm>
            <a:off x="1469571" y="849088"/>
            <a:ext cx="9039766" cy="5519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3600" b="1" dirty="0"/>
          </a:p>
          <a:p>
            <a:pPr>
              <a:lnSpc>
                <a:spcPct val="140000"/>
              </a:lnSpc>
              <a:spcBef>
                <a:spcPts val="600"/>
              </a:spcBef>
              <a:buClr>
                <a:srgbClr val="00B0F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Advanced Mathematics, Linear Algebra, and Discrete Mathematics</a:t>
            </a:r>
          </a:p>
          <a:p>
            <a:pPr>
              <a:lnSpc>
                <a:spcPct val="140000"/>
              </a:lnSpc>
              <a:spcBef>
                <a:spcPts val="600"/>
              </a:spcBef>
              <a:buClr>
                <a:srgbClr val="00B0F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dirty="0"/>
              <a:t>Main Content of Discrete Mathematics</a:t>
            </a:r>
          </a:p>
          <a:p>
            <a:pPr>
              <a:lnSpc>
                <a:spcPct val="140000"/>
              </a:lnSpc>
              <a:spcBef>
                <a:spcPts val="600"/>
              </a:spcBef>
              <a:buClr>
                <a:srgbClr val="00B0F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dirty="0"/>
              <a:t>Discrete Mathematics and Computer Science</a:t>
            </a:r>
          </a:p>
          <a:p>
            <a:pPr>
              <a:lnSpc>
                <a:spcPct val="140000"/>
              </a:lnSpc>
              <a:spcBef>
                <a:spcPts val="600"/>
              </a:spcBef>
              <a:buClr>
                <a:srgbClr val="00B0F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dirty="0"/>
              <a:t>Discrete Mathematics and Management Science and Engineering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7394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000" b="1" dirty="0"/>
              <a:t>0.1 </a:t>
            </a:r>
            <a:r>
              <a:rPr lang="en-US" altLang="zh-CN" sz="2000" dirty="0"/>
              <a:t>Discrete Mathematics: Objective and Content</a:t>
            </a:r>
            <a:endParaRPr lang="en-US" altLang="zh-CN" sz="20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sz="2800" b="1" dirty="0">
                <a:solidFill>
                  <a:srgbClr val="CFA57C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⤷</a:t>
            </a:r>
            <a:r>
              <a:rPr lang="en-US" altLang="zh-CN" sz="2400" b="1" dirty="0"/>
              <a:t> Advanced Mathematics, Linear Algebra, and Discrete Mathematics</a:t>
            </a:r>
            <a:endParaRPr lang="zh-CN" altLang="en-US" sz="2400" b="1" dirty="0">
              <a:highlight>
                <a:srgbClr val="FF0000"/>
              </a:highligh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6E6E6"/>
              </a:solidFill>
            </a:endParaRPr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E217C615-1D49-4D07-B850-D36106D7A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815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7F08C45-3D15-45C1-A5A3-D1EB58DC91FE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0" y="863150"/>
            <a:ext cx="7620000" cy="5613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400" b="1" dirty="0"/>
          </a:p>
          <a:p>
            <a:pPr>
              <a:spcBef>
                <a:spcPct val="50000"/>
              </a:spcBef>
            </a:pPr>
            <a:endParaRPr lang="zh-CN" altLang="en-US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8971152-7C9B-43FC-88A8-D68FB368A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289745"/>
              </p:ext>
            </p:extLst>
          </p:nvPr>
        </p:nvGraphicFramePr>
        <p:xfrm>
          <a:off x="824682" y="807548"/>
          <a:ext cx="10561777" cy="5894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961">
                  <a:extLst>
                    <a:ext uri="{9D8B030D-6E8A-4147-A177-3AD203B41FA5}">
                      <a16:colId xmlns:a16="http://schemas.microsoft.com/office/drawing/2014/main" val="246896977"/>
                    </a:ext>
                  </a:extLst>
                </a:gridCol>
                <a:gridCol w="2667773">
                  <a:extLst>
                    <a:ext uri="{9D8B030D-6E8A-4147-A177-3AD203B41FA5}">
                      <a16:colId xmlns:a16="http://schemas.microsoft.com/office/drawing/2014/main" val="4222918389"/>
                    </a:ext>
                  </a:extLst>
                </a:gridCol>
                <a:gridCol w="2988790">
                  <a:extLst>
                    <a:ext uri="{9D8B030D-6E8A-4147-A177-3AD203B41FA5}">
                      <a16:colId xmlns:a16="http://schemas.microsoft.com/office/drawing/2014/main" val="3588603993"/>
                    </a:ext>
                  </a:extLst>
                </a:gridCol>
                <a:gridCol w="3221253">
                  <a:extLst>
                    <a:ext uri="{9D8B030D-6E8A-4147-A177-3AD203B41FA5}">
                      <a16:colId xmlns:a16="http://schemas.microsoft.com/office/drawing/2014/main" val="2901193521"/>
                    </a:ext>
                  </a:extLst>
                </a:gridCol>
              </a:tblGrid>
              <a:tr h="864919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Mathematical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Research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Mathematical T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ools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Applied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029790"/>
                  </a:ext>
                </a:extLst>
              </a:tr>
              <a:tr h="700619">
                <a:tc>
                  <a:txBody>
                    <a:bodyPr/>
                    <a:lstStyle/>
                    <a:p>
                      <a:r>
                        <a:rPr lang="en-US" sz="2000" b="1" dirty="0"/>
                        <a:t>Advanced Mathematics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Continuous Numbers (e.g., real numbers) and methods of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Differential and integral calculus, and other mathematical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Speed, force, temperature, and physical quantities processing.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146784"/>
                  </a:ext>
                </a:extLst>
              </a:tr>
              <a:tr h="10228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Discrete Mathematics</a:t>
                      </a:r>
                      <a:endParaRPr lang="zh-CN" altLang="en-US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dirty="0"/>
                        <a:t>Discrete Elements (e.g., integers) and methods of handling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Set theory, graph theory, combinatorial mathematics, algebra and calculus, and logic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Information theory, cryptography, etc., such as data structures, algorithm design, network theory,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802299"/>
                  </a:ext>
                </a:extLst>
              </a:tr>
              <a:tr h="1080022">
                <a:tc>
                  <a:txBody>
                    <a:bodyPr/>
                    <a:lstStyle/>
                    <a:p>
                      <a:r>
                        <a:rPr lang="en-US" sz="2000" b="1" dirty="0"/>
                        <a:t>Linear Algebra (Branch of Algebra)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Vector space (e.g., projection and matrix)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Linear programming, vector space properties, transformation, and matrix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 complex systems with large data (e.g., graph theory), linear transformation for vector space conversion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370387"/>
                  </a:ext>
                </a:extLst>
              </a:tr>
              <a:tr h="966811">
                <a:tc>
                  <a:txBody>
                    <a:bodyPr/>
                    <a:lstStyle/>
                    <a:p>
                      <a:r>
                        <a:rPr lang="en-US" sz="2000" b="1" dirty="0"/>
                        <a:t>Data Structures (Algorithm Theory and Logic Branch)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Basic data structures (e.g., linked lists, arrays, graphs) and complex data structures (e.g., trees, tables)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Set theory, combinatorics, graphs, and operations in computing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Software development and system design for computational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33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14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000" b="1" dirty="0"/>
              <a:t>0.1 </a:t>
            </a:r>
            <a:r>
              <a:rPr lang="zh-CN" altLang="en-US" sz="2000" b="1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+mj-lt"/>
              </a:rPr>
              <a:t>Discrete Mathematics: Objective and Content</a:t>
            </a:r>
            <a:endParaRPr lang="en-US" altLang="zh-CN" sz="2000" b="1" dirty="0"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sz="2800" b="1" dirty="0">
                <a:solidFill>
                  <a:srgbClr val="CFA57C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⤷</a:t>
            </a:r>
            <a:r>
              <a:rPr lang="en-US" altLang="zh-CN" sz="2400" dirty="0">
                <a:latin typeface="+mj-lt"/>
              </a:rPr>
              <a:t> </a:t>
            </a:r>
            <a:r>
              <a:rPr lang="en-US" altLang="zh-CN" sz="2400" b="1" dirty="0">
                <a:latin typeface="+mj-lt"/>
              </a:rPr>
              <a:t>Main Content of Discrete Mathematics</a:t>
            </a:r>
            <a:endParaRPr lang="zh-CN" altLang="en-US" sz="2400" b="1" dirty="0">
              <a:highlight>
                <a:srgbClr val="FF0000"/>
              </a:highlight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E217C615-1D49-4D07-B850-D36106D7A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815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534C50F-8C5E-43EC-AFB5-2873559F4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192432"/>
              </p:ext>
            </p:extLst>
          </p:nvPr>
        </p:nvGraphicFramePr>
        <p:xfrm>
          <a:off x="1531983" y="869794"/>
          <a:ext cx="8983617" cy="573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5265">
                  <a:extLst>
                    <a:ext uri="{9D8B030D-6E8A-4147-A177-3AD203B41FA5}">
                      <a16:colId xmlns:a16="http://schemas.microsoft.com/office/drawing/2014/main" val="4144879382"/>
                    </a:ext>
                  </a:extLst>
                </a:gridCol>
                <a:gridCol w="6478352">
                  <a:extLst>
                    <a:ext uri="{9D8B030D-6E8A-4147-A177-3AD203B41FA5}">
                      <a16:colId xmlns:a16="http://schemas.microsoft.com/office/drawing/2014/main" val="181880845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 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6081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Theory</a:t>
                      </a:r>
                      <a:endParaRPr lang="zh-CN" altLang="en-US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000" dirty="0"/>
                        <a:t>Operations and properties of sets, such as union, intersection and complement.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62797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 and Boolean Algebra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 reasoning, propositional logic, predicate logic, and principles and applications of Boolean algebra.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96197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 Theory</a:t>
                      </a:r>
                      <a:endParaRPr lang="zh-CN" altLang="en-US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Graphs and their properties, including paths, cycles, coloring problems, and network flows.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8678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Combinatorial Mathematics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Counting problems such as permutations, combinations, binomial theorem, and counting principles.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7949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Discrete Probability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Probability of events in a discrete sample space.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11402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Integers and their properties, such as divisibility, greatest common divisors, and prime numbers.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16974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Algebraic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Algebraic systems such as groups, rings, and fields.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59644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Algorithm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869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47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+mj-lt"/>
                <a:cs typeface="Times New Roman" panose="02020603050405020304" pitchFamily="18" charset="0"/>
              </a:rPr>
              <a:t>                 </a:t>
            </a:r>
            <a:r>
              <a:rPr lang="en-US" altLang="zh-CN" sz="2000" b="1" dirty="0">
                <a:latin typeface="+mj-lt"/>
              </a:rPr>
              <a:t>0.1 </a:t>
            </a:r>
            <a:r>
              <a:rPr lang="en-US" altLang="zh-CN" sz="2000" dirty="0">
                <a:latin typeface="+mj-lt"/>
              </a:rPr>
              <a:t>Discrete Mathematics: Objective and Content</a:t>
            </a:r>
            <a:endParaRPr lang="en-US" altLang="zh-CN" sz="2000" b="1" dirty="0"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en-US" altLang="zh-CN" sz="2800" b="1" dirty="0"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CFA57C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⤷</a:t>
            </a:r>
            <a:r>
              <a:rPr lang="en-US" altLang="zh-CN" sz="2400" dirty="0">
                <a:latin typeface="+mj-lt"/>
              </a:rPr>
              <a:t> </a:t>
            </a:r>
            <a:r>
              <a:rPr lang="en-US" altLang="zh-CN" sz="2400" b="1" dirty="0">
                <a:latin typeface="+mj-lt"/>
              </a:rPr>
              <a:t>Discrete Mathematics and Management Science and Engineering</a:t>
            </a:r>
            <a:endParaRPr lang="zh-CN" altLang="en-US" sz="2400" b="1" dirty="0">
              <a:highlight>
                <a:srgbClr val="FF0000"/>
              </a:highlight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E217C615-1D49-4D07-B850-D36106D7A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815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3FAE3C3-A3A5-48B4-929E-038CF596B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727723"/>
              </p:ext>
            </p:extLst>
          </p:nvPr>
        </p:nvGraphicFramePr>
        <p:xfrm>
          <a:off x="130632" y="806243"/>
          <a:ext cx="11974283" cy="58455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31668">
                  <a:extLst>
                    <a:ext uri="{9D8B030D-6E8A-4147-A177-3AD203B41FA5}">
                      <a16:colId xmlns:a16="http://schemas.microsoft.com/office/drawing/2014/main" val="2419657278"/>
                    </a:ext>
                  </a:extLst>
                </a:gridCol>
                <a:gridCol w="8942615">
                  <a:extLst>
                    <a:ext uri="{9D8B030D-6E8A-4147-A177-3AD203B41FA5}">
                      <a16:colId xmlns:a16="http://schemas.microsoft.com/office/drawing/2014/main" val="3461815820"/>
                    </a:ext>
                  </a:extLst>
                </a:gridCol>
              </a:tblGrid>
              <a:tr h="514557"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CN" sz="1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 and Engineering-Related Issues</a:t>
                      </a:r>
                      <a:endParaRPr lang="zh-CN" altLang="en-US" sz="1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Involvement of Discrete Mathematics Theory and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36236"/>
                  </a:ext>
                </a:extLst>
              </a:tr>
              <a:tr h="60789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Operations Research and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900" b="1" dirty="0"/>
                        <a:t>Graph Theory and Combinatorial Optimization</a:t>
                      </a:r>
                      <a:r>
                        <a:rPr lang="en-US" sz="1900" dirty="0"/>
                        <a:t>, used to solve many problems in operations research, such as path optimization, scheduling, and resource allocation.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622651"/>
                  </a:ext>
                </a:extLst>
              </a:tr>
              <a:tr h="870394">
                <a:tc>
                  <a:txBody>
                    <a:bodyPr/>
                    <a:lstStyle/>
                    <a:p>
                      <a:r>
                        <a:rPr lang="en-US" sz="1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Decision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900" dirty="0"/>
                        <a:t>Utilizing </a:t>
                      </a:r>
                      <a:r>
                        <a:rPr lang="en-US" sz="1900" b="1" dirty="0"/>
                        <a:t>Logic and Set Theory</a:t>
                      </a:r>
                      <a:r>
                        <a:rPr lang="en-US" sz="1900" dirty="0"/>
                        <a:t> from discrete mathematics can better construct and analyze decision trees and decision models, aiding corporate management in risk assessment and decision-making.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84113"/>
                  </a:ext>
                </a:extLst>
              </a:tr>
              <a:tr h="384257">
                <a:tc>
                  <a:txBody>
                    <a:bodyPr/>
                    <a:lstStyle/>
                    <a:p>
                      <a:r>
                        <a:rPr lang="en-US" sz="1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Project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900" b="1" dirty="0"/>
                        <a:t>Network Flow and Path Analysis in Graph Theory</a:t>
                      </a:r>
                      <a:r>
                        <a:rPr lang="en-US" sz="1900" dirty="0"/>
                        <a:t> are crucial for optimizing project progress.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004149"/>
                  </a:ext>
                </a:extLst>
              </a:tr>
              <a:tr h="60789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Information Systems and Database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900" b="1" dirty="0"/>
                        <a:t>Set Theory and Relational Models</a:t>
                      </a:r>
                      <a:r>
                        <a:rPr lang="en-US" sz="1900" dirty="0"/>
                        <a:t> play a key role in database design and data structure creation, improving efficiency and effectiveness in data management.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890863"/>
                  </a:ext>
                </a:extLst>
              </a:tr>
              <a:tr h="870394">
                <a:tc>
                  <a:txBody>
                    <a:bodyPr/>
                    <a:lstStyle/>
                    <a:p>
                      <a:r>
                        <a:rPr lang="en-US" sz="1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Quality Control and Process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900" dirty="0"/>
                        <a:t>Discrete mathematics' </a:t>
                      </a:r>
                      <a:r>
                        <a:rPr lang="en-US" sz="1900" b="1" dirty="0"/>
                        <a:t>statistical methods and models</a:t>
                      </a:r>
                      <a:r>
                        <a:rPr lang="en-US" sz="1900" dirty="0"/>
                        <a:t> can optimize quality control and manufacturing processes, helping businesses analyze production data to identify problems and implement improvements.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751701"/>
                  </a:ext>
                </a:extLst>
              </a:tr>
              <a:tr h="607894">
                <a:tc>
                  <a:txBody>
                    <a:bodyPr/>
                    <a:lstStyle/>
                    <a:p>
                      <a:r>
                        <a:rPr lang="en-US" sz="1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Risk Management and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900" b="1" dirty="0"/>
                        <a:t>Discrete Probability Theory and Statistical Methods</a:t>
                      </a:r>
                      <a:r>
                        <a:rPr lang="en-US" sz="1900" dirty="0"/>
                        <a:t> are used to evaluate risks and uncertainties, predicting the likelihood of risk events and their potential impact on business.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908336"/>
                  </a:ext>
                </a:extLst>
              </a:tr>
              <a:tr h="870394">
                <a:tc>
                  <a:txBody>
                    <a:bodyPr/>
                    <a:lstStyle/>
                    <a:p>
                      <a:r>
                        <a:rPr lang="en-US" sz="1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Market Analysis and Research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900" b="1" dirty="0"/>
                        <a:t>Combinatorial Mathematics and Graph Theory</a:t>
                      </a:r>
                      <a:r>
                        <a:rPr lang="en-US" sz="1900" dirty="0"/>
                        <a:t> play a role in market segmentation, customer behavior analysis, and marketing strategy formulation, helping companies understand complex market structures and customer relationship networks.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041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36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cs typeface="Times New Roman" panose="02020603050405020304" pitchFamily="18" charset="0"/>
              </a:rPr>
              <a:t>               </a:t>
            </a:r>
            <a:r>
              <a:rPr lang="en-US" altLang="zh-CN" sz="2400" b="1" dirty="0">
                <a:latin typeface="+mj-lt"/>
              </a:rPr>
              <a:t>0.2 Discrete Mathematic Content</a:t>
            </a:r>
            <a:endParaRPr lang="zh-CN" altLang="en-US" sz="2400" b="1" dirty="0">
              <a:solidFill>
                <a:srgbClr val="3D557A"/>
              </a:solidFill>
              <a:latin typeface="+mj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E217C615-1D49-4D07-B850-D36106D7A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815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7F08C45-3D15-45C1-A5A3-D1EB58DC91FE}"/>
              </a:ext>
            </a:extLst>
          </p:cNvPr>
          <p:cNvSpPr txBox="1">
            <a:spLocks noChangeArrowheads="1"/>
          </p:cNvSpPr>
          <p:nvPr/>
        </p:nvSpPr>
        <p:spPr>
          <a:xfrm>
            <a:off x="1403582" y="1046712"/>
            <a:ext cx="10250445" cy="5519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B61FF"/>
              </a:buCl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333333"/>
                </a:solidFill>
              </a:rPr>
              <a:t>Course Number</a:t>
            </a:r>
            <a:r>
              <a:rPr lang="zh-CN" altLang="en-US" b="1" dirty="0">
                <a:solidFill>
                  <a:srgbClr val="333333"/>
                </a:solidFill>
              </a:rPr>
              <a:t>：</a:t>
            </a:r>
            <a:r>
              <a:rPr lang="en-US" altLang="zh-CN" b="1" dirty="0">
                <a:solidFill>
                  <a:srgbClr val="333333"/>
                </a:solidFill>
              </a:rPr>
              <a:t>01112201</a:t>
            </a:r>
          </a:p>
          <a:p>
            <a:pPr marL="0" indent="0">
              <a:buClr>
                <a:srgbClr val="0B61FF"/>
              </a:buClr>
              <a:buNone/>
            </a:pPr>
            <a:endParaRPr lang="en-US" altLang="zh-CN" b="1" dirty="0">
              <a:solidFill>
                <a:srgbClr val="333333"/>
              </a:solidFill>
            </a:endParaRPr>
          </a:p>
          <a:p>
            <a:pPr>
              <a:buClr>
                <a:srgbClr val="0B61FF"/>
              </a:buCl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333333"/>
                </a:solidFill>
              </a:rPr>
              <a:t>Term: 2026 Spring</a:t>
            </a:r>
          </a:p>
          <a:p>
            <a:pPr marL="0" indent="0">
              <a:buClr>
                <a:srgbClr val="0B61FF"/>
              </a:buClr>
              <a:buNone/>
            </a:pPr>
            <a:endParaRPr lang="en-US" altLang="zh-CN" b="1" dirty="0">
              <a:solidFill>
                <a:srgbClr val="333333"/>
              </a:solidFill>
            </a:endParaRPr>
          </a:p>
          <a:p>
            <a:pPr>
              <a:buClr>
                <a:srgbClr val="0B61FF"/>
              </a:buCl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333333"/>
                </a:solidFill>
              </a:rPr>
              <a:t>Class Times: (Tues, 10:00 am - 11:35 am Thurs: 8:00 am - 9:35 am)</a:t>
            </a:r>
          </a:p>
          <a:p>
            <a:pPr>
              <a:buClr>
                <a:srgbClr val="0B61FF"/>
              </a:buClr>
              <a:buFont typeface="Wingdings" panose="05000000000000000000" pitchFamily="2" charset="2"/>
              <a:buChar char="n"/>
            </a:pPr>
            <a:endParaRPr lang="en-US" altLang="zh-CN" b="1" dirty="0">
              <a:solidFill>
                <a:srgbClr val="333333"/>
              </a:solidFill>
            </a:endParaRPr>
          </a:p>
          <a:p>
            <a:pPr>
              <a:buClr>
                <a:srgbClr val="0B61FF"/>
              </a:buCl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333333"/>
                </a:solidFill>
              </a:rPr>
              <a:t>Venue: </a:t>
            </a:r>
            <a:r>
              <a:rPr lang="en-US" b="1" dirty="0">
                <a:solidFill>
                  <a:srgbClr val="333333"/>
                </a:solidFill>
              </a:rPr>
              <a:t>Rm 105, North Teaching </a:t>
            </a:r>
            <a:r>
              <a:rPr lang="en-US" b="1" dirty="0" err="1">
                <a:solidFill>
                  <a:srgbClr val="333333"/>
                </a:solidFill>
              </a:rPr>
              <a:t>Bldg</a:t>
            </a:r>
            <a:r>
              <a:rPr lang="en-US" b="1" dirty="0">
                <a:solidFill>
                  <a:srgbClr val="333333"/>
                </a:solidFill>
              </a:rPr>
              <a:t>, </a:t>
            </a:r>
            <a:r>
              <a:rPr lang="en-US" b="1" dirty="0" err="1">
                <a:solidFill>
                  <a:srgbClr val="333333"/>
                </a:solidFill>
              </a:rPr>
              <a:t>Siping</a:t>
            </a:r>
            <a:r>
              <a:rPr lang="en-US" b="1" dirty="0">
                <a:solidFill>
                  <a:srgbClr val="333333"/>
                </a:solidFill>
              </a:rPr>
              <a:t> Rd Campus</a:t>
            </a:r>
          </a:p>
          <a:p>
            <a:pPr>
              <a:buClr>
                <a:srgbClr val="0B61FF"/>
              </a:buClr>
              <a:buFont typeface="Wingdings" panose="05000000000000000000" pitchFamily="2" charset="2"/>
              <a:buChar char="n"/>
            </a:pPr>
            <a:endParaRPr lang="en-US" b="1" dirty="0">
              <a:solidFill>
                <a:srgbClr val="333333"/>
              </a:solidFill>
            </a:endParaRPr>
          </a:p>
          <a:p>
            <a:pPr>
              <a:buClr>
                <a:srgbClr val="0B61FF"/>
              </a:buClr>
              <a:buFont typeface="Wingdings" panose="05000000000000000000" pitchFamily="2" charset="2"/>
              <a:buChar char="n"/>
            </a:pPr>
            <a:r>
              <a:rPr lang="en-US" b="1" dirty="0">
                <a:solidFill>
                  <a:srgbClr val="333333"/>
                </a:solidFill>
              </a:rPr>
              <a:t>O</a:t>
            </a:r>
            <a:r>
              <a:rPr lang="en-US" altLang="zh-CN" b="1" dirty="0">
                <a:solidFill>
                  <a:srgbClr val="333333"/>
                </a:solidFill>
              </a:rPr>
              <a:t>ffice hour: Friday 2-4 pm, Tongji School of SEM Building A, 1229</a:t>
            </a:r>
          </a:p>
        </p:txBody>
      </p:sp>
    </p:spTree>
    <p:extLst>
      <p:ext uri="{BB962C8B-B14F-4D97-AF65-F5344CB8AC3E}">
        <p14:creationId xmlns:p14="http://schemas.microsoft.com/office/powerpoint/2010/main" val="63103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000" b="1" dirty="0"/>
              <a:t>0.2 </a:t>
            </a:r>
            <a:r>
              <a:rPr lang="en-US" altLang="zh-CN" sz="2000" dirty="0"/>
              <a:t>Discrete Mathematic Content</a:t>
            </a:r>
            <a:endParaRPr lang="en-US" altLang="zh-CN" sz="20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sz="2400" b="1" dirty="0">
                <a:solidFill>
                  <a:srgbClr val="CFA57C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⤷</a:t>
            </a:r>
            <a:r>
              <a:rPr lang="zh-CN" altLang="en-US" sz="2000" b="1" dirty="0">
                <a:solidFill>
                  <a:srgbClr val="CFA57C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/>
              <a:t>Course introduction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DD7BBD8-CB85-42F6-8DBC-ACFD4782E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092172"/>
              </p:ext>
            </p:extLst>
          </p:nvPr>
        </p:nvGraphicFramePr>
        <p:xfrm>
          <a:off x="1262019" y="1001168"/>
          <a:ext cx="10103388" cy="43763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5847">
                  <a:extLst>
                    <a:ext uri="{9D8B030D-6E8A-4147-A177-3AD203B41FA5}">
                      <a16:colId xmlns:a16="http://schemas.microsoft.com/office/drawing/2014/main" val="1241718512"/>
                    </a:ext>
                  </a:extLst>
                </a:gridCol>
                <a:gridCol w="2525847">
                  <a:extLst>
                    <a:ext uri="{9D8B030D-6E8A-4147-A177-3AD203B41FA5}">
                      <a16:colId xmlns:a16="http://schemas.microsoft.com/office/drawing/2014/main" val="2886251545"/>
                    </a:ext>
                  </a:extLst>
                </a:gridCol>
                <a:gridCol w="2525847">
                  <a:extLst>
                    <a:ext uri="{9D8B030D-6E8A-4147-A177-3AD203B41FA5}">
                      <a16:colId xmlns:a16="http://schemas.microsoft.com/office/drawing/2014/main" val="3744972090"/>
                    </a:ext>
                  </a:extLst>
                </a:gridCol>
                <a:gridCol w="2525847">
                  <a:extLst>
                    <a:ext uri="{9D8B030D-6E8A-4147-A177-3AD203B41FA5}">
                      <a16:colId xmlns:a16="http://schemas.microsoft.com/office/drawing/2014/main" val="222992904"/>
                    </a:ext>
                  </a:extLst>
                </a:gridCol>
              </a:tblGrid>
              <a:tr h="729396">
                <a:tc>
                  <a:txBody>
                    <a:bodyPr/>
                    <a:lstStyle/>
                    <a:p>
                      <a:pPr algn="ctr"/>
                      <a:r>
                        <a:rPr lang="zh-CN" sz="2000" kern="0">
                          <a:solidFill>
                            <a:sysClr val="windowText" lastClr="000000"/>
                          </a:solidFill>
                          <a:effectLst/>
                        </a:rPr>
                        <a:t>课程名称（中文）</a:t>
                      </a:r>
                      <a:endParaRPr lang="zh-CN" sz="2000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离散数学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48585"/>
                  </a:ext>
                </a:extLst>
              </a:tr>
              <a:tr h="729396">
                <a:tc>
                  <a:txBody>
                    <a:bodyPr/>
                    <a:lstStyle/>
                    <a:p>
                      <a:pPr algn="ctr"/>
                      <a:r>
                        <a:rPr lang="zh-CN" sz="2000" kern="0">
                          <a:solidFill>
                            <a:sysClr val="windowText" lastClr="000000"/>
                          </a:solidFill>
                          <a:effectLst/>
                        </a:rPr>
                        <a:t>课程名称（英文）</a:t>
                      </a:r>
                      <a:endParaRPr lang="zh-CN" sz="2000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kern="0">
                          <a:solidFill>
                            <a:sysClr val="windowText" lastClr="000000"/>
                          </a:solidFill>
                          <a:effectLst/>
                        </a:rPr>
                        <a:t>Discrete Mathematics</a:t>
                      </a:r>
                      <a:endParaRPr lang="zh-CN" sz="2000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655911"/>
                  </a:ext>
                </a:extLst>
              </a:tr>
              <a:tr h="729396">
                <a:tc>
                  <a:txBody>
                    <a:bodyPr/>
                    <a:lstStyle/>
                    <a:p>
                      <a:pPr algn="ctr"/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课程编号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>
                          <a:solidFill>
                            <a:sysClr val="windowText" lastClr="000000"/>
                          </a:solidFill>
                          <a:effectLst/>
                        </a:rPr>
                        <a:t>011122</a:t>
                      </a:r>
                      <a:endParaRPr lang="zh-CN" sz="2000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授课语言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kern="100" dirty="0"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英文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80470"/>
                  </a:ext>
                </a:extLst>
              </a:tr>
              <a:tr h="729396">
                <a:tc>
                  <a:txBody>
                    <a:bodyPr/>
                    <a:lstStyle/>
                    <a:p>
                      <a:pPr algn="ctr"/>
                      <a:r>
                        <a:rPr lang="zh-CN" sz="2000" kern="0">
                          <a:solidFill>
                            <a:sysClr val="windowText" lastClr="000000"/>
                          </a:solidFill>
                          <a:effectLst/>
                        </a:rPr>
                        <a:t>学</a:t>
                      </a:r>
                      <a:r>
                        <a:rPr lang="en-US" sz="2000" kern="0">
                          <a:solidFill>
                            <a:sysClr val="windowText" lastClr="000000"/>
                          </a:solidFill>
                          <a:effectLst/>
                        </a:rPr>
                        <a:t>    </a:t>
                      </a:r>
                      <a:r>
                        <a:rPr lang="zh-CN" sz="2000" kern="0">
                          <a:solidFill>
                            <a:sysClr val="windowText" lastClr="000000"/>
                          </a:solidFill>
                          <a:effectLst/>
                        </a:rPr>
                        <a:t>分</a:t>
                      </a:r>
                      <a:endParaRPr lang="zh-CN" sz="2000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课内学时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64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68202"/>
                  </a:ext>
                </a:extLst>
              </a:tr>
              <a:tr h="729396">
                <a:tc>
                  <a:txBody>
                    <a:bodyPr/>
                    <a:lstStyle/>
                    <a:p>
                      <a:pPr algn="ctr"/>
                      <a:r>
                        <a:rPr lang="zh-CN" sz="2000" kern="0">
                          <a:solidFill>
                            <a:sysClr val="windowText" lastClr="000000"/>
                          </a:solidFill>
                          <a:effectLst/>
                        </a:rPr>
                        <a:t>课程性质</a:t>
                      </a:r>
                      <a:endParaRPr lang="zh-CN" sz="2000" kern="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专业基础课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考试</a:t>
                      </a:r>
                      <a:r>
                        <a:rPr lang="en-US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/</a:t>
                      </a:r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考查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考查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539390"/>
                  </a:ext>
                </a:extLst>
              </a:tr>
              <a:tr h="729396">
                <a:tc>
                  <a:txBody>
                    <a:bodyPr/>
                    <a:lstStyle/>
                    <a:p>
                      <a:pPr algn="ctr"/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先修课程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高等数学，线性代数，</a:t>
                      </a:r>
                      <a:r>
                        <a:rPr lang="en-US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C</a:t>
                      </a:r>
                      <a:r>
                        <a:rPr lang="zh-CN" sz="20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语言程序设计，面向对象程序设计</a:t>
                      </a:r>
                      <a:endParaRPr lang="zh-CN" sz="20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119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49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000" b="1" dirty="0"/>
              <a:t>0.2 </a:t>
            </a:r>
            <a:r>
              <a:rPr lang="en-US" altLang="zh-CN" sz="2000" dirty="0"/>
              <a:t>Discrete Mathematic Content</a:t>
            </a:r>
            <a:endParaRPr lang="en-US" altLang="zh-CN" sz="20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sz="2400" b="1" dirty="0">
                <a:solidFill>
                  <a:srgbClr val="CFA57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⤷</a:t>
            </a:r>
            <a:r>
              <a:rPr lang="en-US" altLang="zh-CN" sz="2400" dirty="0"/>
              <a:t>Course Teaching Goal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C1DEA0E-0C7D-4C61-9A11-0D70DC497DB7}"/>
              </a:ext>
            </a:extLst>
          </p:cNvPr>
          <p:cNvSpPr txBox="1">
            <a:spLocks noChangeArrowheads="1"/>
          </p:cNvSpPr>
          <p:nvPr/>
        </p:nvSpPr>
        <p:spPr>
          <a:xfrm>
            <a:off x="1469570" y="849088"/>
            <a:ext cx="9427816" cy="55190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2400" b="1" dirty="0"/>
              <a:t>Course Teaching Objectives</a:t>
            </a:r>
            <a:endParaRPr lang="en-US" altLang="zh-CN" sz="2400" dirty="0"/>
          </a:p>
          <a:p>
            <a:pPr>
              <a:lnSpc>
                <a:spcPct val="120000"/>
              </a:lnSpc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Objective 1</a:t>
            </a:r>
            <a:r>
              <a:rPr lang="en-US" altLang="zh-CN" sz="2400" dirty="0"/>
              <a:t>: Proficiently grasp the basic concepts and fundamental theories of </a:t>
            </a:r>
            <a:r>
              <a:rPr lang="en-US" altLang="zh-CN" sz="2400" b="1" dirty="0">
                <a:solidFill>
                  <a:srgbClr val="0B61FF"/>
                </a:solidFill>
              </a:rPr>
              <a:t>set theory </a:t>
            </a:r>
            <a:r>
              <a:rPr lang="en-US" altLang="zh-CN" sz="2400" dirty="0"/>
              <a:t>and proof methods, and master the application of these basic tools.</a:t>
            </a:r>
          </a:p>
          <a:p>
            <a:pPr>
              <a:lnSpc>
                <a:spcPct val="120000"/>
              </a:lnSpc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Objective 2: </a:t>
            </a:r>
            <a:r>
              <a:rPr lang="en-US" altLang="zh-CN" sz="2400" dirty="0"/>
              <a:t>Understand the basic concepts and fundamental theories of </a:t>
            </a:r>
            <a:r>
              <a:rPr lang="en-US" altLang="zh-CN" sz="2400" b="1" dirty="0">
                <a:solidFill>
                  <a:srgbClr val="0B61FF"/>
                </a:solidFill>
              </a:rPr>
              <a:t>mathematical logic </a:t>
            </a:r>
            <a:r>
              <a:rPr lang="en-US" altLang="zh-CN" sz="2400" dirty="0"/>
              <a:t>(including propositional logic and first-order logic) and learn to apply these basic tools.</a:t>
            </a:r>
          </a:p>
          <a:p>
            <a:pPr>
              <a:lnSpc>
                <a:spcPct val="120000"/>
              </a:lnSpc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Objective 3: </a:t>
            </a:r>
            <a:r>
              <a:rPr lang="en-US" altLang="zh-CN" sz="2400" dirty="0"/>
              <a:t>Proficiently grasp the basic concepts and fundamental theories of </a:t>
            </a:r>
            <a:r>
              <a:rPr lang="en-US" altLang="zh-CN" sz="2400" b="1" dirty="0">
                <a:solidFill>
                  <a:srgbClr val="0B61FF"/>
                </a:solidFill>
              </a:rPr>
              <a:t>relations and functions</a:t>
            </a:r>
            <a:r>
              <a:rPr lang="en-US" altLang="zh-CN" sz="2400" dirty="0"/>
              <a:t>, and be able to use relevant research methods to analyze and solve problems.</a:t>
            </a:r>
          </a:p>
        </p:txBody>
      </p:sp>
    </p:spTree>
    <p:extLst>
      <p:ext uri="{BB962C8B-B14F-4D97-AF65-F5344CB8AC3E}">
        <p14:creationId xmlns:p14="http://schemas.microsoft.com/office/powerpoint/2010/main" val="177158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000" b="1" dirty="0"/>
              <a:t>0.2 </a:t>
            </a:r>
            <a:r>
              <a:rPr lang="en-US" altLang="zh-CN" sz="2000" dirty="0"/>
              <a:t>Discrete Mathematic Content</a:t>
            </a:r>
            <a:endParaRPr lang="en-US" altLang="zh-CN" sz="20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sz="2400" b="1" dirty="0">
                <a:solidFill>
                  <a:srgbClr val="CFA57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⤷</a:t>
            </a:r>
            <a:r>
              <a:rPr lang="en-US" altLang="zh-CN" sz="2400" dirty="0"/>
              <a:t>Course Teaching Goal (Cont.)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C1DEA0E-0C7D-4C61-9A11-0D70DC497DB7}"/>
              </a:ext>
            </a:extLst>
          </p:cNvPr>
          <p:cNvSpPr txBox="1">
            <a:spLocks noChangeArrowheads="1"/>
          </p:cNvSpPr>
          <p:nvPr/>
        </p:nvSpPr>
        <p:spPr>
          <a:xfrm>
            <a:off x="1469570" y="849088"/>
            <a:ext cx="9427816" cy="55190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2400" b="1" dirty="0"/>
              <a:t>Course Teaching Objectives</a:t>
            </a:r>
            <a:endParaRPr lang="en-US" altLang="zh-CN" sz="2400" dirty="0"/>
          </a:p>
          <a:p>
            <a:pPr>
              <a:lnSpc>
                <a:spcPct val="120000"/>
              </a:lnSpc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Objective 4: </a:t>
            </a:r>
            <a:r>
              <a:rPr lang="en-US" altLang="zh-CN" sz="2400" dirty="0"/>
              <a:t>Proficiently grasp the basic concepts and fundamental theories of </a:t>
            </a:r>
            <a:r>
              <a:rPr lang="en-US" altLang="zh-CN" sz="2400" b="1" dirty="0">
                <a:solidFill>
                  <a:srgbClr val="0B61FF"/>
                </a:solidFill>
              </a:rPr>
              <a:t>graph theory </a:t>
            </a:r>
            <a:r>
              <a:rPr lang="en-US" altLang="zh-CN" sz="2400" dirty="0"/>
              <a:t>(including trees) and use various graph theory models to analyze and solve problems.</a:t>
            </a:r>
          </a:p>
          <a:p>
            <a:pPr>
              <a:lnSpc>
                <a:spcPct val="120000"/>
              </a:lnSpc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Objective 5:</a:t>
            </a:r>
            <a:r>
              <a:rPr lang="en-US" altLang="zh-CN" sz="2400" dirty="0"/>
              <a:t> Proficiently grasp the basic concepts and fundamental theories of </a:t>
            </a:r>
            <a:r>
              <a:rPr lang="en-US" altLang="zh-CN" sz="2400" b="1" dirty="0">
                <a:solidFill>
                  <a:srgbClr val="0B61FF"/>
                </a:solidFill>
              </a:rPr>
              <a:t>abstract algebra </a:t>
            </a:r>
            <a:r>
              <a:rPr lang="en-US" altLang="zh-CN" sz="2400" dirty="0"/>
              <a:t>and be able to use relevant research methods to analyze and solve problems.</a:t>
            </a:r>
          </a:p>
        </p:txBody>
      </p:sp>
    </p:spTree>
    <p:extLst>
      <p:ext uri="{BB962C8B-B14F-4D97-AF65-F5344CB8AC3E}">
        <p14:creationId xmlns:p14="http://schemas.microsoft.com/office/powerpoint/2010/main" val="112571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000" b="1" dirty="0"/>
              <a:t>0.2 </a:t>
            </a:r>
            <a:r>
              <a:rPr lang="en-US" altLang="zh-CN" sz="2000" dirty="0"/>
              <a:t>Discrete Mathematic Content</a:t>
            </a:r>
            <a:endParaRPr lang="en-US" altLang="zh-CN" sz="20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sz="2400" b="1" dirty="0">
                <a:solidFill>
                  <a:srgbClr val="CFA57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⤷</a:t>
            </a:r>
            <a:r>
              <a:rPr lang="en-US" altLang="zh-CN" sz="2400" b="1" dirty="0"/>
              <a:t> Knowledge Units (Chapters)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0396E90-E44A-4025-B369-F308BF737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31556"/>
              </p:ext>
            </p:extLst>
          </p:nvPr>
        </p:nvGraphicFramePr>
        <p:xfrm>
          <a:off x="2574689" y="932656"/>
          <a:ext cx="6028205" cy="49891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39066">
                  <a:extLst>
                    <a:ext uri="{9D8B030D-6E8A-4147-A177-3AD203B41FA5}">
                      <a16:colId xmlns:a16="http://schemas.microsoft.com/office/drawing/2014/main" val="3745595667"/>
                    </a:ext>
                  </a:extLst>
                </a:gridCol>
                <a:gridCol w="1789139">
                  <a:extLst>
                    <a:ext uri="{9D8B030D-6E8A-4147-A177-3AD203B41FA5}">
                      <a16:colId xmlns:a16="http://schemas.microsoft.com/office/drawing/2014/main" val="1184075004"/>
                    </a:ext>
                  </a:extLst>
                </a:gridCol>
              </a:tblGrid>
              <a:tr h="4535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Knowledge Units (Chapters)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In-Class Hours</a:t>
                      </a:r>
                      <a:endParaRPr lang="zh-CN" altLang="en-US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651797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Theory and Proof Methods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577150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Propositional Logic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703870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First-Order Logic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78807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Relations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646425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Functions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358881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Graphs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505052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Trees and Their Applications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644817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Elementary Number Theory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698344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Algebraic Systems (Group Theory)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2558"/>
                  </a:ext>
                </a:extLst>
              </a:tr>
              <a:tr h="45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Comprehensive Review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156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1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000" b="1" dirty="0"/>
              <a:t>0.2 </a:t>
            </a:r>
            <a:r>
              <a:rPr lang="en-US" altLang="zh-CN" sz="2000" dirty="0"/>
              <a:t>Discrete Mathematic Content</a:t>
            </a:r>
            <a:endParaRPr lang="en-US" altLang="zh-CN" sz="20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sz="2400" b="1" dirty="0">
                <a:solidFill>
                  <a:srgbClr val="CFA57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⤷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Course Work and Grading</a:t>
            </a:r>
            <a:endParaRPr lang="zh-CN" altLang="en-US" sz="2400" b="1" dirty="0">
              <a:highlight>
                <a:srgbClr val="FF0000"/>
              </a:highlight>
              <a:latin typeface="Cambria" panose="020405030504060302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E05423B8-236D-4BA3-A7BF-5D3016AB2EBC}"/>
              </a:ext>
            </a:extLst>
          </p:cNvPr>
          <p:cNvSpPr txBox="1">
            <a:spLocks noChangeArrowheads="1"/>
          </p:cNvSpPr>
          <p:nvPr/>
        </p:nvSpPr>
        <p:spPr>
          <a:xfrm>
            <a:off x="1469570" y="849088"/>
            <a:ext cx="8797853" cy="5519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C447CE-E7B2-44F3-AD4A-B3901082B29C}"/>
              </a:ext>
            </a:extLst>
          </p:cNvPr>
          <p:cNvSpPr txBox="1"/>
          <p:nvPr/>
        </p:nvSpPr>
        <p:spPr>
          <a:xfrm>
            <a:off x="264250" y="4576654"/>
            <a:ext cx="62405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Drop lowest Intermediate exams score</a:t>
            </a:r>
          </a:p>
          <a:p>
            <a:r>
              <a:rPr lang="en-US" altLang="zh-CN" sz="2400" dirty="0"/>
              <a:t>Active participation in class 5% (bonus)</a:t>
            </a:r>
            <a:endParaRPr lang="zh-CN" altLang="en-US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DF739E5-19AA-4911-9CAB-A5481E9F7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490164"/>
              </p:ext>
            </p:extLst>
          </p:nvPr>
        </p:nvGraphicFramePr>
        <p:xfrm>
          <a:off x="-20841" y="1014980"/>
          <a:ext cx="7980476" cy="34332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9457">
                  <a:extLst>
                    <a:ext uri="{9D8B030D-6E8A-4147-A177-3AD203B41FA5}">
                      <a16:colId xmlns:a16="http://schemas.microsoft.com/office/drawing/2014/main" val="1900992413"/>
                    </a:ext>
                  </a:extLst>
                </a:gridCol>
                <a:gridCol w="1522927">
                  <a:extLst>
                    <a:ext uri="{9D8B030D-6E8A-4147-A177-3AD203B41FA5}">
                      <a16:colId xmlns:a16="http://schemas.microsoft.com/office/drawing/2014/main" val="739406770"/>
                    </a:ext>
                  </a:extLst>
                </a:gridCol>
                <a:gridCol w="4868092">
                  <a:extLst>
                    <a:ext uri="{9D8B030D-6E8A-4147-A177-3AD203B41FA5}">
                      <a16:colId xmlns:a16="http://schemas.microsoft.com/office/drawing/2014/main" val="3693388900"/>
                    </a:ext>
                  </a:extLst>
                </a:gridCol>
              </a:tblGrid>
              <a:tr h="385287">
                <a:tc>
                  <a:txBody>
                    <a:bodyPr/>
                    <a:lstStyle/>
                    <a:p>
                      <a:pPr marL="0" indent="0" algn="just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Grading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/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Percentage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864898"/>
                  </a:ext>
                </a:extLst>
              </a:tr>
              <a:tr h="729738">
                <a:tc>
                  <a:txBody>
                    <a:bodyPr/>
                    <a:lstStyle/>
                    <a:p>
                      <a:pPr marL="0" indent="0" algn="just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Attendance/Discussion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5%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When I took the course, I tried my best to attend every discussion and ask questions whenever I was confused!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980313"/>
                  </a:ext>
                </a:extLst>
              </a:tr>
              <a:tr h="729738">
                <a:tc>
                  <a:txBody>
                    <a:bodyPr/>
                    <a:lstStyle/>
                    <a:p>
                      <a:pPr marL="0" indent="0" algn="just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Intermediate exams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35%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There will be 5-10 in-class exams, each with 5 problems. Electronic devices are not allowed 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for each exam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183815"/>
                  </a:ext>
                </a:extLst>
              </a:tr>
              <a:tr h="1094607">
                <a:tc>
                  <a:txBody>
                    <a:bodyPr/>
                    <a:lstStyle/>
                    <a:p>
                      <a:pPr marL="0" indent="0" algn="just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Final exam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60%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/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Students are permitted to bring a single A4 sheet into the exam room to record essential information. Electronic devices are not allowed.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939088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9B5965AC-0C92-4CA2-C000-189ABC5DA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635" y="579662"/>
            <a:ext cx="4010025" cy="53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28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000" b="1" dirty="0"/>
              <a:t>0.2 </a:t>
            </a:r>
            <a:r>
              <a:rPr lang="en-US" altLang="zh-CN" sz="2000" dirty="0"/>
              <a:t>Discrete Mathematic Content</a:t>
            </a:r>
            <a:endParaRPr lang="en-US" altLang="zh-CN" sz="20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sz="2400" b="1" dirty="0">
                <a:solidFill>
                  <a:srgbClr val="CFA57C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⤷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Reference books</a:t>
            </a:r>
            <a:endParaRPr lang="zh-CN" altLang="en-US" sz="2400" dirty="0">
              <a:latin typeface="Cambria" panose="020405030504060302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E05423B8-236D-4BA3-A7BF-5D3016AB2EBC}"/>
              </a:ext>
            </a:extLst>
          </p:cNvPr>
          <p:cNvSpPr txBox="1">
            <a:spLocks noChangeArrowheads="1"/>
          </p:cNvSpPr>
          <p:nvPr/>
        </p:nvSpPr>
        <p:spPr>
          <a:xfrm>
            <a:off x="1469570" y="829429"/>
            <a:ext cx="8797853" cy="5519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b="1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0D82A72-7F17-4440-9E8D-D6FD08D5D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204687"/>
              </p:ext>
            </p:extLst>
          </p:nvPr>
        </p:nvGraphicFramePr>
        <p:xfrm>
          <a:off x="985520" y="1138194"/>
          <a:ext cx="9316721" cy="40021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3840">
                  <a:extLst>
                    <a:ext uri="{9D8B030D-6E8A-4147-A177-3AD203B41FA5}">
                      <a16:colId xmlns:a16="http://schemas.microsoft.com/office/drawing/2014/main" val="2027295296"/>
                    </a:ext>
                  </a:extLst>
                </a:gridCol>
                <a:gridCol w="1757680">
                  <a:extLst>
                    <a:ext uri="{9D8B030D-6E8A-4147-A177-3AD203B41FA5}">
                      <a16:colId xmlns:a16="http://schemas.microsoft.com/office/drawing/2014/main" val="1494404166"/>
                    </a:ext>
                  </a:extLst>
                </a:gridCol>
                <a:gridCol w="1456748">
                  <a:extLst>
                    <a:ext uri="{9D8B030D-6E8A-4147-A177-3AD203B41FA5}">
                      <a16:colId xmlns:a16="http://schemas.microsoft.com/office/drawing/2014/main" val="599932703"/>
                    </a:ext>
                  </a:extLst>
                </a:gridCol>
                <a:gridCol w="1281454">
                  <a:extLst>
                    <a:ext uri="{9D8B030D-6E8A-4147-A177-3AD203B41FA5}">
                      <a16:colId xmlns:a16="http://schemas.microsoft.com/office/drawing/2014/main" val="1781404896"/>
                    </a:ext>
                  </a:extLst>
                </a:gridCol>
                <a:gridCol w="1920897">
                  <a:extLst>
                    <a:ext uri="{9D8B030D-6E8A-4147-A177-3AD203B41FA5}">
                      <a16:colId xmlns:a16="http://schemas.microsoft.com/office/drawing/2014/main" val="4185546226"/>
                    </a:ext>
                  </a:extLst>
                </a:gridCol>
                <a:gridCol w="1386102">
                  <a:extLst>
                    <a:ext uri="{9D8B030D-6E8A-4147-A177-3AD203B41FA5}">
                      <a16:colId xmlns:a16="http://schemas.microsoft.com/office/drawing/2014/main" val="142951312"/>
                    </a:ext>
                  </a:extLst>
                </a:gridCol>
              </a:tblGrid>
              <a:tr h="9941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Title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Author(s)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Press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+mj-lt"/>
                        </a:rPr>
                        <a:t>Edition</a:t>
                      </a:r>
                      <a:r>
                        <a:rPr lang="en-US" altLang="zh-CN" sz="2400" b="1" dirty="0">
                          <a:latin typeface="+mj-lt"/>
                        </a:rPr>
                        <a:t> 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ISBN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320909"/>
                  </a:ext>
                </a:extLst>
              </a:tr>
              <a:tr h="99418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离散数学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耿素云，曲婉玲，张立昂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清华大学出版社</a:t>
                      </a:r>
                      <a:r>
                        <a:rPr lang="en-US" alt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[2021]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第</a:t>
                      </a:r>
                      <a:r>
                        <a:rPr lang="en-US" sz="2000" b="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r>
                        <a:rPr lang="zh-CN" sz="2000" b="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版</a:t>
                      </a:r>
                      <a:endParaRPr lang="zh-CN" sz="20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9787302592686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988481"/>
                  </a:ext>
                </a:extLst>
              </a:tr>
              <a:tr h="99418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Discrete Mathematics and Its Applications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Kenneth H. Rosen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altLang="zh-CN" sz="20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Mcgraw-Hill</a:t>
                      </a:r>
                      <a:r>
                        <a:rPr lang="en-US" alt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[2019]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Eighth Edition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978125967651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10176"/>
                  </a:ext>
                </a:extLst>
              </a:tr>
              <a:tr h="99418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CN" altLang="zh-CN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离散数学及其应用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Kenneth H. Rosen</a:t>
                      </a:r>
                      <a:r>
                        <a:rPr lang="zh-CN" altLang="zh-CN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著 徐六通等译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机械工业出版社</a:t>
                      </a:r>
                      <a:r>
                        <a:rPr lang="en-US" alt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[2019]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第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版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9787111636878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801379"/>
                  </a:ext>
                </a:extLst>
              </a:tr>
            </a:tbl>
          </a:graphicData>
        </a:graphic>
      </p:graphicFrame>
      <p:pic>
        <p:nvPicPr>
          <p:cNvPr id="14" name="Picture 2">
            <a:extLst>
              <a:ext uri="{FF2B5EF4-FFF2-40B4-BE49-F238E27FC236}">
                <a16:creationId xmlns:a16="http://schemas.microsoft.com/office/drawing/2014/main" id="{191BAF24-AE12-4BC7-8EB7-AA79CE8A5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279" y="3171756"/>
            <a:ext cx="801961" cy="93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2076635-C672-488F-88E2-2BE5DC6FDF0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379" y="2184045"/>
            <a:ext cx="975012" cy="86633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D25223F-D0B2-489B-876A-7C502D6B6C0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998" y="4292525"/>
            <a:ext cx="678642" cy="79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6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400" b="1" dirty="0">
                <a:latin typeface="+mj-lt"/>
              </a:rPr>
              <a:t>0.2 Suggestion</a:t>
            </a:r>
            <a:endParaRPr lang="zh-CN" altLang="en-US" sz="2400" b="1" dirty="0">
              <a:highlight>
                <a:srgbClr val="FF0000"/>
              </a:highlight>
              <a:latin typeface="+mj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E05423B8-236D-4BA3-A7BF-5D3016AB2EBC}"/>
              </a:ext>
            </a:extLst>
          </p:cNvPr>
          <p:cNvSpPr txBox="1">
            <a:spLocks noChangeArrowheads="1"/>
          </p:cNvSpPr>
          <p:nvPr/>
        </p:nvSpPr>
        <p:spPr>
          <a:xfrm>
            <a:off x="1469570" y="849088"/>
            <a:ext cx="8797853" cy="5519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b="1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5ECB9F7-18C4-AE43-8894-013915843A01}"/>
              </a:ext>
            </a:extLst>
          </p:cNvPr>
          <p:cNvSpPr txBox="1">
            <a:spLocks noChangeArrowheads="1"/>
          </p:cNvSpPr>
          <p:nvPr/>
        </p:nvSpPr>
        <p:spPr>
          <a:xfrm>
            <a:off x="1099002" y="1038044"/>
            <a:ext cx="7620000" cy="48009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663575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sz="2400" b="1" dirty="0"/>
          </a:p>
          <a:p>
            <a:pPr indent="663575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sz="2400" b="1" dirty="0"/>
          </a:p>
          <a:p>
            <a:pPr marL="571500" indent="-3429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Solve additional exercises from text books</a:t>
            </a:r>
          </a:p>
          <a:p>
            <a:pPr marL="571500" indent="-3429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Prepare lesson content in advance</a:t>
            </a:r>
          </a:p>
          <a:p>
            <a:pPr marL="571500" indent="-3429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Think and finish exams independently</a:t>
            </a:r>
          </a:p>
          <a:p>
            <a:pPr marL="571500" indent="-3429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Fully utilize TA/Instructor resources</a:t>
            </a:r>
          </a:p>
          <a:p>
            <a:pPr marL="571500" indent="-34290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No tricks (waive, delay…)</a:t>
            </a:r>
          </a:p>
        </p:txBody>
      </p:sp>
    </p:spTree>
    <p:extLst>
      <p:ext uri="{BB962C8B-B14F-4D97-AF65-F5344CB8AC3E}">
        <p14:creationId xmlns:p14="http://schemas.microsoft.com/office/powerpoint/2010/main" val="27248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2F7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400" b="1" dirty="0">
                <a:latin typeface="+mj-lt"/>
              </a:rPr>
              <a:t>0.2 Suggestion</a:t>
            </a:r>
            <a:endParaRPr lang="zh-CN" altLang="en-US" sz="2400" b="1" dirty="0">
              <a:highlight>
                <a:srgbClr val="FF0000"/>
              </a:highlight>
              <a:latin typeface="+mj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4682" y="0"/>
            <a:ext cx="175443" cy="628650"/>
          </a:xfrm>
          <a:prstGeom prst="rect">
            <a:avLst/>
          </a:prstGeom>
          <a:solidFill>
            <a:srgbClr val="CFA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Picture 6" descr="D:\MBA工作\LOGO\同济经管LOGO反白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423" y="165688"/>
            <a:ext cx="1386605" cy="46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微信图片_202203181135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91877" y="6115050"/>
            <a:ext cx="2244725" cy="361315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E05423B8-236D-4BA3-A7BF-5D3016AB2EBC}"/>
              </a:ext>
            </a:extLst>
          </p:cNvPr>
          <p:cNvSpPr txBox="1">
            <a:spLocks noChangeArrowheads="1"/>
          </p:cNvSpPr>
          <p:nvPr/>
        </p:nvSpPr>
        <p:spPr>
          <a:xfrm>
            <a:off x="1469570" y="849088"/>
            <a:ext cx="8797853" cy="5519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b="1" dirty="0"/>
          </a:p>
        </p:txBody>
      </p:sp>
      <p:sp>
        <p:nvSpPr>
          <p:cNvPr id="3" name="Rectangle 3">
            <a:hlinkClick r:id="rId5" action="ppaction://hlinkfile"/>
            <a:extLst>
              <a:ext uri="{FF2B5EF4-FFF2-40B4-BE49-F238E27FC236}">
                <a16:creationId xmlns:a16="http://schemas.microsoft.com/office/drawing/2014/main" id="{95ECB9F7-18C4-AE43-8894-013915843A01}"/>
              </a:ext>
            </a:extLst>
          </p:cNvPr>
          <p:cNvSpPr txBox="1">
            <a:spLocks noChangeArrowheads="1"/>
          </p:cNvSpPr>
          <p:nvPr/>
        </p:nvSpPr>
        <p:spPr>
          <a:xfrm>
            <a:off x="1469570" y="1208135"/>
            <a:ext cx="7620000" cy="48009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663575">
              <a:lnSpc>
                <a:spcPct val="130000"/>
              </a:lnSpc>
              <a:spcBef>
                <a:spcPct val="0"/>
              </a:spcBef>
              <a:buNone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PT Serif" panose="020B0604020202020204" pitchFamily="18" charset="0"/>
                <a:hlinkClick r:id="rId5" action="ppaction://hlinkfile"/>
              </a:rPr>
              <a:t>List of Symbols </a:t>
            </a:r>
            <a:r>
              <a:rPr lang="en-US" altLang="zh-CN" sz="1600" b="1" dirty="0">
                <a:solidFill>
                  <a:srgbClr val="000000"/>
                </a:solidFill>
                <a:latin typeface="PT Serif" panose="020B0604020202020204" pitchFamily="18" charset="0"/>
                <a:hlinkClick r:id="rId5" action="ppaction://hlinkfile"/>
              </a:rPr>
              <a:t>used in the class </a:t>
            </a:r>
            <a:endParaRPr lang="en-US" altLang="zh-CN" sz="1600" b="1" dirty="0">
              <a:solidFill>
                <a:srgbClr val="000000"/>
              </a:solidFill>
              <a:latin typeface="PT Serif" panose="020B06040202020202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0C81FE3-0D3E-4A06-9452-7CEC250CE6DD}"/>
              </a:ext>
            </a:extLst>
          </p:cNvPr>
          <p:cNvSpPr txBox="1">
            <a:spLocks noChangeArrowheads="1"/>
          </p:cNvSpPr>
          <p:nvPr/>
        </p:nvSpPr>
        <p:spPr>
          <a:xfrm>
            <a:off x="582168" y="2954770"/>
            <a:ext cx="8844636" cy="216827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None/>
            </a:pPr>
            <a:r>
              <a:rPr lang="en-US" altLang="zh-CN" sz="2600" b="1" dirty="0"/>
              <a:t>      Let me know if you have any questions/suggestions.</a:t>
            </a:r>
          </a:p>
          <a:p>
            <a:pPr indent="0">
              <a:lnSpc>
                <a:spcPct val="130000"/>
              </a:lnSpc>
              <a:spcBef>
                <a:spcPct val="0"/>
              </a:spcBef>
              <a:buClr>
                <a:srgbClr val="0B61FF"/>
              </a:buClr>
              <a:buSzPct val="80000"/>
              <a:buNone/>
            </a:pPr>
            <a:endParaRPr lang="en-US" altLang="zh-CN" sz="2600" b="1" dirty="0"/>
          </a:p>
          <a:p>
            <a:pPr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Comic Sans MS" panose="030F0702030302020204" pitchFamily="66" charset="0"/>
              </a:rPr>
              <a:t>    Course Web Site:</a:t>
            </a:r>
          </a:p>
          <a:p>
            <a:pPr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b="1" dirty="0">
                <a:hlinkClick r:id="rId6"/>
              </a:rPr>
              <a:t>https://kejiwei.github.io/teaching/courses/dismath/</a:t>
            </a:r>
            <a:endParaRPr lang="en-US" altLang="zh-CN" b="1" dirty="0"/>
          </a:p>
          <a:p>
            <a:pPr indent="0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52003E-C9CF-4879-8575-A146E1D255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8" y="3008136"/>
            <a:ext cx="361749" cy="54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1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8799</TotalTime>
  <Words>1454</Words>
  <Application>Microsoft Office PowerPoint</Application>
  <PresentationFormat>宽屏</PresentationFormat>
  <Paragraphs>228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等线</vt:lpstr>
      <vt:lpstr>宋体</vt:lpstr>
      <vt:lpstr>微软雅黑</vt:lpstr>
      <vt:lpstr>Arial</vt:lpstr>
      <vt:lpstr>Calibri</vt:lpstr>
      <vt:lpstr>Calibri Light</vt:lpstr>
      <vt:lpstr>Cambria</vt:lpstr>
      <vt:lpstr>Cambria Math</vt:lpstr>
      <vt:lpstr>Comic Sans MS</vt:lpstr>
      <vt:lpstr>PT Serif</vt:lpstr>
      <vt:lpstr>Times New Roman</vt:lpstr>
      <vt:lpstr>Wingdings</vt:lpstr>
      <vt:lpstr>Wingdings 2</vt:lpstr>
      <vt:lpstr>Office 主题</vt:lpstr>
      <vt:lpstr> Discrete Mathematics 2025 Spring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</dc:title>
  <dc:creator>..</dc:creator>
  <cp:lastModifiedBy>KejiWei</cp:lastModifiedBy>
  <cp:revision>484</cp:revision>
  <dcterms:created xsi:type="dcterms:W3CDTF">2017-07-24T02:14:00Z</dcterms:created>
  <dcterms:modified xsi:type="dcterms:W3CDTF">2026-03-02T13:14:15Z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73C6946277D1426C8BB6322F8B832BA4</vt:lpwstr>
  </property>
</Properties>
</file>